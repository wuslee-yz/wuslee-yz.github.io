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25" r:id="rId2"/>
    <p:sldMasterId id="2147483730" r:id="rId3"/>
  </p:sldMasterIdLst>
  <p:notesMasterIdLst>
    <p:notesMasterId r:id="rId49"/>
  </p:notesMasterIdLst>
  <p:sldIdLst>
    <p:sldId id="261" r:id="rId4"/>
    <p:sldId id="361" r:id="rId5"/>
    <p:sldId id="362" r:id="rId6"/>
    <p:sldId id="363" r:id="rId7"/>
    <p:sldId id="406" r:id="rId8"/>
    <p:sldId id="407" r:id="rId9"/>
    <p:sldId id="408" r:id="rId10"/>
    <p:sldId id="366" r:id="rId11"/>
    <p:sldId id="367" r:id="rId12"/>
    <p:sldId id="368" r:id="rId13"/>
    <p:sldId id="369" r:id="rId14"/>
    <p:sldId id="370" r:id="rId15"/>
    <p:sldId id="372" r:id="rId16"/>
    <p:sldId id="373" r:id="rId17"/>
    <p:sldId id="374" r:id="rId18"/>
    <p:sldId id="375" r:id="rId19"/>
    <p:sldId id="416" r:id="rId20"/>
    <p:sldId id="376" r:id="rId21"/>
    <p:sldId id="413" r:id="rId22"/>
    <p:sldId id="378" r:id="rId23"/>
    <p:sldId id="410" r:id="rId24"/>
    <p:sldId id="409" r:id="rId25"/>
    <p:sldId id="414" r:id="rId26"/>
    <p:sldId id="379" r:id="rId27"/>
    <p:sldId id="384" r:id="rId28"/>
    <p:sldId id="380" r:id="rId29"/>
    <p:sldId id="381" r:id="rId30"/>
    <p:sldId id="382" r:id="rId31"/>
    <p:sldId id="383" r:id="rId32"/>
    <p:sldId id="385" r:id="rId33"/>
    <p:sldId id="412" r:id="rId34"/>
    <p:sldId id="387" r:id="rId35"/>
    <p:sldId id="388" r:id="rId36"/>
    <p:sldId id="392" r:id="rId37"/>
    <p:sldId id="419" r:id="rId38"/>
    <p:sldId id="395" r:id="rId39"/>
    <p:sldId id="417" r:id="rId40"/>
    <p:sldId id="389" r:id="rId41"/>
    <p:sldId id="397" r:id="rId42"/>
    <p:sldId id="398" r:id="rId43"/>
    <p:sldId id="399" r:id="rId44"/>
    <p:sldId id="400" r:id="rId45"/>
    <p:sldId id="401" r:id="rId46"/>
    <p:sldId id="402" r:id="rId47"/>
    <p:sldId id="403" r:id="rId48"/>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1091" autoAdjust="0"/>
  </p:normalViewPr>
  <p:slideViewPr>
    <p:cSldViewPr>
      <p:cViewPr varScale="1">
        <p:scale>
          <a:sx n="58" d="100"/>
          <a:sy n="58" d="100"/>
        </p:scale>
        <p:origin x="-837" y="-10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4264"/>
    </p:cViewPr>
  </p:sorterViewPr>
  <p:notesViewPr>
    <p:cSldViewPr>
      <p:cViewPr varScale="1">
        <p:scale>
          <a:sx n="52" d="100"/>
          <a:sy n="52" d="100"/>
        </p:scale>
        <p:origin x="-2678" y="-86"/>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4D06C35E-C7E1-44D8-A2FB-7DBC13876F61}" type="datetime1">
              <a:rPr lang="en-US"/>
              <a:pPr>
                <a:defRPr/>
              </a:pPr>
              <a:t>9/13/2015</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7229E3CC-1D39-46E4-9964-F17BDF8A0CCB}" type="slidenum">
              <a:rPr lang="en-US"/>
              <a:pPr>
                <a:defRPr/>
              </a:pPr>
              <a:t>‹#›</a:t>
            </a:fld>
            <a:endParaRPr lang="en-US" dirty="0"/>
          </a:p>
        </p:txBody>
      </p:sp>
    </p:spTree>
    <p:extLst>
      <p:ext uri="{BB962C8B-B14F-4D97-AF65-F5344CB8AC3E}">
        <p14:creationId xmlns:p14="http://schemas.microsoft.com/office/powerpoint/2010/main" val="25810765"/>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2A86CA60-4372-445A-B4EE-7E054BD48EC8}" type="slidenum">
              <a:rPr lang="en-US" sz="1200"/>
              <a:pPr algn="r"/>
              <a:t>0</a:t>
            </a:fld>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07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3273224-BF66-4C25-9A5D-591B600CB25F}" type="slidenum">
              <a:rPr lang="en-US" sz="1200"/>
              <a:pPr algn="r"/>
              <a:t>1</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277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1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7-1: The Supply and Demand for Hotel Rooms in Potterville</a:t>
            </a:r>
            <a:endParaRPr lang="en-US" smtClean="0">
              <a:latin typeface="Arial" charset="0"/>
            </a:endParaRPr>
          </a:p>
          <a:p>
            <a:pPr defTabSz="914400">
              <a:spcBef>
                <a:spcPct val="0"/>
              </a:spcBef>
            </a:pPr>
            <a:r>
              <a:rPr lang="en-US" smtClean="0">
                <a:latin typeface="Arial" charset="0"/>
              </a:rPr>
              <a:t>In the absence of taxes, the equilibrium price of hotel rooms is $80 a night, and the equilibrium number of rooms rented is 10,000 per night, as shown by point E. The supply curve, S, shows the quantity supplied at any given price, pre-tax. At a price of $60 a night, hotel owners are willing to supply 5,000 rooms, point B. But post-tax, hotel owners are willing to supply the same quantity only at a price of $100: $60 for themselves plus $40 paid to the city as tax.</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39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59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7-4: An Excise Tax Paid Mainly By Consumers</a:t>
            </a:r>
            <a:endParaRPr lang="en-US" smtClean="0">
              <a:latin typeface="Arial" charset="0"/>
            </a:endParaRPr>
          </a:p>
          <a:p>
            <a:pPr defTabSz="914400">
              <a:spcBef>
                <a:spcPct val="0"/>
              </a:spcBef>
            </a:pPr>
            <a:r>
              <a:rPr lang="en-US" smtClean="0">
                <a:latin typeface="Arial" charset="0"/>
              </a:rPr>
              <a:t>The relatively steep demand curve here reflects a low price elasticity of demand for gasoline. The relatively flat supply curve reflects a high price elasticity of supply. The pre-tax price of a gallon of gasoline is $2.00, and a tax of $1.00 per gallon is imposed. The price paid by consumers rises by $0.95 to $2.95, reflecting the fact that most of the burden of the tax falls on consumers. Only a small portion of the tax is borne by producers: the price they receive falls by only $0.05 to $1.95.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505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7-5: An Excise Tax Paid Mainly by Producers</a:t>
            </a:r>
            <a:endParaRPr lang="en-US" smtClean="0">
              <a:latin typeface="Arial" charset="0"/>
            </a:endParaRPr>
          </a:p>
          <a:p>
            <a:pPr defTabSz="914400">
              <a:spcBef>
                <a:spcPct val="0"/>
              </a:spcBef>
            </a:pPr>
            <a:r>
              <a:rPr lang="en-US" smtClean="0">
                <a:latin typeface="Arial" charset="0"/>
              </a:rPr>
              <a:t>The relatively flat demand curve here reflects a high price elasticity of demand for downtown parking, and the relatively steep supply curve results from a low price elasticity of supply. The pre-tax price of a daily parking space is $6.00 and a tax of $5.00 is imposed. The price received by producers falls a lot, to $1.50, reflecting the fact that they bear most of the tax burden. The price paid by consumers rises a small amount, $0.50, to $6.50, so they bear very little of the burden.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71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915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7-6: The Revenue from an Excise Tax</a:t>
            </a:r>
            <a:endParaRPr lang="en-US" smtClean="0">
              <a:latin typeface="Arial" charset="0"/>
            </a:endParaRPr>
          </a:p>
          <a:p>
            <a:pPr defTabSz="914400">
              <a:spcBef>
                <a:spcPct val="0"/>
              </a:spcBef>
            </a:pPr>
            <a:r>
              <a:rPr lang="en-US" smtClean="0">
                <a:latin typeface="Arial" charset="0"/>
              </a:rPr>
              <a:t>The revenue from a $40 excise tax on hotel rooms is $200,000, equal to the tax rate, $40—the size of the wedge that the tax drives between the supply price and the demand price—multiplied by the number of rooms rented, 5,000. This is equal to the area of the shaded rectangle.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325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29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7-7: Tax Rates and Revenue</a:t>
            </a:r>
            <a:endParaRPr lang="en-US" smtClean="0">
              <a:latin typeface="Arial" charset="0"/>
            </a:endParaRPr>
          </a:p>
          <a:p>
            <a:pPr defTabSz="914400">
              <a:spcBef>
                <a:spcPct val="0"/>
              </a:spcBef>
            </a:pPr>
            <a:r>
              <a:rPr lang="en-US" smtClean="0">
                <a:latin typeface="Arial" charset="0"/>
              </a:rPr>
              <a:t>In general, doubling the excise tax rate on a good or service won’t double the amount of revenue collected, because the tax increase will reduce the quantity of the good or service bought and sold. And the relationship between the level of the tax and the amount of revenue collected may not even be positive. Panel (a) shows the revenue raised by a tax rate of $20 per room, only half the tax rate in Figure 7-6. The tax revenue raised, equal to the area of the shaded rectangle, is $150,000, three-quarters as much as the revenue raised by a $40 tax rate. Panel (b) shows that the revenue raised by a $60 tax rate is also $150,000. So raising the tax rate from $40 to $60 actually reduces tax revenue.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734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7-8: A Tax Reduces Consumer and Producer Surplus</a:t>
            </a:r>
            <a:endParaRPr lang="en-US" smtClean="0">
              <a:latin typeface="Arial" charset="0"/>
            </a:endParaRPr>
          </a:p>
          <a:p>
            <a:pPr defTabSz="914400">
              <a:spcBef>
                <a:spcPct val="0"/>
              </a:spcBef>
            </a:pPr>
            <a:r>
              <a:rPr lang="en-US" smtClean="0">
                <a:latin typeface="Arial" charset="0"/>
              </a:rPr>
              <a:t>Before the tax, the equilibrium price and quantity are PE and QE, respectively. After an excise tax of T per unit is imposed, the price to consumers rises to PC and consumer surplus falls by the sum of the dark blue rectangle, labeled A, and the light blue triangle, labeled B. The tax also causes the price to producers to fall to PP; producer surplus falls by the sum of the dark red rectangle, labeled C, and the light red triangle, labeled F. The government receives revenue from the tax, QT× T, which is given by the sum of the areas A and C. Areas B and F represent the losses to consumer and producer surplus that are not collected by the government as revenue; they are the deadweight loss to society of the tax.</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2339"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142340"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F6FEDFE-E713-4483-AE0B-D50B394E76F5}" type="slidenum">
              <a:rPr lang="en-US" sz="1200"/>
              <a:pPr algn="r"/>
              <a:t>16</a:t>
            </a:fld>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72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7-9: The Deadweight Loss of a Tax</a:t>
            </a:r>
            <a:endParaRPr lang="en-US" smtClean="0">
              <a:latin typeface="Arial" charset="0"/>
            </a:endParaRPr>
          </a:p>
          <a:p>
            <a:pPr defTabSz="914400">
              <a:spcBef>
                <a:spcPct val="0"/>
              </a:spcBef>
            </a:pPr>
            <a:r>
              <a:rPr lang="en-US" smtClean="0">
                <a:latin typeface="Arial" charset="0"/>
              </a:rPr>
              <a:t>A tax leads to a deadweight loss because it creates inefficiency: some mutually beneficial transactions never take place because of the tax, namely the transactions QE−QT. The yellow area here represents the value of the deadweight loss: it is the total surplus that would have been gained from the QE− QT transactions. If the tax had not discouraged transactions—had the number of transactions remained at QE—no deadweight loss would have been incurred.</a:t>
            </a:r>
          </a:p>
          <a:p>
            <a:pPr defTabSz="914400">
              <a:spcBef>
                <a:spcPct val="0"/>
              </a:spcBef>
            </a:pPr>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553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758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782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963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7-10: Deadweight Loss and Elasticities</a:t>
            </a:r>
            <a:endParaRPr lang="en-US" smtClean="0">
              <a:latin typeface="Arial" charset="0"/>
            </a:endParaRPr>
          </a:p>
          <a:p>
            <a:pPr defTabSz="914400">
              <a:spcBef>
                <a:spcPct val="0"/>
              </a:spcBef>
            </a:pPr>
            <a:r>
              <a:rPr lang="en-US" smtClean="0">
                <a:latin typeface="Arial" charset="0"/>
              </a:rPr>
              <a:t>Demand is elastic in panel (a) and inelastic in panel (b), but the supply curves are the same. Supply is elastic in panel (c) and inelastic in panel (d), but the demand curves are the same. The deadweight losses are larger in panels (a) and (c) than in panels (b) and (d) because the greater the price elasticity of demand or supply, the greater the tax-induced fall in the quantity transacted. In contrast, the lower the price elasticity of demand or supply, the smaller the tax-induced fall in the quantity transacted and the smaller the deadweight loss.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68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7-10: Deadweight Loss and Elasticities</a:t>
            </a:r>
            <a:endParaRPr lang="en-US" smtClean="0">
              <a:latin typeface="Arial" charset="0"/>
            </a:endParaRPr>
          </a:p>
          <a:p>
            <a:pPr defTabSz="914400">
              <a:spcBef>
                <a:spcPct val="0"/>
              </a:spcBef>
            </a:pPr>
            <a:r>
              <a:rPr lang="en-US" smtClean="0">
                <a:latin typeface="Arial" charset="0"/>
              </a:rPr>
              <a:t>Demand is elastic in panel (a) and inelastic in panel (b), but the supply curves are the same. Supply is elastic in panel (c) and inelastic in panel (d), but the demand curves are the same. The deadweight losses are larger in panels (a) and (c) than in panels (b) and (d) because the greater the price elasticity of demand or supply, the greater the tax-induced fall in the quantity transacted. In contrast, the lower the price elasticity of demand or supply, the smaller the tax-induced fall in the quantity transacted and the smaller the deadweight loss.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73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7-10: Deadweight Loss and Elasticities</a:t>
            </a:r>
            <a:endParaRPr lang="en-US" smtClean="0">
              <a:latin typeface="Arial" charset="0"/>
            </a:endParaRPr>
          </a:p>
          <a:p>
            <a:pPr defTabSz="914400">
              <a:spcBef>
                <a:spcPct val="0"/>
              </a:spcBef>
            </a:pPr>
            <a:r>
              <a:rPr lang="en-US" smtClean="0">
                <a:latin typeface="Arial" charset="0"/>
              </a:rPr>
              <a:t>Demand is elastic in panel (a) and inelastic in panel (b), but the supply curves are the same. Supply is elastic in panel (c) and inelastic in panel (d), but the demand curves are the same. The deadweight losses are larger in panels (a) and (c) than in panels (b) and (d) because the greater the price elasticity of demand or supply, the greater the tax-induced fall in the quantity transacted. In contrast, the lower the price elasticity of demand or supply, the smaller the tax-induced fall in the quantity transacted and the smaller the deadweight loss.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577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7-10: Deadweight Loss and Elasticities</a:t>
            </a:r>
            <a:endParaRPr lang="en-US" smtClean="0">
              <a:latin typeface="Arial" charset="0"/>
            </a:endParaRPr>
          </a:p>
          <a:p>
            <a:pPr defTabSz="914400">
              <a:spcBef>
                <a:spcPct val="0"/>
              </a:spcBef>
            </a:pPr>
            <a:r>
              <a:rPr lang="en-US" smtClean="0">
                <a:latin typeface="Arial" charset="0"/>
              </a:rPr>
              <a:t>Demand is elastic in panel (a) and inelastic in panel (b), but the supply curves are the same. Supply is elastic in panel (c) and inelastic in panel (d), but the demand curves are the same. The deadweight losses are larger in panels (a) and (c) than in panels (b) and (d) because the greater the price elasticity of demand or supply, the greater the tax-induced fall in the quantity transacted. In contrast, the lower the price elasticity of demand or supply, the smaller the tax-induced fall in the quantity transacted and the smaller the deadweight loss.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987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51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397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601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421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216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035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880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768E71D-B1CC-4BCE-AAC0-F736C98B1F7C}" type="slidenum">
              <a:rPr lang="en-US" sz="1200"/>
              <a:pPr algn="r"/>
              <a:t>36</a:t>
            </a:fld>
            <a:endParaRPr 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880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768E71D-B1CC-4BCE-AAC0-F736C98B1F7C}" type="slidenum">
              <a:rPr lang="en-US" sz="1200"/>
              <a:pPr algn="r"/>
              <a:t>37</a:t>
            </a:fld>
            <a:endParaRPr 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49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854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059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264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58EFCD03-3A42-4503-9896-88230E550373}" type="datetime1">
              <a:rPr lang="id-ID"/>
              <a:pPr>
                <a:defRPr/>
              </a:pPr>
              <a:t>13/09/2015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7399BB3C-F904-47F2-BE0E-E7FC80DE96B2}"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63E8F04A-2268-45F8-A9BF-C7A8128C4B5F}" type="datetime1">
              <a:rPr lang="id-ID"/>
              <a:pPr>
                <a:defRPr/>
              </a:pPr>
              <a:t>13/09/2015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07F44145-88FC-4F7F-8190-A36D7F21DFBE}"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73E1C19-4975-490B-8814-4C9350A779DD}" type="datetime1">
              <a:rPr lang="id-ID"/>
              <a:pPr>
                <a:defRPr/>
              </a:pPr>
              <a:t>13/09/2015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E9C2B124-09E8-48DA-B88D-C3B1FB46FB8E}"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4DA450C4-B856-4CA3-A15C-515D902ADB10}" type="datetime1">
              <a:rPr lang="id-ID"/>
              <a:pPr>
                <a:defRPr/>
              </a:pPr>
              <a:t>13/09/2015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7508203F-6717-4F42-AEBA-892DF5715C09}"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4305195C-8C3A-4903-9E82-993CDD886E5A}" type="datetime1">
              <a:rPr lang="id-ID"/>
              <a:pPr>
                <a:defRPr/>
              </a:pPr>
              <a:t>13/09/2015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CE047217-3A22-4EBC-98F7-D88EB501A902}"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D4005898-2DD4-4014-8DA7-F79D34F4FB86}" type="datetime1">
              <a:rPr lang="id-ID"/>
              <a:pPr>
                <a:defRPr/>
              </a:pPr>
              <a:t>13/09/2015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9A6597B6-7335-4A4B-AE64-10C0AE792352}"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F94B1C1-9726-4436-94C7-30EB4485592C}" type="datetime1">
              <a:rPr lang="id-ID"/>
              <a:pPr>
                <a:defRPr/>
              </a:pPr>
              <a:t>13/09/2015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01D13794-630E-4A76-A45E-0382C955A26D}"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5D11ADC-70CA-4E2F-A11B-3AA5127BCE21}" type="datetime1">
              <a:rPr lang="id-ID"/>
              <a:pPr>
                <a:defRPr/>
              </a:pPr>
              <a:t>13/09/2015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C4AA5C27-B75E-4CD1-A6AA-9D09223108F2}"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C57125D3-E59F-4AD2-A81C-C6D259883E98}" type="datetime1">
              <a:rPr lang="id-ID"/>
              <a:pPr>
                <a:defRPr/>
              </a:pPr>
              <a:t>13/09/2015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C102DC9-840A-47A2-A7A7-876CB85B1B62}"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02B1CBF7-2B75-42CA-9CFC-1550C54ED718}" type="datetime1">
              <a:rPr lang="id-ID"/>
              <a:pPr>
                <a:defRPr/>
              </a:pPr>
              <a:t>13/09/2015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2DCA3E19-5B50-4DAF-BA97-9304360AA7F2}"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5CDE5AB-8338-44A2-8A79-C144BF1FD699}" type="datetime1">
              <a:rPr lang="id-ID"/>
              <a:pPr>
                <a:defRPr/>
              </a:pPr>
              <a:t>13/09/2015</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99F0E028-1676-4821-B7AE-E723F87E908F}"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2E752E45-A85B-477E-957E-BFB38967D431}"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9EE62673-37DE-4CE7-8D45-11B767753DC5}"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D2D998CA-6473-4FDE-A585-D0C1794176A3}"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E163F9B3-8406-41FE-B72B-5E3AEE8A2E28}"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79E76786-3295-43F0-95BC-5A165A2AEFDF}"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CD5D03DD-AA23-4CCA-8377-FD7E561CBA6D}"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3F6BAD1E-C26B-4F8E-A011-D791DE98CB67}"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2CF114B4-29A9-4A0B-B69A-F9FF3615ADA9}"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D03E5AD5-113E-4E0B-AF7E-4AA2A7974F7D}"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1E82D79C-9BE9-4D62-9157-081D93A0A681}"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13/09/2015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8CB44F5E-75DA-4076-8EB4-93B84F84804C}"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167B5174-B1BA-41E1-9F8E-A0D0EE48E288}" type="datetime1">
              <a:rPr lang="id-ID"/>
              <a:pPr>
                <a:defRPr/>
              </a:pPr>
              <a:t>13/09/2015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D3EF2700-B1B6-45B6-A631-4328123CAAEF}" type="slidenum">
              <a:rPr lang="id-ID"/>
              <a:pPr>
                <a:defRPr/>
              </a:pPr>
              <a:t>‹#›</a:t>
            </a:fld>
            <a:endParaRPr lang="id-ID"/>
          </a:p>
        </p:txBody>
      </p:sp>
      <p:sp>
        <p:nvSpPr>
          <p:cNvPr id="1031" name="Slide Number Placeholder 3"/>
          <p:cNvSpPr txBox="1">
            <a:spLocks noGrp="1"/>
          </p:cNvSpPr>
          <p:nvPr userDrawn="1"/>
        </p:nvSpPr>
        <p:spPr bwMode="auto">
          <a:xfrm>
            <a:off x="8459788" y="6381750"/>
            <a:ext cx="593725" cy="379413"/>
          </a:xfrm>
          <a:prstGeom prst="rect">
            <a:avLst/>
          </a:prstGeom>
          <a:noFill/>
          <a:ln w="9525">
            <a:noFill/>
            <a:miter lim="800000"/>
            <a:headEnd/>
            <a:tailEnd/>
          </a:ln>
        </p:spPr>
        <p:txBody>
          <a:bodyPr/>
          <a:lstStyle/>
          <a:p>
            <a:pPr algn="r">
              <a:defRPr/>
            </a:pPr>
            <a:fld id="{97A5DBEB-DEA1-472C-893A-79F6B1BACE33}"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41" r:id="rId2"/>
    <p:sldLayoutId id="2147483740" r:id="rId3"/>
    <p:sldLayoutId id="2147483739" r:id="rId4"/>
    <p:sldLayoutId id="2147483754" r:id="rId5"/>
    <p:sldLayoutId id="2147483755" r:id="rId6"/>
    <p:sldLayoutId id="2147483738" r:id="rId7"/>
    <p:sldLayoutId id="2147483737" r:id="rId8"/>
    <p:sldLayoutId id="2147483736" r:id="rId9"/>
    <p:sldLayoutId id="2147483735" r:id="rId10"/>
    <p:sldLayoutId id="2147483734"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13/09/2015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FBE8A55A-1B28-4E59-A76B-2C03F0A6B183}" type="slidenum">
              <a:rPr lang="id-ID"/>
              <a:pPr>
                <a:defRPr/>
              </a:pPr>
              <a:t>‹#›</a:t>
            </a:fld>
            <a:endParaRPr lang="id-ID"/>
          </a:p>
        </p:txBody>
      </p:sp>
      <p:sp>
        <p:nvSpPr>
          <p:cNvPr id="14343" name="Slide Number Placeholder 3"/>
          <p:cNvSpPr txBox="1">
            <a:spLocks noGrp="1"/>
          </p:cNvSpPr>
          <p:nvPr userDrawn="1"/>
        </p:nvSpPr>
        <p:spPr bwMode="auto">
          <a:xfrm>
            <a:off x="8459788" y="6381750"/>
            <a:ext cx="593725" cy="379413"/>
          </a:xfrm>
          <a:prstGeom prst="rect">
            <a:avLst/>
          </a:prstGeom>
          <a:noFill/>
          <a:ln w="9525">
            <a:noFill/>
            <a:miter lim="800000"/>
            <a:headEnd/>
            <a:tailEnd/>
          </a:ln>
        </p:spPr>
        <p:txBody>
          <a:bodyPr/>
          <a:lstStyle/>
          <a:p>
            <a:pPr algn="r">
              <a:defRPr/>
            </a:pPr>
            <a:fld id="{EE46B01B-06E0-4B6C-9812-D7465E597158}"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13/09/2015</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8BA5CBA6-0EC5-42DE-82CB-FA0204E0A18E}"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p:cNvSpPr>
            <a:spLocks noGrp="1"/>
          </p:cNvSpPr>
          <p:nvPr>
            <p:ph type="ctrTitle"/>
          </p:nvPr>
        </p:nvSpPr>
        <p:spPr>
          <a:xfrm>
            <a:off x="2209800" y="4813300"/>
            <a:ext cx="6754813" cy="1063625"/>
          </a:xfrm>
        </p:spPr>
        <p:txBody>
          <a:bodyPr/>
          <a:lstStyle/>
          <a:p>
            <a:pPr>
              <a:defRPr/>
            </a:pPr>
            <a:r>
              <a:rPr lang="en-US" smtClean="0">
                <a:effectLst>
                  <a:outerShdw blurRad="38100" dist="38100" dir="2700000" algn="tl">
                    <a:srgbClr val="C0C0C0"/>
                  </a:outerShdw>
                </a:effectLst>
              </a:rPr>
              <a:t>Chapter 7</a:t>
            </a:r>
            <a:br>
              <a:rPr lang="en-US" smtClean="0">
                <a:effectLst>
                  <a:outerShdw blurRad="38100" dist="38100" dir="2700000" algn="tl">
                    <a:srgbClr val="C0C0C0"/>
                  </a:outerShdw>
                </a:effectLst>
              </a:rPr>
            </a:br>
            <a:r>
              <a:rPr lang="en-US" sz="2800" smtClean="0">
                <a:effectLst>
                  <a:outerShdw blurRad="38100" dist="38100" dir="2700000" algn="tl">
                    <a:srgbClr val="C0C0C0"/>
                  </a:outerShdw>
                </a:effectLst>
              </a:rPr>
              <a:t>Taxes</a:t>
            </a:r>
            <a:br>
              <a:rPr lang="en-US" sz="2800" smtClean="0">
                <a:effectLst>
                  <a:outerShdw blurRad="38100" dist="38100" dir="2700000" algn="tl">
                    <a:srgbClr val="C0C0C0"/>
                  </a:outerShdw>
                </a:effectLst>
              </a:rPr>
            </a:br>
            <a:endParaRPr lang="en-US" sz="2800" smtClean="0">
              <a:effectLst>
                <a:outerShdw blurRad="38100" dist="38100" dir="2700000" algn="tl">
                  <a:srgbClr val="C0C0C0"/>
                </a:outerShdw>
              </a:effectLst>
            </a:endParaRPr>
          </a:p>
        </p:txBody>
      </p:sp>
      <p:sp>
        <p:nvSpPr>
          <p:cNvPr id="35842" name="Rectangle 2"/>
          <p:cNvSpPr>
            <a:spLocks noGrp="1" noChangeArrowheads="1"/>
          </p:cNvSpPr>
          <p:nvPr>
            <p:ph type="subTitle" idx="1"/>
          </p:nvPr>
        </p:nvSpPr>
        <p:spPr>
          <a:xfrm>
            <a:off x="2286000" y="5500688"/>
            <a:ext cx="6700838" cy="642937"/>
          </a:xfrm>
        </p:spPr>
        <p:txBody>
          <a:bodyPr/>
          <a:lstStyle/>
          <a:p>
            <a:pPr algn="ctr">
              <a:lnSpc>
                <a:spcPct val="80000"/>
              </a:lnSpc>
              <a:buFont typeface="Arial" pitchFamily="34" charset="0"/>
              <a:buNone/>
              <a:defRPr/>
            </a:pPr>
            <a:endParaRPr lang="en-US" sz="4100" dirty="0" smtClean="0">
              <a:solidFill>
                <a:schemeClr val="tx2"/>
              </a:solidFill>
              <a:effectLst>
                <a:outerShdw blurRad="38100" dist="38100" dir="2700000" algn="tl">
                  <a:srgbClr val="C0C0C0"/>
                </a:outerShdw>
              </a:effectLst>
              <a:latin typeface="Tahoma" pitchFamily="34" charset="0"/>
            </a:endParaRPr>
          </a:p>
          <a:p>
            <a:pPr algn="ctr">
              <a:lnSpc>
                <a:spcPct val="80000"/>
              </a:lnSpc>
              <a:buFont typeface="Arial" pitchFamily="34" charset="0"/>
              <a:buNone/>
              <a:defRPr/>
            </a:pPr>
            <a:endParaRPr lang="en-US" sz="2800" dirty="0" smtClean="0">
              <a:solidFill>
                <a:schemeClr val="tx2"/>
              </a:solidFill>
              <a:effectLst>
                <a:outerShdw blurRad="38100" dist="38100" dir="2700000" algn="tl">
                  <a:srgbClr val="C0C0C0"/>
                </a:outerShdw>
              </a:effectLst>
            </a:endParaRPr>
          </a:p>
        </p:txBody>
      </p:sp>
      <p:sp>
        <p:nvSpPr>
          <p:cNvPr id="27651"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4"/>
          <p:cNvSpPr>
            <a:spLocks noGrp="1"/>
          </p:cNvSpPr>
          <p:nvPr>
            <p:ph sz="half" idx="4294967295"/>
          </p:nvPr>
        </p:nvSpPr>
        <p:spPr>
          <a:xfrm>
            <a:off x="3286125" y="836613"/>
            <a:ext cx="5572125" cy="5449887"/>
          </a:xfrm>
        </p:spPr>
        <p:txBody>
          <a:bodyPr/>
          <a:lstStyle/>
          <a:p>
            <a:r>
              <a:rPr lang="en-US" smtClean="0"/>
              <a:t>The effects of taxes on supply and demand in a competitive market</a:t>
            </a:r>
          </a:p>
          <a:p>
            <a:r>
              <a:rPr lang="en-US" smtClean="0"/>
              <a:t>What determines who really bears the burden of a tax</a:t>
            </a:r>
          </a:p>
          <a:p>
            <a:r>
              <a:rPr lang="en-US" smtClean="0"/>
              <a:t>The costs and benefits of taxes, and why taxes impose a cost that is larger than the tax revenue they raise</a:t>
            </a:r>
          </a:p>
          <a:p>
            <a:r>
              <a:rPr lang="en-US" smtClean="0"/>
              <a:t>The difference between progressive and regressive taxes and the trade-off between tax equity and tax efficiency</a:t>
            </a:r>
          </a:p>
          <a:p>
            <a:pPr>
              <a:buFont typeface="Arial" charset="0"/>
              <a:buNone/>
            </a:pPr>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Rot="1" noChangeArrowheads="1"/>
          </p:cNvSpPr>
          <p:nvPr>
            <p:ph type="title" idx="4294967295"/>
          </p:nvPr>
        </p:nvSpPr>
        <p:spPr>
          <a:xfrm>
            <a:off x="755650" y="0"/>
            <a:ext cx="8388350" cy="715963"/>
          </a:xfrm>
        </p:spPr>
        <p:txBody>
          <a:bodyPr/>
          <a:lstStyle/>
          <a:p>
            <a:pPr>
              <a:defRPr/>
            </a:pPr>
            <a:r>
              <a:rPr lang="en-US" dirty="0" smtClean="0"/>
              <a:t>The Economics of Taxes: A Preliminary View</a:t>
            </a:r>
          </a:p>
        </p:txBody>
      </p:sp>
      <p:sp>
        <p:nvSpPr>
          <p:cNvPr id="260099" name="Rectangle 3"/>
          <p:cNvSpPr>
            <a:spLocks noGrp="1" noChangeArrowheads="1"/>
          </p:cNvSpPr>
          <p:nvPr>
            <p:ph type="body" idx="4294967295"/>
          </p:nvPr>
        </p:nvSpPr>
        <p:spPr>
          <a:xfrm>
            <a:off x="900113" y="908050"/>
            <a:ext cx="8064500" cy="5643563"/>
          </a:xfrm>
        </p:spPr>
        <p:txBody>
          <a:bodyPr/>
          <a:lstStyle/>
          <a:p>
            <a:pPr marL="231775" indent="-231775"/>
            <a:r>
              <a:rPr lang="en-US" smtClean="0"/>
              <a:t>An excise tax is a tax on sales of a good or service.</a:t>
            </a:r>
          </a:p>
          <a:p>
            <a:pPr marL="682625" lvl="1" indent="-219075"/>
            <a:r>
              <a:rPr lang="en-US" smtClean="0"/>
              <a:t>Examples: </a:t>
            </a:r>
          </a:p>
          <a:p>
            <a:pPr lvl="2"/>
            <a:r>
              <a:rPr lang="en-US" sz="2400" smtClean="0"/>
              <a:t>An excise tax levied on sales of hotel accommodation (paid by the hotel guest). </a:t>
            </a:r>
          </a:p>
          <a:p>
            <a:pPr lvl="2"/>
            <a:r>
              <a:rPr lang="en-US" sz="2400" smtClean="0"/>
              <a:t>An excise tax levied on sales of alcohol (paid by the retail shop). </a:t>
            </a:r>
          </a:p>
          <a:p>
            <a:pPr marL="231775" indent="-231775"/>
            <a:r>
              <a:rPr lang="en-US" smtClean="0"/>
              <a:t>Taxes drive a wedge between the price buyers pay and the price sellers receive.</a:t>
            </a:r>
          </a:p>
          <a:p>
            <a:pPr marL="682625" lvl="1" indent="-219075"/>
            <a:r>
              <a:rPr lang="en-US" sz="2500" smtClean="0"/>
              <a:t>Buyers will have to pay more.</a:t>
            </a:r>
          </a:p>
          <a:p>
            <a:pPr marL="682625" lvl="1" indent="-219075"/>
            <a:r>
              <a:rPr lang="en-US" sz="2500" smtClean="0"/>
              <a:t>Seller will receive less.</a:t>
            </a:r>
          </a:p>
          <a:p>
            <a:pPr marL="231775" indent="-231775"/>
            <a:r>
              <a:rPr lang="en-US" smtClean="0"/>
              <a:t>The </a:t>
            </a:r>
            <a:r>
              <a:rPr lang="en-US" b="1" smtClean="0">
                <a:solidFill>
                  <a:schemeClr val="folHlink"/>
                </a:solidFill>
              </a:rPr>
              <a:t>tax incidence</a:t>
            </a:r>
            <a:r>
              <a:rPr lang="en-US" smtClean="0"/>
              <a:t> is a measure of who bears the burden for a tax (who really pays for the tax).</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8914" name="Straight Connector 86"/>
          <p:cNvCxnSpPr>
            <a:cxnSpLocks noChangeShapeType="1"/>
          </p:cNvCxnSpPr>
          <p:nvPr/>
        </p:nvCxnSpPr>
        <p:spPr bwMode="auto">
          <a:xfrm>
            <a:off x="5707063" y="3292475"/>
            <a:ext cx="0" cy="1709738"/>
          </a:xfrm>
          <a:prstGeom prst="line">
            <a:avLst/>
          </a:prstGeom>
          <a:noFill/>
          <a:ln w="15875">
            <a:solidFill>
              <a:srgbClr val="808080"/>
            </a:solidFill>
            <a:prstDash val="sysDot"/>
            <a:round/>
            <a:headEnd/>
            <a:tailEnd type="none" w="med" len="lg"/>
          </a:ln>
        </p:spPr>
      </p:cxnSp>
      <p:cxnSp>
        <p:nvCxnSpPr>
          <p:cNvPr id="548912" name="Straight Connector 86"/>
          <p:cNvCxnSpPr>
            <a:cxnSpLocks noChangeShapeType="1"/>
          </p:cNvCxnSpPr>
          <p:nvPr/>
        </p:nvCxnSpPr>
        <p:spPr bwMode="auto">
          <a:xfrm>
            <a:off x="3336925" y="3741738"/>
            <a:ext cx="1098550" cy="0"/>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4464050" y="2781300"/>
            <a:ext cx="0" cy="2232025"/>
          </a:xfrm>
          <a:prstGeom prst="line">
            <a:avLst/>
          </a:prstGeom>
          <a:noFill/>
          <a:ln w="15875">
            <a:solidFill>
              <a:srgbClr val="808080"/>
            </a:solidFill>
            <a:prstDash val="sysDot"/>
            <a:round/>
            <a:headEnd/>
            <a:tailEnd type="none" w="med" len="lg"/>
          </a:ln>
        </p:spPr>
      </p:cxnSp>
      <p:sp>
        <p:nvSpPr>
          <p:cNvPr id="336898" name="Rectangle 2"/>
          <p:cNvSpPr>
            <a:spLocks noGrp="1" noRot="1" noChangeArrowheads="1"/>
          </p:cNvSpPr>
          <p:nvPr>
            <p:ph type="title" idx="4294967295"/>
          </p:nvPr>
        </p:nvSpPr>
        <p:spPr>
          <a:xfrm>
            <a:off x="1019175" y="44450"/>
            <a:ext cx="7981950" cy="600075"/>
          </a:xfrm>
        </p:spPr>
        <p:txBody>
          <a:bodyPr/>
          <a:lstStyle/>
          <a:p>
            <a:r>
              <a:rPr lang="en-US" sz="3000" smtClean="0">
                <a:effectLst>
                  <a:outerShdw blurRad="38100" dist="38100" dir="2700000" algn="tl">
                    <a:srgbClr val="C0C0C0"/>
                  </a:outerShdw>
                </a:effectLst>
              </a:rPr>
              <a:t>The Supply and Demand for Hotel Rooms</a:t>
            </a:r>
          </a:p>
        </p:txBody>
      </p:sp>
      <p:sp>
        <p:nvSpPr>
          <p:cNvPr id="33797" name="Rectangle 5"/>
          <p:cNvSpPr>
            <a:spLocks noChangeArrowheads="1"/>
          </p:cNvSpPr>
          <p:nvPr/>
        </p:nvSpPr>
        <p:spPr bwMode="auto">
          <a:xfrm>
            <a:off x="6999288" y="25987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33798" name="Rectangle 6"/>
          <p:cNvSpPr>
            <a:spLocks noChangeArrowheads="1"/>
          </p:cNvSpPr>
          <p:nvPr/>
        </p:nvSpPr>
        <p:spPr bwMode="auto">
          <a:xfrm>
            <a:off x="6999288" y="36512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33799" name="Line 7"/>
          <p:cNvSpPr>
            <a:spLocks noChangeShapeType="1"/>
          </p:cNvSpPr>
          <p:nvPr/>
        </p:nvSpPr>
        <p:spPr bwMode="auto">
          <a:xfrm>
            <a:off x="3222625" y="1809750"/>
            <a:ext cx="117475" cy="0"/>
          </a:xfrm>
          <a:prstGeom prst="line">
            <a:avLst/>
          </a:prstGeom>
          <a:noFill/>
          <a:ln w="7938">
            <a:solidFill>
              <a:srgbClr val="000000"/>
            </a:solidFill>
            <a:miter lim="800000"/>
            <a:headEnd/>
            <a:tailEnd/>
          </a:ln>
        </p:spPr>
        <p:txBody>
          <a:bodyPr/>
          <a:lstStyle/>
          <a:p>
            <a:endParaRPr lang="en-US"/>
          </a:p>
        </p:txBody>
      </p:sp>
      <p:sp>
        <p:nvSpPr>
          <p:cNvPr id="33800" name="Line 8"/>
          <p:cNvSpPr>
            <a:spLocks noChangeShapeType="1"/>
          </p:cNvSpPr>
          <p:nvPr/>
        </p:nvSpPr>
        <p:spPr bwMode="auto">
          <a:xfrm>
            <a:off x="3222625" y="2774950"/>
            <a:ext cx="117475" cy="0"/>
          </a:xfrm>
          <a:prstGeom prst="line">
            <a:avLst/>
          </a:prstGeom>
          <a:noFill/>
          <a:ln w="7938">
            <a:solidFill>
              <a:srgbClr val="000000"/>
            </a:solidFill>
            <a:miter lim="800000"/>
            <a:headEnd/>
            <a:tailEnd/>
          </a:ln>
        </p:spPr>
        <p:txBody>
          <a:bodyPr/>
          <a:lstStyle/>
          <a:p>
            <a:endParaRPr lang="en-US"/>
          </a:p>
        </p:txBody>
      </p:sp>
      <p:sp>
        <p:nvSpPr>
          <p:cNvPr id="33801" name="Line 9"/>
          <p:cNvSpPr>
            <a:spLocks noChangeShapeType="1"/>
          </p:cNvSpPr>
          <p:nvPr/>
        </p:nvSpPr>
        <p:spPr bwMode="auto">
          <a:xfrm>
            <a:off x="3222625" y="3259138"/>
            <a:ext cx="117475" cy="0"/>
          </a:xfrm>
          <a:prstGeom prst="line">
            <a:avLst/>
          </a:prstGeom>
          <a:noFill/>
          <a:ln w="7938">
            <a:solidFill>
              <a:srgbClr val="000000"/>
            </a:solidFill>
            <a:miter lim="800000"/>
            <a:headEnd/>
            <a:tailEnd/>
          </a:ln>
        </p:spPr>
        <p:txBody>
          <a:bodyPr/>
          <a:lstStyle/>
          <a:p>
            <a:endParaRPr lang="en-US"/>
          </a:p>
        </p:txBody>
      </p:sp>
      <p:sp>
        <p:nvSpPr>
          <p:cNvPr id="33802" name="Line 10"/>
          <p:cNvSpPr>
            <a:spLocks noChangeShapeType="1"/>
          </p:cNvSpPr>
          <p:nvPr/>
        </p:nvSpPr>
        <p:spPr bwMode="auto">
          <a:xfrm>
            <a:off x="3222625" y="3736975"/>
            <a:ext cx="117475" cy="0"/>
          </a:xfrm>
          <a:prstGeom prst="line">
            <a:avLst/>
          </a:prstGeom>
          <a:noFill/>
          <a:ln w="7938">
            <a:solidFill>
              <a:srgbClr val="000000"/>
            </a:solidFill>
            <a:miter lim="800000"/>
            <a:headEnd/>
            <a:tailEnd/>
          </a:ln>
        </p:spPr>
        <p:txBody>
          <a:bodyPr/>
          <a:lstStyle/>
          <a:p>
            <a:endParaRPr lang="en-US"/>
          </a:p>
        </p:txBody>
      </p:sp>
      <p:sp>
        <p:nvSpPr>
          <p:cNvPr id="33803" name="Line 11"/>
          <p:cNvSpPr>
            <a:spLocks noChangeShapeType="1"/>
          </p:cNvSpPr>
          <p:nvPr/>
        </p:nvSpPr>
        <p:spPr bwMode="auto">
          <a:xfrm>
            <a:off x="3222625" y="4700588"/>
            <a:ext cx="117475" cy="0"/>
          </a:xfrm>
          <a:prstGeom prst="line">
            <a:avLst/>
          </a:prstGeom>
          <a:noFill/>
          <a:ln w="7938">
            <a:solidFill>
              <a:srgbClr val="000000"/>
            </a:solidFill>
            <a:miter lim="800000"/>
            <a:headEnd/>
            <a:tailEnd/>
          </a:ln>
        </p:spPr>
        <p:txBody>
          <a:bodyPr/>
          <a:lstStyle/>
          <a:p>
            <a:endParaRPr lang="en-US"/>
          </a:p>
        </p:txBody>
      </p:sp>
      <p:sp>
        <p:nvSpPr>
          <p:cNvPr id="33804" name="Line 12"/>
          <p:cNvSpPr>
            <a:spLocks noChangeShapeType="1"/>
          </p:cNvSpPr>
          <p:nvPr/>
        </p:nvSpPr>
        <p:spPr bwMode="auto">
          <a:xfrm>
            <a:off x="4465638" y="5051425"/>
            <a:ext cx="0" cy="127000"/>
          </a:xfrm>
          <a:prstGeom prst="line">
            <a:avLst/>
          </a:prstGeom>
          <a:noFill/>
          <a:ln w="7938">
            <a:solidFill>
              <a:srgbClr val="000000"/>
            </a:solidFill>
            <a:miter lim="800000"/>
            <a:headEnd/>
            <a:tailEnd/>
          </a:ln>
        </p:spPr>
        <p:txBody>
          <a:bodyPr/>
          <a:lstStyle/>
          <a:p>
            <a:endParaRPr lang="en-US"/>
          </a:p>
        </p:txBody>
      </p:sp>
      <p:sp>
        <p:nvSpPr>
          <p:cNvPr id="33805" name="Line 13"/>
          <p:cNvSpPr>
            <a:spLocks noChangeShapeType="1"/>
          </p:cNvSpPr>
          <p:nvPr/>
        </p:nvSpPr>
        <p:spPr bwMode="auto">
          <a:xfrm>
            <a:off x="5708650" y="5051425"/>
            <a:ext cx="0" cy="127000"/>
          </a:xfrm>
          <a:prstGeom prst="line">
            <a:avLst/>
          </a:prstGeom>
          <a:noFill/>
          <a:ln w="7938">
            <a:solidFill>
              <a:srgbClr val="000000"/>
            </a:solidFill>
            <a:miter lim="800000"/>
            <a:headEnd/>
            <a:tailEnd/>
          </a:ln>
        </p:spPr>
        <p:txBody>
          <a:bodyPr/>
          <a:lstStyle/>
          <a:p>
            <a:endParaRPr lang="en-US"/>
          </a:p>
        </p:txBody>
      </p:sp>
      <p:sp>
        <p:nvSpPr>
          <p:cNvPr id="33806" name="Line 14"/>
          <p:cNvSpPr>
            <a:spLocks noChangeShapeType="1"/>
          </p:cNvSpPr>
          <p:nvPr/>
        </p:nvSpPr>
        <p:spPr bwMode="auto">
          <a:xfrm>
            <a:off x="6956425" y="5051425"/>
            <a:ext cx="0" cy="127000"/>
          </a:xfrm>
          <a:prstGeom prst="line">
            <a:avLst/>
          </a:prstGeom>
          <a:noFill/>
          <a:ln w="7938">
            <a:solidFill>
              <a:srgbClr val="000000"/>
            </a:solidFill>
            <a:miter lim="800000"/>
            <a:headEnd/>
            <a:tailEnd/>
          </a:ln>
        </p:spPr>
        <p:txBody>
          <a:bodyPr/>
          <a:lstStyle/>
          <a:p>
            <a:endParaRPr lang="en-US"/>
          </a:p>
        </p:txBody>
      </p:sp>
      <p:sp>
        <p:nvSpPr>
          <p:cNvPr id="33807" name="Rectangle 15"/>
          <p:cNvSpPr>
            <a:spLocks noChangeArrowheads="1"/>
          </p:cNvSpPr>
          <p:nvPr/>
        </p:nvSpPr>
        <p:spPr bwMode="auto">
          <a:xfrm>
            <a:off x="3046413" y="5216525"/>
            <a:ext cx="9683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latin typeface="Tahoma" pitchFamily="34" charset="0"/>
            </a:endParaRPr>
          </a:p>
        </p:txBody>
      </p:sp>
      <p:sp>
        <p:nvSpPr>
          <p:cNvPr id="33808" name="Rectangle 16"/>
          <p:cNvSpPr>
            <a:spLocks noChangeArrowheads="1"/>
          </p:cNvSpPr>
          <p:nvPr/>
        </p:nvSpPr>
        <p:spPr bwMode="auto">
          <a:xfrm>
            <a:off x="4273550" y="5216525"/>
            <a:ext cx="4429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5,000</a:t>
            </a:r>
            <a:endParaRPr lang="en-US" sz="1400">
              <a:latin typeface="Tahoma" pitchFamily="34" charset="0"/>
            </a:endParaRPr>
          </a:p>
        </p:txBody>
      </p:sp>
      <p:sp>
        <p:nvSpPr>
          <p:cNvPr id="33809" name="Rectangle 17"/>
          <p:cNvSpPr>
            <a:spLocks noChangeArrowheads="1"/>
          </p:cNvSpPr>
          <p:nvPr/>
        </p:nvSpPr>
        <p:spPr bwMode="auto">
          <a:xfrm>
            <a:off x="5505450" y="5216525"/>
            <a:ext cx="5397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10,000</a:t>
            </a:r>
            <a:endParaRPr lang="en-US" sz="1400">
              <a:latin typeface="Tahoma" pitchFamily="34" charset="0"/>
            </a:endParaRPr>
          </a:p>
        </p:txBody>
      </p:sp>
      <p:sp>
        <p:nvSpPr>
          <p:cNvPr id="33810" name="Rectangle 18"/>
          <p:cNvSpPr>
            <a:spLocks noChangeArrowheads="1"/>
          </p:cNvSpPr>
          <p:nvPr/>
        </p:nvSpPr>
        <p:spPr bwMode="auto">
          <a:xfrm>
            <a:off x="6707188" y="5216525"/>
            <a:ext cx="54133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15,000</a:t>
            </a:r>
            <a:endParaRPr lang="en-US" sz="1400">
              <a:latin typeface="Tahoma" pitchFamily="34" charset="0"/>
            </a:endParaRPr>
          </a:p>
        </p:txBody>
      </p:sp>
      <p:sp>
        <p:nvSpPr>
          <p:cNvPr id="33811" name="Rectangle 19"/>
          <p:cNvSpPr>
            <a:spLocks noChangeArrowheads="1"/>
          </p:cNvSpPr>
          <p:nvPr/>
        </p:nvSpPr>
        <p:spPr bwMode="auto">
          <a:xfrm>
            <a:off x="2779713" y="1708150"/>
            <a:ext cx="39370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$140</a:t>
            </a:r>
            <a:endParaRPr lang="en-US" sz="1400">
              <a:latin typeface="Tahoma" pitchFamily="34" charset="0"/>
            </a:endParaRPr>
          </a:p>
        </p:txBody>
      </p:sp>
      <p:sp>
        <p:nvSpPr>
          <p:cNvPr id="33812" name="Rectangle 20"/>
          <p:cNvSpPr>
            <a:spLocks noChangeArrowheads="1"/>
          </p:cNvSpPr>
          <p:nvPr/>
        </p:nvSpPr>
        <p:spPr bwMode="auto">
          <a:xfrm>
            <a:off x="2868613" y="2189163"/>
            <a:ext cx="2952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120</a:t>
            </a:r>
            <a:endParaRPr lang="en-US" sz="1400">
              <a:latin typeface="Tahoma" pitchFamily="34" charset="0"/>
            </a:endParaRPr>
          </a:p>
        </p:txBody>
      </p:sp>
      <p:sp>
        <p:nvSpPr>
          <p:cNvPr id="33813" name="Rectangle 21"/>
          <p:cNvSpPr>
            <a:spLocks noChangeArrowheads="1"/>
          </p:cNvSpPr>
          <p:nvPr/>
        </p:nvSpPr>
        <p:spPr bwMode="auto">
          <a:xfrm>
            <a:off x="2868613" y="2671763"/>
            <a:ext cx="2952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latin typeface="Tahoma" pitchFamily="34" charset="0"/>
            </a:endParaRPr>
          </a:p>
        </p:txBody>
      </p:sp>
      <p:sp>
        <p:nvSpPr>
          <p:cNvPr id="33814" name="Rectangle 22"/>
          <p:cNvSpPr>
            <a:spLocks noChangeArrowheads="1"/>
          </p:cNvSpPr>
          <p:nvPr/>
        </p:nvSpPr>
        <p:spPr bwMode="auto">
          <a:xfrm>
            <a:off x="2955925" y="3154363"/>
            <a:ext cx="1968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80</a:t>
            </a:r>
            <a:endParaRPr lang="en-US" sz="1400">
              <a:latin typeface="Tahoma" pitchFamily="34" charset="0"/>
            </a:endParaRPr>
          </a:p>
        </p:txBody>
      </p:sp>
      <p:sp>
        <p:nvSpPr>
          <p:cNvPr id="33815" name="Rectangle 23"/>
          <p:cNvSpPr>
            <a:spLocks noChangeArrowheads="1"/>
          </p:cNvSpPr>
          <p:nvPr/>
        </p:nvSpPr>
        <p:spPr bwMode="auto">
          <a:xfrm>
            <a:off x="2955925" y="3635375"/>
            <a:ext cx="19685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60</a:t>
            </a:r>
            <a:endParaRPr lang="en-US" sz="1400">
              <a:latin typeface="Tahoma" pitchFamily="34" charset="0"/>
            </a:endParaRPr>
          </a:p>
        </p:txBody>
      </p:sp>
      <p:sp>
        <p:nvSpPr>
          <p:cNvPr id="33816" name="Rectangle 24"/>
          <p:cNvSpPr>
            <a:spLocks noChangeArrowheads="1"/>
          </p:cNvSpPr>
          <p:nvPr/>
        </p:nvSpPr>
        <p:spPr bwMode="auto">
          <a:xfrm>
            <a:off x="2955925" y="41179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40</a:t>
            </a:r>
            <a:endParaRPr lang="en-US" sz="1400">
              <a:latin typeface="Tahoma" pitchFamily="34" charset="0"/>
            </a:endParaRPr>
          </a:p>
        </p:txBody>
      </p:sp>
      <p:sp>
        <p:nvSpPr>
          <p:cNvPr id="33817" name="Rectangle 25"/>
          <p:cNvSpPr>
            <a:spLocks noChangeArrowheads="1"/>
          </p:cNvSpPr>
          <p:nvPr/>
        </p:nvSpPr>
        <p:spPr bwMode="auto">
          <a:xfrm>
            <a:off x="2955925" y="459898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a:t>
            </a:r>
            <a:endParaRPr lang="en-US" sz="1400">
              <a:latin typeface="Tahoma" pitchFamily="34" charset="0"/>
            </a:endParaRPr>
          </a:p>
        </p:txBody>
      </p:sp>
      <p:sp>
        <p:nvSpPr>
          <p:cNvPr id="33818" name="Rectangle 26"/>
          <p:cNvSpPr>
            <a:spLocks noChangeArrowheads="1"/>
          </p:cNvSpPr>
          <p:nvPr/>
        </p:nvSpPr>
        <p:spPr bwMode="auto">
          <a:xfrm>
            <a:off x="5692775" y="29733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33819" name="Rectangle 27"/>
          <p:cNvSpPr>
            <a:spLocks noChangeArrowheads="1"/>
          </p:cNvSpPr>
          <p:nvPr/>
        </p:nvSpPr>
        <p:spPr bwMode="auto">
          <a:xfrm>
            <a:off x="4422775" y="34480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B</a:t>
            </a:r>
            <a:endParaRPr lang="en-US" sz="1400" i="1">
              <a:latin typeface="Tahoma" pitchFamily="34" charset="0"/>
            </a:endParaRPr>
          </a:p>
        </p:txBody>
      </p:sp>
      <p:sp>
        <p:nvSpPr>
          <p:cNvPr id="33820" name="Line 28"/>
          <p:cNvSpPr>
            <a:spLocks noChangeShapeType="1"/>
          </p:cNvSpPr>
          <p:nvPr/>
        </p:nvSpPr>
        <p:spPr bwMode="auto">
          <a:xfrm>
            <a:off x="3187700" y="2311400"/>
            <a:ext cx="3735388" cy="1420813"/>
          </a:xfrm>
          <a:prstGeom prst="line">
            <a:avLst/>
          </a:prstGeom>
          <a:noFill/>
          <a:ln w="30163">
            <a:solidFill>
              <a:srgbClr val="3C5DAA"/>
            </a:solidFill>
            <a:miter lim="800000"/>
            <a:headEnd/>
            <a:tailEnd/>
          </a:ln>
        </p:spPr>
        <p:txBody>
          <a:bodyPr/>
          <a:lstStyle/>
          <a:p>
            <a:endParaRPr lang="en-US"/>
          </a:p>
        </p:txBody>
      </p:sp>
      <p:sp>
        <p:nvSpPr>
          <p:cNvPr id="33821" name="Line 29"/>
          <p:cNvSpPr>
            <a:spLocks noChangeShapeType="1"/>
          </p:cNvSpPr>
          <p:nvPr/>
        </p:nvSpPr>
        <p:spPr bwMode="auto">
          <a:xfrm flipH="1">
            <a:off x="3148013" y="2795588"/>
            <a:ext cx="3775075" cy="1452562"/>
          </a:xfrm>
          <a:prstGeom prst="line">
            <a:avLst/>
          </a:prstGeom>
          <a:noFill/>
          <a:ln w="30163">
            <a:solidFill>
              <a:srgbClr val="EE313C"/>
            </a:solidFill>
            <a:miter lim="800000"/>
            <a:headEnd/>
            <a:tailEnd/>
          </a:ln>
        </p:spPr>
        <p:txBody>
          <a:bodyPr/>
          <a:lstStyle/>
          <a:p>
            <a:endParaRPr lang="en-US"/>
          </a:p>
        </p:txBody>
      </p:sp>
      <p:sp>
        <p:nvSpPr>
          <p:cNvPr id="33822" name="Oval 30"/>
          <p:cNvSpPr>
            <a:spLocks noChangeArrowheads="1"/>
          </p:cNvSpPr>
          <p:nvPr/>
        </p:nvSpPr>
        <p:spPr bwMode="auto">
          <a:xfrm>
            <a:off x="5654675" y="3211513"/>
            <a:ext cx="98425" cy="104775"/>
          </a:xfrm>
          <a:prstGeom prst="ellipse">
            <a:avLst/>
          </a:prstGeom>
          <a:solidFill>
            <a:srgbClr val="000000"/>
          </a:solidFill>
          <a:ln w="9525">
            <a:noFill/>
            <a:round/>
            <a:headEnd/>
            <a:tailEnd/>
          </a:ln>
        </p:spPr>
        <p:txBody>
          <a:bodyPr/>
          <a:lstStyle/>
          <a:p>
            <a:endParaRPr lang="en-US"/>
          </a:p>
        </p:txBody>
      </p:sp>
      <p:sp>
        <p:nvSpPr>
          <p:cNvPr id="33823" name="Oval 31"/>
          <p:cNvSpPr>
            <a:spLocks noChangeArrowheads="1"/>
          </p:cNvSpPr>
          <p:nvPr/>
        </p:nvSpPr>
        <p:spPr bwMode="auto">
          <a:xfrm>
            <a:off x="4416425" y="3684588"/>
            <a:ext cx="98425" cy="104775"/>
          </a:xfrm>
          <a:prstGeom prst="ellipse">
            <a:avLst/>
          </a:prstGeom>
          <a:solidFill>
            <a:srgbClr val="000000"/>
          </a:solidFill>
          <a:ln w="9525">
            <a:noFill/>
            <a:round/>
            <a:headEnd/>
            <a:tailEnd/>
          </a:ln>
        </p:spPr>
        <p:txBody>
          <a:bodyPr/>
          <a:lstStyle/>
          <a:p>
            <a:endParaRPr lang="en-US"/>
          </a:p>
        </p:txBody>
      </p:sp>
      <p:sp>
        <p:nvSpPr>
          <p:cNvPr id="336928" name="Line 32"/>
          <p:cNvSpPr>
            <a:spLocks noChangeShapeType="1"/>
          </p:cNvSpPr>
          <p:nvPr/>
        </p:nvSpPr>
        <p:spPr bwMode="auto">
          <a:xfrm>
            <a:off x="5722938" y="5499100"/>
            <a:ext cx="0" cy="463550"/>
          </a:xfrm>
          <a:prstGeom prst="line">
            <a:avLst/>
          </a:prstGeom>
          <a:noFill/>
          <a:ln w="7938">
            <a:solidFill>
              <a:srgbClr val="000000"/>
            </a:solidFill>
            <a:miter lim="800000"/>
            <a:headEnd/>
            <a:tailEnd/>
          </a:ln>
        </p:spPr>
        <p:txBody>
          <a:bodyPr/>
          <a:lstStyle/>
          <a:p>
            <a:endParaRPr lang="en-US"/>
          </a:p>
        </p:txBody>
      </p:sp>
      <p:sp>
        <p:nvSpPr>
          <p:cNvPr id="336929" name="Freeform 33"/>
          <p:cNvSpPr>
            <a:spLocks/>
          </p:cNvSpPr>
          <p:nvPr/>
        </p:nvSpPr>
        <p:spPr bwMode="auto">
          <a:xfrm>
            <a:off x="5197475" y="5757863"/>
            <a:ext cx="1038225" cy="546100"/>
          </a:xfrm>
          <a:custGeom>
            <a:avLst/>
            <a:gdLst>
              <a:gd name="T0" fmla="*/ 1038225 w 211"/>
              <a:gd name="T1" fmla="*/ 477838 h 104"/>
              <a:gd name="T2" fmla="*/ 979179 w 211"/>
              <a:gd name="T3" fmla="*/ 546100 h 104"/>
              <a:gd name="T4" fmla="*/ 59046 w 211"/>
              <a:gd name="T5" fmla="*/ 546100 h 104"/>
              <a:gd name="T6" fmla="*/ 0 w 211"/>
              <a:gd name="T7" fmla="*/ 477838 h 104"/>
              <a:gd name="T8" fmla="*/ 0 w 211"/>
              <a:gd name="T9" fmla="*/ 63012 h 104"/>
              <a:gd name="T10" fmla="*/ 59046 w 211"/>
              <a:gd name="T11" fmla="*/ 0 h 104"/>
              <a:gd name="T12" fmla="*/ 979179 w 211"/>
              <a:gd name="T13" fmla="*/ 0 h 104"/>
              <a:gd name="T14" fmla="*/ 1038225 w 211"/>
              <a:gd name="T15" fmla="*/ 63012 h 104"/>
              <a:gd name="T16" fmla="*/ 1038225 w 211"/>
              <a:gd name="T17" fmla="*/ 477838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104"/>
              <a:gd name="T29" fmla="*/ 211 w 211"/>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104">
                <a:moveTo>
                  <a:pt x="211" y="91"/>
                </a:moveTo>
                <a:cubicBezTo>
                  <a:pt x="211" y="98"/>
                  <a:pt x="205" y="104"/>
                  <a:pt x="199" y="104"/>
                </a:cubicBezTo>
                <a:cubicBezTo>
                  <a:pt x="12" y="104"/>
                  <a:pt x="12" y="104"/>
                  <a:pt x="12" y="104"/>
                </a:cubicBezTo>
                <a:cubicBezTo>
                  <a:pt x="6" y="104"/>
                  <a:pt x="0" y="98"/>
                  <a:pt x="0" y="91"/>
                </a:cubicBezTo>
                <a:cubicBezTo>
                  <a:pt x="0" y="12"/>
                  <a:pt x="0" y="12"/>
                  <a:pt x="0" y="12"/>
                </a:cubicBezTo>
                <a:cubicBezTo>
                  <a:pt x="0" y="5"/>
                  <a:pt x="6" y="0"/>
                  <a:pt x="12" y="0"/>
                </a:cubicBezTo>
                <a:cubicBezTo>
                  <a:pt x="199" y="0"/>
                  <a:pt x="199" y="0"/>
                  <a:pt x="199" y="0"/>
                </a:cubicBezTo>
                <a:cubicBezTo>
                  <a:pt x="205" y="0"/>
                  <a:pt x="211" y="5"/>
                  <a:pt x="211" y="12"/>
                </a:cubicBezTo>
                <a:lnTo>
                  <a:pt x="211" y="91"/>
                </a:lnTo>
                <a:close/>
              </a:path>
            </a:pathLst>
          </a:custGeom>
          <a:solidFill>
            <a:srgbClr val="D6E2E0"/>
          </a:solidFill>
          <a:ln w="9525">
            <a:noFill/>
            <a:round/>
            <a:headEnd/>
            <a:tailEnd/>
          </a:ln>
        </p:spPr>
        <p:txBody>
          <a:bodyPr/>
          <a:lstStyle/>
          <a:p>
            <a:endParaRPr lang="en-US"/>
          </a:p>
        </p:txBody>
      </p:sp>
      <p:sp>
        <p:nvSpPr>
          <p:cNvPr id="336931" name="Freeform 35"/>
          <p:cNvSpPr>
            <a:spLocks/>
          </p:cNvSpPr>
          <p:nvPr/>
        </p:nvSpPr>
        <p:spPr bwMode="auto">
          <a:xfrm flipV="1">
            <a:off x="1562100" y="2903538"/>
            <a:ext cx="1036638" cy="576262"/>
          </a:xfrm>
          <a:custGeom>
            <a:avLst/>
            <a:gdLst>
              <a:gd name="T0" fmla="*/ 1036638 w 211"/>
              <a:gd name="T1" fmla="*/ 504229 h 104"/>
              <a:gd name="T2" fmla="*/ 977682 w 211"/>
              <a:gd name="T3" fmla="*/ 576262 h 104"/>
              <a:gd name="T4" fmla="*/ 58956 w 211"/>
              <a:gd name="T5" fmla="*/ 576262 h 104"/>
              <a:gd name="T6" fmla="*/ 0 w 211"/>
              <a:gd name="T7" fmla="*/ 504229 h 104"/>
              <a:gd name="T8" fmla="*/ 0 w 211"/>
              <a:gd name="T9" fmla="*/ 66492 h 104"/>
              <a:gd name="T10" fmla="*/ 58956 w 211"/>
              <a:gd name="T11" fmla="*/ 0 h 104"/>
              <a:gd name="T12" fmla="*/ 977682 w 211"/>
              <a:gd name="T13" fmla="*/ 0 h 104"/>
              <a:gd name="T14" fmla="*/ 1036638 w 211"/>
              <a:gd name="T15" fmla="*/ 66492 h 104"/>
              <a:gd name="T16" fmla="*/ 1036638 w 211"/>
              <a:gd name="T17" fmla="*/ 504229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104"/>
              <a:gd name="T29" fmla="*/ 211 w 211"/>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104">
                <a:moveTo>
                  <a:pt x="211" y="91"/>
                </a:moveTo>
                <a:cubicBezTo>
                  <a:pt x="211" y="98"/>
                  <a:pt x="205" y="104"/>
                  <a:pt x="199" y="104"/>
                </a:cubicBezTo>
                <a:cubicBezTo>
                  <a:pt x="12" y="104"/>
                  <a:pt x="12" y="104"/>
                  <a:pt x="12" y="104"/>
                </a:cubicBezTo>
                <a:cubicBezTo>
                  <a:pt x="6" y="104"/>
                  <a:pt x="0" y="98"/>
                  <a:pt x="0" y="91"/>
                </a:cubicBezTo>
                <a:cubicBezTo>
                  <a:pt x="0" y="12"/>
                  <a:pt x="0" y="12"/>
                  <a:pt x="0" y="12"/>
                </a:cubicBezTo>
                <a:cubicBezTo>
                  <a:pt x="0" y="5"/>
                  <a:pt x="6" y="0"/>
                  <a:pt x="12" y="0"/>
                </a:cubicBezTo>
                <a:cubicBezTo>
                  <a:pt x="199" y="0"/>
                  <a:pt x="199" y="0"/>
                  <a:pt x="199" y="0"/>
                </a:cubicBezTo>
                <a:cubicBezTo>
                  <a:pt x="205" y="0"/>
                  <a:pt x="211" y="5"/>
                  <a:pt x="211" y="12"/>
                </a:cubicBezTo>
                <a:lnTo>
                  <a:pt x="211" y="91"/>
                </a:lnTo>
                <a:close/>
              </a:path>
            </a:pathLst>
          </a:custGeom>
          <a:solidFill>
            <a:srgbClr val="D6E2E0"/>
          </a:solidFill>
          <a:ln w="9525">
            <a:noFill/>
            <a:round/>
            <a:headEnd/>
            <a:tailEnd/>
          </a:ln>
        </p:spPr>
        <p:txBody>
          <a:bodyPr/>
          <a:lstStyle/>
          <a:p>
            <a:endParaRPr lang="en-US"/>
          </a:p>
        </p:txBody>
      </p:sp>
      <p:sp>
        <p:nvSpPr>
          <p:cNvPr id="33827" name="Freeform 36"/>
          <p:cNvSpPr>
            <a:spLocks/>
          </p:cNvSpPr>
          <p:nvPr/>
        </p:nvSpPr>
        <p:spPr bwMode="auto">
          <a:xfrm>
            <a:off x="3222625" y="1160463"/>
            <a:ext cx="4279900" cy="4017962"/>
          </a:xfrm>
          <a:custGeom>
            <a:avLst/>
            <a:gdLst>
              <a:gd name="T0" fmla="*/ 4279900 w 2057"/>
              <a:gd name="T1" fmla="*/ 4017962 h 1804"/>
              <a:gd name="T2" fmla="*/ 0 w 2057"/>
              <a:gd name="T3" fmla="*/ 4017962 h 1804"/>
              <a:gd name="T4" fmla="*/ 0 w 2057"/>
              <a:gd name="T5" fmla="*/ 0 h 1804"/>
              <a:gd name="T6" fmla="*/ 0 60000 65536"/>
              <a:gd name="T7" fmla="*/ 0 60000 65536"/>
              <a:gd name="T8" fmla="*/ 0 60000 65536"/>
              <a:gd name="T9" fmla="*/ 0 w 2057"/>
              <a:gd name="T10" fmla="*/ 0 h 1804"/>
              <a:gd name="T11" fmla="*/ 2057 w 2057"/>
              <a:gd name="T12" fmla="*/ 1804 h 1804"/>
            </a:gdLst>
            <a:ahLst/>
            <a:cxnLst>
              <a:cxn ang="T6">
                <a:pos x="T0" y="T1"/>
              </a:cxn>
              <a:cxn ang="T7">
                <a:pos x="T2" y="T3"/>
              </a:cxn>
              <a:cxn ang="T8">
                <a:pos x="T4" y="T5"/>
              </a:cxn>
            </a:cxnLst>
            <a:rect l="T9" t="T10" r="T11" b="T12"/>
            <a:pathLst>
              <a:path w="2057" h="1804">
                <a:moveTo>
                  <a:pt x="2057" y="1804"/>
                </a:moveTo>
                <a:lnTo>
                  <a:pt x="0" y="1804"/>
                </a:lnTo>
                <a:lnTo>
                  <a:pt x="0" y="0"/>
                </a:lnTo>
              </a:path>
            </a:pathLst>
          </a:custGeom>
          <a:noFill/>
          <a:ln w="7938" cap="flat">
            <a:solidFill>
              <a:srgbClr val="000000"/>
            </a:solidFill>
            <a:prstDash val="solid"/>
            <a:miter lim="800000"/>
            <a:headEnd/>
            <a:tailEnd/>
          </a:ln>
        </p:spPr>
        <p:txBody>
          <a:bodyPr/>
          <a:lstStyle/>
          <a:p>
            <a:endParaRPr lang="en-US"/>
          </a:p>
        </p:txBody>
      </p:sp>
      <p:sp>
        <p:nvSpPr>
          <p:cNvPr id="33828" name="Rectangle 41"/>
          <p:cNvSpPr>
            <a:spLocks noChangeArrowheads="1"/>
          </p:cNvSpPr>
          <p:nvPr/>
        </p:nvSpPr>
        <p:spPr bwMode="auto">
          <a:xfrm>
            <a:off x="1939925" y="1046163"/>
            <a:ext cx="1098550"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hotel room</a:t>
            </a:r>
            <a:endParaRPr lang="en-US" sz="1400">
              <a:latin typeface="Tahoma" pitchFamily="34" charset="0"/>
            </a:endParaRPr>
          </a:p>
        </p:txBody>
      </p:sp>
      <p:sp>
        <p:nvSpPr>
          <p:cNvPr id="33829" name="Rectangle 42"/>
          <p:cNvSpPr>
            <a:spLocks noChangeArrowheads="1"/>
          </p:cNvSpPr>
          <p:nvPr/>
        </p:nvSpPr>
        <p:spPr bwMode="auto">
          <a:xfrm>
            <a:off x="7231063" y="5626100"/>
            <a:ext cx="14986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Quantity of hotel rooms</a:t>
            </a:r>
            <a:endParaRPr lang="en-US" sz="1400">
              <a:latin typeface="Tahoma" pitchFamily="34" charset="0"/>
            </a:endParaRPr>
          </a:p>
        </p:txBody>
      </p:sp>
      <p:sp>
        <p:nvSpPr>
          <p:cNvPr id="336939" name="Rectangle 86"/>
          <p:cNvSpPr>
            <a:spLocks noChangeArrowheads="1"/>
          </p:cNvSpPr>
          <p:nvPr/>
        </p:nvSpPr>
        <p:spPr bwMode="auto">
          <a:xfrm flipH="1">
            <a:off x="5118100" y="5789613"/>
            <a:ext cx="1196975" cy="430212"/>
          </a:xfrm>
          <a:prstGeom prst="rect">
            <a:avLst/>
          </a:prstGeom>
          <a:noFill/>
          <a:ln w="9525">
            <a:noFill/>
            <a:miter lim="800000"/>
            <a:headEnd/>
            <a:tailEnd/>
          </a:ln>
        </p:spPr>
        <p:txBody>
          <a:bodyPr lIns="0" tIns="0" rIns="0" bIns="0">
            <a:spAutoFit/>
          </a:bodyPr>
          <a:lstStyle/>
          <a:p>
            <a:pPr marL="1588" indent="-1588" algn="ctr"/>
            <a:r>
              <a:rPr lang="en-US" sz="1400">
                <a:latin typeface="Tahoma" pitchFamily="34" charset="0"/>
                <a:cs typeface="Tahoma" pitchFamily="34" charset="0"/>
              </a:rPr>
              <a:t>Equilibrium quantity</a:t>
            </a:r>
          </a:p>
        </p:txBody>
      </p:sp>
      <p:cxnSp>
        <p:nvCxnSpPr>
          <p:cNvPr id="3" name="Straight Connector 86"/>
          <p:cNvCxnSpPr>
            <a:cxnSpLocks noChangeShapeType="1"/>
          </p:cNvCxnSpPr>
          <p:nvPr/>
        </p:nvCxnSpPr>
        <p:spPr bwMode="auto">
          <a:xfrm>
            <a:off x="3336925" y="3262313"/>
            <a:ext cx="2297113" cy="3175"/>
          </a:xfrm>
          <a:prstGeom prst="line">
            <a:avLst/>
          </a:prstGeom>
          <a:noFill/>
          <a:ln w="15875">
            <a:solidFill>
              <a:srgbClr val="808080"/>
            </a:solidFill>
            <a:prstDash val="sysDot"/>
            <a:round/>
            <a:headEnd/>
            <a:tailEnd type="none" w="med" len="lg"/>
          </a:ln>
        </p:spPr>
      </p:cxnSp>
      <p:grpSp>
        <p:nvGrpSpPr>
          <p:cNvPr id="4" name="Group 47"/>
          <p:cNvGrpSpPr>
            <a:grpSpLocks/>
          </p:cNvGrpSpPr>
          <p:nvPr/>
        </p:nvGrpSpPr>
        <p:grpSpPr bwMode="auto">
          <a:xfrm>
            <a:off x="1700213" y="2976563"/>
            <a:ext cx="1223962" cy="430212"/>
            <a:chOff x="467" y="1933"/>
            <a:chExt cx="771" cy="271"/>
          </a:xfrm>
        </p:grpSpPr>
        <p:sp>
          <p:nvSpPr>
            <p:cNvPr id="33833" name="Line 34"/>
            <p:cNvSpPr>
              <a:spLocks noChangeShapeType="1"/>
            </p:cNvSpPr>
            <p:nvPr/>
          </p:nvSpPr>
          <p:spPr bwMode="auto">
            <a:xfrm>
              <a:off x="1065" y="2114"/>
              <a:ext cx="173" cy="1"/>
            </a:xfrm>
            <a:prstGeom prst="line">
              <a:avLst/>
            </a:prstGeom>
            <a:noFill/>
            <a:ln w="7938">
              <a:solidFill>
                <a:srgbClr val="000000"/>
              </a:solidFill>
              <a:miter lim="800000"/>
              <a:headEnd/>
              <a:tailEnd/>
            </a:ln>
          </p:spPr>
          <p:txBody>
            <a:bodyPr/>
            <a:lstStyle/>
            <a:p>
              <a:endParaRPr lang="en-US"/>
            </a:p>
          </p:txBody>
        </p:sp>
        <p:sp>
          <p:nvSpPr>
            <p:cNvPr id="33834" name="Rectangle 86"/>
            <p:cNvSpPr>
              <a:spLocks noChangeArrowheads="1"/>
            </p:cNvSpPr>
            <p:nvPr/>
          </p:nvSpPr>
          <p:spPr bwMode="auto">
            <a:xfrm flipH="1">
              <a:off x="467" y="1933"/>
              <a:ext cx="566" cy="271"/>
            </a:xfrm>
            <a:prstGeom prst="rect">
              <a:avLst/>
            </a:prstGeom>
            <a:noFill/>
            <a:ln w="9525">
              <a:noFill/>
              <a:miter lim="800000"/>
              <a:headEnd/>
              <a:tailEnd/>
            </a:ln>
          </p:spPr>
          <p:txBody>
            <a:bodyPr lIns="0" tIns="0" rIns="0" bIns="0">
              <a:spAutoFit/>
            </a:bodyPr>
            <a:lstStyle/>
            <a:p>
              <a:pPr marL="1588" indent="-1588" algn="ctr"/>
              <a:r>
                <a:rPr lang="en-US" sz="1400">
                  <a:latin typeface="Tahoma" pitchFamily="34" charset="0"/>
                  <a:cs typeface="Tahoma" pitchFamily="34" charset="0"/>
                </a:rPr>
                <a:t>Equilibrium price</a:t>
              </a:r>
            </a:p>
          </p:txBody>
        </p:sp>
      </p:grpSp>
      <p:sp>
        <p:nvSpPr>
          <p:cNvPr id="5" name="Line 32"/>
          <p:cNvSpPr>
            <a:spLocks noChangeShapeType="1"/>
          </p:cNvSpPr>
          <p:nvPr/>
        </p:nvSpPr>
        <p:spPr bwMode="auto">
          <a:xfrm>
            <a:off x="4456113" y="5514975"/>
            <a:ext cx="0" cy="463550"/>
          </a:xfrm>
          <a:prstGeom prst="line">
            <a:avLst/>
          </a:prstGeom>
          <a:noFill/>
          <a:ln w="7938">
            <a:solidFill>
              <a:srgbClr val="000000"/>
            </a:solidFill>
            <a:miter lim="800000"/>
            <a:headEnd/>
            <a:tailEnd/>
          </a:ln>
        </p:spPr>
        <p:txBody>
          <a:bodyPr/>
          <a:lstStyle/>
          <a:p>
            <a:endParaRPr lang="en-US"/>
          </a:p>
        </p:txBody>
      </p:sp>
      <p:sp>
        <p:nvSpPr>
          <p:cNvPr id="6" name="Freeform 33"/>
          <p:cNvSpPr>
            <a:spLocks/>
          </p:cNvSpPr>
          <p:nvPr/>
        </p:nvSpPr>
        <p:spPr bwMode="auto">
          <a:xfrm>
            <a:off x="3851275" y="5773738"/>
            <a:ext cx="1225550" cy="546100"/>
          </a:xfrm>
          <a:custGeom>
            <a:avLst/>
            <a:gdLst>
              <a:gd name="T0" fmla="*/ 1038225 w 211"/>
              <a:gd name="T1" fmla="*/ 477838 h 104"/>
              <a:gd name="T2" fmla="*/ 979179 w 211"/>
              <a:gd name="T3" fmla="*/ 546100 h 104"/>
              <a:gd name="T4" fmla="*/ 59046 w 211"/>
              <a:gd name="T5" fmla="*/ 546100 h 104"/>
              <a:gd name="T6" fmla="*/ 0 w 211"/>
              <a:gd name="T7" fmla="*/ 477838 h 104"/>
              <a:gd name="T8" fmla="*/ 0 w 211"/>
              <a:gd name="T9" fmla="*/ 63012 h 104"/>
              <a:gd name="T10" fmla="*/ 59046 w 211"/>
              <a:gd name="T11" fmla="*/ 0 h 104"/>
              <a:gd name="T12" fmla="*/ 979179 w 211"/>
              <a:gd name="T13" fmla="*/ 0 h 104"/>
              <a:gd name="T14" fmla="*/ 1038225 w 211"/>
              <a:gd name="T15" fmla="*/ 63012 h 104"/>
              <a:gd name="T16" fmla="*/ 1038225 w 211"/>
              <a:gd name="T17" fmla="*/ 477838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104"/>
              <a:gd name="T29" fmla="*/ 211 w 211"/>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104">
                <a:moveTo>
                  <a:pt x="211" y="91"/>
                </a:moveTo>
                <a:cubicBezTo>
                  <a:pt x="211" y="98"/>
                  <a:pt x="205" y="104"/>
                  <a:pt x="199" y="104"/>
                </a:cubicBezTo>
                <a:cubicBezTo>
                  <a:pt x="12" y="104"/>
                  <a:pt x="12" y="104"/>
                  <a:pt x="12" y="104"/>
                </a:cubicBezTo>
                <a:cubicBezTo>
                  <a:pt x="6" y="104"/>
                  <a:pt x="0" y="98"/>
                  <a:pt x="0" y="91"/>
                </a:cubicBezTo>
                <a:cubicBezTo>
                  <a:pt x="0" y="12"/>
                  <a:pt x="0" y="12"/>
                  <a:pt x="0" y="12"/>
                </a:cubicBezTo>
                <a:cubicBezTo>
                  <a:pt x="0" y="5"/>
                  <a:pt x="6" y="0"/>
                  <a:pt x="12" y="0"/>
                </a:cubicBezTo>
                <a:cubicBezTo>
                  <a:pt x="199" y="0"/>
                  <a:pt x="199" y="0"/>
                  <a:pt x="199" y="0"/>
                </a:cubicBezTo>
                <a:cubicBezTo>
                  <a:pt x="205" y="0"/>
                  <a:pt x="211" y="5"/>
                  <a:pt x="211" y="12"/>
                </a:cubicBezTo>
                <a:lnTo>
                  <a:pt x="211" y="91"/>
                </a:lnTo>
                <a:close/>
              </a:path>
            </a:pathLst>
          </a:custGeom>
          <a:solidFill>
            <a:srgbClr val="D6E2E0"/>
          </a:solidFill>
          <a:ln w="9525">
            <a:noFill/>
            <a:round/>
            <a:headEnd/>
            <a:tailEnd/>
          </a:ln>
        </p:spPr>
        <p:txBody>
          <a:bodyPr/>
          <a:lstStyle/>
          <a:p>
            <a:endParaRPr lang="en-US"/>
          </a:p>
        </p:txBody>
      </p:sp>
      <p:sp>
        <p:nvSpPr>
          <p:cNvPr id="7" name="Rectangle 86"/>
          <p:cNvSpPr>
            <a:spLocks noChangeArrowheads="1"/>
          </p:cNvSpPr>
          <p:nvPr/>
        </p:nvSpPr>
        <p:spPr bwMode="auto">
          <a:xfrm flipH="1">
            <a:off x="3851275" y="5805488"/>
            <a:ext cx="1196975" cy="425450"/>
          </a:xfrm>
          <a:prstGeom prst="rect">
            <a:avLst/>
          </a:prstGeom>
          <a:noFill/>
          <a:ln w="9525">
            <a:noFill/>
            <a:miter lim="800000"/>
            <a:headEnd/>
            <a:tailEnd/>
          </a:ln>
        </p:spPr>
        <p:txBody>
          <a:bodyPr lIns="0" tIns="0" rIns="0" bIns="0">
            <a:spAutoFit/>
          </a:bodyPr>
          <a:lstStyle/>
          <a:p>
            <a:pPr marL="1588" indent="-1588" algn="ctr"/>
            <a:r>
              <a:rPr lang="en-US" sz="1400">
                <a:latin typeface="Tahoma" pitchFamily="34" charset="0"/>
                <a:cs typeface="Tahoma" pitchFamily="34" charset="0"/>
              </a:rPr>
              <a:t>Q</a:t>
            </a:r>
            <a:r>
              <a:rPr lang="en-US" sz="1400" b="1" baseline="-25000">
                <a:latin typeface="Tahoma" pitchFamily="34" charset="0"/>
                <a:cs typeface="Tahoma" pitchFamily="34" charset="0"/>
              </a:rPr>
              <a:t>Supply</a:t>
            </a:r>
            <a:r>
              <a:rPr lang="en-US" sz="1400">
                <a:latin typeface="Tahoma" pitchFamily="34" charset="0"/>
                <a:cs typeface="Tahoma" pitchFamily="34" charset="0"/>
              </a:rPr>
              <a:t> if price was $60</a:t>
            </a:r>
          </a:p>
        </p:txBody>
      </p:sp>
      <p:sp>
        <p:nvSpPr>
          <p:cNvPr id="8" name="Line 32"/>
          <p:cNvSpPr>
            <a:spLocks noChangeShapeType="1"/>
          </p:cNvSpPr>
          <p:nvPr/>
        </p:nvSpPr>
        <p:spPr bwMode="auto">
          <a:xfrm>
            <a:off x="4464050" y="2244725"/>
            <a:ext cx="0" cy="463550"/>
          </a:xfrm>
          <a:prstGeom prst="line">
            <a:avLst/>
          </a:prstGeom>
          <a:noFill/>
          <a:ln w="7938">
            <a:solidFill>
              <a:srgbClr val="000000"/>
            </a:solidFill>
            <a:miter lim="800000"/>
            <a:headEnd/>
            <a:tailEnd/>
          </a:ln>
        </p:spPr>
        <p:txBody>
          <a:bodyPr/>
          <a:lstStyle/>
          <a:p>
            <a:endParaRPr lang="en-US"/>
          </a:p>
        </p:txBody>
      </p:sp>
      <p:sp>
        <p:nvSpPr>
          <p:cNvPr id="9" name="Freeform 33"/>
          <p:cNvSpPr>
            <a:spLocks/>
          </p:cNvSpPr>
          <p:nvPr/>
        </p:nvSpPr>
        <p:spPr bwMode="auto">
          <a:xfrm>
            <a:off x="3816350" y="1668463"/>
            <a:ext cx="1331913" cy="546100"/>
          </a:xfrm>
          <a:custGeom>
            <a:avLst/>
            <a:gdLst>
              <a:gd name="T0" fmla="*/ 1038225 w 211"/>
              <a:gd name="T1" fmla="*/ 477838 h 104"/>
              <a:gd name="T2" fmla="*/ 979179 w 211"/>
              <a:gd name="T3" fmla="*/ 546100 h 104"/>
              <a:gd name="T4" fmla="*/ 59046 w 211"/>
              <a:gd name="T5" fmla="*/ 546100 h 104"/>
              <a:gd name="T6" fmla="*/ 0 w 211"/>
              <a:gd name="T7" fmla="*/ 477838 h 104"/>
              <a:gd name="T8" fmla="*/ 0 w 211"/>
              <a:gd name="T9" fmla="*/ 63012 h 104"/>
              <a:gd name="T10" fmla="*/ 59046 w 211"/>
              <a:gd name="T11" fmla="*/ 0 h 104"/>
              <a:gd name="T12" fmla="*/ 979179 w 211"/>
              <a:gd name="T13" fmla="*/ 0 h 104"/>
              <a:gd name="T14" fmla="*/ 1038225 w 211"/>
              <a:gd name="T15" fmla="*/ 63012 h 104"/>
              <a:gd name="T16" fmla="*/ 1038225 w 211"/>
              <a:gd name="T17" fmla="*/ 477838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104"/>
              <a:gd name="T29" fmla="*/ 211 w 211"/>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104">
                <a:moveTo>
                  <a:pt x="211" y="91"/>
                </a:moveTo>
                <a:cubicBezTo>
                  <a:pt x="211" y="98"/>
                  <a:pt x="205" y="104"/>
                  <a:pt x="199" y="104"/>
                </a:cubicBezTo>
                <a:cubicBezTo>
                  <a:pt x="12" y="104"/>
                  <a:pt x="12" y="104"/>
                  <a:pt x="12" y="104"/>
                </a:cubicBezTo>
                <a:cubicBezTo>
                  <a:pt x="6" y="104"/>
                  <a:pt x="0" y="98"/>
                  <a:pt x="0" y="91"/>
                </a:cubicBezTo>
                <a:cubicBezTo>
                  <a:pt x="0" y="12"/>
                  <a:pt x="0" y="12"/>
                  <a:pt x="0" y="12"/>
                </a:cubicBezTo>
                <a:cubicBezTo>
                  <a:pt x="0" y="5"/>
                  <a:pt x="6" y="0"/>
                  <a:pt x="12" y="0"/>
                </a:cubicBezTo>
                <a:cubicBezTo>
                  <a:pt x="199" y="0"/>
                  <a:pt x="199" y="0"/>
                  <a:pt x="199" y="0"/>
                </a:cubicBezTo>
                <a:cubicBezTo>
                  <a:pt x="205" y="0"/>
                  <a:pt x="211" y="5"/>
                  <a:pt x="211" y="12"/>
                </a:cubicBezTo>
                <a:lnTo>
                  <a:pt x="211" y="91"/>
                </a:lnTo>
                <a:close/>
              </a:path>
            </a:pathLst>
          </a:custGeom>
          <a:solidFill>
            <a:srgbClr val="D6E2E0"/>
          </a:solidFill>
          <a:ln w="9525">
            <a:noFill/>
            <a:round/>
            <a:headEnd/>
            <a:tailEnd/>
          </a:ln>
        </p:spPr>
        <p:txBody>
          <a:bodyPr/>
          <a:lstStyle/>
          <a:p>
            <a:endParaRPr lang="en-US"/>
          </a:p>
        </p:txBody>
      </p:sp>
      <p:sp>
        <p:nvSpPr>
          <p:cNvPr id="10" name="Rectangle 86"/>
          <p:cNvSpPr>
            <a:spLocks noChangeArrowheads="1"/>
          </p:cNvSpPr>
          <p:nvPr/>
        </p:nvSpPr>
        <p:spPr bwMode="auto">
          <a:xfrm flipH="1">
            <a:off x="3851275" y="1700213"/>
            <a:ext cx="1231900" cy="425450"/>
          </a:xfrm>
          <a:prstGeom prst="rect">
            <a:avLst/>
          </a:prstGeom>
          <a:noFill/>
          <a:ln w="9525">
            <a:noFill/>
            <a:miter lim="800000"/>
            <a:headEnd/>
            <a:tailEnd/>
          </a:ln>
        </p:spPr>
        <p:txBody>
          <a:bodyPr lIns="0" tIns="0" rIns="0" bIns="0">
            <a:spAutoFit/>
          </a:bodyPr>
          <a:lstStyle/>
          <a:p>
            <a:pPr marL="1588" indent="-1588" algn="ctr"/>
            <a:r>
              <a:rPr lang="en-US" sz="1400">
                <a:latin typeface="Tahoma" pitchFamily="34" charset="0"/>
                <a:cs typeface="Tahoma" pitchFamily="34" charset="0"/>
              </a:rPr>
              <a:t>Q</a:t>
            </a:r>
            <a:r>
              <a:rPr lang="en-US" sz="1400" b="1" baseline="-25000">
                <a:latin typeface="Tahoma" pitchFamily="34" charset="0"/>
                <a:cs typeface="Tahoma" pitchFamily="34" charset="0"/>
              </a:rPr>
              <a:t>Demand</a:t>
            </a:r>
            <a:r>
              <a:rPr lang="en-US" sz="1400">
                <a:latin typeface="Tahoma" pitchFamily="34" charset="0"/>
                <a:cs typeface="Tahoma" pitchFamily="34" charset="0"/>
              </a:rPr>
              <a:t> if price was $100</a:t>
            </a:r>
          </a:p>
        </p:txBody>
      </p:sp>
      <p:cxnSp>
        <p:nvCxnSpPr>
          <p:cNvPr id="11" name="Straight Connector 86"/>
          <p:cNvCxnSpPr>
            <a:cxnSpLocks noChangeShapeType="1"/>
          </p:cNvCxnSpPr>
          <p:nvPr/>
        </p:nvCxnSpPr>
        <p:spPr bwMode="auto">
          <a:xfrm>
            <a:off x="3348038" y="2781300"/>
            <a:ext cx="1098550" cy="0"/>
          </a:xfrm>
          <a:prstGeom prst="line">
            <a:avLst/>
          </a:prstGeom>
          <a:noFill/>
          <a:ln w="15875">
            <a:solidFill>
              <a:srgbClr val="808080"/>
            </a:solidFill>
            <a:prstDash val="sysDot"/>
            <a:round/>
            <a:headEnd/>
            <a:tailEnd type="none" w="med" len="lg"/>
          </a:ln>
        </p:spPr>
      </p:cxnSp>
      <p:sp>
        <p:nvSpPr>
          <p:cNvPr id="33844" name="Oval 31"/>
          <p:cNvSpPr>
            <a:spLocks noChangeArrowheads="1"/>
          </p:cNvSpPr>
          <p:nvPr/>
        </p:nvSpPr>
        <p:spPr bwMode="auto">
          <a:xfrm>
            <a:off x="4427538" y="2744788"/>
            <a:ext cx="98425" cy="104775"/>
          </a:xfrm>
          <a:prstGeom prst="ellipse">
            <a:avLst/>
          </a:prstGeom>
          <a:solidFill>
            <a:srgbClr val="000000"/>
          </a:solidFill>
          <a:ln w="9525">
            <a:noFill/>
            <a:round/>
            <a:headEnd/>
            <a:tailEnd/>
          </a:ln>
        </p:spPr>
        <p:txBody>
          <a:bodyPr/>
          <a:lstStyle/>
          <a:p>
            <a:endParaRPr lang="en-US"/>
          </a:p>
        </p:txBody>
      </p:sp>
      <p:sp>
        <p:nvSpPr>
          <p:cNvPr id="33846" name="Rectangle 27"/>
          <p:cNvSpPr>
            <a:spLocks noChangeArrowheads="1"/>
          </p:cNvSpPr>
          <p:nvPr/>
        </p:nvSpPr>
        <p:spPr bwMode="auto">
          <a:xfrm>
            <a:off x="4535488" y="2528888"/>
            <a:ext cx="1190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a:t>
            </a:r>
            <a:endParaRPr lang="en-US" sz="1400" i="1">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36931"/>
                                        </p:tgtEl>
                                        <p:attrNameLst>
                                          <p:attrName>style.visibility</p:attrName>
                                        </p:attrNameLst>
                                      </p:cBhvr>
                                      <p:to>
                                        <p:strVal val="visible"/>
                                      </p:to>
                                    </p:set>
                                  </p:childTnLst>
                                </p:cTn>
                              </p:par>
                              <p:par>
                                <p:cTn id="10" presetID="22" presetClass="entr" presetSubtype="8"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1" fill="hold" nodeType="withEffect">
                                  <p:stCondLst>
                                    <p:cond delay="0"/>
                                  </p:stCondLst>
                                  <p:childTnLst>
                                    <p:set>
                                      <p:cBhvr>
                                        <p:cTn id="14" dur="1" fill="hold">
                                          <p:stCondLst>
                                            <p:cond delay="0"/>
                                          </p:stCondLst>
                                        </p:cTn>
                                        <p:tgtEl>
                                          <p:spTgt spid="548914"/>
                                        </p:tgtEl>
                                        <p:attrNameLst>
                                          <p:attrName>style.visibility</p:attrName>
                                        </p:attrNameLst>
                                      </p:cBhvr>
                                      <p:to>
                                        <p:strVal val="visible"/>
                                      </p:to>
                                    </p:set>
                                    <p:animEffect transition="in" filter="wipe(up)">
                                      <p:cBhvr>
                                        <p:cTn id="15" dur="500"/>
                                        <p:tgtEl>
                                          <p:spTgt spid="548914"/>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3369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36929"/>
                                        </p:tgtEl>
                                        <p:attrNameLst>
                                          <p:attrName>style.visibility</p:attrName>
                                        </p:attrNameLst>
                                      </p:cBhvr>
                                      <p:to>
                                        <p:strVal val="visible"/>
                                      </p:to>
                                    </p:set>
                                  </p:childTnLst>
                                </p:cTn>
                              </p:par>
                              <p:par>
                                <p:cTn id="20" presetID="22" presetClass="entr" presetSubtype="8" fill="hold" grpId="0" nodeType="withEffect">
                                  <p:stCondLst>
                                    <p:cond delay="0"/>
                                  </p:stCondLst>
                                  <p:childTnLst>
                                    <p:set>
                                      <p:cBhvr>
                                        <p:cTn id="21" dur="1" fill="hold">
                                          <p:stCondLst>
                                            <p:cond delay="0"/>
                                          </p:stCondLst>
                                        </p:cTn>
                                        <p:tgtEl>
                                          <p:spTgt spid="336939"/>
                                        </p:tgtEl>
                                        <p:attrNameLst>
                                          <p:attrName>style.visibility</p:attrName>
                                        </p:attrNameLst>
                                      </p:cBhvr>
                                      <p:to>
                                        <p:strVal val="visible"/>
                                      </p:to>
                                    </p:set>
                                    <p:animEffect transition="in" filter="wipe(left)">
                                      <p:cBhvr>
                                        <p:cTn id="22" dur="500"/>
                                        <p:tgtEl>
                                          <p:spTgt spid="3369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48912"/>
                                        </p:tgtEl>
                                        <p:attrNameLst>
                                          <p:attrName>style.visibility</p:attrName>
                                        </p:attrNameLst>
                                      </p:cBhvr>
                                      <p:to>
                                        <p:strVal val="visible"/>
                                      </p:to>
                                    </p:set>
                                    <p:animEffect transition="in" filter="wipe(left)">
                                      <p:cBhvr>
                                        <p:cTn id="27" dur="500"/>
                                        <p:tgtEl>
                                          <p:spTgt spid="548912"/>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childTnLst>
                                </p:cTn>
                              </p:par>
                              <p:par>
                                <p:cTn id="32" presetID="22" presetClass="entr" presetSubtype="4"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down)">
                                      <p:cBhvr>
                                        <p:cTn id="34" dur="500"/>
                                        <p:tgtEl>
                                          <p:spTgt spid="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22" presetClass="entr" presetSubtype="8"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par>
                                <p:cTn id="45" presetID="22" presetClass="entr" presetSubtype="8"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28" grpId="0" animBg="1"/>
      <p:bldP spid="336929" grpId="0" animBg="1"/>
      <p:bldP spid="336931" grpId="0" animBg="1"/>
      <p:bldP spid="336939" grpId="0"/>
      <p:bldP spid="5" grpId="0" animBg="1"/>
      <p:bldP spid="6" grpId="0" animBg="1"/>
      <p:bldP spid="7" grpId="0"/>
      <p:bldP spid="8" grpId="0" animBg="1"/>
      <p:bldP spid="9" grpId="0"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Rot="1" noChangeArrowheads="1"/>
          </p:cNvSpPr>
          <p:nvPr>
            <p:ph type="title" idx="4294967295"/>
          </p:nvPr>
        </p:nvSpPr>
        <p:spPr/>
        <p:txBody>
          <a:bodyPr>
            <a:normAutofit/>
          </a:bodyPr>
          <a:lstStyle/>
          <a:p>
            <a:r>
              <a:rPr lang="en-US" sz="2800" smtClean="0">
                <a:effectLst/>
              </a:rPr>
              <a:t>An Excise Tax Imposed on Hotel Owners</a:t>
            </a:r>
          </a:p>
        </p:txBody>
      </p:sp>
      <p:cxnSp>
        <p:nvCxnSpPr>
          <p:cNvPr id="122883" name="Straight Connector 86"/>
          <p:cNvCxnSpPr>
            <a:cxnSpLocks noChangeShapeType="1"/>
          </p:cNvCxnSpPr>
          <p:nvPr/>
        </p:nvCxnSpPr>
        <p:spPr bwMode="auto">
          <a:xfrm>
            <a:off x="6923088" y="3535363"/>
            <a:ext cx="0" cy="1871662"/>
          </a:xfrm>
          <a:prstGeom prst="line">
            <a:avLst/>
          </a:prstGeom>
          <a:noFill/>
          <a:ln w="15875">
            <a:solidFill>
              <a:srgbClr val="808080"/>
            </a:solidFill>
            <a:prstDash val="sysDot"/>
            <a:round/>
            <a:headEnd/>
            <a:tailEnd type="none" w="med" len="lg"/>
          </a:ln>
        </p:spPr>
      </p:cxnSp>
      <p:cxnSp>
        <p:nvCxnSpPr>
          <p:cNvPr id="122884" name="Straight Connector 86"/>
          <p:cNvCxnSpPr>
            <a:cxnSpLocks noChangeShapeType="1"/>
          </p:cNvCxnSpPr>
          <p:nvPr/>
        </p:nvCxnSpPr>
        <p:spPr bwMode="auto">
          <a:xfrm>
            <a:off x="4481513" y="3508375"/>
            <a:ext cx="2378075" cy="1588"/>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5645150" y="2949575"/>
            <a:ext cx="0" cy="245745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4481513" y="4017963"/>
            <a:ext cx="1138237"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4441825" y="2967038"/>
            <a:ext cx="1136650" cy="0"/>
          </a:xfrm>
          <a:prstGeom prst="line">
            <a:avLst/>
          </a:prstGeom>
          <a:noFill/>
          <a:ln w="15875">
            <a:solidFill>
              <a:srgbClr val="808080"/>
            </a:solidFill>
            <a:prstDash val="sysDot"/>
            <a:round/>
            <a:headEnd/>
            <a:tailEnd type="none" w="med" len="lg"/>
          </a:ln>
        </p:spPr>
      </p:cxnSp>
      <p:sp>
        <p:nvSpPr>
          <p:cNvPr id="122888" name="Rectangle 10"/>
          <p:cNvSpPr>
            <a:spLocks noChangeArrowheads="1"/>
          </p:cNvSpPr>
          <p:nvPr/>
        </p:nvSpPr>
        <p:spPr bwMode="auto">
          <a:xfrm>
            <a:off x="8275638" y="2736850"/>
            <a:ext cx="1825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r>
              <a:rPr lang="en-US" sz="1400" baseline="-25000">
                <a:solidFill>
                  <a:srgbClr val="000000"/>
                </a:solidFill>
                <a:latin typeface="Myriad Pro"/>
              </a:rPr>
              <a:t>1</a:t>
            </a:r>
            <a:endParaRPr lang="en-US" sz="1400" baseline="-25000">
              <a:latin typeface="Myriad Pro"/>
            </a:endParaRPr>
          </a:p>
        </p:txBody>
      </p:sp>
      <p:sp>
        <p:nvSpPr>
          <p:cNvPr id="122889" name="Rectangle 11"/>
          <p:cNvSpPr>
            <a:spLocks noChangeArrowheads="1"/>
          </p:cNvSpPr>
          <p:nvPr/>
        </p:nvSpPr>
        <p:spPr bwMode="auto">
          <a:xfrm>
            <a:off x="8369300" y="2847975"/>
            <a:ext cx="0" cy="212725"/>
          </a:xfrm>
          <a:prstGeom prst="rect">
            <a:avLst/>
          </a:prstGeom>
          <a:noFill/>
          <a:ln w="9525">
            <a:noFill/>
            <a:miter lim="800000"/>
            <a:headEnd/>
            <a:tailEnd/>
          </a:ln>
        </p:spPr>
        <p:txBody>
          <a:bodyPr wrap="none" lIns="0" tIns="0" rIns="0" bIns="0">
            <a:spAutoFit/>
          </a:bodyPr>
          <a:lstStyle/>
          <a:p>
            <a:pPr marL="1588" indent="-1588"/>
            <a:endParaRPr lang="en-US" sz="1400">
              <a:latin typeface="Myriad Pro"/>
            </a:endParaRPr>
          </a:p>
        </p:txBody>
      </p:sp>
      <p:sp>
        <p:nvSpPr>
          <p:cNvPr id="338956" name="Rectangle 12"/>
          <p:cNvSpPr>
            <a:spLocks noChangeArrowheads="1"/>
          </p:cNvSpPr>
          <p:nvPr/>
        </p:nvSpPr>
        <p:spPr bwMode="auto">
          <a:xfrm>
            <a:off x="8285163" y="1679575"/>
            <a:ext cx="1825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r>
              <a:rPr lang="en-US" sz="1400" baseline="-25000">
                <a:solidFill>
                  <a:srgbClr val="000000"/>
                </a:solidFill>
                <a:latin typeface="Myriad Pro"/>
              </a:rPr>
              <a:t>2</a:t>
            </a:r>
            <a:endParaRPr lang="en-US" sz="1400" baseline="-25000">
              <a:latin typeface="Myriad Pro"/>
            </a:endParaRPr>
          </a:p>
        </p:txBody>
      </p:sp>
      <p:sp>
        <p:nvSpPr>
          <p:cNvPr id="338958" name="Rectangle 14"/>
          <p:cNvSpPr>
            <a:spLocks noChangeArrowheads="1"/>
          </p:cNvSpPr>
          <p:nvPr/>
        </p:nvSpPr>
        <p:spPr bwMode="auto">
          <a:xfrm>
            <a:off x="5614988" y="2636838"/>
            <a:ext cx="1190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Myriad Pro"/>
            </a:endParaRPr>
          </a:p>
        </p:txBody>
      </p:sp>
      <p:sp>
        <p:nvSpPr>
          <p:cNvPr id="338959" name="Rectangle 15"/>
          <p:cNvSpPr>
            <a:spLocks noChangeArrowheads="1"/>
          </p:cNvSpPr>
          <p:nvPr/>
        </p:nvSpPr>
        <p:spPr bwMode="auto">
          <a:xfrm>
            <a:off x="5724525" y="4024313"/>
            <a:ext cx="119063"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Myriad Pro"/>
            </a:endParaRPr>
          </a:p>
        </p:txBody>
      </p:sp>
      <p:sp>
        <p:nvSpPr>
          <p:cNvPr id="122893" name="Line 16"/>
          <p:cNvSpPr>
            <a:spLocks noChangeShapeType="1"/>
          </p:cNvSpPr>
          <p:nvPr/>
        </p:nvSpPr>
        <p:spPr bwMode="auto">
          <a:xfrm>
            <a:off x="4365625" y="1903413"/>
            <a:ext cx="120650" cy="0"/>
          </a:xfrm>
          <a:prstGeom prst="line">
            <a:avLst/>
          </a:prstGeom>
          <a:noFill/>
          <a:ln w="7938">
            <a:solidFill>
              <a:srgbClr val="000000"/>
            </a:solidFill>
            <a:miter lim="800000"/>
            <a:headEnd/>
            <a:tailEnd/>
          </a:ln>
        </p:spPr>
        <p:txBody>
          <a:bodyPr/>
          <a:lstStyle/>
          <a:p>
            <a:endParaRPr lang="en-US"/>
          </a:p>
        </p:txBody>
      </p:sp>
      <p:sp>
        <p:nvSpPr>
          <p:cNvPr id="122894" name="Line 17"/>
          <p:cNvSpPr>
            <a:spLocks noChangeShapeType="1"/>
          </p:cNvSpPr>
          <p:nvPr/>
        </p:nvSpPr>
        <p:spPr bwMode="auto">
          <a:xfrm>
            <a:off x="4365625" y="2959100"/>
            <a:ext cx="120650" cy="0"/>
          </a:xfrm>
          <a:prstGeom prst="line">
            <a:avLst/>
          </a:prstGeom>
          <a:noFill/>
          <a:ln w="7938">
            <a:solidFill>
              <a:srgbClr val="000000"/>
            </a:solidFill>
            <a:miter lim="800000"/>
            <a:headEnd/>
            <a:tailEnd/>
          </a:ln>
        </p:spPr>
        <p:txBody>
          <a:bodyPr/>
          <a:lstStyle/>
          <a:p>
            <a:endParaRPr lang="en-US"/>
          </a:p>
        </p:txBody>
      </p:sp>
      <p:sp>
        <p:nvSpPr>
          <p:cNvPr id="122895" name="Line 18"/>
          <p:cNvSpPr>
            <a:spLocks noChangeShapeType="1"/>
          </p:cNvSpPr>
          <p:nvPr/>
        </p:nvSpPr>
        <p:spPr bwMode="auto">
          <a:xfrm>
            <a:off x="4365625" y="4013200"/>
            <a:ext cx="120650" cy="0"/>
          </a:xfrm>
          <a:prstGeom prst="line">
            <a:avLst/>
          </a:prstGeom>
          <a:noFill/>
          <a:ln w="7938">
            <a:solidFill>
              <a:srgbClr val="000000"/>
            </a:solidFill>
            <a:miter lim="800000"/>
            <a:headEnd/>
            <a:tailEnd/>
          </a:ln>
        </p:spPr>
        <p:txBody>
          <a:bodyPr/>
          <a:lstStyle/>
          <a:p>
            <a:endParaRPr lang="en-US"/>
          </a:p>
        </p:txBody>
      </p:sp>
      <p:sp>
        <p:nvSpPr>
          <p:cNvPr id="122896" name="Line 19"/>
          <p:cNvSpPr>
            <a:spLocks noChangeShapeType="1"/>
          </p:cNvSpPr>
          <p:nvPr/>
        </p:nvSpPr>
        <p:spPr bwMode="auto">
          <a:xfrm>
            <a:off x="4365625" y="5065713"/>
            <a:ext cx="120650" cy="0"/>
          </a:xfrm>
          <a:prstGeom prst="line">
            <a:avLst/>
          </a:prstGeom>
          <a:noFill/>
          <a:ln w="7938">
            <a:solidFill>
              <a:srgbClr val="000000"/>
            </a:solidFill>
            <a:miter lim="800000"/>
            <a:headEnd/>
            <a:tailEnd/>
          </a:ln>
        </p:spPr>
        <p:txBody>
          <a:bodyPr/>
          <a:lstStyle/>
          <a:p>
            <a:endParaRPr lang="en-US"/>
          </a:p>
        </p:txBody>
      </p:sp>
      <p:sp>
        <p:nvSpPr>
          <p:cNvPr id="122897" name="Line 20"/>
          <p:cNvSpPr>
            <a:spLocks noChangeShapeType="1"/>
          </p:cNvSpPr>
          <p:nvPr/>
        </p:nvSpPr>
        <p:spPr bwMode="auto">
          <a:xfrm>
            <a:off x="5651500" y="5451475"/>
            <a:ext cx="0" cy="138113"/>
          </a:xfrm>
          <a:prstGeom prst="line">
            <a:avLst/>
          </a:prstGeom>
          <a:noFill/>
          <a:ln w="7938">
            <a:solidFill>
              <a:srgbClr val="000000"/>
            </a:solidFill>
            <a:miter lim="800000"/>
            <a:headEnd/>
            <a:tailEnd/>
          </a:ln>
        </p:spPr>
        <p:txBody>
          <a:bodyPr/>
          <a:lstStyle/>
          <a:p>
            <a:endParaRPr lang="en-US"/>
          </a:p>
        </p:txBody>
      </p:sp>
      <p:sp>
        <p:nvSpPr>
          <p:cNvPr id="122898" name="Line 21"/>
          <p:cNvSpPr>
            <a:spLocks noChangeShapeType="1"/>
          </p:cNvSpPr>
          <p:nvPr/>
        </p:nvSpPr>
        <p:spPr bwMode="auto">
          <a:xfrm>
            <a:off x="6938963" y="5451475"/>
            <a:ext cx="0" cy="138113"/>
          </a:xfrm>
          <a:prstGeom prst="line">
            <a:avLst/>
          </a:prstGeom>
          <a:noFill/>
          <a:ln w="7938">
            <a:solidFill>
              <a:srgbClr val="000000"/>
            </a:solidFill>
            <a:miter lim="800000"/>
            <a:headEnd/>
            <a:tailEnd/>
          </a:ln>
        </p:spPr>
        <p:txBody>
          <a:bodyPr/>
          <a:lstStyle/>
          <a:p>
            <a:endParaRPr lang="en-US"/>
          </a:p>
        </p:txBody>
      </p:sp>
      <p:sp>
        <p:nvSpPr>
          <p:cNvPr id="122899" name="Line 22"/>
          <p:cNvSpPr>
            <a:spLocks noChangeShapeType="1"/>
          </p:cNvSpPr>
          <p:nvPr/>
        </p:nvSpPr>
        <p:spPr bwMode="auto">
          <a:xfrm>
            <a:off x="8231188" y="5451475"/>
            <a:ext cx="0" cy="138113"/>
          </a:xfrm>
          <a:prstGeom prst="line">
            <a:avLst/>
          </a:prstGeom>
          <a:noFill/>
          <a:ln w="7938">
            <a:solidFill>
              <a:srgbClr val="000000"/>
            </a:solidFill>
            <a:miter lim="800000"/>
            <a:headEnd/>
            <a:tailEnd/>
          </a:ln>
        </p:spPr>
        <p:txBody>
          <a:bodyPr/>
          <a:lstStyle/>
          <a:p>
            <a:endParaRPr lang="en-US"/>
          </a:p>
        </p:txBody>
      </p:sp>
      <p:sp>
        <p:nvSpPr>
          <p:cNvPr id="122900" name="Rectangle 23"/>
          <p:cNvSpPr>
            <a:spLocks noChangeArrowheads="1"/>
          </p:cNvSpPr>
          <p:nvPr/>
        </p:nvSpPr>
        <p:spPr bwMode="auto">
          <a:xfrm>
            <a:off x="4179888" y="563721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Myriad Pro"/>
            </a:endParaRPr>
          </a:p>
        </p:txBody>
      </p:sp>
      <p:sp>
        <p:nvSpPr>
          <p:cNvPr id="122901" name="Rectangle 24"/>
          <p:cNvSpPr>
            <a:spLocks noChangeArrowheads="1"/>
          </p:cNvSpPr>
          <p:nvPr/>
        </p:nvSpPr>
        <p:spPr bwMode="auto">
          <a:xfrm>
            <a:off x="5453063" y="5637213"/>
            <a:ext cx="44291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5,000</a:t>
            </a:r>
            <a:endParaRPr lang="en-US" sz="1400">
              <a:latin typeface="Myriad Pro"/>
            </a:endParaRPr>
          </a:p>
        </p:txBody>
      </p:sp>
      <p:sp>
        <p:nvSpPr>
          <p:cNvPr id="122902" name="Rectangle 25"/>
          <p:cNvSpPr>
            <a:spLocks noChangeArrowheads="1"/>
          </p:cNvSpPr>
          <p:nvPr/>
        </p:nvSpPr>
        <p:spPr bwMode="auto">
          <a:xfrm>
            <a:off x="6727825" y="5637213"/>
            <a:ext cx="541338"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10,000</a:t>
            </a:r>
            <a:endParaRPr lang="en-US" sz="1400">
              <a:latin typeface="Myriad Pro"/>
            </a:endParaRPr>
          </a:p>
        </p:txBody>
      </p:sp>
      <p:sp>
        <p:nvSpPr>
          <p:cNvPr id="122903" name="Rectangle 26"/>
          <p:cNvSpPr>
            <a:spLocks noChangeArrowheads="1"/>
          </p:cNvSpPr>
          <p:nvPr/>
        </p:nvSpPr>
        <p:spPr bwMode="auto">
          <a:xfrm>
            <a:off x="7974013" y="5637213"/>
            <a:ext cx="54133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15,000</a:t>
            </a:r>
            <a:endParaRPr lang="en-US" sz="1400">
              <a:latin typeface="Myriad Pro"/>
            </a:endParaRPr>
          </a:p>
        </p:txBody>
      </p:sp>
      <p:sp>
        <p:nvSpPr>
          <p:cNvPr id="122904" name="Rectangle 27"/>
          <p:cNvSpPr>
            <a:spLocks noChangeArrowheads="1"/>
          </p:cNvSpPr>
          <p:nvPr/>
        </p:nvSpPr>
        <p:spPr bwMode="auto">
          <a:xfrm>
            <a:off x="3906838" y="1792288"/>
            <a:ext cx="3937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$140</a:t>
            </a:r>
            <a:endParaRPr lang="en-US" sz="1400">
              <a:latin typeface="Myriad Pro"/>
            </a:endParaRPr>
          </a:p>
        </p:txBody>
      </p:sp>
      <p:sp>
        <p:nvSpPr>
          <p:cNvPr id="122905" name="Rectangle 28"/>
          <p:cNvSpPr>
            <a:spLocks noChangeArrowheads="1"/>
          </p:cNvSpPr>
          <p:nvPr/>
        </p:nvSpPr>
        <p:spPr bwMode="auto">
          <a:xfrm>
            <a:off x="3997325" y="2317750"/>
            <a:ext cx="2952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120</a:t>
            </a:r>
            <a:endParaRPr lang="en-US" sz="1400">
              <a:latin typeface="Myriad Pro"/>
            </a:endParaRPr>
          </a:p>
        </p:txBody>
      </p:sp>
      <p:sp>
        <p:nvSpPr>
          <p:cNvPr id="122906" name="Rectangle 29"/>
          <p:cNvSpPr>
            <a:spLocks noChangeArrowheads="1"/>
          </p:cNvSpPr>
          <p:nvPr/>
        </p:nvSpPr>
        <p:spPr bwMode="auto">
          <a:xfrm>
            <a:off x="3997325" y="2847975"/>
            <a:ext cx="2952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a:t>
            </a:r>
            <a:endParaRPr lang="en-US" sz="1400">
              <a:latin typeface="Myriad Pro"/>
            </a:endParaRPr>
          </a:p>
        </p:txBody>
      </p:sp>
      <p:sp>
        <p:nvSpPr>
          <p:cNvPr id="122907" name="Rectangle 30"/>
          <p:cNvSpPr>
            <a:spLocks noChangeArrowheads="1"/>
          </p:cNvSpPr>
          <p:nvPr/>
        </p:nvSpPr>
        <p:spPr bwMode="auto">
          <a:xfrm>
            <a:off x="4089400" y="3373438"/>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80</a:t>
            </a:r>
            <a:endParaRPr lang="en-US" sz="1400">
              <a:latin typeface="Myriad Pro"/>
            </a:endParaRPr>
          </a:p>
        </p:txBody>
      </p:sp>
      <p:sp>
        <p:nvSpPr>
          <p:cNvPr id="122908" name="Rectangle 31"/>
          <p:cNvSpPr>
            <a:spLocks noChangeArrowheads="1"/>
          </p:cNvSpPr>
          <p:nvPr/>
        </p:nvSpPr>
        <p:spPr bwMode="auto">
          <a:xfrm>
            <a:off x="4089400" y="3900488"/>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60</a:t>
            </a:r>
            <a:endParaRPr lang="en-US" sz="1400">
              <a:latin typeface="Myriad Pro"/>
            </a:endParaRPr>
          </a:p>
        </p:txBody>
      </p:sp>
      <p:sp>
        <p:nvSpPr>
          <p:cNvPr id="122909" name="Rectangle 32"/>
          <p:cNvSpPr>
            <a:spLocks noChangeArrowheads="1"/>
          </p:cNvSpPr>
          <p:nvPr/>
        </p:nvSpPr>
        <p:spPr bwMode="auto">
          <a:xfrm>
            <a:off x="4089400" y="4429125"/>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a:t>
            </a:r>
            <a:endParaRPr lang="en-US" sz="1400">
              <a:latin typeface="Myriad Pro"/>
            </a:endParaRPr>
          </a:p>
        </p:txBody>
      </p:sp>
      <p:sp>
        <p:nvSpPr>
          <p:cNvPr id="122910" name="Rectangle 33"/>
          <p:cNvSpPr>
            <a:spLocks noChangeArrowheads="1"/>
          </p:cNvSpPr>
          <p:nvPr/>
        </p:nvSpPr>
        <p:spPr bwMode="auto">
          <a:xfrm>
            <a:off x="4089400" y="4956175"/>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Myriad Pro"/>
            </a:endParaRPr>
          </a:p>
        </p:txBody>
      </p:sp>
      <p:sp>
        <p:nvSpPr>
          <p:cNvPr id="122911" name="Rectangle 34"/>
          <p:cNvSpPr>
            <a:spLocks noChangeArrowheads="1"/>
          </p:cNvSpPr>
          <p:nvPr/>
        </p:nvSpPr>
        <p:spPr bwMode="auto">
          <a:xfrm>
            <a:off x="7915275" y="5910263"/>
            <a:ext cx="1074738" cy="42545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Quantity of hotel rooms</a:t>
            </a:r>
            <a:endParaRPr lang="en-US" sz="1400">
              <a:latin typeface="Myriad Pro"/>
            </a:endParaRPr>
          </a:p>
        </p:txBody>
      </p:sp>
      <p:sp>
        <p:nvSpPr>
          <p:cNvPr id="122912" name="Rectangle 35"/>
          <p:cNvSpPr>
            <a:spLocks noChangeArrowheads="1"/>
          </p:cNvSpPr>
          <p:nvPr/>
        </p:nvSpPr>
        <p:spPr bwMode="auto">
          <a:xfrm>
            <a:off x="3656013" y="990600"/>
            <a:ext cx="1089025" cy="21272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Price</a:t>
            </a:r>
            <a:endParaRPr lang="en-US" sz="1400">
              <a:latin typeface="Myriad Pro"/>
            </a:endParaRPr>
          </a:p>
        </p:txBody>
      </p:sp>
      <p:sp>
        <p:nvSpPr>
          <p:cNvPr id="122913" name="Rectangle 36"/>
          <p:cNvSpPr>
            <a:spLocks noChangeArrowheads="1"/>
          </p:cNvSpPr>
          <p:nvPr/>
        </p:nvSpPr>
        <p:spPr bwMode="auto">
          <a:xfrm>
            <a:off x="8291513" y="3913188"/>
            <a:ext cx="128587"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Myriad Pro"/>
            </a:endParaRPr>
          </a:p>
        </p:txBody>
      </p:sp>
      <p:sp>
        <p:nvSpPr>
          <p:cNvPr id="122914" name="Rectangle 37"/>
          <p:cNvSpPr>
            <a:spLocks noChangeArrowheads="1"/>
          </p:cNvSpPr>
          <p:nvPr/>
        </p:nvSpPr>
        <p:spPr bwMode="auto">
          <a:xfrm>
            <a:off x="6919913" y="3176588"/>
            <a:ext cx="1190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Myriad Pro"/>
            </a:endParaRPr>
          </a:p>
        </p:txBody>
      </p:sp>
      <p:sp>
        <p:nvSpPr>
          <p:cNvPr id="338982" name="Line 38"/>
          <p:cNvSpPr>
            <a:spLocks noChangeShapeType="1"/>
          </p:cNvSpPr>
          <p:nvPr/>
        </p:nvSpPr>
        <p:spPr bwMode="auto">
          <a:xfrm flipV="1">
            <a:off x="7575550" y="2406650"/>
            <a:ext cx="0" cy="719138"/>
          </a:xfrm>
          <a:prstGeom prst="line">
            <a:avLst/>
          </a:prstGeom>
          <a:noFill/>
          <a:ln w="30163">
            <a:solidFill>
              <a:srgbClr val="000000"/>
            </a:solidFill>
            <a:miter lim="800000"/>
            <a:headEnd/>
            <a:tailEnd/>
          </a:ln>
        </p:spPr>
        <p:txBody>
          <a:bodyPr/>
          <a:lstStyle/>
          <a:p>
            <a:endParaRPr lang="en-US"/>
          </a:p>
        </p:txBody>
      </p:sp>
      <p:sp>
        <p:nvSpPr>
          <p:cNvPr id="338983" name="Freeform 39"/>
          <p:cNvSpPr>
            <a:spLocks/>
          </p:cNvSpPr>
          <p:nvPr/>
        </p:nvSpPr>
        <p:spPr bwMode="auto">
          <a:xfrm>
            <a:off x="7529513" y="2284413"/>
            <a:ext cx="85725" cy="168275"/>
          </a:xfrm>
          <a:custGeom>
            <a:avLst/>
            <a:gdLst>
              <a:gd name="T0" fmla="*/ 45384 w 17"/>
              <a:gd name="T1" fmla="*/ 139262 h 29"/>
              <a:gd name="T2" fmla="*/ 0 w 17"/>
              <a:gd name="T3" fmla="*/ 168275 h 29"/>
              <a:gd name="T4" fmla="*/ 0 w 17"/>
              <a:gd name="T5" fmla="*/ 168275 h 29"/>
              <a:gd name="T6" fmla="*/ 25213 w 17"/>
              <a:gd name="T7" fmla="*/ 81236 h 29"/>
              <a:gd name="T8" fmla="*/ 45384 w 17"/>
              <a:gd name="T9" fmla="*/ 0 h 29"/>
              <a:gd name="T10" fmla="*/ 60512 w 17"/>
              <a:gd name="T11" fmla="*/ 81236 h 29"/>
              <a:gd name="T12" fmla="*/ 85725 w 17"/>
              <a:gd name="T13" fmla="*/ 168275 h 29"/>
              <a:gd name="T14" fmla="*/ 85725 w 17"/>
              <a:gd name="T15" fmla="*/ 168275 h 29"/>
              <a:gd name="T16" fmla="*/ 45384 w 17"/>
              <a:gd name="T17" fmla="*/ 139262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9"/>
              <a:gd name="T29" fmla="*/ 17 w 17"/>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9">
                <a:moveTo>
                  <a:pt x="9" y="24"/>
                </a:moveTo>
                <a:cubicBezTo>
                  <a:pt x="0" y="29"/>
                  <a:pt x="0" y="29"/>
                  <a:pt x="0" y="29"/>
                </a:cubicBezTo>
                <a:cubicBezTo>
                  <a:pt x="0" y="29"/>
                  <a:pt x="0" y="29"/>
                  <a:pt x="0" y="29"/>
                </a:cubicBezTo>
                <a:cubicBezTo>
                  <a:pt x="5" y="14"/>
                  <a:pt x="5" y="14"/>
                  <a:pt x="5" y="14"/>
                </a:cubicBezTo>
                <a:cubicBezTo>
                  <a:pt x="6" y="10"/>
                  <a:pt x="8" y="5"/>
                  <a:pt x="9" y="0"/>
                </a:cubicBezTo>
                <a:cubicBezTo>
                  <a:pt x="10" y="5"/>
                  <a:pt x="11" y="10"/>
                  <a:pt x="12" y="14"/>
                </a:cubicBezTo>
                <a:cubicBezTo>
                  <a:pt x="17" y="29"/>
                  <a:pt x="17" y="29"/>
                  <a:pt x="17" y="29"/>
                </a:cubicBezTo>
                <a:cubicBezTo>
                  <a:pt x="17" y="29"/>
                  <a:pt x="17" y="29"/>
                  <a:pt x="17" y="29"/>
                </a:cubicBezTo>
                <a:lnTo>
                  <a:pt x="9" y="24"/>
                </a:lnTo>
                <a:close/>
              </a:path>
            </a:pathLst>
          </a:custGeom>
          <a:solidFill>
            <a:srgbClr val="000000"/>
          </a:solidFill>
          <a:ln w="9525">
            <a:noFill/>
            <a:round/>
            <a:headEnd/>
            <a:tailEnd/>
          </a:ln>
        </p:spPr>
        <p:txBody>
          <a:bodyPr/>
          <a:lstStyle/>
          <a:p>
            <a:endParaRPr lang="en-US"/>
          </a:p>
        </p:txBody>
      </p:sp>
      <p:sp>
        <p:nvSpPr>
          <p:cNvPr id="338984" name="Freeform 40"/>
          <p:cNvSpPr>
            <a:spLocks/>
          </p:cNvSpPr>
          <p:nvPr/>
        </p:nvSpPr>
        <p:spPr bwMode="auto">
          <a:xfrm>
            <a:off x="3768725" y="2986088"/>
            <a:ext cx="127000" cy="1047750"/>
          </a:xfrm>
          <a:custGeom>
            <a:avLst/>
            <a:gdLst>
              <a:gd name="T0" fmla="*/ 127000 w 25"/>
              <a:gd name="T1" fmla="*/ 1047750 h 182"/>
              <a:gd name="T2" fmla="*/ 50800 w 25"/>
              <a:gd name="T3" fmla="*/ 955640 h 182"/>
              <a:gd name="T4" fmla="*/ 50800 w 25"/>
              <a:gd name="T5" fmla="*/ 581444 h 182"/>
              <a:gd name="T6" fmla="*/ 0 w 25"/>
              <a:gd name="T7" fmla="*/ 523875 h 182"/>
              <a:gd name="T8" fmla="*/ 50800 w 25"/>
              <a:gd name="T9" fmla="*/ 460549 h 182"/>
              <a:gd name="T10" fmla="*/ 50800 w 25"/>
              <a:gd name="T11" fmla="*/ 92110 h 182"/>
              <a:gd name="T12" fmla="*/ 127000 w 25"/>
              <a:gd name="T13" fmla="*/ 0 h 182"/>
              <a:gd name="T14" fmla="*/ 0 60000 65536"/>
              <a:gd name="T15" fmla="*/ 0 60000 65536"/>
              <a:gd name="T16" fmla="*/ 0 60000 65536"/>
              <a:gd name="T17" fmla="*/ 0 60000 65536"/>
              <a:gd name="T18" fmla="*/ 0 60000 65536"/>
              <a:gd name="T19" fmla="*/ 0 60000 65536"/>
              <a:gd name="T20" fmla="*/ 0 60000 65536"/>
              <a:gd name="T21" fmla="*/ 0 w 25"/>
              <a:gd name="T22" fmla="*/ 0 h 182"/>
              <a:gd name="T23" fmla="*/ 25 w 25"/>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182">
                <a:moveTo>
                  <a:pt x="25" y="182"/>
                </a:moveTo>
                <a:cubicBezTo>
                  <a:pt x="15" y="182"/>
                  <a:pt x="10" y="179"/>
                  <a:pt x="10" y="166"/>
                </a:cubicBezTo>
                <a:cubicBezTo>
                  <a:pt x="10" y="163"/>
                  <a:pt x="10" y="104"/>
                  <a:pt x="10" y="101"/>
                </a:cubicBezTo>
                <a:cubicBezTo>
                  <a:pt x="10" y="98"/>
                  <a:pt x="8" y="91"/>
                  <a:pt x="0" y="91"/>
                </a:cubicBezTo>
                <a:cubicBezTo>
                  <a:pt x="8" y="91"/>
                  <a:pt x="10" y="84"/>
                  <a:pt x="10" y="80"/>
                </a:cubicBezTo>
                <a:cubicBezTo>
                  <a:pt x="10" y="78"/>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a:p>
        </p:txBody>
      </p:sp>
      <p:sp>
        <p:nvSpPr>
          <p:cNvPr id="338985" name="Freeform 41"/>
          <p:cNvSpPr>
            <a:spLocks/>
          </p:cNvSpPr>
          <p:nvPr/>
        </p:nvSpPr>
        <p:spPr bwMode="auto">
          <a:xfrm>
            <a:off x="2292350" y="3213100"/>
            <a:ext cx="1439863" cy="596900"/>
          </a:xfrm>
          <a:custGeom>
            <a:avLst/>
            <a:gdLst>
              <a:gd name="T0" fmla="*/ 1439863 w 268"/>
              <a:gd name="T1" fmla="*/ 522288 h 104"/>
              <a:gd name="T2" fmla="*/ 1375392 w 268"/>
              <a:gd name="T3" fmla="*/ 596900 h 104"/>
              <a:gd name="T4" fmla="*/ 64471 w 268"/>
              <a:gd name="T5" fmla="*/ 596900 h 104"/>
              <a:gd name="T6" fmla="*/ 0 w 268"/>
              <a:gd name="T7" fmla="*/ 522288 h 104"/>
              <a:gd name="T8" fmla="*/ 0 w 268"/>
              <a:gd name="T9" fmla="*/ 68873 h 104"/>
              <a:gd name="T10" fmla="*/ 64471 w 268"/>
              <a:gd name="T11" fmla="*/ 0 h 104"/>
              <a:gd name="T12" fmla="*/ 1375392 w 268"/>
              <a:gd name="T13" fmla="*/ 0 h 104"/>
              <a:gd name="T14" fmla="*/ 1439863 w 268"/>
              <a:gd name="T15" fmla="*/ 68873 h 104"/>
              <a:gd name="T16" fmla="*/ 1439863 w 268"/>
              <a:gd name="T17" fmla="*/ 522288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8"/>
              <a:gd name="T28" fmla="*/ 0 h 104"/>
              <a:gd name="T29" fmla="*/ 268 w 268"/>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8" h="104">
                <a:moveTo>
                  <a:pt x="268" y="91"/>
                </a:moveTo>
                <a:cubicBezTo>
                  <a:pt x="268" y="98"/>
                  <a:pt x="262" y="104"/>
                  <a:pt x="256" y="104"/>
                </a:cubicBezTo>
                <a:cubicBezTo>
                  <a:pt x="12" y="104"/>
                  <a:pt x="12" y="104"/>
                  <a:pt x="12" y="104"/>
                </a:cubicBezTo>
                <a:cubicBezTo>
                  <a:pt x="5" y="104"/>
                  <a:pt x="0" y="98"/>
                  <a:pt x="0" y="91"/>
                </a:cubicBezTo>
                <a:cubicBezTo>
                  <a:pt x="0" y="12"/>
                  <a:pt x="0" y="12"/>
                  <a:pt x="0" y="12"/>
                </a:cubicBezTo>
                <a:cubicBezTo>
                  <a:pt x="0" y="5"/>
                  <a:pt x="5" y="0"/>
                  <a:pt x="12" y="0"/>
                </a:cubicBezTo>
                <a:cubicBezTo>
                  <a:pt x="256" y="0"/>
                  <a:pt x="256" y="0"/>
                  <a:pt x="256" y="0"/>
                </a:cubicBezTo>
                <a:cubicBezTo>
                  <a:pt x="262" y="0"/>
                  <a:pt x="268" y="5"/>
                  <a:pt x="268" y="12"/>
                </a:cubicBezTo>
                <a:lnTo>
                  <a:pt x="268" y="91"/>
                </a:lnTo>
                <a:close/>
              </a:path>
            </a:pathLst>
          </a:custGeom>
          <a:solidFill>
            <a:srgbClr val="D6E2E0"/>
          </a:solidFill>
          <a:ln w="9525">
            <a:noFill/>
            <a:round/>
            <a:headEnd/>
            <a:tailEnd/>
          </a:ln>
        </p:spPr>
        <p:txBody>
          <a:bodyPr/>
          <a:lstStyle/>
          <a:p>
            <a:endParaRPr lang="en-US"/>
          </a:p>
        </p:txBody>
      </p:sp>
      <p:sp>
        <p:nvSpPr>
          <p:cNvPr id="338986" name="Rectangle 42"/>
          <p:cNvSpPr>
            <a:spLocks noChangeArrowheads="1"/>
          </p:cNvSpPr>
          <p:nvPr/>
        </p:nvSpPr>
        <p:spPr bwMode="auto">
          <a:xfrm>
            <a:off x="2368550" y="3276600"/>
            <a:ext cx="1331913" cy="42545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Excise tax = $40 per room</a:t>
            </a:r>
            <a:endParaRPr lang="en-US" sz="1400">
              <a:latin typeface="Myriad Pro"/>
            </a:endParaRPr>
          </a:p>
        </p:txBody>
      </p:sp>
      <p:sp>
        <p:nvSpPr>
          <p:cNvPr id="122920" name="Line 43"/>
          <p:cNvSpPr>
            <a:spLocks noChangeShapeType="1"/>
          </p:cNvSpPr>
          <p:nvPr/>
        </p:nvSpPr>
        <p:spPr bwMode="auto">
          <a:xfrm>
            <a:off x="4354513" y="2427288"/>
            <a:ext cx="3876675" cy="1590675"/>
          </a:xfrm>
          <a:prstGeom prst="line">
            <a:avLst/>
          </a:prstGeom>
          <a:noFill/>
          <a:ln w="30163">
            <a:solidFill>
              <a:srgbClr val="3C5DAA"/>
            </a:solidFill>
            <a:miter lim="800000"/>
            <a:headEnd/>
            <a:tailEnd/>
          </a:ln>
        </p:spPr>
        <p:txBody>
          <a:bodyPr/>
          <a:lstStyle/>
          <a:p>
            <a:endParaRPr lang="en-US"/>
          </a:p>
        </p:txBody>
      </p:sp>
      <p:sp>
        <p:nvSpPr>
          <p:cNvPr id="338988" name="Line 44"/>
          <p:cNvSpPr>
            <a:spLocks noChangeShapeType="1"/>
          </p:cNvSpPr>
          <p:nvPr/>
        </p:nvSpPr>
        <p:spPr bwMode="auto">
          <a:xfrm flipH="1">
            <a:off x="4318000" y="2963863"/>
            <a:ext cx="3913188" cy="1590675"/>
          </a:xfrm>
          <a:prstGeom prst="line">
            <a:avLst/>
          </a:prstGeom>
          <a:noFill/>
          <a:ln w="30163">
            <a:solidFill>
              <a:srgbClr val="EE313C"/>
            </a:solidFill>
            <a:miter lim="800000"/>
            <a:headEnd/>
            <a:tailEnd/>
          </a:ln>
        </p:spPr>
        <p:txBody>
          <a:bodyPr/>
          <a:lstStyle/>
          <a:p>
            <a:endParaRPr lang="en-US"/>
          </a:p>
        </p:txBody>
      </p:sp>
      <p:sp>
        <p:nvSpPr>
          <p:cNvPr id="338989" name="Line 45"/>
          <p:cNvSpPr>
            <a:spLocks noChangeShapeType="1"/>
          </p:cNvSpPr>
          <p:nvPr/>
        </p:nvSpPr>
        <p:spPr bwMode="auto">
          <a:xfrm flipH="1">
            <a:off x="4340225" y="1903413"/>
            <a:ext cx="3887788" cy="1601787"/>
          </a:xfrm>
          <a:prstGeom prst="line">
            <a:avLst/>
          </a:prstGeom>
          <a:noFill/>
          <a:ln w="30163">
            <a:solidFill>
              <a:srgbClr val="EE313C"/>
            </a:solidFill>
            <a:miter lim="800000"/>
            <a:headEnd/>
            <a:tailEnd/>
          </a:ln>
        </p:spPr>
        <p:txBody>
          <a:bodyPr/>
          <a:lstStyle/>
          <a:p>
            <a:endParaRPr lang="en-US"/>
          </a:p>
        </p:txBody>
      </p:sp>
      <p:sp>
        <p:nvSpPr>
          <p:cNvPr id="338990" name="Oval 46"/>
          <p:cNvSpPr>
            <a:spLocks noChangeArrowheads="1"/>
          </p:cNvSpPr>
          <p:nvPr/>
        </p:nvSpPr>
        <p:spPr bwMode="auto">
          <a:xfrm>
            <a:off x="5602288" y="3954463"/>
            <a:ext cx="101600" cy="117475"/>
          </a:xfrm>
          <a:prstGeom prst="ellipse">
            <a:avLst/>
          </a:prstGeom>
          <a:solidFill>
            <a:srgbClr val="000000"/>
          </a:solidFill>
          <a:ln w="9525">
            <a:noFill/>
            <a:round/>
            <a:headEnd/>
            <a:tailEnd/>
          </a:ln>
        </p:spPr>
        <p:txBody>
          <a:bodyPr/>
          <a:lstStyle/>
          <a:p>
            <a:endParaRPr lang="en-US">
              <a:latin typeface="Myriad Pro"/>
            </a:endParaRPr>
          </a:p>
        </p:txBody>
      </p:sp>
      <p:sp>
        <p:nvSpPr>
          <p:cNvPr id="338991" name="Oval 47"/>
          <p:cNvSpPr>
            <a:spLocks noChangeArrowheads="1"/>
          </p:cNvSpPr>
          <p:nvPr/>
        </p:nvSpPr>
        <p:spPr bwMode="auto">
          <a:xfrm>
            <a:off x="5607050" y="2900363"/>
            <a:ext cx="100013" cy="115887"/>
          </a:xfrm>
          <a:prstGeom prst="ellipse">
            <a:avLst/>
          </a:prstGeom>
          <a:solidFill>
            <a:srgbClr val="000000"/>
          </a:solidFill>
          <a:ln w="9525">
            <a:noFill/>
            <a:round/>
            <a:headEnd/>
            <a:tailEnd/>
          </a:ln>
        </p:spPr>
        <p:txBody>
          <a:bodyPr/>
          <a:lstStyle/>
          <a:p>
            <a:endParaRPr lang="en-US">
              <a:latin typeface="Myriad Pro"/>
            </a:endParaRPr>
          </a:p>
        </p:txBody>
      </p:sp>
      <p:sp>
        <p:nvSpPr>
          <p:cNvPr id="122925" name="Oval 48"/>
          <p:cNvSpPr>
            <a:spLocks noChangeArrowheads="1"/>
          </p:cNvSpPr>
          <p:nvPr/>
        </p:nvSpPr>
        <p:spPr bwMode="auto">
          <a:xfrm>
            <a:off x="6883400" y="3436938"/>
            <a:ext cx="101600" cy="114300"/>
          </a:xfrm>
          <a:prstGeom prst="ellipse">
            <a:avLst/>
          </a:prstGeom>
          <a:solidFill>
            <a:srgbClr val="000000"/>
          </a:solidFill>
          <a:ln w="9525">
            <a:noFill/>
            <a:round/>
            <a:headEnd/>
            <a:tailEnd/>
          </a:ln>
        </p:spPr>
        <p:txBody>
          <a:bodyPr/>
          <a:lstStyle/>
          <a:p>
            <a:endParaRPr lang="en-US">
              <a:latin typeface="Myriad Pro"/>
            </a:endParaRPr>
          </a:p>
        </p:txBody>
      </p:sp>
      <p:sp>
        <p:nvSpPr>
          <p:cNvPr id="338993" name="Line 49"/>
          <p:cNvSpPr>
            <a:spLocks noChangeShapeType="1"/>
          </p:cNvSpPr>
          <p:nvPr/>
        </p:nvSpPr>
        <p:spPr bwMode="auto">
          <a:xfrm>
            <a:off x="6456363" y="2295525"/>
            <a:ext cx="1085850" cy="371475"/>
          </a:xfrm>
          <a:prstGeom prst="line">
            <a:avLst/>
          </a:prstGeom>
          <a:noFill/>
          <a:ln w="7938">
            <a:solidFill>
              <a:srgbClr val="000000"/>
            </a:solidFill>
            <a:miter lim="800000"/>
            <a:headEnd/>
            <a:tailEnd/>
          </a:ln>
        </p:spPr>
        <p:txBody>
          <a:bodyPr/>
          <a:lstStyle/>
          <a:p>
            <a:endParaRPr lang="en-US"/>
          </a:p>
        </p:txBody>
      </p:sp>
      <p:sp>
        <p:nvSpPr>
          <p:cNvPr id="338994" name="Freeform 50"/>
          <p:cNvSpPr>
            <a:spLocks/>
          </p:cNvSpPr>
          <p:nvPr/>
        </p:nvSpPr>
        <p:spPr bwMode="auto">
          <a:xfrm>
            <a:off x="4970463" y="1738313"/>
            <a:ext cx="1557337" cy="700087"/>
          </a:xfrm>
          <a:custGeom>
            <a:avLst/>
            <a:gdLst>
              <a:gd name="T0" fmla="*/ 1557338 w 306"/>
              <a:gd name="T1" fmla="*/ 615867 h 133"/>
              <a:gd name="T2" fmla="*/ 1475909 w 306"/>
              <a:gd name="T3" fmla="*/ 700088 h 133"/>
              <a:gd name="T4" fmla="*/ 81429 w 306"/>
              <a:gd name="T5" fmla="*/ 700088 h 133"/>
              <a:gd name="T6" fmla="*/ 0 w 306"/>
              <a:gd name="T7" fmla="*/ 615867 h 133"/>
              <a:gd name="T8" fmla="*/ 0 w 306"/>
              <a:gd name="T9" fmla="*/ 84221 h 133"/>
              <a:gd name="T10" fmla="*/ 81429 w 306"/>
              <a:gd name="T11" fmla="*/ 0 h 133"/>
              <a:gd name="T12" fmla="*/ 1475909 w 306"/>
              <a:gd name="T13" fmla="*/ 0 h 133"/>
              <a:gd name="T14" fmla="*/ 1557338 w 306"/>
              <a:gd name="T15" fmla="*/ 84221 h 133"/>
              <a:gd name="T16" fmla="*/ 1557338 w 306"/>
              <a:gd name="T17" fmla="*/ 615867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6"/>
              <a:gd name="T28" fmla="*/ 0 h 133"/>
              <a:gd name="T29" fmla="*/ 306 w 306"/>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6" h="133">
                <a:moveTo>
                  <a:pt x="306" y="117"/>
                </a:moveTo>
                <a:cubicBezTo>
                  <a:pt x="306" y="126"/>
                  <a:pt x="298" y="133"/>
                  <a:pt x="290" y="133"/>
                </a:cubicBezTo>
                <a:cubicBezTo>
                  <a:pt x="16" y="133"/>
                  <a:pt x="16" y="133"/>
                  <a:pt x="16" y="133"/>
                </a:cubicBezTo>
                <a:cubicBezTo>
                  <a:pt x="8" y="133"/>
                  <a:pt x="0" y="126"/>
                  <a:pt x="0" y="117"/>
                </a:cubicBezTo>
                <a:cubicBezTo>
                  <a:pt x="0" y="16"/>
                  <a:pt x="0" y="16"/>
                  <a:pt x="0" y="16"/>
                </a:cubicBezTo>
                <a:cubicBezTo>
                  <a:pt x="0" y="7"/>
                  <a:pt x="8" y="0"/>
                  <a:pt x="16" y="0"/>
                </a:cubicBezTo>
                <a:cubicBezTo>
                  <a:pt x="290" y="0"/>
                  <a:pt x="290" y="0"/>
                  <a:pt x="290" y="0"/>
                </a:cubicBezTo>
                <a:cubicBezTo>
                  <a:pt x="298" y="0"/>
                  <a:pt x="306" y="7"/>
                  <a:pt x="306" y="16"/>
                </a:cubicBezTo>
                <a:lnTo>
                  <a:pt x="306" y="117"/>
                </a:lnTo>
                <a:close/>
              </a:path>
            </a:pathLst>
          </a:custGeom>
          <a:solidFill>
            <a:srgbClr val="D6E2E0"/>
          </a:solidFill>
          <a:ln w="9525">
            <a:noFill/>
            <a:round/>
            <a:headEnd/>
            <a:tailEnd/>
          </a:ln>
        </p:spPr>
        <p:txBody>
          <a:bodyPr/>
          <a:lstStyle/>
          <a:p>
            <a:endParaRPr lang="en-US"/>
          </a:p>
        </p:txBody>
      </p:sp>
      <p:sp>
        <p:nvSpPr>
          <p:cNvPr id="338995" name="Rectangle 51"/>
          <p:cNvSpPr>
            <a:spLocks noChangeArrowheads="1"/>
          </p:cNvSpPr>
          <p:nvPr/>
        </p:nvSpPr>
        <p:spPr bwMode="auto">
          <a:xfrm>
            <a:off x="5027613" y="1752600"/>
            <a:ext cx="1622425" cy="63817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Supply curve shifts upward by the amount of the tax.</a:t>
            </a:r>
            <a:endParaRPr lang="en-US" sz="1400">
              <a:latin typeface="Myriad Pro"/>
            </a:endParaRPr>
          </a:p>
        </p:txBody>
      </p:sp>
      <p:sp>
        <p:nvSpPr>
          <p:cNvPr id="122929" name="Freeform 52"/>
          <p:cNvSpPr>
            <a:spLocks/>
          </p:cNvSpPr>
          <p:nvPr/>
        </p:nvSpPr>
        <p:spPr bwMode="auto">
          <a:xfrm>
            <a:off x="4365625" y="1179513"/>
            <a:ext cx="4430713" cy="4410075"/>
          </a:xfrm>
          <a:custGeom>
            <a:avLst/>
            <a:gdLst>
              <a:gd name="T0" fmla="*/ 4430712 w 2057"/>
              <a:gd name="T1" fmla="*/ 4410075 h 1809"/>
              <a:gd name="T2" fmla="*/ 0 w 2057"/>
              <a:gd name="T3" fmla="*/ 4410075 h 1809"/>
              <a:gd name="T4" fmla="*/ 0 w 2057"/>
              <a:gd name="T5" fmla="*/ 0 h 1809"/>
              <a:gd name="T6" fmla="*/ 0 60000 65536"/>
              <a:gd name="T7" fmla="*/ 0 60000 65536"/>
              <a:gd name="T8" fmla="*/ 0 60000 65536"/>
              <a:gd name="T9" fmla="*/ 0 w 2057"/>
              <a:gd name="T10" fmla="*/ 0 h 1809"/>
              <a:gd name="T11" fmla="*/ 2057 w 2057"/>
              <a:gd name="T12" fmla="*/ 1809 h 1809"/>
            </a:gdLst>
            <a:ahLst/>
            <a:cxnLst>
              <a:cxn ang="T6">
                <a:pos x="T0" y="T1"/>
              </a:cxn>
              <a:cxn ang="T7">
                <a:pos x="T2" y="T3"/>
              </a:cxn>
              <a:cxn ang="T8">
                <a:pos x="T4" y="T5"/>
              </a:cxn>
            </a:cxnLst>
            <a:rect l="T9" t="T10" r="T11" b="T12"/>
            <a:pathLst>
              <a:path w="2057" h="1809">
                <a:moveTo>
                  <a:pt x="2057" y="1809"/>
                </a:moveTo>
                <a:lnTo>
                  <a:pt x="0" y="1809"/>
                </a:lnTo>
                <a:lnTo>
                  <a:pt x="0" y="0"/>
                </a:lnTo>
              </a:path>
            </a:pathLst>
          </a:custGeom>
          <a:noFill/>
          <a:ln w="7938" cap="flat">
            <a:solidFill>
              <a:srgbClr val="000000"/>
            </a:solidFill>
            <a:prstDash val="solid"/>
            <a:miter lim="800000"/>
            <a:headEnd/>
            <a:tailEnd/>
          </a:ln>
        </p:spPr>
        <p:txBody>
          <a:bodyPr/>
          <a:lstStyle/>
          <a:p>
            <a:endParaRPr lang="en-US"/>
          </a:p>
        </p:txBody>
      </p:sp>
      <p:sp>
        <p:nvSpPr>
          <p:cNvPr id="51" name="Rectangle 50"/>
          <p:cNvSpPr/>
          <p:nvPr/>
        </p:nvSpPr>
        <p:spPr>
          <a:xfrm>
            <a:off x="684213" y="1362075"/>
            <a:ext cx="2667000" cy="915988"/>
          </a:xfrm>
          <a:prstGeom prst="rect">
            <a:avLst/>
          </a:prstGeom>
        </p:spPr>
        <p:txBody>
          <a:bodyPr>
            <a:spAutoFit/>
          </a:bodyPr>
          <a:lstStyle/>
          <a:p>
            <a:pPr fontAlgn="auto">
              <a:spcBef>
                <a:spcPts val="0"/>
              </a:spcBef>
              <a:spcAft>
                <a:spcPts val="0"/>
              </a:spcAft>
              <a:defRPr/>
            </a:pPr>
            <a:r>
              <a:rPr lang="en-US" b="1" i="1" dirty="0">
                <a:solidFill>
                  <a:schemeClr val="tx1">
                    <a:lumMod val="75000"/>
                    <a:lumOff val="25000"/>
                  </a:schemeClr>
                </a:solidFill>
                <a:latin typeface="Candara" pitchFamily="34" charset="0"/>
                <a:ea typeface="+mn-ea"/>
              </a:rPr>
              <a:t>The equilibrium price of hotel rooms rises to $100 a night.</a:t>
            </a:r>
          </a:p>
        </p:txBody>
      </p:sp>
      <p:sp>
        <p:nvSpPr>
          <p:cNvPr id="52" name="Rectangle 51"/>
          <p:cNvSpPr/>
          <p:nvPr/>
        </p:nvSpPr>
        <p:spPr>
          <a:xfrm>
            <a:off x="4722813" y="6107113"/>
            <a:ext cx="3087687" cy="366712"/>
          </a:xfrm>
          <a:prstGeom prst="rect">
            <a:avLst/>
          </a:prstGeom>
        </p:spPr>
        <p:txBody>
          <a:bodyPr>
            <a:spAutoFit/>
          </a:bodyPr>
          <a:lstStyle/>
          <a:p>
            <a:pPr fontAlgn="auto">
              <a:spcBef>
                <a:spcPts val="0"/>
              </a:spcBef>
              <a:spcAft>
                <a:spcPts val="0"/>
              </a:spcAft>
              <a:defRPr/>
            </a:pPr>
            <a:r>
              <a:rPr lang="en-US" b="1" i="1" dirty="0">
                <a:solidFill>
                  <a:schemeClr val="tx1">
                    <a:lumMod val="75000"/>
                    <a:lumOff val="25000"/>
                  </a:schemeClr>
                </a:solidFill>
                <a:latin typeface="Candara" pitchFamily="34" charset="0"/>
                <a:ea typeface="+mn-ea"/>
              </a:rPr>
              <a:t>And the quantity falls to 5,000</a:t>
            </a:r>
          </a:p>
        </p:txBody>
      </p:sp>
      <p:sp>
        <p:nvSpPr>
          <p:cNvPr id="53" name="Rectangle 52"/>
          <p:cNvSpPr>
            <a:spLocks noChangeArrowheads="1"/>
          </p:cNvSpPr>
          <p:nvPr/>
        </p:nvSpPr>
        <p:spPr bwMode="auto">
          <a:xfrm>
            <a:off x="684213" y="2276475"/>
            <a:ext cx="2667000" cy="915988"/>
          </a:xfrm>
          <a:prstGeom prst="rect">
            <a:avLst/>
          </a:prstGeom>
          <a:noFill/>
          <a:ln w="9525">
            <a:noFill/>
            <a:miter lim="800000"/>
            <a:headEnd/>
            <a:tailEnd/>
          </a:ln>
        </p:spPr>
        <p:txBody>
          <a:bodyPr>
            <a:spAutoFit/>
          </a:bodyPr>
          <a:lstStyle/>
          <a:p>
            <a:r>
              <a:rPr lang="en-US" b="1" i="1">
                <a:solidFill>
                  <a:srgbClr val="990033"/>
                </a:solidFill>
                <a:latin typeface="Candara" pitchFamily="34" charset="0"/>
              </a:rPr>
              <a:t>Hotel guests bear some of the burden as price RISES from $80 to $100.</a:t>
            </a:r>
          </a:p>
        </p:txBody>
      </p:sp>
      <p:sp>
        <p:nvSpPr>
          <p:cNvPr id="54" name="Rectangle 53"/>
          <p:cNvSpPr/>
          <p:nvPr/>
        </p:nvSpPr>
        <p:spPr>
          <a:xfrm>
            <a:off x="684213" y="3952875"/>
            <a:ext cx="2667000" cy="1465263"/>
          </a:xfrm>
          <a:prstGeom prst="rect">
            <a:avLst/>
          </a:prstGeom>
        </p:spPr>
        <p:txBody>
          <a:bodyPr>
            <a:spAutoFit/>
          </a:bodyPr>
          <a:lstStyle/>
          <a:p>
            <a:pPr fontAlgn="auto">
              <a:spcBef>
                <a:spcPts val="0"/>
              </a:spcBef>
              <a:spcAft>
                <a:spcPts val="0"/>
              </a:spcAft>
              <a:defRPr/>
            </a:pPr>
            <a:r>
              <a:rPr lang="en-US" b="1" i="1" dirty="0">
                <a:solidFill>
                  <a:schemeClr val="accent1">
                    <a:lumMod val="75000"/>
                  </a:schemeClr>
                </a:solidFill>
                <a:latin typeface="Candara" pitchFamily="34" charset="0"/>
                <a:ea typeface="+mn-ea"/>
              </a:rPr>
              <a:t>Hotel owners also bear some of the burden as their price (net of the tax paid) FALLS from $80 to $60.</a:t>
            </a:r>
          </a:p>
        </p:txBody>
      </p:sp>
      <p:cxnSp>
        <p:nvCxnSpPr>
          <p:cNvPr id="6" name="Straight Arrow Connector 5"/>
          <p:cNvCxnSpPr/>
          <p:nvPr/>
        </p:nvCxnSpPr>
        <p:spPr>
          <a:xfrm flipV="1">
            <a:off x="4875213" y="2971800"/>
            <a:ext cx="0" cy="48895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875213" y="3581400"/>
            <a:ext cx="0" cy="407988"/>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684213" y="765175"/>
            <a:ext cx="8101012" cy="457200"/>
          </a:xfrm>
          <a:prstGeom prst="rect">
            <a:avLst/>
          </a:prstGeom>
          <a:solidFill>
            <a:schemeClr val="accent3">
              <a:lumMod val="20000"/>
              <a:lumOff val="80000"/>
            </a:schemeClr>
          </a:solidFill>
        </p:spPr>
        <p:txBody>
          <a:bodyPr>
            <a:spAutoFit/>
          </a:bodyPr>
          <a:lstStyle/>
          <a:p>
            <a:pPr algn="ctr" fontAlgn="auto">
              <a:spcBef>
                <a:spcPts val="0"/>
              </a:spcBef>
              <a:spcAft>
                <a:spcPts val="0"/>
              </a:spcAft>
              <a:defRPr/>
            </a:pPr>
            <a:r>
              <a:rPr lang="en-US" sz="2400" b="1" i="1" dirty="0">
                <a:solidFill>
                  <a:srgbClr val="990033"/>
                </a:solidFill>
                <a:latin typeface="Candara" pitchFamily="34" charset="0"/>
                <a:ea typeface="+mn-ea"/>
              </a:rPr>
              <a:t>The $40 excise tax is shared between buyers and sellers.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8989"/>
                                        </p:tgtEl>
                                        <p:attrNameLst>
                                          <p:attrName>style.visibility</p:attrName>
                                        </p:attrNameLst>
                                      </p:cBhvr>
                                      <p:to>
                                        <p:strVal val="visible"/>
                                      </p:to>
                                    </p:set>
                                    <p:animEffect transition="in" filter="fade">
                                      <p:cBhvr>
                                        <p:cTn id="7" dur="500"/>
                                        <p:tgtEl>
                                          <p:spTgt spid="338989"/>
                                        </p:tgtEl>
                                      </p:cBhvr>
                                    </p:animEffect>
                                  </p:childTnLst>
                                </p:cTn>
                              </p:par>
                              <p:par>
                                <p:cTn id="8" presetID="42" presetClass="path" presetSubtype="0" accel="50000" decel="50000" fill="hold" grpId="1" nodeType="withEffect">
                                  <p:stCondLst>
                                    <p:cond delay="0"/>
                                  </p:stCondLst>
                                  <p:childTnLst>
                                    <p:animMotion origin="layout" path="M 3.33333E-6 0.14444 L 3.33333E-6 0 " pathEditMode="relative" rAng="0" ptsTypes="AA">
                                      <p:cBhvr>
                                        <p:cTn id="9" dur="500" fill="hold"/>
                                        <p:tgtEl>
                                          <p:spTgt spid="338989"/>
                                        </p:tgtEl>
                                        <p:attrNameLst>
                                          <p:attrName>ppt_x</p:attrName>
                                          <p:attrName>ppt_y</p:attrName>
                                        </p:attrNameLst>
                                      </p:cBhvr>
                                      <p:rCtr x="0" y="-7222"/>
                                    </p:animMotion>
                                  </p:childTnLst>
                                </p:cTn>
                              </p:par>
                              <p:par>
                                <p:cTn id="10" presetID="10" presetClass="entr" presetSubtype="0" fill="hold" grpId="0" nodeType="withEffect">
                                  <p:stCondLst>
                                    <p:cond delay="0"/>
                                  </p:stCondLst>
                                  <p:childTnLst>
                                    <p:set>
                                      <p:cBhvr>
                                        <p:cTn id="11" dur="1" fill="hold">
                                          <p:stCondLst>
                                            <p:cond delay="0"/>
                                          </p:stCondLst>
                                        </p:cTn>
                                        <p:tgtEl>
                                          <p:spTgt spid="338956"/>
                                        </p:tgtEl>
                                        <p:attrNameLst>
                                          <p:attrName>style.visibility</p:attrName>
                                        </p:attrNameLst>
                                      </p:cBhvr>
                                      <p:to>
                                        <p:strVal val="visible"/>
                                      </p:to>
                                    </p:set>
                                    <p:animEffect transition="in" filter="fade">
                                      <p:cBhvr>
                                        <p:cTn id="12" dur="500"/>
                                        <p:tgtEl>
                                          <p:spTgt spid="33895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38982"/>
                                        </p:tgtEl>
                                        <p:attrNameLst>
                                          <p:attrName>style.visibility</p:attrName>
                                        </p:attrNameLst>
                                      </p:cBhvr>
                                      <p:to>
                                        <p:strVal val="visible"/>
                                      </p:to>
                                    </p:set>
                                    <p:animEffect transition="in" filter="fade">
                                      <p:cBhvr>
                                        <p:cTn id="15" dur="500"/>
                                        <p:tgtEl>
                                          <p:spTgt spid="33898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8993"/>
                                        </p:tgtEl>
                                        <p:attrNameLst>
                                          <p:attrName>style.visibility</p:attrName>
                                        </p:attrNameLst>
                                      </p:cBhvr>
                                      <p:to>
                                        <p:strVal val="visible"/>
                                      </p:to>
                                    </p:set>
                                    <p:animEffect transition="in" filter="fade">
                                      <p:cBhvr>
                                        <p:cTn id="18" dur="500"/>
                                        <p:tgtEl>
                                          <p:spTgt spid="33899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8983"/>
                                        </p:tgtEl>
                                        <p:attrNameLst>
                                          <p:attrName>style.visibility</p:attrName>
                                        </p:attrNameLst>
                                      </p:cBhvr>
                                      <p:to>
                                        <p:strVal val="visible"/>
                                      </p:to>
                                    </p:set>
                                    <p:animEffect transition="in" filter="fade">
                                      <p:cBhvr>
                                        <p:cTn id="21" dur="500"/>
                                        <p:tgtEl>
                                          <p:spTgt spid="33898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8995"/>
                                        </p:tgtEl>
                                        <p:attrNameLst>
                                          <p:attrName>style.visibility</p:attrName>
                                        </p:attrNameLst>
                                      </p:cBhvr>
                                      <p:to>
                                        <p:strVal val="visible"/>
                                      </p:to>
                                    </p:set>
                                    <p:animEffect transition="in" filter="fade">
                                      <p:cBhvr>
                                        <p:cTn id="24" dur="500"/>
                                        <p:tgtEl>
                                          <p:spTgt spid="33899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8994"/>
                                        </p:tgtEl>
                                        <p:attrNameLst>
                                          <p:attrName>style.visibility</p:attrName>
                                        </p:attrNameLst>
                                      </p:cBhvr>
                                      <p:to>
                                        <p:strVal val="visible"/>
                                      </p:to>
                                    </p:set>
                                    <p:animEffect transition="in" filter="fade">
                                      <p:cBhvr>
                                        <p:cTn id="27" dur="500"/>
                                        <p:tgtEl>
                                          <p:spTgt spid="33899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8991"/>
                                        </p:tgtEl>
                                        <p:attrNameLst>
                                          <p:attrName>style.visibility</p:attrName>
                                        </p:attrNameLst>
                                      </p:cBhvr>
                                      <p:to>
                                        <p:strVal val="visible"/>
                                      </p:to>
                                    </p:set>
                                    <p:animEffect transition="in" filter="fade">
                                      <p:cBhvr>
                                        <p:cTn id="38" dur="500"/>
                                        <p:tgtEl>
                                          <p:spTgt spid="33899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8958"/>
                                        </p:tgtEl>
                                        <p:attrNameLst>
                                          <p:attrName>style.visibility</p:attrName>
                                        </p:attrNameLst>
                                      </p:cBhvr>
                                      <p:to>
                                        <p:strVal val="visible"/>
                                      </p:to>
                                    </p:set>
                                    <p:animEffect transition="in" filter="fade">
                                      <p:cBhvr>
                                        <p:cTn id="41" dur="500"/>
                                        <p:tgtEl>
                                          <p:spTgt spid="33895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par>
                                <p:cTn id="47" presetID="10"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fade">
                                      <p:cBhvr>
                                        <p:cTn id="54" dur="500"/>
                                        <p:tgtEl>
                                          <p:spTgt spid="53"/>
                                        </p:tgtEl>
                                      </p:cBhvr>
                                    </p:animEffect>
                                  </p:childTnLst>
                                </p:cTn>
                              </p:par>
                              <p:par>
                                <p:cTn id="55" presetID="10" presetClass="entr" presetSubtype="0"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4"/>
                                        </p:tgtEl>
                                        <p:attrNameLst>
                                          <p:attrName>style.visibility</p:attrName>
                                        </p:attrNameLst>
                                      </p:cBhvr>
                                      <p:to>
                                        <p:strVal val="visible"/>
                                      </p:to>
                                    </p:set>
                                    <p:animEffect transition="in" filter="fade">
                                      <p:cBhvr>
                                        <p:cTn id="62" dur="500"/>
                                        <p:tgtEl>
                                          <p:spTgt spid="5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8990"/>
                                        </p:tgtEl>
                                        <p:attrNameLst>
                                          <p:attrName>style.visibility</p:attrName>
                                        </p:attrNameLst>
                                      </p:cBhvr>
                                      <p:to>
                                        <p:strVal val="visible"/>
                                      </p:to>
                                    </p:set>
                                    <p:animEffect transition="in" filter="fade">
                                      <p:cBhvr>
                                        <p:cTn id="65" dur="500"/>
                                        <p:tgtEl>
                                          <p:spTgt spid="338990"/>
                                        </p:tgtEl>
                                      </p:cBhvr>
                                    </p:animEffect>
                                  </p:childTnLst>
                                </p:cTn>
                              </p:par>
                              <p:par>
                                <p:cTn id="66" presetID="10" presetClass="entr" presetSubtype="0" fill="hold"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500"/>
                                        <p:tgtEl>
                                          <p:spTgt spid="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8959"/>
                                        </p:tgtEl>
                                        <p:attrNameLst>
                                          <p:attrName>style.visibility</p:attrName>
                                        </p:attrNameLst>
                                      </p:cBhvr>
                                      <p:to>
                                        <p:strVal val="visible"/>
                                      </p:to>
                                    </p:set>
                                    <p:animEffect transition="in" filter="fade">
                                      <p:cBhvr>
                                        <p:cTn id="71" dur="500"/>
                                        <p:tgtEl>
                                          <p:spTgt spid="338959"/>
                                        </p:tgtEl>
                                      </p:cBhvr>
                                    </p:animEffect>
                                  </p:childTnLst>
                                </p:cTn>
                              </p:par>
                              <p:par>
                                <p:cTn id="72" presetID="10" presetClass="entr" presetSubtype="0" fill="hold" nodeType="with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fade">
                                      <p:cBhvr>
                                        <p:cTn id="74" dur="500"/>
                                        <p:tgtEl>
                                          <p:spTgt spid="5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38984"/>
                                        </p:tgtEl>
                                        <p:attrNameLst>
                                          <p:attrName>style.visibility</p:attrName>
                                        </p:attrNameLst>
                                      </p:cBhvr>
                                      <p:to>
                                        <p:strVal val="visible"/>
                                      </p:to>
                                    </p:set>
                                    <p:animEffect transition="in" filter="fade">
                                      <p:cBhvr>
                                        <p:cTn id="79" dur="500"/>
                                        <p:tgtEl>
                                          <p:spTgt spid="33898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8985"/>
                                        </p:tgtEl>
                                        <p:attrNameLst>
                                          <p:attrName>style.visibility</p:attrName>
                                        </p:attrNameLst>
                                      </p:cBhvr>
                                      <p:to>
                                        <p:strVal val="visible"/>
                                      </p:to>
                                    </p:set>
                                    <p:animEffect transition="in" filter="fade">
                                      <p:cBhvr>
                                        <p:cTn id="82" dur="500"/>
                                        <p:tgtEl>
                                          <p:spTgt spid="33898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8986"/>
                                        </p:tgtEl>
                                        <p:attrNameLst>
                                          <p:attrName>style.visibility</p:attrName>
                                        </p:attrNameLst>
                                      </p:cBhvr>
                                      <p:to>
                                        <p:strVal val="visible"/>
                                      </p:to>
                                    </p:set>
                                    <p:animEffect transition="in" filter="fade">
                                      <p:cBhvr>
                                        <p:cTn id="85" dur="500"/>
                                        <p:tgtEl>
                                          <p:spTgt spid="33898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56" grpId="0"/>
      <p:bldP spid="338958" grpId="0"/>
      <p:bldP spid="338959" grpId="0"/>
      <p:bldP spid="338982" grpId="0" animBg="1"/>
      <p:bldP spid="338983" grpId="0" animBg="1"/>
      <p:bldP spid="338984" grpId="0" animBg="1"/>
      <p:bldP spid="338985" grpId="0" animBg="1"/>
      <p:bldP spid="338986" grpId="0"/>
      <p:bldP spid="338989" grpId="0" animBg="1"/>
      <p:bldP spid="338989" grpId="1" animBg="1"/>
      <p:bldP spid="338990" grpId="0" animBg="1"/>
      <p:bldP spid="338991" grpId="0" animBg="1"/>
      <p:bldP spid="338993" grpId="0" animBg="1"/>
      <p:bldP spid="338994" grpId="0" animBg="1"/>
      <p:bldP spid="338995" grpId="0"/>
      <p:bldP spid="51" grpId="0"/>
      <p:bldP spid="52" grpId="0"/>
      <p:bldP spid="53" grpId="0"/>
      <p:bldP spid="54" grpId="0"/>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Rot="1" noChangeArrowheads="1"/>
          </p:cNvSpPr>
          <p:nvPr>
            <p:ph type="title" idx="4294967295"/>
          </p:nvPr>
        </p:nvSpPr>
        <p:spPr/>
        <p:txBody>
          <a:bodyPr>
            <a:normAutofit/>
          </a:bodyPr>
          <a:lstStyle/>
          <a:p>
            <a:r>
              <a:rPr lang="en-US" sz="2200" smtClean="0">
                <a:effectLst/>
              </a:rPr>
              <a:t>An Excise Tax Imposed on Hotel Guests</a:t>
            </a:r>
          </a:p>
        </p:txBody>
      </p:sp>
      <p:cxnSp>
        <p:nvCxnSpPr>
          <p:cNvPr id="124931" name="Straight Connector 86"/>
          <p:cNvCxnSpPr>
            <a:cxnSpLocks noChangeShapeType="1"/>
          </p:cNvCxnSpPr>
          <p:nvPr/>
        </p:nvCxnSpPr>
        <p:spPr bwMode="auto">
          <a:xfrm>
            <a:off x="6699250" y="3797300"/>
            <a:ext cx="0" cy="1947863"/>
          </a:xfrm>
          <a:prstGeom prst="line">
            <a:avLst/>
          </a:prstGeom>
          <a:noFill/>
          <a:ln w="15875">
            <a:solidFill>
              <a:srgbClr val="808080"/>
            </a:solidFill>
            <a:prstDash val="sysDot"/>
            <a:round/>
            <a:headEnd/>
            <a:tailEnd type="none" w="med" len="lg"/>
          </a:ln>
        </p:spPr>
      </p:cxnSp>
      <p:cxnSp>
        <p:nvCxnSpPr>
          <p:cNvPr id="124932" name="Straight Connector 86"/>
          <p:cNvCxnSpPr>
            <a:cxnSpLocks noChangeShapeType="1"/>
          </p:cNvCxnSpPr>
          <p:nvPr/>
        </p:nvCxnSpPr>
        <p:spPr bwMode="auto">
          <a:xfrm>
            <a:off x="4449763" y="3768725"/>
            <a:ext cx="2190750" cy="3175"/>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5503863" y="3187700"/>
            <a:ext cx="0" cy="2557463"/>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4449763" y="4298950"/>
            <a:ext cx="1047750"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4411663" y="3205163"/>
            <a:ext cx="1047750" cy="0"/>
          </a:xfrm>
          <a:prstGeom prst="line">
            <a:avLst/>
          </a:prstGeom>
          <a:noFill/>
          <a:ln w="15875">
            <a:solidFill>
              <a:srgbClr val="808080"/>
            </a:solidFill>
            <a:prstDash val="sysDot"/>
            <a:round/>
            <a:headEnd/>
            <a:tailEnd type="none" w="med" len="lg"/>
          </a:ln>
        </p:spPr>
      </p:cxnSp>
      <p:sp>
        <p:nvSpPr>
          <p:cNvPr id="341002" name="Rectangle 10"/>
          <p:cNvSpPr>
            <a:spLocks noChangeArrowheads="1"/>
          </p:cNvSpPr>
          <p:nvPr/>
        </p:nvSpPr>
        <p:spPr bwMode="auto">
          <a:xfrm>
            <a:off x="5543550" y="2916238"/>
            <a:ext cx="106363"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A</a:t>
            </a:r>
            <a:endParaRPr lang="en-US" sz="1400" i="1">
              <a:latin typeface="Candara" pitchFamily="34" charset="0"/>
            </a:endParaRPr>
          </a:p>
        </p:txBody>
      </p:sp>
      <p:sp>
        <p:nvSpPr>
          <p:cNvPr id="341003" name="Rectangle 11"/>
          <p:cNvSpPr>
            <a:spLocks noChangeArrowheads="1"/>
          </p:cNvSpPr>
          <p:nvPr/>
        </p:nvSpPr>
        <p:spPr bwMode="auto">
          <a:xfrm>
            <a:off x="5541963" y="4362450"/>
            <a:ext cx="96837"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B</a:t>
            </a:r>
            <a:endParaRPr lang="en-US" sz="1400" i="1">
              <a:latin typeface="Candara" pitchFamily="34" charset="0"/>
            </a:endParaRPr>
          </a:p>
        </p:txBody>
      </p:sp>
      <p:sp>
        <p:nvSpPr>
          <p:cNvPr id="124938" name="Line 12"/>
          <p:cNvSpPr>
            <a:spLocks noChangeShapeType="1"/>
          </p:cNvSpPr>
          <p:nvPr/>
        </p:nvSpPr>
        <p:spPr bwMode="auto">
          <a:xfrm>
            <a:off x="4316413" y="2124075"/>
            <a:ext cx="112712" cy="0"/>
          </a:xfrm>
          <a:prstGeom prst="line">
            <a:avLst/>
          </a:prstGeom>
          <a:noFill/>
          <a:ln w="7938">
            <a:solidFill>
              <a:srgbClr val="000000"/>
            </a:solidFill>
            <a:miter lim="800000"/>
            <a:headEnd/>
            <a:tailEnd/>
          </a:ln>
        </p:spPr>
        <p:txBody>
          <a:bodyPr/>
          <a:lstStyle/>
          <a:p>
            <a:endParaRPr lang="en-US"/>
          </a:p>
        </p:txBody>
      </p:sp>
      <p:sp>
        <p:nvSpPr>
          <p:cNvPr id="124939" name="Line 13"/>
          <p:cNvSpPr>
            <a:spLocks noChangeShapeType="1"/>
          </p:cNvSpPr>
          <p:nvPr/>
        </p:nvSpPr>
        <p:spPr bwMode="auto">
          <a:xfrm>
            <a:off x="4316413" y="3208338"/>
            <a:ext cx="112712" cy="0"/>
          </a:xfrm>
          <a:prstGeom prst="line">
            <a:avLst/>
          </a:prstGeom>
          <a:noFill/>
          <a:ln w="7938">
            <a:solidFill>
              <a:srgbClr val="000000"/>
            </a:solidFill>
            <a:miter lim="800000"/>
            <a:headEnd/>
            <a:tailEnd/>
          </a:ln>
        </p:spPr>
        <p:txBody>
          <a:bodyPr/>
          <a:lstStyle/>
          <a:p>
            <a:endParaRPr lang="en-US"/>
          </a:p>
        </p:txBody>
      </p:sp>
      <p:sp>
        <p:nvSpPr>
          <p:cNvPr id="124940" name="Line 14"/>
          <p:cNvSpPr>
            <a:spLocks noChangeShapeType="1"/>
          </p:cNvSpPr>
          <p:nvPr/>
        </p:nvSpPr>
        <p:spPr bwMode="auto">
          <a:xfrm>
            <a:off x="4316413" y="4286250"/>
            <a:ext cx="112712" cy="0"/>
          </a:xfrm>
          <a:prstGeom prst="line">
            <a:avLst/>
          </a:prstGeom>
          <a:noFill/>
          <a:ln w="7938">
            <a:solidFill>
              <a:srgbClr val="000000"/>
            </a:solidFill>
            <a:miter lim="800000"/>
            <a:headEnd/>
            <a:tailEnd/>
          </a:ln>
        </p:spPr>
        <p:txBody>
          <a:bodyPr/>
          <a:lstStyle/>
          <a:p>
            <a:endParaRPr lang="en-US"/>
          </a:p>
        </p:txBody>
      </p:sp>
      <p:sp>
        <p:nvSpPr>
          <p:cNvPr id="124941" name="Line 15"/>
          <p:cNvSpPr>
            <a:spLocks noChangeShapeType="1"/>
          </p:cNvSpPr>
          <p:nvPr/>
        </p:nvSpPr>
        <p:spPr bwMode="auto">
          <a:xfrm>
            <a:off x="4316413" y="5372100"/>
            <a:ext cx="112712" cy="0"/>
          </a:xfrm>
          <a:prstGeom prst="line">
            <a:avLst/>
          </a:prstGeom>
          <a:noFill/>
          <a:ln w="7938">
            <a:solidFill>
              <a:srgbClr val="000000"/>
            </a:solidFill>
            <a:miter lim="800000"/>
            <a:headEnd/>
            <a:tailEnd/>
          </a:ln>
        </p:spPr>
        <p:txBody>
          <a:bodyPr/>
          <a:lstStyle/>
          <a:p>
            <a:endParaRPr lang="en-US"/>
          </a:p>
        </p:txBody>
      </p:sp>
      <p:sp>
        <p:nvSpPr>
          <p:cNvPr id="124942" name="Line 16"/>
          <p:cNvSpPr>
            <a:spLocks noChangeShapeType="1"/>
          </p:cNvSpPr>
          <p:nvPr/>
        </p:nvSpPr>
        <p:spPr bwMode="auto">
          <a:xfrm>
            <a:off x="5503863" y="5768975"/>
            <a:ext cx="0" cy="144463"/>
          </a:xfrm>
          <a:prstGeom prst="line">
            <a:avLst/>
          </a:prstGeom>
          <a:noFill/>
          <a:ln w="7938">
            <a:solidFill>
              <a:srgbClr val="000000"/>
            </a:solidFill>
            <a:miter lim="800000"/>
            <a:headEnd/>
            <a:tailEnd/>
          </a:ln>
        </p:spPr>
        <p:txBody>
          <a:bodyPr/>
          <a:lstStyle/>
          <a:p>
            <a:endParaRPr lang="en-US"/>
          </a:p>
        </p:txBody>
      </p:sp>
      <p:sp>
        <p:nvSpPr>
          <p:cNvPr id="124943" name="Line 17"/>
          <p:cNvSpPr>
            <a:spLocks noChangeShapeType="1"/>
          </p:cNvSpPr>
          <p:nvPr/>
        </p:nvSpPr>
        <p:spPr bwMode="auto">
          <a:xfrm>
            <a:off x="6688138" y="5768975"/>
            <a:ext cx="0" cy="144463"/>
          </a:xfrm>
          <a:prstGeom prst="line">
            <a:avLst/>
          </a:prstGeom>
          <a:noFill/>
          <a:ln w="7938">
            <a:solidFill>
              <a:srgbClr val="000000"/>
            </a:solidFill>
            <a:miter lim="800000"/>
            <a:headEnd/>
            <a:tailEnd/>
          </a:ln>
        </p:spPr>
        <p:txBody>
          <a:bodyPr/>
          <a:lstStyle/>
          <a:p>
            <a:endParaRPr lang="en-US"/>
          </a:p>
        </p:txBody>
      </p:sp>
      <p:sp>
        <p:nvSpPr>
          <p:cNvPr id="124944" name="Line 18"/>
          <p:cNvSpPr>
            <a:spLocks noChangeShapeType="1"/>
          </p:cNvSpPr>
          <p:nvPr/>
        </p:nvSpPr>
        <p:spPr bwMode="auto">
          <a:xfrm>
            <a:off x="7880350" y="5768975"/>
            <a:ext cx="0" cy="144463"/>
          </a:xfrm>
          <a:prstGeom prst="line">
            <a:avLst/>
          </a:prstGeom>
          <a:noFill/>
          <a:ln w="7938">
            <a:solidFill>
              <a:srgbClr val="000000"/>
            </a:solidFill>
            <a:miter lim="800000"/>
            <a:headEnd/>
            <a:tailEnd/>
          </a:ln>
        </p:spPr>
        <p:txBody>
          <a:bodyPr/>
          <a:lstStyle/>
          <a:p>
            <a:endParaRPr lang="en-US"/>
          </a:p>
        </p:txBody>
      </p:sp>
      <p:sp>
        <p:nvSpPr>
          <p:cNvPr id="124945" name="Rectangle 19"/>
          <p:cNvSpPr>
            <a:spLocks noChangeArrowheads="1"/>
          </p:cNvSpPr>
          <p:nvPr/>
        </p:nvSpPr>
        <p:spPr bwMode="auto">
          <a:xfrm>
            <a:off x="4148138" y="5956300"/>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0</a:t>
            </a:r>
            <a:endParaRPr lang="en-US" sz="1400">
              <a:latin typeface="Candara" pitchFamily="34" charset="0"/>
            </a:endParaRPr>
          </a:p>
        </p:txBody>
      </p:sp>
      <p:sp>
        <p:nvSpPr>
          <p:cNvPr id="124946" name="Rectangle 20"/>
          <p:cNvSpPr>
            <a:spLocks noChangeArrowheads="1"/>
          </p:cNvSpPr>
          <p:nvPr/>
        </p:nvSpPr>
        <p:spPr bwMode="auto">
          <a:xfrm>
            <a:off x="5313363" y="5956300"/>
            <a:ext cx="42703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5,000</a:t>
            </a:r>
            <a:endParaRPr lang="en-US" sz="1400">
              <a:latin typeface="Candara" pitchFamily="34" charset="0"/>
            </a:endParaRPr>
          </a:p>
        </p:txBody>
      </p:sp>
      <p:sp>
        <p:nvSpPr>
          <p:cNvPr id="124947" name="Rectangle 21"/>
          <p:cNvSpPr>
            <a:spLocks noChangeArrowheads="1"/>
          </p:cNvSpPr>
          <p:nvPr/>
        </p:nvSpPr>
        <p:spPr bwMode="auto">
          <a:xfrm>
            <a:off x="6456363" y="5956300"/>
            <a:ext cx="50006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10,000</a:t>
            </a:r>
            <a:endParaRPr lang="en-US" sz="1400">
              <a:latin typeface="Candara" pitchFamily="34" charset="0"/>
            </a:endParaRPr>
          </a:p>
        </p:txBody>
      </p:sp>
      <p:sp>
        <p:nvSpPr>
          <p:cNvPr id="124948" name="Rectangle 22"/>
          <p:cNvSpPr>
            <a:spLocks noChangeArrowheads="1"/>
          </p:cNvSpPr>
          <p:nvPr/>
        </p:nvSpPr>
        <p:spPr bwMode="auto">
          <a:xfrm>
            <a:off x="7642225" y="5956300"/>
            <a:ext cx="4889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15,000</a:t>
            </a:r>
            <a:endParaRPr lang="en-US" sz="1400">
              <a:latin typeface="Candara" pitchFamily="34" charset="0"/>
            </a:endParaRPr>
          </a:p>
        </p:txBody>
      </p:sp>
      <p:sp>
        <p:nvSpPr>
          <p:cNvPr id="124949" name="Rectangle 23"/>
          <p:cNvSpPr>
            <a:spLocks noChangeArrowheads="1"/>
          </p:cNvSpPr>
          <p:nvPr/>
        </p:nvSpPr>
        <p:spPr bwMode="auto">
          <a:xfrm>
            <a:off x="3895725" y="2008188"/>
            <a:ext cx="334963"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$140</a:t>
            </a:r>
            <a:endParaRPr lang="en-US" sz="1400">
              <a:latin typeface="Candara" pitchFamily="34" charset="0"/>
            </a:endParaRPr>
          </a:p>
        </p:txBody>
      </p:sp>
      <p:sp>
        <p:nvSpPr>
          <p:cNvPr id="124950" name="Rectangle 24"/>
          <p:cNvSpPr>
            <a:spLocks noChangeArrowheads="1"/>
          </p:cNvSpPr>
          <p:nvPr/>
        </p:nvSpPr>
        <p:spPr bwMode="auto">
          <a:xfrm>
            <a:off x="3979863" y="2547938"/>
            <a:ext cx="24288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120</a:t>
            </a:r>
            <a:endParaRPr lang="en-US" sz="1400">
              <a:latin typeface="Candara" pitchFamily="34" charset="0"/>
            </a:endParaRPr>
          </a:p>
        </p:txBody>
      </p:sp>
      <p:sp>
        <p:nvSpPr>
          <p:cNvPr id="124951" name="Rectangle 25"/>
          <p:cNvSpPr>
            <a:spLocks noChangeArrowheads="1"/>
          </p:cNvSpPr>
          <p:nvPr/>
        </p:nvSpPr>
        <p:spPr bwMode="auto">
          <a:xfrm>
            <a:off x="3979863" y="3086100"/>
            <a:ext cx="25876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100</a:t>
            </a:r>
            <a:endParaRPr lang="en-US" sz="1400">
              <a:latin typeface="Candara" pitchFamily="34" charset="0"/>
            </a:endParaRPr>
          </a:p>
        </p:txBody>
      </p:sp>
      <p:sp>
        <p:nvSpPr>
          <p:cNvPr id="124952" name="Rectangle 26"/>
          <p:cNvSpPr>
            <a:spLocks noChangeArrowheads="1"/>
          </p:cNvSpPr>
          <p:nvPr/>
        </p:nvSpPr>
        <p:spPr bwMode="auto">
          <a:xfrm>
            <a:off x="4064000" y="3627438"/>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80</a:t>
            </a:r>
            <a:endParaRPr lang="en-US" sz="1400">
              <a:latin typeface="Candara" pitchFamily="34" charset="0"/>
            </a:endParaRPr>
          </a:p>
        </p:txBody>
      </p:sp>
      <p:sp>
        <p:nvSpPr>
          <p:cNvPr id="124953" name="Rectangle 27"/>
          <p:cNvSpPr>
            <a:spLocks noChangeArrowheads="1"/>
          </p:cNvSpPr>
          <p:nvPr/>
        </p:nvSpPr>
        <p:spPr bwMode="auto">
          <a:xfrm>
            <a:off x="4064000" y="4170363"/>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60</a:t>
            </a:r>
            <a:endParaRPr lang="en-US" sz="1400">
              <a:latin typeface="Candara" pitchFamily="34" charset="0"/>
            </a:endParaRPr>
          </a:p>
        </p:txBody>
      </p:sp>
      <p:sp>
        <p:nvSpPr>
          <p:cNvPr id="124954" name="Rectangle 28"/>
          <p:cNvSpPr>
            <a:spLocks noChangeArrowheads="1"/>
          </p:cNvSpPr>
          <p:nvPr/>
        </p:nvSpPr>
        <p:spPr bwMode="auto">
          <a:xfrm>
            <a:off x="4064000" y="4705350"/>
            <a:ext cx="1936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40</a:t>
            </a:r>
            <a:endParaRPr lang="en-US" sz="1400">
              <a:latin typeface="Candara" pitchFamily="34" charset="0"/>
            </a:endParaRPr>
          </a:p>
        </p:txBody>
      </p:sp>
      <p:sp>
        <p:nvSpPr>
          <p:cNvPr id="124955" name="Rectangle 29"/>
          <p:cNvSpPr>
            <a:spLocks noChangeArrowheads="1"/>
          </p:cNvSpPr>
          <p:nvPr/>
        </p:nvSpPr>
        <p:spPr bwMode="auto">
          <a:xfrm>
            <a:off x="4064000" y="5246688"/>
            <a:ext cx="1809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20</a:t>
            </a:r>
            <a:endParaRPr lang="en-US" sz="1400">
              <a:latin typeface="Candara" pitchFamily="34" charset="0"/>
            </a:endParaRPr>
          </a:p>
        </p:txBody>
      </p:sp>
      <p:sp>
        <p:nvSpPr>
          <p:cNvPr id="124956" name="Rectangle 30"/>
          <p:cNvSpPr>
            <a:spLocks noChangeArrowheads="1"/>
          </p:cNvSpPr>
          <p:nvPr/>
        </p:nvSpPr>
        <p:spPr bwMode="auto">
          <a:xfrm>
            <a:off x="7596188" y="6243638"/>
            <a:ext cx="1008062" cy="42545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Quantity of hotel rooms</a:t>
            </a:r>
            <a:endParaRPr lang="en-US" sz="1400">
              <a:latin typeface="Candara" pitchFamily="34" charset="0"/>
            </a:endParaRPr>
          </a:p>
        </p:txBody>
      </p:sp>
      <p:sp>
        <p:nvSpPr>
          <p:cNvPr id="124957" name="Rectangle 31"/>
          <p:cNvSpPr>
            <a:spLocks noChangeArrowheads="1"/>
          </p:cNvSpPr>
          <p:nvPr/>
        </p:nvSpPr>
        <p:spPr bwMode="auto">
          <a:xfrm>
            <a:off x="6662738" y="3417888"/>
            <a:ext cx="857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E</a:t>
            </a:r>
            <a:endParaRPr lang="en-US" sz="1400" i="1">
              <a:latin typeface="Candara" pitchFamily="34" charset="0"/>
            </a:endParaRPr>
          </a:p>
        </p:txBody>
      </p:sp>
      <p:sp>
        <p:nvSpPr>
          <p:cNvPr id="124958" name="Rectangle 32"/>
          <p:cNvSpPr>
            <a:spLocks noChangeArrowheads="1"/>
          </p:cNvSpPr>
          <p:nvPr/>
        </p:nvSpPr>
        <p:spPr bwMode="auto">
          <a:xfrm>
            <a:off x="7923213" y="2984500"/>
            <a:ext cx="8731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S</a:t>
            </a:r>
            <a:endParaRPr lang="en-US" sz="1400" i="1">
              <a:latin typeface="Candara" pitchFamily="34" charset="0"/>
            </a:endParaRPr>
          </a:p>
        </p:txBody>
      </p:sp>
      <p:sp>
        <p:nvSpPr>
          <p:cNvPr id="341025" name="Rectangle 33"/>
          <p:cNvSpPr>
            <a:spLocks noChangeArrowheads="1"/>
          </p:cNvSpPr>
          <p:nvPr/>
        </p:nvSpPr>
        <p:spPr bwMode="auto">
          <a:xfrm>
            <a:off x="7912100" y="5283200"/>
            <a:ext cx="10477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D</a:t>
            </a:r>
            <a:endParaRPr lang="en-US" sz="1400" i="1">
              <a:latin typeface="Candara" pitchFamily="34" charset="0"/>
            </a:endParaRPr>
          </a:p>
        </p:txBody>
      </p:sp>
      <p:sp>
        <p:nvSpPr>
          <p:cNvPr id="341026" name="Rectangle 34"/>
          <p:cNvSpPr>
            <a:spLocks noChangeArrowheads="1"/>
          </p:cNvSpPr>
          <p:nvPr/>
        </p:nvSpPr>
        <p:spPr bwMode="auto">
          <a:xfrm>
            <a:off x="8010525" y="5397500"/>
            <a:ext cx="825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2</a:t>
            </a:r>
            <a:endParaRPr lang="en-US" sz="1400">
              <a:latin typeface="Candara" pitchFamily="34" charset="0"/>
            </a:endParaRPr>
          </a:p>
        </p:txBody>
      </p:sp>
      <p:sp>
        <p:nvSpPr>
          <p:cNvPr id="124961" name="Rectangle 35"/>
          <p:cNvSpPr>
            <a:spLocks noChangeArrowheads="1"/>
          </p:cNvSpPr>
          <p:nvPr/>
        </p:nvSpPr>
        <p:spPr bwMode="auto">
          <a:xfrm>
            <a:off x="7908925" y="4227513"/>
            <a:ext cx="10477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D</a:t>
            </a:r>
            <a:endParaRPr lang="en-US" sz="1400" i="1">
              <a:latin typeface="Candara" pitchFamily="34" charset="0"/>
            </a:endParaRPr>
          </a:p>
        </p:txBody>
      </p:sp>
      <p:sp>
        <p:nvSpPr>
          <p:cNvPr id="124962" name="Rectangle 36"/>
          <p:cNvSpPr>
            <a:spLocks noChangeArrowheads="1"/>
          </p:cNvSpPr>
          <p:nvPr/>
        </p:nvSpPr>
        <p:spPr bwMode="auto">
          <a:xfrm>
            <a:off x="8010525" y="4341813"/>
            <a:ext cx="61913"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a:t>
            </a:r>
            <a:endParaRPr lang="en-US" sz="1400">
              <a:latin typeface="Candara" pitchFamily="34" charset="0"/>
            </a:endParaRPr>
          </a:p>
        </p:txBody>
      </p:sp>
      <p:sp>
        <p:nvSpPr>
          <p:cNvPr id="341029" name="Line 37"/>
          <p:cNvSpPr>
            <a:spLocks noChangeShapeType="1"/>
          </p:cNvSpPr>
          <p:nvPr/>
        </p:nvSpPr>
        <p:spPr bwMode="auto">
          <a:xfrm>
            <a:off x="7366000" y="4149725"/>
            <a:ext cx="0" cy="804863"/>
          </a:xfrm>
          <a:prstGeom prst="line">
            <a:avLst/>
          </a:prstGeom>
          <a:noFill/>
          <a:ln w="30163">
            <a:solidFill>
              <a:srgbClr val="000000"/>
            </a:solidFill>
            <a:miter lim="800000"/>
            <a:headEnd/>
            <a:tailEnd/>
          </a:ln>
        </p:spPr>
        <p:txBody>
          <a:bodyPr/>
          <a:lstStyle/>
          <a:p>
            <a:endParaRPr lang="en-US"/>
          </a:p>
        </p:txBody>
      </p:sp>
      <p:sp>
        <p:nvSpPr>
          <p:cNvPr id="341030" name="Freeform 38"/>
          <p:cNvSpPr>
            <a:spLocks/>
          </p:cNvSpPr>
          <p:nvPr/>
        </p:nvSpPr>
        <p:spPr bwMode="auto">
          <a:xfrm>
            <a:off x="7321550" y="4905375"/>
            <a:ext cx="85725" cy="180975"/>
          </a:xfrm>
          <a:custGeom>
            <a:avLst/>
            <a:gdLst>
              <a:gd name="T0" fmla="*/ 42863 w 18"/>
              <a:gd name="T1" fmla="*/ 36195 h 30"/>
              <a:gd name="T2" fmla="*/ 85725 w 18"/>
              <a:gd name="T3" fmla="*/ 0 h 30"/>
              <a:gd name="T4" fmla="*/ 85725 w 18"/>
              <a:gd name="T5" fmla="*/ 6033 h 30"/>
              <a:gd name="T6" fmla="*/ 57150 w 18"/>
              <a:gd name="T7" fmla="*/ 90488 h 30"/>
              <a:gd name="T8" fmla="*/ 42863 w 18"/>
              <a:gd name="T9" fmla="*/ 180975 h 30"/>
              <a:gd name="T10" fmla="*/ 28575 w 18"/>
              <a:gd name="T11" fmla="*/ 90488 h 30"/>
              <a:gd name="T12" fmla="*/ 0 w 18"/>
              <a:gd name="T13" fmla="*/ 6033 h 30"/>
              <a:gd name="T14" fmla="*/ 0 w 18"/>
              <a:gd name="T15" fmla="*/ 0 h 30"/>
              <a:gd name="T16" fmla="*/ 42863 w 18"/>
              <a:gd name="T17" fmla="*/ 3619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30"/>
              <a:gd name="T29" fmla="*/ 18 w 18"/>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30">
                <a:moveTo>
                  <a:pt x="9" y="6"/>
                </a:moveTo>
                <a:cubicBezTo>
                  <a:pt x="18" y="0"/>
                  <a:pt x="18" y="0"/>
                  <a:pt x="18" y="0"/>
                </a:cubicBezTo>
                <a:cubicBezTo>
                  <a:pt x="18" y="1"/>
                  <a:pt x="18" y="1"/>
                  <a:pt x="18" y="1"/>
                </a:cubicBezTo>
                <a:cubicBezTo>
                  <a:pt x="12" y="15"/>
                  <a:pt x="12" y="15"/>
                  <a:pt x="12" y="15"/>
                </a:cubicBezTo>
                <a:cubicBezTo>
                  <a:pt x="11" y="20"/>
                  <a:pt x="10" y="25"/>
                  <a:pt x="9" y="30"/>
                </a:cubicBezTo>
                <a:cubicBezTo>
                  <a:pt x="8" y="25"/>
                  <a:pt x="7" y="20"/>
                  <a:pt x="6" y="15"/>
                </a:cubicBezTo>
                <a:cubicBezTo>
                  <a:pt x="0" y="1"/>
                  <a:pt x="0" y="1"/>
                  <a:pt x="0" y="1"/>
                </a:cubicBezTo>
                <a:cubicBezTo>
                  <a:pt x="0" y="0"/>
                  <a:pt x="0" y="0"/>
                  <a:pt x="0" y="0"/>
                </a:cubicBezTo>
                <a:lnTo>
                  <a:pt x="9" y="6"/>
                </a:lnTo>
                <a:close/>
              </a:path>
            </a:pathLst>
          </a:custGeom>
          <a:solidFill>
            <a:srgbClr val="000000"/>
          </a:solidFill>
          <a:ln w="9525">
            <a:noFill/>
            <a:round/>
            <a:headEnd/>
            <a:tailEnd/>
          </a:ln>
        </p:spPr>
        <p:txBody>
          <a:bodyPr/>
          <a:lstStyle/>
          <a:p>
            <a:endParaRPr lang="en-US"/>
          </a:p>
        </p:txBody>
      </p:sp>
      <p:sp>
        <p:nvSpPr>
          <p:cNvPr id="341031" name="Freeform 39"/>
          <p:cNvSpPr>
            <a:spLocks/>
          </p:cNvSpPr>
          <p:nvPr/>
        </p:nvSpPr>
        <p:spPr bwMode="auto">
          <a:xfrm>
            <a:off x="3768725" y="3225800"/>
            <a:ext cx="117475" cy="1090613"/>
          </a:xfrm>
          <a:custGeom>
            <a:avLst/>
            <a:gdLst>
              <a:gd name="T0" fmla="*/ 117475 w 25"/>
              <a:gd name="T1" fmla="*/ 1090612 h 182"/>
              <a:gd name="T2" fmla="*/ 46990 w 25"/>
              <a:gd name="T3" fmla="*/ 994734 h 182"/>
              <a:gd name="T4" fmla="*/ 46990 w 25"/>
              <a:gd name="T5" fmla="*/ 605230 h 182"/>
              <a:gd name="T6" fmla="*/ 0 w 25"/>
              <a:gd name="T7" fmla="*/ 545306 h 182"/>
              <a:gd name="T8" fmla="*/ 46990 w 25"/>
              <a:gd name="T9" fmla="*/ 479390 h 182"/>
              <a:gd name="T10" fmla="*/ 46990 w 25"/>
              <a:gd name="T11" fmla="*/ 95878 h 182"/>
              <a:gd name="T12" fmla="*/ 117475 w 25"/>
              <a:gd name="T13" fmla="*/ 0 h 182"/>
              <a:gd name="T14" fmla="*/ 0 60000 65536"/>
              <a:gd name="T15" fmla="*/ 0 60000 65536"/>
              <a:gd name="T16" fmla="*/ 0 60000 65536"/>
              <a:gd name="T17" fmla="*/ 0 60000 65536"/>
              <a:gd name="T18" fmla="*/ 0 60000 65536"/>
              <a:gd name="T19" fmla="*/ 0 60000 65536"/>
              <a:gd name="T20" fmla="*/ 0 60000 65536"/>
              <a:gd name="T21" fmla="*/ 0 w 25"/>
              <a:gd name="T22" fmla="*/ 0 h 182"/>
              <a:gd name="T23" fmla="*/ 25 w 25"/>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182">
                <a:moveTo>
                  <a:pt x="25" y="182"/>
                </a:moveTo>
                <a:cubicBezTo>
                  <a:pt x="15" y="182"/>
                  <a:pt x="10" y="179"/>
                  <a:pt x="10" y="166"/>
                </a:cubicBezTo>
                <a:cubicBezTo>
                  <a:pt x="10" y="163"/>
                  <a:pt x="10" y="104"/>
                  <a:pt x="10" y="101"/>
                </a:cubicBezTo>
                <a:cubicBezTo>
                  <a:pt x="10" y="98"/>
                  <a:pt x="8" y="91"/>
                  <a:pt x="0" y="91"/>
                </a:cubicBezTo>
                <a:cubicBezTo>
                  <a:pt x="8" y="91"/>
                  <a:pt x="10" y="84"/>
                  <a:pt x="10" y="80"/>
                </a:cubicBezTo>
                <a:cubicBezTo>
                  <a:pt x="10" y="78"/>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a:p>
        </p:txBody>
      </p:sp>
      <p:sp>
        <p:nvSpPr>
          <p:cNvPr id="341032" name="Freeform 40"/>
          <p:cNvSpPr>
            <a:spLocks/>
          </p:cNvSpPr>
          <p:nvPr/>
        </p:nvSpPr>
        <p:spPr bwMode="auto">
          <a:xfrm>
            <a:off x="2465388" y="3530600"/>
            <a:ext cx="1289050" cy="623888"/>
          </a:xfrm>
          <a:custGeom>
            <a:avLst/>
            <a:gdLst>
              <a:gd name="T0" fmla="*/ 1289050 w 260"/>
              <a:gd name="T1" fmla="*/ 545902 h 104"/>
              <a:gd name="T2" fmla="*/ 1229555 w 260"/>
              <a:gd name="T3" fmla="*/ 623888 h 104"/>
              <a:gd name="T4" fmla="*/ 59495 w 260"/>
              <a:gd name="T5" fmla="*/ 623888 h 104"/>
              <a:gd name="T6" fmla="*/ 0 w 260"/>
              <a:gd name="T7" fmla="*/ 545902 h 104"/>
              <a:gd name="T8" fmla="*/ 0 w 260"/>
              <a:gd name="T9" fmla="*/ 71987 h 104"/>
              <a:gd name="T10" fmla="*/ 59495 w 260"/>
              <a:gd name="T11" fmla="*/ 0 h 104"/>
              <a:gd name="T12" fmla="*/ 1229555 w 260"/>
              <a:gd name="T13" fmla="*/ 0 h 104"/>
              <a:gd name="T14" fmla="*/ 1289050 w 260"/>
              <a:gd name="T15" fmla="*/ 71987 h 104"/>
              <a:gd name="T16" fmla="*/ 1289050 w 260"/>
              <a:gd name="T17" fmla="*/ 545902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0"/>
              <a:gd name="T28" fmla="*/ 0 h 104"/>
              <a:gd name="T29" fmla="*/ 260 w 260"/>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0" h="104">
                <a:moveTo>
                  <a:pt x="260" y="91"/>
                </a:moveTo>
                <a:cubicBezTo>
                  <a:pt x="260" y="98"/>
                  <a:pt x="254" y="104"/>
                  <a:pt x="248" y="104"/>
                </a:cubicBezTo>
                <a:cubicBezTo>
                  <a:pt x="12" y="104"/>
                  <a:pt x="12" y="104"/>
                  <a:pt x="12" y="104"/>
                </a:cubicBezTo>
                <a:cubicBezTo>
                  <a:pt x="5" y="104"/>
                  <a:pt x="0" y="98"/>
                  <a:pt x="0" y="91"/>
                </a:cubicBezTo>
                <a:cubicBezTo>
                  <a:pt x="0" y="12"/>
                  <a:pt x="0" y="12"/>
                  <a:pt x="0" y="12"/>
                </a:cubicBezTo>
                <a:cubicBezTo>
                  <a:pt x="0" y="5"/>
                  <a:pt x="5" y="0"/>
                  <a:pt x="12" y="0"/>
                </a:cubicBezTo>
                <a:cubicBezTo>
                  <a:pt x="248" y="0"/>
                  <a:pt x="248" y="0"/>
                  <a:pt x="248" y="0"/>
                </a:cubicBezTo>
                <a:cubicBezTo>
                  <a:pt x="254" y="0"/>
                  <a:pt x="260" y="5"/>
                  <a:pt x="260" y="12"/>
                </a:cubicBezTo>
                <a:lnTo>
                  <a:pt x="260" y="91"/>
                </a:lnTo>
                <a:close/>
              </a:path>
            </a:pathLst>
          </a:custGeom>
          <a:solidFill>
            <a:srgbClr val="D6E2E0"/>
          </a:solidFill>
          <a:ln w="9525">
            <a:noFill/>
            <a:round/>
            <a:headEnd/>
            <a:tailEnd/>
          </a:ln>
        </p:spPr>
        <p:txBody>
          <a:bodyPr/>
          <a:lstStyle/>
          <a:p>
            <a:endParaRPr lang="en-US"/>
          </a:p>
        </p:txBody>
      </p:sp>
      <p:sp>
        <p:nvSpPr>
          <p:cNvPr id="341033" name="Rectangle 41"/>
          <p:cNvSpPr>
            <a:spLocks noChangeArrowheads="1"/>
          </p:cNvSpPr>
          <p:nvPr/>
        </p:nvSpPr>
        <p:spPr bwMode="auto">
          <a:xfrm>
            <a:off x="2541588" y="3621088"/>
            <a:ext cx="1212850" cy="42545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Excise tax = $40 per room</a:t>
            </a:r>
            <a:endParaRPr lang="en-US" sz="1400">
              <a:latin typeface="Candara" pitchFamily="34" charset="0"/>
            </a:endParaRPr>
          </a:p>
        </p:txBody>
      </p:sp>
      <p:sp>
        <p:nvSpPr>
          <p:cNvPr id="341034" name="Line 42"/>
          <p:cNvSpPr>
            <a:spLocks noChangeShapeType="1"/>
          </p:cNvSpPr>
          <p:nvPr/>
        </p:nvSpPr>
        <p:spPr bwMode="auto">
          <a:xfrm>
            <a:off x="4302125" y="2644775"/>
            <a:ext cx="3578225" cy="1662113"/>
          </a:xfrm>
          <a:prstGeom prst="line">
            <a:avLst/>
          </a:prstGeom>
          <a:noFill/>
          <a:ln w="30163">
            <a:solidFill>
              <a:srgbClr val="3C5DAA"/>
            </a:solidFill>
            <a:miter lim="800000"/>
            <a:headEnd/>
            <a:tailEnd/>
          </a:ln>
        </p:spPr>
        <p:txBody>
          <a:bodyPr/>
          <a:lstStyle/>
          <a:p>
            <a:endParaRPr lang="en-US"/>
          </a:p>
        </p:txBody>
      </p:sp>
      <p:sp>
        <p:nvSpPr>
          <p:cNvPr id="124969" name="Line 43"/>
          <p:cNvSpPr>
            <a:spLocks noChangeShapeType="1"/>
          </p:cNvSpPr>
          <p:nvPr/>
        </p:nvSpPr>
        <p:spPr bwMode="auto">
          <a:xfrm flipH="1">
            <a:off x="4302125" y="3216275"/>
            <a:ext cx="3578225" cy="1646238"/>
          </a:xfrm>
          <a:prstGeom prst="line">
            <a:avLst/>
          </a:prstGeom>
          <a:noFill/>
          <a:ln w="30163">
            <a:solidFill>
              <a:srgbClr val="EE313C"/>
            </a:solidFill>
            <a:miter lim="800000"/>
            <a:headEnd/>
            <a:tailEnd/>
          </a:ln>
        </p:spPr>
        <p:txBody>
          <a:bodyPr/>
          <a:lstStyle/>
          <a:p>
            <a:endParaRPr lang="en-US"/>
          </a:p>
        </p:txBody>
      </p:sp>
      <p:sp>
        <p:nvSpPr>
          <p:cNvPr id="341036" name="Line 44"/>
          <p:cNvSpPr>
            <a:spLocks noChangeShapeType="1"/>
          </p:cNvSpPr>
          <p:nvPr/>
        </p:nvSpPr>
        <p:spPr bwMode="auto">
          <a:xfrm>
            <a:off x="4308475" y="3741738"/>
            <a:ext cx="3563938" cy="1630362"/>
          </a:xfrm>
          <a:prstGeom prst="line">
            <a:avLst/>
          </a:prstGeom>
          <a:noFill/>
          <a:ln w="30163">
            <a:solidFill>
              <a:srgbClr val="3C5DAA"/>
            </a:solidFill>
            <a:miter lim="800000"/>
            <a:headEnd/>
            <a:tailEnd/>
          </a:ln>
        </p:spPr>
        <p:txBody>
          <a:bodyPr/>
          <a:lstStyle/>
          <a:p>
            <a:endParaRPr lang="en-US"/>
          </a:p>
        </p:txBody>
      </p:sp>
      <p:sp>
        <p:nvSpPr>
          <p:cNvPr id="341037" name="Oval 45"/>
          <p:cNvSpPr>
            <a:spLocks noChangeArrowheads="1"/>
          </p:cNvSpPr>
          <p:nvPr/>
        </p:nvSpPr>
        <p:spPr bwMode="auto">
          <a:xfrm>
            <a:off x="5462588" y="3154363"/>
            <a:ext cx="92075" cy="92075"/>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341038" name="Oval 46"/>
          <p:cNvSpPr>
            <a:spLocks noChangeArrowheads="1"/>
          </p:cNvSpPr>
          <p:nvPr/>
        </p:nvSpPr>
        <p:spPr bwMode="auto">
          <a:xfrm>
            <a:off x="5470525" y="4248150"/>
            <a:ext cx="92075" cy="92075"/>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124973" name="Oval 47"/>
          <p:cNvSpPr>
            <a:spLocks noChangeArrowheads="1"/>
          </p:cNvSpPr>
          <p:nvPr/>
        </p:nvSpPr>
        <p:spPr bwMode="auto">
          <a:xfrm>
            <a:off x="6654800" y="3703638"/>
            <a:ext cx="93663" cy="92075"/>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341040" name="Line 48"/>
          <p:cNvSpPr>
            <a:spLocks noChangeShapeType="1"/>
          </p:cNvSpPr>
          <p:nvPr/>
        </p:nvSpPr>
        <p:spPr bwMode="auto">
          <a:xfrm>
            <a:off x="6835775" y="3057525"/>
            <a:ext cx="458788" cy="1482725"/>
          </a:xfrm>
          <a:prstGeom prst="line">
            <a:avLst/>
          </a:prstGeom>
          <a:noFill/>
          <a:ln w="7938">
            <a:solidFill>
              <a:srgbClr val="000000"/>
            </a:solidFill>
            <a:miter lim="800000"/>
            <a:headEnd/>
            <a:tailEnd/>
          </a:ln>
        </p:spPr>
        <p:txBody>
          <a:bodyPr/>
          <a:lstStyle/>
          <a:p>
            <a:endParaRPr lang="en-US"/>
          </a:p>
        </p:txBody>
      </p:sp>
      <p:sp>
        <p:nvSpPr>
          <p:cNvPr id="341041" name="Freeform 49"/>
          <p:cNvSpPr>
            <a:spLocks/>
          </p:cNvSpPr>
          <p:nvPr/>
        </p:nvSpPr>
        <p:spPr bwMode="auto">
          <a:xfrm>
            <a:off x="5967413" y="2249488"/>
            <a:ext cx="1493837" cy="950912"/>
          </a:xfrm>
          <a:custGeom>
            <a:avLst/>
            <a:gdLst>
              <a:gd name="T0" fmla="*/ 1493837 w 248"/>
              <a:gd name="T1" fmla="*/ 862042 h 172"/>
              <a:gd name="T2" fmla="*/ 1397460 w 248"/>
              <a:gd name="T3" fmla="*/ 950457 h 172"/>
              <a:gd name="T4" fmla="*/ 96377 w 248"/>
              <a:gd name="T5" fmla="*/ 950457 h 172"/>
              <a:gd name="T6" fmla="*/ 0 w 248"/>
              <a:gd name="T7" fmla="*/ 862042 h 172"/>
              <a:gd name="T8" fmla="*/ 0 w 248"/>
              <a:gd name="T9" fmla="*/ 88415 h 172"/>
              <a:gd name="T10" fmla="*/ 96377 w 248"/>
              <a:gd name="T11" fmla="*/ 0 h 172"/>
              <a:gd name="T12" fmla="*/ 1397460 w 248"/>
              <a:gd name="T13" fmla="*/ 0 h 172"/>
              <a:gd name="T14" fmla="*/ 1493837 w 248"/>
              <a:gd name="T15" fmla="*/ 88415 h 172"/>
              <a:gd name="T16" fmla="*/ 1493837 w 248"/>
              <a:gd name="T17" fmla="*/ 862042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8"/>
              <a:gd name="T28" fmla="*/ 0 h 172"/>
              <a:gd name="T29" fmla="*/ 248 w 248"/>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8" h="172">
                <a:moveTo>
                  <a:pt x="248" y="156"/>
                </a:moveTo>
                <a:cubicBezTo>
                  <a:pt x="248" y="165"/>
                  <a:pt x="241" y="172"/>
                  <a:pt x="232" y="172"/>
                </a:cubicBezTo>
                <a:cubicBezTo>
                  <a:pt x="16" y="172"/>
                  <a:pt x="16" y="172"/>
                  <a:pt x="16" y="172"/>
                </a:cubicBezTo>
                <a:cubicBezTo>
                  <a:pt x="7" y="172"/>
                  <a:pt x="0" y="165"/>
                  <a:pt x="0" y="156"/>
                </a:cubicBezTo>
                <a:cubicBezTo>
                  <a:pt x="0" y="16"/>
                  <a:pt x="0" y="16"/>
                  <a:pt x="0" y="16"/>
                </a:cubicBezTo>
                <a:cubicBezTo>
                  <a:pt x="0" y="7"/>
                  <a:pt x="7" y="0"/>
                  <a:pt x="16" y="0"/>
                </a:cubicBezTo>
                <a:cubicBezTo>
                  <a:pt x="232" y="0"/>
                  <a:pt x="232" y="0"/>
                  <a:pt x="232" y="0"/>
                </a:cubicBezTo>
                <a:cubicBezTo>
                  <a:pt x="241" y="0"/>
                  <a:pt x="248" y="7"/>
                  <a:pt x="248" y="16"/>
                </a:cubicBezTo>
                <a:lnTo>
                  <a:pt x="248" y="156"/>
                </a:lnTo>
                <a:close/>
              </a:path>
            </a:pathLst>
          </a:custGeom>
          <a:solidFill>
            <a:srgbClr val="D6E2E0"/>
          </a:solidFill>
          <a:ln w="9525">
            <a:noFill/>
            <a:round/>
            <a:headEnd/>
            <a:tailEnd/>
          </a:ln>
        </p:spPr>
        <p:txBody>
          <a:bodyPr/>
          <a:lstStyle/>
          <a:p>
            <a:endParaRPr lang="en-US"/>
          </a:p>
        </p:txBody>
      </p:sp>
      <p:sp>
        <p:nvSpPr>
          <p:cNvPr id="341042" name="Rectangle 50"/>
          <p:cNvSpPr>
            <a:spLocks noChangeArrowheads="1"/>
          </p:cNvSpPr>
          <p:nvPr/>
        </p:nvSpPr>
        <p:spPr bwMode="auto">
          <a:xfrm>
            <a:off x="6021388" y="2300288"/>
            <a:ext cx="1371600" cy="85090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Demand curve shifts downward by the amount </a:t>
            </a:r>
            <a:br>
              <a:rPr lang="en-US" sz="1400">
                <a:solidFill>
                  <a:srgbClr val="000000"/>
                </a:solidFill>
                <a:latin typeface="Candara" pitchFamily="34" charset="0"/>
              </a:rPr>
            </a:br>
            <a:r>
              <a:rPr lang="en-US" sz="1400">
                <a:solidFill>
                  <a:srgbClr val="000000"/>
                </a:solidFill>
                <a:latin typeface="Candara" pitchFamily="34" charset="0"/>
              </a:rPr>
              <a:t>of the tax.</a:t>
            </a:r>
            <a:endParaRPr lang="en-US" sz="1400">
              <a:latin typeface="Candara" pitchFamily="34" charset="0"/>
            </a:endParaRPr>
          </a:p>
        </p:txBody>
      </p:sp>
      <p:sp>
        <p:nvSpPr>
          <p:cNvPr id="124977" name="Freeform 51"/>
          <p:cNvSpPr>
            <a:spLocks/>
          </p:cNvSpPr>
          <p:nvPr/>
        </p:nvSpPr>
        <p:spPr bwMode="auto">
          <a:xfrm>
            <a:off x="4316413" y="1368425"/>
            <a:ext cx="4089400" cy="4545013"/>
          </a:xfrm>
          <a:custGeom>
            <a:avLst/>
            <a:gdLst>
              <a:gd name="T0" fmla="*/ 4089400 w 2060"/>
              <a:gd name="T1" fmla="*/ 4545012 h 1791"/>
              <a:gd name="T2" fmla="*/ 0 w 2060"/>
              <a:gd name="T3" fmla="*/ 4545012 h 1791"/>
              <a:gd name="T4" fmla="*/ 0 w 2060"/>
              <a:gd name="T5" fmla="*/ 0 h 1791"/>
              <a:gd name="T6" fmla="*/ 0 60000 65536"/>
              <a:gd name="T7" fmla="*/ 0 60000 65536"/>
              <a:gd name="T8" fmla="*/ 0 60000 65536"/>
              <a:gd name="T9" fmla="*/ 0 w 2060"/>
              <a:gd name="T10" fmla="*/ 0 h 1791"/>
              <a:gd name="T11" fmla="*/ 2060 w 2060"/>
              <a:gd name="T12" fmla="*/ 1791 h 1791"/>
            </a:gdLst>
            <a:ahLst/>
            <a:cxnLst>
              <a:cxn ang="T6">
                <a:pos x="T0" y="T1"/>
              </a:cxn>
              <a:cxn ang="T7">
                <a:pos x="T2" y="T3"/>
              </a:cxn>
              <a:cxn ang="T8">
                <a:pos x="T4" y="T5"/>
              </a:cxn>
            </a:cxnLst>
            <a:rect l="T9" t="T10" r="T11" b="T12"/>
            <a:pathLst>
              <a:path w="2060" h="1791">
                <a:moveTo>
                  <a:pt x="2060" y="1791"/>
                </a:moveTo>
                <a:lnTo>
                  <a:pt x="0" y="1791"/>
                </a:lnTo>
                <a:lnTo>
                  <a:pt x="0" y="0"/>
                </a:lnTo>
              </a:path>
            </a:pathLst>
          </a:custGeom>
          <a:noFill/>
          <a:ln w="7938" cap="flat">
            <a:solidFill>
              <a:srgbClr val="000000"/>
            </a:solidFill>
            <a:prstDash val="solid"/>
            <a:miter lim="800000"/>
            <a:headEnd/>
            <a:tailEnd/>
          </a:ln>
        </p:spPr>
        <p:txBody>
          <a:bodyPr/>
          <a:lstStyle/>
          <a:p>
            <a:endParaRPr lang="en-US"/>
          </a:p>
        </p:txBody>
      </p:sp>
      <p:sp>
        <p:nvSpPr>
          <p:cNvPr id="124978" name="Rectangle 52"/>
          <p:cNvSpPr>
            <a:spLocks noChangeArrowheads="1"/>
          </p:cNvSpPr>
          <p:nvPr/>
        </p:nvSpPr>
        <p:spPr bwMode="auto">
          <a:xfrm>
            <a:off x="3579813" y="1335088"/>
            <a:ext cx="927100" cy="21272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Price</a:t>
            </a:r>
            <a:endParaRPr lang="en-US" sz="1400">
              <a:latin typeface="Candara" pitchFamily="34" charset="0"/>
            </a:endParaRPr>
          </a:p>
        </p:txBody>
      </p:sp>
      <p:sp>
        <p:nvSpPr>
          <p:cNvPr id="5" name="Rectangle 4"/>
          <p:cNvSpPr/>
          <p:nvPr/>
        </p:nvSpPr>
        <p:spPr>
          <a:xfrm>
            <a:off x="1060450" y="1563688"/>
            <a:ext cx="2825750" cy="915987"/>
          </a:xfrm>
          <a:prstGeom prst="rect">
            <a:avLst/>
          </a:prstGeom>
        </p:spPr>
        <p:txBody>
          <a:bodyPr>
            <a:spAutoFit/>
          </a:bodyPr>
          <a:lstStyle/>
          <a:p>
            <a:pPr fontAlgn="auto">
              <a:spcBef>
                <a:spcPts val="0"/>
              </a:spcBef>
              <a:spcAft>
                <a:spcPts val="0"/>
              </a:spcAft>
              <a:defRPr/>
            </a:pPr>
            <a:r>
              <a:rPr lang="en-US" b="1" i="1" dirty="0">
                <a:solidFill>
                  <a:schemeClr val="tx1">
                    <a:lumMod val="75000"/>
                    <a:lumOff val="25000"/>
                  </a:schemeClr>
                </a:solidFill>
                <a:latin typeface="Candara" pitchFamily="34" charset="0"/>
                <a:ea typeface="+mn-ea"/>
              </a:rPr>
              <a:t>The equilibrium price of hotel rooms falls to $60 a night.</a:t>
            </a:r>
          </a:p>
        </p:txBody>
      </p:sp>
      <p:sp>
        <p:nvSpPr>
          <p:cNvPr id="52" name="Rectangle 51"/>
          <p:cNvSpPr/>
          <p:nvPr/>
        </p:nvSpPr>
        <p:spPr>
          <a:xfrm>
            <a:off x="4248150" y="6375400"/>
            <a:ext cx="3289300" cy="366713"/>
          </a:xfrm>
          <a:prstGeom prst="rect">
            <a:avLst/>
          </a:prstGeom>
        </p:spPr>
        <p:txBody>
          <a:bodyPr>
            <a:spAutoFit/>
          </a:bodyPr>
          <a:lstStyle/>
          <a:p>
            <a:pPr fontAlgn="auto">
              <a:spcBef>
                <a:spcPts val="0"/>
              </a:spcBef>
              <a:spcAft>
                <a:spcPts val="0"/>
              </a:spcAft>
              <a:defRPr/>
            </a:pPr>
            <a:r>
              <a:rPr lang="en-US" b="1" i="1" dirty="0">
                <a:solidFill>
                  <a:schemeClr val="tx1">
                    <a:lumMod val="75000"/>
                    <a:lumOff val="25000"/>
                  </a:schemeClr>
                </a:solidFill>
                <a:latin typeface="Candara" pitchFamily="34" charset="0"/>
                <a:ea typeface="+mn-ea"/>
              </a:rPr>
              <a:t>And the quantity falls to 5,000.</a:t>
            </a:r>
          </a:p>
        </p:txBody>
      </p:sp>
      <p:sp>
        <p:nvSpPr>
          <p:cNvPr id="53" name="Rectangle 52"/>
          <p:cNvSpPr/>
          <p:nvPr/>
        </p:nvSpPr>
        <p:spPr>
          <a:xfrm>
            <a:off x="1060450" y="2401888"/>
            <a:ext cx="2919413" cy="1190625"/>
          </a:xfrm>
          <a:prstGeom prst="rect">
            <a:avLst/>
          </a:prstGeom>
        </p:spPr>
        <p:txBody>
          <a:bodyPr>
            <a:spAutoFit/>
          </a:bodyPr>
          <a:lstStyle/>
          <a:p>
            <a:pPr fontAlgn="auto">
              <a:spcBef>
                <a:spcPts val="0"/>
              </a:spcBef>
              <a:spcAft>
                <a:spcPts val="0"/>
              </a:spcAft>
              <a:defRPr/>
            </a:pPr>
            <a:r>
              <a:rPr lang="en-US" b="1" i="1" dirty="0">
                <a:solidFill>
                  <a:srgbClr val="990033"/>
                </a:solidFill>
                <a:latin typeface="Candara" pitchFamily="34" charset="0"/>
                <a:ea typeface="+mn-ea"/>
              </a:rPr>
              <a:t>Hotel guests also bear some of the burden as price RISES from $80 to $100</a:t>
            </a:r>
            <a:r>
              <a:rPr lang="en-US" b="1" i="1" dirty="0">
                <a:solidFill>
                  <a:schemeClr val="accent1">
                    <a:lumMod val="75000"/>
                  </a:schemeClr>
                </a:solidFill>
                <a:latin typeface="Candara" pitchFamily="34" charset="0"/>
                <a:ea typeface="+mn-ea"/>
              </a:rPr>
              <a:t> </a:t>
            </a:r>
            <a:r>
              <a:rPr lang="en-US" b="1" i="1" dirty="0">
                <a:solidFill>
                  <a:srgbClr val="990033"/>
                </a:solidFill>
                <a:latin typeface="Candara" pitchFamily="34" charset="0"/>
                <a:ea typeface="+mn-ea"/>
              </a:rPr>
              <a:t>(after taxes are paid).</a:t>
            </a:r>
          </a:p>
        </p:txBody>
      </p:sp>
      <p:sp>
        <p:nvSpPr>
          <p:cNvPr id="54" name="Rectangle 53"/>
          <p:cNvSpPr/>
          <p:nvPr/>
        </p:nvSpPr>
        <p:spPr>
          <a:xfrm>
            <a:off x="1060450" y="4221163"/>
            <a:ext cx="2667000" cy="1190625"/>
          </a:xfrm>
          <a:prstGeom prst="rect">
            <a:avLst/>
          </a:prstGeom>
        </p:spPr>
        <p:txBody>
          <a:bodyPr>
            <a:spAutoFit/>
          </a:bodyPr>
          <a:lstStyle/>
          <a:p>
            <a:pPr fontAlgn="auto">
              <a:spcBef>
                <a:spcPts val="0"/>
              </a:spcBef>
              <a:spcAft>
                <a:spcPts val="0"/>
              </a:spcAft>
              <a:defRPr/>
            </a:pPr>
            <a:r>
              <a:rPr lang="en-US" b="1" i="1" dirty="0">
                <a:solidFill>
                  <a:schemeClr val="accent1">
                    <a:lumMod val="75000"/>
                  </a:schemeClr>
                </a:solidFill>
                <a:latin typeface="Candara" pitchFamily="34" charset="0"/>
                <a:ea typeface="+mn-ea"/>
              </a:rPr>
              <a:t>Hotel owners bear some of the burden as their price FALLS from $80 to $60.</a:t>
            </a:r>
          </a:p>
        </p:txBody>
      </p:sp>
      <p:sp>
        <p:nvSpPr>
          <p:cNvPr id="55" name="Rectangle 54"/>
          <p:cNvSpPr/>
          <p:nvPr/>
        </p:nvSpPr>
        <p:spPr>
          <a:xfrm>
            <a:off x="612775" y="692150"/>
            <a:ext cx="8459788" cy="396875"/>
          </a:xfrm>
          <a:prstGeom prst="rect">
            <a:avLst/>
          </a:prstGeom>
          <a:solidFill>
            <a:schemeClr val="accent3">
              <a:lumMod val="20000"/>
              <a:lumOff val="80000"/>
            </a:schemeClr>
          </a:solidFill>
        </p:spPr>
        <p:txBody>
          <a:bodyPr>
            <a:spAutoFit/>
          </a:bodyPr>
          <a:lstStyle/>
          <a:p>
            <a:pPr algn="ctr"/>
            <a:r>
              <a:rPr lang="en-US" sz="2000" b="1" i="1">
                <a:solidFill>
                  <a:srgbClr val="990033"/>
                </a:solidFill>
                <a:latin typeface="Candara" pitchFamily="34" charset="0"/>
              </a:rPr>
              <a:t>The incidence of an excise tax doesn’t depend on who officially pays the tax.</a:t>
            </a:r>
            <a:endParaRPr lang="en-US" sz="2000" b="1" i="1" u="sng">
              <a:solidFill>
                <a:srgbClr val="990033"/>
              </a:solidFill>
              <a:latin typeface="Candara" pitchFamily="34" charset="0"/>
            </a:endParaRPr>
          </a:p>
        </p:txBody>
      </p:sp>
      <p:cxnSp>
        <p:nvCxnSpPr>
          <p:cNvPr id="56" name="Straight Arrow Connector 55"/>
          <p:cNvCxnSpPr/>
          <p:nvPr/>
        </p:nvCxnSpPr>
        <p:spPr>
          <a:xfrm flipV="1">
            <a:off x="4921250" y="3240088"/>
            <a:ext cx="0" cy="48895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4921250" y="3849688"/>
            <a:ext cx="0" cy="407987"/>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1036"/>
                                        </p:tgtEl>
                                        <p:attrNameLst>
                                          <p:attrName>style.visibility</p:attrName>
                                        </p:attrNameLst>
                                      </p:cBhvr>
                                      <p:to>
                                        <p:strVal val="visible"/>
                                      </p:to>
                                    </p:set>
                                    <p:animEffect transition="in" filter="fade">
                                      <p:cBhvr>
                                        <p:cTn id="7" dur="500"/>
                                        <p:tgtEl>
                                          <p:spTgt spid="341036"/>
                                        </p:tgtEl>
                                      </p:cBhvr>
                                    </p:animEffect>
                                  </p:childTnLst>
                                </p:cTn>
                              </p:par>
                              <p:par>
                                <p:cTn id="8" presetID="42" presetClass="path" presetSubtype="0" accel="50000" decel="50000" fill="hold" grpId="1" nodeType="withEffect">
                                  <p:stCondLst>
                                    <p:cond delay="0"/>
                                  </p:stCondLst>
                                  <p:childTnLst>
                                    <p:animMotion origin="layout" path="M 0 -0.15 L 0 -2.22222E-6 " pathEditMode="relative" rAng="0" ptsTypes="AA">
                                      <p:cBhvr>
                                        <p:cTn id="9" dur="500" fill="hold"/>
                                        <p:tgtEl>
                                          <p:spTgt spid="341036"/>
                                        </p:tgtEl>
                                        <p:attrNameLst>
                                          <p:attrName>ppt_x</p:attrName>
                                          <p:attrName>ppt_y</p:attrName>
                                        </p:attrNameLst>
                                      </p:cBhvr>
                                      <p:rCtr x="0" y="7500"/>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41025"/>
                                        </p:tgtEl>
                                        <p:attrNameLst>
                                          <p:attrName>style.visibility</p:attrName>
                                        </p:attrNameLst>
                                      </p:cBhvr>
                                      <p:to>
                                        <p:strVal val="visible"/>
                                      </p:to>
                                    </p:set>
                                    <p:animEffect transition="in" filter="fade">
                                      <p:cBhvr>
                                        <p:cTn id="13" dur="500"/>
                                        <p:tgtEl>
                                          <p:spTgt spid="3410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1026"/>
                                        </p:tgtEl>
                                        <p:attrNameLst>
                                          <p:attrName>style.visibility</p:attrName>
                                        </p:attrNameLst>
                                      </p:cBhvr>
                                      <p:to>
                                        <p:strVal val="visible"/>
                                      </p:to>
                                    </p:set>
                                    <p:animEffect transition="in" filter="fade">
                                      <p:cBhvr>
                                        <p:cTn id="16" dur="500"/>
                                        <p:tgtEl>
                                          <p:spTgt spid="3410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1029"/>
                                        </p:tgtEl>
                                        <p:attrNameLst>
                                          <p:attrName>style.visibility</p:attrName>
                                        </p:attrNameLst>
                                      </p:cBhvr>
                                      <p:to>
                                        <p:strVal val="visible"/>
                                      </p:to>
                                    </p:set>
                                    <p:animEffect transition="in" filter="fade">
                                      <p:cBhvr>
                                        <p:cTn id="19" dur="500"/>
                                        <p:tgtEl>
                                          <p:spTgt spid="3410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1030"/>
                                        </p:tgtEl>
                                        <p:attrNameLst>
                                          <p:attrName>style.visibility</p:attrName>
                                        </p:attrNameLst>
                                      </p:cBhvr>
                                      <p:to>
                                        <p:strVal val="visible"/>
                                      </p:to>
                                    </p:set>
                                    <p:animEffect transition="in" filter="fade">
                                      <p:cBhvr>
                                        <p:cTn id="22" dur="500"/>
                                        <p:tgtEl>
                                          <p:spTgt spid="3410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1040"/>
                                        </p:tgtEl>
                                        <p:attrNameLst>
                                          <p:attrName>style.visibility</p:attrName>
                                        </p:attrNameLst>
                                      </p:cBhvr>
                                      <p:to>
                                        <p:strVal val="visible"/>
                                      </p:to>
                                    </p:set>
                                    <p:animEffect transition="in" filter="fade">
                                      <p:cBhvr>
                                        <p:cTn id="25" dur="500"/>
                                        <p:tgtEl>
                                          <p:spTgt spid="34104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1042"/>
                                        </p:tgtEl>
                                        <p:attrNameLst>
                                          <p:attrName>style.visibility</p:attrName>
                                        </p:attrNameLst>
                                      </p:cBhvr>
                                      <p:to>
                                        <p:strVal val="visible"/>
                                      </p:to>
                                    </p:set>
                                    <p:animEffect transition="in" filter="fade">
                                      <p:cBhvr>
                                        <p:cTn id="28" dur="500"/>
                                        <p:tgtEl>
                                          <p:spTgt spid="34104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1041"/>
                                        </p:tgtEl>
                                        <p:attrNameLst>
                                          <p:attrName>style.visibility</p:attrName>
                                        </p:attrNameLst>
                                      </p:cBhvr>
                                      <p:to>
                                        <p:strVal val="visible"/>
                                      </p:to>
                                    </p:set>
                                    <p:animEffect transition="in" filter="fade">
                                      <p:cBhvr>
                                        <p:cTn id="31" dur="500"/>
                                        <p:tgtEl>
                                          <p:spTgt spid="34104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par>
                                <p:cTn id="37" presetID="10"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1038"/>
                                        </p:tgtEl>
                                        <p:attrNameLst>
                                          <p:attrName>style.visibility</p:attrName>
                                        </p:attrNameLst>
                                      </p:cBhvr>
                                      <p:to>
                                        <p:strVal val="visible"/>
                                      </p:to>
                                    </p:set>
                                    <p:animEffect transition="in" filter="fade">
                                      <p:cBhvr>
                                        <p:cTn id="42" dur="500"/>
                                        <p:tgtEl>
                                          <p:spTgt spid="3410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1003"/>
                                        </p:tgtEl>
                                        <p:attrNameLst>
                                          <p:attrName>style.visibility</p:attrName>
                                        </p:attrNameLst>
                                      </p:cBhvr>
                                      <p:to>
                                        <p:strVal val="visible"/>
                                      </p:to>
                                    </p:set>
                                    <p:animEffect transition="in" filter="fade">
                                      <p:cBhvr>
                                        <p:cTn id="45" dur="500"/>
                                        <p:tgtEl>
                                          <p:spTgt spid="34100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500"/>
                                        <p:tgtEl>
                                          <p:spTgt spid="52"/>
                                        </p:tgtEl>
                                      </p:cBhvr>
                                    </p:animEffect>
                                  </p:childTnLst>
                                </p:cTn>
                              </p:par>
                              <p:par>
                                <p:cTn id="51" presetID="10" presetClass="entr" presetSubtype="0" fill="hold" nodeType="with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fade">
                                      <p:cBhvr>
                                        <p:cTn id="53" dur="500"/>
                                        <p:tgtEl>
                                          <p:spTgt spid="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10"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500"/>
                                        <p:tgtEl>
                                          <p:spTgt spid="53"/>
                                        </p:tgtEl>
                                      </p:cBhvr>
                                    </p:animEffect>
                                  </p:childTnLst>
                                </p:cTn>
                              </p:par>
                              <p:par>
                                <p:cTn id="67" presetID="10" presetClass="entr" presetSubtype="0" fill="hold" nodeType="with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500"/>
                                        <p:tgtEl>
                                          <p:spTgt spid="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41037"/>
                                        </p:tgtEl>
                                        <p:attrNameLst>
                                          <p:attrName>style.visibility</p:attrName>
                                        </p:attrNameLst>
                                      </p:cBhvr>
                                      <p:to>
                                        <p:strVal val="visible"/>
                                      </p:to>
                                    </p:set>
                                    <p:animEffect transition="in" filter="fade">
                                      <p:cBhvr>
                                        <p:cTn id="72" dur="500"/>
                                        <p:tgtEl>
                                          <p:spTgt spid="3410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1002"/>
                                        </p:tgtEl>
                                        <p:attrNameLst>
                                          <p:attrName>style.visibility</p:attrName>
                                        </p:attrNameLst>
                                      </p:cBhvr>
                                      <p:to>
                                        <p:strVal val="visible"/>
                                      </p:to>
                                    </p:set>
                                    <p:animEffect transition="in" filter="fade">
                                      <p:cBhvr>
                                        <p:cTn id="75" dur="500"/>
                                        <p:tgtEl>
                                          <p:spTgt spid="341002"/>
                                        </p:tgtEl>
                                      </p:cBhvr>
                                    </p:animEffect>
                                  </p:childTnLst>
                                </p:cTn>
                              </p:par>
                              <p:par>
                                <p:cTn id="76" presetID="10" presetClass="entr" presetSubtype="0" fill="hold" nodeType="withEffect">
                                  <p:stCondLst>
                                    <p:cond delay="0"/>
                                  </p:stCondLst>
                                  <p:childTnLst>
                                    <p:set>
                                      <p:cBhvr>
                                        <p:cTn id="77" dur="1" fill="hold">
                                          <p:stCondLst>
                                            <p:cond delay="0"/>
                                          </p:stCondLst>
                                        </p:cTn>
                                        <p:tgtEl>
                                          <p:spTgt spid="56"/>
                                        </p:tgtEl>
                                        <p:attrNameLst>
                                          <p:attrName>style.visibility</p:attrName>
                                        </p:attrNameLst>
                                      </p:cBhvr>
                                      <p:to>
                                        <p:strVal val="visible"/>
                                      </p:to>
                                    </p:set>
                                    <p:animEffect transition="in" filter="fade">
                                      <p:cBhvr>
                                        <p:cTn id="78" dur="500"/>
                                        <p:tgtEl>
                                          <p:spTgt spid="5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41031"/>
                                        </p:tgtEl>
                                        <p:attrNameLst>
                                          <p:attrName>style.visibility</p:attrName>
                                        </p:attrNameLst>
                                      </p:cBhvr>
                                      <p:to>
                                        <p:strVal val="visible"/>
                                      </p:to>
                                    </p:set>
                                    <p:animEffect transition="in" filter="fade">
                                      <p:cBhvr>
                                        <p:cTn id="83" dur="500"/>
                                        <p:tgtEl>
                                          <p:spTgt spid="341031"/>
                                        </p:tgtEl>
                                      </p:cBhvr>
                                    </p:animEffect>
                                  </p:childTnLst>
                                </p:cTn>
                              </p:par>
                            </p:childTnLst>
                          </p:cTn>
                        </p:par>
                        <p:par>
                          <p:cTn id="84" fill="hold">
                            <p:stCondLst>
                              <p:cond delay="500"/>
                            </p:stCondLst>
                            <p:childTnLst>
                              <p:par>
                                <p:cTn id="85" presetID="10" presetClass="entr" presetSubtype="0" fill="hold" grpId="0" nodeType="afterEffect">
                                  <p:stCondLst>
                                    <p:cond delay="0"/>
                                  </p:stCondLst>
                                  <p:childTnLst>
                                    <p:set>
                                      <p:cBhvr>
                                        <p:cTn id="86" dur="1" fill="hold">
                                          <p:stCondLst>
                                            <p:cond delay="0"/>
                                          </p:stCondLst>
                                        </p:cTn>
                                        <p:tgtEl>
                                          <p:spTgt spid="341033"/>
                                        </p:tgtEl>
                                        <p:attrNameLst>
                                          <p:attrName>style.visibility</p:attrName>
                                        </p:attrNameLst>
                                      </p:cBhvr>
                                      <p:to>
                                        <p:strVal val="visible"/>
                                      </p:to>
                                    </p:set>
                                    <p:animEffect transition="in" filter="fade">
                                      <p:cBhvr>
                                        <p:cTn id="87" dur="500"/>
                                        <p:tgtEl>
                                          <p:spTgt spid="3410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1032"/>
                                        </p:tgtEl>
                                        <p:attrNameLst>
                                          <p:attrName>style.visibility</p:attrName>
                                        </p:attrNameLst>
                                      </p:cBhvr>
                                      <p:to>
                                        <p:strVal val="visible"/>
                                      </p:to>
                                    </p:set>
                                    <p:animEffect transition="in" filter="fade">
                                      <p:cBhvr>
                                        <p:cTn id="90" dur="500"/>
                                        <p:tgtEl>
                                          <p:spTgt spid="3410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02" grpId="0"/>
      <p:bldP spid="341003" grpId="0"/>
      <p:bldP spid="341025" grpId="0"/>
      <p:bldP spid="341026" grpId="0"/>
      <p:bldP spid="341029" grpId="0" animBg="1"/>
      <p:bldP spid="341030" grpId="0" animBg="1"/>
      <p:bldP spid="341031" grpId="0" animBg="1"/>
      <p:bldP spid="341032" grpId="0" animBg="1"/>
      <p:bldP spid="341033" grpId="0"/>
      <p:bldP spid="341036" grpId="0" animBg="1"/>
      <p:bldP spid="341036" grpId="1" animBg="1"/>
      <p:bldP spid="341037" grpId="0" animBg="1"/>
      <p:bldP spid="341038" grpId="0" animBg="1"/>
      <p:bldP spid="341040" grpId="0" animBg="1"/>
      <p:bldP spid="341041" grpId="0" animBg="1"/>
      <p:bldP spid="341042" grpId="0"/>
      <p:bldP spid="5" grpId="0"/>
      <p:bldP spid="52" grpId="0"/>
      <p:bldP spid="53" grpId="0"/>
      <p:bldP spid="54" grpId="0"/>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bwMode="auto">
          <a:xfrm>
            <a:off x="1116013" y="0"/>
            <a:ext cx="6770687" cy="692150"/>
          </a:xfrm>
          <a:noFill/>
        </p:spPr>
        <p:txBody>
          <a:bodyPr/>
          <a:lstStyle/>
          <a:p>
            <a:r>
              <a:rPr lang="en-US" smtClean="0">
                <a:effectLst/>
              </a:rPr>
              <a:t>Active Learning Practice</a:t>
            </a:r>
          </a:p>
        </p:txBody>
      </p:sp>
      <p:sp>
        <p:nvSpPr>
          <p:cNvPr id="3" name="Content Placeholder 2"/>
          <p:cNvSpPr>
            <a:spLocks noGrp="1"/>
          </p:cNvSpPr>
          <p:nvPr>
            <p:ph idx="4294967295"/>
          </p:nvPr>
        </p:nvSpPr>
        <p:spPr>
          <a:xfrm>
            <a:off x="827088" y="1125538"/>
            <a:ext cx="2989262" cy="5054600"/>
          </a:xfrm>
        </p:spPr>
        <p:txBody>
          <a:bodyPr>
            <a:normAutofit/>
          </a:bodyPr>
          <a:lstStyle/>
          <a:p>
            <a:pPr marL="0" indent="0">
              <a:lnSpc>
                <a:spcPct val="80000"/>
              </a:lnSpc>
              <a:buFont typeface="Arial" charset="0"/>
              <a:buNone/>
            </a:pPr>
            <a:r>
              <a:rPr lang="en-US" sz="2000" smtClean="0"/>
              <a:t>If </a:t>
            </a:r>
            <a:r>
              <a:rPr lang="en-US" sz="2000" i="1" smtClean="0"/>
              <a:t>A</a:t>
            </a:r>
            <a:r>
              <a:rPr lang="en-US" sz="2000" smtClean="0"/>
              <a:t> is the buyer price and </a:t>
            </a:r>
            <a:r>
              <a:rPr lang="en-US" sz="2000" i="1" smtClean="0"/>
              <a:t>B</a:t>
            </a:r>
            <a:r>
              <a:rPr lang="en-US" sz="2000" smtClean="0"/>
              <a:t> the seller price, how large is the per-unit tax imposed on the graph?</a:t>
            </a:r>
          </a:p>
          <a:p>
            <a:pPr marL="0" indent="0">
              <a:lnSpc>
                <a:spcPct val="80000"/>
              </a:lnSpc>
            </a:pPr>
            <a:endParaRPr lang="en-US" sz="2000" smtClean="0"/>
          </a:p>
          <a:p>
            <a:pPr marL="0" indent="0">
              <a:lnSpc>
                <a:spcPct val="80000"/>
              </a:lnSpc>
              <a:buFont typeface="Calibri" pitchFamily="34" charset="0"/>
              <a:buAutoNum type="alphaLcParenR"/>
            </a:pPr>
            <a:r>
              <a:rPr lang="en-US" sz="2000" smtClean="0"/>
              <a:t>$5</a:t>
            </a:r>
          </a:p>
          <a:p>
            <a:pPr marL="0" indent="0">
              <a:lnSpc>
                <a:spcPct val="80000"/>
              </a:lnSpc>
              <a:buFont typeface="Calibri" pitchFamily="34" charset="0"/>
              <a:buAutoNum type="alphaLcParenR"/>
            </a:pPr>
            <a:r>
              <a:rPr lang="en-US" sz="2000" smtClean="0"/>
              <a:t>$10</a:t>
            </a:r>
          </a:p>
          <a:p>
            <a:pPr marL="0" indent="0">
              <a:lnSpc>
                <a:spcPct val="80000"/>
              </a:lnSpc>
              <a:buFont typeface="Calibri" pitchFamily="34" charset="0"/>
              <a:buAutoNum type="alphaLcParenR"/>
            </a:pPr>
            <a:r>
              <a:rPr lang="en-US" sz="2000" smtClean="0"/>
              <a:t>$15</a:t>
            </a:r>
          </a:p>
          <a:p>
            <a:pPr marL="0" indent="0">
              <a:lnSpc>
                <a:spcPct val="80000"/>
              </a:lnSpc>
              <a:buFont typeface="Calibri" pitchFamily="34" charset="0"/>
              <a:buAutoNum type="alphaLcParenR"/>
            </a:pPr>
            <a:r>
              <a:rPr lang="en-US" sz="2000" smtClean="0"/>
              <a:t>$50</a:t>
            </a:r>
          </a:p>
          <a:p>
            <a:pPr marL="0" indent="0">
              <a:lnSpc>
                <a:spcPct val="80000"/>
              </a:lnSpc>
              <a:buFont typeface="Calibri" pitchFamily="34" charset="0"/>
              <a:buAutoNum type="alphaLcParenR"/>
            </a:pPr>
            <a:r>
              <a:rPr lang="en-US" sz="2000" smtClean="0"/>
              <a:t>$1,000</a:t>
            </a:r>
          </a:p>
          <a:p>
            <a:pPr marL="0" indent="0">
              <a:lnSpc>
                <a:spcPct val="80000"/>
              </a:lnSpc>
            </a:pPr>
            <a:endParaRPr lang="en-US" sz="2000" smtClean="0"/>
          </a:p>
        </p:txBody>
      </p:sp>
      <p:cxnSp>
        <p:nvCxnSpPr>
          <p:cNvPr id="126981" name="Straight Connector 86"/>
          <p:cNvCxnSpPr>
            <a:cxnSpLocks noChangeShapeType="1"/>
          </p:cNvCxnSpPr>
          <p:nvPr/>
        </p:nvCxnSpPr>
        <p:spPr bwMode="auto">
          <a:xfrm>
            <a:off x="7054850" y="3797300"/>
            <a:ext cx="0" cy="1947863"/>
          </a:xfrm>
          <a:prstGeom prst="line">
            <a:avLst/>
          </a:prstGeom>
          <a:noFill/>
          <a:ln w="15875">
            <a:solidFill>
              <a:srgbClr val="808080"/>
            </a:solidFill>
            <a:prstDash val="sysDot"/>
            <a:round/>
            <a:headEnd/>
            <a:tailEnd type="none" w="med" len="lg"/>
          </a:ln>
        </p:spPr>
      </p:cxnSp>
      <p:cxnSp>
        <p:nvCxnSpPr>
          <p:cNvPr id="126982" name="Straight Connector 86"/>
          <p:cNvCxnSpPr>
            <a:cxnSpLocks noChangeShapeType="1"/>
          </p:cNvCxnSpPr>
          <p:nvPr/>
        </p:nvCxnSpPr>
        <p:spPr bwMode="auto">
          <a:xfrm>
            <a:off x="4805363" y="3768725"/>
            <a:ext cx="2190750" cy="3175"/>
          </a:xfrm>
          <a:prstGeom prst="line">
            <a:avLst/>
          </a:prstGeom>
          <a:noFill/>
          <a:ln w="15875">
            <a:solidFill>
              <a:srgbClr val="808080"/>
            </a:solidFill>
            <a:prstDash val="sysDot"/>
            <a:round/>
            <a:headEnd/>
            <a:tailEnd type="none" w="med" len="lg"/>
          </a:ln>
        </p:spPr>
      </p:cxnSp>
      <p:cxnSp>
        <p:nvCxnSpPr>
          <p:cNvPr id="126983" name="Straight Connector 86"/>
          <p:cNvCxnSpPr>
            <a:cxnSpLocks noChangeShapeType="1"/>
          </p:cNvCxnSpPr>
          <p:nvPr/>
        </p:nvCxnSpPr>
        <p:spPr bwMode="auto">
          <a:xfrm>
            <a:off x="5859463" y="3187700"/>
            <a:ext cx="0" cy="2557463"/>
          </a:xfrm>
          <a:prstGeom prst="line">
            <a:avLst/>
          </a:prstGeom>
          <a:noFill/>
          <a:ln w="15875">
            <a:solidFill>
              <a:srgbClr val="808080"/>
            </a:solidFill>
            <a:prstDash val="sysDot"/>
            <a:round/>
            <a:headEnd/>
            <a:tailEnd type="none" w="med" len="lg"/>
          </a:ln>
        </p:spPr>
      </p:cxnSp>
      <p:cxnSp>
        <p:nvCxnSpPr>
          <p:cNvPr id="126984" name="Straight Connector 86"/>
          <p:cNvCxnSpPr>
            <a:cxnSpLocks noChangeShapeType="1"/>
          </p:cNvCxnSpPr>
          <p:nvPr/>
        </p:nvCxnSpPr>
        <p:spPr bwMode="auto">
          <a:xfrm>
            <a:off x="4805363" y="4298950"/>
            <a:ext cx="1047750" cy="0"/>
          </a:xfrm>
          <a:prstGeom prst="line">
            <a:avLst/>
          </a:prstGeom>
          <a:noFill/>
          <a:ln w="15875">
            <a:solidFill>
              <a:srgbClr val="808080"/>
            </a:solidFill>
            <a:prstDash val="sysDot"/>
            <a:round/>
            <a:headEnd/>
            <a:tailEnd type="none" w="med" len="lg"/>
          </a:ln>
        </p:spPr>
      </p:cxnSp>
      <p:cxnSp>
        <p:nvCxnSpPr>
          <p:cNvPr id="126985" name="Straight Connector 86"/>
          <p:cNvCxnSpPr>
            <a:cxnSpLocks noChangeShapeType="1"/>
          </p:cNvCxnSpPr>
          <p:nvPr/>
        </p:nvCxnSpPr>
        <p:spPr bwMode="auto">
          <a:xfrm>
            <a:off x="4767263" y="3205163"/>
            <a:ext cx="1047750" cy="0"/>
          </a:xfrm>
          <a:prstGeom prst="line">
            <a:avLst/>
          </a:prstGeom>
          <a:noFill/>
          <a:ln w="15875">
            <a:solidFill>
              <a:srgbClr val="808080"/>
            </a:solidFill>
            <a:prstDash val="sysDot"/>
            <a:round/>
            <a:headEnd/>
            <a:tailEnd type="none" w="med" len="lg"/>
          </a:ln>
        </p:spPr>
      </p:cxnSp>
      <p:sp>
        <p:nvSpPr>
          <p:cNvPr id="126986" name="Rectangle 10"/>
          <p:cNvSpPr>
            <a:spLocks noChangeArrowheads="1"/>
          </p:cNvSpPr>
          <p:nvPr/>
        </p:nvSpPr>
        <p:spPr bwMode="auto">
          <a:xfrm>
            <a:off x="5899150" y="2916238"/>
            <a:ext cx="106363"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A</a:t>
            </a:r>
            <a:endParaRPr lang="en-US" sz="1400" i="1">
              <a:latin typeface="Candara" pitchFamily="34" charset="0"/>
            </a:endParaRPr>
          </a:p>
        </p:txBody>
      </p:sp>
      <p:sp>
        <p:nvSpPr>
          <p:cNvPr id="126987" name="Rectangle 11"/>
          <p:cNvSpPr>
            <a:spLocks noChangeArrowheads="1"/>
          </p:cNvSpPr>
          <p:nvPr/>
        </p:nvSpPr>
        <p:spPr bwMode="auto">
          <a:xfrm>
            <a:off x="5897563" y="4362450"/>
            <a:ext cx="96837"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B</a:t>
            </a:r>
            <a:endParaRPr lang="en-US" sz="1400" i="1">
              <a:latin typeface="Candara" pitchFamily="34" charset="0"/>
            </a:endParaRPr>
          </a:p>
        </p:txBody>
      </p:sp>
      <p:sp>
        <p:nvSpPr>
          <p:cNvPr id="126988" name="Line 12"/>
          <p:cNvSpPr>
            <a:spLocks noChangeShapeType="1"/>
          </p:cNvSpPr>
          <p:nvPr/>
        </p:nvSpPr>
        <p:spPr bwMode="auto">
          <a:xfrm>
            <a:off x="4672013" y="2124075"/>
            <a:ext cx="112712" cy="0"/>
          </a:xfrm>
          <a:prstGeom prst="line">
            <a:avLst/>
          </a:prstGeom>
          <a:noFill/>
          <a:ln w="7938">
            <a:solidFill>
              <a:srgbClr val="000000"/>
            </a:solidFill>
            <a:miter lim="800000"/>
            <a:headEnd/>
            <a:tailEnd/>
          </a:ln>
        </p:spPr>
        <p:txBody>
          <a:bodyPr/>
          <a:lstStyle/>
          <a:p>
            <a:endParaRPr lang="en-US"/>
          </a:p>
        </p:txBody>
      </p:sp>
      <p:sp>
        <p:nvSpPr>
          <p:cNvPr id="126989" name="Line 13"/>
          <p:cNvSpPr>
            <a:spLocks noChangeShapeType="1"/>
          </p:cNvSpPr>
          <p:nvPr/>
        </p:nvSpPr>
        <p:spPr bwMode="auto">
          <a:xfrm>
            <a:off x="4672013" y="3208338"/>
            <a:ext cx="112712" cy="0"/>
          </a:xfrm>
          <a:prstGeom prst="line">
            <a:avLst/>
          </a:prstGeom>
          <a:noFill/>
          <a:ln w="7938">
            <a:solidFill>
              <a:srgbClr val="000000"/>
            </a:solidFill>
            <a:miter lim="800000"/>
            <a:headEnd/>
            <a:tailEnd/>
          </a:ln>
        </p:spPr>
        <p:txBody>
          <a:bodyPr/>
          <a:lstStyle/>
          <a:p>
            <a:endParaRPr lang="en-US"/>
          </a:p>
        </p:txBody>
      </p:sp>
      <p:sp>
        <p:nvSpPr>
          <p:cNvPr id="126990" name="Line 14"/>
          <p:cNvSpPr>
            <a:spLocks noChangeShapeType="1"/>
          </p:cNvSpPr>
          <p:nvPr/>
        </p:nvSpPr>
        <p:spPr bwMode="auto">
          <a:xfrm>
            <a:off x="4672013" y="4286250"/>
            <a:ext cx="112712" cy="0"/>
          </a:xfrm>
          <a:prstGeom prst="line">
            <a:avLst/>
          </a:prstGeom>
          <a:noFill/>
          <a:ln w="7938">
            <a:solidFill>
              <a:srgbClr val="000000"/>
            </a:solidFill>
            <a:miter lim="800000"/>
            <a:headEnd/>
            <a:tailEnd/>
          </a:ln>
        </p:spPr>
        <p:txBody>
          <a:bodyPr/>
          <a:lstStyle/>
          <a:p>
            <a:endParaRPr lang="en-US"/>
          </a:p>
        </p:txBody>
      </p:sp>
      <p:sp>
        <p:nvSpPr>
          <p:cNvPr id="126991" name="Line 15"/>
          <p:cNvSpPr>
            <a:spLocks noChangeShapeType="1"/>
          </p:cNvSpPr>
          <p:nvPr/>
        </p:nvSpPr>
        <p:spPr bwMode="auto">
          <a:xfrm>
            <a:off x="4672013" y="5372100"/>
            <a:ext cx="112712" cy="0"/>
          </a:xfrm>
          <a:prstGeom prst="line">
            <a:avLst/>
          </a:prstGeom>
          <a:noFill/>
          <a:ln w="7938">
            <a:solidFill>
              <a:srgbClr val="000000"/>
            </a:solidFill>
            <a:miter lim="800000"/>
            <a:headEnd/>
            <a:tailEnd/>
          </a:ln>
        </p:spPr>
        <p:txBody>
          <a:bodyPr/>
          <a:lstStyle/>
          <a:p>
            <a:endParaRPr lang="en-US"/>
          </a:p>
        </p:txBody>
      </p:sp>
      <p:sp>
        <p:nvSpPr>
          <p:cNvPr id="126992" name="Line 16"/>
          <p:cNvSpPr>
            <a:spLocks noChangeShapeType="1"/>
          </p:cNvSpPr>
          <p:nvPr/>
        </p:nvSpPr>
        <p:spPr bwMode="auto">
          <a:xfrm>
            <a:off x="5859463" y="5768975"/>
            <a:ext cx="0" cy="144463"/>
          </a:xfrm>
          <a:prstGeom prst="line">
            <a:avLst/>
          </a:prstGeom>
          <a:noFill/>
          <a:ln w="7938">
            <a:solidFill>
              <a:srgbClr val="000000"/>
            </a:solidFill>
            <a:miter lim="800000"/>
            <a:headEnd/>
            <a:tailEnd/>
          </a:ln>
        </p:spPr>
        <p:txBody>
          <a:bodyPr/>
          <a:lstStyle/>
          <a:p>
            <a:endParaRPr lang="en-US"/>
          </a:p>
        </p:txBody>
      </p:sp>
      <p:sp>
        <p:nvSpPr>
          <p:cNvPr id="126993" name="Line 17"/>
          <p:cNvSpPr>
            <a:spLocks noChangeShapeType="1"/>
          </p:cNvSpPr>
          <p:nvPr/>
        </p:nvSpPr>
        <p:spPr bwMode="auto">
          <a:xfrm>
            <a:off x="7043738" y="5768975"/>
            <a:ext cx="0" cy="144463"/>
          </a:xfrm>
          <a:prstGeom prst="line">
            <a:avLst/>
          </a:prstGeom>
          <a:noFill/>
          <a:ln w="7938">
            <a:solidFill>
              <a:srgbClr val="000000"/>
            </a:solidFill>
            <a:miter lim="800000"/>
            <a:headEnd/>
            <a:tailEnd/>
          </a:ln>
        </p:spPr>
        <p:txBody>
          <a:bodyPr/>
          <a:lstStyle/>
          <a:p>
            <a:endParaRPr lang="en-US"/>
          </a:p>
        </p:txBody>
      </p:sp>
      <p:sp>
        <p:nvSpPr>
          <p:cNvPr id="126994" name="Line 18"/>
          <p:cNvSpPr>
            <a:spLocks noChangeShapeType="1"/>
          </p:cNvSpPr>
          <p:nvPr/>
        </p:nvSpPr>
        <p:spPr bwMode="auto">
          <a:xfrm>
            <a:off x="8235950" y="5768975"/>
            <a:ext cx="0" cy="144463"/>
          </a:xfrm>
          <a:prstGeom prst="line">
            <a:avLst/>
          </a:prstGeom>
          <a:noFill/>
          <a:ln w="7938">
            <a:solidFill>
              <a:srgbClr val="000000"/>
            </a:solidFill>
            <a:miter lim="800000"/>
            <a:headEnd/>
            <a:tailEnd/>
          </a:ln>
        </p:spPr>
        <p:txBody>
          <a:bodyPr/>
          <a:lstStyle/>
          <a:p>
            <a:endParaRPr lang="en-US"/>
          </a:p>
        </p:txBody>
      </p:sp>
      <p:sp>
        <p:nvSpPr>
          <p:cNvPr id="126995" name="Rectangle 19"/>
          <p:cNvSpPr>
            <a:spLocks noChangeArrowheads="1"/>
          </p:cNvSpPr>
          <p:nvPr/>
        </p:nvSpPr>
        <p:spPr bwMode="auto">
          <a:xfrm>
            <a:off x="4503738" y="5956300"/>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0</a:t>
            </a:r>
            <a:endParaRPr lang="en-US" sz="1400">
              <a:latin typeface="Candara" pitchFamily="34" charset="0"/>
            </a:endParaRPr>
          </a:p>
        </p:txBody>
      </p:sp>
      <p:sp>
        <p:nvSpPr>
          <p:cNvPr id="126996" name="Rectangle 20"/>
          <p:cNvSpPr>
            <a:spLocks noChangeArrowheads="1"/>
          </p:cNvSpPr>
          <p:nvPr/>
        </p:nvSpPr>
        <p:spPr bwMode="auto">
          <a:xfrm>
            <a:off x="5668963" y="5956300"/>
            <a:ext cx="25876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100</a:t>
            </a:r>
            <a:endParaRPr lang="en-US" sz="1400">
              <a:latin typeface="Candara" pitchFamily="34" charset="0"/>
            </a:endParaRPr>
          </a:p>
        </p:txBody>
      </p:sp>
      <p:sp>
        <p:nvSpPr>
          <p:cNvPr id="126997" name="Rectangle 21"/>
          <p:cNvSpPr>
            <a:spLocks noChangeArrowheads="1"/>
          </p:cNvSpPr>
          <p:nvPr/>
        </p:nvSpPr>
        <p:spPr bwMode="auto">
          <a:xfrm>
            <a:off x="6811963" y="5956300"/>
            <a:ext cx="2794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200</a:t>
            </a:r>
            <a:endParaRPr lang="en-US" sz="1400">
              <a:latin typeface="Candara" pitchFamily="34" charset="0"/>
            </a:endParaRPr>
          </a:p>
        </p:txBody>
      </p:sp>
      <p:sp>
        <p:nvSpPr>
          <p:cNvPr id="126998" name="Rectangle 22"/>
          <p:cNvSpPr>
            <a:spLocks noChangeArrowheads="1"/>
          </p:cNvSpPr>
          <p:nvPr/>
        </p:nvSpPr>
        <p:spPr bwMode="auto">
          <a:xfrm>
            <a:off x="7997825" y="5956300"/>
            <a:ext cx="2825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300</a:t>
            </a:r>
            <a:endParaRPr lang="en-US" sz="1400">
              <a:latin typeface="Candara" pitchFamily="34" charset="0"/>
            </a:endParaRPr>
          </a:p>
        </p:txBody>
      </p:sp>
      <p:sp>
        <p:nvSpPr>
          <p:cNvPr id="126999" name="Rectangle 23"/>
          <p:cNvSpPr>
            <a:spLocks noChangeArrowheads="1"/>
          </p:cNvSpPr>
          <p:nvPr/>
        </p:nvSpPr>
        <p:spPr bwMode="auto">
          <a:xfrm>
            <a:off x="4251325" y="2008188"/>
            <a:ext cx="252413"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$35</a:t>
            </a:r>
            <a:endParaRPr lang="en-US" sz="1400">
              <a:latin typeface="Candara" pitchFamily="34" charset="0"/>
            </a:endParaRPr>
          </a:p>
        </p:txBody>
      </p:sp>
      <p:sp>
        <p:nvSpPr>
          <p:cNvPr id="127000" name="Rectangle 24"/>
          <p:cNvSpPr>
            <a:spLocks noChangeArrowheads="1"/>
          </p:cNvSpPr>
          <p:nvPr/>
        </p:nvSpPr>
        <p:spPr bwMode="auto">
          <a:xfrm>
            <a:off x="4335463" y="2547938"/>
            <a:ext cx="1841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30</a:t>
            </a:r>
            <a:endParaRPr lang="en-US" sz="1400">
              <a:latin typeface="Candara" pitchFamily="34" charset="0"/>
            </a:endParaRPr>
          </a:p>
        </p:txBody>
      </p:sp>
      <p:sp>
        <p:nvSpPr>
          <p:cNvPr id="127001" name="Rectangle 25"/>
          <p:cNvSpPr>
            <a:spLocks noChangeArrowheads="1"/>
          </p:cNvSpPr>
          <p:nvPr/>
        </p:nvSpPr>
        <p:spPr bwMode="auto">
          <a:xfrm>
            <a:off x="4335463" y="3086100"/>
            <a:ext cx="16986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25</a:t>
            </a:r>
            <a:endParaRPr lang="en-US" sz="1400">
              <a:latin typeface="Candara" pitchFamily="34" charset="0"/>
            </a:endParaRPr>
          </a:p>
        </p:txBody>
      </p:sp>
      <p:sp>
        <p:nvSpPr>
          <p:cNvPr id="127002" name="Rectangle 26"/>
          <p:cNvSpPr>
            <a:spLocks noChangeArrowheads="1"/>
          </p:cNvSpPr>
          <p:nvPr/>
        </p:nvSpPr>
        <p:spPr bwMode="auto">
          <a:xfrm>
            <a:off x="4387850" y="3627438"/>
            <a:ext cx="18097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20</a:t>
            </a:r>
            <a:endParaRPr lang="en-US" sz="1400">
              <a:latin typeface="Candara" pitchFamily="34" charset="0"/>
            </a:endParaRPr>
          </a:p>
        </p:txBody>
      </p:sp>
      <p:sp>
        <p:nvSpPr>
          <p:cNvPr id="127003" name="Rectangle 27"/>
          <p:cNvSpPr>
            <a:spLocks noChangeArrowheads="1"/>
          </p:cNvSpPr>
          <p:nvPr/>
        </p:nvSpPr>
        <p:spPr bwMode="auto">
          <a:xfrm>
            <a:off x="4419600" y="4170363"/>
            <a:ext cx="1492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15</a:t>
            </a:r>
            <a:endParaRPr lang="en-US" sz="1400">
              <a:latin typeface="Candara" pitchFamily="34" charset="0"/>
            </a:endParaRPr>
          </a:p>
        </p:txBody>
      </p:sp>
      <p:sp>
        <p:nvSpPr>
          <p:cNvPr id="127004" name="Rectangle 28"/>
          <p:cNvSpPr>
            <a:spLocks noChangeArrowheads="1"/>
          </p:cNvSpPr>
          <p:nvPr/>
        </p:nvSpPr>
        <p:spPr bwMode="auto">
          <a:xfrm>
            <a:off x="4419600" y="4705350"/>
            <a:ext cx="160338"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10</a:t>
            </a:r>
            <a:endParaRPr lang="en-US" sz="1400">
              <a:latin typeface="Candara" pitchFamily="34" charset="0"/>
            </a:endParaRPr>
          </a:p>
        </p:txBody>
      </p:sp>
      <p:sp>
        <p:nvSpPr>
          <p:cNvPr id="127005" name="Rectangle 29"/>
          <p:cNvSpPr>
            <a:spLocks noChangeArrowheads="1"/>
          </p:cNvSpPr>
          <p:nvPr/>
        </p:nvSpPr>
        <p:spPr bwMode="auto">
          <a:xfrm>
            <a:off x="4451350" y="5246688"/>
            <a:ext cx="87313"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Candara" pitchFamily="34" charset="0"/>
              </a:rPr>
              <a:t>5</a:t>
            </a:r>
            <a:endParaRPr lang="en-US" sz="1400">
              <a:latin typeface="Candara" pitchFamily="34" charset="0"/>
            </a:endParaRPr>
          </a:p>
        </p:txBody>
      </p:sp>
      <p:sp>
        <p:nvSpPr>
          <p:cNvPr id="127006" name="Rectangle 31"/>
          <p:cNvSpPr>
            <a:spLocks noChangeArrowheads="1"/>
          </p:cNvSpPr>
          <p:nvPr/>
        </p:nvSpPr>
        <p:spPr bwMode="auto">
          <a:xfrm>
            <a:off x="7018338" y="3417888"/>
            <a:ext cx="857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E</a:t>
            </a:r>
            <a:endParaRPr lang="en-US" sz="1400" i="1">
              <a:latin typeface="Candara" pitchFamily="34" charset="0"/>
            </a:endParaRPr>
          </a:p>
        </p:txBody>
      </p:sp>
      <p:sp>
        <p:nvSpPr>
          <p:cNvPr id="127007" name="Rectangle 32"/>
          <p:cNvSpPr>
            <a:spLocks noChangeArrowheads="1"/>
          </p:cNvSpPr>
          <p:nvPr/>
        </p:nvSpPr>
        <p:spPr bwMode="auto">
          <a:xfrm>
            <a:off x="8278813" y="2984500"/>
            <a:ext cx="8731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S</a:t>
            </a:r>
            <a:endParaRPr lang="en-US" sz="1400" i="1">
              <a:latin typeface="Candara" pitchFamily="34" charset="0"/>
            </a:endParaRPr>
          </a:p>
        </p:txBody>
      </p:sp>
      <p:sp>
        <p:nvSpPr>
          <p:cNvPr id="127008" name="Rectangle 35"/>
          <p:cNvSpPr>
            <a:spLocks noChangeArrowheads="1"/>
          </p:cNvSpPr>
          <p:nvPr/>
        </p:nvSpPr>
        <p:spPr bwMode="auto">
          <a:xfrm>
            <a:off x="8264525" y="4227513"/>
            <a:ext cx="144463"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Candara" pitchFamily="34" charset="0"/>
              </a:rPr>
              <a:t>D</a:t>
            </a:r>
            <a:r>
              <a:rPr lang="en-US" sz="1400" baseline="-25000">
                <a:solidFill>
                  <a:srgbClr val="000000"/>
                </a:solidFill>
                <a:latin typeface="Candara" pitchFamily="34" charset="0"/>
              </a:rPr>
              <a:t>1</a:t>
            </a:r>
            <a:endParaRPr lang="en-US" sz="1400" i="1" baseline="-25000">
              <a:latin typeface="Candara" pitchFamily="34" charset="0"/>
            </a:endParaRPr>
          </a:p>
        </p:txBody>
      </p:sp>
      <p:sp>
        <p:nvSpPr>
          <p:cNvPr id="127009" name="Line 42"/>
          <p:cNvSpPr>
            <a:spLocks noChangeShapeType="1"/>
          </p:cNvSpPr>
          <p:nvPr/>
        </p:nvSpPr>
        <p:spPr bwMode="auto">
          <a:xfrm>
            <a:off x="4657725" y="2644775"/>
            <a:ext cx="3578225" cy="1662113"/>
          </a:xfrm>
          <a:prstGeom prst="line">
            <a:avLst/>
          </a:prstGeom>
          <a:noFill/>
          <a:ln w="30163">
            <a:solidFill>
              <a:srgbClr val="3C5DAA"/>
            </a:solidFill>
            <a:miter lim="800000"/>
            <a:headEnd/>
            <a:tailEnd/>
          </a:ln>
        </p:spPr>
        <p:txBody>
          <a:bodyPr/>
          <a:lstStyle/>
          <a:p>
            <a:endParaRPr lang="en-US"/>
          </a:p>
        </p:txBody>
      </p:sp>
      <p:sp>
        <p:nvSpPr>
          <p:cNvPr id="127010" name="Line 43"/>
          <p:cNvSpPr>
            <a:spLocks noChangeShapeType="1"/>
          </p:cNvSpPr>
          <p:nvPr/>
        </p:nvSpPr>
        <p:spPr bwMode="auto">
          <a:xfrm flipH="1">
            <a:off x="4657725" y="3216275"/>
            <a:ext cx="3578225" cy="1646238"/>
          </a:xfrm>
          <a:prstGeom prst="line">
            <a:avLst/>
          </a:prstGeom>
          <a:noFill/>
          <a:ln w="30163">
            <a:solidFill>
              <a:srgbClr val="EE313C"/>
            </a:solidFill>
            <a:miter lim="800000"/>
            <a:headEnd/>
            <a:tailEnd/>
          </a:ln>
        </p:spPr>
        <p:txBody>
          <a:bodyPr/>
          <a:lstStyle/>
          <a:p>
            <a:endParaRPr lang="en-US"/>
          </a:p>
        </p:txBody>
      </p:sp>
      <p:sp>
        <p:nvSpPr>
          <p:cNvPr id="127011" name="Oval 45"/>
          <p:cNvSpPr>
            <a:spLocks noChangeArrowheads="1"/>
          </p:cNvSpPr>
          <p:nvPr/>
        </p:nvSpPr>
        <p:spPr bwMode="auto">
          <a:xfrm>
            <a:off x="5818188" y="3154363"/>
            <a:ext cx="92075" cy="92075"/>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127012" name="Oval 46"/>
          <p:cNvSpPr>
            <a:spLocks noChangeArrowheads="1"/>
          </p:cNvSpPr>
          <p:nvPr/>
        </p:nvSpPr>
        <p:spPr bwMode="auto">
          <a:xfrm>
            <a:off x="5826125" y="4249738"/>
            <a:ext cx="92075" cy="90487"/>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127013" name="Oval 47"/>
          <p:cNvSpPr>
            <a:spLocks noChangeArrowheads="1"/>
          </p:cNvSpPr>
          <p:nvPr/>
        </p:nvSpPr>
        <p:spPr bwMode="auto">
          <a:xfrm>
            <a:off x="7010400" y="3705225"/>
            <a:ext cx="93663" cy="90488"/>
          </a:xfrm>
          <a:prstGeom prst="ellipse">
            <a:avLst/>
          </a:prstGeom>
          <a:solidFill>
            <a:srgbClr val="000000"/>
          </a:solidFill>
          <a:ln w="9525">
            <a:noFill/>
            <a:round/>
            <a:headEnd/>
            <a:tailEnd/>
          </a:ln>
        </p:spPr>
        <p:txBody>
          <a:bodyPr/>
          <a:lstStyle/>
          <a:p>
            <a:endParaRPr lang="en-US">
              <a:latin typeface="Candara" pitchFamily="34" charset="0"/>
            </a:endParaRPr>
          </a:p>
        </p:txBody>
      </p:sp>
      <p:sp>
        <p:nvSpPr>
          <p:cNvPr id="127014" name="Freeform 51"/>
          <p:cNvSpPr>
            <a:spLocks/>
          </p:cNvSpPr>
          <p:nvPr/>
        </p:nvSpPr>
        <p:spPr bwMode="auto">
          <a:xfrm>
            <a:off x="4672013" y="1368425"/>
            <a:ext cx="4089400" cy="4545013"/>
          </a:xfrm>
          <a:custGeom>
            <a:avLst/>
            <a:gdLst>
              <a:gd name="T0" fmla="*/ 4089400 w 2060"/>
              <a:gd name="T1" fmla="*/ 4545012 h 1791"/>
              <a:gd name="T2" fmla="*/ 0 w 2060"/>
              <a:gd name="T3" fmla="*/ 4545012 h 1791"/>
              <a:gd name="T4" fmla="*/ 0 w 2060"/>
              <a:gd name="T5" fmla="*/ 0 h 1791"/>
              <a:gd name="T6" fmla="*/ 0 60000 65536"/>
              <a:gd name="T7" fmla="*/ 0 60000 65536"/>
              <a:gd name="T8" fmla="*/ 0 60000 65536"/>
              <a:gd name="T9" fmla="*/ 0 w 2060"/>
              <a:gd name="T10" fmla="*/ 0 h 1791"/>
              <a:gd name="T11" fmla="*/ 2060 w 2060"/>
              <a:gd name="T12" fmla="*/ 1791 h 1791"/>
            </a:gdLst>
            <a:ahLst/>
            <a:cxnLst>
              <a:cxn ang="T6">
                <a:pos x="T0" y="T1"/>
              </a:cxn>
              <a:cxn ang="T7">
                <a:pos x="T2" y="T3"/>
              </a:cxn>
              <a:cxn ang="T8">
                <a:pos x="T4" y="T5"/>
              </a:cxn>
            </a:cxnLst>
            <a:rect l="T9" t="T10" r="T11" b="T12"/>
            <a:pathLst>
              <a:path w="2060" h="1791">
                <a:moveTo>
                  <a:pt x="2060" y="1791"/>
                </a:moveTo>
                <a:lnTo>
                  <a:pt x="0" y="1791"/>
                </a:lnTo>
                <a:lnTo>
                  <a:pt x="0" y="0"/>
                </a:lnTo>
              </a:path>
            </a:pathLst>
          </a:custGeom>
          <a:noFill/>
          <a:ln w="7938" cap="flat">
            <a:solidFill>
              <a:srgbClr val="000000"/>
            </a:solidFill>
            <a:prstDash val="solid"/>
            <a:miter lim="800000"/>
            <a:headEnd/>
            <a:tailEnd/>
          </a:ln>
        </p:spPr>
        <p:txBody>
          <a:bodyPr/>
          <a:lstStyle/>
          <a:p>
            <a:endParaRPr lang="en-US"/>
          </a:p>
        </p:txBody>
      </p:sp>
      <p:sp>
        <p:nvSpPr>
          <p:cNvPr id="127015" name="Rectangle 52"/>
          <p:cNvSpPr>
            <a:spLocks noChangeArrowheads="1"/>
          </p:cNvSpPr>
          <p:nvPr/>
        </p:nvSpPr>
        <p:spPr bwMode="auto">
          <a:xfrm>
            <a:off x="4176713" y="1219200"/>
            <a:ext cx="927100" cy="21272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Price</a:t>
            </a:r>
            <a:endParaRPr lang="en-US" sz="1400">
              <a:latin typeface="Candara" pitchFamily="34" charset="0"/>
            </a:endParaRPr>
          </a:p>
        </p:txBody>
      </p:sp>
      <p:sp>
        <p:nvSpPr>
          <p:cNvPr id="127016" name="Rectangle 30"/>
          <p:cNvSpPr>
            <a:spLocks noChangeArrowheads="1"/>
          </p:cNvSpPr>
          <p:nvPr/>
        </p:nvSpPr>
        <p:spPr bwMode="auto">
          <a:xfrm>
            <a:off x="7372350" y="6413500"/>
            <a:ext cx="1008063" cy="21272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Candara" pitchFamily="34" charset="0"/>
              </a:rPr>
              <a:t>Quantity</a:t>
            </a:r>
            <a:endParaRPr lang="en-US" sz="1400">
              <a:latin typeface="Candar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3">
                                            <p:txEl>
                                              <p:pRg st="3" end="3"/>
                                            </p:txEl>
                                          </p:spTgt>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body" idx="4294967295"/>
          </p:nvPr>
        </p:nvSpPr>
        <p:spPr>
          <a:xfrm>
            <a:off x="971550" y="981075"/>
            <a:ext cx="7921625" cy="5191125"/>
          </a:xfrm>
        </p:spPr>
        <p:txBody>
          <a:bodyPr/>
          <a:lstStyle/>
          <a:p>
            <a:pPr marL="231775" indent="-225425">
              <a:lnSpc>
                <a:spcPct val="90000"/>
              </a:lnSpc>
            </a:pPr>
            <a:r>
              <a:rPr lang="en-US" smtClean="0"/>
              <a:t>The </a:t>
            </a:r>
            <a:r>
              <a:rPr lang="en-US" b="1" smtClean="0"/>
              <a:t>incidence </a:t>
            </a:r>
            <a:r>
              <a:rPr lang="en-US" smtClean="0"/>
              <a:t>of a tax is a measure of who really pays it.</a:t>
            </a:r>
          </a:p>
          <a:p>
            <a:pPr marL="231775" indent="-225425">
              <a:lnSpc>
                <a:spcPct val="90000"/>
              </a:lnSpc>
            </a:pPr>
            <a:endParaRPr lang="en-US" smtClean="0"/>
          </a:p>
          <a:p>
            <a:pPr marL="231775" indent="-225425">
              <a:lnSpc>
                <a:spcPct val="90000"/>
              </a:lnSpc>
            </a:pPr>
            <a:r>
              <a:rPr lang="en-US" smtClean="0"/>
              <a:t>Who really bears the tax burden (in the form of higher prices to consumers and lower prices to sellers) does not depend on who officially pays the tax. Depending on the shapes of supply and demand curves, the incidence of an excise tax may be divided differently.</a:t>
            </a:r>
          </a:p>
          <a:p>
            <a:pPr marL="231775" indent="-225425">
              <a:lnSpc>
                <a:spcPct val="90000"/>
              </a:lnSpc>
            </a:pPr>
            <a:endParaRPr lang="en-US" smtClean="0"/>
          </a:p>
          <a:p>
            <a:pPr marL="231775" indent="-225425">
              <a:lnSpc>
                <a:spcPct val="90000"/>
              </a:lnSpc>
            </a:pPr>
            <a:r>
              <a:rPr lang="en-US" smtClean="0"/>
              <a:t>The wedge between the demand price and supply price becomes the government’s </a:t>
            </a:r>
            <a:r>
              <a:rPr lang="en-US" b="1" smtClean="0"/>
              <a:t>tax revenue</a:t>
            </a:r>
            <a:r>
              <a:rPr lang="en-US" smtClean="0"/>
              <a:t>.</a:t>
            </a:r>
          </a:p>
          <a:p>
            <a:pPr marL="231775" indent="-225425">
              <a:lnSpc>
                <a:spcPct val="80000"/>
              </a:lnSpc>
              <a:buFont typeface="Wingdings" pitchFamily="2" charset="2"/>
              <a:buNone/>
            </a:pPr>
            <a:endParaRPr lang="en-US" smtClean="0"/>
          </a:p>
        </p:txBody>
      </p:sp>
      <p:sp>
        <p:nvSpPr>
          <p:cNvPr id="371715" name="Rectangle 3"/>
          <p:cNvSpPr>
            <a:spLocks noGrp="1" noRot="1" noChangeArrowheads="1"/>
          </p:cNvSpPr>
          <p:nvPr>
            <p:ph type="title" idx="4294967295"/>
          </p:nvPr>
        </p:nvSpPr>
        <p:spPr>
          <a:xfrm>
            <a:off x="971550" y="60325"/>
            <a:ext cx="7993063" cy="555625"/>
          </a:xfrm>
        </p:spPr>
        <p:txBody>
          <a:bodyPr/>
          <a:lstStyle/>
          <a:p>
            <a:pPr>
              <a:defRPr/>
            </a:pPr>
            <a:r>
              <a:rPr lang="en-US" smtClean="0"/>
              <a:t>Tax Incidence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1714">
                                            <p:txEl>
                                              <p:pRg st="0" end="0"/>
                                            </p:txEl>
                                          </p:spTgt>
                                        </p:tgtEl>
                                        <p:attrNameLst>
                                          <p:attrName>style.visibility</p:attrName>
                                        </p:attrNameLst>
                                      </p:cBhvr>
                                      <p:to>
                                        <p:strVal val="visible"/>
                                      </p:to>
                                    </p:set>
                                    <p:animEffect transition="in" filter="fade">
                                      <p:cBhvr>
                                        <p:cTn id="7" dur="500"/>
                                        <p:tgtEl>
                                          <p:spTgt spid="3717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1714">
                                            <p:txEl>
                                              <p:pRg st="2" end="2"/>
                                            </p:txEl>
                                          </p:spTgt>
                                        </p:tgtEl>
                                        <p:attrNameLst>
                                          <p:attrName>style.visibility</p:attrName>
                                        </p:attrNameLst>
                                      </p:cBhvr>
                                      <p:to>
                                        <p:strVal val="visible"/>
                                      </p:to>
                                    </p:set>
                                    <p:animEffect transition="in" filter="fade">
                                      <p:cBhvr>
                                        <p:cTn id="12" dur="500"/>
                                        <p:tgtEl>
                                          <p:spTgt spid="3717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1714">
                                            <p:txEl>
                                              <p:pRg st="4" end="4"/>
                                            </p:txEl>
                                          </p:spTgt>
                                        </p:tgtEl>
                                        <p:attrNameLst>
                                          <p:attrName>style.visibility</p:attrName>
                                        </p:attrNameLst>
                                      </p:cBhvr>
                                      <p:to>
                                        <p:strVal val="visible"/>
                                      </p:to>
                                    </p:set>
                                    <p:animEffect transition="in" filter="fade">
                                      <p:cBhvr>
                                        <p:cTn id="17" dur="500"/>
                                        <p:tgtEl>
                                          <p:spTgt spid="3717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rrowheads="1"/>
          </p:cNvSpPr>
          <p:nvPr>
            <p:ph type="title" idx="4294967295"/>
          </p:nvPr>
        </p:nvSpPr>
        <p:spPr>
          <a:xfrm>
            <a:off x="922338" y="12700"/>
            <a:ext cx="8042275" cy="555625"/>
          </a:xfrm>
        </p:spPr>
        <p:txBody>
          <a:bodyPr/>
          <a:lstStyle/>
          <a:p>
            <a:pPr>
              <a:defRPr/>
            </a:pPr>
            <a:r>
              <a:rPr lang="en-US" dirty="0" smtClean="0"/>
              <a:t>An Excise Tax Paid Mainly By Consumers</a:t>
            </a:r>
          </a:p>
        </p:txBody>
      </p:sp>
      <p:sp>
        <p:nvSpPr>
          <p:cNvPr id="41986" name="AutoShape 5"/>
          <p:cNvSpPr>
            <a:spLocks noChangeAspect="1" noChangeArrowheads="1" noTextEdit="1"/>
          </p:cNvSpPr>
          <p:nvPr/>
        </p:nvSpPr>
        <p:spPr bwMode="auto">
          <a:xfrm>
            <a:off x="792163" y="1244600"/>
            <a:ext cx="6656387" cy="5078413"/>
          </a:xfrm>
          <a:prstGeom prst="rect">
            <a:avLst/>
          </a:prstGeom>
          <a:noFill/>
          <a:ln w="9525">
            <a:noFill/>
            <a:miter lim="800000"/>
            <a:headEnd/>
            <a:tailEnd/>
          </a:ln>
        </p:spPr>
        <p:txBody>
          <a:bodyPr/>
          <a:lstStyle/>
          <a:p>
            <a:endParaRPr lang="en-US"/>
          </a:p>
        </p:txBody>
      </p:sp>
      <p:sp>
        <p:nvSpPr>
          <p:cNvPr id="41987" name="Rectangle 7"/>
          <p:cNvSpPr>
            <a:spLocks noChangeArrowheads="1"/>
          </p:cNvSpPr>
          <p:nvPr/>
        </p:nvSpPr>
        <p:spPr bwMode="auto">
          <a:xfrm>
            <a:off x="5549900" y="5245100"/>
            <a:ext cx="128588"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41988" name="Rectangle 8"/>
          <p:cNvSpPr>
            <a:spLocks noChangeArrowheads="1"/>
          </p:cNvSpPr>
          <p:nvPr/>
        </p:nvSpPr>
        <p:spPr bwMode="auto">
          <a:xfrm>
            <a:off x="6719888" y="3825875"/>
            <a:ext cx="1190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41989" name="Line 9"/>
          <p:cNvSpPr>
            <a:spLocks noChangeShapeType="1"/>
          </p:cNvSpPr>
          <p:nvPr/>
        </p:nvSpPr>
        <p:spPr bwMode="auto">
          <a:xfrm>
            <a:off x="2781300" y="2503488"/>
            <a:ext cx="149225" cy="0"/>
          </a:xfrm>
          <a:prstGeom prst="line">
            <a:avLst/>
          </a:prstGeom>
          <a:noFill/>
          <a:ln w="9525">
            <a:solidFill>
              <a:srgbClr val="000000"/>
            </a:solidFill>
            <a:miter lim="800000"/>
            <a:headEnd/>
            <a:tailEnd/>
          </a:ln>
        </p:spPr>
        <p:txBody>
          <a:bodyPr/>
          <a:lstStyle/>
          <a:p>
            <a:endParaRPr lang="en-US"/>
          </a:p>
        </p:txBody>
      </p:sp>
      <p:sp>
        <p:nvSpPr>
          <p:cNvPr id="41990" name="Line 10"/>
          <p:cNvSpPr>
            <a:spLocks noChangeShapeType="1"/>
          </p:cNvSpPr>
          <p:nvPr/>
        </p:nvSpPr>
        <p:spPr bwMode="auto">
          <a:xfrm>
            <a:off x="2781300" y="4203700"/>
            <a:ext cx="149225" cy="0"/>
          </a:xfrm>
          <a:prstGeom prst="line">
            <a:avLst/>
          </a:prstGeom>
          <a:noFill/>
          <a:ln w="9525">
            <a:solidFill>
              <a:srgbClr val="000000"/>
            </a:solidFill>
            <a:miter lim="800000"/>
            <a:headEnd/>
            <a:tailEnd/>
          </a:ln>
        </p:spPr>
        <p:txBody>
          <a:bodyPr/>
          <a:lstStyle/>
          <a:p>
            <a:endParaRPr lang="en-US"/>
          </a:p>
        </p:txBody>
      </p:sp>
      <p:sp>
        <p:nvSpPr>
          <p:cNvPr id="41991" name="Line 11"/>
          <p:cNvSpPr>
            <a:spLocks noChangeShapeType="1"/>
          </p:cNvSpPr>
          <p:nvPr/>
        </p:nvSpPr>
        <p:spPr bwMode="auto">
          <a:xfrm>
            <a:off x="2673350" y="4084638"/>
            <a:ext cx="107950" cy="119062"/>
          </a:xfrm>
          <a:prstGeom prst="line">
            <a:avLst/>
          </a:prstGeom>
          <a:noFill/>
          <a:ln w="9525">
            <a:solidFill>
              <a:srgbClr val="000000"/>
            </a:solidFill>
            <a:miter lim="800000"/>
            <a:headEnd/>
            <a:tailEnd/>
          </a:ln>
        </p:spPr>
        <p:txBody>
          <a:bodyPr/>
          <a:lstStyle/>
          <a:p>
            <a:endParaRPr lang="en-US"/>
          </a:p>
        </p:txBody>
      </p:sp>
      <p:sp>
        <p:nvSpPr>
          <p:cNvPr id="41992" name="Line 12"/>
          <p:cNvSpPr>
            <a:spLocks noChangeShapeType="1"/>
          </p:cNvSpPr>
          <p:nvPr/>
        </p:nvSpPr>
        <p:spPr bwMode="auto">
          <a:xfrm>
            <a:off x="2781300" y="4294188"/>
            <a:ext cx="149225" cy="0"/>
          </a:xfrm>
          <a:prstGeom prst="line">
            <a:avLst/>
          </a:prstGeom>
          <a:noFill/>
          <a:ln w="9525">
            <a:solidFill>
              <a:srgbClr val="000000"/>
            </a:solidFill>
            <a:miter lim="800000"/>
            <a:headEnd/>
            <a:tailEnd/>
          </a:ln>
        </p:spPr>
        <p:txBody>
          <a:bodyPr/>
          <a:lstStyle/>
          <a:p>
            <a:endParaRPr lang="en-US"/>
          </a:p>
        </p:txBody>
      </p:sp>
      <p:sp>
        <p:nvSpPr>
          <p:cNvPr id="41993" name="Rectangle 13"/>
          <p:cNvSpPr>
            <a:spLocks noChangeArrowheads="1"/>
          </p:cNvSpPr>
          <p:nvPr/>
        </p:nvSpPr>
        <p:spPr bwMode="auto">
          <a:xfrm>
            <a:off x="2170113" y="2359025"/>
            <a:ext cx="442912"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$2.95</a:t>
            </a:r>
            <a:endParaRPr lang="en-US" sz="1400">
              <a:latin typeface="Tahoma" pitchFamily="34" charset="0"/>
            </a:endParaRPr>
          </a:p>
        </p:txBody>
      </p:sp>
      <p:sp>
        <p:nvSpPr>
          <p:cNvPr id="41994" name="Rectangle 14"/>
          <p:cNvSpPr>
            <a:spLocks noChangeArrowheads="1"/>
          </p:cNvSpPr>
          <p:nvPr/>
        </p:nvSpPr>
        <p:spPr bwMode="auto">
          <a:xfrm>
            <a:off x="2284413" y="3833813"/>
            <a:ext cx="34448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latin typeface="Tahoma" pitchFamily="34" charset="0"/>
            </a:endParaRPr>
          </a:p>
        </p:txBody>
      </p:sp>
      <p:sp>
        <p:nvSpPr>
          <p:cNvPr id="41995" name="Rectangle 15"/>
          <p:cNvSpPr>
            <a:spLocks noChangeArrowheads="1"/>
          </p:cNvSpPr>
          <p:nvPr/>
        </p:nvSpPr>
        <p:spPr bwMode="auto">
          <a:xfrm>
            <a:off x="2284413" y="4156075"/>
            <a:ext cx="34448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1.95</a:t>
            </a:r>
            <a:endParaRPr lang="en-US" sz="1400">
              <a:latin typeface="Tahoma" pitchFamily="34" charset="0"/>
            </a:endParaRPr>
          </a:p>
        </p:txBody>
      </p:sp>
      <p:sp>
        <p:nvSpPr>
          <p:cNvPr id="41996" name="Rectangle 16"/>
          <p:cNvSpPr>
            <a:spLocks noChangeArrowheads="1"/>
          </p:cNvSpPr>
          <p:nvPr/>
        </p:nvSpPr>
        <p:spPr bwMode="auto">
          <a:xfrm>
            <a:off x="1125538" y="1012825"/>
            <a:ext cx="3300412" cy="2127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gasoline (per gallon)</a:t>
            </a:r>
            <a:endParaRPr lang="en-US" sz="1400">
              <a:latin typeface="Tahoma" pitchFamily="34" charset="0"/>
            </a:endParaRPr>
          </a:p>
        </p:txBody>
      </p:sp>
      <p:sp>
        <p:nvSpPr>
          <p:cNvPr id="41997" name="Rectangle 17"/>
          <p:cNvSpPr>
            <a:spLocks noChangeArrowheads="1"/>
          </p:cNvSpPr>
          <p:nvPr/>
        </p:nvSpPr>
        <p:spPr bwMode="auto">
          <a:xfrm>
            <a:off x="2562225" y="60372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latin typeface="Tahoma" pitchFamily="34" charset="0"/>
            </a:endParaRPr>
          </a:p>
        </p:txBody>
      </p:sp>
      <p:sp>
        <p:nvSpPr>
          <p:cNvPr id="41998" name="Rectangle 18"/>
          <p:cNvSpPr>
            <a:spLocks noChangeArrowheads="1"/>
          </p:cNvSpPr>
          <p:nvPr/>
        </p:nvSpPr>
        <p:spPr bwMode="auto">
          <a:xfrm>
            <a:off x="5534025" y="6094413"/>
            <a:ext cx="3182938" cy="2127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Quantity of gasoline (gallons)</a:t>
            </a:r>
            <a:endParaRPr lang="en-US" sz="1400">
              <a:latin typeface="Tahoma" pitchFamily="34" charset="0"/>
            </a:endParaRPr>
          </a:p>
        </p:txBody>
      </p:sp>
      <p:sp>
        <p:nvSpPr>
          <p:cNvPr id="41999" name="Line 19"/>
          <p:cNvSpPr>
            <a:spLocks noChangeShapeType="1"/>
          </p:cNvSpPr>
          <p:nvPr/>
        </p:nvSpPr>
        <p:spPr bwMode="auto">
          <a:xfrm flipV="1">
            <a:off x="2781300" y="1260475"/>
            <a:ext cx="0" cy="4279900"/>
          </a:xfrm>
          <a:prstGeom prst="line">
            <a:avLst/>
          </a:prstGeom>
          <a:noFill/>
          <a:ln w="9525">
            <a:solidFill>
              <a:srgbClr val="000000"/>
            </a:solidFill>
            <a:miter lim="800000"/>
            <a:headEnd/>
            <a:tailEnd/>
          </a:ln>
        </p:spPr>
        <p:txBody>
          <a:bodyPr/>
          <a:lstStyle/>
          <a:p>
            <a:endParaRPr lang="en-US"/>
          </a:p>
        </p:txBody>
      </p:sp>
      <p:sp>
        <p:nvSpPr>
          <p:cNvPr id="42000" name="Freeform 20"/>
          <p:cNvSpPr>
            <a:spLocks/>
          </p:cNvSpPr>
          <p:nvPr/>
        </p:nvSpPr>
        <p:spPr bwMode="auto">
          <a:xfrm>
            <a:off x="2781300" y="5653088"/>
            <a:ext cx="4643438" cy="334962"/>
          </a:xfrm>
          <a:custGeom>
            <a:avLst/>
            <a:gdLst>
              <a:gd name="T0" fmla="*/ 4643438 w 2076"/>
              <a:gd name="T1" fmla="*/ 334962 h 134"/>
              <a:gd name="T2" fmla="*/ 0 w 2076"/>
              <a:gd name="T3" fmla="*/ 334962 h 134"/>
              <a:gd name="T4" fmla="*/ 0 w 2076"/>
              <a:gd name="T5" fmla="*/ 0 h 134"/>
              <a:gd name="T6" fmla="*/ 0 60000 65536"/>
              <a:gd name="T7" fmla="*/ 0 60000 65536"/>
              <a:gd name="T8" fmla="*/ 0 60000 65536"/>
              <a:gd name="T9" fmla="*/ 0 w 2076"/>
              <a:gd name="T10" fmla="*/ 0 h 134"/>
              <a:gd name="T11" fmla="*/ 2076 w 2076"/>
              <a:gd name="T12" fmla="*/ 134 h 134"/>
            </a:gdLst>
            <a:ahLst/>
            <a:cxnLst>
              <a:cxn ang="T6">
                <a:pos x="T0" y="T1"/>
              </a:cxn>
              <a:cxn ang="T7">
                <a:pos x="T2" y="T3"/>
              </a:cxn>
              <a:cxn ang="T8">
                <a:pos x="T4" y="T5"/>
              </a:cxn>
            </a:cxnLst>
            <a:rect l="T9" t="T10" r="T11" b="T12"/>
            <a:pathLst>
              <a:path w="2076" h="134">
                <a:moveTo>
                  <a:pt x="2076" y="134"/>
                </a:moveTo>
                <a:lnTo>
                  <a:pt x="0" y="134"/>
                </a:lnTo>
                <a:lnTo>
                  <a:pt x="0" y="0"/>
                </a:lnTo>
              </a:path>
            </a:pathLst>
          </a:custGeom>
          <a:noFill/>
          <a:ln w="9525" cap="flat">
            <a:solidFill>
              <a:srgbClr val="000000"/>
            </a:solidFill>
            <a:prstDash val="solid"/>
            <a:miter lim="800000"/>
            <a:headEnd/>
            <a:tailEnd/>
          </a:ln>
        </p:spPr>
        <p:txBody>
          <a:bodyPr/>
          <a:lstStyle/>
          <a:p>
            <a:endParaRPr lang="en-US"/>
          </a:p>
        </p:txBody>
      </p:sp>
      <p:sp>
        <p:nvSpPr>
          <p:cNvPr id="42001" name="Line 21"/>
          <p:cNvSpPr>
            <a:spLocks noChangeShapeType="1"/>
          </p:cNvSpPr>
          <p:nvPr/>
        </p:nvSpPr>
        <p:spPr bwMode="auto">
          <a:xfrm>
            <a:off x="3705225" y="1447800"/>
            <a:ext cx="1806575" cy="3811588"/>
          </a:xfrm>
          <a:prstGeom prst="line">
            <a:avLst/>
          </a:prstGeom>
          <a:noFill/>
          <a:ln w="36513">
            <a:solidFill>
              <a:srgbClr val="3C5DAA"/>
            </a:solidFill>
            <a:miter lim="800000"/>
            <a:headEnd/>
            <a:tailEnd/>
          </a:ln>
        </p:spPr>
        <p:txBody>
          <a:bodyPr/>
          <a:lstStyle/>
          <a:p>
            <a:endParaRPr lang="en-US"/>
          </a:p>
        </p:txBody>
      </p:sp>
      <p:sp>
        <p:nvSpPr>
          <p:cNvPr id="42002" name="Oval 22"/>
          <p:cNvSpPr>
            <a:spLocks noChangeArrowheads="1"/>
          </p:cNvSpPr>
          <p:nvPr/>
        </p:nvSpPr>
        <p:spPr bwMode="auto">
          <a:xfrm>
            <a:off x="4143375" y="2433638"/>
            <a:ext cx="125413" cy="139700"/>
          </a:xfrm>
          <a:prstGeom prst="ellipse">
            <a:avLst/>
          </a:prstGeom>
          <a:solidFill>
            <a:srgbClr val="000000"/>
          </a:solidFill>
          <a:ln w="9525">
            <a:noFill/>
            <a:round/>
            <a:headEnd/>
            <a:tailEnd/>
          </a:ln>
        </p:spPr>
        <p:txBody>
          <a:bodyPr/>
          <a:lstStyle/>
          <a:p>
            <a:endParaRPr lang="en-US"/>
          </a:p>
        </p:txBody>
      </p:sp>
      <p:sp>
        <p:nvSpPr>
          <p:cNvPr id="42003" name="Line 23"/>
          <p:cNvSpPr>
            <a:spLocks noChangeShapeType="1"/>
          </p:cNvSpPr>
          <p:nvPr/>
        </p:nvSpPr>
        <p:spPr bwMode="auto">
          <a:xfrm flipV="1">
            <a:off x="2941638" y="4021138"/>
            <a:ext cx="3700462" cy="412750"/>
          </a:xfrm>
          <a:prstGeom prst="line">
            <a:avLst/>
          </a:prstGeom>
          <a:noFill/>
          <a:ln w="36513">
            <a:solidFill>
              <a:srgbClr val="EE313C"/>
            </a:solidFill>
            <a:miter lim="800000"/>
            <a:headEnd/>
            <a:tailEnd/>
          </a:ln>
        </p:spPr>
        <p:txBody>
          <a:bodyPr/>
          <a:lstStyle/>
          <a:p>
            <a:endParaRPr lang="en-US"/>
          </a:p>
        </p:txBody>
      </p:sp>
      <p:sp>
        <p:nvSpPr>
          <p:cNvPr id="42004" name="Oval 24"/>
          <p:cNvSpPr>
            <a:spLocks noChangeArrowheads="1"/>
          </p:cNvSpPr>
          <p:nvPr/>
        </p:nvSpPr>
        <p:spPr bwMode="auto">
          <a:xfrm>
            <a:off x="4143375" y="4224338"/>
            <a:ext cx="125413" cy="139700"/>
          </a:xfrm>
          <a:prstGeom prst="ellipse">
            <a:avLst/>
          </a:prstGeom>
          <a:solidFill>
            <a:srgbClr val="000000"/>
          </a:solidFill>
          <a:ln w="9525">
            <a:noFill/>
            <a:round/>
            <a:headEnd/>
            <a:tailEnd/>
          </a:ln>
        </p:spPr>
        <p:txBody>
          <a:bodyPr/>
          <a:lstStyle/>
          <a:p>
            <a:endParaRPr lang="en-US"/>
          </a:p>
        </p:txBody>
      </p:sp>
      <p:sp>
        <p:nvSpPr>
          <p:cNvPr id="42005" name="Oval 25"/>
          <p:cNvSpPr>
            <a:spLocks noChangeArrowheads="1"/>
          </p:cNvSpPr>
          <p:nvPr/>
        </p:nvSpPr>
        <p:spPr bwMode="auto">
          <a:xfrm>
            <a:off x="4948238" y="4133850"/>
            <a:ext cx="125412" cy="141288"/>
          </a:xfrm>
          <a:prstGeom prst="ellipse">
            <a:avLst/>
          </a:prstGeom>
          <a:solidFill>
            <a:srgbClr val="000000"/>
          </a:solidFill>
          <a:ln w="9525">
            <a:noFill/>
            <a:round/>
            <a:headEnd/>
            <a:tailEnd/>
          </a:ln>
        </p:spPr>
        <p:txBody>
          <a:bodyPr/>
          <a:lstStyle/>
          <a:p>
            <a:endParaRPr lang="en-US"/>
          </a:p>
        </p:txBody>
      </p:sp>
      <p:sp>
        <p:nvSpPr>
          <p:cNvPr id="343066" name="Line 26"/>
          <p:cNvSpPr>
            <a:spLocks noChangeShapeType="1"/>
          </p:cNvSpPr>
          <p:nvPr/>
        </p:nvSpPr>
        <p:spPr bwMode="auto">
          <a:xfrm flipV="1">
            <a:off x="3898900" y="2860675"/>
            <a:ext cx="1017588" cy="433388"/>
          </a:xfrm>
          <a:prstGeom prst="line">
            <a:avLst/>
          </a:prstGeom>
          <a:noFill/>
          <a:ln w="9525">
            <a:solidFill>
              <a:srgbClr val="000000"/>
            </a:solidFill>
            <a:miter lim="800000"/>
            <a:headEnd/>
            <a:tailEnd/>
          </a:ln>
        </p:spPr>
        <p:txBody>
          <a:bodyPr/>
          <a:lstStyle/>
          <a:p>
            <a:endParaRPr lang="en-US"/>
          </a:p>
        </p:txBody>
      </p:sp>
      <p:sp>
        <p:nvSpPr>
          <p:cNvPr id="343067" name="Freeform 27"/>
          <p:cNvSpPr>
            <a:spLocks/>
          </p:cNvSpPr>
          <p:nvPr/>
        </p:nvSpPr>
        <p:spPr bwMode="auto">
          <a:xfrm>
            <a:off x="4754563" y="2436813"/>
            <a:ext cx="1371600" cy="685800"/>
          </a:xfrm>
          <a:custGeom>
            <a:avLst/>
            <a:gdLst>
              <a:gd name="T0" fmla="*/ 1371600 w 219"/>
              <a:gd name="T1" fmla="*/ 603298 h 133"/>
              <a:gd name="T2" fmla="*/ 1271392 w 219"/>
              <a:gd name="T3" fmla="*/ 685800 h 133"/>
              <a:gd name="T4" fmla="*/ 100208 w 219"/>
              <a:gd name="T5" fmla="*/ 685800 h 133"/>
              <a:gd name="T6" fmla="*/ 0 w 219"/>
              <a:gd name="T7" fmla="*/ 603298 h 133"/>
              <a:gd name="T8" fmla="*/ 0 w 219"/>
              <a:gd name="T9" fmla="*/ 82502 h 133"/>
              <a:gd name="T10" fmla="*/ 100208 w 219"/>
              <a:gd name="T11" fmla="*/ 0 h 133"/>
              <a:gd name="T12" fmla="*/ 1271392 w 219"/>
              <a:gd name="T13" fmla="*/ 0 h 133"/>
              <a:gd name="T14" fmla="*/ 1371600 w 219"/>
              <a:gd name="T15" fmla="*/ 82502 h 133"/>
              <a:gd name="T16" fmla="*/ 1371600 w 219"/>
              <a:gd name="T17" fmla="*/ 603298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9"/>
              <a:gd name="T28" fmla="*/ 0 h 133"/>
              <a:gd name="T29" fmla="*/ 219 w 219"/>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9" h="133">
                <a:moveTo>
                  <a:pt x="219" y="117"/>
                </a:moveTo>
                <a:cubicBezTo>
                  <a:pt x="219" y="126"/>
                  <a:pt x="212" y="133"/>
                  <a:pt x="203" y="133"/>
                </a:cubicBezTo>
                <a:cubicBezTo>
                  <a:pt x="16" y="133"/>
                  <a:pt x="16" y="133"/>
                  <a:pt x="16" y="133"/>
                </a:cubicBezTo>
                <a:cubicBezTo>
                  <a:pt x="7" y="133"/>
                  <a:pt x="0" y="126"/>
                  <a:pt x="0" y="117"/>
                </a:cubicBezTo>
                <a:cubicBezTo>
                  <a:pt x="0" y="16"/>
                  <a:pt x="0" y="16"/>
                  <a:pt x="0" y="16"/>
                </a:cubicBezTo>
                <a:cubicBezTo>
                  <a:pt x="0" y="7"/>
                  <a:pt x="7" y="0"/>
                  <a:pt x="16" y="0"/>
                </a:cubicBezTo>
                <a:cubicBezTo>
                  <a:pt x="203" y="0"/>
                  <a:pt x="203" y="0"/>
                  <a:pt x="203" y="0"/>
                </a:cubicBezTo>
                <a:cubicBezTo>
                  <a:pt x="212" y="0"/>
                  <a:pt x="219" y="7"/>
                  <a:pt x="219" y="16"/>
                </a:cubicBezTo>
                <a:lnTo>
                  <a:pt x="219" y="117"/>
                </a:lnTo>
                <a:close/>
              </a:path>
            </a:pathLst>
          </a:custGeom>
          <a:solidFill>
            <a:srgbClr val="D6E2E0"/>
          </a:solidFill>
          <a:ln w="9525">
            <a:noFill/>
            <a:round/>
            <a:headEnd/>
            <a:tailEnd/>
          </a:ln>
        </p:spPr>
        <p:txBody>
          <a:bodyPr/>
          <a:lstStyle/>
          <a:p>
            <a:endParaRPr lang="en-US"/>
          </a:p>
        </p:txBody>
      </p:sp>
      <p:sp>
        <p:nvSpPr>
          <p:cNvPr id="343068" name="Rectangle 28"/>
          <p:cNvSpPr>
            <a:spLocks noChangeArrowheads="1"/>
          </p:cNvSpPr>
          <p:nvPr/>
        </p:nvSpPr>
        <p:spPr bwMode="auto">
          <a:xfrm>
            <a:off x="4756150" y="2462213"/>
            <a:ext cx="1360488"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Tax burden falls mainly on consumers</a:t>
            </a:r>
            <a:endParaRPr lang="en-US" sz="1400">
              <a:latin typeface="Tahoma" pitchFamily="34" charset="0"/>
            </a:endParaRPr>
          </a:p>
        </p:txBody>
      </p:sp>
      <p:sp>
        <p:nvSpPr>
          <p:cNvPr id="343069" name="Freeform 29"/>
          <p:cNvSpPr>
            <a:spLocks/>
          </p:cNvSpPr>
          <p:nvPr/>
        </p:nvSpPr>
        <p:spPr bwMode="auto">
          <a:xfrm>
            <a:off x="798513" y="2997200"/>
            <a:ext cx="1060450" cy="725488"/>
          </a:xfrm>
          <a:custGeom>
            <a:avLst/>
            <a:gdLst>
              <a:gd name="T0" fmla="*/ 1060450 w 163"/>
              <a:gd name="T1" fmla="*/ 638862 h 134"/>
              <a:gd name="T2" fmla="*/ 956357 w 163"/>
              <a:gd name="T3" fmla="*/ 725488 h 134"/>
              <a:gd name="T4" fmla="*/ 104093 w 163"/>
              <a:gd name="T5" fmla="*/ 725488 h 134"/>
              <a:gd name="T6" fmla="*/ 0 w 163"/>
              <a:gd name="T7" fmla="*/ 638862 h 134"/>
              <a:gd name="T8" fmla="*/ 0 w 163"/>
              <a:gd name="T9" fmla="*/ 86625 h 134"/>
              <a:gd name="T10" fmla="*/ 104093 w 163"/>
              <a:gd name="T11" fmla="*/ 0 h 134"/>
              <a:gd name="T12" fmla="*/ 956357 w 163"/>
              <a:gd name="T13" fmla="*/ 0 h 134"/>
              <a:gd name="T14" fmla="*/ 1060450 w 163"/>
              <a:gd name="T15" fmla="*/ 86625 h 134"/>
              <a:gd name="T16" fmla="*/ 1060450 w 163"/>
              <a:gd name="T17" fmla="*/ 638862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3"/>
              <a:gd name="T28" fmla="*/ 0 h 134"/>
              <a:gd name="T29" fmla="*/ 163 w 163"/>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3" h="134">
                <a:moveTo>
                  <a:pt x="163" y="118"/>
                </a:moveTo>
                <a:cubicBezTo>
                  <a:pt x="163" y="127"/>
                  <a:pt x="156" y="134"/>
                  <a:pt x="147" y="134"/>
                </a:cubicBezTo>
                <a:cubicBezTo>
                  <a:pt x="16" y="134"/>
                  <a:pt x="16" y="134"/>
                  <a:pt x="16" y="134"/>
                </a:cubicBezTo>
                <a:cubicBezTo>
                  <a:pt x="7" y="134"/>
                  <a:pt x="0" y="127"/>
                  <a:pt x="0" y="118"/>
                </a:cubicBezTo>
                <a:cubicBezTo>
                  <a:pt x="0" y="16"/>
                  <a:pt x="0" y="16"/>
                  <a:pt x="0" y="16"/>
                </a:cubicBezTo>
                <a:cubicBezTo>
                  <a:pt x="0" y="7"/>
                  <a:pt x="7" y="0"/>
                  <a:pt x="16" y="0"/>
                </a:cubicBezTo>
                <a:cubicBezTo>
                  <a:pt x="147" y="0"/>
                  <a:pt x="147" y="0"/>
                  <a:pt x="147" y="0"/>
                </a:cubicBezTo>
                <a:cubicBezTo>
                  <a:pt x="156" y="0"/>
                  <a:pt x="163" y="7"/>
                  <a:pt x="163" y="16"/>
                </a:cubicBezTo>
                <a:lnTo>
                  <a:pt x="163" y="118"/>
                </a:lnTo>
                <a:close/>
              </a:path>
            </a:pathLst>
          </a:custGeom>
          <a:solidFill>
            <a:srgbClr val="D6E2E0"/>
          </a:solidFill>
          <a:ln w="9525">
            <a:noFill/>
            <a:round/>
            <a:headEnd/>
            <a:tailEnd/>
          </a:ln>
        </p:spPr>
        <p:txBody>
          <a:bodyPr/>
          <a:lstStyle/>
          <a:p>
            <a:endParaRPr lang="en-US"/>
          </a:p>
        </p:txBody>
      </p:sp>
      <p:sp>
        <p:nvSpPr>
          <p:cNvPr id="343070" name="Rectangle 30"/>
          <p:cNvSpPr>
            <a:spLocks noChangeArrowheads="1"/>
          </p:cNvSpPr>
          <p:nvPr/>
        </p:nvSpPr>
        <p:spPr bwMode="auto">
          <a:xfrm>
            <a:off x="869950" y="3062288"/>
            <a:ext cx="969963"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$1 per gallon</a:t>
            </a:r>
            <a:endParaRPr lang="en-US" sz="1400">
              <a:latin typeface="Tahoma" pitchFamily="34" charset="0"/>
            </a:endParaRPr>
          </a:p>
        </p:txBody>
      </p:sp>
      <p:sp>
        <p:nvSpPr>
          <p:cNvPr id="343071" name="Freeform 31"/>
          <p:cNvSpPr>
            <a:spLocks/>
          </p:cNvSpPr>
          <p:nvPr/>
        </p:nvSpPr>
        <p:spPr bwMode="auto">
          <a:xfrm>
            <a:off x="1917700" y="2503488"/>
            <a:ext cx="155575" cy="1790700"/>
          </a:xfrm>
          <a:custGeom>
            <a:avLst/>
            <a:gdLst>
              <a:gd name="T0" fmla="*/ 155575 w 25"/>
              <a:gd name="T1" fmla="*/ 0 h 256"/>
              <a:gd name="T2" fmla="*/ 62230 w 25"/>
              <a:gd name="T3" fmla="*/ 111919 h 256"/>
              <a:gd name="T4" fmla="*/ 62230 w 25"/>
              <a:gd name="T5" fmla="*/ 825401 h 256"/>
              <a:gd name="T6" fmla="*/ 0 w 25"/>
              <a:gd name="T7" fmla="*/ 895350 h 256"/>
              <a:gd name="T8" fmla="*/ 62230 w 25"/>
              <a:gd name="T9" fmla="*/ 972294 h 256"/>
              <a:gd name="T10" fmla="*/ 62230 w 25"/>
              <a:gd name="T11" fmla="*/ 1678781 h 256"/>
              <a:gd name="T12" fmla="*/ 155575 w 25"/>
              <a:gd name="T13" fmla="*/ 1790700 h 256"/>
              <a:gd name="T14" fmla="*/ 0 60000 65536"/>
              <a:gd name="T15" fmla="*/ 0 60000 65536"/>
              <a:gd name="T16" fmla="*/ 0 60000 65536"/>
              <a:gd name="T17" fmla="*/ 0 60000 65536"/>
              <a:gd name="T18" fmla="*/ 0 60000 65536"/>
              <a:gd name="T19" fmla="*/ 0 60000 65536"/>
              <a:gd name="T20" fmla="*/ 0 60000 65536"/>
              <a:gd name="T21" fmla="*/ 0 w 25"/>
              <a:gd name="T22" fmla="*/ 0 h 256"/>
              <a:gd name="T23" fmla="*/ 25 w 25"/>
              <a:gd name="T24" fmla="*/ 256 h 2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56">
                <a:moveTo>
                  <a:pt x="25" y="0"/>
                </a:moveTo>
                <a:cubicBezTo>
                  <a:pt x="15" y="0"/>
                  <a:pt x="10" y="3"/>
                  <a:pt x="10" y="16"/>
                </a:cubicBezTo>
                <a:cubicBezTo>
                  <a:pt x="10" y="19"/>
                  <a:pt x="10" y="115"/>
                  <a:pt x="10" y="118"/>
                </a:cubicBezTo>
                <a:cubicBezTo>
                  <a:pt x="10" y="121"/>
                  <a:pt x="8" y="128"/>
                  <a:pt x="0" y="128"/>
                </a:cubicBezTo>
                <a:cubicBezTo>
                  <a:pt x="8" y="128"/>
                  <a:pt x="10" y="135"/>
                  <a:pt x="10" y="139"/>
                </a:cubicBezTo>
                <a:cubicBezTo>
                  <a:pt x="10" y="141"/>
                  <a:pt x="10" y="237"/>
                  <a:pt x="10" y="240"/>
                </a:cubicBezTo>
                <a:cubicBezTo>
                  <a:pt x="10" y="253"/>
                  <a:pt x="15" y="256"/>
                  <a:pt x="25" y="256"/>
                </a:cubicBezTo>
              </a:path>
            </a:pathLst>
          </a:custGeom>
          <a:noFill/>
          <a:ln w="26988" cap="flat">
            <a:solidFill>
              <a:srgbClr val="6D6F71"/>
            </a:solidFill>
            <a:prstDash val="solid"/>
            <a:round/>
            <a:headEnd/>
            <a:tailEnd/>
          </a:ln>
        </p:spPr>
        <p:txBody>
          <a:bodyPr/>
          <a:lstStyle/>
          <a:p>
            <a:endParaRPr lang="en-US"/>
          </a:p>
        </p:txBody>
      </p:sp>
      <p:sp>
        <p:nvSpPr>
          <p:cNvPr id="343072" name="Line 32"/>
          <p:cNvSpPr>
            <a:spLocks noChangeShapeType="1"/>
          </p:cNvSpPr>
          <p:nvPr/>
        </p:nvSpPr>
        <p:spPr bwMode="auto">
          <a:xfrm flipV="1">
            <a:off x="3854450" y="2670175"/>
            <a:ext cx="0" cy="1506538"/>
          </a:xfrm>
          <a:prstGeom prst="line">
            <a:avLst/>
          </a:prstGeom>
          <a:noFill/>
          <a:ln w="36513">
            <a:solidFill>
              <a:srgbClr val="000000"/>
            </a:solidFill>
            <a:miter lim="800000"/>
            <a:headEnd/>
            <a:tailEnd/>
          </a:ln>
        </p:spPr>
        <p:txBody>
          <a:bodyPr/>
          <a:lstStyle/>
          <a:p>
            <a:endParaRPr lang="en-US"/>
          </a:p>
        </p:txBody>
      </p:sp>
      <p:sp>
        <p:nvSpPr>
          <p:cNvPr id="343073" name="Freeform 33"/>
          <p:cNvSpPr>
            <a:spLocks/>
          </p:cNvSpPr>
          <p:nvPr/>
        </p:nvSpPr>
        <p:spPr bwMode="auto">
          <a:xfrm>
            <a:off x="3798888" y="2525713"/>
            <a:ext cx="106362" cy="203200"/>
          </a:xfrm>
          <a:custGeom>
            <a:avLst/>
            <a:gdLst>
              <a:gd name="T0" fmla="*/ 56309 w 17"/>
              <a:gd name="T1" fmla="*/ 168166 h 29"/>
              <a:gd name="T2" fmla="*/ 0 w 17"/>
              <a:gd name="T3" fmla="*/ 203200 h 29"/>
              <a:gd name="T4" fmla="*/ 0 w 17"/>
              <a:gd name="T5" fmla="*/ 203200 h 29"/>
              <a:gd name="T6" fmla="*/ 31283 w 17"/>
              <a:gd name="T7" fmla="*/ 98097 h 29"/>
              <a:gd name="T8" fmla="*/ 56309 w 17"/>
              <a:gd name="T9" fmla="*/ 0 h 29"/>
              <a:gd name="T10" fmla="*/ 75079 w 17"/>
              <a:gd name="T11" fmla="*/ 98097 h 29"/>
              <a:gd name="T12" fmla="*/ 106362 w 17"/>
              <a:gd name="T13" fmla="*/ 203200 h 29"/>
              <a:gd name="T14" fmla="*/ 106362 w 17"/>
              <a:gd name="T15" fmla="*/ 203200 h 29"/>
              <a:gd name="T16" fmla="*/ 56309 w 17"/>
              <a:gd name="T17" fmla="*/ 168166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9"/>
              <a:gd name="T29" fmla="*/ 17 w 17"/>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9">
                <a:moveTo>
                  <a:pt x="9" y="24"/>
                </a:moveTo>
                <a:cubicBezTo>
                  <a:pt x="0" y="29"/>
                  <a:pt x="0" y="29"/>
                  <a:pt x="0" y="29"/>
                </a:cubicBezTo>
                <a:cubicBezTo>
                  <a:pt x="0" y="29"/>
                  <a:pt x="0" y="29"/>
                  <a:pt x="0" y="29"/>
                </a:cubicBezTo>
                <a:cubicBezTo>
                  <a:pt x="5" y="14"/>
                  <a:pt x="5" y="14"/>
                  <a:pt x="5" y="14"/>
                </a:cubicBezTo>
                <a:cubicBezTo>
                  <a:pt x="6" y="10"/>
                  <a:pt x="8" y="5"/>
                  <a:pt x="9" y="0"/>
                </a:cubicBezTo>
                <a:cubicBezTo>
                  <a:pt x="10" y="5"/>
                  <a:pt x="11" y="10"/>
                  <a:pt x="12" y="14"/>
                </a:cubicBezTo>
                <a:cubicBezTo>
                  <a:pt x="17" y="29"/>
                  <a:pt x="17" y="29"/>
                  <a:pt x="17" y="29"/>
                </a:cubicBezTo>
                <a:cubicBezTo>
                  <a:pt x="17" y="29"/>
                  <a:pt x="17" y="29"/>
                  <a:pt x="17" y="29"/>
                </a:cubicBezTo>
                <a:lnTo>
                  <a:pt x="9" y="24"/>
                </a:lnTo>
                <a:close/>
              </a:path>
            </a:pathLst>
          </a:custGeom>
          <a:solidFill>
            <a:srgbClr val="000000"/>
          </a:solidFill>
          <a:ln w="9525">
            <a:noFill/>
            <a:round/>
            <a:headEnd/>
            <a:tailEnd/>
          </a:ln>
        </p:spPr>
        <p:txBody>
          <a:bodyPr/>
          <a:lstStyle/>
          <a:p>
            <a:endParaRPr lang="en-US"/>
          </a:p>
        </p:txBody>
      </p:sp>
      <p:sp>
        <p:nvSpPr>
          <p:cNvPr id="42014" name="Oval 34"/>
          <p:cNvSpPr>
            <a:spLocks noChangeArrowheads="1"/>
          </p:cNvSpPr>
          <p:nvPr/>
        </p:nvSpPr>
        <p:spPr bwMode="auto">
          <a:xfrm>
            <a:off x="4192588" y="2608263"/>
            <a:ext cx="23812" cy="30162"/>
          </a:xfrm>
          <a:prstGeom prst="ellipse">
            <a:avLst/>
          </a:prstGeom>
          <a:solidFill>
            <a:srgbClr val="000000"/>
          </a:solidFill>
          <a:ln w="9525">
            <a:noFill/>
            <a:round/>
            <a:headEnd/>
            <a:tailEnd/>
          </a:ln>
        </p:spPr>
        <p:txBody>
          <a:bodyPr/>
          <a:lstStyle/>
          <a:p>
            <a:endParaRPr lang="en-US"/>
          </a:p>
        </p:txBody>
      </p:sp>
      <p:sp>
        <p:nvSpPr>
          <p:cNvPr id="42015" name="Oval 35"/>
          <p:cNvSpPr>
            <a:spLocks noChangeArrowheads="1"/>
          </p:cNvSpPr>
          <p:nvPr/>
        </p:nvSpPr>
        <p:spPr bwMode="auto">
          <a:xfrm>
            <a:off x="4192588" y="2735263"/>
            <a:ext cx="23812" cy="28575"/>
          </a:xfrm>
          <a:prstGeom prst="ellipse">
            <a:avLst/>
          </a:prstGeom>
          <a:solidFill>
            <a:srgbClr val="000000"/>
          </a:solidFill>
          <a:ln w="9525">
            <a:noFill/>
            <a:round/>
            <a:headEnd/>
            <a:tailEnd/>
          </a:ln>
        </p:spPr>
        <p:txBody>
          <a:bodyPr/>
          <a:lstStyle/>
          <a:p>
            <a:endParaRPr lang="en-US"/>
          </a:p>
        </p:txBody>
      </p:sp>
      <p:sp>
        <p:nvSpPr>
          <p:cNvPr id="42016" name="Oval 36"/>
          <p:cNvSpPr>
            <a:spLocks noChangeArrowheads="1"/>
          </p:cNvSpPr>
          <p:nvPr/>
        </p:nvSpPr>
        <p:spPr bwMode="auto">
          <a:xfrm>
            <a:off x="4192588" y="2860675"/>
            <a:ext cx="23812" cy="28575"/>
          </a:xfrm>
          <a:prstGeom prst="ellipse">
            <a:avLst/>
          </a:prstGeom>
          <a:solidFill>
            <a:srgbClr val="000000"/>
          </a:solidFill>
          <a:ln w="9525">
            <a:noFill/>
            <a:round/>
            <a:headEnd/>
            <a:tailEnd/>
          </a:ln>
        </p:spPr>
        <p:txBody>
          <a:bodyPr/>
          <a:lstStyle/>
          <a:p>
            <a:endParaRPr lang="en-US"/>
          </a:p>
        </p:txBody>
      </p:sp>
      <p:sp>
        <p:nvSpPr>
          <p:cNvPr id="42017" name="Oval 37"/>
          <p:cNvSpPr>
            <a:spLocks noChangeArrowheads="1"/>
          </p:cNvSpPr>
          <p:nvPr/>
        </p:nvSpPr>
        <p:spPr bwMode="auto">
          <a:xfrm>
            <a:off x="4192588" y="2986088"/>
            <a:ext cx="23812" cy="26987"/>
          </a:xfrm>
          <a:prstGeom prst="ellipse">
            <a:avLst/>
          </a:prstGeom>
          <a:solidFill>
            <a:srgbClr val="000000"/>
          </a:solidFill>
          <a:ln w="9525">
            <a:noFill/>
            <a:round/>
            <a:headEnd/>
            <a:tailEnd/>
          </a:ln>
        </p:spPr>
        <p:txBody>
          <a:bodyPr/>
          <a:lstStyle/>
          <a:p>
            <a:endParaRPr lang="en-US"/>
          </a:p>
        </p:txBody>
      </p:sp>
      <p:sp>
        <p:nvSpPr>
          <p:cNvPr id="42018" name="Oval 38"/>
          <p:cNvSpPr>
            <a:spLocks noChangeArrowheads="1"/>
          </p:cNvSpPr>
          <p:nvPr/>
        </p:nvSpPr>
        <p:spPr bwMode="auto">
          <a:xfrm>
            <a:off x="4192588" y="3119438"/>
            <a:ext cx="23812" cy="28575"/>
          </a:xfrm>
          <a:prstGeom prst="ellipse">
            <a:avLst/>
          </a:prstGeom>
          <a:solidFill>
            <a:srgbClr val="000000"/>
          </a:solidFill>
          <a:ln w="9525">
            <a:noFill/>
            <a:round/>
            <a:headEnd/>
            <a:tailEnd/>
          </a:ln>
        </p:spPr>
        <p:txBody>
          <a:bodyPr/>
          <a:lstStyle/>
          <a:p>
            <a:endParaRPr lang="en-US"/>
          </a:p>
        </p:txBody>
      </p:sp>
      <p:sp>
        <p:nvSpPr>
          <p:cNvPr id="42019" name="Oval 39"/>
          <p:cNvSpPr>
            <a:spLocks noChangeArrowheads="1"/>
          </p:cNvSpPr>
          <p:nvPr/>
        </p:nvSpPr>
        <p:spPr bwMode="auto">
          <a:xfrm>
            <a:off x="3005138" y="4281488"/>
            <a:ext cx="23812" cy="28575"/>
          </a:xfrm>
          <a:prstGeom prst="ellipse">
            <a:avLst/>
          </a:prstGeom>
          <a:solidFill>
            <a:srgbClr val="000000"/>
          </a:solidFill>
          <a:ln w="9525">
            <a:noFill/>
            <a:round/>
            <a:headEnd/>
            <a:tailEnd/>
          </a:ln>
        </p:spPr>
        <p:txBody>
          <a:bodyPr/>
          <a:lstStyle/>
          <a:p>
            <a:endParaRPr lang="en-US"/>
          </a:p>
        </p:txBody>
      </p:sp>
      <p:sp>
        <p:nvSpPr>
          <p:cNvPr id="42020" name="Oval 40"/>
          <p:cNvSpPr>
            <a:spLocks noChangeArrowheads="1"/>
          </p:cNvSpPr>
          <p:nvPr/>
        </p:nvSpPr>
        <p:spPr bwMode="auto">
          <a:xfrm>
            <a:off x="3116263" y="4281488"/>
            <a:ext cx="26987" cy="28575"/>
          </a:xfrm>
          <a:prstGeom prst="ellipse">
            <a:avLst/>
          </a:prstGeom>
          <a:solidFill>
            <a:srgbClr val="000000"/>
          </a:solidFill>
          <a:ln w="9525">
            <a:noFill/>
            <a:round/>
            <a:headEnd/>
            <a:tailEnd/>
          </a:ln>
        </p:spPr>
        <p:txBody>
          <a:bodyPr/>
          <a:lstStyle/>
          <a:p>
            <a:endParaRPr lang="en-US"/>
          </a:p>
        </p:txBody>
      </p:sp>
      <p:sp>
        <p:nvSpPr>
          <p:cNvPr id="42021" name="Oval 41"/>
          <p:cNvSpPr>
            <a:spLocks noChangeArrowheads="1"/>
          </p:cNvSpPr>
          <p:nvPr/>
        </p:nvSpPr>
        <p:spPr bwMode="auto">
          <a:xfrm>
            <a:off x="3230563" y="4281488"/>
            <a:ext cx="23812" cy="28575"/>
          </a:xfrm>
          <a:prstGeom prst="ellipse">
            <a:avLst/>
          </a:prstGeom>
          <a:solidFill>
            <a:srgbClr val="000000"/>
          </a:solidFill>
          <a:ln w="9525">
            <a:noFill/>
            <a:round/>
            <a:headEnd/>
            <a:tailEnd/>
          </a:ln>
        </p:spPr>
        <p:txBody>
          <a:bodyPr/>
          <a:lstStyle/>
          <a:p>
            <a:endParaRPr lang="en-US"/>
          </a:p>
        </p:txBody>
      </p:sp>
      <p:sp>
        <p:nvSpPr>
          <p:cNvPr id="42022" name="Oval 42"/>
          <p:cNvSpPr>
            <a:spLocks noChangeArrowheads="1"/>
          </p:cNvSpPr>
          <p:nvPr/>
        </p:nvSpPr>
        <p:spPr bwMode="auto">
          <a:xfrm>
            <a:off x="3341688" y="4281488"/>
            <a:ext cx="25400" cy="28575"/>
          </a:xfrm>
          <a:prstGeom prst="ellipse">
            <a:avLst/>
          </a:prstGeom>
          <a:solidFill>
            <a:srgbClr val="000000"/>
          </a:solidFill>
          <a:ln w="9525">
            <a:noFill/>
            <a:round/>
            <a:headEnd/>
            <a:tailEnd/>
          </a:ln>
        </p:spPr>
        <p:txBody>
          <a:bodyPr/>
          <a:lstStyle/>
          <a:p>
            <a:endParaRPr lang="en-US"/>
          </a:p>
        </p:txBody>
      </p:sp>
      <p:sp>
        <p:nvSpPr>
          <p:cNvPr id="42023" name="Oval 43"/>
          <p:cNvSpPr>
            <a:spLocks noChangeArrowheads="1"/>
          </p:cNvSpPr>
          <p:nvPr/>
        </p:nvSpPr>
        <p:spPr bwMode="auto">
          <a:xfrm>
            <a:off x="3454400" y="4281488"/>
            <a:ext cx="23813" cy="28575"/>
          </a:xfrm>
          <a:prstGeom prst="ellipse">
            <a:avLst/>
          </a:prstGeom>
          <a:solidFill>
            <a:srgbClr val="000000"/>
          </a:solidFill>
          <a:ln w="9525">
            <a:noFill/>
            <a:round/>
            <a:headEnd/>
            <a:tailEnd/>
          </a:ln>
        </p:spPr>
        <p:txBody>
          <a:bodyPr/>
          <a:lstStyle/>
          <a:p>
            <a:endParaRPr lang="en-US"/>
          </a:p>
        </p:txBody>
      </p:sp>
      <p:sp>
        <p:nvSpPr>
          <p:cNvPr id="42024" name="Oval 44"/>
          <p:cNvSpPr>
            <a:spLocks noChangeArrowheads="1"/>
          </p:cNvSpPr>
          <p:nvPr/>
        </p:nvSpPr>
        <p:spPr bwMode="auto">
          <a:xfrm>
            <a:off x="3568700" y="4281488"/>
            <a:ext cx="23813" cy="28575"/>
          </a:xfrm>
          <a:prstGeom prst="ellipse">
            <a:avLst/>
          </a:prstGeom>
          <a:solidFill>
            <a:srgbClr val="000000"/>
          </a:solidFill>
          <a:ln w="9525">
            <a:noFill/>
            <a:round/>
            <a:headEnd/>
            <a:tailEnd/>
          </a:ln>
        </p:spPr>
        <p:txBody>
          <a:bodyPr/>
          <a:lstStyle/>
          <a:p>
            <a:endParaRPr lang="en-US"/>
          </a:p>
        </p:txBody>
      </p:sp>
      <p:sp>
        <p:nvSpPr>
          <p:cNvPr id="42025" name="Oval 45"/>
          <p:cNvSpPr>
            <a:spLocks noChangeArrowheads="1"/>
          </p:cNvSpPr>
          <p:nvPr/>
        </p:nvSpPr>
        <p:spPr bwMode="auto">
          <a:xfrm>
            <a:off x="3679825" y="4281488"/>
            <a:ext cx="25400" cy="28575"/>
          </a:xfrm>
          <a:prstGeom prst="ellipse">
            <a:avLst/>
          </a:prstGeom>
          <a:solidFill>
            <a:srgbClr val="000000"/>
          </a:solidFill>
          <a:ln w="9525">
            <a:noFill/>
            <a:round/>
            <a:headEnd/>
            <a:tailEnd/>
          </a:ln>
        </p:spPr>
        <p:txBody>
          <a:bodyPr/>
          <a:lstStyle/>
          <a:p>
            <a:endParaRPr lang="en-US"/>
          </a:p>
        </p:txBody>
      </p:sp>
      <p:sp>
        <p:nvSpPr>
          <p:cNvPr id="42026" name="Oval 46"/>
          <p:cNvSpPr>
            <a:spLocks noChangeArrowheads="1"/>
          </p:cNvSpPr>
          <p:nvPr/>
        </p:nvSpPr>
        <p:spPr bwMode="auto">
          <a:xfrm>
            <a:off x="3798888" y="4281488"/>
            <a:ext cx="23812" cy="28575"/>
          </a:xfrm>
          <a:prstGeom prst="ellipse">
            <a:avLst/>
          </a:prstGeom>
          <a:solidFill>
            <a:srgbClr val="000000"/>
          </a:solidFill>
          <a:ln w="9525">
            <a:noFill/>
            <a:round/>
            <a:headEnd/>
            <a:tailEnd/>
          </a:ln>
        </p:spPr>
        <p:txBody>
          <a:bodyPr/>
          <a:lstStyle/>
          <a:p>
            <a:endParaRPr lang="en-US"/>
          </a:p>
        </p:txBody>
      </p:sp>
      <p:sp>
        <p:nvSpPr>
          <p:cNvPr id="42027" name="Oval 47"/>
          <p:cNvSpPr>
            <a:spLocks noChangeArrowheads="1"/>
          </p:cNvSpPr>
          <p:nvPr/>
        </p:nvSpPr>
        <p:spPr bwMode="auto">
          <a:xfrm>
            <a:off x="3910013" y="4281488"/>
            <a:ext cx="25400" cy="28575"/>
          </a:xfrm>
          <a:prstGeom prst="ellipse">
            <a:avLst/>
          </a:prstGeom>
          <a:solidFill>
            <a:srgbClr val="000000"/>
          </a:solidFill>
          <a:ln w="9525">
            <a:noFill/>
            <a:round/>
            <a:headEnd/>
            <a:tailEnd/>
          </a:ln>
        </p:spPr>
        <p:txBody>
          <a:bodyPr/>
          <a:lstStyle/>
          <a:p>
            <a:endParaRPr lang="en-US"/>
          </a:p>
        </p:txBody>
      </p:sp>
      <p:sp>
        <p:nvSpPr>
          <p:cNvPr id="42028" name="Oval 48"/>
          <p:cNvSpPr>
            <a:spLocks noChangeArrowheads="1"/>
          </p:cNvSpPr>
          <p:nvPr/>
        </p:nvSpPr>
        <p:spPr bwMode="auto">
          <a:xfrm>
            <a:off x="4024313" y="4281488"/>
            <a:ext cx="25400" cy="28575"/>
          </a:xfrm>
          <a:prstGeom prst="ellipse">
            <a:avLst/>
          </a:prstGeom>
          <a:solidFill>
            <a:srgbClr val="000000"/>
          </a:solidFill>
          <a:ln w="9525">
            <a:noFill/>
            <a:round/>
            <a:headEnd/>
            <a:tailEnd/>
          </a:ln>
        </p:spPr>
        <p:txBody>
          <a:bodyPr/>
          <a:lstStyle/>
          <a:p>
            <a:endParaRPr lang="en-US"/>
          </a:p>
        </p:txBody>
      </p:sp>
      <p:sp>
        <p:nvSpPr>
          <p:cNvPr id="42029" name="Oval 49"/>
          <p:cNvSpPr>
            <a:spLocks noChangeArrowheads="1"/>
          </p:cNvSpPr>
          <p:nvPr/>
        </p:nvSpPr>
        <p:spPr bwMode="auto">
          <a:xfrm>
            <a:off x="3005138" y="2490788"/>
            <a:ext cx="23812" cy="26987"/>
          </a:xfrm>
          <a:prstGeom prst="ellipse">
            <a:avLst/>
          </a:prstGeom>
          <a:solidFill>
            <a:srgbClr val="000000"/>
          </a:solidFill>
          <a:ln w="9525">
            <a:noFill/>
            <a:round/>
            <a:headEnd/>
            <a:tailEnd/>
          </a:ln>
        </p:spPr>
        <p:txBody>
          <a:bodyPr/>
          <a:lstStyle/>
          <a:p>
            <a:endParaRPr lang="en-US"/>
          </a:p>
        </p:txBody>
      </p:sp>
      <p:sp>
        <p:nvSpPr>
          <p:cNvPr id="42030" name="Oval 50"/>
          <p:cNvSpPr>
            <a:spLocks noChangeArrowheads="1"/>
          </p:cNvSpPr>
          <p:nvPr/>
        </p:nvSpPr>
        <p:spPr bwMode="auto">
          <a:xfrm>
            <a:off x="3116263" y="2490788"/>
            <a:ext cx="26987" cy="26987"/>
          </a:xfrm>
          <a:prstGeom prst="ellipse">
            <a:avLst/>
          </a:prstGeom>
          <a:solidFill>
            <a:srgbClr val="000000"/>
          </a:solidFill>
          <a:ln w="9525">
            <a:noFill/>
            <a:round/>
            <a:headEnd/>
            <a:tailEnd/>
          </a:ln>
        </p:spPr>
        <p:txBody>
          <a:bodyPr/>
          <a:lstStyle/>
          <a:p>
            <a:endParaRPr lang="en-US"/>
          </a:p>
        </p:txBody>
      </p:sp>
      <p:sp>
        <p:nvSpPr>
          <p:cNvPr id="42031" name="Oval 51"/>
          <p:cNvSpPr>
            <a:spLocks noChangeArrowheads="1"/>
          </p:cNvSpPr>
          <p:nvPr/>
        </p:nvSpPr>
        <p:spPr bwMode="auto">
          <a:xfrm>
            <a:off x="3230563" y="2490788"/>
            <a:ext cx="23812" cy="26987"/>
          </a:xfrm>
          <a:prstGeom prst="ellipse">
            <a:avLst/>
          </a:prstGeom>
          <a:solidFill>
            <a:srgbClr val="000000"/>
          </a:solidFill>
          <a:ln w="9525">
            <a:noFill/>
            <a:round/>
            <a:headEnd/>
            <a:tailEnd/>
          </a:ln>
        </p:spPr>
        <p:txBody>
          <a:bodyPr/>
          <a:lstStyle/>
          <a:p>
            <a:endParaRPr lang="en-US"/>
          </a:p>
        </p:txBody>
      </p:sp>
      <p:sp>
        <p:nvSpPr>
          <p:cNvPr id="42032" name="Oval 52"/>
          <p:cNvSpPr>
            <a:spLocks noChangeArrowheads="1"/>
          </p:cNvSpPr>
          <p:nvPr/>
        </p:nvSpPr>
        <p:spPr bwMode="auto">
          <a:xfrm>
            <a:off x="3341688" y="2490788"/>
            <a:ext cx="25400" cy="26987"/>
          </a:xfrm>
          <a:prstGeom prst="ellipse">
            <a:avLst/>
          </a:prstGeom>
          <a:solidFill>
            <a:srgbClr val="000000"/>
          </a:solidFill>
          <a:ln w="9525">
            <a:noFill/>
            <a:round/>
            <a:headEnd/>
            <a:tailEnd/>
          </a:ln>
        </p:spPr>
        <p:txBody>
          <a:bodyPr/>
          <a:lstStyle/>
          <a:p>
            <a:endParaRPr lang="en-US"/>
          </a:p>
        </p:txBody>
      </p:sp>
      <p:sp>
        <p:nvSpPr>
          <p:cNvPr id="42033" name="Oval 53"/>
          <p:cNvSpPr>
            <a:spLocks noChangeArrowheads="1"/>
          </p:cNvSpPr>
          <p:nvPr/>
        </p:nvSpPr>
        <p:spPr bwMode="auto">
          <a:xfrm>
            <a:off x="3454400" y="2490788"/>
            <a:ext cx="23813" cy="26987"/>
          </a:xfrm>
          <a:prstGeom prst="ellipse">
            <a:avLst/>
          </a:prstGeom>
          <a:solidFill>
            <a:srgbClr val="000000"/>
          </a:solidFill>
          <a:ln w="9525">
            <a:noFill/>
            <a:round/>
            <a:headEnd/>
            <a:tailEnd/>
          </a:ln>
        </p:spPr>
        <p:txBody>
          <a:bodyPr/>
          <a:lstStyle/>
          <a:p>
            <a:endParaRPr lang="en-US"/>
          </a:p>
        </p:txBody>
      </p:sp>
      <p:sp>
        <p:nvSpPr>
          <p:cNvPr id="42034" name="Oval 54"/>
          <p:cNvSpPr>
            <a:spLocks noChangeArrowheads="1"/>
          </p:cNvSpPr>
          <p:nvPr/>
        </p:nvSpPr>
        <p:spPr bwMode="auto">
          <a:xfrm>
            <a:off x="3568700" y="2490788"/>
            <a:ext cx="23813" cy="26987"/>
          </a:xfrm>
          <a:prstGeom prst="ellipse">
            <a:avLst/>
          </a:prstGeom>
          <a:solidFill>
            <a:srgbClr val="000000"/>
          </a:solidFill>
          <a:ln w="9525">
            <a:noFill/>
            <a:round/>
            <a:headEnd/>
            <a:tailEnd/>
          </a:ln>
        </p:spPr>
        <p:txBody>
          <a:bodyPr/>
          <a:lstStyle/>
          <a:p>
            <a:endParaRPr lang="en-US"/>
          </a:p>
        </p:txBody>
      </p:sp>
      <p:sp>
        <p:nvSpPr>
          <p:cNvPr id="42035" name="Oval 55"/>
          <p:cNvSpPr>
            <a:spLocks noChangeArrowheads="1"/>
          </p:cNvSpPr>
          <p:nvPr/>
        </p:nvSpPr>
        <p:spPr bwMode="auto">
          <a:xfrm>
            <a:off x="3679825" y="2490788"/>
            <a:ext cx="25400" cy="26987"/>
          </a:xfrm>
          <a:prstGeom prst="ellipse">
            <a:avLst/>
          </a:prstGeom>
          <a:solidFill>
            <a:srgbClr val="000000"/>
          </a:solidFill>
          <a:ln w="9525">
            <a:noFill/>
            <a:round/>
            <a:headEnd/>
            <a:tailEnd/>
          </a:ln>
        </p:spPr>
        <p:txBody>
          <a:bodyPr/>
          <a:lstStyle/>
          <a:p>
            <a:endParaRPr lang="en-US"/>
          </a:p>
        </p:txBody>
      </p:sp>
      <p:sp>
        <p:nvSpPr>
          <p:cNvPr id="42036" name="Oval 56"/>
          <p:cNvSpPr>
            <a:spLocks noChangeArrowheads="1"/>
          </p:cNvSpPr>
          <p:nvPr/>
        </p:nvSpPr>
        <p:spPr bwMode="auto">
          <a:xfrm>
            <a:off x="3798888" y="2490788"/>
            <a:ext cx="23812" cy="26987"/>
          </a:xfrm>
          <a:prstGeom prst="ellipse">
            <a:avLst/>
          </a:prstGeom>
          <a:solidFill>
            <a:srgbClr val="000000"/>
          </a:solidFill>
          <a:ln w="9525">
            <a:noFill/>
            <a:round/>
            <a:headEnd/>
            <a:tailEnd/>
          </a:ln>
        </p:spPr>
        <p:txBody>
          <a:bodyPr/>
          <a:lstStyle/>
          <a:p>
            <a:endParaRPr lang="en-US"/>
          </a:p>
        </p:txBody>
      </p:sp>
      <p:sp>
        <p:nvSpPr>
          <p:cNvPr id="42037" name="Oval 57"/>
          <p:cNvSpPr>
            <a:spLocks noChangeArrowheads="1"/>
          </p:cNvSpPr>
          <p:nvPr/>
        </p:nvSpPr>
        <p:spPr bwMode="auto">
          <a:xfrm>
            <a:off x="3910013" y="2490788"/>
            <a:ext cx="25400" cy="26987"/>
          </a:xfrm>
          <a:prstGeom prst="ellipse">
            <a:avLst/>
          </a:prstGeom>
          <a:solidFill>
            <a:srgbClr val="000000"/>
          </a:solidFill>
          <a:ln w="9525">
            <a:noFill/>
            <a:round/>
            <a:headEnd/>
            <a:tailEnd/>
          </a:ln>
        </p:spPr>
        <p:txBody>
          <a:bodyPr/>
          <a:lstStyle/>
          <a:p>
            <a:endParaRPr lang="en-US"/>
          </a:p>
        </p:txBody>
      </p:sp>
      <p:sp>
        <p:nvSpPr>
          <p:cNvPr id="42038" name="Oval 58"/>
          <p:cNvSpPr>
            <a:spLocks noChangeArrowheads="1"/>
          </p:cNvSpPr>
          <p:nvPr/>
        </p:nvSpPr>
        <p:spPr bwMode="auto">
          <a:xfrm>
            <a:off x="4024313" y="2490788"/>
            <a:ext cx="25400" cy="26987"/>
          </a:xfrm>
          <a:prstGeom prst="ellipse">
            <a:avLst/>
          </a:prstGeom>
          <a:solidFill>
            <a:srgbClr val="000000"/>
          </a:solidFill>
          <a:ln w="9525">
            <a:noFill/>
            <a:round/>
            <a:headEnd/>
            <a:tailEnd/>
          </a:ln>
        </p:spPr>
        <p:txBody>
          <a:bodyPr/>
          <a:lstStyle/>
          <a:p>
            <a:endParaRPr lang="en-US"/>
          </a:p>
        </p:txBody>
      </p:sp>
      <p:sp>
        <p:nvSpPr>
          <p:cNvPr id="42039" name="Oval 59"/>
          <p:cNvSpPr>
            <a:spLocks noChangeArrowheads="1"/>
          </p:cNvSpPr>
          <p:nvPr/>
        </p:nvSpPr>
        <p:spPr bwMode="auto">
          <a:xfrm>
            <a:off x="4192588" y="3246438"/>
            <a:ext cx="23812" cy="26987"/>
          </a:xfrm>
          <a:prstGeom prst="ellipse">
            <a:avLst/>
          </a:prstGeom>
          <a:solidFill>
            <a:srgbClr val="000000"/>
          </a:solidFill>
          <a:ln w="9525">
            <a:noFill/>
            <a:round/>
            <a:headEnd/>
            <a:tailEnd/>
          </a:ln>
        </p:spPr>
        <p:txBody>
          <a:bodyPr/>
          <a:lstStyle/>
          <a:p>
            <a:endParaRPr lang="en-US"/>
          </a:p>
        </p:txBody>
      </p:sp>
      <p:sp>
        <p:nvSpPr>
          <p:cNvPr id="42040" name="Oval 60"/>
          <p:cNvSpPr>
            <a:spLocks noChangeArrowheads="1"/>
          </p:cNvSpPr>
          <p:nvPr/>
        </p:nvSpPr>
        <p:spPr bwMode="auto">
          <a:xfrm>
            <a:off x="4192588" y="3371850"/>
            <a:ext cx="23812" cy="26988"/>
          </a:xfrm>
          <a:prstGeom prst="ellipse">
            <a:avLst/>
          </a:prstGeom>
          <a:solidFill>
            <a:srgbClr val="000000"/>
          </a:solidFill>
          <a:ln w="9525">
            <a:noFill/>
            <a:round/>
            <a:headEnd/>
            <a:tailEnd/>
          </a:ln>
        </p:spPr>
        <p:txBody>
          <a:bodyPr/>
          <a:lstStyle/>
          <a:p>
            <a:endParaRPr lang="en-US"/>
          </a:p>
        </p:txBody>
      </p:sp>
      <p:sp>
        <p:nvSpPr>
          <p:cNvPr id="42041" name="Oval 61"/>
          <p:cNvSpPr>
            <a:spLocks noChangeArrowheads="1"/>
          </p:cNvSpPr>
          <p:nvPr/>
        </p:nvSpPr>
        <p:spPr bwMode="auto">
          <a:xfrm>
            <a:off x="4192588" y="3495675"/>
            <a:ext cx="23812" cy="30163"/>
          </a:xfrm>
          <a:prstGeom prst="ellipse">
            <a:avLst/>
          </a:prstGeom>
          <a:solidFill>
            <a:srgbClr val="000000"/>
          </a:solidFill>
          <a:ln w="9525">
            <a:noFill/>
            <a:round/>
            <a:headEnd/>
            <a:tailEnd/>
          </a:ln>
        </p:spPr>
        <p:txBody>
          <a:bodyPr/>
          <a:lstStyle/>
          <a:p>
            <a:endParaRPr lang="en-US"/>
          </a:p>
        </p:txBody>
      </p:sp>
      <p:sp>
        <p:nvSpPr>
          <p:cNvPr id="42042" name="Oval 62"/>
          <p:cNvSpPr>
            <a:spLocks noChangeArrowheads="1"/>
          </p:cNvSpPr>
          <p:nvPr/>
        </p:nvSpPr>
        <p:spPr bwMode="auto">
          <a:xfrm>
            <a:off x="4192588" y="3624263"/>
            <a:ext cx="23812" cy="26987"/>
          </a:xfrm>
          <a:prstGeom prst="ellipse">
            <a:avLst/>
          </a:prstGeom>
          <a:solidFill>
            <a:srgbClr val="000000"/>
          </a:solidFill>
          <a:ln w="9525">
            <a:noFill/>
            <a:round/>
            <a:headEnd/>
            <a:tailEnd/>
          </a:ln>
        </p:spPr>
        <p:txBody>
          <a:bodyPr/>
          <a:lstStyle/>
          <a:p>
            <a:endParaRPr lang="en-US"/>
          </a:p>
        </p:txBody>
      </p:sp>
      <p:sp>
        <p:nvSpPr>
          <p:cNvPr id="42043" name="Oval 63"/>
          <p:cNvSpPr>
            <a:spLocks noChangeArrowheads="1"/>
          </p:cNvSpPr>
          <p:nvPr/>
        </p:nvSpPr>
        <p:spPr bwMode="auto">
          <a:xfrm>
            <a:off x="4192588" y="3749675"/>
            <a:ext cx="23812" cy="26988"/>
          </a:xfrm>
          <a:prstGeom prst="ellipse">
            <a:avLst/>
          </a:prstGeom>
          <a:solidFill>
            <a:srgbClr val="000000"/>
          </a:solidFill>
          <a:ln w="9525">
            <a:noFill/>
            <a:round/>
            <a:headEnd/>
            <a:tailEnd/>
          </a:ln>
        </p:spPr>
        <p:txBody>
          <a:bodyPr/>
          <a:lstStyle/>
          <a:p>
            <a:endParaRPr lang="en-US"/>
          </a:p>
        </p:txBody>
      </p:sp>
      <p:sp>
        <p:nvSpPr>
          <p:cNvPr id="42044" name="Oval 64"/>
          <p:cNvSpPr>
            <a:spLocks noChangeArrowheads="1"/>
          </p:cNvSpPr>
          <p:nvPr/>
        </p:nvSpPr>
        <p:spPr bwMode="auto">
          <a:xfrm>
            <a:off x="4192588" y="3873500"/>
            <a:ext cx="23812" cy="30163"/>
          </a:xfrm>
          <a:prstGeom prst="ellipse">
            <a:avLst/>
          </a:prstGeom>
          <a:solidFill>
            <a:srgbClr val="000000"/>
          </a:solidFill>
          <a:ln w="9525">
            <a:noFill/>
            <a:round/>
            <a:headEnd/>
            <a:tailEnd/>
          </a:ln>
        </p:spPr>
        <p:txBody>
          <a:bodyPr/>
          <a:lstStyle/>
          <a:p>
            <a:endParaRPr lang="en-US"/>
          </a:p>
        </p:txBody>
      </p:sp>
      <p:sp>
        <p:nvSpPr>
          <p:cNvPr id="42045" name="Oval 65"/>
          <p:cNvSpPr>
            <a:spLocks noChangeArrowheads="1"/>
          </p:cNvSpPr>
          <p:nvPr/>
        </p:nvSpPr>
        <p:spPr bwMode="auto">
          <a:xfrm>
            <a:off x="4192588" y="4002088"/>
            <a:ext cx="23812" cy="26987"/>
          </a:xfrm>
          <a:prstGeom prst="ellipse">
            <a:avLst/>
          </a:prstGeom>
          <a:solidFill>
            <a:srgbClr val="000000"/>
          </a:solidFill>
          <a:ln w="9525">
            <a:noFill/>
            <a:round/>
            <a:headEnd/>
            <a:tailEnd/>
          </a:ln>
        </p:spPr>
        <p:txBody>
          <a:bodyPr/>
          <a:lstStyle/>
          <a:p>
            <a:endParaRPr lang="en-US"/>
          </a:p>
        </p:txBody>
      </p:sp>
      <p:sp>
        <p:nvSpPr>
          <p:cNvPr id="42046" name="Oval 66"/>
          <p:cNvSpPr>
            <a:spLocks noChangeArrowheads="1"/>
          </p:cNvSpPr>
          <p:nvPr/>
        </p:nvSpPr>
        <p:spPr bwMode="auto">
          <a:xfrm>
            <a:off x="4192588" y="4133850"/>
            <a:ext cx="23812" cy="28575"/>
          </a:xfrm>
          <a:prstGeom prst="ellipse">
            <a:avLst/>
          </a:prstGeom>
          <a:solidFill>
            <a:srgbClr val="000000"/>
          </a:solidFill>
          <a:ln w="9525">
            <a:noFill/>
            <a:round/>
            <a:headEnd/>
            <a:tailEnd/>
          </a:ln>
        </p:spPr>
        <p:txBody>
          <a:bodyPr/>
          <a:lstStyle/>
          <a:p>
            <a:endParaRPr lang="en-US"/>
          </a:p>
        </p:txBody>
      </p:sp>
      <p:sp>
        <p:nvSpPr>
          <p:cNvPr id="42047" name="Oval 67"/>
          <p:cNvSpPr>
            <a:spLocks noChangeArrowheads="1"/>
          </p:cNvSpPr>
          <p:nvPr/>
        </p:nvSpPr>
        <p:spPr bwMode="auto">
          <a:xfrm>
            <a:off x="3005138" y="4189413"/>
            <a:ext cx="23812" cy="26987"/>
          </a:xfrm>
          <a:prstGeom prst="ellipse">
            <a:avLst/>
          </a:prstGeom>
          <a:solidFill>
            <a:srgbClr val="000000"/>
          </a:solidFill>
          <a:ln w="9525">
            <a:noFill/>
            <a:round/>
            <a:headEnd/>
            <a:tailEnd/>
          </a:ln>
        </p:spPr>
        <p:txBody>
          <a:bodyPr/>
          <a:lstStyle/>
          <a:p>
            <a:endParaRPr lang="en-US"/>
          </a:p>
        </p:txBody>
      </p:sp>
      <p:sp>
        <p:nvSpPr>
          <p:cNvPr id="42048" name="Oval 68"/>
          <p:cNvSpPr>
            <a:spLocks noChangeArrowheads="1"/>
          </p:cNvSpPr>
          <p:nvPr/>
        </p:nvSpPr>
        <p:spPr bwMode="auto">
          <a:xfrm>
            <a:off x="3116263" y="4189413"/>
            <a:ext cx="26987" cy="26987"/>
          </a:xfrm>
          <a:prstGeom prst="ellipse">
            <a:avLst/>
          </a:prstGeom>
          <a:solidFill>
            <a:srgbClr val="000000"/>
          </a:solidFill>
          <a:ln w="9525">
            <a:noFill/>
            <a:round/>
            <a:headEnd/>
            <a:tailEnd/>
          </a:ln>
        </p:spPr>
        <p:txBody>
          <a:bodyPr/>
          <a:lstStyle/>
          <a:p>
            <a:endParaRPr lang="en-US"/>
          </a:p>
        </p:txBody>
      </p:sp>
      <p:sp>
        <p:nvSpPr>
          <p:cNvPr id="42049" name="Oval 69"/>
          <p:cNvSpPr>
            <a:spLocks noChangeArrowheads="1"/>
          </p:cNvSpPr>
          <p:nvPr/>
        </p:nvSpPr>
        <p:spPr bwMode="auto">
          <a:xfrm>
            <a:off x="3230563" y="4189413"/>
            <a:ext cx="23812" cy="26987"/>
          </a:xfrm>
          <a:prstGeom prst="ellipse">
            <a:avLst/>
          </a:prstGeom>
          <a:solidFill>
            <a:srgbClr val="000000"/>
          </a:solidFill>
          <a:ln w="9525">
            <a:noFill/>
            <a:round/>
            <a:headEnd/>
            <a:tailEnd/>
          </a:ln>
        </p:spPr>
        <p:txBody>
          <a:bodyPr/>
          <a:lstStyle/>
          <a:p>
            <a:endParaRPr lang="en-US"/>
          </a:p>
        </p:txBody>
      </p:sp>
      <p:sp>
        <p:nvSpPr>
          <p:cNvPr id="42050" name="Oval 70"/>
          <p:cNvSpPr>
            <a:spLocks noChangeArrowheads="1"/>
          </p:cNvSpPr>
          <p:nvPr/>
        </p:nvSpPr>
        <p:spPr bwMode="auto">
          <a:xfrm>
            <a:off x="3341688" y="4189413"/>
            <a:ext cx="25400" cy="26987"/>
          </a:xfrm>
          <a:prstGeom prst="ellipse">
            <a:avLst/>
          </a:prstGeom>
          <a:solidFill>
            <a:srgbClr val="000000"/>
          </a:solidFill>
          <a:ln w="9525">
            <a:noFill/>
            <a:round/>
            <a:headEnd/>
            <a:tailEnd/>
          </a:ln>
        </p:spPr>
        <p:txBody>
          <a:bodyPr/>
          <a:lstStyle/>
          <a:p>
            <a:endParaRPr lang="en-US"/>
          </a:p>
        </p:txBody>
      </p:sp>
      <p:sp>
        <p:nvSpPr>
          <p:cNvPr id="42051" name="Oval 71"/>
          <p:cNvSpPr>
            <a:spLocks noChangeArrowheads="1"/>
          </p:cNvSpPr>
          <p:nvPr/>
        </p:nvSpPr>
        <p:spPr bwMode="auto">
          <a:xfrm>
            <a:off x="3454400" y="4189413"/>
            <a:ext cx="23813" cy="26987"/>
          </a:xfrm>
          <a:prstGeom prst="ellipse">
            <a:avLst/>
          </a:prstGeom>
          <a:solidFill>
            <a:srgbClr val="000000"/>
          </a:solidFill>
          <a:ln w="9525">
            <a:noFill/>
            <a:round/>
            <a:headEnd/>
            <a:tailEnd/>
          </a:ln>
        </p:spPr>
        <p:txBody>
          <a:bodyPr/>
          <a:lstStyle/>
          <a:p>
            <a:endParaRPr lang="en-US"/>
          </a:p>
        </p:txBody>
      </p:sp>
      <p:sp>
        <p:nvSpPr>
          <p:cNvPr id="42052" name="Oval 72"/>
          <p:cNvSpPr>
            <a:spLocks noChangeArrowheads="1"/>
          </p:cNvSpPr>
          <p:nvPr/>
        </p:nvSpPr>
        <p:spPr bwMode="auto">
          <a:xfrm>
            <a:off x="3568700" y="4189413"/>
            <a:ext cx="23813" cy="26987"/>
          </a:xfrm>
          <a:prstGeom prst="ellipse">
            <a:avLst/>
          </a:prstGeom>
          <a:solidFill>
            <a:srgbClr val="000000"/>
          </a:solidFill>
          <a:ln w="9525">
            <a:noFill/>
            <a:round/>
            <a:headEnd/>
            <a:tailEnd/>
          </a:ln>
        </p:spPr>
        <p:txBody>
          <a:bodyPr/>
          <a:lstStyle/>
          <a:p>
            <a:endParaRPr lang="en-US"/>
          </a:p>
        </p:txBody>
      </p:sp>
      <p:sp>
        <p:nvSpPr>
          <p:cNvPr id="42053" name="Oval 73"/>
          <p:cNvSpPr>
            <a:spLocks noChangeArrowheads="1"/>
          </p:cNvSpPr>
          <p:nvPr/>
        </p:nvSpPr>
        <p:spPr bwMode="auto">
          <a:xfrm>
            <a:off x="3679825" y="4189413"/>
            <a:ext cx="25400" cy="26987"/>
          </a:xfrm>
          <a:prstGeom prst="ellipse">
            <a:avLst/>
          </a:prstGeom>
          <a:solidFill>
            <a:srgbClr val="000000"/>
          </a:solidFill>
          <a:ln w="9525">
            <a:noFill/>
            <a:round/>
            <a:headEnd/>
            <a:tailEnd/>
          </a:ln>
        </p:spPr>
        <p:txBody>
          <a:bodyPr/>
          <a:lstStyle/>
          <a:p>
            <a:endParaRPr lang="en-US"/>
          </a:p>
        </p:txBody>
      </p:sp>
      <p:sp>
        <p:nvSpPr>
          <p:cNvPr id="42054" name="Oval 74"/>
          <p:cNvSpPr>
            <a:spLocks noChangeArrowheads="1"/>
          </p:cNvSpPr>
          <p:nvPr/>
        </p:nvSpPr>
        <p:spPr bwMode="auto">
          <a:xfrm>
            <a:off x="3798888" y="4189413"/>
            <a:ext cx="23812" cy="26987"/>
          </a:xfrm>
          <a:prstGeom prst="ellipse">
            <a:avLst/>
          </a:prstGeom>
          <a:solidFill>
            <a:srgbClr val="000000"/>
          </a:solidFill>
          <a:ln w="9525">
            <a:noFill/>
            <a:round/>
            <a:headEnd/>
            <a:tailEnd/>
          </a:ln>
        </p:spPr>
        <p:txBody>
          <a:bodyPr/>
          <a:lstStyle/>
          <a:p>
            <a:endParaRPr lang="en-US"/>
          </a:p>
        </p:txBody>
      </p:sp>
      <p:sp>
        <p:nvSpPr>
          <p:cNvPr id="42055" name="Oval 75"/>
          <p:cNvSpPr>
            <a:spLocks noChangeArrowheads="1"/>
          </p:cNvSpPr>
          <p:nvPr/>
        </p:nvSpPr>
        <p:spPr bwMode="auto">
          <a:xfrm>
            <a:off x="3910013" y="4189413"/>
            <a:ext cx="25400" cy="26987"/>
          </a:xfrm>
          <a:prstGeom prst="ellipse">
            <a:avLst/>
          </a:prstGeom>
          <a:solidFill>
            <a:srgbClr val="000000"/>
          </a:solidFill>
          <a:ln w="9525">
            <a:noFill/>
            <a:round/>
            <a:headEnd/>
            <a:tailEnd/>
          </a:ln>
        </p:spPr>
        <p:txBody>
          <a:bodyPr/>
          <a:lstStyle/>
          <a:p>
            <a:endParaRPr lang="en-US"/>
          </a:p>
        </p:txBody>
      </p:sp>
      <p:sp>
        <p:nvSpPr>
          <p:cNvPr id="42056" name="Oval 76"/>
          <p:cNvSpPr>
            <a:spLocks noChangeArrowheads="1"/>
          </p:cNvSpPr>
          <p:nvPr/>
        </p:nvSpPr>
        <p:spPr bwMode="auto">
          <a:xfrm>
            <a:off x="4024313" y="4189413"/>
            <a:ext cx="25400" cy="26987"/>
          </a:xfrm>
          <a:prstGeom prst="ellipse">
            <a:avLst/>
          </a:prstGeom>
          <a:solidFill>
            <a:srgbClr val="000000"/>
          </a:solidFill>
          <a:ln w="9525">
            <a:noFill/>
            <a:round/>
            <a:headEnd/>
            <a:tailEnd/>
          </a:ln>
        </p:spPr>
        <p:txBody>
          <a:bodyPr/>
          <a:lstStyle/>
          <a:p>
            <a:endParaRPr lang="en-US"/>
          </a:p>
        </p:txBody>
      </p:sp>
      <p:sp>
        <p:nvSpPr>
          <p:cNvPr id="42057" name="Oval 77"/>
          <p:cNvSpPr>
            <a:spLocks noChangeArrowheads="1"/>
          </p:cNvSpPr>
          <p:nvPr/>
        </p:nvSpPr>
        <p:spPr bwMode="auto">
          <a:xfrm>
            <a:off x="4137025" y="4189413"/>
            <a:ext cx="23813" cy="26987"/>
          </a:xfrm>
          <a:prstGeom prst="ellipse">
            <a:avLst/>
          </a:prstGeom>
          <a:solidFill>
            <a:srgbClr val="000000"/>
          </a:solidFill>
          <a:ln w="9525">
            <a:noFill/>
            <a:round/>
            <a:headEnd/>
            <a:tailEnd/>
          </a:ln>
        </p:spPr>
        <p:txBody>
          <a:bodyPr/>
          <a:lstStyle/>
          <a:p>
            <a:endParaRPr lang="en-US"/>
          </a:p>
        </p:txBody>
      </p:sp>
      <p:sp>
        <p:nvSpPr>
          <p:cNvPr id="42058" name="Oval 78"/>
          <p:cNvSpPr>
            <a:spLocks noChangeArrowheads="1"/>
          </p:cNvSpPr>
          <p:nvPr/>
        </p:nvSpPr>
        <p:spPr bwMode="auto">
          <a:xfrm>
            <a:off x="4248150" y="4189413"/>
            <a:ext cx="25400" cy="26987"/>
          </a:xfrm>
          <a:prstGeom prst="ellipse">
            <a:avLst/>
          </a:prstGeom>
          <a:solidFill>
            <a:srgbClr val="000000"/>
          </a:solidFill>
          <a:ln w="9525">
            <a:noFill/>
            <a:round/>
            <a:headEnd/>
            <a:tailEnd/>
          </a:ln>
        </p:spPr>
        <p:txBody>
          <a:bodyPr/>
          <a:lstStyle/>
          <a:p>
            <a:endParaRPr lang="en-US"/>
          </a:p>
        </p:txBody>
      </p:sp>
      <p:sp>
        <p:nvSpPr>
          <p:cNvPr id="42059" name="Oval 79"/>
          <p:cNvSpPr>
            <a:spLocks noChangeArrowheads="1"/>
          </p:cNvSpPr>
          <p:nvPr/>
        </p:nvSpPr>
        <p:spPr bwMode="auto">
          <a:xfrm>
            <a:off x="4360863" y="4189413"/>
            <a:ext cx="25400" cy="26987"/>
          </a:xfrm>
          <a:prstGeom prst="ellipse">
            <a:avLst/>
          </a:prstGeom>
          <a:solidFill>
            <a:srgbClr val="000000"/>
          </a:solidFill>
          <a:ln w="9525">
            <a:noFill/>
            <a:round/>
            <a:headEnd/>
            <a:tailEnd/>
          </a:ln>
        </p:spPr>
        <p:txBody>
          <a:bodyPr/>
          <a:lstStyle/>
          <a:p>
            <a:endParaRPr lang="en-US"/>
          </a:p>
        </p:txBody>
      </p:sp>
      <p:sp>
        <p:nvSpPr>
          <p:cNvPr id="42060" name="Oval 80"/>
          <p:cNvSpPr>
            <a:spLocks noChangeArrowheads="1"/>
          </p:cNvSpPr>
          <p:nvPr/>
        </p:nvSpPr>
        <p:spPr bwMode="auto">
          <a:xfrm>
            <a:off x="4473575" y="4189413"/>
            <a:ext cx="25400" cy="26987"/>
          </a:xfrm>
          <a:prstGeom prst="ellipse">
            <a:avLst/>
          </a:prstGeom>
          <a:solidFill>
            <a:srgbClr val="000000"/>
          </a:solidFill>
          <a:ln w="9525">
            <a:noFill/>
            <a:round/>
            <a:headEnd/>
            <a:tailEnd/>
          </a:ln>
        </p:spPr>
        <p:txBody>
          <a:bodyPr/>
          <a:lstStyle/>
          <a:p>
            <a:endParaRPr lang="en-US"/>
          </a:p>
        </p:txBody>
      </p:sp>
      <p:sp>
        <p:nvSpPr>
          <p:cNvPr id="42061" name="Oval 81"/>
          <p:cNvSpPr>
            <a:spLocks noChangeArrowheads="1"/>
          </p:cNvSpPr>
          <p:nvPr/>
        </p:nvSpPr>
        <p:spPr bwMode="auto">
          <a:xfrm>
            <a:off x="4586288" y="4189413"/>
            <a:ext cx="23812" cy="26987"/>
          </a:xfrm>
          <a:prstGeom prst="ellipse">
            <a:avLst/>
          </a:prstGeom>
          <a:solidFill>
            <a:srgbClr val="000000"/>
          </a:solidFill>
          <a:ln w="9525">
            <a:noFill/>
            <a:round/>
            <a:headEnd/>
            <a:tailEnd/>
          </a:ln>
        </p:spPr>
        <p:txBody>
          <a:bodyPr/>
          <a:lstStyle/>
          <a:p>
            <a:endParaRPr lang="en-US"/>
          </a:p>
        </p:txBody>
      </p:sp>
      <p:sp>
        <p:nvSpPr>
          <p:cNvPr id="42062" name="Oval 82"/>
          <p:cNvSpPr>
            <a:spLocks noChangeArrowheads="1"/>
          </p:cNvSpPr>
          <p:nvPr/>
        </p:nvSpPr>
        <p:spPr bwMode="auto">
          <a:xfrm>
            <a:off x="4705350" y="4189413"/>
            <a:ext cx="23813" cy="26987"/>
          </a:xfrm>
          <a:prstGeom prst="ellipse">
            <a:avLst/>
          </a:prstGeom>
          <a:solidFill>
            <a:srgbClr val="000000"/>
          </a:solidFill>
          <a:ln w="9525">
            <a:noFill/>
            <a:round/>
            <a:headEnd/>
            <a:tailEnd/>
          </a:ln>
        </p:spPr>
        <p:txBody>
          <a:bodyPr/>
          <a:lstStyle/>
          <a:p>
            <a:endParaRPr lang="en-US"/>
          </a:p>
        </p:txBody>
      </p:sp>
      <p:sp>
        <p:nvSpPr>
          <p:cNvPr id="42063" name="Oval 83"/>
          <p:cNvSpPr>
            <a:spLocks noChangeArrowheads="1"/>
          </p:cNvSpPr>
          <p:nvPr/>
        </p:nvSpPr>
        <p:spPr bwMode="auto">
          <a:xfrm>
            <a:off x="4816475" y="4189413"/>
            <a:ext cx="26988" cy="26987"/>
          </a:xfrm>
          <a:prstGeom prst="ellipse">
            <a:avLst/>
          </a:prstGeom>
          <a:solidFill>
            <a:srgbClr val="000000"/>
          </a:solidFill>
          <a:ln w="9525">
            <a:noFill/>
            <a:round/>
            <a:headEnd/>
            <a:tailEnd/>
          </a:ln>
        </p:spPr>
        <p:txBody>
          <a:bodyPr/>
          <a:lstStyle/>
          <a:p>
            <a:endParaRPr lang="en-US"/>
          </a:p>
        </p:txBody>
      </p:sp>
      <p:sp>
        <p:nvSpPr>
          <p:cNvPr id="42064" name="Line 84"/>
          <p:cNvSpPr>
            <a:spLocks noChangeShapeType="1"/>
          </p:cNvSpPr>
          <p:nvPr/>
        </p:nvSpPr>
        <p:spPr bwMode="auto">
          <a:xfrm flipV="1">
            <a:off x="2711450" y="5497513"/>
            <a:ext cx="130175" cy="85725"/>
          </a:xfrm>
          <a:prstGeom prst="line">
            <a:avLst/>
          </a:prstGeom>
          <a:noFill/>
          <a:ln w="9525">
            <a:solidFill>
              <a:srgbClr val="000000"/>
            </a:solidFill>
            <a:miter lim="800000"/>
            <a:headEnd/>
            <a:tailEnd/>
          </a:ln>
        </p:spPr>
        <p:txBody>
          <a:bodyPr/>
          <a:lstStyle/>
          <a:p>
            <a:endParaRPr lang="en-US"/>
          </a:p>
        </p:txBody>
      </p:sp>
      <p:sp>
        <p:nvSpPr>
          <p:cNvPr id="42065" name="Line 85"/>
          <p:cNvSpPr>
            <a:spLocks noChangeShapeType="1"/>
          </p:cNvSpPr>
          <p:nvPr/>
        </p:nvSpPr>
        <p:spPr bwMode="auto">
          <a:xfrm flipV="1">
            <a:off x="2711450" y="5610225"/>
            <a:ext cx="130175" cy="82550"/>
          </a:xfrm>
          <a:prstGeom prst="line">
            <a:avLst/>
          </a:prstGeom>
          <a:noFill/>
          <a:ln w="9525">
            <a:solidFill>
              <a:srgbClr val="000000"/>
            </a:solidFill>
            <a:miter lim="800000"/>
            <a:headEnd/>
            <a:tailEnd/>
          </a:ln>
        </p:spPr>
        <p:txBody>
          <a:bodyPr/>
          <a:lstStyle/>
          <a:p>
            <a:endParaRPr lang="en-US"/>
          </a:p>
        </p:txBody>
      </p:sp>
      <p:sp>
        <p:nvSpPr>
          <p:cNvPr id="343128" name="Text Box 88"/>
          <p:cNvSpPr txBox="1">
            <a:spLocks noChangeArrowheads="1"/>
          </p:cNvSpPr>
          <p:nvPr/>
        </p:nvSpPr>
        <p:spPr bwMode="auto">
          <a:xfrm>
            <a:off x="6415088" y="762000"/>
            <a:ext cx="2514600" cy="2014538"/>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dirty="0"/>
              <a:t>When the price elasticity of demand is low and the price elasticity of supply is high, the burden of an excise tax falls mainly on consumers.</a:t>
            </a:r>
          </a:p>
        </p:txBody>
      </p:sp>
      <p:pic>
        <p:nvPicPr>
          <p:cNvPr id="42069" name="Picture 85"/>
          <p:cNvPicPr>
            <a:picLocks noChangeAspect="1" noChangeArrowheads="1"/>
          </p:cNvPicPr>
          <p:nvPr/>
        </p:nvPicPr>
        <p:blipFill>
          <a:blip r:embed="rId3"/>
          <a:srcRect/>
          <a:stretch>
            <a:fillRect/>
          </a:stretch>
        </p:blipFill>
        <p:spPr bwMode="auto">
          <a:xfrm>
            <a:off x="6564313" y="4292600"/>
            <a:ext cx="2220912" cy="1458913"/>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43071"/>
                                        </p:tgtEl>
                                        <p:attrNameLst>
                                          <p:attrName>style.visibility</p:attrName>
                                        </p:attrNameLst>
                                      </p:cBhvr>
                                      <p:to>
                                        <p:strVal val="visible"/>
                                      </p:to>
                                    </p:set>
                                    <p:animEffect transition="in" filter="plus(in)">
                                      <p:cBhvr>
                                        <p:cTn id="7" dur="1000"/>
                                        <p:tgtEl>
                                          <p:spTgt spid="34307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43069"/>
                                        </p:tgtEl>
                                        <p:attrNameLst>
                                          <p:attrName>style.visibility</p:attrName>
                                        </p:attrNameLst>
                                      </p:cBhvr>
                                      <p:to>
                                        <p:strVal val="visible"/>
                                      </p:to>
                                    </p:set>
                                  </p:childTnLst>
                                </p:cTn>
                              </p:par>
                              <p:par>
                                <p:cTn id="10" presetID="22" presetClass="entr" presetSubtype="8" fill="hold" grpId="0" nodeType="withEffect">
                                  <p:stCondLst>
                                    <p:cond delay="0"/>
                                  </p:stCondLst>
                                  <p:childTnLst>
                                    <p:set>
                                      <p:cBhvr>
                                        <p:cTn id="11" dur="1" fill="hold">
                                          <p:stCondLst>
                                            <p:cond delay="0"/>
                                          </p:stCondLst>
                                        </p:cTn>
                                        <p:tgtEl>
                                          <p:spTgt spid="343070"/>
                                        </p:tgtEl>
                                        <p:attrNameLst>
                                          <p:attrName>style.visibility</p:attrName>
                                        </p:attrNameLst>
                                      </p:cBhvr>
                                      <p:to>
                                        <p:strVal val="visible"/>
                                      </p:to>
                                    </p:set>
                                    <p:animEffect transition="in" filter="wipe(left)">
                                      <p:cBhvr>
                                        <p:cTn id="12" dur="500"/>
                                        <p:tgtEl>
                                          <p:spTgt spid="3430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3072"/>
                                        </p:tgtEl>
                                        <p:attrNameLst>
                                          <p:attrName>style.visibility</p:attrName>
                                        </p:attrNameLst>
                                      </p:cBhvr>
                                      <p:to>
                                        <p:strVal val="visible"/>
                                      </p:to>
                                    </p:set>
                                    <p:animEffect transition="in" filter="wipe(down)">
                                      <p:cBhvr>
                                        <p:cTn id="17" dur="500"/>
                                        <p:tgtEl>
                                          <p:spTgt spid="343072"/>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34307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43067"/>
                                        </p:tgtEl>
                                        <p:attrNameLst>
                                          <p:attrName>style.visibility</p:attrName>
                                        </p:attrNameLst>
                                      </p:cBhvr>
                                      <p:to>
                                        <p:strVal val="visible"/>
                                      </p:to>
                                    </p:set>
                                  </p:childTnLst>
                                </p:cTn>
                              </p:par>
                              <p:par>
                                <p:cTn id="22" presetID="22" presetClass="entr" presetSubtype="8" fill="hold" grpId="0" nodeType="withEffect">
                                  <p:stCondLst>
                                    <p:cond delay="0"/>
                                  </p:stCondLst>
                                  <p:childTnLst>
                                    <p:set>
                                      <p:cBhvr>
                                        <p:cTn id="23" dur="1" fill="hold">
                                          <p:stCondLst>
                                            <p:cond delay="0"/>
                                          </p:stCondLst>
                                        </p:cTn>
                                        <p:tgtEl>
                                          <p:spTgt spid="343068"/>
                                        </p:tgtEl>
                                        <p:attrNameLst>
                                          <p:attrName>style.visibility</p:attrName>
                                        </p:attrNameLst>
                                      </p:cBhvr>
                                      <p:to>
                                        <p:strVal val="visible"/>
                                      </p:to>
                                    </p:set>
                                    <p:animEffect transition="in" filter="wipe(left)">
                                      <p:cBhvr>
                                        <p:cTn id="24" dur="500"/>
                                        <p:tgtEl>
                                          <p:spTgt spid="343068"/>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343066"/>
                                        </p:tgtEl>
                                        <p:attrNameLst>
                                          <p:attrName>style.visibility</p:attrName>
                                        </p:attrNameLst>
                                      </p:cBhvr>
                                      <p:to>
                                        <p:strVal val="visible"/>
                                      </p:to>
                                    </p:se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343128"/>
                                        </p:tgtEl>
                                        <p:attrNameLst>
                                          <p:attrName>style.visibility</p:attrName>
                                        </p:attrNameLst>
                                      </p:cBhvr>
                                      <p:to>
                                        <p:strVal val="visible"/>
                                      </p:to>
                                    </p:set>
                                    <p:animEffect transition="in" filter="wipe(left)">
                                      <p:cBhvr>
                                        <p:cTn id="30" dur="500"/>
                                        <p:tgtEl>
                                          <p:spTgt spid="343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66" grpId="0" animBg="1"/>
      <p:bldP spid="343067" grpId="0" animBg="1"/>
      <p:bldP spid="343068" grpId="0"/>
      <p:bldP spid="343069" grpId="0" animBg="1"/>
      <p:bldP spid="343070" grpId="0"/>
      <p:bldP spid="343071" grpId="0" animBg="1"/>
      <p:bldP spid="343072" grpId="0" animBg="1"/>
      <p:bldP spid="343073" grpId="0" animBg="1"/>
      <p:bldP spid="3431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Rot="1" noChangeArrowheads="1"/>
          </p:cNvSpPr>
          <p:nvPr>
            <p:ph type="title" idx="4294967295"/>
          </p:nvPr>
        </p:nvSpPr>
        <p:spPr>
          <a:xfrm>
            <a:off x="827088" y="60325"/>
            <a:ext cx="8323262" cy="555625"/>
          </a:xfrm>
        </p:spPr>
        <p:txBody>
          <a:bodyPr/>
          <a:lstStyle/>
          <a:p>
            <a:pPr>
              <a:defRPr/>
            </a:pPr>
            <a:r>
              <a:rPr lang="en-US" dirty="0" smtClean="0"/>
              <a:t>An Excise Tax Paid Mainly by Producers</a:t>
            </a:r>
          </a:p>
        </p:txBody>
      </p:sp>
      <p:sp>
        <p:nvSpPr>
          <p:cNvPr id="44034" name="Rectangle 7"/>
          <p:cNvSpPr>
            <a:spLocks noChangeArrowheads="1"/>
          </p:cNvSpPr>
          <p:nvPr/>
        </p:nvSpPr>
        <p:spPr bwMode="auto">
          <a:xfrm>
            <a:off x="7046913" y="3178175"/>
            <a:ext cx="128587"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44035" name="Rectangle 8"/>
          <p:cNvSpPr>
            <a:spLocks noChangeArrowheads="1"/>
          </p:cNvSpPr>
          <p:nvPr/>
        </p:nvSpPr>
        <p:spPr bwMode="auto">
          <a:xfrm>
            <a:off x="5794375" y="1717675"/>
            <a:ext cx="119063"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44036" name="Line 9"/>
          <p:cNvSpPr>
            <a:spLocks noChangeShapeType="1"/>
          </p:cNvSpPr>
          <p:nvPr/>
        </p:nvSpPr>
        <p:spPr bwMode="auto">
          <a:xfrm>
            <a:off x="2486025" y="2679700"/>
            <a:ext cx="158750" cy="0"/>
          </a:xfrm>
          <a:prstGeom prst="line">
            <a:avLst/>
          </a:prstGeom>
          <a:noFill/>
          <a:ln w="9525">
            <a:solidFill>
              <a:srgbClr val="000000"/>
            </a:solidFill>
            <a:miter lim="800000"/>
            <a:headEnd/>
            <a:tailEnd/>
          </a:ln>
        </p:spPr>
        <p:txBody>
          <a:bodyPr/>
          <a:lstStyle/>
          <a:p>
            <a:endParaRPr lang="en-US"/>
          </a:p>
        </p:txBody>
      </p:sp>
      <p:sp>
        <p:nvSpPr>
          <p:cNvPr id="44037" name="Line 10"/>
          <p:cNvSpPr>
            <a:spLocks noChangeShapeType="1"/>
          </p:cNvSpPr>
          <p:nvPr/>
        </p:nvSpPr>
        <p:spPr bwMode="auto">
          <a:xfrm>
            <a:off x="2486025" y="2933700"/>
            <a:ext cx="158750" cy="0"/>
          </a:xfrm>
          <a:prstGeom prst="line">
            <a:avLst/>
          </a:prstGeom>
          <a:noFill/>
          <a:ln w="9525">
            <a:solidFill>
              <a:srgbClr val="000000"/>
            </a:solidFill>
            <a:miter lim="800000"/>
            <a:headEnd/>
            <a:tailEnd/>
          </a:ln>
        </p:spPr>
        <p:txBody>
          <a:bodyPr/>
          <a:lstStyle/>
          <a:p>
            <a:endParaRPr lang="en-US"/>
          </a:p>
        </p:txBody>
      </p:sp>
      <p:sp>
        <p:nvSpPr>
          <p:cNvPr id="44038" name="Line 11"/>
          <p:cNvSpPr>
            <a:spLocks noChangeShapeType="1"/>
          </p:cNvSpPr>
          <p:nvPr/>
        </p:nvSpPr>
        <p:spPr bwMode="auto">
          <a:xfrm>
            <a:off x="2486025" y="5240338"/>
            <a:ext cx="158750" cy="0"/>
          </a:xfrm>
          <a:prstGeom prst="line">
            <a:avLst/>
          </a:prstGeom>
          <a:noFill/>
          <a:ln w="9525">
            <a:solidFill>
              <a:srgbClr val="000000"/>
            </a:solidFill>
            <a:miter lim="800000"/>
            <a:headEnd/>
            <a:tailEnd/>
          </a:ln>
        </p:spPr>
        <p:txBody>
          <a:bodyPr/>
          <a:lstStyle/>
          <a:p>
            <a:endParaRPr lang="en-US"/>
          </a:p>
        </p:txBody>
      </p:sp>
      <p:sp>
        <p:nvSpPr>
          <p:cNvPr id="44039" name="Rectangle 12"/>
          <p:cNvSpPr>
            <a:spLocks noChangeArrowheads="1"/>
          </p:cNvSpPr>
          <p:nvPr/>
        </p:nvSpPr>
        <p:spPr bwMode="auto">
          <a:xfrm>
            <a:off x="2041525" y="2538413"/>
            <a:ext cx="442913"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$6.50</a:t>
            </a:r>
            <a:endParaRPr lang="en-US" sz="1400">
              <a:latin typeface="Tahoma" pitchFamily="34" charset="0"/>
            </a:endParaRPr>
          </a:p>
        </p:txBody>
      </p:sp>
      <p:sp>
        <p:nvSpPr>
          <p:cNvPr id="44040" name="Rectangle 13"/>
          <p:cNvSpPr>
            <a:spLocks noChangeArrowheads="1"/>
          </p:cNvSpPr>
          <p:nvPr/>
        </p:nvSpPr>
        <p:spPr bwMode="auto">
          <a:xfrm>
            <a:off x="2068513" y="2798763"/>
            <a:ext cx="34448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6.00</a:t>
            </a:r>
            <a:endParaRPr lang="en-US" sz="1400">
              <a:latin typeface="Tahoma" pitchFamily="34" charset="0"/>
            </a:endParaRPr>
          </a:p>
        </p:txBody>
      </p:sp>
      <p:sp>
        <p:nvSpPr>
          <p:cNvPr id="44041" name="Rectangle 14"/>
          <p:cNvSpPr>
            <a:spLocks noChangeArrowheads="1"/>
          </p:cNvSpPr>
          <p:nvPr/>
        </p:nvSpPr>
        <p:spPr bwMode="auto">
          <a:xfrm>
            <a:off x="2068513" y="5105400"/>
            <a:ext cx="34448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latin typeface="Tahoma" pitchFamily="34" charset="0"/>
            </a:endParaRPr>
          </a:p>
        </p:txBody>
      </p:sp>
      <p:sp>
        <p:nvSpPr>
          <p:cNvPr id="44042" name="Rectangle 15"/>
          <p:cNvSpPr>
            <a:spLocks noChangeArrowheads="1"/>
          </p:cNvSpPr>
          <p:nvPr/>
        </p:nvSpPr>
        <p:spPr bwMode="auto">
          <a:xfrm>
            <a:off x="1368425" y="1160463"/>
            <a:ext cx="2465388" cy="2127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parking space</a:t>
            </a:r>
            <a:endParaRPr lang="en-US" sz="1400">
              <a:latin typeface="Tahoma" pitchFamily="34" charset="0"/>
            </a:endParaRPr>
          </a:p>
        </p:txBody>
      </p:sp>
      <p:sp>
        <p:nvSpPr>
          <p:cNvPr id="44043" name="Rectangle 16"/>
          <p:cNvSpPr>
            <a:spLocks noChangeArrowheads="1"/>
          </p:cNvSpPr>
          <p:nvPr/>
        </p:nvSpPr>
        <p:spPr bwMode="auto">
          <a:xfrm>
            <a:off x="2259013" y="6067425"/>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latin typeface="Tahoma" pitchFamily="34" charset="0"/>
            </a:endParaRPr>
          </a:p>
        </p:txBody>
      </p:sp>
      <p:sp>
        <p:nvSpPr>
          <p:cNvPr id="44044" name="Rectangle 17"/>
          <p:cNvSpPr>
            <a:spLocks noChangeArrowheads="1"/>
          </p:cNvSpPr>
          <p:nvPr/>
        </p:nvSpPr>
        <p:spPr bwMode="auto">
          <a:xfrm>
            <a:off x="6208713" y="6169025"/>
            <a:ext cx="2098675" cy="212725"/>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 of parking spaces</a:t>
            </a:r>
            <a:endParaRPr lang="en-US" sz="1400">
              <a:latin typeface="Tahoma" pitchFamily="34" charset="0"/>
            </a:endParaRPr>
          </a:p>
        </p:txBody>
      </p:sp>
      <p:sp>
        <p:nvSpPr>
          <p:cNvPr id="44045" name="Freeform 18"/>
          <p:cNvSpPr>
            <a:spLocks/>
          </p:cNvSpPr>
          <p:nvPr/>
        </p:nvSpPr>
        <p:spPr bwMode="auto">
          <a:xfrm>
            <a:off x="2486025" y="1477963"/>
            <a:ext cx="4941888" cy="4535487"/>
          </a:xfrm>
          <a:custGeom>
            <a:avLst/>
            <a:gdLst>
              <a:gd name="T0" fmla="*/ 4941887 w 2244"/>
              <a:gd name="T1" fmla="*/ 4535487 h 2043"/>
              <a:gd name="T2" fmla="*/ 0 w 2244"/>
              <a:gd name="T3" fmla="*/ 4535487 h 2043"/>
              <a:gd name="T4" fmla="*/ 0 w 2244"/>
              <a:gd name="T5" fmla="*/ 0 h 2043"/>
              <a:gd name="T6" fmla="*/ 0 60000 65536"/>
              <a:gd name="T7" fmla="*/ 0 60000 65536"/>
              <a:gd name="T8" fmla="*/ 0 60000 65536"/>
              <a:gd name="T9" fmla="*/ 0 w 2244"/>
              <a:gd name="T10" fmla="*/ 0 h 2043"/>
              <a:gd name="T11" fmla="*/ 2244 w 2244"/>
              <a:gd name="T12" fmla="*/ 2043 h 2043"/>
            </a:gdLst>
            <a:ahLst/>
            <a:cxnLst>
              <a:cxn ang="T6">
                <a:pos x="T0" y="T1"/>
              </a:cxn>
              <a:cxn ang="T7">
                <a:pos x="T2" y="T3"/>
              </a:cxn>
              <a:cxn ang="T8">
                <a:pos x="T4" y="T5"/>
              </a:cxn>
            </a:cxnLst>
            <a:rect l="T9" t="T10" r="T11" b="T12"/>
            <a:pathLst>
              <a:path w="2244" h="2043">
                <a:moveTo>
                  <a:pt x="2244" y="2043"/>
                </a:moveTo>
                <a:lnTo>
                  <a:pt x="0" y="2043"/>
                </a:lnTo>
                <a:lnTo>
                  <a:pt x="0" y="0"/>
                </a:lnTo>
              </a:path>
            </a:pathLst>
          </a:custGeom>
          <a:noFill/>
          <a:ln w="9525" cap="flat">
            <a:solidFill>
              <a:srgbClr val="000000"/>
            </a:solidFill>
            <a:prstDash val="solid"/>
            <a:miter lim="800000"/>
            <a:headEnd/>
            <a:tailEnd/>
          </a:ln>
        </p:spPr>
        <p:txBody>
          <a:bodyPr/>
          <a:lstStyle/>
          <a:p>
            <a:endParaRPr lang="en-US"/>
          </a:p>
        </p:txBody>
      </p:sp>
      <p:sp>
        <p:nvSpPr>
          <p:cNvPr id="44046" name="Line 19"/>
          <p:cNvSpPr>
            <a:spLocks noChangeShapeType="1"/>
          </p:cNvSpPr>
          <p:nvPr/>
        </p:nvSpPr>
        <p:spPr bwMode="auto">
          <a:xfrm>
            <a:off x="2776538" y="2155825"/>
            <a:ext cx="4311650" cy="1254125"/>
          </a:xfrm>
          <a:prstGeom prst="line">
            <a:avLst/>
          </a:prstGeom>
          <a:noFill/>
          <a:ln w="38100">
            <a:solidFill>
              <a:srgbClr val="3C5DAA"/>
            </a:solidFill>
            <a:miter lim="800000"/>
            <a:headEnd/>
            <a:tailEnd/>
          </a:ln>
        </p:spPr>
        <p:txBody>
          <a:bodyPr/>
          <a:lstStyle/>
          <a:p>
            <a:endParaRPr lang="en-US"/>
          </a:p>
        </p:txBody>
      </p:sp>
      <p:sp>
        <p:nvSpPr>
          <p:cNvPr id="44047" name="Oval 20"/>
          <p:cNvSpPr>
            <a:spLocks noChangeArrowheads="1"/>
          </p:cNvSpPr>
          <p:nvPr/>
        </p:nvSpPr>
        <p:spPr bwMode="auto">
          <a:xfrm>
            <a:off x="4500563" y="2613025"/>
            <a:ext cx="131762" cy="133350"/>
          </a:xfrm>
          <a:prstGeom prst="ellipse">
            <a:avLst/>
          </a:prstGeom>
          <a:solidFill>
            <a:srgbClr val="000000"/>
          </a:solidFill>
          <a:ln w="9525">
            <a:noFill/>
            <a:round/>
            <a:headEnd/>
            <a:tailEnd/>
          </a:ln>
        </p:spPr>
        <p:txBody>
          <a:bodyPr/>
          <a:lstStyle/>
          <a:p>
            <a:endParaRPr lang="en-US"/>
          </a:p>
        </p:txBody>
      </p:sp>
      <p:sp>
        <p:nvSpPr>
          <p:cNvPr id="44048" name="Line 21"/>
          <p:cNvSpPr>
            <a:spLocks noChangeShapeType="1"/>
          </p:cNvSpPr>
          <p:nvPr/>
        </p:nvSpPr>
        <p:spPr bwMode="auto">
          <a:xfrm flipV="1">
            <a:off x="4386263" y="2035175"/>
            <a:ext cx="1398587" cy="3683000"/>
          </a:xfrm>
          <a:prstGeom prst="line">
            <a:avLst/>
          </a:prstGeom>
          <a:noFill/>
          <a:ln w="38100">
            <a:solidFill>
              <a:srgbClr val="EE313C"/>
            </a:solidFill>
            <a:miter lim="800000"/>
            <a:headEnd/>
            <a:tailEnd/>
          </a:ln>
        </p:spPr>
        <p:txBody>
          <a:bodyPr/>
          <a:lstStyle/>
          <a:p>
            <a:endParaRPr lang="en-US"/>
          </a:p>
        </p:txBody>
      </p:sp>
      <p:sp>
        <p:nvSpPr>
          <p:cNvPr id="345110" name="Line 22"/>
          <p:cNvSpPr>
            <a:spLocks noChangeShapeType="1"/>
          </p:cNvSpPr>
          <p:nvPr/>
        </p:nvSpPr>
        <p:spPr bwMode="auto">
          <a:xfrm>
            <a:off x="3681413" y="4046538"/>
            <a:ext cx="1503362" cy="822325"/>
          </a:xfrm>
          <a:prstGeom prst="line">
            <a:avLst/>
          </a:prstGeom>
          <a:noFill/>
          <a:ln w="9525">
            <a:solidFill>
              <a:srgbClr val="000000"/>
            </a:solidFill>
            <a:miter lim="800000"/>
            <a:headEnd/>
            <a:tailEnd/>
          </a:ln>
        </p:spPr>
        <p:txBody>
          <a:bodyPr/>
          <a:lstStyle/>
          <a:p>
            <a:endParaRPr lang="en-US"/>
          </a:p>
        </p:txBody>
      </p:sp>
      <p:sp>
        <p:nvSpPr>
          <p:cNvPr id="345111" name="Freeform 23"/>
          <p:cNvSpPr>
            <a:spLocks/>
          </p:cNvSpPr>
          <p:nvPr/>
        </p:nvSpPr>
        <p:spPr bwMode="auto">
          <a:xfrm>
            <a:off x="5100638" y="4533900"/>
            <a:ext cx="1400175" cy="766763"/>
          </a:xfrm>
          <a:custGeom>
            <a:avLst/>
            <a:gdLst>
              <a:gd name="T0" fmla="*/ 1400175 w 209"/>
              <a:gd name="T1" fmla="*/ 675209 h 134"/>
              <a:gd name="T2" fmla="*/ 1292985 w 209"/>
              <a:gd name="T3" fmla="*/ 766763 h 134"/>
              <a:gd name="T4" fmla="*/ 107190 w 209"/>
              <a:gd name="T5" fmla="*/ 766763 h 134"/>
              <a:gd name="T6" fmla="*/ 0 w 209"/>
              <a:gd name="T7" fmla="*/ 675209 h 134"/>
              <a:gd name="T8" fmla="*/ 0 w 209"/>
              <a:gd name="T9" fmla="*/ 91554 h 134"/>
              <a:gd name="T10" fmla="*/ 107190 w 209"/>
              <a:gd name="T11" fmla="*/ 0 h 134"/>
              <a:gd name="T12" fmla="*/ 1292985 w 209"/>
              <a:gd name="T13" fmla="*/ 0 h 134"/>
              <a:gd name="T14" fmla="*/ 1400175 w 209"/>
              <a:gd name="T15" fmla="*/ 91554 h 134"/>
              <a:gd name="T16" fmla="*/ 1400175 w 209"/>
              <a:gd name="T17" fmla="*/ 675209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9"/>
              <a:gd name="T28" fmla="*/ 0 h 134"/>
              <a:gd name="T29" fmla="*/ 209 w 209"/>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9" h="134">
                <a:moveTo>
                  <a:pt x="209" y="118"/>
                </a:moveTo>
                <a:cubicBezTo>
                  <a:pt x="209" y="127"/>
                  <a:pt x="202" y="134"/>
                  <a:pt x="193" y="134"/>
                </a:cubicBezTo>
                <a:cubicBezTo>
                  <a:pt x="16" y="134"/>
                  <a:pt x="16" y="134"/>
                  <a:pt x="16" y="134"/>
                </a:cubicBezTo>
                <a:cubicBezTo>
                  <a:pt x="7" y="134"/>
                  <a:pt x="0" y="127"/>
                  <a:pt x="0" y="118"/>
                </a:cubicBezTo>
                <a:cubicBezTo>
                  <a:pt x="0" y="16"/>
                  <a:pt x="0" y="16"/>
                  <a:pt x="0" y="16"/>
                </a:cubicBezTo>
                <a:cubicBezTo>
                  <a:pt x="0" y="7"/>
                  <a:pt x="7" y="0"/>
                  <a:pt x="16" y="0"/>
                </a:cubicBezTo>
                <a:cubicBezTo>
                  <a:pt x="193" y="0"/>
                  <a:pt x="193" y="0"/>
                  <a:pt x="193" y="0"/>
                </a:cubicBezTo>
                <a:cubicBezTo>
                  <a:pt x="202" y="0"/>
                  <a:pt x="209" y="7"/>
                  <a:pt x="209" y="16"/>
                </a:cubicBezTo>
                <a:lnTo>
                  <a:pt x="209" y="118"/>
                </a:lnTo>
                <a:close/>
              </a:path>
            </a:pathLst>
          </a:custGeom>
          <a:solidFill>
            <a:srgbClr val="D6E2E0"/>
          </a:solidFill>
          <a:ln w="9525">
            <a:noFill/>
            <a:round/>
            <a:headEnd/>
            <a:tailEnd/>
          </a:ln>
        </p:spPr>
        <p:txBody>
          <a:bodyPr/>
          <a:lstStyle/>
          <a:p>
            <a:endParaRPr lang="en-US"/>
          </a:p>
        </p:txBody>
      </p:sp>
      <p:sp>
        <p:nvSpPr>
          <p:cNvPr id="345112" name="Rectangle 24"/>
          <p:cNvSpPr>
            <a:spLocks noChangeArrowheads="1"/>
          </p:cNvSpPr>
          <p:nvPr/>
        </p:nvSpPr>
        <p:spPr bwMode="auto">
          <a:xfrm>
            <a:off x="5076825" y="4591050"/>
            <a:ext cx="1454150"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Tax burden falls mainly on producers</a:t>
            </a:r>
            <a:endParaRPr lang="en-US" sz="1400">
              <a:latin typeface="Tahoma" pitchFamily="34" charset="0"/>
            </a:endParaRPr>
          </a:p>
        </p:txBody>
      </p:sp>
      <p:sp>
        <p:nvSpPr>
          <p:cNvPr id="345113" name="Freeform 25"/>
          <p:cNvSpPr>
            <a:spLocks/>
          </p:cNvSpPr>
          <p:nvPr/>
        </p:nvSpPr>
        <p:spPr bwMode="auto">
          <a:xfrm>
            <a:off x="503238" y="3575050"/>
            <a:ext cx="1368425" cy="752475"/>
          </a:xfrm>
          <a:custGeom>
            <a:avLst/>
            <a:gdLst>
              <a:gd name="T0" fmla="*/ 1368425 w 215"/>
              <a:gd name="T1" fmla="*/ 662627 h 134"/>
              <a:gd name="T2" fmla="*/ 1266589 w 215"/>
              <a:gd name="T3" fmla="*/ 752475 h 134"/>
              <a:gd name="T4" fmla="*/ 101836 w 215"/>
              <a:gd name="T5" fmla="*/ 752475 h 134"/>
              <a:gd name="T6" fmla="*/ 0 w 215"/>
              <a:gd name="T7" fmla="*/ 662627 h 134"/>
              <a:gd name="T8" fmla="*/ 0 w 215"/>
              <a:gd name="T9" fmla="*/ 89848 h 134"/>
              <a:gd name="T10" fmla="*/ 101836 w 215"/>
              <a:gd name="T11" fmla="*/ 0 h 134"/>
              <a:gd name="T12" fmla="*/ 1266589 w 215"/>
              <a:gd name="T13" fmla="*/ 0 h 134"/>
              <a:gd name="T14" fmla="*/ 1368425 w 215"/>
              <a:gd name="T15" fmla="*/ 89848 h 134"/>
              <a:gd name="T16" fmla="*/ 1368425 w 215"/>
              <a:gd name="T17" fmla="*/ 66262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5"/>
              <a:gd name="T28" fmla="*/ 0 h 134"/>
              <a:gd name="T29" fmla="*/ 215 w 215"/>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5" h="134">
                <a:moveTo>
                  <a:pt x="215" y="118"/>
                </a:moveTo>
                <a:cubicBezTo>
                  <a:pt x="215" y="127"/>
                  <a:pt x="208" y="134"/>
                  <a:pt x="199" y="134"/>
                </a:cubicBezTo>
                <a:cubicBezTo>
                  <a:pt x="16" y="134"/>
                  <a:pt x="16" y="134"/>
                  <a:pt x="16" y="134"/>
                </a:cubicBezTo>
                <a:cubicBezTo>
                  <a:pt x="7" y="134"/>
                  <a:pt x="0" y="127"/>
                  <a:pt x="0" y="118"/>
                </a:cubicBezTo>
                <a:cubicBezTo>
                  <a:pt x="0" y="16"/>
                  <a:pt x="0" y="16"/>
                  <a:pt x="0" y="16"/>
                </a:cubicBezTo>
                <a:cubicBezTo>
                  <a:pt x="0" y="7"/>
                  <a:pt x="7" y="0"/>
                  <a:pt x="16" y="0"/>
                </a:cubicBezTo>
                <a:cubicBezTo>
                  <a:pt x="199" y="0"/>
                  <a:pt x="199" y="0"/>
                  <a:pt x="199" y="0"/>
                </a:cubicBezTo>
                <a:cubicBezTo>
                  <a:pt x="208" y="0"/>
                  <a:pt x="215" y="7"/>
                  <a:pt x="215" y="16"/>
                </a:cubicBezTo>
                <a:lnTo>
                  <a:pt x="215" y="118"/>
                </a:lnTo>
                <a:close/>
              </a:path>
            </a:pathLst>
          </a:custGeom>
          <a:solidFill>
            <a:srgbClr val="D6E2E0"/>
          </a:solidFill>
          <a:ln w="9525">
            <a:noFill/>
            <a:round/>
            <a:headEnd/>
            <a:tailEnd/>
          </a:ln>
        </p:spPr>
        <p:txBody>
          <a:bodyPr/>
          <a:lstStyle/>
          <a:p>
            <a:endParaRPr lang="en-US"/>
          </a:p>
        </p:txBody>
      </p:sp>
      <p:sp>
        <p:nvSpPr>
          <p:cNvPr id="345114" name="Rectangle 26"/>
          <p:cNvSpPr>
            <a:spLocks noChangeArrowheads="1"/>
          </p:cNvSpPr>
          <p:nvPr/>
        </p:nvSpPr>
        <p:spPr bwMode="auto">
          <a:xfrm>
            <a:off x="550863" y="3633788"/>
            <a:ext cx="1284287"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$5</a:t>
            </a:r>
          </a:p>
          <a:p>
            <a:pPr marL="1588" indent="-1588" algn="ctr"/>
            <a:r>
              <a:rPr lang="en-US" sz="1400">
                <a:solidFill>
                  <a:srgbClr val="000000"/>
                </a:solidFill>
                <a:latin typeface="Myriad Roman"/>
              </a:rPr>
              <a:t> per parking </a:t>
            </a:r>
          </a:p>
          <a:p>
            <a:pPr marL="1588" indent="-1588" algn="ctr"/>
            <a:r>
              <a:rPr lang="en-US" sz="1400">
                <a:solidFill>
                  <a:srgbClr val="000000"/>
                </a:solidFill>
                <a:latin typeface="Myriad Roman"/>
              </a:rPr>
              <a:t>space</a:t>
            </a:r>
            <a:endParaRPr lang="en-US" sz="1400">
              <a:latin typeface="Tahoma" pitchFamily="34" charset="0"/>
            </a:endParaRPr>
          </a:p>
        </p:txBody>
      </p:sp>
      <p:sp>
        <p:nvSpPr>
          <p:cNvPr id="345115" name="Freeform 27"/>
          <p:cNvSpPr>
            <a:spLocks/>
          </p:cNvSpPr>
          <p:nvPr/>
        </p:nvSpPr>
        <p:spPr bwMode="auto">
          <a:xfrm>
            <a:off x="1885950" y="2671763"/>
            <a:ext cx="165100" cy="2560637"/>
          </a:xfrm>
          <a:custGeom>
            <a:avLst/>
            <a:gdLst>
              <a:gd name="T0" fmla="*/ 165100 w 25"/>
              <a:gd name="T1" fmla="*/ 0 h 382"/>
              <a:gd name="T2" fmla="*/ 66040 w 25"/>
              <a:gd name="T3" fmla="*/ 107252 h 382"/>
              <a:gd name="T4" fmla="*/ 66040 w 25"/>
              <a:gd name="T5" fmla="*/ 1213287 h 382"/>
              <a:gd name="T6" fmla="*/ 0 w 25"/>
              <a:gd name="T7" fmla="*/ 1280319 h 382"/>
              <a:gd name="T8" fmla="*/ 66040 w 25"/>
              <a:gd name="T9" fmla="*/ 1354055 h 382"/>
              <a:gd name="T10" fmla="*/ 66040 w 25"/>
              <a:gd name="T11" fmla="*/ 2453386 h 382"/>
              <a:gd name="T12" fmla="*/ 165100 w 25"/>
              <a:gd name="T13" fmla="*/ 2560638 h 382"/>
              <a:gd name="T14" fmla="*/ 0 60000 65536"/>
              <a:gd name="T15" fmla="*/ 0 60000 65536"/>
              <a:gd name="T16" fmla="*/ 0 60000 65536"/>
              <a:gd name="T17" fmla="*/ 0 60000 65536"/>
              <a:gd name="T18" fmla="*/ 0 60000 65536"/>
              <a:gd name="T19" fmla="*/ 0 60000 65536"/>
              <a:gd name="T20" fmla="*/ 0 60000 65536"/>
              <a:gd name="T21" fmla="*/ 0 w 25"/>
              <a:gd name="T22" fmla="*/ 0 h 382"/>
              <a:gd name="T23" fmla="*/ 25 w 25"/>
              <a:gd name="T24" fmla="*/ 382 h 3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382">
                <a:moveTo>
                  <a:pt x="25" y="0"/>
                </a:moveTo>
                <a:cubicBezTo>
                  <a:pt x="15" y="0"/>
                  <a:pt x="10" y="2"/>
                  <a:pt x="10" y="16"/>
                </a:cubicBezTo>
                <a:cubicBezTo>
                  <a:pt x="10" y="18"/>
                  <a:pt x="10" y="178"/>
                  <a:pt x="10" y="181"/>
                </a:cubicBezTo>
                <a:cubicBezTo>
                  <a:pt x="10" y="184"/>
                  <a:pt x="8" y="191"/>
                  <a:pt x="0" y="191"/>
                </a:cubicBezTo>
                <a:cubicBezTo>
                  <a:pt x="8" y="191"/>
                  <a:pt x="10" y="198"/>
                  <a:pt x="10" y="202"/>
                </a:cubicBezTo>
                <a:cubicBezTo>
                  <a:pt x="10" y="204"/>
                  <a:pt x="10" y="364"/>
                  <a:pt x="10" y="366"/>
                </a:cubicBezTo>
                <a:cubicBezTo>
                  <a:pt x="10" y="380"/>
                  <a:pt x="15" y="382"/>
                  <a:pt x="25" y="382"/>
                </a:cubicBezTo>
              </a:path>
            </a:pathLst>
          </a:custGeom>
          <a:noFill/>
          <a:ln w="28575" cap="flat">
            <a:solidFill>
              <a:srgbClr val="6D6F71"/>
            </a:solidFill>
            <a:prstDash val="solid"/>
            <a:round/>
            <a:headEnd/>
            <a:tailEnd/>
          </a:ln>
        </p:spPr>
        <p:txBody>
          <a:bodyPr/>
          <a:lstStyle/>
          <a:p>
            <a:endParaRPr lang="en-US"/>
          </a:p>
        </p:txBody>
      </p:sp>
      <p:sp>
        <p:nvSpPr>
          <p:cNvPr id="44055" name="Oval 28"/>
          <p:cNvSpPr>
            <a:spLocks noChangeArrowheads="1"/>
          </p:cNvSpPr>
          <p:nvPr/>
        </p:nvSpPr>
        <p:spPr bwMode="auto">
          <a:xfrm>
            <a:off x="5380038" y="2867025"/>
            <a:ext cx="131762" cy="133350"/>
          </a:xfrm>
          <a:prstGeom prst="ellipse">
            <a:avLst/>
          </a:prstGeom>
          <a:solidFill>
            <a:srgbClr val="000000"/>
          </a:solidFill>
          <a:ln w="9525">
            <a:noFill/>
            <a:round/>
            <a:headEnd/>
            <a:tailEnd/>
          </a:ln>
        </p:spPr>
        <p:txBody>
          <a:bodyPr/>
          <a:lstStyle/>
          <a:p>
            <a:endParaRPr lang="en-US"/>
          </a:p>
        </p:txBody>
      </p:sp>
      <p:sp>
        <p:nvSpPr>
          <p:cNvPr id="44056" name="Oval 29"/>
          <p:cNvSpPr>
            <a:spLocks noChangeArrowheads="1"/>
          </p:cNvSpPr>
          <p:nvPr/>
        </p:nvSpPr>
        <p:spPr bwMode="auto">
          <a:xfrm>
            <a:off x="4500563" y="5175250"/>
            <a:ext cx="131762" cy="134938"/>
          </a:xfrm>
          <a:prstGeom prst="ellipse">
            <a:avLst/>
          </a:prstGeom>
          <a:solidFill>
            <a:srgbClr val="000000"/>
          </a:solidFill>
          <a:ln w="9525">
            <a:noFill/>
            <a:round/>
            <a:headEnd/>
            <a:tailEnd/>
          </a:ln>
        </p:spPr>
        <p:txBody>
          <a:bodyPr/>
          <a:lstStyle/>
          <a:p>
            <a:endParaRPr lang="en-US"/>
          </a:p>
        </p:txBody>
      </p:sp>
      <p:sp>
        <p:nvSpPr>
          <p:cNvPr id="44057" name="Oval 30"/>
          <p:cNvSpPr>
            <a:spLocks noChangeArrowheads="1"/>
          </p:cNvSpPr>
          <p:nvPr/>
        </p:nvSpPr>
        <p:spPr bwMode="auto">
          <a:xfrm>
            <a:off x="2697163" y="2921000"/>
            <a:ext cx="26987" cy="26988"/>
          </a:xfrm>
          <a:prstGeom prst="ellipse">
            <a:avLst/>
          </a:prstGeom>
          <a:solidFill>
            <a:srgbClr val="000000"/>
          </a:solidFill>
          <a:ln w="9525">
            <a:noFill/>
            <a:round/>
            <a:headEnd/>
            <a:tailEnd/>
          </a:ln>
        </p:spPr>
        <p:txBody>
          <a:bodyPr/>
          <a:lstStyle/>
          <a:p>
            <a:endParaRPr lang="en-US"/>
          </a:p>
        </p:txBody>
      </p:sp>
      <p:sp>
        <p:nvSpPr>
          <p:cNvPr id="44058" name="Oval 31"/>
          <p:cNvSpPr>
            <a:spLocks noChangeArrowheads="1"/>
          </p:cNvSpPr>
          <p:nvPr/>
        </p:nvSpPr>
        <p:spPr bwMode="auto">
          <a:xfrm>
            <a:off x="2817813" y="2921000"/>
            <a:ext cx="26987" cy="26988"/>
          </a:xfrm>
          <a:prstGeom prst="ellipse">
            <a:avLst/>
          </a:prstGeom>
          <a:solidFill>
            <a:srgbClr val="000000"/>
          </a:solidFill>
          <a:ln w="9525">
            <a:noFill/>
            <a:round/>
            <a:headEnd/>
            <a:tailEnd/>
          </a:ln>
        </p:spPr>
        <p:txBody>
          <a:bodyPr/>
          <a:lstStyle/>
          <a:p>
            <a:endParaRPr lang="en-US"/>
          </a:p>
        </p:txBody>
      </p:sp>
      <p:sp>
        <p:nvSpPr>
          <p:cNvPr id="44059" name="Oval 32"/>
          <p:cNvSpPr>
            <a:spLocks noChangeArrowheads="1"/>
          </p:cNvSpPr>
          <p:nvPr/>
        </p:nvSpPr>
        <p:spPr bwMode="auto">
          <a:xfrm>
            <a:off x="2943225" y="2921000"/>
            <a:ext cx="26988" cy="26988"/>
          </a:xfrm>
          <a:prstGeom prst="ellipse">
            <a:avLst/>
          </a:prstGeom>
          <a:solidFill>
            <a:srgbClr val="000000"/>
          </a:solidFill>
          <a:ln w="9525">
            <a:noFill/>
            <a:round/>
            <a:headEnd/>
            <a:tailEnd/>
          </a:ln>
        </p:spPr>
        <p:txBody>
          <a:bodyPr/>
          <a:lstStyle/>
          <a:p>
            <a:endParaRPr lang="en-US"/>
          </a:p>
        </p:txBody>
      </p:sp>
      <p:sp>
        <p:nvSpPr>
          <p:cNvPr id="44060" name="Oval 33"/>
          <p:cNvSpPr>
            <a:spLocks noChangeArrowheads="1"/>
          </p:cNvSpPr>
          <p:nvPr/>
        </p:nvSpPr>
        <p:spPr bwMode="auto">
          <a:xfrm>
            <a:off x="3068638" y="2921000"/>
            <a:ext cx="26987" cy="26988"/>
          </a:xfrm>
          <a:prstGeom prst="ellipse">
            <a:avLst/>
          </a:prstGeom>
          <a:solidFill>
            <a:srgbClr val="000000"/>
          </a:solidFill>
          <a:ln w="9525">
            <a:noFill/>
            <a:round/>
            <a:headEnd/>
            <a:tailEnd/>
          </a:ln>
        </p:spPr>
        <p:txBody>
          <a:bodyPr/>
          <a:lstStyle/>
          <a:p>
            <a:endParaRPr lang="en-US"/>
          </a:p>
        </p:txBody>
      </p:sp>
      <p:sp>
        <p:nvSpPr>
          <p:cNvPr id="44061" name="Oval 34"/>
          <p:cNvSpPr>
            <a:spLocks noChangeArrowheads="1"/>
          </p:cNvSpPr>
          <p:nvPr/>
        </p:nvSpPr>
        <p:spPr bwMode="auto">
          <a:xfrm>
            <a:off x="3190875" y="2921000"/>
            <a:ext cx="25400" cy="26988"/>
          </a:xfrm>
          <a:prstGeom prst="ellipse">
            <a:avLst/>
          </a:prstGeom>
          <a:solidFill>
            <a:srgbClr val="000000"/>
          </a:solidFill>
          <a:ln w="9525">
            <a:noFill/>
            <a:round/>
            <a:headEnd/>
            <a:tailEnd/>
          </a:ln>
        </p:spPr>
        <p:txBody>
          <a:bodyPr/>
          <a:lstStyle/>
          <a:p>
            <a:endParaRPr lang="en-US"/>
          </a:p>
        </p:txBody>
      </p:sp>
      <p:sp>
        <p:nvSpPr>
          <p:cNvPr id="44062" name="Oval 35"/>
          <p:cNvSpPr>
            <a:spLocks noChangeArrowheads="1"/>
          </p:cNvSpPr>
          <p:nvPr/>
        </p:nvSpPr>
        <p:spPr bwMode="auto">
          <a:xfrm>
            <a:off x="3316288" y="2921000"/>
            <a:ext cx="25400" cy="26988"/>
          </a:xfrm>
          <a:prstGeom prst="ellipse">
            <a:avLst/>
          </a:prstGeom>
          <a:solidFill>
            <a:srgbClr val="000000"/>
          </a:solidFill>
          <a:ln w="9525">
            <a:noFill/>
            <a:round/>
            <a:headEnd/>
            <a:tailEnd/>
          </a:ln>
        </p:spPr>
        <p:txBody>
          <a:bodyPr/>
          <a:lstStyle/>
          <a:p>
            <a:endParaRPr lang="en-US"/>
          </a:p>
        </p:txBody>
      </p:sp>
      <p:sp>
        <p:nvSpPr>
          <p:cNvPr id="44063" name="Oval 36"/>
          <p:cNvSpPr>
            <a:spLocks noChangeArrowheads="1"/>
          </p:cNvSpPr>
          <p:nvPr/>
        </p:nvSpPr>
        <p:spPr bwMode="auto">
          <a:xfrm>
            <a:off x="3436938" y="2921000"/>
            <a:ext cx="26987" cy="26988"/>
          </a:xfrm>
          <a:prstGeom prst="ellipse">
            <a:avLst/>
          </a:prstGeom>
          <a:solidFill>
            <a:srgbClr val="000000"/>
          </a:solidFill>
          <a:ln w="9525">
            <a:noFill/>
            <a:round/>
            <a:headEnd/>
            <a:tailEnd/>
          </a:ln>
        </p:spPr>
        <p:txBody>
          <a:bodyPr/>
          <a:lstStyle/>
          <a:p>
            <a:endParaRPr lang="en-US"/>
          </a:p>
        </p:txBody>
      </p:sp>
      <p:sp>
        <p:nvSpPr>
          <p:cNvPr id="44064" name="Oval 37"/>
          <p:cNvSpPr>
            <a:spLocks noChangeArrowheads="1"/>
          </p:cNvSpPr>
          <p:nvPr/>
        </p:nvSpPr>
        <p:spPr bwMode="auto">
          <a:xfrm>
            <a:off x="3562350" y="2921000"/>
            <a:ext cx="26988" cy="26988"/>
          </a:xfrm>
          <a:prstGeom prst="ellipse">
            <a:avLst/>
          </a:prstGeom>
          <a:solidFill>
            <a:srgbClr val="000000"/>
          </a:solidFill>
          <a:ln w="9525">
            <a:noFill/>
            <a:round/>
            <a:headEnd/>
            <a:tailEnd/>
          </a:ln>
        </p:spPr>
        <p:txBody>
          <a:bodyPr/>
          <a:lstStyle/>
          <a:p>
            <a:endParaRPr lang="en-US"/>
          </a:p>
        </p:txBody>
      </p:sp>
      <p:sp>
        <p:nvSpPr>
          <p:cNvPr id="44065" name="Oval 38"/>
          <p:cNvSpPr>
            <a:spLocks noChangeArrowheads="1"/>
          </p:cNvSpPr>
          <p:nvPr/>
        </p:nvSpPr>
        <p:spPr bwMode="auto">
          <a:xfrm>
            <a:off x="3687763" y="2921000"/>
            <a:ext cx="26987" cy="26988"/>
          </a:xfrm>
          <a:prstGeom prst="ellipse">
            <a:avLst/>
          </a:prstGeom>
          <a:solidFill>
            <a:srgbClr val="000000"/>
          </a:solidFill>
          <a:ln w="9525">
            <a:noFill/>
            <a:round/>
            <a:headEnd/>
            <a:tailEnd/>
          </a:ln>
        </p:spPr>
        <p:txBody>
          <a:bodyPr/>
          <a:lstStyle/>
          <a:p>
            <a:endParaRPr lang="en-US"/>
          </a:p>
        </p:txBody>
      </p:sp>
      <p:sp>
        <p:nvSpPr>
          <p:cNvPr id="44066" name="Oval 39"/>
          <p:cNvSpPr>
            <a:spLocks noChangeArrowheads="1"/>
          </p:cNvSpPr>
          <p:nvPr/>
        </p:nvSpPr>
        <p:spPr bwMode="auto">
          <a:xfrm>
            <a:off x="3810000" y="2921000"/>
            <a:ext cx="25400" cy="26988"/>
          </a:xfrm>
          <a:prstGeom prst="ellipse">
            <a:avLst/>
          </a:prstGeom>
          <a:solidFill>
            <a:srgbClr val="000000"/>
          </a:solidFill>
          <a:ln w="9525">
            <a:noFill/>
            <a:round/>
            <a:headEnd/>
            <a:tailEnd/>
          </a:ln>
        </p:spPr>
        <p:txBody>
          <a:bodyPr/>
          <a:lstStyle/>
          <a:p>
            <a:endParaRPr lang="en-US"/>
          </a:p>
        </p:txBody>
      </p:sp>
      <p:sp>
        <p:nvSpPr>
          <p:cNvPr id="44067" name="Oval 40"/>
          <p:cNvSpPr>
            <a:spLocks noChangeArrowheads="1"/>
          </p:cNvSpPr>
          <p:nvPr/>
        </p:nvSpPr>
        <p:spPr bwMode="auto">
          <a:xfrm>
            <a:off x="3935413" y="2921000"/>
            <a:ext cx="25400" cy="26988"/>
          </a:xfrm>
          <a:prstGeom prst="ellipse">
            <a:avLst/>
          </a:prstGeom>
          <a:solidFill>
            <a:srgbClr val="000000"/>
          </a:solidFill>
          <a:ln w="9525">
            <a:noFill/>
            <a:round/>
            <a:headEnd/>
            <a:tailEnd/>
          </a:ln>
        </p:spPr>
        <p:txBody>
          <a:bodyPr/>
          <a:lstStyle/>
          <a:p>
            <a:endParaRPr lang="en-US"/>
          </a:p>
        </p:txBody>
      </p:sp>
      <p:sp>
        <p:nvSpPr>
          <p:cNvPr id="44068" name="Oval 41"/>
          <p:cNvSpPr>
            <a:spLocks noChangeArrowheads="1"/>
          </p:cNvSpPr>
          <p:nvPr/>
        </p:nvSpPr>
        <p:spPr bwMode="auto">
          <a:xfrm>
            <a:off x="4054475" y="2921000"/>
            <a:ext cx="28575" cy="26988"/>
          </a:xfrm>
          <a:prstGeom prst="ellipse">
            <a:avLst/>
          </a:prstGeom>
          <a:solidFill>
            <a:srgbClr val="000000"/>
          </a:solidFill>
          <a:ln w="9525">
            <a:noFill/>
            <a:round/>
            <a:headEnd/>
            <a:tailEnd/>
          </a:ln>
        </p:spPr>
        <p:txBody>
          <a:bodyPr/>
          <a:lstStyle/>
          <a:p>
            <a:endParaRPr lang="en-US"/>
          </a:p>
        </p:txBody>
      </p:sp>
      <p:sp>
        <p:nvSpPr>
          <p:cNvPr id="44069" name="Oval 42"/>
          <p:cNvSpPr>
            <a:spLocks noChangeArrowheads="1"/>
          </p:cNvSpPr>
          <p:nvPr/>
        </p:nvSpPr>
        <p:spPr bwMode="auto">
          <a:xfrm>
            <a:off x="4181475" y="2921000"/>
            <a:ext cx="26988" cy="26988"/>
          </a:xfrm>
          <a:prstGeom prst="ellipse">
            <a:avLst/>
          </a:prstGeom>
          <a:solidFill>
            <a:srgbClr val="000000"/>
          </a:solidFill>
          <a:ln w="9525">
            <a:noFill/>
            <a:round/>
            <a:headEnd/>
            <a:tailEnd/>
          </a:ln>
        </p:spPr>
        <p:txBody>
          <a:bodyPr/>
          <a:lstStyle/>
          <a:p>
            <a:endParaRPr lang="en-US"/>
          </a:p>
        </p:txBody>
      </p:sp>
      <p:sp>
        <p:nvSpPr>
          <p:cNvPr id="44070" name="Oval 43"/>
          <p:cNvSpPr>
            <a:spLocks noChangeArrowheads="1"/>
          </p:cNvSpPr>
          <p:nvPr/>
        </p:nvSpPr>
        <p:spPr bwMode="auto">
          <a:xfrm>
            <a:off x="4306888" y="2921000"/>
            <a:ext cx="26987" cy="26988"/>
          </a:xfrm>
          <a:prstGeom prst="ellipse">
            <a:avLst/>
          </a:prstGeom>
          <a:solidFill>
            <a:srgbClr val="000000"/>
          </a:solidFill>
          <a:ln w="9525">
            <a:noFill/>
            <a:round/>
            <a:headEnd/>
            <a:tailEnd/>
          </a:ln>
        </p:spPr>
        <p:txBody>
          <a:bodyPr/>
          <a:lstStyle/>
          <a:p>
            <a:endParaRPr lang="en-US"/>
          </a:p>
        </p:txBody>
      </p:sp>
      <p:sp>
        <p:nvSpPr>
          <p:cNvPr id="44071" name="Oval 44"/>
          <p:cNvSpPr>
            <a:spLocks noChangeArrowheads="1"/>
          </p:cNvSpPr>
          <p:nvPr/>
        </p:nvSpPr>
        <p:spPr bwMode="auto">
          <a:xfrm>
            <a:off x="4427538" y="2921000"/>
            <a:ext cx="26987" cy="26988"/>
          </a:xfrm>
          <a:prstGeom prst="ellipse">
            <a:avLst/>
          </a:prstGeom>
          <a:solidFill>
            <a:srgbClr val="000000"/>
          </a:solidFill>
          <a:ln w="9525">
            <a:noFill/>
            <a:round/>
            <a:headEnd/>
            <a:tailEnd/>
          </a:ln>
        </p:spPr>
        <p:txBody>
          <a:bodyPr/>
          <a:lstStyle/>
          <a:p>
            <a:endParaRPr lang="en-US"/>
          </a:p>
        </p:txBody>
      </p:sp>
      <p:sp>
        <p:nvSpPr>
          <p:cNvPr id="44072" name="Oval 45"/>
          <p:cNvSpPr>
            <a:spLocks noChangeArrowheads="1"/>
          </p:cNvSpPr>
          <p:nvPr/>
        </p:nvSpPr>
        <p:spPr bwMode="auto">
          <a:xfrm>
            <a:off x="2697163" y="5227638"/>
            <a:ext cx="26987" cy="26987"/>
          </a:xfrm>
          <a:prstGeom prst="ellipse">
            <a:avLst/>
          </a:prstGeom>
          <a:solidFill>
            <a:srgbClr val="000000"/>
          </a:solidFill>
          <a:ln w="9525">
            <a:noFill/>
            <a:round/>
            <a:headEnd/>
            <a:tailEnd/>
          </a:ln>
        </p:spPr>
        <p:txBody>
          <a:bodyPr/>
          <a:lstStyle/>
          <a:p>
            <a:endParaRPr lang="en-US"/>
          </a:p>
        </p:txBody>
      </p:sp>
      <p:sp>
        <p:nvSpPr>
          <p:cNvPr id="44073" name="Oval 46"/>
          <p:cNvSpPr>
            <a:spLocks noChangeArrowheads="1"/>
          </p:cNvSpPr>
          <p:nvPr/>
        </p:nvSpPr>
        <p:spPr bwMode="auto">
          <a:xfrm>
            <a:off x="2817813" y="5227638"/>
            <a:ext cx="26987" cy="26987"/>
          </a:xfrm>
          <a:prstGeom prst="ellipse">
            <a:avLst/>
          </a:prstGeom>
          <a:solidFill>
            <a:srgbClr val="000000"/>
          </a:solidFill>
          <a:ln w="9525">
            <a:noFill/>
            <a:round/>
            <a:headEnd/>
            <a:tailEnd/>
          </a:ln>
        </p:spPr>
        <p:txBody>
          <a:bodyPr/>
          <a:lstStyle/>
          <a:p>
            <a:endParaRPr lang="en-US"/>
          </a:p>
        </p:txBody>
      </p:sp>
      <p:sp>
        <p:nvSpPr>
          <p:cNvPr id="44074" name="Oval 47"/>
          <p:cNvSpPr>
            <a:spLocks noChangeArrowheads="1"/>
          </p:cNvSpPr>
          <p:nvPr/>
        </p:nvSpPr>
        <p:spPr bwMode="auto">
          <a:xfrm>
            <a:off x="2943225" y="5227638"/>
            <a:ext cx="26988" cy="26987"/>
          </a:xfrm>
          <a:prstGeom prst="ellipse">
            <a:avLst/>
          </a:prstGeom>
          <a:solidFill>
            <a:srgbClr val="000000"/>
          </a:solidFill>
          <a:ln w="9525">
            <a:noFill/>
            <a:round/>
            <a:headEnd/>
            <a:tailEnd/>
          </a:ln>
        </p:spPr>
        <p:txBody>
          <a:bodyPr/>
          <a:lstStyle/>
          <a:p>
            <a:endParaRPr lang="en-US"/>
          </a:p>
        </p:txBody>
      </p:sp>
      <p:sp>
        <p:nvSpPr>
          <p:cNvPr id="44075" name="Oval 48"/>
          <p:cNvSpPr>
            <a:spLocks noChangeArrowheads="1"/>
          </p:cNvSpPr>
          <p:nvPr/>
        </p:nvSpPr>
        <p:spPr bwMode="auto">
          <a:xfrm>
            <a:off x="3068638" y="5227638"/>
            <a:ext cx="26987" cy="26987"/>
          </a:xfrm>
          <a:prstGeom prst="ellipse">
            <a:avLst/>
          </a:prstGeom>
          <a:solidFill>
            <a:srgbClr val="000000"/>
          </a:solidFill>
          <a:ln w="9525">
            <a:noFill/>
            <a:round/>
            <a:headEnd/>
            <a:tailEnd/>
          </a:ln>
        </p:spPr>
        <p:txBody>
          <a:bodyPr/>
          <a:lstStyle/>
          <a:p>
            <a:endParaRPr lang="en-US"/>
          </a:p>
        </p:txBody>
      </p:sp>
      <p:sp>
        <p:nvSpPr>
          <p:cNvPr id="44076" name="Oval 49"/>
          <p:cNvSpPr>
            <a:spLocks noChangeArrowheads="1"/>
          </p:cNvSpPr>
          <p:nvPr/>
        </p:nvSpPr>
        <p:spPr bwMode="auto">
          <a:xfrm>
            <a:off x="3190875" y="5227638"/>
            <a:ext cx="25400" cy="26987"/>
          </a:xfrm>
          <a:prstGeom prst="ellipse">
            <a:avLst/>
          </a:prstGeom>
          <a:solidFill>
            <a:srgbClr val="000000"/>
          </a:solidFill>
          <a:ln w="9525">
            <a:noFill/>
            <a:round/>
            <a:headEnd/>
            <a:tailEnd/>
          </a:ln>
        </p:spPr>
        <p:txBody>
          <a:bodyPr/>
          <a:lstStyle/>
          <a:p>
            <a:endParaRPr lang="en-US"/>
          </a:p>
        </p:txBody>
      </p:sp>
      <p:sp>
        <p:nvSpPr>
          <p:cNvPr id="44077" name="Oval 50"/>
          <p:cNvSpPr>
            <a:spLocks noChangeArrowheads="1"/>
          </p:cNvSpPr>
          <p:nvPr/>
        </p:nvSpPr>
        <p:spPr bwMode="auto">
          <a:xfrm>
            <a:off x="3316288" y="5227638"/>
            <a:ext cx="25400" cy="26987"/>
          </a:xfrm>
          <a:prstGeom prst="ellipse">
            <a:avLst/>
          </a:prstGeom>
          <a:solidFill>
            <a:srgbClr val="000000"/>
          </a:solidFill>
          <a:ln w="9525">
            <a:noFill/>
            <a:round/>
            <a:headEnd/>
            <a:tailEnd/>
          </a:ln>
        </p:spPr>
        <p:txBody>
          <a:bodyPr/>
          <a:lstStyle/>
          <a:p>
            <a:endParaRPr lang="en-US"/>
          </a:p>
        </p:txBody>
      </p:sp>
      <p:sp>
        <p:nvSpPr>
          <p:cNvPr id="44078" name="Oval 51"/>
          <p:cNvSpPr>
            <a:spLocks noChangeArrowheads="1"/>
          </p:cNvSpPr>
          <p:nvPr/>
        </p:nvSpPr>
        <p:spPr bwMode="auto">
          <a:xfrm>
            <a:off x="3436938" y="5227638"/>
            <a:ext cx="26987" cy="26987"/>
          </a:xfrm>
          <a:prstGeom prst="ellipse">
            <a:avLst/>
          </a:prstGeom>
          <a:solidFill>
            <a:srgbClr val="000000"/>
          </a:solidFill>
          <a:ln w="9525">
            <a:noFill/>
            <a:round/>
            <a:headEnd/>
            <a:tailEnd/>
          </a:ln>
        </p:spPr>
        <p:txBody>
          <a:bodyPr/>
          <a:lstStyle/>
          <a:p>
            <a:endParaRPr lang="en-US"/>
          </a:p>
        </p:txBody>
      </p:sp>
      <p:sp>
        <p:nvSpPr>
          <p:cNvPr id="44079" name="Oval 52"/>
          <p:cNvSpPr>
            <a:spLocks noChangeArrowheads="1"/>
          </p:cNvSpPr>
          <p:nvPr/>
        </p:nvSpPr>
        <p:spPr bwMode="auto">
          <a:xfrm>
            <a:off x="3562350" y="5227638"/>
            <a:ext cx="26988" cy="26987"/>
          </a:xfrm>
          <a:prstGeom prst="ellipse">
            <a:avLst/>
          </a:prstGeom>
          <a:solidFill>
            <a:srgbClr val="000000"/>
          </a:solidFill>
          <a:ln w="9525">
            <a:noFill/>
            <a:round/>
            <a:headEnd/>
            <a:tailEnd/>
          </a:ln>
        </p:spPr>
        <p:txBody>
          <a:bodyPr/>
          <a:lstStyle/>
          <a:p>
            <a:endParaRPr lang="en-US"/>
          </a:p>
        </p:txBody>
      </p:sp>
      <p:sp>
        <p:nvSpPr>
          <p:cNvPr id="44080" name="Oval 53"/>
          <p:cNvSpPr>
            <a:spLocks noChangeArrowheads="1"/>
          </p:cNvSpPr>
          <p:nvPr/>
        </p:nvSpPr>
        <p:spPr bwMode="auto">
          <a:xfrm>
            <a:off x="3687763" y="5227638"/>
            <a:ext cx="26987" cy="26987"/>
          </a:xfrm>
          <a:prstGeom prst="ellipse">
            <a:avLst/>
          </a:prstGeom>
          <a:solidFill>
            <a:srgbClr val="000000"/>
          </a:solidFill>
          <a:ln w="9525">
            <a:noFill/>
            <a:round/>
            <a:headEnd/>
            <a:tailEnd/>
          </a:ln>
        </p:spPr>
        <p:txBody>
          <a:bodyPr/>
          <a:lstStyle/>
          <a:p>
            <a:endParaRPr lang="en-US"/>
          </a:p>
        </p:txBody>
      </p:sp>
      <p:sp>
        <p:nvSpPr>
          <p:cNvPr id="44081" name="Oval 54"/>
          <p:cNvSpPr>
            <a:spLocks noChangeArrowheads="1"/>
          </p:cNvSpPr>
          <p:nvPr/>
        </p:nvSpPr>
        <p:spPr bwMode="auto">
          <a:xfrm>
            <a:off x="3810000" y="5227638"/>
            <a:ext cx="25400" cy="26987"/>
          </a:xfrm>
          <a:prstGeom prst="ellipse">
            <a:avLst/>
          </a:prstGeom>
          <a:solidFill>
            <a:srgbClr val="000000"/>
          </a:solidFill>
          <a:ln w="9525">
            <a:noFill/>
            <a:round/>
            <a:headEnd/>
            <a:tailEnd/>
          </a:ln>
        </p:spPr>
        <p:txBody>
          <a:bodyPr/>
          <a:lstStyle/>
          <a:p>
            <a:endParaRPr lang="en-US"/>
          </a:p>
        </p:txBody>
      </p:sp>
      <p:sp>
        <p:nvSpPr>
          <p:cNvPr id="44082" name="Oval 55"/>
          <p:cNvSpPr>
            <a:spLocks noChangeArrowheads="1"/>
          </p:cNvSpPr>
          <p:nvPr/>
        </p:nvSpPr>
        <p:spPr bwMode="auto">
          <a:xfrm>
            <a:off x="3935413" y="5227638"/>
            <a:ext cx="25400" cy="26987"/>
          </a:xfrm>
          <a:prstGeom prst="ellipse">
            <a:avLst/>
          </a:prstGeom>
          <a:solidFill>
            <a:srgbClr val="000000"/>
          </a:solidFill>
          <a:ln w="9525">
            <a:noFill/>
            <a:round/>
            <a:headEnd/>
            <a:tailEnd/>
          </a:ln>
        </p:spPr>
        <p:txBody>
          <a:bodyPr/>
          <a:lstStyle/>
          <a:p>
            <a:endParaRPr lang="en-US"/>
          </a:p>
        </p:txBody>
      </p:sp>
      <p:sp>
        <p:nvSpPr>
          <p:cNvPr id="44083" name="Oval 56"/>
          <p:cNvSpPr>
            <a:spLocks noChangeArrowheads="1"/>
          </p:cNvSpPr>
          <p:nvPr/>
        </p:nvSpPr>
        <p:spPr bwMode="auto">
          <a:xfrm>
            <a:off x="4054475" y="5227638"/>
            <a:ext cx="28575" cy="26987"/>
          </a:xfrm>
          <a:prstGeom prst="ellipse">
            <a:avLst/>
          </a:prstGeom>
          <a:solidFill>
            <a:srgbClr val="000000"/>
          </a:solidFill>
          <a:ln w="9525">
            <a:noFill/>
            <a:round/>
            <a:headEnd/>
            <a:tailEnd/>
          </a:ln>
        </p:spPr>
        <p:txBody>
          <a:bodyPr/>
          <a:lstStyle/>
          <a:p>
            <a:endParaRPr lang="en-US"/>
          </a:p>
        </p:txBody>
      </p:sp>
      <p:sp>
        <p:nvSpPr>
          <p:cNvPr id="44084" name="Oval 57"/>
          <p:cNvSpPr>
            <a:spLocks noChangeArrowheads="1"/>
          </p:cNvSpPr>
          <p:nvPr/>
        </p:nvSpPr>
        <p:spPr bwMode="auto">
          <a:xfrm>
            <a:off x="4181475" y="5227638"/>
            <a:ext cx="26988" cy="26987"/>
          </a:xfrm>
          <a:prstGeom prst="ellipse">
            <a:avLst/>
          </a:prstGeom>
          <a:solidFill>
            <a:srgbClr val="000000"/>
          </a:solidFill>
          <a:ln w="9525">
            <a:noFill/>
            <a:round/>
            <a:headEnd/>
            <a:tailEnd/>
          </a:ln>
        </p:spPr>
        <p:txBody>
          <a:bodyPr/>
          <a:lstStyle/>
          <a:p>
            <a:endParaRPr lang="en-US"/>
          </a:p>
        </p:txBody>
      </p:sp>
      <p:sp>
        <p:nvSpPr>
          <p:cNvPr id="44085" name="Oval 58"/>
          <p:cNvSpPr>
            <a:spLocks noChangeArrowheads="1"/>
          </p:cNvSpPr>
          <p:nvPr/>
        </p:nvSpPr>
        <p:spPr bwMode="auto">
          <a:xfrm>
            <a:off x="4306888" y="5227638"/>
            <a:ext cx="26987" cy="26987"/>
          </a:xfrm>
          <a:prstGeom prst="ellipse">
            <a:avLst/>
          </a:prstGeom>
          <a:solidFill>
            <a:srgbClr val="000000"/>
          </a:solidFill>
          <a:ln w="9525">
            <a:noFill/>
            <a:round/>
            <a:headEnd/>
            <a:tailEnd/>
          </a:ln>
        </p:spPr>
        <p:txBody>
          <a:bodyPr/>
          <a:lstStyle/>
          <a:p>
            <a:endParaRPr lang="en-US"/>
          </a:p>
        </p:txBody>
      </p:sp>
      <p:sp>
        <p:nvSpPr>
          <p:cNvPr id="44086" name="Oval 59"/>
          <p:cNvSpPr>
            <a:spLocks noChangeArrowheads="1"/>
          </p:cNvSpPr>
          <p:nvPr/>
        </p:nvSpPr>
        <p:spPr bwMode="auto">
          <a:xfrm>
            <a:off x="4427538" y="5227638"/>
            <a:ext cx="26987" cy="26987"/>
          </a:xfrm>
          <a:prstGeom prst="ellipse">
            <a:avLst/>
          </a:prstGeom>
          <a:solidFill>
            <a:srgbClr val="000000"/>
          </a:solidFill>
          <a:ln w="9525">
            <a:noFill/>
            <a:round/>
            <a:headEnd/>
            <a:tailEnd/>
          </a:ln>
        </p:spPr>
        <p:txBody>
          <a:bodyPr/>
          <a:lstStyle/>
          <a:p>
            <a:endParaRPr lang="en-US"/>
          </a:p>
        </p:txBody>
      </p:sp>
      <p:sp>
        <p:nvSpPr>
          <p:cNvPr id="44087" name="Oval 60"/>
          <p:cNvSpPr>
            <a:spLocks noChangeArrowheads="1"/>
          </p:cNvSpPr>
          <p:nvPr/>
        </p:nvSpPr>
        <p:spPr bwMode="auto">
          <a:xfrm>
            <a:off x="2697163" y="2665413"/>
            <a:ext cx="26987" cy="26987"/>
          </a:xfrm>
          <a:prstGeom prst="ellipse">
            <a:avLst/>
          </a:prstGeom>
          <a:solidFill>
            <a:srgbClr val="000000"/>
          </a:solidFill>
          <a:ln w="9525">
            <a:noFill/>
            <a:round/>
            <a:headEnd/>
            <a:tailEnd/>
          </a:ln>
        </p:spPr>
        <p:txBody>
          <a:bodyPr/>
          <a:lstStyle/>
          <a:p>
            <a:endParaRPr lang="en-US"/>
          </a:p>
        </p:txBody>
      </p:sp>
      <p:sp>
        <p:nvSpPr>
          <p:cNvPr id="44088" name="Oval 61"/>
          <p:cNvSpPr>
            <a:spLocks noChangeArrowheads="1"/>
          </p:cNvSpPr>
          <p:nvPr/>
        </p:nvSpPr>
        <p:spPr bwMode="auto">
          <a:xfrm>
            <a:off x="2817813" y="2665413"/>
            <a:ext cx="26987" cy="26987"/>
          </a:xfrm>
          <a:prstGeom prst="ellipse">
            <a:avLst/>
          </a:prstGeom>
          <a:solidFill>
            <a:srgbClr val="000000"/>
          </a:solidFill>
          <a:ln w="9525">
            <a:noFill/>
            <a:round/>
            <a:headEnd/>
            <a:tailEnd/>
          </a:ln>
        </p:spPr>
        <p:txBody>
          <a:bodyPr/>
          <a:lstStyle/>
          <a:p>
            <a:endParaRPr lang="en-US"/>
          </a:p>
        </p:txBody>
      </p:sp>
      <p:sp>
        <p:nvSpPr>
          <p:cNvPr id="44089" name="Oval 62"/>
          <p:cNvSpPr>
            <a:spLocks noChangeArrowheads="1"/>
          </p:cNvSpPr>
          <p:nvPr/>
        </p:nvSpPr>
        <p:spPr bwMode="auto">
          <a:xfrm>
            <a:off x="2943225" y="2665413"/>
            <a:ext cx="26988" cy="26987"/>
          </a:xfrm>
          <a:prstGeom prst="ellipse">
            <a:avLst/>
          </a:prstGeom>
          <a:solidFill>
            <a:srgbClr val="000000"/>
          </a:solidFill>
          <a:ln w="9525">
            <a:noFill/>
            <a:round/>
            <a:headEnd/>
            <a:tailEnd/>
          </a:ln>
        </p:spPr>
        <p:txBody>
          <a:bodyPr/>
          <a:lstStyle/>
          <a:p>
            <a:endParaRPr lang="en-US"/>
          </a:p>
        </p:txBody>
      </p:sp>
      <p:sp>
        <p:nvSpPr>
          <p:cNvPr id="44090" name="Oval 63"/>
          <p:cNvSpPr>
            <a:spLocks noChangeArrowheads="1"/>
          </p:cNvSpPr>
          <p:nvPr/>
        </p:nvSpPr>
        <p:spPr bwMode="auto">
          <a:xfrm>
            <a:off x="3068638" y="2665413"/>
            <a:ext cx="26987" cy="26987"/>
          </a:xfrm>
          <a:prstGeom prst="ellipse">
            <a:avLst/>
          </a:prstGeom>
          <a:solidFill>
            <a:srgbClr val="000000"/>
          </a:solidFill>
          <a:ln w="9525">
            <a:noFill/>
            <a:round/>
            <a:headEnd/>
            <a:tailEnd/>
          </a:ln>
        </p:spPr>
        <p:txBody>
          <a:bodyPr/>
          <a:lstStyle/>
          <a:p>
            <a:endParaRPr lang="en-US"/>
          </a:p>
        </p:txBody>
      </p:sp>
      <p:sp>
        <p:nvSpPr>
          <p:cNvPr id="44091" name="Oval 64"/>
          <p:cNvSpPr>
            <a:spLocks noChangeArrowheads="1"/>
          </p:cNvSpPr>
          <p:nvPr/>
        </p:nvSpPr>
        <p:spPr bwMode="auto">
          <a:xfrm>
            <a:off x="3190875" y="2665413"/>
            <a:ext cx="25400" cy="26987"/>
          </a:xfrm>
          <a:prstGeom prst="ellipse">
            <a:avLst/>
          </a:prstGeom>
          <a:solidFill>
            <a:srgbClr val="000000"/>
          </a:solidFill>
          <a:ln w="9525">
            <a:noFill/>
            <a:round/>
            <a:headEnd/>
            <a:tailEnd/>
          </a:ln>
        </p:spPr>
        <p:txBody>
          <a:bodyPr/>
          <a:lstStyle/>
          <a:p>
            <a:endParaRPr lang="en-US"/>
          </a:p>
        </p:txBody>
      </p:sp>
      <p:sp>
        <p:nvSpPr>
          <p:cNvPr id="44092" name="Oval 65"/>
          <p:cNvSpPr>
            <a:spLocks noChangeArrowheads="1"/>
          </p:cNvSpPr>
          <p:nvPr/>
        </p:nvSpPr>
        <p:spPr bwMode="auto">
          <a:xfrm>
            <a:off x="3316288" y="2665413"/>
            <a:ext cx="25400" cy="26987"/>
          </a:xfrm>
          <a:prstGeom prst="ellipse">
            <a:avLst/>
          </a:prstGeom>
          <a:solidFill>
            <a:srgbClr val="000000"/>
          </a:solidFill>
          <a:ln w="9525">
            <a:noFill/>
            <a:round/>
            <a:headEnd/>
            <a:tailEnd/>
          </a:ln>
        </p:spPr>
        <p:txBody>
          <a:bodyPr/>
          <a:lstStyle/>
          <a:p>
            <a:endParaRPr lang="en-US"/>
          </a:p>
        </p:txBody>
      </p:sp>
      <p:sp>
        <p:nvSpPr>
          <p:cNvPr id="44093" name="Oval 66"/>
          <p:cNvSpPr>
            <a:spLocks noChangeArrowheads="1"/>
          </p:cNvSpPr>
          <p:nvPr/>
        </p:nvSpPr>
        <p:spPr bwMode="auto">
          <a:xfrm>
            <a:off x="3436938" y="2665413"/>
            <a:ext cx="26987" cy="26987"/>
          </a:xfrm>
          <a:prstGeom prst="ellipse">
            <a:avLst/>
          </a:prstGeom>
          <a:solidFill>
            <a:srgbClr val="000000"/>
          </a:solidFill>
          <a:ln w="9525">
            <a:noFill/>
            <a:round/>
            <a:headEnd/>
            <a:tailEnd/>
          </a:ln>
        </p:spPr>
        <p:txBody>
          <a:bodyPr/>
          <a:lstStyle/>
          <a:p>
            <a:endParaRPr lang="en-US"/>
          </a:p>
        </p:txBody>
      </p:sp>
      <p:sp>
        <p:nvSpPr>
          <p:cNvPr id="44094" name="Oval 67"/>
          <p:cNvSpPr>
            <a:spLocks noChangeArrowheads="1"/>
          </p:cNvSpPr>
          <p:nvPr/>
        </p:nvSpPr>
        <p:spPr bwMode="auto">
          <a:xfrm>
            <a:off x="3562350" y="2665413"/>
            <a:ext cx="26988" cy="26987"/>
          </a:xfrm>
          <a:prstGeom prst="ellipse">
            <a:avLst/>
          </a:prstGeom>
          <a:solidFill>
            <a:srgbClr val="000000"/>
          </a:solidFill>
          <a:ln w="9525">
            <a:noFill/>
            <a:round/>
            <a:headEnd/>
            <a:tailEnd/>
          </a:ln>
        </p:spPr>
        <p:txBody>
          <a:bodyPr/>
          <a:lstStyle/>
          <a:p>
            <a:endParaRPr lang="en-US"/>
          </a:p>
        </p:txBody>
      </p:sp>
      <p:sp>
        <p:nvSpPr>
          <p:cNvPr id="44095" name="Oval 68"/>
          <p:cNvSpPr>
            <a:spLocks noChangeArrowheads="1"/>
          </p:cNvSpPr>
          <p:nvPr/>
        </p:nvSpPr>
        <p:spPr bwMode="auto">
          <a:xfrm>
            <a:off x="3687763" y="2665413"/>
            <a:ext cx="26987" cy="26987"/>
          </a:xfrm>
          <a:prstGeom prst="ellipse">
            <a:avLst/>
          </a:prstGeom>
          <a:solidFill>
            <a:srgbClr val="000000"/>
          </a:solidFill>
          <a:ln w="9525">
            <a:noFill/>
            <a:round/>
            <a:headEnd/>
            <a:tailEnd/>
          </a:ln>
        </p:spPr>
        <p:txBody>
          <a:bodyPr/>
          <a:lstStyle/>
          <a:p>
            <a:endParaRPr lang="en-US"/>
          </a:p>
        </p:txBody>
      </p:sp>
      <p:sp>
        <p:nvSpPr>
          <p:cNvPr id="44096" name="Oval 69"/>
          <p:cNvSpPr>
            <a:spLocks noChangeArrowheads="1"/>
          </p:cNvSpPr>
          <p:nvPr/>
        </p:nvSpPr>
        <p:spPr bwMode="auto">
          <a:xfrm>
            <a:off x="3810000" y="2665413"/>
            <a:ext cx="25400" cy="26987"/>
          </a:xfrm>
          <a:prstGeom prst="ellipse">
            <a:avLst/>
          </a:prstGeom>
          <a:solidFill>
            <a:srgbClr val="000000"/>
          </a:solidFill>
          <a:ln w="9525">
            <a:noFill/>
            <a:round/>
            <a:headEnd/>
            <a:tailEnd/>
          </a:ln>
        </p:spPr>
        <p:txBody>
          <a:bodyPr/>
          <a:lstStyle/>
          <a:p>
            <a:endParaRPr lang="en-US"/>
          </a:p>
        </p:txBody>
      </p:sp>
      <p:sp>
        <p:nvSpPr>
          <p:cNvPr id="44097" name="Oval 70"/>
          <p:cNvSpPr>
            <a:spLocks noChangeArrowheads="1"/>
          </p:cNvSpPr>
          <p:nvPr/>
        </p:nvSpPr>
        <p:spPr bwMode="auto">
          <a:xfrm>
            <a:off x="3935413" y="2665413"/>
            <a:ext cx="25400" cy="26987"/>
          </a:xfrm>
          <a:prstGeom prst="ellipse">
            <a:avLst/>
          </a:prstGeom>
          <a:solidFill>
            <a:srgbClr val="000000"/>
          </a:solidFill>
          <a:ln w="9525">
            <a:noFill/>
            <a:round/>
            <a:headEnd/>
            <a:tailEnd/>
          </a:ln>
        </p:spPr>
        <p:txBody>
          <a:bodyPr/>
          <a:lstStyle/>
          <a:p>
            <a:endParaRPr lang="en-US"/>
          </a:p>
        </p:txBody>
      </p:sp>
      <p:sp>
        <p:nvSpPr>
          <p:cNvPr id="44098" name="Oval 71"/>
          <p:cNvSpPr>
            <a:spLocks noChangeArrowheads="1"/>
          </p:cNvSpPr>
          <p:nvPr/>
        </p:nvSpPr>
        <p:spPr bwMode="auto">
          <a:xfrm>
            <a:off x="4054475" y="2665413"/>
            <a:ext cx="28575" cy="26987"/>
          </a:xfrm>
          <a:prstGeom prst="ellipse">
            <a:avLst/>
          </a:prstGeom>
          <a:solidFill>
            <a:srgbClr val="000000"/>
          </a:solidFill>
          <a:ln w="9525">
            <a:noFill/>
            <a:round/>
            <a:headEnd/>
            <a:tailEnd/>
          </a:ln>
        </p:spPr>
        <p:txBody>
          <a:bodyPr/>
          <a:lstStyle/>
          <a:p>
            <a:endParaRPr lang="en-US"/>
          </a:p>
        </p:txBody>
      </p:sp>
      <p:sp>
        <p:nvSpPr>
          <p:cNvPr id="44099" name="Oval 72"/>
          <p:cNvSpPr>
            <a:spLocks noChangeArrowheads="1"/>
          </p:cNvSpPr>
          <p:nvPr/>
        </p:nvSpPr>
        <p:spPr bwMode="auto">
          <a:xfrm>
            <a:off x="4181475" y="2665413"/>
            <a:ext cx="26988" cy="26987"/>
          </a:xfrm>
          <a:prstGeom prst="ellipse">
            <a:avLst/>
          </a:prstGeom>
          <a:solidFill>
            <a:srgbClr val="000000"/>
          </a:solidFill>
          <a:ln w="9525">
            <a:noFill/>
            <a:round/>
            <a:headEnd/>
            <a:tailEnd/>
          </a:ln>
        </p:spPr>
        <p:txBody>
          <a:bodyPr/>
          <a:lstStyle/>
          <a:p>
            <a:endParaRPr lang="en-US"/>
          </a:p>
        </p:txBody>
      </p:sp>
      <p:sp>
        <p:nvSpPr>
          <p:cNvPr id="44100" name="Oval 73"/>
          <p:cNvSpPr>
            <a:spLocks noChangeArrowheads="1"/>
          </p:cNvSpPr>
          <p:nvPr/>
        </p:nvSpPr>
        <p:spPr bwMode="auto">
          <a:xfrm>
            <a:off x="4306888" y="2665413"/>
            <a:ext cx="26987" cy="26987"/>
          </a:xfrm>
          <a:prstGeom prst="ellipse">
            <a:avLst/>
          </a:prstGeom>
          <a:solidFill>
            <a:srgbClr val="000000"/>
          </a:solidFill>
          <a:ln w="9525">
            <a:noFill/>
            <a:round/>
            <a:headEnd/>
            <a:tailEnd/>
          </a:ln>
        </p:spPr>
        <p:txBody>
          <a:bodyPr/>
          <a:lstStyle/>
          <a:p>
            <a:endParaRPr lang="en-US"/>
          </a:p>
        </p:txBody>
      </p:sp>
      <p:sp>
        <p:nvSpPr>
          <p:cNvPr id="44101" name="Oval 74"/>
          <p:cNvSpPr>
            <a:spLocks noChangeArrowheads="1"/>
          </p:cNvSpPr>
          <p:nvPr/>
        </p:nvSpPr>
        <p:spPr bwMode="auto">
          <a:xfrm>
            <a:off x="4427538" y="2665413"/>
            <a:ext cx="26987" cy="26987"/>
          </a:xfrm>
          <a:prstGeom prst="ellipse">
            <a:avLst/>
          </a:prstGeom>
          <a:solidFill>
            <a:srgbClr val="000000"/>
          </a:solidFill>
          <a:ln w="9525">
            <a:noFill/>
            <a:round/>
            <a:headEnd/>
            <a:tailEnd/>
          </a:ln>
        </p:spPr>
        <p:txBody>
          <a:bodyPr/>
          <a:lstStyle/>
          <a:p>
            <a:endParaRPr lang="en-US"/>
          </a:p>
        </p:txBody>
      </p:sp>
      <p:sp>
        <p:nvSpPr>
          <p:cNvPr id="44102" name="Oval 75"/>
          <p:cNvSpPr>
            <a:spLocks noChangeArrowheads="1"/>
          </p:cNvSpPr>
          <p:nvPr/>
        </p:nvSpPr>
        <p:spPr bwMode="auto">
          <a:xfrm>
            <a:off x="4552950" y="2921000"/>
            <a:ext cx="26988" cy="26988"/>
          </a:xfrm>
          <a:prstGeom prst="ellipse">
            <a:avLst/>
          </a:prstGeom>
          <a:solidFill>
            <a:srgbClr val="000000"/>
          </a:solidFill>
          <a:ln w="9525">
            <a:noFill/>
            <a:round/>
            <a:headEnd/>
            <a:tailEnd/>
          </a:ln>
        </p:spPr>
        <p:txBody>
          <a:bodyPr/>
          <a:lstStyle/>
          <a:p>
            <a:endParaRPr lang="en-US"/>
          </a:p>
        </p:txBody>
      </p:sp>
      <p:sp>
        <p:nvSpPr>
          <p:cNvPr id="44103" name="Oval 76"/>
          <p:cNvSpPr>
            <a:spLocks noChangeArrowheads="1"/>
          </p:cNvSpPr>
          <p:nvPr/>
        </p:nvSpPr>
        <p:spPr bwMode="auto">
          <a:xfrm>
            <a:off x="4672013" y="2921000"/>
            <a:ext cx="26987" cy="26988"/>
          </a:xfrm>
          <a:prstGeom prst="ellipse">
            <a:avLst/>
          </a:prstGeom>
          <a:solidFill>
            <a:srgbClr val="000000"/>
          </a:solidFill>
          <a:ln w="9525">
            <a:noFill/>
            <a:round/>
            <a:headEnd/>
            <a:tailEnd/>
          </a:ln>
        </p:spPr>
        <p:txBody>
          <a:bodyPr/>
          <a:lstStyle/>
          <a:p>
            <a:endParaRPr lang="en-US"/>
          </a:p>
        </p:txBody>
      </p:sp>
      <p:sp>
        <p:nvSpPr>
          <p:cNvPr id="44104" name="Oval 77"/>
          <p:cNvSpPr>
            <a:spLocks noChangeArrowheads="1"/>
          </p:cNvSpPr>
          <p:nvPr/>
        </p:nvSpPr>
        <p:spPr bwMode="auto">
          <a:xfrm>
            <a:off x="4800600" y="2921000"/>
            <a:ext cx="26988" cy="26988"/>
          </a:xfrm>
          <a:prstGeom prst="ellipse">
            <a:avLst/>
          </a:prstGeom>
          <a:solidFill>
            <a:srgbClr val="000000"/>
          </a:solidFill>
          <a:ln w="9525">
            <a:noFill/>
            <a:round/>
            <a:headEnd/>
            <a:tailEnd/>
          </a:ln>
        </p:spPr>
        <p:txBody>
          <a:bodyPr/>
          <a:lstStyle/>
          <a:p>
            <a:endParaRPr lang="en-US"/>
          </a:p>
        </p:txBody>
      </p:sp>
      <p:sp>
        <p:nvSpPr>
          <p:cNvPr id="44105" name="Oval 78"/>
          <p:cNvSpPr>
            <a:spLocks noChangeArrowheads="1"/>
          </p:cNvSpPr>
          <p:nvPr/>
        </p:nvSpPr>
        <p:spPr bwMode="auto">
          <a:xfrm>
            <a:off x="4926013" y="2921000"/>
            <a:ext cx="26987" cy="26988"/>
          </a:xfrm>
          <a:prstGeom prst="ellipse">
            <a:avLst/>
          </a:prstGeom>
          <a:solidFill>
            <a:srgbClr val="000000"/>
          </a:solidFill>
          <a:ln w="9525">
            <a:noFill/>
            <a:round/>
            <a:headEnd/>
            <a:tailEnd/>
          </a:ln>
        </p:spPr>
        <p:txBody>
          <a:bodyPr/>
          <a:lstStyle/>
          <a:p>
            <a:endParaRPr lang="en-US"/>
          </a:p>
        </p:txBody>
      </p:sp>
      <p:sp>
        <p:nvSpPr>
          <p:cNvPr id="44106" name="Oval 79"/>
          <p:cNvSpPr>
            <a:spLocks noChangeArrowheads="1"/>
          </p:cNvSpPr>
          <p:nvPr/>
        </p:nvSpPr>
        <p:spPr bwMode="auto">
          <a:xfrm>
            <a:off x="5046663" y="2921000"/>
            <a:ext cx="26987" cy="26988"/>
          </a:xfrm>
          <a:prstGeom prst="ellipse">
            <a:avLst/>
          </a:prstGeom>
          <a:solidFill>
            <a:srgbClr val="000000"/>
          </a:solidFill>
          <a:ln w="9525">
            <a:noFill/>
            <a:round/>
            <a:headEnd/>
            <a:tailEnd/>
          </a:ln>
        </p:spPr>
        <p:txBody>
          <a:bodyPr/>
          <a:lstStyle/>
          <a:p>
            <a:endParaRPr lang="en-US"/>
          </a:p>
        </p:txBody>
      </p:sp>
      <p:sp>
        <p:nvSpPr>
          <p:cNvPr id="44107" name="Oval 80"/>
          <p:cNvSpPr>
            <a:spLocks noChangeArrowheads="1"/>
          </p:cNvSpPr>
          <p:nvPr/>
        </p:nvSpPr>
        <p:spPr bwMode="auto">
          <a:xfrm>
            <a:off x="5291138" y="2921000"/>
            <a:ext cx="26987" cy="26988"/>
          </a:xfrm>
          <a:prstGeom prst="ellipse">
            <a:avLst/>
          </a:prstGeom>
          <a:solidFill>
            <a:srgbClr val="000000"/>
          </a:solidFill>
          <a:ln w="9525">
            <a:noFill/>
            <a:round/>
            <a:headEnd/>
            <a:tailEnd/>
          </a:ln>
        </p:spPr>
        <p:txBody>
          <a:bodyPr/>
          <a:lstStyle/>
          <a:p>
            <a:endParaRPr lang="en-US"/>
          </a:p>
        </p:txBody>
      </p:sp>
      <p:sp>
        <p:nvSpPr>
          <p:cNvPr id="44108" name="Oval 81"/>
          <p:cNvSpPr>
            <a:spLocks noChangeArrowheads="1"/>
          </p:cNvSpPr>
          <p:nvPr/>
        </p:nvSpPr>
        <p:spPr bwMode="auto">
          <a:xfrm>
            <a:off x="5172075" y="2921000"/>
            <a:ext cx="26988" cy="26988"/>
          </a:xfrm>
          <a:prstGeom prst="ellipse">
            <a:avLst/>
          </a:prstGeom>
          <a:solidFill>
            <a:srgbClr val="000000"/>
          </a:solidFill>
          <a:ln w="9525">
            <a:noFill/>
            <a:round/>
            <a:headEnd/>
            <a:tailEnd/>
          </a:ln>
        </p:spPr>
        <p:txBody>
          <a:bodyPr/>
          <a:lstStyle/>
          <a:p>
            <a:endParaRPr lang="en-US"/>
          </a:p>
        </p:txBody>
      </p:sp>
      <p:sp>
        <p:nvSpPr>
          <p:cNvPr id="44109" name="Oval 82"/>
          <p:cNvSpPr>
            <a:spLocks noChangeArrowheads="1"/>
          </p:cNvSpPr>
          <p:nvPr/>
        </p:nvSpPr>
        <p:spPr bwMode="auto">
          <a:xfrm>
            <a:off x="4552950" y="2798763"/>
            <a:ext cx="26988" cy="28575"/>
          </a:xfrm>
          <a:prstGeom prst="ellipse">
            <a:avLst/>
          </a:prstGeom>
          <a:solidFill>
            <a:srgbClr val="000000"/>
          </a:solidFill>
          <a:ln w="9525">
            <a:noFill/>
            <a:round/>
            <a:headEnd/>
            <a:tailEnd/>
          </a:ln>
        </p:spPr>
        <p:txBody>
          <a:bodyPr/>
          <a:lstStyle/>
          <a:p>
            <a:endParaRPr lang="en-US"/>
          </a:p>
        </p:txBody>
      </p:sp>
      <p:sp>
        <p:nvSpPr>
          <p:cNvPr id="44110" name="Oval 83"/>
          <p:cNvSpPr>
            <a:spLocks noChangeArrowheads="1"/>
          </p:cNvSpPr>
          <p:nvPr/>
        </p:nvSpPr>
        <p:spPr bwMode="auto">
          <a:xfrm>
            <a:off x="4552950" y="3041650"/>
            <a:ext cx="26988" cy="25400"/>
          </a:xfrm>
          <a:prstGeom prst="ellipse">
            <a:avLst/>
          </a:prstGeom>
          <a:solidFill>
            <a:srgbClr val="000000"/>
          </a:solidFill>
          <a:ln w="9525">
            <a:noFill/>
            <a:round/>
            <a:headEnd/>
            <a:tailEnd/>
          </a:ln>
        </p:spPr>
        <p:txBody>
          <a:bodyPr/>
          <a:lstStyle/>
          <a:p>
            <a:endParaRPr lang="en-US"/>
          </a:p>
        </p:txBody>
      </p:sp>
      <p:sp>
        <p:nvSpPr>
          <p:cNvPr id="44111" name="Oval 84"/>
          <p:cNvSpPr>
            <a:spLocks noChangeArrowheads="1"/>
          </p:cNvSpPr>
          <p:nvPr/>
        </p:nvSpPr>
        <p:spPr bwMode="auto">
          <a:xfrm>
            <a:off x="4552950" y="3162300"/>
            <a:ext cx="26988" cy="26988"/>
          </a:xfrm>
          <a:prstGeom prst="ellipse">
            <a:avLst/>
          </a:prstGeom>
          <a:solidFill>
            <a:srgbClr val="000000"/>
          </a:solidFill>
          <a:ln w="9525">
            <a:noFill/>
            <a:round/>
            <a:headEnd/>
            <a:tailEnd/>
          </a:ln>
        </p:spPr>
        <p:txBody>
          <a:bodyPr/>
          <a:lstStyle/>
          <a:p>
            <a:endParaRPr lang="en-US"/>
          </a:p>
        </p:txBody>
      </p:sp>
      <p:sp>
        <p:nvSpPr>
          <p:cNvPr id="44112" name="Oval 85"/>
          <p:cNvSpPr>
            <a:spLocks noChangeArrowheads="1"/>
          </p:cNvSpPr>
          <p:nvPr/>
        </p:nvSpPr>
        <p:spPr bwMode="auto">
          <a:xfrm>
            <a:off x="4552950" y="3282950"/>
            <a:ext cx="26988" cy="26988"/>
          </a:xfrm>
          <a:prstGeom prst="ellipse">
            <a:avLst/>
          </a:prstGeom>
          <a:solidFill>
            <a:srgbClr val="000000"/>
          </a:solidFill>
          <a:ln w="9525">
            <a:noFill/>
            <a:round/>
            <a:headEnd/>
            <a:tailEnd/>
          </a:ln>
        </p:spPr>
        <p:txBody>
          <a:bodyPr/>
          <a:lstStyle/>
          <a:p>
            <a:endParaRPr lang="en-US"/>
          </a:p>
        </p:txBody>
      </p:sp>
      <p:sp>
        <p:nvSpPr>
          <p:cNvPr id="44113" name="Oval 86"/>
          <p:cNvSpPr>
            <a:spLocks noChangeArrowheads="1"/>
          </p:cNvSpPr>
          <p:nvPr/>
        </p:nvSpPr>
        <p:spPr bwMode="auto">
          <a:xfrm>
            <a:off x="4552950" y="3402013"/>
            <a:ext cx="26988" cy="26987"/>
          </a:xfrm>
          <a:prstGeom prst="ellipse">
            <a:avLst/>
          </a:prstGeom>
          <a:solidFill>
            <a:srgbClr val="000000"/>
          </a:solidFill>
          <a:ln w="9525">
            <a:noFill/>
            <a:round/>
            <a:headEnd/>
            <a:tailEnd/>
          </a:ln>
        </p:spPr>
        <p:txBody>
          <a:bodyPr/>
          <a:lstStyle/>
          <a:p>
            <a:endParaRPr lang="en-US"/>
          </a:p>
        </p:txBody>
      </p:sp>
      <p:sp>
        <p:nvSpPr>
          <p:cNvPr id="44114" name="Oval 87"/>
          <p:cNvSpPr>
            <a:spLocks noChangeArrowheads="1"/>
          </p:cNvSpPr>
          <p:nvPr/>
        </p:nvSpPr>
        <p:spPr bwMode="auto">
          <a:xfrm>
            <a:off x="4552950" y="3524250"/>
            <a:ext cx="26988" cy="26988"/>
          </a:xfrm>
          <a:prstGeom prst="ellipse">
            <a:avLst/>
          </a:prstGeom>
          <a:solidFill>
            <a:srgbClr val="000000"/>
          </a:solidFill>
          <a:ln w="9525">
            <a:noFill/>
            <a:round/>
            <a:headEnd/>
            <a:tailEnd/>
          </a:ln>
        </p:spPr>
        <p:txBody>
          <a:bodyPr/>
          <a:lstStyle/>
          <a:p>
            <a:endParaRPr lang="en-US"/>
          </a:p>
        </p:txBody>
      </p:sp>
      <p:sp>
        <p:nvSpPr>
          <p:cNvPr id="44115" name="Oval 88"/>
          <p:cNvSpPr>
            <a:spLocks noChangeArrowheads="1"/>
          </p:cNvSpPr>
          <p:nvPr/>
        </p:nvSpPr>
        <p:spPr bwMode="auto">
          <a:xfrm>
            <a:off x="4552950" y="3644900"/>
            <a:ext cx="26988" cy="26988"/>
          </a:xfrm>
          <a:prstGeom prst="ellipse">
            <a:avLst/>
          </a:prstGeom>
          <a:solidFill>
            <a:srgbClr val="000000"/>
          </a:solidFill>
          <a:ln w="9525">
            <a:noFill/>
            <a:round/>
            <a:headEnd/>
            <a:tailEnd/>
          </a:ln>
        </p:spPr>
        <p:txBody>
          <a:bodyPr/>
          <a:lstStyle/>
          <a:p>
            <a:endParaRPr lang="en-US"/>
          </a:p>
        </p:txBody>
      </p:sp>
      <p:sp>
        <p:nvSpPr>
          <p:cNvPr id="44116" name="Oval 89"/>
          <p:cNvSpPr>
            <a:spLocks noChangeArrowheads="1"/>
          </p:cNvSpPr>
          <p:nvPr/>
        </p:nvSpPr>
        <p:spPr bwMode="auto">
          <a:xfrm>
            <a:off x="4552950" y="3767138"/>
            <a:ext cx="26988" cy="26987"/>
          </a:xfrm>
          <a:prstGeom prst="ellipse">
            <a:avLst/>
          </a:prstGeom>
          <a:solidFill>
            <a:srgbClr val="000000"/>
          </a:solidFill>
          <a:ln w="9525">
            <a:noFill/>
            <a:round/>
            <a:headEnd/>
            <a:tailEnd/>
          </a:ln>
        </p:spPr>
        <p:txBody>
          <a:bodyPr/>
          <a:lstStyle/>
          <a:p>
            <a:endParaRPr lang="en-US"/>
          </a:p>
        </p:txBody>
      </p:sp>
      <p:sp>
        <p:nvSpPr>
          <p:cNvPr id="44117" name="Oval 90"/>
          <p:cNvSpPr>
            <a:spLocks noChangeArrowheads="1"/>
          </p:cNvSpPr>
          <p:nvPr/>
        </p:nvSpPr>
        <p:spPr bwMode="auto">
          <a:xfrm>
            <a:off x="4552950" y="3886200"/>
            <a:ext cx="26988" cy="26988"/>
          </a:xfrm>
          <a:prstGeom prst="ellipse">
            <a:avLst/>
          </a:prstGeom>
          <a:solidFill>
            <a:srgbClr val="000000"/>
          </a:solidFill>
          <a:ln w="9525">
            <a:noFill/>
            <a:round/>
            <a:headEnd/>
            <a:tailEnd/>
          </a:ln>
        </p:spPr>
        <p:txBody>
          <a:bodyPr/>
          <a:lstStyle/>
          <a:p>
            <a:endParaRPr lang="en-US"/>
          </a:p>
        </p:txBody>
      </p:sp>
      <p:sp>
        <p:nvSpPr>
          <p:cNvPr id="44118" name="Oval 91"/>
          <p:cNvSpPr>
            <a:spLocks noChangeArrowheads="1"/>
          </p:cNvSpPr>
          <p:nvPr/>
        </p:nvSpPr>
        <p:spPr bwMode="auto">
          <a:xfrm>
            <a:off x="4552950" y="4006850"/>
            <a:ext cx="26988" cy="26988"/>
          </a:xfrm>
          <a:prstGeom prst="ellipse">
            <a:avLst/>
          </a:prstGeom>
          <a:solidFill>
            <a:srgbClr val="000000"/>
          </a:solidFill>
          <a:ln w="9525">
            <a:noFill/>
            <a:round/>
            <a:headEnd/>
            <a:tailEnd/>
          </a:ln>
        </p:spPr>
        <p:txBody>
          <a:bodyPr/>
          <a:lstStyle/>
          <a:p>
            <a:endParaRPr lang="en-US"/>
          </a:p>
        </p:txBody>
      </p:sp>
      <p:sp>
        <p:nvSpPr>
          <p:cNvPr id="44119" name="Oval 92"/>
          <p:cNvSpPr>
            <a:spLocks noChangeArrowheads="1"/>
          </p:cNvSpPr>
          <p:nvPr/>
        </p:nvSpPr>
        <p:spPr bwMode="auto">
          <a:xfrm>
            <a:off x="4552950" y="4129088"/>
            <a:ext cx="26988" cy="26987"/>
          </a:xfrm>
          <a:prstGeom prst="ellipse">
            <a:avLst/>
          </a:prstGeom>
          <a:solidFill>
            <a:srgbClr val="000000"/>
          </a:solidFill>
          <a:ln w="9525">
            <a:noFill/>
            <a:round/>
            <a:headEnd/>
            <a:tailEnd/>
          </a:ln>
        </p:spPr>
        <p:txBody>
          <a:bodyPr/>
          <a:lstStyle/>
          <a:p>
            <a:endParaRPr lang="en-US"/>
          </a:p>
        </p:txBody>
      </p:sp>
      <p:sp>
        <p:nvSpPr>
          <p:cNvPr id="44120" name="Oval 93"/>
          <p:cNvSpPr>
            <a:spLocks noChangeArrowheads="1"/>
          </p:cNvSpPr>
          <p:nvPr/>
        </p:nvSpPr>
        <p:spPr bwMode="auto">
          <a:xfrm>
            <a:off x="4552950" y="4241800"/>
            <a:ext cx="26988" cy="26988"/>
          </a:xfrm>
          <a:prstGeom prst="ellipse">
            <a:avLst/>
          </a:prstGeom>
          <a:solidFill>
            <a:srgbClr val="000000"/>
          </a:solidFill>
          <a:ln w="9525">
            <a:noFill/>
            <a:round/>
            <a:headEnd/>
            <a:tailEnd/>
          </a:ln>
        </p:spPr>
        <p:txBody>
          <a:bodyPr/>
          <a:lstStyle/>
          <a:p>
            <a:endParaRPr lang="en-US"/>
          </a:p>
        </p:txBody>
      </p:sp>
      <p:sp>
        <p:nvSpPr>
          <p:cNvPr id="44121" name="Oval 94"/>
          <p:cNvSpPr>
            <a:spLocks noChangeArrowheads="1"/>
          </p:cNvSpPr>
          <p:nvPr/>
        </p:nvSpPr>
        <p:spPr bwMode="auto">
          <a:xfrm>
            <a:off x="4552950" y="4364038"/>
            <a:ext cx="26988" cy="26987"/>
          </a:xfrm>
          <a:prstGeom prst="ellipse">
            <a:avLst/>
          </a:prstGeom>
          <a:solidFill>
            <a:srgbClr val="000000"/>
          </a:solidFill>
          <a:ln w="9525">
            <a:noFill/>
            <a:round/>
            <a:headEnd/>
            <a:tailEnd/>
          </a:ln>
        </p:spPr>
        <p:txBody>
          <a:bodyPr/>
          <a:lstStyle/>
          <a:p>
            <a:endParaRPr lang="en-US"/>
          </a:p>
        </p:txBody>
      </p:sp>
      <p:sp>
        <p:nvSpPr>
          <p:cNvPr id="44122" name="Oval 95"/>
          <p:cNvSpPr>
            <a:spLocks noChangeArrowheads="1"/>
          </p:cNvSpPr>
          <p:nvPr/>
        </p:nvSpPr>
        <p:spPr bwMode="auto">
          <a:xfrm>
            <a:off x="4552950" y="4484688"/>
            <a:ext cx="26988" cy="25400"/>
          </a:xfrm>
          <a:prstGeom prst="ellipse">
            <a:avLst/>
          </a:prstGeom>
          <a:solidFill>
            <a:srgbClr val="000000"/>
          </a:solidFill>
          <a:ln w="9525">
            <a:noFill/>
            <a:round/>
            <a:headEnd/>
            <a:tailEnd/>
          </a:ln>
        </p:spPr>
        <p:txBody>
          <a:bodyPr/>
          <a:lstStyle/>
          <a:p>
            <a:endParaRPr lang="en-US"/>
          </a:p>
        </p:txBody>
      </p:sp>
      <p:sp>
        <p:nvSpPr>
          <p:cNvPr id="44123" name="Oval 96"/>
          <p:cNvSpPr>
            <a:spLocks noChangeArrowheads="1"/>
          </p:cNvSpPr>
          <p:nvPr/>
        </p:nvSpPr>
        <p:spPr bwMode="auto">
          <a:xfrm>
            <a:off x="4552950" y="4603750"/>
            <a:ext cx="26988" cy="26988"/>
          </a:xfrm>
          <a:prstGeom prst="ellipse">
            <a:avLst/>
          </a:prstGeom>
          <a:solidFill>
            <a:srgbClr val="000000"/>
          </a:solidFill>
          <a:ln w="9525">
            <a:noFill/>
            <a:round/>
            <a:headEnd/>
            <a:tailEnd/>
          </a:ln>
        </p:spPr>
        <p:txBody>
          <a:bodyPr/>
          <a:lstStyle/>
          <a:p>
            <a:endParaRPr lang="en-US"/>
          </a:p>
        </p:txBody>
      </p:sp>
      <p:sp>
        <p:nvSpPr>
          <p:cNvPr id="44124" name="Oval 97"/>
          <p:cNvSpPr>
            <a:spLocks noChangeArrowheads="1"/>
          </p:cNvSpPr>
          <p:nvPr/>
        </p:nvSpPr>
        <p:spPr bwMode="auto">
          <a:xfrm>
            <a:off x="4552950" y="4725988"/>
            <a:ext cx="26988" cy="26987"/>
          </a:xfrm>
          <a:prstGeom prst="ellipse">
            <a:avLst/>
          </a:prstGeom>
          <a:solidFill>
            <a:srgbClr val="000000"/>
          </a:solidFill>
          <a:ln w="9525">
            <a:noFill/>
            <a:round/>
            <a:headEnd/>
            <a:tailEnd/>
          </a:ln>
        </p:spPr>
        <p:txBody>
          <a:bodyPr/>
          <a:lstStyle/>
          <a:p>
            <a:endParaRPr lang="en-US"/>
          </a:p>
        </p:txBody>
      </p:sp>
      <p:sp>
        <p:nvSpPr>
          <p:cNvPr id="44125" name="Oval 98"/>
          <p:cNvSpPr>
            <a:spLocks noChangeArrowheads="1"/>
          </p:cNvSpPr>
          <p:nvPr/>
        </p:nvSpPr>
        <p:spPr bwMode="auto">
          <a:xfrm>
            <a:off x="4552950" y="4846638"/>
            <a:ext cx="26988" cy="25400"/>
          </a:xfrm>
          <a:prstGeom prst="ellipse">
            <a:avLst/>
          </a:prstGeom>
          <a:solidFill>
            <a:srgbClr val="000000"/>
          </a:solidFill>
          <a:ln w="9525">
            <a:noFill/>
            <a:round/>
            <a:headEnd/>
            <a:tailEnd/>
          </a:ln>
        </p:spPr>
        <p:txBody>
          <a:bodyPr/>
          <a:lstStyle/>
          <a:p>
            <a:endParaRPr lang="en-US"/>
          </a:p>
        </p:txBody>
      </p:sp>
      <p:sp>
        <p:nvSpPr>
          <p:cNvPr id="44126" name="Oval 99"/>
          <p:cNvSpPr>
            <a:spLocks noChangeArrowheads="1"/>
          </p:cNvSpPr>
          <p:nvPr/>
        </p:nvSpPr>
        <p:spPr bwMode="auto">
          <a:xfrm>
            <a:off x="4552950" y="4965700"/>
            <a:ext cx="26988" cy="28575"/>
          </a:xfrm>
          <a:prstGeom prst="ellipse">
            <a:avLst/>
          </a:prstGeom>
          <a:solidFill>
            <a:srgbClr val="000000"/>
          </a:solidFill>
          <a:ln w="9525">
            <a:noFill/>
            <a:round/>
            <a:headEnd/>
            <a:tailEnd/>
          </a:ln>
        </p:spPr>
        <p:txBody>
          <a:bodyPr/>
          <a:lstStyle/>
          <a:p>
            <a:endParaRPr lang="en-US"/>
          </a:p>
        </p:txBody>
      </p:sp>
      <p:sp>
        <p:nvSpPr>
          <p:cNvPr id="44127" name="Oval 100"/>
          <p:cNvSpPr>
            <a:spLocks noChangeArrowheads="1"/>
          </p:cNvSpPr>
          <p:nvPr/>
        </p:nvSpPr>
        <p:spPr bwMode="auto">
          <a:xfrm>
            <a:off x="4552950" y="5087938"/>
            <a:ext cx="26988" cy="26987"/>
          </a:xfrm>
          <a:prstGeom prst="ellipse">
            <a:avLst/>
          </a:prstGeom>
          <a:solidFill>
            <a:srgbClr val="000000"/>
          </a:solidFill>
          <a:ln w="9525">
            <a:noFill/>
            <a:round/>
            <a:headEnd/>
            <a:tailEnd/>
          </a:ln>
        </p:spPr>
        <p:txBody>
          <a:bodyPr/>
          <a:lstStyle/>
          <a:p>
            <a:endParaRPr lang="en-US"/>
          </a:p>
        </p:txBody>
      </p:sp>
      <p:sp>
        <p:nvSpPr>
          <p:cNvPr id="345189" name="Line 101"/>
          <p:cNvSpPr>
            <a:spLocks noChangeShapeType="1"/>
          </p:cNvSpPr>
          <p:nvPr/>
        </p:nvSpPr>
        <p:spPr bwMode="auto">
          <a:xfrm>
            <a:off x="3629025" y="2981325"/>
            <a:ext cx="0" cy="2112963"/>
          </a:xfrm>
          <a:prstGeom prst="line">
            <a:avLst/>
          </a:prstGeom>
          <a:noFill/>
          <a:ln w="38100">
            <a:solidFill>
              <a:srgbClr val="000000"/>
            </a:solidFill>
            <a:miter lim="800000"/>
            <a:headEnd/>
            <a:tailEnd/>
          </a:ln>
        </p:spPr>
        <p:txBody>
          <a:bodyPr/>
          <a:lstStyle/>
          <a:p>
            <a:endParaRPr lang="en-US"/>
          </a:p>
        </p:txBody>
      </p:sp>
      <p:sp>
        <p:nvSpPr>
          <p:cNvPr id="345190" name="Freeform 102"/>
          <p:cNvSpPr>
            <a:spLocks/>
          </p:cNvSpPr>
          <p:nvPr/>
        </p:nvSpPr>
        <p:spPr bwMode="auto">
          <a:xfrm>
            <a:off x="3568700" y="5041900"/>
            <a:ext cx="119063" cy="192088"/>
          </a:xfrm>
          <a:custGeom>
            <a:avLst/>
            <a:gdLst>
              <a:gd name="T0" fmla="*/ 59531 w 18"/>
              <a:gd name="T1" fmla="*/ 33119 h 29"/>
              <a:gd name="T2" fmla="*/ 119062 w 18"/>
              <a:gd name="T3" fmla="*/ 0 h 29"/>
              <a:gd name="T4" fmla="*/ 119062 w 18"/>
              <a:gd name="T5" fmla="*/ 0 h 29"/>
              <a:gd name="T6" fmla="*/ 79375 w 18"/>
              <a:gd name="T7" fmla="*/ 92732 h 29"/>
              <a:gd name="T8" fmla="*/ 59531 w 18"/>
              <a:gd name="T9" fmla="*/ 192088 h 29"/>
              <a:gd name="T10" fmla="*/ 39687 w 18"/>
              <a:gd name="T11" fmla="*/ 92732 h 29"/>
              <a:gd name="T12" fmla="*/ 0 w 18"/>
              <a:gd name="T13" fmla="*/ 0 h 29"/>
              <a:gd name="T14" fmla="*/ 6615 w 18"/>
              <a:gd name="T15" fmla="*/ 0 h 29"/>
              <a:gd name="T16" fmla="*/ 59531 w 18"/>
              <a:gd name="T17" fmla="*/ 33119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9"/>
              <a:gd name="T29" fmla="*/ 18 w 18"/>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1" y="0"/>
                  <a:pt x="1" y="0"/>
                  <a:pt x="1" y="0"/>
                </a:cubicBezTo>
                <a:lnTo>
                  <a:pt x="9" y="5"/>
                </a:lnTo>
                <a:close/>
              </a:path>
            </a:pathLst>
          </a:custGeom>
          <a:solidFill>
            <a:srgbClr val="000000"/>
          </a:solidFill>
          <a:ln w="9525">
            <a:noFill/>
            <a:round/>
            <a:headEnd/>
            <a:tailEnd/>
          </a:ln>
        </p:spPr>
        <p:txBody>
          <a:bodyPr/>
          <a:lstStyle/>
          <a:p>
            <a:endParaRPr lang="en-US"/>
          </a:p>
        </p:txBody>
      </p:sp>
      <p:sp>
        <p:nvSpPr>
          <p:cNvPr id="345192" name="Text Box 104"/>
          <p:cNvSpPr txBox="1">
            <a:spLocks noChangeArrowheads="1"/>
          </p:cNvSpPr>
          <p:nvPr/>
        </p:nvSpPr>
        <p:spPr bwMode="auto">
          <a:xfrm>
            <a:off x="7272338" y="981075"/>
            <a:ext cx="1743075" cy="2838450"/>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dirty="0"/>
              <a:t>When the price elasticity of demand is high and the price elasticity of supply is low, the burden of an excise tax falls mainly on producers.</a:t>
            </a:r>
          </a:p>
        </p:txBody>
      </p:sp>
      <p:pic>
        <p:nvPicPr>
          <p:cNvPr id="44133" name="Picture 101"/>
          <p:cNvPicPr>
            <a:picLocks noChangeAspect="1" noChangeArrowheads="1"/>
          </p:cNvPicPr>
          <p:nvPr/>
        </p:nvPicPr>
        <p:blipFill>
          <a:blip r:embed="rId3"/>
          <a:srcRect/>
          <a:stretch>
            <a:fillRect/>
          </a:stretch>
        </p:blipFill>
        <p:spPr bwMode="auto">
          <a:xfrm>
            <a:off x="6772275" y="4365625"/>
            <a:ext cx="2263775" cy="1503363"/>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45115"/>
                                        </p:tgtEl>
                                        <p:attrNameLst>
                                          <p:attrName>style.visibility</p:attrName>
                                        </p:attrNameLst>
                                      </p:cBhvr>
                                      <p:to>
                                        <p:strVal val="visible"/>
                                      </p:to>
                                    </p:set>
                                    <p:animEffect transition="in" filter="plus(in)">
                                      <p:cBhvr>
                                        <p:cTn id="7" dur="1000"/>
                                        <p:tgtEl>
                                          <p:spTgt spid="34511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45113"/>
                                        </p:tgtEl>
                                        <p:attrNameLst>
                                          <p:attrName>style.visibility</p:attrName>
                                        </p:attrNameLst>
                                      </p:cBhvr>
                                      <p:to>
                                        <p:strVal val="visible"/>
                                      </p:to>
                                    </p:set>
                                  </p:childTnLst>
                                </p:cTn>
                              </p:par>
                              <p:par>
                                <p:cTn id="10" presetID="22" presetClass="entr" presetSubtype="8" fill="hold" grpId="0" nodeType="withEffect">
                                  <p:stCondLst>
                                    <p:cond delay="0"/>
                                  </p:stCondLst>
                                  <p:childTnLst>
                                    <p:set>
                                      <p:cBhvr>
                                        <p:cTn id="11" dur="1" fill="hold">
                                          <p:stCondLst>
                                            <p:cond delay="0"/>
                                          </p:stCondLst>
                                        </p:cTn>
                                        <p:tgtEl>
                                          <p:spTgt spid="345114"/>
                                        </p:tgtEl>
                                        <p:attrNameLst>
                                          <p:attrName>style.visibility</p:attrName>
                                        </p:attrNameLst>
                                      </p:cBhvr>
                                      <p:to>
                                        <p:strVal val="visible"/>
                                      </p:to>
                                    </p:set>
                                    <p:animEffect transition="in" filter="wipe(left)">
                                      <p:cBhvr>
                                        <p:cTn id="12" dur="500"/>
                                        <p:tgtEl>
                                          <p:spTgt spid="3451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5189"/>
                                        </p:tgtEl>
                                        <p:attrNameLst>
                                          <p:attrName>style.visibility</p:attrName>
                                        </p:attrNameLst>
                                      </p:cBhvr>
                                      <p:to>
                                        <p:strVal val="visible"/>
                                      </p:to>
                                    </p:set>
                                    <p:animEffect transition="in" filter="wipe(up)">
                                      <p:cBhvr>
                                        <p:cTn id="17" dur="500"/>
                                        <p:tgtEl>
                                          <p:spTgt spid="345189"/>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345190"/>
                                        </p:tgtEl>
                                        <p:attrNameLst>
                                          <p:attrName>style.visibility</p:attrName>
                                        </p:attrNameLst>
                                      </p:cBhvr>
                                      <p:to>
                                        <p:strVal val="visible"/>
                                      </p:to>
                                    </p:set>
                                  </p:childTnLst>
                                </p:cTn>
                              </p:par>
                              <p:par>
                                <p:cTn id="20" presetID="22" presetClass="entr" presetSubtype="8" fill="hold" grpId="0" nodeType="withEffect">
                                  <p:stCondLst>
                                    <p:cond delay="0"/>
                                  </p:stCondLst>
                                  <p:childTnLst>
                                    <p:set>
                                      <p:cBhvr>
                                        <p:cTn id="21" dur="1" fill="hold">
                                          <p:stCondLst>
                                            <p:cond delay="0"/>
                                          </p:stCondLst>
                                        </p:cTn>
                                        <p:tgtEl>
                                          <p:spTgt spid="345112"/>
                                        </p:tgtEl>
                                        <p:attrNameLst>
                                          <p:attrName>style.visibility</p:attrName>
                                        </p:attrNameLst>
                                      </p:cBhvr>
                                      <p:to>
                                        <p:strVal val="visible"/>
                                      </p:to>
                                    </p:set>
                                    <p:animEffect transition="in" filter="wipe(left)">
                                      <p:cBhvr>
                                        <p:cTn id="22" dur="500"/>
                                        <p:tgtEl>
                                          <p:spTgt spid="34511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3451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5110"/>
                                        </p:tgtEl>
                                        <p:attrNameLst>
                                          <p:attrName>style.visibility</p:attrName>
                                        </p:attrNameLst>
                                      </p:cBhvr>
                                      <p:to>
                                        <p:strVal val="visible"/>
                                      </p:to>
                                    </p:se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345192"/>
                                        </p:tgtEl>
                                        <p:attrNameLst>
                                          <p:attrName>style.visibility</p:attrName>
                                        </p:attrNameLst>
                                      </p:cBhvr>
                                      <p:to>
                                        <p:strVal val="visible"/>
                                      </p:to>
                                    </p:set>
                                    <p:animEffect transition="in" filter="wipe(up)">
                                      <p:cBhvr>
                                        <p:cTn id="30" dur="500"/>
                                        <p:tgtEl>
                                          <p:spTgt spid="345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10" grpId="0" animBg="1"/>
      <p:bldP spid="345111" grpId="0" animBg="1"/>
      <p:bldP spid="345112" grpId="0"/>
      <p:bldP spid="345113" grpId="0" animBg="1"/>
      <p:bldP spid="345114" grpId="0"/>
      <p:bldP spid="345115" grpId="0" animBg="1"/>
      <p:bldP spid="345189" grpId="0" animBg="1"/>
      <p:bldP spid="345190" grpId="0" animBg="1"/>
      <p:bldP spid="34519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body" idx="4294967295"/>
          </p:nvPr>
        </p:nvSpPr>
        <p:spPr>
          <a:xfrm>
            <a:off x="971550" y="990600"/>
            <a:ext cx="7993063" cy="4953000"/>
          </a:xfrm>
        </p:spPr>
        <p:txBody>
          <a:bodyPr/>
          <a:lstStyle/>
          <a:p>
            <a:pPr marL="231775" indent="-225425"/>
            <a:r>
              <a:rPr lang="en-US" smtClean="0"/>
              <a:t>When the price elasticity of demand is higher than the price elasticity of supply, an excise tax falls mainly on producers. </a:t>
            </a:r>
          </a:p>
          <a:p>
            <a:pPr marL="231775" indent="-225425"/>
            <a:endParaRPr lang="en-US" smtClean="0"/>
          </a:p>
          <a:p>
            <a:pPr marL="231775" indent="-225425"/>
            <a:r>
              <a:rPr lang="en-US" smtClean="0"/>
              <a:t>When the price elasticity of supply is higher than the price elasticity of demand, an excise tax falls mainly on consumers. </a:t>
            </a:r>
          </a:p>
          <a:p>
            <a:pPr marL="231775" indent="-225425"/>
            <a:endParaRPr lang="en-US" smtClean="0"/>
          </a:p>
          <a:p>
            <a:pPr marL="231775" indent="-225425"/>
            <a:r>
              <a:rPr lang="en-US" smtClean="0"/>
              <a:t>So elasticity—not who officially pays the tax—determines the incidence of an excise tax.</a:t>
            </a:r>
          </a:p>
          <a:p>
            <a:pPr marL="231775" indent="-225425">
              <a:lnSpc>
                <a:spcPct val="80000"/>
              </a:lnSpc>
              <a:buFont typeface="Wingdings" pitchFamily="2" charset="2"/>
              <a:buNone/>
            </a:pPr>
            <a:endParaRPr lang="en-US" smtClean="0"/>
          </a:p>
        </p:txBody>
      </p:sp>
      <p:sp>
        <p:nvSpPr>
          <p:cNvPr id="373763" name="Rectangle 3"/>
          <p:cNvSpPr>
            <a:spLocks noGrp="1" noRot="1" noChangeArrowheads="1"/>
          </p:cNvSpPr>
          <p:nvPr>
            <p:ph type="title" idx="4294967295"/>
          </p:nvPr>
        </p:nvSpPr>
        <p:spPr>
          <a:xfrm>
            <a:off x="900113" y="60325"/>
            <a:ext cx="8064500" cy="555625"/>
          </a:xfrm>
        </p:spPr>
        <p:txBody>
          <a:bodyPr/>
          <a:lstStyle/>
          <a:p>
            <a:pPr>
              <a:defRPr/>
            </a:pPr>
            <a:r>
              <a:rPr lang="en-US" dirty="0" smtClean="0"/>
              <a:t>Tax Incidence – Putting It Together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3762">
                                            <p:txEl>
                                              <p:pRg st="0" end="0"/>
                                            </p:txEl>
                                          </p:spTgt>
                                        </p:tgtEl>
                                        <p:attrNameLst>
                                          <p:attrName>style.visibility</p:attrName>
                                        </p:attrNameLst>
                                      </p:cBhvr>
                                      <p:to>
                                        <p:strVal val="visible"/>
                                      </p:to>
                                    </p:set>
                                    <p:animEffect transition="in" filter="fade">
                                      <p:cBhvr>
                                        <p:cTn id="7" dur="500"/>
                                        <p:tgtEl>
                                          <p:spTgt spid="3737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3762">
                                            <p:txEl>
                                              <p:pRg st="2" end="2"/>
                                            </p:txEl>
                                          </p:spTgt>
                                        </p:tgtEl>
                                        <p:attrNameLst>
                                          <p:attrName>style.visibility</p:attrName>
                                        </p:attrNameLst>
                                      </p:cBhvr>
                                      <p:to>
                                        <p:strVal val="visible"/>
                                      </p:to>
                                    </p:set>
                                    <p:animEffect transition="in" filter="fade">
                                      <p:cBhvr>
                                        <p:cTn id="12" dur="500"/>
                                        <p:tgtEl>
                                          <p:spTgt spid="3737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3762">
                                            <p:txEl>
                                              <p:pRg st="4" end="4"/>
                                            </p:txEl>
                                          </p:spTgt>
                                        </p:tgtEl>
                                        <p:attrNameLst>
                                          <p:attrName>style.visibility</p:attrName>
                                        </p:attrNameLst>
                                      </p:cBhvr>
                                      <p:to>
                                        <p:strVal val="visible"/>
                                      </p:to>
                                    </p:set>
                                    <p:animEffect transition="in" filter="fade">
                                      <p:cBhvr>
                                        <p:cTn id="17" dur="500"/>
                                        <p:tgtEl>
                                          <p:spTgt spid="3737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85" name="Rectangle 49"/>
          <p:cNvSpPr>
            <a:spLocks noChangeArrowheads="1"/>
          </p:cNvSpPr>
          <p:nvPr/>
        </p:nvSpPr>
        <p:spPr bwMode="auto">
          <a:xfrm>
            <a:off x="3986213" y="1209675"/>
            <a:ext cx="4800600" cy="92392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dirty="0"/>
              <a:t>The area of the shaded rectangle is:</a:t>
            </a:r>
          </a:p>
          <a:p>
            <a:pPr marL="1588" indent="-1588" algn="ctr">
              <a:defRPr/>
            </a:pPr>
            <a:r>
              <a:rPr lang="en-US" dirty="0"/>
              <a:t>Area = Height × Width = $40 per room × 5,000 rooms = $200,000</a:t>
            </a:r>
          </a:p>
        </p:txBody>
      </p:sp>
      <p:sp>
        <p:nvSpPr>
          <p:cNvPr id="347138" name="Rectangle 2"/>
          <p:cNvSpPr>
            <a:spLocks noGrp="1" noRot="1" noChangeArrowheads="1"/>
          </p:cNvSpPr>
          <p:nvPr>
            <p:ph type="title" idx="4294967295"/>
          </p:nvPr>
        </p:nvSpPr>
        <p:spPr>
          <a:xfrm>
            <a:off x="900113" y="60325"/>
            <a:ext cx="7993062" cy="555625"/>
          </a:xfrm>
        </p:spPr>
        <p:txBody>
          <a:bodyPr/>
          <a:lstStyle/>
          <a:p>
            <a:pPr>
              <a:defRPr/>
            </a:pPr>
            <a:r>
              <a:rPr lang="en-US" dirty="0" smtClean="0"/>
              <a:t>The Revenue from an Excise Tax</a:t>
            </a:r>
          </a:p>
        </p:txBody>
      </p:sp>
      <p:cxnSp>
        <p:nvCxnSpPr>
          <p:cNvPr id="48131" name="Straight Connector 86"/>
          <p:cNvCxnSpPr>
            <a:cxnSpLocks noChangeShapeType="1"/>
          </p:cNvCxnSpPr>
          <p:nvPr/>
        </p:nvCxnSpPr>
        <p:spPr bwMode="auto">
          <a:xfrm>
            <a:off x="3451225" y="3489325"/>
            <a:ext cx="2898775" cy="1588"/>
          </a:xfrm>
          <a:prstGeom prst="line">
            <a:avLst/>
          </a:prstGeom>
          <a:noFill/>
          <a:ln w="15875">
            <a:solidFill>
              <a:srgbClr val="808080"/>
            </a:solidFill>
            <a:prstDash val="sysDot"/>
            <a:round/>
            <a:headEnd/>
            <a:tailEnd type="none" w="med" len="lg"/>
          </a:ln>
        </p:spPr>
      </p:cxnSp>
      <p:cxnSp>
        <p:nvCxnSpPr>
          <p:cNvPr id="48132" name="Straight Connector 86"/>
          <p:cNvCxnSpPr>
            <a:cxnSpLocks noChangeShapeType="1"/>
          </p:cNvCxnSpPr>
          <p:nvPr/>
        </p:nvCxnSpPr>
        <p:spPr bwMode="auto">
          <a:xfrm>
            <a:off x="6454775" y="3514725"/>
            <a:ext cx="0" cy="1920875"/>
          </a:xfrm>
          <a:prstGeom prst="line">
            <a:avLst/>
          </a:prstGeom>
          <a:noFill/>
          <a:ln w="15875">
            <a:solidFill>
              <a:srgbClr val="808080"/>
            </a:solidFill>
            <a:prstDash val="sysDot"/>
            <a:round/>
            <a:headEnd/>
            <a:tailEnd type="none" w="med" len="lg"/>
          </a:ln>
        </p:spPr>
      </p:cxnSp>
      <p:sp>
        <p:nvSpPr>
          <p:cNvPr id="347144" name="Rectangle 8"/>
          <p:cNvSpPr>
            <a:spLocks noChangeArrowheads="1"/>
          </p:cNvSpPr>
          <p:nvPr/>
        </p:nvSpPr>
        <p:spPr bwMode="auto">
          <a:xfrm>
            <a:off x="3279775" y="2954338"/>
            <a:ext cx="1601788" cy="1054100"/>
          </a:xfrm>
          <a:prstGeom prst="rect">
            <a:avLst/>
          </a:prstGeom>
          <a:solidFill>
            <a:srgbClr val="CFE4AE"/>
          </a:solidFill>
          <a:ln w="9525">
            <a:noFill/>
            <a:miter lim="800000"/>
            <a:headEnd/>
            <a:tailEnd/>
          </a:ln>
        </p:spPr>
        <p:txBody>
          <a:bodyPr/>
          <a:lstStyle/>
          <a:p>
            <a:endParaRPr lang="en-US"/>
          </a:p>
        </p:txBody>
      </p:sp>
      <p:sp>
        <p:nvSpPr>
          <p:cNvPr id="48134" name="Rectangle 9"/>
          <p:cNvSpPr>
            <a:spLocks noChangeArrowheads="1"/>
          </p:cNvSpPr>
          <p:nvPr/>
        </p:nvSpPr>
        <p:spPr bwMode="auto">
          <a:xfrm>
            <a:off x="8066088" y="27162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48135" name="Rectangle 10"/>
          <p:cNvSpPr>
            <a:spLocks noChangeArrowheads="1"/>
          </p:cNvSpPr>
          <p:nvPr/>
        </p:nvSpPr>
        <p:spPr bwMode="auto">
          <a:xfrm>
            <a:off x="4913313" y="40354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B</a:t>
            </a:r>
            <a:endParaRPr lang="en-US" sz="1400" i="1">
              <a:latin typeface="Tahoma" pitchFamily="34" charset="0"/>
            </a:endParaRPr>
          </a:p>
        </p:txBody>
      </p:sp>
      <p:sp>
        <p:nvSpPr>
          <p:cNvPr id="48136" name="Line 11"/>
          <p:cNvSpPr>
            <a:spLocks noChangeShapeType="1"/>
          </p:cNvSpPr>
          <p:nvPr/>
        </p:nvSpPr>
        <p:spPr bwMode="auto">
          <a:xfrm>
            <a:off x="3279775" y="1898650"/>
            <a:ext cx="149225" cy="0"/>
          </a:xfrm>
          <a:prstGeom prst="line">
            <a:avLst/>
          </a:prstGeom>
          <a:noFill/>
          <a:ln w="7938">
            <a:solidFill>
              <a:srgbClr val="000000"/>
            </a:solidFill>
            <a:miter lim="800000"/>
            <a:headEnd/>
            <a:tailEnd/>
          </a:ln>
        </p:spPr>
        <p:txBody>
          <a:bodyPr/>
          <a:lstStyle/>
          <a:p>
            <a:endParaRPr lang="en-US"/>
          </a:p>
        </p:txBody>
      </p:sp>
      <p:sp>
        <p:nvSpPr>
          <p:cNvPr id="48137" name="Line 12"/>
          <p:cNvSpPr>
            <a:spLocks noChangeShapeType="1"/>
          </p:cNvSpPr>
          <p:nvPr/>
        </p:nvSpPr>
        <p:spPr bwMode="auto">
          <a:xfrm>
            <a:off x="3279775" y="2954338"/>
            <a:ext cx="149225" cy="0"/>
          </a:xfrm>
          <a:prstGeom prst="line">
            <a:avLst/>
          </a:prstGeom>
          <a:noFill/>
          <a:ln w="7938">
            <a:solidFill>
              <a:srgbClr val="000000"/>
            </a:solidFill>
            <a:miter lim="800000"/>
            <a:headEnd/>
            <a:tailEnd/>
          </a:ln>
        </p:spPr>
        <p:txBody>
          <a:bodyPr/>
          <a:lstStyle/>
          <a:p>
            <a:endParaRPr lang="en-US"/>
          </a:p>
        </p:txBody>
      </p:sp>
      <p:sp>
        <p:nvSpPr>
          <p:cNvPr id="48138" name="Line 13"/>
          <p:cNvSpPr>
            <a:spLocks noChangeShapeType="1"/>
          </p:cNvSpPr>
          <p:nvPr/>
        </p:nvSpPr>
        <p:spPr bwMode="auto">
          <a:xfrm>
            <a:off x="3279775" y="3479800"/>
            <a:ext cx="149225" cy="0"/>
          </a:xfrm>
          <a:prstGeom prst="line">
            <a:avLst/>
          </a:prstGeom>
          <a:noFill/>
          <a:ln w="7938">
            <a:solidFill>
              <a:srgbClr val="000000"/>
            </a:solidFill>
            <a:miter lim="800000"/>
            <a:headEnd/>
            <a:tailEnd/>
          </a:ln>
        </p:spPr>
        <p:txBody>
          <a:bodyPr/>
          <a:lstStyle/>
          <a:p>
            <a:endParaRPr lang="en-US"/>
          </a:p>
        </p:txBody>
      </p:sp>
      <p:sp>
        <p:nvSpPr>
          <p:cNvPr id="48139" name="Line 14"/>
          <p:cNvSpPr>
            <a:spLocks noChangeShapeType="1"/>
          </p:cNvSpPr>
          <p:nvPr/>
        </p:nvSpPr>
        <p:spPr bwMode="auto">
          <a:xfrm>
            <a:off x="3279775" y="4008438"/>
            <a:ext cx="149225" cy="0"/>
          </a:xfrm>
          <a:prstGeom prst="line">
            <a:avLst/>
          </a:prstGeom>
          <a:noFill/>
          <a:ln w="7938">
            <a:solidFill>
              <a:srgbClr val="000000"/>
            </a:solidFill>
            <a:miter lim="800000"/>
            <a:headEnd/>
            <a:tailEnd/>
          </a:ln>
        </p:spPr>
        <p:txBody>
          <a:bodyPr/>
          <a:lstStyle/>
          <a:p>
            <a:endParaRPr lang="en-US"/>
          </a:p>
        </p:txBody>
      </p:sp>
      <p:sp>
        <p:nvSpPr>
          <p:cNvPr id="48140" name="Line 15"/>
          <p:cNvSpPr>
            <a:spLocks noChangeShapeType="1"/>
          </p:cNvSpPr>
          <p:nvPr/>
        </p:nvSpPr>
        <p:spPr bwMode="auto">
          <a:xfrm>
            <a:off x="3279775" y="5064125"/>
            <a:ext cx="149225" cy="0"/>
          </a:xfrm>
          <a:prstGeom prst="line">
            <a:avLst/>
          </a:prstGeom>
          <a:noFill/>
          <a:ln w="7938">
            <a:solidFill>
              <a:srgbClr val="000000"/>
            </a:solidFill>
            <a:miter lim="800000"/>
            <a:headEnd/>
            <a:tailEnd/>
          </a:ln>
        </p:spPr>
        <p:txBody>
          <a:bodyPr/>
          <a:lstStyle/>
          <a:p>
            <a:endParaRPr lang="en-US"/>
          </a:p>
        </p:txBody>
      </p:sp>
      <p:sp>
        <p:nvSpPr>
          <p:cNvPr id="48141" name="Line 16"/>
          <p:cNvSpPr>
            <a:spLocks noChangeShapeType="1"/>
          </p:cNvSpPr>
          <p:nvPr/>
        </p:nvSpPr>
        <p:spPr bwMode="auto">
          <a:xfrm>
            <a:off x="4875213" y="5430838"/>
            <a:ext cx="0" cy="165100"/>
          </a:xfrm>
          <a:prstGeom prst="line">
            <a:avLst/>
          </a:prstGeom>
          <a:noFill/>
          <a:ln w="7938">
            <a:solidFill>
              <a:srgbClr val="000000"/>
            </a:solidFill>
            <a:miter lim="800000"/>
            <a:headEnd/>
            <a:tailEnd/>
          </a:ln>
        </p:spPr>
        <p:txBody>
          <a:bodyPr/>
          <a:lstStyle/>
          <a:p>
            <a:endParaRPr lang="en-US"/>
          </a:p>
        </p:txBody>
      </p:sp>
      <p:sp>
        <p:nvSpPr>
          <p:cNvPr id="48142" name="Line 17"/>
          <p:cNvSpPr>
            <a:spLocks noChangeShapeType="1"/>
          </p:cNvSpPr>
          <p:nvPr/>
        </p:nvSpPr>
        <p:spPr bwMode="auto">
          <a:xfrm>
            <a:off x="6438900" y="5430838"/>
            <a:ext cx="0" cy="165100"/>
          </a:xfrm>
          <a:prstGeom prst="line">
            <a:avLst/>
          </a:prstGeom>
          <a:noFill/>
          <a:ln w="7938">
            <a:solidFill>
              <a:srgbClr val="000000"/>
            </a:solidFill>
            <a:miter lim="800000"/>
            <a:headEnd/>
            <a:tailEnd/>
          </a:ln>
        </p:spPr>
        <p:txBody>
          <a:bodyPr/>
          <a:lstStyle/>
          <a:p>
            <a:endParaRPr lang="en-US"/>
          </a:p>
        </p:txBody>
      </p:sp>
      <p:sp>
        <p:nvSpPr>
          <p:cNvPr id="48143" name="Line 18"/>
          <p:cNvSpPr>
            <a:spLocks noChangeShapeType="1"/>
          </p:cNvSpPr>
          <p:nvPr/>
        </p:nvSpPr>
        <p:spPr bwMode="auto">
          <a:xfrm>
            <a:off x="8013700" y="5430838"/>
            <a:ext cx="0" cy="165100"/>
          </a:xfrm>
          <a:prstGeom prst="line">
            <a:avLst/>
          </a:prstGeom>
          <a:noFill/>
          <a:ln w="7938">
            <a:solidFill>
              <a:srgbClr val="000000"/>
            </a:solidFill>
            <a:miter lim="800000"/>
            <a:headEnd/>
            <a:tailEnd/>
          </a:ln>
        </p:spPr>
        <p:txBody>
          <a:bodyPr/>
          <a:lstStyle/>
          <a:p>
            <a:endParaRPr lang="en-US"/>
          </a:p>
        </p:txBody>
      </p:sp>
      <p:sp>
        <p:nvSpPr>
          <p:cNvPr id="48144" name="Rectangle 19"/>
          <p:cNvSpPr>
            <a:spLocks noChangeArrowheads="1"/>
          </p:cNvSpPr>
          <p:nvPr/>
        </p:nvSpPr>
        <p:spPr bwMode="auto">
          <a:xfrm>
            <a:off x="4168775" y="5648325"/>
            <a:ext cx="984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a:t>
            </a:r>
            <a:endParaRPr lang="en-US" sz="1400">
              <a:latin typeface="Tahoma" pitchFamily="34" charset="0"/>
            </a:endParaRPr>
          </a:p>
        </p:txBody>
      </p:sp>
      <p:sp>
        <p:nvSpPr>
          <p:cNvPr id="48145" name="Rectangle 20"/>
          <p:cNvSpPr>
            <a:spLocks noChangeArrowheads="1"/>
          </p:cNvSpPr>
          <p:nvPr/>
        </p:nvSpPr>
        <p:spPr bwMode="auto">
          <a:xfrm>
            <a:off x="3055938" y="5648325"/>
            <a:ext cx="100012"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latin typeface="Tahoma" pitchFamily="34" charset="0"/>
            </a:endParaRPr>
          </a:p>
        </p:txBody>
      </p:sp>
      <p:sp>
        <p:nvSpPr>
          <p:cNvPr id="48146" name="Rectangle 21"/>
          <p:cNvSpPr>
            <a:spLocks noChangeArrowheads="1"/>
          </p:cNvSpPr>
          <p:nvPr/>
        </p:nvSpPr>
        <p:spPr bwMode="auto">
          <a:xfrm>
            <a:off x="4618038" y="5648325"/>
            <a:ext cx="442912"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5,000</a:t>
            </a:r>
            <a:endParaRPr lang="en-US" sz="1400">
              <a:latin typeface="Tahoma" pitchFamily="34" charset="0"/>
            </a:endParaRPr>
          </a:p>
        </p:txBody>
      </p:sp>
      <p:sp>
        <p:nvSpPr>
          <p:cNvPr id="48147" name="Rectangle 22"/>
          <p:cNvSpPr>
            <a:spLocks noChangeArrowheads="1"/>
          </p:cNvSpPr>
          <p:nvPr/>
        </p:nvSpPr>
        <p:spPr bwMode="auto">
          <a:xfrm>
            <a:off x="6138863" y="5648325"/>
            <a:ext cx="54133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10,000</a:t>
            </a:r>
            <a:endParaRPr lang="en-US" sz="1400">
              <a:latin typeface="Tahoma" pitchFamily="34" charset="0"/>
            </a:endParaRPr>
          </a:p>
        </p:txBody>
      </p:sp>
      <p:sp>
        <p:nvSpPr>
          <p:cNvPr id="48148" name="Rectangle 23"/>
          <p:cNvSpPr>
            <a:spLocks noChangeArrowheads="1"/>
          </p:cNvSpPr>
          <p:nvPr/>
        </p:nvSpPr>
        <p:spPr bwMode="auto">
          <a:xfrm>
            <a:off x="7699375" y="5648325"/>
            <a:ext cx="541338"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15,000</a:t>
            </a:r>
            <a:endParaRPr lang="en-US" sz="1400">
              <a:latin typeface="Tahoma" pitchFamily="34" charset="0"/>
            </a:endParaRPr>
          </a:p>
        </p:txBody>
      </p:sp>
      <p:sp>
        <p:nvSpPr>
          <p:cNvPr id="48149" name="Rectangle 24"/>
          <p:cNvSpPr>
            <a:spLocks noChangeArrowheads="1"/>
          </p:cNvSpPr>
          <p:nvPr/>
        </p:nvSpPr>
        <p:spPr bwMode="auto">
          <a:xfrm>
            <a:off x="2719388" y="1762125"/>
            <a:ext cx="39211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$140</a:t>
            </a:r>
            <a:endParaRPr lang="en-US" sz="1400">
              <a:latin typeface="Tahoma" pitchFamily="34" charset="0"/>
            </a:endParaRPr>
          </a:p>
        </p:txBody>
      </p:sp>
      <p:sp>
        <p:nvSpPr>
          <p:cNvPr id="48150" name="Rectangle 25"/>
          <p:cNvSpPr>
            <a:spLocks noChangeArrowheads="1"/>
          </p:cNvSpPr>
          <p:nvPr/>
        </p:nvSpPr>
        <p:spPr bwMode="auto">
          <a:xfrm>
            <a:off x="2832100" y="2292350"/>
            <a:ext cx="2952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120</a:t>
            </a:r>
            <a:endParaRPr lang="en-US" sz="1400">
              <a:latin typeface="Tahoma" pitchFamily="34" charset="0"/>
            </a:endParaRPr>
          </a:p>
        </p:txBody>
      </p:sp>
      <p:sp>
        <p:nvSpPr>
          <p:cNvPr id="48151" name="Rectangle 26"/>
          <p:cNvSpPr>
            <a:spLocks noChangeArrowheads="1"/>
          </p:cNvSpPr>
          <p:nvPr/>
        </p:nvSpPr>
        <p:spPr bwMode="auto">
          <a:xfrm>
            <a:off x="2832100" y="2819400"/>
            <a:ext cx="2952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latin typeface="Tahoma" pitchFamily="34" charset="0"/>
            </a:endParaRPr>
          </a:p>
        </p:txBody>
      </p:sp>
      <p:sp>
        <p:nvSpPr>
          <p:cNvPr id="48152" name="Rectangle 27"/>
          <p:cNvSpPr>
            <a:spLocks noChangeArrowheads="1"/>
          </p:cNvSpPr>
          <p:nvPr/>
        </p:nvSpPr>
        <p:spPr bwMode="auto">
          <a:xfrm>
            <a:off x="2943225" y="335438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80</a:t>
            </a:r>
            <a:endParaRPr lang="en-US" sz="1400">
              <a:latin typeface="Tahoma" pitchFamily="34" charset="0"/>
            </a:endParaRPr>
          </a:p>
        </p:txBody>
      </p:sp>
      <p:sp>
        <p:nvSpPr>
          <p:cNvPr id="48153" name="Rectangle 28"/>
          <p:cNvSpPr>
            <a:spLocks noChangeArrowheads="1"/>
          </p:cNvSpPr>
          <p:nvPr/>
        </p:nvSpPr>
        <p:spPr bwMode="auto">
          <a:xfrm>
            <a:off x="2943225" y="388143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60</a:t>
            </a:r>
            <a:endParaRPr lang="en-US" sz="1400">
              <a:latin typeface="Tahoma" pitchFamily="34" charset="0"/>
            </a:endParaRPr>
          </a:p>
        </p:txBody>
      </p:sp>
      <p:sp>
        <p:nvSpPr>
          <p:cNvPr id="48154" name="Rectangle 29"/>
          <p:cNvSpPr>
            <a:spLocks noChangeArrowheads="1"/>
          </p:cNvSpPr>
          <p:nvPr/>
        </p:nvSpPr>
        <p:spPr bwMode="auto">
          <a:xfrm>
            <a:off x="2943225" y="441642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40</a:t>
            </a:r>
            <a:endParaRPr lang="en-US" sz="1400">
              <a:latin typeface="Tahoma" pitchFamily="34" charset="0"/>
            </a:endParaRPr>
          </a:p>
        </p:txBody>
      </p:sp>
      <p:sp>
        <p:nvSpPr>
          <p:cNvPr id="48155" name="Rectangle 30"/>
          <p:cNvSpPr>
            <a:spLocks noChangeArrowheads="1"/>
          </p:cNvSpPr>
          <p:nvPr/>
        </p:nvSpPr>
        <p:spPr bwMode="auto">
          <a:xfrm>
            <a:off x="2943225" y="4946650"/>
            <a:ext cx="19685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a:t>
            </a:r>
            <a:endParaRPr lang="en-US" sz="1400">
              <a:latin typeface="Tahoma" pitchFamily="34" charset="0"/>
            </a:endParaRPr>
          </a:p>
        </p:txBody>
      </p:sp>
      <p:sp>
        <p:nvSpPr>
          <p:cNvPr id="48156" name="Rectangle 31"/>
          <p:cNvSpPr>
            <a:spLocks noChangeArrowheads="1"/>
          </p:cNvSpPr>
          <p:nvPr/>
        </p:nvSpPr>
        <p:spPr bwMode="auto">
          <a:xfrm>
            <a:off x="6205538" y="5991225"/>
            <a:ext cx="184943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 of hotel rooms</a:t>
            </a:r>
            <a:endParaRPr lang="en-US" sz="1400">
              <a:latin typeface="Tahoma" pitchFamily="34" charset="0"/>
            </a:endParaRPr>
          </a:p>
        </p:txBody>
      </p:sp>
      <p:sp>
        <p:nvSpPr>
          <p:cNvPr id="48157" name="Rectangle 32"/>
          <p:cNvSpPr>
            <a:spLocks noChangeArrowheads="1"/>
          </p:cNvSpPr>
          <p:nvPr/>
        </p:nvSpPr>
        <p:spPr bwMode="auto">
          <a:xfrm>
            <a:off x="8072438" y="39338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48158" name="Rectangle 33"/>
          <p:cNvSpPr>
            <a:spLocks noChangeArrowheads="1"/>
          </p:cNvSpPr>
          <p:nvPr/>
        </p:nvSpPr>
        <p:spPr bwMode="auto">
          <a:xfrm>
            <a:off x="6408738" y="31257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48159" name="Line 34"/>
          <p:cNvSpPr>
            <a:spLocks noChangeShapeType="1"/>
          </p:cNvSpPr>
          <p:nvPr/>
        </p:nvSpPr>
        <p:spPr bwMode="auto">
          <a:xfrm flipH="1">
            <a:off x="3279775" y="5595938"/>
            <a:ext cx="5202238" cy="0"/>
          </a:xfrm>
          <a:prstGeom prst="line">
            <a:avLst/>
          </a:prstGeom>
          <a:noFill/>
          <a:ln w="7938">
            <a:solidFill>
              <a:srgbClr val="000000"/>
            </a:solidFill>
            <a:miter lim="800000"/>
            <a:headEnd/>
            <a:tailEnd/>
          </a:ln>
        </p:spPr>
        <p:txBody>
          <a:bodyPr/>
          <a:lstStyle/>
          <a:p>
            <a:endParaRPr lang="en-US"/>
          </a:p>
        </p:txBody>
      </p:sp>
      <p:sp>
        <p:nvSpPr>
          <p:cNvPr id="347171" name="Rectangle 35"/>
          <p:cNvSpPr>
            <a:spLocks noChangeArrowheads="1"/>
          </p:cNvSpPr>
          <p:nvPr/>
        </p:nvSpPr>
        <p:spPr bwMode="auto">
          <a:xfrm>
            <a:off x="3397250" y="3276600"/>
            <a:ext cx="12954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Area = </a:t>
            </a:r>
            <a:br>
              <a:rPr lang="en-US" sz="1400">
                <a:solidFill>
                  <a:srgbClr val="000000"/>
                </a:solidFill>
                <a:latin typeface="Myriad Roman"/>
              </a:rPr>
            </a:br>
            <a:r>
              <a:rPr lang="en-US" sz="1400">
                <a:solidFill>
                  <a:srgbClr val="000000"/>
                </a:solidFill>
                <a:latin typeface="Myriad Roman"/>
              </a:rPr>
              <a:t>tax revenue</a:t>
            </a:r>
            <a:endParaRPr lang="en-US" sz="1400">
              <a:latin typeface="Tahoma" pitchFamily="34" charset="0"/>
            </a:endParaRPr>
          </a:p>
        </p:txBody>
      </p:sp>
      <p:sp>
        <p:nvSpPr>
          <p:cNvPr id="347173" name="Freeform 37"/>
          <p:cNvSpPr>
            <a:spLocks/>
          </p:cNvSpPr>
          <p:nvPr/>
        </p:nvSpPr>
        <p:spPr bwMode="auto">
          <a:xfrm>
            <a:off x="1165225" y="3152775"/>
            <a:ext cx="1385888" cy="708025"/>
          </a:xfrm>
          <a:custGeom>
            <a:avLst/>
            <a:gdLst>
              <a:gd name="T0" fmla="*/ 1385888 w 260"/>
              <a:gd name="T1" fmla="*/ 619522 h 104"/>
              <a:gd name="T2" fmla="*/ 1321924 w 260"/>
              <a:gd name="T3" fmla="*/ 708025 h 104"/>
              <a:gd name="T4" fmla="*/ 63964 w 260"/>
              <a:gd name="T5" fmla="*/ 708025 h 104"/>
              <a:gd name="T6" fmla="*/ 0 w 260"/>
              <a:gd name="T7" fmla="*/ 619522 h 104"/>
              <a:gd name="T8" fmla="*/ 0 w 260"/>
              <a:gd name="T9" fmla="*/ 81695 h 104"/>
              <a:gd name="T10" fmla="*/ 63964 w 260"/>
              <a:gd name="T11" fmla="*/ 0 h 104"/>
              <a:gd name="T12" fmla="*/ 1321924 w 260"/>
              <a:gd name="T13" fmla="*/ 0 h 104"/>
              <a:gd name="T14" fmla="*/ 1385888 w 260"/>
              <a:gd name="T15" fmla="*/ 81695 h 104"/>
              <a:gd name="T16" fmla="*/ 1385888 w 260"/>
              <a:gd name="T17" fmla="*/ 619522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0"/>
              <a:gd name="T28" fmla="*/ 0 h 104"/>
              <a:gd name="T29" fmla="*/ 260 w 260"/>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0" h="104">
                <a:moveTo>
                  <a:pt x="260" y="91"/>
                </a:moveTo>
                <a:cubicBezTo>
                  <a:pt x="260" y="98"/>
                  <a:pt x="254" y="104"/>
                  <a:pt x="248" y="104"/>
                </a:cubicBezTo>
                <a:cubicBezTo>
                  <a:pt x="12" y="104"/>
                  <a:pt x="12" y="104"/>
                  <a:pt x="12" y="104"/>
                </a:cubicBezTo>
                <a:cubicBezTo>
                  <a:pt x="5" y="104"/>
                  <a:pt x="0" y="98"/>
                  <a:pt x="0" y="91"/>
                </a:cubicBezTo>
                <a:cubicBezTo>
                  <a:pt x="0" y="12"/>
                  <a:pt x="0" y="12"/>
                  <a:pt x="0" y="12"/>
                </a:cubicBezTo>
                <a:cubicBezTo>
                  <a:pt x="0" y="5"/>
                  <a:pt x="5" y="0"/>
                  <a:pt x="12" y="0"/>
                </a:cubicBezTo>
                <a:cubicBezTo>
                  <a:pt x="248" y="0"/>
                  <a:pt x="248" y="0"/>
                  <a:pt x="248" y="0"/>
                </a:cubicBezTo>
                <a:cubicBezTo>
                  <a:pt x="254" y="0"/>
                  <a:pt x="260" y="5"/>
                  <a:pt x="260" y="12"/>
                </a:cubicBezTo>
                <a:lnTo>
                  <a:pt x="260" y="91"/>
                </a:lnTo>
                <a:close/>
              </a:path>
            </a:pathLst>
          </a:custGeom>
          <a:solidFill>
            <a:srgbClr val="D6E2E0"/>
          </a:solidFill>
          <a:ln w="9525">
            <a:noFill/>
            <a:round/>
            <a:headEnd/>
            <a:tailEnd/>
          </a:ln>
        </p:spPr>
        <p:txBody>
          <a:bodyPr/>
          <a:lstStyle/>
          <a:p>
            <a:endParaRPr lang="en-US"/>
          </a:p>
        </p:txBody>
      </p:sp>
      <p:sp>
        <p:nvSpPr>
          <p:cNvPr id="347174" name="Rectangle 38"/>
          <p:cNvSpPr>
            <a:spLocks noChangeArrowheads="1"/>
          </p:cNvSpPr>
          <p:nvPr/>
        </p:nvSpPr>
        <p:spPr bwMode="auto">
          <a:xfrm>
            <a:off x="1155700" y="3265488"/>
            <a:ext cx="1395413"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a:t>
            </a:r>
            <a:br>
              <a:rPr lang="en-US" sz="1400">
                <a:solidFill>
                  <a:srgbClr val="000000"/>
                </a:solidFill>
                <a:latin typeface="Myriad Roman"/>
              </a:rPr>
            </a:br>
            <a:r>
              <a:rPr lang="en-US" sz="1400">
                <a:solidFill>
                  <a:srgbClr val="000000"/>
                </a:solidFill>
                <a:latin typeface="Myriad Roman"/>
              </a:rPr>
              <a:t>$40 per room</a:t>
            </a:r>
            <a:endParaRPr lang="en-US" sz="1400">
              <a:latin typeface="Tahoma" pitchFamily="34" charset="0"/>
            </a:endParaRPr>
          </a:p>
        </p:txBody>
      </p:sp>
      <p:sp>
        <p:nvSpPr>
          <p:cNvPr id="48163" name="Rectangle 39"/>
          <p:cNvSpPr>
            <a:spLocks noChangeArrowheads="1"/>
          </p:cNvSpPr>
          <p:nvPr/>
        </p:nvSpPr>
        <p:spPr bwMode="auto">
          <a:xfrm>
            <a:off x="4922838" y="26241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a:t>
            </a:r>
            <a:endParaRPr lang="en-US" sz="1400" i="1">
              <a:latin typeface="Tahoma" pitchFamily="34" charset="0"/>
            </a:endParaRPr>
          </a:p>
        </p:txBody>
      </p:sp>
      <p:sp>
        <p:nvSpPr>
          <p:cNvPr id="48164" name="Line 40"/>
          <p:cNvSpPr>
            <a:spLocks noChangeShapeType="1"/>
          </p:cNvSpPr>
          <p:nvPr/>
        </p:nvSpPr>
        <p:spPr bwMode="auto">
          <a:xfrm>
            <a:off x="3260725" y="2409825"/>
            <a:ext cx="4752975" cy="1620838"/>
          </a:xfrm>
          <a:prstGeom prst="line">
            <a:avLst/>
          </a:prstGeom>
          <a:noFill/>
          <a:ln w="36513">
            <a:solidFill>
              <a:srgbClr val="3C5DAA"/>
            </a:solidFill>
            <a:miter lim="800000"/>
            <a:headEnd/>
            <a:tailEnd/>
          </a:ln>
        </p:spPr>
        <p:txBody>
          <a:bodyPr/>
          <a:lstStyle/>
          <a:p>
            <a:endParaRPr lang="en-US"/>
          </a:p>
        </p:txBody>
      </p:sp>
      <p:sp>
        <p:nvSpPr>
          <p:cNvPr id="48165" name="Line 41"/>
          <p:cNvSpPr>
            <a:spLocks noChangeShapeType="1"/>
          </p:cNvSpPr>
          <p:nvPr/>
        </p:nvSpPr>
        <p:spPr bwMode="auto">
          <a:xfrm flipH="1">
            <a:off x="3241675" y="2960688"/>
            <a:ext cx="4759325" cy="1606550"/>
          </a:xfrm>
          <a:prstGeom prst="line">
            <a:avLst/>
          </a:prstGeom>
          <a:noFill/>
          <a:ln w="36513">
            <a:solidFill>
              <a:srgbClr val="EE313C"/>
            </a:solidFill>
            <a:miter lim="800000"/>
            <a:headEnd/>
            <a:tailEnd/>
          </a:ln>
        </p:spPr>
        <p:txBody>
          <a:bodyPr/>
          <a:lstStyle/>
          <a:p>
            <a:endParaRPr lang="en-US"/>
          </a:p>
        </p:txBody>
      </p:sp>
      <p:sp>
        <p:nvSpPr>
          <p:cNvPr id="48166" name="Oval 42"/>
          <p:cNvSpPr>
            <a:spLocks noChangeArrowheads="1"/>
          </p:cNvSpPr>
          <p:nvPr/>
        </p:nvSpPr>
        <p:spPr bwMode="auto">
          <a:xfrm>
            <a:off x="4818063" y="2881313"/>
            <a:ext cx="125412" cy="134937"/>
          </a:xfrm>
          <a:prstGeom prst="ellipse">
            <a:avLst/>
          </a:prstGeom>
          <a:solidFill>
            <a:srgbClr val="000000"/>
          </a:solidFill>
          <a:ln w="9525">
            <a:noFill/>
            <a:round/>
            <a:headEnd/>
            <a:tailEnd/>
          </a:ln>
        </p:spPr>
        <p:txBody>
          <a:bodyPr/>
          <a:lstStyle/>
          <a:p>
            <a:endParaRPr lang="en-US"/>
          </a:p>
        </p:txBody>
      </p:sp>
      <p:sp>
        <p:nvSpPr>
          <p:cNvPr id="48167" name="Oval 43"/>
          <p:cNvSpPr>
            <a:spLocks noChangeArrowheads="1"/>
          </p:cNvSpPr>
          <p:nvPr/>
        </p:nvSpPr>
        <p:spPr bwMode="auto">
          <a:xfrm>
            <a:off x="4818063" y="3954463"/>
            <a:ext cx="125412" cy="136525"/>
          </a:xfrm>
          <a:prstGeom prst="ellipse">
            <a:avLst/>
          </a:prstGeom>
          <a:solidFill>
            <a:srgbClr val="000000"/>
          </a:solidFill>
          <a:ln w="9525">
            <a:noFill/>
            <a:round/>
            <a:headEnd/>
            <a:tailEnd/>
          </a:ln>
        </p:spPr>
        <p:txBody>
          <a:bodyPr/>
          <a:lstStyle/>
          <a:p>
            <a:endParaRPr lang="en-US"/>
          </a:p>
        </p:txBody>
      </p:sp>
      <p:sp>
        <p:nvSpPr>
          <p:cNvPr id="48168" name="Oval 44"/>
          <p:cNvSpPr>
            <a:spLocks noChangeArrowheads="1"/>
          </p:cNvSpPr>
          <p:nvPr/>
        </p:nvSpPr>
        <p:spPr bwMode="auto">
          <a:xfrm>
            <a:off x="6383338" y="3417888"/>
            <a:ext cx="122237" cy="136525"/>
          </a:xfrm>
          <a:prstGeom prst="ellipse">
            <a:avLst/>
          </a:prstGeom>
          <a:solidFill>
            <a:srgbClr val="000000"/>
          </a:solidFill>
          <a:ln w="9525">
            <a:noFill/>
            <a:round/>
            <a:headEnd/>
            <a:tailEnd/>
          </a:ln>
        </p:spPr>
        <p:txBody>
          <a:bodyPr/>
          <a:lstStyle/>
          <a:p>
            <a:endParaRPr lang="en-US"/>
          </a:p>
        </p:txBody>
      </p:sp>
      <p:sp>
        <p:nvSpPr>
          <p:cNvPr id="48169" name="Line 45"/>
          <p:cNvSpPr>
            <a:spLocks noChangeShapeType="1"/>
          </p:cNvSpPr>
          <p:nvPr/>
        </p:nvSpPr>
        <p:spPr bwMode="auto">
          <a:xfrm flipV="1">
            <a:off x="3279775" y="1023938"/>
            <a:ext cx="0" cy="4565650"/>
          </a:xfrm>
          <a:prstGeom prst="line">
            <a:avLst/>
          </a:prstGeom>
          <a:noFill/>
          <a:ln w="7938">
            <a:solidFill>
              <a:srgbClr val="000000"/>
            </a:solidFill>
            <a:miter lim="800000"/>
            <a:headEnd/>
            <a:tailEnd/>
          </a:ln>
        </p:spPr>
        <p:txBody>
          <a:bodyPr/>
          <a:lstStyle/>
          <a:p>
            <a:endParaRPr lang="en-US"/>
          </a:p>
        </p:txBody>
      </p:sp>
      <p:sp>
        <p:nvSpPr>
          <p:cNvPr id="48170" name="Rectangle 46"/>
          <p:cNvSpPr>
            <a:spLocks noChangeArrowheads="1"/>
          </p:cNvSpPr>
          <p:nvPr/>
        </p:nvSpPr>
        <p:spPr bwMode="auto">
          <a:xfrm>
            <a:off x="2105025" y="990600"/>
            <a:ext cx="1138238"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hotel room</a:t>
            </a:r>
            <a:endParaRPr lang="en-US" sz="1400">
              <a:latin typeface="Tahoma" pitchFamily="34" charset="0"/>
            </a:endParaRPr>
          </a:p>
        </p:txBody>
      </p:sp>
      <p:sp>
        <p:nvSpPr>
          <p:cNvPr id="347184" name="Rectangle 48"/>
          <p:cNvSpPr>
            <a:spLocks noChangeArrowheads="1"/>
          </p:cNvSpPr>
          <p:nvPr/>
        </p:nvSpPr>
        <p:spPr bwMode="auto">
          <a:xfrm>
            <a:off x="3986213" y="1143000"/>
            <a:ext cx="4800600" cy="92392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dirty="0"/>
              <a:t>The tax revenue collected is:</a:t>
            </a:r>
          </a:p>
          <a:p>
            <a:pPr marL="1588" indent="-1588" algn="ctr">
              <a:defRPr/>
            </a:pPr>
            <a:r>
              <a:rPr lang="en-US" dirty="0"/>
              <a:t>Tax revenue = $40 per room × 5,000 rooms = $200,000</a:t>
            </a:r>
          </a:p>
        </p:txBody>
      </p:sp>
      <p:sp>
        <p:nvSpPr>
          <p:cNvPr id="347172" name="Freeform 36"/>
          <p:cNvSpPr>
            <a:spLocks/>
          </p:cNvSpPr>
          <p:nvPr/>
        </p:nvSpPr>
        <p:spPr bwMode="auto">
          <a:xfrm>
            <a:off x="2665413" y="2946400"/>
            <a:ext cx="155575" cy="1076325"/>
          </a:xfrm>
          <a:custGeom>
            <a:avLst/>
            <a:gdLst>
              <a:gd name="T0" fmla="*/ 155575 w 25"/>
              <a:gd name="T1" fmla="*/ 1076325 h 158"/>
              <a:gd name="T2" fmla="*/ 62230 w 25"/>
              <a:gd name="T3" fmla="*/ 967330 h 158"/>
              <a:gd name="T4" fmla="*/ 62230 w 25"/>
              <a:gd name="T5" fmla="*/ 613096 h 158"/>
              <a:gd name="T6" fmla="*/ 0 w 25"/>
              <a:gd name="T7" fmla="*/ 538163 h 158"/>
              <a:gd name="T8" fmla="*/ 62230 w 25"/>
              <a:gd name="T9" fmla="*/ 470041 h 158"/>
              <a:gd name="T10" fmla="*/ 62230 w 25"/>
              <a:gd name="T11" fmla="*/ 108995 h 158"/>
              <a:gd name="T12" fmla="*/ 155575 w 25"/>
              <a:gd name="T13" fmla="*/ 0 h 158"/>
              <a:gd name="T14" fmla="*/ 0 60000 65536"/>
              <a:gd name="T15" fmla="*/ 0 60000 65536"/>
              <a:gd name="T16" fmla="*/ 0 60000 65536"/>
              <a:gd name="T17" fmla="*/ 0 60000 65536"/>
              <a:gd name="T18" fmla="*/ 0 60000 65536"/>
              <a:gd name="T19" fmla="*/ 0 60000 65536"/>
              <a:gd name="T20" fmla="*/ 0 60000 65536"/>
              <a:gd name="T21" fmla="*/ 0 w 25"/>
              <a:gd name="T22" fmla="*/ 0 h 158"/>
              <a:gd name="T23" fmla="*/ 25 w 25"/>
              <a:gd name="T24" fmla="*/ 158 h 1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158">
                <a:moveTo>
                  <a:pt x="25" y="158"/>
                </a:moveTo>
                <a:cubicBezTo>
                  <a:pt x="15" y="158"/>
                  <a:pt x="10" y="155"/>
                  <a:pt x="10" y="142"/>
                </a:cubicBezTo>
                <a:cubicBezTo>
                  <a:pt x="10" y="139"/>
                  <a:pt x="10" y="92"/>
                  <a:pt x="10" y="90"/>
                </a:cubicBezTo>
                <a:cubicBezTo>
                  <a:pt x="10" y="86"/>
                  <a:pt x="8" y="79"/>
                  <a:pt x="0" y="79"/>
                </a:cubicBezTo>
                <a:cubicBezTo>
                  <a:pt x="8" y="79"/>
                  <a:pt x="10" y="72"/>
                  <a:pt x="10" y="69"/>
                </a:cubicBezTo>
                <a:cubicBezTo>
                  <a:pt x="10" y="66"/>
                  <a:pt x="10" y="19"/>
                  <a:pt x="10" y="16"/>
                </a:cubicBezTo>
                <a:cubicBezTo>
                  <a:pt x="10" y="3"/>
                  <a:pt x="15" y="0"/>
                  <a:pt x="25" y="0"/>
                </a:cubicBezTo>
              </a:path>
            </a:pathLst>
          </a:custGeom>
          <a:noFill/>
          <a:ln w="26988" cap="flat">
            <a:solidFill>
              <a:srgbClr val="6D6F71"/>
            </a:solidFill>
            <a:prstDash val="solid"/>
            <a:round/>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47172"/>
                                        </p:tgtEl>
                                        <p:attrNameLst>
                                          <p:attrName>style.visibility</p:attrName>
                                        </p:attrNameLst>
                                      </p:cBhvr>
                                      <p:to>
                                        <p:strVal val="visible"/>
                                      </p:to>
                                    </p:set>
                                    <p:animEffect transition="in" filter="plus(in)">
                                      <p:cBhvr>
                                        <p:cTn id="7" dur="500"/>
                                        <p:tgtEl>
                                          <p:spTgt spid="34717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47173"/>
                                        </p:tgtEl>
                                        <p:attrNameLst>
                                          <p:attrName>style.visibility</p:attrName>
                                        </p:attrNameLst>
                                      </p:cBhvr>
                                      <p:to>
                                        <p:strVal val="visible"/>
                                      </p:to>
                                    </p:set>
                                  </p:childTnLst>
                                </p:cTn>
                              </p:par>
                              <p:par>
                                <p:cTn id="10" presetID="22" presetClass="entr" presetSubtype="8" fill="hold" grpId="0" nodeType="withEffect">
                                  <p:stCondLst>
                                    <p:cond delay="0"/>
                                  </p:stCondLst>
                                  <p:childTnLst>
                                    <p:set>
                                      <p:cBhvr>
                                        <p:cTn id="11" dur="1" fill="hold">
                                          <p:stCondLst>
                                            <p:cond delay="0"/>
                                          </p:stCondLst>
                                        </p:cTn>
                                        <p:tgtEl>
                                          <p:spTgt spid="347174"/>
                                        </p:tgtEl>
                                        <p:attrNameLst>
                                          <p:attrName>style.visibility</p:attrName>
                                        </p:attrNameLst>
                                      </p:cBhvr>
                                      <p:to>
                                        <p:strVal val="visible"/>
                                      </p:to>
                                    </p:set>
                                    <p:animEffect transition="in" filter="wipe(left)">
                                      <p:cBhvr>
                                        <p:cTn id="12" dur="500"/>
                                        <p:tgtEl>
                                          <p:spTgt spid="347174"/>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p:stCondLst>
                                    <p:cond delay="0"/>
                                  </p:stCondLst>
                                  <p:childTnLst>
                                    <p:set>
                                      <p:cBhvr>
                                        <p:cTn id="16" dur="1" fill="hold">
                                          <p:stCondLst>
                                            <p:cond delay="0"/>
                                          </p:stCondLst>
                                        </p:cTn>
                                        <p:tgtEl>
                                          <p:spTgt spid="347144"/>
                                        </p:tgtEl>
                                        <p:attrNameLst>
                                          <p:attrName>style.visibility</p:attrName>
                                        </p:attrNameLst>
                                      </p:cBhvr>
                                      <p:to>
                                        <p:strVal val="visible"/>
                                      </p:to>
                                    </p:set>
                                    <p:animEffect transition="in" filter="plus(in)">
                                      <p:cBhvr>
                                        <p:cTn id="17" dur="1000"/>
                                        <p:tgtEl>
                                          <p:spTgt spid="347144"/>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47171"/>
                                        </p:tgtEl>
                                        <p:attrNameLst>
                                          <p:attrName>style.visibility</p:attrName>
                                        </p:attrNameLst>
                                      </p:cBhvr>
                                      <p:to>
                                        <p:strVal val="visible"/>
                                      </p:to>
                                    </p:set>
                                    <p:animEffect transition="in" filter="wipe(left)">
                                      <p:cBhvr>
                                        <p:cTn id="21" dur="500"/>
                                        <p:tgtEl>
                                          <p:spTgt spid="34717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7185"/>
                                        </p:tgtEl>
                                        <p:attrNameLst>
                                          <p:attrName>style.visibility</p:attrName>
                                        </p:attrNameLst>
                                      </p:cBhvr>
                                      <p:to>
                                        <p:strVal val="visible"/>
                                      </p:to>
                                    </p:set>
                                    <p:animEffect transition="in" filter="wipe(left)">
                                      <p:cBhvr>
                                        <p:cTn id="26" dur="500"/>
                                        <p:tgtEl>
                                          <p:spTgt spid="34718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47184"/>
                                        </p:tgtEl>
                                        <p:attrNameLst>
                                          <p:attrName>style.visibility</p:attrName>
                                        </p:attrNameLst>
                                      </p:cBhvr>
                                      <p:to>
                                        <p:strVal val="visible"/>
                                      </p:to>
                                    </p:set>
                                    <p:animEffect transition="in" filter="wipe(left)">
                                      <p:cBhvr>
                                        <p:cTn id="31" dur="500"/>
                                        <p:tgtEl>
                                          <p:spTgt spid="347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85" grpId="0" animBg="1"/>
      <p:bldP spid="347144" grpId="0" animBg="1"/>
      <p:bldP spid="347171" grpId="0"/>
      <p:bldP spid="347173" grpId="0" animBg="1"/>
      <p:bldP spid="347174" grpId="0"/>
      <p:bldP spid="347184" grpId="0" animBg="1"/>
      <p:bldP spid="34717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9" name="Rectangle 3"/>
          <p:cNvSpPr>
            <a:spLocks noGrp="1" noChangeArrowheads="1"/>
          </p:cNvSpPr>
          <p:nvPr>
            <p:ph type="body" idx="4294967295"/>
          </p:nvPr>
        </p:nvSpPr>
        <p:spPr>
          <a:xfrm>
            <a:off x="792163" y="800100"/>
            <a:ext cx="8172450" cy="5761038"/>
          </a:xfrm>
        </p:spPr>
        <p:txBody>
          <a:bodyPr/>
          <a:lstStyle/>
          <a:p>
            <a:pPr>
              <a:buFont typeface="Wingdings" pitchFamily="2" charset="2"/>
              <a:buNone/>
            </a:pPr>
            <a:r>
              <a:rPr lang="en-US" b="1" i="1" smtClean="0"/>
              <a:t>The revenue collected by an excise tax:</a:t>
            </a:r>
            <a:endParaRPr lang="en-US" smtClean="0"/>
          </a:p>
          <a:p>
            <a:r>
              <a:rPr lang="en-US" i="1" smtClean="0"/>
              <a:t>Equal to the area of the rectangle formed by the tax wedge between supply and demand, and the quantity transacted under the tax.</a:t>
            </a:r>
          </a:p>
          <a:p>
            <a:endParaRPr lang="en-US" i="1" smtClean="0"/>
          </a:p>
          <a:p>
            <a:r>
              <a:rPr lang="en-US" smtClean="0"/>
              <a:t>A </a:t>
            </a:r>
            <a:r>
              <a:rPr lang="en-US" b="1" smtClean="0"/>
              <a:t>tax rate </a:t>
            </a:r>
            <a:r>
              <a:rPr lang="en-US" smtClean="0"/>
              <a:t>is the amount of tax people are required to pay per unit of whatever is being taxed.</a:t>
            </a:r>
          </a:p>
          <a:p>
            <a:r>
              <a:rPr lang="en-US" smtClean="0"/>
              <a:t>In general, doubling the excise tax rate on a good or service won’t double the amount of revenue collected, because the tax increase will reduce the quantity of the good or service transacted. </a:t>
            </a:r>
          </a:p>
          <a:p>
            <a:r>
              <a:rPr lang="en-US" smtClean="0"/>
              <a:t>In some cases, raising the tax rate may actually reduce the amount of revenue the government collects.</a:t>
            </a:r>
          </a:p>
          <a:p>
            <a:endParaRPr lang="en-US" smtClean="0"/>
          </a:p>
        </p:txBody>
      </p:sp>
      <p:sp>
        <p:nvSpPr>
          <p:cNvPr id="377860" name="Rectangle 4"/>
          <p:cNvSpPr>
            <a:spLocks noGrp="1" noRot="1" noChangeArrowheads="1"/>
          </p:cNvSpPr>
          <p:nvPr>
            <p:ph type="title" idx="4294967295"/>
          </p:nvPr>
        </p:nvSpPr>
        <p:spPr>
          <a:xfrm>
            <a:off x="971550" y="60325"/>
            <a:ext cx="7993063" cy="555625"/>
          </a:xfrm>
        </p:spPr>
        <p:txBody>
          <a:bodyPr/>
          <a:lstStyle/>
          <a:p>
            <a:pPr>
              <a:defRPr/>
            </a:pPr>
            <a:r>
              <a:rPr lang="en-US" dirty="0" smtClean="0"/>
              <a:t>Tax Rates and Revenue</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Rot="1" noChangeArrowheads="1"/>
          </p:cNvSpPr>
          <p:nvPr>
            <p:ph type="title" idx="4294967295"/>
          </p:nvPr>
        </p:nvSpPr>
        <p:spPr/>
        <p:txBody>
          <a:bodyPr/>
          <a:lstStyle/>
          <a:p>
            <a:pPr>
              <a:defRPr/>
            </a:pPr>
            <a:r>
              <a:rPr lang="en-US" smtClean="0"/>
              <a:t>Tax Rates and Revenue</a:t>
            </a:r>
          </a:p>
        </p:txBody>
      </p:sp>
      <p:cxnSp>
        <p:nvCxnSpPr>
          <p:cNvPr id="54274" name="Straight Connector 86"/>
          <p:cNvCxnSpPr>
            <a:cxnSpLocks noChangeShapeType="1"/>
          </p:cNvCxnSpPr>
          <p:nvPr/>
        </p:nvCxnSpPr>
        <p:spPr bwMode="auto">
          <a:xfrm>
            <a:off x="1812925" y="3822700"/>
            <a:ext cx="1550988" cy="3175"/>
          </a:xfrm>
          <a:prstGeom prst="line">
            <a:avLst/>
          </a:prstGeom>
          <a:noFill/>
          <a:ln w="15875">
            <a:solidFill>
              <a:srgbClr val="808080"/>
            </a:solidFill>
            <a:prstDash val="sysDot"/>
            <a:round/>
            <a:headEnd/>
            <a:tailEnd type="none" w="med" len="lg"/>
          </a:ln>
        </p:spPr>
      </p:cxnSp>
      <p:cxnSp>
        <p:nvCxnSpPr>
          <p:cNvPr id="54275" name="Straight Connector 86"/>
          <p:cNvCxnSpPr>
            <a:cxnSpLocks noChangeShapeType="1"/>
            <a:endCxn id="54295" idx="0"/>
          </p:cNvCxnSpPr>
          <p:nvPr/>
        </p:nvCxnSpPr>
        <p:spPr bwMode="auto">
          <a:xfrm flipH="1">
            <a:off x="3390900" y="3835400"/>
            <a:ext cx="1588" cy="2251075"/>
          </a:xfrm>
          <a:prstGeom prst="line">
            <a:avLst/>
          </a:prstGeom>
          <a:noFill/>
          <a:ln w="15875">
            <a:solidFill>
              <a:srgbClr val="808080"/>
            </a:solidFill>
            <a:prstDash val="sysDot"/>
            <a:round/>
            <a:headEnd/>
            <a:tailEnd type="none" w="med" len="lg"/>
          </a:ln>
        </p:spPr>
      </p:cxnSp>
      <p:cxnSp>
        <p:nvCxnSpPr>
          <p:cNvPr id="54276" name="Straight Connector 86"/>
          <p:cNvCxnSpPr>
            <a:cxnSpLocks noChangeShapeType="1"/>
          </p:cNvCxnSpPr>
          <p:nvPr/>
        </p:nvCxnSpPr>
        <p:spPr bwMode="auto">
          <a:xfrm>
            <a:off x="1898650" y="3527425"/>
            <a:ext cx="1035050" cy="0"/>
          </a:xfrm>
          <a:prstGeom prst="line">
            <a:avLst/>
          </a:prstGeom>
          <a:noFill/>
          <a:ln w="15875">
            <a:solidFill>
              <a:srgbClr val="808080"/>
            </a:solidFill>
            <a:prstDash val="sysDot"/>
            <a:round/>
            <a:headEnd/>
            <a:tailEnd type="none" w="med" len="lg"/>
          </a:ln>
        </p:spPr>
      </p:cxnSp>
      <p:cxnSp>
        <p:nvCxnSpPr>
          <p:cNvPr id="54277" name="Straight Connector 86"/>
          <p:cNvCxnSpPr>
            <a:cxnSpLocks noChangeShapeType="1"/>
          </p:cNvCxnSpPr>
          <p:nvPr/>
        </p:nvCxnSpPr>
        <p:spPr bwMode="auto">
          <a:xfrm>
            <a:off x="2998788" y="3611563"/>
            <a:ext cx="0" cy="2322512"/>
          </a:xfrm>
          <a:prstGeom prst="line">
            <a:avLst/>
          </a:prstGeom>
          <a:noFill/>
          <a:ln w="15875">
            <a:solidFill>
              <a:srgbClr val="808080"/>
            </a:solidFill>
            <a:prstDash val="sysDot"/>
            <a:round/>
            <a:headEnd/>
            <a:tailEnd type="none" w="med" len="lg"/>
          </a:ln>
        </p:spPr>
      </p:cxnSp>
      <p:cxnSp>
        <p:nvCxnSpPr>
          <p:cNvPr id="54278" name="Straight Connector 86"/>
          <p:cNvCxnSpPr>
            <a:cxnSpLocks noChangeShapeType="1"/>
          </p:cNvCxnSpPr>
          <p:nvPr/>
        </p:nvCxnSpPr>
        <p:spPr bwMode="auto">
          <a:xfrm>
            <a:off x="1898650" y="4083050"/>
            <a:ext cx="1035050" cy="0"/>
          </a:xfrm>
          <a:prstGeom prst="line">
            <a:avLst/>
          </a:prstGeom>
          <a:noFill/>
          <a:ln w="15875">
            <a:solidFill>
              <a:srgbClr val="808080"/>
            </a:solidFill>
            <a:prstDash val="sysDot"/>
            <a:round/>
            <a:headEnd/>
            <a:tailEnd type="none" w="med" len="lg"/>
          </a:ln>
        </p:spPr>
      </p:cxnSp>
      <p:sp>
        <p:nvSpPr>
          <p:cNvPr id="54279" name="Rectangle 11"/>
          <p:cNvSpPr>
            <a:spLocks noChangeArrowheads="1"/>
          </p:cNvSpPr>
          <p:nvPr/>
        </p:nvSpPr>
        <p:spPr bwMode="auto">
          <a:xfrm>
            <a:off x="3028950" y="6324600"/>
            <a:ext cx="185102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 of hotel rooms</a:t>
            </a:r>
            <a:endParaRPr lang="en-US" sz="1400">
              <a:latin typeface="Tahoma" pitchFamily="34" charset="0"/>
            </a:endParaRPr>
          </a:p>
        </p:txBody>
      </p:sp>
      <p:sp>
        <p:nvSpPr>
          <p:cNvPr id="54280" name="Rectangle 12"/>
          <p:cNvSpPr>
            <a:spLocks noChangeArrowheads="1"/>
          </p:cNvSpPr>
          <p:nvPr/>
        </p:nvSpPr>
        <p:spPr bwMode="auto">
          <a:xfrm>
            <a:off x="1079500" y="935038"/>
            <a:ext cx="776288" cy="6477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hotel room</a:t>
            </a:r>
            <a:endParaRPr lang="en-US" sz="1400">
              <a:latin typeface="Tahoma" pitchFamily="34" charset="0"/>
            </a:endParaRPr>
          </a:p>
        </p:txBody>
      </p:sp>
      <p:sp>
        <p:nvSpPr>
          <p:cNvPr id="54281" name="Rectangle 13"/>
          <p:cNvSpPr>
            <a:spLocks noChangeArrowheads="1"/>
          </p:cNvSpPr>
          <p:nvPr/>
        </p:nvSpPr>
        <p:spPr bwMode="auto">
          <a:xfrm>
            <a:off x="4240213" y="30162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baseline="-25000">
              <a:latin typeface="Tahoma" pitchFamily="34" charset="0"/>
            </a:endParaRPr>
          </a:p>
        </p:txBody>
      </p:sp>
      <p:sp>
        <p:nvSpPr>
          <p:cNvPr id="54282" name="Line 14"/>
          <p:cNvSpPr>
            <a:spLocks noChangeShapeType="1"/>
          </p:cNvSpPr>
          <p:nvPr/>
        </p:nvSpPr>
        <p:spPr bwMode="auto">
          <a:xfrm>
            <a:off x="1778000" y="2155825"/>
            <a:ext cx="103188" cy="0"/>
          </a:xfrm>
          <a:prstGeom prst="line">
            <a:avLst/>
          </a:prstGeom>
          <a:noFill/>
          <a:ln w="6350">
            <a:solidFill>
              <a:srgbClr val="000000"/>
            </a:solidFill>
            <a:miter lim="800000"/>
            <a:headEnd/>
            <a:tailEnd/>
          </a:ln>
        </p:spPr>
        <p:txBody>
          <a:bodyPr/>
          <a:lstStyle/>
          <a:p>
            <a:endParaRPr lang="en-US"/>
          </a:p>
        </p:txBody>
      </p:sp>
      <p:sp>
        <p:nvSpPr>
          <p:cNvPr id="54283" name="Line 15"/>
          <p:cNvSpPr>
            <a:spLocks noChangeShapeType="1"/>
          </p:cNvSpPr>
          <p:nvPr/>
        </p:nvSpPr>
        <p:spPr bwMode="auto">
          <a:xfrm>
            <a:off x="1778000" y="3535363"/>
            <a:ext cx="103188" cy="0"/>
          </a:xfrm>
          <a:prstGeom prst="line">
            <a:avLst/>
          </a:prstGeom>
          <a:noFill/>
          <a:ln w="6350">
            <a:solidFill>
              <a:srgbClr val="000000"/>
            </a:solidFill>
            <a:miter lim="800000"/>
            <a:headEnd/>
            <a:tailEnd/>
          </a:ln>
        </p:spPr>
        <p:txBody>
          <a:bodyPr/>
          <a:lstStyle/>
          <a:p>
            <a:endParaRPr lang="en-US"/>
          </a:p>
        </p:txBody>
      </p:sp>
      <p:sp>
        <p:nvSpPr>
          <p:cNvPr id="54284" name="Line 16"/>
          <p:cNvSpPr>
            <a:spLocks noChangeShapeType="1"/>
          </p:cNvSpPr>
          <p:nvPr/>
        </p:nvSpPr>
        <p:spPr bwMode="auto">
          <a:xfrm>
            <a:off x="1778000" y="3817938"/>
            <a:ext cx="103188" cy="0"/>
          </a:xfrm>
          <a:prstGeom prst="line">
            <a:avLst/>
          </a:prstGeom>
          <a:noFill/>
          <a:ln w="6350">
            <a:solidFill>
              <a:srgbClr val="000000"/>
            </a:solidFill>
            <a:miter lim="800000"/>
            <a:headEnd/>
            <a:tailEnd/>
          </a:ln>
        </p:spPr>
        <p:txBody>
          <a:bodyPr/>
          <a:lstStyle/>
          <a:p>
            <a:endParaRPr lang="en-US"/>
          </a:p>
        </p:txBody>
      </p:sp>
      <p:sp>
        <p:nvSpPr>
          <p:cNvPr id="54285" name="Line 17"/>
          <p:cNvSpPr>
            <a:spLocks noChangeShapeType="1"/>
          </p:cNvSpPr>
          <p:nvPr/>
        </p:nvSpPr>
        <p:spPr bwMode="auto">
          <a:xfrm>
            <a:off x="1778000" y="4095750"/>
            <a:ext cx="103188" cy="0"/>
          </a:xfrm>
          <a:prstGeom prst="line">
            <a:avLst/>
          </a:prstGeom>
          <a:noFill/>
          <a:ln w="6350">
            <a:solidFill>
              <a:srgbClr val="000000"/>
            </a:solidFill>
            <a:miter lim="800000"/>
            <a:headEnd/>
            <a:tailEnd/>
          </a:ln>
        </p:spPr>
        <p:txBody>
          <a:bodyPr/>
          <a:lstStyle/>
          <a:p>
            <a:endParaRPr lang="en-US"/>
          </a:p>
        </p:txBody>
      </p:sp>
      <p:sp>
        <p:nvSpPr>
          <p:cNvPr id="54286" name="Line 18"/>
          <p:cNvSpPr>
            <a:spLocks noChangeShapeType="1"/>
          </p:cNvSpPr>
          <p:nvPr/>
        </p:nvSpPr>
        <p:spPr bwMode="auto">
          <a:xfrm>
            <a:off x="1778000" y="5481638"/>
            <a:ext cx="103188" cy="0"/>
          </a:xfrm>
          <a:prstGeom prst="line">
            <a:avLst/>
          </a:prstGeom>
          <a:noFill/>
          <a:ln w="6350">
            <a:solidFill>
              <a:srgbClr val="000000"/>
            </a:solidFill>
            <a:miter lim="800000"/>
            <a:headEnd/>
            <a:tailEnd/>
          </a:ln>
        </p:spPr>
        <p:txBody>
          <a:bodyPr/>
          <a:lstStyle/>
          <a:p>
            <a:endParaRPr lang="en-US"/>
          </a:p>
        </p:txBody>
      </p:sp>
      <p:sp>
        <p:nvSpPr>
          <p:cNvPr id="54287" name="Line 19"/>
          <p:cNvSpPr>
            <a:spLocks noChangeShapeType="1"/>
          </p:cNvSpPr>
          <p:nvPr/>
        </p:nvSpPr>
        <p:spPr bwMode="auto">
          <a:xfrm>
            <a:off x="2590800" y="5868988"/>
            <a:ext cx="0" cy="168275"/>
          </a:xfrm>
          <a:prstGeom prst="line">
            <a:avLst/>
          </a:prstGeom>
          <a:noFill/>
          <a:ln w="6350">
            <a:solidFill>
              <a:srgbClr val="000000"/>
            </a:solidFill>
            <a:miter lim="800000"/>
            <a:headEnd/>
            <a:tailEnd/>
          </a:ln>
        </p:spPr>
        <p:txBody>
          <a:bodyPr/>
          <a:lstStyle/>
          <a:p>
            <a:endParaRPr lang="en-US"/>
          </a:p>
        </p:txBody>
      </p:sp>
      <p:sp>
        <p:nvSpPr>
          <p:cNvPr id="54288" name="Line 20"/>
          <p:cNvSpPr>
            <a:spLocks noChangeShapeType="1"/>
          </p:cNvSpPr>
          <p:nvPr/>
        </p:nvSpPr>
        <p:spPr bwMode="auto">
          <a:xfrm>
            <a:off x="3394075" y="5868988"/>
            <a:ext cx="0" cy="168275"/>
          </a:xfrm>
          <a:prstGeom prst="line">
            <a:avLst/>
          </a:prstGeom>
          <a:noFill/>
          <a:ln w="6350">
            <a:solidFill>
              <a:srgbClr val="000000"/>
            </a:solidFill>
            <a:miter lim="800000"/>
            <a:headEnd/>
            <a:tailEnd/>
          </a:ln>
        </p:spPr>
        <p:txBody>
          <a:bodyPr/>
          <a:lstStyle/>
          <a:p>
            <a:endParaRPr lang="en-US"/>
          </a:p>
        </p:txBody>
      </p:sp>
      <p:sp>
        <p:nvSpPr>
          <p:cNvPr id="54289" name="Line 21"/>
          <p:cNvSpPr>
            <a:spLocks noChangeShapeType="1"/>
          </p:cNvSpPr>
          <p:nvPr/>
        </p:nvSpPr>
        <p:spPr bwMode="auto">
          <a:xfrm>
            <a:off x="4205288" y="5868988"/>
            <a:ext cx="0" cy="168275"/>
          </a:xfrm>
          <a:prstGeom prst="line">
            <a:avLst/>
          </a:prstGeom>
          <a:noFill/>
          <a:ln w="6350">
            <a:solidFill>
              <a:srgbClr val="000000"/>
            </a:solidFill>
            <a:miter lim="800000"/>
            <a:headEnd/>
            <a:tailEnd/>
          </a:ln>
        </p:spPr>
        <p:txBody>
          <a:bodyPr/>
          <a:lstStyle/>
          <a:p>
            <a:endParaRPr lang="en-US"/>
          </a:p>
        </p:txBody>
      </p:sp>
      <p:sp>
        <p:nvSpPr>
          <p:cNvPr id="54290" name="Line 22"/>
          <p:cNvSpPr>
            <a:spLocks noChangeShapeType="1"/>
          </p:cNvSpPr>
          <p:nvPr/>
        </p:nvSpPr>
        <p:spPr bwMode="auto">
          <a:xfrm>
            <a:off x="2995613" y="5868988"/>
            <a:ext cx="0" cy="168275"/>
          </a:xfrm>
          <a:prstGeom prst="line">
            <a:avLst/>
          </a:prstGeom>
          <a:noFill/>
          <a:ln w="6350">
            <a:solidFill>
              <a:srgbClr val="000000"/>
            </a:solidFill>
            <a:miter lim="800000"/>
            <a:headEnd/>
            <a:tailEnd/>
          </a:ln>
        </p:spPr>
        <p:txBody>
          <a:bodyPr/>
          <a:lstStyle/>
          <a:p>
            <a:endParaRPr lang="en-US"/>
          </a:p>
        </p:txBody>
      </p:sp>
      <p:sp>
        <p:nvSpPr>
          <p:cNvPr id="54291" name="Rectangle 23"/>
          <p:cNvSpPr>
            <a:spLocks noChangeArrowheads="1"/>
          </p:cNvSpPr>
          <p:nvPr/>
        </p:nvSpPr>
        <p:spPr bwMode="auto">
          <a:xfrm>
            <a:off x="2386013" y="6086475"/>
            <a:ext cx="69850"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6</a:t>
            </a:r>
            <a:endParaRPr lang="en-US" sz="1000" baseline="-25000">
              <a:latin typeface="Tahoma" pitchFamily="34" charset="0"/>
            </a:endParaRPr>
          </a:p>
        </p:txBody>
      </p:sp>
      <p:sp>
        <p:nvSpPr>
          <p:cNvPr id="54292" name="Rectangle 24"/>
          <p:cNvSpPr>
            <a:spLocks noChangeArrowheads="1"/>
          </p:cNvSpPr>
          <p:nvPr/>
        </p:nvSpPr>
        <p:spPr bwMode="auto">
          <a:xfrm>
            <a:off x="1625600" y="6086475"/>
            <a:ext cx="96838"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baseline="-25000">
              <a:latin typeface="Tahoma" pitchFamily="34" charset="0"/>
            </a:endParaRPr>
          </a:p>
        </p:txBody>
      </p:sp>
      <p:sp>
        <p:nvSpPr>
          <p:cNvPr id="54293" name="Rectangle 25"/>
          <p:cNvSpPr>
            <a:spLocks noChangeArrowheads="1"/>
          </p:cNvSpPr>
          <p:nvPr/>
        </p:nvSpPr>
        <p:spPr bwMode="auto">
          <a:xfrm>
            <a:off x="2420938" y="6086475"/>
            <a:ext cx="24447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,000</a:t>
            </a:r>
            <a:endParaRPr lang="en-US" sz="1000" baseline="-25000">
              <a:latin typeface="Tahoma" pitchFamily="34" charset="0"/>
            </a:endParaRPr>
          </a:p>
        </p:txBody>
      </p:sp>
      <p:sp>
        <p:nvSpPr>
          <p:cNvPr id="54294" name="Rectangle 26"/>
          <p:cNvSpPr>
            <a:spLocks noChangeArrowheads="1"/>
          </p:cNvSpPr>
          <p:nvPr/>
        </p:nvSpPr>
        <p:spPr bwMode="auto">
          <a:xfrm>
            <a:off x="2825750" y="6086475"/>
            <a:ext cx="31432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7,500</a:t>
            </a:r>
            <a:endParaRPr lang="en-US" sz="1000" baseline="-25000">
              <a:latin typeface="Tahoma" pitchFamily="34" charset="0"/>
            </a:endParaRPr>
          </a:p>
        </p:txBody>
      </p:sp>
      <p:sp>
        <p:nvSpPr>
          <p:cNvPr id="54295" name="Rectangle 27"/>
          <p:cNvSpPr>
            <a:spLocks noChangeArrowheads="1"/>
          </p:cNvSpPr>
          <p:nvPr/>
        </p:nvSpPr>
        <p:spPr bwMode="auto">
          <a:xfrm>
            <a:off x="3198813" y="6086475"/>
            <a:ext cx="38417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10,000</a:t>
            </a:r>
            <a:endParaRPr lang="en-US" sz="1000" baseline="-25000">
              <a:latin typeface="Tahoma" pitchFamily="34" charset="0"/>
            </a:endParaRPr>
          </a:p>
        </p:txBody>
      </p:sp>
      <p:sp>
        <p:nvSpPr>
          <p:cNvPr id="54296" name="Rectangle 28"/>
          <p:cNvSpPr>
            <a:spLocks noChangeArrowheads="1"/>
          </p:cNvSpPr>
          <p:nvPr/>
        </p:nvSpPr>
        <p:spPr bwMode="auto">
          <a:xfrm>
            <a:off x="3990975" y="6086475"/>
            <a:ext cx="38417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15,000</a:t>
            </a:r>
            <a:endParaRPr lang="en-US" sz="1000" baseline="-25000">
              <a:latin typeface="Tahoma" pitchFamily="34" charset="0"/>
            </a:endParaRPr>
          </a:p>
        </p:txBody>
      </p:sp>
      <p:sp>
        <p:nvSpPr>
          <p:cNvPr id="54297" name="Rectangle 29"/>
          <p:cNvSpPr>
            <a:spLocks noChangeArrowheads="1"/>
          </p:cNvSpPr>
          <p:nvPr/>
        </p:nvSpPr>
        <p:spPr bwMode="auto">
          <a:xfrm>
            <a:off x="1362075" y="2005013"/>
            <a:ext cx="431800" cy="169862"/>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Roman"/>
              </a:rPr>
              <a:t>$140</a:t>
            </a:r>
            <a:endParaRPr lang="en-US" sz="1400" baseline="-25000">
              <a:latin typeface="Tahoma" pitchFamily="34" charset="0"/>
            </a:endParaRPr>
          </a:p>
        </p:txBody>
      </p:sp>
      <p:sp>
        <p:nvSpPr>
          <p:cNvPr id="54298" name="Rectangle 30"/>
          <p:cNvSpPr>
            <a:spLocks noChangeArrowheads="1"/>
          </p:cNvSpPr>
          <p:nvPr/>
        </p:nvSpPr>
        <p:spPr bwMode="auto">
          <a:xfrm>
            <a:off x="1473200" y="2562225"/>
            <a:ext cx="29527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120</a:t>
            </a:r>
            <a:endParaRPr lang="en-US" sz="1400" baseline="-25000">
              <a:latin typeface="Tahoma" pitchFamily="34" charset="0"/>
            </a:endParaRPr>
          </a:p>
        </p:txBody>
      </p:sp>
      <p:sp>
        <p:nvSpPr>
          <p:cNvPr id="54299" name="Rectangle 31"/>
          <p:cNvSpPr>
            <a:spLocks noChangeArrowheads="1"/>
          </p:cNvSpPr>
          <p:nvPr/>
        </p:nvSpPr>
        <p:spPr bwMode="auto">
          <a:xfrm>
            <a:off x="1550988" y="367506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80</a:t>
            </a:r>
            <a:endParaRPr lang="en-US" sz="1400" baseline="-25000">
              <a:latin typeface="Tahoma" pitchFamily="34" charset="0"/>
            </a:endParaRPr>
          </a:p>
        </p:txBody>
      </p:sp>
      <p:sp>
        <p:nvSpPr>
          <p:cNvPr id="54300" name="Rectangle 32"/>
          <p:cNvSpPr>
            <a:spLocks noChangeArrowheads="1"/>
          </p:cNvSpPr>
          <p:nvPr/>
        </p:nvSpPr>
        <p:spPr bwMode="auto">
          <a:xfrm>
            <a:off x="1550988" y="339090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90</a:t>
            </a:r>
            <a:endParaRPr lang="en-US" sz="1400" baseline="-25000">
              <a:latin typeface="Tahoma" pitchFamily="34" charset="0"/>
            </a:endParaRPr>
          </a:p>
        </p:txBody>
      </p:sp>
      <p:sp>
        <p:nvSpPr>
          <p:cNvPr id="54301" name="Rectangle 33"/>
          <p:cNvSpPr>
            <a:spLocks noChangeArrowheads="1"/>
          </p:cNvSpPr>
          <p:nvPr/>
        </p:nvSpPr>
        <p:spPr bwMode="auto">
          <a:xfrm>
            <a:off x="1550988" y="39560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70</a:t>
            </a:r>
            <a:endParaRPr lang="en-US" sz="1400" baseline="-25000">
              <a:latin typeface="Tahoma" pitchFamily="34" charset="0"/>
            </a:endParaRPr>
          </a:p>
        </p:txBody>
      </p:sp>
      <p:sp>
        <p:nvSpPr>
          <p:cNvPr id="54302" name="Rectangle 34"/>
          <p:cNvSpPr>
            <a:spLocks noChangeArrowheads="1"/>
          </p:cNvSpPr>
          <p:nvPr/>
        </p:nvSpPr>
        <p:spPr bwMode="auto">
          <a:xfrm>
            <a:off x="1550988" y="47910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40</a:t>
            </a:r>
            <a:endParaRPr lang="en-US" sz="1400" baseline="-25000">
              <a:latin typeface="Tahoma" pitchFamily="34" charset="0"/>
            </a:endParaRPr>
          </a:p>
        </p:txBody>
      </p:sp>
      <p:sp>
        <p:nvSpPr>
          <p:cNvPr id="54303" name="Rectangle 35"/>
          <p:cNvSpPr>
            <a:spLocks noChangeArrowheads="1"/>
          </p:cNvSpPr>
          <p:nvPr/>
        </p:nvSpPr>
        <p:spPr bwMode="auto">
          <a:xfrm>
            <a:off x="1550988" y="5348288"/>
            <a:ext cx="19685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a:t>
            </a:r>
            <a:endParaRPr lang="en-US" sz="1400" baseline="-25000">
              <a:latin typeface="Tahoma" pitchFamily="34" charset="0"/>
            </a:endParaRPr>
          </a:p>
        </p:txBody>
      </p:sp>
      <p:sp>
        <p:nvSpPr>
          <p:cNvPr id="54304" name="Rectangle 36"/>
          <p:cNvSpPr>
            <a:spLocks noChangeArrowheads="1"/>
          </p:cNvSpPr>
          <p:nvPr/>
        </p:nvSpPr>
        <p:spPr bwMode="auto">
          <a:xfrm>
            <a:off x="4244975" y="42656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baseline="-25000">
              <a:latin typeface="Tahoma" pitchFamily="34" charset="0"/>
            </a:endParaRPr>
          </a:p>
        </p:txBody>
      </p:sp>
      <p:sp>
        <p:nvSpPr>
          <p:cNvPr id="54305" name="Rectangle 37"/>
          <p:cNvSpPr>
            <a:spLocks noChangeArrowheads="1"/>
          </p:cNvSpPr>
          <p:nvPr/>
        </p:nvSpPr>
        <p:spPr bwMode="auto">
          <a:xfrm>
            <a:off x="3371850" y="34448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baseline="-25000">
              <a:latin typeface="Tahoma" pitchFamily="34" charset="0"/>
            </a:endParaRPr>
          </a:p>
        </p:txBody>
      </p:sp>
      <p:sp>
        <p:nvSpPr>
          <p:cNvPr id="349222" name="Freeform 38"/>
          <p:cNvSpPr>
            <a:spLocks/>
          </p:cNvSpPr>
          <p:nvPr/>
        </p:nvSpPr>
        <p:spPr bwMode="auto">
          <a:xfrm>
            <a:off x="1362075" y="3505200"/>
            <a:ext cx="106363" cy="614363"/>
          </a:xfrm>
          <a:custGeom>
            <a:avLst/>
            <a:gdLst>
              <a:gd name="T0" fmla="*/ 106363 w 25"/>
              <a:gd name="T1" fmla="*/ 614363 h 86"/>
              <a:gd name="T2" fmla="*/ 42545 w 25"/>
              <a:gd name="T3" fmla="*/ 500063 h 86"/>
              <a:gd name="T4" fmla="*/ 42545 w 25"/>
              <a:gd name="T5" fmla="*/ 385763 h 86"/>
              <a:gd name="T6" fmla="*/ 0 w 25"/>
              <a:gd name="T7" fmla="*/ 307182 h 86"/>
              <a:gd name="T8" fmla="*/ 42545 w 25"/>
              <a:gd name="T9" fmla="*/ 235744 h 86"/>
              <a:gd name="T10" fmla="*/ 42545 w 25"/>
              <a:gd name="T11" fmla="*/ 114300 h 86"/>
              <a:gd name="T12" fmla="*/ 106363 w 25"/>
              <a:gd name="T13" fmla="*/ 0 h 86"/>
              <a:gd name="T14" fmla="*/ 0 60000 65536"/>
              <a:gd name="T15" fmla="*/ 0 60000 65536"/>
              <a:gd name="T16" fmla="*/ 0 60000 65536"/>
              <a:gd name="T17" fmla="*/ 0 60000 65536"/>
              <a:gd name="T18" fmla="*/ 0 60000 65536"/>
              <a:gd name="T19" fmla="*/ 0 60000 65536"/>
              <a:gd name="T20" fmla="*/ 0 60000 65536"/>
              <a:gd name="T21" fmla="*/ 0 w 25"/>
              <a:gd name="T22" fmla="*/ 0 h 86"/>
              <a:gd name="T23" fmla="*/ 25 w 25"/>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86">
                <a:moveTo>
                  <a:pt x="25" y="86"/>
                </a:moveTo>
                <a:cubicBezTo>
                  <a:pt x="15" y="86"/>
                  <a:pt x="10" y="83"/>
                  <a:pt x="10" y="70"/>
                </a:cubicBezTo>
                <a:cubicBezTo>
                  <a:pt x="10" y="67"/>
                  <a:pt x="10" y="56"/>
                  <a:pt x="10" y="54"/>
                </a:cubicBezTo>
                <a:cubicBezTo>
                  <a:pt x="10" y="50"/>
                  <a:pt x="8" y="43"/>
                  <a:pt x="0" y="43"/>
                </a:cubicBezTo>
                <a:cubicBezTo>
                  <a:pt x="8" y="43"/>
                  <a:pt x="10" y="36"/>
                  <a:pt x="10" y="33"/>
                </a:cubicBezTo>
                <a:cubicBezTo>
                  <a:pt x="10" y="30"/>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a:p>
        </p:txBody>
      </p:sp>
      <p:sp>
        <p:nvSpPr>
          <p:cNvPr id="349223" name="Freeform 39"/>
          <p:cNvSpPr>
            <a:spLocks/>
          </p:cNvSpPr>
          <p:nvPr/>
        </p:nvSpPr>
        <p:spPr bwMode="auto">
          <a:xfrm>
            <a:off x="614363" y="3352800"/>
            <a:ext cx="712787" cy="942975"/>
          </a:xfrm>
          <a:custGeom>
            <a:avLst/>
            <a:gdLst>
              <a:gd name="T0" fmla="*/ 712787 w 168"/>
              <a:gd name="T1" fmla="*/ 850106 h 132"/>
              <a:gd name="T2" fmla="*/ 661874 w 168"/>
              <a:gd name="T3" fmla="*/ 942975 h 132"/>
              <a:gd name="T4" fmla="*/ 50913 w 168"/>
              <a:gd name="T5" fmla="*/ 942975 h 132"/>
              <a:gd name="T6" fmla="*/ 0 w 168"/>
              <a:gd name="T7" fmla="*/ 850106 h 132"/>
              <a:gd name="T8" fmla="*/ 0 w 168"/>
              <a:gd name="T9" fmla="*/ 85725 h 132"/>
              <a:gd name="T10" fmla="*/ 50913 w 168"/>
              <a:gd name="T11" fmla="*/ 0 h 132"/>
              <a:gd name="T12" fmla="*/ 661874 w 168"/>
              <a:gd name="T13" fmla="*/ 0 h 132"/>
              <a:gd name="T14" fmla="*/ 712787 w 168"/>
              <a:gd name="T15" fmla="*/ 85725 h 132"/>
              <a:gd name="T16" fmla="*/ 712787 w 168"/>
              <a:gd name="T17" fmla="*/ 850106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
              <a:gd name="T28" fmla="*/ 0 h 132"/>
              <a:gd name="T29" fmla="*/ 168 w 168"/>
              <a:gd name="T30" fmla="*/ 132 h 1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 h="132">
                <a:moveTo>
                  <a:pt x="168" y="119"/>
                </a:moveTo>
                <a:cubicBezTo>
                  <a:pt x="168" y="126"/>
                  <a:pt x="162" y="132"/>
                  <a:pt x="156" y="132"/>
                </a:cubicBezTo>
                <a:cubicBezTo>
                  <a:pt x="12" y="132"/>
                  <a:pt x="12" y="132"/>
                  <a:pt x="12" y="132"/>
                </a:cubicBezTo>
                <a:cubicBezTo>
                  <a:pt x="5" y="132"/>
                  <a:pt x="0" y="126"/>
                  <a:pt x="0" y="119"/>
                </a:cubicBezTo>
                <a:cubicBezTo>
                  <a:pt x="0" y="12"/>
                  <a:pt x="0" y="12"/>
                  <a:pt x="0" y="12"/>
                </a:cubicBezTo>
                <a:cubicBezTo>
                  <a:pt x="0" y="5"/>
                  <a:pt x="5" y="0"/>
                  <a:pt x="12" y="0"/>
                </a:cubicBezTo>
                <a:cubicBezTo>
                  <a:pt x="156" y="0"/>
                  <a:pt x="156" y="0"/>
                  <a:pt x="156" y="0"/>
                </a:cubicBezTo>
                <a:cubicBezTo>
                  <a:pt x="162" y="0"/>
                  <a:pt x="168" y="5"/>
                  <a:pt x="168" y="12"/>
                </a:cubicBezTo>
                <a:lnTo>
                  <a:pt x="168" y="119"/>
                </a:lnTo>
                <a:close/>
              </a:path>
            </a:pathLst>
          </a:custGeom>
          <a:solidFill>
            <a:srgbClr val="D6E2E0"/>
          </a:solidFill>
          <a:ln w="9525">
            <a:noFill/>
            <a:round/>
            <a:headEnd/>
            <a:tailEnd/>
          </a:ln>
        </p:spPr>
        <p:txBody>
          <a:bodyPr/>
          <a:lstStyle/>
          <a:p>
            <a:endParaRPr lang="en-US"/>
          </a:p>
        </p:txBody>
      </p:sp>
      <p:sp>
        <p:nvSpPr>
          <p:cNvPr id="54308" name="Line 40"/>
          <p:cNvSpPr>
            <a:spLocks noChangeShapeType="1"/>
          </p:cNvSpPr>
          <p:nvPr/>
        </p:nvSpPr>
        <p:spPr bwMode="auto">
          <a:xfrm>
            <a:off x="1766888" y="2695575"/>
            <a:ext cx="2438400" cy="1700213"/>
          </a:xfrm>
          <a:prstGeom prst="line">
            <a:avLst/>
          </a:prstGeom>
          <a:noFill/>
          <a:ln w="28575">
            <a:solidFill>
              <a:srgbClr val="3C5DAA"/>
            </a:solidFill>
            <a:miter lim="800000"/>
            <a:headEnd/>
            <a:tailEnd/>
          </a:ln>
        </p:spPr>
        <p:txBody>
          <a:bodyPr/>
          <a:lstStyle/>
          <a:p>
            <a:endParaRPr lang="en-US"/>
          </a:p>
        </p:txBody>
      </p:sp>
      <p:sp>
        <p:nvSpPr>
          <p:cNvPr id="54309" name="Line 41"/>
          <p:cNvSpPr>
            <a:spLocks noChangeShapeType="1"/>
          </p:cNvSpPr>
          <p:nvPr/>
        </p:nvSpPr>
        <p:spPr bwMode="auto">
          <a:xfrm flipH="1">
            <a:off x="1754188" y="3273425"/>
            <a:ext cx="2443162" cy="1687513"/>
          </a:xfrm>
          <a:prstGeom prst="line">
            <a:avLst/>
          </a:prstGeom>
          <a:noFill/>
          <a:ln w="28575">
            <a:solidFill>
              <a:srgbClr val="EE313C"/>
            </a:solidFill>
            <a:miter lim="800000"/>
            <a:headEnd/>
            <a:tailEnd/>
          </a:ln>
        </p:spPr>
        <p:txBody>
          <a:bodyPr/>
          <a:lstStyle/>
          <a:p>
            <a:endParaRPr lang="en-US"/>
          </a:p>
        </p:txBody>
      </p:sp>
      <p:sp>
        <p:nvSpPr>
          <p:cNvPr id="54310" name="Oval 44"/>
          <p:cNvSpPr>
            <a:spLocks noChangeArrowheads="1"/>
          </p:cNvSpPr>
          <p:nvPr/>
        </p:nvSpPr>
        <p:spPr bwMode="auto">
          <a:xfrm>
            <a:off x="3352800" y="3751263"/>
            <a:ext cx="84138" cy="144462"/>
          </a:xfrm>
          <a:prstGeom prst="ellipse">
            <a:avLst/>
          </a:prstGeom>
          <a:solidFill>
            <a:srgbClr val="000000"/>
          </a:solidFill>
          <a:ln w="9525">
            <a:noFill/>
            <a:round/>
            <a:headEnd/>
            <a:tailEnd/>
          </a:ln>
        </p:spPr>
        <p:txBody>
          <a:bodyPr/>
          <a:lstStyle/>
          <a:p>
            <a:endParaRPr lang="en-US"/>
          </a:p>
        </p:txBody>
      </p:sp>
      <p:sp>
        <p:nvSpPr>
          <p:cNvPr id="54311" name="Rectangle 45"/>
          <p:cNvSpPr>
            <a:spLocks noChangeArrowheads="1"/>
          </p:cNvSpPr>
          <p:nvPr/>
        </p:nvSpPr>
        <p:spPr bwMode="auto">
          <a:xfrm>
            <a:off x="2451100" y="896938"/>
            <a:ext cx="197643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(a) </a:t>
            </a:r>
            <a:r>
              <a:rPr lang="en-US" sz="1400" b="1">
                <a:solidFill>
                  <a:srgbClr val="000000"/>
                </a:solidFill>
                <a:latin typeface="Myriad Roman"/>
              </a:rPr>
              <a:t>An excise tax of $20</a:t>
            </a:r>
            <a:endParaRPr lang="en-US" sz="1400" b="1" baseline="-25000">
              <a:latin typeface="Tahoma" pitchFamily="34" charset="0"/>
            </a:endParaRPr>
          </a:p>
        </p:txBody>
      </p:sp>
      <p:sp>
        <p:nvSpPr>
          <p:cNvPr id="54312" name="Freeform 46"/>
          <p:cNvSpPr>
            <a:spLocks/>
          </p:cNvSpPr>
          <p:nvPr/>
        </p:nvSpPr>
        <p:spPr bwMode="auto">
          <a:xfrm>
            <a:off x="1778000" y="1258888"/>
            <a:ext cx="2746375" cy="4778375"/>
          </a:xfrm>
          <a:custGeom>
            <a:avLst/>
            <a:gdLst>
              <a:gd name="T0" fmla="*/ 2746375 w 1529"/>
              <a:gd name="T1" fmla="*/ 4778375 h 1580"/>
              <a:gd name="T2" fmla="*/ 0 w 1529"/>
              <a:gd name="T3" fmla="*/ 4778375 h 1580"/>
              <a:gd name="T4" fmla="*/ 0 w 1529"/>
              <a:gd name="T5" fmla="*/ 0 h 1580"/>
              <a:gd name="T6" fmla="*/ 0 60000 65536"/>
              <a:gd name="T7" fmla="*/ 0 60000 65536"/>
              <a:gd name="T8" fmla="*/ 0 60000 65536"/>
              <a:gd name="T9" fmla="*/ 0 w 1529"/>
              <a:gd name="T10" fmla="*/ 0 h 1580"/>
              <a:gd name="T11" fmla="*/ 1529 w 1529"/>
              <a:gd name="T12" fmla="*/ 1580 h 1580"/>
            </a:gdLst>
            <a:ahLst/>
            <a:cxnLst>
              <a:cxn ang="T6">
                <a:pos x="T0" y="T1"/>
              </a:cxn>
              <a:cxn ang="T7">
                <a:pos x="T2" y="T3"/>
              </a:cxn>
              <a:cxn ang="T8">
                <a:pos x="T4" y="T5"/>
              </a:cxn>
            </a:cxnLst>
            <a:rect l="T9" t="T10" r="T11" b="T12"/>
            <a:pathLst>
              <a:path w="1529" h="1580">
                <a:moveTo>
                  <a:pt x="1529" y="1580"/>
                </a:moveTo>
                <a:lnTo>
                  <a:pt x="0" y="1580"/>
                </a:lnTo>
                <a:lnTo>
                  <a:pt x="0" y="0"/>
                </a:lnTo>
              </a:path>
            </a:pathLst>
          </a:custGeom>
          <a:noFill/>
          <a:ln w="6350" cap="flat">
            <a:solidFill>
              <a:srgbClr val="000000"/>
            </a:solidFill>
            <a:prstDash val="solid"/>
            <a:miter lim="800000"/>
            <a:headEnd/>
            <a:tailEnd/>
          </a:ln>
        </p:spPr>
        <p:txBody>
          <a:bodyPr/>
          <a:lstStyle/>
          <a:p>
            <a:endParaRPr lang="en-US"/>
          </a:p>
        </p:txBody>
      </p:sp>
      <p:sp>
        <p:nvSpPr>
          <p:cNvPr id="54313" name="Rectangle 48"/>
          <p:cNvSpPr>
            <a:spLocks noChangeArrowheads="1"/>
          </p:cNvSpPr>
          <p:nvPr/>
        </p:nvSpPr>
        <p:spPr bwMode="auto">
          <a:xfrm>
            <a:off x="8361363" y="30162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baseline="-25000">
              <a:latin typeface="Tahoma" pitchFamily="34" charset="0"/>
            </a:endParaRPr>
          </a:p>
        </p:txBody>
      </p:sp>
      <p:sp>
        <p:nvSpPr>
          <p:cNvPr id="54314" name="Line 49"/>
          <p:cNvSpPr>
            <a:spLocks noChangeShapeType="1"/>
          </p:cNvSpPr>
          <p:nvPr/>
        </p:nvSpPr>
        <p:spPr bwMode="auto">
          <a:xfrm>
            <a:off x="5900738" y="2155825"/>
            <a:ext cx="101600" cy="0"/>
          </a:xfrm>
          <a:prstGeom prst="line">
            <a:avLst/>
          </a:prstGeom>
          <a:noFill/>
          <a:ln w="7938">
            <a:solidFill>
              <a:srgbClr val="000000"/>
            </a:solidFill>
            <a:miter lim="800000"/>
            <a:headEnd/>
            <a:tailEnd/>
          </a:ln>
        </p:spPr>
        <p:txBody>
          <a:bodyPr/>
          <a:lstStyle/>
          <a:p>
            <a:endParaRPr lang="en-US"/>
          </a:p>
        </p:txBody>
      </p:sp>
      <p:sp>
        <p:nvSpPr>
          <p:cNvPr id="54315" name="Line 50"/>
          <p:cNvSpPr>
            <a:spLocks noChangeShapeType="1"/>
          </p:cNvSpPr>
          <p:nvPr/>
        </p:nvSpPr>
        <p:spPr bwMode="auto">
          <a:xfrm>
            <a:off x="5900738" y="3009900"/>
            <a:ext cx="101600" cy="0"/>
          </a:xfrm>
          <a:prstGeom prst="line">
            <a:avLst/>
          </a:prstGeom>
          <a:noFill/>
          <a:ln w="7938">
            <a:solidFill>
              <a:srgbClr val="000000"/>
            </a:solidFill>
            <a:miter lim="800000"/>
            <a:headEnd/>
            <a:tailEnd/>
          </a:ln>
        </p:spPr>
        <p:txBody>
          <a:bodyPr/>
          <a:lstStyle/>
          <a:p>
            <a:endParaRPr lang="en-US"/>
          </a:p>
        </p:txBody>
      </p:sp>
      <p:sp>
        <p:nvSpPr>
          <p:cNvPr id="54316" name="Line 51"/>
          <p:cNvSpPr>
            <a:spLocks noChangeShapeType="1"/>
          </p:cNvSpPr>
          <p:nvPr/>
        </p:nvSpPr>
        <p:spPr bwMode="auto">
          <a:xfrm>
            <a:off x="5900738" y="3817938"/>
            <a:ext cx="101600" cy="0"/>
          </a:xfrm>
          <a:prstGeom prst="line">
            <a:avLst/>
          </a:prstGeom>
          <a:noFill/>
          <a:ln w="7938">
            <a:solidFill>
              <a:srgbClr val="000000"/>
            </a:solidFill>
            <a:miter lim="800000"/>
            <a:headEnd/>
            <a:tailEnd/>
          </a:ln>
        </p:spPr>
        <p:txBody>
          <a:bodyPr/>
          <a:lstStyle/>
          <a:p>
            <a:endParaRPr lang="en-US"/>
          </a:p>
        </p:txBody>
      </p:sp>
      <p:sp>
        <p:nvSpPr>
          <p:cNvPr id="54317" name="Line 52"/>
          <p:cNvSpPr>
            <a:spLocks noChangeShapeType="1"/>
          </p:cNvSpPr>
          <p:nvPr/>
        </p:nvSpPr>
        <p:spPr bwMode="auto">
          <a:xfrm>
            <a:off x="5900738" y="4667250"/>
            <a:ext cx="101600" cy="0"/>
          </a:xfrm>
          <a:prstGeom prst="line">
            <a:avLst/>
          </a:prstGeom>
          <a:noFill/>
          <a:ln w="7938">
            <a:solidFill>
              <a:srgbClr val="000000"/>
            </a:solidFill>
            <a:miter lim="800000"/>
            <a:headEnd/>
            <a:tailEnd/>
          </a:ln>
        </p:spPr>
        <p:txBody>
          <a:bodyPr/>
          <a:lstStyle/>
          <a:p>
            <a:endParaRPr lang="en-US"/>
          </a:p>
        </p:txBody>
      </p:sp>
      <p:sp>
        <p:nvSpPr>
          <p:cNvPr id="54318" name="Line 53"/>
          <p:cNvSpPr>
            <a:spLocks noChangeShapeType="1"/>
          </p:cNvSpPr>
          <p:nvPr/>
        </p:nvSpPr>
        <p:spPr bwMode="auto">
          <a:xfrm>
            <a:off x="5900738" y="5481638"/>
            <a:ext cx="101600" cy="0"/>
          </a:xfrm>
          <a:prstGeom prst="line">
            <a:avLst/>
          </a:prstGeom>
          <a:noFill/>
          <a:ln w="7938">
            <a:solidFill>
              <a:srgbClr val="000000"/>
            </a:solidFill>
            <a:miter lim="800000"/>
            <a:headEnd/>
            <a:tailEnd/>
          </a:ln>
        </p:spPr>
        <p:txBody>
          <a:bodyPr/>
          <a:lstStyle/>
          <a:p>
            <a:endParaRPr lang="en-US"/>
          </a:p>
        </p:txBody>
      </p:sp>
      <p:sp>
        <p:nvSpPr>
          <p:cNvPr id="54319" name="Line 54"/>
          <p:cNvSpPr>
            <a:spLocks noChangeShapeType="1"/>
          </p:cNvSpPr>
          <p:nvPr/>
        </p:nvSpPr>
        <p:spPr bwMode="auto">
          <a:xfrm>
            <a:off x="6710363" y="5868988"/>
            <a:ext cx="0" cy="168275"/>
          </a:xfrm>
          <a:prstGeom prst="line">
            <a:avLst/>
          </a:prstGeom>
          <a:noFill/>
          <a:ln w="7938">
            <a:solidFill>
              <a:srgbClr val="000000"/>
            </a:solidFill>
            <a:miter lim="800000"/>
            <a:headEnd/>
            <a:tailEnd/>
          </a:ln>
        </p:spPr>
        <p:txBody>
          <a:bodyPr/>
          <a:lstStyle/>
          <a:p>
            <a:endParaRPr lang="en-US"/>
          </a:p>
        </p:txBody>
      </p:sp>
      <p:sp>
        <p:nvSpPr>
          <p:cNvPr id="54320" name="Line 55"/>
          <p:cNvSpPr>
            <a:spLocks noChangeShapeType="1"/>
          </p:cNvSpPr>
          <p:nvPr/>
        </p:nvSpPr>
        <p:spPr bwMode="auto">
          <a:xfrm>
            <a:off x="7516813" y="5868988"/>
            <a:ext cx="0" cy="168275"/>
          </a:xfrm>
          <a:prstGeom prst="line">
            <a:avLst/>
          </a:prstGeom>
          <a:noFill/>
          <a:ln w="7938">
            <a:solidFill>
              <a:srgbClr val="000000"/>
            </a:solidFill>
            <a:miter lim="800000"/>
            <a:headEnd/>
            <a:tailEnd/>
          </a:ln>
        </p:spPr>
        <p:txBody>
          <a:bodyPr/>
          <a:lstStyle/>
          <a:p>
            <a:endParaRPr lang="en-US"/>
          </a:p>
        </p:txBody>
      </p:sp>
      <p:sp>
        <p:nvSpPr>
          <p:cNvPr id="54321" name="Line 56"/>
          <p:cNvSpPr>
            <a:spLocks noChangeShapeType="1"/>
          </p:cNvSpPr>
          <p:nvPr/>
        </p:nvSpPr>
        <p:spPr bwMode="auto">
          <a:xfrm>
            <a:off x="8326438" y="5868988"/>
            <a:ext cx="0" cy="168275"/>
          </a:xfrm>
          <a:prstGeom prst="line">
            <a:avLst/>
          </a:prstGeom>
          <a:noFill/>
          <a:ln w="7938">
            <a:solidFill>
              <a:srgbClr val="000000"/>
            </a:solidFill>
            <a:miter lim="800000"/>
            <a:headEnd/>
            <a:tailEnd/>
          </a:ln>
        </p:spPr>
        <p:txBody>
          <a:bodyPr/>
          <a:lstStyle/>
          <a:p>
            <a:endParaRPr lang="en-US"/>
          </a:p>
        </p:txBody>
      </p:sp>
      <p:sp>
        <p:nvSpPr>
          <p:cNvPr id="54322" name="Line 57"/>
          <p:cNvSpPr>
            <a:spLocks noChangeShapeType="1"/>
          </p:cNvSpPr>
          <p:nvPr/>
        </p:nvSpPr>
        <p:spPr bwMode="auto">
          <a:xfrm>
            <a:off x="6315075" y="5868988"/>
            <a:ext cx="0" cy="168275"/>
          </a:xfrm>
          <a:prstGeom prst="line">
            <a:avLst/>
          </a:prstGeom>
          <a:noFill/>
          <a:ln w="7938">
            <a:solidFill>
              <a:srgbClr val="000000"/>
            </a:solidFill>
            <a:miter lim="800000"/>
            <a:headEnd/>
            <a:tailEnd/>
          </a:ln>
        </p:spPr>
        <p:txBody>
          <a:bodyPr/>
          <a:lstStyle/>
          <a:p>
            <a:endParaRPr lang="en-US"/>
          </a:p>
        </p:txBody>
      </p:sp>
      <p:sp>
        <p:nvSpPr>
          <p:cNvPr id="54323" name="Rectangle 58"/>
          <p:cNvSpPr>
            <a:spLocks noChangeArrowheads="1"/>
          </p:cNvSpPr>
          <p:nvPr/>
        </p:nvSpPr>
        <p:spPr bwMode="auto">
          <a:xfrm>
            <a:off x="5748338" y="6086475"/>
            <a:ext cx="984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baseline="-25000">
              <a:latin typeface="Tahoma" pitchFamily="34" charset="0"/>
            </a:endParaRPr>
          </a:p>
        </p:txBody>
      </p:sp>
      <p:sp>
        <p:nvSpPr>
          <p:cNvPr id="54324" name="Rectangle 59"/>
          <p:cNvSpPr>
            <a:spLocks noChangeArrowheads="1"/>
          </p:cNvSpPr>
          <p:nvPr/>
        </p:nvSpPr>
        <p:spPr bwMode="auto">
          <a:xfrm>
            <a:off x="6542088" y="6086475"/>
            <a:ext cx="31432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5,000</a:t>
            </a:r>
            <a:endParaRPr lang="en-US" sz="1000" baseline="-25000">
              <a:latin typeface="Tahoma" pitchFamily="34" charset="0"/>
            </a:endParaRPr>
          </a:p>
        </p:txBody>
      </p:sp>
      <p:sp>
        <p:nvSpPr>
          <p:cNvPr id="54325" name="Rectangle 60"/>
          <p:cNvSpPr>
            <a:spLocks noChangeArrowheads="1"/>
          </p:cNvSpPr>
          <p:nvPr/>
        </p:nvSpPr>
        <p:spPr bwMode="auto">
          <a:xfrm>
            <a:off x="6145213" y="6086475"/>
            <a:ext cx="31432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2,500</a:t>
            </a:r>
            <a:endParaRPr lang="en-US" sz="1000" baseline="-25000">
              <a:latin typeface="Tahoma" pitchFamily="34" charset="0"/>
            </a:endParaRPr>
          </a:p>
        </p:txBody>
      </p:sp>
      <p:sp>
        <p:nvSpPr>
          <p:cNvPr id="54326" name="Rectangle 61"/>
          <p:cNvSpPr>
            <a:spLocks noChangeArrowheads="1"/>
          </p:cNvSpPr>
          <p:nvPr/>
        </p:nvSpPr>
        <p:spPr bwMode="auto">
          <a:xfrm>
            <a:off x="7319963" y="6086475"/>
            <a:ext cx="38417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10,000</a:t>
            </a:r>
            <a:endParaRPr lang="en-US" sz="1000" baseline="-25000">
              <a:latin typeface="Tahoma" pitchFamily="34" charset="0"/>
            </a:endParaRPr>
          </a:p>
        </p:txBody>
      </p:sp>
      <p:sp>
        <p:nvSpPr>
          <p:cNvPr id="54327" name="Rectangle 62"/>
          <p:cNvSpPr>
            <a:spLocks noChangeArrowheads="1"/>
          </p:cNvSpPr>
          <p:nvPr/>
        </p:nvSpPr>
        <p:spPr bwMode="auto">
          <a:xfrm>
            <a:off x="8124825" y="6086475"/>
            <a:ext cx="384175" cy="122238"/>
          </a:xfrm>
          <a:prstGeom prst="rect">
            <a:avLst/>
          </a:prstGeom>
          <a:noFill/>
          <a:ln w="9525">
            <a:noFill/>
            <a:miter lim="800000"/>
            <a:headEnd/>
            <a:tailEnd/>
          </a:ln>
        </p:spPr>
        <p:txBody>
          <a:bodyPr wrap="none" lIns="0" tIns="0" rIns="0" bIns="0">
            <a:spAutoFit/>
          </a:bodyPr>
          <a:lstStyle/>
          <a:p>
            <a:pPr marL="1588" indent="-1588"/>
            <a:r>
              <a:rPr lang="en-US" sz="1000">
                <a:solidFill>
                  <a:srgbClr val="000000"/>
                </a:solidFill>
                <a:latin typeface="Myriad Roman"/>
              </a:rPr>
              <a:t>15,000</a:t>
            </a:r>
            <a:endParaRPr lang="en-US" sz="1000" baseline="-25000">
              <a:latin typeface="Tahoma" pitchFamily="34" charset="0"/>
            </a:endParaRPr>
          </a:p>
        </p:txBody>
      </p:sp>
      <p:sp>
        <p:nvSpPr>
          <p:cNvPr id="54328" name="Rectangle 63"/>
          <p:cNvSpPr>
            <a:spLocks noChangeArrowheads="1"/>
          </p:cNvSpPr>
          <p:nvPr/>
        </p:nvSpPr>
        <p:spPr bwMode="auto">
          <a:xfrm>
            <a:off x="5486400" y="2005013"/>
            <a:ext cx="474663" cy="169862"/>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Roman"/>
              </a:rPr>
              <a:t>$140 </a:t>
            </a:r>
            <a:endParaRPr lang="en-US" sz="1400" baseline="-25000">
              <a:latin typeface="Tahoma" pitchFamily="34" charset="0"/>
            </a:endParaRPr>
          </a:p>
        </p:txBody>
      </p:sp>
      <p:sp>
        <p:nvSpPr>
          <p:cNvPr id="54329" name="Rectangle 64"/>
          <p:cNvSpPr>
            <a:spLocks noChangeArrowheads="1"/>
          </p:cNvSpPr>
          <p:nvPr/>
        </p:nvSpPr>
        <p:spPr bwMode="auto">
          <a:xfrm>
            <a:off x="5595938" y="2562225"/>
            <a:ext cx="2936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120</a:t>
            </a:r>
            <a:endParaRPr lang="en-US" sz="1400" baseline="-25000">
              <a:latin typeface="Tahoma" pitchFamily="34" charset="0"/>
            </a:endParaRPr>
          </a:p>
        </p:txBody>
      </p:sp>
      <p:sp>
        <p:nvSpPr>
          <p:cNvPr id="54330" name="Rectangle 65"/>
          <p:cNvSpPr>
            <a:spLocks noChangeArrowheads="1"/>
          </p:cNvSpPr>
          <p:nvPr/>
        </p:nvSpPr>
        <p:spPr bwMode="auto">
          <a:xfrm>
            <a:off x="5595938" y="2867025"/>
            <a:ext cx="2936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110</a:t>
            </a:r>
            <a:endParaRPr lang="en-US" sz="1400" baseline="-25000">
              <a:latin typeface="Tahoma" pitchFamily="34" charset="0"/>
            </a:endParaRPr>
          </a:p>
        </p:txBody>
      </p:sp>
      <p:sp>
        <p:nvSpPr>
          <p:cNvPr id="54331" name="Rectangle 66"/>
          <p:cNvSpPr>
            <a:spLocks noChangeArrowheads="1"/>
          </p:cNvSpPr>
          <p:nvPr/>
        </p:nvSpPr>
        <p:spPr bwMode="auto">
          <a:xfrm>
            <a:off x="5670550" y="367506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80</a:t>
            </a:r>
            <a:endParaRPr lang="en-US" sz="1400" baseline="-25000">
              <a:latin typeface="Tahoma" pitchFamily="34" charset="0"/>
            </a:endParaRPr>
          </a:p>
        </p:txBody>
      </p:sp>
      <p:sp>
        <p:nvSpPr>
          <p:cNvPr id="54332" name="Rectangle 67"/>
          <p:cNvSpPr>
            <a:spLocks noChangeArrowheads="1"/>
          </p:cNvSpPr>
          <p:nvPr/>
        </p:nvSpPr>
        <p:spPr bwMode="auto">
          <a:xfrm>
            <a:off x="5670550" y="451326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50</a:t>
            </a:r>
            <a:endParaRPr lang="en-US" sz="1400" baseline="-25000">
              <a:latin typeface="Tahoma" pitchFamily="34" charset="0"/>
            </a:endParaRPr>
          </a:p>
        </p:txBody>
      </p:sp>
      <p:sp>
        <p:nvSpPr>
          <p:cNvPr id="54333" name="Rectangle 68"/>
          <p:cNvSpPr>
            <a:spLocks noChangeArrowheads="1"/>
          </p:cNvSpPr>
          <p:nvPr/>
        </p:nvSpPr>
        <p:spPr bwMode="auto">
          <a:xfrm>
            <a:off x="5670550" y="47910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40</a:t>
            </a:r>
            <a:endParaRPr lang="en-US" sz="1400" baseline="-25000">
              <a:latin typeface="Tahoma" pitchFamily="34" charset="0"/>
            </a:endParaRPr>
          </a:p>
        </p:txBody>
      </p:sp>
      <p:sp>
        <p:nvSpPr>
          <p:cNvPr id="54334" name="Rectangle 69"/>
          <p:cNvSpPr>
            <a:spLocks noChangeArrowheads="1"/>
          </p:cNvSpPr>
          <p:nvPr/>
        </p:nvSpPr>
        <p:spPr bwMode="auto">
          <a:xfrm>
            <a:off x="5670550" y="5348288"/>
            <a:ext cx="19685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a:t>
            </a:r>
            <a:endParaRPr lang="en-US" sz="1400" baseline="-25000">
              <a:latin typeface="Tahoma" pitchFamily="34" charset="0"/>
            </a:endParaRPr>
          </a:p>
        </p:txBody>
      </p:sp>
      <p:sp>
        <p:nvSpPr>
          <p:cNvPr id="54335" name="Rectangle 70"/>
          <p:cNvSpPr>
            <a:spLocks noChangeArrowheads="1"/>
          </p:cNvSpPr>
          <p:nvPr/>
        </p:nvSpPr>
        <p:spPr bwMode="auto">
          <a:xfrm>
            <a:off x="8366125" y="42656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baseline="-25000">
              <a:latin typeface="Tahoma" pitchFamily="34" charset="0"/>
            </a:endParaRPr>
          </a:p>
        </p:txBody>
      </p:sp>
      <p:sp>
        <p:nvSpPr>
          <p:cNvPr id="54336" name="Rectangle 71"/>
          <p:cNvSpPr>
            <a:spLocks noChangeArrowheads="1"/>
          </p:cNvSpPr>
          <p:nvPr/>
        </p:nvSpPr>
        <p:spPr bwMode="auto">
          <a:xfrm>
            <a:off x="7493000" y="34448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baseline="-25000">
              <a:latin typeface="Tahoma" pitchFamily="34" charset="0"/>
            </a:endParaRPr>
          </a:p>
        </p:txBody>
      </p:sp>
      <p:sp>
        <p:nvSpPr>
          <p:cNvPr id="349256" name="Freeform 72"/>
          <p:cNvSpPr>
            <a:spLocks/>
          </p:cNvSpPr>
          <p:nvPr/>
        </p:nvSpPr>
        <p:spPr bwMode="auto">
          <a:xfrm>
            <a:off x="5473700" y="3030538"/>
            <a:ext cx="106363" cy="1643062"/>
          </a:xfrm>
          <a:custGeom>
            <a:avLst/>
            <a:gdLst>
              <a:gd name="T0" fmla="*/ 106363 w 25"/>
              <a:gd name="T1" fmla="*/ 1643062 h 230"/>
              <a:gd name="T2" fmla="*/ 42545 w 25"/>
              <a:gd name="T3" fmla="*/ 1528762 h 230"/>
              <a:gd name="T4" fmla="*/ 42545 w 25"/>
              <a:gd name="T5" fmla="*/ 900112 h 230"/>
              <a:gd name="T6" fmla="*/ 0 w 25"/>
              <a:gd name="T7" fmla="*/ 821531 h 230"/>
              <a:gd name="T8" fmla="*/ 42545 w 25"/>
              <a:gd name="T9" fmla="*/ 750094 h 230"/>
              <a:gd name="T10" fmla="*/ 42545 w 25"/>
              <a:gd name="T11" fmla="*/ 114300 h 230"/>
              <a:gd name="T12" fmla="*/ 106363 w 25"/>
              <a:gd name="T13" fmla="*/ 0 h 230"/>
              <a:gd name="T14" fmla="*/ 0 60000 65536"/>
              <a:gd name="T15" fmla="*/ 0 60000 65536"/>
              <a:gd name="T16" fmla="*/ 0 60000 65536"/>
              <a:gd name="T17" fmla="*/ 0 60000 65536"/>
              <a:gd name="T18" fmla="*/ 0 60000 65536"/>
              <a:gd name="T19" fmla="*/ 0 60000 65536"/>
              <a:gd name="T20" fmla="*/ 0 60000 65536"/>
              <a:gd name="T21" fmla="*/ 0 w 25"/>
              <a:gd name="T22" fmla="*/ 0 h 230"/>
              <a:gd name="T23" fmla="*/ 25 w 25"/>
              <a:gd name="T24" fmla="*/ 230 h 2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30">
                <a:moveTo>
                  <a:pt x="25" y="230"/>
                </a:moveTo>
                <a:cubicBezTo>
                  <a:pt x="15" y="230"/>
                  <a:pt x="10" y="227"/>
                  <a:pt x="10" y="214"/>
                </a:cubicBezTo>
                <a:cubicBezTo>
                  <a:pt x="10" y="211"/>
                  <a:pt x="10" y="128"/>
                  <a:pt x="10" y="126"/>
                </a:cubicBezTo>
                <a:cubicBezTo>
                  <a:pt x="10" y="122"/>
                  <a:pt x="8" y="115"/>
                  <a:pt x="0" y="115"/>
                </a:cubicBezTo>
                <a:cubicBezTo>
                  <a:pt x="8" y="115"/>
                  <a:pt x="10" y="108"/>
                  <a:pt x="10" y="105"/>
                </a:cubicBezTo>
                <a:cubicBezTo>
                  <a:pt x="10" y="102"/>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a:p>
        </p:txBody>
      </p:sp>
      <p:sp>
        <p:nvSpPr>
          <p:cNvPr id="349257" name="Freeform 73"/>
          <p:cNvSpPr>
            <a:spLocks/>
          </p:cNvSpPr>
          <p:nvPr/>
        </p:nvSpPr>
        <p:spPr bwMode="auto">
          <a:xfrm>
            <a:off x="4646613" y="3389313"/>
            <a:ext cx="711200" cy="942975"/>
          </a:xfrm>
          <a:custGeom>
            <a:avLst/>
            <a:gdLst>
              <a:gd name="T0" fmla="*/ 711200 w 168"/>
              <a:gd name="T1" fmla="*/ 850106 h 132"/>
              <a:gd name="T2" fmla="*/ 660400 w 168"/>
              <a:gd name="T3" fmla="*/ 942975 h 132"/>
              <a:gd name="T4" fmla="*/ 50800 w 168"/>
              <a:gd name="T5" fmla="*/ 942975 h 132"/>
              <a:gd name="T6" fmla="*/ 0 w 168"/>
              <a:gd name="T7" fmla="*/ 850106 h 132"/>
              <a:gd name="T8" fmla="*/ 0 w 168"/>
              <a:gd name="T9" fmla="*/ 85725 h 132"/>
              <a:gd name="T10" fmla="*/ 50800 w 168"/>
              <a:gd name="T11" fmla="*/ 0 h 132"/>
              <a:gd name="T12" fmla="*/ 660400 w 168"/>
              <a:gd name="T13" fmla="*/ 0 h 132"/>
              <a:gd name="T14" fmla="*/ 711200 w 168"/>
              <a:gd name="T15" fmla="*/ 85725 h 132"/>
              <a:gd name="T16" fmla="*/ 711200 w 168"/>
              <a:gd name="T17" fmla="*/ 850106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
              <a:gd name="T28" fmla="*/ 0 h 132"/>
              <a:gd name="T29" fmla="*/ 168 w 168"/>
              <a:gd name="T30" fmla="*/ 132 h 1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 h="132">
                <a:moveTo>
                  <a:pt x="168" y="119"/>
                </a:moveTo>
                <a:cubicBezTo>
                  <a:pt x="168" y="126"/>
                  <a:pt x="162" y="132"/>
                  <a:pt x="156" y="132"/>
                </a:cubicBezTo>
                <a:cubicBezTo>
                  <a:pt x="12" y="132"/>
                  <a:pt x="12" y="132"/>
                  <a:pt x="12" y="132"/>
                </a:cubicBezTo>
                <a:cubicBezTo>
                  <a:pt x="5" y="132"/>
                  <a:pt x="0" y="126"/>
                  <a:pt x="0" y="119"/>
                </a:cubicBezTo>
                <a:cubicBezTo>
                  <a:pt x="0" y="12"/>
                  <a:pt x="0" y="12"/>
                  <a:pt x="0" y="12"/>
                </a:cubicBezTo>
                <a:cubicBezTo>
                  <a:pt x="0" y="5"/>
                  <a:pt x="5" y="0"/>
                  <a:pt x="12" y="0"/>
                </a:cubicBezTo>
                <a:cubicBezTo>
                  <a:pt x="156" y="0"/>
                  <a:pt x="156" y="0"/>
                  <a:pt x="156" y="0"/>
                </a:cubicBezTo>
                <a:cubicBezTo>
                  <a:pt x="162" y="0"/>
                  <a:pt x="168" y="5"/>
                  <a:pt x="168" y="12"/>
                </a:cubicBezTo>
                <a:lnTo>
                  <a:pt x="168" y="119"/>
                </a:lnTo>
                <a:close/>
              </a:path>
            </a:pathLst>
          </a:custGeom>
          <a:solidFill>
            <a:srgbClr val="D6E2E0"/>
          </a:solidFill>
          <a:ln w="9525">
            <a:noFill/>
            <a:round/>
            <a:headEnd/>
            <a:tailEnd/>
          </a:ln>
        </p:spPr>
        <p:txBody>
          <a:bodyPr/>
          <a:lstStyle/>
          <a:p>
            <a:endParaRPr lang="en-US"/>
          </a:p>
        </p:txBody>
      </p:sp>
      <p:sp>
        <p:nvSpPr>
          <p:cNvPr id="54339" name="Line 74"/>
          <p:cNvSpPr>
            <a:spLocks noChangeShapeType="1"/>
          </p:cNvSpPr>
          <p:nvPr/>
        </p:nvSpPr>
        <p:spPr bwMode="auto">
          <a:xfrm>
            <a:off x="5888038" y="2695575"/>
            <a:ext cx="2438400" cy="1700213"/>
          </a:xfrm>
          <a:prstGeom prst="line">
            <a:avLst/>
          </a:prstGeom>
          <a:noFill/>
          <a:ln w="30163">
            <a:solidFill>
              <a:srgbClr val="3C5DAA"/>
            </a:solidFill>
            <a:miter lim="800000"/>
            <a:headEnd/>
            <a:tailEnd/>
          </a:ln>
        </p:spPr>
        <p:txBody>
          <a:bodyPr/>
          <a:lstStyle/>
          <a:p>
            <a:endParaRPr lang="en-US"/>
          </a:p>
        </p:txBody>
      </p:sp>
      <p:sp>
        <p:nvSpPr>
          <p:cNvPr id="54340" name="Line 75"/>
          <p:cNvSpPr>
            <a:spLocks noChangeShapeType="1"/>
          </p:cNvSpPr>
          <p:nvPr/>
        </p:nvSpPr>
        <p:spPr bwMode="auto">
          <a:xfrm flipH="1">
            <a:off x="5875338" y="3273425"/>
            <a:ext cx="2441575" cy="1687513"/>
          </a:xfrm>
          <a:prstGeom prst="line">
            <a:avLst/>
          </a:prstGeom>
          <a:noFill/>
          <a:ln w="30163">
            <a:solidFill>
              <a:srgbClr val="EE313C"/>
            </a:solidFill>
            <a:miter lim="800000"/>
            <a:headEnd/>
            <a:tailEnd/>
          </a:ln>
        </p:spPr>
        <p:txBody>
          <a:bodyPr/>
          <a:lstStyle/>
          <a:p>
            <a:endParaRPr lang="en-US"/>
          </a:p>
        </p:txBody>
      </p:sp>
      <p:sp>
        <p:nvSpPr>
          <p:cNvPr id="54341" name="Oval 78"/>
          <p:cNvSpPr>
            <a:spLocks noChangeArrowheads="1"/>
          </p:cNvSpPr>
          <p:nvPr/>
        </p:nvSpPr>
        <p:spPr bwMode="auto">
          <a:xfrm>
            <a:off x="7473950" y="3751263"/>
            <a:ext cx="84138" cy="144462"/>
          </a:xfrm>
          <a:prstGeom prst="ellipse">
            <a:avLst/>
          </a:prstGeom>
          <a:solidFill>
            <a:srgbClr val="000000"/>
          </a:solidFill>
          <a:ln w="9525">
            <a:noFill/>
            <a:round/>
            <a:headEnd/>
            <a:tailEnd/>
          </a:ln>
        </p:spPr>
        <p:txBody>
          <a:bodyPr/>
          <a:lstStyle/>
          <a:p>
            <a:endParaRPr lang="en-US"/>
          </a:p>
        </p:txBody>
      </p:sp>
      <p:sp>
        <p:nvSpPr>
          <p:cNvPr id="54342" name="Rectangle 79"/>
          <p:cNvSpPr>
            <a:spLocks noChangeArrowheads="1"/>
          </p:cNvSpPr>
          <p:nvPr/>
        </p:nvSpPr>
        <p:spPr bwMode="auto">
          <a:xfrm>
            <a:off x="6565900" y="896938"/>
            <a:ext cx="197643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(b) </a:t>
            </a:r>
            <a:r>
              <a:rPr lang="en-US" sz="1400" b="1">
                <a:solidFill>
                  <a:srgbClr val="000000"/>
                </a:solidFill>
                <a:latin typeface="Myriad Roman"/>
              </a:rPr>
              <a:t>An excise tax of $60</a:t>
            </a:r>
            <a:endParaRPr lang="en-US" sz="1400" b="1" baseline="-25000">
              <a:latin typeface="Tahoma" pitchFamily="34" charset="0"/>
            </a:endParaRPr>
          </a:p>
        </p:txBody>
      </p:sp>
      <p:sp>
        <p:nvSpPr>
          <p:cNvPr id="54343" name="Freeform 80"/>
          <p:cNvSpPr>
            <a:spLocks/>
          </p:cNvSpPr>
          <p:nvPr/>
        </p:nvSpPr>
        <p:spPr bwMode="auto">
          <a:xfrm>
            <a:off x="5900738" y="1258888"/>
            <a:ext cx="2743200" cy="4778375"/>
          </a:xfrm>
          <a:custGeom>
            <a:avLst/>
            <a:gdLst>
              <a:gd name="T0" fmla="*/ 2743200 w 1528"/>
              <a:gd name="T1" fmla="*/ 4778375 h 1580"/>
              <a:gd name="T2" fmla="*/ 0 w 1528"/>
              <a:gd name="T3" fmla="*/ 4778375 h 1580"/>
              <a:gd name="T4" fmla="*/ 0 w 1528"/>
              <a:gd name="T5" fmla="*/ 0 h 1580"/>
              <a:gd name="T6" fmla="*/ 0 60000 65536"/>
              <a:gd name="T7" fmla="*/ 0 60000 65536"/>
              <a:gd name="T8" fmla="*/ 0 60000 65536"/>
              <a:gd name="T9" fmla="*/ 0 w 1528"/>
              <a:gd name="T10" fmla="*/ 0 h 1580"/>
              <a:gd name="T11" fmla="*/ 1528 w 1528"/>
              <a:gd name="T12" fmla="*/ 1580 h 1580"/>
            </a:gdLst>
            <a:ahLst/>
            <a:cxnLst>
              <a:cxn ang="T6">
                <a:pos x="T0" y="T1"/>
              </a:cxn>
              <a:cxn ang="T7">
                <a:pos x="T2" y="T3"/>
              </a:cxn>
              <a:cxn ang="T8">
                <a:pos x="T4" y="T5"/>
              </a:cxn>
            </a:cxnLst>
            <a:rect l="T9" t="T10" r="T11" b="T12"/>
            <a:pathLst>
              <a:path w="1528" h="1580">
                <a:moveTo>
                  <a:pt x="1528" y="1580"/>
                </a:moveTo>
                <a:lnTo>
                  <a:pt x="0" y="1580"/>
                </a:lnTo>
                <a:lnTo>
                  <a:pt x="0" y="0"/>
                </a:lnTo>
              </a:path>
            </a:pathLst>
          </a:custGeom>
          <a:noFill/>
          <a:ln w="7938" cap="flat">
            <a:solidFill>
              <a:srgbClr val="000000"/>
            </a:solidFill>
            <a:prstDash val="solid"/>
            <a:miter lim="800000"/>
            <a:headEnd/>
            <a:tailEnd/>
          </a:ln>
        </p:spPr>
        <p:txBody>
          <a:bodyPr/>
          <a:lstStyle/>
          <a:p>
            <a:endParaRPr lang="en-US"/>
          </a:p>
        </p:txBody>
      </p:sp>
      <p:sp>
        <p:nvSpPr>
          <p:cNvPr id="54344" name="Rectangle 81"/>
          <p:cNvSpPr>
            <a:spLocks noChangeArrowheads="1"/>
          </p:cNvSpPr>
          <p:nvPr/>
        </p:nvSpPr>
        <p:spPr bwMode="auto">
          <a:xfrm>
            <a:off x="5067300" y="987425"/>
            <a:ext cx="776288"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Price of hotel room</a:t>
            </a:r>
            <a:endParaRPr lang="en-US" sz="1400">
              <a:latin typeface="Tahoma" pitchFamily="34" charset="0"/>
            </a:endParaRPr>
          </a:p>
        </p:txBody>
      </p:sp>
      <p:sp>
        <p:nvSpPr>
          <p:cNvPr id="54345" name="Rectangle 82"/>
          <p:cNvSpPr>
            <a:spLocks noChangeArrowheads="1"/>
          </p:cNvSpPr>
          <p:nvPr/>
        </p:nvSpPr>
        <p:spPr bwMode="auto">
          <a:xfrm>
            <a:off x="7077075" y="6324600"/>
            <a:ext cx="185102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 of hotel rooms</a:t>
            </a:r>
            <a:endParaRPr lang="en-US" sz="1400">
              <a:latin typeface="Tahoma" pitchFamily="34" charset="0"/>
            </a:endParaRPr>
          </a:p>
        </p:txBody>
      </p:sp>
      <p:sp>
        <p:nvSpPr>
          <p:cNvPr id="349268" name="Rectangle 84"/>
          <p:cNvSpPr>
            <a:spLocks noChangeArrowheads="1"/>
          </p:cNvSpPr>
          <p:nvPr/>
        </p:nvSpPr>
        <p:spPr bwMode="auto">
          <a:xfrm>
            <a:off x="660400" y="3375025"/>
            <a:ext cx="603250"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$20 per room</a:t>
            </a:r>
            <a:endParaRPr lang="en-US" sz="1400">
              <a:latin typeface="Tahoma" pitchFamily="34" charset="0"/>
            </a:endParaRPr>
          </a:p>
        </p:txBody>
      </p:sp>
      <p:sp>
        <p:nvSpPr>
          <p:cNvPr id="349269" name="Rectangle 85"/>
          <p:cNvSpPr>
            <a:spLocks noChangeArrowheads="1"/>
          </p:cNvSpPr>
          <p:nvPr/>
        </p:nvSpPr>
        <p:spPr bwMode="auto">
          <a:xfrm>
            <a:off x="4695825" y="3432175"/>
            <a:ext cx="603250"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$60 per room</a:t>
            </a:r>
            <a:endParaRPr lang="en-US" sz="1400">
              <a:latin typeface="Tahoma" pitchFamily="34" charset="0"/>
            </a:endParaRPr>
          </a:p>
        </p:txBody>
      </p:sp>
      <p:cxnSp>
        <p:nvCxnSpPr>
          <p:cNvPr id="54348" name="Straight Connector 86"/>
          <p:cNvCxnSpPr>
            <a:cxnSpLocks noChangeShapeType="1"/>
          </p:cNvCxnSpPr>
          <p:nvPr/>
        </p:nvCxnSpPr>
        <p:spPr bwMode="auto">
          <a:xfrm>
            <a:off x="5942013" y="3822700"/>
            <a:ext cx="1550987" cy="3175"/>
          </a:xfrm>
          <a:prstGeom prst="line">
            <a:avLst/>
          </a:prstGeom>
          <a:noFill/>
          <a:ln w="15875">
            <a:solidFill>
              <a:srgbClr val="808080"/>
            </a:solidFill>
            <a:prstDash val="sysDot"/>
            <a:round/>
            <a:headEnd/>
            <a:tailEnd type="none" w="med" len="lg"/>
          </a:ln>
        </p:spPr>
      </p:cxnSp>
      <p:cxnSp>
        <p:nvCxnSpPr>
          <p:cNvPr id="54349" name="Straight Connector 86"/>
          <p:cNvCxnSpPr>
            <a:cxnSpLocks noChangeShapeType="1"/>
            <a:endCxn id="54326" idx="0"/>
          </p:cNvCxnSpPr>
          <p:nvPr/>
        </p:nvCxnSpPr>
        <p:spPr bwMode="auto">
          <a:xfrm>
            <a:off x="7512050" y="3902075"/>
            <a:ext cx="0" cy="2184400"/>
          </a:xfrm>
          <a:prstGeom prst="line">
            <a:avLst/>
          </a:prstGeom>
          <a:noFill/>
          <a:ln w="15875">
            <a:solidFill>
              <a:srgbClr val="808080"/>
            </a:solidFill>
            <a:prstDash val="sysDot"/>
            <a:round/>
            <a:headEnd/>
            <a:tailEnd type="none" w="med" len="lg"/>
          </a:ln>
        </p:spPr>
      </p:cxnSp>
      <p:cxnSp>
        <p:nvCxnSpPr>
          <p:cNvPr id="54350" name="Straight Connector 86"/>
          <p:cNvCxnSpPr>
            <a:cxnSpLocks noChangeShapeType="1"/>
          </p:cNvCxnSpPr>
          <p:nvPr/>
        </p:nvCxnSpPr>
        <p:spPr bwMode="auto">
          <a:xfrm>
            <a:off x="5943600" y="4648200"/>
            <a:ext cx="257175" cy="0"/>
          </a:xfrm>
          <a:prstGeom prst="line">
            <a:avLst/>
          </a:prstGeom>
          <a:noFill/>
          <a:ln w="15875">
            <a:solidFill>
              <a:srgbClr val="808080"/>
            </a:solidFill>
            <a:prstDash val="sysDot"/>
            <a:round/>
            <a:headEnd/>
            <a:tailEnd type="none" w="med" len="lg"/>
          </a:ln>
        </p:spPr>
      </p:cxnSp>
      <p:cxnSp>
        <p:nvCxnSpPr>
          <p:cNvPr id="54351" name="Straight Connector 86"/>
          <p:cNvCxnSpPr>
            <a:cxnSpLocks noChangeShapeType="1"/>
          </p:cNvCxnSpPr>
          <p:nvPr/>
        </p:nvCxnSpPr>
        <p:spPr bwMode="auto">
          <a:xfrm>
            <a:off x="6029325" y="2986088"/>
            <a:ext cx="257175" cy="0"/>
          </a:xfrm>
          <a:prstGeom prst="line">
            <a:avLst/>
          </a:prstGeom>
          <a:noFill/>
          <a:ln w="15875">
            <a:solidFill>
              <a:srgbClr val="808080"/>
            </a:solidFill>
            <a:prstDash val="sysDot"/>
            <a:round/>
            <a:headEnd/>
            <a:tailEnd type="none" w="med" len="lg"/>
          </a:ln>
        </p:spPr>
      </p:cxnSp>
      <p:cxnSp>
        <p:nvCxnSpPr>
          <p:cNvPr id="54352" name="Straight Connector 86"/>
          <p:cNvCxnSpPr>
            <a:cxnSpLocks noChangeShapeType="1"/>
          </p:cNvCxnSpPr>
          <p:nvPr/>
        </p:nvCxnSpPr>
        <p:spPr bwMode="auto">
          <a:xfrm>
            <a:off x="6324600" y="3048000"/>
            <a:ext cx="3175" cy="2886075"/>
          </a:xfrm>
          <a:prstGeom prst="line">
            <a:avLst/>
          </a:prstGeom>
          <a:noFill/>
          <a:ln w="15875">
            <a:solidFill>
              <a:srgbClr val="808080"/>
            </a:solidFill>
            <a:prstDash val="sysDot"/>
            <a:round/>
            <a:headEnd/>
            <a:tailEnd type="none" w="med" len="lg"/>
          </a:ln>
        </p:spPr>
      </p:cxnSp>
      <p:grpSp>
        <p:nvGrpSpPr>
          <p:cNvPr id="10" name="Group 94"/>
          <p:cNvGrpSpPr>
            <a:grpSpLocks/>
          </p:cNvGrpSpPr>
          <p:nvPr/>
        </p:nvGrpSpPr>
        <p:grpSpPr bwMode="auto">
          <a:xfrm>
            <a:off x="1778000" y="3535363"/>
            <a:ext cx="1223963" cy="550862"/>
            <a:chOff x="790" y="2227"/>
            <a:chExt cx="771" cy="347"/>
          </a:xfrm>
        </p:grpSpPr>
        <p:sp>
          <p:nvSpPr>
            <p:cNvPr id="54361" name="Rectangle 5"/>
            <p:cNvSpPr>
              <a:spLocks noChangeArrowheads="1"/>
            </p:cNvSpPr>
            <p:nvPr/>
          </p:nvSpPr>
          <p:spPr bwMode="auto">
            <a:xfrm>
              <a:off x="790" y="2227"/>
              <a:ext cx="771" cy="347"/>
            </a:xfrm>
            <a:prstGeom prst="rect">
              <a:avLst/>
            </a:prstGeom>
            <a:solidFill>
              <a:srgbClr val="CFE4AE"/>
            </a:solidFill>
            <a:ln w="9525">
              <a:noFill/>
              <a:miter lim="800000"/>
              <a:headEnd/>
              <a:tailEnd/>
            </a:ln>
          </p:spPr>
          <p:txBody>
            <a:bodyPr/>
            <a:lstStyle/>
            <a:p>
              <a:endParaRPr lang="en-US"/>
            </a:p>
          </p:txBody>
        </p:sp>
        <p:sp>
          <p:nvSpPr>
            <p:cNvPr id="54362" name="Rectangle 91"/>
            <p:cNvSpPr>
              <a:spLocks noChangeArrowheads="1"/>
            </p:cNvSpPr>
            <p:nvPr/>
          </p:nvSpPr>
          <p:spPr bwMode="auto">
            <a:xfrm>
              <a:off x="848" y="2256"/>
              <a:ext cx="624" cy="271"/>
            </a:xfrm>
            <a:prstGeom prst="rect">
              <a:avLst/>
            </a:prstGeom>
            <a:solidFill>
              <a:srgbClr val="CFE4AE"/>
            </a:solidFill>
            <a:ln w="9525">
              <a:noFill/>
              <a:miter lim="800000"/>
              <a:headEnd/>
              <a:tailEnd/>
            </a:ln>
          </p:spPr>
          <p:txBody>
            <a:bodyPr lIns="0" tIns="0" rIns="0" bIns="0">
              <a:spAutoFit/>
            </a:bodyPr>
            <a:lstStyle/>
            <a:p>
              <a:pPr marL="1588" indent="-1588" algn="ctr"/>
              <a:r>
                <a:rPr lang="en-US" sz="1400">
                  <a:solidFill>
                    <a:srgbClr val="000000"/>
                  </a:solidFill>
                  <a:latin typeface="Myriad Roman"/>
                </a:rPr>
                <a:t>Area = </a:t>
              </a:r>
              <a:br>
                <a:rPr lang="en-US" sz="1400">
                  <a:solidFill>
                    <a:srgbClr val="000000"/>
                  </a:solidFill>
                  <a:latin typeface="Myriad Roman"/>
                </a:rPr>
              </a:br>
              <a:r>
                <a:rPr lang="en-US" sz="1400">
                  <a:solidFill>
                    <a:srgbClr val="000000"/>
                  </a:solidFill>
                  <a:latin typeface="Myriad Roman"/>
                </a:rPr>
                <a:t>tax revenue</a:t>
              </a:r>
              <a:endParaRPr lang="en-US" sz="1400">
                <a:latin typeface="Tahoma" pitchFamily="34" charset="0"/>
              </a:endParaRPr>
            </a:p>
          </p:txBody>
        </p:sp>
      </p:grpSp>
      <p:grpSp>
        <p:nvGrpSpPr>
          <p:cNvPr id="11" name="Group 93"/>
          <p:cNvGrpSpPr>
            <a:grpSpLocks/>
          </p:cNvGrpSpPr>
          <p:nvPr/>
        </p:nvGrpSpPr>
        <p:grpSpPr bwMode="auto">
          <a:xfrm>
            <a:off x="5900738" y="3000375"/>
            <a:ext cx="423862" cy="1647825"/>
            <a:chOff x="3717" y="1890"/>
            <a:chExt cx="265" cy="1044"/>
          </a:xfrm>
        </p:grpSpPr>
        <p:sp>
          <p:nvSpPr>
            <p:cNvPr id="54359" name="Rectangle 47"/>
            <p:cNvSpPr>
              <a:spLocks noChangeArrowheads="1"/>
            </p:cNvSpPr>
            <p:nvPr/>
          </p:nvSpPr>
          <p:spPr bwMode="auto">
            <a:xfrm>
              <a:off x="3717" y="1890"/>
              <a:ext cx="265" cy="1044"/>
            </a:xfrm>
            <a:prstGeom prst="rect">
              <a:avLst/>
            </a:prstGeom>
            <a:solidFill>
              <a:srgbClr val="CFE4AE"/>
            </a:solidFill>
            <a:ln w="9525">
              <a:noFill/>
              <a:miter lim="800000"/>
              <a:headEnd/>
              <a:tailEnd/>
            </a:ln>
          </p:spPr>
          <p:txBody>
            <a:bodyPr/>
            <a:lstStyle/>
            <a:p>
              <a:endParaRPr lang="en-US"/>
            </a:p>
          </p:txBody>
        </p:sp>
        <p:sp>
          <p:nvSpPr>
            <p:cNvPr id="54360" name="Rectangle 83"/>
            <p:cNvSpPr>
              <a:spLocks noChangeArrowheads="1"/>
            </p:cNvSpPr>
            <p:nvPr/>
          </p:nvSpPr>
          <p:spPr bwMode="auto">
            <a:xfrm rot="5400000">
              <a:off x="3341" y="2356"/>
              <a:ext cx="1008" cy="135"/>
            </a:xfrm>
            <a:prstGeom prst="rect">
              <a:avLst/>
            </a:prstGeom>
            <a:solidFill>
              <a:srgbClr val="CFE4AE"/>
            </a:solidFill>
            <a:ln w="9525">
              <a:noFill/>
              <a:miter lim="800000"/>
              <a:headEnd/>
              <a:tailEnd/>
            </a:ln>
          </p:spPr>
          <p:txBody>
            <a:bodyPr lIns="0" tIns="0" rIns="0" bIns="0">
              <a:spAutoFit/>
            </a:bodyPr>
            <a:lstStyle/>
            <a:p>
              <a:pPr marL="1588" indent="-1588" algn="ctr"/>
              <a:r>
                <a:rPr lang="en-US" sz="1400">
                  <a:solidFill>
                    <a:srgbClr val="000000"/>
                  </a:solidFill>
                  <a:latin typeface="Myriad Roman"/>
                </a:rPr>
                <a:t>Area = tax revenue</a:t>
              </a:r>
              <a:endParaRPr lang="en-US" sz="1400">
                <a:latin typeface="Tahoma" pitchFamily="34" charset="0"/>
              </a:endParaRPr>
            </a:p>
          </p:txBody>
        </p:sp>
      </p:grpSp>
      <p:sp>
        <p:nvSpPr>
          <p:cNvPr id="54355" name="Oval 76"/>
          <p:cNvSpPr>
            <a:spLocks noChangeArrowheads="1"/>
          </p:cNvSpPr>
          <p:nvPr/>
        </p:nvSpPr>
        <p:spPr bwMode="auto">
          <a:xfrm>
            <a:off x="6278563" y="2922588"/>
            <a:ext cx="84137" cy="144462"/>
          </a:xfrm>
          <a:prstGeom prst="ellipse">
            <a:avLst/>
          </a:prstGeom>
          <a:solidFill>
            <a:srgbClr val="000000"/>
          </a:solidFill>
          <a:ln w="9525">
            <a:noFill/>
            <a:round/>
            <a:headEnd/>
            <a:tailEnd/>
          </a:ln>
        </p:spPr>
        <p:txBody>
          <a:bodyPr/>
          <a:lstStyle/>
          <a:p>
            <a:endParaRPr lang="en-US"/>
          </a:p>
        </p:txBody>
      </p:sp>
      <p:sp>
        <p:nvSpPr>
          <p:cNvPr id="54356" name="Oval 43"/>
          <p:cNvSpPr>
            <a:spLocks noChangeArrowheads="1"/>
          </p:cNvSpPr>
          <p:nvPr/>
        </p:nvSpPr>
        <p:spPr bwMode="auto">
          <a:xfrm>
            <a:off x="2954338" y="4029075"/>
            <a:ext cx="84137" cy="144463"/>
          </a:xfrm>
          <a:prstGeom prst="ellipse">
            <a:avLst/>
          </a:prstGeom>
          <a:solidFill>
            <a:srgbClr val="000000"/>
          </a:solidFill>
          <a:ln w="9525">
            <a:noFill/>
            <a:round/>
            <a:headEnd/>
            <a:tailEnd/>
          </a:ln>
        </p:spPr>
        <p:txBody>
          <a:bodyPr/>
          <a:lstStyle/>
          <a:p>
            <a:endParaRPr lang="en-US"/>
          </a:p>
        </p:txBody>
      </p:sp>
      <p:sp>
        <p:nvSpPr>
          <p:cNvPr id="54357" name="Oval 42"/>
          <p:cNvSpPr>
            <a:spLocks noChangeArrowheads="1"/>
          </p:cNvSpPr>
          <p:nvPr/>
        </p:nvSpPr>
        <p:spPr bwMode="auto">
          <a:xfrm>
            <a:off x="2957513" y="3457575"/>
            <a:ext cx="85725" cy="144463"/>
          </a:xfrm>
          <a:prstGeom prst="ellipse">
            <a:avLst/>
          </a:prstGeom>
          <a:solidFill>
            <a:srgbClr val="000000"/>
          </a:solidFill>
          <a:ln w="9525">
            <a:noFill/>
            <a:round/>
            <a:headEnd/>
            <a:tailEnd/>
          </a:ln>
        </p:spPr>
        <p:txBody>
          <a:bodyPr/>
          <a:lstStyle/>
          <a:p>
            <a:endParaRPr lang="en-US"/>
          </a:p>
        </p:txBody>
      </p:sp>
      <p:sp>
        <p:nvSpPr>
          <p:cNvPr id="54358" name="Oval 77"/>
          <p:cNvSpPr>
            <a:spLocks noChangeArrowheads="1"/>
          </p:cNvSpPr>
          <p:nvPr/>
        </p:nvSpPr>
        <p:spPr bwMode="auto">
          <a:xfrm>
            <a:off x="6273800" y="4594225"/>
            <a:ext cx="85725" cy="142875"/>
          </a:xfrm>
          <a:prstGeom prst="ellipse">
            <a:avLst/>
          </a:prstGeom>
          <a:solidFill>
            <a:srgbClr val="000000"/>
          </a:solidFill>
          <a:ln w="9525">
            <a:noFill/>
            <a:round/>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13" presetClass="entr" presetSubtype="16" fill="hold" grpId="0" nodeType="afterEffect">
                                  <p:stCondLst>
                                    <p:cond delay="0"/>
                                  </p:stCondLst>
                                  <p:childTnLst>
                                    <p:set>
                                      <p:cBhvr>
                                        <p:cTn id="10" dur="1" fill="hold">
                                          <p:stCondLst>
                                            <p:cond delay="0"/>
                                          </p:stCondLst>
                                        </p:cTn>
                                        <p:tgtEl>
                                          <p:spTgt spid="349222"/>
                                        </p:tgtEl>
                                        <p:attrNameLst>
                                          <p:attrName>style.visibility</p:attrName>
                                        </p:attrNameLst>
                                      </p:cBhvr>
                                      <p:to>
                                        <p:strVal val="visible"/>
                                      </p:to>
                                    </p:set>
                                    <p:animEffect transition="in" filter="plus(in)">
                                      <p:cBhvr>
                                        <p:cTn id="11" dur="500"/>
                                        <p:tgtEl>
                                          <p:spTgt spid="34922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49268"/>
                                        </p:tgtEl>
                                        <p:attrNameLst>
                                          <p:attrName>style.visibility</p:attrName>
                                        </p:attrNameLst>
                                      </p:cBhvr>
                                      <p:to>
                                        <p:strVal val="visible"/>
                                      </p:to>
                                    </p:set>
                                    <p:animEffect transition="in" filter="wipe(left)">
                                      <p:cBhvr>
                                        <p:cTn id="15" dur="500"/>
                                        <p:tgtEl>
                                          <p:spTgt spid="34926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49223"/>
                                        </p:tgtEl>
                                        <p:attrNameLst>
                                          <p:attrName>style.visibility</p:attrName>
                                        </p:attrNameLst>
                                      </p:cBhvr>
                                      <p:to>
                                        <p:strVal val="visible"/>
                                      </p:to>
                                    </p:set>
                                    <p:animEffect transition="in" filter="wipe(left)">
                                      <p:cBhvr>
                                        <p:cTn id="18" dur="500"/>
                                        <p:tgtEl>
                                          <p:spTgt spid="34922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par>
                          <p:cTn id="24" fill="hold">
                            <p:stCondLst>
                              <p:cond delay="500"/>
                            </p:stCondLst>
                            <p:childTnLst>
                              <p:par>
                                <p:cTn id="25" presetID="13" presetClass="entr" presetSubtype="16" fill="hold" grpId="0" nodeType="afterEffect">
                                  <p:stCondLst>
                                    <p:cond delay="0"/>
                                  </p:stCondLst>
                                  <p:childTnLst>
                                    <p:set>
                                      <p:cBhvr>
                                        <p:cTn id="26" dur="1" fill="hold">
                                          <p:stCondLst>
                                            <p:cond delay="0"/>
                                          </p:stCondLst>
                                        </p:cTn>
                                        <p:tgtEl>
                                          <p:spTgt spid="349256"/>
                                        </p:tgtEl>
                                        <p:attrNameLst>
                                          <p:attrName>style.visibility</p:attrName>
                                        </p:attrNameLst>
                                      </p:cBhvr>
                                      <p:to>
                                        <p:strVal val="visible"/>
                                      </p:to>
                                    </p:set>
                                    <p:animEffect transition="in" filter="plus(in)">
                                      <p:cBhvr>
                                        <p:cTn id="27" dur="500"/>
                                        <p:tgtEl>
                                          <p:spTgt spid="349256"/>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349257"/>
                                        </p:tgtEl>
                                        <p:attrNameLst>
                                          <p:attrName>style.visibility</p:attrName>
                                        </p:attrNameLst>
                                      </p:cBhvr>
                                      <p:to>
                                        <p:strVal val="visible"/>
                                      </p:to>
                                    </p:set>
                                    <p:animEffect transition="in" filter="wipe(left)">
                                      <p:cBhvr>
                                        <p:cTn id="31" dur="500"/>
                                        <p:tgtEl>
                                          <p:spTgt spid="349257"/>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49269"/>
                                        </p:tgtEl>
                                        <p:attrNameLst>
                                          <p:attrName>style.visibility</p:attrName>
                                        </p:attrNameLst>
                                      </p:cBhvr>
                                      <p:to>
                                        <p:strVal val="visible"/>
                                      </p:to>
                                    </p:set>
                                    <p:animEffect transition="in" filter="wipe(left)">
                                      <p:cBhvr>
                                        <p:cTn id="34" dur="500"/>
                                        <p:tgtEl>
                                          <p:spTgt spid="34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222" grpId="0" animBg="1"/>
      <p:bldP spid="349223" grpId="0" animBg="1"/>
      <p:bldP spid="349256" grpId="0" animBg="1"/>
      <p:bldP spid="349257" grpId="0" animBg="1"/>
      <p:bldP spid="349268" grpId="0"/>
      <p:bldP spid="3492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Rot="1" noChangeArrowheads="1"/>
          </p:cNvSpPr>
          <p:nvPr>
            <p:ph type="title" idx="4294967295"/>
          </p:nvPr>
        </p:nvSpPr>
        <p:spPr/>
        <p:txBody>
          <a:bodyPr/>
          <a:lstStyle/>
          <a:p>
            <a:pPr>
              <a:defRPr/>
            </a:pPr>
            <a:r>
              <a:rPr lang="en-US" sz="2900" smtClean="0"/>
              <a:t>A Tax Reduces Consumer and Producer Surplus</a:t>
            </a:r>
          </a:p>
        </p:txBody>
      </p:sp>
      <p:sp>
        <p:nvSpPr>
          <p:cNvPr id="379907" name="Rectangle 3"/>
          <p:cNvSpPr>
            <a:spLocks noGrp="1" noChangeArrowheads="1"/>
          </p:cNvSpPr>
          <p:nvPr>
            <p:ph type="body" idx="4294967295"/>
          </p:nvPr>
        </p:nvSpPr>
        <p:spPr>
          <a:xfrm>
            <a:off x="971550" y="908050"/>
            <a:ext cx="7921625" cy="5218113"/>
          </a:xfrm>
        </p:spPr>
        <p:txBody>
          <a:bodyPr/>
          <a:lstStyle/>
          <a:p>
            <a:r>
              <a:rPr lang="en-US" smtClean="0"/>
              <a:t>A fall in the price of a good generates a gain in consumer surplus.</a:t>
            </a:r>
          </a:p>
          <a:p>
            <a:r>
              <a:rPr lang="en-US" smtClean="0"/>
              <a:t>Similarly, a price increase causes a loss to consumers. </a:t>
            </a:r>
          </a:p>
          <a:p>
            <a:r>
              <a:rPr lang="en-US" smtClean="0"/>
              <a:t>So it’s not surprising that in the case of an excise tax, the rise in the price paid by consumers causes a loss.</a:t>
            </a:r>
          </a:p>
          <a:p>
            <a:r>
              <a:rPr lang="en-US" smtClean="0"/>
              <a:t>Meanwhile, the fall in the price received by producers leads to a fall in producer surplus.</a:t>
            </a:r>
            <a:br>
              <a:rPr lang="en-US" smtClean="0"/>
            </a:br>
            <a:endParaRPr lang="en-US" sz="1900" smtClean="0"/>
          </a:p>
          <a:p>
            <a:pPr algn="ctr">
              <a:buFont typeface="Wingdings" pitchFamily="2" charset="2"/>
              <a:buChar char="à"/>
            </a:pPr>
            <a:r>
              <a:rPr lang="en-US" smtClean="0">
                <a:sym typeface="Wingdings" pitchFamily="2" charset="2"/>
              </a:rPr>
              <a:t>A tax reduces both the </a:t>
            </a:r>
            <a:r>
              <a:rPr lang="en-US" smtClean="0"/>
              <a:t>consumer surplus</a:t>
            </a:r>
            <a:r>
              <a:rPr lang="en-US" smtClean="0">
                <a:sym typeface="Wingdings" pitchFamily="2" charset="2"/>
              </a:rPr>
              <a:t> and </a:t>
            </a:r>
          </a:p>
          <a:p>
            <a:pPr algn="ctr">
              <a:buFont typeface="Arial" charset="0"/>
              <a:buNone/>
            </a:pPr>
            <a:r>
              <a:rPr lang="en-US" smtClean="0">
                <a:sym typeface="Wingdings" pitchFamily="2" charset="2"/>
              </a:rPr>
              <a:t>the </a:t>
            </a:r>
            <a:r>
              <a:rPr lang="en-US" smtClean="0"/>
              <a:t>producer surplus</a:t>
            </a:r>
            <a:r>
              <a:rPr lang="en-US" smtClean="0">
                <a:sym typeface="Wingdings" pitchFamily="2" charset="2"/>
              </a:rPr>
              <a:t>.</a:t>
            </a:r>
            <a:endParaRPr lang="en-US" smtClean="0"/>
          </a:p>
          <a:p>
            <a:pPr>
              <a:buFont typeface="Arial" charset="0"/>
              <a:buNone/>
            </a:pPr>
            <a:endParaRPr 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animEffect transition="in" filter="fade">
                                      <p:cBhvr>
                                        <p:cTn id="7" dur="500"/>
                                        <p:tgtEl>
                                          <p:spTgt spid="379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9907">
                                            <p:txEl>
                                              <p:pRg st="1" end="1"/>
                                            </p:txEl>
                                          </p:spTgt>
                                        </p:tgtEl>
                                        <p:attrNameLst>
                                          <p:attrName>style.visibility</p:attrName>
                                        </p:attrNameLst>
                                      </p:cBhvr>
                                      <p:to>
                                        <p:strVal val="visible"/>
                                      </p:to>
                                    </p:set>
                                    <p:animEffect transition="in" filter="fade">
                                      <p:cBhvr>
                                        <p:cTn id="12" dur="500"/>
                                        <p:tgtEl>
                                          <p:spTgt spid="379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9907">
                                            <p:txEl>
                                              <p:pRg st="2" end="2"/>
                                            </p:txEl>
                                          </p:spTgt>
                                        </p:tgtEl>
                                        <p:attrNameLst>
                                          <p:attrName>style.visibility</p:attrName>
                                        </p:attrNameLst>
                                      </p:cBhvr>
                                      <p:to>
                                        <p:strVal val="visible"/>
                                      </p:to>
                                    </p:set>
                                    <p:animEffect transition="in" filter="fade">
                                      <p:cBhvr>
                                        <p:cTn id="17" dur="500"/>
                                        <p:tgtEl>
                                          <p:spTgt spid="3799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9907">
                                            <p:txEl>
                                              <p:pRg st="3" end="3"/>
                                            </p:txEl>
                                          </p:spTgt>
                                        </p:tgtEl>
                                        <p:attrNameLst>
                                          <p:attrName>style.visibility</p:attrName>
                                        </p:attrNameLst>
                                      </p:cBhvr>
                                      <p:to>
                                        <p:strVal val="visible"/>
                                      </p:to>
                                    </p:set>
                                    <p:animEffect transition="in" filter="fade">
                                      <p:cBhvr>
                                        <p:cTn id="22" dur="500"/>
                                        <p:tgtEl>
                                          <p:spTgt spid="3799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9907">
                                            <p:txEl>
                                              <p:pRg st="4" end="4"/>
                                            </p:txEl>
                                          </p:spTgt>
                                        </p:tgtEl>
                                        <p:attrNameLst>
                                          <p:attrName>style.visibility</p:attrName>
                                        </p:attrNameLst>
                                      </p:cBhvr>
                                      <p:to>
                                        <p:strVal val="visible"/>
                                      </p:to>
                                    </p:set>
                                    <p:animEffect transition="in" filter="fade">
                                      <p:cBhvr>
                                        <p:cTn id="27" dur="500"/>
                                        <p:tgtEl>
                                          <p:spTgt spid="379907">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79907">
                                            <p:txEl>
                                              <p:pRg st="5" end="5"/>
                                            </p:txEl>
                                          </p:spTgt>
                                        </p:tgtEl>
                                        <p:attrNameLst>
                                          <p:attrName>style.visibility</p:attrName>
                                        </p:attrNameLst>
                                      </p:cBhvr>
                                      <p:to>
                                        <p:strVal val="visible"/>
                                      </p:to>
                                    </p:set>
                                    <p:animEffect transition="in" filter="fade">
                                      <p:cBhvr>
                                        <p:cTn id="30" dur="500"/>
                                        <p:tgtEl>
                                          <p:spTgt spid="3799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Rot="1" noChangeArrowheads="1"/>
          </p:cNvSpPr>
          <p:nvPr>
            <p:ph type="title" idx="4294967295"/>
          </p:nvPr>
        </p:nvSpPr>
        <p:spPr>
          <a:xfrm>
            <a:off x="971550" y="60325"/>
            <a:ext cx="7993063" cy="555625"/>
          </a:xfrm>
        </p:spPr>
        <p:txBody>
          <a:bodyPr/>
          <a:lstStyle/>
          <a:p>
            <a:pPr>
              <a:defRPr/>
            </a:pPr>
            <a:r>
              <a:rPr lang="en-US" sz="2900" dirty="0" smtClean="0"/>
              <a:t>A Tax Reduces Consumer and Producer Surplus</a:t>
            </a:r>
          </a:p>
        </p:txBody>
      </p:sp>
      <p:sp>
        <p:nvSpPr>
          <p:cNvPr id="351237" name="Freeform 5"/>
          <p:cNvSpPr>
            <a:spLocks/>
          </p:cNvSpPr>
          <p:nvPr/>
        </p:nvSpPr>
        <p:spPr bwMode="auto">
          <a:xfrm>
            <a:off x="4176713" y="2700338"/>
            <a:ext cx="1323975" cy="777875"/>
          </a:xfrm>
          <a:custGeom>
            <a:avLst/>
            <a:gdLst>
              <a:gd name="T0" fmla="*/ 0 w 536"/>
              <a:gd name="T1" fmla="*/ 0 h 371"/>
              <a:gd name="T2" fmla="*/ 0 w 536"/>
              <a:gd name="T3" fmla="*/ 777875 h 371"/>
              <a:gd name="T4" fmla="*/ 1323975 w 536"/>
              <a:gd name="T5" fmla="*/ 777875 h 371"/>
              <a:gd name="T6" fmla="*/ 0 w 536"/>
              <a:gd name="T7" fmla="*/ 0 h 371"/>
              <a:gd name="T8" fmla="*/ 0 60000 65536"/>
              <a:gd name="T9" fmla="*/ 0 60000 65536"/>
              <a:gd name="T10" fmla="*/ 0 60000 65536"/>
              <a:gd name="T11" fmla="*/ 0 60000 65536"/>
              <a:gd name="T12" fmla="*/ 0 w 536"/>
              <a:gd name="T13" fmla="*/ 0 h 371"/>
              <a:gd name="T14" fmla="*/ 536 w 536"/>
              <a:gd name="T15" fmla="*/ 371 h 371"/>
            </a:gdLst>
            <a:ahLst/>
            <a:cxnLst>
              <a:cxn ang="T8">
                <a:pos x="T0" y="T1"/>
              </a:cxn>
              <a:cxn ang="T9">
                <a:pos x="T2" y="T3"/>
              </a:cxn>
              <a:cxn ang="T10">
                <a:pos x="T4" y="T5"/>
              </a:cxn>
              <a:cxn ang="T11">
                <a:pos x="T6" y="T7"/>
              </a:cxn>
            </a:cxnLst>
            <a:rect l="T12" t="T13" r="T14" b="T15"/>
            <a:pathLst>
              <a:path w="536" h="371">
                <a:moveTo>
                  <a:pt x="0" y="0"/>
                </a:moveTo>
                <a:lnTo>
                  <a:pt x="0" y="371"/>
                </a:lnTo>
                <a:lnTo>
                  <a:pt x="536" y="371"/>
                </a:lnTo>
                <a:lnTo>
                  <a:pt x="0" y="0"/>
                </a:lnTo>
                <a:close/>
              </a:path>
            </a:pathLst>
          </a:custGeom>
          <a:solidFill>
            <a:srgbClr val="C7D6EE"/>
          </a:solidFill>
          <a:ln w="9525">
            <a:noFill/>
            <a:round/>
            <a:headEnd/>
            <a:tailEnd/>
          </a:ln>
        </p:spPr>
        <p:txBody>
          <a:bodyPr/>
          <a:lstStyle/>
          <a:p>
            <a:endParaRPr lang="en-US"/>
          </a:p>
        </p:txBody>
      </p:sp>
      <p:sp>
        <p:nvSpPr>
          <p:cNvPr id="351238" name="Freeform 6"/>
          <p:cNvSpPr>
            <a:spLocks/>
          </p:cNvSpPr>
          <p:nvPr/>
        </p:nvSpPr>
        <p:spPr bwMode="auto">
          <a:xfrm>
            <a:off x="4168775" y="3478213"/>
            <a:ext cx="1331913" cy="784225"/>
          </a:xfrm>
          <a:custGeom>
            <a:avLst/>
            <a:gdLst>
              <a:gd name="T0" fmla="*/ 0 w 539"/>
              <a:gd name="T1" fmla="*/ 784225 h 374"/>
              <a:gd name="T2" fmla="*/ 0 w 539"/>
              <a:gd name="T3" fmla="*/ 0 h 374"/>
              <a:gd name="T4" fmla="*/ 1331913 w 539"/>
              <a:gd name="T5" fmla="*/ 0 h 374"/>
              <a:gd name="T6" fmla="*/ 0 w 539"/>
              <a:gd name="T7" fmla="*/ 784225 h 374"/>
              <a:gd name="T8" fmla="*/ 0 60000 65536"/>
              <a:gd name="T9" fmla="*/ 0 60000 65536"/>
              <a:gd name="T10" fmla="*/ 0 60000 65536"/>
              <a:gd name="T11" fmla="*/ 0 60000 65536"/>
              <a:gd name="T12" fmla="*/ 0 w 539"/>
              <a:gd name="T13" fmla="*/ 0 h 374"/>
              <a:gd name="T14" fmla="*/ 539 w 539"/>
              <a:gd name="T15" fmla="*/ 374 h 374"/>
            </a:gdLst>
            <a:ahLst/>
            <a:cxnLst>
              <a:cxn ang="T8">
                <a:pos x="T0" y="T1"/>
              </a:cxn>
              <a:cxn ang="T9">
                <a:pos x="T2" y="T3"/>
              </a:cxn>
              <a:cxn ang="T10">
                <a:pos x="T4" y="T5"/>
              </a:cxn>
              <a:cxn ang="T11">
                <a:pos x="T6" y="T7"/>
              </a:cxn>
            </a:cxnLst>
            <a:rect l="T12" t="T13" r="T14" b="T15"/>
            <a:pathLst>
              <a:path w="539" h="374">
                <a:moveTo>
                  <a:pt x="0" y="374"/>
                </a:moveTo>
                <a:lnTo>
                  <a:pt x="0" y="0"/>
                </a:lnTo>
                <a:lnTo>
                  <a:pt x="539" y="0"/>
                </a:lnTo>
                <a:lnTo>
                  <a:pt x="0" y="374"/>
                </a:lnTo>
                <a:close/>
              </a:path>
            </a:pathLst>
          </a:custGeom>
          <a:solidFill>
            <a:srgbClr val="FBD4D2"/>
          </a:solidFill>
          <a:ln w="9525">
            <a:noFill/>
            <a:round/>
            <a:headEnd/>
            <a:tailEnd/>
          </a:ln>
        </p:spPr>
        <p:txBody>
          <a:bodyPr/>
          <a:lstStyle/>
          <a:p>
            <a:endParaRPr lang="en-US"/>
          </a:p>
        </p:txBody>
      </p:sp>
      <p:sp>
        <p:nvSpPr>
          <p:cNvPr id="351239" name="Rectangle 7"/>
          <p:cNvSpPr>
            <a:spLocks noChangeArrowheads="1"/>
          </p:cNvSpPr>
          <p:nvPr/>
        </p:nvSpPr>
        <p:spPr bwMode="auto">
          <a:xfrm>
            <a:off x="2447925" y="3478213"/>
            <a:ext cx="1720850" cy="784225"/>
          </a:xfrm>
          <a:prstGeom prst="rect">
            <a:avLst/>
          </a:prstGeom>
          <a:solidFill>
            <a:srgbClr val="F3716D"/>
          </a:solidFill>
          <a:ln w="9525">
            <a:noFill/>
            <a:miter lim="800000"/>
            <a:headEnd/>
            <a:tailEnd/>
          </a:ln>
        </p:spPr>
        <p:txBody>
          <a:bodyPr/>
          <a:lstStyle/>
          <a:p>
            <a:endParaRPr lang="en-US"/>
          </a:p>
        </p:txBody>
      </p:sp>
      <p:sp>
        <p:nvSpPr>
          <p:cNvPr id="351240" name="Rectangle 8"/>
          <p:cNvSpPr>
            <a:spLocks noChangeArrowheads="1"/>
          </p:cNvSpPr>
          <p:nvPr/>
        </p:nvSpPr>
        <p:spPr bwMode="auto">
          <a:xfrm>
            <a:off x="2447925" y="2700338"/>
            <a:ext cx="1728788" cy="777875"/>
          </a:xfrm>
          <a:prstGeom prst="rect">
            <a:avLst/>
          </a:prstGeom>
          <a:solidFill>
            <a:srgbClr val="7DA7D8"/>
          </a:solidFill>
          <a:ln w="9525">
            <a:noFill/>
            <a:miter lim="800000"/>
            <a:headEnd/>
            <a:tailEnd/>
          </a:ln>
        </p:spPr>
        <p:txBody>
          <a:bodyPr/>
          <a:lstStyle/>
          <a:p>
            <a:endParaRPr lang="en-US"/>
          </a:p>
        </p:txBody>
      </p:sp>
      <p:sp>
        <p:nvSpPr>
          <p:cNvPr id="58374" name="Rectangle 9"/>
          <p:cNvSpPr>
            <a:spLocks noChangeArrowheads="1"/>
          </p:cNvSpPr>
          <p:nvPr/>
        </p:nvSpPr>
        <p:spPr bwMode="auto">
          <a:xfrm>
            <a:off x="5376863" y="5992813"/>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58375" name="Rectangle 10"/>
          <p:cNvSpPr>
            <a:spLocks noChangeArrowheads="1"/>
          </p:cNvSpPr>
          <p:nvPr/>
        </p:nvSpPr>
        <p:spPr bwMode="auto">
          <a:xfrm>
            <a:off x="5514975" y="614997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58376" name="Rectangle 11"/>
          <p:cNvSpPr>
            <a:spLocks noChangeArrowheads="1"/>
          </p:cNvSpPr>
          <p:nvPr/>
        </p:nvSpPr>
        <p:spPr bwMode="auto">
          <a:xfrm>
            <a:off x="8445500" y="6080125"/>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58377" name="Rectangle 16"/>
          <p:cNvSpPr>
            <a:spLocks noChangeArrowheads="1"/>
          </p:cNvSpPr>
          <p:nvPr/>
        </p:nvSpPr>
        <p:spPr bwMode="auto">
          <a:xfrm>
            <a:off x="8375650" y="16192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58378" name="Rectangle 17"/>
          <p:cNvSpPr>
            <a:spLocks noChangeArrowheads="1"/>
          </p:cNvSpPr>
          <p:nvPr/>
        </p:nvSpPr>
        <p:spPr bwMode="auto">
          <a:xfrm>
            <a:off x="5740400" y="33274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58379" name="Rectangle 18"/>
          <p:cNvSpPr>
            <a:spLocks noChangeArrowheads="1"/>
          </p:cNvSpPr>
          <p:nvPr/>
        </p:nvSpPr>
        <p:spPr bwMode="auto">
          <a:xfrm>
            <a:off x="8272463" y="49911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58380" name="Line 19"/>
          <p:cNvSpPr>
            <a:spLocks noChangeShapeType="1"/>
          </p:cNvSpPr>
          <p:nvPr/>
        </p:nvSpPr>
        <p:spPr bwMode="auto">
          <a:xfrm flipH="1">
            <a:off x="2403475" y="1860550"/>
            <a:ext cx="5873750" cy="3432175"/>
          </a:xfrm>
          <a:prstGeom prst="line">
            <a:avLst/>
          </a:prstGeom>
          <a:noFill/>
          <a:ln w="38100">
            <a:solidFill>
              <a:srgbClr val="EE313C"/>
            </a:solidFill>
            <a:miter lim="800000"/>
            <a:headEnd/>
            <a:tailEnd/>
          </a:ln>
        </p:spPr>
        <p:txBody>
          <a:bodyPr/>
          <a:lstStyle/>
          <a:p>
            <a:endParaRPr lang="en-US"/>
          </a:p>
        </p:txBody>
      </p:sp>
      <p:sp>
        <p:nvSpPr>
          <p:cNvPr id="58381" name="Line 20"/>
          <p:cNvSpPr>
            <a:spLocks noChangeShapeType="1"/>
          </p:cNvSpPr>
          <p:nvPr/>
        </p:nvSpPr>
        <p:spPr bwMode="auto">
          <a:xfrm>
            <a:off x="2366963" y="1644650"/>
            <a:ext cx="5843587" cy="3419475"/>
          </a:xfrm>
          <a:prstGeom prst="line">
            <a:avLst/>
          </a:prstGeom>
          <a:noFill/>
          <a:ln w="38100">
            <a:solidFill>
              <a:srgbClr val="3C5DAA"/>
            </a:solidFill>
            <a:miter lim="800000"/>
            <a:headEnd/>
            <a:tailEnd/>
          </a:ln>
        </p:spPr>
        <p:txBody>
          <a:bodyPr/>
          <a:lstStyle/>
          <a:p>
            <a:endParaRPr lang="en-US"/>
          </a:p>
        </p:txBody>
      </p:sp>
      <p:sp>
        <p:nvSpPr>
          <p:cNvPr id="58382" name="Freeform 21"/>
          <p:cNvSpPr>
            <a:spLocks/>
          </p:cNvSpPr>
          <p:nvPr/>
        </p:nvSpPr>
        <p:spPr bwMode="auto">
          <a:xfrm>
            <a:off x="2447925" y="1006475"/>
            <a:ext cx="6610350" cy="4956175"/>
          </a:xfrm>
          <a:custGeom>
            <a:avLst/>
            <a:gdLst>
              <a:gd name="T0" fmla="*/ 6610350 w 2674"/>
              <a:gd name="T1" fmla="*/ 4956175 h 2362"/>
              <a:gd name="T2" fmla="*/ 0 w 2674"/>
              <a:gd name="T3" fmla="*/ 4956175 h 2362"/>
              <a:gd name="T4" fmla="*/ 0 w 2674"/>
              <a:gd name="T5" fmla="*/ 0 h 2362"/>
              <a:gd name="T6" fmla="*/ 0 60000 65536"/>
              <a:gd name="T7" fmla="*/ 0 60000 65536"/>
              <a:gd name="T8" fmla="*/ 0 60000 65536"/>
              <a:gd name="T9" fmla="*/ 0 w 2674"/>
              <a:gd name="T10" fmla="*/ 0 h 2362"/>
              <a:gd name="T11" fmla="*/ 2674 w 2674"/>
              <a:gd name="T12" fmla="*/ 2362 h 2362"/>
            </a:gdLst>
            <a:ahLst/>
            <a:cxnLst>
              <a:cxn ang="T6">
                <a:pos x="T0" y="T1"/>
              </a:cxn>
              <a:cxn ang="T7">
                <a:pos x="T2" y="T3"/>
              </a:cxn>
              <a:cxn ang="T8">
                <a:pos x="T4" y="T5"/>
              </a:cxn>
            </a:cxnLst>
            <a:rect l="T9" t="T10" r="T11" b="T12"/>
            <a:pathLst>
              <a:path w="2674" h="2362">
                <a:moveTo>
                  <a:pt x="2674" y="2362"/>
                </a:moveTo>
                <a:lnTo>
                  <a:pt x="0" y="2362"/>
                </a:lnTo>
                <a:lnTo>
                  <a:pt x="0" y="0"/>
                </a:lnTo>
              </a:path>
            </a:pathLst>
          </a:custGeom>
          <a:noFill/>
          <a:ln w="9525" cap="flat">
            <a:solidFill>
              <a:srgbClr val="000000"/>
            </a:solidFill>
            <a:prstDash val="solid"/>
            <a:miter lim="800000"/>
            <a:headEnd/>
            <a:tailEnd/>
          </a:ln>
        </p:spPr>
        <p:txBody>
          <a:bodyPr/>
          <a:lstStyle/>
          <a:p>
            <a:endParaRPr lang="en-US"/>
          </a:p>
        </p:txBody>
      </p:sp>
      <p:sp>
        <p:nvSpPr>
          <p:cNvPr id="58383" name="Oval 22"/>
          <p:cNvSpPr>
            <a:spLocks noChangeArrowheads="1"/>
          </p:cNvSpPr>
          <p:nvPr/>
        </p:nvSpPr>
        <p:spPr bwMode="auto">
          <a:xfrm>
            <a:off x="5434013" y="3414713"/>
            <a:ext cx="149225" cy="127000"/>
          </a:xfrm>
          <a:prstGeom prst="ellipse">
            <a:avLst/>
          </a:prstGeom>
          <a:solidFill>
            <a:srgbClr val="000000"/>
          </a:solidFill>
          <a:ln w="9525">
            <a:noFill/>
            <a:round/>
            <a:headEnd/>
            <a:tailEnd/>
          </a:ln>
        </p:spPr>
        <p:txBody>
          <a:bodyPr/>
          <a:lstStyle/>
          <a:p>
            <a:endParaRPr lang="en-US"/>
          </a:p>
        </p:txBody>
      </p:sp>
      <p:sp>
        <p:nvSpPr>
          <p:cNvPr id="58384" name="Oval 23"/>
          <p:cNvSpPr>
            <a:spLocks noChangeArrowheads="1"/>
          </p:cNvSpPr>
          <p:nvPr/>
        </p:nvSpPr>
        <p:spPr bwMode="auto">
          <a:xfrm>
            <a:off x="4094163" y="2636838"/>
            <a:ext cx="149225" cy="128587"/>
          </a:xfrm>
          <a:prstGeom prst="ellipse">
            <a:avLst/>
          </a:prstGeom>
          <a:solidFill>
            <a:srgbClr val="000000"/>
          </a:solidFill>
          <a:ln w="9525">
            <a:noFill/>
            <a:round/>
            <a:headEnd/>
            <a:tailEnd/>
          </a:ln>
        </p:spPr>
        <p:txBody>
          <a:bodyPr/>
          <a:lstStyle/>
          <a:p>
            <a:endParaRPr lang="en-US"/>
          </a:p>
        </p:txBody>
      </p:sp>
      <p:sp>
        <p:nvSpPr>
          <p:cNvPr id="58385" name="Oval 24"/>
          <p:cNvSpPr>
            <a:spLocks noChangeArrowheads="1"/>
          </p:cNvSpPr>
          <p:nvPr/>
        </p:nvSpPr>
        <p:spPr bwMode="auto">
          <a:xfrm>
            <a:off x="4094163" y="4200525"/>
            <a:ext cx="149225" cy="125413"/>
          </a:xfrm>
          <a:prstGeom prst="ellipse">
            <a:avLst/>
          </a:prstGeom>
          <a:solidFill>
            <a:srgbClr val="000000"/>
          </a:solidFill>
          <a:ln w="9525">
            <a:noFill/>
            <a:round/>
            <a:headEnd/>
            <a:tailEnd/>
          </a:ln>
        </p:spPr>
        <p:txBody>
          <a:bodyPr/>
          <a:lstStyle/>
          <a:p>
            <a:endParaRPr lang="en-US"/>
          </a:p>
        </p:txBody>
      </p:sp>
      <p:sp>
        <p:nvSpPr>
          <p:cNvPr id="58386" name="Rectangle 25"/>
          <p:cNvSpPr>
            <a:spLocks noChangeArrowheads="1"/>
          </p:cNvSpPr>
          <p:nvPr/>
        </p:nvSpPr>
        <p:spPr bwMode="auto">
          <a:xfrm>
            <a:off x="1781175" y="974725"/>
            <a:ext cx="1190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P</a:t>
            </a:r>
            <a:endParaRPr lang="en-US" sz="1400">
              <a:latin typeface="Tahoma" pitchFamily="34" charset="0"/>
            </a:endParaRPr>
          </a:p>
        </p:txBody>
      </p:sp>
      <p:sp>
        <p:nvSpPr>
          <p:cNvPr id="58387" name="Rectangle 26"/>
          <p:cNvSpPr>
            <a:spLocks noChangeArrowheads="1"/>
          </p:cNvSpPr>
          <p:nvPr/>
        </p:nvSpPr>
        <p:spPr bwMode="auto">
          <a:xfrm>
            <a:off x="1919288" y="974725"/>
            <a:ext cx="5873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r</a:t>
            </a:r>
            <a:endParaRPr lang="en-US" sz="1400">
              <a:latin typeface="Tahoma" pitchFamily="34" charset="0"/>
            </a:endParaRPr>
          </a:p>
        </p:txBody>
      </p:sp>
      <p:sp>
        <p:nvSpPr>
          <p:cNvPr id="58388" name="Rectangle 27"/>
          <p:cNvSpPr>
            <a:spLocks noChangeArrowheads="1"/>
          </p:cNvSpPr>
          <p:nvPr/>
        </p:nvSpPr>
        <p:spPr bwMode="auto">
          <a:xfrm>
            <a:off x="2008188" y="974725"/>
            <a:ext cx="396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i</a:t>
            </a:r>
            <a:endParaRPr lang="en-US" sz="1400">
              <a:latin typeface="Tahoma" pitchFamily="34" charset="0"/>
            </a:endParaRPr>
          </a:p>
        </p:txBody>
      </p:sp>
      <p:sp>
        <p:nvSpPr>
          <p:cNvPr id="58389" name="Rectangle 28"/>
          <p:cNvSpPr>
            <a:spLocks noChangeArrowheads="1"/>
          </p:cNvSpPr>
          <p:nvPr/>
        </p:nvSpPr>
        <p:spPr bwMode="auto">
          <a:xfrm>
            <a:off x="2070100" y="974725"/>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c</a:t>
            </a:r>
            <a:endParaRPr lang="en-US" sz="1400">
              <a:latin typeface="Tahoma" pitchFamily="34" charset="0"/>
            </a:endParaRPr>
          </a:p>
        </p:txBody>
      </p:sp>
      <p:sp>
        <p:nvSpPr>
          <p:cNvPr id="58390" name="Rectangle 29"/>
          <p:cNvSpPr>
            <a:spLocks noChangeArrowheads="1"/>
          </p:cNvSpPr>
          <p:nvPr/>
        </p:nvSpPr>
        <p:spPr bwMode="auto">
          <a:xfrm>
            <a:off x="2189163" y="9747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e</a:t>
            </a:r>
            <a:endParaRPr lang="en-US" sz="1400">
              <a:latin typeface="Tahoma" pitchFamily="34" charset="0"/>
            </a:endParaRPr>
          </a:p>
        </p:txBody>
      </p:sp>
      <p:sp>
        <p:nvSpPr>
          <p:cNvPr id="58391" name="Rectangle 30"/>
          <p:cNvSpPr>
            <a:spLocks noChangeArrowheads="1"/>
          </p:cNvSpPr>
          <p:nvPr/>
        </p:nvSpPr>
        <p:spPr bwMode="auto">
          <a:xfrm>
            <a:off x="4075113" y="59817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58392" name="Rectangle 31"/>
          <p:cNvSpPr>
            <a:spLocks noChangeArrowheads="1"/>
          </p:cNvSpPr>
          <p:nvPr/>
        </p:nvSpPr>
        <p:spPr bwMode="auto">
          <a:xfrm>
            <a:off x="4219575" y="6122988"/>
            <a:ext cx="169863"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Roman"/>
              </a:rPr>
              <a:t>T</a:t>
            </a:r>
            <a:endParaRPr lang="en-US" sz="1400" i="1">
              <a:latin typeface="Tahoma" pitchFamily="34" charset="0"/>
            </a:endParaRPr>
          </a:p>
        </p:txBody>
      </p:sp>
      <p:sp>
        <p:nvSpPr>
          <p:cNvPr id="58393" name="Rectangle 32"/>
          <p:cNvSpPr>
            <a:spLocks noChangeArrowheads="1"/>
          </p:cNvSpPr>
          <p:nvPr/>
        </p:nvSpPr>
        <p:spPr bwMode="auto">
          <a:xfrm>
            <a:off x="2055813" y="33147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58394" name="Rectangle 33"/>
          <p:cNvSpPr>
            <a:spLocks noChangeArrowheads="1"/>
          </p:cNvSpPr>
          <p:nvPr/>
        </p:nvSpPr>
        <p:spPr bwMode="auto">
          <a:xfrm>
            <a:off x="2130425" y="3452813"/>
            <a:ext cx="201613"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58395" name="Rectangle 34"/>
          <p:cNvSpPr>
            <a:spLocks noChangeArrowheads="1"/>
          </p:cNvSpPr>
          <p:nvPr/>
        </p:nvSpPr>
        <p:spPr bwMode="auto">
          <a:xfrm>
            <a:off x="2038350" y="25590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58396" name="Rectangle 35"/>
          <p:cNvSpPr>
            <a:spLocks noChangeArrowheads="1"/>
          </p:cNvSpPr>
          <p:nvPr/>
        </p:nvSpPr>
        <p:spPr bwMode="auto">
          <a:xfrm>
            <a:off x="2130425" y="2697163"/>
            <a:ext cx="193675"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58397" name="Rectangle 36"/>
          <p:cNvSpPr>
            <a:spLocks noChangeArrowheads="1"/>
          </p:cNvSpPr>
          <p:nvPr/>
        </p:nvSpPr>
        <p:spPr bwMode="auto">
          <a:xfrm>
            <a:off x="2047875" y="40989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58398" name="Rectangle 37"/>
          <p:cNvSpPr>
            <a:spLocks noChangeArrowheads="1"/>
          </p:cNvSpPr>
          <p:nvPr/>
        </p:nvSpPr>
        <p:spPr bwMode="auto">
          <a:xfrm>
            <a:off x="2130425" y="42052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351270" name="Rectangle 38"/>
          <p:cNvSpPr>
            <a:spLocks noChangeArrowheads="1"/>
          </p:cNvSpPr>
          <p:nvPr/>
        </p:nvSpPr>
        <p:spPr bwMode="auto">
          <a:xfrm>
            <a:off x="3227388" y="37020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351271" name="Rectangle 39"/>
          <p:cNvSpPr>
            <a:spLocks noChangeArrowheads="1"/>
          </p:cNvSpPr>
          <p:nvPr/>
        </p:nvSpPr>
        <p:spPr bwMode="auto">
          <a:xfrm>
            <a:off x="3251200" y="30273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a:t>
            </a:r>
            <a:endParaRPr lang="en-US" sz="1400" i="1">
              <a:latin typeface="Tahoma" pitchFamily="34" charset="0"/>
            </a:endParaRPr>
          </a:p>
        </p:txBody>
      </p:sp>
      <p:sp>
        <p:nvSpPr>
          <p:cNvPr id="351272" name="Rectangle 40"/>
          <p:cNvSpPr>
            <a:spLocks noChangeArrowheads="1"/>
          </p:cNvSpPr>
          <p:nvPr/>
        </p:nvSpPr>
        <p:spPr bwMode="auto">
          <a:xfrm>
            <a:off x="4452938" y="31067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B</a:t>
            </a:r>
            <a:endParaRPr lang="en-US" sz="1400" i="1">
              <a:latin typeface="Tahoma" pitchFamily="34" charset="0"/>
            </a:endParaRPr>
          </a:p>
        </p:txBody>
      </p:sp>
      <p:sp>
        <p:nvSpPr>
          <p:cNvPr id="351273" name="Rectangle 41"/>
          <p:cNvSpPr>
            <a:spLocks noChangeArrowheads="1"/>
          </p:cNvSpPr>
          <p:nvPr/>
        </p:nvSpPr>
        <p:spPr bwMode="auto">
          <a:xfrm>
            <a:off x="4438650" y="3622675"/>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F</a:t>
            </a:r>
            <a:endParaRPr lang="en-US" sz="1400" i="1">
              <a:latin typeface="Tahoma" pitchFamily="34" charset="0"/>
            </a:endParaRPr>
          </a:p>
        </p:txBody>
      </p:sp>
      <p:sp>
        <p:nvSpPr>
          <p:cNvPr id="351274" name="Freeform 42"/>
          <p:cNvSpPr>
            <a:spLocks/>
          </p:cNvSpPr>
          <p:nvPr/>
        </p:nvSpPr>
        <p:spPr bwMode="auto">
          <a:xfrm>
            <a:off x="1808163" y="2713038"/>
            <a:ext cx="187325" cy="1536700"/>
          </a:xfrm>
          <a:custGeom>
            <a:avLst/>
            <a:gdLst>
              <a:gd name="T0" fmla="*/ 187325 w 25"/>
              <a:gd name="T1" fmla="*/ 0 h 243"/>
              <a:gd name="T2" fmla="*/ 74930 w 25"/>
              <a:gd name="T3" fmla="*/ 101182 h 243"/>
              <a:gd name="T4" fmla="*/ 74930 w 25"/>
              <a:gd name="T5" fmla="*/ 701949 h 243"/>
              <a:gd name="T6" fmla="*/ 0 w 25"/>
              <a:gd name="T7" fmla="*/ 765188 h 243"/>
              <a:gd name="T8" fmla="*/ 74930 w 25"/>
              <a:gd name="T9" fmla="*/ 834751 h 243"/>
              <a:gd name="T10" fmla="*/ 74930 w 25"/>
              <a:gd name="T11" fmla="*/ 1435518 h 243"/>
              <a:gd name="T12" fmla="*/ 187325 w 25"/>
              <a:gd name="T13" fmla="*/ 1536700 h 243"/>
              <a:gd name="T14" fmla="*/ 0 60000 65536"/>
              <a:gd name="T15" fmla="*/ 0 60000 65536"/>
              <a:gd name="T16" fmla="*/ 0 60000 65536"/>
              <a:gd name="T17" fmla="*/ 0 60000 65536"/>
              <a:gd name="T18" fmla="*/ 0 60000 65536"/>
              <a:gd name="T19" fmla="*/ 0 60000 65536"/>
              <a:gd name="T20" fmla="*/ 0 60000 65536"/>
              <a:gd name="T21" fmla="*/ 0 w 25"/>
              <a:gd name="T22" fmla="*/ 0 h 243"/>
              <a:gd name="T23" fmla="*/ 25 w 25"/>
              <a:gd name="T24" fmla="*/ 243 h 2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43">
                <a:moveTo>
                  <a:pt x="25" y="0"/>
                </a:moveTo>
                <a:cubicBezTo>
                  <a:pt x="15" y="0"/>
                  <a:pt x="10" y="3"/>
                  <a:pt x="10" y="16"/>
                </a:cubicBezTo>
                <a:cubicBezTo>
                  <a:pt x="10" y="19"/>
                  <a:pt x="10" y="109"/>
                  <a:pt x="10" y="111"/>
                </a:cubicBezTo>
                <a:cubicBezTo>
                  <a:pt x="10" y="114"/>
                  <a:pt x="8" y="121"/>
                  <a:pt x="0" y="121"/>
                </a:cubicBezTo>
                <a:cubicBezTo>
                  <a:pt x="8" y="121"/>
                  <a:pt x="10" y="128"/>
                  <a:pt x="10" y="132"/>
                </a:cubicBezTo>
                <a:cubicBezTo>
                  <a:pt x="10" y="134"/>
                  <a:pt x="10" y="224"/>
                  <a:pt x="10" y="227"/>
                </a:cubicBezTo>
                <a:cubicBezTo>
                  <a:pt x="10" y="240"/>
                  <a:pt x="15" y="243"/>
                  <a:pt x="25" y="243"/>
                </a:cubicBezTo>
              </a:path>
            </a:pathLst>
          </a:custGeom>
          <a:noFill/>
          <a:ln w="28575" cap="flat">
            <a:solidFill>
              <a:srgbClr val="6D6F71"/>
            </a:solidFill>
            <a:prstDash val="solid"/>
            <a:round/>
            <a:headEnd/>
            <a:tailEnd/>
          </a:ln>
        </p:spPr>
        <p:txBody>
          <a:bodyPr/>
          <a:lstStyle/>
          <a:p>
            <a:endParaRPr lang="en-US"/>
          </a:p>
        </p:txBody>
      </p:sp>
      <p:sp>
        <p:nvSpPr>
          <p:cNvPr id="351275" name="Freeform 43"/>
          <p:cNvSpPr>
            <a:spLocks/>
          </p:cNvSpPr>
          <p:nvPr/>
        </p:nvSpPr>
        <p:spPr bwMode="auto">
          <a:xfrm>
            <a:off x="927100" y="3175000"/>
            <a:ext cx="777875" cy="746125"/>
          </a:xfrm>
          <a:custGeom>
            <a:avLst/>
            <a:gdLst>
              <a:gd name="T0" fmla="*/ 777875 w 128"/>
              <a:gd name="T1" fmla="*/ 621771 h 96"/>
              <a:gd name="T2" fmla="*/ 680640 w 128"/>
              <a:gd name="T3" fmla="*/ 746125 h 96"/>
              <a:gd name="T4" fmla="*/ 97234 w 128"/>
              <a:gd name="T5" fmla="*/ 746125 h 96"/>
              <a:gd name="T6" fmla="*/ 0 w 128"/>
              <a:gd name="T7" fmla="*/ 621771 h 96"/>
              <a:gd name="T8" fmla="*/ 0 w 128"/>
              <a:gd name="T9" fmla="*/ 124354 h 96"/>
              <a:gd name="T10" fmla="*/ 97234 w 128"/>
              <a:gd name="T11" fmla="*/ 0 h 96"/>
              <a:gd name="T12" fmla="*/ 680640 w 128"/>
              <a:gd name="T13" fmla="*/ 0 h 96"/>
              <a:gd name="T14" fmla="*/ 777875 w 128"/>
              <a:gd name="T15" fmla="*/ 124354 h 96"/>
              <a:gd name="T16" fmla="*/ 777875 w 128"/>
              <a:gd name="T17" fmla="*/ 621771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96"/>
              <a:gd name="T29" fmla="*/ 128 w 128"/>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8" h="96">
                <a:moveTo>
                  <a:pt x="128" y="80"/>
                </a:moveTo>
                <a:cubicBezTo>
                  <a:pt x="128" y="89"/>
                  <a:pt x="120" y="96"/>
                  <a:pt x="112" y="96"/>
                </a:cubicBezTo>
                <a:cubicBezTo>
                  <a:pt x="16" y="96"/>
                  <a:pt x="16" y="96"/>
                  <a:pt x="16" y="96"/>
                </a:cubicBezTo>
                <a:cubicBezTo>
                  <a:pt x="8" y="96"/>
                  <a:pt x="0" y="89"/>
                  <a:pt x="0" y="80"/>
                </a:cubicBezTo>
                <a:cubicBezTo>
                  <a:pt x="0" y="16"/>
                  <a:pt x="0" y="16"/>
                  <a:pt x="0" y="16"/>
                </a:cubicBezTo>
                <a:cubicBezTo>
                  <a:pt x="0" y="7"/>
                  <a:pt x="8" y="0"/>
                  <a:pt x="16" y="0"/>
                </a:cubicBezTo>
                <a:cubicBezTo>
                  <a:pt x="112" y="0"/>
                  <a:pt x="112" y="0"/>
                  <a:pt x="112" y="0"/>
                </a:cubicBezTo>
                <a:cubicBezTo>
                  <a:pt x="120" y="0"/>
                  <a:pt x="128" y="7"/>
                  <a:pt x="128" y="16"/>
                </a:cubicBezTo>
                <a:lnTo>
                  <a:pt x="128" y="80"/>
                </a:lnTo>
                <a:close/>
              </a:path>
            </a:pathLst>
          </a:custGeom>
          <a:solidFill>
            <a:srgbClr val="D6E2E0"/>
          </a:solidFill>
          <a:ln w="9525">
            <a:noFill/>
            <a:round/>
            <a:headEnd/>
            <a:tailEnd/>
          </a:ln>
        </p:spPr>
        <p:txBody>
          <a:bodyPr/>
          <a:lstStyle/>
          <a:p>
            <a:endParaRPr lang="en-US"/>
          </a:p>
        </p:txBody>
      </p:sp>
      <p:sp>
        <p:nvSpPr>
          <p:cNvPr id="351276" name="Rectangle 44"/>
          <p:cNvSpPr>
            <a:spLocks noChangeArrowheads="1"/>
          </p:cNvSpPr>
          <p:nvPr/>
        </p:nvSpPr>
        <p:spPr bwMode="auto">
          <a:xfrm>
            <a:off x="906463" y="3244850"/>
            <a:ext cx="798512"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a:t>
            </a:r>
          </a:p>
          <a:p>
            <a:pPr marL="1588" indent="-1588" algn="ctr"/>
            <a:r>
              <a:rPr lang="en-US" sz="1400">
                <a:solidFill>
                  <a:srgbClr val="000000"/>
                </a:solidFill>
                <a:latin typeface="Myriad Roman"/>
              </a:rPr>
              <a:t>= </a:t>
            </a:r>
            <a:r>
              <a:rPr lang="en-US" sz="1400" i="1">
                <a:solidFill>
                  <a:srgbClr val="000000"/>
                </a:solidFill>
                <a:latin typeface="Myriad Roman"/>
              </a:rPr>
              <a:t>T</a:t>
            </a:r>
            <a:endParaRPr lang="en-US" sz="1400" i="1">
              <a:latin typeface="Tahoma" pitchFamily="34" charset="0"/>
            </a:endParaRPr>
          </a:p>
        </p:txBody>
      </p:sp>
      <p:grpSp>
        <p:nvGrpSpPr>
          <p:cNvPr id="2" name="Group 141"/>
          <p:cNvGrpSpPr>
            <a:grpSpLocks/>
          </p:cNvGrpSpPr>
          <p:nvPr/>
        </p:nvGrpSpPr>
        <p:grpSpPr bwMode="auto">
          <a:xfrm>
            <a:off x="3395663" y="1423988"/>
            <a:ext cx="2347912" cy="1820862"/>
            <a:chOff x="1953" y="907"/>
            <a:chExt cx="1479" cy="1147"/>
          </a:xfrm>
        </p:grpSpPr>
        <p:sp>
          <p:nvSpPr>
            <p:cNvPr id="58500" name="Freeform 47"/>
            <p:cNvSpPr>
              <a:spLocks/>
            </p:cNvSpPr>
            <p:nvPr/>
          </p:nvSpPr>
          <p:spPr bwMode="auto">
            <a:xfrm>
              <a:off x="1953" y="1281"/>
              <a:ext cx="858" cy="773"/>
            </a:xfrm>
            <a:custGeom>
              <a:avLst/>
              <a:gdLst>
                <a:gd name="T0" fmla="*/ 0 w 551"/>
                <a:gd name="T1" fmla="*/ 566 h 585"/>
                <a:gd name="T2" fmla="*/ 674 w 551"/>
                <a:gd name="T3" fmla="*/ 0 h 585"/>
                <a:gd name="T4" fmla="*/ 858 w 551"/>
                <a:gd name="T5" fmla="*/ 773 h 585"/>
                <a:gd name="T6" fmla="*/ 0 60000 65536"/>
                <a:gd name="T7" fmla="*/ 0 60000 65536"/>
                <a:gd name="T8" fmla="*/ 0 60000 65536"/>
                <a:gd name="T9" fmla="*/ 0 w 551"/>
                <a:gd name="T10" fmla="*/ 0 h 585"/>
                <a:gd name="T11" fmla="*/ 551 w 551"/>
                <a:gd name="T12" fmla="*/ 585 h 585"/>
              </a:gdLst>
              <a:ahLst/>
              <a:cxnLst>
                <a:cxn ang="T6">
                  <a:pos x="T0" y="T1"/>
                </a:cxn>
                <a:cxn ang="T7">
                  <a:pos x="T2" y="T3"/>
                </a:cxn>
                <a:cxn ang="T8">
                  <a:pos x="T4" y="T5"/>
                </a:cxn>
              </a:cxnLst>
              <a:rect l="T9" t="T10" r="T11" b="T12"/>
              <a:pathLst>
                <a:path w="551" h="585">
                  <a:moveTo>
                    <a:pt x="0" y="428"/>
                  </a:moveTo>
                  <a:lnTo>
                    <a:pt x="433" y="0"/>
                  </a:lnTo>
                  <a:lnTo>
                    <a:pt x="551" y="585"/>
                  </a:lnTo>
                </a:path>
              </a:pathLst>
            </a:custGeom>
            <a:noFill/>
            <a:ln w="9525" cap="flat">
              <a:solidFill>
                <a:srgbClr val="000000"/>
              </a:solidFill>
              <a:prstDash val="solid"/>
              <a:miter lim="800000"/>
              <a:headEnd/>
              <a:tailEnd/>
            </a:ln>
          </p:spPr>
          <p:txBody>
            <a:bodyPr/>
            <a:lstStyle/>
            <a:p>
              <a:endParaRPr lang="en-US"/>
            </a:p>
          </p:txBody>
        </p:sp>
        <p:sp>
          <p:nvSpPr>
            <p:cNvPr id="58501" name="Freeform 48"/>
            <p:cNvSpPr>
              <a:spLocks/>
            </p:cNvSpPr>
            <p:nvPr/>
          </p:nvSpPr>
          <p:spPr bwMode="auto">
            <a:xfrm>
              <a:off x="2148" y="907"/>
              <a:ext cx="1284" cy="382"/>
            </a:xfrm>
            <a:custGeom>
              <a:avLst/>
              <a:gdLst>
                <a:gd name="T0" fmla="*/ 1284 w 274"/>
                <a:gd name="T1" fmla="*/ 318 h 96"/>
                <a:gd name="T2" fmla="*/ 1209 w 274"/>
                <a:gd name="T3" fmla="*/ 382 h 96"/>
                <a:gd name="T4" fmla="*/ 75 w 274"/>
                <a:gd name="T5" fmla="*/ 382 h 96"/>
                <a:gd name="T6" fmla="*/ 0 w 274"/>
                <a:gd name="T7" fmla="*/ 318 h 96"/>
                <a:gd name="T8" fmla="*/ 0 w 274"/>
                <a:gd name="T9" fmla="*/ 64 h 96"/>
                <a:gd name="T10" fmla="*/ 75 w 274"/>
                <a:gd name="T11" fmla="*/ 0 h 96"/>
                <a:gd name="T12" fmla="*/ 1209 w 274"/>
                <a:gd name="T13" fmla="*/ 0 h 96"/>
                <a:gd name="T14" fmla="*/ 1284 w 274"/>
                <a:gd name="T15" fmla="*/ 64 h 96"/>
                <a:gd name="T16" fmla="*/ 1284 w 274"/>
                <a:gd name="T17" fmla="*/ 318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4"/>
                <a:gd name="T28" fmla="*/ 0 h 96"/>
                <a:gd name="T29" fmla="*/ 274 w 274"/>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4" h="96">
                  <a:moveTo>
                    <a:pt x="274" y="80"/>
                  </a:moveTo>
                  <a:cubicBezTo>
                    <a:pt x="274" y="89"/>
                    <a:pt x="267" y="96"/>
                    <a:pt x="258" y="96"/>
                  </a:cubicBezTo>
                  <a:cubicBezTo>
                    <a:pt x="16" y="96"/>
                    <a:pt x="16" y="96"/>
                    <a:pt x="16" y="96"/>
                  </a:cubicBezTo>
                  <a:cubicBezTo>
                    <a:pt x="7" y="96"/>
                    <a:pt x="0" y="89"/>
                    <a:pt x="0" y="80"/>
                  </a:cubicBezTo>
                  <a:cubicBezTo>
                    <a:pt x="0" y="16"/>
                    <a:pt x="0" y="16"/>
                    <a:pt x="0" y="16"/>
                  </a:cubicBezTo>
                  <a:cubicBezTo>
                    <a:pt x="0" y="7"/>
                    <a:pt x="7" y="0"/>
                    <a:pt x="16" y="0"/>
                  </a:cubicBezTo>
                  <a:cubicBezTo>
                    <a:pt x="258" y="0"/>
                    <a:pt x="258" y="0"/>
                    <a:pt x="258" y="0"/>
                  </a:cubicBezTo>
                  <a:cubicBezTo>
                    <a:pt x="267" y="0"/>
                    <a:pt x="274" y="7"/>
                    <a:pt x="274" y="16"/>
                  </a:cubicBezTo>
                  <a:lnTo>
                    <a:pt x="274" y="80"/>
                  </a:lnTo>
                  <a:close/>
                </a:path>
              </a:pathLst>
            </a:custGeom>
            <a:solidFill>
              <a:srgbClr val="D6E2E0"/>
            </a:solidFill>
            <a:ln w="9525">
              <a:noFill/>
              <a:round/>
              <a:headEnd/>
              <a:tailEnd/>
            </a:ln>
          </p:spPr>
          <p:txBody>
            <a:bodyPr/>
            <a:lstStyle/>
            <a:p>
              <a:endParaRPr lang="en-US"/>
            </a:p>
          </p:txBody>
        </p:sp>
        <p:sp>
          <p:nvSpPr>
            <p:cNvPr id="58502" name="Rectangle 49"/>
            <p:cNvSpPr>
              <a:spLocks noChangeArrowheads="1"/>
            </p:cNvSpPr>
            <p:nvPr/>
          </p:nvSpPr>
          <p:spPr bwMode="auto">
            <a:xfrm>
              <a:off x="2115" y="967"/>
              <a:ext cx="1306" cy="271"/>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Fall in consumer surplus due to tax</a:t>
              </a:r>
              <a:endParaRPr lang="en-US" sz="1400">
                <a:latin typeface="Tahoma" pitchFamily="34" charset="0"/>
              </a:endParaRPr>
            </a:p>
          </p:txBody>
        </p:sp>
      </p:grpSp>
      <p:sp>
        <p:nvSpPr>
          <p:cNvPr id="58407" name="Oval 50"/>
          <p:cNvSpPr>
            <a:spLocks noChangeArrowheads="1"/>
          </p:cNvSpPr>
          <p:nvPr/>
        </p:nvSpPr>
        <p:spPr bwMode="auto">
          <a:xfrm>
            <a:off x="5486400" y="4141788"/>
            <a:ext cx="30163" cy="25400"/>
          </a:xfrm>
          <a:prstGeom prst="ellipse">
            <a:avLst/>
          </a:prstGeom>
          <a:solidFill>
            <a:srgbClr val="000000"/>
          </a:solidFill>
          <a:ln w="9525">
            <a:noFill/>
            <a:round/>
            <a:headEnd/>
            <a:tailEnd/>
          </a:ln>
        </p:spPr>
        <p:txBody>
          <a:bodyPr/>
          <a:lstStyle/>
          <a:p>
            <a:endParaRPr lang="en-US"/>
          </a:p>
        </p:txBody>
      </p:sp>
      <p:sp>
        <p:nvSpPr>
          <p:cNvPr id="58408" name="Oval 51"/>
          <p:cNvSpPr>
            <a:spLocks noChangeArrowheads="1"/>
          </p:cNvSpPr>
          <p:nvPr/>
        </p:nvSpPr>
        <p:spPr bwMode="auto">
          <a:xfrm>
            <a:off x="5486400" y="4256088"/>
            <a:ext cx="30163" cy="25400"/>
          </a:xfrm>
          <a:prstGeom prst="ellipse">
            <a:avLst/>
          </a:prstGeom>
          <a:solidFill>
            <a:srgbClr val="000000"/>
          </a:solidFill>
          <a:ln w="9525">
            <a:noFill/>
            <a:round/>
            <a:headEnd/>
            <a:tailEnd/>
          </a:ln>
        </p:spPr>
        <p:txBody>
          <a:bodyPr/>
          <a:lstStyle/>
          <a:p>
            <a:endParaRPr lang="en-US"/>
          </a:p>
        </p:txBody>
      </p:sp>
      <p:sp>
        <p:nvSpPr>
          <p:cNvPr id="58409" name="Oval 52"/>
          <p:cNvSpPr>
            <a:spLocks noChangeArrowheads="1"/>
          </p:cNvSpPr>
          <p:nvPr/>
        </p:nvSpPr>
        <p:spPr bwMode="auto">
          <a:xfrm>
            <a:off x="5486400" y="4370388"/>
            <a:ext cx="30163" cy="25400"/>
          </a:xfrm>
          <a:prstGeom prst="ellipse">
            <a:avLst/>
          </a:prstGeom>
          <a:solidFill>
            <a:srgbClr val="000000"/>
          </a:solidFill>
          <a:ln w="9525">
            <a:noFill/>
            <a:round/>
            <a:headEnd/>
            <a:tailEnd/>
          </a:ln>
        </p:spPr>
        <p:txBody>
          <a:bodyPr/>
          <a:lstStyle/>
          <a:p>
            <a:endParaRPr lang="en-US"/>
          </a:p>
        </p:txBody>
      </p:sp>
      <p:sp>
        <p:nvSpPr>
          <p:cNvPr id="58410" name="Oval 53"/>
          <p:cNvSpPr>
            <a:spLocks noChangeArrowheads="1"/>
          </p:cNvSpPr>
          <p:nvPr/>
        </p:nvSpPr>
        <p:spPr bwMode="auto">
          <a:xfrm>
            <a:off x="5486400" y="4483100"/>
            <a:ext cx="30163" cy="25400"/>
          </a:xfrm>
          <a:prstGeom prst="ellipse">
            <a:avLst/>
          </a:prstGeom>
          <a:solidFill>
            <a:srgbClr val="000000"/>
          </a:solidFill>
          <a:ln w="9525">
            <a:noFill/>
            <a:round/>
            <a:headEnd/>
            <a:tailEnd/>
          </a:ln>
        </p:spPr>
        <p:txBody>
          <a:bodyPr/>
          <a:lstStyle/>
          <a:p>
            <a:endParaRPr lang="en-US"/>
          </a:p>
        </p:txBody>
      </p:sp>
      <p:sp>
        <p:nvSpPr>
          <p:cNvPr id="58411" name="Oval 54"/>
          <p:cNvSpPr>
            <a:spLocks noChangeArrowheads="1"/>
          </p:cNvSpPr>
          <p:nvPr/>
        </p:nvSpPr>
        <p:spPr bwMode="auto">
          <a:xfrm>
            <a:off x="5486400" y="4597400"/>
            <a:ext cx="30163" cy="23813"/>
          </a:xfrm>
          <a:prstGeom prst="ellipse">
            <a:avLst/>
          </a:prstGeom>
          <a:solidFill>
            <a:srgbClr val="000000"/>
          </a:solidFill>
          <a:ln w="9525">
            <a:noFill/>
            <a:round/>
            <a:headEnd/>
            <a:tailEnd/>
          </a:ln>
        </p:spPr>
        <p:txBody>
          <a:bodyPr/>
          <a:lstStyle/>
          <a:p>
            <a:endParaRPr lang="en-US"/>
          </a:p>
        </p:txBody>
      </p:sp>
      <p:sp>
        <p:nvSpPr>
          <p:cNvPr id="58412" name="Oval 55"/>
          <p:cNvSpPr>
            <a:spLocks noChangeArrowheads="1"/>
          </p:cNvSpPr>
          <p:nvPr/>
        </p:nvSpPr>
        <p:spPr bwMode="auto">
          <a:xfrm>
            <a:off x="5486400" y="4711700"/>
            <a:ext cx="30163" cy="25400"/>
          </a:xfrm>
          <a:prstGeom prst="ellipse">
            <a:avLst/>
          </a:prstGeom>
          <a:solidFill>
            <a:srgbClr val="000000"/>
          </a:solidFill>
          <a:ln w="9525">
            <a:noFill/>
            <a:round/>
            <a:headEnd/>
            <a:tailEnd/>
          </a:ln>
        </p:spPr>
        <p:txBody>
          <a:bodyPr/>
          <a:lstStyle/>
          <a:p>
            <a:endParaRPr lang="en-US"/>
          </a:p>
        </p:txBody>
      </p:sp>
      <p:sp>
        <p:nvSpPr>
          <p:cNvPr id="58413" name="Oval 56"/>
          <p:cNvSpPr>
            <a:spLocks noChangeArrowheads="1"/>
          </p:cNvSpPr>
          <p:nvPr/>
        </p:nvSpPr>
        <p:spPr bwMode="auto">
          <a:xfrm>
            <a:off x="5486400" y="5494338"/>
            <a:ext cx="30163" cy="25400"/>
          </a:xfrm>
          <a:prstGeom prst="ellipse">
            <a:avLst/>
          </a:prstGeom>
          <a:solidFill>
            <a:srgbClr val="000000"/>
          </a:solidFill>
          <a:ln w="9525">
            <a:noFill/>
            <a:round/>
            <a:headEnd/>
            <a:tailEnd/>
          </a:ln>
        </p:spPr>
        <p:txBody>
          <a:bodyPr/>
          <a:lstStyle/>
          <a:p>
            <a:endParaRPr lang="en-US"/>
          </a:p>
        </p:txBody>
      </p:sp>
      <p:sp>
        <p:nvSpPr>
          <p:cNvPr id="58414" name="Oval 57"/>
          <p:cNvSpPr>
            <a:spLocks noChangeArrowheads="1"/>
          </p:cNvSpPr>
          <p:nvPr/>
        </p:nvSpPr>
        <p:spPr bwMode="auto">
          <a:xfrm>
            <a:off x="5486400" y="5608638"/>
            <a:ext cx="30163" cy="26987"/>
          </a:xfrm>
          <a:prstGeom prst="ellipse">
            <a:avLst/>
          </a:prstGeom>
          <a:solidFill>
            <a:srgbClr val="000000"/>
          </a:solidFill>
          <a:ln w="9525">
            <a:noFill/>
            <a:round/>
            <a:headEnd/>
            <a:tailEnd/>
          </a:ln>
        </p:spPr>
        <p:txBody>
          <a:bodyPr/>
          <a:lstStyle/>
          <a:p>
            <a:endParaRPr lang="en-US"/>
          </a:p>
        </p:txBody>
      </p:sp>
      <p:sp>
        <p:nvSpPr>
          <p:cNvPr id="58415" name="Oval 58"/>
          <p:cNvSpPr>
            <a:spLocks noChangeArrowheads="1"/>
          </p:cNvSpPr>
          <p:nvPr/>
        </p:nvSpPr>
        <p:spPr bwMode="auto">
          <a:xfrm>
            <a:off x="5486400" y="3578225"/>
            <a:ext cx="30163" cy="25400"/>
          </a:xfrm>
          <a:prstGeom prst="ellipse">
            <a:avLst/>
          </a:prstGeom>
          <a:solidFill>
            <a:srgbClr val="000000"/>
          </a:solidFill>
          <a:ln w="9525">
            <a:noFill/>
            <a:round/>
            <a:headEnd/>
            <a:tailEnd/>
          </a:ln>
        </p:spPr>
        <p:txBody>
          <a:bodyPr/>
          <a:lstStyle/>
          <a:p>
            <a:endParaRPr lang="en-US"/>
          </a:p>
        </p:txBody>
      </p:sp>
      <p:sp>
        <p:nvSpPr>
          <p:cNvPr id="58416" name="Oval 59"/>
          <p:cNvSpPr>
            <a:spLocks noChangeArrowheads="1"/>
          </p:cNvSpPr>
          <p:nvPr/>
        </p:nvSpPr>
        <p:spPr bwMode="auto">
          <a:xfrm>
            <a:off x="5486400" y="3694113"/>
            <a:ext cx="30163" cy="25400"/>
          </a:xfrm>
          <a:prstGeom prst="ellipse">
            <a:avLst/>
          </a:prstGeom>
          <a:solidFill>
            <a:srgbClr val="000000"/>
          </a:solidFill>
          <a:ln w="9525">
            <a:noFill/>
            <a:round/>
            <a:headEnd/>
            <a:tailEnd/>
          </a:ln>
        </p:spPr>
        <p:txBody>
          <a:bodyPr/>
          <a:lstStyle/>
          <a:p>
            <a:endParaRPr lang="en-US"/>
          </a:p>
        </p:txBody>
      </p:sp>
      <p:sp>
        <p:nvSpPr>
          <p:cNvPr id="58417" name="Oval 60"/>
          <p:cNvSpPr>
            <a:spLocks noChangeArrowheads="1"/>
          </p:cNvSpPr>
          <p:nvPr/>
        </p:nvSpPr>
        <p:spPr bwMode="auto">
          <a:xfrm>
            <a:off x="5486400" y="3808413"/>
            <a:ext cx="30163" cy="23812"/>
          </a:xfrm>
          <a:prstGeom prst="ellipse">
            <a:avLst/>
          </a:prstGeom>
          <a:solidFill>
            <a:srgbClr val="000000"/>
          </a:solidFill>
          <a:ln w="9525">
            <a:noFill/>
            <a:round/>
            <a:headEnd/>
            <a:tailEnd/>
          </a:ln>
        </p:spPr>
        <p:txBody>
          <a:bodyPr/>
          <a:lstStyle/>
          <a:p>
            <a:endParaRPr lang="en-US"/>
          </a:p>
        </p:txBody>
      </p:sp>
      <p:sp>
        <p:nvSpPr>
          <p:cNvPr id="58418" name="Oval 61"/>
          <p:cNvSpPr>
            <a:spLocks noChangeArrowheads="1"/>
          </p:cNvSpPr>
          <p:nvPr/>
        </p:nvSpPr>
        <p:spPr bwMode="auto">
          <a:xfrm>
            <a:off x="5486400" y="3921125"/>
            <a:ext cx="30163" cy="25400"/>
          </a:xfrm>
          <a:prstGeom prst="ellipse">
            <a:avLst/>
          </a:prstGeom>
          <a:solidFill>
            <a:srgbClr val="000000"/>
          </a:solidFill>
          <a:ln w="9525">
            <a:noFill/>
            <a:round/>
            <a:headEnd/>
            <a:tailEnd/>
          </a:ln>
        </p:spPr>
        <p:txBody>
          <a:bodyPr/>
          <a:lstStyle/>
          <a:p>
            <a:endParaRPr lang="en-US"/>
          </a:p>
        </p:txBody>
      </p:sp>
      <p:sp>
        <p:nvSpPr>
          <p:cNvPr id="58419" name="Oval 62"/>
          <p:cNvSpPr>
            <a:spLocks noChangeArrowheads="1"/>
          </p:cNvSpPr>
          <p:nvPr/>
        </p:nvSpPr>
        <p:spPr bwMode="auto">
          <a:xfrm>
            <a:off x="5486400" y="4033838"/>
            <a:ext cx="30163" cy="25400"/>
          </a:xfrm>
          <a:prstGeom prst="ellipse">
            <a:avLst/>
          </a:prstGeom>
          <a:solidFill>
            <a:srgbClr val="000000"/>
          </a:solidFill>
          <a:ln w="9525">
            <a:noFill/>
            <a:round/>
            <a:headEnd/>
            <a:tailEnd/>
          </a:ln>
        </p:spPr>
        <p:txBody>
          <a:bodyPr/>
          <a:lstStyle/>
          <a:p>
            <a:endParaRPr lang="en-US"/>
          </a:p>
        </p:txBody>
      </p:sp>
      <p:sp>
        <p:nvSpPr>
          <p:cNvPr id="58420" name="Oval 63"/>
          <p:cNvSpPr>
            <a:spLocks noChangeArrowheads="1"/>
          </p:cNvSpPr>
          <p:nvPr/>
        </p:nvSpPr>
        <p:spPr bwMode="auto">
          <a:xfrm>
            <a:off x="5486400" y="5722938"/>
            <a:ext cx="30163" cy="25400"/>
          </a:xfrm>
          <a:prstGeom prst="ellipse">
            <a:avLst/>
          </a:prstGeom>
          <a:solidFill>
            <a:srgbClr val="000000"/>
          </a:solidFill>
          <a:ln w="9525">
            <a:noFill/>
            <a:round/>
            <a:headEnd/>
            <a:tailEnd/>
          </a:ln>
        </p:spPr>
        <p:txBody>
          <a:bodyPr/>
          <a:lstStyle/>
          <a:p>
            <a:endParaRPr lang="en-US"/>
          </a:p>
        </p:txBody>
      </p:sp>
      <p:sp>
        <p:nvSpPr>
          <p:cNvPr id="58421" name="Oval 64"/>
          <p:cNvSpPr>
            <a:spLocks noChangeArrowheads="1"/>
          </p:cNvSpPr>
          <p:nvPr/>
        </p:nvSpPr>
        <p:spPr bwMode="auto">
          <a:xfrm>
            <a:off x="5486400" y="5837238"/>
            <a:ext cx="30163" cy="25400"/>
          </a:xfrm>
          <a:prstGeom prst="ellipse">
            <a:avLst/>
          </a:prstGeom>
          <a:solidFill>
            <a:srgbClr val="000000"/>
          </a:solidFill>
          <a:ln w="9525">
            <a:noFill/>
            <a:round/>
            <a:headEnd/>
            <a:tailEnd/>
          </a:ln>
        </p:spPr>
        <p:txBody>
          <a:bodyPr/>
          <a:lstStyle/>
          <a:p>
            <a:endParaRPr lang="en-US"/>
          </a:p>
        </p:txBody>
      </p:sp>
      <p:sp>
        <p:nvSpPr>
          <p:cNvPr id="58422" name="Oval 65"/>
          <p:cNvSpPr>
            <a:spLocks noChangeArrowheads="1"/>
          </p:cNvSpPr>
          <p:nvPr/>
        </p:nvSpPr>
        <p:spPr bwMode="auto">
          <a:xfrm>
            <a:off x="4160838" y="4141788"/>
            <a:ext cx="30162" cy="25400"/>
          </a:xfrm>
          <a:prstGeom prst="ellipse">
            <a:avLst/>
          </a:prstGeom>
          <a:solidFill>
            <a:srgbClr val="000000"/>
          </a:solidFill>
          <a:ln w="9525">
            <a:noFill/>
            <a:round/>
            <a:headEnd/>
            <a:tailEnd/>
          </a:ln>
        </p:spPr>
        <p:txBody>
          <a:bodyPr/>
          <a:lstStyle/>
          <a:p>
            <a:endParaRPr lang="en-US"/>
          </a:p>
        </p:txBody>
      </p:sp>
      <p:sp>
        <p:nvSpPr>
          <p:cNvPr id="58423" name="Oval 66"/>
          <p:cNvSpPr>
            <a:spLocks noChangeArrowheads="1"/>
          </p:cNvSpPr>
          <p:nvPr/>
        </p:nvSpPr>
        <p:spPr bwMode="auto">
          <a:xfrm>
            <a:off x="4160838" y="4256088"/>
            <a:ext cx="30162" cy="25400"/>
          </a:xfrm>
          <a:prstGeom prst="ellipse">
            <a:avLst/>
          </a:prstGeom>
          <a:solidFill>
            <a:srgbClr val="000000"/>
          </a:solidFill>
          <a:ln w="9525">
            <a:noFill/>
            <a:round/>
            <a:headEnd/>
            <a:tailEnd/>
          </a:ln>
        </p:spPr>
        <p:txBody>
          <a:bodyPr/>
          <a:lstStyle/>
          <a:p>
            <a:endParaRPr lang="en-US"/>
          </a:p>
        </p:txBody>
      </p:sp>
      <p:sp>
        <p:nvSpPr>
          <p:cNvPr id="58424" name="Oval 67"/>
          <p:cNvSpPr>
            <a:spLocks noChangeArrowheads="1"/>
          </p:cNvSpPr>
          <p:nvPr/>
        </p:nvSpPr>
        <p:spPr bwMode="auto">
          <a:xfrm>
            <a:off x="4160838" y="4370388"/>
            <a:ext cx="30162" cy="25400"/>
          </a:xfrm>
          <a:prstGeom prst="ellipse">
            <a:avLst/>
          </a:prstGeom>
          <a:solidFill>
            <a:srgbClr val="000000"/>
          </a:solidFill>
          <a:ln w="9525">
            <a:noFill/>
            <a:round/>
            <a:headEnd/>
            <a:tailEnd/>
          </a:ln>
        </p:spPr>
        <p:txBody>
          <a:bodyPr/>
          <a:lstStyle/>
          <a:p>
            <a:endParaRPr lang="en-US"/>
          </a:p>
        </p:txBody>
      </p:sp>
      <p:sp>
        <p:nvSpPr>
          <p:cNvPr id="58425" name="Oval 68"/>
          <p:cNvSpPr>
            <a:spLocks noChangeArrowheads="1"/>
          </p:cNvSpPr>
          <p:nvPr/>
        </p:nvSpPr>
        <p:spPr bwMode="auto">
          <a:xfrm>
            <a:off x="4160838" y="4483100"/>
            <a:ext cx="30162" cy="25400"/>
          </a:xfrm>
          <a:prstGeom prst="ellipse">
            <a:avLst/>
          </a:prstGeom>
          <a:solidFill>
            <a:srgbClr val="000000"/>
          </a:solidFill>
          <a:ln w="9525">
            <a:noFill/>
            <a:round/>
            <a:headEnd/>
            <a:tailEnd/>
          </a:ln>
        </p:spPr>
        <p:txBody>
          <a:bodyPr/>
          <a:lstStyle/>
          <a:p>
            <a:endParaRPr lang="en-US"/>
          </a:p>
        </p:txBody>
      </p:sp>
      <p:sp>
        <p:nvSpPr>
          <p:cNvPr id="58426" name="Oval 69"/>
          <p:cNvSpPr>
            <a:spLocks noChangeArrowheads="1"/>
          </p:cNvSpPr>
          <p:nvPr/>
        </p:nvSpPr>
        <p:spPr bwMode="auto">
          <a:xfrm>
            <a:off x="4160838" y="4597400"/>
            <a:ext cx="30162" cy="23813"/>
          </a:xfrm>
          <a:prstGeom prst="ellipse">
            <a:avLst/>
          </a:prstGeom>
          <a:solidFill>
            <a:srgbClr val="000000"/>
          </a:solidFill>
          <a:ln w="9525">
            <a:noFill/>
            <a:round/>
            <a:headEnd/>
            <a:tailEnd/>
          </a:ln>
        </p:spPr>
        <p:txBody>
          <a:bodyPr/>
          <a:lstStyle/>
          <a:p>
            <a:endParaRPr lang="en-US"/>
          </a:p>
        </p:txBody>
      </p:sp>
      <p:sp>
        <p:nvSpPr>
          <p:cNvPr id="58427" name="Oval 70"/>
          <p:cNvSpPr>
            <a:spLocks noChangeArrowheads="1"/>
          </p:cNvSpPr>
          <p:nvPr/>
        </p:nvSpPr>
        <p:spPr bwMode="auto">
          <a:xfrm>
            <a:off x="4160838" y="4711700"/>
            <a:ext cx="30162" cy="25400"/>
          </a:xfrm>
          <a:prstGeom prst="ellipse">
            <a:avLst/>
          </a:prstGeom>
          <a:solidFill>
            <a:srgbClr val="000000"/>
          </a:solidFill>
          <a:ln w="9525">
            <a:noFill/>
            <a:round/>
            <a:headEnd/>
            <a:tailEnd/>
          </a:ln>
        </p:spPr>
        <p:txBody>
          <a:bodyPr/>
          <a:lstStyle/>
          <a:p>
            <a:endParaRPr lang="en-US"/>
          </a:p>
        </p:txBody>
      </p:sp>
      <p:sp>
        <p:nvSpPr>
          <p:cNvPr id="58428" name="Oval 71"/>
          <p:cNvSpPr>
            <a:spLocks noChangeArrowheads="1"/>
          </p:cNvSpPr>
          <p:nvPr/>
        </p:nvSpPr>
        <p:spPr bwMode="auto">
          <a:xfrm>
            <a:off x="4160838" y="4819650"/>
            <a:ext cx="30162" cy="25400"/>
          </a:xfrm>
          <a:prstGeom prst="ellipse">
            <a:avLst/>
          </a:prstGeom>
          <a:solidFill>
            <a:srgbClr val="000000"/>
          </a:solidFill>
          <a:ln w="9525">
            <a:noFill/>
            <a:round/>
            <a:headEnd/>
            <a:tailEnd/>
          </a:ln>
        </p:spPr>
        <p:txBody>
          <a:bodyPr/>
          <a:lstStyle/>
          <a:p>
            <a:endParaRPr lang="en-US"/>
          </a:p>
        </p:txBody>
      </p:sp>
      <p:sp>
        <p:nvSpPr>
          <p:cNvPr id="58429" name="Oval 72"/>
          <p:cNvSpPr>
            <a:spLocks noChangeArrowheads="1"/>
          </p:cNvSpPr>
          <p:nvPr/>
        </p:nvSpPr>
        <p:spPr bwMode="auto">
          <a:xfrm>
            <a:off x="4160838" y="4932363"/>
            <a:ext cx="30162" cy="25400"/>
          </a:xfrm>
          <a:prstGeom prst="ellipse">
            <a:avLst/>
          </a:prstGeom>
          <a:solidFill>
            <a:srgbClr val="000000"/>
          </a:solidFill>
          <a:ln w="9525">
            <a:noFill/>
            <a:round/>
            <a:headEnd/>
            <a:tailEnd/>
          </a:ln>
        </p:spPr>
        <p:txBody>
          <a:bodyPr/>
          <a:lstStyle/>
          <a:p>
            <a:endParaRPr lang="en-US"/>
          </a:p>
        </p:txBody>
      </p:sp>
      <p:sp>
        <p:nvSpPr>
          <p:cNvPr id="58430" name="Oval 73"/>
          <p:cNvSpPr>
            <a:spLocks noChangeArrowheads="1"/>
          </p:cNvSpPr>
          <p:nvPr/>
        </p:nvSpPr>
        <p:spPr bwMode="auto">
          <a:xfrm>
            <a:off x="4160838" y="5045075"/>
            <a:ext cx="30162" cy="25400"/>
          </a:xfrm>
          <a:prstGeom prst="ellipse">
            <a:avLst/>
          </a:prstGeom>
          <a:solidFill>
            <a:srgbClr val="000000"/>
          </a:solidFill>
          <a:ln w="9525">
            <a:noFill/>
            <a:round/>
            <a:headEnd/>
            <a:tailEnd/>
          </a:ln>
        </p:spPr>
        <p:txBody>
          <a:bodyPr/>
          <a:lstStyle/>
          <a:p>
            <a:endParaRPr lang="en-US"/>
          </a:p>
        </p:txBody>
      </p:sp>
      <p:sp>
        <p:nvSpPr>
          <p:cNvPr id="58431" name="Oval 74"/>
          <p:cNvSpPr>
            <a:spLocks noChangeArrowheads="1"/>
          </p:cNvSpPr>
          <p:nvPr/>
        </p:nvSpPr>
        <p:spPr bwMode="auto">
          <a:xfrm>
            <a:off x="4160838" y="5160963"/>
            <a:ext cx="30162" cy="25400"/>
          </a:xfrm>
          <a:prstGeom prst="ellipse">
            <a:avLst/>
          </a:prstGeom>
          <a:solidFill>
            <a:srgbClr val="000000"/>
          </a:solidFill>
          <a:ln w="9525">
            <a:noFill/>
            <a:round/>
            <a:headEnd/>
            <a:tailEnd/>
          </a:ln>
        </p:spPr>
        <p:txBody>
          <a:bodyPr/>
          <a:lstStyle/>
          <a:p>
            <a:endParaRPr lang="en-US"/>
          </a:p>
        </p:txBody>
      </p:sp>
      <p:sp>
        <p:nvSpPr>
          <p:cNvPr id="58432" name="Oval 75"/>
          <p:cNvSpPr>
            <a:spLocks noChangeArrowheads="1"/>
          </p:cNvSpPr>
          <p:nvPr/>
        </p:nvSpPr>
        <p:spPr bwMode="auto">
          <a:xfrm>
            <a:off x="4160838" y="5275263"/>
            <a:ext cx="30162" cy="23812"/>
          </a:xfrm>
          <a:prstGeom prst="ellipse">
            <a:avLst/>
          </a:prstGeom>
          <a:solidFill>
            <a:srgbClr val="000000"/>
          </a:solidFill>
          <a:ln w="9525">
            <a:noFill/>
            <a:round/>
            <a:headEnd/>
            <a:tailEnd/>
          </a:ln>
        </p:spPr>
        <p:txBody>
          <a:bodyPr/>
          <a:lstStyle/>
          <a:p>
            <a:endParaRPr lang="en-US"/>
          </a:p>
        </p:txBody>
      </p:sp>
      <p:sp>
        <p:nvSpPr>
          <p:cNvPr id="58433" name="Oval 76"/>
          <p:cNvSpPr>
            <a:spLocks noChangeArrowheads="1"/>
          </p:cNvSpPr>
          <p:nvPr/>
        </p:nvSpPr>
        <p:spPr bwMode="auto">
          <a:xfrm>
            <a:off x="4160838" y="5387975"/>
            <a:ext cx="30162" cy="25400"/>
          </a:xfrm>
          <a:prstGeom prst="ellipse">
            <a:avLst/>
          </a:prstGeom>
          <a:solidFill>
            <a:srgbClr val="000000"/>
          </a:solidFill>
          <a:ln w="9525">
            <a:noFill/>
            <a:round/>
            <a:headEnd/>
            <a:tailEnd/>
          </a:ln>
        </p:spPr>
        <p:txBody>
          <a:bodyPr/>
          <a:lstStyle/>
          <a:p>
            <a:endParaRPr lang="en-US"/>
          </a:p>
        </p:txBody>
      </p:sp>
      <p:sp>
        <p:nvSpPr>
          <p:cNvPr id="58434" name="Oval 77"/>
          <p:cNvSpPr>
            <a:spLocks noChangeArrowheads="1"/>
          </p:cNvSpPr>
          <p:nvPr/>
        </p:nvSpPr>
        <p:spPr bwMode="auto">
          <a:xfrm>
            <a:off x="4160838" y="5494338"/>
            <a:ext cx="30162" cy="25400"/>
          </a:xfrm>
          <a:prstGeom prst="ellipse">
            <a:avLst/>
          </a:prstGeom>
          <a:solidFill>
            <a:srgbClr val="000000"/>
          </a:solidFill>
          <a:ln w="9525">
            <a:noFill/>
            <a:round/>
            <a:headEnd/>
            <a:tailEnd/>
          </a:ln>
        </p:spPr>
        <p:txBody>
          <a:bodyPr/>
          <a:lstStyle/>
          <a:p>
            <a:endParaRPr lang="en-US"/>
          </a:p>
        </p:txBody>
      </p:sp>
      <p:sp>
        <p:nvSpPr>
          <p:cNvPr id="58435" name="Oval 78"/>
          <p:cNvSpPr>
            <a:spLocks noChangeArrowheads="1"/>
          </p:cNvSpPr>
          <p:nvPr/>
        </p:nvSpPr>
        <p:spPr bwMode="auto">
          <a:xfrm>
            <a:off x="4160838" y="5608638"/>
            <a:ext cx="30162" cy="26987"/>
          </a:xfrm>
          <a:prstGeom prst="ellipse">
            <a:avLst/>
          </a:prstGeom>
          <a:solidFill>
            <a:srgbClr val="000000"/>
          </a:solidFill>
          <a:ln w="9525">
            <a:noFill/>
            <a:round/>
            <a:headEnd/>
            <a:tailEnd/>
          </a:ln>
        </p:spPr>
        <p:txBody>
          <a:bodyPr/>
          <a:lstStyle/>
          <a:p>
            <a:endParaRPr lang="en-US"/>
          </a:p>
        </p:txBody>
      </p:sp>
      <p:sp>
        <p:nvSpPr>
          <p:cNvPr id="58436" name="Oval 79"/>
          <p:cNvSpPr>
            <a:spLocks noChangeArrowheads="1"/>
          </p:cNvSpPr>
          <p:nvPr/>
        </p:nvSpPr>
        <p:spPr bwMode="auto">
          <a:xfrm>
            <a:off x="4160838" y="2795588"/>
            <a:ext cx="30162" cy="25400"/>
          </a:xfrm>
          <a:prstGeom prst="ellipse">
            <a:avLst/>
          </a:prstGeom>
          <a:solidFill>
            <a:srgbClr val="000000"/>
          </a:solidFill>
          <a:ln w="9525">
            <a:noFill/>
            <a:round/>
            <a:headEnd/>
            <a:tailEnd/>
          </a:ln>
        </p:spPr>
        <p:txBody>
          <a:bodyPr/>
          <a:lstStyle/>
          <a:p>
            <a:endParaRPr lang="en-US"/>
          </a:p>
        </p:txBody>
      </p:sp>
      <p:sp>
        <p:nvSpPr>
          <p:cNvPr id="58437" name="Oval 80"/>
          <p:cNvSpPr>
            <a:spLocks noChangeArrowheads="1"/>
          </p:cNvSpPr>
          <p:nvPr/>
        </p:nvSpPr>
        <p:spPr bwMode="auto">
          <a:xfrm>
            <a:off x="4160838" y="2903538"/>
            <a:ext cx="30162" cy="25400"/>
          </a:xfrm>
          <a:prstGeom prst="ellipse">
            <a:avLst/>
          </a:prstGeom>
          <a:solidFill>
            <a:srgbClr val="000000"/>
          </a:solidFill>
          <a:ln w="9525">
            <a:noFill/>
            <a:round/>
            <a:headEnd/>
            <a:tailEnd/>
          </a:ln>
        </p:spPr>
        <p:txBody>
          <a:bodyPr/>
          <a:lstStyle/>
          <a:p>
            <a:endParaRPr lang="en-US"/>
          </a:p>
        </p:txBody>
      </p:sp>
      <p:sp>
        <p:nvSpPr>
          <p:cNvPr id="58438" name="Oval 81"/>
          <p:cNvSpPr>
            <a:spLocks noChangeArrowheads="1"/>
          </p:cNvSpPr>
          <p:nvPr/>
        </p:nvSpPr>
        <p:spPr bwMode="auto">
          <a:xfrm>
            <a:off x="4160838" y="3016250"/>
            <a:ext cx="30162" cy="25400"/>
          </a:xfrm>
          <a:prstGeom prst="ellipse">
            <a:avLst/>
          </a:prstGeom>
          <a:solidFill>
            <a:srgbClr val="000000"/>
          </a:solidFill>
          <a:ln w="9525">
            <a:noFill/>
            <a:round/>
            <a:headEnd/>
            <a:tailEnd/>
          </a:ln>
        </p:spPr>
        <p:txBody>
          <a:bodyPr/>
          <a:lstStyle/>
          <a:p>
            <a:endParaRPr lang="en-US"/>
          </a:p>
        </p:txBody>
      </p:sp>
      <p:sp>
        <p:nvSpPr>
          <p:cNvPr id="58439" name="Oval 82"/>
          <p:cNvSpPr>
            <a:spLocks noChangeArrowheads="1"/>
          </p:cNvSpPr>
          <p:nvPr/>
        </p:nvSpPr>
        <p:spPr bwMode="auto">
          <a:xfrm>
            <a:off x="4160838" y="3130550"/>
            <a:ext cx="30162" cy="23813"/>
          </a:xfrm>
          <a:prstGeom prst="ellipse">
            <a:avLst/>
          </a:prstGeom>
          <a:solidFill>
            <a:srgbClr val="000000"/>
          </a:solidFill>
          <a:ln w="9525">
            <a:noFill/>
            <a:round/>
            <a:headEnd/>
            <a:tailEnd/>
          </a:ln>
        </p:spPr>
        <p:txBody>
          <a:bodyPr/>
          <a:lstStyle/>
          <a:p>
            <a:endParaRPr lang="en-US"/>
          </a:p>
        </p:txBody>
      </p:sp>
      <p:sp>
        <p:nvSpPr>
          <p:cNvPr id="58440" name="Oval 83"/>
          <p:cNvSpPr>
            <a:spLocks noChangeArrowheads="1"/>
          </p:cNvSpPr>
          <p:nvPr/>
        </p:nvSpPr>
        <p:spPr bwMode="auto">
          <a:xfrm>
            <a:off x="4160838" y="3244850"/>
            <a:ext cx="30162" cy="25400"/>
          </a:xfrm>
          <a:prstGeom prst="ellipse">
            <a:avLst/>
          </a:prstGeom>
          <a:solidFill>
            <a:srgbClr val="000000"/>
          </a:solidFill>
          <a:ln w="9525">
            <a:noFill/>
            <a:round/>
            <a:headEnd/>
            <a:tailEnd/>
          </a:ln>
        </p:spPr>
        <p:txBody>
          <a:bodyPr/>
          <a:lstStyle/>
          <a:p>
            <a:endParaRPr lang="en-US"/>
          </a:p>
        </p:txBody>
      </p:sp>
      <p:sp>
        <p:nvSpPr>
          <p:cNvPr id="58441" name="Oval 84"/>
          <p:cNvSpPr>
            <a:spLocks noChangeArrowheads="1"/>
          </p:cNvSpPr>
          <p:nvPr/>
        </p:nvSpPr>
        <p:spPr bwMode="auto">
          <a:xfrm>
            <a:off x="4160838" y="3359150"/>
            <a:ext cx="30162" cy="25400"/>
          </a:xfrm>
          <a:prstGeom prst="ellipse">
            <a:avLst/>
          </a:prstGeom>
          <a:solidFill>
            <a:srgbClr val="000000"/>
          </a:solidFill>
          <a:ln w="9525">
            <a:noFill/>
            <a:round/>
            <a:headEnd/>
            <a:tailEnd/>
          </a:ln>
        </p:spPr>
        <p:txBody>
          <a:bodyPr/>
          <a:lstStyle/>
          <a:p>
            <a:endParaRPr lang="en-US"/>
          </a:p>
        </p:txBody>
      </p:sp>
      <p:sp>
        <p:nvSpPr>
          <p:cNvPr id="58442" name="Oval 85"/>
          <p:cNvSpPr>
            <a:spLocks noChangeArrowheads="1"/>
          </p:cNvSpPr>
          <p:nvPr/>
        </p:nvSpPr>
        <p:spPr bwMode="auto">
          <a:xfrm>
            <a:off x="4160838" y="3578225"/>
            <a:ext cx="30162" cy="25400"/>
          </a:xfrm>
          <a:prstGeom prst="ellipse">
            <a:avLst/>
          </a:prstGeom>
          <a:solidFill>
            <a:srgbClr val="000000"/>
          </a:solidFill>
          <a:ln w="9525">
            <a:noFill/>
            <a:round/>
            <a:headEnd/>
            <a:tailEnd/>
          </a:ln>
        </p:spPr>
        <p:txBody>
          <a:bodyPr/>
          <a:lstStyle/>
          <a:p>
            <a:endParaRPr lang="en-US"/>
          </a:p>
        </p:txBody>
      </p:sp>
      <p:sp>
        <p:nvSpPr>
          <p:cNvPr id="58443" name="Oval 86"/>
          <p:cNvSpPr>
            <a:spLocks noChangeArrowheads="1"/>
          </p:cNvSpPr>
          <p:nvPr/>
        </p:nvSpPr>
        <p:spPr bwMode="auto">
          <a:xfrm>
            <a:off x="4160838" y="3694113"/>
            <a:ext cx="30162" cy="25400"/>
          </a:xfrm>
          <a:prstGeom prst="ellipse">
            <a:avLst/>
          </a:prstGeom>
          <a:solidFill>
            <a:srgbClr val="000000"/>
          </a:solidFill>
          <a:ln w="9525">
            <a:noFill/>
            <a:round/>
            <a:headEnd/>
            <a:tailEnd/>
          </a:ln>
        </p:spPr>
        <p:txBody>
          <a:bodyPr/>
          <a:lstStyle/>
          <a:p>
            <a:endParaRPr lang="en-US"/>
          </a:p>
        </p:txBody>
      </p:sp>
      <p:sp>
        <p:nvSpPr>
          <p:cNvPr id="58444" name="Oval 87"/>
          <p:cNvSpPr>
            <a:spLocks noChangeArrowheads="1"/>
          </p:cNvSpPr>
          <p:nvPr/>
        </p:nvSpPr>
        <p:spPr bwMode="auto">
          <a:xfrm>
            <a:off x="4160838" y="3808413"/>
            <a:ext cx="30162" cy="23812"/>
          </a:xfrm>
          <a:prstGeom prst="ellipse">
            <a:avLst/>
          </a:prstGeom>
          <a:solidFill>
            <a:srgbClr val="000000"/>
          </a:solidFill>
          <a:ln w="9525">
            <a:noFill/>
            <a:round/>
            <a:headEnd/>
            <a:tailEnd/>
          </a:ln>
        </p:spPr>
        <p:txBody>
          <a:bodyPr/>
          <a:lstStyle/>
          <a:p>
            <a:endParaRPr lang="en-US"/>
          </a:p>
        </p:txBody>
      </p:sp>
      <p:sp>
        <p:nvSpPr>
          <p:cNvPr id="58445" name="Oval 88"/>
          <p:cNvSpPr>
            <a:spLocks noChangeArrowheads="1"/>
          </p:cNvSpPr>
          <p:nvPr/>
        </p:nvSpPr>
        <p:spPr bwMode="auto">
          <a:xfrm>
            <a:off x="4160838" y="3921125"/>
            <a:ext cx="30162" cy="25400"/>
          </a:xfrm>
          <a:prstGeom prst="ellipse">
            <a:avLst/>
          </a:prstGeom>
          <a:solidFill>
            <a:srgbClr val="000000"/>
          </a:solidFill>
          <a:ln w="9525">
            <a:noFill/>
            <a:round/>
            <a:headEnd/>
            <a:tailEnd/>
          </a:ln>
        </p:spPr>
        <p:txBody>
          <a:bodyPr/>
          <a:lstStyle/>
          <a:p>
            <a:endParaRPr lang="en-US"/>
          </a:p>
        </p:txBody>
      </p:sp>
      <p:sp>
        <p:nvSpPr>
          <p:cNvPr id="58446" name="Oval 89"/>
          <p:cNvSpPr>
            <a:spLocks noChangeArrowheads="1"/>
          </p:cNvSpPr>
          <p:nvPr/>
        </p:nvSpPr>
        <p:spPr bwMode="auto">
          <a:xfrm>
            <a:off x="4160838" y="4033838"/>
            <a:ext cx="30162" cy="25400"/>
          </a:xfrm>
          <a:prstGeom prst="ellipse">
            <a:avLst/>
          </a:prstGeom>
          <a:solidFill>
            <a:srgbClr val="000000"/>
          </a:solidFill>
          <a:ln w="9525">
            <a:noFill/>
            <a:round/>
            <a:headEnd/>
            <a:tailEnd/>
          </a:ln>
        </p:spPr>
        <p:txBody>
          <a:bodyPr/>
          <a:lstStyle/>
          <a:p>
            <a:endParaRPr lang="en-US"/>
          </a:p>
        </p:txBody>
      </p:sp>
      <p:sp>
        <p:nvSpPr>
          <p:cNvPr id="58447" name="Oval 90"/>
          <p:cNvSpPr>
            <a:spLocks noChangeArrowheads="1"/>
          </p:cNvSpPr>
          <p:nvPr/>
        </p:nvSpPr>
        <p:spPr bwMode="auto">
          <a:xfrm>
            <a:off x="4160838" y="5722938"/>
            <a:ext cx="30162" cy="25400"/>
          </a:xfrm>
          <a:prstGeom prst="ellipse">
            <a:avLst/>
          </a:prstGeom>
          <a:solidFill>
            <a:srgbClr val="000000"/>
          </a:solidFill>
          <a:ln w="9525">
            <a:noFill/>
            <a:round/>
            <a:headEnd/>
            <a:tailEnd/>
          </a:ln>
        </p:spPr>
        <p:txBody>
          <a:bodyPr/>
          <a:lstStyle/>
          <a:p>
            <a:endParaRPr lang="en-US"/>
          </a:p>
        </p:txBody>
      </p:sp>
      <p:sp>
        <p:nvSpPr>
          <p:cNvPr id="58448" name="Oval 91"/>
          <p:cNvSpPr>
            <a:spLocks noChangeArrowheads="1"/>
          </p:cNvSpPr>
          <p:nvPr/>
        </p:nvSpPr>
        <p:spPr bwMode="auto">
          <a:xfrm>
            <a:off x="4160838" y="5837238"/>
            <a:ext cx="30162" cy="25400"/>
          </a:xfrm>
          <a:prstGeom prst="ellipse">
            <a:avLst/>
          </a:prstGeom>
          <a:solidFill>
            <a:srgbClr val="000000"/>
          </a:solidFill>
          <a:ln w="9525">
            <a:noFill/>
            <a:round/>
            <a:headEnd/>
            <a:tailEnd/>
          </a:ln>
        </p:spPr>
        <p:txBody>
          <a:bodyPr/>
          <a:lstStyle/>
          <a:p>
            <a:endParaRPr lang="en-US"/>
          </a:p>
        </p:txBody>
      </p:sp>
      <p:sp>
        <p:nvSpPr>
          <p:cNvPr id="58449" name="Oval 92"/>
          <p:cNvSpPr>
            <a:spLocks noChangeArrowheads="1"/>
          </p:cNvSpPr>
          <p:nvPr/>
        </p:nvSpPr>
        <p:spPr bwMode="auto">
          <a:xfrm>
            <a:off x="3690938" y="3465513"/>
            <a:ext cx="30162" cy="25400"/>
          </a:xfrm>
          <a:prstGeom prst="ellipse">
            <a:avLst/>
          </a:prstGeom>
          <a:solidFill>
            <a:srgbClr val="000000"/>
          </a:solidFill>
          <a:ln w="9525">
            <a:noFill/>
            <a:round/>
            <a:headEnd/>
            <a:tailEnd/>
          </a:ln>
        </p:spPr>
        <p:txBody>
          <a:bodyPr/>
          <a:lstStyle/>
          <a:p>
            <a:endParaRPr lang="en-US"/>
          </a:p>
        </p:txBody>
      </p:sp>
      <p:sp>
        <p:nvSpPr>
          <p:cNvPr id="58450" name="Oval 93"/>
          <p:cNvSpPr>
            <a:spLocks noChangeArrowheads="1"/>
          </p:cNvSpPr>
          <p:nvPr/>
        </p:nvSpPr>
        <p:spPr bwMode="auto">
          <a:xfrm>
            <a:off x="3565525" y="3465513"/>
            <a:ext cx="30163" cy="25400"/>
          </a:xfrm>
          <a:prstGeom prst="ellipse">
            <a:avLst/>
          </a:prstGeom>
          <a:solidFill>
            <a:srgbClr val="000000"/>
          </a:solidFill>
          <a:ln w="9525">
            <a:noFill/>
            <a:round/>
            <a:headEnd/>
            <a:tailEnd/>
          </a:ln>
        </p:spPr>
        <p:txBody>
          <a:bodyPr/>
          <a:lstStyle/>
          <a:p>
            <a:endParaRPr lang="en-US"/>
          </a:p>
        </p:txBody>
      </p:sp>
      <p:sp>
        <p:nvSpPr>
          <p:cNvPr id="58451" name="Oval 94"/>
          <p:cNvSpPr>
            <a:spLocks noChangeArrowheads="1"/>
          </p:cNvSpPr>
          <p:nvPr/>
        </p:nvSpPr>
        <p:spPr bwMode="auto">
          <a:xfrm>
            <a:off x="3432175" y="3465513"/>
            <a:ext cx="30163" cy="25400"/>
          </a:xfrm>
          <a:prstGeom prst="ellipse">
            <a:avLst/>
          </a:prstGeom>
          <a:solidFill>
            <a:srgbClr val="000000"/>
          </a:solidFill>
          <a:ln w="9525">
            <a:noFill/>
            <a:round/>
            <a:headEnd/>
            <a:tailEnd/>
          </a:ln>
        </p:spPr>
        <p:txBody>
          <a:bodyPr/>
          <a:lstStyle/>
          <a:p>
            <a:endParaRPr lang="en-US"/>
          </a:p>
        </p:txBody>
      </p:sp>
      <p:sp>
        <p:nvSpPr>
          <p:cNvPr id="58452" name="Oval 95"/>
          <p:cNvSpPr>
            <a:spLocks noChangeArrowheads="1"/>
          </p:cNvSpPr>
          <p:nvPr/>
        </p:nvSpPr>
        <p:spPr bwMode="auto">
          <a:xfrm>
            <a:off x="3298825" y="3465513"/>
            <a:ext cx="30163" cy="25400"/>
          </a:xfrm>
          <a:prstGeom prst="ellipse">
            <a:avLst/>
          </a:prstGeom>
          <a:solidFill>
            <a:srgbClr val="000000"/>
          </a:solidFill>
          <a:ln w="9525">
            <a:noFill/>
            <a:round/>
            <a:headEnd/>
            <a:tailEnd/>
          </a:ln>
        </p:spPr>
        <p:txBody>
          <a:bodyPr/>
          <a:lstStyle/>
          <a:p>
            <a:endParaRPr lang="en-US"/>
          </a:p>
        </p:txBody>
      </p:sp>
      <p:sp>
        <p:nvSpPr>
          <p:cNvPr id="58453" name="Oval 96"/>
          <p:cNvSpPr>
            <a:spLocks noChangeArrowheads="1"/>
          </p:cNvSpPr>
          <p:nvPr/>
        </p:nvSpPr>
        <p:spPr bwMode="auto">
          <a:xfrm>
            <a:off x="3162300" y="3465513"/>
            <a:ext cx="30163" cy="25400"/>
          </a:xfrm>
          <a:prstGeom prst="ellipse">
            <a:avLst/>
          </a:prstGeom>
          <a:solidFill>
            <a:srgbClr val="000000"/>
          </a:solidFill>
          <a:ln w="9525">
            <a:noFill/>
            <a:round/>
            <a:headEnd/>
            <a:tailEnd/>
          </a:ln>
        </p:spPr>
        <p:txBody>
          <a:bodyPr/>
          <a:lstStyle/>
          <a:p>
            <a:endParaRPr lang="en-US"/>
          </a:p>
        </p:txBody>
      </p:sp>
      <p:sp>
        <p:nvSpPr>
          <p:cNvPr id="58454" name="Oval 97"/>
          <p:cNvSpPr>
            <a:spLocks noChangeArrowheads="1"/>
          </p:cNvSpPr>
          <p:nvPr/>
        </p:nvSpPr>
        <p:spPr bwMode="auto">
          <a:xfrm>
            <a:off x="3028950" y="3465513"/>
            <a:ext cx="30163" cy="25400"/>
          </a:xfrm>
          <a:prstGeom prst="ellipse">
            <a:avLst/>
          </a:prstGeom>
          <a:solidFill>
            <a:srgbClr val="000000"/>
          </a:solidFill>
          <a:ln w="9525">
            <a:noFill/>
            <a:round/>
            <a:headEnd/>
            <a:tailEnd/>
          </a:ln>
        </p:spPr>
        <p:txBody>
          <a:bodyPr/>
          <a:lstStyle/>
          <a:p>
            <a:endParaRPr lang="en-US"/>
          </a:p>
        </p:txBody>
      </p:sp>
      <p:sp>
        <p:nvSpPr>
          <p:cNvPr id="58455" name="Oval 98"/>
          <p:cNvSpPr>
            <a:spLocks noChangeArrowheads="1"/>
          </p:cNvSpPr>
          <p:nvPr/>
        </p:nvSpPr>
        <p:spPr bwMode="auto">
          <a:xfrm>
            <a:off x="2895600" y="3465513"/>
            <a:ext cx="30163" cy="25400"/>
          </a:xfrm>
          <a:prstGeom prst="ellipse">
            <a:avLst/>
          </a:prstGeom>
          <a:solidFill>
            <a:srgbClr val="000000"/>
          </a:solidFill>
          <a:ln w="9525">
            <a:noFill/>
            <a:round/>
            <a:headEnd/>
            <a:tailEnd/>
          </a:ln>
        </p:spPr>
        <p:txBody>
          <a:bodyPr/>
          <a:lstStyle/>
          <a:p>
            <a:endParaRPr lang="en-US"/>
          </a:p>
        </p:txBody>
      </p:sp>
      <p:sp>
        <p:nvSpPr>
          <p:cNvPr id="58456" name="Oval 99"/>
          <p:cNvSpPr>
            <a:spLocks noChangeArrowheads="1"/>
          </p:cNvSpPr>
          <p:nvPr/>
        </p:nvSpPr>
        <p:spPr bwMode="auto">
          <a:xfrm>
            <a:off x="2770188" y="3465513"/>
            <a:ext cx="28575" cy="25400"/>
          </a:xfrm>
          <a:prstGeom prst="ellipse">
            <a:avLst/>
          </a:prstGeom>
          <a:solidFill>
            <a:srgbClr val="000000"/>
          </a:solidFill>
          <a:ln w="9525">
            <a:noFill/>
            <a:round/>
            <a:headEnd/>
            <a:tailEnd/>
          </a:ln>
        </p:spPr>
        <p:txBody>
          <a:bodyPr/>
          <a:lstStyle/>
          <a:p>
            <a:endParaRPr lang="en-US"/>
          </a:p>
        </p:txBody>
      </p:sp>
      <p:sp>
        <p:nvSpPr>
          <p:cNvPr id="58457" name="Oval 100"/>
          <p:cNvSpPr>
            <a:spLocks noChangeArrowheads="1"/>
          </p:cNvSpPr>
          <p:nvPr/>
        </p:nvSpPr>
        <p:spPr bwMode="auto">
          <a:xfrm>
            <a:off x="2636838" y="3465513"/>
            <a:ext cx="28575" cy="25400"/>
          </a:xfrm>
          <a:prstGeom prst="ellipse">
            <a:avLst/>
          </a:prstGeom>
          <a:solidFill>
            <a:srgbClr val="000000"/>
          </a:solidFill>
          <a:ln w="9525">
            <a:noFill/>
            <a:round/>
            <a:headEnd/>
            <a:tailEnd/>
          </a:ln>
        </p:spPr>
        <p:txBody>
          <a:bodyPr/>
          <a:lstStyle/>
          <a:p>
            <a:endParaRPr lang="en-US"/>
          </a:p>
        </p:txBody>
      </p:sp>
      <p:sp>
        <p:nvSpPr>
          <p:cNvPr id="58458" name="Oval 101"/>
          <p:cNvSpPr>
            <a:spLocks noChangeArrowheads="1"/>
          </p:cNvSpPr>
          <p:nvPr/>
        </p:nvSpPr>
        <p:spPr bwMode="auto">
          <a:xfrm>
            <a:off x="2500313" y="3465513"/>
            <a:ext cx="30162" cy="25400"/>
          </a:xfrm>
          <a:prstGeom prst="ellipse">
            <a:avLst/>
          </a:prstGeom>
          <a:solidFill>
            <a:srgbClr val="000000"/>
          </a:solidFill>
          <a:ln w="9525">
            <a:noFill/>
            <a:round/>
            <a:headEnd/>
            <a:tailEnd/>
          </a:ln>
        </p:spPr>
        <p:txBody>
          <a:bodyPr/>
          <a:lstStyle/>
          <a:p>
            <a:endParaRPr lang="en-US"/>
          </a:p>
        </p:txBody>
      </p:sp>
      <p:sp>
        <p:nvSpPr>
          <p:cNvPr id="58459" name="Oval 102"/>
          <p:cNvSpPr>
            <a:spLocks noChangeArrowheads="1"/>
          </p:cNvSpPr>
          <p:nvPr/>
        </p:nvSpPr>
        <p:spPr bwMode="auto">
          <a:xfrm>
            <a:off x="5283200" y="3465513"/>
            <a:ext cx="30163" cy="25400"/>
          </a:xfrm>
          <a:prstGeom prst="ellipse">
            <a:avLst/>
          </a:prstGeom>
          <a:solidFill>
            <a:srgbClr val="000000"/>
          </a:solidFill>
          <a:ln w="9525">
            <a:noFill/>
            <a:round/>
            <a:headEnd/>
            <a:tailEnd/>
          </a:ln>
        </p:spPr>
        <p:txBody>
          <a:bodyPr/>
          <a:lstStyle/>
          <a:p>
            <a:endParaRPr lang="en-US"/>
          </a:p>
        </p:txBody>
      </p:sp>
      <p:sp>
        <p:nvSpPr>
          <p:cNvPr id="58460" name="Oval 103"/>
          <p:cNvSpPr>
            <a:spLocks noChangeArrowheads="1"/>
          </p:cNvSpPr>
          <p:nvPr/>
        </p:nvSpPr>
        <p:spPr bwMode="auto">
          <a:xfrm>
            <a:off x="5157788" y="3465513"/>
            <a:ext cx="30162" cy="25400"/>
          </a:xfrm>
          <a:prstGeom prst="ellipse">
            <a:avLst/>
          </a:prstGeom>
          <a:solidFill>
            <a:srgbClr val="000000"/>
          </a:solidFill>
          <a:ln w="9525">
            <a:noFill/>
            <a:round/>
            <a:headEnd/>
            <a:tailEnd/>
          </a:ln>
        </p:spPr>
        <p:txBody>
          <a:bodyPr/>
          <a:lstStyle/>
          <a:p>
            <a:endParaRPr lang="en-US"/>
          </a:p>
        </p:txBody>
      </p:sp>
      <p:sp>
        <p:nvSpPr>
          <p:cNvPr id="58461" name="Oval 104"/>
          <p:cNvSpPr>
            <a:spLocks noChangeArrowheads="1"/>
          </p:cNvSpPr>
          <p:nvPr/>
        </p:nvSpPr>
        <p:spPr bwMode="auto">
          <a:xfrm>
            <a:off x="5024438" y="3465513"/>
            <a:ext cx="28575" cy="25400"/>
          </a:xfrm>
          <a:prstGeom prst="ellipse">
            <a:avLst/>
          </a:prstGeom>
          <a:solidFill>
            <a:srgbClr val="000000"/>
          </a:solidFill>
          <a:ln w="9525">
            <a:noFill/>
            <a:round/>
            <a:headEnd/>
            <a:tailEnd/>
          </a:ln>
        </p:spPr>
        <p:txBody>
          <a:bodyPr/>
          <a:lstStyle/>
          <a:p>
            <a:endParaRPr lang="en-US"/>
          </a:p>
        </p:txBody>
      </p:sp>
      <p:sp>
        <p:nvSpPr>
          <p:cNvPr id="58462" name="Oval 105"/>
          <p:cNvSpPr>
            <a:spLocks noChangeArrowheads="1"/>
          </p:cNvSpPr>
          <p:nvPr/>
        </p:nvSpPr>
        <p:spPr bwMode="auto">
          <a:xfrm>
            <a:off x="4891088" y="3465513"/>
            <a:ext cx="28575" cy="25400"/>
          </a:xfrm>
          <a:prstGeom prst="ellipse">
            <a:avLst/>
          </a:prstGeom>
          <a:solidFill>
            <a:srgbClr val="000000"/>
          </a:solidFill>
          <a:ln w="9525">
            <a:noFill/>
            <a:round/>
            <a:headEnd/>
            <a:tailEnd/>
          </a:ln>
        </p:spPr>
        <p:txBody>
          <a:bodyPr/>
          <a:lstStyle/>
          <a:p>
            <a:endParaRPr lang="en-US"/>
          </a:p>
        </p:txBody>
      </p:sp>
      <p:sp>
        <p:nvSpPr>
          <p:cNvPr id="58463" name="Oval 106"/>
          <p:cNvSpPr>
            <a:spLocks noChangeArrowheads="1"/>
          </p:cNvSpPr>
          <p:nvPr/>
        </p:nvSpPr>
        <p:spPr bwMode="auto">
          <a:xfrm>
            <a:off x="4757738" y="3465513"/>
            <a:ext cx="28575" cy="25400"/>
          </a:xfrm>
          <a:prstGeom prst="ellipse">
            <a:avLst/>
          </a:prstGeom>
          <a:solidFill>
            <a:srgbClr val="000000"/>
          </a:solidFill>
          <a:ln w="9525">
            <a:noFill/>
            <a:round/>
            <a:headEnd/>
            <a:tailEnd/>
          </a:ln>
        </p:spPr>
        <p:txBody>
          <a:bodyPr/>
          <a:lstStyle/>
          <a:p>
            <a:endParaRPr lang="en-US"/>
          </a:p>
        </p:txBody>
      </p:sp>
      <p:sp>
        <p:nvSpPr>
          <p:cNvPr id="58464" name="Oval 107"/>
          <p:cNvSpPr>
            <a:spLocks noChangeArrowheads="1"/>
          </p:cNvSpPr>
          <p:nvPr/>
        </p:nvSpPr>
        <p:spPr bwMode="auto">
          <a:xfrm>
            <a:off x="4621213" y="3465513"/>
            <a:ext cx="31750" cy="25400"/>
          </a:xfrm>
          <a:prstGeom prst="ellipse">
            <a:avLst/>
          </a:prstGeom>
          <a:solidFill>
            <a:srgbClr val="000000"/>
          </a:solidFill>
          <a:ln w="9525">
            <a:noFill/>
            <a:round/>
            <a:headEnd/>
            <a:tailEnd/>
          </a:ln>
        </p:spPr>
        <p:txBody>
          <a:bodyPr/>
          <a:lstStyle/>
          <a:p>
            <a:endParaRPr lang="en-US"/>
          </a:p>
        </p:txBody>
      </p:sp>
      <p:sp>
        <p:nvSpPr>
          <p:cNvPr id="58465" name="Oval 108"/>
          <p:cNvSpPr>
            <a:spLocks noChangeArrowheads="1"/>
          </p:cNvSpPr>
          <p:nvPr/>
        </p:nvSpPr>
        <p:spPr bwMode="auto">
          <a:xfrm>
            <a:off x="4487863" y="3465513"/>
            <a:ext cx="30162" cy="25400"/>
          </a:xfrm>
          <a:prstGeom prst="ellipse">
            <a:avLst/>
          </a:prstGeom>
          <a:solidFill>
            <a:srgbClr val="000000"/>
          </a:solidFill>
          <a:ln w="9525">
            <a:noFill/>
            <a:round/>
            <a:headEnd/>
            <a:tailEnd/>
          </a:ln>
        </p:spPr>
        <p:txBody>
          <a:bodyPr/>
          <a:lstStyle/>
          <a:p>
            <a:endParaRPr lang="en-US"/>
          </a:p>
        </p:txBody>
      </p:sp>
      <p:sp>
        <p:nvSpPr>
          <p:cNvPr id="58466" name="Oval 109"/>
          <p:cNvSpPr>
            <a:spLocks noChangeArrowheads="1"/>
          </p:cNvSpPr>
          <p:nvPr/>
        </p:nvSpPr>
        <p:spPr bwMode="auto">
          <a:xfrm>
            <a:off x="4360863" y="3465513"/>
            <a:ext cx="30162" cy="25400"/>
          </a:xfrm>
          <a:prstGeom prst="ellipse">
            <a:avLst/>
          </a:prstGeom>
          <a:solidFill>
            <a:srgbClr val="000000"/>
          </a:solidFill>
          <a:ln w="9525">
            <a:noFill/>
            <a:round/>
            <a:headEnd/>
            <a:tailEnd/>
          </a:ln>
        </p:spPr>
        <p:txBody>
          <a:bodyPr/>
          <a:lstStyle/>
          <a:p>
            <a:endParaRPr lang="en-US"/>
          </a:p>
        </p:txBody>
      </p:sp>
      <p:sp>
        <p:nvSpPr>
          <p:cNvPr id="58467" name="Oval 110"/>
          <p:cNvSpPr>
            <a:spLocks noChangeArrowheads="1"/>
          </p:cNvSpPr>
          <p:nvPr/>
        </p:nvSpPr>
        <p:spPr bwMode="auto">
          <a:xfrm>
            <a:off x="4227513" y="3465513"/>
            <a:ext cx="30162" cy="25400"/>
          </a:xfrm>
          <a:prstGeom prst="ellipse">
            <a:avLst/>
          </a:prstGeom>
          <a:solidFill>
            <a:srgbClr val="000000"/>
          </a:solidFill>
          <a:ln w="9525">
            <a:noFill/>
            <a:round/>
            <a:headEnd/>
            <a:tailEnd/>
          </a:ln>
        </p:spPr>
        <p:txBody>
          <a:bodyPr/>
          <a:lstStyle/>
          <a:p>
            <a:endParaRPr lang="en-US"/>
          </a:p>
        </p:txBody>
      </p:sp>
      <p:sp>
        <p:nvSpPr>
          <p:cNvPr id="58468" name="Oval 111"/>
          <p:cNvSpPr>
            <a:spLocks noChangeArrowheads="1"/>
          </p:cNvSpPr>
          <p:nvPr/>
        </p:nvSpPr>
        <p:spPr bwMode="auto">
          <a:xfrm>
            <a:off x="4094163" y="3465513"/>
            <a:ext cx="30162" cy="25400"/>
          </a:xfrm>
          <a:prstGeom prst="ellipse">
            <a:avLst/>
          </a:prstGeom>
          <a:solidFill>
            <a:srgbClr val="000000"/>
          </a:solidFill>
          <a:ln w="9525">
            <a:noFill/>
            <a:round/>
            <a:headEnd/>
            <a:tailEnd/>
          </a:ln>
        </p:spPr>
        <p:txBody>
          <a:bodyPr/>
          <a:lstStyle/>
          <a:p>
            <a:endParaRPr lang="en-US"/>
          </a:p>
        </p:txBody>
      </p:sp>
      <p:sp>
        <p:nvSpPr>
          <p:cNvPr id="58469" name="Oval 112"/>
          <p:cNvSpPr>
            <a:spLocks noChangeArrowheads="1"/>
          </p:cNvSpPr>
          <p:nvPr/>
        </p:nvSpPr>
        <p:spPr bwMode="auto">
          <a:xfrm>
            <a:off x="3960813" y="3465513"/>
            <a:ext cx="30162" cy="25400"/>
          </a:xfrm>
          <a:prstGeom prst="ellipse">
            <a:avLst/>
          </a:prstGeom>
          <a:solidFill>
            <a:srgbClr val="000000"/>
          </a:solidFill>
          <a:ln w="9525">
            <a:noFill/>
            <a:round/>
            <a:headEnd/>
            <a:tailEnd/>
          </a:ln>
        </p:spPr>
        <p:txBody>
          <a:bodyPr/>
          <a:lstStyle/>
          <a:p>
            <a:endParaRPr lang="en-US"/>
          </a:p>
        </p:txBody>
      </p:sp>
      <p:sp>
        <p:nvSpPr>
          <p:cNvPr id="58470" name="Oval 113"/>
          <p:cNvSpPr>
            <a:spLocks noChangeArrowheads="1"/>
          </p:cNvSpPr>
          <p:nvPr/>
        </p:nvSpPr>
        <p:spPr bwMode="auto">
          <a:xfrm>
            <a:off x="3825875" y="3465513"/>
            <a:ext cx="28575" cy="25400"/>
          </a:xfrm>
          <a:prstGeom prst="ellipse">
            <a:avLst/>
          </a:prstGeom>
          <a:solidFill>
            <a:srgbClr val="000000"/>
          </a:solidFill>
          <a:ln w="9525">
            <a:noFill/>
            <a:round/>
            <a:headEnd/>
            <a:tailEnd/>
          </a:ln>
        </p:spPr>
        <p:txBody>
          <a:bodyPr/>
          <a:lstStyle/>
          <a:p>
            <a:endParaRPr lang="en-US"/>
          </a:p>
        </p:txBody>
      </p:sp>
      <p:sp>
        <p:nvSpPr>
          <p:cNvPr id="58471" name="Oval 114"/>
          <p:cNvSpPr>
            <a:spLocks noChangeArrowheads="1"/>
          </p:cNvSpPr>
          <p:nvPr/>
        </p:nvSpPr>
        <p:spPr bwMode="auto">
          <a:xfrm>
            <a:off x="3690938" y="2687638"/>
            <a:ext cx="30162" cy="25400"/>
          </a:xfrm>
          <a:prstGeom prst="ellipse">
            <a:avLst/>
          </a:prstGeom>
          <a:solidFill>
            <a:srgbClr val="000000"/>
          </a:solidFill>
          <a:ln w="9525">
            <a:noFill/>
            <a:round/>
            <a:headEnd/>
            <a:tailEnd/>
          </a:ln>
        </p:spPr>
        <p:txBody>
          <a:bodyPr/>
          <a:lstStyle/>
          <a:p>
            <a:endParaRPr lang="en-US"/>
          </a:p>
        </p:txBody>
      </p:sp>
      <p:sp>
        <p:nvSpPr>
          <p:cNvPr id="58472" name="Oval 115"/>
          <p:cNvSpPr>
            <a:spLocks noChangeArrowheads="1"/>
          </p:cNvSpPr>
          <p:nvPr/>
        </p:nvSpPr>
        <p:spPr bwMode="auto">
          <a:xfrm>
            <a:off x="3565525" y="2687638"/>
            <a:ext cx="30163" cy="25400"/>
          </a:xfrm>
          <a:prstGeom prst="ellipse">
            <a:avLst/>
          </a:prstGeom>
          <a:solidFill>
            <a:srgbClr val="000000"/>
          </a:solidFill>
          <a:ln w="9525">
            <a:noFill/>
            <a:round/>
            <a:headEnd/>
            <a:tailEnd/>
          </a:ln>
        </p:spPr>
        <p:txBody>
          <a:bodyPr/>
          <a:lstStyle/>
          <a:p>
            <a:endParaRPr lang="en-US"/>
          </a:p>
        </p:txBody>
      </p:sp>
      <p:sp>
        <p:nvSpPr>
          <p:cNvPr id="58473" name="Oval 116"/>
          <p:cNvSpPr>
            <a:spLocks noChangeArrowheads="1"/>
          </p:cNvSpPr>
          <p:nvPr/>
        </p:nvSpPr>
        <p:spPr bwMode="auto">
          <a:xfrm>
            <a:off x="3432175" y="2687638"/>
            <a:ext cx="30163" cy="25400"/>
          </a:xfrm>
          <a:prstGeom prst="ellipse">
            <a:avLst/>
          </a:prstGeom>
          <a:solidFill>
            <a:srgbClr val="000000"/>
          </a:solidFill>
          <a:ln w="9525">
            <a:noFill/>
            <a:round/>
            <a:headEnd/>
            <a:tailEnd/>
          </a:ln>
        </p:spPr>
        <p:txBody>
          <a:bodyPr/>
          <a:lstStyle/>
          <a:p>
            <a:endParaRPr lang="en-US"/>
          </a:p>
        </p:txBody>
      </p:sp>
      <p:sp>
        <p:nvSpPr>
          <p:cNvPr id="58474" name="Oval 117"/>
          <p:cNvSpPr>
            <a:spLocks noChangeArrowheads="1"/>
          </p:cNvSpPr>
          <p:nvPr/>
        </p:nvSpPr>
        <p:spPr bwMode="auto">
          <a:xfrm>
            <a:off x="3298825" y="2687638"/>
            <a:ext cx="30163" cy="25400"/>
          </a:xfrm>
          <a:prstGeom prst="ellipse">
            <a:avLst/>
          </a:prstGeom>
          <a:solidFill>
            <a:srgbClr val="000000"/>
          </a:solidFill>
          <a:ln w="9525">
            <a:noFill/>
            <a:round/>
            <a:headEnd/>
            <a:tailEnd/>
          </a:ln>
        </p:spPr>
        <p:txBody>
          <a:bodyPr/>
          <a:lstStyle/>
          <a:p>
            <a:endParaRPr lang="en-US"/>
          </a:p>
        </p:txBody>
      </p:sp>
      <p:sp>
        <p:nvSpPr>
          <p:cNvPr id="58475" name="Oval 118"/>
          <p:cNvSpPr>
            <a:spLocks noChangeArrowheads="1"/>
          </p:cNvSpPr>
          <p:nvPr/>
        </p:nvSpPr>
        <p:spPr bwMode="auto">
          <a:xfrm>
            <a:off x="3162300" y="2687638"/>
            <a:ext cx="30163" cy="25400"/>
          </a:xfrm>
          <a:prstGeom prst="ellipse">
            <a:avLst/>
          </a:prstGeom>
          <a:solidFill>
            <a:srgbClr val="000000"/>
          </a:solidFill>
          <a:ln w="9525">
            <a:noFill/>
            <a:round/>
            <a:headEnd/>
            <a:tailEnd/>
          </a:ln>
        </p:spPr>
        <p:txBody>
          <a:bodyPr/>
          <a:lstStyle/>
          <a:p>
            <a:endParaRPr lang="en-US"/>
          </a:p>
        </p:txBody>
      </p:sp>
      <p:sp>
        <p:nvSpPr>
          <p:cNvPr id="58476" name="Oval 119"/>
          <p:cNvSpPr>
            <a:spLocks noChangeArrowheads="1"/>
          </p:cNvSpPr>
          <p:nvPr/>
        </p:nvSpPr>
        <p:spPr bwMode="auto">
          <a:xfrm>
            <a:off x="3028950" y="2687638"/>
            <a:ext cx="30163" cy="25400"/>
          </a:xfrm>
          <a:prstGeom prst="ellipse">
            <a:avLst/>
          </a:prstGeom>
          <a:solidFill>
            <a:srgbClr val="000000"/>
          </a:solidFill>
          <a:ln w="9525">
            <a:noFill/>
            <a:round/>
            <a:headEnd/>
            <a:tailEnd/>
          </a:ln>
        </p:spPr>
        <p:txBody>
          <a:bodyPr/>
          <a:lstStyle/>
          <a:p>
            <a:endParaRPr lang="en-US"/>
          </a:p>
        </p:txBody>
      </p:sp>
      <p:sp>
        <p:nvSpPr>
          <p:cNvPr id="58477" name="Oval 120"/>
          <p:cNvSpPr>
            <a:spLocks noChangeArrowheads="1"/>
          </p:cNvSpPr>
          <p:nvPr/>
        </p:nvSpPr>
        <p:spPr bwMode="auto">
          <a:xfrm>
            <a:off x="2895600" y="2687638"/>
            <a:ext cx="30163" cy="25400"/>
          </a:xfrm>
          <a:prstGeom prst="ellipse">
            <a:avLst/>
          </a:prstGeom>
          <a:solidFill>
            <a:srgbClr val="000000"/>
          </a:solidFill>
          <a:ln w="9525">
            <a:noFill/>
            <a:round/>
            <a:headEnd/>
            <a:tailEnd/>
          </a:ln>
        </p:spPr>
        <p:txBody>
          <a:bodyPr/>
          <a:lstStyle/>
          <a:p>
            <a:endParaRPr lang="en-US"/>
          </a:p>
        </p:txBody>
      </p:sp>
      <p:sp>
        <p:nvSpPr>
          <p:cNvPr id="58478" name="Oval 121"/>
          <p:cNvSpPr>
            <a:spLocks noChangeArrowheads="1"/>
          </p:cNvSpPr>
          <p:nvPr/>
        </p:nvSpPr>
        <p:spPr bwMode="auto">
          <a:xfrm>
            <a:off x="2770188" y="2687638"/>
            <a:ext cx="28575" cy="25400"/>
          </a:xfrm>
          <a:prstGeom prst="ellipse">
            <a:avLst/>
          </a:prstGeom>
          <a:solidFill>
            <a:srgbClr val="000000"/>
          </a:solidFill>
          <a:ln w="9525">
            <a:noFill/>
            <a:round/>
            <a:headEnd/>
            <a:tailEnd/>
          </a:ln>
        </p:spPr>
        <p:txBody>
          <a:bodyPr/>
          <a:lstStyle/>
          <a:p>
            <a:endParaRPr lang="en-US"/>
          </a:p>
        </p:txBody>
      </p:sp>
      <p:sp>
        <p:nvSpPr>
          <p:cNvPr id="58479" name="Oval 122"/>
          <p:cNvSpPr>
            <a:spLocks noChangeArrowheads="1"/>
          </p:cNvSpPr>
          <p:nvPr/>
        </p:nvSpPr>
        <p:spPr bwMode="auto">
          <a:xfrm>
            <a:off x="2636838" y="2687638"/>
            <a:ext cx="28575" cy="25400"/>
          </a:xfrm>
          <a:prstGeom prst="ellipse">
            <a:avLst/>
          </a:prstGeom>
          <a:solidFill>
            <a:srgbClr val="000000"/>
          </a:solidFill>
          <a:ln w="9525">
            <a:noFill/>
            <a:round/>
            <a:headEnd/>
            <a:tailEnd/>
          </a:ln>
        </p:spPr>
        <p:txBody>
          <a:bodyPr/>
          <a:lstStyle/>
          <a:p>
            <a:endParaRPr lang="en-US"/>
          </a:p>
        </p:txBody>
      </p:sp>
      <p:sp>
        <p:nvSpPr>
          <p:cNvPr id="58480" name="Oval 123"/>
          <p:cNvSpPr>
            <a:spLocks noChangeArrowheads="1"/>
          </p:cNvSpPr>
          <p:nvPr/>
        </p:nvSpPr>
        <p:spPr bwMode="auto">
          <a:xfrm>
            <a:off x="2500313" y="2687638"/>
            <a:ext cx="30162" cy="25400"/>
          </a:xfrm>
          <a:prstGeom prst="ellipse">
            <a:avLst/>
          </a:prstGeom>
          <a:solidFill>
            <a:srgbClr val="000000"/>
          </a:solidFill>
          <a:ln w="9525">
            <a:noFill/>
            <a:round/>
            <a:headEnd/>
            <a:tailEnd/>
          </a:ln>
        </p:spPr>
        <p:txBody>
          <a:bodyPr/>
          <a:lstStyle/>
          <a:p>
            <a:endParaRPr lang="en-US"/>
          </a:p>
        </p:txBody>
      </p:sp>
      <p:sp>
        <p:nvSpPr>
          <p:cNvPr id="58481" name="Oval 124"/>
          <p:cNvSpPr>
            <a:spLocks noChangeArrowheads="1"/>
          </p:cNvSpPr>
          <p:nvPr/>
        </p:nvSpPr>
        <p:spPr bwMode="auto">
          <a:xfrm>
            <a:off x="3960813" y="2687638"/>
            <a:ext cx="30162" cy="25400"/>
          </a:xfrm>
          <a:prstGeom prst="ellipse">
            <a:avLst/>
          </a:prstGeom>
          <a:solidFill>
            <a:srgbClr val="000000"/>
          </a:solidFill>
          <a:ln w="9525">
            <a:noFill/>
            <a:round/>
            <a:headEnd/>
            <a:tailEnd/>
          </a:ln>
        </p:spPr>
        <p:txBody>
          <a:bodyPr/>
          <a:lstStyle/>
          <a:p>
            <a:endParaRPr lang="en-US"/>
          </a:p>
        </p:txBody>
      </p:sp>
      <p:sp>
        <p:nvSpPr>
          <p:cNvPr id="58482" name="Oval 125"/>
          <p:cNvSpPr>
            <a:spLocks noChangeArrowheads="1"/>
          </p:cNvSpPr>
          <p:nvPr/>
        </p:nvSpPr>
        <p:spPr bwMode="auto">
          <a:xfrm>
            <a:off x="3825875" y="2687638"/>
            <a:ext cx="28575" cy="25400"/>
          </a:xfrm>
          <a:prstGeom prst="ellipse">
            <a:avLst/>
          </a:prstGeom>
          <a:solidFill>
            <a:srgbClr val="000000"/>
          </a:solidFill>
          <a:ln w="9525">
            <a:noFill/>
            <a:round/>
            <a:headEnd/>
            <a:tailEnd/>
          </a:ln>
        </p:spPr>
        <p:txBody>
          <a:bodyPr/>
          <a:lstStyle/>
          <a:p>
            <a:endParaRPr lang="en-US"/>
          </a:p>
        </p:txBody>
      </p:sp>
      <p:sp>
        <p:nvSpPr>
          <p:cNvPr id="58483" name="Oval 126"/>
          <p:cNvSpPr>
            <a:spLocks noChangeArrowheads="1"/>
          </p:cNvSpPr>
          <p:nvPr/>
        </p:nvSpPr>
        <p:spPr bwMode="auto">
          <a:xfrm>
            <a:off x="3690938" y="4249738"/>
            <a:ext cx="30162" cy="25400"/>
          </a:xfrm>
          <a:prstGeom prst="ellipse">
            <a:avLst/>
          </a:prstGeom>
          <a:solidFill>
            <a:srgbClr val="000000"/>
          </a:solidFill>
          <a:ln w="9525">
            <a:noFill/>
            <a:round/>
            <a:headEnd/>
            <a:tailEnd/>
          </a:ln>
        </p:spPr>
        <p:txBody>
          <a:bodyPr/>
          <a:lstStyle/>
          <a:p>
            <a:endParaRPr lang="en-US"/>
          </a:p>
        </p:txBody>
      </p:sp>
      <p:sp>
        <p:nvSpPr>
          <p:cNvPr id="58484" name="Oval 127"/>
          <p:cNvSpPr>
            <a:spLocks noChangeArrowheads="1"/>
          </p:cNvSpPr>
          <p:nvPr/>
        </p:nvSpPr>
        <p:spPr bwMode="auto">
          <a:xfrm>
            <a:off x="3565525" y="4249738"/>
            <a:ext cx="30163" cy="25400"/>
          </a:xfrm>
          <a:prstGeom prst="ellipse">
            <a:avLst/>
          </a:prstGeom>
          <a:solidFill>
            <a:srgbClr val="000000"/>
          </a:solidFill>
          <a:ln w="9525">
            <a:noFill/>
            <a:round/>
            <a:headEnd/>
            <a:tailEnd/>
          </a:ln>
        </p:spPr>
        <p:txBody>
          <a:bodyPr/>
          <a:lstStyle/>
          <a:p>
            <a:endParaRPr lang="en-US"/>
          </a:p>
        </p:txBody>
      </p:sp>
      <p:sp>
        <p:nvSpPr>
          <p:cNvPr id="58485" name="Oval 128"/>
          <p:cNvSpPr>
            <a:spLocks noChangeArrowheads="1"/>
          </p:cNvSpPr>
          <p:nvPr/>
        </p:nvSpPr>
        <p:spPr bwMode="auto">
          <a:xfrm>
            <a:off x="3432175" y="4249738"/>
            <a:ext cx="30163" cy="25400"/>
          </a:xfrm>
          <a:prstGeom prst="ellipse">
            <a:avLst/>
          </a:prstGeom>
          <a:solidFill>
            <a:srgbClr val="000000"/>
          </a:solidFill>
          <a:ln w="9525">
            <a:noFill/>
            <a:round/>
            <a:headEnd/>
            <a:tailEnd/>
          </a:ln>
        </p:spPr>
        <p:txBody>
          <a:bodyPr/>
          <a:lstStyle/>
          <a:p>
            <a:endParaRPr lang="en-US"/>
          </a:p>
        </p:txBody>
      </p:sp>
      <p:sp>
        <p:nvSpPr>
          <p:cNvPr id="58486" name="Oval 129"/>
          <p:cNvSpPr>
            <a:spLocks noChangeArrowheads="1"/>
          </p:cNvSpPr>
          <p:nvPr/>
        </p:nvSpPr>
        <p:spPr bwMode="auto">
          <a:xfrm>
            <a:off x="3298825" y="4249738"/>
            <a:ext cx="30163" cy="25400"/>
          </a:xfrm>
          <a:prstGeom prst="ellipse">
            <a:avLst/>
          </a:prstGeom>
          <a:solidFill>
            <a:srgbClr val="000000"/>
          </a:solidFill>
          <a:ln w="9525">
            <a:noFill/>
            <a:round/>
            <a:headEnd/>
            <a:tailEnd/>
          </a:ln>
        </p:spPr>
        <p:txBody>
          <a:bodyPr/>
          <a:lstStyle/>
          <a:p>
            <a:endParaRPr lang="en-US"/>
          </a:p>
        </p:txBody>
      </p:sp>
      <p:sp>
        <p:nvSpPr>
          <p:cNvPr id="58487" name="Oval 130"/>
          <p:cNvSpPr>
            <a:spLocks noChangeArrowheads="1"/>
          </p:cNvSpPr>
          <p:nvPr/>
        </p:nvSpPr>
        <p:spPr bwMode="auto">
          <a:xfrm>
            <a:off x="3162300" y="4249738"/>
            <a:ext cx="30163" cy="25400"/>
          </a:xfrm>
          <a:prstGeom prst="ellipse">
            <a:avLst/>
          </a:prstGeom>
          <a:solidFill>
            <a:srgbClr val="000000"/>
          </a:solidFill>
          <a:ln w="9525">
            <a:noFill/>
            <a:round/>
            <a:headEnd/>
            <a:tailEnd/>
          </a:ln>
        </p:spPr>
        <p:txBody>
          <a:bodyPr/>
          <a:lstStyle/>
          <a:p>
            <a:endParaRPr lang="en-US"/>
          </a:p>
        </p:txBody>
      </p:sp>
      <p:sp>
        <p:nvSpPr>
          <p:cNvPr id="58488" name="Oval 131"/>
          <p:cNvSpPr>
            <a:spLocks noChangeArrowheads="1"/>
          </p:cNvSpPr>
          <p:nvPr/>
        </p:nvSpPr>
        <p:spPr bwMode="auto">
          <a:xfrm>
            <a:off x="3028950" y="4249738"/>
            <a:ext cx="30163" cy="25400"/>
          </a:xfrm>
          <a:prstGeom prst="ellipse">
            <a:avLst/>
          </a:prstGeom>
          <a:solidFill>
            <a:srgbClr val="000000"/>
          </a:solidFill>
          <a:ln w="9525">
            <a:noFill/>
            <a:round/>
            <a:headEnd/>
            <a:tailEnd/>
          </a:ln>
        </p:spPr>
        <p:txBody>
          <a:bodyPr/>
          <a:lstStyle/>
          <a:p>
            <a:endParaRPr lang="en-US"/>
          </a:p>
        </p:txBody>
      </p:sp>
      <p:sp>
        <p:nvSpPr>
          <p:cNvPr id="58489" name="Oval 132"/>
          <p:cNvSpPr>
            <a:spLocks noChangeArrowheads="1"/>
          </p:cNvSpPr>
          <p:nvPr/>
        </p:nvSpPr>
        <p:spPr bwMode="auto">
          <a:xfrm>
            <a:off x="2895600" y="4249738"/>
            <a:ext cx="30163" cy="25400"/>
          </a:xfrm>
          <a:prstGeom prst="ellipse">
            <a:avLst/>
          </a:prstGeom>
          <a:solidFill>
            <a:srgbClr val="000000"/>
          </a:solidFill>
          <a:ln w="9525">
            <a:noFill/>
            <a:round/>
            <a:headEnd/>
            <a:tailEnd/>
          </a:ln>
        </p:spPr>
        <p:txBody>
          <a:bodyPr/>
          <a:lstStyle/>
          <a:p>
            <a:endParaRPr lang="en-US"/>
          </a:p>
        </p:txBody>
      </p:sp>
      <p:sp>
        <p:nvSpPr>
          <p:cNvPr id="58490" name="Oval 133"/>
          <p:cNvSpPr>
            <a:spLocks noChangeArrowheads="1"/>
          </p:cNvSpPr>
          <p:nvPr/>
        </p:nvSpPr>
        <p:spPr bwMode="auto">
          <a:xfrm>
            <a:off x="2770188" y="4249738"/>
            <a:ext cx="28575" cy="25400"/>
          </a:xfrm>
          <a:prstGeom prst="ellipse">
            <a:avLst/>
          </a:prstGeom>
          <a:solidFill>
            <a:srgbClr val="000000"/>
          </a:solidFill>
          <a:ln w="9525">
            <a:noFill/>
            <a:round/>
            <a:headEnd/>
            <a:tailEnd/>
          </a:ln>
        </p:spPr>
        <p:txBody>
          <a:bodyPr/>
          <a:lstStyle/>
          <a:p>
            <a:endParaRPr lang="en-US"/>
          </a:p>
        </p:txBody>
      </p:sp>
      <p:sp>
        <p:nvSpPr>
          <p:cNvPr id="58491" name="Oval 134"/>
          <p:cNvSpPr>
            <a:spLocks noChangeArrowheads="1"/>
          </p:cNvSpPr>
          <p:nvPr/>
        </p:nvSpPr>
        <p:spPr bwMode="auto">
          <a:xfrm>
            <a:off x="2636838" y="4249738"/>
            <a:ext cx="28575" cy="25400"/>
          </a:xfrm>
          <a:prstGeom prst="ellipse">
            <a:avLst/>
          </a:prstGeom>
          <a:solidFill>
            <a:srgbClr val="000000"/>
          </a:solidFill>
          <a:ln w="9525">
            <a:noFill/>
            <a:round/>
            <a:headEnd/>
            <a:tailEnd/>
          </a:ln>
        </p:spPr>
        <p:txBody>
          <a:bodyPr/>
          <a:lstStyle/>
          <a:p>
            <a:endParaRPr lang="en-US"/>
          </a:p>
        </p:txBody>
      </p:sp>
      <p:sp>
        <p:nvSpPr>
          <p:cNvPr id="58492" name="Oval 135"/>
          <p:cNvSpPr>
            <a:spLocks noChangeArrowheads="1"/>
          </p:cNvSpPr>
          <p:nvPr/>
        </p:nvSpPr>
        <p:spPr bwMode="auto">
          <a:xfrm>
            <a:off x="2500313" y="4249738"/>
            <a:ext cx="30162" cy="25400"/>
          </a:xfrm>
          <a:prstGeom prst="ellipse">
            <a:avLst/>
          </a:prstGeom>
          <a:solidFill>
            <a:srgbClr val="000000"/>
          </a:solidFill>
          <a:ln w="9525">
            <a:noFill/>
            <a:round/>
            <a:headEnd/>
            <a:tailEnd/>
          </a:ln>
        </p:spPr>
        <p:txBody>
          <a:bodyPr/>
          <a:lstStyle/>
          <a:p>
            <a:endParaRPr lang="en-US"/>
          </a:p>
        </p:txBody>
      </p:sp>
      <p:sp>
        <p:nvSpPr>
          <p:cNvPr id="58493" name="Oval 136"/>
          <p:cNvSpPr>
            <a:spLocks noChangeArrowheads="1"/>
          </p:cNvSpPr>
          <p:nvPr/>
        </p:nvSpPr>
        <p:spPr bwMode="auto">
          <a:xfrm>
            <a:off x="3960813" y="4249738"/>
            <a:ext cx="30162" cy="25400"/>
          </a:xfrm>
          <a:prstGeom prst="ellipse">
            <a:avLst/>
          </a:prstGeom>
          <a:solidFill>
            <a:srgbClr val="000000"/>
          </a:solidFill>
          <a:ln w="9525">
            <a:noFill/>
            <a:round/>
            <a:headEnd/>
            <a:tailEnd/>
          </a:ln>
        </p:spPr>
        <p:txBody>
          <a:bodyPr/>
          <a:lstStyle/>
          <a:p>
            <a:endParaRPr lang="en-US"/>
          </a:p>
        </p:txBody>
      </p:sp>
      <p:sp>
        <p:nvSpPr>
          <p:cNvPr id="58494" name="Oval 137"/>
          <p:cNvSpPr>
            <a:spLocks noChangeArrowheads="1"/>
          </p:cNvSpPr>
          <p:nvPr/>
        </p:nvSpPr>
        <p:spPr bwMode="auto">
          <a:xfrm>
            <a:off x="3825875" y="4249738"/>
            <a:ext cx="28575" cy="25400"/>
          </a:xfrm>
          <a:prstGeom prst="ellipse">
            <a:avLst/>
          </a:prstGeom>
          <a:solidFill>
            <a:srgbClr val="000000"/>
          </a:solidFill>
          <a:ln w="9525">
            <a:noFill/>
            <a:round/>
            <a:headEnd/>
            <a:tailEnd/>
          </a:ln>
        </p:spPr>
        <p:txBody>
          <a:bodyPr/>
          <a:lstStyle/>
          <a:p>
            <a:endParaRPr lang="en-US"/>
          </a:p>
        </p:txBody>
      </p:sp>
      <p:grpSp>
        <p:nvGrpSpPr>
          <p:cNvPr id="3" name="Group 142"/>
          <p:cNvGrpSpPr>
            <a:grpSpLocks/>
          </p:cNvGrpSpPr>
          <p:nvPr/>
        </p:nvGrpSpPr>
        <p:grpSpPr bwMode="auto">
          <a:xfrm>
            <a:off x="3306763" y="3744913"/>
            <a:ext cx="3235325" cy="1674812"/>
            <a:chOff x="1897" y="2369"/>
            <a:chExt cx="2038" cy="1055"/>
          </a:xfrm>
        </p:grpSpPr>
        <p:sp>
          <p:nvSpPr>
            <p:cNvPr id="58496" name="Line 45"/>
            <p:cNvSpPr>
              <a:spLocks noChangeShapeType="1"/>
            </p:cNvSpPr>
            <p:nvPr/>
          </p:nvSpPr>
          <p:spPr bwMode="auto">
            <a:xfrm flipH="1">
              <a:off x="2720" y="2369"/>
              <a:ext cx="91" cy="681"/>
            </a:xfrm>
            <a:prstGeom prst="line">
              <a:avLst/>
            </a:prstGeom>
            <a:noFill/>
            <a:ln w="9525">
              <a:solidFill>
                <a:srgbClr val="000000"/>
              </a:solidFill>
              <a:miter lim="800000"/>
              <a:headEnd/>
              <a:tailEnd/>
            </a:ln>
          </p:spPr>
          <p:txBody>
            <a:bodyPr/>
            <a:lstStyle/>
            <a:p>
              <a:endParaRPr lang="en-US"/>
            </a:p>
          </p:txBody>
        </p:sp>
        <p:sp>
          <p:nvSpPr>
            <p:cNvPr id="58497" name="Line 46"/>
            <p:cNvSpPr>
              <a:spLocks noChangeShapeType="1"/>
            </p:cNvSpPr>
            <p:nvPr/>
          </p:nvSpPr>
          <p:spPr bwMode="auto">
            <a:xfrm>
              <a:off x="1897" y="2571"/>
              <a:ext cx="828" cy="479"/>
            </a:xfrm>
            <a:prstGeom prst="line">
              <a:avLst/>
            </a:prstGeom>
            <a:noFill/>
            <a:ln w="9525">
              <a:solidFill>
                <a:srgbClr val="000000"/>
              </a:solidFill>
              <a:miter lim="800000"/>
              <a:headEnd/>
              <a:tailEnd/>
            </a:ln>
          </p:spPr>
          <p:txBody>
            <a:bodyPr/>
            <a:lstStyle/>
            <a:p>
              <a:endParaRPr lang="en-US"/>
            </a:p>
          </p:txBody>
        </p:sp>
        <p:sp>
          <p:nvSpPr>
            <p:cNvPr id="58498" name="Freeform 138"/>
            <p:cNvSpPr>
              <a:spLocks/>
            </p:cNvSpPr>
            <p:nvPr/>
          </p:nvSpPr>
          <p:spPr bwMode="auto">
            <a:xfrm>
              <a:off x="2632" y="3042"/>
              <a:ext cx="1284" cy="382"/>
            </a:xfrm>
            <a:custGeom>
              <a:avLst/>
              <a:gdLst>
                <a:gd name="T0" fmla="*/ 1284 w 274"/>
                <a:gd name="T1" fmla="*/ 318 h 96"/>
                <a:gd name="T2" fmla="*/ 1209 w 274"/>
                <a:gd name="T3" fmla="*/ 382 h 96"/>
                <a:gd name="T4" fmla="*/ 75 w 274"/>
                <a:gd name="T5" fmla="*/ 382 h 96"/>
                <a:gd name="T6" fmla="*/ 0 w 274"/>
                <a:gd name="T7" fmla="*/ 318 h 96"/>
                <a:gd name="T8" fmla="*/ 0 w 274"/>
                <a:gd name="T9" fmla="*/ 64 h 96"/>
                <a:gd name="T10" fmla="*/ 75 w 274"/>
                <a:gd name="T11" fmla="*/ 0 h 96"/>
                <a:gd name="T12" fmla="*/ 1209 w 274"/>
                <a:gd name="T13" fmla="*/ 0 h 96"/>
                <a:gd name="T14" fmla="*/ 1284 w 274"/>
                <a:gd name="T15" fmla="*/ 64 h 96"/>
                <a:gd name="T16" fmla="*/ 1284 w 274"/>
                <a:gd name="T17" fmla="*/ 318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4"/>
                <a:gd name="T28" fmla="*/ 0 h 96"/>
                <a:gd name="T29" fmla="*/ 274 w 274"/>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4" h="96">
                  <a:moveTo>
                    <a:pt x="274" y="80"/>
                  </a:moveTo>
                  <a:cubicBezTo>
                    <a:pt x="274" y="89"/>
                    <a:pt x="267" y="96"/>
                    <a:pt x="258" y="96"/>
                  </a:cubicBezTo>
                  <a:cubicBezTo>
                    <a:pt x="16" y="96"/>
                    <a:pt x="16" y="96"/>
                    <a:pt x="16" y="96"/>
                  </a:cubicBezTo>
                  <a:cubicBezTo>
                    <a:pt x="8" y="96"/>
                    <a:pt x="0" y="89"/>
                    <a:pt x="0" y="80"/>
                  </a:cubicBezTo>
                  <a:cubicBezTo>
                    <a:pt x="0" y="16"/>
                    <a:pt x="0" y="16"/>
                    <a:pt x="0" y="16"/>
                  </a:cubicBezTo>
                  <a:cubicBezTo>
                    <a:pt x="0" y="7"/>
                    <a:pt x="8" y="0"/>
                    <a:pt x="16" y="0"/>
                  </a:cubicBezTo>
                  <a:cubicBezTo>
                    <a:pt x="258" y="0"/>
                    <a:pt x="258" y="0"/>
                    <a:pt x="258" y="0"/>
                  </a:cubicBezTo>
                  <a:cubicBezTo>
                    <a:pt x="267" y="0"/>
                    <a:pt x="274" y="7"/>
                    <a:pt x="274" y="16"/>
                  </a:cubicBezTo>
                  <a:lnTo>
                    <a:pt x="274" y="80"/>
                  </a:lnTo>
                  <a:close/>
                </a:path>
              </a:pathLst>
            </a:custGeom>
            <a:solidFill>
              <a:srgbClr val="D6E2E0"/>
            </a:solidFill>
            <a:ln w="9525">
              <a:noFill/>
              <a:round/>
              <a:headEnd/>
              <a:tailEnd/>
            </a:ln>
          </p:spPr>
          <p:txBody>
            <a:bodyPr/>
            <a:lstStyle/>
            <a:p>
              <a:endParaRPr lang="en-US"/>
            </a:p>
          </p:txBody>
        </p:sp>
        <p:sp>
          <p:nvSpPr>
            <p:cNvPr id="58499" name="Rectangle 139"/>
            <p:cNvSpPr>
              <a:spLocks noChangeArrowheads="1"/>
            </p:cNvSpPr>
            <p:nvPr/>
          </p:nvSpPr>
          <p:spPr bwMode="auto">
            <a:xfrm>
              <a:off x="2618" y="3077"/>
              <a:ext cx="1317" cy="271"/>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Fall in producer surplus due to tax</a:t>
              </a:r>
              <a:endParaRPr lang="en-US" sz="1400">
                <a:latin typeface="Tahoma"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51274"/>
                                        </p:tgtEl>
                                        <p:attrNameLst>
                                          <p:attrName>style.visibility</p:attrName>
                                        </p:attrNameLst>
                                      </p:cBhvr>
                                      <p:to>
                                        <p:strVal val="visible"/>
                                      </p:to>
                                    </p:set>
                                    <p:animEffect transition="in" filter="plus(in)">
                                      <p:cBhvr>
                                        <p:cTn id="7" dur="500"/>
                                        <p:tgtEl>
                                          <p:spTgt spid="3512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1276"/>
                                        </p:tgtEl>
                                        <p:attrNameLst>
                                          <p:attrName>style.visibility</p:attrName>
                                        </p:attrNameLst>
                                      </p:cBhvr>
                                      <p:to>
                                        <p:strVal val="visible"/>
                                      </p:to>
                                    </p:set>
                                    <p:animEffect transition="in" filter="wipe(left)">
                                      <p:cBhvr>
                                        <p:cTn id="11" dur="500"/>
                                        <p:tgtEl>
                                          <p:spTgt spid="35127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1275"/>
                                        </p:tgtEl>
                                        <p:attrNameLst>
                                          <p:attrName>style.visibility</p:attrName>
                                        </p:attrNameLst>
                                      </p:cBhvr>
                                      <p:to>
                                        <p:strVal val="visible"/>
                                      </p:to>
                                    </p:set>
                                    <p:animEffect transition="in" filter="wipe(left)">
                                      <p:cBhvr>
                                        <p:cTn id="14" dur="500"/>
                                        <p:tgtEl>
                                          <p:spTgt spid="35127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51240"/>
                                        </p:tgtEl>
                                        <p:attrNameLst>
                                          <p:attrName>style.visibility</p:attrName>
                                        </p:attrNameLst>
                                      </p:cBhvr>
                                      <p:to>
                                        <p:strVal val="visible"/>
                                      </p:to>
                                    </p:set>
                                    <p:animEffect transition="in" filter="plus(in)">
                                      <p:cBhvr>
                                        <p:cTn id="19" dur="1000"/>
                                        <p:tgtEl>
                                          <p:spTgt spid="351240"/>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351271"/>
                                        </p:tgtEl>
                                        <p:attrNameLst>
                                          <p:attrName>style.visibility</p:attrName>
                                        </p:attrNameLst>
                                      </p:cBhvr>
                                      <p:to>
                                        <p:strVal val="visible"/>
                                      </p:to>
                                    </p:set>
                                  </p:childTnLst>
                                </p:cTn>
                              </p:par>
                            </p:childTnLst>
                          </p:cTn>
                        </p:par>
                        <p:par>
                          <p:cTn id="23" fill="hold">
                            <p:stCondLst>
                              <p:cond delay="1000"/>
                            </p:stCondLst>
                            <p:childTnLst>
                              <p:par>
                                <p:cTn id="24" presetID="13" presetClass="entr" presetSubtype="16" fill="hold" grpId="0" nodeType="afterEffect">
                                  <p:stCondLst>
                                    <p:cond delay="0"/>
                                  </p:stCondLst>
                                  <p:childTnLst>
                                    <p:set>
                                      <p:cBhvr>
                                        <p:cTn id="25" dur="1" fill="hold">
                                          <p:stCondLst>
                                            <p:cond delay="0"/>
                                          </p:stCondLst>
                                        </p:cTn>
                                        <p:tgtEl>
                                          <p:spTgt spid="351237"/>
                                        </p:tgtEl>
                                        <p:attrNameLst>
                                          <p:attrName>style.visibility</p:attrName>
                                        </p:attrNameLst>
                                      </p:cBhvr>
                                      <p:to>
                                        <p:strVal val="visible"/>
                                      </p:to>
                                    </p:set>
                                    <p:animEffect transition="in" filter="plus(in)">
                                      <p:cBhvr>
                                        <p:cTn id="26" dur="1000"/>
                                        <p:tgtEl>
                                          <p:spTgt spid="351237"/>
                                        </p:tgtEl>
                                      </p:cBhvr>
                                    </p:animEffect>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351272"/>
                                        </p:tgtEl>
                                        <p:attrNameLst>
                                          <p:attrName>style.visibility</p:attrName>
                                        </p:attrNameLst>
                                      </p:cBhvr>
                                      <p:to>
                                        <p:strVal val="visible"/>
                                      </p:to>
                                    </p:set>
                                  </p:childTnLst>
                                </p:cTn>
                              </p:par>
                            </p:childTnLst>
                          </p:cTn>
                        </p:par>
                        <p:par>
                          <p:cTn id="30" fill="hold">
                            <p:stCondLst>
                              <p:cond delay="2000"/>
                            </p:stCondLst>
                            <p:childTnLst>
                              <p:par>
                                <p:cTn id="31" presetID="22" presetClass="entr" presetSubtype="4"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down)">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3" presetClass="entr" presetSubtype="16" fill="hold" grpId="0" nodeType="clickEffect">
                                  <p:stCondLst>
                                    <p:cond delay="0"/>
                                  </p:stCondLst>
                                  <p:childTnLst>
                                    <p:set>
                                      <p:cBhvr>
                                        <p:cTn id="37" dur="1" fill="hold">
                                          <p:stCondLst>
                                            <p:cond delay="0"/>
                                          </p:stCondLst>
                                        </p:cTn>
                                        <p:tgtEl>
                                          <p:spTgt spid="351239"/>
                                        </p:tgtEl>
                                        <p:attrNameLst>
                                          <p:attrName>style.visibility</p:attrName>
                                        </p:attrNameLst>
                                      </p:cBhvr>
                                      <p:to>
                                        <p:strVal val="visible"/>
                                      </p:to>
                                    </p:set>
                                    <p:animEffect transition="in" filter="plus(in)">
                                      <p:cBhvr>
                                        <p:cTn id="38" dur="1000"/>
                                        <p:tgtEl>
                                          <p:spTgt spid="351239"/>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351270"/>
                                        </p:tgtEl>
                                        <p:attrNameLst>
                                          <p:attrName>style.visibility</p:attrName>
                                        </p:attrNameLst>
                                      </p:cBhvr>
                                      <p:to>
                                        <p:strVal val="visible"/>
                                      </p:to>
                                    </p:set>
                                  </p:childTnLst>
                                </p:cTn>
                              </p:par>
                            </p:childTnLst>
                          </p:cTn>
                        </p:par>
                        <p:par>
                          <p:cTn id="42" fill="hold">
                            <p:stCondLst>
                              <p:cond delay="1000"/>
                            </p:stCondLst>
                            <p:childTnLst>
                              <p:par>
                                <p:cTn id="43" presetID="13" presetClass="entr" presetSubtype="16" fill="hold" grpId="0" nodeType="afterEffect">
                                  <p:stCondLst>
                                    <p:cond delay="0"/>
                                  </p:stCondLst>
                                  <p:childTnLst>
                                    <p:set>
                                      <p:cBhvr>
                                        <p:cTn id="44" dur="1" fill="hold">
                                          <p:stCondLst>
                                            <p:cond delay="0"/>
                                          </p:stCondLst>
                                        </p:cTn>
                                        <p:tgtEl>
                                          <p:spTgt spid="351238"/>
                                        </p:tgtEl>
                                        <p:attrNameLst>
                                          <p:attrName>style.visibility</p:attrName>
                                        </p:attrNameLst>
                                      </p:cBhvr>
                                      <p:to>
                                        <p:strVal val="visible"/>
                                      </p:to>
                                    </p:set>
                                    <p:animEffect transition="in" filter="plus(in)">
                                      <p:cBhvr>
                                        <p:cTn id="45" dur="1000"/>
                                        <p:tgtEl>
                                          <p:spTgt spid="351238"/>
                                        </p:tgtEl>
                                      </p:cBhvr>
                                    </p:animEffect>
                                  </p:childTnLst>
                                </p:cTn>
                              </p:par>
                            </p:childTnLst>
                          </p:cTn>
                        </p:par>
                        <p:par>
                          <p:cTn id="46" fill="hold">
                            <p:stCondLst>
                              <p:cond delay="2000"/>
                            </p:stCondLst>
                            <p:childTnLst>
                              <p:par>
                                <p:cTn id="47" presetID="1" presetClass="entr" presetSubtype="0" fill="hold" grpId="0" nodeType="afterEffect">
                                  <p:stCondLst>
                                    <p:cond delay="0"/>
                                  </p:stCondLst>
                                  <p:childTnLst>
                                    <p:set>
                                      <p:cBhvr>
                                        <p:cTn id="48" dur="1" fill="hold">
                                          <p:stCondLst>
                                            <p:cond delay="0"/>
                                          </p:stCondLst>
                                        </p:cTn>
                                        <p:tgtEl>
                                          <p:spTgt spid="351273"/>
                                        </p:tgtEl>
                                        <p:attrNameLst>
                                          <p:attrName>style.visibility</p:attrName>
                                        </p:attrNameLst>
                                      </p:cBhvr>
                                      <p:to>
                                        <p:strVal val="visible"/>
                                      </p:to>
                                    </p:set>
                                  </p:childTnLst>
                                </p:cTn>
                              </p:par>
                            </p:childTnLst>
                          </p:cTn>
                        </p:par>
                        <p:par>
                          <p:cTn id="49" fill="hold">
                            <p:stCondLst>
                              <p:cond delay="2000"/>
                            </p:stCondLst>
                            <p:childTnLst>
                              <p:par>
                                <p:cTn id="50" presetID="22" presetClass="entr" presetSubtype="4"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7" grpId="0" animBg="1"/>
      <p:bldP spid="351238" grpId="0" animBg="1"/>
      <p:bldP spid="351239" grpId="0" animBg="1"/>
      <p:bldP spid="351240" grpId="0" animBg="1"/>
      <p:bldP spid="351270" grpId="0"/>
      <p:bldP spid="351271" grpId="0"/>
      <p:bldP spid="351272" grpId="0"/>
      <p:bldP spid="351273" grpId="0"/>
      <p:bldP spid="351274" grpId="0" animBg="1"/>
      <p:bldP spid="351275" grpId="0" animBg="1"/>
      <p:bldP spid="35127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Content Placeholder 4"/>
          <p:cNvSpPr>
            <a:spLocks noGrp="1"/>
          </p:cNvSpPr>
          <p:nvPr>
            <p:ph sz="half" idx="4294967295"/>
          </p:nvPr>
        </p:nvSpPr>
        <p:spPr>
          <a:xfrm>
            <a:off x="3286125" y="836613"/>
            <a:ext cx="5572125" cy="5449887"/>
          </a:xfrm>
        </p:spPr>
        <p:txBody>
          <a:bodyPr/>
          <a:lstStyle/>
          <a:p>
            <a:r>
              <a:rPr lang="en-US" smtClean="0">
                <a:solidFill>
                  <a:schemeClr val="accent1"/>
                </a:solidFill>
              </a:rPr>
              <a:t>The effects of taxes on supply and demand in a competitive market</a:t>
            </a:r>
          </a:p>
          <a:p>
            <a:r>
              <a:rPr lang="en-US" smtClean="0">
                <a:solidFill>
                  <a:schemeClr val="accent1"/>
                </a:solidFill>
              </a:rPr>
              <a:t>What determines who really bears the burden of a tax</a:t>
            </a:r>
          </a:p>
          <a:p>
            <a:r>
              <a:rPr lang="en-US" smtClean="0"/>
              <a:t>The costs and benefits of taxes, and why taxes impose a cost that is larger than the tax revenue they raise</a:t>
            </a:r>
          </a:p>
          <a:p>
            <a:r>
              <a:rPr lang="en-US" smtClean="0"/>
              <a:t>The difference between progressive and regressive taxes and the trade-off between tax equity and tax efficiency</a:t>
            </a:r>
          </a:p>
          <a:p>
            <a:pPr>
              <a:buFont typeface="Arial" charset="0"/>
              <a:buNone/>
            </a:pPr>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5" name="Rectangle 3"/>
          <p:cNvSpPr>
            <a:spLocks noGrp="1" noChangeArrowheads="1"/>
          </p:cNvSpPr>
          <p:nvPr>
            <p:ph type="body" idx="4294967295"/>
          </p:nvPr>
        </p:nvSpPr>
        <p:spPr>
          <a:xfrm>
            <a:off x="971550" y="981075"/>
            <a:ext cx="7943850" cy="5495925"/>
          </a:xfrm>
        </p:spPr>
        <p:txBody>
          <a:bodyPr/>
          <a:lstStyle/>
          <a:p>
            <a:pPr>
              <a:lnSpc>
                <a:spcPct val="90000"/>
              </a:lnSpc>
            </a:pPr>
            <a:r>
              <a:rPr lang="en-US" smtClean="0"/>
              <a:t>Although consumers and producers are hurt by the tax, the government gains revenue. The revenue the government collects is equal to the tax per unit sold, </a:t>
            </a:r>
            <a:r>
              <a:rPr lang="en-US" i="1" smtClean="0"/>
              <a:t>T, </a:t>
            </a:r>
            <a:r>
              <a:rPr lang="en-US" smtClean="0"/>
              <a:t>multiplied by the quantity sold, </a:t>
            </a:r>
            <a:r>
              <a:rPr lang="en-US" i="1" smtClean="0"/>
              <a:t>Q</a:t>
            </a:r>
            <a:r>
              <a:rPr lang="en-US" i="1" baseline="-25000" smtClean="0"/>
              <a:t>T</a:t>
            </a:r>
            <a:r>
              <a:rPr lang="en-US" i="1" smtClean="0"/>
              <a:t>.</a:t>
            </a:r>
            <a:br>
              <a:rPr lang="en-US" i="1" smtClean="0"/>
            </a:br>
            <a:endParaRPr lang="en-US" sz="1900" i="1" smtClean="0"/>
          </a:p>
          <a:p>
            <a:pPr>
              <a:lnSpc>
                <a:spcPct val="90000"/>
              </a:lnSpc>
            </a:pPr>
            <a:r>
              <a:rPr lang="en-US" smtClean="0"/>
              <a:t>But a portion of the loss to producers and consumers from the tax is not offset by a gain to the government</a:t>
            </a:r>
            <a:r>
              <a:rPr lang="en-US" i="1" smtClean="0"/>
              <a:t>. </a:t>
            </a:r>
            <a:br>
              <a:rPr lang="en-US" i="1" smtClean="0"/>
            </a:br>
            <a:endParaRPr lang="en-US" sz="1900" i="1" smtClean="0"/>
          </a:p>
          <a:p>
            <a:pPr>
              <a:lnSpc>
                <a:spcPct val="90000"/>
              </a:lnSpc>
            </a:pPr>
            <a:r>
              <a:rPr lang="en-US" smtClean="0"/>
              <a:t>The deadweight loss caused by the tax represents the total surplus lost to society because of the tax—that is, the amount of surplus that would have been generated by transactions that now do not take place because of the tax.</a:t>
            </a:r>
          </a:p>
        </p:txBody>
      </p:sp>
      <p:sp>
        <p:nvSpPr>
          <p:cNvPr id="381956" name="Rectangle 4"/>
          <p:cNvSpPr>
            <a:spLocks noGrp="1" noRot="1" noChangeArrowheads="1"/>
          </p:cNvSpPr>
          <p:nvPr>
            <p:ph type="title" idx="4294967295"/>
          </p:nvPr>
        </p:nvSpPr>
        <p:spPr/>
        <p:txBody>
          <a:bodyPr/>
          <a:lstStyle/>
          <a:p>
            <a:pPr>
              <a:defRPr/>
            </a:pPr>
            <a:r>
              <a:rPr lang="en-US" dirty="0" smtClean="0"/>
              <a:t>The Deadweight Loss of a Tax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Effect transition="in" filter="fade">
                                      <p:cBhvr>
                                        <p:cTn id="7" dur="500"/>
                                        <p:tgtEl>
                                          <p:spTgt spid="381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1955">
                                            <p:txEl>
                                              <p:pRg st="1" end="1"/>
                                            </p:txEl>
                                          </p:spTgt>
                                        </p:tgtEl>
                                        <p:attrNameLst>
                                          <p:attrName>style.visibility</p:attrName>
                                        </p:attrNameLst>
                                      </p:cBhvr>
                                      <p:to>
                                        <p:strVal val="visible"/>
                                      </p:to>
                                    </p:set>
                                    <p:animEffect transition="in" filter="fade">
                                      <p:cBhvr>
                                        <p:cTn id="12" dur="500"/>
                                        <p:tgtEl>
                                          <p:spTgt spid="381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1955">
                                            <p:txEl>
                                              <p:pRg st="2" end="2"/>
                                            </p:txEl>
                                          </p:spTgt>
                                        </p:tgtEl>
                                        <p:attrNameLst>
                                          <p:attrName>style.visibility</p:attrName>
                                        </p:attrNameLst>
                                      </p:cBhvr>
                                      <p:to>
                                        <p:strVal val="visible"/>
                                      </p:to>
                                    </p:set>
                                    <p:animEffect transition="in" filter="fade">
                                      <p:cBhvr>
                                        <p:cTn id="17" dur="500"/>
                                        <p:tgtEl>
                                          <p:spTgt spid="3819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69" name="Rectangle 2"/>
          <p:cNvSpPr>
            <a:spLocks noGrp="1" noChangeArrowheads="1"/>
          </p:cNvSpPr>
          <p:nvPr>
            <p:ph type="title" idx="4294967295"/>
          </p:nvPr>
        </p:nvSpPr>
        <p:spPr/>
        <p:txBody>
          <a:bodyPr>
            <a:normAutofit/>
          </a:bodyPr>
          <a:lstStyle/>
          <a:p>
            <a:r>
              <a:rPr lang="en-US" sz="3000" smtClean="0">
                <a:effectLst/>
                <a:cs typeface="Arial" charset="0"/>
              </a:rPr>
              <a:t>The Welfare Effects of a Tax</a:t>
            </a:r>
          </a:p>
        </p:txBody>
      </p:sp>
      <p:sp>
        <p:nvSpPr>
          <p:cNvPr id="24" name="Right Triangle 23"/>
          <p:cNvSpPr>
            <a:spLocks noChangeArrowheads="1"/>
          </p:cNvSpPr>
          <p:nvPr/>
        </p:nvSpPr>
        <p:spPr bwMode="auto">
          <a:xfrm flipV="1">
            <a:off x="2611438" y="4632325"/>
            <a:ext cx="1700212" cy="915988"/>
          </a:xfrm>
          <a:prstGeom prst="rtTriangle">
            <a:avLst/>
          </a:prstGeom>
          <a:solidFill>
            <a:srgbClr val="F2DCDB"/>
          </a:solidFill>
          <a:ln w="25400" algn="ctr">
            <a:noFill/>
            <a:miter lim="800000"/>
            <a:headEnd/>
            <a:tailEnd/>
          </a:ln>
        </p:spPr>
        <p:txBody>
          <a:bodyPr rot="10800000" anchor="ctr"/>
          <a:lstStyle/>
          <a:p>
            <a:pPr algn="ctr"/>
            <a:endParaRPr lang="en-US" sz="1600">
              <a:solidFill>
                <a:srgbClr val="FFFFFF"/>
              </a:solidFill>
              <a:latin typeface="Myriad Pro"/>
              <a:cs typeface="Arial" charset="0"/>
            </a:endParaRPr>
          </a:p>
        </p:txBody>
      </p:sp>
      <p:sp>
        <p:nvSpPr>
          <p:cNvPr id="26" name="Isosceles Triangle 25"/>
          <p:cNvSpPr>
            <a:spLocks noChangeArrowheads="1"/>
          </p:cNvSpPr>
          <p:nvPr/>
        </p:nvSpPr>
        <p:spPr bwMode="auto">
          <a:xfrm rot="5400000">
            <a:off x="4329907" y="3278981"/>
            <a:ext cx="1338262" cy="1368425"/>
          </a:xfrm>
          <a:prstGeom prst="triangle">
            <a:avLst>
              <a:gd name="adj" fmla="val 42713"/>
            </a:avLst>
          </a:prstGeom>
          <a:solidFill>
            <a:srgbClr val="FFE5B9"/>
          </a:solidFill>
          <a:ln w="9525">
            <a:noFill/>
            <a:miter lim="800000"/>
            <a:headEnd/>
            <a:tailEnd/>
          </a:ln>
        </p:spPr>
        <p:txBody>
          <a:bodyPr rot="10800000" vert="eaVert"/>
          <a:lstStyle/>
          <a:p>
            <a:endParaRPr lang="en-US"/>
          </a:p>
        </p:txBody>
      </p:sp>
      <p:cxnSp>
        <p:nvCxnSpPr>
          <p:cNvPr id="27" name="Straight Connector 26"/>
          <p:cNvCxnSpPr>
            <a:cxnSpLocks noChangeShapeType="1"/>
          </p:cNvCxnSpPr>
          <p:nvPr/>
        </p:nvCxnSpPr>
        <p:spPr bwMode="auto">
          <a:xfrm flipH="1">
            <a:off x="4314825" y="3294063"/>
            <a:ext cx="1588" cy="2843212"/>
          </a:xfrm>
          <a:prstGeom prst="line">
            <a:avLst/>
          </a:prstGeom>
          <a:noFill/>
          <a:ln w="25400" cap="rnd" algn="ctr">
            <a:solidFill>
              <a:srgbClr val="404040"/>
            </a:solidFill>
            <a:prstDash val="sysDot"/>
            <a:round/>
            <a:headEnd/>
            <a:tailEnd/>
          </a:ln>
        </p:spPr>
      </p:cxnSp>
      <p:sp>
        <p:nvSpPr>
          <p:cNvPr id="29" name="Right Triangle 28"/>
          <p:cNvSpPr/>
          <p:nvPr/>
        </p:nvSpPr>
        <p:spPr bwMode="auto">
          <a:xfrm>
            <a:off x="2611438" y="2532063"/>
            <a:ext cx="1703387" cy="750887"/>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600">
              <a:solidFill>
                <a:srgbClr val="FFFFFF"/>
              </a:solidFill>
              <a:latin typeface="Myriad Pro"/>
              <a:ea typeface="MS PGothic" pitchFamily="34" charset="-128"/>
              <a:cs typeface="Arial" charset="0"/>
            </a:endParaRPr>
          </a:p>
        </p:txBody>
      </p:sp>
      <p:sp>
        <p:nvSpPr>
          <p:cNvPr id="83996" name="TextBox 43"/>
          <p:cNvSpPr txBox="1">
            <a:spLocks noChangeArrowheads="1"/>
          </p:cNvSpPr>
          <p:nvPr/>
        </p:nvSpPr>
        <p:spPr bwMode="auto">
          <a:xfrm>
            <a:off x="2940050" y="1660525"/>
            <a:ext cx="2438400" cy="581025"/>
          </a:xfrm>
          <a:prstGeom prst="rect">
            <a:avLst/>
          </a:prstGeom>
          <a:noFill/>
          <a:ln w="9525">
            <a:noFill/>
            <a:miter lim="800000"/>
            <a:headEnd/>
            <a:tailEnd/>
          </a:ln>
        </p:spPr>
        <p:txBody>
          <a:bodyPr>
            <a:spAutoFit/>
          </a:bodyPr>
          <a:lstStyle/>
          <a:p>
            <a:r>
              <a:rPr lang="en-US" sz="1600">
                <a:latin typeface="Myriad Pro"/>
              </a:rPr>
              <a:t>Consumer surplus— consumers get this.</a:t>
            </a:r>
          </a:p>
        </p:txBody>
      </p:sp>
      <p:sp>
        <p:nvSpPr>
          <p:cNvPr id="83998" name="TextBox 45"/>
          <p:cNvSpPr txBox="1">
            <a:spLocks noChangeArrowheads="1"/>
          </p:cNvSpPr>
          <p:nvPr/>
        </p:nvSpPr>
        <p:spPr bwMode="auto">
          <a:xfrm>
            <a:off x="5073650" y="2422525"/>
            <a:ext cx="1522413" cy="825500"/>
          </a:xfrm>
          <a:prstGeom prst="rect">
            <a:avLst/>
          </a:prstGeom>
          <a:noFill/>
          <a:ln w="9525">
            <a:noFill/>
            <a:miter lim="800000"/>
            <a:headEnd/>
            <a:tailEnd/>
          </a:ln>
        </p:spPr>
        <p:txBody>
          <a:bodyPr>
            <a:spAutoFit/>
          </a:bodyPr>
          <a:lstStyle/>
          <a:p>
            <a:r>
              <a:rPr lang="en-US" sz="1600">
                <a:latin typeface="Myriad Pro"/>
              </a:rPr>
              <a:t>Deadweight loss—no one gets this.</a:t>
            </a:r>
          </a:p>
        </p:txBody>
      </p:sp>
      <p:cxnSp>
        <p:nvCxnSpPr>
          <p:cNvPr id="36" name="Straight Arrow Connector 35"/>
          <p:cNvCxnSpPr>
            <a:cxnSpLocks noChangeShapeType="1"/>
          </p:cNvCxnSpPr>
          <p:nvPr/>
        </p:nvCxnSpPr>
        <p:spPr bwMode="auto">
          <a:xfrm flipH="1">
            <a:off x="4402138" y="3492500"/>
            <a:ext cx="3175" cy="882650"/>
          </a:xfrm>
          <a:prstGeom prst="straightConnector1">
            <a:avLst/>
          </a:prstGeom>
          <a:noFill/>
          <a:ln w="25400" algn="ctr">
            <a:solidFill>
              <a:schemeClr val="tx1"/>
            </a:solidFill>
            <a:round/>
            <a:headEnd type="arrow" w="med" len="med"/>
            <a:tailEnd type="arrow" w="med" len="med"/>
          </a:ln>
        </p:spPr>
      </p:cxnSp>
      <p:sp>
        <p:nvSpPr>
          <p:cNvPr id="84003" name="TextBox 59"/>
          <p:cNvSpPr txBox="1">
            <a:spLocks noChangeArrowheads="1"/>
          </p:cNvSpPr>
          <p:nvPr/>
        </p:nvSpPr>
        <p:spPr bwMode="auto">
          <a:xfrm rot="5400000">
            <a:off x="4360069" y="3748882"/>
            <a:ext cx="522287" cy="336550"/>
          </a:xfrm>
          <a:prstGeom prst="rect">
            <a:avLst/>
          </a:prstGeom>
          <a:noFill/>
          <a:ln w="9525">
            <a:noFill/>
            <a:miter lim="800000"/>
            <a:headEnd/>
            <a:tailEnd/>
          </a:ln>
        </p:spPr>
        <p:txBody>
          <a:bodyPr wrap="none">
            <a:spAutoFit/>
          </a:bodyPr>
          <a:lstStyle/>
          <a:p>
            <a:r>
              <a:rPr lang="en-US" sz="1600">
                <a:latin typeface="Myriad Pro"/>
              </a:rPr>
              <a:t>Tax</a:t>
            </a:r>
          </a:p>
        </p:txBody>
      </p:sp>
      <p:sp>
        <p:nvSpPr>
          <p:cNvPr id="84004" name="TextBox 60"/>
          <p:cNvSpPr txBox="1">
            <a:spLocks noChangeArrowheads="1"/>
          </p:cNvSpPr>
          <p:nvPr/>
        </p:nvSpPr>
        <p:spPr bwMode="auto">
          <a:xfrm>
            <a:off x="958850" y="2879725"/>
            <a:ext cx="1600200" cy="581025"/>
          </a:xfrm>
          <a:prstGeom prst="rect">
            <a:avLst/>
          </a:prstGeom>
          <a:noFill/>
          <a:ln w="9525">
            <a:noFill/>
            <a:miter lim="800000"/>
            <a:headEnd/>
            <a:tailEnd/>
          </a:ln>
        </p:spPr>
        <p:txBody>
          <a:bodyPr>
            <a:spAutoFit/>
          </a:bodyPr>
          <a:lstStyle/>
          <a:p>
            <a:r>
              <a:rPr lang="en-US" sz="1600">
                <a:latin typeface="Myriad Pro"/>
              </a:rPr>
              <a:t>Price buyer pays = $2.65</a:t>
            </a:r>
          </a:p>
        </p:txBody>
      </p:sp>
      <p:sp>
        <p:nvSpPr>
          <p:cNvPr id="84005" name="TextBox 61"/>
          <p:cNvSpPr txBox="1">
            <a:spLocks noChangeArrowheads="1"/>
          </p:cNvSpPr>
          <p:nvPr/>
        </p:nvSpPr>
        <p:spPr bwMode="auto">
          <a:xfrm>
            <a:off x="692150" y="4262438"/>
            <a:ext cx="1752600" cy="581025"/>
          </a:xfrm>
          <a:prstGeom prst="rect">
            <a:avLst/>
          </a:prstGeom>
          <a:noFill/>
          <a:ln w="9525">
            <a:noFill/>
            <a:miter lim="800000"/>
            <a:headEnd/>
            <a:tailEnd/>
          </a:ln>
        </p:spPr>
        <p:txBody>
          <a:bodyPr>
            <a:spAutoFit/>
          </a:bodyPr>
          <a:lstStyle/>
          <a:p>
            <a:r>
              <a:rPr lang="en-US" sz="1600">
                <a:latin typeface="Myriad Pro"/>
              </a:rPr>
              <a:t>Price seller receives = $1.65</a:t>
            </a:r>
          </a:p>
        </p:txBody>
      </p:sp>
      <p:sp>
        <p:nvSpPr>
          <p:cNvPr id="84006" name="TextBox 63"/>
          <p:cNvSpPr txBox="1">
            <a:spLocks noChangeArrowheads="1"/>
          </p:cNvSpPr>
          <p:nvPr/>
        </p:nvSpPr>
        <p:spPr bwMode="auto">
          <a:xfrm>
            <a:off x="3778250" y="6137275"/>
            <a:ext cx="1330325" cy="336550"/>
          </a:xfrm>
          <a:prstGeom prst="rect">
            <a:avLst/>
          </a:prstGeom>
          <a:noFill/>
          <a:ln w="9525">
            <a:noFill/>
            <a:miter lim="800000"/>
            <a:headEnd/>
            <a:tailEnd/>
          </a:ln>
        </p:spPr>
        <p:txBody>
          <a:bodyPr>
            <a:spAutoFit/>
          </a:bodyPr>
          <a:lstStyle/>
          <a:p>
            <a:r>
              <a:rPr lang="en-US" sz="1600">
                <a:latin typeface="Myriad Pro"/>
              </a:rPr>
              <a:t>500 = </a:t>
            </a:r>
            <a:r>
              <a:rPr lang="en-US" sz="1600" i="1">
                <a:latin typeface="Myriad Pro"/>
              </a:rPr>
              <a:t>Q</a:t>
            </a:r>
            <a:r>
              <a:rPr lang="en-US" sz="1600" baseline="-25000">
                <a:latin typeface="Myriad Pro"/>
              </a:rPr>
              <a:t>T</a:t>
            </a:r>
            <a:r>
              <a:rPr lang="en-US" sz="1600">
                <a:latin typeface="Myriad Pro"/>
              </a:rPr>
              <a:t> </a:t>
            </a:r>
          </a:p>
        </p:txBody>
      </p:sp>
      <p:sp>
        <p:nvSpPr>
          <p:cNvPr id="25" name="Rectangle 24"/>
          <p:cNvSpPr/>
          <p:nvPr/>
        </p:nvSpPr>
        <p:spPr bwMode="auto">
          <a:xfrm>
            <a:off x="2611438" y="3282950"/>
            <a:ext cx="1703387" cy="133826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600">
              <a:solidFill>
                <a:srgbClr val="FFFFFF"/>
              </a:solidFill>
              <a:latin typeface="Myriad Pro"/>
              <a:ea typeface="MS PGothic" pitchFamily="34" charset="-128"/>
              <a:cs typeface="Arial" charset="0"/>
            </a:endParaRPr>
          </a:p>
        </p:txBody>
      </p:sp>
      <p:cxnSp>
        <p:nvCxnSpPr>
          <p:cNvPr id="22" name="Straight Connector 21"/>
          <p:cNvCxnSpPr>
            <a:cxnSpLocks noChangeShapeType="1"/>
          </p:cNvCxnSpPr>
          <p:nvPr/>
        </p:nvCxnSpPr>
        <p:spPr bwMode="auto">
          <a:xfrm flipH="1" flipV="1">
            <a:off x="2611438" y="3282950"/>
            <a:ext cx="1703387" cy="3175"/>
          </a:xfrm>
          <a:prstGeom prst="line">
            <a:avLst/>
          </a:prstGeom>
          <a:noFill/>
          <a:ln w="25400" cap="rnd" algn="ctr">
            <a:solidFill>
              <a:srgbClr val="404040"/>
            </a:solidFill>
            <a:prstDash val="sysDot"/>
            <a:round/>
            <a:headEnd/>
            <a:tailEnd/>
          </a:ln>
        </p:spPr>
      </p:cxnSp>
      <p:cxnSp>
        <p:nvCxnSpPr>
          <p:cNvPr id="23" name="Straight Connector 22"/>
          <p:cNvCxnSpPr>
            <a:cxnSpLocks noChangeShapeType="1"/>
          </p:cNvCxnSpPr>
          <p:nvPr/>
        </p:nvCxnSpPr>
        <p:spPr bwMode="auto">
          <a:xfrm flipH="1" flipV="1">
            <a:off x="2635250" y="4621213"/>
            <a:ext cx="1646238" cy="1587"/>
          </a:xfrm>
          <a:prstGeom prst="line">
            <a:avLst/>
          </a:prstGeom>
          <a:noFill/>
          <a:ln w="25400" cap="rnd" algn="ctr">
            <a:solidFill>
              <a:srgbClr val="404040"/>
            </a:solidFill>
            <a:prstDash val="sysDot"/>
            <a:round/>
            <a:headEnd/>
            <a:tailEnd/>
          </a:ln>
        </p:spPr>
      </p:cxnSp>
      <p:grpSp>
        <p:nvGrpSpPr>
          <p:cNvPr id="136233" name="Group 41"/>
          <p:cNvGrpSpPr>
            <a:grpSpLocks/>
          </p:cNvGrpSpPr>
          <p:nvPr/>
        </p:nvGrpSpPr>
        <p:grpSpPr bwMode="auto">
          <a:xfrm>
            <a:off x="612775" y="728663"/>
            <a:ext cx="8423275" cy="5454650"/>
            <a:chOff x="386" y="459"/>
            <a:chExt cx="5306" cy="3436"/>
          </a:xfrm>
        </p:grpSpPr>
        <p:sp>
          <p:nvSpPr>
            <p:cNvPr id="66598" name="TextBox 3"/>
            <p:cNvSpPr txBox="1">
              <a:spLocks noChangeArrowheads="1"/>
            </p:cNvSpPr>
            <p:nvPr/>
          </p:nvSpPr>
          <p:spPr bwMode="auto">
            <a:xfrm>
              <a:off x="386" y="459"/>
              <a:ext cx="5284" cy="288"/>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auto" hangingPunct="1">
                <a:spcBef>
                  <a:spcPts val="0"/>
                </a:spcBef>
                <a:spcAft>
                  <a:spcPts val="0"/>
                </a:spcAft>
                <a:defRPr/>
              </a:pPr>
              <a:r>
                <a:rPr lang="en-US" sz="2400" b="1" i="1" dirty="0">
                  <a:solidFill>
                    <a:schemeClr val="tx1">
                      <a:lumMod val="75000"/>
                      <a:lumOff val="25000"/>
                    </a:schemeClr>
                  </a:solidFill>
                  <a:latin typeface="Myriad Pro" pitchFamily="34" charset="0"/>
                  <a:ea typeface="+mn-ea"/>
                </a:rPr>
                <a:t>A Tax </a:t>
              </a:r>
              <a:r>
                <a:rPr lang="en-US" sz="2400" b="1" i="1" dirty="0" smtClean="0">
                  <a:solidFill>
                    <a:schemeClr val="tx1">
                      <a:lumMod val="75000"/>
                      <a:lumOff val="25000"/>
                    </a:schemeClr>
                  </a:solidFill>
                  <a:latin typeface="Myriad Pro" pitchFamily="34" charset="0"/>
                  <a:ea typeface="+mn-ea"/>
                </a:rPr>
                <a:t>generates revenue and creates a deadweight loss.</a:t>
              </a:r>
              <a:endParaRPr lang="en-US" sz="2400" b="1" i="1" dirty="0">
                <a:solidFill>
                  <a:schemeClr val="tx1">
                    <a:lumMod val="75000"/>
                    <a:lumOff val="25000"/>
                  </a:schemeClr>
                </a:solidFill>
                <a:latin typeface="Myriad Pro" pitchFamily="34" charset="0"/>
                <a:ea typeface="+mn-ea"/>
              </a:endParaRPr>
            </a:p>
          </p:txBody>
        </p:sp>
        <p:grpSp>
          <p:nvGrpSpPr>
            <p:cNvPr id="136211" name="Group 40"/>
            <p:cNvGrpSpPr>
              <a:grpSpLocks/>
            </p:cNvGrpSpPr>
            <p:nvPr/>
          </p:nvGrpSpPr>
          <p:grpSpPr bwMode="auto">
            <a:xfrm>
              <a:off x="1132" y="1082"/>
              <a:ext cx="4560" cy="2813"/>
              <a:chOff x="1295400" y="2187599"/>
              <a:chExt cx="7238999" cy="3911937"/>
            </a:xfrm>
          </p:grpSpPr>
          <p:cxnSp>
            <p:nvCxnSpPr>
              <p:cNvPr id="17" name="Straight Connector 16"/>
              <p:cNvCxnSpPr/>
              <p:nvPr/>
            </p:nvCxnSpPr>
            <p:spPr bwMode="auto">
              <a:xfrm rot="5400000">
                <a:off x="263781" y="4211610"/>
                <a:ext cx="369360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2109788" y="6059205"/>
                <a:ext cx="5197474" cy="13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6214" name="TextBox 21"/>
              <p:cNvSpPr txBox="1">
                <a:spLocks noChangeArrowheads="1"/>
              </p:cNvSpPr>
              <p:nvPr/>
            </p:nvSpPr>
            <p:spPr bwMode="auto">
              <a:xfrm>
                <a:off x="1295400" y="2187599"/>
                <a:ext cx="646112" cy="294821"/>
              </a:xfrm>
              <a:prstGeom prst="rect">
                <a:avLst/>
              </a:prstGeom>
              <a:noFill/>
              <a:ln w="9525">
                <a:noFill/>
                <a:miter lim="800000"/>
                <a:headEnd/>
                <a:tailEnd/>
              </a:ln>
            </p:spPr>
            <p:txBody>
              <a:bodyPr wrap="none">
                <a:spAutoFit/>
              </a:bodyPr>
              <a:lstStyle/>
              <a:p>
                <a:r>
                  <a:rPr lang="en-US" sz="1600">
                    <a:latin typeface="Myriad Pro"/>
                  </a:rPr>
                  <a:t>Price</a:t>
                </a:r>
              </a:p>
            </p:txBody>
          </p:sp>
          <p:sp>
            <p:nvSpPr>
              <p:cNvPr id="136215" name="TextBox 22"/>
              <p:cNvSpPr txBox="1">
                <a:spLocks noChangeArrowheads="1"/>
              </p:cNvSpPr>
              <p:nvPr/>
            </p:nvSpPr>
            <p:spPr bwMode="auto">
              <a:xfrm>
                <a:off x="7306945" y="5802842"/>
                <a:ext cx="1227454" cy="296694"/>
              </a:xfrm>
              <a:prstGeom prst="rect">
                <a:avLst/>
              </a:prstGeom>
              <a:noFill/>
              <a:ln w="9525">
                <a:noFill/>
                <a:miter lim="800000"/>
                <a:headEnd/>
                <a:tailEnd/>
              </a:ln>
            </p:spPr>
            <p:txBody>
              <a:bodyPr>
                <a:spAutoFit/>
              </a:bodyPr>
              <a:lstStyle/>
              <a:p>
                <a:r>
                  <a:rPr lang="en-US" sz="1600">
                    <a:latin typeface="Myriad Pro"/>
                  </a:rPr>
                  <a:t>Quantity</a:t>
                </a:r>
              </a:p>
            </p:txBody>
          </p:sp>
        </p:grpSp>
      </p:grpSp>
      <p:cxnSp>
        <p:nvCxnSpPr>
          <p:cNvPr id="15" name="Straight Connector 14"/>
          <p:cNvCxnSpPr>
            <a:cxnSpLocks noChangeShapeType="1"/>
          </p:cNvCxnSpPr>
          <p:nvPr/>
        </p:nvCxnSpPr>
        <p:spPr bwMode="auto">
          <a:xfrm flipH="1" flipV="1">
            <a:off x="2611438" y="3883025"/>
            <a:ext cx="2957512" cy="1588"/>
          </a:xfrm>
          <a:prstGeom prst="line">
            <a:avLst/>
          </a:prstGeom>
          <a:noFill/>
          <a:ln w="25400" cap="rnd" algn="ctr">
            <a:solidFill>
              <a:srgbClr val="404040"/>
            </a:solidFill>
            <a:prstDash val="sysDot"/>
            <a:round/>
            <a:headEnd/>
            <a:tailEnd/>
          </a:ln>
        </p:spPr>
      </p:cxnSp>
      <p:cxnSp>
        <p:nvCxnSpPr>
          <p:cNvPr id="136217" name="Straight Connector 8"/>
          <p:cNvCxnSpPr>
            <a:cxnSpLocks noChangeShapeType="1"/>
          </p:cNvCxnSpPr>
          <p:nvPr/>
        </p:nvCxnSpPr>
        <p:spPr bwMode="auto">
          <a:xfrm>
            <a:off x="2611438" y="2509838"/>
            <a:ext cx="4838700" cy="2157412"/>
          </a:xfrm>
          <a:prstGeom prst="line">
            <a:avLst/>
          </a:prstGeom>
          <a:noFill/>
          <a:ln w="38100">
            <a:solidFill>
              <a:srgbClr val="3C5DAA"/>
            </a:solidFill>
            <a:miter lim="800000"/>
            <a:headEnd/>
            <a:tailEnd/>
          </a:ln>
        </p:spPr>
      </p:cxnSp>
      <p:cxnSp>
        <p:nvCxnSpPr>
          <p:cNvPr id="136218" name="Straight Connector 9"/>
          <p:cNvCxnSpPr>
            <a:cxnSpLocks noChangeShapeType="1"/>
          </p:cNvCxnSpPr>
          <p:nvPr/>
        </p:nvCxnSpPr>
        <p:spPr bwMode="auto">
          <a:xfrm flipV="1">
            <a:off x="2611438" y="2901950"/>
            <a:ext cx="4838700" cy="2646363"/>
          </a:xfrm>
          <a:prstGeom prst="line">
            <a:avLst/>
          </a:prstGeom>
          <a:noFill/>
          <a:ln w="38100">
            <a:solidFill>
              <a:srgbClr val="EE313C"/>
            </a:solidFill>
            <a:miter lim="800000"/>
            <a:headEnd/>
            <a:tailEnd/>
          </a:ln>
        </p:spPr>
      </p:cxnSp>
      <p:sp>
        <p:nvSpPr>
          <p:cNvPr id="136219" name="TextBox 18"/>
          <p:cNvSpPr txBox="1">
            <a:spLocks noChangeArrowheads="1"/>
          </p:cNvSpPr>
          <p:nvPr/>
        </p:nvSpPr>
        <p:spPr bwMode="auto">
          <a:xfrm>
            <a:off x="5149850" y="6138863"/>
            <a:ext cx="1728788" cy="338137"/>
          </a:xfrm>
          <a:prstGeom prst="rect">
            <a:avLst/>
          </a:prstGeom>
          <a:noFill/>
          <a:ln w="9525">
            <a:noFill/>
            <a:miter lim="800000"/>
            <a:headEnd/>
            <a:tailEnd/>
          </a:ln>
        </p:spPr>
        <p:txBody>
          <a:bodyPr>
            <a:spAutoFit/>
          </a:bodyPr>
          <a:lstStyle/>
          <a:p>
            <a:r>
              <a:rPr lang="en-US" sz="1600">
                <a:latin typeface="Myriad Pro"/>
              </a:rPr>
              <a:t>700 = </a:t>
            </a:r>
            <a:r>
              <a:rPr lang="en-US" sz="1600" i="1">
                <a:latin typeface="Myriad Pro"/>
              </a:rPr>
              <a:t>Q</a:t>
            </a:r>
            <a:r>
              <a:rPr lang="en-US" sz="1600" baseline="-25000">
                <a:latin typeface="Myriad Pro"/>
              </a:rPr>
              <a:t>E</a:t>
            </a:r>
            <a:r>
              <a:rPr lang="en-US" sz="1600">
                <a:latin typeface="Myriad Pro"/>
              </a:rPr>
              <a:t> </a:t>
            </a:r>
          </a:p>
        </p:txBody>
      </p:sp>
      <p:sp>
        <p:nvSpPr>
          <p:cNvPr id="136220" name="TextBox 19"/>
          <p:cNvSpPr txBox="1">
            <a:spLocks noChangeArrowheads="1"/>
          </p:cNvSpPr>
          <p:nvPr/>
        </p:nvSpPr>
        <p:spPr bwMode="auto">
          <a:xfrm>
            <a:off x="7450138" y="4568825"/>
            <a:ext cx="950912" cy="336550"/>
          </a:xfrm>
          <a:prstGeom prst="rect">
            <a:avLst/>
          </a:prstGeom>
          <a:noFill/>
          <a:ln w="9525">
            <a:noFill/>
            <a:miter lim="800000"/>
            <a:headEnd/>
            <a:tailEnd/>
          </a:ln>
        </p:spPr>
        <p:txBody>
          <a:bodyPr wrap="none">
            <a:spAutoFit/>
          </a:bodyPr>
          <a:lstStyle/>
          <a:p>
            <a:r>
              <a:rPr lang="en-US" sz="1600">
                <a:latin typeface="Myriad Pro"/>
              </a:rPr>
              <a:t>Demand</a:t>
            </a:r>
          </a:p>
        </p:txBody>
      </p:sp>
      <p:sp>
        <p:nvSpPr>
          <p:cNvPr id="136221" name="TextBox 20"/>
          <p:cNvSpPr txBox="1">
            <a:spLocks noChangeArrowheads="1"/>
          </p:cNvSpPr>
          <p:nvPr/>
        </p:nvSpPr>
        <p:spPr bwMode="auto">
          <a:xfrm>
            <a:off x="7450138" y="2509838"/>
            <a:ext cx="803275" cy="336550"/>
          </a:xfrm>
          <a:prstGeom prst="rect">
            <a:avLst/>
          </a:prstGeom>
          <a:noFill/>
          <a:ln w="9525">
            <a:noFill/>
            <a:miter lim="800000"/>
            <a:headEnd/>
            <a:tailEnd/>
          </a:ln>
        </p:spPr>
        <p:txBody>
          <a:bodyPr wrap="none">
            <a:spAutoFit/>
          </a:bodyPr>
          <a:lstStyle/>
          <a:p>
            <a:r>
              <a:rPr lang="en-US" sz="1600">
                <a:latin typeface="Myriad Pro"/>
              </a:rPr>
              <a:t>Supply</a:t>
            </a:r>
          </a:p>
        </p:txBody>
      </p:sp>
      <p:cxnSp>
        <p:nvCxnSpPr>
          <p:cNvPr id="14" name="Straight Connector 13"/>
          <p:cNvCxnSpPr>
            <a:cxnSpLocks noChangeShapeType="1"/>
          </p:cNvCxnSpPr>
          <p:nvPr/>
        </p:nvCxnSpPr>
        <p:spPr bwMode="auto">
          <a:xfrm flipH="1">
            <a:off x="5659438" y="3883025"/>
            <a:ext cx="1587" cy="2254250"/>
          </a:xfrm>
          <a:prstGeom prst="line">
            <a:avLst/>
          </a:prstGeom>
          <a:noFill/>
          <a:ln w="25400" cap="rnd" algn="ctr">
            <a:solidFill>
              <a:srgbClr val="404040"/>
            </a:solidFill>
            <a:prstDash val="sysDot"/>
            <a:round/>
            <a:headEnd/>
            <a:tailEnd/>
          </a:ln>
        </p:spPr>
      </p:cxnSp>
      <p:cxnSp>
        <p:nvCxnSpPr>
          <p:cNvPr id="33" name="Straight Arrow Connector 32"/>
          <p:cNvCxnSpPr>
            <a:cxnSpLocks noChangeShapeType="1"/>
          </p:cNvCxnSpPr>
          <p:nvPr/>
        </p:nvCxnSpPr>
        <p:spPr bwMode="auto">
          <a:xfrm flipH="1">
            <a:off x="2970213" y="2314575"/>
            <a:ext cx="268287" cy="685800"/>
          </a:xfrm>
          <a:prstGeom prst="straightConnector1">
            <a:avLst/>
          </a:prstGeom>
          <a:noFill/>
          <a:ln w="25400" algn="ctr">
            <a:solidFill>
              <a:schemeClr val="tx1"/>
            </a:solidFill>
            <a:round/>
            <a:headEnd/>
            <a:tailEnd type="arrow" w="med" len="med"/>
          </a:ln>
        </p:spPr>
      </p:cxnSp>
      <p:cxnSp>
        <p:nvCxnSpPr>
          <p:cNvPr id="34" name="Straight Arrow Connector 33"/>
          <p:cNvCxnSpPr>
            <a:cxnSpLocks noChangeShapeType="1"/>
          </p:cNvCxnSpPr>
          <p:nvPr/>
        </p:nvCxnSpPr>
        <p:spPr bwMode="auto">
          <a:xfrm flipH="1" flipV="1">
            <a:off x="3473450" y="4894263"/>
            <a:ext cx="1371600" cy="652462"/>
          </a:xfrm>
          <a:prstGeom prst="straightConnector1">
            <a:avLst/>
          </a:prstGeom>
          <a:noFill/>
          <a:ln w="25400" algn="ctr">
            <a:solidFill>
              <a:schemeClr val="tx1"/>
            </a:solidFill>
            <a:round/>
            <a:headEnd/>
            <a:tailEnd type="arrow" w="med" len="med"/>
          </a:ln>
        </p:spPr>
      </p:cxnSp>
      <p:cxnSp>
        <p:nvCxnSpPr>
          <p:cNvPr id="35" name="Straight Arrow Connector 34"/>
          <p:cNvCxnSpPr>
            <a:cxnSpLocks noChangeShapeType="1"/>
          </p:cNvCxnSpPr>
          <p:nvPr/>
        </p:nvCxnSpPr>
        <p:spPr bwMode="auto">
          <a:xfrm flipH="1">
            <a:off x="4941888" y="3392488"/>
            <a:ext cx="268287" cy="685800"/>
          </a:xfrm>
          <a:prstGeom prst="straightConnector1">
            <a:avLst/>
          </a:prstGeom>
          <a:noFill/>
          <a:ln w="25400" algn="ctr">
            <a:solidFill>
              <a:schemeClr val="tx1"/>
            </a:solidFill>
            <a:round/>
            <a:headEnd/>
            <a:tailEnd type="arrow" w="med" len="med"/>
          </a:ln>
        </p:spPr>
      </p:cxnSp>
      <p:sp>
        <p:nvSpPr>
          <p:cNvPr id="44" name="TextBox 40"/>
          <p:cNvSpPr txBox="1">
            <a:spLocks noChangeArrowheads="1"/>
          </p:cNvSpPr>
          <p:nvPr/>
        </p:nvSpPr>
        <p:spPr bwMode="auto">
          <a:xfrm>
            <a:off x="4845050" y="4546600"/>
            <a:ext cx="2139950" cy="581025"/>
          </a:xfrm>
          <a:prstGeom prst="rect">
            <a:avLst/>
          </a:prstGeom>
          <a:solidFill>
            <a:schemeClr val="bg1"/>
          </a:solidFill>
          <a:ln w="9525">
            <a:noFill/>
            <a:miter lim="800000"/>
            <a:headEnd/>
            <a:tailEnd/>
          </a:ln>
        </p:spPr>
        <p:txBody>
          <a:bodyPr>
            <a:spAutoFit/>
          </a:bodyPr>
          <a:lstStyle/>
          <a:p>
            <a:r>
              <a:rPr lang="en-US" sz="1600">
                <a:latin typeface="Myriad Pro"/>
              </a:rPr>
              <a:t>Tax revenue—the government gets this.</a:t>
            </a:r>
          </a:p>
        </p:txBody>
      </p:sp>
      <p:cxnSp>
        <p:nvCxnSpPr>
          <p:cNvPr id="45" name="Straight Arrow Connector 44"/>
          <p:cNvCxnSpPr>
            <a:cxnSpLocks noChangeShapeType="1"/>
          </p:cNvCxnSpPr>
          <p:nvPr/>
        </p:nvCxnSpPr>
        <p:spPr bwMode="auto">
          <a:xfrm flipH="1" flipV="1">
            <a:off x="3473450" y="4327525"/>
            <a:ext cx="1371600" cy="652463"/>
          </a:xfrm>
          <a:prstGeom prst="straightConnector1">
            <a:avLst/>
          </a:prstGeom>
          <a:noFill/>
          <a:ln w="25400" algn="ctr">
            <a:solidFill>
              <a:schemeClr val="tx1"/>
            </a:solidFill>
            <a:round/>
            <a:headEnd/>
            <a:tailEnd type="arrow" w="med" len="med"/>
          </a:ln>
        </p:spPr>
      </p:cxnSp>
      <p:sp>
        <p:nvSpPr>
          <p:cNvPr id="83997" name="TextBox 44"/>
          <p:cNvSpPr txBox="1">
            <a:spLocks noChangeArrowheads="1"/>
          </p:cNvSpPr>
          <p:nvPr/>
        </p:nvSpPr>
        <p:spPr bwMode="auto">
          <a:xfrm>
            <a:off x="4859338" y="5373688"/>
            <a:ext cx="2667000" cy="581025"/>
          </a:xfrm>
          <a:prstGeom prst="rect">
            <a:avLst/>
          </a:prstGeom>
          <a:solidFill>
            <a:schemeClr val="bg1"/>
          </a:solidFill>
          <a:ln w="9525">
            <a:noFill/>
            <a:miter lim="800000"/>
            <a:headEnd/>
            <a:tailEnd/>
          </a:ln>
        </p:spPr>
        <p:txBody>
          <a:bodyPr>
            <a:spAutoFit/>
          </a:bodyPr>
          <a:lstStyle/>
          <a:p>
            <a:r>
              <a:rPr lang="en-US" sz="1600">
                <a:latin typeface="Myriad Pro"/>
              </a:rPr>
              <a:t>Producer surplus—producers get this.</a:t>
            </a:r>
          </a:p>
        </p:txBody>
      </p:sp>
      <p:sp>
        <p:nvSpPr>
          <p:cNvPr id="83994" name="TextBox 40"/>
          <p:cNvSpPr txBox="1">
            <a:spLocks noChangeArrowheads="1"/>
          </p:cNvSpPr>
          <p:nvPr/>
        </p:nvSpPr>
        <p:spPr bwMode="auto">
          <a:xfrm>
            <a:off x="2635250" y="3352800"/>
            <a:ext cx="1165225" cy="825500"/>
          </a:xfrm>
          <a:prstGeom prst="rect">
            <a:avLst/>
          </a:prstGeom>
          <a:noFill/>
          <a:ln w="9525">
            <a:noFill/>
            <a:miter lim="800000"/>
            <a:headEnd/>
            <a:tailEnd/>
          </a:ln>
        </p:spPr>
        <p:txBody>
          <a:bodyPr>
            <a:spAutoFit/>
          </a:bodyPr>
          <a:lstStyle/>
          <a:p>
            <a:r>
              <a:rPr lang="en-US" sz="1600">
                <a:latin typeface="Myriad Pro"/>
              </a:rPr>
              <a:t>Tax Revenue</a:t>
            </a:r>
          </a:p>
          <a:p>
            <a:r>
              <a:rPr lang="en-US" sz="1600">
                <a:latin typeface="Myriad Pro"/>
              </a:rPr>
              <a:t>= $500</a:t>
            </a:r>
          </a:p>
        </p:txBody>
      </p:sp>
      <p:sp>
        <p:nvSpPr>
          <p:cNvPr id="42" name="Freeform 42"/>
          <p:cNvSpPr>
            <a:spLocks/>
          </p:cNvSpPr>
          <p:nvPr/>
        </p:nvSpPr>
        <p:spPr bwMode="auto">
          <a:xfrm>
            <a:off x="2330450" y="3276600"/>
            <a:ext cx="228600" cy="1331913"/>
          </a:xfrm>
          <a:custGeom>
            <a:avLst/>
            <a:gdLst>
              <a:gd name="T0" fmla="*/ 228600 w 25"/>
              <a:gd name="T1" fmla="*/ 0 h 243"/>
              <a:gd name="T2" fmla="*/ 91440 w 25"/>
              <a:gd name="T3" fmla="*/ 87698 h 243"/>
              <a:gd name="T4" fmla="*/ 91440 w 25"/>
              <a:gd name="T5" fmla="*/ 608405 h 243"/>
              <a:gd name="T6" fmla="*/ 0 w 25"/>
              <a:gd name="T7" fmla="*/ 663216 h 243"/>
              <a:gd name="T8" fmla="*/ 91440 w 25"/>
              <a:gd name="T9" fmla="*/ 723509 h 243"/>
              <a:gd name="T10" fmla="*/ 91440 w 25"/>
              <a:gd name="T11" fmla="*/ 1244216 h 243"/>
              <a:gd name="T12" fmla="*/ 228600 w 25"/>
              <a:gd name="T13" fmla="*/ 1331914 h 243"/>
              <a:gd name="T14" fmla="*/ 0 60000 65536"/>
              <a:gd name="T15" fmla="*/ 0 60000 65536"/>
              <a:gd name="T16" fmla="*/ 0 60000 65536"/>
              <a:gd name="T17" fmla="*/ 0 60000 65536"/>
              <a:gd name="T18" fmla="*/ 0 60000 65536"/>
              <a:gd name="T19" fmla="*/ 0 60000 65536"/>
              <a:gd name="T20" fmla="*/ 0 60000 65536"/>
              <a:gd name="T21" fmla="*/ 0 w 25"/>
              <a:gd name="T22" fmla="*/ 0 h 243"/>
              <a:gd name="T23" fmla="*/ 25 w 25"/>
              <a:gd name="T24" fmla="*/ 243 h 2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43">
                <a:moveTo>
                  <a:pt x="25" y="0"/>
                </a:moveTo>
                <a:cubicBezTo>
                  <a:pt x="15" y="0"/>
                  <a:pt x="10" y="3"/>
                  <a:pt x="10" y="16"/>
                </a:cubicBezTo>
                <a:cubicBezTo>
                  <a:pt x="10" y="19"/>
                  <a:pt x="10" y="109"/>
                  <a:pt x="10" y="111"/>
                </a:cubicBezTo>
                <a:cubicBezTo>
                  <a:pt x="10" y="114"/>
                  <a:pt x="8" y="121"/>
                  <a:pt x="0" y="121"/>
                </a:cubicBezTo>
                <a:cubicBezTo>
                  <a:pt x="8" y="121"/>
                  <a:pt x="10" y="128"/>
                  <a:pt x="10" y="132"/>
                </a:cubicBezTo>
                <a:cubicBezTo>
                  <a:pt x="10" y="134"/>
                  <a:pt x="10" y="224"/>
                  <a:pt x="10" y="227"/>
                </a:cubicBezTo>
                <a:cubicBezTo>
                  <a:pt x="10" y="240"/>
                  <a:pt x="15" y="243"/>
                  <a:pt x="25" y="243"/>
                </a:cubicBezTo>
              </a:path>
            </a:pathLst>
          </a:custGeom>
          <a:noFill/>
          <a:ln w="28575" cap="flat">
            <a:solidFill>
              <a:srgbClr val="6D6F71"/>
            </a:solidFill>
            <a:prstDash val="solid"/>
            <a:round/>
            <a:headEnd/>
            <a:tailEnd/>
          </a:ln>
        </p:spPr>
        <p:txBody>
          <a:bodyPr/>
          <a:lstStyle/>
          <a:p>
            <a:endParaRPr lang="en-US"/>
          </a:p>
        </p:txBody>
      </p:sp>
      <p:sp>
        <p:nvSpPr>
          <p:cNvPr id="43" name="Freeform 43"/>
          <p:cNvSpPr>
            <a:spLocks/>
          </p:cNvSpPr>
          <p:nvPr/>
        </p:nvSpPr>
        <p:spPr bwMode="auto">
          <a:xfrm>
            <a:off x="1223963" y="3681413"/>
            <a:ext cx="1030287" cy="460375"/>
          </a:xfrm>
          <a:custGeom>
            <a:avLst/>
            <a:gdLst>
              <a:gd name="T0" fmla="*/ 762003 w 128"/>
              <a:gd name="T1" fmla="*/ 234909 h 96"/>
              <a:gd name="T2" fmla="*/ 666752 w 128"/>
              <a:gd name="T3" fmla="*/ 281891 h 96"/>
              <a:gd name="T4" fmla="*/ 95250 w 128"/>
              <a:gd name="T5" fmla="*/ 281891 h 96"/>
              <a:gd name="T6" fmla="*/ 0 w 128"/>
              <a:gd name="T7" fmla="*/ 234909 h 96"/>
              <a:gd name="T8" fmla="*/ 0 w 128"/>
              <a:gd name="T9" fmla="*/ 46982 h 96"/>
              <a:gd name="T10" fmla="*/ 95250 w 128"/>
              <a:gd name="T11" fmla="*/ 0 h 96"/>
              <a:gd name="T12" fmla="*/ 666752 w 128"/>
              <a:gd name="T13" fmla="*/ 0 h 96"/>
              <a:gd name="T14" fmla="*/ 762003 w 128"/>
              <a:gd name="T15" fmla="*/ 46982 h 96"/>
              <a:gd name="T16" fmla="*/ 762003 w 128"/>
              <a:gd name="T17" fmla="*/ 234909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96"/>
              <a:gd name="T29" fmla="*/ 128 w 128"/>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8" h="96">
                <a:moveTo>
                  <a:pt x="128" y="80"/>
                </a:moveTo>
                <a:cubicBezTo>
                  <a:pt x="128" y="89"/>
                  <a:pt x="120" y="96"/>
                  <a:pt x="112" y="96"/>
                </a:cubicBezTo>
                <a:cubicBezTo>
                  <a:pt x="16" y="96"/>
                  <a:pt x="16" y="96"/>
                  <a:pt x="16" y="96"/>
                </a:cubicBezTo>
                <a:cubicBezTo>
                  <a:pt x="8" y="96"/>
                  <a:pt x="0" y="89"/>
                  <a:pt x="0" y="80"/>
                </a:cubicBezTo>
                <a:cubicBezTo>
                  <a:pt x="0" y="16"/>
                  <a:pt x="0" y="16"/>
                  <a:pt x="0" y="16"/>
                </a:cubicBezTo>
                <a:cubicBezTo>
                  <a:pt x="0" y="7"/>
                  <a:pt x="8" y="0"/>
                  <a:pt x="16" y="0"/>
                </a:cubicBezTo>
                <a:cubicBezTo>
                  <a:pt x="112" y="0"/>
                  <a:pt x="112" y="0"/>
                  <a:pt x="112" y="0"/>
                </a:cubicBezTo>
                <a:cubicBezTo>
                  <a:pt x="120" y="0"/>
                  <a:pt x="128" y="7"/>
                  <a:pt x="128" y="16"/>
                </a:cubicBezTo>
                <a:lnTo>
                  <a:pt x="128" y="80"/>
                </a:lnTo>
                <a:close/>
              </a:path>
            </a:pathLst>
          </a:custGeom>
          <a:solidFill>
            <a:srgbClr val="D6E2E0"/>
          </a:solidFill>
          <a:ln w="9525">
            <a:noFill/>
            <a:round/>
            <a:headEnd/>
            <a:tailEnd/>
          </a:ln>
        </p:spPr>
        <p:txBody>
          <a:bodyPr/>
          <a:lstStyle/>
          <a:p>
            <a:endParaRPr lang="en-US"/>
          </a:p>
        </p:txBody>
      </p:sp>
      <p:sp>
        <p:nvSpPr>
          <p:cNvPr id="46" name="Rectangle 44"/>
          <p:cNvSpPr>
            <a:spLocks noChangeArrowheads="1"/>
          </p:cNvSpPr>
          <p:nvPr/>
        </p:nvSpPr>
        <p:spPr bwMode="auto">
          <a:xfrm>
            <a:off x="1331913" y="3767138"/>
            <a:ext cx="850900" cy="274637"/>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tax = $1</a:t>
            </a:r>
            <a:endParaRPr lang="en-US">
              <a:latin typeface="Myriad Pro"/>
            </a:endParaRPr>
          </a:p>
        </p:txBody>
      </p:sp>
      <p:sp>
        <p:nvSpPr>
          <p:cNvPr id="353312" name="Line 32"/>
          <p:cNvSpPr>
            <a:spLocks noChangeShapeType="1"/>
          </p:cNvSpPr>
          <p:nvPr/>
        </p:nvSpPr>
        <p:spPr bwMode="auto">
          <a:xfrm flipH="1">
            <a:off x="4427538" y="6489700"/>
            <a:ext cx="1200150" cy="0"/>
          </a:xfrm>
          <a:prstGeom prst="line">
            <a:avLst/>
          </a:prstGeom>
          <a:noFill/>
          <a:ln w="25400">
            <a:solidFill>
              <a:srgbClr val="000000"/>
            </a:solidFill>
            <a:miter lim="800000"/>
            <a:headEnd/>
            <a:tailEnd type="stealth" w="lg" len="lg"/>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500"/>
                                        <p:tgtEl>
                                          <p:spTgt spid="4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500"/>
                                        <p:tgtEl>
                                          <p:spTgt spid="43"/>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84003"/>
                                        </p:tgtEl>
                                        <p:attrNameLst>
                                          <p:attrName>style.visibility</p:attrName>
                                        </p:attrNameLst>
                                      </p:cBhvr>
                                      <p:to>
                                        <p:strVal val="visible"/>
                                      </p:to>
                                    </p:set>
                                    <p:animEffect transition="in" filter="dissolve">
                                      <p:cBhvr>
                                        <p:cTn id="17" dur="500"/>
                                        <p:tgtEl>
                                          <p:spTgt spid="84003"/>
                                        </p:tgtEl>
                                      </p:cBhvr>
                                    </p:animEffect>
                                  </p:childTnLst>
                                </p:cTn>
                              </p:par>
                              <p:par>
                                <p:cTn id="18" presetID="9" presetClass="entr" presetSubtype="0" fill="hold"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dissolve">
                                      <p:cBhvr>
                                        <p:cTn id="20" dur="500"/>
                                        <p:tgtEl>
                                          <p:spTgt spid="3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dissolve">
                                      <p:cBhvr>
                                        <p:cTn id="25" dur="500"/>
                                        <p:tgtEl>
                                          <p:spTgt spid="2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83998"/>
                                        </p:tgtEl>
                                        <p:attrNameLst>
                                          <p:attrName>style.visibility</p:attrName>
                                        </p:attrNameLst>
                                      </p:cBhvr>
                                      <p:to>
                                        <p:strVal val="visible"/>
                                      </p:to>
                                    </p:set>
                                    <p:animEffect transition="in" filter="dissolve">
                                      <p:cBhvr>
                                        <p:cTn id="28" dur="500"/>
                                        <p:tgtEl>
                                          <p:spTgt spid="83998"/>
                                        </p:tgtEl>
                                      </p:cBhvr>
                                    </p:animEffect>
                                  </p:childTnLst>
                                </p:cTn>
                              </p:par>
                              <p:par>
                                <p:cTn id="29" presetID="9"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dissolve">
                                      <p:cBhvr>
                                        <p:cTn id="31" dur="500"/>
                                        <p:tgtEl>
                                          <p:spTgt spid="3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4004"/>
                                        </p:tgtEl>
                                        <p:attrNameLst>
                                          <p:attrName>style.visibility</p:attrName>
                                        </p:attrNameLst>
                                      </p:cBhvr>
                                      <p:to>
                                        <p:strVal val="visible"/>
                                      </p:to>
                                    </p:set>
                                    <p:animEffect transition="in" filter="dissolve">
                                      <p:cBhvr>
                                        <p:cTn id="36" dur="500"/>
                                        <p:tgtEl>
                                          <p:spTgt spid="84004"/>
                                        </p:tgtEl>
                                      </p:cBhvr>
                                    </p:animEffect>
                                  </p:childTnLst>
                                </p:cTn>
                              </p:par>
                              <p:par>
                                <p:cTn id="37" presetID="9"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84006"/>
                                        </p:tgtEl>
                                        <p:attrNameLst>
                                          <p:attrName>style.visibility</p:attrName>
                                        </p:attrNameLst>
                                      </p:cBhvr>
                                      <p:to>
                                        <p:strVal val="visible"/>
                                      </p:to>
                                    </p:set>
                                    <p:animEffect transition="in" filter="dissolve">
                                      <p:cBhvr>
                                        <p:cTn id="45" dur="500"/>
                                        <p:tgtEl>
                                          <p:spTgt spid="8400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dissolve">
                                      <p:cBhvr>
                                        <p:cTn id="50" dur="500"/>
                                        <p:tgtEl>
                                          <p:spTgt spid="29"/>
                                        </p:tgtEl>
                                      </p:cBhvr>
                                    </p:animEffect>
                                  </p:childTnLst>
                                </p:cTn>
                              </p:par>
                              <p:par>
                                <p:cTn id="51" presetID="9"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dissolve">
                                      <p:cBhvr>
                                        <p:cTn id="53" dur="500"/>
                                        <p:tgtEl>
                                          <p:spTgt spid="33"/>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83996"/>
                                        </p:tgtEl>
                                        <p:attrNameLst>
                                          <p:attrName>style.visibility</p:attrName>
                                        </p:attrNameLst>
                                      </p:cBhvr>
                                      <p:to>
                                        <p:strVal val="visible"/>
                                      </p:to>
                                    </p:set>
                                    <p:animEffect transition="in" filter="dissolve">
                                      <p:cBhvr>
                                        <p:cTn id="56" dur="500"/>
                                        <p:tgtEl>
                                          <p:spTgt spid="8399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84005"/>
                                        </p:tgtEl>
                                        <p:attrNameLst>
                                          <p:attrName>style.visibility</p:attrName>
                                        </p:attrNameLst>
                                      </p:cBhvr>
                                      <p:to>
                                        <p:strVal val="visible"/>
                                      </p:to>
                                    </p:set>
                                    <p:animEffect transition="in" filter="dissolve">
                                      <p:cBhvr>
                                        <p:cTn id="61" dur="500"/>
                                        <p:tgtEl>
                                          <p:spTgt spid="84005"/>
                                        </p:tgtEl>
                                      </p:cBhvr>
                                    </p:animEffect>
                                  </p:childTnLst>
                                </p:cTn>
                              </p:par>
                              <p:par>
                                <p:cTn id="62" presetID="9"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dissolve">
                                      <p:cBhvr>
                                        <p:cTn id="69" dur="500"/>
                                        <p:tgtEl>
                                          <p:spTgt spid="24"/>
                                        </p:tgtEl>
                                      </p:cBhvr>
                                    </p:animEffect>
                                  </p:childTnLst>
                                </p:cTn>
                              </p:par>
                              <p:par>
                                <p:cTn id="70" presetID="9" presetClass="entr" presetSubtype="0" fill="hold" nodeType="with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dissolve">
                                      <p:cBhvr>
                                        <p:cTn id="72" dur="500"/>
                                        <p:tgtEl>
                                          <p:spTgt spid="34"/>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83997"/>
                                        </p:tgtEl>
                                        <p:attrNameLst>
                                          <p:attrName>style.visibility</p:attrName>
                                        </p:attrNameLst>
                                      </p:cBhvr>
                                      <p:to>
                                        <p:strVal val="visible"/>
                                      </p:to>
                                    </p:set>
                                    <p:animEffect transition="in" filter="dissolve">
                                      <p:cBhvr>
                                        <p:cTn id="75" dur="500"/>
                                        <p:tgtEl>
                                          <p:spTgt spid="8399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dissolve">
                                      <p:cBhvr>
                                        <p:cTn id="80" dur="500"/>
                                        <p:tgtEl>
                                          <p:spTgt spid="25"/>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83994"/>
                                        </p:tgtEl>
                                        <p:attrNameLst>
                                          <p:attrName>style.visibility</p:attrName>
                                        </p:attrNameLst>
                                      </p:cBhvr>
                                      <p:to>
                                        <p:strVal val="visible"/>
                                      </p:to>
                                    </p:set>
                                    <p:animEffect transition="in" filter="dissolve">
                                      <p:cBhvr>
                                        <p:cTn id="83" dur="500"/>
                                        <p:tgtEl>
                                          <p:spTgt spid="83994"/>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dissolve">
                                      <p:cBhvr>
                                        <p:cTn id="86" dur="500"/>
                                        <p:tgtEl>
                                          <p:spTgt spid="44"/>
                                        </p:tgtEl>
                                      </p:cBhvr>
                                    </p:animEffect>
                                  </p:childTnLst>
                                </p:cTn>
                              </p:par>
                              <p:par>
                                <p:cTn id="87" presetID="9"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dissolve">
                                      <p:cBhvr>
                                        <p:cTn id="89" dur="500"/>
                                        <p:tgtEl>
                                          <p:spTgt spid="4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2" fill="hold" grpId="0" nodeType="clickEffect">
                                  <p:stCondLst>
                                    <p:cond delay="0"/>
                                  </p:stCondLst>
                                  <p:childTnLst>
                                    <p:set>
                                      <p:cBhvr>
                                        <p:cTn id="93" dur="1" fill="hold">
                                          <p:stCondLst>
                                            <p:cond delay="0"/>
                                          </p:stCondLst>
                                        </p:cTn>
                                        <p:tgtEl>
                                          <p:spTgt spid="353312"/>
                                        </p:tgtEl>
                                        <p:attrNameLst>
                                          <p:attrName>style.visibility</p:attrName>
                                        </p:attrNameLst>
                                      </p:cBhvr>
                                      <p:to>
                                        <p:strVal val="visible"/>
                                      </p:to>
                                    </p:set>
                                    <p:animEffect transition="in" filter="wipe(right)">
                                      <p:cBhvr>
                                        <p:cTn id="94" dur="500"/>
                                        <p:tgtEl>
                                          <p:spTgt spid="353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9" grpId="0" animBg="1"/>
      <p:bldP spid="83996" grpId="0"/>
      <p:bldP spid="83998" grpId="0"/>
      <p:bldP spid="84003" grpId="0"/>
      <p:bldP spid="84004" grpId="0"/>
      <p:bldP spid="84005" grpId="0"/>
      <p:bldP spid="84006" grpId="0"/>
      <p:bldP spid="25" grpId="0" animBg="1"/>
      <p:bldP spid="44" grpId="0" animBg="1"/>
      <p:bldP spid="83997" grpId="0" animBg="1"/>
      <p:bldP spid="83994" grpId="0"/>
      <p:bldP spid="42" grpId="0" animBg="1"/>
      <p:bldP spid="43" grpId="0" animBg="1"/>
      <p:bldP spid="46" grpId="0"/>
      <p:bldP spid="3533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body" idx="4294967295"/>
          </p:nvPr>
        </p:nvSpPr>
        <p:spPr>
          <a:xfrm>
            <a:off x="971550" y="981075"/>
            <a:ext cx="7993063" cy="5327650"/>
          </a:xfrm>
        </p:spPr>
        <p:txBody>
          <a:bodyPr/>
          <a:lstStyle/>
          <a:p>
            <a:pPr>
              <a:lnSpc>
                <a:spcPct val="90000"/>
              </a:lnSpc>
            </a:pPr>
            <a:r>
              <a:rPr lang="en-US" smtClean="0"/>
              <a:t>Using a triangle to measure deadweight loss is a technique used in many economic applications. For example, triangles are used to measure the deadweight loss produced by types of taxes other than excise taxes. </a:t>
            </a:r>
            <a:br>
              <a:rPr lang="en-US" smtClean="0"/>
            </a:br>
            <a:endParaRPr lang="en-US" smtClean="0"/>
          </a:p>
          <a:p>
            <a:pPr>
              <a:lnSpc>
                <a:spcPct val="90000"/>
              </a:lnSpc>
            </a:pPr>
            <a:r>
              <a:rPr lang="en-US" smtClean="0"/>
              <a:t>They are also used to measure the deadweight loss produced by monopoly, another kind of market distortion. </a:t>
            </a:r>
            <a:br>
              <a:rPr lang="en-US" smtClean="0"/>
            </a:br>
            <a:endParaRPr lang="en-US" smtClean="0"/>
          </a:p>
          <a:p>
            <a:pPr>
              <a:lnSpc>
                <a:spcPct val="90000"/>
              </a:lnSpc>
            </a:pPr>
            <a:r>
              <a:rPr lang="en-US" smtClean="0"/>
              <a:t>Deadweight-loss triangles are often used to evaluate the benefits and costs of public policies besides taxation—such as whether to impose stricter safety standards on a product.</a:t>
            </a:r>
          </a:p>
        </p:txBody>
      </p:sp>
      <p:sp>
        <p:nvSpPr>
          <p:cNvPr id="384003" name="Rectangle 3"/>
          <p:cNvSpPr>
            <a:spLocks noGrp="1" noRot="1" noChangeArrowheads="1"/>
          </p:cNvSpPr>
          <p:nvPr>
            <p:ph type="title" idx="4294967295"/>
          </p:nvPr>
        </p:nvSpPr>
        <p:spPr>
          <a:xfrm>
            <a:off x="971550" y="60325"/>
            <a:ext cx="7993063" cy="555625"/>
          </a:xfrm>
        </p:spPr>
        <p:txBody>
          <a:bodyPr/>
          <a:lstStyle/>
          <a:p>
            <a:pPr>
              <a:defRPr/>
            </a:pPr>
            <a:r>
              <a:rPr lang="en-US" dirty="0" smtClean="0"/>
              <a:t>The Deadweight Loss of a Tax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4002">
                                            <p:txEl>
                                              <p:pRg st="0" end="0"/>
                                            </p:txEl>
                                          </p:spTgt>
                                        </p:tgtEl>
                                        <p:attrNameLst>
                                          <p:attrName>style.visibility</p:attrName>
                                        </p:attrNameLst>
                                      </p:cBhvr>
                                      <p:to>
                                        <p:strVal val="visible"/>
                                      </p:to>
                                    </p:set>
                                    <p:animEffect transition="in" filter="fade">
                                      <p:cBhvr>
                                        <p:cTn id="7" dur="500"/>
                                        <p:tgtEl>
                                          <p:spTgt spid="3840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4002">
                                            <p:txEl>
                                              <p:pRg st="1" end="1"/>
                                            </p:txEl>
                                          </p:spTgt>
                                        </p:tgtEl>
                                        <p:attrNameLst>
                                          <p:attrName>style.visibility</p:attrName>
                                        </p:attrNameLst>
                                      </p:cBhvr>
                                      <p:to>
                                        <p:strVal val="visible"/>
                                      </p:to>
                                    </p:set>
                                    <p:animEffect transition="in" filter="fade">
                                      <p:cBhvr>
                                        <p:cTn id="12" dur="500"/>
                                        <p:tgtEl>
                                          <p:spTgt spid="3840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4002">
                                            <p:txEl>
                                              <p:pRg st="2" end="2"/>
                                            </p:txEl>
                                          </p:spTgt>
                                        </p:tgtEl>
                                        <p:attrNameLst>
                                          <p:attrName>style.visibility</p:attrName>
                                        </p:attrNameLst>
                                      </p:cBhvr>
                                      <p:to>
                                        <p:strVal val="visible"/>
                                      </p:to>
                                    </p:set>
                                    <p:animEffect transition="in" filter="fade">
                                      <p:cBhvr>
                                        <p:cTn id="17" dur="500"/>
                                        <p:tgtEl>
                                          <p:spTgt spid="38400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p:cNvSpPr>
            <a:spLocks noGrp="1"/>
          </p:cNvSpPr>
          <p:nvPr>
            <p:ph type="title" idx="4294967295"/>
          </p:nvPr>
        </p:nvSpPr>
        <p:spPr bwMode="auto">
          <a:noFill/>
        </p:spPr>
        <p:txBody>
          <a:bodyPr/>
          <a:lstStyle/>
          <a:p>
            <a:r>
              <a:rPr lang="en-US" smtClean="0">
                <a:effectLst/>
              </a:rPr>
              <a:t>Deadweight Loss, Tax Revenue and Tax Size</a:t>
            </a:r>
          </a:p>
        </p:txBody>
      </p:sp>
      <p:grpSp>
        <p:nvGrpSpPr>
          <p:cNvPr id="129138" name="Group 114"/>
          <p:cNvGrpSpPr>
            <a:grpSpLocks/>
          </p:cNvGrpSpPr>
          <p:nvPr/>
        </p:nvGrpSpPr>
        <p:grpSpPr bwMode="auto">
          <a:xfrm>
            <a:off x="581025" y="723900"/>
            <a:ext cx="2730500" cy="3857625"/>
            <a:chOff x="385" y="663"/>
            <a:chExt cx="1720" cy="2430"/>
          </a:xfrm>
        </p:grpSpPr>
        <p:grpSp>
          <p:nvGrpSpPr>
            <p:cNvPr id="2" name="Group 76"/>
            <p:cNvGrpSpPr>
              <a:grpSpLocks/>
            </p:cNvGrpSpPr>
            <p:nvPr/>
          </p:nvGrpSpPr>
          <p:grpSpPr bwMode="auto">
            <a:xfrm>
              <a:off x="454" y="965"/>
              <a:ext cx="1543" cy="1725"/>
              <a:chOff x="395404" y="2415331"/>
              <a:chExt cx="2829935" cy="2738544"/>
            </a:xfrm>
          </p:grpSpPr>
          <p:sp>
            <p:nvSpPr>
              <p:cNvPr id="7" name="Rectangle 6"/>
              <p:cNvSpPr/>
              <p:nvPr/>
            </p:nvSpPr>
            <p:spPr>
              <a:xfrm>
                <a:off x="729201" y="2694742"/>
                <a:ext cx="2496137" cy="245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129032" name="Group 5"/>
              <p:cNvGrpSpPr>
                <a:grpSpLocks/>
              </p:cNvGrpSpPr>
              <p:nvPr/>
            </p:nvGrpSpPr>
            <p:grpSpPr bwMode="auto">
              <a:xfrm>
                <a:off x="395404" y="2415331"/>
                <a:ext cx="745513" cy="2738544"/>
                <a:chOff x="1497047" y="1833960"/>
                <a:chExt cx="745513" cy="2738041"/>
              </a:xfrm>
            </p:grpSpPr>
            <p:cxnSp>
              <p:nvCxnSpPr>
                <p:cNvPr id="9" name="Straight Connector 8"/>
                <p:cNvCxnSpPr/>
                <p:nvPr/>
              </p:nvCxnSpPr>
              <p:spPr>
                <a:xfrm rot="16200000" flipH="1">
                  <a:off x="597835" y="3340826"/>
                  <a:ext cx="2458682" cy="36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034" name="TextBox 7"/>
                <p:cNvSpPr txBox="1">
                  <a:spLocks noChangeArrowheads="1"/>
                </p:cNvSpPr>
                <p:nvPr/>
              </p:nvSpPr>
              <p:spPr bwMode="auto">
                <a:xfrm>
                  <a:off x="1497047" y="1833960"/>
                  <a:ext cx="745513" cy="336501"/>
                </a:xfrm>
                <a:prstGeom prst="rect">
                  <a:avLst/>
                </a:prstGeom>
                <a:noFill/>
                <a:ln w="9525">
                  <a:noFill/>
                  <a:miter lim="800000"/>
                  <a:headEnd/>
                  <a:tailEnd/>
                </a:ln>
              </p:spPr>
              <p:txBody>
                <a:bodyPr wrap="none">
                  <a:spAutoFit/>
                </a:bodyPr>
                <a:lstStyle/>
                <a:p>
                  <a:pPr>
                    <a:spcBef>
                      <a:spcPct val="20000"/>
                    </a:spcBef>
                  </a:pPr>
                  <a:r>
                    <a:rPr lang="en-US" sz="1600">
                      <a:latin typeface="Arial" charset="0"/>
                    </a:rPr>
                    <a:t>Price</a:t>
                  </a:r>
                </a:p>
              </p:txBody>
            </p:sp>
          </p:grpSp>
        </p:grpSp>
        <p:grpSp>
          <p:nvGrpSpPr>
            <p:cNvPr id="4" name="Group 8"/>
            <p:cNvGrpSpPr>
              <a:grpSpLocks/>
            </p:cNvGrpSpPr>
            <p:nvPr/>
          </p:nvGrpSpPr>
          <p:grpSpPr bwMode="auto">
            <a:xfrm>
              <a:off x="546" y="2690"/>
              <a:ext cx="1453" cy="403"/>
              <a:chOff x="1676395" y="5181210"/>
              <a:chExt cx="2666340" cy="639238"/>
            </a:xfrm>
          </p:grpSpPr>
          <p:cxnSp>
            <p:nvCxnSpPr>
              <p:cNvPr id="12" name="Straight Connector 11"/>
              <p:cNvCxnSpPr/>
              <p:nvPr/>
            </p:nvCxnSpPr>
            <p:spPr>
              <a:xfrm flipV="1">
                <a:off x="1828704" y="5181210"/>
                <a:ext cx="251403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037" name="TextBox 10"/>
              <p:cNvSpPr txBox="1">
                <a:spLocks noChangeArrowheads="1"/>
              </p:cNvSpPr>
              <p:nvPr/>
            </p:nvSpPr>
            <p:spPr bwMode="auto">
              <a:xfrm>
                <a:off x="2615945" y="5484174"/>
                <a:ext cx="1088190" cy="336274"/>
              </a:xfrm>
              <a:prstGeom prst="rect">
                <a:avLst/>
              </a:prstGeom>
              <a:noFill/>
              <a:ln w="9525">
                <a:noFill/>
                <a:miter lim="800000"/>
                <a:headEnd/>
                <a:tailEnd/>
              </a:ln>
            </p:spPr>
            <p:txBody>
              <a:bodyPr wrap="none">
                <a:spAutoFit/>
              </a:bodyPr>
              <a:lstStyle/>
              <a:p>
                <a:pPr>
                  <a:spcBef>
                    <a:spcPct val="20000"/>
                  </a:spcBef>
                </a:pPr>
                <a:r>
                  <a:rPr lang="en-US" sz="1600">
                    <a:latin typeface="Arial" charset="0"/>
                  </a:rPr>
                  <a:t>Quantity</a:t>
                </a:r>
              </a:p>
            </p:txBody>
          </p:sp>
          <p:sp>
            <p:nvSpPr>
              <p:cNvPr id="129038" name="TextBox 11"/>
              <p:cNvSpPr txBox="1">
                <a:spLocks noChangeArrowheads="1"/>
              </p:cNvSpPr>
              <p:nvPr/>
            </p:nvSpPr>
            <p:spPr bwMode="auto">
              <a:xfrm>
                <a:off x="1676395" y="5181210"/>
                <a:ext cx="343156" cy="336274"/>
              </a:xfrm>
              <a:prstGeom prst="rect">
                <a:avLst/>
              </a:prstGeom>
              <a:noFill/>
              <a:ln w="9525">
                <a:noFill/>
                <a:miter lim="800000"/>
                <a:headEnd/>
                <a:tailEnd/>
              </a:ln>
            </p:spPr>
            <p:txBody>
              <a:bodyPr wrap="none">
                <a:spAutoFit/>
              </a:bodyPr>
              <a:lstStyle/>
              <a:p>
                <a:pPr>
                  <a:spcBef>
                    <a:spcPct val="20000"/>
                  </a:spcBef>
                </a:pPr>
                <a:r>
                  <a:rPr lang="en-US" sz="1600">
                    <a:latin typeface="Arial" charset="0"/>
                  </a:rPr>
                  <a:t>0</a:t>
                </a:r>
              </a:p>
            </p:txBody>
          </p:sp>
        </p:grpSp>
        <p:sp>
          <p:nvSpPr>
            <p:cNvPr id="15" name="TextBox 14"/>
            <p:cNvSpPr txBox="1">
              <a:spLocks noChangeArrowheads="1"/>
            </p:cNvSpPr>
            <p:nvPr/>
          </p:nvSpPr>
          <p:spPr bwMode="auto">
            <a:xfrm>
              <a:off x="771" y="663"/>
              <a:ext cx="924" cy="231"/>
            </a:xfrm>
            <a:prstGeom prst="rect">
              <a:avLst/>
            </a:prstGeom>
            <a:noFill/>
            <a:ln w="9525">
              <a:noFill/>
              <a:miter lim="800000"/>
              <a:headEnd/>
              <a:tailEnd/>
            </a:ln>
          </p:spPr>
          <p:txBody>
            <a:bodyPr wrap="none">
              <a:spAutoFit/>
            </a:bodyPr>
            <a:lstStyle/>
            <a:p>
              <a:pPr>
                <a:spcBef>
                  <a:spcPct val="20000"/>
                </a:spcBef>
              </a:pPr>
              <a:r>
                <a:rPr lang="en-US">
                  <a:latin typeface="Arial" charset="0"/>
                </a:rPr>
                <a:t>(a) Small tax</a:t>
              </a:r>
            </a:p>
          </p:txBody>
        </p:sp>
        <p:sp>
          <p:nvSpPr>
            <p:cNvPr id="17" name="Isosceles Triangle 16"/>
            <p:cNvSpPr>
              <a:spLocks noChangeArrowheads="1"/>
            </p:cNvSpPr>
            <p:nvPr/>
          </p:nvSpPr>
          <p:spPr bwMode="auto">
            <a:xfrm rot="5400000">
              <a:off x="1287" y="1805"/>
              <a:ext cx="322" cy="224"/>
            </a:xfrm>
            <a:prstGeom prst="triangle">
              <a:avLst>
                <a:gd name="adj" fmla="val 39394"/>
              </a:avLst>
            </a:prstGeom>
            <a:solidFill>
              <a:srgbClr val="FFAFAF"/>
            </a:solidFill>
            <a:ln w="25400" algn="ctr">
              <a:solidFill>
                <a:srgbClr val="FFAFAF"/>
              </a:solidFill>
              <a:miter lim="800000"/>
              <a:headEnd/>
              <a:tailEnd/>
            </a:ln>
          </p:spPr>
          <p:txBody>
            <a:bodyPr rot="10800000" vert="eaVert" anchor="ctr"/>
            <a:lstStyle/>
            <a:p>
              <a:pPr>
                <a:spcBef>
                  <a:spcPct val="20000"/>
                </a:spcBef>
              </a:pPr>
              <a:endParaRPr lang="en-US" sz="1600">
                <a:latin typeface="Arial" charset="0"/>
              </a:endParaRPr>
            </a:p>
          </p:txBody>
        </p:sp>
        <p:grpSp>
          <p:nvGrpSpPr>
            <p:cNvPr id="5" name="Group 12"/>
            <p:cNvGrpSpPr>
              <a:grpSpLocks/>
            </p:cNvGrpSpPr>
            <p:nvPr/>
          </p:nvGrpSpPr>
          <p:grpSpPr bwMode="auto">
            <a:xfrm>
              <a:off x="717" y="1343"/>
              <a:ext cx="1388" cy="1033"/>
              <a:chOff x="3011154" y="3613781"/>
              <a:chExt cx="2842752" cy="2223188"/>
            </a:xfrm>
          </p:grpSpPr>
          <p:cxnSp>
            <p:nvCxnSpPr>
              <p:cNvPr id="19" name="Straight Connector 14"/>
              <p:cNvCxnSpPr/>
              <p:nvPr/>
            </p:nvCxnSpPr>
            <p:spPr>
              <a:xfrm>
                <a:off x="3011154" y="3613781"/>
                <a:ext cx="2533491" cy="172603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044" name="TextBox 14"/>
              <p:cNvSpPr txBox="1">
                <a:spLocks noChangeArrowheads="1"/>
              </p:cNvSpPr>
              <p:nvPr/>
            </p:nvSpPr>
            <p:spPr bwMode="auto">
              <a:xfrm>
                <a:off x="4627982" y="5380710"/>
                <a:ext cx="1225924" cy="456259"/>
              </a:xfrm>
              <a:prstGeom prst="rect">
                <a:avLst/>
              </a:prstGeom>
              <a:noFill/>
              <a:ln w="9525">
                <a:noFill/>
                <a:miter lim="800000"/>
                <a:headEnd/>
                <a:tailEnd/>
              </a:ln>
            </p:spPr>
            <p:txBody>
              <a:bodyPr wrap="none">
                <a:spAutoFit/>
              </a:bodyPr>
              <a:lstStyle/>
              <a:p>
                <a:pPr>
                  <a:spcBef>
                    <a:spcPct val="20000"/>
                  </a:spcBef>
                </a:pPr>
                <a:r>
                  <a:rPr lang="en-US" sz="1600">
                    <a:latin typeface="Arial" charset="0"/>
                  </a:rPr>
                  <a:t>Demand</a:t>
                </a:r>
                <a:endParaRPr lang="en-US" sz="1600" baseline="-25000">
                  <a:latin typeface="Arial" charset="0"/>
                </a:endParaRPr>
              </a:p>
            </p:txBody>
          </p:sp>
        </p:grpSp>
        <p:grpSp>
          <p:nvGrpSpPr>
            <p:cNvPr id="6" name="Group 90"/>
            <p:cNvGrpSpPr>
              <a:grpSpLocks/>
            </p:cNvGrpSpPr>
            <p:nvPr/>
          </p:nvGrpSpPr>
          <p:grpSpPr bwMode="auto">
            <a:xfrm>
              <a:off x="762" y="1392"/>
              <a:ext cx="1320" cy="1200"/>
              <a:chOff x="2366951" y="5565901"/>
              <a:chExt cx="2704276" cy="2584586"/>
            </a:xfrm>
          </p:grpSpPr>
          <p:cxnSp>
            <p:nvCxnSpPr>
              <p:cNvPr id="22" name="Straight Connector 21"/>
              <p:cNvCxnSpPr/>
              <p:nvPr/>
            </p:nvCxnSpPr>
            <p:spPr>
              <a:xfrm flipV="1">
                <a:off x="2366951" y="5942819"/>
                <a:ext cx="2362143" cy="220766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047" name="TextBox 92"/>
              <p:cNvSpPr txBox="1">
                <a:spLocks noChangeArrowheads="1"/>
              </p:cNvSpPr>
              <p:nvPr/>
            </p:nvSpPr>
            <p:spPr bwMode="auto">
              <a:xfrm>
                <a:off x="3960835" y="5565901"/>
                <a:ext cx="1110392" cy="456610"/>
              </a:xfrm>
              <a:prstGeom prst="rect">
                <a:avLst/>
              </a:prstGeom>
              <a:noFill/>
              <a:ln w="9525">
                <a:noFill/>
                <a:miter lim="800000"/>
                <a:headEnd/>
                <a:tailEnd/>
              </a:ln>
            </p:spPr>
            <p:txBody>
              <a:bodyPr wrap="none">
                <a:spAutoFit/>
              </a:bodyPr>
              <a:lstStyle/>
              <a:p>
                <a:pPr>
                  <a:spcBef>
                    <a:spcPct val="20000"/>
                  </a:spcBef>
                </a:pPr>
                <a:r>
                  <a:rPr lang="en-US" sz="1600">
                    <a:latin typeface="Arial" charset="0"/>
                  </a:rPr>
                  <a:t>Supply </a:t>
                </a:r>
                <a:endParaRPr lang="en-US" sz="1600" baseline="-25000">
                  <a:latin typeface="Arial" charset="0"/>
                </a:endParaRPr>
              </a:p>
            </p:txBody>
          </p:sp>
        </p:grpSp>
        <p:grpSp>
          <p:nvGrpSpPr>
            <p:cNvPr id="8" name="Group 74"/>
            <p:cNvGrpSpPr>
              <a:grpSpLocks/>
            </p:cNvGrpSpPr>
            <p:nvPr/>
          </p:nvGrpSpPr>
          <p:grpSpPr bwMode="auto">
            <a:xfrm>
              <a:off x="862" y="1026"/>
              <a:ext cx="929" cy="745"/>
              <a:chOff x="1519804" y="2802283"/>
              <a:chExt cx="1703222" cy="1183453"/>
            </a:xfrm>
          </p:grpSpPr>
          <p:sp>
            <p:nvSpPr>
              <p:cNvPr id="129049" name="TextBox 133"/>
              <p:cNvSpPr txBox="1">
                <a:spLocks noChangeArrowheads="1"/>
              </p:cNvSpPr>
              <p:nvPr/>
            </p:nvSpPr>
            <p:spPr bwMode="auto">
              <a:xfrm>
                <a:off x="1519804" y="2802283"/>
                <a:ext cx="1703222" cy="581401"/>
              </a:xfrm>
              <a:prstGeom prst="rect">
                <a:avLst/>
              </a:prstGeom>
              <a:solidFill>
                <a:srgbClr val="FFCC66"/>
              </a:solidFill>
              <a:ln w="9525">
                <a:noFill/>
                <a:miter lim="800000"/>
                <a:headEnd/>
                <a:tailEnd/>
              </a:ln>
            </p:spPr>
            <p:txBody>
              <a:bodyPr>
                <a:spAutoFit/>
              </a:bodyPr>
              <a:lstStyle/>
              <a:p>
                <a:pPr>
                  <a:spcBef>
                    <a:spcPct val="20000"/>
                  </a:spcBef>
                </a:pPr>
                <a:r>
                  <a:rPr lang="en-US" sz="1600">
                    <a:latin typeface="Arial" charset="0"/>
                  </a:rPr>
                  <a:t>Deadweight loss</a:t>
                </a:r>
              </a:p>
            </p:txBody>
          </p:sp>
          <p:cxnSp>
            <p:nvCxnSpPr>
              <p:cNvPr id="26" name="Straight Connector 25"/>
              <p:cNvCxnSpPr/>
              <p:nvPr/>
            </p:nvCxnSpPr>
            <p:spPr>
              <a:xfrm rot="5400000" flipH="1" flipV="1">
                <a:off x="2182508" y="3454901"/>
                <a:ext cx="891163" cy="1705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53"/>
            <p:cNvGrpSpPr>
              <a:grpSpLocks/>
            </p:cNvGrpSpPr>
            <p:nvPr/>
          </p:nvGrpSpPr>
          <p:grpSpPr bwMode="auto">
            <a:xfrm>
              <a:off x="1441" y="1889"/>
              <a:ext cx="264" cy="1010"/>
              <a:chOff x="4107239" y="3707073"/>
              <a:chExt cx="483829" cy="1603438"/>
            </a:xfrm>
          </p:grpSpPr>
          <p:cxnSp>
            <p:nvCxnSpPr>
              <p:cNvPr id="28" name="Straight Connector 27"/>
              <p:cNvCxnSpPr/>
              <p:nvPr/>
            </p:nvCxnSpPr>
            <p:spPr bwMode="auto">
              <a:xfrm rot="5400000">
                <a:off x="3671002" y="4346739"/>
                <a:ext cx="1281163" cy="1832"/>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53" name="TextBox 78"/>
              <p:cNvSpPr txBox="1">
                <a:spLocks noChangeArrowheads="1"/>
              </p:cNvSpPr>
              <p:nvPr/>
            </p:nvSpPr>
            <p:spPr bwMode="auto">
              <a:xfrm>
                <a:off x="4107239" y="4973948"/>
                <a:ext cx="483829" cy="336563"/>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1</a:t>
                </a:r>
              </a:p>
            </p:txBody>
          </p:sp>
        </p:grpSp>
        <p:sp>
          <p:nvSpPr>
            <p:cNvPr id="30" name="Rectangle 29"/>
            <p:cNvSpPr/>
            <p:nvPr/>
          </p:nvSpPr>
          <p:spPr>
            <a:xfrm>
              <a:off x="649" y="1757"/>
              <a:ext cx="678" cy="327"/>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500">
                <a:solidFill>
                  <a:schemeClr val="tx1"/>
                </a:solidFill>
                <a:latin typeface="Arial" charset="0"/>
                <a:ea typeface="MS PGothic" pitchFamily="34" charset="-128"/>
              </a:endParaRPr>
            </a:p>
          </p:txBody>
        </p:sp>
        <p:grpSp>
          <p:nvGrpSpPr>
            <p:cNvPr id="18" name="Group 42"/>
            <p:cNvGrpSpPr>
              <a:grpSpLocks/>
            </p:cNvGrpSpPr>
            <p:nvPr/>
          </p:nvGrpSpPr>
          <p:grpSpPr bwMode="auto">
            <a:xfrm>
              <a:off x="385" y="1648"/>
              <a:ext cx="970" cy="212"/>
              <a:chOff x="1464144" y="1873436"/>
              <a:chExt cx="1777824" cy="335803"/>
            </a:xfrm>
          </p:grpSpPr>
          <p:cxnSp>
            <p:nvCxnSpPr>
              <p:cNvPr id="32" name="Straight Connector 31"/>
              <p:cNvCxnSpPr/>
              <p:nvPr/>
            </p:nvCxnSpPr>
            <p:spPr bwMode="auto">
              <a:xfrm flipV="1">
                <a:off x="1933343" y="2041338"/>
                <a:ext cx="1308625" cy="3168"/>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57" name="TextBox 78"/>
              <p:cNvSpPr txBox="1">
                <a:spLocks noChangeArrowheads="1"/>
              </p:cNvSpPr>
              <p:nvPr/>
            </p:nvSpPr>
            <p:spPr bwMode="auto">
              <a:xfrm>
                <a:off x="1464144" y="1873436"/>
                <a:ext cx="476530" cy="335803"/>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B</a:t>
                </a:r>
              </a:p>
            </p:txBody>
          </p:sp>
        </p:grpSp>
        <p:grpSp>
          <p:nvGrpSpPr>
            <p:cNvPr id="21" name="Group 46"/>
            <p:cNvGrpSpPr>
              <a:grpSpLocks/>
            </p:cNvGrpSpPr>
            <p:nvPr/>
          </p:nvGrpSpPr>
          <p:grpSpPr bwMode="auto">
            <a:xfrm>
              <a:off x="385" y="1976"/>
              <a:ext cx="957" cy="212"/>
              <a:chOff x="1462097" y="3807137"/>
              <a:chExt cx="1756129" cy="335803"/>
            </a:xfrm>
          </p:grpSpPr>
          <p:cxnSp>
            <p:nvCxnSpPr>
              <p:cNvPr id="35" name="Straight Connector 34"/>
              <p:cNvCxnSpPr/>
              <p:nvPr/>
            </p:nvCxnSpPr>
            <p:spPr bwMode="auto">
              <a:xfrm>
                <a:off x="1920856" y="3989294"/>
                <a:ext cx="1297370" cy="158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60" name="TextBox 78"/>
              <p:cNvSpPr txBox="1">
                <a:spLocks noChangeArrowheads="1"/>
              </p:cNvSpPr>
              <p:nvPr/>
            </p:nvSpPr>
            <p:spPr bwMode="auto">
              <a:xfrm>
                <a:off x="1462097" y="3807137"/>
                <a:ext cx="476611" cy="335803"/>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S</a:t>
                </a:r>
              </a:p>
            </p:txBody>
          </p:sp>
        </p:grpSp>
        <p:grpSp>
          <p:nvGrpSpPr>
            <p:cNvPr id="24" name="Group 35"/>
            <p:cNvGrpSpPr>
              <a:grpSpLocks/>
            </p:cNvGrpSpPr>
            <p:nvPr/>
          </p:nvGrpSpPr>
          <p:grpSpPr bwMode="auto">
            <a:xfrm>
              <a:off x="1218" y="1757"/>
              <a:ext cx="264" cy="1135"/>
              <a:chOff x="4071614" y="3508395"/>
              <a:chExt cx="483829" cy="1802160"/>
            </a:xfrm>
          </p:grpSpPr>
          <p:cxnSp>
            <p:nvCxnSpPr>
              <p:cNvPr id="38" name="Straight Connector 37"/>
              <p:cNvCxnSpPr/>
              <p:nvPr/>
            </p:nvCxnSpPr>
            <p:spPr bwMode="auto">
              <a:xfrm rot="16200000" flipH="1">
                <a:off x="3547037" y="4247396"/>
                <a:ext cx="1479835" cy="1833"/>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63" name="TextBox 78"/>
              <p:cNvSpPr txBox="1">
                <a:spLocks noChangeArrowheads="1"/>
              </p:cNvSpPr>
              <p:nvPr/>
            </p:nvSpPr>
            <p:spPr bwMode="auto">
              <a:xfrm>
                <a:off x="4071614" y="4973940"/>
                <a:ext cx="483829" cy="336615"/>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2</a:t>
                </a:r>
              </a:p>
            </p:txBody>
          </p:sp>
        </p:grpSp>
        <p:sp>
          <p:nvSpPr>
            <p:cNvPr id="40" name="TextBox 133"/>
            <p:cNvSpPr txBox="1">
              <a:spLocks noChangeArrowheads="1"/>
            </p:cNvSpPr>
            <p:nvPr/>
          </p:nvSpPr>
          <p:spPr bwMode="auto">
            <a:xfrm>
              <a:off x="636" y="1731"/>
              <a:ext cx="690" cy="397"/>
            </a:xfrm>
            <a:prstGeom prst="rect">
              <a:avLst/>
            </a:prstGeom>
            <a:noFill/>
            <a:ln w="9525">
              <a:noFill/>
              <a:miter lim="800000"/>
              <a:headEnd/>
              <a:tailEnd/>
            </a:ln>
          </p:spPr>
          <p:txBody>
            <a:bodyPr>
              <a:spAutoFit/>
            </a:bodyPr>
            <a:lstStyle/>
            <a:p>
              <a:pPr>
                <a:spcBef>
                  <a:spcPct val="20000"/>
                </a:spcBef>
              </a:pPr>
              <a:r>
                <a:rPr lang="en-US" sz="1600">
                  <a:latin typeface="Arial" charset="0"/>
                </a:rPr>
                <a:t>Tax</a:t>
              </a:r>
            </a:p>
            <a:p>
              <a:pPr>
                <a:spcBef>
                  <a:spcPct val="20000"/>
                </a:spcBef>
              </a:pPr>
              <a:r>
                <a:rPr lang="en-US" sz="1600">
                  <a:latin typeface="Arial" charset="0"/>
                </a:rPr>
                <a:t>revenue</a:t>
              </a:r>
            </a:p>
          </p:txBody>
        </p:sp>
      </p:grpSp>
      <p:grpSp>
        <p:nvGrpSpPr>
          <p:cNvPr id="129136" name="Group 112"/>
          <p:cNvGrpSpPr>
            <a:grpSpLocks/>
          </p:cNvGrpSpPr>
          <p:nvPr/>
        </p:nvGrpSpPr>
        <p:grpSpPr bwMode="auto">
          <a:xfrm>
            <a:off x="3492500" y="2708275"/>
            <a:ext cx="2735263" cy="3854450"/>
            <a:chOff x="2222" y="1706"/>
            <a:chExt cx="1723" cy="2428"/>
          </a:xfrm>
        </p:grpSpPr>
        <p:grpSp>
          <p:nvGrpSpPr>
            <p:cNvPr id="27" name="Group 76"/>
            <p:cNvGrpSpPr>
              <a:grpSpLocks/>
            </p:cNvGrpSpPr>
            <p:nvPr/>
          </p:nvGrpSpPr>
          <p:grpSpPr bwMode="auto">
            <a:xfrm>
              <a:off x="2291" y="2007"/>
              <a:ext cx="1542" cy="1725"/>
              <a:chOff x="395404" y="2415331"/>
              <a:chExt cx="2823054" cy="2738544"/>
            </a:xfrm>
          </p:grpSpPr>
          <p:sp>
            <p:nvSpPr>
              <p:cNvPr id="42" name="Rectangle 41"/>
              <p:cNvSpPr/>
              <p:nvPr/>
            </p:nvSpPr>
            <p:spPr>
              <a:xfrm>
                <a:off x="728605" y="2694742"/>
                <a:ext cx="2489853" cy="24591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129067" name="Group 5"/>
              <p:cNvGrpSpPr>
                <a:grpSpLocks/>
              </p:cNvGrpSpPr>
              <p:nvPr/>
            </p:nvGrpSpPr>
            <p:grpSpPr bwMode="auto">
              <a:xfrm>
                <a:off x="395404" y="2415331"/>
                <a:ext cx="745513" cy="2738543"/>
                <a:chOff x="1497047" y="1833960"/>
                <a:chExt cx="745513" cy="2738040"/>
              </a:xfrm>
            </p:grpSpPr>
            <p:cxnSp>
              <p:nvCxnSpPr>
                <p:cNvPr id="44" name="Straight Connector 43"/>
                <p:cNvCxnSpPr/>
                <p:nvPr/>
              </p:nvCxnSpPr>
              <p:spPr>
                <a:xfrm rot="16200000" flipH="1">
                  <a:off x="598161" y="3341745"/>
                  <a:ext cx="2458681" cy="18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069" name="TextBox 7"/>
                <p:cNvSpPr txBox="1">
                  <a:spLocks noChangeArrowheads="1"/>
                </p:cNvSpPr>
                <p:nvPr/>
              </p:nvSpPr>
              <p:spPr bwMode="auto">
                <a:xfrm>
                  <a:off x="1497047" y="1833960"/>
                  <a:ext cx="745513" cy="336501"/>
                </a:xfrm>
                <a:prstGeom prst="rect">
                  <a:avLst/>
                </a:prstGeom>
                <a:noFill/>
                <a:ln w="9525">
                  <a:noFill/>
                  <a:miter lim="800000"/>
                  <a:headEnd/>
                  <a:tailEnd/>
                </a:ln>
              </p:spPr>
              <p:txBody>
                <a:bodyPr wrap="none">
                  <a:spAutoFit/>
                </a:bodyPr>
                <a:lstStyle/>
                <a:p>
                  <a:pPr>
                    <a:spcBef>
                      <a:spcPct val="20000"/>
                    </a:spcBef>
                  </a:pPr>
                  <a:r>
                    <a:rPr lang="en-US" sz="1600">
                      <a:latin typeface="Arial" charset="0"/>
                    </a:rPr>
                    <a:t>Price</a:t>
                  </a:r>
                </a:p>
              </p:txBody>
            </p:sp>
          </p:grpSp>
        </p:grpSp>
        <p:grpSp>
          <p:nvGrpSpPr>
            <p:cNvPr id="34" name="Group 8"/>
            <p:cNvGrpSpPr>
              <a:grpSpLocks/>
            </p:cNvGrpSpPr>
            <p:nvPr/>
          </p:nvGrpSpPr>
          <p:grpSpPr bwMode="auto">
            <a:xfrm>
              <a:off x="2383" y="3732"/>
              <a:ext cx="1455" cy="402"/>
              <a:chOff x="1676395" y="5181598"/>
              <a:chExt cx="2662580" cy="637266"/>
            </a:xfrm>
          </p:grpSpPr>
          <p:cxnSp>
            <p:nvCxnSpPr>
              <p:cNvPr id="47" name="Straight Connector 46"/>
              <p:cNvCxnSpPr/>
              <p:nvPr/>
            </p:nvCxnSpPr>
            <p:spPr>
              <a:xfrm>
                <a:off x="1828280" y="5181598"/>
                <a:ext cx="2510693" cy="15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072" name="TextBox 10"/>
              <p:cNvSpPr txBox="1">
                <a:spLocks noChangeArrowheads="1"/>
              </p:cNvSpPr>
              <p:nvPr/>
            </p:nvSpPr>
            <p:spPr bwMode="auto">
              <a:xfrm>
                <a:off x="2616990" y="5482793"/>
                <a:ext cx="1085162" cy="336071"/>
              </a:xfrm>
              <a:prstGeom prst="rect">
                <a:avLst/>
              </a:prstGeom>
              <a:noFill/>
              <a:ln w="9525">
                <a:noFill/>
                <a:miter lim="800000"/>
                <a:headEnd/>
                <a:tailEnd/>
              </a:ln>
            </p:spPr>
            <p:txBody>
              <a:bodyPr wrap="none">
                <a:spAutoFit/>
              </a:bodyPr>
              <a:lstStyle/>
              <a:p>
                <a:pPr>
                  <a:spcBef>
                    <a:spcPct val="20000"/>
                  </a:spcBef>
                </a:pPr>
                <a:r>
                  <a:rPr lang="en-US" sz="1600">
                    <a:latin typeface="Arial" charset="0"/>
                  </a:rPr>
                  <a:t>Quantity</a:t>
                </a:r>
              </a:p>
            </p:txBody>
          </p:sp>
          <p:sp>
            <p:nvSpPr>
              <p:cNvPr id="129073" name="TextBox 11"/>
              <p:cNvSpPr txBox="1">
                <a:spLocks noChangeArrowheads="1"/>
              </p:cNvSpPr>
              <p:nvPr/>
            </p:nvSpPr>
            <p:spPr bwMode="auto">
              <a:xfrm>
                <a:off x="1676395" y="5181598"/>
                <a:ext cx="342201" cy="336071"/>
              </a:xfrm>
              <a:prstGeom prst="rect">
                <a:avLst/>
              </a:prstGeom>
              <a:noFill/>
              <a:ln w="9525">
                <a:noFill/>
                <a:miter lim="800000"/>
                <a:headEnd/>
                <a:tailEnd/>
              </a:ln>
            </p:spPr>
            <p:txBody>
              <a:bodyPr wrap="none">
                <a:spAutoFit/>
              </a:bodyPr>
              <a:lstStyle/>
              <a:p>
                <a:pPr>
                  <a:spcBef>
                    <a:spcPct val="20000"/>
                  </a:spcBef>
                </a:pPr>
                <a:r>
                  <a:rPr lang="en-US" sz="1600">
                    <a:latin typeface="Arial" charset="0"/>
                  </a:rPr>
                  <a:t>0</a:t>
                </a:r>
              </a:p>
            </p:txBody>
          </p:sp>
        </p:grpSp>
        <p:sp>
          <p:nvSpPr>
            <p:cNvPr id="50" name="TextBox 49"/>
            <p:cNvSpPr txBox="1">
              <a:spLocks noChangeArrowheads="1"/>
            </p:cNvSpPr>
            <p:nvPr/>
          </p:nvSpPr>
          <p:spPr bwMode="auto">
            <a:xfrm>
              <a:off x="2585" y="1706"/>
              <a:ext cx="1076" cy="231"/>
            </a:xfrm>
            <a:prstGeom prst="rect">
              <a:avLst/>
            </a:prstGeom>
            <a:noFill/>
            <a:ln w="9525">
              <a:noFill/>
              <a:miter lim="800000"/>
              <a:headEnd/>
              <a:tailEnd/>
            </a:ln>
          </p:spPr>
          <p:txBody>
            <a:bodyPr wrap="none">
              <a:spAutoFit/>
            </a:bodyPr>
            <a:lstStyle/>
            <a:p>
              <a:pPr>
                <a:spcBef>
                  <a:spcPct val="20000"/>
                </a:spcBef>
              </a:pPr>
              <a:r>
                <a:rPr lang="en-US">
                  <a:latin typeface="Arial" charset="0"/>
                </a:rPr>
                <a:t>(b) Medium tax</a:t>
              </a:r>
            </a:p>
          </p:txBody>
        </p:sp>
        <p:sp>
          <p:nvSpPr>
            <p:cNvPr id="51" name="Isosceles Triangle 50"/>
            <p:cNvSpPr>
              <a:spLocks noChangeArrowheads="1"/>
            </p:cNvSpPr>
            <p:nvPr/>
          </p:nvSpPr>
          <p:spPr bwMode="auto">
            <a:xfrm rot="5400000">
              <a:off x="2810" y="2754"/>
              <a:ext cx="687" cy="456"/>
            </a:xfrm>
            <a:prstGeom prst="triangle">
              <a:avLst>
                <a:gd name="adj" fmla="val 42620"/>
              </a:avLst>
            </a:prstGeom>
            <a:solidFill>
              <a:srgbClr val="FFAFAF"/>
            </a:solidFill>
            <a:ln w="25400" algn="ctr">
              <a:solidFill>
                <a:srgbClr val="FFAFAF"/>
              </a:solidFill>
              <a:miter lim="800000"/>
              <a:headEnd/>
              <a:tailEnd/>
            </a:ln>
          </p:spPr>
          <p:txBody>
            <a:bodyPr rot="10800000" vert="eaVert" anchor="ctr"/>
            <a:lstStyle/>
            <a:p>
              <a:pPr>
                <a:spcBef>
                  <a:spcPct val="20000"/>
                </a:spcBef>
              </a:pPr>
              <a:endParaRPr lang="en-US" sz="1600">
                <a:latin typeface="Arial" charset="0"/>
              </a:endParaRPr>
            </a:p>
          </p:txBody>
        </p:sp>
        <p:grpSp>
          <p:nvGrpSpPr>
            <p:cNvPr id="37" name="Group 12"/>
            <p:cNvGrpSpPr>
              <a:grpSpLocks/>
            </p:cNvGrpSpPr>
            <p:nvPr/>
          </p:nvGrpSpPr>
          <p:grpSpPr bwMode="auto">
            <a:xfrm>
              <a:off x="2554" y="2385"/>
              <a:ext cx="1391" cy="1032"/>
              <a:chOff x="3011154" y="3613781"/>
              <a:chExt cx="2840793" cy="2223639"/>
            </a:xfrm>
          </p:grpSpPr>
          <p:cxnSp>
            <p:nvCxnSpPr>
              <p:cNvPr id="53" name="Straight Connector 14"/>
              <p:cNvCxnSpPr/>
              <p:nvPr/>
            </p:nvCxnSpPr>
            <p:spPr>
              <a:xfrm>
                <a:off x="3011154" y="3613781"/>
                <a:ext cx="2532410" cy="1723751"/>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078" name="TextBox 14"/>
              <p:cNvSpPr txBox="1">
                <a:spLocks noChangeArrowheads="1"/>
              </p:cNvSpPr>
              <p:nvPr/>
            </p:nvSpPr>
            <p:spPr bwMode="auto">
              <a:xfrm>
                <a:off x="4627749" y="5380626"/>
                <a:ext cx="1224198" cy="456794"/>
              </a:xfrm>
              <a:prstGeom prst="rect">
                <a:avLst/>
              </a:prstGeom>
              <a:noFill/>
              <a:ln w="9525">
                <a:noFill/>
                <a:miter lim="800000"/>
                <a:headEnd/>
                <a:tailEnd/>
              </a:ln>
            </p:spPr>
            <p:txBody>
              <a:bodyPr wrap="none">
                <a:spAutoFit/>
              </a:bodyPr>
              <a:lstStyle/>
              <a:p>
                <a:pPr>
                  <a:spcBef>
                    <a:spcPct val="20000"/>
                  </a:spcBef>
                </a:pPr>
                <a:r>
                  <a:rPr lang="en-US" sz="1600">
                    <a:latin typeface="Arial" charset="0"/>
                  </a:rPr>
                  <a:t>Demand</a:t>
                </a:r>
                <a:endParaRPr lang="en-US" sz="1600" baseline="-25000">
                  <a:latin typeface="Arial" charset="0"/>
                </a:endParaRPr>
              </a:p>
            </p:txBody>
          </p:sp>
        </p:grpSp>
        <p:grpSp>
          <p:nvGrpSpPr>
            <p:cNvPr id="41" name="Group 90"/>
            <p:cNvGrpSpPr>
              <a:grpSpLocks/>
            </p:cNvGrpSpPr>
            <p:nvPr/>
          </p:nvGrpSpPr>
          <p:grpSpPr bwMode="auto">
            <a:xfrm>
              <a:off x="2600" y="2434"/>
              <a:ext cx="1322" cy="1200"/>
              <a:chOff x="2366951" y="5565901"/>
              <a:chExt cx="2701874" cy="2584586"/>
            </a:xfrm>
          </p:grpSpPr>
          <p:cxnSp>
            <p:nvCxnSpPr>
              <p:cNvPr id="56" name="Straight Connector 55"/>
              <p:cNvCxnSpPr/>
              <p:nvPr/>
            </p:nvCxnSpPr>
            <p:spPr>
              <a:xfrm flipV="1">
                <a:off x="2366951" y="5942820"/>
                <a:ext cx="2362607" cy="220766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081" name="TextBox 92"/>
              <p:cNvSpPr txBox="1">
                <a:spLocks noChangeArrowheads="1"/>
              </p:cNvSpPr>
              <p:nvPr/>
            </p:nvSpPr>
            <p:spPr bwMode="auto">
              <a:xfrm>
                <a:off x="3961098" y="5565901"/>
                <a:ext cx="1107727" cy="456610"/>
              </a:xfrm>
              <a:prstGeom prst="rect">
                <a:avLst/>
              </a:prstGeom>
              <a:noFill/>
              <a:ln w="9525">
                <a:noFill/>
                <a:miter lim="800000"/>
                <a:headEnd/>
                <a:tailEnd/>
              </a:ln>
            </p:spPr>
            <p:txBody>
              <a:bodyPr wrap="none">
                <a:spAutoFit/>
              </a:bodyPr>
              <a:lstStyle/>
              <a:p>
                <a:pPr>
                  <a:spcBef>
                    <a:spcPct val="20000"/>
                  </a:spcBef>
                </a:pPr>
                <a:r>
                  <a:rPr lang="en-US" sz="1600">
                    <a:latin typeface="Arial" charset="0"/>
                  </a:rPr>
                  <a:t>Supply </a:t>
                </a:r>
                <a:endParaRPr lang="en-US" sz="1600" baseline="-25000">
                  <a:latin typeface="Arial" charset="0"/>
                </a:endParaRPr>
              </a:p>
            </p:txBody>
          </p:sp>
        </p:grpSp>
        <p:grpSp>
          <p:nvGrpSpPr>
            <p:cNvPr id="43" name="Group 74"/>
            <p:cNvGrpSpPr>
              <a:grpSpLocks/>
            </p:cNvGrpSpPr>
            <p:nvPr/>
          </p:nvGrpSpPr>
          <p:grpSpPr bwMode="auto">
            <a:xfrm>
              <a:off x="2699" y="2092"/>
              <a:ext cx="938" cy="746"/>
              <a:chOff x="1557461" y="2847449"/>
              <a:chExt cx="1716761" cy="1183451"/>
            </a:xfrm>
          </p:grpSpPr>
          <p:sp>
            <p:nvSpPr>
              <p:cNvPr id="129083" name="TextBox 133"/>
              <p:cNvSpPr txBox="1">
                <a:spLocks noChangeArrowheads="1"/>
              </p:cNvSpPr>
              <p:nvPr/>
            </p:nvSpPr>
            <p:spPr bwMode="auto">
              <a:xfrm>
                <a:off x="1557461" y="2847449"/>
                <a:ext cx="1716761" cy="580621"/>
              </a:xfrm>
              <a:prstGeom prst="rect">
                <a:avLst/>
              </a:prstGeom>
              <a:solidFill>
                <a:srgbClr val="FFCC66"/>
              </a:solidFill>
              <a:ln w="9525">
                <a:noFill/>
                <a:miter lim="800000"/>
                <a:headEnd/>
                <a:tailEnd/>
              </a:ln>
            </p:spPr>
            <p:txBody>
              <a:bodyPr>
                <a:spAutoFit/>
              </a:bodyPr>
              <a:lstStyle/>
              <a:p>
                <a:pPr>
                  <a:spcBef>
                    <a:spcPct val="20000"/>
                  </a:spcBef>
                </a:pPr>
                <a:r>
                  <a:rPr lang="en-US" sz="1600">
                    <a:latin typeface="Arial" charset="0"/>
                  </a:rPr>
                  <a:t>Deadweight loss</a:t>
                </a:r>
              </a:p>
            </p:txBody>
          </p:sp>
          <p:cxnSp>
            <p:nvCxnSpPr>
              <p:cNvPr id="60" name="Straight Connector 59"/>
              <p:cNvCxnSpPr/>
              <p:nvPr/>
            </p:nvCxnSpPr>
            <p:spPr>
              <a:xfrm rot="5400000" flipH="1" flipV="1">
                <a:off x="1877637" y="3500017"/>
                <a:ext cx="891554" cy="1702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Group 129"/>
            <p:cNvGrpSpPr>
              <a:grpSpLocks/>
            </p:cNvGrpSpPr>
            <p:nvPr/>
          </p:nvGrpSpPr>
          <p:grpSpPr bwMode="auto">
            <a:xfrm>
              <a:off x="3280" y="2931"/>
              <a:ext cx="265" cy="1010"/>
              <a:chOff x="4107238" y="3707074"/>
              <a:chExt cx="483830" cy="1603437"/>
            </a:xfrm>
          </p:grpSpPr>
          <p:cxnSp>
            <p:nvCxnSpPr>
              <p:cNvPr id="62" name="Straight Connector 61"/>
              <p:cNvCxnSpPr/>
              <p:nvPr/>
            </p:nvCxnSpPr>
            <p:spPr bwMode="auto">
              <a:xfrm rot="5400000">
                <a:off x="3671145" y="4345828"/>
                <a:ext cx="1281162" cy="3652"/>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87" name="TextBox 78"/>
              <p:cNvSpPr txBox="1">
                <a:spLocks noChangeArrowheads="1"/>
              </p:cNvSpPr>
              <p:nvPr/>
            </p:nvSpPr>
            <p:spPr bwMode="auto">
              <a:xfrm>
                <a:off x="4107238" y="4973948"/>
                <a:ext cx="483830" cy="336563"/>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1</a:t>
                </a:r>
              </a:p>
            </p:txBody>
          </p:sp>
        </p:grpSp>
        <p:sp>
          <p:nvSpPr>
            <p:cNvPr id="64" name="Rectangle 63"/>
            <p:cNvSpPr/>
            <p:nvPr/>
          </p:nvSpPr>
          <p:spPr>
            <a:xfrm>
              <a:off x="2486" y="2632"/>
              <a:ext cx="426" cy="711"/>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52" name="Group 42"/>
            <p:cNvGrpSpPr>
              <a:grpSpLocks/>
            </p:cNvGrpSpPr>
            <p:nvPr/>
          </p:nvGrpSpPr>
          <p:grpSpPr bwMode="auto">
            <a:xfrm>
              <a:off x="2222" y="2522"/>
              <a:ext cx="699" cy="212"/>
              <a:chOff x="1466136" y="1873436"/>
              <a:chExt cx="1277625" cy="335804"/>
            </a:xfrm>
          </p:grpSpPr>
          <p:cxnSp>
            <p:nvCxnSpPr>
              <p:cNvPr id="66" name="Straight Connector 65"/>
              <p:cNvCxnSpPr/>
              <p:nvPr/>
            </p:nvCxnSpPr>
            <p:spPr bwMode="auto">
              <a:xfrm flipV="1">
                <a:off x="1932223" y="2036587"/>
                <a:ext cx="811538" cy="7919"/>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91" name="TextBox 78"/>
              <p:cNvSpPr txBox="1">
                <a:spLocks noChangeArrowheads="1"/>
              </p:cNvSpPr>
              <p:nvPr/>
            </p:nvSpPr>
            <p:spPr bwMode="auto">
              <a:xfrm>
                <a:off x="1466136" y="1873436"/>
                <a:ext cx="475225" cy="335804"/>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B</a:t>
                </a:r>
              </a:p>
            </p:txBody>
          </p:sp>
        </p:grpSp>
        <p:grpSp>
          <p:nvGrpSpPr>
            <p:cNvPr id="55" name="Group 46"/>
            <p:cNvGrpSpPr>
              <a:grpSpLocks/>
            </p:cNvGrpSpPr>
            <p:nvPr/>
          </p:nvGrpSpPr>
          <p:grpSpPr bwMode="auto">
            <a:xfrm>
              <a:off x="2222" y="3230"/>
              <a:ext cx="695" cy="212"/>
              <a:chOff x="1463804" y="3807137"/>
              <a:chExt cx="1272954" cy="335804"/>
            </a:xfrm>
          </p:grpSpPr>
          <p:cxnSp>
            <p:nvCxnSpPr>
              <p:cNvPr id="69" name="Straight Connector 68"/>
              <p:cNvCxnSpPr/>
              <p:nvPr/>
            </p:nvCxnSpPr>
            <p:spPr bwMode="auto">
              <a:xfrm>
                <a:off x="1921701" y="3989295"/>
                <a:ext cx="815057" cy="3168"/>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94" name="TextBox 78"/>
              <p:cNvSpPr txBox="1">
                <a:spLocks noChangeArrowheads="1"/>
              </p:cNvSpPr>
              <p:nvPr/>
            </p:nvSpPr>
            <p:spPr bwMode="auto">
              <a:xfrm>
                <a:off x="1463804" y="3807137"/>
                <a:ext cx="476213" cy="335804"/>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S</a:t>
                </a:r>
              </a:p>
            </p:txBody>
          </p:sp>
        </p:grpSp>
        <p:grpSp>
          <p:nvGrpSpPr>
            <p:cNvPr id="58" name="Group 35"/>
            <p:cNvGrpSpPr>
              <a:grpSpLocks/>
            </p:cNvGrpSpPr>
            <p:nvPr/>
          </p:nvGrpSpPr>
          <p:grpSpPr bwMode="auto">
            <a:xfrm>
              <a:off x="2803" y="2610"/>
              <a:ext cx="264" cy="1324"/>
              <a:chOff x="4071613" y="3208920"/>
              <a:chExt cx="483830" cy="2101538"/>
            </a:xfrm>
          </p:grpSpPr>
          <p:cxnSp>
            <p:nvCxnSpPr>
              <p:cNvPr id="72" name="Straight Connector 71"/>
              <p:cNvCxnSpPr/>
              <p:nvPr/>
            </p:nvCxnSpPr>
            <p:spPr bwMode="auto">
              <a:xfrm rot="16200000" flipH="1">
                <a:off x="3397292" y="4097665"/>
                <a:ext cx="1779324" cy="1833"/>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097" name="TextBox 78"/>
              <p:cNvSpPr txBox="1">
                <a:spLocks noChangeArrowheads="1"/>
              </p:cNvSpPr>
              <p:nvPr/>
            </p:nvSpPr>
            <p:spPr bwMode="auto">
              <a:xfrm>
                <a:off x="4071613" y="4973958"/>
                <a:ext cx="483830" cy="336500"/>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2</a:t>
                </a:r>
              </a:p>
            </p:txBody>
          </p:sp>
        </p:grpSp>
        <p:sp>
          <p:nvSpPr>
            <p:cNvPr id="74" name="TextBox 133"/>
            <p:cNvSpPr txBox="1">
              <a:spLocks noChangeArrowheads="1"/>
            </p:cNvSpPr>
            <p:nvPr/>
          </p:nvSpPr>
          <p:spPr bwMode="auto">
            <a:xfrm>
              <a:off x="2457" y="2800"/>
              <a:ext cx="525" cy="551"/>
            </a:xfrm>
            <a:prstGeom prst="rect">
              <a:avLst/>
            </a:prstGeom>
            <a:noFill/>
            <a:ln w="9525">
              <a:noFill/>
              <a:miter lim="800000"/>
              <a:headEnd/>
              <a:tailEnd/>
            </a:ln>
          </p:spPr>
          <p:txBody>
            <a:bodyPr>
              <a:spAutoFit/>
            </a:bodyPr>
            <a:lstStyle/>
            <a:p>
              <a:pPr>
                <a:spcBef>
                  <a:spcPct val="20000"/>
                </a:spcBef>
              </a:pPr>
              <a:r>
                <a:rPr lang="en-US" sz="1600">
                  <a:latin typeface="Arial" charset="0"/>
                </a:rPr>
                <a:t>Tax</a:t>
              </a:r>
            </a:p>
            <a:p>
              <a:pPr>
                <a:spcBef>
                  <a:spcPct val="20000"/>
                </a:spcBef>
              </a:pPr>
              <a:r>
                <a:rPr lang="en-US" sz="1600">
                  <a:latin typeface="Arial" charset="0"/>
                </a:rPr>
                <a:t>revenue</a:t>
              </a:r>
            </a:p>
          </p:txBody>
        </p:sp>
      </p:grpSp>
      <p:grpSp>
        <p:nvGrpSpPr>
          <p:cNvPr id="129137" name="Group 113"/>
          <p:cNvGrpSpPr>
            <a:grpSpLocks/>
          </p:cNvGrpSpPr>
          <p:nvPr/>
        </p:nvGrpSpPr>
        <p:grpSpPr bwMode="auto">
          <a:xfrm>
            <a:off x="6227763" y="836613"/>
            <a:ext cx="2740025" cy="3914775"/>
            <a:chOff x="4014" y="459"/>
            <a:chExt cx="1726" cy="2466"/>
          </a:xfrm>
        </p:grpSpPr>
        <p:grpSp>
          <p:nvGrpSpPr>
            <p:cNvPr id="61" name="Group 76"/>
            <p:cNvGrpSpPr>
              <a:grpSpLocks/>
            </p:cNvGrpSpPr>
            <p:nvPr/>
          </p:nvGrpSpPr>
          <p:grpSpPr bwMode="auto">
            <a:xfrm>
              <a:off x="4082" y="797"/>
              <a:ext cx="1533" cy="1725"/>
              <a:chOff x="395745" y="2415331"/>
              <a:chExt cx="2810439" cy="2738544"/>
            </a:xfrm>
          </p:grpSpPr>
          <p:sp>
            <p:nvSpPr>
              <p:cNvPr id="76" name="Rectangle 75"/>
              <p:cNvSpPr/>
              <p:nvPr/>
            </p:nvSpPr>
            <p:spPr>
              <a:xfrm>
                <a:off x="729404" y="2694742"/>
                <a:ext cx="2476778" cy="24591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129101" name="Group 5"/>
              <p:cNvGrpSpPr>
                <a:grpSpLocks/>
              </p:cNvGrpSpPr>
              <p:nvPr/>
            </p:nvGrpSpPr>
            <p:grpSpPr bwMode="auto">
              <a:xfrm>
                <a:off x="395745" y="2415331"/>
                <a:ext cx="747202" cy="2738543"/>
                <a:chOff x="1497388" y="1833960"/>
                <a:chExt cx="747202" cy="2738040"/>
              </a:xfrm>
            </p:grpSpPr>
            <p:cxnSp>
              <p:nvCxnSpPr>
                <p:cNvPr id="78" name="Straight Connector 77"/>
                <p:cNvCxnSpPr/>
                <p:nvPr/>
              </p:nvCxnSpPr>
              <p:spPr>
                <a:xfrm rot="16200000" flipH="1">
                  <a:off x="598040" y="3340826"/>
                  <a:ext cx="2458681" cy="36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103" name="TextBox 7"/>
                <p:cNvSpPr txBox="1">
                  <a:spLocks noChangeArrowheads="1"/>
                </p:cNvSpPr>
                <p:nvPr/>
              </p:nvSpPr>
              <p:spPr bwMode="auto">
                <a:xfrm>
                  <a:off x="1497388" y="1833960"/>
                  <a:ext cx="747202" cy="336501"/>
                </a:xfrm>
                <a:prstGeom prst="rect">
                  <a:avLst/>
                </a:prstGeom>
                <a:noFill/>
                <a:ln w="9525">
                  <a:noFill/>
                  <a:miter lim="800000"/>
                  <a:headEnd/>
                  <a:tailEnd/>
                </a:ln>
              </p:spPr>
              <p:txBody>
                <a:bodyPr wrap="none">
                  <a:spAutoFit/>
                </a:bodyPr>
                <a:lstStyle/>
                <a:p>
                  <a:pPr>
                    <a:spcBef>
                      <a:spcPct val="20000"/>
                    </a:spcBef>
                  </a:pPr>
                  <a:r>
                    <a:rPr lang="en-US" sz="1600">
                      <a:latin typeface="Arial" charset="0"/>
                    </a:rPr>
                    <a:t>Price</a:t>
                  </a:r>
                </a:p>
              </p:txBody>
            </p:sp>
          </p:grpSp>
        </p:grpSp>
        <p:grpSp>
          <p:nvGrpSpPr>
            <p:cNvPr id="68" name="Group 8"/>
            <p:cNvGrpSpPr>
              <a:grpSpLocks/>
            </p:cNvGrpSpPr>
            <p:nvPr/>
          </p:nvGrpSpPr>
          <p:grpSpPr bwMode="auto">
            <a:xfrm>
              <a:off x="4174" y="2522"/>
              <a:ext cx="1444" cy="403"/>
              <a:chOff x="1676395" y="5180625"/>
              <a:chExt cx="2647172" cy="639821"/>
            </a:xfrm>
          </p:grpSpPr>
          <p:cxnSp>
            <p:nvCxnSpPr>
              <p:cNvPr id="81" name="Straight Connector 80"/>
              <p:cNvCxnSpPr/>
              <p:nvPr/>
            </p:nvCxnSpPr>
            <p:spPr>
              <a:xfrm flipV="1">
                <a:off x="1828552" y="5180624"/>
                <a:ext cx="2495015"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106" name="TextBox 10"/>
              <p:cNvSpPr txBox="1">
                <a:spLocks noChangeArrowheads="1"/>
              </p:cNvSpPr>
              <p:nvPr/>
            </p:nvSpPr>
            <p:spPr bwMode="auto">
              <a:xfrm>
                <a:off x="2615004" y="5483865"/>
                <a:ext cx="1087101" cy="336581"/>
              </a:xfrm>
              <a:prstGeom prst="rect">
                <a:avLst/>
              </a:prstGeom>
              <a:noFill/>
              <a:ln w="9525">
                <a:noFill/>
                <a:miter lim="800000"/>
                <a:headEnd/>
                <a:tailEnd/>
              </a:ln>
            </p:spPr>
            <p:txBody>
              <a:bodyPr wrap="none">
                <a:spAutoFit/>
              </a:bodyPr>
              <a:lstStyle/>
              <a:p>
                <a:pPr>
                  <a:spcBef>
                    <a:spcPct val="20000"/>
                  </a:spcBef>
                </a:pPr>
                <a:r>
                  <a:rPr lang="en-US" sz="1600">
                    <a:latin typeface="Arial" charset="0"/>
                  </a:rPr>
                  <a:t>Quantity</a:t>
                </a:r>
              </a:p>
            </p:txBody>
          </p:sp>
          <p:sp>
            <p:nvSpPr>
              <p:cNvPr id="129107" name="TextBox 11"/>
              <p:cNvSpPr txBox="1">
                <a:spLocks noChangeArrowheads="1"/>
              </p:cNvSpPr>
              <p:nvPr/>
            </p:nvSpPr>
            <p:spPr bwMode="auto">
              <a:xfrm>
                <a:off x="1676395" y="5182213"/>
                <a:ext cx="342812" cy="336580"/>
              </a:xfrm>
              <a:prstGeom prst="rect">
                <a:avLst/>
              </a:prstGeom>
              <a:noFill/>
              <a:ln w="9525">
                <a:noFill/>
                <a:miter lim="800000"/>
                <a:headEnd/>
                <a:tailEnd/>
              </a:ln>
            </p:spPr>
            <p:txBody>
              <a:bodyPr wrap="none">
                <a:spAutoFit/>
              </a:bodyPr>
              <a:lstStyle/>
              <a:p>
                <a:pPr>
                  <a:spcBef>
                    <a:spcPct val="20000"/>
                  </a:spcBef>
                </a:pPr>
                <a:r>
                  <a:rPr lang="en-US" sz="1600">
                    <a:latin typeface="Arial" charset="0"/>
                  </a:rPr>
                  <a:t>0</a:t>
                </a:r>
              </a:p>
            </p:txBody>
          </p:sp>
        </p:grpSp>
        <p:sp>
          <p:nvSpPr>
            <p:cNvPr id="84" name="TextBox 83"/>
            <p:cNvSpPr txBox="1">
              <a:spLocks noChangeArrowheads="1"/>
            </p:cNvSpPr>
            <p:nvPr/>
          </p:nvSpPr>
          <p:spPr bwMode="auto">
            <a:xfrm>
              <a:off x="4536" y="459"/>
              <a:ext cx="924" cy="231"/>
            </a:xfrm>
            <a:prstGeom prst="rect">
              <a:avLst/>
            </a:prstGeom>
            <a:noFill/>
            <a:ln w="9525">
              <a:noFill/>
              <a:miter lim="800000"/>
              <a:headEnd/>
              <a:tailEnd/>
            </a:ln>
          </p:spPr>
          <p:txBody>
            <a:bodyPr wrap="none">
              <a:spAutoFit/>
            </a:bodyPr>
            <a:lstStyle/>
            <a:p>
              <a:pPr>
                <a:spcBef>
                  <a:spcPct val="20000"/>
                </a:spcBef>
              </a:pPr>
              <a:r>
                <a:rPr lang="en-US">
                  <a:latin typeface="Arial" charset="0"/>
                </a:rPr>
                <a:t>(c) Large tax</a:t>
              </a:r>
            </a:p>
          </p:txBody>
        </p:sp>
        <p:sp>
          <p:nvSpPr>
            <p:cNvPr id="85" name="Isosceles Triangle 84"/>
            <p:cNvSpPr>
              <a:spLocks noChangeArrowheads="1"/>
            </p:cNvSpPr>
            <p:nvPr/>
          </p:nvSpPr>
          <p:spPr bwMode="auto">
            <a:xfrm rot="5400000">
              <a:off x="4246" y="1447"/>
              <a:ext cx="1120" cy="731"/>
            </a:xfrm>
            <a:prstGeom prst="triangle">
              <a:avLst>
                <a:gd name="adj" fmla="val 42620"/>
              </a:avLst>
            </a:prstGeom>
            <a:solidFill>
              <a:srgbClr val="FFAFAF"/>
            </a:solidFill>
            <a:ln w="25400" algn="ctr">
              <a:solidFill>
                <a:srgbClr val="FFAFAF"/>
              </a:solidFill>
              <a:miter lim="800000"/>
              <a:headEnd/>
              <a:tailEnd/>
            </a:ln>
          </p:spPr>
          <p:txBody>
            <a:bodyPr rot="10800000" vert="eaVert" anchor="ctr"/>
            <a:lstStyle/>
            <a:p>
              <a:pPr>
                <a:spcBef>
                  <a:spcPct val="20000"/>
                </a:spcBef>
              </a:pPr>
              <a:endParaRPr lang="en-US" sz="1600">
                <a:latin typeface="Arial" charset="0"/>
              </a:endParaRPr>
            </a:p>
          </p:txBody>
        </p:sp>
        <p:grpSp>
          <p:nvGrpSpPr>
            <p:cNvPr id="71" name="Group 12"/>
            <p:cNvGrpSpPr>
              <a:grpSpLocks/>
            </p:cNvGrpSpPr>
            <p:nvPr/>
          </p:nvGrpSpPr>
          <p:grpSpPr bwMode="auto">
            <a:xfrm>
              <a:off x="4346" y="1175"/>
              <a:ext cx="1394" cy="1010"/>
              <a:chOff x="3011154" y="3613781"/>
              <a:chExt cx="2855719" cy="2177648"/>
            </a:xfrm>
          </p:grpSpPr>
          <p:cxnSp>
            <p:nvCxnSpPr>
              <p:cNvPr id="87" name="Straight Connector 14"/>
              <p:cNvCxnSpPr/>
              <p:nvPr/>
            </p:nvCxnSpPr>
            <p:spPr>
              <a:xfrm>
                <a:off x="3011154" y="3613781"/>
                <a:ext cx="2532044" cy="1724870"/>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112" name="TextBox 14"/>
              <p:cNvSpPr txBox="1">
                <a:spLocks noChangeArrowheads="1"/>
              </p:cNvSpPr>
              <p:nvPr/>
            </p:nvSpPr>
            <p:spPr bwMode="auto">
              <a:xfrm>
                <a:off x="4640654" y="5334339"/>
                <a:ext cx="1226219" cy="457090"/>
              </a:xfrm>
              <a:prstGeom prst="rect">
                <a:avLst/>
              </a:prstGeom>
              <a:noFill/>
              <a:ln w="9525">
                <a:noFill/>
                <a:miter lim="800000"/>
                <a:headEnd/>
                <a:tailEnd/>
              </a:ln>
            </p:spPr>
            <p:txBody>
              <a:bodyPr wrap="none">
                <a:spAutoFit/>
              </a:bodyPr>
              <a:lstStyle/>
              <a:p>
                <a:pPr>
                  <a:spcBef>
                    <a:spcPct val="20000"/>
                  </a:spcBef>
                </a:pPr>
                <a:r>
                  <a:rPr lang="en-US" sz="1600">
                    <a:latin typeface="Arial" charset="0"/>
                  </a:rPr>
                  <a:t>Demand</a:t>
                </a:r>
                <a:endParaRPr lang="en-US" sz="1600" baseline="-25000">
                  <a:latin typeface="Arial" charset="0"/>
                </a:endParaRPr>
              </a:p>
            </p:txBody>
          </p:sp>
        </p:grpSp>
        <p:grpSp>
          <p:nvGrpSpPr>
            <p:cNvPr id="75" name="Group 90"/>
            <p:cNvGrpSpPr>
              <a:grpSpLocks/>
            </p:cNvGrpSpPr>
            <p:nvPr/>
          </p:nvGrpSpPr>
          <p:grpSpPr bwMode="auto">
            <a:xfrm>
              <a:off x="4391" y="1224"/>
              <a:ext cx="1320" cy="1200"/>
              <a:chOff x="2366951" y="5565901"/>
              <a:chExt cx="2702524" cy="2584586"/>
            </a:xfrm>
          </p:grpSpPr>
          <p:cxnSp>
            <p:nvCxnSpPr>
              <p:cNvPr id="90" name="Straight Connector 89"/>
              <p:cNvCxnSpPr/>
              <p:nvPr/>
            </p:nvCxnSpPr>
            <p:spPr>
              <a:xfrm flipV="1">
                <a:off x="2366950" y="5942819"/>
                <a:ext cx="2362661" cy="220766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129115" name="TextBox 92"/>
              <p:cNvSpPr txBox="1">
                <a:spLocks noChangeArrowheads="1"/>
              </p:cNvSpPr>
              <p:nvPr/>
            </p:nvSpPr>
            <p:spPr bwMode="auto">
              <a:xfrm>
                <a:off x="3958961" y="5565901"/>
                <a:ext cx="1110514" cy="456610"/>
              </a:xfrm>
              <a:prstGeom prst="rect">
                <a:avLst/>
              </a:prstGeom>
              <a:noFill/>
              <a:ln w="9525">
                <a:noFill/>
                <a:miter lim="800000"/>
                <a:headEnd/>
                <a:tailEnd/>
              </a:ln>
            </p:spPr>
            <p:txBody>
              <a:bodyPr wrap="none">
                <a:spAutoFit/>
              </a:bodyPr>
              <a:lstStyle/>
              <a:p>
                <a:pPr>
                  <a:spcBef>
                    <a:spcPct val="20000"/>
                  </a:spcBef>
                </a:pPr>
                <a:r>
                  <a:rPr lang="en-US" sz="1600">
                    <a:latin typeface="Arial" charset="0"/>
                  </a:rPr>
                  <a:t>Supply </a:t>
                </a:r>
                <a:endParaRPr lang="en-US" sz="1600" baseline="-25000">
                  <a:latin typeface="Arial" charset="0"/>
                </a:endParaRPr>
              </a:p>
            </p:txBody>
          </p:sp>
        </p:grpSp>
        <p:grpSp>
          <p:nvGrpSpPr>
            <p:cNvPr id="77" name="Group 74"/>
            <p:cNvGrpSpPr>
              <a:grpSpLocks/>
            </p:cNvGrpSpPr>
            <p:nvPr/>
          </p:nvGrpSpPr>
          <p:grpSpPr bwMode="auto">
            <a:xfrm>
              <a:off x="4536" y="822"/>
              <a:ext cx="954" cy="833"/>
              <a:chOff x="1556532" y="2802194"/>
              <a:chExt cx="1750621" cy="1322488"/>
            </a:xfrm>
          </p:grpSpPr>
          <p:sp>
            <p:nvSpPr>
              <p:cNvPr id="129117" name="TextBox 133"/>
              <p:cNvSpPr txBox="1">
                <a:spLocks noChangeArrowheads="1"/>
              </p:cNvSpPr>
              <p:nvPr/>
            </p:nvSpPr>
            <p:spPr bwMode="auto">
              <a:xfrm>
                <a:off x="1556532" y="2802194"/>
                <a:ext cx="1750621" cy="581069"/>
              </a:xfrm>
              <a:prstGeom prst="rect">
                <a:avLst/>
              </a:prstGeom>
              <a:solidFill>
                <a:srgbClr val="FFCC66"/>
              </a:solidFill>
              <a:ln w="9525">
                <a:noFill/>
                <a:miter lim="800000"/>
                <a:headEnd/>
                <a:tailEnd/>
              </a:ln>
            </p:spPr>
            <p:txBody>
              <a:bodyPr>
                <a:spAutoFit/>
              </a:bodyPr>
              <a:lstStyle/>
              <a:p>
                <a:pPr>
                  <a:spcBef>
                    <a:spcPct val="20000"/>
                  </a:spcBef>
                </a:pPr>
                <a:r>
                  <a:rPr lang="en-US" sz="1600">
                    <a:latin typeface="Arial" charset="0"/>
                  </a:rPr>
                  <a:t>Deadweight loss</a:t>
                </a:r>
              </a:p>
            </p:txBody>
          </p:sp>
          <p:cxnSp>
            <p:nvCxnSpPr>
              <p:cNvPr id="94" name="Straight Connector 93"/>
              <p:cNvCxnSpPr/>
              <p:nvPr/>
            </p:nvCxnSpPr>
            <p:spPr>
              <a:xfrm rot="5400000" flipH="1" flipV="1">
                <a:off x="1481613" y="3598343"/>
                <a:ext cx="1004964" cy="47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0" name="Group 194"/>
            <p:cNvGrpSpPr>
              <a:grpSpLocks/>
            </p:cNvGrpSpPr>
            <p:nvPr/>
          </p:nvGrpSpPr>
          <p:grpSpPr bwMode="auto">
            <a:xfrm>
              <a:off x="5070" y="1721"/>
              <a:ext cx="265" cy="1010"/>
              <a:chOff x="4107238" y="3707074"/>
              <a:chExt cx="485943" cy="1603437"/>
            </a:xfrm>
          </p:grpSpPr>
          <p:cxnSp>
            <p:nvCxnSpPr>
              <p:cNvPr id="96" name="Straight Connector 95"/>
              <p:cNvCxnSpPr/>
              <p:nvPr/>
            </p:nvCxnSpPr>
            <p:spPr bwMode="auto">
              <a:xfrm rot="5400000">
                <a:off x="3671120" y="4346738"/>
                <a:ext cx="1281162" cy="183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121" name="TextBox 78"/>
              <p:cNvSpPr txBox="1">
                <a:spLocks noChangeArrowheads="1"/>
              </p:cNvSpPr>
              <p:nvPr/>
            </p:nvSpPr>
            <p:spPr bwMode="auto">
              <a:xfrm>
                <a:off x="4107238" y="4973948"/>
                <a:ext cx="485943" cy="336563"/>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1</a:t>
                </a:r>
              </a:p>
            </p:txBody>
          </p:sp>
        </p:grpSp>
        <p:sp>
          <p:nvSpPr>
            <p:cNvPr id="98" name="Rectangle 97"/>
            <p:cNvSpPr/>
            <p:nvPr/>
          </p:nvSpPr>
          <p:spPr>
            <a:xfrm>
              <a:off x="4277" y="1244"/>
              <a:ext cx="155" cy="1134"/>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86" name="Group 42"/>
            <p:cNvGrpSpPr>
              <a:grpSpLocks/>
            </p:cNvGrpSpPr>
            <p:nvPr/>
          </p:nvGrpSpPr>
          <p:grpSpPr bwMode="auto">
            <a:xfrm>
              <a:off x="4014" y="1125"/>
              <a:ext cx="409" cy="212"/>
              <a:chOff x="1463524" y="1873436"/>
              <a:chExt cx="753307" cy="335803"/>
            </a:xfrm>
          </p:grpSpPr>
          <p:cxnSp>
            <p:nvCxnSpPr>
              <p:cNvPr id="100" name="Straight Connector 99"/>
              <p:cNvCxnSpPr/>
              <p:nvPr/>
            </p:nvCxnSpPr>
            <p:spPr bwMode="auto">
              <a:xfrm>
                <a:off x="1933189" y="2054009"/>
                <a:ext cx="283641"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125" name="TextBox 78"/>
              <p:cNvSpPr txBox="1">
                <a:spLocks noChangeArrowheads="1"/>
              </p:cNvSpPr>
              <p:nvPr/>
            </p:nvSpPr>
            <p:spPr bwMode="auto">
              <a:xfrm>
                <a:off x="1463524" y="1873436"/>
                <a:ext cx="477707" cy="335803"/>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B</a:t>
                </a:r>
              </a:p>
            </p:txBody>
          </p:sp>
        </p:grpSp>
        <p:grpSp>
          <p:nvGrpSpPr>
            <p:cNvPr id="89" name="Group 46"/>
            <p:cNvGrpSpPr>
              <a:grpSpLocks/>
            </p:cNvGrpSpPr>
            <p:nvPr/>
          </p:nvGrpSpPr>
          <p:grpSpPr bwMode="auto">
            <a:xfrm>
              <a:off x="4014" y="2267"/>
              <a:ext cx="415" cy="212"/>
              <a:chOff x="1461491" y="3807137"/>
              <a:chExt cx="762953" cy="335803"/>
            </a:xfrm>
          </p:grpSpPr>
          <p:cxnSp>
            <p:nvCxnSpPr>
              <p:cNvPr id="103" name="Straight Connector 102"/>
              <p:cNvCxnSpPr/>
              <p:nvPr/>
            </p:nvCxnSpPr>
            <p:spPr bwMode="auto">
              <a:xfrm>
                <a:off x="1921101" y="3989294"/>
                <a:ext cx="303342" cy="4752"/>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128" name="TextBox 78"/>
              <p:cNvSpPr txBox="1">
                <a:spLocks noChangeArrowheads="1"/>
              </p:cNvSpPr>
              <p:nvPr/>
            </p:nvSpPr>
            <p:spPr bwMode="auto">
              <a:xfrm>
                <a:off x="1461491" y="3807137"/>
                <a:ext cx="477994" cy="335803"/>
              </a:xfrm>
              <a:prstGeom prst="rect">
                <a:avLst/>
              </a:prstGeom>
              <a:noFill/>
              <a:ln w="9525">
                <a:noFill/>
                <a:miter lim="800000"/>
                <a:headEnd/>
                <a:tailEnd/>
              </a:ln>
            </p:spPr>
            <p:txBody>
              <a:bodyPr wrap="none">
                <a:spAutoFit/>
              </a:bodyPr>
              <a:lstStyle/>
              <a:p>
                <a:pPr algn="r">
                  <a:spcBef>
                    <a:spcPct val="20000"/>
                  </a:spcBef>
                </a:pPr>
                <a:r>
                  <a:rPr lang="en-US" sz="1600">
                    <a:latin typeface="Arial" charset="0"/>
                  </a:rPr>
                  <a:t>P</a:t>
                </a:r>
                <a:r>
                  <a:rPr lang="en-US" sz="1600" baseline="-25000">
                    <a:latin typeface="Arial" charset="0"/>
                  </a:rPr>
                  <a:t>S</a:t>
                </a:r>
              </a:p>
            </p:txBody>
          </p:sp>
        </p:grpSp>
        <p:grpSp>
          <p:nvGrpSpPr>
            <p:cNvPr id="92" name="Group 35"/>
            <p:cNvGrpSpPr>
              <a:grpSpLocks/>
            </p:cNvGrpSpPr>
            <p:nvPr/>
          </p:nvGrpSpPr>
          <p:grpSpPr bwMode="auto">
            <a:xfrm>
              <a:off x="4322" y="1237"/>
              <a:ext cx="266" cy="1486"/>
              <a:chOff x="4082893" y="2951013"/>
              <a:chExt cx="488073" cy="2359553"/>
            </a:xfrm>
          </p:grpSpPr>
          <p:cxnSp>
            <p:nvCxnSpPr>
              <p:cNvPr id="106" name="Straight Connector 105"/>
              <p:cNvCxnSpPr/>
              <p:nvPr/>
            </p:nvCxnSpPr>
            <p:spPr bwMode="auto">
              <a:xfrm rot="16200000" flipH="1">
                <a:off x="3266119" y="3967787"/>
                <a:ext cx="2037218" cy="367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9131" name="TextBox 78"/>
              <p:cNvSpPr txBox="1">
                <a:spLocks noChangeArrowheads="1"/>
              </p:cNvSpPr>
              <p:nvPr/>
            </p:nvSpPr>
            <p:spPr bwMode="auto">
              <a:xfrm>
                <a:off x="4082893" y="4973941"/>
                <a:ext cx="488073" cy="336625"/>
              </a:xfrm>
              <a:prstGeom prst="rect">
                <a:avLst/>
              </a:prstGeom>
              <a:noFill/>
              <a:ln w="9525">
                <a:noFill/>
                <a:miter lim="800000"/>
                <a:headEnd/>
                <a:tailEnd/>
              </a:ln>
            </p:spPr>
            <p:txBody>
              <a:bodyPr wrap="none">
                <a:spAutoFit/>
              </a:bodyPr>
              <a:lstStyle/>
              <a:p>
                <a:pPr>
                  <a:spcBef>
                    <a:spcPct val="20000"/>
                  </a:spcBef>
                </a:pPr>
                <a:r>
                  <a:rPr lang="en-US" sz="1600">
                    <a:latin typeface="Arial" charset="0"/>
                  </a:rPr>
                  <a:t>Q</a:t>
                </a:r>
                <a:r>
                  <a:rPr lang="en-US" sz="1600" baseline="-25000">
                    <a:latin typeface="Arial" charset="0"/>
                  </a:rPr>
                  <a:t>2</a:t>
                </a:r>
              </a:p>
            </p:txBody>
          </p:sp>
        </p:grpSp>
        <p:sp>
          <p:nvSpPr>
            <p:cNvPr id="108" name="TextBox 133"/>
            <p:cNvSpPr txBox="1">
              <a:spLocks noChangeArrowheads="1"/>
            </p:cNvSpPr>
            <p:nvPr/>
          </p:nvSpPr>
          <p:spPr bwMode="auto">
            <a:xfrm rot="-5400000">
              <a:off x="3933" y="1742"/>
              <a:ext cx="846" cy="212"/>
            </a:xfrm>
            <a:prstGeom prst="rect">
              <a:avLst/>
            </a:prstGeom>
            <a:noFill/>
            <a:ln w="9525">
              <a:noFill/>
              <a:miter lim="800000"/>
              <a:headEnd/>
              <a:tailEnd/>
            </a:ln>
          </p:spPr>
          <p:txBody>
            <a:bodyPr>
              <a:spAutoFit/>
            </a:bodyPr>
            <a:lstStyle/>
            <a:p>
              <a:pPr>
                <a:spcBef>
                  <a:spcPct val="20000"/>
                </a:spcBef>
              </a:pPr>
              <a:r>
                <a:rPr lang="en-US" sz="1600">
                  <a:latin typeface="Arial" charset="0"/>
                </a:rPr>
                <a:t>Tax revenue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9138"/>
                                        </p:tgtEl>
                                        <p:attrNameLst>
                                          <p:attrName>style.visibility</p:attrName>
                                        </p:attrNameLst>
                                      </p:cBhvr>
                                      <p:to>
                                        <p:strVal val="visible"/>
                                      </p:to>
                                    </p:set>
                                    <p:anim calcmode="lin" valueType="num">
                                      <p:cBhvr additive="base">
                                        <p:cTn id="7" dur="500" fill="hold"/>
                                        <p:tgtEl>
                                          <p:spTgt spid="129138"/>
                                        </p:tgtEl>
                                        <p:attrNameLst>
                                          <p:attrName>ppt_x</p:attrName>
                                        </p:attrNameLst>
                                      </p:cBhvr>
                                      <p:tavLst>
                                        <p:tav tm="0">
                                          <p:val>
                                            <p:strVal val="0-#ppt_w/2"/>
                                          </p:val>
                                        </p:tav>
                                        <p:tav tm="100000">
                                          <p:val>
                                            <p:strVal val="#ppt_x"/>
                                          </p:val>
                                        </p:tav>
                                      </p:tavLst>
                                    </p:anim>
                                    <p:anim calcmode="lin" valueType="num">
                                      <p:cBhvr additive="base">
                                        <p:cTn id="8" dur="500" fill="hold"/>
                                        <p:tgtEl>
                                          <p:spTgt spid="1291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9136"/>
                                        </p:tgtEl>
                                        <p:attrNameLst>
                                          <p:attrName>style.visibility</p:attrName>
                                        </p:attrNameLst>
                                      </p:cBhvr>
                                      <p:to>
                                        <p:strVal val="visible"/>
                                      </p:to>
                                    </p:set>
                                    <p:anim calcmode="lin" valueType="num">
                                      <p:cBhvr additive="base">
                                        <p:cTn id="13" dur="500" fill="hold"/>
                                        <p:tgtEl>
                                          <p:spTgt spid="129136"/>
                                        </p:tgtEl>
                                        <p:attrNameLst>
                                          <p:attrName>ppt_x</p:attrName>
                                        </p:attrNameLst>
                                      </p:cBhvr>
                                      <p:tavLst>
                                        <p:tav tm="0">
                                          <p:val>
                                            <p:strVal val="#ppt_x"/>
                                          </p:val>
                                        </p:tav>
                                        <p:tav tm="100000">
                                          <p:val>
                                            <p:strVal val="#ppt_x"/>
                                          </p:val>
                                        </p:tav>
                                      </p:tavLst>
                                    </p:anim>
                                    <p:anim calcmode="lin" valueType="num">
                                      <p:cBhvr additive="base">
                                        <p:cTn id="14" dur="500" fill="hold"/>
                                        <p:tgtEl>
                                          <p:spTgt spid="1291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9137"/>
                                        </p:tgtEl>
                                        <p:attrNameLst>
                                          <p:attrName>style.visibility</p:attrName>
                                        </p:attrNameLst>
                                      </p:cBhvr>
                                      <p:to>
                                        <p:strVal val="visible"/>
                                      </p:to>
                                    </p:set>
                                    <p:anim calcmode="lin" valueType="num">
                                      <p:cBhvr additive="base">
                                        <p:cTn id="19" dur="500" fill="hold"/>
                                        <p:tgtEl>
                                          <p:spTgt spid="129137"/>
                                        </p:tgtEl>
                                        <p:attrNameLst>
                                          <p:attrName>ppt_x</p:attrName>
                                        </p:attrNameLst>
                                      </p:cBhvr>
                                      <p:tavLst>
                                        <p:tav tm="0">
                                          <p:val>
                                            <p:strVal val="1+#ppt_w/2"/>
                                          </p:val>
                                        </p:tav>
                                        <p:tav tm="100000">
                                          <p:val>
                                            <p:strVal val="#ppt_x"/>
                                          </p:val>
                                        </p:tav>
                                      </p:tavLst>
                                    </p:anim>
                                    <p:anim calcmode="lin" valueType="num">
                                      <p:cBhvr additive="base">
                                        <p:cTn id="20" dur="500" fill="hold"/>
                                        <p:tgtEl>
                                          <p:spTgt spid="1291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p:cNvSpPr>
            <a:spLocks noGrp="1"/>
          </p:cNvSpPr>
          <p:nvPr>
            <p:ph type="title" idx="4294967295"/>
          </p:nvPr>
        </p:nvSpPr>
        <p:spPr bwMode="auto">
          <a:xfrm>
            <a:off x="647700" y="60325"/>
            <a:ext cx="8502650" cy="555625"/>
          </a:xfrm>
          <a:noFill/>
        </p:spPr>
        <p:txBody>
          <a:bodyPr/>
          <a:lstStyle/>
          <a:p>
            <a:r>
              <a:rPr lang="en-US" smtClean="0">
                <a:effectLst/>
              </a:rPr>
              <a:t>Deadweight Loss, Tax Revenue and Tax Size</a:t>
            </a:r>
          </a:p>
        </p:txBody>
      </p:sp>
      <p:grpSp>
        <p:nvGrpSpPr>
          <p:cNvPr id="2" name="Group 76"/>
          <p:cNvGrpSpPr>
            <a:grpSpLocks/>
          </p:cNvGrpSpPr>
          <p:nvPr/>
        </p:nvGrpSpPr>
        <p:grpSpPr bwMode="auto">
          <a:xfrm>
            <a:off x="503238" y="1052513"/>
            <a:ext cx="3917950" cy="3001962"/>
            <a:chOff x="168075" y="2151796"/>
            <a:chExt cx="3917037" cy="3002079"/>
          </a:xfrm>
        </p:grpSpPr>
        <p:sp>
          <p:nvSpPr>
            <p:cNvPr id="110" name="Rectangle 109"/>
            <p:cNvSpPr/>
            <p:nvPr/>
          </p:nvSpPr>
          <p:spPr>
            <a:xfrm>
              <a:off x="729919" y="2548686"/>
              <a:ext cx="3355193" cy="26051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128008" name="Group 5"/>
            <p:cNvGrpSpPr>
              <a:grpSpLocks/>
            </p:cNvGrpSpPr>
            <p:nvPr/>
          </p:nvGrpSpPr>
          <p:grpSpPr bwMode="auto">
            <a:xfrm>
              <a:off x="168075" y="2151796"/>
              <a:ext cx="1670793" cy="3002077"/>
              <a:chOff x="1269718" y="1570473"/>
              <a:chExt cx="1670793" cy="3001527"/>
            </a:xfrm>
          </p:grpSpPr>
          <p:cxnSp>
            <p:nvCxnSpPr>
              <p:cNvPr id="112" name="Straight Connector 111"/>
              <p:cNvCxnSpPr/>
              <p:nvPr/>
            </p:nvCxnSpPr>
            <p:spPr>
              <a:xfrm rot="5400000">
                <a:off x="525237" y="3248219"/>
                <a:ext cx="2628521" cy="190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010" name="TextBox 7"/>
              <p:cNvSpPr txBox="1">
                <a:spLocks noChangeArrowheads="1"/>
              </p:cNvSpPr>
              <p:nvPr/>
            </p:nvSpPr>
            <p:spPr bwMode="auto">
              <a:xfrm>
                <a:off x="1269718" y="1570473"/>
                <a:ext cx="1670793" cy="336501"/>
              </a:xfrm>
              <a:prstGeom prst="rect">
                <a:avLst/>
              </a:prstGeom>
              <a:noFill/>
              <a:ln w="9525">
                <a:noFill/>
                <a:miter lim="800000"/>
                <a:headEnd/>
                <a:tailEnd/>
              </a:ln>
            </p:spPr>
            <p:txBody>
              <a:bodyPr wrap="none">
                <a:spAutoFit/>
              </a:bodyPr>
              <a:lstStyle/>
              <a:p>
                <a:pPr>
                  <a:spcBef>
                    <a:spcPct val="20000"/>
                  </a:spcBef>
                </a:pPr>
                <a:r>
                  <a:rPr lang="en-US" sz="1600">
                    <a:latin typeface="Arial" charset="0"/>
                  </a:rPr>
                  <a:t>Deadweight loss</a:t>
                </a:r>
              </a:p>
            </p:txBody>
          </p:sp>
        </p:grpSp>
      </p:grpSp>
      <p:grpSp>
        <p:nvGrpSpPr>
          <p:cNvPr id="4" name="Group 8"/>
          <p:cNvGrpSpPr>
            <a:grpSpLocks/>
          </p:cNvGrpSpPr>
          <p:nvPr/>
        </p:nvGrpSpPr>
        <p:grpSpPr bwMode="auto">
          <a:xfrm>
            <a:off x="900113" y="4067175"/>
            <a:ext cx="3743325" cy="354013"/>
            <a:chOff x="1676400" y="5181600"/>
            <a:chExt cx="3743712" cy="354452"/>
          </a:xfrm>
        </p:grpSpPr>
        <p:cxnSp>
          <p:nvCxnSpPr>
            <p:cNvPr id="115" name="Straight Connector 114"/>
            <p:cNvCxnSpPr/>
            <p:nvPr/>
          </p:nvCxnSpPr>
          <p:spPr>
            <a:xfrm>
              <a:off x="1828816" y="5181600"/>
              <a:ext cx="34039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013" name="TextBox 10"/>
            <p:cNvSpPr txBox="1">
              <a:spLocks noChangeArrowheads="1"/>
            </p:cNvSpPr>
            <p:nvPr/>
          </p:nvSpPr>
          <p:spPr bwMode="auto">
            <a:xfrm>
              <a:off x="4480215" y="5199084"/>
              <a:ext cx="939897" cy="336968"/>
            </a:xfrm>
            <a:prstGeom prst="rect">
              <a:avLst/>
            </a:prstGeom>
            <a:noFill/>
            <a:ln w="9525">
              <a:noFill/>
              <a:miter lim="800000"/>
              <a:headEnd/>
              <a:tailEnd/>
            </a:ln>
          </p:spPr>
          <p:txBody>
            <a:bodyPr wrap="none">
              <a:spAutoFit/>
            </a:bodyPr>
            <a:lstStyle/>
            <a:p>
              <a:pPr>
                <a:spcBef>
                  <a:spcPct val="20000"/>
                </a:spcBef>
              </a:pPr>
              <a:r>
                <a:rPr lang="en-US" sz="1600">
                  <a:latin typeface="Arial" charset="0"/>
                </a:rPr>
                <a:t>Tax size</a:t>
              </a:r>
            </a:p>
          </p:txBody>
        </p:sp>
        <p:sp>
          <p:nvSpPr>
            <p:cNvPr id="128014" name="TextBox 11"/>
            <p:cNvSpPr txBox="1">
              <a:spLocks noChangeArrowheads="1"/>
            </p:cNvSpPr>
            <p:nvPr/>
          </p:nvSpPr>
          <p:spPr bwMode="auto">
            <a:xfrm>
              <a:off x="1676400" y="5181600"/>
              <a:ext cx="298532" cy="339331"/>
            </a:xfrm>
            <a:prstGeom prst="rect">
              <a:avLst/>
            </a:prstGeom>
            <a:noFill/>
            <a:ln w="9525">
              <a:noFill/>
              <a:miter lim="800000"/>
              <a:headEnd/>
              <a:tailEnd/>
            </a:ln>
          </p:spPr>
          <p:txBody>
            <a:bodyPr wrap="none">
              <a:spAutoFit/>
            </a:bodyPr>
            <a:lstStyle/>
            <a:p>
              <a:pPr>
                <a:spcBef>
                  <a:spcPct val="20000"/>
                </a:spcBef>
              </a:pPr>
              <a:r>
                <a:rPr lang="en-US" sz="1600">
                  <a:latin typeface="Arial" charset="0"/>
                </a:rPr>
                <a:t>0</a:t>
              </a:r>
            </a:p>
          </p:txBody>
        </p:sp>
      </p:grpSp>
      <p:sp>
        <p:nvSpPr>
          <p:cNvPr id="119" name="TextBox 118"/>
          <p:cNvSpPr txBox="1">
            <a:spLocks noChangeArrowheads="1"/>
          </p:cNvSpPr>
          <p:nvPr/>
        </p:nvSpPr>
        <p:spPr bwMode="auto">
          <a:xfrm>
            <a:off x="863600" y="4976813"/>
            <a:ext cx="8162925" cy="1163637"/>
          </a:xfrm>
          <a:prstGeom prst="rect">
            <a:avLst/>
          </a:prstGeom>
          <a:noFill/>
          <a:ln w="9525">
            <a:noFill/>
            <a:miter lim="800000"/>
            <a:headEnd/>
            <a:tailEnd/>
          </a:ln>
        </p:spPr>
        <p:txBody>
          <a:bodyPr>
            <a:spAutoFit/>
          </a:bodyPr>
          <a:lstStyle/>
          <a:p>
            <a:pPr>
              <a:spcBef>
                <a:spcPct val="20000"/>
              </a:spcBef>
            </a:pPr>
            <a:r>
              <a:rPr lang="en-US" sz="2200"/>
              <a:t>As the size of a tax grows larger, the deadweight loss grows larger. </a:t>
            </a:r>
          </a:p>
          <a:p>
            <a:pPr>
              <a:spcBef>
                <a:spcPct val="20000"/>
              </a:spcBef>
            </a:pPr>
            <a:r>
              <a:rPr lang="en-US" sz="2200"/>
              <a:t>As the size of a tax grows larger, tax revenue first rises and then falls. This relationship is sometimes called the Laffer curve.</a:t>
            </a:r>
          </a:p>
        </p:txBody>
      </p:sp>
      <p:sp>
        <p:nvSpPr>
          <p:cNvPr id="121" name="Freeform 120"/>
          <p:cNvSpPr/>
          <p:nvPr/>
        </p:nvSpPr>
        <p:spPr>
          <a:xfrm>
            <a:off x="1082675" y="1592263"/>
            <a:ext cx="3021013" cy="2459037"/>
          </a:xfrm>
          <a:custGeom>
            <a:avLst/>
            <a:gdLst>
              <a:gd name="connsiteX0" fmla="*/ 0 w 3126259"/>
              <a:gd name="connsiteY0" fmla="*/ 2458995 h 2458995"/>
              <a:gd name="connsiteX1" fmla="*/ 3126259 w 3126259"/>
              <a:gd name="connsiteY1" fmla="*/ 0 h 2458995"/>
              <a:gd name="connsiteX0" fmla="*/ 0 w 3126259"/>
              <a:gd name="connsiteY0" fmla="*/ 2458995 h 2458995"/>
              <a:gd name="connsiteX1" fmla="*/ 3126259 w 3126259"/>
              <a:gd name="connsiteY1" fmla="*/ 0 h 2458995"/>
              <a:gd name="connsiteX0" fmla="*/ 0 w 3126259"/>
              <a:gd name="connsiteY0" fmla="*/ 2458995 h 2458995"/>
              <a:gd name="connsiteX1" fmla="*/ 3126259 w 3126259"/>
              <a:gd name="connsiteY1" fmla="*/ 0 h 2458995"/>
              <a:gd name="connsiteX0" fmla="*/ 0 w 3126259"/>
              <a:gd name="connsiteY0" fmla="*/ 2458995 h 2458995"/>
              <a:gd name="connsiteX1" fmla="*/ 3126259 w 3126259"/>
              <a:gd name="connsiteY1" fmla="*/ 0 h 2458995"/>
              <a:gd name="connsiteX0" fmla="*/ 0 w 3126259"/>
              <a:gd name="connsiteY0" fmla="*/ 2458995 h 2458995"/>
              <a:gd name="connsiteX1" fmla="*/ 3126259 w 3126259"/>
              <a:gd name="connsiteY1" fmla="*/ 0 h 2458995"/>
            </a:gdLst>
            <a:ahLst/>
            <a:cxnLst>
              <a:cxn ang="0">
                <a:pos x="connsiteX0" y="connsiteY0"/>
              </a:cxn>
              <a:cxn ang="0">
                <a:pos x="connsiteX1" y="connsiteY1"/>
              </a:cxn>
            </a:cxnLst>
            <a:rect l="l" t="t" r="r" b="b"/>
            <a:pathLst>
              <a:path w="3126259" h="2458995">
                <a:moveTo>
                  <a:pt x="0" y="2458995"/>
                </a:moveTo>
                <a:cubicBezTo>
                  <a:pt x="2290119" y="2207741"/>
                  <a:pt x="2899719" y="1227438"/>
                  <a:pt x="3126259" y="0"/>
                </a:cubicBezTo>
              </a:path>
            </a:pathLst>
          </a:custGeom>
          <a:ln w="3810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spcBef>
                <a:spcPct val="20000"/>
              </a:spcBef>
              <a:defRPr/>
            </a:pPr>
            <a:endParaRPr lang="en-US" sz="1600"/>
          </a:p>
        </p:txBody>
      </p:sp>
      <p:grpSp>
        <p:nvGrpSpPr>
          <p:cNvPr id="5" name="Group 76"/>
          <p:cNvGrpSpPr>
            <a:grpSpLocks/>
          </p:cNvGrpSpPr>
          <p:nvPr/>
        </p:nvGrpSpPr>
        <p:grpSpPr bwMode="auto">
          <a:xfrm>
            <a:off x="4784725" y="1095375"/>
            <a:ext cx="3989388" cy="2987675"/>
            <a:chOff x="97219" y="2165446"/>
            <a:chExt cx="3987893" cy="2988431"/>
          </a:xfrm>
        </p:grpSpPr>
        <p:sp>
          <p:nvSpPr>
            <p:cNvPr id="123" name="Rectangle 122"/>
            <p:cNvSpPr/>
            <p:nvPr/>
          </p:nvSpPr>
          <p:spPr>
            <a:xfrm>
              <a:off x="730395" y="2548131"/>
              <a:ext cx="3354717" cy="26057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pPr>
              <a:endParaRPr lang="en-US" sz="1600">
                <a:solidFill>
                  <a:schemeClr val="tx1"/>
                </a:solidFill>
                <a:latin typeface="Arial" charset="0"/>
                <a:ea typeface="MS PGothic" pitchFamily="34" charset="-128"/>
              </a:endParaRPr>
            </a:p>
          </p:txBody>
        </p:sp>
        <p:grpSp>
          <p:nvGrpSpPr>
            <p:cNvPr id="128021" name="Group 5"/>
            <p:cNvGrpSpPr>
              <a:grpSpLocks/>
            </p:cNvGrpSpPr>
            <p:nvPr/>
          </p:nvGrpSpPr>
          <p:grpSpPr bwMode="auto">
            <a:xfrm>
              <a:off x="97219" y="2165446"/>
              <a:ext cx="1389447" cy="2988430"/>
              <a:chOff x="1198862" y="1584119"/>
              <a:chExt cx="1389447" cy="2987881"/>
            </a:xfrm>
          </p:grpSpPr>
          <p:cxnSp>
            <p:nvCxnSpPr>
              <p:cNvPr id="125" name="Straight Connector 124"/>
              <p:cNvCxnSpPr/>
              <p:nvPr/>
            </p:nvCxnSpPr>
            <p:spPr>
              <a:xfrm rot="5400000">
                <a:off x="525431" y="3247938"/>
                <a:ext cx="2629082" cy="190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023" name="TextBox 7"/>
              <p:cNvSpPr txBox="1">
                <a:spLocks noChangeArrowheads="1"/>
              </p:cNvSpPr>
              <p:nvPr/>
            </p:nvSpPr>
            <p:spPr bwMode="auto">
              <a:xfrm>
                <a:off x="1198862" y="1584119"/>
                <a:ext cx="1389447" cy="336573"/>
              </a:xfrm>
              <a:prstGeom prst="rect">
                <a:avLst/>
              </a:prstGeom>
              <a:noFill/>
              <a:ln w="9525">
                <a:noFill/>
                <a:miter lim="800000"/>
                <a:headEnd/>
                <a:tailEnd/>
              </a:ln>
            </p:spPr>
            <p:txBody>
              <a:bodyPr wrap="none">
                <a:spAutoFit/>
              </a:bodyPr>
              <a:lstStyle/>
              <a:p>
                <a:pPr>
                  <a:spcBef>
                    <a:spcPct val="20000"/>
                  </a:spcBef>
                </a:pPr>
                <a:r>
                  <a:rPr lang="en-US" sz="1600">
                    <a:latin typeface="Arial" charset="0"/>
                  </a:rPr>
                  <a:t>Tax Revenue</a:t>
                </a:r>
              </a:p>
            </p:txBody>
          </p:sp>
        </p:grpSp>
      </p:grpSp>
      <p:grpSp>
        <p:nvGrpSpPr>
          <p:cNvPr id="7" name="Group 8"/>
          <p:cNvGrpSpPr>
            <a:grpSpLocks/>
          </p:cNvGrpSpPr>
          <p:nvPr/>
        </p:nvGrpSpPr>
        <p:grpSpPr bwMode="auto">
          <a:xfrm>
            <a:off x="5253038" y="4095750"/>
            <a:ext cx="3743325" cy="354013"/>
            <a:chOff x="1676400" y="5181600"/>
            <a:chExt cx="3743712" cy="352804"/>
          </a:xfrm>
        </p:grpSpPr>
        <p:cxnSp>
          <p:nvCxnSpPr>
            <p:cNvPr id="128" name="Straight Connector 127"/>
            <p:cNvCxnSpPr/>
            <p:nvPr/>
          </p:nvCxnSpPr>
          <p:spPr>
            <a:xfrm>
              <a:off x="1828816" y="5181600"/>
              <a:ext cx="34039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026" name="TextBox 10"/>
            <p:cNvSpPr txBox="1">
              <a:spLocks noChangeArrowheads="1"/>
            </p:cNvSpPr>
            <p:nvPr/>
          </p:nvSpPr>
          <p:spPr bwMode="auto">
            <a:xfrm>
              <a:off x="4480215" y="5199003"/>
              <a:ext cx="939897" cy="335401"/>
            </a:xfrm>
            <a:prstGeom prst="rect">
              <a:avLst/>
            </a:prstGeom>
            <a:noFill/>
            <a:ln w="9525">
              <a:noFill/>
              <a:miter lim="800000"/>
              <a:headEnd/>
              <a:tailEnd/>
            </a:ln>
          </p:spPr>
          <p:txBody>
            <a:bodyPr wrap="none">
              <a:spAutoFit/>
            </a:bodyPr>
            <a:lstStyle/>
            <a:p>
              <a:pPr>
                <a:spcBef>
                  <a:spcPct val="20000"/>
                </a:spcBef>
              </a:pPr>
              <a:r>
                <a:rPr lang="en-US" sz="1600">
                  <a:latin typeface="Arial" charset="0"/>
                </a:rPr>
                <a:t>Tax size</a:t>
              </a:r>
            </a:p>
          </p:txBody>
        </p:sp>
        <p:sp>
          <p:nvSpPr>
            <p:cNvPr id="128027" name="TextBox 11"/>
            <p:cNvSpPr txBox="1">
              <a:spLocks noChangeArrowheads="1"/>
            </p:cNvSpPr>
            <p:nvPr/>
          </p:nvSpPr>
          <p:spPr bwMode="auto">
            <a:xfrm>
              <a:off x="1676400" y="5181607"/>
              <a:ext cx="298532" cy="337676"/>
            </a:xfrm>
            <a:prstGeom prst="rect">
              <a:avLst/>
            </a:prstGeom>
            <a:noFill/>
            <a:ln w="9525">
              <a:noFill/>
              <a:miter lim="800000"/>
              <a:headEnd/>
              <a:tailEnd/>
            </a:ln>
          </p:spPr>
          <p:txBody>
            <a:bodyPr wrap="none">
              <a:spAutoFit/>
            </a:bodyPr>
            <a:lstStyle/>
            <a:p>
              <a:pPr>
                <a:spcBef>
                  <a:spcPct val="20000"/>
                </a:spcBef>
              </a:pPr>
              <a:r>
                <a:rPr lang="en-US" sz="1600">
                  <a:latin typeface="Arial" charset="0"/>
                </a:rPr>
                <a:t>0</a:t>
              </a:r>
            </a:p>
          </p:txBody>
        </p:sp>
      </p:grpSp>
      <p:grpSp>
        <p:nvGrpSpPr>
          <p:cNvPr id="8" name="Group 70"/>
          <p:cNvGrpSpPr>
            <a:grpSpLocks/>
          </p:cNvGrpSpPr>
          <p:nvPr/>
        </p:nvGrpSpPr>
        <p:grpSpPr bwMode="auto">
          <a:xfrm>
            <a:off x="7597775" y="1589088"/>
            <a:ext cx="1258888" cy="627062"/>
            <a:chOff x="7464866" y="3140454"/>
            <a:chExt cx="1259855" cy="628357"/>
          </a:xfrm>
        </p:grpSpPr>
        <p:sp>
          <p:nvSpPr>
            <p:cNvPr id="128030" name="TextBox 7"/>
            <p:cNvSpPr txBox="1">
              <a:spLocks noChangeArrowheads="1"/>
            </p:cNvSpPr>
            <p:nvPr/>
          </p:nvSpPr>
          <p:spPr bwMode="auto">
            <a:xfrm>
              <a:off x="7464866" y="3140454"/>
              <a:ext cx="1259855" cy="337245"/>
            </a:xfrm>
            <a:prstGeom prst="rect">
              <a:avLst/>
            </a:prstGeom>
            <a:solidFill>
              <a:srgbClr val="FFCC66"/>
            </a:solidFill>
            <a:ln w="9525">
              <a:noFill/>
              <a:miter lim="800000"/>
              <a:headEnd/>
              <a:tailEnd/>
            </a:ln>
          </p:spPr>
          <p:txBody>
            <a:bodyPr wrap="none">
              <a:spAutoFit/>
            </a:bodyPr>
            <a:lstStyle/>
            <a:p>
              <a:pPr>
                <a:spcBef>
                  <a:spcPct val="20000"/>
                </a:spcBef>
              </a:pPr>
              <a:r>
                <a:rPr lang="en-US" sz="1600">
                  <a:latin typeface="Arial" charset="0"/>
                </a:rPr>
                <a:t>Laffer curve</a:t>
              </a:r>
            </a:p>
          </p:txBody>
        </p:sp>
        <p:cxnSp>
          <p:nvCxnSpPr>
            <p:cNvPr id="134" name="Straight Connector 133"/>
            <p:cNvCxnSpPr/>
            <p:nvPr/>
          </p:nvCxnSpPr>
          <p:spPr>
            <a:xfrm rot="5400000" flipH="1" flipV="1">
              <a:off x="7456747" y="3539859"/>
              <a:ext cx="272023" cy="1858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8032" name="Freeform 32"/>
          <p:cNvSpPr>
            <a:spLocks/>
          </p:cNvSpPr>
          <p:nvPr/>
        </p:nvSpPr>
        <p:spPr bwMode="auto">
          <a:xfrm>
            <a:off x="5435600" y="2236788"/>
            <a:ext cx="2952750" cy="1836737"/>
          </a:xfrm>
          <a:custGeom>
            <a:avLst/>
            <a:gdLst/>
            <a:ahLst/>
            <a:cxnLst>
              <a:cxn ang="0">
                <a:pos x="0" y="1247"/>
              </a:cxn>
              <a:cxn ang="0">
                <a:pos x="1633" y="0"/>
              </a:cxn>
              <a:cxn ang="0">
                <a:pos x="2314" y="1247"/>
              </a:cxn>
            </a:cxnLst>
            <a:rect l="0" t="0" r="r" b="b"/>
            <a:pathLst>
              <a:path w="2314" h="1247">
                <a:moveTo>
                  <a:pt x="0" y="1247"/>
                </a:moveTo>
                <a:cubicBezTo>
                  <a:pt x="623" y="623"/>
                  <a:pt x="1247" y="0"/>
                  <a:pt x="1633" y="0"/>
                </a:cubicBezTo>
                <a:cubicBezTo>
                  <a:pt x="2019" y="0"/>
                  <a:pt x="2166" y="623"/>
                  <a:pt x="2314" y="1247"/>
                </a:cubicBezTo>
              </a:path>
            </a:pathLst>
          </a:custGeom>
          <a:noFill/>
          <a:ln w="38100">
            <a:solidFill>
              <a:srgbClr val="008000"/>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wipe(left)">
                                      <p:cBhvr>
                                        <p:cTn id="7" dur="500"/>
                                        <p:tgtEl>
                                          <p:spTgt spid="1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ormAutofit fontScale="90000"/>
          </a:bodyPr>
          <a:lstStyle/>
          <a:p>
            <a:r>
              <a:rPr lang="en-US" smtClean="0">
                <a:effectLst/>
              </a:rPr>
              <a:t>Tax Collection Around the World</a:t>
            </a:r>
          </a:p>
        </p:txBody>
      </p:sp>
      <p:sp>
        <p:nvSpPr>
          <p:cNvPr id="5" name="Content Placeholder 4"/>
          <p:cNvSpPr>
            <a:spLocks noGrp="1"/>
          </p:cNvSpPr>
          <p:nvPr>
            <p:ph idx="4294967295"/>
          </p:nvPr>
        </p:nvSpPr>
        <p:spPr/>
        <p:txBody>
          <a:bodyPr>
            <a:normAutofit/>
          </a:bodyPr>
          <a:lstStyle/>
          <a:p>
            <a:pPr marL="0" indent="0" algn="r"/>
            <a:r>
              <a:rPr lang="en-US" sz="1700" i="1" smtClean="0">
                <a:solidFill>
                  <a:srgbClr val="404040"/>
                </a:solidFill>
              </a:rPr>
              <a:t>OECD, 2009</a:t>
            </a:r>
          </a:p>
        </p:txBody>
      </p:sp>
      <p:pic>
        <p:nvPicPr>
          <p:cNvPr id="2050" name="Picture 2"/>
          <p:cNvPicPr>
            <a:picLocks noChangeAspect="1" noChangeArrowheads="1"/>
          </p:cNvPicPr>
          <p:nvPr/>
        </p:nvPicPr>
        <p:blipFill>
          <a:blip r:embed="rId2"/>
          <a:srcRect/>
          <a:stretch>
            <a:fillRect/>
          </a:stretch>
        </p:blipFill>
        <p:spPr bwMode="auto">
          <a:xfrm>
            <a:off x="863600" y="1665288"/>
            <a:ext cx="7950200" cy="4022725"/>
          </a:xfrm>
          <a:prstGeom prst="rect">
            <a:avLst/>
          </a:prstGeom>
          <a:ln>
            <a:noFill/>
          </a:ln>
          <a:effectLst>
            <a:outerShdw blurRad="292100" dist="139700" dir="2700000" algn="tl" rotWithShape="0">
              <a:srgbClr val="333333">
                <a:alpha val="65000"/>
              </a:srgbClr>
            </a:outerShdw>
          </a:effectLs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Rot="1" noChangeArrowheads="1"/>
          </p:cNvSpPr>
          <p:nvPr>
            <p:ph type="title" idx="4294967295"/>
          </p:nvPr>
        </p:nvSpPr>
        <p:spPr>
          <a:xfrm>
            <a:off x="971550" y="60325"/>
            <a:ext cx="7993063" cy="555625"/>
          </a:xfrm>
        </p:spPr>
        <p:txBody>
          <a:bodyPr/>
          <a:lstStyle/>
          <a:p>
            <a:pPr>
              <a:defRPr/>
            </a:pPr>
            <a:r>
              <a:rPr lang="en-US" dirty="0" smtClean="0"/>
              <a:t>Cost of Collecting Taxes</a:t>
            </a:r>
          </a:p>
        </p:txBody>
      </p:sp>
      <p:sp>
        <p:nvSpPr>
          <p:cNvPr id="386051" name="Rectangle 3"/>
          <p:cNvSpPr>
            <a:spLocks noGrp="1" noChangeArrowheads="1"/>
          </p:cNvSpPr>
          <p:nvPr>
            <p:ph type="body" idx="4294967295"/>
          </p:nvPr>
        </p:nvSpPr>
        <p:spPr>
          <a:xfrm>
            <a:off x="731838" y="965200"/>
            <a:ext cx="8304212" cy="5272088"/>
          </a:xfrm>
        </p:spPr>
        <p:txBody>
          <a:bodyPr/>
          <a:lstStyle/>
          <a:p>
            <a:r>
              <a:rPr lang="en-US" smtClean="0"/>
              <a:t>The </a:t>
            </a:r>
            <a:r>
              <a:rPr lang="en-US" b="1" smtClean="0"/>
              <a:t>administrative costs </a:t>
            </a:r>
            <a:r>
              <a:rPr lang="en-US" smtClean="0"/>
              <a:t>of a tax are the resources used by government to collect the tax, and by taxpayers to pay it, over and above the amount of the tax. It also includes steps taken (both legal and illegal) to evade the tax.</a:t>
            </a:r>
          </a:p>
          <a:p>
            <a:pPr lvl="1"/>
            <a:r>
              <a:rPr lang="en-US" smtClean="0"/>
              <a:t>Accounting costs</a:t>
            </a:r>
          </a:p>
          <a:p>
            <a:pPr lvl="1"/>
            <a:r>
              <a:rPr lang="en-US" smtClean="0"/>
              <a:t>Shell companies to hide profits</a:t>
            </a:r>
            <a:br>
              <a:rPr lang="en-US" smtClean="0"/>
            </a:br>
            <a:endParaRPr lang="en-US" smtClean="0"/>
          </a:p>
          <a:p>
            <a:r>
              <a:rPr lang="en-US" smtClean="0"/>
              <a:t>The total inefficiency caused by a tax is the </a:t>
            </a:r>
            <a:r>
              <a:rPr lang="en-US" b="1" smtClean="0"/>
              <a:t>sum of its deadweight loss plus its administrative costs</a:t>
            </a:r>
            <a:r>
              <a:rPr lang="en-US" smtClean="0"/>
              <a:t>. The general rule for economic policy is that, other things equal, a tax system should be designed to minimize the total inefficiency it imposes on society.</a:t>
            </a:r>
          </a:p>
          <a:p>
            <a:endParaRPr 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fade">
                                      <p:cBhvr>
                                        <p:cTn id="7" dur="500"/>
                                        <p:tgtEl>
                                          <p:spTgt spid="38605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6051">
                                            <p:txEl>
                                              <p:pRg st="1" end="1"/>
                                            </p:txEl>
                                          </p:spTgt>
                                        </p:tgtEl>
                                        <p:attrNameLst>
                                          <p:attrName>style.visibility</p:attrName>
                                        </p:attrNameLst>
                                      </p:cBhvr>
                                      <p:to>
                                        <p:strVal val="visible"/>
                                      </p:to>
                                    </p:set>
                                    <p:animEffect transition="in" filter="fade">
                                      <p:cBhvr>
                                        <p:cTn id="10" dur="500"/>
                                        <p:tgtEl>
                                          <p:spTgt spid="38605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6051">
                                            <p:txEl>
                                              <p:pRg st="2" end="2"/>
                                            </p:txEl>
                                          </p:spTgt>
                                        </p:tgtEl>
                                        <p:attrNameLst>
                                          <p:attrName>style.visibility</p:attrName>
                                        </p:attrNameLst>
                                      </p:cBhvr>
                                      <p:to>
                                        <p:strVal val="visible"/>
                                      </p:to>
                                    </p:set>
                                    <p:animEffect transition="in" filter="fade">
                                      <p:cBhvr>
                                        <p:cTn id="13" dur="500"/>
                                        <p:tgtEl>
                                          <p:spTgt spid="38605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86051">
                                            <p:txEl>
                                              <p:pRg st="3" end="3"/>
                                            </p:txEl>
                                          </p:spTgt>
                                        </p:tgtEl>
                                        <p:attrNameLst>
                                          <p:attrName>style.visibility</p:attrName>
                                        </p:attrNameLst>
                                      </p:cBhvr>
                                      <p:to>
                                        <p:strVal val="visible"/>
                                      </p:to>
                                    </p:set>
                                    <p:animEffect transition="in" filter="fade">
                                      <p:cBhvr>
                                        <p:cTn id="18" dur="500"/>
                                        <p:tgtEl>
                                          <p:spTgt spid="3860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Rot="1" noChangeArrowheads="1"/>
          </p:cNvSpPr>
          <p:nvPr>
            <p:ph type="title" idx="4294967295"/>
          </p:nvPr>
        </p:nvSpPr>
        <p:spPr>
          <a:xfrm>
            <a:off x="971550" y="60325"/>
            <a:ext cx="7921625" cy="555625"/>
          </a:xfrm>
        </p:spPr>
        <p:txBody>
          <a:bodyPr/>
          <a:lstStyle/>
          <a:p>
            <a:pPr>
              <a:defRPr/>
            </a:pPr>
            <a:r>
              <a:rPr lang="en-US" dirty="0" smtClean="0"/>
              <a:t>Deadweight Loss and </a:t>
            </a:r>
            <a:r>
              <a:rPr lang="en-US" dirty="0" err="1" smtClean="0"/>
              <a:t>Elasticities</a:t>
            </a:r>
            <a:endParaRPr lang="en-US" dirty="0" smtClean="0"/>
          </a:p>
        </p:txBody>
      </p:sp>
      <p:sp>
        <p:nvSpPr>
          <p:cNvPr id="388099" name="Rectangle 3"/>
          <p:cNvSpPr>
            <a:spLocks noGrp="1" noChangeArrowheads="1"/>
          </p:cNvSpPr>
          <p:nvPr>
            <p:ph type="body" idx="4294967295"/>
          </p:nvPr>
        </p:nvSpPr>
        <p:spPr>
          <a:xfrm>
            <a:off x="900113" y="965200"/>
            <a:ext cx="8064500" cy="5487988"/>
          </a:xfrm>
        </p:spPr>
        <p:txBody>
          <a:bodyPr/>
          <a:lstStyle/>
          <a:p>
            <a:r>
              <a:rPr lang="en-US" smtClean="0"/>
              <a:t>To minimize the efficiency costs of taxation, one should </a:t>
            </a:r>
            <a:r>
              <a:rPr lang="en-US" b="1" smtClean="0"/>
              <a:t>choose to tax only those goods for which demand or supply, or both, is relatively inelastic</a:t>
            </a:r>
            <a:r>
              <a:rPr lang="en-US" smtClean="0"/>
              <a:t>.</a:t>
            </a:r>
            <a:br>
              <a:rPr lang="en-US" smtClean="0"/>
            </a:br>
            <a:endParaRPr lang="en-US" smtClean="0"/>
          </a:p>
          <a:p>
            <a:r>
              <a:rPr lang="en-US" smtClean="0"/>
              <a:t>For such goods, a tax has little effect on behavior because behavior is relatively unresponsive to changes in the price.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fade">
                                      <p:cBhvr>
                                        <p:cTn id="7" dur="500"/>
                                        <p:tgtEl>
                                          <p:spTgt spid="388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8099">
                                            <p:txEl>
                                              <p:pRg st="1" end="1"/>
                                            </p:txEl>
                                          </p:spTgt>
                                        </p:tgtEl>
                                        <p:attrNameLst>
                                          <p:attrName>style.visibility</p:attrName>
                                        </p:attrNameLst>
                                      </p:cBhvr>
                                      <p:to>
                                        <p:strVal val="visible"/>
                                      </p:to>
                                    </p:set>
                                    <p:animEffect transition="in" filter="fade">
                                      <p:cBhvr>
                                        <p:cTn id="12" dur="500"/>
                                        <p:tgtEl>
                                          <p:spTgt spid="3880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Rot="1" noChangeArrowheads="1"/>
          </p:cNvSpPr>
          <p:nvPr>
            <p:ph type="title" idx="4294967295"/>
          </p:nvPr>
        </p:nvSpPr>
        <p:spPr>
          <a:xfrm>
            <a:off x="942975" y="60325"/>
            <a:ext cx="8016875" cy="555625"/>
          </a:xfrm>
        </p:spPr>
        <p:txBody>
          <a:bodyPr/>
          <a:lstStyle/>
          <a:p>
            <a:pPr>
              <a:defRPr/>
            </a:pPr>
            <a:r>
              <a:rPr lang="en-US" dirty="0" smtClean="0"/>
              <a:t>Deadweight Loss and Elasticities</a:t>
            </a:r>
          </a:p>
        </p:txBody>
      </p:sp>
      <p:cxnSp>
        <p:nvCxnSpPr>
          <p:cNvPr id="68610" name="Straight Connector 86"/>
          <p:cNvCxnSpPr>
            <a:cxnSpLocks noChangeShapeType="1"/>
          </p:cNvCxnSpPr>
          <p:nvPr/>
        </p:nvCxnSpPr>
        <p:spPr bwMode="auto">
          <a:xfrm>
            <a:off x="3446463" y="4787900"/>
            <a:ext cx="757237" cy="3175"/>
          </a:xfrm>
          <a:prstGeom prst="line">
            <a:avLst/>
          </a:prstGeom>
          <a:noFill/>
          <a:ln w="15875">
            <a:solidFill>
              <a:srgbClr val="808080"/>
            </a:solidFill>
            <a:prstDash val="sysDot"/>
            <a:round/>
            <a:headEnd/>
            <a:tailEnd type="none" w="med" len="lg"/>
          </a:ln>
        </p:spPr>
      </p:cxnSp>
      <p:cxnSp>
        <p:nvCxnSpPr>
          <p:cNvPr id="68611" name="Straight Connector 86"/>
          <p:cNvCxnSpPr>
            <a:cxnSpLocks noChangeShapeType="1"/>
          </p:cNvCxnSpPr>
          <p:nvPr/>
        </p:nvCxnSpPr>
        <p:spPr bwMode="auto">
          <a:xfrm>
            <a:off x="5010150" y="3590925"/>
            <a:ext cx="0" cy="2035175"/>
          </a:xfrm>
          <a:prstGeom prst="line">
            <a:avLst/>
          </a:prstGeom>
          <a:noFill/>
          <a:ln w="15875">
            <a:solidFill>
              <a:srgbClr val="808080"/>
            </a:solidFill>
            <a:prstDash val="sysDot"/>
            <a:round/>
            <a:headEnd/>
            <a:tailEnd type="none" w="med" len="lg"/>
          </a:ln>
        </p:spPr>
      </p:cxnSp>
      <p:cxnSp>
        <p:nvCxnSpPr>
          <p:cNvPr id="68612" name="Straight Connector 86"/>
          <p:cNvCxnSpPr>
            <a:cxnSpLocks noChangeShapeType="1"/>
          </p:cNvCxnSpPr>
          <p:nvPr/>
        </p:nvCxnSpPr>
        <p:spPr bwMode="auto">
          <a:xfrm>
            <a:off x="4184650" y="3246438"/>
            <a:ext cx="0" cy="2405062"/>
          </a:xfrm>
          <a:prstGeom prst="line">
            <a:avLst/>
          </a:prstGeom>
          <a:noFill/>
          <a:ln w="15875">
            <a:solidFill>
              <a:srgbClr val="808080"/>
            </a:solidFill>
            <a:prstDash val="sysDot"/>
            <a:round/>
            <a:headEnd/>
            <a:tailEnd type="none" w="med" len="lg"/>
          </a:ln>
        </p:spPr>
      </p:cxnSp>
      <p:cxnSp>
        <p:nvCxnSpPr>
          <p:cNvPr id="68613" name="Straight Connector 86"/>
          <p:cNvCxnSpPr>
            <a:cxnSpLocks noChangeShapeType="1"/>
          </p:cNvCxnSpPr>
          <p:nvPr/>
        </p:nvCxnSpPr>
        <p:spPr bwMode="auto">
          <a:xfrm>
            <a:off x="3446463" y="3222625"/>
            <a:ext cx="757237" cy="3175"/>
          </a:xfrm>
          <a:prstGeom prst="line">
            <a:avLst/>
          </a:prstGeom>
          <a:noFill/>
          <a:ln w="15875">
            <a:solidFill>
              <a:srgbClr val="808080"/>
            </a:solidFill>
            <a:prstDash val="sysDot"/>
            <a:round/>
            <a:headEnd/>
            <a:tailEnd type="none" w="med" len="lg"/>
          </a:ln>
        </p:spPr>
      </p:cxnSp>
      <p:sp>
        <p:nvSpPr>
          <p:cNvPr id="355346" name="Freeform 18"/>
          <p:cNvSpPr>
            <a:spLocks/>
          </p:cNvSpPr>
          <p:nvPr/>
        </p:nvSpPr>
        <p:spPr bwMode="auto">
          <a:xfrm>
            <a:off x="4191000" y="3217863"/>
            <a:ext cx="822325" cy="1560512"/>
          </a:xfrm>
          <a:custGeom>
            <a:avLst/>
            <a:gdLst>
              <a:gd name="T0" fmla="*/ 0 w 418"/>
              <a:gd name="T1" fmla="*/ 0 h 654"/>
              <a:gd name="T2" fmla="*/ 0 w 418"/>
              <a:gd name="T3" fmla="*/ 1560512 h 654"/>
              <a:gd name="T4" fmla="*/ 822325 w 418"/>
              <a:gd name="T5" fmla="*/ 360302 h 654"/>
              <a:gd name="T6" fmla="*/ 0 w 418"/>
              <a:gd name="T7" fmla="*/ 0 h 654"/>
              <a:gd name="T8" fmla="*/ 0 60000 65536"/>
              <a:gd name="T9" fmla="*/ 0 60000 65536"/>
              <a:gd name="T10" fmla="*/ 0 60000 65536"/>
              <a:gd name="T11" fmla="*/ 0 60000 65536"/>
              <a:gd name="T12" fmla="*/ 0 w 418"/>
              <a:gd name="T13" fmla="*/ 0 h 654"/>
              <a:gd name="T14" fmla="*/ 418 w 418"/>
              <a:gd name="T15" fmla="*/ 654 h 654"/>
            </a:gdLst>
            <a:ahLst/>
            <a:cxnLst>
              <a:cxn ang="T8">
                <a:pos x="T0" y="T1"/>
              </a:cxn>
              <a:cxn ang="T9">
                <a:pos x="T2" y="T3"/>
              </a:cxn>
              <a:cxn ang="T10">
                <a:pos x="T4" y="T5"/>
              </a:cxn>
              <a:cxn ang="T11">
                <a:pos x="T6" y="T7"/>
              </a:cxn>
            </a:cxnLst>
            <a:rect l="T12" t="T13" r="T14" b="T15"/>
            <a:pathLst>
              <a:path w="418" h="654">
                <a:moveTo>
                  <a:pt x="0" y="0"/>
                </a:moveTo>
                <a:lnTo>
                  <a:pt x="0" y="654"/>
                </a:lnTo>
                <a:lnTo>
                  <a:pt x="418" y="151"/>
                </a:lnTo>
                <a:lnTo>
                  <a:pt x="0" y="0"/>
                </a:lnTo>
                <a:close/>
              </a:path>
            </a:pathLst>
          </a:custGeom>
          <a:solidFill>
            <a:srgbClr val="FFE5B9"/>
          </a:solidFill>
          <a:ln w="9525">
            <a:noFill/>
            <a:round/>
            <a:headEnd/>
            <a:tailEnd/>
          </a:ln>
        </p:spPr>
        <p:txBody>
          <a:bodyPr/>
          <a:lstStyle/>
          <a:p>
            <a:endParaRPr lang="en-US"/>
          </a:p>
        </p:txBody>
      </p:sp>
      <p:sp>
        <p:nvSpPr>
          <p:cNvPr id="68615" name="Rectangle 20"/>
          <p:cNvSpPr>
            <a:spLocks noChangeArrowheads="1"/>
          </p:cNvSpPr>
          <p:nvPr/>
        </p:nvSpPr>
        <p:spPr bwMode="auto">
          <a:xfrm>
            <a:off x="6242050" y="5676900"/>
            <a:ext cx="749300"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68616" name="Rectangle 21"/>
          <p:cNvSpPr>
            <a:spLocks noChangeArrowheads="1"/>
          </p:cNvSpPr>
          <p:nvPr/>
        </p:nvSpPr>
        <p:spPr bwMode="auto">
          <a:xfrm>
            <a:off x="6461125" y="41227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68617" name="Rectangle 22"/>
          <p:cNvSpPr>
            <a:spLocks noChangeArrowheads="1"/>
          </p:cNvSpPr>
          <p:nvPr/>
        </p:nvSpPr>
        <p:spPr bwMode="auto">
          <a:xfrm>
            <a:off x="5173663" y="33782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68618" name="Line 23"/>
          <p:cNvSpPr>
            <a:spLocks noChangeShapeType="1"/>
          </p:cNvSpPr>
          <p:nvPr/>
        </p:nvSpPr>
        <p:spPr bwMode="auto">
          <a:xfrm flipV="1">
            <a:off x="3863975" y="1785938"/>
            <a:ext cx="2390775" cy="3460750"/>
          </a:xfrm>
          <a:prstGeom prst="line">
            <a:avLst/>
          </a:prstGeom>
          <a:noFill/>
          <a:ln w="28575">
            <a:solidFill>
              <a:srgbClr val="EE313C"/>
            </a:solidFill>
            <a:miter lim="800000"/>
            <a:headEnd/>
            <a:tailEnd/>
          </a:ln>
        </p:spPr>
        <p:txBody>
          <a:bodyPr/>
          <a:lstStyle/>
          <a:p>
            <a:endParaRPr lang="en-US"/>
          </a:p>
        </p:txBody>
      </p:sp>
      <p:sp>
        <p:nvSpPr>
          <p:cNvPr id="68619" name="Line 24"/>
          <p:cNvSpPr>
            <a:spLocks noChangeShapeType="1"/>
          </p:cNvSpPr>
          <p:nvPr/>
        </p:nvSpPr>
        <p:spPr bwMode="auto">
          <a:xfrm flipH="1" flipV="1">
            <a:off x="3594100" y="2957513"/>
            <a:ext cx="2843213" cy="1246187"/>
          </a:xfrm>
          <a:prstGeom prst="line">
            <a:avLst/>
          </a:prstGeom>
          <a:noFill/>
          <a:ln w="28575">
            <a:solidFill>
              <a:srgbClr val="3C5DAA"/>
            </a:solidFill>
            <a:miter lim="800000"/>
            <a:headEnd/>
            <a:tailEnd/>
          </a:ln>
        </p:spPr>
        <p:txBody>
          <a:bodyPr/>
          <a:lstStyle/>
          <a:p>
            <a:endParaRPr lang="en-US"/>
          </a:p>
        </p:txBody>
      </p:sp>
      <p:sp>
        <p:nvSpPr>
          <p:cNvPr id="68620" name="Freeform 25"/>
          <p:cNvSpPr>
            <a:spLocks/>
          </p:cNvSpPr>
          <p:nvPr/>
        </p:nvSpPr>
        <p:spPr bwMode="auto">
          <a:xfrm>
            <a:off x="3433763" y="1476375"/>
            <a:ext cx="3421062" cy="4159250"/>
          </a:xfrm>
          <a:custGeom>
            <a:avLst/>
            <a:gdLst>
              <a:gd name="T0" fmla="*/ 3421062 w 1738"/>
              <a:gd name="T1" fmla="*/ 4159250 h 1743"/>
              <a:gd name="T2" fmla="*/ 0 w 1738"/>
              <a:gd name="T3" fmla="*/ 4159250 h 1743"/>
              <a:gd name="T4" fmla="*/ 0 w 1738"/>
              <a:gd name="T5" fmla="*/ 0 h 1743"/>
              <a:gd name="T6" fmla="*/ 0 60000 65536"/>
              <a:gd name="T7" fmla="*/ 0 60000 65536"/>
              <a:gd name="T8" fmla="*/ 0 60000 65536"/>
              <a:gd name="T9" fmla="*/ 0 w 1738"/>
              <a:gd name="T10" fmla="*/ 0 h 1743"/>
              <a:gd name="T11" fmla="*/ 1738 w 1738"/>
              <a:gd name="T12" fmla="*/ 1743 h 1743"/>
            </a:gdLst>
            <a:ahLst/>
            <a:cxnLst>
              <a:cxn ang="T6">
                <a:pos x="T0" y="T1"/>
              </a:cxn>
              <a:cxn ang="T7">
                <a:pos x="T2" y="T3"/>
              </a:cxn>
              <a:cxn ang="T8">
                <a:pos x="T4" y="T5"/>
              </a:cxn>
            </a:cxnLst>
            <a:rect l="T9" t="T10" r="T11" b="T12"/>
            <a:pathLst>
              <a:path w="1738" h="1743">
                <a:moveTo>
                  <a:pt x="1738" y="1743"/>
                </a:moveTo>
                <a:lnTo>
                  <a:pt x="0" y="1743"/>
                </a:lnTo>
                <a:lnTo>
                  <a:pt x="0" y="0"/>
                </a:lnTo>
              </a:path>
            </a:pathLst>
          </a:custGeom>
          <a:noFill/>
          <a:ln w="6350" cap="flat">
            <a:solidFill>
              <a:srgbClr val="000000"/>
            </a:solidFill>
            <a:prstDash val="solid"/>
            <a:miter lim="800000"/>
            <a:headEnd/>
            <a:tailEnd/>
          </a:ln>
        </p:spPr>
        <p:txBody>
          <a:bodyPr/>
          <a:lstStyle/>
          <a:p>
            <a:endParaRPr lang="en-US"/>
          </a:p>
        </p:txBody>
      </p:sp>
      <p:sp>
        <p:nvSpPr>
          <p:cNvPr id="68621" name="Oval 26"/>
          <p:cNvSpPr>
            <a:spLocks noChangeArrowheads="1"/>
          </p:cNvSpPr>
          <p:nvPr/>
        </p:nvSpPr>
        <p:spPr bwMode="auto">
          <a:xfrm>
            <a:off x="4967288" y="3521075"/>
            <a:ext cx="92075" cy="114300"/>
          </a:xfrm>
          <a:prstGeom prst="ellipse">
            <a:avLst/>
          </a:prstGeom>
          <a:solidFill>
            <a:srgbClr val="000000"/>
          </a:solidFill>
          <a:ln w="9525">
            <a:noFill/>
            <a:round/>
            <a:headEnd/>
            <a:tailEnd/>
          </a:ln>
        </p:spPr>
        <p:txBody>
          <a:bodyPr/>
          <a:lstStyle/>
          <a:p>
            <a:endParaRPr lang="en-US"/>
          </a:p>
        </p:txBody>
      </p:sp>
      <p:sp>
        <p:nvSpPr>
          <p:cNvPr id="68622" name="Oval 27"/>
          <p:cNvSpPr>
            <a:spLocks noChangeArrowheads="1"/>
          </p:cNvSpPr>
          <p:nvPr/>
        </p:nvSpPr>
        <p:spPr bwMode="auto">
          <a:xfrm>
            <a:off x="4143375" y="4721225"/>
            <a:ext cx="93663" cy="114300"/>
          </a:xfrm>
          <a:prstGeom prst="ellipse">
            <a:avLst/>
          </a:prstGeom>
          <a:solidFill>
            <a:srgbClr val="000000"/>
          </a:solidFill>
          <a:ln w="9525">
            <a:noFill/>
            <a:round/>
            <a:headEnd/>
            <a:tailEnd/>
          </a:ln>
        </p:spPr>
        <p:txBody>
          <a:bodyPr/>
          <a:lstStyle/>
          <a:p>
            <a:endParaRPr lang="en-US"/>
          </a:p>
        </p:txBody>
      </p:sp>
      <p:sp>
        <p:nvSpPr>
          <p:cNvPr id="68623" name="Oval 28"/>
          <p:cNvSpPr>
            <a:spLocks noChangeArrowheads="1"/>
          </p:cNvSpPr>
          <p:nvPr/>
        </p:nvSpPr>
        <p:spPr bwMode="auto">
          <a:xfrm>
            <a:off x="4143375" y="3160713"/>
            <a:ext cx="93663" cy="112712"/>
          </a:xfrm>
          <a:prstGeom prst="ellipse">
            <a:avLst/>
          </a:prstGeom>
          <a:solidFill>
            <a:srgbClr val="000000"/>
          </a:solidFill>
          <a:ln w="9525">
            <a:noFill/>
            <a:round/>
            <a:headEnd/>
            <a:tailEnd/>
          </a:ln>
        </p:spPr>
        <p:txBody>
          <a:bodyPr/>
          <a:lstStyle/>
          <a:p>
            <a:endParaRPr lang="en-US"/>
          </a:p>
        </p:txBody>
      </p:sp>
      <p:sp>
        <p:nvSpPr>
          <p:cNvPr id="68624" name="Rectangle 31"/>
          <p:cNvSpPr>
            <a:spLocks noChangeArrowheads="1"/>
          </p:cNvSpPr>
          <p:nvPr/>
        </p:nvSpPr>
        <p:spPr bwMode="auto">
          <a:xfrm>
            <a:off x="3825875" y="866775"/>
            <a:ext cx="1600200"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Roman"/>
              </a:rPr>
              <a:t>(a) Elastic Demand</a:t>
            </a:r>
            <a:endParaRPr lang="en-US" sz="1400" b="1">
              <a:latin typeface="Tahoma" pitchFamily="34" charset="0"/>
            </a:endParaRPr>
          </a:p>
        </p:txBody>
      </p:sp>
      <p:sp>
        <p:nvSpPr>
          <p:cNvPr id="68625" name="Rectangle 43"/>
          <p:cNvSpPr>
            <a:spLocks noChangeArrowheads="1"/>
          </p:cNvSpPr>
          <p:nvPr/>
        </p:nvSpPr>
        <p:spPr bwMode="auto">
          <a:xfrm>
            <a:off x="6267450" y="15303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355379" name="Line 51"/>
          <p:cNvSpPr>
            <a:spLocks noChangeShapeType="1"/>
          </p:cNvSpPr>
          <p:nvPr/>
        </p:nvSpPr>
        <p:spPr bwMode="auto">
          <a:xfrm>
            <a:off x="4519613" y="2501900"/>
            <a:ext cx="0" cy="985838"/>
          </a:xfrm>
          <a:prstGeom prst="line">
            <a:avLst/>
          </a:prstGeom>
          <a:noFill/>
          <a:ln w="6350">
            <a:solidFill>
              <a:srgbClr val="000000"/>
            </a:solidFill>
            <a:miter lim="800000"/>
            <a:headEnd/>
            <a:tailEnd/>
          </a:ln>
        </p:spPr>
        <p:txBody>
          <a:bodyPr/>
          <a:lstStyle/>
          <a:p>
            <a:endParaRPr lang="en-US"/>
          </a:p>
        </p:txBody>
      </p:sp>
      <p:sp>
        <p:nvSpPr>
          <p:cNvPr id="355380" name="Freeform 52"/>
          <p:cNvSpPr>
            <a:spLocks/>
          </p:cNvSpPr>
          <p:nvPr/>
        </p:nvSpPr>
        <p:spPr bwMode="auto">
          <a:xfrm>
            <a:off x="3856038" y="1851025"/>
            <a:ext cx="1535112" cy="727075"/>
          </a:xfrm>
          <a:custGeom>
            <a:avLst/>
            <a:gdLst>
              <a:gd name="T0" fmla="*/ 1535112 w 302"/>
              <a:gd name="T1" fmla="*/ 640260 h 134"/>
              <a:gd name="T2" fmla="*/ 1453782 w 302"/>
              <a:gd name="T3" fmla="*/ 727075 h 134"/>
              <a:gd name="T4" fmla="*/ 81330 w 302"/>
              <a:gd name="T5" fmla="*/ 727075 h 134"/>
              <a:gd name="T6" fmla="*/ 0 w 302"/>
              <a:gd name="T7" fmla="*/ 640260 h 134"/>
              <a:gd name="T8" fmla="*/ 0 w 302"/>
              <a:gd name="T9" fmla="*/ 86815 h 134"/>
              <a:gd name="T10" fmla="*/ 81330 w 302"/>
              <a:gd name="T11" fmla="*/ 0 h 134"/>
              <a:gd name="T12" fmla="*/ 1453782 w 302"/>
              <a:gd name="T13" fmla="*/ 0 h 134"/>
              <a:gd name="T14" fmla="*/ 1535112 w 302"/>
              <a:gd name="T15" fmla="*/ 86815 h 134"/>
              <a:gd name="T16" fmla="*/ 1535112 w 302"/>
              <a:gd name="T17" fmla="*/ 640260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2"/>
              <a:gd name="T28" fmla="*/ 0 h 134"/>
              <a:gd name="T29" fmla="*/ 302 w 302"/>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2" h="134">
                <a:moveTo>
                  <a:pt x="302" y="118"/>
                </a:moveTo>
                <a:cubicBezTo>
                  <a:pt x="302" y="127"/>
                  <a:pt x="295" y="134"/>
                  <a:pt x="286" y="134"/>
                </a:cubicBezTo>
                <a:cubicBezTo>
                  <a:pt x="16" y="134"/>
                  <a:pt x="16" y="134"/>
                  <a:pt x="16" y="134"/>
                </a:cubicBezTo>
                <a:cubicBezTo>
                  <a:pt x="7" y="134"/>
                  <a:pt x="0" y="127"/>
                  <a:pt x="0" y="118"/>
                </a:cubicBezTo>
                <a:cubicBezTo>
                  <a:pt x="0" y="16"/>
                  <a:pt x="0" y="16"/>
                  <a:pt x="0" y="16"/>
                </a:cubicBezTo>
                <a:cubicBezTo>
                  <a:pt x="0" y="7"/>
                  <a:pt x="7" y="0"/>
                  <a:pt x="16" y="0"/>
                </a:cubicBezTo>
                <a:cubicBezTo>
                  <a:pt x="286" y="0"/>
                  <a:pt x="286" y="0"/>
                  <a:pt x="286" y="0"/>
                </a:cubicBezTo>
                <a:cubicBezTo>
                  <a:pt x="295" y="0"/>
                  <a:pt x="302" y="7"/>
                  <a:pt x="302" y="16"/>
                </a:cubicBezTo>
                <a:lnTo>
                  <a:pt x="302" y="118"/>
                </a:lnTo>
                <a:close/>
              </a:path>
            </a:pathLst>
          </a:custGeom>
          <a:solidFill>
            <a:srgbClr val="D6E2E0"/>
          </a:solidFill>
          <a:ln w="9525">
            <a:noFill/>
            <a:round/>
            <a:headEnd/>
            <a:tailEnd/>
          </a:ln>
        </p:spPr>
        <p:txBody>
          <a:bodyPr/>
          <a:lstStyle/>
          <a:p>
            <a:endParaRPr lang="en-US"/>
          </a:p>
        </p:txBody>
      </p:sp>
      <p:sp>
        <p:nvSpPr>
          <p:cNvPr id="355381" name="Rectangle 53"/>
          <p:cNvSpPr>
            <a:spLocks noChangeArrowheads="1"/>
          </p:cNvSpPr>
          <p:nvPr/>
        </p:nvSpPr>
        <p:spPr bwMode="auto">
          <a:xfrm>
            <a:off x="3916363" y="1898650"/>
            <a:ext cx="1408112" cy="6477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Deadweight loss is larger when demand is elastic</a:t>
            </a:r>
            <a:endParaRPr lang="en-US" sz="1400">
              <a:latin typeface="Tahoma" pitchFamily="34" charset="0"/>
            </a:endParaRPr>
          </a:p>
        </p:txBody>
      </p:sp>
      <p:sp>
        <p:nvSpPr>
          <p:cNvPr id="355408" name="Freeform 80"/>
          <p:cNvSpPr>
            <a:spLocks/>
          </p:cNvSpPr>
          <p:nvPr/>
        </p:nvSpPr>
        <p:spPr bwMode="auto">
          <a:xfrm>
            <a:off x="2228850" y="3709988"/>
            <a:ext cx="739775" cy="576262"/>
          </a:xfrm>
          <a:custGeom>
            <a:avLst/>
            <a:gdLst>
              <a:gd name="T0" fmla="*/ 739775 w 128"/>
              <a:gd name="T1" fmla="*/ 480218 h 96"/>
              <a:gd name="T2" fmla="*/ 647303 w 128"/>
              <a:gd name="T3" fmla="*/ 576262 h 96"/>
              <a:gd name="T4" fmla="*/ 92472 w 128"/>
              <a:gd name="T5" fmla="*/ 576262 h 96"/>
              <a:gd name="T6" fmla="*/ 0 w 128"/>
              <a:gd name="T7" fmla="*/ 480218 h 96"/>
              <a:gd name="T8" fmla="*/ 0 w 128"/>
              <a:gd name="T9" fmla="*/ 96044 h 96"/>
              <a:gd name="T10" fmla="*/ 92472 w 128"/>
              <a:gd name="T11" fmla="*/ 0 h 96"/>
              <a:gd name="T12" fmla="*/ 647303 w 128"/>
              <a:gd name="T13" fmla="*/ 0 h 96"/>
              <a:gd name="T14" fmla="*/ 739775 w 128"/>
              <a:gd name="T15" fmla="*/ 96044 h 96"/>
              <a:gd name="T16" fmla="*/ 739775 w 128"/>
              <a:gd name="T17" fmla="*/ 480218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96"/>
              <a:gd name="T29" fmla="*/ 128 w 128"/>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8" h="96">
                <a:moveTo>
                  <a:pt x="128" y="80"/>
                </a:moveTo>
                <a:cubicBezTo>
                  <a:pt x="128" y="89"/>
                  <a:pt x="120" y="96"/>
                  <a:pt x="112" y="96"/>
                </a:cubicBezTo>
                <a:cubicBezTo>
                  <a:pt x="16" y="96"/>
                  <a:pt x="16" y="96"/>
                  <a:pt x="16" y="96"/>
                </a:cubicBezTo>
                <a:cubicBezTo>
                  <a:pt x="8" y="96"/>
                  <a:pt x="0" y="89"/>
                  <a:pt x="0" y="80"/>
                </a:cubicBezTo>
                <a:cubicBezTo>
                  <a:pt x="0" y="16"/>
                  <a:pt x="0" y="16"/>
                  <a:pt x="0" y="16"/>
                </a:cubicBezTo>
                <a:cubicBezTo>
                  <a:pt x="0" y="8"/>
                  <a:pt x="8" y="0"/>
                  <a:pt x="16" y="0"/>
                </a:cubicBezTo>
                <a:cubicBezTo>
                  <a:pt x="112" y="0"/>
                  <a:pt x="112" y="0"/>
                  <a:pt x="112" y="0"/>
                </a:cubicBezTo>
                <a:cubicBezTo>
                  <a:pt x="120" y="0"/>
                  <a:pt x="128" y="8"/>
                  <a:pt x="128" y="16"/>
                </a:cubicBezTo>
                <a:lnTo>
                  <a:pt x="128" y="80"/>
                </a:lnTo>
                <a:close/>
              </a:path>
            </a:pathLst>
          </a:custGeom>
          <a:solidFill>
            <a:srgbClr val="D6E2E0"/>
          </a:solidFill>
          <a:ln w="9525">
            <a:noFill/>
            <a:round/>
            <a:headEnd/>
            <a:tailEnd/>
          </a:ln>
        </p:spPr>
        <p:txBody>
          <a:bodyPr/>
          <a:lstStyle/>
          <a:p>
            <a:endParaRPr lang="en-US"/>
          </a:p>
        </p:txBody>
      </p:sp>
      <p:sp>
        <p:nvSpPr>
          <p:cNvPr id="68630" name="Oval 87"/>
          <p:cNvSpPr>
            <a:spLocks noChangeArrowheads="1"/>
          </p:cNvSpPr>
          <p:nvPr/>
        </p:nvSpPr>
        <p:spPr bwMode="auto">
          <a:xfrm>
            <a:off x="4208463" y="4745038"/>
            <a:ext cx="20637" cy="22225"/>
          </a:xfrm>
          <a:prstGeom prst="ellipse">
            <a:avLst/>
          </a:prstGeom>
          <a:solidFill>
            <a:srgbClr val="000000"/>
          </a:solidFill>
          <a:ln w="9525">
            <a:noFill/>
            <a:round/>
            <a:headEnd/>
            <a:tailEnd/>
          </a:ln>
        </p:spPr>
        <p:txBody>
          <a:bodyPr/>
          <a:lstStyle/>
          <a:p>
            <a:endParaRPr lang="en-US"/>
          </a:p>
        </p:txBody>
      </p:sp>
      <p:sp>
        <p:nvSpPr>
          <p:cNvPr id="68631" name="Rectangle 88"/>
          <p:cNvSpPr>
            <a:spLocks noChangeArrowheads="1"/>
          </p:cNvSpPr>
          <p:nvPr/>
        </p:nvSpPr>
        <p:spPr bwMode="auto">
          <a:xfrm>
            <a:off x="4935538" y="56642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68632" name="Rectangle 89"/>
          <p:cNvSpPr>
            <a:spLocks noChangeArrowheads="1"/>
          </p:cNvSpPr>
          <p:nvPr/>
        </p:nvSpPr>
        <p:spPr bwMode="auto">
          <a:xfrm>
            <a:off x="5062538" y="57864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68633" name="Rectangle 92"/>
          <p:cNvSpPr>
            <a:spLocks noChangeArrowheads="1"/>
          </p:cNvSpPr>
          <p:nvPr/>
        </p:nvSpPr>
        <p:spPr bwMode="auto">
          <a:xfrm>
            <a:off x="4114800" y="566102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68634" name="Rectangle 93"/>
          <p:cNvSpPr>
            <a:spLocks noChangeArrowheads="1"/>
          </p:cNvSpPr>
          <p:nvPr/>
        </p:nvSpPr>
        <p:spPr bwMode="auto">
          <a:xfrm>
            <a:off x="4241800" y="5786438"/>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T</a:t>
            </a:r>
            <a:endParaRPr lang="en-US" sz="1400" i="1">
              <a:latin typeface="Tahoma" pitchFamily="34" charset="0"/>
            </a:endParaRPr>
          </a:p>
        </p:txBody>
      </p:sp>
      <p:sp>
        <p:nvSpPr>
          <p:cNvPr id="68635" name="Rectangle 96"/>
          <p:cNvSpPr>
            <a:spLocks noChangeArrowheads="1"/>
          </p:cNvSpPr>
          <p:nvPr/>
        </p:nvSpPr>
        <p:spPr bwMode="auto">
          <a:xfrm>
            <a:off x="3214688" y="34448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68636" name="Rectangle 97"/>
          <p:cNvSpPr>
            <a:spLocks noChangeArrowheads="1"/>
          </p:cNvSpPr>
          <p:nvPr/>
        </p:nvSpPr>
        <p:spPr bwMode="auto">
          <a:xfrm>
            <a:off x="3313113" y="35687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68637" name="Rectangle 98"/>
          <p:cNvSpPr>
            <a:spLocks noChangeArrowheads="1"/>
          </p:cNvSpPr>
          <p:nvPr/>
        </p:nvSpPr>
        <p:spPr bwMode="auto">
          <a:xfrm>
            <a:off x="3205163" y="30861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68638" name="Rectangle 99"/>
          <p:cNvSpPr>
            <a:spLocks noChangeArrowheads="1"/>
          </p:cNvSpPr>
          <p:nvPr/>
        </p:nvSpPr>
        <p:spPr bwMode="auto">
          <a:xfrm>
            <a:off x="3257550" y="32226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68639" name="Rectangle 100"/>
          <p:cNvSpPr>
            <a:spLocks noChangeArrowheads="1"/>
          </p:cNvSpPr>
          <p:nvPr/>
        </p:nvSpPr>
        <p:spPr bwMode="auto">
          <a:xfrm>
            <a:off x="3211513" y="46402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68640" name="Rectangle 101"/>
          <p:cNvSpPr>
            <a:spLocks noChangeArrowheads="1"/>
          </p:cNvSpPr>
          <p:nvPr/>
        </p:nvSpPr>
        <p:spPr bwMode="auto">
          <a:xfrm>
            <a:off x="3309938" y="47640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68641" name="Line 120"/>
          <p:cNvSpPr>
            <a:spLocks noChangeShapeType="1"/>
          </p:cNvSpPr>
          <p:nvPr/>
        </p:nvSpPr>
        <p:spPr bwMode="auto">
          <a:xfrm flipH="1">
            <a:off x="4389438" y="5805488"/>
            <a:ext cx="522287" cy="0"/>
          </a:xfrm>
          <a:prstGeom prst="line">
            <a:avLst/>
          </a:prstGeom>
          <a:noFill/>
          <a:ln w="11113">
            <a:solidFill>
              <a:srgbClr val="000000"/>
            </a:solidFill>
            <a:miter lim="800000"/>
            <a:headEnd/>
            <a:tailEnd/>
          </a:ln>
        </p:spPr>
        <p:txBody>
          <a:bodyPr/>
          <a:lstStyle/>
          <a:p>
            <a:endParaRPr lang="en-US"/>
          </a:p>
        </p:txBody>
      </p:sp>
      <p:sp>
        <p:nvSpPr>
          <p:cNvPr id="68642" name="Freeform 121"/>
          <p:cNvSpPr>
            <a:spLocks/>
          </p:cNvSpPr>
          <p:nvPr/>
        </p:nvSpPr>
        <p:spPr bwMode="auto">
          <a:xfrm>
            <a:off x="4314825" y="5764213"/>
            <a:ext cx="103188" cy="80962"/>
          </a:xfrm>
          <a:custGeom>
            <a:avLst/>
            <a:gdLst>
              <a:gd name="T0" fmla="*/ 84427 w 22"/>
              <a:gd name="T1" fmla="*/ 40481 h 14"/>
              <a:gd name="T2" fmla="*/ 103188 w 22"/>
              <a:gd name="T3" fmla="*/ 80962 h 14"/>
              <a:gd name="T4" fmla="*/ 103188 w 22"/>
              <a:gd name="T5" fmla="*/ 80962 h 14"/>
              <a:gd name="T6" fmla="*/ 51594 w 22"/>
              <a:gd name="T7" fmla="*/ 57830 h 14"/>
              <a:gd name="T8" fmla="*/ 0 w 22"/>
              <a:gd name="T9" fmla="*/ 40481 h 14"/>
              <a:gd name="T10" fmla="*/ 51594 w 22"/>
              <a:gd name="T11" fmla="*/ 28915 h 14"/>
              <a:gd name="T12" fmla="*/ 103188 w 22"/>
              <a:gd name="T13" fmla="*/ 0 h 14"/>
              <a:gd name="T14" fmla="*/ 103188 w 22"/>
              <a:gd name="T15" fmla="*/ 5783 h 14"/>
              <a:gd name="T16" fmla="*/ 84427 w 22"/>
              <a:gd name="T17" fmla="*/ 40481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4"/>
              <a:gd name="T29" fmla="*/ 22 w 22"/>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4">
                <a:moveTo>
                  <a:pt x="18" y="7"/>
                </a:moveTo>
                <a:cubicBezTo>
                  <a:pt x="22" y="14"/>
                  <a:pt x="22" y="14"/>
                  <a:pt x="22" y="14"/>
                </a:cubicBezTo>
                <a:cubicBezTo>
                  <a:pt x="22" y="14"/>
                  <a:pt x="22" y="14"/>
                  <a:pt x="22" y="14"/>
                </a:cubicBezTo>
                <a:cubicBezTo>
                  <a:pt x="11" y="10"/>
                  <a:pt x="11" y="10"/>
                  <a:pt x="11" y="10"/>
                </a:cubicBezTo>
                <a:cubicBezTo>
                  <a:pt x="8" y="9"/>
                  <a:pt x="4" y="8"/>
                  <a:pt x="0" y="7"/>
                </a:cubicBezTo>
                <a:cubicBezTo>
                  <a:pt x="4" y="6"/>
                  <a:pt x="8" y="5"/>
                  <a:pt x="11" y="5"/>
                </a:cubicBezTo>
                <a:cubicBezTo>
                  <a:pt x="22" y="0"/>
                  <a:pt x="22" y="0"/>
                  <a:pt x="22" y="0"/>
                </a:cubicBezTo>
                <a:cubicBezTo>
                  <a:pt x="22" y="1"/>
                  <a:pt x="22" y="1"/>
                  <a:pt x="22" y="1"/>
                </a:cubicBezTo>
                <a:lnTo>
                  <a:pt x="18" y="7"/>
                </a:lnTo>
                <a:close/>
              </a:path>
            </a:pathLst>
          </a:custGeom>
          <a:solidFill>
            <a:srgbClr val="000000"/>
          </a:solidFill>
          <a:ln w="9525">
            <a:noFill/>
            <a:round/>
            <a:headEnd/>
            <a:tailEnd/>
          </a:ln>
        </p:spPr>
        <p:txBody>
          <a:bodyPr/>
          <a:lstStyle/>
          <a:p>
            <a:endParaRPr lang="en-US"/>
          </a:p>
        </p:txBody>
      </p:sp>
      <p:sp>
        <p:nvSpPr>
          <p:cNvPr id="355464" name="Rectangle 136"/>
          <p:cNvSpPr>
            <a:spLocks noChangeArrowheads="1"/>
          </p:cNvSpPr>
          <p:nvPr/>
        </p:nvSpPr>
        <p:spPr bwMode="auto">
          <a:xfrm>
            <a:off x="2301875" y="3781425"/>
            <a:ext cx="566738"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a:t>
            </a:r>
            <a:r>
              <a:rPr lang="en-US" sz="1400" i="1">
                <a:solidFill>
                  <a:srgbClr val="000000"/>
                </a:solidFill>
                <a:latin typeface="Myriad Roman"/>
              </a:rPr>
              <a:t>T</a:t>
            </a:r>
            <a:endParaRPr lang="en-US" sz="1400" i="1">
              <a:latin typeface="Tahoma" pitchFamily="34" charset="0"/>
            </a:endParaRPr>
          </a:p>
        </p:txBody>
      </p:sp>
      <p:sp>
        <p:nvSpPr>
          <p:cNvPr id="68644" name="Rectangle 143"/>
          <p:cNvSpPr>
            <a:spLocks noChangeArrowheads="1"/>
          </p:cNvSpPr>
          <p:nvPr/>
        </p:nvSpPr>
        <p:spPr bwMode="auto">
          <a:xfrm>
            <a:off x="2943225" y="1422400"/>
            <a:ext cx="40798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Price</a:t>
            </a:r>
            <a:endParaRPr lang="en-US" sz="1400">
              <a:latin typeface="Tahoma" pitchFamily="34" charset="0"/>
            </a:endParaRPr>
          </a:p>
        </p:txBody>
      </p:sp>
      <p:cxnSp>
        <p:nvCxnSpPr>
          <p:cNvPr id="68645" name="Straight Connector 86"/>
          <p:cNvCxnSpPr>
            <a:cxnSpLocks noChangeShapeType="1"/>
          </p:cNvCxnSpPr>
          <p:nvPr/>
        </p:nvCxnSpPr>
        <p:spPr bwMode="auto">
          <a:xfrm>
            <a:off x="3446463" y="3590925"/>
            <a:ext cx="1468437" cy="1588"/>
          </a:xfrm>
          <a:prstGeom prst="line">
            <a:avLst/>
          </a:prstGeom>
          <a:noFill/>
          <a:ln w="15875">
            <a:solidFill>
              <a:srgbClr val="808080"/>
            </a:solidFill>
            <a:prstDash val="sysDot"/>
            <a:round/>
            <a:headEnd/>
            <a:tailEnd type="none" w="med" len="lg"/>
          </a:ln>
        </p:spPr>
      </p:cxnSp>
      <p:sp>
        <p:nvSpPr>
          <p:cNvPr id="355357" name="Freeform 29"/>
          <p:cNvSpPr>
            <a:spLocks/>
          </p:cNvSpPr>
          <p:nvPr/>
        </p:nvSpPr>
        <p:spPr bwMode="auto">
          <a:xfrm>
            <a:off x="3032125" y="3230563"/>
            <a:ext cx="115888" cy="1560512"/>
          </a:xfrm>
          <a:custGeom>
            <a:avLst/>
            <a:gdLst>
              <a:gd name="T0" fmla="*/ 115888 w 25"/>
              <a:gd name="T1" fmla="*/ 0 h 277"/>
              <a:gd name="T2" fmla="*/ 46355 w 25"/>
              <a:gd name="T3" fmla="*/ 90138 h 277"/>
              <a:gd name="T4" fmla="*/ 46355 w 25"/>
              <a:gd name="T5" fmla="*/ 721103 h 277"/>
              <a:gd name="T6" fmla="*/ 0 w 25"/>
              <a:gd name="T7" fmla="*/ 777439 h 277"/>
              <a:gd name="T8" fmla="*/ 46355 w 25"/>
              <a:gd name="T9" fmla="*/ 839409 h 277"/>
              <a:gd name="T10" fmla="*/ 46355 w 25"/>
              <a:gd name="T11" fmla="*/ 1470374 h 277"/>
              <a:gd name="T12" fmla="*/ 115888 w 25"/>
              <a:gd name="T13" fmla="*/ 1560512 h 277"/>
              <a:gd name="T14" fmla="*/ 0 60000 65536"/>
              <a:gd name="T15" fmla="*/ 0 60000 65536"/>
              <a:gd name="T16" fmla="*/ 0 60000 65536"/>
              <a:gd name="T17" fmla="*/ 0 60000 65536"/>
              <a:gd name="T18" fmla="*/ 0 60000 65536"/>
              <a:gd name="T19" fmla="*/ 0 60000 65536"/>
              <a:gd name="T20" fmla="*/ 0 60000 65536"/>
              <a:gd name="T21" fmla="*/ 0 w 25"/>
              <a:gd name="T22" fmla="*/ 0 h 277"/>
              <a:gd name="T23" fmla="*/ 25 w 25"/>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77">
                <a:moveTo>
                  <a:pt x="25" y="0"/>
                </a:moveTo>
                <a:cubicBezTo>
                  <a:pt x="15" y="0"/>
                  <a:pt x="10" y="2"/>
                  <a:pt x="10" y="16"/>
                </a:cubicBezTo>
                <a:cubicBezTo>
                  <a:pt x="10" y="18"/>
                  <a:pt x="10" y="126"/>
                  <a:pt x="10" y="128"/>
                </a:cubicBezTo>
                <a:cubicBezTo>
                  <a:pt x="10" y="131"/>
                  <a:pt x="7" y="138"/>
                  <a:pt x="0" y="138"/>
                </a:cubicBezTo>
                <a:cubicBezTo>
                  <a:pt x="7" y="138"/>
                  <a:pt x="10" y="145"/>
                  <a:pt x="10" y="149"/>
                </a:cubicBezTo>
                <a:cubicBezTo>
                  <a:pt x="10" y="151"/>
                  <a:pt x="10" y="258"/>
                  <a:pt x="10" y="261"/>
                </a:cubicBezTo>
                <a:cubicBezTo>
                  <a:pt x="10" y="274"/>
                  <a:pt x="15" y="277"/>
                  <a:pt x="25" y="277"/>
                </a:cubicBezTo>
              </a:path>
            </a:pathLst>
          </a:custGeom>
          <a:noFill/>
          <a:ln w="22225" cap="flat">
            <a:solidFill>
              <a:srgbClr val="6D6F71"/>
            </a:solidFill>
            <a:prstDash val="solid"/>
            <a:round/>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55357"/>
                                        </p:tgtEl>
                                        <p:attrNameLst>
                                          <p:attrName>style.visibility</p:attrName>
                                        </p:attrNameLst>
                                      </p:cBhvr>
                                      <p:to>
                                        <p:strVal val="visible"/>
                                      </p:to>
                                    </p:set>
                                    <p:animEffect transition="in" filter="plus(in)">
                                      <p:cBhvr>
                                        <p:cTn id="7" dur="1000"/>
                                        <p:tgtEl>
                                          <p:spTgt spid="35535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5408"/>
                                        </p:tgtEl>
                                        <p:attrNameLst>
                                          <p:attrName>style.visibility</p:attrName>
                                        </p:attrNameLst>
                                      </p:cBhvr>
                                      <p:to>
                                        <p:strVal val="visible"/>
                                      </p:to>
                                    </p:set>
                                    <p:animEffect transition="in" filter="wipe(left)">
                                      <p:cBhvr>
                                        <p:cTn id="11" dur="500"/>
                                        <p:tgtEl>
                                          <p:spTgt spid="35540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5464"/>
                                        </p:tgtEl>
                                        <p:attrNameLst>
                                          <p:attrName>style.visibility</p:attrName>
                                        </p:attrNameLst>
                                      </p:cBhvr>
                                      <p:to>
                                        <p:strVal val="visible"/>
                                      </p:to>
                                    </p:set>
                                    <p:animEffect transition="in" filter="wipe(left)">
                                      <p:cBhvr>
                                        <p:cTn id="14" dur="500"/>
                                        <p:tgtEl>
                                          <p:spTgt spid="355464"/>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55346"/>
                                        </p:tgtEl>
                                        <p:attrNameLst>
                                          <p:attrName>style.visibility</p:attrName>
                                        </p:attrNameLst>
                                      </p:cBhvr>
                                      <p:to>
                                        <p:strVal val="visible"/>
                                      </p:to>
                                    </p:set>
                                    <p:animEffect transition="in" filter="plus(in)">
                                      <p:cBhvr>
                                        <p:cTn id="19" dur="1000"/>
                                        <p:tgtEl>
                                          <p:spTgt spid="355346"/>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355379"/>
                                        </p:tgtEl>
                                        <p:attrNameLst>
                                          <p:attrName>style.visibility</p:attrName>
                                        </p:attrNameLst>
                                      </p:cBhvr>
                                      <p:to>
                                        <p:strVal val="visible"/>
                                      </p:to>
                                    </p:set>
                                  </p:childTnLst>
                                </p:cTn>
                              </p:par>
                              <p:par>
                                <p:cTn id="23" presetID="22" presetClass="entr" presetSubtype="4" fill="hold" grpId="0" nodeType="withEffect">
                                  <p:stCondLst>
                                    <p:cond delay="0"/>
                                  </p:stCondLst>
                                  <p:childTnLst>
                                    <p:set>
                                      <p:cBhvr>
                                        <p:cTn id="24" dur="1" fill="hold">
                                          <p:stCondLst>
                                            <p:cond delay="0"/>
                                          </p:stCondLst>
                                        </p:cTn>
                                        <p:tgtEl>
                                          <p:spTgt spid="355381"/>
                                        </p:tgtEl>
                                        <p:attrNameLst>
                                          <p:attrName>style.visibility</p:attrName>
                                        </p:attrNameLst>
                                      </p:cBhvr>
                                      <p:to>
                                        <p:strVal val="visible"/>
                                      </p:to>
                                    </p:set>
                                    <p:animEffect transition="in" filter="wipe(down)">
                                      <p:cBhvr>
                                        <p:cTn id="25" dur="500"/>
                                        <p:tgtEl>
                                          <p:spTgt spid="35538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55380"/>
                                        </p:tgtEl>
                                        <p:attrNameLst>
                                          <p:attrName>style.visibility</p:attrName>
                                        </p:attrNameLst>
                                      </p:cBhvr>
                                      <p:to>
                                        <p:strVal val="visible"/>
                                      </p:to>
                                    </p:set>
                                    <p:animEffect transition="in" filter="wipe(down)">
                                      <p:cBhvr>
                                        <p:cTn id="28" dur="500"/>
                                        <p:tgtEl>
                                          <p:spTgt spid="355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46" grpId="0" animBg="1"/>
      <p:bldP spid="355379" grpId="0" animBg="1"/>
      <p:bldP spid="355380" grpId="0" animBg="1"/>
      <p:bldP spid="355381" grpId="0"/>
      <p:bldP spid="355408" grpId="0" animBg="1"/>
      <p:bldP spid="355464" grpId="0"/>
      <p:bldP spid="35535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Rot="1" noChangeArrowheads="1"/>
          </p:cNvSpPr>
          <p:nvPr>
            <p:ph type="title" idx="4294967295"/>
          </p:nvPr>
        </p:nvSpPr>
        <p:spPr>
          <a:xfrm>
            <a:off x="942975" y="60325"/>
            <a:ext cx="8016875" cy="555625"/>
          </a:xfrm>
        </p:spPr>
        <p:txBody>
          <a:bodyPr/>
          <a:lstStyle/>
          <a:p>
            <a:pPr>
              <a:defRPr/>
            </a:pPr>
            <a:r>
              <a:rPr lang="en-US" dirty="0" smtClean="0"/>
              <a:t>Deadweight Loss and Elasticities</a:t>
            </a:r>
          </a:p>
        </p:txBody>
      </p:sp>
      <p:cxnSp>
        <p:nvCxnSpPr>
          <p:cNvPr id="70658" name="Straight Connector 86"/>
          <p:cNvCxnSpPr>
            <a:cxnSpLocks noChangeShapeType="1"/>
          </p:cNvCxnSpPr>
          <p:nvPr/>
        </p:nvCxnSpPr>
        <p:spPr bwMode="auto">
          <a:xfrm>
            <a:off x="4513263" y="3867150"/>
            <a:ext cx="0" cy="1947863"/>
          </a:xfrm>
          <a:prstGeom prst="line">
            <a:avLst/>
          </a:prstGeom>
          <a:noFill/>
          <a:ln w="15875">
            <a:solidFill>
              <a:srgbClr val="808080"/>
            </a:solidFill>
            <a:prstDash val="sysDot"/>
            <a:round/>
            <a:headEnd/>
            <a:tailEnd type="none" w="med" len="lg"/>
          </a:ln>
        </p:spPr>
      </p:cxnSp>
      <p:cxnSp>
        <p:nvCxnSpPr>
          <p:cNvPr id="70659" name="Straight Connector 86"/>
          <p:cNvCxnSpPr>
            <a:cxnSpLocks noChangeShapeType="1"/>
          </p:cNvCxnSpPr>
          <p:nvPr/>
        </p:nvCxnSpPr>
        <p:spPr bwMode="auto">
          <a:xfrm>
            <a:off x="4252913" y="2690813"/>
            <a:ext cx="0" cy="3206750"/>
          </a:xfrm>
          <a:prstGeom prst="line">
            <a:avLst/>
          </a:prstGeom>
          <a:noFill/>
          <a:ln w="15875">
            <a:solidFill>
              <a:srgbClr val="808080"/>
            </a:solidFill>
            <a:prstDash val="sysDot"/>
            <a:round/>
            <a:headEnd/>
            <a:tailEnd type="none" w="med" len="lg"/>
          </a:ln>
        </p:spPr>
      </p:cxnSp>
      <p:cxnSp>
        <p:nvCxnSpPr>
          <p:cNvPr id="70660" name="Straight Connector 86"/>
          <p:cNvCxnSpPr>
            <a:cxnSpLocks noChangeShapeType="1"/>
          </p:cNvCxnSpPr>
          <p:nvPr/>
        </p:nvCxnSpPr>
        <p:spPr bwMode="auto">
          <a:xfrm>
            <a:off x="2974975" y="4179888"/>
            <a:ext cx="1228725" cy="3175"/>
          </a:xfrm>
          <a:prstGeom prst="line">
            <a:avLst/>
          </a:prstGeom>
          <a:noFill/>
          <a:ln w="15875">
            <a:solidFill>
              <a:srgbClr val="808080"/>
            </a:solidFill>
            <a:prstDash val="sysDot"/>
            <a:round/>
            <a:headEnd/>
            <a:tailEnd type="none" w="med" len="lg"/>
          </a:ln>
        </p:spPr>
      </p:cxnSp>
      <p:sp>
        <p:nvSpPr>
          <p:cNvPr id="355358" name="Freeform 30"/>
          <p:cNvSpPr>
            <a:spLocks/>
          </p:cNvSpPr>
          <p:nvPr/>
        </p:nvSpPr>
        <p:spPr bwMode="auto">
          <a:xfrm>
            <a:off x="2566988" y="2640013"/>
            <a:ext cx="115887" cy="1562100"/>
          </a:xfrm>
          <a:custGeom>
            <a:avLst/>
            <a:gdLst>
              <a:gd name="T0" fmla="*/ 115887 w 25"/>
              <a:gd name="T1" fmla="*/ 0 h 277"/>
              <a:gd name="T2" fmla="*/ 46355 w 25"/>
              <a:gd name="T3" fmla="*/ 90230 h 277"/>
              <a:gd name="T4" fmla="*/ 46355 w 25"/>
              <a:gd name="T5" fmla="*/ 721837 h 277"/>
              <a:gd name="T6" fmla="*/ 0 w 25"/>
              <a:gd name="T7" fmla="*/ 778230 h 277"/>
              <a:gd name="T8" fmla="*/ 46355 w 25"/>
              <a:gd name="T9" fmla="*/ 840263 h 277"/>
              <a:gd name="T10" fmla="*/ 46355 w 25"/>
              <a:gd name="T11" fmla="*/ 1471870 h 277"/>
              <a:gd name="T12" fmla="*/ 115887 w 25"/>
              <a:gd name="T13" fmla="*/ 1562100 h 277"/>
              <a:gd name="T14" fmla="*/ 0 60000 65536"/>
              <a:gd name="T15" fmla="*/ 0 60000 65536"/>
              <a:gd name="T16" fmla="*/ 0 60000 65536"/>
              <a:gd name="T17" fmla="*/ 0 60000 65536"/>
              <a:gd name="T18" fmla="*/ 0 60000 65536"/>
              <a:gd name="T19" fmla="*/ 0 60000 65536"/>
              <a:gd name="T20" fmla="*/ 0 60000 65536"/>
              <a:gd name="T21" fmla="*/ 0 w 25"/>
              <a:gd name="T22" fmla="*/ 0 h 277"/>
              <a:gd name="T23" fmla="*/ 25 w 25"/>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77">
                <a:moveTo>
                  <a:pt x="25" y="0"/>
                </a:moveTo>
                <a:cubicBezTo>
                  <a:pt x="15" y="0"/>
                  <a:pt x="10" y="2"/>
                  <a:pt x="10" y="16"/>
                </a:cubicBezTo>
                <a:cubicBezTo>
                  <a:pt x="10" y="18"/>
                  <a:pt x="10" y="125"/>
                  <a:pt x="10" y="128"/>
                </a:cubicBezTo>
                <a:cubicBezTo>
                  <a:pt x="10" y="131"/>
                  <a:pt x="8" y="138"/>
                  <a:pt x="0" y="138"/>
                </a:cubicBezTo>
                <a:cubicBezTo>
                  <a:pt x="8" y="138"/>
                  <a:pt x="10" y="145"/>
                  <a:pt x="10" y="149"/>
                </a:cubicBezTo>
                <a:cubicBezTo>
                  <a:pt x="10" y="151"/>
                  <a:pt x="10" y="258"/>
                  <a:pt x="10" y="261"/>
                </a:cubicBezTo>
                <a:cubicBezTo>
                  <a:pt x="10" y="274"/>
                  <a:pt x="15" y="277"/>
                  <a:pt x="25" y="277"/>
                </a:cubicBezTo>
              </a:path>
            </a:pathLst>
          </a:custGeom>
          <a:noFill/>
          <a:ln w="22225" cap="flat">
            <a:solidFill>
              <a:srgbClr val="6D6F71"/>
            </a:solidFill>
            <a:prstDash val="solid"/>
            <a:round/>
            <a:headEnd/>
            <a:tailEnd/>
          </a:ln>
        </p:spPr>
        <p:txBody>
          <a:bodyPr/>
          <a:lstStyle/>
          <a:p>
            <a:endParaRPr lang="en-US"/>
          </a:p>
        </p:txBody>
      </p:sp>
      <p:sp>
        <p:nvSpPr>
          <p:cNvPr id="70662" name="Rectangle 32"/>
          <p:cNvSpPr>
            <a:spLocks noChangeArrowheads="1"/>
          </p:cNvSpPr>
          <p:nvPr/>
        </p:nvSpPr>
        <p:spPr bwMode="auto">
          <a:xfrm>
            <a:off x="3575050" y="1095375"/>
            <a:ext cx="227013" cy="214313"/>
          </a:xfrm>
          <a:prstGeom prst="rect">
            <a:avLst/>
          </a:prstGeom>
          <a:noFill/>
          <a:ln w="9525">
            <a:noFill/>
            <a:miter lim="800000"/>
            <a:headEnd/>
            <a:tailEnd/>
          </a:ln>
        </p:spPr>
        <p:txBody>
          <a:bodyPr wrap="none" lIns="0" tIns="0" rIns="0" bIns="0">
            <a:spAutoFit/>
          </a:bodyPr>
          <a:lstStyle/>
          <a:p>
            <a:pPr marL="1588" indent="-1588"/>
            <a:r>
              <a:rPr lang="en-US" sz="1400" b="1">
                <a:solidFill>
                  <a:srgbClr val="000000"/>
                </a:solidFill>
                <a:latin typeface="Myriad Roman"/>
              </a:rPr>
              <a:t>(b)</a:t>
            </a:r>
            <a:endParaRPr lang="en-US" sz="1400" b="1">
              <a:latin typeface="Tahoma" pitchFamily="34" charset="0"/>
            </a:endParaRPr>
          </a:p>
        </p:txBody>
      </p:sp>
      <p:sp>
        <p:nvSpPr>
          <p:cNvPr id="70663" name="Rectangle 33"/>
          <p:cNvSpPr>
            <a:spLocks noChangeArrowheads="1"/>
          </p:cNvSpPr>
          <p:nvPr/>
        </p:nvSpPr>
        <p:spPr bwMode="auto">
          <a:xfrm>
            <a:off x="3860800" y="1095375"/>
            <a:ext cx="1471613" cy="214313"/>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Roman"/>
              </a:rPr>
              <a:t>Inelastic Demand</a:t>
            </a:r>
            <a:endParaRPr lang="en-US" sz="1400" b="1">
              <a:latin typeface="Tahoma" pitchFamily="34" charset="0"/>
            </a:endParaRPr>
          </a:p>
        </p:txBody>
      </p:sp>
      <p:sp>
        <p:nvSpPr>
          <p:cNvPr id="355365" name="Freeform 37"/>
          <p:cNvSpPr>
            <a:spLocks/>
          </p:cNvSpPr>
          <p:nvPr/>
        </p:nvSpPr>
        <p:spPr bwMode="auto">
          <a:xfrm>
            <a:off x="4264025" y="2640013"/>
            <a:ext cx="257175" cy="1562100"/>
          </a:xfrm>
          <a:custGeom>
            <a:avLst/>
            <a:gdLst>
              <a:gd name="T0" fmla="*/ 0 w 130"/>
              <a:gd name="T1" fmla="*/ 0 h 654"/>
              <a:gd name="T2" fmla="*/ 0 w 130"/>
              <a:gd name="T3" fmla="*/ 1562100 h 654"/>
              <a:gd name="T4" fmla="*/ 257175 w 130"/>
              <a:gd name="T5" fmla="*/ 1184712 h 654"/>
              <a:gd name="T6" fmla="*/ 0 w 130"/>
              <a:gd name="T7" fmla="*/ 0 h 654"/>
              <a:gd name="T8" fmla="*/ 0 60000 65536"/>
              <a:gd name="T9" fmla="*/ 0 60000 65536"/>
              <a:gd name="T10" fmla="*/ 0 60000 65536"/>
              <a:gd name="T11" fmla="*/ 0 60000 65536"/>
              <a:gd name="T12" fmla="*/ 0 w 130"/>
              <a:gd name="T13" fmla="*/ 0 h 654"/>
              <a:gd name="T14" fmla="*/ 130 w 130"/>
              <a:gd name="T15" fmla="*/ 654 h 654"/>
            </a:gdLst>
            <a:ahLst/>
            <a:cxnLst>
              <a:cxn ang="T8">
                <a:pos x="T0" y="T1"/>
              </a:cxn>
              <a:cxn ang="T9">
                <a:pos x="T2" y="T3"/>
              </a:cxn>
              <a:cxn ang="T10">
                <a:pos x="T4" y="T5"/>
              </a:cxn>
              <a:cxn ang="T11">
                <a:pos x="T6" y="T7"/>
              </a:cxn>
            </a:cxnLst>
            <a:rect l="T12" t="T13" r="T14" b="T15"/>
            <a:pathLst>
              <a:path w="130" h="654">
                <a:moveTo>
                  <a:pt x="0" y="0"/>
                </a:moveTo>
                <a:lnTo>
                  <a:pt x="0" y="654"/>
                </a:lnTo>
                <a:lnTo>
                  <a:pt x="130" y="496"/>
                </a:lnTo>
                <a:lnTo>
                  <a:pt x="0" y="0"/>
                </a:lnTo>
                <a:close/>
              </a:path>
            </a:pathLst>
          </a:custGeom>
          <a:solidFill>
            <a:srgbClr val="FFE5B9"/>
          </a:solidFill>
          <a:ln w="9525">
            <a:noFill/>
            <a:round/>
            <a:headEnd/>
            <a:tailEnd/>
          </a:ln>
        </p:spPr>
        <p:txBody>
          <a:bodyPr/>
          <a:lstStyle/>
          <a:p>
            <a:endParaRPr lang="en-US"/>
          </a:p>
        </p:txBody>
      </p:sp>
      <p:sp>
        <p:nvSpPr>
          <p:cNvPr id="70665" name="Rectangle 38"/>
          <p:cNvSpPr>
            <a:spLocks noChangeArrowheads="1"/>
          </p:cNvSpPr>
          <p:nvPr/>
        </p:nvSpPr>
        <p:spPr bwMode="auto">
          <a:xfrm>
            <a:off x="5745163" y="5922963"/>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70666" name="Rectangle 39"/>
          <p:cNvSpPr>
            <a:spLocks noChangeArrowheads="1"/>
          </p:cNvSpPr>
          <p:nvPr/>
        </p:nvSpPr>
        <p:spPr bwMode="auto">
          <a:xfrm>
            <a:off x="4865688" y="5502275"/>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70667" name="Rectangle 40"/>
          <p:cNvSpPr>
            <a:spLocks noChangeArrowheads="1"/>
          </p:cNvSpPr>
          <p:nvPr/>
        </p:nvSpPr>
        <p:spPr bwMode="auto">
          <a:xfrm>
            <a:off x="5765800" y="1776413"/>
            <a:ext cx="1190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70668" name="Rectangle 41"/>
          <p:cNvSpPr>
            <a:spLocks noChangeArrowheads="1"/>
          </p:cNvSpPr>
          <p:nvPr/>
        </p:nvSpPr>
        <p:spPr bwMode="auto">
          <a:xfrm>
            <a:off x="4605338" y="3730625"/>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0669" name="Line 42"/>
          <p:cNvSpPr>
            <a:spLocks noChangeShapeType="1"/>
          </p:cNvSpPr>
          <p:nvPr/>
        </p:nvSpPr>
        <p:spPr bwMode="auto">
          <a:xfrm flipV="1">
            <a:off x="3370263" y="2032000"/>
            <a:ext cx="2386012" cy="3460750"/>
          </a:xfrm>
          <a:prstGeom prst="line">
            <a:avLst/>
          </a:prstGeom>
          <a:noFill/>
          <a:ln w="28575">
            <a:solidFill>
              <a:srgbClr val="EE313C"/>
            </a:solidFill>
            <a:miter lim="800000"/>
            <a:headEnd/>
            <a:tailEnd/>
          </a:ln>
        </p:spPr>
        <p:txBody>
          <a:bodyPr/>
          <a:lstStyle/>
          <a:p>
            <a:endParaRPr lang="en-US"/>
          </a:p>
        </p:txBody>
      </p:sp>
      <p:sp>
        <p:nvSpPr>
          <p:cNvPr id="70670" name="Line 44"/>
          <p:cNvSpPr>
            <a:spLocks noChangeShapeType="1"/>
          </p:cNvSpPr>
          <p:nvPr/>
        </p:nvSpPr>
        <p:spPr bwMode="auto">
          <a:xfrm flipH="1" flipV="1">
            <a:off x="4121150" y="1981200"/>
            <a:ext cx="765175" cy="3506788"/>
          </a:xfrm>
          <a:prstGeom prst="line">
            <a:avLst/>
          </a:prstGeom>
          <a:noFill/>
          <a:ln w="28575">
            <a:solidFill>
              <a:srgbClr val="3C5DAA"/>
            </a:solidFill>
            <a:miter lim="800000"/>
            <a:headEnd/>
            <a:tailEnd/>
          </a:ln>
        </p:spPr>
        <p:txBody>
          <a:bodyPr/>
          <a:lstStyle/>
          <a:p>
            <a:endParaRPr lang="en-US"/>
          </a:p>
        </p:txBody>
      </p:sp>
      <p:sp>
        <p:nvSpPr>
          <p:cNvPr id="70671" name="Freeform 45"/>
          <p:cNvSpPr>
            <a:spLocks/>
          </p:cNvSpPr>
          <p:nvPr/>
        </p:nvSpPr>
        <p:spPr bwMode="auto">
          <a:xfrm>
            <a:off x="2940050" y="1722438"/>
            <a:ext cx="3417888" cy="4159250"/>
          </a:xfrm>
          <a:custGeom>
            <a:avLst/>
            <a:gdLst>
              <a:gd name="T0" fmla="*/ 3417888 w 1736"/>
              <a:gd name="T1" fmla="*/ 4159250 h 1743"/>
              <a:gd name="T2" fmla="*/ 0 w 1736"/>
              <a:gd name="T3" fmla="*/ 4159250 h 1743"/>
              <a:gd name="T4" fmla="*/ 0 w 1736"/>
              <a:gd name="T5" fmla="*/ 0 h 1743"/>
              <a:gd name="T6" fmla="*/ 0 60000 65536"/>
              <a:gd name="T7" fmla="*/ 0 60000 65536"/>
              <a:gd name="T8" fmla="*/ 0 60000 65536"/>
              <a:gd name="T9" fmla="*/ 0 w 1736"/>
              <a:gd name="T10" fmla="*/ 0 h 1743"/>
              <a:gd name="T11" fmla="*/ 1736 w 1736"/>
              <a:gd name="T12" fmla="*/ 1743 h 1743"/>
            </a:gdLst>
            <a:ahLst/>
            <a:cxnLst>
              <a:cxn ang="T6">
                <a:pos x="T0" y="T1"/>
              </a:cxn>
              <a:cxn ang="T7">
                <a:pos x="T2" y="T3"/>
              </a:cxn>
              <a:cxn ang="T8">
                <a:pos x="T4" y="T5"/>
              </a:cxn>
            </a:cxnLst>
            <a:rect l="T9" t="T10" r="T11" b="T12"/>
            <a:pathLst>
              <a:path w="1736" h="1743">
                <a:moveTo>
                  <a:pt x="1736" y="1743"/>
                </a:moveTo>
                <a:lnTo>
                  <a:pt x="0" y="1743"/>
                </a:lnTo>
                <a:lnTo>
                  <a:pt x="0" y="0"/>
                </a:lnTo>
              </a:path>
            </a:pathLst>
          </a:custGeom>
          <a:noFill/>
          <a:ln w="6350" cap="flat">
            <a:solidFill>
              <a:srgbClr val="000000"/>
            </a:solidFill>
            <a:prstDash val="solid"/>
            <a:miter lim="800000"/>
            <a:headEnd/>
            <a:tailEnd/>
          </a:ln>
        </p:spPr>
        <p:txBody>
          <a:bodyPr/>
          <a:lstStyle/>
          <a:p>
            <a:endParaRPr lang="en-US"/>
          </a:p>
        </p:txBody>
      </p:sp>
      <p:sp>
        <p:nvSpPr>
          <p:cNvPr id="70672" name="Oval 46"/>
          <p:cNvSpPr>
            <a:spLocks noChangeArrowheads="1"/>
          </p:cNvSpPr>
          <p:nvPr/>
        </p:nvSpPr>
        <p:spPr bwMode="auto">
          <a:xfrm>
            <a:off x="4473575" y="3767138"/>
            <a:ext cx="92075" cy="114300"/>
          </a:xfrm>
          <a:prstGeom prst="ellipse">
            <a:avLst/>
          </a:prstGeom>
          <a:solidFill>
            <a:srgbClr val="000000"/>
          </a:solidFill>
          <a:ln w="9525">
            <a:noFill/>
            <a:round/>
            <a:headEnd/>
            <a:tailEnd/>
          </a:ln>
        </p:spPr>
        <p:txBody>
          <a:bodyPr/>
          <a:lstStyle/>
          <a:p>
            <a:endParaRPr lang="en-US"/>
          </a:p>
        </p:txBody>
      </p:sp>
      <p:sp>
        <p:nvSpPr>
          <p:cNvPr id="70673" name="Oval 47"/>
          <p:cNvSpPr>
            <a:spLocks noChangeArrowheads="1"/>
          </p:cNvSpPr>
          <p:nvPr/>
        </p:nvSpPr>
        <p:spPr bwMode="auto">
          <a:xfrm>
            <a:off x="4217988" y="4146550"/>
            <a:ext cx="92075" cy="112713"/>
          </a:xfrm>
          <a:prstGeom prst="ellipse">
            <a:avLst/>
          </a:prstGeom>
          <a:solidFill>
            <a:srgbClr val="000000"/>
          </a:solidFill>
          <a:ln w="9525">
            <a:noFill/>
            <a:round/>
            <a:headEnd/>
            <a:tailEnd/>
          </a:ln>
        </p:spPr>
        <p:txBody>
          <a:bodyPr/>
          <a:lstStyle/>
          <a:p>
            <a:endParaRPr lang="en-US"/>
          </a:p>
        </p:txBody>
      </p:sp>
      <p:sp>
        <p:nvSpPr>
          <p:cNvPr id="70674" name="Oval 48"/>
          <p:cNvSpPr>
            <a:spLocks noChangeArrowheads="1"/>
          </p:cNvSpPr>
          <p:nvPr/>
        </p:nvSpPr>
        <p:spPr bwMode="auto">
          <a:xfrm>
            <a:off x="4217988" y="2582863"/>
            <a:ext cx="92075" cy="114300"/>
          </a:xfrm>
          <a:prstGeom prst="ellipse">
            <a:avLst/>
          </a:prstGeom>
          <a:solidFill>
            <a:srgbClr val="000000"/>
          </a:solidFill>
          <a:ln w="9525">
            <a:noFill/>
            <a:round/>
            <a:headEnd/>
            <a:tailEnd/>
          </a:ln>
        </p:spPr>
        <p:txBody>
          <a:bodyPr/>
          <a:lstStyle/>
          <a:p>
            <a:endParaRPr lang="en-US"/>
          </a:p>
        </p:txBody>
      </p:sp>
      <p:sp>
        <p:nvSpPr>
          <p:cNvPr id="355378" name="Line 50"/>
          <p:cNvSpPr>
            <a:spLocks noChangeShapeType="1"/>
          </p:cNvSpPr>
          <p:nvPr/>
        </p:nvSpPr>
        <p:spPr bwMode="auto">
          <a:xfrm>
            <a:off x="4352925" y="3481388"/>
            <a:ext cx="488950" cy="168275"/>
          </a:xfrm>
          <a:prstGeom prst="line">
            <a:avLst/>
          </a:prstGeom>
          <a:noFill/>
          <a:ln w="6350">
            <a:solidFill>
              <a:srgbClr val="000000"/>
            </a:solidFill>
            <a:miter lim="800000"/>
            <a:headEnd/>
            <a:tailEnd/>
          </a:ln>
        </p:spPr>
        <p:txBody>
          <a:bodyPr/>
          <a:lstStyle/>
          <a:p>
            <a:endParaRPr lang="en-US"/>
          </a:p>
        </p:txBody>
      </p:sp>
      <p:sp>
        <p:nvSpPr>
          <p:cNvPr id="355411" name="Freeform 83"/>
          <p:cNvSpPr>
            <a:spLocks/>
          </p:cNvSpPr>
          <p:nvPr/>
        </p:nvSpPr>
        <p:spPr bwMode="auto">
          <a:xfrm>
            <a:off x="1906588" y="3165475"/>
            <a:ext cx="590550" cy="539750"/>
          </a:xfrm>
          <a:custGeom>
            <a:avLst/>
            <a:gdLst>
              <a:gd name="T0" fmla="*/ 590550 w 127"/>
              <a:gd name="T1" fmla="*/ 449792 h 96"/>
              <a:gd name="T2" fmla="*/ 516150 w 127"/>
              <a:gd name="T3" fmla="*/ 539750 h 96"/>
              <a:gd name="T4" fmla="*/ 74400 w 127"/>
              <a:gd name="T5" fmla="*/ 539750 h 96"/>
              <a:gd name="T6" fmla="*/ 0 w 127"/>
              <a:gd name="T7" fmla="*/ 449792 h 96"/>
              <a:gd name="T8" fmla="*/ 0 w 127"/>
              <a:gd name="T9" fmla="*/ 89958 h 96"/>
              <a:gd name="T10" fmla="*/ 74400 w 127"/>
              <a:gd name="T11" fmla="*/ 0 h 96"/>
              <a:gd name="T12" fmla="*/ 516150 w 127"/>
              <a:gd name="T13" fmla="*/ 0 h 96"/>
              <a:gd name="T14" fmla="*/ 590550 w 127"/>
              <a:gd name="T15" fmla="*/ 89958 h 96"/>
              <a:gd name="T16" fmla="*/ 590550 w 127"/>
              <a:gd name="T17" fmla="*/ 449792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96"/>
              <a:gd name="T29" fmla="*/ 127 w 127"/>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96">
                <a:moveTo>
                  <a:pt x="127" y="80"/>
                </a:moveTo>
                <a:cubicBezTo>
                  <a:pt x="127" y="89"/>
                  <a:pt x="120" y="96"/>
                  <a:pt x="111" y="96"/>
                </a:cubicBezTo>
                <a:cubicBezTo>
                  <a:pt x="16" y="96"/>
                  <a:pt x="16" y="96"/>
                  <a:pt x="16" y="96"/>
                </a:cubicBezTo>
                <a:cubicBezTo>
                  <a:pt x="7" y="96"/>
                  <a:pt x="0" y="89"/>
                  <a:pt x="0" y="80"/>
                </a:cubicBezTo>
                <a:cubicBezTo>
                  <a:pt x="0" y="16"/>
                  <a:pt x="0" y="16"/>
                  <a:pt x="0" y="16"/>
                </a:cubicBezTo>
                <a:cubicBezTo>
                  <a:pt x="0" y="7"/>
                  <a:pt x="7" y="0"/>
                  <a:pt x="16" y="0"/>
                </a:cubicBezTo>
                <a:cubicBezTo>
                  <a:pt x="111" y="0"/>
                  <a:pt x="111" y="0"/>
                  <a:pt x="111" y="0"/>
                </a:cubicBezTo>
                <a:cubicBezTo>
                  <a:pt x="120" y="0"/>
                  <a:pt x="127" y="7"/>
                  <a:pt x="127" y="16"/>
                </a:cubicBezTo>
                <a:lnTo>
                  <a:pt x="127" y="80"/>
                </a:lnTo>
                <a:close/>
              </a:path>
            </a:pathLst>
          </a:custGeom>
          <a:solidFill>
            <a:srgbClr val="D6E2E0"/>
          </a:solidFill>
          <a:ln w="9525">
            <a:noFill/>
            <a:round/>
            <a:headEnd/>
            <a:tailEnd/>
          </a:ln>
        </p:spPr>
        <p:txBody>
          <a:bodyPr/>
          <a:lstStyle/>
          <a:p>
            <a:endParaRPr lang="en-US"/>
          </a:p>
        </p:txBody>
      </p:sp>
      <p:sp>
        <p:nvSpPr>
          <p:cNvPr id="355412" name="Freeform 84"/>
          <p:cNvSpPr>
            <a:spLocks/>
          </p:cNvSpPr>
          <p:nvPr/>
        </p:nvSpPr>
        <p:spPr bwMode="auto">
          <a:xfrm>
            <a:off x="4830763" y="3563938"/>
            <a:ext cx="1401762" cy="917575"/>
          </a:xfrm>
          <a:custGeom>
            <a:avLst/>
            <a:gdLst>
              <a:gd name="T0" fmla="*/ 1401762 w 303"/>
              <a:gd name="T1" fmla="*/ 808014 h 134"/>
              <a:gd name="T2" fmla="*/ 1327742 w 303"/>
              <a:gd name="T3" fmla="*/ 917575 h 134"/>
              <a:gd name="T4" fmla="*/ 74020 w 303"/>
              <a:gd name="T5" fmla="*/ 917575 h 134"/>
              <a:gd name="T6" fmla="*/ 0 w 303"/>
              <a:gd name="T7" fmla="*/ 808014 h 134"/>
              <a:gd name="T8" fmla="*/ 0 w 303"/>
              <a:gd name="T9" fmla="*/ 109561 h 134"/>
              <a:gd name="T10" fmla="*/ 74020 w 303"/>
              <a:gd name="T11" fmla="*/ 0 h 134"/>
              <a:gd name="T12" fmla="*/ 1327742 w 303"/>
              <a:gd name="T13" fmla="*/ 0 h 134"/>
              <a:gd name="T14" fmla="*/ 1401762 w 303"/>
              <a:gd name="T15" fmla="*/ 109561 h 134"/>
              <a:gd name="T16" fmla="*/ 1401762 w 303"/>
              <a:gd name="T17" fmla="*/ 808014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3"/>
              <a:gd name="T28" fmla="*/ 0 h 134"/>
              <a:gd name="T29" fmla="*/ 303 w 303"/>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3" h="134">
                <a:moveTo>
                  <a:pt x="303" y="118"/>
                </a:moveTo>
                <a:cubicBezTo>
                  <a:pt x="303" y="127"/>
                  <a:pt x="296" y="134"/>
                  <a:pt x="287" y="134"/>
                </a:cubicBezTo>
                <a:cubicBezTo>
                  <a:pt x="16" y="134"/>
                  <a:pt x="16" y="134"/>
                  <a:pt x="16" y="134"/>
                </a:cubicBezTo>
                <a:cubicBezTo>
                  <a:pt x="7" y="134"/>
                  <a:pt x="0" y="127"/>
                  <a:pt x="0" y="118"/>
                </a:cubicBezTo>
                <a:cubicBezTo>
                  <a:pt x="0" y="16"/>
                  <a:pt x="0" y="16"/>
                  <a:pt x="0" y="16"/>
                </a:cubicBezTo>
                <a:cubicBezTo>
                  <a:pt x="0" y="7"/>
                  <a:pt x="7" y="0"/>
                  <a:pt x="16" y="0"/>
                </a:cubicBezTo>
                <a:cubicBezTo>
                  <a:pt x="287" y="0"/>
                  <a:pt x="287" y="0"/>
                  <a:pt x="287" y="0"/>
                </a:cubicBezTo>
                <a:cubicBezTo>
                  <a:pt x="296" y="0"/>
                  <a:pt x="303" y="7"/>
                  <a:pt x="303" y="16"/>
                </a:cubicBezTo>
                <a:lnTo>
                  <a:pt x="303" y="118"/>
                </a:lnTo>
                <a:close/>
              </a:path>
            </a:pathLst>
          </a:custGeom>
          <a:solidFill>
            <a:srgbClr val="D6E2E0"/>
          </a:solidFill>
          <a:ln w="9525">
            <a:noFill/>
            <a:round/>
            <a:headEnd/>
            <a:tailEnd/>
          </a:ln>
        </p:spPr>
        <p:txBody>
          <a:bodyPr/>
          <a:lstStyle/>
          <a:p>
            <a:endParaRPr lang="en-US"/>
          </a:p>
        </p:txBody>
      </p:sp>
      <p:sp>
        <p:nvSpPr>
          <p:cNvPr id="70678" name="Rectangle 90"/>
          <p:cNvSpPr>
            <a:spLocks noChangeArrowheads="1"/>
          </p:cNvSpPr>
          <p:nvPr/>
        </p:nvSpPr>
        <p:spPr bwMode="auto">
          <a:xfrm>
            <a:off x="4464050" y="5907088"/>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70679" name="Rectangle 91"/>
          <p:cNvSpPr>
            <a:spLocks noChangeArrowheads="1"/>
          </p:cNvSpPr>
          <p:nvPr/>
        </p:nvSpPr>
        <p:spPr bwMode="auto">
          <a:xfrm>
            <a:off x="4591050" y="6032500"/>
            <a:ext cx="1190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0680" name="Rectangle 94"/>
          <p:cNvSpPr>
            <a:spLocks noChangeArrowheads="1"/>
          </p:cNvSpPr>
          <p:nvPr/>
        </p:nvSpPr>
        <p:spPr bwMode="auto">
          <a:xfrm>
            <a:off x="4133850" y="5907088"/>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70681" name="Rectangle 95"/>
          <p:cNvSpPr>
            <a:spLocks noChangeArrowheads="1"/>
          </p:cNvSpPr>
          <p:nvPr/>
        </p:nvSpPr>
        <p:spPr bwMode="auto">
          <a:xfrm>
            <a:off x="4262438" y="6032500"/>
            <a:ext cx="1079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T</a:t>
            </a:r>
            <a:endParaRPr lang="en-US" sz="1400" i="1">
              <a:latin typeface="Tahoma" pitchFamily="34" charset="0"/>
            </a:endParaRPr>
          </a:p>
        </p:txBody>
      </p:sp>
      <p:sp>
        <p:nvSpPr>
          <p:cNvPr id="70682" name="Rectangle 108"/>
          <p:cNvSpPr>
            <a:spLocks noChangeArrowheads="1"/>
          </p:cNvSpPr>
          <p:nvPr/>
        </p:nvSpPr>
        <p:spPr bwMode="auto">
          <a:xfrm>
            <a:off x="2719388" y="3686175"/>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0683" name="Rectangle 109"/>
          <p:cNvSpPr>
            <a:spLocks noChangeArrowheads="1"/>
          </p:cNvSpPr>
          <p:nvPr/>
        </p:nvSpPr>
        <p:spPr bwMode="auto">
          <a:xfrm>
            <a:off x="2817813" y="3810000"/>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0684" name="Rectangle 110"/>
          <p:cNvSpPr>
            <a:spLocks noChangeArrowheads="1"/>
          </p:cNvSpPr>
          <p:nvPr/>
        </p:nvSpPr>
        <p:spPr bwMode="auto">
          <a:xfrm>
            <a:off x="2709863" y="2501900"/>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0685" name="Rectangle 111"/>
          <p:cNvSpPr>
            <a:spLocks noChangeArrowheads="1"/>
          </p:cNvSpPr>
          <p:nvPr/>
        </p:nvSpPr>
        <p:spPr bwMode="auto">
          <a:xfrm>
            <a:off x="2752725" y="2681288"/>
            <a:ext cx="13017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70686" name="Rectangle 112"/>
          <p:cNvSpPr>
            <a:spLocks noChangeArrowheads="1"/>
          </p:cNvSpPr>
          <p:nvPr/>
        </p:nvSpPr>
        <p:spPr bwMode="auto">
          <a:xfrm>
            <a:off x="2714625" y="4065588"/>
            <a:ext cx="1190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0687" name="Rectangle 113"/>
          <p:cNvSpPr>
            <a:spLocks noChangeArrowheads="1"/>
          </p:cNvSpPr>
          <p:nvPr/>
        </p:nvSpPr>
        <p:spPr bwMode="auto">
          <a:xfrm>
            <a:off x="2813050" y="4187825"/>
            <a:ext cx="1190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0688" name="Line 122"/>
          <p:cNvSpPr>
            <a:spLocks noChangeShapeType="1"/>
          </p:cNvSpPr>
          <p:nvPr/>
        </p:nvSpPr>
        <p:spPr bwMode="auto">
          <a:xfrm flipH="1">
            <a:off x="4408488" y="6051550"/>
            <a:ext cx="65087" cy="0"/>
          </a:xfrm>
          <a:prstGeom prst="line">
            <a:avLst/>
          </a:prstGeom>
          <a:noFill/>
          <a:ln w="11113">
            <a:solidFill>
              <a:srgbClr val="000000"/>
            </a:solidFill>
            <a:miter lim="800000"/>
            <a:headEnd/>
            <a:tailEnd/>
          </a:ln>
        </p:spPr>
        <p:txBody>
          <a:bodyPr/>
          <a:lstStyle/>
          <a:p>
            <a:endParaRPr lang="en-US"/>
          </a:p>
        </p:txBody>
      </p:sp>
      <p:sp>
        <p:nvSpPr>
          <p:cNvPr id="70689" name="Freeform 123"/>
          <p:cNvSpPr>
            <a:spLocks/>
          </p:cNvSpPr>
          <p:nvPr/>
        </p:nvSpPr>
        <p:spPr bwMode="auto">
          <a:xfrm>
            <a:off x="4333875" y="6010275"/>
            <a:ext cx="98425" cy="80963"/>
          </a:xfrm>
          <a:custGeom>
            <a:avLst/>
            <a:gdLst>
              <a:gd name="T0" fmla="*/ 84364 w 21"/>
              <a:gd name="T1" fmla="*/ 40482 h 14"/>
              <a:gd name="T2" fmla="*/ 98425 w 21"/>
              <a:gd name="T3" fmla="*/ 80963 h 14"/>
              <a:gd name="T4" fmla="*/ 98425 w 21"/>
              <a:gd name="T5" fmla="*/ 80963 h 14"/>
              <a:gd name="T6" fmla="*/ 51556 w 21"/>
              <a:gd name="T7" fmla="*/ 57831 h 14"/>
              <a:gd name="T8" fmla="*/ 0 w 21"/>
              <a:gd name="T9" fmla="*/ 40482 h 14"/>
              <a:gd name="T10" fmla="*/ 51556 w 21"/>
              <a:gd name="T11" fmla="*/ 28915 h 14"/>
              <a:gd name="T12" fmla="*/ 98425 w 21"/>
              <a:gd name="T13" fmla="*/ 0 h 14"/>
              <a:gd name="T14" fmla="*/ 98425 w 21"/>
              <a:gd name="T15" fmla="*/ 5783 h 14"/>
              <a:gd name="T16" fmla="*/ 84364 w 21"/>
              <a:gd name="T17" fmla="*/ 40482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4"/>
              <a:gd name="T29" fmla="*/ 21 w 2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4">
                <a:moveTo>
                  <a:pt x="18" y="7"/>
                </a:moveTo>
                <a:cubicBezTo>
                  <a:pt x="21" y="14"/>
                  <a:pt x="21" y="14"/>
                  <a:pt x="21" y="14"/>
                </a:cubicBezTo>
                <a:cubicBezTo>
                  <a:pt x="21" y="14"/>
                  <a:pt x="21" y="14"/>
                  <a:pt x="21" y="14"/>
                </a:cubicBezTo>
                <a:cubicBezTo>
                  <a:pt x="11" y="10"/>
                  <a:pt x="11" y="10"/>
                  <a:pt x="11" y="10"/>
                </a:cubicBezTo>
                <a:cubicBezTo>
                  <a:pt x="7" y="9"/>
                  <a:pt x="3" y="8"/>
                  <a:pt x="0" y="7"/>
                </a:cubicBezTo>
                <a:cubicBezTo>
                  <a:pt x="3" y="6"/>
                  <a:pt x="7" y="5"/>
                  <a:pt x="11" y="5"/>
                </a:cubicBezTo>
                <a:cubicBezTo>
                  <a:pt x="21" y="0"/>
                  <a:pt x="21" y="0"/>
                  <a:pt x="21" y="0"/>
                </a:cubicBezTo>
                <a:cubicBezTo>
                  <a:pt x="21" y="1"/>
                  <a:pt x="21" y="1"/>
                  <a:pt x="21" y="1"/>
                </a:cubicBezTo>
                <a:lnTo>
                  <a:pt x="18" y="7"/>
                </a:lnTo>
                <a:close/>
              </a:path>
            </a:pathLst>
          </a:custGeom>
          <a:solidFill>
            <a:srgbClr val="000000"/>
          </a:solidFill>
          <a:ln w="9525">
            <a:noFill/>
            <a:round/>
            <a:headEnd/>
            <a:tailEnd/>
          </a:ln>
        </p:spPr>
        <p:txBody>
          <a:bodyPr/>
          <a:lstStyle/>
          <a:p>
            <a:endParaRPr lang="en-US"/>
          </a:p>
        </p:txBody>
      </p:sp>
      <p:sp>
        <p:nvSpPr>
          <p:cNvPr id="355465" name="Rectangle 137"/>
          <p:cNvSpPr>
            <a:spLocks noChangeArrowheads="1"/>
          </p:cNvSpPr>
          <p:nvPr/>
        </p:nvSpPr>
        <p:spPr bwMode="auto">
          <a:xfrm>
            <a:off x="1936750" y="3240088"/>
            <a:ext cx="566738"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a:t>
            </a:r>
            <a:r>
              <a:rPr lang="en-US" sz="1400" i="1">
                <a:solidFill>
                  <a:srgbClr val="000000"/>
                </a:solidFill>
                <a:latin typeface="Myriad Roman"/>
              </a:rPr>
              <a:t>T</a:t>
            </a:r>
            <a:endParaRPr lang="en-US" sz="1400" i="1">
              <a:latin typeface="Tahoma" pitchFamily="34" charset="0"/>
            </a:endParaRPr>
          </a:p>
        </p:txBody>
      </p:sp>
      <p:sp>
        <p:nvSpPr>
          <p:cNvPr id="355468" name="Rectangle 140"/>
          <p:cNvSpPr>
            <a:spLocks noChangeArrowheads="1"/>
          </p:cNvSpPr>
          <p:nvPr/>
        </p:nvSpPr>
        <p:spPr bwMode="auto">
          <a:xfrm>
            <a:off x="4818063" y="3606800"/>
            <a:ext cx="1416050"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Deadweight loss is smaller when demand is inelastic</a:t>
            </a:r>
            <a:endParaRPr lang="en-US" sz="1400">
              <a:latin typeface="Tahoma" pitchFamily="34" charset="0"/>
            </a:endParaRPr>
          </a:p>
        </p:txBody>
      </p:sp>
      <p:sp>
        <p:nvSpPr>
          <p:cNvPr id="70692" name="Rectangle 144"/>
          <p:cNvSpPr>
            <a:spLocks noChangeArrowheads="1"/>
          </p:cNvSpPr>
          <p:nvPr/>
        </p:nvSpPr>
        <p:spPr bwMode="auto">
          <a:xfrm>
            <a:off x="2405063" y="1658938"/>
            <a:ext cx="4095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Price</a:t>
            </a:r>
            <a:endParaRPr lang="en-US" sz="1400">
              <a:latin typeface="Tahoma" pitchFamily="34" charset="0"/>
            </a:endParaRPr>
          </a:p>
        </p:txBody>
      </p:sp>
      <p:cxnSp>
        <p:nvCxnSpPr>
          <p:cNvPr id="70693" name="Straight Connector 86"/>
          <p:cNvCxnSpPr>
            <a:cxnSpLocks noChangeShapeType="1"/>
          </p:cNvCxnSpPr>
          <p:nvPr/>
        </p:nvCxnSpPr>
        <p:spPr bwMode="auto">
          <a:xfrm>
            <a:off x="2974975" y="3841750"/>
            <a:ext cx="1511300" cy="1588"/>
          </a:xfrm>
          <a:prstGeom prst="line">
            <a:avLst/>
          </a:prstGeom>
          <a:noFill/>
          <a:ln w="15875">
            <a:solidFill>
              <a:srgbClr val="808080"/>
            </a:solidFill>
            <a:prstDash val="sysDot"/>
            <a:round/>
            <a:headEnd/>
            <a:tailEnd type="none" w="med" len="lg"/>
          </a:ln>
        </p:spPr>
      </p:cxnSp>
      <p:cxnSp>
        <p:nvCxnSpPr>
          <p:cNvPr id="70694" name="Straight Connector 86"/>
          <p:cNvCxnSpPr>
            <a:cxnSpLocks noChangeShapeType="1"/>
          </p:cNvCxnSpPr>
          <p:nvPr/>
        </p:nvCxnSpPr>
        <p:spPr bwMode="auto">
          <a:xfrm>
            <a:off x="2974975" y="2643188"/>
            <a:ext cx="1228725" cy="1587"/>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55358"/>
                                        </p:tgtEl>
                                        <p:attrNameLst>
                                          <p:attrName>style.visibility</p:attrName>
                                        </p:attrNameLst>
                                      </p:cBhvr>
                                      <p:to>
                                        <p:strVal val="visible"/>
                                      </p:to>
                                    </p:set>
                                    <p:animEffect transition="in" filter="plus(in)">
                                      <p:cBhvr>
                                        <p:cTn id="7" dur="1000"/>
                                        <p:tgtEl>
                                          <p:spTgt spid="35535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5411"/>
                                        </p:tgtEl>
                                        <p:attrNameLst>
                                          <p:attrName>style.visibility</p:attrName>
                                        </p:attrNameLst>
                                      </p:cBhvr>
                                      <p:to>
                                        <p:strVal val="visible"/>
                                      </p:to>
                                    </p:set>
                                    <p:animEffect transition="in" filter="wipe(left)">
                                      <p:cBhvr>
                                        <p:cTn id="11" dur="500"/>
                                        <p:tgtEl>
                                          <p:spTgt spid="355411"/>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5465"/>
                                        </p:tgtEl>
                                        <p:attrNameLst>
                                          <p:attrName>style.visibility</p:attrName>
                                        </p:attrNameLst>
                                      </p:cBhvr>
                                      <p:to>
                                        <p:strVal val="visible"/>
                                      </p:to>
                                    </p:set>
                                    <p:animEffect transition="in" filter="wipe(left)">
                                      <p:cBhvr>
                                        <p:cTn id="14" dur="500"/>
                                        <p:tgtEl>
                                          <p:spTgt spid="35546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55365"/>
                                        </p:tgtEl>
                                        <p:attrNameLst>
                                          <p:attrName>style.visibility</p:attrName>
                                        </p:attrNameLst>
                                      </p:cBhvr>
                                      <p:to>
                                        <p:strVal val="visible"/>
                                      </p:to>
                                    </p:set>
                                    <p:animEffect transition="in" filter="plus(in)">
                                      <p:cBhvr>
                                        <p:cTn id="19" dur="1000"/>
                                        <p:tgtEl>
                                          <p:spTgt spid="355365"/>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355378"/>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355468"/>
                                        </p:tgtEl>
                                        <p:attrNameLst>
                                          <p:attrName>style.visibility</p:attrName>
                                        </p:attrNameLst>
                                      </p:cBhvr>
                                      <p:to>
                                        <p:strVal val="visible"/>
                                      </p:to>
                                    </p:set>
                                    <p:animEffect transition="in" filter="wipe(left)">
                                      <p:cBhvr>
                                        <p:cTn id="26" dur="500"/>
                                        <p:tgtEl>
                                          <p:spTgt spid="355468"/>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55412"/>
                                        </p:tgtEl>
                                        <p:attrNameLst>
                                          <p:attrName>style.visibility</p:attrName>
                                        </p:attrNameLst>
                                      </p:cBhvr>
                                      <p:to>
                                        <p:strVal val="visible"/>
                                      </p:to>
                                    </p:set>
                                    <p:animEffect transition="in" filter="wipe(left)">
                                      <p:cBhvr>
                                        <p:cTn id="29" dur="500"/>
                                        <p:tgtEl>
                                          <p:spTgt spid="355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58" grpId="0" animBg="1"/>
      <p:bldP spid="355365" grpId="0" animBg="1"/>
      <p:bldP spid="355378" grpId="0" animBg="1"/>
      <p:bldP spid="355411" grpId="0" animBg="1"/>
      <p:bldP spid="355412" grpId="0" animBg="1"/>
      <p:bldP spid="355465" grpId="0"/>
      <p:bldP spid="35546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Rot="1" noChangeArrowheads="1"/>
          </p:cNvSpPr>
          <p:nvPr>
            <p:ph type="title" idx="4294967295"/>
          </p:nvPr>
        </p:nvSpPr>
        <p:spPr/>
        <p:txBody>
          <a:bodyPr/>
          <a:lstStyle/>
          <a:p>
            <a:pPr>
              <a:defRPr/>
            </a:pPr>
            <a:r>
              <a:rPr lang="en-US" smtClean="0"/>
              <a:t>Deadweight Loss and Elasticities</a:t>
            </a:r>
          </a:p>
        </p:txBody>
      </p:sp>
      <p:sp>
        <p:nvSpPr>
          <p:cNvPr id="357389" name="Freeform 13"/>
          <p:cNvSpPr>
            <a:spLocks/>
          </p:cNvSpPr>
          <p:nvPr/>
        </p:nvSpPr>
        <p:spPr bwMode="auto">
          <a:xfrm>
            <a:off x="4087813" y="2366963"/>
            <a:ext cx="708025" cy="1738312"/>
          </a:xfrm>
          <a:custGeom>
            <a:avLst/>
            <a:gdLst>
              <a:gd name="T0" fmla="*/ 0 w 359"/>
              <a:gd name="T1" fmla="*/ 0 h 655"/>
              <a:gd name="T2" fmla="*/ 0 w 359"/>
              <a:gd name="T3" fmla="*/ 1738312 h 655"/>
              <a:gd name="T4" fmla="*/ 708025 w 359"/>
              <a:gd name="T5" fmla="*/ 1411881 h 655"/>
              <a:gd name="T6" fmla="*/ 0 w 359"/>
              <a:gd name="T7" fmla="*/ 0 h 655"/>
              <a:gd name="T8" fmla="*/ 0 60000 65536"/>
              <a:gd name="T9" fmla="*/ 0 60000 65536"/>
              <a:gd name="T10" fmla="*/ 0 60000 65536"/>
              <a:gd name="T11" fmla="*/ 0 60000 65536"/>
              <a:gd name="T12" fmla="*/ 0 w 359"/>
              <a:gd name="T13" fmla="*/ 0 h 655"/>
              <a:gd name="T14" fmla="*/ 359 w 359"/>
              <a:gd name="T15" fmla="*/ 655 h 655"/>
            </a:gdLst>
            <a:ahLst/>
            <a:cxnLst>
              <a:cxn ang="T8">
                <a:pos x="T0" y="T1"/>
              </a:cxn>
              <a:cxn ang="T9">
                <a:pos x="T2" y="T3"/>
              </a:cxn>
              <a:cxn ang="T10">
                <a:pos x="T4" y="T5"/>
              </a:cxn>
              <a:cxn ang="T11">
                <a:pos x="T6" y="T7"/>
              </a:cxn>
            </a:cxnLst>
            <a:rect l="T12" t="T13" r="T14" b="T15"/>
            <a:pathLst>
              <a:path w="359" h="655">
                <a:moveTo>
                  <a:pt x="0" y="0"/>
                </a:moveTo>
                <a:lnTo>
                  <a:pt x="0" y="655"/>
                </a:lnTo>
                <a:lnTo>
                  <a:pt x="359" y="532"/>
                </a:lnTo>
                <a:lnTo>
                  <a:pt x="0" y="0"/>
                </a:lnTo>
                <a:close/>
              </a:path>
            </a:pathLst>
          </a:custGeom>
          <a:solidFill>
            <a:srgbClr val="FFE5B9"/>
          </a:solidFill>
          <a:ln w="9525">
            <a:noFill/>
            <a:round/>
            <a:headEnd/>
            <a:tailEnd/>
          </a:ln>
        </p:spPr>
        <p:txBody>
          <a:bodyPr/>
          <a:lstStyle/>
          <a:p>
            <a:endParaRPr lang="en-US"/>
          </a:p>
        </p:txBody>
      </p:sp>
      <p:cxnSp>
        <p:nvCxnSpPr>
          <p:cNvPr id="72707" name="Straight Connector 86"/>
          <p:cNvCxnSpPr>
            <a:cxnSpLocks noChangeShapeType="1"/>
          </p:cNvCxnSpPr>
          <p:nvPr/>
        </p:nvCxnSpPr>
        <p:spPr bwMode="auto">
          <a:xfrm>
            <a:off x="3221038" y="3783013"/>
            <a:ext cx="1471612" cy="3175"/>
          </a:xfrm>
          <a:prstGeom prst="line">
            <a:avLst/>
          </a:prstGeom>
          <a:noFill/>
          <a:ln w="15875">
            <a:solidFill>
              <a:srgbClr val="808080"/>
            </a:solidFill>
            <a:prstDash val="sysDot"/>
            <a:round/>
            <a:headEnd/>
            <a:tailEnd type="none" w="med" len="lg"/>
          </a:ln>
        </p:spPr>
      </p:cxnSp>
      <p:cxnSp>
        <p:nvCxnSpPr>
          <p:cNvPr id="72708" name="Straight Connector 86"/>
          <p:cNvCxnSpPr>
            <a:cxnSpLocks noChangeShapeType="1"/>
          </p:cNvCxnSpPr>
          <p:nvPr/>
        </p:nvCxnSpPr>
        <p:spPr bwMode="auto">
          <a:xfrm>
            <a:off x="4787900" y="3813175"/>
            <a:ext cx="0" cy="2165350"/>
          </a:xfrm>
          <a:prstGeom prst="line">
            <a:avLst/>
          </a:prstGeom>
          <a:noFill/>
          <a:ln w="15875">
            <a:solidFill>
              <a:srgbClr val="808080"/>
            </a:solidFill>
            <a:prstDash val="sysDot"/>
            <a:round/>
            <a:headEnd/>
            <a:tailEnd type="none" w="med" len="lg"/>
          </a:ln>
        </p:spPr>
      </p:cxnSp>
      <p:cxnSp>
        <p:nvCxnSpPr>
          <p:cNvPr id="72709" name="Straight Connector 86"/>
          <p:cNvCxnSpPr>
            <a:cxnSpLocks noChangeShapeType="1"/>
          </p:cNvCxnSpPr>
          <p:nvPr/>
        </p:nvCxnSpPr>
        <p:spPr bwMode="auto">
          <a:xfrm>
            <a:off x="4087813" y="2411413"/>
            <a:ext cx="0" cy="3567112"/>
          </a:xfrm>
          <a:prstGeom prst="line">
            <a:avLst/>
          </a:prstGeom>
          <a:noFill/>
          <a:ln w="15875">
            <a:solidFill>
              <a:srgbClr val="808080"/>
            </a:solidFill>
            <a:prstDash val="sysDot"/>
            <a:round/>
            <a:headEnd/>
            <a:tailEnd type="none" w="med" len="lg"/>
          </a:ln>
        </p:spPr>
      </p:cxnSp>
      <p:cxnSp>
        <p:nvCxnSpPr>
          <p:cNvPr id="72710" name="Straight Connector 86"/>
          <p:cNvCxnSpPr>
            <a:cxnSpLocks noChangeShapeType="1"/>
          </p:cNvCxnSpPr>
          <p:nvPr/>
        </p:nvCxnSpPr>
        <p:spPr bwMode="auto">
          <a:xfrm>
            <a:off x="3221038" y="2376488"/>
            <a:ext cx="852487" cy="3175"/>
          </a:xfrm>
          <a:prstGeom prst="line">
            <a:avLst/>
          </a:prstGeom>
          <a:noFill/>
          <a:ln w="15875">
            <a:solidFill>
              <a:srgbClr val="808080"/>
            </a:solidFill>
            <a:prstDash val="sysDot"/>
            <a:round/>
            <a:headEnd/>
            <a:tailEnd type="none" w="med" len="lg"/>
          </a:ln>
        </p:spPr>
      </p:cxnSp>
      <p:sp>
        <p:nvSpPr>
          <p:cNvPr id="72711" name="Rectangle 34"/>
          <p:cNvSpPr>
            <a:spLocks noChangeArrowheads="1"/>
          </p:cNvSpPr>
          <p:nvPr/>
        </p:nvSpPr>
        <p:spPr bwMode="auto">
          <a:xfrm>
            <a:off x="3765550" y="792163"/>
            <a:ext cx="1482725"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Roman"/>
              </a:rPr>
              <a:t>(c) Elastic Supply</a:t>
            </a:r>
            <a:endParaRPr lang="en-US" sz="1400" b="1">
              <a:latin typeface="Tahoma" pitchFamily="34" charset="0"/>
            </a:endParaRPr>
          </a:p>
        </p:txBody>
      </p:sp>
      <p:sp>
        <p:nvSpPr>
          <p:cNvPr id="357425" name="Freeform 49"/>
          <p:cNvSpPr>
            <a:spLocks/>
          </p:cNvSpPr>
          <p:nvPr/>
        </p:nvSpPr>
        <p:spPr bwMode="auto">
          <a:xfrm>
            <a:off x="2741613" y="2405063"/>
            <a:ext cx="117475" cy="1738312"/>
          </a:xfrm>
          <a:custGeom>
            <a:avLst/>
            <a:gdLst>
              <a:gd name="T0" fmla="*/ 117475 w 25"/>
              <a:gd name="T1" fmla="*/ 0 h 277"/>
              <a:gd name="T2" fmla="*/ 46990 w 25"/>
              <a:gd name="T3" fmla="*/ 100408 h 277"/>
              <a:gd name="T4" fmla="*/ 46990 w 25"/>
              <a:gd name="T5" fmla="*/ 803263 h 277"/>
              <a:gd name="T6" fmla="*/ 0 w 25"/>
              <a:gd name="T7" fmla="*/ 866018 h 277"/>
              <a:gd name="T8" fmla="*/ 46990 w 25"/>
              <a:gd name="T9" fmla="*/ 935049 h 277"/>
              <a:gd name="T10" fmla="*/ 46990 w 25"/>
              <a:gd name="T11" fmla="*/ 1637904 h 277"/>
              <a:gd name="T12" fmla="*/ 117475 w 25"/>
              <a:gd name="T13" fmla="*/ 1738312 h 277"/>
              <a:gd name="T14" fmla="*/ 0 60000 65536"/>
              <a:gd name="T15" fmla="*/ 0 60000 65536"/>
              <a:gd name="T16" fmla="*/ 0 60000 65536"/>
              <a:gd name="T17" fmla="*/ 0 60000 65536"/>
              <a:gd name="T18" fmla="*/ 0 60000 65536"/>
              <a:gd name="T19" fmla="*/ 0 60000 65536"/>
              <a:gd name="T20" fmla="*/ 0 60000 65536"/>
              <a:gd name="T21" fmla="*/ 0 w 25"/>
              <a:gd name="T22" fmla="*/ 0 h 277"/>
              <a:gd name="T23" fmla="*/ 25 w 25"/>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77">
                <a:moveTo>
                  <a:pt x="25" y="0"/>
                </a:moveTo>
                <a:cubicBezTo>
                  <a:pt x="15" y="0"/>
                  <a:pt x="10" y="2"/>
                  <a:pt x="10" y="16"/>
                </a:cubicBezTo>
                <a:cubicBezTo>
                  <a:pt x="10" y="18"/>
                  <a:pt x="10" y="125"/>
                  <a:pt x="10" y="128"/>
                </a:cubicBezTo>
                <a:cubicBezTo>
                  <a:pt x="10" y="131"/>
                  <a:pt x="7" y="138"/>
                  <a:pt x="0" y="138"/>
                </a:cubicBezTo>
                <a:cubicBezTo>
                  <a:pt x="7" y="138"/>
                  <a:pt x="10" y="145"/>
                  <a:pt x="10" y="149"/>
                </a:cubicBezTo>
                <a:cubicBezTo>
                  <a:pt x="10" y="151"/>
                  <a:pt x="10" y="258"/>
                  <a:pt x="10" y="261"/>
                </a:cubicBezTo>
                <a:cubicBezTo>
                  <a:pt x="10" y="274"/>
                  <a:pt x="15" y="277"/>
                  <a:pt x="25" y="277"/>
                </a:cubicBezTo>
              </a:path>
            </a:pathLst>
          </a:custGeom>
          <a:noFill/>
          <a:ln w="22225" cap="flat">
            <a:solidFill>
              <a:srgbClr val="6D6F71"/>
            </a:solidFill>
            <a:prstDash val="solid"/>
            <a:round/>
            <a:headEnd/>
            <a:tailEnd/>
          </a:ln>
        </p:spPr>
        <p:txBody>
          <a:bodyPr/>
          <a:lstStyle/>
          <a:p>
            <a:endParaRPr lang="en-US"/>
          </a:p>
        </p:txBody>
      </p:sp>
      <p:sp>
        <p:nvSpPr>
          <p:cNvPr id="72713" name="Rectangle 54"/>
          <p:cNvSpPr>
            <a:spLocks noChangeArrowheads="1"/>
          </p:cNvSpPr>
          <p:nvPr/>
        </p:nvSpPr>
        <p:spPr bwMode="auto">
          <a:xfrm>
            <a:off x="6021388" y="6107113"/>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72714" name="Rectangle 55"/>
          <p:cNvSpPr>
            <a:spLocks noChangeArrowheads="1"/>
          </p:cNvSpPr>
          <p:nvPr/>
        </p:nvSpPr>
        <p:spPr bwMode="auto">
          <a:xfrm>
            <a:off x="2654300" y="1344613"/>
            <a:ext cx="40798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Price</a:t>
            </a:r>
            <a:endParaRPr lang="en-US" sz="1400">
              <a:latin typeface="Tahoma" pitchFamily="34" charset="0"/>
            </a:endParaRPr>
          </a:p>
        </p:txBody>
      </p:sp>
      <p:sp>
        <p:nvSpPr>
          <p:cNvPr id="72715" name="Rectangle 56"/>
          <p:cNvSpPr>
            <a:spLocks noChangeArrowheads="1"/>
          </p:cNvSpPr>
          <p:nvPr/>
        </p:nvSpPr>
        <p:spPr bwMode="auto">
          <a:xfrm>
            <a:off x="5738813" y="56705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72716" name="Rectangle 57"/>
          <p:cNvSpPr>
            <a:spLocks noChangeArrowheads="1"/>
          </p:cNvSpPr>
          <p:nvPr/>
        </p:nvSpPr>
        <p:spPr bwMode="auto">
          <a:xfrm>
            <a:off x="4935538" y="37147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2717" name="Line 58"/>
          <p:cNvSpPr>
            <a:spLocks noChangeShapeType="1"/>
          </p:cNvSpPr>
          <p:nvPr/>
        </p:nvSpPr>
        <p:spPr bwMode="auto">
          <a:xfrm flipV="1">
            <a:off x="3317875" y="3055938"/>
            <a:ext cx="3025775" cy="1404937"/>
          </a:xfrm>
          <a:prstGeom prst="line">
            <a:avLst/>
          </a:prstGeom>
          <a:noFill/>
          <a:ln w="28575">
            <a:solidFill>
              <a:srgbClr val="EE313C"/>
            </a:solidFill>
            <a:miter lim="800000"/>
            <a:headEnd/>
            <a:tailEnd/>
          </a:ln>
        </p:spPr>
        <p:txBody>
          <a:bodyPr/>
          <a:lstStyle/>
          <a:p>
            <a:endParaRPr lang="en-US"/>
          </a:p>
        </p:txBody>
      </p:sp>
      <p:sp>
        <p:nvSpPr>
          <p:cNvPr id="72718" name="Freeform 59"/>
          <p:cNvSpPr>
            <a:spLocks/>
          </p:cNvSpPr>
          <p:nvPr/>
        </p:nvSpPr>
        <p:spPr bwMode="auto">
          <a:xfrm>
            <a:off x="3206750" y="1439863"/>
            <a:ext cx="3430588" cy="4625975"/>
          </a:xfrm>
          <a:custGeom>
            <a:avLst/>
            <a:gdLst>
              <a:gd name="T0" fmla="*/ 3430588 w 1738"/>
              <a:gd name="T1" fmla="*/ 4625975 h 1743"/>
              <a:gd name="T2" fmla="*/ 0 w 1738"/>
              <a:gd name="T3" fmla="*/ 4625975 h 1743"/>
              <a:gd name="T4" fmla="*/ 0 w 1738"/>
              <a:gd name="T5" fmla="*/ 0 h 1743"/>
              <a:gd name="T6" fmla="*/ 0 60000 65536"/>
              <a:gd name="T7" fmla="*/ 0 60000 65536"/>
              <a:gd name="T8" fmla="*/ 0 60000 65536"/>
              <a:gd name="T9" fmla="*/ 0 w 1738"/>
              <a:gd name="T10" fmla="*/ 0 h 1743"/>
              <a:gd name="T11" fmla="*/ 1738 w 1738"/>
              <a:gd name="T12" fmla="*/ 1743 h 1743"/>
            </a:gdLst>
            <a:ahLst/>
            <a:cxnLst>
              <a:cxn ang="T6">
                <a:pos x="T0" y="T1"/>
              </a:cxn>
              <a:cxn ang="T7">
                <a:pos x="T2" y="T3"/>
              </a:cxn>
              <a:cxn ang="T8">
                <a:pos x="T4" y="T5"/>
              </a:cxn>
            </a:cxnLst>
            <a:rect l="T9" t="T10" r="T11" b="T12"/>
            <a:pathLst>
              <a:path w="1738" h="1743">
                <a:moveTo>
                  <a:pt x="1738" y="1743"/>
                </a:moveTo>
                <a:lnTo>
                  <a:pt x="0" y="1743"/>
                </a:lnTo>
                <a:lnTo>
                  <a:pt x="0" y="0"/>
                </a:lnTo>
              </a:path>
            </a:pathLst>
          </a:custGeom>
          <a:noFill/>
          <a:ln w="6350" cap="flat">
            <a:solidFill>
              <a:srgbClr val="000000"/>
            </a:solidFill>
            <a:prstDash val="solid"/>
            <a:miter lim="800000"/>
            <a:headEnd/>
            <a:tailEnd/>
          </a:ln>
        </p:spPr>
        <p:txBody>
          <a:bodyPr/>
          <a:lstStyle/>
          <a:p>
            <a:endParaRPr lang="en-US"/>
          </a:p>
        </p:txBody>
      </p:sp>
      <p:sp>
        <p:nvSpPr>
          <p:cNvPr id="72719" name="Rectangle 61"/>
          <p:cNvSpPr>
            <a:spLocks noChangeArrowheads="1"/>
          </p:cNvSpPr>
          <p:nvPr/>
        </p:nvSpPr>
        <p:spPr bwMode="auto">
          <a:xfrm>
            <a:off x="6384925" y="28781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72720" name="Line 62"/>
          <p:cNvSpPr>
            <a:spLocks noChangeShapeType="1"/>
          </p:cNvSpPr>
          <p:nvPr/>
        </p:nvSpPr>
        <p:spPr bwMode="auto">
          <a:xfrm>
            <a:off x="3733800" y="1666875"/>
            <a:ext cx="2017713" cy="4016375"/>
          </a:xfrm>
          <a:prstGeom prst="line">
            <a:avLst/>
          </a:prstGeom>
          <a:noFill/>
          <a:ln w="28575">
            <a:solidFill>
              <a:srgbClr val="3C5DAA"/>
            </a:solidFill>
            <a:miter lim="800000"/>
            <a:headEnd/>
            <a:tailEnd/>
          </a:ln>
        </p:spPr>
        <p:txBody>
          <a:bodyPr/>
          <a:lstStyle/>
          <a:p>
            <a:endParaRPr lang="en-US"/>
          </a:p>
        </p:txBody>
      </p:sp>
      <p:sp>
        <p:nvSpPr>
          <p:cNvPr id="72721" name="Oval 63"/>
          <p:cNvSpPr>
            <a:spLocks noChangeArrowheads="1"/>
          </p:cNvSpPr>
          <p:nvPr/>
        </p:nvSpPr>
        <p:spPr bwMode="auto">
          <a:xfrm>
            <a:off x="4749800" y="3714750"/>
            <a:ext cx="93663" cy="123825"/>
          </a:xfrm>
          <a:prstGeom prst="ellipse">
            <a:avLst/>
          </a:prstGeom>
          <a:solidFill>
            <a:srgbClr val="000000"/>
          </a:solidFill>
          <a:ln w="9525">
            <a:noFill/>
            <a:round/>
            <a:headEnd/>
            <a:tailEnd/>
          </a:ln>
        </p:spPr>
        <p:txBody>
          <a:bodyPr/>
          <a:lstStyle/>
          <a:p>
            <a:endParaRPr lang="en-US"/>
          </a:p>
        </p:txBody>
      </p:sp>
      <p:sp>
        <p:nvSpPr>
          <p:cNvPr id="72722" name="Oval 64"/>
          <p:cNvSpPr>
            <a:spLocks noChangeArrowheads="1"/>
          </p:cNvSpPr>
          <p:nvPr/>
        </p:nvSpPr>
        <p:spPr bwMode="auto">
          <a:xfrm>
            <a:off x="4040188" y="4040188"/>
            <a:ext cx="93662" cy="125412"/>
          </a:xfrm>
          <a:prstGeom prst="ellipse">
            <a:avLst/>
          </a:prstGeom>
          <a:solidFill>
            <a:srgbClr val="000000"/>
          </a:solidFill>
          <a:ln w="9525">
            <a:noFill/>
            <a:round/>
            <a:headEnd/>
            <a:tailEnd/>
          </a:ln>
        </p:spPr>
        <p:txBody>
          <a:bodyPr/>
          <a:lstStyle/>
          <a:p>
            <a:endParaRPr lang="en-US"/>
          </a:p>
        </p:txBody>
      </p:sp>
      <p:sp>
        <p:nvSpPr>
          <p:cNvPr id="72723" name="Oval 65"/>
          <p:cNvSpPr>
            <a:spLocks noChangeArrowheads="1"/>
          </p:cNvSpPr>
          <p:nvPr/>
        </p:nvSpPr>
        <p:spPr bwMode="auto">
          <a:xfrm>
            <a:off x="4040188" y="2305050"/>
            <a:ext cx="93662" cy="125413"/>
          </a:xfrm>
          <a:prstGeom prst="ellipse">
            <a:avLst/>
          </a:prstGeom>
          <a:solidFill>
            <a:srgbClr val="000000"/>
          </a:solidFill>
          <a:ln w="9525">
            <a:noFill/>
            <a:round/>
            <a:headEnd/>
            <a:tailEnd/>
          </a:ln>
        </p:spPr>
        <p:txBody>
          <a:bodyPr/>
          <a:lstStyle/>
          <a:p>
            <a:endParaRPr lang="en-US"/>
          </a:p>
        </p:txBody>
      </p:sp>
      <p:sp>
        <p:nvSpPr>
          <p:cNvPr id="357442" name="Line 66"/>
          <p:cNvSpPr>
            <a:spLocks noChangeShapeType="1"/>
          </p:cNvSpPr>
          <p:nvPr/>
        </p:nvSpPr>
        <p:spPr bwMode="auto">
          <a:xfrm flipH="1">
            <a:off x="4244975" y="2481263"/>
            <a:ext cx="577850" cy="965200"/>
          </a:xfrm>
          <a:prstGeom prst="line">
            <a:avLst/>
          </a:prstGeom>
          <a:noFill/>
          <a:ln w="6350">
            <a:solidFill>
              <a:srgbClr val="000000"/>
            </a:solidFill>
            <a:miter lim="800000"/>
            <a:headEnd/>
            <a:tailEnd/>
          </a:ln>
        </p:spPr>
        <p:txBody>
          <a:bodyPr/>
          <a:lstStyle/>
          <a:p>
            <a:endParaRPr lang="en-US"/>
          </a:p>
        </p:txBody>
      </p:sp>
      <p:sp>
        <p:nvSpPr>
          <p:cNvPr id="357443" name="Freeform 67"/>
          <p:cNvSpPr>
            <a:spLocks/>
          </p:cNvSpPr>
          <p:nvPr/>
        </p:nvSpPr>
        <p:spPr bwMode="auto">
          <a:xfrm>
            <a:off x="4727575" y="1758950"/>
            <a:ext cx="1338263" cy="1039813"/>
          </a:xfrm>
          <a:custGeom>
            <a:avLst/>
            <a:gdLst>
              <a:gd name="T0" fmla="*/ 1338263 w 287"/>
              <a:gd name="T1" fmla="*/ 915656 h 134"/>
              <a:gd name="T2" fmla="*/ 1263656 w 287"/>
              <a:gd name="T3" fmla="*/ 1039813 h 134"/>
              <a:gd name="T4" fmla="*/ 74607 w 287"/>
              <a:gd name="T5" fmla="*/ 1039813 h 134"/>
              <a:gd name="T6" fmla="*/ 0 w 287"/>
              <a:gd name="T7" fmla="*/ 915656 h 134"/>
              <a:gd name="T8" fmla="*/ 0 w 287"/>
              <a:gd name="T9" fmla="*/ 124157 h 134"/>
              <a:gd name="T10" fmla="*/ 74607 w 287"/>
              <a:gd name="T11" fmla="*/ 0 h 134"/>
              <a:gd name="T12" fmla="*/ 1263656 w 287"/>
              <a:gd name="T13" fmla="*/ 0 h 134"/>
              <a:gd name="T14" fmla="*/ 1338263 w 287"/>
              <a:gd name="T15" fmla="*/ 124157 h 134"/>
              <a:gd name="T16" fmla="*/ 1338263 w 287"/>
              <a:gd name="T17" fmla="*/ 915656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7"/>
              <a:gd name="T28" fmla="*/ 0 h 134"/>
              <a:gd name="T29" fmla="*/ 287 w 287"/>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7" h="134">
                <a:moveTo>
                  <a:pt x="287" y="118"/>
                </a:moveTo>
                <a:cubicBezTo>
                  <a:pt x="287" y="127"/>
                  <a:pt x="280" y="134"/>
                  <a:pt x="271" y="134"/>
                </a:cubicBezTo>
                <a:cubicBezTo>
                  <a:pt x="16" y="134"/>
                  <a:pt x="16" y="134"/>
                  <a:pt x="16" y="134"/>
                </a:cubicBezTo>
                <a:cubicBezTo>
                  <a:pt x="7" y="134"/>
                  <a:pt x="0" y="127"/>
                  <a:pt x="0" y="118"/>
                </a:cubicBezTo>
                <a:cubicBezTo>
                  <a:pt x="0" y="16"/>
                  <a:pt x="0" y="16"/>
                  <a:pt x="0" y="16"/>
                </a:cubicBezTo>
                <a:cubicBezTo>
                  <a:pt x="0" y="8"/>
                  <a:pt x="7" y="0"/>
                  <a:pt x="16" y="0"/>
                </a:cubicBezTo>
                <a:cubicBezTo>
                  <a:pt x="271" y="0"/>
                  <a:pt x="271" y="0"/>
                  <a:pt x="271" y="0"/>
                </a:cubicBezTo>
                <a:cubicBezTo>
                  <a:pt x="280" y="0"/>
                  <a:pt x="287" y="8"/>
                  <a:pt x="287" y="16"/>
                </a:cubicBezTo>
                <a:lnTo>
                  <a:pt x="287" y="118"/>
                </a:lnTo>
                <a:close/>
              </a:path>
            </a:pathLst>
          </a:custGeom>
          <a:solidFill>
            <a:srgbClr val="D6E2E0"/>
          </a:solidFill>
          <a:ln w="9525">
            <a:noFill/>
            <a:round/>
            <a:headEnd/>
            <a:tailEnd/>
          </a:ln>
        </p:spPr>
        <p:txBody>
          <a:bodyPr/>
          <a:lstStyle/>
          <a:p>
            <a:endParaRPr lang="en-US"/>
          </a:p>
        </p:txBody>
      </p:sp>
      <p:sp>
        <p:nvSpPr>
          <p:cNvPr id="357457" name="Freeform 81"/>
          <p:cNvSpPr>
            <a:spLocks/>
          </p:cNvSpPr>
          <p:nvPr/>
        </p:nvSpPr>
        <p:spPr bwMode="auto">
          <a:xfrm>
            <a:off x="1979613" y="3008313"/>
            <a:ext cx="596900" cy="530225"/>
          </a:xfrm>
          <a:custGeom>
            <a:avLst/>
            <a:gdLst>
              <a:gd name="T0" fmla="*/ 596900 w 128"/>
              <a:gd name="T1" fmla="*/ 441854 h 96"/>
              <a:gd name="T2" fmla="*/ 522287 w 128"/>
              <a:gd name="T3" fmla="*/ 530225 h 96"/>
              <a:gd name="T4" fmla="*/ 74613 w 128"/>
              <a:gd name="T5" fmla="*/ 530225 h 96"/>
              <a:gd name="T6" fmla="*/ 0 w 128"/>
              <a:gd name="T7" fmla="*/ 441854 h 96"/>
              <a:gd name="T8" fmla="*/ 0 w 128"/>
              <a:gd name="T9" fmla="*/ 88371 h 96"/>
              <a:gd name="T10" fmla="*/ 74613 w 128"/>
              <a:gd name="T11" fmla="*/ 0 h 96"/>
              <a:gd name="T12" fmla="*/ 522287 w 128"/>
              <a:gd name="T13" fmla="*/ 0 h 96"/>
              <a:gd name="T14" fmla="*/ 596900 w 128"/>
              <a:gd name="T15" fmla="*/ 88371 h 96"/>
              <a:gd name="T16" fmla="*/ 596900 w 128"/>
              <a:gd name="T17" fmla="*/ 441854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96"/>
              <a:gd name="T29" fmla="*/ 128 w 128"/>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8" h="96">
                <a:moveTo>
                  <a:pt x="128" y="80"/>
                </a:moveTo>
                <a:cubicBezTo>
                  <a:pt x="128" y="89"/>
                  <a:pt x="120" y="96"/>
                  <a:pt x="112" y="96"/>
                </a:cubicBezTo>
                <a:cubicBezTo>
                  <a:pt x="16" y="96"/>
                  <a:pt x="16" y="96"/>
                  <a:pt x="16" y="96"/>
                </a:cubicBezTo>
                <a:cubicBezTo>
                  <a:pt x="8" y="96"/>
                  <a:pt x="0" y="89"/>
                  <a:pt x="0" y="80"/>
                </a:cubicBezTo>
                <a:cubicBezTo>
                  <a:pt x="0" y="16"/>
                  <a:pt x="0" y="16"/>
                  <a:pt x="0" y="16"/>
                </a:cubicBezTo>
                <a:cubicBezTo>
                  <a:pt x="0" y="7"/>
                  <a:pt x="8" y="0"/>
                  <a:pt x="16" y="0"/>
                </a:cubicBezTo>
                <a:cubicBezTo>
                  <a:pt x="112" y="0"/>
                  <a:pt x="112" y="0"/>
                  <a:pt x="112" y="0"/>
                </a:cubicBezTo>
                <a:cubicBezTo>
                  <a:pt x="120" y="0"/>
                  <a:pt x="128" y="7"/>
                  <a:pt x="128" y="16"/>
                </a:cubicBezTo>
                <a:lnTo>
                  <a:pt x="128" y="80"/>
                </a:lnTo>
                <a:close/>
              </a:path>
            </a:pathLst>
          </a:custGeom>
          <a:solidFill>
            <a:srgbClr val="D6E2E0"/>
          </a:solidFill>
          <a:ln w="9525">
            <a:noFill/>
            <a:round/>
            <a:headEnd/>
            <a:tailEnd/>
          </a:ln>
        </p:spPr>
        <p:txBody>
          <a:bodyPr/>
          <a:lstStyle/>
          <a:p>
            <a:endParaRPr lang="en-US"/>
          </a:p>
        </p:txBody>
      </p:sp>
      <p:sp>
        <p:nvSpPr>
          <p:cNvPr id="72727" name="Line 85"/>
          <p:cNvSpPr>
            <a:spLocks noChangeShapeType="1"/>
          </p:cNvSpPr>
          <p:nvPr/>
        </p:nvSpPr>
        <p:spPr bwMode="auto">
          <a:xfrm>
            <a:off x="4087813" y="2466975"/>
            <a:ext cx="0" cy="0"/>
          </a:xfrm>
          <a:prstGeom prst="line">
            <a:avLst/>
          </a:prstGeom>
          <a:noFill/>
          <a:ln w="9525">
            <a:noFill/>
            <a:round/>
            <a:headEnd/>
            <a:tailEnd/>
          </a:ln>
        </p:spPr>
        <p:txBody>
          <a:bodyPr/>
          <a:lstStyle/>
          <a:p>
            <a:endParaRPr lang="en-US"/>
          </a:p>
        </p:txBody>
      </p:sp>
      <p:sp>
        <p:nvSpPr>
          <p:cNvPr id="72728" name="Line 86"/>
          <p:cNvSpPr>
            <a:spLocks noChangeShapeType="1"/>
          </p:cNvSpPr>
          <p:nvPr/>
        </p:nvSpPr>
        <p:spPr bwMode="auto">
          <a:xfrm>
            <a:off x="4087813" y="2466975"/>
            <a:ext cx="0" cy="0"/>
          </a:xfrm>
          <a:prstGeom prst="line">
            <a:avLst/>
          </a:prstGeom>
          <a:noFill/>
          <a:ln w="9525">
            <a:noFill/>
            <a:round/>
            <a:headEnd/>
            <a:tailEnd/>
          </a:ln>
        </p:spPr>
        <p:txBody>
          <a:bodyPr/>
          <a:lstStyle/>
          <a:p>
            <a:endParaRPr lang="en-US"/>
          </a:p>
        </p:txBody>
      </p:sp>
      <p:sp>
        <p:nvSpPr>
          <p:cNvPr id="72729" name="Rectangle 102"/>
          <p:cNvSpPr>
            <a:spLocks noChangeArrowheads="1"/>
          </p:cNvSpPr>
          <p:nvPr/>
        </p:nvSpPr>
        <p:spPr bwMode="auto">
          <a:xfrm>
            <a:off x="2987675" y="36322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2730" name="Rectangle 103"/>
          <p:cNvSpPr>
            <a:spLocks noChangeArrowheads="1"/>
          </p:cNvSpPr>
          <p:nvPr/>
        </p:nvSpPr>
        <p:spPr bwMode="auto">
          <a:xfrm>
            <a:off x="3086100" y="37703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2731" name="Rectangle 104"/>
          <p:cNvSpPr>
            <a:spLocks noChangeArrowheads="1"/>
          </p:cNvSpPr>
          <p:nvPr/>
        </p:nvSpPr>
        <p:spPr bwMode="auto">
          <a:xfrm>
            <a:off x="2978150" y="22177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2732" name="Rectangle 105"/>
          <p:cNvSpPr>
            <a:spLocks noChangeArrowheads="1"/>
          </p:cNvSpPr>
          <p:nvPr/>
        </p:nvSpPr>
        <p:spPr bwMode="auto">
          <a:xfrm>
            <a:off x="3076575" y="23558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72733" name="Rectangle 106"/>
          <p:cNvSpPr>
            <a:spLocks noChangeArrowheads="1"/>
          </p:cNvSpPr>
          <p:nvPr/>
        </p:nvSpPr>
        <p:spPr bwMode="auto">
          <a:xfrm>
            <a:off x="2982913" y="39449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2734" name="Rectangle 107"/>
          <p:cNvSpPr>
            <a:spLocks noChangeArrowheads="1"/>
          </p:cNvSpPr>
          <p:nvPr/>
        </p:nvSpPr>
        <p:spPr bwMode="auto">
          <a:xfrm>
            <a:off x="3082925" y="40830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2735" name="Rectangle 124"/>
          <p:cNvSpPr>
            <a:spLocks noChangeArrowheads="1"/>
          </p:cNvSpPr>
          <p:nvPr/>
        </p:nvSpPr>
        <p:spPr bwMode="auto">
          <a:xfrm>
            <a:off x="4722813" y="6099175"/>
            <a:ext cx="139700"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Q</a:t>
            </a:r>
            <a:endParaRPr lang="en-US" sz="1400">
              <a:latin typeface="Tahoma" pitchFamily="34" charset="0"/>
            </a:endParaRPr>
          </a:p>
        </p:txBody>
      </p:sp>
      <p:sp>
        <p:nvSpPr>
          <p:cNvPr id="72736" name="Rectangle 125"/>
          <p:cNvSpPr>
            <a:spLocks noChangeArrowheads="1"/>
          </p:cNvSpPr>
          <p:nvPr/>
        </p:nvSpPr>
        <p:spPr bwMode="auto">
          <a:xfrm>
            <a:off x="4851400" y="62404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2737" name="Rectangle 128"/>
          <p:cNvSpPr>
            <a:spLocks noChangeArrowheads="1"/>
          </p:cNvSpPr>
          <p:nvPr/>
        </p:nvSpPr>
        <p:spPr bwMode="auto">
          <a:xfrm>
            <a:off x="4010025" y="60991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72738" name="Rectangle 129"/>
          <p:cNvSpPr>
            <a:spLocks noChangeArrowheads="1"/>
          </p:cNvSpPr>
          <p:nvPr/>
        </p:nvSpPr>
        <p:spPr bwMode="auto">
          <a:xfrm>
            <a:off x="4138613" y="6240463"/>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T</a:t>
            </a:r>
            <a:endParaRPr lang="en-US" sz="1400" i="1">
              <a:latin typeface="Tahoma" pitchFamily="34" charset="0"/>
            </a:endParaRPr>
          </a:p>
        </p:txBody>
      </p:sp>
      <p:sp>
        <p:nvSpPr>
          <p:cNvPr id="72739" name="Line 132"/>
          <p:cNvSpPr>
            <a:spLocks noChangeShapeType="1"/>
          </p:cNvSpPr>
          <p:nvPr/>
        </p:nvSpPr>
        <p:spPr bwMode="auto">
          <a:xfrm flipH="1">
            <a:off x="4310063" y="6259513"/>
            <a:ext cx="393700" cy="0"/>
          </a:xfrm>
          <a:prstGeom prst="line">
            <a:avLst/>
          </a:prstGeom>
          <a:noFill/>
          <a:ln w="11113">
            <a:solidFill>
              <a:srgbClr val="000000"/>
            </a:solidFill>
            <a:miter lim="800000"/>
            <a:headEnd/>
            <a:tailEnd/>
          </a:ln>
        </p:spPr>
        <p:txBody>
          <a:bodyPr/>
          <a:lstStyle/>
          <a:p>
            <a:endParaRPr lang="en-US"/>
          </a:p>
        </p:txBody>
      </p:sp>
      <p:sp>
        <p:nvSpPr>
          <p:cNvPr id="72740" name="Freeform 133"/>
          <p:cNvSpPr>
            <a:spLocks/>
          </p:cNvSpPr>
          <p:nvPr/>
        </p:nvSpPr>
        <p:spPr bwMode="auto">
          <a:xfrm>
            <a:off x="4237038" y="6216650"/>
            <a:ext cx="103187" cy="79375"/>
          </a:xfrm>
          <a:custGeom>
            <a:avLst/>
            <a:gdLst>
              <a:gd name="T0" fmla="*/ 84426 w 22"/>
              <a:gd name="T1" fmla="*/ 42740 h 13"/>
              <a:gd name="T2" fmla="*/ 103187 w 22"/>
              <a:gd name="T3" fmla="*/ 79375 h 13"/>
              <a:gd name="T4" fmla="*/ 98497 w 22"/>
              <a:gd name="T5" fmla="*/ 79375 h 13"/>
              <a:gd name="T6" fmla="*/ 51594 w 22"/>
              <a:gd name="T7" fmla="*/ 54952 h 13"/>
              <a:gd name="T8" fmla="*/ 0 w 22"/>
              <a:gd name="T9" fmla="*/ 42740 h 13"/>
              <a:gd name="T10" fmla="*/ 51594 w 22"/>
              <a:gd name="T11" fmla="*/ 24423 h 13"/>
              <a:gd name="T12" fmla="*/ 98497 w 22"/>
              <a:gd name="T13" fmla="*/ 0 h 13"/>
              <a:gd name="T14" fmla="*/ 103187 w 22"/>
              <a:gd name="T15" fmla="*/ 0 h 13"/>
              <a:gd name="T16" fmla="*/ 84426 w 22"/>
              <a:gd name="T17" fmla="*/ 4274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18" y="7"/>
                </a:moveTo>
                <a:cubicBezTo>
                  <a:pt x="22" y="13"/>
                  <a:pt x="22" y="13"/>
                  <a:pt x="22" y="13"/>
                </a:cubicBezTo>
                <a:cubicBezTo>
                  <a:pt x="21" y="13"/>
                  <a:pt x="21" y="13"/>
                  <a:pt x="21" y="13"/>
                </a:cubicBezTo>
                <a:cubicBezTo>
                  <a:pt x="11" y="9"/>
                  <a:pt x="11" y="9"/>
                  <a:pt x="11" y="9"/>
                </a:cubicBezTo>
                <a:cubicBezTo>
                  <a:pt x="7" y="8"/>
                  <a:pt x="4" y="7"/>
                  <a:pt x="0" y="7"/>
                </a:cubicBezTo>
                <a:cubicBezTo>
                  <a:pt x="4" y="6"/>
                  <a:pt x="7" y="5"/>
                  <a:pt x="11" y="4"/>
                </a:cubicBezTo>
                <a:cubicBezTo>
                  <a:pt x="21" y="0"/>
                  <a:pt x="21" y="0"/>
                  <a:pt x="21" y="0"/>
                </a:cubicBezTo>
                <a:cubicBezTo>
                  <a:pt x="22" y="0"/>
                  <a:pt x="22" y="0"/>
                  <a:pt x="22" y="0"/>
                </a:cubicBezTo>
                <a:lnTo>
                  <a:pt x="18" y="7"/>
                </a:lnTo>
                <a:close/>
              </a:path>
            </a:pathLst>
          </a:custGeom>
          <a:solidFill>
            <a:srgbClr val="000000"/>
          </a:solidFill>
          <a:ln w="9525">
            <a:noFill/>
            <a:round/>
            <a:headEnd/>
            <a:tailEnd/>
          </a:ln>
        </p:spPr>
        <p:txBody>
          <a:bodyPr/>
          <a:lstStyle/>
          <a:p>
            <a:endParaRPr lang="en-US"/>
          </a:p>
        </p:txBody>
      </p:sp>
      <p:sp>
        <p:nvSpPr>
          <p:cNvPr id="357514" name="Rectangle 138"/>
          <p:cNvSpPr>
            <a:spLocks noChangeArrowheads="1"/>
          </p:cNvSpPr>
          <p:nvPr/>
        </p:nvSpPr>
        <p:spPr bwMode="auto">
          <a:xfrm>
            <a:off x="1979613" y="3049588"/>
            <a:ext cx="5683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a:t>
            </a:r>
            <a:r>
              <a:rPr lang="en-US" sz="1400" i="1">
                <a:solidFill>
                  <a:srgbClr val="000000"/>
                </a:solidFill>
                <a:latin typeface="Myriad Roman"/>
              </a:rPr>
              <a:t>T</a:t>
            </a:r>
            <a:endParaRPr lang="en-US" sz="1400" i="1">
              <a:latin typeface="Tahoma" pitchFamily="34" charset="0"/>
            </a:endParaRPr>
          </a:p>
        </p:txBody>
      </p:sp>
      <p:sp>
        <p:nvSpPr>
          <p:cNvPr id="357518" name="Rectangle 142"/>
          <p:cNvSpPr>
            <a:spLocks noChangeArrowheads="1"/>
          </p:cNvSpPr>
          <p:nvPr/>
        </p:nvSpPr>
        <p:spPr bwMode="auto">
          <a:xfrm>
            <a:off x="4768850" y="1846263"/>
            <a:ext cx="1231900" cy="8620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Deadweight loss is larger when supply is elastic</a:t>
            </a:r>
            <a:endParaRPr lang="en-US" sz="1400">
              <a:latin typeface="Tahoma" pitchFamily="34" charset="0"/>
            </a:endParaRPr>
          </a:p>
        </p:txBody>
      </p:sp>
      <p:cxnSp>
        <p:nvCxnSpPr>
          <p:cNvPr id="72743" name="Straight Connector 86"/>
          <p:cNvCxnSpPr>
            <a:cxnSpLocks noChangeShapeType="1"/>
          </p:cNvCxnSpPr>
          <p:nvPr/>
        </p:nvCxnSpPr>
        <p:spPr bwMode="auto">
          <a:xfrm>
            <a:off x="3221038" y="4105275"/>
            <a:ext cx="852487" cy="1588"/>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57425"/>
                                        </p:tgtEl>
                                        <p:attrNameLst>
                                          <p:attrName>style.visibility</p:attrName>
                                        </p:attrNameLst>
                                      </p:cBhvr>
                                      <p:to>
                                        <p:strVal val="visible"/>
                                      </p:to>
                                    </p:set>
                                    <p:animEffect transition="in" filter="plus(in)">
                                      <p:cBhvr>
                                        <p:cTn id="7" dur="1000"/>
                                        <p:tgtEl>
                                          <p:spTgt spid="35742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7457"/>
                                        </p:tgtEl>
                                        <p:attrNameLst>
                                          <p:attrName>style.visibility</p:attrName>
                                        </p:attrNameLst>
                                      </p:cBhvr>
                                      <p:to>
                                        <p:strVal val="visible"/>
                                      </p:to>
                                    </p:set>
                                    <p:animEffect transition="in" filter="wipe(left)">
                                      <p:cBhvr>
                                        <p:cTn id="11" dur="500"/>
                                        <p:tgtEl>
                                          <p:spTgt spid="35745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7514"/>
                                        </p:tgtEl>
                                        <p:attrNameLst>
                                          <p:attrName>style.visibility</p:attrName>
                                        </p:attrNameLst>
                                      </p:cBhvr>
                                      <p:to>
                                        <p:strVal val="visible"/>
                                      </p:to>
                                    </p:set>
                                    <p:animEffect transition="in" filter="wipe(left)">
                                      <p:cBhvr>
                                        <p:cTn id="14" dur="500"/>
                                        <p:tgtEl>
                                          <p:spTgt spid="357514"/>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57389"/>
                                        </p:tgtEl>
                                        <p:attrNameLst>
                                          <p:attrName>style.visibility</p:attrName>
                                        </p:attrNameLst>
                                      </p:cBhvr>
                                      <p:to>
                                        <p:strVal val="visible"/>
                                      </p:to>
                                    </p:set>
                                    <p:animEffect transition="in" filter="plus(in)">
                                      <p:cBhvr>
                                        <p:cTn id="19" dur="1000"/>
                                        <p:tgtEl>
                                          <p:spTgt spid="35738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357442"/>
                                        </p:tgtEl>
                                        <p:attrNameLst>
                                          <p:attrName>style.visibility</p:attrName>
                                        </p:attrNameLst>
                                      </p:cBhvr>
                                      <p:to>
                                        <p:strVal val="visible"/>
                                      </p:to>
                                    </p:set>
                                  </p:childTnLst>
                                </p:cTn>
                              </p:par>
                              <p:par>
                                <p:cTn id="23" presetID="22" presetClass="entr" presetSubtype="8" fill="hold" grpId="0" nodeType="withEffect">
                                  <p:stCondLst>
                                    <p:cond delay="0"/>
                                  </p:stCondLst>
                                  <p:childTnLst>
                                    <p:set>
                                      <p:cBhvr>
                                        <p:cTn id="24" dur="1" fill="hold">
                                          <p:stCondLst>
                                            <p:cond delay="0"/>
                                          </p:stCondLst>
                                        </p:cTn>
                                        <p:tgtEl>
                                          <p:spTgt spid="357443"/>
                                        </p:tgtEl>
                                        <p:attrNameLst>
                                          <p:attrName>style.visibility</p:attrName>
                                        </p:attrNameLst>
                                      </p:cBhvr>
                                      <p:to>
                                        <p:strVal val="visible"/>
                                      </p:to>
                                    </p:set>
                                    <p:animEffect transition="in" filter="wipe(left)">
                                      <p:cBhvr>
                                        <p:cTn id="25" dur="500"/>
                                        <p:tgtEl>
                                          <p:spTgt spid="35744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57518"/>
                                        </p:tgtEl>
                                        <p:attrNameLst>
                                          <p:attrName>style.visibility</p:attrName>
                                        </p:attrNameLst>
                                      </p:cBhvr>
                                      <p:to>
                                        <p:strVal val="visible"/>
                                      </p:to>
                                    </p:set>
                                    <p:animEffect transition="in" filter="wipe(left)">
                                      <p:cBhvr>
                                        <p:cTn id="28" dur="500"/>
                                        <p:tgtEl>
                                          <p:spTgt spid="357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9" grpId="0" animBg="1"/>
      <p:bldP spid="357425" grpId="0" animBg="1"/>
      <p:bldP spid="357442" grpId="0" animBg="1"/>
      <p:bldP spid="357443" grpId="0" animBg="1"/>
      <p:bldP spid="357457" grpId="0" animBg="1"/>
      <p:bldP spid="357514" grpId="0"/>
      <p:bldP spid="3575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Rot="1" noChangeArrowheads="1"/>
          </p:cNvSpPr>
          <p:nvPr>
            <p:ph type="title" idx="4294967295"/>
          </p:nvPr>
        </p:nvSpPr>
        <p:spPr/>
        <p:txBody>
          <a:bodyPr/>
          <a:lstStyle/>
          <a:p>
            <a:pPr>
              <a:defRPr/>
            </a:pPr>
            <a:r>
              <a:rPr lang="en-US" smtClean="0"/>
              <a:t>Deadweight Loss and Elasticities</a:t>
            </a:r>
          </a:p>
        </p:txBody>
      </p:sp>
      <p:cxnSp>
        <p:nvCxnSpPr>
          <p:cNvPr id="74754" name="Straight Connector 86"/>
          <p:cNvCxnSpPr>
            <a:cxnSpLocks noChangeShapeType="1"/>
          </p:cNvCxnSpPr>
          <p:nvPr/>
        </p:nvCxnSpPr>
        <p:spPr bwMode="auto">
          <a:xfrm>
            <a:off x="4217988" y="3017838"/>
            <a:ext cx="0" cy="2930525"/>
          </a:xfrm>
          <a:prstGeom prst="line">
            <a:avLst/>
          </a:prstGeom>
          <a:noFill/>
          <a:ln w="15875">
            <a:solidFill>
              <a:srgbClr val="808080"/>
            </a:solidFill>
            <a:prstDash val="sysDot"/>
            <a:round/>
            <a:headEnd/>
            <a:tailEnd type="none" w="med" len="lg"/>
          </a:ln>
        </p:spPr>
      </p:cxnSp>
      <p:cxnSp>
        <p:nvCxnSpPr>
          <p:cNvPr id="74755" name="Straight Connector 86"/>
          <p:cNvCxnSpPr>
            <a:cxnSpLocks noChangeShapeType="1"/>
          </p:cNvCxnSpPr>
          <p:nvPr/>
        </p:nvCxnSpPr>
        <p:spPr bwMode="auto">
          <a:xfrm>
            <a:off x="3016250" y="3049588"/>
            <a:ext cx="1231900" cy="3175"/>
          </a:xfrm>
          <a:prstGeom prst="line">
            <a:avLst/>
          </a:prstGeom>
          <a:noFill/>
          <a:ln w="15875">
            <a:solidFill>
              <a:srgbClr val="808080"/>
            </a:solidFill>
            <a:prstDash val="sysDot"/>
            <a:round/>
            <a:headEnd/>
            <a:tailEnd type="none" w="med" len="lg"/>
          </a:ln>
        </p:spPr>
      </p:cxnSp>
      <p:sp>
        <p:nvSpPr>
          <p:cNvPr id="357395" name="Freeform 19"/>
          <p:cNvSpPr>
            <a:spLocks/>
          </p:cNvSpPr>
          <p:nvPr/>
        </p:nvSpPr>
        <p:spPr bwMode="auto">
          <a:xfrm>
            <a:off x="4224338" y="3063875"/>
            <a:ext cx="344487" cy="1738313"/>
          </a:xfrm>
          <a:custGeom>
            <a:avLst/>
            <a:gdLst>
              <a:gd name="T0" fmla="*/ 0 w 175"/>
              <a:gd name="T1" fmla="*/ 0 h 655"/>
              <a:gd name="T2" fmla="*/ 0 w 175"/>
              <a:gd name="T3" fmla="*/ 1738313 h 655"/>
              <a:gd name="T4" fmla="*/ 344487 w 175"/>
              <a:gd name="T5" fmla="*/ 684710 h 655"/>
              <a:gd name="T6" fmla="*/ 0 w 175"/>
              <a:gd name="T7" fmla="*/ 0 h 655"/>
              <a:gd name="T8" fmla="*/ 0 60000 65536"/>
              <a:gd name="T9" fmla="*/ 0 60000 65536"/>
              <a:gd name="T10" fmla="*/ 0 60000 65536"/>
              <a:gd name="T11" fmla="*/ 0 60000 65536"/>
              <a:gd name="T12" fmla="*/ 0 w 175"/>
              <a:gd name="T13" fmla="*/ 0 h 655"/>
              <a:gd name="T14" fmla="*/ 175 w 175"/>
              <a:gd name="T15" fmla="*/ 655 h 655"/>
            </a:gdLst>
            <a:ahLst/>
            <a:cxnLst>
              <a:cxn ang="T8">
                <a:pos x="T0" y="T1"/>
              </a:cxn>
              <a:cxn ang="T9">
                <a:pos x="T2" y="T3"/>
              </a:cxn>
              <a:cxn ang="T10">
                <a:pos x="T4" y="T5"/>
              </a:cxn>
              <a:cxn ang="T11">
                <a:pos x="T6" y="T7"/>
              </a:cxn>
            </a:cxnLst>
            <a:rect l="T12" t="T13" r="T14" b="T15"/>
            <a:pathLst>
              <a:path w="175" h="655">
                <a:moveTo>
                  <a:pt x="0" y="0"/>
                </a:moveTo>
                <a:lnTo>
                  <a:pt x="0" y="655"/>
                </a:lnTo>
                <a:lnTo>
                  <a:pt x="175" y="258"/>
                </a:lnTo>
                <a:lnTo>
                  <a:pt x="0" y="0"/>
                </a:lnTo>
                <a:close/>
              </a:path>
            </a:pathLst>
          </a:custGeom>
          <a:solidFill>
            <a:srgbClr val="FFE5B9"/>
          </a:solidFill>
          <a:ln w="9525">
            <a:noFill/>
            <a:round/>
            <a:headEnd/>
            <a:tailEnd/>
          </a:ln>
        </p:spPr>
        <p:txBody>
          <a:bodyPr/>
          <a:lstStyle/>
          <a:p>
            <a:endParaRPr lang="en-US"/>
          </a:p>
        </p:txBody>
      </p:sp>
      <p:sp>
        <p:nvSpPr>
          <p:cNvPr id="74757" name="Rectangle 35"/>
          <p:cNvSpPr>
            <a:spLocks noChangeArrowheads="1"/>
          </p:cNvSpPr>
          <p:nvPr/>
        </p:nvSpPr>
        <p:spPr bwMode="auto">
          <a:xfrm>
            <a:off x="4057650" y="977900"/>
            <a:ext cx="227013" cy="215900"/>
          </a:xfrm>
          <a:prstGeom prst="rect">
            <a:avLst/>
          </a:prstGeom>
          <a:noFill/>
          <a:ln w="9525">
            <a:noFill/>
            <a:miter lim="800000"/>
            <a:headEnd/>
            <a:tailEnd/>
          </a:ln>
        </p:spPr>
        <p:txBody>
          <a:bodyPr wrap="none" lIns="0" tIns="0" rIns="0" bIns="0">
            <a:spAutoFit/>
          </a:bodyPr>
          <a:lstStyle/>
          <a:p>
            <a:pPr marL="1588" indent="-1588"/>
            <a:r>
              <a:rPr lang="en-US" sz="1400" b="1">
                <a:solidFill>
                  <a:srgbClr val="000000"/>
                </a:solidFill>
                <a:latin typeface="Myriad Roman"/>
              </a:rPr>
              <a:t>(d)</a:t>
            </a:r>
            <a:endParaRPr lang="en-US" sz="1400" b="1">
              <a:latin typeface="Tahoma" pitchFamily="34" charset="0"/>
            </a:endParaRPr>
          </a:p>
        </p:txBody>
      </p:sp>
      <p:sp>
        <p:nvSpPr>
          <p:cNvPr id="74758" name="Rectangle 36"/>
          <p:cNvSpPr>
            <a:spLocks noChangeArrowheads="1"/>
          </p:cNvSpPr>
          <p:nvPr/>
        </p:nvSpPr>
        <p:spPr bwMode="auto">
          <a:xfrm>
            <a:off x="4335463" y="977900"/>
            <a:ext cx="1360487"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Roman"/>
              </a:rPr>
              <a:t>Inelastic Supply</a:t>
            </a:r>
            <a:endParaRPr lang="en-US" sz="1400" b="1">
              <a:latin typeface="Tahoma" pitchFamily="34" charset="0"/>
            </a:endParaRPr>
          </a:p>
        </p:txBody>
      </p:sp>
      <p:sp>
        <p:nvSpPr>
          <p:cNvPr id="357436" name="Freeform 60"/>
          <p:cNvSpPr>
            <a:spLocks/>
          </p:cNvSpPr>
          <p:nvPr/>
        </p:nvSpPr>
        <p:spPr bwMode="auto">
          <a:xfrm>
            <a:off x="2606675" y="3063875"/>
            <a:ext cx="117475" cy="1738313"/>
          </a:xfrm>
          <a:custGeom>
            <a:avLst/>
            <a:gdLst>
              <a:gd name="T0" fmla="*/ 117475 w 25"/>
              <a:gd name="T1" fmla="*/ 0 h 277"/>
              <a:gd name="T2" fmla="*/ 46990 w 25"/>
              <a:gd name="T3" fmla="*/ 100408 h 277"/>
              <a:gd name="T4" fmla="*/ 46990 w 25"/>
              <a:gd name="T5" fmla="*/ 803264 h 277"/>
              <a:gd name="T6" fmla="*/ 0 w 25"/>
              <a:gd name="T7" fmla="*/ 866019 h 277"/>
              <a:gd name="T8" fmla="*/ 46990 w 25"/>
              <a:gd name="T9" fmla="*/ 935049 h 277"/>
              <a:gd name="T10" fmla="*/ 46990 w 25"/>
              <a:gd name="T11" fmla="*/ 1637905 h 277"/>
              <a:gd name="T12" fmla="*/ 117475 w 25"/>
              <a:gd name="T13" fmla="*/ 1738313 h 277"/>
              <a:gd name="T14" fmla="*/ 0 60000 65536"/>
              <a:gd name="T15" fmla="*/ 0 60000 65536"/>
              <a:gd name="T16" fmla="*/ 0 60000 65536"/>
              <a:gd name="T17" fmla="*/ 0 60000 65536"/>
              <a:gd name="T18" fmla="*/ 0 60000 65536"/>
              <a:gd name="T19" fmla="*/ 0 60000 65536"/>
              <a:gd name="T20" fmla="*/ 0 60000 65536"/>
              <a:gd name="T21" fmla="*/ 0 w 25"/>
              <a:gd name="T22" fmla="*/ 0 h 277"/>
              <a:gd name="T23" fmla="*/ 25 w 25"/>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77">
                <a:moveTo>
                  <a:pt x="25" y="0"/>
                </a:moveTo>
                <a:cubicBezTo>
                  <a:pt x="15" y="0"/>
                  <a:pt x="10" y="2"/>
                  <a:pt x="10" y="16"/>
                </a:cubicBezTo>
                <a:cubicBezTo>
                  <a:pt x="10" y="18"/>
                  <a:pt x="10" y="125"/>
                  <a:pt x="10" y="128"/>
                </a:cubicBezTo>
                <a:cubicBezTo>
                  <a:pt x="10" y="131"/>
                  <a:pt x="8" y="138"/>
                  <a:pt x="0" y="138"/>
                </a:cubicBezTo>
                <a:cubicBezTo>
                  <a:pt x="8" y="138"/>
                  <a:pt x="10" y="145"/>
                  <a:pt x="10" y="149"/>
                </a:cubicBezTo>
                <a:cubicBezTo>
                  <a:pt x="10" y="151"/>
                  <a:pt x="10" y="258"/>
                  <a:pt x="10" y="261"/>
                </a:cubicBezTo>
                <a:cubicBezTo>
                  <a:pt x="10" y="274"/>
                  <a:pt x="15" y="277"/>
                  <a:pt x="25" y="277"/>
                </a:cubicBezTo>
              </a:path>
            </a:pathLst>
          </a:custGeom>
          <a:noFill/>
          <a:ln w="22225" cap="flat">
            <a:solidFill>
              <a:srgbClr val="6D6F71"/>
            </a:solidFill>
            <a:prstDash val="solid"/>
            <a:round/>
            <a:headEnd/>
            <a:tailEnd/>
          </a:ln>
        </p:spPr>
        <p:txBody>
          <a:bodyPr/>
          <a:lstStyle/>
          <a:p>
            <a:endParaRPr lang="en-US"/>
          </a:p>
        </p:txBody>
      </p:sp>
      <p:sp>
        <p:nvSpPr>
          <p:cNvPr id="74760" name="Rectangle 68"/>
          <p:cNvSpPr>
            <a:spLocks noChangeArrowheads="1"/>
          </p:cNvSpPr>
          <p:nvPr/>
        </p:nvSpPr>
        <p:spPr bwMode="auto">
          <a:xfrm>
            <a:off x="5791200" y="6076950"/>
            <a:ext cx="66833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74761" name="Rectangle 69"/>
          <p:cNvSpPr>
            <a:spLocks noChangeArrowheads="1"/>
          </p:cNvSpPr>
          <p:nvPr/>
        </p:nvSpPr>
        <p:spPr bwMode="auto">
          <a:xfrm>
            <a:off x="5514975" y="564038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74762" name="Rectangle 70"/>
          <p:cNvSpPr>
            <a:spLocks noChangeArrowheads="1"/>
          </p:cNvSpPr>
          <p:nvPr/>
        </p:nvSpPr>
        <p:spPr bwMode="auto">
          <a:xfrm>
            <a:off x="4646613" y="35734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4763" name="Line 71"/>
          <p:cNvSpPr>
            <a:spLocks noChangeShapeType="1"/>
          </p:cNvSpPr>
          <p:nvPr/>
        </p:nvSpPr>
        <p:spPr bwMode="auto">
          <a:xfrm flipV="1">
            <a:off x="3898900" y="1779588"/>
            <a:ext cx="1304925" cy="4030662"/>
          </a:xfrm>
          <a:prstGeom prst="line">
            <a:avLst/>
          </a:prstGeom>
          <a:noFill/>
          <a:ln w="28575">
            <a:solidFill>
              <a:srgbClr val="EE313C"/>
            </a:solidFill>
            <a:miter lim="800000"/>
            <a:headEnd/>
            <a:tailEnd/>
          </a:ln>
        </p:spPr>
        <p:txBody>
          <a:bodyPr/>
          <a:lstStyle/>
          <a:p>
            <a:endParaRPr lang="en-US"/>
          </a:p>
        </p:txBody>
      </p:sp>
      <p:sp>
        <p:nvSpPr>
          <p:cNvPr id="74764" name="Freeform 72"/>
          <p:cNvSpPr>
            <a:spLocks/>
          </p:cNvSpPr>
          <p:nvPr/>
        </p:nvSpPr>
        <p:spPr bwMode="auto">
          <a:xfrm>
            <a:off x="2979738" y="1409700"/>
            <a:ext cx="3427412" cy="4625975"/>
          </a:xfrm>
          <a:custGeom>
            <a:avLst/>
            <a:gdLst>
              <a:gd name="T0" fmla="*/ 3427412 w 1736"/>
              <a:gd name="T1" fmla="*/ 4625975 h 1743"/>
              <a:gd name="T2" fmla="*/ 0 w 1736"/>
              <a:gd name="T3" fmla="*/ 4625975 h 1743"/>
              <a:gd name="T4" fmla="*/ 0 w 1736"/>
              <a:gd name="T5" fmla="*/ 0 h 1743"/>
              <a:gd name="T6" fmla="*/ 0 60000 65536"/>
              <a:gd name="T7" fmla="*/ 0 60000 65536"/>
              <a:gd name="T8" fmla="*/ 0 60000 65536"/>
              <a:gd name="T9" fmla="*/ 0 w 1736"/>
              <a:gd name="T10" fmla="*/ 0 h 1743"/>
              <a:gd name="T11" fmla="*/ 1736 w 1736"/>
              <a:gd name="T12" fmla="*/ 1743 h 1743"/>
            </a:gdLst>
            <a:ahLst/>
            <a:cxnLst>
              <a:cxn ang="T6">
                <a:pos x="T0" y="T1"/>
              </a:cxn>
              <a:cxn ang="T7">
                <a:pos x="T2" y="T3"/>
              </a:cxn>
              <a:cxn ang="T8">
                <a:pos x="T4" y="T5"/>
              </a:cxn>
            </a:cxnLst>
            <a:rect l="T9" t="T10" r="T11" b="T12"/>
            <a:pathLst>
              <a:path w="1736" h="1743">
                <a:moveTo>
                  <a:pt x="1736" y="1743"/>
                </a:moveTo>
                <a:lnTo>
                  <a:pt x="0" y="1743"/>
                </a:lnTo>
                <a:lnTo>
                  <a:pt x="0" y="0"/>
                </a:lnTo>
              </a:path>
            </a:pathLst>
          </a:custGeom>
          <a:noFill/>
          <a:ln w="6350" cap="flat">
            <a:solidFill>
              <a:srgbClr val="000000"/>
            </a:solidFill>
            <a:prstDash val="solid"/>
            <a:miter lim="800000"/>
            <a:headEnd/>
            <a:tailEnd/>
          </a:ln>
        </p:spPr>
        <p:txBody>
          <a:bodyPr/>
          <a:lstStyle/>
          <a:p>
            <a:endParaRPr lang="en-US"/>
          </a:p>
        </p:txBody>
      </p:sp>
      <p:sp>
        <p:nvSpPr>
          <p:cNvPr id="74765" name="Rectangle 73"/>
          <p:cNvSpPr>
            <a:spLocks noChangeArrowheads="1"/>
          </p:cNvSpPr>
          <p:nvPr/>
        </p:nvSpPr>
        <p:spPr bwMode="auto">
          <a:xfrm>
            <a:off x="5195888" y="14747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latin typeface="Tahoma" pitchFamily="34" charset="0"/>
            </a:endParaRPr>
          </a:p>
        </p:txBody>
      </p:sp>
      <p:sp>
        <p:nvSpPr>
          <p:cNvPr id="74766" name="Line 74"/>
          <p:cNvSpPr>
            <a:spLocks noChangeShapeType="1"/>
          </p:cNvSpPr>
          <p:nvPr/>
        </p:nvSpPr>
        <p:spPr bwMode="auto">
          <a:xfrm>
            <a:off x="3505200" y="1636713"/>
            <a:ext cx="2019300" cy="4016375"/>
          </a:xfrm>
          <a:prstGeom prst="line">
            <a:avLst/>
          </a:prstGeom>
          <a:noFill/>
          <a:ln w="28575">
            <a:solidFill>
              <a:srgbClr val="3C5DAA"/>
            </a:solidFill>
            <a:miter lim="800000"/>
            <a:headEnd/>
            <a:tailEnd/>
          </a:ln>
        </p:spPr>
        <p:txBody>
          <a:bodyPr/>
          <a:lstStyle/>
          <a:p>
            <a:endParaRPr lang="en-US"/>
          </a:p>
        </p:txBody>
      </p:sp>
      <p:sp>
        <p:nvSpPr>
          <p:cNvPr id="74767" name="Oval 75"/>
          <p:cNvSpPr>
            <a:spLocks noChangeArrowheads="1"/>
          </p:cNvSpPr>
          <p:nvPr/>
        </p:nvSpPr>
        <p:spPr bwMode="auto">
          <a:xfrm>
            <a:off x="4521200" y="3684588"/>
            <a:ext cx="95250" cy="123825"/>
          </a:xfrm>
          <a:prstGeom prst="ellipse">
            <a:avLst/>
          </a:prstGeom>
          <a:solidFill>
            <a:srgbClr val="000000"/>
          </a:solidFill>
          <a:ln w="9525">
            <a:noFill/>
            <a:round/>
            <a:headEnd/>
            <a:tailEnd/>
          </a:ln>
        </p:spPr>
        <p:txBody>
          <a:bodyPr/>
          <a:lstStyle/>
          <a:p>
            <a:endParaRPr lang="en-US"/>
          </a:p>
        </p:txBody>
      </p:sp>
      <p:sp>
        <p:nvSpPr>
          <p:cNvPr id="74768" name="Oval 76"/>
          <p:cNvSpPr>
            <a:spLocks noChangeArrowheads="1"/>
          </p:cNvSpPr>
          <p:nvPr/>
        </p:nvSpPr>
        <p:spPr bwMode="auto">
          <a:xfrm>
            <a:off x="4178300" y="4737100"/>
            <a:ext cx="93663" cy="125413"/>
          </a:xfrm>
          <a:prstGeom prst="ellipse">
            <a:avLst/>
          </a:prstGeom>
          <a:solidFill>
            <a:srgbClr val="000000"/>
          </a:solidFill>
          <a:ln w="9525">
            <a:noFill/>
            <a:round/>
            <a:headEnd/>
            <a:tailEnd/>
          </a:ln>
        </p:spPr>
        <p:txBody>
          <a:bodyPr/>
          <a:lstStyle/>
          <a:p>
            <a:endParaRPr lang="en-US"/>
          </a:p>
        </p:txBody>
      </p:sp>
      <p:sp>
        <p:nvSpPr>
          <p:cNvPr id="74769" name="Oval 77"/>
          <p:cNvSpPr>
            <a:spLocks noChangeArrowheads="1"/>
          </p:cNvSpPr>
          <p:nvPr/>
        </p:nvSpPr>
        <p:spPr bwMode="auto">
          <a:xfrm>
            <a:off x="4178300" y="3001963"/>
            <a:ext cx="93663" cy="125412"/>
          </a:xfrm>
          <a:prstGeom prst="ellipse">
            <a:avLst/>
          </a:prstGeom>
          <a:solidFill>
            <a:srgbClr val="000000"/>
          </a:solidFill>
          <a:ln w="9525">
            <a:noFill/>
            <a:round/>
            <a:headEnd/>
            <a:tailEnd/>
          </a:ln>
        </p:spPr>
        <p:txBody>
          <a:bodyPr/>
          <a:lstStyle/>
          <a:p>
            <a:endParaRPr lang="en-US"/>
          </a:p>
        </p:txBody>
      </p:sp>
      <p:sp>
        <p:nvSpPr>
          <p:cNvPr id="357454" name="Line 78"/>
          <p:cNvSpPr>
            <a:spLocks noChangeShapeType="1"/>
          </p:cNvSpPr>
          <p:nvPr/>
        </p:nvSpPr>
        <p:spPr bwMode="auto">
          <a:xfrm flipV="1">
            <a:off x="4325938" y="3905250"/>
            <a:ext cx="723900" cy="169863"/>
          </a:xfrm>
          <a:prstGeom prst="line">
            <a:avLst/>
          </a:prstGeom>
          <a:noFill/>
          <a:ln w="6350">
            <a:solidFill>
              <a:srgbClr val="000000"/>
            </a:solidFill>
            <a:miter lim="800000"/>
            <a:headEnd/>
            <a:tailEnd/>
          </a:ln>
        </p:spPr>
        <p:txBody>
          <a:bodyPr/>
          <a:lstStyle/>
          <a:p>
            <a:endParaRPr lang="en-US"/>
          </a:p>
        </p:txBody>
      </p:sp>
      <p:sp>
        <p:nvSpPr>
          <p:cNvPr id="357455" name="Freeform 79"/>
          <p:cNvSpPr>
            <a:spLocks/>
          </p:cNvSpPr>
          <p:nvPr/>
        </p:nvSpPr>
        <p:spPr bwMode="auto">
          <a:xfrm>
            <a:off x="4960938" y="3476625"/>
            <a:ext cx="1914525" cy="792163"/>
          </a:xfrm>
          <a:custGeom>
            <a:avLst/>
            <a:gdLst>
              <a:gd name="T0" fmla="*/ 1914525 w 275"/>
              <a:gd name="T1" fmla="*/ 697576 h 134"/>
              <a:gd name="T2" fmla="*/ 1803135 w 275"/>
              <a:gd name="T3" fmla="*/ 792163 h 134"/>
              <a:gd name="T4" fmla="*/ 111391 w 275"/>
              <a:gd name="T5" fmla="*/ 792163 h 134"/>
              <a:gd name="T6" fmla="*/ 0 w 275"/>
              <a:gd name="T7" fmla="*/ 697576 h 134"/>
              <a:gd name="T8" fmla="*/ 0 w 275"/>
              <a:gd name="T9" fmla="*/ 94587 h 134"/>
              <a:gd name="T10" fmla="*/ 111391 w 275"/>
              <a:gd name="T11" fmla="*/ 0 h 134"/>
              <a:gd name="T12" fmla="*/ 1803135 w 275"/>
              <a:gd name="T13" fmla="*/ 0 h 134"/>
              <a:gd name="T14" fmla="*/ 1914525 w 275"/>
              <a:gd name="T15" fmla="*/ 94587 h 134"/>
              <a:gd name="T16" fmla="*/ 1914525 w 275"/>
              <a:gd name="T17" fmla="*/ 697576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5"/>
              <a:gd name="T28" fmla="*/ 0 h 134"/>
              <a:gd name="T29" fmla="*/ 275 w 275"/>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5" h="134">
                <a:moveTo>
                  <a:pt x="275" y="118"/>
                </a:moveTo>
                <a:cubicBezTo>
                  <a:pt x="275" y="126"/>
                  <a:pt x="267" y="134"/>
                  <a:pt x="259" y="134"/>
                </a:cubicBezTo>
                <a:cubicBezTo>
                  <a:pt x="16" y="134"/>
                  <a:pt x="16" y="134"/>
                  <a:pt x="16" y="134"/>
                </a:cubicBezTo>
                <a:cubicBezTo>
                  <a:pt x="7" y="134"/>
                  <a:pt x="0" y="126"/>
                  <a:pt x="0" y="118"/>
                </a:cubicBezTo>
                <a:cubicBezTo>
                  <a:pt x="0" y="16"/>
                  <a:pt x="0" y="16"/>
                  <a:pt x="0" y="16"/>
                </a:cubicBezTo>
                <a:cubicBezTo>
                  <a:pt x="0" y="7"/>
                  <a:pt x="7" y="0"/>
                  <a:pt x="16" y="0"/>
                </a:cubicBezTo>
                <a:cubicBezTo>
                  <a:pt x="259" y="0"/>
                  <a:pt x="259" y="0"/>
                  <a:pt x="259" y="0"/>
                </a:cubicBezTo>
                <a:cubicBezTo>
                  <a:pt x="267" y="0"/>
                  <a:pt x="275" y="7"/>
                  <a:pt x="275" y="16"/>
                </a:cubicBezTo>
                <a:lnTo>
                  <a:pt x="275" y="118"/>
                </a:lnTo>
                <a:close/>
              </a:path>
            </a:pathLst>
          </a:custGeom>
          <a:solidFill>
            <a:srgbClr val="D6E2E0"/>
          </a:solidFill>
          <a:ln w="9525">
            <a:noFill/>
            <a:round/>
            <a:headEnd/>
            <a:tailEnd/>
          </a:ln>
        </p:spPr>
        <p:txBody>
          <a:bodyPr/>
          <a:lstStyle/>
          <a:p>
            <a:endParaRPr lang="en-US"/>
          </a:p>
        </p:txBody>
      </p:sp>
      <p:sp>
        <p:nvSpPr>
          <p:cNvPr id="357458" name="Freeform 82"/>
          <p:cNvSpPr>
            <a:spLocks/>
          </p:cNvSpPr>
          <p:nvPr/>
        </p:nvSpPr>
        <p:spPr bwMode="auto">
          <a:xfrm>
            <a:off x="1943100" y="3665538"/>
            <a:ext cx="592138" cy="603250"/>
          </a:xfrm>
          <a:custGeom>
            <a:avLst/>
            <a:gdLst>
              <a:gd name="T0" fmla="*/ 592138 w 127"/>
              <a:gd name="T1" fmla="*/ 502708 h 96"/>
              <a:gd name="T2" fmla="*/ 517538 w 127"/>
              <a:gd name="T3" fmla="*/ 603250 h 96"/>
              <a:gd name="T4" fmla="*/ 74600 w 127"/>
              <a:gd name="T5" fmla="*/ 603250 h 96"/>
              <a:gd name="T6" fmla="*/ 0 w 127"/>
              <a:gd name="T7" fmla="*/ 502708 h 96"/>
              <a:gd name="T8" fmla="*/ 0 w 127"/>
              <a:gd name="T9" fmla="*/ 100542 h 96"/>
              <a:gd name="T10" fmla="*/ 74600 w 127"/>
              <a:gd name="T11" fmla="*/ 0 h 96"/>
              <a:gd name="T12" fmla="*/ 517538 w 127"/>
              <a:gd name="T13" fmla="*/ 0 h 96"/>
              <a:gd name="T14" fmla="*/ 592138 w 127"/>
              <a:gd name="T15" fmla="*/ 100542 h 96"/>
              <a:gd name="T16" fmla="*/ 592138 w 127"/>
              <a:gd name="T17" fmla="*/ 502708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96"/>
              <a:gd name="T29" fmla="*/ 127 w 127"/>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96">
                <a:moveTo>
                  <a:pt x="127" y="80"/>
                </a:moveTo>
                <a:cubicBezTo>
                  <a:pt x="127" y="88"/>
                  <a:pt x="120" y="96"/>
                  <a:pt x="111" y="96"/>
                </a:cubicBezTo>
                <a:cubicBezTo>
                  <a:pt x="16" y="96"/>
                  <a:pt x="16" y="96"/>
                  <a:pt x="16" y="96"/>
                </a:cubicBezTo>
                <a:cubicBezTo>
                  <a:pt x="7" y="96"/>
                  <a:pt x="0" y="88"/>
                  <a:pt x="0" y="80"/>
                </a:cubicBezTo>
                <a:cubicBezTo>
                  <a:pt x="0" y="16"/>
                  <a:pt x="0" y="16"/>
                  <a:pt x="0" y="16"/>
                </a:cubicBezTo>
                <a:cubicBezTo>
                  <a:pt x="0" y="7"/>
                  <a:pt x="7" y="0"/>
                  <a:pt x="16" y="0"/>
                </a:cubicBezTo>
                <a:cubicBezTo>
                  <a:pt x="111" y="0"/>
                  <a:pt x="111" y="0"/>
                  <a:pt x="111" y="0"/>
                </a:cubicBezTo>
                <a:cubicBezTo>
                  <a:pt x="120" y="0"/>
                  <a:pt x="127" y="7"/>
                  <a:pt x="127" y="16"/>
                </a:cubicBezTo>
                <a:lnTo>
                  <a:pt x="127" y="80"/>
                </a:lnTo>
                <a:close/>
              </a:path>
            </a:pathLst>
          </a:custGeom>
          <a:solidFill>
            <a:srgbClr val="D6E2E0"/>
          </a:solidFill>
          <a:ln w="9525">
            <a:noFill/>
            <a:round/>
            <a:headEnd/>
            <a:tailEnd/>
          </a:ln>
        </p:spPr>
        <p:txBody>
          <a:bodyPr/>
          <a:lstStyle/>
          <a:p>
            <a:endParaRPr lang="en-US"/>
          </a:p>
        </p:txBody>
      </p:sp>
      <p:sp>
        <p:nvSpPr>
          <p:cNvPr id="74773" name="Line 85"/>
          <p:cNvSpPr>
            <a:spLocks noChangeShapeType="1"/>
          </p:cNvSpPr>
          <p:nvPr/>
        </p:nvSpPr>
        <p:spPr bwMode="auto">
          <a:xfrm>
            <a:off x="-760413" y="2436813"/>
            <a:ext cx="0" cy="0"/>
          </a:xfrm>
          <a:prstGeom prst="line">
            <a:avLst/>
          </a:prstGeom>
          <a:noFill/>
          <a:ln w="9525">
            <a:noFill/>
            <a:round/>
            <a:headEnd/>
            <a:tailEnd/>
          </a:ln>
        </p:spPr>
        <p:txBody>
          <a:bodyPr/>
          <a:lstStyle/>
          <a:p>
            <a:endParaRPr lang="en-US"/>
          </a:p>
        </p:txBody>
      </p:sp>
      <p:sp>
        <p:nvSpPr>
          <p:cNvPr id="74774" name="Line 86"/>
          <p:cNvSpPr>
            <a:spLocks noChangeShapeType="1"/>
          </p:cNvSpPr>
          <p:nvPr/>
        </p:nvSpPr>
        <p:spPr bwMode="auto">
          <a:xfrm>
            <a:off x="-760413" y="2436813"/>
            <a:ext cx="0" cy="0"/>
          </a:xfrm>
          <a:prstGeom prst="line">
            <a:avLst/>
          </a:prstGeom>
          <a:noFill/>
          <a:ln w="9525">
            <a:noFill/>
            <a:round/>
            <a:headEnd/>
            <a:tailEnd/>
          </a:ln>
        </p:spPr>
        <p:txBody>
          <a:bodyPr/>
          <a:lstStyle/>
          <a:p>
            <a:endParaRPr lang="en-US"/>
          </a:p>
        </p:txBody>
      </p:sp>
      <p:sp>
        <p:nvSpPr>
          <p:cNvPr id="74775" name="Rectangle 114"/>
          <p:cNvSpPr>
            <a:spLocks noChangeArrowheads="1"/>
          </p:cNvSpPr>
          <p:nvPr/>
        </p:nvSpPr>
        <p:spPr bwMode="auto">
          <a:xfrm>
            <a:off x="2759075" y="35972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4776" name="Rectangle 115"/>
          <p:cNvSpPr>
            <a:spLocks noChangeArrowheads="1"/>
          </p:cNvSpPr>
          <p:nvPr/>
        </p:nvSpPr>
        <p:spPr bwMode="auto">
          <a:xfrm>
            <a:off x="2857500" y="37353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4777" name="Rectangle 116"/>
          <p:cNvSpPr>
            <a:spLocks noChangeArrowheads="1"/>
          </p:cNvSpPr>
          <p:nvPr/>
        </p:nvSpPr>
        <p:spPr bwMode="auto">
          <a:xfrm>
            <a:off x="2749550" y="29305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4778" name="Rectangle 117"/>
          <p:cNvSpPr>
            <a:spLocks noChangeArrowheads="1"/>
          </p:cNvSpPr>
          <p:nvPr/>
        </p:nvSpPr>
        <p:spPr bwMode="auto">
          <a:xfrm>
            <a:off x="2847975" y="30686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latin typeface="Tahoma" pitchFamily="34" charset="0"/>
            </a:endParaRPr>
          </a:p>
        </p:txBody>
      </p:sp>
      <p:sp>
        <p:nvSpPr>
          <p:cNvPr id="74779" name="Rectangle 118"/>
          <p:cNvSpPr>
            <a:spLocks noChangeArrowheads="1"/>
          </p:cNvSpPr>
          <p:nvPr/>
        </p:nvSpPr>
        <p:spPr bwMode="auto">
          <a:xfrm>
            <a:off x="2754313" y="46688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4780" name="Rectangle 119"/>
          <p:cNvSpPr>
            <a:spLocks noChangeArrowheads="1"/>
          </p:cNvSpPr>
          <p:nvPr/>
        </p:nvSpPr>
        <p:spPr bwMode="auto">
          <a:xfrm>
            <a:off x="2854325" y="48069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4781" name="Rectangle 126"/>
          <p:cNvSpPr>
            <a:spLocks noChangeArrowheads="1"/>
          </p:cNvSpPr>
          <p:nvPr/>
        </p:nvSpPr>
        <p:spPr bwMode="auto">
          <a:xfrm>
            <a:off x="4502150" y="6069013"/>
            <a:ext cx="13811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Q</a:t>
            </a:r>
            <a:endParaRPr lang="en-US" sz="1400">
              <a:latin typeface="Tahoma" pitchFamily="34" charset="0"/>
            </a:endParaRPr>
          </a:p>
        </p:txBody>
      </p:sp>
      <p:sp>
        <p:nvSpPr>
          <p:cNvPr id="74782" name="Rectangle 127"/>
          <p:cNvSpPr>
            <a:spLocks noChangeArrowheads="1"/>
          </p:cNvSpPr>
          <p:nvPr/>
        </p:nvSpPr>
        <p:spPr bwMode="auto">
          <a:xfrm>
            <a:off x="4632325" y="62103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latin typeface="Tahoma" pitchFamily="34" charset="0"/>
            </a:endParaRPr>
          </a:p>
        </p:txBody>
      </p:sp>
      <p:sp>
        <p:nvSpPr>
          <p:cNvPr id="74783" name="Rectangle 130"/>
          <p:cNvSpPr>
            <a:spLocks noChangeArrowheads="1"/>
          </p:cNvSpPr>
          <p:nvPr/>
        </p:nvSpPr>
        <p:spPr bwMode="auto">
          <a:xfrm>
            <a:off x="4138613" y="6069013"/>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74784" name="Rectangle 131"/>
          <p:cNvSpPr>
            <a:spLocks noChangeArrowheads="1"/>
          </p:cNvSpPr>
          <p:nvPr/>
        </p:nvSpPr>
        <p:spPr bwMode="auto">
          <a:xfrm>
            <a:off x="4267200" y="6210300"/>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T</a:t>
            </a:r>
            <a:endParaRPr lang="en-US" sz="1400" i="1">
              <a:latin typeface="Tahoma" pitchFamily="34" charset="0"/>
            </a:endParaRPr>
          </a:p>
        </p:txBody>
      </p:sp>
      <p:sp>
        <p:nvSpPr>
          <p:cNvPr id="74785" name="Line 134"/>
          <p:cNvSpPr>
            <a:spLocks noChangeShapeType="1"/>
          </p:cNvSpPr>
          <p:nvPr/>
        </p:nvSpPr>
        <p:spPr bwMode="auto">
          <a:xfrm flipH="1">
            <a:off x="4411663" y="6229350"/>
            <a:ext cx="96837" cy="0"/>
          </a:xfrm>
          <a:prstGeom prst="line">
            <a:avLst/>
          </a:prstGeom>
          <a:noFill/>
          <a:ln w="11113">
            <a:solidFill>
              <a:srgbClr val="000000"/>
            </a:solidFill>
            <a:miter lim="800000"/>
            <a:headEnd/>
            <a:tailEnd/>
          </a:ln>
        </p:spPr>
        <p:txBody>
          <a:bodyPr/>
          <a:lstStyle/>
          <a:p>
            <a:endParaRPr lang="en-US"/>
          </a:p>
        </p:txBody>
      </p:sp>
      <p:sp>
        <p:nvSpPr>
          <p:cNvPr id="74786" name="Freeform 135"/>
          <p:cNvSpPr>
            <a:spLocks/>
          </p:cNvSpPr>
          <p:nvPr/>
        </p:nvSpPr>
        <p:spPr bwMode="auto">
          <a:xfrm>
            <a:off x="4337050" y="6186488"/>
            <a:ext cx="101600" cy="79375"/>
          </a:xfrm>
          <a:custGeom>
            <a:avLst/>
            <a:gdLst>
              <a:gd name="T0" fmla="*/ 83127 w 22"/>
              <a:gd name="T1" fmla="*/ 42740 h 13"/>
              <a:gd name="T2" fmla="*/ 101600 w 22"/>
              <a:gd name="T3" fmla="*/ 79375 h 13"/>
              <a:gd name="T4" fmla="*/ 96982 w 22"/>
              <a:gd name="T5" fmla="*/ 79375 h 13"/>
              <a:gd name="T6" fmla="*/ 50800 w 22"/>
              <a:gd name="T7" fmla="*/ 54952 h 13"/>
              <a:gd name="T8" fmla="*/ 0 w 22"/>
              <a:gd name="T9" fmla="*/ 42740 h 13"/>
              <a:gd name="T10" fmla="*/ 50800 w 22"/>
              <a:gd name="T11" fmla="*/ 24423 h 13"/>
              <a:gd name="T12" fmla="*/ 96982 w 22"/>
              <a:gd name="T13" fmla="*/ 0 h 13"/>
              <a:gd name="T14" fmla="*/ 101600 w 22"/>
              <a:gd name="T15" fmla="*/ 0 h 13"/>
              <a:gd name="T16" fmla="*/ 83127 w 22"/>
              <a:gd name="T17" fmla="*/ 4274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18" y="7"/>
                </a:moveTo>
                <a:cubicBezTo>
                  <a:pt x="22" y="13"/>
                  <a:pt x="22" y="13"/>
                  <a:pt x="22" y="13"/>
                </a:cubicBezTo>
                <a:cubicBezTo>
                  <a:pt x="21" y="13"/>
                  <a:pt x="21" y="13"/>
                  <a:pt x="21" y="13"/>
                </a:cubicBezTo>
                <a:cubicBezTo>
                  <a:pt x="11" y="9"/>
                  <a:pt x="11" y="9"/>
                  <a:pt x="11" y="9"/>
                </a:cubicBezTo>
                <a:cubicBezTo>
                  <a:pt x="7" y="8"/>
                  <a:pt x="4" y="7"/>
                  <a:pt x="0" y="7"/>
                </a:cubicBezTo>
                <a:cubicBezTo>
                  <a:pt x="4" y="6"/>
                  <a:pt x="7" y="5"/>
                  <a:pt x="11" y="4"/>
                </a:cubicBezTo>
                <a:cubicBezTo>
                  <a:pt x="21" y="0"/>
                  <a:pt x="21" y="0"/>
                  <a:pt x="21" y="0"/>
                </a:cubicBezTo>
                <a:cubicBezTo>
                  <a:pt x="22" y="0"/>
                  <a:pt x="22" y="0"/>
                  <a:pt x="22" y="0"/>
                </a:cubicBezTo>
                <a:lnTo>
                  <a:pt x="18" y="7"/>
                </a:lnTo>
                <a:close/>
              </a:path>
            </a:pathLst>
          </a:custGeom>
          <a:solidFill>
            <a:srgbClr val="000000"/>
          </a:solidFill>
          <a:ln w="9525">
            <a:noFill/>
            <a:round/>
            <a:headEnd/>
            <a:tailEnd/>
          </a:ln>
        </p:spPr>
        <p:txBody>
          <a:bodyPr/>
          <a:lstStyle/>
          <a:p>
            <a:endParaRPr lang="en-US"/>
          </a:p>
        </p:txBody>
      </p:sp>
      <p:sp>
        <p:nvSpPr>
          <p:cNvPr id="357515" name="Rectangle 139"/>
          <p:cNvSpPr>
            <a:spLocks noChangeArrowheads="1"/>
          </p:cNvSpPr>
          <p:nvPr/>
        </p:nvSpPr>
        <p:spPr bwMode="auto">
          <a:xfrm>
            <a:off x="1973263" y="3727450"/>
            <a:ext cx="5683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Excise tax = </a:t>
            </a:r>
            <a:r>
              <a:rPr lang="en-US" sz="1400" i="1">
                <a:solidFill>
                  <a:srgbClr val="000000"/>
                </a:solidFill>
                <a:latin typeface="Myriad Roman"/>
              </a:rPr>
              <a:t>T</a:t>
            </a:r>
            <a:endParaRPr lang="en-US" sz="1400" i="1">
              <a:latin typeface="Tahoma" pitchFamily="34" charset="0"/>
            </a:endParaRPr>
          </a:p>
        </p:txBody>
      </p:sp>
      <p:sp>
        <p:nvSpPr>
          <p:cNvPr id="357517" name="Rectangle 141"/>
          <p:cNvSpPr>
            <a:spLocks noChangeArrowheads="1"/>
          </p:cNvSpPr>
          <p:nvPr/>
        </p:nvSpPr>
        <p:spPr bwMode="auto">
          <a:xfrm>
            <a:off x="5049838" y="3549650"/>
            <a:ext cx="1741487"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Deadweight loss is smaller when supply is inelastic</a:t>
            </a:r>
            <a:endParaRPr lang="en-US" sz="1400">
              <a:latin typeface="Tahoma" pitchFamily="34" charset="0"/>
            </a:endParaRPr>
          </a:p>
        </p:txBody>
      </p:sp>
      <p:sp>
        <p:nvSpPr>
          <p:cNvPr id="74789" name="Rectangle 145"/>
          <p:cNvSpPr>
            <a:spLocks noChangeArrowheads="1"/>
          </p:cNvSpPr>
          <p:nvPr/>
        </p:nvSpPr>
        <p:spPr bwMode="auto">
          <a:xfrm>
            <a:off x="2443163" y="1362075"/>
            <a:ext cx="40798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Price</a:t>
            </a:r>
            <a:endParaRPr lang="en-US" sz="1400">
              <a:latin typeface="Tahoma" pitchFamily="34" charset="0"/>
            </a:endParaRPr>
          </a:p>
        </p:txBody>
      </p:sp>
      <p:cxnSp>
        <p:nvCxnSpPr>
          <p:cNvPr id="74790" name="Straight Connector 86"/>
          <p:cNvCxnSpPr>
            <a:cxnSpLocks noChangeShapeType="1"/>
          </p:cNvCxnSpPr>
          <p:nvPr/>
        </p:nvCxnSpPr>
        <p:spPr bwMode="auto">
          <a:xfrm>
            <a:off x="3016250" y="3752850"/>
            <a:ext cx="1471613" cy="3175"/>
          </a:xfrm>
          <a:prstGeom prst="line">
            <a:avLst/>
          </a:prstGeom>
          <a:noFill/>
          <a:ln w="15875">
            <a:solidFill>
              <a:srgbClr val="808080"/>
            </a:solidFill>
            <a:prstDash val="sysDot"/>
            <a:round/>
            <a:headEnd/>
            <a:tailEnd type="none" w="med" len="lg"/>
          </a:ln>
        </p:spPr>
      </p:cxnSp>
      <p:cxnSp>
        <p:nvCxnSpPr>
          <p:cNvPr id="74791" name="Straight Connector 86"/>
          <p:cNvCxnSpPr>
            <a:cxnSpLocks noChangeShapeType="1"/>
          </p:cNvCxnSpPr>
          <p:nvPr/>
        </p:nvCxnSpPr>
        <p:spPr bwMode="auto">
          <a:xfrm>
            <a:off x="4583113" y="3783013"/>
            <a:ext cx="0" cy="2165350"/>
          </a:xfrm>
          <a:prstGeom prst="line">
            <a:avLst/>
          </a:prstGeom>
          <a:noFill/>
          <a:ln w="15875">
            <a:solidFill>
              <a:srgbClr val="808080"/>
            </a:solidFill>
            <a:prstDash val="sysDot"/>
            <a:round/>
            <a:headEnd/>
            <a:tailEnd type="none" w="med" len="lg"/>
          </a:ln>
        </p:spPr>
      </p:cxnSp>
      <p:cxnSp>
        <p:nvCxnSpPr>
          <p:cNvPr id="74792" name="Straight Connector 86"/>
          <p:cNvCxnSpPr>
            <a:cxnSpLocks noChangeShapeType="1"/>
          </p:cNvCxnSpPr>
          <p:nvPr/>
        </p:nvCxnSpPr>
        <p:spPr bwMode="auto">
          <a:xfrm>
            <a:off x="3016250" y="4802188"/>
            <a:ext cx="1136650" cy="1587"/>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57436"/>
                                        </p:tgtEl>
                                        <p:attrNameLst>
                                          <p:attrName>style.visibility</p:attrName>
                                        </p:attrNameLst>
                                      </p:cBhvr>
                                      <p:to>
                                        <p:strVal val="visible"/>
                                      </p:to>
                                    </p:set>
                                    <p:animEffect transition="in" filter="plus(in)">
                                      <p:cBhvr>
                                        <p:cTn id="7" dur="1000"/>
                                        <p:tgtEl>
                                          <p:spTgt spid="35743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7458"/>
                                        </p:tgtEl>
                                        <p:attrNameLst>
                                          <p:attrName>style.visibility</p:attrName>
                                        </p:attrNameLst>
                                      </p:cBhvr>
                                      <p:to>
                                        <p:strVal val="visible"/>
                                      </p:to>
                                    </p:set>
                                    <p:animEffect transition="in" filter="wipe(left)">
                                      <p:cBhvr>
                                        <p:cTn id="11" dur="500"/>
                                        <p:tgtEl>
                                          <p:spTgt spid="35745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57515"/>
                                        </p:tgtEl>
                                        <p:attrNameLst>
                                          <p:attrName>style.visibility</p:attrName>
                                        </p:attrNameLst>
                                      </p:cBhvr>
                                      <p:to>
                                        <p:strVal val="visible"/>
                                      </p:to>
                                    </p:set>
                                    <p:animEffect transition="in" filter="wipe(left)">
                                      <p:cBhvr>
                                        <p:cTn id="14" dur="500"/>
                                        <p:tgtEl>
                                          <p:spTgt spid="35751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57395"/>
                                        </p:tgtEl>
                                        <p:attrNameLst>
                                          <p:attrName>style.visibility</p:attrName>
                                        </p:attrNameLst>
                                      </p:cBhvr>
                                      <p:to>
                                        <p:strVal val="visible"/>
                                      </p:to>
                                    </p:set>
                                    <p:animEffect transition="in" filter="plus(in)">
                                      <p:cBhvr>
                                        <p:cTn id="19" dur="1000"/>
                                        <p:tgtEl>
                                          <p:spTgt spid="357395"/>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357454"/>
                                        </p:tgtEl>
                                        <p:attrNameLst>
                                          <p:attrName>style.visibility</p:attrName>
                                        </p:attrNameLst>
                                      </p:cBhvr>
                                      <p:to>
                                        <p:strVal val="visible"/>
                                      </p:to>
                                    </p:set>
                                  </p:childTnLst>
                                </p:cTn>
                              </p:par>
                              <p:par>
                                <p:cTn id="23" presetID="22" presetClass="entr" presetSubtype="8" fill="hold" grpId="0" nodeType="withEffect">
                                  <p:stCondLst>
                                    <p:cond delay="0"/>
                                  </p:stCondLst>
                                  <p:childTnLst>
                                    <p:set>
                                      <p:cBhvr>
                                        <p:cTn id="24" dur="1" fill="hold">
                                          <p:stCondLst>
                                            <p:cond delay="0"/>
                                          </p:stCondLst>
                                        </p:cTn>
                                        <p:tgtEl>
                                          <p:spTgt spid="357455"/>
                                        </p:tgtEl>
                                        <p:attrNameLst>
                                          <p:attrName>style.visibility</p:attrName>
                                        </p:attrNameLst>
                                      </p:cBhvr>
                                      <p:to>
                                        <p:strVal val="visible"/>
                                      </p:to>
                                    </p:set>
                                    <p:animEffect transition="in" filter="wipe(left)">
                                      <p:cBhvr>
                                        <p:cTn id="25" dur="500"/>
                                        <p:tgtEl>
                                          <p:spTgt spid="35745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57517"/>
                                        </p:tgtEl>
                                        <p:attrNameLst>
                                          <p:attrName>style.visibility</p:attrName>
                                        </p:attrNameLst>
                                      </p:cBhvr>
                                      <p:to>
                                        <p:strVal val="visible"/>
                                      </p:to>
                                    </p:set>
                                    <p:animEffect transition="in" filter="wipe(left)">
                                      <p:cBhvr>
                                        <p:cTn id="28" dur="500"/>
                                        <p:tgtEl>
                                          <p:spTgt spid="357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95" grpId="0" animBg="1"/>
      <p:bldP spid="357436" grpId="0" animBg="1"/>
      <p:bldP spid="357454" grpId="0" animBg="1"/>
      <p:bldP spid="357455" grpId="0" animBg="1"/>
      <p:bldP spid="357458" grpId="0" animBg="1"/>
      <p:bldP spid="357515" grpId="0"/>
      <p:bldP spid="3575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rrowheads="1"/>
          </p:cNvSpPr>
          <p:nvPr>
            <p:ph type="title" idx="4294967295"/>
          </p:nvPr>
        </p:nvSpPr>
        <p:spPr>
          <a:xfrm>
            <a:off x="971550" y="60325"/>
            <a:ext cx="7993063" cy="555625"/>
          </a:xfrm>
        </p:spPr>
        <p:txBody>
          <a:bodyPr/>
          <a:lstStyle/>
          <a:p>
            <a:pPr>
              <a:defRPr/>
            </a:pPr>
            <a:r>
              <a:rPr lang="en-US" dirty="0" smtClean="0"/>
              <a:t>Deadweight Loss and Elasticities</a:t>
            </a:r>
          </a:p>
        </p:txBody>
      </p:sp>
      <p:sp>
        <p:nvSpPr>
          <p:cNvPr id="445443" name="Rectangle 3"/>
          <p:cNvSpPr>
            <a:spLocks noGrp="1" noChangeArrowheads="1"/>
          </p:cNvSpPr>
          <p:nvPr>
            <p:ph type="body" idx="4294967295"/>
          </p:nvPr>
        </p:nvSpPr>
        <p:spPr>
          <a:xfrm>
            <a:off x="792163" y="765175"/>
            <a:ext cx="8099425" cy="5761038"/>
          </a:xfrm>
        </p:spPr>
        <p:txBody>
          <a:bodyPr/>
          <a:lstStyle/>
          <a:p>
            <a:r>
              <a:rPr lang="en-US" smtClean="0"/>
              <a:t>In the extreme case in which demand is perfectly inelastic (a vertical demand curve), the quantity demanded is unchanged by the imposition of the tax. As a result, the tax imposes no deadweight loss.</a:t>
            </a:r>
            <a:br>
              <a:rPr lang="en-US" smtClean="0"/>
            </a:br>
            <a:endParaRPr lang="en-US" smtClean="0"/>
          </a:p>
          <a:p>
            <a:r>
              <a:rPr lang="en-US" smtClean="0"/>
              <a:t>Similarly, if supply is perfectly inelastic (a vertical supply curve), the quantity supplied is unchanged by the tax and there is also no deadweight loss.</a:t>
            </a:r>
          </a:p>
          <a:p>
            <a:endParaRPr lang="en-US" smtClean="0"/>
          </a:p>
          <a:p>
            <a:r>
              <a:rPr lang="en-US" smtClean="0"/>
              <a:t>If the goal in choosing whom to tax is to </a:t>
            </a:r>
            <a:r>
              <a:rPr lang="en-US" b="1" smtClean="0"/>
              <a:t>minimize deadweight loss</a:t>
            </a:r>
            <a:r>
              <a:rPr lang="en-US" smtClean="0"/>
              <a:t>, then taxes should be imposed on goods and services that have </a:t>
            </a:r>
            <a:r>
              <a:rPr lang="en-US" b="1" smtClean="0"/>
              <a:t>the most inelastic</a:t>
            </a:r>
            <a:r>
              <a:rPr lang="en-US" smtClean="0"/>
              <a:t> response—that is, goods and services for which consumers or producers will change their behavior the least in response to the tax.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5443">
                                            <p:txEl>
                                              <p:pRg st="0" end="0"/>
                                            </p:txEl>
                                          </p:spTgt>
                                        </p:tgtEl>
                                        <p:attrNameLst>
                                          <p:attrName>style.visibility</p:attrName>
                                        </p:attrNameLst>
                                      </p:cBhvr>
                                      <p:to>
                                        <p:strVal val="visible"/>
                                      </p:to>
                                    </p:set>
                                    <p:animEffect transition="in" filter="fade">
                                      <p:cBhvr>
                                        <p:cTn id="7" dur="500"/>
                                        <p:tgtEl>
                                          <p:spTgt spid="445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5443">
                                            <p:txEl>
                                              <p:pRg st="1" end="1"/>
                                            </p:txEl>
                                          </p:spTgt>
                                        </p:tgtEl>
                                        <p:attrNameLst>
                                          <p:attrName>style.visibility</p:attrName>
                                        </p:attrNameLst>
                                      </p:cBhvr>
                                      <p:to>
                                        <p:strVal val="visible"/>
                                      </p:to>
                                    </p:set>
                                    <p:animEffect transition="in" filter="fade">
                                      <p:cBhvr>
                                        <p:cTn id="12" dur="500"/>
                                        <p:tgtEl>
                                          <p:spTgt spid="445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5443">
                                            <p:txEl>
                                              <p:pRg st="3" end="3"/>
                                            </p:txEl>
                                          </p:spTgt>
                                        </p:tgtEl>
                                        <p:attrNameLst>
                                          <p:attrName>style.visibility</p:attrName>
                                        </p:attrNameLst>
                                      </p:cBhvr>
                                      <p:to>
                                        <p:strVal val="visible"/>
                                      </p:to>
                                    </p:set>
                                    <p:animEffect transition="in" filter="fade">
                                      <p:cBhvr>
                                        <p:cTn id="17" dur="500"/>
                                        <p:tgtEl>
                                          <p:spTgt spid="445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rrowheads="1"/>
          </p:cNvSpPr>
          <p:nvPr>
            <p:ph type="title" idx="4294967295"/>
          </p:nvPr>
        </p:nvSpPr>
        <p:spPr>
          <a:xfrm>
            <a:off x="971550" y="60325"/>
            <a:ext cx="7993063" cy="555625"/>
          </a:xfrm>
        </p:spPr>
        <p:txBody>
          <a:bodyPr/>
          <a:lstStyle/>
          <a:p>
            <a:r>
              <a:rPr lang="en-US" smtClean="0">
                <a:effectLst>
                  <a:outerShdw blurRad="38100" dist="38100" dir="2700000" algn="tl">
                    <a:srgbClr val="C0C0C0"/>
                  </a:outerShdw>
                </a:effectLst>
              </a:rPr>
              <a:t>Land Value Taxes – An Efficient Tax</a:t>
            </a:r>
          </a:p>
        </p:txBody>
      </p:sp>
      <p:sp>
        <p:nvSpPr>
          <p:cNvPr id="445443" name="Rectangle 3"/>
          <p:cNvSpPr>
            <a:spLocks noGrp="1" noChangeArrowheads="1"/>
          </p:cNvSpPr>
          <p:nvPr>
            <p:ph type="body" idx="4294967295"/>
          </p:nvPr>
        </p:nvSpPr>
        <p:spPr>
          <a:xfrm>
            <a:off x="503238" y="765175"/>
            <a:ext cx="4572000" cy="1943100"/>
          </a:xfrm>
        </p:spPr>
        <p:txBody>
          <a:bodyPr/>
          <a:lstStyle/>
          <a:p>
            <a:pPr>
              <a:lnSpc>
                <a:spcPct val="80000"/>
              </a:lnSpc>
              <a:buFont typeface="Arial" charset="0"/>
              <a:buNone/>
            </a:pPr>
            <a:r>
              <a:rPr lang="en-US" smtClean="0"/>
              <a:t>	Economists since Adam Smith have noted that the supply of land is almost perfectly inelastic (the quantity of land cannot be easily changed).</a:t>
            </a:r>
          </a:p>
        </p:txBody>
      </p:sp>
      <p:sp>
        <p:nvSpPr>
          <p:cNvPr id="2" name="Rectangle 3"/>
          <p:cNvSpPr>
            <a:spLocks noChangeArrowheads="1"/>
          </p:cNvSpPr>
          <p:nvPr/>
        </p:nvSpPr>
        <p:spPr bwMode="auto">
          <a:xfrm>
            <a:off x="719138" y="2673350"/>
            <a:ext cx="8064500" cy="3924300"/>
          </a:xfrm>
          <a:prstGeom prst="rect">
            <a:avLst/>
          </a:prstGeom>
          <a:noFill/>
          <a:ln w="9525">
            <a:noFill/>
            <a:miter lim="800000"/>
            <a:headEnd/>
            <a:tailEnd/>
          </a:ln>
        </p:spPr>
        <p:txBody>
          <a:bodyPr/>
          <a:lstStyle/>
          <a:p>
            <a:pPr marL="342900" indent="-342900" eaLnBrk="0" hangingPunct="0">
              <a:lnSpc>
                <a:spcPct val="90000"/>
              </a:lnSpc>
              <a:spcBef>
                <a:spcPct val="20000"/>
              </a:spcBef>
              <a:buFont typeface="Arial" charset="0"/>
              <a:buChar char="•"/>
            </a:pPr>
            <a:r>
              <a:rPr lang="en-US" sz="2500"/>
              <a:t>A tax on </a:t>
            </a:r>
            <a:r>
              <a:rPr lang="en-US" sz="2500" b="1" i="1"/>
              <a:t>land value</a:t>
            </a:r>
            <a:r>
              <a:rPr lang="en-US" sz="2500"/>
              <a:t> </a:t>
            </a:r>
            <a:br>
              <a:rPr lang="en-US" sz="2500"/>
            </a:br>
            <a:r>
              <a:rPr lang="en-US" sz="2500"/>
              <a:t>(that disregards the value </a:t>
            </a:r>
            <a:br>
              <a:rPr lang="en-US" sz="2500"/>
            </a:br>
            <a:r>
              <a:rPr lang="en-US" sz="2500"/>
              <a:t>of buildings, infrastructure </a:t>
            </a:r>
            <a:br>
              <a:rPr lang="en-US" sz="2500"/>
            </a:br>
            <a:r>
              <a:rPr lang="en-US" sz="2500"/>
              <a:t>and other improvements) is </a:t>
            </a:r>
            <a:br>
              <a:rPr lang="en-US" sz="2500"/>
            </a:br>
            <a:r>
              <a:rPr lang="en-US" sz="2500"/>
              <a:t>an extremely efficient tax.</a:t>
            </a:r>
          </a:p>
          <a:p>
            <a:pPr marL="342900" indent="-342900" eaLnBrk="0" hangingPunct="0">
              <a:lnSpc>
                <a:spcPct val="90000"/>
              </a:lnSpc>
              <a:spcBef>
                <a:spcPct val="20000"/>
              </a:spcBef>
              <a:buFont typeface="Arial" charset="0"/>
              <a:buChar char="•"/>
            </a:pPr>
            <a:r>
              <a:rPr lang="en-US" sz="2500"/>
              <a:t>The tax burden of a tax on land value will fall entirely on the owners of land. </a:t>
            </a:r>
          </a:p>
          <a:p>
            <a:pPr marL="742950" lvl="1" indent="-285750" eaLnBrk="0" hangingPunct="0">
              <a:lnSpc>
                <a:spcPct val="90000"/>
              </a:lnSpc>
              <a:spcBef>
                <a:spcPct val="20000"/>
              </a:spcBef>
              <a:buFont typeface="Wingdings" pitchFamily="2" charset="2"/>
              <a:buChar char="§"/>
            </a:pPr>
            <a:r>
              <a:rPr lang="en-US" sz="2300"/>
              <a:t>If paid by the rentier, market rents will fall by the amount of the tax.</a:t>
            </a:r>
          </a:p>
          <a:p>
            <a:pPr marL="742950" lvl="1" indent="-285750" eaLnBrk="0" hangingPunct="0">
              <a:lnSpc>
                <a:spcPct val="90000"/>
              </a:lnSpc>
              <a:spcBef>
                <a:spcPct val="20000"/>
              </a:spcBef>
              <a:buFont typeface="Wingdings" pitchFamily="2" charset="2"/>
              <a:buChar char="§"/>
            </a:pPr>
            <a:r>
              <a:rPr lang="en-US" sz="2300"/>
              <a:t>The market value of land will fall correspondingly, reducing the wealth of land owners.</a:t>
            </a:r>
          </a:p>
        </p:txBody>
      </p:sp>
      <p:pic>
        <p:nvPicPr>
          <p:cNvPr id="134151" name="Picture 7"/>
          <p:cNvPicPr>
            <a:picLocks noChangeAspect="1" noChangeArrowheads="1"/>
          </p:cNvPicPr>
          <p:nvPr/>
        </p:nvPicPr>
        <p:blipFill>
          <a:blip r:embed="rId3"/>
          <a:srcRect/>
          <a:stretch>
            <a:fillRect/>
          </a:stretch>
        </p:blipFill>
        <p:spPr bwMode="auto">
          <a:xfrm>
            <a:off x="4965700" y="692150"/>
            <a:ext cx="3854450" cy="3770313"/>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rrowheads="1"/>
          </p:cNvSpPr>
          <p:nvPr>
            <p:ph type="title" idx="4294967295"/>
          </p:nvPr>
        </p:nvSpPr>
        <p:spPr>
          <a:xfrm>
            <a:off x="971550" y="60325"/>
            <a:ext cx="7993063" cy="555625"/>
          </a:xfrm>
        </p:spPr>
        <p:txBody>
          <a:bodyPr/>
          <a:lstStyle/>
          <a:p>
            <a:pPr>
              <a:defRPr/>
            </a:pPr>
            <a:r>
              <a:rPr lang="en-US" dirty="0" smtClean="0"/>
              <a:t>Tax Fairness and Tax Efficiency</a:t>
            </a:r>
            <a:endParaRPr lang="en-US" b="0" dirty="0" smtClean="0"/>
          </a:p>
        </p:txBody>
      </p:sp>
      <p:sp>
        <p:nvSpPr>
          <p:cNvPr id="392195" name="Rectangle 3"/>
          <p:cNvSpPr>
            <a:spLocks noGrp="1" noChangeArrowheads="1"/>
          </p:cNvSpPr>
          <p:nvPr>
            <p:ph type="body" idx="4294967295"/>
          </p:nvPr>
        </p:nvSpPr>
        <p:spPr>
          <a:xfrm>
            <a:off x="900113" y="908050"/>
            <a:ext cx="8064500" cy="5218113"/>
          </a:xfrm>
        </p:spPr>
        <p:txBody>
          <a:bodyPr/>
          <a:lstStyle/>
          <a:p>
            <a:pPr marL="225425" indent="-225425">
              <a:lnSpc>
                <a:spcPct val="90000"/>
              </a:lnSpc>
            </a:pPr>
            <a:r>
              <a:rPr lang="en-US" smtClean="0"/>
              <a:t>Two principles of tax fairness:</a:t>
            </a:r>
          </a:p>
          <a:p>
            <a:pPr marL="631825" lvl="1" indent="-231775">
              <a:lnSpc>
                <a:spcPct val="90000"/>
              </a:lnSpc>
            </a:pPr>
            <a:r>
              <a:rPr lang="en-US" smtClean="0"/>
              <a:t>According to the </a:t>
            </a:r>
            <a:r>
              <a:rPr lang="en-US" b="1" smtClean="0"/>
              <a:t>benefits principle </a:t>
            </a:r>
            <a:r>
              <a:rPr lang="en-US" smtClean="0"/>
              <a:t>of tax fairness, those who benefit from public spending should bear the burden of the tax that pays for that spending.</a:t>
            </a:r>
          </a:p>
          <a:p>
            <a:pPr lvl="2">
              <a:lnSpc>
                <a:spcPct val="90000"/>
              </a:lnSpc>
            </a:pPr>
            <a:r>
              <a:rPr lang="en-US" smtClean="0"/>
              <a:t>Those who own the most property likely benefit the most from government (police, public infrastructure, etc.)</a:t>
            </a:r>
          </a:p>
          <a:p>
            <a:pPr marL="631825" lvl="1" indent="-231775">
              <a:lnSpc>
                <a:spcPct val="90000"/>
              </a:lnSpc>
            </a:pPr>
            <a:r>
              <a:rPr lang="en-US" smtClean="0"/>
              <a:t>According to the </a:t>
            </a:r>
            <a:r>
              <a:rPr lang="en-US" b="1" smtClean="0"/>
              <a:t>ability-to-pay principle</a:t>
            </a:r>
            <a:r>
              <a:rPr lang="en-US" smtClean="0"/>
              <a:t>, those with greater ability to pay, should pay more tax.</a:t>
            </a:r>
            <a:br>
              <a:rPr lang="en-US" smtClean="0"/>
            </a:br>
            <a:endParaRPr lang="en-US" smtClean="0"/>
          </a:p>
          <a:p>
            <a:pPr marL="225425" indent="-225425">
              <a:lnSpc>
                <a:spcPct val="90000"/>
              </a:lnSpc>
            </a:pPr>
            <a:r>
              <a:rPr lang="en-US" smtClean="0"/>
              <a:t>A </a:t>
            </a:r>
            <a:r>
              <a:rPr lang="en-US" b="1" smtClean="0"/>
              <a:t>lump-sum tax </a:t>
            </a:r>
            <a:r>
              <a:rPr lang="en-US" smtClean="0"/>
              <a:t>is the same for everyone, regardless of any actions people take.</a:t>
            </a:r>
          </a:p>
          <a:p>
            <a:pPr marL="631825" lvl="1" indent="-231775">
              <a:lnSpc>
                <a:spcPct val="90000"/>
              </a:lnSpc>
            </a:pPr>
            <a:r>
              <a:rPr lang="en-US" smtClean="0"/>
              <a:t>It is the most efficient, as it is easiest to collect and distorts incentives the least, but it is also the least fair.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Effect transition="in" filter="fade">
                                      <p:cBhvr>
                                        <p:cTn id="7" dur="500"/>
                                        <p:tgtEl>
                                          <p:spTgt spid="39219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2195">
                                            <p:txEl>
                                              <p:pRg st="1" end="1"/>
                                            </p:txEl>
                                          </p:spTgt>
                                        </p:tgtEl>
                                        <p:attrNameLst>
                                          <p:attrName>style.visibility</p:attrName>
                                        </p:attrNameLst>
                                      </p:cBhvr>
                                      <p:to>
                                        <p:strVal val="visible"/>
                                      </p:to>
                                    </p:set>
                                    <p:animEffect transition="in" filter="fade">
                                      <p:cBhvr>
                                        <p:cTn id="10" dur="500"/>
                                        <p:tgtEl>
                                          <p:spTgt spid="39219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2195">
                                            <p:txEl>
                                              <p:pRg st="2" end="2"/>
                                            </p:txEl>
                                          </p:spTgt>
                                        </p:tgtEl>
                                        <p:attrNameLst>
                                          <p:attrName>style.visibility</p:attrName>
                                        </p:attrNameLst>
                                      </p:cBhvr>
                                      <p:to>
                                        <p:strVal val="visible"/>
                                      </p:to>
                                    </p:set>
                                    <p:animEffect transition="in" filter="fade">
                                      <p:cBhvr>
                                        <p:cTn id="13" dur="500"/>
                                        <p:tgtEl>
                                          <p:spTgt spid="39219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2195">
                                            <p:txEl>
                                              <p:pRg st="3" end="3"/>
                                            </p:txEl>
                                          </p:spTgt>
                                        </p:tgtEl>
                                        <p:attrNameLst>
                                          <p:attrName>style.visibility</p:attrName>
                                        </p:attrNameLst>
                                      </p:cBhvr>
                                      <p:to>
                                        <p:strVal val="visible"/>
                                      </p:to>
                                    </p:set>
                                    <p:animEffect transition="in" filter="fade">
                                      <p:cBhvr>
                                        <p:cTn id="16" dur="500"/>
                                        <p:tgtEl>
                                          <p:spTgt spid="39219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92195">
                                            <p:txEl>
                                              <p:pRg st="4" end="4"/>
                                            </p:txEl>
                                          </p:spTgt>
                                        </p:tgtEl>
                                        <p:attrNameLst>
                                          <p:attrName>style.visibility</p:attrName>
                                        </p:attrNameLst>
                                      </p:cBhvr>
                                      <p:to>
                                        <p:strVal val="visible"/>
                                      </p:to>
                                    </p:set>
                                    <p:animEffect transition="in" filter="fade">
                                      <p:cBhvr>
                                        <p:cTn id="21" dur="500"/>
                                        <p:tgtEl>
                                          <p:spTgt spid="39219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92195">
                                            <p:txEl>
                                              <p:pRg st="5" end="5"/>
                                            </p:txEl>
                                          </p:spTgt>
                                        </p:tgtEl>
                                        <p:attrNameLst>
                                          <p:attrName>style.visibility</p:attrName>
                                        </p:attrNameLst>
                                      </p:cBhvr>
                                      <p:to>
                                        <p:strVal val="visible"/>
                                      </p:to>
                                    </p:set>
                                    <p:animEffect transition="in" filter="fade">
                                      <p:cBhvr>
                                        <p:cTn id="24" dur="500"/>
                                        <p:tgtEl>
                                          <p:spTgt spid="392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Rot="1" noChangeArrowheads="1"/>
          </p:cNvSpPr>
          <p:nvPr>
            <p:ph type="title" idx="4294967295"/>
          </p:nvPr>
        </p:nvSpPr>
        <p:spPr>
          <a:xfrm>
            <a:off x="971550" y="60325"/>
            <a:ext cx="8178800" cy="555625"/>
          </a:xfrm>
        </p:spPr>
        <p:txBody>
          <a:bodyPr/>
          <a:lstStyle/>
          <a:p>
            <a:pPr>
              <a:defRPr/>
            </a:pPr>
            <a:r>
              <a:rPr lang="en-US" dirty="0" smtClean="0"/>
              <a:t>Tax Fairness and Tax Efficiency</a:t>
            </a:r>
            <a:endParaRPr lang="en-US" b="0" dirty="0" smtClean="0"/>
          </a:p>
        </p:txBody>
      </p:sp>
      <p:sp>
        <p:nvSpPr>
          <p:cNvPr id="394243" name="Rectangle 3"/>
          <p:cNvSpPr>
            <a:spLocks noGrp="1" noChangeArrowheads="1"/>
          </p:cNvSpPr>
          <p:nvPr>
            <p:ph type="body" idx="4294967295"/>
          </p:nvPr>
        </p:nvSpPr>
        <p:spPr>
          <a:xfrm>
            <a:off x="971550" y="1052513"/>
            <a:ext cx="7921625" cy="5073650"/>
          </a:xfrm>
        </p:spPr>
        <p:txBody>
          <a:bodyPr/>
          <a:lstStyle/>
          <a:p>
            <a:pPr marL="231775" indent="-231775"/>
            <a:r>
              <a:rPr lang="en-US" smtClean="0"/>
              <a:t>The fairest taxes, in terms of the ability-to-pay principle, taxes most those who earn the most (who may also be the hardest working)</a:t>
            </a:r>
          </a:p>
          <a:p>
            <a:pPr lvl="1"/>
            <a:r>
              <a:rPr lang="en-US" smtClean="0"/>
              <a:t>These </a:t>
            </a:r>
            <a:r>
              <a:rPr lang="en-US" i="1" smtClean="0"/>
              <a:t>progressive taxes</a:t>
            </a:r>
            <a:r>
              <a:rPr lang="en-US" smtClean="0"/>
              <a:t> distort incentives the most and perform badly on efficiency grounds. </a:t>
            </a:r>
            <a:br>
              <a:rPr lang="en-US" smtClean="0"/>
            </a:br>
            <a:endParaRPr lang="en-US" smtClean="0"/>
          </a:p>
          <a:p>
            <a:pPr marL="231775" indent="-231775"/>
            <a:r>
              <a:rPr lang="en-US" smtClean="0"/>
              <a:t>In a well-designed tax system, there is a </a:t>
            </a:r>
            <a:r>
              <a:rPr lang="en-US" b="1" smtClean="0"/>
              <a:t>trade-off between equity and efficiency</a:t>
            </a:r>
            <a:r>
              <a:rPr lang="en-US" smtClean="0"/>
              <a:t>: the system can be made more efficient only by making it less fair, and vice versa.</a:t>
            </a:r>
          </a:p>
          <a:p>
            <a:pPr lvl="1"/>
            <a:r>
              <a:rPr lang="en-US" smtClean="0"/>
              <a:t>Tax systems are often badly designed, and so it is often possible to both increase equity </a:t>
            </a:r>
            <a:r>
              <a:rPr lang="en-US" i="1" smtClean="0"/>
              <a:t>and</a:t>
            </a:r>
            <a:r>
              <a:rPr lang="en-US" smtClean="0"/>
              <a:t> efficiency</a:t>
            </a:r>
          </a:p>
          <a:p>
            <a:pPr marL="231775" indent="-231775">
              <a:buFont typeface="Wingdings" pitchFamily="2" charset="2"/>
              <a:buNone/>
            </a:pPr>
            <a:endParaRPr lang="en-US" smtClean="0"/>
          </a:p>
          <a:p>
            <a:pPr marL="231775" indent="-231775"/>
            <a:endParaRPr lang="en-US" smtClean="0"/>
          </a:p>
          <a:p>
            <a:pPr marL="231775" indent="-231775">
              <a:buFont typeface="Wingdings" pitchFamily="2" charset="2"/>
              <a:buNone/>
            </a:pPr>
            <a:endParaRPr 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Effect transition="in" filter="fade">
                                      <p:cBhvr>
                                        <p:cTn id="7" dur="500"/>
                                        <p:tgtEl>
                                          <p:spTgt spid="39424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4243">
                                            <p:txEl>
                                              <p:pRg st="1" end="1"/>
                                            </p:txEl>
                                          </p:spTgt>
                                        </p:tgtEl>
                                        <p:attrNameLst>
                                          <p:attrName>style.visibility</p:attrName>
                                        </p:attrNameLst>
                                      </p:cBhvr>
                                      <p:to>
                                        <p:strVal val="visible"/>
                                      </p:to>
                                    </p:set>
                                    <p:animEffect transition="in" filter="fade">
                                      <p:cBhvr>
                                        <p:cTn id="10" dur="500"/>
                                        <p:tgtEl>
                                          <p:spTgt spid="39424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4243">
                                            <p:txEl>
                                              <p:pRg st="2" end="2"/>
                                            </p:txEl>
                                          </p:spTgt>
                                        </p:tgtEl>
                                        <p:attrNameLst>
                                          <p:attrName>style.visibility</p:attrName>
                                        </p:attrNameLst>
                                      </p:cBhvr>
                                      <p:to>
                                        <p:strVal val="visible"/>
                                      </p:to>
                                    </p:set>
                                    <p:animEffect transition="in" filter="fade">
                                      <p:cBhvr>
                                        <p:cTn id="15" dur="500"/>
                                        <p:tgtEl>
                                          <p:spTgt spid="39424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94243">
                                            <p:txEl>
                                              <p:pRg st="3" end="3"/>
                                            </p:txEl>
                                          </p:spTgt>
                                        </p:tgtEl>
                                        <p:attrNameLst>
                                          <p:attrName>style.visibility</p:attrName>
                                        </p:attrNameLst>
                                      </p:cBhvr>
                                      <p:to>
                                        <p:strVal val="visible"/>
                                      </p:to>
                                    </p:set>
                                    <p:animEffect transition="in" filter="fade">
                                      <p:cBhvr>
                                        <p:cTn id="18" dur="500"/>
                                        <p:tgtEl>
                                          <p:spTgt spid="394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Rot="1" noChangeArrowheads="1"/>
          </p:cNvSpPr>
          <p:nvPr>
            <p:ph type="title" idx="4294967295"/>
          </p:nvPr>
        </p:nvSpPr>
        <p:spPr>
          <a:xfrm>
            <a:off x="900113" y="60325"/>
            <a:ext cx="8064500" cy="555625"/>
          </a:xfrm>
        </p:spPr>
        <p:txBody>
          <a:bodyPr/>
          <a:lstStyle/>
          <a:p>
            <a:pPr>
              <a:defRPr/>
            </a:pPr>
            <a:r>
              <a:rPr lang="en-US" dirty="0" smtClean="0"/>
              <a:t>Understanding the Tax System</a:t>
            </a:r>
            <a:endParaRPr lang="en-US" b="0" dirty="0" smtClean="0"/>
          </a:p>
        </p:txBody>
      </p:sp>
      <p:sp>
        <p:nvSpPr>
          <p:cNvPr id="398339" name="Rectangle 3"/>
          <p:cNvSpPr>
            <a:spLocks noGrp="1" noChangeArrowheads="1"/>
          </p:cNvSpPr>
          <p:nvPr>
            <p:ph type="body" idx="4294967295"/>
          </p:nvPr>
        </p:nvSpPr>
        <p:spPr>
          <a:xfrm>
            <a:off x="647700" y="728663"/>
            <a:ext cx="8461375" cy="6013450"/>
          </a:xfrm>
        </p:spPr>
        <p:txBody>
          <a:bodyPr/>
          <a:lstStyle/>
          <a:p>
            <a:pPr>
              <a:lnSpc>
                <a:spcPct val="110000"/>
              </a:lnSpc>
              <a:buFont typeface="Wingdings" pitchFamily="2" charset="2"/>
              <a:buNone/>
            </a:pPr>
            <a:r>
              <a:rPr lang="en-US" sz="2400" smtClean="0"/>
              <a:t>The </a:t>
            </a:r>
            <a:r>
              <a:rPr lang="en-US" sz="2400" b="1" smtClean="0"/>
              <a:t>tax base </a:t>
            </a:r>
            <a:r>
              <a:rPr lang="en-US" sz="2400" smtClean="0"/>
              <a:t>is the measure or value, such as income or property value, that determines how much tax an individual or firm pays.</a:t>
            </a:r>
          </a:p>
          <a:p>
            <a:pPr>
              <a:lnSpc>
                <a:spcPct val="110000"/>
              </a:lnSpc>
              <a:buFont typeface="Wingdings" pitchFamily="2" charset="2"/>
              <a:buNone/>
            </a:pPr>
            <a:r>
              <a:rPr lang="en-US" sz="2400" smtClean="0"/>
              <a:t>Some important taxes and their tax bases are:</a:t>
            </a:r>
            <a:endParaRPr lang="en-US" sz="2400" b="1" smtClean="0"/>
          </a:p>
          <a:p>
            <a:pPr>
              <a:lnSpc>
                <a:spcPct val="110000"/>
              </a:lnSpc>
            </a:pPr>
            <a:r>
              <a:rPr lang="en-US" sz="2300" b="1" smtClean="0"/>
              <a:t>Income tax</a:t>
            </a:r>
            <a:r>
              <a:rPr lang="en-US" sz="2300" smtClean="0"/>
              <a:t>: a tax that depends on the income of an individual or a family from wages and investments</a:t>
            </a:r>
          </a:p>
          <a:p>
            <a:pPr>
              <a:lnSpc>
                <a:spcPct val="110000"/>
              </a:lnSpc>
            </a:pPr>
            <a:r>
              <a:rPr lang="en-US" sz="2300" b="1" smtClean="0"/>
              <a:t>Payroll tax</a:t>
            </a:r>
            <a:r>
              <a:rPr lang="en-US" sz="2300" smtClean="0"/>
              <a:t>: a tax that depends on the wages an employer pays to an employee</a:t>
            </a:r>
          </a:p>
          <a:p>
            <a:pPr>
              <a:lnSpc>
                <a:spcPct val="110000"/>
              </a:lnSpc>
            </a:pPr>
            <a:r>
              <a:rPr lang="en-US" sz="2300" b="1" smtClean="0"/>
              <a:t>Sales tax</a:t>
            </a:r>
            <a:r>
              <a:rPr lang="en-US" sz="2300" smtClean="0"/>
              <a:t>: a tax that depends on the value of goods sold, also known as an excise tax or a value-added tax (VAT)</a:t>
            </a:r>
          </a:p>
          <a:p>
            <a:pPr>
              <a:lnSpc>
                <a:spcPct val="110000"/>
              </a:lnSpc>
            </a:pPr>
            <a:r>
              <a:rPr lang="en-US" sz="2300" b="1" smtClean="0"/>
              <a:t>Profits tax</a:t>
            </a:r>
            <a:r>
              <a:rPr lang="en-US" sz="2300" smtClean="0"/>
              <a:t>: a tax that depends on a firm’s profits</a:t>
            </a:r>
          </a:p>
          <a:p>
            <a:pPr>
              <a:lnSpc>
                <a:spcPct val="110000"/>
              </a:lnSpc>
            </a:pPr>
            <a:r>
              <a:rPr lang="en-US" sz="2300" b="1" smtClean="0"/>
              <a:t>Property tax</a:t>
            </a:r>
            <a:r>
              <a:rPr lang="en-US" sz="2300" smtClean="0"/>
              <a:t>: a tax that depends on the value of property, such as the value of real estate or land</a:t>
            </a:r>
          </a:p>
          <a:p>
            <a:pPr>
              <a:lnSpc>
                <a:spcPct val="110000"/>
              </a:lnSpc>
            </a:pPr>
            <a:r>
              <a:rPr lang="en-US" sz="2300" b="1" smtClean="0"/>
              <a:t>Wealth tax</a:t>
            </a:r>
            <a:r>
              <a:rPr lang="en-US" sz="2300" smtClean="0"/>
              <a:t>: a tax that depends on an individual’s wealth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fade">
                                      <p:cBhvr>
                                        <p:cTn id="7" dur="500"/>
                                        <p:tgtEl>
                                          <p:spTgt spid="398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8339">
                                            <p:txEl>
                                              <p:pRg st="1" end="1"/>
                                            </p:txEl>
                                          </p:spTgt>
                                        </p:tgtEl>
                                        <p:attrNameLst>
                                          <p:attrName>style.visibility</p:attrName>
                                        </p:attrNameLst>
                                      </p:cBhvr>
                                      <p:to>
                                        <p:strVal val="visible"/>
                                      </p:to>
                                    </p:set>
                                    <p:animEffect transition="in" filter="fade">
                                      <p:cBhvr>
                                        <p:cTn id="12" dur="500"/>
                                        <p:tgtEl>
                                          <p:spTgt spid="398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8339">
                                            <p:txEl>
                                              <p:pRg st="2" end="2"/>
                                            </p:txEl>
                                          </p:spTgt>
                                        </p:tgtEl>
                                        <p:attrNameLst>
                                          <p:attrName>style.visibility</p:attrName>
                                        </p:attrNameLst>
                                      </p:cBhvr>
                                      <p:to>
                                        <p:strVal val="visible"/>
                                      </p:to>
                                    </p:set>
                                    <p:animEffect transition="in" filter="fade">
                                      <p:cBhvr>
                                        <p:cTn id="17" dur="500"/>
                                        <p:tgtEl>
                                          <p:spTgt spid="398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8339">
                                            <p:txEl>
                                              <p:pRg st="3" end="3"/>
                                            </p:txEl>
                                          </p:spTgt>
                                        </p:tgtEl>
                                        <p:attrNameLst>
                                          <p:attrName>style.visibility</p:attrName>
                                        </p:attrNameLst>
                                      </p:cBhvr>
                                      <p:to>
                                        <p:strVal val="visible"/>
                                      </p:to>
                                    </p:set>
                                    <p:animEffect transition="in" filter="fade">
                                      <p:cBhvr>
                                        <p:cTn id="22" dur="500"/>
                                        <p:tgtEl>
                                          <p:spTgt spid="398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8339">
                                            <p:txEl>
                                              <p:pRg st="4" end="4"/>
                                            </p:txEl>
                                          </p:spTgt>
                                        </p:tgtEl>
                                        <p:attrNameLst>
                                          <p:attrName>style.visibility</p:attrName>
                                        </p:attrNameLst>
                                      </p:cBhvr>
                                      <p:to>
                                        <p:strVal val="visible"/>
                                      </p:to>
                                    </p:set>
                                    <p:animEffect transition="in" filter="fade">
                                      <p:cBhvr>
                                        <p:cTn id="27" dur="500"/>
                                        <p:tgtEl>
                                          <p:spTgt spid="398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98339">
                                            <p:txEl>
                                              <p:pRg st="5" end="5"/>
                                            </p:txEl>
                                          </p:spTgt>
                                        </p:tgtEl>
                                        <p:attrNameLst>
                                          <p:attrName>style.visibility</p:attrName>
                                        </p:attrNameLst>
                                      </p:cBhvr>
                                      <p:to>
                                        <p:strVal val="visible"/>
                                      </p:to>
                                    </p:set>
                                    <p:animEffect transition="in" filter="fade">
                                      <p:cBhvr>
                                        <p:cTn id="32" dur="500"/>
                                        <p:tgtEl>
                                          <p:spTgt spid="398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98339">
                                            <p:txEl>
                                              <p:pRg st="6" end="6"/>
                                            </p:txEl>
                                          </p:spTgt>
                                        </p:tgtEl>
                                        <p:attrNameLst>
                                          <p:attrName>style.visibility</p:attrName>
                                        </p:attrNameLst>
                                      </p:cBhvr>
                                      <p:to>
                                        <p:strVal val="visible"/>
                                      </p:to>
                                    </p:set>
                                    <p:animEffect transition="in" filter="fade">
                                      <p:cBhvr>
                                        <p:cTn id="37" dur="500"/>
                                        <p:tgtEl>
                                          <p:spTgt spid="3983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8339">
                                            <p:txEl>
                                              <p:pRg st="7" end="7"/>
                                            </p:txEl>
                                          </p:spTgt>
                                        </p:tgtEl>
                                        <p:attrNameLst>
                                          <p:attrName>style.visibility</p:attrName>
                                        </p:attrNameLst>
                                      </p:cBhvr>
                                      <p:to>
                                        <p:strVal val="visible"/>
                                      </p:to>
                                    </p:set>
                                    <p:animEffect transition="in" filter="fade">
                                      <p:cBhvr>
                                        <p:cTn id="42" dur="500"/>
                                        <p:tgtEl>
                                          <p:spTgt spid="398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1" name="Rectangle 3"/>
          <p:cNvSpPr>
            <a:spLocks noGrp="1" noRot="1" noChangeArrowheads="1"/>
          </p:cNvSpPr>
          <p:nvPr>
            <p:ph type="title" idx="4294967295"/>
          </p:nvPr>
        </p:nvSpPr>
        <p:spPr>
          <a:xfrm>
            <a:off x="971550" y="60325"/>
            <a:ext cx="7993063" cy="555625"/>
          </a:xfrm>
        </p:spPr>
        <p:txBody>
          <a:bodyPr/>
          <a:lstStyle/>
          <a:p>
            <a:pPr>
              <a:defRPr/>
            </a:pPr>
            <a:r>
              <a:rPr lang="en-US" dirty="0" smtClean="0"/>
              <a:t>Understanding the Tax System</a:t>
            </a:r>
          </a:p>
        </p:txBody>
      </p:sp>
      <p:pic>
        <p:nvPicPr>
          <p:cNvPr id="5" name="Content Placeholder 4" descr="Krug3e_table_7_04.jpg"/>
          <p:cNvPicPr>
            <a:picLocks noGrp="1" noChangeAspect="1"/>
          </p:cNvPicPr>
          <p:nvPr>
            <p:ph idx="4294967295"/>
          </p:nvPr>
        </p:nvPicPr>
        <p:blipFill>
          <a:blip r:embed="rId3"/>
          <a:srcRect t="-3088" b="-3088"/>
          <a:stretch>
            <a:fillRect/>
          </a:stretch>
        </p:blipFill>
        <p:spPr/>
      </p:pic>
    </p:spTree>
    <p:extLst>
      <p:ext uri="{BB962C8B-B14F-4D97-AF65-F5344CB8AC3E}">
        <p14:creationId xmlns:p14="http://schemas.microsoft.com/office/powerpoint/2010/main" val="25742463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Rot="1" noChangeArrowheads="1"/>
          </p:cNvSpPr>
          <p:nvPr>
            <p:ph type="title" idx="4294967295"/>
          </p:nvPr>
        </p:nvSpPr>
        <p:spPr>
          <a:xfrm>
            <a:off x="900113" y="60325"/>
            <a:ext cx="8064500" cy="555625"/>
          </a:xfrm>
        </p:spPr>
        <p:txBody>
          <a:bodyPr/>
          <a:lstStyle/>
          <a:p>
            <a:pPr>
              <a:defRPr/>
            </a:pPr>
            <a:r>
              <a:rPr lang="en-US" dirty="0" smtClean="0"/>
              <a:t>Understanding the Tax System</a:t>
            </a:r>
            <a:endParaRPr lang="en-US" b="0" dirty="0" smtClean="0"/>
          </a:p>
        </p:txBody>
      </p:sp>
      <p:sp>
        <p:nvSpPr>
          <p:cNvPr id="402435" name="Rectangle 3"/>
          <p:cNvSpPr>
            <a:spLocks noGrp="1" noChangeArrowheads="1"/>
          </p:cNvSpPr>
          <p:nvPr>
            <p:ph type="body" idx="4294967295"/>
          </p:nvPr>
        </p:nvSpPr>
        <p:spPr>
          <a:xfrm>
            <a:off x="684213" y="728663"/>
            <a:ext cx="8389937" cy="5868987"/>
          </a:xfrm>
        </p:spPr>
        <p:txBody>
          <a:bodyPr/>
          <a:lstStyle/>
          <a:p>
            <a:pPr>
              <a:buFont typeface="Arial" charset="0"/>
              <a:buNone/>
            </a:pPr>
            <a:r>
              <a:rPr lang="en-US" dirty="0" smtClean="0"/>
              <a:t>	Once the tax base has been defined, the next question is how the tax depends on the base. The </a:t>
            </a:r>
            <a:r>
              <a:rPr lang="en-US" b="1" dirty="0" smtClean="0"/>
              <a:t>tax structure </a:t>
            </a:r>
            <a:r>
              <a:rPr lang="en-US" dirty="0" smtClean="0"/>
              <a:t>specifies how the tax depends on the tax base. </a:t>
            </a:r>
            <a:br>
              <a:rPr lang="en-US" dirty="0" smtClean="0"/>
            </a:br>
            <a:endParaRPr lang="en-US" dirty="0" smtClean="0"/>
          </a:p>
          <a:p>
            <a:r>
              <a:rPr lang="en-US" dirty="0" smtClean="0"/>
              <a:t>The simplest tax structure is a </a:t>
            </a:r>
            <a:r>
              <a:rPr lang="en-US" b="1" dirty="0" smtClean="0"/>
              <a:t>proportional tax, </a:t>
            </a:r>
            <a:r>
              <a:rPr lang="en-US" dirty="0" smtClean="0"/>
              <a:t>also sometimes called a </a:t>
            </a:r>
            <a:r>
              <a:rPr lang="en-US" i="1" dirty="0" smtClean="0"/>
              <a:t>flat tax, </a:t>
            </a:r>
            <a:r>
              <a:rPr lang="en-US" dirty="0" smtClean="0"/>
              <a:t>which is the same percentage of the base regardless of the taxpayer’s income or wealth.</a:t>
            </a:r>
          </a:p>
          <a:p>
            <a:endParaRPr lang="en-US" dirty="0" smtClean="0"/>
          </a:p>
          <a:p>
            <a:r>
              <a:rPr lang="en-US" dirty="0" smtClean="0"/>
              <a:t>A </a:t>
            </a:r>
            <a:r>
              <a:rPr lang="en-US" b="1" dirty="0" smtClean="0"/>
              <a:t>progressive tax</a:t>
            </a:r>
            <a:r>
              <a:rPr lang="en-US" dirty="0" smtClean="0"/>
              <a:t> takes a larger share of the income of high-income taxpayers than of low-income taxpayers.</a:t>
            </a:r>
          </a:p>
          <a:p>
            <a:r>
              <a:rPr lang="en-US" dirty="0" smtClean="0"/>
              <a:t>A </a:t>
            </a:r>
            <a:r>
              <a:rPr lang="en-US" b="1" dirty="0" smtClean="0"/>
              <a:t>regressive tax</a:t>
            </a:r>
            <a:r>
              <a:rPr lang="en-US" dirty="0" smtClean="0"/>
              <a:t> takes a smaller share of the income of high-income taxpayers than of low-income taxpayers.</a:t>
            </a:r>
          </a:p>
          <a:p>
            <a:r>
              <a:rPr lang="en-US" dirty="0" smtClean="0"/>
              <a:t>The </a:t>
            </a:r>
            <a:r>
              <a:rPr lang="en-US" b="1" dirty="0" smtClean="0"/>
              <a:t>marginal tax rate</a:t>
            </a:r>
            <a:r>
              <a:rPr lang="en-US" dirty="0" smtClean="0"/>
              <a:t> is the percentage of an increase in income that is taxed away.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Effect transition="in" filter="fade">
                                      <p:cBhvr>
                                        <p:cTn id="7" dur="500"/>
                                        <p:tgtEl>
                                          <p:spTgt spid="402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2435">
                                            <p:txEl>
                                              <p:pRg st="1" end="1"/>
                                            </p:txEl>
                                          </p:spTgt>
                                        </p:tgtEl>
                                        <p:attrNameLst>
                                          <p:attrName>style.visibility</p:attrName>
                                        </p:attrNameLst>
                                      </p:cBhvr>
                                      <p:to>
                                        <p:strVal val="visible"/>
                                      </p:to>
                                    </p:set>
                                    <p:animEffect transition="in" filter="fade">
                                      <p:cBhvr>
                                        <p:cTn id="12" dur="500"/>
                                        <p:tgtEl>
                                          <p:spTgt spid="402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2435">
                                            <p:txEl>
                                              <p:pRg st="3" end="3"/>
                                            </p:txEl>
                                          </p:spTgt>
                                        </p:tgtEl>
                                        <p:attrNameLst>
                                          <p:attrName>style.visibility</p:attrName>
                                        </p:attrNameLst>
                                      </p:cBhvr>
                                      <p:to>
                                        <p:strVal val="visible"/>
                                      </p:to>
                                    </p:set>
                                    <p:animEffect transition="in" filter="fade">
                                      <p:cBhvr>
                                        <p:cTn id="17" dur="500"/>
                                        <p:tgtEl>
                                          <p:spTgt spid="40243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2435">
                                            <p:txEl>
                                              <p:pRg st="4" end="4"/>
                                            </p:txEl>
                                          </p:spTgt>
                                        </p:tgtEl>
                                        <p:attrNameLst>
                                          <p:attrName>style.visibility</p:attrName>
                                        </p:attrNameLst>
                                      </p:cBhvr>
                                      <p:to>
                                        <p:strVal val="visible"/>
                                      </p:to>
                                    </p:set>
                                    <p:animEffect transition="in" filter="fade">
                                      <p:cBhvr>
                                        <p:cTn id="22" dur="500"/>
                                        <p:tgtEl>
                                          <p:spTgt spid="40243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2435">
                                            <p:txEl>
                                              <p:pRg st="5" end="5"/>
                                            </p:txEl>
                                          </p:spTgt>
                                        </p:tgtEl>
                                        <p:attrNameLst>
                                          <p:attrName>style.visibility</p:attrName>
                                        </p:attrNameLst>
                                      </p:cBhvr>
                                      <p:to>
                                        <p:strVal val="visible"/>
                                      </p:to>
                                    </p:set>
                                    <p:animEffect transition="in" filter="fade">
                                      <p:cBhvr>
                                        <p:cTn id="27" dur="500"/>
                                        <p:tgtEl>
                                          <p:spTgt spid="402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00113" y="60325"/>
            <a:ext cx="8250237" cy="555625"/>
          </a:xfrm>
        </p:spPr>
        <p:txBody>
          <a:bodyPr/>
          <a:lstStyle/>
          <a:p>
            <a:r>
              <a:rPr lang="en-US" dirty="0">
                <a:effectLst>
                  <a:outerShdw blurRad="38100" dist="38100" dir="2700000" algn="tl">
                    <a:srgbClr val="C0C0C0"/>
                  </a:outerShdw>
                </a:effectLst>
              </a:rPr>
              <a:t>Income </a:t>
            </a:r>
            <a:r>
              <a:rPr lang="en-US" dirty="0" smtClean="0">
                <a:effectLst>
                  <a:outerShdw blurRad="38100" dist="38100" dir="2700000" algn="tl">
                    <a:srgbClr val="C0C0C0"/>
                  </a:outerShdw>
                </a:effectLst>
              </a:rPr>
              <a:t>Tax Rates: China and US</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988" y="908720"/>
            <a:ext cx="4663440" cy="2674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7464" y="3759351"/>
            <a:ext cx="4351020" cy="2567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3"/>
          <p:cNvSpPr txBox="1">
            <a:spLocks noChangeArrowheads="1"/>
          </p:cNvSpPr>
          <p:nvPr/>
        </p:nvSpPr>
        <p:spPr bwMode="auto">
          <a:xfrm>
            <a:off x="467544" y="728663"/>
            <a:ext cx="3996444" cy="5868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China’s income tax rates are highly progressive. </a:t>
            </a:r>
            <a:br>
              <a:rPr lang="en-US" dirty="0" smtClean="0"/>
            </a:br>
            <a:r>
              <a:rPr lang="en-US" dirty="0" smtClean="0"/>
              <a:t>But tax evasion at the </a:t>
            </a:r>
            <a:br>
              <a:rPr lang="en-US" dirty="0" smtClean="0"/>
            </a:br>
            <a:r>
              <a:rPr lang="en-US" dirty="0" smtClean="0"/>
              <a:t>top makes it effectively regressive for high incomes.</a:t>
            </a:r>
          </a:p>
          <a:p>
            <a:r>
              <a:rPr lang="en-US" dirty="0" smtClean="0"/>
              <a:t>US has a complex system of taxation including sales tax, payroll tax, income tax, profits tax, at both the Federal level and the State level. In total, it is progressive at lower levels but regressive at higher levels of income.  </a:t>
            </a:r>
          </a:p>
        </p:txBody>
      </p:sp>
    </p:spTree>
    <p:extLst>
      <p:ext uri="{BB962C8B-B14F-4D97-AF65-F5344CB8AC3E}">
        <p14:creationId xmlns:p14="http://schemas.microsoft.com/office/powerpoint/2010/main" val="149554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00113" y="60325"/>
            <a:ext cx="8250237" cy="555625"/>
          </a:xfrm>
        </p:spPr>
        <p:txBody>
          <a:bodyPr/>
          <a:lstStyle/>
          <a:p>
            <a:r>
              <a:rPr lang="en-US" smtClean="0">
                <a:effectLst>
                  <a:outerShdw blurRad="38100" dist="38100" dir="2700000" algn="tl">
                    <a:srgbClr val="C0C0C0"/>
                  </a:outerShdw>
                </a:effectLst>
              </a:rPr>
              <a:t>U.S. Taxation is Mildly Progressive by Income</a:t>
            </a:r>
          </a:p>
        </p:txBody>
      </p:sp>
      <p:pic>
        <p:nvPicPr>
          <p:cNvPr id="3" name="Picture 2" descr="Krug3e_table_7_05.jpg"/>
          <p:cNvPicPr>
            <a:picLocks noChangeAspect="1"/>
          </p:cNvPicPr>
          <p:nvPr/>
        </p:nvPicPr>
        <p:blipFill>
          <a:blip r:embed="rId3"/>
          <a:srcRect/>
          <a:stretch>
            <a:fillRect/>
          </a:stretch>
        </p:blipFill>
        <p:spPr bwMode="auto">
          <a:xfrm>
            <a:off x="971550" y="836613"/>
            <a:ext cx="7961313" cy="5486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00113" y="39688"/>
            <a:ext cx="7993062"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1474" name="Rectangle 2"/>
          <p:cNvSpPr>
            <a:spLocks noGrp="1" noChangeArrowheads="1"/>
          </p:cNvSpPr>
          <p:nvPr>
            <p:ph idx="4294967295"/>
          </p:nvPr>
        </p:nvSpPr>
        <p:spPr>
          <a:xfrm>
            <a:off x="823913" y="890588"/>
            <a:ext cx="8212137" cy="5346700"/>
          </a:xfrm>
        </p:spPr>
        <p:txBody>
          <a:bodyPr/>
          <a:lstStyle/>
          <a:p>
            <a:pPr marL="457200" indent="-398463">
              <a:buFont typeface="Arial" charset="0"/>
              <a:buAutoNum type="arabicPeriod"/>
              <a:tabLst>
                <a:tab pos="0" algn="l"/>
              </a:tabLst>
            </a:pPr>
            <a:r>
              <a:rPr lang="en-US" b="1" smtClean="0"/>
              <a:t>Excise taxes</a:t>
            </a:r>
            <a:r>
              <a:rPr lang="en-US" smtClean="0"/>
              <a:t> — taxes on the purchase or sale of a good—raise the price paid by consumers and reduce the price received by producers, driving a wedge between the two. The </a:t>
            </a:r>
            <a:r>
              <a:rPr lang="en-US" b="1" smtClean="0"/>
              <a:t>incidence</a:t>
            </a:r>
            <a:r>
              <a:rPr lang="en-US" smtClean="0"/>
              <a:t> of the tax—how the burden of the tax is divided between consumers and producers—does not depend on who officially pays the tax.</a:t>
            </a:r>
            <a:br>
              <a:rPr lang="en-US" smtClean="0"/>
            </a:br>
            <a:endParaRPr lang="en-US" smtClean="0"/>
          </a:p>
          <a:p>
            <a:pPr marL="457200" indent="-398463">
              <a:buFont typeface="Arial" charset="0"/>
              <a:buAutoNum type="arabicPeriod"/>
              <a:tabLst>
                <a:tab pos="0" algn="l"/>
              </a:tabLst>
            </a:pPr>
            <a:r>
              <a:rPr lang="en-US" smtClean="0"/>
              <a:t>The incidence of an excise tax depends on the price elasticities of supply and demand. If the price elasticity of demand is higher than the price elasticity of supply, the tax falls mainly on producers; if the price elasticity of supply is higher than the price elasticity of demand, the tax falls mainly on consumers.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1474">
                                            <p:txEl>
                                              <p:pRg st="0" end="0"/>
                                            </p:txEl>
                                          </p:spTgt>
                                        </p:tgtEl>
                                        <p:attrNameLst>
                                          <p:attrName>style.visibility</p:attrName>
                                        </p:attrNameLst>
                                      </p:cBhvr>
                                      <p:to>
                                        <p:strVal val="visible"/>
                                      </p:to>
                                    </p:set>
                                    <p:animEffect transition="in" filter="fade">
                                      <p:cBhvr>
                                        <p:cTn id="7" dur="500"/>
                                        <p:tgtEl>
                                          <p:spTgt spid="3614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1474">
                                            <p:txEl>
                                              <p:pRg st="1" end="1"/>
                                            </p:txEl>
                                          </p:spTgt>
                                        </p:tgtEl>
                                        <p:attrNameLst>
                                          <p:attrName>style.visibility</p:attrName>
                                        </p:attrNameLst>
                                      </p:cBhvr>
                                      <p:to>
                                        <p:strVal val="visible"/>
                                      </p:to>
                                    </p:set>
                                    <p:animEffect transition="in" filter="fade">
                                      <p:cBhvr>
                                        <p:cTn id="12" dur="500"/>
                                        <p:tgtEl>
                                          <p:spTgt spid="36147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3522" name="Rectangle 2"/>
          <p:cNvSpPr>
            <a:spLocks noGrp="1" noChangeArrowheads="1"/>
          </p:cNvSpPr>
          <p:nvPr>
            <p:ph idx="4294967295"/>
          </p:nvPr>
        </p:nvSpPr>
        <p:spPr>
          <a:xfrm>
            <a:off x="887413" y="765175"/>
            <a:ext cx="8005762" cy="5386388"/>
          </a:xfrm>
        </p:spPr>
        <p:txBody>
          <a:bodyPr/>
          <a:lstStyle/>
          <a:p>
            <a:pPr marL="457200" indent="-457200">
              <a:buFont typeface="Arial" charset="0"/>
              <a:buAutoNum type="arabicPeriod" startAt="3"/>
            </a:pPr>
            <a:r>
              <a:rPr lang="en-US" smtClean="0"/>
              <a:t>The tax revenue generated by a tax depends on the</a:t>
            </a:r>
            <a:r>
              <a:rPr lang="en-US" b="1" smtClean="0"/>
              <a:t> tax</a:t>
            </a:r>
            <a:r>
              <a:rPr lang="en-US" smtClean="0"/>
              <a:t> </a:t>
            </a:r>
            <a:r>
              <a:rPr lang="en-US" b="1" smtClean="0"/>
              <a:t>rate</a:t>
            </a:r>
            <a:r>
              <a:rPr lang="en-US" smtClean="0"/>
              <a:t> and on the number of units transacted with the tax.  Excise taxes cause inefficiency in the form of deadweight loss because they discourage some mutually beneficial transactions. Taxes also impose </a:t>
            </a:r>
            <a:r>
              <a:rPr lang="en-US" b="1" smtClean="0"/>
              <a:t>administrative costs</a:t>
            </a:r>
            <a:r>
              <a:rPr lang="en-US" smtClean="0"/>
              <a:t> —resources used to collect the tax.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3522">
                                            <p:txEl>
                                              <p:pRg st="0" end="0"/>
                                            </p:txEl>
                                          </p:spTgt>
                                        </p:tgtEl>
                                        <p:attrNameLst>
                                          <p:attrName>style.visibility</p:attrName>
                                        </p:attrNameLst>
                                      </p:cBhvr>
                                      <p:to>
                                        <p:strVal val="visible"/>
                                      </p:to>
                                    </p:set>
                                    <p:animEffect transition="in" filter="fade">
                                      <p:cBhvr>
                                        <p:cTn id="7" dur="500"/>
                                        <p:tgtEl>
                                          <p:spTgt spid="3635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3522" name="Rectangle 2"/>
          <p:cNvSpPr>
            <a:spLocks noGrp="1" noChangeArrowheads="1"/>
          </p:cNvSpPr>
          <p:nvPr>
            <p:ph idx="4294967295"/>
          </p:nvPr>
        </p:nvSpPr>
        <p:spPr>
          <a:xfrm>
            <a:off x="887413" y="995363"/>
            <a:ext cx="7799387" cy="5386387"/>
          </a:xfrm>
        </p:spPr>
        <p:txBody>
          <a:bodyPr/>
          <a:lstStyle/>
          <a:p>
            <a:pPr marL="457200" indent="-457200">
              <a:buFont typeface="Calibri" pitchFamily="34" charset="0"/>
              <a:buAutoNum type="arabicPeriod" startAt="4"/>
            </a:pPr>
            <a:r>
              <a:rPr lang="en-US" smtClean="0"/>
              <a:t>An excise tax generates revenue for the government, but lowers total surplus. </a:t>
            </a:r>
            <a:br>
              <a:rPr lang="en-US" smtClean="0"/>
            </a:br>
            <a:r>
              <a:rPr lang="en-US" smtClean="0"/>
              <a:t/>
            </a:r>
            <a:br>
              <a:rPr lang="en-US" smtClean="0"/>
            </a:br>
            <a:r>
              <a:rPr lang="en-US" smtClean="0"/>
              <a:t>The loss in total surplus exceeds the tax revenue, resulting in a deadweight loss to society. This deadweight loss is represented by a triangle, the area of which equals the value of the transactions discouraged by the tax. </a:t>
            </a:r>
            <a:br>
              <a:rPr lang="en-US" smtClean="0"/>
            </a:br>
            <a:r>
              <a:rPr lang="en-US" smtClean="0"/>
              <a:t/>
            </a:r>
            <a:br>
              <a:rPr lang="en-US" smtClean="0"/>
            </a:br>
            <a:r>
              <a:rPr lang="en-US" smtClean="0"/>
              <a:t>The greater the elasticity of demand or supply, or both, the larger the deadweight loss from a tax. If either demand or supply is perfectly inelastic, there is no deadweight loss from a tax.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3522">
                                            <p:txEl>
                                              <p:pRg st="0" end="0"/>
                                            </p:txEl>
                                          </p:spTgt>
                                        </p:tgtEl>
                                        <p:attrNameLst>
                                          <p:attrName>style.visibility</p:attrName>
                                        </p:attrNameLst>
                                      </p:cBhvr>
                                      <p:to>
                                        <p:strVal val="visible"/>
                                      </p:to>
                                    </p:set>
                                    <p:animEffect transition="in" filter="fade">
                                      <p:cBhvr>
                                        <p:cTn id="7" dur="500"/>
                                        <p:tgtEl>
                                          <p:spTgt spid="3635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5570" name="Rectangle 2"/>
          <p:cNvSpPr>
            <a:spLocks noGrp="1" noChangeArrowheads="1"/>
          </p:cNvSpPr>
          <p:nvPr>
            <p:ph idx="4294967295"/>
          </p:nvPr>
        </p:nvSpPr>
        <p:spPr>
          <a:xfrm>
            <a:off x="887413" y="1052513"/>
            <a:ext cx="8077200" cy="4897437"/>
          </a:xfrm>
        </p:spPr>
        <p:txBody>
          <a:bodyPr/>
          <a:lstStyle/>
          <a:p>
            <a:pPr marL="457200" indent="-457200">
              <a:buFont typeface="Arial" charset="0"/>
              <a:buAutoNum type="arabicPeriod" startAt="5"/>
            </a:pPr>
            <a:r>
              <a:rPr lang="en-US" smtClean="0"/>
              <a:t>An efficient tax minimizes both the sum of the deadweight loss due to distorted incentives and the administrative costs of the tax. However, tax fairness, or tax equity, is also a goal of tax policy.</a:t>
            </a:r>
            <a:br>
              <a:rPr lang="en-US" smtClean="0"/>
            </a:br>
            <a:endParaRPr lang="en-US" smtClean="0"/>
          </a:p>
          <a:p>
            <a:pPr marL="457200" indent="-457200">
              <a:buFont typeface="Arial" charset="0"/>
              <a:buAutoNum type="arabicPeriod" startAt="5"/>
            </a:pPr>
            <a:r>
              <a:rPr lang="en-US" smtClean="0"/>
              <a:t>There are two major principles of tax fairness, the </a:t>
            </a:r>
            <a:r>
              <a:rPr lang="en-US" b="1" smtClean="0"/>
              <a:t>benefits</a:t>
            </a:r>
            <a:r>
              <a:rPr lang="en-US" smtClean="0"/>
              <a:t> </a:t>
            </a:r>
            <a:r>
              <a:rPr lang="en-US" b="1" smtClean="0"/>
              <a:t>principle</a:t>
            </a:r>
            <a:r>
              <a:rPr lang="en-US" smtClean="0"/>
              <a:t> and the </a:t>
            </a:r>
            <a:r>
              <a:rPr lang="en-US" b="1" smtClean="0"/>
              <a:t>ability-to-pay principle</a:t>
            </a:r>
            <a:r>
              <a:rPr lang="en-US" smtClean="0"/>
              <a:t>.  The most efficient tax, a </a:t>
            </a:r>
            <a:r>
              <a:rPr lang="en-US" b="1" smtClean="0"/>
              <a:t>lump-sum tax</a:t>
            </a:r>
            <a:r>
              <a:rPr lang="en-US" smtClean="0"/>
              <a:t>, does not distort incentives but performs badly in terms of fairness. The fairest taxes in terms of the ability-to-pay principle, however, distort incentives the most and perform badly on efficiency grounds. So, in a well-designed tax system, there is a </a:t>
            </a:r>
            <a:r>
              <a:rPr lang="en-US" b="1" smtClean="0"/>
              <a:t>trade-off between equity and efficiency</a:t>
            </a:r>
            <a:r>
              <a:rPr lang="en-US" smtClean="0"/>
              <a:t>.</a:t>
            </a:r>
          </a:p>
          <a:p>
            <a:pPr marL="457200" indent="-457200">
              <a:buClr>
                <a:schemeClr val="folHlink"/>
              </a:buClr>
              <a:buFont typeface="Arial" charset="0"/>
              <a:buNone/>
            </a:pP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5570">
                                            <p:txEl>
                                              <p:pRg st="0" end="0"/>
                                            </p:txEl>
                                          </p:spTgt>
                                        </p:tgtEl>
                                        <p:attrNameLst>
                                          <p:attrName>style.visibility</p:attrName>
                                        </p:attrNameLst>
                                      </p:cBhvr>
                                      <p:to>
                                        <p:strVal val="visible"/>
                                      </p:to>
                                    </p:set>
                                    <p:animEffect transition="in" filter="fade">
                                      <p:cBhvr>
                                        <p:cTn id="7" dur="500"/>
                                        <p:tgtEl>
                                          <p:spTgt spid="3655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5570">
                                            <p:txEl>
                                              <p:pRg st="1" end="1"/>
                                            </p:txEl>
                                          </p:spTgt>
                                        </p:tgtEl>
                                        <p:attrNameLst>
                                          <p:attrName>style.visibility</p:attrName>
                                        </p:attrNameLst>
                                      </p:cBhvr>
                                      <p:to>
                                        <p:strVal val="visible"/>
                                      </p:to>
                                    </p:set>
                                    <p:animEffect transition="in" filter="fade">
                                      <p:cBhvr>
                                        <p:cTn id="12" dur="500"/>
                                        <p:tgtEl>
                                          <p:spTgt spid="3655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7618" name="Rectangle 2"/>
          <p:cNvSpPr>
            <a:spLocks noGrp="1" noChangeArrowheads="1"/>
          </p:cNvSpPr>
          <p:nvPr>
            <p:ph idx="4294967295"/>
          </p:nvPr>
        </p:nvSpPr>
        <p:spPr>
          <a:xfrm>
            <a:off x="823913" y="1109663"/>
            <a:ext cx="8212137" cy="5272087"/>
          </a:xfrm>
        </p:spPr>
        <p:txBody>
          <a:bodyPr/>
          <a:lstStyle/>
          <a:p>
            <a:pPr marL="457200" indent="-457200">
              <a:buFont typeface="Arial" charset="0"/>
              <a:buAutoNum type="arabicPeriod" startAt="7"/>
            </a:pPr>
            <a:r>
              <a:rPr lang="en-US" smtClean="0"/>
              <a:t>Every tax consists of a </a:t>
            </a:r>
            <a:r>
              <a:rPr lang="en-US" b="1" smtClean="0"/>
              <a:t>tax base</a:t>
            </a:r>
            <a:r>
              <a:rPr lang="en-US" smtClean="0"/>
              <a:t>, which defines what is taxed, and a </a:t>
            </a:r>
            <a:r>
              <a:rPr lang="en-US" b="1" smtClean="0"/>
              <a:t>tax structure</a:t>
            </a:r>
            <a:r>
              <a:rPr lang="en-US" smtClean="0"/>
              <a:t>, which specifies how the tax depends on the tax base. </a:t>
            </a:r>
            <a:br>
              <a:rPr lang="en-US" smtClean="0"/>
            </a:br>
            <a:r>
              <a:rPr lang="en-US" smtClean="0"/>
              <a:t/>
            </a:r>
            <a:br>
              <a:rPr lang="en-US" smtClean="0"/>
            </a:br>
            <a:r>
              <a:rPr lang="en-US" smtClean="0"/>
              <a:t>Different tax bases give rise to different taxes—the </a:t>
            </a:r>
            <a:r>
              <a:rPr lang="en-US" b="1" smtClean="0"/>
              <a:t>income tax</a:t>
            </a:r>
            <a:r>
              <a:rPr lang="en-US" smtClean="0"/>
              <a:t>,</a:t>
            </a:r>
            <a:r>
              <a:rPr lang="en-US" b="1" smtClean="0"/>
              <a:t> payroll tax </a:t>
            </a:r>
            <a:r>
              <a:rPr lang="en-US" smtClean="0"/>
              <a:t>,</a:t>
            </a:r>
            <a:r>
              <a:rPr lang="en-US" b="1" smtClean="0"/>
              <a:t> sales tax</a:t>
            </a:r>
            <a:r>
              <a:rPr lang="en-US" smtClean="0"/>
              <a:t>, </a:t>
            </a:r>
            <a:r>
              <a:rPr lang="en-US" b="1" smtClean="0"/>
              <a:t>profits tax </a:t>
            </a:r>
            <a:r>
              <a:rPr lang="en-US" smtClean="0"/>
              <a:t>,</a:t>
            </a:r>
            <a:r>
              <a:rPr lang="en-US" b="1" smtClean="0"/>
              <a:t> property tax</a:t>
            </a:r>
            <a:r>
              <a:rPr lang="en-US" smtClean="0"/>
              <a:t>, and </a:t>
            </a:r>
            <a:r>
              <a:rPr lang="en-US" b="1" smtClean="0"/>
              <a:t>wealth tax</a:t>
            </a:r>
            <a:r>
              <a:rPr 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7618">
                                            <p:txEl>
                                              <p:pRg st="0" end="0"/>
                                            </p:txEl>
                                          </p:spTgt>
                                        </p:tgtEl>
                                        <p:attrNameLst>
                                          <p:attrName>style.visibility</p:attrName>
                                        </p:attrNameLst>
                                      </p:cBhvr>
                                      <p:to>
                                        <p:strVal val="visible"/>
                                      </p:to>
                                    </p:set>
                                    <p:animEffect transition="in" filter="fade">
                                      <p:cBhvr>
                                        <p:cTn id="7" dur="500"/>
                                        <p:tgtEl>
                                          <p:spTgt spid="3676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67618" name="Rectangle 2"/>
          <p:cNvSpPr>
            <a:spLocks noGrp="1" noChangeArrowheads="1"/>
          </p:cNvSpPr>
          <p:nvPr>
            <p:ph idx="4294967295"/>
          </p:nvPr>
        </p:nvSpPr>
        <p:spPr>
          <a:xfrm>
            <a:off x="823913" y="1036638"/>
            <a:ext cx="8212137" cy="5272087"/>
          </a:xfrm>
        </p:spPr>
        <p:txBody>
          <a:bodyPr/>
          <a:lstStyle/>
          <a:p>
            <a:pPr marL="457200" indent="-457200">
              <a:buFont typeface="Calibri" pitchFamily="34" charset="0"/>
              <a:buAutoNum type="arabicPeriod" startAt="8"/>
            </a:pPr>
            <a:r>
              <a:rPr lang="en-US" smtClean="0"/>
              <a:t>A tax is </a:t>
            </a:r>
            <a:r>
              <a:rPr lang="en-US" b="1" smtClean="0"/>
              <a:t>progressive</a:t>
            </a:r>
            <a:r>
              <a:rPr lang="en-US" smtClean="0"/>
              <a:t> if higher-income people pay a higher percentage of their income in taxes than lower-income people and </a:t>
            </a:r>
            <a:r>
              <a:rPr lang="en-US" b="1" smtClean="0"/>
              <a:t>regressive</a:t>
            </a:r>
            <a:r>
              <a:rPr lang="en-US" smtClean="0"/>
              <a:t> if they pay a lower percentage.  Progressive taxes are often justified by the ability-to-pay principle. </a:t>
            </a:r>
            <a:br>
              <a:rPr lang="en-US" smtClean="0"/>
            </a:br>
            <a:r>
              <a:rPr lang="en-US" smtClean="0"/>
              <a:t/>
            </a:r>
            <a:br>
              <a:rPr lang="en-US" smtClean="0"/>
            </a:br>
            <a:r>
              <a:rPr lang="en-US" smtClean="0"/>
              <a:t>However, a highly progressive tax system significantly distorts incentives because it leads to a high </a:t>
            </a:r>
            <a:r>
              <a:rPr lang="en-US" b="1" smtClean="0"/>
              <a:t>marginal tax rate</a:t>
            </a:r>
            <a:r>
              <a:rPr lang="en-US" smtClean="0"/>
              <a:t>, the percentage of an increase in income that is taxed away, on high earners. </a:t>
            </a:r>
            <a:br>
              <a:rPr lang="en-US" smtClean="0"/>
            </a:br>
            <a:r>
              <a:rPr lang="en-US" smtClean="0"/>
              <a:t/>
            </a:r>
            <a:br>
              <a:rPr lang="en-US" smtClean="0"/>
            </a:br>
            <a:r>
              <a:rPr lang="en-US" smtClean="0"/>
              <a:t>The U.S. tax system is progressive overall, although it contains a mixture of progressive and regressive taxes.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7618">
                                            <p:txEl>
                                              <p:pRg st="0" end="0"/>
                                            </p:txEl>
                                          </p:spTgt>
                                        </p:tgtEl>
                                        <p:attrNameLst>
                                          <p:attrName>style.visibility</p:attrName>
                                        </p:attrNameLst>
                                      </p:cBhvr>
                                      <p:to>
                                        <p:strVal val="visible"/>
                                      </p:to>
                                    </p:set>
                                    <p:animEffect transition="in" filter="fade">
                                      <p:cBhvr>
                                        <p:cTn id="7" dur="500"/>
                                        <p:tgtEl>
                                          <p:spTgt spid="3676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971600" y="1103312"/>
            <a:ext cx="7992888" cy="5422031"/>
          </a:xfrm>
        </p:spPr>
        <p:txBody>
          <a:bodyPr numCol="2"/>
          <a:lstStyle/>
          <a:p>
            <a:pPr>
              <a:buFont typeface="Arial" pitchFamily="34" charset="0"/>
              <a:buChar char="•"/>
              <a:defRPr/>
            </a:pPr>
            <a:r>
              <a:rPr lang="en-US" sz="2400" dirty="0" smtClean="0"/>
              <a:t>Excise tax</a:t>
            </a:r>
          </a:p>
          <a:p>
            <a:pPr>
              <a:buFont typeface="Arial" pitchFamily="34" charset="0"/>
              <a:buChar char="•"/>
              <a:defRPr/>
            </a:pPr>
            <a:r>
              <a:rPr lang="en-US" sz="2400" dirty="0" smtClean="0"/>
              <a:t>Incidence</a:t>
            </a:r>
          </a:p>
          <a:p>
            <a:pPr>
              <a:buFont typeface="Arial" pitchFamily="34" charset="0"/>
              <a:buChar char="•"/>
              <a:defRPr/>
            </a:pPr>
            <a:r>
              <a:rPr lang="en-US" sz="2400" dirty="0" smtClean="0"/>
              <a:t>Tax rate</a:t>
            </a:r>
          </a:p>
          <a:p>
            <a:pPr>
              <a:buFont typeface="Arial" pitchFamily="34" charset="0"/>
              <a:buChar char="•"/>
              <a:defRPr/>
            </a:pPr>
            <a:r>
              <a:rPr lang="en-US" sz="2400" dirty="0" smtClean="0"/>
              <a:t>Administrative costs</a:t>
            </a:r>
          </a:p>
          <a:p>
            <a:pPr>
              <a:buFont typeface="Arial" pitchFamily="34" charset="0"/>
              <a:buChar char="•"/>
              <a:defRPr/>
            </a:pPr>
            <a:r>
              <a:rPr lang="en-US" sz="2400" dirty="0" smtClean="0"/>
              <a:t>Benefits principle</a:t>
            </a:r>
          </a:p>
          <a:p>
            <a:pPr>
              <a:buFont typeface="Arial" pitchFamily="34" charset="0"/>
              <a:buChar char="•"/>
              <a:defRPr/>
            </a:pPr>
            <a:r>
              <a:rPr lang="en-US" sz="2400" dirty="0" smtClean="0"/>
              <a:t>Ability-to-pay principle</a:t>
            </a:r>
          </a:p>
          <a:p>
            <a:pPr>
              <a:buFont typeface="Arial" pitchFamily="34" charset="0"/>
              <a:buChar char="•"/>
              <a:defRPr/>
            </a:pPr>
            <a:r>
              <a:rPr lang="en-US" sz="2400" dirty="0" smtClean="0"/>
              <a:t>Lump-sum tax</a:t>
            </a:r>
          </a:p>
          <a:p>
            <a:pPr>
              <a:buFont typeface="Arial" pitchFamily="34" charset="0"/>
              <a:buChar char="•"/>
              <a:defRPr/>
            </a:pPr>
            <a:r>
              <a:rPr lang="en-US" sz="2400" dirty="0" smtClean="0"/>
              <a:t>Trade-off between equity and efficiency</a:t>
            </a:r>
          </a:p>
          <a:p>
            <a:pPr>
              <a:buFont typeface="Arial" pitchFamily="34" charset="0"/>
              <a:buChar char="•"/>
              <a:defRPr/>
            </a:pPr>
            <a:r>
              <a:rPr lang="en-US" sz="2400" dirty="0" smtClean="0"/>
              <a:t>Tax base</a:t>
            </a:r>
          </a:p>
          <a:p>
            <a:pPr>
              <a:buFont typeface="Arial" pitchFamily="34" charset="0"/>
              <a:buChar char="•"/>
              <a:defRPr/>
            </a:pPr>
            <a:r>
              <a:rPr lang="en-US" sz="2400" dirty="0" smtClean="0"/>
              <a:t>Tax structure</a:t>
            </a:r>
          </a:p>
          <a:p>
            <a:pPr>
              <a:buFont typeface="Arial" pitchFamily="34" charset="0"/>
              <a:buChar char="•"/>
              <a:defRPr/>
            </a:pPr>
            <a:r>
              <a:rPr lang="en-US" sz="2400" dirty="0" smtClean="0"/>
              <a:t>Income tax</a:t>
            </a:r>
          </a:p>
          <a:p>
            <a:pPr>
              <a:buFont typeface="Arial" pitchFamily="34" charset="0"/>
              <a:buChar char="•"/>
              <a:defRPr/>
            </a:pPr>
            <a:r>
              <a:rPr lang="en-US" sz="2400" dirty="0" smtClean="0"/>
              <a:t>Payroll tax</a:t>
            </a:r>
          </a:p>
          <a:p>
            <a:pPr>
              <a:buFont typeface="Arial" pitchFamily="34" charset="0"/>
              <a:buChar char="•"/>
              <a:defRPr/>
            </a:pPr>
            <a:r>
              <a:rPr lang="en-US" sz="2400" dirty="0" smtClean="0"/>
              <a:t>Sales tax</a:t>
            </a:r>
          </a:p>
          <a:p>
            <a:pPr>
              <a:buFont typeface="Arial" pitchFamily="34" charset="0"/>
              <a:buChar char="•"/>
              <a:defRPr/>
            </a:pPr>
            <a:r>
              <a:rPr lang="en-US" sz="2400" dirty="0" smtClean="0"/>
              <a:t>Profits tax</a:t>
            </a:r>
          </a:p>
          <a:p>
            <a:pPr>
              <a:buFont typeface="Arial" pitchFamily="34" charset="0"/>
              <a:buChar char="•"/>
              <a:defRPr/>
            </a:pPr>
            <a:r>
              <a:rPr lang="en-US" sz="2400" dirty="0" smtClean="0"/>
              <a:t>Property tax</a:t>
            </a:r>
          </a:p>
          <a:p>
            <a:pPr>
              <a:buFont typeface="Arial" pitchFamily="34" charset="0"/>
              <a:buChar char="•"/>
              <a:defRPr/>
            </a:pPr>
            <a:r>
              <a:rPr lang="en-US" sz="2400" dirty="0" smtClean="0"/>
              <a:t>Wealth tax</a:t>
            </a:r>
          </a:p>
          <a:p>
            <a:pPr>
              <a:buFont typeface="Arial" pitchFamily="34" charset="0"/>
              <a:buChar char="•"/>
              <a:defRPr/>
            </a:pPr>
            <a:r>
              <a:rPr lang="en-US" sz="2400" dirty="0" smtClean="0"/>
              <a:t>Proportional tax</a:t>
            </a:r>
          </a:p>
          <a:p>
            <a:pPr>
              <a:buFont typeface="Arial" pitchFamily="34" charset="0"/>
              <a:buChar char="•"/>
              <a:defRPr/>
            </a:pPr>
            <a:r>
              <a:rPr lang="en-US" sz="2400" dirty="0" smtClean="0"/>
              <a:t>Progressive tax</a:t>
            </a:r>
          </a:p>
          <a:p>
            <a:pPr>
              <a:buFont typeface="Arial" pitchFamily="34" charset="0"/>
              <a:buChar char="•"/>
              <a:defRPr/>
            </a:pPr>
            <a:r>
              <a:rPr lang="en-US" sz="2400" dirty="0" smtClean="0"/>
              <a:t>Regressive tax</a:t>
            </a:r>
          </a:p>
          <a:p>
            <a:pPr>
              <a:buFont typeface="Arial" pitchFamily="34" charset="0"/>
              <a:buChar char="•"/>
              <a:defRPr/>
            </a:pPr>
            <a:r>
              <a:rPr lang="en-US" sz="2400" dirty="0" smtClean="0"/>
              <a:t>Marginal tax rate</a:t>
            </a:r>
            <a:endParaRPr lang="en-US" sz="2400" dirty="0"/>
          </a:p>
        </p:txBody>
      </p:sp>
      <p:sp>
        <p:nvSpPr>
          <p:cNvPr id="4" name="Title 3"/>
          <p:cNvSpPr>
            <a:spLocks noGrp="1"/>
          </p:cNvSpPr>
          <p:nvPr>
            <p:ph type="title" idx="4294967295"/>
          </p:nvPr>
        </p:nvSpPr>
        <p:spPr>
          <a:xfrm>
            <a:off x="971550" y="39688"/>
            <a:ext cx="7921625" cy="579437"/>
          </a:xfrm>
        </p:spPr>
        <p:txBody>
          <a:bodyPr/>
          <a:lstStyle/>
          <a:p>
            <a:pPr eaLnBrk="1" hangingPunct="1">
              <a:defRPr/>
            </a:pPr>
            <a:r>
              <a:rPr lang="id-ID" dirty="0"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4666</TotalTime>
  <Words>3827</Words>
  <Application>Microsoft Office PowerPoint</Application>
  <PresentationFormat>On-screen Show (4:3)</PresentationFormat>
  <Paragraphs>551</Paragraphs>
  <Slides>45</Slides>
  <Notes>40</Notes>
  <HiddenSlides>0</HiddenSlides>
  <MMClips>0</MMClips>
  <ScaleCrop>false</ScaleCrop>
  <HeadingPairs>
    <vt:vector size="4" baseType="variant">
      <vt:variant>
        <vt:lpstr>Theme</vt:lpstr>
      </vt:variant>
      <vt:variant>
        <vt:i4>3</vt:i4>
      </vt:variant>
      <vt:variant>
        <vt:lpstr>Slide Titles</vt:lpstr>
      </vt:variant>
      <vt:variant>
        <vt:i4>45</vt:i4>
      </vt:variant>
    </vt:vector>
  </HeadingPairs>
  <TitlesOfParts>
    <vt:vector size="48" baseType="lpstr">
      <vt:lpstr>Office Theme</vt:lpstr>
      <vt:lpstr>1_Office Theme</vt:lpstr>
      <vt:lpstr>2_Office Theme</vt:lpstr>
      <vt:lpstr>Chapter 7 Taxes </vt:lpstr>
      <vt:lpstr>PowerPoint Presentation</vt:lpstr>
      <vt:lpstr>The Economics of Taxes: A Preliminary View</vt:lpstr>
      <vt:lpstr>The Supply and Demand for Hotel Rooms</vt:lpstr>
      <vt:lpstr>An Excise Tax Imposed on Hotel Owners</vt:lpstr>
      <vt:lpstr>An Excise Tax Imposed on Hotel Guests</vt:lpstr>
      <vt:lpstr>Active Learning Practice</vt:lpstr>
      <vt:lpstr>Tax Incidence</vt:lpstr>
      <vt:lpstr>An Excise Tax Paid Mainly By Consumers</vt:lpstr>
      <vt:lpstr>An Excise Tax Paid Mainly by Producers</vt:lpstr>
      <vt:lpstr>Tax Incidence – Putting It Together</vt:lpstr>
      <vt:lpstr>The Revenue from an Excise Tax</vt:lpstr>
      <vt:lpstr>Tax Rates and Revenue</vt:lpstr>
      <vt:lpstr>Tax Rates and Revenue</vt:lpstr>
      <vt:lpstr>A Tax Reduces Consumer and Producer Surplus</vt:lpstr>
      <vt:lpstr>A Tax Reduces Consumer and Producer Surplus</vt:lpstr>
      <vt:lpstr>PowerPoint Presentation</vt:lpstr>
      <vt:lpstr>The Deadweight Loss of a Tax</vt:lpstr>
      <vt:lpstr>The Welfare Effects of a Tax</vt:lpstr>
      <vt:lpstr>The Deadweight Loss of a Tax</vt:lpstr>
      <vt:lpstr>Deadweight Loss, Tax Revenue and Tax Size</vt:lpstr>
      <vt:lpstr>Deadweight Loss, Tax Revenue and Tax Size</vt:lpstr>
      <vt:lpstr>Tax Collection Around the World</vt:lpstr>
      <vt:lpstr>Cost of Collecting Taxes</vt:lpstr>
      <vt:lpstr>Deadweight Loss and Elasticities</vt:lpstr>
      <vt:lpstr>Deadweight Loss and Elasticities</vt:lpstr>
      <vt:lpstr>Deadweight Loss and Elasticities</vt:lpstr>
      <vt:lpstr>Deadweight Loss and Elasticities</vt:lpstr>
      <vt:lpstr>Deadweight Loss and Elasticities</vt:lpstr>
      <vt:lpstr>Deadweight Loss and Elasticities</vt:lpstr>
      <vt:lpstr>Land Value Taxes – An Efficient Tax</vt:lpstr>
      <vt:lpstr>Tax Fairness and Tax Efficiency</vt:lpstr>
      <vt:lpstr>Tax Fairness and Tax Efficiency</vt:lpstr>
      <vt:lpstr>Understanding the Tax System</vt:lpstr>
      <vt:lpstr>Understanding the Tax System</vt:lpstr>
      <vt:lpstr>Understanding the Tax System</vt:lpstr>
      <vt:lpstr>Income Tax Rates: China and US</vt:lpstr>
      <vt:lpstr>U.S. Taxation is Mildly Progressive by Income</vt:lpstr>
      <vt:lpstr>SUMMARY</vt:lpstr>
      <vt:lpstr>SUMMARY</vt:lpstr>
      <vt:lpstr>SUMMARY</vt:lpstr>
      <vt:lpstr>SUMMARY</vt:lpstr>
      <vt:lpstr>SUMMARY</vt:lpstr>
      <vt:lpstr>SUMMARY</vt:lpstr>
      <vt:lpstr>KEY TERMS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lk</cp:lastModifiedBy>
  <cp:revision>153</cp:revision>
  <dcterms:created xsi:type="dcterms:W3CDTF">2011-11-30T16:12:49Z</dcterms:created>
  <dcterms:modified xsi:type="dcterms:W3CDTF">2015-09-13T03:03:54Z</dcterms:modified>
</cp:coreProperties>
</file>