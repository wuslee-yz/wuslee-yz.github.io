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25" r:id="rId2"/>
    <p:sldMasterId id="2147483730" r:id="rId3"/>
  </p:sldMasterIdLst>
  <p:notesMasterIdLst>
    <p:notesMasterId r:id="rId45"/>
  </p:notesMasterIdLst>
  <p:sldIdLst>
    <p:sldId id="261" r:id="rId4"/>
    <p:sldId id="512" r:id="rId5"/>
    <p:sldId id="513" r:id="rId6"/>
    <p:sldId id="514" r:id="rId7"/>
    <p:sldId id="515" r:id="rId8"/>
    <p:sldId id="516" r:id="rId9"/>
    <p:sldId id="517" r:id="rId10"/>
    <p:sldId id="518" r:id="rId11"/>
    <p:sldId id="550" r:id="rId12"/>
    <p:sldId id="551" r:id="rId13"/>
    <p:sldId id="520" r:id="rId14"/>
    <p:sldId id="519" r:id="rId15"/>
    <p:sldId id="552" r:id="rId16"/>
    <p:sldId id="553" r:id="rId17"/>
    <p:sldId id="555" r:id="rId18"/>
    <p:sldId id="521" r:id="rId19"/>
    <p:sldId id="522" r:id="rId20"/>
    <p:sldId id="523" r:id="rId21"/>
    <p:sldId id="524" r:id="rId22"/>
    <p:sldId id="525" r:id="rId23"/>
    <p:sldId id="526" r:id="rId24"/>
    <p:sldId id="528" r:id="rId25"/>
    <p:sldId id="527" r:id="rId26"/>
    <p:sldId id="530" r:id="rId27"/>
    <p:sldId id="529" r:id="rId28"/>
    <p:sldId id="532" r:id="rId29"/>
    <p:sldId id="531" r:id="rId30"/>
    <p:sldId id="533" r:id="rId31"/>
    <p:sldId id="535" r:id="rId32"/>
    <p:sldId id="534" r:id="rId33"/>
    <p:sldId id="536" r:id="rId34"/>
    <p:sldId id="537" r:id="rId35"/>
    <p:sldId id="538" r:id="rId36"/>
    <p:sldId id="539" r:id="rId37"/>
    <p:sldId id="540" r:id="rId38"/>
    <p:sldId id="541" r:id="rId39"/>
    <p:sldId id="544" r:id="rId40"/>
    <p:sldId id="546" r:id="rId41"/>
    <p:sldId id="547" r:id="rId42"/>
    <p:sldId id="548" r:id="rId43"/>
    <p:sldId id="549" r:id="rId44"/>
  </p:sldIdLst>
  <p:sldSz cx="9144000" cy="6858000" type="screen4x3"/>
  <p:notesSz cx="6797675" cy="9874250"/>
  <p:defaultTextStyle>
    <a:defPPr>
      <a:defRPr lang="id-ID"/>
    </a:defPPr>
    <a:lvl1pPr algn="l" rtl="0" fontAlgn="base">
      <a:spcBef>
        <a:spcPct val="0"/>
      </a:spcBef>
      <a:spcAft>
        <a:spcPct val="0"/>
      </a:spcAft>
      <a:defRPr kern="1200">
        <a:solidFill>
          <a:schemeClr val="tx1"/>
        </a:solidFill>
        <a:latin typeface="Calibri"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Calibri"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Calibri"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Calibri"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Calibri" pitchFamily="34" charset="0"/>
        <a:ea typeface="MS PGothic" pitchFamily="34" charset="-128"/>
        <a:cs typeface="+mn-cs"/>
      </a:defRPr>
    </a:lvl5pPr>
    <a:lvl6pPr marL="2286000" algn="l" defTabSz="914400" rtl="0" eaLnBrk="1" latinLnBrk="0" hangingPunct="1">
      <a:defRPr kern="1200">
        <a:solidFill>
          <a:schemeClr val="tx1"/>
        </a:solidFill>
        <a:latin typeface="Calibri" pitchFamily="34" charset="0"/>
        <a:ea typeface="MS PGothic" pitchFamily="34" charset="-128"/>
        <a:cs typeface="+mn-cs"/>
      </a:defRPr>
    </a:lvl6pPr>
    <a:lvl7pPr marL="2743200" algn="l" defTabSz="914400" rtl="0" eaLnBrk="1" latinLnBrk="0" hangingPunct="1">
      <a:defRPr kern="1200">
        <a:solidFill>
          <a:schemeClr val="tx1"/>
        </a:solidFill>
        <a:latin typeface="Calibri" pitchFamily="34" charset="0"/>
        <a:ea typeface="MS PGothic" pitchFamily="34" charset="-128"/>
        <a:cs typeface="+mn-cs"/>
      </a:defRPr>
    </a:lvl7pPr>
    <a:lvl8pPr marL="3200400" algn="l" defTabSz="914400" rtl="0" eaLnBrk="1" latinLnBrk="0" hangingPunct="1">
      <a:defRPr kern="1200">
        <a:solidFill>
          <a:schemeClr val="tx1"/>
        </a:solidFill>
        <a:latin typeface="Calibri" pitchFamily="34" charset="0"/>
        <a:ea typeface="MS PGothic" pitchFamily="34" charset="-128"/>
        <a:cs typeface="+mn-cs"/>
      </a:defRPr>
    </a:lvl8pPr>
    <a:lvl9pPr marL="3657600" algn="l" defTabSz="914400" rtl="0" eaLnBrk="1" latinLnBrk="0" hangingPunct="1">
      <a:defRPr kern="1200">
        <a:solidFill>
          <a:schemeClr val="tx1"/>
        </a:solidFill>
        <a:latin typeface="Calibri" pitchFamily="34" charset="0"/>
        <a:ea typeface="MS PGothic"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10">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091" autoAdjust="0"/>
  </p:normalViewPr>
  <p:slideViewPr>
    <p:cSldViewPr>
      <p:cViewPr varScale="1">
        <p:scale>
          <a:sx n="85" d="100"/>
          <a:sy n="85" d="100"/>
        </p:scale>
        <p:origin x="480" y="91"/>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5342"/>
    </p:cViewPr>
  </p:sorterViewPr>
  <p:notesViewPr>
    <p:cSldViewPr>
      <p:cViewPr varScale="1">
        <p:scale>
          <a:sx n="52" d="100"/>
          <a:sy n="52" d="100"/>
        </p:scale>
        <p:origin x="-2678" y="-86"/>
      </p:cViewPr>
      <p:guideLst>
        <p:guide orient="horz" pos="3110"/>
        <p:guide pos="2141"/>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heme" Target="theme/theme1.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3713"/>
          </a:xfrm>
          <a:prstGeom prst="rect">
            <a:avLst/>
          </a:prstGeom>
        </p:spPr>
        <p:txBody>
          <a:bodyPr vert="horz" lIns="91440" tIns="45720" rIns="91440" bIns="45720" rtlCol="0"/>
          <a:lstStyle>
            <a:lvl1pPr algn="l">
              <a:defRPr sz="1200">
                <a:latin typeface="Calibri" pitchFamily="-112" charset="0"/>
                <a:ea typeface="+mn-ea"/>
              </a:defRPr>
            </a:lvl1pPr>
          </a:lstStyle>
          <a:p>
            <a:pPr>
              <a:defRPr/>
            </a:pPr>
            <a:endParaRPr lang="en-US"/>
          </a:p>
        </p:txBody>
      </p:sp>
      <p:sp>
        <p:nvSpPr>
          <p:cNvPr id="3" name="Date Placeholder 2"/>
          <p:cNvSpPr>
            <a:spLocks noGrp="1"/>
          </p:cNvSpPr>
          <p:nvPr>
            <p:ph type="dt" idx="1"/>
          </p:nvPr>
        </p:nvSpPr>
        <p:spPr>
          <a:xfrm>
            <a:off x="3849688" y="0"/>
            <a:ext cx="2946400" cy="493713"/>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E412C879-F78A-4DF4-B4F3-FB0778852FF1}" type="datetime1">
              <a:rPr lang="en-US"/>
              <a:pPr>
                <a:defRPr/>
              </a:pPr>
              <a:t>11/18/2015</a:t>
            </a:fld>
            <a:endParaRPr lang="en-US" dirty="0"/>
          </a:p>
        </p:txBody>
      </p:sp>
      <p:sp>
        <p:nvSpPr>
          <p:cNvPr id="4" name="Slide Image Placeholder 3"/>
          <p:cNvSpPr>
            <a:spLocks noGrp="1" noRot="1" noChangeAspect="1"/>
          </p:cNvSpPr>
          <p:nvPr>
            <p:ph type="sldImg" idx="2"/>
          </p:nvPr>
        </p:nvSpPr>
        <p:spPr>
          <a:xfrm>
            <a:off x="931863" y="741363"/>
            <a:ext cx="4935537" cy="3702050"/>
          </a:xfrm>
          <a:prstGeom prst="rect">
            <a:avLst/>
          </a:prstGeom>
          <a:noFill/>
          <a:ln w="12700">
            <a:solidFill>
              <a:prstClr val="black"/>
            </a:solidFill>
          </a:ln>
        </p:spPr>
        <p:txBody>
          <a:bodyPr vert="horz" lIns="91440" tIns="45720" rIns="91440" bIns="45720" rtlCol="0" anchor="ctr"/>
          <a:lstStyle/>
          <a:p>
            <a:pPr lvl="0"/>
            <a:endParaRPr lang="en-US" noProof="0" dirty="0" smtClean="0"/>
          </a:p>
        </p:txBody>
      </p:sp>
      <p:sp>
        <p:nvSpPr>
          <p:cNvPr id="5" name="Notes Placeholder 4"/>
          <p:cNvSpPr>
            <a:spLocks noGrp="1"/>
          </p:cNvSpPr>
          <p:nvPr>
            <p:ph type="body" sz="quarter" idx="3"/>
          </p:nvPr>
        </p:nvSpPr>
        <p:spPr>
          <a:xfrm>
            <a:off x="679450" y="4691063"/>
            <a:ext cx="5438775" cy="4443412"/>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9378950"/>
            <a:ext cx="2946400" cy="493713"/>
          </a:xfrm>
          <a:prstGeom prst="rect">
            <a:avLst/>
          </a:prstGeom>
        </p:spPr>
        <p:txBody>
          <a:bodyPr vert="horz" lIns="91440" tIns="45720" rIns="91440" bIns="45720" rtlCol="0" anchor="b"/>
          <a:lstStyle>
            <a:lvl1pPr algn="l">
              <a:defRPr sz="1200">
                <a:latin typeface="Calibri" pitchFamily="-112" charset="0"/>
                <a:ea typeface="+mn-ea"/>
              </a:defRPr>
            </a:lvl1pPr>
          </a:lstStyle>
          <a:p>
            <a:pPr>
              <a:defRPr/>
            </a:pPr>
            <a:endParaRPr lang="en-US"/>
          </a:p>
        </p:txBody>
      </p:sp>
      <p:sp>
        <p:nvSpPr>
          <p:cNvPr id="7" name="Slide Number Placeholder 6"/>
          <p:cNvSpPr>
            <a:spLocks noGrp="1"/>
          </p:cNvSpPr>
          <p:nvPr>
            <p:ph type="sldNum" sz="quarter" idx="5"/>
          </p:nvPr>
        </p:nvSpPr>
        <p:spPr>
          <a:xfrm>
            <a:off x="3849688" y="9378950"/>
            <a:ext cx="2946400" cy="493713"/>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DF5982F4-8CD5-4B70-B2A9-43861125FF41}" type="slidenum">
              <a:rPr lang="en-US"/>
              <a:pPr>
                <a:defRPr/>
              </a:pPr>
              <a:t>‹#›</a:t>
            </a:fld>
            <a:endParaRPr lang="en-US" dirty="0"/>
          </a:p>
        </p:txBody>
      </p:sp>
    </p:spTree>
    <p:extLst>
      <p:ext uri="{BB962C8B-B14F-4D97-AF65-F5344CB8AC3E}">
        <p14:creationId xmlns:p14="http://schemas.microsoft.com/office/powerpoint/2010/main" val="945051409"/>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1pPr>
    <a:lvl2pPr marL="4572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bwMode="auto">
          <a:noFill/>
          <a:ln>
            <a:solidFill>
              <a:srgbClr val="000000"/>
            </a:solidFill>
            <a:miter lim="800000"/>
            <a:headEnd/>
            <a:tailEnd/>
          </a:ln>
        </p:spPr>
      </p:sp>
      <p:sp>
        <p:nvSpPr>
          <p:cNvPr id="2867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latin typeface="Arial" charset="0"/>
            </a:endParaRPr>
          </a:p>
        </p:txBody>
      </p:sp>
      <p:sp>
        <p:nvSpPr>
          <p:cNvPr id="2867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3E6B9D5E-40A5-4356-8D25-3F2BB969ABAE}" type="slidenum">
              <a:rPr lang="en-US" sz="1200"/>
              <a:pPr algn="r"/>
              <a:t>1</a:t>
            </a:fld>
            <a:endParaRPr lang="en-US" sz="1200"/>
          </a:p>
        </p:txBody>
      </p:sp>
    </p:spTree>
    <p:extLst>
      <p:ext uri="{BB962C8B-B14F-4D97-AF65-F5344CB8AC3E}">
        <p14:creationId xmlns:p14="http://schemas.microsoft.com/office/powerpoint/2010/main" val="33449047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bwMode="auto">
          <a:noFill/>
          <a:ln>
            <a:solidFill>
              <a:srgbClr val="000000"/>
            </a:solidFill>
            <a:miter lim="800000"/>
            <a:headEnd/>
            <a:tailEnd/>
          </a:ln>
        </p:spPr>
      </p:sp>
      <p:sp>
        <p:nvSpPr>
          <p:cNvPr id="30722"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p>
        </p:txBody>
      </p:sp>
      <p:sp>
        <p:nvSpPr>
          <p:cNvPr id="30723"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19C9AD15-F428-4B3B-9BE6-A94F14C2F382}" type="slidenum">
              <a:rPr lang="en-US" sz="1200"/>
              <a:pPr algn="r"/>
              <a:t>2</a:t>
            </a:fld>
            <a:endParaRPr lang="en-US" sz="1200"/>
          </a:p>
        </p:txBody>
      </p:sp>
    </p:spTree>
    <p:extLst>
      <p:ext uri="{BB962C8B-B14F-4D97-AF65-F5344CB8AC3E}">
        <p14:creationId xmlns:p14="http://schemas.microsoft.com/office/powerpoint/2010/main" val="23769300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p:spPr>
      </p:sp>
      <p:sp>
        <p:nvSpPr>
          <p:cNvPr id="32770"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32771"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43C0D14E-654F-4091-B294-94AB2183884A}" type="slidenum">
              <a:rPr lang="en-US" sz="1200">
                <a:latin typeface="Arial" charset="0"/>
              </a:rPr>
              <a:pPr algn="r"/>
              <a:t>3</a:t>
            </a:fld>
            <a:endParaRPr lang="en-US" sz="1200">
              <a:latin typeface="Arial" charset="0"/>
            </a:endParaRPr>
          </a:p>
        </p:txBody>
      </p:sp>
    </p:spTree>
    <p:extLst>
      <p:ext uri="{BB962C8B-B14F-4D97-AF65-F5344CB8AC3E}">
        <p14:creationId xmlns:p14="http://schemas.microsoft.com/office/powerpoint/2010/main" val="42856478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481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13-1: Types of Market Structure</a:t>
            </a:r>
            <a:endParaRPr lang="en-US" smtClean="0">
              <a:latin typeface="Arial" charset="0"/>
            </a:endParaRPr>
          </a:p>
          <a:p>
            <a:pPr defTabSz="914400">
              <a:spcBef>
                <a:spcPct val="0"/>
              </a:spcBef>
            </a:pPr>
            <a:r>
              <a:rPr lang="en-US" smtClean="0">
                <a:latin typeface="Arial" charset="0"/>
              </a:rPr>
              <a:t>The behavior of any given firm and the market it occupies are analyzed using one of four models of market structure—monopoly, oligopoly, perfect competition, or monopolistic competition. This system for categorizing market structure is based on two dimensions: (1) whether products are differentiated or identical and (2) the number of producers in the industry—one, a few, or many. </a:t>
            </a:r>
          </a:p>
        </p:txBody>
      </p:sp>
    </p:spTree>
    <p:extLst>
      <p:ext uri="{BB962C8B-B14F-4D97-AF65-F5344CB8AC3E}">
        <p14:creationId xmlns:p14="http://schemas.microsoft.com/office/powerpoint/2010/main" val="11734386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p:spPr>
      </p:sp>
      <p:sp>
        <p:nvSpPr>
          <p:cNvPr id="3686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3686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FE31D72F-EEC6-402A-8E77-FC05B9CE252E}" type="slidenum">
              <a:rPr lang="en-US" sz="1200">
                <a:latin typeface="Arial" charset="0"/>
              </a:rPr>
              <a:pPr algn="r"/>
              <a:t>5</a:t>
            </a:fld>
            <a:endParaRPr lang="en-US" sz="1200">
              <a:latin typeface="Arial" charset="0"/>
            </a:endParaRPr>
          </a:p>
        </p:txBody>
      </p:sp>
    </p:spTree>
    <p:extLst>
      <p:ext uri="{BB962C8B-B14F-4D97-AF65-F5344CB8AC3E}">
        <p14:creationId xmlns:p14="http://schemas.microsoft.com/office/powerpoint/2010/main" val="2738655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891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13-2: What a Monopolist Does</a:t>
            </a:r>
            <a:endParaRPr lang="en-US" smtClean="0">
              <a:latin typeface="Arial" charset="0"/>
            </a:endParaRPr>
          </a:p>
          <a:p>
            <a:pPr defTabSz="914400">
              <a:spcBef>
                <a:spcPct val="0"/>
              </a:spcBef>
            </a:pPr>
            <a:r>
              <a:rPr lang="en-US" smtClean="0">
                <a:latin typeface="Arial" charset="0"/>
              </a:rPr>
              <a:t>Under perfect competition, the price and quantity are determined by supply and demand. Here, the equilibrium is at C, where the price is PC and the quantity is QC. A monopolist reduces the quantity supplied to QM, and moves up the demand curve from C to M, raising the price to PM.</a:t>
            </a:r>
          </a:p>
        </p:txBody>
      </p:sp>
    </p:spTree>
    <p:extLst>
      <p:ext uri="{BB962C8B-B14F-4D97-AF65-F5344CB8AC3E}">
        <p14:creationId xmlns:p14="http://schemas.microsoft.com/office/powerpoint/2010/main" val="34574550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096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13-2: What a Monopolist Does</a:t>
            </a:r>
            <a:endParaRPr lang="en-US" smtClean="0">
              <a:latin typeface="Arial" charset="0"/>
            </a:endParaRPr>
          </a:p>
          <a:p>
            <a:pPr defTabSz="914400">
              <a:spcBef>
                <a:spcPct val="0"/>
              </a:spcBef>
            </a:pPr>
            <a:r>
              <a:rPr lang="en-US" smtClean="0">
                <a:latin typeface="Arial" charset="0"/>
              </a:rPr>
              <a:t>Under perfect competition, the price and quantity are determined by supply and demand. Here, the equilibrium is at C, where the price is PC and the quantity is QC. A monopolist reduces the quantity supplied to QM, and moves up the demand curve from C to M, raising the price to PM.</a:t>
            </a:r>
          </a:p>
        </p:txBody>
      </p:sp>
    </p:spTree>
    <p:extLst>
      <p:ext uri="{BB962C8B-B14F-4D97-AF65-F5344CB8AC3E}">
        <p14:creationId xmlns:p14="http://schemas.microsoft.com/office/powerpoint/2010/main" val="12640588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p:cNvSpPr>
            <a:spLocks noGrp="1" noRot="1" noChangeAspect="1" noTextEdit="1"/>
          </p:cNvSpPr>
          <p:nvPr>
            <p:ph type="sldImg"/>
          </p:nvPr>
        </p:nvSpPr>
        <p:spPr bwMode="auto">
          <a:noFill/>
          <a:ln>
            <a:solidFill>
              <a:srgbClr val="000000"/>
            </a:solidFill>
            <a:miter lim="800000"/>
            <a:headEnd/>
            <a:tailEnd/>
          </a:ln>
        </p:spPr>
      </p:sp>
      <p:sp>
        <p:nvSpPr>
          <p:cNvPr id="43010"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43011"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E699EABE-C84C-4652-8FFB-BD40F191949C}" type="slidenum">
              <a:rPr lang="en-US" sz="1200">
                <a:latin typeface="Arial" charset="0"/>
              </a:rPr>
              <a:pPr algn="r"/>
              <a:t>8</a:t>
            </a:fld>
            <a:endParaRPr lang="en-US" sz="1200">
              <a:latin typeface="Arial" charset="0"/>
            </a:endParaRPr>
          </a:p>
        </p:txBody>
      </p:sp>
    </p:spTree>
    <p:extLst>
      <p:ext uri="{BB962C8B-B14F-4D97-AF65-F5344CB8AC3E}">
        <p14:creationId xmlns:p14="http://schemas.microsoft.com/office/powerpoint/2010/main" val="13250685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p:cNvSpPr>
            <a:spLocks noGrp="1" noRot="1" noChangeAspect="1" noTextEdit="1"/>
          </p:cNvSpPr>
          <p:nvPr>
            <p:ph type="sldImg"/>
          </p:nvPr>
        </p:nvSpPr>
        <p:spPr bwMode="auto">
          <a:noFill/>
          <a:ln>
            <a:solidFill>
              <a:srgbClr val="000000"/>
            </a:solidFill>
            <a:miter lim="800000"/>
            <a:headEnd/>
            <a:tailEnd/>
          </a:ln>
        </p:spPr>
      </p:sp>
      <p:sp>
        <p:nvSpPr>
          <p:cNvPr id="46082"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46083"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095AEF35-194A-4FEE-B91B-9C12362D305D}" type="slidenum">
              <a:rPr lang="en-US" sz="1200">
                <a:latin typeface="Arial" charset="0"/>
              </a:rPr>
              <a:pPr algn="r"/>
              <a:t>10</a:t>
            </a:fld>
            <a:endParaRPr lang="en-US" sz="1200">
              <a:latin typeface="Arial" charset="0"/>
            </a:endParaRPr>
          </a:p>
        </p:txBody>
      </p:sp>
    </p:spTree>
    <p:extLst>
      <p:ext uri="{BB962C8B-B14F-4D97-AF65-F5344CB8AC3E}">
        <p14:creationId xmlns:p14="http://schemas.microsoft.com/office/powerpoint/2010/main" val="465384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Image Placeholder 1"/>
          <p:cNvSpPr>
            <a:spLocks noGrp="1" noRot="1" noChangeAspect="1" noTextEdit="1"/>
          </p:cNvSpPr>
          <p:nvPr>
            <p:ph type="sldImg"/>
          </p:nvPr>
        </p:nvSpPr>
        <p:spPr bwMode="auto">
          <a:noFill/>
          <a:ln>
            <a:solidFill>
              <a:srgbClr val="000000"/>
            </a:solidFill>
            <a:miter lim="800000"/>
            <a:headEnd/>
            <a:tailEnd/>
          </a:ln>
        </p:spPr>
      </p:sp>
      <p:sp>
        <p:nvSpPr>
          <p:cNvPr id="50178"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13-3: Increasing Returns to Scale Create Natural Monopoly</a:t>
            </a:r>
            <a:endParaRPr lang="en-US" smtClean="0">
              <a:latin typeface="Arial" charset="0"/>
            </a:endParaRPr>
          </a:p>
          <a:p>
            <a:pPr defTabSz="914400">
              <a:spcBef>
                <a:spcPct val="0"/>
              </a:spcBef>
            </a:pPr>
            <a:r>
              <a:rPr lang="en-US" smtClean="0">
                <a:latin typeface="Arial" charset="0"/>
              </a:rPr>
              <a:t>A natural monopoly can arise when fixed costs required to operate are very high. When this occurs, the firm’s ATC curve declines over the range of output at which price is greater than or equal to average total cost. This gives the firm increasing returns to scale over the entire range of output at which the firm would at least break even in the long run. As a result, a given quantity of output is produced more cheaply by one large firm than by two or more smaller firms. </a:t>
            </a:r>
          </a:p>
          <a:p>
            <a:pPr defTabSz="914400">
              <a:spcBef>
                <a:spcPct val="0"/>
              </a:spcBef>
            </a:pPr>
            <a:endParaRPr lang="en-US" smtClean="0"/>
          </a:p>
          <a:p>
            <a:pPr defTabSz="914400">
              <a:spcBef>
                <a:spcPct val="0"/>
              </a:spcBef>
            </a:pPr>
            <a:endParaRPr lang="en-US" smtClean="0"/>
          </a:p>
        </p:txBody>
      </p:sp>
      <p:sp>
        <p:nvSpPr>
          <p:cNvPr id="50179"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26A2444F-3BB5-4093-AE13-D9662BE8BCE6}" type="slidenum">
              <a:rPr lang="en-US" sz="1200"/>
              <a:pPr algn="r"/>
              <a:t>11</a:t>
            </a:fld>
            <a:endParaRPr lang="en-US" sz="1200"/>
          </a:p>
        </p:txBody>
      </p:sp>
    </p:spTree>
    <p:extLst>
      <p:ext uri="{BB962C8B-B14F-4D97-AF65-F5344CB8AC3E}">
        <p14:creationId xmlns:p14="http://schemas.microsoft.com/office/powerpoint/2010/main" val="19721933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Image Placeholder 1"/>
          <p:cNvSpPr>
            <a:spLocks noGrp="1" noRot="1" noChangeAspect="1" noTextEdit="1"/>
          </p:cNvSpPr>
          <p:nvPr>
            <p:ph type="sldImg"/>
          </p:nvPr>
        </p:nvSpPr>
        <p:spPr bwMode="auto">
          <a:noFill/>
          <a:ln>
            <a:solidFill>
              <a:srgbClr val="000000"/>
            </a:solidFill>
            <a:miter lim="800000"/>
            <a:headEnd/>
            <a:tailEnd/>
          </a:ln>
        </p:spPr>
      </p:sp>
      <p:sp>
        <p:nvSpPr>
          <p:cNvPr id="48130"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48131"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B0D9BBC5-DF35-4FCA-9DFA-10D085119AD0}" type="slidenum">
              <a:rPr lang="en-US" sz="1200">
                <a:latin typeface="Arial" charset="0"/>
              </a:rPr>
              <a:pPr algn="r"/>
              <a:t>12</a:t>
            </a:fld>
            <a:endParaRPr lang="en-US" sz="1200">
              <a:latin typeface="Arial" charset="0"/>
            </a:endParaRPr>
          </a:p>
        </p:txBody>
      </p:sp>
    </p:spTree>
    <p:extLst>
      <p:ext uri="{BB962C8B-B14F-4D97-AF65-F5344CB8AC3E}">
        <p14:creationId xmlns:p14="http://schemas.microsoft.com/office/powerpoint/2010/main" val="30628578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Slide Image Placeholder 1"/>
          <p:cNvSpPr>
            <a:spLocks noGrp="1" noRot="1" noChangeAspect="1" noTextEdit="1"/>
          </p:cNvSpPr>
          <p:nvPr>
            <p:ph type="sldImg"/>
          </p:nvPr>
        </p:nvSpPr>
        <p:spPr bwMode="auto">
          <a:noFill/>
          <a:ln>
            <a:solidFill>
              <a:srgbClr val="000000"/>
            </a:solidFill>
            <a:miter lim="800000"/>
            <a:headEnd/>
            <a:tailEnd/>
          </a:ln>
        </p:spPr>
      </p:sp>
      <p:sp>
        <p:nvSpPr>
          <p:cNvPr id="55298"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55299"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8CBE84B2-F047-4D0F-8AD0-C0C7D490A9F2}" type="slidenum">
              <a:rPr lang="en-US" sz="1200">
                <a:latin typeface="Arial" charset="0"/>
              </a:rPr>
              <a:pPr algn="r"/>
              <a:t>16</a:t>
            </a:fld>
            <a:endParaRPr lang="en-US" sz="1200">
              <a:latin typeface="Arial" charset="0"/>
            </a:endParaRPr>
          </a:p>
        </p:txBody>
      </p:sp>
    </p:spTree>
    <p:extLst>
      <p:ext uri="{BB962C8B-B14F-4D97-AF65-F5344CB8AC3E}">
        <p14:creationId xmlns:p14="http://schemas.microsoft.com/office/powerpoint/2010/main" val="968245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p:cNvSpPr>
            <a:spLocks noGrp="1" noRot="1" noChangeAspect="1" noTextEdit="1"/>
          </p:cNvSpPr>
          <p:nvPr>
            <p:ph type="sldImg"/>
          </p:nvPr>
        </p:nvSpPr>
        <p:spPr bwMode="auto">
          <a:noFill/>
          <a:ln>
            <a:solidFill>
              <a:srgbClr val="000000"/>
            </a:solidFill>
            <a:miter lim="800000"/>
            <a:headEnd/>
            <a:tailEnd/>
          </a:ln>
        </p:spPr>
      </p:sp>
      <p:sp>
        <p:nvSpPr>
          <p:cNvPr id="5734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13-4: Comparing the Demand Curves of a Perfectly Competitive Producer and a Monopolist</a:t>
            </a:r>
            <a:endParaRPr lang="en-US" smtClean="0">
              <a:latin typeface="Arial" charset="0"/>
            </a:endParaRPr>
          </a:p>
          <a:p>
            <a:pPr defTabSz="914400">
              <a:spcBef>
                <a:spcPct val="0"/>
              </a:spcBef>
            </a:pPr>
            <a:r>
              <a:rPr lang="en-US" smtClean="0">
                <a:latin typeface="Arial" charset="0"/>
              </a:rPr>
              <a:t>Because an individual perfectly competitive producer cannot affect the market price of the good, it faces a horizontal demand curve DC, as shown in panel (a). A monopolist, on the other hand, can affect the price. Because it is the sole supplier in the industry, its demand curve is the market demand curve DM, as shown in panel (b). To sell more output, it must lower the price; by reducing output, it raises the price. </a:t>
            </a:r>
          </a:p>
          <a:p>
            <a:pPr defTabSz="914400">
              <a:spcBef>
                <a:spcPct val="0"/>
              </a:spcBef>
            </a:pPr>
            <a:endParaRPr lang="en-US" smtClean="0"/>
          </a:p>
          <a:p>
            <a:pPr defTabSz="914400">
              <a:spcBef>
                <a:spcPct val="0"/>
              </a:spcBef>
            </a:pPr>
            <a:endParaRPr lang="en-US" smtClean="0"/>
          </a:p>
        </p:txBody>
      </p:sp>
      <p:sp>
        <p:nvSpPr>
          <p:cNvPr id="5734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E4962361-3596-4EDB-A544-CA7D519261FA}" type="slidenum">
              <a:rPr lang="en-US" sz="1200"/>
              <a:pPr algn="r"/>
              <a:t>17</a:t>
            </a:fld>
            <a:endParaRPr lang="en-US" sz="1200"/>
          </a:p>
        </p:txBody>
      </p:sp>
    </p:spTree>
    <p:extLst>
      <p:ext uri="{BB962C8B-B14F-4D97-AF65-F5344CB8AC3E}">
        <p14:creationId xmlns:p14="http://schemas.microsoft.com/office/powerpoint/2010/main" val="20382433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bwMode="auto">
          <a:noFill/>
          <a:ln>
            <a:solidFill>
              <a:srgbClr val="000000"/>
            </a:solidFill>
            <a:miter lim="800000"/>
            <a:headEnd/>
            <a:tailEnd/>
          </a:ln>
        </p:spPr>
      </p:sp>
      <p:sp>
        <p:nvSpPr>
          <p:cNvPr id="59394"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5939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B6B2E7A1-A322-4C0C-BF13-0978042ECFE8}" type="slidenum">
              <a:rPr lang="en-US" sz="1200">
                <a:latin typeface="Arial" charset="0"/>
              </a:rPr>
              <a:pPr algn="r"/>
              <a:t>18</a:t>
            </a:fld>
            <a:endParaRPr lang="en-US" sz="1200">
              <a:latin typeface="Arial" charset="0"/>
            </a:endParaRPr>
          </a:p>
        </p:txBody>
      </p:sp>
    </p:spTree>
    <p:extLst>
      <p:ext uri="{BB962C8B-B14F-4D97-AF65-F5344CB8AC3E}">
        <p14:creationId xmlns:p14="http://schemas.microsoft.com/office/powerpoint/2010/main" val="20611867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144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13-5: A Monopolist’s Demand, Total Revenue, and Marginal Revenue Curves</a:t>
            </a:r>
            <a:endParaRPr lang="en-US" smtClean="0">
              <a:latin typeface="Arial" charset="0"/>
            </a:endParaRPr>
          </a:p>
          <a:p>
            <a:pPr defTabSz="914400">
              <a:spcBef>
                <a:spcPct val="0"/>
              </a:spcBef>
            </a:pPr>
            <a:r>
              <a:rPr lang="en-US" smtClean="0">
                <a:latin typeface="Arial" charset="0"/>
              </a:rPr>
              <a:t>Panel (a) shows the monopolist’s demand and marginal revenue curves for diamonds from Table 13-1. The marginal revenue curve lies below the demand curve. To see why, consider point A on the demand curve, where 9 diamonds are sold at $550 each, generating total revenue of $4,950. To sell a 10th diamond, the price on all 10 diamonds must be cut to $500, as shown by point B. As a result, total revenue increases by the green area (the quantity effect: +$500) but decreases by the orange area (the price effect: −$450). So the marginal revenue from the 10th diamond is $50 (the difference between the green and orange areas), which is much lower than its price, $500. Panel (b) shows the monopolist’s total revenue curve for diamonds. As output goes from 0 to 10 diamonds, total revenue increases. It reaches its maximum at 10 diamonds—the level at which marginal revenue is equal to 0—and declines thereafter. The quantity effect dominates the price effect when total revenue is rising; the price effect dominates the quantity effect when total revenue is falling.</a:t>
            </a:r>
          </a:p>
        </p:txBody>
      </p:sp>
    </p:spTree>
    <p:extLst>
      <p:ext uri="{BB962C8B-B14F-4D97-AF65-F5344CB8AC3E}">
        <p14:creationId xmlns:p14="http://schemas.microsoft.com/office/powerpoint/2010/main" val="32974628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noTextEdit="1"/>
          </p:cNvSpPr>
          <p:nvPr>
            <p:ph type="sldImg"/>
          </p:nvPr>
        </p:nvSpPr>
        <p:spPr bwMode="auto">
          <a:noFill/>
          <a:ln>
            <a:solidFill>
              <a:srgbClr val="000000"/>
            </a:solidFill>
            <a:miter lim="800000"/>
            <a:headEnd/>
            <a:tailEnd/>
          </a:ln>
        </p:spPr>
      </p:sp>
      <p:sp>
        <p:nvSpPr>
          <p:cNvPr id="63490"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63491"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9F824EB7-6537-4E6C-AB51-9DB7196A937C}" type="slidenum">
              <a:rPr lang="en-US" sz="1200">
                <a:latin typeface="Arial" charset="0"/>
              </a:rPr>
              <a:pPr algn="r"/>
              <a:t>20</a:t>
            </a:fld>
            <a:endParaRPr lang="en-US" sz="1200">
              <a:latin typeface="Arial" charset="0"/>
            </a:endParaRPr>
          </a:p>
        </p:txBody>
      </p:sp>
    </p:spTree>
    <p:extLst>
      <p:ext uri="{BB962C8B-B14F-4D97-AF65-F5344CB8AC3E}">
        <p14:creationId xmlns:p14="http://schemas.microsoft.com/office/powerpoint/2010/main" val="6777928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p:spPr>
      </p:sp>
      <p:sp>
        <p:nvSpPr>
          <p:cNvPr id="65538"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65539"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05B8B410-C1A8-4845-9ADF-617C9138FCE0}" type="slidenum">
              <a:rPr lang="en-US" sz="1200">
                <a:latin typeface="Arial" charset="0"/>
              </a:rPr>
              <a:pPr algn="r"/>
              <a:t>21</a:t>
            </a:fld>
            <a:endParaRPr lang="en-US" sz="1200">
              <a:latin typeface="Arial" charset="0"/>
            </a:endParaRPr>
          </a:p>
        </p:txBody>
      </p:sp>
    </p:spTree>
    <p:extLst>
      <p:ext uri="{BB962C8B-B14F-4D97-AF65-F5344CB8AC3E}">
        <p14:creationId xmlns:p14="http://schemas.microsoft.com/office/powerpoint/2010/main" val="6210730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p:cNvSpPr>
            <a:spLocks noGrp="1" noRot="1" noChangeAspect="1" noTextEdit="1"/>
          </p:cNvSpPr>
          <p:nvPr>
            <p:ph type="sldImg"/>
          </p:nvPr>
        </p:nvSpPr>
        <p:spPr bwMode="auto">
          <a:noFill/>
          <a:ln>
            <a:solidFill>
              <a:srgbClr val="000000"/>
            </a:solidFill>
            <a:miter lim="800000"/>
            <a:headEnd/>
            <a:tailEnd/>
          </a:ln>
        </p:spPr>
      </p:sp>
      <p:sp>
        <p:nvSpPr>
          <p:cNvPr id="6758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13-6: The Monopolist’s Profit-Maximizing Output and Price</a:t>
            </a:r>
            <a:endParaRPr lang="en-US" smtClean="0">
              <a:latin typeface="Arial" charset="0"/>
            </a:endParaRPr>
          </a:p>
          <a:p>
            <a:pPr defTabSz="914400">
              <a:spcBef>
                <a:spcPct val="0"/>
              </a:spcBef>
            </a:pPr>
            <a:r>
              <a:rPr lang="en-US" smtClean="0">
                <a:latin typeface="Arial" charset="0"/>
              </a:rPr>
              <a:t>This figure shows the demand, marginal revenue, and marginal cost curves. Marginal cost per diamond is constant at $200, so the marginal cost curve is horizontal at $200. According to the optimal output rule, the profit-maximizing quantity of output for the monopolist is at MR=MC, shown by point A, where the marginal cost and marginal revenue curves cross at an output of 8 diamonds. The price De Beers can charge per diamond is found by going to the point on the demand curve directly above point A, which is point B here—a price of $600 per diamond. It makes a profit of $400 ×8 =$3,200. A perfectly competitive industry produces the output level at which P=MC, given by point C, where the demand curve and marginal cost curves cross. So a competitive industry produces 16 diamonds, sells at a price of $200, and makes zero profit.</a:t>
            </a:r>
          </a:p>
          <a:p>
            <a:pPr defTabSz="914400">
              <a:spcBef>
                <a:spcPct val="0"/>
              </a:spcBef>
            </a:pPr>
            <a:endParaRPr lang="en-US" smtClean="0"/>
          </a:p>
          <a:p>
            <a:pPr defTabSz="914400">
              <a:spcBef>
                <a:spcPct val="0"/>
              </a:spcBef>
            </a:pPr>
            <a:endParaRPr lang="en-US" smtClean="0"/>
          </a:p>
        </p:txBody>
      </p:sp>
      <p:sp>
        <p:nvSpPr>
          <p:cNvPr id="6758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CF4E1FD2-5D7F-46A5-97E6-DC3CBF8C81DA}" type="slidenum">
              <a:rPr lang="en-US" sz="1200"/>
              <a:pPr algn="r"/>
              <a:t>22</a:t>
            </a:fld>
            <a:endParaRPr lang="en-US" sz="1200"/>
          </a:p>
        </p:txBody>
      </p:sp>
    </p:spTree>
    <p:extLst>
      <p:ext uri="{BB962C8B-B14F-4D97-AF65-F5344CB8AC3E}">
        <p14:creationId xmlns:p14="http://schemas.microsoft.com/office/powerpoint/2010/main" val="24809744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p:cNvSpPr>
            <a:spLocks noGrp="1" noRot="1" noChangeAspect="1" noTextEdit="1"/>
          </p:cNvSpPr>
          <p:nvPr>
            <p:ph type="sldImg"/>
          </p:nvPr>
        </p:nvSpPr>
        <p:spPr bwMode="auto">
          <a:noFill/>
          <a:ln>
            <a:solidFill>
              <a:srgbClr val="000000"/>
            </a:solidFill>
            <a:miter lim="800000"/>
            <a:headEnd/>
            <a:tailEnd/>
          </a:ln>
        </p:spPr>
      </p:sp>
      <p:sp>
        <p:nvSpPr>
          <p:cNvPr id="69634"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6963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5EE7E678-92D9-46DF-8A32-D1AEF298BA4A}" type="slidenum">
              <a:rPr lang="en-US" sz="1200">
                <a:latin typeface="Arial" charset="0"/>
              </a:rPr>
              <a:pPr algn="r"/>
              <a:t>23</a:t>
            </a:fld>
            <a:endParaRPr lang="en-US" sz="1200">
              <a:latin typeface="Arial" charset="0"/>
            </a:endParaRPr>
          </a:p>
        </p:txBody>
      </p:sp>
    </p:spTree>
    <p:extLst>
      <p:ext uri="{BB962C8B-B14F-4D97-AF65-F5344CB8AC3E}">
        <p14:creationId xmlns:p14="http://schemas.microsoft.com/office/powerpoint/2010/main" val="19935536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168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13-7: The Monopolist’s Profit</a:t>
            </a:r>
            <a:endParaRPr lang="en-US" smtClean="0">
              <a:latin typeface="Arial" charset="0"/>
            </a:endParaRPr>
          </a:p>
          <a:p>
            <a:pPr defTabSz="914400">
              <a:spcBef>
                <a:spcPct val="0"/>
              </a:spcBef>
            </a:pPr>
            <a:r>
              <a:rPr lang="en-US" smtClean="0">
                <a:latin typeface="Arial" charset="0"/>
              </a:rPr>
              <a:t>In this case, the marginal cost curve has a “swoosh” shape and the average total cost curve is U-shaped. The monopolist maximizes profit by producing the level of output at which MR=MC, given by point A, generating quantity Q</a:t>
            </a:r>
            <a:r>
              <a:rPr lang="en-US" baseline="-25000" smtClean="0">
                <a:latin typeface="Arial" charset="0"/>
              </a:rPr>
              <a:t>M</a:t>
            </a:r>
            <a:r>
              <a:rPr lang="en-US" smtClean="0">
                <a:latin typeface="Arial" charset="0"/>
              </a:rPr>
              <a:t>. It finds its monopoly price, P</a:t>
            </a:r>
            <a:r>
              <a:rPr lang="en-US" baseline="-25000" smtClean="0">
                <a:latin typeface="Arial" charset="0"/>
              </a:rPr>
              <a:t>M</a:t>
            </a:r>
            <a:r>
              <a:rPr lang="en-US" smtClean="0">
                <a:latin typeface="Arial" charset="0"/>
              </a:rPr>
              <a:t>, from the point on the demand curve directly above point A, point B here. The average total cost of Q</a:t>
            </a:r>
            <a:r>
              <a:rPr lang="en-US" baseline="-25000" smtClean="0">
                <a:latin typeface="Arial" charset="0"/>
              </a:rPr>
              <a:t>M</a:t>
            </a:r>
            <a:r>
              <a:rPr lang="en-US" smtClean="0">
                <a:latin typeface="Arial" charset="0"/>
              </a:rPr>
              <a:t> is shown by point C. Profit is given by the area of the shaded rectangle.</a:t>
            </a:r>
          </a:p>
        </p:txBody>
      </p:sp>
    </p:spTree>
    <p:extLst>
      <p:ext uri="{BB962C8B-B14F-4D97-AF65-F5344CB8AC3E}">
        <p14:creationId xmlns:p14="http://schemas.microsoft.com/office/powerpoint/2010/main" val="40351657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p:cNvSpPr>
            <a:spLocks noGrp="1" noRot="1" noChangeAspect="1" noTextEdit="1"/>
          </p:cNvSpPr>
          <p:nvPr>
            <p:ph type="sldImg"/>
          </p:nvPr>
        </p:nvSpPr>
        <p:spPr bwMode="auto">
          <a:noFill/>
          <a:ln>
            <a:solidFill>
              <a:srgbClr val="000000"/>
            </a:solidFill>
            <a:miter lim="800000"/>
            <a:headEnd/>
            <a:tailEnd/>
          </a:ln>
        </p:spPr>
      </p:sp>
      <p:sp>
        <p:nvSpPr>
          <p:cNvPr id="73730"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73731"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14154576-C74D-4A8A-99A7-E33FE33C2D46}" type="slidenum">
              <a:rPr lang="en-US" sz="1200">
                <a:latin typeface="Arial" charset="0"/>
              </a:rPr>
              <a:pPr algn="r"/>
              <a:t>25</a:t>
            </a:fld>
            <a:endParaRPr lang="en-US" sz="1200">
              <a:latin typeface="Arial" charset="0"/>
            </a:endParaRPr>
          </a:p>
        </p:txBody>
      </p:sp>
    </p:spTree>
    <p:extLst>
      <p:ext uri="{BB962C8B-B14F-4D97-AF65-F5344CB8AC3E}">
        <p14:creationId xmlns:p14="http://schemas.microsoft.com/office/powerpoint/2010/main" val="5264201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p:cNvSpPr>
            <a:spLocks noGrp="1" noRot="1" noChangeAspect="1" noTextEdit="1"/>
          </p:cNvSpPr>
          <p:nvPr>
            <p:ph type="sldImg"/>
          </p:nvPr>
        </p:nvSpPr>
        <p:spPr bwMode="auto">
          <a:noFill/>
          <a:ln>
            <a:solidFill>
              <a:srgbClr val="000000"/>
            </a:solidFill>
            <a:miter lim="800000"/>
            <a:headEnd/>
            <a:tailEnd/>
          </a:ln>
        </p:spPr>
      </p:sp>
      <p:sp>
        <p:nvSpPr>
          <p:cNvPr id="75778"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13-8: Monopoly Causes Inefficiency</a:t>
            </a:r>
            <a:endParaRPr lang="en-US" smtClean="0">
              <a:latin typeface="Arial" charset="0"/>
            </a:endParaRPr>
          </a:p>
          <a:p>
            <a:pPr defTabSz="914400">
              <a:spcBef>
                <a:spcPct val="0"/>
              </a:spcBef>
            </a:pPr>
            <a:r>
              <a:rPr lang="en-US" smtClean="0">
                <a:latin typeface="Arial" charset="0"/>
              </a:rPr>
              <a:t>Panel (a) depicts a perfectly competitive industry: output is QC, and market price, PC, is equal to MC. Since price is exactly equal to each producer’s average total cost of production per unit, there is no producer surplus. So total surplus is equal to consumer surplus, the entire shaded area. Panel (b) depicts the industry under monopoly: the monopolist decreases output to Q</a:t>
            </a:r>
            <a:r>
              <a:rPr lang="en-US" baseline="-25000" smtClean="0">
                <a:latin typeface="Arial" charset="0"/>
              </a:rPr>
              <a:t>M</a:t>
            </a:r>
            <a:r>
              <a:rPr lang="en-US" smtClean="0">
                <a:latin typeface="Arial" charset="0"/>
              </a:rPr>
              <a:t> and charges P</a:t>
            </a:r>
            <a:r>
              <a:rPr lang="en-US" baseline="-25000" smtClean="0">
                <a:latin typeface="Arial" charset="0"/>
              </a:rPr>
              <a:t>M</a:t>
            </a:r>
            <a:r>
              <a:rPr lang="en-US" smtClean="0">
                <a:latin typeface="Arial" charset="0"/>
              </a:rPr>
              <a:t>. Consumer surplus (blue area) has shrunk: a portion of it has been captured as profit (green area), and a portion of it has been lost to deadweight loss (yellow area), the value of mutually beneficial transactions that do not occur because of monopoly behavior. As a result, total surplus falls. </a:t>
            </a:r>
          </a:p>
          <a:p>
            <a:pPr defTabSz="914400">
              <a:spcBef>
                <a:spcPct val="0"/>
              </a:spcBef>
            </a:pPr>
            <a:endParaRPr lang="en-US" smtClean="0"/>
          </a:p>
          <a:p>
            <a:pPr defTabSz="914400">
              <a:spcBef>
                <a:spcPct val="0"/>
              </a:spcBef>
            </a:pPr>
            <a:endParaRPr lang="en-US" smtClean="0"/>
          </a:p>
        </p:txBody>
      </p:sp>
      <p:sp>
        <p:nvSpPr>
          <p:cNvPr id="75779"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86B037F7-D185-4CEB-BD85-CECD019FF46F}" type="slidenum">
              <a:rPr lang="en-US" sz="1200"/>
              <a:pPr algn="r"/>
              <a:t>26</a:t>
            </a:fld>
            <a:endParaRPr lang="en-US" sz="1200"/>
          </a:p>
        </p:txBody>
      </p:sp>
    </p:spTree>
    <p:extLst>
      <p:ext uri="{BB962C8B-B14F-4D97-AF65-F5344CB8AC3E}">
        <p14:creationId xmlns:p14="http://schemas.microsoft.com/office/powerpoint/2010/main" val="34529967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p:cNvSpPr>
            <a:spLocks noGrp="1" noRot="1" noChangeAspect="1" noTextEdit="1"/>
          </p:cNvSpPr>
          <p:nvPr>
            <p:ph type="sldImg"/>
          </p:nvPr>
        </p:nvSpPr>
        <p:spPr bwMode="auto">
          <a:noFill/>
          <a:ln>
            <a:solidFill>
              <a:srgbClr val="000000"/>
            </a:solidFill>
            <a:miter lim="800000"/>
            <a:headEnd/>
            <a:tailEnd/>
          </a:ln>
        </p:spPr>
      </p:sp>
      <p:sp>
        <p:nvSpPr>
          <p:cNvPr id="7782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7782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4743B7DD-1E6D-401A-BEE1-AEA196C21855}" type="slidenum">
              <a:rPr lang="en-US" sz="1200">
                <a:latin typeface="Arial" charset="0"/>
              </a:rPr>
              <a:pPr algn="r"/>
              <a:t>27</a:t>
            </a:fld>
            <a:endParaRPr lang="en-US" sz="1200">
              <a:latin typeface="Arial" charset="0"/>
            </a:endParaRPr>
          </a:p>
        </p:txBody>
      </p:sp>
    </p:spTree>
    <p:extLst>
      <p:ext uri="{BB962C8B-B14F-4D97-AF65-F5344CB8AC3E}">
        <p14:creationId xmlns:p14="http://schemas.microsoft.com/office/powerpoint/2010/main" val="8097634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p:cNvSpPr>
            <a:spLocks noGrp="1" noRot="1" noChangeAspect="1" noTextEdit="1"/>
          </p:cNvSpPr>
          <p:nvPr>
            <p:ph type="sldImg"/>
          </p:nvPr>
        </p:nvSpPr>
        <p:spPr bwMode="auto">
          <a:noFill/>
          <a:ln>
            <a:solidFill>
              <a:srgbClr val="000000"/>
            </a:solidFill>
            <a:miter lim="800000"/>
            <a:headEnd/>
            <a:tailEnd/>
          </a:ln>
        </p:spPr>
      </p:sp>
      <p:sp>
        <p:nvSpPr>
          <p:cNvPr id="79874"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79875"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40676588-7F7E-42E0-A225-8657F08D5FD7}" type="slidenum">
              <a:rPr lang="en-US" sz="1200">
                <a:latin typeface="Arial" charset="0"/>
              </a:rPr>
              <a:pPr algn="r"/>
              <a:t>28</a:t>
            </a:fld>
            <a:endParaRPr lang="en-US" sz="1200">
              <a:latin typeface="Arial" charset="0"/>
            </a:endParaRPr>
          </a:p>
        </p:txBody>
      </p:sp>
    </p:spTree>
    <p:extLst>
      <p:ext uri="{BB962C8B-B14F-4D97-AF65-F5344CB8AC3E}">
        <p14:creationId xmlns:p14="http://schemas.microsoft.com/office/powerpoint/2010/main" val="38444924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Slide Image Placeholder 1"/>
          <p:cNvSpPr>
            <a:spLocks noGrp="1" noRot="1" noChangeAspect="1" noTextEdit="1"/>
          </p:cNvSpPr>
          <p:nvPr>
            <p:ph type="sldImg"/>
          </p:nvPr>
        </p:nvSpPr>
        <p:spPr bwMode="auto">
          <a:noFill/>
          <a:ln>
            <a:solidFill>
              <a:srgbClr val="000000"/>
            </a:solidFill>
            <a:miter lim="800000"/>
            <a:headEnd/>
            <a:tailEnd/>
          </a:ln>
        </p:spPr>
      </p:sp>
      <p:sp>
        <p:nvSpPr>
          <p:cNvPr id="81922"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13-9: Unregulated and Regulated Natural Monopoly</a:t>
            </a:r>
            <a:endParaRPr lang="en-US" smtClean="0">
              <a:latin typeface="Arial" charset="0"/>
            </a:endParaRPr>
          </a:p>
          <a:p>
            <a:pPr defTabSz="914400">
              <a:spcBef>
                <a:spcPct val="0"/>
              </a:spcBef>
            </a:pPr>
            <a:r>
              <a:rPr lang="en-US" smtClean="0">
                <a:latin typeface="Arial" charset="0"/>
              </a:rPr>
              <a:t>This figure shows the case of a natural monopolist. In panel (a), if the monopolist is allowed to charge P</a:t>
            </a:r>
            <a:r>
              <a:rPr lang="en-US" baseline="-25000" smtClean="0">
                <a:latin typeface="Arial" charset="0"/>
              </a:rPr>
              <a:t>M</a:t>
            </a:r>
            <a:r>
              <a:rPr lang="en-US" smtClean="0">
                <a:latin typeface="Arial" charset="0"/>
              </a:rPr>
              <a:t>, it makes a profit, shown by the green area; consumer surplus is shown by the blue area. If it is regulated and must charge the lower price P</a:t>
            </a:r>
            <a:r>
              <a:rPr lang="en-US" baseline="-25000" smtClean="0">
                <a:latin typeface="Arial" charset="0"/>
              </a:rPr>
              <a:t>R</a:t>
            </a:r>
            <a:r>
              <a:rPr lang="en-US" smtClean="0">
                <a:latin typeface="Arial" charset="0"/>
              </a:rPr>
              <a:t>, output increases from Q</a:t>
            </a:r>
            <a:r>
              <a:rPr lang="en-US" baseline="-25000" smtClean="0">
                <a:latin typeface="Arial" charset="0"/>
              </a:rPr>
              <a:t>M</a:t>
            </a:r>
            <a:r>
              <a:rPr lang="en-US" smtClean="0">
                <a:latin typeface="Arial" charset="0"/>
              </a:rPr>
              <a:t> to Q</a:t>
            </a:r>
            <a:r>
              <a:rPr lang="en-US" baseline="-25000" smtClean="0">
                <a:latin typeface="Arial" charset="0"/>
              </a:rPr>
              <a:t>R</a:t>
            </a:r>
            <a:r>
              <a:rPr lang="en-US" smtClean="0">
                <a:latin typeface="Arial" charset="0"/>
              </a:rPr>
              <a:t> and consumer surplus increases. Panel (b) shows what happens when the monopolist must charge a price equal to average total cost, the price P*R. Output expands to Q*R, and consumer surplus is now the entire blue area. The monopolist makes zero profit. This is the greatest total surplus possible when the monopolist is allowed to at least break even, making P*R the best regulated price. </a:t>
            </a:r>
          </a:p>
          <a:p>
            <a:pPr defTabSz="914400">
              <a:spcBef>
                <a:spcPct val="0"/>
              </a:spcBef>
            </a:pPr>
            <a:endParaRPr lang="en-US" smtClean="0"/>
          </a:p>
        </p:txBody>
      </p:sp>
      <p:sp>
        <p:nvSpPr>
          <p:cNvPr id="81923"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E60E2909-5EF9-44F3-A45D-72F5EA2FB28E}" type="slidenum">
              <a:rPr lang="en-US" sz="1200"/>
              <a:pPr algn="r"/>
              <a:t>29</a:t>
            </a:fld>
            <a:endParaRPr lang="en-US" sz="1200"/>
          </a:p>
        </p:txBody>
      </p:sp>
    </p:spTree>
    <p:extLst>
      <p:ext uri="{BB962C8B-B14F-4D97-AF65-F5344CB8AC3E}">
        <p14:creationId xmlns:p14="http://schemas.microsoft.com/office/powerpoint/2010/main" val="25965556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Slide Image Placeholder 1"/>
          <p:cNvSpPr>
            <a:spLocks noGrp="1" noRot="1" noChangeAspect="1" noTextEdit="1"/>
          </p:cNvSpPr>
          <p:nvPr>
            <p:ph type="sldImg"/>
          </p:nvPr>
        </p:nvSpPr>
        <p:spPr bwMode="auto">
          <a:noFill/>
          <a:ln>
            <a:solidFill>
              <a:srgbClr val="000000"/>
            </a:solidFill>
            <a:miter lim="800000"/>
            <a:headEnd/>
            <a:tailEnd/>
          </a:ln>
        </p:spPr>
      </p:sp>
      <p:sp>
        <p:nvSpPr>
          <p:cNvPr id="83970"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83971"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F9B2B9E8-5D11-4447-B9DD-9F17A41EBB43}" type="slidenum">
              <a:rPr lang="en-US" sz="1200">
                <a:latin typeface="Arial" charset="0"/>
              </a:rPr>
              <a:pPr algn="r"/>
              <a:t>30</a:t>
            </a:fld>
            <a:endParaRPr lang="en-US" sz="1200">
              <a:latin typeface="Arial" charset="0"/>
            </a:endParaRPr>
          </a:p>
        </p:txBody>
      </p:sp>
    </p:spTree>
    <p:extLst>
      <p:ext uri="{BB962C8B-B14F-4D97-AF65-F5344CB8AC3E}">
        <p14:creationId xmlns:p14="http://schemas.microsoft.com/office/powerpoint/2010/main" val="41530351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lide Image Placeholder 1"/>
          <p:cNvSpPr>
            <a:spLocks noGrp="1" noRot="1" noChangeAspect="1" noTextEdit="1"/>
          </p:cNvSpPr>
          <p:nvPr>
            <p:ph type="sldImg"/>
          </p:nvPr>
        </p:nvSpPr>
        <p:spPr bwMode="auto">
          <a:noFill/>
          <a:ln>
            <a:solidFill>
              <a:srgbClr val="000000"/>
            </a:solidFill>
            <a:miter lim="800000"/>
            <a:headEnd/>
            <a:tailEnd/>
          </a:ln>
        </p:spPr>
      </p:sp>
      <p:sp>
        <p:nvSpPr>
          <p:cNvPr id="86018"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86019"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C32A593E-0F23-489C-8C3A-69F62D5724F2}" type="slidenum">
              <a:rPr lang="en-US" sz="1200">
                <a:latin typeface="Arial" charset="0"/>
              </a:rPr>
              <a:pPr algn="r"/>
              <a:t>31</a:t>
            </a:fld>
            <a:endParaRPr lang="en-US" sz="1200">
              <a:latin typeface="Arial" charset="0"/>
            </a:endParaRPr>
          </a:p>
        </p:txBody>
      </p:sp>
    </p:spTree>
    <p:extLst>
      <p:ext uri="{BB962C8B-B14F-4D97-AF65-F5344CB8AC3E}">
        <p14:creationId xmlns:p14="http://schemas.microsoft.com/office/powerpoint/2010/main" val="39522229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lide Image Placeholder 1"/>
          <p:cNvSpPr>
            <a:spLocks noGrp="1" noRot="1" noChangeAspect="1" noTextEdit="1"/>
          </p:cNvSpPr>
          <p:nvPr>
            <p:ph type="sldImg"/>
          </p:nvPr>
        </p:nvSpPr>
        <p:spPr bwMode="auto">
          <a:noFill/>
          <a:ln>
            <a:solidFill>
              <a:srgbClr val="000000"/>
            </a:solidFill>
            <a:miter lim="800000"/>
            <a:headEnd/>
            <a:tailEnd/>
          </a:ln>
        </p:spPr>
      </p:sp>
      <p:sp>
        <p:nvSpPr>
          <p:cNvPr id="88066"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88067"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710A713F-13D1-4433-8AF7-359BE1DAACEC}" type="slidenum">
              <a:rPr lang="en-US" sz="1200">
                <a:latin typeface="Arial" charset="0"/>
              </a:rPr>
              <a:pPr algn="r"/>
              <a:t>32</a:t>
            </a:fld>
            <a:endParaRPr lang="en-US" sz="1200">
              <a:latin typeface="Arial" charset="0"/>
            </a:endParaRPr>
          </a:p>
        </p:txBody>
      </p:sp>
    </p:spTree>
    <p:extLst>
      <p:ext uri="{BB962C8B-B14F-4D97-AF65-F5344CB8AC3E}">
        <p14:creationId xmlns:p14="http://schemas.microsoft.com/office/powerpoint/2010/main" val="23350295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011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13-10: Two Types of Airline Customers</a:t>
            </a:r>
            <a:endParaRPr lang="en-US" smtClean="0">
              <a:latin typeface="Arial" charset="0"/>
            </a:endParaRPr>
          </a:p>
          <a:p>
            <a:pPr defTabSz="914400">
              <a:spcBef>
                <a:spcPct val="0"/>
              </a:spcBef>
            </a:pPr>
            <a:r>
              <a:rPr lang="en-US" smtClean="0">
                <a:latin typeface="Arial" charset="0"/>
              </a:rPr>
              <a:t>Air Sunshine has two types of customers, business travelers willing to pay at most $550 per ticket and students willing to pay at most $150 per ticket. There are 2,000 of each kind of customer. Air Sunshine has constant marginal cost of $125 per seat. If Air Sunshine could charge these two types of customers different prices, it would maximize its profit by charging business travelers $550 and students $150 per ticket. It would capture all of the consumer surplus as profit. </a:t>
            </a:r>
          </a:p>
        </p:txBody>
      </p:sp>
    </p:spTree>
    <p:extLst>
      <p:ext uri="{BB962C8B-B14F-4D97-AF65-F5344CB8AC3E}">
        <p14:creationId xmlns:p14="http://schemas.microsoft.com/office/powerpoint/2010/main" val="42441249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Slide Image Placeholder 1"/>
          <p:cNvSpPr>
            <a:spLocks noGrp="1" noRot="1" noChangeAspect="1" noTextEdit="1"/>
          </p:cNvSpPr>
          <p:nvPr>
            <p:ph type="sldImg"/>
          </p:nvPr>
        </p:nvSpPr>
        <p:spPr bwMode="auto">
          <a:noFill/>
          <a:ln>
            <a:solidFill>
              <a:srgbClr val="000000"/>
            </a:solidFill>
            <a:miter lim="800000"/>
            <a:headEnd/>
            <a:tailEnd/>
          </a:ln>
        </p:spPr>
      </p:sp>
      <p:sp>
        <p:nvSpPr>
          <p:cNvPr id="92162"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endParaRPr lang="en-US" smtClean="0">
              <a:latin typeface="Arial" charset="0"/>
            </a:endParaRPr>
          </a:p>
        </p:txBody>
      </p:sp>
      <p:sp>
        <p:nvSpPr>
          <p:cNvPr id="92163"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6D32CC9D-3405-4577-A13B-8404FEC93F07}" type="slidenum">
              <a:rPr lang="en-US" sz="1200">
                <a:latin typeface="Arial" charset="0"/>
              </a:rPr>
              <a:pPr algn="r"/>
              <a:t>34</a:t>
            </a:fld>
            <a:endParaRPr lang="en-US" sz="1200">
              <a:latin typeface="Arial" charset="0"/>
            </a:endParaRPr>
          </a:p>
        </p:txBody>
      </p:sp>
    </p:spTree>
    <p:extLst>
      <p:ext uri="{BB962C8B-B14F-4D97-AF65-F5344CB8AC3E}">
        <p14:creationId xmlns:p14="http://schemas.microsoft.com/office/powerpoint/2010/main" val="35572447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Slide Image Placeholder 1"/>
          <p:cNvSpPr>
            <a:spLocks noGrp="1" noRot="1" noChangeAspect="1" noTextEdit="1"/>
          </p:cNvSpPr>
          <p:nvPr>
            <p:ph type="sldImg"/>
          </p:nvPr>
        </p:nvSpPr>
        <p:spPr bwMode="auto">
          <a:noFill/>
          <a:ln>
            <a:solidFill>
              <a:srgbClr val="000000"/>
            </a:solidFill>
            <a:miter lim="800000"/>
            <a:headEnd/>
            <a:tailEnd/>
          </a:ln>
        </p:spPr>
      </p:sp>
      <p:sp>
        <p:nvSpPr>
          <p:cNvPr id="94210"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13-11: Price Discrimination</a:t>
            </a:r>
            <a:endParaRPr lang="en-US" smtClean="0">
              <a:latin typeface="Arial" charset="0"/>
            </a:endParaRPr>
          </a:p>
          <a:p>
            <a:pPr defTabSz="914400">
              <a:spcBef>
                <a:spcPct val="0"/>
              </a:spcBef>
            </a:pPr>
            <a:r>
              <a:rPr lang="en-US" smtClean="0">
                <a:latin typeface="Arial" charset="0"/>
              </a:rPr>
              <a:t>Panel (a) shows a monopolist that charges two different prices; its profit is shown by the shaded area. Panel (b) shows a monopolist that charges three different prices; its profit, too, is shown by the shaded area. It is able to capture more of the consumer surplus and to increase its profit. That is, by increasing the number of different prices charged, the monopolist captures more of the consumer surplus and makes a larger profit.</a:t>
            </a:r>
          </a:p>
          <a:p>
            <a:pPr defTabSz="914400">
              <a:spcBef>
                <a:spcPct val="0"/>
              </a:spcBef>
            </a:pPr>
            <a:endParaRPr lang="en-US" smtClean="0"/>
          </a:p>
        </p:txBody>
      </p:sp>
      <p:sp>
        <p:nvSpPr>
          <p:cNvPr id="94211"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DB9E1061-64D8-42A3-81A9-8A34C468FECD}" type="slidenum">
              <a:rPr lang="en-US" sz="1200"/>
              <a:pPr algn="r"/>
              <a:t>35</a:t>
            </a:fld>
            <a:endParaRPr lang="en-US" sz="1200"/>
          </a:p>
        </p:txBody>
      </p:sp>
    </p:spTree>
    <p:extLst>
      <p:ext uri="{BB962C8B-B14F-4D97-AF65-F5344CB8AC3E}">
        <p14:creationId xmlns:p14="http://schemas.microsoft.com/office/powerpoint/2010/main" val="6416549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Image Placeholder 1"/>
          <p:cNvSpPr>
            <a:spLocks noGrp="1" noRot="1" noChangeAspect="1" noTextEdit="1"/>
          </p:cNvSpPr>
          <p:nvPr>
            <p:ph type="sldImg"/>
          </p:nvPr>
        </p:nvSpPr>
        <p:spPr bwMode="auto">
          <a:noFill/>
          <a:ln>
            <a:solidFill>
              <a:srgbClr val="000000"/>
            </a:solidFill>
            <a:miter lim="800000"/>
            <a:headEnd/>
            <a:tailEnd/>
          </a:ln>
        </p:spPr>
      </p:sp>
      <p:sp>
        <p:nvSpPr>
          <p:cNvPr id="96258" name="Notes Placeholder 2"/>
          <p:cNvSpPr>
            <a:spLocks noGrp="1"/>
          </p:cNvSpPr>
          <p:nvPr>
            <p:ph type="body" idx="1"/>
          </p:nvPr>
        </p:nvSpPr>
        <p:spPr bwMode="auto">
          <a:noFill/>
        </p:spPr>
        <p:txBody>
          <a:bodyPr wrap="square" numCol="1" anchor="t" anchorCtr="0" compatLnSpc="1">
            <a:prstTxWarp prst="textNoShape">
              <a:avLst/>
            </a:prstTxWarp>
          </a:bodyPr>
          <a:lstStyle/>
          <a:p>
            <a:pPr defTabSz="914400">
              <a:spcBef>
                <a:spcPct val="0"/>
              </a:spcBef>
            </a:pPr>
            <a:r>
              <a:rPr lang="en-US" b="1" i="1" u="sng" smtClean="0">
                <a:latin typeface="Arial" charset="0"/>
              </a:rPr>
              <a:t>Figure Caption:</a:t>
            </a:r>
            <a:r>
              <a:rPr lang="en-US" b="1" i="1" smtClean="0">
                <a:latin typeface="Arial" charset="0"/>
              </a:rPr>
              <a:t> </a:t>
            </a:r>
            <a:r>
              <a:rPr lang="en-US" b="1" smtClean="0">
                <a:latin typeface="Arial" charset="0"/>
              </a:rPr>
              <a:t>Figure 13-11: Price Discrimination</a:t>
            </a:r>
            <a:endParaRPr lang="en-US" smtClean="0">
              <a:latin typeface="Arial" charset="0"/>
            </a:endParaRPr>
          </a:p>
          <a:p>
            <a:pPr defTabSz="914400">
              <a:spcBef>
                <a:spcPct val="0"/>
              </a:spcBef>
            </a:pPr>
            <a:r>
              <a:rPr lang="en-US" smtClean="0">
                <a:latin typeface="Arial" charset="0"/>
              </a:rPr>
              <a:t>Panel (c) shows the case of perfect price discrimination, where a monopolist charges each consumer his or her willingness to pay; the monopolist’s profit is given by the shaded triangle.</a:t>
            </a:r>
          </a:p>
          <a:p>
            <a:pPr defTabSz="914400">
              <a:spcBef>
                <a:spcPct val="0"/>
              </a:spcBef>
            </a:pPr>
            <a:endParaRPr lang="en-US" smtClean="0"/>
          </a:p>
        </p:txBody>
      </p:sp>
      <p:sp>
        <p:nvSpPr>
          <p:cNvPr id="96259" name="Slide Number Placeholder 3"/>
          <p:cNvSpPr txBox="1">
            <a:spLocks noGrp="1"/>
          </p:cNvSpPr>
          <p:nvPr/>
        </p:nvSpPr>
        <p:spPr bwMode="auto">
          <a:xfrm>
            <a:off x="3849688" y="9378950"/>
            <a:ext cx="2946400" cy="493713"/>
          </a:xfrm>
          <a:prstGeom prst="rect">
            <a:avLst/>
          </a:prstGeom>
          <a:noFill/>
          <a:ln w="9525">
            <a:noFill/>
            <a:miter lim="800000"/>
            <a:headEnd/>
            <a:tailEnd/>
          </a:ln>
        </p:spPr>
        <p:txBody>
          <a:bodyPr anchor="b"/>
          <a:lstStyle/>
          <a:p>
            <a:pPr algn="r"/>
            <a:fld id="{82C913DA-D848-42D0-98A0-78BE6719C9E9}" type="slidenum">
              <a:rPr lang="en-US" sz="1200"/>
              <a:pPr algn="r"/>
              <a:t>36</a:t>
            </a:fld>
            <a:endParaRPr lang="en-US" sz="1200"/>
          </a:p>
        </p:txBody>
      </p:sp>
    </p:spTree>
    <p:extLst>
      <p:ext uri="{BB962C8B-B14F-4D97-AF65-F5344CB8AC3E}">
        <p14:creationId xmlns:p14="http://schemas.microsoft.com/office/powerpoint/2010/main" val="27773011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201231" y="4965336"/>
            <a:ext cx="5786478" cy="535366"/>
          </a:xfrm>
        </p:spPr>
        <p:txBody>
          <a:bodyPr/>
          <a:lstStyle>
            <a:lvl1pPr algn="r">
              <a:defRPr sz="3600" b="1">
                <a:solidFill>
                  <a:schemeClr val="bg1"/>
                </a:solidFill>
                <a:effectLst>
                  <a:outerShdw blurRad="38100" dist="38100" dir="2700000" algn="tl">
                    <a:srgbClr val="000000">
                      <a:alpha val="43137"/>
                    </a:srgbClr>
                  </a:outerShdw>
                </a:effectLst>
              </a:defRPr>
            </a:lvl1pPr>
          </a:lstStyle>
          <a:p>
            <a:r>
              <a:rPr lang="en-US" dirty="0" smtClean="0"/>
              <a:t>Click to edit Master title style</a:t>
            </a:r>
            <a:endParaRPr lang="id-ID" dirty="0"/>
          </a:p>
        </p:txBody>
      </p:sp>
      <p:sp>
        <p:nvSpPr>
          <p:cNvPr id="3" name="Subtitle 2"/>
          <p:cNvSpPr>
            <a:spLocks noGrp="1"/>
          </p:cNvSpPr>
          <p:nvPr>
            <p:ph type="subTitle" idx="1"/>
          </p:nvPr>
        </p:nvSpPr>
        <p:spPr>
          <a:xfrm>
            <a:off x="2285984" y="5500726"/>
            <a:ext cx="6700887" cy="642918"/>
          </a:xfrm>
        </p:spPr>
        <p:txBody>
          <a:bodyPr>
            <a:normAutofit/>
          </a:bodyPr>
          <a:lstStyle>
            <a:lvl1pPr marL="0" indent="0" algn="r">
              <a:buNone/>
              <a:defRPr sz="3000" b="1">
                <a:solidFill>
                  <a:schemeClr val="tx1"/>
                </a:solidFill>
                <a:effectLst>
                  <a:outerShdw blurRad="38100" dist="38100" dir="2700000" algn="tl">
                    <a:srgbClr val="000000">
                      <a:alpha val="43137"/>
                    </a:srgb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lvl1pPr>
              <a:defRPr/>
            </a:lvl1pPr>
          </a:lstStyle>
          <a:p>
            <a:pPr>
              <a:defRPr/>
            </a:pPr>
            <a:fld id="{0F0613FF-8837-4F7A-9232-D5ABA866AD2B}" type="datetime1">
              <a:rPr lang="id-ID"/>
              <a:pPr>
                <a:defRPr/>
              </a:pPr>
              <a:t>18/11/2015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21DFC8AF-1660-452E-BC7B-2C8AC79AE32B}" type="slidenum">
              <a:rPr lang="id-ID"/>
              <a:pPr>
                <a:defRPr/>
              </a:pPr>
              <a:t>‹#›</a:t>
            </a:fld>
            <a:endParaRPr lang="id-I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3"/>
          <p:cNvSpPr>
            <a:spLocks noGrp="1"/>
          </p:cNvSpPr>
          <p:nvPr>
            <p:ph type="dt" sz="half" idx="10"/>
          </p:nvPr>
        </p:nvSpPr>
        <p:spPr/>
        <p:txBody>
          <a:bodyPr/>
          <a:lstStyle>
            <a:lvl1pPr>
              <a:defRPr/>
            </a:lvl1pPr>
          </a:lstStyle>
          <a:p>
            <a:pPr>
              <a:defRPr/>
            </a:pPr>
            <a:fld id="{52D76553-2B6F-404A-B1D4-04429022C105}" type="datetime1">
              <a:rPr lang="id-ID"/>
              <a:pPr>
                <a:defRPr/>
              </a:pPr>
              <a:t>18/11/2015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88DEFBFF-1298-4736-8911-C6ADA49C449E}" type="slidenum">
              <a:rPr lang="id-ID"/>
              <a:pPr>
                <a:defRPr/>
              </a:pPr>
              <a:t>‹#›</a:t>
            </a:fld>
            <a:endParaRPr lang="id-I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57290" y="4406900"/>
            <a:ext cx="7137422" cy="1362075"/>
          </a:xfrm>
        </p:spPr>
        <p:txBody>
          <a:bodyPr anchor="t"/>
          <a:lstStyle>
            <a:lvl1pPr algn="l">
              <a:defRPr sz="4000" b="1" cap="all">
                <a:solidFill>
                  <a:schemeClr val="tx1"/>
                </a:solidFill>
              </a:defRPr>
            </a:lvl1pPr>
          </a:lstStyle>
          <a:p>
            <a:r>
              <a:rPr lang="en-US" smtClean="0"/>
              <a:t>Click to edit Master title style</a:t>
            </a:r>
            <a:endParaRPr lang="id-ID" dirty="0"/>
          </a:p>
        </p:txBody>
      </p:sp>
      <p:sp>
        <p:nvSpPr>
          <p:cNvPr id="3" name="Text Placeholder 2"/>
          <p:cNvSpPr>
            <a:spLocks noGrp="1"/>
          </p:cNvSpPr>
          <p:nvPr>
            <p:ph type="body" idx="1"/>
          </p:nvPr>
        </p:nvSpPr>
        <p:spPr>
          <a:xfrm>
            <a:off x="1357290" y="2906713"/>
            <a:ext cx="71374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48321F7A-0128-4A1E-AE63-1743ABB10BDA}" type="datetime1">
              <a:rPr lang="id-ID"/>
              <a:pPr>
                <a:defRPr/>
              </a:pPr>
              <a:t>18/11/2015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B476EABD-509C-4517-BE26-635FD4E45EDB}" type="slidenum">
              <a:rPr lang="id-ID"/>
              <a:pPr>
                <a:defRPr/>
              </a:pPr>
              <a:t>‹#›</a:t>
            </a:fld>
            <a:endParaRPr lang="id-I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914400" y="785794"/>
            <a:ext cx="3582988"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914400" y="1428736"/>
            <a:ext cx="3582988"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5" name="Text Placeholder 4"/>
          <p:cNvSpPr>
            <a:spLocks noGrp="1"/>
          </p:cNvSpPr>
          <p:nvPr>
            <p:ph type="body" sz="quarter" idx="3"/>
          </p:nvPr>
        </p:nvSpPr>
        <p:spPr>
          <a:xfrm>
            <a:off x="4645025" y="785794"/>
            <a:ext cx="4041775" cy="639762"/>
          </a:xfr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1428736"/>
            <a:ext cx="4041775" cy="469742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3"/>
          <p:cNvSpPr>
            <a:spLocks noGrp="1"/>
          </p:cNvSpPr>
          <p:nvPr>
            <p:ph type="dt" sz="half" idx="10"/>
          </p:nvPr>
        </p:nvSpPr>
        <p:spPr/>
        <p:txBody>
          <a:bodyPr/>
          <a:lstStyle>
            <a:lvl1pPr>
              <a:defRPr/>
            </a:lvl1pPr>
          </a:lstStyle>
          <a:p>
            <a:pPr>
              <a:defRPr/>
            </a:pPr>
            <a:fld id="{C4AA3601-2F5F-442E-82B0-4B35659BA7E0}" type="datetime1">
              <a:rPr lang="id-ID"/>
              <a:pPr>
                <a:defRPr/>
              </a:pPr>
              <a:t>18/11/2015</a:t>
            </a:fld>
            <a:endParaRPr lang="id-ID"/>
          </a:p>
        </p:txBody>
      </p:sp>
      <p:sp>
        <p:nvSpPr>
          <p:cNvPr id="8" name="Footer Placeholder 4"/>
          <p:cNvSpPr>
            <a:spLocks noGrp="1"/>
          </p:cNvSpPr>
          <p:nvPr>
            <p:ph type="ftr" sz="quarter" idx="11"/>
          </p:nvPr>
        </p:nvSpPr>
        <p:spPr/>
        <p:txBody>
          <a:bodyPr/>
          <a:lstStyle>
            <a:lvl1pPr>
              <a:defRPr/>
            </a:lvl1pPr>
          </a:lstStyle>
          <a:p>
            <a:pPr>
              <a:defRPr/>
            </a:pPr>
            <a:endParaRPr lang="id-ID"/>
          </a:p>
        </p:txBody>
      </p:sp>
      <p:sp>
        <p:nvSpPr>
          <p:cNvPr id="9" name="Slide Number Placeholder 5"/>
          <p:cNvSpPr>
            <a:spLocks noGrp="1"/>
          </p:cNvSpPr>
          <p:nvPr>
            <p:ph type="sldNum" sz="quarter" idx="12"/>
          </p:nvPr>
        </p:nvSpPr>
        <p:spPr/>
        <p:txBody>
          <a:bodyPr/>
          <a:lstStyle>
            <a:lvl1pPr>
              <a:defRPr/>
            </a:lvl1pPr>
          </a:lstStyle>
          <a:p>
            <a:pPr>
              <a:defRPr/>
            </a:pPr>
            <a:fld id="{C446D702-6632-4C7D-B7E3-E0B9109C1C21}" type="slidenum">
              <a:rPr lang="id-ID"/>
              <a:pPr>
                <a:defRPr/>
              </a:pPr>
              <a:t>‹#›</a:t>
            </a:fld>
            <a:endParaRPr lang="id-I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75765" y="40342"/>
            <a:ext cx="8074116" cy="578224"/>
          </a:xfrm>
        </p:spPr>
        <p:txBody>
          <a:bodyPr/>
          <a:lstStyle>
            <a:lvl1pPr>
              <a:defRPr>
                <a:solidFill>
                  <a:schemeClr val="tx1"/>
                </a:solidFill>
              </a:defRPr>
            </a:lvl1pPr>
          </a:lstStyle>
          <a:p>
            <a:r>
              <a:rPr lang="en-US" smtClean="0"/>
              <a:t>Click to edit Master title style</a:t>
            </a:r>
            <a:endParaRPr lang="id-ID"/>
          </a:p>
        </p:txBody>
      </p:sp>
      <p:sp>
        <p:nvSpPr>
          <p:cNvPr id="6" name="Content Placeholder 2"/>
          <p:cNvSpPr>
            <a:spLocks noGrp="1"/>
          </p:cNvSpPr>
          <p:nvPr>
            <p:ph idx="1"/>
          </p:nvPr>
        </p:nvSpPr>
        <p:spPr>
          <a:xfrm>
            <a:off x="887506" y="739588"/>
            <a:ext cx="7799294" cy="5386576"/>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Date Placeholder 2"/>
          <p:cNvSpPr>
            <a:spLocks noGrp="1"/>
          </p:cNvSpPr>
          <p:nvPr>
            <p:ph type="dt" sz="half" idx="10"/>
          </p:nvPr>
        </p:nvSpPr>
        <p:spPr/>
        <p:txBody>
          <a:bodyPr/>
          <a:lstStyle>
            <a:lvl1pPr>
              <a:defRPr/>
            </a:lvl1pPr>
          </a:lstStyle>
          <a:p>
            <a:pPr>
              <a:defRPr/>
            </a:pPr>
            <a:fld id="{B7502A0E-0E7E-4026-BDF0-88DBD670EE5E}" type="datetime1">
              <a:rPr lang="id-ID"/>
              <a:pPr>
                <a:defRPr/>
              </a:pPr>
              <a:t>18/11/2015</a:t>
            </a:fld>
            <a:endParaRPr lang="id-ID"/>
          </a:p>
        </p:txBody>
      </p:sp>
      <p:sp>
        <p:nvSpPr>
          <p:cNvPr id="5" name="Footer Placeholder 3"/>
          <p:cNvSpPr>
            <a:spLocks noGrp="1"/>
          </p:cNvSpPr>
          <p:nvPr>
            <p:ph type="ftr" sz="quarter" idx="11"/>
          </p:nvPr>
        </p:nvSpPr>
        <p:spPr/>
        <p:txBody>
          <a:bodyPr/>
          <a:lstStyle>
            <a:lvl1pPr>
              <a:defRPr/>
            </a:lvl1pPr>
          </a:lstStyle>
          <a:p>
            <a:pPr>
              <a:defRPr/>
            </a:pPr>
            <a:endParaRPr lang="id-ID"/>
          </a:p>
        </p:txBody>
      </p:sp>
      <p:sp>
        <p:nvSpPr>
          <p:cNvPr id="7" name="Slide Number Placeholder 4"/>
          <p:cNvSpPr>
            <a:spLocks noGrp="1"/>
          </p:cNvSpPr>
          <p:nvPr>
            <p:ph type="sldNum" sz="quarter" idx="12"/>
          </p:nvPr>
        </p:nvSpPr>
        <p:spPr/>
        <p:txBody>
          <a:bodyPr/>
          <a:lstStyle>
            <a:lvl1pPr>
              <a:defRPr/>
            </a:lvl1pPr>
          </a:lstStyle>
          <a:p>
            <a:pPr>
              <a:defRPr/>
            </a:pPr>
            <a:fld id="{57D7C09B-473B-4A64-95EA-2E71A3BA05A0}" type="slidenum">
              <a:rPr lang="id-ID"/>
              <a:pPr>
                <a:defRPr/>
              </a:pPr>
              <a:t>‹#›</a:t>
            </a:fld>
            <a:endParaRPr lang="id-I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Content Placeholder 2"/>
          <p:cNvSpPr>
            <a:spLocks noGrp="1"/>
          </p:cNvSpPr>
          <p:nvPr>
            <p:ph idx="1"/>
          </p:nvPr>
        </p:nvSpPr>
        <p:spPr>
          <a:xfrm>
            <a:off x="887506" y="1102660"/>
            <a:ext cx="7799294" cy="5023504"/>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6" name="Title 1"/>
          <p:cNvSpPr>
            <a:spLocks noGrp="1"/>
          </p:cNvSpPr>
          <p:nvPr>
            <p:ph type="title"/>
          </p:nvPr>
        </p:nvSpPr>
        <p:spPr>
          <a:xfrm>
            <a:off x="1075765" y="40342"/>
            <a:ext cx="8074116" cy="578224"/>
          </a:xfrm>
        </p:spPr>
        <p:txBody>
          <a:bodyPr/>
          <a:lstStyle>
            <a:lvl1pPr>
              <a:defRPr>
                <a:solidFill>
                  <a:schemeClr val="bg1"/>
                </a:solidFill>
              </a:defRPr>
            </a:lvl1pPr>
          </a:lstStyle>
          <a:p>
            <a:r>
              <a:rPr lang="en-US" smtClean="0"/>
              <a:t>Click to edit Master title style</a:t>
            </a:r>
            <a:endParaRPr lang="id-ID"/>
          </a:p>
        </p:txBody>
      </p:sp>
      <p:sp>
        <p:nvSpPr>
          <p:cNvPr id="4" name="Date Placeholder 1"/>
          <p:cNvSpPr>
            <a:spLocks noGrp="1"/>
          </p:cNvSpPr>
          <p:nvPr>
            <p:ph type="dt" sz="half" idx="10"/>
          </p:nvPr>
        </p:nvSpPr>
        <p:spPr/>
        <p:txBody>
          <a:bodyPr/>
          <a:lstStyle>
            <a:lvl1pPr>
              <a:defRPr/>
            </a:lvl1pPr>
          </a:lstStyle>
          <a:p>
            <a:pPr>
              <a:defRPr/>
            </a:pPr>
            <a:fld id="{9C765C60-B1B0-4CD7-8F53-836E020BD4E0}" type="datetime1">
              <a:rPr lang="id-ID"/>
              <a:pPr>
                <a:defRPr/>
              </a:pPr>
              <a:t>18/11/2015</a:t>
            </a:fld>
            <a:endParaRPr lang="id-ID"/>
          </a:p>
        </p:txBody>
      </p:sp>
      <p:sp>
        <p:nvSpPr>
          <p:cNvPr id="7" name="Footer Placeholder 2"/>
          <p:cNvSpPr>
            <a:spLocks noGrp="1"/>
          </p:cNvSpPr>
          <p:nvPr>
            <p:ph type="ftr" sz="quarter" idx="11"/>
          </p:nvPr>
        </p:nvSpPr>
        <p:spPr/>
        <p:txBody>
          <a:bodyPr/>
          <a:lstStyle>
            <a:lvl1pPr>
              <a:defRPr/>
            </a:lvl1pPr>
          </a:lstStyle>
          <a:p>
            <a:pPr>
              <a:defRPr/>
            </a:pPr>
            <a:endParaRPr lang="id-ID"/>
          </a:p>
        </p:txBody>
      </p:sp>
      <p:sp>
        <p:nvSpPr>
          <p:cNvPr id="8" name="Slide Number Placeholder 3"/>
          <p:cNvSpPr>
            <a:spLocks noGrp="1"/>
          </p:cNvSpPr>
          <p:nvPr>
            <p:ph type="sldNum" sz="quarter" idx="12"/>
          </p:nvPr>
        </p:nvSpPr>
        <p:spPr/>
        <p:txBody>
          <a:bodyPr/>
          <a:lstStyle>
            <a:lvl1pPr>
              <a:defRPr/>
            </a:lvl1pPr>
          </a:lstStyle>
          <a:p>
            <a:pPr>
              <a:defRPr/>
            </a:pPr>
            <a:fld id="{981EEBC3-89F1-4D4F-93DD-BE03DB1AC60F}" type="slidenum">
              <a:rPr lang="id-ID"/>
              <a:pPr>
                <a:defRPr/>
              </a:pPr>
              <a:t>‹#›</a:t>
            </a:fld>
            <a:endParaRPr lang="id-I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7506" y="714356"/>
            <a:ext cx="2578007" cy="720744"/>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Content Placeholder 2"/>
          <p:cNvSpPr>
            <a:spLocks noGrp="1"/>
          </p:cNvSpPr>
          <p:nvPr>
            <p:ph idx="1"/>
          </p:nvPr>
        </p:nvSpPr>
        <p:spPr>
          <a:xfrm>
            <a:off x="3575050" y="712694"/>
            <a:ext cx="5111750" cy="54134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id-ID" dirty="0"/>
          </a:p>
        </p:txBody>
      </p:sp>
      <p:sp>
        <p:nvSpPr>
          <p:cNvPr id="4" name="Text Placeholder 3"/>
          <p:cNvSpPr>
            <a:spLocks noGrp="1"/>
          </p:cNvSpPr>
          <p:nvPr>
            <p:ph type="body" sz="half" idx="2"/>
          </p:nvPr>
        </p:nvSpPr>
        <p:spPr>
          <a:xfrm>
            <a:off x="887506" y="1435100"/>
            <a:ext cx="257800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50274B44-0EC3-4C6E-B410-6DFC3F8ECF6F}" type="datetime1">
              <a:rPr lang="id-ID"/>
              <a:pPr>
                <a:defRPr/>
              </a:pPr>
              <a:t>18/11/2015</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pPr>
              <a:defRPr/>
            </a:pPr>
            <a:fld id="{46D327AE-9F8C-4136-8568-5A48E5BF87FF}" type="slidenum">
              <a:rPr lang="id-ID"/>
              <a:pPr>
                <a:defRPr/>
              </a:pPr>
              <a:t>‹#›</a:t>
            </a:fld>
            <a:endParaRPr lang="id-I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defRPr>
            </a:lvl1pPr>
          </a:lstStyle>
          <a:p>
            <a:r>
              <a:rPr lang="en-US" smtClean="0"/>
              <a:t>Click to edit Master title style</a:t>
            </a:r>
            <a:endParaRPr lang="id-ID"/>
          </a:p>
        </p:txBody>
      </p:sp>
      <p:sp>
        <p:nvSpPr>
          <p:cNvPr id="3" name="Picture Placeholder 2"/>
          <p:cNvSpPr>
            <a:spLocks noGrp="1"/>
          </p:cNvSpPr>
          <p:nvPr>
            <p:ph type="pic" idx="1"/>
          </p:nvPr>
        </p:nvSpPr>
        <p:spPr>
          <a:xfrm>
            <a:off x="1792288" y="726141"/>
            <a:ext cx="5486400" cy="4001434"/>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d-ID"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505F5EDC-3969-4E6F-A37C-ABBC71F3CD71}" type="datetime1">
              <a:rPr lang="id-ID"/>
              <a:pPr>
                <a:defRPr/>
              </a:pPr>
              <a:t>18/11/2015</a:t>
            </a:fld>
            <a:endParaRPr lang="id-ID"/>
          </a:p>
        </p:txBody>
      </p:sp>
      <p:sp>
        <p:nvSpPr>
          <p:cNvPr id="6" name="Footer Placeholder 4"/>
          <p:cNvSpPr>
            <a:spLocks noGrp="1"/>
          </p:cNvSpPr>
          <p:nvPr>
            <p:ph type="ftr" sz="quarter" idx="11"/>
          </p:nvPr>
        </p:nvSpPr>
        <p:spPr/>
        <p:txBody>
          <a:bodyPr/>
          <a:lstStyle>
            <a:lvl1pPr>
              <a:defRPr/>
            </a:lvl1pPr>
          </a:lstStyle>
          <a:p>
            <a:pPr>
              <a:defRPr/>
            </a:pPr>
            <a:endParaRPr lang="id-ID"/>
          </a:p>
        </p:txBody>
      </p:sp>
      <p:sp>
        <p:nvSpPr>
          <p:cNvPr id="7" name="Slide Number Placeholder 5"/>
          <p:cNvSpPr>
            <a:spLocks noGrp="1"/>
          </p:cNvSpPr>
          <p:nvPr>
            <p:ph type="sldNum" sz="quarter" idx="12"/>
          </p:nvPr>
        </p:nvSpPr>
        <p:spPr/>
        <p:txBody>
          <a:bodyPr/>
          <a:lstStyle>
            <a:lvl1pPr>
              <a:defRPr/>
            </a:lvl1pPr>
          </a:lstStyle>
          <a:p>
            <a:pPr>
              <a:defRPr/>
            </a:pPr>
            <a:fld id="{B7CEE560-9EAF-42A4-986B-9A869DAA3029}" type="slidenum">
              <a:rPr lang="id-ID"/>
              <a:pPr>
                <a:defRPr/>
              </a:pPr>
              <a:t>‹#›</a:t>
            </a:fld>
            <a:endParaRPr lang="id-I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pPr>
              <a:defRPr/>
            </a:pPr>
            <a:fld id="{D62E3344-F881-45A7-BC5D-3279E172EDAD}" type="datetime1">
              <a:rPr lang="id-ID"/>
              <a:pPr>
                <a:defRPr/>
              </a:pPr>
              <a:t>18/11/2015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CA707335-3DB0-4A82-9137-E1269F6D76E3}" type="slidenum">
              <a:rPr lang="id-ID"/>
              <a:pPr>
                <a:defRPr/>
              </a:pPr>
              <a:t>‹#›</a:t>
            </a:fld>
            <a:endParaRPr lang="id-I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pPr>
              <a:defRPr/>
            </a:pPr>
            <a:fld id="{FEC3968B-3D77-47B9-A56B-4E3C49DF6B3E}" type="datetime1">
              <a:rPr lang="id-ID"/>
              <a:pPr>
                <a:defRPr/>
              </a:pPr>
              <a:t>18/11/2015</a:t>
            </a:fld>
            <a:endParaRPr lang="id-ID"/>
          </a:p>
        </p:txBody>
      </p:sp>
      <p:sp>
        <p:nvSpPr>
          <p:cNvPr id="5" name="Footer Placeholder 4"/>
          <p:cNvSpPr>
            <a:spLocks noGrp="1"/>
          </p:cNvSpPr>
          <p:nvPr>
            <p:ph type="ftr" sz="quarter" idx="11"/>
          </p:nvPr>
        </p:nvSpPr>
        <p:spPr/>
        <p:txBody>
          <a:bodyPr/>
          <a:lstStyle>
            <a:lvl1pPr>
              <a:defRPr/>
            </a:lvl1pPr>
          </a:lstStyle>
          <a:p>
            <a:pPr>
              <a:defRPr/>
            </a:pPr>
            <a:endParaRPr lang="id-ID"/>
          </a:p>
        </p:txBody>
      </p:sp>
      <p:sp>
        <p:nvSpPr>
          <p:cNvPr id="6" name="Slide Number Placeholder 5"/>
          <p:cNvSpPr>
            <a:spLocks noGrp="1"/>
          </p:cNvSpPr>
          <p:nvPr>
            <p:ph type="sldNum" sz="quarter" idx="12"/>
          </p:nvPr>
        </p:nvSpPr>
        <p:spPr/>
        <p:txBody>
          <a:bodyPr/>
          <a:lstStyle>
            <a:lvl1pPr>
              <a:defRPr/>
            </a:lvl1pPr>
          </a:lstStyle>
          <a:p>
            <a:pPr>
              <a:defRPr/>
            </a:pPr>
            <a:fld id="{B98CAEFC-8AFA-46AC-9A35-FE6200659D6C}" type="slidenum">
              <a:rPr lang="id-ID"/>
              <a:pPr>
                <a:defRPr/>
              </a:pPr>
              <a:t>‹#›</a:t>
            </a:fld>
            <a:endParaRPr lang="id-I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3079ED0-FF7C-417D-B09C-E52A9693A8E7}" type="datetime1">
              <a:rPr lang="id-ID"/>
              <a:pPr>
                <a:defRPr/>
              </a:pPr>
              <a:t>18/11/2015</a:t>
            </a:fld>
            <a:endParaRPr lang="id-ID"/>
          </a:p>
        </p:txBody>
      </p:sp>
      <p:sp>
        <p:nvSpPr>
          <p:cNvPr id="3" name="Footer Placeholder 4"/>
          <p:cNvSpPr>
            <a:spLocks noGrp="1"/>
          </p:cNvSpPr>
          <p:nvPr>
            <p:ph type="ftr" sz="quarter" idx="11"/>
          </p:nvPr>
        </p:nvSpPr>
        <p:spPr/>
        <p:txBody>
          <a:bodyPr/>
          <a:lstStyle>
            <a:lvl1pPr>
              <a:defRPr/>
            </a:lvl1pPr>
          </a:lstStyle>
          <a:p>
            <a:pPr>
              <a:defRPr/>
            </a:pPr>
            <a:endParaRPr lang="id-ID"/>
          </a:p>
        </p:txBody>
      </p:sp>
      <p:sp>
        <p:nvSpPr>
          <p:cNvPr id="4" name="Slide Number Placeholder 5"/>
          <p:cNvSpPr>
            <a:spLocks noGrp="1"/>
          </p:cNvSpPr>
          <p:nvPr>
            <p:ph type="sldNum" sz="quarter" idx="12"/>
          </p:nvPr>
        </p:nvSpPr>
        <p:spPr/>
        <p:txBody>
          <a:bodyPr/>
          <a:lstStyle>
            <a:lvl1pPr>
              <a:defRPr/>
            </a:lvl1pPr>
          </a:lstStyle>
          <a:p>
            <a:pPr>
              <a:defRPr/>
            </a:pPr>
            <a:fld id="{8F45B4A0-DA92-446D-9B2E-BEEA855F45B8}" type="slidenum">
              <a:rPr lang="id-ID"/>
              <a:pPr>
                <a:defRPr/>
              </a:pPr>
              <a:t>‹#›</a:t>
            </a:fld>
            <a:endParaRPr lang="id-I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18/11/2015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484682B5-66F5-4EC4-A34C-DEB8A26EDDFE}" type="slidenum">
              <a:rPr lang="id-ID"/>
              <a:pPr>
                <a:defRPr/>
              </a:pPr>
              <a:t>‹#›</a:t>
            </a:fld>
            <a:endParaRPr lang="id-ID"/>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18/11/2015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2B71A87B-DB8B-4922-82A3-7B4A40D68723}" type="slidenum">
              <a:rPr lang="id-ID"/>
              <a:pPr>
                <a:defRPr/>
              </a:pPr>
              <a:t>‹#›</a:t>
            </a:fld>
            <a:endParaRPr lang="id-ID"/>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18/11/2015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12F9B6BC-669F-4B9B-9C5A-25CE29075C2A}" type="slidenum">
              <a:rPr lang="id-ID"/>
              <a:pPr>
                <a:defRPr/>
              </a:pPr>
              <a:t>‹#›</a:t>
            </a:fld>
            <a:endParaRPr lang="id-ID"/>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57250" y="714375"/>
            <a:ext cx="3924300" cy="5411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33950" y="714375"/>
            <a:ext cx="3924300" cy="54117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18/11/2015</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A79BA80B-6538-455B-A2E2-8291240C1BCD}" type="slidenum">
              <a:rPr lang="id-ID"/>
              <a:pPr>
                <a:defRPr/>
              </a:pPr>
              <a:t>‹#›</a:t>
            </a:fld>
            <a:endParaRPr lang="id-ID"/>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18/11/2015</a:t>
            </a:fld>
            <a:endParaRPr lang="id-ID"/>
          </a:p>
        </p:txBody>
      </p:sp>
      <p:sp>
        <p:nvSpPr>
          <p:cNvPr id="8" name="Footer Placeholder 5"/>
          <p:cNvSpPr>
            <a:spLocks noGrp="1"/>
          </p:cNvSpPr>
          <p:nvPr>
            <p:ph type="ftr" sz="quarter" idx="11"/>
          </p:nvPr>
        </p:nvSpPr>
        <p:spPr/>
        <p:txBody>
          <a:bodyPr/>
          <a:lstStyle>
            <a:lvl1pPr>
              <a:defRPr/>
            </a:lvl1pPr>
          </a:lstStyle>
          <a:p>
            <a:pPr>
              <a:defRPr/>
            </a:pPr>
            <a:endParaRPr lang="id-ID"/>
          </a:p>
        </p:txBody>
      </p:sp>
      <p:sp>
        <p:nvSpPr>
          <p:cNvPr id="9" name="Slide Number Placeholder 6"/>
          <p:cNvSpPr>
            <a:spLocks noGrp="1"/>
          </p:cNvSpPr>
          <p:nvPr>
            <p:ph type="sldNum" sz="quarter" idx="12"/>
          </p:nvPr>
        </p:nvSpPr>
        <p:spPr/>
        <p:txBody>
          <a:bodyPr/>
          <a:lstStyle>
            <a:lvl1pPr>
              <a:defRPr/>
            </a:lvl1pPr>
          </a:lstStyle>
          <a:p>
            <a:pPr>
              <a:defRPr/>
            </a:pPr>
            <a:fld id="{E1F1D593-D719-452D-BE5C-AA2AEBD8B61A}" type="slidenum">
              <a:rPr lang="id-ID"/>
              <a:pPr>
                <a:defRPr/>
              </a:pPr>
              <a:t>‹#›</a:t>
            </a:fld>
            <a:endParaRPr lang="id-ID"/>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18/11/2015</a:t>
            </a:fld>
            <a:endParaRPr lang="id-ID"/>
          </a:p>
        </p:txBody>
      </p:sp>
      <p:sp>
        <p:nvSpPr>
          <p:cNvPr id="4" name="Footer Placeholder 5"/>
          <p:cNvSpPr>
            <a:spLocks noGrp="1"/>
          </p:cNvSpPr>
          <p:nvPr>
            <p:ph type="ftr" sz="quarter" idx="11"/>
          </p:nvPr>
        </p:nvSpPr>
        <p:spPr/>
        <p:txBody>
          <a:bodyPr/>
          <a:lstStyle>
            <a:lvl1pPr>
              <a:defRPr/>
            </a:lvl1pPr>
          </a:lstStyle>
          <a:p>
            <a:pPr>
              <a:defRPr/>
            </a:pPr>
            <a:endParaRPr lang="id-ID"/>
          </a:p>
        </p:txBody>
      </p:sp>
      <p:sp>
        <p:nvSpPr>
          <p:cNvPr id="5" name="Slide Number Placeholder 6"/>
          <p:cNvSpPr>
            <a:spLocks noGrp="1"/>
          </p:cNvSpPr>
          <p:nvPr>
            <p:ph type="sldNum" sz="quarter" idx="12"/>
          </p:nvPr>
        </p:nvSpPr>
        <p:spPr/>
        <p:txBody>
          <a:bodyPr/>
          <a:lstStyle>
            <a:lvl1pPr>
              <a:defRPr/>
            </a:lvl1pPr>
          </a:lstStyle>
          <a:p>
            <a:pPr>
              <a:defRPr/>
            </a:pPr>
            <a:fld id="{FC4952AB-2290-466E-AB52-D2D39A892E0B}" type="slidenum">
              <a:rPr lang="id-ID"/>
              <a:pPr>
                <a:defRPr/>
              </a:pPr>
              <a:t>‹#›</a:t>
            </a:fld>
            <a:endParaRPr lang="id-ID"/>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18/11/2015</a:t>
            </a:fld>
            <a:endParaRPr lang="id-ID"/>
          </a:p>
        </p:txBody>
      </p:sp>
      <p:sp>
        <p:nvSpPr>
          <p:cNvPr id="3" name="Footer Placeholder 5"/>
          <p:cNvSpPr>
            <a:spLocks noGrp="1"/>
          </p:cNvSpPr>
          <p:nvPr>
            <p:ph type="ftr" sz="quarter" idx="11"/>
          </p:nvPr>
        </p:nvSpPr>
        <p:spPr/>
        <p:txBody>
          <a:bodyPr/>
          <a:lstStyle>
            <a:lvl1pPr>
              <a:defRPr/>
            </a:lvl1pPr>
          </a:lstStyle>
          <a:p>
            <a:pPr>
              <a:defRPr/>
            </a:pPr>
            <a:endParaRPr lang="id-ID"/>
          </a:p>
        </p:txBody>
      </p:sp>
      <p:sp>
        <p:nvSpPr>
          <p:cNvPr id="4" name="Slide Number Placeholder 6"/>
          <p:cNvSpPr>
            <a:spLocks noGrp="1"/>
          </p:cNvSpPr>
          <p:nvPr>
            <p:ph type="sldNum" sz="quarter" idx="12"/>
          </p:nvPr>
        </p:nvSpPr>
        <p:spPr/>
        <p:txBody>
          <a:bodyPr/>
          <a:lstStyle>
            <a:lvl1pPr>
              <a:defRPr/>
            </a:lvl1pPr>
          </a:lstStyle>
          <a:p>
            <a:pPr>
              <a:defRPr/>
            </a:pPr>
            <a:fld id="{EBC58BDB-C4E7-4E4F-949D-F5489153C3F3}" type="slidenum">
              <a:rPr lang="id-ID"/>
              <a:pPr>
                <a:defRPr/>
              </a:pPr>
              <a:t>‹#›</a:t>
            </a:fld>
            <a:endParaRPr lang="id-ID"/>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18/11/2015</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A52F4152-47C3-4D80-80BD-84E50DC643EF}" type="slidenum">
              <a:rPr lang="id-ID"/>
              <a:pPr>
                <a:defRPr/>
              </a:pPr>
              <a:t>‹#›</a:t>
            </a:fld>
            <a:endParaRPr lang="id-ID"/>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18/11/2015</a:t>
            </a:fld>
            <a:endParaRPr lang="id-ID"/>
          </a:p>
        </p:txBody>
      </p:sp>
      <p:sp>
        <p:nvSpPr>
          <p:cNvPr id="6" name="Footer Placeholder 5"/>
          <p:cNvSpPr>
            <a:spLocks noGrp="1"/>
          </p:cNvSpPr>
          <p:nvPr>
            <p:ph type="ftr" sz="quarter" idx="11"/>
          </p:nvPr>
        </p:nvSpPr>
        <p:spPr/>
        <p:txBody>
          <a:bodyPr/>
          <a:lstStyle>
            <a:lvl1pPr>
              <a:defRPr/>
            </a:lvl1pPr>
          </a:lstStyle>
          <a:p>
            <a:pPr>
              <a:defRPr/>
            </a:pPr>
            <a:endParaRPr lang="id-ID"/>
          </a:p>
        </p:txBody>
      </p:sp>
      <p:sp>
        <p:nvSpPr>
          <p:cNvPr id="7" name="Slide Number Placeholder 6"/>
          <p:cNvSpPr>
            <a:spLocks noGrp="1"/>
          </p:cNvSpPr>
          <p:nvPr>
            <p:ph type="sldNum" sz="quarter" idx="12"/>
          </p:nvPr>
        </p:nvSpPr>
        <p:spPr/>
        <p:txBody>
          <a:bodyPr/>
          <a:lstStyle>
            <a:lvl1pPr>
              <a:defRPr/>
            </a:lvl1pPr>
          </a:lstStyle>
          <a:p>
            <a:pPr>
              <a:defRPr/>
            </a:pPr>
            <a:fld id="{30C1DCE5-D81F-4E3D-B37F-FC7D461C3B00}" type="slidenum">
              <a:rPr lang="id-ID"/>
              <a:pPr>
                <a:defRPr/>
              </a:pPr>
              <a:t>‹#›</a:t>
            </a:fld>
            <a:endParaRPr lang="id-ID"/>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18/11/2015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2229ABDC-DDCF-43FE-810E-7E96467D136B}" type="slidenum">
              <a:rPr lang="id-ID"/>
              <a:pPr>
                <a:defRPr/>
              </a:pPr>
              <a:t>‹#›</a:t>
            </a:fld>
            <a:endParaRPr lang="id-ID"/>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7075" y="60325"/>
            <a:ext cx="2073275" cy="6065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57250" y="60325"/>
            <a:ext cx="6067425" cy="6065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p:cNvSpPr>
            <a:spLocks noGrp="1"/>
          </p:cNvSpPr>
          <p:nvPr>
            <p:ph type="dt" sz="half" idx="10"/>
          </p:nvPr>
        </p:nvSpPr>
        <p:spPr/>
        <p:txBody>
          <a:bodyPr/>
          <a:lstStyle>
            <a:lvl1pPr>
              <a:defRPr/>
            </a:lvl1pPr>
          </a:lstStyle>
          <a:p>
            <a:pPr>
              <a:defRPr/>
            </a:pPr>
            <a:fld id="{6850F96E-6F6D-4D0D-972E-D998A0AAFE20}" type="datetimeFigureOut">
              <a:rPr lang="id-ID"/>
              <a:pPr>
                <a:defRPr/>
              </a:pPr>
              <a:t>18/11/2015</a:t>
            </a:fld>
            <a:endParaRPr lang="id-ID"/>
          </a:p>
        </p:txBody>
      </p:sp>
      <p:sp>
        <p:nvSpPr>
          <p:cNvPr id="5" name="Footer Placeholder 5"/>
          <p:cNvSpPr>
            <a:spLocks noGrp="1"/>
          </p:cNvSpPr>
          <p:nvPr>
            <p:ph type="ftr" sz="quarter" idx="11"/>
          </p:nvPr>
        </p:nvSpPr>
        <p:spPr/>
        <p:txBody>
          <a:bodyPr/>
          <a:lstStyle>
            <a:lvl1pPr>
              <a:defRPr/>
            </a:lvl1pPr>
          </a:lstStyle>
          <a:p>
            <a:pPr>
              <a:defRPr/>
            </a:pPr>
            <a:endParaRPr lang="id-ID"/>
          </a:p>
        </p:txBody>
      </p:sp>
      <p:sp>
        <p:nvSpPr>
          <p:cNvPr id="6" name="Slide Number Placeholder 6"/>
          <p:cNvSpPr>
            <a:spLocks noGrp="1"/>
          </p:cNvSpPr>
          <p:nvPr>
            <p:ph type="sldNum" sz="quarter" idx="12"/>
          </p:nvPr>
        </p:nvSpPr>
        <p:spPr/>
        <p:txBody>
          <a:bodyPr/>
          <a:lstStyle>
            <a:lvl1pPr>
              <a:defRPr/>
            </a:lvl1pPr>
          </a:lstStyle>
          <a:p>
            <a:pPr>
              <a:defRPr/>
            </a:pPr>
            <a:fld id="{AADB7C18-7433-44E4-B090-14C1C00EB7ED}" type="slidenum">
              <a:rPr lang="id-ID"/>
              <a:pPr>
                <a:defRPr/>
              </a:pPr>
              <a:t>‹#›</a:t>
            </a:fld>
            <a:endParaRPr lang="id-ID"/>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5.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1563" y="60325"/>
            <a:ext cx="8078787" cy="555625"/>
          </a:xfrm>
          <a:prstGeom prst="rect">
            <a:avLst/>
          </a:prstGeom>
        </p:spPr>
        <p:txBody>
          <a:bodyPr vert="horz" wrap="square" lIns="91440" tIns="45720" rIns="91440" bIns="45720" numCol="1" anchor="ctr" anchorCtr="0" compatLnSpc="1">
            <a:prstTxWarp prst="textNoShape">
              <a:avLst/>
            </a:prstTxWarp>
            <a:noAutofit/>
          </a:bodyPr>
          <a:lstStyle/>
          <a:p>
            <a:pPr lvl="0"/>
            <a:r>
              <a:rPr lang="en-US" smtClean="0"/>
              <a:t>Click to edit Master title style</a:t>
            </a:r>
            <a:endParaRPr lang="id-ID" smtClean="0"/>
          </a:p>
        </p:txBody>
      </p:sp>
      <p:sp>
        <p:nvSpPr>
          <p:cNvPr id="1027" name="Text Placeholder 2"/>
          <p:cNvSpPr>
            <a:spLocks noGrp="1"/>
          </p:cNvSpPr>
          <p:nvPr>
            <p:ph type="body" idx="1"/>
          </p:nvPr>
        </p:nvSpPr>
        <p:spPr bwMode="auto">
          <a:xfrm>
            <a:off x="611188" y="692150"/>
            <a:ext cx="8424862" cy="5545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defRPr>
            </a:lvl1pPr>
          </a:lstStyle>
          <a:p>
            <a:pPr>
              <a:defRPr/>
            </a:pPr>
            <a:fld id="{F52D4040-9827-4250-A15E-3152A286FBAD}" type="datetime1">
              <a:rPr lang="id-ID"/>
              <a:pPr>
                <a:defRPr/>
              </a:pPr>
              <a:t>18/11/2015</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CE45AE19-1340-4949-821D-1D117E800AA7}" type="slidenum">
              <a:rPr lang="id-ID"/>
              <a:pPr>
                <a:defRPr/>
              </a:pPr>
              <a:t>‹#›</a:t>
            </a:fld>
            <a:endParaRPr lang="id-ID"/>
          </a:p>
        </p:txBody>
      </p:sp>
      <p:sp>
        <p:nvSpPr>
          <p:cNvPr id="1031" name="Slide Number Placeholder 3"/>
          <p:cNvSpPr txBox="1">
            <a:spLocks noGrp="1"/>
          </p:cNvSpPr>
          <p:nvPr/>
        </p:nvSpPr>
        <p:spPr bwMode="auto">
          <a:xfrm>
            <a:off x="8459788" y="6381750"/>
            <a:ext cx="593725" cy="379413"/>
          </a:xfrm>
          <a:prstGeom prst="rect">
            <a:avLst/>
          </a:prstGeom>
          <a:noFill/>
          <a:ln w="9525">
            <a:noFill/>
            <a:miter lim="800000"/>
            <a:headEnd/>
            <a:tailEnd/>
          </a:ln>
        </p:spPr>
        <p:txBody>
          <a:bodyPr/>
          <a:lstStyle/>
          <a:p>
            <a:pPr algn="r">
              <a:defRPr/>
            </a:pPr>
            <a:fld id="{78823FCE-4175-4B79-A382-66A1F27BB48C}" type="slidenum">
              <a:rPr lang="en-US" sz="1200">
                <a:latin typeface="Arial" charset="0"/>
              </a:rPr>
              <a:pPr algn="r">
                <a:defRPr/>
              </a:pPr>
              <a:t>‹#›</a:t>
            </a:fld>
            <a:endParaRPr lang="en-US" sz="1200">
              <a:latin typeface="Arial" charset="0"/>
            </a:endParaRPr>
          </a:p>
        </p:txBody>
      </p:sp>
    </p:spTree>
  </p:cSld>
  <p:clrMap bg1="lt1" tx1="dk1" bg2="lt2" tx2="dk2" accent1="accent1" accent2="accent2" accent3="accent3" accent4="accent4" accent5="accent5" accent6="accent6" hlink="hlink" folHlink="folHlink"/>
  <p:sldLayoutIdLst>
    <p:sldLayoutId id="2147483753" r:id="rId1"/>
    <p:sldLayoutId id="2147483734" r:id="rId2"/>
    <p:sldLayoutId id="2147483735" r:id="rId3"/>
    <p:sldLayoutId id="2147483736" r:id="rId4"/>
    <p:sldLayoutId id="2147483754" r:id="rId5"/>
    <p:sldLayoutId id="2147483755" r:id="rId6"/>
    <p:sldLayoutId id="2147483737" r:id="rId7"/>
    <p:sldLayoutId id="2147483738" r:id="rId8"/>
    <p:sldLayoutId id="2147483739" r:id="rId9"/>
    <p:sldLayoutId id="2147483740" r:id="rId10"/>
    <p:sldLayoutId id="2147483741" r:id="rId11"/>
  </p:sldLayoutIdLst>
  <p:timing>
    <p:tnLst>
      <p:par>
        <p:cTn id="1" dur="indefinite" restart="never" nodeType="tmRoot"/>
      </p:par>
    </p:tnLst>
  </p:timing>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mj-lt"/>
          <a:ea typeface="MS PGothic" pitchFamily="34" charset="-128"/>
          <a:cs typeface="+mj-cs"/>
        </a:defRPr>
      </a:lvl1pPr>
      <a:lvl2pPr algn="l" rtl="0" eaLnBrk="0" fontAlgn="base" hangingPunct="0">
        <a:spcBef>
          <a:spcPct val="0"/>
        </a:spcBef>
        <a:spcAft>
          <a:spcPct val="0"/>
        </a:spcAft>
        <a:defRPr sz="3200" b="1">
          <a:solidFill>
            <a:schemeClr val="bg1"/>
          </a:solidFill>
          <a:latin typeface="Calibri" pitchFamily="34" charset="0"/>
          <a:ea typeface="MS PGothic" pitchFamily="34" charset="-128"/>
        </a:defRPr>
      </a:lvl2pPr>
      <a:lvl3pPr algn="l" rtl="0" eaLnBrk="0" fontAlgn="base" hangingPunct="0">
        <a:spcBef>
          <a:spcPct val="0"/>
        </a:spcBef>
        <a:spcAft>
          <a:spcPct val="0"/>
        </a:spcAft>
        <a:defRPr sz="3200" b="1">
          <a:solidFill>
            <a:schemeClr val="bg1"/>
          </a:solidFill>
          <a:latin typeface="Calibri" pitchFamily="34" charset="0"/>
          <a:ea typeface="MS PGothic" pitchFamily="34" charset="-128"/>
        </a:defRPr>
      </a:lvl3pPr>
      <a:lvl4pPr algn="l" rtl="0" eaLnBrk="0" fontAlgn="base" hangingPunct="0">
        <a:spcBef>
          <a:spcPct val="0"/>
        </a:spcBef>
        <a:spcAft>
          <a:spcPct val="0"/>
        </a:spcAft>
        <a:defRPr sz="3200" b="1">
          <a:solidFill>
            <a:schemeClr val="bg1"/>
          </a:solidFill>
          <a:latin typeface="Calibri" pitchFamily="34" charset="0"/>
          <a:ea typeface="MS PGothic" pitchFamily="34" charset="-128"/>
        </a:defRPr>
      </a:lvl4pPr>
      <a:lvl5pPr algn="l" rtl="0" eaLnBrk="0" fontAlgn="base" hangingPunct="0">
        <a:spcBef>
          <a:spcPct val="0"/>
        </a:spcBef>
        <a:spcAft>
          <a:spcPct val="0"/>
        </a:spcAft>
        <a:defRPr sz="3200" b="1">
          <a:solidFill>
            <a:schemeClr val="bg1"/>
          </a:solidFill>
          <a:latin typeface="Calibri" pitchFamily="34" charset="0"/>
          <a:ea typeface="MS PGothic" pitchFamily="34" charset="-128"/>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5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Wingdings" pitchFamily="2" charset="2"/>
        <a:buChar char="§"/>
        <a:defRPr sz="24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Wingdings" pitchFamily="2" charset="2"/>
        <a:buChar char="Ø"/>
        <a:defRPr sz="23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2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71563" y="60325"/>
            <a:ext cx="8078787" cy="555625"/>
          </a:xfrm>
          <a:prstGeom prst="rect">
            <a:avLst/>
          </a:prstGeom>
        </p:spPr>
        <p:txBody>
          <a:bodyPr vert="horz" lIns="91440" tIns="45720" rIns="91440" bIns="45720" rtlCol="0" anchor="ctr">
            <a:noAutofit/>
          </a:bodyPr>
          <a:lstStyle/>
          <a:p>
            <a:r>
              <a:rPr lang="en-US" smtClean="0"/>
              <a:t>Click to edit Master title style</a:t>
            </a:r>
            <a:endParaRPr lang="id-ID"/>
          </a:p>
        </p:txBody>
      </p:sp>
      <p:sp>
        <p:nvSpPr>
          <p:cNvPr id="13315" name="Text Placeholder 2"/>
          <p:cNvSpPr>
            <a:spLocks noGrp="1"/>
          </p:cNvSpPr>
          <p:nvPr>
            <p:ph type="body" idx="1"/>
          </p:nvPr>
        </p:nvSpPr>
        <p:spPr bwMode="auto">
          <a:xfrm>
            <a:off x="611188" y="692150"/>
            <a:ext cx="8424862" cy="55054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prstClr val="black">
                    <a:tint val="75000"/>
                  </a:prstClr>
                </a:solidFill>
                <a:latin typeface="Calibri"/>
                <a:ea typeface="+mn-ea"/>
              </a:defRPr>
            </a:lvl1pPr>
          </a:lstStyle>
          <a:p>
            <a:pPr>
              <a:defRPr/>
            </a:pPr>
            <a:fld id="{6850F96E-6F6D-4D0D-972E-D998A0AAFE20}" type="datetimeFigureOut">
              <a:rPr lang="id-ID"/>
              <a:pPr>
                <a:defRPr/>
              </a:pPr>
              <a:t>18/11/2015</a:t>
            </a:fld>
            <a:endParaRPr lang="id-ID"/>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prstClr val="black">
                    <a:tint val="75000"/>
                  </a:prstClr>
                </a:solidFill>
                <a:latin typeface="Calibri"/>
                <a:ea typeface="+mn-ea"/>
              </a:defRPr>
            </a:lvl1pPr>
          </a:lstStyle>
          <a:p>
            <a:pPr>
              <a:defRPr/>
            </a:pPr>
            <a:endParaRPr lang="id-ID"/>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prstClr val="black">
                    <a:tint val="75000"/>
                  </a:prstClr>
                </a:solidFill>
                <a:latin typeface="Calibri"/>
                <a:ea typeface="+mn-ea"/>
              </a:defRPr>
            </a:lvl1pPr>
          </a:lstStyle>
          <a:p>
            <a:pPr>
              <a:defRPr/>
            </a:pPr>
            <a:fld id="{16A226AC-E513-4952-A5B6-C12D780711A2}" type="slidenum">
              <a:rPr lang="id-ID"/>
              <a:pPr>
                <a:defRPr/>
              </a:pPr>
              <a:t>‹#›</a:t>
            </a:fld>
            <a:endParaRPr lang="id-ID"/>
          </a:p>
        </p:txBody>
      </p:sp>
      <p:sp>
        <p:nvSpPr>
          <p:cNvPr id="14343" name="Slide Number Placeholder 3"/>
          <p:cNvSpPr txBox="1">
            <a:spLocks noGrp="1"/>
          </p:cNvSpPr>
          <p:nvPr/>
        </p:nvSpPr>
        <p:spPr bwMode="auto">
          <a:xfrm>
            <a:off x="8459788" y="6381750"/>
            <a:ext cx="593725" cy="379413"/>
          </a:xfrm>
          <a:prstGeom prst="rect">
            <a:avLst/>
          </a:prstGeom>
          <a:noFill/>
          <a:ln w="9525">
            <a:noFill/>
            <a:miter lim="800000"/>
            <a:headEnd/>
            <a:tailEnd/>
          </a:ln>
        </p:spPr>
        <p:txBody>
          <a:bodyPr/>
          <a:lstStyle/>
          <a:p>
            <a:pPr algn="r">
              <a:defRPr/>
            </a:pPr>
            <a:fld id="{BB313527-7812-4220-AFC5-6F85266C6FB9}" type="slidenum">
              <a:rPr lang="en-US" sz="1200">
                <a:latin typeface="Arial" charset="0"/>
              </a:rPr>
              <a:pPr algn="r">
                <a:defRPr/>
              </a:pPr>
              <a:t>‹#›</a:t>
            </a:fld>
            <a:endParaRPr lang="en-US" sz="1200">
              <a:latin typeface="Arial" charset="0"/>
            </a:endParaRPr>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l" rtl="0" eaLnBrk="0" fontAlgn="base" hangingPunct="0">
        <a:spcBef>
          <a:spcPct val="0"/>
        </a:spcBef>
        <a:spcAft>
          <a:spcPct val="0"/>
        </a:spcAft>
        <a:defRPr sz="3200" b="1" kern="1200">
          <a:solidFill>
            <a:schemeClr val="bg1"/>
          </a:solidFill>
          <a:effectLst>
            <a:outerShdw blurRad="38100" dist="38100" dir="2700000" algn="tl">
              <a:srgbClr val="000000">
                <a:alpha val="43137"/>
              </a:srgbClr>
            </a:outerShdw>
          </a:effectLst>
          <a:latin typeface="+mj-lt"/>
          <a:ea typeface="+mj-ea"/>
          <a:cs typeface="+mj-cs"/>
        </a:defRPr>
      </a:lvl1pPr>
      <a:lvl2pPr algn="l" rtl="0" eaLnBrk="0" fontAlgn="base" hangingPunct="0">
        <a:spcBef>
          <a:spcPct val="0"/>
        </a:spcBef>
        <a:spcAft>
          <a:spcPct val="0"/>
        </a:spcAft>
        <a:defRPr sz="3200" b="1">
          <a:solidFill>
            <a:schemeClr val="bg1"/>
          </a:solidFill>
          <a:latin typeface="Calibri" pitchFamily="34" charset="0"/>
        </a:defRPr>
      </a:lvl2pPr>
      <a:lvl3pPr algn="l" rtl="0" eaLnBrk="0" fontAlgn="base" hangingPunct="0">
        <a:spcBef>
          <a:spcPct val="0"/>
        </a:spcBef>
        <a:spcAft>
          <a:spcPct val="0"/>
        </a:spcAft>
        <a:defRPr sz="3200" b="1">
          <a:solidFill>
            <a:schemeClr val="bg1"/>
          </a:solidFill>
          <a:latin typeface="Calibri" pitchFamily="34" charset="0"/>
        </a:defRPr>
      </a:lvl3pPr>
      <a:lvl4pPr algn="l" rtl="0" eaLnBrk="0" fontAlgn="base" hangingPunct="0">
        <a:spcBef>
          <a:spcPct val="0"/>
        </a:spcBef>
        <a:spcAft>
          <a:spcPct val="0"/>
        </a:spcAft>
        <a:defRPr sz="3200" b="1">
          <a:solidFill>
            <a:schemeClr val="bg1"/>
          </a:solidFill>
          <a:latin typeface="Calibri" pitchFamily="34" charset="0"/>
        </a:defRPr>
      </a:lvl4pPr>
      <a:lvl5pPr algn="l" rtl="0" eaLnBrk="0" fontAlgn="base" hangingPunct="0">
        <a:spcBef>
          <a:spcPct val="0"/>
        </a:spcBef>
        <a:spcAft>
          <a:spcPct val="0"/>
        </a:spcAft>
        <a:defRPr sz="3200" b="1">
          <a:solidFill>
            <a:schemeClr val="bg1"/>
          </a:solidFill>
          <a:latin typeface="Calibri" pitchFamily="34" charset="0"/>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5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itchFamily="2" charset="2"/>
        <a:buChar char="§"/>
        <a:defRPr sz="24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Wingdings" pitchFamily="2" charset="2"/>
        <a:buChar char="ü"/>
        <a:defRPr sz="23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2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4338" name="Title Placeholder 1"/>
          <p:cNvSpPr>
            <a:spLocks noGrp="1"/>
          </p:cNvSpPr>
          <p:nvPr>
            <p:ph type="title"/>
          </p:nvPr>
        </p:nvSpPr>
        <p:spPr bwMode="auto">
          <a:xfrm>
            <a:off x="1071563" y="60325"/>
            <a:ext cx="8078787" cy="55562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id-ID" smtClean="0"/>
          </a:p>
        </p:txBody>
      </p:sp>
      <p:sp>
        <p:nvSpPr>
          <p:cNvPr id="14339" name="Text Placeholder 2"/>
          <p:cNvSpPr>
            <a:spLocks noGrp="1"/>
          </p:cNvSpPr>
          <p:nvPr>
            <p:ph type="body" idx="1"/>
          </p:nvPr>
        </p:nvSpPr>
        <p:spPr bwMode="auto">
          <a:xfrm>
            <a:off x="857250" y="714375"/>
            <a:ext cx="8001000" cy="5411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smtClean="0"/>
          </a:p>
        </p:txBody>
      </p:sp>
      <p:sp>
        <p:nvSpPr>
          <p:cNvPr id="7" name="Date Placeholder 4"/>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defRPr sz="1200">
                <a:solidFill>
                  <a:prstClr val="black">
                    <a:tint val="75000"/>
                  </a:prstClr>
                </a:solidFill>
              </a:defRPr>
            </a:lvl1pPr>
          </a:lstStyle>
          <a:p>
            <a:pPr>
              <a:defRPr/>
            </a:pPr>
            <a:fld id="{6850F96E-6F6D-4D0D-972E-D998A0AAFE20}" type="datetimeFigureOut">
              <a:rPr lang="id-ID"/>
              <a:pPr>
                <a:defRPr/>
              </a:pPr>
              <a:t>18/11/2015</a:t>
            </a:fld>
            <a:endParaRPr lang="id-ID"/>
          </a:p>
        </p:txBody>
      </p:sp>
      <p:sp>
        <p:nvSpPr>
          <p:cNvPr id="8" name="Footer Placeholder 5"/>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prstClr val="black">
                    <a:tint val="75000"/>
                  </a:prstClr>
                </a:solidFill>
              </a:defRPr>
            </a:lvl1pPr>
          </a:lstStyle>
          <a:p>
            <a:pPr>
              <a:defRPr/>
            </a:pPr>
            <a:endParaRPr lang="id-ID"/>
          </a:p>
        </p:txBody>
      </p:sp>
      <p:sp>
        <p:nvSpPr>
          <p:cNvPr id="9" name="Slide Number Placeholder 6"/>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prstClr val="black">
                    <a:tint val="75000"/>
                  </a:prstClr>
                </a:solidFill>
              </a:defRPr>
            </a:lvl1pPr>
          </a:lstStyle>
          <a:p>
            <a:pPr>
              <a:defRPr/>
            </a:pPr>
            <a:fld id="{13EA29CE-72FB-4037-917C-AA5CECD4C8FC}" type="slidenum">
              <a:rPr lang="id-ID"/>
              <a:pPr>
                <a:defRPr/>
              </a:pPr>
              <a:t>‹#›</a:t>
            </a:fld>
            <a:endParaRPr lang="id-ID"/>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Lst>
  <p:txStyles>
    <p:titleStyle>
      <a:lvl1pPr algn="l" rtl="0" eaLnBrk="0" fontAlgn="base" hangingPunct="0">
        <a:spcBef>
          <a:spcPct val="0"/>
        </a:spcBef>
        <a:spcAft>
          <a:spcPct val="0"/>
        </a:spcAft>
        <a:defRPr sz="3200" b="1">
          <a:solidFill>
            <a:schemeClr val="bg1"/>
          </a:solidFill>
          <a:latin typeface="+mj-lt"/>
          <a:ea typeface="+mj-ea"/>
          <a:cs typeface="+mj-cs"/>
        </a:defRPr>
      </a:lvl1pPr>
      <a:lvl2pPr algn="l" rtl="0" eaLnBrk="0" fontAlgn="base" hangingPunct="0">
        <a:spcBef>
          <a:spcPct val="0"/>
        </a:spcBef>
        <a:spcAft>
          <a:spcPct val="0"/>
        </a:spcAft>
        <a:defRPr sz="3200" b="1">
          <a:solidFill>
            <a:schemeClr val="bg1"/>
          </a:solidFill>
          <a:latin typeface="Calibri" pitchFamily="34" charset="0"/>
        </a:defRPr>
      </a:lvl2pPr>
      <a:lvl3pPr algn="l" rtl="0" eaLnBrk="0" fontAlgn="base" hangingPunct="0">
        <a:spcBef>
          <a:spcPct val="0"/>
        </a:spcBef>
        <a:spcAft>
          <a:spcPct val="0"/>
        </a:spcAft>
        <a:defRPr sz="3200" b="1">
          <a:solidFill>
            <a:schemeClr val="bg1"/>
          </a:solidFill>
          <a:latin typeface="Calibri" pitchFamily="34" charset="0"/>
        </a:defRPr>
      </a:lvl3pPr>
      <a:lvl4pPr algn="l" rtl="0" eaLnBrk="0" fontAlgn="base" hangingPunct="0">
        <a:spcBef>
          <a:spcPct val="0"/>
        </a:spcBef>
        <a:spcAft>
          <a:spcPct val="0"/>
        </a:spcAft>
        <a:defRPr sz="3200" b="1">
          <a:solidFill>
            <a:schemeClr val="bg1"/>
          </a:solidFill>
          <a:latin typeface="Calibri" pitchFamily="34" charset="0"/>
        </a:defRPr>
      </a:lvl4pPr>
      <a:lvl5pPr algn="l" rtl="0" eaLnBrk="0" fontAlgn="base" hangingPunct="0">
        <a:spcBef>
          <a:spcPct val="0"/>
        </a:spcBef>
        <a:spcAft>
          <a:spcPct val="0"/>
        </a:spcAft>
        <a:defRPr sz="3200" b="1">
          <a:solidFill>
            <a:schemeClr val="bg1"/>
          </a:solidFill>
          <a:latin typeface="Calibri" pitchFamily="34" charset="0"/>
        </a:defRPr>
      </a:lvl5pPr>
      <a:lvl6pPr marL="457200" algn="l" rtl="0" fontAlgn="base">
        <a:spcBef>
          <a:spcPct val="0"/>
        </a:spcBef>
        <a:spcAft>
          <a:spcPct val="0"/>
        </a:spcAft>
        <a:defRPr sz="3200" b="1">
          <a:solidFill>
            <a:schemeClr val="bg1"/>
          </a:solidFill>
          <a:latin typeface="Calibri" pitchFamily="34" charset="0"/>
        </a:defRPr>
      </a:lvl6pPr>
      <a:lvl7pPr marL="914400" algn="l" rtl="0" fontAlgn="base">
        <a:spcBef>
          <a:spcPct val="0"/>
        </a:spcBef>
        <a:spcAft>
          <a:spcPct val="0"/>
        </a:spcAft>
        <a:defRPr sz="3200" b="1">
          <a:solidFill>
            <a:schemeClr val="bg1"/>
          </a:solidFill>
          <a:latin typeface="Calibri" pitchFamily="34" charset="0"/>
        </a:defRPr>
      </a:lvl7pPr>
      <a:lvl8pPr marL="1371600" algn="l" rtl="0" fontAlgn="base">
        <a:spcBef>
          <a:spcPct val="0"/>
        </a:spcBef>
        <a:spcAft>
          <a:spcPct val="0"/>
        </a:spcAft>
        <a:defRPr sz="3200" b="1">
          <a:solidFill>
            <a:schemeClr val="bg1"/>
          </a:solidFill>
          <a:latin typeface="Calibri" pitchFamily="34" charset="0"/>
        </a:defRPr>
      </a:lvl8pPr>
      <a:lvl9pPr marL="1828800" algn="l" rtl="0" fontAlgn="base">
        <a:spcBef>
          <a:spcPct val="0"/>
        </a:spcBef>
        <a:spcAft>
          <a:spcPct val="0"/>
        </a:spcAft>
        <a:defRPr sz="3200" b="1">
          <a:solidFill>
            <a:schemeClr val="bg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itchFamily="2" charset="2"/>
        <a:buChar char="§"/>
        <a:defRPr sz="2200">
          <a:solidFill>
            <a:schemeClr val="tx1"/>
          </a:solidFill>
          <a:latin typeface="+mn-lt"/>
        </a:defRPr>
      </a:lvl2pPr>
      <a:lvl3pPr marL="1143000" indent="-228600" algn="l" rtl="0" eaLnBrk="0" fontAlgn="base" hangingPunct="0">
        <a:spcBef>
          <a:spcPct val="20000"/>
        </a:spcBef>
        <a:spcAft>
          <a:spcPct val="0"/>
        </a:spcAft>
        <a:buFont typeface="Wingdings" pitchFamily="2" charset="2"/>
        <a:buChar char="ü"/>
        <a:defRPr sz="2000">
          <a:solidFill>
            <a:schemeClr val="tx1"/>
          </a:solidFill>
          <a:latin typeface="+mn-lt"/>
        </a:defRPr>
      </a:lvl3pPr>
      <a:lvl4pPr marL="1600200" indent="-228600" algn="l" rtl="0" eaLnBrk="0" fontAlgn="base" hangingPunct="0">
        <a:spcBef>
          <a:spcPct val="20000"/>
        </a:spcBef>
        <a:spcAft>
          <a:spcPct val="0"/>
        </a:spcAft>
        <a:buFont typeface="Arial" charset="0"/>
        <a:buChar char="–"/>
        <a:defRPr>
          <a:solidFill>
            <a:schemeClr val="tx1"/>
          </a:solidFill>
          <a:latin typeface="+mn-lt"/>
        </a:defRPr>
      </a:lvl4pPr>
      <a:lvl5pPr marL="2057400" indent="-228600" algn="l" rtl="0" eaLnBrk="0" fontAlgn="base" hangingPunct="0">
        <a:spcBef>
          <a:spcPct val="20000"/>
        </a:spcBef>
        <a:spcAft>
          <a:spcPct val="0"/>
        </a:spcAft>
        <a:buFont typeface="Arial" charset="0"/>
        <a:buChar char="»"/>
        <a:defRPr sz="1600">
          <a:solidFill>
            <a:schemeClr val="tx1"/>
          </a:solidFill>
          <a:latin typeface="+mn-lt"/>
        </a:defRPr>
      </a:lvl5pPr>
      <a:lvl6pPr marL="2514600" indent="-228600" algn="l" rtl="0" fontAlgn="base">
        <a:spcBef>
          <a:spcPct val="20000"/>
        </a:spcBef>
        <a:spcAft>
          <a:spcPct val="0"/>
        </a:spcAft>
        <a:buFont typeface="Arial" charset="0"/>
        <a:buChar char="»"/>
        <a:defRPr sz="1600">
          <a:solidFill>
            <a:schemeClr val="tx1"/>
          </a:solidFill>
          <a:latin typeface="+mn-lt"/>
        </a:defRPr>
      </a:lvl6pPr>
      <a:lvl7pPr marL="2971800" indent="-228600" algn="l" rtl="0" fontAlgn="base">
        <a:spcBef>
          <a:spcPct val="20000"/>
        </a:spcBef>
        <a:spcAft>
          <a:spcPct val="0"/>
        </a:spcAft>
        <a:buFont typeface="Arial" charset="0"/>
        <a:buChar char="»"/>
        <a:defRPr sz="1600">
          <a:solidFill>
            <a:schemeClr val="tx1"/>
          </a:solidFill>
          <a:latin typeface="+mn-lt"/>
        </a:defRPr>
      </a:lvl7pPr>
      <a:lvl8pPr marL="3429000" indent="-228600" algn="l" rtl="0" fontAlgn="base">
        <a:spcBef>
          <a:spcPct val="20000"/>
        </a:spcBef>
        <a:spcAft>
          <a:spcPct val="0"/>
        </a:spcAft>
        <a:buFont typeface="Arial" charset="0"/>
        <a:buChar char="»"/>
        <a:defRPr sz="1600">
          <a:solidFill>
            <a:schemeClr val="tx1"/>
          </a:solidFill>
          <a:latin typeface="+mn-lt"/>
        </a:defRPr>
      </a:lvl8pPr>
      <a:lvl9pPr marL="3886200" indent="-228600" algn="l" rtl="0" fontAlgn="base">
        <a:spcBef>
          <a:spcPct val="20000"/>
        </a:spcBef>
        <a:spcAft>
          <a:spcPct val="0"/>
        </a:spcAft>
        <a:buFont typeface="Arial" charset="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ctrTitle"/>
          </p:nvPr>
        </p:nvSpPr>
        <p:spPr>
          <a:xfrm>
            <a:off x="1798638" y="4221163"/>
            <a:ext cx="7237412" cy="1927225"/>
          </a:xfrm>
        </p:spPr>
        <p:txBody>
          <a:bodyPr/>
          <a:lstStyle/>
          <a:p>
            <a:pPr>
              <a:defRPr/>
            </a:pPr>
            <a:r>
              <a:rPr lang="en-US" sz="3200" smtClean="0">
                <a:effectLst>
                  <a:outerShdw blurRad="38100" dist="38100" dir="2700000" algn="tl">
                    <a:srgbClr val="C0C0C0"/>
                  </a:outerShdw>
                </a:effectLst>
              </a:rPr>
              <a:t/>
            </a:r>
            <a:br>
              <a:rPr lang="en-US" sz="3200" smtClean="0">
                <a:effectLst>
                  <a:outerShdw blurRad="38100" dist="38100" dir="2700000" algn="tl">
                    <a:srgbClr val="C0C0C0"/>
                  </a:outerShdw>
                </a:effectLst>
              </a:rPr>
            </a:br>
            <a:r>
              <a:rPr lang="en-US" sz="3200" smtClean="0">
                <a:effectLst>
                  <a:outerShdw blurRad="38100" dist="38100" dir="2700000" algn="tl">
                    <a:srgbClr val="C0C0C0"/>
                  </a:outerShdw>
                </a:effectLst>
              </a:rPr>
              <a:t>Chapter 13</a:t>
            </a:r>
            <a:br>
              <a:rPr lang="en-US" sz="3200" smtClean="0">
                <a:effectLst>
                  <a:outerShdw blurRad="38100" dist="38100" dir="2700000" algn="tl">
                    <a:srgbClr val="C0C0C0"/>
                  </a:outerShdw>
                </a:effectLst>
              </a:rPr>
            </a:br>
            <a:r>
              <a:rPr lang="en-US" sz="3200" b="0" smtClean="0">
                <a:effectLst>
                  <a:outerShdw blurRad="38100" dist="38100" dir="2700000" algn="tl">
                    <a:srgbClr val="C0C0C0"/>
                  </a:outerShdw>
                </a:effectLst>
              </a:rPr>
              <a:t>Monopoly</a:t>
            </a:r>
            <a:r>
              <a:rPr lang="id-ID" sz="3200" b="0" smtClean="0">
                <a:effectLst>
                  <a:outerShdw blurRad="38100" dist="38100" dir="2700000" algn="tl">
                    <a:srgbClr val="C0C0C0"/>
                  </a:outerShdw>
                </a:effectLst>
              </a:rPr>
              <a:t/>
            </a:r>
            <a:br>
              <a:rPr lang="id-ID" sz="3200" b="0" smtClean="0">
                <a:effectLst>
                  <a:outerShdw blurRad="38100" dist="38100" dir="2700000" algn="tl">
                    <a:srgbClr val="C0C0C0"/>
                  </a:outerShdw>
                </a:effectLst>
              </a:rPr>
            </a:br>
            <a:endParaRPr lang="en-US" sz="3200" b="0" smtClean="0">
              <a:effectLst>
                <a:outerShdw blurRad="38100" dist="38100" dir="2700000" algn="tl">
                  <a:srgbClr val="C0C0C0"/>
                </a:outerShdw>
              </a:effectLst>
            </a:endParaRPr>
          </a:p>
        </p:txBody>
      </p:sp>
      <p:sp>
        <p:nvSpPr>
          <p:cNvPr id="27650" name="Text Box 8"/>
          <p:cNvSpPr txBox="1">
            <a:spLocks noChangeArrowheads="1"/>
          </p:cNvSpPr>
          <p:nvPr/>
        </p:nvSpPr>
        <p:spPr bwMode="auto">
          <a:xfrm>
            <a:off x="0" y="2438400"/>
            <a:ext cx="914400" cy="758825"/>
          </a:xfrm>
          <a:prstGeom prst="rect">
            <a:avLst/>
          </a:prstGeom>
          <a:noFill/>
          <a:ln w="9525">
            <a:noFill/>
            <a:miter lim="800000"/>
            <a:headEnd/>
            <a:tailEnd type="none" w="med" len="lg"/>
          </a:ln>
        </p:spPr>
        <p:txBody>
          <a:bodyPr anchor="ctr" anchorCtr="1"/>
          <a:lstStyle/>
          <a:p>
            <a:pPr marL="1588" indent="-1588" algn="ctr"/>
            <a:r>
              <a:rPr lang="en-US" sz="4000" b="1">
                <a:solidFill>
                  <a:srgbClr val="993366"/>
                </a:solidFill>
                <a:latin typeface="Bookman Old Style" pitchFamily="18" charset="0"/>
              </a:rPr>
              <a:t>&gt;&gt;</a:t>
            </a:r>
          </a:p>
        </p:txBody>
      </p:sp>
      <p:sp>
        <p:nvSpPr>
          <p:cNvPr id="5" name="Content Placeholder 7"/>
          <p:cNvSpPr txBox="1">
            <a:spLocks/>
          </p:cNvSpPr>
          <p:nvPr/>
        </p:nvSpPr>
        <p:spPr>
          <a:xfrm>
            <a:off x="4435475" y="-1588"/>
            <a:ext cx="4708525" cy="4114801"/>
          </a:xfrm>
          <a:prstGeom prst="rect">
            <a:avLst/>
          </a:prstGeom>
          <a:solidFill>
            <a:schemeClr val="accent4">
              <a:lumMod val="75000"/>
            </a:schemeClr>
          </a:solidFill>
        </p:spPr>
        <p:txBody>
          <a:bodyPr/>
          <a:lstStyle/>
          <a:p>
            <a:pPr lvl="1" algn="r" eaLnBrk="0" hangingPunct="0">
              <a:spcBef>
                <a:spcPct val="20000"/>
              </a:spcBef>
              <a:buFont typeface="Wingdings" pitchFamily="2" charset="2"/>
              <a:buNone/>
              <a:defRPr/>
            </a:pPr>
            <a:r>
              <a:rPr lang="en-US" sz="3200">
                <a:solidFill>
                  <a:srgbClr val="F79646"/>
                </a:solidFill>
              </a:rPr>
              <a:t>THIRD EDITION</a:t>
            </a:r>
          </a:p>
          <a:p>
            <a:pPr lvl="1" algn="r" eaLnBrk="0" hangingPunct="0">
              <a:spcBef>
                <a:spcPct val="20000"/>
              </a:spcBef>
              <a:buFont typeface="Wingdings" pitchFamily="2" charset="2"/>
              <a:buNone/>
              <a:defRPr/>
            </a:pPr>
            <a:endParaRPr lang="en-US" sz="3200" b="1">
              <a:solidFill>
                <a:schemeClr val="bg1"/>
              </a:solidFill>
            </a:endParaRPr>
          </a:p>
          <a:p>
            <a:pPr lvl="1" algn="r" eaLnBrk="0" hangingPunct="0">
              <a:spcBef>
                <a:spcPct val="20000"/>
              </a:spcBef>
              <a:buFont typeface="Wingdings" pitchFamily="2" charset="2"/>
              <a:buNone/>
              <a:defRPr/>
            </a:pPr>
            <a:r>
              <a:rPr lang="en-US" sz="3800" b="1">
                <a:solidFill>
                  <a:schemeClr val="bg1"/>
                </a:solidFill>
                <a:effectLst>
                  <a:outerShdw blurRad="38100" dist="38100" dir="2700000" algn="tl">
                    <a:srgbClr val="000000"/>
                  </a:outerShdw>
                </a:effectLst>
              </a:rPr>
              <a:t>MICROECONOMICS</a:t>
            </a:r>
            <a:r>
              <a:rPr lang="en-US" sz="3900" b="1">
                <a:solidFill>
                  <a:schemeClr val="bg1"/>
                </a:solidFill>
                <a:effectLst>
                  <a:outerShdw blurRad="38100" dist="38100" dir="2700000" algn="tl">
                    <a:srgbClr val="000000"/>
                  </a:outerShdw>
                </a:effectLst>
              </a:rPr>
              <a:t/>
            </a:r>
            <a:br>
              <a:rPr lang="en-US" sz="3900" b="1">
                <a:solidFill>
                  <a:schemeClr val="bg1"/>
                </a:solidFill>
                <a:effectLst>
                  <a:outerShdw blurRad="38100" dist="38100" dir="2700000" algn="tl">
                    <a:srgbClr val="000000"/>
                  </a:outerShdw>
                </a:effectLst>
              </a:rPr>
            </a:br>
            <a:r>
              <a:rPr lang="en-US" sz="2400">
                <a:solidFill>
                  <a:schemeClr val="bg1"/>
                </a:solidFill>
              </a:rPr>
              <a:t>Paul Krugman | Robin Wells</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Content Placeholder 4"/>
          <p:cNvSpPr>
            <a:spLocks noGrp="1"/>
          </p:cNvSpPr>
          <p:nvPr>
            <p:ph sz="half" idx="4294967295"/>
          </p:nvPr>
        </p:nvSpPr>
        <p:spPr>
          <a:xfrm>
            <a:off x="3286125" y="428625"/>
            <a:ext cx="5572125" cy="5857875"/>
          </a:xfrm>
        </p:spPr>
        <p:txBody>
          <a:bodyPr/>
          <a:lstStyle/>
          <a:p>
            <a:r>
              <a:rPr lang="en-US" smtClean="0"/>
              <a:t>The significance of monopoly, where a single monopolist is the only producer of a good</a:t>
            </a:r>
          </a:p>
          <a:p>
            <a:r>
              <a:rPr lang="en-US" smtClean="0"/>
              <a:t>How a monopolist determines its profit-maximizing output and price</a:t>
            </a:r>
          </a:p>
          <a:p>
            <a:r>
              <a:rPr lang="en-US" smtClean="0"/>
              <a:t>The difference between monopoly and perfect competition, and the effects of that difference on society’s welfare </a:t>
            </a:r>
          </a:p>
          <a:p>
            <a:r>
              <a:rPr lang="en-US" smtClean="0"/>
              <a:t>How policy makers address the problems posed by monopoly</a:t>
            </a:r>
          </a:p>
          <a:p>
            <a:r>
              <a:rPr lang="en-US" smtClean="0"/>
              <a:t>What price discrimination is, and why it is so prevalent when producers have market power</a:t>
            </a:r>
          </a:p>
          <a:p>
            <a:endParaRPr lang="id-ID" smtClean="0"/>
          </a:p>
        </p:txBody>
      </p:sp>
      <p:sp>
        <p:nvSpPr>
          <p:cNvPr id="3" name="TextBox 2"/>
          <p:cNvSpPr txBox="1"/>
          <p:nvPr/>
        </p:nvSpPr>
        <p:spPr>
          <a:xfrm>
            <a:off x="146050" y="1857375"/>
            <a:ext cx="2493963" cy="2062163"/>
          </a:xfrm>
          <a:prstGeom prst="rect">
            <a:avLst/>
          </a:prstGeom>
          <a:noFill/>
        </p:spPr>
        <p:txBody>
          <a:bodyPr>
            <a:spAutoFit/>
          </a:bodyPr>
          <a:lstStyle/>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WHAT YOU</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WILL LEARN</a:t>
            </a:r>
          </a:p>
          <a:p>
            <a:pPr algn="ctr" fontAlgn="auto">
              <a:spcBef>
                <a:spcPts val="0"/>
              </a:spcBef>
              <a:spcAft>
                <a:spcPts val="0"/>
              </a:spcAft>
              <a:defRPr/>
            </a:pPr>
            <a:r>
              <a:rPr lang="id-ID" sz="3200" b="1" dirty="0">
                <a:solidFill>
                  <a:prstClr val="white"/>
                </a:solidFill>
                <a:effectLst>
                  <a:outerShdw blurRad="38100" dist="38100" dir="2700000" algn="tl">
                    <a:srgbClr val="000000">
                      <a:alpha val="43137"/>
                    </a:srgbClr>
                  </a:outerShdw>
                </a:effectLst>
                <a:latin typeface="Calibri"/>
                <a:ea typeface="+mn-ea"/>
              </a:rPr>
              <a:t>IN THIS CHAPTER</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Rot="1" noChangeArrowheads="1"/>
          </p:cNvSpPr>
          <p:nvPr>
            <p:ph type="title" idx="4294967295"/>
          </p:nvPr>
        </p:nvSpPr>
        <p:spPr>
          <a:xfrm>
            <a:off x="900113" y="76200"/>
            <a:ext cx="8012112" cy="609600"/>
          </a:xfrm>
        </p:spPr>
        <p:txBody>
          <a:bodyPr/>
          <a:lstStyle/>
          <a:p>
            <a:pPr>
              <a:defRPr/>
            </a:pPr>
            <a:r>
              <a:rPr lang="en-US" dirty="0" smtClean="0"/>
              <a:t>Types of Market Structure</a:t>
            </a:r>
            <a:endParaRPr lang="en-US" b="0" dirty="0" smtClean="0"/>
          </a:p>
        </p:txBody>
      </p:sp>
      <p:sp>
        <p:nvSpPr>
          <p:cNvPr id="77829" name="Text Box 5"/>
          <p:cNvSpPr txBox="1">
            <a:spLocks noChangeArrowheads="1"/>
          </p:cNvSpPr>
          <p:nvPr/>
        </p:nvSpPr>
        <p:spPr bwMode="auto">
          <a:xfrm>
            <a:off x="900113" y="893763"/>
            <a:ext cx="8012112" cy="5630862"/>
          </a:xfrm>
          <a:prstGeom prst="rect">
            <a:avLst/>
          </a:prstGeom>
          <a:noFill/>
          <a:ln w="9525" algn="ctr">
            <a:noFill/>
            <a:miter lim="800000"/>
            <a:headEnd/>
            <a:tailEnd type="none" w="med" len="lg"/>
          </a:ln>
        </p:spPr>
        <p:txBody>
          <a:bodyPr/>
          <a:lstStyle/>
          <a:p>
            <a:pPr marL="230188" indent="-230188">
              <a:buClr>
                <a:schemeClr val="tx1"/>
              </a:buClr>
              <a:buFont typeface="Wingdings" pitchFamily="2" charset="2"/>
              <a:buChar char="§"/>
            </a:pPr>
            <a:r>
              <a:rPr lang="en-US" sz="2400"/>
              <a:t>In order to develop principles and make predictions about markets and how producers will behave in them, economists have developed </a:t>
            </a:r>
            <a:r>
              <a:rPr lang="en-US" sz="2400" b="1"/>
              <a:t>four principal models</a:t>
            </a:r>
            <a:r>
              <a:rPr lang="en-US" sz="2400"/>
              <a:t> of market structure: </a:t>
            </a:r>
          </a:p>
          <a:p>
            <a:pPr marL="230188" indent="-230188">
              <a:buClr>
                <a:schemeClr val="tx1"/>
              </a:buClr>
            </a:pPr>
            <a:endParaRPr lang="en-US" sz="2400"/>
          </a:p>
          <a:p>
            <a:pPr marL="914400" lvl="1" indent="-457200">
              <a:buClr>
                <a:schemeClr val="tx1"/>
              </a:buClr>
              <a:buFont typeface="Calibri" pitchFamily="34" charset="0"/>
              <a:buAutoNum type="arabicParenR"/>
            </a:pPr>
            <a:r>
              <a:rPr lang="en-US" sz="2400" b="1"/>
              <a:t>Perfect competition</a:t>
            </a:r>
          </a:p>
          <a:p>
            <a:pPr marL="914400" lvl="1" indent="-457200">
              <a:buClr>
                <a:schemeClr val="tx1"/>
              </a:buClr>
              <a:buFont typeface="Calibri" pitchFamily="34" charset="0"/>
              <a:buAutoNum type="arabicParenR"/>
            </a:pPr>
            <a:endParaRPr lang="en-US" sz="2400" b="1"/>
          </a:p>
          <a:p>
            <a:pPr marL="914400" lvl="1" indent="-457200">
              <a:buClr>
                <a:schemeClr val="tx1"/>
              </a:buClr>
              <a:buFont typeface="Calibri" pitchFamily="34" charset="0"/>
              <a:buAutoNum type="arabicParenR"/>
            </a:pPr>
            <a:r>
              <a:rPr lang="en-US" sz="2400" b="1"/>
              <a:t>Monopoly</a:t>
            </a:r>
          </a:p>
          <a:p>
            <a:pPr marL="914400" lvl="1" indent="-457200">
              <a:buClr>
                <a:schemeClr val="tx1"/>
              </a:buClr>
              <a:buFont typeface="Calibri" pitchFamily="34" charset="0"/>
              <a:buAutoNum type="arabicParenR"/>
            </a:pPr>
            <a:endParaRPr lang="en-US" sz="2400" b="1"/>
          </a:p>
          <a:p>
            <a:pPr marL="914400" lvl="1" indent="-457200">
              <a:buClr>
                <a:schemeClr val="tx1"/>
              </a:buClr>
              <a:buFont typeface="Calibri" pitchFamily="34" charset="0"/>
              <a:buAutoNum type="arabicParenR"/>
            </a:pPr>
            <a:r>
              <a:rPr lang="en-US" sz="2400" b="1"/>
              <a:t>Oligopoly</a:t>
            </a:r>
          </a:p>
          <a:p>
            <a:pPr marL="914400" lvl="1" indent="-457200">
              <a:buClr>
                <a:schemeClr val="tx1"/>
              </a:buClr>
              <a:buFont typeface="Calibri" pitchFamily="34" charset="0"/>
              <a:buAutoNum type="arabicParenR"/>
            </a:pPr>
            <a:endParaRPr lang="en-US" sz="2400" b="1"/>
          </a:p>
          <a:p>
            <a:pPr marL="914400" lvl="1" indent="-457200">
              <a:buClr>
                <a:schemeClr val="tx1"/>
              </a:buClr>
              <a:buFont typeface="Calibri" pitchFamily="34" charset="0"/>
              <a:buAutoNum type="arabicParenR"/>
            </a:pPr>
            <a:r>
              <a:rPr lang="en-US" sz="2400" b="1"/>
              <a:t>Monopolistic competition</a:t>
            </a:r>
          </a:p>
          <a:p>
            <a:pPr marL="230188" indent="-230188">
              <a:buClr>
                <a:schemeClr val="tx1"/>
              </a:buClr>
            </a:pPr>
            <a:endParaRPr lang="en-US" sz="2400" b="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7829">
                                            <p:txEl>
                                              <p:pRg st="2" end="2"/>
                                            </p:txEl>
                                          </p:spTgt>
                                        </p:tgtEl>
                                        <p:attrNameLst>
                                          <p:attrName>style.visibility</p:attrName>
                                        </p:attrNameLst>
                                      </p:cBhvr>
                                      <p:to>
                                        <p:strVal val="visible"/>
                                      </p:to>
                                    </p:set>
                                    <p:animEffect transition="in" filter="wipe(left)">
                                      <p:cBhvr>
                                        <p:cTn id="7" dur="500"/>
                                        <p:tgtEl>
                                          <p:spTgt spid="77829">
                                            <p:txEl>
                                              <p:pRg st="2" end="2"/>
                                            </p:txEl>
                                          </p:spTgt>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77829">
                                            <p:txEl>
                                              <p:pRg st="4" end="4"/>
                                            </p:txEl>
                                          </p:spTgt>
                                        </p:tgtEl>
                                        <p:attrNameLst>
                                          <p:attrName>style.visibility</p:attrName>
                                        </p:attrNameLst>
                                      </p:cBhvr>
                                      <p:to>
                                        <p:strVal val="visible"/>
                                      </p:to>
                                    </p:set>
                                    <p:animEffect transition="in" filter="wipe(left)">
                                      <p:cBhvr>
                                        <p:cTn id="11" dur="500"/>
                                        <p:tgtEl>
                                          <p:spTgt spid="77829">
                                            <p:txEl>
                                              <p:pRg st="4" end="4"/>
                                            </p:txEl>
                                          </p:spTgt>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77829">
                                            <p:txEl>
                                              <p:pRg st="6" end="6"/>
                                            </p:txEl>
                                          </p:spTgt>
                                        </p:tgtEl>
                                        <p:attrNameLst>
                                          <p:attrName>style.visibility</p:attrName>
                                        </p:attrNameLst>
                                      </p:cBhvr>
                                      <p:to>
                                        <p:strVal val="visible"/>
                                      </p:to>
                                    </p:set>
                                    <p:animEffect transition="in" filter="wipe(left)">
                                      <p:cBhvr>
                                        <p:cTn id="15" dur="500"/>
                                        <p:tgtEl>
                                          <p:spTgt spid="77829">
                                            <p:txEl>
                                              <p:pRg st="6" end="6"/>
                                            </p:txEl>
                                          </p:spTgt>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77829">
                                            <p:txEl>
                                              <p:pRg st="8" end="8"/>
                                            </p:txEl>
                                          </p:spTgt>
                                        </p:tgtEl>
                                        <p:attrNameLst>
                                          <p:attrName>style.visibility</p:attrName>
                                        </p:attrNameLst>
                                      </p:cBhvr>
                                      <p:to>
                                        <p:strVal val="visible"/>
                                      </p:to>
                                    </p:set>
                                    <p:animEffect transition="in" filter="wipe(left)">
                                      <p:cBhvr>
                                        <p:cTn id="19" dur="500"/>
                                        <p:tgtEl>
                                          <p:spTgt spid="7782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Rot="1" noChangeArrowheads="1"/>
          </p:cNvSpPr>
          <p:nvPr>
            <p:ph type="title" idx="4294967295"/>
          </p:nvPr>
        </p:nvSpPr>
        <p:spPr>
          <a:xfrm>
            <a:off x="971550" y="60325"/>
            <a:ext cx="7921625" cy="555625"/>
          </a:xfrm>
        </p:spPr>
        <p:txBody>
          <a:bodyPr/>
          <a:lstStyle/>
          <a:p>
            <a:pPr>
              <a:defRPr/>
            </a:pPr>
            <a:r>
              <a:rPr lang="en-US" dirty="0" smtClean="0"/>
              <a:t>Types of Market Structure</a:t>
            </a:r>
          </a:p>
        </p:txBody>
      </p:sp>
      <p:sp>
        <p:nvSpPr>
          <p:cNvPr id="33794" name="Rectangle 5"/>
          <p:cNvSpPr>
            <a:spLocks noChangeArrowheads="1"/>
          </p:cNvSpPr>
          <p:nvPr/>
        </p:nvSpPr>
        <p:spPr bwMode="auto">
          <a:xfrm>
            <a:off x="2282825" y="3260725"/>
            <a:ext cx="3819525" cy="1098550"/>
          </a:xfrm>
          <a:prstGeom prst="rect">
            <a:avLst/>
          </a:prstGeom>
          <a:solidFill>
            <a:srgbClr val="FFCD67"/>
          </a:solidFill>
          <a:ln w="9525">
            <a:noFill/>
            <a:miter lim="800000"/>
            <a:headEnd/>
            <a:tailEnd/>
          </a:ln>
        </p:spPr>
        <p:txBody>
          <a:bodyPr/>
          <a:lstStyle/>
          <a:p>
            <a:endParaRPr lang="en-US"/>
          </a:p>
        </p:txBody>
      </p:sp>
      <p:sp>
        <p:nvSpPr>
          <p:cNvPr id="33795" name="Rectangle 6"/>
          <p:cNvSpPr>
            <a:spLocks noChangeArrowheads="1"/>
          </p:cNvSpPr>
          <p:nvPr/>
        </p:nvSpPr>
        <p:spPr bwMode="auto">
          <a:xfrm>
            <a:off x="4192588" y="2160588"/>
            <a:ext cx="1909762" cy="1100137"/>
          </a:xfrm>
          <a:prstGeom prst="rect">
            <a:avLst/>
          </a:prstGeom>
          <a:solidFill>
            <a:srgbClr val="CFE5AE"/>
          </a:solidFill>
          <a:ln w="9525">
            <a:noFill/>
            <a:miter lim="800000"/>
            <a:headEnd/>
            <a:tailEnd/>
          </a:ln>
        </p:spPr>
        <p:txBody>
          <a:bodyPr/>
          <a:lstStyle/>
          <a:p>
            <a:endParaRPr lang="en-US"/>
          </a:p>
        </p:txBody>
      </p:sp>
      <p:sp>
        <p:nvSpPr>
          <p:cNvPr id="33796" name="Rectangle 7"/>
          <p:cNvSpPr>
            <a:spLocks noChangeArrowheads="1"/>
          </p:cNvSpPr>
          <p:nvPr/>
        </p:nvSpPr>
        <p:spPr bwMode="auto">
          <a:xfrm>
            <a:off x="2282825" y="2160588"/>
            <a:ext cx="1909763" cy="1100137"/>
          </a:xfrm>
          <a:prstGeom prst="rect">
            <a:avLst/>
          </a:prstGeom>
          <a:solidFill>
            <a:srgbClr val="C7C4E2"/>
          </a:solidFill>
          <a:ln w="9525">
            <a:noFill/>
            <a:miter lim="800000"/>
            <a:headEnd/>
            <a:tailEnd/>
          </a:ln>
        </p:spPr>
        <p:txBody>
          <a:bodyPr/>
          <a:lstStyle/>
          <a:p>
            <a:endParaRPr lang="en-US"/>
          </a:p>
        </p:txBody>
      </p:sp>
      <p:sp>
        <p:nvSpPr>
          <p:cNvPr id="33797" name="Rectangle 8"/>
          <p:cNvSpPr>
            <a:spLocks noChangeArrowheads="1"/>
          </p:cNvSpPr>
          <p:nvPr/>
        </p:nvSpPr>
        <p:spPr bwMode="auto">
          <a:xfrm>
            <a:off x="4192588" y="4359275"/>
            <a:ext cx="1909762" cy="1100138"/>
          </a:xfrm>
          <a:prstGeom prst="rect">
            <a:avLst/>
          </a:prstGeom>
          <a:solidFill>
            <a:srgbClr val="B1DFDC"/>
          </a:solidFill>
          <a:ln w="9525">
            <a:noFill/>
            <a:miter lim="800000"/>
            <a:headEnd/>
            <a:tailEnd/>
          </a:ln>
        </p:spPr>
        <p:txBody>
          <a:bodyPr/>
          <a:lstStyle/>
          <a:p>
            <a:endParaRPr lang="en-US"/>
          </a:p>
        </p:txBody>
      </p:sp>
      <p:sp>
        <p:nvSpPr>
          <p:cNvPr id="33798" name="Rectangle 9"/>
          <p:cNvSpPr>
            <a:spLocks noChangeArrowheads="1"/>
          </p:cNvSpPr>
          <p:nvPr/>
        </p:nvSpPr>
        <p:spPr bwMode="auto">
          <a:xfrm>
            <a:off x="2282825" y="4359275"/>
            <a:ext cx="1909763" cy="1100138"/>
          </a:xfrm>
          <a:prstGeom prst="rect">
            <a:avLst/>
          </a:prstGeom>
          <a:solidFill>
            <a:srgbClr val="F69796"/>
          </a:solidFill>
          <a:ln w="9525">
            <a:noFill/>
            <a:miter lim="800000"/>
            <a:headEnd/>
            <a:tailEnd/>
          </a:ln>
        </p:spPr>
        <p:txBody>
          <a:bodyPr/>
          <a:lstStyle/>
          <a:p>
            <a:endParaRPr lang="en-US"/>
          </a:p>
        </p:txBody>
      </p:sp>
      <p:sp>
        <p:nvSpPr>
          <p:cNvPr id="33799" name="Rectangle 10"/>
          <p:cNvSpPr>
            <a:spLocks noChangeArrowheads="1"/>
          </p:cNvSpPr>
          <p:nvPr/>
        </p:nvSpPr>
        <p:spPr bwMode="auto">
          <a:xfrm>
            <a:off x="2987675" y="1268413"/>
            <a:ext cx="2436813" cy="215900"/>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latin typeface="Myriad Pro"/>
              </a:rPr>
              <a:t>Are Products Differentiated?</a:t>
            </a:r>
            <a:endParaRPr lang="en-US" sz="1400" b="1">
              <a:latin typeface="Tahoma" pitchFamily="34" charset="0"/>
            </a:endParaRPr>
          </a:p>
        </p:txBody>
      </p:sp>
      <p:sp>
        <p:nvSpPr>
          <p:cNvPr id="33800" name="Rectangle 11"/>
          <p:cNvSpPr>
            <a:spLocks noChangeArrowheads="1"/>
          </p:cNvSpPr>
          <p:nvPr/>
        </p:nvSpPr>
        <p:spPr bwMode="auto">
          <a:xfrm>
            <a:off x="766763" y="3573463"/>
            <a:ext cx="828675" cy="554037"/>
          </a:xfrm>
          <a:prstGeom prst="rect">
            <a:avLst/>
          </a:prstGeom>
          <a:noFill/>
          <a:ln w="9525">
            <a:noFill/>
            <a:miter lim="800000"/>
            <a:headEnd/>
            <a:tailEnd/>
          </a:ln>
        </p:spPr>
        <p:txBody>
          <a:bodyPr lIns="0" tIns="0" rIns="0" bIns="0">
            <a:spAutoFit/>
          </a:bodyPr>
          <a:lstStyle/>
          <a:p>
            <a:pPr marL="1588" indent="-1588" algn="ctr"/>
            <a:r>
              <a:rPr lang="en-US" sz="1200" b="1">
                <a:solidFill>
                  <a:srgbClr val="000000"/>
                </a:solidFill>
                <a:latin typeface="Myriad Pro"/>
              </a:rPr>
              <a:t>How Many Producers Are There?</a:t>
            </a:r>
            <a:endParaRPr lang="en-US" sz="1200" b="1">
              <a:latin typeface="Tahoma" pitchFamily="34" charset="0"/>
            </a:endParaRPr>
          </a:p>
        </p:txBody>
      </p:sp>
      <p:sp>
        <p:nvSpPr>
          <p:cNvPr id="220172" name="Rectangle 12"/>
          <p:cNvSpPr>
            <a:spLocks noChangeArrowheads="1"/>
          </p:cNvSpPr>
          <p:nvPr/>
        </p:nvSpPr>
        <p:spPr bwMode="auto">
          <a:xfrm>
            <a:off x="3805238" y="3686175"/>
            <a:ext cx="746125"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Oligopoly</a:t>
            </a:r>
            <a:endParaRPr lang="en-US" sz="1400">
              <a:latin typeface="Tahoma" pitchFamily="34" charset="0"/>
            </a:endParaRPr>
          </a:p>
        </p:txBody>
      </p:sp>
      <p:sp>
        <p:nvSpPr>
          <p:cNvPr id="220173" name="Rectangle 13"/>
          <p:cNvSpPr>
            <a:spLocks noChangeArrowheads="1"/>
          </p:cNvSpPr>
          <p:nvPr/>
        </p:nvSpPr>
        <p:spPr bwMode="auto">
          <a:xfrm>
            <a:off x="2576513" y="4676775"/>
            <a:ext cx="1274762"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Perfect competition</a:t>
            </a:r>
            <a:endParaRPr lang="en-US" sz="1400">
              <a:latin typeface="Tahoma" pitchFamily="34" charset="0"/>
            </a:endParaRPr>
          </a:p>
        </p:txBody>
      </p:sp>
      <p:sp>
        <p:nvSpPr>
          <p:cNvPr id="33803" name="Rectangle 14"/>
          <p:cNvSpPr>
            <a:spLocks noChangeArrowheads="1"/>
          </p:cNvSpPr>
          <p:nvPr/>
        </p:nvSpPr>
        <p:spPr bwMode="auto">
          <a:xfrm>
            <a:off x="3108325" y="1787525"/>
            <a:ext cx="230188"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No</a:t>
            </a:r>
            <a:endParaRPr lang="en-US" sz="1400">
              <a:latin typeface="Tahoma" pitchFamily="34" charset="0"/>
            </a:endParaRPr>
          </a:p>
        </p:txBody>
      </p:sp>
      <p:sp>
        <p:nvSpPr>
          <p:cNvPr id="33804" name="Rectangle 15"/>
          <p:cNvSpPr>
            <a:spLocks noChangeArrowheads="1"/>
          </p:cNvSpPr>
          <p:nvPr/>
        </p:nvSpPr>
        <p:spPr bwMode="auto">
          <a:xfrm>
            <a:off x="1782763" y="2635250"/>
            <a:ext cx="338137"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One</a:t>
            </a:r>
            <a:endParaRPr lang="en-US" sz="1400">
              <a:latin typeface="Tahoma" pitchFamily="34" charset="0"/>
            </a:endParaRPr>
          </a:p>
        </p:txBody>
      </p:sp>
      <p:sp>
        <p:nvSpPr>
          <p:cNvPr id="33805" name="Rectangle 16"/>
          <p:cNvSpPr>
            <a:spLocks noChangeArrowheads="1"/>
          </p:cNvSpPr>
          <p:nvPr/>
        </p:nvSpPr>
        <p:spPr bwMode="auto">
          <a:xfrm>
            <a:off x="1747838" y="3757613"/>
            <a:ext cx="338137"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Few</a:t>
            </a:r>
            <a:endParaRPr lang="en-US" sz="1400">
              <a:latin typeface="Tahoma" pitchFamily="34" charset="0"/>
            </a:endParaRPr>
          </a:p>
        </p:txBody>
      </p:sp>
      <p:sp>
        <p:nvSpPr>
          <p:cNvPr id="33806" name="Rectangle 17"/>
          <p:cNvSpPr>
            <a:spLocks noChangeArrowheads="1"/>
          </p:cNvSpPr>
          <p:nvPr/>
        </p:nvSpPr>
        <p:spPr bwMode="auto">
          <a:xfrm>
            <a:off x="1749425" y="4776788"/>
            <a:ext cx="436563"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Many</a:t>
            </a:r>
            <a:endParaRPr lang="en-US" sz="1400">
              <a:latin typeface="Tahoma" pitchFamily="34" charset="0"/>
            </a:endParaRPr>
          </a:p>
        </p:txBody>
      </p:sp>
      <p:sp>
        <p:nvSpPr>
          <p:cNvPr id="33807" name="Rectangle 18"/>
          <p:cNvSpPr>
            <a:spLocks noChangeArrowheads="1"/>
          </p:cNvSpPr>
          <p:nvPr/>
        </p:nvSpPr>
        <p:spPr bwMode="auto">
          <a:xfrm>
            <a:off x="5026025" y="1773238"/>
            <a:ext cx="29210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Yes</a:t>
            </a:r>
            <a:endParaRPr lang="en-US" sz="1400">
              <a:latin typeface="Tahoma" pitchFamily="34" charset="0"/>
            </a:endParaRPr>
          </a:p>
        </p:txBody>
      </p:sp>
      <p:sp>
        <p:nvSpPr>
          <p:cNvPr id="33808" name="Freeform 19"/>
          <p:cNvSpPr>
            <a:spLocks/>
          </p:cNvSpPr>
          <p:nvPr/>
        </p:nvSpPr>
        <p:spPr bwMode="auto">
          <a:xfrm>
            <a:off x="1573213" y="2419350"/>
            <a:ext cx="144462" cy="2824163"/>
          </a:xfrm>
          <a:custGeom>
            <a:avLst/>
            <a:gdLst>
              <a:gd name="T0" fmla="*/ 2147483647 w 25"/>
              <a:gd name="T1" fmla="*/ 0 h 493"/>
              <a:gd name="T2" fmla="*/ 2147483647 w 25"/>
              <a:gd name="T3" fmla="*/ 2147483647 h 493"/>
              <a:gd name="T4" fmla="*/ 2147483647 w 25"/>
              <a:gd name="T5" fmla="*/ 2147483647 h 493"/>
              <a:gd name="T6" fmla="*/ 0 w 25"/>
              <a:gd name="T7" fmla="*/ 2147483647 h 493"/>
              <a:gd name="T8" fmla="*/ 2147483647 w 25"/>
              <a:gd name="T9" fmla="*/ 2147483647 h 493"/>
              <a:gd name="T10" fmla="*/ 2147483647 w 25"/>
              <a:gd name="T11" fmla="*/ 2147483647 h 493"/>
              <a:gd name="T12" fmla="*/ 2147483647 w 25"/>
              <a:gd name="T13" fmla="*/ 2147483647 h 493"/>
              <a:gd name="T14" fmla="*/ 0 60000 65536"/>
              <a:gd name="T15" fmla="*/ 0 60000 65536"/>
              <a:gd name="T16" fmla="*/ 0 60000 65536"/>
              <a:gd name="T17" fmla="*/ 0 60000 65536"/>
              <a:gd name="T18" fmla="*/ 0 60000 65536"/>
              <a:gd name="T19" fmla="*/ 0 60000 65536"/>
              <a:gd name="T20" fmla="*/ 0 60000 65536"/>
              <a:gd name="T21" fmla="*/ 0 w 25"/>
              <a:gd name="T22" fmla="*/ 0 h 493"/>
              <a:gd name="T23" fmla="*/ 25 w 25"/>
              <a:gd name="T24" fmla="*/ 493 h 4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93">
                <a:moveTo>
                  <a:pt x="25" y="0"/>
                </a:moveTo>
                <a:cubicBezTo>
                  <a:pt x="15" y="0"/>
                  <a:pt x="10" y="1"/>
                  <a:pt x="10" y="11"/>
                </a:cubicBezTo>
                <a:cubicBezTo>
                  <a:pt x="10" y="12"/>
                  <a:pt x="10" y="237"/>
                  <a:pt x="10" y="239"/>
                </a:cubicBezTo>
                <a:cubicBezTo>
                  <a:pt x="10" y="241"/>
                  <a:pt x="8" y="246"/>
                  <a:pt x="0" y="246"/>
                </a:cubicBezTo>
                <a:cubicBezTo>
                  <a:pt x="8" y="246"/>
                  <a:pt x="10" y="251"/>
                  <a:pt x="10" y="254"/>
                </a:cubicBezTo>
                <a:cubicBezTo>
                  <a:pt x="10" y="255"/>
                  <a:pt x="10" y="480"/>
                  <a:pt x="10" y="482"/>
                </a:cubicBezTo>
                <a:cubicBezTo>
                  <a:pt x="10" y="491"/>
                  <a:pt x="15" y="493"/>
                  <a:pt x="25" y="493"/>
                </a:cubicBezTo>
              </a:path>
            </a:pathLst>
          </a:custGeom>
          <a:noFill/>
          <a:ln w="23813" cap="flat">
            <a:solidFill>
              <a:srgbClr val="6D6F71"/>
            </a:solidFill>
            <a:prstDash val="solid"/>
            <a:round/>
            <a:headEnd/>
            <a:tailEnd/>
          </a:ln>
        </p:spPr>
        <p:txBody>
          <a:bodyPr/>
          <a:lstStyle/>
          <a:p>
            <a:endParaRPr lang="en-US"/>
          </a:p>
        </p:txBody>
      </p:sp>
      <p:sp>
        <p:nvSpPr>
          <p:cNvPr id="33809" name="Freeform 20"/>
          <p:cNvSpPr>
            <a:spLocks/>
          </p:cNvSpPr>
          <p:nvPr/>
        </p:nvSpPr>
        <p:spPr bwMode="auto">
          <a:xfrm>
            <a:off x="2544763" y="1657350"/>
            <a:ext cx="3352800" cy="144463"/>
          </a:xfrm>
          <a:custGeom>
            <a:avLst/>
            <a:gdLst>
              <a:gd name="T0" fmla="*/ 2147483647 w 576"/>
              <a:gd name="T1" fmla="*/ 2147483647 h 25"/>
              <a:gd name="T2" fmla="*/ 2147483647 w 576"/>
              <a:gd name="T3" fmla="*/ 2147483647 h 25"/>
              <a:gd name="T4" fmla="*/ 2147483647 w 576"/>
              <a:gd name="T5" fmla="*/ 2147483647 h 25"/>
              <a:gd name="T6" fmla="*/ 2147483647 w 576"/>
              <a:gd name="T7" fmla="*/ 0 h 25"/>
              <a:gd name="T8" fmla="*/ 2147483647 w 576"/>
              <a:gd name="T9" fmla="*/ 2147483647 h 25"/>
              <a:gd name="T10" fmla="*/ 2147483647 w 576"/>
              <a:gd name="T11" fmla="*/ 2147483647 h 25"/>
              <a:gd name="T12" fmla="*/ 0 w 576"/>
              <a:gd name="T13" fmla="*/ 2147483647 h 25"/>
              <a:gd name="T14" fmla="*/ 0 60000 65536"/>
              <a:gd name="T15" fmla="*/ 0 60000 65536"/>
              <a:gd name="T16" fmla="*/ 0 60000 65536"/>
              <a:gd name="T17" fmla="*/ 0 60000 65536"/>
              <a:gd name="T18" fmla="*/ 0 60000 65536"/>
              <a:gd name="T19" fmla="*/ 0 60000 65536"/>
              <a:gd name="T20" fmla="*/ 0 60000 65536"/>
              <a:gd name="T21" fmla="*/ 0 w 576"/>
              <a:gd name="T22" fmla="*/ 0 h 25"/>
              <a:gd name="T23" fmla="*/ 576 w 576"/>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6" h="25">
                <a:moveTo>
                  <a:pt x="576" y="25"/>
                </a:moveTo>
                <a:cubicBezTo>
                  <a:pt x="576" y="15"/>
                  <a:pt x="573" y="10"/>
                  <a:pt x="563" y="10"/>
                </a:cubicBezTo>
                <a:cubicBezTo>
                  <a:pt x="561" y="10"/>
                  <a:pt x="298" y="10"/>
                  <a:pt x="296" y="10"/>
                </a:cubicBezTo>
                <a:cubicBezTo>
                  <a:pt x="294" y="10"/>
                  <a:pt x="288" y="8"/>
                  <a:pt x="288" y="0"/>
                </a:cubicBezTo>
                <a:cubicBezTo>
                  <a:pt x="288" y="8"/>
                  <a:pt x="282" y="10"/>
                  <a:pt x="279" y="10"/>
                </a:cubicBezTo>
                <a:cubicBezTo>
                  <a:pt x="278" y="10"/>
                  <a:pt x="15" y="10"/>
                  <a:pt x="13" y="10"/>
                </a:cubicBezTo>
                <a:cubicBezTo>
                  <a:pt x="2" y="10"/>
                  <a:pt x="0" y="15"/>
                  <a:pt x="0" y="25"/>
                </a:cubicBezTo>
              </a:path>
            </a:pathLst>
          </a:custGeom>
          <a:noFill/>
          <a:ln w="23813" cap="flat">
            <a:solidFill>
              <a:srgbClr val="6D6F71"/>
            </a:solidFill>
            <a:prstDash val="solid"/>
            <a:round/>
            <a:headEnd/>
            <a:tailEnd/>
          </a:ln>
        </p:spPr>
        <p:txBody>
          <a:bodyPr/>
          <a:lstStyle/>
          <a:p>
            <a:endParaRPr lang="en-US"/>
          </a:p>
        </p:txBody>
      </p:sp>
      <p:sp>
        <p:nvSpPr>
          <p:cNvPr id="33810" name="Rectangle 21"/>
          <p:cNvSpPr>
            <a:spLocks noChangeArrowheads="1"/>
          </p:cNvSpPr>
          <p:nvPr/>
        </p:nvSpPr>
        <p:spPr bwMode="auto">
          <a:xfrm>
            <a:off x="2282825" y="2160588"/>
            <a:ext cx="3819525" cy="3298825"/>
          </a:xfrm>
          <a:prstGeom prst="rect">
            <a:avLst/>
          </a:prstGeom>
          <a:noFill/>
          <a:ln w="7938">
            <a:solidFill>
              <a:srgbClr val="000000"/>
            </a:solidFill>
            <a:miter lim="800000"/>
            <a:headEnd/>
            <a:tailEnd/>
          </a:ln>
        </p:spPr>
        <p:txBody>
          <a:bodyPr/>
          <a:lstStyle/>
          <a:p>
            <a:endParaRPr lang="en-US"/>
          </a:p>
        </p:txBody>
      </p:sp>
      <p:sp>
        <p:nvSpPr>
          <p:cNvPr id="33811" name="Line 22"/>
          <p:cNvSpPr>
            <a:spLocks noChangeShapeType="1"/>
          </p:cNvSpPr>
          <p:nvPr/>
        </p:nvSpPr>
        <p:spPr bwMode="auto">
          <a:xfrm>
            <a:off x="2282825" y="3260725"/>
            <a:ext cx="3819525" cy="0"/>
          </a:xfrm>
          <a:prstGeom prst="line">
            <a:avLst/>
          </a:prstGeom>
          <a:noFill/>
          <a:ln w="7938">
            <a:solidFill>
              <a:srgbClr val="000000"/>
            </a:solidFill>
            <a:miter lim="800000"/>
            <a:headEnd/>
            <a:tailEnd/>
          </a:ln>
        </p:spPr>
        <p:txBody>
          <a:bodyPr/>
          <a:lstStyle/>
          <a:p>
            <a:endParaRPr lang="en-US"/>
          </a:p>
        </p:txBody>
      </p:sp>
      <p:sp>
        <p:nvSpPr>
          <p:cNvPr id="33812" name="Line 23"/>
          <p:cNvSpPr>
            <a:spLocks noChangeShapeType="1"/>
          </p:cNvSpPr>
          <p:nvPr/>
        </p:nvSpPr>
        <p:spPr bwMode="auto">
          <a:xfrm>
            <a:off x="2282825" y="4359275"/>
            <a:ext cx="3819525" cy="0"/>
          </a:xfrm>
          <a:prstGeom prst="line">
            <a:avLst/>
          </a:prstGeom>
          <a:noFill/>
          <a:ln w="7938">
            <a:solidFill>
              <a:srgbClr val="000000"/>
            </a:solidFill>
            <a:miter lim="800000"/>
            <a:headEnd/>
            <a:tailEnd/>
          </a:ln>
        </p:spPr>
        <p:txBody>
          <a:bodyPr/>
          <a:lstStyle/>
          <a:p>
            <a:endParaRPr lang="en-US"/>
          </a:p>
        </p:txBody>
      </p:sp>
      <p:sp>
        <p:nvSpPr>
          <p:cNvPr id="33813" name="Line 24"/>
          <p:cNvSpPr>
            <a:spLocks noChangeShapeType="1"/>
          </p:cNvSpPr>
          <p:nvPr/>
        </p:nvSpPr>
        <p:spPr bwMode="auto">
          <a:xfrm flipV="1">
            <a:off x="4192588" y="2160588"/>
            <a:ext cx="0" cy="1100137"/>
          </a:xfrm>
          <a:prstGeom prst="line">
            <a:avLst/>
          </a:prstGeom>
          <a:noFill/>
          <a:ln w="7938">
            <a:solidFill>
              <a:srgbClr val="000000"/>
            </a:solidFill>
            <a:miter lim="800000"/>
            <a:headEnd/>
            <a:tailEnd/>
          </a:ln>
        </p:spPr>
        <p:txBody>
          <a:bodyPr/>
          <a:lstStyle/>
          <a:p>
            <a:endParaRPr lang="en-US"/>
          </a:p>
        </p:txBody>
      </p:sp>
      <p:sp>
        <p:nvSpPr>
          <p:cNvPr id="33814" name="Line 25"/>
          <p:cNvSpPr>
            <a:spLocks noChangeShapeType="1"/>
          </p:cNvSpPr>
          <p:nvPr/>
        </p:nvSpPr>
        <p:spPr bwMode="auto">
          <a:xfrm flipV="1">
            <a:off x="4192588" y="4359275"/>
            <a:ext cx="0" cy="1100138"/>
          </a:xfrm>
          <a:prstGeom prst="line">
            <a:avLst/>
          </a:prstGeom>
          <a:noFill/>
          <a:ln w="7938">
            <a:solidFill>
              <a:srgbClr val="000000"/>
            </a:solidFill>
            <a:miter lim="800000"/>
            <a:headEnd/>
            <a:tailEnd/>
          </a:ln>
        </p:spPr>
        <p:txBody>
          <a:bodyPr/>
          <a:lstStyle/>
          <a:p>
            <a:endParaRPr lang="en-US"/>
          </a:p>
        </p:txBody>
      </p:sp>
      <p:sp>
        <p:nvSpPr>
          <p:cNvPr id="220186" name="Rectangle 26"/>
          <p:cNvSpPr>
            <a:spLocks noChangeArrowheads="1"/>
          </p:cNvSpPr>
          <p:nvPr/>
        </p:nvSpPr>
        <p:spPr bwMode="auto">
          <a:xfrm>
            <a:off x="4560888" y="4679950"/>
            <a:ext cx="1274762"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Monopolistic competition</a:t>
            </a:r>
            <a:endParaRPr lang="en-US" sz="1400">
              <a:latin typeface="Tahoma" pitchFamily="34" charset="0"/>
            </a:endParaRPr>
          </a:p>
        </p:txBody>
      </p:sp>
      <p:sp>
        <p:nvSpPr>
          <p:cNvPr id="220187" name="Rectangle 27"/>
          <p:cNvSpPr>
            <a:spLocks noChangeArrowheads="1"/>
          </p:cNvSpPr>
          <p:nvPr/>
        </p:nvSpPr>
        <p:spPr bwMode="auto">
          <a:xfrm>
            <a:off x="4487863" y="2622550"/>
            <a:ext cx="1495425" cy="2143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Not applicable</a:t>
            </a:r>
            <a:endParaRPr lang="en-US" sz="1400">
              <a:latin typeface="Tahoma" pitchFamily="34" charset="0"/>
            </a:endParaRPr>
          </a:p>
        </p:txBody>
      </p:sp>
      <p:sp>
        <p:nvSpPr>
          <p:cNvPr id="220188" name="Rectangle 28"/>
          <p:cNvSpPr>
            <a:spLocks noChangeArrowheads="1"/>
          </p:cNvSpPr>
          <p:nvPr/>
        </p:nvSpPr>
        <p:spPr bwMode="auto">
          <a:xfrm>
            <a:off x="2452688" y="2633663"/>
            <a:ext cx="1493837" cy="2159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Monopoly</a:t>
            </a:r>
            <a:endParaRPr lang="en-US" sz="1400">
              <a:latin typeface="Tahoma" pitchFamily="34" charset="0"/>
            </a:endParaRPr>
          </a:p>
        </p:txBody>
      </p:sp>
      <p:sp>
        <p:nvSpPr>
          <p:cNvPr id="78857" name="Text Box 9"/>
          <p:cNvSpPr txBox="1">
            <a:spLocks noChangeArrowheads="1"/>
          </p:cNvSpPr>
          <p:nvPr/>
        </p:nvSpPr>
        <p:spPr bwMode="auto">
          <a:xfrm>
            <a:off x="6172200" y="1066800"/>
            <a:ext cx="2863850" cy="5257800"/>
          </a:xfrm>
          <a:prstGeom prst="rect">
            <a:avLst/>
          </a:prstGeom>
          <a:solidFill>
            <a:schemeClr val="accent5">
              <a:lumMod val="20000"/>
              <a:lumOff val="80000"/>
            </a:schemeClr>
          </a:solidFill>
          <a:ln w="12700" algn="ctr">
            <a:noFill/>
            <a:miter lim="800000"/>
            <a:headEnd/>
            <a:tailEnd type="none" w="sm" len="lg"/>
          </a:ln>
        </p:spPr>
        <p:txBody>
          <a:bodyPr/>
          <a:lstStyle/>
          <a:p>
            <a:pPr marL="1588" indent="-1588" algn="ctr">
              <a:defRPr/>
            </a:pPr>
            <a:r>
              <a:rPr lang="en-US" dirty="0">
                <a:solidFill>
                  <a:srgbClr val="0033CC"/>
                </a:solidFill>
              </a:rPr>
              <a:t>This system of market structures is based on two dimensions: </a:t>
            </a:r>
          </a:p>
          <a:p>
            <a:pPr marL="1588" indent="-1588" algn="ctr">
              <a:buClr>
                <a:schemeClr val="tx1"/>
              </a:buClr>
              <a:defRPr/>
            </a:pPr>
            <a:r>
              <a:rPr lang="en-US" dirty="0">
                <a:solidFill>
                  <a:srgbClr val="0033CC"/>
                </a:solidFill>
              </a:rPr>
              <a:t> </a:t>
            </a:r>
          </a:p>
          <a:p>
            <a:pPr marL="1588" indent="-1588" algn="ctr">
              <a:buClr>
                <a:schemeClr val="tx1"/>
              </a:buClr>
              <a:defRPr/>
            </a:pPr>
            <a:r>
              <a:rPr lang="en-US" dirty="0">
                <a:solidFill>
                  <a:srgbClr val="0033CC"/>
                </a:solidFill>
              </a:rPr>
              <a:t>1) the number of producers in the market </a:t>
            </a:r>
            <a:br>
              <a:rPr lang="en-US" dirty="0">
                <a:solidFill>
                  <a:srgbClr val="0033CC"/>
                </a:solidFill>
              </a:rPr>
            </a:br>
            <a:r>
              <a:rPr lang="en-US" dirty="0">
                <a:solidFill>
                  <a:srgbClr val="0033CC"/>
                </a:solidFill>
              </a:rPr>
              <a:t>(one, few, or many)</a:t>
            </a:r>
          </a:p>
          <a:p>
            <a:pPr marL="1588" indent="-1588" algn="ctr">
              <a:buClr>
                <a:schemeClr val="tx1"/>
              </a:buClr>
              <a:defRPr/>
            </a:pPr>
            <a:endParaRPr lang="en-US" dirty="0">
              <a:solidFill>
                <a:srgbClr val="0033CC"/>
              </a:solidFill>
            </a:endParaRPr>
          </a:p>
          <a:p>
            <a:pPr marL="1588" indent="-1588" algn="ctr">
              <a:buClr>
                <a:schemeClr val="tx1"/>
              </a:buClr>
              <a:defRPr/>
            </a:pPr>
            <a:r>
              <a:rPr lang="en-US" dirty="0">
                <a:solidFill>
                  <a:srgbClr val="0033CC"/>
                </a:solidFill>
              </a:rPr>
              <a:t>2) whether the goods offered are identical or </a:t>
            </a:r>
            <a:r>
              <a:rPr lang="en-US" i="1" dirty="0">
                <a:solidFill>
                  <a:srgbClr val="0033CC"/>
                </a:solidFill>
              </a:rPr>
              <a:t>differentiated</a:t>
            </a:r>
          </a:p>
          <a:p>
            <a:pPr marL="1588" indent="-1588" algn="ctr">
              <a:defRPr/>
            </a:pPr>
            <a:endParaRPr lang="en-US" dirty="0">
              <a:solidFill>
                <a:srgbClr val="0033CC"/>
              </a:solidFill>
            </a:endParaRPr>
          </a:p>
          <a:p>
            <a:pPr marL="1588" indent="-1588" algn="ctr">
              <a:defRPr/>
            </a:pPr>
            <a:r>
              <a:rPr lang="en-US" dirty="0">
                <a:solidFill>
                  <a:srgbClr val="0033CC"/>
                </a:solidFill>
              </a:rPr>
              <a:t>Differentiated goods are goods that are different but considered somewhat substitutable by consumers (think Coke versus Pepsi).</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20188"/>
                                        </p:tgtEl>
                                        <p:attrNameLst>
                                          <p:attrName>style.visibility</p:attrName>
                                        </p:attrNameLst>
                                      </p:cBhvr>
                                      <p:to>
                                        <p:strVal val="visible"/>
                                      </p:to>
                                    </p:set>
                                    <p:animEffect transition="in" filter="dissolve">
                                      <p:cBhvr>
                                        <p:cTn id="7" dur="500"/>
                                        <p:tgtEl>
                                          <p:spTgt spid="220188"/>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20187"/>
                                        </p:tgtEl>
                                        <p:attrNameLst>
                                          <p:attrName>style.visibility</p:attrName>
                                        </p:attrNameLst>
                                      </p:cBhvr>
                                      <p:to>
                                        <p:strVal val="visible"/>
                                      </p:to>
                                    </p:set>
                                    <p:animEffect transition="in" filter="dissolve">
                                      <p:cBhvr>
                                        <p:cTn id="11" dur="500"/>
                                        <p:tgtEl>
                                          <p:spTgt spid="220187"/>
                                        </p:tgtEl>
                                      </p:cBhvr>
                                    </p:animEffect>
                                  </p:childTnLst>
                                </p:cTn>
                              </p:par>
                            </p:childTnLst>
                          </p:cTn>
                        </p:par>
                        <p:par>
                          <p:cTn id="12" fill="hold">
                            <p:stCondLst>
                              <p:cond delay="1000"/>
                            </p:stCondLst>
                            <p:childTnLst>
                              <p:par>
                                <p:cTn id="13" presetID="9" presetClass="entr" presetSubtype="0" fill="hold" grpId="0" nodeType="afterEffect">
                                  <p:stCondLst>
                                    <p:cond delay="0"/>
                                  </p:stCondLst>
                                  <p:childTnLst>
                                    <p:set>
                                      <p:cBhvr>
                                        <p:cTn id="14" dur="1" fill="hold">
                                          <p:stCondLst>
                                            <p:cond delay="0"/>
                                          </p:stCondLst>
                                        </p:cTn>
                                        <p:tgtEl>
                                          <p:spTgt spid="220172"/>
                                        </p:tgtEl>
                                        <p:attrNameLst>
                                          <p:attrName>style.visibility</p:attrName>
                                        </p:attrNameLst>
                                      </p:cBhvr>
                                      <p:to>
                                        <p:strVal val="visible"/>
                                      </p:to>
                                    </p:set>
                                    <p:animEffect transition="in" filter="dissolve">
                                      <p:cBhvr>
                                        <p:cTn id="15" dur="500"/>
                                        <p:tgtEl>
                                          <p:spTgt spid="220172"/>
                                        </p:tgtEl>
                                      </p:cBhvr>
                                    </p:animEffect>
                                  </p:childTnLst>
                                </p:cTn>
                              </p:par>
                            </p:childTnLst>
                          </p:cTn>
                        </p:par>
                        <p:par>
                          <p:cTn id="16" fill="hold">
                            <p:stCondLst>
                              <p:cond delay="1500"/>
                            </p:stCondLst>
                            <p:childTnLst>
                              <p:par>
                                <p:cTn id="17" presetID="9" presetClass="entr" presetSubtype="0" fill="hold" grpId="0" nodeType="afterEffect">
                                  <p:stCondLst>
                                    <p:cond delay="0"/>
                                  </p:stCondLst>
                                  <p:childTnLst>
                                    <p:set>
                                      <p:cBhvr>
                                        <p:cTn id="18" dur="1" fill="hold">
                                          <p:stCondLst>
                                            <p:cond delay="0"/>
                                          </p:stCondLst>
                                        </p:cTn>
                                        <p:tgtEl>
                                          <p:spTgt spid="220173"/>
                                        </p:tgtEl>
                                        <p:attrNameLst>
                                          <p:attrName>style.visibility</p:attrName>
                                        </p:attrNameLst>
                                      </p:cBhvr>
                                      <p:to>
                                        <p:strVal val="visible"/>
                                      </p:to>
                                    </p:set>
                                    <p:animEffect transition="in" filter="dissolve">
                                      <p:cBhvr>
                                        <p:cTn id="19" dur="500"/>
                                        <p:tgtEl>
                                          <p:spTgt spid="220173"/>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220186"/>
                                        </p:tgtEl>
                                        <p:attrNameLst>
                                          <p:attrName>style.visibility</p:attrName>
                                        </p:attrNameLst>
                                      </p:cBhvr>
                                      <p:to>
                                        <p:strVal val="visible"/>
                                      </p:to>
                                    </p:set>
                                    <p:animEffect transition="in" filter="dissolve">
                                      <p:cBhvr>
                                        <p:cTn id="23" dur="500"/>
                                        <p:tgtEl>
                                          <p:spTgt spid="2201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72" grpId="0"/>
      <p:bldP spid="220173" grpId="0"/>
      <p:bldP spid="220186" grpId="0"/>
      <p:bldP spid="220187" grpId="0"/>
      <p:bldP spid="22018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Rot="1" noChangeArrowheads="1"/>
          </p:cNvSpPr>
          <p:nvPr>
            <p:ph type="title" idx="4294967295"/>
          </p:nvPr>
        </p:nvSpPr>
        <p:spPr>
          <a:xfrm>
            <a:off x="900113" y="76200"/>
            <a:ext cx="8015287" cy="609600"/>
          </a:xfrm>
        </p:spPr>
        <p:txBody>
          <a:bodyPr/>
          <a:lstStyle/>
          <a:p>
            <a:pPr>
              <a:defRPr/>
            </a:pPr>
            <a:r>
              <a:rPr lang="en-US" dirty="0" smtClean="0"/>
              <a:t>The Meaning of Monopoly</a:t>
            </a:r>
            <a:endParaRPr lang="en-US" b="0" dirty="0" smtClean="0"/>
          </a:p>
        </p:txBody>
      </p:sp>
      <p:sp>
        <p:nvSpPr>
          <p:cNvPr id="79877" name="Text Box 5"/>
          <p:cNvSpPr txBox="1">
            <a:spLocks noChangeArrowheads="1"/>
          </p:cNvSpPr>
          <p:nvPr/>
        </p:nvSpPr>
        <p:spPr bwMode="auto">
          <a:xfrm>
            <a:off x="971550" y="920750"/>
            <a:ext cx="7943850" cy="4524375"/>
          </a:xfrm>
          <a:prstGeom prst="rect">
            <a:avLst/>
          </a:prstGeom>
          <a:noFill/>
          <a:ln w="9525" algn="ctr">
            <a:noFill/>
            <a:miter lim="800000"/>
            <a:headEnd/>
            <a:tailEnd type="none" w="med" len="lg"/>
          </a:ln>
        </p:spPr>
        <p:txBody>
          <a:bodyPr>
            <a:spAutoFit/>
          </a:bodyPr>
          <a:lstStyle/>
          <a:p>
            <a:pPr marL="230188" indent="-230188"/>
            <a:r>
              <a:rPr lang="en-US" sz="2400"/>
              <a:t>Our first departure from perfect competition…</a:t>
            </a:r>
          </a:p>
          <a:p>
            <a:pPr marL="230188" indent="-230188"/>
            <a:endParaRPr lang="en-US" sz="2400"/>
          </a:p>
          <a:p>
            <a:pPr marL="230188" indent="-230188">
              <a:buClr>
                <a:schemeClr val="tx1"/>
              </a:buClr>
              <a:buFont typeface="Wingdings" pitchFamily="2" charset="2"/>
              <a:buChar char="§"/>
            </a:pPr>
            <a:r>
              <a:rPr lang="en-US" sz="2400"/>
              <a:t>A </a:t>
            </a:r>
            <a:r>
              <a:rPr lang="en-US" sz="2400" b="1"/>
              <a:t>monopolist </a:t>
            </a:r>
            <a:r>
              <a:rPr lang="en-US" sz="2400"/>
              <a:t>is a firm that is the only producer of a good that has no close substitutes. An industry controlled by a monopolist is known as a </a:t>
            </a:r>
            <a:r>
              <a:rPr lang="en-US" sz="2400" b="1"/>
              <a:t>monopoly</a:t>
            </a:r>
            <a:r>
              <a:rPr lang="en-US" sz="2400"/>
              <a:t>,</a:t>
            </a:r>
            <a:r>
              <a:rPr lang="en-US" sz="2400" b="1"/>
              <a:t> </a:t>
            </a:r>
            <a:r>
              <a:rPr lang="en-US" sz="2400"/>
              <a:t>e.g.</a:t>
            </a:r>
            <a:r>
              <a:rPr lang="en-US" sz="2400" b="1"/>
              <a:t> </a:t>
            </a:r>
            <a:r>
              <a:rPr lang="en-US" sz="2400"/>
              <a:t>De Beers.</a:t>
            </a:r>
          </a:p>
          <a:p>
            <a:pPr marL="230188" indent="-230188">
              <a:buClr>
                <a:schemeClr val="tx1"/>
              </a:buClr>
              <a:buFont typeface="Wingdings" pitchFamily="2" charset="2"/>
              <a:buChar char="§"/>
            </a:pPr>
            <a:endParaRPr lang="en-US" sz="2400" i="1"/>
          </a:p>
          <a:p>
            <a:pPr marL="230188" indent="-230188">
              <a:buClr>
                <a:schemeClr val="tx1"/>
              </a:buClr>
              <a:buFont typeface="Wingdings" pitchFamily="2" charset="2"/>
              <a:buChar char="§"/>
            </a:pPr>
            <a:r>
              <a:rPr lang="en-US" sz="2400"/>
              <a:t>The ability of a monopolist to raise its price above the competitive level by reducing output is known as </a:t>
            </a:r>
            <a:r>
              <a:rPr lang="en-US" sz="2400" b="1"/>
              <a:t>market power</a:t>
            </a:r>
            <a:r>
              <a:rPr lang="en-US" sz="2400"/>
              <a:t>.</a:t>
            </a:r>
          </a:p>
          <a:p>
            <a:pPr marL="230188" indent="-230188">
              <a:buClr>
                <a:schemeClr val="tx1"/>
              </a:buClr>
            </a:pPr>
            <a:endParaRPr lang="en-US" sz="2400"/>
          </a:p>
          <a:p>
            <a:pPr marL="230188" indent="-230188">
              <a:buClr>
                <a:schemeClr val="tx1"/>
              </a:buClr>
              <a:buFont typeface="Wingdings" pitchFamily="2" charset="2"/>
              <a:buChar char="§"/>
            </a:pPr>
            <a:r>
              <a:rPr lang="en-US" sz="2400"/>
              <a:t>What do monopolists do with this market power? Let’s take a look at the following graph.</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501" name="Rectangle 5"/>
          <p:cNvSpPr>
            <a:spLocks noChangeArrowheads="1"/>
          </p:cNvSpPr>
          <p:nvPr/>
        </p:nvSpPr>
        <p:spPr bwMode="auto">
          <a:xfrm>
            <a:off x="3419475" y="2060575"/>
            <a:ext cx="1908175" cy="431800"/>
          </a:xfrm>
          <a:prstGeom prst="rect">
            <a:avLst/>
          </a:prstGeom>
          <a:solidFill>
            <a:srgbClr val="D7EDE7"/>
          </a:solidFill>
          <a:ln w="9525">
            <a:noFill/>
            <a:miter lim="800000"/>
            <a:headEnd/>
            <a:tailEnd/>
          </a:ln>
        </p:spPr>
        <p:txBody>
          <a:bodyPr/>
          <a:lstStyle/>
          <a:p>
            <a:endParaRPr lang="en-US"/>
          </a:p>
        </p:txBody>
      </p:sp>
      <p:cxnSp>
        <p:nvCxnSpPr>
          <p:cNvPr id="548914" name="Straight Connector 86"/>
          <p:cNvCxnSpPr>
            <a:cxnSpLocks noChangeShapeType="1"/>
          </p:cNvCxnSpPr>
          <p:nvPr/>
        </p:nvCxnSpPr>
        <p:spPr bwMode="auto">
          <a:xfrm>
            <a:off x="5321300" y="1968500"/>
            <a:ext cx="0" cy="2101850"/>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3416300" y="2044700"/>
            <a:ext cx="1851025" cy="0"/>
          </a:xfrm>
          <a:prstGeom prst="line">
            <a:avLst/>
          </a:prstGeom>
          <a:noFill/>
          <a:ln w="15875">
            <a:solidFill>
              <a:srgbClr val="808080"/>
            </a:solidFill>
            <a:prstDash val="sysDot"/>
            <a:round/>
            <a:headEnd/>
            <a:tailEnd type="none" w="med" len="lg"/>
          </a:ln>
        </p:spPr>
      </p:cxnSp>
      <p:cxnSp>
        <p:nvCxnSpPr>
          <p:cNvPr id="37892" name="Straight Connector 86"/>
          <p:cNvCxnSpPr>
            <a:cxnSpLocks noChangeShapeType="1"/>
          </p:cNvCxnSpPr>
          <p:nvPr/>
        </p:nvCxnSpPr>
        <p:spPr bwMode="auto">
          <a:xfrm>
            <a:off x="3416300" y="2501900"/>
            <a:ext cx="2590800" cy="0"/>
          </a:xfrm>
          <a:prstGeom prst="line">
            <a:avLst/>
          </a:prstGeom>
          <a:noFill/>
          <a:ln w="15875">
            <a:solidFill>
              <a:srgbClr val="808080"/>
            </a:solidFill>
            <a:prstDash val="sysDot"/>
            <a:round/>
            <a:headEnd/>
            <a:tailEnd type="none" w="med" len="lg"/>
          </a:ln>
        </p:spPr>
      </p:cxnSp>
      <p:cxnSp>
        <p:nvCxnSpPr>
          <p:cNvPr id="37893" name="Straight Connector 86"/>
          <p:cNvCxnSpPr>
            <a:cxnSpLocks noChangeShapeType="1"/>
          </p:cNvCxnSpPr>
          <p:nvPr/>
        </p:nvCxnSpPr>
        <p:spPr bwMode="auto">
          <a:xfrm>
            <a:off x="6007100" y="2501900"/>
            <a:ext cx="0" cy="1524000"/>
          </a:xfrm>
          <a:prstGeom prst="line">
            <a:avLst/>
          </a:prstGeom>
          <a:noFill/>
          <a:ln w="15875">
            <a:solidFill>
              <a:srgbClr val="808080"/>
            </a:solidFill>
            <a:prstDash val="sysDot"/>
            <a:round/>
            <a:headEnd/>
            <a:tailEnd type="none" w="med" len="lg"/>
          </a:ln>
        </p:spPr>
      </p:cxnSp>
      <p:sp>
        <p:nvSpPr>
          <p:cNvPr id="222210" name="Rectangle 2"/>
          <p:cNvSpPr>
            <a:spLocks noGrp="1" noRot="1" noChangeArrowheads="1"/>
          </p:cNvSpPr>
          <p:nvPr>
            <p:ph type="title" idx="4294967295"/>
          </p:nvPr>
        </p:nvSpPr>
        <p:spPr>
          <a:xfrm>
            <a:off x="971550" y="60325"/>
            <a:ext cx="7904163" cy="555625"/>
          </a:xfrm>
        </p:spPr>
        <p:txBody>
          <a:bodyPr/>
          <a:lstStyle/>
          <a:p>
            <a:pPr>
              <a:defRPr/>
            </a:pPr>
            <a:r>
              <a:rPr lang="en-US" dirty="0" smtClean="0"/>
              <a:t>What a Monopolist Does</a:t>
            </a:r>
          </a:p>
        </p:txBody>
      </p:sp>
      <p:sp>
        <p:nvSpPr>
          <p:cNvPr id="222240" name="Freeform 32"/>
          <p:cNvSpPr>
            <a:spLocks/>
          </p:cNvSpPr>
          <p:nvPr/>
        </p:nvSpPr>
        <p:spPr bwMode="auto">
          <a:xfrm>
            <a:off x="1206500" y="1943100"/>
            <a:ext cx="1425575" cy="528638"/>
          </a:xfrm>
          <a:custGeom>
            <a:avLst/>
            <a:gdLst>
              <a:gd name="T0" fmla="*/ 2147483647 w 187"/>
              <a:gd name="T1" fmla="*/ 2147483647 h 98"/>
              <a:gd name="T2" fmla="*/ 2147483647 w 187"/>
              <a:gd name="T3" fmla="*/ 2147483647 h 98"/>
              <a:gd name="T4" fmla="*/ 2147483647 w 187"/>
              <a:gd name="T5" fmla="*/ 2147483647 h 98"/>
              <a:gd name="T6" fmla="*/ 0 w 187"/>
              <a:gd name="T7" fmla="*/ 2147483647 h 98"/>
              <a:gd name="T8" fmla="*/ 0 w 187"/>
              <a:gd name="T9" fmla="*/ 2147483647 h 98"/>
              <a:gd name="T10" fmla="*/ 2147483647 w 187"/>
              <a:gd name="T11" fmla="*/ 0 h 98"/>
              <a:gd name="T12" fmla="*/ 2147483647 w 187"/>
              <a:gd name="T13" fmla="*/ 0 h 98"/>
              <a:gd name="T14" fmla="*/ 2147483647 w 187"/>
              <a:gd name="T15" fmla="*/ 2147483647 h 98"/>
              <a:gd name="T16" fmla="*/ 2147483647 w 187"/>
              <a:gd name="T17" fmla="*/ 2147483647 h 9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98"/>
              <a:gd name="T29" fmla="*/ 187 w 187"/>
              <a:gd name="T30" fmla="*/ 98 h 9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98">
                <a:moveTo>
                  <a:pt x="187" y="82"/>
                </a:moveTo>
                <a:cubicBezTo>
                  <a:pt x="187" y="91"/>
                  <a:pt x="180" y="98"/>
                  <a:pt x="171" y="98"/>
                </a:cubicBezTo>
                <a:cubicBezTo>
                  <a:pt x="16" y="98"/>
                  <a:pt x="16" y="98"/>
                  <a:pt x="16" y="98"/>
                </a:cubicBezTo>
                <a:cubicBezTo>
                  <a:pt x="8" y="98"/>
                  <a:pt x="0" y="91"/>
                  <a:pt x="0" y="82"/>
                </a:cubicBezTo>
                <a:cubicBezTo>
                  <a:pt x="0" y="16"/>
                  <a:pt x="0" y="16"/>
                  <a:pt x="0" y="16"/>
                </a:cubicBezTo>
                <a:cubicBezTo>
                  <a:pt x="0" y="7"/>
                  <a:pt x="8" y="0"/>
                  <a:pt x="16" y="0"/>
                </a:cubicBezTo>
                <a:cubicBezTo>
                  <a:pt x="171" y="0"/>
                  <a:pt x="171" y="0"/>
                  <a:pt x="171" y="0"/>
                </a:cubicBezTo>
                <a:cubicBezTo>
                  <a:pt x="180" y="0"/>
                  <a:pt x="187" y="7"/>
                  <a:pt x="187" y="16"/>
                </a:cubicBezTo>
                <a:lnTo>
                  <a:pt x="187" y="82"/>
                </a:lnTo>
                <a:close/>
              </a:path>
            </a:pathLst>
          </a:custGeom>
          <a:solidFill>
            <a:srgbClr val="D7E2E0"/>
          </a:solidFill>
          <a:ln w="9525">
            <a:noFill/>
            <a:round/>
            <a:headEnd/>
            <a:tailEnd/>
          </a:ln>
        </p:spPr>
        <p:txBody>
          <a:bodyPr/>
          <a:lstStyle/>
          <a:p>
            <a:endParaRPr lang="en-US"/>
          </a:p>
        </p:txBody>
      </p:sp>
      <p:sp>
        <p:nvSpPr>
          <p:cNvPr id="222214" name="Rectangle 6"/>
          <p:cNvSpPr>
            <a:spLocks noChangeArrowheads="1"/>
          </p:cNvSpPr>
          <p:nvPr/>
        </p:nvSpPr>
        <p:spPr bwMode="auto">
          <a:xfrm>
            <a:off x="5245100" y="1739900"/>
            <a:ext cx="1492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37897" name="Rectangle 7"/>
          <p:cNvSpPr>
            <a:spLocks noChangeArrowheads="1"/>
          </p:cNvSpPr>
          <p:nvPr/>
        </p:nvSpPr>
        <p:spPr bwMode="auto">
          <a:xfrm>
            <a:off x="6084888" y="222885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37898" name="Rectangle 8"/>
          <p:cNvSpPr>
            <a:spLocks noChangeArrowheads="1"/>
          </p:cNvSpPr>
          <p:nvPr/>
        </p:nvSpPr>
        <p:spPr bwMode="auto">
          <a:xfrm>
            <a:off x="8259763" y="16446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S</a:t>
            </a:r>
            <a:endParaRPr lang="en-US" sz="1400" i="1">
              <a:latin typeface="Tahoma" pitchFamily="34" charset="0"/>
            </a:endParaRPr>
          </a:p>
        </p:txBody>
      </p:sp>
      <p:sp>
        <p:nvSpPr>
          <p:cNvPr id="37899" name="Rectangle 9"/>
          <p:cNvSpPr>
            <a:spLocks noChangeArrowheads="1"/>
          </p:cNvSpPr>
          <p:nvPr/>
        </p:nvSpPr>
        <p:spPr bwMode="auto">
          <a:xfrm>
            <a:off x="6997700" y="318770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37900" name="Rectangle 10"/>
          <p:cNvSpPr>
            <a:spLocks noChangeArrowheads="1"/>
          </p:cNvSpPr>
          <p:nvPr/>
        </p:nvSpPr>
        <p:spPr bwMode="auto">
          <a:xfrm>
            <a:off x="6021388" y="4067175"/>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37901" name="Rectangle 11"/>
          <p:cNvSpPr>
            <a:spLocks noChangeArrowheads="1"/>
          </p:cNvSpPr>
          <p:nvPr/>
        </p:nvSpPr>
        <p:spPr bwMode="auto">
          <a:xfrm>
            <a:off x="6159500" y="410210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22220" name="Rectangle 12"/>
          <p:cNvSpPr>
            <a:spLocks noChangeArrowheads="1"/>
          </p:cNvSpPr>
          <p:nvPr/>
        </p:nvSpPr>
        <p:spPr bwMode="auto">
          <a:xfrm>
            <a:off x="5178425" y="4067175"/>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222221" name="Rectangle 13"/>
          <p:cNvSpPr>
            <a:spLocks noChangeArrowheads="1"/>
          </p:cNvSpPr>
          <p:nvPr/>
        </p:nvSpPr>
        <p:spPr bwMode="auto">
          <a:xfrm>
            <a:off x="5321300" y="4102100"/>
            <a:ext cx="1492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37904" name="Rectangle 14"/>
          <p:cNvSpPr>
            <a:spLocks noChangeArrowheads="1"/>
          </p:cNvSpPr>
          <p:nvPr/>
        </p:nvSpPr>
        <p:spPr bwMode="auto">
          <a:xfrm>
            <a:off x="8153400" y="4149725"/>
            <a:ext cx="66675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Quantity</a:t>
            </a:r>
            <a:endParaRPr lang="en-US" sz="1400">
              <a:latin typeface="Tahoma" pitchFamily="34" charset="0"/>
            </a:endParaRPr>
          </a:p>
        </p:txBody>
      </p:sp>
      <p:sp>
        <p:nvSpPr>
          <p:cNvPr id="37905" name="Rectangle 15"/>
          <p:cNvSpPr>
            <a:spLocks noChangeArrowheads="1"/>
          </p:cNvSpPr>
          <p:nvPr/>
        </p:nvSpPr>
        <p:spPr bwMode="auto">
          <a:xfrm>
            <a:off x="2867025" y="877888"/>
            <a:ext cx="409575"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Price</a:t>
            </a:r>
            <a:endParaRPr lang="en-US" sz="1400">
              <a:latin typeface="Tahoma" pitchFamily="34" charset="0"/>
            </a:endParaRPr>
          </a:p>
        </p:txBody>
      </p:sp>
      <p:sp>
        <p:nvSpPr>
          <p:cNvPr id="222224" name="Rectangle 16"/>
          <p:cNvSpPr>
            <a:spLocks noChangeArrowheads="1"/>
          </p:cNvSpPr>
          <p:nvPr/>
        </p:nvSpPr>
        <p:spPr bwMode="auto">
          <a:xfrm>
            <a:off x="3048000" y="17780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P</a:t>
            </a:r>
            <a:endParaRPr lang="en-US" sz="1400" i="1">
              <a:latin typeface="Tahoma" pitchFamily="34" charset="0"/>
            </a:endParaRPr>
          </a:p>
        </p:txBody>
      </p:sp>
      <p:sp>
        <p:nvSpPr>
          <p:cNvPr id="222225" name="Rectangle 17"/>
          <p:cNvSpPr>
            <a:spLocks noChangeArrowheads="1"/>
          </p:cNvSpPr>
          <p:nvPr/>
        </p:nvSpPr>
        <p:spPr bwMode="auto">
          <a:xfrm>
            <a:off x="3186113" y="1876425"/>
            <a:ext cx="1492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37908" name="Rectangle 18"/>
          <p:cNvSpPr>
            <a:spLocks noChangeArrowheads="1"/>
          </p:cNvSpPr>
          <p:nvPr/>
        </p:nvSpPr>
        <p:spPr bwMode="auto">
          <a:xfrm>
            <a:off x="3084513" y="23685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P</a:t>
            </a:r>
            <a:endParaRPr lang="en-US" sz="1400" i="1">
              <a:latin typeface="Tahoma" pitchFamily="34" charset="0"/>
            </a:endParaRPr>
          </a:p>
        </p:txBody>
      </p:sp>
      <p:sp>
        <p:nvSpPr>
          <p:cNvPr id="37909" name="Rectangle 19"/>
          <p:cNvSpPr>
            <a:spLocks noChangeArrowheads="1"/>
          </p:cNvSpPr>
          <p:nvPr/>
        </p:nvSpPr>
        <p:spPr bwMode="auto">
          <a:xfrm>
            <a:off x="3222625" y="2466975"/>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37910" name="Freeform 20"/>
          <p:cNvSpPr>
            <a:spLocks/>
          </p:cNvSpPr>
          <p:nvPr/>
        </p:nvSpPr>
        <p:spPr bwMode="auto">
          <a:xfrm>
            <a:off x="3419475" y="908050"/>
            <a:ext cx="5456238" cy="3140075"/>
          </a:xfrm>
          <a:custGeom>
            <a:avLst/>
            <a:gdLst>
              <a:gd name="T0" fmla="*/ 2147483647 w 1984"/>
              <a:gd name="T1" fmla="*/ 2147483647 h 1758"/>
              <a:gd name="T2" fmla="*/ 0 w 1984"/>
              <a:gd name="T3" fmla="*/ 2147483647 h 1758"/>
              <a:gd name="T4" fmla="*/ 0 w 1984"/>
              <a:gd name="T5" fmla="*/ 0 h 1758"/>
              <a:gd name="T6" fmla="*/ 0 60000 65536"/>
              <a:gd name="T7" fmla="*/ 0 60000 65536"/>
              <a:gd name="T8" fmla="*/ 0 60000 65536"/>
              <a:gd name="T9" fmla="*/ 0 w 1984"/>
              <a:gd name="T10" fmla="*/ 0 h 1758"/>
              <a:gd name="T11" fmla="*/ 1984 w 1984"/>
              <a:gd name="T12" fmla="*/ 1758 h 1758"/>
            </a:gdLst>
            <a:ahLst/>
            <a:cxnLst>
              <a:cxn ang="T6">
                <a:pos x="T0" y="T1"/>
              </a:cxn>
              <a:cxn ang="T7">
                <a:pos x="T2" y="T3"/>
              </a:cxn>
              <a:cxn ang="T8">
                <a:pos x="T4" y="T5"/>
              </a:cxn>
            </a:cxnLst>
            <a:rect l="T9" t="T10" r="T11" b="T12"/>
            <a:pathLst>
              <a:path w="1984" h="1758">
                <a:moveTo>
                  <a:pt x="1984" y="1758"/>
                </a:moveTo>
                <a:lnTo>
                  <a:pt x="0" y="1758"/>
                </a:lnTo>
                <a:lnTo>
                  <a:pt x="0" y="0"/>
                </a:lnTo>
              </a:path>
            </a:pathLst>
          </a:custGeom>
          <a:noFill/>
          <a:ln w="7938" cap="flat">
            <a:solidFill>
              <a:srgbClr val="000000"/>
            </a:solidFill>
            <a:prstDash val="solid"/>
            <a:miter lim="800000"/>
            <a:headEnd/>
            <a:tailEnd/>
          </a:ln>
        </p:spPr>
        <p:txBody>
          <a:bodyPr/>
          <a:lstStyle/>
          <a:p>
            <a:endParaRPr lang="en-US"/>
          </a:p>
        </p:txBody>
      </p:sp>
      <p:sp>
        <p:nvSpPr>
          <p:cNvPr id="37911" name="Line 21"/>
          <p:cNvSpPr>
            <a:spLocks noChangeShapeType="1"/>
          </p:cNvSpPr>
          <p:nvPr/>
        </p:nvSpPr>
        <p:spPr bwMode="auto">
          <a:xfrm>
            <a:off x="3840163" y="985838"/>
            <a:ext cx="3157537" cy="2193925"/>
          </a:xfrm>
          <a:prstGeom prst="line">
            <a:avLst/>
          </a:prstGeom>
          <a:noFill/>
          <a:ln w="30163">
            <a:solidFill>
              <a:srgbClr val="3C5DAA"/>
            </a:solidFill>
            <a:miter lim="800000"/>
            <a:headEnd/>
            <a:tailEnd/>
          </a:ln>
        </p:spPr>
        <p:txBody>
          <a:bodyPr/>
          <a:lstStyle/>
          <a:p>
            <a:endParaRPr lang="en-US"/>
          </a:p>
        </p:txBody>
      </p:sp>
      <p:sp>
        <p:nvSpPr>
          <p:cNvPr id="37912" name="Line 22"/>
          <p:cNvSpPr>
            <a:spLocks noChangeShapeType="1"/>
          </p:cNvSpPr>
          <p:nvPr/>
        </p:nvSpPr>
        <p:spPr bwMode="auto">
          <a:xfrm flipH="1">
            <a:off x="3721100" y="1771650"/>
            <a:ext cx="4478338" cy="1443038"/>
          </a:xfrm>
          <a:prstGeom prst="line">
            <a:avLst/>
          </a:prstGeom>
          <a:noFill/>
          <a:ln w="30163">
            <a:solidFill>
              <a:srgbClr val="EE313C"/>
            </a:solidFill>
            <a:miter lim="800000"/>
            <a:headEnd/>
            <a:tailEnd/>
          </a:ln>
        </p:spPr>
        <p:txBody>
          <a:bodyPr/>
          <a:lstStyle/>
          <a:p>
            <a:endParaRPr lang="en-US"/>
          </a:p>
        </p:txBody>
      </p:sp>
      <p:sp>
        <p:nvSpPr>
          <p:cNvPr id="37913" name="Oval 24"/>
          <p:cNvSpPr>
            <a:spLocks noChangeAspect="1" noChangeArrowheads="1"/>
          </p:cNvSpPr>
          <p:nvPr/>
        </p:nvSpPr>
        <p:spPr bwMode="auto">
          <a:xfrm>
            <a:off x="5943600" y="2425700"/>
            <a:ext cx="128588" cy="128588"/>
          </a:xfrm>
          <a:prstGeom prst="ellipse">
            <a:avLst/>
          </a:prstGeom>
          <a:solidFill>
            <a:srgbClr val="000000"/>
          </a:solidFill>
          <a:ln w="9525">
            <a:noFill/>
            <a:round/>
            <a:headEnd/>
            <a:tailEnd/>
          </a:ln>
        </p:spPr>
        <p:txBody>
          <a:bodyPr/>
          <a:lstStyle/>
          <a:p>
            <a:endParaRPr lang="en-US"/>
          </a:p>
        </p:txBody>
      </p:sp>
      <p:sp>
        <p:nvSpPr>
          <p:cNvPr id="222233" name="Line 25"/>
          <p:cNvSpPr>
            <a:spLocks noChangeShapeType="1"/>
          </p:cNvSpPr>
          <p:nvPr/>
        </p:nvSpPr>
        <p:spPr bwMode="auto">
          <a:xfrm flipV="1">
            <a:off x="2924175" y="1955800"/>
            <a:ext cx="0" cy="522288"/>
          </a:xfrm>
          <a:prstGeom prst="line">
            <a:avLst/>
          </a:prstGeom>
          <a:noFill/>
          <a:ln w="11176">
            <a:solidFill>
              <a:srgbClr val="000000"/>
            </a:solidFill>
            <a:miter lim="800000"/>
            <a:headEnd/>
            <a:tailEnd type="arrow" w="med" len="med"/>
          </a:ln>
        </p:spPr>
        <p:txBody>
          <a:bodyPr/>
          <a:lstStyle/>
          <a:p>
            <a:endParaRPr lang="en-US"/>
          </a:p>
        </p:txBody>
      </p:sp>
      <p:sp>
        <p:nvSpPr>
          <p:cNvPr id="222235" name="Line 27"/>
          <p:cNvSpPr>
            <a:spLocks noChangeShapeType="1"/>
          </p:cNvSpPr>
          <p:nvPr/>
        </p:nvSpPr>
        <p:spPr bwMode="auto">
          <a:xfrm flipH="1">
            <a:off x="5321300" y="4330700"/>
            <a:ext cx="714375" cy="0"/>
          </a:xfrm>
          <a:prstGeom prst="line">
            <a:avLst/>
          </a:prstGeom>
          <a:noFill/>
          <a:ln w="11176">
            <a:solidFill>
              <a:srgbClr val="000000"/>
            </a:solidFill>
            <a:miter lim="800000"/>
            <a:headEnd/>
            <a:tailEnd type="arrow" w="med" len="med"/>
          </a:ln>
        </p:spPr>
        <p:txBody>
          <a:bodyPr/>
          <a:lstStyle/>
          <a:p>
            <a:endParaRPr lang="en-US"/>
          </a:p>
        </p:txBody>
      </p:sp>
      <p:sp>
        <p:nvSpPr>
          <p:cNvPr id="222237" name="Line 29"/>
          <p:cNvSpPr>
            <a:spLocks noChangeShapeType="1"/>
          </p:cNvSpPr>
          <p:nvPr/>
        </p:nvSpPr>
        <p:spPr bwMode="auto">
          <a:xfrm>
            <a:off x="2600325" y="2182813"/>
            <a:ext cx="276225" cy="0"/>
          </a:xfrm>
          <a:prstGeom prst="line">
            <a:avLst/>
          </a:prstGeom>
          <a:noFill/>
          <a:ln w="7938">
            <a:solidFill>
              <a:srgbClr val="000000"/>
            </a:solidFill>
            <a:miter lim="800000"/>
            <a:headEnd/>
            <a:tailEnd/>
          </a:ln>
        </p:spPr>
        <p:txBody>
          <a:bodyPr/>
          <a:lstStyle/>
          <a:p>
            <a:endParaRPr lang="en-US"/>
          </a:p>
        </p:txBody>
      </p:sp>
      <p:sp>
        <p:nvSpPr>
          <p:cNvPr id="222238" name="Line 30"/>
          <p:cNvSpPr>
            <a:spLocks noChangeShapeType="1"/>
          </p:cNvSpPr>
          <p:nvPr/>
        </p:nvSpPr>
        <p:spPr bwMode="auto">
          <a:xfrm>
            <a:off x="5702300" y="4330700"/>
            <a:ext cx="0" cy="180975"/>
          </a:xfrm>
          <a:prstGeom prst="line">
            <a:avLst/>
          </a:prstGeom>
          <a:noFill/>
          <a:ln w="7938">
            <a:solidFill>
              <a:srgbClr val="000000"/>
            </a:solidFill>
            <a:miter lim="800000"/>
            <a:headEnd/>
            <a:tailEnd/>
          </a:ln>
        </p:spPr>
        <p:txBody>
          <a:bodyPr/>
          <a:lstStyle/>
          <a:p>
            <a:endParaRPr lang="en-US"/>
          </a:p>
        </p:txBody>
      </p:sp>
      <p:sp>
        <p:nvSpPr>
          <p:cNvPr id="222239" name="Freeform 31"/>
          <p:cNvSpPr>
            <a:spLocks/>
          </p:cNvSpPr>
          <p:nvPr/>
        </p:nvSpPr>
        <p:spPr bwMode="auto">
          <a:xfrm>
            <a:off x="4483100" y="4483100"/>
            <a:ext cx="2286000" cy="722313"/>
          </a:xfrm>
          <a:custGeom>
            <a:avLst/>
            <a:gdLst>
              <a:gd name="T0" fmla="*/ 2147483647 w 386"/>
              <a:gd name="T1" fmla="*/ 2147483647 h 135"/>
              <a:gd name="T2" fmla="*/ 2147483647 w 386"/>
              <a:gd name="T3" fmla="*/ 2147483647 h 135"/>
              <a:gd name="T4" fmla="*/ 2147483647 w 386"/>
              <a:gd name="T5" fmla="*/ 2147483647 h 135"/>
              <a:gd name="T6" fmla="*/ 0 w 386"/>
              <a:gd name="T7" fmla="*/ 2147483647 h 135"/>
              <a:gd name="T8" fmla="*/ 0 w 386"/>
              <a:gd name="T9" fmla="*/ 2147483647 h 135"/>
              <a:gd name="T10" fmla="*/ 2147483647 w 386"/>
              <a:gd name="T11" fmla="*/ 0 h 135"/>
              <a:gd name="T12" fmla="*/ 2147483647 w 386"/>
              <a:gd name="T13" fmla="*/ 0 h 135"/>
              <a:gd name="T14" fmla="*/ 2147483647 w 386"/>
              <a:gd name="T15" fmla="*/ 2147483647 h 135"/>
              <a:gd name="T16" fmla="*/ 2147483647 w 386"/>
              <a:gd name="T17" fmla="*/ 2147483647 h 1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6"/>
              <a:gd name="T28" fmla="*/ 0 h 135"/>
              <a:gd name="T29" fmla="*/ 386 w 386"/>
              <a:gd name="T30" fmla="*/ 135 h 13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6" h="135">
                <a:moveTo>
                  <a:pt x="386" y="119"/>
                </a:moveTo>
                <a:cubicBezTo>
                  <a:pt x="386" y="127"/>
                  <a:pt x="379" y="135"/>
                  <a:pt x="370" y="135"/>
                </a:cubicBezTo>
                <a:cubicBezTo>
                  <a:pt x="16" y="135"/>
                  <a:pt x="16" y="135"/>
                  <a:pt x="16" y="135"/>
                </a:cubicBezTo>
                <a:cubicBezTo>
                  <a:pt x="7" y="135"/>
                  <a:pt x="0" y="127"/>
                  <a:pt x="0" y="119"/>
                </a:cubicBezTo>
                <a:cubicBezTo>
                  <a:pt x="0" y="16"/>
                  <a:pt x="0" y="16"/>
                  <a:pt x="0" y="16"/>
                </a:cubicBezTo>
                <a:cubicBezTo>
                  <a:pt x="0" y="7"/>
                  <a:pt x="7" y="0"/>
                  <a:pt x="16" y="0"/>
                </a:cubicBezTo>
                <a:cubicBezTo>
                  <a:pt x="370" y="0"/>
                  <a:pt x="370" y="0"/>
                  <a:pt x="370" y="0"/>
                </a:cubicBezTo>
                <a:cubicBezTo>
                  <a:pt x="379" y="0"/>
                  <a:pt x="386" y="7"/>
                  <a:pt x="386" y="16"/>
                </a:cubicBezTo>
                <a:lnTo>
                  <a:pt x="386" y="119"/>
                </a:lnTo>
                <a:close/>
              </a:path>
            </a:pathLst>
          </a:custGeom>
          <a:solidFill>
            <a:srgbClr val="D7E2E0"/>
          </a:solidFill>
          <a:ln w="9525">
            <a:noFill/>
            <a:round/>
            <a:headEnd/>
            <a:tailEnd/>
          </a:ln>
        </p:spPr>
        <p:txBody>
          <a:bodyPr/>
          <a:lstStyle/>
          <a:p>
            <a:endParaRPr lang="en-US"/>
          </a:p>
        </p:txBody>
      </p:sp>
      <p:sp>
        <p:nvSpPr>
          <p:cNvPr id="222241" name="Rectangle 33"/>
          <p:cNvSpPr>
            <a:spLocks noChangeArrowheads="1"/>
          </p:cNvSpPr>
          <p:nvPr/>
        </p:nvSpPr>
        <p:spPr bwMode="auto">
          <a:xfrm>
            <a:off x="1249363" y="2000250"/>
            <a:ext cx="1381125" cy="42545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If prices are forced up …</a:t>
            </a:r>
            <a:endParaRPr lang="en-US" sz="1400">
              <a:latin typeface="Tahoma" pitchFamily="34" charset="0"/>
            </a:endParaRPr>
          </a:p>
        </p:txBody>
      </p:sp>
      <p:sp>
        <p:nvSpPr>
          <p:cNvPr id="222250" name="Rectangle 42"/>
          <p:cNvSpPr>
            <a:spLocks noChangeArrowheads="1"/>
          </p:cNvSpPr>
          <p:nvPr/>
        </p:nvSpPr>
        <p:spPr bwMode="auto">
          <a:xfrm>
            <a:off x="4578350" y="4659313"/>
            <a:ext cx="2133600" cy="42545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The quantity sold in the market will fall.</a:t>
            </a:r>
            <a:endParaRPr lang="en-US" sz="1400">
              <a:latin typeface="Tahoma" pitchFamily="34" charset="0"/>
            </a:endParaRPr>
          </a:p>
        </p:txBody>
      </p:sp>
      <p:sp>
        <p:nvSpPr>
          <p:cNvPr id="80909" name="Text Box 13"/>
          <p:cNvSpPr txBox="1">
            <a:spLocks noChangeArrowheads="1"/>
          </p:cNvSpPr>
          <p:nvPr/>
        </p:nvSpPr>
        <p:spPr bwMode="auto">
          <a:xfrm>
            <a:off x="900113" y="2924175"/>
            <a:ext cx="2441575" cy="3276600"/>
          </a:xfrm>
          <a:prstGeom prst="rect">
            <a:avLst/>
          </a:prstGeom>
          <a:solidFill>
            <a:schemeClr val="accent5">
              <a:lumMod val="20000"/>
              <a:lumOff val="80000"/>
            </a:schemeClr>
          </a:solidFill>
          <a:ln w="12700" algn="ctr">
            <a:noFill/>
            <a:miter lim="800000"/>
            <a:headEnd/>
            <a:tailEnd type="none" w="sm" len="lg"/>
          </a:ln>
        </p:spPr>
        <p:txBody>
          <a:bodyPr anchor="ctr"/>
          <a:lstStyle/>
          <a:p>
            <a:pPr marL="1588" indent="-1588" algn="ctr">
              <a:defRPr/>
            </a:pPr>
            <a:r>
              <a:rPr lang="en-US" sz="2000">
                <a:solidFill>
                  <a:srgbClr val="0033CC"/>
                </a:solidFill>
              </a:rPr>
              <a:t>Equilibrium in a competitive market is at </a:t>
            </a:r>
            <a:r>
              <a:rPr lang="en-US" sz="2000" i="1">
                <a:solidFill>
                  <a:srgbClr val="0033CC"/>
                </a:solidFill>
              </a:rPr>
              <a:t>C</a:t>
            </a:r>
            <a:r>
              <a:rPr lang="en-US" sz="2000">
                <a:solidFill>
                  <a:srgbClr val="0033CC"/>
                </a:solidFill>
              </a:rPr>
              <a:t>, where the price is </a:t>
            </a:r>
            <a:r>
              <a:rPr lang="en-US" sz="2000" i="1">
                <a:solidFill>
                  <a:srgbClr val="0033CC"/>
                </a:solidFill>
              </a:rPr>
              <a:t>P</a:t>
            </a:r>
            <a:r>
              <a:rPr lang="en-US" sz="2000" i="1" baseline="-20000">
                <a:solidFill>
                  <a:srgbClr val="0033CC"/>
                </a:solidFill>
              </a:rPr>
              <a:t>C</a:t>
            </a:r>
            <a:r>
              <a:rPr lang="en-US" sz="2000" i="1">
                <a:solidFill>
                  <a:srgbClr val="0033CC"/>
                </a:solidFill>
              </a:rPr>
              <a:t> </a:t>
            </a:r>
            <a:r>
              <a:rPr lang="en-US" sz="2000">
                <a:solidFill>
                  <a:srgbClr val="0033CC"/>
                </a:solidFill>
              </a:rPr>
              <a:t>and the quantity is </a:t>
            </a:r>
            <a:r>
              <a:rPr lang="en-US" sz="2000" i="1">
                <a:solidFill>
                  <a:srgbClr val="0033CC"/>
                </a:solidFill>
              </a:rPr>
              <a:t>Q</a:t>
            </a:r>
            <a:r>
              <a:rPr lang="en-US" sz="2000" i="1" baseline="-20000">
                <a:solidFill>
                  <a:srgbClr val="0033CC"/>
                </a:solidFill>
              </a:rPr>
              <a:t>C</a:t>
            </a:r>
            <a:r>
              <a:rPr lang="en-US" sz="2000">
                <a:solidFill>
                  <a:srgbClr val="0033CC"/>
                </a:solidFill>
              </a:rPr>
              <a:t>. </a:t>
            </a:r>
            <a:br>
              <a:rPr lang="en-US" sz="2000">
                <a:solidFill>
                  <a:srgbClr val="0033CC"/>
                </a:solidFill>
              </a:rPr>
            </a:br>
            <a:r>
              <a:rPr lang="en-US" sz="2000">
                <a:solidFill>
                  <a:srgbClr val="0033CC"/>
                </a:solidFill>
              </a:rPr>
              <a:t>If prices are forced up (e.g. by the government), the producers would earn higher profits.</a:t>
            </a:r>
          </a:p>
        </p:txBody>
      </p:sp>
      <p:sp>
        <p:nvSpPr>
          <p:cNvPr id="222257" name="Oval 49"/>
          <p:cNvSpPr>
            <a:spLocks noChangeAspect="1" noChangeArrowheads="1"/>
          </p:cNvSpPr>
          <p:nvPr/>
        </p:nvSpPr>
        <p:spPr bwMode="auto">
          <a:xfrm>
            <a:off x="5245100" y="1968500"/>
            <a:ext cx="128588" cy="128588"/>
          </a:xfrm>
          <a:prstGeom prst="ellipse">
            <a:avLst/>
          </a:prstGeom>
          <a:solidFill>
            <a:srgbClr val="000000"/>
          </a:solidFill>
          <a:ln w="9525">
            <a:noFill/>
            <a:round/>
            <a:headEnd/>
            <a:tailEnd/>
          </a:ln>
        </p:spPr>
        <p:txBody>
          <a:bodyPr/>
          <a:lstStyle/>
          <a:p>
            <a:endParaRPr lang="en-US"/>
          </a:p>
        </p:txBody>
      </p:sp>
      <p:sp>
        <p:nvSpPr>
          <p:cNvPr id="222258" name="Line 50"/>
          <p:cNvSpPr>
            <a:spLocks noChangeShapeType="1"/>
          </p:cNvSpPr>
          <p:nvPr/>
        </p:nvSpPr>
        <p:spPr bwMode="auto">
          <a:xfrm flipH="1" flipV="1">
            <a:off x="5530850" y="1989138"/>
            <a:ext cx="457200" cy="317500"/>
          </a:xfrm>
          <a:prstGeom prst="line">
            <a:avLst/>
          </a:prstGeom>
          <a:noFill/>
          <a:ln w="25400">
            <a:solidFill>
              <a:schemeClr val="tx1"/>
            </a:solidFill>
            <a:round/>
            <a:headEnd/>
            <a:tailEnd type="triangle" w="med" len="lg"/>
          </a:ln>
        </p:spPr>
        <p:txBody>
          <a:bodyPr/>
          <a:lstStyle/>
          <a:p>
            <a:endParaRPr lang="en-US"/>
          </a:p>
        </p:txBody>
      </p:sp>
      <p:sp>
        <p:nvSpPr>
          <p:cNvPr id="234534" name="Rectangle 38"/>
          <p:cNvSpPr>
            <a:spLocks noChangeArrowheads="1"/>
          </p:cNvSpPr>
          <p:nvPr/>
        </p:nvSpPr>
        <p:spPr bwMode="auto">
          <a:xfrm>
            <a:off x="3743325" y="2171700"/>
            <a:ext cx="1341438" cy="212725"/>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Additional profit</a:t>
            </a:r>
            <a:endParaRPr lang="en-US" sz="1400">
              <a:latin typeface="Tahoma"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0909"/>
                                        </p:tgtEl>
                                        <p:attrNameLst>
                                          <p:attrName>style.visibility</p:attrName>
                                        </p:attrNameLst>
                                      </p:cBhvr>
                                      <p:to>
                                        <p:strVal val="visible"/>
                                      </p:to>
                                    </p:set>
                                    <p:animEffect transition="in" filter="box(in)">
                                      <p:cBhvr>
                                        <p:cTn id="7" dur="500"/>
                                        <p:tgtEl>
                                          <p:spTgt spid="8090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22258"/>
                                        </p:tgtEl>
                                        <p:attrNameLst>
                                          <p:attrName>style.visibility</p:attrName>
                                        </p:attrNameLst>
                                      </p:cBhvr>
                                      <p:to>
                                        <p:strVal val="visible"/>
                                      </p:to>
                                    </p:set>
                                    <p:animEffect transition="in" filter="wipe(down)">
                                      <p:cBhvr>
                                        <p:cTn id="12" dur="500"/>
                                        <p:tgtEl>
                                          <p:spTgt spid="222258"/>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500"/>
                                        <p:tgtEl>
                                          <p:spTgt spid="2"/>
                                        </p:tgtEl>
                                      </p:cBhvr>
                                    </p:animEffect>
                                  </p:childTnLst>
                                </p:cTn>
                              </p:par>
                              <p:par>
                                <p:cTn id="17" presetID="1" presetClass="entr" presetSubtype="0" fill="hold" grpId="0" nodeType="withEffect">
                                  <p:stCondLst>
                                    <p:cond delay="0"/>
                                  </p:stCondLst>
                                  <p:childTnLst>
                                    <p:set>
                                      <p:cBhvr>
                                        <p:cTn id="18" dur="1" fill="hold">
                                          <p:stCondLst>
                                            <p:cond delay="0"/>
                                          </p:stCondLst>
                                        </p:cTn>
                                        <p:tgtEl>
                                          <p:spTgt spid="2222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22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22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2225"/>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1" fill="hold" nodeType="afterEffect">
                                  <p:stCondLst>
                                    <p:cond delay="0"/>
                                  </p:stCondLst>
                                  <p:childTnLst>
                                    <p:set>
                                      <p:cBhvr>
                                        <p:cTn id="27" dur="1" fill="hold">
                                          <p:stCondLst>
                                            <p:cond delay="0"/>
                                          </p:stCondLst>
                                        </p:cTn>
                                        <p:tgtEl>
                                          <p:spTgt spid="548914"/>
                                        </p:tgtEl>
                                        <p:attrNameLst>
                                          <p:attrName>style.visibility</p:attrName>
                                        </p:attrNameLst>
                                      </p:cBhvr>
                                      <p:to>
                                        <p:strVal val="visible"/>
                                      </p:to>
                                    </p:set>
                                    <p:animEffect transition="in" filter="wipe(up)">
                                      <p:cBhvr>
                                        <p:cTn id="28" dur="500"/>
                                        <p:tgtEl>
                                          <p:spTgt spid="548914"/>
                                        </p:tgtEl>
                                      </p:cBhvr>
                                    </p:animEffect>
                                  </p:childTnLst>
                                </p:cTn>
                              </p:par>
                              <p:par>
                                <p:cTn id="29" presetID="1" presetClass="entr" presetSubtype="0" fill="hold" grpId="0" nodeType="withEffect">
                                  <p:stCondLst>
                                    <p:cond delay="0"/>
                                  </p:stCondLst>
                                  <p:childTnLst>
                                    <p:set>
                                      <p:cBhvr>
                                        <p:cTn id="30" dur="1" fill="hold">
                                          <p:stCondLst>
                                            <p:cond delay="0"/>
                                          </p:stCondLst>
                                        </p:cTn>
                                        <p:tgtEl>
                                          <p:spTgt spid="2222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22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22235"/>
                                        </p:tgtEl>
                                        <p:attrNameLst>
                                          <p:attrName>style.visibility</p:attrName>
                                        </p:attrNameLst>
                                      </p:cBhvr>
                                      <p:to>
                                        <p:strVal val="visible"/>
                                      </p:to>
                                    </p:set>
                                    <p:animEffect transition="in" filter="wipe(down)">
                                      <p:cBhvr>
                                        <p:cTn id="37" dur="500"/>
                                        <p:tgtEl>
                                          <p:spTgt spid="222235"/>
                                        </p:tgtEl>
                                      </p:cBhvr>
                                    </p:animEffect>
                                  </p:childTnLst>
                                </p:cTn>
                              </p:par>
                              <p:par>
                                <p:cTn id="38" presetID="22" presetClass="entr" presetSubtype="2" fill="hold" grpId="0" nodeType="withEffect">
                                  <p:stCondLst>
                                    <p:cond delay="0"/>
                                  </p:stCondLst>
                                  <p:childTnLst>
                                    <p:set>
                                      <p:cBhvr>
                                        <p:cTn id="39" dur="1" fill="hold">
                                          <p:stCondLst>
                                            <p:cond delay="0"/>
                                          </p:stCondLst>
                                        </p:cTn>
                                        <p:tgtEl>
                                          <p:spTgt spid="222238"/>
                                        </p:tgtEl>
                                        <p:attrNameLst>
                                          <p:attrName>style.visibility</p:attrName>
                                        </p:attrNameLst>
                                      </p:cBhvr>
                                      <p:to>
                                        <p:strVal val="visible"/>
                                      </p:to>
                                    </p:set>
                                    <p:animEffect transition="in" filter="wipe(right)">
                                      <p:cBhvr>
                                        <p:cTn id="40" dur="500"/>
                                        <p:tgtEl>
                                          <p:spTgt spid="222238"/>
                                        </p:tgtEl>
                                      </p:cBhvr>
                                    </p:animEffect>
                                  </p:childTnLst>
                                </p:cTn>
                              </p:par>
                              <p:par>
                                <p:cTn id="41" presetID="22" presetClass="entr" presetSubtype="2" fill="hold" grpId="0" nodeType="withEffect">
                                  <p:stCondLst>
                                    <p:cond delay="0"/>
                                  </p:stCondLst>
                                  <p:childTnLst>
                                    <p:set>
                                      <p:cBhvr>
                                        <p:cTn id="42" dur="1" fill="hold">
                                          <p:stCondLst>
                                            <p:cond delay="0"/>
                                          </p:stCondLst>
                                        </p:cTn>
                                        <p:tgtEl>
                                          <p:spTgt spid="222250"/>
                                        </p:tgtEl>
                                        <p:attrNameLst>
                                          <p:attrName>style.visibility</p:attrName>
                                        </p:attrNameLst>
                                      </p:cBhvr>
                                      <p:to>
                                        <p:strVal val="visible"/>
                                      </p:to>
                                    </p:set>
                                    <p:animEffect transition="in" filter="wipe(right)">
                                      <p:cBhvr>
                                        <p:cTn id="43" dur="500"/>
                                        <p:tgtEl>
                                          <p:spTgt spid="222250"/>
                                        </p:tgtEl>
                                      </p:cBhvr>
                                    </p:animEffect>
                                  </p:childTnLst>
                                </p:cTn>
                              </p:par>
                              <p:par>
                                <p:cTn id="44" presetID="22" presetClass="entr" presetSubtype="2" fill="hold" grpId="0" nodeType="withEffect">
                                  <p:stCondLst>
                                    <p:cond delay="0"/>
                                  </p:stCondLst>
                                  <p:childTnLst>
                                    <p:set>
                                      <p:cBhvr>
                                        <p:cTn id="45" dur="1" fill="hold">
                                          <p:stCondLst>
                                            <p:cond delay="0"/>
                                          </p:stCondLst>
                                        </p:cTn>
                                        <p:tgtEl>
                                          <p:spTgt spid="222239"/>
                                        </p:tgtEl>
                                        <p:attrNameLst>
                                          <p:attrName>style.visibility</p:attrName>
                                        </p:attrNameLst>
                                      </p:cBhvr>
                                      <p:to>
                                        <p:strVal val="visible"/>
                                      </p:to>
                                    </p:set>
                                    <p:animEffect transition="in" filter="wipe(right)">
                                      <p:cBhvr>
                                        <p:cTn id="46" dur="500"/>
                                        <p:tgtEl>
                                          <p:spTgt spid="222239"/>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222233"/>
                                        </p:tgtEl>
                                        <p:attrNameLst>
                                          <p:attrName>style.visibility</p:attrName>
                                        </p:attrNameLst>
                                      </p:cBhvr>
                                      <p:to>
                                        <p:strVal val="visible"/>
                                      </p:to>
                                    </p:set>
                                    <p:animEffect transition="in" filter="wipe(down)">
                                      <p:cBhvr>
                                        <p:cTn id="49" dur="500"/>
                                        <p:tgtEl>
                                          <p:spTgt spid="222233"/>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222237"/>
                                        </p:tgtEl>
                                        <p:attrNameLst>
                                          <p:attrName>style.visibility</p:attrName>
                                        </p:attrNameLst>
                                      </p:cBhvr>
                                      <p:to>
                                        <p:strVal val="visible"/>
                                      </p:to>
                                    </p:set>
                                    <p:animEffect transition="in" filter="wipe(down)">
                                      <p:cBhvr>
                                        <p:cTn id="52" dur="500"/>
                                        <p:tgtEl>
                                          <p:spTgt spid="222237"/>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222240"/>
                                        </p:tgtEl>
                                        <p:attrNameLst>
                                          <p:attrName>style.visibility</p:attrName>
                                        </p:attrNameLst>
                                      </p:cBhvr>
                                      <p:to>
                                        <p:strVal val="visible"/>
                                      </p:to>
                                    </p:set>
                                    <p:animEffect transition="in" filter="wipe(down)">
                                      <p:cBhvr>
                                        <p:cTn id="55" dur="500"/>
                                        <p:tgtEl>
                                          <p:spTgt spid="222240"/>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222241"/>
                                        </p:tgtEl>
                                        <p:attrNameLst>
                                          <p:attrName>style.visibility</p:attrName>
                                        </p:attrNameLst>
                                      </p:cBhvr>
                                      <p:to>
                                        <p:strVal val="visible"/>
                                      </p:to>
                                    </p:set>
                                    <p:animEffect transition="in" filter="wipe(down)">
                                      <p:cBhvr>
                                        <p:cTn id="58" dur="500"/>
                                        <p:tgtEl>
                                          <p:spTgt spid="222241"/>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34534"/>
                                        </p:tgtEl>
                                        <p:attrNameLst>
                                          <p:attrName>style.visibility</p:attrName>
                                        </p:attrNameLst>
                                      </p:cBhvr>
                                      <p:to>
                                        <p:strVal val="visible"/>
                                      </p:to>
                                    </p:set>
                                  </p:childTnLst>
                                </p:cTn>
                              </p:par>
                              <p:par>
                                <p:cTn id="63" presetID="13" presetClass="entr" presetSubtype="16" fill="hold" nodeType="withEffect">
                                  <p:stCondLst>
                                    <p:cond delay="0"/>
                                  </p:stCondLst>
                                  <p:childTnLst>
                                    <p:set>
                                      <p:cBhvr>
                                        <p:cTn id="64" dur="1" fill="hold">
                                          <p:stCondLst>
                                            <p:cond delay="0"/>
                                          </p:stCondLst>
                                        </p:cTn>
                                        <p:tgtEl>
                                          <p:spTgt spid="234501"/>
                                        </p:tgtEl>
                                        <p:attrNameLst>
                                          <p:attrName>style.visibility</p:attrName>
                                        </p:attrNameLst>
                                      </p:cBhvr>
                                      <p:to>
                                        <p:strVal val="visible"/>
                                      </p:to>
                                    </p:set>
                                    <p:animEffect transition="in" filter="plus(in)">
                                      <p:cBhvr>
                                        <p:cTn id="65" dur="500"/>
                                        <p:tgtEl>
                                          <p:spTgt spid="2345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40" grpId="0" animBg="1"/>
      <p:bldP spid="222214" grpId="0"/>
      <p:bldP spid="222220" grpId="0"/>
      <p:bldP spid="222221" grpId="0"/>
      <p:bldP spid="222224" grpId="0"/>
      <p:bldP spid="222225" grpId="0"/>
      <p:bldP spid="222233" grpId="0" animBg="1"/>
      <p:bldP spid="222235" grpId="0" animBg="1"/>
      <p:bldP spid="222237" grpId="0" animBg="1"/>
      <p:bldP spid="222238" grpId="0" animBg="1"/>
      <p:bldP spid="222239" grpId="0" animBg="1"/>
      <p:bldP spid="222241" grpId="0"/>
      <p:bldP spid="222250" grpId="0"/>
      <p:bldP spid="80909" grpId="0" animBg="1"/>
      <p:bldP spid="222257" grpId="0" animBg="1"/>
      <p:bldP spid="222258" grpId="0" animBg="1"/>
      <p:bldP spid="2345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48914" name="Straight Connector 86"/>
          <p:cNvCxnSpPr>
            <a:cxnSpLocks noChangeShapeType="1"/>
          </p:cNvCxnSpPr>
          <p:nvPr/>
        </p:nvCxnSpPr>
        <p:spPr bwMode="auto">
          <a:xfrm>
            <a:off x="4787900" y="1608138"/>
            <a:ext cx="0" cy="2462212"/>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3416300" y="1628775"/>
            <a:ext cx="1376363" cy="0"/>
          </a:xfrm>
          <a:prstGeom prst="line">
            <a:avLst/>
          </a:prstGeom>
          <a:noFill/>
          <a:ln w="15875">
            <a:solidFill>
              <a:srgbClr val="808080"/>
            </a:solidFill>
            <a:prstDash val="sysDot"/>
            <a:round/>
            <a:headEnd/>
            <a:tailEnd type="none" w="med" len="lg"/>
          </a:ln>
        </p:spPr>
      </p:cxnSp>
      <p:cxnSp>
        <p:nvCxnSpPr>
          <p:cNvPr id="39939" name="Straight Connector 86"/>
          <p:cNvCxnSpPr>
            <a:cxnSpLocks noChangeShapeType="1"/>
          </p:cNvCxnSpPr>
          <p:nvPr/>
        </p:nvCxnSpPr>
        <p:spPr bwMode="auto">
          <a:xfrm>
            <a:off x="3416300" y="2501900"/>
            <a:ext cx="2590800" cy="0"/>
          </a:xfrm>
          <a:prstGeom prst="line">
            <a:avLst/>
          </a:prstGeom>
          <a:noFill/>
          <a:ln w="15875">
            <a:solidFill>
              <a:srgbClr val="808080"/>
            </a:solidFill>
            <a:prstDash val="sysDot"/>
            <a:round/>
            <a:headEnd/>
            <a:tailEnd type="none" w="med" len="lg"/>
          </a:ln>
        </p:spPr>
      </p:cxnSp>
      <p:cxnSp>
        <p:nvCxnSpPr>
          <p:cNvPr id="39940" name="Straight Connector 86"/>
          <p:cNvCxnSpPr>
            <a:cxnSpLocks noChangeShapeType="1"/>
          </p:cNvCxnSpPr>
          <p:nvPr/>
        </p:nvCxnSpPr>
        <p:spPr bwMode="auto">
          <a:xfrm>
            <a:off x="6007100" y="2501900"/>
            <a:ext cx="0" cy="1524000"/>
          </a:xfrm>
          <a:prstGeom prst="line">
            <a:avLst/>
          </a:prstGeom>
          <a:noFill/>
          <a:ln w="15875">
            <a:solidFill>
              <a:srgbClr val="808080"/>
            </a:solidFill>
            <a:prstDash val="sysDot"/>
            <a:round/>
            <a:headEnd/>
            <a:tailEnd type="none" w="med" len="lg"/>
          </a:ln>
        </p:spPr>
      </p:cxnSp>
      <p:sp>
        <p:nvSpPr>
          <p:cNvPr id="222210" name="Rectangle 2"/>
          <p:cNvSpPr>
            <a:spLocks noGrp="1" noRot="1" noChangeArrowheads="1"/>
          </p:cNvSpPr>
          <p:nvPr>
            <p:ph type="title" idx="4294967295"/>
          </p:nvPr>
        </p:nvSpPr>
        <p:spPr>
          <a:xfrm>
            <a:off x="971550" y="60325"/>
            <a:ext cx="7904163" cy="555625"/>
          </a:xfrm>
        </p:spPr>
        <p:txBody>
          <a:bodyPr/>
          <a:lstStyle/>
          <a:p>
            <a:pPr>
              <a:defRPr/>
            </a:pPr>
            <a:r>
              <a:rPr lang="en-US" dirty="0" smtClean="0"/>
              <a:t>What a Monopolist Does</a:t>
            </a:r>
          </a:p>
        </p:txBody>
      </p:sp>
      <p:sp>
        <p:nvSpPr>
          <p:cNvPr id="222240" name="Freeform 32"/>
          <p:cNvSpPr>
            <a:spLocks/>
          </p:cNvSpPr>
          <p:nvPr/>
        </p:nvSpPr>
        <p:spPr bwMode="auto">
          <a:xfrm>
            <a:off x="1206500" y="1820863"/>
            <a:ext cx="1425575" cy="528637"/>
          </a:xfrm>
          <a:custGeom>
            <a:avLst/>
            <a:gdLst>
              <a:gd name="T0" fmla="*/ 2147483647 w 187"/>
              <a:gd name="T1" fmla="*/ 2147483647 h 98"/>
              <a:gd name="T2" fmla="*/ 2147483647 w 187"/>
              <a:gd name="T3" fmla="*/ 2147483647 h 98"/>
              <a:gd name="T4" fmla="*/ 2147483647 w 187"/>
              <a:gd name="T5" fmla="*/ 2147483647 h 98"/>
              <a:gd name="T6" fmla="*/ 0 w 187"/>
              <a:gd name="T7" fmla="*/ 2147483647 h 98"/>
              <a:gd name="T8" fmla="*/ 0 w 187"/>
              <a:gd name="T9" fmla="*/ 2147483647 h 98"/>
              <a:gd name="T10" fmla="*/ 2147483647 w 187"/>
              <a:gd name="T11" fmla="*/ 0 h 98"/>
              <a:gd name="T12" fmla="*/ 2147483647 w 187"/>
              <a:gd name="T13" fmla="*/ 0 h 98"/>
              <a:gd name="T14" fmla="*/ 2147483647 w 187"/>
              <a:gd name="T15" fmla="*/ 2147483647 h 98"/>
              <a:gd name="T16" fmla="*/ 2147483647 w 187"/>
              <a:gd name="T17" fmla="*/ 2147483647 h 9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7"/>
              <a:gd name="T28" fmla="*/ 0 h 98"/>
              <a:gd name="T29" fmla="*/ 187 w 187"/>
              <a:gd name="T30" fmla="*/ 98 h 9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7" h="98">
                <a:moveTo>
                  <a:pt x="187" y="82"/>
                </a:moveTo>
                <a:cubicBezTo>
                  <a:pt x="187" y="91"/>
                  <a:pt x="180" y="98"/>
                  <a:pt x="171" y="98"/>
                </a:cubicBezTo>
                <a:cubicBezTo>
                  <a:pt x="16" y="98"/>
                  <a:pt x="16" y="98"/>
                  <a:pt x="16" y="98"/>
                </a:cubicBezTo>
                <a:cubicBezTo>
                  <a:pt x="8" y="98"/>
                  <a:pt x="0" y="91"/>
                  <a:pt x="0" y="82"/>
                </a:cubicBezTo>
                <a:cubicBezTo>
                  <a:pt x="0" y="16"/>
                  <a:pt x="0" y="16"/>
                  <a:pt x="0" y="16"/>
                </a:cubicBezTo>
                <a:cubicBezTo>
                  <a:pt x="0" y="7"/>
                  <a:pt x="8" y="0"/>
                  <a:pt x="16" y="0"/>
                </a:cubicBezTo>
                <a:cubicBezTo>
                  <a:pt x="171" y="0"/>
                  <a:pt x="171" y="0"/>
                  <a:pt x="171" y="0"/>
                </a:cubicBezTo>
                <a:cubicBezTo>
                  <a:pt x="180" y="0"/>
                  <a:pt x="187" y="7"/>
                  <a:pt x="187" y="16"/>
                </a:cubicBezTo>
                <a:lnTo>
                  <a:pt x="187" y="82"/>
                </a:lnTo>
                <a:close/>
              </a:path>
            </a:pathLst>
          </a:custGeom>
          <a:solidFill>
            <a:srgbClr val="D7E2E0"/>
          </a:solidFill>
          <a:ln w="9525">
            <a:noFill/>
            <a:round/>
            <a:headEnd/>
            <a:tailEnd/>
          </a:ln>
        </p:spPr>
        <p:txBody>
          <a:bodyPr/>
          <a:lstStyle/>
          <a:p>
            <a:endParaRPr lang="en-US"/>
          </a:p>
        </p:txBody>
      </p:sp>
      <p:sp>
        <p:nvSpPr>
          <p:cNvPr id="222214" name="Rectangle 6"/>
          <p:cNvSpPr>
            <a:spLocks noChangeArrowheads="1"/>
          </p:cNvSpPr>
          <p:nvPr/>
        </p:nvSpPr>
        <p:spPr bwMode="auto">
          <a:xfrm>
            <a:off x="4722813" y="1270000"/>
            <a:ext cx="149225"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39944" name="Rectangle 7"/>
          <p:cNvSpPr>
            <a:spLocks noChangeArrowheads="1"/>
          </p:cNvSpPr>
          <p:nvPr/>
        </p:nvSpPr>
        <p:spPr bwMode="auto">
          <a:xfrm>
            <a:off x="6084888" y="222885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39945" name="Rectangle 8"/>
          <p:cNvSpPr>
            <a:spLocks noChangeArrowheads="1"/>
          </p:cNvSpPr>
          <p:nvPr/>
        </p:nvSpPr>
        <p:spPr bwMode="auto">
          <a:xfrm>
            <a:off x="8259763" y="16446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S</a:t>
            </a:r>
            <a:endParaRPr lang="en-US" sz="1400" i="1">
              <a:latin typeface="Tahoma" pitchFamily="34" charset="0"/>
            </a:endParaRPr>
          </a:p>
        </p:txBody>
      </p:sp>
      <p:sp>
        <p:nvSpPr>
          <p:cNvPr id="39946" name="Rectangle 9"/>
          <p:cNvSpPr>
            <a:spLocks noChangeArrowheads="1"/>
          </p:cNvSpPr>
          <p:nvPr/>
        </p:nvSpPr>
        <p:spPr bwMode="auto">
          <a:xfrm>
            <a:off x="6997700" y="318770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39947" name="Rectangle 10"/>
          <p:cNvSpPr>
            <a:spLocks noChangeArrowheads="1"/>
          </p:cNvSpPr>
          <p:nvPr/>
        </p:nvSpPr>
        <p:spPr bwMode="auto">
          <a:xfrm>
            <a:off x="6021388" y="4067175"/>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39948" name="Rectangle 11"/>
          <p:cNvSpPr>
            <a:spLocks noChangeArrowheads="1"/>
          </p:cNvSpPr>
          <p:nvPr/>
        </p:nvSpPr>
        <p:spPr bwMode="auto">
          <a:xfrm>
            <a:off x="6159500" y="410210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22220" name="Rectangle 12"/>
          <p:cNvSpPr>
            <a:spLocks noChangeArrowheads="1"/>
          </p:cNvSpPr>
          <p:nvPr/>
        </p:nvSpPr>
        <p:spPr bwMode="auto">
          <a:xfrm>
            <a:off x="4643438" y="4067175"/>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222221" name="Rectangle 13"/>
          <p:cNvSpPr>
            <a:spLocks noChangeArrowheads="1"/>
          </p:cNvSpPr>
          <p:nvPr/>
        </p:nvSpPr>
        <p:spPr bwMode="auto">
          <a:xfrm>
            <a:off x="4786313" y="4102100"/>
            <a:ext cx="1492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39951" name="Rectangle 14"/>
          <p:cNvSpPr>
            <a:spLocks noChangeArrowheads="1"/>
          </p:cNvSpPr>
          <p:nvPr/>
        </p:nvSpPr>
        <p:spPr bwMode="auto">
          <a:xfrm>
            <a:off x="8153400" y="4149725"/>
            <a:ext cx="66675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Quantity</a:t>
            </a:r>
            <a:endParaRPr lang="en-US" sz="1400">
              <a:latin typeface="Tahoma" pitchFamily="34" charset="0"/>
            </a:endParaRPr>
          </a:p>
        </p:txBody>
      </p:sp>
      <p:sp>
        <p:nvSpPr>
          <p:cNvPr id="39952" name="Rectangle 15"/>
          <p:cNvSpPr>
            <a:spLocks noChangeArrowheads="1"/>
          </p:cNvSpPr>
          <p:nvPr/>
        </p:nvSpPr>
        <p:spPr bwMode="auto">
          <a:xfrm>
            <a:off x="2867025" y="877888"/>
            <a:ext cx="409575"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Price</a:t>
            </a:r>
            <a:endParaRPr lang="en-US" sz="1400">
              <a:latin typeface="Tahoma" pitchFamily="34" charset="0"/>
            </a:endParaRPr>
          </a:p>
        </p:txBody>
      </p:sp>
      <p:sp>
        <p:nvSpPr>
          <p:cNvPr id="222224" name="Rectangle 16"/>
          <p:cNvSpPr>
            <a:spLocks noChangeArrowheads="1"/>
          </p:cNvSpPr>
          <p:nvPr/>
        </p:nvSpPr>
        <p:spPr bwMode="auto">
          <a:xfrm>
            <a:off x="3048000" y="1341438"/>
            <a:ext cx="120650"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P</a:t>
            </a:r>
            <a:endParaRPr lang="en-US" sz="1400" i="1">
              <a:latin typeface="Tahoma" pitchFamily="34" charset="0"/>
            </a:endParaRPr>
          </a:p>
        </p:txBody>
      </p:sp>
      <p:sp>
        <p:nvSpPr>
          <p:cNvPr id="222225" name="Rectangle 17"/>
          <p:cNvSpPr>
            <a:spLocks noChangeArrowheads="1"/>
          </p:cNvSpPr>
          <p:nvPr/>
        </p:nvSpPr>
        <p:spPr bwMode="auto">
          <a:xfrm>
            <a:off x="3186113" y="1439863"/>
            <a:ext cx="149225"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39955" name="Rectangle 18"/>
          <p:cNvSpPr>
            <a:spLocks noChangeArrowheads="1"/>
          </p:cNvSpPr>
          <p:nvPr/>
        </p:nvSpPr>
        <p:spPr bwMode="auto">
          <a:xfrm>
            <a:off x="3084513" y="23685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P</a:t>
            </a:r>
            <a:endParaRPr lang="en-US" sz="1400" i="1">
              <a:latin typeface="Tahoma" pitchFamily="34" charset="0"/>
            </a:endParaRPr>
          </a:p>
        </p:txBody>
      </p:sp>
      <p:sp>
        <p:nvSpPr>
          <p:cNvPr id="39956" name="Rectangle 19"/>
          <p:cNvSpPr>
            <a:spLocks noChangeArrowheads="1"/>
          </p:cNvSpPr>
          <p:nvPr/>
        </p:nvSpPr>
        <p:spPr bwMode="auto">
          <a:xfrm>
            <a:off x="3222625" y="2466975"/>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39957" name="Freeform 20"/>
          <p:cNvSpPr>
            <a:spLocks/>
          </p:cNvSpPr>
          <p:nvPr/>
        </p:nvSpPr>
        <p:spPr bwMode="auto">
          <a:xfrm>
            <a:off x="3419475" y="908050"/>
            <a:ext cx="5456238" cy="3140075"/>
          </a:xfrm>
          <a:custGeom>
            <a:avLst/>
            <a:gdLst>
              <a:gd name="T0" fmla="*/ 2147483647 w 1984"/>
              <a:gd name="T1" fmla="*/ 2147483647 h 1758"/>
              <a:gd name="T2" fmla="*/ 0 w 1984"/>
              <a:gd name="T3" fmla="*/ 2147483647 h 1758"/>
              <a:gd name="T4" fmla="*/ 0 w 1984"/>
              <a:gd name="T5" fmla="*/ 0 h 1758"/>
              <a:gd name="T6" fmla="*/ 0 60000 65536"/>
              <a:gd name="T7" fmla="*/ 0 60000 65536"/>
              <a:gd name="T8" fmla="*/ 0 60000 65536"/>
              <a:gd name="T9" fmla="*/ 0 w 1984"/>
              <a:gd name="T10" fmla="*/ 0 h 1758"/>
              <a:gd name="T11" fmla="*/ 1984 w 1984"/>
              <a:gd name="T12" fmla="*/ 1758 h 1758"/>
            </a:gdLst>
            <a:ahLst/>
            <a:cxnLst>
              <a:cxn ang="T6">
                <a:pos x="T0" y="T1"/>
              </a:cxn>
              <a:cxn ang="T7">
                <a:pos x="T2" y="T3"/>
              </a:cxn>
              <a:cxn ang="T8">
                <a:pos x="T4" y="T5"/>
              </a:cxn>
            </a:cxnLst>
            <a:rect l="T9" t="T10" r="T11" b="T12"/>
            <a:pathLst>
              <a:path w="1984" h="1758">
                <a:moveTo>
                  <a:pt x="1984" y="1758"/>
                </a:moveTo>
                <a:lnTo>
                  <a:pt x="0" y="1758"/>
                </a:lnTo>
                <a:lnTo>
                  <a:pt x="0" y="0"/>
                </a:lnTo>
              </a:path>
            </a:pathLst>
          </a:custGeom>
          <a:noFill/>
          <a:ln w="7938" cap="flat">
            <a:solidFill>
              <a:srgbClr val="000000"/>
            </a:solidFill>
            <a:prstDash val="solid"/>
            <a:miter lim="800000"/>
            <a:headEnd/>
            <a:tailEnd/>
          </a:ln>
        </p:spPr>
        <p:txBody>
          <a:bodyPr/>
          <a:lstStyle/>
          <a:p>
            <a:endParaRPr lang="en-US"/>
          </a:p>
        </p:txBody>
      </p:sp>
      <p:sp>
        <p:nvSpPr>
          <p:cNvPr id="39958" name="Line 21"/>
          <p:cNvSpPr>
            <a:spLocks noChangeShapeType="1"/>
          </p:cNvSpPr>
          <p:nvPr/>
        </p:nvSpPr>
        <p:spPr bwMode="auto">
          <a:xfrm>
            <a:off x="3840163" y="985838"/>
            <a:ext cx="3157537" cy="2193925"/>
          </a:xfrm>
          <a:prstGeom prst="line">
            <a:avLst/>
          </a:prstGeom>
          <a:noFill/>
          <a:ln w="30163">
            <a:solidFill>
              <a:srgbClr val="3C5DAA"/>
            </a:solidFill>
            <a:miter lim="800000"/>
            <a:headEnd/>
            <a:tailEnd/>
          </a:ln>
        </p:spPr>
        <p:txBody>
          <a:bodyPr/>
          <a:lstStyle/>
          <a:p>
            <a:endParaRPr lang="en-US"/>
          </a:p>
        </p:txBody>
      </p:sp>
      <p:sp>
        <p:nvSpPr>
          <p:cNvPr id="39959" name="Line 22"/>
          <p:cNvSpPr>
            <a:spLocks noChangeShapeType="1"/>
          </p:cNvSpPr>
          <p:nvPr/>
        </p:nvSpPr>
        <p:spPr bwMode="auto">
          <a:xfrm flipH="1">
            <a:off x="3721100" y="1771650"/>
            <a:ext cx="4478338" cy="1443038"/>
          </a:xfrm>
          <a:prstGeom prst="line">
            <a:avLst/>
          </a:prstGeom>
          <a:noFill/>
          <a:ln w="30163">
            <a:solidFill>
              <a:srgbClr val="EE313C"/>
            </a:solidFill>
            <a:miter lim="800000"/>
            <a:headEnd/>
            <a:tailEnd/>
          </a:ln>
        </p:spPr>
        <p:txBody>
          <a:bodyPr/>
          <a:lstStyle/>
          <a:p>
            <a:endParaRPr lang="en-US"/>
          </a:p>
        </p:txBody>
      </p:sp>
      <p:sp>
        <p:nvSpPr>
          <p:cNvPr id="39960" name="Oval 24"/>
          <p:cNvSpPr>
            <a:spLocks noChangeAspect="1" noChangeArrowheads="1"/>
          </p:cNvSpPr>
          <p:nvPr/>
        </p:nvSpPr>
        <p:spPr bwMode="auto">
          <a:xfrm>
            <a:off x="5943600" y="2425700"/>
            <a:ext cx="128588" cy="128588"/>
          </a:xfrm>
          <a:prstGeom prst="ellipse">
            <a:avLst/>
          </a:prstGeom>
          <a:solidFill>
            <a:srgbClr val="000000"/>
          </a:solidFill>
          <a:ln w="9525">
            <a:noFill/>
            <a:round/>
            <a:headEnd/>
            <a:tailEnd/>
          </a:ln>
        </p:spPr>
        <p:txBody>
          <a:bodyPr/>
          <a:lstStyle/>
          <a:p>
            <a:endParaRPr lang="en-US"/>
          </a:p>
        </p:txBody>
      </p:sp>
      <p:sp>
        <p:nvSpPr>
          <p:cNvPr id="222233" name="Line 25"/>
          <p:cNvSpPr>
            <a:spLocks noChangeShapeType="1"/>
          </p:cNvSpPr>
          <p:nvPr/>
        </p:nvSpPr>
        <p:spPr bwMode="auto">
          <a:xfrm flipV="1">
            <a:off x="2924175" y="1620838"/>
            <a:ext cx="0" cy="857250"/>
          </a:xfrm>
          <a:prstGeom prst="line">
            <a:avLst/>
          </a:prstGeom>
          <a:noFill/>
          <a:ln w="11176">
            <a:solidFill>
              <a:srgbClr val="000000"/>
            </a:solidFill>
            <a:miter lim="800000"/>
            <a:headEnd/>
            <a:tailEnd type="arrow" w="med" len="med"/>
          </a:ln>
        </p:spPr>
        <p:txBody>
          <a:bodyPr/>
          <a:lstStyle/>
          <a:p>
            <a:endParaRPr lang="en-US"/>
          </a:p>
        </p:txBody>
      </p:sp>
      <p:sp>
        <p:nvSpPr>
          <p:cNvPr id="222235" name="Line 27"/>
          <p:cNvSpPr>
            <a:spLocks noChangeShapeType="1"/>
          </p:cNvSpPr>
          <p:nvPr/>
        </p:nvSpPr>
        <p:spPr bwMode="auto">
          <a:xfrm flipH="1">
            <a:off x="4911725" y="4330700"/>
            <a:ext cx="1100138" cy="0"/>
          </a:xfrm>
          <a:prstGeom prst="line">
            <a:avLst/>
          </a:prstGeom>
          <a:noFill/>
          <a:ln w="11176">
            <a:solidFill>
              <a:srgbClr val="000000"/>
            </a:solidFill>
            <a:miter lim="800000"/>
            <a:headEnd/>
            <a:tailEnd type="arrow" w="med" len="med"/>
          </a:ln>
        </p:spPr>
        <p:txBody>
          <a:bodyPr/>
          <a:lstStyle/>
          <a:p>
            <a:endParaRPr lang="en-US"/>
          </a:p>
        </p:txBody>
      </p:sp>
      <p:sp>
        <p:nvSpPr>
          <p:cNvPr id="222237" name="Line 29"/>
          <p:cNvSpPr>
            <a:spLocks noChangeShapeType="1"/>
          </p:cNvSpPr>
          <p:nvPr/>
        </p:nvSpPr>
        <p:spPr bwMode="auto">
          <a:xfrm>
            <a:off x="2600325" y="2028825"/>
            <a:ext cx="276225" cy="0"/>
          </a:xfrm>
          <a:prstGeom prst="line">
            <a:avLst/>
          </a:prstGeom>
          <a:noFill/>
          <a:ln w="7938">
            <a:solidFill>
              <a:srgbClr val="000000"/>
            </a:solidFill>
            <a:miter lim="800000"/>
            <a:headEnd/>
            <a:tailEnd/>
          </a:ln>
        </p:spPr>
        <p:txBody>
          <a:bodyPr/>
          <a:lstStyle/>
          <a:p>
            <a:endParaRPr lang="en-US"/>
          </a:p>
        </p:txBody>
      </p:sp>
      <p:sp>
        <p:nvSpPr>
          <p:cNvPr id="222238" name="Line 30"/>
          <p:cNvSpPr>
            <a:spLocks noChangeShapeType="1"/>
          </p:cNvSpPr>
          <p:nvPr/>
        </p:nvSpPr>
        <p:spPr bwMode="auto">
          <a:xfrm>
            <a:off x="5470525" y="4425950"/>
            <a:ext cx="0" cy="180975"/>
          </a:xfrm>
          <a:prstGeom prst="line">
            <a:avLst/>
          </a:prstGeom>
          <a:noFill/>
          <a:ln w="7938">
            <a:solidFill>
              <a:srgbClr val="000000"/>
            </a:solidFill>
            <a:miter lim="800000"/>
            <a:headEnd/>
            <a:tailEnd/>
          </a:ln>
        </p:spPr>
        <p:txBody>
          <a:bodyPr/>
          <a:lstStyle/>
          <a:p>
            <a:endParaRPr lang="en-US"/>
          </a:p>
        </p:txBody>
      </p:sp>
      <p:sp>
        <p:nvSpPr>
          <p:cNvPr id="222239" name="Freeform 31"/>
          <p:cNvSpPr>
            <a:spLocks/>
          </p:cNvSpPr>
          <p:nvPr/>
        </p:nvSpPr>
        <p:spPr bwMode="auto">
          <a:xfrm>
            <a:off x="4356100" y="4578350"/>
            <a:ext cx="2286000" cy="722313"/>
          </a:xfrm>
          <a:custGeom>
            <a:avLst/>
            <a:gdLst>
              <a:gd name="T0" fmla="*/ 2147483647 w 386"/>
              <a:gd name="T1" fmla="*/ 2147483647 h 135"/>
              <a:gd name="T2" fmla="*/ 2147483647 w 386"/>
              <a:gd name="T3" fmla="*/ 2147483647 h 135"/>
              <a:gd name="T4" fmla="*/ 2147483647 w 386"/>
              <a:gd name="T5" fmla="*/ 2147483647 h 135"/>
              <a:gd name="T6" fmla="*/ 0 w 386"/>
              <a:gd name="T7" fmla="*/ 2147483647 h 135"/>
              <a:gd name="T8" fmla="*/ 0 w 386"/>
              <a:gd name="T9" fmla="*/ 2147483647 h 135"/>
              <a:gd name="T10" fmla="*/ 2147483647 w 386"/>
              <a:gd name="T11" fmla="*/ 0 h 135"/>
              <a:gd name="T12" fmla="*/ 2147483647 w 386"/>
              <a:gd name="T13" fmla="*/ 0 h 135"/>
              <a:gd name="T14" fmla="*/ 2147483647 w 386"/>
              <a:gd name="T15" fmla="*/ 2147483647 h 135"/>
              <a:gd name="T16" fmla="*/ 2147483647 w 386"/>
              <a:gd name="T17" fmla="*/ 2147483647 h 13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6"/>
              <a:gd name="T28" fmla="*/ 0 h 135"/>
              <a:gd name="T29" fmla="*/ 386 w 386"/>
              <a:gd name="T30" fmla="*/ 135 h 13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6" h="135">
                <a:moveTo>
                  <a:pt x="386" y="119"/>
                </a:moveTo>
                <a:cubicBezTo>
                  <a:pt x="386" y="127"/>
                  <a:pt x="379" y="135"/>
                  <a:pt x="370" y="135"/>
                </a:cubicBezTo>
                <a:cubicBezTo>
                  <a:pt x="16" y="135"/>
                  <a:pt x="16" y="135"/>
                  <a:pt x="16" y="135"/>
                </a:cubicBezTo>
                <a:cubicBezTo>
                  <a:pt x="7" y="135"/>
                  <a:pt x="0" y="127"/>
                  <a:pt x="0" y="119"/>
                </a:cubicBezTo>
                <a:cubicBezTo>
                  <a:pt x="0" y="16"/>
                  <a:pt x="0" y="16"/>
                  <a:pt x="0" y="16"/>
                </a:cubicBezTo>
                <a:cubicBezTo>
                  <a:pt x="0" y="7"/>
                  <a:pt x="7" y="0"/>
                  <a:pt x="16" y="0"/>
                </a:cubicBezTo>
                <a:cubicBezTo>
                  <a:pt x="370" y="0"/>
                  <a:pt x="370" y="0"/>
                  <a:pt x="370" y="0"/>
                </a:cubicBezTo>
                <a:cubicBezTo>
                  <a:pt x="379" y="0"/>
                  <a:pt x="386" y="7"/>
                  <a:pt x="386" y="16"/>
                </a:cubicBezTo>
                <a:lnTo>
                  <a:pt x="386" y="119"/>
                </a:lnTo>
                <a:close/>
              </a:path>
            </a:pathLst>
          </a:custGeom>
          <a:solidFill>
            <a:srgbClr val="D7E2E0"/>
          </a:solidFill>
          <a:ln w="9525">
            <a:noFill/>
            <a:round/>
            <a:headEnd/>
            <a:tailEnd/>
          </a:ln>
        </p:spPr>
        <p:txBody>
          <a:bodyPr/>
          <a:lstStyle/>
          <a:p>
            <a:endParaRPr lang="en-US"/>
          </a:p>
        </p:txBody>
      </p:sp>
      <p:sp>
        <p:nvSpPr>
          <p:cNvPr id="222241" name="Rectangle 33"/>
          <p:cNvSpPr>
            <a:spLocks noChangeArrowheads="1"/>
          </p:cNvSpPr>
          <p:nvPr/>
        </p:nvSpPr>
        <p:spPr bwMode="auto">
          <a:xfrm>
            <a:off x="1249363" y="1844675"/>
            <a:ext cx="1381125"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2. … and raises price.</a:t>
            </a:r>
            <a:endParaRPr lang="en-US" sz="1400">
              <a:latin typeface="Tahoma" pitchFamily="34" charset="0"/>
            </a:endParaRPr>
          </a:p>
        </p:txBody>
      </p:sp>
      <p:sp>
        <p:nvSpPr>
          <p:cNvPr id="222250" name="Rectangle 42"/>
          <p:cNvSpPr>
            <a:spLocks noChangeArrowheads="1"/>
          </p:cNvSpPr>
          <p:nvPr/>
        </p:nvSpPr>
        <p:spPr bwMode="auto">
          <a:xfrm>
            <a:off x="4427538" y="4583113"/>
            <a:ext cx="2133600" cy="6461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1. Compared with perfect competition, a monopolist reduces output…</a:t>
            </a:r>
            <a:endParaRPr lang="en-US" sz="1400">
              <a:latin typeface="Tahoma" pitchFamily="34" charset="0"/>
            </a:endParaRPr>
          </a:p>
        </p:txBody>
      </p:sp>
      <p:sp>
        <p:nvSpPr>
          <p:cNvPr id="80909" name="Text Box 13"/>
          <p:cNvSpPr txBox="1">
            <a:spLocks noChangeArrowheads="1"/>
          </p:cNvSpPr>
          <p:nvPr/>
        </p:nvSpPr>
        <p:spPr bwMode="auto">
          <a:xfrm>
            <a:off x="684213" y="3032125"/>
            <a:ext cx="2586037" cy="3276600"/>
          </a:xfrm>
          <a:prstGeom prst="rect">
            <a:avLst/>
          </a:prstGeom>
          <a:solidFill>
            <a:schemeClr val="accent5">
              <a:lumMod val="20000"/>
              <a:lumOff val="80000"/>
            </a:schemeClr>
          </a:solidFill>
          <a:ln w="12700" algn="ctr">
            <a:noFill/>
            <a:miter lim="800000"/>
            <a:headEnd/>
            <a:tailEnd type="none" w="sm" len="lg"/>
          </a:ln>
        </p:spPr>
        <p:txBody>
          <a:bodyPr anchor="ctr"/>
          <a:lstStyle/>
          <a:p>
            <a:pPr marL="1588" indent="-1588" algn="ctr">
              <a:defRPr/>
            </a:pPr>
            <a:r>
              <a:rPr lang="en-US" sz="2000">
                <a:solidFill>
                  <a:srgbClr val="0033CC"/>
                </a:solidFill>
              </a:rPr>
              <a:t>A monopolist moves up the demand curve from </a:t>
            </a:r>
            <a:r>
              <a:rPr lang="en-US" sz="2000" i="1">
                <a:solidFill>
                  <a:srgbClr val="0033CC"/>
                </a:solidFill>
              </a:rPr>
              <a:t>C </a:t>
            </a:r>
            <a:r>
              <a:rPr lang="en-US" sz="2000">
                <a:solidFill>
                  <a:srgbClr val="0033CC"/>
                </a:solidFill>
              </a:rPr>
              <a:t>to </a:t>
            </a:r>
            <a:r>
              <a:rPr lang="en-US" sz="2000" i="1">
                <a:solidFill>
                  <a:srgbClr val="0033CC"/>
                </a:solidFill>
              </a:rPr>
              <a:t>M</a:t>
            </a:r>
            <a:r>
              <a:rPr lang="en-US" sz="2000">
                <a:solidFill>
                  <a:srgbClr val="0033CC"/>
                </a:solidFill>
              </a:rPr>
              <a:t>, raising the price to </a:t>
            </a:r>
            <a:r>
              <a:rPr lang="en-US" sz="2000" i="1">
                <a:solidFill>
                  <a:srgbClr val="0033CC"/>
                </a:solidFill>
              </a:rPr>
              <a:t>P</a:t>
            </a:r>
            <a:r>
              <a:rPr lang="en-US" sz="2000" i="1" baseline="-25000">
                <a:solidFill>
                  <a:srgbClr val="0033CC"/>
                </a:solidFill>
              </a:rPr>
              <a:t>M</a:t>
            </a:r>
            <a:endParaRPr lang="en-US" sz="2000">
              <a:solidFill>
                <a:srgbClr val="0033CC"/>
              </a:solidFill>
            </a:endParaRPr>
          </a:p>
          <a:p>
            <a:pPr marL="1588" indent="-1588" algn="ctr">
              <a:defRPr/>
            </a:pPr>
            <a:r>
              <a:rPr lang="en-US" sz="2000">
                <a:solidFill>
                  <a:srgbClr val="0033CC"/>
                </a:solidFill>
              </a:rPr>
              <a:t>It reduces the quantity supplied to </a:t>
            </a:r>
            <a:r>
              <a:rPr lang="en-US" sz="2000" i="1">
                <a:solidFill>
                  <a:srgbClr val="0033CC"/>
                </a:solidFill>
              </a:rPr>
              <a:t>Q</a:t>
            </a:r>
            <a:r>
              <a:rPr lang="en-US" sz="2000" i="1" baseline="-20000">
                <a:solidFill>
                  <a:srgbClr val="0033CC"/>
                </a:solidFill>
              </a:rPr>
              <a:t>M</a:t>
            </a:r>
            <a:r>
              <a:rPr lang="en-US" sz="2000">
                <a:solidFill>
                  <a:srgbClr val="0033CC"/>
                </a:solidFill>
              </a:rPr>
              <a:t>, which is the quantity that maximizes profits. </a:t>
            </a:r>
          </a:p>
          <a:p>
            <a:pPr marL="1588" indent="-1588" algn="ctr">
              <a:defRPr/>
            </a:pPr>
            <a:endParaRPr lang="en-US" sz="2000">
              <a:solidFill>
                <a:srgbClr val="0033CC"/>
              </a:solidFill>
            </a:endParaRPr>
          </a:p>
        </p:txBody>
      </p:sp>
      <p:sp>
        <p:nvSpPr>
          <p:cNvPr id="222257" name="Oval 49"/>
          <p:cNvSpPr>
            <a:spLocks noChangeAspect="1" noChangeArrowheads="1"/>
          </p:cNvSpPr>
          <p:nvPr/>
        </p:nvSpPr>
        <p:spPr bwMode="auto">
          <a:xfrm>
            <a:off x="4729163" y="1557338"/>
            <a:ext cx="128587" cy="128587"/>
          </a:xfrm>
          <a:prstGeom prst="ellipse">
            <a:avLst/>
          </a:prstGeom>
          <a:solidFill>
            <a:srgbClr val="000000"/>
          </a:solidFill>
          <a:ln w="9525">
            <a:noFill/>
            <a:round/>
            <a:headEnd/>
            <a:tailEnd/>
          </a:ln>
        </p:spPr>
        <p:txBody>
          <a:bodyPr/>
          <a:lstStyle/>
          <a:p>
            <a:endParaRPr lang="en-US"/>
          </a:p>
        </p:txBody>
      </p:sp>
      <p:sp>
        <p:nvSpPr>
          <p:cNvPr id="222258" name="Line 50"/>
          <p:cNvSpPr>
            <a:spLocks noChangeShapeType="1"/>
          </p:cNvSpPr>
          <p:nvPr/>
        </p:nvSpPr>
        <p:spPr bwMode="auto">
          <a:xfrm flipH="1" flipV="1">
            <a:off x="4935538" y="1557338"/>
            <a:ext cx="995362" cy="715962"/>
          </a:xfrm>
          <a:prstGeom prst="line">
            <a:avLst/>
          </a:prstGeom>
          <a:noFill/>
          <a:ln w="25400">
            <a:solidFill>
              <a:schemeClr val="tx1"/>
            </a:solidFill>
            <a:round/>
            <a:headEnd/>
            <a:tailEnd type="triangle" w="med" len="lg"/>
          </a:ln>
        </p:spPr>
        <p:txBody>
          <a:bodyPr/>
          <a:lstStyle/>
          <a:p>
            <a:endParaRPr lang="en-US"/>
          </a:p>
        </p:txBody>
      </p:sp>
      <p:cxnSp>
        <p:nvCxnSpPr>
          <p:cNvPr id="6" name="Straight Connector 5"/>
          <p:cNvCxnSpPr/>
          <p:nvPr/>
        </p:nvCxnSpPr>
        <p:spPr>
          <a:xfrm>
            <a:off x="3659188" y="985838"/>
            <a:ext cx="1441450" cy="241776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0909"/>
                                        </p:tgtEl>
                                        <p:attrNameLst>
                                          <p:attrName>style.visibility</p:attrName>
                                        </p:attrNameLst>
                                      </p:cBhvr>
                                      <p:to>
                                        <p:strVal val="visible"/>
                                      </p:to>
                                    </p:set>
                                    <p:animEffect transition="in" filter="box(in)">
                                      <p:cBhvr>
                                        <p:cTn id="7" dur="500"/>
                                        <p:tgtEl>
                                          <p:spTgt spid="8090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22258"/>
                                        </p:tgtEl>
                                        <p:attrNameLst>
                                          <p:attrName>style.visibility</p:attrName>
                                        </p:attrNameLst>
                                      </p:cBhvr>
                                      <p:to>
                                        <p:strVal val="visible"/>
                                      </p:to>
                                    </p:set>
                                    <p:animEffect transition="in" filter="wipe(down)">
                                      <p:cBhvr>
                                        <p:cTn id="12" dur="500"/>
                                        <p:tgtEl>
                                          <p:spTgt spid="222258"/>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500"/>
                                        <p:tgtEl>
                                          <p:spTgt spid="2"/>
                                        </p:tgtEl>
                                      </p:cBhvr>
                                    </p:animEffect>
                                  </p:childTnLst>
                                </p:cTn>
                              </p:par>
                              <p:par>
                                <p:cTn id="17" presetID="1" presetClass="entr" presetSubtype="0" fill="hold" grpId="0" nodeType="withEffect">
                                  <p:stCondLst>
                                    <p:cond delay="0"/>
                                  </p:stCondLst>
                                  <p:childTnLst>
                                    <p:set>
                                      <p:cBhvr>
                                        <p:cTn id="18" dur="1" fill="hold">
                                          <p:stCondLst>
                                            <p:cond delay="0"/>
                                          </p:stCondLst>
                                        </p:cTn>
                                        <p:tgtEl>
                                          <p:spTgt spid="2222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22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22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2225"/>
                                        </p:tgtEl>
                                        <p:attrNameLst>
                                          <p:attrName>style.visibility</p:attrName>
                                        </p:attrNameLst>
                                      </p:cBhvr>
                                      <p:to>
                                        <p:strVal val="visible"/>
                                      </p:to>
                                    </p:set>
                                  </p:childTnLst>
                                </p:cTn>
                              </p:par>
                            </p:childTnLst>
                          </p:cTn>
                        </p:par>
                        <p:par>
                          <p:cTn id="25" fill="hold">
                            <p:stCondLst>
                              <p:cond delay="1000"/>
                            </p:stCondLst>
                            <p:childTnLst>
                              <p:par>
                                <p:cTn id="26" presetID="22" presetClass="entr" presetSubtype="1" fill="hold" nodeType="afterEffect">
                                  <p:stCondLst>
                                    <p:cond delay="0"/>
                                  </p:stCondLst>
                                  <p:childTnLst>
                                    <p:set>
                                      <p:cBhvr>
                                        <p:cTn id="27" dur="1" fill="hold">
                                          <p:stCondLst>
                                            <p:cond delay="0"/>
                                          </p:stCondLst>
                                        </p:cTn>
                                        <p:tgtEl>
                                          <p:spTgt spid="548914"/>
                                        </p:tgtEl>
                                        <p:attrNameLst>
                                          <p:attrName>style.visibility</p:attrName>
                                        </p:attrNameLst>
                                      </p:cBhvr>
                                      <p:to>
                                        <p:strVal val="visible"/>
                                      </p:to>
                                    </p:set>
                                    <p:animEffect transition="in" filter="wipe(up)">
                                      <p:cBhvr>
                                        <p:cTn id="28" dur="500"/>
                                        <p:tgtEl>
                                          <p:spTgt spid="548914"/>
                                        </p:tgtEl>
                                      </p:cBhvr>
                                    </p:animEffect>
                                  </p:childTnLst>
                                </p:cTn>
                              </p:par>
                              <p:par>
                                <p:cTn id="29" presetID="1" presetClass="entr" presetSubtype="0" fill="hold" grpId="0" nodeType="withEffect">
                                  <p:stCondLst>
                                    <p:cond delay="0"/>
                                  </p:stCondLst>
                                  <p:childTnLst>
                                    <p:set>
                                      <p:cBhvr>
                                        <p:cTn id="30" dur="1" fill="hold">
                                          <p:stCondLst>
                                            <p:cond delay="0"/>
                                          </p:stCondLst>
                                        </p:cTn>
                                        <p:tgtEl>
                                          <p:spTgt spid="2222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22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22235"/>
                                        </p:tgtEl>
                                        <p:attrNameLst>
                                          <p:attrName>style.visibility</p:attrName>
                                        </p:attrNameLst>
                                      </p:cBhvr>
                                      <p:to>
                                        <p:strVal val="visible"/>
                                      </p:to>
                                    </p:set>
                                    <p:animEffect transition="in" filter="wipe(down)">
                                      <p:cBhvr>
                                        <p:cTn id="37" dur="500"/>
                                        <p:tgtEl>
                                          <p:spTgt spid="222235"/>
                                        </p:tgtEl>
                                      </p:cBhvr>
                                    </p:animEffect>
                                  </p:childTnLst>
                                </p:cTn>
                              </p:par>
                              <p:par>
                                <p:cTn id="38" presetID="22" presetClass="entr" presetSubtype="2" fill="hold" grpId="0" nodeType="withEffect">
                                  <p:stCondLst>
                                    <p:cond delay="0"/>
                                  </p:stCondLst>
                                  <p:childTnLst>
                                    <p:set>
                                      <p:cBhvr>
                                        <p:cTn id="39" dur="1" fill="hold">
                                          <p:stCondLst>
                                            <p:cond delay="0"/>
                                          </p:stCondLst>
                                        </p:cTn>
                                        <p:tgtEl>
                                          <p:spTgt spid="222238"/>
                                        </p:tgtEl>
                                        <p:attrNameLst>
                                          <p:attrName>style.visibility</p:attrName>
                                        </p:attrNameLst>
                                      </p:cBhvr>
                                      <p:to>
                                        <p:strVal val="visible"/>
                                      </p:to>
                                    </p:set>
                                    <p:animEffect transition="in" filter="wipe(right)">
                                      <p:cBhvr>
                                        <p:cTn id="40" dur="500"/>
                                        <p:tgtEl>
                                          <p:spTgt spid="222238"/>
                                        </p:tgtEl>
                                      </p:cBhvr>
                                    </p:animEffect>
                                  </p:childTnLst>
                                </p:cTn>
                              </p:par>
                              <p:par>
                                <p:cTn id="41" presetID="22" presetClass="entr" presetSubtype="2" fill="hold" grpId="0" nodeType="withEffect">
                                  <p:stCondLst>
                                    <p:cond delay="0"/>
                                  </p:stCondLst>
                                  <p:childTnLst>
                                    <p:set>
                                      <p:cBhvr>
                                        <p:cTn id="42" dur="1" fill="hold">
                                          <p:stCondLst>
                                            <p:cond delay="0"/>
                                          </p:stCondLst>
                                        </p:cTn>
                                        <p:tgtEl>
                                          <p:spTgt spid="222250"/>
                                        </p:tgtEl>
                                        <p:attrNameLst>
                                          <p:attrName>style.visibility</p:attrName>
                                        </p:attrNameLst>
                                      </p:cBhvr>
                                      <p:to>
                                        <p:strVal val="visible"/>
                                      </p:to>
                                    </p:set>
                                    <p:animEffect transition="in" filter="wipe(right)">
                                      <p:cBhvr>
                                        <p:cTn id="43" dur="500"/>
                                        <p:tgtEl>
                                          <p:spTgt spid="222250"/>
                                        </p:tgtEl>
                                      </p:cBhvr>
                                    </p:animEffect>
                                  </p:childTnLst>
                                </p:cTn>
                              </p:par>
                              <p:par>
                                <p:cTn id="44" presetID="22" presetClass="entr" presetSubtype="2" fill="hold" grpId="0" nodeType="withEffect">
                                  <p:stCondLst>
                                    <p:cond delay="0"/>
                                  </p:stCondLst>
                                  <p:childTnLst>
                                    <p:set>
                                      <p:cBhvr>
                                        <p:cTn id="45" dur="1" fill="hold">
                                          <p:stCondLst>
                                            <p:cond delay="0"/>
                                          </p:stCondLst>
                                        </p:cTn>
                                        <p:tgtEl>
                                          <p:spTgt spid="222239"/>
                                        </p:tgtEl>
                                        <p:attrNameLst>
                                          <p:attrName>style.visibility</p:attrName>
                                        </p:attrNameLst>
                                      </p:cBhvr>
                                      <p:to>
                                        <p:strVal val="visible"/>
                                      </p:to>
                                    </p:set>
                                    <p:animEffect transition="in" filter="wipe(right)">
                                      <p:cBhvr>
                                        <p:cTn id="46" dur="500"/>
                                        <p:tgtEl>
                                          <p:spTgt spid="22223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222233"/>
                                        </p:tgtEl>
                                        <p:attrNameLst>
                                          <p:attrName>style.visibility</p:attrName>
                                        </p:attrNameLst>
                                      </p:cBhvr>
                                      <p:to>
                                        <p:strVal val="visible"/>
                                      </p:to>
                                    </p:set>
                                    <p:animEffect transition="in" filter="wipe(down)">
                                      <p:cBhvr>
                                        <p:cTn id="51" dur="500"/>
                                        <p:tgtEl>
                                          <p:spTgt spid="222233"/>
                                        </p:tgtEl>
                                      </p:cBhvr>
                                    </p:animEffect>
                                  </p:childTnLst>
                                </p:cTn>
                              </p:par>
                            </p:childTnLst>
                          </p:cTn>
                        </p:par>
                        <p:par>
                          <p:cTn id="52" fill="hold">
                            <p:stCondLst>
                              <p:cond delay="500"/>
                            </p:stCondLst>
                            <p:childTnLst>
                              <p:par>
                                <p:cTn id="53" presetID="22" presetClass="entr" presetSubtype="4" fill="hold" grpId="0" nodeType="afterEffect">
                                  <p:stCondLst>
                                    <p:cond delay="0"/>
                                  </p:stCondLst>
                                  <p:childTnLst>
                                    <p:set>
                                      <p:cBhvr>
                                        <p:cTn id="54" dur="1" fill="hold">
                                          <p:stCondLst>
                                            <p:cond delay="0"/>
                                          </p:stCondLst>
                                        </p:cTn>
                                        <p:tgtEl>
                                          <p:spTgt spid="222237"/>
                                        </p:tgtEl>
                                        <p:attrNameLst>
                                          <p:attrName>style.visibility</p:attrName>
                                        </p:attrNameLst>
                                      </p:cBhvr>
                                      <p:to>
                                        <p:strVal val="visible"/>
                                      </p:to>
                                    </p:set>
                                    <p:animEffect transition="in" filter="wipe(down)">
                                      <p:cBhvr>
                                        <p:cTn id="55" dur="500"/>
                                        <p:tgtEl>
                                          <p:spTgt spid="222237"/>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222240"/>
                                        </p:tgtEl>
                                        <p:attrNameLst>
                                          <p:attrName>style.visibility</p:attrName>
                                        </p:attrNameLst>
                                      </p:cBhvr>
                                      <p:to>
                                        <p:strVal val="visible"/>
                                      </p:to>
                                    </p:set>
                                    <p:animEffect transition="in" filter="wipe(down)">
                                      <p:cBhvr>
                                        <p:cTn id="58" dur="500"/>
                                        <p:tgtEl>
                                          <p:spTgt spid="222240"/>
                                        </p:tgtEl>
                                      </p:cBhvr>
                                    </p:animEffect>
                                  </p:childTnLst>
                                </p:cTn>
                              </p:par>
                            </p:childTnLst>
                          </p:cTn>
                        </p:par>
                        <p:par>
                          <p:cTn id="59" fill="hold">
                            <p:stCondLst>
                              <p:cond delay="1000"/>
                            </p:stCondLst>
                            <p:childTnLst>
                              <p:par>
                                <p:cTn id="60" presetID="22" presetClass="entr" presetSubtype="4" fill="hold" grpId="0" nodeType="afterEffect">
                                  <p:stCondLst>
                                    <p:cond delay="0"/>
                                  </p:stCondLst>
                                  <p:childTnLst>
                                    <p:set>
                                      <p:cBhvr>
                                        <p:cTn id="61" dur="1" fill="hold">
                                          <p:stCondLst>
                                            <p:cond delay="0"/>
                                          </p:stCondLst>
                                        </p:cTn>
                                        <p:tgtEl>
                                          <p:spTgt spid="222241"/>
                                        </p:tgtEl>
                                        <p:attrNameLst>
                                          <p:attrName>style.visibility</p:attrName>
                                        </p:attrNameLst>
                                      </p:cBhvr>
                                      <p:to>
                                        <p:strVal val="visible"/>
                                      </p:to>
                                    </p:set>
                                    <p:animEffect transition="in" filter="wipe(down)">
                                      <p:cBhvr>
                                        <p:cTn id="62" dur="500"/>
                                        <p:tgtEl>
                                          <p:spTgt spid="222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40" grpId="0" animBg="1"/>
      <p:bldP spid="222214" grpId="0"/>
      <p:bldP spid="222220" grpId="0"/>
      <p:bldP spid="222221" grpId="0"/>
      <p:bldP spid="222224" grpId="0"/>
      <p:bldP spid="222225" grpId="0"/>
      <p:bldP spid="222233" grpId="0" animBg="1"/>
      <p:bldP spid="222235" grpId="0" animBg="1"/>
      <p:bldP spid="222237" grpId="0" animBg="1"/>
      <p:bldP spid="222238" grpId="0" animBg="1"/>
      <p:bldP spid="222239" grpId="0" animBg="1"/>
      <p:bldP spid="222241" grpId="0"/>
      <p:bldP spid="222250" grpId="0"/>
      <p:bldP spid="80909" grpId="0" animBg="1"/>
      <p:bldP spid="222257" grpId="0" animBg="1"/>
      <p:bldP spid="22225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Rot="1" noChangeArrowheads="1"/>
          </p:cNvSpPr>
          <p:nvPr>
            <p:ph type="title" idx="4294967295"/>
          </p:nvPr>
        </p:nvSpPr>
        <p:spPr>
          <a:xfrm>
            <a:off x="979488" y="0"/>
            <a:ext cx="7985125" cy="685800"/>
          </a:xfrm>
        </p:spPr>
        <p:txBody>
          <a:bodyPr/>
          <a:lstStyle/>
          <a:p>
            <a:pPr>
              <a:defRPr/>
            </a:pPr>
            <a:r>
              <a:rPr lang="en-US" dirty="0" smtClean="0"/>
              <a:t>Why Do Monopolies Exist?</a:t>
            </a:r>
            <a:endParaRPr lang="en-US" b="0" dirty="0" smtClean="0"/>
          </a:p>
        </p:txBody>
      </p:sp>
      <p:sp>
        <p:nvSpPr>
          <p:cNvPr id="81925" name="Text Box 5"/>
          <p:cNvSpPr txBox="1">
            <a:spLocks noChangeArrowheads="1"/>
          </p:cNvSpPr>
          <p:nvPr/>
        </p:nvSpPr>
        <p:spPr bwMode="auto">
          <a:xfrm>
            <a:off x="719138" y="836613"/>
            <a:ext cx="8272462" cy="5113337"/>
          </a:xfrm>
          <a:prstGeom prst="rect">
            <a:avLst/>
          </a:prstGeom>
          <a:noFill/>
          <a:ln w="9525" algn="ctr">
            <a:noFill/>
            <a:miter lim="800000"/>
            <a:headEnd/>
            <a:tailEnd type="none" w="med" len="lg"/>
          </a:ln>
        </p:spPr>
        <p:txBody>
          <a:bodyPr>
            <a:spAutoFit/>
          </a:bodyPr>
          <a:lstStyle/>
          <a:p>
            <a:pPr marL="342900" indent="-342900">
              <a:lnSpc>
                <a:spcPct val="110000"/>
              </a:lnSpc>
              <a:buFont typeface="Arial" charset="0"/>
              <a:buChar char="•"/>
              <a:tabLst>
                <a:tab pos="285750" algn="l"/>
              </a:tabLst>
            </a:pPr>
            <a:r>
              <a:rPr lang="en-US" sz="2400"/>
              <a:t> A </a:t>
            </a:r>
            <a:r>
              <a:rPr lang="en-US" sz="2400" b="1" i="1"/>
              <a:t>monopolist</a:t>
            </a:r>
            <a:r>
              <a:rPr lang="en-US" sz="2400" i="1"/>
              <a:t>  </a:t>
            </a:r>
            <a:r>
              <a:rPr lang="en-US" sz="2400"/>
              <a:t>has </a:t>
            </a:r>
            <a:r>
              <a:rPr lang="en-US" sz="2400" i="1"/>
              <a:t>market power, </a:t>
            </a:r>
            <a:r>
              <a:rPr lang="en-US" sz="2400"/>
              <a:t>and as a result will charge higher prices and produce less output than a competitive industry. </a:t>
            </a:r>
          </a:p>
          <a:p>
            <a:pPr marL="800100" lvl="1" indent="-342900">
              <a:lnSpc>
                <a:spcPct val="110000"/>
              </a:lnSpc>
              <a:buFont typeface="Wingdings" pitchFamily="2" charset="2"/>
              <a:buChar char="§"/>
              <a:tabLst>
                <a:tab pos="285750" algn="l"/>
              </a:tabLst>
            </a:pPr>
            <a:r>
              <a:rPr lang="en-US" sz="2400"/>
              <a:t> </a:t>
            </a:r>
            <a:r>
              <a:rPr lang="en-US" sz="2200"/>
              <a:t>This generates profit for the monopolist in the short run and long run. </a:t>
            </a:r>
          </a:p>
          <a:p>
            <a:pPr marL="342900" indent="-342900">
              <a:lnSpc>
                <a:spcPct val="110000"/>
              </a:lnSpc>
              <a:tabLst>
                <a:tab pos="285750" algn="l"/>
              </a:tabLst>
            </a:pPr>
            <a:endParaRPr lang="en-US" sz="2400"/>
          </a:p>
          <a:p>
            <a:pPr marL="342900" indent="-342900">
              <a:lnSpc>
                <a:spcPct val="110000"/>
              </a:lnSpc>
              <a:buFont typeface="Arial" charset="0"/>
              <a:buChar char="•"/>
              <a:tabLst>
                <a:tab pos="285750" algn="l"/>
              </a:tabLst>
            </a:pPr>
            <a:r>
              <a:rPr lang="en-US" sz="2400"/>
              <a:t> Profits will not persist in the long run unless there is a </a:t>
            </a:r>
            <a:r>
              <a:rPr lang="en-US" sz="2400" b="1"/>
              <a:t>barrier to entry</a:t>
            </a:r>
            <a:r>
              <a:rPr lang="en-US" sz="2400"/>
              <a:t>. This can take the form of:</a:t>
            </a:r>
            <a:endParaRPr lang="en-US" sz="2200"/>
          </a:p>
          <a:p>
            <a:pPr marL="800100" lvl="1" indent="-342900">
              <a:lnSpc>
                <a:spcPct val="110000"/>
              </a:lnSpc>
              <a:buFont typeface="Wingdings" pitchFamily="2" charset="2"/>
              <a:buAutoNum type="arabicPeriod"/>
              <a:tabLst>
                <a:tab pos="285750" algn="l"/>
              </a:tabLst>
            </a:pPr>
            <a:r>
              <a:rPr lang="en-US" sz="2200"/>
              <a:t> Control of natural resources or inputs  </a:t>
            </a:r>
          </a:p>
          <a:p>
            <a:pPr marL="800100" lvl="1" indent="-342900">
              <a:lnSpc>
                <a:spcPct val="110000"/>
              </a:lnSpc>
              <a:buFont typeface="Wingdings" pitchFamily="2" charset="2"/>
              <a:buAutoNum type="arabicPeriod"/>
              <a:tabLst>
                <a:tab pos="285750" algn="l"/>
              </a:tabLst>
            </a:pPr>
            <a:r>
              <a:rPr lang="en-US" sz="2200"/>
              <a:t> Increasing returns to scale</a:t>
            </a:r>
          </a:p>
          <a:p>
            <a:pPr marL="800100" lvl="1" indent="-342900">
              <a:lnSpc>
                <a:spcPct val="110000"/>
              </a:lnSpc>
              <a:buFont typeface="Wingdings" pitchFamily="2" charset="2"/>
              <a:buAutoNum type="arabicPeriod"/>
              <a:tabLst>
                <a:tab pos="285750" algn="l"/>
              </a:tabLst>
            </a:pPr>
            <a:r>
              <a:rPr lang="en-US" sz="2200"/>
              <a:t> Technological superiority</a:t>
            </a:r>
          </a:p>
          <a:p>
            <a:pPr marL="800100" lvl="1" indent="-342900">
              <a:lnSpc>
                <a:spcPct val="110000"/>
              </a:lnSpc>
              <a:buFont typeface="Wingdings" pitchFamily="2" charset="2"/>
              <a:buAutoNum type="arabicPeriod"/>
              <a:tabLst>
                <a:tab pos="285750" algn="l"/>
              </a:tabLst>
            </a:pPr>
            <a:r>
              <a:rPr lang="en-US" sz="2200"/>
              <a:t> Government-created barriers</a:t>
            </a:r>
          </a:p>
          <a:p>
            <a:pPr marL="1257300" lvl="2" indent="-342900">
              <a:lnSpc>
                <a:spcPct val="110000"/>
              </a:lnSpc>
              <a:buFont typeface="Wingdings" pitchFamily="2" charset="2"/>
              <a:buChar char="§"/>
              <a:tabLst>
                <a:tab pos="285750" algn="l"/>
              </a:tabLst>
            </a:pPr>
            <a:r>
              <a:rPr lang="en-US" sz="2200"/>
              <a:t>patents and copyrights</a:t>
            </a:r>
          </a:p>
        </p:txBody>
      </p:sp>
      <p:pic>
        <p:nvPicPr>
          <p:cNvPr id="4" name="Picture 3"/>
          <p:cNvPicPr>
            <a:picLocks noChangeAspect="1"/>
          </p:cNvPicPr>
          <p:nvPr/>
        </p:nvPicPr>
        <p:blipFill>
          <a:blip r:embed="rId3"/>
          <a:stretch>
            <a:fillRect/>
          </a:stretch>
        </p:blipFill>
        <p:spPr>
          <a:xfrm>
            <a:off x="6084888" y="3789363"/>
            <a:ext cx="2628900" cy="285115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idx="4294967295"/>
          </p:nvPr>
        </p:nvSpPr>
        <p:spPr bwMode="auto">
          <a:noFill/>
        </p:spPr>
        <p:txBody>
          <a:bodyPr/>
          <a:lstStyle/>
          <a:p>
            <a:r>
              <a:rPr lang="en-US" sz="2800" smtClean="0">
                <a:effectLst/>
              </a:rPr>
              <a:t>1. Control of a Scarce Resource or Input</a:t>
            </a:r>
          </a:p>
        </p:txBody>
      </p:sp>
      <p:sp>
        <p:nvSpPr>
          <p:cNvPr id="44034" name="Content Placeholder 2"/>
          <p:cNvSpPr>
            <a:spLocks noGrp="1"/>
          </p:cNvSpPr>
          <p:nvPr>
            <p:ph idx="4294967295"/>
          </p:nvPr>
        </p:nvSpPr>
        <p:spPr>
          <a:xfrm>
            <a:off x="719138" y="800100"/>
            <a:ext cx="8164512" cy="4648200"/>
          </a:xfrm>
        </p:spPr>
        <p:txBody>
          <a:bodyPr/>
          <a:lstStyle/>
          <a:p>
            <a:pPr marL="0" indent="0"/>
            <a:r>
              <a:rPr lang="en-US" dirty="0" smtClean="0"/>
              <a:t> In the 1970s, OPEC (the Organization of Petroleum Exporting Countries) organized most petroleum exporting nations into an effective monopoly.</a:t>
            </a:r>
          </a:p>
          <a:p>
            <a:pPr lvl="1"/>
            <a:r>
              <a:rPr lang="en-US" dirty="0" smtClean="0"/>
              <a:t>OPEC controlled most petroleum production for over 20 years.</a:t>
            </a:r>
          </a:p>
          <a:p>
            <a:pPr lvl="1"/>
            <a:endParaRPr lang="en-US" dirty="0" smtClean="0"/>
          </a:p>
          <a:p>
            <a:pPr marL="0" indent="0"/>
            <a:r>
              <a:rPr lang="en-US" dirty="0" smtClean="0"/>
              <a:t> In the 20</a:t>
            </a:r>
            <a:r>
              <a:rPr lang="en-US" baseline="30000" dirty="0" smtClean="0"/>
              <a:t>th</a:t>
            </a:r>
            <a:r>
              <a:rPr lang="en-US" dirty="0" smtClean="0"/>
              <a:t> century De Beers </a:t>
            </a:r>
            <a:br>
              <a:rPr lang="en-US" dirty="0" smtClean="0"/>
            </a:br>
            <a:r>
              <a:rPr lang="en-US" dirty="0" smtClean="0"/>
              <a:t>owned nearly all of the diamond </a:t>
            </a:r>
            <a:br>
              <a:rPr lang="en-US" dirty="0" smtClean="0"/>
            </a:br>
            <a:r>
              <a:rPr lang="en-US" dirty="0" smtClean="0"/>
              <a:t>mines that had been discovered</a:t>
            </a:r>
          </a:p>
          <a:p>
            <a:pPr lvl="1"/>
            <a:r>
              <a:rPr lang="en-US" dirty="0" smtClean="0"/>
              <a:t> It had a monopoly </a:t>
            </a:r>
            <a:br>
              <a:rPr lang="en-US" dirty="0" smtClean="0"/>
            </a:br>
            <a:r>
              <a:rPr lang="en-US" dirty="0" smtClean="0"/>
              <a:t>in diamond production</a:t>
            </a:r>
          </a:p>
        </p:txBody>
      </p:sp>
      <p:pic>
        <p:nvPicPr>
          <p:cNvPr id="44035" name="Picture 6"/>
          <p:cNvPicPr>
            <a:picLocks noChangeAspect="1" noChangeArrowheads="1"/>
          </p:cNvPicPr>
          <p:nvPr/>
        </p:nvPicPr>
        <p:blipFill>
          <a:blip r:embed="rId2"/>
          <a:srcRect/>
          <a:stretch>
            <a:fillRect/>
          </a:stretch>
        </p:blipFill>
        <p:spPr bwMode="auto">
          <a:xfrm>
            <a:off x="5400675" y="3141663"/>
            <a:ext cx="3336925" cy="33924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Rot="1" noChangeArrowheads="1"/>
          </p:cNvSpPr>
          <p:nvPr>
            <p:ph type="title" idx="4294967295"/>
          </p:nvPr>
        </p:nvSpPr>
        <p:spPr bwMode="auto">
          <a:noFill/>
        </p:spPr>
        <p:txBody>
          <a:bodyPr/>
          <a:lstStyle/>
          <a:p>
            <a:r>
              <a:rPr lang="en-US" smtClean="0">
                <a:effectLst/>
              </a:rPr>
              <a:t>2. Increasing Returns to Scale</a:t>
            </a:r>
            <a:endParaRPr lang="en-US" b="0" smtClean="0">
              <a:effectLst/>
            </a:endParaRPr>
          </a:p>
        </p:txBody>
      </p:sp>
      <p:sp>
        <p:nvSpPr>
          <p:cNvPr id="45058" name="Content Placeholder 1"/>
          <p:cNvSpPr>
            <a:spLocks noGrp="1"/>
          </p:cNvSpPr>
          <p:nvPr>
            <p:ph idx="4294967295"/>
          </p:nvPr>
        </p:nvSpPr>
        <p:spPr>
          <a:xfrm>
            <a:off x="611188" y="1125538"/>
            <a:ext cx="5011737" cy="4657725"/>
          </a:xfrm>
        </p:spPr>
        <p:txBody>
          <a:bodyPr/>
          <a:lstStyle/>
          <a:p>
            <a:pPr marL="0" indent="0">
              <a:buClr>
                <a:schemeClr val="tx1"/>
              </a:buClr>
            </a:pPr>
            <a:r>
              <a:rPr lang="en-US" sz="2600" smtClean="0"/>
              <a:t> A natural monopoly exists when </a:t>
            </a:r>
            <a:r>
              <a:rPr lang="en-US" sz="2600" i="1" smtClean="0">
                <a:solidFill>
                  <a:srgbClr val="990033"/>
                </a:solidFill>
              </a:rPr>
              <a:t>increasing returns to scale</a:t>
            </a:r>
            <a:r>
              <a:rPr lang="en-US" sz="2600" i="1" smtClean="0"/>
              <a:t> </a:t>
            </a:r>
            <a:r>
              <a:rPr lang="en-US" sz="2600" i="1" smtClean="0">
                <a:solidFill>
                  <a:srgbClr val="990033"/>
                </a:solidFill>
              </a:rPr>
              <a:t>(economies of scale) </a:t>
            </a:r>
            <a:r>
              <a:rPr lang="en-US" sz="2600" smtClean="0"/>
              <a:t>provide a</a:t>
            </a:r>
            <a:br>
              <a:rPr lang="en-US" sz="2600" smtClean="0"/>
            </a:br>
            <a:r>
              <a:rPr lang="en-US" sz="2600" smtClean="0">
                <a:solidFill>
                  <a:srgbClr val="0070C0"/>
                </a:solidFill>
              </a:rPr>
              <a:t>large cost advantage to a single firm.</a:t>
            </a:r>
            <a:r>
              <a:rPr lang="en-US" sz="2600" smtClean="0"/>
              <a:t> </a:t>
            </a:r>
          </a:p>
          <a:p>
            <a:pPr marL="0" indent="0">
              <a:buClr>
                <a:schemeClr val="tx1"/>
              </a:buClr>
            </a:pPr>
            <a:r>
              <a:rPr lang="en-US" sz="2600" smtClean="0"/>
              <a:t> A second firm providing </a:t>
            </a:r>
            <a:br>
              <a:rPr lang="en-US" sz="2600" smtClean="0"/>
            </a:br>
            <a:r>
              <a:rPr lang="en-US" sz="2600" smtClean="0"/>
              <a:t>the same service will have </a:t>
            </a:r>
            <a:br>
              <a:rPr lang="en-US" sz="2600" smtClean="0"/>
            </a:br>
            <a:r>
              <a:rPr lang="en-US" sz="2600" smtClean="0"/>
              <a:t>to replicate the fixed costs –</a:t>
            </a:r>
            <a:br>
              <a:rPr lang="en-US" sz="2600" smtClean="0"/>
            </a:br>
            <a:r>
              <a:rPr lang="en-US" sz="2600" smtClean="0"/>
              <a:t>infrastructure and capital</a:t>
            </a:r>
            <a:br>
              <a:rPr lang="en-US" sz="2600" smtClean="0"/>
            </a:br>
            <a:r>
              <a:rPr lang="en-US" sz="2600" smtClean="0"/>
              <a:t>costs – of the one firm.</a:t>
            </a:r>
            <a:br>
              <a:rPr lang="en-US" sz="2600" smtClean="0"/>
            </a:br>
            <a:endParaRPr lang="en-US" sz="2600" smtClean="0"/>
          </a:p>
        </p:txBody>
      </p:sp>
      <p:sp>
        <p:nvSpPr>
          <p:cNvPr id="6" name="TextBox 26"/>
          <p:cNvSpPr txBox="1">
            <a:spLocks noChangeArrowheads="1"/>
          </p:cNvSpPr>
          <p:nvPr/>
        </p:nvSpPr>
        <p:spPr bwMode="auto">
          <a:xfrm>
            <a:off x="4967288" y="5408613"/>
            <a:ext cx="4087812" cy="1006475"/>
          </a:xfrm>
          <a:prstGeom prst="rect">
            <a:avLst/>
          </a:prstGeom>
          <a:noFill/>
          <a:ln w="9525">
            <a:noFill/>
            <a:miter lim="800000"/>
            <a:headEnd/>
            <a:tailEnd/>
          </a:ln>
        </p:spPr>
        <p:txBody>
          <a:bodyPr>
            <a:spAutoFit/>
          </a:bodyPr>
          <a:lstStyle/>
          <a:p>
            <a:r>
              <a:rPr lang="en-US" sz="2000" b="1" i="1">
                <a:solidFill>
                  <a:srgbClr val="404040"/>
                </a:solidFill>
                <a:latin typeface="Candara" pitchFamily="34" charset="0"/>
              </a:rPr>
              <a:t>Postal services and traditional wired telephone systems are a natural monopoly</a:t>
            </a:r>
          </a:p>
        </p:txBody>
      </p:sp>
      <p:pic>
        <p:nvPicPr>
          <p:cNvPr id="45060" name="Picture 8"/>
          <p:cNvPicPr>
            <a:picLocks noChangeAspect="1" noChangeArrowheads="1"/>
          </p:cNvPicPr>
          <p:nvPr/>
        </p:nvPicPr>
        <p:blipFill>
          <a:blip r:embed="rId3"/>
          <a:srcRect/>
          <a:stretch>
            <a:fillRect/>
          </a:stretch>
        </p:blipFill>
        <p:spPr bwMode="auto">
          <a:xfrm>
            <a:off x="5256213" y="1844675"/>
            <a:ext cx="3673475" cy="3292475"/>
          </a:xfrm>
          <a:prstGeom prst="rect">
            <a:avLst/>
          </a:prstGeom>
          <a:noFill/>
          <a:ln w="9525">
            <a:no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3" name="Picture 3"/>
          <p:cNvPicPr>
            <a:picLocks noChangeAspect="1"/>
          </p:cNvPicPr>
          <p:nvPr/>
        </p:nvPicPr>
        <p:blipFill>
          <a:blip r:embed="rId3"/>
          <a:srcRect/>
          <a:stretch>
            <a:fillRect/>
          </a:stretch>
        </p:blipFill>
        <p:spPr bwMode="auto">
          <a:xfrm>
            <a:off x="0" y="0"/>
            <a:ext cx="9144000" cy="6858000"/>
          </a:xfrm>
          <a:prstGeom prst="rect">
            <a:avLst/>
          </a:prstGeom>
          <a:noFill/>
          <a:ln w="9525">
            <a:noFill/>
            <a:miter lim="800000"/>
            <a:headEnd/>
            <a:tailEnd/>
          </a:ln>
        </p:spPr>
      </p:pic>
      <p:sp>
        <p:nvSpPr>
          <p:cNvPr id="5" name="Rectangle 2"/>
          <p:cNvSpPr>
            <a:spLocks noGrp="1" noRot="1" noChangeArrowheads="1"/>
          </p:cNvSpPr>
          <p:nvPr>
            <p:ph type="title" idx="4294967295"/>
          </p:nvPr>
        </p:nvSpPr>
        <p:spPr>
          <a:xfrm>
            <a:off x="323850" y="0"/>
            <a:ext cx="8135938" cy="685800"/>
          </a:xfrm>
        </p:spPr>
        <p:txBody>
          <a:bodyPr/>
          <a:lstStyle/>
          <a:p>
            <a:pPr>
              <a:defRPr/>
            </a:pPr>
            <a:r>
              <a:rPr lang="en-US" sz="2800" dirty="0" smtClean="0"/>
              <a:t>Increasing Returns to Scale Create Natural Monopoly</a:t>
            </a:r>
          </a:p>
        </p:txBody>
      </p:sp>
      <p:sp>
        <p:nvSpPr>
          <p:cNvPr id="6" name="Text Box 13"/>
          <p:cNvSpPr txBox="1">
            <a:spLocks noChangeArrowheads="1"/>
          </p:cNvSpPr>
          <p:nvPr/>
        </p:nvSpPr>
        <p:spPr bwMode="auto">
          <a:xfrm>
            <a:off x="796925" y="5241925"/>
            <a:ext cx="7920038" cy="1143000"/>
          </a:xfrm>
          <a:prstGeom prst="rect">
            <a:avLst/>
          </a:prstGeom>
          <a:solidFill>
            <a:schemeClr val="accent5">
              <a:lumMod val="20000"/>
              <a:lumOff val="80000"/>
            </a:schemeClr>
          </a:solidFill>
          <a:ln w="12700" algn="ctr">
            <a:noFill/>
            <a:miter lim="800000"/>
            <a:headEnd/>
            <a:tailEnd type="none" w="sm" len="lg"/>
          </a:ln>
        </p:spPr>
        <p:txBody>
          <a:bodyPr anchor="ctr"/>
          <a:lstStyle/>
          <a:p>
            <a:pPr marL="1588" indent="-1588" algn="ctr">
              <a:lnSpc>
                <a:spcPct val="90000"/>
              </a:lnSpc>
              <a:defRPr/>
            </a:pPr>
            <a:r>
              <a:rPr lang="en-US" dirty="0">
                <a:solidFill>
                  <a:srgbClr val="0033CC"/>
                </a:solidFill>
              </a:rPr>
              <a:t>This gives the firm economies of scale over the entire range of output at which the firm would at least break even in the long run. </a:t>
            </a:r>
            <a:br>
              <a:rPr lang="en-US" dirty="0">
                <a:solidFill>
                  <a:srgbClr val="0033CC"/>
                </a:solidFill>
              </a:rPr>
            </a:br>
            <a:r>
              <a:rPr lang="en-US" dirty="0">
                <a:solidFill>
                  <a:srgbClr val="0033CC"/>
                </a:solidFill>
              </a:rPr>
              <a:t>As a result, a given quantity of output is produced more cheaply by one large firm than by two or more smaller firms.</a:t>
            </a:r>
          </a:p>
        </p:txBody>
      </p:sp>
      <p:sp>
        <p:nvSpPr>
          <p:cNvPr id="7" name="Rectangle 31"/>
          <p:cNvSpPr>
            <a:spLocks noChangeArrowheads="1"/>
          </p:cNvSpPr>
          <p:nvPr/>
        </p:nvSpPr>
        <p:spPr bwMode="auto">
          <a:xfrm>
            <a:off x="5837238" y="974725"/>
            <a:ext cx="3048000" cy="2030413"/>
          </a:xfrm>
          <a:prstGeom prst="rect">
            <a:avLst/>
          </a:prstGeom>
          <a:solidFill>
            <a:schemeClr val="accent5">
              <a:lumMod val="20000"/>
              <a:lumOff val="80000"/>
            </a:schemeClr>
          </a:solidFill>
          <a:ln w="25400" algn="ctr">
            <a:noFill/>
            <a:prstDash val="sysDot"/>
            <a:miter lim="800000"/>
            <a:headEnd/>
            <a:tailEnd type="none" w="med" len="lg"/>
          </a:ln>
          <a:effectLst/>
        </p:spPr>
        <p:txBody>
          <a:bodyPr>
            <a:spAutoFit/>
          </a:bodyPr>
          <a:lstStyle/>
          <a:p>
            <a:pPr marL="1588" indent="-1588" algn="ctr">
              <a:defRPr/>
            </a:pPr>
            <a:r>
              <a:rPr lang="en-US" dirty="0">
                <a:solidFill>
                  <a:srgbClr val="0033CC"/>
                </a:solidFill>
              </a:rPr>
              <a:t>A natural monopoly can arise when fixed costs required to operate are very high </a:t>
            </a:r>
            <a:r>
              <a:rPr lang="en-US" dirty="0">
                <a:solidFill>
                  <a:srgbClr val="0033CC"/>
                </a:solidFill>
                <a:sym typeface="Wingdings" pitchFamily="2" charset="2"/>
              </a:rPr>
              <a:t></a:t>
            </a:r>
            <a:r>
              <a:rPr lang="en-US" dirty="0">
                <a:solidFill>
                  <a:srgbClr val="0033CC"/>
                </a:solidFill>
              </a:rPr>
              <a:t> </a:t>
            </a:r>
            <a:br>
              <a:rPr lang="en-US" dirty="0">
                <a:solidFill>
                  <a:srgbClr val="0033CC"/>
                </a:solidFill>
              </a:rPr>
            </a:br>
            <a:r>
              <a:rPr lang="en-US" dirty="0">
                <a:solidFill>
                  <a:srgbClr val="0033CC"/>
                </a:solidFill>
              </a:rPr>
              <a:t>the firm’s </a:t>
            </a:r>
            <a:r>
              <a:rPr lang="en-US" i="1" dirty="0">
                <a:solidFill>
                  <a:srgbClr val="0033CC"/>
                </a:solidFill>
              </a:rPr>
              <a:t>ATC </a:t>
            </a:r>
            <a:r>
              <a:rPr lang="en-US" dirty="0">
                <a:solidFill>
                  <a:srgbClr val="0033CC"/>
                </a:solidFill>
              </a:rPr>
              <a:t>curve declines over the range of output at which price is greater than or equal to average total cost.</a:t>
            </a:r>
          </a:p>
        </p:txBody>
      </p:sp>
      <p:sp>
        <p:nvSpPr>
          <p:cNvPr id="8" name="Rectangle 5"/>
          <p:cNvSpPr>
            <a:spLocks noChangeArrowheads="1"/>
          </p:cNvSpPr>
          <p:nvPr/>
        </p:nvSpPr>
        <p:spPr bwMode="auto">
          <a:xfrm>
            <a:off x="4122738" y="4113213"/>
            <a:ext cx="128587"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9" name="Rectangle 6"/>
          <p:cNvSpPr>
            <a:spLocks noChangeArrowheads="1"/>
          </p:cNvSpPr>
          <p:nvPr/>
        </p:nvSpPr>
        <p:spPr bwMode="auto">
          <a:xfrm>
            <a:off x="5335588" y="35433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10" name="Rectangle 7"/>
          <p:cNvSpPr>
            <a:spLocks noChangeArrowheads="1"/>
          </p:cNvSpPr>
          <p:nvPr/>
        </p:nvSpPr>
        <p:spPr bwMode="auto">
          <a:xfrm>
            <a:off x="5453063" y="3543300"/>
            <a:ext cx="109537"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11" name="Rectangle 8"/>
          <p:cNvSpPr>
            <a:spLocks noChangeArrowheads="1"/>
          </p:cNvSpPr>
          <p:nvPr/>
        </p:nvSpPr>
        <p:spPr bwMode="auto">
          <a:xfrm>
            <a:off x="5554663" y="354330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12" name="Rectangle 9"/>
          <p:cNvSpPr>
            <a:spLocks noChangeArrowheads="1"/>
          </p:cNvSpPr>
          <p:nvPr/>
        </p:nvSpPr>
        <p:spPr bwMode="auto">
          <a:xfrm>
            <a:off x="5818188" y="4494213"/>
            <a:ext cx="666750" cy="214312"/>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Quantity</a:t>
            </a:r>
            <a:endParaRPr lang="en-US" sz="1400">
              <a:latin typeface="Tahoma" pitchFamily="34" charset="0"/>
            </a:endParaRPr>
          </a:p>
        </p:txBody>
      </p:sp>
      <p:sp>
        <p:nvSpPr>
          <p:cNvPr id="13" name="Rectangle 10"/>
          <p:cNvSpPr>
            <a:spLocks noChangeArrowheads="1"/>
          </p:cNvSpPr>
          <p:nvPr/>
        </p:nvSpPr>
        <p:spPr bwMode="auto">
          <a:xfrm>
            <a:off x="1389063" y="865188"/>
            <a:ext cx="482600" cy="4302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a:t>
            </a:r>
            <a:endParaRPr lang="en-US" sz="1400">
              <a:latin typeface="Tahoma" pitchFamily="34" charset="0"/>
            </a:endParaRPr>
          </a:p>
        </p:txBody>
      </p:sp>
      <p:sp>
        <p:nvSpPr>
          <p:cNvPr id="14" name="Freeform 11"/>
          <p:cNvSpPr>
            <a:spLocks/>
          </p:cNvSpPr>
          <p:nvPr/>
        </p:nvSpPr>
        <p:spPr bwMode="auto">
          <a:xfrm>
            <a:off x="1957388" y="898525"/>
            <a:ext cx="4549775" cy="3484563"/>
          </a:xfrm>
          <a:custGeom>
            <a:avLst/>
            <a:gdLst>
              <a:gd name="T0" fmla="*/ 2147483647 w 1984"/>
              <a:gd name="T1" fmla="*/ 2147483647 h 1701"/>
              <a:gd name="T2" fmla="*/ 0 w 1984"/>
              <a:gd name="T3" fmla="*/ 2147483647 h 1701"/>
              <a:gd name="T4" fmla="*/ 0 w 1984"/>
              <a:gd name="T5" fmla="*/ 0 h 1701"/>
              <a:gd name="T6" fmla="*/ 0 60000 65536"/>
              <a:gd name="T7" fmla="*/ 0 60000 65536"/>
              <a:gd name="T8" fmla="*/ 0 60000 65536"/>
              <a:gd name="T9" fmla="*/ 0 w 1984"/>
              <a:gd name="T10" fmla="*/ 0 h 1701"/>
              <a:gd name="T11" fmla="*/ 1984 w 1984"/>
              <a:gd name="T12" fmla="*/ 1701 h 1701"/>
            </a:gdLst>
            <a:ahLst/>
            <a:cxnLst>
              <a:cxn ang="T6">
                <a:pos x="T0" y="T1"/>
              </a:cxn>
              <a:cxn ang="T7">
                <a:pos x="T2" y="T3"/>
              </a:cxn>
              <a:cxn ang="T8">
                <a:pos x="T4" y="T5"/>
              </a:cxn>
            </a:cxnLst>
            <a:rect l="T9" t="T10" r="T11" b="T12"/>
            <a:pathLst>
              <a:path w="1984" h="1701">
                <a:moveTo>
                  <a:pt x="1984" y="1701"/>
                </a:moveTo>
                <a:lnTo>
                  <a:pt x="0" y="1701"/>
                </a:lnTo>
                <a:lnTo>
                  <a:pt x="0" y="0"/>
                </a:lnTo>
              </a:path>
            </a:pathLst>
          </a:custGeom>
          <a:noFill/>
          <a:ln w="6350">
            <a:solidFill>
              <a:srgbClr val="000000"/>
            </a:solidFill>
            <a:miter lim="800000"/>
            <a:headEnd/>
            <a:tailEnd/>
          </a:ln>
        </p:spPr>
        <p:txBody>
          <a:bodyPr/>
          <a:lstStyle/>
          <a:p>
            <a:endParaRPr lang="en-US"/>
          </a:p>
        </p:txBody>
      </p:sp>
      <p:sp>
        <p:nvSpPr>
          <p:cNvPr id="15" name="Freeform 12"/>
          <p:cNvSpPr>
            <a:spLocks/>
          </p:cNvSpPr>
          <p:nvPr/>
        </p:nvSpPr>
        <p:spPr bwMode="auto">
          <a:xfrm>
            <a:off x="2154238" y="1928813"/>
            <a:ext cx="3155950" cy="2182812"/>
          </a:xfrm>
          <a:custGeom>
            <a:avLst/>
            <a:gdLst>
              <a:gd name="T0" fmla="*/ 0 w 583"/>
              <a:gd name="T1" fmla="*/ 0 h 451"/>
              <a:gd name="T2" fmla="*/ 2147483647 w 583"/>
              <a:gd name="T3" fmla="*/ 2147483647 h 451"/>
              <a:gd name="T4" fmla="*/ 0 60000 65536"/>
              <a:gd name="T5" fmla="*/ 0 60000 65536"/>
              <a:gd name="T6" fmla="*/ 0 w 583"/>
              <a:gd name="T7" fmla="*/ 0 h 451"/>
              <a:gd name="T8" fmla="*/ 583 w 583"/>
              <a:gd name="T9" fmla="*/ 451 h 451"/>
            </a:gdLst>
            <a:ahLst/>
            <a:cxnLst>
              <a:cxn ang="T4">
                <a:pos x="T0" y="T1"/>
              </a:cxn>
              <a:cxn ang="T5">
                <a:pos x="T2" y="T3"/>
              </a:cxn>
            </a:cxnLst>
            <a:rect l="T6" t="T7" r="T8" b="T9"/>
            <a:pathLst>
              <a:path w="583" h="451">
                <a:moveTo>
                  <a:pt x="0" y="0"/>
                </a:moveTo>
                <a:cubicBezTo>
                  <a:pt x="60" y="243"/>
                  <a:pt x="286" y="451"/>
                  <a:pt x="583" y="359"/>
                </a:cubicBezTo>
              </a:path>
            </a:pathLst>
          </a:custGeom>
          <a:noFill/>
          <a:ln w="30163">
            <a:solidFill>
              <a:srgbClr val="8C64AB"/>
            </a:solidFill>
            <a:miter lim="800000"/>
            <a:headEnd/>
            <a:tailEnd/>
          </a:ln>
        </p:spPr>
        <p:txBody>
          <a:bodyPr/>
          <a:lstStyle/>
          <a:p>
            <a:endParaRPr lang="en-US"/>
          </a:p>
        </p:txBody>
      </p:sp>
      <p:sp>
        <p:nvSpPr>
          <p:cNvPr id="16" name="Line 13"/>
          <p:cNvSpPr>
            <a:spLocks noChangeShapeType="1"/>
          </p:cNvSpPr>
          <p:nvPr/>
        </p:nvSpPr>
        <p:spPr bwMode="auto">
          <a:xfrm>
            <a:off x="2154238" y="1243013"/>
            <a:ext cx="1965325" cy="2889250"/>
          </a:xfrm>
          <a:prstGeom prst="line">
            <a:avLst/>
          </a:prstGeom>
          <a:noFill/>
          <a:ln w="30163">
            <a:solidFill>
              <a:srgbClr val="3C5DAA"/>
            </a:solidFill>
            <a:miter lim="800000"/>
            <a:headEnd/>
            <a:tailEnd/>
          </a:ln>
        </p:spPr>
        <p:txBody>
          <a:bodyPr/>
          <a:lstStyle/>
          <a:p>
            <a:endParaRPr lang="en-US"/>
          </a:p>
        </p:txBody>
      </p:sp>
      <p:sp>
        <p:nvSpPr>
          <p:cNvPr id="17" name="Line 14"/>
          <p:cNvSpPr>
            <a:spLocks noChangeShapeType="1"/>
          </p:cNvSpPr>
          <p:nvPr/>
        </p:nvSpPr>
        <p:spPr bwMode="auto">
          <a:xfrm flipH="1">
            <a:off x="1700213" y="3656013"/>
            <a:ext cx="238125" cy="0"/>
          </a:xfrm>
          <a:prstGeom prst="line">
            <a:avLst/>
          </a:prstGeom>
          <a:noFill/>
          <a:ln w="6350">
            <a:solidFill>
              <a:srgbClr val="000000"/>
            </a:solidFill>
            <a:miter lim="800000"/>
            <a:headEnd/>
            <a:tailEnd/>
          </a:ln>
        </p:spPr>
        <p:txBody>
          <a:bodyPr/>
          <a:lstStyle/>
          <a:p>
            <a:endParaRPr lang="en-US"/>
          </a:p>
        </p:txBody>
      </p:sp>
      <p:sp>
        <p:nvSpPr>
          <p:cNvPr id="18" name="Freeform 15"/>
          <p:cNvSpPr>
            <a:spLocks/>
          </p:cNvSpPr>
          <p:nvPr/>
        </p:nvSpPr>
        <p:spPr bwMode="auto">
          <a:xfrm>
            <a:off x="106363" y="3421063"/>
            <a:ext cx="1641475" cy="468312"/>
          </a:xfrm>
          <a:custGeom>
            <a:avLst/>
            <a:gdLst>
              <a:gd name="T0" fmla="*/ 2147483647 w 303"/>
              <a:gd name="T1" fmla="*/ 2147483647 h 97"/>
              <a:gd name="T2" fmla="*/ 2147483647 w 303"/>
              <a:gd name="T3" fmla="*/ 2147483647 h 97"/>
              <a:gd name="T4" fmla="*/ 2147483647 w 303"/>
              <a:gd name="T5" fmla="*/ 2147483647 h 97"/>
              <a:gd name="T6" fmla="*/ 0 w 303"/>
              <a:gd name="T7" fmla="*/ 2147483647 h 97"/>
              <a:gd name="T8" fmla="*/ 0 w 303"/>
              <a:gd name="T9" fmla="*/ 2147483647 h 97"/>
              <a:gd name="T10" fmla="*/ 2147483647 w 303"/>
              <a:gd name="T11" fmla="*/ 0 h 97"/>
              <a:gd name="T12" fmla="*/ 2147483647 w 303"/>
              <a:gd name="T13" fmla="*/ 0 h 97"/>
              <a:gd name="T14" fmla="*/ 2147483647 w 303"/>
              <a:gd name="T15" fmla="*/ 2147483647 h 97"/>
              <a:gd name="T16" fmla="*/ 2147483647 w 303"/>
              <a:gd name="T17" fmla="*/ 2147483647 h 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3"/>
              <a:gd name="T28" fmla="*/ 0 h 97"/>
              <a:gd name="T29" fmla="*/ 303 w 303"/>
              <a:gd name="T30" fmla="*/ 97 h 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3" h="97">
                <a:moveTo>
                  <a:pt x="303" y="81"/>
                </a:moveTo>
                <a:cubicBezTo>
                  <a:pt x="303" y="90"/>
                  <a:pt x="296" y="97"/>
                  <a:pt x="287" y="97"/>
                </a:cubicBezTo>
                <a:cubicBezTo>
                  <a:pt x="16" y="97"/>
                  <a:pt x="16" y="97"/>
                  <a:pt x="16" y="97"/>
                </a:cubicBezTo>
                <a:cubicBezTo>
                  <a:pt x="7" y="97"/>
                  <a:pt x="0" y="90"/>
                  <a:pt x="0" y="81"/>
                </a:cubicBezTo>
                <a:cubicBezTo>
                  <a:pt x="0" y="16"/>
                  <a:pt x="0" y="16"/>
                  <a:pt x="0" y="16"/>
                </a:cubicBezTo>
                <a:cubicBezTo>
                  <a:pt x="0" y="7"/>
                  <a:pt x="7" y="0"/>
                  <a:pt x="16" y="0"/>
                </a:cubicBezTo>
                <a:cubicBezTo>
                  <a:pt x="287" y="0"/>
                  <a:pt x="287" y="0"/>
                  <a:pt x="287" y="0"/>
                </a:cubicBezTo>
                <a:cubicBezTo>
                  <a:pt x="296" y="0"/>
                  <a:pt x="303" y="7"/>
                  <a:pt x="303" y="16"/>
                </a:cubicBezTo>
                <a:lnTo>
                  <a:pt x="303" y="81"/>
                </a:lnTo>
                <a:close/>
              </a:path>
            </a:pathLst>
          </a:custGeom>
          <a:solidFill>
            <a:srgbClr val="D7E2E0"/>
          </a:solidFill>
          <a:ln w="9525">
            <a:noFill/>
            <a:round/>
            <a:headEnd/>
            <a:tailEnd/>
          </a:ln>
        </p:spPr>
        <p:txBody>
          <a:bodyPr/>
          <a:lstStyle/>
          <a:p>
            <a:endParaRPr lang="en-US"/>
          </a:p>
        </p:txBody>
      </p:sp>
      <p:sp>
        <p:nvSpPr>
          <p:cNvPr id="19" name="Freeform 16"/>
          <p:cNvSpPr>
            <a:spLocks/>
          </p:cNvSpPr>
          <p:nvPr/>
        </p:nvSpPr>
        <p:spPr bwMode="auto">
          <a:xfrm>
            <a:off x="1970088" y="4664075"/>
            <a:ext cx="1879600" cy="315913"/>
          </a:xfrm>
          <a:custGeom>
            <a:avLst/>
            <a:gdLst>
              <a:gd name="T0" fmla="*/ 2147483647 w 338"/>
              <a:gd name="T1" fmla="*/ 2147483647 h 59"/>
              <a:gd name="T2" fmla="*/ 2147483647 w 338"/>
              <a:gd name="T3" fmla="*/ 2147483647 h 59"/>
              <a:gd name="T4" fmla="*/ 2147483647 w 338"/>
              <a:gd name="T5" fmla="*/ 2147483647 h 59"/>
              <a:gd name="T6" fmla="*/ 0 w 338"/>
              <a:gd name="T7" fmla="*/ 2147483647 h 59"/>
              <a:gd name="T8" fmla="*/ 0 w 338"/>
              <a:gd name="T9" fmla="*/ 2147483647 h 59"/>
              <a:gd name="T10" fmla="*/ 2147483647 w 338"/>
              <a:gd name="T11" fmla="*/ 0 h 59"/>
              <a:gd name="T12" fmla="*/ 2147483647 w 338"/>
              <a:gd name="T13" fmla="*/ 0 h 59"/>
              <a:gd name="T14" fmla="*/ 2147483647 w 338"/>
              <a:gd name="T15" fmla="*/ 2147483647 h 59"/>
              <a:gd name="T16" fmla="*/ 2147483647 w 338"/>
              <a:gd name="T17" fmla="*/ 2147483647 h 5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8"/>
              <a:gd name="T28" fmla="*/ 0 h 59"/>
              <a:gd name="T29" fmla="*/ 338 w 338"/>
              <a:gd name="T30" fmla="*/ 59 h 5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8" h="59">
                <a:moveTo>
                  <a:pt x="338" y="43"/>
                </a:moveTo>
                <a:cubicBezTo>
                  <a:pt x="338" y="52"/>
                  <a:pt x="331" y="59"/>
                  <a:pt x="323" y="59"/>
                </a:cubicBezTo>
                <a:cubicBezTo>
                  <a:pt x="16" y="59"/>
                  <a:pt x="16" y="59"/>
                  <a:pt x="16" y="59"/>
                </a:cubicBezTo>
                <a:cubicBezTo>
                  <a:pt x="7" y="59"/>
                  <a:pt x="0" y="52"/>
                  <a:pt x="0" y="43"/>
                </a:cubicBezTo>
                <a:cubicBezTo>
                  <a:pt x="0" y="16"/>
                  <a:pt x="0" y="16"/>
                  <a:pt x="0" y="16"/>
                </a:cubicBezTo>
                <a:cubicBezTo>
                  <a:pt x="0" y="7"/>
                  <a:pt x="7" y="0"/>
                  <a:pt x="16" y="0"/>
                </a:cubicBezTo>
                <a:cubicBezTo>
                  <a:pt x="323" y="0"/>
                  <a:pt x="323" y="0"/>
                  <a:pt x="323" y="0"/>
                </a:cubicBezTo>
                <a:cubicBezTo>
                  <a:pt x="331" y="0"/>
                  <a:pt x="338" y="7"/>
                  <a:pt x="338" y="16"/>
                </a:cubicBezTo>
                <a:lnTo>
                  <a:pt x="338" y="43"/>
                </a:lnTo>
                <a:close/>
              </a:path>
            </a:pathLst>
          </a:custGeom>
          <a:solidFill>
            <a:srgbClr val="D7E2E0"/>
          </a:solidFill>
          <a:ln w="9525">
            <a:noFill/>
            <a:round/>
            <a:headEnd/>
            <a:tailEnd/>
          </a:ln>
        </p:spPr>
        <p:txBody>
          <a:bodyPr/>
          <a:lstStyle/>
          <a:p>
            <a:endParaRPr lang="en-US"/>
          </a:p>
        </p:txBody>
      </p:sp>
      <p:sp>
        <p:nvSpPr>
          <p:cNvPr id="20" name="Rectangle 17"/>
          <p:cNvSpPr>
            <a:spLocks noChangeArrowheads="1"/>
          </p:cNvSpPr>
          <p:nvPr/>
        </p:nvSpPr>
        <p:spPr bwMode="auto">
          <a:xfrm>
            <a:off x="2062163" y="4708525"/>
            <a:ext cx="1760537"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Relevant output range</a:t>
            </a:r>
            <a:endParaRPr lang="en-US" sz="1400">
              <a:latin typeface="Tahoma" pitchFamily="34" charset="0"/>
            </a:endParaRPr>
          </a:p>
        </p:txBody>
      </p:sp>
      <p:sp>
        <p:nvSpPr>
          <p:cNvPr id="21" name="Freeform 18"/>
          <p:cNvSpPr>
            <a:spLocks/>
          </p:cNvSpPr>
          <p:nvPr/>
        </p:nvSpPr>
        <p:spPr bwMode="auto">
          <a:xfrm>
            <a:off x="3557588" y="2006600"/>
            <a:ext cx="2187575" cy="974725"/>
          </a:xfrm>
          <a:custGeom>
            <a:avLst/>
            <a:gdLst>
              <a:gd name="T0" fmla="*/ 2147483647 w 354"/>
              <a:gd name="T1" fmla="*/ 2147483647 h 174"/>
              <a:gd name="T2" fmla="*/ 2147483647 w 354"/>
              <a:gd name="T3" fmla="*/ 2147483647 h 174"/>
              <a:gd name="T4" fmla="*/ 2147483647 w 354"/>
              <a:gd name="T5" fmla="*/ 2147483647 h 174"/>
              <a:gd name="T6" fmla="*/ 0 w 354"/>
              <a:gd name="T7" fmla="*/ 2147483647 h 174"/>
              <a:gd name="T8" fmla="*/ 0 w 354"/>
              <a:gd name="T9" fmla="*/ 2147483647 h 174"/>
              <a:gd name="T10" fmla="*/ 2147483647 w 354"/>
              <a:gd name="T11" fmla="*/ 0 h 174"/>
              <a:gd name="T12" fmla="*/ 2147483647 w 354"/>
              <a:gd name="T13" fmla="*/ 0 h 174"/>
              <a:gd name="T14" fmla="*/ 2147483647 w 354"/>
              <a:gd name="T15" fmla="*/ 2147483647 h 174"/>
              <a:gd name="T16" fmla="*/ 2147483647 w 354"/>
              <a:gd name="T17" fmla="*/ 2147483647 h 17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54"/>
              <a:gd name="T28" fmla="*/ 0 h 174"/>
              <a:gd name="T29" fmla="*/ 354 w 354"/>
              <a:gd name="T30" fmla="*/ 174 h 17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54" h="174">
                <a:moveTo>
                  <a:pt x="354" y="158"/>
                </a:moveTo>
                <a:cubicBezTo>
                  <a:pt x="354" y="167"/>
                  <a:pt x="347" y="174"/>
                  <a:pt x="338" y="174"/>
                </a:cubicBezTo>
                <a:cubicBezTo>
                  <a:pt x="16" y="174"/>
                  <a:pt x="16" y="174"/>
                  <a:pt x="16" y="174"/>
                </a:cubicBezTo>
                <a:cubicBezTo>
                  <a:pt x="8" y="174"/>
                  <a:pt x="0" y="167"/>
                  <a:pt x="0" y="158"/>
                </a:cubicBezTo>
                <a:cubicBezTo>
                  <a:pt x="0" y="16"/>
                  <a:pt x="0" y="16"/>
                  <a:pt x="0" y="16"/>
                </a:cubicBezTo>
                <a:cubicBezTo>
                  <a:pt x="0" y="8"/>
                  <a:pt x="8" y="0"/>
                  <a:pt x="16" y="0"/>
                </a:cubicBezTo>
                <a:cubicBezTo>
                  <a:pt x="338" y="0"/>
                  <a:pt x="338" y="0"/>
                  <a:pt x="338" y="0"/>
                </a:cubicBezTo>
                <a:cubicBezTo>
                  <a:pt x="347" y="0"/>
                  <a:pt x="354" y="8"/>
                  <a:pt x="354" y="16"/>
                </a:cubicBezTo>
                <a:lnTo>
                  <a:pt x="354" y="158"/>
                </a:lnTo>
                <a:close/>
              </a:path>
            </a:pathLst>
          </a:custGeom>
          <a:solidFill>
            <a:srgbClr val="D7E2E0"/>
          </a:solidFill>
          <a:ln w="9525">
            <a:noFill/>
            <a:round/>
            <a:headEnd/>
            <a:tailEnd/>
          </a:ln>
        </p:spPr>
        <p:txBody>
          <a:bodyPr/>
          <a:lstStyle/>
          <a:p>
            <a:endParaRPr lang="en-US"/>
          </a:p>
        </p:txBody>
      </p:sp>
      <p:sp>
        <p:nvSpPr>
          <p:cNvPr id="22" name="Freeform 19"/>
          <p:cNvSpPr>
            <a:spLocks/>
          </p:cNvSpPr>
          <p:nvPr/>
        </p:nvSpPr>
        <p:spPr bwMode="auto">
          <a:xfrm>
            <a:off x="1973263" y="4479925"/>
            <a:ext cx="1822450" cy="120650"/>
          </a:xfrm>
          <a:custGeom>
            <a:avLst/>
            <a:gdLst>
              <a:gd name="T0" fmla="*/ 0 w 336"/>
              <a:gd name="T1" fmla="*/ 0 h 25"/>
              <a:gd name="T2" fmla="*/ 2147483647 w 336"/>
              <a:gd name="T3" fmla="*/ 2147483647 h 25"/>
              <a:gd name="T4" fmla="*/ 2147483647 w 336"/>
              <a:gd name="T5" fmla="*/ 2147483647 h 25"/>
              <a:gd name="T6" fmla="*/ 2147483647 w 336"/>
              <a:gd name="T7" fmla="*/ 2147483647 h 25"/>
              <a:gd name="T8" fmla="*/ 2147483647 w 336"/>
              <a:gd name="T9" fmla="*/ 2147483647 h 25"/>
              <a:gd name="T10" fmla="*/ 2147483647 w 336"/>
              <a:gd name="T11" fmla="*/ 2147483647 h 25"/>
              <a:gd name="T12" fmla="*/ 2147483647 w 336"/>
              <a:gd name="T13" fmla="*/ 0 h 25"/>
              <a:gd name="T14" fmla="*/ 0 60000 65536"/>
              <a:gd name="T15" fmla="*/ 0 60000 65536"/>
              <a:gd name="T16" fmla="*/ 0 60000 65536"/>
              <a:gd name="T17" fmla="*/ 0 60000 65536"/>
              <a:gd name="T18" fmla="*/ 0 60000 65536"/>
              <a:gd name="T19" fmla="*/ 0 60000 65536"/>
              <a:gd name="T20" fmla="*/ 0 60000 65536"/>
              <a:gd name="T21" fmla="*/ 0 w 336"/>
              <a:gd name="T22" fmla="*/ 0 h 25"/>
              <a:gd name="T23" fmla="*/ 336 w 336"/>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25">
                <a:moveTo>
                  <a:pt x="0" y="0"/>
                </a:moveTo>
                <a:cubicBezTo>
                  <a:pt x="0" y="10"/>
                  <a:pt x="2" y="15"/>
                  <a:pt x="12" y="15"/>
                </a:cubicBezTo>
                <a:cubicBezTo>
                  <a:pt x="14" y="15"/>
                  <a:pt x="158" y="15"/>
                  <a:pt x="160" y="15"/>
                </a:cubicBezTo>
                <a:cubicBezTo>
                  <a:pt x="163" y="15"/>
                  <a:pt x="168" y="17"/>
                  <a:pt x="168" y="25"/>
                </a:cubicBezTo>
                <a:cubicBezTo>
                  <a:pt x="168" y="17"/>
                  <a:pt x="173" y="15"/>
                  <a:pt x="176" y="15"/>
                </a:cubicBezTo>
                <a:cubicBezTo>
                  <a:pt x="177" y="15"/>
                  <a:pt x="322" y="15"/>
                  <a:pt x="324" y="15"/>
                </a:cubicBezTo>
                <a:cubicBezTo>
                  <a:pt x="334" y="15"/>
                  <a:pt x="336" y="10"/>
                  <a:pt x="336" y="0"/>
                </a:cubicBezTo>
              </a:path>
            </a:pathLst>
          </a:custGeom>
          <a:noFill/>
          <a:ln w="22225">
            <a:solidFill>
              <a:srgbClr val="6D6F71"/>
            </a:solidFill>
            <a:round/>
            <a:headEnd/>
            <a:tailEnd/>
          </a:ln>
        </p:spPr>
        <p:txBody>
          <a:bodyPr/>
          <a:lstStyle/>
          <a:p>
            <a:endParaRPr lang="en-US"/>
          </a:p>
        </p:txBody>
      </p:sp>
      <p:sp>
        <p:nvSpPr>
          <p:cNvPr id="23" name="Oval 20"/>
          <p:cNvSpPr>
            <a:spLocks noChangeArrowheads="1"/>
          </p:cNvSpPr>
          <p:nvPr/>
        </p:nvSpPr>
        <p:spPr bwMode="auto">
          <a:xfrm>
            <a:off x="3738563" y="3603625"/>
            <a:ext cx="111125" cy="98425"/>
          </a:xfrm>
          <a:prstGeom prst="ellipse">
            <a:avLst/>
          </a:prstGeom>
          <a:solidFill>
            <a:srgbClr val="000000"/>
          </a:solidFill>
          <a:ln w="9525">
            <a:noFill/>
            <a:round/>
            <a:headEnd/>
            <a:tailEnd/>
          </a:ln>
        </p:spPr>
        <p:txBody>
          <a:bodyPr/>
          <a:lstStyle/>
          <a:p>
            <a:endParaRPr lang="en-US"/>
          </a:p>
        </p:txBody>
      </p:sp>
      <p:sp>
        <p:nvSpPr>
          <p:cNvPr id="24" name="Freeform 21"/>
          <p:cNvSpPr>
            <a:spLocks/>
          </p:cNvSpPr>
          <p:nvPr/>
        </p:nvSpPr>
        <p:spPr bwMode="auto">
          <a:xfrm>
            <a:off x="2776538" y="2732088"/>
            <a:ext cx="600075" cy="552450"/>
          </a:xfrm>
          <a:custGeom>
            <a:avLst/>
            <a:gdLst>
              <a:gd name="T0" fmla="*/ 0 w 111"/>
              <a:gd name="T1" fmla="*/ 0 h 114"/>
              <a:gd name="T2" fmla="*/ 2147483647 w 111"/>
              <a:gd name="T3" fmla="*/ 2147483647 h 114"/>
              <a:gd name="T4" fmla="*/ 2147483647 w 111"/>
              <a:gd name="T5" fmla="*/ 2147483647 h 114"/>
              <a:gd name="T6" fmla="*/ 0 60000 65536"/>
              <a:gd name="T7" fmla="*/ 0 60000 65536"/>
              <a:gd name="T8" fmla="*/ 0 60000 65536"/>
              <a:gd name="T9" fmla="*/ 0 w 111"/>
              <a:gd name="T10" fmla="*/ 0 h 114"/>
              <a:gd name="T11" fmla="*/ 111 w 111"/>
              <a:gd name="T12" fmla="*/ 114 h 114"/>
            </a:gdLst>
            <a:ahLst/>
            <a:cxnLst>
              <a:cxn ang="T6">
                <a:pos x="T0" y="T1"/>
              </a:cxn>
              <a:cxn ang="T7">
                <a:pos x="T2" y="T3"/>
              </a:cxn>
              <a:cxn ang="T8">
                <a:pos x="T4" y="T5"/>
              </a:cxn>
            </a:cxnLst>
            <a:rect l="T9" t="T10" r="T11" b="T12"/>
            <a:pathLst>
              <a:path w="111" h="114">
                <a:moveTo>
                  <a:pt x="0" y="0"/>
                </a:moveTo>
                <a:cubicBezTo>
                  <a:pt x="0" y="0"/>
                  <a:pt x="28" y="39"/>
                  <a:pt x="53" y="63"/>
                </a:cubicBezTo>
                <a:cubicBezTo>
                  <a:pt x="78" y="87"/>
                  <a:pt x="111" y="114"/>
                  <a:pt x="111" y="114"/>
                </a:cubicBezTo>
              </a:path>
            </a:pathLst>
          </a:custGeom>
          <a:noFill/>
          <a:ln w="30163">
            <a:solidFill>
              <a:srgbClr val="000000"/>
            </a:solidFill>
            <a:miter lim="800000"/>
            <a:headEnd/>
            <a:tailEnd/>
          </a:ln>
        </p:spPr>
        <p:txBody>
          <a:bodyPr/>
          <a:lstStyle/>
          <a:p>
            <a:endParaRPr lang="en-US"/>
          </a:p>
        </p:txBody>
      </p:sp>
      <p:sp>
        <p:nvSpPr>
          <p:cNvPr id="25" name="Freeform 22"/>
          <p:cNvSpPr>
            <a:spLocks/>
          </p:cNvSpPr>
          <p:nvPr/>
        </p:nvSpPr>
        <p:spPr bwMode="auto">
          <a:xfrm>
            <a:off x="3306763" y="3216275"/>
            <a:ext cx="152400" cy="122238"/>
          </a:xfrm>
          <a:custGeom>
            <a:avLst/>
            <a:gdLst>
              <a:gd name="T0" fmla="*/ 2147483647 w 28"/>
              <a:gd name="T1" fmla="*/ 2147483647 h 25"/>
              <a:gd name="T2" fmla="*/ 2147483647 w 28"/>
              <a:gd name="T3" fmla="*/ 0 h 25"/>
              <a:gd name="T4" fmla="*/ 2147483647 w 28"/>
              <a:gd name="T5" fmla="*/ 0 h 25"/>
              <a:gd name="T6" fmla="*/ 2147483647 w 28"/>
              <a:gd name="T7" fmla="*/ 2147483647 h 25"/>
              <a:gd name="T8" fmla="*/ 2147483647 w 28"/>
              <a:gd name="T9" fmla="*/ 2147483647 h 25"/>
              <a:gd name="T10" fmla="*/ 2147483647 w 28"/>
              <a:gd name="T11" fmla="*/ 2147483647 h 25"/>
              <a:gd name="T12" fmla="*/ 0 w 28"/>
              <a:gd name="T13" fmla="*/ 2147483647 h 25"/>
              <a:gd name="T14" fmla="*/ 0 w 28"/>
              <a:gd name="T15" fmla="*/ 2147483647 h 25"/>
              <a:gd name="T16" fmla="*/ 2147483647 w 28"/>
              <a:gd name="T17" fmla="*/ 2147483647 h 2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25"/>
              <a:gd name="T29" fmla="*/ 28 w 28"/>
              <a:gd name="T30" fmla="*/ 25 h 2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25">
                <a:moveTo>
                  <a:pt x="9" y="10"/>
                </a:moveTo>
                <a:cubicBezTo>
                  <a:pt x="10" y="0"/>
                  <a:pt x="10" y="0"/>
                  <a:pt x="10" y="0"/>
                </a:cubicBezTo>
                <a:cubicBezTo>
                  <a:pt x="11" y="0"/>
                  <a:pt x="11" y="0"/>
                  <a:pt x="11" y="0"/>
                </a:cubicBezTo>
                <a:cubicBezTo>
                  <a:pt x="18" y="13"/>
                  <a:pt x="18" y="13"/>
                  <a:pt x="18" y="13"/>
                </a:cubicBezTo>
                <a:cubicBezTo>
                  <a:pt x="22" y="17"/>
                  <a:pt x="25" y="21"/>
                  <a:pt x="28" y="25"/>
                </a:cubicBezTo>
                <a:cubicBezTo>
                  <a:pt x="24" y="22"/>
                  <a:pt x="19" y="20"/>
                  <a:pt x="14" y="18"/>
                </a:cubicBezTo>
                <a:cubicBezTo>
                  <a:pt x="0" y="14"/>
                  <a:pt x="0" y="14"/>
                  <a:pt x="0" y="14"/>
                </a:cubicBezTo>
                <a:cubicBezTo>
                  <a:pt x="0" y="14"/>
                  <a:pt x="0" y="14"/>
                  <a:pt x="0" y="14"/>
                </a:cubicBezTo>
                <a:lnTo>
                  <a:pt x="9" y="10"/>
                </a:lnTo>
                <a:close/>
              </a:path>
            </a:pathLst>
          </a:custGeom>
          <a:solidFill>
            <a:srgbClr val="000000"/>
          </a:solidFill>
          <a:ln w="9525">
            <a:noFill/>
            <a:round/>
            <a:headEnd/>
            <a:tailEnd/>
          </a:ln>
        </p:spPr>
        <p:txBody>
          <a:bodyPr/>
          <a:lstStyle/>
          <a:p>
            <a:endParaRPr lang="en-US"/>
          </a:p>
        </p:txBody>
      </p:sp>
      <p:sp>
        <p:nvSpPr>
          <p:cNvPr id="26" name="Freeform 23"/>
          <p:cNvSpPr>
            <a:spLocks/>
          </p:cNvSpPr>
          <p:nvPr/>
        </p:nvSpPr>
        <p:spPr bwMode="auto">
          <a:xfrm>
            <a:off x="3090863" y="3057525"/>
            <a:ext cx="152400" cy="125413"/>
          </a:xfrm>
          <a:custGeom>
            <a:avLst/>
            <a:gdLst>
              <a:gd name="T0" fmla="*/ 2147483647 w 28"/>
              <a:gd name="T1" fmla="*/ 2147483647 h 26"/>
              <a:gd name="T2" fmla="*/ 2147483647 w 28"/>
              <a:gd name="T3" fmla="*/ 0 h 26"/>
              <a:gd name="T4" fmla="*/ 2147483647 w 28"/>
              <a:gd name="T5" fmla="*/ 0 h 26"/>
              <a:gd name="T6" fmla="*/ 2147483647 w 28"/>
              <a:gd name="T7" fmla="*/ 2147483647 h 26"/>
              <a:gd name="T8" fmla="*/ 2147483647 w 28"/>
              <a:gd name="T9" fmla="*/ 2147483647 h 26"/>
              <a:gd name="T10" fmla="*/ 2147483647 w 28"/>
              <a:gd name="T11" fmla="*/ 2147483647 h 26"/>
              <a:gd name="T12" fmla="*/ 0 w 28"/>
              <a:gd name="T13" fmla="*/ 2147483647 h 26"/>
              <a:gd name="T14" fmla="*/ 0 w 28"/>
              <a:gd name="T15" fmla="*/ 2147483647 h 26"/>
              <a:gd name="T16" fmla="*/ 2147483647 w 28"/>
              <a:gd name="T17" fmla="*/ 2147483647 h 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8"/>
              <a:gd name="T28" fmla="*/ 0 h 26"/>
              <a:gd name="T29" fmla="*/ 28 w 28"/>
              <a:gd name="T30" fmla="*/ 26 h 2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8" h="26">
                <a:moveTo>
                  <a:pt x="10" y="10"/>
                </a:moveTo>
                <a:cubicBezTo>
                  <a:pt x="12" y="0"/>
                  <a:pt x="12" y="0"/>
                  <a:pt x="12" y="0"/>
                </a:cubicBezTo>
                <a:cubicBezTo>
                  <a:pt x="12" y="0"/>
                  <a:pt x="12" y="0"/>
                  <a:pt x="12" y="0"/>
                </a:cubicBezTo>
                <a:cubicBezTo>
                  <a:pt x="19" y="14"/>
                  <a:pt x="19" y="14"/>
                  <a:pt x="19" y="14"/>
                </a:cubicBezTo>
                <a:cubicBezTo>
                  <a:pt x="22" y="18"/>
                  <a:pt x="25" y="22"/>
                  <a:pt x="28" y="26"/>
                </a:cubicBezTo>
                <a:cubicBezTo>
                  <a:pt x="24" y="23"/>
                  <a:pt x="19" y="21"/>
                  <a:pt x="15" y="19"/>
                </a:cubicBezTo>
                <a:cubicBezTo>
                  <a:pt x="0" y="14"/>
                  <a:pt x="0" y="14"/>
                  <a:pt x="0" y="14"/>
                </a:cubicBezTo>
                <a:cubicBezTo>
                  <a:pt x="0" y="13"/>
                  <a:pt x="0" y="13"/>
                  <a:pt x="0" y="13"/>
                </a:cubicBezTo>
                <a:lnTo>
                  <a:pt x="10" y="10"/>
                </a:lnTo>
                <a:close/>
              </a:path>
            </a:pathLst>
          </a:custGeom>
          <a:solidFill>
            <a:srgbClr val="000000"/>
          </a:solidFill>
          <a:ln w="9525">
            <a:noFill/>
            <a:round/>
            <a:headEnd/>
            <a:tailEnd/>
          </a:ln>
        </p:spPr>
        <p:txBody>
          <a:bodyPr/>
          <a:lstStyle/>
          <a:p>
            <a:endParaRPr lang="en-US"/>
          </a:p>
        </p:txBody>
      </p:sp>
      <p:sp>
        <p:nvSpPr>
          <p:cNvPr id="27" name="Freeform 24"/>
          <p:cNvSpPr>
            <a:spLocks/>
          </p:cNvSpPr>
          <p:nvPr/>
        </p:nvSpPr>
        <p:spPr bwMode="auto">
          <a:xfrm>
            <a:off x="2897188" y="2881313"/>
            <a:ext cx="139700" cy="131762"/>
          </a:xfrm>
          <a:custGeom>
            <a:avLst/>
            <a:gdLst>
              <a:gd name="T0" fmla="*/ 2147483647 w 26"/>
              <a:gd name="T1" fmla="*/ 2147483647 h 27"/>
              <a:gd name="T2" fmla="*/ 2147483647 w 26"/>
              <a:gd name="T3" fmla="*/ 0 h 27"/>
              <a:gd name="T4" fmla="*/ 2147483647 w 26"/>
              <a:gd name="T5" fmla="*/ 0 h 27"/>
              <a:gd name="T6" fmla="*/ 2147483647 w 26"/>
              <a:gd name="T7" fmla="*/ 2147483647 h 27"/>
              <a:gd name="T8" fmla="*/ 2147483647 w 26"/>
              <a:gd name="T9" fmla="*/ 2147483647 h 27"/>
              <a:gd name="T10" fmla="*/ 2147483647 w 26"/>
              <a:gd name="T11" fmla="*/ 2147483647 h 27"/>
              <a:gd name="T12" fmla="*/ 0 w 26"/>
              <a:gd name="T13" fmla="*/ 2147483647 h 27"/>
              <a:gd name="T14" fmla="*/ 0 w 26"/>
              <a:gd name="T15" fmla="*/ 2147483647 h 27"/>
              <a:gd name="T16" fmla="*/ 2147483647 w 26"/>
              <a:gd name="T17" fmla="*/ 2147483647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
              <a:gd name="T28" fmla="*/ 0 h 27"/>
              <a:gd name="T29" fmla="*/ 26 w 26"/>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 h="27">
                <a:moveTo>
                  <a:pt x="10" y="10"/>
                </a:moveTo>
                <a:cubicBezTo>
                  <a:pt x="13" y="0"/>
                  <a:pt x="13" y="0"/>
                  <a:pt x="13" y="0"/>
                </a:cubicBezTo>
                <a:cubicBezTo>
                  <a:pt x="13" y="0"/>
                  <a:pt x="13" y="0"/>
                  <a:pt x="13" y="0"/>
                </a:cubicBezTo>
                <a:cubicBezTo>
                  <a:pt x="19" y="14"/>
                  <a:pt x="19" y="14"/>
                  <a:pt x="19" y="14"/>
                </a:cubicBezTo>
                <a:cubicBezTo>
                  <a:pt x="21" y="19"/>
                  <a:pt x="24" y="23"/>
                  <a:pt x="26" y="27"/>
                </a:cubicBezTo>
                <a:cubicBezTo>
                  <a:pt x="22" y="25"/>
                  <a:pt x="18" y="22"/>
                  <a:pt x="14" y="19"/>
                </a:cubicBezTo>
                <a:cubicBezTo>
                  <a:pt x="0" y="12"/>
                  <a:pt x="0" y="12"/>
                  <a:pt x="0" y="12"/>
                </a:cubicBezTo>
                <a:cubicBezTo>
                  <a:pt x="0" y="12"/>
                  <a:pt x="0" y="12"/>
                  <a:pt x="0" y="12"/>
                </a:cubicBezTo>
                <a:lnTo>
                  <a:pt x="10" y="10"/>
                </a:lnTo>
                <a:close/>
              </a:path>
            </a:pathLst>
          </a:custGeom>
          <a:solidFill>
            <a:srgbClr val="000000"/>
          </a:solidFill>
          <a:ln w="9525">
            <a:noFill/>
            <a:round/>
            <a:headEnd/>
            <a:tailEnd/>
          </a:ln>
        </p:spPr>
        <p:txBody>
          <a:bodyPr/>
          <a:lstStyle/>
          <a:p>
            <a:endParaRPr lang="en-US"/>
          </a:p>
        </p:txBody>
      </p:sp>
      <p:cxnSp>
        <p:nvCxnSpPr>
          <p:cNvPr id="28" name="Straight Connector 86"/>
          <p:cNvCxnSpPr>
            <a:cxnSpLocks noChangeShapeType="1"/>
          </p:cNvCxnSpPr>
          <p:nvPr/>
        </p:nvCxnSpPr>
        <p:spPr bwMode="auto">
          <a:xfrm>
            <a:off x="3789363" y="3702050"/>
            <a:ext cx="0" cy="687388"/>
          </a:xfrm>
          <a:prstGeom prst="line">
            <a:avLst/>
          </a:prstGeom>
          <a:noFill/>
          <a:ln w="15875">
            <a:solidFill>
              <a:srgbClr val="808080"/>
            </a:solidFill>
            <a:prstDash val="sysDot"/>
            <a:round/>
            <a:headEnd/>
            <a:tailEnd type="none" w="med" len="lg"/>
          </a:ln>
        </p:spPr>
      </p:cxnSp>
      <p:cxnSp>
        <p:nvCxnSpPr>
          <p:cNvPr id="29" name="Straight Connector 86"/>
          <p:cNvCxnSpPr>
            <a:cxnSpLocks noChangeShapeType="1"/>
          </p:cNvCxnSpPr>
          <p:nvPr/>
        </p:nvCxnSpPr>
        <p:spPr bwMode="auto">
          <a:xfrm>
            <a:off x="1979613" y="3663950"/>
            <a:ext cx="1781175" cy="0"/>
          </a:xfrm>
          <a:prstGeom prst="line">
            <a:avLst/>
          </a:prstGeom>
          <a:noFill/>
          <a:ln w="15875">
            <a:solidFill>
              <a:srgbClr val="808080"/>
            </a:solidFill>
            <a:prstDash val="sysDot"/>
            <a:round/>
            <a:headEnd/>
            <a:tailEnd type="none" w="med" len="lg"/>
          </a:ln>
        </p:spPr>
      </p:cxnSp>
      <p:sp>
        <p:nvSpPr>
          <p:cNvPr id="30" name="Rectangle 27"/>
          <p:cNvSpPr>
            <a:spLocks noChangeArrowheads="1"/>
          </p:cNvSpPr>
          <p:nvPr/>
        </p:nvSpPr>
        <p:spPr bwMode="auto">
          <a:xfrm>
            <a:off x="3594100" y="2078038"/>
            <a:ext cx="2090738" cy="862012"/>
          </a:xfrm>
          <a:prstGeom prst="rect">
            <a:avLst/>
          </a:prstGeom>
          <a:noFill/>
          <a:ln w="9525">
            <a:noFill/>
            <a:miter lim="800000"/>
            <a:headEnd/>
            <a:tailEnd/>
          </a:ln>
        </p:spPr>
        <p:txBody>
          <a:bodyPr lIns="0" tIns="0" rIns="0" bIns="0">
            <a:spAutoFit/>
          </a:bodyPr>
          <a:lstStyle/>
          <a:p>
            <a:pPr marL="1588" indent="-1588" algn="ctr"/>
            <a:r>
              <a:rPr lang="en-US" sz="1400" b="1">
                <a:solidFill>
                  <a:srgbClr val="000000"/>
                </a:solidFill>
                <a:latin typeface="Myriad Pro"/>
              </a:rPr>
              <a:t>Natural monopoly. </a:t>
            </a:r>
            <a:r>
              <a:rPr lang="en-US" sz="1400">
                <a:solidFill>
                  <a:srgbClr val="000000"/>
                </a:solidFill>
                <a:latin typeface="Myriad Pro"/>
              </a:rPr>
              <a:t>Average total cost is falling over the relevant output range</a:t>
            </a:r>
            <a:endParaRPr lang="en-US" sz="1400">
              <a:latin typeface="Tahoma" pitchFamily="34" charset="0"/>
            </a:endParaRPr>
          </a:p>
        </p:txBody>
      </p:sp>
      <p:sp>
        <p:nvSpPr>
          <p:cNvPr id="31" name="Rectangle 28"/>
          <p:cNvSpPr>
            <a:spLocks noChangeArrowheads="1"/>
          </p:cNvSpPr>
          <p:nvPr/>
        </p:nvSpPr>
        <p:spPr bwMode="auto">
          <a:xfrm>
            <a:off x="109538" y="3436938"/>
            <a:ext cx="1651000"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Natural monopolist’s break-even price</a:t>
            </a:r>
            <a:endParaRPr lang="en-US" sz="1400">
              <a:latin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22" presetClass="entr" presetSubtype="8"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left)">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wipe(left)">
                                      <p:cBhvr>
                                        <p:cTn id="20" dur="500"/>
                                        <p:tgtEl>
                                          <p:spTgt spid="24"/>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left)">
                                      <p:cBhvr>
                                        <p:cTn id="23" dur="500"/>
                                        <p:tgtEl>
                                          <p:spTgt spid="25"/>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wipe(left)">
                                      <p:cBhvr>
                                        <p:cTn id="26" dur="500"/>
                                        <p:tgtEl>
                                          <p:spTgt spid="26"/>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wipe(left)">
                                      <p:cBhvr>
                                        <p:cTn id="29" dur="500"/>
                                        <p:tgtEl>
                                          <p:spTgt spid="27"/>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childTnLst>
                                </p:cTn>
                              </p:par>
                              <p:par>
                                <p:cTn id="36" presetID="22" presetClass="entr" presetSubtype="8"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left)">
                                      <p:cBhvr>
                                        <p:cTn id="38" dur="500"/>
                                        <p:tgtEl>
                                          <p:spTgt spid="15"/>
                                        </p:tgtEl>
                                      </p:cBhvr>
                                    </p:animEffec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22" presetClass="entr" presetSubtype="8"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wipe(left)">
                                      <p:cBhvr>
                                        <p:cTn id="51" dur="500"/>
                                        <p:tgtEl>
                                          <p:spTgt spid="30"/>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ipe(left)">
                                      <p:cBhvr>
                                        <p:cTn id="54" dur="500"/>
                                        <p:tgtEl>
                                          <p:spTgt spid="20"/>
                                        </p:tgtEl>
                                      </p:cBhvr>
                                    </p:animEffect>
                                  </p:childTnLst>
                                </p:cTn>
                              </p:par>
                              <p:par>
                                <p:cTn id="55" presetID="1"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par>
                                <p:cTn id="61" presetID="22" presetClass="entr" presetSubtype="8" fill="hold" grpId="0" nodeType="withEffect">
                                  <p:stCondLst>
                                    <p:cond delay="0"/>
                                  </p:stCondLst>
                                  <p:childTnLst>
                                    <p:set>
                                      <p:cBhvr>
                                        <p:cTn id="62" dur="1" fill="hold">
                                          <p:stCondLst>
                                            <p:cond delay="0"/>
                                          </p:stCondLst>
                                        </p:cTn>
                                        <p:tgtEl>
                                          <p:spTgt spid="31"/>
                                        </p:tgtEl>
                                        <p:attrNameLst>
                                          <p:attrName>style.visibility</p:attrName>
                                        </p:attrNameLst>
                                      </p:cBhvr>
                                      <p:to>
                                        <p:strVal val="visible"/>
                                      </p:to>
                                    </p:set>
                                    <p:animEffect transition="in" filter="wipe(left)">
                                      <p:cBhvr>
                                        <p:cTn id="63" dur="500"/>
                                        <p:tgtEl>
                                          <p:spTgt spid="31"/>
                                        </p:tgtEl>
                                      </p:cBhvr>
                                    </p:animEffect>
                                  </p:childTnLst>
                                </p:cTn>
                              </p:par>
                              <p:par>
                                <p:cTn id="64" presetID="1" presetClass="entr" presetSubtype="0"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7"/>
                                        </p:tgtEl>
                                        <p:attrNameLst>
                                          <p:attrName>style.visibility</p:attrName>
                                        </p:attrNameLst>
                                      </p:cBhvr>
                                      <p:to>
                                        <p:strVal val="visible"/>
                                      </p:to>
                                    </p:set>
                                    <p:animEffect transition="in" filter="wipe(left)">
                                      <p:cBhvr>
                                        <p:cTn id="70" dur="500"/>
                                        <p:tgtEl>
                                          <p:spTgt spid="7"/>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6"/>
                                        </p:tgtEl>
                                        <p:attrNameLst>
                                          <p:attrName>style.visibility</p:attrName>
                                        </p:attrNameLst>
                                      </p:cBhvr>
                                      <p:to>
                                        <p:strVal val="visible"/>
                                      </p:to>
                                    </p:set>
                                    <p:animEffect transition="in" filter="wipe(left)">
                                      <p:cBhvr>
                                        <p:cTn id="7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p:bldP spid="11" grpId="0"/>
      <p:bldP spid="12" grpId="0"/>
      <p:bldP spid="13" grpId="0"/>
      <p:bldP spid="14" grpId="0" animBg="1"/>
      <p:bldP spid="15" grpId="0" animBg="1"/>
      <p:bldP spid="16" grpId="0" animBg="1"/>
      <p:bldP spid="17" grpId="0" animBg="1"/>
      <p:bldP spid="18" grpId="0" animBg="1"/>
      <p:bldP spid="19" grpId="0" animBg="1"/>
      <p:bldP spid="20" grpId="0"/>
      <p:bldP spid="21" grpId="0" animBg="1"/>
      <p:bldP spid="22" grpId="0" animBg="1"/>
      <p:bldP spid="23" grpId="0" animBg="1"/>
      <p:bldP spid="24" grpId="0" animBg="1"/>
      <p:bldP spid="25" grpId="0" animBg="1"/>
      <p:bldP spid="26" grpId="0" animBg="1"/>
      <p:bldP spid="27" grpId="0" animBg="1"/>
      <p:bldP spid="30" grpId="0"/>
      <p:bldP spid="3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rrowheads="1"/>
          </p:cNvSpPr>
          <p:nvPr>
            <p:ph type="title" idx="4294967295"/>
          </p:nvPr>
        </p:nvSpPr>
        <p:spPr>
          <a:xfrm>
            <a:off x="900113" y="76200"/>
            <a:ext cx="8010525" cy="609600"/>
          </a:xfrm>
        </p:spPr>
        <p:txBody>
          <a:bodyPr/>
          <a:lstStyle/>
          <a:p>
            <a:pPr>
              <a:defRPr/>
            </a:pPr>
            <a:r>
              <a:rPr lang="en-US" dirty="0" smtClean="0"/>
              <a:t>Economies of Scale and Natural Monopoly</a:t>
            </a:r>
            <a:endParaRPr lang="en-US" b="0" dirty="0" smtClean="0"/>
          </a:p>
        </p:txBody>
      </p:sp>
      <p:sp>
        <p:nvSpPr>
          <p:cNvPr id="82949" name="Text Box 5"/>
          <p:cNvSpPr txBox="1">
            <a:spLocks noChangeArrowheads="1"/>
          </p:cNvSpPr>
          <p:nvPr/>
        </p:nvSpPr>
        <p:spPr bwMode="auto">
          <a:xfrm>
            <a:off x="684213" y="836613"/>
            <a:ext cx="8226425" cy="5688012"/>
          </a:xfrm>
          <a:prstGeom prst="rect">
            <a:avLst/>
          </a:prstGeom>
          <a:noFill/>
          <a:ln w="9525" algn="ctr">
            <a:noFill/>
            <a:miter lim="800000"/>
            <a:headEnd/>
            <a:tailEnd type="none" w="med" len="lg"/>
          </a:ln>
        </p:spPr>
        <p:txBody>
          <a:bodyPr/>
          <a:lstStyle/>
          <a:p>
            <a:pPr marL="230188" indent="-230188">
              <a:buClr>
                <a:schemeClr val="tx1"/>
              </a:buClr>
              <a:buFont typeface="Wingdings" pitchFamily="2" charset="2"/>
              <a:buChar char="§"/>
            </a:pPr>
            <a:r>
              <a:rPr lang="en-US" sz="2400"/>
              <a:t>A </a:t>
            </a:r>
            <a:r>
              <a:rPr lang="en-US" sz="2400" b="1"/>
              <a:t>natural monopoly </a:t>
            </a:r>
            <a:r>
              <a:rPr lang="en-US" sz="2400"/>
              <a:t>exists when a single firm that produces all of an industry’s output experiences much lower per unit costs than any firm that enters the market. </a:t>
            </a:r>
            <a:br>
              <a:rPr lang="en-US" sz="2400"/>
            </a:br>
            <a:endParaRPr lang="en-US" sz="2400"/>
          </a:p>
          <a:p>
            <a:pPr marL="230188" indent="-230188">
              <a:buClr>
                <a:schemeClr val="tx1"/>
              </a:buClr>
              <a:buFont typeface="Wingdings" pitchFamily="2" charset="2"/>
              <a:buChar char="§"/>
            </a:pPr>
            <a:r>
              <a:rPr lang="en-US" sz="2400"/>
              <a:t>It arises when increasing returns to scale provide a large cost advantage to having all of an industry’s output produced by a single firm. </a:t>
            </a:r>
          </a:p>
          <a:p>
            <a:pPr marL="742950" lvl="1" indent="-285750">
              <a:buClr>
                <a:schemeClr val="tx1"/>
              </a:buClr>
              <a:buFont typeface="Wingdings" pitchFamily="2" charset="2"/>
              <a:buChar char="§"/>
            </a:pPr>
            <a:r>
              <a:rPr lang="en-US" sz="2400"/>
              <a:t>One firm has lower per unit costs than two,</a:t>
            </a:r>
            <a:br>
              <a:rPr lang="en-US" sz="2400"/>
            </a:br>
            <a:r>
              <a:rPr lang="en-US" sz="2400"/>
              <a:t>two has lower per unit costs than three, etc.</a:t>
            </a:r>
            <a:br>
              <a:rPr lang="en-US" sz="2400"/>
            </a:br>
            <a:endParaRPr lang="en-US" sz="2400"/>
          </a:p>
          <a:p>
            <a:pPr marL="230188" indent="-230188">
              <a:buClr>
                <a:schemeClr val="tx1"/>
              </a:buClr>
              <a:buFont typeface="Wingdings" pitchFamily="2" charset="2"/>
              <a:buChar char="§"/>
            </a:pPr>
            <a:r>
              <a:rPr lang="en-US" sz="2400"/>
              <a:t>Under such circumstances, average total cost is declining over the output range relevant for the industry. </a:t>
            </a:r>
            <a:br>
              <a:rPr lang="en-US" sz="2400"/>
            </a:br>
            <a:endParaRPr lang="en-US" sz="2400"/>
          </a:p>
          <a:p>
            <a:pPr marL="230188" indent="-230188">
              <a:buClr>
                <a:schemeClr val="tx1"/>
              </a:buClr>
              <a:buFont typeface="Wingdings" pitchFamily="2" charset="2"/>
              <a:buChar char="§"/>
            </a:pPr>
            <a:r>
              <a:rPr lang="en-US" sz="2400"/>
              <a:t>This creates a barrier to entry because an established monopolist has lower average total cost than any smaller firm.</a:t>
            </a: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p:cNvSpPr>
            <a:spLocks noGrp="1"/>
          </p:cNvSpPr>
          <p:nvPr>
            <p:ph type="title" idx="4294967295"/>
          </p:nvPr>
        </p:nvSpPr>
        <p:spPr bwMode="auto">
          <a:noFill/>
        </p:spPr>
        <p:txBody>
          <a:bodyPr/>
          <a:lstStyle/>
          <a:p>
            <a:r>
              <a:rPr lang="en-US" smtClean="0">
                <a:effectLst/>
              </a:rPr>
              <a:t>3. Technological Superiority</a:t>
            </a:r>
          </a:p>
        </p:txBody>
      </p:sp>
      <p:sp>
        <p:nvSpPr>
          <p:cNvPr id="51202" name="Content Placeholder 2"/>
          <p:cNvSpPr>
            <a:spLocks noGrp="1"/>
          </p:cNvSpPr>
          <p:nvPr>
            <p:ph idx="4294967295"/>
          </p:nvPr>
        </p:nvSpPr>
        <p:spPr>
          <a:xfrm>
            <a:off x="755650" y="836613"/>
            <a:ext cx="8280400" cy="4583112"/>
          </a:xfrm>
        </p:spPr>
        <p:txBody>
          <a:bodyPr/>
          <a:lstStyle/>
          <a:p>
            <a:pPr marL="0" indent="0"/>
            <a:r>
              <a:rPr lang="en-US" smtClean="0"/>
              <a:t>A firm that maintains a technological advantage over potential competitors can establish itself as a monopolist.</a:t>
            </a:r>
          </a:p>
          <a:p>
            <a:pPr lvl="1"/>
            <a:r>
              <a:rPr lang="en-US" smtClean="0"/>
              <a:t>A particular firm may sometimes</a:t>
            </a:r>
            <a:br>
              <a:rPr lang="en-US" smtClean="0"/>
            </a:br>
            <a:r>
              <a:rPr lang="en-US" smtClean="0"/>
              <a:t>be better able to acquire, </a:t>
            </a:r>
            <a:br>
              <a:rPr lang="en-US" smtClean="0"/>
            </a:br>
            <a:r>
              <a:rPr lang="en-US" smtClean="0"/>
              <a:t>integrate and use technology </a:t>
            </a:r>
            <a:br>
              <a:rPr lang="en-US" smtClean="0"/>
            </a:br>
            <a:r>
              <a:rPr lang="en-US" smtClean="0"/>
              <a:t>in producing its goods. </a:t>
            </a:r>
          </a:p>
          <a:p>
            <a:pPr lvl="1"/>
            <a:r>
              <a:rPr lang="en-US" smtClean="0"/>
              <a:t>Technological advantage</a:t>
            </a:r>
            <a:br>
              <a:rPr lang="en-US" smtClean="0"/>
            </a:br>
            <a:r>
              <a:rPr lang="en-US" smtClean="0"/>
              <a:t>can sometimes quickly </a:t>
            </a:r>
            <a:br>
              <a:rPr lang="en-US" smtClean="0"/>
            </a:br>
            <a:r>
              <a:rPr lang="en-US" smtClean="0"/>
              <a:t>disappear</a:t>
            </a:r>
          </a:p>
        </p:txBody>
      </p:sp>
      <p:pic>
        <p:nvPicPr>
          <p:cNvPr id="51203" name="Picture 7"/>
          <p:cNvPicPr>
            <a:picLocks noChangeAspect="1" noChangeArrowheads="1"/>
          </p:cNvPicPr>
          <p:nvPr/>
        </p:nvPicPr>
        <p:blipFill>
          <a:blip r:embed="rId2"/>
          <a:srcRect/>
          <a:stretch>
            <a:fillRect/>
          </a:stretch>
        </p:blipFill>
        <p:spPr bwMode="auto">
          <a:xfrm>
            <a:off x="2771775" y="4616450"/>
            <a:ext cx="3635375" cy="1819275"/>
          </a:xfrm>
          <a:prstGeom prst="rect">
            <a:avLst/>
          </a:prstGeom>
          <a:noFill/>
          <a:ln w="9525">
            <a:noFill/>
            <a:miter lim="800000"/>
            <a:headEnd/>
            <a:tailEnd/>
          </a:ln>
        </p:spPr>
      </p:pic>
      <p:pic>
        <p:nvPicPr>
          <p:cNvPr id="51204" name="Picture 6"/>
          <p:cNvPicPr>
            <a:picLocks noChangeAspect="1" noChangeArrowheads="1"/>
          </p:cNvPicPr>
          <p:nvPr/>
        </p:nvPicPr>
        <p:blipFill>
          <a:blip r:embed="rId3"/>
          <a:srcRect/>
          <a:stretch>
            <a:fillRect/>
          </a:stretch>
        </p:blipFill>
        <p:spPr bwMode="auto">
          <a:xfrm>
            <a:off x="6119813" y="2528888"/>
            <a:ext cx="2506662" cy="30257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204"/>
                                        </p:tgtEl>
                                        <p:attrNameLst>
                                          <p:attrName>style.visibility</p:attrName>
                                        </p:attrNameLst>
                                      </p:cBhvr>
                                      <p:to>
                                        <p:strVal val="visible"/>
                                      </p:to>
                                    </p:set>
                                    <p:animEffect transition="in" filter="fade">
                                      <p:cBhvr>
                                        <p:cTn id="7" dur="500"/>
                                        <p:tgtEl>
                                          <p:spTgt spid="51204"/>
                                        </p:tgtEl>
                                      </p:cBhvr>
                                    </p:animEffect>
                                  </p:childTnLst>
                                </p:cTn>
                              </p:par>
                              <p:par>
                                <p:cTn id="8" presetID="10" presetClass="entr" presetSubtype="0" fill="hold" nodeType="withEffect">
                                  <p:stCondLst>
                                    <p:cond delay="0"/>
                                  </p:stCondLst>
                                  <p:childTnLst>
                                    <p:set>
                                      <p:cBhvr>
                                        <p:cTn id="9" dur="1" fill="hold">
                                          <p:stCondLst>
                                            <p:cond delay="0"/>
                                          </p:stCondLst>
                                        </p:cTn>
                                        <p:tgtEl>
                                          <p:spTgt spid="51203"/>
                                        </p:tgtEl>
                                        <p:attrNameLst>
                                          <p:attrName>style.visibility</p:attrName>
                                        </p:attrNameLst>
                                      </p:cBhvr>
                                      <p:to>
                                        <p:strVal val="visible"/>
                                      </p:to>
                                    </p:set>
                                    <p:animEffect transition="in" filter="fade">
                                      <p:cBhvr>
                                        <p:cTn id="10" dur="500"/>
                                        <p:tgtEl>
                                          <p:spTgt spid="51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idx="4294967295"/>
          </p:nvPr>
        </p:nvSpPr>
        <p:spPr bwMode="auto">
          <a:noFill/>
        </p:spPr>
        <p:txBody>
          <a:bodyPr/>
          <a:lstStyle/>
          <a:p>
            <a:r>
              <a:rPr lang="en-US" smtClean="0">
                <a:effectLst/>
              </a:rPr>
              <a:t>4. Network Externality</a:t>
            </a:r>
          </a:p>
        </p:txBody>
      </p:sp>
      <p:sp>
        <p:nvSpPr>
          <p:cNvPr id="52226" name="Content Placeholder 2"/>
          <p:cNvSpPr>
            <a:spLocks noGrp="1"/>
          </p:cNvSpPr>
          <p:nvPr>
            <p:ph idx="4294967295"/>
          </p:nvPr>
        </p:nvSpPr>
        <p:spPr>
          <a:xfrm>
            <a:off x="755650" y="908050"/>
            <a:ext cx="8101013" cy="3057525"/>
          </a:xfrm>
        </p:spPr>
        <p:txBody>
          <a:bodyPr/>
          <a:lstStyle/>
          <a:p>
            <a:pPr marL="0" indent="0"/>
            <a:r>
              <a:rPr lang="en-US" i="1" smtClean="0">
                <a:solidFill>
                  <a:srgbClr val="990033"/>
                </a:solidFill>
              </a:rPr>
              <a:t> Network externality: </a:t>
            </a:r>
            <a:r>
              <a:rPr lang="en-US" smtClean="0"/>
              <a:t/>
            </a:r>
            <a:br>
              <a:rPr lang="en-US" smtClean="0"/>
            </a:br>
            <a:r>
              <a:rPr lang="en-US" smtClean="0"/>
              <a:t>For some goods or services, the value of the good or service to an individual consumer increases as more others use the same good or service.</a:t>
            </a:r>
          </a:p>
          <a:p>
            <a:pPr lvl="1"/>
            <a:r>
              <a:rPr lang="en-US" smtClean="0"/>
              <a:t>E.g. Telephones were not useful until a large network of telephone users existed.   </a:t>
            </a:r>
            <a:br>
              <a:rPr lang="en-US" smtClean="0"/>
            </a:br>
            <a:endParaRPr lang="en-US" smtClean="0"/>
          </a:p>
        </p:txBody>
      </p:sp>
      <p:pic>
        <p:nvPicPr>
          <p:cNvPr id="52227" name="Picture 2" descr="http://www.boston.com/business/technology/innoeco/facebook-icon.png"/>
          <p:cNvPicPr>
            <a:picLocks noChangeAspect="1" noChangeArrowheads="1"/>
          </p:cNvPicPr>
          <p:nvPr/>
        </p:nvPicPr>
        <p:blipFill>
          <a:blip r:embed="rId2"/>
          <a:srcRect/>
          <a:stretch>
            <a:fillRect/>
          </a:stretch>
        </p:blipFill>
        <p:spPr bwMode="auto">
          <a:xfrm>
            <a:off x="1295400" y="3897313"/>
            <a:ext cx="2438400" cy="2438400"/>
          </a:xfrm>
          <a:prstGeom prst="rect">
            <a:avLst/>
          </a:prstGeom>
          <a:noFill/>
          <a:ln w="9525">
            <a:noFill/>
            <a:miter lim="800000"/>
            <a:headEnd/>
            <a:tailEnd/>
          </a:ln>
        </p:spPr>
      </p:pic>
      <p:sp>
        <p:nvSpPr>
          <p:cNvPr id="6" name="TextBox 26"/>
          <p:cNvSpPr txBox="1">
            <a:spLocks noChangeArrowheads="1"/>
          </p:cNvSpPr>
          <p:nvPr/>
        </p:nvSpPr>
        <p:spPr bwMode="auto">
          <a:xfrm>
            <a:off x="4140200" y="4113213"/>
            <a:ext cx="4087813" cy="1311275"/>
          </a:xfrm>
          <a:prstGeom prst="rect">
            <a:avLst/>
          </a:prstGeom>
          <a:noFill/>
          <a:ln w="9525">
            <a:noFill/>
            <a:miter lim="800000"/>
            <a:headEnd/>
            <a:tailEnd/>
          </a:ln>
        </p:spPr>
        <p:txBody>
          <a:bodyPr>
            <a:spAutoFit/>
          </a:bodyPr>
          <a:lstStyle/>
          <a:p>
            <a:r>
              <a:rPr lang="en-US" sz="2000" b="1" i="1">
                <a:solidFill>
                  <a:srgbClr val="404040"/>
                </a:solidFill>
                <a:latin typeface="Candara" pitchFamily="34" charset="0"/>
              </a:rPr>
              <a:t>Facebook is more valuable than competitors such as Myspace, Google+ and QQ because more people use Facebook.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p:cNvSpPr>
            <a:spLocks noGrp="1"/>
          </p:cNvSpPr>
          <p:nvPr>
            <p:ph type="title" idx="4294967295"/>
          </p:nvPr>
        </p:nvSpPr>
        <p:spPr bwMode="auto">
          <a:noFill/>
        </p:spPr>
        <p:txBody>
          <a:bodyPr/>
          <a:lstStyle/>
          <a:p>
            <a:r>
              <a:rPr lang="en-US" smtClean="0">
                <a:effectLst/>
              </a:rPr>
              <a:t>5. Government-Made Barrier</a:t>
            </a:r>
          </a:p>
        </p:txBody>
      </p:sp>
      <p:sp>
        <p:nvSpPr>
          <p:cNvPr id="53250" name="Content Placeholder 2"/>
          <p:cNvSpPr>
            <a:spLocks noGrp="1"/>
          </p:cNvSpPr>
          <p:nvPr>
            <p:ph idx="4294967295"/>
          </p:nvPr>
        </p:nvSpPr>
        <p:spPr>
          <a:xfrm>
            <a:off x="647700" y="765175"/>
            <a:ext cx="4248150" cy="1676400"/>
          </a:xfrm>
        </p:spPr>
        <p:txBody>
          <a:bodyPr/>
          <a:lstStyle/>
          <a:p>
            <a:pPr marL="0" indent="0"/>
            <a:r>
              <a:rPr lang="en-US" sz="2400" i="1" smtClean="0">
                <a:solidFill>
                  <a:srgbClr val="990033"/>
                </a:solidFill>
              </a:rPr>
              <a:t>A patent</a:t>
            </a:r>
            <a:r>
              <a:rPr lang="en-US" sz="2400" smtClean="0"/>
              <a:t> gives an inventor a temporary 20-year monopoly on the use and sale of an invention.</a:t>
            </a:r>
          </a:p>
        </p:txBody>
      </p:sp>
      <p:pic>
        <p:nvPicPr>
          <p:cNvPr id="5" name="Picture 4"/>
          <p:cNvPicPr>
            <a:picLocks noChangeAspect="1"/>
          </p:cNvPicPr>
          <p:nvPr/>
        </p:nvPicPr>
        <p:blipFill>
          <a:blip r:embed="rId2"/>
          <a:stretch>
            <a:fillRect/>
          </a:stretch>
        </p:blipFill>
        <p:spPr>
          <a:xfrm>
            <a:off x="827088" y="2024063"/>
            <a:ext cx="2895600" cy="3860800"/>
          </a:xfrm>
          <a:prstGeom prst="rect">
            <a:avLst/>
          </a:prstGeom>
          <a:ln>
            <a:noFill/>
          </a:ln>
          <a:effectLst>
            <a:outerShdw blurRad="292100" dist="139700" dir="2700000" algn="tl" rotWithShape="0">
              <a:srgbClr val="333333">
                <a:alpha val="65000"/>
              </a:srgbClr>
            </a:outerShdw>
          </a:effectLst>
        </p:spPr>
      </p:pic>
      <p:sp>
        <p:nvSpPr>
          <p:cNvPr id="6" name="Rectangle 5"/>
          <p:cNvSpPr>
            <a:spLocks noChangeArrowheads="1"/>
          </p:cNvSpPr>
          <p:nvPr/>
        </p:nvSpPr>
        <p:spPr bwMode="auto">
          <a:xfrm>
            <a:off x="4464050" y="4833938"/>
            <a:ext cx="4495800" cy="1552575"/>
          </a:xfrm>
          <a:prstGeom prst="rect">
            <a:avLst/>
          </a:prstGeom>
          <a:noFill/>
          <a:ln w="9525">
            <a:noFill/>
            <a:miter lim="800000"/>
            <a:headEnd/>
            <a:tailEnd/>
          </a:ln>
        </p:spPr>
        <p:txBody>
          <a:bodyPr>
            <a:spAutoFit/>
          </a:bodyPr>
          <a:lstStyle/>
          <a:p>
            <a:r>
              <a:rPr lang="en-US" sz="2400"/>
              <a:t>A </a:t>
            </a:r>
            <a:r>
              <a:rPr lang="en-US" sz="2400" b="1" i="1">
                <a:solidFill>
                  <a:srgbClr val="990033"/>
                </a:solidFill>
              </a:rPr>
              <a:t>copyright</a:t>
            </a:r>
            <a:r>
              <a:rPr lang="en-US" sz="2400"/>
              <a:t> gives the creator of a literary or artistic work sole rights to replicate and profit from that work.</a:t>
            </a:r>
          </a:p>
        </p:txBody>
      </p:sp>
      <p:pic>
        <p:nvPicPr>
          <p:cNvPr id="76802" name="Picture 2" descr="http://www.wired.com/images_blogs/threatlevel/2011/09/FBI_Anti-Piracy_Warning.jpeg"/>
          <p:cNvPicPr>
            <a:picLocks noChangeAspect="1" noChangeArrowheads="1"/>
          </p:cNvPicPr>
          <p:nvPr/>
        </p:nvPicPr>
        <p:blipFill>
          <a:blip r:embed="rId3"/>
          <a:srcRect/>
          <a:stretch>
            <a:fillRect/>
          </a:stretch>
        </p:blipFill>
        <p:spPr bwMode="auto">
          <a:xfrm>
            <a:off x="5580063" y="1557338"/>
            <a:ext cx="3289300" cy="3048000"/>
          </a:xfrm>
          <a:prstGeom prst="rect">
            <a:avLst/>
          </a:prstGeom>
          <a:noFill/>
          <a:ln w="9525">
            <a:noFill/>
            <a:miter lim="800000"/>
            <a:headEnd/>
            <a:tailEnd/>
          </a:ln>
        </p:spPr>
      </p:pic>
      <p:sp>
        <p:nvSpPr>
          <p:cNvPr id="2" name="TextBox 26"/>
          <p:cNvSpPr txBox="1">
            <a:spLocks noChangeArrowheads="1"/>
          </p:cNvSpPr>
          <p:nvPr/>
        </p:nvSpPr>
        <p:spPr bwMode="auto">
          <a:xfrm>
            <a:off x="900113" y="5984875"/>
            <a:ext cx="2952750" cy="701675"/>
          </a:xfrm>
          <a:prstGeom prst="rect">
            <a:avLst/>
          </a:prstGeom>
          <a:noFill/>
          <a:ln w="9525">
            <a:noFill/>
            <a:miter lim="800000"/>
            <a:headEnd/>
            <a:tailEnd/>
          </a:ln>
        </p:spPr>
        <p:txBody>
          <a:bodyPr>
            <a:spAutoFit/>
          </a:bodyPr>
          <a:lstStyle/>
          <a:p>
            <a:r>
              <a:rPr lang="en-US" sz="2000" b="1" i="1">
                <a:solidFill>
                  <a:srgbClr val="404040"/>
                </a:solidFill>
                <a:latin typeface="Candara" pitchFamily="34" charset="0"/>
              </a:rPr>
              <a:t>Drug formulas are usually patented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6802"/>
                                        </p:tgtEl>
                                        <p:attrNameLst>
                                          <p:attrName>style.visibility</p:attrName>
                                        </p:attrNameLst>
                                      </p:cBhvr>
                                      <p:to>
                                        <p:strVal val="visible"/>
                                      </p:to>
                                    </p:set>
                                    <p:animEffect transition="in" filter="fade">
                                      <p:cBhvr>
                                        <p:cTn id="10" dur="500"/>
                                        <p:tgtEl>
                                          <p:spTgt spid="76802"/>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rrowheads="1"/>
          </p:cNvSpPr>
          <p:nvPr>
            <p:ph type="title" idx="4294967295"/>
          </p:nvPr>
        </p:nvSpPr>
        <p:spPr>
          <a:xfrm>
            <a:off x="900113" y="76200"/>
            <a:ext cx="8010525" cy="609600"/>
          </a:xfrm>
        </p:spPr>
        <p:txBody>
          <a:bodyPr/>
          <a:lstStyle/>
          <a:p>
            <a:pPr>
              <a:defRPr/>
            </a:pPr>
            <a:r>
              <a:rPr lang="en-US" dirty="0" smtClean="0"/>
              <a:t>How a Monopolist Maximizes Profit</a:t>
            </a:r>
            <a:endParaRPr lang="en-US" b="0" dirty="0" smtClean="0"/>
          </a:p>
        </p:txBody>
      </p:sp>
      <p:sp>
        <p:nvSpPr>
          <p:cNvPr id="84997" name="Text Box 5"/>
          <p:cNvSpPr txBox="1">
            <a:spLocks noChangeArrowheads="1"/>
          </p:cNvSpPr>
          <p:nvPr/>
        </p:nvSpPr>
        <p:spPr bwMode="auto">
          <a:xfrm>
            <a:off x="792163" y="944563"/>
            <a:ext cx="8083550" cy="2628900"/>
          </a:xfrm>
          <a:prstGeom prst="rect">
            <a:avLst/>
          </a:prstGeom>
          <a:noFill/>
          <a:ln w="9525" algn="ctr">
            <a:noFill/>
            <a:miter lim="800000"/>
            <a:headEnd/>
            <a:tailEnd type="none" w="med" len="lg"/>
          </a:ln>
        </p:spPr>
        <p:txBody>
          <a:bodyPr/>
          <a:lstStyle/>
          <a:p>
            <a:pPr marL="230188" indent="-230188">
              <a:buClr>
                <a:schemeClr val="tx1"/>
              </a:buClr>
              <a:buFont typeface="Wingdings" pitchFamily="2" charset="2"/>
              <a:buChar char="§"/>
            </a:pPr>
            <a:r>
              <a:rPr lang="en-US" sz="2400"/>
              <a:t>The price-taking firm’s optimal output rule is to produce the output level at which the marginal cost of the last unit produced is equal to the market price. </a:t>
            </a:r>
            <a:br>
              <a:rPr lang="en-US" sz="2400"/>
            </a:br>
            <a:endParaRPr lang="en-US" sz="2400"/>
          </a:p>
          <a:p>
            <a:pPr marL="230188" indent="-230188">
              <a:buClr>
                <a:schemeClr val="tx1"/>
              </a:buClr>
              <a:buFont typeface="Wingdings" pitchFamily="2" charset="2"/>
              <a:buChar char="§"/>
            </a:pPr>
            <a:r>
              <a:rPr lang="en-US" sz="2400"/>
              <a:t>A monopolist, in contrast, is the sole supplier of its good. So its demand curve is simply the market demand curve, which is downward sloping. </a:t>
            </a:r>
            <a:br>
              <a:rPr lang="en-US" sz="2400"/>
            </a:br>
            <a:endParaRPr lang="en-US" sz="2400"/>
          </a:p>
        </p:txBody>
      </p:sp>
      <p:sp>
        <p:nvSpPr>
          <p:cNvPr id="2" name="Text Box 5"/>
          <p:cNvSpPr txBox="1">
            <a:spLocks noChangeArrowheads="1"/>
          </p:cNvSpPr>
          <p:nvPr/>
        </p:nvSpPr>
        <p:spPr bwMode="auto">
          <a:xfrm>
            <a:off x="792163" y="3825875"/>
            <a:ext cx="4319587" cy="2519363"/>
          </a:xfrm>
          <a:prstGeom prst="rect">
            <a:avLst/>
          </a:prstGeom>
          <a:noFill/>
          <a:ln w="9525" algn="ctr">
            <a:noFill/>
            <a:miter lim="800000"/>
            <a:headEnd/>
            <a:tailEnd type="none" w="med" len="lg"/>
          </a:ln>
        </p:spPr>
        <p:txBody>
          <a:bodyPr/>
          <a:lstStyle/>
          <a:p>
            <a:pPr marL="230188" indent="-230188">
              <a:buClr>
                <a:schemeClr val="tx1"/>
              </a:buClr>
              <a:buFont typeface="Wingdings" pitchFamily="2" charset="2"/>
              <a:buChar char="§"/>
            </a:pPr>
            <a:r>
              <a:rPr lang="en-US" sz="2400"/>
              <a:t>This downward slope creates a “wedge” between the price of the good and the marginal revenue of the good – the change in revenue generated by producing one more unit.</a:t>
            </a:r>
          </a:p>
        </p:txBody>
      </p:sp>
      <p:grpSp>
        <p:nvGrpSpPr>
          <p:cNvPr id="54276" name="Group 11"/>
          <p:cNvGrpSpPr>
            <a:grpSpLocks/>
          </p:cNvGrpSpPr>
          <p:nvPr/>
        </p:nvGrpSpPr>
        <p:grpSpPr bwMode="auto">
          <a:xfrm>
            <a:off x="5291138" y="3321050"/>
            <a:ext cx="3636962" cy="2914650"/>
            <a:chOff x="3356" y="2230"/>
            <a:chExt cx="2291" cy="1836"/>
          </a:xfrm>
        </p:grpSpPr>
        <p:sp>
          <p:nvSpPr>
            <p:cNvPr id="54277" name="Freeform 22"/>
            <p:cNvSpPr>
              <a:spLocks/>
            </p:cNvSpPr>
            <p:nvPr/>
          </p:nvSpPr>
          <p:spPr bwMode="auto">
            <a:xfrm>
              <a:off x="3508" y="2409"/>
              <a:ext cx="1957" cy="1385"/>
            </a:xfrm>
            <a:custGeom>
              <a:avLst/>
              <a:gdLst>
                <a:gd name="T0" fmla="*/ 3302 w 1644"/>
                <a:gd name="T1" fmla="*/ 1557 h 1332"/>
                <a:gd name="T2" fmla="*/ 0 w 1644"/>
                <a:gd name="T3" fmla="*/ 1557 h 1332"/>
                <a:gd name="T4" fmla="*/ 0 w 1644"/>
                <a:gd name="T5" fmla="*/ 0 h 1332"/>
                <a:gd name="T6" fmla="*/ 0 60000 65536"/>
                <a:gd name="T7" fmla="*/ 0 60000 65536"/>
                <a:gd name="T8" fmla="*/ 0 60000 65536"/>
                <a:gd name="T9" fmla="*/ 0 w 1644"/>
                <a:gd name="T10" fmla="*/ 0 h 1332"/>
                <a:gd name="T11" fmla="*/ 1644 w 1644"/>
                <a:gd name="T12" fmla="*/ 1332 h 1332"/>
              </a:gdLst>
              <a:ahLst/>
              <a:cxnLst>
                <a:cxn ang="T6">
                  <a:pos x="T0" y="T1"/>
                </a:cxn>
                <a:cxn ang="T7">
                  <a:pos x="T2" y="T3"/>
                </a:cxn>
                <a:cxn ang="T8">
                  <a:pos x="T4" y="T5"/>
                </a:cxn>
              </a:cxnLst>
              <a:rect l="T9" t="T10" r="T11" b="T12"/>
              <a:pathLst>
                <a:path w="1644" h="1332">
                  <a:moveTo>
                    <a:pt x="1644" y="1332"/>
                  </a:moveTo>
                  <a:lnTo>
                    <a:pt x="0" y="1332"/>
                  </a:lnTo>
                  <a:lnTo>
                    <a:pt x="0" y="0"/>
                  </a:lnTo>
                </a:path>
              </a:pathLst>
            </a:custGeom>
            <a:noFill/>
            <a:ln w="6350" cap="flat">
              <a:solidFill>
                <a:srgbClr val="000000"/>
              </a:solidFill>
              <a:prstDash val="solid"/>
              <a:miter lim="800000"/>
              <a:headEnd/>
              <a:tailEnd/>
            </a:ln>
          </p:spPr>
          <p:txBody>
            <a:bodyPr/>
            <a:lstStyle/>
            <a:p>
              <a:endParaRPr lang="en-US"/>
            </a:p>
          </p:txBody>
        </p:sp>
        <p:sp>
          <p:nvSpPr>
            <p:cNvPr id="54278" name="Line 27"/>
            <p:cNvSpPr>
              <a:spLocks noChangeShapeType="1"/>
            </p:cNvSpPr>
            <p:nvPr/>
          </p:nvSpPr>
          <p:spPr bwMode="auto">
            <a:xfrm flipH="1" flipV="1">
              <a:off x="3628" y="2478"/>
              <a:ext cx="1452" cy="1270"/>
            </a:xfrm>
            <a:prstGeom prst="line">
              <a:avLst/>
            </a:prstGeom>
            <a:noFill/>
            <a:ln w="30163">
              <a:solidFill>
                <a:srgbClr val="3C5DAA"/>
              </a:solidFill>
              <a:miter lim="800000"/>
              <a:headEnd/>
              <a:tailEnd/>
            </a:ln>
          </p:spPr>
          <p:txBody>
            <a:bodyPr/>
            <a:lstStyle/>
            <a:p>
              <a:endParaRPr lang="en-US"/>
            </a:p>
          </p:txBody>
        </p:sp>
        <p:sp>
          <p:nvSpPr>
            <p:cNvPr id="54279" name="Rectangle 35"/>
            <p:cNvSpPr>
              <a:spLocks noChangeArrowheads="1"/>
            </p:cNvSpPr>
            <p:nvPr/>
          </p:nvSpPr>
          <p:spPr bwMode="auto">
            <a:xfrm>
              <a:off x="5537" y="3725"/>
              <a:ext cx="87" cy="134"/>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Q</a:t>
              </a:r>
              <a:endParaRPr lang="en-US" sz="1400">
                <a:latin typeface="Tahoma" pitchFamily="34" charset="0"/>
              </a:endParaRPr>
            </a:p>
          </p:txBody>
        </p:sp>
        <p:sp>
          <p:nvSpPr>
            <p:cNvPr id="54280" name="Rectangle 35"/>
            <p:cNvSpPr>
              <a:spLocks noChangeArrowheads="1"/>
            </p:cNvSpPr>
            <p:nvPr/>
          </p:nvSpPr>
          <p:spPr bwMode="auto">
            <a:xfrm>
              <a:off x="3469" y="2230"/>
              <a:ext cx="75" cy="134"/>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P</a:t>
              </a:r>
              <a:endParaRPr lang="en-US" sz="1400">
                <a:latin typeface="Tahoma" pitchFamily="34" charset="0"/>
              </a:endParaRPr>
            </a:p>
          </p:txBody>
        </p:sp>
        <p:sp>
          <p:nvSpPr>
            <p:cNvPr id="54281" name="TextBox 26"/>
            <p:cNvSpPr txBox="1">
              <a:spLocks noChangeArrowheads="1"/>
            </p:cNvSpPr>
            <p:nvPr/>
          </p:nvSpPr>
          <p:spPr bwMode="auto">
            <a:xfrm>
              <a:off x="3356" y="3816"/>
              <a:ext cx="2291" cy="250"/>
            </a:xfrm>
            <a:prstGeom prst="rect">
              <a:avLst/>
            </a:prstGeom>
            <a:noFill/>
            <a:ln w="9525">
              <a:noFill/>
              <a:miter lim="800000"/>
              <a:headEnd/>
              <a:tailEnd/>
            </a:ln>
          </p:spPr>
          <p:txBody>
            <a:bodyPr>
              <a:spAutoFit/>
            </a:bodyPr>
            <a:lstStyle/>
            <a:p>
              <a:r>
                <a:rPr lang="en-US" sz="2000" b="1" i="1">
                  <a:solidFill>
                    <a:srgbClr val="404040"/>
                  </a:solidFill>
                  <a:latin typeface="Candara" pitchFamily="34" charset="0"/>
                </a:rPr>
                <a:t>Firm Demand = Market Demand</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4276"/>
                                        </p:tgtEl>
                                        <p:attrNameLst>
                                          <p:attrName>style.visibility</p:attrName>
                                        </p:attrNameLst>
                                      </p:cBhvr>
                                      <p:to>
                                        <p:strVal val="visible"/>
                                      </p:to>
                                    </p:set>
                                    <p:animEffect transition="in" filter="wipe(left)">
                                      <p:cBhvr>
                                        <p:cTn id="7" dur="500"/>
                                        <p:tgtEl>
                                          <p:spTgt spid="54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1" name="Picture 4"/>
          <p:cNvPicPr>
            <a:picLocks noChangeAspect="1"/>
          </p:cNvPicPr>
          <p:nvPr/>
        </p:nvPicPr>
        <p:blipFill>
          <a:blip r:embed="rId3"/>
          <a:srcRect/>
          <a:stretch>
            <a:fillRect/>
          </a:stretch>
        </p:blipFill>
        <p:spPr bwMode="auto">
          <a:xfrm>
            <a:off x="0" y="0"/>
            <a:ext cx="9144000" cy="6840538"/>
          </a:xfrm>
          <a:prstGeom prst="rect">
            <a:avLst/>
          </a:prstGeom>
          <a:noFill/>
          <a:ln w="9525">
            <a:noFill/>
            <a:miter lim="800000"/>
            <a:headEnd/>
            <a:tailEnd/>
          </a:ln>
        </p:spPr>
      </p:pic>
      <p:sp>
        <p:nvSpPr>
          <p:cNvPr id="6" name="Rectangle 2"/>
          <p:cNvSpPr>
            <a:spLocks noGrp="1" noRot="1" noChangeArrowheads="1"/>
          </p:cNvSpPr>
          <p:nvPr>
            <p:ph type="title" idx="4294967295"/>
          </p:nvPr>
        </p:nvSpPr>
        <p:spPr>
          <a:xfrm>
            <a:off x="395288" y="19050"/>
            <a:ext cx="8497887" cy="601663"/>
          </a:xfrm>
        </p:spPr>
        <p:txBody>
          <a:bodyPr/>
          <a:lstStyle/>
          <a:p>
            <a:pPr>
              <a:defRPr/>
            </a:pPr>
            <a:r>
              <a:rPr lang="en-US" dirty="0" smtClean="0"/>
              <a:t>Comparing Demand Curves</a:t>
            </a:r>
          </a:p>
        </p:txBody>
      </p:sp>
      <p:sp>
        <p:nvSpPr>
          <p:cNvPr id="56323" name="Rectangle 11"/>
          <p:cNvSpPr>
            <a:spLocks noChangeArrowheads="1"/>
          </p:cNvSpPr>
          <p:nvPr/>
        </p:nvSpPr>
        <p:spPr bwMode="auto">
          <a:xfrm>
            <a:off x="1258888" y="1066800"/>
            <a:ext cx="204787" cy="169863"/>
          </a:xfrm>
          <a:prstGeom prst="rect">
            <a:avLst/>
          </a:prstGeom>
          <a:noFill/>
          <a:ln w="9525">
            <a:noFill/>
            <a:miter lim="800000"/>
            <a:headEnd/>
            <a:tailEnd/>
          </a:ln>
        </p:spPr>
        <p:txBody>
          <a:bodyPr wrap="none" lIns="0" tIns="0" rIns="0" bIns="0">
            <a:spAutoFit/>
          </a:bodyPr>
          <a:lstStyle/>
          <a:p>
            <a:pPr marL="1588" indent="-1588"/>
            <a:r>
              <a:rPr lang="en-US" sz="1400" b="1">
                <a:solidFill>
                  <a:srgbClr val="000000"/>
                </a:solidFill>
                <a:latin typeface="Myriad Pro"/>
              </a:rPr>
              <a:t>(a)</a:t>
            </a:r>
            <a:endParaRPr lang="en-US" sz="1400" b="1">
              <a:latin typeface="Tahoma" pitchFamily="34" charset="0"/>
            </a:endParaRPr>
          </a:p>
        </p:txBody>
      </p:sp>
      <p:sp>
        <p:nvSpPr>
          <p:cNvPr id="56324" name="Rectangle 12"/>
          <p:cNvSpPr>
            <a:spLocks noChangeArrowheads="1"/>
          </p:cNvSpPr>
          <p:nvPr/>
        </p:nvSpPr>
        <p:spPr bwMode="auto">
          <a:xfrm>
            <a:off x="1547813" y="1066800"/>
            <a:ext cx="2651125" cy="430213"/>
          </a:xfrm>
          <a:prstGeom prst="rect">
            <a:avLst/>
          </a:prstGeom>
          <a:noFill/>
          <a:ln w="9525">
            <a:noFill/>
            <a:miter lim="800000"/>
            <a:headEnd/>
            <a:tailEnd/>
          </a:ln>
        </p:spPr>
        <p:txBody>
          <a:bodyPr lIns="0" tIns="0" rIns="0" bIns="0">
            <a:spAutoFit/>
          </a:bodyPr>
          <a:lstStyle/>
          <a:p>
            <a:pPr marL="1588" indent="-1588" algn="ctr"/>
            <a:r>
              <a:rPr lang="en-US" sz="1400" b="1">
                <a:solidFill>
                  <a:srgbClr val="000000"/>
                </a:solidFill>
                <a:latin typeface="Myriad Pro"/>
              </a:rPr>
              <a:t>Demand Curve of an Individual Perfectly Competitive Producer</a:t>
            </a:r>
            <a:endParaRPr lang="en-US" sz="1400" b="1">
              <a:latin typeface="Tahoma" pitchFamily="34" charset="0"/>
            </a:endParaRPr>
          </a:p>
        </p:txBody>
      </p:sp>
      <p:sp>
        <p:nvSpPr>
          <p:cNvPr id="56325" name="Line 13"/>
          <p:cNvSpPr>
            <a:spLocks noChangeShapeType="1"/>
          </p:cNvSpPr>
          <p:nvPr/>
        </p:nvSpPr>
        <p:spPr bwMode="auto">
          <a:xfrm>
            <a:off x="1117600" y="2820988"/>
            <a:ext cx="3071813" cy="0"/>
          </a:xfrm>
          <a:prstGeom prst="line">
            <a:avLst/>
          </a:prstGeom>
          <a:noFill/>
          <a:ln w="30163">
            <a:solidFill>
              <a:srgbClr val="3C5DAA"/>
            </a:solidFill>
            <a:miter lim="800000"/>
            <a:headEnd/>
            <a:tailEnd/>
          </a:ln>
        </p:spPr>
        <p:txBody>
          <a:bodyPr/>
          <a:lstStyle/>
          <a:p>
            <a:endParaRPr lang="en-US"/>
          </a:p>
        </p:txBody>
      </p:sp>
      <p:sp>
        <p:nvSpPr>
          <p:cNvPr id="56326" name="Rectangle 14"/>
          <p:cNvSpPr>
            <a:spLocks noChangeArrowheads="1"/>
          </p:cNvSpPr>
          <p:nvPr/>
        </p:nvSpPr>
        <p:spPr bwMode="auto">
          <a:xfrm>
            <a:off x="4205288" y="2706688"/>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56327" name="Rectangle 15"/>
          <p:cNvSpPr>
            <a:spLocks noChangeArrowheads="1"/>
          </p:cNvSpPr>
          <p:nvPr/>
        </p:nvSpPr>
        <p:spPr bwMode="auto">
          <a:xfrm>
            <a:off x="4335463" y="280035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56328" name="Rectangle 17"/>
          <p:cNvSpPr>
            <a:spLocks noChangeArrowheads="1"/>
          </p:cNvSpPr>
          <p:nvPr/>
        </p:nvSpPr>
        <p:spPr bwMode="auto">
          <a:xfrm>
            <a:off x="4789488" y="1460500"/>
            <a:ext cx="533400" cy="2143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a:t>
            </a:r>
            <a:endParaRPr lang="en-US" sz="1400">
              <a:latin typeface="Tahoma" pitchFamily="34" charset="0"/>
            </a:endParaRPr>
          </a:p>
        </p:txBody>
      </p:sp>
      <p:sp>
        <p:nvSpPr>
          <p:cNvPr id="56329" name="Freeform 22"/>
          <p:cNvSpPr>
            <a:spLocks/>
          </p:cNvSpPr>
          <p:nvPr/>
        </p:nvSpPr>
        <p:spPr bwMode="auto">
          <a:xfrm>
            <a:off x="5326063" y="1462088"/>
            <a:ext cx="3368675" cy="2557462"/>
          </a:xfrm>
          <a:custGeom>
            <a:avLst/>
            <a:gdLst>
              <a:gd name="T0" fmla="*/ 2147483647 w 1644"/>
              <a:gd name="T1" fmla="*/ 2147483647 h 1332"/>
              <a:gd name="T2" fmla="*/ 0 w 1644"/>
              <a:gd name="T3" fmla="*/ 2147483647 h 1332"/>
              <a:gd name="T4" fmla="*/ 0 w 1644"/>
              <a:gd name="T5" fmla="*/ 0 h 1332"/>
              <a:gd name="T6" fmla="*/ 0 60000 65536"/>
              <a:gd name="T7" fmla="*/ 0 60000 65536"/>
              <a:gd name="T8" fmla="*/ 0 60000 65536"/>
              <a:gd name="T9" fmla="*/ 0 w 1644"/>
              <a:gd name="T10" fmla="*/ 0 h 1332"/>
              <a:gd name="T11" fmla="*/ 1644 w 1644"/>
              <a:gd name="T12" fmla="*/ 1332 h 1332"/>
            </a:gdLst>
            <a:ahLst/>
            <a:cxnLst>
              <a:cxn ang="T6">
                <a:pos x="T0" y="T1"/>
              </a:cxn>
              <a:cxn ang="T7">
                <a:pos x="T2" y="T3"/>
              </a:cxn>
              <a:cxn ang="T8">
                <a:pos x="T4" y="T5"/>
              </a:cxn>
            </a:cxnLst>
            <a:rect l="T9" t="T10" r="T11" b="T12"/>
            <a:pathLst>
              <a:path w="1644" h="1332">
                <a:moveTo>
                  <a:pt x="1644" y="1332"/>
                </a:moveTo>
                <a:lnTo>
                  <a:pt x="0" y="1332"/>
                </a:lnTo>
                <a:lnTo>
                  <a:pt x="0" y="0"/>
                </a:lnTo>
              </a:path>
            </a:pathLst>
          </a:custGeom>
          <a:noFill/>
          <a:ln w="6350" cap="flat">
            <a:solidFill>
              <a:srgbClr val="000000"/>
            </a:solidFill>
            <a:prstDash val="solid"/>
            <a:miter lim="800000"/>
            <a:headEnd/>
            <a:tailEnd/>
          </a:ln>
        </p:spPr>
        <p:txBody>
          <a:bodyPr/>
          <a:lstStyle/>
          <a:p>
            <a:endParaRPr lang="en-US"/>
          </a:p>
        </p:txBody>
      </p:sp>
      <p:sp>
        <p:nvSpPr>
          <p:cNvPr id="56330" name="Rectangle 24"/>
          <p:cNvSpPr>
            <a:spLocks noChangeArrowheads="1"/>
          </p:cNvSpPr>
          <p:nvPr/>
        </p:nvSpPr>
        <p:spPr bwMode="auto">
          <a:xfrm>
            <a:off x="5402263" y="1081088"/>
            <a:ext cx="217487" cy="169862"/>
          </a:xfrm>
          <a:prstGeom prst="rect">
            <a:avLst/>
          </a:prstGeom>
          <a:noFill/>
          <a:ln w="9525">
            <a:noFill/>
            <a:miter lim="800000"/>
            <a:headEnd/>
            <a:tailEnd/>
          </a:ln>
        </p:spPr>
        <p:txBody>
          <a:bodyPr wrap="none" lIns="0" tIns="0" rIns="0" bIns="0">
            <a:spAutoFit/>
          </a:bodyPr>
          <a:lstStyle/>
          <a:p>
            <a:pPr marL="1588" indent="-1588"/>
            <a:r>
              <a:rPr lang="en-US" sz="1400" b="1">
                <a:solidFill>
                  <a:srgbClr val="000000"/>
                </a:solidFill>
                <a:latin typeface="Myriad Pro"/>
              </a:rPr>
              <a:t>(b)</a:t>
            </a:r>
            <a:endParaRPr lang="en-US" sz="1400" b="1">
              <a:latin typeface="Tahoma" pitchFamily="34" charset="0"/>
            </a:endParaRPr>
          </a:p>
        </p:txBody>
      </p:sp>
      <p:sp>
        <p:nvSpPr>
          <p:cNvPr id="56331" name="Rectangle 26"/>
          <p:cNvSpPr>
            <a:spLocks noChangeArrowheads="1"/>
          </p:cNvSpPr>
          <p:nvPr/>
        </p:nvSpPr>
        <p:spPr bwMode="auto">
          <a:xfrm>
            <a:off x="5707063" y="1081088"/>
            <a:ext cx="2606675" cy="430212"/>
          </a:xfrm>
          <a:prstGeom prst="rect">
            <a:avLst/>
          </a:prstGeom>
          <a:noFill/>
          <a:ln w="9525">
            <a:noFill/>
            <a:miter lim="800000"/>
            <a:headEnd/>
            <a:tailEnd/>
          </a:ln>
        </p:spPr>
        <p:txBody>
          <a:bodyPr lIns="0" tIns="0" rIns="0" bIns="0">
            <a:spAutoFit/>
          </a:bodyPr>
          <a:lstStyle/>
          <a:p>
            <a:pPr marL="1588" indent="-1588" algn="ctr"/>
            <a:r>
              <a:rPr lang="en-US" sz="1400" b="1">
                <a:solidFill>
                  <a:srgbClr val="000000"/>
                </a:solidFill>
                <a:latin typeface="Myriad Pro"/>
              </a:rPr>
              <a:t>Demand Curve of a Monopolist</a:t>
            </a:r>
            <a:endParaRPr lang="en-US" sz="1400" b="1">
              <a:latin typeface="Tahoma" pitchFamily="34" charset="0"/>
            </a:endParaRPr>
          </a:p>
        </p:txBody>
      </p:sp>
      <p:sp>
        <p:nvSpPr>
          <p:cNvPr id="56332" name="Line 27"/>
          <p:cNvSpPr>
            <a:spLocks noChangeShapeType="1"/>
          </p:cNvSpPr>
          <p:nvPr/>
        </p:nvSpPr>
        <p:spPr bwMode="auto">
          <a:xfrm flipH="1" flipV="1">
            <a:off x="5775325" y="1804988"/>
            <a:ext cx="2173288" cy="2038350"/>
          </a:xfrm>
          <a:prstGeom prst="line">
            <a:avLst/>
          </a:prstGeom>
          <a:noFill/>
          <a:ln w="30163">
            <a:solidFill>
              <a:srgbClr val="3C5DAA"/>
            </a:solidFill>
            <a:miter lim="800000"/>
            <a:headEnd/>
            <a:tailEnd/>
          </a:ln>
        </p:spPr>
        <p:txBody>
          <a:bodyPr/>
          <a:lstStyle/>
          <a:p>
            <a:endParaRPr lang="en-US"/>
          </a:p>
        </p:txBody>
      </p:sp>
      <p:sp>
        <p:nvSpPr>
          <p:cNvPr id="56333" name="Rectangle 28"/>
          <p:cNvSpPr>
            <a:spLocks noChangeArrowheads="1"/>
          </p:cNvSpPr>
          <p:nvPr/>
        </p:nvSpPr>
        <p:spPr bwMode="auto">
          <a:xfrm>
            <a:off x="7993063" y="3754438"/>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56334" name="Rectangle 29"/>
          <p:cNvSpPr>
            <a:spLocks noChangeArrowheads="1"/>
          </p:cNvSpPr>
          <p:nvPr/>
        </p:nvSpPr>
        <p:spPr bwMode="auto">
          <a:xfrm>
            <a:off x="8123238" y="3846513"/>
            <a:ext cx="1492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56335" name="Freeform 30"/>
          <p:cNvSpPr>
            <a:spLocks/>
          </p:cNvSpPr>
          <p:nvPr/>
        </p:nvSpPr>
        <p:spPr bwMode="auto">
          <a:xfrm>
            <a:off x="1116013" y="1571625"/>
            <a:ext cx="3368675" cy="2447925"/>
          </a:xfrm>
          <a:custGeom>
            <a:avLst/>
            <a:gdLst>
              <a:gd name="T0" fmla="*/ 2147483647 w 1644"/>
              <a:gd name="T1" fmla="*/ 2147483647 h 1332"/>
              <a:gd name="T2" fmla="*/ 0 w 1644"/>
              <a:gd name="T3" fmla="*/ 2147483647 h 1332"/>
              <a:gd name="T4" fmla="*/ 0 w 1644"/>
              <a:gd name="T5" fmla="*/ 0 h 1332"/>
              <a:gd name="T6" fmla="*/ 0 60000 65536"/>
              <a:gd name="T7" fmla="*/ 0 60000 65536"/>
              <a:gd name="T8" fmla="*/ 0 60000 65536"/>
              <a:gd name="T9" fmla="*/ 0 w 1644"/>
              <a:gd name="T10" fmla="*/ 0 h 1332"/>
              <a:gd name="T11" fmla="*/ 1644 w 1644"/>
              <a:gd name="T12" fmla="*/ 1332 h 1332"/>
            </a:gdLst>
            <a:ahLst/>
            <a:cxnLst>
              <a:cxn ang="T6">
                <a:pos x="T0" y="T1"/>
              </a:cxn>
              <a:cxn ang="T7">
                <a:pos x="T2" y="T3"/>
              </a:cxn>
              <a:cxn ang="T8">
                <a:pos x="T4" y="T5"/>
              </a:cxn>
            </a:cxnLst>
            <a:rect l="T9" t="T10" r="T11" b="T12"/>
            <a:pathLst>
              <a:path w="1644" h="1332">
                <a:moveTo>
                  <a:pt x="1644" y="1332"/>
                </a:moveTo>
                <a:lnTo>
                  <a:pt x="0" y="1332"/>
                </a:lnTo>
                <a:lnTo>
                  <a:pt x="0" y="0"/>
                </a:lnTo>
              </a:path>
            </a:pathLst>
          </a:custGeom>
          <a:noFill/>
          <a:ln w="6350" cap="flat">
            <a:solidFill>
              <a:srgbClr val="000000"/>
            </a:solidFill>
            <a:prstDash val="solid"/>
            <a:miter lim="800000"/>
            <a:headEnd/>
            <a:tailEnd/>
          </a:ln>
        </p:spPr>
        <p:txBody>
          <a:bodyPr/>
          <a:lstStyle/>
          <a:p>
            <a:endParaRPr lang="en-US"/>
          </a:p>
        </p:txBody>
      </p:sp>
      <p:sp>
        <p:nvSpPr>
          <p:cNvPr id="56336" name="Line 31"/>
          <p:cNvSpPr>
            <a:spLocks noChangeShapeType="1"/>
          </p:cNvSpPr>
          <p:nvPr/>
        </p:nvSpPr>
        <p:spPr bwMode="auto">
          <a:xfrm>
            <a:off x="906463" y="2819400"/>
            <a:ext cx="163512" cy="1588"/>
          </a:xfrm>
          <a:prstGeom prst="line">
            <a:avLst/>
          </a:prstGeom>
          <a:noFill/>
          <a:ln w="6350">
            <a:solidFill>
              <a:srgbClr val="000000"/>
            </a:solidFill>
            <a:miter lim="800000"/>
            <a:headEnd/>
            <a:tailEnd/>
          </a:ln>
        </p:spPr>
        <p:txBody>
          <a:bodyPr/>
          <a:lstStyle/>
          <a:p>
            <a:endParaRPr lang="en-US"/>
          </a:p>
        </p:txBody>
      </p:sp>
      <p:sp>
        <p:nvSpPr>
          <p:cNvPr id="56337" name="Freeform 32"/>
          <p:cNvSpPr>
            <a:spLocks/>
          </p:cNvSpPr>
          <p:nvPr/>
        </p:nvSpPr>
        <p:spPr bwMode="auto">
          <a:xfrm>
            <a:off x="198438" y="2581275"/>
            <a:ext cx="749300" cy="457200"/>
          </a:xfrm>
          <a:custGeom>
            <a:avLst/>
            <a:gdLst>
              <a:gd name="T0" fmla="*/ 2147483647 w 123"/>
              <a:gd name="T1" fmla="*/ 2147483647 h 97"/>
              <a:gd name="T2" fmla="*/ 2147483647 w 123"/>
              <a:gd name="T3" fmla="*/ 2147483647 h 97"/>
              <a:gd name="T4" fmla="*/ 2147483647 w 123"/>
              <a:gd name="T5" fmla="*/ 2147483647 h 97"/>
              <a:gd name="T6" fmla="*/ 0 w 123"/>
              <a:gd name="T7" fmla="*/ 2147483647 h 97"/>
              <a:gd name="T8" fmla="*/ 0 w 123"/>
              <a:gd name="T9" fmla="*/ 2147483647 h 97"/>
              <a:gd name="T10" fmla="*/ 2147483647 w 123"/>
              <a:gd name="T11" fmla="*/ 0 h 97"/>
              <a:gd name="T12" fmla="*/ 2147483647 w 123"/>
              <a:gd name="T13" fmla="*/ 0 h 97"/>
              <a:gd name="T14" fmla="*/ 2147483647 w 123"/>
              <a:gd name="T15" fmla="*/ 2147483647 h 97"/>
              <a:gd name="T16" fmla="*/ 2147483647 w 123"/>
              <a:gd name="T17" fmla="*/ 2147483647 h 9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3"/>
              <a:gd name="T28" fmla="*/ 0 h 97"/>
              <a:gd name="T29" fmla="*/ 123 w 123"/>
              <a:gd name="T30" fmla="*/ 97 h 9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3" h="97">
                <a:moveTo>
                  <a:pt x="123" y="81"/>
                </a:moveTo>
                <a:cubicBezTo>
                  <a:pt x="123" y="90"/>
                  <a:pt x="116" y="97"/>
                  <a:pt x="107" y="97"/>
                </a:cubicBezTo>
                <a:cubicBezTo>
                  <a:pt x="16" y="97"/>
                  <a:pt x="16" y="97"/>
                  <a:pt x="16" y="97"/>
                </a:cubicBezTo>
                <a:cubicBezTo>
                  <a:pt x="7" y="97"/>
                  <a:pt x="0" y="90"/>
                  <a:pt x="0" y="81"/>
                </a:cubicBezTo>
                <a:cubicBezTo>
                  <a:pt x="0" y="16"/>
                  <a:pt x="0" y="16"/>
                  <a:pt x="0" y="16"/>
                </a:cubicBezTo>
                <a:cubicBezTo>
                  <a:pt x="0" y="7"/>
                  <a:pt x="7" y="0"/>
                  <a:pt x="16" y="0"/>
                </a:cubicBezTo>
                <a:cubicBezTo>
                  <a:pt x="107" y="0"/>
                  <a:pt x="107" y="0"/>
                  <a:pt x="107" y="0"/>
                </a:cubicBezTo>
                <a:cubicBezTo>
                  <a:pt x="116" y="0"/>
                  <a:pt x="123" y="7"/>
                  <a:pt x="123" y="16"/>
                </a:cubicBezTo>
                <a:lnTo>
                  <a:pt x="123" y="81"/>
                </a:lnTo>
                <a:close/>
              </a:path>
            </a:pathLst>
          </a:custGeom>
          <a:solidFill>
            <a:srgbClr val="D7E2E0"/>
          </a:solidFill>
          <a:ln w="9525">
            <a:noFill/>
            <a:round/>
            <a:headEnd/>
            <a:tailEnd/>
          </a:ln>
        </p:spPr>
        <p:txBody>
          <a:bodyPr/>
          <a:lstStyle/>
          <a:p>
            <a:endParaRPr lang="en-US"/>
          </a:p>
        </p:txBody>
      </p:sp>
      <p:sp>
        <p:nvSpPr>
          <p:cNvPr id="56338" name="Rectangle 33"/>
          <p:cNvSpPr>
            <a:spLocks noChangeArrowheads="1"/>
          </p:cNvSpPr>
          <p:nvPr/>
        </p:nvSpPr>
        <p:spPr bwMode="auto">
          <a:xfrm>
            <a:off x="273050" y="2598738"/>
            <a:ext cx="609600"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Market price</a:t>
            </a:r>
            <a:endParaRPr lang="en-US" sz="1400">
              <a:latin typeface="Tahoma" pitchFamily="34" charset="0"/>
            </a:endParaRPr>
          </a:p>
        </p:txBody>
      </p:sp>
      <p:sp>
        <p:nvSpPr>
          <p:cNvPr id="56339" name="Rectangle 34"/>
          <p:cNvSpPr>
            <a:spLocks noChangeArrowheads="1"/>
          </p:cNvSpPr>
          <p:nvPr/>
        </p:nvSpPr>
        <p:spPr bwMode="auto">
          <a:xfrm>
            <a:off x="3829050" y="4108450"/>
            <a:ext cx="66675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Quantity</a:t>
            </a:r>
            <a:endParaRPr lang="en-US" sz="1400">
              <a:latin typeface="Tahoma" pitchFamily="34" charset="0"/>
            </a:endParaRPr>
          </a:p>
        </p:txBody>
      </p:sp>
      <p:sp>
        <p:nvSpPr>
          <p:cNvPr id="56340" name="Rectangle 35"/>
          <p:cNvSpPr>
            <a:spLocks noChangeArrowheads="1"/>
          </p:cNvSpPr>
          <p:nvPr/>
        </p:nvSpPr>
        <p:spPr bwMode="auto">
          <a:xfrm>
            <a:off x="8058150" y="4108450"/>
            <a:ext cx="66675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Quantity</a:t>
            </a:r>
            <a:endParaRPr lang="en-US" sz="1400">
              <a:latin typeface="Tahoma" pitchFamily="34" charset="0"/>
            </a:endParaRPr>
          </a:p>
        </p:txBody>
      </p:sp>
      <p:sp>
        <p:nvSpPr>
          <p:cNvPr id="25" name="Text Box 9"/>
          <p:cNvSpPr txBox="1">
            <a:spLocks noChangeArrowheads="1"/>
          </p:cNvSpPr>
          <p:nvPr/>
        </p:nvSpPr>
        <p:spPr bwMode="auto">
          <a:xfrm>
            <a:off x="511175" y="4572000"/>
            <a:ext cx="8039100" cy="1905000"/>
          </a:xfrm>
          <a:prstGeom prst="rect">
            <a:avLst/>
          </a:prstGeom>
          <a:solidFill>
            <a:schemeClr val="accent5">
              <a:lumMod val="20000"/>
              <a:lumOff val="80000"/>
            </a:schemeClr>
          </a:solidFill>
          <a:ln w="12700" algn="ctr">
            <a:noFill/>
            <a:miter lim="800000"/>
            <a:headEnd/>
            <a:tailEnd type="none" w="sm" len="lg"/>
          </a:ln>
        </p:spPr>
        <p:txBody>
          <a:bodyPr anchor="ctr"/>
          <a:lstStyle/>
          <a:p>
            <a:pPr marL="1588" indent="-1588" algn="ctr">
              <a:spcBef>
                <a:spcPct val="20000"/>
              </a:spcBef>
              <a:defRPr/>
            </a:pPr>
            <a:r>
              <a:rPr lang="en-US" dirty="0">
                <a:solidFill>
                  <a:srgbClr val="0033CC"/>
                </a:solidFill>
              </a:rPr>
              <a:t>An individual perfectly competitive firm cannot affect the market price of the good </a:t>
            </a:r>
            <a:r>
              <a:rPr lang="en-US" dirty="0">
                <a:solidFill>
                  <a:srgbClr val="0033CC"/>
                </a:solidFill>
                <a:sym typeface="Wingdings" pitchFamily="2" charset="2"/>
              </a:rPr>
              <a:t></a:t>
            </a:r>
            <a:r>
              <a:rPr lang="en-US" dirty="0">
                <a:solidFill>
                  <a:srgbClr val="0033CC"/>
                </a:solidFill>
              </a:rPr>
              <a:t> it faces a horizontal demand curve </a:t>
            </a:r>
            <a:r>
              <a:rPr lang="en-US" i="1" dirty="0">
                <a:solidFill>
                  <a:srgbClr val="0033CC"/>
                </a:solidFill>
              </a:rPr>
              <a:t>D</a:t>
            </a:r>
            <a:r>
              <a:rPr lang="en-US" i="1" baseline="-25000" dirty="0">
                <a:solidFill>
                  <a:srgbClr val="0033CC"/>
                </a:solidFill>
              </a:rPr>
              <a:t>C</a:t>
            </a:r>
            <a:r>
              <a:rPr lang="en-US" i="1" dirty="0">
                <a:solidFill>
                  <a:srgbClr val="0033CC"/>
                </a:solidFill>
              </a:rPr>
              <a:t>, </a:t>
            </a:r>
            <a:r>
              <a:rPr lang="en-US" dirty="0">
                <a:solidFill>
                  <a:srgbClr val="0033CC"/>
                </a:solidFill>
              </a:rPr>
              <a:t>as shown in panel (a). </a:t>
            </a:r>
            <a:br>
              <a:rPr lang="en-US" dirty="0">
                <a:solidFill>
                  <a:srgbClr val="0033CC"/>
                </a:solidFill>
              </a:rPr>
            </a:br>
            <a:r>
              <a:rPr lang="en-US" dirty="0">
                <a:solidFill>
                  <a:srgbClr val="0033CC"/>
                </a:solidFill>
              </a:rPr>
              <a:t>A monopolist, on the other hand, can affect the price (sole supplier in the industry) </a:t>
            </a:r>
            <a:r>
              <a:rPr lang="en-US" dirty="0">
                <a:solidFill>
                  <a:srgbClr val="0033CC"/>
                </a:solidFill>
                <a:sym typeface="Wingdings" pitchFamily="2" charset="2"/>
              </a:rPr>
              <a:t></a:t>
            </a:r>
            <a:r>
              <a:rPr lang="en-US" dirty="0">
                <a:solidFill>
                  <a:srgbClr val="0033CC"/>
                </a:solidFill>
              </a:rPr>
              <a:t> its demand curve is the market demand curve, </a:t>
            </a:r>
            <a:r>
              <a:rPr lang="en-US" i="1" dirty="0">
                <a:solidFill>
                  <a:srgbClr val="0033CC"/>
                </a:solidFill>
              </a:rPr>
              <a:t>D</a:t>
            </a:r>
            <a:r>
              <a:rPr lang="en-US" i="1" baseline="-25000" dirty="0">
                <a:solidFill>
                  <a:srgbClr val="0033CC"/>
                </a:solidFill>
              </a:rPr>
              <a:t>M</a:t>
            </a:r>
            <a:r>
              <a:rPr lang="en-US" i="1" dirty="0">
                <a:solidFill>
                  <a:srgbClr val="0033CC"/>
                </a:solidFill>
              </a:rPr>
              <a:t>, </a:t>
            </a:r>
            <a:r>
              <a:rPr lang="en-US" dirty="0">
                <a:solidFill>
                  <a:srgbClr val="0033CC"/>
                </a:solidFill>
              </a:rPr>
              <a:t>as shown in panel (b). To sell more output it must lower the price; by reducing output it raises the price.</a:t>
            </a:r>
          </a:p>
        </p:txBody>
      </p:sp>
      <p:sp>
        <p:nvSpPr>
          <p:cNvPr id="56342" name="Rectangle 39"/>
          <p:cNvSpPr>
            <a:spLocks noChangeArrowheads="1"/>
          </p:cNvSpPr>
          <p:nvPr/>
        </p:nvSpPr>
        <p:spPr bwMode="auto">
          <a:xfrm>
            <a:off x="536575" y="1497013"/>
            <a:ext cx="533400" cy="2159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a:t>
            </a:r>
            <a:endParaRPr lang="en-US" sz="1400">
              <a:latin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ox(in)">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rrowheads="1"/>
          </p:cNvSpPr>
          <p:nvPr>
            <p:ph type="title" idx="4294967295"/>
          </p:nvPr>
        </p:nvSpPr>
        <p:spPr>
          <a:xfrm>
            <a:off x="827088" y="76200"/>
            <a:ext cx="8083550" cy="609600"/>
          </a:xfrm>
        </p:spPr>
        <p:txBody>
          <a:bodyPr/>
          <a:lstStyle/>
          <a:p>
            <a:pPr>
              <a:defRPr/>
            </a:pPr>
            <a:r>
              <a:rPr lang="en-US" dirty="0" smtClean="0"/>
              <a:t>How a Monopolist Maximizes Profit</a:t>
            </a:r>
            <a:endParaRPr lang="en-US" b="0" dirty="0" smtClean="0"/>
          </a:p>
        </p:txBody>
      </p:sp>
      <p:sp>
        <p:nvSpPr>
          <p:cNvPr id="89093" name="Text Box 5"/>
          <p:cNvSpPr txBox="1">
            <a:spLocks noChangeArrowheads="1"/>
          </p:cNvSpPr>
          <p:nvPr/>
        </p:nvSpPr>
        <p:spPr bwMode="auto">
          <a:xfrm>
            <a:off x="971550" y="965200"/>
            <a:ext cx="7939088" cy="5632450"/>
          </a:xfrm>
          <a:prstGeom prst="rect">
            <a:avLst/>
          </a:prstGeom>
          <a:noFill/>
          <a:ln w="9525" algn="ctr">
            <a:noFill/>
            <a:miter lim="800000"/>
            <a:headEnd/>
            <a:tailEnd type="none" w="med" len="lg"/>
          </a:ln>
        </p:spPr>
        <p:txBody>
          <a:bodyPr/>
          <a:lstStyle/>
          <a:p>
            <a:pPr marL="230188" indent="-230188">
              <a:buClr>
                <a:schemeClr val="tx1"/>
              </a:buClr>
              <a:buFont typeface="Wingdings" pitchFamily="2" charset="2"/>
              <a:buChar char="§"/>
            </a:pPr>
            <a:r>
              <a:rPr lang="en-US" sz="2400"/>
              <a:t>An increase in production by a monopolist has two opposing effects on revenue:</a:t>
            </a:r>
          </a:p>
          <a:p>
            <a:pPr marL="684213" lvl="1" indent="-227013">
              <a:spcBef>
                <a:spcPct val="50000"/>
              </a:spcBef>
              <a:buClr>
                <a:schemeClr val="tx1"/>
              </a:buClr>
              <a:buFont typeface="Arial" charset="0"/>
              <a:buChar char="•"/>
            </a:pPr>
            <a:r>
              <a:rPr lang="en-US" sz="2200" i="1"/>
              <a:t>A </a:t>
            </a:r>
            <a:r>
              <a:rPr lang="en-US" sz="2200" b="1" i="1"/>
              <a:t>quantity effect</a:t>
            </a:r>
            <a:r>
              <a:rPr lang="en-US" sz="2200"/>
              <a:t>: one more unit is sold, increasing total revenue by the price at which the unit is sold.</a:t>
            </a:r>
          </a:p>
          <a:p>
            <a:pPr marL="684213" lvl="1" indent="-227013">
              <a:spcBef>
                <a:spcPct val="50000"/>
              </a:spcBef>
              <a:buClr>
                <a:schemeClr val="tx1"/>
              </a:buClr>
              <a:buFont typeface="Arial" charset="0"/>
              <a:buChar char="•"/>
            </a:pPr>
            <a:r>
              <a:rPr lang="en-US" sz="2200" i="1"/>
              <a:t>A </a:t>
            </a:r>
            <a:r>
              <a:rPr lang="en-US" sz="2200" b="1" i="1"/>
              <a:t>price effect</a:t>
            </a:r>
            <a:r>
              <a:rPr lang="en-US" sz="2200"/>
              <a:t>: in order to sell the last unit, the monopolist must cut the market price on </a:t>
            </a:r>
            <a:r>
              <a:rPr lang="en-US" sz="2200" i="1"/>
              <a:t>all </a:t>
            </a:r>
            <a:r>
              <a:rPr lang="en-US" sz="2200"/>
              <a:t>units sold. This decreases total revenue</a:t>
            </a:r>
            <a:r>
              <a:rPr lang="en-US" sz="2400"/>
              <a:t>.</a:t>
            </a:r>
          </a:p>
          <a:p>
            <a:pPr marL="684213" lvl="1" indent="-227013">
              <a:buClr>
                <a:schemeClr val="tx1"/>
              </a:buClr>
            </a:pPr>
            <a:endParaRPr lang="en-US" sz="2400"/>
          </a:p>
          <a:p>
            <a:pPr marL="230188" indent="-230188">
              <a:buClr>
                <a:schemeClr val="tx1"/>
              </a:buClr>
              <a:buFont typeface="Wingdings" pitchFamily="2" charset="2"/>
              <a:buChar char="§"/>
            </a:pPr>
            <a:r>
              <a:rPr lang="en-US" sz="2400"/>
              <a:t>The quantity effect and the price effect are illustrated by the two shaded areas in panel (a) of the following figure based on the numbers in the table accompanying it.</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Rot="1" noChangeArrowheads="1"/>
          </p:cNvSpPr>
          <p:nvPr>
            <p:ph type="title" idx="4294967295"/>
          </p:nvPr>
        </p:nvSpPr>
        <p:spPr>
          <a:xfrm>
            <a:off x="827088" y="0"/>
            <a:ext cx="8137525" cy="685800"/>
          </a:xfrm>
        </p:spPr>
        <p:txBody>
          <a:bodyPr/>
          <a:lstStyle/>
          <a:p>
            <a:pPr>
              <a:tabLst>
                <a:tab pos="3890963" algn="l"/>
              </a:tabLst>
              <a:defRPr/>
            </a:pPr>
            <a:r>
              <a:rPr lang="en-US" sz="2000" dirty="0" smtClean="0"/>
              <a:t>A Monopolist’s Demand, Total Revenue, and Marginal Revenue Curves</a:t>
            </a:r>
          </a:p>
        </p:txBody>
      </p:sp>
      <p:sp>
        <p:nvSpPr>
          <p:cNvPr id="228356" name="Freeform 4"/>
          <p:cNvSpPr>
            <a:spLocks/>
          </p:cNvSpPr>
          <p:nvPr/>
        </p:nvSpPr>
        <p:spPr bwMode="auto">
          <a:xfrm>
            <a:off x="2305050" y="4640263"/>
            <a:ext cx="5791200" cy="1700212"/>
          </a:xfrm>
          <a:custGeom>
            <a:avLst/>
            <a:gdLst>
              <a:gd name="T0" fmla="*/ 2147483647 w 2016"/>
              <a:gd name="T1" fmla="*/ 2147483647 h 1172"/>
              <a:gd name="T2" fmla="*/ 2147483647 w 2016"/>
              <a:gd name="T3" fmla="*/ 2147483647 h 1172"/>
              <a:gd name="T4" fmla="*/ 2147483647 w 2016"/>
              <a:gd name="T5" fmla="*/ 2147483647 h 1172"/>
              <a:gd name="T6" fmla="*/ 2147483647 w 2016"/>
              <a:gd name="T7" fmla="*/ 2147483647 h 1172"/>
              <a:gd name="T8" fmla="*/ 2147483647 w 2016"/>
              <a:gd name="T9" fmla="*/ 2147483647 h 1172"/>
              <a:gd name="T10" fmla="*/ 2147483647 w 2016"/>
              <a:gd name="T11" fmla="*/ 2147483647 h 1172"/>
              <a:gd name="T12" fmla="*/ 2147483647 w 2016"/>
              <a:gd name="T13" fmla="*/ 2147483647 h 1172"/>
              <a:gd name="T14" fmla="*/ 2147483647 w 2016"/>
              <a:gd name="T15" fmla="*/ 2147483647 h 1172"/>
              <a:gd name="T16" fmla="*/ 2147483647 w 2016"/>
              <a:gd name="T17" fmla="*/ 2147483647 h 1172"/>
              <a:gd name="T18" fmla="*/ 2147483647 w 2016"/>
              <a:gd name="T19" fmla="*/ 2147483647 h 1172"/>
              <a:gd name="T20" fmla="*/ 2147483647 w 2016"/>
              <a:gd name="T21" fmla="*/ 0 h 1172"/>
              <a:gd name="T22" fmla="*/ 2147483647 w 2016"/>
              <a:gd name="T23" fmla="*/ 2147483647 h 1172"/>
              <a:gd name="T24" fmla="*/ 2147483647 w 2016"/>
              <a:gd name="T25" fmla="*/ 2147483647 h 1172"/>
              <a:gd name="T26" fmla="*/ 2147483647 w 2016"/>
              <a:gd name="T27" fmla="*/ 2147483647 h 1172"/>
              <a:gd name="T28" fmla="*/ 2147483647 w 2016"/>
              <a:gd name="T29" fmla="*/ 2147483647 h 1172"/>
              <a:gd name="T30" fmla="*/ 2147483647 w 2016"/>
              <a:gd name="T31" fmla="*/ 2147483647 h 1172"/>
              <a:gd name="T32" fmla="*/ 2147483647 w 2016"/>
              <a:gd name="T33" fmla="*/ 2147483647 h 1172"/>
              <a:gd name="T34" fmla="*/ 2147483647 w 2016"/>
              <a:gd name="T35" fmla="*/ 2147483647 h 1172"/>
              <a:gd name="T36" fmla="*/ 2147483647 w 2016"/>
              <a:gd name="T37" fmla="*/ 2147483647 h 1172"/>
              <a:gd name="T38" fmla="*/ 2147483647 w 2016"/>
              <a:gd name="T39" fmla="*/ 2147483647 h 1172"/>
              <a:gd name="T40" fmla="*/ 0 w 2016"/>
              <a:gd name="T41" fmla="*/ 2147483647 h 117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016"/>
              <a:gd name="T64" fmla="*/ 0 h 1172"/>
              <a:gd name="T65" fmla="*/ 2016 w 2016"/>
              <a:gd name="T66" fmla="*/ 1172 h 117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016" h="1172">
                <a:moveTo>
                  <a:pt x="2016" y="1172"/>
                </a:moveTo>
                <a:lnTo>
                  <a:pt x="1915" y="949"/>
                </a:lnTo>
                <a:lnTo>
                  <a:pt x="1814" y="750"/>
                </a:lnTo>
                <a:lnTo>
                  <a:pt x="1713" y="573"/>
                </a:lnTo>
                <a:lnTo>
                  <a:pt x="1613" y="422"/>
                </a:lnTo>
                <a:lnTo>
                  <a:pt x="1512" y="294"/>
                </a:lnTo>
                <a:lnTo>
                  <a:pt x="1411" y="189"/>
                </a:lnTo>
                <a:lnTo>
                  <a:pt x="1310" y="107"/>
                </a:lnTo>
                <a:lnTo>
                  <a:pt x="1210" y="49"/>
                </a:lnTo>
                <a:lnTo>
                  <a:pt x="1109" y="13"/>
                </a:lnTo>
                <a:lnTo>
                  <a:pt x="1008" y="0"/>
                </a:lnTo>
                <a:lnTo>
                  <a:pt x="907" y="13"/>
                </a:lnTo>
                <a:lnTo>
                  <a:pt x="806" y="49"/>
                </a:lnTo>
                <a:lnTo>
                  <a:pt x="706" y="107"/>
                </a:lnTo>
                <a:lnTo>
                  <a:pt x="605" y="189"/>
                </a:lnTo>
                <a:lnTo>
                  <a:pt x="504" y="294"/>
                </a:lnTo>
                <a:lnTo>
                  <a:pt x="403" y="422"/>
                </a:lnTo>
                <a:lnTo>
                  <a:pt x="303" y="573"/>
                </a:lnTo>
                <a:lnTo>
                  <a:pt x="202" y="750"/>
                </a:lnTo>
                <a:lnTo>
                  <a:pt x="101" y="949"/>
                </a:lnTo>
                <a:lnTo>
                  <a:pt x="0" y="1172"/>
                </a:lnTo>
              </a:path>
            </a:pathLst>
          </a:custGeom>
          <a:noFill/>
          <a:ln w="26988">
            <a:solidFill>
              <a:srgbClr val="00A76D"/>
            </a:solidFill>
            <a:miter lim="800000"/>
            <a:headEnd/>
            <a:tailEnd/>
          </a:ln>
        </p:spPr>
        <p:txBody>
          <a:bodyPr/>
          <a:lstStyle/>
          <a:p>
            <a:endParaRPr lang="en-US"/>
          </a:p>
        </p:txBody>
      </p:sp>
      <p:sp>
        <p:nvSpPr>
          <p:cNvPr id="228357" name="Rectangle 5"/>
          <p:cNvSpPr>
            <a:spLocks noChangeArrowheads="1"/>
          </p:cNvSpPr>
          <p:nvPr/>
        </p:nvSpPr>
        <p:spPr bwMode="auto">
          <a:xfrm>
            <a:off x="4910138" y="2151063"/>
            <a:ext cx="290512" cy="712787"/>
          </a:xfrm>
          <a:prstGeom prst="rect">
            <a:avLst/>
          </a:prstGeom>
          <a:solidFill>
            <a:srgbClr val="D7EDE7"/>
          </a:solidFill>
          <a:ln w="9525">
            <a:noFill/>
            <a:miter lim="800000"/>
            <a:headEnd/>
            <a:tailEnd/>
          </a:ln>
        </p:spPr>
        <p:txBody>
          <a:bodyPr/>
          <a:lstStyle/>
          <a:p>
            <a:endParaRPr lang="en-US"/>
          </a:p>
        </p:txBody>
      </p:sp>
      <p:sp>
        <p:nvSpPr>
          <p:cNvPr id="228494" name="Rectangle 6"/>
          <p:cNvSpPr>
            <a:spLocks noChangeArrowheads="1"/>
          </p:cNvSpPr>
          <p:nvPr/>
        </p:nvSpPr>
        <p:spPr bwMode="auto">
          <a:xfrm>
            <a:off x="2286000" y="2057400"/>
            <a:ext cx="2605088" cy="71438"/>
          </a:xfrm>
          <a:prstGeom prst="rect">
            <a:avLst/>
          </a:prstGeom>
          <a:solidFill>
            <a:srgbClr val="FFE5B9"/>
          </a:solidFill>
          <a:ln w="9525">
            <a:noFill/>
            <a:miter lim="800000"/>
            <a:headEnd/>
            <a:tailEnd/>
          </a:ln>
        </p:spPr>
        <p:txBody>
          <a:bodyPr/>
          <a:lstStyle/>
          <a:p>
            <a:endParaRPr lang="en-US"/>
          </a:p>
        </p:txBody>
      </p:sp>
      <p:sp>
        <p:nvSpPr>
          <p:cNvPr id="228359" name="Rectangle 7"/>
          <p:cNvSpPr>
            <a:spLocks noChangeArrowheads="1"/>
          </p:cNvSpPr>
          <p:nvPr/>
        </p:nvSpPr>
        <p:spPr bwMode="auto">
          <a:xfrm>
            <a:off x="4787900" y="1844675"/>
            <a:ext cx="109538"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A</a:t>
            </a:r>
            <a:endParaRPr lang="en-US" sz="1400">
              <a:latin typeface="Tahoma" pitchFamily="34" charset="0"/>
            </a:endParaRPr>
          </a:p>
        </p:txBody>
      </p:sp>
      <p:sp>
        <p:nvSpPr>
          <p:cNvPr id="228360" name="Rectangle 8"/>
          <p:cNvSpPr>
            <a:spLocks noChangeArrowheads="1"/>
          </p:cNvSpPr>
          <p:nvPr/>
        </p:nvSpPr>
        <p:spPr bwMode="auto">
          <a:xfrm>
            <a:off x="6073775" y="3259138"/>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MR</a:t>
            </a:r>
            <a:endParaRPr lang="en-US" sz="1400" i="1">
              <a:latin typeface="Tahoma" pitchFamily="34" charset="0"/>
            </a:endParaRPr>
          </a:p>
        </p:txBody>
      </p:sp>
      <p:sp>
        <p:nvSpPr>
          <p:cNvPr id="228361" name="Rectangle 9"/>
          <p:cNvSpPr>
            <a:spLocks noChangeArrowheads="1"/>
          </p:cNvSpPr>
          <p:nvPr/>
        </p:nvSpPr>
        <p:spPr bwMode="auto">
          <a:xfrm>
            <a:off x="8131175" y="6164263"/>
            <a:ext cx="2381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TR</a:t>
            </a:r>
            <a:endParaRPr lang="en-US" sz="1400" i="1">
              <a:latin typeface="Tahoma" pitchFamily="34" charset="0"/>
            </a:endParaRPr>
          </a:p>
        </p:txBody>
      </p:sp>
      <p:sp>
        <p:nvSpPr>
          <p:cNvPr id="228362" name="Rectangle 10"/>
          <p:cNvSpPr>
            <a:spLocks noChangeArrowheads="1"/>
          </p:cNvSpPr>
          <p:nvPr/>
        </p:nvSpPr>
        <p:spPr bwMode="auto">
          <a:xfrm>
            <a:off x="8148638" y="270510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228363" name="Rectangle 11"/>
          <p:cNvSpPr>
            <a:spLocks noChangeArrowheads="1"/>
          </p:cNvSpPr>
          <p:nvPr/>
        </p:nvSpPr>
        <p:spPr bwMode="auto">
          <a:xfrm>
            <a:off x="3251200" y="760413"/>
            <a:ext cx="219075"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(a)</a:t>
            </a:r>
            <a:endParaRPr lang="en-US" sz="1400">
              <a:latin typeface="Tahoma" pitchFamily="34" charset="0"/>
            </a:endParaRPr>
          </a:p>
        </p:txBody>
      </p:sp>
      <p:sp>
        <p:nvSpPr>
          <p:cNvPr id="228364" name="Rectangle 12"/>
          <p:cNvSpPr>
            <a:spLocks noChangeArrowheads="1"/>
          </p:cNvSpPr>
          <p:nvPr/>
        </p:nvSpPr>
        <p:spPr bwMode="auto">
          <a:xfrm>
            <a:off x="4865688" y="2881313"/>
            <a:ext cx="90487"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9</a:t>
            </a:r>
            <a:endParaRPr lang="en-US" sz="1400">
              <a:latin typeface="Tahoma" pitchFamily="34" charset="0"/>
            </a:endParaRPr>
          </a:p>
        </p:txBody>
      </p:sp>
      <p:sp>
        <p:nvSpPr>
          <p:cNvPr id="228366" name="Rectangle 14"/>
          <p:cNvSpPr>
            <a:spLocks noChangeArrowheads="1"/>
          </p:cNvSpPr>
          <p:nvPr/>
        </p:nvSpPr>
        <p:spPr bwMode="auto">
          <a:xfrm>
            <a:off x="7986713" y="2884488"/>
            <a:ext cx="1809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20</a:t>
            </a:r>
            <a:endParaRPr lang="en-US" sz="1400">
              <a:latin typeface="Tahoma" pitchFamily="34" charset="0"/>
            </a:endParaRPr>
          </a:p>
        </p:txBody>
      </p:sp>
      <p:sp>
        <p:nvSpPr>
          <p:cNvPr id="228367" name="Line 15"/>
          <p:cNvSpPr>
            <a:spLocks noChangeShapeType="1"/>
          </p:cNvSpPr>
          <p:nvPr/>
        </p:nvSpPr>
        <p:spPr bwMode="auto">
          <a:xfrm>
            <a:off x="5200650" y="2789238"/>
            <a:ext cx="0" cy="74612"/>
          </a:xfrm>
          <a:prstGeom prst="line">
            <a:avLst/>
          </a:prstGeom>
          <a:noFill/>
          <a:ln w="6350">
            <a:solidFill>
              <a:srgbClr val="000000"/>
            </a:solidFill>
            <a:miter lim="800000"/>
            <a:headEnd/>
            <a:tailEnd/>
          </a:ln>
        </p:spPr>
        <p:txBody>
          <a:bodyPr/>
          <a:lstStyle/>
          <a:p>
            <a:endParaRPr lang="en-US"/>
          </a:p>
        </p:txBody>
      </p:sp>
      <p:sp>
        <p:nvSpPr>
          <p:cNvPr id="228368" name="Line 16"/>
          <p:cNvSpPr>
            <a:spLocks noChangeShapeType="1"/>
          </p:cNvSpPr>
          <p:nvPr/>
        </p:nvSpPr>
        <p:spPr bwMode="auto">
          <a:xfrm>
            <a:off x="4910138" y="2789238"/>
            <a:ext cx="0" cy="74612"/>
          </a:xfrm>
          <a:prstGeom prst="line">
            <a:avLst/>
          </a:prstGeom>
          <a:noFill/>
          <a:ln w="6350">
            <a:solidFill>
              <a:srgbClr val="000000"/>
            </a:solidFill>
            <a:miter lim="800000"/>
            <a:headEnd/>
            <a:tailEnd/>
          </a:ln>
        </p:spPr>
        <p:txBody>
          <a:bodyPr/>
          <a:lstStyle/>
          <a:p>
            <a:endParaRPr lang="en-US"/>
          </a:p>
        </p:txBody>
      </p:sp>
      <p:sp>
        <p:nvSpPr>
          <p:cNvPr id="228369" name="Line 17"/>
          <p:cNvSpPr>
            <a:spLocks noChangeShapeType="1"/>
          </p:cNvSpPr>
          <p:nvPr/>
        </p:nvSpPr>
        <p:spPr bwMode="auto">
          <a:xfrm>
            <a:off x="2305050" y="3362325"/>
            <a:ext cx="0" cy="73025"/>
          </a:xfrm>
          <a:prstGeom prst="line">
            <a:avLst/>
          </a:prstGeom>
          <a:noFill/>
          <a:ln w="6350">
            <a:solidFill>
              <a:srgbClr val="000000"/>
            </a:solidFill>
            <a:miter lim="800000"/>
            <a:headEnd/>
            <a:tailEnd/>
          </a:ln>
        </p:spPr>
        <p:txBody>
          <a:bodyPr/>
          <a:lstStyle/>
          <a:p>
            <a:endParaRPr lang="en-US"/>
          </a:p>
        </p:txBody>
      </p:sp>
      <p:sp>
        <p:nvSpPr>
          <p:cNvPr id="228370" name="Line 18"/>
          <p:cNvSpPr>
            <a:spLocks noChangeShapeType="1"/>
          </p:cNvSpPr>
          <p:nvPr/>
        </p:nvSpPr>
        <p:spPr bwMode="auto">
          <a:xfrm>
            <a:off x="2305050" y="2151063"/>
            <a:ext cx="147638" cy="0"/>
          </a:xfrm>
          <a:prstGeom prst="line">
            <a:avLst/>
          </a:prstGeom>
          <a:noFill/>
          <a:ln w="6350">
            <a:solidFill>
              <a:srgbClr val="000000"/>
            </a:solidFill>
            <a:miter lim="800000"/>
            <a:headEnd/>
            <a:tailEnd/>
          </a:ln>
        </p:spPr>
        <p:txBody>
          <a:bodyPr/>
          <a:lstStyle/>
          <a:p>
            <a:endParaRPr lang="en-US"/>
          </a:p>
        </p:txBody>
      </p:sp>
      <p:sp>
        <p:nvSpPr>
          <p:cNvPr id="228371" name="Line 19"/>
          <p:cNvSpPr>
            <a:spLocks noChangeShapeType="1"/>
          </p:cNvSpPr>
          <p:nvPr/>
        </p:nvSpPr>
        <p:spPr bwMode="auto">
          <a:xfrm>
            <a:off x="2305050" y="2792413"/>
            <a:ext cx="147638" cy="0"/>
          </a:xfrm>
          <a:prstGeom prst="line">
            <a:avLst/>
          </a:prstGeom>
          <a:noFill/>
          <a:ln w="6350">
            <a:solidFill>
              <a:srgbClr val="000000"/>
            </a:solidFill>
            <a:miter lim="800000"/>
            <a:headEnd/>
            <a:tailEnd/>
          </a:ln>
        </p:spPr>
        <p:txBody>
          <a:bodyPr/>
          <a:lstStyle/>
          <a:p>
            <a:endParaRPr lang="en-US"/>
          </a:p>
        </p:txBody>
      </p:sp>
      <p:sp>
        <p:nvSpPr>
          <p:cNvPr id="228372" name="Rectangle 20"/>
          <p:cNvSpPr>
            <a:spLocks noChangeArrowheads="1"/>
          </p:cNvSpPr>
          <p:nvPr/>
        </p:nvSpPr>
        <p:spPr bwMode="auto">
          <a:xfrm>
            <a:off x="1611313" y="1379538"/>
            <a:ext cx="487362"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$1,000</a:t>
            </a:r>
            <a:endParaRPr lang="en-US" sz="1400">
              <a:latin typeface="Tahoma" pitchFamily="34" charset="0"/>
            </a:endParaRPr>
          </a:p>
        </p:txBody>
      </p:sp>
      <p:sp>
        <p:nvSpPr>
          <p:cNvPr id="228373" name="Line 21"/>
          <p:cNvSpPr>
            <a:spLocks noChangeShapeType="1"/>
          </p:cNvSpPr>
          <p:nvPr/>
        </p:nvSpPr>
        <p:spPr bwMode="auto">
          <a:xfrm>
            <a:off x="2305050" y="3149600"/>
            <a:ext cx="147638" cy="0"/>
          </a:xfrm>
          <a:prstGeom prst="line">
            <a:avLst/>
          </a:prstGeom>
          <a:noFill/>
          <a:ln w="6350">
            <a:solidFill>
              <a:srgbClr val="000000"/>
            </a:solidFill>
            <a:miter lim="800000"/>
            <a:headEnd/>
            <a:tailEnd/>
          </a:ln>
        </p:spPr>
        <p:txBody>
          <a:bodyPr/>
          <a:lstStyle/>
          <a:p>
            <a:endParaRPr lang="en-US"/>
          </a:p>
        </p:txBody>
      </p:sp>
      <p:sp>
        <p:nvSpPr>
          <p:cNvPr id="228374" name="Rectangle 22"/>
          <p:cNvSpPr>
            <a:spLocks noChangeArrowheads="1"/>
          </p:cNvSpPr>
          <p:nvPr/>
        </p:nvSpPr>
        <p:spPr bwMode="auto">
          <a:xfrm>
            <a:off x="1768475" y="3090863"/>
            <a:ext cx="3587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–200</a:t>
            </a:r>
            <a:endParaRPr lang="en-US" sz="1400">
              <a:latin typeface="Tahoma" pitchFamily="34" charset="0"/>
            </a:endParaRPr>
          </a:p>
        </p:txBody>
      </p:sp>
      <p:sp>
        <p:nvSpPr>
          <p:cNvPr id="228375" name="Rectangle 23"/>
          <p:cNvSpPr>
            <a:spLocks noChangeArrowheads="1"/>
          </p:cNvSpPr>
          <p:nvPr/>
        </p:nvSpPr>
        <p:spPr bwMode="auto">
          <a:xfrm>
            <a:off x="1768475" y="3371850"/>
            <a:ext cx="3587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–400</a:t>
            </a:r>
            <a:endParaRPr lang="en-US" sz="1400">
              <a:latin typeface="Tahoma" pitchFamily="34" charset="0"/>
            </a:endParaRPr>
          </a:p>
        </p:txBody>
      </p:sp>
      <p:sp>
        <p:nvSpPr>
          <p:cNvPr id="228376" name="Rectangle 24"/>
          <p:cNvSpPr>
            <a:spLocks noChangeArrowheads="1"/>
          </p:cNvSpPr>
          <p:nvPr/>
        </p:nvSpPr>
        <p:spPr bwMode="auto">
          <a:xfrm>
            <a:off x="1878013" y="2116138"/>
            <a:ext cx="27305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500</a:t>
            </a:r>
            <a:endParaRPr lang="en-US" sz="1400">
              <a:latin typeface="Tahoma" pitchFamily="34" charset="0"/>
            </a:endParaRPr>
          </a:p>
        </p:txBody>
      </p:sp>
      <p:sp>
        <p:nvSpPr>
          <p:cNvPr id="228377" name="Line 25"/>
          <p:cNvSpPr>
            <a:spLocks noChangeShapeType="1"/>
          </p:cNvSpPr>
          <p:nvPr/>
        </p:nvSpPr>
        <p:spPr bwMode="auto">
          <a:xfrm>
            <a:off x="2305050" y="2079625"/>
            <a:ext cx="147638" cy="0"/>
          </a:xfrm>
          <a:prstGeom prst="line">
            <a:avLst/>
          </a:prstGeom>
          <a:noFill/>
          <a:ln w="6350">
            <a:solidFill>
              <a:srgbClr val="000000"/>
            </a:solidFill>
            <a:miter lim="800000"/>
            <a:headEnd/>
            <a:tailEnd/>
          </a:ln>
        </p:spPr>
        <p:txBody>
          <a:bodyPr/>
          <a:lstStyle/>
          <a:p>
            <a:endParaRPr lang="en-US"/>
          </a:p>
        </p:txBody>
      </p:sp>
      <p:sp>
        <p:nvSpPr>
          <p:cNvPr id="228378" name="Rectangle 26"/>
          <p:cNvSpPr>
            <a:spLocks noChangeArrowheads="1"/>
          </p:cNvSpPr>
          <p:nvPr/>
        </p:nvSpPr>
        <p:spPr bwMode="auto">
          <a:xfrm>
            <a:off x="1878013" y="2000250"/>
            <a:ext cx="2730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550</a:t>
            </a:r>
            <a:endParaRPr lang="en-US" sz="1400">
              <a:latin typeface="Tahoma" pitchFamily="34" charset="0"/>
            </a:endParaRPr>
          </a:p>
        </p:txBody>
      </p:sp>
      <p:sp>
        <p:nvSpPr>
          <p:cNvPr id="228379" name="Rectangle 27"/>
          <p:cNvSpPr>
            <a:spLocks noChangeArrowheads="1"/>
          </p:cNvSpPr>
          <p:nvPr/>
        </p:nvSpPr>
        <p:spPr bwMode="auto">
          <a:xfrm>
            <a:off x="2098675" y="2827338"/>
            <a:ext cx="8890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228380" name="Line 28"/>
          <p:cNvSpPr>
            <a:spLocks noChangeShapeType="1"/>
          </p:cNvSpPr>
          <p:nvPr/>
        </p:nvSpPr>
        <p:spPr bwMode="auto">
          <a:xfrm>
            <a:off x="2305050" y="2792413"/>
            <a:ext cx="147638" cy="0"/>
          </a:xfrm>
          <a:prstGeom prst="line">
            <a:avLst/>
          </a:prstGeom>
          <a:noFill/>
          <a:ln w="6350">
            <a:solidFill>
              <a:srgbClr val="000000"/>
            </a:solidFill>
            <a:miter lim="800000"/>
            <a:headEnd/>
            <a:tailEnd/>
          </a:ln>
        </p:spPr>
        <p:txBody>
          <a:bodyPr/>
          <a:lstStyle/>
          <a:p>
            <a:endParaRPr lang="en-US"/>
          </a:p>
        </p:txBody>
      </p:sp>
      <p:sp>
        <p:nvSpPr>
          <p:cNvPr id="228381" name="Rectangle 29"/>
          <p:cNvSpPr>
            <a:spLocks noChangeArrowheads="1"/>
          </p:cNvSpPr>
          <p:nvPr/>
        </p:nvSpPr>
        <p:spPr bwMode="auto">
          <a:xfrm>
            <a:off x="1989138" y="2713038"/>
            <a:ext cx="1809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50</a:t>
            </a:r>
            <a:endParaRPr lang="en-US" sz="1400">
              <a:latin typeface="Tahoma" pitchFamily="34" charset="0"/>
            </a:endParaRPr>
          </a:p>
        </p:txBody>
      </p:sp>
      <p:sp>
        <p:nvSpPr>
          <p:cNvPr id="228382" name="Rectangle 30"/>
          <p:cNvSpPr>
            <a:spLocks noChangeArrowheads="1"/>
          </p:cNvSpPr>
          <p:nvPr/>
        </p:nvSpPr>
        <p:spPr bwMode="auto">
          <a:xfrm>
            <a:off x="6442075" y="3476625"/>
            <a:ext cx="1690688"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Quantity of diamonds</a:t>
            </a:r>
            <a:endParaRPr lang="en-US" sz="1400">
              <a:latin typeface="Tahoma" pitchFamily="34" charset="0"/>
            </a:endParaRPr>
          </a:p>
        </p:txBody>
      </p:sp>
      <p:sp>
        <p:nvSpPr>
          <p:cNvPr id="228383" name="Line 31"/>
          <p:cNvSpPr>
            <a:spLocks noChangeShapeType="1"/>
          </p:cNvSpPr>
          <p:nvPr/>
        </p:nvSpPr>
        <p:spPr bwMode="auto">
          <a:xfrm flipH="1" flipV="1">
            <a:off x="2268538" y="1196975"/>
            <a:ext cx="36512" cy="2238375"/>
          </a:xfrm>
          <a:prstGeom prst="line">
            <a:avLst/>
          </a:prstGeom>
          <a:noFill/>
          <a:ln w="6350">
            <a:solidFill>
              <a:srgbClr val="000000"/>
            </a:solidFill>
            <a:miter lim="800000"/>
            <a:headEnd/>
            <a:tailEnd/>
          </a:ln>
        </p:spPr>
        <p:txBody>
          <a:bodyPr/>
          <a:lstStyle/>
          <a:p>
            <a:endParaRPr lang="en-US"/>
          </a:p>
        </p:txBody>
      </p:sp>
      <p:sp>
        <p:nvSpPr>
          <p:cNvPr id="228385" name="Rectangle 33"/>
          <p:cNvSpPr>
            <a:spLocks noChangeArrowheads="1"/>
          </p:cNvSpPr>
          <p:nvPr/>
        </p:nvSpPr>
        <p:spPr bwMode="auto">
          <a:xfrm>
            <a:off x="4178300" y="3676650"/>
            <a:ext cx="219075"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(b)</a:t>
            </a:r>
            <a:endParaRPr lang="en-US" sz="1400">
              <a:latin typeface="Tahoma" pitchFamily="34" charset="0"/>
            </a:endParaRPr>
          </a:p>
        </p:txBody>
      </p:sp>
      <p:sp>
        <p:nvSpPr>
          <p:cNvPr id="228386" name="Line 34"/>
          <p:cNvSpPr>
            <a:spLocks noChangeShapeType="1"/>
          </p:cNvSpPr>
          <p:nvPr/>
        </p:nvSpPr>
        <p:spPr bwMode="auto">
          <a:xfrm flipH="1">
            <a:off x="2305050" y="2863850"/>
            <a:ext cx="6153150" cy="0"/>
          </a:xfrm>
          <a:prstGeom prst="line">
            <a:avLst/>
          </a:prstGeom>
          <a:noFill/>
          <a:ln w="6350">
            <a:solidFill>
              <a:srgbClr val="000000"/>
            </a:solidFill>
            <a:miter lim="800000"/>
            <a:headEnd/>
            <a:tailEnd/>
          </a:ln>
        </p:spPr>
        <p:txBody>
          <a:bodyPr/>
          <a:lstStyle/>
          <a:p>
            <a:endParaRPr lang="en-US"/>
          </a:p>
        </p:txBody>
      </p:sp>
      <p:sp>
        <p:nvSpPr>
          <p:cNvPr id="228387" name="Rectangle 35"/>
          <p:cNvSpPr>
            <a:spLocks noChangeArrowheads="1"/>
          </p:cNvSpPr>
          <p:nvPr/>
        </p:nvSpPr>
        <p:spPr bwMode="auto">
          <a:xfrm>
            <a:off x="2101850" y="6357938"/>
            <a:ext cx="920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228388" name="Rectangle 36"/>
          <p:cNvSpPr>
            <a:spLocks noChangeArrowheads="1"/>
          </p:cNvSpPr>
          <p:nvPr/>
        </p:nvSpPr>
        <p:spPr bwMode="auto">
          <a:xfrm>
            <a:off x="5097463" y="6357938"/>
            <a:ext cx="1809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a:t>
            </a:r>
            <a:endParaRPr lang="en-US" sz="1400">
              <a:latin typeface="Tahoma" pitchFamily="34" charset="0"/>
            </a:endParaRPr>
          </a:p>
        </p:txBody>
      </p:sp>
      <p:sp>
        <p:nvSpPr>
          <p:cNvPr id="228389" name="Rectangle 37"/>
          <p:cNvSpPr>
            <a:spLocks noChangeArrowheads="1"/>
          </p:cNvSpPr>
          <p:nvPr/>
        </p:nvSpPr>
        <p:spPr bwMode="auto">
          <a:xfrm>
            <a:off x="7986713" y="6357938"/>
            <a:ext cx="1809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20</a:t>
            </a:r>
            <a:endParaRPr lang="en-US" sz="1400">
              <a:latin typeface="Tahoma" pitchFamily="34" charset="0"/>
            </a:endParaRPr>
          </a:p>
        </p:txBody>
      </p:sp>
      <p:sp>
        <p:nvSpPr>
          <p:cNvPr id="60450" name="Line 38"/>
          <p:cNvSpPr>
            <a:spLocks noChangeShapeType="1"/>
          </p:cNvSpPr>
          <p:nvPr/>
        </p:nvSpPr>
        <p:spPr bwMode="auto">
          <a:xfrm>
            <a:off x="5200650" y="6265863"/>
            <a:ext cx="0" cy="74612"/>
          </a:xfrm>
          <a:prstGeom prst="line">
            <a:avLst/>
          </a:prstGeom>
          <a:noFill/>
          <a:ln w="6350">
            <a:solidFill>
              <a:srgbClr val="000000"/>
            </a:solidFill>
            <a:miter lim="800000"/>
            <a:headEnd/>
            <a:tailEnd/>
          </a:ln>
        </p:spPr>
        <p:txBody>
          <a:bodyPr/>
          <a:lstStyle/>
          <a:p>
            <a:endParaRPr lang="en-US"/>
          </a:p>
        </p:txBody>
      </p:sp>
      <p:sp>
        <p:nvSpPr>
          <p:cNvPr id="228391" name="Line 39"/>
          <p:cNvSpPr>
            <a:spLocks noChangeShapeType="1"/>
          </p:cNvSpPr>
          <p:nvPr/>
        </p:nvSpPr>
        <p:spPr bwMode="auto">
          <a:xfrm>
            <a:off x="2305050" y="4640263"/>
            <a:ext cx="147638" cy="0"/>
          </a:xfrm>
          <a:prstGeom prst="line">
            <a:avLst/>
          </a:prstGeom>
          <a:noFill/>
          <a:ln w="6350">
            <a:solidFill>
              <a:srgbClr val="000000"/>
            </a:solidFill>
            <a:miter lim="800000"/>
            <a:headEnd/>
            <a:tailEnd/>
          </a:ln>
        </p:spPr>
        <p:txBody>
          <a:bodyPr/>
          <a:lstStyle/>
          <a:p>
            <a:endParaRPr lang="en-US"/>
          </a:p>
        </p:txBody>
      </p:sp>
      <p:sp>
        <p:nvSpPr>
          <p:cNvPr id="228392" name="Line 40"/>
          <p:cNvSpPr>
            <a:spLocks noChangeShapeType="1"/>
          </p:cNvSpPr>
          <p:nvPr/>
        </p:nvSpPr>
        <p:spPr bwMode="auto">
          <a:xfrm>
            <a:off x="2305050" y="4981575"/>
            <a:ext cx="147638" cy="0"/>
          </a:xfrm>
          <a:prstGeom prst="line">
            <a:avLst/>
          </a:prstGeom>
          <a:noFill/>
          <a:ln w="6350">
            <a:solidFill>
              <a:srgbClr val="000000"/>
            </a:solidFill>
            <a:miter lim="800000"/>
            <a:headEnd/>
            <a:tailEnd/>
          </a:ln>
        </p:spPr>
        <p:txBody>
          <a:bodyPr/>
          <a:lstStyle/>
          <a:p>
            <a:endParaRPr lang="en-US"/>
          </a:p>
        </p:txBody>
      </p:sp>
      <p:sp>
        <p:nvSpPr>
          <p:cNvPr id="228393" name="Line 41"/>
          <p:cNvSpPr>
            <a:spLocks noChangeShapeType="1"/>
          </p:cNvSpPr>
          <p:nvPr/>
        </p:nvSpPr>
        <p:spPr bwMode="auto">
          <a:xfrm>
            <a:off x="2305050" y="5319713"/>
            <a:ext cx="147638" cy="0"/>
          </a:xfrm>
          <a:prstGeom prst="line">
            <a:avLst/>
          </a:prstGeom>
          <a:noFill/>
          <a:ln w="6350">
            <a:solidFill>
              <a:srgbClr val="000000"/>
            </a:solidFill>
            <a:miter lim="800000"/>
            <a:headEnd/>
            <a:tailEnd/>
          </a:ln>
        </p:spPr>
        <p:txBody>
          <a:bodyPr/>
          <a:lstStyle/>
          <a:p>
            <a:endParaRPr lang="en-US"/>
          </a:p>
        </p:txBody>
      </p:sp>
      <p:sp>
        <p:nvSpPr>
          <p:cNvPr id="228394" name="Line 42"/>
          <p:cNvSpPr>
            <a:spLocks noChangeShapeType="1"/>
          </p:cNvSpPr>
          <p:nvPr/>
        </p:nvSpPr>
        <p:spPr bwMode="auto">
          <a:xfrm>
            <a:off x="2305050" y="5659438"/>
            <a:ext cx="147638" cy="0"/>
          </a:xfrm>
          <a:prstGeom prst="line">
            <a:avLst/>
          </a:prstGeom>
          <a:noFill/>
          <a:ln w="6350">
            <a:solidFill>
              <a:srgbClr val="000000"/>
            </a:solidFill>
            <a:miter lim="800000"/>
            <a:headEnd/>
            <a:tailEnd/>
          </a:ln>
        </p:spPr>
        <p:txBody>
          <a:bodyPr/>
          <a:lstStyle/>
          <a:p>
            <a:endParaRPr lang="en-US"/>
          </a:p>
        </p:txBody>
      </p:sp>
      <p:sp>
        <p:nvSpPr>
          <p:cNvPr id="228395" name="Line 43"/>
          <p:cNvSpPr>
            <a:spLocks noChangeShapeType="1"/>
          </p:cNvSpPr>
          <p:nvPr/>
        </p:nvSpPr>
        <p:spPr bwMode="auto">
          <a:xfrm>
            <a:off x="2305050" y="5997575"/>
            <a:ext cx="147638" cy="0"/>
          </a:xfrm>
          <a:prstGeom prst="line">
            <a:avLst/>
          </a:prstGeom>
          <a:noFill/>
          <a:ln w="6350">
            <a:solidFill>
              <a:srgbClr val="000000"/>
            </a:solidFill>
            <a:miter lim="800000"/>
            <a:headEnd/>
            <a:tailEnd/>
          </a:ln>
        </p:spPr>
        <p:txBody>
          <a:bodyPr/>
          <a:lstStyle/>
          <a:p>
            <a:endParaRPr lang="en-US"/>
          </a:p>
        </p:txBody>
      </p:sp>
      <p:sp>
        <p:nvSpPr>
          <p:cNvPr id="228396" name="Rectangle 44"/>
          <p:cNvSpPr>
            <a:spLocks noChangeArrowheads="1"/>
          </p:cNvSpPr>
          <p:nvPr/>
        </p:nvSpPr>
        <p:spPr bwMode="auto">
          <a:xfrm>
            <a:off x="1611313" y="4575175"/>
            <a:ext cx="487362"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$5,000</a:t>
            </a:r>
            <a:endParaRPr lang="en-US" sz="1400">
              <a:latin typeface="Tahoma" pitchFamily="34" charset="0"/>
            </a:endParaRPr>
          </a:p>
        </p:txBody>
      </p:sp>
      <p:sp>
        <p:nvSpPr>
          <p:cNvPr id="228397" name="Rectangle 45"/>
          <p:cNvSpPr>
            <a:spLocks noChangeArrowheads="1"/>
          </p:cNvSpPr>
          <p:nvPr/>
        </p:nvSpPr>
        <p:spPr bwMode="auto">
          <a:xfrm>
            <a:off x="1722438" y="4914900"/>
            <a:ext cx="4000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4,000</a:t>
            </a:r>
            <a:endParaRPr lang="en-US" sz="1400">
              <a:latin typeface="Tahoma" pitchFamily="34" charset="0"/>
            </a:endParaRPr>
          </a:p>
        </p:txBody>
      </p:sp>
      <p:sp>
        <p:nvSpPr>
          <p:cNvPr id="228398" name="Rectangle 46"/>
          <p:cNvSpPr>
            <a:spLocks noChangeArrowheads="1"/>
          </p:cNvSpPr>
          <p:nvPr/>
        </p:nvSpPr>
        <p:spPr bwMode="auto">
          <a:xfrm>
            <a:off x="1722438" y="5251450"/>
            <a:ext cx="4000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3,000</a:t>
            </a:r>
            <a:endParaRPr lang="en-US" sz="1400">
              <a:latin typeface="Tahoma" pitchFamily="34" charset="0"/>
            </a:endParaRPr>
          </a:p>
        </p:txBody>
      </p:sp>
      <p:sp>
        <p:nvSpPr>
          <p:cNvPr id="228399" name="Rectangle 47"/>
          <p:cNvSpPr>
            <a:spLocks noChangeArrowheads="1"/>
          </p:cNvSpPr>
          <p:nvPr/>
        </p:nvSpPr>
        <p:spPr bwMode="auto">
          <a:xfrm>
            <a:off x="1722438" y="5591175"/>
            <a:ext cx="4000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2,000</a:t>
            </a:r>
            <a:endParaRPr lang="en-US" sz="1400">
              <a:latin typeface="Tahoma" pitchFamily="34" charset="0"/>
            </a:endParaRPr>
          </a:p>
        </p:txBody>
      </p:sp>
      <p:sp>
        <p:nvSpPr>
          <p:cNvPr id="228400" name="Rectangle 48"/>
          <p:cNvSpPr>
            <a:spLocks noChangeArrowheads="1"/>
          </p:cNvSpPr>
          <p:nvPr/>
        </p:nvSpPr>
        <p:spPr bwMode="auto">
          <a:xfrm>
            <a:off x="1722438" y="5930900"/>
            <a:ext cx="4000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1,000</a:t>
            </a:r>
            <a:endParaRPr lang="en-US" sz="1400">
              <a:latin typeface="Tahoma" pitchFamily="34" charset="0"/>
            </a:endParaRPr>
          </a:p>
        </p:txBody>
      </p:sp>
      <p:sp>
        <p:nvSpPr>
          <p:cNvPr id="228402" name="Rectangle 50"/>
          <p:cNvSpPr>
            <a:spLocks noChangeArrowheads="1"/>
          </p:cNvSpPr>
          <p:nvPr/>
        </p:nvSpPr>
        <p:spPr bwMode="auto">
          <a:xfrm>
            <a:off x="1360488" y="4049713"/>
            <a:ext cx="787400" cy="4302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Total Revenue</a:t>
            </a:r>
            <a:endParaRPr lang="en-US" sz="1400">
              <a:latin typeface="Tahoma" pitchFamily="34" charset="0"/>
            </a:endParaRPr>
          </a:p>
        </p:txBody>
      </p:sp>
      <p:sp>
        <p:nvSpPr>
          <p:cNvPr id="228403" name="Freeform 51"/>
          <p:cNvSpPr>
            <a:spLocks/>
          </p:cNvSpPr>
          <p:nvPr/>
        </p:nvSpPr>
        <p:spPr bwMode="auto">
          <a:xfrm>
            <a:off x="2305050" y="4062413"/>
            <a:ext cx="6153150" cy="2278062"/>
          </a:xfrm>
          <a:custGeom>
            <a:avLst/>
            <a:gdLst>
              <a:gd name="T0" fmla="*/ 2147483647 w 2142"/>
              <a:gd name="T1" fmla="*/ 2147483647 h 1570"/>
              <a:gd name="T2" fmla="*/ 0 w 2142"/>
              <a:gd name="T3" fmla="*/ 2147483647 h 1570"/>
              <a:gd name="T4" fmla="*/ 0 w 2142"/>
              <a:gd name="T5" fmla="*/ 0 h 1570"/>
              <a:gd name="T6" fmla="*/ 0 60000 65536"/>
              <a:gd name="T7" fmla="*/ 0 60000 65536"/>
              <a:gd name="T8" fmla="*/ 0 60000 65536"/>
              <a:gd name="T9" fmla="*/ 0 w 2142"/>
              <a:gd name="T10" fmla="*/ 0 h 1570"/>
              <a:gd name="T11" fmla="*/ 2142 w 2142"/>
              <a:gd name="T12" fmla="*/ 1570 h 1570"/>
            </a:gdLst>
            <a:ahLst/>
            <a:cxnLst>
              <a:cxn ang="T6">
                <a:pos x="T0" y="T1"/>
              </a:cxn>
              <a:cxn ang="T7">
                <a:pos x="T2" y="T3"/>
              </a:cxn>
              <a:cxn ang="T8">
                <a:pos x="T4" y="T5"/>
              </a:cxn>
            </a:cxnLst>
            <a:rect l="T9" t="T10" r="T11" b="T12"/>
            <a:pathLst>
              <a:path w="2142" h="1570">
                <a:moveTo>
                  <a:pt x="2142" y="1570"/>
                </a:moveTo>
                <a:lnTo>
                  <a:pt x="0" y="1570"/>
                </a:lnTo>
                <a:lnTo>
                  <a:pt x="0" y="0"/>
                </a:lnTo>
              </a:path>
            </a:pathLst>
          </a:custGeom>
          <a:noFill/>
          <a:ln w="6350">
            <a:solidFill>
              <a:srgbClr val="000000"/>
            </a:solidFill>
            <a:miter lim="800000"/>
            <a:headEnd/>
            <a:tailEnd/>
          </a:ln>
        </p:spPr>
        <p:txBody>
          <a:bodyPr/>
          <a:lstStyle/>
          <a:p>
            <a:endParaRPr lang="en-US"/>
          </a:p>
        </p:txBody>
      </p:sp>
      <p:sp>
        <p:nvSpPr>
          <p:cNvPr id="228404" name="Line 52"/>
          <p:cNvSpPr>
            <a:spLocks noChangeShapeType="1"/>
          </p:cNvSpPr>
          <p:nvPr/>
        </p:nvSpPr>
        <p:spPr bwMode="auto">
          <a:xfrm>
            <a:off x="2305050" y="1438275"/>
            <a:ext cx="3763963" cy="1849438"/>
          </a:xfrm>
          <a:prstGeom prst="line">
            <a:avLst/>
          </a:prstGeom>
          <a:noFill/>
          <a:ln w="26988">
            <a:solidFill>
              <a:srgbClr val="4B8FCC"/>
            </a:solidFill>
            <a:miter lim="800000"/>
            <a:headEnd/>
            <a:tailEnd/>
          </a:ln>
        </p:spPr>
        <p:txBody>
          <a:bodyPr/>
          <a:lstStyle/>
          <a:p>
            <a:endParaRPr lang="en-US"/>
          </a:p>
        </p:txBody>
      </p:sp>
      <p:sp>
        <p:nvSpPr>
          <p:cNvPr id="228405" name="Line 53"/>
          <p:cNvSpPr>
            <a:spLocks noChangeShapeType="1"/>
          </p:cNvSpPr>
          <p:nvPr/>
        </p:nvSpPr>
        <p:spPr bwMode="auto">
          <a:xfrm>
            <a:off x="2305050" y="1438275"/>
            <a:ext cx="5791200" cy="1425575"/>
          </a:xfrm>
          <a:prstGeom prst="line">
            <a:avLst/>
          </a:prstGeom>
          <a:noFill/>
          <a:ln w="26988">
            <a:solidFill>
              <a:srgbClr val="3C5DAA"/>
            </a:solidFill>
            <a:miter lim="800000"/>
            <a:headEnd/>
            <a:tailEnd/>
          </a:ln>
        </p:spPr>
        <p:txBody>
          <a:bodyPr/>
          <a:lstStyle/>
          <a:p>
            <a:endParaRPr lang="en-US"/>
          </a:p>
        </p:txBody>
      </p:sp>
      <p:sp>
        <p:nvSpPr>
          <p:cNvPr id="228406" name="Oval 54"/>
          <p:cNvSpPr>
            <a:spLocks noChangeArrowheads="1"/>
          </p:cNvSpPr>
          <p:nvPr/>
        </p:nvSpPr>
        <p:spPr bwMode="auto">
          <a:xfrm>
            <a:off x="2259013" y="1414463"/>
            <a:ext cx="95250" cy="47625"/>
          </a:xfrm>
          <a:prstGeom prst="ellipse">
            <a:avLst/>
          </a:prstGeom>
          <a:solidFill>
            <a:srgbClr val="000000"/>
          </a:solidFill>
          <a:ln w="9525">
            <a:noFill/>
            <a:round/>
            <a:headEnd/>
            <a:tailEnd/>
          </a:ln>
        </p:spPr>
        <p:txBody>
          <a:bodyPr/>
          <a:lstStyle/>
          <a:p>
            <a:endParaRPr lang="en-US"/>
          </a:p>
        </p:txBody>
      </p:sp>
      <p:sp>
        <p:nvSpPr>
          <p:cNvPr id="228407" name="Oval 55"/>
          <p:cNvSpPr>
            <a:spLocks noChangeArrowheads="1"/>
          </p:cNvSpPr>
          <p:nvPr/>
        </p:nvSpPr>
        <p:spPr bwMode="auto">
          <a:xfrm>
            <a:off x="2403475" y="1487488"/>
            <a:ext cx="96838" cy="49212"/>
          </a:xfrm>
          <a:prstGeom prst="ellipse">
            <a:avLst/>
          </a:prstGeom>
          <a:solidFill>
            <a:srgbClr val="000000"/>
          </a:solidFill>
          <a:ln w="9525">
            <a:noFill/>
            <a:round/>
            <a:headEnd/>
            <a:tailEnd/>
          </a:ln>
        </p:spPr>
        <p:txBody>
          <a:bodyPr/>
          <a:lstStyle/>
          <a:p>
            <a:endParaRPr lang="en-US"/>
          </a:p>
        </p:txBody>
      </p:sp>
      <p:sp>
        <p:nvSpPr>
          <p:cNvPr id="228408" name="Oval 56"/>
          <p:cNvSpPr>
            <a:spLocks noChangeArrowheads="1"/>
          </p:cNvSpPr>
          <p:nvPr/>
        </p:nvSpPr>
        <p:spPr bwMode="auto">
          <a:xfrm>
            <a:off x="2693988" y="1630363"/>
            <a:ext cx="93662" cy="47625"/>
          </a:xfrm>
          <a:prstGeom prst="ellipse">
            <a:avLst/>
          </a:prstGeom>
          <a:solidFill>
            <a:srgbClr val="000000"/>
          </a:solidFill>
          <a:ln w="9525">
            <a:noFill/>
            <a:round/>
            <a:headEnd/>
            <a:tailEnd/>
          </a:ln>
        </p:spPr>
        <p:txBody>
          <a:bodyPr/>
          <a:lstStyle/>
          <a:p>
            <a:endParaRPr lang="en-US"/>
          </a:p>
        </p:txBody>
      </p:sp>
      <p:sp>
        <p:nvSpPr>
          <p:cNvPr id="228409" name="Oval 57"/>
          <p:cNvSpPr>
            <a:spLocks noChangeArrowheads="1"/>
          </p:cNvSpPr>
          <p:nvPr/>
        </p:nvSpPr>
        <p:spPr bwMode="auto">
          <a:xfrm>
            <a:off x="2981325" y="1770063"/>
            <a:ext cx="96838" cy="49212"/>
          </a:xfrm>
          <a:prstGeom prst="ellipse">
            <a:avLst/>
          </a:prstGeom>
          <a:solidFill>
            <a:srgbClr val="000000"/>
          </a:solidFill>
          <a:ln w="9525">
            <a:noFill/>
            <a:round/>
            <a:headEnd/>
            <a:tailEnd/>
          </a:ln>
        </p:spPr>
        <p:txBody>
          <a:bodyPr/>
          <a:lstStyle/>
          <a:p>
            <a:endParaRPr lang="en-US"/>
          </a:p>
        </p:txBody>
      </p:sp>
      <p:sp>
        <p:nvSpPr>
          <p:cNvPr id="228410" name="Oval 58"/>
          <p:cNvSpPr>
            <a:spLocks noChangeArrowheads="1"/>
          </p:cNvSpPr>
          <p:nvPr/>
        </p:nvSpPr>
        <p:spPr bwMode="auto">
          <a:xfrm>
            <a:off x="3270250" y="1912938"/>
            <a:ext cx="98425" cy="49212"/>
          </a:xfrm>
          <a:prstGeom prst="ellipse">
            <a:avLst/>
          </a:prstGeom>
          <a:solidFill>
            <a:srgbClr val="000000"/>
          </a:solidFill>
          <a:ln w="9525">
            <a:noFill/>
            <a:round/>
            <a:headEnd/>
            <a:tailEnd/>
          </a:ln>
        </p:spPr>
        <p:txBody>
          <a:bodyPr/>
          <a:lstStyle/>
          <a:p>
            <a:endParaRPr lang="en-US"/>
          </a:p>
        </p:txBody>
      </p:sp>
      <p:sp>
        <p:nvSpPr>
          <p:cNvPr id="228411" name="Oval 59"/>
          <p:cNvSpPr>
            <a:spLocks noChangeArrowheads="1"/>
          </p:cNvSpPr>
          <p:nvPr/>
        </p:nvSpPr>
        <p:spPr bwMode="auto">
          <a:xfrm>
            <a:off x="3560763" y="2055813"/>
            <a:ext cx="98425" cy="49212"/>
          </a:xfrm>
          <a:prstGeom prst="ellipse">
            <a:avLst/>
          </a:prstGeom>
          <a:solidFill>
            <a:srgbClr val="000000"/>
          </a:solidFill>
          <a:ln w="9525">
            <a:noFill/>
            <a:round/>
            <a:headEnd/>
            <a:tailEnd/>
          </a:ln>
        </p:spPr>
        <p:txBody>
          <a:bodyPr/>
          <a:lstStyle/>
          <a:p>
            <a:endParaRPr lang="en-US"/>
          </a:p>
        </p:txBody>
      </p:sp>
      <p:sp>
        <p:nvSpPr>
          <p:cNvPr id="228412" name="Oval 60"/>
          <p:cNvSpPr>
            <a:spLocks noChangeArrowheads="1"/>
          </p:cNvSpPr>
          <p:nvPr/>
        </p:nvSpPr>
        <p:spPr bwMode="auto">
          <a:xfrm>
            <a:off x="3851275" y="2198688"/>
            <a:ext cx="95250" cy="49212"/>
          </a:xfrm>
          <a:prstGeom prst="ellipse">
            <a:avLst/>
          </a:prstGeom>
          <a:solidFill>
            <a:srgbClr val="000000"/>
          </a:solidFill>
          <a:ln w="9525">
            <a:noFill/>
            <a:round/>
            <a:headEnd/>
            <a:tailEnd/>
          </a:ln>
        </p:spPr>
        <p:txBody>
          <a:bodyPr/>
          <a:lstStyle/>
          <a:p>
            <a:endParaRPr lang="en-US"/>
          </a:p>
        </p:txBody>
      </p:sp>
      <p:sp>
        <p:nvSpPr>
          <p:cNvPr id="228413" name="Oval 61"/>
          <p:cNvSpPr>
            <a:spLocks noChangeArrowheads="1"/>
          </p:cNvSpPr>
          <p:nvPr/>
        </p:nvSpPr>
        <p:spPr bwMode="auto">
          <a:xfrm>
            <a:off x="4141788" y="2343150"/>
            <a:ext cx="93662" cy="47625"/>
          </a:xfrm>
          <a:prstGeom prst="ellipse">
            <a:avLst/>
          </a:prstGeom>
          <a:solidFill>
            <a:srgbClr val="000000"/>
          </a:solidFill>
          <a:ln w="9525">
            <a:noFill/>
            <a:round/>
            <a:headEnd/>
            <a:tailEnd/>
          </a:ln>
        </p:spPr>
        <p:txBody>
          <a:bodyPr/>
          <a:lstStyle/>
          <a:p>
            <a:endParaRPr lang="en-US"/>
          </a:p>
        </p:txBody>
      </p:sp>
      <p:sp>
        <p:nvSpPr>
          <p:cNvPr id="228414" name="Oval 62"/>
          <p:cNvSpPr>
            <a:spLocks noChangeArrowheads="1"/>
          </p:cNvSpPr>
          <p:nvPr/>
        </p:nvSpPr>
        <p:spPr bwMode="auto">
          <a:xfrm>
            <a:off x="4427538" y="2482850"/>
            <a:ext cx="98425" cy="49213"/>
          </a:xfrm>
          <a:prstGeom prst="ellipse">
            <a:avLst/>
          </a:prstGeom>
          <a:solidFill>
            <a:srgbClr val="000000"/>
          </a:solidFill>
          <a:ln w="9525">
            <a:noFill/>
            <a:round/>
            <a:headEnd/>
            <a:tailEnd/>
          </a:ln>
        </p:spPr>
        <p:txBody>
          <a:bodyPr/>
          <a:lstStyle/>
          <a:p>
            <a:endParaRPr lang="en-US"/>
          </a:p>
        </p:txBody>
      </p:sp>
      <p:sp>
        <p:nvSpPr>
          <p:cNvPr id="228415" name="Oval 63"/>
          <p:cNvSpPr>
            <a:spLocks noChangeArrowheads="1"/>
          </p:cNvSpPr>
          <p:nvPr/>
        </p:nvSpPr>
        <p:spPr bwMode="auto">
          <a:xfrm>
            <a:off x="4718050" y="2625725"/>
            <a:ext cx="98425" cy="49213"/>
          </a:xfrm>
          <a:prstGeom prst="ellipse">
            <a:avLst/>
          </a:prstGeom>
          <a:solidFill>
            <a:srgbClr val="000000"/>
          </a:solidFill>
          <a:ln w="9525">
            <a:noFill/>
            <a:round/>
            <a:headEnd/>
            <a:tailEnd/>
          </a:ln>
        </p:spPr>
        <p:txBody>
          <a:bodyPr/>
          <a:lstStyle/>
          <a:p>
            <a:endParaRPr lang="en-US"/>
          </a:p>
        </p:txBody>
      </p:sp>
      <p:sp>
        <p:nvSpPr>
          <p:cNvPr id="228416" name="Oval 64"/>
          <p:cNvSpPr>
            <a:spLocks noChangeArrowheads="1"/>
          </p:cNvSpPr>
          <p:nvPr/>
        </p:nvSpPr>
        <p:spPr bwMode="auto">
          <a:xfrm>
            <a:off x="5008563" y="2768600"/>
            <a:ext cx="95250" cy="49213"/>
          </a:xfrm>
          <a:prstGeom prst="ellipse">
            <a:avLst/>
          </a:prstGeom>
          <a:solidFill>
            <a:srgbClr val="000000"/>
          </a:solidFill>
          <a:ln w="9525">
            <a:noFill/>
            <a:round/>
            <a:headEnd/>
            <a:tailEnd/>
          </a:ln>
        </p:spPr>
        <p:txBody>
          <a:bodyPr/>
          <a:lstStyle/>
          <a:p>
            <a:endParaRPr lang="en-US"/>
          </a:p>
        </p:txBody>
      </p:sp>
      <p:sp>
        <p:nvSpPr>
          <p:cNvPr id="228417" name="Oval 65"/>
          <p:cNvSpPr>
            <a:spLocks noChangeArrowheads="1"/>
          </p:cNvSpPr>
          <p:nvPr/>
        </p:nvSpPr>
        <p:spPr bwMode="auto">
          <a:xfrm>
            <a:off x="5299075" y="2911475"/>
            <a:ext cx="93663" cy="49213"/>
          </a:xfrm>
          <a:prstGeom prst="ellipse">
            <a:avLst/>
          </a:prstGeom>
          <a:solidFill>
            <a:srgbClr val="000000"/>
          </a:solidFill>
          <a:ln w="9525">
            <a:noFill/>
            <a:round/>
            <a:headEnd/>
            <a:tailEnd/>
          </a:ln>
        </p:spPr>
        <p:txBody>
          <a:bodyPr/>
          <a:lstStyle/>
          <a:p>
            <a:endParaRPr lang="en-US"/>
          </a:p>
        </p:txBody>
      </p:sp>
      <p:sp>
        <p:nvSpPr>
          <p:cNvPr id="228418" name="Oval 66"/>
          <p:cNvSpPr>
            <a:spLocks noChangeArrowheads="1"/>
          </p:cNvSpPr>
          <p:nvPr/>
        </p:nvSpPr>
        <p:spPr bwMode="auto">
          <a:xfrm>
            <a:off x="5151438" y="4616450"/>
            <a:ext cx="98425" cy="47625"/>
          </a:xfrm>
          <a:prstGeom prst="ellipse">
            <a:avLst/>
          </a:prstGeom>
          <a:solidFill>
            <a:srgbClr val="000000"/>
          </a:solidFill>
          <a:ln w="9525">
            <a:noFill/>
            <a:round/>
            <a:headEnd/>
            <a:tailEnd/>
          </a:ln>
        </p:spPr>
        <p:txBody>
          <a:bodyPr/>
          <a:lstStyle/>
          <a:p>
            <a:endParaRPr lang="en-US"/>
          </a:p>
        </p:txBody>
      </p:sp>
      <p:sp>
        <p:nvSpPr>
          <p:cNvPr id="228419" name="Oval 67"/>
          <p:cNvSpPr>
            <a:spLocks noChangeArrowheads="1"/>
          </p:cNvSpPr>
          <p:nvPr/>
        </p:nvSpPr>
        <p:spPr bwMode="auto">
          <a:xfrm>
            <a:off x="2259013" y="6315075"/>
            <a:ext cx="95250" cy="47625"/>
          </a:xfrm>
          <a:prstGeom prst="ellipse">
            <a:avLst/>
          </a:prstGeom>
          <a:solidFill>
            <a:srgbClr val="000000"/>
          </a:solidFill>
          <a:ln w="9525">
            <a:noFill/>
            <a:round/>
            <a:headEnd/>
            <a:tailEnd/>
          </a:ln>
        </p:spPr>
        <p:txBody>
          <a:bodyPr/>
          <a:lstStyle/>
          <a:p>
            <a:endParaRPr lang="en-US"/>
          </a:p>
        </p:txBody>
      </p:sp>
      <p:sp>
        <p:nvSpPr>
          <p:cNvPr id="228420" name="Oval 68"/>
          <p:cNvSpPr>
            <a:spLocks noChangeArrowheads="1"/>
          </p:cNvSpPr>
          <p:nvPr/>
        </p:nvSpPr>
        <p:spPr bwMode="auto">
          <a:xfrm>
            <a:off x="2546350" y="5991225"/>
            <a:ext cx="98425" cy="49213"/>
          </a:xfrm>
          <a:prstGeom prst="ellipse">
            <a:avLst/>
          </a:prstGeom>
          <a:solidFill>
            <a:srgbClr val="000000"/>
          </a:solidFill>
          <a:ln w="9525">
            <a:noFill/>
            <a:round/>
            <a:headEnd/>
            <a:tailEnd/>
          </a:ln>
        </p:spPr>
        <p:txBody>
          <a:bodyPr/>
          <a:lstStyle/>
          <a:p>
            <a:endParaRPr lang="en-US"/>
          </a:p>
        </p:txBody>
      </p:sp>
      <p:sp>
        <p:nvSpPr>
          <p:cNvPr id="228421" name="Oval 69"/>
          <p:cNvSpPr>
            <a:spLocks noChangeArrowheads="1"/>
          </p:cNvSpPr>
          <p:nvPr/>
        </p:nvSpPr>
        <p:spPr bwMode="auto">
          <a:xfrm>
            <a:off x="2836863" y="5703888"/>
            <a:ext cx="98425" cy="47625"/>
          </a:xfrm>
          <a:prstGeom prst="ellipse">
            <a:avLst/>
          </a:prstGeom>
          <a:solidFill>
            <a:srgbClr val="000000"/>
          </a:solidFill>
          <a:ln w="9525">
            <a:noFill/>
            <a:round/>
            <a:headEnd/>
            <a:tailEnd/>
          </a:ln>
        </p:spPr>
        <p:txBody>
          <a:bodyPr/>
          <a:lstStyle/>
          <a:p>
            <a:endParaRPr lang="en-US"/>
          </a:p>
        </p:txBody>
      </p:sp>
      <p:sp>
        <p:nvSpPr>
          <p:cNvPr id="228422" name="Oval 70"/>
          <p:cNvSpPr>
            <a:spLocks noChangeArrowheads="1"/>
          </p:cNvSpPr>
          <p:nvPr/>
        </p:nvSpPr>
        <p:spPr bwMode="auto">
          <a:xfrm>
            <a:off x="3127375" y="5448300"/>
            <a:ext cx="95250" cy="47625"/>
          </a:xfrm>
          <a:prstGeom prst="ellipse">
            <a:avLst/>
          </a:prstGeom>
          <a:solidFill>
            <a:srgbClr val="000000"/>
          </a:solidFill>
          <a:ln w="9525">
            <a:noFill/>
            <a:round/>
            <a:headEnd/>
            <a:tailEnd/>
          </a:ln>
        </p:spPr>
        <p:txBody>
          <a:bodyPr/>
          <a:lstStyle/>
          <a:p>
            <a:endParaRPr lang="en-US"/>
          </a:p>
        </p:txBody>
      </p:sp>
      <p:sp>
        <p:nvSpPr>
          <p:cNvPr id="228423" name="Oval 71"/>
          <p:cNvSpPr>
            <a:spLocks noChangeArrowheads="1"/>
          </p:cNvSpPr>
          <p:nvPr/>
        </p:nvSpPr>
        <p:spPr bwMode="auto">
          <a:xfrm>
            <a:off x="3417888" y="5227638"/>
            <a:ext cx="93662" cy="49212"/>
          </a:xfrm>
          <a:prstGeom prst="ellipse">
            <a:avLst/>
          </a:prstGeom>
          <a:solidFill>
            <a:srgbClr val="000000"/>
          </a:solidFill>
          <a:ln w="9525">
            <a:noFill/>
            <a:round/>
            <a:headEnd/>
            <a:tailEnd/>
          </a:ln>
        </p:spPr>
        <p:txBody>
          <a:bodyPr/>
          <a:lstStyle/>
          <a:p>
            <a:endParaRPr lang="en-US"/>
          </a:p>
        </p:txBody>
      </p:sp>
      <p:sp>
        <p:nvSpPr>
          <p:cNvPr id="228424" name="Oval 72"/>
          <p:cNvSpPr>
            <a:spLocks noChangeArrowheads="1"/>
          </p:cNvSpPr>
          <p:nvPr/>
        </p:nvSpPr>
        <p:spPr bwMode="auto">
          <a:xfrm>
            <a:off x="3705225" y="5041900"/>
            <a:ext cx="96838" cy="49213"/>
          </a:xfrm>
          <a:prstGeom prst="ellipse">
            <a:avLst/>
          </a:prstGeom>
          <a:solidFill>
            <a:srgbClr val="000000"/>
          </a:solidFill>
          <a:ln w="9525">
            <a:noFill/>
            <a:round/>
            <a:headEnd/>
            <a:tailEnd/>
          </a:ln>
        </p:spPr>
        <p:txBody>
          <a:bodyPr/>
          <a:lstStyle/>
          <a:p>
            <a:endParaRPr lang="en-US"/>
          </a:p>
        </p:txBody>
      </p:sp>
      <p:sp>
        <p:nvSpPr>
          <p:cNvPr id="228425" name="Oval 73"/>
          <p:cNvSpPr>
            <a:spLocks noChangeArrowheads="1"/>
          </p:cNvSpPr>
          <p:nvPr/>
        </p:nvSpPr>
        <p:spPr bwMode="auto">
          <a:xfrm>
            <a:off x="3994150" y="4889500"/>
            <a:ext cx="98425" cy="49213"/>
          </a:xfrm>
          <a:prstGeom prst="ellipse">
            <a:avLst/>
          </a:prstGeom>
          <a:solidFill>
            <a:srgbClr val="000000"/>
          </a:solidFill>
          <a:ln w="9525">
            <a:noFill/>
            <a:round/>
            <a:headEnd/>
            <a:tailEnd/>
          </a:ln>
        </p:spPr>
        <p:txBody>
          <a:bodyPr/>
          <a:lstStyle/>
          <a:p>
            <a:endParaRPr lang="en-US"/>
          </a:p>
        </p:txBody>
      </p:sp>
      <p:sp>
        <p:nvSpPr>
          <p:cNvPr id="228426" name="Oval 74"/>
          <p:cNvSpPr>
            <a:spLocks noChangeArrowheads="1"/>
          </p:cNvSpPr>
          <p:nvPr/>
        </p:nvSpPr>
        <p:spPr bwMode="auto">
          <a:xfrm>
            <a:off x="4284663" y="4772025"/>
            <a:ext cx="98425" cy="47625"/>
          </a:xfrm>
          <a:prstGeom prst="ellipse">
            <a:avLst/>
          </a:prstGeom>
          <a:solidFill>
            <a:srgbClr val="000000"/>
          </a:solidFill>
          <a:ln w="9525">
            <a:noFill/>
            <a:round/>
            <a:headEnd/>
            <a:tailEnd/>
          </a:ln>
        </p:spPr>
        <p:txBody>
          <a:bodyPr/>
          <a:lstStyle/>
          <a:p>
            <a:endParaRPr lang="en-US"/>
          </a:p>
        </p:txBody>
      </p:sp>
      <p:sp>
        <p:nvSpPr>
          <p:cNvPr id="228427" name="Oval 75"/>
          <p:cNvSpPr>
            <a:spLocks noChangeArrowheads="1"/>
          </p:cNvSpPr>
          <p:nvPr/>
        </p:nvSpPr>
        <p:spPr bwMode="auto">
          <a:xfrm>
            <a:off x="4575175" y="4686300"/>
            <a:ext cx="93663" cy="47625"/>
          </a:xfrm>
          <a:prstGeom prst="ellipse">
            <a:avLst/>
          </a:prstGeom>
          <a:solidFill>
            <a:srgbClr val="000000"/>
          </a:solidFill>
          <a:ln w="9525">
            <a:noFill/>
            <a:round/>
            <a:headEnd/>
            <a:tailEnd/>
          </a:ln>
        </p:spPr>
        <p:txBody>
          <a:bodyPr/>
          <a:lstStyle/>
          <a:p>
            <a:endParaRPr lang="en-US"/>
          </a:p>
        </p:txBody>
      </p:sp>
      <p:sp>
        <p:nvSpPr>
          <p:cNvPr id="228428" name="Oval 76"/>
          <p:cNvSpPr>
            <a:spLocks noChangeArrowheads="1"/>
          </p:cNvSpPr>
          <p:nvPr/>
        </p:nvSpPr>
        <p:spPr bwMode="auto">
          <a:xfrm>
            <a:off x="4862513" y="4633913"/>
            <a:ext cx="96837" cy="49212"/>
          </a:xfrm>
          <a:prstGeom prst="ellipse">
            <a:avLst/>
          </a:prstGeom>
          <a:solidFill>
            <a:srgbClr val="000000"/>
          </a:solidFill>
          <a:ln w="9525">
            <a:noFill/>
            <a:round/>
            <a:headEnd/>
            <a:tailEnd/>
          </a:ln>
        </p:spPr>
        <p:txBody>
          <a:bodyPr/>
          <a:lstStyle/>
          <a:p>
            <a:endParaRPr lang="en-US"/>
          </a:p>
        </p:txBody>
      </p:sp>
      <p:sp>
        <p:nvSpPr>
          <p:cNvPr id="228429" name="Oval 77"/>
          <p:cNvSpPr>
            <a:spLocks noChangeArrowheads="1"/>
          </p:cNvSpPr>
          <p:nvPr/>
        </p:nvSpPr>
        <p:spPr bwMode="auto">
          <a:xfrm>
            <a:off x="8047038" y="6315075"/>
            <a:ext cx="95250" cy="47625"/>
          </a:xfrm>
          <a:prstGeom prst="ellipse">
            <a:avLst/>
          </a:prstGeom>
          <a:solidFill>
            <a:srgbClr val="000000"/>
          </a:solidFill>
          <a:ln w="9525">
            <a:noFill/>
            <a:round/>
            <a:headEnd/>
            <a:tailEnd/>
          </a:ln>
        </p:spPr>
        <p:txBody>
          <a:bodyPr/>
          <a:lstStyle/>
          <a:p>
            <a:endParaRPr lang="en-US"/>
          </a:p>
        </p:txBody>
      </p:sp>
      <p:sp>
        <p:nvSpPr>
          <p:cNvPr id="228430" name="Oval 78"/>
          <p:cNvSpPr>
            <a:spLocks noChangeArrowheads="1"/>
          </p:cNvSpPr>
          <p:nvPr/>
        </p:nvSpPr>
        <p:spPr bwMode="auto">
          <a:xfrm>
            <a:off x="7758113" y="5991225"/>
            <a:ext cx="96837" cy="49213"/>
          </a:xfrm>
          <a:prstGeom prst="ellipse">
            <a:avLst/>
          </a:prstGeom>
          <a:solidFill>
            <a:srgbClr val="000000"/>
          </a:solidFill>
          <a:ln w="9525">
            <a:noFill/>
            <a:round/>
            <a:headEnd/>
            <a:tailEnd/>
          </a:ln>
        </p:spPr>
        <p:txBody>
          <a:bodyPr/>
          <a:lstStyle/>
          <a:p>
            <a:endParaRPr lang="en-US"/>
          </a:p>
        </p:txBody>
      </p:sp>
      <p:sp>
        <p:nvSpPr>
          <p:cNvPr id="228431" name="Oval 79"/>
          <p:cNvSpPr>
            <a:spLocks noChangeArrowheads="1"/>
          </p:cNvSpPr>
          <p:nvPr/>
        </p:nvSpPr>
        <p:spPr bwMode="auto">
          <a:xfrm>
            <a:off x="7467600" y="5703888"/>
            <a:ext cx="96838" cy="47625"/>
          </a:xfrm>
          <a:prstGeom prst="ellipse">
            <a:avLst/>
          </a:prstGeom>
          <a:solidFill>
            <a:srgbClr val="000000"/>
          </a:solidFill>
          <a:ln w="9525">
            <a:noFill/>
            <a:round/>
            <a:headEnd/>
            <a:tailEnd/>
          </a:ln>
        </p:spPr>
        <p:txBody>
          <a:bodyPr/>
          <a:lstStyle/>
          <a:p>
            <a:endParaRPr lang="en-US"/>
          </a:p>
        </p:txBody>
      </p:sp>
      <p:sp>
        <p:nvSpPr>
          <p:cNvPr id="228432" name="Oval 80"/>
          <p:cNvSpPr>
            <a:spLocks noChangeArrowheads="1"/>
          </p:cNvSpPr>
          <p:nvPr/>
        </p:nvSpPr>
        <p:spPr bwMode="auto">
          <a:xfrm>
            <a:off x="7180263" y="5448300"/>
            <a:ext cx="95250" cy="47625"/>
          </a:xfrm>
          <a:prstGeom prst="ellipse">
            <a:avLst/>
          </a:prstGeom>
          <a:solidFill>
            <a:srgbClr val="000000"/>
          </a:solidFill>
          <a:ln w="9525">
            <a:noFill/>
            <a:round/>
            <a:headEnd/>
            <a:tailEnd/>
          </a:ln>
        </p:spPr>
        <p:txBody>
          <a:bodyPr/>
          <a:lstStyle/>
          <a:p>
            <a:endParaRPr lang="en-US"/>
          </a:p>
        </p:txBody>
      </p:sp>
      <p:sp>
        <p:nvSpPr>
          <p:cNvPr id="228433" name="Oval 81"/>
          <p:cNvSpPr>
            <a:spLocks noChangeArrowheads="1"/>
          </p:cNvSpPr>
          <p:nvPr/>
        </p:nvSpPr>
        <p:spPr bwMode="auto">
          <a:xfrm>
            <a:off x="6889750" y="5227638"/>
            <a:ext cx="95250" cy="49212"/>
          </a:xfrm>
          <a:prstGeom prst="ellipse">
            <a:avLst/>
          </a:prstGeom>
          <a:solidFill>
            <a:srgbClr val="000000"/>
          </a:solidFill>
          <a:ln w="9525">
            <a:noFill/>
            <a:round/>
            <a:headEnd/>
            <a:tailEnd/>
          </a:ln>
        </p:spPr>
        <p:txBody>
          <a:bodyPr/>
          <a:lstStyle/>
          <a:p>
            <a:endParaRPr lang="en-US"/>
          </a:p>
        </p:txBody>
      </p:sp>
      <p:sp>
        <p:nvSpPr>
          <p:cNvPr id="228434" name="Oval 82"/>
          <p:cNvSpPr>
            <a:spLocks noChangeArrowheads="1"/>
          </p:cNvSpPr>
          <p:nvPr/>
        </p:nvSpPr>
        <p:spPr bwMode="auto">
          <a:xfrm>
            <a:off x="6599238" y="5041900"/>
            <a:ext cx="98425" cy="49213"/>
          </a:xfrm>
          <a:prstGeom prst="ellipse">
            <a:avLst/>
          </a:prstGeom>
          <a:solidFill>
            <a:srgbClr val="000000"/>
          </a:solidFill>
          <a:ln w="9525">
            <a:noFill/>
            <a:round/>
            <a:headEnd/>
            <a:tailEnd/>
          </a:ln>
        </p:spPr>
        <p:txBody>
          <a:bodyPr/>
          <a:lstStyle/>
          <a:p>
            <a:endParaRPr lang="en-US"/>
          </a:p>
        </p:txBody>
      </p:sp>
      <p:sp>
        <p:nvSpPr>
          <p:cNvPr id="228435" name="Oval 83"/>
          <p:cNvSpPr>
            <a:spLocks noChangeArrowheads="1"/>
          </p:cNvSpPr>
          <p:nvPr/>
        </p:nvSpPr>
        <p:spPr bwMode="auto">
          <a:xfrm>
            <a:off x="6310313" y="4889500"/>
            <a:ext cx="96837" cy="49213"/>
          </a:xfrm>
          <a:prstGeom prst="ellipse">
            <a:avLst/>
          </a:prstGeom>
          <a:solidFill>
            <a:srgbClr val="000000"/>
          </a:solidFill>
          <a:ln w="9525">
            <a:noFill/>
            <a:round/>
            <a:headEnd/>
            <a:tailEnd/>
          </a:ln>
        </p:spPr>
        <p:txBody>
          <a:bodyPr/>
          <a:lstStyle/>
          <a:p>
            <a:endParaRPr lang="en-US"/>
          </a:p>
        </p:txBody>
      </p:sp>
      <p:sp>
        <p:nvSpPr>
          <p:cNvPr id="228436" name="Oval 84"/>
          <p:cNvSpPr>
            <a:spLocks noChangeArrowheads="1"/>
          </p:cNvSpPr>
          <p:nvPr/>
        </p:nvSpPr>
        <p:spPr bwMode="auto">
          <a:xfrm>
            <a:off x="6019800" y="4772025"/>
            <a:ext cx="96838" cy="47625"/>
          </a:xfrm>
          <a:prstGeom prst="ellipse">
            <a:avLst/>
          </a:prstGeom>
          <a:solidFill>
            <a:srgbClr val="000000"/>
          </a:solidFill>
          <a:ln w="9525">
            <a:noFill/>
            <a:round/>
            <a:headEnd/>
            <a:tailEnd/>
          </a:ln>
        </p:spPr>
        <p:txBody>
          <a:bodyPr/>
          <a:lstStyle/>
          <a:p>
            <a:endParaRPr lang="en-US"/>
          </a:p>
        </p:txBody>
      </p:sp>
      <p:sp>
        <p:nvSpPr>
          <p:cNvPr id="228437" name="Oval 85"/>
          <p:cNvSpPr>
            <a:spLocks noChangeArrowheads="1"/>
          </p:cNvSpPr>
          <p:nvPr/>
        </p:nvSpPr>
        <p:spPr bwMode="auto">
          <a:xfrm>
            <a:off x="5732463" y="4686300"/>
            <a:ext cx="95250" cy="47625"/>
          </a:xfrm>
          <a:prstGeom prst="ellipse">
            <a:avLst/>
          </a:prstGeom>
          <a:solidFill>
            <a:srgbClr val="000000"/>
          </a:solidFill>
          <a:ln w="9525">
            <a:noFill/>
            <a:round/>
            <a:headEnd/>
            <a:tailEnd/>
          </a:ln>
        </p:spPr>
        <p:txBody>
          <a:bodyPr/>
          <a:lstStyle/>
          <a:p>
            <a:endParaRPr lang="en-US"/>
          </a:p>
        </p:txBody>
      </p:sp>
      <p:sp>
        <p:nvSpPr>
          <p:cNvPr id="228438" name="Oval 86"/>
          <p:cNvSpPr>
            <a:spLocks noChangeArrowheads="1"/>
          </p:cNvSpPr>
          <p:nvPr/>
        </p:nvSpPr>
        <p:spPr bwMode="auto">
          <a:xfrm>
            <a:off x="5441950" y="4633913"/>
            <a:ext cx="98425" cy="49212"/>
          </a:xfrm>
          <a:prstGeom prst="ellipse">
            <a:avLst/>
          </a:prstGeom>
          <a:solidFill>
            <a:srgbClr val="000000"/>
          </a:solidFill>
          <a:ln w="9525">
            <a:noFill/>
            <a:round/>
            <a:headEnd/>
            <a:tailEnd/>
          </a:ln>
        </p:spPr>
        <p:txBody>
          <a:bodyPr/>
          <a:lstStyle/>
          <a:p>
            <a:endParaRPr lang="en-US"/>
          </a:p>
        </p:txBody>
      </p:sp>
      <p:sp>
        <p:nvSpPr>
          <p:cNvPr id="228439" name="Oval 87"/>
          <p:cNvSpPr>
            <a:spLocks noChangeArrowheads="1"/>
          </p:cNvSpPr>
          <p:nvPr/>
        </p:nvSpPr>
        <p:spPr bwMode="auto">
          <a:xfrm>
            <a:off x="5586413" y="3054350"/>
            <a:ext cx="96837" cy="49213"/>
          </a:xfrm>
          <a:prstGeom prst="ellipse">
            <a:avLst/>
          </a:prstGeom>
          <a:solidFill>
            <a:srgbClr val="000000"/>
          </a:solidFill>
          <a:ln w="9525">
            <a:noFill/>
            <a:round/>
            <a:headEnd/>
            <a:tailEnd/>
          </a:ln>
        </p:spPr>
        <p:txBody>
          <a:bodyPr/>
          <a:lstStyle/>
          <a:p>
            <a:endParaRPr lang="en-US"/>
          </a:p>
        </p:txBody>
      </p:sp>
      <p:sp>
        <p:nvSpPr>
          <p:cNvPr id="228440" name="Oval 88"/>
          <p:cNvSpPr>
            <a:spLocks noChangeArrowheads="1"/>
          </p:cNvSpPr>
          <p:nvPr/>
        </p:nvSpPr>
        <p:spPr bwMode="auto">
          <a:xfrm>
            <a:off x="5875338" y="3194050"/>
            <a:ext cx="98425" cy="49213"/>
          </a:xfrm>
          <a:prstGeom prst="ellipse">
            <a:avLst/>
          </a:prstGeom>
          <a:solidFill>
            <a:srgbClr val="000000"/>
          </a:solidFill>
          <a:ln w="9525">
            <a:noFill/>
            <a:round/>
            <a:headEnd/>
            <a:tailEnd/>
          </a:ln>
        </p:spPr>
        <p:txBody>
          <a:bodyPr/>
          <a:lstStyle/>
          <a:p>
            <a:endParaRPr lang="en-US"/>
          </a:p>
        </p:txBody>
      </p:sp>
      <p:sp>
        <p:nvSpPr>
          <p:cNvPr id="228441" name="Oval 89"/>
          <p:cNvSpPr>
            <a:spLocks noChangeArrowheads="1"/>
          </p:cNvSpPr>
          <p:nvPr/>
        </p:nvSpPr>
        <p:spPr bwMode="auto">
          <a:xfrm>
            <a:off x="2546350" y="1487488"/>
            <a:ext cx="98425" cy="49212"/>
          </a:xfrm>
          <a:prstGeom prst="ellipse">
            <a:avLst/>
          </a:prstGeom>
          <a:solidFill>
            <a:srgbClr val="000000"/>
          </a:solidFill>
          <a:ln w="9525">
            <a:noFill/>
            <a:round/>
            <a:headEnd/>
            <a:tailEnd/>
          </a:ln>
        </p:spPr>
        <p:txBody>
          <a:bodyPr/>
          <a:lstStyle/>
          <a:p>
            <a:endParaRPr lang="en-US"/>
          </a:p>
        </p:txBody>
      </p:sp>
      <p:sp>
        <p:nvSpPr>
          <p:cNvPr id="228442" name="Oval 90"/>
          <p:cNvSpPr>
            <a:spLocks noChangeArrowheads="1"/>
          </p:cNvSpPr>
          <p:nvPr/>
        </p:nvSpPr>
        <p:spPr bwMode="auto">
          <a:xfrm>
            <a:off x="2836863" y="1557338"/>
            <a:ext cx="98425" cy="49212"/>
          </a:xfrm>
          <a:prstGeom prst="ellipse">
            <a:avLst/>
          </a:prstGeom>
          <a:solidFill>
            <a:srgbClr val="000000"/>
          </a:solidFill>
          <a:ln w="9525">
            <a:noFill/>
            <a:round/>
            <a:headEnd/>
            <a:tailEnd/>
          </a:ln>
        </p:spPr>
        <p:txBody>
          <a:bodyPr/>
          <a:lstStyle/>
          <a:p>
            <a:endParaRPr lang="en-US"/>
          </a:p>
        </p:txBody>
      </p:sp>
      <p:sp>
        <p:nvSpPr>
          <p:cNvPr id="228443" name="Oval 91"/>
          <p:cNvSpPr>
            <a:spLocks noChangeArrowheads="1"/>
          </p:cNvSpPr>
          <p:nvPr/>
        </p:nvSpPr>
        <p:spPr bwMode="auto">
          <a:xfrm>
            <a:off x="3127375" y="1630363"/>
            <a:ext cx="95250" cy="47625"/>
          </a:xfrm>
          <a:prstGeom prst="ellipse">
            <a:avLst/>
          </a:prstGeom>
          <a:solidFill>
            <a:srgbClr val="000000"/>
          </a:solidFill>
          <a:ln w="9525">
            <a:noFill/>
            <a:round/>
            <a:headEnd/>
            <a:tailEnd/>
          </a:ln>
        </p:spPr>
        <p:txBody>
          <a:bodyPr/>
          <a:lstStyle/>
          <a:p>
            <a:endParaRPr lang="en-US"/>
          </a:p>
        </p:txBody>
      </p:sp>
      <p:sp>
        <p:nvSpPr>
          <p:cNvPr id="228444" name="Oval 92"/>
          <p:cNvSpPr>
            <a:spLocks noChangeArrowheads="1"/>
          </p:cNvSpPr>
          <p:nvPr/>
        </p:nvSpPr>
        <p:spPr bwMode="auto">
          <a:xfrm>
            <a:off x="3417888" y="1700213"/>
            <a:ext cx="93662" cy="47625"/>
          </a:xfrm>
          <a:prstGeom prst="ellipse">
            <a:avLst/>
          </a:prstGeom>
          <a:solidFill>
            <a:srgbClr val="000000"/>
          </a:solidFill>
          <a:ln w="9525">
            <a:noFill/>
            <a:round/>
            <a:headEnd/>
            <a:tailEnd/>
          </a:ln>
        </p:spPr>
        <p:txBody>
          <a:bodyPr/>
          <a:lstStyle/>
          <a:p>
            <a:endParaRPr lang="en-US"/>
          </a:p>
        </p:txBody>
      </p:sp>
      <p:sp>
        <p:nvSpPr>
          <p:cNvPr id="228445" name="Oval 93"/>
          <p:cNvSpPr>
            <a:spLocks noChangeArrowheads="1"/>
          </p:cNvSpPr>
          <p:nvPr/>
        </p:nvSpPr>
        <p:spPr bwMode="auto">
          <a:xfrm>
            <a:off x="3705225" y="1770063"/>
            <a:ext cx="96838" cy="49212"/>
          </a:xfrm>
          <a:prstGeom prst="ellipse">
            <a:avLst/>
          </a:prstGeom>
          <a:solidFill>
            <a:srgbClr val="000000"/>
          </a:solidFill>
          <a:ln w="9525">
            <a:noFill/>
            <a:round/>
            <a:headEnd/>
            <a:tailEnd/>
          </a:ln>
        </p:spPr>
        <p:txBody>
          <a:bodyPr/>
          <a:lstStyle/>
          <a:p>
            <a:endParaRPr lang="en-US"/>
          </a:p>
        </p:txBody>
      </p:sp>
      <p:sp>
        <p:nvSpPr>
          <p:cNvPr id="228446" name="Oval 94"/>
          <p:cNvSpPr>
            <a:spLocks noChangeArrowheads="1"/>
          </p:cNvSpPr>
          <p:nvPr/>
        </p:nvSpPr>
        <p:spPr bwMode="auto">
          <a:xfrm>
            <a:off x="3994150" y="1844675"/>
            <a:ext cx="98425" cy="47625"/>
          </a:xfrm>
          <a:prstGeom prst="ellipse">
            <a:avLst/>
          </a:prstGeom>
          <a:solidFill>
            <a:srgbClr val="000000"/>
          </a:solidFill>
          <a:ln w="9525">
            <a:noFill/>
            <a:round/>
            <a:headEnd/>
            <a:tailEnd/>
          </a:ln>
        </p:spPr>
        <p:txBody>
          <a:bodyPr/>
          <a:lstStyle/>
          <a:p>
            <a:endParaRPr lang="en-US"/>
          </a:p>
        </p:txBody>
      </p:sp>
      <p:sp>
        <p:nvSpPr>
          <p:cNvPr id="228447" name="Oval 95"/>
          <p:cNvSpPr>
            <a:spLocks noChangeArrowheads="1"/>
          </p:cNvSpPr>
          <p:nvPr/>
        </p:nvSpPr>
        <p:spPr bwMode="auto">
          <a:xfrm>
            <a:off x="4284663" y="1912938"/>
            <a:ext cx="98425" cy="49212"/>
          </a:xfrm>
          <a:prstGeom prst="ellipse">
            <a:avLst/>
          </a:prstGeom>
          <a:solidFill>
            <a:srgbClr val="000000"/>
          </a:solidFill>
          <a:ln w="9525">
            <a:noFill/>
            <a:round/>
            <a:headEnd/>
            <a:tailEnd/>
          </a:ln>
        </p:spPr>
        <p:txBody>
          <a:bodyPr/>
          <a:lstStyle/>
          <a:p>
            <a:endParaRPr lang="en-US"/>
          </a:p>
        </p:txBody>
      </p:sp>
      <p:sp>
        <p:nvSpPr>
          <p:cNvPr id="228448" name="Oval 96"/>
          <p:cNvSpPr>
            <a:spLocks noChangeArrowheads="1"/>
          </p:cNvSpPr>
          <p:nvPr/>
        </p:nvSpPr>
        <p:spPr bwMode="auto">
          <a:xfrm>
            <a:off x="4575175" y="1985963"/>
            <a:ext cx="93663" cy="49212"/>
          </a:xfrm>
          <a:prstGeom prst="ellipse">
            <a:avLst/>
          </a:prstGeom>
          <a:solidFill>
            <a:srgbClr val="000000"/>
          </a:solidFill>
          <a:ln w="9525">
            <a:noFill/>
            <a:round/>
            <a:headEnd/>
            <a:tailEnd/>
          </a:ln>
        </p:spPr>
        <p:txBody>
          <a:bodyPr/>
          <a:lstStyle/>
          <a:p>
            <a:endParaRPr lang="en-US"/>
          </a:p>
        </p:txBody>
      </p:sp>
      <p:sp>
        <p:nvSpPr>
          <p:cNvPr id="228449" name="Oval 97"/>
          <p:cNvSpPr>
            <a:spLocks noChangeArrowheads="1"/>
          </p:cNvSpPr>
          <p:nvPr/>
        </p:nvSpPr>
        <p:spPr bwMode="auto">
          <a:xfrm>
            <a:off x="4862513" y="2055813"/>
            <a:ext cx="96837" cy="49212"/>
          </a:xfrm>
          <a:prstGeom prst="ellipse">
            <a:avLst/>
          </a:prstGeom>
          <a:solidFill>
            <a:srgbClr val="000000"/>
          </a:solidFill>
          <a:ln w="9525">
            <a:noFill/>
            <a:round/>
            <a:headEnd/>
            <a:tailEnd/>
          </a:ln>
        </p:spPr>
        <p:txBody>
          <a:bodyPr/>
          <a:lstStyle/>
          <a:p>
            <a:endParaRPr lang="en-US"/>
          </a:p>
        </p:txBody>
      </p:sp>
      <p:sp>
        <p:nvSpPr>
          <p:cNvPr id="228450" name="Rectangle 98"/>
          <p:cNvSpPr>
            <a:spLocks noChangeArrowheads="1"/>
          </p:cNvSpPr>
          <p:nvPr/>
        </p:nvSpPr>
        <p:spPr bwMode="auto">
          <a:xfrm>
            <a:off x="5249863" y="200501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B</a:t>
            </a:r>
            <a:endParaRPr lang="en-US" sz="1400" i="1">
              <a:latin typeface="Tahoma" pitchFamily="34" charset="0"/>
            </a:endParaRPr>
          </a:p>
        </p:txBody>
      </p:sp>
      <p:sp>
        <p:nvSpPr>
          <p:cNvPr id="228451" name="Rectangle 99"/>
          <p:cNvSpPr>
            <a:spLocks noChangeArrowheads="1"/>
          </p:cNvSpPr>
          <p:nvPr/>
        </p:nvSpPr>
        <p:spPr bwMode="auto">
          <a:xfrm>
            <a:off x="5029200" y="259080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28452" name="Oval 100"/>
          <p:cNvSpPr>
            <a:spLocks noChangeArrowheads="1"/>
          </p:cNvSpPr>
          <p:nvPr/>
        </p:nvSpPr>
        <p:spPr bwMode="auto">
          <a:xfrm>
            <a:off x="5151438" y="2127250"/>
            <a:ext cx="98425" cy="47625"/>
          </a:xfrm>
          <a:prstGeom prst="ellipse">
            <a:avLst/>
          </a:prstGeom>
          <a:solidFill>
            <a:srgbClr val="000000"/>
          </a:solidFill>
          <a:ln w="9525">
            <a:noFill/>
            <a:round/>
            <a:headEnd/>
            <a:tailEnd/>
          </a:ln>
        </p:spPr>
        <p:txBody>
          <a:bodyPr/>
          <a:lstStyle/>
          <a:p>
            <a:endParaRPr lang="en-US"/>
          </a:p>
        </p:txBody>
      </p:sp>
      <p:sp>
        <p:nvSpPr>
          <p:cNvPr id="228453" name="Oval 101"/>
          <p:cNvSpPr>
            <a:spLocks noChangeArrowheads="1"/>
          </p:cNvSpPr>
          <p:nvPr/>
        </p:nvSpPr>
        <p:spPr bwMode="auto">
          <a:xfrm>
            <a:off x="5441950" y="2198688"/>
            <a:ext cx="98425" cy="49212"/>
          </a:xfrm>
          <a:prstGeom prst="ellipse">
            <a:avLst/>
          </a:prstGeom>
          <a:solidFill>
            <a:srgbClr val="000000"/>
          </a:solidFill>
          <a:ln w="9525">
            <a:noFill/>
            <a:round/>
            <a:headEnd/>
            <a:tailEnd/>
          </a:ln>
        </p:spPr>
        <p:txBody>
          <a:bodyPr/>
          <a:lstStyle/>
          <a:p>
            <a:endParaRPr lang="en-US"/>
          </a:p>
        </p:txBody>
      </p:sp>
      <p:sp>
        <p:nvSpPr>
          <p:cNvPr id="228454" name="Oval 102"/>
          <p:cNvSpPr>
            <a:spLocks noChangeArrowheads="1"/>
          </p:cNvSpPr>
          <p:nvPr/>
        </p:nvSpPr>
        <p:spPr bwMode="auto">
          <a:xfrm>
            <a:off x="5732463" y="2268538"/>
            <a:ext cx="95250" cy="49212"/>
          </a:xfrm>
          <a:prstGeom prst="ellipse">
            <a:avLst/>
          </a:prstGeom>
          <a:solidFill>
            <a:srgbClr val="000000"/>
          </a:solidFill>
          <a:ln w="9525">
            <a:noFill/>
            <a:round/>
            <a:headEnd/>
            <a:tailEnd/>
          </a:ln>
        </p:spPr>
        <p:txBody>
          <a:bodyPr/>
          <a:lstStyle/>
          <a:p>
            <a:endParaRPr lang="en-US"/>
          </a:p>
        </p:txBody>
      </p:sp>
      <p:sp>
        <p:nvSpPr>
          <p:cNvPr id="228455" name="Oval 103"/>
          <p:cNvSpPr>
            <a:spLocks noChangeArrowheads="1"/>
          </p:cNvSpPr>
          <p:nvPr/>
        </p:nvSpPr>
        <p:spPr bwMode="auto">
          <a:xfrm>
            <a:off x="6019800" y="2343150"/>
            <a:ext cx="96838" cy="47625"/>
          </a:xfrm>
          <a:prstGeom prst="ellipse">
            <a:avLst/>
          </a:prstGeom>
          <a:solidFill>
            <a:srgbClr val="000000"/>
          </a:solidFill>
          <a:ln w="9525">
            <a:noFill/>
            <a:round/>
            <a:headEnd/>
            <a:tailEnd/>
          </a:ln>
        </p:spPr>
        <p:txBody>
          <a:bodyPr/>
          <a:lstStyle/>
          <a:p>
            <a:endParaRPr lang="en-US"/>
          </a:p>
        </p:txBody>
      </p:sp>
      <p:sp>
        <p:nvSpPr>
          <p:cNvPr id="228456" name="Oval 104"/>
          <p:cNvSpPr>
            <a:spLocks noChangeArrowheads="1"/>
          </p:cNvSpPr>
          <p:nvPr/>
        </p:nvSpPr>
        <p:spPr bwMode="auto">
          <a:xfrm>
            <a:off x="6310313" y="2413000"/>
            <a:ext cx="96837" cy="49213"/>
          </a:xfrm>
          <a:prstGeom prst="ellipse">
            <a:avLst/>
          </a:prstGeom>
          <a:solidFill>
            <a:srgbClr val="000000"/>
          </a:solidFill>
          <a:ln w="9525">
            <a:noFill/>
            <a:round/>
            <a:headEnd/>
            <a:tailEnd/>
          </a:ln>
        </p:spPr>
        <p:txBody>
          <a:bodyPr/>
          <a:lstStyle/>
          <a:p>
            <a:endParaRPr lang="en-US"/>
          </a:p>
        </p:txBody>
      </p:sp>
      <p:sp>
        <p:nvSpPr>
          <p:cNvPr id="228457" name="Oval 105"/>
          <p:cNvSpPr>
            <a:spLocks noChangeArrowheads="1"/>
          </p:cNvSpPr>
          <p:nvPr/>
        </p:nvSpPr>
        <p:spPr bwMode="auto">
          <a:xfrm>
            <a:off x="6599238" y="2482850"/>
            <a:ext cx="98425" cy="49213"/>
          </a:xfrm>
          <a:prstGeom prst="ellipse">
            <a:avLst/>
          </a:prstGeom>
          <a:solidFill>
            <a:srgbClr val="000000"/>
          </a:solidFill>
          <a:ln w="9525">
            <a:noFill/>
            <a:round/>
            <a:headEnd/>
            <a:tailEnd/>
          </a:ln>
        </p:spPr>
        <p:txBody>
          <a:bodyPr/>
          <a:lstStyle/>
          <a:p>
            <a:endParaRPr lang="en-US"/>
          </a:p>
        </p:txBody>
      </p:sp>
      <p:sp>
        <p:nvSpPr>
          <p:cNvPr id="228458" name="Oval 106"/>
          <p:cNvSpPr>
            <a:spLocks noChangeArrowheads="1"/>
          </p:cNvSpPr>
          <p:nvPr/>
        </p:nvSpPr>
        <p:spPr bwMode="auto">
          <a:xfrm>
            <a:off x="6889750" y="2555875"/>
            <a:ext cx="95250" cy="47625"/>
          </a:xfrm>
          <a:prstGeom prst="ellipse">
            <a:avLst/>
          </a:prstGeom>
          <a:solidFill>
            <a:srgbClr val="000000"/>
          </a:solidFill>
          <a:ln w="9525">
            <a:noFill/>
            <a:round/>
            <a:headEnd/>
            <a:tailEnd/>
          </a:ln>
        </p:spPr>
        <p:txBody>
          <a:bodyPr/>
          <a:lstStyle/>
          <a:p>
            <a:endParaRPr lang="en-US"/>
          </a:p>
        </p:txBody>
      </p:sp>
      <p:sp>
        <p:nvSpPr>
          <p:cNvPr id="228459" name="Oval 107"/>
          <p:cNvSpPr>
            <a:spLocks noChangeArrowheads="1"/>
          </p:cNvSpPr>
          <p:nvPr/>
        </p:nvSpPr>
        <p:spPr bwMode="auto">
          <a:xfrm>
            <a:off x="7180263" y="2625725"/>
            <a:ext cx="95250" cy="49213"/>
          </a:xfrm>
          <a:prstGeom prst="ellipse">
            <a:avLst/>
          </a:prstGeom>
          <a:solidFill>
            <a:srgbClr val="000000"/>
          </a:solidFill>
          <a:ln w="9525">
            <a:noFill/>
            <a:round/>
            <a:headEnd/>
            <a:tailEnd/>
          </a:ln>
        </p:spPr>
        <p:txBody>
          <a:bodyPr/>
          <a:lstStyle/>
          <a:p>
            <a:endParaRPr lang="en-US"/>
          </a:p>
        </p:txBody>
      </p:sp>
      <p:sp>
        <p:nvSpPr>
          <p:cNvPr id="228460" name="Oval 108"/>
          <p:cNvSpPr>
            <a:spLocks noChangeArrowheads="1"/>
          </p:cNvSpPr>
          <p:nvPr/>
        </p:nvSpPr>
        <p:spPr bwMode="auto">
          <a:xfrm>
            <a:off x="7467600" y="2698750"/>
            <a:ext cx="96838" cy="49213"/>
          </a:xfrm>
          <a:prstGeom prst="ellipse">
            <a:avLst/>
          </a:prstGeom>
          <a:solidFill>
            <a:srgbClr val="000000"/>
          </a:solidFill>
          <a:ln w="9525">
            <a:noFill/>
            <a:round/>
            <a:headEnd/>
            <a:tailEnd/>
          </a:ln>
        </p:spPr>
        <p:txBody>
          <a:bodyPr/>
          <a:lstStyle/>
          <a:p>
            <a:endParaRPr lang="en-US"/>
          </a:p>
        </p:txBody>
      </p:sp>
      <p:sp>
        <p:nvSpPr>
          <p:cNvPr id="228461" name="Oval 109"/>
          <p:cNvSpPr>
            <a:spLocks noChangeArrowheads="1"/>
          </p:cNvSpPr>
          <p:nvPr/>
        </p:nvSpPr>
        <p:spPr bwMode="auto">
          <a:xfrm>
            <a:off x="7758113" y="2768600"/>
            <a:ext cx="96837" cy="49213"/>
          </a:xfrm>
          <a:prstGeom prst="ellipse">
            <a:avLst/>
          </a:prstGeom>
          <a:solidFill>
            <a:srgbClr val="000000"/>
          </a:solidFill>
          <a:ln w="9525">
            <a:noFill/>
            <a:round/>
            <a:headEnd/>
            <a:tailEnd/>
          </a:ln>
        </p:spPr>
        <p:txBody>
          <a:bodyPr/>
          <a:lstStyle/>
          <a:p>
            <a:endParaRPr lang="en-US"/>
          </a:p>
        </p:txBody>
      </p:sp>
      <p:sp>
        <p:nvSpPr>
          <p:cNvPr id="228462" name="Oval 110"/>
          <p:cNvSpPr>
            <a:spLocks noChangeArrowheads="1"/>
          </p:cNvSpPr>
          <p:nvPr/>
        </p:nvSpPr>
        <p:spPr bwMode="auto">
          <a:xfrm>
            <a:off x="8047038" y="2838450"/>
            <a:ext cx="95250" cy="47625"/>
          </a:xfrm>
          <a:prstGeom prst="ellipse">
            <a:avLst/>
          </a:prstGeom>
          <a:solidFill>
            <a:srgbClr val="000000"/>
          </a:solidFill>
          <a:ln w="9525">
            <a:noFill/>
            <a:round/>
            <a:headEnd/>
            <a:tailEnd/>
          </a:ln>
        </p:spPr>
        <p:txBody>
          <a:bodyPr/>
          <a:lstStyle/>
          <a:p>
            <a:endParaRPr lang="en-US"/>
          </a:p>
        </p:txBody>
      </p:sp>
      <p:sp>
        <p:nvSpPr>
          <p:cNvPr id="228463" name="Line 111"/>
          <p:cNvSpPr>
            <a:spLocks noChangeShapeType="1"/>
          </p:cNvSpPr>
          <p:nvPr/>
        </p:nvSpPr>
        <p:spPr bwMode="auto">
          <a:xfrm flipV="1">
            <a:off x="3060700" y="2120900"/>
            <a:ext cx="144463" cy="144463"/>
          </a:xfrm>
          <a:prstGeom prst="line">
            <a:avLst/>
          </a:prstGeom>
          <a:noFill/>
          <a:ln w="6350">
            <a:solidFill>
              <a:srgbClr val="000000"/>
            </a:solidFill>
            <a:miter lim="800000"/>
            <a:headEnd/>
            <a:tailEnd/>
          </a:ln>
        </p:spPr>
        <p:txBody>
          <a:bodyPr/>
          <a:lstStyle/>
          <a:p>
            <a:endParaRPr lang="en-US"/>
          </a:p>
        </p:txBody>
      </p:sp>
      <p:sp>
        <p:nvSpPr>
          <p:cNvPr id="228464" name="Freeform 112"/>
          <p:cNvSpPr>
            <a:spLocks/>
          </p:cNvSpPr>
          <p:nvPr/>
        </p:nvSpPr>
        <p:spPr bwMode="auto">
          <a:xfrm>
            <a:off x="2519363" y="2263775"/>
            <a:ext cx="1204912" cy="481013"/>
          </a:xfrm>
          <a:custGeom>
            <a:avLst/>
            <a:gdLst>
              <a:gd name="T0" fmla="*/ 2147483647 w 184"/>
              <a:gd name="T1" fmla="*/ 2147483647 h 94"/>
              <a:gd name="T2" fmla="*/ 2147483647 w 184"/>
              <a:gd name="T3" fmla="*/ 2147483647 h 94"/>
              <a:gd name="T4" fmla="*/ 2147483647 w 184"/>
              <a:gd name="T5" fmla="*/ 2147483647 h 94"/>
              <a:gd name="T6" fmla="*/ 0 w 184"/>
              <a:gd name="T7" fmla="*/ 2147483647 h 94"/>
              <a:gd name="T8" fmla="*/ 0 w 184"/>
              <a:gd name="T9" fmla="*/ 2147483647 h 94"/>
              <a:gd name="T10" fmla="*/ 2147483647 w 184"/>
              <a:gd name="T11" fmla="*/ 0 h 94"/>
              <a:gd name="T12" fmla="*/ 2147483647 w 184"/>
              <a:gd name="T13" fmla="*/ 0 h 94"/>
              <a:gd name="T14" fmla="*/ 2147483647 w 184"/>
              <a:gd name="T15" fmla="*/ 2147483647 h 94"/>
              <a:gd name="T16" fmla="*/ 2147483647 w 184"/>
              <a:gd name="T17" fmla="*/ 2147483647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4"/>
              <a:gd name="T28" fmla="*/ 0 h 94"/>
              <a:gd name="T29" fmla="*/ 184 w 184"/>
              <a:gd name="T30" fmla="*/ 94 h 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4" h="94">
                <a:moveTo>
                  <a:pt x="184" y="78"/>
                </a:moveTo>
                <a:cubicBezTo>
                  <a:pt x="184" y="87"/>
                  <a:pt x="177" y="94"/>
                  <a:pt x="168" y="94"/>
                </a:cubicBezTo>
                <a:cubicBezTo>
                  <a:pt x="16" y="94"/>
                  <a:pt x="16" y="94"/>
                  <a:pt x="16" y="94"/>
                </a:cubicBezTo>
                <a:cubicBezTo>
                  <a:pt x="7" y="94"/>
                  <a:pt x="0" y="87"/>
                  <a:pt x="0" y="78"/>
                </a:cubicBezTo>
                <a:cubicBezTo>
                  <a:pt x="0" y="16"/>
                  <a:pt x="0" y="16"/>
                  <a:pt x="0" y="16"/>
                </a:cubicBezTo>
                <a:cubicBezTo>
                  <a:pt x="0" y="7"/>
                  <a:pt x="7" y="0"/>
                  <a:pt x="16" y="0"/>
                </a:cubicBezTo>
                <a:cubicBezTo>
                  <a:pt x="168" y="0"/>
                  <a:pt x="168" y="0"/>
                  <a:pt x="168" y="0"/>
                </a:cubicBezTo>
                <a:cubicBezTo>
                  <a:pt x="177" y="0"/>
                  <a:pt x="184" y="7"/>
                  <a:pt x="184" y="16"/>
                </a:cubicBezTo>
                <a:lnTo>
                  <a:pt x="184" y="78"/>
                </a:lnTo>
                <a:close/>
              </a:path>
            </a:pathLst>
          </a:custGeom>
          <a:solidFill>
            <a:srgbClr val="D7E2E0"/>
          </a:solidFill>
          <a:ln w="9525">
            <a:noFill/>
            <a:round/>
            <a:headEnd/>
            <a:tailEnd/>
          </a:ln>
        </p:spPr>
        <p:txBody>
          <a:bodyPr/>
          <a:lstStyle/>
          <a:p>
            <a:endParaRPr lang="en-US"/>
          </a:p>
        </p:txBody>
      </p:sp>
      <p:sp>
        <p:nvSpPr>
          <p:cNvPr id="228465" name="Line 113"/>
          <p:cNvSpPr>
            <a:spLocks noChangeShapeType="1"/>
          </p:cNvSpPr>
          <p:nvPr/>
        </p:nvSpPr>
        <p:spPr bwMode="auto">
          <a:xfrm flipV="1">
            <a:off x="5140325" y="2120900"/>
            <a:ext cx="723900" cy="361950"/>
          </a:xfrm>
          <a:prstGeom prst="line">
            <a:avLst/>
          </a:prstGeom>
          <a:noFill/>
          <a:ln w="6350">
            <a:solidFill>
              <a:srgbClr val="000000"/>
            </a:solidFill>
            <a:miter lim="800000"/>
            <a:headEnd/>
            <a:tailEnd/>
          </a:ln>
        </p:spPr>
        <p:txBody>
          <a:bodyPr/>
          <a:lstStyle/>
          <a:p>
            <a:endParaRPr lang="en-US"/>
          </a:p>
        </p:txBody>
      </p:sp>
      <p:sp>
        <p:nvSpPr>
          <p:cNvPr id="228466" name="Freeform 114"/>
          <p:cNvSpPr>
            <a:spLocks/>
          </p:cNvSpPr>
          <p:nvPr/>
        </p:nvSpPr>
        <p:spPr bwMode="auto">
          <a:xfrm>
            <a:off x="5486400" y="1676400"/>
            <a:ext cx="1416050" cy="528638"/>
          </a:xfrm>
          <a:custGeom>
            <a:avLst/>
            <a:gdLst>
              <a:gd name="T0" fmla="*/ 2147483647 w 235"/>
              <a:gd name="T1" fmla="*/ 2147483647 h 95"/>
              <a:gd name="T2" fmla="*/ 2147483647 w 235"/>
              <a:gd name="T3" fmla="*/ 2147483647 h 95"/>
              <a:gd name="T4" fmla="*/ 2147483647 w 235"/>
              <a:gd name="T5" fmla="*/ 2147483647 h 95"/>
              <a:gd name="T6" fmla="*/ 0 w 235"/>
              <a:gd name="T7" fmla="*/ 2147483647 h 95"/>
              <a:gd name="T8" fmla="*/ 0 w 235"/>
              <a:gd name="T9" fmla="*/ 2147483647 h 95"/>
              <a:gd name="T10" fmla="*/ 2147483647 w 235"/>
              <a:gd name="T11" fmla="*/ 0 h 95"/>
              <a:gd name="T12" fmla="*/ 2147483647 w 235"/>
              <a:gd name="T13" fmla="*/ 0 h 95"/>
              <a:gd name="T14" fmla="*/ 2147483647 w 235"/>
              <a:gd name="T15" fmla="*/ 2147483647 h 95"/>
              <a:gd name="T16" fmla="*/ 2147483647 w 235"/>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35"/>
              <a:gd name="T28" fmla="*/ 0 h 95"/>
              <a:gd name="T29" fmla="*/ 235 w 235"/>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35" h="95">
                <a:moveTo>
                  <a:pt x="235" y="79"/>
                </a:moveTo>
                <a:cubicBezTo>
                  <a:pt x="235" y="87"/>
                  <a:pt x="227" y="95"/>
                  <a:pt x="219" y="95"/>
                </a:cubicBezTo>
                <a:cubicBezTo>
                  <a:pt x="16" y="95"/>
                  <a:pt x="16" y="95"/>
                  <a:pt x="16" y="95"/>
                </a:cubicBezTo>
                <a:cubicBezTo>
                  <a:pt x="7" y="95"/>
                  <a:pt x="0" y="87"/>
                  <a:pt x="0" y="79"/>
                </a:cubicBezTo>
                <a:cubicBezTo>
                  <a:pt x="0" y="16"/>
                  <a:pt x="0" y="16"/>
                  <a:pt x="0" y="16"/>
                </a:cubicBezTo>
                <a:cubicBezTo>
                  <a:pt x="0" y="7"/>
                  <a:pt x="7" y="0"/>
                  <a:pt x="16" y="0"/>
                </a:cubicBezTo>
                <a:cubicBezTo>
                  <a:pt x="219" y="0"/>
                  <a:pt x="219" y="0"/>
                  <a:pt x="219" y="0"/>
                </a:cubicBezTo>
                <a:cubicBezTo>
                  <a:pt x="227" y="0"/>
                  <a:pt x="235" y="7"/>
                  <a:pt x="235" y="16"/>
                </a:cubicBezTo>
                <a:lnTo>
                  <a:pt x="235" y="79"/>
                </a:lnTo>
                <a:close/>
              </a:path>
            </a:pathLst>
          </a:custGeom>
          <a:solidFill>
            <a:srgbClr val="D7E2E0"/>
          </a:solidFill>
          <a:ln w="9525">
            <a:noFill/>
            <a:round/>
            <a:headEnd/>
            <a:tailEnd/>
          </a:ln>
        </p:spPr>
        <p:txBody>
          <a:bodyPr/>
          <a:lstStyle/>
          <a:p>
            <a:endParaRPr lang="en-US"/>
          </a:p>
        </p:txBody>
      </p:sp>
      <p:sp>
        <p:nvSpPr>
          <p:cNvPr id="228467" name="Line 115"/>
          <p:cNvSpPr>
            <a:spLocks noChangeShapeType="1"/>
          </p:cNvSpPr>
          <p:nvPr/>
        </p:nvSpPr>
        <p:spPr bwMode="auto">
          <a:xfrm flipV="1">
            <a:off x="4983163" y="2819400"/>
            <a:ext cx="68262" cy="277813"/>
          </a:xfrm>
          <a:prstGeom prst="line">
            <a:avLst/>
          </a:prstGeom>
          <a:noFill/>
          <a:ln w="6350">
            <a:solidFill>
              <a:srgbClr val="000000"/>
            </a:solidFill>
            <a:miter lim="800000"/>
            <a:headEnd/>
            <a:tailEnd/>
          </a:ln>
        </p:spPr>
        <p:txBody>
          <a:bodyPr/>
          <a:lstStyle/>
          <a:p>
            <a:endParaRPr lang="en-US"/>
          </a:p>
        </p:txBody>
      </p:sp>
      <p:sp>
        <p:nvSpPr>
          <p:cNvPr id="228468" name="Freeform 116"/>
          <p:cNvSpPr>
            <a:spLocks/>
          </p:cNvSpPr>
          <p:nvPr/>
        </p:nvSpPr>
        <p:spPr bwMode="auto">
          <a:xfrm>
            <a:off x="2808288" y="3141663"/>
            <a:ext cx="2297112" cy="287337"/>
          </a:xfrm>
          <a:custGeom>
            <a:avLst/>
            <a:gdLst>
              <a:gd name="T0" fmla="*/ 2147483647 w 349"/>
              <a:gd name="T1" fmla="*/ 2147483647 h 59"/>
              <a:gd name="T2" fmla="*/ 2147483647 w 349"/>
              <a:gd name="T3" fmla="*/ 2147483647 h 59"/>
              <a:gd name="T4" fmla="*/ 2147483647 w 349"/>
              <a:gd name="T5" fmla="*/ 2147483647 h 59"/>
              <a:gd name="T6" fmla="*/ 0 w 349"/>
              <a:gd name="T7" fmla="*/ 2147483647 h 59"/>
              <a:gd name="T8" fmla="*/ 0 w 349"/>
              <a:gd name="T9" fmla="*/ 2147483647 h 59"/>
              <a:gd name="T10" fmla="*/ 2147483647 w 349"/>
              <a:gd name="T11" fmla="*/ 0 h 59"/>
              <a:gd name="T12" fmla="*/ 2147483647 w 349"/>
              <a:gd name="T13" fmla="*/ 0 h 59"/>
              <a:gd name="T14" fmla="*/ 2147483647 w 349"/>
              <a:gd name="T15" fmla="*/ 2147483647 h 59"/>
              <a:gd name="T16" fmla="*/ 2147483647 w 349"/>
              <a:gd name="T17" fmla="*/ 2147483647 h 5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9"/>
              <a:gd name="T28" fmla="*/ 0 h 59"/>
              <a:gd name="T29" fmla="*/ 349 w 349"/>
              <a:gd name="T30" fmla="*/ 59 h 5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9" h="59">
                <a:moveTo>
                  <a:pt x="349" y="43"/>
                </a:moveTo>
                <a:cubicBezTo>
                  <a:pt x="349" y="52"/>
                  <a:pt x="341" y="59"/>
                  <a:pt x="333" y="59"/>
                </a:cubicBezTo>
                <a:cubicBezTo>
                  <a:pt x="16" y="59"/>
                  <a:pt x="16" y="59"/>
                  <a:pt x="16" y="59"/>
                </a:cubicBezTo>
                <a:cubicBezTo>
                  <a:pt x="7" y="59"/>
                  <a:pt x="0" y="52"/>
                  <a:pt x="0" y="43"/>
                </a:cubicBezTo>
                <a:cubicBezTo>
                  <a:pt x="0" y="16"/>
                  <a:pt x="0" y="16"/>
                  <a:pt x="0" y="16"/>
                </a:cubicBezTo>
                <a:cubicBezTo>
                  <a:pt x="0" y="8"/>
                  <a:pt x="7" y="0"/>
                  <a:pt x="16" y="0"/>
                </a:cubicBezTo>
                <a:cubicBezTo>
                  <a:pt x="333" y="0"/>
                  <a:pt x="333" y="0"/>
                  <a:pt x="333" y="0"/>
                </a:cubicBezTo>
                <a:cubicBezTo>
                  <a:pt x="341" y="0"/>
                  <a:pt x="349" y="8"/>
                  <a:pt x="349" y="16"/>
                </a:cubicBezTo>
                <a:lnTo>
                  <a:pt x="349" y="43"/>
                </a:lnTo>
                <a:close/>
              </a:path>
            </a:pathLst>
          </a:custGeom>
          <a:solidFill>
            <a:srgbClr val="D7E2E0"/>
          </a:solidFill>
          <a:ln w="9525">
            <a:noFill/>
            <a:round/>
            <a:headEnd/>
            <a:tailEnd/>
          </a:ln>
        </p:spPr>
        <p:txBody>
          <a:bodyPr/>
          <a:lstStyle/>
          <a:p>
            <a:endParaRPr lang="en-US"/>
          </a:p>
        </p:txBody>
      </p:sp>
      <p:sp>
        <p:nvSpPr>
          <p:cNvPr id="228469" name="Freeform 117"/>
          <p:cNvSpPr>
            <a:spLocks/>
          </p:cNvSpPr>
          <p:nvPr/>
        </p:nvSpPr>
        <p:spPr bwMode="auto">
          <a:xfrm>
            <a:off x="2590800" y="3962400"/>
            <a:ext cx="2133600" cy="485775"/>
          </a:xfrm>
          <a:custGeom>
            <a:avLst/>
            <a:gdLst>
              <a:gd name="T0" fmla="*/ 2147483647 w 334"/>
              <a:gd name="T1" fmla="*/ 2147483647 h 100"/>
              <a:gd name="T2" fmla="*/ 2147483647 w 334"/>
              <a:gd name="T3" fmla="*/ 2147483647 h 100"/>
              <a:gd name="T4" fmla="*/ 2147483647 w 334"/>
              <a:gd name="T5" fmla="*/ 2147483647 h 100"/>
              <a:gd name="T6" fmla="*/ 0 w 334"/>
              <a:gd name="T7" fmla="*/ 2147483647 h 100"/>
              <a:gd name="T8" fmla="*/ 0 w 334"/>
              <a:gd name="T9" fmla="*/ 2147483647 h 100"/>
              <a:gd name="T10" fmla="*/ 2147483647 w 334"/>
              <a:gd name="T11" fmla="*/ 0 h 100"/>
              <a:gd name="T12" fmla="*/ 2147483647 w 334"/>
              <a:gd name="T13" fmla="*/ 0 h 100"/>
              <a:gd name="T14" fmla="*/ 2147483647 w 334"/>
              <a:gd name="T15" fmla="*/ 2147483647 h 100"/>
              <a:gd name="T16" fmla="*/ 2147483647 w 334"/>
              <a:gd name="T17" fmla="*/ 2147483647 h 1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4"/>
              <a:gd name="T28" fmla="*/ 0 h 100"/>
              <a:gd name="T29" fmla="*/ 334 w 334"/>
              <a:gd name="T30" fmla="*/ 100 h 1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4" h="100">
                <a:moveTo>
                  <a:pt x="334" y="84"/>
                </a:moveTo>
                <a:cubicBezTo>
                  <a:pt x="334" y="93"/>
                  <a:pt x="327" y="100"/>
                  <a:pt x="318" y="100"/>
                </a:cubicBezTo>
                <a:cubicBezTo>
                  <a:pt x="16" y="100"/>
                  <a:pt x="16" y="100"/>
                  <a:pt x="16" y="100"/>
                </a:cubicBezTo>
                <a:cubicBezTo>
                  <a:pt x="8" y="100"/>
                  <a:pt x="0" y="93"/>
                  <a:pt x="0" y="84"/>
                </a:cubicBezTo>
                <a:cubicBezTo>
                  <a:pt x="0" y="16"/>
                  <a:pt x="0" y="16"/>
                  <a:pt x="0" y="16"/>
                </a:cubicBezTo>
                <a:cubicBezTo>
                  <a:pt x="0" y="8"/>
                  <a:pt x="8" y="0"/>
                  <a:pt x="16" y="0"/>
                </a:cubicBezTo>
                <a:cubicBezTo>
                  <a:pt x="318" y="0"/>
                  <a:pt x="318" y="0"/>
                  <a:pt x="318" y="0"/>
                </a:cubicBezTo>
                <a:cubicBezTo>
                  <a:pt x="327" y="0"/>
                  <a:pt x="334" y="8"/>
                  <a:pt x="334" y="16"/>
                </a:cubicBezTo>
                <a:lnTo>
                  <a:pt x="334" y="84"/>
                </a:lnTo>
                <a:close/>
              </a:path>
            </a:pathLst>
          </a:custGeom>
          <a:solidFill>
            <a:srgbClr val="D7E2E0"/>
          </a:solidFill>
          <a:ln w="9525">
            <a:noFill/>
            <a:round/>
            <a:headEnd/>
            <a:tailEnd/>
          </a:ln>
        </p:spPr>
        <p:txBody>
          <a:bodyPr/>
          <a:lstStyle/>
          <a:p>
            <a:endParaRPr lang="en-US"/>
          </a:p>
        </p:txBody>
      </p:sp>
      <p:sp>
        <p:nvSpPr>
          <p:cNvPr id="228470" name="Freeform 118"/>
          <p:cNvSpPr>
            <a:spLocks/>
          </p:cNvSpPr>
          <p:nvPr/>
        </p:nvSpPr>
        <p:spPr bwMode="auto">
          <a:xfrm>
            <a:off x="5580063" y="3968750"/>
            <a:ext cx="2455862" cy="469900"/>
          </a:xfrm>
          <a:custGeom>
            <a:avLst/>
            <a:gdLst>
              <a:gd name="T0" fmla="*/ 2147483647 w 328"/>
              <a:gd name="T1" fmla="*/ 2147483647 h 100"/>
              <a:gd name="T2" fmla="*/ 2147483647 w 328"/>
              <a:gd name="T3" fmla="*/ 2147483647 h 100"/>
              <a:gd name="T4" fmla="*/ 2147483647 w 328"/>
              <a:gd name="T5" fmla="*/ 2147483647 h 100"/>
              <a:gd name="T6" fmla="*/ 0 w 328"/>
              <a:gd name="T7" fmla="*/ 2147483647 h 100"/>
              <a:gd name="T8" fmla="*/ 0 w 328"/>
              <a:gd name="T9" fmla="*/ 2147483647 h 100"/>
              <a:gd name="T10" fmla="*/ 2147483647 w 328"/>
              <a:gd name="T11" fmla="*/ 0 h 100"/>
              <a:gd name="T12" fmla="*/ 2147483647 w 328"/>
              <a:gd name="T13" fmla="*/ 0 h 100"/>
              <a:gd name="T14" fmla="*/ 2147483647 w 328"/>
              <a:gd name="T15" fmla="*/ 2147483647 h 100"/>
              <a:gd name="T16" fmla="*/ 2147483647 w 328"/>
              <a:gd name="T17" fmla="*/ 2147483647 h 1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8"/>
              <a:gd name="T28" fmla="*/ 0 h 100"/>
              <a:gd name="T29" fmla="*/ 328 w 328"/>
              <a:gd name="T30" fmla="*/ 100 h 1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8" h="100">
                <a:moveTo>
                  <a:pt x="328" y="84"/>
                </a:moveTo>
                <a:cubicBezTo>
                  <a:pt x="328" y="93"/>
                  <a:pt x="321" y="100"/>
                  <a:pt x="312" y="100"/>
                </a:cubicBezTo>
                <a:cubicBezTo>
                  <a:pt x="16" y="100"/>
                  <a:pt x="16" y="100"/>
                  <a:pt x="16" y="100"/>
                </a:cubicBezTo>
                <a:cubicBezTo>
                  <a:pt x="7" y="100"/>
                  <a:pt x="0" y="93"/>
                  <a:pt x="0" y="84"/>
                </a:cubicBezTo>
                <a:cubicBezTo>
                  <a:pt x="0" y="16"/>
                  <a:pt x="0" y="16"/>
                  <a:pt x="0" y="16"/>
                </a:cubicBezTo>
                <a:cubicBezTo>
                  <a:pt x="0" y="8"/>
                  <a:pt x="7" y="0"/>
                  <a:pt x="16" y="0"/>
                </a:cubicBezTo>
                <a:cubicBezTo>
                  <a:pt x="312" y="0"/>
                  <a:pt x="312" y="0"/>
                  <a:pt x="312" y="0"/>
                </a:cubicBezTo>
                <a:cubicBezTo>
                  <a:pt x="321" y="0"/>
                  <a:pt x="328" y="8"/>
                  <a:pt x="328" y="16"/>
                </a:cubicBezTo>
                <a:lnTo>
                  <a:pt x="328" y="84"/>
                </a:lnTo>
                <a:close/>
              </a:path>
            </a:pathLst>
          </a:custGeom>
          <a:solidFill>
            <a:srgbClr val="D7E2E0"/>
          </a:solidFill>
          <a:ln w="9525">
            <a:noFill/>
            <a:round/>
            <a:headEnd/>
            <a:tailEnd/>
          </a:ln>
        </p:spPr>
        <p:txBody>
          <a:bodyPr/>
          <a:lstStyle/>
          <a:p>
            <a:endParaRPr lang="en-US"/>
          </a:p>
        </p:txBody>
      </p:sp>
      <p:sp>
        <p:nvSpPr>
          <p:cNvPr id="228471" name="Freeform 119"/>
          <p:cNvSpPr>
            <a:spLocks/>
          </p:cNvSpPr>
          <p:nvPr/>
        </p:nvSpPr>
        <p:spPr bwMode="auto">
          <a:xfrm>
            <a:off x="2379663" y="4484688"/>
            <a:ext cx="2755900" cy="77787"/>
          </a:xfrm>
          <a:custGeom>
            <a:avLst/>
            <a:gdLst>
              <a:gd name="T0" fmla="*/ 2147483647 w 457"/>
              <a:gd name="T1" fmla="*/ 2147483647 h 25"/>
              <a:gd name="T2" fmla="*/ 2147483647 w 457"/>
              <a:gd name="T3" fmla="*/ 2147483647 h 25"/>
              <a:gd name="T4" fmla="*/ 2147483647 w 457"/>
              <a:gd name="T5" fmla="*/ 2147483647 h 25"/>
              <a:gd name="T6" fmla="*/ 2147483647 w 457"/>
              <a:gd name="T7" fmla="*/ 0 h 25"/>
              <a:gd name="T8" fmla="*/ 2147483647 w 457"/>
              <a:gd name="T9" fmla="*/ 2147483647 h 25"/>
              <a:gd name="T10" fmla="*/ 2147483647 w 457"/>
              <a:gd name="T11" fmla="*/ 2147483647 h 25"/>
              <a:gd name="T12" fmla="*/ 0 w 457"/>
              <a:gd name="T13" fmla="*/ 2147483647 h 25"/>
              <a:gd name="T14" fmla="*/ 0 60000 65536"/>
              <a:gd name="T15" fmla="*/ 0 60000 65536"/>
              <a:gd name="T16" fmla="*/ 0 60000 65536"/>
              <a:gd name="T17" fmla="*/ 0 60000 65536"/>
              <a:gd name="T18" fmla="*/ 0 60000 65536"/>
              <a:gd name="T19" fmla="*/ 0 60000 65536"/>
              <a:gd name="T20" fmla="*/ 0 60000 65536"/>
              <a:gd name="T21" fmla="*/ 0 w 457"/>
              <a:gd name="T22" fmla="*/ 0 h 25"/>
              <a:gd name="T23" fmla="*/ 457 w 457"/>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7" h="25">
                <a:moveTo>
                  <a:pt x="457" y="25"/>
                </a:moveTo>
                <a:cubicBezTo>
                  <a:pt x="457" y="15"/>
                  <a:pt x="455" y="10"/>
                  <a:pt x="441" y="10"/>
                </a:cubicBezTo>
                <a:cubicBezTo>
                  <a:pt x="439" y="10"/>
                  <a:pt x="241" y="10"/>
                  <a:pt x="239" y="10"/>
                </a:cubicBezTo>
                <a:cubicBezTo>
                  <a:pt x="236" y="10"/>
                  <a:pt x="228" y="8"/>
                  <a:pt x="228" y="0"/>
                </a:cubicBezTo>
                <a:cubicBezTo>
                  <a:pt x="228" y="8"/>
                  <a:pt x="221" y="10"/>
                  <a:pt x="218" y="10"/>
                </a:cubicBezTo>
                <a:cubicBezTo>
                  <a:pt x="216" y="10"/>
                  <a:pt x="18" y="10"/>
                  <a:pt x="16" y="10"/>
                </a:cubicBezTo>
                <a:cubicBezTo>
                  <a:pt x="2" y="10"/>
                  <a:pt x="0" y="15"/>
                  <a:pt x="0" y="25"/>
                </a:cubicBezTo>
              </a:path>
            </a:pathLst>
          </a:custGeom>
          <a:noFill/>
          <a:ln w="20638">
            <a:solidFill>
              <a:srgbClr val="6D6F71"/>
            </a:solidFill>
            <a:round/>
            <a:headEnd/>
            <a:tailEnd/>
          </a:ln>
        </p:spPr>
        <p:txBody>
          <a:bodyPr/>
          <a:lstStyle/>
          <a:p>
            <a:endParaRPr lang="en-US"/>
          </a:p>
        </p:txBody>
      </p:sp>
      <p:sp>
        <p:nvSpPr>
          <p:cNvPr id="228472" name="Freeform 120"/>
          <p:cNvSpPr>
            <a:spLocks/>
          </p:cNvSpPr>
          <p:nvPr/>
        </p:nvSpPr>
        <p:spPr bwMode="auto">
          <a:xfrm>
            <a:off x="5272088" y="4484688"/>
            <a:ext cx="2763837" cy="77787"/>
          </a:xfrm>
          <a:custGeom>
            <a:avLst/>
            <a:gdLst>
              <a:gd name="T0" fmla="*/ 2147483647 w 458"/>
              <a:gd name="T1" fmla="*/ 2147483647 h 25"/>
              <a:gd name="T2" fmla="*/ 2147483647 w 458"/>
              <a:gd name="T3" fmla="*/ 2147483647 h 25"/>
              <a:gd name="T4" fmla="*/ 2147483647 w 458"/>
              <a:gd name="T5" fmla="*/ 2147483647 h 25"/>
              <a:gd name="T6" fmla="*/ 2147483647 w 458"/>
              <a:gd name="T7" fmla="*/ 0 h 25"/>
              <a:gd name="T8" fmla="*/ 2147483647 w 458"/>
              <a:gd name="T9" fmla="*/ 2147483647 h 25"/>
              <a:gd name="T10" fmla="*/ 2147483647 w 458"/>
              <a:gd name="T11" fmla="*/ 2147483647 h 25"/>
              <a:gd name="T12" fmla="*/ 0 w 458"/>
              <a:gd name="T13" fmla="*/ 2147483647 h 25"/>
              <a:gd name="T14" fmla="*/ 0 60000 65536"/>
              <a:gd name="T15" fmla="*/ 0 60000 65536"/>
              <a:gd name="T16" fmla="*/ 0 60000 65536"/>
              <a:gd name="T17" fmla="*/ 0 60000 65536"/>
              <a:gd name="T18" fmla="*/ 0 60000 65536"/>
              <a:gd name="T19" fmla="*/ 0 60000 65536"/>
              <a:gd name="T20" fmla="*/ 0 60000 65536"/>
              <a:gd name="T21" fmla="*/ 0 w 458"/>
              <a:gd name="T22" fmla="*/ 0 h 25"/>
              <a:gd name="T23" fmla="*/ 458 w 458"/>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8" h="25">
                <a:moveTo>
                  <a:pt x="458" y="25"/>
                </a:moveTo>
                <a:cubicBezTo>
                  <a:pt x="458" y="15"/>
                  <a:pt x="455" y="10"/>
                  <a:pt x="442" y="10"/>
                </a:cubicBezTo>
                <a:cubicBezTo>
                  <a:pt x="439" y="10"/>
                  <a:pt x="242" y="10"/>
                  <a:pt x="239" y="10"/>
                </a:cubicBezTo>
                <a:cubicBezTo>
                  <a:pt x="236" y="10"/>
                  <a:pt x="229" y="8"/>
                  <a:pt x="229" y="0"/>
                </a:cubicBezTo>
                <a:cubicBezTo>
                  <a:pt x="229" y="8"/>
                  <a:pt x="222" y="10"/>
                  <a:pt x="218" y="10"/>
                </a:cubicBezTo>
                <a:cubicBezTo>
                  <a:pt x="216" y="10"/>
                  <a:pt x="19" y="10"/>
                  <a:pt x="16" y="10"/>
                </a:cubicBezTo>
                <a:cubicBezTo>
                  <a:pt x="3" y="10"/>
                  <a:pt x="0" y="15"/>
                  <a:pt x="0" y="25"/>
                </a:cubicBezTo>
              </a:path>
            </a:pathLst>
          </a:custGeom>
          <a:noFill/>
          <a:ln w="20638">
            <a:solidFill>
              <a:srgbClr val="6D6F71"/>
            </a:solidFill>
            <a:round/>
            <a:headEnd/>
            <a:tailEnd/>
          </a:ln>
        </p:spPr>
        <p:txBody>
          <a:bodyPr/>
          <a:lstStyle/>
          <a:p>
            <a:endParaRPr lang="en-US"/>
          </a:p>
        </p:txBody>
      </p:sp>
      <p:sp>
        <p:nvSpPr>
          <p:cNvPr id="228473" name="Line 121"/>
          <p:cNvSpPr>
            <a:spLocks noChangeShapeType="1"/>
          </p:cNvSpPr>
          <p:nvPr/>
        </p:nvSpPr>
        <p:spPr bwMode="auto">
          <a:xfrm>
            <a:off x="2293938" y="3435350"/>
            <a:ext cx="146050" cy="0"/>
          </a:xfrm>
          <a:prstGeom prst="line">
            <a:avLst/>
          </a:prstGeom>
          <a:noFill/>
          <a:ln w="6350">
            <a:solidFill>
              <a:srgbClr val="000000"/>
            </a:solidFill>
            <a:miter lim="800000"/>
            <a:headEnd/>
            <a:tailEnd/>
          </a:ln>
        </p:spPr>
        <p:txBody>
          <a:bodyPr/>
          <a:lstStyle/>
          <a:p>
            <a:endParaRPr lang="en-US"/>
          </a:p>
        </p:txBody>
      </p:sp>
      <p:sp>
        <p:nvSpPr>
          <p:cNvPr id="228474" name="Line 122"/>
          <p:cNvSpPr>
            <a:spLocks noChangeShapeType="1"/>
          </p:cNvSpPr>
          <p:nvPr/>
        </p:nvSpPr>
        <p:spPr bwMode="auto">
          <a:xfrm>
            <a:off x="4970463" y="1998663"/>
            <a:ext cx="207962" cy="53975"/>
          </a:xfrm>
          <a:prstGeom prst="line">
            <a:avLst/>
          </a:prstGeom>
          <a:noFill/>
          <a:ln w="26988">
            <a:solidFill>
              <a:srgbClr val="000000"/>
            </a:solidFill>
            <a:miter lim="800000"/>
            <a:headEnd/>
            <a:tailEnd/>
          </a:ln>
        </p:spPr>
        <p:txBody>
          <a:bodyPr/>
          <a:lstStyle/>
          <a:p>
            <a:endParaRPr lang="en-US"/>
          </a:p>
        </p:txBody>
      </p:sp>
      <p:sp>
        <p:nvSpPr>
          <p:cNvPr id="228475" name="Freeform 123"/>
          <p:cNvSpPr>
            <a:spLocks/>
          </p:cNvSpPr>
          <p:nvPr/>
        </p:nvSpPr>
        <p:spPr bwMode="auto">
          <a:xfrm>
            <a:off x="5129213" y="2032000"/>
            <a:ext cx="131762" cy="50800"/>
          </a:xfrm>
          <a:custGeom>
            <a:avLst/>
            <a:gdLst>
              <a:gd name="T0" fmla="*/ 2147483647 w 22"/>
              <a:gd name="T1" fmla="*/ 2147483647 h 17"/>
              <a:gd name="T2" fmla="*/ 2147483647 w 22"/>
              <a:gd name="T3" fmla="*/ 0 h 17"/>
              <a:gd name="T4" fmla="*/ 2147483647 w 22"/>
              <a:gd name="T5" fmla="*/ 0 h 17"/>
              <a:gd name="T6" fmla="*/ 2147483647 w 22"/>
              <a:gd name="T7" fmla="*/ 2147483647 h 17"/>
              <a:gd name="T8" fmla="*/ 2147483647 w 22"/>
              <a:gd name="T9" fmla="*/ 2147483647 h 17"/>
              <a:gd name="T10" fmla="*/ 2147483647 w 22"/>
              <a:gd name="T11" fmla="*/ 2147483647 h 17"/>
              <a:gd name="T12" fmla="*/ 0 w 22"/>
              <a:gd name="T13" fmla="*/ 2147483647 h 17"/>
              <a:gd name="T14" fmla="*/ 0 w 22"/>
              <a:gd name="T15" fmla="*/ 2147483647 h 17"/>
              <a:gd name="T16" fmla="*/ 2147483647 w 22"/>
              <a:gd name="T17" fmla="*/ 2147483647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17"/>
              <a:gd name="T29" fmla="*/ 22 w 22"/>
              <a:gd name="T30" fmla="*/ 17 h 1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17">
                <a:moveTo>
                  <a:pt x="7" y="7"/>
                </a:moveTo>
                <a:cubicBezTo>
                  <a:pt x="6" y="0"/>
                  <a:pt x="6" y="0"/>
                  <a:pt x="6" y="0"/>
                </a:cubicBezTo>
                <a:cubicBezTo>
                  <a:pt x="7" y="0"/>
                  <a:pt x="7" y="0"/>
                  <a:pt x="7" y="0"/>
                </a:cubicBezTo>
                <a:cubicBezTo>
                  <a:pt x="14" y="9"/>
                  <a:pt x="14" y="9"/>
                  <a:pt x="14" y="9"/>
                </a:cubicBezTo>
                <a:cubicBezTo>
                  <a:pt x="17" y="11"/>
                  <a:pt x="20" y="14"/>
                  <a:pt x="22" y="17"/>
                </a:cubicBezTo>
                <a:cubicBezTo>
                  <a:pt x="19" y="15"/>
                  <a:pt x="15" y="14"/>
                  <a:pt x="11" y="13"/>
                </a:cubicBezTo>
                <a:cubicBezTo>
                  <a:pt x="0" y="12"/>
                  <a:pt x="0" y="12"/>
                  <a:pt x="0" y="12"/>
                </a:cubicBezTo>
                <a:cubicBezTo>
                  <a:pt x="0" y="11"/>
                  <a:pt x="0" y="11"/>
                  <a:pt x="0" y="11"/>
                </a:cubicBezTo>
                <a:lnTo>
                  <a:pt x="7" y="7"/>
                </a:lnTo>
                <a:close/>
              </a:path>
            </a:pathLst>
          </a:custGeom>
          <a:solidFill>
            <a:srgbClr val="000000"/>
          </a:solidFill>
          <a:ln w="9525">
            <a:noFill/>
            <a:round/>
            <a:headEnd/>
            <a:tailEnd/>
          </a:ln>
        </p:spPr>
        <p:txBody>
          <a:bodyPr/>
          <a:lstStyle/>
          <a:p>
            <a:endParaRPr lang="en-US"/>
          </a:p>
        </p:txBody>
      </p:sp>
      <p:sp>
        <p:nvSpPr>
          <p:cNvPr id="228476" name="Freeform 124"/>
          <p:cNvSpPr>
            <a:spLocks/>
          </p:cNvSpPr>
          <p:nvPr/>
        </p:nvSpPr>
        <p:spPr bwMode="auto">
          <a:xfrm>
            <a:off x="5002213" y="1992313"/>
            <a:ext cx="133350" cy="49212"/>
          </a:xfrm>
          <a:custGeom>
            <a:avLst/>
            <a:gdLst>
              <a:gd name="T0" fmla="*/ 2147483647 w 22"/>
              <a:gd name="T1" fmla="*/ 2147483647 h 16"/>
              <a:gd name="T2" fmla="*/ 2147483647 w 22"/>
              <a:gd name="T3" fmla="*/ 0 h 16"/>
              <a:gd name="T4" fmla="*/ 2147483647 w 22"/>
              <a:gd name="T5" fmla="*/ 0 h 16"/>
              <a:gd name="T6" fmla="*/ 2147483647 w 22"/>
              <a:gd name="T7" fmla="*/ 2147483647 h 16"/>
              <a:gd name="T8" fmla="*/ 2147483647 w 22"/>
              <a:gd name="T9" fmla="*/ 2147483647 h 16"/>
              <a:gd name="T10" fmla="*/ 2147483647 w 22"/>
              <a:gd name="T11" fmla="*/ 2147483647 h 16"/>
              <a:gd name="T12" fmla="*/ 0 w 22"/>
              <a:gd name="T13" fmla="*/ 2147483647 h 16"/>
              <a:gd name="T14" fmla="*/ 0 w 22"/>
              <a:gd name="T15" fmla="*/ 2147483647 h 16"/>
              <a:gd name="T16" fmla="*/ 2147483647 w 22"/>
              <a:gd name="T17" fmla="*/ 2147483647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16"/>
              <a:gd name="T29" fmla="*/ 22 w 2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16">
                <a:moveTo>
                  <a:pt x="6" y="7"/>
                </a:moveTo>
                <a:cubicBezTo>
                  <a:pt x="6" y="0"/>
                  <a:pt x="6" y="0"/>
                  <a:pt x="6" y="0"/>
                </a:cubicBezTo>
                <a:cubicBezTo>
                  <a:pt x="6" y="0"/>
                  <a:pt x="6" y="0"/>
                  <a:pt x="6" y="0"/>
                </a:cubicBezTo>
                <a:cubicBezTo>
                  <a:pt x="14" y="9"/>
                  <a:pt x="14" y="9"/>
                  <a:pt x="14" y="9"/>
                </a:cubicBezTo>
                <a:cubicBezTo>
                  <a:pt x="17" y="11"/>
                  <a:pt x="19" y="14"/>
                  <a:pt x="22" y="16"/>
                </a:cubicBezTo>
                <a:cubicBezTo>
                  <a:pt x="19" y="15"/>
                  <a:pt x="15" y="14"/>
                  <a:pt x="11" y="13"/>
                </a:cubicBezTo>
                <a:cubicBezTo>
                  <a:pt x="0" y="11"/>
                  <a:pt x="0" y="11"/>
                  <a:pt x="0" y="11"/>
                </a:cubicBezTo>
                <a:cubicBezTo>
                  <a:pt x="0" y="11"/>
                  <a:pt x="0" y="11"/>
                  <a:pt x="0" y="11"/>
                </a:cubicBezTo>
                <a:lnTo>
                  <a:pt x="6" y="7"/>
                </a:lnTo>
                <a:close/>
              </a:path>
            </a:pathLst>
          </a:custGeom>
          <a:solidFill>
            <a:srgbClr val="000000"/>
          </a:solidFill>
          <a:ln w="9525">
            <a:noFill/>
            <a:round/>
            <a:headEnd/>
            <a:tailEnd/>
          </a:ln>
        </p:spPr>
        <p:txBody>
          <a:bodyPr/>
          <a:lstStyle/>
          <a:p>
            <a:endParaRPr lang="en-US"/>
          </a:p>
        </p:txBody>
      </p:sp>
      <p:cxnSp>
        <p:nvCxnSpPr>
          <p:cNvPr id="548914" name="Straight Connector 86"/>
          <p:cNvCxnSpPr>
            <a:cxnSpLocks noChangeShapeType="1"/>
          </p:cNvCxnSpPr>
          <p:nvPr/>
        </p:nvCxnSpPr>
        <p:spPr bwMode="auto">
          <a:xfrm>
            <a:off x="4910138" y="2109788"/>
            <a:ext cx="0" cy="757237"/>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2286000" y="2081213"/>
            <a:ext cx="2484438" cy="0"/>
          </a:xfrm>
          <a:prstGeom prst="line">
            <a:avLst/>
          </a:prstGeom>
          <a:noFill/>
          <a:ln w="15875">
            <a:solidFill>
              <a:srgbClr val="808080"/>
            </a:solidFill>
            <a:prstDash val="sysDot"/>
            <a:round/>
            <a:headEnd/>
            <a:tailEnd type="none" w="med" len="lg"/>
          </a:ln>
        </p:spPr>
      </p:cxnSp>
      <p:cxnSp>
        <p:nvCxnSpPr>
          <p:cNvPr id="3" name="Straight Connector 86"/>
          <p:cNvCxnSpPr>
            <a:cxnSpLocks noChangeShapeType="1"/>
          </p:cNvCxnSpPr>
          <p:nvPr/>
        </p:nvCxnSpPr>
        <p:spPr bwMode="auto">
          <a:xfrm>
            <a:off x="2362200" y="2155825"/>
            <a:ext cx="2705100" cy="0"/>
          </a:xfrm>
          <a:prstGeom prst="line">
            <a:avLst/>
          </a:prstGeom>
          <a:noFill/>
          <a:ln w="15875">
            <a:solidFill>
              <a:srgbClr val="808080"/>
            </a:solidFill>
            <a:prstDash val="sysDot"/>
            <a:round/>
            <a:headEnd/>
            <a:tailEnd type="none" w="med" len="lg"/>
          </a:ln>
        </p:spPr>
      </p:cxnSp>
      <p:cxnSp>
        <p:nvCxnSpPr>
          <p:cNvPr id="4" name="Straight Connector 86"/>
          <p:cNvCxnSpPr>
            <a:cxnSpLocks noChangeShapeType="1"/>
          </p:cNvCxnSpPr>
          <p:nvPr/>
        </p:nvCxnSpPr>
        <p:spPr bwMode="auto">
          <a:xfrm>
            <a:off x="2463800" y="2797175"/>
            <a:ext cx="2619375" cy="0"/>
          </a:xfrm>
          <a:prstGeom prst="line">
            <a:avLst/>
          </a:prstGeom>
          <a:noFill/>
          <a:ln w="15875">
            <a:solidFill>
              <a:srgbClr val="808080"/>
            </a:solidFill>
            <a:prstDash val="sysDot"/>
            <a:round/>
            <a:headEnd/>
            <a:tailEnd type="none" w="med" len="lg"/>
          </a:ln>
        </p:spPr>
      </p:cxnSp>
      <p:cxnSp>
        <p:nvCxnSpPr>
          <p:cNvPr id="5" name="Straight Connector 86"/>
          <p:cNvCxnSpPr>
            <a:cxnSpLocks noChangeShapeType="1"/>
          </p:cNvCxnSpPr>
          <p:nvPr/>
        </p:nvCxnSpPr>
        <p:spPr bwMode="auto">
          <a:xfrm>
            <a:off x="5203825" y="2179638"/>
            <a:ext cx="0" cy="687387"/>
          </a:xfrm>
          <a:prstGeom prst="line">
            <a:avLst/>
          </a:prstGeom>
          <a:noFill/>
          <a:ln w="15875">
            <a:solidFill>
              <a:srgbClr val="808080"/>
            </a:solidFill>
            <a:prstDash val="sysDot"/>
            <a:round/>
            <a:headEnd/>
            <a:tailEnd type="none" w="med" len="lg"/>
          </a:ln>
        </p:spPr>
      </p:cxnSp>
      <p:cxnSp>
        <p:nvCxnSpPr>
          <p:cNvPr id="6" name="Straight Connector 86"/>
          <p:cNvCxnSpPr>
            <a:cxnSpLocks noChangeShapeType="1"/>
          </p:cNvCxnSpPr>
          <p:nvPr/>
        </p:nvCxnSpPr>
        <p:spPr bwMode="auto">
          <a:xfrm>
            <a:off x="5181600" y="2895600"/>
            <a:ext cx="4763" cy="3432175"/>
          </a:xfrm>
          <a:prstGeom prst="line">
            <a:avLst/>
          </a:prstGeom>
          <a:noFill/>
          <a:ln w="15875">
            <a:solidFill>
              <a:srgbClr val="808080"/>
            </a:solidFill>
            <a:prstDash val="sysDot"/>
            <a:round/>
            <a:headEnd/>
            <a:tailEnd type="none" w="med" len="lg"/>
          </a:ln>
        </p:spPr>
      </p:cxnSp>
      <p:sp>
        <p:nvSpPr>
          <p:cNvPr id="228483" name="Rectangle 131"/>
          <p:cNvSpPr>
            <a:spLocks noChangeArrowheads="1"/>
          </p:cNvSpPr>
          <p:nvPr/>
        </p:nvSpPr>
        <p:spPr bwMode="auto">
          <a:xfrm>
            <a:off x="3581400" y="762000"/>
            <a:ext cx="3656013" cy="215900"/>
          </a:xfrm>
          <a:prstGeom prst="rect">
            <a:avLst/>
          </a:prstGeom>
          <a:noFill/>
          <a:ln w="9525">
            <a:noFill/>
            <a:miter lim="800000"/>
            <a:headEnd/>
            <a:tailEnd/>
          </a:ln>
        </p:spPr>
        <p:txBody>
          <a:bodyPr lIns="0" tIns="0" rIns="0" bIns="0">
            <a:spAutoFit/>
          </a:bodyPr>
          <a:lstStyle/>
          <a:p>
            <a:pPr marL="1588" indent="-1588" algn="ctr"/>
            <a:r>
              <a:rPr lang="en-US" sz="1400" b="1">
                <a:solidFill>
                  <a:srgbClr val="000000"/>
                </a:solidFill>
                <a:latin typeface="Myriad Pro"/>
              </a:rPr>
              <a:t>Demand and Marginal Revenue</a:t>
            </a:r>
            <a:endParaRPr lang="en-US" sz="1400" b="1">
              <a:latin typeface="Tahoma" pitchFamily="34" charset="0"/>
            </a:endParaRPr>
          </a:p>
        </p:txBody>
      </p:sp>
      <p:sp>
        <p:nvSpPr>
          <p:cNvPr id="228484" name="Rectangle 132"/>
          <p:cNvSpPr>
            <a:spLocks noChangeArrowheads="1"/>
          </p:cNvSpPr>
          <p:nvPr/>
        </p:nvSpPr>
        <p:spPr bwMode="auto">
          <a:xfrm>
            <a:off x="4419600" y="3657600"/>
            <a:ext cx="1692275" cy="215900"/>
          </a:xfrm>
          <a:prstGeom prst="rect">
            <a:avLst/>
          </a:prstGeom>
          <a:noFill/>
          <a:ln w="9525">
            <a:noFill/>
            <a:miter lim="800000"/>
            <a:headEnd/>
            <a:tailEnd/>
          </a:ln>
        </p:spPr>
        <p:txBody>
          <a:bodyPr lIns="0" tIns="0" rIns="0" bIns="0">
            <a:spAutoFit/>
          </a:bodyPr>
          <a:lstStyle/>
          <a:p>
            <a:pPr marL="1588" indent="-1588" algn="ctr"/>
            <a:r>
              <a:rPr lang="en-US" sz="1400" b="1">
                <a:solidFill>
                  <a:srgbClr val="000000"/>
                </a:solidFill>
                <a:latin typeface="Myriad Pro"/>
              </a:rPr>
              <a:t>Total Revenue</a:t>
            </a:r>
            <a:endParaRPr lang="en-US" sz="1400" b="1">
              <a:latin typeface="Tahoma" pitchFamily="34" charset="0"/>
            </a:endParaRPr>
          </a:p>
        </p:txBody>
      </p:sp>
      <p:sp>
        <p:nvSpPr>
          <p:cNvPr id="228485" name="Rectangle 133"/>
          <p:cNvSpPr>
            <a:spLocks noChangeArrowheads="1"/>
          </p:cNvSpPr>
          <p:nvPr/>
        </p:nvSpPr>
        <p:spPr bwMode="auto">
          <a:xfrm>
            <a:off x="827088" y="692150"/>
            <a:ext cx="1654175"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 marginal revenue of demand</a:t>
            </a:r>
            <a:endParaRPr lang="en-US" sz="1400">
              <a:latin typeface="Tahoma" pitchFamily="34" charset="0"/>
            </a:endParaRPr>
          </a:p>
        </p:txBody>
      </p:sp>
      <p:sp>
        <p:nvSpPr>
          <p:cNvPr id="228486" name="Rectangle 134"/>
          <p:cNvSpPr>
            <a:spLocks noChangeArrowheads="1"/>
          </p:cNvSpPr>
          <p:nvPr/>
        </p:nvSpPr>
        <p:spPr bwMode="auto">
          <a:xfrm>
            <a:off x="2592388" y="2282825"/>
            <a:ext cx="1173162" cy="425450"/>
          </a:xfrm>
          <a:prstGeom prst="rect">
            <a:avLst/>
          </a:prstGeom>
          <a:noFill/>
          <a:ln w="9525">
            <a:noFill/>
            <a:miter lim="800000"/>
            <a:headEnd/>
            <a:tailEnd/>
          </a:ln>
        </p:spPr>
        <p:txBody>
          <a:bodyPr lIns="0" tIns="0" rIns="0" bIns="0">
            <a:spAutoFit/>
          </a:bodyPr>
          <a:lstStyle/>
          <a:p>
            <a:pPr marL="1588" indent="-1588"/>
            <a:r>
              <a:rPr lang="en-US" sz="1400">
                <a:solidFill>
                  <a:srgbClr val="000000"/>
                </a:solidFill>
                <a:latin typeface="Myriad Pro"/>
              </a:rPr>
              <a:t>Price effect =  </a:t>
            </a:r>
          </a:p>
          <a:p>
            <a:pPr marL="1588" indent="-1588" algn="ctr"/>
            <a:r>
              <a:rPr lang="en-US" sz="1400">
                <a:solidFill>
                  <a:srgbClr val="000000"/>
                </a:solidFill>
                <a:latin typeface="Myriad Pro"/>
              </a:rPr>
              <a:t>-$450</a:t>
            </a:r>
            <a:endParaRPr lang="en-US" sz="1400">
              <a:latin typeface="Tahoma" pitchFamily="34" charset="0"/>
            </a:endParaRPr>
          </a:p>
        </p:txBody>
      </p:sp>
      <p:sp>
        <p:nvSpPr>
          <p:cNvPr id="228487" name="Rectangle 135"/>
          <p:cNvSpPr>
            <a:spLocks noChangeArrowheads="1"/>
          </p:cNvSpPr>
          <p:nvPr/>
        </p:nvSpPr>
        <p:spPr bwMode="auto">
          <a:xfrm>
            <a:off x="5551488" y="1728788"/>
            <a:ext cx="1323975" cy="4302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Quantity effect =  +$500</a:t>
            </a:r>
            <a:endParaRPr lang="en-US" sz="1400">
              <a:latin typeface="Tahoma" pitchFamily="34" charset="0"/>
            </a:endParaRPr>
          </a:p>
        </p:txBody>
      </p:sp>
      <p:sp>
        <p:nvSpPr>
          <p:cNvPr id="228488" name="Rectangle 136"/>
          <p:cNvSpPr>
            <a:spLocks noChangeArrowheads="1"/>
          </p:cNvSpPr>
          <p:nvPr/>
        </p:nvSpPr>
        <p:spPr bwMode="auto">
          <a:xfrm>
            <a:off x="2916238" y="3124200"/>
            <a:ext cx="2112962" cy="212725"/>
          </a:xfrm>
          <a:prstGeom prst="rect">
            <a:avLst/>
          </a:prstGeom>
          <a:noFill/>
          <a:ln w="9525">
            <a:noFill/>
            <a:miter lim="800000"/>
            <a:headEnd/>
            <a:tailEnd/>
          </a:ln>
        </p:spPr>
        <p:txBody>
          <a:bodyPr lIns="0" tIns="0" rIns="0" bIns="0">
            <a:spAutoFit/>
          </a:bodyPr>
          <a:lstStyle/>
          <a:p>
            <a:pPr marL="1588" indent="-1588"/>
            <a:r>
              <a:rPr lang="en-US" sz="1400">
                <a:solidFill>
                  <a:srgbClr val="000000"/>
                </a:solidFill>
                <a:latin typeface="Myriad Pro"/>
              </a:rPr>
              <a:t>Marginal revenue = $50</a:t>
            </a:r>
            <a:endParaRPr lang="en-US" sz="1400">
              <a:latin typeface="Tahoma" pitchFamily="34" charset="0"/>
            </a:endParaRPr>
          </a:p>
        </p:txBody>
      </p:sp>
      <p:sp>
        <p:nvSpPr>
          <p:cNvPr id="228489" name="Rectangle 137"/>
          <p:cNvSpPr>
            <a:spLocks noChangeArrowheads="1"/>
          </p:cNvSpPr>
          <p:nvPr/>
        </p:nvSpPr>
        <p:spPr bwMode="auto">
          <a:xfrm>
            <a:off x="2655888" y="4027488"/>
            <a:ext cx="2035175" cy="4302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Quantity effect dominates price effect.</a:t>
            </a:r>
            <a:endParaRPr lang="en-US" sz="1400">
              <a:latin typeface="Tahoma" pitchFamily="34" charset="0"/>
            </a:endParaRPr>
          </a:p>
        </p:txBody>
      </p:sp>
      <p:sp>
        <p:nvSpPr>
          <p:cNvPr id="228490" name="Rectangle 138"/>
          <p:cNvSpPr>
            <a:spLocks noChangeArrowheads="1"/>
          </p:cNvSpPr>
          <p:nvPr/>
        </p:nvSpPr>
        <p:spPr bwMode="auto">
          <a:xfrm>
            <a:off x="5651500" y="4005263"/>
            <a:ext cx="2343150" cy="42545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effect dominates quantity effect.</a:t>
            </a:r>
            <a:endParaRPr lang="en-US" sz="1400">
              <a:latin typeface="Tahoma" pitchFamily="34" charset="0"/>
            </a:endParaRPr>
          </a:p>
        </p:txBody>
      </p:sp>
      <p:sp>
        <p:nvSpPr>
          <p:cNvPr id="228365" name="Rectangle 13"/>
          <p:cNvSpPr>
            <a:spLocks noChangeArrowheads="1"/>
          </p:cNvSpPr>
          <p:nvPr/>
        </p:nvSpPr>
        <p:spPr bwMode="auto">
          <a:xfrm>
            <a:off x="5065713" y="2881313"/>
            <a:ext cx="1809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a:t>
            </a:r>
            <a:endParaRPr lang="en-US" sz="1400">
              <a:latin typeface="Tahoma" pitchFamily="34" charset="0"/>
            </a:endParaRPr>
          </a:p>
        </p:txBody>
      </p:sp>
      <p:sp>
        <p:nvSpPr>
          <p:cNvPr id="228401" name="Rectangle 49"/>
          <p:cNvSpPr>
            <a:spLocks noChangeArrowheads="1"/>
          </p:cNvSpPr>
          <p:nvPr/>
        </p:nvSpPr>
        <p:spPr bwMode="auto">
          <a:xfrm>
            <a:off x="6156325" y="6453188"/>
            <a:ext cx="1728788" cy="2159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Quantity of diamonds</a:t>
            </a:r>
            <a:endParaRPr lang="en-US" sz="1400">
              <a:latin typeface="Tahoma"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836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837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837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837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837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837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837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837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837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837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837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838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838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838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838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839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839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839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839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839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839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2839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839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839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2840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2840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841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228473"/>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2848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2836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2848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2838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2848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2840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2840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2838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2838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2836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22838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2836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2836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28443"/>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28444"/>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2844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22840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28406"/>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228446"/>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228447"/>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28442"/>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228360"/>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28440"/>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228439"/>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228417"/>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228415"/>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228414"/>
                                        </p:tgtEl>
                                        <p:attrNameLst>
                                          <p:attrName>style.visibility</p:attrName>
                                        </p:attrNameLst>
                                      </p:cBhvr>
                                      <p:to>
                                        <p:strVal val="visible"/>
                                      </p:to>
                                    </p:set>
                                  </p:childTnLst>
                                </p:cTn>
                              </p:par>
                              <p:par>
                                <p:cTn id="117" presetID="22" presetClass="entr" presetSubtype="8" fill="hold" grpId="0" nodeType="withEffect">
                                  <p:stCondLst>
                                    <p:cond delay="0"/>
                                  </p:stCondLst>
                                  <p:childTnLst>
                                    <p:set>
                                      <p:cBhvr>
                                        <p:cTn id="118" dur="1" fill="hold">
                                          <p:stCondLst>
                                            <p:cond delay="0"/>
                                          </p:stCondLst>
                                        </p:cTn>
                                        <p:tgtEl>
                                          <p:spTgt spid="228404"/>
                                        </p:tgtEl>
                                        <p:attrNameLst>
                                          <p:attrName>style.visibility</p:attrName>
                                        </p:attrNameLst>
                                      </p:cBhvr>
                                      <p:to>
                                        <p:strVal val="visible"/>
                                      </p:to>
                                    </p:set>
                                    <p:animEffect transition="in" filter="wipe(left)">
                                      <p:cBhvr>
                                        <p:cTn id="119" dur="500"/>
                                        <p:tgtEl>
                                          <p:spTgt spid="228404"/>
                                        </p:tgtEl>
                                      </p:cBhvr>
                                    </p:animEffect>
                                  </p:childTnLst>
                                </p:cTn>
                              </p:par>
                              <p:par>
                                <p:cTn id="120" presetID="1" presetClass="entr" presetSubtype="0" fill="hold" grpId="0" nodeType="withEffect">
                                  <p:stCondLst>
                                    <p:cond delay="0"/>
                                  </p:stCondLst>
                                  <p:childTnLst>
                                    <p:set>
                                      <p:cBhvr>
                                        <p:cTn id="121" dur="1" fill="hold">
                                          <p:stCondLst>
                                            <p:cond delay="0"/>
                                          </p:stCondLst>
                                        </p:cTn>
                                        <p:tgtEl>
                                          <p:spTgt spid="228412"/>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228413"/>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228441"/>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228448"/>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228452"/>
                                        </p:tgtEl>
                                        <p:attrNameLst>
                                          <p:attrName>style.visibility</p:attrName>
                                        </p:attrNameLst>
                                      </p:cBhvr>
                                      <p:to>
                                        <p:strVal val="visible"/>
                                      </p:to>
                                    </p:set>
                                  </p:childTnLst>
                                </p:cTn>
                              </p:par>
                              <p:par>
                                <p:cTn id="130" presetID="1" presetClass="entr" presetSubtype="0" fill="hold" nodeType="withEffect">
                                  <p:stCondLst>
                                    <p:cond delay="0"/>
                                  </p:stCondLst>
                                  <p:childTnLst>
                                    <p:set>
                                      <p:cBhvr>
                                        <p:cTn id="131" dur="1" fill="hold">
                                          <p:stCondLst>
                                            <p:cond delay="0"/>
                                          </p:stCondLst>
                                        </p:cTn>
                                        <p:tgtEl>
                                          <p:spTgt spid="2"/>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228359"/>
                                        </p:tgtEl>
                                        <p:attrNameLst>
                                          <p:attrName>style.visibility</p:attrName>
                                        </p:attrNameLst>
                                      </p:cBhvr>
                                      <p:to>
                                        <p:strVal val="visible"/>
                                      </p:to>
                                    </p:set>
                                  </p:childTnLst>
                                </p:cTn>
                              </p:par>
                              <p:par>
                                <p:cTn id="134" presetID="1" presetClass="entr" presetSubtype="0" fill="hold" grpId="0" nodeType="withEffect">
                                  <p:stCondLst>
                                    <p:cond delay="0"/>
                                  </p:stCondLst>
                                  <p:childTnLst>
                                    <p:set>
                                      <p:cBhvr>
                                        <p:cTn id="135" dur="1" fill="hold">
                                          <p:stCondLst>
                                            <p:cond delay="0"/>
                                          </p:stCondLst>
                                        </p:cTn>
                                        <p:tgtEl>
                                          <p:spTgt spid="228453"/>
                                        </p:tgtEl>
                                        <p:attrNameLst>
                                          <p:attrName>style.visibility</p:attrName>
                                        </p:attrNameLst>
                                      </p:cBhvr>
                                      <p:to>
                                        <p:strVal val="visible"/>
                                      </p:to>
                                    </p:set>
                                  </p:childTnLst>
                                </p:cTn>
                              </p:par>
                              <p:par>
                                <p:cTn id="136" presetID="1" presetClass="entr" presetSubtype="0" fill="hold" grpId="0" nodeType="withEffect">
                                  <p:stCondLst>
                                    <p:cond delay="0"/>
                                  </p:stCondLst>
                                  <p:childTnLst>
                                    <p:set>
                                      <p:cBhvr>
                                        <p:cTn id="137" dur="1" fill="hold">
                                          <p:stCondLst>
                                            <p:cond delay="0"/>
                                          </p:stCondLst>
                                        </p:cTn>
                                        <p:tgtEl>
                                          <p:spTgt spid="228409"/>
                                        </p:tgtEl>
                                        <p:attrNameLst>
                                          <p:attrName>style.visibility</p:attrName>
                                        </p:attrNameLst>
                                      </p:cBhvr>
                                      <p:to>
                                        <p:strVal val="visible"/>
                                      </p:to>
                                    </p:set>
                                  </p:childTnLst>
                                </p:cTn>
                              </p:par>
                              <p:par>
                                <p:cTn id="138" presetID="1" presetClass="entr" presetSubtype="0" fill="hold" grpId="0" nodeType="withEffect">
                                  <p:stCondLst>
                                    <p:cond delay="0"/>
                                  </p:stCondLst>
                                  <p:childTnLst>
                                    <p:set>
                                      <p:cBhvr>
                                        <p:cTn id="139" dur="1" fill="hold">
                                          <p:stCondLst>
                                            <p:cond delay="0"/>
                                          </p:stCondLst>
                                        </p:cTn>
                                        <p:tgtEl>
                                          <p:spTgt spid="228410"/>
                                        </p:tgtEl>
                                        <p:attrNameLst>
                                          <p:attrName>style.visibility</p:attrName>
                                        </p:attrNameLst>
                                      </p:cBhvr>
                                      <p:to>
                                        <p:strVal val="visible"/>
                                      </p:to>
                                    </p:set>
                                  </p:childTnLst>
                                </p:cTn>
                              </p:par>
                              <p:par>
                                <p:cTn id="140" presetID="22" presetClass="entr" presetSubtype="8" fill="hold" grpId="0" nodeType="withEffect">
                                  <p:stCondLst>
                                    <p:cond delay="0"/>
                                  </p:stCondLst>
                                  <p:childTnLst>
                                    <p:set>
                                      <p:cBhvr>
                                        <p:cTn id="141" dur="1" fill="hold">
                                          <p:stCondLst>
                                            <p:cond delay="0"/>
                                          </p:stCondLst>
                                        </p:cTn>
                                        <p:tgtEl>
                                          <p:spTgt spid="228405"/>
                                        </p:tgtEl>
                                        <p:attrNameLst>
                                          <p:attrName>style.visibility</p:attrName>
                                        </p:attrNameLst>
                                      </p:cBhvr>
                                      <p:to>
                                        <p:strVal val="visible"/>
                                      </p:to>
                                    </p:set>
                                    <p:animEffect transition="in" filter="wipe(left)">
                                      <p:cBhvr>
                                        <p:cTn id="142" dur="500"/>
                                        <p:tgtEl>
                                          <p:spTgt spid="228405"/>
                                        </p:tgtEl>
                                      </p:cBhvr>
                                    </p:animEffect>
                                  </p:childTnLst>
                                </p:cTn>
                              </p:par>
                              <p:par>
                                <p:cTn id="143" presetID="1" presetClass="entr" presetSubtype="0" fill="hold" grpId="0" nodeType="withEffect">
                                  <p:stCondLst>
                                    <p:cond delay="0"/>
                                  </p:stCondLst>
                                  <p:childTnLst>
                                    <p:set>
                                      <p:cBhvr>
                                        <p:cTn id="144" dur="1" fill="hold">
                                          <p:stCondLst>
                                            <p:cond delay="0"/>
                                          </p:stCondLst>
                                        </p:cTn>
                                        <p:tgtEl>
                                          <p:spTgt spid="228454"/>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228455"/>
                                        </p:tgtEl>
                                        <p:attrNameLst>
                                          <p:attrName>style.visibility</p:attrName>
                                        </p:attrNameLst>
                                      </p:cBhvr>
                                      <p:to>
                                        <p:strVal val="visible"/>
                                      </p:to>
                                    </p:set>
                                  </p:childTnLst>
                                </p:cTn>
                              </p:par>
                              <p:par>
                                <p:cTn id="147" presetID="1" presetClass="entr" presetSubtype="0" fill="hold" grpId="0" nodeType="withEffect">
                                  <p:stCondLst>
                                    <p:cond delay="0"/>
                                  </p:stCondLst>
                                  <p:childTnLst>
                                    <p:set>
                                      <p:cBhvr>
                                        <p:cTn id="148" dur="1" fill="hold">
                                          <p:stCondLst>
                                            <p:cond delay="0"/>
                                          </p:stCondLst>
                                        </p:cTn>
                                        <p:tgtEl>
                                          <p:spTgt spid="228456"/>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228457"/>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228449"/>
                                        </p:tgtEl>
                                        <p:attrNameLst>
                                          <p:attrName>style.visibility</p:attrName>
                                        </p:attrNameLst>
                                      </p:cBhvr>
                                      <p:to>
                                        <p:strVal val="visible"/>
                                      </p:to>
                                    </p:set>
                                  </p:childTnLst>
                                </p:cTn>
                              </p:par>
                              <p:par>
                                <p:cTn id="153" presetID="1" presetClass="entr" presetSubtype="0" fill="hold" grpId="0" nodeType="withEffect">
                                  <p:stCondLst>
                                    <p:cond delay="0"/>
                                  </p:stCondLst>
                                  <p:childTnLst>
                                    <p:set>
                                      <p:cBhvr>
                                        <p:cTn id="154" dur="1" fill="hold">
                                          <p:stCondLst>
                                            <p:cond delay="0"/>
                                          </p:stCondLst>
                                        </p:cTn>
                                        <p:tgtEl>
                                          <p:spTgt spid="228458"/>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228408"/>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228459"/>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228411"/>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228460"/>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228461"/>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228421"/>
                                        </p:tgtEl>
                                        <p:attrNameLst>
                                          <p:attrName>style.visibility</p:attrName>
                                        </p:attrNameLst>
                                      </p:cBhvr>
                                      <p:to>
                                        <p:strVal val="visible"/>
                                      </p:to>
                                    </p:set>
                                  </p:childTnLst>
                                </p:cTn>
                              </p:par>
                              <p:par>
                                <p:cTn id="167" presetID="1" presetClass="entr" presetSubtype="0" fill="hold" grpId="0" nodeType="withEffect">
                                  <p:stCondLst>
                                    <p:cond delay="0"/>
                                  </p:stCondLst>
                                  <p:childTnLst>
                                    <p:set>
                                      <p:cBhvr>
                                        <p:cTn id="168" dur="1" fill="hold">
                                          <p:stCondLst>
                                            <p:cond delay="0"/>
                                          </p:stCondLst>
                                        </p:cTn>
                                        <p:tgtEl>
                                          <p:spTgt spid="228422"/>
                                        </p:tgtEl>
                                        <p:attrNameLst>
                                          <p:attrName>style.visibility</p:attrName>
                                        </p:attrNameLst>
                                      </p:cBhvr>
                                      <p:to>
                                        <p:strVal val="visible"/>
                                      </p:to>
                                    </p:set>
                                  </p:childTnLst>
                                </p:cTn>
                              </p:par>
                              <p:par>
                                <p:cTn id="169" presetID="1" presetClass="entr" presetSubtype="0" fill="hold" grpId="0" nodeType="withEffect">
                                  <p:stCondLst>
                                    <p:cond delay="0"/>
                                  </p:stCondLst>
                                  <p:childTnLst>
                                    <p:set>
                                      <p:cBhvr>
                                        <p:cTn id="170" dur="1" fill="hold">
                                          <p:stCondLst>
                                            <p:cond delay="0"/>
                                          </p:stCondLst>
                                        </p:cTn>
                                        <p:tgtEl>
                                          <p:spTgt spid="228423"/>
                                        </p:tgtEl>
                                        <p:attrNameLst>
                                          <p:attrName>style.visibility</p:attrName>
                                        </p:attrNameLst>
                                      </p:cBhvr>
                                      <p:to>
                                        <p:strVal val="visible"/>
                                      </p:to>
                                    </p:set>
                                  </p:childTnLst>
                                </p:cTn>
                              </p:par>
                              <p:par>
                                <p:cTn id="171" presetID="1" presetClass="entr" presetSubtype="0" fill="hold" grpId="0" nodeType="withEffect">
                                  <p:stCondLst>
                                    <p:cond delay="0"/>
                                  </p:stCondLst>
                                  <p:childTnLst>
                                    <p:set>
                                      <p:cBhvr>
                                        <p:cTn id="172" dur="1" fill="hold">
                                          <p:stCondLst>
                                            <p:cond delay="0"/>
                                          </p:stCondLst>
                                        </p:cTn>
                                        <p:tgtEl>
                                          <p:spTgt spid="228424"/>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228425"/>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228426"/>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228427"/>
                                        </p:tgtEl>
                                        <p:attrNameLst>
                                          <p:attrName>style.visibility</p:attrName>
                                        </p:attrNameLst>
                                      </p:cBhvr>
                                      <p:to>
                                        <p:strVal val="visible"/>
                                      </p:to>
                                    </p:set>
                                  </p:childTnLst>
                                </p:cTn>
                              </p:par>
                              <p:par>
                                <p:cTn id="179" presetID="1" presetClass="entr" presetSubtype="0" fill="hold" grpId="0" nodeType="withEffect">
                                  <p:stCondLst>
                                    <p:cond delay="0"/>
                                  </p:stCondLst>
                                  <p:childTnLst>
                                    <p:set>
                                      <p:cBhvr>
                                        <p:cTn id="180" dur="1" fill="hold">
                                          <p:stCondLst>
                                            <p:cond delay="0"/>
                                          </p:stCondLst>
                                        </p:cTn>
                                        <p:tgtEl>
                                          <p:spTgt spid="228428"/>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228420"/>
                                        </p:tgtEl>
                                        <p:attrNameLst>
                                          <p:attrName>style.visibility</p:attrName>
                                        </p:attrNameLst>
                                      </p:cBhvr>
                                      <p:to>
                                        <p:strVal val="visible"/>
                                      </p:to>
                                    </p:set>
                                  </p:childTnLst>
                                </p:cTn>
                              </p:par>
                              <p:par>
                                <p:cTn id="183" presetID="1" presetClass="entr" presetSubtype="0" fill="hold" grpId="0" nodeType="withEffect">
                                  <p:stCondLst>
                                    <p:cond delay="0"/>
                                  </p:stCondLst>
                                  <p:childTnLst>
                                    <p:set>
                                      <p:cBhvr>
                                        <p:cTn id="184" dur="1" fill="hold">
                                          <p:stCondLst>
                                            <p:cond delay="0"/>
                                          </p:stCondLst>
                                        </p:cTn>
                                        <p:tgtEl>
                                          <p:spTgt spid="228431"/>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228432"/>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228433"/>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228434"/>
                                        </p:tgtEl>
                                        <p:attrNameLst>
                                          <p:attrName>style.visibility</p:attrName>
                                        </p:attrNameLst>
                                      </p:cBhvr>
                                      <p:to>
                                        <p:strVal val="visible"/>
                                      </p:to>
                                    </p:set>
                                  </p:childTnLst>
                                </p:cTn>
                              </p:par>
                              <p:par>
                                <p:cTn id="191" presetID="1" presetClass="entr" presetSubtype="0" fill="hold" grpId="0" nodeType="withEffect">
                                  <p:stCondLst>
                                    <p:cond delay="0"/>
                                  </p:stCondLst>
                                  <p:childTnLst>
                                    <p:set>
                                      <p:cBhvr>
                                        <p:cTn id="192" dur="1" fill="hold">
                                          <p:stCondLst>
                                            <p:cond delay="0"/>
                                          </p:stCondLst>
                                        </p:cTn>
                                        <p:tgtEl>
                                          <p:spTgt spid="228435"/>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228436"/>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228437"/>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228438"/>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228418"/>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228361"/>
                                        </p:tgtEl>
                                        <p:attrNameLst>
                                          <p:attrName>style.visibility</p:attrName>
                                        </p:attrNameLst>
                                      </p:cBhvr>
                                      <p:to>
                                        <p:strVal val="visible"/>
                                      </p:to>
                                    </p:set>
                                  </p:childTnLst>
                                </p:cTn>
                              </p:par>
                              <p:par>
                                <p:cTn id="203" presetID="1" presetClass="entr" presetSubtype="0" fill="hold" nodeType="withEffect">
                                  <p:stCondLst>
                                    <p:cond delay="0"/>
                                  </p:stCondLst>
                                  <p:childTnLst>
                                    <p:set>
                                      <p:cBhvr>
                                        <p:cTn id="204" dur="1" fill="hold">
                                          <p:stCondLst>
                                            <p:cond delay="0"/>
                                          </p:stCondLst>
                                        </p:cTn>
                                        <p:tgtEl>
                                          <p:spTgt spid="548914"/>
                                        </p:tgtEl>
                                        <p:attrNameLst>
                                          <p:attrName>style.visibility</p:attrName>
                                        </p:attrNameLst>
                                      </p:cBhvr>
                                      <p:to>
                                        <p:strVal val="visible"/>
                                      </p:to>
                                    </p:set>
                                  </p:childTnLst>
                                </p:cTn>
                              </p:par>
                              <p:par>
                                <p:cTn id="205" presetID="1" presetClass="entr" presetSubtype="0" fill="hold" nodeType="withEffect">
                                  <p:stCondLst>
                                    <p:cond delay="0"/>
                                  </p:stCondLst>
                                  <p:childTnLst>
                                    <p:set>
                                      <p:cBhvr>
                                        <p:cTn id="206" dur="1" fill="hold">
                                          <p:stCondLst>
                                            <p:cond delay="0"/>
                                          </p:stCondLst>
                                        </p:cTn>
                                        <p:tgtEl>
                                          <p:spTgt spid="228462"/>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228362"/>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228429"/>
                                        </p:tgtEl>
                                        <p:attrNameLst>
                                          <p:attrName>style.visibility</p:attrName>
                                        </p:attrNameLst>
                                      </p:cBhvr>
                                      <p:to>
                                        <p:strVal val="visible"/>
                                      </p:to>
                                    </p:set>
                                  </p:childTnLst>
                                </p:cTn>
                              </p:par>
                              <p:par>
                                <p:cTn id="211" presetID="1" presetClass="entr" presetSubtype="0" fill="hold" nodeType="withEffect">
                                  <p:stCondLst>
                                    <p:cond delay="0"/>
                                  </p:stCondLst>
                                  <p:childTnLst>
                                    <p:set>
                                      <p:cBhvr>
                                        <p:cTn id="212" dur="1" fill="hold">
                                          <p:stCondLst>
                                            <p:cond delay="0"/>
                                          </p:stCondLst>
                                        </p:cTn>
                                        <p:tgtEl>
                                          <p:spTgt spid="228416"/>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228389"/>
                                        </p:tgtEl>
                                        <p:attrNameLst>
                                          <p:attrName>style.visibility</p:attrName>
                                        </p:attrNameLst>
                                      </p:cBhvr>
                                      <p:to>
                                        <p:strVal val="visible"/>
                                      </p:to>
                                    </p:set>
                                  </p:childTnLst>
                                </p:cTn>
                              </p:par>
                              <p:par>
                                <p:cTn id="215" presetID="1" presetClass="entr" presetSubtype="0" fill="hold" nodeType="withEffect">
                                  <p:stCondLst>
                                    <p:cond delay="0"/>
                                  </p:stCondLst>
                                  <p:childTnLst>
                                    <p:set>
                                      <p:cBhvr>
                                        <p:cTn id="216" dur="1" fill="hold">
                                          <p:stCondLst>
                                            <p:cond delay="0"/>
                                          </p:stCondLst>
                                        </p:cTn>
                                        <p:tgtEl>
                                          <p:spTgt spid="228430"/>
                                        </p:tgtEl>
                                        <p:attrNameLst>
                                          <p:attrName>style.visibility</p:attrName>
                                        </p:attrNameLst>
                                      </p:cBhvr>
                                      <p:to>
                                        <p:strVal val="visible"/>
                                      </p:to>
                                    </p:set>
                                  </p:childTnLst>
                                </p:cTn>
                              </p:par>
                              <p:par>
                                <p:cTn id="217" presetID="22" presetClass="entr" presetSubtype="4" fill="hold" grpId="0" nodeType="withEffect">
                                  <p:stCondLst>
                                    <p:cond delay="0"/>
                                  </p:stCondLst>
                                  <p:childTnLst>
                                    <p:set>
                                      <p:cBhvr>
                                        <p:cTn id="218" dur="1" fill="hold">
                                          <p:stCondLst>
                                            <p:cond delay="0"/>
                                          </p:stCondLst>
                                        </p:cTn>
                                        <p:tgtEl>
                                          <p:spTgt spid="228356"/>
                                        </p:tgtEl>
                                        <p:attrNameLst>
                                          <p:attrName>style.visibility</p:attrName>
                                        </p:attrNameLst>
                                      </p:cBhvr>
                                      <p:to>
                                        <p:strVal val="visible"/>
                                      </p:to>
                                    </p:set>
                                    <p:animEffect transition="in" filter="wipe(down)">
                                      <p:cBhvr>
                                        <p:cTn id="219" dur="500"/>
                                        <p:tgtEl>
                                          <p:spTgt spid="228356"/>
                                        </p:tgtEl>
                                      </p:cBhvr>
                                    </p:animEffect>
                                  </p:childTnLst>
                                </p:cTn>
                              </p:par>
                            </p:childTnLst>
                          </p:cTn>
                        </p:par>
                      </p:childTnLst>
                    </p:cTn>
                  </p:par>
                  <p:par>
                    <p:cTn id="220" fill="hold">
                      <p:stCondLst>
                        <p:cond delay="indefinite"/>
                      </p:stCondLst>
                      <p:childTnLst>
                        <p:par>
                          <p:cTn id="221" fill="hold">
                            <p:stCondLst>
                              <p:cond delay="0"/>
                            </p:stCondLst>
                            <p:childTnLst>
                              <p:par>
                                <p:cTn id="222" presetID="1" presetClass="entr" presetSubtype="0" fill="hold" grpId="0" nodeType="clickEffect">
                                  <p:stCondLst>
                                    <p:cond delay="0"/>
                                  </p:stCondLst>
                                  <p:childTnLst>
                                    <p:set>
                                      <p:cBhvr>
                                        <p:cTn id="223" dur="1" fill="hold">
                                          <p:stCondLst>
                                            <p:cond delay="0"/>
                                          </p:stCondLst>
                                        </p:cTn>
                                        <p:tgtEl>
                                          <p:spTgt spid="228475"/>
                                        </p:tgtEl>
                                        <p:attrNameLst>
                                          <p:attrName>style.visibility</p:attrName>
                                        </p:attrNameLst>
                                      </p:cBhvr>
                                      <p:to>
                                        <p:strVal val="visible"/>
                                      </p:to>
                                    </p:set>
                                  </p:childTnLst>
                                </p:cTn>
                              </p:par>
                              <p:par>
                                <p:cTn id="224" presetID="1" presetClass="entr" presetSubtype="0" fill="hold" nodeType="withEffect">
                                  <p:stCondLst>
                                    <p:cond delay="0"/>
                                  </p:stCondLst>
                                  <p:childTnLst>
                                    <p:set>
                                      <p:cBhvr>
                                        <p:cTn id="225" dur="1" fill="hold">
                                          <p:stCondLst>
                                            <p:cond delay="0"/>
                                          </p:stCondLst>
                                        </p:cTn>
                                        <p:tgtEl>
                                          <p:spTgt spid="6"/>
                                        </p:tgtEl>
                                        <p:attrNameLst>
                                          <p:attrName>style.visibility</p:attrName>
                                        </p:attrNameLst>
                                      </p:cBhvr>
                                      <p:to>
                                        <p:strVal val="visible"/>
                                      </p:to>
                                    </p:set>
                                  </p:childTnLst>
                                </p:cTn>
                              </p:par>
                              <p:par>
                                <p:cTn id="226" presetID="1" presetClass="entr" presetSubtype="0" fill="hold" grpId="0" nodeType="withEffect">
                                  <p:stCondLst>
                                    <p:cond delay="0"/>
                                  </p:stCondLst>
                                  <p:childTnLst>
                                    <p:set>
                                      <p:cBhvr>
                                        <p:cTn id="227" dur="1" fill="hold">
                                          <p:stCondLst>
                                            <p:cond delay="0"/>
                                          </p:stCondLst>
                                        </p:cTn>
                                        <p:tgtEl>
                                          <p:spTgt spid="228476"/>
                                        </p:tgtEl>
                                        <p:attrNameLst>
                                          <p:attrName>style.visibility</p:attrName>
                                        </p:attrNameLst>
                                      </p:cBhvr>
                                      <p:to>
                                        <p:strVal val="visible"/>
                                      </p:to>
                                    </p:set>
                                  </p:childTnLst>
                                </p:cTn>
                              </p:par>
                              <p:par>
                                <p:cTn id="228" presetID="1" presetClass="entr" presetSubtype="0" fill="hold" grpId="0" nodeType="withEffect">
                                  <p:stCondLst>
                                    <p:cond delay="0"/>
                                  </p:stCondLst>
                                  <p:childTnLst>
                                    <p:set>
                                      <p:cBhvr>
                                        <p:cTn id="229" dur="1" fill="hold">
                                          <p:stCondLst>
                                            <p:cond delay="0"/>
                                          </p:stCondLst>
                                        </p:cTn>
                                        <p:tgtEl>
                                          <p:spTgt spid="228450"/>
                                        </p:tgtEl>
                                        <p:attrNameLst>
                                          <p:attrName>style.visibility</p:attrName>
                                        </p:attrNameLst>
                                      </p:cBhvr>
                                      <p:to>
                                        <p:strVal val="visible"/>
                                      </p:to>
                                    </p:set>
                                  </p:childTnLst>
                                </p:cTn>
                              </p:par>
                              <p:par>
                                <p:cTn id="230" presetID="1" presetClass="entr" presetSubtype="0" fill="hold" nodeType="withEffect">
                                  <p:stCondLst>
                                    <p:cond delay="0"/>
                                  </p:stCondLst>
                                  <p:childTnLst>
                                    <p:set>
                                      <p:cBhvr>
                                        <p:cTn id="231" dur="1" fill="hold">
                                          <p:stCondLst>
                                            <p:cond delay="0"/>
                                          </p:stCondLst>
                                        </p:cTn>
                                        <p:tgtEl>
                                          <p:spTgt spid="5"/>
                                        </p:tgtEl>
                                        <p:attrNameLst>
                                          <p:attrName>style.visibility</p:attrName>
                                        </p:attrNameLst>
                                      </p:cBhvr>
                                      <p:to>
                                        <p:strVal val="visible"/>
                                      </p:to>
                                    </p:set>
                                  </p:childTnLst>
                                </p:cTn>
                              </p:par>
                              <p:par>
                                <p:cTn id="232" presetID="1" presetClass="entr" presetSubtype="0" fill="hold" grpId="0" nodeType="withEffect">
                                  <p:stCondLst>
                                    <p:cond delay="0"/>
                                  </p:stCondLst>
                                  <p:childTnLst>
                                    <p:set>
                                      <p:cBhvr>
                                        <p:cTn id="233" dur="1" fill="hold">
                                          <p:stCondLst>
                                            <p:cond delay="0"/>
                                          </p:stCondLst>
                                        </p:cTn>
                                        <p:tgtEl>
                                          <p:spTgt spid="228474"/>
                                        </p:tgtEl>
                                        <p:attrNameLst>
                                          <p:attrName>style.visibility</p:attrName>
                                        </p:attrNameLst>
                                      </p:cBhvr>
                                      <p:to>
                                        <p:strVal val="visible"/>
                                      </p:to>
                                    </p:set>
                                  </p:childTnLst>
                                </p:cTn>
                              </p:par>
                              <p:par>
                                <p:cTn id="234" presetID="1" presetClass="entr" presetSubtype="0" fill="hold" nodeType="withEffect">
                                  <p:stCondLst>
                                    <p:cond delay="0"/>
                                  </p:stCondLst>
                                  <p:childTnLst>
                                    <p:set>
                                      <p:cBhvr>
                                        <p:cTn id="235" dur="1" fill="hold">
                                          <p:stCondLst>
                                            <p:cond delay="0"/>
                                          </p:stCondLst>
                                        </p:cTn>
                                        <p:tgtEl>
                                          <p:spTgt spid="3"/>
                                        </p:tgtEl>
                                        <p:attrNameLst>
                                          <p:attrName>style.visibility</p:attrName>
                                        </p:attrNameLst>
                                      </p:cBhvr>
                                      <p:to>
                                        <p:strVal val="visible"/>
                                      </p:to>
                                    </p:set>
                                  </p:childTnLst>
                                </p:cTn>
                              </p:par>
                            </p:childTnLst>
                          </p:cTn>
                        </p:par>
                      </p:childTnLst>
                    </p:cTn>
                  </p:par>
                  <p:par>
                    <p:cTn id="236" fill="hold">
                      <p:stCondLst>
                        <p:cond delay="indefinite"/>
                      </p:stCondLst>
                      <p:childTnLst>
                        <p:par>
                          <p:cTn id="237" fill="hold">
                            <p:stCondLst>
                              <p:cond delay="0"/>
                            </p:stCondLst>
                            <p:childTnLst>
                              <p:par>
                                <p:cTn id="238" presetID="1" presetClass="entr" presetSubtype="0" fill="hold" nodeType="clickEffect">
                                  <p:stCondLst>
                                    <p:cond delay="0"/>
                                  </p:stCondLst>
                                  <p:childTnLst>
                                    <p:set>
                                      <p:cBhvr>
                                        <p:cTn id="239" dur="1" fill="hold">
                                          <p:stCondLst>
                                            <p:cond delay="0"/>
                                          </p:stCondLst>
                                        </p:cTn>
                                        <p:tgtEl>
                                          <p:spTgt spid="228494"/>
                                        </p:tgtEl>
                                        <p:attrNameLst>
                                          <p:attrName>style.visibility</p:attrName>
                                        </p:attrNameLst>
                                      </p:cBhvr>
                                      <p:to>
                                        <p:strVal val="visible"/>
                                      </p:to>
                                    </p:set>
                                  </p:childTnLst>
                                </p:cTn>
                              </p:par>
                              <p:par>
                                <p:cTn id="240" presetID="1" presetClass="entr" presetSubtype="0" fill="hold" grpId="0" nodeType="withEffect">
                                  <p:stCondLst>
                                    <p:cond delay="0"/>
                                  </p:stCondLst>
                                  <p:childTnLst>
                                    <p:set>
                                      <p:cBhvr>
                                        <p:cTn id="241" dur="1" fill="hold">
                                          <p:stCondLst>
                                            <p:cond delay="0"/>
                                          </p:stCondLst>
                                        </p:cTn>
                                        <p:tgtEl>
                                          <p:spTgt spid="228464"/>
                                        </p:tgtEl>
                                        <p:attrNameLst>
                                          <p:attrName>style.visibility</p:attrName>
                                        </p:attrNameLst>
                                      </p:cBhvr>
                                      <p:to>
                                        <p:strVal val="visible"/>
                                      </p:to>
                                    </p:set>
                                  </p:childTnLst>
                                </p:cTn>
                              </p:par>
                              <p:par>
                                <p:cTn id="242" presetID="1" presetClass="entr" presetSubtype="0" fill="hold" grpId="0" nodeType="withEffect">
                                  <p:stCondLst>
                                    <p:cond delay="0"/>
                                  </p:stCondLst>
                                  <p:childTnLst>
                                    <p:set>
                                      <p:cBhvr>
                                        <p:cTn id="243" dur="1" fill="hold">
                                          <p:stCondLst>
                                            <p:cond delay="0"/>
                                          </p:stCondLst>
                                        </p:cTn>
                                        <p:tgtEl>
                                          <p:spTgt spid="228486"/>
                                        </p:tgtEl>
                                        <p:attrNameLst>
                                          <p:attrName>style.visibility</p:attrName>
                                        </p:attrNameLst>
                                      </p:cBhvr>
                                      <p:to>
                                        <p:strVal val="visible"/>
                                      </p:to>
                                    </p:set>
                                  </p:childTnLst>
                                </p:cTn>
                              </p:par>
                              <p:par>
                                <p:cTn id="244" presetID="1" presetClass="entr" presetSubtype="0" fill="hold" nodeType="withEffect">
                                  <p:stCondLst>
                                    <p:cond delay="0"/>
                                  </p:stCondLst>
                                  <p:childTnLst>
                                    <p:set>
                                      <p:cBhvr>
                                        <p:cTn id="245" dur="1" fill="hold">
                                          <p:stCondLst>
                                            <p:cond delay="0"/>
                                          </p:stCondLst>
                                        </p:cTn>
                                        <p:tgtEl>
                                          <p:spTgt spid="3"/>
                                        </p:tgtEl>
                                        <p:attrNameLst>
                                          <p:attrName>style.visibility</p:attrName>
                                        </p:attrNameLst>
                                      </p:cBhvr>
                                      <p:to>
                                        <p:strVal val="visible"/>
                                      </p:to>
                                    </p:set>
                                  </p:childTnLst>
                                </p:cTn>
                              </p:par>
                              <p:par>
                                <p:cTn id="246" presetID="1" presetClass="entr" presetSubtype="0" fill="hold" grpId="0" nodeType="withEffect">
                                  <p:stCondLst>
                                    <p:cond delay="0"/>
                                  </p:stCondLst>
                                  <p:childTnLst>
                                    <p:set>
                                      <p:cBhvr>
                                        <p:cTn id="247" dur="1" fill="hold">
                                          <p:stCondLst>
                                            <p:cond delay="0"/>
                                          </p:stCondLst>
                                        </p:cTn>
                                        <p:tgtEl>
                                          <p:spTgt spid="228466"/>
                                        </p:tgtEl>
                                        <p:attrNameLst>
                                          <p:attrName>style.visibility</p:attrName>
                                        </p:attrNameLst>
                                      </p:cBhvr>
                                      <p:to>
                                        <p:strVal val="visible"/>
                                      </p:to>
                                    </p:set>
                                  </p:childTnLst>
                                </p:cTn>
                              </p:par>
                              <p:par>
                                <p:cTn id="248" presetID="1" presetClass="entr" presetSubtype="0" fill="hold" grpId="0" nodeType="withEffect">
                                  <p:stCondLst>
                                    <p:cond delay="0"/>
                                  </p:stCondLst>
                                  <p:childTnLst>
                                    <p:set>
                                      <p:cBhvr>
                                        <p:cTn id="249" dur="1" fill="hold">
                                          <p:stCondLst>
                                            <p:cond delay="0"/>
                                          </p:stCondLst>
                                        </p:cTn>
                                        <p:tgtEl>
                                          <p:spTgt spid="228487"/>
                                        </p:tgtEl>
                                        <p:attrNameLst>
                                          <p:attrName>style.visibility</p:attrName>
                                        </p:attrNameLst>
                                      </p:cBhvr>
                                      <p:to>
                                        <p:strVal val="visible"/>
                                      </p:to>
                                    </p:set>
                                  </p:childTnLst>
                                </p:cTn>
                              </p:par>
                              <p:par>
                                <p:cTn id="250" presetID="1" presetClass="entr" presetSubtype="0" fill="hold" grpId="1" nodeType="withEffect">
                                  <p:stCondLst>
                                    <p:cond delay="0"/>
                                  </p:stCondLst>
                                  <p:childTnLst>
                                    <p:set>
                                      <p:cBhvr>
                                        <p:cTn id="251" dur="1" fill="hold">
                                          <p:stCondLst>
                                            <p:cond delay="0"/>
                                          </p:stCondLst>
                                        </p:cTn>
                                        <p:tgtEl>
                                          <p:spTgt spid="228466"/>
                                        </p:tgtEl>
                                        <p:attrNameLst>
                                          <p:attrName>style.visibility</p:attrName>
                                        </p:attrNameLst>
                                      </p:cBhvr>
                                      <p:to>
                                        <p:strVal val="visible"/>
                                      </p:to>
                                    </p:set>
                                  </p:childTnLst>
                                </p:cTn>
                              </p:par>
                              <p:par>
                                <p:cTn id="252" presetID="1" presetClass="entr" presetSubtype="0" fill="hold" grpId="0" nodeType="withEffect">
                                  <p:stCondLst>
                                    <p:cond delay="0"/>
                                  </p:stCondLst>
                                  <p:childTnLst>
                                    <p:set>
                                      <p:cBhvr>
                                        <p:cTn id="253" dur="1" fill="hold">
                                          <p:stCondLst>
                                            <p:cond delay="0"/>
                                          </p:stCondLst>
                                        </p:cTn>
                                        <p:tgtEl>
                                          <p:spTgt spid="228463"/>
                                        </p:tgtEl>
                                        <p:attrNameLst>
                                          <p:attrName>style.visibility</p:attrName>
                                        </p:attrNameLst>
                                      </p:cBhvr>
                                      <p:to>
                                        <p:strVal val="visible"/>
                                      </p:to>
                                    </p:set>
                                  </p:childTnLst>
                                </p:cTn>
                              </p:par>
                              <p:par>
                                <p:cTn id="254" presetID="1" presetClass="entr" presetSubtype="0" fill="hold" grpId="0" nodeType="withEffect">
                                  <p:stCondLst>
                                    <p:cond delay="0"/>
                                  </p:stCondLst>
                                  <p:childTnLst>
                                    <p:set>
                                      <p:cBhvr>
                                        <p:cTn id="255" dur="1" fill="hold">
                                          <p:stCondLst>
                                            <p:cond delay="0"/>
                                          </p:stCondLst>
                                        </p:cTn>
                                        <p:tgtEl>
                                          <p:spTgt spid="228468"/>
                                        </p:tgtEl>
                                        <p:attrNameLst>
                                          <p:attrName>style.visibility</p:attrName>
                                        </p:attrNameLst>
                                      </p:cBhvr>
                                      <p:to>
                                        <p:strVal val="visible"/>
                                      </p:to>
                                    </p:set>
                                  </p:childTnLst>
                                </p:cTn>
                              </p:par>
                              <p:par>
                                <p:cTn id="256" presetID="1" presetClass="entr" presetSubtype="0" fill="hold" grpId="0" nodeType="withEffect">
                                  <p:stCondLst>
                                    <p:cond delay="0"/>
                                  </p:stCondLst>
                                  <p:childTnLst>
                                    <p:set>
                                      <p:cBhvr>
                                        <p:cTn id="257" dur="1" fill="hold">
                                          <p:stCondLst>
                                            <p:cond delay="0"/>
                                          </p:stCondLst>
                                        </p:cTn>
                                        <p:tgtEl>
                                          <p:spTgt spid="228488"/>
                                        </p:tgtEl>
                                        <p:attrNameLst>
                                          <p:attrName>style.visibility</p:attrName>
                                        </p:attrNameLst>
                                      </p:cBhvr>
                                      <p:to>
                                        <p:strVal val="visible"/>
                                      </p:to>
                                    </p:set>
                                  </p:childTnLst>
                                </p:cTn>
                              </p:par>
                              <p:par>
                                <p:cTn id="258" presetID="1" presetClass="entr" presetSubtype="0" fill="hold" grpId="0" nodeType="withEffect">
                                  <p:stCondLst>
                                    <p:cond delay="0"/>
                                  </p:stCondLst>
                                  <p:childTnLst>
                                    <p:set>
                                      <p:cBhvr>
                                        <p:cTn id="259" dur="1" fill="hold">
                                          <p:stCondLst>
                                            <p:cond delay="0"/>
                                          </p:stCondLst>
                                        </p:cTn>
                                        <p:tgtEl>
                                          <p:spTgt spid="228451"/>
                                        </p:tgtEl>
                                        <p:attrNameLst>
                                          <p:attrName>style.visibility</p:attrName>
                                        </p:attrNameLst>
                                      </p:cBhvr>
                                      <p:to>
                                        <p:strVal val="visible"/>
                                      </p:to>
                                    </p:set>
                                  </p:childTnLst>
                                </p:cTn>
                              </p:par>
                              <p:par>
                                <p:cTn id="260" presetID="1" presetClass="entr" presetSubtype="0" fill="hold" nodeType="withEffect">
                                  <p:stCondLst>
                                    <p:cond delay="0"/>
                                  </p:stCondLst>
                                  <p:childTnLst>
                                    <p:set>
                                      <p:cBhvr>
                                        <p:cTn id="261" dur="1" fill="hold">
                                          <p:stCondLst>
                                            <p:cond delay="0"/>
                                          </p:stCondLst>
                                        </p:cTn>
                                        <p:tgtEl>
                                          <p:spTgt spid="4"/>
                                        </p:tgtEl>
                                        <p:attrNameLst>
                                          <p:attrName>style.visibility</p:attrName>
                                        </p:attrNameLst>
                                      </p:cBhvr>
                                      <p:to>
                                        <p:strVal val="visible"/>
                                      </p:to>
                                    </p:set>
                                  </p:childTnLst>
                                </p:cTn>
                              </p:par>
                              <p:par>
                                <p:cTn id="262" presetID="1" presetClass="entr" presetSubtype="0" fill="hold" grpId="0" nodeType="withEffect">
                                  <p:stCondLst>
                                    <p:cond delay="0"/>
                                  </p:stCondLst>
                                  <p:childTnLst>
                                    <p:set>
                                      <p:cBhvr>
                                        <p:cTn id="263" dur="1" fill="hold">
                                          <p:stCondLst>
                                            <p:cond delay="0"/>
                                          </p:stCondLst>
                                        </p:cTn>
                                        <p:tgtEl>
                                          <p:spTgt spid="228367"/>
                                        </p:tgtEl>
                                        <p:attrNameLst>
                                          <p:attrName>style.visibility</p:attrName>
                                        </p:attrNameLst>
                                      </p:cBhvr>
                                      <p:to>
                                        <p:strVal val="visible"/>
                                      </p:to>
                                    </p:set>
                                  </p:childTnLst>
                                </p:cTn>
                              </p:par>
                              <p:par>
                                <p:cTn id="264" presetID="1" presetClass="entr" presetSubtype="0" fill="hold" grpId="0" nodeType="withEffect">
                                  <p:stCondLst>
                                    <p:cond delay="0"/>
                                  </p:stCondLst>
                                  <p:childTnLst>
                                    <p:set>
                                      <p:cBhvr>
                                        <p:cTn id="265" dur="1" fill="hold">
                                          <p:stCondLst>
                                            <p:cond delay="0"/>
                                          </p:stCondLst>
                                        </p:cTn>
                                        <p:tgtEl>
                                          <p:spTgt spid="228368"/>
                                        </p:tgtEl>
                                        <p:attrNameLst>
                                          <p:attrName>style.visibility</p:attrName>
                                        </p:attrNameLst>
                                      </p:cBhvr>
                                      <p:to>
                                        <p:strVal val="visible"/>
                                      </p:to>
                                    </p:set>
                                  </p:childTnLst>
                                </p:cTn>
                              </p:par>
                              <p:par>
                                <p:cTn id="266" presetID="1" presetClass="entr" presetSubtype="0" fill="hold" grpId="0" nodeType="withEffect">
                                  <p:stCondLst>
                                    <p:cond delay="0"/>
                                  </p:stCondLst>
                                  <p:childTnLst>
                                    <p:set>
                                      <p:cBhvr>
                                        <p:cTn id="267" dur="1" fill="hold">
                                          <p:stCondLst>
                                            <p:cond delay="0"/>
                                          </p:stCondLst>
                                        </p:cTn>
                                        <p:tgtEl>
                                          <p:spTgt spid="228467"/>
                                        </p:tgtEl>
                                        <p:attrNameLst>
                                          <p:attrName>style.visibility</p:attrName>
                                        </p:attrNameLst>
                                      </p:cBhvr>
                                      <p:to>
                                        <p:strVal val="visible"/>
                                      </p:to>
                                    </p:set>
                                  </p:childTnLst>
                                </p:cTn>
                              </p:par>
                              <p:par>
                                <p:cTn id="268" presetID="1" presetClass="entr" presetSubtype="0" fill="hold" grpId="1" nodeType="withEffect">
                                  <p:stCondLst>
                                    <p:cond delay="0"/>
                                  </p:stCondLst>
                                  <p:childTnLst>
                                    <p:set>
                                      <p:cBhvr>
                                        <p:cTn id="269" dur="1" fill="hold">
                                          <p:stCondLst>
                                            <p:cond delay="0"/>
                                          </p:stCondLst>
                                        </p:cTn>
                                        <p:tgtEl>
                                          <p:spTgt spid="228474"/>
                                        </p:tgtEl>
                                        <p:attrNameLst>
                                          <p:attrName>style.visibility</p:attrName>
                                        </p:attrNameLst>
                                      </p:cBhvr>
                                      <p:to>
                                        <p:strVal val="visible"/>
                                      </p:to>
                                    </p:set>
                                  </p:childTnLst>
                                </p:cTn>
                              </p:par>
                              <p:par>
                                <p:cTn id="270" presetID="1" presetClass="entr" presetSubtype="0" fill="hold" grpId="0" nodeType="withEffect">
                                  <p:stCondLst>
                                    <p:cond delay="0"/>
                                  </p:stCondLst>
                                  <p:childTnLst>
                                    <p:set>
                                      <p:cBhvr>
                                        <p:cTn id="271" dur="1" fill="hold">
                                          <p:stCondLst>
                                            <p:cond delay="0"/>
                                          </p:stCondLst>
                                        </p:cTn>
                                        <p:tgtEl>
                                          <p:spTgt spid="228357"/>
                                        </p:tgtEl>
                                        <p:attrNameLst>
                                          <p:attrName>style.visibility</p:attrName>
                                        </p:attrNameLst>
                                      </p:cBhvr>
                                      <p:to>
                                        <p:strVal val="visible"/>
                                      </p:to>
                                    </p:set>
                                  </p:childTnLst>
                                </p:cTn>
                              </p:par>
                              <p:par>
                                <p:cTn id="272" presetID="1" presetClass="entr" presetSubtype="0" fill="hold" grpId="0" nodeType="withEffect">
                                  <p:stCondLst>
                                    <p:cond delay="0"/>
                                  </p:stCondLst>
                                  <p:childTnLst>
                                    <p:set>
                                      <p:cBhvr>
                                        <p:cTn id="273" dur="1" fill="hold">
                                          <p:stCondLst>
                                            <p:cond delay="0"/>
                                          </p:stCondLst>
                                        </p:cTn>
                                        <p:tgtEl>
                                          <p:spTgt spid="228465"/>
                                        </p:tgtEl>
                                        <p:attrNameLst>
                                          <p:attrName>style.visibility</p:attrName>
                                        </p:attrNameLst>
                                      </p:cBhvr>
                                      <p:to>
                                        <p:strVal val="visible"/>
                                      </p:to>
                                    </p:set>
                                  </p:childTnLst>
                                </p:cTn>
                              </p:par>
                            </p:childTnLst>
                          </p:cTn>
                        </p:par>
                      </p:childTnLst>
                    </p:cTn>
                  </p:par>
                  <p:par>
                    <p:cTn id="274" fill="hold">
                      <p:stCondLst>
                        <p:cond delay="indefinite"/>
                      </p:stCondLst>
                      <p:childTnLst>
                        <p:par>
                          <p:cTn id="275" fill="hold">
                            <p:stCondLst>
                              <p:cond delay="0"/>
                            </p:stCondLst>
                            <p:childTnLst>
                              <p:par>
                                <p:cTn id="276" presetID="1" presetClass="entr" presetSubtype="0" fill="hold" grpId="0" nodeType="clickEffect">
                                  <p:stCondLst>
                                    <p:cond delay="0"/>
                                  </p:stCondLst>
                                  <p:childTnLst>
                                    <p:set>
                                      <p:cBhvr>
                                        <p:cTn id="277" dur="1" fill="hold">
                                          <p:stCondLst>
                                            <p:cond delay="0"/>
                                          </p:stCondLst>
                                        </p:cTn>
                                        <p:tgtEl>
                                          <p:spTgt spid="228469"/>
                                        </p:tgtEl>
                                        <p:attrNameLst>
                                          <p:attrName>style.visibility</p:attrName>
                                        </p:attrNameLst>
                                      </p:cBhvr>
                                      <p:to>
                                        <p:strVal val="visible"/>
                                      </p:to>
                                    </p:set>
                                  </p:childTnLst>
                                </p:cTn>
                              </p:par>
                              <p:par>
                                <p:cTn id="278" presetID="1" presetClass="entr" presetSubtype="0" fill="hold" grpId="0" nodeType="withEffect">
                                  <p:stCondLst>
                                    <p:cond delay="0"/>
                                  </p:stCondLst>
                                  <p:childTnLst>
                                    <p:set>
                                      <p:cBhvr>
                                        <p:cTn id="279" dur="1" fill="hold">
                                          <p:stCondLst>
                                            <p:cond delay="0"/>
                                          </p:stCondLst>
                                        </p:cTn>
                                        <p:tgtEl>
                                          <p:spTgt spid="228470"/>
                                        </p:tgtEl>
                                        <p:attrNameLst>
                                          <p:attrName>style.visibility</p:attrName>
                                        </p:attrNameLst>
                                      </p:cBhvr>
                                      <p:to>
                                        <p:strVal val="visible"/>
                                      </p:to>
                                    </p:set>
                                  </p:childTnLst>
                                </p:cTn>
                              </p:par>
                              <p:par>
                                <p:cTn id="280" presetID="1" presetClass="entr" presetSubtype="0" fill="hold" grpId="0" nodeType="withEffect">
                                  <p:stCondLst>
                                    <p:cond delay="0"/>
                                  </p:stCondLst>
                                  <p:childTnLst>
                                    <p:set>
                                      <p:cBhvr>
                                        <p:cTn id="281" dur="1" fill="hold">
                                          <p:stCondLst>
                                            <p:cond delay="0"/>
                                          </p:stCondLst>
                                        </p:cTn>
                                        <p:tgtEl>
                                          <p:spTgt spid="228472"/>
                                        </p:tgtEl>
                                        <p:attrNameLst>
                                          <p:attrName>style.visibility</p:attrName>
                                        </p:attrNameLst>
                                      </p:cBhvr>
                                      <p:to>
                                        <p:strVal val="visible"/>
                                      </p:to>
                                    </p:set>
                                  </p:childTnLst>
                                </p:cTn>
                              </p:par>
                              <p:par>
                                <p:cTn id="282" presetID="1" presetClass="entr" presetSubtype="0" fill="hold" grpId="0" nodeType="withEffect">
                                  <p:stCondLst>
                                    <p:cond delay="0"/>
                                  </p:stCondLst>
                                  <p:childTnLst>
                                    <p:set>
                                      <p:cBhvr>
                                        <p:cTn id="283" dur="1" fill="hold">
                                          <p:stCondLst>
                                            <p:cond delay="0"/>
                                          </p:stCondLst>
                                        </p:cTn>
                                        <p:tgtEl>
                                          <p:spTgt spid="228471"/>
                                        </p:tgtEl>
                                        <p:attrNameLst>
                                          <p:attrName>style.visibility</p:attrName>
                                        </p:attrNameLst>
                                      </p:cBhvr>
                                      <p:to>
                                        <p:strVal val="visible"/>
                                      </p:to>
                                    </p:set>
                                  </p:childTnLst>
                                </p:cTn>
                              </p:par>
                              <p:par>
                                <p:cTn id="284" presetID="1" presetClass="entr" presetSubtype="0" fill="hold" grpId="0" nodeType="withEffect">
                                  <p:stCondLst>
                                    <p:cond delay="0"/>
                                  </p:stCondLst>
                                  <p:childTnLst>
                                    <p:set>
                                      <p:cBhvr>
                                        <p:cTn id="285" dur="1" fill="hold">
                                          <p:stCondLst>
                                            <p:cond delay="0"/>
                                          </p:stCondLst>
                                        </p:cTn>
                                        <p:tgtEl>
                                          <p:spTgt spid="228489"/>
                                        </p:tgtEl>
                                        <p:attrNameLst>
                                          <p:attrName>style.visibility</p:attrName>
                                        </p:attrNameLst>
                                      </p:cBhvr>
                                      <p:to>
                                        <p:strVal val="visible"/>
                                      </p:to>
                                    </p:set>
                                  </p:childTnLst>
                                </p:cTn>
                              </p:par>
                              <p:par>
                                <p:cTn id="286" presetID="1" presetClass="entr" presetSubtype="0" fill="hold" grpId="0" nodeType="withEffect">
                                  <p:stCondLst>
                                    <p:cond delay="0"/>
                                  </p:stCondLst>
                                  <p:childTnLst>
                                    <p:set>
                                      <p:cBhvr>
                                        <p:cTn id="287" dur="1" fill="hold">
                                          <p:stCondLst>
                                            <p:cond delay="0"/>
                                          </p:stCondLst>
                                        </p:cTn>
                                        <p:tgtEl>
                                          <p:spTgt spid="2284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6" grpId="0" animBg="1"/>
      <p:bldP spid="228357" grpId="0" animBg="1"/>
      <p:bldP spid="228359" grpId="0"/>
      <p:bldP spid="228360" grpId="0"/>
      <p:bldP spid="228363" grpId="0"/>
      <p:bldP spid="228364" grpId="0"/>
      <p:bldP spid="228366" grpId="0"/>
      <p:bldP spid="228367" grpId="0" animBg="1"/>
      <p:bldP spid="228368" grpId="0" animBg="1"/>
      <p:bldP spid="228369" grpId="0" animBg="1"/>
      <p:bldP spid="228370" grpId="0" animBg="1"/>
      <p:bldP spid="228371" grpId="0" animBg="1"/>
      <p:bldP spid="228372" grpId="0"/>
      <p:bldP spid="228373" grpId="0" animBg="1"/>
      <p:bldP spid="228374" grpId="0"/>
      <p:bldP spid="228375" grpId="0"/>
      <p:bldP spid="228376" grpId="0"/>
      <p:bldP spid="228377" grpId="0" animBg="1"/>
      <p:bldP spid="228378" grpId="0"/>
      <p:bldP spid="228379" grpId="0"/>
      <p:bldP spid="228380" grpId="0" animBg="1"/>
      <p:bldP spid="228381" grpId="0"/>
      <p:bldP spid="228382" grpId="0"/>
      <p:bldP spid="228383" grpId="0" animBg="1"/>
      <p:bldP spid="228385" grpId="0"/>
      <p:bldP spid="228386" grpId="0" animBg="1"/>
      <p:bldP spid="228387" grpId="0"/>
      <p:bldP spid="228388" grpId="0"/>
      <p:bldP spid="228391" grpId="0" animBg="1"/>
      <p:bldP spid="228392" grpId="0" animBg="1"/>
      <p:bldP spid="228393" grpId="0" animBg="1"/>
      <p:bldP spid="228394" grpId="0" animBg="1"/>
      <p:bldP spid="228395" grpId="0" animBg="1"/>
      <p:bldP spid="228396" grpId="0"/>
      <p:bldP spid="228397" grpId="0"/>
      <p:bldP spid="228398" grpId="0"/>
      <p:bldP spid="228399" grpId="0"/>
      <p:bldP spid="228400" grpId="0"/>
      <p:bldP spid="228402" grpId="0"/>
      <p:bldP spid="228403" grpId="0" animBg="1"/>
      <p:bldP spid="228404" grpId="0" animBg="1"/>
      <p:bldP spid="228405" grpId="0" animBg="1"/>
      <p:bldP spid="228406" grpId="0" animBg="1"/>
      <p:bldP spid="228407" grpId="0" animBg="1"/>
      <p:bldP spid="228408" grpId="0" animBg="1"/>
      <p:bldP spid="228409" grpId="0" animBg="1"/>
      <p:bldP spid="228410" grpId="0" animBg="1"/>
      <p:bldP spid="228411" grpId="0" animBg="1"/>
      <p:bldP spid="228412" grpId="0" animBg="1"/>
      <p:bldP spid="228413" grpId="0" animBg="1"/>
      <p:bldP spid="228414" grpId="0" animBg="1"/>
      <p:bldP spid="228415" grpId="0" animBg="1"/>
      <p:bldP spid="228417" grpId="0" animBg="1"/>
      <p:bldP spid="228418" grpId="0" animBg="1"/>
      <p:bldP spid="228419" grpId="0" animBg="1"/>
      <p:bldP spid="228420" grpId="0" animBg="1"/>
      <p:bldP spid="228421" grpId="0" animBg="1"/>
      <p:bldP spid="228422" grpId="0" animBg="1"/>
      <p:bldP spid="228423" grpId="0" animBg="1"/>
      <p:bldP spid="228424" grpId="0" animBg="1"/>
      <p:bldP spid="228425" grpId="0" animBg="1"/>
      <p:bldP spid="228426" grpId="0" animBg="1"/>
      <p:bldP spid="228427" grpId="0" animBg="1"/>
      <p:bldP spid="228428" grpId="0" animBg="1"/>
      <p:bldP spid="228431" grpId="0" animBg="1"/>
      <p:bldP spid="228432" grpId="0" animBg="1"/>
      <p:bldP spid="228433" grpId="0" animBg="1"/>
      <p:bldP spid="228434" grpId="0" animBg="1"/>
      <p:bldP spid="228435" grpId="0" animBg="1"/>
      <p:bldP spid="228436" grpId="0" animBg="1"/>
      <p:bldP spid="228437" grpId="0" animBg="1"/>
      <p:bldP spid="228438" grpId="0" animBg="1"/>
      <p:bldP spid="228439" grpId="0" animBg="1"/>
      <p:bldP spid="228440" grpId="0" animBg="1"/>
      <p:bldP spid="228441" grpId="0" animBg="1"/>
      <p:bldP spid="228442" grpId="0" animBg="1"/>
      <p:bldP spid="228443" grpId="0" animBg="1"/>
      <p:bldP spid="228444" grpId="0" animBg="1"/>
      <p:bldP spid="228445" grpId="0" animBg="1"/>
      <p:bldP spid="228446" grpId="0" animBg="1"/>
      <p:bldP spid="228447" grpId="0" animBg="1"/>
      <p:bldP spid="228448" grpId="0" animBg="1"/>
      <p:bldP spid="228449" grpId="0" animBg="1"/>
      <p:bldP spid="228450" grpId="0"/>
      <p:bldP spid="228451" grpId="0"/>
      <p:bldP spid="228452" grpId="0" animBg="1"/>
      <p:bldP spid="228453" grpId="0" animBg="1"/>
      <p:bldP spid="228454" grpId="0" animBg="1"/>
      <p:bldP spid="228455" grpId="0" animBg="1"/>
      <p:bldP spid="228456" grpId="0" animBg="1"/>
      <p:bldP spid="228457" grpId="0" animBg="1"/>
      <p:bldP spid="228458" grpId="0" animBg="1"/>
      <p:bldP spid="228459" grpId="0" animBg="1"/>
      <p:bldP spid="228460" grpId="0" animBg="1"/>
      <p:bldP spid="228461" grpId="0" animBg="1"/>
      <p:bldP spid="228463" grpId="0" animBg="1"/>
      <p:bldP spid="228464" grpId="0" animBg="1"/>
      <p:bldP spid="228465" grpId="0" animBg="1"/>
      <p:bldP spid="228466" grpId="0" animBg="1"/>
      <p:bldP spid="228466" grpId="1" animBg="1"/>
      <p:bldP spid="228467" grpId="0" animBg="1"/>
      <p:bldP spid="228468" grpId="0" animBg="1"/>
      <p:bldP spid="228469" grpId="0" animBg="1"/>
      <p:bldP spid="228470" grpId="0" animBg="1"/>
      <p:bldP spid="228471" grpId="0" animBg="1"/>
      <p:bldP spid="228472" grpId="0" animBg="1"/>
      <p:bldP spid="228473" grpId="0" animBg="1"/>
      <p:bldP spid="228474" grpId="0" animBg="1"/>
      <p:bldP spid="228474" grpId="1" animBg="1"/>
      <p:bldP spid="228475" grpId="0" animBg="1"/>
      <p:bldP spid="228476" grpId="0" animBg="1"/>
      <p:bldP spid="228483" grpId="0"/>
      <p:bldP spid="228484" grpId="0"/>
      <p:bldP spid="228485" grpId="0"/>
      <p:bldP spid="228486" grpId="0"/>
      <p:bldP spid="228487" grpId="0"/>
      <p:bldP spid="228488" grpId="0"/>
      <p:bldP spid="228489" grpId="0"/>
      <p:bldP spid="228490" grpId="0"/>
      <p:bldP spid="228365" grpId="0"/>
      <p:bldP spid="22840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rrowheads="1"/>
          </p:cNvSpPr>
          <p:nvPr>
            <p:ph type="title" idx="4294967295"/>
          </p:nvPr>
        </p:nvSpPr>
        <p:spPr>
          <a:xfrm>
            <a:off x="900113" y="95250"/>
            <a:ext cx="8010525" cy="533400"/>
          </a:xfrm>
        </p:spPr>
        <p:txBody>
          <a:bodyPr/>
          <a:lstStyle/>
          <a:p>
            <a:pPr>
              <a:defRPr/>
            </a:pPr>
            <a:r>
              <a:rPr lang="en-US" sz="2400" dirty="0" smtClean="0"/>
              <a:t>The Monopolist’s Demand Curve and Marginal Revenue</a:t>
            </a:r>
            <a:endParaRPr lang="en-US" sz="2400" b="0" dirty="0" smtClean="0"/>
          </a:p>
        </p:txBody>
      </p:sp>
      <p:sp>
        <p:nvSpPr>
          <p:cNvPr id="87050" name="Rectangle 10"/>
          <p:cNvSpPr>
            <a:spLocks noChangeArrowheads="1"/>
          </p:cNvSpPr>
          <p:nvPr/>
        </p:nvSpPr>
        <p:spPr bwMode="auto">
          <a:xfrm>
            <a:off x="900113" y="908050"/>
            <a:ext cx="8010525" cy="5329238"/>
          </a:xfrm>
          <a:prstGeom prst="rect">
            <a:avLst/>
          </a:prstGeom>
          <a:noFill/>
          <a:ln w="9525" algn="ctr">
            <a:noFill/>
            <a:miter lim="800000"/>
            <a:headEnd/>
            <a:tailEnd type="none" w="med" len="lg"/>
          </a:ln>
        </p:spPr>
        <p:txBody>
          <a:bodyPr/>
          <a:lstStyle/>
          <a:p>
            <a:pPr marL="230188" indent="-230188">
              <a:buClr>
                <a:schemeClr val="tx1"/>
              </a:buClr>
              <a:buFont typeface="Wingdings" pitchFamily="2" charset="2"/>
              <a:buChar char="§"/>
            </a:pPr>
            <a:r>
              <a:rPr lang="en-US" sz="2400"/>
              <a:t>Due to the price effect of an increase in output, the marginal revenue curve of a firm with market power always lies below its demand curve. </a:t>
            </a:r>
          </a:p>
          <a:p>
            <a:pPr marL="230188" indent="-230188">
              <a:buClr>
                <a:schemeClr val="tx1"/>
              </a:buClr>
              <a:buFont typeface="Wingdings" pitchFamily="2" charset="2"/>
              <a:buChar char="§"/>
            </a:pPr>
            <a:endParaRPr lang="en-US" sz="2400"/>
          </a:p>
          <a:p>
            <a:pPr marL="230188" indent="-230188">
              <a:buClr>
                <a:schemeClr val="tx1"/>
              </a:buClr>
              <a:buFont typeface="Wingdings" pitchFamily="2" charset="2"/>
              <a:buChar char="§"/>
            </a:pPr>
            <a:r>
              <a:rPr lang="en-US" sz="2400"/>
              <a:t>So, a profit-maximizing monopolist chooses the output level at which marginal cost is equal to marginal revenue—</a:t>
            </a:r>
            <a:r>
              <a:rPr lang="en-US" sz="2400" i="1"/>
              <a:t>not </a:t>
            </a:r>
            <a:r>
              <a:rPr lang="en-US" sz="2400"/>
              <a:t>equal to price.</a:t>
            </a:r>
          </a:p>
          <a:p>
            <a:pPr marL="230188" indent="-230188">
              <a:buClr>
                <a:schemeClr val="tx1"/>
              </a:buClr>
              <a:buFont typeface="Wingdings" pitchFamily="2" charset="2"/>
              <a:buChar char="§"/>
            </a:pPr>
            <a:endParaRPr lang="en-US" sz="2400"/>
          </a:p>
          <a:p>
            <a:pPr marL="230188" indent="-230188">
              <a:buClr>
                <a:schemeClr val="tx1"/>
              </a:buClr>
              <a:buFont typeface="Wingdings" pitchFamily="2" charset="2"/>
              <a:buChar char="§"/>
            </a:pPr>
            <a:r>
              <a:rPr lang="en-US" sz="2400"/>
              <a:t>As a result, the monopolist produces less and sells its output at a higher price than a perfectly competitive industry would. It earns a profit in the short run and the long run.</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rrowheads="1"/>
          </p:cNvSpPr>
          <p:nvPr>
            <p:ph type="title" idx="4294967295"/>
          </p:nvPr>
        </p:nvSpPr>
        <p:spPr>
          <a:xfrm>
            <a:off x="900113" y="19050"/>
            <a:ext cx="8010525" cy="685800"/>
          </a:xfrm>
        </p:spPr>
        <p:txBody>
          <a:bodyPr/>
          <a:lstStyle/>
          <a:p>
            <a:pPr>
              <a:defRPr/>
            </a:pPr>
            <a:r>
              <a:rPr lang="en-US" sz="2400" dirty="0" smtClean="0"/>
              <a:t>The Monopolist’s Demand Curve and Marginal Revenue</a:t>
            </a:r>
            <a:endParaRPr lang="en-US" sz="2400" b="0" dirty="0" smtClean="0"/>
          </a:p>
        </p:txBody>
      </p:sp>
      <p:sp>
        <p:nvSpPr>
          <p:cNvPr id="90117" name="Rectangle 5"/>
          <p:cNvSpPr>
            <a:spLocks noChangeArrowheads="1"/>
          </p:cNvSpPr>
          <p:nvPr/>
        </p:nvSpPr>
        <p:spPr bwMode="auto">
          <a:xfrm>
            <a:off x="900113" y="969963"/>
            <a:ext cx="8010525" cy="5411787"/>
          </a:xfrm>
          <a:prstGeom prst="rect">
            <a:avLst/>
          </a:prstGeom>
          <a:noFill/>
          <a:ln w="9525" algn="ctr">
            <a:noFill/>
            <a:miter lim="800000"/>
            <a:headEnd/>
            <a:tailEnd type="none" w="med" len="lg"/>
          </a:ln>
        </p:spPr>
        <p:txBody>
          <a:bodyPr/>
          <a:lstStyle/>
          <a:p>
            <a:pPr marL="230188" indent="-230188">
              <a:lnSpc>
                <a:spcPct val="90000"/>
              </a:lnSpc>
              <a:buClr>
                <a:schemeClr val="tx1"/>
              </a:buClr>
              <a:buFont typeface="Arial" charset="0"/>
              <a:buChar char="•"/>
            </a:pPr>
            <a:r>
              <a:rPr lang="en-US" sz="2400"/>
              <a:t>To emphasize how the quantity and price effects offset each other for a firm with market power, notice the hill-shaped total revenue curve. </a:t>
            </a:r>
          </a:p>
          <a:p>
            <a:pPr marL="230188" indent="-230188">
              <a:lnSpc>
                <a:spcPct val="90000"/>
              </a:lnSpc>
              <a:buClr>
                <a:schemeClr val="tx1"/>
              </a:buClr>
              <a:buFont typeface="Arial" charset="0"/>
              <a:buChar char="•"/>
            </a:pPr>
            <a:endParaRPr lang="en-US" sz="2400"/>
          </a:p>
          <a:p>
            <a:pPr marL="230188" indent="-230188">
              <a:lnSpc>
                <a:spcPct val="90000"/>
              </a:lnSpc>
              <a:buClr>
                <a:schemeClr val="tx1"/>
              </a:buClr>
              <a:buFont typeface="Arial" charset="0"/>
              <a:buChar char="•"/>
            </a:pPr>
            <a:r>
              <a:rPr lang="en-US" sz="2400"/>
              <a:t>This reflects the fact that </a:t>
            </a:r>
            <a:r>
              <a:rPr lang="en-US" sz="2400" i="1"/>
              <a:t>at low levels of output, the quantity effect is stronger than the price effect: </a:t>
            </a:r>
            <a:r>
              <a:rPr lang="en-US" sz="2400"/>
              <a:t>as the monopolist sells more, it has to lower the price on only very few units, so the price effect is small. </a:t>
            </a:r>
          </a:p>
          <a:p>
            <a:pPr marL="230188" indent="-230188">
              <a:lnSpc>
                <a:spcPct val="90000"/>
              </a:lnSpc>
              <a:buClr>
                <a:schemeClr val="tx1"/>
              </a:buClr>
              <a:buFont typeface="Arial" charset="0"/>
              <a:buChar char="•"/>
            </a:pPr>
            <a:endParaRPr lang="en-US" sz="2400"/>
          </a:p>
          <a:p>
            <a:pPr marL="230188" indent="-230188">
              <a:lnSpc>
                <a:spcPct val="90000"/>
              </a:lnSpc>
              <a:buClr>
                <a:schemeClr val="tx1"/>
              </a:buClr>
              <a:buFont typeface="Arial" charset="0"/>
              <a:buChar char="•"/>
            </a:pPr>
            <a:r>
              <a:rPr lang="en-US" sz="2400"/>
              <a:t>As output rises beyond 10 diamonds, total revenue actually falls. </a:t>
            </a:r>
          </a:p>
          <a:p>
            <a:pPr marL="687388" lvl="1" indent="-230188">
              <a:lnSpc>
                <a:spcPct val="90000"/>
              </a:lnSpc>
              <a:buClr>
                <a:schemeClr val="tx1"/>
              </a:buClr>
              <a:buFont typeface="Wingdings" pitchFamily="2" charset="2"/>
              <a:buChar char="§"/>
            </a:pPr>
            <a:r>
              <a:rPr lang="en-US" sz="2200"/>
              <a:t>This reflects the fact that </a:t>
            </a:r>
            <a:r>
              <a:rPr lang="en-US" sz="2200" i="1"/>
              <a:t>at high levels of output, the price effect is stronger than the quantity effect: </a:t>
            </a:r>
            <a:r>
              <a:rPr lang="en-US" sz="2200"/>
              <a:t>as the monopolist sells more, it now has to lower the price on many units of output, making the price effect very large.</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1" name="Picture 3"/>
          <p:cNvPicPr>
            <a:picLocks noChangeAspect="1"/>
          </p:cNvPicPr>
          <p:nvPr/>
        </p:nvPicPr>
        <p:blipFill>
          <a:blip r:embed="rId3"/>
          <a:srcRect/>
          <a:stretch>
            <a:fillRect/>
          </a:stretch>
        </p:blipFill>
        <p:spPr bwMode="auto">
          <a:xfrm>
            <a:off x="66675" y="0"/>
            <a:ext cx="9077325" cy="6870700"/>
          </a:xfrm>
          <a:prstGeom prst="rect">
            <a:avLst/>
          </a:prstGeom>
          <a:noFill/>
          <a:ln w="9525">
            <a:noFill/>
            <a:miter lim="800000"/>
            <a:headEnd/>
            <a:tailEnd/>
          </a:ln>
        </p:spPr>
      </p:pic>
      <p:sp>
        <p:nvSpPr>
          <p:cNvPr id="5" name="Rectangle 2"/>
          <p:cNvSpPr>
            <a:spLocks noGrp="1" noRot="1" noChangeArrowheads="1"/>
          </p:cNvSpPr>
          <p:nvPr>
            <p:ph type="title" idx="4294967295"/>
          </p:nvPr>
        </p:nvSpPr>
        <p:spPr>
          <a:xfrm>
            <a:off x="363538" y="115888"/>
            <a:ext cx="8016875" cy="533400"/>
          </a:xfrm>
        </p:spPr>
        <p:txBody>
          <a:bodyPr/>
          <a:lstStyle/>
          <a:p>
            <a:pPr>
              <a:defRPr/>
            </a:pPr>
            <a:r>
              <a:rPr lang="en-US" sz="2800" smtClean="0">
                <a:effectLst>
                  <a:outerShdw blurRad="38100" dist="38100" dir="2700000" algn="tl">
                    <a:srgbClr val="C0C0C0"/>
                  </a:outerShdw>
                </a:effectLst>
              </a:rPr>
              <a:t>Monopolist’s Profit-Maximizing Output and Price</a:t>
            </a:r>
          </a:p>
        </p:txBody>
      </p:sp>
      <p:sp>
        <p:nvSpPr>
          <p:cNvPr id="6" name="Text Box 12"/>
          <p:cNvSpPr txBox="1">
            <a:spLocks noChangeArrowheads="1"/>
          </p:cNvSpPr>
          <p:nvPr/>
        </p:nvSpPr>
        <p:spPr bwMode="auto">
          <a:xfrm>
            <a:off x="584200" y="5703888"/>
            <a:ext cx="8047038" cy="914400"/>
          </a:xfrm>
          <a:prstGeom prst="rect">
            <a:avLst/>
          </a:prstGeom>
          <a:solidFill>
            <a:schemeClr val="accent5">
              <a:lumMod val="20000"/>
              <a:lumOff val="80000"/>
            </a:schemeClr>
          </a:solidFill>
          <a:ln w="12700" algn="ctr">
            <a:noFill/>
            <a:miter lim="800000"/>
            <a:headEnd/>
            <a:tailEnd type="none" w="sm" len="lg"/>
          </a:ln>
        </p:spPr>
        <p:txBody>
          <a:bodyPr/>
          <a:lstStyle/>
          <a:p>
            <a:pPr marL="1588" indent="-1588" algn="ctr">
              <a:lnSpc>
                <a:spcPct val="90000"/>
              </a:lnSpc>
              <a:defRPr/>
            </a:pPr>
            <a:r>
              <a:rPr lang="en-US" dirty="0">
                <a:solidFill>
                  <a:srgbClr val="0033CC"/>
                </a:solidFill>
              </a:rPr>
              <a:t>The price De Beers can charge per diamond is found by going to the point on the demand curve directly above point </a:t>
            </a:r>
            <a:r>
              <a:rPr lang="en-US" i="1" dirty="0">
                <a:solidFill>
                  <a:srgbClr val="0033CC"/>
                </a:solidFill>
              </a:rPr>
              <a:t>A</a:t>
            </a:r>
            <a:r>
              <a:rPr lang="en-US" dirty="0">
                <a:solidFill>
                  <a:srgbClr val="0033CC"/>
                </a:solidFill>
              </a:rPr>
              <a:t>, (point </a:t>
            </a:r>
            <a:r>
              <a:rPr lang="en-US" i="1" dirty="0">
                <a:solidFill>
                  <a:srgbClr val="0033CC"/>
                </a:solidFill>
              </a:rPr>
              <a:t>B </a:t>
            </a:r>
            <a:r>
              <a:rPr lang="en-US" dirty="0">
                <a:solidFill>
                  <a:srgbClr val="0033CC"/>
                </a:solidFill>
              </a:rPr>
              <a:t>here)—a price of $600 per diamond. It makes a profit of $400 × 8 = $3,200.</a:t>
            </a:r>
          </a:p>
        </p:txBody>
      </p:sp>
      <p:sp>
        <p:nvSpPr>
          <p:cNvPr id="7" name="Rectangle 69"/>
          <p:cNvSpPr>
            <a:spLocks noChangeArrowheads="1"/>
          </p:cNvSpPr>
          <p:nvPr/>
        </p:nvSpPr>
        <p:spPr bwMode="auto">
          <a:xfrm>
            <a:off x="4924425" y="903288"/>
            <a:ext cx="3810000" cy="1476375"/>
          </a:xfrm>
          <a:prstGeom prst="rect">
            <a:avLst/>
          </a:prstGeom>
          <a:solidFill>
            <a:schemeClr val="accent5">
              <a:lumMod val="20000"/>
              <a:lumOff val="80000"/>
            </a:schemeClr>
          </a:solidFill>
          <a:ln w="25400" algn="ctr">
            <a:noFill/>
            <a:prstDash val="sysDot"/>
            <a:miter lim="800000"/>
            <a:headEnd/>
            <a:tailEnd type="none" w="med" len="lg"/>
          </a:ln>
          <a:effectLst/>
        </p:spPr>
        <p:txBody>
          <a:bodyPr>
            <a:spAutoFit/>
          </a:bodyPr>
          <a:lstStyle/>
          <a:p>
            <a:pPr marL="1588" indent="-1588" algn="ctr">
              <a:defRPr/>
            </a:pPr>
            <a:r>
              <a:rPr lang="en-US" b="1" dirty="0">
                <a:solidFill>
                  <a:srgbClr val="0033CC"/>
                </a:solidFill>
              </a:rPr>
              <a:t>The optimal output rule</a:t>
            </a:r>
            <a:r>
              <a:rPr lang="en-US" dirty="0">
                <a:solidFill>
                  <a:srgbClr val="0033CC"/>
                </a:solidFill>
              </a:rPr>
              <a:t>: The profit maximizing level of output for the monopolist is at </a:t>
            </a:r>
            <a:r>
              <a:rPr lang="en-US" i="1" dirty="0">
                <a:solidFill>
                  <a:srgbClr val="0033CC"/>
                </a:solidFill>
              </a:rPr>
              <a:t>MR </a:t>
            </a:r>
            <a:r>
              <a:rPr lang="en-US" dirty="0">
                <a:solidFill>
                  <a:srgbClr val="0033CC"/>
                </a:solidFill>
              </a:rPr>
              <a:t>= </a:t>
            </a:r>
            <a:r>
              <a:rPr lang="en-US" i="1" dirty="0">
                <a:solidFill>
                  <a:srgbClr val="0033CC"/>
                </a:solidFill>
              </a:rPr>
              <a:t>MC</a:t>
            </a:r>
            <a:r>
              <a:rPr lang="en-US" dirty="0">
                <a:solidFill>
                  <a:srgbClr val="0033CC"/>
                </a:solidFill>
              </a:rPr>
              <a:t>, shown by point </a:t>
            </a:r>
            <a:r>
              <a:rPr lang="en-US" i="1" dirty="0">
                <a:solidFill>
                  <a:srgbClr val="0033CC"/>
                </a:solidFill>
              </a:rPr>
              <a:t>A</a:t>
            </a:r>
            <a:r>
              <a:rPr lang="en-US" dirty="0">
                <a:solidFill>
                  <a:srgbClr val="0033CC"/>
                </a:solidFill>
              </a:rPr>
              <a:t>, where the </a:t>
            </a:r>
            <a:r>
              <a:rPr lang="en-US" i="1" dirty="0">
                <a:solidFill>
                  <a:srgbClr val="0033CC"/>
                </a:solidFill>
              </a:rPr>
              <a:t>MC</a:t>
            </a:r>
            <a:r>
              <a:rPr lang="en-US" dirty="0">
                <a:solidFill>
                  <a:srgbClr val="0033CC"/>
                </a:solidFill>
              </a:rPr>
              <a:t> and </a:t>
            </a:r>
            <a:r>
              <a:rPr lang="en-US" i="1" dirty="0">
                <a:solidFill>
                  <a:srgbClr val="0033CC"/>
                </a:solidFill>
              </a:rPr>
              <a:t>MR</a:t>
            </a:r>
            <a:r>
              <a:rPr lang="en-US" dirty="0">
                <a:solidFill>
                  <a:srgbClr val="0033CC"/>
                </a:solidFill>
              </a:rPr>
              <a:t> curves cross at an output of 8 diamonds.</a:t>
            </a:r>
          </a:p>
        </p:txBody>
      </p:sp>
      <p:sp>
        <p:nvSpPr>
          <p:cNvPr id="8" name="Rectangle 5"/>
          <p:cNvSpPr>
            <a:spLocks noChangeArrowheads="1"/>
          </p:cNvSpPr>
          <p:nvPr/>
        </p:nvSpPr>
        <p:spPr bwMode="auto">
          <a:xfrm>
            <a:off x="1363663" y="2854325"/>
            <a:ext cx="2193925" cy="1011238"/>
          </a:xfrm>
          <a:prstGeom prst="rect">
            <a:avLst/>
          </a:prstGeom>
          <a:solidFill>
            <a:srgbClr val="D7EDE7"/>
          </a:solidFill>
          <a:ln w="9525">
            <a:noFill/>
            <a:miter lim="800000"/>
            <a:headEnd/>
            <a:tailEnd/>
          </a:ln>
        </p:spPr>
        <p:txBody>
          <a:bodyPr/>
          <a:lstStyle/>
          <a:p>
            <a:endParaRPr lang="en-US"/>
          </a:p>
        </p:txBody>
      </p:sp>
      <p:sp>
        <p:nvSpPr>
          <p:cNvPr id="9" name="Rectangle 6"/>
          <p:cNvSpPr>
            <a:spLocks noChangeArrowheads="1"/>
          </p:cNvSpPr>
          <p:nvPr/>
        </p:nvSpPr>
        <p:spPr bwMode="auto">
          <a:xfrm>
            <a:off x="3514725" y="2514600"/>
            <a:ext cx="12065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B</a:t>
            </a:r>
            <a:endParaRPr lang="en-US" sz="1400" i="1">
              <a:latin typeface="Tahoma" pitchFamily="34" charset="0"/>
            </a:endParaRPr>
          </a:p>
        </p:txBody>
      </p:sp>
      <p:sp>
        <p:nvSpPr>
          <p:cNvPr id="10" name="Rectangle 7"/>
          <p:cNvSpPr>
            <a:spLocks noChangeArrowheads="1"/>
          </p:cNvSpPr>
          <p:nvPr/>
        </p:nvSpPr>
        <p:spPr bwMode="auto">
          <a:xfrm>
            <a:off x="5559425" y="3890963"/>
            <a:ext cx="130175"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11" name="Rectangle 8"/>
          <p:cNvSpPr>
            <a:spLocks noChangeArrowheads="1"/>
          </p:cNvSpPr>
          <p:nvPr/>
        </p:nvSpPr>
        <p:spPr bwMode="auto">
          <a:xfrm>
            <a:off x="4822825" y="4989513"/>
            <a:ext cx="279400" cy="214312"/>
          </a:xfrm>
          <a:prstGeom prst="rect">
            <a:avLst/>
          </a:prstGeom>
          <a:noFill/>
          <a:ln w="9525">
            <a:noFill/>
            <a:miter lim="800000"/>
            <a:headEnd/>
            <a:tailEnd/>
          </a:ln>
        </p:spPr>
        <p:txBody>
          <a:bodyPr wrap="none" lIns="0" tIns="0" rIns="0" bIns="0">
            <a:spAutoFit/>
          </a:bodyPr>
          <a:lstStyle/>
          <a:p>
            <a:pPr marL="1588" indent="-1588" algn="ctr"/>
            <a:r>
              <a:rPr lang="en-US" sz="1400" i="1">
                <a:solidFill>
                  <a:srgbClr val="000000"/>
                </a:solidFill>
                <a:latin typeface="Myriad Pro"/>
              </a:rPr>
              <a:t>MR</a:t>
            </a:r>
            <a:endParaRPr lang="en-US" sz="1400" i="1">
              <a:latin typeface="Tahoma" pitchFamily="34" charset="0"/>
            </a:endParaRPr>
          </a:p>
        </p:txBody>
      </p:sp>
      <p:sp>
        <p:nvSpPr>
          <p:cNvPr id="12" name="Rectangle 9"/>
          <p:cNvSpPr>
            <a:spLocks noChangeArrowheads="1"/>
          </p:cNvSpPr>
          <p:nvPr/>
        </p:nvSpPr>
        <p:spPr bwMode="auto">
          <a:xfrm>
            <a:off x="1824038" y="3140075"/>
            <a:ext cx="1143000"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Monopoly profit</a:t>
            </a:r>
            <a:endParaRPr lang="en-US" sz="1400">
              <a:latin typeface="Tahoma" pitchFamily="34" charset="0"/>
            </a:endParaRPr>
          </a:p>
        </p:txBody>
      </p:sp>
      <p:sp>
        <p:nvSpPr>
          <p:cNvPr id="13" name="Rectangle 10"/>
          <p:cNvSpPr>
            <a:spLocks noChangeArrowheads="1"/>
          </p:cNvSpPr>
          <p:nvPr/>
        </p:nvSpPr>
        <p:spPr bwMode="auto">
          <a:xfrm>
            <a:off x="6732588" y="3660775"/>
            <a:ext cx="276225"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MC</a:t>
            </a:r>
            <a:endParaRPr lang="en-US" sz="1400" i="1">
              <a:latin typeface="Tahoma" pitchFamily="34" charset="0"/>
            </a:endParaRPr>
          </a:p>
        </p:txBody>
      </p:sp>
      <p:sp>
        <p:nvSpPr>
          <p:cNvPr id="14" name="Rectangle 11"/>
          <p:cNvSpPr>
            <a:spLocks noChangeArrowheads="1"/>
          </p:cNvSpPr>
          <p:nvPr/>
        </p:nvSpPr>
        <p:spPr bwMode="auto">
          <a:xfrm>
            <a:off x="7097713" y="3644900"/>
            <a:ext cx="96837"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Symbol" pitchFamily="18" charset="2"/>
              </a:rPr>
              <a:t>=</a:t>
            </a:r>
            <a:endParaRPr lang="en-US" sz="1400">
              <a:latin typeface="Tahoma" pitchFamily="34" charset="0"/>
            </a:endParaRPr>
          </a:p>
        </p:txBody>
      </p:sp>
      <p:sp>
        <p:nvSpPr>
          <p:cNvPr id="15" name="Rectangle 12"/>
          <p:cNvSpPr>
            <a:spLocks noChangeArrowheads="1"/>
          </p:cNvSpPr>
          <p:nvPr/>
        </p:nvSpPr>
        <p:spPr bwMode="auto">
          <a:xfrm>
            <a:off x="7278688" y="3660775"/>
            <a:ext cx="12065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16" name="Rectangle 13"/>
          <p:cNvSpPr>
            <a:spLocks noChangeArrowheads="1"/>
          </p:cNvSpPr>
          <p:nvPr/>
        </p:nvSpPr>
        <p:spPr bwMode="auto">
          <a:xfrm>
            <a:off x="7402513" y="3660775"/>
            <a:ext cx="109537"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17" name="Rectangle 14"/>
          <p:cNvSpPr>
            <a:spLocks noChangeArrowheads="1"/>
          </p:cNvSpPr>
          <p:nvPr/>
        </p:nvSpPr>
        <p:spPr bwMode="auto">
          <a:xfrm>
            <a:off x="7508875" y="3660775"/>
            <a:ext cx="130175"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18" name="Rectangle 15"/>
          <p:cNvSpPr>
            <a:spLocks noChangeArrowheads="1"/>
          </p:cNvSpPr>
          <p:nvPr/>
        </p:nvSpPr>
        <p:spPr bwMode="auto">
          <a:xfrm>
            <a:off x="6896100" y="4122738"/>
            <a:ext cx="130175"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19" name="Rectangle 16"/>
          <p:cNvSpPr>
            <a:spLocks noChangeArrowheads="1"/>
          </p:cNvSpPr>
          <p:nvPr/>
        </p:nvSpPr>
        <p:spPr bwMode="auto">
          <a:xfrm>
            <a:off x="704850" y="1717675"/>
            <a:ext cx="48895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$1,000</a:t>
            </a:r>
            <a:endParaRPr lang="en-US" sz="1400">
              <a:latin typeface="Tahoma" pitchFamily="34" charset="0"/>
            </a:endParaRPr>
          </a:p>
        </p:txBody>
      </p:sp>
      <p:sp>
        <p:nvSpPr>
          <p:cNvPr id="20" name="Rectangle 17"/>
          <p:cNvSpPr>
            <a:spLocks noChangeArrowheads="1"/>
          </p:cNvSpPr>
          <p:nvPr/>
        </p:nvSpPr>
        <p:spPr bwMode="auto">
          <a:xfrm>
            <a:off x="957263" y="3744913"/>
            <a:ext cx="26987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200</a:t>
            </a:r>
            <a:endParaRPr lang="en-US" sz="1400">
              <a:latin typeface="Tahoma" pitchFamily="34" charset="0"/>
            </a:endParaRPr>
          </a:p>
        </p:txBody>
      </p:sp>
      <p:sp>
        <p:nvSpPr>
          <p:cNvPr id="21" name="Line 18"/>
          <p:cNvSpPr>
            <a:spLocks noChangeShapeType="1"/>
          </p:cNvSpPr>
          <p:nvPr/>
        </p:nvSpPr>
        <p:spPr bwMode="auto">
          <a:xfrm>
            <a:off x="1363663" y="4886325"/>
            <a:ext cx="136525" cy="0"/>
          </a:xfrm>
          <a:prstGeom prst="line">
            <a:avLst/>
          </a:prstGeom>
          <a:noFill/>
          <a:ln w="7938">
            <a:solidFill>
              <a:srgbClr val="000000"/>
            </a:solidFill>
            <a:miter lim="800000"/>
            <a:headEnd/>
            <a:tailEnd/>
          </a:ln>
        </p:spPr>
        <p:txBody>
          <a:bodyPr/>
          <a:lstStyle/>
          <a:p>
            <a:endParaRPr lang="en-US"/>
          </a:p>
        </p:txBody>
      </p:sp>
      <p:sp>
        <p:nvSpPr>
          <p:cNvPr id="22" name="Line 19"/>
          <p:cNvSpPr>
            <a:spLocks noChangeShapeType="1"/>
          </p:cNvSpPr>
          <p:nvPr/>
        </p:nvSpPr>
        <p:spPr bwMode="auto">
          <a:xfrm>
            <a:off x="1363663" y="5387975"/>
            <a:ext cx="136525" cy="0"/>
          </a:xfrm>
          <a:prstGeom prst="line">
            <a:avLst/>
          </a:prstGeom>
          <a:noFill/>
          <a:ln w="7938">
            <a:solidFill>
              <a:srgbClr val="000000"/>
            </a:solidFill>
            <a:miter lim="800000"/>
            <a:headEnd/>
            <a:tailEnd/>
          </a:ln>
        </p:spPr>
        <p:txBody>
          <a:bodyPr/>
          <a:lstStyle/>
          <a:p>
            <a:endParaRPr lang="en-US"/>
          </a:p>
        </p:txBody>
      </p:sp>
      <p:sp>
        <p:nvSpPr>
          <p:cNvPr id="23" name="Line 20"/>
          <p:cNvSpPr>
            <a:spLocks noChangeShapeType="1"/>
          </p:cNvSpPr>
          <p:nvPr/>
        </p:nvSpPr>
        <p:spPr bwMode="auto">
          <a:xfrm>
            <a:off x="1363663" y="2859088"/>
            <a:ext cx="125412" cy="0"/>
          </a:xfrm>
          <a:prstGeom prst="line">
            <a:avLst/>
          </a:prstGeom>
          <a:noFill/>
          <a:ln w="7938">
            <a:solidFill>
              <a:srgbClr val="000000"/>
            </a:solidFill>
            <a:miter lim="800000"/>
            <a:headEnd/>
            <a:tailEnd/>
          </a:ln>
        </p:spPr>
        <p:txBody>
          <a:bodyPr/>
          <a:lstStyle/>
          <a:p>
            <a:endParaRPr lang="en-US"/>
          </a:p>
        </p:txBody>
      </p:sp>
      <p:sp>
        <p:nvSpPr>
          <p:cNvPr id="24" name="Line 21"/>
          <p:cNvSpPr>
            <a:spLocks noChangeShapeType="1"/>
          </p:cNvSpPr>
          <p:nvPr/>
        </p:nvSpPr>
        <p:spPr bwMode="auto">
          <a:xfrm>
            <a:off x="746125" y="2863850"/>
            <a:ext cx="138113" cy="0"/>
          </a:xfrm>
          <a:prstGeom prst="line">
            <a:avLst/>
          </a:prstGeom>
          <a:noFill/>
          <a:ln w="7938">
            <a:solidFill>
              <a:srgbClr val="000000"/>
            </a:solidFill>
            <a:miter lim="800000"/>
            <a:headEnd/>
            <a:tailEnd/>
          </a:ln>
        </p:spPr>
        <p:txBody>
          <a:bodyPr/>
          <a:lstStyle/>
          <a:p>
            <a:endParaRPr lang="en-US"/>
          </a:p>
        </p:txBody>
      </p:sp>
      <p:sp>
        <p:nvSpPr>
          <p:cNvPr id="25" name="Line 22"/>
          <p:cNvSpPr>
            <a:spLocks noChangeShapeType="1"/>
          </p:cNvSpPr>
          <p:nvPr/>
        </p:nvSpPr>
        <p:spPr bwMode="auto">
          <a:xfrm>
            <a:off x="746125" y="3878263"/>
            <a:ext cx="138113" cy="0"/>
          </a:xfrm>
          <a:prstGeom prst="line">
            <a:avLst/>
          </a:prstGeom>
          <a:noFill/>
          <a:ln w="7938">
            <a:solidFill>
              <a:srgbClr val="000000"/>
            </a:solidFill>
            <a:miter lim="800000"/>
            <a:headEnd/>
            <a:tailEnd/>
          </a:ln>
        </p:spPr>
        <p:txBody>
          <a:bodyPr/>
          <a:lstStyle/>
          <a:p>
            <a:endParaRPr lang="en-US"/>
          </a:p>
        </p:txBody>
      </p:sp>
      <p:sp>
        <p:nvSpPr>
          <p:cNvPr id="26" name="Rectangle 23"/>
          <p:cNvSpPr>
            <a:spLocks noChangeArrowheads="1"/>
          </p:cNvSpPr>
          <p:nvPr/>
        </p:nvSpPr>
        <p:spPr bwMode="auto">
          <a:xfrm>
            <a:off x="957263" y="2730500"/>
            <a:ext cx="2698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600</a:t>
            </a:r>
            <a:endParaRPr lang="en-US" sz="1400">
              <a:latin typeface="Tahoma" pitchFamily="34" charset="0"/>
            </a:endParaRPr>
          </a:p>
        </p:txBody>
      </p:sp>
      <p:sp>
        <p:nvSpPr>
          <p:cNvPr id="27" name="Rectangle 24"/>
          <p:cNvSpPr>
            <a:spLocks noChangeArrowheads="1"/>
          </p:cNvSpPr>
          <p:nvPr/>
        </p:nvSpPr>
        <p:spPr bwMode="auto">
          <a:xfrm>
            <a:off x="855663" y="4756150"/>
            <a:ext cx="360362"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–200</a:t>
            </a:r>
            <a:endParaRPr lang="en-US" sz="1400">
              <a:latin typeface="Tahoma" pitchFamily="34" charset="0"/>
            </a:endParaRPr>
          </a:p>
        </p:txBody>
      </p:sp>
      <p:sp>
        <p:nvSpPr>
          <p:cNvPr id="28" name="Rectangle 25"/>
          <p:cNvSpPr>
            <a:spLocks noChangeArrowheads="1"/>
          </p:cNvSpPr>
          <p:nvPr/>
        </p:nvSpPr>
        <p:spPr bwMode="auto">
          <a:xfrm>
            <a:off x="855663" y="5267325"/>
            <a:ext cx="360362"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–400</a:t>
            </a:r>
            <a:endParaRPr lang="en-US" sz="1400">
              <a:latin typeface="Tahoma" pitchFamily="34" charset="0"/>
            </a:endParaRPr>
          </a:p>
        </p:txBody>
      </p:sp>
      <p:sp>
        <p:nvSpPr>
          <p:cNvPr id="29" name="Rectangle 26"/>
          <p:cNvSpPr>
            <a:spLocks noChangeArrowheads="1"/>
          </p:cNvSpPr>
          <p:nvPr/>
        </p:nvSpPr>
        <p:spPr bwMode="auto">
          <a:xfrm>
            <a:off x="1169988" y="4251325"/>
            <a:ext cx="920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0</a:t>
            </a:r>
            <a:endParaRPr lang="en-US" sz="1400">
              <a:latin typeface="Tahoma" pitchFamily="34" charset="0"/>
            </a:endParaRPr>
          </a:p>
        </p:txBody>
      </p:sp>
      <p:sp>
        <p:nvSpPr>
          <p:cNvPr id="30" name="Rectangle 27"/>
          <p:cNvSpPr>
            <a:spLocks noChangeArrowheads="1"/>
          </p:cNvSpPr>
          <p:nvPr/>
        </p:nvSpPr>
        <p:spPr bwMode="auto">
          <a:xfrm>
            <a:off x="6938963" y="4560888"/>
            <a:ext cx="1692275" cy="214312"/>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Quantity of diamonds</a:t>
            </a:r>
            <a:endParaRPr lang="en-US" sz="1400">
              <a:latin typeface="Tahoma" pitchFamily="34" charset="0"/>
            </a:endParaRPr>
          </a:p>
        </p:txBody>
      </p:sp>
      <p:sp>
        <p:nvSpPr>
          <p:cNvPr id="31" name="Line 28"/>
          <p:cNvSpPr>
            <a:spLocks noChangeShapeType="1"/>
          </p:cNvSpPr>
          <p:nvPr/>
        </p:nvSpPr>
        <p:spPr bwMode="auto">
          <a:xfrm flipH="1">
            <a:off x="1363663" y="4376738"/>
            <a:ext cx="6419850" cy="0"/>
          </a:xfrm>
          <a:prstGeom prst="line">
            <a:avLst/>
          </a:prstGeom>
          <a:noFill/>
          <a:ln w="7938">
            <a:solidFill>
              <a:srgbClr val="000000"/>
            </a:solidFill>
            <a:miter lim="800000"/>
            <a:headEnd/>
            <a:tailEnd/>
          </a:ln>
        </p:spPr>
        <p:txBody>
          <a:bodyPr/>
          <a:lstStyle/>
          <a:p>
            <a:endParaRPr lang="en-US"/>
          </a:p>
        </p:txBody>
      </p:sp>
      <p:sp>
        <p:nvSpPr>
          <p:cNvPr id="32" name="Line 29"/>
          <p:cNvSpPr>
            <a:spLocks noChangeShapeType="1"/>
          </p:cNvSpPr>
          <p:nvPr/>
        </p:nvSpPr>
        <p:spPr bwMode="auto">
          <a:xfrm flipH="1">
            <a:off x="1363663" y="3865563"/>
            <a:ext cx="5476875" cy="0"/>
          </a:xfrm>
          <a:prstGeom prst="line">
            <a:avLst/>
          </a:prstGeom>
          <a:noFill/>
          <a:ln w="30163">
            <a:solidFill>
              <a:srgbClr val="F3716D"/>
            </a:solidFill>
            <a:miter lim="800000"/>
            <a:headEnd/>
            <a:tailEnd/>
          </a:ln>
        </p:spPr>
        <p:txBody>
          <a:bodyPr/>
          <a:lstStyle/>
          <a:p>
            <a:endParaRPr lang="en-US"/>
          </a:p>
        </p:txBody>
      </p:sp>
      <p:sp>
        <p:nvSpPr>
          <p:cNvPr id="33" name="Rectangle 30"/>
          <p:cNvSpPr>
            <a:spLocks noChangeArrowheads="1"/>
          </p:cNvSpPr>
          <p:nvPr/>
        </p:nvSpPr>
        <p:spPr bwMode="auto">
          <a:xfrm>
            <a:off x="3505200" y="4410075"/>
            <a:ext cx="920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8</a:t>
            </a:r>
            <a:endParaRPr lang="en-US" sz="1400">
              <a:latin typeface="Tahoma" pitchFamily="34" charset="0"/>
            </a:endParaRPr>
          </a:p>
        </p:txBody>
      </p:sp>
      <p:sp>
        <p:nvSpPr>
          <p:cNvPr id="34" name="Rectangle 31"/>
          <p:cNvSpPr>
            <a:spLocks noChangeArrowheads="1"/>
          </p:cNvSpPr>
          <p:nvPr/>
        </p:nvSpPr>
        <p:spPr bwMode="auto">
          <a:xfrm>
            <a:off x="3992563" y="4410075"/>
            <a:ext cx="182562"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10</a:t>
            </a:r>
            <a:endParaRPr lang="en-US" sz="1400">
              <a:latin typeface="Tahoma" pitchFamily="34" charset="0"/>
            </a:endParaRPr>
          </a:p>
        </p:txBody>
      </p:sp>
      <p:sp>
        <p:nvSpPr>
          <p:cNvPr id="35" name="Rectangle 32"/>
          <p:cNvSpPr>
            <a:spLocks noChangeArrowheads="1"/>
          </p:cNvSpPr>
          <p:nvPr/>
        </p:nvSpPr>
        <p:spPr bwMode="auto">
          <a:xfrm>
            <a:off x="6743700" y="4410075"/>
            <a:ext cx="18097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20</a:t>
            </a:r>
            <a:endParaRPr lang="en-US" sz="1400">
              <a:latin typeface="Tahoma" pitchFamily="34" charset="0"/>
            </a:endParaRPr>
          </a:p>
        </p:txBody>
      </p:sp>
      <p:sp>
        <p:nvSpPr>
          <p:cNvPr id="36" name="Line 33"/>
          <p:cNvSpPr>
            <a:spLocks noChangeShapeType="1"/>
          </p:cNvSpPr>
          <p:nvPr/>
        </p:nvSpPr>
        <p:spPr bwMode="auto">
          <a:xfrm>
            <a:off x="5749925" y="4246563"/>
            <a:ext cx="0" cy="130175"/>
          </a:xfrm>
          <a:prstGeom prst="line">
            <a:avLst/>
          </a:prstGeom>
          <a:noFill/>
          <a:ln w="7938">
            <a:solidFill>
              <a:srgbClr val="000000"/>
            </a:solidFill>
            <a:miter lim="800000"/>
            <a:headEnd/>
            <a:tailEnd/>
          </a:ln>
        </p:spPr>
        <p:txBody>
          <a:bodyPr/>
          <a:lstStyle/>
          <a:p>
            <a:endParaRPr lang="en-US"/>
          </a:p>
        </p:txBody>
      </p:sp>
      <p:sp>
        <p:nvSpPr>
          <p:cNvPr id="37" name="Rectangle 34"/>
          <p:cNvSpPr>
            <a:spLocks noChangeArrowheads="1"/>
          </p:cNvSpPr>
          <p:nvPr/>
        </p:nvSpPr>
        <p:spPr bwMode="auto">
          <a:xfrm>
            <a:off x="5648325" y="4410075"/>
            <a:ext cx="18256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16</a:t>
            </a:r>
            <a:endParaRPr lang="en-US" sz="1400">
              <a:latin typeface="Tahoma" pitchFamily="34" charset="0"/>
            </a:endParaRPr>
          </a:p>
        </p:txBody>
      </p:sp>
      <p:sp>
        <p:nvSpPr>
          <p:cNvPr id="38" name="Line 35"/>
          <p:cNvSpPr>
            <a:spLocks noChangeShapeType="1"/>
          </p:cNvSpPr>
          <p:nvPr/>
        </p:nvSpPr>
        <p:spPr bwMode="auto">
          <a:xfrm>
            <a:off x="3557588" y="4246563"/>
            <a:ext cx="0" cy="130175"/>
          </a:xfrm>
          <a:prstGeom prst="line">
            <a:avLst/>
          </a:prstGeom>
          <a:noFill/>
          <a:ln w="7938">
            <a:solidFill>
              <a:srgbClr val="000000"/>
            </a:solidFill>
            <a:miter lim="800000"/>
            <a:headEnd/>
            <a:tailEnd/>
          </a:ln>
        </p:spPr>
        <p:txBody>
          <a:bodyPr/>
          <a:lstStyle/>
          <a:p>
            <a:endParaRPr lang="en-US"/>
          </a:p>
        </p:txBody>
      </p:sp>
      <p:sp>
        <p:nvSpPr>
          <p:cNvPr id="39" name="Rectangle 36"/>
          <p:cNvSpPr>
            <a:spLocks noChangeArrowheads="1"/>
          </p:cNvSpPr>
          <p:nvPr/>
        </p:nvSpPr>
        <p:spPr bwMode="auto">
          <a:xfrm>
            <a:off x="3371850" y="3878263"/>
            <a:ext cx="120650"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40" name="Freeform 37"/>
          <p:cNvSpPr>
            <a:spLocks/>
          </p:cNvSpPr>
          <p:nvPr/>
        </p:nvSpPr>
        <p:spPr bwMode="auto">
          <a:xfrm>
            <a:off x="3397250" y="1665288"/>
            <a:ext cx="1460500" cy="522287"/>
          </a:xfrm>
          <a:custGeom>
            <a:avLst/>
            <a:gdLst>
              <a:gd name="T0" fmla="*/ 2147483647 w 220"/>
              <a:gd name="T1" fmla="*/ 2147483647 h 95"/>
              <a:gd name="T2" fmla="*/ 2147483647 w 220"/>
              <a:gd name="T3" fmla="*/ 2147483647 h 95"/>
              <a:gd name="T4" fmla="*/ 2147483647 w 220"/>
              <a:gd name="T5" fmla="*/ 2147483647 h 95"/>
              <a:gd name="T6" fmla="*/ 0 w 220"/>
              <a:gd name="T7" fmla="*/ 2147483647 h 95"/>
              <a:gd name="T8" fmla="*/ 0 w 220"/>
              <a:gd name="T9" fmla="*/ 2147483647 h 95"/>
              <a:gd name="T10" fmla="*/ 2147483647 w 220"/>
              <a:gd name="T11" fmla="*/ 0 h 95"/>
              <a:gd name="T12" fmla="*/ 2147483647 w 220"/>
              <a:gd name="T13" fmla="*/ 0 h 95"/>
              <a:gd name="T14" fmla="*/ 2147483647 w 220"/>
              <a:gd name="T15" fmla="*/ 2147483647 h 95"/>
              <a:gd name="T16" fmla="*/ 2147483647 w 220"/>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0"/>
              <a:gd name="T28" fmla="*/ 0 h 95"/>
              <a:gd name="T29" fmla="*/ 220 w 220"/>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0" h="95">
                <a:moveTo>
                  <a:pt x="220" y="79"/>
                </a:moveTo>
                <a:cubicBezTo>
                  <a:pt x="220" y="88"/>
                  <a:pt x="215" y="95"/>
                  <a:pt x="208" y="95"/>
                </a:cubicBezTo>
                <a:cubicBezTo>
                  <a:pt x="12" y="95"/>
                  <a:pt x="12" y="95"/>
                  <a:pt x="12" y="95"/>
                </a:cubicBezTo>
                <a:cubicBezTo>
                  <a:pt x="5" y="95"/>
                  <a:pt x="0" y="88"/>
                  <a:pt x="0" y="79"/>
                </a:cubicBezTo>
                <a:cubicBezTo>
                  <a:pt x="0" y="16"/>
                  <a:pt x="0" y="16"/>
                  <a:pt x="0" y="16"/>
                </a:cubicBezTo>
                <a:cubicBezTo>
                  <a:pt x="0" y="7"/>
                  <a:pt x="5" y="0"/>
                  <a:pt x="12" y="0"/>
                </a:cubicBezTo>
                <a:cubicBezTo>
                  <a:pt x="208" y="0"/>
                  <a:pt x="208" y="0"/>
                  <a:pt x="208" y="0"/>
                </a:cubicBezTo>
                <a:cubicBezTo>
                  <a:pt x="215" y="0"/>
                  <a:pt x="220" y="7"/>
                  <a:pt x="220" y="16"/>
                </a:cubicBezTo>
                <a:lnTo>
                  <a:pt x="220" y="79"/>
                </a:lnTo>
                <a:close/>
              </a:path>
            </a:pathLst>
          </a:custGeom>
          <a:solidFill>
            <a:srgbClr val="D7E2E0"/>
          </a:solidFill>
          <a:ln w="9525">
            <a:noFill/>
            <a:round/>
            <a:headEnd/>
            <a:tailEnd/>
          </a:ln>
        </p:spPr>
        <p:txBody>
          <a:bodyPr/>
          <a:lstStyle/>
          <a:p>
            <a:endParaRPr lang="en-US"/>
          </a:p>
        </p:txBody>
      </p:sp>
      <p:sp>
        <p:nvSpPr>
          <p:cNvPr id="41" name="Line 38"/>
          <p:cNvSpPr>
            <a:spLocks noChangeShapeType="1"/>
          </p:cNvSpPr>
          <p:nvPr/>
        </p:nvSpPr>
        <p:spPr bwMode="auto">
          <a:xfrm>
            <a:off x="5749925" y="3195638"/>
            <a:ext cx="0" cy="665162"/>
          </a:xfrm>
          <a:prstGeom prst="line">
            <a:avLst/>
          </a:prstGeom>
          <a:noFill/>
          <a:ln w="7938">
            <a:solidFill>
              <a:srgbClr val="000000"/>
            </a:solidFill>
            <a:miter lim="800000"/>
            <a:headEnd/>
            <a:tailEnd/>
          </a:ln>
        </p:spPr>
        <p:txBody>
          <a:bodyPr/>
          <a:lstStyle/>
          <a:p>
            <a:endParaRPr lang="en-US"/>
          </a:p>
        </p:txBody>
      </p:sp>
      <p:sp>
        <p:nvSpPr>
          <p:cNvPr id="42" name="Freeform 39"/>
          <p:cNvSpPr>
            <a:spLocks/>
          </p:cNvSpPr>
          <p:nvPr/>
        </p:nvSpPr>
        <p:spPr bwMode="auto">
          <a:xfrm>
            <a:off x="4997450" y="2960688"/>
            <a:ext cx="2057400" cy="457200"/>
          </a:xfrm>
          <a:custGeom>
            <a:avLst/>
            <a:gdLst>
              <a:gd name="T0" fmla="*/ 2147483647 w 315"/>
              <a:gd name="T1" fmla="*/ 2147483647 h 133"/>
              <a:gd name="T2" fmla="*/ 2147483647 w 315"/>
              <a:gd name="T3" fmla="*/ 2147483647 h 133"/>
              <a:gd name="T4" fmla="*/ 2147483647 w 315"/>
              <a:gd name="T5" fmla="*/ 2147483647 h 133"/>
              <a:gd name="T6" fmla="*/ 0 w 315"/>
              <a:gd name="T7" fmla="*/ 2147483647 h 133"/>
              <a:gd name="T8" fmla="*/ 0 w 315"/>
              <a:gd name="T9" fmla="*/ 2147483647 h 133"/>
              <a:gd name="T10" fmla="*/ 2147483647 w 315"/>
              <a:gd name="T11" fmla="*/ 0 h 133"/>
              <a:gd name="T12" fmla="*/ 2147483647 w 315"/>
              <a:gd name="T13" fmla="*/ 0 h 133"/>
              <a:gd name="T14" fmla="*/ 2147483647 w 315"/>
              <a:gd name="T15" fmla="*/ 2147483647 h 133"/>
              <a:gd name="T16" fmla="*/ 2147483647 w 315"/>
              <a:gd name="T17" fmla="*/ 2147483647 h 1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15"/>
              <a:gd name="T28" fmla="*/ 0 h 133"/>
              <a:gd name="T29" fmla="*/ 315 w 315"/>
              <a:gd name="T30" fmla="*/ 133 h 1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15" h="133">
                <a:moveTo>
                  <a:pt x="315" y="117"/>
                </a:moveTo>
                <a:cubicBezTo>
                  <a:pt x="315" y="126"/>
                  <a:pt x="307" y="133"/>
                  <a:pt x="299" y="133"/>
                </a:cubicBezTo>
                <a:cubicBezTo>
                  <a:pt x="16" y="133"/>
                  <a:pt x="16" y="133"/>
                  <a:pt x="16" y="133"/>
                </a:cubicBezTo>
                <a:cubicBezTo>
                  <a:pt x="7" y="133"/>
                  <a:pt x="0" y="126"/>
                  <a:pt x="0" y="117"/>
                </a:cubicBezTo>
                <a:cubicBezTo>
                  <a:pt x="0" y="16"/>
                  <a:pt x="0" y="16"/>
                  <a:pt x="0" y="16"/>
                </a:cubicBezTo>
                <a:cubicBezTo>
                  <a:pt x="0" y="8"/>
                  <a:pt x="7" y="0"/>
                  <a:pt x="16" y="0"/>
                </a:cubicBezTo>
                <a:cubicBezTo>
                  <a:pt x="299" y="0"/>
                  <a:pt x="299" y="0"/>
                  <a:pt x="299" y="0"/>
                </a:cubicBezTo>
                <a:cubicBezTo>
                  <a:pt x="307" y="0"/>
                  <a:pt x="315" y="8"/>
                  <a:pt x="315" y="16"/>
                </a:cubicBezTo>
                <a:lnTo>
                  <a:pt x="315" y="117"/>
                </a:lnTo>
                <a:close/>
              </a:path>
            </a:pathLst>
          </a:custGeom>
          <a:solidFill>
            <a:srgbClr val="D7E2E0"/>
          </a:solidFill>
          <a:ln w="9525">
            <a:noFill/>
            <a:round/>
            <a:headEnd/>
            <a:tailEnd/>
          </a:ln>
        </p:spPr>
        <p:txBody>
          <a:bodyPr/>
          <a:lstStyle/>
          <a:p>
            <a:endParaRPr lang="en-US"/>
          </a:p>
        </p:txBody>
      </p:sp>
      <p:sp>
        <p:nvSpPr>
          <p:cNvPr id="43" name="Freeform 40"/>
          <p:cNvSpPr>
            <a:spLocks/>
          </p:cNvSpPr>
          <p:nvPr/>
        </p:nvSpPr>
        <p:spPr bwMode="auto">
          <a:xfrm>
            <a:off x="365125" y="3694113"/>
            <a:ext cx="388938" cy="361950"/>
          </a:xfrm>
          <a:custGeom>
            <a:avLst/>
            <a:gdLst>
              <a:gd name="T0" fmla="*/ 2147483647 w 68"/>
              <a:gd name="T1" fmla="*/ 2147483647 h 67"/>
              <a:gd name="T2" fmla="*/ 2147483647 w 68"/>
              <a:gd name="T3" fmla="*/ 2147483647 h 67"/>
              <a:gd name="T4" fmla="*/ 2147483647 w 68"/>
              <a:gd name="T5" fmla="*/ 2147483647 h 67"/>
              <a:gd name="T6" fmla="*/ 0 w 68"/>
              <a:gd name="T7" fmla="*/ 2147483647 h 67"/>
              <a:gd name="T8" fmla="*/ 0 w 68"/>
              <a:gd name="T9" fmla="*/ 2147483647 h 67"/>
              <a:gd name="T10" fmla="*/ 2147483647 w 68"/>
              <a:gd name="T11" fmla="*/ 0 h 67"/>
              <a:gd name="T12" fmla="*/ 2147483647 w 68"/>
              <a:gd name="T13" fmla="*/ 0 h 67"/>
              <a:gd name="T14" fmla="*/ 2147483647 w 68"/>
              <a:gd name="T15" fmla="*/ 2147483647 h 67"/>
              <a:gd name="T16" fmla="*/ 2147483647 w 68"/>
              <a:gd name="T17" fmla="*/ 214748364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8"/>
              <a:gd name="T28" fmla="*/ 0 h 67"/>
              <a:gd name="T29" fmla="*/ 68 w 68"/>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8" h="67">
                <a:moveTo>
                  <a:pt x="68" y="51"/>
                </a:moveTo>
                <a:cubicBezTo>
                  <a:pt x="68" y="60"/>
                  <a:pt x="61" y="67"/>
                  <a:pt x="52" y="67"/>
                </a:cubicBezTo>
                <a:cubicBezTo>
                  <a:pt x="16" y="67"/>
                  <a:pt x="16" y="67"/>
                  <a:pt x="16" y="67"/>
                </a:cubicBezTo>
                <a:cubicBezTo>
                  <a:pt x="7" y="67"/>
                  <a:pt x="0" y="60"/>
                  <a:pt x="0" y="51"/>
                </a:cubicBezTo>
                <a:cubicBezTo>
                  <a:pt x="0" y="16"/>
                  <a:pt x="0" y="16"/>
                  <a:pt x="0" y="16"/>
                </a:cubicBezTo>
                <a:cubicBezTo>
                  <a:pt x="0" y="7"/>
                  <a:pt x="7" y="0"/>
                  <a:pt x="16" y="0"/>
                </a:cubicBezTo>
                <a:cubicBezTo>
                  <a:pt x="52" y="0"/>
                  <a:pt x="52" y="0"/>
                  <a:pt x="52" y="0"/>
                </a:cubicBezTo>
                <a:cubicBezTo>
                  <a:pt x="61" y="0"/>
                  <a:pt x="68" y="7"/>
                  <a:pt x="68" y="16"/>
                </a:cubicBezTo>
                <a:lnTo>
                  <a:pt x="68" y="51"/>
                </a:lnTo>
                <a:close/>
              </a:path>
            </a:pathLst>
          </a:custGeom>
          <a:solidFill>
            <a:srgbClr val="D7E2E0"/>
          </a:solidFill>
          <a:ln w="9525">
            <a:noFill/>
            <a:round/>
            <a:headEnd/>
            <a:tailEnd/>
          </a:ln>
        </p:spPr>
        <p:txBody>
          <a:bodyPr/>
          <a:lstStyle/>
          <a:p>
            <a:endParaRPr lang="en-US"/>
          </a:p>
        </p:txBody>
      </p:sp>
      <p:sp>
        <p:nvSpPr>
          <p:cNvPr id="44" name="Rectangle 41"/>
          <p:cNvSpPr>
            <a:spLocks noChangeArrowheads="1"/>
          </p:cNvSpPr>
          <p:nvPr/>
        </p:nvSpPr>
        <p:spPr bwMode="auto">
          <a:xfrm>
            <a:off x="463550" y="3741738"/>
            <a:ext cx="120650"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P</a:t>
            </a:r>
            <a:endParaRPr lang="en-US" sz="1400" i="1">
              <a:latin typeface="Tahoma" pitchFamily="34" charset="0"/>
            </a:endParaRPr>
          </a:p>
        </p:txBody>
      </p:sp>
      <p:sp>
        <p:nvSpPr>
          <p:cNvPr id="45" name="Rectangle 42"/>
          <p:cNvSpPr>
            <a:spLocks noChangeArrowheads="1"/>
          </p:cNvSpPr>
          <p:nvPr/>
        </p:nvSpPr>
        <p:spPr bwMode="auto">
          <a:xfrm>
            <a:off x="574675" y="3844925"/>
            <a:ext cx="130175"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46" name="Freeform 43"/>
          <p:cNvSpPr>
            <a:spLocks/>
          </p:cNvSpPr>
          <p:nvPr/>
        </p:nvSpPr>
        <p:spPr bwMode="auto">
          <a:xfrm>
            <a:off x="365125" y="2679700"/>
            <a:ext cx="388938" cy="369888"/>
          </a:xfrm>
          <a:custGeom>
            <a:avLst/>
            <a:gdLst>
              <a:gd name="T0" fmla="*/ 2147483647 w 68"/>
              <a:gd name="T1" fmla="*/ 2147483647 h 68"/>
              <a:gd name="T2" fmla="*/ 2147483647 w 68"/>
              <a:gd name="T3" fmla="*/ 2147483647 h 68"/>
              <a:gd name="T4" fmla="*/ 2147483647 w 68"/>
              <a:gd name="T5" fmla="*/ 2147483647 h 68"/>
              <a:gd name="T6" fmla="*/ 0 w 68"/>
              <a:gd name="T7" fmla="*/ 2147483647 h 68"/>
              <a:gd name="T8" fmla="*/ 0 w 68"/>
              <a:gd name="T9" fmla="*/ 2147483647 h 68"/>
              <a:gd name="T10" fmla="*/ 2147483647 w 68"/>
              <a:gd name="T11" fmla="*/ 0 h 68"/>
              <a:gd name="T12" fmla="*/ 2147483647 w 68"/>
              <a:gd name="T13" fmla="*/ 0 h 68"/>
              <a:gd name="T14" fmla="*/ 2147483647 w 68"/>
              <a:gd name="T15" fmla="*/ 2147483647 h 68"/>
              <a:gd name="T16" fmla="*/ 2147483647 w 68"/>
              <a:gd name="T17" fmla="*/ 2147483647 h 6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8"/>
              <a:gd name="T28" fmla="*/ 0 h 68"/>
              <a:gd name="T29" fmla="*/ 68 w 68"/>
              <a:gd name="T30" fmla="*/ 68 h 6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8" h="68">
                <a:moveTo>
                  <a:pt x="68" y="52"/>
                </a:moveTo>
                <a:cubicBezTo>
                  <a:pt x="68" y="60"/>
                  <a:pt x="61" y="68"/>
                  <a:pt x="52" y="68"/>
                </a:cubicBezTo>
                <a:cubicBezTo>
                  <a:pt x="16" y="68"/>
                  <a:pt x="16" y="68"/>
                  <a:pt x="16" y="68"/>
                </a:cubicBezTo>
                <a:cubicBezTo>
                  <a:pt x="7" y="68"/>
                  <a:pt x="0" y="60"/>
                  <a:pt x="0" y="52"/>
                </a:cubicBezTo>
                <a:cubicBezTo>
                  <a:pt x="0" y="16"/>
                  <a:pt x="0" y="16"/>
                  <a:pt x="0" y="16"/>
                </a:cubicBezTo>
                <a:cubicBezTo>
                  <a:pt x="0" y="7"/>
                  <a:pt x="7" y="0"/>
                  <a:pt x="16" y="0"/>
                </a:cubicBezTo>
                <a:cubicBezTo>
                  <a:pt x="52" y="0"/>
                  <a:pt x="52" y="0"/>
                  <a:pt x="52" y="0"/>
                </a:cubicBezTo>
                <a:cubicBezTo>
                  <a:pt x="61" y="0"/>
                  <a:pt x="68" y="7"/>
                  <a:pt x="68" y="16"/>
                </a:cubicBezTo>
                <a:lnTo>
                  <a:pt x="68" y="52"/>
                </a:lnTo>
                <a:close/>
              </a:path>
            </a:pathLst>
          </a:custGeom>
          <a:solidFill>
            <a:srgbClr val="D7E2E0"/>
          </a:solidFill>
          <a:ln w="9525">
            <a:noFill/>
            <a:round/>
            <a:headEnd/>
            <a:tailEnd/>
          </a:ln>
        </p:spPr>
        <p:txBody>
          <a:bodyPr/>
          <a:lstStyle/>
          <a:p>
            <a:endParaRPr lang="en-US"/>
          </a:p>
        </p:txBody>
      </p:sp>
      <p:sp>
        <p:nvSpPr>
          <p:cNvPr id="47" name="Rectangle 44"/>
          <p:cNvSpPr>
            <a:spLocks noChangeArrowheads="1"/>
          </p:cNvSpPr>
          <p:nvPr/>
        </p:nvSpPr>
        <p:spPr bwMode="auto">
          <a:xfrm>
            <a:off x="449263" y="2730500"/>
            <a:ext cx="12065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P</a:t>
            </a:r>
            <a:endParaRPr lang="en-US" sz="1400" i="1">
              <a:latin typeface="Tahoma" pitchFamily="34" charset="0"/>
            </a:endParaRPr>
          </a:p>
        </p:txBody>
      </p:sp>
      <p:sp>
        <p:nvSpPr>
          <p:cNvPr id="48" name="Rectangle 45"/>
          <p:cNvSpPr>
            <a:spLocks noChangeArrowheads="1"/>
          </p:cNvSpPr>
          <p:nvPr/>
        </p:nvSpPr>
        <p:spPr bwMode="auto">
          <a:xfrm>
            <a:off x="558800" y="2833688"/>
            <a:ext cx="149225"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49" name="Line 46"/>
          <p:cNvSpPr>
            <a:spLocks noChangeShapeType="1"/>
          </p:cNvSpPr>
          <p:nvPr/>
        </p:nvSpPr>
        <p:spPr bwMode="auto">
          <a:xfrm>
            <a:off x="3557588" y="4652963"/>
            <a:ext cx="0" cy="146050"/>
          </a:xfrm>
          <a:prstGeom prst="line">
            <a:avLst/>
          </a:prstGeom>
          <a:noFill/>
          <a:ln w="7938">
            <a:solidFill>
              <a:srgbClr val="000000"/>
            </a:solidFill>
            <a:miter lim="800000"/>
            <a:headEnd/>
            <a:tailEnd/>
          </a:ln>
        </p:spPr>
        <p:txBody>
          <a:bodyPr/>
          <a:lstStyle/>
          <a:p>
            <a:endParaRPr lang="en-US"/>
          </a:p>
        </p:txBody>
      </p:sp>
      <p:sp>
        <p:nvSpPr>
          <p:cNvPr id="50" name="Line 47"/>
          <p:cNvSpPr>
            <a:spLocks noChangeShapeType="1"/>
          </p:cNvSpPr>
          <p:nvPr/>
        </p:nvSpPr>
        <p:spPr bwMode="auto">
          <a:xfrm>
            <a:off x="5759450" y="4652963"/>
            <a:ext cx="0" cy="146050"/>
          </a:xfrm>
          <a:prstGeom prst="line">
            <a:avLst/>
          </a:prstGeom>
          <a:noFill/>
          <a:ln w="7938">
            <a:solidFill>
              <a:srgbClr val="000000"/>
            </a:solidFill>
            <a:miter lim="800000"/>
            <a:headEnd/>
            <a:tailEnd/>
          </a:ln>
        </p:spPr>
        <p:txBody>
          <a:bodyPr/>
          <a:lstStyle/>
          <a:p>
            <a:endParaRPr lang="en-US"/>
          </a:p>
        </p:txBody>
      </p:sp>
      <p:sp>
        <p:nvSpPr>
          <p:cNvPr id="51" name="Freeform 48"/>
          <p:cNvSpPr>
            <a:spLocks/>
          </p:cNvSpPr>
          <p:nvPr/>
        </p:nvSpPr>
        <p:spPr bwMode="auto">
          <a:xfrm>
            <a:off x="3362325" y="4783138"/>
            <a:ext cx="388938" cy="361950"/>
          </a:xfrm>
          <a:custGeom>
            <a:avLst/>
            <a:gdLst>
              <a:gd name="T0" fmla="*/ 2147483647 w 68"/>
              <a:gd name="T1" fmla="*/ 2147483647 h 67"/>
              <a:gd name="T2" fmla="*/ 2147483647 w 68"/>
              <a:gd name="T3" fmla="*/ 2147483647 h 67"/>
              <a:gd name="T4" fmla="*/ 2147483647 w 68"/>
              <a:gd name="T5" fmla="*/ 2147483647 h 67"/>
              <a:gd name="T6" fmla="*/ 0 w 68"/>
              <a:gd name="T7" fmla="*/ 2147483647 h 67"/>
              <a:gd name="T8" fmla="*/ 0 w 68"/>
              <a:gd name="T9" fmla="*/ 2147483647 h 67"/>
              <a:gd name="T10" fmla="*/ 2147483647 w 68"/>
              <a:gd name="T11" fmla="*/ 0 h 67"/>
              <a:gd name="T12" fmla="*/ 2147483647 w 68"/>
              <a:gd name="T13" fmla="*/ 0 h 67"/>
              <a:gd name="T14" fmla="*/ 2147483647 w 68"/>
              <a:gd name="T15" fmla="*/ 2147483647 h 67"/>
              <a:gd name="T16" fmla="*/ 2147483647 w 68"/>
              <a:gd name="T17" fmla="*/ 214748364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8"/>
              <a:gd name="T28" fmla="*/ 0 h 67"/>
              <a:gd name="T29" fmla="*/ 68 w 68"/>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8" h="67">
                <a:moveTo>
                  <a:pt x="68" y="51"/>
                </a:moveTo>
                <a:cubicBezTo>
                  <a:pt x="68" y="60"/>
                  <a:pt x="61" y="67"/>
                  <a:pt x="52" y="67"/>
                </a:cubicBezTo>
                <a:cubicBezTo>
                  <a:pt x="16" y="67"/>
                  <a:pt x="16" y="67"/>
                  <a:pt x="16" y="67"/>
                </a:cubicBezTo>
                <a:cubicBezTo>
                  <a:pt x="8" y="67"/>
                  <a:pt x="0" y="60"/>
                  <a:pt x="0" y="51"/>
                </a:cubicBezTo>
                <a:cubicBezTo>
                  <a:pt x="0" y="16"/>
                  <a:pt x="0" y="16"/>
                  <a:pt x="0" y="16"/>
                </a:cubicBezTo>
                <a:cubicBezTo>
                  <a:pt x="0" y="7"/>
                  <a:pt x="8" y="0"/>
                  <a:pt x="16" y="0"/>
                </a:cubicBezTo>
                <a:cubicBezTo>
                  <a:pt x="52" y="0"/>
                  <a:pt x="52" y="0"/>
                  <a:pt x="52" y="0"/>
                </a:cubicBezTo>
                <a:cubicBezTo>
                  <a:pt x="61" y="0"/>
                  <a:pt x="68" y="7"/>
                  <a:pt x="68" y="16"/>
                </a:cubicBezTo>
                <a:lnTo>
                  <a:pt x="68" y="51"/>
                </a:lnTo>
                <a:close/>
              </a:path>
            </a:pathLst>
          </a:custGeom>
          <a:solidFill>
            <a:srgbClr val="D7E2E0"/>
          </a:solidFill>
          <a:ln w="9525">
            <a:noFill/>
            <a:round/>
            <a:headEnd/>
            <a:tailEnd/>
          </a:ln>
        </p:spPr>
        <p:txBody>
          <a:bodyPr/>
          <a:lstStyle/>
          <a:p>
            <a:endParaRPr lang="en-US"/>
          </a:p>
        </p:txBody>
      </p:sp>
      <p:sp>
        <p:nvSpPr>
          <p:cNvPr id="52" name="Rectangle 49"/>
          <p:cNvSpPr>
            <a:spLocks noChangeArrowheads="1"/>
          </p:cNvSpPr>
          <p:nvPr/>
        </p:nvSpPr>
        <p:spPr bwMode="auto">
          <a:xfrm>
            <a:off x="3432175" y="4827588"/>
            <a:ext cx="139700"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53" name="Rectangle 50"/>
          <p:cNvSpPr>
            <a:spLocks noChangeArrowheads="1"/>
          </p:cNvSpPr>
          <p:nvPr/>
        </p:nvSpPr>
        <p:spPr bwMode="auto">
          <a:xfrm>
            <a:off x="3571875" y="4930775"/>
            <a:ext cx="149225"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54" name="Freeform 51"/>
          <p:cNvSpPr>
            <a:spLocks/>
          </p:cNvSpPr>
          <p:nvPr/>
        </p:nvSpPr>
        <p:spPr bwMode="auto">
          <a:xfrm>
            <a:off x="5567363" y="4783138"/>
            <a:ext cx="388937" cy="361950"/>
          </a:xfrm>
          <a:custGeom>
            <a:avLst/>
            <a:gdLst>
              <a:gd name="T0" fmla="*/ 2147483647 w 68"/>
              <a:gd name="T1" fmla="*/ 2147483647 h 67"/>
              <a:gd name="T2" fmla="*/ 2147483647 w 68"/>
              <a:gd name="T3" fmla="*/ 2147483647 h 67"/>
              <a:gd name="T4" fmla="*/ 2147483647 w 68"/>
              <a:gd name="T5" fmla="*/ 2147483647 h 67"/>
              <a:gd name="T6" fmla="*/ 0 w 68"/>
              <a:gd name="T7" fmla="*/ 2147483647 h 67"/>
              <a:gd name="T8" fmla="*/ 0 w 68"/>
              <a:gd name="T9" fmla="*/ 2147483647 h 67"/>
              <a:gd name="T10" fmla="*/ 2147483647 w 68"/>
              <a:gd name="T11" fmla="*/ 0 h 67"/>
              <a:gd name="T12" fmla="*/ 2147483647 w 68"/>
              <a:gd name="T13" fmla="*/ 0 h 67"/>
              <a:gd name="T14" fmla="*/ 2147483647 w 68"/>
              <a:gd name="T15" fmla="*/ 2147483647 h 67"/>
              <a:gd name="T16" fmla="*/ 2147483647 w 68"/>
              <a:gd name="T17" fmla="*/ 214748364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8"/>
              <a:gd name="T28" fmla="*/ 0 h 67"/>
              <a:gd name="T29" fmla="*/ 68 w 68"/>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8" h="67">
                <a:moveTo>
                  <a:pt x="68" y="51"/>
                </a:moveTo>
                <a:cubicBezTo>
                  <a:pt x="68" y="60"/>
                  <a:pt x="60" y="67"/>
                  <a:pt x="52" y="67"/>
                </a:cubicBezTo>
                <a:cubicBezTo>
                  <a:pt x="16" y="67"/>
                  <a:pt x="16" y="67"/>
                  <a:pt x="16" y="67"/>
                </a:cubicBezTo>
                <a:cubicBezTo>
                  <a:pt x="7" y="67"/>
                  <a:pt x="0" y="60"/>
                  <a:pt x="0" y="51"/>
                </a:cubicBezTo>
                <a:cubicBezTo>
                  <a:pt x="0" y="16"/>
                  <a:pt x="0" y="16"/>
                  <a:pt x="0" y="16"/>
                </a:cubicBezTo>
                <a:cubicBezTo>
                  <a:pt x="0" y="7"/>
                  <a:pt x="7" y="0"/>
                  <a:pt x="16" y="0"/>
                </a:cubicBezTo>
                <a:cubicBezTo>
                  <a:pt x="52" y="0"/>
                  <a:pt x="52" y="0"/>
                  <a:pt x="52" y="0"/>
                </a:cubicBezTo>
                <a:cubicBezTo>
                  <a:pt x="60" y="0"/>
                  <a:pt x="68" y="7"/>
                  <a:pt x="68" y="16"/>
                </a:cubicBezTo>
                <a:lnTo>
                  <a:pt x="68" y="51"/>
                </a:lnTo>
                <a:close/>
              </a:path>
            </a:pathLst>
          </a:custGeom>
          <a:solidFill>
            <a:srgbClr val="D7E2E0"/>
          </a:solidFill>
          <a:ln w="9525">
            <a:noFill/>
            <a:round/>
            <a:headEnd/>
            <a:tailEnd/>
          </a:ln>
        </p:spPr>
        <p:txBody>
          <a:bodyPr/>
          <a:lstStyle/>
          <a:p>
            <a:endParaRPr lang="en-US"/>
          </a:p>
        </p:txBody>
      </p:sp>
      <p:sp>
        <p:nvSpPr>
          <p:cNvPr id="55" name="Rectangle 52"/>
          <p:cNvSpPr>
            <a:spLocks noChangeArrowheads="1"/>
          </p:cNvSpPr>
          <p:nvPr/>
        </p:nvSpPr>
        <p:spPr bwMode="auto">
          <a:xfrm>
            <a:off x="5648325" y="4827588"/>
            <a:ext cx="139700"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56" name="Rectangle 53"/>
          <p:cNvSpPr>
            <a:spLocks noChangeArrowheads="1"/>
          </p:cNvSpPr>
          <p:nvPr/>
        </p:nvSpPr>
        <p:spPr bwMode="auto">
          <a:xfrm>
            <a:off x="5791200" y="4930775"/>
            <a:ext cx="130175"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57" name="Line 54"/>
          <p:cNvSpPr>
            <a:spLocks noChangeShapeType="1"/>
          </p:cNvSpPr>
          <p:nvPr/>
        </p:nvSpPr>
        <p:spPr bwMode="auto">
          <a:xfrm>
            <a:off x="1363663" y="1841500"/>
            <a:ext cx="5448300" cy="2513013"/>
          </a:xfrm>
          <a:prstGeom prst="line">
            <a:avLst/>
          </a:prstGeom>
          <a:noFill/>
          <a:ln w="30163">
            <a:solidFill>
              <a:srgbClr val="3C5DAA"/>
            </a:solidFill>
            <a:miter lim="800000"/>
            <a:headEnd/>
            <a:tailEnd/>
          </a:ln>
        </p:spPr>
        <p:txBody>
          <a:bodyPr/>
          <a:lstStyle/>
          <a:p>
            <a:endParaRPr lang="en-US"/>
          </a:p>
        </p:txBody>
      </p:sp>
      <p:sp>
        <p:nvSpPr>
          <p:cNvPr id="58" name="Line 55"/>
          <p:cNvSpPr>
            <a:spLocks noChangeShapeType="1"/>
          </p:cNvSpPr>
          <p:nvPr/>
        </p:nvSpPr>
        <p:spPr bwMode="auto">
          <a:xfrm>
            <a:off x="1363663" y="1841500"/>
            <a:ext cx="3427412" cy="3168650"/>
          </a:xfrm>
          <a:prstGeom prst="line">
            <a:avLst/>
          </a:prstGeom>
          <a:noFill/>
          <a:ln w="30163">
            <a:solidFill>
              <a:srgbClr val="4B8FCC"/>
            </a:solidFill>
            <a:miter lim="800000"/>
            <a:headEnd/>
            <a:tailEnd/>
          </a:ln>
        </p:spPr>
        <p:txBody>
          <a:bodyPr/>
          <a:lstStyle/>
          <a:p>
            <a:endParaRPr lang="en-US"/>
          </a:p>
        </p:txBody>
      </p:sp>
      <p:sp>
        <p:nvSpPr>
          <p:cNvPr id="59" name="Oval 56"/>
          <p:cNvSpPr>
            <a:spLocks noChangeArrowheads="1"/>
          </p:cNvSpPr>
          <p:nvPr/>
        </p:nvSpPr>
        <p:spPr bwMode="auto">
          <a:xfrm>
            <a:off x="3500438" y="2800350"/>
            <a:ext cx="112712" cy="106363"/>
          </a:xfrm>
          <a:prstGeom prst="ellipse">
            <a:avLst/>
          </a:prstGeom>
          <a:solidFill>
            <a:srgbClr val="000000"/>
          </a:solidFill>
          <a:ln w="9525">
            <a:noFill/>
            <a:round/>
            <a:headEnd/>
            <a:tailEnd/>
          </a:ln>
        </p:spPr>
        <p:txBody>
          <a:bodyPr/>
          <a:lstStyle/>
          <a:p>
            <a:endParaRPr lang="en-US"/>
          </a:p>
        </p:txBody>
      </p:sp>
      <p:sp>
        <p:nvSpPr>
          <p:cNvPr id="60" name="Oval 57"/>
          <p:cNvSpPr>
            <a:spLocks noChangeArrowheads="1"/>
          </p:cNvSpPr>
          <p:nvPr/>
        </p:nvSpPr>
        <p:spPr bwMode="auto">
          <a:xfrm>
            <a:off x="3500438" y="3813175"/>
            <a:ext cx="112712" cy="107950"/>
          </a:xfrm>
          <a:prstGeom prst="ellipse">
            <a:avLst/>
          </a:prstGeom>
          <a:solidFill>
            <a:srgbClr val="000000"/>
          </a:solidFill>
          <a:ln w="9525">
            <a:noFill/>
            <a:round/>
            <a:headEnd/>
            <a:tailEnd/>
          </a:ln>
        </p:spPr>
        <p:txBody>
          <a:bodyPr/>
          <a:lstStyle/>
          <a:p>
            <a:endParaRPr lang="en-US"/>
          </a:p>
        </p:txBody>
      </p:sp>
      <p:sp>
        <p:nvSpPr>
          <p:cNvPr id="61" name="Oval 58"/>
          <p:cNvSpPr>
            <a:spLocks noChangeArrowheads="1"/>
          </p:cNvSpPr>
          <p:nvPr/>
        </p:nvSpPr>
        <p:spPr bwMode="auto">
          <a:xfrm>
            <a:off x="5692775" y="3813175"/>
            <a:ext cx="112713" cy="107950"/>
          </a:xfrm>
          <a:prstGeom prst="ellipse">
            <a:avLst/>
          </a:prstGeom>
          <a:solidFill>
            <a:srgbClr val="000000"/>
          </a:solidFill>
          <a:ln w="9525">
            <a:noFill/>
            <a:round/>
            <a:headEnd/>
            <a:tailEnd/>
          </a:ln>
        </p:spPr>
        <p:txBody>
          <a:bodyPr/>
          <a:lstStyle/>
          <a:p>
            <a:endParaRPr lang="en-US"/>
          </a:p>
        </p:txBody>
      </p:sp>
      <p:sp>
        <p:nvSpPr>
          <p:cNvPr id="62" name="Line 59"/>
          <p:cNvSpPr>
            <a:spLocks noChangeShapeType="1"/>
          </p:cNvSpPr>
          <p:nvPr/>
        </p:nvSpPr>
        <p:spPr bwMode="auto">
          <a:xfrm flipV="1">
            <a:off x="3562350" y="2171700"/>
            <a:ext cx="827088" cy="1685925"/>
          </a:xfrm>
          <a:prstGeom prst="line">
            <a:avLst/>
          </a:prstGeom>
          <a:noFill/>
          <a:ln w="7938">
            <a:solidFill>
              <a:srgbClr val="000000"/>
            </a:solidFill>
            <a:miter lim="800000"/>
            <a:headEnd/>
            <a:tailEnd/>
          </a:ln>
        </p:spPr>
        <p:txBody>
          <a:bodyPr/>
          <a:lstStyle/>
          <a:p>
            <a:endParaRPr lang="en-US"/>
          </a:p>
        </p:txBody>
      </p:sp>
      <p:sp>
        <p:nvSpPr>
          <p:cNvPr id="63" name="Line 60"/>
          <p:cNvSpPr>
            <a:spLocks noChangeShapeType="1"/>
          </p:cNvSpPr>
          <p:nvPr/>
        </p:nvSpPr>
        <p:spPr bwMode="auto">
          <a:xfrm flipH="1" flipV="1">
            <a:off x="1355725" y="1409700"/>
            <a:ext cx="7938" cy="3978275"/>
          </a:xfrm>
          <a:prstGeom prst="line">
            <a:avLst/>
          </a:prstGeom>
          <a:noFill/>
          <a:ln w="7938">
            <a:solidFill>
              <a:srgbClr val="000000"/>
            </a:solidFill>
            <a:miter lim="800000"/>
            <a:headEnd/>
            <a:tailEnd/>
          </a:ln>
        </p:spPr>
        <p:txBody>
          <a:bodyPr/>
          <a:lstStyle/>
          <a:p>
            <a:endParaRPr lang="en-US"/>
          </a:p>
        </p:txBody>
      </p:sp>
      <p:cxnSp>
        <p:nvCxnSpPr>
          <p:cNvPr id="64" name="Straight Connector 86"/>
          <p:cNvCxnSpPr>
            <a:cxnSpLocks noChangeShapeType="1"/>
            <a:endCxn id="62" idx="0"/>
          </p:cNvCxnSpPr>
          <p:nvPr/>
        </p:nvCxnSpPr>
        <p:spPr bwMode="auto">
          <a:xfrm rot="16200000" flipH="1">
            <a:off x="3069431" y="3364707"/>
            <a:ext cx="973137" cy="12700"/>
          </a:xfrm>
          <a:prstGeom prst="line">
            <a:avLst/>
          </a:prstGeom>
          <a:noFill/>
          <a:ln w="15875">
            <a:solidFill>
              <a:srgbClr val="808080"/>
            </a:solidFill>
            <a:prstDash val="sysDot"/>
            <a:round/>
            <a:headEnd/>
            <a:tailEnd type="none" w="med" len="lg"/>
          </a:ln>
        </p:spPr>
      </p:cxnSp>
      <p:cxnSp>
        <p:nvCxnSpPr>
          <p:cNvPr id="65" name="Straight Connector 86"/>
          <p:cNvCxnSpPr>
            <a:cxnSpLocks noChangeShapeType="1"/>
          </p:cNvCxnSpPr>
          <p:nvPr/>
        </p:nvCxnSpPr>
        <p:spPr bwMode="auto">
          <a:xfrm>
            <a:off x="1476375" y="2862263"/>
            <a:ext cx="2043113" cy="0"/>
          </a:xfrm>
          <a:prstGeom prst="line">
            <a:avLst/>
          </a:prstGeom>
          <a:noFill/>
          <a:ln w="15875">
            <a:solidFill>
              <a:srgbClr val="808080"/>
            </a:solidFill>
            <a:prstDash val="sysDot"/>
            <a:round/>
            <a:headEnd/>
            <a:tailEnd type="none" w="med" len="lg"/>
          </a:ln>
        </p:spPr>
      </p:cxnSp>
      <p:cxnSp>
        <p:nvCxnSpPr>
          <p:cNvPr id="66" name="Straight Connector 86"/>
          <p:cNvCxnSpPr>
            <a:cxnSpLocks noChangeShapeType="1"/>
          </p:cNvCxnSpPr>
          <p:nvPr/>
        </p:nvCxnSpPr>
        <p:spPr bwMode="auto">
          <a:xfrm>
            <a:off x="5759450" y="3951288"/>
            <a:ext cx="0" cy="376237"/>
          </a:xfrm>
          <a:prstGeom prst="line">
            <a:avLst/>
          </a:prstGeom>
          <a:noFill/>
          <a:ln w="15875">
            <a:solidFill>
              <a:srgbClr val="808080"/>
            </a:solidFill>
            <a:prstDash val="sysDot"/>
            <a:round/>
            <a:headEnd/>
            <a:tailEnd type="none" w="med" len="lg"/>
          </a:ln>
        </p:spPr>
      </p:cxnSp>
      <p:sp>
        <p:nvSpPr>
          <p:cNvPr id="67" name="Rectangle 64"/>
          <p:cNvSpPr>
            <a:spLocks noChangeArrowheads="1"/>
          </p:cNvSpPr>
          <p:nvPr/>
        </p:nvSpPr>
        <p:spPr bwMode="auto">
          <a:xfrm>
            <a:off x="563563" y="904875"/>
            <a:ext cx="1655762"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 marginal revenue of demand</a:t>
            </a:r>
            <a:endParaRPr lang="en-US" sz="1400">
              <a:latin typeface="Tahoma" pitchFamily="34" charset="0"/>
            </a:endParaRPr>
          </a:p>
        </p:txBody>
      </p:sp>
      <p:sp>
        <p:nvSpPr>
          <p:cNvPr id="68" name="Rectangle 65"/>
          <p:cNvSpPr>
            <a:spLocks noChangeArrowheads="1"/>
          </p:cNvSpPr>
          <p:nvPr/>
        </p:nvSpPr>
        <p:spPr bwMode="auto">
          <a:xfrm>
            <a:off x="3432175" y="1701800"/>
            <a:ext cx="1392238"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Monopolist’s optimal point</a:t>
            </a:r>
            <a:endParaRPr lang="en-US" sz="1400">
              <a:latin typeface="Tahoma" pitchFamily="34" charset="0"/>
            </a:endParaRPr>
          </a:p>
        </p:txBody>
      </p:sp>
      <p:sp>
        <p:nvSpPr>
          <p:cNvPr id="69" name="Rectangle 66"/>
          <p:cNvSpPr>
            <a:spLocks noChangeArrowheads="1"/>
          </p:cNvSpPr>
          <p:nvPr/>
        </p:nvSpPr>
        <p:spPr bwMode="auto">
          <a:xfrm>
            <a:off x="5040313" y="2962275"/>
            <a:ext cx="1981200"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Perfectly competitive industry’s optimal point</a:t>
            </a:r>
            <a:endParaRPr lang="en-US" sz="1400">
              <a:latin typeface="Tahoma" pitchFamily="34" charset="0"/>
            </a:endParaRPr>
          </a:p>
        </p:txBody>
      </p:sp>
      <p:cxnSp>
        <p:nvCxnSpPr>
          <p:cNvPr id="70" name="Straight Connector 86"/>
          <p:cNvCxnSpPr>
            <a:cxnSpLocks noChangeShapeType="1"/>
          </p:cNvCxnSpPr>
          <p:nvPr/>
        </p:nvCxnSpPr>
        <p:spPr bwMode="auto">
          <a:xfrm rot="5400000">
            <a:off x="3322637" y="4178301"/>
            <a:ext cx="454025" cy="0"/>
          </a:xfrm>
          <a:prstGeom prst="line">
            <a:avLst/>
          </a:prstGeom>
          <a:noFill/>
          <a:ln w="15875">
            <a:solidFill>
              <a:srgbClr val="808080"/>
            </a:solidFill>
            <a:prstDash val="sysDot"/>
            <a:round/>
            <a:headEnd/>
            <a:tailEnd type="none" w="med" len="lg"/>
          </a:ln>
        </p:spPr>
      </p:cxnSp>
      <p:sp>
        <p:nvSpPr>
          <p:cNvPr id="2" name="Rectangle 66"/>
          <p:cNvSpPr>
            <a:spLocks noChangeArrowheads="1"/>
          </p:cNvSpPr>
          <p:nvPr/>
        </p:nvSpPr>
        <p:spPr bwMode="auto">
          <a:xfrm>
            <a:off x="7019925" y="3860800"/>
            <a:ext cx="1981200" cy="365125"/>
          </a:xfrm>
          <a:prstGeom prst="rect">
            <a:avLst/>
          </a:prstGeom>
          <a:noFill/>
          <a:ln w="9525">
            <a:noFill/>
            <a:miter lim="800000"/>
            <a:headEnd/>
            <a:tailEnd/>
          </a:ln>
        </p:spPr>
        <p:txBody>
          <a:bodyPr lIns="0" tIns="0" rIns="0" bIns="0">
            <a:spAutoFit/>
          </a:bodyPr>
          <a:lstStyle/>
          <a:p>
            <a:pPr marL="1588" indent="-1588" algn="ctr"/>
            <a:r>
              <a:rPr lang="en-US" sz="1200">
                <a:solidFill>
                  <a:srgbClr val="000000"/>
                </a:solidFill>
                <a:latin typeface="Myriad Pro"/>
              </a:rPr>
              <a:t>For simplicity, we assume constant MC</a:t>
            </a:r>
            <a:endParaRPr lang="en-US" sz="1200">
              <a:latin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57"/>
                                        </p:tgtEl>
                                        <p:attrNameLst>
                                          <p:attrName>style.visibility</p:attrName>
                                        </p:attrNameLst>
                                      </p:cBhvr>
                                      <p:to>
                                        <p:strVal val="visible"/>
                                      </p:to>
                                    </p:set>
                                    <p:animEffect transition="in" filter="wipe(left)">
                                      <p:cBhvr>
                                        <p:cTn id="43" dur="500"/>
                                        <p:tgtEl>
                                          <p:spTgt spid="57"/>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childTnLst>
                                </p:cTn>
                              </p:par>
                              <p:par>
                                <p:cTn id="46" presetID="22" presetClass="entr" presetSubtype="8" fill="hold" grpId="0" nodeType="withEffect">
                                  <p:stCondLst>
                                    <p:cond delay="0"/>
                                  </p:stCondLst>
                                  <p:childTnLst>
                                    <p:set>
                                      <p:cBhvr>
                                        <p:cTn id="47" dur="1" fill="hold">
                                          <p:stCondLst>
                                            <p:cond delay="0"/>
                                          </p:stCondLst>
                                        </p:cTn>
                                        <p:tgtEl>
                                          <p:spTgt spid="58"/>
                                        </p:tgtEl>
                                        <p:attrNameLst>
                                          <p:attrName>style.visibility</p:attrName>
                                        </p:attrNameLst>
                                      </p:cBhvr>
                                      <p:to>
                                        <p:strVal val="visible"/>
                                      </p:to>
                                    </p:set>
                                    <p:animEffect transition="in" filter="wipe(left)">
                                      <p:cBhvr>
                                        <p:cTn id="48" dur="500"/>
                                        <p:tgtEl>
                                          <p:spTgt spid="58"/>
                                        </p:tgtEl>
                                      </p:cBhvr>
                                    </p:animEffect>
                                  </p:childTnLst>
                                </p:cTn>
                              </p:par>
                              <p:par>
                                <p:cTn id="49" presetID="1"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6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0"/>
                                        </p:tgtEl>
                                        <p:attrNameLst>
                                          <p:attrName>style.visibility</p:attrName>
                                        </p:attrNameLst>
                                      </p:cBhvr>
                                      <p:to>
                                        <p:strVal val="visible"/>
                                      </p:to>
                                    </p:set>
                                  </p:childTnLst>
                                </p:cTn>
                              </p:par>
                              <p:par>
                                <p:cTn id="59" presetID="22" presetClass="entr" presetSubtype="8" fill="hold" grpId="0" nodeType="withEffect">
                                  <p:stCondLst>
                                    <p:cond delay="0"/>
                                  </p:stCondLst>
                                  <p:childTnLst>
                                    <p:set>
                                      <p:cBhvr>
                                        <p:cTn id="60" dur="1" fill="hold">
                                          <p:stCondLst>
                                            <p:cond delay="0"/>
                                          </p:stCondLst>
                                        </p:cTn>
                                        <p:tgtEl>
                                          <p:spTgt spid="32"/>
                                        </p:tgtEl>
                                        <p:attrNameLst>
                                          <p:attrName>style.visibility</p:attrName>
                                        </p:attrNameLst>
                                      </p:cBhvr>
                                      <p:to>
                                        <p:strVal val="visible"/>
                                      </p:to>
                                    </p:set>
                                    <p:animEffect transition="in" filter="wipe(left)">
                                      <p:cBhvr>
                                        <p:cTn id="61" dur="500"/>
                                        <p:tgtEl>
                                          <p:spTgt spid="32"/>
                                        </p:tgtEl>
                                      </p:cBhvr>
                                    </p:animEffect>
                                  </p:childTnLst>
                                </p:cTn>
                              </p:par>
                              <p:par>
                                <p:cTn id="62" presetID="1" presetClass="entr" presetSubtype="0" fill="hold" nodeType="withEffect">
                                  <p:stCondLst>
                                    <p:cond delay="0"/>
                                  </p:stCondLst>
                                  <p:childTnLst>
                                    <p:set>
                                      <p:cBhvr>
                                        <p:cTn id="63" dur="1" fill="hold">
                                          <p:stCondLst>
                                            <p:cond delay="0"/>
                                          </p:stCondLst>
                                        </p:cTn>
                                        <p:tgtEl>
                                          <p:spTgt spid="70"/>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40"/>
                                        </p:tgtEl>
                                        <p:attrNameLst>
                                          <p:attrName>style.visibility</p:attrName>
                                        </p:attrNameLst>
                                      </p:cBhvr>
                                      <p:to>
                                        <p:strVal val="visible"/>
                                      </p:to>
                                    </p:set>
                                  </p:childTnLst>
                                </p:cTn>
                              </p:par>
                              <p:par>
                                <p:cTn id="68" presetID="22" presetClass="entr" presetSubtype="8" fill="hold" grpId="0" nodeType="withEffect">
                                  <p:stCondLst>
                                    <p:cond delay="0"/>
                                  </p:stCondLst>
                                  <p:childTnLst>
                                    <p:set>
                                      <p:cBhvr>
                                        <p:cTn id="69" dur="1" fill="hold">
                                          <p:stCondLst>
                                            <p:cond delay="0"/>
                                          </p:stCondLst>
                                        </p:cTn>
                                        <p:tgtEl>
                                          <p:spTgt spid="68"/>
                                        </p:tgtEl>
                                        <p:attrNameLst>
                                          <p:attrName>style.visibility</p:attrName>
                                        </p:attrNameLst>
                                      </p:cBhvr>
                                      <p:to>
                                        <p:strVal val="visible"/>
                                      </p:to>
                                    </p:set>
                                    <p:animEffect transition="in" filter="wipe(left)">
                                      <p:cBhvr>
                                        <p:cTn id="70" dur="500"/>
                                        <p:tgtEl>
                                          <p:spTgt spid="68"/>
                                        </p:tgtEl>
                                      </p:cBhvr>
                                    </p:animEffect>
                                  </p:childTnLst>
                                </p:cTn>
                              </p:par>
                              <p:par>
                                <p:cTn id="71" presetID="1" presetClass="entr" presetSubtype="0" fill="hold" grpId="0" nodeType="withEffect">
                                  <p:stCondLst>
                                    <p:cond delay="0"/>
                                  </p:stCondLst>
                                  <p:childTnLst>
                                    <p:set>
                                      <p:cBhvr>
                                        <p:cTn id="72" dur="1" fill="hold">
                                          <p:stCondLst>
                                            <p:cond delay="0"/>
                                          </p:stCondLst>
                                        </p:cTn>
                                        <p:tgtEl>
                                          <p:spTgt spid="62"/>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1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1"/>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66"/>
                                        </p:tgtEl>
                                        <p:attrNameLst>
                                          <p:attrName>style.visibility</p:attrName>
                                        </p:attrNameLst>
                                      </p:cBhvr>
                                      <p:to>
                                        <p:strVal val="visible"/>
                                      </p:to>
                                    </p:set>
                                  </p:childTnLst>
                                </p:cTn>
                              </p:par>
                              <p:par>
                                <p:cTn id="83" presetID="22" presetClass="entr" presetSubtype="8" fill="hold" grpId="0" nodeType="withEffect">
                                  <p:stCondLst>
                                    <p:cond delay="0"/>
                                  </p:stCondLst>
                                  <p:childTnLst>
                                    <p:set>
                                      <p:cBhvr>
                                        <p:cTn id="84" dur="1" fill="hold">
                                          <p:stCondLst>
                                            <p:cond delay="0"/>
                                          </p:stCondLst>
                                        </p:cTn>
                                        <p:tgtEl>
                                          <p:spTgt spid="69"/>
                                        </p:tgtEl>
                                        <p:attrNameLst>
                                          <p:attrName>style.visibility</p:attrName>
                                        </p:attrNameLst>
                                      </p:cBhvr>
                                      <p:to>
                                        <p:strVal val="visible"/>
                                      </p:to>
                                    </p:set>
                                    <p:animEffect transition="in" filter="wipe(left)">
                                      <p:cBhvr>
                                        <p:cTn id="85" dur="500"/>
                                        <p:tgtEl>
                                          <p:spTgt spid="69"/>
                                        </p:tgtEl>
                                      </p:cBhvr>
                                    </p:animEffect>
                                  </p:childTnLst>
                                </p:cTn>
                              </p:par>
                              <p:par>
                                <p:cTn id="86" presetID="1" presetClass="entr" presetSubtype="0" fill="hold" grpId="0" nodeType="withEffect">
                                  <p:stCondLst>
                                    <p:cond delay="0"/>
                                  </p:stCondLst>
                                  <p:childTnLst>
                                    <p:set>
                                      <p:cBhvr>
                                        <p:cTn id="87" dur="1" fill="hold">
                                          <p:stCondLst>
                                            <p:cond delay="0"/>
                                          </p:stCondLst>
                                        </p:cTn>
                                        <p:tgtEl>
                                          <p:spTgt spid="38"/>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36"/>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15"/>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17"/>
                                        </p:tgtEl>
                                        <p:attrNameLst>
                                          <p:attrName>style.visibility</p:attrName>
                                        </p:attrNameLst>
                                      </p:cBhvr>
                                      <p:to>
                                        <p:strVal val="visible"/>
                                      </p:to>
                                    </p:set>
                                  </p:childTnLst>
                                </p:cTn>
                              </p:par>
                              <p:par>
                                <p:cTn id="94" presetID="1" presetClass="entr" presetSubtype="0" fill="hold" grpId="0" nodeType="withEffect">
                                  <p:stCondLst>
                                    <p:cond delay="0"/>
                                  </p:stCondLst>
                                  <p:childTnLst>
                                    <p:set>
                                      <p:cBhvr>
                                        <p:cTn id="95" dur="1" fill="hold">
                                          <p:stCondLst>
                                            <p:cond delay="0"/>
                                          </p:stCondLst>
                                        </p:cTn>
                                        <p:tgtEl>
                                          <p:spTgt spid="16"/>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49"/>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51"/>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52"/>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53"/>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50"/>
                                        </p:tgtEl>
                                        <p:attrNameLst>
                                          <p:attrName>style.visibility</p:attrName>
                                        </p:attrNameLst>
                                      </p:cBhvr>
                                      <p:to>
                                        <p:strVal val="visible"/>
                                      </p:to>
                                    </p:set>
                                  </p:childTnLst>
                                </p:cTn>
                              </p:par>
                              <p:par>
                                <p:cTn id="106" presetID="1" presetClass="entr" presetSubtype="0" fill="hold" grpId="0" nodeType="withEffect">
                                  <p:stCondLst>
                                    <p:cond delay="0"/>
                                  </p:stCondLst>
                                  <p:childTnLst>
                                    <p:set>
                                      <p:cBhvr>
                                        <p:cTn id="107" dur="1" fill="hold">
                                          <p:stCondLst>
                                            <p:cond delay="0"/>
                                          </p:stCondLst>
                                        </p:cTn>
                                        <p:tgtEl>
                                          <p:spTgt spid="54"/>
                                        </p:tgtEl>
                                        <p:attrNameLst>
                                          <p:attrName>style.visibility</p:attrName>
                                        </p:attrNameLst>
                                      </p:cBhvr>
                                      <p:to>
                                        <p:strVal val="visible"/>
                                      </p:to>
                                    </p:set>
                                  </p:childTnLst>
                                </p:cTn>
                              </p:par>
                              <p:par>
                                <p:cTn id="108" presetID="1" presetClass="entr" presetSubtype="0" fill="hold" grpId="0" nodeType="withEffect">
                                  <p:stCondLst>
                                    <p:cond delay="0"/>
                                  </p:stCondLst>
                                  <p:childTnLst>
                                    <p:set>
                                      <p:cBhvr>
                                        <p:cTn id="109" dur="1" fill="hold">
                                          <p:stCondLst>
                                            <p:cond delay="0"/>
                                          </p:stCondLst>
                                        </p:cTn>
                                        <p:tgtEl>
                                          <p:spTgt spid="55"/>
                                        </p:tgtEl>
                                        <p:attrNameLst>
                                          <p:attrName>style.visibility</p:attrName>
                                        </p:attrNameLst>
                                      </p:cBhvr>
                                      <p:to>
                                        <p:strVal val="visible"/>
                                      </p:to>
                                    </p:set>
                                  </p:childTnLst>
                                </p:cTn>
                              </p:par>
                              <p:par>
                                <p:cTn id="110" presetID="1" presetClass="entr" presetSubtype="0" fill="hold" grpId="0" nodeType="withEffect">
                                  <p:stCondLst>
                                    <p:cond delay="0"/>
                                  </p:stCondLst>
                                  <p:childTnLst>
                                    <p:set>
                                      <p:cBhvr>
                                        <p:cTn id="111" dur="1" fill="hold">
                                          <p:stCondLst>
                                            <p:cond delay="0"/>
                                          </p:stCondLst>
                                        </p:cTn>
                                        <p:tgtEl>
                                          <p:spTgt spid="56"/>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25"/>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43"/>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44"/>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45"/>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59"/>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9"/>
                                        </p:tgtEl>
                                        <p:attrNameLst>
                                          <p:attrName>style.visibility</p:attrName>
                                        </p:attrNameLst>
                                      </p:cBhvr>
                                      <p:to>
                                        <p:strVal val="visible"/>
                                      </p:to>
                                    </p:set>
                                  </p:childTnLst>
                                </p:cTn>
                              </p:par>
                              <p:par>
                                <p:cTn id="126" presetID="1" presetClass="entr" presetSubtype="0" fill="hold" grpId="0" nodeType="withEffect">
                                  <p:stCondLst>
                                    <p:cond delay="0"/>
                                  </p:stCondLst>
                                  <p:childTnLst>
                                    <p:set>
                                      <p:cBhvr>
                                        <p:cTn id="127" dur="1" fill="hold">
                                          <p:stCondLst>
                                            <p:cond delay="0"/>
                                          </p:stCondLst>
                                        </p:cTn>
                                        <p:tgtEl>
                                          <p:spTgt spid="46"/>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47"/>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24"/>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48"/>
                                        </p:tgtEl>
                                        <p:attrNameLst>
                                          <p:attrName>style.visibility</p:attrName>
                                        </p:attrNameLst>
                                      </p:cBhvr>
                                      <p:to>
                                        <p:strVal val="visible"/>
                                      </p:to>
                                    </p:set>
                                  </p:childTnLst>
                                </p:cTn>
                              </p:par>
                              <p:par>
                                <p:cTn id="134" presetID="13" presetClass="entr" presetSubtype="16" fill="hold" grpId="0" nodeType="withEffect">
                                  <p:stCondLst>
                                    <p:cond delay="0"/>
                                  </p:stCondLst>
                                  <p:childTnLst>
                                    <p:set>
                                      <p:cBhvr>
                                        <p:cTn id="135" dur="1" fill="hold">
                                          <p:stCondLst>
                                            <p:cond delay="0"/>
                                          </p:stCondLst>
                                        </p:cTn>
                                        <p:tgtEl>
                                          <p:spTgt spid="8"/>
                                        </p:tgtEl>
                                        <p:attrNameLst>
                                          <p:attrName>style.visibility</p:attrName>
                                        </p:attrNameLst>
                                      </p:cBhvr>
                                      <p:to>
                                        <p:strVal val="visible"/>
                                      </p:to>
                                    </p:set>
                                    <p:animEffect transition="in" filter="plus(in)">
                                      <p:cBhvr>
                                        <p:cTn id="136" dur="500"/>
                                        <p:tgtEl>
                                          <p:spTgt spid="8"/>
                                        </p:tgtEl>
                                      </p:cBhvr>
                                    </p:animEffect>
                                  </p:childTnLst>
                                </p:cTn>
                              </p:par>
                              <p:par>
                                <p:cTn id="137" presetID="1" presetClass="entr" presetSubtype="0" fill="hold" grpId="0" nodeType="withEffect">
                                  <p:stCondLst>
                                    <p:cond delay="0"/>
                                  </p:stCondLst>
                                  <p:childTnLst>
                                    <p:set>
                                      <p:cBhvr>
                                        <p:cTn id="138" dur="1" fill="hold">
                                          <p:stCondLst>
                                            <p:cond delay="0"/>
                                          </p:stCondLst>
                                        </p:cTn>
                                        <p:tgtEl>
                                          <p:spTgt spid="12"/>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64"/>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65"/>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22" presetClass="entr" presetSubtype="1" fill="hold" grpId="0" nodeType="clickEffect">
                                  <p:stCondLst>
                                    <p:cond delay="0"/>
                                  </p:stCondLst>
                                  <p:childTnLst>
                                    <p:set>
                                      <p:cBhvr>
                                        <p:cTn id="146" dur="1" fill="hold">
                                          <p:stCondLst>
                                            <p:cond delay="0"/>
                                          </p:stCondLst>
                                        </p:cTn>
                                        <p:tgtEl>
                                          <p:spTgt spid="7"/>
                                        </p:tgtEl>
                                        <p:attrNameLst>
                                          <p:attrName>style.visibility</p:attrName>
                                        </p:attrNameLst>
                                      </p:cBhvr>
                                      <p:to>
                                        <p:strVal val="visible"/>
                                      </p:to>
                                    </p:set>
                                    <p:animEffect transition="in" filter="wipe(up)">
                                      <p:cBhvr>
                                        <p:cTn id="147" dur="500"/>
                                        <p:tgtEl>
                                          <p:spTgt spid="7"/>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1" fill="hold" grpId="0" nodeType="clickEffect">
                                  <p:stCondLst>
                                    <p:cond delay="0"/>
                                  </p:stCondLst>
                                  <p:childTnLst>
                                    <p:set>
                                      <p:cBhvr>
                                        <p:cTn id="151" dur="1" fill="hold">
                                          <p:stCondLst>
                                            <p:cond delay="0"/>
                                          </p:stCondLst>
                                        </p:cTn>
                                        <p:tgtEl>
                                          <p:spTgt spid="6"/>
                                        </p:tgtEl>
                                        <p:attrNameLst>
                                          <p:attrName>style.visibility</p:attrName>
                                        </p:attrNameLst>
                                      </p:cBhvr>
                                      <p:to>
                                        <p:strVal val="visible"/>
                                      </p:to>
                                    </p:set>
                                    <p:animEffect transition="in" filter="wipe(up)">
                                      <p:cBhvr>
                                        <p:cTn id="152" dur="500"/>
                                        <p:tgtEl>
                                          <p:spTgt spid="6"/>
                                        </p:tgtEl>
                                      </p:cBhvr>
                                    </p:animEffect>
                                  </p:childTnLst>
                                </p:cTn>
                              </p:par>
                              <p:par>
                                <p:cTn id="153" presetID="22" presetClass="entr" presetSubtype="8" fill="hold" grpId="0" nodeType="withEffect">
                                  <p:stCondLst>
                                    <p:cond delay="0"/>
                                  </p:stCondLst>
                                  <p:childTnLst>
                                    <p:set>
                                      <p:cBhvr>
                                        <p:cTn id="154" dur="1" fill="hold">
                                          <p:stCondLst>
                                            <p:cond delay="0"/>
                                          </p:stCondLst>
                                        </p:cTn>
                                        <p:tgtEl>
                                          <p:spTgt spid="2"/>
                                        </p:tgtEl>
                                        <p:attrNameLst>
                                          <p:attrName>style.visibility</p:attrName>
                                        </p:attrNameLst>
                                      </p:cBhvr>
                                      <p:to>
                                        <p:strVal val="visible"/>
                                      </p:to>
                                    </p:set>
                                    <p:animEffect transition="in" filter="wipe(left)">
                                      <p:cBhvr>
                                        <p:cTn id="15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p:bldP spid="10" grpId="0"/>
      <p:bldP spid="11" grpId="0"/>
      <p:bldP spid="12" grpId="0"/>
      <p:bldP spid="13" grpId="0"/>
      <p:bldP spid="14" grpId="0"/>
      <p:bldP spid="15" grpId="0"/>
      <p:bldP spid="16" grpId="0"/>
      <p:bldP spid="17" grpId="0"/>
      <p:bldP spid="18" grpId="0"/>
      <p:bldP spid="19" grpId="0"/>
      <p:bldP spid="20" grpId="0"/>
      <p:bldP spid="21" grpId="0" animBg="1"/>
      <p:bldP spid="22" grpId="0" animBg="1"/>
      <p:bldP spid="23" grpId="0" animBg="1"/>
      <p:bldP spid="24" grpId="0" animBg="1"/>
      <p:bldP spid="25" grpId="0" animBg="1"/>
      <p:bldP spid="26" grpId="0"/>
      <p:bldP spid="27" grpId="0"/>
      <p:bldP spid="28" grpId="0"/>
      <p:bldP spid="29" grpId="0"/>
      <p:bldP spid="30" grpId="0"/>
      <p:bldP spid="31" grpId="0" animBg="1"/>
      <p:bldP spid="32" grpId="0" animBg="1"/>
      <p:bldP spid="33" grpId="0"/>
      <p:bldP spid="34" grpId="0"/>
      <p:bldP spid="35" grpId="0"/>
      <p:bldP spid="36" grpId="0" animBg="1"/>
      <p:bldP spid="37" grpId="0"/>
      <p:bldP spid="38" grpId="0" animBg="1"/>
      <p:bldP spid="39" grpId="0"/>
      <p:bldP spid="40" grpId="0" animBg="1"/>
      <p:bldP spid="41" grpId="0" animBg="1"/>
      <p:bldP spid="42" grpId="0" animBg="1"/>
      <p:bldP spid="43" grpId="0" animBg="1"/>
      <p:bldP spid="44" grpId="0"/>
      <p:bldP spid="45" grpId="0"/>
      <p:bldP spid="46" grpId="0" animBg="1"/>
      <p:bldP spid="47" grpId="0"/>
      <p:bldP spid="48" grpId="0"/>
      <p:bldP spid="49" grpId="0" animBg="1"/>
      <p:bldP spid="50" grpId="0" animBg="1"/>
      <p:bldP spid="51" grpId="0" animBg="1"/>
      <p:bldP spid="52" grpId="0"/>
      <p:bldP spid="53" grpId="0"/>
      <p:bldP spid="54" grpId="0" animBg="1"/>
      <p:bldP spid="55" grpId="0"/>
      <p:bldP spid="56" grpId="0"/>
      <p:bldP spid="57" grpId="0" animBg="1"/>
      <p:bldP spid="58" grpId="0" animBg="1"/>
      <p:bldP spid="59" grpId="0" animBg="1"/>
      <p:bldP spid="60" grpId="0" animBg="1"/>
      <p:bldP spid="61" grpId="0" animBg="1"/>
      <p:bldP spid="62" grpId="0" animBg="1"/>
      <p:bldP spid="63" grpId="0" animBg="1"/>
      <p:bldP spid="67" grpId="0"/>
      <p:bldP spid="68" grpId="0"/>
      <p:bldP spid="69" grpId="0"/>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rrowheads="1"/>
          </p:cNvSpPr>
          <p:nvPr>
            <p:ph type="title" idx="4294967295"/>
          </p:nvPr>
        </p:nvSpPr>
        <p:spPr>
          <a:xfrm>
            <a:off x="900113" y="76200"/>
            <a:ext cx="8135937" cy="609600"/>
          </a:xfrm>
        </p:spPr>
        <p:txBody>
          <a:bodyPr/>
          <a:lstStyle/>
          <a:p>
            <a:pPr>
              <a:defRPr/>
            </a:pPr>
            <a:r>
              <a:rPr lang="en-US" sz="2800" dirty="0" smtClean="0"/>
              <a:t>The Monopolist’s Profit-Maximizing Output and Price</a:t>
            </a:r>
          </a:p>
        </p:txBody>
      </p:sp>
      <p:sp>
        <p:nvSpPr>
          <p:cNvPr id="92165" name="Rectangle 5"/>
          <p:cNvSpPr>
            <a:spLocks noChangeArrowheads="1"/>
          </p:cNvSpPr>
          <p:nvPr/>
        </p:nvSpPr>
        <p:spPr bwMode="auto">
          <a:xfrm>
            <a:off x="971550" y="912813"/>
            <a:ext cx="7939088" cy="5411787"/>
          </a:xfrm>
          <a:prstGeom prst="rect">
            <a:avLst/>
          </a:prstGeom>
          <a:noFill/>
          <a:ln w="9525" algn="ctr">
            <a:noFill/>
            <a:miter lim="800000"/>
            <a:headEnd/>
            <a:tailEnd type="none" w="med" len="lg"/>
          </a:ln>
        </p:spPr>
        <p:txBody>
          <a:bodyPr/>
          <a:lstStyle/>
          <a:p>
            <a:pPr marL="230188" indent="-230188">
              <a:buClr>
                <a:schemeClr val="tx1"/>
              </a:buClr>
              <a:buFont typeface="Arial" charset="0"/>
              <a:buChar char="•"/>
            </a:pPr>
            <a:r>
              <a:rPr lang="en-US" sz="2400"/>
              <a:t>To maximize profit, the monopolist compares marginal cost with marginal revenue.</a:t>
            </a:r>
          </a:p>
          <a:p>
            <a:pPr marL="230188" indent="-230188">
              <a:buClr>
                <a:schemeClr val="tx1"/>
              </a:buClr>
              <a:buFont typeface="Arial" charset="0"/>
              <a:buChar char="•"/>
            </a:pPr>
            <a:endParaRPr lang="en-US" sz="2400"/>
          </a:p>
          <a:p>
            <a:pPr marL="230188" indent="-230188">
              <a:buClr>
                <a:schemeClr val="tx1"/>
              </a:buClr>
              <a:buFont typeface="Arial" charset="0"/>
              <a:buChar char="•"/>
            </a:pPr>
            <a:r>
              <a:rPr lang="en-US" sz="2400"/>
              <a:t>If marginal revenue exceeds marginal cost, De Beers increases profit by producing more; if marginal revenue is less than marginal cost, De Beers increases profit by producing less. </a:t>
            </a:r>
          </a:p>
          <a:p>
            <a:pPr marL="230188" indent="-230188">
              <a:buClr>
                <a:schemeClr val="tx1"/>
              </a:buClr>
              <a:buFont typeface="Arial" charset="0"/>
              <a:buChar char="•"/>
            </a:pPr>
            <a:endParaRPr lang="en-US" sz="2400"/>
          </a:p>
          <a:p>
            <a:pPr marL="230188" indent="-230188">
              <a:buClr>
                <a:schemeClr val="tx1"/>
              </a:buClr>
              <a:buFont typeface="Arial" charset="0"/>
              <a:buChar char="•"/>
            </a:pPr>
            <a:r>
              <a:rPr lang="en-US" sz="2400"/>
              <a:t>So the monopolist maximizes its profit by using the optimal output rule:</a:t>
            </a:r>
          </a:p>
          <a:p>
            <a:pPr marL="687388" lvl="1" indent="-230188">
              <a:buClr>
                <a:schemeClr val="tx1"/>
              </a:buClr>
              <a:buFont typeface="Wingdings" pitchFamily="2" charset="2"/>
              <a:buChar char="§"/>
            </a:pPr>
            <a:r>
              <a:rPr lang="en-US" sz="2200"/>
              <a:t>At the monopolist’s profit-maximizing quantity of output:</a:t>
            </a:r>
          </a:p>
          <a:p>
            <a:pPr marL="230188" indent="-230188" algn="ctr"/>
            <a:r>
              <a:rPr lang="en-US" sz="2400" b="1" i="1"/>
              <a:t>MR = MC</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539" name="Text Box 43"/>
          <p:cNvSpPr txBox="1">
            <a:spLocks noChangeArrowheads="1"/>
          </p:cNvSpPr>
          <p:nvPr/>
        </p:nvSpPr>
        <p:spPr bwMode="auto">
          <a:xfrm>
            <a:off x="5795963" y="2362200"/>
            <a:ext cx="3271837" cy="1298575"/>
          </a:xfrm>
          <a:prstGeom prst="rect">
            <a:avLst/>
          </a:prstGeom>
          <a:solidFill>
            <a:schemeClr val="accent5">
              <a:lumMod val="20000"/>
              <a:lumOff val="80000"/>
            </a:schemeClr>
          </a:solidFill>
          <a:ln w="25400" algn="ctr">
            <a:noFill/>
            <a:prstDash val="sysDot"/>
            <a:miter lim="800000"/>
            <a:headEnd/>
            <a:tailEnd type="none" w="med" len="lg"/>
          </a:ln>
          <a:effectLst/>
        </p:spPr>
        <p:txBody>
          <a:bodyPr/>
          <a:lstStyle/>
          <a:p>
            <a:pPr marL="1588" indent="-1588" algn="ctr">
              <a:spcBef>
                <a:spcPct val="20000"/>
              </a:spcBef>
              <a:defRPr/>
            </a:pPr>
            <a:r>
              <a:rPr lang="en-US" dirty="0">
                <a:solidFill>
                  <a:srgbClr val="0033CC"/>
                </a:solidFill>
              </a:rPr>
              <a:t>The average total cost of </a:t>
            </a:r>
            <a:r>
              <a:rPr lang="en-US" i="1" dirty="0">
                <a:solidFill>
                  <a:srgbClr val="0033CC"/>
                </a:solidFill>
              </a:rPr>
              <a:t>Q</a:t>
            </a:r>
            <a:r>
              <a:rPr lang="en-US" i="1" baseline="-25000" dirty="0">
                <a:solidFill>
                  <a:srgbClr val="0033CC"/>
                </a:solidFill>
              </a:rPr>
              <a:t>M</a:t>
            </a:r>
            <a:r>
              <a:rPr lang="en-US" i="1" dirty="0">
                <a:solidFill>
                  <a:srgbClr val="0033CC"/>
                </a:solidFill>
              </a:rPr>
              <a:t> </a:t>
            </a:r>
            <a:r>
              <a:rPr lang="en-US" dirty="0">
                <a:solidFill>
                  <a:srgbClr val="0033CC"/>
                </a:solidFill>
              </a:rPr>
              <a:t>is shown by point </a:t>
            </a:r>
            <a:r>
              <a:rPr lang="en-US" i="1" dirty="0">
                <a:solidFill>
                  <a:srgbClr val="0033CC"/>
                </a:solidFill>
              </a:rPr>
              <a:t>C</a:t>
            </a:r>
            <a:r>
              <a:rPr lang="en-US" dirty="0">
                <a:solidFill>
                  <a:srgbClr val="0033CC"/>
                </a:solidFill>
              </a:rPr>
              <a:t>. </a:t>
            </a:r>
            <a:br>
              <a:rPr lang="en-US" dirty="0">
                <a:solidFill>
                  <a:srgbClr val="0033CC"/>
                </a:solidFill>
              </a:rPr>
            </a:br>
            <a:r>
              <a:rPr lang="en-US" dirty="0">
                <a:solidFill>
                  <a:srgbClr val="0033CC"/>
                </a:solidFill>
              </a:rPr>
              <a:t>Profit is given by the area of the shaded rectangle.</a:t>
            </a:r>
          </a:p>
        </p:txBody>
      </p:sp>
      <p:sp>
        <p:nvSpPr>
          <p:cNvPr id="234498" name="Rectangle 2"/>
          <p:cNvSpPr>
            <a:spLocks noGrp="1" noRot="1" noChangeArrowheads="1"/>
          </p:cNvSpPr>
          <p:nvPr>
            <p:ph type="title" idx="4294967295"/>
          </p:nvPr>
        </p:nvSpPr>
        <p:spPr>
          <a:xfrm>
            <a:off x="755650" y="60325"/>
            <a:ext cx="8208963" cy="555625"/>
          </a:xfrm>
        </p:spPr>
        <p:txBody>
          <a:bodyPr/>
          <a:lstStyle/>
          <a:p>
            <a:pPr>
              <a:defRPr/>
            </a:pPr>
            <a:r>
              <a:rPr lang="en-US" dirty="0" smtClean="0">
                <a:effectLst>
                  <a:outerShdw blurRad="38100" dist="38100" dir="2700000" algn="tl">
                    <a:srgbClr val="C0C0C0"/>
                  </a:outerShdw>
                </a:effectLst>
              </a:rPr>
              <a:t>The Monopolist’s Profit with usual cost curves</a:t>
            </a:r>
          </a:p>
        </p:txBody>
      </p:sp>
      <p:sp>
        <p:nvSpPr>
          <p:cNvPr id="93198" name="Text Box 14"/>
          <p:cNvSpPr txBox="1">
            <a:spLocks noChangeArrowheads="1"/>
          </p:cNvSpPr>
          <p:nvPr/>
        </p:nvSpPr>
        <p:spPr bwMode="auto">
          <a:xfrm>
            <a:off x="5795963" y="1066800"/>
            <a:ext cx="3276600" cy="1219200"/>
          </a:xfrm>
          <a:prstGeom prst="rect">
            <a:avLst/>
          </a:prstGeom>
          <a:solidFill>
            <a:schemeClr val="accent5">
              <a:lumMod val="20000"/>
              <a:lumOff val="80000"/>
            </a:schemeClr>
          </a:solidFill>
          <a:ln w="12700" algn="ctr">
            <a:noFill/>
            <a:miter lim="800000"/>
            <a:headEnd/>
            <a:tailEnd type="none" w="sm" len="lg"/>
          </a:ln>
        </p:spPr>
        <p:txBody>
          <a:bodyPr anchor="ctr"/>
          <a:lstStyle/>
          <a:p>
            <a:pPr marL="1588" indent="-1588" algn="ctr">
              <a:defRPr/>
            </a:pPr>
            <a:r>
              <a:rPr lang="en-US" sz="2000" dirty="0">
                <a:solidFill>
                  <a:srgbClr val="0033CC"/>
                </a:solidFill>
              </a:rPr>
              <a:t>Profit = </a:t>
            </a:r>
            <a:r>
              <a:rPr lang="en-US" sz="2000" i="1" dirty="0">
                <a:solidFill>
                  <a:srgbClr val="0033CC"/>
                </a:solidFill>
              </a:rPr>
              <a:t>TR </a:t>
            </a:r>
            <a:r>
              <a:rPr lang="en-US" sz="2000" dirty="0">
                <a:solidFill>
                  <a:srgbClr val="0033CC"/>
                </a:solidFill>
              </a:rPr>
              <a:t>− </a:t>
            </a:r>
            <a:r>
              <a:rPr lang="en-US" sz="2000" i="1" dirty="0">
                <a:solidFill>
                  <a:srgbClr val="0033CC"/>
                </a:solidFill>
              </a:rPr>
              <a:t>TC</a:t>
            </a:r>
            <a:endParaRPr lang="en-US" sz="2000" dirty="0">
              <a:solidFill>
                <a:srgbClr val="0033CC"/>
              </a:solidFill>
            </a:endParaRPr>
          </a:p>
          <a:p>
            <a:pPr marL="1588" indent="-1588" algn="ctr">
              <a:defRPr/>
            </a:pPr>
            <a:r>
              <a:rPr lang="en-US" sz="2000" i="1" dirty="0">
                <a:solidFill>
                  <a:srgbClr val="0033CC"/>
                </a:solidFill>
              </a:rPr>
              <a:t>= (P</a:t>
            </a:r>
            <a:r>
              <a:rPr lang="en-US" sz="2000" i="1" baseline="-25000" dirty="0">
                <a:solidFill>
                  <a:srgbClr val="0033CC"/>
                </a:solidFill>
              </a:rPr>
              <a:t>M</a:t>
            </a:r>
            <a:r>
              <a:rPr lang="en-US" sz="2000" i="1" dirty="0">
                <a:solidFill>
                  <a:srgbClr val="0033CC"/>
                </a:solidFill>
              </a:rPr>
              <a:t> </a:t>
            </a:r>
            <a:r>
              <a:rPr lang="en-US" sz="2000" dirty="0">
                <a:solidFill>
                  <a:srgbClr val="0033CC"/>
                </a:solidFill>
              </a:rPr>
              <a:t>× </a:t>
            </a:r>
            <a:r>
              <a:rPr lang="en-US" sz="2000" i="1" dirty="0">
                <a:solidFill>
                  <a:srgbClr val="0033CC"/>
                </a:solidFill>
              </a:rPr>
              <a:t>Q</a:t>
            </a:r>
            <a:r>
              <a:rPr lang="en-US" sz="2000" i="1" baseline="-25000" dirty="0">
                <a:solidFill>
                  <a:srgbClr val="0033CC"/>
                </a:solidFill>
              </a:rPr>
              <a:t>M</a:t>
            </a:r>
            <a:r>
              <a:rPr lang="en-US" sz="2000" dirty="0">
                <a:solidFill>
                  <a:srgbClr val="0033CC"/>
                </a:solidFill>
              </a:rPr>
              <a:t>) − (</a:t>
            </a:r>
            <a:r>
              <a:rPr lang="en-US" sz="2000" i="1" dirty="0">
                <a:solidFill>
                  <a:srgbClr val="0033CC"/>
                </a:solidFill>
              </a:rPr>
              <a:t>ATC</a:t>
            </a:r>
            <a:r>
              <a:rPr lang="en-US" sz="2000" i="1" baseline="-25000" dirty="0">
                <a:solidFill>
                  <a:srgbClr val="0033CC"/>
                </a:solidFill>
              </a:rPr>
              <a:t>M</a:t>
            </a:r>
            <a:r>
              <a:rPr lang="en-US" sz="2000" i="1" dirty="0">
                <a:solidFill>
                  <a:srgbClr val="0033CC"/>
                </a:solidFill>
              </a:rPr>
              <a:t> </a:t>
            </a:r>
            <a:r>
              <a:rPr lang="en-US" sz="2000" dirty="0">
                <a:solidFill>
                  <a:srgbClr val="0033CC"/>
                </a:solidFill>
              </a:rPr>
              <a:t>× </a:t>
            </a:r>
            <a:r>
              <a:rPr lang="en-US" sz="2000" i="1" dirty="0">
                <a:solidFill>
                  <a:srgbClr val="0033CC"/>
                </a:solidFill>
              </a:rPr>
              <a:t>Q</a:t>
            </a:r>
            <a:r>
              <a:rPr lang="en-US" sz="2000" i="1" baseline="-25000" dirty="0">
                <a:solidFill>
                  <a:srgbClr val="0033CC"/>
                </a:solidFill>
              </a:rPr>
              <a:t>M</a:t>
            </a:r>
            <a:r>
              <a:rPr lang="en-US" sz="2000" dirty="0">
                <a:solidFill>
                  <a:srgbClr val="0033CC"/>
                </a:solidFill>
              </a:rPr>
              <a:t>)</a:t>
            </a:r>
          </a:p>
          <a:p>
            <a:pPr marL="1588" indent="-1588" algn="ctr">
              <a:defRPr/>
            </a:pPr>
            <a:r>
              <a:rPr lang="en-US" sz="2000" dirty="0">
                <a:solidFill>
                  <a:srgbClr val="0033CC"/>
                </a:solidFill>
              </a:rPr>
              <a:t>= (</a:t>
            </a:r>
            <a:r>
              <a:rPr lang="en-US" sz="2000" i="1" dirty="0">
                <a:solidFill>
                  <a:srgbClr val="0033CC"/>
                </a:solidFill>
              </a:rPr>
              <a:t>P</a:t>
            </a:r>
            <a:r>
              <a:rPr lang="en-US" sz="2000" i="1" baseline="-25000" dirty="0">
                <a:solidFill>
                  <a:srgbClr val="0033CC"/>
                </a:solidFill>
              </a:rPr>
              <a:t>M</a:t>
            </a:r>
            <a:r>
              <a:rPr lang="en-US" sz="2000" i="1" dirty="0">
                <a:solidFill>
                  <a:srgbClr val="0033CC"/>
                </a:solidFill>
              </a:rPr>
              <a:t> </a:t>
            </a:r>
            <a:r>
              <a:rPr lang="en-US" sz="2000" dirty="0">
                <a:solidFill>
                  <a:srgbClr val="0033CC"/>
                </a:solidFill>
              </a:rPr>
              <a:t>− </a:t>
            </a:r>
            <a:r>
              <a:rPr lang="en-US" sz="2000" i="1" dirty="0">
                <a:solidFill>
                  <a:srgbClr val="0033CC"/>
                </a:solidFill>
              </a:rPr>
              <a:t>ATC</a:t>
            </a:r>
            <a:r>
              <a:rPr lang="en-US" sz="2000" i="1" baseline="-25000" dirty="0">
                <a:solidFill>
                  <a:srgbClr val="0033CC"/>
                </a:solidFill>
              </a:rPr>
              <a:t>M</a:t>
            </a:r>
            <a:r>
              <a:rPr lang="en-US" sz="2000" dirty="0">
                <a:solidFill>
                  <a:srgbClr val="0033CC"/>
                </a:solidFill>
              </a:rPr>
              <a:t>) × </a:t>
            </a:r>
            <a:r>
              <a:rPr lang="en-US" sz="2000" i="1" dirty="0">
                <a:solidFill>
                  <a:srgbClr val="0033CC"/>
                </a:solidFill>
              </a:rPr>
              <a:t>Q</a:t>
            </a:r>
            <a:r>
              <a:rPr lang="en-US" sz="2000" i="1" baseline="-25000" dirty="0">
                <a:solidFill>
                  <a:srgbClr val="0033CC"/>
                </a:solidFill>
              </a:rPr>
              <a:t>M</a:t>
            </a:r>
            <a:endParaRPr lang="en-US" sz="2000" dirty="0">
              <a:solidFill>
                <a:srgbClr val="0033CC"/>
              </a:solidFill>
            </a:endParaRPr>
          </a:p>
        </p:txBody>
      </p:sp>
      <p:sp>
        <p:nvSpPr>
          <p:cNvPr id="234540" name="Text Box 44"/>
          <p:cNvSpPr txBox="1">
            <a:spLocks noChangeArrowheads="1"/>
          </p:cNvSpPr>
          <p:nvPr/>
        </p:nvSpPr>
        <p:spPr bwMode="auto">
          <a:xfrm>
            <a:off x="898525" y="5053013"/>
            <a:ext cx="8066088" cy="1298575"/>
          </a:xfrm>
          <a:prstGeom prst="rect">
            <a:avLst/>
          </a:prstGeom>
          <a:solidFill>
            <a:schemeClr val="accent5">
              <a:lumMod val="20000"/>
              <a:lumOff val="80000"/>
            </a:schemeClr>
          </a:solidFill>
          <a:ln w="25400" algn="ctr">
            <a:noFill/>
            <a:prstDash val="sysDot"/>
            <a:miter lim="800000"/>
            <a:headEnd/>
            <a:tailEnd type="none" w="med" len="lg"/>
          </a:ln>
          <a:effectLst/>
        </p:spPr>
        <p:txBody>
          <a:bodyPr/>
          <a:lstStyle/>
          <a:p>
            <a:pPr marL="1588" indent="-1588" algn="ctr">
              <a:spcBef>
                <a:spcPct val="20000"/>
              </a:spcBef>
              <a:defRPr/>
            </a:pPr>
            <a:r>
              <a:rPr lang="en-US" dirty="0">
                <a:solidFill>
                  <a:srgbClr val="0033CC"/>
                </a:solidFill>
              </a:rPr>
              <a:t>In this case, the </a:t>
            </a:r>
            <a:r>
              <a:rPr lang="en-US" i="1" dirty="0">
                <a:solidFill>
                  <a:srgbClr val="0033CC"/>
                </a:solidFill>
              </a:rPr>
              <a:t>MC</a:t>
            </a:r>
            <a:r>
              <a:rPr lang="en-US" dirty="0">
                <a:solidFill>
                  <a:srgbClr val="0033CC"/>
                </a:solidFill>
              </a:rPr>
              <a:t> curve is upward sloping and the </a:t>
            </a:r>
            <a:r>
              <a:rPr lang="en-US" i="1" dirty="0">
                <a:solidFill>
                  <a:srgbClr val="0033CC"/>
                </a:solidFill>
              </a:rPr>
              <a:t>ATC</a:t>
            </a:r>
            <a:r>
              <a:rPr lang="en-US" dirty="0">
                <a:solidFill>
                  <a:srgbClr val="0033CC"/>
                </a:solidFill>
              </a:rPr>
              <a:t> curve is U-shaped. The monopolist maximizes profit by producing the level of output at which </a:t>
            </a:r>
            <a:r>
              <a:rPr lang="en-US" i="1" dirty="0">
                <a:solidFill>
                  <a:srgbClr val="0033CC"/>
                </a:solidFill>
              </a:rPr>
              <a:t>MR </a:t>
            </a:r>
            <a:r>
              <a:rPr lang="en-US" dirty="0">
                <a:solidFill>
                  <a:srgbClr val="0033CC"/>
                </a:solidFill>
              </a:rPr>
              <a:t>= </a:t>
            </a:r>
            <a:r>
              <a:rPr lang="en-US" i="1" dirty="0">
                <a:solidFill>
                  <a:srgbClr val="0033CC"/>
                </a:solidFill>
              </a:rPr>
              <a:t>MC</a:t>
            </a:r>
            <a:r>
              <a:rPr lang="en-US" dirty="0">
                <a:solidFill>
                  <a:srgbClr val="0033CC"/>
                </a:solidFill>
              </a:rPr>
              <a:t>, given by point </a:t>
            </a:r>
            <a:r>
              <a:rPr lang="en-US" i="1" dirty="0">
                <a:solidFill>
                  <a:srgbClr val="0033CC"/>
                </a:solidFill>
              </a:rPr>
              <a:t>A</a:t>
            </a:r>
            <a:r>
              <a:rPr lang="en-US" dirty="0">
                <a:solidFill>
                  <a:srgbClr val="0033CC"/>
                </a:solidFill>
              </a:rPr>
              <a:t>, generating quantity </a:t>
            </a:r>
            <a:r>
              <a:rPr lang="en-US" i="1" dirty="0">
                <a:solidFill>
                  <a:srgbClr val="0033CC"/>
                </a:solidFill>
              </a:rPr>
              <a:t>Q</a:t>
            </a:r>
            <a:r>
              <a:rPr lang="en-US" i="1" baseline="-25000" dirty="0">
                <a:solidFill>
                  <a:srgbClr val="0033CC"/>
                </a:solidFill>
              </a:rPr>
              <a:t>M</a:t>
            </a:r>
            <a:r>
              <a:rPr lang="en-US" dirty="0">
                <a:solidFill>
                  <a:srgbClr val="0033CC"/>
                </a:solidFill>
              </a:rPr>
              <a:t>. It finds its monopoly price, </a:t>
            </a:r>
            <a:r>
              <a:rPr lang="en-US" i="1" dirty="0">
                <a:solidFill>
                  <a:srgbClr val="0033CC"/>
                </a:solidFill>
              </a:rPr>
              <a:t>P</a:t>
            </a:r>
            <a:r>
              <a:rPr lang="en-US" i="1" baseline="-25000" dirty="0">
                <a:solidFill>
                  <a:srgbClr val="0033CC"/>
                </a:solidFill>
              </a:rPr>
              <a:t>M</a:t>
            </a:r>
            <a:r>
              <a:rPr lang="en-US" i="1" dirty="0">
                <a:solidFill>
                  <a:srgbClr val="0033CC"/>
                </a:solidFill>
              </a:rPr>
              <a:t> </a:t>
            </a:r>
            <a:r>
              <a:rPr lang="en-US" dirty="0">
                <a:solidFill>
                  <a:srgbClr val="0033CC"/>
                </a:solidFill>
              </a:rPr>
              <a:t>, from the point on the demand curve directly above point </a:t>
            </a:r>
            <a:r>
              <a:rPr lang="en-US" i="1" dirty="0">
                <a:solidFill>
                  <a:srgbClr val="0033CC"/>
                </a:solidFill>
              </a:rPr>
              <a:t>A</a:t>
            </a:r>
            <a:r>
              <a:rPr lang="en-US" dirty="0">
                <a:solidFill>
                  <a:srgbClr val="0033CC"/>
                </a:solidFill>
              </a:rPr>
              <a:t>, point </a:t>
            </a:r>
            <a:r>
              <a:rPr lang="en-US" i="1" dirty="0">
                <a:solidFill>
                  <a:srgbClr val="0033CC"/>
                </a:solidFill>
              </a:rPr>
              <a:t>B </a:t>
            </a:r>
            <a:r>
              <a:rPr lang="en-US" dirty="0">
                <a:solidFill>
                  <a:srgbClr val="0033CC"/>
                </a:solidFill>
              </a:rPr>
              <a:t>here. </a:t>
            </a:r>
          </a:p>
        </p:txBody>
      </p:sp>
      <p:sp>
        <p:nvSpPr>
          <p:cNvPr id="234501" name="Rectangle 5"/>
          <p:cNvSpPr>
            <a:spLocks noChangeArrowheads="1"/>
          </p:cNvSpPr>
          <p:nvPr/>
        </p:nvSpPr>
        <p:spPr bwMode="auto">
          <a:xfrm>
            <a:off x="1435100" y="2392363"/>
            <a:ext cx="1971675" cy="1243012"/>
          </a:xfrm>
          <a:prstGeom prst="rect">
            <a:avLst/>
          </a:prstGeom>
          <a:solidFill>
            <a:srgbClr val="D7EDE7"/>
          </a:solidFill>
          <a:ln w="9525">
            <a:noFill/>
            <a:miter lim="800000"/>
            <a:headEnd/>
            <a:tailEnd/>
          </a:ln>
        </p:spPr>
        <p:txBody>
          <a:bodyPr/>
          <a:lstStyle/>
          <a:p>
            <a:endParaRPr lang="en-US"/>
          </a:p>
        </p:txBody>
      </p:sp>
      <p:sp>
        <p:nvSpPr>
          <p:cNvPr id="234502" name="Freeform 6"/>
          <p:cNvSpPr>
            <a:spLocks/>
          </p:cNvSpPr>
          <p:nvPr/>
        </p:nvSpPr>
        <p:spPr bwMode="auto">
          <a:xfrm>
            <a:off x="1668463" y="1901825"/>
            <a:ext cx="2976562" cy="2617788"/>
          </a:xfrm>
          <a:custGeom>
            <a:avLst/>
            <a:gdLst>
              <a:gd name="T0" fmla="*/ 2147483647 w 545"/>
              <a:gd name="T1" fmla="*/ 0 h 527"/>
              <a:gd name="T2" fmla="*/ 2147483647 w 545"/>
              <a:gd name="T3" fmla="*/ 2147483647 h 527"/>
              <a:gd name="T4" fmla="*/ 0 w 545"/>
              <a:gd name="T5" fmla="*/ 2147483647 h 527"/>
              <a:gd name="T6" fmla="*/ 0 60000 65536"/>
              <a:gd name="T7" fmla="*/ 0 60000 65536"/>
              <a:gd name="T8" fmla="*/ 0 60000 65536"/>
              <a:gd name="T9" fmla="*/ 0 w 545"/>
              <a:gd name="T10" fmla="*/ 0 h 527"/>
              <a:gd name="T11" fmla="*/ 545 w 545"/>
              <a:gd name="T12" fmla="*/ 527 h 527"/>
            </a:gdLst>
            <a:ahLst/>
            <a:cxnLst>
              <a:cxn ang="T6">
                <a:pos x="T0" y="T1"/>
              </a:cxn>
              <a:cxn ang="T7">
                <a:pos x="T2" y="T3"/>
              </a:cxn>
              <a:cxn ang="T8">
                <a:pos x="T4" y="T5"/>
              </a:cxn>
            </a:cxnLst>
            <a:rect l="T9" t="T10" r="T11" b="T12"/>
            <a:pathLst>
              <a:path w="545" h="527">
                <a:moveTo>
                  <a:pt x="545" y="0"/>
                </a:moveTo>
                <a:cubicBezTo>
                  <a:pt x="164" y="481"/>
                  <a:pt x="164" y="481"/>
                  <a:pt x="164" y="481"/>
                </a:cubicBezTo>
                <a:cubicBezTo>
                  <a:pt x="121" y="527"/>
                  <a:pt x="31" y="470"/>
                  <a:pt x="0" y="443"/>
                </a:cubicBezTo>
              </a:path>
            </a:pathLst>
          </a:custGeom>
          <a:noFill/>
          <a:ln w="30163">
            <a:solidFill>
              <a:srgbClr val="F3716D"/>
            </a:solidFill>
            <a:miter lim="800000"/>
            <a:headEnd/>
            <a:tailEnd/>
          </a:ln>
        </p:spPr>
        <p:txBody>
          <a:bodyPr/>
          <a:lstStyle/>
          <a:p>
            <a:endParaRPr lang="en-US"/>
          </a:p>
        </p:txBody>
      </p:sp>
      <p:sp>
        <p:nvSpPr>
          <p:cNvPr id="234503" name="Rectangle 7"/>
          <p:cNvSpPr>
            <a:spLocks noChangeArrowheads="1"/>
          </p:cNvSpPr>
          <p:nvPr/>
        </p:nvSpPr>
        <p:spPr bwMode="auto">
          <a:xfrm>
            <a:off x="3316288" y="4662488"/>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234504" name="Rectangle 8"/>
          <p:cNvSpPr>
            <a:spLocks noChangeArrowheads="1"/>
          </p:cNvSpPr>
          <p:nvPr/>
        </p:nvSpPr>
        <p:spPr bwMode="auto">
          <a:xfrm>
            <a:off x="3465513" y="4776788"/>
            <a:ext cx="1492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234505" name="Rectangle 9"/>
          <p:cNvSpPr>
            <a:spLocks noChangeArrowheads="1"/>
          </p:cNvSpPr>
          <p:nvPr/>
        </p:nvSpPr>
        <p:spPr bwMode="auto">
          <a:xfrm>
            <a:off x="5295900" y="4679950"/>
            <a:ext cx="66675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Quantity</a:t>
            </a:r>
            <a:endParaRPr lang="en-US" sz="1400">
              <a:latin typeface="Tahoma" pitchFamily="34" charset="0"/>
            </a:endParaRPr>
          </a:p>
        </p:txBody>
      </p:sp>
      <p:sp>
        <p:nvSpPr>
          <p:cNvPr id="234506" name="Rectangle 10"/>
          <p:cNvSpPr>
            <a:spLocks noChangeArrowheads="1"/>
          </p:cNvSpPr>
          <p:nvPr/>
        </p:nvSpPr>
        <p:spPr bwMode="auto">
          <a:xfrm>
            <a:off x="1127125" y="22606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P</a:t>
            </a:r>
            <a:endParaRPr lang="en-US" sz="1400" i="1">
              <a:latin typeface="Tahoma" pitchFamily="34" charset="0"/>
            </a:endParaRPr>
          </a:p>
        </p:txBody>
      </p:sp>
      <p:sp>
        <p:nvSpPr>
          <p:cNvPr id="234507" name="Rectangle 11"/>
          <p:cNvSpPr>
            <a:spLocks noChangeArrowheads="1"/>
          </p:cNvSpPr>
          <p:nvPr/>
        </p:nvSpPr>
        <p:spPr bwMode="auto">
          <a:xfrm>
            <a:off x="1243013" y="2374900"/>
            <a:ext cx="1492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234508" name="Rectangle 12"/>
          <p:cNvSpPr>
            <a:spLocks noChangeArrowheads="1"/>
          </p:cNvSpPr>
          <p:nvPr/>
        </p:nvSpPr>
        <p:spPr bwMode="auto">
          <a:xfrm>
            <a:off x="898525" y="35052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234509" name="Rectangle 13"/>
          <p:cNvSpPr>
            <a:spLocks noChangeArrowheads="1"/>
          </p:cNvSpPr>
          <p:nvPr/>
        </p:nvSpPr>
        <p:spPr bwMode="auto">
          <a:xfrm>
            <a:off x="1014413" y="3505200"/>
            <a:ext cx="109537"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234510" name="Rectangle 14"/>
          <p:cNvSpPr>
            <a:spLocks noChangeArrowheads="1"/>
          </p:cNvSpPr>
          <p:nvPr/>
        </p:nvSpPr>
        <p:spPr bwMode="auto">
          <a:xfrm>
            <a:off x="1116013" y="350520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34511" name="Rectangle 15"/>
          <p:cNvSpPr>
            <a:spLocks noChangeArrowheads="1"/>
          </p:cNvSpPr>
          <p:nvPr/>
        </p:nvSpPr>
        <p:spPr bwMode="auto">
          <a:xfrm>
            <a:off x="1243013" y="3621088"/>
            <a:ext cx="1492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234512" name="Freeform 16"/>
          <p:cNvSpPr>
            <a:spLocks/>
          </p:cNvSpPr>
          <p:nvPr/>
        </p:nvSpPr>
        <p:spPr bwMode="auto">
          <a:xfrm>
            <a:off x="1476375" y="1341438"/>
            <a:ext cx="4543425" cy="3308350"/>
          </a:xfrm>
          <a:custGeom>
            <a:avLst/>
            <a:gdLst>
              <a:gd name="T0" fmla="*/ 2147483647 w 1984"/>
              <a:gd name="T1" fmla="*/ 2147483647 h 1758"/>
              <a:gd name="T2" fmla="*/ 0 w 1984"/>
              <a:gd name="T3" fmla="*/ 2147483647 h 1758"/>
              <a:gd name="T4" fmla="*/ 0 w 1984"/>
              <a:gd name="T5" fmla="*/ 0 h 1758"/>
              <a:gd name="T6" fmla="*/ 0 60000 65536"/>
              <a:gd name="T7" fmla="*/ 0 60000 65536"/>
              <a:gd name="T8" fmla="*/ 0 60000 65536"/>
              <a:gd name="T9" fmla="*/ 0 w 1984"/>
              <a:gd name="T10" fmla="*/ 0 h 1758"/>
              <a:gd name="T11" fmla="*/ 1984 w 1984"/>
              <a:gd name="T12" fmla="*/ 1758 h 1758"/>
            </a:gdLst>
            <a:ahLst/>
            <a:cxnLst>
              <a:cxn ang="T6">
                <a:pos x="T0" y="T1"/>
              </a:cxn>
              <a:cxn ang="T7">
                <a:pos x="T2" y="T3"/>
              </a:cxn>
              <a:cxn ang="T8">
                <a:pos x="T4" y="T5"/>
              </a:cxn>
            </a:cxnLst>
            <a:rect l="T9" t="T10" r="T11" b="T12"/>
            <a:pathLst>
              <a:path w="1984" h="1758">
                <a:moveTo>
                  <a:pt x="1984" y="1758"/>
                </a:moveTo>
                <a:lnTo>
                  <a:pt x="0" y="1758"/>
                </a:lnTo>
                <a:lnTo>
                  <a:pt x="0" y="0"/>
                </a:lnTo>
              </a:path>
            </a:pathLst>
          </a:custGeom>
          <a:noFill/>
          <a:ln w="7938">
            <a:solidFill>
              <a:srgbClr val="000000"/>
            </a:solidFill>
            <a:miter lim="800000"/>
            <a:headEnd/>
            <a:tailEnd/>
          </a:ln>
        </p:spPr>
        <p:txBody>
          <a:bodyPr/>
          <a:lstStyle/>
          <a:p>
            <a:endParaRPr lang="en-US"/>
          </a:p>
        </p:txBody>
      </p:sp>
      <p:sp>
        <p:nvSpPr>
          <p:cNvPr id="234513" name="Rectangle 17"/>
          <p:cNvSpPr>
            <a:spLocks noChangeArrowheads="1"/>
          </p:cNvSpPr>
          <p:nvPr/>
        </p:nvSpPr>
        <p:spPr bwMode="auto">
          <a:xfrm>
            <a:off x="3436938" y="3629025"/>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34514" name="Rectangle 18"/>
          <p:cNvSpPr>
            <a:spLocks noChangeArrowheads="1"/>
          </p:cNvSpPr>
          <p:nvPr/>
        </p:nvSpPr>
        <p:spPr bwMode="auto">
          <a:xfrm>
            <a:off x="5619750" y="3332163"/>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234515" name="Rectangle 19"/>
          <p:cNvSpPr>
            <a:spLocks noChangeArrowheads="1"/>
          </p:cNvSpPr>
          <p:nvPr/>
        </p:nvSpPr>
        <p:spPr bwMode="auto">
          <a:xfrm>
            <a:off x="4191000" y="4038600"/>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MR</a:t>
            </a:r>
            <a:endParaRPr lang="en-US" sz="1400" i="1">
              <a:latin typeface="Tahoma" pitchFamily="34" charset="0"/>
            </a:endParaRPr>
          </a:p>
        </p:txBody>
      </p:sp>
      <p:sp>
        <p:nvSpPr>
          <p:cNvPr id="234516" name="Rectangle 20"/>
          <p:cNvSpPr>
            <a:spLocks noChangeArrowheads="1"/>
          </p:cNvSpPr>
          <p:nvPr/>
        </p:nvSpPr>
        <p:spPr bwMode="auto">
          <a:xfrm>
            <a:off x="3179763" y="320992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234517" name="Rectangle 21"/>
          <p:cNvSpPr>
            <a:spLocks noChangeArrowheads="1"/>
          </p:cNvSpPr>
          <p:nvPr/>
        </p:nvSpPr>
        <p:spPr bwMode="auto">
          <a:xfrm>
            <a:off x="3389313" y="211137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B</a:t>
            </a:r>
            <a:endParaRPr lang="en-US" sz="1400" i="1">
              <a:latin typeface="Tahoma" pitchFamily="34" charset="0"/>
            </a:endParaRPr>
          </a:p>
        </p:txBody>
      </p:sp>
      <p:sp>
        <p:nvSpPr>
          <p:cNvPr id="234518" name="Rectangle 22"/>
          <p:cNvSpPr>
            <a:spLocks noChangeArrowheads="1"/>
          </p:cNvSpPr>
          <p:nvPr/>
        </p:nvSpPr>
        <p:spPr bwMode="auto">
          <a:xfrm>
            <a:off x="4535488" y="1655763"/>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MC</a:t>
            </a:r>
            <a:endParaRPr lang="en-US" sz="1400" i="1">
              <a:latin typeface="Tahoma" pitchFamily="34" charset="0"/>
            </a:endParaRPr>
          </a:p>
        </p:txBody>
      </p:sp>
      <p:sp>
        <p:nvSpPr>
          <p:cNvPr id="234519" name="Rectangle 23"/>
          <p:cNvSpPr>
            <a:spLocks noChangeArrowheads="1"/>
          </p:cNvSpPr>
          <p:nvPr/>
        </p:nvSpPr>
        <p:spPr bwMode="auto">
          <a:xfrm>
            <a:off x="4935538" y="1876425"/>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234520" name="Rectangle 24"/>
          <p:cNvSpPr>
            <a:spLocks noChangeArrowheads="1"/>
          </p:cNvSpPr>
          <p:nvPr/>
        </p:nvSpPr>
        <p:spPr bwMode="auto">
          <a:xfrm>
            <a:off x="5051425" y="1876425"/>
            <a:ext cx="109538"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234521" name="Rectangle 25"/>
          <p:cNvSpPr>
            <a:spLocks noChangeArrowheads="1"/>
          </p:cNvSpPr>
          <p:nvPr/>
        </p:nvSpPr>
        <p:spPr bwMode="auto">
          <a:xfrm>
            <a:off x="5156200" y="1876425"/>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34522" name="Line 26"/>
          <p:cNvSpPr>
            <a:spLocks noChangeShapeType="1"/>
          </p:cNvSpPr>
          <p:nvPr/>
        </p:nvSpPr>
        <p:spPr bwMode="auto">
          <a:xfrm>
            <a:off x="1476375" y="1536700"/>
            <a:ext cx="2719388" cy="2511425"/>
          </a:xfrm>
          <a:prstGeom prst="line">
            <a:avLst/>
          </a:prstGeom>
          <a:noFill/>
          <a:ln w="30163">
            <a:solidFill>
              <a:srgbClr val="4B8FCC"/>
            </a:solidFill>
            <a:miter lim="800000"/>
            <a:headEnd/>
            <a:tailEnd/>
          </a:ln>
        </p:spPr>
        <p:txBody>
          <a:bodyPr/>
          <a:lstStyle/>
          <a:p>
            <a:endParaRPr lang="en-US"/>
          </a:p>
        </p:txBody>
      </p:sp>
      <p:sp>
        <p:nvSpPr>
          <p:cNvPr id="234523" name="Line 27"/>
          <p:cNvSpPr>
            <a:spLocks noChangeShapeType="1"/>
          </p:cNvSpPr>
          <p:nvPr/>
        </p:nvSpPr>
        <p:spPr bwMode="auto">
          <a:xfrm>
            <a:off x="1500188" y="1536700"/>
            <a:ext cx="4110037" cy="1873250"/>
          </a:xfrm>
          <a:prstGeom prst="line">
            <a:avLst/>
          </a:prstGeom>
          <a:noFill/>
          <a:ln w="30163">
            <a:solidFill>
              <a:srgbClr val="3C5DAA"/>
            </a:solidFill>
            <a:miter lim="800000"/>
            <a:headEnd/>
            <a:tailEnd/>
          </a:ln>
        </p:spPr>
        <p:txBody>
          <a:bodyPr/>
          <a:lstStyle/>
          <a:p>
            <a:endParaRPr lang="en-US"/>
          </a:p>
        </p:txBody>
      </p:sp>
      <p:sp>
        <p:nvSpPr>
          <p:cNvPr id="234524" name="Oval 28"/>
          <p:cNvSpPr>
            <a:spLocks noChangeArrowheads="1"/>
          </p:cNvSpPr>
          <p:nvPr/>
        </p:nvSpPr>
        <p:spPr bwMode="auto">
          <a:xfrm>
            <a:off x="3351213" y="2351088"/>
            <a:ext cx="107950" cy="101600"/>
          </a:xfrm>
          <a:prstGeom prst="ellipse">
            <a:avLst/>
          </a:prstGeom>
          <a:solidFill>
            <a:srgbClr val="000000"/>
          </a:solidFill>
          <a:ln w="9525">
            <a:noFill/>
            <a:round/>
            <a:headEnd/>
            <a:tailEnd/>
          </a:ln>
        </p:spPr>
        <p:txBody>
          <a:bodyPr/>
          <a:lstStyle/>
          <a:p>
            <a:endParaRPr lang="en-US"/>
          </a:p>
        </p:txBody>
      </p:sp>
      <p:sp>
        <p:nvSpPr>
          <p:cNvPr id="234525" name="Freeform 29"/>
          <p:cNvSpPr>
            <a:spLocks/>
          </p:cNvSpPr>
          <p:nvPr/>
        </p:nvSpPr>
        <p:spPr bwMode="auto">
          <a:xfrm>
            <a:off x="1668463" y="2117725"/>
            <a:ext cx="3402012" cy="1657350"/>
          </a:xfrm>
          <a:custGeom>
            <a:avLst/>
            <a:gdLst>
              <a:gd name="T0" fmla="*/ 0 w 623"/>
              <a:gd name="T1" fmla="*/ 2147483647 h 333"/>
              <a:gd name="T2" fmla="*/ 2147483647 w 623"/>
              <a:gd name="T3" fmla="*/ 2147483647 h 333"/>
              <a:gd name="T4" fmla="*/ 2147483647 w 623"/>
              <a:gd name="T5" fmla="*/ 0 h 333"/>
              <a:gd name="T6" fmla="*/ 0 60000 65536"/>
              <a:gd name="T7" fmla="*/ 0 60000 65536"/>
              <a:gd name="T8" fmla="*/ 0 60000 65536"/>
              <a:gd name="T9" fmla="*/ 0 w 623"/>
              <a:gd name="T10" fmla="*/ 0 h 333"/>
              <a:gd name="T11" fmla="*/ 623 w 623"/>
              <a:gd name="T12" fmla="*/ 333 h 333"/>
            </a:gdLst>
            <a:ahLst/>
            <a:cxnLst>
              <a:cxn ang="T6">
                <a:pos x="T0" y="T1"/>
              </a:cxn>
              <a:cxn ang="T7">
                <a:pos x="T2" y="T3"/>
              </a:cxn>
              <a:cxn ang="T8">
                <a:pos x="T4" y="T5"/>
              </a:cxn>
            </a:cxnLst>
            <a:rect l="T9" t="T10" r="T11" b="T12"/>
            <a:pathLst>
              <a:path w="623" h="333">
                <a:moveTo>
                  <a:pt x="0" y="94"/>
                </a:moveTo>
                <a:cubicBezTo>
                  <a:pt x="35" y="189"/>
                  <a:pt x="140" y="333"/>
                  <a:pt x="252" y="329"/>
                </a:cubicBezTo>
                <a:cubicBezTo>
                  <a:pt x="364" y="325"/>
                  <a:pt x="587" y="57"/>
                  <a:pt x="623" y="0"/>
                </a:cubicBezTo>
              </a:path>
            </a:pathLst>
          </a:custGeom>
          <a:noFill/>
          <a:ln w="30163">
            <a:solidFill>
              <a:srgbClr val="8C64AB"/>
            </a:solidFill>
            <a:miter lim="800000"/>
            <a:headEnd/>
            <a:tailEnd/>
          </a:ln>
        </p:spPr>
        <p:txBody>
          <a:bodyPr/>
          <a:lstStyle/>
          <a:p>
            <a:endParaRPr lang="en-US"/>
          </a:p>
        </p:txBody>
      </p:sp>
      <p:sp>
        <p:nvSpPr>
          <p:cNvPr id="234526" name="Oval 30"/>
          <p:cNvSpPr>
            <a:spLocks noChangeArrowheads="1"/>
          </p:cNvSpPr>
          <p:nvPr/>
        </p:nvSpPr>
        <p:spPr bwMode="auto">
          <a:xfrm>
            <a:off x="3351213" y="3278188"/>
            <a:ext cx="107950" cy="98425"/>
          </a:xfrm>
          <a:prstGeom prst="ellipse">
            <a:avLst/>
          </a:prstGeom>
          <a:solidFill>
            <a:srgbClr val="000000"/>
          </a:solidFill>
          <a:ln w="9525">
            <a:noFill/>
            <a:round/>
            <a:headEnd/>
            <a:tailEnd/>
          </a:ln>
        </p:spPr>
        <p:txBody>
          <a:bodyPr/>
          <a:lstStyle/>
          <a:p>
            <a:endParaRPr lang="en-US"/>
          </a:p>
        </p:txBody>
      </p:sp>
      <p:sp>
        <p:nvSpPr>
          <p:cNvPr id="234527" name="Oval 31"/>
          <p:cNvSpPr>
            <a:spLocks noChangeArrowheads="1"/>
          </p:cNvSpPr>
          <p:nvPr/>
        </p:nvSpPr>
        <p:spPr bwMode="auto">
          <a:xfrm>
            <a:off x="3351213" y="3584575"/>
            <a:ext cx="107950" cy="100013"/>
          </a:xfrm>
          <a:prstGeom prst="ellipse">
            <a:avLst/>
          </a:prstGeom>
          <a:solidFill>
            <a:srgbClr val="000000"/>
          </a:solidFill>
          <a:ln w="9525">
            <a:noFill/>
            <a:round/>
            <a:headEnd/>
            <a:tailEnd/>
          </a:ln>
        </p:spPr>
        <p:txBody>
          <a:bodyPr/>
          <a:lstStyle/>
          <a:p>
            <a:endParaRPr lang="en-US"/>
          </a:p>
        </p:txBody>
      </p:sp>
      <p:sp>
        <p:nvSpPr>
          <p:cNvPr id="70688" name="Line 32"/>
          <p:cNvSpPr>
            <a:spLocks noChangeShapeType="1"/>
          </p:cNvSpPr>
          <p:nvPr/>
        </p:nvSpPr>
        <p:spPr bwMode="auto">
          <a:xfrm>
            <a:off x="2281238" y="3182938"/>
            <a:ext cx="0" cy="0"/>
          </a:xfrm>
          <a:prstGeom prst="line">
            <a:avLst/>
          </a:prstGeom>
          <a:noFill/>
          <a:ln w="7938">
            <a:solidFill>
              <a:srgbClr val="000000"/>
            </a:solidFill>
            <a:miter lim="800000"/>
            <a:headEnd/>
            <a:tailEnd/>
          </a:ln>
        </p:spPr>
        <p:txBody>
          <a:bodyPr/>
          <a:lstStyle/>
          <a:p>
            <a:endParaRPr lang="en-US"/>
          </a:p>
        </p:txBody>
      </p:sp>
      <p:sp>
        <p:nvSpPr>
          <p:cNvPr id="70689" name="Line 33"/>
          <p:cNvSpPr>
            <a:spLocks noChangeShapeType="1"/>
          </p:cNvSpPr>
          <p:nvPr/>
        </p:nvSpPr>
        <p:spPr bwMode="auto">
          <a:xfrm>
            <a:off x="2008188" y="3824288"/>
            <a:ext cx="0" cy="0"/>
          </a:xfrm>
          <a:prstGeom prst="line">
            <a:avLst/>
          </a:prstGeom>
          <a:noFill/>
          <a:ln w="7938">
            <a:solidFill>
              <a:srgbClr val="000000"/>
            </a:solidFill>
            <a:miter lim="800000"/>
            <a:headEnd/>
            <a:tailEnd/>
          </a:ln>
        </p:spPr>
        <p:txBody>
          <a:bodyPr/>
          <a:lstStyle/>
          <a:p>
            <a:endParaRPr lang="en-US"/>
          </a:p>
        </p:txBody>
      </p:sp>
      <p:cxnSp>
        <p:nvCxnSpPr>
          <p:cNvPr id="548914" name="Straight Connector 86"/>
          <p:cNvCxnSpPr>
            <a:cxnSpLocks noChangeShapeType="1"/>
          </p:cNvCxnSpPr>
          <p:nvPr/>
        </p:nvCxnSpPr>
        <p:spPr bwMode="auto">
          <a:xfrm rot="5400000">
            <a:off x="2734469" y="3009106"/>
            <a:ext cx="1295400" cy="1588"/>
          </a:xfrm>
          <a:prstGeom prst="line">
            <a:avLst/>
          </a:prstGeom>
          <a:noFill/>
          <a:ln w="15875">
            <a:solidFill>
              <a:srgbClr val="808080"/>
            </a:solidFill>
            <a:prstDash val="sysDot"/>
            <a:round/>
            <a:headEnd/>
            <a:tailEnd type="none" w="med" len="lg"/>
          </a:ln>
        </p:spPr>
      </p:cxnSp>
      <p:cxnSp>
        <p:nvCxnSpPr>
          <p:cNvPr id="2" name="Straight Connector 86"/>
          <p:cNvCxnSpPr>
            <a:cxnSpLocks noChangeShapeType="1"/>
          </p:cNvCxnSpPr>
          <p:nvPr/>
        </p:nvCxnSpPr>
        <p:spPr bwMode="auto">
          <a:xfrm>
            <a:off x="1435100" y="2392363"/>
            <a:ext cx="1952625" cy="0"/>
          </a:xfrm>
          <a:prstGeom prst="line">
            <a:avLst/>
          </a:prstGeom>
          <a:noFill/>
          <a:ln w="15875">
            <a:solidFill>
              <a:srgbClr val="808080"/>
            </a:solidFill>
            <a:prstDash val="sysDot"/>
            <a:round/>
            <a:headEnd/>
            <a:tailEnd type="none" w="med" len="lg"/>
          </a:ln>
        </p:spPr>
      </p:cxnSp>
      <p:cxnSp>
        <p:nvCxnSpPr>
          <p:cNvPr id="3" name="Straight Connector 86"/>
          <p:cNvCxnSpPr>
            <a:cxnSpLocks noChangeShapeType="1"/>
          </p:cNvCxnSpPr>
          <p:nvPr/>
        </p:nvCxnSpPr>
        <p:spPr bwMode="auto">
          <a:xfrm>
            <a:off x="1449388" y="3641725"/>
            <a:ext cx="1952625" cy="0"/>
          </a:xfrm>
          <a:prstGeom prst="line">
            <a:avLst/>
          </a:prstGeom>
          <a:noFill/>
          <a:ln w="15875">
            <a:solidFill>
              <a:srgbClr val="808080"/>
            </a:solidFill>
            <a:prstDash val="sysDot"/>
            <a:round/>
            <a:headEnd/>
            <a:tailEnd type="none" w="med" len="lg"/>
          </a:ln>
        </p:spPr>
      </p:cxnSp>
      <p:sp>
        <p:nvSpPr>
          <p:cNvPr id="234533" name="Rectangle 37"/>
          <p:cNvSpPr>
            <a:spLocks noChangeArrowheads="1"/>
          </p:cNvSpPr>
          <p:nvPr/>
        </p:nvSpPr>
        <p:spPr bwMode="auto">
          <a:xfrm>
            <a:off x="755650" y="620713"/>
            <a:ext cx="1109663" cy="6461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 marginal revenue</a:t>
            </a:r>
            <a:endParaRPr lang="en-US" sz="1400">
              <a:latin typeface="Tahoma" pitchFamily="34" charset="0"/>
            </a:endParaRPr>
          </a:p>
        </p:txBody>
      </p:sp>
      <p:sp>
        <p:nvSpPr>
          <p:cNvPr id="234534" name="Rectangle 38"/>
          <p:cNvSpPr>
            <a:spLocks noChangeArrowheads="1"/>
          </p:cNvSpPr>
          <p:nvPr/>
        </p:nvSpPr>
        <p:spPr bwMode="auto">
          <a:xfrm>
            <a:off x="1857375" y="2803525"/>
            <a:ext cx="1092200"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Monopoly profit</a:t>
            </a:r>
            <a:endParaRPr lang="en-US" sz="1400">
              <a:latin typeface="Tahoma" pitchFamily="34" charset="0"/>
            </a:endParaRPr>
          </a:p>
        </p:txBody>
      </p:sp>
      <p:cxnSp>
        <p:nvCxnSpPr>
          <p:cNvPr id="41" name="Straight Connector 86"/>
          <p:cNvCxnSpPr>
            <a:cxnSpLocks noChangeShapeType="1"/>
          </p:cNvCxnSpPr>
          <p:nvPr/>
        </p:nvCxnSpPr>
        <p:spPr bwMode="auto">
          <a:xfrm rot="5400000">
            <a:off x="2971801" y="4151312"/>
            <a:ext cx="838200" cy="3175"/>
          </a:xfrm>
          <a:prstGeom prst="line">
            <a:avLst/>
          </a:prstGeom>
          <a:noFill/>
          <a:ln w="15875">
            <a:solidFill>
              <a:srgbClr val="808080"/>
            </a:solidFill>
            <a:prstDash val="sysDot"/>
            <a:round/>
            <a:headEnd/>
            <a:tailEnd type="none" w="med" len="lg"/>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345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45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450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450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45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450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450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45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45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45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4505"/>
                                        </p:tgtEl>
                                        <p:attrNameLst>
                                          <p:attrName>style.visibility</p:attrName>
                                        </p:attrNameLst>
                                      </p:cBhvr>
                                      <p:to>
                                        <p:strVal val="visible"/>
                                      </p:to>
                                    </p:set>
                                  </p:childTnLst>
                                </p:cTn>
                              </p:par>
                              <p:par>
                                <p:cTn id="27" presetID="22" presetClass="entr" presetSubtype="8" fill="hold" grpId="0" nodeType="withEffect">
                                  <p:stCondLst>
                                    <p:cond delay="0"/>
                                  </p:stCondLst>
                                  <p:childTnLst>
                                    <p:set>
                                      <p:cBhvr>
                                        <p:cTn id="28" dur="1" fill="hold">
                                          <p:stCondLst>
                                            <p:cond delay="0"/>
                                          </p:stCondLst>
                                        </p:cTn>
                                        <p:tgtEl>
                                          <p:spTgt spid="234523"/>
                                        </p:tgtEl>
                                        <p:attrNameLst>
                                          <p:attrName>style.visibility</p:attrName>
                                        </p:attrNameLst>
                                      </p:cBhvr>
                                      <p:to>
                                        <p:strVal val="visible"/>
                                      </p:to>
                                    </p:set>
                                    <p:animEffect transition="in" filter="wipe(left)">
                                      <p:cBhvr>
                                        <p:cTn id="29" dur="500"/>
                                        <p:tgtEl>
                                          <p:spTgt spid="234523"/>
                                        </p:tgtEl>
                                      </p:cBhvr>
                                    </p:animEffect>
                                  </p:childTnLst>
                                </p:cTn>
                              </p:par>
                              <p:par>
                                <p:cTn id="30" presetID="1" presetClass="entr" presetSubtype="0" fill="hold" grpId="0" nodeType="withEffect">
                                  <p:stCondLst>
                                    <p:cond delay="0"/>
                                  </p:stCondLst>
                                  <p:childTnLst>
                                    <p:set>
                                      <p:cBhvr>
                                        <p:cTn id="31" dur="1" fill="hold">
                                          <p:stCondLst>
                                            <p:cond delay="0"/>
                                          </p:stCondLst>
                                        </p:cTn>
                                        <p:tgtEl>
                                          <p:spTgt spid="234514"/>
                                        </p:tgtEl>
                                        <p:attrNameLst>
                                          <p:attrName>style.visibility</p:attrName>
                                        </p:attrNameLst>
                                      </p:cBhvr>
                                      <p:to>
                                        <p:strVal val="visible"/>
                                      </p:to>
                                    </p:set>
                                  </p:childTnLst>
                                </p:cTn>
                              </p:par>
                              <p:par>
                                <p:cTn id="32" presetID="22" presetClass="entr" presetSubtype="8" fill="hold" grpId="0" nodeType="withEffect">
                                  <p:stCondLst>
                                    <p:cond delay="0"/>
                                  </p:stCondLst>
                                  <p:childTnLst>
                                    <p:set>
                                      <p:cBhvr>
                                        <p:cTn id="33" dur="1" fill="hold">
                                          <p:stCondLst>
                                            <p:cond delay="0"/>
                                          </p:stCondLst>
                                        </p:cTn>
                                        <p:tgtEl>
                                          <p:spTgt spid="234522"/>
                                        </p:tgtEl>
                                        <p:attrNameLst>
                                          <p:attrName>style.visibility</p:attrName>
                                        </p:attrNameLst>
                                      </p:cBhvr>
                                      <p:to>
                                        <p:strVal val="visible"/>
                                      </p:to>
                                    </p:set>
                                    <p:animEffect transition="in" filter="wipe(left)">
                                      <p:cBhvr>
                                        <p:cTn id="34" dur="500"/>
                                        <p:tgtEl>
                                          <p:spTgt spid="234522"/>
                                        </p:tgtEl>
                                      </p:cBhvr>
                                    </p:animEffect>
                                  </p:childTnLst>
                                </p:cTn>
                              </p:par>
                              <p:par>
                                <p:cTn id="35" presetID="1" presetClass="entr" presetSubtype="0" fill="hold" grpId="0" nodeType="withEffect">
                                  <p:stCondLst>
                                    <p:cond delay="0"/>
                                  </p:stCondLst>
                                  <p:childTnLst>
                                    <p:set>
                                      <p:cBhvr>
                                        <p:cTn id="36" dur="1" fill="hold">
                                          <p:stCondLst>
                                            <p:cond delay="0"/>
                                          </p:stCondLst>
                                        </p:cTn>
                                        <p:tgtEl>
                                          <p:spTgt spid="234515"/>
                                        </p:tgtEl>
                                        <p:attrNameLst>
                                          <p:attrName>style.visibility</p:attrName>
                                        </p:attrNameLst>
                                      </p:cBhvr>
                                      <p:to>
                                        <p:strVal val="visible"/>
                                      </p:to>
                                    </p:se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234502"/>
                                        </p:tgtEl>
                                        <p:attrNameLst>
                                          <p:attrName>style.visibility</p:attrName>
                                        </p:attrNameLst>
                                      </p:cBhvr>
                                      <p:to>
                                        <p:strVal val="visible"/>
                                      </p:to>
                                    </p:set>
                                    <p:animEffect transition="in" filter="wipe(left)">
                                      <p:cBhvr>
                                        <p:cTn id="40" dur="500"/>
                                        <p:tgtEl>
                                          <p:spTgt spid="234502"/>
                                        </p:tgtEl>
                                      </p:cBhvr>
                                    </p:animEffect>
                                  </p:childTnLst>
                                </p:cTn>
                              </p:par>
                            </p:childTnLst>
                          </p:cTn>
                        </p:par>
                        <p:par>
                          <p:cTn id="41" fill="hold">
                            <p:stCondLst>
                              <p:cond delay="1000"/>
                            </p:stCondLst>
                            <p:childTnLst>
                              <p:par>
                                <p:cTn id="42" presetID="1" presetClass="entr" presetSubtype="0" fill="hold" grpId="0" nodeType="afterEffect">
                                  <p:stCondLst>
                                    <p:cond delay="0"/>
                                  </p:stCondLst>
                                  <p:childTnLst>
                                    <p:set>
                                      <p:cBhvr>
                                        <p:cTn id="43" dur="1" fill="hold">
                                          <p:stCondLst>
                                            <p:cond delay="0"/>
                                          </p:stCondLst>
                                        </p:cTn>
                                        <p:tgtEl>
                                          <p:spTgt spid="234518"/>
                                        </p:tgtEl>
                                        <p:attrNameLst>
                                          <p:attrName>style.visibility</p:attrName>
                                        </p:attrNameLst>
                                      </p:cBhvr>
                                      <p:to>
                                        <p:strVal val="visible"/>
                                      </p:to>
                                    </p:set>
                                  </p:childTnLst>
                                </p:cTn>
                              </p:par>
                              <p:par>
                                <p:cTn id="44" presetID="22" presetClass="entr" presetSubtype="8" fill="hold" grpId="0" nodeType="withEffect">
                                  <p:stCondLst>
                                    <p:cond delay="0"/>
                                  </p:stCondLst>
                                  <p:childTnLst>
                                    <p:set>
                                      <p:cBhvr>
                                        <p:cTn id="45" dur="1" fill="hold">
                                          <p:stCondLst>
                                            <p:cond delay="0"/>
                                          </p:stCondLst>
                                        </p:cTn>
                                        <p:tgtEl>
                                          <p:spTgt spid="234525"/>
                                        </p:tgtEl>
                                        <p:attrNameLst>
                                          <p:attrName>style.visibility</p:attrName>
                                        </p:attrNameLst>
                                      </p:cBhvr>
                                      <p:to>
                                        <p:strVal val="visible"/>
                                      </p:to>
                                    </p:set>
                                    <p:animEffect transition="in" filter="wipe(left)">
                                      <p:cBhvr>
                                        <p:cTn id="46" dur="500"/>
                                        <p:tgtEl>
                                          <p:spTgt spid="234525"/>
                                        </p:tgtEl>
                                      </p:cBhvr>
                                    </p:animEffect>
                                  </p:childTnLst>
                                </p:cTn>
                              </p:par>
                            </p:childTnLst>
                          </p:cTn>
                        </p:par>
                        <p:par>
                          <p:cTn id="47" fill="hold">
                            <p:stCondLst>
                              <p:cond delay="1500"/>
                            </p:stCondLst>
                            <p:childTnLst>
                              <p:par>
                                <p:cTn id="48" presetID="1" presetClass="entr" presetSubtype="0" fill="hold" grpId="0" nodeType="afterEffect">
                                  <p:stCondLst>
                                    <p:cond delay="0"/>
                                  </p:stCondLst>
                                  <p:childTnLst>
                                    <p:set>
                                      <p:cBhvr>
                                        <p:cTn id="49" dur="1" fill="hold">
                                          <p:stCondLst>
                                            <p:cond delay="0"/>
                                          </p:stCondLst>
                                        </p:cTn>
                                        <p:tgtEl>
                                          <p:spTgt spid="234519"/>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234520"/>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234513"/>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234516"/>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234526"/>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234527"/>
                                        </p:tgtEl>
                                        <p:attrNameLst>
                                          <p:attrName>style.visibility</p:attrName>
                                        </p:attrNameLst>
                                      </p:cBhvr>
                                      <p:to>
                                        <p:strVal val="visible"/>
                                      </p:to>
                                    </p:set>
                                  </p:childTnLst>
                                </p:cTn>
                              </p:par>
                              <p:par>
                                <p:cTn id="60" presetID="1" presetClass="entr" presetSubtype="0" fill="hold" nodeType="withEffect">
                                  <p:stCondLst>
                                    <p:cond delay="0"/>
                                  </p:stCondLst>
                                  <p:childTnLst>
                                    <p:set>
                                      <p:cBhvr>
                                        <p:cTn id="61" dur="1" fill="hold">
                                          <p:stCondLst>
                                            <p:cond delay="0"/>
                                          </p:stCondLst>
                                        </p:cTn>
                                        <p:tgtEl>
                                          <p:spTgt spid="3"/>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41"/>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234521"/>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234534"/>
                                        </p:tgtEl>
                                        <p:attrNameLst>
                                          <p:attrName>style.visibility</p:attrName>
                                        </p:attrNameLst>
                                      </p:cBhvr>
                                      <p:to>
                                        <p:strVal val="visible"/>
                                      </p:to>
                                    </p:set>
                                  </p:childTnLst>
                                </p:cTn>
                              </p:par>
                              <p:par>
                                <p:cTn id="70" presetID="13" presetClass="entr" presetSubtype="16" fill="hold" nodeType="withEffect">
                                  <p:stCondLst>
                                    <p:cond delay="0"/>
                                  </p:stCondLst>
                                  <p:childTnLst>
                                    <p:set>
                                      <p:cBhvr>
                                        <p:cTn id="71" dur="1" fill="hold">
                                          <p:stCondLst>
                                            <p:cond delay="0"/>
                                          </p:stCondLst>
                                        </p:cTn>
                                        <p:tgtEl>
                                          <p:spTgt spid="234501"/>
                                        </p:tgtEl>
                                        <p:attrNameLst>
                                          <p:attrName>style.visibility</p:attrName>
                                        </p:attrNameLst>
                                      </p:cBhvr>
                                      <p:to>
                                        <p:strVal val="visible"/>
                                      </p:to>
                                    </p:set>
                                    <p:animEffect transition="in" filter="plus(in)">
                                      <p:cBhvr>
                                        <p:cTn id="72" dur="500"/>
                                        <p:tgtEl>
                                          <p:spTgt spid="234501"/>
                                        </p:tgtEl>
                                      </p:cBhvr>
                                    </p:animEffect>
                                  </p:childTnLst>
                                </p:cTn>
                              </p:par>
                              <p:par>
                                <p:cTn id="73" presetID="1" presetClass="entr" presetSubtype="0" fill="hold" nodeType="withEffect">
                                  <p:stCondLst>
                                    <p:cond delay="0"/>
                                  </p:stCondLst>
                                  <p:childTnLst>
                                    <p:set>
                                      <p:cBhvr>
                                        <p:cTn id="74" dur="1" fill="hold">
                                          <p:stCondLst>
                                            <p:cond delay="0"/>
                                          </p:stCondLst>
                                        </p:cTn>
                                        <p:tgtEl>
                                          <p:spTgt spid="548914"/>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2"/>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3451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3452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93198"/>
                                        </p:tgtEl>
                                        <p:attrNameLst>
                                          <p:attrName>style.visibility</p:attrName>
                                        </p:attrNameLst>
                                      </p:cBhvr>
                                      <p:to>
                                        <p:strVal val="visible"/>
                                      </p:to>
                                    </p:set>
                                    <p:animEffect transition="in" filter="wipe(left)">
                                      <p:cBhvr>
                                        <p:cTn id="85" dur="500"/>
                                        <p:tgtEl>
                                          <p:spTgt spid="93198"/>
                                        </p:tgtEl>
                                      </p:cBhvr>
                                    </p:animEffect>
                                  </p:childTnLst>
                                </p:cTn>
                              </p:par>
                            </p:childTnLst>
                          </p:cTn>
                        </p:par>
                        <p:par>
                          <p:cTn id="86" fill="hold">
                            <p:stCondLst>
                              <p:cond delay="500"/>
                            </p:stCondLst>
                            <p:childTnLst>
                              <p:par>
                                <p:cTn id="87" presetID="22" presetClass="entr" presetSubtype="8" fill="hold" grpId="0" nodeType="afterEffect">
                                  <p:stCondLst>
                                    <p:cond delay="0"/>
                                  </p:stCondLst>
                                  <p:childTnLst>
                                    <p:set>
                                      <p:cBhvr>
                                        <p:cTn id="88" dur="1" fill="hold">
                                          <p:stCondLst>
                                            <p:cond delay="0"/>
                                          </p:stCondLst>
                                        </p:cTn>
                                        <p:tgtEl>
                                          <p:spTgt spid="234539"/>
                                        </p:tgtEl>
                                        <p:attrNameLst>
                                          <p:attrName>style.visibility</p:attrName>
                                        </p:attrNameLst>
                                      </p:cBhvr>
                                      <p:to>
                                        <p:strVal val="visible"/>
                                      </p:to>
                                    </p:set>
                                    <p:animEffect transition="in" filter="wipe(left)">
                                      <p:cBhvr>
                                        <p:cTn id="89" dur="500"/>
                                        <p:tgtEl>
                                          <p:spTgt spid="234539"/>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234540"/>
                                        </p:tgtEl>
                                        <p:attrNameLst>
                                          <p:attrName>style.visibility</p:attrName>
                                        </p:attrNameLst>
                                      </p:cBhvr>
                                      <p:to>
                                        <p:strVal val="visible"/>
                                      </p:to>
                                    </p:set>
                                    <p:animEffect transition="in" filter="wipe(left)">
                                      <p:cBhvr>
                                        <p:cTn id="94" dur="500"/>
                                        <p:tgtEl>
                                          <p:spTgt spid="2345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39" grpId="0" animBg="1"/>
      <p:bldP spid="93198" grpId="0" animBg="1"/>
      <p:bldP spid="234540" grpId="0" animBg="1"/>
      <p:bldP spid="234502" grpId="0" animBg="1"/>
      <p:bldP spid="234503" grpId="0"/>
      <p:bldP spid="234504" grpId="0"/>
      <p:bldP spid="234505" grpId="0"/>
      <p:bldP spid="234506" grpId="0"/>
      <p:bldP spid="234507" grpId="0"/>
      <p:bldP spid="234508" grpId="0"/>
      <p:bldP spid="234509" grpId="0"/>
      <p:bldP spid="234510" grpId="0"/>
      <p:bldP spid="234511" grpId="0"/>
      <p:bldP spid="234512" grpId="0" animBg="1"/>
      <p:bldP spid="234513" grpId="0"/>
      <p:bldP spid="234514" grpId="0"/>
      <p:bldP spid="234515" grpId="0"/>
      <p:bldP spid="234516" grpId="0"/>
      <p:bldP spid="234518" grpId="0"/>
      <p:bldP spid="234519" grpId="0"/>
      <p:bldP spid="234520" grpId="0"/>
      <p:bldP spid="234521" grpId="0"/>
      <p:bldP spid="234522" grpId="0" animBg="1"/>
      <p:bldP spid="234523" grpId="0" animBg="1"/>
      <p:bldP spid="234524" grpId="0" animBg="1"/>
      <p:bldP spid="234525" grpId="0" animBg="1"/>
      <p:bldP spid="234526" grpId="0" animBg="1"/>
      <p:bldP spid="234527" grpId="0" animBg="1"/>
      <p:bldP spid="234533" grpId="0"/>
      <p:bldP spid="23453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Rot="1" noChangeArrowheads="1"/>
          </p:cNvSpPr>
          <p:nvPr>
            <p:ph type="title" idx="4294967295"/>
          </p:nvPr>
        </p:nvSpPr>
        <p:spPr>
          <a:xfrm>
            <a:off x="900113" y="0"/>
            <a:ext cx="8010525" cy="685800"/>
          </a:xfrm>
        </p:spPr>
        <p:txBody>
          <a:bodyPr/>
          <a:lstStyle/>
          <a:p>
            <a:pPr>
              <a:defRPr/>
            </a:pPr>
            <a:r>
              <a:rPr lang="en-US" dirty="0" smtClean="0"/>
              <a:t>Monopoly Versus Perfect Competition</a:t>
            </a:r>
            <a:endParaRPr lang="en-US" b="0" dirty="0" smtClean="0"/>
          </a:p>
        </p:txBody>
      </p:sp>
      <p:sp>
        <p:nvSpPr>
          <p:cNvPr id="94213" name="Rectangle 5"/>
          <p:cNvSpPr>
            <a:spLocks noChangeArrowheads="1"/>
          </p:cNvSpPr>
          <p:nvPr/>
        </p:nvSpPr>
        <p:spPr bwMode="auto">
          <a:xfrm>
            <a:off x="900113" y="965200"/>
            <a:ext cx="8010525" cy="5632450"/>
          </a:xfrm>
          <a:prstGeom prst="rect">
            <a:avLst/>
          </a:prstGeom>
          <a:noFill/>
          <a:ln w="9525" algn="ctr">
            <a:noFill/>
            <a:miter lim="800000"/>
            <a:headEnd/>
            <a:tailEnd type="none" w="med" len="lg"/>
          </a:ln>
        </p:spPr>
        <p:txBody>
          <a:bodyPr/>
          <a:lstStyle/>
          <a:p>
            <a:pPr>
              <a:buClr>
                <a:schemeClr val="tx1"/>
              </a:buClr>
              <a:buFont typeface="Arial" charset="0"/>
              <a:buChar char="•"/>
            </a:pPr>
            <a:r>
              <a:rPr lang="en-US" sz="2400" b="1" i="1"/>
              <a:t> P </a:t>
            </a:r>
            <a:r>
              <a:rPr lang="en-US" sz="2400" b="1"/>
              <a:t>= </a:t>
            </a:r>
            <a:r>
              <a:rPr lang="en-US" sz="2400" b="1" i="1"/>
              <a:t>MC</a:t>
            </a:r>
            <a:r>
              <a:rPr lang="en-US" sz="2400" i="1"/>
              <a:t> </a:t>
            </a:r>
            <a:r>
              <a:rPr lang="en-US" sz="2400"/>
              <a:t>at the perfectly competitive firm’s profit-maximizing quantity of output</a:t>
            </a:r>
          </a:p>
          <a:p>
            <a:pPr>
              <a:buClr>
                <a:schemeClr val="tx1"/>
              </a:buClr>
              <a:buFont typeface="Arial" charset="0"/>
              <a:buChar char="•"/>
            </a:pPr>
            <a:endParaRPr lang="en-US" sz="2400" b="1" i="1"/>
          </a:p>
          <a:p>
            <a:pPr>
              <a:buClr>
                <a:schemeClr val="tx1"/>
              </a:buClr>
              <a:buFont typeface="Arial" charset="0"/>
              <a:buChar char="•"/>
            </a:pPr>
            <a:r>
              <a:rPr lang="en-US" sz="2400" b="1" i="1"/>
              <a:t> P </a:t>
            </a:r>
            <a:r>
              <a:rPr lang="en-US" sz="2400" b="1"/>
              <a:t>&gt; </a:t>
            </a:r>
            <a:r>
              <a:rPr lang="en-US" sz="2400" b="1" i="1"/>
              <a:t>MR </a:t>
            </a:r>
            <a:r>
              <a:rPr lang="en-US" sz="2400" b="1"/>
              <a:t>= </a:t>
            </a:r>
            <a:r>
              <a:rPr lang="en-US" sz="2400" b="1" i="1"/>
              <a:t>MC</a:t>
            </a:r>
            <a:r>
              <a:rPr lang="en-US" sz="2400" i="1"/>
              <a:t> </a:t>
            </a:r>
            <a:r>
              <a:rPr lang="en-US" sz="2400"/>
              <a:t>at the monopolist’s profit-maximizing quantity of output</a:t>
            </a:r>
          </a:p>
          <a:p>
            <a:pPr>
              <a:buClr>
                <a:schemeClr val="tx1"/>
              </a:buClr>
              <a:buFont typeface="Arial" charset="0"/>
              <a:buChar char="•"/>
            </a:pPr>
            <a:endParaRPr lang="en-US" sz="2400"/>
          </a:p>
          <a:p>
            <a:pPr>
              <a:buClr>
                <a:schemeClr val="tx1"/>
              </a:buClr>
              <a:buFont typeface="Arial" charset="0"/>
              <a:buChar char="•"/>
            </a:pPr>
            <a:r>
              <a:rPr lang="en-US" sz="2400"/>
              <a:t> Compared with a competitive industry, a monopolist does the following:</a:t>
            </a:r>
          </a:p>
          <a:p>
            <a:pPr marL="341313" lvl="1">
              <a:buClr>
                <a:schemeClr val="tx1"/>
              </a:buClr>
              <a:buFont typeface="Wingdings" pitchFamily="2" charset="2"/>
              <a:buChar char="§"/>
            </a:pPr>
            <a:r>
              <a:rPr lang="en-US" sz="2400"/>
              <a:t> Produces a smaller quantity: </a:t>
            </a:r>
            <a:r>
              <a:rPr lang="en-US" sz="2400" i="1"/>
              <a:t>Q</a:t>
            </a:r>
            <a:r>
              <a:rPr lang="en-US" sz="2400" i="1" baseline="-25000"/>
              <a:t>M</a:t>
            </a:r>
            <a:r>
              <a:rPr lang="en-US" sz="2400" i="1"/>
              <a:t> </a:t>
            </a:r>
            <a:r>
              <a:rPr lang="en-US" sz="2400"/>
              <a:t>&lt; Q</a:t>
            </a:r>
            <a:r>
              <a:rPr lang="en-US" sz="2400" baseline="-25000"/>
              <a:t>C</a:t>
            </a:r>
          </a:p>
          <a:p>
            <a:pPr marL="341313" lvl="1">
              <a:buClr>
                <a:schemeClr val="tx1"/>
              </a:buClr>
              <a:buFont typeface="Wingdings" pitchFamily="2" charset="2"/>
              <a:buChar char="§"/>
            </a:pPr>
            <a:r>
              <a:rPr lang="en-US" sz="2400"/>
              <a:t> Charges a higher price: </a:t>
            </a:r>
            <a:r>
              <a:rPr lang="en-US" sz="2400" i="1"/>
              <a:t>P</a:t>
            </a:r>
            <a:r>
              <a:rPr lang="en-US" sz="2400" i="1" baseline="-25000"/>
              <a:t>M</a:t>
            </a:r>
            <a:r>
              <a:rPr lang="en-US" sz="2400" i="1"/>
              <a:t> </a:t>
            </a:r>
            <a:r>
              <a:rPr lang="en-US" sz="2400"/>
              <a:t>&gt; P</a:t>
            </a:r>
            <a:r>
              <a:rPr lang="en-US" sz="2400" baseline="-25000"/>
              <a:t>C</a:t>
            </a:r>
          </a:p>
          <a:p>
            <a:pPr marL="341313" lvl="1">
              <a:buClr>
                <a:schemeClr val="tx1"/>
              </a:buClr>
              <a:buFont typeface="Wingdings" pitchFamily="2" charset="2"/>
              <a:buChar char="§"/>
            </a:pPr>
            <a:r>
              <a:rPr lang="en-US" sz="2400"/>
              <a:t> Earns a profit</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3" name="Picture 3"/>
          <p:cNvPicPr>
            <a:picLocks noChangeAspect="1"/>
          </p:cNvPicPr>
          <p:nvPr/>
        </p:nvPicPr>
        <p:blipFill>
          <a:blip r:embed="rId3"/>
          <a:srcRect/>
          <a:stretch>
            <a:fillRect/>
          </a:stretch>
        </p:blipFill>
        <p:spPr bwMode="auto">
          <a:xfrm>
            <a:off x="0" y="-100013"/>
            <a:ext cx="9144000" cy="6958013"/>
          </a:xfrm>
          <a:prstGeom prst="rect">
            <a:avLst/>
          </a:prstGeom>
          <a:noFill/>
          <a:ln w="9525">
            <a:noFill/>
            <a:miter lim="800000"/>
            <a:headEnd/>
            <a:tailEnd/>
          </a:ln>
        </p:spPr>
      </p:pic>
      <p:sp>
        <p:nvSpPr>
          <p:cNvPr id="5" name="Rectangle 2"/>
          <p:cNvSpPr>
            <a:spLocks noGrp="1" noRot="1" noChangeArrowheads="1"/>
          </p:cNvSpPr>
          <p:nvPr>
            <p:ph type="title" idx="4294967295"/>
          </p:nvPr>
        </p:nvSpPr>
        <p:spPr>
          <a:xfrm>
            <a:off x="355600" y="-25400"/>
            <a:ext cx="8018463" cy="555625"/>
          </a:xfrm>
        </p:spPr>
        <p:txBody>
          <a:bodyPr/>
          <a:lstStyle/>
          <a:p>
            <a:pPr>
              <a:defRPr/>
            </a:pPr>
            <a:r>
              <a:rPr lang="en-US" dirty="0" smtClean="0"/>
              <a:t>Monopoly Causes Inefficiency</a:t>
            </a:r>
          </a:p>
        </p:txBody>
      </p:sp>
      <p:sp>
        <p:nvSpPr>
          <p:cNvPr id="6" name="Text Box 22"/>
          <p:cNvSpPr txBox="1">
            <a:spLocks noChangeArrowheads="1"/>
          </p:cNvSpPr>
          <p:nvPr/>
        </p:nvSpPr>
        <p:spPr bwMode="auto">
          <a:xfrm>
            <a:off x="474663" y="4584700"/>
            <a:ext cx="7988300" cy="1905000"/>
          </a:xfrm>
          <a:prstGeom prst="rect">
            <a:avLst/>
          </a:prstGeom>
          <a:solidFill>
            <a:schemeClr val="accent5">
              <a:lumMod val="20000"/>
              <a:lumOff val="80000"/>
            </a:schemeClr>
          </a:solidFill>
          <a:ln w="12700" algn="ctr">
            <a:noFill/>
            <a:miter lim="800000"/>
            <a:headEnd/>
            <a:tailEnd type="none" w="med" len="lg"/>
          </a:ln>
        </p:spPr>
        <p:txBody>
          <a:bodyPr anchor="ctr"/>
          <a:lstStyle/>
          <a:p>
            <a:pPr marL="1588" indent="-1588" algn="ctr">
              <a:spcBef>
                <a:spcPct val="20000"/>
              </a:spcBef>
              <a:defRPr/>
            </a:pPr>
            <a:r>
              <a:rPr lang="en-US" dirty="0">
                <a:solidFill>
                  <a:srgbClr val="0033CC"/>
                </a:solidFill>
              </a:rPr>
              <a:t>Panel (b) depicts the industry under monopoly: the monopolist decreases output to </a:t>
            </a:r>
            <a:r>
              <a:rPr lang="en-US" i="1" dirty="0">
                <a:solidFill>
                  <a:srgbClr val="0033CC"/>
                </a:solidFill>
              </a:rPr>
              <a:t>Q</a:t>
            </a:r>
            <a:r>
              <a:rPr lang="en-US" i="1" baseline="-25000" dirty="0">
                <a:solidFill>
                  <a:srgbClr val="0033CC"/>
                </a:solidFill>
              </a:rPr>
              <a:t>M</a:t>
            </a:r>
            <a:r>
              <a:rPr lang="en-US" i="1" dirty="0">
                <a:solidFill>
                  <a:srgbClr val="0033CC"/>
                </a:solidFill>
              </a:rPr>
              <a:t> </a:t>
            </a:r>
            <a:r>
              <a:rPr lang="en-US" dirty="0">
                <a:solidFill>
                  <a:srgbClr val="0033CC"/>
                </a:solidFill>
              </a:rPr>
              <a:t>and charges </a:t>
            </a:r>
            <a:r>
              <a:rPr lang="en-US" i="1" dirty="0">
                <a:solidFill>
                  <a:srgbClr val="0033CC"/>
                </a:solidFill>
              </a:rPr>
              <a:t>P</a:t>
            </a:r>
            <a:r>
              <a:rPr lang="en-US" i="1" baseline="-25000" dirty="0">
                <a:solidFill>
                  <a:srgbClr val="0033CC"/>
                </a:solidFill>
              </a:rPr>
              <a:t>M</a:t>
            </a:r>
            <a:r>
              <a:rPr lang="en-US" dirty="0">
                <a:solidFill>
                  <a:srgbClr val="0033CC"/>
                </a:solidFill>
              </a:rPr>
              <a:t>. Consumer surplus (blue triangle) has shrunk because a portion of it has been captured as profit (light blue area). </a:t>
            </a:r>
            <a:br>
              <a:rPr lang="en-US" dirty="0">
                <a:solidFill>
                  <a:srgbClr val="0033CC"/>
                </a:solidFill>
              </a:rPr>
            </a:br>
            <a:r>
              <a:rPr lang="en-US" dirty="0">
                <a:solidFill>
                  <a:srgbClr val="0033CC"/>
                </a:solidFill>
              </a:rPr>
              <a:t>Total surplus falls: the deadweight loss (orange area) represents the value of mutually beneficial transactions that do not occur because of monopoly behavior.</a:t>
            </a:r>
          </a:p>
        </p:txBody>
      </p:sp>
      <p:sp>
        <p:nvSpPr>
          <p:cNvPr id="7" name="Freeform 5"/>
          <p:cNvSpPr>
            <a:spLocks/>
          </p:cNvSpPr>
          <p:nvPr/>
        </p:nvSpPr>
        <p:spPr bwMode="auto">
          <a:xfrm>
            <a:off x="482600" y="2043113"/>
            <a:ext cx="2473325" cy="1412875"/>
          </a:xfrm>
          <a:custGeom>
            <a:avLst/>
            <a:gdLst>
              <a:gd name="T0" fmla="*/ 0 w 1285"/>
              <a:gd name="T1" fmla="*/ 0 h 666"/>
              <a:gd name="T2" fmla="*/ 0 w 1285"/>
              <a:gd name="T3" fmla="*/ 2147483647 h 666"/>
              <a:gd name="T4" fmla="*/ 2147483647 w 1285"/>
              <a:gd name="T5" fmla="*/ 2147483647 h 666"/>
              <a:gd name="T6" fmla="*/ 0 w 1285"/>
              <a:gd name="T7" fmla="*/ 0 h 666"/>
              <a:gd name="T8" fmla="*/ 0 60000 65536"/>
              <a:gd name="T9" fmla="*/ 0 60000 65536"/>
              <a:gd name="T10" fmla="*/ 0 60000 65536"/>
              <a:gd name="T11" fmla="*/ 0 60000 65536"/>
              <a:gd name="T12" fmla="*/ 0 w 1285"/>
              <a:gd name="T13" fmla="*/ 0 h 666"/>
              <a:gd name="T14" fmla="*/ 1285 w 1285"/>
              <a:gd name="T15" fmla="*/ 666 h 666"/>
            </a:gdLst>
            <a:ahLst/>
            <a:cxnLst>
              <a:cxn ang="T8">
                <a:pos x="T0" y="T1"/>
              </a:cxn>
              <a:cxn ang="T9">
                <a:pos x="T2" y="T3"/>
              </a:cxn>
              <a:cxn ang="T10">
                <a:pos x="T4" y="T5"/>
              </a:cxn>
              <a:cxn ang="T11">
                <a:pos x="T6" y="T7"/>
              </a:cxn>
            </a:cxnLst>
            <a:rect l="T12" t="T13" r="T14" b="T15"/>
            <a:pathLst>
              <a:path w="1285" h="666">
                <a:moveTo>
                  <a:pt x="0" y="0"/>
                </a:moveTo>
                <a:lnTo>
                  <a:pt x="0" y="666"/>
                </a:lnTo>
                <a:lnTo>
                  <a:pt x="1285" y="666"/>
                </a:lnTo>
                <a:lnTo>
                  <a:pt x="0" y="0"/>
                </a:lnTo>
                <a:close/>
              </a:path>
            </a:pathLst>
          </a:custGeom>
          <a:solidFill>
            <a:srgbClr val="C7D6EE"/>
          </a:solidFill>
          <a:ln w="9525">
            <a:noFill/>
            <a:round/>
            <a:headEnd/>
            <a:tailEnd/>
          </a:ln>
        </p:spPr>
        <p:txBody>
          <a:bodyPr/>
          <a:lstStyle/>
          <a:p>
            <a:endParaRPr lang="en-US"/>
          </a:p>
        </p:txBody>
      </p:sp>
      <p:sp>
        <p:nvSpPr>
          <p:cNvPr id="8" name="Freeform 6"/>
          <p:cNvSpPr>
            <a:spLocks/>
          </p:cNvSpPr>
          <p:nvPr/>
        </p:nvSpPr>
        <p:spPr bwMode="auto">
          <a:xfrm>
            <a:off x="6154738" y="2616200"/>
            <a:ext cx="1444625" cy="827088"/>
          </a:xfrm>
          <a:custGeom>
            <a:avLst/>
            <a:gdLst>
              <a:gd name="T0" fmla="*/ 0 w 751"/>
              <a:gd name="T1" fmla="*/ 0 h 390"/>
              <a:gd name="T2" fmla="*/ 0 w 751"/>
              <a:gd name="T3" fmla="*/ 2147483647 h 390"/>
              <a:gd name="T4" fmla="*/ 2147483647 w 751"/>
              <a:gd name="T5" fmla="*/ 2147483647 h 390"/>
              <a:gd name="T6" fmla="*/ 0 w 751"/>
              <a:gd name="T7" fmla="*/ 0 h 390"/>
              <a:gd name="T8" fmla="*/ 0 60000 65536"/>
              <a:gd name="T9" fmla="*/ 0 60000 65536"/>
              <a:gd name="T10" fmla="*/ 0 60000 65536"/>
              <a:gd name="T11" fmla="*/ 0 60000 65536"/>
              <a:gd name="T12" fmla="*/ 0 w 751"/>
              <a:gd name="T13" fmla="*/ 0 h 390"/>
              <a:gd name="T14" fmla="*/ 751 w 751"/>
              <a:gd name="T15" fmla="*/ 390 h 390"/>
            </a:gdLst>
            <a:ahLst/>
            <a:cxnLst>
              <a:cxn ang="T8">
                <a:pos x="T0" y="T1"/>
              </a:cxn>
              <a:cxn ang="T9">
                <a:pos x="T2" y="T3"/>
              </a:cxn>
              <a:cxn ang="T10">
                <a:pos x="T4" y="T5"/>
              </a:cxn>
              <a:cxn ang="T11">
                <a:pos x="T6" y="T7"/>
              </a:cxn>
            </a:cxnLst>
            <a:rect l="T12" t="T13" r="T14" b="T15"/>
            <a:pathLst>
              <a:path w="751" h="390">
                <a:moveTo>
                  <a:pt x="0" y="0"/>
                </a:moveTo>
                <a:lnTo>
                  <a:pt x="0" y="390"/>
                </a:lnTo>
                <a:lnTo>
                  <a:pt x="751" y="390"/>
                </a:lnTo>
                <a:lnTo>
                  <a:pt x="0" y="0"/>
                </a:lnTo>
                <a:close/>
              </a:path>
            </a:pathLst>
          </a:custGeom>
          <a:solidFill>
            <a:srgbClr val="FFE5B9"/>
          </a:solidFill>
          <a:ln w="9525">
            <a:noFill/>
            <a:round/>
            <a:headEnd/>
            <a:tailEnd/>
          </a:ln>
        </p:spPr>
        <p:txBody>
          <a:bodyPr/>
          <a:lstStyle/>
          <a:p>
            <a:endParaRPr lang="en-US"/>
          </a:p>
        </p:txBody>
      </p:sp>
      <p:sp>
        <p:nvSpPr>
          <p:cNvPr id="9" name="Rectangle 7"/>
          <p:cNvSpPr>
            <a:spLocks noChangeArrowheads="1"/>
          </p:cNvSpPr>
          <p:nvPr/>
        </p:nvSpPr>
        <p:spPr bwMode="auto">
          <a:xfrm>
            <a:off x="5126038" y="2616200"/>
            <a:ext cx="1028700" cy="827088"/>
          </a:xfrm>
          <a:prstGeom prst="rect">
            <a:avLst/>
          </a:prstGeom>
          <a:solidFill>
            <a:srgbClr val="D7EDE7"/>
          </a:solidFill>
          <a:ln w="9525">
            <a:noFill/>
            <a:miter lim="800000"/>
            <a:headEnd/>
            <a:tailEnd/>
          </a:ln>
        </p:spPr>
        <p:txBody>
          <a:bodyPr/>
          <a:lstStyle/>
          <a:p>
            <a:endParaRPr lang="en-US"/>
          </a:p>
        </p:txBody>
      </p:sp>
      <p:sp>
        <p:nvSpPr>
          <p:cNvPr id="10" name="Line 8"/>
          <p:cNvSpPr>
            <a:spLocks noChangeShapeType="1"/>
          </p:cNvSpPr>
          <p:nvPr/>
        </p:nvSpPr>
        <p:spPr bwMode="auto">
          <a:xfrm>
            <a:off x="5126038" y="3443288"/>
            <a:ext cx="2847975" cy="0"/>
          </a:xfrm>
          <a:prstGeom prst="line">
            <a:avLst/>
          </a:prstGeom>
          <a:noFill/>
          <a:ln w="30163">
            <a:solidFill>
              <a:srgbClr val="F3716D"/>
            </a:solidFill>
            <a:miter lim="800000"/>
            <a:headEnd/>
            <a:tailEnd/>
          </a:ln>
        </p:spPr>
        <p:txBody>
          <a:bodyPr/>
          <a:lstStyle/>
          <a:p>
            <a:endParaRPr lang="en-US"/>
          </a:p>
        </p:txBody>
      </p:sp>
      <p:sp>
        <p:nvSpPr>
          <p:cNvPr id="11" name="Freeform 9"/>
          <p:cNvSpPr>
            <a:spLocks/>
          </p:cNvSpPr>
          <p:nvPr/>
        </p:nvSpPr>
        <p:spPr bwMode="auto">
          <a:xfrm>
            <a:off x="5126038" y="2030413"/>
            <a:ext cx="1028700" cy="585787"/>
          </a:xfrm>
          <a:custGeom>
            <a:avLst/>
            <a:gdLst>
              <a:gd name="T0" fmla="*/ 0 w 534"/>
              <a:gd name="T1" fmla="*/ 0 h 276"/>
              <a:gd name="T2" fmla="*/ 0 w 534"/>
              <a:gd name="T3" fmla="*/ 2147483647 h 276"/>
              <a:gd name="T4" fmla="*/ 2147483647 w 534"/>
              <a:gd name="T5" fmla="*/ 2147483647 h 276"/>
              <a:gd name="T6" fmla="*/ 0 w 534"/>
              <a:gd name="T7" fmla="*/ 0 h 276"/>
              <a:gd name="T8" fmla="*/ 0 60000 65536"/>
              <a:gd name="T9" fmla="*/ 0 60000 65536"/>
              <a:gd name="T10" fmla="*/ 0 60000 65536"/>
              <a:gd name="T11" fmla="*/ 0 60000 65536"/>
              <a:gd name="T12" fmla="*/ 0 w 534"/>
              <a:gd name="T13" fmla="*/ 0 h 276"/>
              <a:gd name="T14" fmla="*/ 534 w 534"/>
              <a:gd name="T15" fmla="*/ 276 h 276"/>
            </a:gdLst>
            <a:ahLst/>
            <a:cxnLst>
              <a:cxn ang="T8">
                <a:pos x="T0" y="T1"/>
              </a:cxn>
              <a:cxn ang="T9">
                <a:pos x="T2" y="T3"/>
              </a:cxn>
              <a:cxn ang="T10">
                <a:pos x="T4" y="T5"/>
              </a:cxn>
              <a:cxn ang="T11">
                <a:pos x="T6" y="T7"/>
              </a:cxn>
            </a:cxnLst>
            <a:rect l="T12" t="T13" r="T14" b="T15"/>
            <a:pathLst>
              <a:path w="534" h="276">
                <a:moveTo>
                  <a:pt x="0" y="0"/>
                </a:moveTo>
                <a:lnTo>
                  <a:pt x="0" y="276"/>
                </a:lnTo>
                <a:lnTo>
                  <a:pt x="534" y="276"/>
                </a:lnTo>
                <a:lnTo>
                  <a:pt x="0" y="0"/>
                </a:lnTo>
                <a:close/>
              </a:path>
            </a:pathLst>
          </a:custGeom>
          <a:solidFill>
            <a:srgbClr val="C7D6EE"/>
          </a:solidFill>
          <a:ln w="9525">
            <a:noFill/>
            <a:round/>
            <a:headEnd/>
            <a:tailEnd/>
          </a:ln>
        </p:spPr>
        <p:txBody>
          <a:bodyPr/>
          <a:lstStyle/>
          <a:p>
            <a:endParaRPr lang="en-US"/>
          </a:p>
        </p:txBody>
      </p:sp>
      <p:sp>
        <p:nvSpPr>
          <p:cNvPr id="12" name="Line 10"/>
          <p:cNvSpPr>
            <a:spLocks noChangeShapeType="1"/>
          </p:cNvSpPr>
          <p:nvPr/>
        </p:nvSpPr>
        <p:spPr bwMode="auto">
          <a:xfrm>
            <a:off x="482600" y="3455988"/>
            <a:ext cx="2846388" cy="0"/>
          </a:xfrm>
          <a:prstGeom prst="line">
            <a:avLst/>
          </a:prstGeom>
          <a:noFill/>
          <a:ln w="30163">
            <a:solidFill>
              <a:srgbClr val="F3716D"/>
            </a:solidFill>
            <a:miter lim="800000"/>
            <a:headEnd/>
            <a:tailEnd/>
          </a:ln>
        </p:spPr>
        <p:txBody>
          <a:bodyPr/>
          <a:lstStyle/>
          <a:p>
            <a:endParaRPr lang="en-US"/>
          </a:p>
        </p:txBody>
      </p:sp>
      <p:sp>
        <p:nvSpPr>
          <p:cNvPr id="13" name="Rectangle 11"/>
          <p:cNvSpPr>
            <a:spLocks noChangeArrowheads="1"/>
          </p:cNvSpPr>
          <p:nvPr/>
        </p:nvSpPr>
        <p:spPr bwMode="auto">
          <a:xfrm>
            <a:off x="976313" y="1158875"/>
            <a:ext cx="187325"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(a)</a:t>
            </a:r>
            <a:endParaRPr lang="en-US" sz="1400">
              <a:latin typeface="Tahoma" pitchFamily="34" charset="0"/>
            </a:endParaRPr>
          </a:p>
        </p:txBody>
      </p:sp>
      <p:sp>
        <p:nvSpPr>
          <p:cNvPr id="14" name="Rectangle 12"/>
          <p:cNvSpPr>
            <a:spLocks noChangeArrowheads="1"/>
          </p:cNvSpPr>
          <p:nvPr/>
        </p:nvSpPr>
        <p:spPr bwMode="auto">
          <a:xfrm>
            <a:off x="1227138" y="1146175"/>
            <a:ext cx="3287712" cy="214313"/>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latin typeface="Myriad Pro"/>
              </a:rPr>
              <a:t>Total Surplus with Perfect Competition</a:t>
            </a:r>
            <a:endParaRPr lang="en-US" sz="1400" b="1">
              <a:latin typeface="Tahoma" pitchFamily="34" charset="0"/>
            </a:endParaRPr>
          </a:p>
        </p:txBody>
      </p:sp>
      <p:sp>
        <p:nvSpPr>
          <p:cNvPr id="15" name="Rectangle 13"/>
          <p:cNvSpPr>
            <a:spLocks noChangeArrowheads="1"/>
          </p:cNvSpPr>
          <p:nvPr/>
        </p:nvSpPr>
        <p:spPr bwMode="auto">
          <a:xfrm>
            <a:off x="5810250" y="1146175"/>
            <a:ext cx="49213"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a:t>
            </a:r>
            <a:endParaRPr lang="en-US" sz="1400">
              <a:latin typeface="Tahoma" pitchFamily="34" charset="0"/>
            </a:endParaRPr>
          </a:p>
        </p:txBody>
      </p:sp>
      <p:sp>
        <p:nvSpPr>
          <p:cNvPr id="16" name="Rectangle 14"/>
          <p:cNvSpPr>
            <a:spLocks noChangeArrowheads="1"/>
          </p:cNvSpPr>
          <p:nvPr/>
        </p:nvSpPr>
        <p:spPr bwMode="auto">
          <a:xfrm>
            <a:off x="5883275" y="1146175"/>
            <a:ext cx="10160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b</a:t>
            </a:r>
            <a:endParaRPr lang="en-US" sz="1400">
              <a:latin typeface="Tahoma" pitchFamily="34" charset="0"/>
            </a:endParaRPr>
          </a:p>
        </p:txBody>
      </p:sp>
      <p:sp>
        <p:nvSpPr>
          <p:cNvPr id="17" name="Rectangle 15"/>
          <p:cNvSpPr>
            <a:spLocks noChangeArrowheads="1"/>
          </p:cNvSpPr>
          <p:nvPr/>
        </p:nvSpPr>
        <p:spPr bwMode="auto">
          <a:xfrm>
            <a:off x="5967413" y="1146175"/>
            <a:ext cx="50800" cy="169863"/>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a:t>
            </a:r>
            <a:endParaRPr lang="en-US" sz="1400">
              <a:latin typeface="Tahoma" pitchFamily="34" charset="0"/>
            </a:endParaRPr>
          </a:p>
        </p:txBody>
      </p:sp>
      <p:sp>
        <p:nvSpPr>
          <p:cNvPr id="18" name="Rectangle 16"/>
          <p:cNvSpPr>
            <a:spLocks noChangeArrowheads="1"/>
          </p:cNvSpPr>
          <p:nvPr/>
        </p:nvSpPr>
        <p:spPr bwMode="auto">
          <a:xfrm>
            <a:off x="6094413" y="1157288"/>
            <a:ext cx="2428875" cy="215900"/>
          </a:xfrm>
          <a:prstGeom prst="rect">
            <a:avLst/>
          </a:prstGeom>
          <a:noFill/>
          <a:ln w="9525">
            <a:noFill/>
            <a:miter lim="800000"/>
            <a:headEnd/>
            <a:tailEnd/>
          </a:ln>
        </p:spPr>
        <p:txBody>
          <a:bodyPr wrap="none" lIns="0" tIns="0" rIns="0" bIns="0">
            <a:spAutoFit/>
          </a:bodyPr>
          <a:lstStyle/>
          <a:p>
            <a:pPr marL="1588" indent="-1588" algn="ctr"/>
            <a:r>
              <a:rPr lang="en-US" sz="1400" b="1">
                <a:solidFill>
                  <a:srgbClr val="000000"/>
                </a:solidFill>
                <a:latin typeface="Myriad Pro"/>
              </a:rPr>
              <a:t>Total Surplus with Monopoly</a:t>
            </a:r>
            <a:endParaRPr lang="en-US" sz="1400" b="1">
              <a:latin typeface="Tahoma" pitchFamily="34" charset="0"/>
            </a:endParaRPr>
          </a:p>
        </p:txBody>
      </p:sp>
      <p:sp>
        <p:nvSpPr>
          <p:cNvPr id="19" name="Line 17"/>
          <p:cNvSpPr>
            <a:spLocks noChangeShapeType="1"/>
          </p:cNvSpPr>
          <p:nvPr/>
        </p:nvSpPr>
        <p:spPr bwMode="auto">
          <a:xfrm>
            <a:off x="455613" y="2028825"/>
            <a:ext cx="3036887" cy="1731963"/>
          </a:xfrm>
          <a:prstGeom prst="line">
            <a:avLst/>
          </a:prstGeom>
          <a:noFill/>
          <a:ln w="30163">
            <a:solidFill>
              <a:srgbClr val="3C5DAA"/>
            </a:solidFill>
            <a:miter lim="800000"/>
            <a:headEnd/>
            <a:tailEnd/>
          </a:ln>
        </p:spPr>
        <p:txBody>
          <a:bodyPr/>
          <a:lstStyle/>
          <a:p>
            <a:endParaRPr lang="en-US"/>
          </a:p>
        </p:txBody>
      </p:sp>
      <p:sp>
        <p:nvSpPr>
          <p:cNvPr id="20" name="Rectangle 18"/>
          <p:cNvSpPr>
            <a:spLocks noChangeArrowheads="1"/>
          </p:cNvSpPr>
          <p:nvPr/>
        </p:nvSpPr>
        <p:spPr bwMode="auto">
          <a:xfrm>
            <a:off x="3508375" y="3670300"/>
            <a:ext cx="130175"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21" name="Rectangle 19"/>
          <p:cNvSpPr>
            <a:spLocks noChangeArrowheads="1"/>
          </p:cNvSpPr>
          <p:nvPr/>
        </p:nvSpPr>
        <p:spPr bwMode="auto">
          <a:xfrm>
            <a:off x="3327400" y="3333750"/>
            <a:ext cx="43180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MC</a:t>
            </a:r>
            <a:r>
              <a:rPr lang="en-US" sz="1400">
                <a:solidFill>
                  <a:srgbClr val="000000"/>
                </a:solidFill>
                <a:latin typeface="Myriad Pro"/>
              </a:rPr>
              <a:t> =</a:t>
            </a:r>
            <a:endParaRPr lang="en-US" sz="1400">
              <a:latin typeface="Tahoma" pitchFamily="34" charset="0"/>
            </a:endParaRPr>
          </a:p>
        </p:txBody>
      </p:sp>
      <p:sp>
        <p:nvSpPr>
          <p:cNvPr id="22" name="Rectangle 20"/>
          <p:cNvSpPr>
            <a:spLocks noChangeArrowheads="1"/>
          </p:cNvSpPr>
          <p:nvPr/>
        </p:nvSpPr>
        <p:spPr bwMode="auto">
          <a:xfrm>
            <a:off x="3763963" y="3333750"/>
            <a:ext cx="119062"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23" name="Rectangle 21"/>
          <p:cNvSpPr>
            <a:spLocks noChangeArrowheads="1"/>
          </p:cNvSpPr>
          <p:nvPr/>
        </p:nvSpPr>
        <p:spPr bwMode="auto">
          <a:xfrm>
            <a:off x="3856038" y="3333750"/>
            <a:ext cx="10795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24" name="Rectangle 22"/>
          <p:cNvSpPr>
            <a:spLocks noChangeArrowheads="1"/>
          </p:cNvSpPr>
          <p:nvPr/>
        </p:nvSpPr>
        <p:spPr bwMode="auto">
          <a:xfrm>
            <a:off x="3973513" y="3333750"/>
            <a:ext cx="130175"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5" name="Rectangle 23"/>
          <p:cNvSpPr>
            <a:spLocks noChangeArrowheads="1"/>
          </p:cNvSpPr>
          <p:nvPr/>
        </p:nvSpPr>
        <p:spPr bwMode="auto">
          <a:xfrm>
            <a:off x="7980363" y="3321050"/>
            <a:ext cx="43180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MC =</a:t>
            </a:r>
            <a:endParaRPr lang="en-US" sz="1400" i="1">
              <a:latin typeface="Tahoma" pitchFamily="34" charset="0"/>
            </a:endParaRPr>
          </a:p>
        </p:txBody>
      </p:sp>
      <p:sp>
        <p:nvSpPr>
          <p:cNvPr id="26" name="Rectangle 24"/>
          <p:cNvSpPr>
            <a:spLocks noChangeArrowheads="1"/>
          </p:cNvSpPr>
          <p:nvPr/>
        </p:nvSpPr>
        <p:spPr bwMode="auto">
          <a:xfrm>
            <a:off x="8421688" y="3321050"/>
            <a:ext cx="12065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27" name="Rectangle 25"/>
          <p:cNvSpPr>
            <a:spLocks noChangeArrowheads="1"/>
          </p:cNvSpPr>
          <p:nvPr/>
        </p:nvSpPr>
        <p:spPr bwMode="auto">
          <a:xfrm>
            <a:off x="8502650" y="3321050"/>
            <a:ext cx="107950"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28" name="Rectangle 26"/>
          <p:cNvSpPr>
            <a:spLocks noChangeArrowheads="1"/>
          </p:cNvSpPr>
          <p:nvPr/>
        </p:nvSpPr>
        <p:spPr bwMode="auto">
          <a:xfrm>
            <a:off x="8620125" y="3321050"/>
            <a:ext cx="128588"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29" name="Rectangle 27"/>
          <p:cNvSpPr>
            <a:spLocks noChangeArrowheads="1"/>
          </p:cNvSpPr>
          <p:nvPr/>
        </p:nvSpPr>
        <p:spPr bwMode="auto">
          <a:xfrm>
            <a:off x="3498850" y="4186238"/>
            <a:ext cx="666750" cy="214312"/>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Quantity</a:t>
            </a:r>
            <a:endParaRPr lang="en-US" sz="1400">
              <a:latin typeface="Tahoma" pitchFamily="34" charset="0"/>
            </a:endParaRPr>
          </a:p>
        </p:txBody>
      </p:sp>
      <p:sp>
        <p:nvSpPr>
          <p:cNvPr id="30" name="Rectangle 28"/>
          <p:cNvSpPr>
            <a:spLocks noChangeArrowheads="1"/>
          </p:cNvSpPr>
          <p:nvPr/>
        </p:nvSpPr>
        <p:spPr bwMode="auto">
          <a:xfrm>
            <a:off x="2867025" y="4167188"/>
            <a:ext cx="139700"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31" name="Rectangle 29"/>
          <p:cNvSpPr>
            <a:spLocks noChangeArrowheads="1"/>
          </p:cNvSpPr>
          <p:nvPr/>
        </p:nvSpPr>
        <p:spPr bwMode="auto">
          <a:xfrm>
            <a:off x="2992438" y="4276725"/>
            <a:ext cx="130175"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32" name="Oval 30"/>
          <p:cNvSpPr>
            <a:spLocks noChangeArrowheads="1"/>
          </p:cNvSpPr>
          <p:nvPr/>
        </p:nvSpPr>
        <p:spPr bwMode="auto">
          <a:xfrm>
            <a:off x="2909888" y="3405188"/>
            <a:ext cx="90487" cy="100012"/>
          </a:xfrm>
          <a:prstGeom prst="ellipse">
            <a:avLst/>
          </a:prstGeom>
          <a:solidFill>
            <a:srgbClr val="000000"/>
          </a:solidFill>
          <a:ln w="9525">
            <a:noFill/>
            <a:round/>
            <a:headEnd/>
            <a:tailEnd/>
          </a:ln>
        </p:spPr>
        <p:txBody>
          <a:bodyPr/>
          <a:lstStyle/>
          <a:p>
            <a:endParaRPr lang="en-US"/>
          </a:p>
        </p:txBody>
      </p:sp>
      <p:sp>
        <p:nvSpPr>
          <p:cNvPr id="33" name="Rectangle 31"/>
          <p:cNvSpPr>
            <a:spLocks noChangeArrowheads="1"/>
          </p:cNvSpPr>
          <p:nvPr/>
        </p:nvSpPr>
        <p:spPr bwMode="auto">
          <a:xfrm>
            <a:off x="269875" y="3222625"/>
            <a:ext cx="144463" cy="214313"/>
          </a:xfrm>
          <a:prstGeom prst="rect">
            <a:avLst/>
          </a:prstGeom>
          <a:noFill/>
          <a:ln w="9525">
            <a:noFill/>
            <a:miter lim="800000"/>
            <a:headEnd/>
            <a:tailEnd/>
          </a:ln>
        </p:spPr>
        <p:txBody>
          <a:bodyPr lIns="0" tIns="0" rIns="0" bIns="0">
            <a:spAutoFit/>
          </a:bodyPr>
          <a:lstStyle/>
          <a:p>
            <a:pPr marL="1588" indent="-1588"/>
            <a:r>
              <a:rPr lang="en-US" sz="1400" b="1" i="1">
                <a:solidFill>
                  <a:srgbClr val="000000"/>
                </a:solidFill>
                <a:latin typeface="Myriad Pro"/>
              </a:rPr>
              <a:t>P</a:t>
            </a:r>
            <a:endParaRPr lang="en-US" sz="1400" b="1" i="1">
              <a:latin typeface="Tahoma" pitchFamily="34" charset="0"/>
            </a:endParaRPr>
          </a:p>
        </p:txBody>
      </p:sp>
      <p:sp>
        <p:nvSpPr>
          <p:cNvPr id="34" name="Rectangle 32"/>
          <p:cNvSpPr>
            <a:spLocks noChangeArrowheads="1"/>
          </p:cNvSpPr>
          <p:nvPr/>
        </p:nvSpPr>
        <p:spPr bwMode="auto">
          <a:xfrm>
            <a:off x="325438" y="3378200"/>
            <a:ext cx="128587" cy="215900"/>
          </a:xfrm>
          <a:prstGeom prst="rect">
            <a:avLst/>
          </a:prstGeom>
          <a:noFill/>
          <a:ln w="9525">
            <a:noFill/>
            <a:miter lim="800000"/>
            <a:headEnd/>
            <a:tailEnd/>
          </a:ln>
        </p:spPr>
        <p:txBody>
          <a:bodyPr wrap="none" lIns="0" tIns="0" rIns="0" bIns="0">
            <a:spAutoFit/>
          </a:bodyPr>
          <a:lstStyle/>
          <a:p>
            <a:pPr marL="1588" indent="-1588"/>
            <a:r>
              <a:rPr lang="en-US" sz="1400" b="1" i="1">
                <a:solidFill>
                  <a:srgbClr val="000000"/>
                </a:solidFill>
                <a:latin typeface="Myriad Pro"/>
              </a:rPr>
              <a:t>C</a:t>
            </a:r>
            <a:endParaRPr lang="en-US" sz="1400" b="1" i="1">
              <a:latin typeface="Tahoma" pitchFamily="34" charset="0"/>
            </a:endParaRPr>
          </a:p>
        </p:txBody>
      </p:sp>
      <p:sp>
        <p:nvSpPr>
          <p:cNvPr id="35" name="Line 35"/>
          <p:cNvSpPr>
            <a:spLocks noChangeShapeType="1"/>
          </p:cNvSpPr>
          <p:nvPr/>
        </p:nvSpPr>
        <p:spPr bwMode="auto">
          <a:xfrm>
            <a:off x="5113338" y="2019300"/>
            <a:ext cx="3024187" cy="1728788"/>
          </a:xfrm>
          <a:prstGeom prst="line">
            <a:avLst/>
          </a:prstGeom>
          <a:noFill/>
          <a:ln w="30163">
            <a:solidFill>
              <a:srgbClr val="3C5DAA"/>
            </a:solidFill>
            <a:miter lim="800000"/>
            <a:headEnd/>
            <a:tailEnd/>
          </a:ln>
        </p:spPr>
        <p:txBody>
          <a:bodyPr/>
          <a:lstStyle/>
          <a:p>
            <a:endParaRPr lang="en-US"/>
          </a:p>
        </p:txBody>
      </p:sp>
      <p:sp>
        <p:nvSpPr>
          <p:cNvPr id="36" name="Line 36"/>
          <p:cNvSpPr>
            <a:spLocks noChangeShapeType="1"/>
          </p:cNvSpPr>
          <p:nvPr/>
        </p:nvSpPr>
        <p:spPr bwMode="auto">
          <a:xfrm>
            <a:off x="5113338" y="2009775"/>
            <a:ext cx="1395412" cy="1924050"/>
          </a:xfrm>
          <a:prstGeom prst="line">
            <a:avLst/>
          </a:prstGeom>
          <a:noFill/>
          <a:ln w="30163">
            <a:solidFill>
              <a:srgbClr val="4B8FCC"/>
            </a:solidFill>
            <a:miter lim="800000"/>
            <a:headEnd/>
            <a:tailEnd/>
          </a:ln>
        </p:spPr>
        <p:txBody>
          <a:bodyPr/>
          <a:lstStyle/>
          <a:p>
            <a:endParaRPr lang="en-US"/>
          </a:p>
        </p:txBody>
      </p:sp>
      <p:sp>
        <p:nvSpPr>
          <p:cNvPr id="37" name="Rectangle 37"/>
          <p:cNvSpPr>
            <a:spLocks noChangeArrowheads="1"/>
          </p:cNvSpPr>
          <p:nvPr/>
        </p:nvSpPr>
        <p:spPr bwMode="auto">
          <a:xfrm>
            <a:off x="6086475" y="4154488"/>
            <a:ext cx="138113"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38" name="Rectangle 38"/>
          <p:cNvSpPr>
            <a:spLocks noChangeArrowheads="1"/>
          </p:cNvSpPr>
          <p:nvPr/>
        </p:nvSpPr>
        <p:spPr bwMode="auto">
          <a:xfrm>
            <a:off x="6211888" y="4264025"/>
            <a:ext cx="147637"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39" name="Rectangle 39"/>
          <p:cNvSpPr>
            <a:spLocks noChangeArrowheads="1"/>
          </p:cNvSpPr>
          <p:nvPr/>
        </p:nvSpPr>
        <p:spPr bwMode="auto">
          <a:xfrm>
            <a:off x="4872038" y="2433638"/>
            <a:ext cx="119062"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P</a:t>
            </a:r>
            <a:endParaRPr lang="en-US" sz="1400" i="1">
              <a:latin typeface="Tahoma" pitchFamily="34" charset="0"/>
            </a:endParaRPr>
          </a:p>
        </p:txBody>
      </p:sp>
      <p:sp>
        <p:nvSpPr>
          <p:cNvPr id="40" name="Rectangle 40"/>
          <p:cNvSpPr>
            <a:spLocks noChangeArrowheads="1"/>
          </p:cNvSpPr>
          <p:nvPr/>
        </p:nvSpPr>
        <p:spPr bwMode="auto">
          <a:xfrm>
            <a:off x="4968875" y="2547938"/>
            <a:ext cx="147638"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41" name="Rectangle 46"/>
          <p:cNvSpPr>
            <a:spLocks noChangeArrowheads="1"/>
          </p:cNvSpPr>
          <p:nvPr/>
        </p:nvSpPr>
        <p:spPr bwMode="auto">
          <a:xfrm>
            <a:off x="8154988" y="3651250"/>
            <a:ext cx="128587" cy="214313"/>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42" name="Rectangle 47"/>
          <p:cNvSpPr>
            <a:spLocks noChangeArrowheads="1"/>
          </p:cNvSpPr>
          <p:nvPr/>
        </p:nvSpPr>
        <p:spPr bwMode="auto">
          <a:xfrm>
            <a:off x="6516688" y="3871913"/>
            <a:ext cx="277812" cy="214312"/>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MR</a:t>
            </a:r>
            <a:endParaRPr lang="en-US" sz="1400" i="1">
              <a:latin typeface="Tahoma" pitchFamily="34" charset="0"/>
            </a:endParaRPr>
          </a:p>
        </p:txBody>
      </p:sp>
      <p:sp>
        <p:nvSpPr>
          <p:cNvPr id="43" name="Rectangle 48"/>
          <p:cNvSpPr>
            <a:spLocks noChangeArrowheads="1"/>
          </p:cNvSpPr>
          <p:nvPr/>
        </p:nvSpPr>
        <p:spPr bwMode="auto">
          <a:xfrm>
            <a:off x="7818438" y="4170363"/>
            <a:ext cx="66675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Quantity</a:t>
            </a:r>
            <a:endParaRPr lang="en-US" sz="1400">
              <a:latin typeface="Tahoma" pitchFamily="34" charset="0"/>
            </a:endParaRPr>
          </a:p>
        </p:txBody>
      </p:sp>
      <p:sp>
        <p:nvSpPr>
          <p:cNvPr id="44" name="Oval 49"/>
          <p:cNvSpPr>
            <a:spLocks noChangeArrowheads="1"/>
          </p:cNvSpPr>
          <p:nvPr/>
        </p:nvSpPr>
        <p:spPr bwMode="auto">
          <a:xfrm>
            <a:off x="6108700" y="3392488"/>
            <a:ext cx="92075" cy="100012"/>
          </a:xfrm>
          <a:prstGeom prst="ellipse">
            <a:avLst/>
          </a:prstGeom>
          <a:solidFill>
            <a:srgbClr val="000000"/>
          </a:solidFill>
          <a:ln w="9525">
            <a:noFill/>
            <a:round/>
            <a:headEnd/>
            <a:tailEnd/>
          </a:ln>
        </p:spPr>
        <p:txBody>
          <a:bodyPr/>
          <a:lstStyle/>
          <a:p>
            <a:endParaRPr lang="en-US"/>
          </a:p>
        </p:txBody>
      </p:sp>
      <p:sp>
        <p:nvSpPr>
          <p:cNvPr id="45" name="Oval 50"/>
          <p:cNvSpPr>
            <a:spLocks noChangeArrowheads="1"/>
          </p:cNvSpPr>
          <p:nvPr/>
        </p:nvSpPr>
        <p:spPr bwMode="auto">
          <a:xfrm>
            <a:off x="6108700" y="2565400"/>
            <a:ext cx="92075" cy="101600"/>
          </a:xfrm>
          <a:prstGeom prst="ellipse">
            <a:avLst/>
          </a:prstGeom>
          <a:solidFill>
            <a:srgbClr val="000000"/>
          </a:solidFill>
          <a:ln w="9525">
            <a:noFill/>
            <a:round/>
            <a:headEnd/>
            <a:tailEnd/>
          </a:ln>
        </p:spPr>
        <p:txBody>
          <a:bodyPr/>
          <a:lstStyle/>
          <a:p>
            <a:endParaRPr lang="en-US"/>
          </a:p>
        </p:txBody>
      </p:sp>
      <p:sp>
        <p:nvSpPr>
          <p:cNvPr id="46" name="Line 51"/>
          <p:cNvSpPr>
            <a:spLocks noChangeShapeType="1"/>
          </p:cNvSpPr>
          <p:nvPr/>
        </p:nvSpPr>
        <p:spPr bwMode="auto">
          <a:xfrm flipV="1">
            <a:off x="5559425" y="2174875"/>
            <a:ext cx="350838" cy="241300"/>
          </a:xfrm>
          <a:prstGeom prst="line">
            <a:avLst/>
          </a:prstGeom>
          <a:noFill/>
          <a:ln w="7938">
            <a:solidFill>
              <a:srgbClr val="000000"/>
            </a:solidFill>
            <a:miter lim="800000"/>
            <a:headEnd/>
            <a:tailEnd/>
          </a:ln>
        </p:spPr>
        <p:txBody>
          <a:bodyPr/>
          <a:lstStyle/>
          <a:p>
            <a:endParaRPr lang="en-US"/>
          </a:p>
        </p:txBody>
      </p:sp>
      <p:sp>
        <p:nvSpPr>
          <p:cNvPr id="47" name="Line 52"/>
          <p:cNvSpPr>
            <a:spLocks noChangeShapeType="1"/>
          </p:cNvSpPr>
          <p:nvPr/>
        </p:nvSpPr>
        <p:spPr bwMode="auto">
          <a:xfrm flipV="1">
            <a:off x="6000750" y="2560638"/>
            <a:ext cx="727075" cy="452437"/>
          </a:xfrm>
          <a:prstGeom prst="line">
            <a:avLst/>
          </a:prstGeom>
          <a:noFill/>
          <a:ln w="7938">
            <a:solidFill>
              <a:srgbClr val="000000"/>
            </a:solidFill>
            <a:miter lim="800000"/>
            <a:headEnd/>
            <a:tailEnd/>
          </a:ln>
        </p:spPr>
        <p:txBody>
          <a:bodyPr/>
          <a:lstStyle/>
          <a:p>
            <a:endParaRPr lang="en-US"/>
          </a:p>
        </p:txBody>
      </p:sp>
      <p:sp>
        <p:nvSpPr>
          <p:cNvPr id="48" name="Line 53"/>
          <p:cNvSpPr>
            <a:spLocks noChangeShapeType="1"/>
          </p:cNvSpPr>
          <p:nvPr/>
        </p:nvSpPr>
        <p:spPr bwMode="auto">
          <a:xfrm flipV="1">
            <a:off x="6818313" y="2943225"/>
            <a:ext cx="504825" cy="298450"/>
          </a:xfrm>
          <a:prstGeom prst="line">
            <a:avLst/>
          </a:prstGeom>
          <a:noFill/>
          <a:ln w="7938">
            <a:solidFill>
              <a:srgbClr val="000000"/>
            </a:solidFill>
            <a:miter lim="800000"/>
            <a:headEnd/>
            <a:tailEnd/>
          </a:ln>
        </p:spPr>
        <p:txBody>
          <a:bodyPr/>
          <a:lstStyle/>
          <a:p>
            <a:endParaRPr lang="en-US"/>
          </a:p>
        </p:txBody>
      </p:sp>
      <p:sp>
        <p:nvSpPr>
          <p:cNvPr id="49" name="Freeform 54"/>
          <p:cNvSpPr>
            <a:spLocks/>
          </p:cNvSpPr>
          <p:nvPr/>
        </p:nvSpPr>
        <p:spPr bwMode="auto">
          <a:xfrm>
            <a:off x="5680075" y="1577975"/>
            <a:ext cx="1408113" cy="666750"/>
          </a:xfrm>
          <a:custGeom>
            <a:avLst/>
            <a:gdLst>
              <a:gd name="T0" fmla="*/ 2147483647 w 265"/>
              <a:gd name="T1" fmla="*/ 2147483647 h 94"/>
              <a:gd name="T2" fmla="*/ 2147483647 w 265"/>
              <a:gd name="T3" fmla="*/ 2147483647 h 94"/>
              <a:gd name="T4" fmla="*/ 2147483647 w 265"/>
              <a:gd name="T5" fmla="*/ 2147483647 h 94"/>
              <a:gd name="T6" fmla="*/ 0 w 265"/>
              <a:gd name="T7" fmla="*/ 2147483647 h 94"/>
              <a:gd name="T8" fmla="*/ 0 w 265"/>
              <a:gd name="T9" fmla="*/ 2147483647 h 94"/>
              <a:gd name="T10" fmla="*/ 2147483647 w 265"/>
              <a:gd name="T11" fmla="*/ 0 h 94"/>
              <a:gd name="T12" fmla="*/ 2147483647 w 265"/>
              <a:gd name="T13" fmla="*/ 0 h 94"/>
              <a:gd name="T14" fmla="*/ 2147483647 w 265"/>
              <a:gd name="T15" fmla="*/ 2147483647 h 94"/>
              <a:gd name="T16" fmla="*/ 2147483647 w 265"/>
              <a:gd name="T17" fmla="*/ 2147483647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5"/>
              <a:gd name="T28" fmla="*/ 0 h 94"/>
              <a:gd name="T29" fmla="*/ 265 w 265"/>
              <a:gd name="T30" fmla="*/ 94 h 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5" h="94">
                <a:moveTo>
                  <a:pt x="265" y="78"/>
                </a:moveTo>
                <a:cubicBezTo>
                  <a:pt x="265" y="87"/>
                  <a:pt x="258" y="94"/>
                  <a:pt x="249" y="94"/>
                </a:cubicBezTo>
                <a:cubicBezTo>
                  <a:pt x="16" y="94"/>
                  <a:pt x="16" y="94"/>
                  <a:pt x="16" y="94"/>
                </a:cubicBezTo>
                <a:cubicBezTo>
                  <a:pt x="7" y="94"/>
                  <a:pt x="0" y="87"/>
                  <a:pt x="0" y="78"/>
                </a:cubicBezTo>
                <a:cubicBezTo>
                  <a:pt x="0" y="16"/>
                  <a:pt x="0" y="16"/>
                  <a:pt x="0" y="16"/>
                </a:cubicBezTo>
                <a:cubicBezTo>
                  <a:pt x="0" y="7"/>
                  <a:pt x="7" y="0"/>
                  <a:pt x="16" y="0"/>
                </a:cubicBezTo>
                <a:cubicBezTo>
                  <a:pt x="249" y="0"/>
                  <a:pt x="249" y="0"/>
                  <a:pt x="249" y="0"/>
                </a:cubicBezTo>
                <a:cubicBezTo>
                  <a:pt x="258" y="0"/>
                  <a:pt x="265" y="7"/>
                  <a:pt x="265" y="16"/>
                </a:cubicBezTo>
                <a:lnTo>
                  <a:pt x="265" y="78"/>
                </a:lnTo>
                <a:close/>
              </a:path>
            </a:pathLst>
          </a:custGeom>
          <a:solidFill>
            <a:srgbClr val="D7E2E0"/>
          </a:solidFill>
          <a:ln w="9525">
            <a:noFill/>
            <a:round/>
            <a:headEnd/>
            <a:tailEnd/>
          </a:ln>
        </p:spPr>
        <p:txBody>
          <a:bodyPr/>
          <a:lstStyle/>
          <a:p>
            <a:endParaRPr lang="en-US"/>
          </a:p>
        </p:txBody>
      </p:sp>
      <p:sp>
        <p:nvSpPr>
          <p:cNvPr id="50" name="Line 55"/>
          <p:cNvSpPr>
            <a:spLocks noChangeShapeType="1"/>
          </p:cNvSpPr>
          <p:nvPr/>
        </p:nvSpPr>
        <p:spPr bwMode="auto">
          <a:xfrm flipV="1">
            <a:off x="1003300" y="2187575"/>
            <a:ext cx="160338" cy="492125"/>
          </a:xfrm>
          <a:prstGeom prst="line">
            <a:avLst/>
          </a:prstGeom>
          <a:noFill/>
          <a:ln w="7938">
            <a:solidFill>
              <a:srgbClr val="000000"/>
            </a:solidFill>
            <a:miter lim="800000"/>
            <a:headEnd/>
            <a:tailEnd/>
          </a:ln>
        </p:spPr>
        <p:txBody>
          <a:bodyPr/>
          <a:lstStyle/>
          <a:p>
            <a:endParaRPr lang="en-US"/>
          </a:p>
        </p:txBody>
      </p:sp>
      <p:sp>
        <p:nvSpPr>
          <p:cNvPr id="51" name="Freeform 56"/>
          <p:cNvSpPr>
            <a:spLocks/>
          </p:cNvSpPr>
          <p:nvPr/>
        </p:nvSpPr>
        <p:spPr bwMode="auto">
          <a:xfrm>
            <a:off x="936625" y="1577975"/>
            <a:ext cx="1914525" cy="666750"/>
          </a:xfrm>
          <a:custGeom>
            <a:avLst/>
            <a:gdLst>
              <a:gd name="T0" fmla="*/ 2147483647 w 331"/>
              <a:gd name="T1" fmla="*/ 2147483647 h 94"/>
              <a:gd name="T2" fmla="*/ 2147483647 w 331"/>
              <a:gd name="T3" fmla="*/ 2147483647 h 94"/>
              <a:gd name="T4" fmla="*/ 2147483647 w 331"/>
              <a:gd name="T5" fmla="*/ 2147483647 h 94"/>
              <a:gd name="T6" fmla="*/ 0 w 331"/>
              <a:gd name="T7" fmla="*/ 2147483647 h 94"/>
              <a:gd name="T8" fmla="*/ 0 w 331"/>
              <a:gd name="T9" fmla="*/ 2147483647 h 94"/>
              <a:gd name="T10" fmla="*/ 2147483647 w 331"/>
              <a:gd name="T11" fmla="*/ 0 h 94"/>
              <a:gd name="T12" fmla="*/ 2147483647 w 331"/>
              <a:gd name="T13" fmla="*/ 0 h 94"/>
              <a:gd name="T14" fmla="*/ 2147483647 w 331"/>
              <a:gd name="T15" fmla="*/ 2147483647 h 94"/>
              <a:gd name="T16" fmla="*/ 2147483647 w 331"/>
              <a:gd name="T17" fmla="*/ 2147483647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31"/>
              <a:gd name="T28" fmla="*/ 0 h 94"/>
              <a:gd name="T29" fmla="*/ 331 w 331"/>
              <a:gd name="T30" fmla="*/ 94 h 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31" h="94">
                <a:moveTo>
                  <a:pt x="331" y="78"/>
                </a:moveTo>
                <a:cubicBezTo>
                  <a:pt x="331" y="87"/>
                  <a:pt x="324" y="94"/>
                  <a:pt x="315" y="94"/>
                </a:cubicBezTo>
                <a:cubicBezTo>
                  <a:pt x="16" y="94"/>
                  <a:pt x="16" y="94"/>
                  <a:pt x="16" y="94"/>
                </a:cubicBezTo>
                <a:cubicBezTo>
                  <a:pt x="7" y="94"/>
                  <a:pt x="0" y="87"/>
                  <a:pt x="0" y="78"/>
                </a:cubicBezTo>
                <a:cubicBezTo>
                  <a:pt x="0" y="16"/>
                  <a:pt x="0" y="16"/>
                  <a:pt x="0" y="16"/>
                </a:cubicBezTo>
                <a:cubicBezTo>
                  <a:pt x="0" y="7"/>
                  <a:pt x="7" y="0"/>
                  <a:pt x="16" y="0"/>
                </a:cubicBezTo>
                <a:cubicBezTo>
                  <a:pt x="315" y="0"/>
                  <a:pt x="315" y="0"/>
                  <a:pt x="315" y="0"/>
                </a:cubicBezTo>
                <a:cubicBezTo>
                  <a:pt x="324" y="0"/>
                  <a:pt x="331" y="7"/>
                  <a:pt x="331" y="16"/>
                </a:cubicBezTo>
                <a:lnTo>
                  <a:pt x="331" y="78"/>
                </a:lnTo>
                <a:close/>
              </a:path>
            </a:pathLst>
          </a:custGeom>
          <a:solidFill>
            <a:srgbClr val="D7E2E0"/>
          </a:solidFill>
          <a:ln w="9525">
            <a:noFill/>
            <a:round/>
            <a:headEnd/>
            <a:tailEnd/>
          </a:ln>
        </p:spPr>
        <p:txBody>
          <a:bodyPr/>
          <a:lstStyle/>
          <a:p>
            <a:endParaRPr lang="en-US"/>
          </a:p>
        </p:txBody>
      </p:sp>
      <p:sp>
        <p:nvSpPr>
          <p:cNvPr id="52" name="Rectangle 57"/>
          <p:cNvSpPr>
            <a:spLocks noChangeArrowheads="1"/>
          </p:cNvSpPr>
          <p:nvPr/>
        </p:nvSpPr>
        <p:spPr bwMode="auto">
          <a:xfrm>
            <a:off x="71438" y="1328738"/>
            <a:ext cx="541337" cy="4302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a:t>
            </a:r>
            <a:endParaRPr lang="en-US" sz="1400">
              <a:latin typeface="Tahoma" pitchFamily="34" charset="0"/>
            </a:endParaRPr>
          </a:p>
        </p:txBody>
      </p:sp>
      <p:sp>
        <p:nvSpPr>
          <p:cNvPr id="53" name="Freeform 58"/>
          <p:cNvSpPr>
            <a:spLocks/>
          </p:cNvSpPr>
          <p:nvPr/>
        </p:nvSpPr>
        <p:spPr bwMode="auto">
          <a:xfrm>
            <a:off x="6707188" y="2289175"/>
            <a:ext cx="625475" cy="296863"/>
          </a:xfrm>
          <a:custGeom>
            <a:avLst/>
            <a:gdLst>
              <a:gd name="T0" fmla="*/ 2147483647 w 111"/>
              <a:gd name="T1" fmla="*/ 2147483647 h 58"/>
              <a:gd name="T2" fmla="*/ 2147483647 w 111"/>
              <a:gd name="T3" fmla="*/ 2147483647 h 58"/>
              <a:gd name="T4" fmla="*/ 2147483647 w 111"/>
              <a:gd name="T5" fmla="*/ 2147483647 h 58"/>
              <a:gd name="T6" fmla="*/ 0 w 111"/>
              <a:gd name="T7" fmla="*/ 2147483647 h 58"/>
              <a:gd name="T8" fmla="*/ 0 w 111"/>
              <a:gd name="T9" fmla="*/ 2147483647 h 58"/>
              <a:gd name="T10" fmla="*/ 2147483647 w 111"/>
              <a:gd name="T11" fmla="*/ 0 h 58"/>
              <a:gd name="T12" fmla="*/ 2147483647 w 111"/>
              <a:gd name="T13" fmla="*/ 0 h 58"/>
              <a:gd name="T14" fmla="*/ 2147483647 w 111"/>
              <a:gd name="T15" fmla="*/ 2147483647 h 58"/>
              <a:gd name="T16" fmla="*/ 2147483647 w 111"/>
              <a:gd name="T17" fmla="*/ 2147483647 h 5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11"/>
              <a:gd name="T28" fmla="*/ 0 h 58"/>
              <a:gd name="T29" fmla="*/ 111 w 111"/>
              <a:gd name="T30" fmla="*/ 58 h 5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11" h="58">
                <a:moveTo>
                  <a:pt x="111" y="42"/>
                </a:moveTo>
                <a:cubicBezTo>
                  <a:pt x="111" y="51"/>
                  <a:pt x="104" y="58"/>
                  <a:pt x="95" y="58"/>
                </a:cubicBezTo>
                <a:cubicBezTo>
                  <a:pt x="16" y="58"/>
                  <a:pt x="16" y="58"/>
                  <a:pt x="16" y="58"/>
                </a:cubicBezTo>
                <a:cubicBezTo>
                  <a:pt x="7" y="58"/>
                  <a:pt x="0" y="51"/>
                  <a:pt x="0" y="42"/>
                </a:cubicBezTo>
                <a:cubicBezTo>
                  <a:pt x="0" y="16"/>
                  <a:pt x="0" y="16"/>
                  <a:pt x="0" y="16"/>
                </a:cubicBezTo>
                <a:cubicBezTo>
                  <a:pt x="0" y="7"/>
                  <a:pt x="7" y="0"/>
                  <a:pt x="16" y="0"/>
                </a:cubicBezTo>
                <a:cubicBezTo>
                  <a:pt x="95" y="0"/>
                  <a:pt x="95" y="0"/>
                  <a:pt x="95" y="0"/>
                </a:cubicBezTo>
                <a:cubicBezTo>
                  <a:pt x="104" y="0"/>
                  <a:pt x="111" y="7"/>
                  <a:pt x="111" y="16"/>
                </a:cubicBezTo>
                <a:lnTo>
                  <a:pt x="111" y="42"/>
                </a:lnTo>
                <a:close/>
              </a:path>
            </a:pathLst>
          </a:custGeom>
          <a:solidFill>
            <a:srgbClr val="D7E2E0"/>
          </a:solidFill>
          <a:ln w="9525">
            <a:noFill/>
            <a:round/>
            <a:headEnd/>
            <a:tailEnd/>
          </a:ln>
        </p:spPr>
        <p:txBody>
          <a:bodyPr/>
          <a:lstStyle/>
          <a:p>
            <a:endParaRPr lang="en-US"/>
          </a:p>
        </p:txBody>
      </p:sp>
      <p:sp>
        <p:nvSpPr>
          <p:cNvPr id="54" name="Rectangle 59"/>
          <p:cNvSpPr>
            <a:spLocks noChangeArrowheads="1"/>
          </p:cNvSpPr>
          <p:nvPr/>
        </p:nvSpPr>
        <p:spPr bwMode="auto">
          <a:xfrm>
            <a:off x="6762750" y="2328863"/>
            <a:ext cx="417513"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Profit</a:t>
            </a:r>
            <a:endParaRPr lang="en-US" sz="1400">
              <a:latin typeface="Tahoma" pitchFamily="34" charset="0"/>
            </a:endParaRPr>
          </a:p>
        </p:txBody>
      </p:sp>
      <p:sp>
        <p:nvSpPr>
          <p:cNvPr id="55" name="Freeform 60"/>
          <p:cNvSpPr>
            <a:spLocks/>
          </p:cNvSpPr>
          <p:nvPr/>
        </p:nvSpPr>
        <p:spPr bwMode="auto">
          <a:xfrm>
            <a:off x="7308850" y="2697163"/>
            <a:ext cx="1166813" cy="474662"/>
          </a:xfrm>
          <a:custGeom>
            <a:avLst/>
            <a:gdLst>
              <a:gd name="T0" fmla="*/ 2147483647 w 189"/>
              <a:gd name="T1" fmla="*/ 2147483647 h 95"/>
              <a:gd name="T2" fmla="*/ 2147483647 w 189"/>
              <a:gd name="T3" fmla="*/ 2147483647 h 95"/>
              <a:gd name="T4" fmla="*/ 2147483647 w 189"/>
              <a:gd name="T5" fmla="*/ 2147483647 h 95"/>
              <a:gd name="T6" fmla="*/ 0 w 189"/>
              <a:gd name="T7" fmla="*/ 2147483647 h 95"/>
              <a:gd name="T8" fmla="*/ 0 w 189"/>
              <a:gd name="T9" fmla="*/ 2147483647 h 95"/>
              <a:gd name="T10" fmla="*/ 2147483647 w 189"/>
              <a:gd name="T11" fmla="*/ 0 h 95"/>
              <a:gd name="T12" fmla="*/ 2147483647 w 189"/>
              <a:gd name="T13" fmla="*/ 0 h 95"/>
              <a:gd name="T14" fmla="*/ 2147483647 w 189"/>
              <a:gd name="T15" fmla="*/ 2147483647 h 95"/>
              <a:gd name="T16" fmla="*/ 2147483647 w 189"/>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95"/>
              <a:gd name="T29" fmla="*/ 189 w 189"/>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95">
                <a:moveTo>
                  <a:pt x="189" y="79"/>
                </a:moveTo>
                <a:cubicBezTo>
                  <a:pt x="189" y="88"/>
                  <a:pt x="182" y="95"/>
                  <a:pt x="173" y="95"/>
                </a:cubicBezTo>
                <a:cubicBezTo>
                  <a:pt x="16" y="95"/>
                  <a:pt x="16" y="95"/>
                  <a:pt x="16" y="95"/>
                </a:cubicBezTo>
                <a:cubicBezTo>
                  <a:pt x="8" y="95"/>
                  <a:pt x="0" y="88"/>
                  <a:pt x="0" y="79"/>
                </a:cubicBezTo>
                <a:cubicBezTo>
                  <a:pt x="0" y="16"/>
                  <a:pt x="0" y="16"/>
                  <a:pt x="0" y="16"/>
                </a:cubicBezTo>
                <a:cubicBezTo>
                  <a:pt x="0" y="7"/>
                  <a:pt x="8" y="0"/>
                  <a:pt x="16" y="0"/>
                </a:cubicBezTo>
                <a:cubicBezTo>
                  <a:pt x="173" y="0"/>
                  <a:pt x="173" y="0"/>
                  <a:pt x="173" y="0"/>
                </a:cubicBezTo>
                <a:cubicBezTo>
                  <a:pt x="182" y="0"/>
                  <a:pt x="189" y="7"/>
                  <a:pt x="189" y="16"/>
                </a:cubicBezTo>
                <a:lnTo>
                  <a:pt x="189" y="79"/>
                </a:lnTo>
                <a:close/>
              </a:path>
            </a:pathLst>
          </a:custGeom>
          <a:solidFill>
            <a:srgbClr val="D7E2E0"/>
          </a:solidFill>
          <a:ln w="9525">
            <a:noFill/>
            <a:round/>
            <a:headEnd/>
            <a:tailEnd/>
          </a:ln>
        </p:spPr>
        <p:txBody>
          <a:bodyPr/>
          <a:lstStyle/>
          <a:p>
            <a:endParaRPr lang="en-US"/>
          </a:p>
        </p:txBody>
      </p:sp>
      <p:sp>
        <p:nvSpPr>
          <p:cNvPr id="56" name="Rectangle 61"/>
          <p:cNvSpPr>
            <a:spLocks noChangeArrowheads="1"/>
          </p:cNvSpPr>
          <p:nvPr/>
        </p:nvSpPr>
        <p:spPr bwMode="auto">
          <a:xfrm>
            <a:off x="7388225" y="2717800"/>
            <a:ext cx="1014413" cy="4318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Deadweight loss</a:t>
            </a:r>
            <a:endParaRPr lang="en-US" sz="1400">
              <a:latin typeface="Tahoma" pitchFamily="34" charset="0"/>
            </a:endParaRPr>
          </a:p>
        </p:txBody>
      </p:sp>
      <p:sp>
        <p:nvSpPr>
          <p:cNvPr id="57" name="Freeform 62"/>
          <p:cNvSpPr>
            <a:spLocks/>
          </p:cNvSpPr>
          <p:nvPr/>
        </p:nvSpPr>
        <p:spPr bwMode="auto">
          <a:xfrm>
            <a:off x="5126038" y="1493838"/>
            <a:ext cx="3529012" cy="2676525"/>
          </a:xfrm>
          <a:custGeom>
            <a:avLst/>
            <a:gdLst>
              <a:gd name="T0" fmla="*/ 2147483647 w 1888"/>
              <a:gd name="T1" fmla="*/ 2147483647 h 1247"/>
              <a:gd name="T2" fmla="*/ 0 w 1888"/>
              <a:gd name="T3" fmla="*/ 2147483647 h 1247"/>
              <a:gd name="T4" fmla="*/ 0 w 1888"/>
              <a:gd name="T5" fmla="*/ 0 h 1247"/>
              <a:gd name="T6" fmla="*/ 0 60000 65536"/>
              <a:gd name="T7" fmla="*/ 0 60000 65536"/>
              <a:gd name="T8" fmla="*/ 0 60000 65536"/>
              <a:gd name="T9" fmla="*/ 0 w 1888"/>
              <a:gd name="T10" fmla="*/ 0 h 1247"/>
              <a:gd name="T11" fmla="*/ 1888 w 1888"/>
              <a:gd name="T12" fmla="*/ 1247 h 1247"/>
            </a:gdLst>
            <a:ahLst/>
            <a:cxnLst>
              <a:cxn ang="T6">
                <a:pos x="T0" y="T1"/>
              </a:cxn>
              <a:cxn ang="T7">
                <a:pos x="T2" y="T3"/>
              </a:cxn>
              <a:cxn ang="T8">
                <a:pos x="T4" y="T5"/>
              </a:cxn>
            </a:cxnLst>
            <a:rect l="T9" t="T10" r="T11" b="T12"/>
            <a:pathLst>
              <a:path w="1888" h="1247">
                <a:moveTo>
                  <a:pt x="1888" y="1247"/>
                </a:moveTo>
                <a:lnTo>
                  <a:pt x="0" y="1247"/>
                </a:lnTo>
                <a:lnTo>
                  <a:pt x="0" y="0"/>
                </a:lnTo>
              </a:path>
            </a:pathLst>
          </a:custGeom>
          <a:noFill/>
          <a:ln w="7938">
            <a:solidFill>
              <a:srgbClr val="000000"/>
            </a:solidFill>
            <a:miter lim="800000"/>
            <a:headEnd/>
            <a:tailEnd/>
          </a:ln>
        </p:spPr>
        <p:txBody>
          <a:bodyPr/>
          <a:lstStyle/>
          <a:p>
            <a:endParaRPr lang="en-US"/>
          </a:p>
        </p:txBody>
      </p:sp>
      <p:sp>
        <p:nvSpPr>
          <p:cNvPr id="58" name="Freeform 63"/>
          <p:cNvSpPr>
            <a:spLocks/>
          </p:cNvSpPr>
          <p:nvPr/>
        </p:nvSpPr>
        <p:spPr bwMode="auto">
          <a:xfrm>
            <a:off x="482600" y="1649413"/>
            <a:ext cx="3622675" cy="2501900"/>
          </a:xfrm>
          <a:custGeom>
            <a:avLst/>
            <a:gdLst>
              <a:gd name="T0" fmla="*/ 2147483647 w 1882"/>
              <a:gd name="T1" fmla="*/ 2147483647 h 1247"/>
              <a:gd name="T2" fmla="*/ 0 w 1882"/>
              <a:gd name="T3" fmla="*/ 2147483647 h 1247"/>
              <a:gd name="T4" fmla="*/ 0 w 1882"/>
              <a:gd name="T5" fmla="*/ 0 h 1247"/>
              <a:gd name="T6" fmla="*/ 0 60000 65536"/>
              <a:gd name="T7" fmla="*/ 0 60000 65536"/>
              <a:gd name="T8" fmla="*/ 0 60000 65536"/>
              <a:gd name="T9" fmla="*/ 0 w 1882"/>
              <a:gd name="T10" fmla="*/ 0 h 1247"/>
              <a:gd name="T11" fmla="*/ 1882 w 1882"/>
              <a:gd name="T12" fmla="*/ 1247 h 1247"/>
            </a:gdLst>
            <a:ahLst/>
            <a:cxnLst>
              <a:cxn ang="T6">
                <a:pos x="T0" y="T1"/>
              </a:cxn>
              <a:cxn ang="T7">
                <a:pos x="T2" y="T3"/>
              </a:cxn>
              <a:cxn ang="T8">
                <a:pos x="T4" y="T5"/>
              </a:cxn>
            </a:cxnLst>
            <a:rect l="T9" t="T10" r="T11" b="T12"/>
            <a:pathLst>
              <a:path w="1882" h="1247">
                <a:moveTo>
                  <a:pt x="1882" y="1247"/>
                </a:moveTo>
                <a:lnTo>
                  <a:pt x="0" y="1247"/>
                </a:lnTo>
                <a:lnTo>
                  <a:pt x="0" y="0"/>
                </a:lnTo>
              </a:path>
            </a:pathLst>
          </a:custGeom>
          <a:noFill/>
          <a:ln w="7938">
            <a:solidFill>
              <a:srgbClr val="000000"/>
            </a:solidFill>
            <a:miter lim="800000"/>
            <a:headEnd/>
            <a:tailEnd/>
          </a:ln>
        </p:spPr>
        <p:txBody>
          <a:bodyPr/>
          <a:lstStyle/>
          <a:p>
            <a:endParaRPr lang="en-US"/>
          </a:p>
        </p:txBody>
      </p:sp>
      <p:cxnSp>
        <p:nvCxnSpPr>
          <p:cNvPr id="59" name="Straight Connector 86"/>
          <p:cNvCxnSpPr>
            <a:cxnSpLocks noChangeShapeType="1"/>
          </p:cNvCxnSpPr>
          <p:nvPr/>
        </p:nvCxnSpPr>
        <p:spPr bwMode="auto">
          <a:xfrm>
            <a:off x="2959100" y="3508375"/>
            <a:ext cx="0" cy="627063"/>
          </a:xfrm>
          <a:prstGeom prst="line">
            <a:avLst/>
          </a:prstGeom>
          <a:noFill/>
          <a:ln w="15875">
            <a:solidFill>
              <a:srgbClr val="808080"/>
            </a:solidFill>
            <a:prstDash val="sysDot"/>
            <a:round/>
            <a:headEnd/>
            <a:tailEnd type="none" w="med" len="lg"/>
          </a:ln>
        </p:spPr>
      </p:cxnSp>
      <p:cxnSp>
        <p:nvCxnSpPr>
          <p:cNvPr id="60" name="Straight Connector 86"/>
          <p:cNvCxnSpPr>
            <a:cxnSpLocks noChangeShapeType="1"/>
          </p:cNvCxnSpPr>
          <p:nvPr/>
        </p:nvCxnSpPr>
        <p:spPr bwMode="auto">
          <a:xfrm>
            <a:off x="6154738" y="2667000"/>
            <a:ext cx="0" cy="1455738"/>
          </a:xfrm>
          <a:prstGeom prst="line">
            <a:avLst/>
          </a:prstGeom>
          <a:noFill/>
          <a:ln w="15875">
            <a:solidFill>
              <a:srgbClr val="808080"/>
            </a:solidFill>
            <a:prstDash val="sysDot"/>
            <a:round/>
            <a:headEnd/>
            <a:tailEnd type="none" w="med" len="lg"/>
          </a:ln>
        </p:spPr>
      </p:cxnSp>
      <p:cxnSp>
        <p:nvCxnSpPr>
          <p:cNvPr id="61" name="Straight Connector 86"/>
          <p:cNvCxnSpPr>
            <a:cxnSpLocks noChangeShapeType="1"/>
          </p:cNvCxnSpPr>
          <p:nvPr/>
        </p:nvCxnSpPr>
        <p:spPr bwMode="auto">
          <a:xfrm>
            <a:off x="5149850" y="2628900"/>
            <a:ext cx="968375" cy="0"/>
          </a:xfrm>
          <a:prstGeom prst="line">
            <a:avLst/>
          </a:prstGeom>
          <a:noFill/>
          <a:ln w="15875">
            <a:solidFill>
              <a:srgbClr val="808080"/>
            </a:solidFill>
            <a:prstDash val="sysDot"/>
            <a:round/>
            <a:headEnd/>
            <a:tailEnd type="none" w="med" len="lg"/>
          </a:ln>
        </p:spPr>
      </p:cxnSp>
      <p:sp>
        <p:nvSpPr>
          <p:cNvPr id="62" name="Rectangle 67"/>
          <p:cNvSpPr>
            <a:spLocks noChangeArrowheads="1"/>
          </p:cNvSpPr>
          <p:nvPr/>
        </p:nvSpPr>
        <p:spPr bwMode="auto">
          <a:xfrm>
            <a:off x="1022350" y="1577975"/>
            <a:ext cx="1755775" cy="6461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Consumer surplus with perfect competition</a:t>
            </a:r>
            <a:endParaRPr lang="en-US" sz="1400">
              <a:latin typeface="Tahoma" pitchFamily="34" charset="0"/>
            </a:endParaRPr>
          </a:p>
        </p:txBody>
      </p:sp>
      <p:sp>
        <p:nvSpPr>
          <p:cNvPr id="63" name="Rectangle 68"/>
          <p:cNvSpPr>
            <a:spLocks noChangeArrowheads="1"/>
          </p:cNvSpPr>
          <p:nvPr/>
        </p:nvSpPr>
        <p:spPr bwMode="auto">
          <a:xfrm>
            <a:off x="5703888" y="1577975"/>
            <a:ext cx="1357312" cy="6461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Consumer surplus with monopoly</a:t>
            </a:r>
            <a:endParaRPr lang="en-US" sz="1400">
              <a:latin typeface="Tahoma" pitchFamily="34" charset="0"/>
            </a:endParaRPr>
          </a:p>
        </p:txBody>
      </p:sp>
      <p:sp>
        <p:nvSpPr>
          <p:cNvPr id="64" name="Rectangle 69"/>
          <p:cNvSpPr>
            <a:spLocks noChangeArrowheads="1"/>
          </p:cNvSpPr>
          <p:nvPr/>
        </p:nvSpPr>
        <p:spPr bwMode="auto">
          <a:xfrm>
            <a:off x="4160838" y="1443038"/>
            <a:ext cx="923925" cy="646112"/>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 marginal revenue</a:t>
            </a:r>
            <a:endParaRPr lang="en-US" sz="1400">
              <a:latin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2"/>
                                        </p:tgtEl>
                                        <p:attrNameLst>
                                          <p:attrName>style.visibility</p:attrName>
                                        </p:attrNameLst>
                                      </p:cBhvr>
                                      <p:to>
                                        <p:strVal val="visible"/>
                                      </p:to>
                                    </p:set>
                                  </p:childTnLst>
                                </p:cTn>
                              </p:par>
                              <p:par>
                                <p:cTn id="47" presetID="13" presetClass="entr" presetSubtype="16" fill="hold" grpId="0" nodeType="with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plus(in)">
                                      <p:cBhvr>
                                        <p:cTn id="49" dur="500"/>
                                        <p:tgtEl>
                                          <p:spTgt spid="7"/>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5"/>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16"/>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8"/>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39"/>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40"/>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64"/>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57"/>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37"/>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38"/>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41"/>
                                        </p:tgtEl>
                                        <p:attrNameLst>
                                          <p:attrName>style.visibility</p:attrName>
                                        </p:attrNameLst>
                                      </p:cBhvr>
                                      <p:to>
                                        <p:strVal val="visible"/>
                                      </p:to>
                                    </p:set>
                                  </p:childTnLst>
                                </p:cTn>
                              </p:par>
                              <p:par>
                                <p:cTn id="76" presetID="1" presetClass="entr" presetSubtype="0" fill="hold" grpId="0" nodeType="withEffect">
                                  <p:stCondLst>
                                    <p:cond delay="0"/>
                                  </p:stCondLst>
                                  <p:childTnLst>
                                    <p:set>
                                      <p:cBhvr>
                                        <p:cTn id="77" dur="1" fill="hold">
                                          <p:stCondLst>
                                            <p:cond delay="0"/>
                                          </p:stCondLst>
                                        </p:cTn>
                                        <p:tgtEl>
                                          <p:spTgt spid="35"/>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26"/>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childTnLst>
                                </p:cTn>
                              </p:par>
                              <p:par>
                                <p:cTn id="84" presetID="1"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10"/>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36"/>
                                        </p:tgtEl>
                                        <p:attrNameLst>
                                          <p:attrName>style.visibility</p:attrName>
                                        </p:attrNameLst>
                                      </p:cBhvr>
                                      <p:to>
                                        <p:strVal val="visible"/>
                                      </p:to>
                                    </p:set>
                                  </p:childTnLst>
                                </p:cTn>
                              </p:par>
                              <p:par>
                                <p:cTn id="90" presetID="1" presetClass="entr" presetSubtype="0" fill="hold" grpId="0" nodeType="withEffect">
                                  <p:stCondLst>
                                    <p:cond delay="0"/>
                                  </p:stCondLst>
                                  <p:childTnLst>
                                    <p:set>
                                      <p:cBhvr>
                                        <p:cTn id="91" dur="1" fill="hold">
                                          <p:stCondLst>
                                            <p:cond delay="0"/>
                                          </p:stCondLst>
                                        </p:cTn>
                                        <p:tgtEl>
                                          <p:spTgt spid="42"/>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45"/>
                                        </p:tgtEl>
                                        <p:attrNameLst>
                                          <p:attrName>style.visibility</p:attrName>
                                        </p:attrNameLst>
                                      </p:cBhvr>
                                      <p:to>
                                        <p:strVal val="visible"/>
                                      </p:to>
                                    </p:set>
                                  </p:childTnLst>
                                </p:cTn>
                              </p:par>
                              <p:par>
                                <p:cTn id="94" presetID="1" presetClass="entr" presetSubtype="0" fill="hold" nodeType="withEffect">
                                  <p:stCondLst>
                                    <p:cond delay="0"/>
                                  </p:stCondLst>
                                  <p:childTnLst>
                                    <p:set>
                                      <p:cBhvr>
                                        <p:cTn id="95" dur="1" fill="hold">
                                          <p:stCondLst>
                                            <p:cond delay="0"/>
                                          </p:stCondLst>
                                        </p:cTn>
                                        <p:tgtEl>
                                          <p:spTgt spid="61"/>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60"/>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44"/>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46"/>
                                        </p:tgtEl>
                                        <p:attrNameLst>
                                          <p:attrName>style.visibility</p:attrName>
                                        </p:attrNameLst>
                                      </p:cBhvr>
                                      <p:to>
                                        <p:strVal val="visible"/>
                                      </p:to>
                                    </p:set>
                                  </p:childTnLst>
                                </p:cTn>
                              </p:par>
                              <p:par>
                                <p:cTn id="102" presetID="1" presetClass="entr" presetSubtype="0" fill="hold" grpId="0" nodeType="withEffect">
                                  <p:stCondLst>
                                    <p:cond delay="0"/>
                                  </p:stCondLst>
                                  <p:childTnLst>
                                    <p:set>
                                      <p:cBhvr>
                                        <p:cTn id="103" dur="1" fill="hold">
                                          <p:stCondLst>
                                            <p:cond delay="0"/>
                                          </p:stCondLst>
                                        </p:cTn>
                                        <p:tgtEl>
                                          <p:spTgt spid="49"/>
                                        </p:tgtEl>
                                        <p:attrNameLst>
                                          <p:attrName>style.visibility</p:attrName>
                                        </p:attrNameLst>
                                      </p:cBhvr>
                                      <p:to>
                                        <p:strVal val="visible"/>
                                      </p:to>
                                    </p:set>
                                  </p:childTnLst>
                                </p:cTn>
                              </p:par>
                              <p:par>
                                <p:cTn id="104" presetID="1" presetClass="entr" presetSubtype="0" fill="hold" grpId="0" nodeType="withEffect">
                                  <p:stCondLst>
                                    <p:cond delay="0"/>
                                  </p:stCondLst>
                                  <p:childTnLst>
                                    <p:set>
                                      <p:cBhvr>
                                        <p:cTn id="105" dur="1" fill="hold">
                                          <p:stCondLst>
                                            <p:cond delay="0"/>
                                          </p:stCondLst>
                                        </p:cTn>
                                        <p:tgtEl>
                                          <p:spTgt spid="63"/>
                                        </p:tgtEl>
                                        <p:attrNameLst>
                                          <p:attrName>style.visibility</p:attrName>
                                        </p:attrNameLst>
                                      </p:cBhvr>
                                      <p:to>
                                        <p:strVal val="visible"/>
                                      </p:to>
                                    </p:set>
                                  </p:childTnLst>
                                </p:cTn>
                              </p:par>
                              <p:par>
                                <p:cTn id="106" presetID="13" presetClass="entr" presetSubtype="16" fill="hold" grpId="0" nodeType="withEffect">
                                  <p:stCondLst>
                                    <p:cond delay="0"/>
                                  </p:stCondLst>
                                  <p:childTnLst>
                                    <p:set>
                                      <p:cBhvr>
                                        <p:cTn id="107" dur="1" fill="hold">
                                          <p:stCondLst>
                                            <p:cond delay="0"/>
                                          </p:stCondLst>
                                        </p:cTn>
                                        <p:tgtEl>
                                          <p:spTgt spid="11"/>
                                        </p:tgtEl>
                                        <p:attrNameLst>
                                          <p:attrName>style.visibility</p:attrName>
                                        </p:attrNameLst>
                                      </p:cBhvr>
                                      <p:to>
                                        <p:strVal val="visible"/>
                                      </p:to>
                                    </p:set>
                                    <p:animEffect transition="in" filter="plus(in)">
                                      <p:cBhvr>
                                        <p:cTn id="108" dur="500"/>
                                        <p:tgtEl>
                                          <p:spTgt spid="11"/>
                                        </p:tgtEl>
                                      </p:cBhvr>
                                    </p:animEffect>
                                  </p:childTnLst>
                                </p:cTn>
                              </p:par>
                              <p:par>
                                <p:cTn id="109" presetID="13" presetClass="entr" presetSubtype="16" fill="hold" grpId="0" nodeType="withEffect">
                                  <p:stCondLst>
                                    <p:cond delay="0"/>
                                  </p:stCondLst>
                                  <p:childTnLst>
                                    <p:set>
                                      <p:cBhvr>
                                        <p:cTn id="110" dur="1" fill="hold">
                                          <p:stCondLst>
                                            <p:cond delay="0"/>
                                          </p:stCondLst>
                                        </p:cTn>
                                        <p:tgtEl>
                                          <p:spTgt spid="9"/>
                                        </p:tgtEl>
                                        <p:attrNameLst>
                                          <p:attrName>style.visibility</p:attrName>
                                        </p:attrNameLst>
                                      </p:cBhvr>
                                      <p:to>
                                        <p:strVal val="visible"/>
                                      </p:to>
                                    </p:set>
                                    <p:animEffect transition="in" filter="plus(in)">
                                      <p:cBhvr>
                                        <p:cTn id="111" dur="500"/>
                                        <p:tgtEl>
                                          <p:spTgt spid="9"/>
                                        </p:tgtEl>
                                      </p:cBhvr>
                                    </p:animEffect>
                                  </p:childTnLst>
                                </p:cTn>
                              </p:par>
                              <p:par>
                                <p:cTn id="112" presetID="1" presetClass="entr" presetSubtype="0" fill="hold" grpId="0" nodeType="withEffect">
                                  <p:stCondLst>
                                    <p:cond delay="0"/>
                                  </p:stCondLst>
                                  <p:childTnLst>
                                    <p:set>
                                      <p:cBhvr>
                                        <p:cTn id="113" dur="1" fill="hold">
                                          <p:stCondLst>
                                            <p:cond delay="0"/>
                                          </p:stCondLst>
                                        </p:cTn>
                                        <p:tgtEl>
                                          <p:spTgt spid="47"/>
                                        </p:tgtEl>
                                        <p:attrNameLst>
                                          <p:attrName>style.visibility</p:attrName>
                                        </p:attrNameLst>
                                      </p:cBhvr>
                                      <p:to>
                                        <p:strVal val="visible"/>
                                      </p:to>
                                    </p:set>
                                  </p:childTnLst>
                                </p:cTn>
                              </p:par>
                              <p:par>
                                <p:cTn id="114" presetID="1" presetClass="entr" presetSubtype="0" fill="hold" grpId="0" nodeType="withEffect">
                                  <p:stCondLst>
                                    <p:cond delay="0"/>
                                  </p:stCondLst>
                                  <p:childTnLst>
                                    <p:set>
                                      <p:cBhvr>
                                        <p:cTn id="115" dur="1" fill="hold">
                                          <p:stCondLst>
                                            <p:cond delay="0"/>
                                          </p:stCondLst>
                                        </p:cTn>
                                        <p:tgtEl>
                                          <p:spTgt spid="53"/>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54"/>
                                        </p:tgtEl>
                                        <p:attrNameLst>
                                          <p:attrName>style.visibility</p:attrName>
                                        </p:attrNameLst>
                                      </p:cBhvr>
                                      <p:to>
                                        <p:strVal val="visible"/>
                                      </p:to>
                                    </p:set>
                                  </p:childTnLst>
                                </p:cTn>
                              </p:par>
                              <p:par>
                                <p:cTn id="118" presetID="13" presetClass="entr" presetSubtype="16" fill="hold" grpId="0" nodeType="withEffect">
                                  <p:stCondLst>
                                    <p:cond delay="0"/>
                                  </p:stCondLst>
                                  <p:childTnLst>
                                    <p:set>
                                      <p:cBhvr>
                                        <p:cTn id="119" dur="1" fill="hold">
                                          <p:stCondLst>
                                            <p:cond delay="0"/>
                                          </p:stCondLst>
                                        </p:cTn>
                                        <p:tgtEl>
                                          <p:spTgt spid="8"/>
                                        </p:tgtEl>
                                        <p:attrNameLst>
                                          <p:attrName>style.visibility</p:attrName>
                                        </p:attrNameLst>
                                      </p:cBhvr>
                                      <p:to>
                                        <p:strVal val="visible"/>
                                      </p:to>
                                    </p:set>
                                    <p:animEffect transition="in" filter="plus(in)">
                                      <p:cBhvr>
                                        <p:cTn id="120" dur="500"/>
                                        <p:tgtEl>
                                          <p:spTgt spid="8"/>
                                        </p:tgtEl>
                                      </p:cBhvr>
                                    </p:animEffect>
                                  </p:childTnLst>
                                </p:cTn>
                              </p:par>
                              <p:par>
                                <p:cTn id="121" presetID="1" presetClass="entr" presetSubtype="0" fill="hold" grpId="0" nodeType="withEffect">
                                  <p:stCondLst>
                                    <p:cond delay="0"/>
                                  </p:stCondLst>
                                  <p:childTnLst>
                                    <p:set>
                                      <p:cBhvr>
                                        <p:cTn id="122" dur="1" fill="hold">
                                          <p:stCondLst>
                                            <p:cond delay="0"/>
                                          </p:stCondLst>
                                        </p:cTn>
                                        <p:tgtEl>
                                          <p:spTgt spid="48"/>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56"/>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4" presetClass="entr" presetSubtype="16" fill="hold" grpId="0" nodeType="clickEffect">
                                  <p:stCondLst>
                                    <p:cond delay="0"/>
                                  </p:stCondLst>
                                  <p:childTnLst>
                                    <p:set>
                                      <p:cBhvr>
                                        <p:cTn id="128" dur="1" fill="hold">
                                          <p:stCondLst>
                                            <p:cond delay="0"/>
                                          </p:stCondLst>
                                        </p:cTn>
                                        <p:tgtEl>
                                          <p:spTgt spid="6"/>
                                        </p:tgtEl>
                                        <p:attrNameLst>
                                          <p:attrName>style.visibility</p:attrName>
                                        </p:attrNameLst>
                                      </p:cBhvr>
                                      <p:to>
                                        <p:strVal val="visible"/>
                                      </p:to>
                                    </p:set>
                                    <p:animEffect transition="in" filter="box(in)">
                                      <p:cBhvr>
                                        <p:cTn id="129" dur="500"/>
                                        <p:tgtEl>
                                          <p:spTgt spid="6"/>
                                        </p:tgtEl>
                                      </p:cBhvr>
                                    </p:animEffect>
                                  </p:childTnLst>
                                </p:cTn>
                              </p:par>
                              <p:par>
                                <p:cTn id="130" presetID="1" presetClass="entr" presetSubtype="0" fill="hold" grpId="0" nodeType="withEffect">
                                  <p:stCondLst>
                                    <p:cond delay="0"/>
                                  </p:stCondLst>
                                  <p:childTnLst>
                                    <p:set>
                                      <p:cBhvr>
                                        <p:cTn id="131"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p:bldP spid="14" grpId="0"/>
      <p:bldP spid="15" grpId="0"/>
      <p:bldP spid="16" grpId="0"/>
      <p:bldP spid="17" grpId="0"/>
      <p:bldP spid="18" grpId="0"/>
      <p:bldP spid="19" grpId="0" animBg="1"/>
      <p:bldP spid="20" grpId="0"/>
      <p:bldP spid="21" grpId="0"/>
      <p:bldP spid="22" grpId="0"/>
      <p:bldP spid="23" grpId="0"/>
      <p:bldP spid="24" grpId="0"/>
      <p:bldP spid="25" grpId="0"/>
      <p:bldP spid="26" grpId="0"/>
      <p:bldP spid="27" grpId="0"/>
      <p:bldP spid="28" grpId="0"/>
      <p:bldP spid="29" grpId="0"/>
      <p:bldP spid="30" grpId="0"/>
      <p:bldP spid="31" grpId="0"/>
      <p:bldP spid="32" grpId="0" animBg="1"/>
      <p:bldP spid="33" grpId="0"/>
      <p:bldP spid="34" grpId="0"/>
      <p:bldP spid="35" grpId="0" animBg="1"/>
      <p:bldP spid="36" grpId="0" animBg="1"/>
      <p:bldP spid="37" grpId="0"/>
      <p:bldP spid="38" grpId="0"/>
      <p:bldP spid="39" grpId="0"/>
      <p:bldP spid="40" grpId="0"/>
      <p:bldP spid="41" grpId="0"/>
      <p:bldP spid="42" grpId="0"/>
      <p:bldP spid="43" grpId="0"/>
      <p:bldP spid="44" grpId="0" animBg="1"/>
      <p:bldP spid="45" grpId="0" animBg="1"/>
      <p:bldP spid="46" grpId="0" animBg="1"/>
      <p:bldP spid="47" grpId="0" animBg="1"/>
      <p:bldP spid="48" grpId="0" animBg="1"/>
      <p:bldP spid="49" grpId="0" animBg="1"/>
      <p:bldP spid="50" grpId="0" animBg="1"/>
      <p:bldP spid="51" grpId="0" animBg="1"/>
      <p:bldP spid="52" grpId="0"/>
      <p:bldP spid="53" grpId="0" animBg="1"/>
      <p:bldP spid="54" grpId="0"/>
      <p:bldP spid="55" grpId="0" animBg="1"/>
      <p:bldP spid="56" grpId="0"/>
      <p:bldP spid="57" grpId="0" animBg="1"/>
      <p:bldP spid="58" grpId="0" animBg="1"/>
      <p:bldP spid="62" grpId="0"/>
      <p:bldP spid="63" grpId="0"/>
      <p:bldP spid="6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Rot="1" noChangeArrowheads="1"/>
          </p:cNvSpPr>
          <p:nvPr>
            <p:ph type="title" idx="4294967295"/>
          </p:nvPr>
        </p:nvSpPr>
        <p:spPr>
          <a:xfrm>
            <a:off x="971550" y="76200"/>
            <a:ext cx="7943850" cy="609600"/>
          </a:xfrm>
        </p:spPr>
        <p:txBody>
          <a:bodyPr/>
          <a:lstStyle/>
          <a:p>
            <a:pPr>
              <a:defRPr/>
            </a:pPr>
            <a:r>
              <a:rPr lang="en-US" dirty="0" smtClean="0"/>
              <a:t>Monopoly and Public Policy</a:t>
            </a:r>
            <a:endParaRPr lang="en-US" b="0" dirty="0" smtClean="0"/>
          </a:p>
        </p:txBody>
      </p:sp>
      <p:sp>
        <p:nvSpPr>
          <p:cNvPr id="95237" name="Rectangle 5"/>
          <p:cNvSpPr>
            <a:spLocks noChangeArrowheads="1"/>
          </p:cNvSpPr>
          <p:nvPr/>
        </p:nvSpPr>
        <p:spPr bwMode="auto">
          <a:xfrm>
            <a:off x="876300" y="915988"/>
            <a:ext cx="8159750" cy="4430712"/>
          </a:xfrm>
          <a:prstGeom prst="rect">
            <a:avLst/>
          </a:prstGeom>
          <a:noFill/>
          <a:ln w="9525" algn="ctr">
            <a:noFill/>
            <a:miter lim="800000"/>
            <a:headEnd/>
            <a:tailEnd type="none" w="med" len="lg"/>
          </a:ln>
        </p:spPr>
        <p:txBody>
          <a:bodyPr>
            <a:spAutoFit/>
          </a:bodyPr>
          <a:lstStyle/>
          <a:p>
            <a:pPr marL="230188" indent="-230188">
              <a:buClr>
                <a:schemeClr val="tx1"/>
              </a:buClr>
              <a:buFont typeface="Arial" charset="0"/>
              <a:buChar char="•"/>
            </a:pPr>
            <a:r>
              <a:rPr lang="en-US" sz="2400"/>
              <a:t>By reducing output and raising price above marginal cost, a monopolist captures some of the consumer surplus as profit and causes deadweight loss. </a:t>
            </a:r>
          </a:p>
          <a:p>
            <a:pPr marL="687388" lvl="1" indent="-230188">
              <a:buClr>
                <a:schemeClr val="tx1"/>
              </a:buClr>
              <a:buFont typeface="Wingdings" pitchFamily="2" charset="2"/>
              <a:buChar char="§"/>
            </a:pPr>
            <a:r>
              <a:rPr lang="en-US" sz="2200"/>
              <a:t>To avoid deadweight loss, government policy attempts to prevent monopoly behavior.</a:t>
            </a:r>
            <a:br>
              <a:rPr lang="en-US" sz="2200"/>
            </a:br>
            <a:endParaRPr lang="en-US" sz="2200"/>
          </a:p>
          <a:p>
            <a:pPr marL="230188" indent="-230188">
              <a:buClr>
                <a:schemeClr val="tx1"/>
              </a:buClr>
              <a:buFont typeface="Arial" charset="0"/>
              <a:buChar char="•"/>
            </a:pPr>
            <a:r>
              <a:rPr lang="en-US" sz="2400"/>
              <a:t>When monopolies are “created” rather than natural, governments should act to prevent them from forming and should break up existing ones.</a:t>
            </a:r>
            <a:br>
              <a:rPr lang="en-US" sz="2400"/>
            </a:br>
            <a:endParaRPr lang="en-US" sz="2400"/>
          </a:p>
          <a:p>
            <a:pPr marL="230188" indent="-230188">
              <a:buClr>
                <a:schemeClr val="tx1"/>
              </a:buClr>
              <a:buFont typeface="Arial" charset="0"/>
              <a:buChar char="•"/>
            </a:pPr>
            <a:r>
              <a:rPr lang="en-US" sz="2400"/>
              <a:t>The government policies used to prevent or eliminate monopolies are known as </a:t>
            </a:r>
            <a:r>
              <a:rPr lang="en-US" sz="2400" i="1"/>
              <a:t>antitrust policies</a:t>
            </a:r>
            <a:r>
              <a:rPr lang="en-US" sz="2400"/>
              <a:t>.</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Rot="1" noChangeArrowheads="1"/>
          </p:cNvSpPr>
          <p:nvPr>
            <p:ph type="title" idx="4294967295"/>
          </p:nvPr>
        </p:nvSpPr>
        <p:spPr>
          <a:xfrm>
            <a:off x="971550" y="0"/>
            <a:ext cx="7921625" cy="685800"/>
          </a:xfrm>
        </p:spPr>
        <p:txBody>
          <a:bodyPr/>
          <a:lstStyle/>
          <a:p>
            <a:pPr>
              <a:defRPr/>
            </a:pPr>
            <a:r>
              <a:rPr lang="en-US" dirty="0" smtClean="0"/>
              <a:t>Preventing Monopoly</a:t>
            </a:r>
            <a:endParaRPr lang="en-US" b="0" dirty="0" smtClean="0"/>
          </a:p>
        </p:txBody>
      </p:sp>
      <p:sp>
        <p:nvSpPr>
          <p:cNvPr id="97285" name="Rectangle 5"/>
          <p:cNvSpPr>
            <a:spLocks noChangeArrowheads="1"/>
          </p:cNvSpPr>
          <p:nvPr/>
        </p:nvSpPr>
        <p:spPr bwMode="auto">
          <a:xfrm>
            <a:off x="971550" y="912813"/>
            <a:ext cx="7921625" cy="5411787"/>
          </a:xfrm>
          <a:prstGeom prst="rect">
            <a:avLst/>
          </a:prstGeom>
          <a:noFill/>
          <a:ln w="9525" algn="ctr">
            <a:noFill/>
            <a:miter lim="800000"/>
            <a:headEnd/>
            <a:tailEnd type="none" w="med" len="lg"/>
          </a:ln>
        </p:spPr>
        <p:txBody>
          <a:bodyPr/>
          <a:lstStyle/>
          <a:p>
            <a:pPr marL="230188" indent="-230188">
              <a:spcBef>
                <a:spcPct val="20000"/>
              </a:spcBef>
              <a:buClr>
                <a:schemeClr val="tx1"/>
              </a:buClr>
              <a:buFont typeface="Wingdings" pitchFamily="2" charset="2"/>
              <a:buChar char="§"/>
            </a:pPr>
            <a:r>
              <a:rPr lang="en-US" sz="2400"/>
              <a:t>Breaking up a monopoly that isn’t natural is clearly a good idea, but it’s not so clear whether a natural monopoly, one in which large producers have lower average total costs than small producers, should be broken up, because this would raise average total cost.</a:t>
            </a:r>
          </a:p>
          <a:p>
            <a:pPr marL="230188" indent="-230188">
              <a:spcBef>
                <a:spcPct val="20000"/>
              </a:spcBef>
              <a:buClr>
                <a:schemeClr val="tx1"/>
              </a:buClr>
              <a:buFont typeface="Wingdings" pitchFamily="2" charset="2"/>
              <a:buChar char="§"/>
            </a:pPr>
            <a:endParaRPr lang="en-US" sz="2400"/>
          </a:p>
          <a:p>
            <a:pPr marL="230188" indent="-230188">
              <a:spcBef>
                <a:spcPct val="20000"/>
              </a:spcBef>
              <a:buClr>
                <a:schemeClr val="tx1"/>
              </a:buClr>
              <a:buFont typeface="Wingdings" pitchFamily="2" charset="2"/>
              <a:buChar char="§"/>
            </a:pPr>
            <a:r>
              <a:rPr lang="en-US" sz="2400"/>
              <a:t>Yet even in the case of a natural monopoly, a profit-maximizing monopolist acts in a way that causes inefficiency—it charges consumers a price that is higher than marginal cost, and therefore prevents some potentially beneficial transactions.</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7" name="Picture 3"/>
          <p:cNvPicPr>
            <a:picLocks noChangeAspect="1"/>
          </p:cNvPicPr>
          <p:nvPr/>
        </p:nvPicPr>
        <p:blipFill>
          <a:blip r:embed="rId3"/>
          <a:srcRect/>
          <a:stretch>
            <a:fillRect/>
          </a:stretch>
        </p:blipFill>
        <p:spPr bwMode="auto">
          <a:xfrm>
            <a:off x="-30163" y="-1588"/>
            <a:ext cx="9174163" cy="6859588"/>
          </a:xfrm>
          <a:prstGeom prst="rect">
            <a:avLst/>
          </a:prstGeom>
          <a:noFill/>
          <a:ln w="9525">
            <a:noFill/>
            <a:miter lim="800000"/>
            <a:headEnd/>
            <a:tailEnd/>
          </a:ln>
        </p:spPr>
      </p:pic>
      <p:sp>
        <p:nvSpPr>
          <p:cNvPr id="5" name="Rectangle 2"/>
          <p:cNvSpPr>
            <a:spLocks noGrp="1" noRot="1" noChangeArrowheads="1"/>
          </p:cNvSpPr>
          <p:nvPr>
            <p:ph type="title" idx="4294967295"/>
          </p:nvPr>
        </p:nvSpPr>
        <p:spPr>
          <a:xfrm>
            <a:off x="422275" y="115888"/>
            <a:ext cx="7969250" cy="555625"/>
          </a:xfrm>
        </p:spPr>
        <p:txBody>
          <a:bodyPr/>
          <a:lstStyle/>
          <a:p>
            <a:pPr>
              <a:defRPr/>
            </a:pPr>
            <a:r>
              <a:rPr lang="en-US" sz="3100" dirty="0" smtClean="0"/>
              <a:t>Unregulated and Regulated Natural Monopoly</a:t>
            </a:r>
          </a:p>
        </p:txBody>
      </p:sp>
      <p:sp>
        <p:nvSpPr>
          <p:cNvPr id="6" name="Text Box 18"/>
          <p:cNvSpPr txBox="1">
            <a:spLocks noChangeArrowheads="1"/>
          </p:cNvSpPr>
          <p:nvPr/>
        </p:nvSpPr>
        <p:spPr bwMode="auto">
          <a:xfrm>
            <a:off x="574675" y="5167313"/>
            <a:ext cx="8020050" cy="1338262"/>
          </a:xfrm>
          <a:prstGeom prst="rect">
            <a:avLst/>
          </a:prstGeom>
          <a:solidFill>
            <a:schemeClr val="accent5">
              <a:lumMod val="20000"/>
              <a:lumOff val="80000"/>
            </a:schemeClr>
          </a:solidFill>
          <a:ln w="12700" algn="ctr">
            <a:noFill/>
            <a:miter lim="800000"/>
            <a:headEnd/>
            <a:tailEnd type="none" w="med" len="lg"/>
          </a:ln>
        </p:spPr>
        <p:txBody>
          <a:bodyPr>
            <a:spAutoFit/>
          </a:bodyPr>
          <a:lstStyle/>
          <a:p>
            <a:pPr marL="1588" indent="-1588" algn="ctr">
              <a:lnSpc>
                <a:spcPct val="90000"/>
              </a:lnSpc>
              <a:defRPr/>
            </a:pPr>
            <a:r>
              <a:rPr lang="en-US" dirty="0">
                <a:solidFill>
                  <a:srgbClr val="0033CC"/>
                </a:solidFill>
              </a:rPr>
              <a:t>Panel (b) shows what happens when the monopolist must charge a price equal to average total cost, the price </a:t>
            </a:r>
            <a:r>
              <a:rPr lang="en-US" i="1" dirty="0">
                <a:solidFill>
                  <a:srgbClr val="0033CC"/>
                </a:solidFill>
              </a:rPr>
              <a:t>P</a:t>
            </a:r>
            <a:r>
              <a:rPr lang="en-US" i="1" baseline="-10000" dirty="0">
                <a:solidFill>
                  <a:srgbClr val="0033CC"/>
                </a:solidFill>
              </a:rPr>
              <a:t>R</a:t>
            </a:r>
            <a:r>
              <a:rPr lang="en-US" i="1" baseline="30000" dirty="0">
                <a:solidFill>
                  <a:srgbClr val="0033CC"/>
                </a:solidFill>
              </a:rPr>
              <a:t>*</a:t>
            </a:r>
            <a:r>
              <a:rPr lang="en-US" dirty="0">
                <a:solidFill>
                  <a:srgbClr val="0033CC"/>
                </a:solidFill>
              </a:rPr>
              <a:t>: output expands to </a:t>
            </a:r>
            <a:r>
              <a:rPr lang="en-US" i="1" dirty="0">
                <a:solidFill>
                  <a:srgbClr val="0033CC"/>
                </a:solidFill>
              </a:rPr>
              <a:t>Q</a:t>
            </a:r>
            <a:r>
              <a:rPr lang="en-US" i="1" baseline="-10000" dirty="0">
                <a:solidFill>
                  <a:srgbClr val="0033CC"/>
                </a:solidFill>
              </a:rPr>
              <a:t>R</a:t>
            </a:r>
            <a:r>
              <a:rPr lang="en-US" i="1" baseline="30000" dirty="0">
                <a:solidFill>
                  <a:srgbClr val="0033CC"/>
                </a:solidFill>
              </a:rPr>
              <a:t>*</a:t>
            </a:r>
            <a:r>
              <a:rPr lang="en-US" dirty="0">
                <a:solidFill>
                  <a:srgbClr val="0033CC"/>
                </a:solidFill>
              </a:rPr>
              <a:t>, and consumer surplus is now the entire blue area. The monopolist makes zero profit. </a:t>
            </a:r>
            <a:br>
              <a:rPr lang="en-US" dirty="0">
                <a:solidFill>
                  <a:srgbClr val="0033CC"/>
                </a:solidFill>
              </a:rPr>
            </a:br>
            <a:r>
              <a:rPr lang="en-US" dirty="0">
                <a:solidFill>
                  <a:srgbClr val="0033CC"/>
                </a:solidFill>
              </a:rPr>
              <a:t>This is the greatest consumer surplus possible when the monopolist is allowed to at least break even, making </a:t>
            </a:r>
            <a:r>
              <a:rPr lang="en-US" i="1" dirty="0">
                <a:solidFill>
                  <a:srgbClr val="0033CC"/>
                </a:solidFill>
              </a:rPr>
              <a:t>P</a:t>
            </a:r>
            <a:r>
              <a:rPr lang="en-US" i="1" baseline="-10000" dirty="0">
                <a:solidFill>
                  <a:srgbClr val="0033CC"/>
                </a:solidFill>
              </a:rPr>
              <a:t>R</a:t>
            </a:r>
            <a:r>
              <a:rPr lang="en-US" i="1" baseline="30000" dirty="0">
                <a:solidFill>
                  <a:srgbClr val="0033CC"/>
                </a:solidFill>
              </a:rPr>
              <a:t>*</a:t>
            </a:r>
            <a:r>
              <a:rPr lang="en-US" i="1" dirty="0">
                <a:solidFill>
                  <a:srgbClr val="0033CC"/>
                </a:solidFill>
              </a:rPr>
              <a:t> </a:t>
            </a:r>
            <a:r>
              <a:rPr lang="en-US" dirty="0">
                <a:solidFill>
                  <a:srgbClr val="0033CC"/>
                </a:solidFill>
              </a:rPr>
              <a:t>the best regulated price.</a:t>
            </a:r>
          </a:p>
        </p:txBody>
      </p:sp>
      <p:sp>
        <p:nvSpPr>
          <p:cNvPr id="7" name="Line 5"/>
          <p:cNvSpPr>
            <a:spLocks noChangeShapeType="1"/>
          </p:cNvSpPr>
          <p:nvPr/>
        </p:nvSpPr>
        <p:spPr bwMode="auto">
          <a:xfrm>
            <a:off x="5353050" y="3849688"/>
            <a:ext cx="3044825" cy="0"/>
          </a:xfrm>
          <a:prstGeom prst="line">
            <a:avLst/>
          </a:prstGeom>
          <a:noFill/>
          <a:ln w="30163">
            <a:solidFill>
              <a:srgbClr val="F3716D"/>
            </a:solidFill>
            <a:miter lim="800000"/>
            <a:headEnd/>
            <a:tailEnd/>
          </a:ln>
        </p:spPr>
        <p:txBody>
          <a:bodyPr/>
          <a:lstStyle/>
          <a:p>
            <a:endParaRPr lang="en-US"/>
          </a:p>
        </p:txBody>
      </p:sp>
      <p:sp>
        <p:nvSpPr>
          <p:cNvPr id="8" name="Freeform 6"/>
          <p:cNvSpPr>
            <a:spLocks/>
          </p:cNvSpPr>
          <p:nvPr/>
        </p:nvSpPr>
        <p:spPr bwMode="auto">
          <a:xfrm>
            <a:off x="5348288" y="2311400"/>
            <a:ext cx="2146300" cy="1273175"/>
          </a:xfrm>
          <a:custGeom>
            <a:avLst/>
            <a:gdLst>
              <a:gd name="T0" fmla="*/ 0 w 1067"/>
              <a:gd name="T1" fmla="*/ 0 h 553"/>
              <a:gd name="T2" fmla="*/ 0 w 1067"/>
              <a:gd name="T3" fmla="*/ 2147483647 h 553"/>
              <a:gd name="T4" fmla="*/ 2147483647 w 1067"/>
              <a:gd name="T5" fmla="*/ 2147483647 h 553"/>
              <a:gd name="T6" fmla="*/ 0 w 1067"/>
              <a:gd name="T7" fmla="*/ 0 h 553"/>
              <a:gd name="T8" fmla="*/ 0 60000 65536"/>
              <a:gd name="T9" fmla="*/ 0 60000 65536"/>
              <a:gd name="T10" fmla="*/ 0 60000 65536"/>
              <a:gd name="T11" fmla="*/ 0 60000 65536"/>
              <a:gd name="T12" fmla="*/ 0 w 1067"/>
              <a:gd name="T13" fmla="*/ 0 h 553"/>
              <a:gd name="T14" fmla="*/ 1067 w 1067"/>
              <a:gd name="T15" fmla="*/ 553 h 553"/>
            </a:gdLst>
            <a:ahLst/>
            <a:cxnLst>
              <a:cxn ang="T8">
                <a:pos x="T0" y="T1"/>
              </a:cxn>
              <a:cxn ang="T9">
                <a:pos x="T2" y="T3"/>
              </a:cxn>
              <a:cxn ang="T10">
                <a:pos x="T4" y="T5"/>
              </a:cxn>
              <a:cxn ang="T11">
                <a:pos x="T6" y="T7"/>
              </a:cxn>
            </a:cxnLst>
            <a:rect l="T12" t="T13" r="T14" b="T15"/>
            <a:pathLst>
              <a:path w="1067" h="553">
                <a:moveTo>
                  <a:pt x="0" y="0"/>
                </a:moveTo>
                <a:lnTo>
                  <a:pt x="0" y="553"/>
                </a:lnTo>
                <a:lnTo>
                  <a:pt x="1067" y="553"/>
                </a:lnTo>
                <a:lnTo>
                  <a:pt x="0" y="0"/>
                </a:lnTo>
                <a:close/>
              </a:path>
            </a:pathLst>
          </a:custGeom>
          <a:solidFill>
            <a:srgbClr val="C7D6EE"/>
          </a:solidFill>
          <a:ln w="9525">
            <a:noFill/>
            <a:round/>
            <a:headEnd/>
            <a:tailEnd/>
          </a:ln>
        </p:spPr>
        <p:txBody>
          <a:bodyPr/>
          <a:lstStyle/>
          <a:p>
            <a:endParaRPr lang="en-US"/>
          </a:p>
        </p:txBody>
      </p:sp>
      <p:sp>
        <p:nvSpPr>
          <p:cNvPr id="9" name="Line 7"/>
          <p:cNvSpPr>
            <a:spLocks noChangeShapeType="1"/>
          </p:cNvSpPr>
          <p:nvPr/>
        </p:nvSpPr>
        <p:spPr bwMode="auto">
          <a:xfrm>
            <a:off x="668338" y="3849688"/>
            <a:ext cx="3032125" cy="0"/>
          </a:xfrm>
          <a:prstGeom prst="line">
            <a:avLst/>
          </a:prstGeom>
          <a:noFill/>
          <a:ln w="30163">
            <a:solidFill>
              <a:srgbClr val="F3716D"/>
            </a:solidFill>
            <a:miter lim="800000"/>
            <a:headEnd/>
            <a:tailEnd/>
          </a:ln>
        </p:spPr>
        <p:txBody>
          <a:bodyPr/>
          <a:lstStyle/>
          <a:p>
            <a:endParaRPr lang="en-US"/>
          </a:p>
        </p:txBody>
      </p:sp>
      <p:sp>
        <p:nvSpPr>
          <p:cNvPr id="10" name="Rectangle 8"/>
          <p:cNvSpPr>
            <a:spLocks noChangeArrowheads="1"/>
          </p:cNvSpPr>
          <p:nvPr/>
        </p:nvSpPr>
        <p:spPr bwMode="auto">
          <a:xfrm>
            <a:off x="668338" y="2954338"/>
            <a:ext cx="1068387" cy="276225"/>
          </a:xfrm>
          <a:prstGeom prst="rect">
            <a:avLst/>
          </a:prstGeom>
          <a:solidFill>
            <a:srgbClr val="D7EDE7"/>
          </a:solidFill>
          <a:ln w="9525">
            <a:noFill/>
            <a:miter lim="800000"/>
            <a:headEnd/>
            <a:tailEnd/>
          </a:ln>
        </p:spPr>
        <p:txBody>
          <a:bodyPr/>
          <a:lstStyle/>
          <a:p>
            <a:endParaRPr lang="en-US"/>
          </a:p>
        </p:txBody>
      </p:sp>
      <p:sp>
        <p:nvSpPr>
          <p:cNvPr id="11" name="Freeform 9"/>
          <p:cNvSpPr>
            <a:spLocks/>
          </p:cNvSpPr>
          <p:nvPr/>
        </p:nvSpPr>
        <p:spPr bwMode="auto">
          <a:xfrm>
            <a:off x="668338" y="2322513"/>
            <a:ext cx="1068387" cy="631825"/>
          </a:xfrm>
          <a:custGeom>
            <a:avLst/>
            <a:gdLst>
              <a:gd name="T0" fmla="*/ 0 w 531"/>
              <a:gd name="T1" fmla="*/ 0 h 274"/>
              <a:gd name="T2" fmla="*/ 0 w 531"/>
              <a:gd name="T3" fmla="*/ 2147483647 h 274"/>
              <a:gd name="T4" fmla="*/ 2147483647 w 531"/>
              <a:gd name="T5" fmla="*/ 2147483647 h 274"/>
              <a:gd name="T6" fmla="*/ 0 w 531"/>
              <a:gd name="T7" fmla="*/ 0 h 274"/>
              <a:gd name="T8" fmla="*/ 0 60000 65536"/>
              <a:gd name="T9" fmla="*/ 0 60000 65536"/>
              <a:gd name="T10" fmla="*/ 0 60000 65536"/>
              <a:gd name="T11" fmla="*/ 0 60000 65536"/>
              <a:gd name="T12" fmla="*/ 0 w 531"/>
              <a:gd name="T13" fmla="*/ 0 h 274"/>
              <a:gd name="T14" fmla="*/ 531 w 531"/>
              <a:gd name="T15" fmla="*/ 274 h 274"/>
            </a:gdLst>
            <a:ahLst/>
            <a:cxnLst>
              <a:cxn ang="T8">
                <a:pos x="T0" y="T1"/>
              </a:cxn>
              <a:cxn ang="T9">
                <a:pos x="T2" y="T3"/>
              </a:cxn>
              <a:cxn ang="T10">
                <a:pos x="T4" y="T5"/>
              </a:cxn>
              <a:cxn ang="T11">
                <a:pos x="T6" y="T7"/>
              </a:cxn>
            </a:cxnLst>
            <a:rect l="T12" t="T13" r="T14" b="T15"/>
            <a:pathLst>
              <a:path w="531" h="274">
                <a:moveTo>
                  <a:pt x="0" y="0"/>
                </a:moveTo>
                <a:lnTo>
                  <a:pt x="0" y="274"/>
                </a:lnTo>
                <a:lnTo>
                  <a:pt x="531" y="274"/>
                </a:lnTo>
                <a:lnTo>
                  <a:pt x="0" y="0"/>
                </a:lnTo>
                <a:close/>
              </a:path>
            </a:pathLst>
          </a:custGeom>
          <a:solidFill>
            <a:srgbClr val="C7D6EE"/>
          </a:solidFill>
          <a:ln w="9525">
            <a:noFill/>
            <a:round/>
            <a:headEnd/>
            <a:tailEnd/>
          </a:ln>
        </p:spPr>
        <p:txBody>
          <a:bodyPr/>
          <a:lstStyle/>
          <a:p>
            <a:endParaRPr lang="en-US"/>
          </a:p>
        </p:txBody>
      </p:sp>
      <p:sp>
        <p:nvSpPr>
          <p:cNvPr id="12" name="Rectangle 10"/>
          <p:cNvSpPr>
            <a:spLocks noChangeArrowheads="1"/>
          </p:cNvSpPr>
          <p:nvPr/>
        </p:nvSpPr>
        <p:spPr bwMode="auto">
          <a:xfrm>
            <a:off x="1204913" y="1122363"/>
            <a:ext cx="187325"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(a)</a:t>
            </a:r>
            <a:endParaRPr lang="en-US" sz="1400">
              <a:latin typeface="Tahoma" pitchFamily="34" charset="0"/>
            </a:endParaRPr>
          </a:p>
        </p:txBody>
      </p:sp>
      <p:sp>
        <p:nvSpPr>
          <p:cNvPr id="13" name="Rectangle 11"/>
          <p:cNvSpPr>
            <a:spLocks noChangeArrowheads="1"/>
          </p:cNvSpPr>
          <p:nvPr/>
        </p:nvSpPr>
        <p:spPr bwMode="auto">
          <a:xfrm>
            <a:off x="1492250" y="1122363"/>
            <a:ext cx="2701925" cy="431800"/>
          </a:xfrm>
          <a:prstGeom prst="rect">
            <a:avLst/>
          </a:prstGeom>
          <a:noFill/>
          <a:ln w="9525">
            <a:noFill/>
            <a:miter lim="800000"/>
            <a:headEnd/>
            <a:tailEnd/>
          </a:ln>
        </p:spPr>
        <p:txBody>
          <a:bodyPr lIns="0" tIns="0" rIns="0" bIns="0">
            <a:spAutoFit/>
          </a:bodyPr>
          <a:lstStyle/>
          <a:p>
            <a:pPr marL="1588" indent="-1588" algn="ctr"/>
            <a:r>
              <a:rPr lang="en-US" sz="1400" b="1">
                <a:solidFill>
                  <a:srgbClr val="000000"/>
                </a:solidFill>
                <a:latin typeface="Myriad Pro"/>
              </a:rPr>
              <a:t>Total Surplus with an Unregulated Natural Monopolist</a:t>
            </a:r>
            <a:endParaRPr lang="en-US" sz="1400" b="1">
              <a:latin typeface="Tahoma" pitchFamily="34" charset="0"/>
            </a:endParaRPr>
          </a:p>
        </p:txBody>
      </p:sp>
      <p:sp>
        <p:nvSpPr>
          <p:cNvPr id="14" name="Rectangle 12"/>
          <p:cNvSpPr>
            <a:spLocks noChangeArrowheads="1"/>
          </p:cNvSpPr>
          <p:nvPr/>
        </p:nvSpPr>
        <p:spPr bwMode="auto">
          <a:xfrm>
            <a:off x="5908675" y="1128713"/>
            <a:ext cx="49213"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a:t>
            </a:r>
            <a:endParaRPr lang="en-US" sz="1400">
              <a:latin typeface="Tahoma" pitchFamily="34" charset="0"/>
            </a:endParaRPr>
          </a:p>
        </p:txBody>
      </p:sp>
      <p:sp>
        <p:nvSpPr>
          <p:cNvPr id="15" name="Rectangle 13"/>
          <p:cNvSpPr>
            <a:spLocks noChangeArrowheads="1"/>
          </p:cNvSpPr>
          <p:nvPr/>
        </p:nvSpPr>
        <p:spPr bwMode="auto">
          <a:xfrm>
            <a:off x="5954713" y="1128713"/>
            <a:ext cx="10160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b</a:t>
            </a:r>
            <a:endParaRPr lang="en-US" sz="1400">
              <a:latin typeface="Tahoma" pitchFamily="34" charset="0"/>
            </a:endParaRPr>
          </a:p>
        </p:txBody>
      </p:sp>
      <p:sp>
        <p:nvSpPr>
          <p:cNvPr id="16" name="Rectangle 14"/>
          <p:cNvSpPr>
            <a:spLocks noChangeArrowheads="1"/>
          </p:cNvSpPr>
          <p:nvPr/>
        </p:nvSpPr>
        <p:spPr bwMode="auto">
          <a:xfrm>
            <a:off x="6045200" y="1128713"/>
            <a:ext cx="50800" cy="169862"/>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a:t>
            </a:r>
            <a:endParaRPr lang="en-US" sz="1400">
              <a:latin typeface="Tahoma" pitchFamily="34" charset="0"/>
            </a:endParaRPr>
          </a:p>
        </p:txBody>
      </p:sp>
      <p:sp>
        <p:nvSpPr>
          <p:cNvPr id="17" name="Rectangle 15"/>
          <p:cNvSpPr>
            <a:spLocks noChangeArrowheads="1"/>
          </p:cNvSpPr>
          <p:nvPr/>
        </p:nvSpPr>
        <p:spPr bwMode="auto">
          <a:xfrm>
            <a:off x="6202363" y="1128713"/>
            <a:ext cx="2239962" cy="646112"/>
          </a:xfrm>
          <a:prstGeom prst="rect">
            <a:avLst/>
          </a:prstGeom>
          <a:noFill/>
          <a:ln w="9525">
            <a:noFill/>
            <a:miter lim="800000"/>
            <a:headEnd/>
            <a:tailEnd/>
          </a:ln>
        </p:spPr>
        <p:txBody>
          <a:bodyPr lIns="0" tIns="0" rIns="0" bIns="0">
            <a:spAutoFit/>
          </a:bodyPr>
          <a:lstStyle/>
          <a:p>
            <a:pPr marL="1588" indent="-1588" algn="ctr"/>
            <a:r>
              <a:rPr lang="en-US" sz="1400" b="1">
                <a:solidFill>
                  <a:srgbClr val="000000"/>
                </a:solidFill>
                <a:latin typeface="Myriad Pro"/>
              </a:rPr>
              <a:t>Total Surplus with a Regulated Natural Monopolist</a:t>
            </a:r>
            <a:endParaRPr lang="en-US" sz="1400" b="1">
              <a:latin typeface="Tahoma" pitchFamily="34" charset="0"/>
            </a:endParaRPr>
          </a:p>
        </p:txBody>
      </p:sp>
      <p:sp>
        <p:nvSpPr>
          <p:cNvPr id="18" name="Line 16"/>
          <p:cNvSpPr>
            <a:spLocks noChangeShapeType="1"/>
          </p:cNvSpPr>
          <p:nvPr/>
        </p:nvSpPr>
        <p:spPr bwMode="auto">
          <a:xfrm>
            <a:off x="668338" y="2316163"/>
            <a:ext cx="1462087" cy="2097087"/>
          </a:xfrm>
          <a:prstGeom prst="line">
            <a:avLst/>
          </a:prstGeom>
          <a:noFill/>
          <a:ln w="30163">
            <a:solidFill>
              <a:srgbClr val="4B8FCC"/>
            </a:solidFill>
            <a:miter lim="800000"/>
            <a:headEnd/>
            <a:tailEnd/>
          </a:ln>
        </p:spPr>
        <p:txBody>
          <a:bodyPr/>
          <a:lstStyle/>
          <a:p>
            <a:endParaRPr lang="en-US"/>
          </a:p>
        </p:txBody>
      </p:sp>
      <p:sp>
        <p:nvSpPr>
          <p:cNvPr id="19" name="Freeform 17"/>
          <p:cNvSpPr>
            <a:spLocks/>
          </p:cNvSpPr>
          <p:nvPr/>
        </p:nvSpPr>
        <p:spPr bwMode="auto">
          <a:xfrm>
            <a:off x="819150" y="1887538"/>
            <a:ext cx="2814638" cy="1751012"/>
          </a:xfrm>
          <a:custGeom>
            <a:avLst/>
            <a:gdLst>
              <a:gd name="T0" fmla="*/ 0 w 592"/>
              <a:gd name="T1" fmla="*/ 0 h 322"/>
              <a:gd name="T2" fmla="*/ 2147483647 w 592"/>
              <a:gd name="T3" fmla="*/ 2147483647 h 322"/>
              <a:gd name="T4" fmla="*/ 2147483647 w 592"/>
              <a:gd name="T5" fmla="*/ 2147483647 h 322"/>
              <a:gd name="T6" fmla="*/ 0 60000 65536"/>
              <a:gd name="T7" fmla="*/ 0 60000 65536"/>
              <a:gd name="T8" fmla="*/ 0 60000 65536"/>
              <a:gd name="T9" fmla="*/ 0 w 592"/>
              <a:gd name="T10" fmla="*/ 0 h 322"/>
              <a:gd name="T11" fmla="*/ 592 w 592"/>
              <a:gd name="T12" fmla="*/ 322 h 322"/>
            </a:gdLst>
            <a:ahLst/>
            <a:cxnLst>
              <a:cxn ang="T6">
                <a:pos x="T0" y="T1"/>
              </a:cxn>
              <a:cxn ang="T7">
                <a:pos x="T2" y="T3"/>
              </a:cxn>
              <a:cxn ang="T8">
                <a:pos x="T4" y="T5"/>
              </a:cxn>
            </a:cxnLst>
            <a:rect l="T9" t="T10" r="T11" b="T12"/>
            <a:pathLst>
              <a:path w="592" h="322">
                <a:moveTo>
                  <a:pt x="0" y="0"/>
                </a:moveTo>
                <a:cubicBezTo>
                  <a:pt x="7" y="108"/>
                  <a:pt x="85" y="190"/>
                  <a:pt x="193" y="247"/>
                </a:cubicBezTo>
                <a:cubicBezTo>
                  <a:pt x="310" y="308"/>
                  <a:pt x="461" y="322"/>
                  <a:pt x="592" y="314"/>
                </a:cubicBezTo>
              </a:path>
            </a:pathLst>
          </a:custGeom>
          <a:noFill/>
          <a:ln w="30163">
            <a:solidFill>
              <a:srgbClr val="8C64AB"/>
            </a:solidFill>
            <a:miter lim="800000"/>
            <a:headEnd/>
            <a:tailEnd/>
          </a:ln>
        </p:spPr>
        <p:txBody>
          <a:bodyPr/>
          <a:lstStyle/>
          <a:p>
            <a:endParaRPr lang="en-US"/>
          </a:p>
        </p:txBody>
      </p:sp>
      <p:sp>
        <p:nvSpPr>
          <p:cNvPr id="20" name="Line 18"/>
          <p:cNvSpPr>
            <a:spLocks noChangeShapeType="1"/>
          </p:cNvSpPr>
          <p:nvPr/>
        </p:nvSpPr>
        <p:spPr bwMode="auto">
          <a:xfrm>
            <a:off x="668338" y="2322513"/>
            <a:ext cx="3146425" cy="1858962"/>
          </a:xfrm>
          <a:prstGeom prst="line">
            <a:avLst/>
          </a:prstGeom>
          <a:noFill/>
          <a:ln w="30163">
            <a:solidFill>
              <a:srgbClr val="3C5DAA"/>
            </a:solidFill>
            <a:miter lim="800000"/>
            <a:headEnd/>
            <a:tailEnd/>
          </a:ln>
        </p:spPr>
        <p:txBody>
          <a:bodyPr/>
          <a:lstStyle/>
          <a:p>
            <a:endParaRPr lang="en-US"/>
          </a:p>
        </p:txBody>
      </p:sp>
      <p:sp>
        <p:nvSpPr>
          <p:cNvPr id="21" name="Rectangle 19"/>
          <p:cNvSpPr>
            <a:spLocks noChangeArrowheads="1"/>
          </p:cNvSpPr>
          <p:nvPr/>
        </p:nvSpPr>
        <p:spPr bwMode="auto">
          <a:xfrm>
            <a:off x="1670050" y="4619625"/>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22" name="Rectangle 20"/>
          <p:cNvSpPr>
            <a:spLocks noChangeArrowheads="1"/>
          </p:cNvSpPr>
          <p:nvPr/>
        </p:nvSpPr>
        <p:spPr bwMode="auto">
          <a:xfrm>
            <a:off x="1801813" y="4745038"/>
            <a:ext cx="1492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23" name="Rectangle 21"/>
          <p:cNvSpPr>
            <a:spLocks noChangeArrowheads="1"/>
          </p:cNvSpPr>
          <p:nvPr/>
        </p:nvSpPr>
        <p:spPr bwMode="auto">
          <a:xfrm>
            <a:off x="2626829" y="4629150"/>
            <a:ext cx="139700" cy="215900"/>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a:rPr>
              <a:t>Q</a:t>
            </a:r>
            <a:endParaRPr lang="en-US" sz="1400" i="1" dirty="0">
              <a:latin typeface="Tahoma" pitchFamily="34" charset="0"/>
            </a:endParaRPr>
          </a:p>
        </p:txBody>
      </p:sp>
      <p:sp>
        <p:nvSpPr>
          <p:cNvPr id="24" name="Rectangle 22"/>
          <p:cNvSpPr>
            <a:spLocks noChangeArrowheads="1"/>
          </p:cNvSpPr>
          <p:nvPr/>
        </p:nvSpPr>
        <p:spPr bwMode="auto">
          <a:xfrm>
            <a:off x="2760740" y="4727575"/>
            <a:ext cx="130175" cy="215900"/>
          </a:xfrm>
          <a:prstGeom prst="rect">
            <a:avLst/>
          </a:prstGeom>
          <a:noFill/>
          <a:ln w="9525">
            <a:noFill/>
            <a:miter lim="800000"/>
            <a:headEnd/>
            <a:tailEnd/>
          </a:ln>
        </p:spPr>
        <p:txBody>
          <a:bodyPr wrap="none" lIns="0" tIns="0" rIns="0" bIns="0">
            <a:spAutoFit/>
          </a:bodyPr>
          <a:lstStyle/>
          <a:p>
            <a:pPr marL="1588" indent="-1588"/>
            <a:r>
              <a:rPr lang="en-US" sz="1400" i="1" dirty="0">
                <a:solidFill>
                  <a:srgbClr val="000000"/>
                </a:solidFill>
                <a:latin typeface="Myriad Pro"/>
              </a:rPr>
              <a:t>R</a:t>
            </a:r>
            <a:endParaRPr lang="en-US" sz="1400" i="1" dirty="0">
              <a:latin typeface="Tahoma" pitchFamily="34" charset="0"/>
            </a:endParaRPr>
          </a:p>
        </p:txBody>
      </p:sp>
      <p:sp>
        <p:nvSpPr>
          <p:cNvPr id="25" name="Rectangle 23"/>
          <p:cNvSpPr>
            <a:spLocks noChangeArrowheads="1"/>
          </p:cNvSpPr>
          <p:nvPr/>
        </p:nvSpPr>
        <p:spPr bwMode="auto">
          <a:xfrm>
            <a:off x="400050" y="2851150"/>
            <a:ext cx="157163" cy="215900"/>
          </a:xfrm>
          <a:prstGeom prst="rect">
            <a:avLst/>
          </a:prstGeom>
          <a:noFill/>
          <a:ln w="9525">
            <a:noFill/>
            <a:miter lim="800000"/>
            <a:headEnd/>
            <a:tailEnd/>
          </a:ln>
        </p:spPr>
        <p:txBody>
          <a:bodyPr lIns="0" tIns="0" rIns="0" bIns="0">
            <a:spAutoFit/>
          </a:bodyPr>
          <a:lstStyle/>
          <a:p>
            <a:pPr marL="1588" indent="-1588"/>
            <a:r>
              <a:rPr lang="en-US" sz="1400" i="1">
                <a:solidFill>
                  <a:srgbClr val="000000"/>
                </a:solidFill>
                <a:latin typeface="Myriad Pro"/>
              </a:rPr>
              <a:t>P</a:t>
            </a:r>
            <a:endParaRPr lang="en-US" sz="1400" i="1">
              <a:latin typeface="Tahoma" pitchFamily="34" charset="0"/>
            </a:endParaRPr>
          </a:p>
        </p:txBody>
      </p:sp>
      <p:sp>
        <p:nvSpPr>
          <p:cNvPr id="26" name="Rectangle 24"/>
          <p:cNvSpPr>
            <a:spLocks noChangeArrowheads="1"/>
          </p:cNvSpPr>
          <p:nvPr/>
        </p:nvSpPr>
        <p:spPr bwMode="auto">
          <a:xfrm>
            <a:off x="500063" y="2935288"/>
            <a:ext cx="1492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27" name="Rectangle 25"/>
          <p:cNvSpPr>
            <a:spLocks noChangeArrowheads="1"/>
          </p:cNvSpPr>
          <p:nvPr/>
        </p:nvSpPr>
        <p:spPr bwMode="auto">
          <a:xfrm>
            <a:off x="3830638" y="405765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28" name="Rectangle 26"/>
          <p:cNvSpPr>
            <a:spLocks noChangeArrowheads="1"/>
          </p:cNvSpPr>
          <p:nvPr/>
        </p:nvSpPr>
        <p:spPr bwMode="auto">
          <a:xfrm>
            <a:off x="3716338" y="3724275"/>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MC</a:t>
            </a:r>
            <a:endParaRPr lang="en-US" sz="1400" i="1">
              <a:latin typeface="Tahoma" pitchFamily="34" charset="0"/>
            </a:endParaRPr>
          </a:p>
        </p:txBody>
      </p:sp>
      <p:sp>
        <p:nvSpPr>
          <p:cNvPr id="29" name="Rectangle 27"/>
          <p:cNvSpPr>
            <a:spLocks noChangeArrowheads="1"/>
          </p:cNvSpPr>
          <p:nvPr/>
        </p:nvSpPr>
        <p:spPr bwMode="auto">
          <a:xfrm>
            <a:off x="2157413" y="4316413"/>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MR</a:t>
            </a:r>
            <a:endParaRPr lang="en-US" sz="1400" i="1">
              <a:latin typeface="Tahoma" pitchFamily="34" charset="0"/>
            </a:endParaRPr>
          </a:p>
        </p:txBody>
      </p:sp>
      <p:sp>
        <p:nvSpPr>
          <p:cNvPr id="30" name="Rectangle 28"/>
          <p:cNvSpPr>
            <a:spLocks noChangeArrowheads="1"/>
          </p:cNvSpPr>
          <p:nvPr/>
        </p:nvSpPr>
        <p:spPr bwMode="auto">
          <a:xfrm>
            <a:off x="3667125" y="34163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31" name="Rectangle 29"/>
          <p:cNvSpPr>
            <a:spLocks noChangeArrowheads="1"/>
          </p:cNvSpPr>
          <p:nvPr/>
        </p:nvSpPr>
        <p:spPr bwMode="auto">
          <a:xfrm>
            <a:off x="3768725" y="3416300"/>
            <a:ext cx="109538"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32" name="Rectangle 30"/>
          <p:cNvSpPr>
            <a:spLocks noChangeArrowheads="1"/>
          </p:cNvSpPr>
          <p:nvPr/>
        </p:nvSpPr>
        <p:spPr bwMode="auto">
          <a:xfrm>
            <a:off x="3856038" y="341630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33" name="Rectangle 31"/>
          <p:cNvSpPr>
            <a:spLocks noChangeArrowheads="1"/>
          </p:cNvSpPr>
          <p:nvPr/>
        </p:nvSpPr>
        <p:spPr bwMode="auto">
          <a:xfrm>
            <a:off x="3468688" y="4645025"/>
            <a:ext cx="66675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Quantity</a:t>
            </a:r>
            <a:endParaRPr lang="en-US" sz="1400">
              <a:latin typeface="Tahoma" pitchFamily="34" charset="0"/>
            </a:endParaRPr>
          </a:p>
        </p:txBody>
      </p:sp>
      <p:sp>
        <p:nvSpPr>
          <p:cNvPr id="34" name="Rectangle 37"/>
          <p:cNvSpPr>
            <a:spLocks noChangeArrowheads="1"/>
          </p:cNvSpPr>
          <p:nvPr/>
        </p:nvSpPr>
        <p:spPr bwMode="auto">
          <a:xfrm>
            <a:off x="430213" y="328295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P</a:t>
            </a:r>
            <a:endParaRPr lang="en-US" sz="1400" i="1">
              <a:latin typeface="Tahoma" pitchFamily="34" charset="0"/>
            </a:endParaRPr>
          </a:p>
        </p:txBody>
      </p:sp>
      <p:sp>
        <p:nvSpPr>
          <p:cNvPr id="35" name="Rectangle 38"/>
          <p:cNvSpPr>
            <a:spLocks noChangeArrowheads="1"/>
          </p:cNvSpPr>
          <p:nvPr/>
        </p:nvSpPr>
        <p:spPr bwMode="auto">
          <a:xfrm>
            <a:off x="530225" y="340995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R</a:t>
            </a:r>
            <a:endParaRPr lang="en-US" sz="1400" i="1">
              <a:latin typeface="Tahoma" pitchFamily="34" charset="0"/>
            </a:endParaRPr>
          </a:p>
        </p:txBody>
      </p:sp>
      <p:sp>
        <p:nvSpPr>
          <p:cNvPr id="36" name="Line 39"/>
          <p:cNvSpPr>
            <a:spLocks noChangeShapeType="1"/>
          </p:cNvSpPr>
          <p:nvPr/>
        </p:nvSpPr>
        <p:spPr bwMode="auto">
          <a:xfrm flipV="1">
            <a:off x="1366838" y="2398713"/>
            <a:ext cx="0" cy="428625"/>
          </a:xfrm>
          <a:prstGeom prst="line">
            <a:avLst/>
          </a:prstGeom>
          <a:noFill/>
          <a:ln w="7938">
            <a:solidFill>
              <a:srgbClr val="000000"/>
            </a:solidFill>
            <a:miter lim="800000"/>
            <a:headEnd/>
            <a:tailEnd/>
          </a:ln>
        </p:spPr>
        <p:txBody>
          <a:bodyPr/>
          <a:lstStyle/>
          <a:p>
            <a:endParaRPr lang="en-US"/>
          </a:p>
        </p:txBody>
      </p:sp>
      <p:sp>
        <p:nvSpPr>
          <p:cNvPr id="37" name="Line 40"/>
          <p:cNvSpPr>
            <a:spLocks noChangeShapeType="1"/>
          </p:cNvSpPr>
          <p:nvPr/>
        </p:nvSpPr>
        <p:spPr bwMode="auto">
          <a:xfrm flipV="1">
            <a:off x="1666875" y="2751138"/>
            <a:ext cx="635000" cy="327025"/>
          </a:xfrm>
          <a:prstGeom prst="line">
            <a:avLst/>
          </a:prstGeom>
          <a:noFill/>
          <a:ln w="7938">
            <a:solidFill>
              <a:srgbClr val="000000"/>
            </a:solidFill>
            <a:miter lim="800000"/>
            <a:headEnd/>
            <a:tailEnd/>
          </a:ln>
        </p:spPr>
        <p:txBody>
          <a:bodyPr/>
          <a:lstStyle/>
          <a:p>
            <a:endParaRPr lang="en-US"/>
          </a:p>
        </p:txBody>
      </p:sp>
      <p:sp>
        <p:nvSpPr>
          <p:cNvPr id="38" name="Freeform 41"/>
          <p:cNvSpPr>
            <a:spLocks/>
          </p:cNvSpPr>
          <p:nvPr/>
        </p:nvSpPr>
        <p:spPr bwMode="auto">
          <a:xfrm>
            <a:off x="2171700" y="2576513"/>
            <a:ext cx="517525" cy="331787"/>
          </a:xfrm>
          <a:custGeom>
            <a:avLst/>
            <a:gdLst>
              <a:gd name="T0" fmla="*/ 2147483647 w 109"/>
              <a:gd name="T1" fmla="*/ 2147483647 h 61"/>
              <a:gd name="T2" fmla="*/ 2147483647 w 109"/>
              <a:gd name="T3" fmla="*/ 2147483647 h 61"/>
              <a:gd name="T4" fmla="*/ 2147483647 w 109"/>
              <a:gd name="T5" fmla="*/ 2147483647 h 61"/>
              <a:gd name="T6" fmla="*/ 0 w 109"/>
              <a:gd name="T7" fmla="*/ 2147483647 h 61"/>
              <a:gd name="T8" fmla="*/ 0 w 109"/>
              <a:gd name="T9" fmla="*/ 2147483647 h 61"/>
              <a:gd name="T10" fmla="*/ 2147483647 w 109"/>
              <a:gd name="T11" fmla="*/ 0 h 61"/>
              <a:gd name="T12" fmla="*/ 2147483647 w 109"/>
              <a:gd name="T13" fmla="*/ 0 h 61"/>
              <a:gd name="T14" fmla="*/ 2147483647 w 109"/>
              <a:gd name="T15" fmla="*/ 2147483647 h 61"/>
              <a:gd name="T16" fmla="*/ 2147483647 w 109"/>
              <a:gd name="T17" fmla="*/ 2147483647 h 6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9"/>
              <a:gd name="T28" fmla="*/ 0 h 61"/>
              <a:gd name="T29" fmla="*/ 109 w 109"/>
              <a:gd name="T30" fmla="*/ 61 h 6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9" h="61">
                <a:moveTo>
                  <a:pt x="109" y="51"/>
                </a:moveTo>
                <a:cubicBezTo>
                  <a:pt x="109" y="57"/>
                  <a:pt x="104" y="61"/>
                  <a:pt x="98" y="61"/>
                </a:cubicBezTo>
                <a:cubicBezTo>
                  <a:pt x="10" y="61"/>
                  <a:pt x="10" y="61"/>
                  <a:pt x="10" y="61"/>
                </a:cubicBezTo>
                <a:cubicBezTo>
                  <a:pt x="4" y="61"/>
                  <a:pt x="0" y="57"/>
                  <a:pt x="0" y="51"/>
                </a:cubicBezTo>
                <a:cubicBezTo>
                  <a:pt x="0" y="10"/>
                  <a:pt x="0" y="10"/>
                  <a:pt x="0" y="10"/>
                </a:cubicBezTo>
                <a:cubicBezTo>
                  <a:pt x="0" y="5"/>
                  <a:pt x="4" y="0"/>
                  <a:pt x="10" y="0"/>
                </a:cubicBezTo>
                <a:cubicBezTo>
                  <a:pt x="98" y="0"/>
                  <a:pt x="98" y="0"/>
                  <a:pt x="98" y="0"/>
                </a:cubicBezTo>
                <a:cubicBezTo>
                  <a:pt x="104" y="0"/>
                  <a:pt x="109" y="5"/>
                  <a:pt x="109" y="10"/>
                </a:cubicBezTo>
                <a:lnTo>
                  <a:pt x="109" y="51"/>
                </a:lnTo>
                <a:close/>
              </a:path>
            </a:pathLst>
          </a:custGeom>
          <a:solidFill>
            <a:srgbClr val="D7E2E0"/>
          </a:solidFill>
          <a:ln w="9525">
            <a:noFill/>
            <a:round/>
            <a:headEnd/>
            <a:tailEnd/>
          </a:ln>
        </p:spPr>
        <p:txBody>
          <a:bodyPr/>
          <a:lstStyle/>
          <a:p>
            <a:endParaRPr lang="en-US"/>
          </a:p>
        </p:txBody>
      </p:sp>
      <p:sp>
        <p:nvSpPr>
          <p:cNvPr id="39" name="Freeform 42"/>
          <p:cNvSpPr>
            <a:spLocks/>
          </p:cNvSpPr>
          <p:nvPr/>
        </p:nvSpPr>
        <p:spPr bwMode="auto">
          <a:xfrm>
            <a:off x="1011238" y="1887538"/>
            <a:ext cx="931862" cy="460375"/>
          </a:xfrm>
          <a:custGeom>
            <a:avLst/>
            <a:gdLst>
              <a:gd name="T0" fmla="*/ 2147483647 w 162"/>
              <a:gd name="T1" fmla="*/ 2147483647 h 95"/>
              <a:gd name="T2" fmla="*/ 2147483647 w 162"/>
              <a:gd name="T3" fmla="*/ 2147483647 h 95"/>
              <a:gd name="T4" fmla="*/ 2147483647 w 162"/>
              <a:gd name="T5" fmla="*/ 2147483647 h 95"/>
              <a:gd name="T6" fmla="*/ 0 w 162"/>
              <a:gd name="T7" fmla="*/ 2147483647 h 95"/>
              <a:gd name="T8" fmla="*/ 0 w 162"/>
              <a:gd name="T9" fmla="*/ 2147483647 h 95"/>
              <a:gd name="T10" fmla="*/ 2147483647 w 162"/>
              <a:gd name="T11" fmla="*/ 0 h 95"/>
              <a:gd name="T12" fmla="*/ 2147483647 w 162"/>
              <a:gd name="T13" fmla="*/ 0 h 95"/>
              <a:gd name="T14" fmla="*/ 2147483647 w 162"/>
              <a:gd name="T15" fmla="*/ 2147483647 h 95"/>
              <a:gd name="T16" fmla="*/ 2147483647 w 162"/>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2"/>
              <a:gd name="T28" fmla="*/ 0 h 95"/>
              <a:gd name="T29" fmla="*/ 162 w 162"/>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2" h="95">
                <a:moveTo>
                  <a:pt x="162" y="79"/>
                </a:moveTo>
                <a:cubicBezTo>
                  <a:pt x="162" y="87"/>
                  <a:pt x="155" y="95"/>
                  <a:pt x="146" y="95"/>
                </a:cubicBezTo>
                <a:cubicBezTo>
                  <a:pt x="16" y="95"/>
                  <a:pt x="16" y="95"/>
                  <a:pt x="16" y="95"/>
                </a:cubicBezTo>
                <a:cubicBezTo>
                  <a:pt x="7" y="95"/>
                  <a:pt x="0" y="87"/>
                  <a:pt x="0" y="79"/>
                </a:cubicBezTo>
                <a:cubicBezTo>
                  <a:pt x="0" y="16"/>
                  <a:pt x="0" y="16"/>
                  <a:pt x="0" y="16"/>
                </a:cubicBezTo>
                <a:cubicBezTo>
                  <a:pt x="0" y="7"/>
                  <a:pt x="7" y="0"/>
                  <a:pt x="16" y="0"/>
                </a:cubicBezTo>
                <a:cubicBezTo>
                  <a:pt x="146" y="0"/>
                  <a:pt x="146" y="0"/>
                  <a:pt x="146" y="0"/>
                </a:cubicBezTo>
                <a:cubicBezTo>
                  <a:pt x="155" y="0"/>
                  <a:pt x="162" y="7"/>
                  <a:pt x="162" y="16"/>
                </a:cubicBezTo>
                <a:lnTo>
                  <a:pt x="162" y="79"/>
                </a:lnTo>
                <a:close/>
              </a:path>
            </a:pathLst>
          </a:custGeom>
          <a:solidFill>
            <a:srgbClr val="D7E2E0"/>
          </a:solidFill>
          <a:ln w="9525">
            <a:noFill/>
            <a:round/>
            <a:headEnd/>
            <a:tailEnd/>
          </a:ln>
        </p:spPr>
        <p:txBody>
          <a:bodyPr/>
          <a:lstStyle/>
          <a:p>
            <a:endParaRPr lang="en-US"/>
          </a:p>
        </p:txBody>
      </p:sp>
      <p:sp>
        <p:nvSpPr>
          <p:cNvPr id="40" name="Rectangle 43"/>
          <p:cNvSpPr>
            <a:spLocks noChangeArrowheads="1"/>
          </p:cNvSpPr>
          <p:nvPr/>
        </p:nvSpPr>
        <p:spPr bwMode="auto">
          <a:xfrm>
            <a:off x="1028700" y="1914525"/>
            <a:ext cx="836613"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Consumer surplus</a:t>
            </a:r>
            <a:endParaRPr lang="en-US" sz="1400">
              <a:latin typeface="Tahoma" pitchFamily="34" charset="0"/>
            </a:endParaRPr>
          </a:p>
        </p:txBody>
      </p:sp>
      <p:sp>
        <p:nvSpPr>
          <p:cNvPr id="41" name="Line 44"/>
          <p:cNvSpPr>
            <a:spLocks noChangeShapeType="1"/>
          </p:cNvSpPr>
          <p:nvPr/>
        </p:nvSpPr>
        <p:spPr bwMode="auto">
          <a:xfrm>
            <a:off x="5367338" y="2322513"/>
            <a:ext cx="1444625" cy="2066925"/>
          </a:xfrm>
          <a:prstGeom prst="line">
            <a:avLst/>
          </a:prstGeom>
          <a:noFill/>
          <a:ln w="30163">
            <a:solidFill>
              <a:srgbClr val="4B8FCC"/>
            </a:solidFill>
            <a:miter lim="800000"/>
            <a:headEnd/>
            <a:tailEnd/>
          </a:ln>
        </p:spPr>
        <p:txBody>
          <a:bodyPr/>
          <a:lstStyle/>
          <a:p>
            <a:endParaRPr lang="en-US"/>
          </a:p>
        </p:txBody>
      </p:sp>
      <p:sp>
        <p:nvSpPr>
          <p:cNvPr id="42" name="Freeform 45"/>
          <p:cNvSpPr>
            <a:spLocks/>
          </p:cNvSpPr>
          <p:nvPr/>
        </p:nvSpPr>
        <p:spPr bwMode="auto">
          <a:xfrm>
            <a:off x="5500688" y="1887538"/>
            <a:ext cx="2817812" cy="1751012"/>
          </a:xfrm>
          <a:custGeom>
            <a:avLst/>
            <a:gdLst>
              <a:gd name="T0" fmla="*/ 0 w 593"/>
              <a:gd name="T1" fmla="*/ 0 h 322"/>
              <a:gd name="T2" fmla="*/ 2147483647 w 593"/>
              <a:gd name="T3" fmla="*/ 2147483647 h 322"/>
              <a:gd name="T4" fmla="*/ 2147483647 w 593"/>
              <a:gd name="T5" fmla="*/ 2147483647 h 322"/>
              <a:gd name="T6" fmla="*/ 0 60000 65536"/>
              <a:gd name="T7" fmla="*/ 0 60000 65536"/>
              <a:gd name="T8" fmla="*/ 0 60000 65536"/>
              <a:gd name="T9" fmla="*/ 0 w 593"/>
              <a:gd name="T10" fmla="*/ 0 h 322"/>
              <a:gd name="T11" fmla="*/ 593 w 593"/>
              <a:gd name="T12" fmla="*/ 322 h 322"/>
            </a:gdLst>
            <a:ahLst/>
            <a:cxnLst>
              <a:cxn ang="T6">
                <a:pos x="T0" y="T1"/>
              </a:cxn>
              <a:cxn ang="T7">
                <a:pos x="T2" y="T3"/>
              </a:cxn>
              <a:cxn ang="T8">
                <a:pos x="T4" y="T5"/>
              </a:cxn>
            </a:cxnLst>
            <a:rect l="T9" t="T10" r="T11" b="T12"/>
            <a:pathLst>
              <a:path w="593" h="322">
                <a:moveTo>
                  <a:pt x="0" y="0"/>
                </a:moveTo>
                <a:cubicBezTo>
                  <a:pt x="7" y="108"/>
                  <a:pt x="86" y="190"/>
                  <a:pt x="194" y="247"/>
                </a:cubicBezTo>
                <a:cubicBezTo>
                  <a:pt x="310" y="308"/>
                  <a:pt x="461" y="322"/>
                  <a:pt x="593" y="314"/>
                </a:cubicBezTo>
              </a:path>
            </a:pathLst>
          </a:custGeom>
          <a:noFill/>
          <a:ln w="30163">
            <a:solidFill>
              <a:srgbClr val="8C64AB"/>
            </a:solidFill>
            <a:miter lim="800000"/>
            <a:headEnd/>
            <a:tailEnd/>
          </a:ln>
        </p:spPr>
        <p:txBody>
          <a:bodyPr/>
          <a:lstStyle/>
          <a:p>
            <a:endParaRPr lang="en-US"/>
          </a:p>
        </p:txBody>
      </p:sp>
      <p:sp>
        <p:nvSpPr>
          <p:cNvPr id="43" name="Line 46"/>
          <p:cNvSpPr>
            <a:spLocks noChangeShapeType="1"/>
          </p:cNvSpPr>
          <p:nvPr/>
        </p:nvSpPr>
        <p:spPr bwMode="auto">
          <a:xfrm>
            <a:off x="5367338" y="2322513"/>
            <a:ext cx="3144837" cy="1858962"/>
          </a:xfrm>
          <a:prstGeom prst="line">
            <a:avLst/>
          </a:prstGeom>
          <a:noFill/>
          <a:ln w="30163">
            <a:solidFill>
              <a:srgbClr val="3C5DAA"/>
            </a:solidFill>
            <a:miter lim="800000"/>
            <a:headEnd/>
            <a:tailEnd/>
          </a:ln>
        </p:spPr>
        <p:txBody>
          <a:bodyPr/>
          <a:lstStyle/>
          <a:p>
            <a:endParaRPr lang="en-US"/>
          </a:p>
        </p:txBody>
      </p:sp>
      <p:sp>
        <p:nvSpPr>
          <p:cNvPr id="44" name="Rectangle 47"/>
          <p:cNvSpPr>
            <a:spLocks noChangeArrowheads="1"/>
          </p:cNvSpPr>
          <p:nvPr/>
        </p:nvSpPr>
        <p:spPr bwMode="auto">
          <a:xfrm>
            <a:off x="6369050" y="4619625"/>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45" name="Rectangle 48"/>
          <p:cNvSpPr>
            <a:spLocks noChangeArrowheads="1"/>
          </p:cNvSpPr>
          <p:nvPr/>
        </p:nvSpPr>
        <p:spPr bwMode="auto">
          <a:xfrm>
            <a:off x="6500813" y="4745038"/>
            <a:ext cx="1492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46" name="Rectangle 49"/>
          <p:cNvSpPr>
            <a:spLocks noChangeArrowheads="1"/>
          </p:cNvSpPr>
          <p:nvPr/>
        </p:nvSpPr>
        <p:spPr bwMode="auto">
          <a:xfrm>
            <a:off x="7410450" y="4619625"/>
            <a:ext cx="1397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Q</a:t>
            </a:r>
            <a:endParaRPr lang="en-US" sz="1400" i="1">
              <a:latin typeface="Tahoma" pitchFamily="34" charset="0"/>
            </a:endParaRPr>
          </a:p>
        </p:txBody>
      </p:sp>
      <p:sp>
        <p:nvSpPr>
          <p:cNvPr id="47" name="Rectangle 50"/>
          <p:cNvSpPr>
            <a:spLocks noChangeArrowheads="1"/>
          </p:cNvSpPr>
          <p:nvPr/>
        </p:nvSpPr>
        <p:spPr bwMode="auto">
          <a:xfrm>
            <a:off x="7540625" y="4645025"/>
            <a:ext cx="73025" cy="16827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a:t>
            </a:r>
            <a:endParaRPr lang="en-US" sz="1400">
              <a:latin typeface="Tahoma" pitchFamily="34" charset="0"/>
            </a:endParaRPr>
          </a:p>
        </p:txBody>
      </p:sp>
      <p:sp>
        <p:nvSpPr>
          <p:cNvPr id="48" name="Rectangle 51"/>
          <p:cNvSpPr>
            <a:spLocks noChangeArrowheads="1"/>
          </p:cNvSpPr>
          <p:nvPr/>
        </p:nvSpPr>
        <p:spPr bwMode="auto">
          <a:xfrm>
            <a:off x="7524750" y="4745038"/>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R</a:t>
            </a:r>
            <a:endParaRPr lang="en-US" sz="1400" i="1">
              <a:latin typeface="Tahoma" pitchFamily="34" charset="0"/>
            </a:endParaRPr>
          </a:p>
        </p:txBody>
      </p:sp>
      <p:sp>
        <p:nvSpPr>
          <p:cNvPr id="49" name="Rectangle 52"/>
          <p:cNvSpPr>
            <a:spLocks noChangeArrowheads="1"/>
          </p:cNvSpPr>
          <p:nvPr/>
        </p:nvSpPr>
        <p:spPr bwMode="auto">
          <a:xfrm>
            <a:off x="5099050" y="281146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P</a:t>
            </a:r>
            <a:endParaRPr lang="en-US" sz="1400" i="1">
              <a:latin typeface="Tahoma" pitchFamily="34" charset="0"/>
            </a:endParaRPr>
          </a:p>
        </p:txBody>
      </p:sp>
      <p:sp>
        <p:nvSpPr>
          <p:cNvPr id="50" name="Rectangle 53"/>
          <p:cNvSpPr>
            <a:spLocks noChangeArrowheads="1"/>
          </p:cNvSpPr>
          <p:nvPr/>
        </p:nvSpPr>
        <p:spPr bwMode="auto">
          <a:xfrm>
            <a:off x="5200650" y="2938463"/>
            <a:ext cx="14922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a:t>
            </a:r>
            <a:endParaRPr lang="en-US" sz="1400" i="1">
              <a:latin typeface="Tahoma" pitchFamily="34" charset="0"/>
            </a:endParaRPr>
          </a:p>
        </p:txBody>
      </p:sp>
      <p:sp>
        <p:nvSpPr>
          <p:cNvPr id="51" name="Rectangle 54"/>
          <p:cNvSpPr>
            <a:spLocks noChangeArrowheads="1"/>
          </p:cNvSpPr>
          <p:nvPr/>
        </p:nvSpPr>
        <p:spPr bwMode="auto">
          <a:xfrm>
            <a:off x="8529638" y="4057650"/>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D</a:t>
            </a:r>
            <a:endParaRPr lang="en-US" sz="1400" i="1">
              <a:latin typeface="Tahoma" pitchFamily="34" charset="0"/>
            </a:endParaRPr>
          </a:p>
        </p:txBody>
      </p:sp>
      <p:sp>
        <p:nvSpPr>
          <p:cNvPr id="52" name="Rectangle 55"/>
          <p:cNvSpPr>
            <a:spLocks noChangeArrowheads="1"/>
          </p:cNvSpPr>
          <p:nvPr/>
        </p:nvSpPr>
        <p:spPr bwMode="auto">
          <a:xfrm>
            <a:off x="8413750" y="3724275"/>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MC</a:t>
            </a:r>
            <a:endParaRPr lang="en-US" sz="1400" i="1">
              <a:latin typeface="Tahoma" pitchFamily="34" charset="0"/>
            </a:endParaRPr>
          </a:p>
        </p:txBody>
      </p:sp>
      <p:sp>
        <p:nvSpPr>
          <p:cNvPr id="53" name="Rectangle 56"/>
          <p:cNvSpPr>
            <a:spLocks noChangeArrowheads="1"/>
          </p:cNvSpPr>
          <p:nvPr/>
        </p:nvSpPr>
        <p:spPr bwMode="auto">
          <a:xfrm>
            <a:off x="6827838" y="4316413"/>
            <a:ext cx="27940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MR</a:t>
            </a:r>
            <a:endParaRPr lang="en-US" sz="1400" i="1">
              <a:latin typeface="Tahoma" pitchFamily="34" charset="0"/>
            </a:endParaRPr>
          </a:p>
        </p:txBody>
      </p:sp>
      <p:sp>
        <p:nvSpPr>
          <p:cNvPr id="54" name="Rectangle 57"/>
          <p:cNvSpPr>
            <a:spLocks noChangeArrowheads="1"/>
          </p:cNvSpPr>
          <p:nvPr/>
        </p:nvSpPr>
        <p:spPr bwMode="auto">
          <a:xfrm>
            <a:off x="8356600" y="3414713"/>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A</a:t>
            </a:r>
            <a:endParaRPr lang="en-US" sz="1400" i="1">
              <a:latin typeface="Tahoma" pitchFamily="34" charset="0"/>
            </a:endParaRPr>
          </a:p>
        </p:txBody>
      </p:sp>
      <p:sp>
        <p:nvSpPr>
          <p:cNvPr id="55" name="Rectangle 58"/>
          <p:cNvSpPr>
            <a:spLocks noChangeArrowheads="1"/>
          </p:cNvSpPr>
          <p:nvPr/>
        </p:nvSpPr>
        <p:spPr bwMode="auto">
          <a:xfrm>
            <a:off x="8456613" y="3414713"/>
            <a:ext cx="109537"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T</a:t>
            </a:r>
            <a:endParaRPr lang="en-US" sz="1400" i="1">
              <a:latin typeface="Tahoma" pitchFamily="34" charset="0"/>
            </a:endParaRPr>
          </a:p>
        </p:txBody>
      </p:sp>
      <p:sp>
        <p:nvSpPr>
          <p:cNvPr id="56" name="Rectangle 59"/>
          <p:cNvSpPr>
            <a:spLocks noChangeArrowheads="1"/>
          </p:cNvSpPr>
          <p:nvPr/>
        </p:nvSpPr>
        <p:spPr bwMode="auto">
          <a:xfrm>
            <a:off x="8547100" y="3414713"/>
            <a:ext cx="130175"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C</a:t>
            </a:r>
            <a:endParaRPr lang="en-US" sz="1400" i="1">
              <a:latin typeface="Tahoma" pitchFamily="34" charset="0"/>
            </a:endParaRPr>
          </a:p>
        </p:txBody>
      </p:sp>
      <p:sp>
        <p:nvSpPr>
          <p:cNvPr id="57" name="Rectangle 60"/>
          <p:cNvSpPr>
            <a:spLocks noChangeArrowheads="1"/>
          </p:cNvSpPr>
          <p:nvPr/>
        </p:nvSpPr>
        <p:spPr bwMode="auto">
          <a:xfrm>
            <a:off x="7877175" y="4710113"/>
            <a:ext cx="66675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Quantity</a:t>
            </a:r>
            <a:endParaRPr lang="en-US" sz="1400">
              <a:latin typeface="Tahoma" pitchFamily="34" charset="0"/>
            </a:endParaRPr>
          </a:p>
        </p:txBody>
      </p:sp>
      <p:sp>
        <p:nvSpPr>
          <p:cNvPr id="58" name="Oval 66"/>
          <p:cNvSpPr>
            <a:spLocks noChangeArrowheads="1"/>
          </p:cNvSpPr>
          <p:nvPr/>
        </p:nvSpPr>
        <p:spPr bwMode="auto">
          <a:xfrm>
            <a:off x="6389688" y="3797300"/>
            <a:ext cx="93662" cy="107950"/>
          </a:xfrm>
          <a:prstGeom prst="ellipse">
            <a:avLst/>
          </a:prstGeom>
          <a:solidFill>
            <a:srgbClr val="000000"/>
          </a:solidFill>
          <a:ln w="9525">
            <a:noFill/>
            <a:round/>
            <a:headEnd/>
            <a:tailEnd/>
          </a:ln>
        </p:spPr>
        <p:txBody>
          <a:bodyPr/>
          <a:lstStyle/>
          <a:p>
            <a:endParaRPr lang="en-US"/>
          </a:p>
        </p:txBody>
      </p:sp>
      <p:sp>
        <p:nvSpPr>
          <p:cNvPr id="59" name="Rectangle 67"/>
          <p:cNvSpPr>
            <a:spLocks noChangeArrowheads="1"/>
          </p:cNvSpPr>
          <p:nvPr/>
        </p:nvSpPr>
        <p:spPr bwMode="auto">
          <a:xfrm>
            <a:off x="5135563" y="3441700"/>
            <a:ext cx="120650" cy="215900"/>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P</a:t>
            </a:r>
            <a:endParaRPr lang="en-US" sz="1400" i="1">
              <a:latin typeface="Tahoma" pitchFamily="34" charset="0"/>
            </a:endParaRPr>
          </a:p>
        </p:txBody>
      </p:sp>
      <p:sp>
        <p:nvSpPr>
          <p:cNvPr id="60" name="Rectangle 68"/>
          <p:cNvSpPr>
            <a:spLocks noChangeArrowheads="1"/>
          </p:cNvSpPr>
          <p:nvPr/>
        </p:nvSpPr>
        <p:spPr bwMode="auto">
          <a:xfrm>
            <a:off x="5257800" y="3392488"/>
            <a:ext cx="69850" cy="212725"/>
          </a:xfrm>
          <a:prstGeom prst="rect">
            <a:avLst/>
          </a:prstGeom>
          <a:noFill/>
          <a:ln w="9525">
            <a:noFill/>
            <a:miter lim="800000"/>
            <a:headEnd/>
            <a:tailEnd/>
          </a:ln>
        </p:spPr>
        <p:txBody>
          <a:bodyPr wrap="none" lIns="0" tIns="0" rIns="0" bIns="0">
            <a:spAutoFit/>
          </a:bodyPr>
          <a:lstStyle/>
          <a:p>
            <a:pPr marL="1588" indent="-1588"/>
            <a:r>
              <a:rPr lang="en-US" sz="1400">
                <a:solidFill>
                  <a:srgbClr val="000000"/>
                </a:solidFill>
                <a:latin typeface="Myriad Pro"/>
              </a:rPr>
              <a:t>*</a:t>
            </a:r>
            <a:endParaRPr lang="en-US" sz="1400">
              <a:latin typeface="Tahoma" pitchFamily="34" charset="0"/>
            </a:endParaRPr>
          </a:p>
        </p:txBody>
      </p:sp>
      <p:sp>
        <p:nvSpPr>
          <p:cNvPr id="61" name="Line 69"/>
          <p:cNvSpPr>
            <a:spLocks noChangeShapeType="1"/>
          </p:cNvSpPr>
          <p:nvPr/>
        </p:nvSpPr>
        <p:spPr bwMode="auto">
          <a:xfrm flipV="1">
            <a:off x="6084888" y="2398713"/>
            <a:ext cx="133350" cy="444500"/>
          </a:xfrm>
          <a:prstGeom prst="line">
            <a:avLst/>
          </a:prstGeom>
          <a:noFill/>
          <a:ln w="7938">
            <a:solidFill>
              <a:srgbClr val="000000"/>
            </a:solidFill>
            <a:miter lim="800000"/>
            <a:headEnd/>
            <a:tailEnd/>
          </a:ln>
        </p:spPr>
        <p:txBody>
          <a:bodyPr/>
          <a:lstStyle/>
          <a:p>
            <a:endParaRPr lang="en-US"/>
          </a:p>
        </p:txBody>
      </p:sp>
      <p:sp>
        <p:nvSpPr>
          <p:cNvPr id="62" name="Freeform 70"/>
          <p:cNvSpPr>
            <a:spLocks/>
          </p:cNvSpPr>
          <p:nvPr/>
        </p:nvSpPr>
        <p:spPr bwMode="auto">
          <a:xfrm>
            <a:off x="5975350" y="1887538"/>
            <a:ext cx="920750" cy="536575"/>
          </a:xfrm>
          <a:custGeom>
            <a:avLst/>
            <a:gdLst>
              <a:gd name="T0" fmla="*/ 2147483647 w 163"/>
              <a:gd name="T1" fmla="*/ 2147483647 h 95"/>
              <a:gd name="T2" fmla="*/ 2147483647 w 163"/>
              <a:gd name="T3" fmla="*/ 2147483647 h 95"/>
              <a:gd name="T4" fmla="*/ 2147483647 w 163"/>
              <a:gd name="T5" fmla="*/ 2147483647 h 95"/>
              <a:gd name="T6" fmla="*/ 0 w 163"/>
              <a:gd name="T7" fmla="*/ 2147483647 h 95"/>
              <a:gd name="T8" fmla="*/ 0 w 163"/>
              <a:gd name="T9" fmla="*/ 2147483647 h 95"/>
              <a:gd name="T10" fmla="*/ 2147483647 w 163"/>
              <a:gd name="T11" fmla="*/ 0 h 95"/>
              <a:gd name="T12" fmla="*/ 2147483647 w 163"/>
              <a:gd name="T13" fmla="*/ 0 h 95"/>
              <a:gd name="T14" fmla="*/ 2147483647 w 163"/>
              <a:gd name="T15" fmla="*/ 2147483647 h 95"/>
              <a:gd name="T16" fmla="*/ 2147483647 w 163"/>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3"/>
              <a:gd name="T28" fmla="*/ 0 h 95"/>
              <a:gd name="T29" fmla="*/ 163 w 163"/>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3" h="95">
                <a:moveTo>
                  <a:pt x="163" y="79"/>
                </a:moveTo>
                <a:cubicBezTo>
                  <a:pt x="163" y="87"/>
                  <a:pt x="155" y="95"/>
                  <a:pt x="147" y="95"/>
                </a:cubicBezTo>
                <a:cubicBezTo>
                  <a:pt x="16" y="95"/>
                  <a:pt x="16" y="95"/>
                  <a:pt x="16" y="95"/>
                </a:cubicBezTo>
                <a:cubicBezTo>
                  <a:pt x="8" y="95"/>
                  <a:pt x="0" y="87"/>
                  <a:pt x="0" y="79"/>
                </a:cubicBezTo>
                <a:cubicBezTo>
                  <a:pt x="0" y="16"/>
                  <a:pt x="0" y="16"/>
                  <a:pt x="0" y="16"/>
                </a:cubicBezTo>
                <a:cubicBezTo>
                  <a:pt x="0" y="7"/>
                  <a:pt x="8" y="0"/>
                  <a:pt x="16" y="0"/>
                </a:cubicBezTo>
                <a:cubicBezTo>
                  <a:pt x="147" y="0"/>
                  <a:pt x="147" y="0"/>
                  <a:pt x="147" y="0"/>
                </a:cubicBezTo>
                <a:cubicBezTo>
                  <a:pt x="155" y="0"/>
                  <a:pt x="163" y="7"/>
                  <a:pt x="163" y="16"/>
                </a:cubicBezTo>
                <a:lnTo>
                  <a:pt x="163" y="79"/>
                </a:lnTo>
                <a:close/>
              </a:path>
            </a:pathLst>
          </a:custGeom>
          <a:solidFill>
            <a:srgbClr val="D7E2E0"/>
          </a:solidFill>
          <a:ln w="9525">
            <a:noFill/>
            <a:round/>
            <a:headEnd/>
            <a:tailEnd/>
          </a:ln>
        </p:spPr>
        <p:txBody>
          <a:bodyPr/>
          <a:lstStyle/>
          <a:p>
            <a:endParaRPr lang="en-US"/>
          </a:p>
        </p:txBody>
      </p:sp>
      <p:sp>
        <p:nvSpPr>
          <p:cNvPr id="63" name="Freeform 71"/>
          <p:cNvSpPr>
            <a:spLocks/>
          </p:cNvSpPr>
          <p:nvPr/>
        </p:nvSpPr>
        <p:spPr bwMode="auto">
          <a:xfrm>
            <a:off x="5348288" y="1739900"/>
            <a:ext cx="3402012" cy="2873375"/>
          </a:xfrm>
          <a:custGeom>
            <a:avLst/>
            <a:gdLst>
              <a:gd name="T0" fmla="*/ 2147483647 w 1691"/>
              <a:gd name="T1" fmla="*/ 2147483647 h 1247"/>
              <a:gd name="T2" fmla="*/ 0 w 1691"/>
              <a:gd name="T3" fmla="*/ 2147483647 h 1247"/>
              <a:gd name="T4" fmla="*/ 0 w 1691"/>
              <a:gd name="T5" fmla="*/ 0 h 1247"/>
              <a:gd name="T6" fmla="*/ 0 60000 65536"/>
              <a:gd name="T7" fmla="*/ 0 60000 65536"/>
              <a:gd name="T8" fmla="*/ 0 60000 65536"/>
              <a:gd name="T9" fmla="*/ 0 w 1691"/>
              <a:gd name="T10" fmla="*/ 0 h 1247"/>
              <a:gd name="T11" fmla="*/ 1691 w 1691"/>
              <a:gd name="T12" fmla="*/ 1247 h 1247"/>
            </a:gdLst>
            <a:ahLst/>
            <a:cxnLst>
              <a:cxn ang="T6">
                <a:pos x="T0" y="T1"/>
              </a:cxn>
              <a:cxn ang="T7">
                <a:pos x="T2" y="T3"/>
              </a:cxn>
              <a:cxn ang="T8">
                <a:pos x="T4" y="T5"/>
              </a:cxn>
            </a:cxnLst>
            <a:rect l="T9" t="T10" r="T11" b="T12"/>
            <a:pathLst>
              <a:path w="1691" h="1247">
                <a:moveTo>
                  <a:pt x="1691" y="1247"/>
                </a:moveTo>
                <a:lnTo>
                  <a:pt x="0" y="1247"/>
                </a:lnTo>
                <a:lnTo>
                  <a:pt x="0" y="0"/>
                </a:lnTo>
              </a:path>
            </a:pathLst>
          </a:custGeom>
          <a:noFill/>
          <a:ln w="7938">
            <a:solidFill>
              <a:srgbClr val="000000"/>
            </a:solidFill>
            <a:miter lim="800000"/>
            <a:headEnd/>
            <a:tailEnd/>
          </a:ln>
        </p:spPr>
        <p:txBody>
          <a:bodyPr/>
          <a:lstStyle/>
          <a:p>
            <a:endParaRPr lang="en-US"/>
          </a:p>
        </p:txBody>
      </p:sp>
      <p:sp>
        <p:nvSpPr>
          <p:cNvPr id="64" name="Freeform 72"/>
          <p:cNvSpPr>
            <a:spLocks/>
          </p:cNvSpPr>
          <p:nvPr/>
        </p:nvSpPr>
        <p:spPr bwMode="auto">
          <a:xfrm>
            <a:off x="668338" y="1739900"/>
            <a:ext cx="3443287" cy="2873375"/>
          </a:xfrm>
          <a:custGeom>
            <a:avLst/>
            <a:gdLst>
              <a:gd name="T0" fmla="*/ 2147483647 w 1712"/>
              <a:gd name="T1" fmla="*/ 2147483647 h 1247"/>
              <a:gd name="T2" fmla="*/ 0 w 1712"/>
              <a:gd name="T3" fmla="*/ 2147483647 h 1247"/>
              <a:gd name="T4" fmla="*/ 0 w 1712"/>
              <a:gd name="T5" fmla="*/ 0 h 1247"/>
              <a:gd name="T6" fmla="*/ 0 60000 65536"/>
              <a:gd name="T7" fmla="*/ 0 60000 65536"/>
              <a:gd name="T8" fmla="*/ 0 60000 65536"/>
              <a:gd name="T9" fmla="*/ 0 w 1712"/>
              <a:gd name="T10" fmla="*/ 0 h 1247"/>
              <a:gd name="T11" fmla="*/ 1712 w 1712"/>
              <a:gd name="T12" fmla="*/ 1247 h 1247"/>
            </a:gdLst>
            <a:ahLst/>
            <a:cxnLst>
              <a:cxn ang="T6">
                <a:pos x="T0" y="T1"/>
              </a:cxn>
              <a:cxn ang="T7">
                <a:pos x="T2" y="T3"/>
              </a:cxn>
              <a:cxn ang="T8">
                <a:pos x="T4" y="T5"/>
              </a:cxn>
            </a:cxnLst>
            <a:rect l="T9" t="T10" r="T11" b="T12"/>
            <a:pathLst>
              <a:path w="1712" h="1247">
                <a:moveTo>
                  <a:pt x="1712" y="1247"/>
                </a:moveTo>
                <a:lnTo>
                  <a:pt x="0" y="1247"/>
                </a:lnTo>
                <a:lnTo>
                  <a:pt x="0" y="0"/>
                </a:lnTo>
              </a:path>
            </a:pathLst>
          </a:custGeom>
          <a:noFill/>
          <a:ln w="7938">
            <a:solidFill>
              <a:srgbClr val="000000"/>
            </a:solidFill>
            <a:miter lim="800000"/>
            <a:headEnd/>
            <a:tailEnd/>
          </a:ln>
        </p:spPr>
        <p:txBody>
          <a:bodyPr/>
          <a:lstStyle/>
          <a:p>
            <a:endParaRPr lang="en-US"/>
          </a:p>
        </p:txBody>
      </p:sp>
      <p:sp>
        <p:nvSpPr>
          <p:cNvPr id="65" name="Oval 73"/>
          <p:cNvSpPr>
            <a:spLocks noChangeArrowheads="1"/>
          </p:cNvSpPr>
          <p:nvPr/>
        </p:nvSpPr>
        <p:spPr bwMode="auto">
          <a:xfrm>
            <a:off x="1690688" y="3797300"/>
            <a:ext cx="93662" cy="107950"/>
          </a:xfrm>
          <a:prstGeom prst="ellipse">
            <a:avLst/>
          </a:prstGeom>
          <a:solidFill>
            <a:srgbClr val="000000"/>
          </a:solidFill>
          <a:ln w="9525">
            <a:noFill/>
            <a:round/>
            <a:headEnd/>
            <a:tailEnd/>
          </a:ln>
        </p:spPr>
        <p:txBody>
          <a:bodyPr/>
          <a:lstStyle/>
          <a:p>
            <a:endParaRPr lang="en-US"/>
          </a:p>
        </p:txBody>
      </p:sp>
      <p:sp>
        <p:nvSpPr>
          <p:cNvPr id="66" name="Oval 74"/>
          <p:cNvSpPr>
            <a:spLocks noChangeArrowheads="1"/>
          </p:cNvSpPr>
          <p:nvPr/>
        </p:nvSpPr>
        <p:spPr bwMode="auto">
          <a:xfrm>
            <a:off x="1690688" y="3175000"/>
            <a:ext cx="93662" cy="111125"/>
          </a:xfrm>
          <a:prstGeom prst="ellipse">
            <a:avLst/>
          </a:prstGeom>
          <a:solidFill>
            <a:srgbClr val="000000"/>
          </a:solidFill>
          <a:ln w="9525">
            <a:noFill/>
            <a:round/>
            <a:headEnd/>
            <a:tailEnd/>
          </a:ln>
        </p:spPr>
        <p:txBody>
          <a:bodyPr/>
          <a:lstStyle/>
          <a:p>
            <a:endParaRPr lang="en-US"/>
          </a:p>
        </p:txBody>
      </p:sp>
      <p:sp>
        <p:nvSpPr>
          <p:cNvPr id="67" name="Oval 75"/>
          <p:cNvSpPr>
            <a:spLocks noChangeArrowheads="1"/>
          </p:cNvSpPr>
          <p:nvPr/>
        </p:nvSpPr>
        <p:spPr bwMode="auto">
          <a:xfrm>
            <a:off x="2749456" y="3504406"/>
            <a:ext cx="93663" cy="107950"/>
          </a:xfrm>
          <a:prstGeom prst="ellipse">
            <a:avLst/>
          </a:prstGeom>
          <a:solidFill>
            <a:srgbClr val="000000"/>
          </a:solidFill>
          <a:ln w="9525">
            <a:noFill/>
            <a:round/>
            <a:headEnd/>
            <a:tailEnd/>
          </a:ln>
        </p:spPr>
        <p:txBody>
          <a:bodyPr/>
          <a:lstStyle/>
          <a:p>
            <a:endParaRPr lang="en-US"/>
          </a:p>
        </p:txBody>
      </p:sp>
      <p:sp>
        <p:nvSpPr>
          <p:cNvPr id="68" name="Oval 76"/>
          <p:cNvSpPr>
            <a:spLocks noChangeArrowheads="1"/>
          </p:cNvSpPr>
          <p:nvPr/>
        </p:nvSpPr>
        <p:spPr bwMode="auto">
          <a:xfrm>
            <a:off x="1690688" y="2898775"/>
            <a:ext cx="93662" cy="107950"/>
          </a:xfrm>
          <a:prstGeom prst="ellipse">
            <a:avLst/>
          </a:prstGeom>
          <a:solidFill>
            <a:srgbClr val="000000"/>
          </a:solidFill>
          <a:ln w="9525">
            <a:noFill/>
            <a:round/>
            <a:headEnd/>
            <a:tailEnd/>
          </a:ln>
        </p:spPr>
        <p:txBody>
          <a:bodyPr/>
          <a:lstStyle/>
          <a:p>
            <a:endParaRPr lang="en-US"/>
          </a:p>
        </p:txBody>
      </p:sp>
      <p:sp>
        <p:nvSpPr>
          <p:cNvPr id="69" name="Oval 77"/>
          <p:cNvSpPr>
            <a:spLocks noChangeArrowheads="1"/>
          </p:cNvSpPr>
          <p:nvPr/>
        </p:nvSpPr>
        <p:spPr bwMode="auto">
          <a:xfrm>
            <a:off x="6389688" y="2898775"/>
            <a:ext cx="93662" cy="107950"/>
          </a:xfrm>
          <a:prstGeom prst="ellipse">
            <a:avLst/>
          </a:prstGeom>
          <a:solidFill>
            <a:srgbClr val="000000"/>
          </a:solidFill>
          <a:ln w="9525">
            <a:noFill/>
            <a:round/>
            <a:headEnd/>
            <a:tailEnd/>
          </a:ln>
        </p:spPr>
        <p:txBody>
          <a:bodyPr/>
          <a:lstStyle/>
          <a:p>
            <a:endParaRPr lang="en-US"/>
          </a:p>
        </p:txBody>
      </p:sp>
      <p:sp>
        <p:nvSpPr>
          <p:cNvPr id="70" name="Oval 78"/>
          <p:cNvSpPr>
            <a:spLocks noChangeArrowheads="1"/>
          </p:cNvSpPr>
          <p:nvPr/>
        </p:nvSpPr>
        <p:spPr bwMode="auto">
          <a:xfrm>
            <a:off x="7442200" y="3525838"/>
            <a:ext cx="96838" cy="107950"/>
          </a:xfrm>
          <a:prstGeom prst="ellipse">
            <a:avLst/>
          </a:prstGeom>
          <a:solidFill>
            <a:srgbClr val="000000"/>
          </a:solidFill>
          <a:ln w="9525">
            <a:noFill/>
            <a:round/>
            <a:headEnd/>
            <a:tailEnd/>
          </a:ln>
        </p:spPr>
        <p:txBody>
          <a:bodyPr/>
          <a:lstStyle/>
          <a:p>
            <a:endParaRPr lang="en-US"/>
          </a:p>
        </p:txBody>
      </p:sp>
      <p:sp>
        <p:nvSpPr>
          <p:cNvPr id="71" name="Rectangle 79"/>
          <p:cNvSpPr>
            <a:spLocks noChangeArrowheads="1"/>
          </p:cNvSpPr>
          <p:nvPr/>
        </p:nvSpPr>
        <p:spPr bwMode="auto">
          <a:xfrm>
            <a:off x="5184775" y="3536950"/>
            <a:ext cx="128588" cy="212725"/>
          </a:xfrm>
          <a:prstGeom prst="rect">
            <a:avLst/>
          </a:prstGeom>
          <a:noFill/>
          <a:ln w="9525">
            <a:noFill/>
            <a:miter lim="800000"/>
            <a:headEnd/>
            <a:tailEnd/>
          </a:ln>
        </p:spPr>
        <p:txBody>
          <a:bodyPr wrap="none" lIns="0" tIns="0" rIns="0" bIns="0">
            <a:spAutoFit/>
          </a:bodyPr>
          <a:lstStyle/>
          <a:p>
            <a:pPr marL="1588" indent="-1588"/>
            <a:r>
              <a:rPr lang="en-US" sz="1400" i="1">
                <a:solidFill>
                  <a:srgbClr val="000000"/>
                </a:solidFill>
                <a:latin typeface="Myriad Pro"/>
              </a:rPr>
              <a:t>R</a:t>
            </a:r>
            <a:endParaRPr lang="en-US" sz="1400" i="1">
              <a:latin typeface="Tahoma" pitchFamily="34" charset="0"/>
            </a:endParaRPr>
          </a:p>
        </p:txBody>
      </p:sp>
      <p:cxnSp>
        <p:nvCxnSpPr>
          <p:cNvPr id="72" name="Straight Connector 86"/>
          <p:cNvCxnSpPr>
            <a:cxnSpLocks noChangeShapeType="1"/>
          </p:cNvCxnSpPr>
          <p:nvPr/>
        </p:nvCxnSpPr>
        <p:spPr bwMode="auto">
          <a:xfrm>
            <a:off x="1741488" y="3038475"/>
            <a:ext cx="0" cy="1549400"/>
          </a:xfrm>
          <a:prstGeom prst="line">
            <a:avLst/>
          </a:prstGeom>
          <a:noFill/>
          <a:ln w="15875">
            <a:solidFill>
              <a:srgbClr val="808080"/>
            </a:solidFill>
            <a:prstDash val="sysDot"/>
            <a:round/>
            <a:headEnd/>
            <a:tailEnd type="none" w="med" len="lg"/>
          </a:ln>
        </p:spPr>
      </p:cxnSp>
      <p:cxnSp>
        <p:nvCxnSpPr>
          <p:cNvPr id="73" name="Straight Connector 86"/>
          <p:cNvCxnSpPr>
            <a:cxnSpLocks noChangeShapeType="1"/>
          </p:cNvCxnSpPr>
          <p:nvPr/>
        </p:nvCxnSpPr>
        <p:spPr bwMode="auto">
          <a:xfrm>
            <a:off x="690563" y="3232150"/>
            <a:ext cx="1011237" cy="0"/>
          </a:xfrm>
          <a:prstGeom prst="line">
            <a:avLst/>
          </a:prstGeom>
          <a:noFill/>
          <a:ln w="15875">
            <a:solidFill>
              <a:srgbClr val="808080"/>
            </a:solidFill>
            <a:prstDash val="sysDot"/>
            <a:round/>
            <a:headEnd/>
            <a:tailEnd type="none" w="med" len="lg"/>
          </a:ln>
        </p:spPr>
      </p:cxnSp>
      <p:cxnSp>
        <p:nvCxnSpPr>
          <p:cNvPr id="74" name="Straight Connector 86"/>
          <p:cNvCxnSpPr>
            <a:cxnSpLocks noChangeShapeType="1"/>
          </p:cNvCxnSpPr>
          <p:nvPr/>
        </p:nvCxnSpPr>
        <p:spPr bwMode="auto">
          <a:xfrm>
            <a:off x="687388" y="2944813"/>
            <a:ext cx="1011237" cy="0"/>
          </a:xfrm>
          <a:prstGeom prst="line">
            <a:avLst/>
          </a:prstGeom>
          <a:noFill/>
          <a:ln w="15875">
            <a:solidFill>
              <a:srgbClr val="808080"/>
            </a:solidFill>
            <a:prstDash val="sysDot"/>
            <a:round/>
            <a:headEnd/>
            <a:tailEnd type="none" w="med" len="lg"/>
          </a:ln>
        </p:spPr>
      </p:cxnSp>
      <p:cxnSp>
        <p:nvCxnSpPr>
          <p:cNvPr id="75" name="Straight Connector 86"/>
          <p:cNvCxnSpPr>
            <a:cxnSpLocks noChangeShapeType="1"/>
            <a:endCxn id="67" idx="2"/>
          </p:cNvCxnSpPr>
          <p:nvPr/>
        </p:nvCxnSpPr>
        <p:spPr bwMode="auto">
          <a:xfrm flipV="1">
            <a:off x="714375" y="3558381"/>
            <a:ext cx="2035081" cy="9573"/>
          </a:xfrm>
          <a:prstGeom prst="line">
            <a:avLst/>
          </a:prstGeom>
          <a:noFill/>
          <a:ln w="15875">
            <a:solidFill>
              <a:srgbClr val="808080"/>
            </a:solidFill>
            <a:prstDash val="sysDot"/>
            <a:round/>
            <a:headEnd/>
            <a:tailEnd type="none" w="med" len="lg"/>
          </a:ln>
        </p:spPr>
      </p:cxnSp>
      <p:cxnSp>
        <p:nvCxnSpPr>
          <p:cNvPr id="76" name="Straight Connector 86"/>
          <p:cNvCxnSpPr>
            <a:cxnSpLocks noChangeShapeType="1"/>
          </p:cNvCxnSpPr>
          <p:nvPr/>
        </p:nvCxnSpPr>
        <p:spPr bwMode="auto">
          <a:xfrm>
            <a:off x="2807804" y="3554413"/>
            <a:ext cx="0" cy="1090612"/>
          </a:xfrm>
          <a:prstGeom prst="line">
            <a:avLst/>
          </a:prstGeom>
          <a:noFill/>
          <a:ln w="15875">
            <a:solidFill>
              <a:srgbClr val="808080"/>
            </a:solidFill>
            <a:prstDash val="sysDot"/>
            <a:round/>
            <a:headEnd/>
            <a:tailEnd type="none" w="med" len="lg"/>
          </a:ln>
        </p:spPr>
      </p:cxnSp>
      <p:cxnSp>
        <p:nvCxnSpPr>
          <p:cNvPr id="77" name="Straight Connector 86"/>
          <p:cNvCxnSpPr>
            <a:cxnSpLocks noChangeShapeType="1"/>
          </p:cNvCxnSpPr>
          <p:nvPr/>
        </p:nvCxnSpPr>
        <p:spPr bwMode="auto">
          <a:xfrm>
            <a:off x="5375275" y="2960688"/>
            <a:ext cx="1011238" cy="0"/>
          </a:xfrm>
          <a:prstGeom prst="line">
            <a:avLst/>
          </a:prstGeom>
          <a:noFill/>
          <a:ln w="15875">
            <a:solidFill>
              <a:srgbClr val="808080"/>
            </a:solidFill>
            <a:prstDash val="sysDot"/>
            <a:round/>
            <a:headEnd/>
            <a:tailEnd type="none" w="med" len="lg"/>
          </a:ln>
        </p:spPr>
      </p:cxnSp>
      <p:cxnSp>
        <p:nvCxnSpPr>
          <p:cNvPr id="78" name="Straight Connector 86"/>
          <p:cNvCxnSpPr>
            <a:cxnSpLocks noChangeShapeType="1"/>
          </p:cNvCxnSpPr>
          <p:nvPr/>
        </p:nvCxnSpPr>
        <p:spPr bwMode="auto">
          <a:xfrm>
            <a:off x="5351463" y="3576638"/>
            <a:ext cx="2125662" cy="0"/>
          </a:xfrm>
          <a:prstGeom prst="line">
            <a:avLst/>
          </a:prstGeom>
          <a:noFill/>
          <a:ln w="15875">
            <a:solidFill>
              <a:srgbClr val="808080"/>
            </a:solidFill>
            <a:prstDash val="sysDot"/>
            <a:round/>
            <a:headEnd/>
            <a:tailEnd type="none" w="med" len="lg"/>
          </a:ln>
        </p:spPr>
      </p:cxnSp>
      <p:cxnSp>
        <p:nvCxnSpPr>
          <p:cNvPr id="79" name="Straight Connector 86"/>
          <p:cNvCxnSpPr>
            <a:cxnSpLocks noChangeShapeType="1"/>
          </p:cNvCxnSpPr>
          <p:nvPr/>
        </p:nvCxnSpPr>
        <p:spPr bwMode="auto">
          <a:xfrm>
            <a:off x="6429375" y="3006725"/>
            <a:ext cx="0" cy="1581150"/>
          </a:xfrm>
          <a:prstGeom prst="line">
            <a:avLst/>
          </a:prstGeom>
          <a:noFill/>
          <a:ln w="15875">
            <a:solidFill>
              <a:srgbClr val="808080"/>
            </a:solidFill>
            <a:prstDash val="sysDot"/>
            <a:round/>
            <a:headEnd/>
            <a:tailEnd type="none" w="med" len="lg"/>
          </a:ln>
        </p:spPr>
      </p:cxnSp>
      <p:cxnSp>
        <p:nvCxnSpPr>
          <p:cNvPr id="80" name="Straight Connector 86"/>
          <p:cNvCxnSpPr>
            <a:cxnSpLocks noChangeShapeType="1"/>
          </p:cNvCxnSpPr>
          <p:nvPr/>
        </p:nvCxnSpPr>
        <p:spPr bwMode="auto">
          <a:xfrm>
            <a:off x="7491413" y="3638550"/>
            <a:ext cx="0" cy="933450"/>
          </a:xfrm>
          <a:prstGeom prst="line">
            <a:avLst/>
          </a:prstGeom>
          <a:noFill/>
          <a:ln w="15875">
            <a:solidFill>
              <a:srgbClr val="808080"/>
            </a:solidFill>
            <a:prstDash val="sysDot"/>
            <a:round/>
            <a:headEnd/>
            <a:tailEnd type="none" w="med" len="lg"/>
          </a:ln>
        </p:spPr>
      </p:cxnSp>
      <p:sp>
        <p:nvSpPr>
          <p:cNvPr id="81" name="Rectangle 89"/>
          <p:cNvSpPr>
            <a:spLocks noChangeArrowheads="1"/>
          </p:cNvSpPr>
          <p:nvPr/>
        </p:nvSpPr>
        <p:spPr bwMode="auto">
          <a:xfrm>
            <a:off x="4291013" y="1711325"/>
            <a:ext cx="965200" cy="6461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 marginal revenue</a:t>
            </a:r>
            <a:endParaRPr lang="en-US" sz="1400">
              <a:latin typeface="Tahoma" pitchFamily="34" charset="0"/>
            </a:endParaRPr>
          </a:p>
        </p:txBody>
      </p:sp>
      <p:sp>
        <p:nvSpPr>
          <p:cNvPr id="82" name="Rectangle 90"/>
          <p:cNvSpPr>
            <a:spLocks noChangeArrowheads="1"/>
          </p:cNvSpPr>
          <p:nvPr/>
        </p:nvSpPr>
        <p:spPr bwMode="auto">
          <a:xfrm>
            <a:off x="142875" y="873125"/>
            <a:ext cx="792163" cy="850900"/>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Price, cost, marginal revenue</a:t>
            </a:r>
            <a:endParaRPr lang="en-US" sz="1400">
              <a:latin typeface="Tahoma" pitchFamily="34" charset="0"/>
            </a:endParaRPr>
          </a:p>
        </p:txBody>
      </p:sp>
      <p:sp>
        <p:nvSpPr>
          <p:cNvPr id="83" name="Rectangle 91"/>
          <p:cNvSpPr>
            <a:spLocks noChangeArrowheads="1"/>
          </p:cNvSpPr>
          <p:nvPr/>
        </p:nvSpPr>
        <p:spPr bwMode="auto">
          <a:xfrm>
            <a:off x="2208213" y="2625725"/>
            <a:ext cx="419100" cy="215900"/>
          </a:xfrm>
          <a:prstGeom prst="rect">
            <a:avLst/>
          </a:prstGeom>
          <a:noFill/>
          <a:ln w="9525">
            <a:noFill/>
            <a:miter lim="800000"/>
            <a:headEnd/>
            <a:tailEnd/>
          </a:ln>
        </p:spPr>
        <p:txBody>
          <a:bodyPr wrap="none" lIns="0" tIns="0" rIns="0" bIns="0">
            <a:spAutoFit/>
          </a:bodyPr>
          <a:lstStyle/>
          <a:p>
            <a:pPr marL="1588" indent="-1588" algn="ctr"/>
            <a:r>
              <a:rPr lang="en-US" sz="1400">
                <a:solidFill>
                  <a:srgbClr val="000000"/>
                </a:solidFill>
                <a:latin typeface="Myriad Pro"/>
              </a:rPr>
              <a:t>Profit</a:t>
            </a:r>
            <a:endParaRPr lang="en-US" sz="1400">
              <a:latin typeface="Tahoma" pitchFamily="34" charset="0"/>
            </a:endParaRPr>
          </a:p>
        </p:txBody>
      </p:sp>
      <p:sp>
        <p:nvSpPr>
          <p:cNvPr id="84" name="Rectangle 92"/>
          <p:cNvSpPr>
            <a:spLocks noChangeArrowheads="1"/>
          </p:cNvSpPr>
          <p:nvPr/>
        </p:nvSpPr>
        <p:spPr bwMode="auto">
          <a:xfrm>
            <a:off x="6034088" y="1943100"/>
            <a:ext cx="835025" cy="430213"/>
          </a:xfrm>
          <a:prstGeom prst="rect">
            <a:avLst/>
          </a:prstGeom>
          <a:noFill/>
          <a:ln w="9525">
            <a:noFill/>
            <a:miter lim="800000"/>
            <a:headEnd/>
            <a:tailEnd/>
          </a:ln>
        </p:spPr>
        <p:txBody>
          <a:bodyPr lIns="0" tIns="0" rIns="0" bIns="0">
            <a:spAutoFit/>
          </a:bodyPr>
          <a:lstStyle/>
          <a:p>
            <a:pPr marL="1588" indent="-1588" algn="ctr"/>
            <a:r>
              <a:rPr lang="en-US" sz="1400">
                <a:solidFill>
                  <a:srgbClr val="000000"/>
                </a:solidFill>
                <a:latin typeface="Myriad Pro"/>
              </a:rPr>
              <a:t>Consumer surplus</a:t>
            </a:r>
            <a:endParaRPr lang="en-US" sz="1400">
              <a:latin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4"/>
                                        </p:tgtEl>
                                        <p:attrNameLst>
                                          <p:attrName>style.visibility</p:attrName>
                                        </p:attrNameLst>
                                      </p:cBhvr>
                                      <p:to>
                                        <p:strVal val="visible"/>
                                      </p:to>
                                    </p:set>
                                  </p:childTnLst>
                                </p:cTn>
                              </p:par>
                              <p:par>
                                <p:cTn id="31" presetID="22" presetClass="entr" presetSubtype="8"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wipe(left)">
                                      <p:cBhvr>
                                        <p:cTn id="33" dur="500"/>
                                        <p:tgtEl>
                                          <p:spTgt spid="20"/>
                                        </p:tgtEl>
                                      </p:cBhvr>
                                    </p:animEffect>
                                  </p:childTnLst>
                                </p:cTn>
                              </p:par>
                              <p:par>
                                <p:cTn id="34" presetID="1" presetClass="entr" presetSubtype="0" fill="hold" grpId="0" nodeType="withEffect">
                                  <p:stCondLst>
                                    <p:cond delay="0"/>
                                  </p:stCondLst>
                                  <p:childTnLst>
                                    <p:set>
                                      <p:cBhvr>
                                        <p:cTn id="35" dur="1" fill="hold">
                                          <p:stCondLst>
                                            <p:cond delay="0"/>
                                          </p:stCondLst>
                                        </p:cTn>
                                        <p:tgtEl>
                                          <p:spTgt spid="27"/>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29"/>
                                        </p:tgtEl>
                                        <p:attrNameLst>
                                          <p:attrName>style.visibility</p:attrName>
                                        </p:attrNameLst>
                                      </p:cBhvr>
                                      <p:to>
                                        <p:strVal val="visible"/>
                                      </p:to>
                                    </p:set>
                                  </p:childTnLst>
                                </p:cTn>
                              </p:par>
                              <p:par>
                                <p:cTn id="38" presetID="22" presetClass="entr" presetSubtype="8"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left)">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5"/>
                                        </p:tgtEl>
                                        <p:attrNameLst>
                                          <p:attrName>style.visibility</p:attrName>
                                        </p:attrNameLst>
                                      </p:cBhvr>
                                      <p:to>
                                        <p:strVal val="visible"/>
                                      </p:to>
                                    </p:set>
                                  </p:childTnLst>
                                </p:cTn>
                              </p:par>
                              <p:par>
                                <p:cTn id="45" presetID="22" presetClass="entr" presetSubtype="8" fill="hold" grpId="0" nodeType="with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wipe(left)">
                                      <p:cBhvr>
                                        <p:cTn id="47" dur="500"/>
                                        <p:tgtEl>
                                          <p:spTgt spid="9"/>
                                        </p:tgtEl>
                                      </p:cBhvr>
                                    </p:animEffect>
                                  </p:childTnLst>
                                </p:cTn>
                              </p:par>
                              <p:par>
                                <p:cTn id="48" presetID="1"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30"/>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31"/>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32"/>
                                        </p:tgtEl>
                                        <p:attrNameLst>
                                          <p:attrName>style.visibility</p:attrName>
                                        </p:attrNameLst>
                                      </p:cBhvr>
                                      <p:to>
                                        <p:strVal val="visible"/>
                                      </p:to>
                                    </p:set>
                                  </p:childTnLst>
                                </p:cTn>
                              </p:par>
                              <p:par>
                                <p:cTn id="56" presetID="22" presetClass="entr" presetSubtype="8"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ipe(left)">
                                      <p:cBhvr>
                                        <p:cTn id="58" dur="500"/>
                                        <p:tgtEl>
                                          <p:spTgt spid="19"/>
                                        </p:tgtEl>
                                      </p:cBhvr>
                                    </p:animEffect>
                                  </p:childTnLst>
                                </p:cTn>
                              </p:par>
                              <p:par>
                                <p:cTn id="59" presetID="1" presetClass="entr" presetSubtype="0" fill="hold" grpId="0" nodeType="withEffect">
                                  <p:stCondLst>
                                    <p:cond delay="0"/>
                                  </p:stCondLst>
                                  <p:childTnLst>
                                    <p:set>
                                      <p:cBhvr>
                                        <p:cTn id="60" dur="1" fill="hold">
                                          <p:stCondLst>
                                            <p:cond delay="0"/>
                                          </p:stCondLst>
                                        </p:cTn>
                                        <p:tgtEl>
                                          <p:spTgt spid="6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7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73"/>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7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7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7"/>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4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6"/>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3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37"/>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0"/>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4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50"/>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59"/>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44"/>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4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46"/>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47"/>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48"/>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57"/>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4"/>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6"/>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60"/>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71"/>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63"/>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81"/>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7"/>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15"/>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3"/>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51"/>
                                        </p:tgtEl>
                                        <p:attrNameLst>
                                          <p:attrName>style.visibility</p:attrName>
                                        </p:attrNameLst>
                                      </p:cBhvr>
                                      <p:to>
                                        <p:strVal val="visible"/>
                                      </p:to>
                                    </p:set>
                                  </p:childTnLst>
                                </p:cTn>
                              </p:par>
                              <p:par>
                                <p:cTn id="133" presetID="22" presetClass="entr" presetSubtype="8" fill="hold" grpId="0" nodeType="withEffect">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wipe(left)">
                                      <p:cBhvr>
                                        <p:cTn id="135" dur="500"/>
                                        <p:tgtEl>
                                          <p:spTgt spid="41"/>
                                        </p:tgtEl>
                                      </p:cBhvr>
                                    </p:animEffect>
                                  </p:childTnLst>
                                </p:cTn>
                              </p:par>
                              <p:par>
                                <p:cTn id="136" presetID="1" presetClass="entr" presetSubtype="0" fill="hold" grpId="0" nodeType="withEffect">
                                  <p:stCondLst>
                                    <p:cond delay="0"/>
                                  </p:stCondLst>
                                  <p:childTnLst>
                                    <p:set>
                                      <p:cBhvr>
                                        <p:cTn id="137" dur="1" fill="hold">
                                          <p:stCondLst>
                                            <p:cond delay="0"/>
                                          </p:stCondLst>
                                        </p:cTn>
                                        <p:tgtEl>
                                          <p:spTgt spid="53"/>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nodeType="clickEffect">
                                  <p:stCondLst>
                                    <p:cond delay="0"/>
                                  </p:stCondLst>
                                  <p:childTnLst>
                                    <p:set>
                                      <p:cBhvr>
                                        <p:cTn id="141" dur="1" fill="hold">
                                          <p:stCondLst>
                                            <p:cond delay="0"/>
                                          </p:stCondLst>
                                        </p:cTn>
                                        <p:tgtEl>
                                          <p:spTgt spid="79"/>
                                        </p:tgtEl>
                                        <p:attrNameLst>
                                          <p:attrName>style.visibility</p:attrName>
                                        </p:attrNameLst>
                                      </p:cBhvr>
                                      <p:to>
                                        <p:strVal val="visible"/>
                                      </p:to>
                                    </p:set>
                                  </p:childTnLst>
                                </p:cTn>
                              </p:par>
                              <p:par>
                                <p:cTn id="142" presetID="1" presetClass="entr" presetSubtype="0" fill="hold" nodeType="withEffect">
                                  <p:stCondLst>
                                    <p:cond delay="0"/>
                                  </p:stCondLst>
                                  <p:childTnLst>
                                    <p:set>
                                      <p:cBhvr>
                                        <p:cTn id="143" dur="1" fill="hold">
                                          <p:stCondLst>
                                            <p:cond delay="0"/>
                                          </p:stCondLst>
                                        </p:cTn>
                                        <p:tgtEl>
                                          <p:spTgt spid="77"/>
                                        </p:tgtEl>
                                        <p:attrNameLst>
                                          <p:attrName>style.visibility</p:attrName>
                                        </p:attrNameLst>
                                      </p:cBhvr>
                                      <p:to>
                                        <p:strVal val="visible"/>
                                      </p:to>
                                    </p:set>
                                  </p:childTnLst>
                                </p:cTn>
                              </p:par>
                              <p:par>
                                <p:cTn id="144" presetID="1" presetClass="entr" presetSubtype="0" fill="hold" grpId="0" nodeType="withEffect">
                                  <p:stCondLst>
                                    <p:cond delay="0"/>
                                  </p:stCondLst>
                                  <p:childTnLst>
                                    <p:set>
                                      <p:cBhvr>
                                        <p:cTn id="145" dur="1" fill="hold">
                                          <p:stCondLst>
                                            <p:cond delay="0"/>
                                          </p:stCondLst>
                                        </p:cTn>
                                        <p:tgtEl>
                                          <p:spTgt spid="58"/>
                                        </p:tgtEl>
                                        <p:attrNameLst>
                                          <p:attrName>style.visibility</p:attrName>
                                        </p:attrNameLst>
                                      </p:cBhvr>
                                      <p:to>
                                        <p:strVal val="visible"/>
                                      </p:to>
                                    </p:set>
                                  </p:childTnLst>
                                </p:cTn>
                              </p:par>
                              <p:par>
                                <p:cTn id="146" presetID="1" presetClass="entr" presetSubtype="0" fill="hold" grpId="0" nodeType="withEffect">
                                  <p:stCondLst>
                                    <p:cond delay="0"/>
                                  </p:stCondLst>
                                  <p:childTnLst>
                                    <p:set>
                                      <p:cBhvr>
                                        <p:cTn id="147" dur="1" fill="hold">
                                          <p:stCondLst>
                                            <p:cond delay="0"/>
                                          </p:stCondLst>
                                        </p:cTn>
                                        <p:tgtEl>
                                          <p:spTgt spid="52"/>
                                        </p:tgtEl>
                                        <p:attrNameLst>
                                          <p:attrName>style.visibility</p:attrName>
                                        </p:attrNameLst>
                                      </p:cBhvr>
                                      <p:to>
                                        <p:strVal val="visible"/>
                                      </p:to>
                                    </p:set>
                                  </p:childTnLst>
                                </p:cTn>
                              </p:par>
                              <p:par>
                                <p:cTn id="148" presetID="1" presetClass="entr" presetSubtype="0" fill="hold" grpId="0" nodeType="withEffect">
                                  <p:stCondLst>
                                    <p:cond delay="0"/>
                                  </p:stCondLst>
                                  <p:childTnLst>
                                    <p:set>
                                      <p:cBhvr>
                                        <p:cTn id="149" dur="1" fill="hold">
                                          <p:stCondLst>
                                            <p:cond delay="0"/>
                                          </p:stCondLst>
                                        </p:cTn>
                                        <p:tgtEl>
                                          <p:spTgt spid="54"/>
                                        </p:tgtEl>
                                        <p:attrNameLst>
                                          <p:attrName>style.visibility</p:attrName>
                                        </p:attrNameLst>
                                      </p:cBhvr>
                                      <p:to>
                                        <p:strVal val="visible"/>
                                      </p:to>
                                    </p:set>
                                  </p:childTnLst>
                                </p:cTn>
                              </p:par>
                              <p:par>
                                <p:cTn id="150" presetID="1" presetClass="entr" presetSubtype="0" fill="hold" grpId="0" nodeType="withEffect">
                                  <p:stCondLst>
                                    <p:cond delay="0"/>
                                  </p:stCondLst>
                                  <p:childTnLst>
                                    <p:set>
                                      <p:cBhvr>
                                        <p:cTn id="151" dur="1" fill="hold">
                                          <p:stCondLst>
                                            <p:cond delay="0"/>
                                          </p:stCondLst>
                                        </p:cTn>
                                        <p:tgtEl>
                                          <p:spTgt spid="55"/>
                                        </p:tgtEl>
                                        <p:attrNameLst>
                                          <p:attrName>style.visibility</p:attrName>
                                        </p:attrNameLst>
                                      </p:cBhvr>
                                      <p:to>
                                        <p:strVal val="visible"/>
                                      </p:to>
                                    </p:set>
                                  </p:childTnLst>
                                </p:cTn>
                              </p:par>
                              <p:par>
                                <p:cTn id="152" presetID="22" presetClass="entr" presetSubtype="8" fill="hold" grpId="0" nodeType="withEffect">
                                  <p:stCondLst>
                                    <p:cond delay="0"/>
                                  </p:stCondLst>
                                  <p:childTnLst>
                                    <p:set>
                                      <p:cBhvr>
                                        <p:cTn id="153" dur="1" fill="hold">
                                          <p:stCondLst>
                                            <p:cond delay="0"/>
                                          </p:stCondLst>
                                        </p:cTn>
                                        <p:tgtEl>
                                          <p:spTgt spid="7"/>
                                        </p:tgtEl>
                                        <p:attrNameLst>
                                          <p:attrName>style.visibility</p:attrName>
                                        </p:attrNameLst>
                                      </p:cBhvr>
                                      <p:to>
                                        <p:strVal val="visible"/>
                                      </p:to>
                                    </p:set>
                                    <p:animEffect transition="in" filter="wipe(left)">
                                      <p:cBhvr>
                                        <p:cTn id="154" dur="500"/>
                                        <p:tgtEl>
                                          <p:spTgt spid="7"/>
                                        </p:tgtEl>
                                      </p:cBhvr>
                                    </p:animEffect>
                                  </p:childTnLst>
                                </p:cTn>
                              </p:par>
                              <p:par>
                                <p:cTn id="155" presetID="22" presetClass="entr" presetSubtype="8" fill="hold" grpId="0" nodeType="withEffect">
                                  <p:stCondLst>
                                    <p:cond delay="0"/>
                                  </p:stCondLst>
                                  <p:childTnLst>
                                    <p:set>
                                      <p:cBhvr>
                                        <p:cTn id="156" dur="1" fill="hold">
                                          <p:stCondLst>
                                            <p:cond delay="0"/>
                                          </p:stCondLst>
                                        </p:cTn>
                                        <p:tgtEl>
                                          <p:spTgt spid="42"/>
                                        </p:tgtEl>
                                        <p:attrNameLst>
                                          <p:attrName>style.visibility</p:attrName>
                                        </p:attrNameLst>
                                      </p:cBhvr>
                                      <p:to>
                                        <p:strVal val="visible"/>
                                      </p:to>
                                    </p:set>
                                    <p:animEffect transition="in" filter="wipe(left)">
                                      <p:cBhvr>
                                        <p:cTn id="157" dur="500"/>
                                        <p:tgtEl>
                                          <p:spTgt spid="42"/>
                                        </p:tgtEl>
                                      </p:cBhvr>
                                    </p:animEffect>
                                  </p:childTnLst>
                                </p:cTn>
                              </p:par>
                              <p:par>
                                <p:cTn id="158" presetID="1" presetClass="entr" presetSubtype="0" fill="hold" grpId="0" nodeType="withEffect">
                                  <p:stCondLst>
                                    <p:cond delay="0"/>
                                  </p:stCondLst>
                                  <p:childTnLst>
                                    <p:set>
                                      <p:cBhvr>
                                        <p:cTn id="159" dur="1" fill="hold">
                                          <p:stCondLst>
                                            <p:cond delay="0"/>
                                          </p:stCondLst>
                                        </p:cTn>
                                        <p:tgtEl>
                                          <p:spTgt spid="70"/>
                                        </p:tgtEl>
                                        <p:attrNameLst>
                                          <p:attrName>style.visibility</p:attrName>
                                        </p:attrNameLst>
                                      </p:cBhvr>
                                      <p:to>
                                        <p:strVal val="visible"/>
                                      </p:to>
                                    </p:set>
                                  </p:childTnLst>
                                </p:cTn>
                              </p:par>
                              <p:par>
                                <p:cTn id="160" presetID="1" presetClass="entr" presetSubtype="0" fill="hold" nodeType="withEffect">
                                  <p:stCondLst>
                                    <p:cond delay="0"/>
                                  </p:stCondLst>
                                  <p:childTnLst>
                                    <p:set>
                                      <p:cBhvr>
                                        <p:cTn id="161" dur="1" fill="hold">
                                          <p:stCondLst>
                                            <p:cond delay="0"/>
                                          </p:stCondLst>
                                        </p:cTn>
                                        <p:tgtEl>
                                          <p:spTgt spid="80"/>
                                        </p:tgtEl>
                                        <p:attrNameLst>
                                          <p:attrName>style.visibility</p:attrName>
                                        </p:attrNameLst>
                                      </p:cBhvr>
                                      <p:to>
                                        <p:strVal val="visible"/>
                                      </p:to>
                                    </p:set>
                                  </p:childTnLst>
                                </p:cTn>
                              </p:par>
                              <p:par>
                                <p:cTn id="162" presetID="1" presetClass="entr" presetSubtype="0" fill="hold" grpId="0" nodeType="withEffect">
                                  <p:stCondLst>
                                    <p:cond delay="0"/>
                                  </p:stCondLst>
                                  <p:childTnLst>
                                    <p:set>
                                      <p:cBhvr>
                                        <p:cTn id="163" dur="1" fill="hold">
                                          <p:stCondLst>
                                            <p:cond delay="0"/>
                                          </p:stCondLst>
                                        </p:cTn>
                                        <p:tgtEl>
                                          <p:spTgt spid="56"/>
                                        </p:tgtEl>
                                        <p:attrNameLst>
                                          <p:attrName>style.visibility</p:attrName>
                                        </p:attrNameLst>
                                      </p:cBhvr>
                                      <p:to>
                                        <p:strVal val="visible"/>
                                      </p:to>
                                    </p:set>
                                  </p:childTnLst>
                                </p:cTn>
                              </p:par>
                              <p:par>
                                <p:cTn id="164" presetID="1" presetClass="entr" presetSubtype="0" fill="hold" nodeType="withEffect">
                                  <p:stCondLst>
                                    <p:cond delay="0"/>
                                  </p:stCondLst>
                                  <p:childTnLst>
                                    <p:set>
                                      <p:cBhvr>
                                        <p:cTn id="165" dur="1" fill="hold">
                                          <p:stCondLst>
                                            <p:cond delay="0"/>
                                          </p:stCondLst>
                                        </p:cTn>
                                        <p:tgtEl>
                                          <p:spTgt spid="78"/>
                                        </p:tgtEl>
                                        <p:attrNameLst>
                                          <p:attrName>style.visibility</p:attrName>
                                        </p:attrNameLst>
                                      </p:cBhvr>
                                      <p:to>
                                        <p:strVal val="visible"/>
                                      </p:to>
                                    </p:set>
                                  </p:childTnLst>
                                </p:cTn>
                              </p:par>
                              <p:par>
                                <p:cTn id="166" presetID="1" presetClass="entr" presetSubtype="0" fill="hold" grpId="0" nodeType="withEffect">
                                  <p:stCondLst>
                                    <p:cond delay="0"/>
                                  </p:stCondLst>
                                  <p:childTnLst>
                                    <p:set>
                                      <p:cBhvr>
                                        <p:cTn id="167" dur="1" fill="hold">
                                          <p:stCondLst>
                                            <p:cond delay="0"/>
                                          </p:stCondLst>
                                        </p:cTn>
                                        <p:tgtEl>
                                          <p:spTgt spid="69"/>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1" presetClass="entr" presetSubtype="0" fill="hold" grpId="0" nodeType="clickEffect">
                                  <p:stCondLst>
                                    <p:cond delay="0"/>
                                  </p:stCondLst>
                                  <p:childTnLst>
                                    <p:set>
                                      <p:cBhvr>
                                        <p:cTn id="171" dur="1" fill="hold">
                                          <p:stCondLst>
                                            <p:cond delay="0"/>
                                          </p:stCondLst>
                                        </p:cTn>
                                        <p:tgtEl>
                                          <p:spTgt spid="8"/>
                                        </p:tgtEl>
                                        <p:attrNameLst>
                                          <p:attrName>style.visibility</p:attrName>
                                        </p:attrNameLst>
                                      </p:cBhvr>
                                      <p:to>
                                        <p:strVal val="visible"/>
                                      </p:to>
                                    </p:set>
                                  </p:childTnLst>
                                </p:cTn>
                              </p:par>
                              <p:par>
                                <p:cTn id="172" presetID="1" presetClass="entr" presetSubtype="0" fill="hold" grpId="0" nodeType="withEffect">
                                  <p:stCondLst>
                                    <p:cond delay="0"/>
                                  </p:stCondLst>
                                  <p:childTnLst>
                                    <p:set>
                                      <p:cBhvr>
                                        <p:cTn id="173" dur="1" fill="hold">
                                          <p:stCondLst>
                                            <p:cond delay="0"/>
                                          </p:stCondLst>
                                        </p:cTn>
                                        <p:tgtEl>
                                          <p:spTgt spid="62"/>
                                        </p:tgtEl>
                                        <p:attrNameLst>
                                          <p:attrName>style.visibility</p:attrName>
                                        </p:attrNameLst>
                                      </p:cBhvr>
                                      <p:to>
                                        <p:strVal val="visible"/>
                                      </p:to>
                                    </p:set>
                                  </p:childTnLst>
                                </p:cTn>
                              </p:par>
                              <p:par>
                                <p:cTn id="174" presetID="1" presetClass="entr" presetSubtype="0" fill="hold" grpId="0" nodeType="withEffect">
                                  <p:stCondLst>
                                    <p:cond delay="0"/>
                                  </p:stCondLst>
                                  <p:childTnLst>
                                    <p:set>
                                      <p:cBhvr>
                                        <p:cTn id="175" dur="1" fill="hold">
                                          <p:stCondLst>
                                            <p:cond delay="0"/>
                                          </p:stCondLst>
                                        </p:cTn>
                                        <p:tgtEl>
                                          <p:spTgt spid="61"/>
                                        </p:tgtEl>
                                        <p:attrNameLst>
                                          <p:attrName>style.visibility</p:attrName>
                                        </p:attrNameLst>
                                      </p:cBhvr>
                                      <p:to>
                                        <p:strVal val="visible"/>
                                      </p:to>
                                    </p:set>
                                  </p:childTnLst>
                                </p:cTn>
                              </p:par>
                              <p:par>
                                <p:cTn id="176" presetID="1" presetClass="entr" presetSubtype="0" fill="hold" grpId="0" nodeType="withEffect">
                                  <p:stCondLst>
                                    <p:cond delay="0"/>
                                  </p:stCondLst>
                                  <p:childTnLst>
                                    <p:set>
                                      <p:cBhvr>
                                        <p:cTn id="177" dur="1" fill="hold">
                                          <p:stCondLst>
                                            <p:cond delay="0"/>
                                          </p:stCondLst>
                                        </p:cTn>
                                        <p:tgtEl>
                                          <p:spTgt spid="84"/>
                                        </p:tgtEl>
                                        <p:attrNameLst>
                                          <p:attrName>style.visibility</p:attrName>
                                        </p:attrNameLst>
                                      </p:cBhvr>
                                      <p:to>
                                        <p:strVal val="visible"/>
                                      </p:to>
                                    </p:set>
                                  </p:childTnLst>
                                </p:cTn>
                              </p:par>
                            </p:childTnLst>
                          </p:cTn>
                        </p:par>
                      </p:childTnLst>
                    </p:cTn>
                  </p:par>
                  <p:par>
                    <p:cTn id="178" fill="hold">
                      <p:stCondLst>
                        <p:cond delay="indefinite"/>
                      </p:stCondLst>
                      <p:childTnLst>
                        <p:par>
                          <p:cTn id="179" fill="hold">
                            <p:stCondLst>
                              <p:cond delay="0"/>
                            </p:stCondLst>
                            <p:childTnLst>
                              <p:par>
                                <p:cTn id="180" presetID="4" presetClass="entr" presetSubtype="16" fill="hold" grpId="0" nodeType="clickEffect">
                                  <p:stCondLst>
                                    <p:cond delay="0"/>
                                  </p:stCondLst>
                                  <p:childTnLst>
                                    <p:set>
                                      <p:cBhvr>
                                        <p:cTn id="181" dur="1" fill="hold">
                                          <p:stCondLst>
                                            <p:cond delay="0"/>
                                          </p:stCondLst>
                                        </p:cTn>
                                        <p:tgtEl>
                                          <p:spTgt spid="6"/>
                                        </p:tgtEl>
                                        <p:attrNameLst>
                                          <p:attrName>style.visibility</p:attrName>
                                        </p:attrNameLst>
                                      </p:cBhvr>
                                      <p:to>
                                        <p:strVal val="visible"/>
                                      </p:to>
                                    </p:set>
                                    <p:animEffect transition="in" filter="box(in)">
                                      <p:cBhvr>
                                        <p:cTn id="18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p:bldP spid="13" grpId="0"/>
      <p:bldP spid="14" grpId="0"/>
      <p:bldP spid="15" grpId="0"/>
      <p:bldP spid="16" grpId="0"/>
      <p:bldP spid="17" grpId="0"/>
      <p:bldP spid="18" grpId="0" animBg="1"/>
      <p:bldP spid="19" grpId="0" animBg="1"/>
      <p:bldP spid="20" grpId="0" animBg="1"/>
      <p:bldP spid="21" grpId="0"/>
      <p:bldP spid="22" grpId="0"/>
      <p:bldP spid="23" grpId="0"/>
      <p:bldP spid="24" grpId="0"/>
      <p:bldP spid="25" grpId="0"/>
      <p:bldP spid="26" grpId="0"/>
      <p:bldP spid="27" grpId="0"/>
      <p:bldP spid="28" grpId="0"/>
      <p:bldP spid="29" grpId="0"/>
      <p:bldP spid="30" grpId="0"/>
      <p:bldP spid="31" grpId="0"/>
      <p:bldP spid="32" grpId="0"/>
      <p:bldP spid="33" grpId="0"/>
      <p:bldP spid="34" grpId="0"/>
      <p:bldP spid="35" grpId="0"/>
      <p:bldP spid="36" grpId="0" animBg="1"/>
      <p:bldP spid="37" grpId="0" animBg="1"/>
      <p:bldP spid="38" grpId="0" animBg="1"/>
      <p:bldP spid="39" grpId="0" animBg="1"/>
      <p:bldP spid="40" grpId="0"/>
      <p:bldP spid="41" grpId="0" animBg="1"/>
      <p:bldP spid="42" grpId="0" animBg="1"/>
      <p:bldP spid="43" grpId="0" animBg="1"/>
      <p:bldP spid="44" grpId="0"/>
      <p:bldP spid="45" grpId="0"/>
      <p:bldP spid="46" grpId="0"/>
      <p:bldP spid="47" grpId="0"/>
      <p:bldP spid="48" grpId="0"/>
      <p:bldP spid="49" grpId="0"/>
      <p:bldP spid="50" grpId="0"/>
      <p:bldP spid="51" grpId="0"/>
      <p:bldP spid="52" grpId="0"/>
      <p:bldP spid="53" grpId="0"/>
      <p:bldP spid="54" grpId="0"/>
      <p:bldP spid="55" grpId="0"/>
      <p:bldP spid="56" grpId="0"/>
      <p:bldP spid="57" grpId="0"/>
      <p:bldP spid="58" grpId="0" animBg="1"/>
      <p:bldP spid="59" grpId="0"/>
      <p:bldP spid="60" grpId="0"/>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p:bldP spid="81" grpId="0"/>
      <p:bldP spid="82" grpId="0"/>
      <p:bldP spid="83" grpId="0"/>
      <p:bldP spid="8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rrowheads="1"/>
          </p:cNvSpPr>
          <p:nvPr>
            <p:ph type="title" idx="4294967295"/>
          </p:nvPr>
        </p:nvSpPr>
        <p:spPr>
          <a:xfrm>
            <a:off x="971550" y="76200"/>
            <a:ext cx="7939088" cy="609600"/>
          </a:xfrm>
        </p:spPr>
        <p:txBody>
          <a:bodyPr/>
          <a:lstStyle/>
          <a:p>
            <a:pPr>
              <a:defRPr/>
            </a:pPr>
            <a:r>
              <a:rPr lang="en-US" dirty="0" smtClean="0"/>
              <a:t>Dealing with Natural Monopoly</a:t>
            </a:r>
            <a:endParaRPr lang="en-US" b="0" dirty="0" smtClean="0"/>
          </a:p>
        </p:txBody>
      </p:sp>
      <p:sp>
        <p:nvSpPr>
          <p:cNvPr id="98309" name="Rectangle 5"/>
          <p:cNvSpPr>
            <a:spLocks noChangeArrowheads="1"/>
          </p:cNvSpPr>
          <p:nvPr/>
        </p:nvSpPr>
        <p:spPr bwMode="auto">
          <a:xfrm>
            <a:off x="971550" y="892175"/>
            <a:ext cx="7939088" cy="5561013"/>
          </a:xfrm>
          <a:prstGeom prst="rect">
            <a:avLst/>
          </a:prstGeom>
          <a:noFill/>
          <a:ln w="9525" algn="ctr">
            <a:noFill/>
            <a:miter lim="800000"/>
            <a:headEnd/>
            <a:tailEnd type="none" w="med" len="lg"/>
          </a:ln>
        </p:spPr>
        <p:txBody>
          <a:bodyPr/>
          <a:lstStyle/>
          <a:p>
            <a:pPr marL="381000" indent="-381000">
              <a:spcBef>
                <a:spcPct val="15000"/>
              </a:spcBef>
              <a:buClr>
                <a:schemeClr val="tx1"/>
              </a:buClr>
              <a:buFont typeface="Arial" charset="0"/>
              <a:buChar char="•"/>
            </a:pPr>
            <a:r>
              <a:rPr lang="en-US" sz="2400"/>
              <a:t>What can public policy do about this? There are two common answers (aside from doing nothing)</a:t>
            </a:r>
            <a:br>
              <a:rPr lang="en-US" sz="2400"/>
            </a:br>
            <a:endParaRPr lang="en-US" sz="2400"/>
          </a:p>
          <a:p>
            <a:pPr marL="914400" lvl="1" indent="-457200">
              <a:spcBef>
                <a:spcPct val="15000"/>
              </a:spcBef>
              <a:buClr>
                <a:schemeClr val="tx1"/>
              </a:buClr>
              <a:buFont typeface="Calibri" pitchFamily="34" charset="0"/>
              <a:buAutoNum type="arabicParenR"/>
            </a:pPr>
            <a:r>
              <a:rPr lang="en-US" sz="2400"/>
              <a:t>One answer is </a:t>
            </a:r>
            <a:r>
              <a:rPr lang="en-US" sz="2400" i="1"/>
              <a:t>public ownership</a:t>
            </a:r>
            <a:r>
              <a:rPr lang="en-US" sz="2400"/>
              <a:t>, but publicly owned companies are often poorly run. In public ownership of a monopoly, the good is supplied by the government or by a firm owned by the government.</a:t>
            </a:r>
            <a:br>
              <a:rPr lang="en-US" sz="2400"/>
            </a:br>
            <a:endParaRPr lang="en-US" sz="2400"/>
          </a:p>
          <a:p>
            <a:pPr marL="914400" lvl="1" indent="-457200">
              <a:spcBef>
                <a:spcPct val="15000"/>
              </a:spcBef>
              <a:buClr>
                <a:schemeClr val="tx1"/>
              </a:buClr>
              <a:buFont typeface="Calibri" pitchFamily="34" charset="0"/>
              <a:buAutoNum type="arabicParenR"/>
            </a:pPr>
            <a:r>
              <a:rPr lang="en-US" sz="2400"/>
              <a:t>A common response in the United States is </a:t>
            </a:r>
            <a:r>
              <a:rPr lang="en-US" sz="2400" i="1"/>
              <a:t>price regulation</a:t>
            </a:r>
            <a:r>
              <a:rPr lang="en-US" sz="2400"/>
              <a:t>. A price ceiling imposed on a monopolist does not create shortages as long as it is not set too low. </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Rot="1" noChangeArrowheads="1"/>
          </p:cNvSpPr>
          <p:nvPr>
            <p:ph type="title" idx="4294967295"/>
          </p:nvPr>
        </p:nvSpPr>
        <p:spPr>
          <a:xfrm>
            <a:off x="900113" y="76200"/>
            <a:ext cx="7993062" cy="609600"/>
          </a:xfrm>
        </p:spPr>
        <p:txBody>
          <a:bodyPr/>
          <a:lstStyle/>
          <a:p>
            <a:pPr>
              <a:defRPr/>
            </a:pPr>
            <a:r>
              <a:rPr lang="en-US" dirty="0" smtClean="0"/>
              <a:t>Price Discrimination</a:t>
            </a:r>
          </a:p>
        </p:txBody>
      </p:sp>
      <p:sp>
        <p:nvSpPr>
          <p:cNvPr id="100357" name="Rectangle 5"/>
          <p:cNvSpPr>
            <a:spLocks noChangeArrowheads="1"/>
          </p:cNvSpPr>
          <p:nvPr/>
        </p:nvSpPr>
        <p:spPr bwMode="auto">
          <a:xfrm>
            <a:off x="971550" y="965200"/>
            <a:ext cx="7993063" cy="5632450"/>
          </a:xfrm>
          <a:prstGeom prst="rect">
            <a:avLst/>
          </a:prstGeom>
          <a:noFill/>
          <a:ln w="9525" algn="ctr">
            <a:noFill/>
            <a:miter lim="800000"/>
            <a:headEnd/>
            <a:tailEnd type="none" w="med" len="lg"/>
          </a:ln>
        </p:spPr>
        <p:txBody>
          <a:bodyPr/>
          <a:lstStyle/>
          <a:p>
            <a:pPr marL="230188" indent="-230188">
              <a:spcBef>
                <a:spcPct val="20000"/>
              </a:spcBef>
              <a:buClr>
                <a:schemeClr val="tx1"/>
              </a:buClr>
              <a:buFont typeface="Arial" charset="0"/>
              <a:buChar char="•"/>
            </a:pPr>
            <a:r>
              <a:rPr lang="en-US" sz="2400"/>
              <a:t>Up to this point we have considered only the case of a </a:t>
            </a:r>
            <a:r>
              <a:rPr lang="en-US" sz="2400" b="1"/>
              <a:t>single-price monopolist</a:t>
            </a:r>
            <a:r>
              <a:rPr lang="en-US" sz="2400"/>
              <a:t>,</a:t>
            </a:r>
            <a:r>
              <a:rPr lang="en-US" sz="2400" b="1"/>
              <a:t> </a:t>
            </a:r>
            <a:r>
              <a:rPr lang="en-US" sz="2400"/>
              <a:t>one who charges all consumers the same price. </a:t>
            </a:r>
          </a:p>
          <a:p>
            <a:pPr marL="687388" lvl="1" indent="-230188">
              <a:spcBef>
                <a:spcPct val="20000"/>
              </a:spcBef>
              <a:buClr>
                <a:schemeClr val="tx1"/>
              </a:buClr>
              <a:buFont typeface="Wingdings" pitchFamily="2" charset="2"/>
              <a:buChar char="§"/>
            </a:pPr>
            <a:r>
              <a:rPr lang="en-US" sz="2200"/>
              <a:t>However, not all monopolists do this.</a:t>
            </a:r>
            <a:br>
              <a:rPr lang="en-US" sz="2200"/>
            </a:br>
            <a:endParaRPr lang="en-US" sz="2200"/>
          </a:p>
          <a:p>
            <a:pPr marL="230188" indent="-230188">
              <a:spcBef>
                <a:spcPct val="20000"/>
              </a:spcBef>
              <a:buClr>
                <a:schemeClr val="tx1"/>
              </a:buClr>
              <a:buFont typeface="Arial" charset="0"/>
              <a:buChar char="•"/>
            </a:pPr>
            <a:r>
              <a:rPr lang="en-US" sz="2400"/>
              <a:t>In fact, many (if not most) monopolists find that they can increase their profits by charging different customers different prices for the same good: they engage in </a:t>
            </a:r>
            <a:r>
              <a:rPr lang="en-US" sz="2400" b="1"/>
              <a:t>price discrimination</a:t>
            </a:r>
            <a:r>
              <a:rPr lang="en-US" sz="2400"/>
              <a:t>.</a:t>
            </a:r>
          </a:p>
          <a:p>
            <a:pPr marL="687388" lvl="1" indent="-230188">
              <a:spcBef>
                <a:spcPct val="20000"/>
              </a:spcBef>
              <a:buClr>
                <a:schemeClr val="tx1"/>
              </a:buClr>
              <a:buFont typeface="Wingdings" pitchFamily="2" charset="2"/>
              <a:buChar char="§"/>
            </a:pPr>
            <a:r>
              <a:rPr lang="en-US" sz="2200"/>
              <a:t>Example: Airline tickets. If you are willing to buy a nonrefundable ticket a month in advance and stay over a Saturday night, the round trip may cost only $150, but if you have to go on a business trip tomorrow, and come back the next day, the round trip might cost $550.</a:t>
            </a: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rrowheads="1"/>
          </p:cNvSpPr>
          <p:nvPr>
            <p:ph type="title" idx="4294967295"/>
          </p:nvPr>
        </p:nvSpPr>
        <p:spPr>
          <a:xfrm>
            <a:off x="827088" y="76200"/>
            <a:ext cx="8083550" cy="609600"/>
          </a:xfrm>
        </p:spPr>
        <p:txBody>
          <a:bodyPr/>
          <a:lstStyle/>
          <a:p>
            <a:pPr>
              <a:defRPr/>
            </a:pPr>
            <a:r>
              <a:rPr lang="en-US" dirty="0" smtClean="0"/>
              <a:t>The Logic of Price Discrimination</a:t>
            </a:r>
          </a:p>
        </p:txBody>
      </p:sp>
      <p:sp>
        <p:nvSpPr>
          <p:cNvPr id="101381" name="Rectangle 5"/>
          <p:cNvSpPr>
            <a:spLocks noChangeArrowheads="1"/>
          </p:cNvSpPr>
          <p:nvPr/>
        </p:nvSpPr>
        <p:spPr bwMode="auto">
          <a:xfrm>
            <a:off x="755650" y="692150"/>
            <a:ext cx="8154988" cy="5940425"/>
          </a:xfrm>
          <a:prstGeom prst="rect">
            <a:avLst/>
          </a:prstGeom>
          <a:noFill/>
          <a:ln w="9525" algn="ctr">
            <a:noFill/>
            <a:miter lim="800000"/>
            <a:headEnd/>
            <a:tailEnd type="none" w="med" len="lg"/>
          </a:ln>
        </p:spPr>
        <p:txBody>
          <a:bodyPr/>
          <a:lstStyle/>
          <a:p>
            <a:pPr marL="230188" indent="-230188">
              <a:lnSpc>
                <a:spcPct val="110000"/>
              </a:lnSpc>
              <a:buClr>
                <a:schemeClr val="tx1"/>
              </a:buClr>
              <a:buFont typeface="Arial" charset="0"/>
              <a:buChar char="•"/>
            </a:pPr>
            <a:r>
              <a:rPr lang="en-US" sz="2400"/>
              <a:t>Price discrimination is profitable when consumers differ in their sensitivity to the price. </a:t>
            </a:r>
          </a:p>
          <a:p>
            <a:pPr marL="687388" lvl="1" indent="-230188">
              <a:lnSpc>
                <a:spcPct val="110000"/>
              </a:lnSpc>
              <a:buClr>
                <a:schemeClr val="tx1"/>
              </a:buClr>
              <a:buFont typeface="Wingdings" pitchFamily="2" charset="2"/>
              <a:buChar char="§"/>
            </a:pPr>
            <a:r>
              <a:rPr lang="en-US" sz="2200"/>
              <a:t>A monopolist would like to charge high prices to consumers willing to pay more, but without driving away others who are willing to pay less.</a:t>
            </a:r>
            <a:endParaRPr lang="en-US" sz="2400"/>
          </a:p>
          <a:p>
            <a:pPr marL="230188" indent="-230188">
              <a:lnSpc>
                <a:spcPct val="110000"/>
              </a:lnSpc>
              <a:spcBef>
                <a:spcPct val="50000"/>
              </a:spcBef>
              <a:buClr>
                <a:schemeClr val="tx1"/>
              </a:buClr>
              <a:buFont typeface="Arial" charset="0"/>
              <a:buChar char="•"/>
            </a:pPr>
            <a:r>
              <a:rPr lang="en-US" sz="2400"/>
              <a:t>It is profit-maximizing to charge higher prices to low-elasticity consumers and lower prices to high-elasticity consumers.</a:t>
            </a:r>
          </a:p>
          <a:p>
            <a:pPr marL="230188" indent="-230188">
              <a:lnSpc>
                <a:spcPct val="110000"/>
              </a:lnSpc>
              <a:spcBef>
                <a:spcPct val="50000"/>
              </a:spcBef>
              <a:buClr>
                <a:schemeClr val="tx1"/>
              </a:buClr>
              <a:buFont typeface="Arial" charset="0"/>
              <a:buChar char="•"/>
            </a:pPr>
            <a:r>
              <a:rPr lang="en-US" sz="2400"/>
              <a:t>Common techniques for price discrimination are:</a:t>
            </a:r>
          </a:p>
          <a:p>
            <a:pPr marL="687388" lvl="1" indent="-230188">
              <a:lnSpc>
                <a:spcPct val="110000"/>
              </a:lnSpc>
              <a:buClr>
                <a:schemeClr val="tx1"/>
              </a:buClr>
              <a:buFont typeface="Arial" charset="0"/>
              <a:buChar char="•"/>
            </a:pPr>
            <a:r>
              <a:rPr lang="en-US" sz="2200"/>
              <a:t>Advance purchase restrictions </a:t>
            </a:r>
          </a:p>
          <a:p>
            <a:pPr marL="1143000" lvl="2" indent="-228600">
              <a:lnSpc>
                <a:spcPct val="110000"/>
              </a:lnSpc>
              <a:buClr>
                <a:schemeClr val="tx1"/>
              </a:buClr>
              <a:buFont typeface="Arial" charset="0"/>
              <a:buChar char="•"/>
            </a:pPr>
            <a:r>
              <a:rPr lang="en-US" sz="2200"/>
              <a:t>Charge a lower price to consumers who pay in advance</a:t>
            </a:r>
          </a:p>
          <a:p>
            <a:pPr marL="687388" lvl="1" indent="-230188">
              <a:lnSpc>
                <a:spcPct val="110000"/>
              </a:lnSpc>
              <a:buClr>
                <a:schemeClr val="tx1"/>
              </a:buClr>
              <a:buFont typeface="Arial" charset="0"/>
              <a:buChar char="•"/>
            </a:pPr>
            <a:r>
              <a:rPr lang="en-US" sz="2200"/>
              <a:t>Volume discounts</a:t>
            </a:r>
          </a:p>
          <a:p>
            <a:pPr marL="1143000" lvl="2" indent="-228600">
              <a:lnSpc>
                <a:spcPct val="110000"/>
              </a:lnSpc>
              <a:buClr>
                <a:schemeClr val="tx1"/>
              </a:buClr>
              <a:buFont typeface="Arial" charset="0"/>
              <a:buChar char="•"/>
            </a:pPr>
            <a:r>
              <a:rPr lang="en-US" sz="2200"/>
              <a:t>Lower prices for large volume buyers</a:t>
            </a:r>
          </a:p>
          <a:p>
            <a:pPr marL="687388" lvl="1" indent="-230188">
              <a:lnSpc>
                <a:spcPct val="110000"/>
              </a:lnSpc>
              <a:buClr>
                <a:schemeClr val="tx1"/>
              </a:buClr>
              <a:buFont typeface="Arial" charset="0"/>
              <a:buChar char="•"/>
            </a:pPr>
            <a:r>
              <a:rPr lang="en-US" sz="2200"/>
              <a:t>Two-part tariffs</a:t>
            </a:r>
          </a:p>
          <a:p>
            <a:pPr marL="1143000" lvl="2" indent="-228600">
              <a:lnSpc>
                <a:spcPct val="110000"/>
              </a:lnSpc>
              <a:buClr>
                <a:schemeClr val="tx1"/>
              </a:buClr>
              <a:buFont typeface="Arial" charset="0"/>
              <a:buChar char="•"/>
            </a:pPr>
            <a:r>
              <a:rPr lang="en-US" sz="2200"/>
              <a:t>Charge a lower price to consumers who join a ‘club’</a:t>
            </a: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Rot="1" noChangeArrowheads="1"/>
          </p:cNvSpPr>
          <p:nvPr>
            <p:ph type="title" idx="4294967295"/>
          </p:nvPr>
        </p:nvSpPr>
        <p:spPr>
          <a:xfrm>
            <a:off x="900113" y="60325"/>
            <a:ext cx="7993062" cy="555625"/>
          </a:xfrm>
        </p:spPr>
        <p:txBody>
          <a:bodyPr/>
          <a:lstStyle/>
          <a:p>
            <a:pPr>
              <a:defRPr/>
            </a:pPr>
            <a:r>
              <a:rPr lang="en-US" dirty="0" smtClean="0"/>
              <a:t>Two Types of Airline Customers</a:t>
            </a:r>
          </a:p>
        </p:txBody>
      </p:sp>
      <p:grpSp>
        <p:nvGrpSpPr>
          <p:cNvPr id="89090" name="Group 31"/>
          <p:cNvGrpSpPr>
            <a:grpSpLocks/>
          </p:cNvGrpSpPr>
          <p:nvPr/>
        </p:nvGrpSpPr>
        <p:grpSpPr bwMode="auto">
          <a:xfrm>
            <a:off x="719138" y="765175"/>
            <a:ext cx="7510462" cy="5629275"/>
            <a:chOff x="453" y="482"/>
            <a:chExt cx="4731" cy="3546"/>
          </a:xfrm>
        </p:grpSpPr>
        <p:sp>
          <p:nvSpPr>
            <p:cNvPr id="89091" name="Rectangle 5"/>
            <p:cNvSpPr>
              <a:spLocks noChangeArrowheads="1"/>
            </p:cNvSpPr>
            <p:nvPr/>
          </p:nvSpPr>
          <p:spPr bwMode="auto">
            <a:xfrm>
              <a:off x="2705" y="2991"/>
              <a:ext cx="1598" cy="167"/>
            </a:xfrm>
            <a:prstGeom prst="rect">
              <a:avLst/>
            </a:prstGeom>
            <a:solidFill>
              <a:srgbClr val="CFE5AE"/>
            </a:solidFill>
            <a:ln w="9525">
              <a:noFill/>
              <a:miter lim="800000"/>
              <a:headEnd/>
              <a:tailEnd/>
            </a:ln>
          </p:spPr>
          <p:txBody>
            <a:bodyPr/>
            <a:lstStyle/>
            <a:p>
              <a:endParaRPr lang="en-US"/>
            </a:p>
          </p:txBody>
        </p:sp>
        <p:sp>
          <p:nvSpPr>
            <p:cNvPr id="89092" name="Rectangle 6"/>
            <p:cNvSpPr>
              <a:spLocks noChangeArrowheads="1"/>
            </p:cNvSpPr>
            <p:nvPr/>
          </p:nvSpPr>
          <p:spPr bwMode="auto">
            <a:xfrm>
              <a:off x="1105" y="1330"/>
              <a:ext cx="1600" cy="1828"/>
            </a:xfrm>
            <a:prstGeom prst="rect">
              <a:avLst/>
            </a:prstGeom>
            <a:solidFill>
              <a:srgbClr val="D7EDE7"/>
            </a:solidFill>
            <a:ln w="9525">
              <a:noFill/>
              <a:miter lim="800000"/>
              <a:headEnd/>
              <a:tailEnd/>
            </a:ln>
          </p:spPr>
          <p:txBody>
            <a:bodyPr/>
            <a:lstStyle/>
            <a:p>
              <a:endParaRPr lang="en-US"/>
            </a:p>
          </p:txBody>
        </p:sp>
        <p:sp>
          <p:nvSpPr>
            <p:cNvPr id="89093" name="Rectangle 7"/>
            <p:cNvSpPr>
              <a:spLocks noChangeArrowheads="1"/>
            </p:cNvSpPr>
            <p:nvPr/>
          </p:nvSpPr>
          <p:spPr bwMode="auto">
            <a:xfrm>
              <a:off x="3739" y="3855"/>
              <a:ext cx="1144" cy="173"/>
            </a:xfrm>
            <a:prstGeom prst="rect">
              <a:avLst/>
            </a:prstGeom>
            <a:noFill/>
            <a:ln w="9525">
              <a:noFill/>
              <a:miter lim="800000"/>
              <a:headEnd/>
              <a:tailEnd/>
            </a:ln>
          </p:spPr>
          <p:txBody>
            <a:bodyPr wrap="none" lIns="0" tIns="0" rIns="0" bIns="0">
              <a:spAutoFit/>
            </a:bodyPr>
            <a:lstStyle/>
            <a:p>
              <a:pPr marL="1588" indent="-1588" algn="ctr"/>
              <a:r>
                <a:rPr lang="en-US">
                  <a:solidFill>
                    <a:srgbClr val="000000"/>
                  </a:solidFill>
                  <a:latin typeface="Myriad Pro"/>
                </a:rPr>
                <a:t>Quantity of tickets</a:t>
              </a:r>
              <a:endParaRPr lang="en-US">
                <a:latin typeface="Tahoma" pitchFamily="34" charset="0"/>
              </a:endParaRPr>
            </a:p>
          </p:txBody>
        </p:sp>
        <p:sp>
          <p:nvSpPr>
            <p:cNvPr id="89094" name="Rectangle 8"/>
            <p:cNvSpPr>
              <a:spLocks noChangeArrowheads="1"/>
            </p:cNvSpPr>
            <p:nvPr/>
          </p:nvSpPr>
          <p:spPr bwMode="auto">
            <a:xfrm>
              <a:off x="453" y="482"/>
              <a:ext cx="716" cy="346"/>
            </a:xfrm>
            <a:prstGeom prst="rect">
              <a:avLst/>
            </a:prstGeom>
            <a:noFill/>
            <a:ln w="9525">
              <a:noFill/>
              <a:miter lim="800000"/>
              <a:headEnd/>
              <a:tailEnd/>
            </a:ln>
          </p:spPr>
          <p:txBody>
            <a:bodyPr lIns="0" tIns="0" rIns="0" bIns="0">
              <a:spAutoFit/>
            </a:bodyPr>
            <a:lstStyle/>
            <a:p>
              <a:pPr marL="1588" indent="-1588" algn="ctr"/>
              <a:r>
                <a:rPr lang="en-US">
                  <a:solidFill>
                    <a:srgbClr val="000000"/>
                  </a:solidFill>
                  <a:latin typeface="Myriad Pro"/>
                </a:rPr>
                <a:t>Price, cost of ticket</a:t>
              </a:r>
              <a:endParaRPr lang="en-US">
                <a:latin typeface="Tahoma" pitchFamily="34" charset="0"/>
              </a:endParaRPr>
            </a:p>
          </p:txBody>
        </p:sp>
        <p:sp>
          <p:nvSpPr>
            <p:cNvPr id="89095" name="Rectangle 9"/>
            <p:cNvSpPr>
              <a:spLocks noChangeArrowheads="1"/>
            </p:cNvSpPr>
            <p:nvPr/>
          </p:nvSpPr>
          <p:spPr bwMode="auto">
            <a:xfrm>
              <a:off x="4383" y="3426"/>
              <a:ext cx="104" cy="173"/>
            </a:xfrm>
            <a:prstGeom prst="rect">
              <a:avLst/>
            </a:prstGeom>
            <a:noFill/>
            <a:ln w="9525">
              <a:noFill/>
              <a:miter lim="800000"/>
              <a:headEnd/>
              <a:tailEnd/>
            </a:ln>
          </p:spPr>
          <p:txBody>
            <a:bodyPr wrap="none" lIns="0" tIns="0" rIns="0" bIns="0">
              <a:spAutoFit/>
            </a:bodyPr>
            <a:lstStyle/>
            <a:p>
              <a:pPr marL="1588" indent="-1588"/>
              <a:r>
                <a:rPr lang="en-US" i="1">
                  <a:solidFill>
                    <a:srgbClr val="000000"/>
                  </a:solidFill>
                  <a:latin typeface="Myriad Pro"/>
                </a:rPr>
                <a:t>D</a:t>
              </a:r>
              <a:endParaRPr lang="en-US" i="1">
                <a:latin typeface="Tahoma" pitchFamily="34" charset="0"/>
              </a:endParaRPr>
            </a:p>
          </p:txBody>
        </p:sp>
        <p:sp>
          <p:nvSpPr>
            <p:cNvPr id="89096" name="Rectangle 10"/>
            <p:cNvSpPr>
              <a:spLocks noChangeArrowheads="1"/>
            </p:cNvSpPr>
            <p:nvPr/>
          </p:nvSpPr>
          <p:spPr bwMode="auto">
            <a:xfrm>
              <a:off x="4692" y="3003"/>
              <a:ext cx="224" cy="173"/>
            </a:xfrm>
            <a:prstGeom prst="rect">
              <a:avLst/>
            </a:prstGeom>
            <a:noFill/>
            <a:ln w="9525">
              <a:noFill/>
              <a:miter lim="800000"/>
              <a:headEnd/>
              <a:tailEnd/>
            </a:ln>
          </p:spPr>
          <p:txBody>
            <a:bodyPr wrap="none" lIns="0" tIns="0" rIns="0" bIns="0">
              <a:spAutoFit/>
            </a:bodyPr>
            <a:lstStyle/>
            <a:p>
              <a:pPr marL="1588" indent="-1588"/>
              <a:r>
                <a:rPr lang="en-US" i="1">
                  <a:solidFill>
                    <a:srgbClr val="000000"/>
                  </a:solidFill>
                  <a:latin typeface="Myriad Pro"/>
                </a:rPr>
                <a:t>MC</a:t>
              </a:r>
              <a:endParaRPr lang="en-US" i="1">
                <a:latin typeface="Tahoma" pitchFamily="34" charset="0"/>
              </a:endParaRPr>
            </a:p>
          </p:txBody>
        </p:sp>
        <p:sp>
          <p:nvSpPr>
            <p:cNvPr id="89097" name="Line 11"/>
            <p:cNvSpPr>
              <a:spLocks noChangeShapeType="1"/>
            </p:cNvSpPr>
            <p:nvPr/>
          </p:nvSpPr>
          <p:spPr bwMode="auto">
            <a:xfrm flipV="1">
              <a:off x="2697" y="3520"/>
              <a:ext cx="0" cy="93"/>
            </a:xfrm>
            <a:prstGeom prst="line">
              <a:avLst/>
            </a:prstGeom>
            <a:noFill/>
            <a:ln w="7938">
              <a:solidFill>
                <a:srgbClr val="000000"/>
              </a:solidFill>
              <a:miter lim="800000"/>
              <a:headEnd/>
              <a:tailEnd/>
            </a:ln>
          </p:spPr>
          <p:txBody>
            <a:bodyPr/>
            <a:lstStyle/>
            <a:p>
              <a:endParaRPr lang="en-US"/>
            </a:p>
          </p:txBody>
        </p:sp>
        <p:sp>
          <p:nvSpPr>
            <p:cNvPr id="89098" name="Rectangle 12"/>
            <p:cNvSpPr>
              <a:spLocks noChangeArrowheads="1"/>
            </p:cNvSpPr>
            <p:nvPr/>
          </p:nvSpPr>
          <p:spPr bwMode="auto">
            <a:xfrm>
              <a:off x="2522" y="3638"/>
              <a:ext cx="360" cy="173"/>
            </a:xfrm>
            <a:prstGeom prst="rect">
              <a:avLst/>
            </a:prstGeom>
            <a:noFill/>
            <a:ln w="9525">
              <a:noFill/>
              <a:miter lim="800000"/>
              <a:headEnd/>
              <a:tailEnd/>
            </a:ln>
          </p:spPr>
          <p:txBody>
            <a:bodyPr wrap="none" lIns="0" tIns="0" rIns="0" bIns="0">
              <a:spAutoFit/>
            </a:bodyPr>
            <a:lstStyle/>
            <a:p>
              <a:pPr marL="1588" indent="-1588" algn="ctr"/>
              <a:r>
                <a:rPr lang="en-US">
                  <a:solidFill>
                    <a:srgbClr val="000000"/>
                  </a:solidFill>
                  <a:latin typeface="Myriad Pro"/>
                </a:rPr>
                <a:t>2,000</a:t>
              </a:r>
              <a:endParaRPr lang="en-US">
                <a:latin typeface="Tahoma" pitchFamily="34" charset="0"/>
              </a:endParaRPr>
            </a:p>
          </p:txBody>
        </p:sp>
        <p:sp>
          <p:nvSpPr>
            <p:cNvPr id="89099" name="Rectangle 13"/>
            <p:cNvSpPr>
              <a:spLocks noChangeArrowheads="1"/>
            </p:cNvSpPr>
            <p:nvPr/>
          </p:nvSpPr>
          <p:spPr bwMode="auto">
            <a:xfrm>
              <a:off x="4132" y="3638"/>
              <a:ext cx="360" cy="173"/>
            </a:xfrm>
            <a:prstGeom prst="rect">
              <a:avLst/>
            </a:prstGeom>
            <a:noFill/>
            <a:ln w="9525">
              <a:noFill/>
              <a:miter lim="800000"/>
              <a:headEnd/>
              <a:tailEnd/>
            </a:ln>
          </p:spPr>
          <p:txBody>
            <a:bodyPr wrap="none" lIns="0" tIns="0" rIns="0" bIns="0">
              <a:spAutoFit/>
            </a:bodyPr>
            <a:lstStyle/>
            <a:p>
              <a:pPr marL="1588" indent="-1588" algn="ctr"/>
              <a:r>
                <a:rPr lang="en-US">
                  <a:solidFill>
                    <a:srgbClr val="000000"/>
                  </a:solidFill>
                  <a:latin typeface="Myriad Pro"/>
                </a:rPr>
                <a:t>4,000</a:t>
              </a:r>
              <a:endParaRPr lang="en-US">
                <a:latin typeface="Tahoma" pitchFamily="34" charset="0"/>
              </a:endParaRPr>
            </a:p>
          </p:txBody>
        </p:sp>
        <p:sp>
          <p:nvSpPr>
            <p:cNvPr id="89100" name="Line 14"/>
            <p:cNvSpPr>
              <a:spLocks noChangeShapeType="1"/>
            </p:cNvSpPr>
            <p:nvPr/>
          </p:nvSpPr>
          <p:spPr bwMode="auto">
            <a:xfrm>
              <a:off x="1105" y="2991"/>
              <a:ext cx="110" cy="0"/>
            </a:xfrm>
            <a:prstGeom prst="line">
              <a:avLst/>
            </a:prstGeom>
            <a:noFill/>
            <a:ln w="7938">
              <a:solidFill>
                <a:srgbClr val="000000"/>
              </a:solidFill>
              <a:miter lim="800000"/>
              <a:headEnd/>
              <a:tailEnd/>
            </a:ln>
          </p:spPr>
          <p:txBody>
            <a:bodyPr/>
            <a:lstStyle/>
            <a:p>
              <a:endParaRPr lang="en-US"/>
            </a:p>
          </p:txBody>
        </p:sp>
        <p:sp>
          <p:nvSpPr>
            <p:cNvPr id="89101" name="Rectangle 15"/>
            <p:cNvSpPr>
              <a:spLocks noChangeArrowheads="1"/>
            </p:cNvSpPr>
            <p:nvPr/>
          </p:nvSpPr>
          <p:spPr bwMode="auto">
            <a:xfrm>
              <a:off x="690" y="1242"/>
              <a:ext cx="320" cy="173"/>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Pro"/>
                </a:rPr>
                <a:t>$550</a:t>
              </a:r>
              <a:endParaRPr lang="en-US">
                <a:latin typeface="Tahoma" pitchFamily="34" charset="0"/>
              </a:endParaRPr>
            </a:p>
          </p:txBody>
        </p:sp>
        <p:sp>
          <p:nvSpPr>
            <p:cNvPr id="89102" name="Rectangle 16"/>
            <p:cNvSpPr>
              <a:spLocks noChangeArrowheads="1"/>
            </p:cNvSpPr>
            <p:nvPr/>
          </p:nvSpPr>
          <p:spPr bwMode="auto">
            <a:xfrm>
              <a:off x="776" y="2892"/>
              <a:ext cx="240" cy="173"/>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Pro"/>
                </a:rPr>
                <a:t>150</a:t>
              </a:r>
              <a:endParaRPr lang="en-US">
                <a:latin typeface="Tahoma" pitchFamily="34" charset="0"/>
              </a:endParaRPr>
            </a:p>
          </p:txBody>
        </p:sp>
        <p:sp>
          <p:nvSpPr>
            <p:cNvPr id="89103" name="Rectangle 17"/>
            <p:cNvSpPr>
              <a:spLocks noChangeArrowheads="1"/>
            </p:cNvSpPr>
            <p:nvPr/>
          </p:nvSpPr>
          <p:spPr bwMode="auto">
            <a:xfrm>
              <a:off x="945" y="3638"/>
              <a:ext cx="80" cy="173"/>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Pro"/>
                </a:rPr>
                <a:t>0</a:t>
              </a:r>
              <a:endParaRPr lang="en-US">
                <a:latin typeface="Tahoma" pitchFamily="34" charset="0"/>
              </a:endParaRPr>
            </a:p>
          </p:txBody>
        </p:sp>
        <p:sp>
          <p:nvSpPr>
            <p:cNvPr id="89104" name="Rectangle 18"/>
            <p:cNvSpPr>
              <a:spLocks noChangeArrowheads="1"/>
            </p:cNvSpPr>
            <p:nvPr/>
          </p:nvSpPr>
          <p:spPr bwMode="auto">
            <a:xfrm>
              <a:off x="1859" y="2131"/>
              <a:ext cx="96" cy="173"/>
            </a:xfrm>
            <a:prstGeom prst="rect">
              <a:avLst/>
            </a:prstGeom>
            <a:noFill/>
            <a:ln w="9525">
              <a:noFill/>
              <a:miter lim="800000"/>
              <a:headEnd/>
              <a:tailEnd/>
            </a:ln>
          </p:spPr>
          <p:txBody>
            <a:bodyPr wrap="none" lIns="0" tIns="0" rIns="0" bIns="0">
              <a:spAutoFit/>
            </a:bodyPr>
            <a:lstStyle/>
            <a:p>
              <a:pPr marL="1588" indent="-1588"/>
              <a:r>
                <a:rPr lang="en-US" i="1">
                  <a:solidFill>
                    <a:srgbClr val="000000"/>
                  </a:solidFill>
                  <a:latin typeface="Myriad Pro"/>
                </a:rPr>
                <a:t>B</a:t>
              </a:r>
              <a:endParaRPr lang="en-US" i="1">
                <a:latin typeface="Tahoma" pitchFamily="34" charset="0"/>
              </a:endParaRPr>
            </a:p>
          </p:txBody>
        </p:sp>
        <p:sp>
          <p:nvSpPr>
            <p:cNvPr id="89105" name="Rectangle 19"/>
            <p:cNvSpPr>
              <a:spLocks noChangeArrowheads="1"/>
            </p:cNvSpPr>
            <p:nvPr/>
          </p:nvSpPr>
          <p:spPr bwMode="auto">
            <a:xfrm>
              <a:off x="3463" y="3205"/>
              <a:ext cx="96" cy="173"/>
            </a:xfrm>
            <a:prstGeom prst="rect">
              <a:avLst/>
            </a:prstGeom>
            <a:noFill/>
            <a:ln w="9525">
              <a:noFill/>
              <a:miter lim="800000"/>
              <a:headEnd/>
              <a:tailEnd/>
            </a:ln>
          </p:spPr>
          <p:txBody>
            <a:bodyPr wrap="none" lIns="0" tIns="0" rIns="0" bIns="0">
              <a:spAutoFit/>
            </a:bodyPr>
            <a:lstStyle/>
            <a:p>
              <a:pPr marL="1588" indent="-1588"/>
              <a:r>
                <a:rPr lang="en-US" i="1">
                  <a:solidFill>
                    <a:srgbClr val="000000"/>
                  </a:solidFill>
                  <a:latin typeface="Myriad Pro"/>
                </a:rPr>
                <a:t>S</a:t>
              </a:r>
              <a:endParaRPr lang="en-US" i="1">
                <a:latin typeface="Tahoma" pitchFamily="34" charset="0"/>
              </a:endParaRPr>
            </a:p>
          </p:txBody>
        </p:sp>
        <p:sp>
          <p:nvSpPr>
            <p:cNvPr id="89106" name="Rectangle 20"/>
            <p:cNvSpPr>
              <a:spLocks noChangeArrowheads="1"/>
            </p:cNvSpPr>
            <p:nvPr/>
          </p:nvSpPr>
          <p:spPr bwMode="auto">
            <a:xfrm>
              <a:off x="776" y="3092"/>
              <a:ext cx="240" cy="173"/>
            </a:xfrm>
            <a:prstGeom prst="rect">
              <a:avLst/>
            </a:prstGeom>
            <a:noFill/>
            <a:ln w="9525">
              <a:noFill/>
              <a:miter lim="800000"/>
              <a:headEnd/>
              <a:tailEnd/>
            </a:ln>
          </p:spPr>
          <p:txBody>
            <a:bodyPr wrap="none" lIns="0" tIns="0" rIns="0" bIns="0">
              <a:spAutoFit/>
            </a:bodyPr>
            <a:lstStyle/>
            <a:p>
              <a:pPr marL="1588" indent="-1588"/>
              <a:r>
                <a:rPr lang="en-US">
                  <a:solidFill>
                    <a:srgbClr val="000000"/>
                  </a:solidFill>
                  <a:latin typeface="Myriad Pro"/>
                </a:rPr>
                <a:t>125</a:t>
              </a:r>
              <a:endParaRPr lang="en-US">
                <a:latin typeface="Tahoma" pitchFamily="34" charset="0"/>
              </a:endParaRPr>
            </a:p>
          </p:txBody>
        </p:sp>
        <p:sp>
          <p:nvSpPr>
            <p:cNvPr id="89107" name="Freeform 21"/>
            <p:cNvSpPr>
              <a:spLocks/>
            </p:cNvSpPr>
            <p:nvPr/>
          </p:nvSpPr>
          <p:spPr bwMode="auto">
            <a:xfrm>
              <a:off x="1105" y="1330"/>
              <a:ext cx="3198" cy="2283"/>
            </a:xfrm>
            <a:custGeom>
              <a:avLst/>
              <a:gdLst>
                <a:gd name="T0" fmla="*/ 0 w 1645"/>
                <a:gd name="T1" fmla="*/ 0 h 1377"/>
                <a:gd name="T2" fmla="*/ 11758 w 1645"/>
                <a:gd name="T3" fmla="*/ 0 h 1377"/>
                <a:gd name="T4" fmla="*/ 11758 w 1645"/>
                <a:gd name="T5" fmla="*/ 7570 h 1377"/>
                <a:gd name="T6" fmla="*/ 23496 w 1645"/>
                <a:gd name="T7" fmla="*/ 7570 h 1377"/>
                <a:gd name="T8" fmla="*/ 23496 w 1645"/>
                <a:gd name="T9" fmla="*/ 10404 h 1377"/>
                <a:gd name="T10" fmla="*/ 0 60000 65536"/>
                <a:gd name="T11" fmla="*/ 0 60000 65536"/>
                <a:gd name="T12" fmla="*/ 0 60000 65536"/>
                <a:gd name="T13" fmla="*/ 0 60000 65536"/>
                <a:gd name="T14" fmla="*/ 0 60000 65536"/>
                <a:gd name="T15" fmla="*/ 0 w 1645"/>
                <a:gd name="T16" fmla="*/ 0 h 1377"/>
                <a:gd name="T17" fmla="*/ 1645 w 1645"/>
                <a:gd name="T18" fmla="*/ 1377 h 1377"/>
              </a:gdLst>
              <a:ahLst/>
              <a:cxnLst>
                <a:cxn ang="T10">
                  <a:pos x="T0" y="T1"/>
                </a:cxn>
                <a:cxn ang="T11">
                  <a:pos x="T2" y="T3"/>
                </a:cxn>
                <a:cxn ang="T12">
                  <a:pos x="T4" y="T5"/>
                </a:cxn>
                <a:cxn ang="T13">
                  <a:pos x="T6" y="T7"/>
                </a:cxn>
                <a:cxn ang="T14">
                  <a:pos x="T8" y="T9"/>
                </a:cxn>
              </a:cxnLst>
              <a:rect l="T15" t="T16" r="T17" b="T18"/>
              <a:pathLst>
                <a:path w="1645" h="1377">
                  <a:moveTo>
                    <a:pt x="0" y="0"/>
                  </a:moveTo>
                  <a:lnTo>
                    <a:pt x="823" y="0"/>
                  </a:lnTo>
                  <a:lnTo>
                    <a:pt x="823" y="1002"/>
                  </a:lnTo>
                  <a:lnTo>
                    <a:pt x="1645" y="1002"/>
                  </a:lnTo>
                  <a:lnTo>
                    <a:pt x="1645" y="1377"/>
                  </a:lnTo>
                </a:path>
              </a:pathLst>
            </a:custGeom>
            <a:noFill/>
            <a:ln w="30163" cap="flat">
              <a:solidFill>
                <a:srgbClr val="3C5DAA"/>
              </a:solidFill>
              <a:prstDash val="solid"/>
              <a:miter lim="800000"/>
              <a:headEnd/>
              <a:tailEnd/>
            </a:ln>
          </p:spPr>
          <p:txBody>
            <a:bodyPr/>
            <a:lstStyle/>
            <a:p>
              <a:endParaRPr lang="en-US"/>
            </a:p>
          </p:txBody>
        </p:sp>
        <p:sp>
          <p:nvSpPr>
            <p:cNvPr id="89108" name="Line 22"/>
            <p:cNvSpPr>
              <a:spLocks noChangeShapeType="1"/>
            </p:cNvSpPr>
            <p:nvPr/>
          </p:nvSpPr>
          <p:spPr bwMode="auto">
            <a:xfrm>
              <a:off x="1105" y="3158"/>
              <a:ext cx="3538" cy="0"/>
            </a:xfrm>
            <a:prstGeom prst="line">
              <a:avLst/>
            </a:prstGeom>
            <a:noFill/>
            <a:ln w="23813">
              <a:solidFill>
                <a:srgbClr val="F3716D"/>
              </a:solidFill>
              <a:miter lim="800000"/>
              <a:headEnd/>
              <a:tailEnd/>
            </a:ln>
          </p:spPr>
          <p:txBody>
            <a:bodyPr/>
            <a:lstStyle/>
            <a:p>
              <a:endParaRPr lang="en-US"/>
            </a:p>
          </p:txBody>
        </p:sp>
        <p:sp>
          <p:nvSpPr>
            <p:cNvPr id="89109" name="Line 23"/>
            <p:cNvSpPr>
              <a:spLocks noChangeShapeType="1"/>
            </p:cNvSpPr>
            <p:nvPr/>
          </p:nvSpPr>
          <p:spPr bwMode="auto">
            <a:xfrm flipV="1">
              <a:off x="3504" y="3043"/>
              <a:ext cx="0" cy="167"/>
            </a:xfrm>
            <a:prstGeom prst="line">
              <a:avLst/>
            </a:prstGeom>
            <a:noFill/>
            <a:ln w="7938">
              <a:solidFill>
                <a:srgbClr val="000000"/>
              </a:solidFill>
              <a:miter lim="800000"/>
              <a:headEnd/>
              <a:tailEnd/>
            </a:ln>
          </p:spPr>
          <p:txBody>
            <a:bodyPr/>
            <a:lstStyle/>
            <a:p>
              <a:endParaRPr lang="en-US"/>
            </a:p>
          </p:txBody>
        </p:sp>
        <p:sp>
          <p:nvSpPr>
            <p:cNvPr id="89110" name="Line 24"/>
            <p:cNvSpPr>
              <a:spLocks noChangeShapeType="1"/>
            </p:cNvSpPr>
            <p:nvPr/>
          </p:nvSpPr>
          <p:spPr bwMode="auto">
            <a:xfrm flipV="1">
              <a:off x="1910" y="1104"/>
              <a:ext cx="394" cy="778"/>
            </a:xfrm>
            <a:prstGeom prst="line">
              <a:avLst/>
            </a:prstGeom>
            <a:noFill/>
            <a:ln w="7938">
              <a:solidFill>
                <a:srgbClr val="000000"/>
              </a:solidFill>
              <a:miter lim="800000"/>
              <a:headEnd/>
              <a:tailEnd/>
            </a:ln>
          </p:spPr>
          <p:txBody>
            <a:bodyPr/>
            <a:lstStyle/>
            <a:p>
              <a:endParaRPr lang="en-US"/>
            </a:p>
          </p:txBody>
        </p:sp>
        <p:sp>
          <p:nvSpPr>
            <p:cNvPr id="89111" name="Line 25"/>
            <p:cNvSpPr>
              <a:spLocks noChangeShapeType="1"/>
            </p:cNvSpPr>
            <p:nvPr/>
          </p:nvSpPr>
          <p:spPr bwMode="auto">
            <a:xfrm flipV="1">
              <a:off x="3623" y="2318"/>
              <a:ext cx="272" cy="731"/>
            </a:xfrm>
            <a:prstGeom prst="line">
              <a:avLst/>
            </a:prstGeom>
            <a:noFill/>
            <a:ln w="7938">
              <a:solidFill>
                <a:srgbClr val="000000"/>
              </a:solidFill>
              <a:miter lim="800000"/>
              <a:headEnd/>
              <a:tailEnd/>
            </a:ln>
          </p:spPr>
          <p:txBody>
            <a:bodyPr/>
            <a:lstStyle/>
            <a:p>
              <a:endParaRPr lang="en-US"/>
            </a:p>
          </p:txBody>
        </p:sp>
        <p:sp>
          <p:nvSpPr>
            <p:cNvPr id="89112" name="Freeform 26"/>
            <p:cNvSpPr>
              <a:spLocks/>
            </p:cNvSpPr>
            <p:nvPr/>
          </p:nvSpPr>
          <p:spPr bwMode="auto">
            <a:xfrm>
              <a:off x="1731" y="686"/>
              <a:ext cx="1557" cy="567"/>
            </a:xfrm>
            <a:custGeom>
              <a:avLst/>
              <a:gdLst>
                <a:gd name="T0" fmla="*/ 215502 w 301"/>
                <a:gd name="T1" fmla="*/ 103146 h 94"/>
                <a:gd name="T2" fmla="*/ 206915 w 301"/>
                <a:gd name="T3" fmla="*/ 124432 h 94"/>
                <a:gd name="T4" fmla="*/ 9285 w 301"/>
                <a:gd name="T5" fmla="*/ 124432 h 94"/>
                <a:gd name="T6" fmla="*/ 0 w 301"/>
                <a:gd name="T7" fmla="*/ 103146 h 94"/>
                <a:gd name="T8" fmla="*/ 0 w 301"/>
                <a:gd name="T9" fmla="*/ 21287 h 94"/>
                <a:gd name="T10" fmla="*/ 9285 w 301"/>
                <a:gd name="T11" fmla="*/ 0 h 94"/>
                <a:gd name="T12" fmla="*/ 206915 w 301"/>
                <a:gd name="T13" fmla="*/ 0 h 94"/>
                <a:gd name="T14" fmla="*/ 215502 w 301"/>
                <a:gd name="T15" fmla="*/ 21287 h 94"/>
                <a:gd name="T16" fmla="*/ 215502 w 301"/>
                <a:gd name="T17" fmla="*/ 103146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01"/>
                <a:gd name="T28" fmla="*/ 0 h 94"/>
                <a:gd name="T29" fmla="*/ 301 w 301"/>
                <a:gd name="T30" fmla="*/ 94 h 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01" h="94">
                  <a:moveTo>
                    <a:pt x="301" y="78"/>
                  </a:moveTo>
                  <a:cubicBezTo>
                    <a:pt x="301" y="87"/>
                    <a:pt x="295" y="94"/>
                    <a:pt x="289" y="94"/>
                  </a:cubicBezTo>
                  <a:cubicBezTo>
                    <a:pt x="13" y="94"/>
                    <a:pt x="13" y="94"/>
                    <a:pt x="13" y="94"/>
                  </a:cubicBezTo>
                  <a:cubicBezTo>
                    <a:pt x="6" y="94"/>
                    <a:pt x="0" y="87"/>
                    <a:pt x="0" y="78"/>
                  </a:cubicBezTo>
                  <a:cubicBezTo>
                    <a:pt x="0" y="16"/>
                    <a:pt x="0" y="16"/>
                    <a:pt x="0" y="16"/>
                  </a:cubicBezTo>
                  <a:cubicBezTo>
                    <a:pt x="0" y="7"/>
                    <a:pt x="6" y="0"/>
                    <a:pt x="13" y="0"/>
                  </a:cubicBezTo>
                  <a:cubicBezTo>
                    <a:pt x="289" y="0"/>
                    <a:pt x="289" y="0"/>
                    <a:pt x="289" y="0"/>
                  </a:cubicBezTo>
                  <a:cubicBezTo>
                    <a:pt x="295" y="0"/>
                    <a:pt x="301" y="7"/>
                    <a:pt x="301" y="16"/>
                  </a:cubicBezTo>
                  <a:lnTo>
                    <a:pt x="301" y="78"/>
                  </a:lnTo>
                  <a:close/>
                </a:path>
              </a:pathLst>
            </a:custGeom>
            <a:solidFill>
              <a:srgbClr val="D7E2E0"/>
            </a:solidFill>
            <a:ln w="9525">
              <a:noFill/>
              <a:round/>
              <a:headEnd/>
              <a:tailEnd/>
            </a:ln>
          </p:spPr>
          <p:txBody>
            <a:bodyPr/>
            <a:lstStyle/>
            <a:p>
              <a:endParaRPr lang="en-US"/>
            </a:p>
          </p:txBody>
        </p:sp>
        <p:sp>
          <p:nvSpPr>
            <p:cNvPr id="89113" name="Rectangle 27"/>
            <p:cNvSpPr>
              <a:spLocks noChangeArrowheads="1"/>
            </p:cNvSpPr>
            <p:nvPr/>
          </p:nvSpPr>
          <p:spPr bwMode="auto">
            <a:xfrm>
              <a:off x="1794" y="793"/>
              <a:ext cx="1404" cy="346"/>
            </a:xfrm>
            <a:prstGeom prst="rect">
              <a:avLst/>
            </a:prstGeom>
            <a:noFill/>
            <a:ln w="9525">
              <a:noFill/>
              <a:miter lim="800000"/>
              <a:headEnd/>
              <a:tailEnd/>
            </a:ln>
          </p:spPr>
          <p:txBody>
            <a:bodyPr lIns="0" tIns="0" rIns="0" bIns="0">
              <a:spAutoFit/>
            </a:bodyPr>
            <a:lstStyle/>
            <a:p>
              <a:pPr marL="1588" indent="-1588" algn="ctr"/>
              <a:r>
                <a:rPr lang="en-US">
                  <a:solidFill>
                    <a:srgbClr val="000000"/>
                  </a:solidFill>
                  <a:latin typeface="Myriad Pro"/>
                </a:rPr>
                <a:t>Profit from sales to business  travelers</a:t>
              </a:r>
              <a:endParaRPr lang="en-US">
                <a:latin typeface="Tahoma" pitchFamily="34" charset="0"/>
              </a:endParaRPr>
            </a:p>
          </p:txBody>
        </p:sp>
        <p:sp>
          <p:nvSpPr>
            <p:cNvPr id="89114" name="Freeform 28"/>
            <p:cNvSpPr>
              <a:spLocks/>
            </p:cNvSpPr>
            <p:nvPr/>
          </p:nvSpPr>
          <p:spPr bwMode="auto">
            <a:xfrm>
              <a:off x="3107" y="2024"/>
              <a:ext cx="1484" cy="504"/>
            </a:xfrm>
            <a:custGeom>
              <a:avLst/>
              <a:gdLst>
                <a:gd name="T0" fmla="*/ 194800 w 292"/>
                <a:gd name="T1" fmla="*/ 62570 h 95"/>
                <a:gd name="T2" fmla="*/ 186145 w 292"/>
                <a:gd name="T3" fmla="*/ 75260 h 95"/>
                <a:gd name="T4" fmla="*/ 8004 w 292"/>
                <a:gd name="T5" fmla="*/ 75260 h 95"/>
                <a:gd name="T6" fmla="*/ 0 w 292"/>
                <a:gd name="T7" fmla="*/ 62570 h 95"/>
                <a:gd name="T8" fmla="*/ 0 w 292"/>
                <a:gd name="T9" fmla="*/ 12695 h 95"/>
                <a:gd name="T10" fmla="*/ 8004 w 292"/>
                <a:gd name="T11" fmla="*/ 0 h 95"/>
                <a:gd name="T12" fmla="*/ 186145 w 292"/>
                <a:gd name="T13" fmla="*/ 0 h 95"/>
                <a:gd name="T14" fmla="*/ 194800 w 292"/>
                <a:gd name="T15" fmla="*/ 12695 h 95"/>
                <a:gd name="T16" fmla="*/ 194800 w 292"/>
                <a:gd name="T17" fmla="*/ 62570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2"/>
                <a:gd name="T28" fmla="*/ 0 h 95"/>
                <a:gd name="T29" fmla="*/ 292 w 292"/>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2" h="95">
                  <a:moveTo>
                    <a:pt x="292" y="79"/>
                  </a:moveTo>
                  <a:cubicBezTo>
                    <a:pt x="292" y="88"/>
                    <a:pt x="286" y="95"/>
                    <a:pt x="279" y="95"/>
                  </a:cubicBezTo>
                  <a:cubicBezTo>
                    <a:pt x="12" y="95"/>
                    <a:pt x="12" y="95"/>
                    <a:pt x="12" y="95"/>
                  </a:cubicBezTo>
                  <a:cubicBezTo>
                    <a:pt x="5" y="95"/>
                    <a:pt x="0" y="88"/>
                    <a:pt x="0" y="79"/>
                  </a:cubicBezTo>
                  <a:cubicBezTo>
                    <a:pt x="0" y="16"/>
                    <a:pt x="0" y="16"/>
                    <a:pt x="0" y="16"/>
                  </a:cubicBezTo>
                  <a:cubicBezTo>
                    <a:pt x="0" y="7"/>
                    <a:pt x="5" y="0"/>
                    <a:pt x="12" y="0"/>
                  </a:cubicBezTo>
                  <a:cubicBezTo>
                    <a:pt x="279" y="0"/>
                    <a:pt x="279" y="0"/>
                    <a:pt x="279" y="0"/>
                  </a:cubicBezTo>
                  <a:cubicBezTo>
                    <a:pt x="286" y="0"/>
                    <a:pt x="292" y="7"/>
                    <a:pt x="292" y="16"/>
                  </a:cubicBezTo>
                  <a:lnTo>
                    <a:pt x="292" y="79"/>
                  </a:lnTo>
                  <a:close/>
                </a:path>
              </a:pathLst>
            </a:custGeom>
            <a:solidFill>
              <a:srgbClr val="D7E2E0"/>
            </a:solidFill>
            <a:ln w="9525">
              <a:noFill/>
              <a:round/>
              <a:headEnd/>
              <a:tailEnd/>
            </a:ln>
          </p:spPr>
          <p:txBody>
            <a:bodyPr/>
            <a:lstStyle/>
            <a:p>
              <a:endParaRPr lang="en-US"/>
            </a:p>
          </p:txBody>
        </p:sp>
        <p:sp>
          <p:nvSpPr>
            <p:cNvPr id="89115" name="Freeform 29"/>
            <p:cNvSpPr>
              <a:spLocks/>
            </p:cNvSpPr>
            <p:nvPr/>
          </p:nvSpPr>
          <p:spPr bwMode="auto">
            <a:xfrm>
              <a:off x="1105" y="700"/>
              <a:ext cx="4079" cy="2913"/>
            </a:xfrm>
            <a:custGeom>
              <a:avLst/>
              <a:gdLst>
                <a:gd name="T0" fmla="*/ 29980 w 2098"/>
                <a:gd name="T1" fmla="*/ 13277 h 1757"/>
                <a:gd name="T2" fmla="*/ 0 w 2098"/>
                <a:gd name="T3" fmla="*/ 13277 h 1757"/>
                <a:gd name="T4" fmla="*/ 0 w 2098"/>
                <a:gd name="T5" fmla="*/ 0 h 1757"/>
                <a:gd name="T6" fmla="*/ 0 60000 65536"/>
                <a:gd name="T7" fmla="*/ 0 60000 65536"/>
                <a:gd name="T8" fmla="*/ 0 60000 65536"/>
                <a:gd name="T9" fmla="*/ 0 w 2098"/>
                <a:gd name="T10" fmla="*/ 0 h 1757"/>
                <a:gd name="T11" fmla="*/ 2098 w 2098"/>
                <a:gd name="T12" fmla="*/ 1757 h 1757"/>
              </a:gdLst>
              <a:ahLst/>
              <a:cxnLst>
                <a:cxn ang="T6">
                  <a:pos x="T0" y="T1"/>
                </a:cxn>
                <a:cxn ang="T7">
                  <a:pos x="T2" y="T3"/>
                </a:cxn>
                <a:cxn ang="T8">
                  <a:pos x="T4" y="T5"/>
                </a:cxn>
              </a:cxnLst>
              <a:rect l="T9" t="T10" r="T11" b="T12"/>
              <a:pathLst>
                <a:path w="2098" h="1757">
                  <a:moveTo>
                    <a:pt x="2098" y="1757"/>
                  </a:moveTo>
                  <a:lnTo>
                    <a:pt x="0" y="1757"/>
                  </a:lnTo>
                  <a:lnTo>
                    <a:pt x="0" y="0"/>
                  </a:lnTo>
                </a:path>
              </a:pathLst>
            </a:custGeom>
            <a:noFill/>
            <a:ln w="7938" cap="flat">
              <a:solidFill>
                <a:srgbClr val="000000"/>
              </a:solidFill>
              <a:prstDash val="solid"/>
              <a:miter lim="800000"/>
              <a:headEnd/>
              <a:tailEnd/>
            </a:ln>
          </p:spPr>
          <p:txBody>
            <a:bodyPr/>
            <a:lstStyle/>
            <a:p>
              <a:endParaRPr lang="en-US"/>
            </a:p>
          </p:txBody>
        </p:sp>
        <p:cxnSp>
          <p:nvCxnSpPr>
            <p:cNvPr id="89116" name="Straight Connector 86"/>
            <p:cNvCxnSpPr>
              <a:cxnSpLocks noChangeShapeType="1"/>
            </p:cNvCxnSpPr>
            <p:nvPr/>
          </p:nvCxnSpPr>
          <p:spPr bwMode="auto">
            <a:xfrm>
              <a:off x="2699" y="3018"/>
              <a:ext cx="0" cy="592"/>
            </a:xfrm>
            <a:prstGeom prst="line">
              <a:avLst/>
            </a:prstGeom>
            <a:noFill/>
            <a:ln w="15875">
              <a:solidFill>
                <a:srgbClr val="808080"/>
              </a:solidFill>
              <a:prstDash val="sysDot"/>
              <a:round/>
              <a:headEnd/>
              <a:tailEnd type="none" w="med" len="lg"/>
            </a:ln>
          </p:spPr>
        </p:cxnSp>
        <p:cxnSp>
          <p:nvCxnSpPr>
            <p:cNvPr id="89117" name="Straight Connector 86"/>
            <p:cNvCxnSpPr>
              <a:cxnSpLocks noChangeShapeType="1"/>
            </p:cNvCxnSpPr>
            <p:nvPr/>
          </p:nvCxnSpPr>
          <p:spPr bwMode="auto">
            <a:xfrm>
              <a:off x="1227" y="2996"/>
              <a:ext cx="1507" cy="0"/>
            </a:xfrm>
            <a:prstGeom prst="line">
              <a:avLst/>
            </a:prstGeom>
            <a:noFill/>
            <a:ln w="15875">
              <a:solidFill>
                <a:srgbClr val="808080"/>
              </a:solidFill>
              <a:prstDash val="sysDot"/>
              <a:round/>
              <a:headEnd/>
              <a:tailEnd type="none" w="med" len="lg"/>
            </a:ln>
          </p:spPr>
        </p:cxnSp>
        <p:sp>
          <p:nvSpPr>
            <p:cNvPr id="89118" name="Rectangle 32"/>
            <p:cNvSpPr>
              <a:spLocks noChangeArrowheads="1"/>
            </p:cNvSpPr>
            <p:nvPr/>
          </p:nvSpPr>
          <p:spPr bwMode="auto">
            <a:xfrm>
              <a:off x="3168" y="2097"/>
              <a:ext cx="1300" cy="346"/>
            </a:xfrm>
            <a:prstGeom prst="rect">
              <a:avLst/>
            </a:prstGeom>
            <a:noFill/>
            <a:ln w="9525">
              <a:noFill/>
              <a:miter lim="800000"/>
              <a:headEnd/>
              <a:tailEnd/>
            </a:ln>
          </p:spPr>
          <p:txBody>
            <a:bodyPr lIns="0" tIns="0" rIns="0" bIns="0">
              <a:spAutoFit/>
            </a:bodyPr>
            <a:lstStyle/>
            <a:p>
              <a:pPr marL="1588" indent="-1588" algn="ctr"/>
              <a:r>
                <a:rPr lang="en-US">
                  <a:solidFill>
                    <a:srgbClr val="000000"/>
                  </a:solidFill>
                  <a:latin typeface="Myriad Pro"/>
                </a:rPr>
                <a:t>Profit from sales to student travelers</a:t>
              </a:r>
              <a:endParaRPr lang="en-US">
                <a:latin typeface="Tahoma" pitchFamily="34" charset="0"/>
              </a:endParaRPr>
            </a:p>
          </p:txBody>
        </p:sp>
      </p:gr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Rot="1" noChangeArrowheads="1"/>
          </p:cNvSpPr>
          <p:nvPr>
            <p:ph type="title" idx="4294967295"/>
          </p:nvPr>
        </p:nvSpPr>
        <p:spPr>
          <a:xfrm>
            <a:off x="827088" y="76200"/>
            <a:ext cx="8083550" cy="609600"/>
          </a:xfrm>
        </p:spPr>
        <p:txBody>
          <a:bodyPr/>
          <a:lstStyle/>
          <a:p>
            <a:pPr>
              <a:defRPr/>
            </a:pPr>
            <a:r>
              <a:rPr lang="en-US" dirty="0" smtClean="0"/>
              <a:t>Price Discrimination and Elasticity</a:t>
            </a:r>
            <a:endParaRPr lang="en-US" b="0" dirty="0" smtClean="0"/>
          </a:p>
        </p:txBody>
      </p:sp>
      <p:sp>
        <p:nvSpPr>
          <p:cNvPr id="104453" name="Rectangle 5"/>
          <p:cNvSpPr>
            <a:spLocks noChangeArrowheads="1"/>
          </p:cNvSpPr>
          <p:nvPr/>
        </p:nvSpPr>
        <p:spPr bwMode="auto">
          <a:xfrm>
            <a:off x="719138" y="800100"/>
            <a:ext cx="8191500" cy="5797550"/>
          </a:xfrm>
          <a:prstGeom prst="rect">
            <a:avLst/>
          </a:prstGeom>
          <a:noFill/>
          <a:ln w="9525" algn="ctr">
            <a:noFill/>
            <a:miter lim="800000"/>
            <a:headEnd/>
            <a:tailEnd type="none" w="med" len="lg"/>
          </a:ln>
        </p:spPr>
        <p:txBody>
          <a:bodyPr/>
          <a:lstStyle/>
          <a:p>
            <a:pPr marL="230188" indent="-230188">
              <a:lnSpc>
                <a:spcPct val="90000"/>
              </a:lnSpc>
              <a:buClr>
                <a:schemeClr val="tx1"/>
              </a:buClr>
              <a:buFont typeface="Arial" charset="0"/>
              <a:buChar char="•"/>
            </a:pPr>
            <a:r>
              <a:rPr lang="en-US" sz="2400"/>
              <a:t>The better a monopolist can price discriminate, the more profits the monopolist can earn.</a:t>
            </a:r>
          </a:p>
          <a:p>
            <a:pPr marL="230188" indent="-230188">
              <a:lnSpc>
                <a:spcPct val="90000"/>
              </a:lnSpc>
              <a:buClr>
                <a:schemeClr val="tx1"/>
              </a:buClr>
              <a:buFont typeface="Arial" charset="0"/>
              <a:buChar char="•"/>
            </a:pPr>
            <a:endParaRPr lang="en-US" sz="2400"/>
          </a:p>
          <a:p>
            <a:pPr marL="230188" indent="-230188">
              <a:lnSpc>
                <a:spcPct val="90000"/>
              </a:lnSpc>
              <a:buClr>
                <a:schemeClr val="tx1"/>
              </a:buClr>
              <a:buFont typeface="Arial" charset="0"/>
              <a:buChar char="•"/>
            </a:pPr>
            <a:r>
              <a:rPr lang="en-US" sz="2400"/>
              <a:t>A monopolist able to charge each consumer according to his or her willingness to pay for the good achieves </a:t>
            </a:r>
            <a:r>
              <a:rPr lang="en-US" sz="2400" i="1"/>
              <a:t>perfect price discrimination </a:t>
            </a:r>
            <a:r>
              <a:rPr lang="en-US" sz="2400"/>
              <a:t>and does not cause inefficiency because all mutually beneficial transactions are exploited.</a:t>
            </a:r>
          </a:p>
          <a:p>
            <a:pPr marL="742950" lvl="1" indent="-285750">
              <a:lnSpc>
                <a:spcPct val="90000"/>
              </a:lnSpc>
              <a:buClr>
                <a:schemeClr val="tx1"/>
              </a:buClr>
              <a:buFont typeface="Arial" charset="0"/>
              <a:buChar char="•"/>
            </a:pPr>
            <a:endParaRPr lang="en-US" sz="2400"/>
          </a:p>
          <a:p>
            <a:pPr marL="742950" lvl="1" indent="-285750">
              <a:lnSpc>
                <a:spcPct val="90000"/>
              </a:lnSpc>
              <a:buClr>
                <a:schemeClr val="tx1"/>
              </a:buClr>
              <a:buFont typeface="Arial" charset="0"/>
              <a:buChar char="•"/>
            </a:pPr>
            <a:r>
              <a:rPr lang="en-US" sz="2400"/>
              <a:t>In this case, the consumers do not get any consumer surplus! The entire surplus is captured by the monopolist in the form of profit.</a:t>
            </a:r>
            <a:br>
              <a:rPr lang="en-US" sz="2400"/>
            </a:br>
            <a:endParaRPr lang="en-US" sz="2400"/>
          </a:p>
          <a:p>
            <a:pPr marL="230188" indent="-230188">
              <a:lnSpc>
                <a:spcPct val="90000"/>
              </a:lnSpc>
              <a:buClr>
                <a:schemeClr val="tx1"/>
              </a:buClr>
              <a:buFont typeface="Arial" charset="0"/>
              <a:buChar char="•"/>
            </a:pPr>
            <a:r>
              <a:rPr lang="en-US" sz="2400"/>
              <a:t>Perfect price discrimination is never possible in practice. </a:t>
            </a:r>
          </a:p>
          <a:p>
            <a:pPr marL="742950" lvl="1" indent="-285750">
              <a:lnSpc>
                <a:spcPct val="90000"/>
              </a:lnSpc>
              <a:spcBef>
                <a:spcPct val="25000"/>
              </a:spcBef>
              <a:buClr>
                <a:schemeClr val="tx1"/>
              </a:buClr>
              <a:buFont typeface="Arial" charset="0"/>
              <a:buChar char="•"/>
            </a:pPr>
            <a:r>
              <a:rPr lang="en-US" sz="2200"/>
              <a:t>Inability to achieve perfect price discrimination is a problem of economic signals because consumers have an incentive to, and can easily disguise their true willingness to pay.</a:t>
            </a: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5" name="Picture 3"/>
          <p:cNvPicPr>
            <a:picLocks noChangeAspect="1"/>
          </p:cNvPicPr>
          <p:nvPr/>
        </p:nvPicPr>
        <p:blipFill>
          <a:blip r:embed="rId3"/>
          <a:srcRect/>
          <a:stretch>
            <a:fillRect/>
          </a:stretch>
        </p:blipFill>
        <p:spPr bwMode="auto">
          <a:xfrm>
            <a:off x="3175" y="0"/>
            <a:ext cx="9140825" cy="6858000"/>
          </a:xfrm>
          <a:prstGeom prst="rect">
            <a:avLst/>
          </a:prstGeom>
          <a:noFill/>
          <a:ln w="9525">
            <a:noFill/>
            <a:miter lim="800000"/>
            <a:headEnd/>
            <a:tailEnd/>
          </a:ln>
        </p:spPr>
      </p:pic>
      <p:sp>
        <p:nvSpPr>
          <p:cNvPr id="68" name="Rectangle 2"/>
          <p:cNvSpPr>
            <a:spLocks noGrp="1" noRot="1" noChangeArrowheads="1"/>
          </p:cNvSpPr>
          <p:nvPr>
            <p:ph type="title" idx="4294967295"/>
          </p:nvPr>
        </p:nvSpPr>
        <p:spPr>
          <a:xfrm>
            <a:off x="420688" y="115888"/>
            <a:ext cx="7969250" cy="555625"/>
          </a:xfrm>
        </p:spPr>
        <p:txBody>
          <a:bodyPr/>
          <a:lstStyle/>
          <a:p>
            <a:pPr>
              <a:defRPr/>
            </a:pPr>
            <a:r>
              <a:rPr lang="en-US" sz="1700" smtClean="0">
                <a:effectLst>
                  <a:outerShdw blurRad="38100" dist="38100" dir="2700000" algn="tl">
                    <a:srgbClr val="C0C0C0"/>
                  </a:outerShdw>
                </a:effectLst>
              </a:rPr>
              <a:t>Price Discrimination</a:t>
            </a:r>
          </a:p>
        </p:txBody>
      </p:sp>
      <p:sp>
        <p:nvSpPr>
          <p:cNvPr id="69" name="Freeform 4"/>
          <p:cNvSpPr>
            <a:spLocks/>
          </p:cNvSpPr>
          <p:nvPr/>
        </p:nvSpPr>
        <p:spPr bwMode="auto">
          <a:xfrm>
            <a:off x="5407025" y="2546350"/>
            <a:ext cx="2081213" cy="1530350"/>
          </a:xfrm>
          <a:custGeom>
            <a:avLst/>
            <a:gdLst>
              <a:gd name="T0" fmla="*/ 2147483647 w 1078"/>
              <a:gd name="T1" fmla="*/ 0 h 656"/>
              <a:gd name="T2" fmla="*/ 0 w 1078"/>
              <a:gd name="T3" fmla="*/ 0 h 656"/>
              <a:gd name="T4" fmla="*/ 0 w 1078"/>
              <a:gd name="T5" fmla="*/ 2147483647 h 656"/>
              <a:gd name="T6" fmla="*/ 2147483647 w 1078"/>
              <a:gd name="T7" fmla="*/ 2147483647 h 656"/>
              <a:gd name="T8" fmla="*/ 2147483647 w 1078"/>
              <a:gd name="T9" fmla="*/ 2147483647 h 656"/>
              <a:gd name="T10" fmla="*/ 2147483647 w 1078"/>
              <a:gd name="T11" fmla="*/ 2147483647 h 656"/>
              <a:gd name="T12" fmla="*/ 2147483647 w 1078"/>
              <a:gd name="T13" fmla="*/ 2147483647 h 656"/>
              <a:gd name="T14" fmla="*/ 2147483647 w 1078"/>
              <a:gd name="T15" fmla="*/ 2147483647 h 656"/>
              <a:gd name="T16" fmla="*/ 2147483647 w 1078"/>
              <a:gd name="T17" fmla="*/ 0 h 6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78"/>
              <a:gd name="T28" fmla="*/ 0 h 656"/>
              <a:gd name="T29" fmla="*/ 1078 w 1078"/>
              <a:gd name="T30" fmla="*/ 656 h 6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78" h="656">
                <a:moveTo>
                  <a:pt x="206" y="0"/>
                </a:moveTo>
                <a:lnTo>
                  <a:pt x="0" y="0"/>
                </a:lnTo>
                <a:lnTo>
                  <a:pt x="0" y="656"/>
                </a:lnTo>
                <a:lnTo>
                  <a:pt x="1078" y="656"/>
                </a:lnTo>
                <a:lnTo>
                  <a:pt x="1078" y="477"/>
                </a:lnTo>
                <a:lnTo>
                  <a:pt x="716" y="477"/>
                </a:lnTo>
                <a:lnTo>
                  <a:pt x="716" y="279"/>
                </a:lnTo>
                <a:lnTo>
                  <a:pt x="206" y="279"/>
                </a:lnTo>
                <a:lnTo>
                  <a:pt x="206" y="0"/>
                </a:lnTo>
                <a:close/>
              </a:path>
            </a:pathLst>
          </a:custGeom>
          <a:solidFill>
            <a:srgbClr val="D7EDE7"/>
          </a:solidFill>
          <a:ln w="9525">
            <a:noFill/>
            <a:round/>
            <a:headEnd/>
            <a:tailEnd/>
          </a:ln>
        </p:spPr>
        <p:txBody>
          <a:bodyPr/>
          <a:lstStyle/>
          <a:p>
            <a:endParaRPr lang="en-US"/>
          </a:p>
        </p:txBody>
      </p:sp>
      <p:sp>
        <p:nvSpPr>
          <p:cNvPr id="70" name="Freeform 5"/>
          <p:cNvSpPr>
            <a:spLocks/>
          </p:cNvSpPr>
          <p:nvPr/>
        </p:nvSpPr>
        <p:spPr bwMode="auto">
          <a:xfrm>
            <a:off x="865188" y="2892425"/>
            <a:ext cx="1851025" cy="1182688"/>
          </a:xfrm>
          <a:custGeom>
            <a:avLst/>
            <a:gdLst>
              <a:gd name="T0" fmla="*/ 0 w 959"/>
              <a:gd name="T1" fmla="*/ 0 h 507"/>
              <a:gd name="T2" fmla="*/ 0 w 959"/>
              <a:gd name="T3" fmla="*/ 2147483647 h 507"/>
              <a:gd name="T4" fmla="*/ 2147483647 w 959"/>
              <a:gd name="T5" fmla="*/ 2147483647 h 507"/>
              <a:gd name="T6" fmla="*/ 2147483647 w 959"/>
              <a:gd name="T7" fmla="*/ 2147483647 h 507"/>
              <a:gd name="T8" fmla="*/ 2147483647 w 959"/>
              <a:gd name="T9" fmla="*/ 2147483647 h 507"/>
              <a:gd name="T10" fmla="*/ 2147483647 w 959"/>
              <a:gd name="T11" fmla="*/ 0 h 507"/>
              <a:gd name="T12" fmla="*/ 0 w 959"/>
              <a:gd name="T13" fmla="*/ 0 h 507"/>
              <a:gd name="T14" fmla="*/ 0 60000 65536"/>
              <a:gd name="T15" fmla="*/ 0 60000 65536"/>
              <a:gd name="T16" fmla="*/ 0 60000 65536"/>
              <a:gd name="T17" fmla="*/ 0 60000 65536"/>
              <a:gd name="T18" fmla="*/ 0 60000 65536"/>
              <a:gd name="T19" fmla="*/ 0 60000 65536"/>
              <a:gd name="T20" fmla="*/ 0 60000 65536"/>
              <a:gd name="T21" fmla="*/ 0 w 959"/>
              <a:gd name="T22" fmla="*/ 0 h 507"/>
              <a:gd name="T23" fmla="*/ 959 w 959"/>
              <a:gd name="T24" fmla="*/ 507 h 50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59" h="507">
                <a:moveTo>
                  <a:pt x="0" y="0"/>
                </a:moveTo>
                <a:lnTo>
                  <a:pt x="0" y="507"/>
                </a:lnTo>
                <a:lnTo>
                  <a:pt x="959" y="507"/>
                </a:lnTo>
                <a:lnTo>
                  <a:pt x="959" y="262"/>
                </a:lnTo>
                <a:lnTo>
                  <a:pt x="480" y="262"/>
                </a:lnTo>
                <a:lnTo>
                  <a:pt x="480" y="0"/>
                </a:lnTo>
                <a:lnTo>
                  <a:pt x="0" y="0"/>
                </a:lnTo>
                <a:close/>
              </a:path>
            </a:pathLst>
          </a:custGeom>
          <a:solidFill>
            <a:srgbClr val="D7EDE7"/>
          </a:solidFill>
          <a:ln w="9525">
            <a:noFill/>
            <a:round/>
            <a:headEnd/>
            <a:tailEnd/>
          </a:ln>
        </p:spPr>
        <p:txBody>
          <a:bodyPr/>
          <a:lstStyle/>
          <a:p>
            <a:endParaRPr lang="en-US"/>
          </a:p>
        </p:txBody>
      </p:sp>
      <p:sp>
        <p:nvSpPr>
          <p:cNvPr id="71" name="Rectangle 6"/>
          <p:cNvSpPr>
            <a:spLocks noChangeArrowheads="1"/>
          </p:cNvSpPr>
          <p:nvPr/>
        </p:nvSpPr>
        <p:spPr bwMode="auto">
          <a:xfrm>
            <a:off x="3600450" y="4976813"/>
            <a:ext cx="768350" cy="258762"/>
          </a:xfrm>
          <a:prstGeom prst="rect">
            <a:avLst/>
          </a:prstGeom>
          <a:noFill/>
          <a:ln w="9525">
            <a:noFill/>
            <a:miter lim="800000"/>
            <a:headEnd/>
            <a:tailEnd/>
          </a:ln>
        </p:spPr>
        <p:txBody>
          <a:bodyPr wrap="none" lIns="0" tIns="0" rIns="0" bIns="0">
            <a:spAutoFit/>
          </a:bodyPr>
          <a:lstStyle/>
          <a:p>
            <a:pPr marL="1588" indent="-1588" algn="ctr"/>
            <a:r>
              <a:rPr lang="en-US" sz="1700">
                <a:solidFill>
                  <a:srgbClr val="000000"/>
                </a:solidFill>
              </a:rPr>
              <a:t>Quantity</a:t>
            </a:r>
            <a:endParaRPr lang="en-US" sz="1700"/>
          </a:p>
        </p:txBody>
      </p:sp>
      <p:sp>
        <p:nvSpPr>
          <p:cNvPr id="72" name="Rectangle 7"/>
          <p:cNvSpPr>
            <a:spLocks noChangeArrowheads="1"/>
          </p:cNvSpPr>
          <p:nvPr/>
        </p:nvSpPr>
        <p:spPr bwMode="auto">
          <a:xfrm>
            <a:off x="311150" y="1789113"/>
            <a:ext cx="546100" cy="517525"/>
          </a:xfrm>
          <a:prstGeom prst="rect">
            <a:avLst/>
          </a:prstGeom>
          <a:noFill/>
          <a:ln w="9525">
            <a:noFill/>
            <a:miter lim="800000"/>
            <a:headEnd/>
            <a:tailEnd/>
          </a:ln>
        </p:spPr>
        <p:txBody>
          <a:bodyPr lIns="0" tIns="0" rIns="0" bIns="0">
            <a:spAutoFit/>
          </a:bodyPr>
          <a:lstStyle/>
          <a:p>
            <a:pPr marL="1588" indent="-1588" algn="ctr"/>
            <a:r>
              <a:rPr lang="en-US" sz="1700">
                <a:solidFill>
                  <a:srgbClr val="000000"/>
                </a:solidFill>
              </a:rPr>
              <a:t>Price, cost</a:t>
            </a:r>
            <a:endParaRPr lang="en-US" sz="1700"/>
          </a:p>
        </p:txBody>
      </p:sp>
      <p:sp>
        <p:nvSpPr>
          <p:cNvPr id="73" name="Rectangle 9"/>
          <p:cNvSpPr>
            <a:spLocks noChangeArrowheads="1"/>
          </p:cNvSpPr>
          <p:nvPr/>
        </p:nvSpPr>
        <p:spPr bwMode="auto">
          <a:xfrm>
            <a:off x="434975" y="1020763"/>
            <a:ext cx="4124325" cy="517525"/>
          </a:xfrm>
          <a:prstGeom prst="rect">
            <a:avLst/>
          </a:prstGeom>
          <a:noFill/>
          <a:ln w="9525">
            <a:noFill/>
            <a:miter lim="800000"/>
            <a:headEnd/>
            <a:tailEnd/>
          </a:ln>
        </p:spPr>
        <p:txBody>
          <a:bodyPr lIns="0" tIns="0" rIns="0" bIns="0">
            <a:spAutoFit/>
          </a:bodyPr>
          <a:lstStyle/>
          <a:p>
            <a:pPr marL="342900" indent="-342900" algn="ctr">
              <a:buFontTx/>
              <a:buAutoNum type="alphaLcParenBoth"/>
            </a:pPr>
            <a:r>
              <a:rPr lang="en-US" sz="1700" b="1">
                <a:solidFill>
                  <a:srgbClr val="000000"/>
                </a:solidFill>
              </a:rPr>
              <a:t>Price Discrimination with Two </a:t>
            </a:r>
          </a:p>
          <a:p>
            <a:pPr marL="342900" indent="-342900" algn="ctr"/>
            <a:r>
              <a:rPr lang="en-US" sz="1700" b="1">
                <a:solidFill>
                  <a:srgbClr val="000000"/>
                </a:solidFill>
              </a:rPr>
              <a:t>	Different Prices</a:t>
            </a:r>
            <a:endParaRPr lang="en-US" sz="1700" b="1"/>
          </a:p>
        </p:txBody>
      </p:sp>
      <p:sp>
        <p:nvSpPr>
          <p:cNvPr id="93192" name="Rectangle 13"/>
          <p:cNvSpPr>
            <a:spLocks noChangeArrowheads="1"/>
          </p:cNvSpPr>
          <p:nvPr/>
        </p:nvSpPr>
        <p:spPr bwMode="auto">
          <a:xfrm>
            <a:off x="5148263" y="996950"/>
            <a:ext cx="3529012" cy="517525"/>
          </a:xfrm>
          <a:prstGeom prst="rect">
            <a:avLst/>
          </a:prstGeom>
          <a:noFill/>
          <a:ln w="9525">
            <a:noFill/>
            <a:miter lim="800000"/>
            <a:headEnd/>
            <a:tailEnd/>
          </a:ln>
        </p:spPr>
        <p:txBody>
          <a:bodyPr lIns="0" tIns="0" rIns="0" bIns="0">
            <a:spAutoFit/>
          </a:bodyPr>
          <a:lstStyle/>
          <a:p>
            <a:pPr marL="1588" indent="-1588" algn="ctr"/>
            <a:r>
              <a:rPr lang="en-US" sz="1700" b="1">
                <a:solidFill>
                  <a:srgbClr val="000000"/>
                </a:solidFill>
              </a:rPr>
              <a:t>(b) Price Discrimination with Three </a:t>
            </a:r>
          </a:p>
          <a:p>
            <a:pPr marL="1588" indent="-1588" algn="ctr"/>
            <a:r>
              <a:rPr lang="en-US" sz="1700" b="1">
                <a:solidFill>
                  <a:srgbClr val="000000"/>
                </a:solidFill>
              </a:rPr>
              <a:t>Different Prices</a:t>
            </a:r>
            <a:endParaRPr lang="en-US" sz="1700" b="1"/>
          </a:p>
        </p:txBody>
      </p:sp>
      <p:sp>
        <p:nvSpPr>
          <p:cNvPr id="75" name="Rectangle 14"/>
          <p:cNvSpPr>
            <a:spLocks noChangeArrowheads="1"/>
          </p:cNvSpPr>
          <p:nvPr/>
        </p:nvSpPr>
        <p:spPr bwMode="auto">
          <a:xfrm>
            <a:off x="431800" y="2724150"/>
            <a:ext cx="111125" cy="258763"/>
          </a:xfrm>
          <a:prstGeom prst="rect">
            <a:avLst/>
          </a:prstGeom>
          <a:noFill/>
          <a:ln w="9525">
            <a:noFill/>
            <a:miter lim="800000"/>
            <a:headEnd/>
            <a:tailEnd/>
          </a:ln>
        </p:spPr>
        <p:txBody>
          <a:bodyPr wrap="none" lIns="0" tIns="0" rIns="0" bIns="0">
            <a:spAutoFit/>
          </a:bodyPr>
          <a:lstStyle/>
          <a:p>
            <a:pPr marL="1588" indent="-1588"/>
            <a:r>
              <a:rPr lang="en-US" sz="1700" i="1">
                <a:solidFill>
                  <a:srgbClr val="000000"/>
                </a:solidFill>
              </a:rPr>
              <a:t>P</a:t>
            </a:r>
            <a:endParaRPr lang="en-US" sz="1700" i="1"/>
          </a:p>
        </p:txBody>
      </p:sp>
      <p:sp>
        <p:nvSpPr>
          <p:cNvPr id="76" name="Rectangle 15"/>
          <p:cNvSpPr>
            <a:spLocks noChangeArrowheads="1"/>
          </p:cNvSpPr>
          <p:nvPr/>
        </p:nvSpPr>
        <p:spPr bwMode="auto">
          <a:xfrm>
            <a:off x="468313" y="2867025"/>
            <a:ext cx="382587" cy="258763"/>
          </a:xfrm>
          <a:prstGeom prst="rect">
            <a:avLst/>
          </a:prstGeom>
          <a:noFill/>
          <a:ln w="9525">
            <a:noFill/>
            <a:miter lim="800000"/>
            <a:headEnd/>
            <a:tailEnd/>
          </a:ln>
        </p:spPr>
        <p:txBody>
          <a:bodyPr wrap="none" lIns="0" tIns="0" rIns="0" bIns="0">
            <a:spAutoFit/>
          </a:bodyPr>
          <a:lstStyle/>
          <a:p>
            <a:pPr marL="1588" indent="-1588"/>
            <a:r>
              <a:rPr lang="en-US" sz="1700" i="1">
                <a:solidFill>
                  <a:srgbClr val="000000"/>
                </a:solidFill>
              </a:rPr>
              <a:t>high</a:t>
            </a:r>
            <a:endParaRPr lang="en-US" sz="1700" i="1"/>
          </a:p>
        </p:txBody>
      </p:sp>
      <p:sp>
        <p:nvSpPr>
          <p:cNvPr id="77" name="Line 16"/>
          <p:cNvSpPr>
            <a:spLocks noChangeShapeType="1"/>
          </p:cNvSpPr>
          <p:nvPr/>
        </p:nvSpPr>
        <p:spPr bwMode="auto">
          <a:xfrm>
            <a:off x="865188" y="4075113"/>
            <a:ext cx="3384550" cy="0"/>
          </a:xfrm>
          <a:prstGeom prst="line">
            <a:avLst/>
          </a:prstGeom>
          <a:noFill/>
          <a:ln w="30163">
            <a:solidFill>
              <a:srgbClr val="F3716D"/>
            </a:solidFill>
            <a:miter lim="800000"/>
            <a:headEnd/>
            <a:tailEnd/>
          </a:ln>
        </p:spPr>
        <p:txBody>
          <a:bodyPr/>
          <a:lstStyle/>
          <a:p>
            <a:endParaRPr lang="en-US"/>
          </a:p>
        </p:txBody>
      </p:sp>
      <p:sp>
        <p:nvSpPr>
          <p:cNvPr id="78" name="Rectangle 17"/>
          <p:cNvSpPr>
            <a:spLocks noChangeArrowheads="1"/>
          </p:cNvSpPr>
          <p:nvPr/>
        </p:nvSpPr>
        <p:spPr bwMode="auto">
          <a:xfrm>
            <a:off x="4265613" y="3944938"/>
            <a:ext cx="296862" cy="258762"/>
          </a:xfrm>
          <a:prstGeom prst="rect">
            <a:avLst/>
          </a:prstGeom>
          <a:noFill/>
          <a:ln w="9525">
            <a:noFill/>
            <a:miter lim="800000"/>
            <a:headEnd/>
            <a:tailEnd/>
          </a:ln>
        </p:spPr>
        <p:txBody>
          <a:bodyPr wrap="none" lIns="0" tIns="0" rIns="0" bIns="0">
            <a:spAutoFit/>
          </a:bodyPr>
          <a:lstStyle/>
          <a:p>
            <a:pPr marL="1588" indent="-1588"/>
            <a:r>
              <a:rPr lang="en-US" sz="1700" i="1">
                <a:solidFill>
                  <a:srgbClr val="000000"/>
                </a:solidFill>
              </a:rPr>
              <a:t>MC</a:t>
            </a:r>
            <a:endParaRPr lang="en-US" sz="1700" i="1"/>
          </a:p>
        </p:txBody>
      </p:sp>
      <p:sp>
        <p:nvSpPr>
          <p:cNvPr id="79" name="Rectangle 18"/>
          <p:cNvSpPr>
            <a:spLocks noChangeArrowheads="1"/>
          </p:cNvSpPr>
          <p:nvPr/>
        </p:nvSpPr>
        <p:spPr bwMode="auto">
          <a:xfrm>
            <a:off x="4186238" y="4367213"/>
            <a:ext cx="133350" cy="258762"/>
          </a:xfrm>
          <a:prstGeom prst="rect">
            <a:avLst/>
          </a:prstGeom>
          <a:noFill/>
          <a:ln w="9525">
            <a:noFill/>
            <a:miter lim="800000"/>
            <a:headEnd/>
            <a:tailEnd/>
          </a:ln>
        </p:spPr>
        <p:txBody>
          <a:bodyPr wrap="none" lIns="0" tIns="0" rIns="0" bIns="0">
            <a:spAutoFit/>
          </a:bodyPr>
          <a:lstStyle/>
          <a:p>
            <a:pPr marL="1588" indent="-1588"/>
            <a:r>
              <a:rPr lang="en-US" sz="1700" i="1">
                <a:solidFill>
                  <a:srgbClr val="000000"/>
                </a:solidFill>
              </a:rPr>
              <a:t>D</a:t>
            </a:r>
            <a:endParaRPr lang="en-US" sz="1700" i="1"/>
          </a:p>
        </p:txBody>
      </p:sp>
      <p:sp>
        <p:nvSpPr>
          <p:cNvPr id="80" name="Rectangle 19"/>
          <p:cNvSpPr>
            <a:spLocks noChangeArrowheads="1"/>
          </p:cNvSpPr>
          <p:nvPr/>
        </p:nvSpPr>
        <p:spPr bwMode="auto">
          <a:xfrm>
            <a:off x="431800" y="3348038"/>
            <a:ext cx="111125" cy="258762"/>
          </a:xfrm>
          <a:prstGeom prst="rect">
            <a:avLst/>
          </a:prstGeom>
          <a:noFill/>
          <a:ln w="9525">
            <a:noFill/>
            <a:miter lim="800000"/>
            <a:headEnd/>
            <a:tailEnd/>
          </a:ln>
        </p:spPr>
        <p:txBody>
          <a:bodyPr wrap="none" lIns="0" tIns="0" rIns="0" bIns="0">
            <a:spAutoFit/>
          </a:bodyPr>
          <a:lstStyle/>
          <a:p>
            <a:pPr marL="1588" indent="-1588"/>
            <a:r>
              <a:rPr lang="en-US" sz="1700" i="1">
                <a:solidFill>
                  <a:srgbClr val="000000"/>
                </a:solidFill>
              </a:rPr>
              <a:t>P</a:t>
            </a:r>
            <a:endParaRPr lang="en-US" sz="1700" i="1"/>
          </a:p>
        </p:txBody>
      </p:sp>
      <p:sp>
        <p:nvSpPr>
          <p:cNvPr id="81" name="Rectangle 20"/>
          <p:cNvSpPr>
            <a:spLocks noChangeArrowheads="1"/>
          </p:cNvSpPr>
          <p:nvPr/>
        </p:nvSpPr>
        <p:spPr bwMode="auto">
          <a:xfrm>
            <a:off x="539750" y="3476625"/>
            <a:ext cx="314325" cy="258763"/>
          </a:xfrm>
          <a:prstGeom prst="rect">
            <a:avLst/>
          </a:prstGeom>
          <a:noFill/>
          <a:ln w="9525">
            <a:noFill/>
            <a:miter lim="800000"/>
            <a:headEnd/>
            <a:tailEnd/>
          </a:ln>
        </p:spPr>
        <p:txBody>
          <a:bodyPr wrap="none" lIns="0" tIns="0" rIns="0" bIns="0">
            <a:spAutoFit/>
          </a:bodyPr>
          <a:lstStyle/>
          <a:p>
            <a:pPr marL="1588" indent="-1588"/>
            <a:r>
              <a:rPr lang="en-US" sz="1700" i="1">
                <a:solidFill>
                  <a:srgbClr val="000000"/>
                </a:solidFill>
              </a:rPr>
              <a:t>low</a:t>
            </a:r>
            <a:endParaRPr lang="en-US" sz="1700" i="1"/>
          </a:p>
        </p:txBody>
      </p:sp>
      <p:sp>
        <p:nvSpPr>
          <p:cNvPr id="82" name="Freeform 21"/>
          <p:cNvSpPr>
            <a:spLocks/>
          </p:cNvSpPr>
          <p:nvPr/>
        </p:nvSpPr>
        <p:spPr bwMode="auto">
          <a:xfrm>
            <a:off x="323850" y="5229225"/>
            <a:ext cx="1431925" cy="1409700"/>
          </a:xfrm>
          <a:custGeom>
            <a:avLst/>
            <a:gdLst>
              <a:gd name="T0" fmla="*/ 2147483647 w 185"/>
              <a:gd name="T1" fmla="*/ 2147483647 h 211"/>
              <a:gd name="T2" fmla="*/ 2147483647 w 185"/>
              <a:gd name="T3" fmla="*/ 2147483647 h 211"/>
              <a:gd name="T4" fmla="*/ 2147483647 w 185"/>
              <a:gd name="T5" fmla="*/ 2147483647 h 211"/>
              <a:gd name="T6" fmla="*/ 0 w 185"/>
              <a:gd name="T7" fmla="*/ 2147483647 h 211"/>
              <a:gd name="T8" fmla="*/ 0 w 185"/>
              <a:gd name="T9" fmla="*/ 2147483647 h 211"/>
              <a:gd name="T10" fmla="*/ 2147483647 w 185"/>
              <a:gd name="T11" fmla="*/ 0 h 211"/>
              <a:gd name="T12" fmla="*/ 2147483647 w 185"/>
              <a:gd name="T13" fmla="*/ 0 h 211"/>
              <a:gd name="T14" fmla="*/ 2147483647 w 185"/>
              <a:gd name="T15" fmla="*/ 2147483647 h 211"/>
              <a:gd name="T16" fmla="*/ 2147483647 w 185"/>
              <a:gd name="T17" fmla="*/ 2147483647 h 2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5"/>
              <a:gd name="T28" fmla="*/ 0 h 211"/>
              <a:gd name="T29" fmla="*/ 185 w 185"/>
              <a:gd name="T30" fmla="*/ 211 h 2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5" h="211">
                <a:moveTo>
                  <a:pt x="185" y="195"/>
                </a:moveTo>
                <a:cubicBezTo>
                  <a:pt x="185" y="204"/>
                  <a:pt x="178" y="211"/>
                  <a:pt x="169" y="211"/>
                </a:cubicBezTo>
                <a:cubicBezTo>
                  <a:pt x="16" y="211"/>
                  <a:pt x="16" y="211"/>
                  <a:pt x="16" y="211"/>
                </a:cubicBezTo>
                <a:cubicBezTo>
                  <a:pt x="7" y="211"/>
                  <a:pt x="0" y="204"/>
                  <a:pt x="0" y="195"/>
                </a:cubicBezTo>
                <a:cubicBezTo>
                  <a:pt x="0" y="16"/>
                  <a:pt x="0" y="16"/>
                  <a:pt x="0" y="16"/>
                </a:cubicBezTo>
                <a:cubicBezTo>
                  <a:pt x="0" y="7"/>
                  <a:pt x="7" y="0"/>
                  <a:pt x="16" y="0"/>
                </a:cubicBezTo>
                <a:cubicBezTo>
                  <a:pt x="169" y="0"/>
                  <a:pt x="169" y="0"/>
                  <a:pt x="169" y="0"/>
                </a:cubicBezTo>
                <a:cubicBezTo>
                  <a:pt x="178" y="0"/>
                  <a:pt x="185" y="7"/>
                  <a:pt x="185" y="16"/>
                </a:cubicBezTo>
                <a:lnTo>
                  <a:pt x="185" y="195"/>
                </a:lnTo>
                <a:close/>
              </a:path>
            </a:pathLst>
          </a:custGeom>
          <a:solidFill>
            <a:srgbClr val="D7E2E0"/>
          </a:solidFill>
          <a:ln w="9525">
            <a:noFill/>
            <a:round/>
            <a:headEnd/>
            <a:tailEnd/>
          </a:ln>
        </p:spPr>
        <p:txBody>
          <a:bodyPr/>
          <a:lstStyle/>
          <a:p>
            <a:endParaRPr lang="en-US"/>
          </a:p>
        </p:txBody>
      </p:sp>
      <p:sp>
        <p:nvSpPr>
          <p:cNvPr id="83" name="Freeform 22"/>
          <p:cNvSpPr>
            <a:spLocks/>
          </p:cNvSpPr>
          <p:nvPr/>
        </p:nvSpPr>
        <p:spPr bwMode="auto">
          <a:xfrm>
            <a:off x="4572000" y="5245100"/>
            <a:ext cx="1116013" cy="1387475"/>
          </a:xfrm>
          <a:custGeom>
            <a:avLst/>
            <a:gdLst>
              <a:gd name="T0" fmla="*/ 2147483647 w 186"/>
              <a:gd name="T1" fmla="*/ 2147483647 h 211"/>
              <a:gd name="T2" fmla="*/ 2147483647 w 186"/>
              <a:gd name="T3" fmla="*/ 2147483647 h 211"/>
              <a:gd name="T4" fmla="*/ 2147483647 w 186"/>
              <a:gd name="T5" fmla="*/ 2147483647 h 211"/>
              <a:gd name="T6" fmla="*/ 0 w 186"/>
              <a:gd name="T7" fmla="*/ 2147483647 h 211"/>
              <a:gd name="T8" fmla="*/ 0 w 186"/>
              <a:gd name="T9" fmla="*/ 2147483647 h 211"/>
              <a:gd name="T10" fmla="*/ 2147483647 w 186"/>
              <a:gd name="T11" fmla="*/ 0 h 211"/>
              <a:gd name="T12" fmla="*/ 2147483647 w 186"/>
              <a:gd name="T13" fmla="*/ 0 h 211"/>
              <a:gd name="T14" fmla="*/ 2147483647 w 186"/>
              <a:gd name="T15" fmla="*/ 2147483647 h 211"/>
              <a:gd name="T16" fmla="*/ 2147483647 w 186"/>
              <a:gd name="T17" fmla="*/ 2147483647 h 2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6"/>
              <a:gd name="T28" fmla="*/ 0 h 211"/>
              <a:gd name="T29" fmla="*/ 186 w 186"/>
              <a:gd name="T30" fmla="*/ 211 h 2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6" h="211">
                <a:moveTo>
                  <a:pt x="186" y="195"/>
                </a:moveTo>
                <a:cubicBezTo>
                  <a:pt x="186" y="204"/>
                  <a:pt x="178" y="211"/>
                  <a:pt x="170" y="211"/>
                </a:cubicBezTo>
                <a:cubicBezTo>
                  <a:pt x="16" y="211"/>
                  <a:pt x="16" y="211"/>
                  <a:pt x="16" y="211"/>
                </a:cubicBezTo>
                <a:cubicBezTo>
                  <a:pt x="7" y="211"/>
                  <a:pt x="0" y="204"/>
                  <a:pt x="0" y="195"/>
                </a:cubicBezTo>
                <a:cubicBezTo>
                  <a:pt x="0" y="16"/>
                  <a:pt x="0" y="16"/>
                  <a:pt x="0" y="16"/>
                </a:cubicBezTo>
                <a:cubicBezTo>
                  <a:pt x="0" y="7"/>
                  <a:pt x="7" y="0"/>
                  <a:pt x="16" y="0"/>
                </a:cubicBezTo>
                <a:cubicBezTo>
                  <a:pt x="170" y="0"/>
                  <a:pt x="170" y="0"/>
                  <a:pt x="170" y="0"/>
                </a:cubicBezTo>
                <a:cubicBezTo>
                  <a:pt x="178" y="0"/>
                  <a:pt x="186" y="7"/>
                  <a:pt x="186" y="16"/>
                </a:cubicBezTo>
                <a:lnTo>
                  <a:pt x="186" y="195"/>
                </a:lnTo>
                <a:close/>
              </a:path>
            </a:pathLst>
          </a:custGeom>
          <a:solidFill>
            <a:srgbClr val="D7E2E0"/>
          </a:solidFill>
          <a:ln w="9525">
            <a:noFill/>
            <a:round/>
            <a:headEnd/>
            <a:tailEnd/>
          </a:ln>
        </p:spPr>
        <p:txBody>
          <a:bodyPr/>
          <a:lstStyle/>
          <a:p>
            <a:endParaRPr lang="en-US"/>
          </a:p>
        </p:txBody>
      </p:sp>
      <p:sp>
        <p:nvSpPr>
          <p:cNvPr id="84" name="Rectangle 23"/>
          <p:cNvSpPr>
            <a:spLocks noChangeArrowheads="1"/>
          </p:cNvSpPr>
          <p:nvPr/>
        </p:nvSpPr>
        <p:spPr bwMode="auto">
          <a:xfrm>
            <a:off x="4606925" y="5337175"/>
            <a:ext cx="1044575" cy="1293813"/>
          </a:xfrm>
          <a:prstGeom prst="rect">
            <a:avLst/>
          </a:prstGeom>
          <a:noFill/>
          <a:ln w="9525">
            <a:noFill/>
            <a:miter lim="800000"/>
            <a:headEnd/>
            <a:tailEnd/>
          </a:ln>
        </p:spPr>
        <p:txBody>
          <a:bodyPr lIns="0" tIns="0" rIns="0" bIns="0">
            <a:spAutoFit/>
          </a:bodyPr>
          <a:lstStyle/>
          <a:p>
            <a:pPr marL="1588" indent="-1588" algn="ctr"/>
            <a:r>
              <a:rPr lang="en-US" sz="1700">
                <a:solidFill>
                  <a:srgbClr val="000000"/>
                </a:solidFill>
              </a:rPr>
              <a:t>Sales to consumers with a high willingness to pay</a:t>
            </a:r>
            <a:endParaRPr lang="en-US" sz="1700"/>
          </a:p>
        </p:txBody>
      </p:sp>
      <p:sp>
        <p:nvSpPr>
          <p:cNvPr id="85" name="Freeform 24"/>
          <p:cNvSpPr>
            <a:spLocks/>
          </p:cNvSpPr>
          <p:nvPr/>
        </p:nvSpPr>
        <p:spPr bwMode="auto">
          <a:xfrm>
            <a:off x="1811338" y="5257800"/>
            <a:ext cx="1681162" cy="1374775"/>
          </a:xfrm>
          <a:custGeom>
            <a:avLst/>
            <a:gdLst>
              <a:gd name="T0" fmla="*/ 2147483647 w 179"/>
              <a:gd name="T1" fmla="*/ 2147483647 h 211"/>
              <a:gd name="T2" fmla="*/ 2147483647 w 179"/>
              <a:gd name="T3" fmla="*/ 2147483647 h 211"/>
              <a:gd name="T4" fmla="*/ 2147483647 w 179"/>
              <a:gd name="T5" fmla="*/ 2147483647 h 211"/>
              <a:gd name="T6" fmla="*/ 0 w 179"/>
              <a:gd name="T7" fmla="*/ 2147483647 h 211"/>
              <a:gd name="T8" fmla="*/ 0 w 179"/>
              <a:gd name="T9" fmla="*/ 2147483647 h 211"/>
              <a:gd name="T10" fmla="*/ 2147483647 w 179"/>
              <a:gd name="T11" fmla="*/ 0 h 211"/>
              <a:gd name="T12" fmla="*/ 2147483647 w 179"/>
              <a:gd name="T13" fmla="*/ 0 h 211"/>
              <a:gd name="T14" fmla="*/ 2147483647 w 179"/>
              <a:gd name="T15" fmla="*/ 2147483647 h 211"/>
              <a:gd name="T16" fmla="*/ 2147483647 w 179"/>
              <a:gd name="T17" fmla="*/ 2147483647 h 2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9"/>
              <a:gd name="T28" fmla="*/ 0 h 211"/>
              <a:gd name="T29" fmla="*/ 179 w 179"/>
              <a:gd name="T30" fmla="*/ 211 h 2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9" h="211">
                <a:moveTo>
                  <a:pt x="179" y="195"/>
                </a:moveTo>
                <a:cubicBezTo>
                  <a:pt x="179" y="204"/>
                  <a:pt x="171" y="211"/>
                  <a:pt x="163" y="211"/>
                </a:cubicBezTo>
                <a:cubicBezTo>
                  <a:pt x="16" y="211"/>
                  <a:pt x="16" y="211"/>
                  <a:pt x="16" y="211"/>
                </a:cubicBezTo>
                <a:cubicBezTo>
                  <a:pt x="7" y="211"/>
                  <a:pt x="0" y="204"/>
                  <a:pt x="0" y="195"/>
                </a:cubicBezTo>
                <a:cubicBezTo>
                  <a:pt x="0" y="16"/>
                  <a:pt x="0" y="16"/>
                  <a:pt x="0" y="16"/>
                </a:cubicBezTo>
                <a:cubicBezTo>
                  <a:pt x="0" y="7"/>
                  <a:pt x="7" y="0"/>
                  <a:pt x="16" y="0"/>
                </a:cubicBezTo>
                <a:cubicBezTo>
                  <a:pt x="163" y="0"/>
                  <a:pt x="163" y="0"/>
                  <a:pt x="163" y="0"/>
                </a:cubicBezTo>
                <a:cubicBezTo>
                  <a:pt x="171" y="0"/>
                  <a:pt x="179" y="7"/>
                  <a:pt x="179" y="16"/>
                </a:cubicBezTo>
                <a:lnTo>
                  <a:pt x="179" y="195"/>
                </a:lnTo>
                <a:close/>
              </a:path>
            </a:pathLst>
          </a:custGeom>
          <a:solidFill>
            <a:srgbClr val="D7E2E0"/>
          </a:solidFill>
          <a:ln w="9525">
            <a:noFill/>
            <a:round/>
            <a:headEnd/>
            <a:tailEnd/>
          </a:ln>
        </p:spPr>
        <p:txBody>
          <a:bodyPr/>
          <a:lstStyle/>
          <a:p>
            <a:endParaRPr lang="en-US"/>
          </a:p>
        </p:txBody>
      </p:sp>
      <p:sp>
        <p:nvSpPr>
          <p:cNvPr id="86" name="Freeform 25"/>
          <p:cNvSpPr>
            <a:spLocks/>
          </p:cNvSpPr>
          <p:nvPr/>
        </p:nvSpPr>
        <p:spPr bwMode="auto">
          <a:xfrm>
            <a:off x="865188" y="5018088"/>
            <a:ext cx="927100" cy="139700"/>
          </a:xfrm>
          <a:custGeom>
            <a:avLst/>
            <a:gdLst>
              <a:gd name="T0" fmla="*/ 2147483647 w 203"/>
              <a:gd name="T1" fmla="*/ 0 h 25"/>
              <a:gd name="T2" fmla="*/ 2147483647 w 203"/>
              <a:gd name="T3" fmla="*/ 2147483647 h 25"/>
              <a:gd name="T4" fmla="*/ 2147483647 w 203"/>
              <a:gd name="T5" fmla="*/ 2147483647 h 25"/>
              <a:gd name="T6" fmla="*/ 2147483647 w 203"/>
              <a:gd name="T7" fmla="*/ 2147483647 h 25"/>
              <a:gd name="T8" fmla="*/ 2147483647 w 203"/>
              <a:gd name="T9" fmla="*/ 2147483647 h 25"/>
              <a:gd name="T10" fmla="*/ 2147483647 w 203"/>
              <a:gd name="T11" fmla="*/ 2147483647 h 25"/>
              <a:gd name="T12" fmla="*/ 0 w 203"/>
              <a:gd name="T13" fmla="*/ 0 h 25"/>
              <a:gd name="T14" fmla="*/ 0 60000 65536"/>
              <a:gd name="T15" fmla="*/ 0 60000 65536"/>
              <a:gd name="T16" fmla="*/ 0 60000 65536"/>
              <a:gd name="T17" fmla="*/ 0 60000 65536"/>
              <a:gd name="T18" fmla="*/ 0 60000 65536"/>
              <a:gd name="T19" fmla="*/ 0 60000 65536"/>
              <a:gd name="T20" fmla="*/ 0 60000 65536"/>
              <a:gd name="T21" fmla="*/ 0 w 203"/>
              <a:gd name="T22" fmla="*/ 0 h 25"/>
              <a:gd name="T23" fmla="*/ 203 w 203"/>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3" h="25">
                <a:moveTo>
                  <a:pt x="203" y="0"/>
                </a:moveTo>
                <a:cubicBezTo>
                  <a:pt x="203" y="10"/>
                  <a:pt x="200" y="15"/>
                  <a:pt x="187" y="15"/>
                </a:cubicBezTo>
                <a:cubicBezTo>
                  <a:pt x="184" y="15"/>
                  <a:pt x="115" y="15"/>
                  <a:pt x="113" y="15"/>
                </a:cubicBezTo>
                <a:cubicBezTo>
                  <a:pt x="110" y="15"/>
                  <a:pt x="102" y="18"/>
                  <a:pt x="102" y="25"/>
                </a:cubicBezTo>
                <a:cubicBezTo>
                  <a:pt x="102" y="18"/>
                  <a:pt x="95" y="15"/>
                  <a:pt x="92" y="15"/>
                </a:cubicBezTo>
                <a:cubicBezTo>
                  <a:pt x="90" y="15"/>
                  <a:pt x="19" y="15"/>
                  <a:pt x="16" y="15"/>
                </a:cubicBezTo>
                <a:cubicBezTo>
                  <a:pt x="3" y="15"/>
                  <a:pt x="0" y="10"/>
                  <a:pt x="0" y="0"/>
                </a:cubicBezTo>
              </a:path>
            </a:pathLst>
          </a:custGeom>
          <a:noFill/>
          <a:ln w="22225">
            <a:solidFill>
              <a:srgbClr val="6D6F71"/>
            </a:solidFill>
            <a:round/>
            <a:headEnd/>
            <a:tailEnd/>
          </a:ln>
        </p:spPr>
        <p:txBody>
          <a:bodyPr/>
          <a:lstStyle/>
          <a:p>
            <a:endParaRPr lang="en-US"/>
          </a:p>
        </p:txBody>
      </p:sp>
      <p:sp>
        <p:nvSpPr>
          <p:cNvPr id="87" name="Freeform 26"/>
          <p:cNvSpPr>
            <a:spLocks/>
          </p:cNvSpPr>
          <p:nvPr/>
        </p:nvSpPr>
        <p:spPr bwMode="auto">
          <a:xfrm>
            <a:off x="1792288" y="5018088"/>
            <a:ext cx="923925" cy="139700"/>
          </a:xfrm>
          <a:custGeom>
            <a:avLst/>
            <a:gdLst>
              <a:gd name="T0" fmla="*/ 2147483647 w 203"/>
              <a:gd name="T1" fmla="*/ 0 h 25"/>
              <a:gd name="T2" fmla="*/ 2147483647 w 203"/>
              <a:gd name="T3" fmla="*/ 2147483647 h 25"/>
              <a:gd name="T4" fmla="*/ 2147483647 w 203"/>
              <a:gd name="T5" fmla="*/ 2147483647 h 25"/>
              <a:gd name="T6" fmla="*/ 2147483647 w 203"/>
              <a:gd name="T7" fmla="*/ 2147483647 h 25"/>
              <a:gd name="T8" fmla="*/ 2147483647 w 203"/>
              <a:gd name="T9" fmla="*/ 2147483647 h 25"/>
              <a:gd name="T10" fmla="*/ 2147483647 w 203"/>
              <a:gd name="T11" fmla="*/ 2147483647 h 25"/>
              <a:gd name="T12" fmla="*/ 0 w 203"/>
              <a:gd name="T13" fmla="*/ 0 h 25"/>
              <a:gd name="T14" fmla="*/ 0 60000 65536"/>
              <a:gd name="T15" fmla="*/ 0 60000 65536"/>
              <a:gd name="T16" fmla="*/ 0 60000 65536"/>
              <a:gd name="T17" fmla="*/ 0 60000 65536"/>
              <a:gd name="T18" fmla="*/ 0 60000 65536"/>
              <a:gd name="T19" fmla="*/ 0 60000 65536"/>
              <a:gd name="T20" fmla="*/ 0 60000 65536"/>
              <a:gd name="T21" fmla="*/ 0 w 203"/>
              <a:gd name="T22" fmla="*/ 0 h 25"/>
              <a:gd name="T23" fmla="*/ 203 w 203"/>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3" h="25">
                <a:moveTo>
                  <a:pt x="203" y="0"/>
                </a:moveTo>
                <a:cubicBezTo>
                  <a:pt x="203" y="10"/>
                  <a:pt x="200" y="15"/>
                  <a:pt x="187" y="15"/>
                </a:cubicBezTo>
                <a:cubicBezTo>
                  <a:pt x="184" y="15"/>
                  <a:pt x="115" y="15"/>
                  <a:pt x="113" y="15"/>
                </a:cubicBezTo>
                <a:cubicBezTo>
                  <a:pt x="109" y="15"/>
                  <a:pt x="102" y="18"/>
                  <a:pt x="102" y="25"/>
                </a:cubicBezTo>
                <a:cubicBezTo>
                  <a:pt x="102" y="18"/>
                  <a:pt x="95" y="15"/>
                  <a:pt x="92" y="15"/>
                </a:cubicBezTo>
                <a:cubicBezTo>
                  <a:pt x="90" y="15"/>
                  <a:pt x="19" y="15"/>
                  <a:pt x="16" y="15"/>
                </a:cubicBezTo>
                <a:cubicBezTo>
                  <a:pt x="3" y="15"/>
                  <a:pt x="0" y="10"/>
                  <a:pt x="0" y="0"/>
                </a:cubicBezTo>
              </a:path>
            </a:pathLst>
          </a:custGeom>
          <a:noFill/>
          <a:ln w="22225">
            <a:solidFill>
              <a:srgbClr val="6D6F71"/>
            </a:solidFill>
            <a:round/>
            <a:headEnd/>
            <a:tailEnd/>
          </a:ln>
        </p:spPr>
        <p:txBody>
          <a:bodyPr/>
          <a:lstStyle/>
          <a:p>
            <a:endParaRPr lang="en-US"/>
          </a:p>
        </p:txBody>
      </p:sp>
      <p:sp>
        <p:nvSpPr>
          <p:cNvPr id="88" name="Rectangle 27"/>
          <p:cNvSpPr>
            <a:spLocks noChangeArrowheads="1"/>
          </p:cNvSpPr>
          <p:nvPr/>
        </p:nvSpPr>
        <p:spPr bwMode="auto">
          <a:xfrm>
            <a:off x="8124825" y="4941888"/>
            <a:ext cx="768350" cy="258762"/>
          </a:xfrm>
          <a:prstGeom prst="rect">
            <a:avLst/>
          </a:prstGeom>
          <a:noFill/>
          <a:ln w="9525">
            <a:noFill/>
            <a:miter lim="800000"/>
            <a:headEnd/>
            <a:tailEnd/>
          </a:ln>
        </p:spPr>
        <p:txBody>
          <a:bodyPr wrap="none" lIns="0" tIns="0" rIns="0" bIns="0">
            <a:spAutoFit/>
          </a:bodyPr>
          <a:lstStyle/>
          <a:p>
            <a:pPr marL="1588" indent="-1588" algn="ctr"/>
            <a:r>
              <a:rPr lang="en-US" sz="1700">
                <a:solidFill>
                  <a:srgbClr val="000000"/>
                </a:solidFill>
              </a:rPr>
              <a:t>Quantity</a:t>
            </a:r>
            <a:endParaRPr lang="en-US" sz="1700"/>
          </a:p>
        </p:txBody>
      </p:sp>
      <p:sp>
        <p:nvSpPr>
          <p:cNvPr id="89" name="Rectangle 28"/>
          <p:cNvSpPr>
            <a:spLocks noChangeArrowheads="1"/>
          </p:cNvSpPr>
          <p:nvPr/>
        </p:nvSpPr>
        <p:spPr bwMode="auto">
          <a:xfrm>
            <a:off x="4910138" y="2441575"/>
            <a:ext cx="111125" cy="258763"/>
          </a:xfrm>
          <a:prstGeom prst="rect">
            <a:avLst/>
          </a:prstGeom>
          <a:noFill/>
          <a:ln w="9525">
            <a:noFill/>
            <a:miter lim="800000"/>
            <a:headEnd/>
            <a:tailEnd/>
          </a:ln>
        </p:spPr>
        <p:txBody>
          <a:bodyPr wrap="none" lIns="0" tIns="0" rIns="0" bIns="0">
            <a:spAutoFit/>
          </a:bodyPr>
          <a:lstStyle/>
          <a:p>
            <a:pPr marL="1588" indent="-1588"/>
            <a:r>
              <a:rPr lang="en-US" sz="1700" i="1">
                <a:solidFill>
                  <a:srgbClr val="000000"/>
                </a:solidFill>
              </a:rPr>
              <a:t>P</a:t>
            </a:r>
            <a:endParaRPr lang="en-US" sz="1700" i="1"/>
          </a:p>
        </p:txBody>
      </p:sp>
      <p:sp>
        <p:nvSpPr>
          <p:cNvPr id="90" name="Rectangle 29"/>
          <p:cNvSpPr>
            <a:spLocks noChangeArrowheads="1"/>
          </p:cNvSpPr>
          <p:nvPr/>
        </p:nvSpPr>
        <p:spPr bwMode="auto">
          <a:xfrm>
            <a:off x="5006975" y="2562225"/>
            <a:ext cx="382588" cy="258763"/>
          </a:xfrm>
          <a:prstGeom prst="rect">
            <a:avLst/>
          </a:prstGeom>
          <a:noFill/>
          <a:ln w="9525">
            <a:noFill/>
            <a:miter lim="800000"/>
            <a:headEnd/>
            <a:tailEnd/>
          </a:ln>
        </p:spPr>
        <p:txBody>
          <a:bodyPr wrap="none" lIns="0" tIns="0" rIns="0" bIns="0">
            <a:spAutoFit/>
          </a:bodyPr>
          <a:lstStyle/>
          <a:p>
            <a:pPr marL="1588" indent="-1588"/>
            <a:r>
              <a:rPr lang="en-US" sz="1700" i="1">
                <a:solidFill>
                  <a:srgbClr val="000000"/>
                </a:solidFill>
              </a:rPr>
              <a:t>high</a:t>
            </a:r>
            <a:endParaRPr lang="en-US" sz="1700" i="1"/>
          </a:p>
        </p:txBody>
      </p:sp>
      <p:sp>
        <p:nvSpPr>
          <p:cNvPr id="91" name="Line 30"/>
          <p:cNvSpPr>
            <a:spLocks noChangeShapeType="1"/>
          </p:cNvSpPr>
          <p:nvPr/>
        </p:nvSpPr>
        <p:spPr bwMode="auto">
          <a:xfrm>
            <a:off x="5387975" y="4075113"/>
            <a:ext cx="3384550" cy="0"/>
          </a:xfrm>
          <a:prstGeom prst="line">
            <a:avLst/>
          </a:prstGeom>
          <a:noFill/>
          <a:ln w="30163">
            <a:solidFill>
              <a:srgbClr val="F3716D"/>
            </a:solidFill>
            <a:miter lim="800000"/>
            <a:headEnd/>
            <a:tailEnd/>
          </a:ln>
        </p:spPr>
        <p:txBody>
          <a:bodyPr/>
          <a:lstStyle/>
          <a:p>
            <a:endParaRPr lang="en-US"/>
          </a:p>
        </p:txBody>
      </p:sp>
      <p:sp>
        <p:nvSpPr>
          <p:cNvPr id="92" name="Rectangle 31"/>
          <p:cNvSpPr>
            <a:spLocks noChangeArrowheads="1"/>
          </p:cNvSpPr>
          <p:nvPr/>
        </p:nvSpPr>
        <p:spPr bwMode="auto">
          <a:xfrm>
            <a:off x="8564563" y="3805238"/>
            <a:ext cx="296862" cy="258762"/>
          </a:xfrm>
          <a:prstGeom prst="rect">
            <a:avLst/>
          </a:prstGeom>
          <a:noFill/>
          <a:ln w="9525">
            <a:noFill/>
            <a:miter lim="800000"/>
            <a:headEnd/>
            <a:tailEnd/>
          </a:ln>
        </p:spPr>
        <p:txBody>
          <a:bodyPr wrap="none" lIns="0" tIns="0" rIns="0" bIns="0">
            <a:spAutoFit/>
          </a:bodyPr>
          <a:lstStyle/>
          <a:p>
            <a:pPr marL="1588" indent="-1588"/>
            <a:r>
              <a:rPr lang="en-US" sz="1700" i="1">
                <a:solidFill>
                  <a:srgbClr val="000000"/>
                </a:solidFill>
              </a:rPr>
              <a:t>MC</a:t>
            </a:r>
            <a:endParaRPr lang="en-US" sz="1700" i="1"/>
          </a:p>
        </p:txBody>
      </p:sp>
      <p:sp>
        <p:nvSpPr>
          <p:cNvPr id="93" name="Rectangle 32"/>
          <p:cNvSpPr>
            <a:spLocks noChangeArrowheads="1"/>
          </p:cNvSpPr>
          <p:nvPr/>
        </p:nvSpPr>
        <p:spPr bwMode="auto">
          <a:xfrm>
            <a:off x="8678863" y="4367213"/>
            <a:ext cx="133350" cy="258762"/>
          </a:xfrm>
          <a:prstGeom prst="rect">
            <a:avLst/>
          </a:prstGeom>
          <a:noFill/>
          <a:ln w="9525">
            <a:noFill/>
            <a:miter lim="800000"/>
            <a:headEnd/>
            <a:tailEnd/>
          </a:ln>
        </p:spPr>
        <p:txBody>
          <a:bodyPr wrap="none" lIns="0" tIns="0" rIns="0" bIns="0">
            <a:spAutoFit/>
          </a:bodyPr>
          <a:lstStyle/>
          <a:p>
            <a:pPr marL="1588" indent="-1588"/>
            <a:r>
              <a:rPr lang="en-US" sz="1700" i="1">
                <a:solidFill>
                  <a:srgbClr val="000000"/>
                </a:solidFill>
              </a:rPr>
              <a:t>D</a:t>
            </a:r>
            <a:endParaRPr lang="en-US" sz="1700" i="1"/>
          </a:p>
        </p:txBody>
      </p:sp>
      <p:sp>
        <p:nvSpPr>
          <p:cNvPr id="94" name="Rectangle 33"/>
          <p:cNvSpPr>
            <a:spLocks noChangeArrowheads="1"/>
          </p:cNvSpPr>
          <p:nvPr/>
        </p:nvSpPr>
        <p:spPr bwMode="auto">
          <a:xfrm>
            <a:off x="4895850" y="3500438"/>
            <a:ext cx="111125" cy="258762"/>
          </a:xfrm>
          <a:prstGeom prst="rect">
            <a:avLst/>
          </a:prstGeom>
          <a:noFill/>
          <a:ln w="9525">
            <a:noFill/>
            <a:miter lim="800000"/>
            <a:headEnd/>
            <a:tailEnd/>
          </a:ln>
        </p:spPr>
        <p:txBody>
          <a:bodyPr wrap="none" lIns="0" tIns="0" rIns="0" bIns="0">
            <a:spAutoFit/>
          </a:bodyPr>
          <a:lstStyle/>
          <a:p>
            <a:pPr marL="1588" indent="-1588"/>
            <a:r>
              <a:rPr lang="en-US" sz="1700" i="1">
                <a:solidFill>
                  <a:srgbClr val="000000"/>
                </a:solidFill>
              </a:rPr>
              <a:t>P</a:t>
            </a:r>
            <a:endParaRPr lang="en-US" sz="1700" i="1"/>
          </a:p>
        </p:txBody>
      </p:sp>
      <p:sp>
        <p:nvSpPr>
          <p:cNvPr id="95" name="Rectangle 34"/>
          <p:cNvSpPr>
            <a:spLocks noChangeArrowheads="1"/>
          </p:cNvSpPr>
          <p:nvPr/>
        </p:nvSpPr>
        <p:spPr bwMode="auto">
          <a:xfrm>
            <a:off x="5003800" y="3629025"/>
            <a:ext cx="314325" cy="258763"/>
          </a:xfrm>
          <a:prstGeom prst="rect">
            <a:avLst/>
          </a:prstGeom>
          <a:noFill/>
          <a:ln w="9525">
            <a:noFill/>
            <a:miter lim="800000"/>
            <a:headEnd/>
            <a:tailEnd/>
          </a:ln>
        </p:spPr>
        <p:txBody>
          <a:bodyPr wrap="none" lIns="0" tIns="0" rIns="0" bIns="0">
            <a:spAutoFit/>
          </a:bodyPr>
          <a:lstStyle/>
          <a:p>
            <a:pPr marL="1588" indent="-1588"/>
            <a:r>
              <a:rPr lang="en-US" sz="1700" i="1">
                <a:solidFill>
                  <a:srgbClr val="000000"/>
                </a:solidFill>
              </a:rPr>
              <a:t>low</a:t>
            </a:r>
            <a:endParaRPr lang="en-US" sz="1700" i="1"/>
          </a:p>
        </p:txBody>
      </p:sp>
      <p:sp>
        <p:nvSpPr>
          <p:cNvPr id="96" name="Freeform 35"/>
          <p:cNvSpPr>
            <a:spLocks/>
          </p:cNvSpPr>
          <p:nvPr/>
        </p:nvSpPr>
        <p:spPr bwMode="auto">
          <a:xfrm>
            <a:off x="5724525" y="5245100"/>
            <a:ext cx="1439863" cy="1389063"/>
          </a:xfrm>
          <a:custGeom>
            <a:avLst/>
            <a:gdLst>
              <a:gd name="T0" fmla="*/ 2147483647 w 177"/>
              <a:gd name="T1" fmla="*/ 2147483647 h 249"/>
              <a:gd name="T2" fmla="*/ 2147483647 w 177"/>
              <a:gd name="T3" fmla="*/ 2147483647 h 249"/>
              <a:gd name="T4" fmla="*/ 2147483647 w 177"/>
              <a:gd name="T5" fmla="*/ 2147483647 h 249"/>
              <a:gd name="T6" fmla="*/ 0 w 177"/>
              <a:gd name="T7" fmla="*/ 2147483647 h 249"/>
              <a:gd name="T8" fmla="*/ 0 w 177"/>
              <a:gd name="T9" fmla="*/ 2147483647 h 249"/>
              <a:gd name="T10" fmla="*/ 2147483647 w 177"/>
              <a:gd name="T11" fmla="*/ 0 h 249"/>
              <a:gd name="T12" fmla="*/ 2147483647 w 177"/>
              <a:gd name="T13" fmla="*/ 0 h 249"/>
              <a:gd name="T14" fmla="*/ 2147483647 w 177"/>
              <a:gd name="T15" fmla="*/ 2147483647 h 249"/>
              <a:gd name="T16" fmla="*/ 2147483647 w 177"/>
              <a:gd name="T17" fmla="*/ 2147483647 h 2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7"/>
              <a:gd name="T28" fmla="*/ 0 h 249"/>
              <a:gd name="T29" fmla="*/ 177 w 177"/>
              <a:gd name="T30" fmla="*/ 249 h 2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7" h="249">
                <a:moveTo>
                  <a:pt x="177" y="233"/>
                </a:moveTo>
                <a:cubicBezTo>
                  <a:pt x="177" y="242"/>
                  <a:pt x="170" y="249"/>
                  <a:pt x="161" y="249"/>
                </a:cubicBezTo>
                <a:cubicBezTo>
                  <a:pt x="16" y="249"/>
                  <a:pt x="16" y="249"/>
                  <a:pt x="16" y="249"/>
                </a:cubicBezTo>
                <a:cubicBezTo>
                  <a:pt x="7" y="249"/>
                  <a:pt x="0" y="242"/>
                  <a:pt x="0" y="233"/>
                </a:cubicBezTo>
                <a:cubicBezTo>
                  <a:pt x="0" y="16"/>
                  <a:pt x="0" y="16"/>
                  <a:pt x="0" y="16"/>
                </a:cubicBezTo>
                <a:cubicBezTo>
                  <a:pt x="0" y="7"/>
                  <a:pt x="7" y="0"/>
                  <a:pt x="16" y="0"/>
                </a:cubicBezTo>
                <a:cubicBezTo>
                  <a:pt x="161" y="0"/>
                  <a:pt x="161" y="0"/>
                  <a:pt x="161" y="0"/>
                </a:cubicBezTo>
                <a:cubicBezTo>
                  <a:pt x="170" y="0"/>
                  <a:pt x="177" y="7"/>
                  <a:pt x="177" y="16"/>
                </a:cubicBezTo>
                <a:lnTo>
                  <a:pt x="177" y="233"/>
                </a:lnTo>
                <a:close/>
              </a:path>
            </a:pathLst>
          </a:custGeom>
          <a:solidFill>
            <a:srgbClr val="D7E2E0"/>
          </a:solidFill>
          <a:ln w="9525">
            <a:noFill/>
            <a:round/>
            <a:headEnd/>
            <a:tailEnd/>
          </a:ln>
        </p:spPr>
        <p:txBody>
          <a:bodyPr/>
          <a:lstStyle/>
          <a:p>
            <a:endParaRPr lang="en-US"/>
          </a:p>
        </p:txBody>
      </p:sp>
      <p:sp>
        <p:nvSpPr>
          <p:cNvPr id="97" name="Rectangle 36"/>
          <p:cNvSpPr>
            <a:spLocks noChangeArrowheads="1"/>
          </p:cNvSpPr>
          <p:nvPr/>
        </p:nvSpPr>
        <p:spPr bwMode="auto">
          <a:xfrm>
            <a:off x="5795963" y="5305425"/>
            <a:ext cx="1349375" cy="1293813"/>
          </a:xfrm>
          <a:prstGeom prst="rect">
            <a:avLst/>
          </a:prstGeom>
          <a:noFill/>
          <a:ln w="9525">
            <a:noFill/>
            <a:miter lim="800000"/>
            <a:headEnd/>
            <a:tailEnd/>
          </a:ln>
        </p:spPr>
        <p:txBody>
          <a:bodyPr lIns="0" tIns="0" rIns="0" bIns="0">
            <a:spAutoFit/>
          </a:bodyPr>
          <a:lstStyle/>
          <a:p>
            <a:pPr marL="1588" indent="-1588" algn="ctr"/>
            <a:r>
              <a:rPr lang="en-US" sz="1700">
                <a:solidFill>
                  <a:srgbClr val="000000"/>
                </a:solidFill>
              </a:rPr>
              <a:t>Sales to consumers with a medium willingness to pay</a:t>
            </a:r>
            <a:endParaRPr lang="en-US" sz="1700"/>
          </a:p>
        </p:txBody>
      </p:sp>
      <p:sp>
        <p:nvSpPr>
          <p:cNvPr id="98" name="Freeform 37"/>
          <p:cNvSpPr>
            <a:spLocks/>
          </p:cNvSpPr>
          <p:nvPr/>
        </p:nvSpPr>
        <p:spPr bwMode="auto">
          <a:xfrm>
            <a:off x="7200900" y="5229225"/>
            <a:ext cx="1258888" cy="1403350"/>
          </a:xfrm>
          <a:custGeom>
            <a:avLst/>
            <a:gdLst>
              <a:gd name="T0" fmla="*/ 2147483647 w 178"/>
              <a:gd name="T1" fmla="*/ 2147483647 h 211"/>
              <a:gd name="T2" fmla="*/ 2147483647 w 178"/>
              <a:gd name="T3" fmla="*/ 2147483647 h 211"/>
              <a:gd name="T4" fmla="*/ 2147483647 w 178"/>
              <a:gd name="T5" fmla="*/ 2147483647 h 211"/>
              <a:gd name="T6" fmla="*/ 0 w 178"/>
              <a:gd name="T7" fmla="*/ 2147483647 h 211"/>
              <a:gd name="T8" fmla="*/ 0 w 178"/>
              <a:gd name="T9" fmla="*/ 2147483647 h 211"/>
              <a:gd name="T10" fmla="*/ 2147483647 w 178"/>
              <a:gd name="T11" fmla="*/ 0 h 211"/>
              <a:gd name="T12" fmla="*/ 2147483647 w 178"/>
              <a:gd name="T13" fmla="*/ 0 h 211"/>
              <a:gd name="T14" fmla="*/ 2147483647 w 178"/>
              <a:gd name="T15" fmla="*/ 2147483647 h 211"/>
              <a:gd name="T16" fmla="*/ 2147483647 w 178"/>
              <a:gd name="T17" fmla="*/ 2147483647 h 2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8"/>
              <a:gd name="T28" fmla="*/ 0 h 211"/>
              <a:gd name="T29" fmla="*/ 178 w 178"/>
              <a:gd name="T30" fmla="*/ 211 h 21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8" h="211">
                <a:moveTo>
                  <a:pt x="178" y="195"/>
                </a:moveTo>
                <a:cubicBezTo>
                  <a:pt x="178" y="204"/>
                  <a:pt x="171" y="211"/>
                  <a:pt x="162" y="211"/>
                </a:cubicBezTo>
                <a:cubicBezTo>
                  <a:pt x="16" y="211"/>
                  <a:pt x="16" y="211"/>
                  <a:pt x="16" y="211"/>
                </a:cubicBezTo>
                <a:cubicBezTo>
                  <a:pt x="7" y="211"/>
                  <a:pt x="0" y="204"/>
                  <a:pt x="0" y="195"/>
                </a:cubicBezTo>
                <a:cubicBezTo>
                  <a:pt x="0" y="16"/>
                  <a:pt x="0" y="16"/>
                  <a:pt x="0" y="16"/>
                </a:cubicBezTo>
                <a:cubicBezTo>
                  <a:pt x="0" y="7"/>
                  <a:pt x="7" y="0"/>
                  <a:pt x="16" y="0"/>
                </a:cubicBezTo>
                <a:cubicBezTo>
                  <a:pt x="162" y="0"/>
                  <a:pt x="162" y="0"/>
                  <a:pt x="162" y="0"/>
                </a:cubicBezTo>
                <a:cubicBezTo>
                  <a:pt x="171" y="0"/>
                  <a:pt x="178" y="7"/>
                  <a:pt x="178" y="16"/>
                </a:cubicBezTo>
                <a:lnTo>
                  <a:pt x="178" y="195"/>
                </a:lnTo>
                <a:close/>
              </a:path>
            </a:pathLst>
          </a:custGeom>
          <a:solidFill>
            <a:srgbClr val="D7E2E0"/>
          </a:solidFill>
          <a:ln w="9525">
            <a:noFill/>
            <a:round/>
            <a:headEnd/>
            <a:tailEnd/>
          </a:ln>
        </p:spPr>
        <p:txBody>
          <a:bodyPr/>
          <a:lstStyle/>
          <a:p>
            <a:endParaRPr lang="en-US"/>
          </a:p>
        </p:txBody>
      </p:sp>
      <p:sp>
        <p:nvSpPr>
          <p:cNvPr id="99" name="Rectangle 38"/>
          <p:cNvSpPr>
            <a:spLocks noChangeArrowheads="1"/>
          </p:cNvSpPr>
          <p:nvPr/>
        </p:nvSpPr>
        <p:spPr bwMode="auto">
          <a:xfrm>
            <a:off x="7237413" y="5337175"/>
            <a:ext cx="1150937" cy="1293813"/>
          </a:xfrm>
          <a:prstGeom prst="rect">
            <a:avLst/>
          </a:prstGeom>
          <a:noFill/>
          <a:ln w="9525">
            <a:noFill/>
            <a:miter lim="800000"/>
            <a:headEnd/>
            <a:tailEnd/>
          </a:ln>
        </p:spPr>
        <p:txBody>
          <a:bodyPr lIns="0" tIns="0" rIns="0" bIns="0">
            <a:spAutoFit/>
          </a:bodyPr>
          <a:lstStyle/>
          <a:p>
            <a:pPr marL="1588" indent="-1588" algn="ctr"/>
            <a:r>
              <a:rPr lang="en-US" sz="1700">
                <a:solidFill>
                  <a:srgbClr val="000000"/>
                </a:solidFill>
              </a:rPr>
              <a:t>Sales to consumers with a low willingness to pay</a:t>
            </a:r>
            <a:endParaRPr lang="en-US" sz="1700"/>
          </a:p>
        </p:txBody>
      </p:sp>
      <p:sp>
        <p:nvSpPr>
          <p:cNvPr id="100" name="Freeform 39"/>
          <p:cNvSpPr>
            <a:spLocks/>
          </p:cNvSpPr>
          <p:nvPr/>
        </p:nvSpPr>
        <p:spPr bwMode="auto">
          <a:xfrm>
            <a:off x="5786438" y="5018088"/>
            <a:ext cx="984250" cy="139700"/>
          </a:xfrm>
          <a:custGeom>
            <a:avLst/>
            <a:gdLst>
              <a:gd name="T0" fmla="*/ 2147483647 w 216"/>
              <a:gd name="T1" fmla="*/ 0 h 25"/>
              <a:gd name="T2" fmla="*/ 2147483647 w 216"/>
              <a:gd name="T3" fmla="*/ 2147483647 h 25"/>
              <a:gd name="T4" fmla="*/ 2147483647 w 216"/>
              <a:gd name="T5" fmla="*/ 2147483647 h 25"/>
              <a:gd name="T6" fmla="*/ 2147483647 w 216"/>
              <a:gd name="T7" fmla="*/ 2147483647 h 25"/>
              <a:gd name="T8" fmla="*/ 2147483647 w 216"/>
              <a:gd name="T9" fmla="*/ 2147483647 h 25"/>
              <a:gd name="T10" fmla="*/ 2147483647 w 216"/>
              <a:gd name="T11" fmla="*/ 2147483647 h 25"/>
              <a:gd name="T12" fmla="*/ 0 w 216"/>
              <a:gd name="T13" fmla="*/ 0 h 25"/>
              <a:gd name="T14" fmla="*/ 0 60000 65536"/>
              <a:gd name="T15" fmla="*/ 0 60000 65536"/>
              <a:gd name="T16" fmla="*/ 0 60000 65536"/>
              <a:gd name="T17" fmla="*/ 0 60000 65536"/>
              <a:gd name="T18" fmla="*/ 0 60000 65536"/>
              <a:gd name="T19" fmla="*/ 0 60000 65536"/>
              <a:gd name="T20" fmla="*/ 0 60000 65536"/>
              <a:gd name="T21" fmla="*/ 0 w 216"/>
              <a:gd name="T22" fmla="*/ 0 h 25"/>
              <a:gd name="T23" fmla="*/ 216 w 216"/>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6" h="25">
                <a:moveTo>
                  <a:pt x="216" y="0"/>
                </a:moveTo>
                <a:cubicBezTo>
                  <a:pt x="216" y="10"/>
                  <a:pt x="213" y="15"/>
                  <a:pt x="200" y="15"/>
                </a:cubicBezTo>
                <a:cubicBezTo>
                  <a:pt x="197" y="15"/>
                  <a:pt x="120" y="15"/>
                  <a:pt x="118" y="15"/>
                </a:cubicBezTo>
                <a:cubicBezTo>
                  <a:pt x="115" y="15"/>
                  <a:pt x="108" y="18"/>
                  <a:pt x="108" y="25"/>
                </a:cubicBezTo>
                <a:cubicBezTo>
                  <a:pt x="108" y="18"/>
                  <a:pt x="101" y="15"/>
                  <a:pt x="97" y="15"/>
                </a:cubicBezTo>
                <a:cubicBezTo>
                  <a:pt x="95" y="15"/>
                  <a:pt x="18" y="15"/>
                  <a:pt x="16" y="15"/>
                </a:cubicBezTo>
                <a:cubicBezTo>
                  <a:pt x="2" y="15"/>
                  <a:pt x="0" y="10"/>
                  <a:pt x="0" y="0"/>
                </a:cubicBezTo>
              </a:path>
            </a:pathLst>
          </a:custGeom>
          <a:noFill/>
          <a:ln w="22225">
            <a:solidFill>
              <a:srgbClr val="6D6F71"/>
            </a:solidFill>
            <a:round/>
            <a:headEnd/>
            <a:tailEnd/>
          </a:ln>
        </p:spPr>
        <p:txBody>
          <a:bodyPr/>
          <a:lstStyle/>
          <a:p>
            <a:endParaRPr lang="en-US"/>
          </a:p>
        </p:txBody>
      </p:sp>
      <p:sp>
        <p:nvSpPr>
          <p:cNvPr id="101" name="Freeform 40"/>
          <p:cNvSpPr>
            <a:spLocks/>
          </p:cNvSpPr>
          <p:nvPr/>
        </p:nvSpPr>
        <p:spPr bwMode="auto">
          <a:xfrm>
            <a:off x="6770688" y="5018088"/>
            <a:ext cx="698500" cy="139700"/>
          </a:xfrm>
          <a:custGeom>
            <a:avLst/>
            <a:gdLst>
              <a:gd name="T0" fmla="*/ 2147483647 w 153"/>
              <a:gd name="T1" fmla="*/ 0 h 25"/>
              <a:gd name="T2" fmla="*/ 2147483647 w 153"/>
              <a:gd name="T3" fmla="*/ 2147483647 h 25"/>
              <a:gd name="T4" fmla="*/ 2147483647 w 153"/>
              <a:gd name="T5" fmla="*/ 2147483647 h 25"/>
              <a:gd name="T6" fmla="*/ 2147483647 w 153"/>
              <a:gd name="T7" fmla="*/ 2147483647 h 25"/>
              <a:gd name="T8" fmla="*/ 2147483647 w 153"/>
              <a:gd name="T9" fmla="*/ 2147483647 h 25"/>
              <a:gd name="T10" fmla="*/ 2147483647 w 153"/>
              <a:gd name="T11" fmla="*/ 2147483647 h 25"/>
              <a:gd name="T12" fmla="*/ 0 w 153"/>
              <a:gd name="T13" fmla="*/ 0 h 25"/>
              <a:gd name="T14" fmla="*/ 0 60000 65536"/>
              <a:gd name="T15" fmla="*/ 0 60000 65536"/>
              <a:gd name="T16" fmla="*/ 0 60000 65536"/>
              <a:gd name="T17" fmla="*/ 0 60000 65536"/>
              <a:gd name="T18" fmla="*/ 0 60000 65536"/>
              <a:gd name="T19" fmla="*/ 0 60000 65536"/>
              <a:gd name="T20" fmla="*/ 0 60000 65536"/>
              <a:gd name="T21" fmla="*/ 0 w 153"/>
              <a:gd name="T22" fmla="*/ 0 h 25"/>
              <a:gd name="T23" fmla="*/ 153 w 153"/>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25">
                <a:moveTo>
                  <a:pt x="153" y="0"/>
                </a:moveTo>
                <a:cubicBezTo>
                  <a:pt x="153" y="10"/>
                  <a:pt x="150" y="15"/>
                  <a:pt x="137" y="15"/>
                </a:cubicBezTo>
                <a:cubicBezTo>
                  <a:pt x="134" y="15"/>
                  <a:pt x="89" y="15"/>
                  <a:pt x="87" y="15"/>
                </a:cubicBezTo>
                <a:cubicBezTo>
                  <a:pt x="83" y="15"/>
                  <a:pt x="76" y="18"/>
                  <a:pt x="76" y="25"/>
                </a:cubicBezTo>
                <a:cubicBezTo>
                  <a:pt x="76" y="18"/>
                  <a:pt x="69" y="15"/>
                  <a:pt x="66" y="15"/>
                </a:cubicBezTo>
                <a:cubicBezTo>
                  <a:pt x="63" y="15"/>
                  <a:pt x="18" y="15"/>
                  <a:pt x="16" y="15"/>
                </a:cubicBezTo>
                <a:cubicBezTo>
                  <a:pt x="2" y="15"/>
                  <a:pt x="0" y="10"/>
                  <a:pt x="0" y="0"/>
                </a:cubicBezTo>
              </a:path>
            </a:pathLst>
          </a:custGeom>
          <a:noFill/>
          <a:ln w="22225">
            <a:solidFill>
              <a:srgbClr val="6D6F71"/>
            </a:solidFill>
            <a:round/>
            <a:headEnd/>
            <a:tailEnd/>
          </a:ln>
        </p:spPr>
        <p:txBody>
          <a:bodyPr/>
          <a:lstStyle/>
          <a:p>
            <a:endParaRPr lang="en-US"/>
          </a:p>
        </p:txBody>
      </p:sp>
      <p:sp>
        <p:nvSpPr>
          <p:cNvPr id="102" name="Freeform 41"/>
          <p:cNvSpPr>
            <a:spLocks/>
          </p:cNvSpPr>
          <p:nvPr/>
        </p:nvSpPr>
        <p:spPr bwMode="auto">
          <a:xfrm>
            <a:off x="5387975" y="5018088"/>
            <a:ext cx="398463" cy="139700"/>
          </a:xfrm>
          <a:custGeom>
            <a:avLst/>
            <a:gdLst>
              <a:gd name="T0" fmla="*/ 2147483647 w 87"/>
              <a:gd name="T1" fmla="*/ 0 h 25"/>
              <a:gd name="T2" fmla="*/ 2147483647 w 87"/>
              <a:gd name="T3" fmla="*/ 2147483647 h 25"/>
              <a:gd name="T4" fmla="*/ 2147483647 w 87"/>
              <a:gd name="T5" fmla="*/ 2147483647 h 25"/>
              <a:gd name="T6" fmla="*/ 2147483647 w 87"/>
              <a:gd name="T7" fmla="*/ 2147483647 h 25"/>
              <a:gd name="T8" fmla="*/ 2147483647 w 87"/>
              <a:gd name="T9" fmla="*/ 2147483647 h 25"/>
              <a:gd name="T10" fmla="*/ 2147483647 w 87"/>
              <a:gd name="T11" fmla="*/ 2147483647 h 25"/>
              <a:gd name="T12" fmla="*/ 0 w 87"/>
              <a:gd name="T13" fmla="*/ 0 h 25"/>
              <a:gd name="T14" fmla="*/ 0 60000 65536"/>
              <a:gd name="T15" fmla="*/ 0 60000 65536"/>
              <a:gd name="T16" fmla="*/ 0 60000 65536"/>
              <a:gd name="T17" fmla="*/ 0 60000 65536"/>
              <a:gd name="T18" fmla="*/ 0 60000 65536"/>
              <a:gd name="T19" fmla="*/ 0 60000 65536"/>
              <a:gd name="T20" fmla="*/ 0 60000 65536"/>
              <a:gd name="T21" fmla="*/ 0 w 87"/>
              <a:gd name="T22" fmla="*/ 0 h 25"/>
              <a:gd name="T23" fmla="*/ 87 w 87"/>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7" h="25">
                <a:moveTo>
                  <a:pt x="87" y="0"/>
                </a:moveTo>
                <a:cubicBezTo>
                  <a:pt x="87" y="10"/>
                  <a:pt x="84" y="15"/>
                  <a:pt x="71" y="15"/>
                </a:cubicBezTo>
                <a:cubicBezTo>
                  <a:pt x="68" y="15"/>
                  <a:pt x="56" y="15"/>
                  <a:pt x="54" y="15"/>
                </a:cubicBezTo>
                <a:cubicBezTo>
                  <a:pt x="50" y="15"/>
                  <a:pt x="43" y="18"/>
                  <a:pt x="43" y="25"/>
                </a:cubicBezTo>
                <a:cubicBezTo>
                  <a:pt x="43" y="18"/>
                  <a:pt x="36" y="15"/>
                  <a:pt x="33" y="15"/>
                </a:cubicBezTo>
                <a:cubicBezTo>
                  <a:pt x="30" y="15"/>
                  <a:pt x="18" y="15"/>
                  <a:pt x="16" y="15"/>
                </a:cubicBezTo>
                <a:cubicBezTo>
                  <a:pt x="2" y="15"/>
                  <a:pt x="0" y="10"/>
                  <a:pt x="0" y="0"/>
                </a:cubicBezTo>
              </a:path>
            </a:pathLst>
          </a:custGeom>
          <a:noFill/>
          <a:ln w="22225">
            <a:solidFill>
              <a:srgbClr val="6D6F71"/>
            </a:solidFill>
            <a:round/>
            <a:headEnd/>
            <a:tailEnd/>
          </a:ln>
        </p:spPr>
        <p:txBody>
          <a:bodyPr/>
          <a:lstStyle/>
          <a:p>
            <a:endParaRPr lang="en-US"/>
          </a:p>
        </p:txBody>
      </p:sp>
      <p:sp>
        <p:nvSpPr>
          <p:cNvPr id="103" name="Rectangle 42"/>
          <p:cNvSpPr>
            <a:spLocks noChangeArrowheads="1"/>
          </p:cNvSpPr>
          <p:nvPr/>
        </p:nvSpPr>
        <p:spPr bwMode="auto">
          <a:xfrm>
            <a:off x="4856163" y="3046413"/>
            <a:ext cx="111125" cy="258762"/>
          </a:xfrm>
          <a:prstGeom prst="rect">
            <a:avLst/>
          </a:prstGeom>
          <a:noFill/>
          <a:ln w="9525">
            <a:noFill/>
            <a:miter lim="800000"/>
            <a:headEnd/>
            <a:tailEnd/>
          </a:ln>
        </p:spPr>
        <p:txBody>
          <a:bodyPr wrap="none" lIns="0" tIns="0" rIns="0" bIns="0">
            <a:spAutoFit/>
          </a:bodyPr>
          <a:lstStyle/>
          <a:p>
            <a:pPr marL="1588" indent="-1588"/>
            <a:r>
              <a:rPr lang="en-US" sz="1700" i="1">
                <a:solidFill>
                  <a:srgbClr val="000000"/>
                </a:solidFill>
              </a:rPr>
              <a:t>P</a:t>
            </a:r>
            <a:endParaRPr lang="en-US" sz="1700" i="1"/>
          </a:p>
        </p:txBody>
      </p:sp>
      <p:sp>
        <p:nvSpPr>
          <p:cNvPr id="104" name="Rectangle 43"/>
          <p:cNvSpPr>
            <a:spLocks noChangeArrowheads="1"/>
          </p:cNvSpPr>
          <p:nvPr/>
        </p:nvSpPr>
        <p:spPr bwMode="auto">
          <a:xfrm>
            <a:off x="4941888" y="3171825"/>
            <a:ext cx="385762" cy="258763"/>
          </a:xfrm>
          <a:prstGeom prst="rect">
            <a:avLst/>
          </a:prstGeom>
          <a:noFill/>
          <a:ln w="9525">
            <a:noFill/>
            <a:miter lim="800000"/>
            <a:headEnd/>
            <a:tailEnd/>
          </a:ln>
        </p:spPr>
        <p:txBody>
          <a:bodyPr wrap="none" lIns="0" tIns="0" rIns="0" bIns="0">
            <a:spAutoFit/>
          </a:bodyPr>
          <a:lstStyle/>
          <a:p>
            <a:pPr marL="1588" indent="-1588"/>
            <a:r>
              <a:rPr lang="en-US" sz="1700" i="1">
                <a:solidFill>
                  <a:srgbClr val="000000"/>
                </a:solidFill>
              </a:rPr>
              <a:t>med</a:t>
            </a:r>
            <a:endParaRPr lang="en-US" sz="1700" i="1"/>
          </a:p>
        </p:txBody>
      </p:sp>
      <p:sp>
        <p:nvSpPr>
          <p:cNvPr id="105" name="Line 44"/>
          <p:cNvSpPr>
            <a:spLocks noChangeShapeType="1"/>
          </p:cNvSpPr>
          <p:nvPr/>
        </p:nvSpPr>
        <p:spPr bwMode="auto">
          <a:xfrm>
            <a:off x="900113" y="2278063"/>
            <a:ext cx="3263900" cy="2160587"/>
          </a:xfrm>
          <a:prstGeom prst="line">
            <a:avLst/>
          </a:prstGeom>
          <a:noFill/>
          <a:ln w="30163">
            <a:solidFill>
              <a:srgbClr val="3C5DAA"/>
            </a:solidFill>
            <a:miter lim="800000"/>
            <a:headEnd/>
            <a:tailEnd/>
          </a:ln>
        </p:spPr>
        <p:txBody>
          <a:bodyPr/>
          <a:lstStyle/>
          <a:p>
            <a:endParaRPr lang="en-US"/>
          </a:p>
        </p:txBody>
      </p:sp>
      <p:sp>
        <p:nvSpPr>
          <p:cNvPr id="106" name="Freeform 45"/>
          <p:cNvSpPr>
            <a:spLocks/>
          </p:cNvSpPr>
          <p:nvPr/>
        </p:nvSpPr>
        <p:spPr bwMode="auto">
          <a:xfrm>
            <a:off x="887413" y="2076450"/>
            <a:ext cx="3667125" cy="2898775"/>
          </a:xfrm>
          <a:custGeom>
            <a:avLst/>
            <a:gdLst>
              <a:gd name="T0" fmla="*/ 2147483647 w 1911"/>
              <a:gd name="T1" fmla="*/ 2147483647 h 1361"/>
              <a:gd name="T2" fmla="*/ 0 w 1911"/>
              <a:gd name="T3" fmla="*/ 2147483647 h 1361"/>
              <a:gd name="T4" fmla="*/ 0 w 1911"/>
              <a:gd name="T5" fmla="*/ 0 h 1361"/>
              <a:gd name="T6" fmla="*/ 0 60000 65536"/>
              <a:gd name="T7" fmla="*/ 0 60000 65536"/>
              <a:gd name="T8" fmla="*/ 0 60000 65536"/>
              <a:gd name="T9" fmla="*/ 0 w 1911"/>
              <a:gd name="T10" fmla="*/ 0 h 1361"/>
              <a:gd name="T11" fmla="*/ 1911 w 1911"/>
              <a:gd name="T12" fmla="*/ 1361 h 1361"/>
            </a:gdLst>
            <a:ahLst/>
            <a:cxnLst>
              <a:cxn ang="T6">
                <a:pos x="T0" y="T1"/>
              </a:cxn>
              <a:cxn ang="T7">
                <a:pos x="T2" y="T3"/>
              </a:cxn>
              <a:cxn ang="T8">
                <a:pos x="T4" y="T5"/>
              </a:cxn>
            </a:cxnLst>
            <a:rect l="T9" t="T10" r="T11" b="T12"/>
            <a:pathLst>
              <a:path w="1911" h="1361">
                <a:moveTo>
                  <a:pt x="1911" y="1361"/>
                </a:moveTo>
                <a:lnTo>
                  <a:pt x="0" y="1361"/>
                </a:lnTo>
                <a:lnTo>
                  <a:pt x="0" y="0"/>
                </a:lnTo>
              </a:path>
            </a:pathLst>
          </a:custGeom>
          <a:noFill/>
          <a:ln w="7938">
            <a:solidFill>
              <a:srgbClr val="000000"/>
            </a:solidFill>
            <a:miter lim="800000"/>
            <a:headEnd/>
            <a:tailEnd/>
          </a:ln>
        </p:spPr>
        <p:txBody>
          <a:bodyPr/>
          <a:lstStyle/>
          <a:p>
            <a:endParaRPr lang="en-US"/>
          </a:p>
        </p:txBody>
      </p:sp>
      <p:sp>
        <p:nvSpPr>
          <p:cNvPr id="107" name="Line 46"/>
          <p:cNvSpPr>
            <a:spLocks noChangeShapeType="1"/>
          </p:cNvSpPr>
          <p:nvPr/>
        </p:nvSpPr>
        <p:spPr bwMode="auto">
          <a:xfrm flipV="1">
            <a:off x="1422400" y="2609850"/>
            <a:ext cx="930275" cy="711200"/>
          </a:xfrm>
          <a:prstGeom prst="line">
            <a:avLst/>
          </a:prstGeom>
          <a:noFill/>
          <a:ln w="7938">
            <a:solidFill>
              <a:srgbClr val="000000"/>
            </a:solidFill>
            <a:miter lim="800000"/>
            <a:headEnd/>
            <a:tailEnd/>
          </a:ln>
        </p:spPr>
        <p:txBody>
          <a:bodyPr/>
          <a:lstStyle/>
          <a:p>
            <a:endParaRPr lang="en-US"/>
          </a:p>
        </p:txBody>
      </p:sp>
      <p:sp>
        <p:nvSpPr>
          <p:cNvPr id="108" name="Line 47"/>
          <p:cNvSpPr>
            <a:spLocks noChangeShapeType="1"/>
          </p:cNvSpPr>
          <p:nvPr/>
        </p:nvSpPr>
        <p:spPr bwMode="auto">
          <a:xfrm flipV="1">
            <a:off x="2271713" y="2779713"/>
            <a:ext cx="271462" cy="1011237"/>
          </a:xfrm>
          <a:prstGeom prst="line">
            <a:avLst/>
          </a:prstGeom>
          <a:noFill/>
          <a:ln w="7938">
            <a:solidFill>
              <a:srgbClr val="000000"/>
            </a:solidFill>
            <a:miter lim="800000"/>
            <a:headEnd/>
            <a:tailEnd/>
          </a:ln>
        </p:spPr>
        <p:txBody>
          <a:bodyPr/>
          <a:lstStyle/>
          <a:p>
            <a:endParaRPr lang="en-US"/>
          </a:p>
        </p:txBody>
      </p:sp>
      <p:sp>
        <p:nvSpPr>
          <p:cNvPr id="109" name="Freeform 48"/>
          <p:cNvSpPr>
            <a:spLocks/>
          </p:cNvSpPr>
          <p:nvPr/>
        </p:nvSpPr>
        <p:spPr bwMode="auto">
          <a:xfrm>
            <a:off x="2338388" y="2246313"/>
            <a:ext cx="1154112" cy="966787"/>
          </a:xfrm>
          <a:custGeom>
            <a:avLst/>
            <a:gdLst>
              <a:gd name="T0" fmla="*/ 2147483647 w 175"/>
              <a:gd name="T1" fmla="*/ 2147483647 h 95"/>
              <a:gd name="T2" fmla="*/ 2147483647 w 175"/>
              <a:gd name="T3" fmla="*/ 2147483647 h 95"/>
              <a:gd name="T4" fmla="*/ 2147483647 w 175"/>
              <a:gd name="T5" fmla="*/ 2147483647 h 95"/>
              <a:gd name="T6" fmla="*/ 0 w 175"/>
              <a:gd name="T7" fmla="*/ 2147483647 h 95"/>
              <a:gd name="T8" fmla="*/ 0 w 175"/>
              <a:gd name="T9" fmla="*/ 2147483647 h 95"/>
              <a:gd name="T10" fmla="*/ 2147483647 w 175"/>
              <a:gd name="T11" fmla="*/ 0 h 95"/>
              <a:gd name="T12" fmla="*/ 2147483647 w 175"/>
              <a:gd name="T13" fmla="*/ 0 h 95"/>
              <a:gd name="T14" fmla="*/ 2147483647 w 175"/>
              <a:gd name="T15" fmla="*/ 2147483647 h 95"/>
              <a:gd name="T16" fmla="*/ 2147483647 w 175"/>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75"/>
              <a:gd name="T28" fmla="*/ 0 h 95"/>
              <a:gd name="T29" fmla="*/ 175 w 175"/>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75" h="95">
                <a:moveTo>
                  <a:pt x="175" y="79"/>
                </a:moveTo>
                <a:cubicBezTo>
                  <a:pt x="175" y="88"/>
                  <a:pt x="167" y="95"/>
                  <a:pt x="159" y="95"/>
                </a:cubicBezTo>
                <a:cubicBezTo>
                  <a:pt x="16" y="95"/>
                  <a:pt x="16" y="95"/>
                  <a:pt x="16" y="95"/>
                </a:cubicBezTo>
                <a:cubicBezTo>
                  <a:pt x="7" y="95"/>
                  <a:pt x="0" y="88"/>
                  <a:pt x="0" y="79"/>
                </a:cubicBezTo>
                <a:cubicBezTo>
                  <a:pt x="0" y="16"/>
                  <a:pt x="0" y="16"/>
                  <a:pt x="0" y="16"/>
                </a:cubicBezTo>
                <a:cubicBezTo>
                  <a:pt x="0" y="7"/>
                  <a:pt x="7" y="0"/>
                  <a:pt x="16" y="0"/>
                </a:cubicBezTo>
                <a:cubicBezTo>
                  <a:pt x="159" y="0"/>
                  <a:pt x="159" y="0"/>
                  <a:pt x="159" y="0"/>
                </a:cubicBezTo>
                <a:cubicBezTo>
                  <a:pt x="167" y="0"/>
                  <a:pt x="175" y="7"/>
                  <a:pt x="175" y="16"/>
                </a:cubicBezTo>
                <a:lnTo>
                  <a:pt x="175" y="79"/>
                </a:lnTo>
                <a:close/>
              </a:path>
            </a:pathLst>
          </a:custGeom>
          <a:solidFill>
            <a:srgbClr val="D7E2E0"/>
          </a:solidFill>
          <a:ln w="9525">
            <a:noFill/>
            <a:round/>
            <a:headEnd/>
            <a:tailEnd/>
          </a:ln>
        </p:spPr>
        <p:txBody>
          <a:bodyPr/>
          <a:lstStyle/>
          <a:p>
            <a:endParaRPr lang="en-US"/>
          </a:p>
        </p:txBody>
      </p:sp>
      <p:sp>
        <p:nvSpPr>
          <p:cNvPr id="110" name="Rectangle 49"/>
          <p:cNvSpPr>
            <a:spLocks noChangeArrowheads="1"/>
          </p:cNvSpPr>
          <p:nvPr/>
        </p:nvSpPr>
        <p:spPr bwMode="auto">
          <a:xfrm>
            <a:off x="2443163" y="2328863"/>
            <a:ext cx="823912" cy="776287"/>
          </a:xfrm>
          <a:prstGeom prst="rect">
            <a:avLst/>
          </a:prstGeom>
          <a:noFill/>
          <a:ln w="9525">
            <a:noFill/>
            <a:miter lim="800000"/>
            <a:headEnd/>
            <a:tailEnd/>
          </a:ln>
        </p:spPr>
        <p:txBody>
          <a:bodyPr lIns="0" tIns="0" rIns="0" bIns="0">
            <a:spAutoFit/>
          </a:bodyPr>
          <a:lstStyle/>
          <a:p>
            <a:pPr marL="1588" indent="-1588" algn="ctr"/>
            <a:r>
              <a:rPr lang="en-US" sz="1700">
                <a:solidFill>
                  <a:srgbClr val="000000"/>
                </a:solidFill>
              </a:rPr>
              <a:t>Profit with two prices</a:t>
            </a:r>
            <a:endParaRPr lang="en-US" sz="1700"/>
          </a:p>
        </p:txBody>
      </p:sp>
      <p:sp>
        <p:nvSpPr>
          <p:cNvPr id="111" name="Line 50"/>
          <p:cNvSpPr>
            <a:spLocks noChangeShapeType="1"/>
          </p:cNvSpPr>
          <p:nvPr/>
        </p:nvSpPr>
        <p:spPr bwMode="auto">
          <a:xfrm>
            <a:off x="5400675" y="2312988"/>
            <a:ext cx="3203575" cy="2122487"/>
          </a:xfrm>
          <a:prstGeom prst="line">
            <a:avLst/>
          </a:prstGeom>
          <a:noFill/>
          <a:ln w="30163">
            <a:solidFill>
              <a:srgbClr val="3C5DAA"/>
            </a:solidFill>
            <a:miter lim="800000"/>
            <a:headEnd/>
            <a:tailEnd/>
          </a:ln>
        </p:spPr>
        <p:txBody>
          <a:bodyPr/>
          <a:lstStyle/>
          <a:p>
            <a:endParaRPr lang="en-US"/>
          </a:p>
        </p:txBody>
      </p:sp>
      <p:sp>
        <p:nvSpPr>
          <p:cNvPr id="112" name="Freeform 51"/>
          <p:cNvSpPr>
            <a:spLocks/>
          </p:cNvSpPr>
          <p:nvPr/>
        </p:nvSpPr>
        <p:spPr bwMode="auto">
          <a:xfrm>
            <a:off x="5387975" y="1800225"/>
            <a:ext cx="3455988" cy="3157538"/>
          </a:xfrm>
          <a:custGeom>
            <a:avLst/>
            <a:gdLst>
              <a:gd name="T0" fmla="*/ 2147483647 w 1911"/>
              <a:gd name="T1" fmla="*/ 2147483647 h 1361"/>
              <a:gd name="T2" fmla="*/ 0 w 1911"/>
              <a:gd name="T3" fmla="*/ 2147483647 h 1361"/>
              <a:gd name="T4" fmla="*/ 0 w 1911"/>
              <a:gd name="T5" fmla="*/ 0 h 1361"/>
              <a:gd name="T6" fmla="*/ 0 60000 65536"/>
              <a:gd name="T7" fmla="*/ 0 60000 65536"/>
              <a:gd name="T8" fmla="*/ 0 60000 65536"/>
              <a:gd name="T9" fmla="*/ 0 w 1911"/>
              <a:gd name="T10" fmla="*/ 0 h 1361"/>
              <a:gd name="T11" fmla="*/ 1911 w 1911"/>
              <a:gd name="T12" fmla="*/ 1361 h 1361"/>
            </a:gdLst>
            <a:ahLst/>
            <a:cxnLst>
              <a:cxn ang="T6">
                <a:pos x="T0" y="T1"/>
              </a:cxn>
              <a:cxn ang="T7">
                <a:pos x="T2" y="T3"/>
              </a:cxn>
              <a:cxn ang="T8">
                <a:pos x="T4" y="T5"/>
              </a:cxn>
            </a:cxnLst>
            <a:rect l="T9" t="T10" r="T11" b="T12"/>
            <a:pathLst>
              <a:path w="1911" h="1361">
                <a:moveTo>
                  <a:pt x="1911" y="1361"/>
                </a:moveTo>
                <a:lnTo>
                  <a:pt x="0" y="1361"/>
                </a:lnTo>
                <a:lnTo>
                  <a:pt x="0" y="0"/>
                </a:lnTo>
              </a:path>
            </a:pathLst>
          </a:custGeom>
          <a:noFill/>
          <a:ln w="7938">
            <a:solidFill>
              <a:srgbClr val="000000"/>
            </a:solidFill>
            <a:miter lim="800000"/>
            <a:headEnd/>
            <a:tailEnd/>
          </a:ln>
        </p:spPr>
        <p:txBody>
          <a:bodyPr/>
          <a:lstStyle/>
          <a:p>
            <a:endParaRPr lang="en-US"/>
          </a:p>
        </p:txBody>
      </p:sp>
      <p:sp>
        <p:nvSpPr>
          <p:cNvPr id="113" name="Line 52"/>
          <p:cNvSpPr>
            <a:spLocks noChangeShapeType="1"/>
          </p:cNvSpPr>
          <p:nvPr/>
        </p:nvSpPr>
        <p:spPr bwMode="auto">
          <a:xfrm flipV="1">
            <a:off x="6278563" y="2714625"/>
            <a:ext cx="819150" cy="749300"/>
          </a:xfrm>
          <a:prstGeom prst="line">
            <a:avLst/>
          </a:prstGeom>
          <a:noFill/>
          <a:ln w="7938">
            <a:solidFill>
              <a:srgbClr val="000000"/>
            </a:solidFill>
            <a:miter lim="800000"/>
            <a:headEnd/>
            <a:tailEnd/>
          </a:ln>
        </p:spPr>
        <p:txBody>
          <a:bodyPr/>
          <a:lstStyle/>
          <a:p>
            <a:endParaRPr lang="en-US"/>
          </a:p>
        </p:txBody>
      </p:sp>
      <p:sp>
        <p:nvSpPr>
          <p:cNvPr id="114" name="Line 53"/>
          <p:cNvSpPr>
            <a:spLocks noChangeShapeType="1"/>
          </p:cNvSpPr>
          <p:nvPr/>
        </p:nvSpPr>
        <p:spPr bwMode="auto">
          <a:xfrm flipV="1">
            <a:off x="7118350" y="2808288"/>
            <a:ext cx="200025" cy="1074737"/>
          </a:xfrm>
          <a:prstGeom prst="line">
            <a:avLst/>
          </a:prstGeom>
          <a:noFill/>
          <a:ln w="7938">
            <a:solidFill>
              <a:srgbClr val="000000"/>
            </a:solidFill>
            <a:miter lim="800000"/>
            <a:headEnd/>
            <a:tailEnd/>
          </a:ln>
        </p:spPr>
        <p:txBody>
          <a:bodyPr/>
          <a:lstStyle/>
          <a:p>
            <a:endParaRPr lang="en-US"/>
          </a:p>
        </p:txBody>
      </p:sp>
      <p:sp>
        <p:nvSpPr>
          <p:cNvPr id="115" name="Line 54"/>
          <p:cNvSpPr>
            <a:spLocks noChangeShapeType="1"/>
          </p:cNvSpPr>
          <p:nvPr/>
        </p:nvSpPr>
        <p:spPr bwMode="auto">
          <a:xfrm flipV="1">
            <a:off x="5584825" y="2484438"/>
            <a:ext cx="1512888" cy="384175"/>
          </a:xfrm>
          <a:prstGeom prst="line">
            <a:avLst/>
          </a:prstGeom>
          <a:noFill/>
          <a:ln w="7938">
            <a:solidFill>
              <a:srgbClr val="000000"/>
            </a:solidFill>
            <a:miter lim="800000"/>
            <a:headEnd/>
            <a:tailEnd/>
          </a:ln>
        </p:spPr>
        <p:txBody>
          <a:bodyPr/>
          <a:lstStyle/>
          <a:p>
            <a:endParaRPr lang="en-US"/>
          </a:p>
        </p:txBody>
      </p:sp>
      <p:sp>
        <p:nvSpPr>
          <p:cNvPr id="116" name="Freeform 55"/>
          <p:cNvSpPr>
            <a:spLocks/>
          </p:cNvSpPr>
          <p:nvPr/>
        </p:nvSpPr>
        <p:spPr bwMode="auto">
          <a:xfrm>
            <a:off x="6918325" y="2257425"/>
            <a:ext cx="1254125" cy="703263"/>
          </a:xfrm>
          <a:custGeom>
            <a:avLst/>
            <a:gdLst>
              <a:gd name="T0" fmla="*/ 2147483647 w 190"/>
              <a:gd name="T1" fmla="*/ 2147483647 h 94"/>
              <a:gd name="T2" fmla="*/ 2147483647 w 190"/>
              <a:gd name="T3" fmla="*/ 2147483647 h 94"/>
              <a:gd name="T4" fmla="*/ 2147483647 w 190"/>
              <a:gd name="T5" fmla="*/ 2147483647 h 94"/>
              <a:gd name="T6" fmla="*/ 0 w 190"/>
              <a:gd name="T7" fmla="*/ 2147483647 h 94"/>
              <a:gd name="T8" fmla="*/ 0 w 190"/>
              <a:gd name="T9" fmla="*/ 2147483647 h 94"/>
              <a:gd name="T10" fmla="*/ 2147483647 w 190"/>
              <a:gd name="T11" fmla="*/ 0 h 94"/>
              <a:gd name="T12" fmla="*/ 2147483647 w 190"/>
              <a:gd name="T13" fmla="*/ 0 h 94"/>
              <a:gd name="T14" fmla="*/ 2147483647 w 190"/>
              <a:gd name="T15" fmla="*/ 2147483647 h 94"/>
              <a:gd name="T16" fmla="*/ 2147483647 w 190"/>
              <a:gd name="T17" fmla="*/ 2147483647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0"/>
              <a:gd name="T28" fmla="*/ 0 h 94"/>
              <a:gd name="T29" fmla="*/ 190 w 190"/>
              <a:gd name="T30" fmla="*/ 94 h 9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0" h="94">
                <a:moveTo>
                  <a:pt x="190" y="78"/>
                </a:moveTo>
                <a:cubicBezTo>
                  <a:pt x="190" y="87"/>
                  <a:pt x="183" y="94"/>
                  <a:pt x="174" y="94"/>
                </a:cubicBezTo>
                <a:cubicBezTo>
                  <a:pt x="16" y="94"/>
                  <a:pt x="16" y="94"/>
                  <a:pt x="16" y="94"/>
                </a:cubicBezTo>
                <a:cubicBezTo>
                  <a:pt x="7" y="94"/>
                  <a:pt x="0" y="87"/>
                  <a:pt x="0" y="78"/>
                </a:cubicBezTo>
                <a:cubicBezTo>
                  <a:pt x="0" y="16"/>
                  <a:pt x="0" y="16"/>
                  <a:pt x="0" y="16"/>
                </a:cubicBezTo>
                <a:cubicBezTo>
                  <a:pt x="0" y="7"/>
                  <a:pt x="7" y="0"/>
                  <a:pt x="16" y="0"/>
                </a:cubicBezTo>
                <a:cubicBezTo>
                  <a:pt x="174" y="0"/>
                  <a:pt x="174" y="0"/>
                  <a:pt x="174" y="0"/>
                </a:cubicBezTo>
                <a:cubicBezTo>
                  <a:pt x="183" y="0"/>
                  <a:pt x="190" y="7"/>
                  <a:pt x="190" y="16"/>
                </a:cubicBezTo>
                <a:lnTo>
                  <a:pt x="190" y="78"/>
                </a:lnTo>
                <a:close/>
              </a:path>
            </a:pathLst>
          </a:custGeom>
          <a:solidFill>
            <a:srgbClr val="D7E2E0"/>
          </a:solidFill>
          <a:ln w="9525">
            <a:noFill/>
            <a:round/>
            <a:headEnd/>
            <a:tailEnd/>
          </a:ln>
        </p:spPr>
        <p:txBody>
          <a:bodyPr/>
          <a:lstStyle/>
          <a:p>
            <a:endParaRPr lang="en-US"/>
          </a:p>
        </p:txBody>
      </p:sp>
      <p:cxnSp>
        <p:nvCxnSpPr>
          <p:cNvPr id="117" name="Straight Connector 86"/>
          <p:cNvCxnSpPr>
            <a:cxnSpLocks noChangeShapeType="1"/>
          </p:cNvCxnSpPr>
          <p:nvPr/>
        </p:nvCxnSpPr>
        <p:spPr bwMode="auto">
          <a:xfrm>
            <a:off x="2713038" y="3540125"/>
            <a:ext cx="0" cy="1423988"/>
          </a:xfrm>
          <a:prstGeom prst="line">
            <a:avLst/>
          </a:prstGeom>
          <a:noFill/>
          <a:ln w="15875">
            <a:solidFill>
              <a:srgbClr val="808080"/>
            </a:solidFill>
            <a:prstDash val="sysDot"/>
            <a:round/>
            <a:headEnd/>
            <a:tailEnd type="none" w="med" len="lg"/>
          </a:ln>
        </p:spPr>
      </p:cxnSp>
      <p:cxnSp>
        <p:nvCxnSpPr>
          <p:cNvPr id="118" name="Straight Connector 86"/>
          <p:cNvCxnSpPr>
            <a:cxnSpLocks noChangeShapeType="1"/>
          </p:cNvCxnSpPr>
          <p:nvPr/>
        </p:nvCxnSpPr>
        <p:spPr bwMode="auto">
          <a:xfrm>
            <a:off x="873125" y="2898775"/>
            <a:ext cx="885825" cy="0"/>
          </a:xfrm>
          <a:prstGeom prst="line">
            <a:avLst/>
          </a:prstGeom>
          <a:noFill/>
          <a:ln w="15875">
            <a:solidFill>
              <a:srgbClr val="808080"/>
            </a:solidFill>
            <a:prstDash val="sysDot"/>
            <a:round/>
            <a:headEnd/>
            <a:tailEnd type="none" w="med" len="lg"/>
          </a:ln>
        </p:spPr>
      </p:cxnSp>
      <p:cxnSp>
        <p:nvCxnSpPr>
          <p:cNvPr id="119" name="Straight Connector 86"/>
          <p:cNvCxnSpPr>
            <a:cxnSpLocks noChangeShapeType="1"/>
          </p:cNvCxnSpPr>
          <p:nvPr/>
        </p:nvCxnSpPr>
        <p:spPr bwMode="auto">
          <a:xfrm>
            <a:off x="1773238" y="2932113"/>
            <a:ext cx="0" cy="1989137"/>
          </a:xfrm>
          <a:prstGeom prst="line">
            <a:avLst/>
          </a:prstGeom>
          <a:noFill/>
          <a:ln w="15875">
            <a:solidFill>
              <a:srgbClr val="808080"/>
            </a:solidFill>
            <a:prstDash val="sysDot"/>
            <a:round/>
            <a:headEnd/>
            <a:tailEnd type="none" w="med" len="lg"/>
          </a:ln>
        </p:spPr>
      </p:cxnSp>
      <p:cxnSp>
        <p:nvCxnSpPr>
          <p:cNvPr id="120" name="Straight Connector 86"/>
          <p:cNvCxnSpPr>
            <a:cxnSpLocks noChangeShapeType="1"/>
          </p:cNvCxnSpPr>
          <p:nvPr/>
        </p:nvCxnSpPr>
        <p:spPr bwMode="auto">
          <a:xfrm>
            <a:off x="885825" y="3508375"/>
            <a:ext cx="1800225" cy="0"/>
          </a:xfrm>
          <a:prstGeom prst="line">
            <a:avLst/>
          </a:prstGeom>
          <a:noFill/>
          <a:ln w="15875">
            <a:solidFill>
              <a:srgbClr val="808080"/>
            </a:solidFill>
            <a:prstDash val="sysDot"/>
            <a:round/>
            <a:headEnd/>
            <a:tailEnd type="none" w="med" len="lg"/>
          </a:ln>
        </p:spPr>
      </p:cxnSp>
      <p:cxnSp>
        <p:nvCxnSpPr>
          <p:cNvPr id="121" name="Straight Connector 86"/>
          <p:cNvCxnSpPr>
            <a:cxnSpLocks noChangeShapeType="1"/>
          </p:cNvCxnSpPr>
          <p:nvPr/>
        </p:nvCxnSpPr>
        <p:spPr bwMode="auto">
          <a:xfrm>
            <a:off x="6775450" y="3221038"/>
            <a:ext cx="0" cy="1743075"/>
          </a:xfrm>
          <a:prstGeom prst="line">
            <a:avLst/>
          </a:prstGeom>
          <a:noFill/>
          <a:ln w="15875">
            <a:solidFill>
              <a:srgbClr val="808080"/>
            </a:solidFill>
            <a:prstDash val="sysDot"/>
            <a:round/>
            <a:headEnd/>
            <a:tailEnd type="none" w="med" len="lg"/>
          </a:ln>
        </p:spPr>
      </p:cxnSp>
      <p:cxnSp>
        <p:nvCxnSpPr>
          <p:cNvPr id="122" name="Straight Connector 86"/>
          <p:cNvCxnSpPr>
            <a:cxnSpLocks noChangeShapeType="1"/>
          </p:cNvCxnSpPr>
          <p:nvPr/>
        </p:nvCxnSpPr>
        <p:spPr bwMode="auto">
          <a:xfrm>
            <a:off x="5372100" y="2563813"/>
            <a:ext cx="409575" cy="0"/>
          </a:xfrm>
          <a:prstGeom prst="line">
            <a:avLst/>
          </a:prstGeom>
          <a:noFill/>
          <a:ln w="15875">
            <a:solidFill>
              <a:srgbClr val="808080"/>
            </a:solidFill>
            <a:prstDash val="sysDot"/>
            <a:round/>
            <a:headEnd/>
            <a:tailEnd type="none" w="med" len="lg"/>
          </a:ln>
        </p:spPr>
      </p:cxnSp>
      <p:cxnSp>
        <p:nvCxnSpPr>
          <p:cNvPr id="123" name="Straight Connector 86"/>
          <p:cNvCxnSpPr>
            <a:cxnSpLocks noChangeShapeType="1"/>
          </p:cNvCxnSpPr>
          <p:nvPr/>
        </p:nvCxnSpPr>
        <p:spPr bwMode="auto">
          <a:xfrm>
            <a:off x="5795963" y="2611438"/>
            <a:ext cx="0" cy="2352675"/>
          </a:xfrm>
          <a:prstGeom prst="line">
            <a:avLst/>
          </a:prstGeom>
          <a:noFill/>
          <a:ln w="15875">
            <a:solidFill>
              <a:srgbClr val="808080"/>
            </a:solidFill>
            <a:prstDash val="sysDot"/>
            <a:round/>
            <a:headEnd/>
            <a:tailEnd type="none" w="med" len="lg"/>
          </a:ln>
        </p:spPr>
      </p:cxnSp>
      <p:cxnSp>
        <p:nvCxnSpPr>
          <p:cNvPr id="124" name="Straight Connector 86"/>
          <p:cNvCxnSpPr>
            <a:cxnSpLocks noChangeShapeType="1"/>
          </p:cNvCxnSpPr>
          <p:nvPr/>
        </p:nvCxnSpPr>
        <p:spPr bwMode="auto">
          <a:xfrm>
            <a:off x="5372100" y="3187700"/>
            <a:ext cx="1336675" cy="0"/>
          </a:xfrm>
          <a:prstGeom prst="line">
            <a:avLst/>
          </a:prstGeom>
          <a:noFill/>
          <a:ln w="15875">
            <a:solidFill>
              <a:srgbClr val="808080"/>
            </a:solidFill>
            <a:prstDash val="sysDot"/>
            <a:round/>
            <a:headEnd/>
            <a:tailEnd type="none" w="med" len="lg"/>
          </a:ln>
        </p:spPr>
      </p:cxnSp>
      <p:cxnSp>
        <p:nvCxnSpPr>
          <p:cNvPr id="125" name="Straight Connector 86"/>
          <p:cNvCxnSpPr>
            <a:cxnSpLocks noChangeShapeType="1"/>
          </p:cNvCxnSpPr>
          <p:nvPr/>
        </p:nvCxnSpPr>
        <p:spPr bwMode="auto">
          <a:xfrm>
            <a:off x="7462838" y="3716338"/>
            <a:ext cx="0" cy="1230312"/>
          </a:xfrm>
          <a:prstGeom prst="line">
            <a:avLst/>
          </a:prstGeom>
          <a:noFill/>
          <a:ln w="15875">
            <a:solidFill>
              <a:srgbClr val="808080"/>
            </a:solidFill>
            <a:prstDash val="sysDot"/>
            <a:round/>
            <a:headEnd/>
            <a:tailEnd type="none" w="med" len="lg"/>
          </a:ln>
        </p:spPr>
      </p:cxnSp>
      <p:cxnSp>
        <p:nvCxnSpPr>
          <p:cNvPr id="126" name="Straight Connector 86"/>
          <p:cNvCxnSpPr>
            <a:cxnSpLocks noChangeShapeType="1"/>
          </p:cNvCxnSpPr>
          <p:nvPr/>
        </p:nvCxnSpPr>
        <p:spPr bwMode="auto">
          <a:xfrm>
            <a:off x="5372100" y="3668713"/>
            <a:ext cx="2090738" cy="0"/>
          </a:xfrm>
          <a:prstGeom prst="line">
            <a:avLst/>
          </a:prstGeom>
          <a:noFill/>
          <a:ln w="15875">
            <a:solidFill>
              <a:srgbClr val="808080"/>
            </a:solidFill>
            <a:prstDash val="sysDot"/>
            <a:round/>
            <a:headEnd/>
            <a:tailEnd type="none" w="med" len="lg"/>
          </a:ln>
        </p:spPr>
      </p:cxnSp>
      <p:sp>
        <p:nvSpPr>
          <p:cNvPr id="127" name="Rectangle 66"/>
          <p:cNvSpPr>
            <a:spLocks noChangeArrowheads="1"/>
          </p:cNvSpPr>
          <p:nvPr/>
        </p:nvSpPr>
        <p:spPr bwMode="auto">
          <a:xfrm>
            <a:off x="6992938" y="2371725"/>
            <a:ext cx="1122362" cy="517525"/>
          </a:xfrm>
          <a:prstGeom prst="rect">
            <a:avLst/>
          </a:prstGeom>
          <a:noFill/>
          <a:ln w="9525">
            <a:noFill/>
            <a:miter lim="800000"/>
            <a:headEnd/>
            <a:tailEnd/>
          </a:ln>
        </p:spPr>
        <p:txBody>
          <a:bodyPr lIns="0" tIns="0" rIns="0" bIns="0">
            <a:spAutoFit/>
          </a:bodyPr>
          <a:lstStyle/>
          <a:p>
            <a:pPr marL="1588" indent="-1588" algn="ctr"/>
            <a:r>
              <a:rPr lang="en-US" sz="1700">
                <a:solidFill>
                  <a:srgbClr val="000000"/>
                </a:solidFill>
              </a:rPr>
              <a:t>Profit with three prices</a:t>
            </a:r>
            <a:endParaRPr lang="en-US" sz="1700"/>
          </a:p>
        </p:txBody>
      </p:sp>
      <p:sp>
        <p:nvSpPr>
          <p:cNvPr id="128" name="Rectangle 67"/>
          <p:cNvSpPr>
            <a:spLocks noChangeArrowheads="1"/>
          </p:cNvSpPr>
          <p:nvPr/>
        </p:nvSpPr>
        <p:spPr bwMode="auto">
          <a:xfrm>
            <a:off x="1979613" y="5300663"/>
            <a:ext cx="1255712" cy="1293812"/>
          </a:xfrm>
          <a:prstGeom prst="rect">
            <a:avLst/>
          </a:prstGeom>
          <a:noFill/>
          <a:ln w="9525">
            <a:noFill/>
            <a:miter lim="800000"/>
            <a:headEnd/>
            <a:tailEnd/>
          </a:ln>
        </p:spPr>
        <p:txBody>
          <a:bodyPr lIns="0" tIns="0" rIns="0" bIns="0">
            <a:spAutoFit/>
          </a:bodyPr>
          <a:lstStyle/>
          <a:p>
            <a:pPr marL="1588" indent="-1588" algn="ctr"/>
            <a:r>
              <a:rPr lang="en-US" sz="1700">
                <a:solidFill>
                  <a:srgbClr val="000000"/>
                </a:solidFill>
              </a:rPr>
              <a:t>Sales to consumers with a low willingness to pay</a:t>
            </a:r>
            <a:endParaRPr lang="en-US" sz="1700"/>
          </a:p>
        </p:txBody>
      </p:sp>
      <p:sp>
        <p:nvSpPr>
          <p:cNvPr id="129" name="Rectangle 68"/>
          <p:cNvSpPr>
            <a:spLocks noChangeArrowheads="1"/>
          </p:cNvSpPr>
          <p:nvPr/>
        </p:nvSpPr>
        <p:spPr bwMode="auto">
          <a:xfrm>
            <a:off x="468313" y="5283200"/>
            <a:ext cx="1147762" cy="1293813"/>
          </a:xfrm>
          <a:prstGeom prst="rect">
            <a:avLst/>
          </a:prstGeom>
          <a:noFill/>
          <a:ln w="9525">
            <a:noFill/>
            <a:miter lim="800000"/>
            <a:headEnd/>
            <a:tailEnd/>
          </a:ln>
        </p:spPr>
        <p:txBody>
          <a:bodyPr lIns="0" tIns="0" rIns="0" bIns="0">
            <a:spAutoFit/>
          </a:bodyPr>
          <a:lstStyle/>
          <a:p>
            <a:pPr marL="1588" indent="-1588" algn="ctr"/>
            <a:r>
              <a:rPr lang="en-US" sz="1700">
                <a:solidFill>
                  <a:srgbClr val="000000"/>
                </a:solidFill>
              </a:rPr>
              <a:t>Sales to consumers with a high willingness to pay</a:t>
            </a:r>
            <a:endParaRPr lang="en-US" sz="1700"/>
          </a:p>
        </p:txBody>
      </p:sp>
      <p:sp>
        <p:nvSpPr>
          <p:cNvPr id="130" name="Rectangle 69"/>
          <p:cNvSpPr>
            <a:spLocks noChangeArrowheads="1"/>
          </p:cNvSpPr>
          <p:nvPr/>
        </p:nvSpPr>
        <p:spPr bwMode="auto">
          <a:xfrm>
            <a:off x="4841875" y="1728788"/>
            <a:ext cx="546100" cy="517525"/>
          </a:xfrm>
          <a:prstGeom prst="rect">
            <a:avLst/>
          </a:prstGeom>
          <a:noFill/>
          <a:ln w="9525">
            <a:noFill/>
            <a:miter lim="800000"/>
            <a:headEnd/>
            <a:tailEnd/>
          </a:ln>
        </p:spPr>
        <p:txBody>
          <a:bodyPr lIns="0" tIns="0" rIns="0" bIns="0">
            <a:spAutoFit/>
          </a:bodyPr>
          <a:lstStyle/>
          <a:p>
            <a:pPr marL="1588" indent="-1588" algn="ctr"/>
            <a:r>
              <a:rPr lang="en-US" sz="1700">
                <a:solidFill>
                  <a:srgbClr val="000000"/>
                </a:solidFill>
              </a:rPr>
              <a:t>Price, cost</a:t>
            </a:r>
            <a:endParaRPr lang="en-US" sz="17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1"/>
                                        </p:tgtEl>
                                        <p:attrNameLst>
                                          <p:attrName>style.visibility</p:attrName>
                                        </p:attrNameLst>
                                      </p:cBhvr>
                                      <p:to>
                                        <p:strVal val="visible"/>
                                      </p:to>
                                    </p:set>
                                  </p:childTnLst>
                                </p:cTn>
                              </p:par>
                              <p:par>
                                <p:cTn id="25" presetID="22" presetClass="entr" presetSubtype="8" fill="hold" grpId="0" nodeType="withEffect">
                                  <p:stCondLst>
                                    <p:cond delay="0"/>
                                  </p:stCondLst>
                                  <p:childTnLst>
                                    <p:set>
                                      <p:cBhvr>
                                        <p:cTn id="26" dur="1" fill="hold">
                                          <p:stCondLst>
                                            <p:cond delay="0"/>
                                          </p:stCondLst>
                                        </p:cTn>
                                        <p:tgtEl>
                                          <p:spTgt spid="105"/>
                                        </p:tgtEl>
                                        <p:attrNameLst>
                                          <p:attrName>style.visibility</p:attrName>
                                        </p:attrNameLst>
                                      </p:cBhvr>
                                      <p:to>
                                        <p:strVal val="visible"/>
                                      </p:to>
                                    </p:set>
                                    <p:animEffect transition="in" filter="wipe(left)">
                                      <p:cBhvr>
                                        <p:cTn id="27" dur="500"/>
                                        <p:tgtEl>
                                          <p:spTgt spid="105"/>
                                        </p:tgtEl>
                                      </p:cBhvr>
                                    </p:animEffect>
                                  </p:childTnLst>
                                </p:cTn>
                              </p:par>
                              <p:par>
                                <p:cTn id="28" presetID="1" presetClass="entr" presetSubtype="0" fill="hold" nodeType="withEffect">
                                  <p:stCondLst>
                                    <p:cond delay="0"/>
                                  </p:stCondLst>
                                  <p:childTnLst>
                                    <p:set>
                                      <p:cBhvr>
                                        <p:cTn id="29" dur="1" fill="hold">
                                          <p:stCondLst>
                                            <p:cond delay="0"/>
                                          </p:stCondLst>
                                        </p:cTn>
                                        <p:tgtEl>
                                          <p:spTgt spid="118"/>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17"/>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120"/>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119"/>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06"/>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108"/>
                                        </p:tgtEl>
                                        <p:attrNameLst>
                                          <p:attrName>style.visibility</p:attrName>
                                        </p:attrNameLst>
                                      </p:cBhvr>
                                      <p:to>
                                        <p:strVal val="visible"/>
                                      </p:to>
                                    </p:set>
                                    <p:animEffect transition="in" filter="wipe(down)">
                                      <p:cBhvr>
                                        <p:cTn id="42" dur="500"/>
                                        <p:tgtEl>
                                          <p:spTgt spid="108"/>
                                        </p:tgtEl>
                                      </p:cBhvr>
                                    </p:animEffect>
                                  </p:childTnLst>
                                </p:cTn>
                              </p:par>
                              <p:par>
                                <p:cTn id="43" presetID="1" presetClass="entr" presetSubtype="0" fill="hold" grpId="0" nodeType="withEffect">
                                  <p:stCondLst>
                                    <p:cond delay="0"/>
                                  </p:stCondLst>
                                  <p:childTnLst>
                                    <p:set>
                                      <p:cBhvr>
                                        <p:cTn id="44" dur="1" fill="hold">
                                          <p:stCondLst>
                                            <p:cond delay="0"/>
                                          </p:stCondLst>
                                        </p:cTn>
                                        <p:tgtEl>
                                          <p:spTgt spid="10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0"/>
                                        </p:tgtEl>
                                        <p:attrNameLst>
                                          <p:attrName>style.visibility</p:attrName>
                                        </p:attrNameLst>
                                      </p:cBhvr>
                                      <p:to>
                                        <p:strVal val="visible"/>
                                      </p:to>
                                    </p:set>
                                  </p:childTnLst>
                                </p:cTn>
                              </p:par>
                              <p:par>
                                <p:cTn id="47" presetID="22" presetClass="entr" presetSubtype="4" fill="hold" grpId="0" nodeType="withEffect">
                                  <p:stCondLst>
                                    <p:cond delay="0"/>
                                  </p:stCondLst>
                                  <p:childTnLst>
                                    <p:set>
                                      <p:cBhvr>
                                        <p:cTn id="48" dur="1" fill="hold">
                                          <p:stCondLst>
                                            <p:cond delay="0"/>
                                          </p:stCondLst>
                                        </p:cTn>
                                        <p:tgtEl>
                                          <p:spTgt spid="107"/>
                                        </p:tgtEl>
                                        <p:attrNameLst>
                                          <p:attrName>style.visibility</p:attrName>
                                        </p:attrNameLst>
                                      </p:cBhvr>
                                      <p:to>
                                        <p:strVal val="visible"/>
                                      </p:to>
                                    </p:set>
                                    <p:animEffect transition="in" filter="wipe(down)">
                                      <p:cBhvr>
                                        <p:cTn id="49" dur="500"/>
                                        <p:tgtEl>
                                          <p:spTgt spid="107"/>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110"/>
                                        </p:tgtEl>
                                        <p:attrNameLst>
                                          <p:attrName>style.visibility</p:attrName>
                                        </p:attrNameLst>
                                      </p:cBhvr>
                                      <p:to>
                                        <p:strVal val="visible"/>
                                      </p:to>
                                    </p:set>
                                    <p:animEffect transition="in" filter="wipe(down)">
                                      <p:cBhvr>
                                        <p:cTn id="52" dur="500"/>
                                        <p:tgtEl>
                                          <p:spTgt spid="110"/>
                                        </p:tgtEl>
                                      </p:cBhvr>
                                    </p:animEffect>
                                  </p:childTnLst>
                                </p:cTn>
                              </p:par>
                              <p:par>
                                <p:cTn id="53" presetID="1" presetClass="entr" presetSubtype="0" fill="hold" grpId="0" nodeType="withEffect">
                                  <p:stCondLst>
                                    <p:cond delay="0"/>
                                  </p:stCondLst>
                                  <p:childTnLst>
                                    <p:set>
                                      <p:cBhvr>
                                        <p:cTn id="54" dur="1" fill="hold">
                                          <p:stCondLst>
                                            <p:cond delay="0"/>
                                          </p:stCondLst>
                                        </p:cTn>
                                        <p:tgtEl>
                                          <p:spTgt spid="85"/>
                                        </p:tgtEl>
                                        <p:attrNameLst>
                                          <p:attrName>style.visibility</p:attrName>
                                        </p:attrNameLst>
                                      </p:cBhvr>
                                      <p:to>
                                        <p:strVal val="visible"/>
                                      </p:to>
                                    </p:set>
                                  </p:childTnLst>
                                </p:cTn>
                              </p:par>
                              <p:par>
                                <p:cTn id="55" presetID="13" presetClass="entr" presetSubtype="32" fill="hold" grpId="0" nodeType="withEffect">
                                  <p:stCondLst>
                                    <p:cond delay="0"/>
                                  </p:stCondLst>
                                  <p:childTnLst>
                                    <p:set>
                                      <p:cBhvr>
                                        <p:cTn id="56" dur="1" fill="hold">
                                          <p:stCondLst>
                                            <p:cond delay="0"/>
                                          </p:stCondLst>
                                        </p:cTn>
                                        <p:tgtEl>
                                          <p:spTgt spid="86"/>
                                        </p:tgtEl>
                                        <p:attrNameLst>
                                          <p:attrName>style.visibility</p:attrName>
                                        </p:attrNameLst>
                                      </p:cBhvr>
                                      <p:to>
                                        <p:strVal val="visible"/>
                                      </p:to>
                                    </p:set>
                                    <p:animEffect transition="in" filter="plus(out)">
                                      <p:cBhvr>
                                        <p:cTn id="57" dur="500"/>
                                        <p:tgtEl>
                                          <p:spTgt spid="86"/>
                                        </p:tgtEl>
                                      </p:cBhvr>
                                    </p:animEffect>
                                  </p:childTnLst>
                                </p:cTn>
                              </p:par>
                              <p:par>
                                <p:cTn id="58" presetID="1" presetClass="entr" presetSubtype="0" fill="hold" grpId="0" nodeType="withEffect">
                                  <p:stCondLst>
                                    <p:cond delay="0"/>
                                  </p:stCondLst>
                                  <p:childTnLst>
                                    <p:set>
                                      <p:cBhvr>
                                        <p:cTn id="59" dur="1" fill="hold">
                                          <p:stCondLst>
                                            <p:cond delay="0"/>
                                          </p:stCondLst>
                                        </p:cTn>
                                        <p:tgtEl>
                                          <p:spTgt spid="82"/>
                                        </p:tgtEl>
                                        <p:attrNameLst>
                                          <p:attrName>style.visibility</p:attrName>
                                        </p:attrNameLst>
                                      </p:cBhvr>
                                      <p:to>
                                        <p:strVal val="visible"/>
                                      </p:to>
                                    </p:set>
                                  </p:childTnLst>
                                </p:cTn>
                              </p:par>
                              <p:par>
                                <p:cTn id="60" presetID="13" presetClass="entr" presetSubtype="32" fill="hold" grpId="0" nodeType="withEffect">
                                  <p:stCondLst>
                                    <p:cond delay="0"/>
                                  </p:stCondLst>
                                  <p:childTnLst>
                                    <p:set>
                                      <p:cBhvr>
                                        <p:cTn id="61" dur="1" fill="hold">
                                          <p:stCondLst>
                                            <p:cond delay="0"/>
                                          </p:stCondLst>
                                        </p:cTn>
                                        <p:tgtEl>
                                          <p:spTgt spid="87"/>
                                        </p:tgtEl>
                                        <p:attrNameLst>
                                          <p:attrName>style.visibility</p:attrName>
                                        </p:attrNameLst>
                                      </p:cBhvr>
                                      <p:to>
                                        <p:strVal val="visible"/>
                                      </p:to>
                                    </p:set>
                                    <p:animEffect transition="in" filter="plus(out)">
                                      <p:cBhvr>
                                        <p:cTn id="62" dur="500"/>
                                        <p:tgtEl>
                                          <p:spTgt spid="87"/>
                                        </p:tgtEl>
                                      </p:cBhvr>
                                    </p:animEffect>
                                  </p:childTnLst>
                                </p:cTn>
                              </p:par>
                            </p:childTnLst>
                          </p:cTn>
                        </p:par>
                        <p:par>
                          <p:cTn id="63" fill="hold">
                            <p:stCondLst>
                              <p:cond delay="500"/>
                            </p:stCondLst>
                            <p:childTnLst>
                              <p:par>
                                <p:cTn id="64" presetID="1" presetClass="entr" presetSubtype="0" fill="hold" grpId="0" nodeType="afterEffect">
                                  <p:stCondLst>
                                    <p:cond delay="0"/>
                                  </p:stCondLst>
                                  <p:childTnLst>
                                    <p:set>
                                      <p:cBhvr>
                                        <p:cTn id="65" dur="1" fill="hold">
                                          <p:stCondLst>
                                            <p:cond delay="0"/>
                                          </p:stCondLst>
                                        </p:cTn>
                                        <p:tgtEl>
                                          <p:spTgt spid="128"/>
                                        </p:tgtEl>
                                        <p:attrNameLst>
                                          <p:attrName>style.visibility</p:attrName>
                                        </p:attrNameLst>
                                      </p:cBhvr>
                                      <p:to>
                                        <p:strVal val="visible"/>
                                      </p:to>
                                    </p:set>
                                  </p:childTnLst>
                                </p:cTn>
                              </p:par>
                            </p:childTnLst>
                          </p:cTn>
                        </p:par>
                        <p:par>
                          <p:cTn id="66" fill="hold">
                            <p:stCondLst>
                              <p:cond delay="500"/>
                            </p:stCondLst>
                            <p:childTnLst>
                              <p:par>
                                <p:cTn id="67" presetID="1" presetClass="entr" presetSubtype="0" fill="hold" grpId="0" nodeType="afterEffect">
                                  <p:stCondLst>
                                    <p:cond delay="0"/>
                                  </p:stCondLst>
                                  <p:childTnLst>
                                    <p:set>
                                      <p:cBhvr>
                                        <p:cTn id="68" dur="1" fill="hold">
                                          <p:stCondLst>
                                            <p:cond delay="0"/>
                                          </p:stCondLst>
                                        </p:cTn>
                                        <p:tgtEl>
                                          <p:spTgt spid="12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8"/>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90"/>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92"/>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9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94"/>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95"/>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0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3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04"/>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23"/>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22"/>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2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25"/>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21"/>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26"/>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11"/>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1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1" nodeType="clickEffect">
                                  <p:stCondLst>
                                    <p:cond delay="0"/>
                                  </p:stCondLst>
                                  <p:childTnLst>
                                    <p:set>
                                      <p:cBhvr>
                                        <p:cTn id="110" dur="1" fill="hold">
                                          <p:stCondLst>
                                            <p:cond delay="0"/>
                                          </p:stCondLst>
                                        </p:cTn>
                                        <p:tgtEl>
                                          <p:spTgt spid="111"/>
                                        </p:tgtEl>
                                        <p:attrNameLst>
                                          <p:attrName>style.visibility</p:attrName>
                                        </p:attrNameLst>
                                      </p:cBhvr>
                                      <p:to>
                                        <p:strVal val="visible"/>
                                      </p:to>
                                    </p:set>
                                    <p:animEffect transition="in" filter="wipe(left)">
                                      <p:cBhvr>
                                        <p:cTn id="111" dur="500"/>
                                        <p:tgtEl>
                                          <p:spTgt spid="111"/>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4" fill="hold" grpId="0" nodeType="clickEffect">
                                  <p:stCondLst>
                                    <p:cond delay="0"/>
                                  </p:stCondLst>
                                  <p:childTnLst>
                                    <p:set>
                                      <p:cBhvr>
                                        <p:cTn id="115" dur="1" fill="hold">
                                          <p:stCondLst>
                                            <p:cond delay="0"/>
                                          </p:stCondLst>
                                        </p:cTn>
                                        <p:tgtEl>
                                          <p:spTgt spid="114"/>
                                        </p:tgtEl>
                                        <p:attrNameLst>
                                          <p:attrName>style.visibility</p:attrName>
                                        </p:attrNameLst>
                                      </p:cBhvr>
                                      <p:to>
                                        <p:strVal val="visible"/>
                                      </p:to>
                                    </p:set>
                                    <p:animEffect transition="in" filter="wipe(down)">
                                      <p:cBhvr>
                                        <p:cTn id="116" dur="500"/>
                                        <p:tgtEl>
                                          <p:spTgt spid="114"/>
                                        </p:tgtEl>
                                      </p:cBhvr>
                                    </p:animEffect>
                                  </p:childTnLst>
                                </p:cTn>
                              </p:par>
                              <p:par>
                                <p:cTn id="117" presetID="22" presetClass="entr" presetSubtype="4" fill="hold" grpId="0" nodeType="withEffect">
                                  <p:stCondLst>
                                    <p:cond delay="0"/>
                                  </p:stCondLst>
                                  <p:childTnLst>
                                    <p:set>
                                      <p:cBhvr>
                                        <p:cTn id="118" dur="1" fill="hold">
                                          <p:stCondLst>
                                            <p:cond delay="0"/>
                                          </p:stCondLst>
                                        </p:cTn>
                                        <p:tgtEl>
                                          <p:spTgt spid="115"/>
                                        </p:tgtEl>
                                        <p:attrNameLst>
                                          <p:attrName>style.visibility</p:attrName>
                                        </p:attrNameLst>
                                      </p:cBhvr>
                                      <p:to>
                                        <p:strVal val="visible"/>
                                      </p:to>
                                    </p:set>
                                    <p:animEffect transition="in" filter="wipe(down)">
                                      <p:cBhvr>
                                        <p:cTn id="119" dur="500"/>
                                        <p:tgtEl>
                                          <p:spTgt spid="115"/>
                                        </p:tgtEl>
                                      </p:cBhvr>
                                    </p:animEffect>
                                  </p:childTnLst>
                                </p:cTn>
                              </p:par>
                              <p:par>
                                <p:cTn id="120" presetID="22" presetClass="entr" presetSubtype="4" fill="hold" grpId="0" nodeType="withEffect">
                                  <p:stCondLst>
                                    <p:cond delay="0"/>
                                  </p:stCondLst>
                                  <p:childTnLst>
                                    <p:set>
                                      <p:cBhvr>
                                        <p:cTn id="121" dur="1" fill="hold">
                                          <p:stCondLst>
                                            <p:cond delay="0"/>
                                          </p:stCondLst>
                                        </p:cTn>
                                        <p:tgtEl>
                                          <p:spTgt spid="113"/>
                                        </p:tgtEl>
                                        <p:attrNameLst>
                                          <p:attrName>style.visibility</p:attrName>
                                        </p:attrNameLst>
                                      </p:cBhvr>
                                      <p:to>
                                        <p:strVal val="visible"/>
                                      </p:to>
                                    </p:set>
                                    <p:animEffect transition="in" filter="wipe(down)">
                                      <p:cBhvr>
                                        <p:cTn id="122" dur="500"/>
                                        <p:tgtEl>
                                          <p:spTgt spid="113"/>
                                        </p:tgtEl>
                                      </p:cBhvr>
                                    </p:animEffect>
                                  </p:childTnLst>
                                </p:cTn>
                              </p:par>
                              <p:par>
                                <p:cTn id="123" presetID="1" presetClass="entr" presetSubtype="0" fill="hold" grpId="0" nodeType="withEffect">
                                  <p:stCondLst>
                                    <p:cond delay="0"/>
                                  </p:stCondLst>
                                  <p:childTnLst>
                                    <p:set>
                                      <p:cBhvr>
                                        <p:cTn id="124" dur="1" fill="hold">
                                          <p:stCondLst>
                                            <p:cond delay="0"/>
                                          </p:stCondLst>
                                        </p:cTn>
                                        <p:tgtEl>
                                          <p:spTgt spid="69"/>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116"/>
                                        </p:tgtEl>
                                        <p:attrNameLst>
                                          <p:attrName>style.visibility</p:attrName>
                                        </p:attrNameLst>
                                      </p:cBhvr>
                                      <p:to>
                                        <p:strVal val="visible"/>
                                      </p:to>
                                    </p:set>
                                  </p:childTnLst>
                                </p:cTn>
                              </p:par>
                              <p:par>
                                <p:cTn id="127" presetID="1" presetClass="entr" presetSubtype="0" fill="hold" grpId="0" nodeType="withEffect">
                                  <p:stCondLst>
                                    <p:cond delay="0"/>
                                  </p:stCondLst>
                                  <p:childTnLst>
                                    <p:set>
                                      <p:cBhvr>
                                        <p:cTn id="128" dur="1" fill="hold">
                                          <p:stCondLst>
                                            <p:cond delay="0"/>
                                          </p:stCondLst>
                                        </p:cTn>
                                        <p:tgtEl>
                                          <p:spTgt spid="96"/>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98"/>
                                        </p:tgtEl>
                                        <p:attrNameLst>
                                          <p:attrName>style.visibility</p:attrName>
                                        </p:attrNameLst>
                                      </p:cBhvr>
                                      <p:to>
                                        <p:strVal val="visible"/>
                                      </p:to>
                                    </p:set>
                                  </p:childTnLst>
                                </p:cTn>
                              </p:par>
                              <p:par>
                                <p:cTn id="131" presetID="13" presetClass="entr" presetSubtype="32" fill="hold" grpId="0" nodeType="withEffect">
                                  <p:stCondLst>
                                    <p:cond delay="0"/>
                                  </p:stCondLst>
                                  <p:childTnLst>
                                    <p:set>
                                      <p:cBhvr>
                                        <p:cTn id="132" dur="1" fill="hold">
                                          <p:stCondLst>
                                            <p:cond delay="0"/>
                                          </p:stCondLst>
                                        </p:cTn>
                                        <p:tgtEl>
                                          <p:spTgt spid="101"/>
                                        </p:tgtEl>
                                        <p:attrNameLst>
                                          <p:attrName>style.visibility</p:attrName>
                                        </p:attrNameLst>
                                      </p:cBhvr>
                                      <p:to>
                                        <p:strVal val="visible"/>
                                      </p:to>
                                    </p:set>
                                    <p:animEffect transition="in" filter="plus(out)">
                                      <p:cBhvr>
                                        <p:cTn id="133" dur="500"/>
                                        <p:tgtEl>
                                          <p:spTgt spid="101"/>
                                        </p:tgtEl>
                                      </p:cBhvr>
                                    </p:animEffect>
                                  </p:childTnLst>
                                </p:cTn>
                              </p:par>
                              <p:par>
                                <p:cTn id="134" presetID="13" presetClass="entr" presetSubtype="32" fill="hold" grpId="0" nodeType="withEffect">
                                  <p:stCondLst>
                                    <p:cond delay="0"/>
                                  </p:stCondLst>
                                  <p:childTnLst>
                                    <p:set>
                                      <p:cBhvr>
                                        <p:cTn id="135" dur="1" fill="hold">
                                          <p:stCondLst>
                                            <p:cond delay="0"/>
                                          </p:stCondLst>
                                        </p:cTn>
                                        <p:tgtEl>
                                          <p:spTgt spid="102"/>
                                        </p:tgtEl>
                                        <p:attrNameLst>
                                          <p:attrName>style.visibility</p:attrName>
                                        </p:attrNameLst>
                                      </p:cBhvr>
                                      <p:to>
                                        <p:strVal val="visible"/>
                                      </p:to>
                                    </p:set>
                                    <p:animEffect transition="in" filter="plus(out)">
                                      <p:cBhvr>
                                        <p:cTn id="136" dur="500"/>
                                        <p:tgtEl>
                                          <p:spTgt spid="102"/>
                                        </p:tgtEl>
                                      </p:cBhvr>
                                    </p:animEffect>
                                  </p:childTnLst>
                                </p:cTn>
                              </p:par>
                              <p:par>
                                <p:cTn id="137" presetID="13" presetClass="entr" presetSubtype="32" fill="hold" grpId="0" nodeType="withEffect">
                                  <p:stCondLst>
                                    <p:cond delay="0"/>
                                  </p:stCondLst>
                                  <p:childTnLst>
                                    <p:set>
                                      <p:cBhvr>
                                        <p:cTn id="138" dur="1" fill="hold">
                                          <p:stCondLst>
                                            <p:cond delay="0"/>
                                          </p:stCondLst>
                                        </p:cTn>
                                        <p:tgtEl>
                                          <p:spTgt spid="100"/>
                                        </p:tgtEl>
                                        <p:attrNameLst>
                                          <p:attrName>style.visibility</p:attrName>
                                        </p:attrNameLst>
                                      </p:cBhvr>
                                      <p:to>
                                        <p:strVal val="visible"/>
                                      </p:to>
                                    </p:set>
                                    <p:animEffect transition="in" filter="plus(out)">
                                      <p:cBhvr>
                                        <p:cTn id="139" dur="500"/>
                                        <p:tgtEl>
                                          <p:spTgt spid="100"/>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97"/>
                                        </p:tgtEl>
                                        <p:attrNameLst>
                                          <p:attrName>style.visibility</p:attrName>
                                        </p:attrNameLst>
                                      </p:cBhvr>
                                      <p:to>
                                        <p:strVal val="visible"/>
                                      </p:to>
                                    </p:set>
                                  </p:childTnLst>
                                </p:cTn>
                              </p:par>
                              <p:par>
                                <p:cTn id="142" presetID="1" presetClass="entr" presetSubtype="0" fill="hold" grpId="0" nodeType="withEffect">
                                  <p:stCondLst>
                                    <p:cond delay="0"/>
                                  </p:stCondLst>
                                  <p:childTnLst>
                                    <p:set>
                                      <p:cBhvr>
                                        <p:cTn id="143" dur="1" fill="hold">
                                          <p:stCondLst>
                                            <p:cond delay="0"/>
                                          </p:stCondLst>
                                        </p:cTn>
                                        <p:tgtEl>
                                          <p:spTgt spid="99"/>
                                        </p:tgtEl>
                                        <p:attrNameLst>
                                          <p:attrName>style.visibility</p:attrName>
                                        </p:attrNameLst>
                                      </p:cBhvr>
                                      <p:to>
                                        <p:strVal val="visible"/>
                                      </p:to>
                                    </p:set>
                                  </p:childTnLst>
                                </p:cTn>
                              </p:par>
                              <p:par>
                                <p:cTn id="144" presetID="22" presetClass="entr" presetSubtype="4" fill="hold" grpId="0" nodeType="withEffect">
                                  <p:stCondLst>
                                    <p:cond delay="0"/>
                                  </p:stCondLst>
                                  <p:childTnLst>
                                    <p:set>
                                      <p:cBhvr>
                                        <p:cTn id="145" dur="1" fill="hold">
                                          <p:stCondLst>
                                            <p:cond delay="0"/>
                                          </p:stCondLst>
                                        </p:cTn>
                                        <p:tgtEl>
                                          <p:spTgt spid="127"/>
                                        </p:tgtEl>
                                        <p:attrNameLst>
                                          <p:attrName>style.visibility</p:attrName>
                                        </p:attrNameLst>
                                      </p:cBhvr>
                                      <p:to>
                                        <p:strVal val="visible"/>
                                      </p:to>
                                    </p:set>
                                    <p:animEffect transition="in" filter="wipe(down)">
                                      <p:cBhvr>
                                        <p:cTn id="146" dur="500"/>
                                        <p:tgtEl>
                                          <p:spTgt spid="127"/>
                                        </p:tgtEl>
                                      </p:cBhvr>
                                    </p:animEffect>
                                  </p:childTnLst>
                                </p:cTn>
                              </p:par>
                              <p:par>
                                <p:cTn id="147" presetID="1" presetClass="entr" presetSubtype="0" fill="hold" grpId="0" nodeType="withEffect">
                                  <p:stCondLst>
                                    <p:cond delay="0"/>
                                  </p:stCondLst>
                                  <p:childTnLst>
                                    <p:set>
                                      <p:cBhvr>
                                        <p:cTn id="148" dur="1" fill="hold">
                                          <p:stCondLst>
                                            <p:cond delay="0"/>
                                          </p:stCondLst>
                                        </p:cTn>
                                        <p:tgtEl>
                                          <p:spTgt spid="84"/>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P spid="70" grpId="0" animBg="1"/>
      <p:bldP spid="71" grpId="0"/>
      <p:bldP spid="72" grpId="0"/>
      <p:bldP spid="73" grpId="0"/>
      <p:bldP spid="75" grpId="0"/>
      <p:bldP spid="76" grpId="0"/>
      <p:bldP spid="77" grpId="0" animBg="1"/>
      <p:bldP spid="78" grpId="0"/>
      <p:bldP spid="79" grpId="0"/>
      <p:bldP spid="80" grpId="0"/>
      <p:bldP spid="81" grpId="0"/>
      <p:bldP spid="82" grpId="0" animBg="1"/>
      <p:bldP spid="83" grpId="0" animBg="1"/>
      <p:bldP spid="84" grpId="0"/>
      <p:bldP spid="85" grpId="0" animBg="1"/>
      <p:bldP spid="86" grpId="0" animBg="1"/>
      <p:bldP spid="87" grpId="0" animBg="1"/>
      <p:bldP spid="88" grpId="0"/>
      <p:bldP spid="89" grpId="0"/>
      <p:bldP spid="90" grpId="0"/>
      <p:bldP spid="91" grpId="0" animBg="1"/>
      <p:bldP spid="92" grpId="0"/>
      <p:bldP spid="93" grpId="0"/>
      <p:bldP spid="94" grpId="0"/>
      <p:bldP spid="95" grpId="0"/>
      <p:bldP spid="96" grpId="0" animBg="1"/>
      <p:bldP spid="97" grpId="0"/>
      <p:bldP spid="98" grpId="0" animBg="1"/>
      <p:bldP spid="99" grpId="0"/>
      <p:bldP spid="100" grpId="0" animBg="1"/>
      <p:bldP spid="101" grpId="0" animBg="1"/>
      <p:bldP spid="102" grpId="0" animBg="1"/>
      <p:bldP spid="103" grpId="0"/>
      <p:bldP spid="104" grpId="0"/>
      <p:bldP spid="105" grpId="0" animBg="1"/>
      <p:bldP spid="106" grpId="0" animBg="1"/>
      <p:bldP spid="107" grpId="0" animBg="1"/>
      <p:bldP spid="108" grpId="0" animBg="1"/>
      <p:bldP spid="109" grpId="0" animBg="1"/>
      <p:bldP spid="110" grpId="0"/>
      <p:bldP spid="111" grpId="0" animBg="1"/>
      <p:bldP spid="111" grpId="1" animBg="1"/>
      <p:bldP spid="112" grpId="0" animBg="1"/>
      <p:bldP spid="113" grpId="0" animBg="1"/>
      <p:bldP spid="114" grpId="0" animBg="1"/>
      <p:bldP spid="115" grpId="0" animBg="1"/>
      <p:bldP spid="116" grpId="0" animBg="1"/>
      <p:bldP spid="127" grpId="0"/>
      <p:bldP spid="128" grpId="0"/>
      <p:bldP spid="129" grpId="0"/>
      <p:bldP spid="13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Rectangle 2"/>
          <p:cNvSpPr>
            <a:spLocks noGrp="1" noRot="1" noChangeArrowheads="1"/>
          </p:cNvSpPr>
          <p:nvPr>
            <p:ph type="title" idx="4294967295"/>
          </p:nvPr>
        </p:nvSpPr>
        <p:spPr>
          <a:xfrm>
            <a:off x="971550" y="60325"/>
            <a:ext cx="7921625" cy="555625"/>
          </a:xfrm>
        </p:spPr>
        <p:txBody>
          <a:bodyPr/>
          <a:lstStyle/>
          <a:p>
            <a:pPr>
              <a:defRPr/>
            </a:pPr>
            <a:r>
              <a:rPr lang="en-US" dirty="0" smtClean="0"/>
              <a:t>Perfect Price Discrimination</a:t>
            </a:r>
          </a:p>
        </p:txBody>
      </p:sp>
      <p:sp>
        <p:nvSpPr>
          <p:cNvPr id="95234" name="Rectangle 3"/>
          <p:cNvSpPr>
            <a:spLocks noGrp="1" noChangeArrowheads="1"/>
          </p:cNvSpPr>
          <p:nvPr>
            <p:ph type="body" idx="4294967295"/>
          </p:nvPr>
        </p:nvSpPr>
        <p:spPr>
          <a:xfrm>
            <a:off x="647700" y="800100"/>
            <a:ext cx="8066088" cy="2171700"/>
          </a:xfrm>
        </p:spPr>
        <p:txBody>
          <a:bodyPr/>
          <a:lstStyle/>
          <a:p>
            <a:pPr marL="0" indent="0">
              <a:lnSpc>
                <a:spcPct val="90000"/>
              </a:lnSpc>
              <a:spcBef>
                <a:spcPct val="50000"/>
              </a:spcBef>
              <a:buClr>
                <a:schemeClr val="tx1"/>
              </a:buClr>
              <a:buFont typeface="Arial" charset="0"/>
              <a:buNone/>
            </a:pPr>
            <a:r>
              <a:rPr lang="en-US" sz="2400" b="1" smtClean="0"/>
              <a:t>Perfect price discrimination </a:t>
            </a:r>
            <a:r>
              <a:rPr lang="en-US" sz="2400" smtClean="0"/>
              <a:t>takes place when a monopolist charges each consumer according to his or her willingness to pay—the maximum that the consumer is willing to pay.</a:t>
            </a:r>
          </a:p>
        </p:txBody>
      </p:sp>
      <p:sp>
        <p:nvSpPr>
          <p:cNvPr id="244805" name="Freeform 69"/>
          <p:cNvSpPr>
            <a:spLocks/>
          </p:cNvSpPr>
          <p:nvPr/>
        </p:nvSpPr>
        <p:spPr bwMode="auto">
          <a:xfrm>
            <a:off x="1331913" y="3184525"/>
            <a:ext cx="4460875" cy="2311400"/>
          </a:xfrm>
          <a:custGeom>
            <a:avLst/>
            <a:gdLst>
              <a:gd name="T0" fmla="*/ 0 w 1406"/>
              <a:gd name="T1" fmla="*/ 0 h 771"/>
              <a:gd name="T2" fmla="*/ 0 w 1406"/>
              <a:gd name="T3" fmla="*/ 2147483647 h 771"/>
              <a:gd name="T4" fmla="*/ 2147483647 w 1406"/>
              <a:gd name="T5" fmla="*/ 2147483647 h 771"/>
              <a:gd name="T6" fmla="*/ 0 w 1406"/>
              <a:gd name="T7" fmla="*/ 0 h 771"/>
              <a:gd name="T8" fmla="*/ 0 60000 65536"/>
              <a:gd name="T9" fmla="*/ 0 60000 65536"/>
              <a:gd name="T10" fmla="*/ 0 60000 65536"/>
              <a:gd name="T11" fmla="*/ 0 60000 65536"/>
              <a:gd name="T12" fmla="*/ 0 w 1406"/>
              <a:gd name="T13" fmla="*/ 0 h 771"/>
              <a:gd name="T14" fmla="*/ 1406 w 1406"/>
              <a:gd name="T15" fmla="*/ 771 h 771"/>
            </a:gdLst>
            <a:ahLst/>
            <a:cxnLst>
              <a:cxn ang="T8">
                <a:pos x="T0" y="T1"/>
              </a:cxn>
              <a:cxn ang="T9">
                <a:pos x="T2" y="T3"/>
              </a:cxn>
              <a:cxn ang="T10">
                <a:pos x="T4" y="T5"/>
              </a:cxn>
              <a:cxn ang="T11">
                <a:pos x="T6" y="T7"/>
              </a:cxn>
            </a:cxnLst>
            <a:rect l="T12" t="T13" r="T14" b="T15"/>
            <a:pathLst>
              <a:path w="1406" h="771">
                <a:moveTo>
                  <a:pt x="0" y="0"/>
                </a:moveTo>
                <a:lnTo>
                  <a:pt x="0" y="771"/>
                </a:lnTo>
                <a:lnTo>
                  <a:pt x="1406" y="771"/>
                </a:lnTo>
                <a:lnTo>
                  <a:pt x="0" y="0"/>
                </a:lnTo>
                <a:close/>
              </a:path>
            </a:pathLst>
          </a:custGeom>
          <a:solidFill>
            <a:srgbClr val="D7EDE7"/>
          </a:solidFill>
          <a:ln w="9525">
            <a:noFill/>
            <a:round/>
            <a:headEnd/>
            <a:tailEnd/>
          </a:ln>
        </p:spPr>
        <p:txBody>
          <a:bodyPr/>
          <a:lstStyle/>
          <a:p>
            <a:endParaRPr lang="en-US"/>
          </a:p>
        </p:txBody>
      </p:sp>
      <p:sp>
        <p:nvSpPr>
          <p:cNvPr id="95236" name="Line 70"/>
          <p:cNvSpPr>
            <a:spLocks noChangeShapeType="1"/>
          </p:cNvSpPr>
          <p:nvPr/>
        </p:nvSpPr>
        <p:spPr bwMode="auto">
          <a:xfrm>
            <a:off x="1331913" y="5514975"/>
            <a:ext cx="5561012" cy="1588"/>
          </a:xfrm>
          <a:prstGeom prst="line">
            <a:avLst/>
          </a:prstGeom>
          <a:noFill/>
          <a:ln w="30163">
            <a:solidFill>
              <a:srgbClr val="F3716D"/>
            </a:solidFill>
            <a:miter lim="800000"/>
            <a:headEnd/>
            <a:tailEnd/>
          </a:ln>
        </p:spPr>
        <p:txBody>
          <a:bodyPr/>
          <a:lstStyle/>
          <a:p>
            <a:endParaRPr lang="en-US"/>
          </a:p>
        </p:txBody>
      </p:sp>
      <p:sp>
        <p:nvSpPr>
          <p:cNvPr id="95237" name="Line 71"/>
          <p:cNvSpPr>
            <a:spLocks noChangeShapeType="1"/>
          </p:cNvSpPr>
          <p:nvPr/>
        </p:nvSpPr>
        <p:spPr bwMode="auto">
          <a:xfrm>
            <a:off x="1331913" y="3184525"/>
            <a:ext cx="5364162" cy="2778125"/>
          </a:xfrm>
          <a:prstGeom prst="line">
            <a:avLst/>
          </a:prstGeom>
          <a:noFill/>
          <a:ln w="30163">
            <a:solidFill>
              <a:srgbClr val="3C5DAA"/>
            </a:solidFill>
            <a:miter lim="800000"/>
            <a:headEnd/>
            <a:tailEnd/>
          </a:ln>
        </p:spPr>
        <p:txBody>
          <a:bodyPr/>
          <a:lstStyle/>
          <a:p>
            <a:endParaRPr lang="en-US"/>
          </a:p>
        </p:txBody>
      </p:sp>
      <p:sp>
        <p:nvSpPr>
          <p:cNvPr id="95238" name="Rectangle 72"/>
          <p:cNvSpPr>
            <a:spLocks noChangeArrowheads="1"/>
          </p:cNvSpPr>
          <p:nvPr/>
        </p:nvSpPr>
        <p:spPr bwMode="auto">
          <a:xfrm>
            <a:off x="7466013" y="6418263"/>
            <a:ext cx="850900" cy="274637"/>
          </a:xfrm>
          <a:prstGeom prst="rect">
            <a:avLst/>
          </a:prstGeom>
          <a:noFill/>
          <a:ln w="9525">
            <a:noFill/>
            <a:miter lim="800000"/>
            <a:headEnd/>
            <a:tailEnd/>
          </a:ln>
        </p:spPr>
        <p:txBody>
          <a:bodyPr wrap="none" lIns="0" tIns="0" rIns="0" bIns="0">
            <a:spAutoFit/>
          </a:bodyPr>
          <a:lstStyle/>
          <a:p>
            <a:pPr marL="1588" indent="-1588" algn="ctr"/>
            <a:r>
              <a:rPr lang="en-US">
                <a:solidFill>
                  <a:srgbClr val="000000"/>
                </a:solidFill>
                <a:latin typeface="Myriad Pro"/>
              </a:rPr>
              <a:t>Quantity</a:t>
            </a:r>
            <a:endParaRPr lang="en-US">
              <a:latin typeface="Tahoma" pitchFamily="34" charset="0"/>
            </a:endParaRPr>
          </a:p>
        </p:txBody>
      </p:sp>
      <p:sp>
        <p:nvSpPr>
          <p:cNvPr id="95239" name="Rectangle 73"/>
          <p:cNvSpPr>
            <a:spLocks noChangeArrowheads="1"/>
          </p:cNvSpPr>
          <p:nvPr/>
        </p:nvSpPr>
        <p:spPr bwMode="auto">
          <a:xfrm>
            <a:off x="6935788" y="5419725"/>
            <a:ext cx="355600" cy="274638"/>
          </a:xfrm>
          <a:prstGeom prst="rect">
            <a:avLst/>
          </a:prstGeom>
          <a:noFill/>
          <a:ln w="9525">
            <a:noFill/>
            <a:miter lim="800000"/>
            <a:headEnd/>
            <a:tailEnd/>
          </a:ln>
        </p:spPr>
        <p:txBody>
          <a:bodyPr wrap="none" lIns="0" tIns="0" rIns="0" bIns="0">
            <a:spAutoFit/>
          </a:bodyPr>
          <a:lstStyle/>
          <a:p>
            <a:pPr marL="1588" indent="-1588"/>
            <a:r>
              <a:rPr lang="en-US" i="1">
                <a:solidFill>
                  <a:srgbClr val="000000"/>
                </a:solidFill>
                <a:latin typeface="Myriad Pro"/>
              </a:rPr>
              <a:t>MC</a:t>
            </a:r>
            <a:endParaRPr lang="en-US" i="1">
              <a:latin typeface="Tahoma" pitchFamily="34" charset="0"/>
            </a:endParaRPr>
          </a:p>
        </p:txBody>
      </p:sp>
      <p:sp>
        <p:nvSpPr>
          <p:cNvPr id="95240" name="Rectangle 74"/>
          <p:cNvSpPr>
            <a:spLocks noChangeArrowheads="1"/>
          </p:cNvSpPr>
          <p:nvPr/>
        </p:nvSpPr>
        <p:spPr bwMode="auto">
          <a:xfrm>
            <a:off x="6675438" y="5892800"/>
            <a:ext cx="260350" cy="274638"/>
          </a:xfrm>
          <a:prstGeom prst="rect">
            <a:avLst/>
          </a:prstGeom>
          <a:noFill/>
          <a:ln w="9525">
            <a:noFill/>
            <a:miter lim="800000"/>
            <a:headEnd/>
            <a:tailEnd/>
          </a:ln>
        </p:spPr>
        <p:txBody>
          <a:bodyPr lIns="0" tIns="0" rIns="0" bIns="0">
            <a:spAutoFit/>
          </a:bodyPr>
          <a:lstStyle/>
          <a:p>
            <a:pPr marL="1588" indent="-1588"/>
            <a:r>
              <a:rPr lang="en-US" sz="1400" i="1">
                <a:solidFill>
                  <a:srgbClr val="000000"/>
                </a:solidFill>
                <a:latin typeface="Myriad Pro"/>
              </a:rPr>
              <a:t> </a:t>
            </a:r>
            <a:r>
              <a:rPr lang="en-US" i="1">
                <a:solidFill>
                  <a:srgbClr val="000000"/>
                </a:solidFill>
                <a:latin typeface="Myriad Pro"/>
              </a:rPr>
              <a:t>D</a:t>
            </a:r>
            <a:endParaRPr lang="en-US" i="1">
              <a:latin typeface="Tahoma" pitchFamily="34" charset="0"/>
            </a:endParaRPr>
          </a:p>
        </p:txBody>
      </p:sp>
      <p:sp>
        <p:nvSpPr>
          <p:cNvPr id="244811" name="Line 75"/>
          <p:cNvSpPr>
            <a:spLocks noChangeShapeType="1"/>
          </p:cNvSpPr>
          <p:nvPr/>
        </p:nvSpPr>
        <p:spPr bwMode="auto">
          <a:xfrm flipV="1">
            <a:off x="2663825" y="3754438"/>
            <a:ext cx="1528763" cy="914400"/>
          </a:xfrm>
          <a:prstGeom prst="line">
            <a:avLst/>
          </a:prstGeom>
          <a:noFill/>
          <a:ln w="7938">
            <a:solidFill>
              <a:srgbClr val="000000"/>
            </a:solidFill>
            <a:miter lim="800000"/>
            <a:headEnd/>
            <a:tailEnd/>
          </a:ln>
        </p:spPr>
        <p:txBody>
          <a:bodyPr/>
          <a:lstStyle/>
          <a:p>
            <a:endParaRPr lang="en-US"/>
          </a:p>
        </p:txBody>
      </p:sp>
      <p:sp>
        <p:nvSpPr>
          <p:cNvPr id="244812" name="Freeform 76"/>
          <p:cNvSpPr>
            <a:spLocks/>
          </p:cNvSpPr>
          <p:nvPr/>
        </p:nvSpPr>
        <p:spPr bwMode="auto">
          <a:xfrm>
            <a:off x="3883025" y="3502025"/>
            <a:ext cx="3713163" cy="760413"/>
          </a:xfrm>
          <a:custGeom>
            <a:avLst/>
            <a:gdLst>
              <a:gd name="T0" fmla="*/ 2147483647 w 296"/>
              <a:gd name="T1" fmla="*/ 2147483647 h 95"/>
              <a:gd name="T2" fmla="*/ 2147483647 w 296"/>
              <a:gd name="T3" fmla="*/ 2147483647 h 95"/>
              <a:gd name="T4" fmla="*/ 2147483647 w 296"/>
              <a:gd name="T5" fmla="*/ 2147483647 h 95"/>
              <a:gd name="T6" fmla="*/ 0 w 296"/>
              <a:gd name="T7" fmla="*/ 2147483647 h 95"/>
              <a:gd name="T8" fmla="*/ 0 w 296"/>
              <a:gd name="T9" fmla="*/ 2147483647 h 95"/>
              <a:gd name="T10" fmla="*/ 2147483647 w 296"/>
              <a:gd name="T11" fmla="*/ 0 h 95"/>
              <a:gd name="T12" fmla="*/ 2147483647 w 296"/>
              <a:gd name="T13" fmla="*/ 0 h 95"/>
              <a:gd name="T14" fmla="*/ 2147483647 w 296"/>
              <a:gd name="T15" fmla="*/ 2147483647 h 95"/>
              <a:gd name="T16" fmla="*/ 2147483647 w 296"/>
              <a:gd name="T17" fmla="*/ 2147483647 h 9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96"/>
              <a:gd name="T28" fmla="*/ 0 h 95"/>
              <a:gd name="T29" fmla="*/ 296 w 296"/>
              <a:gd name="T30" fmla="*/ 95 h 9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96" h="95">
                <a:moveTo>
                  <a:pt x="296" y="79"/>
                </a:moveTo>
                <a:cubicBezTo>
                  <a:pt x="296" y="87"/>
                  <a:pt x="289" y="95"/>
                  <a:pt x="280" y="95"/>
                </a:cubicBezTo>
                <a:cubicBezTo>
                  <a:pt x="16" y="95"/>
                  <a:pt x="16" y="95"/>
                  <a:pt x="16" y="95"/>
                </a:cubicBezTo>
                <a:cubicBezTo>
                  <a:pt x="7" y="95"/>
                  <a:pt x="0" y="87"/>
                  <a:pt x="0" y="79"/>
                </a:cubicBezTo>
                <a:cubicBezTo>
                  <a:pt x="0" y="16"/>
                  <a:pt x="0" y="16"/>
                  <a:pt x="0" y="16"/>
                </a:cubicBezTo>
                <a:cubicBezTo>
                  <a:pt x="0" y="7"/>
                  <a:pt x="7" y="0"/>
                  <a:pt x="16" y="0"/>
                </a:cubicBezTo>
                <a:cubicBezTo>
                  <a:pt x="280" y="0"/>
                  <a:pt x="280" y="0"/>
                  <a:pt x="280" y="0"/>
                </a:cubicBezTo>
                <a:cubicBezTo>
                  <a:pt x="289" y="0"/>
                  <a:pt x="296" y="7"/>
                  <a:pt x="296" y="16"/>
                </a:cubicBezTo>
                <a:lnTo>
                  <a:pt x="296" y="79"/>
                </a:lnTo>
                <a:close/>
              </a:path>
            </a:pathLst>
          </a:custGeom>
          <a:solidFill>
            <a:srgbClr val="D7E2E0"/>
          </a:solidFill>
          <a:ln w="9525">
            <a:noFill/>
            <a:round/>
            <a:headEnd/>
            <a:tailEnd/>
          </a:ln>
        </p:spPr>
        <p:txBody>
          <a:bodyPr/>
          <a:lstStyle/>
          <a:p>
            <a:endParaRPr lang="en-US"/>
          </a:p>
        </p:txBody>
      </p:sp>
      <p:sp>
        <p:nvSpPr>
          <p:cNvPr id="244813" name="Rectangle 77"/>
          <p:cNvSpPr>
            <a:spLocks noChangeArrowheads="1"/>
          </p:cNvSpPr>
          <p:nvPr/>
        </p:nvSpPr>
        <p:spPr bwMode="auto">
          <a:xfrm>
            <a:off x="4037013" y="3605213"/>
            <a:ext cx="3381375" cy="549275"/>
          </a:xfrm>
          <a:prstGeom prst="rect">
            <a:avLst/>
          </a:prstGeom>
          <a:noFill/>
          <a:ln w="9525">
            <a:noFill/>
            <a:miter lim="800000"/>
            <a:headEnd/>
            <a:tailEnd/>
          </a:ln>
        </p:spPr>
        <p:txBody>
          <a:bodyPr lIns="0" tIns="0" rIns="0" bIns="0">
            <a:spAutoFit/>
          </a:bodyPr>
          <a:lstStyle/>
          <a:p>
            <a:pPr marL="1588" indent="-1588" algn="ctr"/>
            <a:r>
              <a:rPr lang="en-US">
                <a:solidFill>
                  <a:srgbClr val="000000"/>
                </a:solidFill>
                <a:latin typeface="Myriad Pro"/>
              </a:rPr>
              <a:t>  Profit with perfect price discrimination</a:t>
            </a:r>
            <a:endParaRPr lang="en-US">
              <a:latin typeface="Tahoma" pitchFamily="34" charset="0"/>
            </a:endParaRPr>
          </a:p>
        </p:txBody>
      </p:sp>
      <p:sp>
        <p:nvSpPr>
          <p:cNvPr id="95244" name="Freeform 94"/>
          <p:cNvSpPr>
            <a:spLocks/>
          </p:cNvSpPr>
          <p:nvPr/>
        </p:nvSpPr>
        <p:spPr bwMode="auto">
          <a:xfrm>
            <a:off x="1331913" y="2565400"/>
            <a:ext cx="6062662" cy="4081463"/>
          </a:xfrm>
          <a:custGeom>
            <a:avLst/>
            <a:gdLst>
              <a:gd name="T0" fmla="*/ 2147483647 w 1911"/>
              <a:gd name="T1" fmla="*/ 2147483647 h 1361"/>
              <a:gd name="T2" fmla="*/ 0 w 1911"/>
              <a:gd name="T3" fmla="*/ 2147483647 h 1361"/>
              <a:gd name="T4" fmla="*/ 0 w 1911"/>
              <a:gd name="T5" fmla="*/ 0 h 1361"/>
              <a:gd name="T6" fmla="*/ 0 60000 65536"/>
              <a:gd name="T7" fmla="*/ 0 60000 65536"/>
              <a:gd name="T8" fmla="*/ 0 60000 65536"/>
              <a:gd name="T9" fmla="*/ 0 w 1911"/>
              <a:gd name="T10" fmla="*/ 0 h 1361"/>
              <a:gd name="T11" fmla="*/ 1911 w 1911"/>
              <a:gd name="T12" fmla="*/ 1361 h 1361"/>
            </a:gdLst>
            <a:ahLst/>
            <a:cxnLst>
              <a:cxn ang="T6">
                <a:pos x="T0" y="T1"/>
              </a:cxn>
              <a:cxn ang="T7">
                <a:pos x="T2" y="T3"/>
              </a:cxn>
              <a:cxn ang="T8">
                <a:pos x="T4" y="T5"/>
              </a:cxn>
            </a:cxnLst>
            <a:rect l="T9" t="T10" r="T11" b="T12"/>
            <a:pathLst>
              <a:path w="1911" h="1361">
                <a:moveTo>
                  <a:pt x="1911" y="1361"/>
                </a:moveTo>
                <a:lnTo>
                  <a:pt x="0" y="1361"/>
                </a:lnTo>
                <a:lnTo>
                  <a:pt x="0" y="0"/>
                </a:lnTo>
              </a:path>
            </a:pathLst>
          </a:custGeom>
          <a:noFill/>
          <a:ln w="7938" cap="flat">
            <a:solidFill>
              <a:srgbClr val="000000"/>
            </a:solidFill>
            <a:prstDash val="solid"/>
            <a:miter lim="800000"/>
            <a:headEnd/>
            <a:tailEnd/>
          </a:ln>
        </p:spPr>
        <p:txBody>
          <a:bodyPr/>
          <a:lstStyle/>
          <a:p>
            <a:endParaRPr lang="en-US"/>
          </a:p>
        </p:txBody>
      </p:sp>
      <p:sp>
        <p:nvSpPr>
          <p:cNvPr id="95245" name="Rectangle 97"/>
          <p:cNvSpPr>
            <a:spLocks noChangeArrowheads="1"/>
          </p:cNvSpPr>
          <p:nvPr/>
        </p:nvSpPr>
        <p:spPr bwMode="auto">
          <a:xfrm>
            <a:off x="539750" y="2520950"/>
            <a:ext cx="896938" cy="549275"/>
          </a:xfrm>
          <a:prstGeom prst="rect">
            <a:avLst/>
          </a:prstGeom>
          <a:noFill/>
          <a:ln w="9525">
            <a:noFill/>
            <a:miter lim="800000"/>
            <a:headEnd/>
            <a:tailEnd/>
          </a:ln>
        </p:spPr>
        <p:txBody>
          <a:bodyPr lIns="0" tIns="0" rIns="0" bIns="0">
            <a:spAutoFit/>
          </a:bodyPr>
          <a:lstStyle/>
          <a:p>
            <a:pPr marL="1588" indent="-1588" algn="ctr"/>
            <a:r>
              <a:rPr lang="en-US">
                <a:solidFill>
                  <a:srgbClr val="000000"/>
                </a:solidFill>
                <a:latin typeface="Myriad Pro"/>
              </a:rPr>
              <a:t>Price, cost</a:t>
            </a:r>
            <a:endParaRPr lang="en-US">
              <a:latin typeface="Tahoma" pitchFamily="34" charset="0"/>
            </a:endParaRPr>
          </a:p>
        </p:txBody>
      </p:sp>
      <p:sp>
        <p:nvSpPr>
          <p:cNvPr id="2" name="Rectangle 3"/>
          <p:cNvSpPr>
            <a:spLocks noChangeArrowheads="1"/>
          </p:cNvSpPr>
          <p:nvPr/>
        </p:nvSpPr>
        <p:spPr bwMode="auto">
          <a:xfrm>
            <a:off x="1763713" y="1989138"/>
            <a:ext cx="7200900" cy="1260475"/>
          </a:xfrm>
          <a:prstGeom prst="rect">
            <a:avLst/>
          </a:prstGeom>
          <a:noFill/>
          <a:ln w="9525">
            <a:noFill/>
            <a:miter lim="800000"/>
            <a:headEnd/>
            <a:tailEnd/>
          </a:ln>
        </p:spPr>
        <p:txBody>
          <a:bodyPr/>
          <a:lstStyle/>
          <a:p>
            <a:pPr algn="r" eaLnBrk="0" hangingPunct="0">
              <a:lnSpc>
                <a:spcPct val="90000"/>
              </a:lnSpc>
              <a:spcBef>
                <a:spcPct val="50000"/>
              </a:spcBef>
              <a:buClr>
                <a:schemeClr val="tx1"/>
              </a:buClr>
              <a:buFont typeface="Arial" charset="0"/>
              <a:buNone/>
            </a:pPr>
            <a:r>
              <a:rPr lang="en-US" sz="2200"/>
              <a:t>Perfect discrimination is impossible, but monopolists try to move towards it with a variety of pricing strategies.</a:t>
            </a:r>
          </a:p>
          <a:p>
            <a:pPr algn="r" eaLnBrk="0" hangingPunct="0">
              <a:spcBef>
                <a:spcPct val="20000"/>
              </a:spcBef>
              <a:buFont typeface="Arial" charset="0"/>
              <a:buChar char="•"/>
            </a:pPr>
            <a:endParaRPr lang="en-US" sz="22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p:stCondLst>
                                    <p:cond delay="0"/>
                                  </p:stCondLst>
                                  <p:childTnLst>
                                    <p:set>
                                      <p:cBhvr>
                                        <p:cTn id="6" dur="1" fill="hold">
                                          <p:stCondLst>
                                            <p:cond delay="0"/>
                                          </p:stCondLst>
                                        </p:cTn>
                                        <p:tgtEl>
                                          <p:spTgt spid="244805"/>
                                        </p:tgtEl>
                                        <p:attrNameLst>
                                          <p:attrName>style.visibility</p:attrName>
                                        </p:attrNameLst>
                                      </p:cBhvr>
                                      <p:to>
                                        <p:strVal val="visible"/>
                                      </p:to>
                                    </p:set>
                                    <p:animEffect transition="in" filter="plus(in)">
                                      <p:cBhvr>
                                        <p:cTn id="7" dur="500"/>
                                        <p:tgtEl>
                                          <p:spTgt spid="244805"/>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44811"/>
                                        </p:tgtEl>
                                        <p:attrNameLst>
                                          <p:attrName>style.visibility</p:attrName>
                                        </p:attrNameLst>
                                      </p:cBhvr>
                                      <p:to>
                                        <p:strVal val="visible"/>
                                      </p:to>
                                    </p:set>
                                    <p:animEffect transition="in" filter="wipe(down)">
                                      <p:cBhvr>
                                        <p:cTn id="11" dur="500"/>
                                        <p:tgtEl>
                                          <p:spTgt spid="244811"/>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244813"/>
                                        </p:tgtEl>
                                        <p:attrNameLst>
                                          <p:attrName>style.visibility</p:attrName>
                                        </p:attrNameLst>
                                      </p:cBhvr>
                                      <p:to>
                                        <p:strVal val="visible"/>
                                      </p:to>
                                    </p:set>
                                    <p:animEffect transition="in" filter="wipe(down)">
                                      <p:cBhvr>
                                        <p:cTn id="14" dur="500"/>
                                        <p:tgtEl>
                                          <p:spTgt spid="244813"/>
                                        </p:tgtEl>
                                      </p:cBhvr>
                                    </p:animEffect>
                                  </p:childTnLst>
                                </p:cTn>
                              </p:par>
                              <p:par>
                                <p:cTn id="15" presetID="1" presetClass="entr" presetSubtype="0" fill="hold" grpId="0" nodeType="withEffect">
                                  <p:stCondLst>
                                    <p:cond delay="0"/>
                                  </p:stCondLst>
                                  <p:childTnLst>
                                    <p:set>
                                      <p:cBhvr>
                                        <p:cTn id="16" dur="1" fill="hold">
                                          <p:stCondLst>
                                            <p:cond delay="0"/>
                                          </p:stCondLst>
                                        </p:cTn>
                                        <p:tgtEl>
                                          <p:spTgt spid="2448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
                                            <p:txEl>
                                              <p:pRg st="0" end="0"/>
                                            </p:txEl>
                                          </p:spTgt>
                                        </p:tgtEl>
                                        <p:attrNameLst>
                                          <p:attrName>style.visibility</p:attrName>
                                        </p:attrNameLst>
                                      </p:cBhvr>
                                      <p:to>
                                        <p:strVal val="visible"/>
                                      </p:to>
                                    </p:set>
                                    <p:animEffect transition="in" filter="fade">
                                      <p:cBhvr>
                                        <p:cTn id="21"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805" grpId="0" animBg="1"/>
      <p:bldP spid="244811" grpId="0" animBg="1"/>
      <p:bldP spid="244812" grpId="0" animBg="1"/>
      <p:bldP spid="244813" grpId="0"/>
      <p:bldP spid="2"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971550" y="39688"/>
            <a:ext cx="7921625" cy="579437"/>
          </a:xfrm>
        </p:spPr>
        <p:txBody>
          <a:bodyPr/>
          <a:lstStyle/>
          <a:p>
            <a:pPr>
              <a:defRPr/>
            </a:pPr>
            <a:r>
              <a:rPr lang="en-US" dirty="0" smtClean="0">
                <a:solidFill>
                  <a:schemeClr val="tx1"/>
                </a:solidFill>
              </a:rPr>
              <a:t>Summary</a:t>
            </a:r>
            <a:endParaRPr lang="en-US" dirty="0">
              <a:solidFill>
                <a:schemeClr val="tx1"/>
              </a:solidFill>
            </a:endParaRPr>
          </a:p>
        </p:txBody>
      </p:sp>
      <p:sp>
        <p:nvSpPr>
          <p:cNvPr id="277506" name="Rectangle 2"/>
          <p:cNvSpPr>
            <a:spLocks noGrp="1" noChangeArrowheads="1"/>
          </p:cNvSpPr>
          <p:nvPr>
            <p:ph idx="4294967295"/>
          </p:nvPr>
        </p:nvSpPr>
        <p:spPr>
          <a:xfrm>
            <a:off x="900113" y="728663"/>
            <a:ext cx="7993062" cy="5868987"/>
          </a:xfrm>
        </p:spPr>
        <p:txBody>
          <a:bodyPr/>
          <a:lstStyle/>
          <a:p>
            <a:pPr marL="476250" indent="-476250">
              <a:buFont typeface="Calibri" pitchFamily="34" charset="0"/>
              <a:buAutoNum type="arabicPeriod"/>
            </a:pPr>
            <a:r>
              <a:rPr lang="tr-TR" smtClean="0"/>
              <a:t>There are four main types of market structure based on</a:t>
            </a:r>
            <a:r>
              <a:rPr lang="en-US" smtClean="0"/>
              <a:t> </a:t>
            </a:r>
            <a:r>
              <a:rPr lang="tr-TR" smtClean="0"/>
              <a:t>the number of firms in the industry and product differentiation:</a:t>
            </a:r>
            <a:r>
              <a:rPr lang="en-US" smtClean="0"/>
              <a:t> </a:t>
            </a:r>
            <a:r>
              <a:rPr lang="tr-TR" smtClean="0"/>
              <a:t>perfect competition, monopoly, oligopoly, and</a:t>
            </a:r>
            <a:r>
              <a:rPr lang="en-US" smtClean="0"/>
              <a:t> </a:t>
            </a:r>
            <a:r>
              <a:rPr lang="tr-TR" smtClean="0"/>
              <a:t>monopolistic competition.</a:t>
            </a:r>
          </a:p>
          <a:p>
            <a:pPr marL="476250" indent="-476250">
              <a:buFont typeface="Calibri" pitchFamily="34" charset="0"/>
              <a:buAutoNum type="arabicPeriod"/>
            </a:pPr>
            <a:r>
              <a:rPr lang="tr-TR" smtClean="0"/>
              <a:t>A </a:t>
            </a:r>
            <a:r>
              <a:rPr lang="tr-TR" b="1" smtClean="0"/>
              <a:t>monopolist </a:t>
            </a:r>
            <a:r>
              <a:rPr lang="tr-TR" smtClean="0"/>
              <a:t>is a producer who is the sole supplier of a</a:t>
            </a:r>
            <a:r>
              <a:rPr lang="en-US" smtClean="0"/>
              <a:t> </a:t>
            </a:r>
            <a:r>
              <a:rPr lang="tr-TR" smtClean="0"/>
              <a:t>good without close substitutes. An industry controlled by</a:t>
            </a:r>
            <a:r>
              <a:rPr lang="en-US" smtClean="0"/>
              <a:t> </a:t>
            </a:r>
            <a:r>
              <a:rPr lang="tr-TR" smtClean="0"/>
              <a:t>a monopolist is a </a:t>
            </a:r>
            <a:r>
              <a:rPr lang="tr-TR" b="1" smtClean="0"/>
              <a:t>monopoly.</a:t>
            </a:r>
            <a:endParaRPr lang="en-US" b="1" smtClean="0"/>
          </a:p>
          <a:p>
            <a:pPr marL="476250" indent="-476250">
              <a:buFont typeface="Calibri" pitchFamily="34" charset="0"/>
              <a:buAutoNum type="arabicPeriod"/>
            </a:pPr>
            <a:r>
              <a:rPr lang="tr-TR" smtClean="0"/>
              <a:t>The key difference between a monopoly and a perfectly</a:t>
            </a:r>
            <a:r>
              <a:rPr lang="en-US" smtClean="0"/>
              <a:t> </a:t>
            </a:r>
            <a:r>
              <a:rPr lang="tr-TR" smtClean="0"/>
              <a:t>competitive industry is that a single perfectly competitive</a:t>
            </a:r>
            <a:r>
              <a:rPr lang="en-US" smtClean="0"/>
              <a:t> </a:t>
            </a:r>
            <a:r>
              <a:rPr lang="tr-TR" smtClean="0"/>
              <a:t>firm faces a horizontal demand curve but a monopolist</a:t>
            </a:r>
            <a:r>
              <a:rPr lang="en-US" smtClean="0"/>
              <a:t> </a:t>
            </a:r>
            <a:r>
              <a:rPr lang="tr-TR" smtClean="0"/>
              <a:t>faces a downward-sloping demand curve.</a:t>
            </a:r>
            <a:endParaRPr lang="en-US" smtClean="0"/>
          </a:p>
          <a:p>
            <a:pPr marL="476250" indent="-476250">
              <a:buFont typeface="Calibri" pitchFamily="34" charset="0"/>
              <a:buNone/>
            </a:pPr>
            <a:r>
              <a:rPr lang="tr-TR" sz="1000" smtClean="0"/>
              <a:t> </a:t>
            </a:r>
            <a:r>
              <a:rPr lang="en-US" sz="1000" smtClean="0"/>
              <a:t/>
            </a:r>
            <a:br>
              <a:rPr lang="en-US" sz="1000" smtClean="0"/>
            </a:br>
            <a:r>
              <a:rPr lang="tr-TR" smtClean="0"/>
              <a:t>This gives the</a:t>
            </a:r>
            <a:r>
              <a:rPr lang="en-US" smtClean="0"/>
              <a:t> </a:t>
            </a:r>
            <a:r>
              <a:rPr lang="tr-TR" smtClean="0"/>
              <a:t>monopolist </a:t>
            </a:r>
            <a:r>
              <a:rPr lang="tr-TR" b="1" smtClean="0"/>
              <a:t>market power, </a:t>
            </a:r>
            <a:r>
              <a:rPr lang="tr-TR" smtClean="0"/>
              <a:t>the ability to raise the</a:t>
            </a:r>
            <a:r>
              <a:rPr lang="en-US" smtClean="0"/>
              <a:t> </a:t>
            </a:r>
            <a:r>
              <a:rPr lang="tr-TR" smtClean="0"/>
              <a:t>market price by reducing output compared </a:t>
            </a:r>
            <a:r>
              <a:rPr lang="en-US" smtClean="0"/>
              <a:t>with</a:t>
            </a:r>
            <a:r>
              <a:rPr lang="tr-TR" smtClean="0"/>
              <a:t> a perfectly</a:t>
            </a:r>
            <a:r>
              <a:rPr lang="en-US" smtClean="0"/>
              <a:t> </a:t>
            </a:r>
            <a:r>
              <a:rPr lang="tr-TR" smtClean="0"/>
              <a:t>competitive firm.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7506">
                                            <p:txEl>
                                              <p:pRg st="0" end="0"/>
                                            </p:txEl>
                                          </p:spTgt>
                                        </p:tgtEl>
                                        <p:attrNameLst>
                                          <p:attrName>style.visibility</p:attrName>
                                        </p:attrNameLst>
                                      </p:cBhvr>
                                      <p:to>
                                        <p:strVal val="visible"/>
                                      </p:to>
                                    </p:set>
                                    <p:animEffect transition="in" filter="fade">
                                      <p:cBhvr>
                                        <p:cTn id="7" dur="500"/>
                                        <p:tgtEl>
                                          <p:spTgt spid="27750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7506">
                                            <p:txEl>
                                              <p:pRg st="1" end="1"/>
                                            </p:txEl>
                                          </p:spTgt>
                                        </p:tgtEl>
                                        <p:attrNameLst>
                                          <p:attrName>style.visibility</p:attrName>
                                        </p:attrNameLst>
                                      </p:cBhvr>
                                      <p:to>
                                        <p:strVal val="visible"/>
                                      </p:to>
                                    </p:set>
                                    <p:animEffect transition="in" filter="fade">
                                      <p:cBhvr>
                                        <p:cTn id="12" dur="500"/>
                                        <p:tgtEl>
                                          <p:spTgt spid="27750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77506">
                                            <p:txEl>
                                              <p:pRg st="2" end="2"/>
                                            </p:txEl>
                                          </p:spTgt>
                                        </p:tgtEl>
                                        <p:attrNameLst>
                                          <p:attrName>style.visibility</p:attrName>
                                        </p:attrNameLst>
                                      </p:cBhvr>
                                      <p:to>
                                        <p:strVal val="visible"/>
                                      </p:to>
                                    </p:set>
                                    <p:animEffect transition="in" filter="fade">
                                      <p:cBhvr>
                                        <p:cTn id="17" dur="500"/>
                                        <p:tgtEl>
                                          <p:spTgt spid="27750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77506">
                                            <p:txEl>
                                              <p:pRg st="3" end="3"/>
                                            </p:txEl>
                                          </p:spTgt>
                                        </p:tgtEl>
                                        <p:attrNameLst>
                                          <p:attrName>style.visibility</p:attrName>
                                        </p:attrNameLst>
                                      </p:cBhvr>
                                      <p:to>
                                        <p:strVal val="visible"/>
                                      </p:to>
                                    </p:set>
                                    <p:animEffect transition="in" filter="fade">
                                      <p:cBhvr>
                                        <p:cTn id="22" dur="500"/>
                                        <p:tgtEl>
                                          <p:spTgt spid="27750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6"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076325" y="39688"/>
            <a:ext cx="8074025" cy="579437"/>
          </a:xfrm>
        </p:spPr>
        <p:txBody>
          <a:bodyPr/>
          <a:lstStyle/>
          <a:p>
            <a:pPr>
              <a:defRPr/>
            </a:pPr>
            <a:r>
              <a:rPr lang="en-US" dirty="0" smtClean="0">
                <a:solidFill>
                  <a:schemeClr val="tx1"/>
                </a:solidFill>
              </a:rPr>
              <a:t>Monopoly</a:t>
            </a:r>
            <a:endParaRPr lang="en-US" dirty="0">
              <a:solidFill>
                <a:schemeClr val="tx1"/>
              </a:solidFill>
            </a:endParaRPr>
          </a:p>
        </p:txBody>
      </p:sp>
      <p:sp>
        <p:nvSpPr>
          <p:cNvPr id="278530" name="Rectangle 2"/>
          <p:cNvSpPr>
            <a:spLocks noGrp="1" noChangeArrowheads="1"/>
          </p:cNvSpPr>
          <p:nvPr>
            <p:ph idx="4294967295"/>
          </p:nvPr>
        </p:nvSpPr>
        <p:spPr>
          <a:xfrm>
            <a:off x="887413" y="908050"/>
            <a:ext cx="8077200" cy="5073650"/>
          </a:xfrm>
        </p:spPr>
        <p:txBody>
          <a:bodyPr/>
          <a:lstStyle/>
          <a:p>
            <a:pPr marL="461963" indent="-461963">
              <a:buFont typeface="Calibri" pitchFamily="34" charset="0"/>
              <a:buAutoNum type="arabicPeriod" startAt="4"/>
            </a:pPr>
            <a:r>
              <a:rPr lang="tr-TR" smtClean="0"/>
              <a:t>To persist, a monopoly must be protected by a </a:t>
            </a:r>
            <a:r>
              <a:rPr lang="tr-TR" b="1" smtClean="0"/>
              <a:t>barrier to</a:t>
            </a:r>
            <a:r>
              <a:rPr lang="en-US" b="1" smtClean="0"/>
              <a:t> </a:t>
            </a:r>
            <a:r>
              <a:rPr lang="tr-TR" b="1" smtClean="0"/>
              <a:t>entry. </a:t>
            </a:r>
            <a:r>
              <a:rPr lang="tr-TR" smtClean="0"/>
              <a:t>This can take the form of control of a natural</a:t>
            </a:r>
            <a:r>
              <a:rPr lang="en-US" smtClean="0"/>
              <a:t> </a:t>
            </a:r>
            <a:r>
              <a:rPr lang="tr-TR" smtClean="0"/>
              <a:t>resource or input, increasing returns to scale that give</a:t>
            </a:r>
            <a:r>
              <a:rPr lang="en-US" smtClean="0"/>
              <a:t> </a:t>
            </a:r>
            <a:r>
              <a:rPr lang="tr-TR" smtClean="0"/>
              <a:t>rise to </a:t>
            </a:r>
            <a:r>
              <a:rPr lang="tr-TR" b="1" smtClean="0"/>
              <a:t>natural monopoly, </a:t>
            </a:r>
            <a:r>
              <a:rPr lang="tr-TR" smtClean="0"/>
              <a:t>technological superiority, or</a:t>
            </a:r>
            <a:r>
              <a:rPr lang="en-US" smtClean="0"/>
              <a:t> </a:t>
            </a:r>
            <a:r>
              <a:rPr lang="tr-TR" smtClean="0"/>
              <a:t>government rules that prevent entry by other firms, such</a:t>
            </a:r>
            <a:r>
              <a:rPr lang="en-US" smtClean="0"/>
              <a:t> </a:t>
            </a:r>
            <a:r>
              <a:rPr lang="tr-TR" smtClean="0"/>
              <a:t>as </a:t>
            </a:r>
            <a:r>
              <a:rPr lang="tr-TR" b="1" smtClean="0"/>
              <a:t>patents </a:t>
            </a:r>
            <a:r>
              <a:rPr lang="tr-TR" smtClean="0"/>
              <a:t>or </a:t>
            </a:r>
            <a:r>
              <a:rPr lang="tr-TR" b="1" smtClean="0"/>
              <a:t>copyrights.</a:t>
            </a:r>
            <a:r>
              <a:rPr lang="en-US" b="1" smtClean="0"/>
              <a:t/>
            </a:r>
            <a:br>
              <a:rPr lang="en-US" b="1" smtClean="0"/>
            </a:br>
            <a:endParaRPr lang="tr-TR" b="1" smtClean="0"/>
          </a:p>
          <a:p>
            <a:pPr marL="461963" indent="-461963">
              <a:buFont typeface="Calibri" pitchFamily="34" charset="0"/>
              <a:buAutoNum type="arabicPeriod" startAt="4"/>
            </a:pPr>
            <a:r>
              <a:rPr lang="tr-TR" smtClean="0"/>
              <a:t>The marginal revenue of a monopolist is composed of a</a:t>
            </a:r>
            <a:r>
              <a:rPr lang="en-US" smtClean="0"/>
              <a:t> </a:t>
            </a:r>
            <a:r>
              <a:rPr lang="tr-TR" smtClean="0"/>
              <a:t>quantity effect (the price received from the additional</a:t>
            </a:r>
            <a:r>
              <a:rPr lang="en-US" smtClean="0"/>
              <a:t> </a:t>
            </a:r>
            <a:r>
              <a:rPr lang="tr-TR" smtClean="0"/>
              <a:t>unit) and a price effect (the reduction in the price at</a:t>
            </a:r>
            <a:r>
              <a:rPr lang="en-US" smtClean="0"/>
              <a:t> </a:t>
            </a:r>
            <a:r>
              <a:rPr lang="tr-TR" smtClean="0"/>
              <a:t>which all units are sold). Because of the price effect, a</a:t>
            </a:r>
            <a:r>
              <a:rPr lang="en-US" smtClean="0"/>
              <a:t> </a:t>
            </a:r>
            <a:r>
              <a:rPr lang="tr-TR" smtClean="0"/>
              <a:t>monopolist’s marginal revenue is always less than the</a:t>
            </a:r>
            <a:r>
              <a:rPr lang="en-US" smtClean="0"/>
              <a:t> </a:t>
            </a:r>
            <a:r>
              <a:rPr lang="tr-TR" smtClean="0"/>
              <a:t>market price, and the marginal revenue curve lies below</a:t>
            </a:r>
            <a:r>
              <a:rPr lang="en-US" smtClean="0"/>
              <a:t> </a:t>
            </a:r>
            <a:r>
              <a:rPr lang="tr-TR" smtClean="0"/>
              <a:t>the demand curve.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8530">
                                            <p:txEl>
                                              <p:pRg st="0" end="0"/>
                                            </p:txEl>
                                          </p:spTgt>
                                        </p:tgtEl>
                                        <p:attrNameLst>
                                          <p:attrName>style.visibility</p:attrName>
                                        </p:attrNameLst>
                                      </p:cBhvr>
                                      <p:to>
                                        <p:strVal val="visible"/>
                                      </p:to>
                                    </p:set>
                                    <p:animEffect transition="in" filter="fade">
                                      <p:cBhvr>
                                        <p:cTn id="7" dur="500"/>
                                        <p:tgtEl>
                                          <p:spTgt spid="2785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8530">
                                            <p:txEl>
                                              <p:pRg st="1" end="1"/>
                                            </p:txEl>
                                          </p:spTgt>
                                        </p:tgtEl>
                                        <p:attrNameLst>
                                          <p:attrName>style.visibility</p:attrName>
                                        </p:attrNameLst>
                                      </p:cBhvr>
                                      <p:to>
                                        <p:strVal val="visible"/>
                                      </p:to>
                                    </p:set>
                                    <p:animEffect transition="in" filter="fade">
                                      <p:cBhvr>
                                        <p:cTn id="12" dur="500"/>
                                        <p:tgtEl>
                                          <p:spTgt spid="2785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0"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076325" y="39688"/>
            <a:ext cx="8074025" cy="579437"/>
          </a:xfrm>
        </p:spPr>
        <p:txBody>
          <a:bodyPr/>
          <a:lstStyle/>
          <a:p>
            <a:pPr>
              <a:defRPr/>
            </a:pPr>
            <a:r>
              <a:rPr lang="en-US" dirty="0" smtClean="0">
                <a:solidFill>
                  <a:schemeClr val="tx1"/>
                </a:solidFill>
              </a:rPr>
              <a:t>Monopoly</a:t>
            </a:r>
            <a:endParaRPr lang="en-US" dirty="0">
              <a:solidFill>
                <a:schemeClr val="tx1"/>
              </a:solidFill>
            </a:endParaRPr>
          </a:p>
        </p:txBody>
      </p:sp>
      <p:sp>
        <p:nvSpPr>
          <p:cNvPr id="279554" name="Rectangle 2"/>
          <p:cNvSpPr>
            <a:spLocks noGrp="1" noChangeArrowheads="1"/>
          </p:cNvSpPr>
          <p:nvPr>
            <p:ph idx="4294967295"/>
          </p:nvPr>
        </p:nvSpPr>
        <p:spPr>
          <a:xfrm>
            <a:off x="971550" y="908050"/>
            <a:ext cx="7921625" cy="5218113"/>
          </a:xfrm>
        </p:spPr>
        <p:txBody>
          <a:bodyPr/>
          <a:lstStyle/>
          <a:p>
            <a:pPr marL="461963" indent="-461963">
              <a:buFont typeface="Calibri" pitchFamily="34" charset="0"/>
              <a:buAutoNum type="arabicPeriod" startAt="6"/>
            </a:pPr>
            <a:r>
              <a:rPr lang="tr-TR" smtClean="0"/>
              <a:t>At the monopolist’s profit-maximizing output level, marginal</a:t>
            </a:r>
            <a:r>
              <a:rPr lang="en-US" smtClean="0"/>
              <a:t> </a:t>
            </a:r>
            <a:r>
              <a:rPr lang="tr-TR" smtClean="0"/>
              <a:t>cost equals marginal revenue, which is less than market price. </a:t>
            </a:r>
            <a:r>
              <a:rPr lang="en-US" smtClean="0"/>
              <a:t> </a:t>
            </a:r>
            <a:r>
              <a:rPr lang="tr-TR" smtClean="0"/>
              <a:t>At the perfectly competitive firm’s profit</a:t>
            </a:r>
            <a:r>
              <a:rPr lang="en-US" smtClean="0"/>
              <a:t>-</a:t>
            </a:r>
            <a:r>
              <a:rPr lang="tr-TR" smtClean="0"/>
              <a:t>maximizing output level, marginal cost equals the market price. So in comparison </a:t>
            </a:r>
            <a:r>
              <a:rPr lang="en-US" smtClean="0"/>
              <a:t>with</a:t>
            </a:r>
            <a:r>
              <a:rPr lang="tr-TR" smtClean="0"/>
              <a:t> perfectly competitive industries, monopolies produce less, charge higher prices, and earn profits in both the short run and the long run.</a:t>
            </a:r>
            <a:r>
              <a:rPr lang="en-US" smtClean="0"/>
              <a:t/>
            </a:r>
            <a:br>
              <a:rPr lang="en-US" smtClean="0"/>
            </a:br>
            <a:endParaRPr lang="en-US" smtClean="0"/>
          </a:p>
          <a:p>
            <a:pPr marL="461963" indent="-461963">
              <a:buFont typeface="Calibri" pitchFamily="34" charset="0"/>
              <a:buAutoNum type="arabicPeriod" startAt="6"/>
            </a:pPr>
            <a:r>
              <a:rPr lang="tr-TR" smtClean="0"/>
              <a:t>A monopoly creates deadweight losses by charging a price</a:t>
            </a:r>
            <a:r>
              <a:rPr lang="en-US" smtClean="0"/>
              <a:t> </a:t>
            </a:r>
            <a:r>
              <a:rPr lang="tr-TR" smtClean="0"/>
              <a:t>above marginal cost: the loss in consumer surplus</a:t>
            </a:r>
            <a:r>
              <a:rPr lang="en-US" smtClean="0"/>
              <a:t> </a:t>
            </a:r>
            <a:r>
              <a:rPr lang="tr-TR" smtClean="0"/>
              <a:t>exceeds the monopolist’s profit. Thus</a:t>
            </a:r>
            <a:r>
              <a:rPr lang="en-US" smtClean="0"/>
              <a:t>,</a:t>
            </a:r>
            <a:r>
              <a:rPr lang="tr-TR" smtClean="0"/>
              <a:t> monopolies are a</a:t>
            </a:r>
            <a:r>
              <a:rPr lang="en-US" smtClean="0"/>
              <a:t> </a:t>
            </a:r>
            <a:r>
              <a:rPr lang="tr-TR" smtClean="0"/>
              <a:t>source of market failure and should be prevented or broken</a:t>
            </a:r>
            <a:r>
              <a:rPr lang="en-US" smtClean="0"/>
              <a:t> </a:t>
            </a:r>
            <a:r>
              <a:rPr lang="tr-TR" smtClean="0"/>
              <a:t>up, except in the case of natural monopolies.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79554">
                                            <p:txEl>
                                              <p:pRg st="0" end="0"/>
                                            </p:txEl>
                                          </p:spTgt>
                                        </p:tgtEl>
                                        <p:attrNameLst>
                                          <p:attrName>style.visibility</p:attrName>
                                        </p:attrNameLst>
                                      </p:cBhvr>
                                      <p:to>
                                        <p:strVal val="visible"/>
                                      </p:to>
                                    </p:set>
                                    <p:animEffect transition="in" filter="fade">
                                      <p:cBhvr>
                                        <p:cTn id="7" dur="500"/>
                                        <p:tgtEl>
                                          <p:spTgt spid="27955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79554">
                                            <p:txEl>
                                              <p:pRg st="1" end="1"/>
                                            </p:txEl>
                                          </p:spTgt>
                                        </p:tgtEl>
                                        <p:attrNameLst>
                                          <p:attrName>style.visibility</p:attrName>
                                        </p:attrNameLst>
                                      </p:cBhvr>
                                      <p:to>
                                        <p:strVal val="visible"/>
                                      </p:to>
                                    </p:set>
                                    <p:animEffect transition="in" filter="fade">
                                      <p:cBhvr>
                                        <p:cTn id="12" dur="500"/>
                                        <p:tgtEl>
                                          <p:spTgt spid="27955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554"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1076325" y="39688"/>
            <a:ext cx="8074025" cy="579437"/>
          </a:xfrm>
        </p:spPr>
        <p:txBody>
          <a:bodyPr/>
          <a:lstStyle/>
          <a:p>
            <a:pPr>
              <a:defRPr/>
            </a:pPr>
            <a:r>
              <a:rPr lang="en-US" dirty="0" smtClean="0">
                <a:solidFill>
                  <a:schemeClr val="tx1"/>
                </a:solidFill>
              </a:rPr>
              <a:t>Monopoly</a:t>
            </a:r>
            <a:endParaRPr lang="en-US" dirty="0">
              <a:solidFill>
                <a:schemeClr val="tx1"/>
              </a:solidFill>
            </a:endParaRPr>
          </a:p>
        </p:txBody>
      </p:sp>
      <p:sp>
        <p:nvSpPr>
          <p:cNvPr id="280578" name="Rectangle 2"/>
          <p:cNvSpPr>
            <a:spLocks noGrp="1" noChangeArrowheads="1"/>
          </p:cNvSpPr>
          <p:nvPr>
            <p:ph idx="4294967295"/>
          </p:nvPr>
        </p:nvSpPr>
        <p:spPr>
          <a:xfrm>
            <a:off x="900113" y="728663"/>
            <a:ext cx="7956550" cy="5940425"/>
          </a:xfrm>
        </p:spPr>
        <p:txBody>
          <a:bodyPr/>
          <a:lstStyle/>
          <a:p>
            <a:pPr marL="533400" indent="-533400">
              <a:buFontTx/>
              <a:buAutoNum type="arabicPeriod" startAt="8"/>
            </a:pPr>
            <a:r>
              <a:rPr lang="tr-TR" smtClean="0"/>
              <a:t>Natural monopolies can still cause deadweight losses. To</a:t>
            </a:r>
            <a:r>
              <a:rPr lang="en-US" smtClean="0"/>
              <a:t> l</a:t>
            </a:r>
            <a:r>
              <a:rPr lang="tr-TR" smtClean="0"/>
              <a:t>imit these losses, governments sometimes impose </a:t>
            </a:r>
            <a:r>
              <a:rPr lang="tr-TR" b="1" smtClean="0"/>
              <a:t>public</a:t>
            </a:r>
            <a:r>
              <a:rPr lang="en-US" b="1" smtClean="0"/>
              <a:t> </a:t>
            </a:r>
            <a:r>
              <a:rPr lang="tr-TR" b="1" smtClean="0"/>
              <a:t>ownership </a:t>
            </a:r>
            <a:r>
              <a:rPr lang="tr-TR" smtClean="0"/>
              <a:t>and at other times impose </a:t>
            </a:r>
            <a:r>
              <a:rPr lang="tr-TR" b="1" smtClean="0"/>
              <a:t>price regulation.</a:t>
            </a:r>
            <a:r>
              <a:rPr lang="en-US" b="1" smtClean="0"/>
              <a:t> </a:t>
            </a:r>
            <a:br>
              <a:rPr lang="en-US" b="1" smtClean="0"/>
            </a:br>
            <a:r>
              <a:rPr lang="tr-TR" smtClean="0"/>
              <a:t>A price ceiling on a monopolist, as opposed to a perfectly</a:t>
            </a:r>
            <a:r>
              <a:rPr lang="en-US" smtClean="0"/>
              <a:t> </a:t>
            </a:r>
            <a:r>
              <a:rPr lang="tr-TR" smtClean="0"/>
              <a:t>competitive industry, need not cause shortages and can</a:t>
            </a:r>
            <a:r>
              <a:rPr lang="en-US" smtClean="0"/>
              <a:t> </a:t>
            </a:r>
            <a:r>
              <a:rPr lang="tr-TR" smtClean="0"/>
              <a:t>increase total surplus.</a:t>
            </a:r>
            <a:endParaRPr lang="en-US" smtClean="0"/>
          </a:p>
          <a:p>
            <a:pPr marL="533400" indent="-533400">
              <a:buFont typeface="Calibri" pitchFamily="34" charset="0"/>
              <a:buAutoNum type="arabicPeriod" startAt="8"/>
            </a:pPr>
            <a:r>
              <a:rPr lang="tr-TR" smtClean="0"/>
              <a:t>Monopolists, as well as oligopolists and monopolistic</a:t>
            </a:r>
            <a:r>
              <a:rPr lang="en-US" smtClean="0"/>
              <a:t> </a:t>
            </a:r>
            <a:r>
              <a:rPr lang="tr-TR" smtClean="0"/>
              <a:t>competitors, </a:t>
            </a:r>
            <a:r>
              <a:rPr lang="en-US" smtClean="0"/>
              <a:t>sometimes </a:t>
            </a:r>
            <a:r>
              <a:rPr lang="tr-TR" smtClean="0"/>
              <a:t>engage in </a:t>
            </a:r>
            <a:r>
              <a:rPr lang="tr-TR" b="1" smtClean="0"/>
              <a:t>price discrimination </a:t>
            </a:r>
            <a:r>
              <a:rPr lang="tr-TR" smtClean="0"/>
              <a:t>to</a:t>
            </a:r>
            <a:r>
              <a:rPr lang="en-US" smtClean="0"/>
              <a:t> </a:t>
            </a:r>
            <a:r>
              <a:rPr lang="tr-TR" smtClean="0"/>
              <a:t>make higher profits. </a:t>
            </a:r>
            <a:r>
              <a:rPr lang="en-US" smtClean="0"/>
              <a:t/>
            </a:r>
            <a:br>
              <a:rPr lang="en-US" smtClean="0"/>
            </a:br>
            <a:r>
              <a:rPr lang="en-US" smtClean="0"/>
              <a:t>Under</a:t>
            </a:r>
            <a:r>
              <a:rPr lang="tr-TR" smtClean="0"/>
              <a:t> </a:t>
            </a:r>
            <a:r>
              <a:rPr lang="tr-TR" b="1" smtClean="0"/>
              <a:t>perfect price discrimination</a:t>
            </a:r>
            <a:r>
              <a:rPr lang="en-US" smtClean="0"/>
              <a:t>, </a:t>
            </a:r>
            <a:r>
              <a:rPr lang="tr-TR" smtClean="0"/>
              <a:t>each consumer </a:t>
            </a:r>
            <a:r>
              <a:rPr lang="en-US" smtClean="0"/>
              <a:t>pays </a:t>
            </a:r>
            <a:r>
              <a:rPr lang="tr-TR" smtClean="0"/>
              <a:t>a price equal to willingness</a:t>
            </a:r>
            <a:r>
              <a:rPr lang="en-US" smtClean="0"/>
              <a:t> </a:t>
            </a:r>
            <a:r>
              <a:rPr lang="tr-TR" smtClean="0"/>
              <a:t>to pay and captures total </a:t>
            </a:r>
            <a:r>
              <a:rPr lang="en-US" smtClean="0"/>
              <a:t>market </a:t>
            </a:r>
            <a:r>
              <a:rPr lang="tr-TR" smtClean="0"/>
              <a:t>surplus.</a:t>
            </a:r>
            <a:r>
              <a:rPr lang="en-US" smtClean="0"/>
              <a:t> P</a:t>
            </a:r>
            <a:r>
              <a:rPr lang="tr-TR" smtClean="0"/>
              <a:t>erfect price discrimination creates no</a:t>
            </a:r>
            <a:r>
              <a:rPr lang="en-US" smtClean="0"/>
              <a:t> </a:t>
            </a:r>
            <a:r>
              <a:rPr lang="tr-TR" smtClean="0"/>
              <a:t>inefficiency, </a:t>
            </a:r>
            <a:r>
              <a:rPr lang="en-US" smtClean="0"/>
              <a:t>but </a:t>
            </a:r>
            <a:r>
              <a:rPr lang="tr-TR" smtClean="0"/>
              <a:t>is practically impossible to implement.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0578">
                                            <p:txEl>
                                              <p:pRg st="0" end="0"/>
                                            </p:txEl>
                                          </p:spTgt>
                                        </p:tgtEl>
                                        <p:attrNameLst>
                                          <p:attrName>style.visibility</p:attrName>
                                        </p:attrNameLst>
                                      </p:cBhvr>
                                      <p:to>
                                        <p:strVal val="visible"/>
                                      </p:to>
                                    </p:set>
                                    <p:animEffect transition="in" filter="fade">
                                      <p:cBhvr>
                                        <p:cTn id="7" dur="500"/>
                                        <p:tgtEl>
                                          <p:spTgt spid="2805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80578">
                                            <p:txEl>
                                              <p:pRg st="1" end="1"/>
                                            </p:txEl>
                                          </p:spTgt>
                                        </p:tgtEl>
                                        <p:attrNameLst>
                                          <p:attrName>style.visibility</p:attrName>
                                        </p:attrNameLst>
                                      </p:cBhvr>
                                      <p:to>
                                        <p:strVal val="visible"/>
                                      </p:to>
                                    </p:set>
                                    <p:animEffect transition="in" filter="fade">
                                      <p:cBhvr>
                                        <p:cTn id="12" dur="500"/>
                                        <p:tgtEl>
                                          <p:spTgt spid="28057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0578"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4"/>
          <p:cNvSpPr>
            <a:spLocks noGrp="1"/>
          </p:cNvSpPr>
          <p:nvPr>
            <p:ph idx="4294967295"/>
          </p:nvPr>
        </p:nvSpPr>
        <p:spPr>
          <a:xfrm>
            <a:off x="971600" y="1052736"/>
            <a:ext cx="7992888" cy="5472608"/>
          </a:xfrm>
        </p:spPr>
        <p:txBody>
          <a:bodyPr numCol="2"/>
          <a:lstStyle/>
          <a:p>
            <a:pPr>
              <a:buFont typeface="Arial" pitchFamily="34" charset="0"/>
              <a:buChar char="•"/>
              <a:defRPr/>
            </a:pPr>
            <a:r>
              <a:rPr lang="en-US" sz="2400" dirty="0" smtClean="0"/>
              <a:t>Monopolist</a:t>
            </a:r>
          </a:p>
          <a:p>
            <a:pPr>
              <a:buFont typeface="Arial" pitchFamily="34" charset="0"/>
              <a:buChar char="•"/>
              <a:defRPr/>
            </a:pPr>
            <a:r>
              <a:rPr lang="en-US" sz="2400" dirty="0" smtClean="0"/>
              <a:t>Monopoly</a:t>
            </a:r>
          </a:p>
          <a:p>
            <a:pPr>
              <a:buFont typeface="Arial" pitchFamily="34" charset="0"/>
              <a:buChar char="•"/>
              <a:defRPr/>
            </a:pPr>
            <a:r>
              <a:rPr lang="en-US" sz="2400" dirty="0" smtClean="0"/>
              <a:t>Market power</a:t>
            </a:r>
          </a:p>
          <a:p>
            <a:pPr>
              <a:buFont typeface="Arial" pitchFamily="34" charset="0"/>
              <a:buChar char="•"/>
              <a:defRPr/>
            </a:pPr>
            <a:r>
              <a:rPr lang="en-US" sz="2400" dirty="0" smtClean="0"/>
              <a:t>Barrier to entry</a:t>
            </a:r>
          </a:p>
          <a:p>
            <a:pPr>
              <a:buFont typeface="Arial" pitchFamily="34" charset="0"/>
              <a:buChar char="•"/>
              <a:defRPr/>
            </a:pPr>
            <a:r>
              <a:rPr lang="en-US" sz="2400" dirty="0" smtClean="0"/>
              <a:t>Natural monopoly</a:t>
            </a:r>
          </a:p>
          <a:p>
            <a:pPr>
              <a:buFont typeface="Arial" pitchFamily="34" charset="0"/>
              <a:buChar char="•"/>
              <a:defRPr/>
            </a:pPr>
            <a:r>
              <a:rPr lang="en-US" sz="2400" dirty="0" smtClean="0"/>
              <a:t>Network externality</a:t>
            </a:r>
          </a:p>
          <a:p>
            <a:pPr>
              <a:buFont typeface="Arial" pitchFamily="34" charset="0"/>
              <a:buChar char="•"/>
              <a:defRPr/>
            </a:pPr>
            <a:r>
              <a:rPr lang="en-US" sz="2400" dirty="0" smtClean="0"/>
              <a:t>Patent</a:t>
            </a:r>
          </a:p>
          <a:p>
            <a:pPr>
              <a:buFont typeface="Arial" pitchFamily="34" charset="0"/>
              <a:buChar char="•"/>
              <a:defRPr/>
            </a:pPr>
            <a:r>
              <a:rPr lang="en-US" sz="2400" dirty="0" smtClean="0"/>
              <a:t>Copyright</a:t>
            </a:r>
          </a:p>
          <a:p>
            <a:pPr>
              <a:buFont typeface="Arial" pitchFamily="34" charset="0"/>
              <a:buChar char="•"/>
              <a:defRPr/>
            </a:pPr>
            <a:r>
              <a:rPr lang="en-US" sz="2400" dirty="0" smtClean="0"/>
              <a:t>Public ownership</a:t>
            </a:r>
          </a:p>
          <a:p>
            <a:pPr>
              <a:buFont typeface="Arial" pitchFamily="34" charset="0"/>
              <a:buChar char="•"/>
              <a:defRPr/>
            </a:pPr>
            <a:endParaRPr lang="en-US" sz="2400" dirty="0"/>
          </a:p>
          <a:p>
            <a:pPr>
              <a:buFont typeface="Arial" pitchFamily="34" charset="0"/>
              <a:buChar char="•"/>
              <a:defRPr/>
            </a:pPr>
            <a:endParaRPr lang="en-US" sz="2400" dirty="0" smtClean="0"/>
          </a:p>
          <a:p>
            <a:pPr marL="0" indent="0">
              <a:buFont typeface="Arial" pitchFamily="34" charset="0"/>
              <a:buNone/>
              <a:defRPr/>
            </a:pPr>
            <a:endParaRPr lang="en-US" sz="2400" dirty="0" smtClean="0"/>
          </a:p>
          <a:p>
            <a:pPr>
              <a:buFont typeface="Arial" pitchFamily="34" charset="0"/>
              <a:buChar char="•"/>
              <a:defRPr/>
            </a:pPr>
            <a:r>
              <a:rPr lang="en-US" sz="2400" dirty="0" smtClean="0"/>
              <a:t>Price regulation</a:t>
            </a:r>
          </a:p>
          <a:p>
            <a:pPr>
              <a:buFont typeface="Arial" pitchFamily="34" charset="0"/>
              <a:buChar char="•"/>
              <a:defRPr/>
            </a:pPr>
            <a:r>
              <a:rPr lang="en-US" sz="2400" dirty="0" smtClean="0"/>
              <a:t>Single-price monopolist</a:t>
            </a:r>
          </a:p>
          <a:p>
            <a:pPr>
              <a:buFont typeface="Arial" pitchFamily="34" charset="0"/>
              <a:buChar char="•"/>
              <a:defRPr/>
            </a:pPr>
            <a:r>
              <a:rPr lang="en-US" sz="2400" dirty="0" smtClean="0"/>
              <a:t>Price discrimination</a:t>
            </a:r>
          </a:p>
          <a:p>
            <a:pPr>
              <a:buFont typeface="Arial" pitchFamily="34" charset="0"/>
              <a:buChar char="•"/>
              <a:defRPr/>
            </a:pPr>
            <a:r>
              <a:rPr lang="en-US" sz="2400" dirty="0" smtClean="0"/>
              <a:t>Perfect price discrimination</a:t>
            </a:r>
            <a:endParaRPr lang="en-US" sz="2400" dirty="0"/>
          </a:p>
        </p:txBody>
      </p:sp>
      <p:sp>
        <p:nvSpPr>
          <p:cNvPr id="4" name="Title 3"/>
          <p:cNvSpPr>
            <a:spLocks noGrp="1"/>
          </p:cNvSpPr>
          <p:nvPr>
            <p:ph type="title" idx="4294967295"/>
          </p:nvPr>
        </p:nvSpPr>
        <p:spPr>
          <a:xfrm>
            <a:off x="1076325" y="39688"/>
            <a:ext cx="8074025" cy="579437"/>
          </a:xfrm>
        </p:spPr>
        <p:txBody>
          <a:bodyPr/>
          <a:lstStyle/>
          <a:p>
            <a:pPr eaLnBrk="1" hangingPunct="1">
              <a:defRPr/>
            </a:pPr>
            <a:r>
              <a:rPr lang="id-ID" smtClean="0">
                <a:effectLst>
                  <a:outerShdw blurRad="38100" dist="38100" dir="2700000" algn="tl">
                    <a:srgbClr val="C0C0C0"/>
                  </a:outerShdw>
                </a:effectLst>
              </a:rPr>
              <a:t>KEY TERMS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102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Office Theme">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Office Theme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5201</TotalTime>
  <Words>4345</Words>
  <Application>Microsoft Office PowerPoint</Application>
  <PresentationFormat>On-screen Show (4:3)</PresentationFormat>
  <Paragraphs>552</Paragraphs>
  <Slides>41</Slides>
  <Notes>32</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41</vt:i4>
      </vt:variant>
    </vt:vector>
  </HeadingPairs>
  <TitlesOfParts>
    <vt:vector size="53" baseType="lpstr">
      <vt:lpstr>MS PGothic</vt:lpstr>
      <vt:lpstr>Myriad Pro</vt:lpstr>
      <vt:lpstr>Arial</vt:lpstr>
      <vt:lpstr>Bookman Old Style</vt:lpstr>
      <vt:lpstr>Calibri</vt:lpstr>
      <vt:lpstr>Candara</vt:lpstr>
      <vt:lpstr>Symbol</vt:lpstr>
      <vt:lpstr>Tahoma</vt:lpstr>
      <vt:lpstr>Wingdings</vt:lpstr>
      <vt:lpstr>Office Theme</vt:lpstr>
      <vt:lpstr>1_Office Theme</vt:lpstr>
      <vt:lpstr>2_Office Theme</vt:lpstr>
      <vt:lpstr> Chapter 13 Monopoly </vt:lpstr>
      <vt:lpstr>PowerPoint Presentation</vt:lpstr>
      <vt:lpstr>Types of Market Structure</vt:lpstr>
      <vt:lpstr>Types of Market Structure</vt:lpstr>
      <vt:lpstr>The Meaning of Monopoly</vt:lpstr>
      <vt:lpstr>What a Monopolist Does</vt:lpstr>
      <vt:lpstr>What a Monopolist Does</vt:lpstr>
      <vt:lpstr>Why Do Monopolies Exist?</vt:lpstr>
      <vt:lpstr>1. Control of a Scarce Resource or Input</vt:lpstr>
      <vt:lpstr>2. Increasing Returns to Scale</vt:lpstr>
      <vt:lpstr>Increasing Returns to Scale Create Natural Monopoly</vt:lpstr>
      <vt:lpstr>Economies of Scale and Natural Monopoly</vt:lpstr>
      <vt:lpstr>3. Technological Superiority</vt:lpstr>
      <vt:lpstr>4. Network Externality</vt:lpstr>
      <vt:lpstr>5. Government-Made Barrier</vt:lpstr>
      <vt:lpstr>How a Monopolist Maximizes Profit</vt:lpstr>
      <vt:lpstr>Comparing Demand Curves</vt:lpstr>
      <vt:lpstr>How a Monopolist Maximizes Profit</vt:lpstr>
      <vt:lpstr>A Monopolist’s Demand, Total Revenue, and Marginal Revenue Curves</vt:lpstr>
      <vt:lpstr>The Monopolist’s Demand Curve and Marginal Revenue</vt:lpstr>
      <vt:lpstr>The Monopolist’s Demand Curve and Marginal Revenue</vt:lpstr>
      <vt:lpstr>Monopolist’s Profit-Maximizing Output and Price</vt:lpstr>
      <vt:lpstr>The Monopolist’s Profit-Maximizing Output and Price</vt:lpstr>
      <vt:lpstr>The Monopolist’s Profit with usual cost curves</vt:lpstr>
      <vt:lpstr>Monopoly Versus Perfect Competition</vt:lpstr>
      <vt:lpstr>Monopoly Causes Inefficiency</vt:lpstr>
      <vt:lpstr>Monopoly and Public Policy</vt:lpstr>
      <vt:lpstr>Preventing Monopoly</vt:lpstr>
      <vt:lpstr>Unregulated and Regulated Natural Monopoly</vt:lpstr>
      <vt:lpstr>Dealing with Natural Monopoly</vt:lpstr>
      <vt:lpstr>Price Discrimination</vt:lpstr>
      <vt:lpstr>The Logic of Price Discrimination</vt:lpstr>
      <vt:lpstr>Two Types of Airline Customers</vt:lpstr>
      <vt:lpstr>Price Discrimination and Elasticity</vt:lpstr>
      <vt:lpstr>Price Discrimination</vt:lpstr>
      <vt:lpstr>Perfect Price Discrimination</vt:lpstr>
      <vt:lpstr>Summary</vt:lpstr>
      <vt:lpstr>Monopoly</vt:lpstr>
      <vt:lpstr>Monopoly</vt:lpstr>
      <vt:lpstr>Monopoly</vt:lpstr>
      <vt:lpstr>KEY TERMS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Study of Economics</dc:title>
  <dc:creator>Gideon</dc:creator>
  <cp:lastModifiedBy>Lawrence Khoo</cp:lastModifiedBy>
  <cp:revision>210</cp:revision>
  <dcterms:created xsi:type="dcterms:W3CDTF">2011-11-30T16:12:49Z</dcterms:created>
  <dcterms:modified xsi:type="dcterms:W3CDTF">2015-11-18T06:13:43Z</dcterms:modified>
</cp:coreProperties>
</file>