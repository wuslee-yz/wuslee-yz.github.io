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725" r:id="rId2"/>
    <p:sldMasterId id="2147483730" r:id="rId3"/>
  </p:sldMasterIdLst>
  <p:notesMasterIdLst>
    <p:notesMasterId r:id="rId39"/>
  </p:notesMasterIdLst>
  <p:sldIdLst>
    <p:sldId id="261" r:id="rId4"/>
    <p:sldId id="508" r:id="rId5"/>
    <p:sldId id="509" r:id="rId6"/>
    <p:sldId id="547" r:id="rId7"/>
    <p:sldId id="510" r:id="rId8"/>
    <p:sldId id="511" r:id="rId9"/>
    <p:sldId id="512" r:id="rId10"/>
    <p:sldId id="513" r:id="rId11"/>
    <p:sldId id="532" r:id="rId12"/>
    <p:sldId id="514" r:id="rId13"/>
    <p:sldId id="515" r:id="rId14"/>
    <p:sldId id="516" r:id="rId15"/>
    <p:sldId id="544" r:id="rId16"/>
    <p:sldId id="517" r:id="rId17"/>
    <p:sldId id="518" r:id="rId18"/>
    <p:sldId id="531" r:id="rId19"/>
    <p:sldId id="519" r:id="rId20"/>
    <p:sldId id="520" r:id="rId21"/>
    <p:sldId id="521" r:id="rId22"/>
    <p:sldId id="522" r:id="rId23"/>
    <p:sldId id="523" r:id="rId24"/>
    <p:sldId id="535" r:id="rId25"/>
    <p:sldId id="536" r:id="rId26"/>
    <p:sldId id="538" r:id="rId27"/>
    <p:sldId id="545" r:id="rId28"/>
    <p:sldId id="541" r:id="rId29"/>
    <p:sldId id="542" r:id="rId30"/>
    <p:sldId id="543" r:id="rId31"/>
    <p:sldId id="546" r:id="rId32"/>
    <p:sldId id="533" r:id="rId33"/>
    <p:sldId id="534" r:id="rId34"/>
    <p:sldId id="527" r:id="rId35"/>
    <p:sldId id="528" r:id="rId36"/>
    <p:sldId id="529" r:id="rId37"/>
    <p:sldId id="530" r:id="rId38"/>
  </p:sldIdLst>
  <p:sldSz cx="9144000" cy="6858000" type="screen4x3"/>
  <p:notesSz cx="6797675" cy="987425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008000"/>
    <a:srgbClr val="FFFFFF"/>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091" autoAdjust="0"/>
  </p:normalViewPr>
  <p:slideViewPr>
    <p:cSldViewPr>
      <p:cViewPr varScale="1">
        <p:scale>
          <a:sx n="58" d="100"/>
          <a:sy n="58" d="100"/>
        </p:scale>
        <p:origin x="-837" y="-10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2" d="100"/>
          <a:sy n="52" d="100"/>
        </p:scale>
        <p:origin x="-2678" y="-86"/>
      </p:cViewPr>
      <p:guideLst>
        <p:guide orient="horz" pos="3110"/>
        <p:guide pos="2141"/>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atin typeface="Calibri" pitchFamily="-112" charset="0"/>
                <a:ea typeface="+mn-ea"/>
              </a:defRPr>
            </a:lvl1pPr>
          </a:lstStyle>
          <a:p>
            <a:pPr>
              <a:defRPr/>
            </a:pPr>
            <a:endParaRPr lang="en-US"/>
          </a:p>
        </p:txBody>
      </p:sp>
      <p:sp>
        <p:nvSpPr>
          <p:cNvPr id="3" name="Date Placeholder 2"/>
          <p:cNvSpPr>
            <a:spLocks noGrp="1"/>
          </p:cNvSpPr>
          <p:nvPr>
            <p:ph type="dt" idx="1"/>
          </p:nvPr>
        </p:nvSpPr>
        <p:spPr>
          <a:xfrm>
            <a:off x="3849688" y="0"/>
            <a:ext cx="2946400" cy="493713"/>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717F55DB-E34D-4FBC-8255-08D50D999E0F}" type="datetime1">
              <a:rPr lang="en-US"/>
              <a:pPr>
                <a:defRPr/>
              </a:pPr>
              <a:t>12/11/2015</a:t>
            </a:fld>
            <a:endParaRPr lang="en-US" dirty="0"/>
          </a:p>
        </p:txBody>
      </p:sp>
      <p:sp>
        <p:nvSpPr>
          <p:cNvPr id="4" name="Slide Image Placeholder 3"/>
          <p:cNvSpPr>
            <a:spLocks noGrp="1" noRot="1" noChangeAspect="1"/>
          </p:cNvSpPr>
          <p:nvPr>
            <p:ph type="sldImg" idx="2"/>
          </p:nvPr>
        </p:nvSpPr>
        <p:spPr>
          <a:xfrm>
            <a:off x="931863" y="741363"/>
            <a:ext cx="4935537" cy="370205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79450" y="4691063"/>
            <a:ext cx="5438775" cy="4443412"/>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atin typeface="Calibri" pitchFamily="-112" charset="0"/>
                <a:ea typeface="+mn-ea"/>
              </a:defRPr>
            </a:lvl1pPr>
          </a:lstStyle>
          <a:p>
            <a:pPr>
              <a:defRPr/>
            </a:pPr>
            <a:endParaRPr lang="en-US"/>
          </a:p>
        </p:txBody>
      </p:sp>
      <p:sp>
        <p:nvSpPr>
          <p:cNvPr id="7" name="Slide Number Placeholder 6"/>
          <p:cNvSpPr>
            <a:spLocks noGrp="1"/>
          </p:cNvSpPr>
          <p:nvPr>
            <p:ph type="sldNum" sz="quarter" idx="5"/>
          </p:nvPr>
        </p:nvSpPr>
        <p:spPr>
          <a:xfrm>
            <a:off x="3849688" y="9378950"/>
            <a:ext cx="2946400" cy="493713"/>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CA0C38B6-02D1-4D26-9091-2C9D11E0B96F}" type="slidenum">
              <a:rPr lang="en-US"/>
              <a:pPr>
                <a:defRPr/>
              </a:pPr>
              <a:t>‹#›</a:t>
            </a:fld>
            <a:endParaRPr lang="en-US" dirty="0"/>
          </a:p>
        </p:txBody>
      </p:sp>
    </p:spTree>
    <p:extLst>
      <p:ext uri="{BB962C8B-B14F-4D97-AF65-F5344CB8AC3E}">
        <p14:creationId xmlns:p14="http://schemas.microsoft.com/office/powerpoint/2010/main" val="4004881887"/>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
        <p:nvSpPr>
          <p:cNvPr id="2867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DA832510-42C3-4712-B26E-3B63482C57EF}" type="slidenum">
              <a:rPr lang="en-US" sz="1200"/>
              <a:pPr algn="r"/>
              <a:t>0</a:t>
            </a:fld>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3072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27E953A-3D56-4CCB-A73B-B0204B12E32D}" type="slidenum">
              <a:rPr lang="en-US" sz="1200"/>
              <a:pPr algn="r"/>
              <a:t>1</a:t>
            </a:fld>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277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3614BF9-CF11-4D16-B1FD-DCF04321F556}" type="slidenum">
              <a:rPr lang="en-US" sz="1200"/>
              <a:pPr algn="r"/>
              <a:t>2</a:t>
            </a:fld>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277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3614BF9-CF11-4D16-B1FD-DCF04321F556}" type="slidenum">
              <a:rPr lang="en-US" sz="1200"/>
              <a:pPr algn="r"/>
              <a:t>3</a:t>
            </a:fld>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481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5EB78153-942B-4929-977B-6BD1763EE809}" type="slidenum">
              <a:rPr lang="en-US" sz="1200"/>
              <a:pPr algn="r"/>
              <a:t>4</a:t>
            </a:fld>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68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6D71BFBE-ED34-4E34-A332-3C28AD08A8A0}" type="slidenum">
              <a:rPr lang="en-US" sz="1200"/>
              <a:pPr algn="r"/>
              <a:t>5</a:t>
            </a:fld>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891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28B2A1C-BE51-4893-BAE5-96D9CC88BC0A}" type="slidenum">
              <a:rPr lang="en-US" sz="1200"/>
              <a:pPr algn="r"/>
              <a:t>6</a:t>
            </a:fld>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096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C87993E5-EF70-4FC7-9F45-F3EE3CA73C09}" type="slidenum">
              <a:rPr lang="en-US" sz="1200"/>
              <a:pPr algn="r"/>
              <a:t>7</a:t>
            </a:fld>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p:spPr>
      </p:sp>
      <p:sp>
        <p:nvSpPr>
          <p:cNvPr id="4301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smtClean="0"/>
              <a:t>1930 Ford model A (black), Pontiac (red)</a:t>
            </a:r>
          </a:p>
          <a:p>
            <a:pPr defTabSz="914400">
              <a:spcBef>
                <a:spcPct val="0"/>
              </a:spcBef>
            </a:pPr>
            <a:endParaRPr lang="en-US" smtClean="0"/>
          </a:p>
        </p:txBody>
      </p:sp>
      <p:sp>
        <p:nvSpPr>
          <p:cNvPr id="4301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856E253-046D-43A5-966B-6C0ED2FCC717}" type="slidenum">
              <a:rPr lang="en-US" sz="1200"/>
              <a:pPr algn="r"/>
              <a:t>8</a:t>
            </a:fld>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p:spPr>
      </p:sp>
      <p:sp>
        <p:nvSpPr>
          <p:cNvPr id="4505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505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A62F3330-5D30-4878-BD34-151C1956AAD3}" type="slidenum">
              <a:rPr lang="en-US" sz="1200"/>
              <a:pPr algn="r"/>
              <a:t>9</a:t>
            </a:fld>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p:spPr>
      </p:sp>
      <p:sp>
        <p:nvSpPr>
          <p:cNvPr id="4710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710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6B1DDD6A-7441-4204-B0A8-8F69A222197C}" type="slidenum">
              <a:rPr lang="en-US" sz="1200"/>
              <a:pPr algn="r"/>
              <a:t>10</a:t>
            </a:fld>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p:spPr>
      </p:sp>
      <p:sp>
        <p:nvSpPr>
          <p:cNvPr id="4915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15-1: The Monopolistically Competitive Firm in the Short Run</a:t>
            </a:r>
            <a:endParaRPr lang="en-US" smtClean="0">
              <a:latin typeface="Arial" charset="0"/>
            </a:endParaRPr>
          </a:p>
          <a:p>
            <a:pPr defTabSz="914400">
              <a:spcBef>
                <a:spcPct val="0"/>
              </a:spcBef>
            </a:pPr>
            <a:r>
              <a:rPr lang="en-US" smtClean="0">
                <a:latin typeface="Arial" charset="0"/>
              </a:rPr>
              <a:t>The firm in panel (a) can be profitable for some output quantities: the quantities for which its average total cost curve, ATC, lies below its demand curve, DP. The profit-maximizing output quantity is QP, the output at which marginal revenue, MRP, is equal to marginal cost, MC. The firm charges price PP and earns a profit, represented by the area of the green shaded rectangle. The firm in panel (b), however, can never be profitable because its average total cost curve lies above its demand curve, DU, for every output quantity. The best that it can do if it produces at all is to produce quantity QU and charge price PU. This generates a loss, indicated by the area of the yellow shaded rectangle. Any other output quantity results in a greater loss. </a:t>
            </a:r>
          </a:p>
          <a:p>
            <a:pPr defTabSz="914400">
              <a:spcBef>
                <a:spcPct val="0"/>
              </a:spcBef>
            </a:pPr>
            <a:endParaRPr lang="en-US" smtClean="0"/>
          </a:p>
        </p:txBody>
      </p:sp>
      <p:sp>
        <p:nvSpPr>
          <p:cNvPr id="4915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C744DF28-7761-45A9-AC31-93D6464A4FD5}" type="slidenum">
              <a:rPr lang="en-US" sz="1200"/>
              <a:pPr algn="r"/>
              <a:t>11</a:t>
            </a:fld>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p:cNvSpPr>
            <a:spLocks noGrp="1" noRot="1" noChangeAspect="1" noTextEdit="1"/>
          </p:cNvSpPr>
          <p:nvPr>
            <p:ph type="sldImg"/>
          </p:nvPr>
        </p:nvSpPr>
        <p:spPr bwMode="auto">
          <a:noFill/>
          <a:ln>
            <a:solidFill>
              <a:srgbClr val="000000"/>
            </a:solidFill>
            <a:miter lim="800000"/>
            <a:headEnd/>
            <a:tailEnd/>
          </a:ln>
        </p:spPr>
      </p:sp>
      <p:sp>
        <p:nvSpPr>
          <p:cNvPr id="5222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5222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95D71E9-9013-4713-A88D-0D853E4A2F11}" type="slidenum">
              <a:rPr lang="en-US" sz="1200"/>
              <a:pPr algn="r"/>
              <a:t>13</a:t>
            </a:fld>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427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15-2: Entry and Exit Shift Existing Firm’s Demand Curve and Marginal Revenue Curve</a:t>
            </a:r>
            <a:endParaRPr lang="en-US" smtClean="0">
              <a:latin typeface="Arial" charset="0"/>
            </a:endParaRPr>
          </a:p>
          <a:p>
            <a:pPr defTabSz="914400">
              <a:spcBef>
                <a:spcPct val="0"/>
              </a:spcBef>
            </a:pPr>
            <a:r>
              <a:rPr lang="en-US" smtClean="0">
                <a:latin typeface="Arial" charset="0"/>
              </a:rPr>
              <a:t>Entry will occur in the long run when existing firms are profitable. In panel (a), entry causes each existing firm’s demand curve and marginal revenue curve to shift to the left. The firm receives a lower price for every unit it sells, and its profit falls. Entry will cease when firms make zero profit. Exit will occur in the long run when existing firms are unprofitable. In panel (b), exit from the industry shifts each remaining firm’s demand curve and marginal revenue curve to the right. The firm receives a higher price for every unit it sells, and loss declines. Exit will cease when the remaining firms make zero profit.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632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smtClean="0">
                <a:latin typeface="Arial" charset="0"/>
              </a:rPr>
              <a:t>If existing firms are profitable, entry will occur and shift each existing firm’s demand curve leftward. Firm entry will reduce demand for the existing firms, punishing down their prices and profits.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837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15-3: The Long-Run Zero-Profit Equilibrium</a:t>
            </a:r>
            <a:endParaRPr lang="en-US" smtClean="0">
              <a:latin typeface="Arial" charset="0"/>
            </a:endParaRPr>
          </a:p>
          <a:p>
            <a:pPr defTabSz="914400">
              <a:spcBef>
                <a:spcPct val="0"/>
              </a:spcBef>
            </a:pPr>
            <a:r>
              <a:rPr lang="en-US" smtClean="0">
                <a:latin typeface="Arial" charset="0"/>
              </a:rPr>
              <a:t>If existing firms are profitable, entry will occur and shift each existing firm’s demand curve leftward. If existing firms are unprofitable, each remaining firm’s demand curve shifts rightward as some firms exit the industry. Entry and exit will cease when every existing firm makes zero profit at its profit-maximizing quantity. So, in long-run zero-profit equilibrium, the demand curve of each firm is tangent to its average total cost curve at its profit-maximizing quantity: at the profit maximizing quantity, QMC, price, PMC, equals average total cost, ATCMC. A monopolistically competitive firm is like a monopolist without monopoly profits.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noTextEdit="1"/>
          </p:cNvSpPr>
          <p:nvPr>
            <p:ph type="sldImg"/>
          </p:nvPr>
        </p:nvSpPr>
        <p:spPr bwMode="auto">
          <a:noFill/>
          <a:ln>
            <a:solidFill>
              <a:srgbClr val="000000"/>
            </a:solidFill>
            <a:miter lim="800000"/>
            <a:headEnd/>
            <a:tailEnd/>
          </a:ln>
        </p:spPr>
      </p:sp>
      <p:sp>
        <p:nvSpPr>
          <p:cNvPr id="6041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041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2FC9B694-ED8E-4696-9986-E715D8E194CA}" type="slidenum">
              <a:rPr lang="en-US" sz="1200"/>
              <a:pPr algn="r"/>
              <a:t>17</a:t>
            </a:fld>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15-4: Comparing Long-Run Equilibrium in Perfect Competition and Monopolistic Competition</a:t>
            </a:r>
            <a:endParaRPr lang="en-US" smtClean="0">
              <a:latin typeface="Arial" charset="0"/>
            </a:endParaRPr>
          </a:p>
          <a:p>
            <a:pPr defTabSz="914400">
              <a:spcBef>
                <a:spcPct val="0"/>
              </a:spcBef>
            </a:pPr>
            <a:r>
              <a:rPr lang="en-US" smtClean="0">
                <a:latin typeface="Arial" charset="0"/>
              </a:rPr>
              <a:t>Panel (a) shows the situation of the typical firm in long-run equilibrium in a perfectly competitive industry. The firm operates at the minimum-cost output QPC, sells at the competitive market price PPC, and makes zero profit. It is indifferent to selling another unit of output because PPC is equal to its marginal cost, MCPC. Panel (b) shows the situation of the typical firm in long-run equilibrium in a monopolistically competitive industry. At QMC it makes zero profit because its price PMC just equals average total cost, ATCMC. At QMC the firm would like to sell another unit at price PMC since PMC exceeds marginal cost, MCMC. But it is unwilling to lower price to make more sales. It therefore operates to the left of the minimum-cost output level and has excess capacity. </a:t>
            </a:r>
          </a:p>
          <a:p>
            <a:pPr defTabSz="914400">
              <a:spcBef>
                <a:spcPct val="0"/>
              </a:spcBef>
            </a:pPr>
            <a:endParaRPr lang="en-US" smtClean="0"/>
          </a:p>
        </p:txBody>
      </p:sp>
      <p:sp>
        <p:nvSpPr>
          <p:cNvPr id="624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0307816F-DF5B-43E8-87AA-ACB8EB6DF1B0}" type="slidenum">
              <a:rPr lang="en-US" sz="1200"/>
              <a:pPr algn="r"/>
              <a:t>18</a:t>
            </a:fld>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p:spPr>
      </p:sp>
      <p:sp>
        <p:nvSpPr>
          <p:cNvPr id="6451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451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1761A8FE-CC63-4C1D-B556-419293E81822}" type="slidenum">
              <a:rPr lang="en-US" sz="1200"/>
              <a:pPr algn="r"/>
              <a:t>19</a:t>
            </a:fld>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noTextEdit="1"/>
          </p:cNvSpPr>
          <p:nvPr>
            <p:ph type="sldImg"/>
          </p:nvPr>
        </p:nvSpPr>
        <p:spPr bwMode="auto">
          <a:noFill/>
          <a:ln>
            <a:solidFill>
              <a:srgbClr val="000000"/>
            </a:solidFill>
            <a:miter lim="800000"/>
            <a:headEnd/>
            <a:tailEnd/>
          </a:ln>
        </p:spPr>
      </p:sp>
      <p:sp>
        <p:nvSpPr>
          <p:cNvPr id="6656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656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B7A296FD-6A2C-4EB4-A750-FFC0F563F73D}" type="slidenum">
              <a:rPr lang="en-US" sz="1200"/>
              <a:pPr algn="r"/>
              <a:t>20</a:t>
            </a:fld>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885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089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pPr>
              <a:defRPr/>
            </a:pPr>
            <a:fld id="{4E0DE42E-79C9-466B-99A4-058E0FFB989F}" type="datetime1">
              <a:rPr lang="id-ID"/>
              <a:pPr>
                <a:defRPr/>
              </a:pPr>
              <a:t>11/12/2015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9FF38B63-03B5-4D9E-AF76-2871E121827B}" type="slidenum">
              <a:rPr lang="id-ID"/>
              <a:pPr>
                <a:defRPr/>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pPr>
              <a:defRPr/>
            </a:pPr>
            <a:fld id="{6B092BFC-12E6-4C69-B2F0-05A9CEF84315}" type="datetime1">
              <a:rPr lang="id-ID"/>
              <a:pPr>
                <a:defRPr/>
              </a:pPr>
              <a:t>11/12/2015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1F353D9C-266D-4491-AA8F-75BB6227C202}" type="slidenum">
              <a:rPr lang="id-ID"/>
              <a:pPr>
                <a:defRPr/>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F7DEB1A8-B3BB-4C18-BDC0-2DEAD0FADBFC}" type="datetime1">
              <a:rPr lang="id-ID"/>
              <a:pPr>
                <a:defRPr/>
              </a:pPr>
              <a:t>11/12/2015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7B8570D0-2191-4B95-A208-36A2B1CF6903}" type="slidenum">
              <a:rPr lang="id-ID"/>
              <a:pPr>
                <a:defRPr/>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pPr>
              <a:defRPr/>
            </a:pPr>
            <a:fld id="{B5270198-9D2F-494D-96E9-0A2D655272A9}" type="datetime1">
              <a:rPr lang="id-ID"/>
              <a:pPr>
                <a:defRPr/>
              </a:pPr>
              <a:t>11/12/2015</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pPr>
              <a:defRPr/>
            </a:pPr>
            <a:fld id="{539E893D-EDE0-4016-A40B-54A0B861B889}" type="slidenum">
              <a:rPr lang="id-ID"/>
              <a:pPr>
                <a:defRPr/>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pPr>
              <a:defRPr/>
            </a:pPr>
            <a:fld id="{7C5D7A88-7559-42CF-9223-8EDD6546C5B8}" type="datetime1">
              <a:rPr lang="id-ID"/>
              <a:pPr>
                <a:defRPr/>
              </a:pPr>
              <a:t>11/12/2015</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pPr>
              <a:defRPr/>
            </a:pPr>
            <a:fld id="{D79B3903-0FAB-4942-9BF6-F671BF5E507C}" type="slidenum">
              <a:rPr lang="id-ID"/>
              <a:pPr>
                <a:defRPr/>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pPr>
              <a:defRPr/>
            </a:pPr>
            <a:fld id="{4ED3309D-66DB-4AA2-9BB0-AB92BE64C7DA}" type="datetime1">
              <a:rPr lang="id-ID"/>
              <a:pPr>
                <a:defRPr/>
              </a:pPr>
              <a:t>11/12/2015</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pPr>
              <a:defRPr/>
            </a:pPr>
            <a:fld id="{571F717D-BBA3-4ADA-BBC9-E032F1B8488C}" type="slidenum">
              <a:rPr lang="id-ID"/>
              <a:pPr>
                <a:defRPr/>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95B4386-C73A-437B-8AB9-298835C9B222}" type="datetime1">
              <a:rPr lang="id-ID"/>
              <a:pPr>
                <a:defRPr/>
              </a:pPr>
              <a:t>11/12/2015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C63AB8E2-F557-4992-9728-E8FB328D6832}" type="slidenum">
              <a:rPr lang="id-ID"/>
              <a:pPr>
                <a:defRPr/>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759DD84-04A1-476C-B78A-4682B10BDF75}" type="datetime1">
              <a:rPr lang="id-ID"/>
              <a:pPr>
                <a:defRPr/>
              </a:pPr>
              <a:t>11/12/2015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C34795A2-15BE-4A81-902F-8242CE85B783}" type="slidenum">
              <a:rPr lang="id-ID"/>
              <a:pPr>
                <a:defRPr/>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10C63065-DC5C-4665-9B3A-1B19CDEBE904}" type="datetime1">
              <a:rPr lang="id-ID"/>
              <a:pPr>
                <a:defRPr/>
              </a:pPr>
              <a:t>11/12/2015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66D358BB-F5FC-48C3-9450-9DEE7EB1A115}" type="slidenum">
              <a:rPr lang="id-ID"/>
              <a:pPr>
                <a:defRPr/>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EE3F09D0-DADB-42F7-A07D-DFF760383473}" type="datetime1">
              <a:rPr lang="id-ID"/>
              <a:pPr>
                <a:defRPr/>
              </a:pPr>
              <a:t>11/12/2015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E5AB3E05-B456-4D01-B939-E19E06D508A1}" type="slidenum">
              <a:rPr lang="id-ID"/>
              <a:pPr>
                <a:defRPr/>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2313541-2706-4898-8857-B9028E723EEC}" type="datetime1">
              <a:rPr lang="id-ID"/>
              <a:pPr>
                <a:defRPr/>
              </a:pPr>
              <a:t>11/12/2015</a:t>
            </a:fld>
            <a:endParaRPr lang="id-ID"/>
          </a:p>
        </p:txBody>
      </p:sp>
      <p:sp>
        <p:nvSpPr>
          <p:cNvPr id="3" name="Footer Placeholder 4"/>
          <p:cNvSpPr>
            <a:spLocks noGrp="1"/>
          </p:cNvSpPr>
          <p:nvPr>
            <p:ph type="ftr" sz="quarter" idx="11"/>
          </p:nvPr>
        </p:nvSpPr>
        <p:spPr/>
        <p:txBody>
          <a:bodyPr/>
          <a:lstStyle>
            <a:lvl1pPr>
              <a:defRPr/>
            </a:lvl1pPr>
          </a:lstStyle>
          <a:p>
            <a:pPr>
              <a:defRPr/>
            </a:pPr>
            <a:endParaRPr lang="id-ID"/>
          </a:p>
        </p:txBody>
      </p:sp>
      <p:sp>
        <p:nvSpPr>
          <p:cNvPr id="4" name="Slide Number Placeholder 5"/>
          <p:cNvSpPr>
            <a:spLocks noGrp="1"/>
          </p:cNvSpPr>
          <p:nvPr>
            <p:ph type="sldNum" sz="quarter" idx="12"/>
          </p:nvPr>
        </p:nvSpPr>
        <p:spPr/>
        <p:txBody>
          <a:bodyPr/>
          <a:lstStyle>
            <a:lvl1pPr>
              <a:defRPr/>
            </a:lvl1pPr>
          </a:lstStyle>
          <a:p>
            <a:pPr>
              <a:defRPr/>
            </a:pPr>
            <a:fld id="{EE22BAAE-76B9-42C4-9EA9-7BDB979BDC5F}" type="slidenum">
              <a:rPr lang="id-ID"/>
              <a:pPr>
                <a:defRPr/>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F6F71DB1-B7B4-431F-A8D5-F3CA0FA5A985}" type="slidenum">
              <a:rPr lang="id-ID"/>
              <a:pPr>
                <a:defRPr/>
              </a:pPr>
              <a:t>‹#›</a:t>
            </a:fld>
            <a:endParaRPr lang="id-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5C9915EA-FD10-4EA2-8460-5CBE0D103992}" type="slidenum">
              <a:rPr lang="id-ID"/>
              <a:pPr>
                <a:defRPr/>
              </a:pPr>
              <a:t>‹#›</a:t>
            </a:fld>
            <a:endParaRPr lang="id-I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E9AD16A2-69CD-40AB-919D-C72F4E2E3315}" type="slidenum">
              <a:rPr lang="id-ID"/>
              <a:pPr>
                <a:defRPr/>
              </a:pPr>
              <a:t>‹#›</a:t>
            </a:fld>
            <a:endParaRPr lang="id-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72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62CF45F8-8274-4A95-9ECC-7BD3F23B88E0}" type="slidenum">
              <a:rPr lang="id-ID"/>
              <a:pPr>
                <a:defRPr/>
              </a:pPr>
              <a:t>‹#›</a:t>
            </a:fld>
            <a:endParaRPr lang="id-I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8" name="Footer Placeholder 5"/>
          <p:cNvSpPr>
            <a:spLocks noGrp="1"/>
          </p:cNvSpPr>
          <p:nvPr>
            <p:ph type="ftr" sz="quarter" idx="11"/>
          </p:nvPr>
        </p:nvSpPr>
        <p:spPr/>
        <p:txBody>
          <a:bodyPr/>
          <a:lstStyle>
            <a:lvl1pPr>
              <a:defRPr/>
            </a:lvl1pPr>
          </a:lstStyle>
          <a:p>
            <a:pPr>
              <a:defRPr/>
            </a:pPr>
            <a:endParaRPr lang="id-ID"/>
          </a:p>
        </p:txBody>
      </p:sp>
      <p:sp>
        <p:nvSpPr>
          <p:cNvPr id="9" name="Slide Number Placeholder 6"/>
          <p:cNvSpPr>
            <a:spLocks noGrp="1"/>
          </p:cNvSpPr>
          <p:nvPr>
            <p:ph type="sldNum" sz="quarter" idx="12"/>
          </p:nvPr>
        </p:nvSpPr>
        <p:spPr/>
        <p:txBody>
          <a:bodyPr/>
          <a:lstStyle>
            <a:lvl1pPr>
              <a:defRPr/>
            </a:lvl1pPr>
          </a:lstStyle>
          <a:p>
            <a:pPr>
              <a:defRPr/>
            </a:pPr>
            <a:fld id="{5C6E5DEB-9C00-4BAF-8A87-E1F1039FDCB0}" type="slidenum">
              <a:rPr lang="id-ID"/>
              <a:pPr>
                <a:defRPr/>
              </a:pPr>
              <a:t>‹#›</a:t>
            </a:fld>
            <a:endParaRPr lang="id-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4" name="Footer Placeholder 5"/>
          <p:cNvSpPr>
            <a:spLocks noGrp="1"/>
          </p:cNvSpPr>
          <p:nvPr>
            <p:ph type="ftr" sz="quarter" idx="11"/>
          </p:nvPr>
        </p:nvSpPr>
        <p:spPr/>
        <p:txBody>
          <a:bodyPr/>
          <a:lstStyle>
            <a:lvl1pPr>
              <a:defRPr/>
            </a:lvl1pPr>
          </a:lstStyle>
          <a:p>
            <a:pPr>
              <a:defRPr/>
            </a:pPr>
            <a:endParaRPr lang="id-ID"/>
          </a:p>
        </p:txBody>
      </p:sp>
      <p:sp>
        <p:nvSpPr>
          <p:cNvPr id="5" name="Slide Number Placeholder 6"/>
          <p:cNvSpPr>
            <a:spLocks noGrp="1"/>
          </p:cNvSpPr>
          <p:nvPr>
            <p:ph type="sldNum" sz="quarter" idx="12"/>
          </p:nvPr>
        </p:nvSpPr>
        <p:spPr/>
        <p:txBody>
          <a:bodyPr/>
          <a:lstStyle>
            <a:lvl1pPr>
              <a:defRPr/>
            </a:lvl1pPr>
          </a:lstStyle>
          <a:p>
            <a:pPr>
              <a:defRPr/>
            </a:pPr>
            <a:fld id="{1BAE7349-4C46-4A7E-9486-6B105A075F64}" type="slidenum">
              <a:rPr lang="id-ID"/>
              <a:pPr>
                <a:defRPr/>
              </a:pPr>
              <a:t>‹#›</a:t>
            </a:fld>
            <a:endParaRPr lang="id-I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3" name="Footer Placeholder 5"/>
          <p:cNvSpPr>
            <a:spLocks noGrp="1"/>
          </p:cNvSpPr>
          <p:nvPr>
            <p:ph type="ftr" sz="quarter" idx="11"/>
          </p:nvPr>
        </p:nvSpPr>
        <p:spPr/>
        <p:txBody>
          <a:bodyPr/>
          <a:lstStyle>
            <a:lvl1pPr>
              <a:defRPr/>
            </a:lvl1pPr>
          </a:lstStyle>
          <a:p>
            <a:pPr>
              <a:defRPr/>
            </a:pPr>
            <a:endParaRPr lang="id-ID"/>
          </a:p>
        </p:txBody>
      </p:sp>
      <p:sp>
        <p:nvSpPr>
          <p:cNvPr id="4" name="Slide Number Placeholder 6"/>
          <p:cNvSpPr>
            <a:spLocks noGrp="1"/>
          </p:cNvSpPr>
          <p:nvPr>
            <p:ph type="sldNum" sz="quarter" idx="12"/>
          </p:nvPr>
        </p:nvSpPr>
        <p:spPr/>
        <p:txBody>
          <a:bodyPr/>
          <a:lstStyle>
            <a:lvl1pPr>
              <a:defRPr/>
            </a:lvl1pPr>
          </a:lstStyle>
          <a:p>
            <a:pPr>
              <a:defRPr/>
            </a:pPr>
            <a:fld id="{FDE45A9A-8F55-4823-A042-F5B0F1B3DFD2}" type="slidenum">
              <a:rPr lang="id-ID"/>
              <a:pPr>
                <a:defRPr/>
              </a:pPr>
              <a:t>‹#›</a:t>
            </a:fld>
            <a:endParaRPr lang="id-I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FBA888C4-DBD3-4AD5-A03C-C594CB4989B7}" type="slidenum">
              <a:rPr lang="id-ID"/>
              <a:pPr>
                <a:defRPr/>
              </a:pPr>
              <a:t>‹#›</a:t>
            </a:fld>
            <a:endParaRPr lang="id-I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3307C42F-5241-416E-B8C2-B0FEFD3F74BC}" type="slidenum">
              <a:rPr lang="id-ID"/>
              <a:pPr>
                <a:defRPr/>
              </a:pPr>
              <a:t>‹#›</a:t>
            </a:fld>
            <a:endParaRPr lang="id-I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8272E11F-8E47-4100-A4DE-A9A8A8F82830}" type="slidenum">
              <a:rPr lang="id-ID"/>
              <a:pPr>
                <a:defRPr/>
              </a:pPr>
              <a:t>‹#›</a:t>
            </a:fld>
            <a:endParaRPr lang="id-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7075" y="60325"/>
            <a:ext cx="2073275" cy="6065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7250" y="60325"/>
            <a:ext cx="6067425" cy="6065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11/12/2015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2062ED8D-4D88-4C0F-8B49-56EDC7334249}" type="slidenum">
              <a:rPr lang="id-ID"/>
              <a:pPr>
                <a:defRPr/>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611188" y="692150"/>
            <a:ext cx="8424862" cy="554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758891A8-9470-4322-8F70-5B83DB18A4F1}" type="datetime1">
              <a:rPr lang="id-ID"/>
              <a:pPr>
                <a:defRPr/>
              </a:pPr>
              <a:t>11/12/2015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062690A1-6710-4DBD-9542-7D0A8AAAA32E}" type="slidenum">
              <a:rPr lang="id-ID"/>
              <a:pPr>
                <a:defRPr/>
              </a:pPr>
              <a:t>‹#›</a:t>
            </a:fld>
            <a:endParaRPr lang="id-ID"/>
          </a:p>
        </p:txBody>
      </p:sp>
      <p:sp>
        <p:nvSpPr>
          <p:cNvPr id="1031"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2D95F2C1-D759-4A36-AAD5-0D6DF708727F}"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sldLayoutIdLst>
    <p:sldLayoutId id="2147483753" r:id="rId1"/>
    <p:sldLayoutId id="2147483734" r:id="rId2"/>
    <p:sldLayoutId id="2147483735" r:id="rId3"/>
    <p:sldLayoutId id="2147483736" r:id="rId4"/>
    <p:sldLayoutId id="2147483754" r:id="rId5"/>
    <p:sldLayoutId id="2147483755" r:id="rId6"/>
    <p:sldLayoutId id="2147483737" r:id="rId7"/>
    <p:sldLayoutId id="2147483738" r:id="rId8"/>
    <p:sldLayoutId id="2147483739" r:id="rId9"/>
    <p:sldLayoutId id="2147483740" r:id="rId10"/>
    <p:sldLayoutId id="2147483741" r:id="rId11"/>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Ø"/>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lIns="91440" tIns="45720" rIns="91440" bIns="45720" rtlCol="0" anchor="ctr">
            <a:noAutofit/>
          </a:bodyPr>
          <a:lstStyle/>
          <a:p>
            <a:r>
              <a:rPr lang="en-US" smtClean="0"/>
              <a:t>Click to edit Master title style</a:t>
            </a:r>
            <a:endParaRPr lang="id-ID"/>
          </a:p>
        </p:txBody>
      </p:sp>
      <p:sp>
        <p:nvSpPr>
          <p:cNvPr id="13315" name="Text Placeholder 2"/>
          <p:cNvSpPr>
            <a:spLocks noGrp="1"/>
          </p:cNvSpPr>
          <p:nvPr>
            <p:ph type="body" idx="1"/>
          </p:nvPr>
        </p:nvSpPr>
        <p:spPr bwMode="auto">
          <a:xfrm>
            <a:off x="611188" y="692150"/>
            <a:ext cx="8424862" cy="5505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ea typeface="+mn-ea"/>
              </a:defRPr>
            </a:lvl1pPr>
          </a:lstStyle>
          <a:p>
            <a:pPr>
              <a:defRPr/>
            </a:pPr>
            <a:fld id="{6850F96E-6F6D-4D0D-972E-D998A0AAFE20}" type="datetimeFigureOut">
              <a:rPr lang="id-ID"/>
              <a:pPr>
                <a:defRPr/>
              </a:pPr>
              <a:t>11/12/2015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ea typeface="+mn-ea"/>
              </a:defRPr>
            </a:lvl1pPr>
          </a:lstStyle>
          <a:p>
            <a:pPr>
              <a:defRPr/>
            </a:pPr>
            <a:fld id="{DD170272-CB49-4D1F-B166-68CDAB69C6D0}" type="slidenum">
              <a:rPr lang="id-ID"/>
              <a:pPr>
                <a:defRPr/>
              </a:pPr>
              <a:t>‹#›</a:t>
            </a:fld>
            <a:endParaRPr lang="id-ID"/>
          </a:p>
        </p:txBody>
      </p:sp>
      <p:sp>
        <p:nvSpPr>
          <p:cNvPr id="14343"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02D5BBAD-628D-4315-9C0E-15432176265A}"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Wingdings" pitchFamily="2" charset="2"/>
        <a:buChar char="ü"/>
        <a:defRPr sz="23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1071563" y="60325"/>
            <a:ext cx="8078787" cy="5556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id-ID" smtClean="0"/>
          </a:p>
        </p:txBody>
      </p:sp>
      <p:sp>
        <p:nvSpPr>
          <p:cNvPr id="14339" name="Text Placeholder 2"/>
          <p:cNvSpPr>
            <a:spLocks noGrp="1"/>
          </p:cNvSpPr>
          <p:nvPr>
            <p:ph type="body" idx="1"/>
          </p:nvPr>
        </p:nvSpPr>
        <p:spPr bwMode="auto">
          <a:xfrm>
            <a:off x="857250" y="714375"/>
            <a:ext cx="8001000" cy="5411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7" name="Date Placeholder 4"/>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sz="1200">
                <a:solidFill>
                  <a:prstClr val="black">
                    <a:tint val="75000"/>
                  </a:prstClr>
                </a:solidFill>
              </a:defRPr>
            </a:lvl1pPr>
          </a:lstStyle>
          <a:p>
            <a:pPr>
              <a:defRPr/>
            </a:pPr>
            <a:fld id="{6850F96E-6F6D-4D0D-972E-D998A0AAFE20}" type="datetimeFigureOut">
              <a:rPr lang="id-ID"/>
              <a:pPr>
                <a:defRPr/>
              </a:pPr>
              <a:t>11/12/2015</a:t>
            </a:fld>
            <a:endParaRPr lang="id-ID"/>
          </a:p>
        </p:txBody>
      </p:sp>
      <p:sp>
        <p:nvSpPr>
          <p:cNvPr id="8" name="Footer Placeholder 5"/>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prstClr val="black">
                    <a:tint val="75000"/>
                  </a:prstClr>
                </a:solidFill>
              </a:defRPr>
            </a:lvl1pPr>
          </a:lstStyle>
          <a:p>
            <a:pPr>
              <a:defRPr/>
            </a:pPr>
            <a:endParaRPr lang="id-ID"/>
          </a:p>
        </p:txBody>
      </p:sp>
      <p:sp>
        <p:nvSpPr>
          <p:cNvPr id="9" name="Slide Number Placeholder 6"/>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prstClr val="black">
                    <a:tint val="75000"/>
                  </a:prstClr>
                </a:solidFill>
              </a:defRPr>
            </a:lvl1pPr>
          </a:lstStyle>
          <a:p>
            <a:pPr>
              <a:defRPr/>
            </a:pPr>
            <a:fld id="{4B98C7A5-8BC7-4521-8311-6C122FAF99E4}" type="slidenum">
              <a:rPr lang="id-ID"/>
              <a:pPr>
                <a:defRPr/>
              </a:pPr>
              <a:t>‹#›</a:t>
            </a:fld>
            <a:endParaRPr lang="id-ID"/>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2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ü"/>
        <a:defRPr sz="2000">
          <a:solidFill>
            <a:schemeClr val="tx1"/>
          </a:solidFill>
          <a:latin typeface="+mn-lt"/>
        </a:defRPr>
      </a:lvl3pPr>
      <a:lvl4pPr marL="1600200" indent="-228600" algn="l" rtl="0" eaLnBrk="0" fontAlgn="base" hangingPunct="0">
        <a:spcBef>
          <a:spcPct val="20000"/>
        </a:spcBef>
        <a:spcAft>
          <a:spcPct val="0"/>
        </a:spcAft>
        <a:buFont typeface="Arial" charset="0"/>
        <a:buChar char="–"/>
        <a:defRPr>
          <a:solidFill>
            <a:schemeClr val="tx1"/>
          </a:solidFill>
          <a:latin typeface="+mn-lt"/>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defRPr>
      </a:lvl5pPr>
      <a:lvl6pPr marL="2514600" indent="-228600" algn="l" rtl="0" fontAlgn="base">
        <a:spcBef>
          <a:spcPct val="20000"/>
        </a:spcBef>
        <a:spcAft>
          <a:spcPct val="0"/>
        </a:spcAft>
        <a:buFont typeface="Arial" charset="0"/>
        <a:buChar char="»"/>
        <a:defRPr sz="1600">
          <a:solidFill>
            <a:schemeClr val="tx1"/>
          </a:solidFill>
          <a:latin typeface="+mn-lt"/>
        </a:defRPr>
      </a:lvl6pPr>
      <a:lvl7pPr marL="2971800" indent="-228600" algn="l" rtl="0" fontAlgn="base">
        <a:spcBef>
          <a:spcPct val="20000"/>
        </a:spcBef>
        <a:spcAft>
          <a:spcPct val="0"/>
        </a:spcAft>
        <a:buFont typeface="Arial" charset="0"/>
        <a:buChar char="»"/>
        <a:defRPr sz="1600">
          <a:solidFill>
            <a:schemeClr val="tx1"/>
          </a:solidFill>
          <a:latin typeface="+mn-lt"/>
        </a:defRPr>
      </a:lvl7pPr>
      <a:lvl8pPr marL="3429000" indent="-228600" algn="l" rtl="0" fontAlgn="base">
        <a:spcBef>
          <a:spcPct val="20000"/>
        </a:spcBef>
        <a:spcAft>
          <a:spcPct val="0"/>
        </a:spcAft>
        <a:buFont typeface="Arial" charset="0"/>
        <a:buChar char="»"/>
        <a:defRPr sz="1600">
          <a:solidFill>
            <a:schemeClr val="tx1"/>
          </a:solidFill>
          <a:latin typeface="+mn-lt"/>
        </a:defRPr>
      </a:lvl8pPr>
      <a:lvl9pPr marL="3886200" indent="-228600" algn="l" rtl="0" fontAlgn="base">
        <a:spcBef>
          <a:spcPct val="20000"/>
        </a:spcBef>
        <a:spcAft>
          <a:spcPct val="0"/>
        </a:spcAft>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19.pn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11"/>
          <p:cNvSpPr>
            <a:spLocks noGrp="1"/>
          </p:cNvSpPr>
          <p:nvPr>
            <p:ph type="ctrTitle"/>
          </p:nvPr>
        </p:nvSpPr>
        <p:spPr>
          <a:xfrm>
            <a:off x="179388" y="4545013"/>
            <a:ext cx="8856662" cy="1603375"/>
          </a:xfrm>
        </p:spPr>
        <p:txBody>
          <a:bodyPr/>
          <a:lstStyle/>
          <a:p>
            <a:pPr>
              <a:defRPr/>
            </a:pPr>
            <a:r>
              <a:rPr lang="en-US" sz="3200" smtClean="0">
                <a:effectLst>
                  <a:outerShdw blurRad="38100" dist="38100" dir="2700000" algn="tl">
                    <a:srgbClr val="C0C0C0"/>
                  </a:outerShdw>
                </a:effectLst>
              </a:rPr>
              <a:t>Chapter 15</a:t>
            </a:r>
            <a:br>
              <a:rPr lang="en-US" sz="3200" smtClean="0">
                <a:effectLst>
                  <a:outerShdw blurRad="38100" dist="38100" dir="2700000" algn="tl">
                    <a:srgbClr val="C0C0C0"/>
                  </a:outerShdw>
                </a:effectLst>
              </a:rPr>
            </a:br>
            <a:r>
              <a:rPr lang="en-US" sz="3100" b="0" smtClean="0">
                <a:effectLst>
                  <a:outerShdw blurRad="38100" dist="38100" dir="2700000" algn="tl">
                    <a:srgbClr val="C0C0C0"/>
                  </a:outerShdw>
                </a:effectLst>
              </a:rPr>
              <a:t>Monopolistic Competition and </a:t>
            </a:r>
            <a:br>
              <a:rPr lang="en-US" sz="3100" b="0" smtClean="0">
                <a:effectLst>
                  <a:outerShdw blurRad="38100" dist="38100" dir="2700000" algn="tl">
                    <a:srgbClr val="C0C0C0"/>
                  </a:outerShdw>
                </a:effectLst>
              </a:rPr>
            </a:br>
            <a:r>
              <a:rPr lang="en-US" sz="3100" b="0" smtClean="0">
                <a:effectLst>
                  <a:outerShdw blurRad="38100" dist="38100" dir="2700000" algn="tl">
                    <a:srgbClr val="C0C0C0"/>
                  </a:outerShdw>
                </a:effectLst>
              </a:rPr>
              <a:t>Product Differentiation</a:t>
            </a:r>
            <a:br>
              <a:rPr lang="en-US" sz="3100" b="0" smtClean="0">
                <a:effectLst>
                  <a:outerShdw blurRad="38100" dist="38100" dir="2700000" algn="tl">
                    <a:srgbClr val="C0C0C0"/>
                  </a:outerShdw>
                </a:effectLst>
              </a:rPr>
            </a:br>
            <a:r>
              <a:rPr lang="en-US" sz="3100" b="0" smtClean="0">
                <a:effectLst>
                  <a:outerShdw blurRad="38100" dist="38100" dir="2700000" algn="tl">
                    <a:srgbClr val="C0C0C0"/>
                  </a:outerShdw>
                </a:effectLst>
              </a:rPr>
              <a:t> </a:t>
            </a:r>
          </a:p>
        </p:txBody>
      </p:sp>
      <p:sp>
        <p:nvSpPr>
          <p:cNvPr id="27650" name="Text Box 8"/>
          <p:cNvSpPr txBox="1">
            <a:spLocks noChangeArrowheads="1"/>
          </p:cNvSpPr>
          <p:nvPr/>
        </p:nvSpPr>
        <p:spPr bwMode="auto">
          <a:xfrm>
            <a:off x="0" y="2438400"/>
            <a:ext cx="914400" cy="758825"/>
          </a:xfrm>
          <a:prstGeom prst="rect">
            <a:avLst/>
          </a:prstGeom>
          <a:noFill/>
          <a:ln w="9525">
            <a:noFill/>
            <a:miter lim="800000"/>
            <a:headEnd/>
            <a:tailEnd type="none" w="med" len="lg"/>
          </a:ln>
        </p:spPr>
        <p:txBody>
          <a:bodyPr anchor="ctr" anchorCtr="1"/>
          <a:lstStyle/>
          <a:p>
            <a:pPr marL="1588" indent="-1588" algn="ctr"/>
            <a:r>
              <a:rPr lang="en-US" sz="4000" b="1">
                <a:solidFill>
                  <a:srgbClr val="993366"/>
                </a:solidFill>
                <a:latin typeface="Bookman Old Style" pitchFamily="18" charset="0"/>
              </a:rPr>
              <a:t>&gt;&gt;</a:t>
            </a:r>
          </a:p>
        </p:txBody>
      </p:sp>
      <p:sp>
        <p:nvSpPr>
          <p:cNvPr id="5" name="Content Placeholder 7"/>
          <p:cNvSpPr txBox="1">
            <a:spLocks/>
          </p:cNvSpPr>
          <p:nvPr/>
        </p:nvSpPr>
        <p:spPr>
          <a:xfrm>
            <a:off x="4435475" y="-1588"/>
            <a:ext cx="4708525" cy="4114801"/>
          </a:xfrm>
          <a:prstGeom prst="rect">
            <a:avLst/>
          </a:prstGeom>
          <a:solidFill>
            <a:schemeClr val="accent4">
              <a:lumMod val="75000"/>
            </a:schemeClr>
          </a:solidFill>
        </p:spPr>
        <p:txBody>
          <a:bodyPr/>
          <a:lstStyle/>
          <a:p>
            <a:pPr lvl="1" algn="r" eaLnBrk="0" hangingPunct="0">
              <a:spcBef>
                <a:spcPct val="20000"/>
              </a:spcBef>
              <a:buFont typeface="Wingdings" pitchFamily="2" charset="2"/>
              <a:buNone/>
              <a:defRPr/>
            </a:pPr>
            <a:r>
              <a:rPr lang="en-US" sz="3200">
                <a:solidFill>
                  <a:srgbClr val="F79646"/>
                </a:solidFill>
              </a:rPr>
              <a:t>THIRD EDITION</a:t>
            </a:r>
          </a:p>
          <a:p>
            <a:pPr lvl="1" algn="r" eaLnBrk="0" hangingPunct="0">
              <a:spcBef>
                <a:spcPct val="20000"/>
              </a:spcBef>
              <a:buFont typeface="Wingdings" pitchFamily="2" charset="2"/>
              <a:buNone/>
              <a:defRPr/>
            </a:pPr>
            <a:endParaRPr lang="en-US" sz="3200" b="1">
              <a:solidFill>
                <a:schemeClr val="bg1"/>
              </a:solidFill>
            </a:endParaRPr>
          </a:p>
          <a:p>
            <a:pPr lvl="1" algn="r" eaLnBrk="0" hangingPunct="0">
              <a:spcBef>
                <a:spcPct val="20000"/>
              </a:spcBef>
              <a:buFont typeface="Wingdings" pitchFamily="2" charset="2"/>
              <a:buNone/>
              <a:defRPr/>
            </a:pPr>
            <a:r>
              <a:rPr lang="en-US" sz="3800" b="1">
                <a:solidFill>
                  <a:schemeClr val="bg1"/>
                </a:solidFill>
                <a:effectLst>
                  <a:outerShdw blurRad="38100" dist="38100" dir="2700000" algn="tl">
                    <a:srgbClr val="000000"/>
                  </a:outerShdw>
                </a:effectLst>
              </a:rPr>
              <a:t>MICROECONOMICS</a:t>
            </a:r>
            <a:r>
              <a:rPr lang="en-US" sz="3900" b="1">
                <a:solidFill>
                  <a:schemeClr val="bg1"/>
                </a:solidFill>
                <a:effectLst>
                  <a:outerShdw blurRad="38100" dist="38100" dir="2700000" algn="tl">
                    <a:srgbClr val="000000"/>
                  </a:outerShdw>
                </a:effectLst>
              </a:rPr>
              <a:t/>
            </a:r>
            <a:br>
              <a:rPr lang="en-US" sz="3900" b="1">
                <a:solidFill>
                  <a:schemeClr val="bg1"/>
                </a:solidFill>
                <a:effectLst>
                  <a:outerShdw blurRad="38100" dist="38100" dir="2700000" algn="tl">
                    <a:srgbClr val="000000"/>
                  </a:outerShdw>
                </a:effectLst>
              </a:rPr>
            </a:br>
            <a:r>
              <a:rPr lang="en-US" sz="2400">
                <a:solidFill>
                  <a:schemeClr val="bg1"/>
                </a:solidFill>
              </a:rPr>
              <a:t>Paul Krugman | Robin Wells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Content Placeholder 4"/>
          <p:cNvSpPr>
            <a:spLocks noGrp="1"/>
          </p:cNvSpPr>
          <p:nvPr>
            <p:ph sz="half" idx="4294967295"/>
          </p:nvPr>
        </p:nvSpPr>
        <p:spPr>
          <a:xfrm>
            <a:off x="3286125" y="428625"/>
            <a:ext cx="5572125" cy="5857875"/>
          </a:xfrm>
        </p:spPr>
        <p:txBody>
          <a:bodyPr/>
          <a:lstStyle/>
          <a:p>
            <a:r>
              <a:rPr lang="en-US" dirty="0" smtClean="0"/>
              <a:t>The meaning of monopolistic competition </a:t>
            </a:r>
          </a:p>
          <a:p>
            <a:r>
              <a:rPr lang="en-US" dirty="0" smtClean="0"/>
              <a:t>Why </a:t>
            </a:r>
            <a:r>
              <a:rPr lang="en-US" dirty="0" err="1" smtClean="0"/>
              <a:t>oligopolists</a:t>
            </a:r>
            <a:r>
              <a:rPr lang="en-US" dirty="0" smtClean="0"/>
              <a:t> and monopolistically competitive firms differentiate their products </a:t>
            </a:r>
          </a:p>
          <a:p>
            <a:r>
              <a:rPr lang="en-US" dirty="0" smtClean="0"/>
              <a:t>How prices and profits are determined in monopolistic competition in the short run and the long run </a:t>
            </a:r>
          </a:p>
          <a:p>
            <a:r>
              <a:rPr lang="en-US" dirty="0" smtClean="0"/>
              <a:t>Why monopolistic competition poses a trade-off between lower prices and greater product diversity</a:t>
            </a:r>
          </a:p>
          <a:p>
            <a:r>
              <a:rPr lang="en-US" dirty="0" smtClean="0"/>
              <a:t>The economic significance of advertising and brand names</a:t>
            </a:r>
          </a:p>
          <a:p>
            <a:endParaRPr lang="id-ID" dirty="0"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1.bp.blogspot.com/-87y6f-bwUQ0/UKFuRWdXSgI/AAAAAAAAAMA/6xKf6tm5Ljg/s1600/Untitl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528" y="882057"/>
            <a:ext cx="6938010" cy="5509260"/>
          </a:xfrm>
          <a:prstGeom prst="rect">
            <a:avLst/>
          </a:prstGeom>
          <a:noFill/>
          <a:extLst>
            <a:ext uri="{909E8E84-426E-40DD-AFC4-6F175D3DCCD1}">
              <a14:hiddenFill xmlns:a14="http://schemas.microsoft.com/office/drawing/2010/main">
                <a:solidFill>
                  <a:srgbClr val="FFFFFF"/>
                </a:solidFill>
              </a14:hiddenFill>
            </a:ext>
          </a:extLst>
        </p:spPr>
      </p:pic>
      <p:sp>
        <p:nvSpPr>
          <p:cNvPr id="81922" name="Rectangle 2"/>
          <p:cNvSpPr>
            <a:spLocks noGrp="1" noRot="1" noChangeArrowheads="1"/>
          </p:cNvSpPr>
          <p:nvPr>
            <p:ph type="title" idx="4294967295"/>
          </p:nvPr>
        </p:nvSpPr>
        <p:spPr>
          <a:xfrm>
            <a:off x="827088" y="0"/>
            <a:ext cx="8083550" cy="685800"/>
          </a:xfrm>
        </p:spPr>
        <p:txBody>
          <a:bodyPr/>
          <a:lstStyle/>
          <a:p>
            <a:pPr>
              <a:defRPr/>
            </a:pPr>
            <a:r>
              <a:rPr lang="en-US" dirty="0" smtClean="0"/>
              <a:t>Four Market Structures</a:t>
            </a:r>
            <a:endParaRPr lang="en-US" b="0" dirty="0" smtClean="0"/>
          </a:p>
        </p:txBody>
      </p:sp>
      <p:cxnSp>
        <p:nvCxnSpPr>
          <p:cNvPr id="31747" name="Straight Arrow Connector 7"/>
          <p:cNvCxnSpPr>
            <a:cxnSpLocks noChangeShapeType="1"/>
          </p:cNvCxnSpPr>
          <p:nvPr/>
        </p:nvCxnSpPr>
        <p:spPr bwMode="auto">
          <a:xfrm flipH="1">
            <a:off x="935596" y="1268760"/>
            <a:ext cx="7704856" cy="0"/>
          </a:xfrm>
          <a:prstGeom prst="straightConnector1">
            <a:avLst/>
          </a:prstGeom>
          <a:noFill/>
          <a:ln w="57150" algn="ctr">
            <a:solidFill>
              <a:schemeClr val="tx1"/>
            </a:solidFill>
            <a:round/>
            <a:headEnd type="arrow" w="med" len="med"/>
            <a:tailEnd type="arrow" w="med" len="med"/>
          </a:ln>
        </p:spPr>
      </p:cxnSp>
      <p:sp>
        <p:nvSpPr>
          <p:cNvPr id="31749" name="TextBox 19"/>
          <p:cNvSpPr txBox="1">
            <a:spLocks noChangeArrowheads="1"/>
          </p:cNvSpPr>
          <p:nvPr/>
        </p:nvSpPr>
        <p:spPr bwMode="auto">
          <a:xfrm>
            <a:off x="1290529" y="800708"/>
            <a:ext cx="6938009" cy="396875"/>
          </a:xfrm>
          <a:prstGeom prst="rect">
            <a:avLst/>
          </a:prstGeom>
          <a:solidFill>
            <a:schemeClr val="bg1">
              <a:lumMod val="95000"/>
            </a:schemeClr>
          </a:solidFill>
          <a:ln w="9525">
            <a:noFill/>
            <a:miter lim="800000"/>
            <a:headEnd/>
            <a:tailEnd/>
          </a:ln>
        </p:spPr>
        <p:txBody>
          <a:bodyPr wrap="square">
            <a:spAutoFit/>
          </a:bodyPr>
          <a:lstStyle/>
          <a:p>
            <a:r>
              <a:rPr lang="en-US" sz="2000" b="1" dirty="0" smtClean="0"/>
              <a:t>     More </a:t>
            </a:r>
            <a:r>
              <a:rPr lang="en-US" sz="2000" b="1" dirty="0"/>
              <a:t>competition  			 </a:t>
            </a:r>
            <a:r>
              <a:rPr lang="en-US" sz="2000" b="1" dirty="0" smtClean="0"/>
              <a:t>      Less </a:t>
            </a:r>
            <a:r>
              <a:rPr lang="en-US" sz="2000" b="1" dirty="0"/>
              <a:t>competition</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rrowheads="1"/>
          </p:cNvSpPr>
          <p:nvPr>
            <p:ph type="title" idx="4294967295"/>
          </p:nvPr>
        </p:nvSpPr>
        <p:spPr>
          <a:xfrm>
            <a:off x="827088" y="0"/>
            <a:ext cx="8083550" cy="685800"/>
          </a:xfrm>
        </p:spPr>
        <p:txBody>
          <a:bodyPr/>
          <a:lstStyle/>
          <a:p>
            <a:pPr>
              <a:defRPr/>
            </a:pPr>
            <a:r>
              <a:rPr lang="en-US" dirty="0" smtClean="0"/>
              <a:t>The Meaning of Monopolistic Competition</a:t>
            </a:r>
            <a:endParaRPr lang="en-US" b="0" dirty="0" smtClean="0"/>
          </a:p>
        </p:txBody>
      </p:sp>
      <p:sp>
        <p:nvSpPr>
          <p:cNvPr id="31746" name="Text Box 3"/>
          <p:cNvSpPr txBox="1">
            <a:spLocks noChangeArrowheads="1"/>
          </p:cNvSpPr>
          <p:nvPr/>
        </p:nvSpPr>
        <p:spPr bwMode="auto">
          <a:xfrm>
            <a:off x="719138" y="3105150"/>
            <a:ext cx="8154987" cy="3060700"/>
          </a:xfrm>
          <a:prstGeom prst="rect">
            <a:avLst/>
          </a:prstGeom>
          <a:noFill/>
          <a:ln w="9525" algn="ctr">
            <a:noFill/>
            <a:miter lim="800000"/>
            <a:headEnd/>
            <a:tailEnd type="none" w="med" len="lg"/>
          </a:ln>
        </p:spPr>
        <p:txBody>
          <a:bodyPr/>
          <a:lstStyle/>
          <a:p>
            <a:pPr marL="1588" indent="-1588"/>
            <a:r>
              <a:rPr lang="en-US" sz="2400" b="1"/>
              <a:t>Monopolistic competition </a:t>
            </a:r>
            <a:r>
              <a:rPr lang="en-US" sz="2400"/>
              <a:t>is a market structure in which</a:t>
            </a:r>
          </a:p>
          <a:p>
            <a:pPr marL="1588" indent="-1588"/>
            <a:endParaRPr lang="en-US" sz="2400"/>
          </a:p>
          <a:p>
            <a:pPr marL="746125" lvl="1" indent="-285750">
              <a:buClr>
                <a:schemeClr val="tx1"/>
              </a:buClr>
              <a:buFont typeface="Wingdings" pitchFamily="2" charset="2"/>
              <a:buChar char="§"/>
            </a:pPr>
            <a:r>
              <a:rPr lang="en-US" sz="2400"/>
              <a:t>There are </a:t>
            </a:r>
            <a:r>
              <a:rPr lang="en-US" sz="2400" b="1" i="1"/>
              <a:t>many</a:t>
            </a:r>
            <a:r>
              <a:rPr lang="en-US" sz="2400"/>
              <a:t> competing producers in an industry</a:t>
            </a:r>
          </a:p>
          <a:p>
            <a:pPr marL="746125" lvl="1" indent="-285750">
              <a:buClr>
                <a:schemeClr val="tx1"/>
              </a:buClr>
              <a:buFont typeface="Wingdings" pitchFamily="2" charset="2"/>
              <a:buChar char="§"/>
            </a:pPr>
            <a:r>
              <a:rPr lang="en-US" sz="2400"/>
              <a:t>Each producer sells a </a:t>
            </a:r>
            <a:r>
              <a:rPr lang="en-US" sz="2400" b="1" i="1"/>
              <a:t>differentiated product</a:t>
            </a:r>
            <a:endParaRPr lang="en-US" sz="2400"/>
          </a:p>
          <a:p>
            <a:pPr marL="1143000" lvl="2" indent="-228600">
              <a:buClr>
                <a:schemeClr val="tx1"/>
              </a:buClr>
              <a:buFont typeface="Wingdings" pitchFamily="2" charset="2"/>
              <a:buChar char="§"/>
            </a:pPr>
            <a:r>
              <a:rPr lang="en-US" sz="2400"/>
              <a:t>firms face a </a:t>
            </a:r>
            <a:r>
              <a:rPr lang="en-US" sz="2400" b="1" i="1"/>
              <a:t>downward sloping demand </a:t>
            </a:r>
            <a:r>
              <a:rPr lang="en-US" sz="2400"/>
              <a:t>curve</a:t>
            </a:r>
          </a:p>
          <a:p>
            <a:pPr marL="1143000" lvl="2" indent="-228600">
              <a:buClr>
                <a:schemeClr val="tx1"/>
              </a:buClr>
              <a:buFont typeface="Wingdings" pitchFamily="2" charset="2"/>
              <a:buChar char="§"/>
            </a:pPr>
            <a:r>
              <a:rPr lang="en-US" sz="2400"/>
              <a:t>firms are not price takers</a:t>
            </a:r>
          </a:p>
          <a:p>
            <a:pPr marL="746125" lvl="1" indent="-285750">
              <a:buClr>
                <a:schemeClr val="tx1"/>
              </a:buClr>
              <a:buFont typeface="Wingdings" pitchFamily="2" charset="2"/>
              <a:buChar char="§"/>
            </a:pPr>
            <a:r>
              <a:rPr lang="en-US" sz="2400"/>
              <a:t>The industry has </a:t>
            </a:r>
            <a:r>
              <a:rPr lang="en-US" sz="2400" b="1" i="1"/>
              <a:t>free entry and exit</a:t>
            </a:r>
            <a:r>
              <a:rPr lang="en-US" sz="2400"/>
              <a:t>  in the long run</a:t>
            </a:r>
          </a:p>
          <a:p>
            <a:pPr marL="1143000" lvl="2" indent="-228600">
              <a:buClr>
                <a:schemeClr val="tx1"/>
              </a:buClr>
              <a:buFont typeface="Wingdings" pitchFamily="2" charset="2"/>
              <a:buChar char="§"/>
            </a:pPr>
            <a:r>
              <a:rPr lang="en-US" sz="2400"/>
              <a:t>firms make zero economic profit in the long run</a:t>
            </a:r>
          </a:p>
        </p:txBody>
      </p:sp>
      <p:cxnSp>
        <p:nvCxnSpPr>
          <p:cNvPr id="31747" name="Straight Arrow Connector 7"/>
          <p:cNvCxnSpPr>
            <a:cxnSpLocks noChangeShapeType="1"/>
          </p:cNvCxnSpPr>
          <p:nvPr/>
        </p:nvCxnSpPr>
        <p:spPr bwMode="auto">
          <a:xfrm>
            <a:off x="900113" y="1952625"/>
            <a:ext cx="7920037" cy="0"/>
          </a:xfrm>
          <a:prstGeom prst="straightConnector1">
            <a:avLst/>
          </a:prstGeom>
          <a:noFill/>
          <a:ln w="57150" algn="ctr">
            <a:solidFill>
              <a:schemeClr val="tx1"/>
            </a:solidFill>
            <a:round/>
            <a:headEnd type="oval" w="med" len="med"/>
            <a:tailEnd type="arrow" w="med" len="med"/>
          </a:ln>
        </p:spPr>
      </p:cxnSp>
      <p:sp>
        <p:nvSpPr>
          <p:cNvPr id="31748" name="TextBox 17"/>
          <p:cNvSpPr txBox="1">
            <a:spLocks noChangeArrowheads="1"/>
          </p:cNvSpPr>
          <p:nvPr/>
        </p:nvSpPr>
        <p:spPr bwMode="auto">
          <a:xfrm>
            <a:off x="611188" y="1089025"/>
            <a:ext cx="3455987" cy="701675"/>
          </a:xfrm>
          <a:prstGeom prst="rect">
            <a:avLst/>
          </a:prstGeom>
          <a:noFill/>
          <a:ln w="9525">
            <a:noFill/>
            <a:miter lim="800000"/>
            <a:headEnd/>
            <a:tailEnd/>
          </a:ln>
        </p:spPr>
        <p:txBody>
          <a:bodyPr>
            <a:spAutoFit/>
          </a:bodyPr>
          <a:lstStyle/>
          <a:p>
            <a:r>
              <a:rPr lang="en-US" sz="2000" b="1"/>
              <a:t>Perfect competition</a:t>
            </a:r>
          </a:p>
          <a:p>
            <a:r>
              <a:rPr lang="en-US" sz="2000"/>
              <a:t>(Perfectly elastic firm demand)</a:t>
            </a:r>
          </a:p>
        </p:txBody>
      </p:sp>
      <p:sp>
        <p:nvSpPr>
          <p:cNvPr id="31749" name="TextBox 19"/>
          <p:cNvSpPr txBox="1">
            <a:spLocks noChangeArrowheads="1"/>
          </p:cNvSpPr>
          <p:nvPr/>
        </p:nvSpPr>
        <p:spPr bwMode="auto">
          <a:xfrm>
            <a:off x="5364163" y="873125"/>
            <a:ext cx="3132137" cy="396875"/>
          </a:xfrm>
          <a:prstGeom prst="rect">
            <a:avLst/>
          </a:prstGeom>
          <a:noFill/>
          <a:ln w="9525">
            <a:noFill/>
            <a:miter lim="800000"/>
            <a:headEnd/>
            <a:tailEnd/>
          </a:ln>
        </p:spPr>
        <p:txBody>
          <a:bodyPr>
            <a:spAutoFit/>
          </a:bodyPr>
          <a:lstStyle/>
          <a:p>
            <a:r>
              <a:rPr lang="en-US" sz="2000" b="1"/>
              <a:t>Monopolistic competition</a:t>
            </a:r>
          </a:p>
        </p:txBody>
      </p:sp>
      <p:sp>
        <p:nvSpPr>
          <p:cNvPr id="24" name="TextBox 23"/>
          <p:cNvSpPr txBox="1">
            <a:spLocks noChangeArrowheads="1"/>
          </p:cNvSpPr>
          <p:nvPr/>
        </p:nvSpPr>
        <p:spPr bwMode="auto">
          <a:xfrm>
            <a:off x="1655763" y="1989138"/>
            <a:ext cx="6877050" cy="641350"/>
          </a:xfrm>
          <a:prstGeom prst="rect">
            <a:avLst/>
          </a:prstGeom>
          <a:noFill/>
          <a:ln w="9525">
            <a:noFill/>
            <a:miter lim="800000"/>
            <a:headEnd/>
            <a:tailEnd/>
          </a:ln>
        </p:spPr>
        <p:txBody>
          <a:bodyPr>
            <a:spAutoFit/>
          </a:bodyPr>
          <a:lstStyle/>
          <a:p>
            <a:r>
              <a:rPr lang="en-US" b="1">
                <a:solidFill>
                  <a:srgbClr val="E46C0A"/>
                </a:solidFill>
              </a:rPr>
              <a:t>More competition				Less competition</a:t>
            </a:r>
          </a:p>
          <a:p>
            <a:r>
              <a:rPr lang="en-US" b="1">
                <a:solidFill>
                  <a:srgbClr val="E46C0A"/>
                </a:solidFill>
              </a:rPr>
              <a:t>(less price control)				(more price control)</a:t>
            </a:r>
          </a:p>
        </p:txBody>
      </p:sp>
      <p:sp>
        <p:nvSpPr>
          <p:cNvPr id="2" name="TextBox 23"/>
          <p:cNvSpPr txBox="1">
            <a:spLocks noChangeArrowheads="1"/>
          </p:cNvSpPr>
          <p:nvPr/>
        </p:nvSpPr>
        <p:spPr bwMode="auto">
          <a:xfrm>
            <a:off x="5508625" y="1201738"/>
            <a:ext cx="3494088" cy="701675"/>
          </a:xfrm>
          <a:prstGeom prst="rect">
            <a:avLst/>
          </a:prstGeom>
          <a:noFill/>
          <a:ln w="9525">
            <a:noFill/>
            <a:miter lim="800000"/>
            <a:headEnd/>
            <a:tailEnd/>
          </a:ln>
        </p:spPr>
        <p:txBody>
          <a:bodyPr>
            <a:spAutoFit/>
          </a:bodyPr>
          <a:lstStyle/>
          <a:p>
            <a:r>
              <a:rPr lang="en-US" sz="2000" b="1">
                <a:solidFill>
                  <a:schemeClr val="tx2"/>
                </a:solidFill>
              </a:rPr>
              <a:t>More Product Differentiation</a:t>
            </a:r>
          </a:p>
          <a:p>
            <a:r>
              <a:rPr lang="en-US" sz="2000">
                <a:solidFill>
                  <a:schemeClr val="tx2"/>
                </a:solidFill>
              </a:rPr>
              <a:t>(lower elasticity of demand)</a:t>
            </a:r>
          </a:p>
        </p:txBody>
      </p:sp>
    </p:spTree>
    <p:extLst>
      <p:ext uri="{BB962C8B-B14F-4D97-AF65-F5344CB8AC3E}">
        <p14:creationId xmlns:p14="http://schemas.microsoft.com/office/powerpoint/2010/main" val="15972954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idx="4294967295"/>
          </p:nvPr>
        </p:nvSpPr>
        <p:spPr>
          <a:xfrm>
            <a:off x="900113" y="68263"/>
            <a:ext cx="8027987" cy="533400"/>
          </a:xfrm>
        </p:spPr>
        <p:txBody>
          <a:bodyPr/>
          <a:lstStyle/>
          <a:p>
            <a:pPr>
              <a:defRPr/>
            </a:pPr>
            <a:r>
              <a:rPr lang="en-US" dirty="0" smtClean="0"/>
              <a:t>Product Differentiation</a:t>
            </a:r>
            <a:endParaRPr lang="en-US" b="0" dirty="0" smtClean="0"/>
          </a:p>
        </p:txBody>
      </p:sp>
      <p:sp>
        <p:nvSpPr>
          <p:cNvPr id="82947" name="Text Box 3"/>
          <p:cNvSpPr txBox="1">
            <a:spLocks noChangeArrowheads="1"/>
          </p:cNvSpPr>
          <p:nvPr/>
        </p:nvSpPr>
        <p:spPr bwMode="auto">
          <a:xfrm>
            <a:off x="900113" y="990600"/>
            <a:ext cx="8015287" cy="4656138"/>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Product differentiation is important to oligopolies. </a:t>
            </a:r>
          </a:p>
          <a:p>
            <a:pPr marL="688975" lvl="1" indent="-231775">
              <a:buClr>
                <a:schemeClr val="tx1"/>
              </a:buClr>
              <a:buFont typeface="Arial" charset="0"/>
              <a:buChar char="•"/>
            </a:pPr>
            <a:r>
              <a:rPr lang="en-US" sz="2400"/>
              <a:t>It reduces competition and allows higher profits.</a:t>
            </a:r>
          </a:p>
          <a:p>
            <a:pPr marL="231775" indent="-231775">
              <a:buClr>
                <a:schemeClr val="tx1"/>
              </a:buClr>
              <a:buFont typeface="Arial" charset="0"/>
              <a:buChar char="•"/>
            </a:pPr>
            <a:endParaRPr lang="en-US" sz="2400"/>
          </a:p>
          <a:p>
            <a:pPr marL="231775" indent="-231775">
              <a:buClr>
                <a:schemeClr val="tx1"/>
              </a:buClr>
              <a:buFont typeface="Arial" charset="0"/>
              <a:buChar char="•"/>
            </a:pPr>
            <a:r>
              <a:rPr lang="en-US" sz="2400"/>
              <a:t>Product differentiation plays an even more crucial role in monopolistically competitive industries. </a:t>
            </a:r>
          </a:p>
          <a:p>
            <a:pPr marL="231775" indent="-231775">
              <a:lnSpc>
                <a:spcPct val="50000"/>
              </a:lnSpc>
              <a:buClr>
                <a:schemeClr val="tx1"/>
              </a:buClr>
              <a:buFont typeface="Arial" charset="0"/>
              <a:buChar char="•"/>
            </a:pPr>
            <a:endParaRPr lang="en-US" sz="2400"/>
          </a:p>
          <a:p>
            <a:pPr marL="688975" lvl="1" indent="-231775">
              <a:spcAft>
                <a:spcPct val="50000"/>
              </a:spcAft>
              <a:buClr>
                <a:schemeClr val="tx1"/>
              </a:buClr>
              <a:buFont typeface="Arial" charset="0"/>
              <a:buNone/>
            </a:pPr>
            <a:r>
              <a:rPr lang="en-US" sz="2400"/>
              <a:t>Why?</a:t>
            </a:r>
          </a:p>
          <a:p>
            <a:pPr marL="688975" lvl="1" indent="-231775">
              <a:spcAft>
                <a:spcPct val="50000"/>
              </a:spcAft>
              <a:buClr>
                <a:schemeClr val="tx1"/>
              </a:buClr>
              <a:buFont typeface="Wingdings" pitchFamily="2" charset="2"/>
              <a:buChar char="§"/>
            </a:pPr>
            <a:r>
              <a:rPr lang="en-US" sz="2400"/>
              <a:t>Collusion or tacit cooperation is virtually impossible when there are many producers. </a:t>
            </a:r>
          </a:p>
          <a:p>
            <a:pPr marL="688975" lvl="1" indent="-231775">
              <a:buClr>
                <a:schemeClr val="tx1"/>
              </a:buClr>
              <a:buFont typeface="Wingdings" pitchFamily="2" charset="2"/>
              <a:buChar char="§"/>
            </a:pPr>
            <a:r>
              <a:rPr lang="en-US" sz="2400"/>
              <a:t>Hence, product differentiation is the only way monopolistically competitive firms can acquire some market power and avoid zero profits.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2947">
                                            <p:txEl>
                                              <p:pRg st="5" end="5"/>
                                            </p:txEl>
                                          </p:spTgt>
                                        </p:tgtEl>
                                        <p:attrNameLst>
                                          <p:attrName>style.visibility</p:attrName>
                                        </p:attrNameLst>
                                      </p:cBhvr>
                                      <p:to>
                                        <p:strVal val="visible"/>
                                      </p:to>
                                    </p:set>
                                    <p:animEffect transition="in" filter="wipe(left)">
                                      <p:cBhvr>
                                        <p:cTn id="7" dur="500"/>
                                        <p:tgtEl>
                                          <p:spTgt spid="82947">
                                            <p:txEl>
                                              <p:pRg st="5" end="5"/>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2947">
                                            <p:txEl>
                                              <p:pRg st="6" end="6"/>
                                            </p:txEl>
                                          </p:spTgt>
                                        </p:tgtEl>
                                        <p:attrNameLst>
                                          <p:attrName>style.visibility</p:attrName>
                                        </p:attrNameLst>
                                      </p:cBhvr>
                                      <p:to>
                                        <p:strVal val="visible"/>
                                      </p:to>
                                    </p:set>
                                    <p:animEffect transition="in" filter="wipe(left)">
                                      <p:cBhvr>
                                        <p:cTn id="11" dur="500"/>
                                        <p:tgtEl>
                                          <p:spTgt spid="82947">
                                            <p:txEl>
                                              <p:pRg st="6" end="6"/>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2947">
                                            <p:txEl>
                                              <p:pRg st="7" end="7"/>
                                            </p:txEl>
                                          </p:spTgt>
                                        </p:tgtEl>
                                        <p:attrNameLst>
                                          <p:attrName>style.visibility</p:attrName>
                                        </p:attrNameLst>
                                      </p:cBhvr>
                                      <p:to>
                                        <p:strVal val="visible"/>
                                      </p:to>
                                    </p:set>
                                    <p:animEffect transition="in" filter="wipe(left)">
                                      <p:cBhvr>
                                        <p:cTn id="15" dur="500"/>
                                        <p:tgtEl>
                                          <p:spTgt spid="829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idx="4294967295"/>
          </p:nvPr>
        </p:nvSpPr>
        <p:spPr>
          <a:xfrm>
            <a:off x="900113" y="188913"/>
            <a:ext cx="8015287" cy="344487"/>
          </a:xfrm>
        </p:spPr>
        <p:txBody>
          <a:bodyPr/>
          <a:lstStyle/>
          <a:p>
            <a:pPr>
              <a:defRPr/>
            </a:pPr>
            <a:r>
              <a:rPr lang="en-US" dirty="0" smtClean="0"/>
              <a:t>Product Differentiation</a:t>
            </a:r>
            <a:endParaRPr lang="en-US" b="0" dirty="0" smtClean="0"/>
          </a:p>
        </p:txBody>
      </p:sp>
      <p:sp>
        <p:nvSpPr>
          <p:cNvPr id="82947" name="Text Box 3"/>
          <p:cNvSpPr txBox="1">
            <a:spLocks noChangeArrowheads="1"/>
          </p:cNvSpPr>
          <p:nvPr/>
        </p:nvSpPr>
        <p:spPr bwMode="auto">
          <a:xfrm>
            <a:off x="755650" y="873125"/>
            <a:ext cx="8159750" cy="2647950"/>
          </a:xfrm>
          <a:prstGeom prst="rect">
            <a:avLst/>
          </a:prstGeom>
          <a:noFill/>
          <a:ln w="9525" algn="ctr">
            <a:noFill/>
            <a:miter lim="800000"/>
            <a:headEnd/>
            <a:tailEnd type="none" w="med" len="lg"/>
          </a:ln>
        </p:spPr>
        <p:txBody>
          <a:bodyPr>
            <a:spAutoFit/>
          </a:bodyPr>
          <a:lstStyle/>
          <a:p>
            <a:pPr marL="231775" indent="-231775">
              <a:buClr>
                <a:schemeClr val="tx1"/>
              </a:buClr>
              <a:buFont typeface="Arial" charset="0"/>
              <a:buChar char="•"/>
            </a:pPr>
            <a:r>
              <a:rPr lang="en-US" sz="2400"/>
              <a:t>How do firms in the same industry—such as fast-food vendors, gas stations, or chocolate companies—differentiate their products?</a:t>
            </a:r>
          </a:p>
          <a:p>
            <a:pPr marL="231775" indent="-231775">
              <a:buClr>
                <a:schemeClr val="tx1"/>
              </a:buClr>
            </a:pPr>
            <a:endParaRPr lang="en-US" sz="2400"/>
          </a:p>
          <a:p>
            <a:pPr marL="231775" indent="-231775">
              <a:buClr>
                <a:schemeClr val="tx1"/>
              </a:buClr>
            </a:pPr>
            <a:r>
              <a:rPr lang="en-US" sz="2400"/>
              <a:t>Is the difference mainly in </a:t>
            </a:r>
            <a:br>
              <a:rPr lang="en-US" sz="2400"/>
            </a:br>
            <a:r>
              <a:rPr lang="en-US" sz="2400"/>
              <a:t>the minds of consumers or </a:t>
            </a:r>
            <a:br>
              <a:rPr lang="en-US" sz="2400"/>
            </a:br>
            <a:r>
              <a:rPr lang="en-US" sz="2400"/>
              <a:t>in the products themselves?</a:t>
            </a:r>
          </a:p>
        </p:txBody>
      </p:sp>
      <p:pic>
        <p:nvPicPr>
          <p:cNvPr id="35843" name="Picture 10"/>
          <p:cNvPicPr>
            <a:picLocks noChangeAspect="1" noChangeArrowheads="1"/>
          </p:cNvPicPr>
          <p:nvPr/>
        </p:nvPicPr>
        <p:blipFill>
          <a:blip r:embed="rId3"/>
          <a:srcRect/>
          <a:stretch>
            <a:fillRect/>
          </a:stretch>
        </p:blipFill>
        <p:spPr bwMode="auto">
          <a:xfrm>
            <a:off x="4392613" y="1736725"/>
            <a:ext cx="2378075" cy="1235075"/>
          </a:xfrm>
          <a:prstGeom prst="rect">
            <a:avLst/>
          </a:prstGeom>
          <a:noFill/>
          <a:ln w="9525">
            <a:noFill/>
            <a:miter lim="800000"/>
            <a:headEnd/>
            <a:tailEnd/>
          </a:ln>
        </p:spPr>
      </p:pic>
      <p:pic>
        <p:nvPicPr>
          <p:cNvPr id="35844" name="Picture 11"/>
          <p:cNvPicPr>
            <a:picLocks noChangeAspect="1" noChangeArrowheads="1"/>
          </p:cNvPicPr>
          <p:nvPr/>
        </p:nvPicPr>
        <p:blipFill>
          <a:blip r:embed="rId4"/>
          <a:srcRect/>
          <a:stretch>
            <a:fillRect/>
          </a:stretch>
        </p:blipFill>
        <p:spPr bwMode="auto">
          <a:xfrm>
            <a:off x="6804025" y="1808163"/>
            <a:ext cx="1897063" cy="1546225"/>
          </a:xfrm>
          <a:prstGeom prst="rect">
            <a:avLst/>
          </a:prstGeom>
          <a:noFill/>
          <a:ln w="9525">
            <a:noFill/>
            <a:miter lim="800000"/>
            <a:headEnd/>
            <a:tailEnd/>
          </a:ln>
        </p:spPr>
      </p:pic>
      <p:pic>
        <p:nvPicPr>
          <p:cNvPr id="35845" name="Picture 12"/>
          <p:cNvPicPr>
            <a:picLocks noChangeAspect="1" noChangeArrowheads="1"/>
          </p:cNvPicPr>
          <p:nvPr/>
        </p:nvPicPr>
        <p:blipFill>
          <a:blip r:embed="rId5"/>
          <a:srcRect/>
          <a:stretch>
            <a:fillRect/>
          </a:stretch>
        </p:blipFill>
        <p:spPr bwMode="auto">
          <a:xfrm>
            <a:off x="6877050" y="4329113"/>
            <a:ext cx="2111375" cy="2286000"/>
          </a:xfrm>
          <a:prstGeom prst="rect">
            <a:avLst/>
          </a:prstGeom>
          <a:noFill/>
          <a:ln w="9525">
            <a:noFill/>
            <a:miter lim="800000"/>
            <a:headEnd/>
            <a:tailEnd/>
          </a:ln>
        </p:spPr>
      </p:pic>
      <p:pic>
        <p:nvPicPr>
          <p:cNvPr id="35846" name="Picture 14"/>
          <p:cNvPicPr>
            <a:picLocks noChangeAspect="1" noChangeArrowheads="1"/>
          </p:cNvPicPr>
          <p:nvPr/>
        </p:nvPicPr>
        <p:blipFill>
          <a:blip r:embed="rId6"/>
          <a:srcRect/>
          <a:stretch>
            <a:fillRect/>
          </a:stretch>
        </p:blipFill>
        <p:spPr bwMode="auto">
          <a:xfrm>
            <a:off x="4140200" y="3824288"/>
            <a:ext cx="3232150" cy="2352675"/>
          </a:xfrm>
          <a:prstGeom prst="rect">
            <a:avLst/>
          </a:prstGeom>
          <a:noFill/>
          <a:ln w="9525">
            <a:noFill/>
            <a:miter lim="800000"/>
            <a:headEnd/>
            <a:tailEnd/>
          </a:ln>
        </p:spPr>
      </p:pic>
      <p:pic>
        <p:nvPicPr>
          <p:cNvPr id="35847" name="Picture 16"/>
          <p:cNvPicPr>
            <a:picLocks noChangeAspect="1" noChangeArrowheads="1"/>
          </p:cNvPicPr>
          <p:nvPr/>
        </p:nvPicPr>
        <p:blipFill>
          <a:blip r:embed="rId7"/>
          <a:srcRect/>
          <a:stretch>
            <a:fillRect/>
          </a:stretch>
        </p:blipFill>
        <p:spPr bwMode="auto">
          <a:xfrm>
            <a:off x="2087563" y="4581525"/>
            <a:ext cx="2735262" cy="2116138"/>
          </a:xfrm>
          <a:prstGeom prst="rect">
            <a:avLst/>
          </a:prstGeom>
          <a:noFill/>
          <a:ln w="9525">
            <a:noFill/>
            <a:miter lim="800000"/>
            <a:headEnd/>
            <a:tailEnd/>
          </a:ln>
        </p:spPr>
      </p:pic>
      <p:pic>
        <p:nvPicPr>
          <p:cNvPr id="35848" name="Picture 15"/>
          <p:cNvPicPr>
            <a:picLocks noChangeAspect="1" noChangeArrowheads="1"/>
          </p:cNvPicPr>
          <p:nvPr/>
        </p:nvPicPr>
        <p:blipFill>
          <a:blip r:embed="rId8"/>
          <a:srcRect/>
          <a:stretch>
            <a:fillRect/>
          </a:stretch>
        </p:blipFill>
        <p:spPr bwMode="auto">
          <a:xfrm>
            <a:off x="596900" y="3752850"/>
            <a:ext cx="2606675" cy="14478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2947">
                                            <p:txEl>
                                              <p:pRg st="2" end="2"/>
                                            </p:txEl>
                                          </p:spTgt>
                                        </p:tgtEl>
                                        <p:attrNameLst>
                                          <p:attrName>style.visibility</p:attrName>
                                        </p:attrNameLst>
                                      </p:cBhvr>
                                      <p:to>
                                        <p:strVal val="visible"/>
                                      </p:to>
                                    </p:set>
                                    <p:animEffect transition="in" filter="wipe(left)">
                                      <p:cBhvr>
                                        <p:cTn id="7" dur="1000"/>
                                        <p:tgtEl>
                                          <p:spTgt spid="829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ext Box 3"/>
          <p:cNvSpPr txBox="1">
            <a:spLocks noChangeArrowheads="1"/>
          </p:cNvSpPr>
          <p:nvPr/>
        </p:nvSpPr>
        <p:spPr bwMode="auto">
          <a:xfrm>
            <a:off x="719138" y="765175"/>
            <a:ext cx="7740650" cy="5472113"/>
          </a:xfrm>
          <a:prstGeom prst="rect">
            <a:avLst/>
          </a:prstGeom>
          <a:noFill/>
          <a:ln w="9525" algn="ctr">
            <a:noFill/>
            <a:miter lim="800000"/>
            <a:headEnd/>
            <a:tailEnd type="none" w="med" len="lg"/>
          </a:ln>
        </p:spPr>
        <p:txBody>
          <a:bodyPr/>
          <a:lstStyle/>
          <a:p>
            <a:pPr marL="1588" indent="-1588"/>
            <a:r>
              <a:rPr lang="en-US" sz="2400"/>
              <a:t>There are three important forms of product differentiation:</a:t>
            </a:r>
          </a:p>
          <a:p>
            <a:pPr marL="1588" indent="-1588"/>
            <a:r>
              <a:rPr lang="en-US" sz="2400"/>
              <a:t> </a:t>
            </a:r>
          </a:p>
          <a:p>
            <a:pPr marL="914400" lvl="1" indent="-457200">
              <a:buClr>
                <a:schemeClr val="tx1"/>
              </a:buClr>
              <a:buFontTx/>
              <a:buAutoNum type="arabicParenR"/>
            </a:pPr>
            <a:r>
              <a:rPr lang="en-US" sz="2400"/>
              <a:t>Differentiation by style or type – sedans vs. SUVs</a:t>
            </a:r>
          </a:p>
          <a:p>
            <a:pPr marL="914400" lvl="1" indent="-457200">
              <a:buClr>
                <a:schemeClr val="tx1"/>
              </a:buClr>
              <a:buFontTx/>
              <a:buAutoNum type="arabicParenR"/>
            </a:pPr>
            <a:endParaRPr lang="en-US"/>
          </a:p>
          <a:p>
            <a:pPr marL="914400" lvl="1" indent="-457200">
              <a:buClr>
                <a:schemeClr val="tx1"/>
              </a:buClr>
            </a:pPr>
            <a:r>
              <a:rPr lang="en-US" sz="2400"/>
              <a:t>2) 	Differentiation by location – dry cleaner near home vs. cheaper dry cleaner far away</a:t>
            </a:r>
          </a:p>
          <a:p>
            <a:pPr marL="914400" lvl="1" indent="-457200">
              <a:buClr>
                <a:schemeClr val="tx1"/>
              </a:buClr>
            </a:pPr>
            <a:endParaRPr lang="en-US"/>
          </a:p>
          <a:p>
            <a:pPr marL="914400" lvl="1" indent="-457200">
              <a:buClr>
                <a:schemeClr val="tx1"/>
              </a:buClr>
            </a:pPr>
            <a:r>
              <a:rPr lang="en-US" sz="2400"/>
              <a:t>3)	Differentiation by quality – ordinary chocolate ($) vs. gourmet chocolate ($$$)</a:t>
            </a:r>
          </a:p>
        </p:txBody>
      </p:sp>
      <p:sp>
        <p:nvSpPr>
          <p:cNvPr id="706566" name="Title 6"/>
          <p:cNvSpPr>
            <a:spLocks noGrp="1"/>
          </p:cNvSpPr>
          <p:nvPr>
            <p:ph type="title" idx="4294967295"/>
          </p:nvPr>
        </p:nvSpPr>
        <p:spPr>
          <a:xfrm>
            <a:off x="900113" y="80963"/>
            <a:ext cx="8012112" cy="547687"/>
          </a:xfrm>
        </p:spPr>
        <p:txBody>
          <a:bodyPr/>
          <a:lstStyle/>
          <a:p>
            <a:pPr>
              <a:defRPr/>
            </a:pPr>
            <a:r>
              <a:rPr lang="en-US" dirty="0" smtClean="0"/>
              <a:t>Product Differentiation</a:t>
            </a:r>
          </a:p>
        </p:txBody>
      </p:sp>
      <p:grpSp>
        <p:nvGrpSpPr>
          <p:cNvPr id="92164" name="Group 4"/>
          <p:cNvGrpSpPr>
            <a:grpSpLocks/>
          </p:cNvGrpSpPr>
          <p:nvPr/>
        </p:nvGrpSpPr>
        <p:grpSpPr bwMode="auto">
          <a:xfrm>
            <a:off x="3887788" y="4106863"/>
            <a:ext cx="4954587" cy="2635250"/>
            <a:chOff x="2336" y="1230"/>
            <a:chExt cx="3121" cy="1660"/>
          </a:xfrm>
        </p:grpSpPr>
        <p:pic>
          <p:nvPicPr>
            <p:cNvPr id="37892" name="Picture 5"/>
            <p:cNvPicPr>
              <a:picLocks noChangeAspect="1" noChangeArrowheads="1"/>
            </p:cNvPicPr>
            <p:nvPr/>
          </p:nvPicPr>
          <p:blipFill>
            <a:blip r:embed="rId3"/>
            <a:srcRect/>
            <a:stretch>
              <a:fillRect/>
            </a:stretch>
          </p:blipFill>
          <p:spPr bwMode="auto">
            <a:xfrm>
              <a:off x="3242" y="1638"/>
              <a:ext cx="1056" cy="936"/>
            </a:xfrm>
            <a:prstGeom prst="rect">
              <a:avLst/>
            </a:prstGeom>
            <a:noFill/>
            <a:ln w="9525">
              <a:noFill/>
              <a:miter lim="800000"/>
              <a:headEnd/>
              <a:tailEnd/>
            </a:ln>
          </p:spPr>
        </p:pic>
        <p:pic>
          <p:nvPicPr>
            <p:cNvPr id="37893" name="Picture 6"/>
            <p:cNvPicPr>
              <a:picLocks noChangeAspect="1" noChangeArrowheads="1"/>
            </p:cNvPicPr>
            <p:nvPr/>
          </p:nvPicPr>
          <p:blipFill>
            <a:blip r:embed="rId4"/>
            <a:srcRect/>
            <a:stretch>
              <a:fillRect/>
            </a:stretch>
          </p:blipFill>
          <p:spPr bwMode="auto">
            <a:xfrm>
              <a:off x="4150" y="2183"/>
              <a:ext cx="1294" cy="707"/>
            </a:xfrm>
            <a:prstGeom prst="rect">
              <a:avLst/>
            </a:prstGeom>
            <a:noFill/>
            <a:ln w="9525">
              <a:noFill/>
              <a:miter lim="800000"/>
              <a:headEnd/>
              <a:tailEnd/>
            </a:ln>
          </p:spPr>
        </p:pic>
        <p:pic>
          <p:nvPicPr>
            <p:cNvPr id="37894" name="Picture 7"/>
            <p:cNvPicPr>
              <a:picLocks noChangeAspect="1" noChangeArrowheads="1"/>
            </p:cNvPicPr>
            <p:nvPr/>
          </p:nvPicPr>
          <p:blipFill>
            <a:blip r:embed="rId5"/>
            <a:srcRect/>
            <a:stretch>
              <a:fillRect/>
            </a:stretch>
          </p:blipFill>
          <p:spPr bwMode="auto">
            <a:xfrm>
              <a:off x="2336" y="1230"/>
              <a:ext cx="1200" cy="658"/>
            </a:xfrm>
            <a:prstGeom prst="rect">
              <a:avLst/>
            </a:prstGeom>
            <a:noFill/>
            <a:ln w="9525">
              <a:noFill/>
              <a:miter lim="800000"/>
              <a:headEnd/>
              <a:tailEnd/>
            </a:ln>
          </p:spPr>
        </p:pic>
        <p:pic>
          <p:nvPicPr>
            <p:cNvPr id="37895" name="Picture 8"/>
            <p:cNvPicPr>
              <a:picLocks noChangeAspect="1" noChangeArrowheads="1"/>
            </p:cNvPicPr>
            <p:nvPr/>
          </p:nvPicPr>
          <p:blipFill>
            <a:blip r:embed="rId6"/>
            <a:srcRect/>
            <a:stretch>
              <a:fillRect/>
            </a:stretch>
          </p:blipFill>
          <p:spPr bwMode="auto">
            <a:xfrm>
              <a:off x="4377" y="1344"/>
              <a:ext cx="1080" cy="629"/>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ipe(down)">
                                      <p:cBhvr>
                                        <p:cTn id="7" dur="5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rrowheads="1"/>
          </p:cNvSpPr>
          <p:nvPr>
            <p:ph type="title" idx="4294967295"/>
          </p:nvPr>
        </p:nvSpPr>
        <p:spPr>
          <a:xfrm>
            <a:off x="827088" y="115888"/>
            <a:ext cx="8088312" cy="381000"/>
          </a:xfrm>
        </p:spPr>
        <p:txBody>
          <a:bodyPr/>
          <a:lstStyle/>
          <a:p>
            <a:pPr>
              <a:defRPr/>
            </a:pPr>
            <a:r>
              <a:rPr lang="en-US" dirty="0" smtClean="0"/>
              <a:t>Product Differentiation</a:t>
            </a:r>
          </a:p>
        </p:txBody>
      </p:sp>
      <p:sp>
        <p:nvSpPr>
          <p:cNvPr id="84995" name="Text Box 3"/>
          <p:cNvSpPr txBox="1">
            <a:spLocks noChangeArrowheads="1"/>
          </p:cNvSpPr>
          <p:nvPr/>
        </p:nvSpPr>
        <p:spPr bwMode="auto">
          <a:xfrm>
            <a:off x="792163" y="765175"/>
            <a:ext cx="8015287" cy="3743325"/>
          </a:xfrm>
          <a:prstGeom prst="rect">
            <a:avLst/>
          </a:prstGeom>
          <a:noFill/>
          <a:ln w="9525" algn="ctr">
            <a:noFill/>
            <a:miter lim="800000"/>
            <a:headEnd/>
            <a:tailEnd type="none" w="med" len="lg"/>
          </a:ln>
        </p:spPr>
        <p:txBody>
          <a:bodyPr>
            <a:spAutoFit/>
          </a:bodyPr>
          <a:lstStyle/>
          <a:p>
            <a:pPr marL="1588" indent="-1588"/>
            <a:r>
              <a:rPr lang="en-US" sz="2400"/>
              <a:t>Whatever form it takes, however, there are two important features of industries with differentiated products: </a:t>
            </a:r>
          </a:p>
          <a:p>
            <a:pPr marL="1588" indent="-1588"/>
            <a:endParaRPr lang="en-US" sz="2400"/>
          </a:p>
          <a:p>
            <a:pPr marL="742950" lvl="1" indent="-285750">
              <a:buClr>
                <a:schemeClr val="tx1"/>
              </a:buClr>
              <a:buFont typeface="Wingdings" pitchFamily="2" charset="2"/>
              <a:buChar char="§"/>
            </a:pPr>
            <a:r>
              <a:rPr lang="en-US" sz="2400" b="1" i="1"/>
              <a:t>Competition among sellers</a:t>
            </a:r>
            <a:r>
              <a:rPr lang="en-US" sz="2400" i="1"/>
              <a:t>: </a:t>
            </a:r>
            <a:r>
              <a:rPr lang="en-US" sz="2400"/>
              <a:t>Producers compete for the same market, so entry by more producers reduces the quantity each existing producer sells at any given price.</a:t>
            </a:r>
          </a:p>
          <a:p>
            <a:pPr marL="742950" lvl="1" indent="-285750">
              <a:buClr>
                <a:schemeClr val="tx1"/>
              </a:buClr>
            </a:pPr>
            <a:r>
              <a:rPr lang="en-US" sz="2400"/>
              <a:t> </a:t>
            </a:r>
          </a:p>
          <a:p>
            <a:pPr marL="742950" lvl="1" indent="-285750">
              <a:buClr>
                <a:schemeClr val="tx1"/>
              </a:buClr>
              <a:buFont typeface="Wingdings" pitchFamily="2" charset="2"/>
              <a:buChar char="§"/>
            </a:pPr>
            <a:r>
              <a:rPr lang="en-US" sz="2400" b="1" i="1"/>
              <a:t>Value in diversity</a:t>
            </a:r>
            <a:r>
              <a:rPr lang="en-US" sz="2400"/>
              <a:t>: In addition, consumers gain from the increased diversity of products.</a:t>
            </a:r>
          </a:p>
          <a:p>
            <a:pPr marL="1588" indent="-1588"/>
            <a:endParaRPr lang="en-US" sz="2400"/>
          </a:p>
        </p:txBody>
      </p:sp>
      <p:pic>
        <p:nvPicPr>
          <p:cNvPr id="6146" name="Picture 2"/>
          <p:cNvPicPr>
            <a:picLocks noChangeAspect="1" noChangeArrowheads="1"/>
          </p:cNvPicPr>
          <p:nvPr/>
        </p:nvPicPr>
        <p:blipFill rotWithShape="1">
          <a:blip r:embed="rId3"/>
          <a:srcRect/>
          <a:stretch/>
        </p:blipFill>
        <p:spPr bwMode="auto">
          <a:xfrm>
            <a:off x="4859338" y="4365625"/>
            <a:ext cx="1289050" cy="1981200"/>
          </a:xfrm>
          <a:prstGeom prst="rect">
            <a:avLst/>
          </a:prstGeom>
          <a:ln>
            <a:noFill/>
          </a:ln>
          <a:effectLst>
            <a:outerShdw blurRad="292100" dist="139700" dir="2700000" algn="tl" rotWithShape="0">
              <a:srgbClr val="333333">
                <a:alpha val="65000"/>
              </a:srgbClr>
            </a:outerShdw>
          </a:effectLst>
          <a:extLst/>
        </p:spPr>
      </p:pic>
      <p:pic>
        <p:nvPicPr>
          <p:cNvPr id="6148" name="Picture 4"/>
          <p:cNvPicPr>
            <a:picLocks noChangeAspect="1" noChangeArrowheads="1"/>
          </p:cNvPicPr>
          <p:nvPr/>
        </p:nvPicPr>
        <p:blipFill rotWithShape="1">
          <a:blip r:embed="rId4"/>
          <a:srcRect/>
          <a:stretch/>
        </p:blipFill>
        <p:spPr bwMode="auto">
          <a:xfrm>
            <a:off x="7056438" y="4508500"/>
            <a:ext cx="1550987" cy="1984375"/>
          </a:xfrm>
          <a:prstGeom prst="rect">
            <a:avLst/>
          </a:prstGeom>
          <a:ln>
            <a:noFill/>
          </a:ln>
          <a:effectLst>
            <a:outerShdw blurRad="292100" dist="139700" dir="2700000" algn="tl" rotWithShape="0">
              <a:srgbClr val="333333">
                <a:alpha val="65000"/>
              </a:srgbClr>
            </a:outerShdw>
          </a:effectLst>
          <a:extLst/>
        </p:spPr>
      </p:pic>
      <p:sp>
        <p:nvSpPr>
          <p:cNvPr id="39941" name="TextBox 4"/>
          <p:cNvSpPr txBox="1">
            <a:spLocks noChangeArrowheads="1"/>
          </p:cNvSpPr>
          <p:nvPr/>
        </p:nvSpPr>
        <p:spPr bwMode="auto">
          <a:xfrm>
            <a:off x="719138" y="6273800"/>
            <a:ext cx="5832475" cy="457200"/>
          </a:xfrm>
          <a:prstGeom prst="rect">
            <a:avLst/>
          </a:prstGeom>
          <a:solidFill>
            <a:srgbClr val="92D050"/>
          </a:solidFill>
          <a:ln w="9525">
            <a:noFill/>
            <a:miter lim="800000"/>
            <a:headEnd/>
            <a:tailEnd/>
          </a:ln>
        </p:spPr>
        <p:txBody>
          <a:bodyPr>
            <a:spAutoFit/>
          </a:bodyPr>
          <a:lstStyle/>
          <a:p>
            <a:pPr algn="ctr"/>
            <a:r>
              <a:rPr lang="en-US" sz="2400" b="1">
                <a:latin typeface="Candara" pitchFamily="34" charset="0"/>
              </a:rPr>
              <a:t>Restaurants: monopolistic competitors</a:t>
            </a:r>
          </a:p>
        </p:txBody>
      </p:sp>
      <p:pic>
        <p:nvPicPr>
          <p:cNvPr id="39942" name="Picture 9"/>
          <p:cNvPicPr>
            <a:picLocks noChangeAspect="1" noChangeArrowheads="1"/>
          </p:cNvPicPr>
          <p:nvPr/>
        </p:nvPicPr>
        <p:blipFill>
          <a:blip r:embed="rId5"/>
          <a:srcRect/>
          <a:stretch>
            <a:fillRect/>
          </a:stretch>
        </p:blipFill>
        <p:spPr bwMode="auto">
          <a:xfrm>
            <a:off x="1331913" y="4400550"/>
            <a:ext cx="2562225" cy="176212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4995">
                                            <p:txEl>
                                              <p:pRg st="2" end="2"/>
                                            </p:txEl>
                                          </p:spTgt>
                                        </p:tgtEl>
                                        <p:attrNameLst>
                                          <p:attrName>style.visibility</p:attrName>
                                        </p:attrNameLst>
                                      </p:cBhvr>
                                      <p:to>
                                        <p:strVal val="visible"/>
                                      </p:to>
                                    </p:set>
                                    <p:animEffect transition="in" filter="wipe(left)">
                                      <p:cBhvr>
                                        <p:cTn id="7" dur="500"/>
                                        <p:tgtEl>
                                          <p:spTgt spid="8499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4995">
                                            <p:txEl>
                                              <p:pRg st="4" end="4"/>
                                            </p:txEl>
                                          </p:spTgt>
                                        </p:tgtEl>
                                        <p:attrNameLst>
                                          <p:attrName>style.visibility</p:attrName>
                                        </p:attrNameLst>
                                      </p:cBhvr>
                                      <p:to>
                                        <p:strVal val="visible"/>
                                      </p:to>
                                    </p:set>
                                    <p:animEffect transition="in" filter="wipe(left)">
                                      <p:cBhvr>
                                        <p:cTn id="12" dur="500"/>
                                        <p:tgtEl>
                                          <p:spTgt spid="849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2"/>
          <p:cNvSpPr>
            <a:spLocks noGrp="1"/>
          </p:cNvSpPr>
          <p:nvPr>
            <p:ph type="title" idx="4294967295"/>
          </p:nvPr>
        </p:nvSpPr>
        <p:spPr bwMode="auto">
          <a:xfrm>
            <a:off x="827088" y="0"/>
            <a:ext cx="8066087" cy="584200"/>
          </a:xfrm>
          <a:noFill/>
        </p:spPr>
        <p:txBody>
          <a:bodyPr/>
          <a:lstStyle/>
          <a:p>
            <a:r>
              <a:rPr lang="en-US" smtClean="0">
                <a:effectLst/>
              </a:rPr>
              <a:t>Case Study: Any Color, So Long As It’s Black</a:t>
            </a:r>
          </a:p>
        </p:txBody>
      </p:sp>
      <p:sp>
        <p:nvSpPr>
          <p:cNvPr id="5" name="Content Placeholder 4"/>
          <p:cNvSpPr>
            <a:spLocks noGrp="1"/>
          </p:cNvSpPr>
          <p:nvPr>
            <p:ph idx="4294967295"/>
          </p:nvPr>
        </p:nvSpPr>
        <p:spPr>
          <a:xfrm>
            <a:off x="647700" y="2744788"/>
            <a:ext cx="5761038" cy="3924300"/>
          </a:xfrm>
          <a:solidFill>
            <a:schemeClr val="bg1">
              <a:alpha val="61960"/>
            </a:schemeClr>
          </a:solidFill>
        </p:spPr>
        <p:txBody>
          <a:bodyPr/>
          <a:lstStyle/>
          <a:p>
            <a:pPr marL="341313" indent="-334963"/>
            <a:r>
              <a:rPr lang="en-US" sz="2400" smtClean="0"/>
              <a:t>Ford’s strategy was to offer just one style of car, which maximized his economies of scale but made no concessions to differences in taste</a:t>
            </a:r>
            <a:r>
              <a:rPr lang="en-US" sz="2400" smtClean="0">
                <a:sym typeface="Wingdings" pitchFamily="2" charset="2"/>
              </a:rPr>
              <a:t>.</a:t>
            </a:r>
          </a:p>
          <a:p>
            <a:pPr marL="341313" indent="-334963"/>
            <a:r>
              <a:rPr lang="en-US" sz="2400" smtClean="0"/>
              <a:t>Alfred P. Sloan of General Motors (GM) challenged this strategy by offering a range of car types, differentiated by quality and price.</a:t>
            </a:r>
          </a:p>
          <a:p>
            <a:pPr marL="341313" indent="-334963"/>
            <a:r>
              <a:rPr lang="en-US" sz="2400" smtClean="0"/>
              <a:t>By the 1930s the verdict was clear: Customers preferred a range of styles!</a:t>
            </a:r>
          </a:p>
        </p:txBody>
      </p:sp>
      <p:sp>
        <p:nvSpPr>
          <p:cNvPr id="41987" name="Content Placeholder 4"/>
          <p:cNvSpPr>
            <a:spLocks/>
          </p:cNvSpPr>
          <p:nvPr/>
        </p:nvSpPr>
        <p:spPr bwMode="auto">
          <a:xfrm>
            <a:off x="647700" y="693738"/>
            <a:ext cx="8208963" cy="2014537"/>
          </a:xfrm>
          <a:prstGeom prst="rect">
            <a:avLst/>
          </a:prstGeom>
          <a:noFill/>
          <a:ln w="9525">
            <a:noFill/>
            <a:miter lim="800000"/>
            <a:headEnd/>
            <a:tailEnd/>
          </a:ln>
        </p:spPr>
        <p:txBody>
          <a:bodyPr/>
          <a:lstStyle/>
          <a:p>
            <a:pPr marL="341313" indent="-334963" eaLnBrk="0" hangingPunct="0">
              <a:spcBef>
                <a:spcPct val="20000"/>
              </a:spcBef>
              <a:buFont typeface="Arial" charset="0"/>
              <a:buChar char="•"/>
            </a:pPr>
            <a:r>
              <a:rPr lang="en-US" sz="2400"/>
              <a:t>In 1913, Henry Ford built the first moving assembly line for the mass production of cars, dramatically lowering the cost of production</a:t>
            </a:r>
          </a:p>
          <a:p>
            <a:pPr marL="742950" lvl="1" indent="-285750" eaLnBrk="0" hangingPunct="0">
              <a:spcBef>
                <a:spcPct val="20000"/>
              </a:spcBef>
              <a:buFont typeface="Wingdings" pitchFamily="2" charset="2"/>
              <a:buChar char="§"/>
            </a:pPr>
            <a:r>
              <a:rPr lang="en-US" sz="2200"/>
              <a:t>Cars became much more affordable</a:t>
            </a:r>
          </a:p>
          <a:p>
            <a:pPr marL="742950" lvl="1" indent="-285750" eaLnBrk="0" hangingPunct="0">
              <a:spcBef>
                <a:spcPct val="20000"/>
              </a:spcBef>
              <a:buFont typeface="Wingdings" pitchFamily="2" charset="2"/>
              <a:buChar char="§"/>
            </a:pPr>
            <a:r>
              <a:rPr lang="en-US" sz="2200"/>
              <a:t>Ford cars took over the market</a:t>
            </a:r>
          </a:p>
        </p:txBody>
      </p:sp>
      <p:pic>
        <p:nvPicPr>
          <p:cNvPr id="41988" name="Picture 7"/>
          <p:cNvPicPr>
            <a:picLocks noChangeAspect="1" noChangeArrowheads="1"/>
          </p:cNvPicPr>
          <p:nvPr/>
        </p:nvPicPr>
        <p:blipFill>
          <a:blip r:embed="rId3"/>
          <a:srcRect/>
          <a:stretch>
            <a:fillRect/>
          </a:stretch>
        </p:blipFill>
        <p:spPr bwMode="auto">
          <a:xfrm>
            <a:off x="6443663" y="1773238"/>
            <a:ext cx="2584450" cy="44338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rrowheads="1"/>
          </p:cNvSpPr>
          <p:nvPr>
            <p:ph type="title" idx="4294967295"/>
          </p:nvPr>
        </p:nvSpPr>
        <p:spPr>
          <a:xfrm>
            <a:off x="827088" y="0"/>
            <a:ext cx="8088312" cy="685800"/>
          </a:xfrm>
        </p:spPr>
        <p:txBody>
          <a:bodyPr/>
          <a:lstStyle/>
          <a:p>
            <a:pPr>
              <a:defRPr/>
            </a:pPr>
            <a:r>
              <a:rPr lang="en-US" sz="3300" dirty="0" smtClean="0"/>
              <a:t>Understanding Monopolistic Competition</a:t>
            </a:r>
            <a:endParaRPr lang="en-US" sz="3300" b="0" dirty="0" smtClean="0"/>
          </a:p>
        </p:txBody>
      </p:sp>
      <p:sp>
        <p:nvSpPr>
          <p:cNvPr id="44034" name="Text Box 3"/>
          <p:cNvSpPr txBox="1">
            <a:spLocks noChangeArrowheads="1"/>
          </p:cNvSpPr>
          <p:nvPr/>
        </p:nvSpPr>
        <p:spPr bwMode="auto">
          <a:xfrm>
            <a:off x="900113" y="927100"/>
            <a:ext cx="8015287" cy="5040313"/>
          </a:xfrm>
          <a:prstGeom prst="rect">
            <a:avLst/>
          </a:prstGeom>
          <a:noFill/>
          <a:ln w="9525" algn="ctr">
            <a:noFill/>
            <a:miter lim="800000"/>
            <a:headEnd/>
            <a:tailEnd type="none" w="med" len="lg"/>
          </a:ln>
        </p:spPr>
        <p:txBody>
          <a:bodyPr>
            <a:spAutoFit/>
          </a:bodyPr>
          <a:lstStyle/>
          <a:p>
            <a:pPr marL="1588" indent="-1588">
              <a:spcBef>
                <a:spcPct val="20000"/>
              </a:spcBef>
            </a:pPr>
            <a:r>
              <a:rPr lang="en-US" sz="2400"/>
              <a:t>As the term </a:t>
            </a:r>
            <a:r>
              <a:rPr lang="en-US" sz="2400" b="1" i="1"/>
              <a:t>monopolistic competition</a:t>
            </a:r>
            <a:r>
              <a:rPr lang="en-US" sz="2400" i="1"/>
              <a:t> </a:t>
            </a:r>
            <a:r>
              <a:rPr lang="en-US" sz="2400"/>
              <a:t>suggests, this market structure combines some features typical of monopoly with others typical of perfect competition:</a:t>
            </a:r>
            <a:br>
              <a:rPr lang="en-US" sz="2400"/>
            </a:br>
            <a:endParaRPr lang="en-US" sz="2400"/>
          </a:p>
          <a:p>
            <a:pPr marL="450850" lvl="1" indent="-285750">
              <a:spcBef>
                <a:spcPct val="20000"/>
              </a:spcBef>
              <a:buClr>
                <a:schemeClr val="tx1"/>
              </a:buClr>
              <a:buFont typeface="Wingdings" pitchFamily="2" charset="2"/>
              <a:buChar char="§"/>
            </a:pPr>
            <a:r>
              <a:rPr lang="en-US" sz="2400"/>
              <a:t>Because each firm is offering a distinct product, it is in a way like a monopolist: it faces a downward-sloping demand curve and has some market power—the ability within limits to determine the price of its product.</a:t>
            </a:r>
            <a:br>
              <a:rPr lang="en-US" sz="2400"/>
            </a:br>
            <a:endParaRPr lang="en-US" sz="2400"/>
          </a:p>
          <a:p>
            <a:pPr marL="450850" lvl="1" indent="-285750">
              <a:spcBef>
                <a:spcPct val="20000"/>
              </a:spcBef>
              <a:buClr>
                <a:schemeClr val="tx1"/>
              </a:buClr>
              <a:buFont typeface="Wingdings" pitchFamily="2" charset="2"/>
              <a:buChar char="§"/>
            </a:pPr>
            <a:r>
              <a:rPr lang="en-US" sz="2400"/>
              <a:t>However, unlike a pure monopolist, a monopolistically competitive firm does face competition: the amount of product it can sell depends on the prices and products offered by other firms in the industry.</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rrowheads="1"/>
          </p:cNvSpPr>
          <p:nvPr>
            <p:ph type="title" idx="4294967295"/>
          </p:nvPr>
        </p:nvSpPr>
        <p:spPr>
          <a:xfrm>
            <a:off x="900113" y="44450"/>
            <a:ext cx="8172450" cy="647700"/>
          </a:xfrm>
        </p:spPr>
        <p:txBody>
          <a:bodyPr/>
          <a:lstStyle/>
          <a:p>
            <a:pPr>
              <a:defRPr/>
            </a:pPr>
            <a:r>
              <a:rPr lang="en-US" smtClean="0">
                <a:effectLst>
                  <a:outerShdw blurRad="38100" dist="38100" dir="2700000" algn="tl">
                    <a:srgbClr val="C0C0C0"/>
                  </a:outerShdw>
                </a:effectLst>
              </a:rPr>
              <a:t>Monopolistic Competition in the Short Run</a:t>
            </a:r>
            <a:endParaRPr lang="en-US" b="0" smtClean="0">
              <a:effectLst>
                <a:outerShdw blurRad="38100" dist="38100" dir="2700000" algn="tl">
                  <a:srgbClr val="C0C0C0"/>
                </a:outerShdw>
              </a:effectLst>
            </a:endParaRPr>
          </a:p>
        </p:txBody>
      </p:sp>
      <p:sp>
        <p:nvSpPr>
          <p:cNvPr id="89091" name="Text Box 3"/>
          <p:cNvSpPr txBox="1">
            <a:spLocks noChangeArrowheads="1"/>
          </p:cNvSpPr>
          <p:nvPr/>
        </p:nvSpPr>
        <p:spPr bwMode="auto">
          <a:xfrm>
            <a:off x="971550" y="912813"/>
            <a:ext cx="7940675" cy="5411787"/>
          </a:xfrm>
          <a:prstGeom prst="rect">
            <a:avLst/>
          </a:prstGeom>
          <a:noFill/>
          <a:ln w="9525" algn="ctr">
            <a:noFill/>
            <a:miter lim="800000"/>
            <a:headEnd/>
            <a:tailEnd type="none" w="med" len="lg"/>
          </a:ln>
        </p:spPr>
        <p:txBody>
          <a:bodyPr/>
          <a:lstStyle/>
          <a:p>
            <a:pPr marL="1588" indent="-1588"/>
            <a:r>
              <a:rPr lang="en-US" sz="2400"/>
              <a:t>The following figure shows two possible situations that a typical firm in a monopolistically competitive industry might face </a:t>
            </a:r>
            <a:r>
              <a:rPr lang="en-US" sz="2400" b="1"/>
              <a:t>in the short run</a:t>
            </a:r>
            <a:r>
              <a:rPr lang="en-US" sz="2400"/>
              <a:t>.</a:t>
            </a:r>
            <a:br>
              <a:rPr lang="en-US" sz="2400"/>
            </a:br>
            <a:endParaRPr lang="en-US" sz="2400"/>
          </a:p>
          <a:p>
            <a:pPr marL="401638" lvl="1" indent="-285750">
              <a:buClr>
                <a:schemeClr val="tx1"/>
              </a:buClr>
              <a:buFont typeface="Wingdings" pitchFamily="2" charset="2"/>
              <a:buChar char="§"/>
            </a:pPr>
            <a:r>
              <a:rPr lang="en-US" sz="2400"/>
              <a:t>The firm may make a </a:t>
            </a:r>
            <a:r>
              <a:rPr lang="en-US" sz="2400" b="1" i="1">
                <a:solidFill>
                  <a:srgbClr val="008000"/>
                </a:solidFill>
              </a:rPr>
              <a:t>Profit </a:t>
            </a:r>
            <a:r>
              <a:rPr lang="en-US" sz="2400"/>
              <a:t>or a </a:t>
            </a:r>
            <a:r>
              <a:rPr lang="en-US" sz="2400" b="1" i="1">
                <a:solidFill>
                  <a:srgbClr val="800000"/>
                </a:solidFill>
              </a:rPr>
              <a:t>Loss</a:t>
            </a:r>
          </a:p>
          <a:p>
            <a:pPr marL="401638" lvl="1" indent="-285750">
              <a:buClr>
                <a:schemeClr val="tx1"/>
              </a:buClr>
              <a:buFont typeface="Wingdings" pitchFamily="2" charset="2"/>
              <a:buChar char="§"/>
            </a:pPr>
            <a:endParaRPr lang="en-US" sz="2400"/>
          </a:p>
          <a:p>
            <a:pPr marL="401638" lvl="1" indent="-285750">
              <a:spcAft>
                <a:spcPct val="25000"/>
              </a:spcAft>
              <a:buClr>
                <a:schemeClr val="tx1"/>
              </a:buClr>
              <a:buFont typeface="Wingdings" pitchFamily="2" charset="2"/>
              <a:buChar char="§"/>
            </a:pPr>
            <a:r>
              <a:rPr lang="en-US" sz="2400"/>
              <a:t>In each case, the firm looks like any monopolist: it faces a downward-sloping demand curve, which implies a downward-sloping marginal revenue curve.</a:t>
            </a:r>
          </a:p>
          <a:p>
            <a:pPr marL="1143000" lvl="2" indent="-228600">
              <a:buClr>
                <a:schemeClr val="tx1"/>
              </a:buClr>
              <a:buFont typeface="Wingdings" pitchFamily="2" charset="2"/>
              <a:buChar char="§"/>
            </a:pPr>
            <a:r>
              <a:rPr lang="en-US" sz="2400"/>
              <a:t>Choose profit maximizing quantity where </a:t>
            </a:r>
            <a:r>
              <a:rPr lang="en-US" sz="2400" b="1" i="1"/>
              <a:t>MC = MR</a:t>
            </a:r>
          </a:p>
          <a:p>
            <a:pPr marL="1143000" lvl="2" indent="-228600">
              <a:buClr>
                <a:schemeClr val="tx1"/>
              </a:buClr>
              <a:buFont typeface="Wingdings" pitchFamily="2" charset="2"/>
              <a:buChar char="§"/>
            </a:pPr>
            <a:endParaRPr lang="en-US" sz="2400"/>
          </a:p>
          <a:p>
            <a:pPr marL="401638" lvl="1" indent="-285750">
              <a:buClr>
                <a:schemeClr val="tx1"/>
              </a:buClr>
              <a:buFont typeface="Wingdings" pitchFamily="2" charset="2"/>
              <a:buChar char="§"/>
            </a:pPr>
            <a:r>
              <a:rPr lang="en-US" sz="2400"/>
              <a:t>We assume that every firm has an upward-sloping marginal cost curve, but that it also faces some fixed costs, so that its average total cost curve is U-shaped.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9091">
                                            <p:txEl>
                                              <p:pRg st="3" end="3"/>
                                            </p:txEl>
                                          </p:spTgt>
                                        </p:tgtEl>
                                        <p:attrNameLst>
                                          <p:attrName>style.visibility</p:attrName>
                                        </p:attrNameLst>
                                      </p:cBhvr>
                                      <p:to>
                                        <p:strVal val="visible"/>
                                      </p:to>
                                    </p:set>
                                    <p:animEffect transition="in" filter="wipe(left)">
                                      <p:cBhvr>
                                        <p:cTn id="7" dur="500"/>
                                        <p:tgtEl>
                                          <p:spTgt spid="89091">
                                            <p:txEl>
                                              <p:pRg st="3" end="3"/>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9091">
                                            <p:txEl>
                                              <p:pRg st="4" end="4"/>
                                            </p:txEl>
                                          </p:spTgt>
                                        </p:tgtEl>
                                        <p:attrNameLst>
                                          <p:attrName>style.visibility</p:attrName>
                                        </p:attrNameLst>
                                      </p:cBhvr>
                                      <p:to>
                                        <p:strVal val="visible"/>
                                      </p:to>
                                    </p:set>
                                    <p:animEffect transition="in" filter="wipe(left)">
                                      <p:cBhvr>
                                        <p:cTn id="11" dur="500"/>
                                        <p:tgtEl>
                                          <p:spTgt spid="89091">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9091">
                                            <p:txEl>
                                              <p:pRg st="6" end="6"/>
                                            </p:txEl>
                                          </p:spTgt>
                                        </p:tgtEl>
                                        <p:attrNameLst>
                                          <p:attrName>style.visibility</p:attrName>
                                        </p:attrNameLst>
                                      </p:cBhvr>
                                      <p:to>
                                        <p:strVal val="visible"/>
                                      </p:to>
                                    </p:set>
                                    <p:animEffect transition="in" filter="wipe(left)">
                                      <p:cBhvr>
                                        <p:cTn id="16" dur="500"/>
                                        <p:tgtEl>
                                          <p:spTgt spid="890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1"/>
          <p:cNvPicPr>
            <a:picLocks noChangeAspect="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3" name="Rectangle 3"/>
          <p:cNvSpPr>
            <a:spLocks noChangeArrowheads="1"/>
          </p:cNvSpPr>
          <p:nvPr/>
        </p:nvSpPr>
        <p:spPr bwMode="auto">
          <a:xfrm>
            <a:off x="5564188" y="3771900"/>
            <a:ext cx="984250" cy="214313"/>
          </a:xfrm>
          <a:prstGeom prst="rect">
            <a:avLst/>
          </a:prstGeom>
          <a:solidFill>
            <a:srgbClr val="FFE5B9"/>
          </a:solidFill>
          <a:ln w="9525">
            <a:noFill/>
            <a:miter lim="800000"/>
            <a:headEnd/>
            <a:tailEnd/>
          </a:ln>
        </p:spPr>
        <p:txBody>
          <a:bodyPr/>
          <a:lstStyle/>
          <a:p>
            <a:endParaRPr lang="en-US"/>
          </a:p>
        </p:txBody>
      </p:sp>
      <p:sp>
        <p:nvSpPr>
          <p:cNvPr id="4" name="Rectangle 4"/>
          <p:cNvSpPr>
            <a:spLocks noChangeArrowheads="1"/>
          </p:cNvSpPr>
          <p:nvPr/>
        </p:nvSpPr>
        <p:spPr bwMode="auto">
          <a:xfrm>
            <a:off x="958850" y="3487738"/>
            <a:ext cx="1371600" cy="606425"/>
          </a:xfrm>
          <a:prstGeom prst="rect">
            <a:avLst/>
          </a:prstGeom>
          <a:solidFill>
            <a:srgbClr val="D7EDE7"/>
          </a:solidFill>
          <a:ln w="9525">
            <a:noFill/>
            <a:miter lim="800000"/>
            <a:headEnd/>
            <a:tailEnd/>
          </a:ln>
        </p:spPr>
        <p:txBody>
          <a:bodyPr/>
          <a:lstStyle/>
          <a:p>
            <a:endParaRPr lang="en-US"/>
          </a:p>
        </p:txBody>
      </p:sp>
      <p:sp>
        <p:nvSpPr>
          <p:cNvPr id="48132" name="Rectangle 5"/>
          <p:cNvSpPr>
            <a:spLocks noChangeArrowheads="1"/>
          </p:cNvSpPr>
          <p:nvPr/>
        </p:nvSpPr>
        <p:spPr bwMode="auto">
          <a:xfrm>
            <a:off x="3902075" y="4772025"/>
            <a:ext cx="12858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48133" name="Rectangle 6"/>
          <p:cNvSpPr>
            <a:spLocks noChangeArrowheads="1"/>
          </p:cNvSpPr>
          <p:nvPr/>
        </p:nvSpPr>
        <p:spPr bwMode="auto">
          <a:xfrm>
            <a:off x="4021138" y="4879975"/>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7" name="Rectangle 7"/>
          <p:cNvSpPr>
            <a:spLocks noChangeArrowheads="1"/>
          </p:cNvSpPr>
          <p:nvPr/>
        </p:nvSpPr>
        <p:spPr bwMode="auto">
          <a:xfrm>
            <a:off x="1222375" y="3668713"/>
            <a:ext cx="41910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Profit</a:t>
            </a:r>
            <a:endParaRPr lang="en-US" sz="1400">
              <a:latin typeface="Tahoma" pitchFamily="34" charset="0"/>
            </a:endParaRPr>
          </a:p>
        </p:txBody>
      </p:sp>
      <p:sp>
        <p:nvSpPr>
          <p:cNvPr id="8" name="Rectangle 8"/>
          <p:cNvSpPr>
            <a:spLocks noChangeArrowheads="1"/>
          </p:cNvSpPr>
          <p:nvPr/>
        </p:nvSpPr>
        <p:spPr bwMode="auto">
          <a:xfrm>
            <a:off x="5613400" y="3779838"/>
            <a:ext cx="379413"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Loss</a:t>
            </a:r>
            <a:endParaRPr lang="en-US" sz="1400">
              <a:latin typeface="Tahoma" pitchFamily="34" charset="0"/>
            </a:endParaRPr>
          </a:p>
        </p:txBody>
      </p:sp>
      <p:sp>
        <p:nvSpPr>
          <p:cNvPr id="48136" name="Rectangle 9"/>
          <p:cNvSpPr>
            <a:spLocks noChangeArrowheads="1"/>
          </p:cNvSpPr>
          <p:nvPr/>
        </p:nvSpPr>
        <p:spPr bwMode="auto">
          <a:xfrm>
            <a:off x="2452688" y="5026025"/>
            <a:ext cx="2778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MR</a:t>
            </a:r>
            <a:endParaRPr lang="en-US" sz="1400" i="1">
              <a:latin typeface="Tahoma" pitchFamily="34" charset="0"/>
            </a:endParaRPr>
          </a:p>
        </p:txBody>
      </p:sp>
      <p:sp>
        <p:nvSpPr>
          <p:cNvPr id="48137" name="Rectangle 10"/>
          <p:cNvSpPr>
            <a:spLocks noChangeArrowheads="1"/>
          </p:cNvSpPr>
          <p:nvPr/>
        </p:nvSpPr>
        <p:spPr bwMode="auto">
          <a:xfrm>
            <a:off x="2690813" y="5133975"/>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48138" name="Rectangle 11"/>
          <p:cNvSpPr>
            <a:spLocks noChangeArrowheads="1"/>
          </p:cNvSpPr>
          <p:nvPr/>
        </p:nvSpPr>
        <p:spPr bwMode="auto">
          <a:xfrm>
            <a:off x="4211638" y="2852738"/>
            <a:ext cx="355600"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ATC</a:t>
            </a:r>
            <a:endParaRPr lang="en-US" sz="1400" i="1">
              <a:latin typeface="Tahoma" pitchFamily="34" charset="0"/>
            </a:endParaRPr>
          </a:p>
        </p:txBody>
      </p:sp>
      <p:sp>
        <p:nvSpPr>
          <p:cNvPr id="48139" name="Rectangle 14"/>
          <p:cNvSpPr>
            <a:spLocks noChangeArrowheads="1"/>
          </p:cNvSpPr>
          <p:nvPr/>
        </p:nvSpPr>
        <p:spPr bwMode="auto">
          <a:xfrm>
            <a:off x="2063750" y="1492250"/>
            <a:ext cx="1698625" cy="430213"/>
          </a:xfrm>
          <a:prstGeom prst="rect">
            <a:avLst/>
          </a:prstGeom>
          <a:noFill/>
          <a:ln w="9525">
            <a:noFill/>
            <a:miter lim="800000"/>
            <a:headEnd/>
            <a:tailEnd/>
          </a:ln>
        </p:spPr>
        <p:txBody>
          <a:bodyPr wrap="none" lIns="0" tIns="0" rIns="0" bIns="0" anchor="ctr">
            <a:spAutoFit/>
          </a:bodyPr>
          <a:lstStyle/>
          <a:p>
            <a:pPr marL="1588" indent="-1588" algn="ctr"/>
            <a:r>
              <a:rPr lang="en-US" sz="1400" b="1">
                <a:solidFill>
                  <a:srgbClr val="000000"/>
                </a:solidFill>
                <a:latin typeface="Myriad Roman"/>
              </a:rPr>
              <a:t>(a) A Profitable Firm</a:t>
            </a:r>
          </a:p>
          <a:p>
            <a:pPr marL="1588" indent="-1588" algn="ctr"/>
            <a:endParaRPr lang="en-US" sz="1400" b="1">
              <a:latin typeface="Tahoma" pitchFamily="34" charset="0"/>
            </a:endParaRPr>
          </a:p>
        </p:txBody>
      </p:sp>
      <p:sp>
        <p:nvSpPr>
          <p:cNvPr id="48140" name="Rectangle 15"/>
          <p:cNvSpPr>
            <a:spLocks noChangeArrowheads="1"/>
          </p:cNvSpPr>
          <p:nvPr/>
        </p:nvSpPr>
        <p:spPr bwMode="auto">
          <a:xfrm>
            <a:off x="6146800" y="1511300"/>
            <a:ext cx="2052638"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Roman"/>
              </a:rPr>
              <a:t>(b) An Unprofitable Firm</a:t>
            </a:r>
            <a:endParaRPr lang="en-US" sz="1400" b="1">
              <a:latin typeface="Tahoma" pitchFamily="34" charset="0"/>
            </a:endParaRPr>
          </a:p>
        </p:txBody>
      </p:sp>
      <p:sp>
        <p:nvSpPr>
          <p:cNvPr id="48141" name="Rectangle 16"/>
          <p:cNvSpPr>
            <a:spLocks noChangeArrowheads="1"/>
          </p:cNvSpPr>
          <p:nvPr/>
        </p:nvSpPr>
        <p:spPr bwMode="auto">
          <a:xfrm>
            <a:off x="2254250" y="5357813"/>
            <a:ext cx="13811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48142" name="Rectangle 17"/>
          <p:cNvSpPr>
            <a:spLocks noChangeArrowheads="1"/>
          </p:cNvSpPr>
          <p:nvPr/>
        </p:nvSpPr>
        <p:spPr bwMode="auto">
          <a:xfrm>
            <a:off x="2370138" y="5448300"/>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48143" name="Rectangle 18"/>
          <p:cNvSpPr>
            <a:spLocks noChangeArrowheads="1"/>
          </p:cNvSpPr>
          <p:nvPr/>
        </p:nvSpPr>
        <p:spPr bwMode="auto">
          <a:xfrm>
            <a:off x="722313" y="3378200"/>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48144" name="Rectangle 19"/>
          <p:cNvSpPr>
            <a:spLocks noChangeArrowheads="1"/>
          </p:cNvSpPr>
          <p:nvPr/>
        </p:nvSpPr>
        <p:spPr bwMode="auto">
          <a:xfrm>
            <a:off x="819150" y="3471863"/>
            <a:ext cx="11906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48145" name="Rectangle 20"/>
          <p:cNvSpPr>
            <a:spLocks noChangeArrowheads="1"/>
          </p:cNvSpPr>
          <p:nvPr/>
        </p:nvSpPr>
        <p:spPr bwMode="auto">
          <a:xfrm>
            <a:off x="3822700" y="5373688"/>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
        <p:nvSpPr>
          <p:cNvPr id="48146" name="Rectangle 21"/>
          <p:cNvSpPr>
            <a:spLocks noChangeArrowheads="1"/>
          </p:cNvSpPr>
          <p:nvPr/>
        </p:nvSpPr>
        <p:spPr bwMode="auto">
          <a:xfrm>
            <a:off x="549275" y="3905250"/>
            <a:ext cx="34448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ATC</a:t>
            </a:r>
            <a:endParaRPr lang="en-US" sz="1400" i="1">
              <a:latin typeface="Tahoma" pitchFamily="34" charset="0"/>
            </a:endParaRPr>
          </a:p>
        </p:txBody>
      </p:sp>
      <p:sp>
        <p:nvSpPr>
          <p:cNvPr id="48147" name="Rectangle 22"/>
          <p:cNvSpPr>
            <a:spLocks noChangeArrowheads="1"/>
          </p:cNvSpPr>
          <p:nvPr/>
        </p:nvSpPr>
        <p:spPr bwMode="auto">
          <a:xfrm>
            <a:off x="836613" y="4022725"/>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48148" name="Freeform 23"/>
          <p:cNvSpPr>
            <a:spLocks/>
          </p:cNvSpPr>
          <p:nvPr/>
        </p:nvSpPr>
        <p:spPr bwMode="auto">
          <a:xfrm>
            <a:off x="962025" y="2032000"/>
            <a:ext cx="3475038" cy="3300413"/>
          </a:xfrm>
          <a:custGeom>
            <a:avLst/>
            <a:gdLst>
              <a:gd name="T0" fmla="*/ 2147483647 w 1838"/>
              <a:gd name="T1" fmla="*/ 2147483647 h 1691"/>
              <a:gd name="T2" fmla="*/ 0 w 1838"/>
              <a:gd name="T3" fmla="*/ 2147483647 h 1691"/>
              <a:gd name="T4" fmla="*/ 0 w 1838"/>
              <a:gd name="T5" fmla="*/ 0 h 1691"/>
              <a:gd name="T6" fmla="*/ 0 60000 65536"/>
              <a:gd name="T7" fmla="*/ 0 60000 65536"/>
              <a:gd name="T8" fmla="*/ 0 60000 65536"/>
              <a:gd name="T9" fmla="*/ 0 w 1838"/>
              <a:gd name="T10" fmla="*/ 0 h 1691"/>
              <a:gd name="T11" fmla="*/ 1838 w 1838"/>
              <a:gd name="T12" fmla="*/ 1691 h 1691"/>
            </a:gdLst>
            <a:ahLst/>
            <a:cxnLst>
              <a:cxn ang="T6">
                <a:pos x="T0" y="T1"/>
              </a:cxn>
              <a:cxn ang="T7">
                <a:pos x="T2" y="T3"/>
              </a:cxn>
              <a:cxn ang="T8">
                <a:pos x="T4" y="T5"/>
              </a:cxn>
            </a:cxnLst>
            <a:rect l="T9" t="T10" r="T11" b="T12"/>
            <a:pathLst>
              <a:path w="1838" h="1691">
                <a:moveTo>
                  <a:pt x="1838" y="1691"/>
                </a:moveTo>
                <a:lnTo>
                  <a:pt x="0" y="1691"/>
                </a:lnTo>
                <a:lnTo>
                  <a:pt x="0" y="0"/>
                </a:lnTo>
              </a:path>
            </a:pathLst>
          </a:custGeom>
          <a:noFill/>
          <a:ln w="7938" cap="flat">
            <a:solidFill>
              <a:srgbClr val="000000"/>
            </a:solidFill>
            <a:prstDash val="solid"/>
            <a:miter lim="800000"/>
            <a:headEnd/>
            <a:tailEnd/>
          </a:ln>
        </p:spPr>
        <p:txBody>
          <a:bodyPr/>
          <a:lstStyle/>
          <a:p>
            <a:endParaRPr lang="en-US"/>
          </a:p>
        </p:txBody>
      </p:sp>
      <p:sp>
        <p:nvSpPr>
          <p:cNvPr id="48149" name="Line 24"/>
          <p:cNvSpPr>
            <a:spLocks noChangeShapeType="1"/>
          </p:cNvSpPr>
          <p:nvPr/>
        </p:nvSpPr>
        <p:spPr bwMode="auto">
          <a:xfrm>
            <a:off x="1320800" y="2657475"/>
            <a:ext cx="2611438" cy="2151063"/>
          </a:xfrm>
          <a:prstGeom prst="line">
            <a:avLst/>
          </a:prstGeom>
          <a:noFill/>
          <a:ln w="30163">
            <a:solidFill>
              <a:srgbClr val="3C5DAA"/>
            </a:solidFill>
            <a:miter lim="800000"/>
            <a:headEnd/>
            <a:tailEnd/>
          </a:ln>
        </p:spPr>
        <p:txBody>
          <a:bodyPr/>
          <a:lstStyle/>
          <a:p>
            <a:endParaRPr lang="en-US"/>
          </a:p>
        </p:txBody>
      </p:sp>
      <p:sp>
        <p:nvSpPr>
          <p:cNvPr id="48150" name="Rectangle 25"/>
          <p:cNvSpPr>
            <a:spLocks noChangeArrowheads="1"/>
          </p:cNvSpPr>
          <p:nvPr/>
        </p:nvSpPr>
        <p:spPr bwMode="auto">
          <a:xfrm>
            <a:off x="7358063" y="4773613"/>
            <a:ext cx="12858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48151" name="Rectangle 26"/>
          <p:cNvSpPr>
            <a:spLocks noChangeArrowheads="1"/>
          </p:cNvSpPr>
          <p:nvPr/>
        </p:nvSpPr>
        <p:spPr bwMode="auto">
          <a:xfrm>
            <a:off x="7477125" y="4881563"/>
            <a:ext cx="12858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U</a:t>
            </a:r>
            <a:endParaRPr lang="en-US" sz="1400" i="1">
              <a:latin typeface="Tahoma" pitchFamily="34" charset="0"/>
            </a:endParaRPr>
          </a:p>
        </p:txBody>
      </p:sp>
      <p:sp>
        <p:nvSpPr>
          <p:cNvPr id="48152" name="Line 27"/>
          <p:cNvSpPr>
            <a:spLocks noChangeShapeType="1"/>
          </p:cNvSpPr>
          <p:nvPr/>
        </p:nvSpPr>
        <p:spPr bwMode="auto">
          <a:xfrm>
            <a:off x="1147763" y="2657475"/>
            <a:ext cx="1417637" cy="2381250"/>
          </a:xfrm>
          <a:prstGeom prst="line">
            <a:avLst/>
          </a:prstGeom>
          <a:noFill/>
          <a:ln w="30163">
            <a:solidFill>
              <a:srgbClr val="4B8FCC"/>
            </a:solidFill>
            <a:miter lim="800000"/>
            <a:headEnd/>
            <a:tailEnd/>
          </a:ln>
        </p:spPr>
        <p:txBody>
          <a:bodyPr/>
          <a:lstStyle/>
          <a:p>
            <a:endParaRPr lang="en-US"/>
          </a:p>
        </p:txBody>
      </p:sp>
      <p:sp>
        <p:nvSpPr>
          <p:cNvPr id="48153" name="Rectangle 28"/>
          <p:cNvSpPr>
            <a:spLocks noChangeArrowheads="1"/>
          </p:cNvSpPr>
          <p:nvPr/>
        </p:nvSpPr>
        <p:spPr bwMode="auto">
          <a:xfrm>
            <a:off x="6642100" y="5046663"/>
            <a:ext cx="277813" cy="215900"/>
          </a:xfrm>
          <a:prstGeom prst="rect">
            <a:avLst/>
          </a:prstGeom>
          <a:noFill/>
          <a:ln w="9525">
            <a:noFill/>
            <a:miter lim="800000"/>
            <a:headEnd/>
            <a:tailEnd/>
          </a:ln>
        </p:spPr>
        <p:txBody>
          <a:bodyPr wrap="none" lIns="0" tIns="0" rIns="0" bIns="0">
            <a:spAutoFit/>
          </a:bodyPr>
          <a:lstStyle/>
          <a:p>
            <a:pPr marL="1588" indent="-1588" algn="ctr"/>
            <a:r>
              <a:rPr lang="en-US" sz="1400" i="1">
                <a:solidFill>
                  <a:srgbClr val="000000"/>
                </a:solidFill>
                <a:latin typeface="Myriad Roman"/>
              </a:rPr>
              <a:t>MR</a:t>
            </a:r>
            <a:endParaRPr lang="en-US" sz="1400" i="1">
              <a:latin typeface="Tahoma" pitchFamily="34" charset="0"/>
            </a:endParaRPr>
          </a:p>
        </p:txBody>
      </p:sp>
      <p:sp>
        <p:nvSpPr>
          <p:cNvPr id="48154" name="Rectangle 29"/>
          <p:cNvSpPr>
            <a:spLocks noChangeArrowheads="1"/>
          </p:cNvSpPr>
          <p:nvPr/>
        </p:nvSpPr>
        <p:spPr bwMode="auto">
          <a:xfrm>
            <a:off x="6881813" y="5154613"/>
            <a:ext cx="12858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U</a:t>
            </a:r>
            <a:endParaRPr lang="en-US" sz="1400" i="1">
              <a:latin typeface="Tahoma" pitchFamily="34" charset="0"/>
            </a:endParaRPr>
          </a:p>
        </p:txBody>
      </p:sp>
      <p:sp>
        <p:nvSpPr>
          <p:cNvPr id="48155" name="Rectangle 30"/>
          <p:cNvSpPr>
            <a:spLocks noChangeArrowheads="1"/>
          </p:cNvSpPr>
          <p:nvPr/>
        </p:nvSpPr>
        <p:spPr bwMode="auto">
          <a:xfrm>
            <a:off x="8234363" y="2201863"/>
            <a:ext cx="2778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MC</a:t>
            </a:r>
            <a:endParaRPr lang="en-US" sz="1400" i="1">
              <a:latin typeface="Tahoma" pitchFamily="34" charset="0"/>
            </a:endParaRPr>
          </a:p>
        </p:txBody>
      </p:sp>
      <p:sp>
        <p:nvSpPr>
          <p:cNvPr id="48156" name="Freeform 31"/>
          <p:cNvSpPr>
            <a:spLocks/>
          </p:cNvSpPr>
          <p:nvPr/>
        </p:nvSpPr>
        <p:spPr bwMode="auto">
          <a:xfrm>
            <a:off x="1476375" y="2547938"/>
            <a:ext cx="3059113" cy="1852612"/>
          </a:xfrm>
          <a:custGeom>
            <a:avLst/>
            <a:gdLst>
              <a:gd name="T0" fmla="*/ 70733482 w 630"/>
              <a:gd name="T1" fmla="*/ 0 h 379"/>
              <a:gd name="T2" fmla="*/ 2147483647 w 630"/>
              <a:gd name="T3" fmla="*/ 2147483647 h 379"/>
              <a:gd name="T4" fmla="*/ 2147483647 w 630"/>
              <a:gd name="T5" fmla="*/ 2147483647 h 379"/>
              <a:gd name="T6" fmla="*/ 0 60000 65536"/>
              <a:gd name="T7" fmla="*/ 0 60000 65536"/>
              <a:gd name="T8" fmla="*/ 0 60000 65536"/>
              <a:gd name="T9" fmla="*/ 0 w 630"/>
              <a:gd name="T10" fmla="*/ 0 h 379"/>
              <a:gd name="T11" fmla="*/ 630 w 630"/>
              <a:gd name="T12" fmla="*/ 379 h 379"/>
            </a:gdLst>
            <a:ahLst/>
            <a:cxnLst>
              <a:cxn ang="T6">
                <a:pos x="T0" y="T1"/>
              </a:cxn>
              <a:cxn ang="T7">
                <a:pos x="T2" y="T3"/>
              </a:cxn>
              <a:cxn ang="T8">
                <a:pos x="T4" y="T5"/>
              </a:cxn>
            </a:cxnLst>
            <a:rect l="T9" t="T10" r="T11" b="T12"/>
            <a:pathLst>
              <a:path w="630" h="379">
                <a:moveTo>
                  <a:pt x="3" y="0"/>
                </a:moveTo>
                <a:cubicBezTo>
                  <a:pt x="0" y="178"/>
                  <a:pt x="94" y="289"/>
                  <a:pt x="194" y="322"/>
                </a:cubicBezTo>
                <a:cubicBezTo>
                  <a:pt x="367" y="379"/>
                  <a:pt x="554" y="322"/>
                  <a:pt x="630" y="121"/>
                </a:cubicBezTo>
              </a:path>
            </a:pathLst>
          </a:custGeom>
          <a:noFill/>
          <a:ln w="30163" cap="flat">
            <a:solidFill>
              <a:srgbClr val="8C64AA"/>
            </a:solidFill>
            <a:prstDash val="solid"/>
            <a:miter lim="800000"/>
            <a:headEnd/>
            <a:tailEnd/>
          </a:ln>
        </p:spPr>
        <p:txBody>
          <a:bodyPr/>
          <a:lstStyle/>
          <a:p>
            <a:endParaRPr lang="en-US"/>
          </a:p>
        </p:txBody>
      </p:sp>
      <p:sp>
        <p:nvSpPr>
          <p:cNvPr id="48157" name="Rectangle 32"/>
          <p:cNvSpPr>
            <a:spLocks noChangeArrowheads="1"/>
          </p:cNvSpPr>
          <p:nvPr/>
        </p:nvSpPr>
        <p:spPr bwMode="auto">
          <a:xfrm>
            <a:off x="8610600" y="2870200"/>
            <a:ext cx="425450" cy="212725"/>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Roman"/>
              </a:rPr>
              <a:t>ATC</a:t>
            </a:r>
            <a:endParaRPr lang="en-US" sz="1400" i="1">
              <a:latin typeface="Tahoma" pitchFamily="34" charset="0"/>
            </a:endParaRPr>
          </a:p>
        </p:txBody>
      </p:sp>
      <p:sp>
        <p:nvSpPr>
          <p:cNvPr id="48158" name="Rectangle 35"/>
          <p:cNvSpPr>
            <a:spLocks noChangeArrowheads="1"/>
          </p:cNvSpPr>
          <p:nvPr/>
        </p:nvSpPr>
        <p:spPr bwMode="auto">
          <a:xfrm>
            <a:off x="6507163" y="5345113"/>
            <a:ext cx="1381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Q</a:t>
            </a:r>
            <a:endParaRPr lang="en-US" sz="1400" i="1">
              <a:latin typeface="Tahoma" pitchFamily="34" charset="0"/>
            </a:endParaRPr>
          </a:p>
        </p:txBody>
      </p:sp>
      <p:sp>
        <p:nvSpPr>
          <p:cNvPr id="48159" name="Rectangle 36"/>
          <p:cNvSpPr>
            <a:spLocks noChangeArrowheads="1"/>
          </p:cNvSpPr>
          <p:nvPr/>
        </p:nvSpPr>
        <p:spPr bwMode="auto">
          <a:xfrm>
            <a:off x="6630988" y="5438775"/>
            <a:ext cx="12858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U</a:t>
            </a:r>
            <a:endParaRPr lang="en-US" sz="1400" i="1">
              <a:latin typeface="Tahoma" pitchFamily="34" charset="0"/>
            </a:endParaRPr>
          </a:p>
        </p:txBody>
      </p:sp>
      <p:sp>
        <p:nvSpPr>
          <p:cNvPr id="48160" name="Rectangle 37"/>
          <p:cNvSpPr>
            <a:spLocks noChangeArrowheads="1"/>
          </p:cNvSpPr>
          <p:nvPr/>
        </p:nvSpPr>
        <p:spPr bwMode="auto">
          <a:xfrm>
            <a:off x="5291138" y="3833813"/>
            <a:ext cx="1190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P</a:t>
            </a:r>
            <a:endParaRPr lang="en-US" sz="1400" i="1">
              <a:latin typeface="Tahoma" pitchFamily="34" charset="0"/>
            </a:endParaRPr>
          </a:p>
        </p:txBody>
      </p:sp>
      <p:sp>
        <p:nvSpPr>
          <p:cNvPr id="48161" name="Rectangle 38"/>
          <p:cNvSpPr>
            <a:spLocks noChangeArrowheads="1"/>
          </p:cNvSpPr>
          <p:nvPr/>
        </p:nvSpPr>
        <p:spPr bwMode="auto">
          <a:xfrm>
            <a:off x="5386388" y="3927475"/>
            <a:ext cx="12858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U</a:t>
            </a:r>
            <a:endParaRPr lang="en-US" sz="1400" i="1">
              <a:latin typeface="Tahoma" pitchFamily="34" charset="0"/>
            </a:endParaRPr>
          </a:p>
        </p:txBody>
      </p:sp>
      <p:sp>
        <p:nvSpPr>
          <p:cNvPr id="48162" name="Rectangle 39"/>
          <p:cNvSpPr>
            <a:spLocks noChangeArrowheads="1"/>
          </p:cNvSpPr>
          <p:nvPr/>
        </p:nvSpPr>
        <p:spPr bwMode="auto">
          <a:xfrm>
            <a:off x="8159750" y="5416550"/>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
        <p:nvSpPr>
          <p:cNvPr id="48163" name="Rectangle 40"/>
          <p:cNvSpPr>
            <a:spLocks noChangeArrowheads="1"/>
          </p:cNvSpPr>
          <p:nvPr/>
        </p:nvSpPr>
        <p:spPr bwMode="auto">
          <a:xfrm>
            <a:off x="5037138" y="3622675"/>
            <a:ext cx="34448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ATC</a:t>
            </a:r>
            <a:endParaRPr lang="en-US" sz="1400" i="1">
              <a:latin typeface="Tahoma" pitchFamily="34" charset="0"/>
            </a:endParaRPr>
          </a:p>
        </p:txBody>
      </p:sp>
      <p:sp>
        <p:nvSpPr>
          <p:cNvPr id="48164" name="Rectangle 41"/>
          <p:cNvSpPr>
            <a:spLocks noChangeArrowheads="1"/>
          </p:cNvSpPr>
          <p:nvPr/>
        </p:nvSpPr>
        <p:spPr bwMode="auto">
          <a:xfrm>
            <a:off x="5395913" y="3716338"/>
            <a:ext cx="12858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U</a:t>
            </a:r>
            <a:endParaRPr lang="en-US" sz="1400" i="1">
              <a:latin typeface="Tahoma" pitchFamily="34" charset="0"/>
            </a:endParaRPr>
          </a:p>
        </p:txBody>
      </p:sp>
      <p:sp>
        <p:nvSpPr>
          <p:cNvPr id="48165" name="Freeform 42"/>
          <p:cNvSpPr>
            <a:spLocks/>
          </p:cNvSpPr>
          <p:nvPr/>
        </p:nvSpPr>
        <p:spPr bwMode="auto">
          <a:xfrm>
            <a:off x="5564188" y="1820863"/>
            <a:ext cx="3360737" cy="3505200"/>
          </a:xfrm>
          <a:custGeom>
            <a:avLst/>
            <a:gdLst>
              <a:gd name="T0" fmla="*/ 2147483647 w 1776"/>
              <a:gd name="T1" fmla="*/ 2147483647 h 1693"/>
              <a:gd name="T2" fmla="*/ 0 w 1776"/>
              <a:gd name="T3" fmla="*/ 2147483647 h 1693"/>
              <a:gd name="T4" fmla="*/ 0 w 1776"/>
              <a:gd name="T5" fmla="*/ 0 h 1693"/>
              <a:gd name="T6" fmla="*/ 0 60000 65536"/>
              <a:gd name="T7" fmla="*/ 0 60000 65536"/>
              <a:gd name="T8" fmla="*/ 0 60000 65536"/>
              <a:gd name="T9" fmla="*/ 0 w 1776"/>
              <a:gd name="T10" fmla="*/ 0 h 1693"/>
              <a:gd name="T11" fmla="*/ 1776 w 1776"/>
              <a:gd name="T12" fmla="*/ 1693 h 1693"/>
            </a:gdLst>
            <a:ahLst/>
            <a:cxnLst>
              <a:cxn ang="T6">
                <a:pos x="T0" y="T1"/>
              </a:cxn>
              <a:cxn ang="T7">
                <a:pos x="T2" y="T3"/>
              </a:cxn>
              <a:cxn ang="T8">
                <a:pos x="T4" y="T5"/>
              </a:cxn>
            </a:cxnLst>
            <a:rect l="T9" t="T10" r="T11" b="T12"/>
            <a:pathLst>
              <a:path w="1776" h="1693">
                <a:moveTo>
                  <a:pt x="1776" y="1693"/>
                </a:moveTo>
                <a:lnTo>
                  <a:pt x="0" y="1693"/>
                </a:lnTo>
                <a:lnTo>
                  <a:pt x="0" y="0"/>
                </a:lnTo>
              </a:path>
            </a:pathLst>
          </a:custGeom>
          <a:noFill/>
          <a:ln w="7938" cap="flat">
            <a:solidFill>
              <a:srgbClr val="000000"/>
            </a:solidFill>
            <a:prstDash val="solid"/>
            <a:miter lim="800000"/>
            <a:headEnd/>
            <a:tailEnd/>
          </a:ln>
        </p:spPr>
        <p:txBody>
          <a:bodyPr/>
          <a:lstStyle/>
          <a:p>
            <a:endParaRPr lang="en-US"/>
          </a:p>
        </p:txBody>
      </p:sp>
      <p:sp>
        <p:nvSpPr>
          <p:cNvPr id="48166" name="Line 43"/>
          <p:cNvSpPr>
            <a:spLocks noChangeShapeType="1"/>
          </p:cNvSpPr>
          <p:nvPr/>
        </p:nvSpPr>
        <p:spPr bwMode="auto">
          <a:xfrm>
            <a:off x="5795963" y="3238500"/>
            <a:ext cx="1597025" cy="1595438"/>
          </a:xfrm>
          <a:prstGeom prst="line">
            <a:avLst/>
          </a:prstGeom>
          <a:noFill/>
          <a:ln w="30163">
            <a:solidFill>
              <a:srgbClr val="3C5DAA"/>
            </a:solidFill>
            <a:miter lim="800000"/>
            <a:headEnd/>
            <a:tailEnd/>
          </a:ln>
        </p:spPr>
        <p:txBody>
          <a:bodyPr/>
          <a:lstStyle/>
          <a:p>
            <a:endParaRPr lang="en-US"/>
          </a:p>
        </p:txBody>
      </p:sp>
      <p:sp>
        <p:nvSpPr>
          <p:cNvPr id="48167" name="Line 44"/>
          <p:cNvSpPr>
            <a:spLocks noChangeShapeType="1"/>
          </p:cNvSpPr>
          <p:nvPr/>
        </p:nvSpPr>
        <p:spPr bwMode="auto">
          <a:xfrm>
            <a:off x="5675313" y="3251200"/>
            <a:ext cx="1019175" cy="1808163"/>
          </a:xfrm>
          <a:prstGeom prst="line">
            <a:avLst/>
          </a:prstGeom>
          <a:noFill/>
          <a:ln w="30163">
            <a:solidFill>
              <a:srgbClr val="4B8FCC"/>
            </a:solidFill>
            <a:miter lim="800000"/>
            <a:headEnd/>
            <a:tailEnd/>
          </a:ln>
        </p:spPr>
        <p:txBody>
          <a:bodyPr/>
          <a:lstStyle/>
          <a:p>
            <a:endParaRPr lang="en-US"/>
          </a:p>
        </p:txBody>
      </p:sp>
      <p:sp>
        <p:nvSpPr>
          <p:cNvPr id="48168" name="Freeform 45"/>
          <p:cNvSpPr>
            <a:spLocks/>
          </p:cNvSpPr>
          <p:nvPr/>
        </p:nvSpPr>
        <p:spPr bwMode="auto">
          <a:xfrm>
            <a:off x="6091238" y="2636838"/>
            <a:ext cx="2909887" cy="1957387"/>
          </a:xfrm>
          <a:custGeom>
            <a:avLst/>
            <a:gdLst>
              <a:gd name="T0" fmla="*/ 0 w 588"/>
              <a:gd name="T1" fmla="*/ 0 h 400"/>
              <a:gd name="T2" fmla="*/ 2147483647 w 588"/>
              <a:gd name="T3" fmla="*/ 2147483647 h 400"/>
              <a:gd name="T4" fmla="*/ 0 60000 65536"/>
              <a:gd name="T5" fmla="*/ 0 60000 65536"/>
              <a:gd name="T6" fmla="*/ 0 w 588"/>
              <a:gd name="T7" fmla="*/ 0 h 400"/>
              <a:gd name="T8" fmla="*/ 588 w 588"/>
              <a:gd name="T9" fmla="*/ 400 h 400"/>
            </a:gdLst>
            <a:ahLst/>
            <a:cxnLst>
              <a:cxn ang="T4">
                <a:pos x="T0" y="T1"/>
              </a:cxn>
              <a:cxn ang="T5">
                <a:pos x="T2" y="T3"/>
              </a:cxn>
            </a:cxnLst>
            <a:rect l="T6" t="T7" r="T8" b="T9"/>
            <a:pathLst>
              <a:path w="588" h="400">
                <a:moveTo>
                  <a:pt x="0" y="0"/>
                </a:moveTo>
                <a:cubicBezTo>
                  <a:pt x="8" y="383"/>
                  <a:pt x="503" y="400"/>
                  <a:pt x="588" y="104"/>
                </a:cubicBezTo>
              </a:path>
            </a:pathLst>
          </a:custGeom>
          <a:noFill/>
          <a:ln w="30163" cap="flat">
            <a:solidFill>
              <a:srgbClr val="8C64AA"/>
            </a:solidFill>
            <a:prstDash val="solid"/>
            <a:miter lim="800000"/>
            <a:headEnd/>
            <a:tailEnd/>
          </a:ln>
        </p:spPr>
        <p:txBody>
          <a:bodyPr/>
          <a:lstStyle/>
          <a:p>
            <a:endParaRPr lang="en-US"/>
          </a:p>
        </p:txBody>
      </p:sp>
      <p:sp>
        <p:nvSpPr>
          <p:cNvPr id="48169" name="Freeform 46"/>
          <p:cNvSpPr>
            <a:spLocks/>
          </p:cNvSpPr>
          <p:nvPr/>
        </p:nvSpPr>
        <p:spPr bwMode="auto">
          <a:xfrm>
            <a:off x="5715000" y="2432050"/>
            <a:ext cx="2628900" cy="2606675"/>
          </a:xfrm>
          <a:custGeom>
            <a:avLst/>
            <a:gdLst>
              <a:gd name="T0" fmla="*/ 0 w 588"/>
              <a:gd name="T1" fmla="*/ 2147483647 h 533"/>
              <a:gd name="T2" fmla="*/ 2147483647 w 588"/>
              <a:gd name="T3" fmla="*/ 0 h 533"/>
              <a:gd name="T4" fmla="*/ 0 60000 65536"/>
              <a:gd name="T5" fmla="*/ 0 60000 65536"/>
              <a:gd name="T6" fmla="*/ 0 w 588"/>
              <a:gd name="T7" fmla="*/ 0 h 533"/>
              <a:gd name="T8" fmla="*/ 588 w 588"/>
              <a:gd name="T9" fmla="*/ 533 h 533"/>
            </a:gdLst>
            <a:ahLst/>
            <a:cxnLst>
              <a:cxn ang="T4">
                <a:pos x="T0" y="T1"/>
              </a:cxn>
              <a:cxn ang="T5">
                <a:pos x="T2" y="T3"/>
              </a:cxn>
            </a:cxnLst>
            <a:rect l="T6" t="T7" r="T8" b="T9"/>
            <a:pathLst>
              <a:path w="588" h="533">
                <a:moveTo>
                  <a:pt x="0" y="533"/>
                </a:moveTo>
                <a:cubicBezTo>
                  <a:pt x="145" y="496"/>
                  <a:pt x="477" y="487"/>
                  <a:pt x="588" y="0"/>
                </a:cubicBezTo>
              </a:path>
            </a:pathLst>
          </a:custGeom>
          <a:noFill/>
          <a:ln w="30163" cap="flat">
            <a:solidFill>
              <a:srgbClr val="F3716D"/>
            </a:solidFill>
            <a:prstDash val="solid"/>
            <a:miter lim="800000"/>
            <a:headEnd/>
            <a:tailEnd/>
          </a:ln>
        </p:spPr>
        <p:txBody>
          <a:bodyPr/>
          <a:lstStyle/>
          <a:p>
            <a:endParaRPr lang="en-US"/>
          </a:p>
        </p:txBody>
      </p:sp>
      <p:sp>
        <p:nvSpPr>
          <p:cNvPr id="48170" name="Oval 47"/>
          <p:cNvSpPr>
            <a:spLocks noChangeArrowheads="1"/>
          </p:cNvSpPr>
          <p:nvPr/>
        </p:nvSpPr>
        <p:spPr bwMode="auto">
          <a:xfrm>
            <a:off x="6502400" y="3717925"/>
            <a:ext cx="88900" cy="98425"/>
          </a:xfrm>
          <a:prstGeom prst="ellipse">
            <a:avLst/>
          </a:prstGeom>
          <a:solidFill>
            <a:srgbClr val="000000"/>
          </a:solidFill>
          <a:ln w="9525">
            <a:noFill/>
            <a:round/>
            <a:headEnd/>
            <a:tailEnd/>
          </a:ln>
        </p:spPr>
        <p:txBody>
          <a:bodyPr/>
          <a:lstStyle/>
          <a:p>
            <a:endParaRPr lang="en-US"/>
          </a:p>
        </p:txBody>
      </p:sp>
      <p:sp>
        <p:nvSpPr>
          <p:cNvPr id="48171" name="Oval 48"/>
          <p:cNvSpPr>
            <a:spLocks noChangeArrowheads="1"/>
          </p:cNvSpPr>
          <p:nvPr/>
        </p:nvSpPr>
        <p:spPr bwMode="auto">
          <a:xfrm>
            <a:off x="6502400" y="3932238"/>
            <a:ext cx="88900" cy="98425"/>
          </a:xfrm>
          <a:prstGeom prst="ellipse">
            <a:avLst/>
          </a:prstGeom>
          <a:solidFill>
            <a:srgbClr val="000000"/>
          </a:solidFill>
          <a:ln w="9525">
            <a:noFill/>
            <a:round/>
            <a:headEnd/>
            <a:tailEnd/>
          </a:ln>
        </p:spPr>
        <p:txBody>
          <a:bodyPr/>
          <a:lstStyle/>
          <a:p>
            <a:endParaRPr lang="en-US"/>
          </a:p>
        </p:txBody>
      </p:sp>
      <p:sp>
        <p:nvSpPr>
          <p:cNvPr id="48172" name="Oval 49"/>
          <p:cNvSpPr>
            <a:spLocks noChangeArrowheads="1"/>
          </p:cNvSpPr>
          <p:nvPr/>
        </p:nvSpPr>
        <p:spPr bwMode="auto">
          <a:xfrm>
            <a:off x="6502400" y="4765675"/>
            <a:ext cx="88900" cy="96838"/>
          </a:xfrm>
          <a:prstGeom prst="ellipse">
            <a:avLst/>
          </a:prstGeom>
          <a:solidFill>
            <a:srgbClr val="000000"/>
          </a:solidFill>
          <a:ln w="9525">
            <a:noFill/>
            <a:round/>
            <a:headEnd/>
            <a:tailEnd/>
          </a:ln>
        </p:spPr>
        <p:txBody>
          <a:bodyPr/>
          <a:lstStyle/>
          <a:p>
            <a:endParaRPr lang="en-US"/>
          </a:p>
        </p:txBody>
      </p:sp>
      <p:sp>
        <p:nvSpPr>
          <p:cNvPr id="48173" name="Oval 50"/>
          <p:cNvSpPr>
            <a:spLocks noChangeArrowheads="1"/>
          </p:cNvSpPr>
          <p:nvPr/>
        </p:nvSpPr>
        <p:spPr bwMode="auto">
          <a:xfrm>
            <a:off x="2286000" y="3440113"/>
            <a:ext cx="90488" cy="96837"/>
          </a:xfrm>
          <a:prstGeom prst="ellipse">
            <a:avLst/>
          </a:prstGeom>
          <a:solidFill>
            <a:srgbClr val="000000"/>
          </a:solidFill>
          <a:ln w="9525">
            <a:noFill/>
            <a:round/>
            <a:headEnd/>
            <a:tailEnd/>
          </a:ln>
        </p:spPr>
        <p:txBody>
          <a:bodyPr/>
          <a:lstStyle/>
          <a:p>
            <a:endParaRPr lang="en-US"/>
          </a:p>
        </p:txBody>
      </p:sp>
      <p:sp>
        <p:nvSpPr>
          <p:cNvPr id="48174" name="Oval 51"/>
          <p:cNvSpPr>
            <a:spLocks noChangeArrowheads="1"/>
          </p:cNvSpPr>
          <p:nvPr/>
        </p:nvSpPr>
        <p:spPr bwMode="auto">
          <a:xfrm>
            <a:off x="2286000" y="4037013"/>
            <a:ext cx="90488" cy="96837"/>
          </a:xfrm>
          <a:prstGeom prst="ellipse">
            <a:avLst/>
          </a:prstGeom>
          <a:solidFill>
            <a:srgbClr val="000000"/>
          </a:solidFill>
          <a:ln w="9525">
            <a:noFill/>
            <a:round/>
            <a:headEnd/>
            <a:tailEnd/>
          </a:ln>
        </p:spPr>
        <p:txBody>
          <a:bodyPr/>
          <a:lstStyle/>
          <a:p>
            <a:endParaRPr lang="en-US"/>
          </a:p>
        </p:txBody>
      </p:sp>
      <p:sp>
        <p:nvSpPr>
          <p:cNvPr id="48175" name="Line 52"/>
          <p:cNvSpPr>
            <a:spLocks noChangeShapeType="1"/>
          </p:cNvSpPr>
          <p:nvPr/>
        </p:nvSpPr>
        <p:spPr bwMode="auto">
          <a:xfrm flipV="1">
            <a:off x="2324100" y="5602288"/>
            <a:ext cx="0" cy="287337"/>
          </a:xfrm>
          <a:prstGeom prst="line">
            <a:avLst/>
          </a:prstGeom>
          <a:noFill/>
          <a:ln w="7938">
            <a:solidFill>
              <a:srgbClr val="000000"/>
            </a:solidFill>
            <a:miter lim="800000"/>
            <a:headEnd/>
            <a:tailEnd/>
          </a:ln>
        </p:spPr>
        <p:txBody>
          <a:bodyPr/>
          <a:lstStyle/>
          <a:p>
            <a:endParaRPr lang="en-US"/>
          </a:p>
        </p:txBody>
      </p:sp>
      <p:sp>
        <p:nvSpPr>
          <p:cNvPr id="48176" name="Freeform 53"/>
          <p:cNvSpPr>
            <a:spLocks/>
          </p:cNvSpPr>
          <p:nvPr/>
        </p:nvSpPr>
        <p:spPr bwMode="auto">
          <a:xfrm>
            <a:off x="1250950" y="5729288"/>
            <a:ext cx="2152650" cy="290512"/>
          </a:xfrm>
          <a:custGeom>
            <a:avLst/>
            <a:gdLst>
              <a:gd name="T0" fmla="*/ 2147483647 w 387"/>
              <a:gd name="T1" fmla="*/ 1284988715 h 59"/>
              <a:gd name="T2" fmla="*/ 2147483647 w 387"/>
              <a:gd name="T3" fmla="*/ 1430461638 h 59"/>
              <a:gd name="T4" fmla="*/ 556924484 w 387"/>
              <a:gd name="T5" fmla="*/ 1430461638 h 59"/>
              <a:gd name="T6" fmla="*/ 0 w 387"/>
              <a:gd name="T7" fmla="*/ 1284988715 h 59"/>
              <a:gd name="T8" fmla="*/ 0 w 387"/>
              <a:gd name="T9" fmla="*/ 145472654 h 59"/>
              <a:gd name="T10" fmla="*/ 556924484 w 387"/>
              <a:gd name="T11" fmla="*/ 0 h 59"/>
              <a:gd name="T12" fmla="*/ 2147483647 w 387"/>
              <a:gd name="T13" fmla="*/ 0 h 59"/>
              <a:gd name="T14" fmla="*/ 2147483647 w 387"/>
              <a:gd name="T15" fmla="*/ 145472654 h 59"/>
              <a:gd name="T16" fmla="*/ 2147483647 w 387"/>
              <a:gd name="T17" fmla="*/ 1284988715 h 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9"/>
              <a:gd name="T29" fmla="*/ 387 w 387"/>
              <a:gd name="T30" fmla="*/ 59 h 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9">
                <a:moveTo>
                  <a:pt x="387" y="53"/>
                </a:moveTo>
                <a:cubicBezTo>
                  <a:pt x="387" y="56"/>
                  <a:pt x="379" y="59"/>
                  <a:pt x="369" y="59"/>
                </a:cubicBezTo>
                <a:cubicBezTo>
                  <a:pt x="18" y="59"/>
                  <a:pt x="18" y="59"/>
                  <a:pt x="18" y="59"/>
                </a:cubicBezTo>
                <a:cubicBezTo>
                  <a:pt x="8" y="59"/>
                  <a:pt x="0" y="56"/>
                  <a:pt x="0" y="53"/>
                </a:cubicBezTo>
                <a:cubicBezTo>
                  <a:pt x="0" y="6"/>
                  <a:pt x="0" y="6"/>
                  <a:pt x="0" y="6"/>
                </a:cubicBezTo>
                <a:cubicBezTo>
                  <a:pt x="0" y="3"/>
                  <a:pt x="8" y="0"/>
                  <a:pt x="18" y="0"/>
                </a:cubicBezTo>
                <a:cubicBezTo>
                  <a:pt x="369" y="0"/>
                  <a:pt x="369" y="0"/>
                  <a:pt x="369" y="0"/>
                </a:cubicBezTo>
                <a:cubicBezTo>
                  <a:pt x="379" y="0"/>
                  <a:pt x="387" y="3"/>
                  <a:pt x="387" y="6"/>
                </a:cubicBezTo>
                <a:lnTo>
                  <a:pt x="387" y="53"/>
                </a:lnTo>
                <a:close/>
              </a:path>
            </a:pathLst>
          </a:custGeom>
          <a:solidFill>
            <a:srgbClr val="D6E2E0"/>
          </a:solidFill>
          <a:ln w="9525">
            <a:noFill/>
            <a:round/>
            <a:headEnd/>
            <a:tailEnd/>
          </a:ln>
        </p:spPr>
        <p:txBody>
          <a:bodyPr/>
          <a:lstStyle/>
          <a:p>
            <a:endParaRPr lang="en-US"/>
          </a:p>
        </p:txBody>
      </p:sp>
      <p:sp>
        <p:nvSpPr>
          <p:cNvPr id="48177" name="Rectangle 54"/>
          <p:cNvSpPr>
            <a:spLocks noChangeArrowheads="1"/>
          </p:cNvSpPr>
          <p:nvPr/>
        </p:nvSpPr>
        <p:spPr bwMode="auto">
          <a:xfrm>
            <a:off x="1303338" y="5757863"/>
            <a:ext cx="2049462" cy="214312"/>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Profit-maximizing quantity</a:t>
            </a:r>
            <a:endParaRPr lang="en-US" sz="1400">
              <a:latin typeface="Tahoma" pitchFamily="34" charset="0"/>
            </a:endParaRPr>
          </a:p>
        </p:txBody>
      </p:sp>
      <p:sp>
        <p:nvSpPr>
          <p:cNvPr id="48178" name="Line 55"/>
          <p:cNvSpPr>
            <a:spLocks noChangeShapeType="1"/>
          </p:cNvSpPr>
          <p:nvPr/>
        </p:nvSpPr>
        <p:spPr bwMode="auto">
          <a:xfrm flipV="1">
            <a:off x="6561138" y="5607050"/>
            <a:ext cx="0" cy="307975"/>
          </a:xfrm>
          <a:prstGeom prst="line">
            <a:avLst/>
          </a:prstGeom>
          <a:noFill/>
          <a:ln w="7938">
            <a:solidFill>
              <a:srgbClr val="000000"/>
            </a:solidFill>
            <a:miter lim="800000"/>
            <a:headEnd/>
            <a:tailEnd/>
          </a:ln>
        </p:spPr>
        <p:txBody>
          <a:bodyPr/>
          <a:lstStyle/>
          <a:p>
            <a:endParaRPr lang="en-US"/>
          </a:p>
        </p:txBody>
      </p:sp>
      <p:sp>
        <p:nvSpPr>
          <p:cNvPr id="48179" name="Freeform 56"/>
          <p:cNvSpPr>
            <a:spLocks/>
          </p:cNvSpPr>
          <p:nvPr/>
        </p:nvSpPr>
        <p:spPr bwMode="auto">
          <a:xfrm>
            <a:off x="5486400" y="5692775"/>
            <a:ext cx="2157413" cy="284163"/>
          </a:xfrm>
          <a:custGeom>
            <a:avLst/>
            <a:gdLst>
              <a:gd name="T0" fmla="*/ 2147483647 w 387"/>
              <a:gd name="T1" fmla="*/ 1272197723 h 58"/>
              <a:gd name="T2" fmla="*/ 2147483647 w 387"/>
              <a:gd name="T3" fmla="*/ 1392217670 h 58"/>
              <a:gd name="T4" fmla="*/ 559394332 w 387"/>
              <a:gd name="T5" fmla="*/ 1392217670 h 58"/>
              <a:gd name="T6" fmla="*/ 0 w 387"/>
              <a:gd name="T7" fmla="*/ 1272197723 h 58"/>
              <a:gd name="T8" fmla="*/ 0 w 387"/>
              <a:gd name="T9" fmla="*/ 144021648 h 58"/>
              <a:gd name="T10" fmla="*/ 559394332 w 387"/>
              <a:gd name="T11" fmla="*/ 0 h 58"/>
              <a:gd name="T12" fmla="*/ 2147483647 w 387"/>
              <a:gd name="T13" fmla="*/ 0 h 58"/>
              <a:gd name="T14" fmla="*/ 2147483647 w 387"/>
              <a:gd name="T15" fmla="*/ 144021648 h 58"/>
              <a:gd name="T16" fmla="*/ 2147483647 w 387"/>
              <a:gd name="T17" fmla="*/ 1272197723 h 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8"/>
              <a:gd name="T29" fmla="*/ 387 w 387"/>
              <a:gd name="T30" fmla="*/ 58 h 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8">
                <a:moveTo>
                  <a:pt x="387" y="53"/>
                </a:moveTo>
                <a:cubicBezTo>
                  <a:pt x="387" y="56"/>
                  <a:pt x="379" y="58"/>
                  <a:pt x="369" y="58"/>
                </a:cubicBezTo>
                <a:cubicBezTo>
                  <a:pt x="18" y="58"/>
                  <a:pt x="18" y="58"/>
                  <a:pt x="18" y="58"/>
                </a:cubicBezTo>
                <a:cubicBezTo>
                  <a:pt x="8" y="58"/>
                  <a:pt x="0" y="56"/>
                  <a:pt x="0" y="53"/>
                </a:cubicBezTo>
                <a:cubicBezTo>
                  <a:pt x="0" y="6"/>
                  <a:pt x="0" y="6"/>
                  <a:pt x="0" y="6"/>
                </a:cubicBezTo>
                <a:cubicBezTo>
                  <a:pt x="0" y="3"/>
                  <a:pt x="8" y="0"/>
                  <a:pt x="18" y="0"/>
                </a:cubicBezTo>
                <a:cubicBezTo>
                  <a:pt x="369" y="0"/>
                  <a:pt x="369" y="0"/>
                  <a:pt x="369" y="0"/>
                </a:cubicBezTo>
                <a:cubicBezTo>
                  <a:pt x="379" y="0"/>
                  <a:pt x="387" y="3"/>
                  <a:pt x="387" y="6"/>
                </a:cubicBezTo>
                <a:lnTo>
                  <a:pt x="387" y="53"/>
                </a:lnTo>
                <a:close/>
              </a:path>
            </a:pathLst>
          </a:custGeom>
          <a:solidFill>
            <a:srgbClr val="D6E2E0"/>
          </a:solidFill>
          <a:ln w="9525">
            <a:noFill/>
            <a:round/>
            <a:headEnd/>
            <a:tailEnd/>
          </a:ln>
        </p:spPr>
        <p:txBody>
          <a:bodyPr/>
          <a:lstStyle/>
          <a:p>
            <a:endParaRPr lang="en-US"/>
          </a:p>
        </p:txBody>
      </p:sp>
      <p:sp>
        <p:nvSpPr>
          <p:cNvPr id="48180" name="Rectangle 57"/>
          <p:cNvSpPr>
            <a:spLocks noChangeArrowheads="1"/>
          </p:cNvSpPr>
          <p:nvPr/>
        </p:nvSpPr>
        <p:spPr bwMode="auto">
          <a:xfrm>
            <a:off x="5573713" y="5722938"/>
            <a:ext cx="1960562"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Loss-minimizing quantity</a:t>
            </a:r>
            <a:endParaRPr lang="en-US" sz="1400">
              <a:latin typeface="Tahoma" pitchFamily="34" charset="0"/>
            </a:endParaRPr>
          </a:p>
        </p:txBody>
      </p:sp>
      <p:sp>
        <p:nvSpPr>
          <p:cNvPr id="48181" name="Rectangle 58"/>
          <p:cNvSpPr>
            <a:spLocks noChangeArrowheads="1"/>
          </p:cNvSpPr>
          <p:nvPr/>
        </p:nvSpPr>
        <p:spPr bwMode="auto">
          <a:xfrm>
            <a:off x="3605213" y="2078038"/>
            <a:ext cx="27781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MC</a:t>
            </a:r>
            <a:endParaRPr lang="en-US" sz="1400" i="1">
              <a:latin typeface="Tahoma" pitchFamily="34" charset="0"/>
            </a:endParaRPr>
          </a:p>
        </p:txBody>
      </p:sp>
      <p:sp>
        <p:nvSpPr>
          <p:cNvPr id="48182" name="Freeform 59"/>
          <p:cNvSpPr>
            <a:spLocks/>
          </p:cNvSpPr>
          <p:nvPr/>
        </p:nvSpPr>
        <p:spPr bwMode="auto">
          <a:xfrm>
            <a:off x="1579563" y="2333625"/>
            <a:ext cx="2133600" cy="2641600"/>
          </a:xfrm>
          <a:custGeom>
            <a:avLst/>
            <a:gdLst>
              <a:gd name="T0" fmla="*/ 0 w 477"/>
              <a:gd name="T1" fmla="*/ 2147483647 h 540"/>
              <a:gd name="T2" fmla="*/ 2147483647 w 477"/>
              <a:gd name="T3" fmla="*/ 0 h 540"/>
              <a:gd name="T4" fmla="*/ 0 60000 65536"/>
              <a:gd name="T5" fmla="*/ 0 60000 65536"/>
              <a:gd name="T6" fmla="*/ 0 w 477"/>
              <a:gd name="T7" fmla="*/ 0 h 540"/>
              <a:gd name="T8" fmla="*/ 477 w 477"/>
              <a:gd name="T9" fmla="*/ 540 h 540"/>
            </a:gdLst>
            <a:ahLst/>
            <a:cxnLst>
              <a:cxn ang="T4">
                <a:pos x="T0" y="T1"/>
              </a:cxn>
              <a:cxn ang="T5">
                <a:pos x="T2" y="T3"/>
              </a:cxn>
            </a:cxnLst>
            <a:rect l="T6" t="T7" r="T8" b="T9"/>
            <a:pathLst>
              <a:path w="477" h="540">
                <a:moveTo>
                  <a:pt x="0" y="540"/>
                </a:moveTo>
                <a:cubicBezTo>
                  <a:pt x="232" y="481"/>
                  <a:pt x="389" y="349"/>
                  <a:pt x="477" y="0"/>
                </a:cubicBezTo>
              </a:path>
            </a:pathLst>
          </a:custGeom>
          <a:noFill/>
          <a:ln w="30163" cap="flat">
            <a:solidFill>
              <a:srgbClr val="F3716D"/>
            </a:solidFill>
            <a:prstDash val="solid"/>
            <a:miter lim="800000"/>
            <a:headEnd/>
            <a:tailEnd/>
          </a:ln>
        </p:spPr>
        <p:txBody>
          <a:bodyPr/>
          <a:lstStyle/>
          <a:p>
            <a:endParaRPr lang="en-US"/>
          </a:p>
        </p:txBody>
      </p:sp>
      <p:sp>
        <p:nvSpPr>
          <p:cNvPr id="48183" name="Oval 60"/>
          <p:cNvSpPr>
            <a:spLocks noChangeArrowheads="1"/>
          </p:cNvSpPr>
          <p:nvPr/>
        </p:nvSpPr>
        <p:spPr bwMode="auto">
          <a:xfrm>
            <a:off x="2290763" y="4611688"/>
            <a:ext cx="88900" cy="100012"/>
          </a:xfrm>
          <a:prstGeom prst="ellipse">
            <a:avLst/>
          </a:prstGeom>
          <a:solidFill>
            <a:srgbClr val="000000"/>
          </a:solidFill>
          <a:ln w="9525">
            <a:noFill/>
            <a:round/>
            <a:headEnd/>
            <a:tailEnd/>
          </a:ln>
        </p:spPr>
        <p:txBody>
          <a:bodyPr/>
          <a:lstStyle/>
          <a:p>
            <a:endParaRPr lang="en-US"/>
          </a:p>
        </p:txBody>
      </p:sp>
      <p:cxnSp>
        <p:nvCxnSpPr>
          <p:cNvPr id="48184" name="Straight Connector 86"/>
          <p:cNvCxnSpPr>
            <a:cxnSpLocks noChangeShapeType="1"/>
          </p:cNvCxnSpPr>
          <p:nvPr/>
        </p:nvCxnSpPr>
        <p:spPr bwMode="auto">
          <a:xfrm>
            <a:off x="2324100" y="3533775"/>
            <a:ext cx="0" cy="1789113"/>
          </a:xfrm>
          <a:prstGeom prst="line">
            <a:avLst/>
          </a:prstGeom>
          <a:noFill/>
          <a:ln w="15875">
            <a:solidFill>
              <a:srgbClr val="808080"/>
            </a:solidFill>
            <a:prstDash val="sysDot"/>
            <a:round/>
            <a:headEnd/>
            <a:tailEnd type="none" w="med" len="lg"/>
          </a:ln>
        </p:spPr>
      </p:cxnSp>
      <p:cxnSp>
        <p:nvCxnSpPr>
          <p:cNvPr id="48185" name="Straight Connector 86"/>
          <p:cNvCxnSpPr>
            <a:cxnSpLocks noChangeShapeType="1"/>
          </p:cNvCxnSpPr>
          <p:nvPr/>
        </p:nvCxnSpPr>
        <p:spPr bwMode="auto">
          <a:xfrm>
            <a:off x="949325" y="3495675"/>
            <a:ext cx="1339850" cy="0"/>
          </a:xfrm>
          <a:prstGeom prst="line">
            <a:avLst/>
          </a:prstGeom>
          <a:noFill/>
          <a:ln w="15875">
            <a:solidFill>
              <a:srgbClr val="808080"/>
            </a:solidFill>
            <a:prstDash val="sysDot"/>
            <a:round/>
            <a:headEnd/>
            <a:tailEnd type="none" w="med" len="lg"/>
          </a:ln>
        </p:spPr>
      </p:cxnSp>
      <p:cxnSp>
        <p:nvCxnSpPr>
          <p:cNvPr id="48186" name="Straight Connector 86"/>
          <p:cNvCxnSpPr>
            <a:cxnSpLocks noChangeShapeType="1"/>
          </p:cNvCxnSpPr>
          <p:nvPr/>
        </p:nvCxnSpPr>
        <p:spPr bwMode="auto">
          <a:xfrm>
            <a:off x="984250" y="4092575"/>
            <a:ext cx="1339850" cy="0"/>
          </a:xfrm>
          <a:prstGeom prst="line">
            <a:avLst/>
          </a:prstGeom>
          <a:noFill/>
          <a:ln w="15875">
            <a:solidFill>
              <a:srgbClr val="808080"/>
            </a:solidFill>
            <a:prstDash val="sysDot"/>
            <a:round/>
            <a:headEnd/>
            <a:tailEnd type="none" w="med" len="lg"/>
          </a:ln>
        </p:spPr>
      </p:cxnSp>
      <p:cxnSp>
        <p:nvCxnSpPr>
          <p:cNvPr id="48187" name="Straight Connector 86"/>
          <p:cNvCxnSpPr>
            <a:cxnSpLocks noChangeShapeType="1"/>
          </p:cNvCxnSpPr>
          <p:nvPr/>
        </p:nvCxnSpPr>
        <p:spPr bwMode="auto">
          <a:xfrm>
            <a:off x="5559425" y="3768725"/>
            <a:ext cx="931863" cy="0"/>
          </a:xfrm>
          <a:prstGeom prst="line">
            <a:avLst/>
          </a:prstGeom>
          <a:noFill/>
          <a:ln w="15875">
            <a:solidFill>
              <a:srgbClr val="808080"/>
            </a:solidFill>
            <a:prstDash val="sysDot"/>
            <a:round/>
            <a:headEnd/>
            <a:tailEnd type="none" w="med" len="lg"/>
          </a:ln>
        </p:spPr>
      </p:cxnSp>
      <p:cxnSp>
        <p:nvCxnSpPr>
          <p:cNvPr id="48188" name="Straight Connector 86"/>
          <p:cNvCxnSpPr>
            <a:cxnSpLocks noChangeShapeType="1"/>
          </p:cNvCxnSpPr>
          <p:nvPr/>
        </p:nvCxnSpPr>
        <p:spPr bwMode="auto">
          <a:xfrm>
            <a:off x="5583238" y="3979863"/>
            <a:ext cx="908050" cy="0"/>
          </a:xfrm>
          <a:prstGeom prst="line">
            <a:avLst/>
          </a:prstGeom>
          <a:noFill/>
          <a:ln w="15875">
            <a:solidFill>
              <a:srgbClr val="808080"/>
            </a:solidFill>
            <a:prstDash val="sysDot"/>
            <a:round/>
            <a:headEnd/>
            <a:tailEnd type="none" w="med" len="lg"/>
          </a:ln>
        </p:spPr>
      </p:cxnSp>
      <p:cxnSp>
        <p:nvCxnSpPr>
          <p:cNvPr id="48189" name="Straight Connector 86"/>
          <p:cNvCxnSpPr>
            <a:cxnSpLocks noChangeShapeType="1"/>
          </p:cNvCxnSpPr>
          <p:nvPr/>
        </p:nvCxnSpPr>
        <p:spPr bwMode="auto">
          <a:xfrm>
            <a:off x="6548438" y="3794125"/>
            <a:ext cx="0" cy="1528763"/>
          </a:xfrm>
          <a:prstGeom prst="line">
            <a:avLst/>
          </a:prstGeom>
          <a:noFill/>
          <a:ln w="15875">
            <a:solidFill>
              <a:srgbClr val="808080"/>
            </a:solidFill>
            <a:prstDash val="sysDot"/>
            <a:round/>
            <a:headEnd/>
            <a:tailEnd type="none" w="med" len="lg"/>
          </a:ln>
        </p:spPr>
      </p:cxnSp>
      <p:sp>
        <p:nvSpPr>
          <p:cNvPr id="48190" name="Rectangle 67"/>
          <p:cNvSpPr>
            <a:spLocks noChangeArrowheads="1"/>
          </p:cNvSpPr>
          <p:nvPr/>
        </p:nvSpPr>
        <p:spPr bwMode="auto">
          <a:xfrm>
            <a:off x="228600" y="1390650"/>
            <a:ext cx="720725" cy="86042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a:t>
            </a:r>
            <a:br>
              <a:rPr lang="en-US" sz="1400">
                <a:solidFill>
                  <a:srgbClr val="000000"/>
                </a:solidFill>
                <a:latin typeface="Myriad Pro"/>
              </a:rPr>
            </a:br>
            <a:r>
              <a:rPr lang="en-US" sz="1400">
                <a:solidFill>
                  <a:srgbClr val="000000"/>
                </a:solidFill>
                <a:latin typeface="Myriad Pro"/>
              </a:rPr>
              <a:t>cost, marginal revenue</a:t>
            </a:r>
            <a:endParaRPr lang="en-US" sz="1400">
              <a:latin typeface="Tahoma" pitchFamily="34" charset="0"/>
            </a:endParaRPr>
          </a:p>
        </p:txBody>
      </p:sp>
      <p:sp>
        <p:nvSpPr>
          <p:cNvPr id="48191" name="Rectangle 68"/>
          <p:cNvSpPr>
            <a:spLocks noChangeArrowheads="1"/>
          </p:cNvSpPr>
          <p:nvPr/>
        </p:nvSpPr>
        <p:spPr bwMode="auto">
          <a:xfrm>
            <a:off x="4662488" y="1384300"/>
            <a:ext cx="909637" cy="8620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a:t>
            </a:r>
            <a:br>
              <a:rPr lang="en-US" sz="1400">
                <a:solidFill>
                  <a:srgbClr val="000000"/>
                </a:solidFill>
                <a:latin typeface="Myriad Pro"/>
              </a:rPr>
            </a:br>
            <a:r>
              <a:rPr lang="en-US" sz="1400">
                <a:solidFill>
                  <a:srgbClr val="000000"/>
                </a:solidFill>
                <a:latin typeface="Myriad Pro"/>
              </a:rPr>
              <a:t>cost, marginal revenue</a:t>
            </a:r>
            <a:endParaRPr lang="en-US" sz="1400">
              <a:latin typeface="Tahoma" pitchFamily="34" charset="0"/>
            </a:endParaRPr>
          </a:p>
        </p:txBody>
      </p:sp>
      <p:sp>
        <p:nvSpPr>
          <p:cNvPr id="69" name="Rectangle 2"/>
          <p:cNvSpPr>
            <a:spLocks noRot="1" noChangeArrowheads="1"/>
          </p:cNvSpPr>
          <p:nvPr/>
        </p:nvSpPr>
        <p:spPr bwMode="auto">
          <a:xfrm>
            <a:off x="395288" y="47625"/>
            <a:ext cx="8474075" cy="609600"/>
          </a:xfrm>
          <a:prstGeom prst="rect">
            <a:avLst/>
          </a:prstGeom>
          <a:noFill/>
          <a:ln w="9525">
            <a:noFill/>
            <a:miter lim="800000"/>
            <a:headEnd/>
            <a:tailEnd/>
          </a:ln>
        </p:spPr>
        <p:txBody>
          <a:bodyPr anchor="ctr"/>
          <a:lstStyle/>
          <a:p>
            <a:pPr eaLnBrk="0" hangingPunct="0">
              <a:lnSpc>
                <a:spcPct val="85000"/>
              </a:lnSpc>
              <a:defRPr/>
            </a:pPr>
            <a:r>
              <a:rPr lang="en-US" sz="3600" b="1">
                <a:solidFill>
                  <a:schemeClr val="bg1"/>
                </a:solidFill>
                <a:effectLst>
                  <a:outerShdw blurRad="38100" dist="38100" dir="2700000" algn="tl">
                    <a:srgbClr val="C0C0C0"/>
                  </a:outerShdw>
                </a:effectLst>
              </a:rPr>
              <a:t>Monopolistic Competition in the Short Run</a:t>
            </a:r>
            <a:endParaRPr lang="en-US" sz="3600">
              <a:solidFill>
                <a:schemeClr val="bg1"/>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plus(in)">
                                      <p:cBhvr>
                                        <p:cTn id="7" dur="500"/>
                                        <p:tgtEl>
                                          <p:spTgt spid="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500"/>
                            </p:stCondLst>
                            <p:childTnLst>
                              <p:par>
                                <p:cTn id="11" presetID="1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plus(in)">
                                      <p:cBhvr>
                                        <p:cTn id="13" dur="500"/>
                                        <p:tgtEl>
                                          <p:spTgt spid="3"/>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idx="4294967295"/>
          </p:nvPr>
        </p:nvSpPr>
        <p:spPr bwMode="auto">
          <a:xfrm>
            <a:off x="684213" y="74613"/>
            <a:ext cx="8466137" cy="538162"/>
          </a:xfrm>
          <a:noFill/>
        </p:spPr>
        <p:txBody>
          <a:bodyPr anchor="t"/>
          <a:lstStyle/>
          <a:p>
            <a:r>
              <a:rPr lang="en-US" smtClean="0">
                <a:effectLst/>
              </a:rPr>
              <a:t>Monopolistic Competition Short Run Equilibrium </a:t>
            </a:r>
          </a:p>
        </p:txBody>
      </p:sp>
      <p:sp>
        <p:nvSpPr>
          <p:cNvPr id="50178" name="Content Placeholder 2"/>
          <p:cNvSpPr>
            <a:spLocks noGrp="1"/>
          </p:cNvSpPr>
          <p:nvPr>
            <p:ph idx="4294967295"/>
          </p:nvPr>
        </p:nvSpPr>
        <p:spPr>
          <a:xfrm>
            <a:off x="719138" y="800100"/>
            <a:ext cx="8205787" cy="5600700"/>
          </a:xfrm>
        </p:spPr>
        <p:txBody>
          <a:bodyPr/>
          <a:lstStyle/>
          <a:p>
            <a:r>
              <a:rPr lang="en-US" smtClean="0"/>
              <a:t>All firms practice profit maximization</a:t>
            </a:r>
          </a:p>
          <a:p>
            <a:pPr lvl="1"/>
            <a:r>
              <a:rPr lang="en-US" smtClean="0"/>
              <a:t>Produce the quantity where </a:t>
            </a:r>
            <a:br>
              <a:rPr lang="en-US" smtClean="0"/>
            </a:br>
            <a:r>
              <a:rPr lang="en-US" smtClean="0"/>
              <a:t> marginal revenue = marginal cost</a:t>
            </a:r>
          </a:p>
          <a:p>
            <a:r>
              <a:rPr lang="en-US" smtClean="0"/>
              <a:t>Monopolistically competitive firm is like a monopolist</a:t>
            </a:r>
          </a:p>
          <a:p>
            <a:pPr lvl="1"/>
            <a:r>
              <a:rPr lang="en-US" smtClean="0"/>
              <a:t>Demand is downward sloping:  MR &lt;&lt; P</a:t>
            </a:r>
          </a:p>
          <a:p>
            <a:pPr lvl="1"/>
            <a:r>
              <a:rPr lang="en-US" smtClean="0"/>
              <a:t>Find Q where MR = MC</a:t>
            </a:r>
          </a:p>
          <a:p>
            <a:pPr lvl="1"/>
            <a:r>
              <a:rPr lang="en-US" smtClean="0"/>
              <a:t>Price: on the demand curve</a:t>
            </a:r>
          </a:p>
          <a:p>
            <a:r>
              <a:rPr lang="en-US" smtClean="0"/>
              <a:t>Just like under perfect competition, a monopolistically competitive firm can experience either a profit or a loss</a:t>
            </a:r>
          </a:p>
          <a:p>
            <a:pPr lvl="1"/>
            <a:r>
              <a:rPr lang="en-US" smtClean="0"/>
              <a:t>If P &gt; ATC :  </a:t>
            </a:r>
            <a:r>
              <a:rPr lang="en-US" b="1" smtClean="0">
                <a:solidFill>
                  <a:srgbClr val="008000"/>
                </a:solidFill>
              </a:rPr>
              <a:t>Profit</a:t>
            </a:r>
          </a:p>
          <a:p>
            <a:pPr lvl="1"/>
            <a:r>
              <a:rPr lang="en-US" smtClean="0"/>
              <a:t>If P &lt; ATC :  </a:t>
            </a:r>
            <a:r>
              <a:rPr lang="en-US" b="1" smtClean="0">
                <a:solidFill>
                  <a:srgbClr val="800000"/>
                </a:solidFill>
              </a:rPr>
              <a:t>Loss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rrowheads="1"/>
          </p:cNvSpPr>
          <p:nvPr>
            <p:ph type="title" idx="4294967295"/>
          </p:nvPr>
        </p:nvSpPr>
        <p:spPr>
          <a:xfrm>
            <a:off x="827088" y="115888"/>
            <a:ext cx="8088312" cy="468312"/>
          </a:xfrm>
        </p:spPr>
        <p:txBody>
          <a:bodyPr/>
          <a:lstStyle/>
          <a:p>
            <a:pPr>
              <a:defRPr/>
            </a:pPr>
            <a:r>
              <a:rPr lang="en-US" sz="3300" dirty="0" smtClean="0"/>
              <a:t>Monopolistic Competition in the Long Run</a:t>
            </a:r>
            <a:endParaRPr lang="en-US" sz="3300" b="0" dirty="0" smtClean="0"/>
          </a:p>
        </p:txBody>
      </p:sp>
      <p:sp>
        <p:nvSpPr>
          <p:cNvPr id="51202" name="Text Box 3"/>
          <p:cNvSpPr txBox="1">
            <a:spLocks noChangeArrowheads="1"/>
          </p:cNvSpPr>
          <p:nvPr/>
        </p:nvSpPr>
        <p:spPr bwMode="auto">
          <a:xfrm>
            <a:off x="971550" y="911225"/>
            <a:ext cx="7943850" cy="5264150"/>
          </a:xfrm>
          <a:prstGeom prst="rect">
            <a:avLst/>
          </a:prstGeom>
          <a:noFill/>
          <a:ln w="9525" algn="ctr">
            <a:noFill/>
            <a:miter lim="800000"/>
            <a:headEnd/>
            <a:tailEnd type="none" w="med" len="lg"/>
          </a:ln>
        </p:spPr>
        <p:txBody>
          <a:bodyPr>
            <a:spAutoFit/>
          </a:bodyPr>
          <a:lstStyle/>
          <a:p>
            <a:pPr marL="231775" indent="-231775">
              <a:buClr>
                <a:schemeClr val="tx1"/>
              </a:buClr>
              <a:buFont typeface="Wingdings" pitchFamily="2" charset="2"/>
              <a:buChar char="§"/>
            </a:pPr>
            <a:r>
              <a:rPr lang="en-US" sz="2400"/>
              <a:t>If the typical firm earns positive profits, new firms will enter the industry in the long run, shifting each existing firm’s demand curve to the left. </a:t>
            </a:r>
          </a:p>
          <a:p>
            <a:pPr marL="231775" indent="-231775">
              <a:buClr>
                <a:schemeClr val="tx1"/>
              </a:buClr>
              <a:buFont typeface="Wingdings" pitchFamily="2" charset="2"/>
              <a:buChar char="§"/>
            </a:pPr>
            <a:endParaRPr lang="en-US" sz="2400"/>
          </a:p>
          <a:p>
            <a:pPr marL="231775" indent="-231775">
              <a:buClr>
                <a:schemeClr val="tx1"/>
              </a:buClr>
              <a:buFont typeface="Wingdings" pitchFamily="2" charset="2"/>
              <a:buChar char="§"/>
            </a:pPr>
            <a:r>
              <a:rPr lang="en-US" sz="2400"/>
              <a:t>If the typical firm incurs losses, some existing firms will exit the industry in the long run, shifting the demand curve of each remaining firm to the right.</a:t>
            </a:r>
            <a:br>
              <a:rPr lang="en-US" sz="2400"/>
            </a:br>
            <a:endParaRPr lang="en-US" sz="2400"/>
          </a:p>
          <a:p>
            <a:pPr marL="231775" indent="-231775">
              <a:buClr>
                <a:schemeClr val="tx1"/>
              </a:buClr>
              <a:buFont typeface="Wingdings" pitchFamily="2" charset="2"/>
              <a:buChar char="§"/>
            </a:pPr>
            <a:r>
              <a:rPr lang="en-US" sz="2400"/>
              <a:t>In the long run, equilibrium of a monopolistically competitive industry, the </a:t>
            </a:r>
            <a:r>
              <a:rPr lang="en-US" sz="2400" b="1" i="1"/>
              <a:t>zero-profit-equilibrium</a:t>
            </a:r>
            <a:r>
              <a:rPr lang="en-US" sz="2400" i="1"/>
              <a:t>, </a:t>
            </a:r>
            <a:r>
              <a:rPr lang="en-US" sz="2400"/>
              <a:t>firms just break even.</a:t>
            </a:r>
          </a:p>
          <a:p>
            <a:pPr marL="231775" indent="-231775">
              <a:buClr>
                <a:schemeClr val="tx1"/>
              </a:buClr>
              <a:buFont typeface="Wingdings" pitchFamily="2" charset="2"/>
              <a:buChar char="§"/>
            </a:pPr>
            <a:endParaRPr lang="en-US" sz="2400"/>
          </a:p>
          <a:p>
            <a:pPr marL="231775" indent="-231775">
              <a:buClr>
                <a:schemeClr val="tx1"/>
              </a:buClr>
              <a:buFont typeface="Wingdings" pitchFamily="2" charset="2"/>
              <a:buChar char="§"/>
            </a:pPr>
            <a:r>
              <a:rPr lang="en-US" sz="2400"/>
              <a:t>The typical firm’s demand curve is just tangent to its average total cost curve at its profit-maximizing output.</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Rot="1" noChangeArrowheads="1"/>
          </p:cNvSpPr>
          <p:nvPr/>
        </p:nvSpPr>
        <p:spPr bwMode="auto">
          <a:xfrm>
            <a:off x="612775" y="-26988"/>
            <a:ext cx="8496300" cy="685801"/>
          </a:xfrm>
          <a:prstGeom prst="rect">
            <a:avLst/>
          </a:prstGeom>
          <a:noFill/>
          <a:ln w="9525">
            <a:noFill/>
            <a:miter lim="800000"/>
            <a:headEnd/>
            <a:tailEnd/>
          </a:ln>
        </p:spPr>
        <p:txBody>
          <a:bodyPr anchor="ctr"/>
          <a:lstStyle/>
          <a:p>
            <a:pPr eaLnBrk="0" hangingPunct="0">
              <a:lnSpc>
                <a:spcPct val="85000"/>
              </a:lnSpc>
              <a:defRPr/>
            </a:pPr>
            <a:r>
              <a:rPr lang="en-US" sz="3000" b="1">
                <a:solidFill>
                  <a:schemeClr val="bg1"/>
                </a:solidFill>
                <a:effectLst>
                  <a:outerShdw blurRad="38100" dist="38100" dir="2700000" algn="tl">
                    <a:srgbClr val="C0C0C0"/>
                  </a:outerShdw>
                </a:effectLst>
              </a:rPr>
              <a:t>Entry and Exit Shift Demand and Marginal Revenue</a:t>
            </a:r>
          </a:p>
        </p:txBody>
      </p:sp>
      <p:sp>
        <p:nvSpPr>
          <p:cNvPr id="53250" name="Rectangle 54"/>
          <p:cNvSpPr>
            <a:spLocks noChangeArrowheads="1"/>
          </p:cNvSpPr>
          <p:nvPr/>
        </p:nvSpPr>
        <p:spPr bwMode="auto">
          <a:xfrm>
            <a:off x="2155825" y="1143000"/>
            <a:ext cx="1558925" cy="246063"/>
          </a:xfrm>
          <a:prstGeom prst="rect">
            <a:avLst/>
          </a:prstGeom>
          <a:noFill/>
          <a:ln w="9525">
            <a:noFill/>
            <a:miter lim="800000"/>
            <a:headEnd/>
            <a:tailEnd/>
          </a:ln>
        </p:spPr>
        <p:txBody>
          <a:bodyPr wrap="none" lIns="0" tIns="0" rIns="0" bIns="0">
            <a:spAutoFit/>
          </a:bodyPr>
          <a:lstStyle/>
          <a:p>
            <a:pPr marL="1588" indent="-1588"/>
            <a:r>
              <a:rPr lang="en-US" sz="1600" b="1">
                <a:solidFill>
                  <a:srgbClr val="000000"/>
                </a:solidFill>
              </a:rPr>
              <a:t>(a) Effects of Entry</a:t>
            </a:r>
            <a:endParaRPr lang="en-US" sz="1600" b="1"/>
          </a:p>
        </p:txBody>
      </p:sp>
      <p:sp>
        <p:nvSpPr>
          <p:cNvPr id="53251" name="Rectangle 55"/>
          <p:cNvSpPr>
            <a:spLocks noChangeArrowheads="1"/>
          </p:cNvSpPr>
          <p:nvPr/>
        </p:nvSpPr>
        <p:spPr bwMode="auto">
          <a:xfrm>
            <a:off x="6469063" y="1143000"/>
            <a:ext cx="1431925" cy="246063"/>
          </a:xfrm>
          <a:prstGeom prst="rect">
            <a:avLst/>
          </a:prstGeom>
          <a:noFill/>
          <a:ln w="9525">
            <a:noFill/>
            <a:miter lim="800000"/>
            <a:headEnd/>
            <a:tailEnd/>
          </a:ln>
        </p:spPr>
        <p:txBody>
          <a:bodyPr wrap="none" lIns="0" tIns="0" rIns="0" bIns="0">
            <a:spAutoFit/>
          </a:bodyPr>
          <a:lstStyle/>
          <a:p>
            <a:pPr marL="1588" indent="-1588"/>
            <a:r>
              <a:rPr lang="en-US" sz="1600" b="1">
                <a:solidFill>
                  <a:srgbClr val="000000"/>
                </a:solidFill>
              </a:rPr>
              <a:t>(b) Effects of Exit</a:t>
            </a:r>
            <a:endParaRPr lang="en-US" sz="1600" b="1"/>
          </a:p>
        </p:txBody>
      </p:sp>
      <p:sp>
        <p:nvSpPr>
          <p:cNvPr id="53252" name="Freeform 56"/>
          <p:cNvSpPr>
            <a:spLocks/>
          </p:cNvSpPr>
          <p:nvPr/>
        </p:nvSpPr>
        <p:spPr bwMode="auto">
          <a:xfrm>
            <a:off x="1087438" y="1604963"/>
            <a:ext cx="3201987" cy="4316412"/>
          </a:xfrm>
          <a:custGeom>
            <a:avLst/>
            <a:gdLst>
              <a:gd name="T0" fmla="*/ 2147483647 w 1803"/>
              <a:gd name="T1" fmla="*/ 2147483647 h 1547"/>
              <a:gd name="T2" fmla="*/ 0 w 1803"/>
              <a:gd name="T3" fmla="*/ 2147483647 h 1547"/>
              <a:gd name="T4" fmla="*/ 0 w 1803"/>
              <a:gd name="T5" fmla="*/ 0 h 1547"/>
              <a:gd name="T6" fmla="*/ 0 60000 65536"/>
              <a:gd name="T7" fmla="*/ 0 60000 65536"/>
              <a:gd name="T8" fmla="*/ 0 60000 65536"/>
              <a:gd name="T9" fmla="*/ 0 w 1803"/>
              <a:gd name="T10" fmla="*/ 0 h 1547"/>
              <a:gd name="T11" fmla="*/ 1803 w 1803"/>
              <a:gd name="T12" fmla="*/ 1547 h 1547"/>
            </a:gdLst>
            <a:ahLst/>
            <a:cxnLst>
              <a:cxn ang="T6">
                <a:pos x="T0" y="T1"/>
              </a:cxn>
              <a:cxn ang="T7">
                <a:pos x="T2" y="T3"/>
              </a:cxn>
              <a:cxn ang="T8">
                <a:pos x="T4" y="T5"/>
              </a:cxn>
            </a:cxnLst>
            <a:rect l="T9" t="T10" r="T11" b="T12"/>
            <a:pathLst>
              <a:path w="1803" h="1547">
                <a:moveTo>
                  <a:pt x="1803" y="1547"/>
                </a:moveTo>
                <a:lnTo>
                  <a:pt x="0" y="1547"/>
                </a:lnTo>
                <a:lnTo>
                  <a:pt x="0" y="0"/>
                </a:lnTo>
              </a:path>
            </a:pathLst>
          </a:custGeom>
          <a:noFill/>
          <a:ln w="6350" cap="flat">
            <a:solidFill>
              <a:srgbClr val="000000"/>
            </a:solidFill>
            <a:prstDash val="solid"/>
            <a:miter lim="800000"/>
            <a:headEnd/>
            <a:tailEnd/>
          </a:ln>
        </p:spPr>
        <p:txBody>
          <a:bodyPr/>
          <a:lstStyle/>
          <a:p>
            <a:endParaRPr lang="en-US"/>
          </a:p>
        </p:txBody>
      </p:sp>
      <p:sp>
        <p:nvSpPr>
          <p:cNvPr id="53253" name="Line 57"/>
          <p:cNvSpPr>
            <a:spLocks noChangeShapeType="1"/>
          </p:cNvSpPr>
          <p:nvPr/>
        </p:nvSpPr>
        <p:spPr bwMode="auto">
          <a:xfrm>
            <a:off x="1273175" y="3100388"/>
            <a:ext cx="2797175" cy="2420937"/>
          </a:xfrm>
          <a:prstGeom prst="line">
            <a:avLst/>
          </a:prstGeom>
          <a:noFill/>
          <a:ln w="28575">
            <a:solidFill>
              <a:srgbClr val="AEC5E7"/>
            </a:solidFill>
            <a:miter lim="800000"/>
            <a:headEnd/>
            <a:tailEnd/>
          </a:ln>
        </p:spPr>
        <p:txBody>
          <a:bodyPr/>
          <a:lstStyle/>
          <a:p>
            <a:endParaRPr lang="en-US"/>
          </a:p>
        </p:txBody>
      </p:sp>
      <p:sp>
        <p:nvSpPr>
          <p:cNvPr id="53254" name="Line 58"/>
          <p:cNvSpPr>
            <a:spLocks noChangeShapeType="1"/>
          </p:cNvSpPr>
          <p:nvPr/>
        </p:nvSpPr>
        <p:spPr bwMode="auto">
          <a:xfrm>
            <a:off x="1189038" y="3113088"/>
            <a:ext cx="1804987" cy="2473325"/>
          </a:xfrm>
          <a:prstGeom prst="line">
            <a:avLst/>
          </a:prstGeom>
          <a:noFill/>
          <a:ln w="28575">
            <a:solidFill>
              <a:srgbClr val="7DA7D8"/>
            </a:solidFill>
            <a:miter lim="800000"/>
            <a:headEnd/>
            <a:tailEnd/>
          </a:ln>
        </p:spPr>
        <p:txBody>
          <a:bodyPr/>
          <a:lstStyle/>
          <a:p>
            <a:endParaRPr lang="en-US"/>
          </a:p>
        </p:txBody>
      </p:sp>
      <p:sp>
        <p:nvSpPr>
          <p:cNvPr id="720955" name="Line 59"/>
          <p:cNvSpPr>
            <a:spLocks noChangeShapeType="1"/>
          </p:cNvSpPr>
          <p:nvPr/>
        </p:nvSpPr>
        <p:spPr bwMode="auto">
          <a:xfrm>
            <a:off x="1130300" y="3576638"/>
            <a:ext cx="1123950" cy="2016125"/>
          </a:xfrm>
          <a:prstGeom prst="line">
            <a:avLst/>
          </a:prstGeom>
          <a:noFill/>
          <a:ln w="28575">
            <a:solidFill>
              <a:srgbClr val="4B8FCC"/>
            </a:solidFill>
            <a:miter lim="800000"/>
            <a:headEnd/>
            <a:tailEnd/>
          </a:ln>
        </p:spPr>
        <p:txBody>
          <a:bodyPr/>
          <a:lstStyle/>
          <a:p>
            <a:endParaRPr lang="en-US"/>
          </a:p>
        </p:txBody>
      </p:sp>
      <p:sp>
        <p:nvSpPr>
          <p:cNvPr id="720956" name="Line 60"/>
          <p:cNvSpPr>
            <a:spLocks noChangeShapeType="1"/>
          </p:cNvSpPr>
          <p:nvPr/>
        </p:nvSpPr>
        <p:spPr bwMode="auto">
          <a:xfrm flipH="1">
            <a:off x="3068638" y="5045075"/>
            <a:ext cx="309562" cy="0"/>
          </a:xfrm>
          <a:prstGeom prst="line">
            <a:avLst/>
          </a:prstGeom>
          <a:noFill/>
          <a:ln w="28575">
            <a:solidFill>
              <a:srgbClr val="000000"/>
            </a:solidFill>
            <a:miter lim="800000"/>
            <a:headEnd/>
            <a:tailEnd/>
          </a:ln>
        </p:spPr>
        <p:txBody>
          <a:bodyPr/>
          <a:lstStyle/>
          <a:p>
            <a:endParaRPr lang="en-US"/>
          </a:p>
        </p:txBody>
      </p:sp>
      <p:sp>
        <p:nvSpPr>
          <p:cNvPr id="720957" name="Freeform 61"/>
          <p:cNvSpPr>
            <a:spLocks/>
          </p:cNvSpPr>
          <p:nvPr/>
        </p:nvSpPr>
        <p:spPr bwMode="auto">
          <a:xfrm>
            <a:off x="2946400" y="4964113"/>
            <a:ext cx="165100" cy="153987"/>
          </a:xfrm>
          <a:custGeom>
            <a:avLst/>
            <a:gdLst>
              <a:gd name="T0" fmla="*/ 573477007 w 39"/>
              <a:gd name="T1" fmla="*/ 537890012 h 23"/>
              <a:gd name="T2" fmla="*/ 698923324 w 39"/>
              <a:gd name="T3" fmla="*/ 1030956432 h 23"/>
              <a:gd name="T4" fmla="*/ 698923324 w 39"/>
              <a:gd name="T5" fmla="*/ 1030956432 h 23"/>
              <a:gd name="T6" fmla="*/ 358423625 w 39"/>
              <a:gd name="T7" fmla="*/ 717184381 h 23"/>
              <a:gd name="T8" fmla="*/ 0 w 39"/>
              <a:gd name="T9" fmla="*/ 537890012 h 23"/>
              <a:gd name="T10" fmla="*/ 358423625 w 39"/>
              <a:gd name="T11" fmla="*/ 313771946 h 23"/>
              <a:gd name="T12" fmla="*/ 698923324 w 39"/>
              <a:gd name="T13" fmla="*/ 0 h 23"/>
              <a:gd name="T14" fmla="*/ 698923324 w 39"/>
              <a:gd name="T15" fmla="*/ 0 h 23"/>
              <a:gd name="T16" fmla="*/ 573477007 w 39"/>
              <a:gd name="T17" fmla="*/ 537890012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
              <a:gd name="T28" fmla="*/ 0 h 23"/>
              <a:gd name="T29" fmla="*/ 39 w 39"/>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 h="23">
                <a:moveTo>
                  <a:pt x="32" y="12"/>
                </a:moveTo>
                <a:cubicBezTo>
                  <a:pt x="39" y="23"/>
                  <a:pt x="39" y="23"/>
                  <a:pt x="39" y="23"/>
                </a:cubicBezTo>
                <a:cubicBezTo>
                  <a:pt x="39" y="23"/>
                  <a:pt x="39" y="23"/>
                  <a:pt x="39" y="23"/>
                </a:cubicBezTo>
                <a:cubicBezTo>
                  <a:pt x="20" y="16"/>
                  <a:pt x="20" y="16"/>
                  <a:pt x="20" y="16"/>
                </a:cubicBezTo>
                <a:cubicBezTo>
                  <a:pt x="13" y="14"/>
                  <a:pt x="7" y="13"/>
                  <a:pt x="0" y="12"/>
                </a:cubicBezTo>
                <a:cubicBezTo>
                  <a:pt x="7" y="10"/>
                  <a:pt x="13" y="9"/>
                  <a:pt x="20" y="7"/>
                </a:cubicBezTo>
                <a:cubicBezTo>
                  <a:pt x="39" y="0"/>
                  <a:pt x="39" y="0"/>
                  <a:pt x="39" y="0"/>
                </a:cubicBezTo>
                <a:cubicBezTo>
                  <a:pt x="39" y="0"/>
                  <a:pt x="39" y="0"/>
                  <a:pt x="39" y="0"/>
                </a:cubicBezTo>
                <a:lnTo>
                  <a:pt x="32" y="12"/>
                </a:lnTo>
                <a:close/>
              </a:path>
            </a:pathLst>
          </a:custGeom>
          <a:solidFill>
            <a:srgbClr val="000000"/>
          </a:solidFill>
          <a:ln w="9525">
            <a:noFill/>
            <a:round/>
            <a:headEnd/>
            <a:tailEnd/>
          </a:ln>
        </p:spPr>
        <p:txBody>
          <a:bodyPr/>
          <a:lstStyle/>
          <a:p>
            <a:endParaRPr lang="en-US"/>
          </a:p>
        </p:txBody>
      </p:sp>
      <p:sp>
        <p:nvSpPr>
          <p:cNvPr id="720958" name="Line 62"/>
          <p:cNvSpPr>
            <a:spLocks noChangeShapeType="1"/>
          </p:cNvSpPr>
          <p:nvPr/>
        </p:nvSpPr>
        <p:spPr bwMode="auto">
          <a:xfrm flipH="1">
            <a:off x="2174875" y="5045075"/>
            <a:ext cx="331788" cy="0"/>
          </a:xfrm>
          <a:prstGeom prst="line">
            <a:avLst/>
          </a:prstGeom>
          <a:noFill/>
          <a:ln w="28575">
            <a:solidFill>
              <a:srgbClr val="000000"/>
            </a:solidFill>
            <a:miter lim="800000"/>
            <a:headEnd/>
            <a:tailEnd/>
          </a:ln>
        </p:spPr>
        <p:txBody>
          <a:bodyPr/>
          <a:lstStyle/>
          <a:p>
            <a:endParaRPr lang="en-US"/>
          </a:p>
        </p:txBody>
      </p:sp>
      <p:sp>
        <p:nvSpPr>
          <p:cNvPr id="720959" name="Freeform 63"/>
          <p:cNvSpPr>
            <a:spLocks/>
          </p:cNvSpPr>
          <p:nvPr/>
        </p:nvSpPr>
        <p:spPr bwMode="auto">
          <a:xfrm>
            <a:off x="2054225" y="4964113"/>
            <a:ext cx="163513" cy="153987"/>
          </a:xfrm>
          <a:custGeom>
            <a:avLst/>
            <a:gdLst>
              <a:gd name="T0" fmla="*/ 562505725 w 39"/>
              <a:gd name="T1" fmla="*/ 537890012 h 23"/>
              <a:gd name="T2" fmla="*/ 685551306 w 39"/>
              <a:gd name="T3" fmla="*/ 1030956432 h 23"/>
              <a:gd name="T4" fmla="*/ 685551306 w 39"/>
              <a:gd name="T5" fmla="*/ 1030956432 h 23"/>
              <a:gd name="T6" fmla="*/ 351565521 w 39"/>
              <a:gd name="T7" fmla="*/ 717184381 h 23"/>
              <a:gd name="T8" fmla="*/ 0 w 39"/>
              <a:gd name="T9" fmla="*/ 537890012 h 23"/>
              <a:gd name="T10" fmla="*/ 351565521 w 39"/>
              <a:gd name="T11" fmla="*/ 313771946 h 23"/>
              <a:gd name="T12" fmla="*/ 685551306 w 39"/>
              <a:gd name="T13" fmla="*/ 0 h 23"/>
              <a:gd name="T14" fmla="*/ 685551306 w 39"/>
              <a:gd name="T15" fmla="*/ 0 h 23"/>
              <a:gd name="T16" fmla="*/ 562505725 w 39"/>
              <a:gd name="T17" fmla="*/ 537890012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
              <a:gd name="T28" fmla="*/ 0 h 23"/>
              <a:gd name="T29" fmla="*/ 39 w 39"/>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 h="23">
                <a:moveTo>
                  <a:pt x="32" y="12"/>
                </a:moveTo>
                <a:cubicBezTo>
                  <a:pt x="39" y="23"/>
                  <a:pt x="39" y="23"/>
                  <a:pt x="39" y="23"/>
                </a:cubicBezTo>
                <a:cubicBezTo>
                  <a:pt x="39" y="23"/>
                  <a:pt x="39" y="23"/>
                  <a:pt x="39" y="23"/>
                </a:cubicBezTo>
                <a:cubicBezTo>
                  <a:pt x="20" y="16"/>
                  <a:pt x="20" y="16"/>
                  <a:pt x="20" y="16"/>
                </a:cubicBezTo>
                <a:cubicBezTo>
                  <a:pt x="13" y="14"/>
                  <a:pt x="7" y="13"/>
                  <a:pt x="0" y="12"/>
                </a:cubicBezTo>
                <a:cubicBezTo>
                  <a:pt x="7" y="10"/>
                  <a:pt x="13" y="9"/>
                  <a:pt x="20" y="7"/>
                </a:cubicBezTo>
                <a:cubicBezTo>
                  <a:pt x="39" y="0"/>
                  <a:pt x="39" y="0"/>
                  <a:pt x="39" y="0"/>
                </a:cubicBezTo>
                <a:cubicBezTo>
                  <a:pt x="39" y="0"/>
                  <a:pt x="39" y="0"/>
                  <a:pt x="39" y="0"/>
                </a:cubicBezTo>
                <a:lnTo>
                  <a:pt x="32" y="12"/>
                </a:lnTo>
                <a:close/>
              </a:path>
            </a:pathLst>
          </a:custGeom>
          <a:solidFill>
            <a:srgbClr val="000000"/>
          </a:solidFill>
          <a:ln w="9525">
            <a:noFill/>
            <a:round/>
            <a:headEnd/>
            <a:tailEnd/>
          </a:ln>
        </p:spPr>
        <p:txBody>
          <a:bodyPr/>
          <a:lstStyle/>
          <a:p>
            <a:endParaRPr lang="en-US"/>
          </a:p>
        </p:txBody>
      </p:sp>
      <p:sp>
        <p:nvSpPr>
          <p:cNvPr id="720960" name="Line 64"/>
          <p:cNvSpPr>
            <a:spLocks noChangeShapeType="1"/>
          </p:cNvSpPr>
          <p:nvPr/>
        </p:nvSpPr>
        <p:spPr bwMode="auto">
          <a:xfrm>
            <a:off x="6348413" y="5091113"/>
            <a:ext cx="406400" cy="0"/>
          </a:xfrm>
          <a:prstGeom prst="line">
            <a:avLst/>
          </a:prstGeom>
          <a:noFill/>
          <a:ln w="28575">
            <a:solidFill>
              <a:srgbClr val="000000"/>
            </a:solidFill>
            <a:miter lim="800000"/>
            <a:headEnd/>
            <a:tailEnd/>
          </a:ln>
        </p:spPr>
        <p:txBody>
          <a:bodyPr/>
          <a:lstStyle/>
          <a:p>
            <a:endParaRPr lang="en-US"/>
          </a:p>
        </p:txBody>
      </p:sp>
      <p:sp>
        <p:nvSpPr>
          <p:cNvPr id="720961" name="Freeform 65"/>
          <p:cNvSpPr>
            <a:spLocks/>
          </p:cNvSpPr>
          <p:nvPr/>
        </p:nvSpPr>
        <p:spPr bwMode="auto">
          <a:xfrm>
            <a:off x="6713538" y="5013325"/>
            <a:ext cx="163512" cy="158750"/>
          </a:xfrm>
          <a:custGeom>
            <a:avLst/>
            <a:gdLst>
              <a:gd name="T0" fmla="*/ 123044861 w 39"/>
              <a:gd name="T1" fmla="*/ 525032592 h 24"/>
              <a:gd name="T2" fmla="*/ 0 w 39"/>
              <a:gd name="T3" fmla="*/ 1050065184 h 24"/>
              <a:gd name="T4" fmla="*/ 0 w 39"/>
              <a:gd name="T5" fmla="*/ 1050065184 h 24"/>
              <a:gd name="T6" fmla="*/ 333983742 w 39"/>
              <a:gd name="T7" fmla="*/ 700041182 h 24"/>
              <a:gd name="T8" fmla="*/ 685542921 w 39"/>
              <a:gd name="T9" fmla="*/ 525032592 h 24"/>
              <a:gd name="T10" fmla="*/ 333983742 w 39"/>
              <a:gd name="T11" fmla="*/ 350023898 h 24"/>
              <a:gd name="T12" fmla="*/ 0 w 39"/>
              <a:gd name="T13" fmla="*/ 0 h 24"/>
              <a:gd name="T14" fmla="*/ 0 w 39"/>
              <a:gd name="T15" fmla="*/ 0 h 24"/>
              <a:gd name="T16" fmla="*/ 123044861 w 39"/>
              <a:gd name="T17" fmla="*/ 525032592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
              <a:gd name="T28" fmla="*/ 0 h 24"/>
              <a:gd name="T29" fmla="*/ 39 w 39"/>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 h="24">
                <a:moveTo>
                  <a:pt x="7" y="12"/>
                </a:moveTo>
                <a:cubicBezTo>
                  <a:pt x="0" y="24"/>
                  <a:pt x="0" y="24"/>
                  <a:pt x="0" y="24"/>
                </a:cubicBezTo>
                <a:cubicBezTo>
                  <a:pt x="0" y="24"/>
                  <a:pt x="0" y="24"/>
                  <a:pt x="0" y="24"/>
                </a:cubicBezTo>
                <a:cubicBezTo>
                  <a:pt x="19" y="16"/>
                  <a:pt x="19" y="16"/>
                  <a:pt x="19" y="16"/>
                </a:cubicBezTo>
                <a:cubicBezTo>
                  <a:pt x="26" y="15"/>
                  <a:pt x="32" y="14"/>
                  <a:pt x="39" y="12"/>
                </a:cubicBezTo>
                <a:cubicBezTo>
                  <a:pt x="32" y="11"/>
                  <a:pt x="26" y="9"/>
                  <a:pt x="19" y="8"/>
                </a:cubicBezTo>
                <a:cubicBezTo>
                  <a:pt x="0" y="0"/>
                  <a:pt x="0" y="0"/>
                  <a:pt x="0" y="0"/>
                </a:cubicBezTo>
                <a:cubicBezTo>
                  <a:pt x="0" y="0"/>
                  <a:pt x="0" y="0"/>
                  <a:pt x="0" y="0"/>
                </a:cubicBezTo>
                <a:lnTo>
                  <a:pt x="7" y="12"/>
                </a:lnTo>
                <a:close/>
              </a:path>
            </a:pathLst>
          </a:custGeom>
          <a:solidFill>
            <a:srgbClr val="000000"/>
          </a:solidFill>
          <a:ln w="9525">
            <a:noFill/>
            <a:round/>
            <a:headEnd/>
            <a:tailEnd/>
          </a:ln>
        </p:spPr>
        <p:txBody>
          <a:bodyPr/>
          <a:lstStyle/>
          <a:p>
            <a:endParaRPr lang="en-US"/>
          </a:p>
        </p:txBody>
      </p:sp>
      <p:sp>
        <p:nvSpPr>
          <p:cNvPr id="720962" name="Line 66"/>
          <p:cNvSpPr>
            <a:spLocks noChangeShapeType="1"/>
          </p:cNvSpPr>
          <p:nvPr/>
        </p:nvSpPr>
        <p:spPr bwMode="auto">
          <a:xfrm>
            <a:off x="7156450" y="5091113"/>
            <a:ext cx="788988" cy="0"/>
          </a:xfrm>
          <a:prstGeom prst="line">
            <a:avLst/>
          </a:prstGeom>
          <a:noFill/>
          <a:ln w="28575">
            <a:solidFill>
              <a:srgbClr val="000000"/>
            </a:solidFill>
            <a:miter lim="800000"/>
            <a:headEnd/>
            <a:tailEnd/>
          </a:ln>
        </p:spPr>
        <p:txBody>
          <a:bodyPr/>
          <a:lstStyle/>
          <a:p>
            <a:endParaRPr lang="en-US"/>
          </a:p>
        </p:txBody>
      </p:sp>
      <p:sp>
        <p:nvSpPr>
          <p:cNvPr id="720963" name="Freeform 67"/>
          <p:cNvSpPr>
            <a:spLocks/>
          </p:cNvSpPr>
          <p:nvPr/>
        </p:nvSpPr>
        <p:spPr bwMode="auto">
          <a:xfrm>
            <a:off x="7916863" y="5013325"/>
            <a:ext cx="163512" cy="158750"/>
          </a:xfrm>
          <a:custGeom>
            <a:avLst/>
            <a:gdLst>
              <a:gd name="T0" fmla="*/ 123044861 w 39"/>
              <a:gd name="T1" fmla="*/ 525032592 h 24"/>
              <a:gd name="T2" fmla="*/ 0 w 39"/>
              <a:gd name="T3" fmla="*/ 1050065184 h 24"/>
              <a:gd name="T4" fmla="*/ 17579638 w 39"/>
              <a:gd name="T5" fmla="*/ 1050065184 h 24"/>
              <a:gd name="T6" fmla="*/ 333983742 w 39"/>
              <a:gd name="T7" fmla="*/ 700041182 h 24"/>
              <a:gd name="T8" fmla="*/ 685542921 w 39"/>
              <a:gd name="T9" fmla="*/ 525032592 h 24"/>
              <a:gd name="T10" fmla="*/ 333983742 w 39"/>
              <a:gd name="T11" fmla="*/ 350023898 h 24"/>
              <a:gd name="T12" fmla="*/ 17579638 w 39"/>
              <a:gd name="T13" fmla="*/ 0 h 24"/>
              <a:gd name="T14" fmla="*/ 0 w 39"/>
              <a:gd name="T15" fmla="*/ 0 h 24"/>
              <a:gd name="T16" fmla="*/ 123044861 w 39"/>
              <a:gd name="T17" fmla="*/ 525032592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9"/>
              <a:gd name="T28" fmla="*/ 0 h 24"/>
              <a:gd name="T29" fmla="*/ 39 w 39"/>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9" h="24">
                <a:moveTo>
                  <a:pt x="7" y="12"/>
                </a:moveTo>
                <a:cubicBezTo>
                  <a:pt x="0" y="24"/>
                  <a:pt x="0" y="24"/>
                  <a:pt x="0" y="24"/>
                </a:cubicBezTo>
                <a:cubicBezTo>
                  <a:pt x="1" y="24"/>
                  <a:pt x="1" y="24"/>
                  <a:pt x="1" y="24"/>
                </a:cubicBezTo>
                <a:cubicBezTo>
                  <a:pt x="19" y="16"/>
                  <a:pt x="19" y="16"/>
                  <a:pt x="19" y="16"/>
                </a:cubicBezTo>
                <a:cubicBezTo>
                  <a:pt x="26" y="15"/>
                  <a:pt x="33" y="14"/>
                  <a:pt x="39" y="12"/>
                </a:cubicBezTo>
                <a:cubicBezTo>
                  <a:pt x="33" y="11"/>
                  <a:pt x="26" y="9"/>
                  <a:pt x="19" y="8"/>
                </a:cubicBezTo>
                <a:cubicBezTo>
                  <a:pt x="1" y="0"/>
                  <a:pt x="1" y="0"/>
                  <a:pt x="1" y="0"/>
                </a:cubicBezTo>
                <a:cubicBezTo>
                  <a:pt x="0" y="0"/>
                  <a:pt x="0" y="0"/>
                  <a:pt x="0" y="0"/>
                </a:cubicBezTo>
                <a:lnTo>
                  <a:pt x="7" y="12"/>
                </a:lnTo>
                <a:close/>
              </a:path>
            </a:pathLst>
          </a:custGeom>
          <a:solidFill>
            <a:srgbClr val="000000"/>
          </a:solidFill>
          <a:ln w="9525">
            <a:noFill/>
            <a:round/>
            <a:headEnd/>
            <a:tailEnd/>
          </a:ln>
        </p:spPr>
        <p:txBody>
          <a:bodyPr/>
          <a:lstStyle/>
          <a:p>
            <a:endParaRPr lang="en-US"/>
          </a:p>
        </p:txBody>
      </p:sp>
      <p:sp>
        <p:nvSpPr>
          <p:cNvPr id="720964" name="Line 68"/>
          <p:cNvSpPr>
            <a:spLocks noChangeShapeType="1"/>
          </p:cNvSpPr>
          <p:nvPr/>
        </p:nvSpPr>
        <p:spPr bwMode="auto">
          <a:xfrm flipH="1">
            <a:off x="2325688" y="3386138"/>
            <a:ext cx="538162" cy="1658937"/>
          </a:xfrm>
          <a:prstGeom prst="line">
            <a:avLst/>
          </a:prstGeom>
          <a:noFill/>
          <a:ln w="6350">
            <a:solidFill>
              <a:srgbClr val="000000"/>
            </a:solidFill>
            <a:miter lim="800000"/>
            <a:headEnd/>
            <a:tailEnd/>
          </a:ln>
        </p:spPr>
        <p:txBody>
          <a:bodyPr/>
          <a:lstStyle/>
          <a:p>
            <a:endParaRPr lang="en-US"/>
          </a:p>
        </p:txBody>
      </p:sp>
      <p:sp>
        <p:nvSpPr>
          <p:cNvPr id="720965" name="Line 69"/>
          <p:cNvSpPr>
            <a:spLocks noChangeShapeType="1"/>
          </p:cNvSpPr>
          <p:nvPr/>
        </p:nvSpPr>
        <p:spPr bwMode="auto">
          <a:xfrm flipV="1">
            <a:off x="3206750" y="3386138"/>
            <a:ext cx="0" cy="1658937"/>
          </a:xfrm>
          <a:prstGeom prst="line">
            <a:avLst/>
          </a:prstGeom>
          <a:noFill/>
          <a:ln w="6350">
            <a:solidFill>
              <a:srgbClr val="000000"/>
            </a:solidFill>
            <a:miter lim="800000"/>
            <a:headEnd/>
            <a:tailEnd/>
          </a:ln>
        </p:spPr>
        <p:txBody>
          <a:bodyPr/>
          <a:lstStyle/>
          <a:p>
            <a:endParaRPr lang="en-US"/>
          </a:p>
        </p:txBody>
      </p:sp>
      <p:sp>
        <p:nvSpPr>
          <p:cNvPr id="720966" name="Freeform 70"/>
          <p:cNvSpPr>
            <a:spLocks/>
          </p:cNvSpPr>
          <p:nvPr/>
        </p:nvSpPr>
        <p:spPr bwMode="auto">
          <a:xfrm>
            <a:off x="2457450" y="2249488"/>
            <a:ext cx="1962150" cy="1136650"/>
          </a:xfrm>
          <a:custGeom>
            <a:avLst/>
            <a:gdLst>
              <a:gd name="T0" fmla="*/ 2147483647 w 362"/>
              <a:gd name="T1" fmla="*/ 2147483647 h 172"/>
              <a:gd name="T2" fmla="*/ 2147483647 w 362"/>
              <a:gd name="T3" fmla="*/ 2147483647 h 172"/>
              <a:gd name="T4" fmla="*/ 470075864 w 362"/>
              <a:gd name="T5" fmla="*/ 2147483647 h 172"/>
              <a:gd name="T6" fmla="*/ 0 w 362"/>
              <a:gd name="T7" fmla="*/ 2147483647 h 172"/>
              <a:gd name="T8" fmla="*/ 0 w 362"/>
              <a:gd name="T9" fmla="*/ 698742329 h 172"/>
              <a:gd name="T10" fmla="*/ 470075864 w 362"/>
              <a:gd name="T11" fmla="*/ 0 h 172"/>
              <a:gd name="T12" fmla="*/ 2147483647 w 362"/>
              <a:gd name="T13" fmla="*/ 0 h 172"/>
              <a:gd name="T14" fmla="*/ 2147483647 w 362"/>
              <a:gd name="T15" fmla="*/ 698742329 h 172"/>
              <a:gd name="T16" fmla="*/ 2147483647 w 362"/>
              <a:gd name="T17" fmla="*/ 2147483647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2"/>
              <a:gd name="T28" fmla="*/ 0 h 172"/>
              <a:gd name="T29" fmla="*/ 362 w 362"/>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2" h="172">
                <a:moveTo>
                  <a:pt x="362" y="156"/>
                </a:moveTo>
                <a:cubicBezTo>
                  <a:pt x="362" y="165"/>
                  <a:pt x="355" y="172"/>
                  <a:pt x="346" y="172"/>
                </a:cubicBezTo>
                <a:cubicBezTo>
                  <a:pt x="16" y="172"/>
                  <a:pt x="16" y="172"/>
                  <a:pt x="16" y="172"/>
                </a:cubicBezTo>
                <a:cubicBezTo>
                  <a:pt x="7" y="172"/>
                  <a:pt x="0" y="165"/>
                  <a:pt x="0" y="156"/>
                </a:cubicBezTo>
                <a:cubicBezTo>
                  <a:pt x="0" y="16"/>
                  <a:pt x="0" y="16"/>
                  <a:pt x="0" y="16"/>
                </a:cubicBezTo>
                <a:cubicBezTo>
                  <a:pt x="0" y="8"/>
                  <a:pt x="7" y="0"/>
                  <a:pt x="16" y="0"/>
                </a:cubicBezTo>
                <a:cubicBezTo>
                  <a:pt x="346" y="0"/>
                  <a:pt x="346" y="0"/>
                  <a:pt x="346" y="0"/>
                </a:cubicBezTo>
                <a:cubicBezTo>
                  <a:pt x="355" y="0"/>
                  <a:pt x="362" y="8"/>
                  <a:pt x="362" y="16"/>
                </a:cubicBezTo>
                <a:lnTo>
                  <a:pt x="362" y="156"/>
                </a:lnTo>
                <a:close/>
              </a:path>
            </a:pathLst>
          </a:custGeom>
          <a:solidFill>
            <a:srgbClr val="D6E2E0"/>
          </a:solidFill>
          <a:ln w="9525">
            <a:noFill/>
            <a:round/>
            <a:headEnd/>
            <a:tailEnd/>
          </a:ln>
        </p:spPr>
        <p:txBody>
          <a:bodyPr/>
          <a:lstStyle/>
          <a:p>
            <a:endParaRPr lang="en-US"/>
          </a:p>
        </p:txBody>
      </p:sp>
      <p:sp>
        <p:nvSpPr>
          <p:cNvPr id="53267" name="Freeform 71"/>
          <p:cNvSpPr>
            <a:spLocks/>
          </p:cNvSpPr>
          <p:nvPr/>
        </p:nvSpPr>
        <p:spPr bwMode="auto">
          <a:xfrm>
            <a:off x="5354638" y="1628775"/>
            <a:ext cx="3216275" cy="4292600"/>
          </a:xfrm>
          <a:custGeom>
            <a:avLst/>
            <a:gdLst>
              <a:gd name="T0" fmla="*/ 2147483647 w 1811"/>
              <a:gd name="T1" fmla="*/ 2147483647 h 1538"/>
              <a:gd name="T2" fmla="*/ 0 w 1811"/>
              <a:gd name="T3" fmla="*/ 2147483647 h 1538"/>
              <a:gd name="T4" fmla="*/ 0 w 1811"/>
              <a:gd name="T5" fmla="*/ 0 h 1538"/>
              <a:gd name="T6" fmla="*/ 0 60000 65536"/>
              <a:gd name="T7" fmla="*/ 0 60000 65536"/>
              <a:gd name="T8" fmla="*/ 0 60000 65536"/>
              <a:gd name="T9" fmla="*/ 0 w 1811"/>
              <a:gd name="T10" fmla="*/ 0 h 1538"/>
              <a:gd name="T11" fmla="*/ 1811 w 1811"/>
              <a:gd name="T12" fmla="*/ 1538 h 1538"/>
            </a:gdLst>
            <a:ahLst/>
            <a:cxnLst>
              <a:cxn ang="T6">
                <a:pos x="T0" y="T1"/>
              </a:cxn>
              <a:cxn ang="T7">
                <a:pos x="T2" y="T3"/>
              </a:cxn>
              <a:cxn ang="T8">
                <a:pos x="T4" y="T5"/>
              </a:cxn>
            </a:cxnLst>
            <a:rect l="T9" t="T10" r="T11" b="T12"/>
            <a:pathLst>
              <a:path w="1811" h="1538">
                <a:moveTo>
                  <a:pt x="1811" y="1538"/>
                </a:moveTo>
                <a:lnTo>
                  <a:pt x="0" y="1538"/>
                </a:lnTo>
                <a:lnTo>
                  <a:pt x="0" y="0"/>
                </a:lnTo>
              </a:path>
            </a:pathLst>
          </a:custGeom>
          <a:noFill/>
          <a:ln w="6350" cap="flat">
            <a:solidFill>
              <a:srgbClr val="000000"/>
            </a:solidFill>
            <a:prstDash val="solid"/>
            <a:miter lim="800000"/>
            <a:headEnd/>
            <a:tailEnd/>
          </a:ln>
        </p:spPr>
        <p:txBody>
          <a:bodyPr/>
          <a:lstStyle/>
          <a:p>
            <a:endParaRPr lang="en-US"/>
          </a:p>
        </p:txBody>
      </p:sp>
      <p:sp>
        <p:nvSpPr>
          <p:cNvPr id="720968" name="Line 72"/>
          <p:cNvSpPr>
            <a:spLocks noChangeShapeType="1"/>
          </p:cNvSpPr>
          <p:nvPr/>
        </p:nvSpPr>
        <p:spPr bwMode="auto">
          <a:xfrm>
            <a:off x="5694363" y="3149600"/>
            <a:ext cx="2689225" cy="2119313"/>
          </a:xfrm>
          <a:prstGeom prst="line">
            <a:avLst/>
          </a:prstGeom>
          <a:noFill/>
          <a:ln w="28575">
            <a:solidFill>
              <a:srgbClr val="3C5DAA"/>
            </a:solidFill>
            <a:miter lim="800000"/>
            <a:headEnd/>
            <a:tailEnd/>
          </a:ln>
        </p:spPr>
        <p:txBody>
          <a:bodyPr/>
          <a:lstStyle/>
          <a:p>
            <a:endParaRPr lang="en-US"/>
          </a:p>
        </p:txBody>
      </p:sp>
      <p:sp>
        <p:nvSpPr>
          <p:cNvPr id="53269" name="Line 73"/>
          <p:cNvSpPr>
            <a:spLocks noChangeShapeType="1"/>
          </p:cNvSpPr>
          <p:nvPr/>
        </p:nvSpPr>
        <p:spPr bwMode="auto">
          <a:xfrm>
            <a:off x="5391150" y="3694113"/>
            <a:ext cx="1166813" cy="1898650"/>
          </a:xfrm>
          <a:prstGeom prst="line">
            <a:avLst/>
          </a:prstGeom>
          <a:noFill/>
          <a:ln w="28575">
            <a:solidFill>
              <a:srgbClr val="7DA7D8"/>
            </a:solidFill>
            <a:miter lim="800000"/>
            <a:headEnd/>
            <a:tailEnd/>
          </a:ln>
        </p:spPr>
        <p:txBody>
          <a:bodyPr/>
          <a:lstStyle/>
          <a:p>
            <a:endParaRPr lang="en-US"/>
          </a:p>
        </p:txBody>
      </p:sp>
      <p:sp>
        <p:nvSpPr>
          <p:cNvPr id="53270" name="Line 74"/>
          <p:cNvSpPr>
            <a:spLocks noChangeShapeType="1"/>
          </p:cNvSpPr>
          <p:nvPr/>
        </p:nvSpPr>
        <p:spPr bwMode="auto">
          <a:xfrm>
            <a:off x="5484813" y="3694113"/>
            <a:ext cx="2133600" cy="1931987"/>
          </a:xfrm>
          <a:prstGeom prst="line">
            <a:avLst/>
          </a:prstGeom>
          <a:noFill/>
          <a:ln w="28575">
            <a:solidFill>
              <a:srgbClr val="AEC5E7"/>
            </a:solidFill>
            <a:miter lim="800000"/>
            <a:headEnd/>
            <a:tailEnd/>
          </a:ln>
        </p:spPr>
        <p:txBody>
          <a:bodyPr/>
          <a:lstStyle/>
          <a:p>
            <a:endParaRPr lang="en-US"/>
          </a:p>
        </p:txBody>
      </p:sp>
      <p:sp>
        <p:nvSpPr>
          <p:cNvPr id="720971" name="Line 75"/>
          <p:cNvSpPr>
            <a:spLocks noChangeShapeType="1"/>
          </p:cNvSpPr>
          <p:nvPr/>
        </p:nvSpPr>
        <p:spPr bwMode="auto">
          <a:xfrm flipV="1">
            <a:off x="7569200" y="3357563"/>
            <a:ext cx="0" cy="1674812"/>
          </a:xfrm>
          <a:prstGeom prst="line">
            <a:avLst/>
          </a:prstGeom>
          <a:noFill/>
          <a:ln w="6350">
            <a:solidFill>
              <a:srgbClr val="000000"/>
            </a:solidFill>
            <a:miter lim="800000"/>
            <a:headEnd/>
            <a:tailEnd/>
          </a:ln>
        </p:spPr>
        <p:txBody>
          <a:bodyPr/>
          <a:lstStyle/>
          <a:p>
            <a:endParaRPr lang="en-US"/>
          </a:p>
        </p:txBody>
      </p:sp>
      <p:sp>
        <p:nvSpPr>
          <p:cNvPr id="720972" name="Line 76"/>
          <p:cNvSpPr>
            <a:spLocks noChangeShapeType="1"/>
          </p:cNvSpPr>
          <p:nvPr/>
        </p:nvSpPr>
        <p:spPr bwMode="auto">
          <a:xfrm flipH="1" flipV="1">
            <a:off x="1189038" y="3576638"/>
            <a:ext cx="2293937" cy="2016125"/>
          </a:xfrm>
          <a:prstGeom prst="line">
            <a:avLst/>
          </a:prstGeom>
          <a:noFill/>
          <a:ln w="28575">
            <a:solidFill>
              <a:srgbClr val="3C5DAA"/>
            </a:solidFill>
            <a:miter lim="800000"/>
            <a:headEnd/>
            <a:tailEnd/>
          </a:ln>
        </p:spPr>
        <p:txBody>
          <a:bodyPr/>
          <a:lstStyle/>
          <a:p>
            <a:endParaRPr lang="en-US"/>
          </a:p>
        </p:txBody>
      </p:sp>
      <p:sp>
        <p:nvSpPr>
          <p:cNvPr id="720973" name="Line 77"/>
          <p:cNvSpPr>
            <a:spLocks noChangeShapeType="1"/>
          </p:cNvSpPr>
          <p:nvPr/>
        </p:nvSpPr>
        <p:spPr bwMode="auto">
          <a:xfrm>
            <a:off x="5530850" y="3175000"/>
            <a:ext cx="1795463" cy="2409825"/>
          </a:xfrm>
          <a:prstGeom prst="line">
            <a:avLst/>
          </a:prstGeom>
          <a:noFill/>
          <a:ln w="28575">
            <a:solidFill>
              <a:srgbClr val="4B8FCC"/>
            </a:solidFill>
            <a:miter lim="800000"/>
            <a:headEnd/>
            <a:tailEnd/>
          </a:ln>
        </p:spPr>
        <p:txBody>
          <a:bodyPr/>
          <a:lstStyle/>
          <a:p>
            <a:endParaRPr lang="en-US"/>
          </a:p>
        </p:txBody>
      </p:sp>
      <p:sp>
        <p:nvSpPr>
          <p:cNvPr id="720974" name="Line 78"/>
          <p:cNvSpPr>
            <a:spLocks noChangeShapeType="1"/>
          </p:cNvSpPr>
          <p:nvPr/>
        </p:nvSpPr>
        <p:spPr bwMode="auto">
          <a:xfrm flipH="1">
            <a:off x="6554788" y="3357563"/>
            <a:ext cx="561975" cy="1668462"/>
          </a:xfrm>
          <a:prstGeom prst="line">
            <a:avLst/>
          </a:prstGeom>
          <a:noFill/>
          <a:ln w="6350">
            <a:solidFill>
              <a:srgbClr val="000000"/>
            </a:solidFill>
            <a:miter lim="800000"/>
            <a:headEnd/>
            <a:tailEnd/>
          </a:ln>
        </p:spPr>
        <p:txBody>
          <a:bodyPr/>
          <a:lstStyle/>
          <a:p>
            <a:endParaRPr lang="en-US"/>
          </a:p>
        </p:txBody>
      </p:sp>
      <p:sp>
        <p:nvSpPr>
          <p:cNvPr id="720975" name="Freeform 79"/>
          <p:cNvSpPr>
            <a:spLocks/>
          </p:cNvSpPr>
          <p:nvPr/>
        </p:nvSpPr>
        <p:spPr bwMode="auto">
          <a:xfrm>
            <a:off x="6769100" y="2224088"/>
            <a:ext cx="1641475" cy="1349375"/>
          </a:xfrm>
          <a:custGeom>
            <a:avLst/>
            <a:gdLst>
              <a:gd name="T0" fmla="*/ 2147483647 w 362"/>
              <a:gd name="T1" fmla="*/ 2147483647 h 172"/>
              <a:gd name="T2" fmla="*/ 2147483647 w 362"/>
              <a:gd name="T3" fmla="*/ 2147483647 h 172"/>
              <a:gd name="T4" fmla="*/ 328979734 w 362"/>
              <a:gd name="T5" fmla="*/ 2147483647 h 172"/>
              <a:gd name="T6" fmla="*/ 0 w 362"/>
              <a:gd name="T7" fmla="*/ 2147483647 h 172"/>
              <a:gd name="T8" fmla="*/ 0 w 362"/>
              <a:gd name="T9" fmla="*/ 984753373 h 172"/>
              <a:gd name="T10" fmla="*/ 328979734 w 362"/>
              <a:gd name="T11" fmla="*/ 0 h 172"/>
              <a:gd name="T12" fmla="*/ 2147483647 w 362"/>
              <a:gd name="T13" fmla="*/ 0 h 172"/>
              <a:gd name="T14" fmla="*/ 2147483647 w 362"/>
              <a:gd name="T15" fmla="*/ 984753373 h 172"/>
              <a:gd name="T16" fmla="*/ 2147483647 w 362"/>
              <a:gd name="T17" fmla="*/ 2147483647 h 1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62"/>
              <a:gd name="T28" fmla="*/ 0 h 172"/>
              <a:gd name="T29" fmla="*/ 362 w 362"/>
              <a:gd name="T30" fmla="*/ 172 h 1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62" h="172">
                <a:moveTo>
                  <a:pt x="362" y="156"/>
                </a:moveTo>
                <a:cubicBezTo>
                  <a:pt x="362" y="165"/>
                  <a:pt x="355" y="172"/>
                  <a:pt x="346" y="172"/>
                </a:cubicBezTo>
                <a:cubicBezTo>
                  <a:pt x="16" y="172"/>
                  <a:pt x="16" y="172"/>
                  <a:pt x="16" y="172"/>
                </a:cubicBezTo>
                <a:cubicBezTo>
                  <a:pt x="8" y="172"/>
                  <a:pt x="0" y="165"/>
                  <a:pt x="0" y="156"/>
                </a:cubicBezTo>
                <a:cubicBezTo>
                  <a:pt x="0" y="16"/>
                  <a:pt x="0" y="16"/>
                  <a:pt x="0" y="16"/>
                </a:cubicBezTo>
                <a:cubicBezTo>
                  <a:pt x="0" y="8"/>
                  <a:pt x="8" y="0"/>
                  <a:pt x="16" y="0"/>
                </a:cubicBezTo>
                <a:cubicBezTo>
                  <a:pt x="346" y="0"/>
                  <a:pt x="346" y="0"/>
                  <a:pt x="346" y="0"/>
                </a:cubicBezTo>
                <a:cubicBezTo>
                  <a:pt x="355" y="0"/>
                  <a:pt x="362" y="8"/>
                  <a:pt x="362" y="16"/>
                </a:cubicBezTo>
                <a:lnTo>
                  <a:pt x="362" y="156"/>
                </a:lnTo>
                <a:close/>
              </a:path>
            </a:pathLst>
          </a:custGeom>
          <a:solidFill>
            <a:srgbClr val="D6E2E0"/>
          </a:solidFill>
          <a:ln w="9525">
            <a:noFill/>
            <a:round/>
            <a:headEnd/>
            <a:tailEnd/>
          </a:ln>
        </p:spPr>
        <p:txBody>
          <a:bodyPr/>
          <a:lstStyle/>
          <a:p>
            <a:endParaRPr lang="en-US"/>
          </a:p>
        </p:txBody>
      </p:sp>
      <p:sp>
        <p:nvSpPr>
          <p:cNvPr id="720976" name="Rectangle 80"/>
          <p:cNvSpPr>
            <a:spLocks noChangeArrowheads="1"/>
          </p:cNvSpPr>
          <p:nvPr/>
        </p:nvSpPr>
        <p:spPr bwMode="auto">
          <a:xfrm>
            <a:off x="6819900" y="2260600"/>
            <a:ext cx="1570038" cy="129222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Exit shifts the existing firm’s demand curve and its marginal revenue curve rightward.</a:t>
            </a:r>
            <a:endParaRPr lang="en-US" sz="1400">
              <a:latin typeface="Tahoma" pitchFamily="34" charset="0"/>
            </a:endParaRPr>
          </a:p>
        </p:txBody>
      </p:sp>
      <p:sp>
        <p:nvSpPr>
          <p:cNvPr id="720977" name="Rectangle 81"/>
          <p:cNvSpPr>
            <a:spLocks noChangeArrowheads="1"/>
          </p:cNvSpPr>
          <p:nvPr/>
        </p:nvSpPr>
        <p:spPr bwMode="auto">
          <a:xfrm>
            <a:off x="2252663" y="5564188"/>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MR</a:t>
            </a:r>
            <a:endParaRPr lang="en-US" sz="1400" i="1">
              <a:latin typeface="Tahoma" pitchFamily="34" charset="0"/>
            </a:endParaRPr>
          </a:p>
        </p:txBody>
      </p:sp>
      <p:sp>
        <p:nvSpPr>
          <p:cNvPr id="720978" name="Rectangle 82"/>
          <p:cNvSpPr>
            <a:spLocks noChangeArrowheads="1"/>
          </p:cNvSpPr>
          <p:nvPr/>
        </p:nvSpPr>
        <p:spPr bwMode="auto">
          <a:xfrm>
            <a:off x="2525713" y="5691188"/>
            <a:ext cx="9842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latin typeface="Tahoma" pitchFamily="34" charset="0"/>
            </a:endParaRPr>
          </a:p>
        </p:txBody>
      </p:sp>
      <p:sp>
        <p:nvSpPr>
          <p:cNvPr id="720979" name="Rectangle 83"/>
          <p:cNvSpPr>
            <a:spLocks noChangeArrowheads="1"/>
          </p:cNvSpPr>
          <p:nvPr/>
        </p:nvSpPr>
        <p:spPr bwMode="auto">
          <a:xfrm>
            <a:off x="7278688" y="5553075"/>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MR</a:t>
            </a:r>
            <a:endParaRPr lang="en-US" sz="1400" i="1">
              <a:latin typeface="Tahoma" pitchFamily="34" charset="0"/>
            </a:endParaRPr>
          </a:p>
        </p:txBody>
      </p:sp>
      <p:sp>
        <p:nvSpPr>
          <p:cNvPr id="720980" name="Rectangle 84"/>
          <p:cNvSpPr>
            <a:spLocks noChangeArrowheads="1"/>
          </p:cNvSpPr>
          <p:nvPr/>
        </p:nvSpPr>
        <p:spPr bwMode="auto">
          <a:xfrm>
            <a:off x="7554913" y="568007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latin typeface="Tahoma" pitchFamily="34" charset="0"/>
            </a:endParaRPr>
          </a:p>
        </p:txBody>
      </p:sp>
      <p:sp>
        <p:nvSpPr>
          <p:cNvPr id="53281" name="Rectangle 85"/>
          <p:cNvSpPr>
            <a:spLocks noChangeArrowheads="1"/>
          </p:cNvSpPr>
          <p:nvPr/>
        </p:nvSpPr>
        <p:spPr bwMode="auto">
          <a:xfrm>
            <a:off x="2963863" y="5564188"/>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MR</a:t>
            </a:r>
            <a:endParaRPr lang="en-US" sz="1400" i="1">
              <a:latin typeface="Tahoma" pitchFamily="34" charset="0"/>
            </a:endParaRPr>
          </a:p>
        </p:txBody>
      </p:sp>
      <p:sp>
        <p:nvSpPr>
          <p:cNvPr id="53282" name="Rectangle 86"/>
          <p:cNvSpPr>
            <a:spLocks noChangeArrowheads="1"/>
          </p:cNvSpPr>
          <p:nvPr/>
        </p:nvSpPr>
        <p:spPr bwMode="auto">
          <a:xfrm>
            <a:off x="3213100" y="5691188"/>
            <a:ext cx="9842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latin typeface="Tahoma" pitchFamily="34" charset="0"/>
            </a:endParaRPr>
          </a:p>
        </p:txBody>
      </p:sp>
      <p:sp>
        <p:nvSpPr>
          <p:cNvPr id="53283" name="Rectangle 87"/>
          <p:cNvSpPr>
            <a:spLocks noChangeArrowheads="1"/>
          </p:cNvSpPr>
          <p:nvPr/>
        </p:nvSpPr>
        <p:spPr bwMode="auto">
          <a:xfrm>
            <a:off x="6542088" y="5556250"/>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MR</a:t>
            </a:r>
            <a:endParaRPr lang="en-US" sz="1400" i="1">
              <a:latin typeface="Tahoma" pitchFamily="34" charset="0"/>
            </a:endParaRPr>
          </a:p>
        </p:txBody>
      </p:sp>
      <p:sp>
        <p:nvSpPr>
          <p:cNvPr id="53284" name="Rectangle 88"/>
          <p:cNvSpPr>
            <a:spLocks noChangeArrowheads="1"/>
          </p:cNvSpPr>
          <p:nvPr/>
        </p:nvSpPr>
        <p:spPr bwMode="auto">
          <a:xfrm>
            <a:off x="6807200" y="56832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latin typeface="Tahoma" pitchFamily="34" charset="0"/>
            </a:endParaRPr>
          </a:p>
        </p:txBody>
      </p:sp>
      <p:sp>
        <p:nvSpPr>
          <p:cNvPr id="53285" name="Rectangle 89"/>
          <p:cNvSpPr>
            <a:spLocks noChangeArrowheads="1"/>
          </p:cNvSpPr>
          <p:nvPr/>
        </p:nvSpPr>
        <p:spPr bwMode="auto">
          <a:xfrm>
            <a:off x="4071938" y="54610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53286" name="Rectangle 90"/>
          <p:cNvSpPr>
            <a:spLocks noChangeArrowheads="1"/>
          </p:cNvSpPr>
          <p:nvPr/>
        </p:nvSpPr>
        <p:spPr bwMode="auto">
          <a:xfrm>
            <a:off x="4184650" y="5584825"/>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latin typeface="Tahoma" pitchFamily="34" charset="0"/>
            </a:endParaRPr>
          </a:p>
        </p:txBody>
      </p:sp>
      <p:sp>
        <p:nvSpPr>
          <p:cNvPr id="53287" name="Rectangle 91"/>
          <p:cNvSpPr>
            <a:spLocks noChangeArrowheads="1"/>
          </p:cNvSpPr>
          <p:nvPr/>
        </p:nvSpPr>
        <p:spPr bwMode="auto">
          <a:xfrm>
            <a:off x="7642225" y="54927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53288" name="Rectangle 92"/>
          <p:cNvSpPr>
            <a:spLocks noChangeArrowheads="1"/>
          </p:cNvSpPr>
          <p:nvPr/>
        </p:nvSpPr>
        <p:spPr bwMode="auto">
          <a:xfrm>
            <a:off x="7753350" y="5619750"/>
            <a:ext cx="984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1</a:t>
            </a:r>
            <a:endParaRPr lang="en-US" sz="1400">
              <a:latin typeface="Tahoma" pitchFamily="34" charset="0"/>
            </a:endParaRPr>
          </a:p>
        </p:txBody>
      </p:sp>
      <p:sp>
        <p:nvSpPr>
          <p:cNvPr id="720989" name="Rectangle 93"/>
          <p:cNvSpPr>
            <a:spLocks noChangeArrowheads="1"/>
          </p:cNvSpPr>
          <p:nvPr/>
        </p:nvSpPr>
        <p:spPr bwMode="auto">
          <a:xfrm>
            <a:off x="3503613" y="55451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720990" name="Rectangle 94"/>
          <p:cNvSpPr>
            <a:spLocks noChangeArrowheads="1"/>
          </p:cNvSpPr>
          <p:nvPr/>
        </p:nvSpPr>
        <p:spPr bwMode="auto">
          <a:xfrm>
            <a:off x="3614738" y="567213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latin typeface="Tahoma" pitchFamily="34" charset="0"/>
            </a:endParaRPr>
          </a:p>
        </p:txBody>
      </p:sp>
      <p:sp>
        <p:nvSpPr>
          <p:cNvPr id="720991" name="Rectangle 95"/>
          <p:cNvSpPr>
            <a:spLocks noChangeArrowheads="1"/>
          </p:cNvSpPr>
          <p:nvPr/>
        </p:nvSpPr>
        <p:spPr bwMode="auto">
          <a:xfrm>
            <a:off x="8351838" y="52911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Roman"/>
              </a:rPr>
              <a:t>D</a:t>
            </a:r>
            <a:endParaRPr lang="en-US" sz="1400" i="1">
              <a:latin typeface="Tahoma" pitchFamily="34" charset="0"/>
            </a:endParaRPr>
          </a:p>
        </p:txBody>
      </p:sp>
      <p:sp>
        <p:nvSpPr>
          <p:cNvPr id="720992" name="Rectangle 96"/>
          <p:cNvSpPr>
            <a:spLocks noChangeArrowheads="1"/>
          </p:cNvSpPr>
          <p:nvPr/>
        </p:nvSpPr>
        <p:spPr bwMode="auto">
          <a:xfrm>
            <a:off x="8464550" y="5418138"/>
            <a:ext cx="984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2</a:t>
            </a:r>
            <a:endParaRPr lang="en-US" sz="1400">
              <a:latin typeface="Tahoma" pitchFamily="34" charset="0"/>
            </a:endParaRPr>
          </a:p>
        </p:txBody>
      </p:sp>
      <p:sp>
        <p:nvSpPr>
          <p:cNvPr id="720993" name="Rectangle 97"/>
          <p:cNvSpPr>
            <a:spLocks noChangeArrowheads="1"/>
          </p:cNvSpPr>
          <p:nvPr/>
        </p:nvSpPr>
        <p:spPr bwMode="auto">
          <a:xfrm>
            <a:off x="2579688" y="2276475"/>
            <a:ext cx="1763712" cy="10779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Roman"/>
              </a:rPr>
              <a:t>Entry shifts the existing firm’s demand curve and its marginal revenue curve leftward.</a:t>
            </a:r>
            <a:endParaRPr lang="en-US" sz="1400">
              <a:latin typeface="Tahoma" pitchFamily="34" charset="0"/>
            </a:endParaRPr>
          </a:p>
        </p:txBody>
      </p:sp>
      <p:sp>
        <p:nvSpPr>
          <p:cNvPr id="53294" name="Rectangle 98"/>
          <p:cNvSpPr>
            <a:spLocks noChangeArrowheads="1"/>
          </p:cNvSpPr>
          <p:nvPr/>
        </p:nvSpPr>
        <p:spPr bwMode="auto">
          <a:xfrm>
            <a:off x="4767263" y="935038"/>
            <a:ext cx="852487"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marginal revenue</a:t>
            </a:r>
            <a:endParaRPr lang="en-US" sz="1400">
              <a:latin typeface="Tahoma" pitchFamily="34" charset="0"/>
            </a:endParaRPr>
          </a:p>
        </p:txBody>
      </p:sp>
      <p:sp>
        <p:nvSpPr>
          <p:cNvPr id="53295" name="Rectangle 99"/>
          <p:cNvSpPr>
            <a:spLocks noChangeArrowheads="1"/>
          </p:cNvSpPr>
          <p:nvPr/>
        </p:nvSpPr>
        <p:spPr bwMode="auto">
          <a:xfrm>
            <a:off x="755650" y="981075"/>
            <a:ext cx="852488" cy="5080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marginal revenue</a:t>
            </a:r>
            <a:endParaRPr lang="en-US" sz="1400">
              <a:latin typeface="Tahoma" pitchFamily="34" charset="0"/>
            </a:endParaRPr>
          </a:p>
        </p:txBody>
      </p:sp>
      <p:sp>
        <p:nvSpPr>
          <p:cNvPr id="53296" name="Rectangle 100"/>
          <p:cNvSpPr>
            <a:spLocks noChangeArrowheads="1"/>
          </p:cNvSpPr>
          <p:nvPr/>
        </p:nvSpPr>
        <p:spPr bwMode="auto">
          <a:xfrm>
            <a:off x="3776663" y="6002338"/>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
        <p:nvSpPr>
          <p:cNvPr id="53297" name="Rectangle 101"/>
          <p:cNvSpPr>
            <a:spLocks noChangeArrowheads="1"/>
          </p:cNvSpPr>
          <p:nvPr/>
        </p:nvSpPr>
        <p:spPr bwMode="auto">
          <a:xfrm>
            <a:off x="8002588" y="6032500"/>
            <a:ext cx="668337"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720993"/>
                                        </p:tgtEl>
                                        <p:attrNameLst>
                                          <p:attrName>style.visibility</p:attrName>
                                        </p:attrNameLst>
                                      </p:cBhvr>
                                      <p:to>
                                        <p:strVal val="visible"/>
                                      </p:to>
                                    </p:set>
                                    <p:animEffect transition="in" filter="wipe(right)">
                                      <p:cBhvr>
                                        <p:cTn id="7" dur="500"/>
                                        <p:tgtEl>
                                          <p:spTgt spid="720993"/>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720966"/>
                                        </p:tgtEl>
                                        <p:attrNameLst>
                                          <p:attrName>style.visibility</p:attrName>
                                        </p:attrNameLst>
                                      </p:cBhvr>
                                      <p:to>
                                        <p:strVal val="visible"/>
                                      </p:to>
                                    </p:set>
                                    <p:animEffect transition="in" filter="wipe(right)">
                                      <p:cBhvr>
                                        <p:cTn id="10" dur="500"/>
                                        <p:tgtEl>
                                          <p:spTgt spid="720966"/>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720965"/>
                                        </p:tgtEl>
                                        <p:attrNameLst>
                                          <p:attrName>style.visibility</p:attrName>
                                        </p:attrNameLst>
                                      </p:cBhvr>
                                      <p:to>
                                        <p:strVal val="visible"/>
                                      </p:to>
                                    </p:set>
                                    <p:animEffect transition="in" filter="wipe(right)">
                                      <p:cBhvr>
                                        <p:cTn id="13" dur="500"/>
                                        <p:tgtEl>
                                          <p:spTgt spid="720965"/>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720964"/>
                                        </p:tgtEl>
                                        <p:attrNameLst>
                                          <p:attrName>style.visibility</p:attrName>
                                        </p:attrNameLst>
                                      </p:cBhvr>
                                      <p:to>
                                        <p:strVal val="visible"/>
                                      </p:to>
                                    </p:set>
                                    <p:animEffect transition="in" filter="wipe(right)">
                                      <p:cBhvr>
                                        <p:cTn id="16" dur="500"/>
                                        <p:tgtEl>
                                          <p:spTgt spid="720964"/>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720959"/>
                                        </p:tgtEl>
                                        <p:attrNameLst>
                                          <p:attrName>style.visibility</p:attrName>
                                        </p:attrNameLst>
                                      </p:cBhvr>
                                      <p:to>
                                        <p:strVal val="visible"/>
                                      </p:to>
                                    </p:set>
                                    <p:animEffect transition="in" filter="wipe(right)">
                                      <p:cBhvr>
                                        <p:cTn id="19" dur="500"/>
                                        <p:tgtEl>
                                          <p:spTgt spid="720959"/>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720956"/>
                                        </p:tgtEl>
                                        <p:attrNameLst>
                                          <p:attrName>style.visibility</p:attrName>
                                        </p:attrNameLst>
                                      </p:cBhvr>
                                      <p:to>
                                        <p:strVal val="visible"/>
                                      </p:to>
                                    </p:set>
                                    <p:animEffect transition="in" filter="wipe(right)">
                                      <p:cBhvr>
                                        <p:cTn id="22" dur="500"/>
                                        <p:tgtEl>
                                          <p:spTgt spid="720956"/>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720957"/>
                                        </p:tgtEl>
                                        <p:attrNameLst>
                                          <p:attrName>style.visibility</p:attrName>
                                        </p:attrNameLst>
                                      </p:cBhvr>
                                      <p:to>
                                        <p:strVal val="visible"/>
                                      </p:to>
                                    </p:set>
                                    <p:animEffect transition="in" filter="wipe(right)">
                                      <p:cBhvr>
                                        <p:cTn id="25" dur="500"/>
                                        <p:tgtEl>
                                          <p:spTgt spid="720957"/>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720958"/>
                                        </p:tgtEl>
                                        <p:attrNameLst>
                                          <p:attrName>style.visibility</p:attrName>
                                        </p:attrNameLst>
                                      </p:cBhvr>
                                      <p:to>
                                        <p:strVal val="visible"/>
                                      </p:to>
                                    </p:set>
                                    <p:animEffect transition="in" filter="wipe(right)">
                                      <p:cBhvr>
                                        <p:cTn id="28" dur="500"/>
                                        <p:tgtEl>
                                          <p:spTgt spid="720958"/>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720972"/>
                                        </p:tgtEl>
                                        <p:attrNameLst>
                                          <p:attrName>style.visibility</p:attrName>
                                        </p:attrNameLst>
                                      </p:cBhvr>
                                      <p:to>
                                        <p:strVal val="visible"/>
                                      </p:to>
                                    </p:set>
                                    <p:animEffect transition="in" filter="wipe(right)">
                                      <p:cBhvr>
                                        <p:cTn id="31" dur="500"/>
                                        <p:tgtEl>
                                          <p:spTgt spid="720972"/>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720955"/>
                                        </p:tgtEl>
                                        <p:attrNameLst>
                                          <p:attrName>style.visibility</p:attrName>
                                        </p:attrNameLst>
                                      </p:cBhvr>
                                      <p:to>
                                        <p:strVal val="visible"/>
                                      </p:to>
                                    </p:set>
                                    <p:animEffect transition="in" filter="wipe(right)">
                                      <p:cBhvr>
                                        <p:cTn id="34" dur="500"/>
                                        <p:tgtEl>
                                          <p:spTgt spid="720955"/>
                                        </p:tgtEl>
                                      </p:cBhvr>
                                    </p:animEffect>
                                  </p:childTnLst>
                                </p:cTn>
                              </p:par>
                              <p:par>
                                <p:cTn id="35" presetID="22" presetClass="entr" presetSubtype="2" fill="hold" grpId="0" nodeType="withEffect">
                                  <p:stCondLst>
                                    <p:cond delay="0"/>
                                  </p:stCondLst>
                                  <p:childTnLst>
                                    <p:set>
                                      <p:cBhvr>
                                        <p:cTn id="36" dur="1" fill="hold">
                                          <p:stCondLst>
                                            <p:cond delay="0"/>
                                          </p:stCondLst>
                                        </p:cTn>
                                        <p:tgtEl>
                                          <p:spTgt spid="720989"/>
                                        </p:tgtEl>
                                        <p:attrNameLst>
                                          <p:attrName>style.visibility</p:attrName>
                                        </p:attrNameLst>
                                      </p:cBhvr>
                                      <p:to>
                                        <p:strVal val="visible"/>
                                      </p:to>
                                    </p:set>
                                    <p:animEffect transition="in" filter="wipe(right)">
                                      <p:cBhvr>
                                        <p:cTn id="37" dur="500"/>
                                        <p:tgtEl>
                                          <p:spTgt spid="720989"/>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720977"/>
                                        </p:tgtEl>
                                        <p:attrNameLst>
                                          <p:attrName>style.visibility</p:attrName>
                                        </p:attrNameLst>
                                      </p:cBhvr>
                                      <p:to>
                                        <p:strVal val="visible"/>
                                      </p:to>
                                    </p:set>
                                    <p:animEffect transition="in" filter="wipe(right)">
                                      <p:cBhvr>
                                        <p:cTn id="40" dur="500"/>
                                        <p:tgtEl>
                                          <p:spTgt spid="720977"/>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720978"/>
                                        </p:tgtEl>
                                        <p:attrNameLst>
                                          <p:attrName>style.visibility</p:attrName>
                                        </p:attrNameLst>
                                      </p:cBhvr>
                                      <p:to>
                                        <p:strVal val="visible"/>
                                      </p:to>
                                    </p:set>
                                    <p:animEffect transition="in" filter="wipe(right)">
                                      <p:cBhvr>
                                        <p:cTn id="43" dur="500"/>
                                        <p:tgtEl>
                                          <p:spTgt spid="720978"/>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720990"/>
                                        </p:tgtEl>
                                        <p:attrNameLst>
                                          <p:attrName>style.visibility</p:attrName>
                                        </p:attrNameLst>
                                      </p:cBhvr>
                                      <p:to>
                                        <p:strVal val="visible"/>
                                      </p:to>
                                    </p:set>
                                    <p:animEffect transition="in" filter="wipe(right)">
                                      <p:cBhvr>
                                        <p:cTn id="46" dur="500"/>
                                        <p:tgtEl>
                                          <p:spTgt spid="72099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20975"/>
                                        </p:tgtEl>
                                        <p:attrNameLst>
                                          <p:attrName>style.visibility</p:attrName>
                                        </p:attrNameLst>
                                      </p:cBhvr>
                                      <p:to>
                                        <p:strVal val="visible"/>
                                      </p:to>
                                    </p:set>
                                    <p:animEffect transition="in" filter="wipe(left)">
                                      <p:cBhvr>
                                        <p:cTn id="51" dur="500"/>
                                        <p:tgtEl>
                                          <p:spTgt spid="720975"/>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720976"/>
                                        </p:tgtEl>
                                        <p:attrNameLst>
                                          <p:attrName>style.visibility</p:attrName>
                                        </p:attrNameLst>
                                      </p:cBhvr>
                                      <p:to>
                                        <p:strVal val="visible"/>
                                      </p:to>
                                    </p:set>
                                    <p:animEffect transition="in" filter="wipe(left)">
                                      <p:cBhvr>
                                        <p:cTn id="54" dur="500"/>
                                        <p:tgtEl>
                                          <p:spTgt spid="720976"/>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720974"/>
                                        </p:tgtEl>
                                        <p:attrNameLst>
                                          <p:attrName>style.visibility</p:attrName>
                                        </p:attrNameLst>
                                      </p:cBhvr>
                                      <p:to>
                                        <p:strVal val="visible"/>
                                      </p:to>
                                    </p:set>
                                    <p:animEffect transition="in" filter="wipe(left)">
                                      <p:cBhvr>
                                        <p:cTn id="57" dur="500"/>
                                        <p:tgtEl>
                                          <p:spTgt spid="720974"/>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720971"/>
                                        </p:tgtEl>
                                        <p:attrNameLst>
                                          <p:attrName>style.visibility</p:attrName>
                                        </p:attrNameLst>
                                      </p:cBhvr>
                                      <p:to>
                                        <p:strVal val="visible"/>
                                      </p:to>
                                    </p:set>
                                    <p:animEffect transition="in" filter="wipe(left)">
                                      <p:cBhvr>
                                        <p:cTn id="60" dur="500"/>
                                        <p:tgtEl>
                                          <p:spTgt spid="720971"/>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720960"/>
                                        </p:tgtEl>
                                        <p:attrNameLst>
                                          <p:attrName>style.visibility</p:attrName>
                                        </p:attrNameLst>
                                      </p:cBhvr>
                                      <p:to>
                                        <p:strVal val="visible"/>
                                      </p:to>
                                    </p:set>
                                    <p:animEffect transition="in" filter="wipe(left)">
                                      <p:cBhvr>
                                        <p:cTn id="63" dur="500"/>
                                        <p:tgtEl>
                                          <p:spTgt spid="720960"/>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720961"/>
                                        </p:tgtEl>
                                        <p:attrNameLst>
                                          <p:attrName>style.visibility</p:attrName>
                                        </p:attrNameLst>
                                      </p:cBhvr>
                                      <p:to>
                                        <p:strVal val="visible"/>
                                      </p:to>
                                    </p:set>
                                    <p:animEffect transition="in" filter="wipe(left)">
                                      <p:cBhvr>
                                        <p:cTn id="66" dur="500"/>
                                        <p:tgtEl>
                                          <p:spTgt spid="720961"/>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720962"/>
                                        </p:tgtEl>
                                        <p:attrNameLst>
                                          <p:attrName>style.visibility</p:attrName>
                                        </p:attrNameLst>
                                      </p:cBhvr>
                                      <p:to>
                                        <p:strVal val="visible"/>
                                      </p:to>
                                    </p:set>
                                    <p:animEffect transition="in" filter="wipe(left)">
                                      <p:cBhvr>
                                        <p:cTn id="69" dur="500"/>
                                        <p:tgtEl>
                                          <p:spTgt spid="720962"/>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720963"/>
                                        </p:tgtEl>
                                        <p:attrNameLst>
                                          <p:attrName>style.visibility</p:attrName>
                                        </p:attrNameLst>
                                      </p:cBhvr>
                                      <p:to>
                                        <p:strVal val="visible"/>
                                      </p:to>
                                    </p:set>
                                    <p:animEffect transition="in" filter="wipe(left)">
                                      <p:cBhvr>
                                        <p:cTn id="72" dur="500"/>
                                        <p:tgtEl>
                                          <p:spTgt spid="720963"/>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720973"/>
                                        </p:tgtEl>
                                        <p:attrNameLst>
                                          <p:attrName>style.visibility</p:attrName>
                                        </p:attrNameLst>
                                      </p:cBhvr>
                                      <p:to>
                                        <p:strVal val="visible"/>
                                      </p:to>
                                    </p:set>
                                    <p:animEffect transition="in" filter="wipe(left)">
                                      <p:cBhvr>
                                        <p:cTn id="75" dur="500"/>
                                        <p:tgtEl>
                                          <p:spTgt spid="720973"/>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720968"/>
                                        </p:tgtEl>
                                        <p:attrNameLst>
                                          <p:attrName>style.visibility</p:attrName>
                                        </p:attrNameLst>
                                      </p:cBhvr>
                                      <p:to>
                                        <p:strVal val="visible"/>
                                      </p:to>
                                    </p:set>
                                    <p:animEffect transition="in" filter="wipe(left)">
                                      <p:cBhvr>
                                        <p:cTn id="78" dur="500"/>
                                        <p:tgtEl>
                                          <p:spTgt spid="720968"/>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720991"/>
                                        </p:tgtEl>
                                        <p:attrNameLst>
                                          <p:attrName>style.visibility</p:attrName>
                                        </p:attrNameLst>
                                      </p:cBhvr>
                                      <p:to>
                                        <p:strVal val="visible"/>
                                      </p:to>
                                    </p:set>
                                    <p:animEffect transition="in" filter="wipe(left)">
                                      <p:cBhvr>
                                        <p:cTn id="81" dur="500"/>
                                        <p:tgtEl>
                                          <p:spTgt spid="720991"/>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720992"/>
                                        </p:tgtEl>
                                        <p:attrNameLst>
                                          <p:attrName>style.visibility</p:attrName>
                                        </p:attrNameLst>
                                      </p:cBhvr>
                                      <p:to>
                                        <p:strVal val="visible"/>
                                      </p:to>
                                    </p:set>
                                    <p:animEffect transition="in" filter="wipe(left)">
                                      <p:cBhvr>
                                        <p:cTn id="84" dur="500"/>
                                        <p:tgtEl>
                                          <p:spTgt spid="720992"/>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720979"/>
                                        </p:tgtEl>
                                        <p:attrNameLst>
                                          <p:attrName>style.visibility</p:attrName>
                                        </p:attrNameLst>
                                      </p:cBhvr>
                                      <p:to>
                                        <p:strVal val="visible"/>
                                      </p:to>
                                    </p:set>
                                    <p:animEffect transition="in" filter="wipe(left)">
                                      <p:cBhvr>
                                        <p:cTn id="87" dur="500"/>
                                        <p:tgtEl>
                                          <p:spTgt spid="720979"/>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720980"/>
                                        </p:tgtEl>
                                        <p:attrNameLst>
                                          <p:attrName>style.visibility</p:attrName>
                                        </p:attrNameLst>
                                      </p:cBhvr>
                                      <p:to>
                                        <p:strVal val="visible"/>
                                      </p:to>
                                    </p:set>
                                    <p:animEffect transition="in" filter="wipe(left)">
                                      <p:cBhvr>
                                        <p:cTn id="90" dur="500"/>
                                        <p:tgtEl>
                                          <p:spTgt spid="720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955" grpId="0" animBg="1"/>
      <p:bldP spid="720956" grpId="0" animBg="1"/>
      <p:bldP spid="720957" grpId="0" animBg="1"/>
      <p:bldP spid="720958" grpId="0" animBg="1"/>
      <p:bldP spid="720959" grpId="0" animBg="1"/>
      <p:bldP spid="720960" grpId="0" animBg="1"/>
      <p:bldP spid="720961" grpId="0" animBg="1"/>
      <p:bldP spid="720962" grpId="0" animBg="1"/>
      <p:bldP spid="720963" grpId="0" animBg="1"/>
      <p:bldP spid="720964" grpId="0" animBg="1"/>
      <p:bldP spid="720965" grpId="0" animBg="1"/>
      <p:bldP spid="720966" grpId="0" animBg="1"/>
      <p:bldP spid="720968" grpId="0" animBg="1"/>
      <p:bldP spid="720971" grpId="0" animBg="1"/>
      <p:bldP spid="720972" grpId="0" animBg="1"/>
      <p:bldP spid="720973" grpId="0" animBg="1"/>
      <p:bldP spid="720974" grpId="0" animBg="1"/>
      <p:bldP spid="720975" grpId="0" animBg="1"/>
      <p:bldP spid="720976" grpId="0"/>
      <p:bldP spid="720977" grpId="0"/>
      <p:bldP spid="720978" grpId="0"/>
      <p:bldP spid="720979" grpId="0"/>
      <p:bldP spid="720980" grpId="0"/>
      <p:bldP spid="720989" grpId="0"/>
      <p:bldP spid="720990" grpId="0"/>
      <p:bldP spid="720991" grpId="0"/>
      <p:bldP spid="720992" grpId="0"/>
      <p:bldP spid="72099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2268538" y="2565400"/>
            <a:ext cx="3059112" cy="2124075"/>
          </a:xfrm>
          <a:prstGeom prst="rect">
            <a:avLst/>
          </a:prstGeom>
          <a:solidFill>
            <a:srgbClr val="CCFFFF"/>
          </a:solidFill>
          <a:ln w="9525">
            <a:solidFill>
              <a:srgbClr val="008080"/>
            </a:solidFill>
            <a:miter lim="800000"/>
            <a:headEnd/>
            <a:tailEnd/>
          </a:ln>
        </p:spPr>
        <p:txBody>
          <a:bodyPr/>
          <a:lstStyle/>
          <a:p>
            <a:endParaRPr lang="en-US"/>
          </a:p>
        </p:txBody>
      </p:sp>
      <p:sp>
        <p:nvSpPr>
          <p:cNvPr id="3" name="Rectangle 4"/>
          <p:cNvSpPr>
            <a:spLocks noChangeArrowheads="1"/>
          </p:cNvSpPr>
          <p:nvPr/>
        </p:nvSpPr>
        <p:spPr bwMode="auto">
          <a:xfrm>
            <a:off x="2268538" y="3860800"/>
            <a:ext cx="2016125" cy="720725"/>
          </a:xfrm>
          <a:prstGeom prst="rect">
            <a:avLst/>
          </a:prstGeom>
          <a:solidFill>
            <a:srgbClr val="CCFFCC"/>
          </a:solidFill>
          <a:ln w="9525">
            <a:solidFill>
              <a:srgbClr val="008000"/>
            </a:solidFill>
            <a:miter lim="800000"/>
            <a:headEnd/>
            <a:tailEnd/>
          </a:ln>
        </p:spPr>
        <p:txBody>
          <a:bodyPr/>
          <a:lstStyle/>
          <a:p>
            <a:endParaRPr lang="en-US"/>
          </a:p>
        </p:txBody>
      </p:sp>
      <p:sp>
        <p:nvSpPr>
          <p:cNvPr id="130050" name="Rectangle 3"/>
          <p:cNvSpPr>
            <a:spLocks noChangeArrowheads="1"/>
          </p:cNvSpPr>
          <p:nvPr/>
        </p:nvSpPr>
        <p:spPr bwMode="auto">
          <a:xfrm>
            <a:off x="4787900" y="5768975"/>
            <a:ext cx="614363" cy="215444"/>
          </a:xfrm>
          <a:prstGeom prst="rect">
            <a:avLst/>
          </a:prstGeom>
          <a:noFill/>
          <a:ln w="9525">
            <a:noFill/>
            <a:miter lim="800000"/>
            <a:headEnd/>
            <a:tailEnd/>
          </a:ln>
        </p:spPr>
        <p:txBody>
          <a:bodyPr wrap="square" lIns="0" tIns="0" rIns="0" bIns="0">
            <a:spAutoFit/>
          </a:bodyPr>
          <a:lstStyle/>
          <a:p>
            <a:pPr marL="1588" indent="-1588"/>
            <a:r>
              <a:rPr lang="en-US" sz="1400" i="1" dirty="0">
                <a:solidFill>
                  <a:srgbClr val="000000"/>
                </a:solidFill>
              </a:rPr>
              <a:t>MR</a:t>
            </a:r>
            <a:r>
              <a:rPr lang="en-US" sz="1400" i="1" baseline="-25000" dirty="0">
                <a:solidFill>
                  <a:srgbClr val="000000"/>
                </a:solidFill>
              </a:rPr>
              <a:t>2</a:t>
            </a:r>
            <a:endParaRPr lang="en-US" sz="1400" i="1" baseline="-25000" dirty="0"/>
          </a:p>
        </p:txBody>
      </p:sp>
      <p:sp>
        <p:nvSpPr>
          <p:cNvPr id="130052" name="Rectangle 5"/>
          <p:cNvSpPr>
            <a:spLocks noChangeArrowheads="1"/>
          </p:cNvSpPr>
          <p:nvPr/>
        </p:nvSpPr>
        <p:spPr bwMode="auto">
          <a:xfrm>
            <a:off x="6804025" y="5734050"/>
            <a:ext cx="288925" cy="215444"/>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rPr>
              <a:t>D</a:t>
            </a:r>
            <a:r>
              <a:rPr lang="en-US" sz="1400" i="1" baseline="-25000">
                <a:solidFill>
                  <a:srgbClr val="000000"/>
                </a:solidFill>
              </a:rPr>
              <a:t>2</a:t>
            </a:r>
            <a:endParaRPr lang="en-US" sz="1400" i="1" baseline="-25000"/>
          </a:p>
        </p:txBody>
      </p:sp>
      <p:sp>
        <p:nvSpPr>
          <p:cNvPr id="55301" name="Rectangle 6"/>
          <p:cNvSpPr>
            <a:spLocks noChangeArrowheads="1"/>
          </p:cNvSpPr>
          <p:nvPr/>
        </p:nvSpPr>
        <p:spPr bwMode="auto">
          <a:xfrm>
            <a:off x="2663825" y="5661025"/>
            <a:ext cx="276225" cy="215444"/>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rPr>
              <a:t>MC</a:t>
            </a:r>
            <a:endParaRPr lang="en-US" sz="1400" i="1"/>
          </a:p>
        </p:txBody>
      </p:sp>
      <p:sp>
        <p:nvSpPr>
          <p:cNvPr id="55302" name="Rectangle 8"/>
          <p:cNvSpPr>
            <a:spLocks noChangeArrowheads="1"/>
          </p:cNvSpPr>
          <p:nvPr/>
        </p:nvSpPr>
        <p:spPr bwMode="auto">
          <a:xfrm>
            <a:off x="6985000" y="3216275"/>
            <a:ext cx="268920"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ATC</a:t>
            </a:r>
            <a:endParaRPr lang="en-US" sz="1400" i="1"/>
          </a:p>
        </p:txBody>
      </p:sp>
      <p:sp>
        <p:nvSpPr>
          <p:cNvPr id="722956" name="Rectangle 12"/>
          <p:cNvSpPr>
            <a:spLocks noChangeArrowheads="1"/>
          </p:cNvSpPr>
          <p:nvPr/>
        </p:nvSpPr>
        <p:spPr bwMode="auto">
          <a:xfrm>
            <a:off x="4179888" y="6086475"/>
            <a:ext cx="118622"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Q</a:t>
            </a:r>
            <a:endParaRPr lang="en-US" sz="1400" i="1"/>
          </a:p>
        </p:txBody>
      </p:sp>
      <p:sp>
        <p:nvSpPr>
          <p:cNvPr id="722957" name="Rectangle 13"/>
          <p:cNvSpPr>
            <a:spLocks noChangeArrowheads="1"/>
          </p:cNvSpPr>
          <p:nvPr/>
        </p:nvSpPr>
        <p:spPr bwMode="auto">
          <a:xfrm>
            <a:off x="4316413" y="6203950"/>
            <a:ext cx="91372"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2</a:t>
            </a:r>
            <a:endParaRPr lang="en-US" sz="1400" i="1"/>
          </a:p>
        </p:txBody>
      </p:sp>
      <p:sp>
        <p:nvSpPr>
          <p:cNvPr id="130068" name="Line 21"/>
          <p:cNvSpPr>
            <a:spLocks noChangeShapeType="1"/>
          </p:cNvSpPr>
          <p:nvPr/>
        </p:nvSpPr>
        <p:spPr bwMode="auto">
          <a:xfrm>
            <a:off x="2627313" y="2492375"/>
            <a:ext cx="4140200" cy="3457575"/>
          </a:xfrm>
          <a:prstGeom prst="line">
            <a:avLst/>
          </a:prstGeom>
          <a:noFill/>
          <a:ln w="30226">
            <a:solidFill>
              <a:srgbClr val="3C5DAA"/>
            </a:solidFill>
            <a:prstDash val="dash"/>
            <a:miter lim="800000"/>
            <a:headEnd/>
            <a:tailEnd/>
          </a:ln>
        </p:spPr>
        <p:txBody>
          <a:bodyPr/>
          <a:lstStyle/>
          <a:p>
            <a:endParaRPr lang="en-US"/>
          </a:p>
        </p:txBody>
      </p:sp>
      <p:sp>
        <p:nvSpPr>
          <p:cNvPr id="130069" name="Line 22"/>
          <p:cNvSpPr>
            <a:spLocks noChangeShapeType="1"/>
          </p:cNvSpPr>
          <p:nvPr/>
        </p:nvSpPr>
        <p:spPr bwMode="auto">
          <a:xfrm>
            <a:off x="2462213" y="2511425"/>
            <a:ext cx="2290762" cy="3395663"/>
          </a:xfrm>
          <a:prstGeom prst="line">
            <a:avLst/>
          </a:prstGeom>
          <a:noFill/>
          <a:ln w="30226">
            <a:solidFill>
              <a:srgbClr val="4B8FCC"/>
            </a:solidFill>
            <a:prstDash val="dash"/>
            <a:miter lim="800000"/>
            <a:headEnd/>
            <a:tailEnd/>
          </a:ln>
        </p:spPr>
        <p:txBody>
          <a:bodyPr/>
          <a:lstStyle/>
          <a:p>
            <a:endParaRPr lang="en-US"/>
          </a:p>
        </p:txBody>
      </p:sp>
      <p:sp>
        <p:nvSpPr>
          <p:cNvPr id="55307" name="Freeform 23"/>
          <p:cNvSpPr>
            <a:spLocks/>
          </p:cNvSpPr>
          <p:nvPr/>
        </p:nvSpPr>
        <p:spPr bwMode="auto">
          <a:xfrm>
            <a:off x="2879725" y="2781300"/>
            <a:ext cx="4275138" cy="2289175"/>
          </a:xfrm>
          <a:custGeom>
            <a:avLst/>
            <a:gdLst>
              <a:gd name="T0" fmla="*/ 0 w 595"/>
              <a:gd name="T1" fmla="*/ 0 h 357"/>
              <a:gd name="T2" fmla="*/ 2147483647 w 595"/>
              <a:gd name="T3" fmla="*/ 2147483647 h 357"/>
              <a:gd name="T4" fmla="*/ 2147483647 w 595"/>
              <a:gd name="T5" fmla="*/ 2147483647 h 357"/>
              <a:gd name="T6" fmla="*/ 0 60000 65536"/>
              <a:gd name="T7" fmla="*/ 0 60000 65536"/>
              <a:gd name="T8" fmla="*/ 0 60000 65536"/>
              <a:gd name="T9" fmla="*/ 0 w 595"/>
              <a:gd name="T10" fmla="*/ 0 h 357"/>
              <a:gd name="T11" fmla="*/ 595 w 595"/>
              <a:gd name="T12" fmla="*/ 357 h 357"/>
            </a:gdLst>
            <a:ahLst/>
            <a:cxnLst>
              <a:cxn ang="T6">
                <a:pos x="T0" y="T1"/>
              </a:cxn>
              <a:cxn ang="T7">
                <a:pos x="T2" y="T3"/>
              </a:cxn>
              <a:cxn ang="T8">
                <a:pos x="T4" y="T5"/>
              </a:cxn>
            </a:cxnLst>
            <a:rect l="T9" t="T10" r="T11" b="T12"/>
            <a:pathLst>
              <a:path w="595" h="357">
                <a:moveTo>
                  <a:pt x="0" y="0"/>
                </a:moveTo>
                <a:cubicBezTo>
                  <a:pt x="0" y="95"/>
                  <a:pt x="31" y="170"/>
                  <a:pt x="82" y="217"/>
                </a:cubicBezTo>
                <a:cubicBezTo>
                  <a:pt x="234" y="357"/>
                  <a:pt x="509" y="323"/>
                  <a:pt x="595" y="101"/>
                </a:cubicBezTo>
              </a:path>
            </a:pathLst>
          </a:custGeom>
          <a:noFill/>
          <a:ln w="30163" cap="flat">
            <a:solidFill>
              <a:srgbClr val="8C64AB"/>
            </a:solidFill>
            <a:prstDash val="solid"/>
            <a:miter lim="800000"/>
            <a:headEnd/>
            <a:tailEnd/>
          </a:ln>
        </p:spPr>
        <p:txBody>
          <a:bodyPr/>
          <a:lstStyle/>
          <a:p>
            <a:endParaRPr lang="en-US"/>
          </a:p>
        </p:txBody>
      </p:sp>
      <p:sp>
        <p:nvSpPr>
          <p:cNvPr id="722968" name="Oval 24"/>
          <p:cNvSpPr>
            <a:spLocks noChangeArrowheads="1"/>
          </p:cNvSpPr>
          <p:nvPr/>
        </p:nvSpPr>
        <p:spPr bwMode="auto">
          <a:xfrm>
            <a:off x="4229100" y="3810000"/>
            <a:ext cx="146050" cy="131763"/>
          </a:xfrm>
          <a:prstGeom prst="ellipse">
            <a:avLst/>
          </a:prstGeom>
          <a:solidFill>
            <a:srgbClr val="000000"/>
          </a:solidFill>
          <a:ln w="9525">
            <a:noFill/>
            <a:round/>
            <a:headEnd/>
            <a:tailEnd/>
          </a:ln>
        </p:spPr>
        <p:txBody>
          <a:bodyPr/>
          <a:lstStyle/>
          <a:p>
            <a:endParaRPr lang="en-US"/>
          </a:p>
        </p:txBody>
      </p:sp>
      <p:sp>
        <p:nvSpPr>
          <p:cNvPr id="55309" name="Freeform 25"/>
          <p:cNvSpPr>
            <a:spLocks/>
          </p:cNvSpPr>
          <p:nvPr/>
        </p:nvSpPr>
        <p:spPr bwMode="auto">
          <a:xfrm>
            <a:off x="2266950" y="1281113"/>
            <a:ext cx="6038850" cy="4767262"/>
          </a:xfrm>
          <a:custGeom>
            <a:avLst/>
            <a:gdLst>
              <a:gd name="T0" fmla="*/ 2147483647 w 1984"/>
              <a:gd name="T1" fmla="*/ 2147483647 h 1758"/>
              <a:gd name="T2" fmla="*/ 0 w 1984"/>
              <a:gd name="T3" fmla="*/ 2147483647 h 1758"/>
              <a:gd name="T4" fmla="*/ 0 w 1984"/>
              <a:gd name="T5" fmla="*/ 0 h 1758"/>
              <a:gd name="T6" fmla="*/ 0 60000 65536"/>
              <a:gd name="T7" fmla="*/ 0 60000 65536"/>
              <a:gd name="T8" fmla="*/ 0 60000 65536"/>
              <a:gd name="T9" fmla="*/ 0 w 1984"/>
              <a:gd name="T10" fmla="*/ 0 h 1758"/>
              <a:gd name="T11" fmla="*/ 1984 w 1984"/>
              <a:gd name="T12" fmla="*/ 1758 h 1758"/>
            </a:gdLst>
            <a:ahLst/>
            <a:cxnLst>
              <a:cxn ang="T6">
                <a:pos x="T0" y="T1"/>
              </a:cxn>
              <a:cxn ang="T7">
                <a:pos x="T2" y="T3"/>
              </a:cxn>
              <a:cxn ang="T8">
                <a:pos x="T4" y="T5"/>
              </a:cxn>
            </a:cxnLst>
            <a:rect l="T9" t="T10" r="T11" b="T12"/>
            <a:pathLst>
              <a:path w="1984" h="1758">
                <a:moveTo>
                  <a:pt x="1984" y="1758"/>
                </a:moveTo>
                <a:lnTo>
                  <a:pt x="0" y="1758"/>
                </a:lnTo>
                <a:lnTo>
                  <a:pt x="0" y="0"/>
                </a:lnTo>
              </a:path>
            </a:pathLst>
          </a:custGeom>
          <a:noFill/>
          <a:ln w="7938" cap="flat">
            <a:solidFill>
              <a:srgbClr val="000000"/>
            </a:solidFill>
            <a:prstDash val="solid"/>
            <a:miter lim="800000"/>
            <a:headEnd/>
            <a:tailEnd/>
          </a:ln>
        </p:spPr>
        <p:txBody>
          <a:bodyPr/>
          <a:lstStyle/>
          <a:p>
            <a:endParaRPr lang="en-US"/>
          </a:p>
        </p:txBody>
      </p:sp>
      <p:sp>
        <p:nvSpPr>
          <p:cNvPr id="722970" name="Line 26"/>
          <p:cNvSpPr>
            <a:spLocks noChangeShapeType="1"/>
          </p:cNvSpPr>
          <p:nvPr/>
        </p:nvSpPr>
        <p:spPr bwMode="auto">
          <a:xfrm flipH="1" flipV="1">
            <a:off x="5435600" y="4545013"/>
            <a:ext cx="1223963" cy="492125"/>
          </a:xfrm>
          <a:prstGeom prst="line">
            <a:avLst/>
          </a:prstGeom>
          <a:noFill/>
          <a:ln w="12700">
            <a:solidFill>
              <a:srgbClr val="000000"/>
            </a:solidFill>
            <a:miter lim="800000"/>
            <a:headEnd/>
            <a:tailEnd type="triangle" w="med" len="med"/>
          </a:ln>
        </p:spPr>
        <p:txBody>
          <a:bodyPr/>
          <a:lstStyle/>
          <a:p>
            <a:endParaRPr lang="en-US"/>
          </a:p>
        </p:txBody>
      </p:sp>
      <p:sp>
        <p:nvSpPr>
          <p:cNvPr id="722971" name="Freeform 27"/>
          <p:cNvSpPr>
            <a:spLocks/>
          </p:cNvSpPr>
          <p:nvPr/>
        </p:nvSpPr>
        <p:spPr bwMode="auto">
          <a:xfrm>
            <a:off x="6588125" y="4905375"/>
            <a:ext cx="863600" cy="287338"/>
          </a:xfrm>
          <a:custGeom>
            <a:avLst/>
            <a:gdLst>
              <a:gd name="T0" fmla="*/ 2147483647 w 265"/>
              <a:gd name="T1" fmla="*/ 1261380575 h 60"/>
              <a:gd name="T2" fmla="*/ 2147483647 w 265"/>
              <a:gd name="T3" fmla="*/ 1376052353 h 60"/>
              <a:gd name="T4" fmla="*/ 127441281 w 265"/>
              <a:gd name="T5" fmla="*/ 1376052353 h 60"/>
              <a:gd name="T6" fmla="*/ 0 w 265"/>
              <a:gd name="T7" fmla="*/ 1261380575 h 60"/>
              <a:gd name="T8" fmla="*/ 0 w 265"/>
              <a:gd name="T9" fmla="*/ 137606171 h 60"/>
              <a:gd name="T10" fmla="*/ 127441281 w 265"/>
              <a:gd name="T11" fmla="*/ 0 h 60"/>
              <a:gd name="T12" fmla="*/ 2147483647 w 265"/>
              <a:gd name="T13" fmla="*/ 0 h 60"/>
              <a:gd name="T14" fmla="*/ 2147483647 w 265"/>
              <a:gd name="T15" fmla="*/ 137606171 h 60"/>
              <a:gd name="T16" fmla="*/ 2147483647 w 265"/>
              <a:gd name="T17" fmla="*/ 1261380575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5"/>
              <a:gd name="T28" fmla="*/ 0 h 60"/>
              <a:gd name="T29" fmla="*/ 265 w 265"/>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5" h="60">
                <a:moveTo>
                  <a:pt x="265" y="55"/>
                </a:moveTo>
                <a:cubicBezTo>
                  <a:pt x="265" y="58"/>
                  <a:pt x="260" y="60"/>
                  <a:pt x="253" y="60"/>
                </a:cubicBezTo>
                <a:cubicBezTo>
                  <a:pt x="12" y="60"/>
                  <a:pt x="12" y="60"/>
                  <a:pt x="12" y="60"/>
                </a:cubicBezTo>
                <a:cubicBezTo>
                  <a:pt x="5" y="60"/>
                  <a:pt x="0" y="58"/>
                  <a:pt x="0" y="55"/>
                </a:cubicBezTo>
                <a:cubicBezTo>
                  <a:pt x="0" y="6"/>
                  <a:pt x="0" y="6"/>
                  <a:pt x="0" y="6"/>
                </a:cubicBezTo>
                <a:cubicBezTo>
                  <a:pt x="0" y="3"/>
                  <a:pt x="5" y="0"/>
                  <a:pt x="12" y="0"/>
                </a:cubicBezTo>
                <a:cubicBezTo>
                  <a:pt x="253" y="0"/>
                  <a:pt x="253" y="0"/>
                  <a:pt x="253" y="0"/>
                </a:cubicBezTo>
                <a:cubicBezTo>
                  <a:pt x="260" y="0"/>
                  <a:pt x="265" y="3"/>
                  <a:pt x="265" y="6"/>
                </a:cubicBezTo>
                <a:lnTo>
                  <a:pt x="265" y="55"/>
                </a:lnTo>
                <a:close/>
              </a:path>
            </a:pathLst>
          </a:custGeom>
          <a:solidFill>
            <a:srgbClr val="D7E2E0"/>
          </a:solidFill>
          <a:ln w="9525">
            <a:noFill/>
            <a:round/>
            <a:headEnd/>
            <a:tailEnd/>
          </a:ln>
        </p:spPr>
        <p:txBody>
          <a:bodyPr/>
          <a:lstStyle/>
          <a:p>
            <a:endParaRPr lang="en-US"/>
          </a:p>
        </p:txBody>
      </p:sp>
      <p:sp>
        <p:nvSpPr>
          <p:cNvPr id="722972" name="Rectangle 28"/>
          <p:cNvSpPr>
            <a:spLocks noChangeArrowheads="1"/>
          </p:cNvSpPr>
          <p:nvPr/>
        </p:nvSpPr>
        <p:spPr bwMode="auto">
          <a:xfrm>
            <a:off x="6657078" y="4941888"/>
            <a:ext cx="678071" cy="215444"/>
          </a:xfrm>
          <a:prstGeom prst="rect">
            <a:avLst/>
          </a:prstGeom>
          <a:noFill/>
          <a:ln w="9525">
            <a:noFill/>
            <a:miter lim="800000"/>
            <a:headEnd/>
            <a:tailEnd/>
          </a:ln>
        </p:spPr>
        <p:txBody>
          <a:bodyPr wrap="none" lIns="0" tIns="0" rIns="0" bIns="0">
            <a:spAutoFit/>
          </a:bodyPr>
          <a:lstStyle/>
          <a:p>
            <a:pPr marL="1588" indent="-1588" algn="ctr"/>
            <a:r>
              <a:rPr lang="en-US" sz="1400" b="1" i="1">
                <a:solidFill>
                  <a:srgbClr val="000000"/>
                </a:solidFill>
              </a:rPr>
              <a:t>MC = MR</a:t>
            </a:r>
            <a:endParaRPr lang="en-US" sz="1400" b="1" i="1"/>
          </a:p>
        </p:txBody>
      </p:sp>
      <p:sp>
        <p:nvSpPr>
          <p:cNvPr id="55313" name="Freeform 29"/>
          <p:cNvSpPr>
            <a:spLocks/>
          </p:cNvSpPr>
          <p:nvPr/>
        </p:nvSpPr>
        <p:spPr bwMode="auto">
          <a:xfrm>
            <a:off x="2987675" y="2205038"/>
            <a:ext cx="3529013" cy="3492500"/>
          </a:xfrm>
          <a:custGeom>
            <a:avLst/>
            <a:gdLst>
              <a:gd name="T0" fmla="*/ 2147483647 w 482"/>
              <a:gd name="T1" fmla="*/ 0 h 491"/>
              <a:gd name="T2" fmla="*/ 0 w 482"/>
              <a:gd name="T3" fmla="*/ 2147483647 h 491"/>
              <a:gd name="T4" fmla="*/ 0 60000 65536"/>
              <a:gd name="T5" fmla="*/ 0 60000 65536"/>
              <a:gd name="T6" fmla="*/ 0 w 482"/>
              <a:gd name="T7" fmla="*/ 0 h 491"/>
              <a:gd name="T8" fmla="*/ 482 w 482"/>
              <a:gd name="T9" fmla="*/ 491 h 491"/>
            </a:gdLst>
            <a:ahLst/>
            <a:cxnLst>
              <a:cxn ang="T4">
                <a:pos x="T0" y="T1"/>
              </a:cxn>
              <a:cxn ang="T5">
                <a:pos x="T2" y="T3"/>
              </a:cxn>
            </a:cxnLst>
            <a:rect l="T6" t="T7" r="T8" b="T9"/>
            <a:pathLst>
              <a:path w="482" h="491">
                <a:moveTo>
                  <a:pt x="482" y="0"/>
                </a:moveTo>
                <a:cubicBezTo>
                  <a:pt x="378" y="383"/>
                  <a:pt x="170" y="444"/>
                  <a:pt x="0" y="491"/>
                </a:cubicBezTo>
              </a:path>
            </a:pathLst>
          </a:custGeom>
          <a:noFill/>
          <a:ln w="30163" cap="flat">
            <a:solidFill>
              <a:srgbClr val="F3716D"/>
            </a:solidFill>
            <a:prstDash val="solid"/>
            <a:miter lim="800000"/>
            <a:headEnd/>
            <a:tailEnd/>
          </a:ln>
        </p:spPr>
        <p:txBody>
          <a:bodyPr/>
          <a:lstStyle/>
          <a:p>
            <a:endParaRPr lang="en-US"/>
          </a:p>
        </p:txBody>
      </p:sp>
      <p:sp>
        <p:nvSpPr>
          <p:cNvPr id="722974" name="Oval 30"/>
          <p:cNvSpPr>
            <a:spLocks noChangeArrowheads="1"/>
          </p:cNvSpPr>
          <p:nvPr/>
        </p:nvSpPr>
        <p:spPr bwMode="auto">
          <a:xfrm>
            <a:off x="4211638" y="5184775"/>
            <a:ext cx="146050" cy="127000"/>
          </a:xfrm>
          <a:prstGeom prst="ellipse">
            <a:avLst/>
          </a:prstGeom>
          <a:solidFill>
            <a:srgbClr val="000000"/>
          </a:solidFill>
          <a:ln w="9525">
            <a:noFill/>
            <a:round/>
            <a:headEnd/>
            <a:tailEnd/>
          </a:ln>
        </p:spPr>
        <p:txBody>
          <a:bodyPr/>
          <a:lstStyle/>
          <a:p>
            <a:endParaRPr lang="en-US"/>
          </a:p>
        </p:txBody>
      </p:sp>
      <p:sp>
        <p:nvSpPr>
          <p:cNvPr id="55315" name="Rectangle 31"/>
          <p:cNvSpPr>
            <a:spLocks noChangeArrowheads="1"/>
          </p:cNvSpPr>
          <p:nvPr/>
        </p:nvSpPr>
        <p:spPr bwMode="auto">
          <a:xfrm>
            <a:off x="1541463" y="838200"/>
            <a:ext cx="146050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rPr>
              <a:t>Price, cost, marginal revenue</a:t>
            </a:r>
            <a:endParaRPr lang="en-US" sz="1400"/>
          </a:p>
        </p:txBody>
      </p:sp>
      <p:sp>
        <p:nvSpPr>
          <p:cNvPr id="55316" name="Rectangle 32"/>
          <p:cNvSpPr>
            <a:spLocks noChangeArrowheads="1"/>
          </p:cNvSpPr>
          <p:nvPr/>
        </p:nvSpPr>
        <p:spPr bwMode="auto">
          <a:xfrm>
            <a:off x="7251021" y="6162675"/>
            <a:ext cx="639534" cy="215444"/>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rPr>
              <a:t>Quantity</a:t>
            </a:r>
            <a:endParaRPr lang="en-US" sz="1400"/>
          </a:p>
        </p:txBody>
      </p:sp>
      <p:cxnSp>
        <p:nvCxnSpPr>
          <p:cNvPr id="548914" name="Straight Connector 86"/>
          <p:cNvCxnSpPr>
            <a:cxnSpLocks noChangeShapeType="1"/>
          </p:cNvCxnSpPr>
          <p:nvPr/>
        </p:nvCxnSpPr>
        <p:spPr bwMode="auto">
          <a:xfrm>
            <a:off x="4284663" y="3916363"/>
            <a:ext cx="0" cy="2116137"/>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2273300" y="3867150"/>
            <a:ext cx="1973263" cy="0"/>
          </a:xfrm>
          <a:prstGeom prst="line">
            <a:avLst/>
          </a:prstGeom>
          <a:noFill/>
          <a:ln w="15875">
            <a:solidFill>
              <a:srgbClr val="808080"/>
            </a:solidFill>
            <a:prstDash val="sysDot"/>
            <a:round/>
            <a:headEnd/>
            <a:tailEnd type="none" w="med" len="lg"/>
          </a:ln>
        </p:spPr>
      </p:cxnSp>
      <p:sp>
        <p:nvSpPr>
          <p:cNvPr id="89090" name="Rectangle 2"/>
          <p:cNvSpPr>
            <a:spLocks noRot="1" noChangeArrowheads="1"/>
          </p:cNvSpPr>
          <p:nvPr/>
        </p:nvSpPr>
        <p:spPr bwMode="auto">
          <a:xfrm>
            <a:off x="914400" y="0"/>
            <a:ext cx="8015288" cy="692150"/>
          </a:xfrm>
          <a:prstGeom prst="rect">
            <a:avLst/>
          </a:prstGeom>
          <a:noFill/>
          <a:ln w="9525">
            <a:noFill/>
            <a:miter lim="800000"/>
            <a:headEnd/>
            <a:tailEnd/>
          </a:ln>
        </p:spPr>
        <p:txBody>
          <a:bodyPr anchor="ctr"/>
          <a:lstStyle/>
          <a:p>
            <a:pPr eaLnBrk="0" hangingPunct="0">
              <a:lnSpc>
                <a:spcPct val="85000"/>
              </a:lnSpc>
              <a:defRPr/>
            </a:pPr>
            <a:r>
              <a:rPr lang="en-US" sz="3200" b="1">
                <a:solidFill>
                  <a:schemeClr val="bg1"/>
                </a:solidFill>
                <a:effectLst>
                  <a:outerShdw blurRad="38100" dist="38100" dir="2700000" algn="tl">
                    <a:srgbClr val="C0C0C0"/>
                  </a:outerShdw>
                </a:effectLst>
              </a:rPr>
              <a:t>Entry Reduces Profits of Existing Firms</a:t>
            </a:r>
          </a:p>
        </p:txBody>
      </p:sp>
      <p:sp>
        <p:nvSpPr>
          <p:cNvPr id="55320" name="Line 21"/>
          <p:cNvSpPr>
            <a:spLocks noChangeShapeType="1"/>
          </p:cNvSpPr>
          <p:nvPr/>
        </p:nvSpPr>
        <p:spPr bwMode="auto">
          <a:xfrm>
            <a:off x="4032250" y="1268413"/>
            <a:ext cx="4427538" cy="4321175"/>
          </a:xfrm>
          <a:prstGeom prst="line">
            <a:avLst/>
          </a:prstGeom>
          <a:noFill/>
          <a:ln w="30163">
            <a:solidFill>
              <a:srgbClr val="3C5DAA"/>
            </a:solidFill>
            <a:miter lim="800000"/>
            <a:headEnd/>
            <a:tailEnd/>
          </a:ln>
        </p:spPr>
        <p:txBody>
          <a:bodyPr/>
          <a:lstStyle/>
          <a:p>
            <a:endParaRPr lang="en-US"/>
          </a:p>
        </p:txBody>
      </p:sp>
      <p:sp>
        <p:nvSpPr>
          <p:cNvPr id="55321" name="Line 22"/>
          <p:cNvSpPr>
            <a:spLocks noChangeShapeType="1"/>
          </p:cNvSpPr>
          <p:nvPr/>
        </p:nvSpPr>
        <p:spPr bwMode="auto">
          <a:xfrm>
            <a:off x="3059113" y="1304925"/>
            <a:ext cx="3168650" cy="4464050"/>
          </a:xfrm>
          <a:prstGeom prst="line">
            <a:avLst/>
          </a:prstGeom>
          <a:noFill/>
          <a:ln w="30163">
            <a:solidFill>
              <a:srgbClr val="4B8FCC"/>
            </a:solidFill>
            <a:miter lim="800000"/>
            <a:headEnd/>
            <a:tailEnd/>
          </a:ln>
        </p:spPr>
        <p:txBody>
          <a:bodyPr/>
          <a:lstStyle/>
          <a:p>
            <a:endParaRPr lang="en-US"/>
          </a:p>
        </p:txBody>
      </p:sp>
      <p:sp>
        <p:nvSpPr>
          <p:cNvPr id="7" name="Rectangle 7"/>
          <p:cNvSpPr>
            <a:spLocks noChangeArrowheads="1"/>
          </p:cNvSpPr>
          <p:nvPr/>
        </p:nvSpPr>
        <p:spPr bwMode="auto">
          <a:xfrm>
            <a:off x="2598738" y="4079875"/>
            <a:ext cx="604837" cy="215444"/>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rPr>
              <a:t>Profit</a:t>
            </a:r>
            <a:r>
              <a:rPr lang="en-US" sz="1400" baseline="-25000">
                <a:solidFill>
                  <a:srgbClr val="000000"/>
                </a:solidFill>
              </a:rPr>
              <a:t>2</a:t>
            </a:r>
            <a:endParaRPr lang="en-US" sz="1400" baseline="-25000"/>
          </a:p>
        </p:txBody>
      </p:sp>
      <p:sp>
        <p:nvSpPr>
          <p:cNvPr id="5" name="Rectangle 7"/>
          <p:cNvSpPr>
            <a:spLocks noChangeArrowheads="1"/>
          </p:cNvSpPr>
          <p:nvPr/>
        </p:nvSpPr>
        <p:spPr bwMode="auto">
          <a:xfrm>
            <a:off x="2422498" y="3500438"/>
            <a:ext cx="465191" cy="215444"/>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rPr>
              <a:t>Profit</a:t>
            </a:r>
            <a:r>
              <a:rPr lang="en-US" sz="1400" baseline="-25000">
                <a:solidFill>
                  <a:srgbClr val="000000"/>
                </a:solidFill>
              </a:rPr>
              <a:t>1</a:t>
            </a:r>
            <a:endParaRPr lang="en-US" sz="1400" baseline="-25000"/>
          </a:p>
        </p:txBody>
      </p:sp>
      <p:sp>
        <p:nvSpPr>
          <p:cNvPr id="55324" name="Rectangle 7"/>
          <p:cNvSpPr>
            <a:spLocks noChangeArrowheads="1"/>
          </p:cNvSpPr>
          <p:nvPr/>
        </p:nvSpPr>
        <p:spPr bwMode="auto">
          <a:xfrm>
            <a:off x="6422618" y="1989138"/>
            <a:ext cx="248465" cy="215444"/>
          </a:xfrm>
          <a:prstGeom prst="rect">
            <a:avLst/>
          </a:prstGeom>
          <a:noFill/>
          <a:ln w="9525">
            <a:noFill/>
            <a:miter lim="800000"/>
            <a:headEnd/>
            <a:tailEnd/>
          </a:ln>
        </p:spPr>
        <p:txBody>
          <a:bodyPr wrap="none" lIns="0" tIns="0" rIns="0" bIns="0">
            <a:spAutoFit/>
          </a:bodyPr>
          <a:lstStyle/>
          <a:p>
            <a:pPr marL="1588" indent="-1588" algn="ctr"/>
            <a:r>
              <a:rPr lang="en-US" sz="1400" i="1">
                <a:solidFill>
                  <a:srgbClr val="000000"/>
                </a:solidFill>
              </a:rPr>
              <a:t>MC</a:t>
            </a:r>
            <a:endParaRPr lang="en-US" sz="1400" i="1"/>
          </a:p>
        </p:txBody>
      </p:sp>
      <p:sp>
        <p:nvSpPr>
          <p:cNvPr id="6" name="Rectangle 12"/>
          <p:cNvSpPr>
            <a:spLocks noChangeArrowheads="1"/>
          </p:cNvSpPr>
          <p:nvPr/>
        </p:nvSpPr>
        <p:spPr bwMode="auto">
          <a:xfrm>
            <a:off x="5148263" y="6096000"/>
            <a:ext cx="118622"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Q</a:t>
            </a:r>
            <a:endParaRPr lang="en-US" sz="1400" i="1"/>
          </a:p>
        </p:txBody>
      </p:sp>
      <p:sp>
        <p:nvSpPr>
          <p:cNvPr id="55326" name="Rectangle 13"/>
          <p:cNvSpPr>
            <a:spLocks noChangeArrowheads="1"/>
          </p:cNvSpPr>
          <p:nvPr/>
        </p:nvSpPr>
        <p:spPr bwMode="auto">
          <a:xfrm>
            <a:off x="6192180" y="5770227"/>
            <a:ext cx="503237" cy="359073"/>
          </a:xfrm>
          <a:prstGeom prst="rect">
            <a:avLst/>
          </a:prstGeom>
          <a:noFill/>
          <a:ln w="9525">
            <a:noFill/>
            <a:miter lim="800000"/>
            <a:headEnd/>
            <a:tailEnd/>
          </a:ln>
        </p:spPr>
        <p:txBody>
          <a:bodyPr wrap="square" lIns="0" tIns="0" rIns="0" bIns="0">
            <a:spAutoFit/>
          </a:bodyPr>
          <a:lstStyle/>
          <a:p>
            <a:pPr marL="1588" indent="-1588"/>
            <a:r>
              <a:rPr lang="en-US" sz="1400" i="1" dirty="0" smtClean="0">
                <a:solidFill>
                  <a:srgbClr val="000000"/>
                </a:solidFill>
              </a:rPr>
              <a:t>MR</a:t>
            </a:r>
            <a:r>
              <a:rPr lang="en-US" sz="1400" i="1" baseline="-25000" dirty="0" smtClean="0">
                <a:solidFill>
                  <a:srgbClr val="000000"/>
                </a:solidFill>
              </a:rPr>
              <a:t>1 </a:t>
            </a:r>
          </a:p>
          <a:p>
            <a:pPr marL="1588" indent="-1588"/>
            <a:endParaRPr lang="en-US" sz="1400" i="1" baseline="-25000" dirty="0"/>
          </a:p>
        </p:txBody>
      </p:sp>
      <p:sp>
        <p:nvSpPr>
          <p:cNvPr id="9" name="Oval 24"/>
          <p:cNvSpPr>
            <a:spLocks noChangeArrowheads="1"/>
          </p:cNvSpPr>
          <p:nvPr/>
        </p:nvSpPr>
        <p:spPr bwMode="auto">
          <a:xfrm>
            <a:off x="5256213" y="2492375"/>
            <a:ext cx="146050" cy="131763"/>
          </a:xfrm>
          <a:prstGeom prst="ellipse">
            <a:avLst/>
          </a:prstGeom>
          <a:solidFill>
            <a:srgbClr val="000000"/>
          </a:solidFill>
          <a:ln w="9525">
            <a:noFill/>
            <a:round/>
            <a:headEnd/>
            <a:tailEnd/>
          </a:ln>
        </p:spPr>
        <p:txBody>
          <a:bodyPr/>
          <a:lstStyle/>
          <a:p>
            <a:endParaRPr lang="en-US"/>
          </a:p>
        </p:txBody>
      </p:sp>
      <p:sp>
        <p:nvSpPr>
          <p:cNvPr id="10" name="Oval 30"/>
          <p:cNvSpPr>
            <a:spLocks noChangeArrowheads="1"/>
          </p:cNvSpPr>
          <p:nvPr/>
        </p:nvSpPr>
        <p:spPr bwMode="auto">
          <a:xfrm>
            <a:off x="5256213" y="4437063"/>
            <a:ext cx="146050" cy="127000"/>
          </a:xfrm>
          <a:prstGeom prst="ellipse">
            <a:avLst/>
          </a:prstGeom>
          <a:solidFill>
            <a:srgbClr val="000000"/>
          </a:solidFill>
          <a:ln w="9525">
            <a:noFill/>
            <a:round/>
            <a:headEnd/>
            <a:tailEnd/>
          </a:ln>
        </p:spPr>
        <p:txBody>
          <a:bodyPr/>
          <a:lstStyle/>
          <a:p>
            <a:endParaRPr lang="en-US"/>
          </a:p>
        </p:txBody>
      </p:sp>
      <p:cxnSp>
        <p:nvCxnSpPr>
          <p:cNvPr id="11" name="Straight Connector 86"/>
          <p:cNvCxnSpPr>
            <a:cxnSpLocks noChangeShapeType="1"/>
          </p:cNvCxnSpPr>
          <p:nvPr/>
        </p:nvCxnSpPr>
        <p:spPr bwMode="auto">
          <a:xfrm>
            <a:off x="5327650" y="2565400"/>
            <a:ext cx="14288" cy="3492500"/>
          </a:xfrm>
          <a:prstGeom prst="line">
            <a:avLst/>
          </a:prstGeom>
          <a:noFill/>
          <a:ln w="15875">
            <a:solidFill>
              <a:srgbClr val="808080"/>
            </a:solidFill>
            <a:prstDash val="sysDot"/>
            <a:round/>
            <a:headEnd/>
            <a:tailEnd type="none" w="med" len="lg"/>
          </a:ln>
        </p:spPr>
      </p:cxnSp>
      <p:cxnSp>
        <p:nvCxnSpPr>
          <p:cNvPr id="12" name="Straight Connector 86"/>
          <p:cNvCxnSpPr>
            <a:cxnSpLocks noChangeShapeType="1"/>
          </p:cNvCxnSpPr>
          <p:nvPr/>
        </p:nvCxnSpPr>
        <p:spPr bwMode="auto">
          <a:xfrm>
            <a:off x="2268538" y="2565400"/>
            <a:ext cx="3059112" cy="0"/>
          </a:xfrm>
          <a:prstGeom prst="line">
            <a:avLst/>
          </a:prstGeom>
          <a:noFill/>
          <a:ln w="15875">
            <a:solidFill>
              <a:srgbClr val="808080"/>
            </a:solidFill>
            <a:prstDash val="sysDot"/>
            <a:round/>
            <a:headEnd/>
            <a:tailEnd type="none" w="med" len="lg"/>
          </a:ln>
        </p:spPr>
      </p:cxnSp>
      <p:sp>
        <p:nvSpPr>
          <p:cNvPr id="13" name="Rectangle 13"/>
          <p:cNvSpPr>
            <a:spLocks noChangeArrowheads="1"/>
          </p:cNvSpPr>
          <p:nvPr/>
        </p:nvSpPr>
        <p:spPr bwMode="auto">
          <a:xfrm>
            <a:off x="5292725" y="6200775"/>
            <a:ext cx="91372"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1</a:t>
            </a:r>
            <a:endParaRPr lang="en-US" sz="1400" i="1"/>
          </a:p>
        </p:txBody>
      </p:sp>
      <p:sp>
        <p:nvSpPr>
          <p:cNvPr id="55332" name="Rectangle 5"/>
          <p:cNvSpPr>
            <a:spLocks noChangeArrowheads="1"/>
          </p:cNvSpPr>
          <p:nvPr/>
        </p:nvSpPr>
        <p:spPr bwMode="auto">
          <a:xfrm>
            <a:off x="8496300" y="5481638"/>
            <a:ext cx="171522"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D</a:t>
            </a:r>
            <a:r>
              <a:rPr lang="en-US" sz="1400" i="1" baseline="-25000">
                <a:solidFill>
                  <a:srgbClr val="000000"/>
                </a:solidFill>
              </a:rPr>
              <a:t>1</a:t>
            </a:r>
            <a:endParaRPr lang="en-US" sz="1400" i="1" baseline="-25000"/>
          </a:p>
        </p:txBody>
      </p:sp>
      <p:sp>
        <p:nvSpPr>
          <p:cNvPr id="14" name="Rectangle 12"/>
          <p:cNvSpPr>
            <a:spLocks noChangeArrowheads="1"/>
          </p:cNvSpPr>
          <p:nvPr/>
        </p:nvSpPr>
        <p:spPr bwMode="auto">
          <a:xfrm>
            <a:off x="1987550" y="3743325"/>
            <a:ext cx="92974"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P</a:t>
            </a:r>
            <a:endParaRPr lang="en-US" sz="1400" i="1"/>
          </a:p>
        </p:txBody>
      </p:sp>
      <p:sp>
        <p:nvSpPr>
          <p:cNvPr id="15" name="Rectangle 13"/>
          <p:cNvSpPr>
            <a:spLocks noChangeArrowheads="1"/>
          </p:cNvSpPr>
          <p:nvPr/>
        </p:nvSpPr>
        <p:spPr bwMode="auto">
          <a:xfrm>
            <a:off x="2124075" y="3860800"/>
            <a:ext cx="91372"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2</a:t>
            </a:r>
            <a:endParaRPr lang="en-US" sz="1400" i="1"/>
          </a:p>
        </p:txBody>
      </p:sp>
      <p:sp>
        <p:nvSpPr>
          <p:cNvPr id="16" name="Rectangle 12"/>
          <p:cNvSpPr>
            <a:spLocks noChangeArrowheads="1"/>
          </p:cNvSpPr>
          <p:nvPr/>
        </p:nvSpPr>
        <p:spPr bwMode="auto">
          <a:xfrm>
            <a:off x="1979613" y="2427288"/>
            <a:ext cx="92974"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P</a:t>
            </a:r>
            <a:endParaRPr lang="en-US" sz="1400" i="1"/>
          </a:p>
        </p:txBody>
      </p:sp>
      <p:sp>
        <p:nvSpPr>
          <p:cNvPr id="17" name="Rectangle 13"/>
          <p:cNvSpPr>
            <a:spLocks noChangeArrowheads="1"/>
          </p:cNvSpPr>
          <p:nvPr/>
        </p:nvSpPr>
        <p:spPr bwMode="auto">
          <a:xfrm>
            <a:off x="2124075" y="2532063"/>
            <a:ext cx="91372" cy="215444"/>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rPr>
              <a:t>1</a:t>
            </a:r>
            <a:endParaRPr lang="en-US" sz="1400" i="1"/>
          </a:p>
        </p:txBody>
      </p:sp>
      <p:sp>
        <p:nvSpPr>
          <p:cNvPr id="18" name="Line 26"/>
          <p:cNvSpPr>
            <a:spLocks noChangeShapeType="1"/>
          </p:cNvSpPr>
          <p:nvPr/>
        </p:nvSpPr>
        <p:spPr bwMode="auto">
          <a:xfrm flipH="1">
            <a:off x="6551613" y="5373688"/>
            <a:ext cx="1657350" cy="250825"/>
          </a:xfrm>
          <a:prstGeom prst="line">
            <a:avLst/>
          </a:prstGeom>
          <a:noFill/>
          <a:ln w="19050">
            <a:solidFill>
              <a:srgbClr val="000000"/>
            </a:solidFill>
            <a:prstDash val="sysDot"/>
            <a:miter lim="800000"/>
            <a:headEnd/>
            <a:tailEnd type="stealth" w="lg" len="lg"/>
          </a:ln>
        </p:spPr>
        <p:txBody>
          <a:bodyPr/>
          <a:lstStyle/>
          <a:p>
            <a:endParaRPr lang="en-US"/>
          </a:p>
        </p:txBody>
      </p:sp>
      <p:sp>
        <p:nvSpPr>
          <p:cNvPr id="19" name="Line 26"/>
          <p:cNvSpPr>
            <a:spLocks noChangeShapeType="1"/>
          </p:cNvSpPr>
          <p:nvPr/>
        </p:nvSpPr>
        <p:spPr bwMode="auto">
          <a:xfrm flipH="1">
            <a:off x="4716463" y="5481638"/>
            <a:ext cx="1187450" cy="215900"/>
          </a:xfrm>
          <a:prstGeom prst="line">
            <a:avLst/>
          </a:prstGeom>
          <a:noFill/>
          <a:ln w="19050">
            <a:solidFill>
              <a:srgbClr val="000000"/>
            </a:solidFill>
            <a:prstDash val="sysDot"/>
            <a:miter lim="800000"/>
            <a:headEnd/>
            <a:tailEnd type="stealth" w="lg" len="lg"/>
          </a:ln>
        </p:spPr>
        <p:txBody>
          <a:bodyPr/>
          <a:lstStyle/>
          <a:p>
            <a:endParaRPr lang="en-US"/>
          </a:p>
        </p:txBody>
      </p:sp>
      <p:sp>
        <p:nvSpPr>
          <p:cNvPr id="20" name="Line 26"/>
          <p:cNvSpPr>
            <a:spLocks noChangeShapeType="1"/>
          </p:cNvSpPr>
          <p:nvPr/>
        </p:nvSpPr>
        <p:spPr bwMode="auto">
          <a:xfrm>
            <a:off x="3240088" y="5121275"/>
            <a:ext cx="936625" cy="120650"/>
          </a:xfrm>
          <a:prstGeom prst="line">
            <a:avLst/>
          </a:prstGeom>
          <a:noFill/>
          <a:ln w="12700">
            <a:solidFill>
              <a:srgbClr val="000000"/>
            </a:solidFill>
            <a:miter lim="800000"/>
            <a:headEnd/>
            <a:tailEnd type="triangle" w="med" len="med"/>
          </a:ln>
        </p:spPr>
        <p:txBody>
          <a:bodyPr/>
          <a:lstStyle/>
          <a:p>
            <a:endParaRPr lang="en-US"/>
          </a:p>
        </p:txBody>
      </p:sp>
      <p:sp>
        <p:nvSpPr>
          <p:cNvPr id="21" name="Freeform 27"/>
          <p:cNvSpPr>
            <a:spLocks/>
          </p:cNvSpPr>
          <p:nvPr/>
        </p:nvSpPr>
        <p:spPr bwMode="auto">
          <a:xfrm>
            <a:off x="2376488" y="4976813"/>
            <a:ext cx="863600" cy="287337"/>
          </a:xfrm>
          <a:custGeom>
            <a:avLst/>
            <a:gdLst>
              <a:gd name="T0" fmla="*/ 2147483647 w 265"/>
              <a:gd name="T1" fmla="*/ 1261371396 h 60"/>
              <a:gd name="T2" fmla="*/ 2147483647 w 265"/>
              <a:gd name="T3" fmla="*/ 1376042775 h 60"/>
              <a:gd name="T4" fmla="*/ 127441281 w 265"/>
              <a:gd name="T5" fmla="*/ 1376042775 h 60"/>
              <a:gd name="T6" fmla="*/ 0 w 265"/>
              <a:gd name="T7" fmla="*/ 1261371396 h 60"/>
              <a:gd name="T8" fmla="*/ 0 w 265"/>
              <a:gd name="T9" fmla="*/ 137605692 h 60"/>
              <a:gd name="T10" fmla="*/ 127441281 w 265"/>
              <a:gd name="T11" fmla="*/ 0 h 60"/>
              <a:gd name="T12" fmla="*/ 2147483647 w 265"/>
              <a:gd name="T13" fmla="*/ 0 h 60"/>
              <a:gd name="T14" fmla="*/ 2147483647 w 265"/>
              <a:gd name="T15" fmla="*/ 137605692 h 60"/>
              <a:gd name="T16" fmla="*/ 2147483647 w 265"/>
              <a:gd name="T17" fmla="*/ 1261371396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5"/>
              <a:gd name="T28" fmla="*/ 0 h 60"/>
              <a:gd name="T29" fmla="*/ 265 w 265"/>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5" h="60">
                <a:moveTo>
                  <a:pt x="265" y="55"/>
                </a:moveTo>
                <a:cubicBezTo>
                  <a:pt x="265" y="58"/>
                  <a:pt x="260" y="60"/>
                  <a:pt x="253" y="60"/>
                </a:cubicBezTo>
                <a:cubicBezTo>
                  <a:pt x="12" y="60"/>
                  <a:pt x="12" y="60"/>
                  <a:pt x="12" y="60"/>
                </a:cubicBezTo>
                <a:cubicBezTo>
                  <a:pt x="5" y="60"/>
                  <a:pt x="0" y="58"/>
                  <a:pt x="0" y="55"/>
                </a:cubicBezTo>
                <a:cubicBezTo>
                  <a:pt x="0" y="6"/>
                  <a:pt x="0" y="6"/>
                  <a:pt x="0" y="6"/>
                </a:cubicBezTo>
                <a:cubicBezTo>
                  <a:pt x="0" y="3"/>
                  <a:pt x="5" y="0"/>
                  <a:pt x="12" y="0"/>
                </a:cubicBezTo>
                <a:cubicBezTo>
                  <a:pt x="253" y="0"/>
                  <a:pt x="253" y="0"/>
                  <a:pt x="253" y="0"/>
                </a:cubicBezTo>
                <a:cubicBezTo>
                  <a:pt x="260" y="0"/>
                  <a:pt x="265" y="3"/>
                  <a:pt x="265" y="6"/>
                </a:cubicBezTo>
                <a:lnTo>
                  <a:pt x="265" y="55"/>
                </a:lnTo>
                <a:close/>
              </a:path>
            </a:pathLst>
          </a:custGeom>
          <a:solidFill>
            <a:srgbClr val="D7E2E0"/>
          </a:solidFill>
          <a:ln w="9525">
            <a:noFill/>
            <a:round/>
            <a:headEnd/>
            <a:tailEnd/>
          </a:ln>
        </p:spPr>
        <p:txBody>
          <a:bodyPr/>
          <a:lstStyle/>
          <a:p>
            <a:endParaRPr lang="en-US"/>
          </a:p>
        </p:txBody>
      </p:sp>
      <p:sp>
        <p:nvSpPr>
          <p:cNvPr id="22" name="Rectangle 28"/>
          <p:cNvSpPr>
            <a:spLocks noChangeArrowheads="1"/>
          </p:cNvSpPr>
          <p:nvPr/>
        </p:nvSpPr>
        <p:spPr bwMode="auto">
          <a:xfrm>
            <a:off x="2445440" y="5013325"/>
            <a:ext cx="678071" cy="215444"/>
          </a:xfrm>
          <a:prstGeom prst="rect">
            <a:avLst/>
          </a:prstGeom>
          <a:noFill/>
          <a:ln w="9525">
            <a:noFill/>
            <a:miter lim="800000"/>
            <a:headEnd/>
            <a:tailEnd/>
          </a:ln>
        </p:spPr>
        <p:txBody>
          <a:bodyPr wrap="none" lIns="0" tIns="0" rIns="0" bIns="0">
            <a:spAutoFit/>
          </a:bodyPr>
          <a:lstStyle/>
          <a:p>
            <a:pPr marL="1588" indent="-1588" algn="ctr"/>
            <a:r>
              <a:rPr lang="en-US" sz="1400" b="1" i="1">
                <a:solidFill>
                  <a:srgbClr val="000000"/>
                </a:solidFill>
              </a:rPr>
              <a:t>MC = MR</a:t>
            </a:r>
            <a:endParaRPr lang="en-US" sz="1400" b="1" i="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22970"/>
                                        </p:tgtEl>
                                        <p:attrNameLst>
                                          <p:attrName>style.visibility</p:attrName>
                                        </p:attrNameLst>
                                      </p:cBhvr>
                                      <p:to>
                                        <p:strVal val="visible"/>
                                      </p:to>
                                    </p:set>
                                    <p:animEffect transition="in" filter="wipe(down)">
                                      <p:cBhvr>
                                        <p:cTn id="16" dur="500"/>
                                        <p:tgtEl>
                                          <p:spTgt spid="72297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22971"/>
                                        </p:tgtEl>
                                        <p:attrNameLst>
                                          <p:attrName>style.visibility</p:attrName>
                                        </p:attrNameLst>
                                      </p:cBhvr>
                                      <p:to>
                                        <p:strVal val="visible"/>
                                      </p:to>
                                    </p:set>
                                    <p:animEffect transition="in" filter="wipe(down)">
                                      <p:cBhvr>
                                        <p:cTn id="19" dur="500"/>
                                        <p:tgtEl>
                                          <p:spTgt spid="722971"/>
                                        </p:tgtEl>
                                      </p:cBhvr>
                                    </p:animEffect>
                                  </p:childTnLst>
                                </p:cTn>
                              </p:par>
                              <p:par>
                                <p:cTn id="20" presetID="22" presetClass="entr" presetSubtype="4" fill="hold" nodeType="withEffect">
                                  <p:stCondLst>
                                    <p:cond delay="0"/>
                                  </p:stCondLst>
                                  <p:childTnLst>
                                    <p:set>
                                      <p:cBhvr>
                                        <p:cTn id="21" dur="1" fill="hold">
                                          <p:stCondLst>
                                            <p:cond delay="0"/>
                                          </p:stCondLst>
                                        </p:cTn>
                                        <p:tgtEl>
                                          <p:spTgt spid="722972"/>
                                        </p:tgtEl>
                                        <p:attrNameLst>
                                          <p:attrName>style.visibility</p:attrName>
                                        </p:attrNameLst>
                                      </p:cBhvr>
                                      <p:to>
                                        <p:strVal val="visible"/>
                                      </p:to>
                                    </p:set>
                                    <p:animEffect transition="in" filter="wipe(down)">
                                      <p:cBhvr>
                                        <p:cTn id="22" dur="500"/>
                                        <p:tgtEl>
                                          <p:spTgt spid="722972"/>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3" presetClass="entr" presetSubtype="16"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plus(in)">
                                      <p:cBhvr>
                                        <p:cTn id="41" dur="500"/>
                                        <p:tgtEl>
                                          <p:spTgt spid="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30068"/>
                                        </p:tgtEl>
                                        <p:attrNameLst>
                                          <p:attrName>style.visibility</p:attrName>
                                        </p:attrNameLst>
                                      </p:cBhvr>
                                      <p:to>
                                        <p:strVal val="visible"/>
                                      </p:to>
                                    </p:set>
                                    <p:animEffect transition="in" filter="wipe(left)">
                                      <p:cBhvr>
                                        <p:cTn id="49" dur="500"/>
                                        <p:tgtEl>
                                          <p:spTgt spid="130068"/>
                                        </p:tgtEl>
                                      </p:cBhvr>
                                    </p:animEffect>
                                  </p:childTnLst>
                                </p:cTn>
                              </p:par>
                              <p:par>
                                <p:cTn id="50" presetID="22" presetClass="entr" presetSubtype="2"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right)">
                                      <p:cBhvr>
                                        <p:cTn id="52" dur="500"/>
                                        <p:tgtEl>
                                          <p:spTgt spid="18"/>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30069"/>
                                        </p:tgtEl>
                                        <p:attrNameLst>
                                          <p:attrName>style.visibility</p:attrName>
                                        </p:attrNameLst>
                                      </p:cBhvr>
                                      <p:to>
                                        <p:strVal val="visible"/>
                                      </p:to>
                                    </p:set>
                                    <p:animEffect transition="in" filter="wipe(left)">
                                      <p:cBhvr>
                                        <p:cTn id="55" dur="500"/>
                                        <p:tgtEl>
                                          <p:spTgt spid="130069"/>
                                        </p:tgtEl>
                                      </p:cBhvr>
                                    </p:animEffect>
                                  </p:childTnLst>
                                </p:cTn>
                              </p:par>
                              <p:par>
                                <p:cTn id="56" presetID="22" presetClass="entr" presetSubtype="2"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right)">
                                      <p:cBhvr>
                                        <p:cTn id="58" dur="500"/>
                                        <p:tgtEl>
                                          <p:spTgt spid="19"/>
                                        </p:tgtEl>
                                      </p:cBhvr>
                                    </p:animEffect>
                                  </p:childTnLst>
                                </p:cTn>
                              </p:par>
                              <p:par>
                                <p:cTn id="59" presetID="1" presetClass="entr" presetSubtype="0" fill="hold" nodeType="withEffect">
                                  <p:stCondLst>
                                    <p:cond delay="0"/>
                                  </p:stCondLst>
                                  <p:childTnLst>
                                    <p:set>
                                      <p:cBhvr>
                                        <p:cTn id="60" dur="1" fill="hold">
                                          <p:stCondLst>
                                            <p:cond delay="0"/>
                                          </p:stCondLst>
                                        </p:cTn>
                                        <p:tgtEl>
                                          <p:spTgt spid="13005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300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722974"/>
                                        </p:tgtEl>
                                        <p:attrNameLst>
                                          <p:attrName>style.visibility</p:attrName>
                                        </p:attrNameLst>
                                      </p:cBhvr>
                                      <p:to>
                                        <p:strVal val="visible"/>
                                      </p:to>
                                    </p:set>
                                    <p:animEffect transition="in" filter="fade">
                                      <p:cBhvr>
                                        <p:cTn id="67" dur="500"/>
                                        <p:tgtEl>
                                          <p:spTgt spid="722974"/>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down)">
                                      <p:cBhvr>
                                        <p:cTn id="70" dur="500"/>
                                        <p:tgtEl>
                                          <p:spTgt spid="20"/>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wipe(down)">
                                      <p:cBhvr>
                                        <p:cTn id="73" dur="500"/>
                                        <p:tgtEl>
                                          <p:spTgt spid="21"/>
                                        </p:tgtEl>
                                      </p:cBhvr>
                                    </p:animEffect>
                                  </p:childTnLst>
                                </p:cTn>
                              </p:par>
                              <p:par>
                                <p:cTn id="74" presetID="22" presetClass="entr" presetSubtype="4" fill="hold"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wipe(down)">
                                      <p:cBhvr>
                                        <p:cTn id="76" dur="500"/>
                                        <p:tgtEl>
                                          <p:spTgt spid="22"/>
                                        </p:tgtEl>
                                      </p:cBhvr>
                                    </p:animEffect>
                                  </p:childTnLst>
                                </p:cTn>
                              </p:par>
                              <p:par>
                                <p:cTn id="77" presetID="10" presetClass="entr" presetSubtype="0" fill="hold" nodeType="withEffect">
                                  <p:stCondLst>
                                    <p:cond delay="0"/>
                                  </p:stCondLst>
                                  <p:childTnLst>
                                    <p:set>
                                      <p:cBhvr>
                                        <p:cTn id="78" dur="1" fill="hold">
                                          <p:stCondLst>
                                            <p:cond delay="0"/>
                                          </p:stCondLst>
                                        </p:cTn>
                                        <p:tgtEl>
                                          <p:spTgt spid="722956"/>
                                        </p:tgtEl>
                                        <p:attrNameLst>
                                          <p:attrName>style.visibility</p:attrName>
                                        </p:attrNameLst>
                                      </p:cBhvr>
                                      <p:to>
                                        <p:strVal val="visible"/>
                                      </p:to>
                                    </p:set>
                                    <p:animEffect transition="in" filter="fade">
                                      <p:cBhvr>
                                        <p:cTn id="79" dur="500"/>
                                        <p:tgtEl>
                                          <p:spTgt spid="722956"/>
                                        </p:tgtEl>
                                      </p:cBhvr>
                                    </p:animEffect>
                                  </p:childTnLst>
                                </p:cTn>
                              </p:par>
                              <p:par>
                                <p:cTn id="80" presetID="10" presetClass="entr" presetSubtype="0" fill="hold" nodeType="withEffect">
                                  <p:stCondLst>
                                    <p:cond delay="0"/>
                                  </p:stCondLst>
                                  <p:childTnLst>
                                    <p:set>
                                      <p:cBhvr>
                                        <p:cTn id="81" dur="1" fill="hold">
                                          <p:stCondLst>
                                            <p:cond delay="0"/>
                                          </p:stCondLst>
                                        </p:cTn>
                                        <p:tgtEl>
                                          <p:spTgt spid="722957"/>
                                        </p:tgtEl>
                                        <p:attrNameLst>
                                          <p:attrName>style.visibility</p:attrName>
                                        </p:attrNameLst>
                                      </p:cBhvr>
                                      <p:to>
                                        <p:strVal val="visible"/>
                                      </p:to>
                                    </p:set>
                                    <p:animEffect transition="in" filter="fade">
                                      <p:cBhvr>
                                        <p:cTn id="82" dur="500"/>
                                        <p:tgtEl>
                                          <p:spTgt spid="722957"/>
                                        </p:tgtEl>
                                      </p:cBhvr>
                                    </p:animEffect>
                                  </p:childTnLst>
                                </p:cTn>
                              </p:par>
                              <p:par>
                                <p:cTn id="83" presetID="10" presetClass="entr" presetSubtype="0" fill="hold" nodeType="withEffect">
                                  <p:stCondLst>
                                    <p:cond delay="0"/>
                                  </p:stCondLst>
                                  <p:childTnLst>
                                    <p:set>
                                      <p:cBhvr>
                                        <p:cTn id="84" dur="1" fill="hold">
                                          <p:stCondLst>
                                            <p:cond delay="0"/>
                                          </p:stCondLst>
                                        </p:cTn>
                                        <p:tgtEl>
                                          <p:spTgt spid="548914"/>
                                        </p:tgtEl>
                                        <p:attrNameLst>
                                          <p:attrName>style.visibility</p:attrName>
                                        </p:attrNameLst>
                                      </p:cBhvr>
                                      <p:to>
                                        <p:strVal val="visible"/>
                                      </p:to>
                                    </p:set>
                                    <p:animEffect transition="in" filter="fade">
                                      <p:cBhvr>
                                        <p:cTn id="85" dur="500"/>
                                        <p:tgtEl>
                                          <p:spTgt spid="548914"/>
                                        </p:tgtEl>
                                      </p:cBhvr>
                                    </p:animEffect>
                                  </p:childTnLst>
                                </p:cTn>
                              </p:par>
                            </p:childTnLst>
                          </p:cTn>
                        </p:par>
                        <p:par>
                          <p:cTn id="86" fill="hold">
                            <p:stCondLst>
                              <p:cond delay="500"/>
                            </p:stCondLst>
                            <p:childTnLst>
                              <p:par>
                                <p:cTn id="87" presetID="10" presetClass="entr" presetSubtype="0" fill="hold" nodeType="afterEffect">
                                  <p:stCondLst>
                                    <p:cond delay="0"/>
                                  </p:stCondLst>
                                  <p:childTnLst>
                                    <p:set>
                                      <p:cBhvr>
                                        <p:cTn id="88" dur="1" fill="hold">
                                          <p:stCondLst>
                                            <p:cond delay="0"/>
                                          </p:stCondLst>
                                        </p:cTn>
                                        <p:tgtEl>
                                          <p:spTgt spid="2"/>
                                        </p:tgtEl>
                                        <p:attrNameLst>
                                          <p:attrName>style.visibility</p:attrName>
                                        </p:attrNameLst>
                                      </p:cBhvr>
                                      <p:to>
                                        <p:strVal val="visible"/>
                                      </p:to>
                                    </p:set>
                                    <p:animEffect transition="in" filter="fade">
                                      <p:cBhvr>
                                        <p:cTn id="89" dur="500"/>
                                        <p:tgtEl>
                                          <p:spTgt spid="2"/>
                                        </p:tgtEl>
                                      </p:cBhvr>
                                    </p:animEffect>
                                  </p:childTnLst>
                                </p:cTn>
                              </p:par>
                              <p:par>
                                <p:cTn id="90" presetID="1" presetClass="entr" presetSubtype="0" fill="hold" nodeType="withEffect">
                                  <p:stCondLst>
                                    <p:cond delay="0"/>
                                  </p:stCondLst>
                                  <p:childTnLst>
                                    <p:set>
                                      <p:cBhvr>
                                        <p:cTn id="91" dur="1" fill="hold">
                                          <p:stCondLst>
                                            <p:cond delay="0"/>
                                          </p:stCondLst>
                                        </p:cTn>
                                        <p:tgtEl>
                                          <p:spTgt spid="722968"/>
                                        </p:tgtEl>
                                        <p:attrNameLst>
                                          <p:attrName>style.visibility</p:attrName>
                                        </p:attrNameLst>
                                      </p:cBhvr>
                                      <p:to>
                                        <p:strVal val="visible"/>
                                      </p:to>
                                    </p:set>
                                  </p:childTnLst>
                                </p:cTn>
                              </p:par>
                              <p:par>
                                <p:cTn id="92" presetID="10" presetClass="entr" presetSubtype="0" fill="hold" nodeType="with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fade">
                                      <p:cBhvr>
                                        <p:cTn id="94" dur="500"/>
                                        <p:tgtEl>
                                          <p:spTgt spid="14"/>
                                        </p:tgtEl>
                                      </p:cBhvr>
                                    </p:animEffect>
                                  </p:childTnLst>
                                </p:cTn>
                              </p:par>
                              <p:par>
                                <p:cTn id="95" presetID="10" presetClass="entr" presetSubtype="0" fill="hold" nodeType="withEffect">
                                  <p:stCondLst>
                                    <p:cond delay="0"/>
                                  </p:stCondLst>
                                  <p:childTnLst>
                                    <p:set>
                                      <p:cBhvr>
                                        <p:cTn id="96" dur="1" fill="hold">
                                          <p:stCondLst>
                                            <p:cond delay="0"/>
                                          </p:stCondLst>
                                        </p:cTn>
                                        <p:tgtEl>
                                          <p:spTgt spid="15"/>
                                        </p:tgtEl>
                                        <p:attrNameLst>
                                          <p:attrName>style.visibility</p:attrName>
                                        </p:attrNameLst>
                                      </p:cBhvr>
                                      <p:to>
                                        <p:strVal val="visible"/>
                                      </p:to>
                                    </p:set>
                                    <p:animEffect transition="in" filter="fade">
                                      <p:cBhvr>
                                        <p:cTn id="97" dur="500"/>
                                        <p:tgtEl>
                                          <p:spTgt spid="15"/>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7"/>
                                        </p:tgtEl>
                                        <p:attrNameLst>
                                          <p:attrName>style.visibility</p:attrName>
                                        </p:attrNameLst>
                                      </p:cBhvr>
                                      <p:to>
                                        <p:strVal val="visible"/>
                                      </p:to>
                                    </p:set>
                                  </p:childTnLst>
                                </p:cTn>
                              </p:par>
                              <p:par>
                                <p:cTn id="102" presetID="13" presetClass="entr" presetSubtype="16" fill="hold" nodeType="withEffect">
                                  <p:stCondLst>
                                    <p:cond delay="0"/>
                                  </p:stCondLst>
                                  <p:childTnLst>
                                    <p:set>
                                      <p:cBhvr>
                                        <p:cTn id="103" dur="1" fill="hold">
                                          <p:stCondLst>
                                            <p:cond delay="0"/>
                                          </p:stCondLst>
                                        </p:cTn>
                                        <p:tgtEl>
                                          <p:spTgt spid="3"/>
                                        </p:tgtEl>
                                        <p:attrNameLst>
                                          <p:attrName>style.visibility</p:attrName>
                                        </p:attrNameLst>
                                      </p:cBhvr>
                                      <p:to>
                                        <p:strVal val="visible"/>
                                      </p:to>
                                    </p:set>
                                    <p:animEffect transition="in" filter="plus(in)">
                                      <p:cBhvr>
                                        <p:cTn id="10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0068" grpId="0" animBg="1"/>
      <p:bldP spid="130069" grpId="0" animBg="1"/>
      <p:bldP spid="722970" grpId="0" animBg="1"/>
      <p:bldP spid="722971" grpId="0" animBg="1"/>
      <p:bldP spid="722974" grpId="0" animBg="1"/>
      <p:bldP spid="10" grpId="0" animBg="1"/>
      <p:bldP spid="13" grpId="0"/>
      <p:bldP spid="16" grpId="0"/>
      <p:bldP spid="17" grpId="0"/>
      <p:bldP spid="18" grpId="0" animBg="1"/>
      <p:bldP spid="19"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p:cNvSpPr>
            <a:spLocks noChangeArrowheads="1"/>
          </p:cNvSpPr>
          <p:nvPr/>
        </p:nvSpPr>
        <p:spPr bwMode="auto">
          <a:xfrm>
            <a:off x="4791075" y="5726113"/>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57346" name="Rectangle 4"/>
          <p:cNvSpPr>
            <a:spLocks noChangeArrowheads="1"/>
          </p:cNvSpPr>
          <p:nvPr/>
        </p:nvSpPr>
        <p:spPr bwMode="auto">
          <a:xfrm>
            <a:off x="5076056" y="5841268"/>
            <a:ext cx="229230"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a:rPr>
              <a:t>LR</a:t>
            </a:r>
            <a:endParaRPr lang="en-US" sz="1400" i="1" dirty="0">
              <a:latin typeface="Tahoma" pitchFamily="34" charset="0"/>
            </a:endParaRPr>
          </a:p>
        </p:txBody>
      </p:sp>
      <p:sp>
        <p:nvSpPr>
          <p:cNvPr id="57347" name="Rectangle 5"/>
          <p:cNvSpPr>
            <a:spLocks noChangeArrowheads="1"/>
          </p:cNvSpPr>
          <p:nvPr/>
        </p:nvSpPr>
        <p:spPr bwMode="auto">
          <a:xfrm>
            <a:off x="6551613" y="56372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57348" name="Rectangle 6"/>
          <p:cNvSpPr>
            <a:spLocks noChangeArrowheads="1"/>
          </p:cNvSpPr>
          <p:nvPr/>
        </p:nvSpPr>
        <p:spPr bwMode="auto">
          <a:xfrm>
            <a:off x="6705600" y="5784850"/>
            <a:ext cx="229230"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a:rPr>
              <a:t>LR</a:t>
            </a:r>
            <a:endParaRPr lang="en-US" sz="1400" i="1" dirty="0">
              <a:latin typeface="Tahoma" pitchFamily="34" charset="0"/>
            </a:endParaRPr>
          </a:p>
        </p:txBody>
      </p:sp>
      <p:sp>
        <p:nvSpPr>
          <p:cNvPr id="57349" name="Rectangle 7"/>
          <p:cNvSpPr>
            <a:spLocks noChangeArrowheads="1"/>
          </p:cNvSpPr>
          <p:nvPr/>
        </p:nvSpPr>
        <p:spPr bwMode="auto">
          <a:xfrm>
            <a:off x="7091363" y="1916113"/>
            <a:ext cx="279400" cy="215900"/>
          </a:xfrm>
          <a:prstGeom prst="rect">
            <a:avLst/>
          </a:prstGeom>
          <a:noFill/>
          <a:ln w="9525">
            <a:noFill/>
            <a:miter lim="800000"/>
            <a:headEnd/>
            <a:tailEnd/>
          </a:ln>
        </p:spPr>
        <p:txBody>
          <a:bodyPr wrap="none" lIns="0" tIns="0" rIns="0" bIns="0">
            <a:spAutoFit/>
          </a:bodyPr>
          <a:lstStyle/>
          <a:p>
            <a:pPr marL="1588" indent="-1588" algn="ctr"/>
            <a:r>
              <a:rPr lang="en-US" sz="1400" i="1">
                <a:solidFill>
                  <a:srgbClr val="000000"/>
                </a:solidFill>
                <a:latin typeface="Myriad Pro"/>
              </a:rPr>
              <a:t>MC</a:t>
            </a:r>
            <a:endParaRPr lang="en-US" sz="1400" i="1">
              <a:latin typeface="Tahoma" pitchFamily="34" charset="0"/>
            </a:endParaRPr>
          </a:p>
        </p:txBody>
      </p:sp>
      <p:sp>
        <p:nvSpPr>
          <p:cNvPr id="57350" name="Rectangle 8"/>
          <p:cNvSpPr>
            <a:spLocks noChangeArrowheads="1"/>
          </p:cNvSpPr>
          <p:nvPr/>
        </p:nvSpPr>
        <p:spPr bwMode="auto">
          <a:xfrm>
            <a:off x="7797800" y="28146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57351" name="Rectangle 9"/>
          <p:cNvSpPr>
            <a:spLocks noChangeArrowheads="1"/>
          </p:cNvSpPr>
          <p:nvPr/>
        </p:nvSpPr>
        <p:spPr bwMode="auto">
          <a:xfrm>
            <a:off x="7931150" y="2814638"/>
            <a:ext cx="109538" cy="215900"/>
          </a:xfrm>
          <a:prstGeom prst="rect">
            <a:avLst/>
          </a:prstGeom>
          <a:noFill/>
          <a:ln w="9525">
            <a:noFill/>
            <a:miter lim="800000"/>
            <a:headEnd/>
            <a:tailEnd/>
          </a:ln>
        </p:spPr>
        <p:txBody>
          <a:bodyPr wrap="none" lIns="0" tIns="0" rIns="0" bIns="0">
            <a:spAutoFit/>
          </a:bodyPr>
          <a:lstStyle/>
          <a:p>
            <a:pPr marL="1588" indent="-1588" algn="ctr"/>
            <a:r>
              <a:rPr lang="en-US" sz="1400" i="1">
                <a:solidFill>
                  <a:srgbClr val="000000"/>
                </a:solidFill>
                <a:latin typeface="Myriad Pro"/>
              </a:rPr>
              <a:t>T</a:t>
            </a:r>
            <a:endParaRPr lang="en-US" sz="1400" i="1">
              <a:latin typeface="Tahoma" pitchFamily="34" charset="0"/>
            </a:endParaRPr>
          </a:p>
        </p:txBody>
      </p:sp>
      <p:sp>
        <p:nvSpPr>
          <p:cNvPr id="57352" name="Rectangle 10"/>
          <p:cNvSpPr>
            <a:spLocks noChangeArrowheads="1"/>
          </p:cNvSpPr>
          <p:nvPr/>
        </p:nvSpPr>
        <p:spPr bwMode="auto">
          <a:xfrm>
            <a:off x="8050213" y="28146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722955" name="Rectangle 11"/>
          <p:cNvSpPr>
            <a:spLocks noChangeArrowheads="1"/>
          </p:cNvSpPr>
          <p:nvPr/>
        </p:nvSpPr>
        <p:spPr bwMode="auto">
          <a:xfrm>
            <a:off x="4395788" y="3540125"/>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Z</a:t>
            </a:r>
            <a:endParaRPr lang="en-US" sz="1400" i="1">
              <a:latin typeface="Tahoma" pitchFamily="34" charset="0"/>
            </a:endParaRPr>
          </a:p>
        </p:txBody>
      </p:sp>
      <p:sp>
        <p:nvSpPr>
          <p:cNvPr id="722956" name="Rectangle 12"/>
          <p:cNvSpPr>
            <a:spLocks noChangeArrowheads="1"/>
          </p:cNvSpPr>
          <p:nvPr/>
        </p:nvSpPr>
        <p:spPr bwMode="auto">
          <a:xfrm>
            <a:off x="4179888" y="608647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722957" name="Rectangle 13"/>
          <p:cNvSpPr>
            <a:spLocks noChangeArrowheads="1"/>
          </p:cNvSpPr>
          <p:nvPr/>
        </p:nvSpPr>
        <p:spPr bwMode="auto">
          <a:xfrm>
            <a:off x="4316413" y="6203950"/>
            <a:ext cx="229230"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a:rPr>
              <a:t>LR</a:t>
            </a:r>
            <a:endParaRPr lang="en-US" sz="1400" i="1" dirty="0">
              <a:latin typeface="Tahoma" pitchFamily="34" charset="0"/>
            </a:endParaRPr>
          </a:p>
        </p:txBody>
      </p:sp>
      <p:sp>
        <p:nvSpPr>
          <p:cNvPr id="722958" name="Rectangle 14"/>
          <p:cNvSpPr>
            <a:spLocks noChangeArrowheads="1"/>
          </p:cNvSpPr>
          <p:nvPr/>
        </p:nvSpPr>
        <p:spPr bwMode="auto">
          <a:xfrm>
            <a:off x="914400" y="3735388"/>
            <a:ext cx="169863"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 P</a:t>
            </a:r>
            <a:endParaRPr lang="en-US" sz="1400" i="1">
              <a:latin typeface="Tahoma" pitchFamily="34" charset="0"/>
            </a:endParaRPr>
          </a:p>
        </p:txBody>
      </p:sp>
      <p:sp>
        <p:nvSpPr>
          <p:cNvPr id="722959" name="Rectangle 15"/>
          <p:cNvSpPr>
            <a:spLocks noChangeArrowheads="1"/>
          </p:cNvSpPr>
          <p:nvPr/>
        </p:nvSpPr>
        <p:spPr bwMode="auto">
          <a:xfrm>
            <a:off x="1106488" y="3897313"/>
            <a:ext cx="229230" cy="215444"/>
          </a:xfrm>
          <a:prstGeom prst="rect">
            <a:avLst/>
          </a:prstGeom>
          <a:noFill/>
          <a:ln w="9525">
            <a:noFill/>
            <a:miter lim="800000"/>
            <a:headEnd/>
            <a:tailEnd/>
          </a:ln>
        </p:spPr>
        <p:txBody>
          <a:bodyPr wrap="none" lIns="0" tIns="0" rIns="0" bIns="0">
            <a:spAutoFit/>
          </a:bodyPr>
          <a:lstStyle/>
          <a:p>
            <a:pPr marL="1588" indent="-1588"/>
            <a:r>
              <a:rPr lang="en-US" sz="1400" i="1" dirty="0" smtClean="0">
                <a:solidFill>
                  <a:srgbClr val="000000"/>
                </a:solidFill>
                <a:latin typeface="Myriad Pro"/>
              </a:rPr>
              <a:t>LR</a:t>
            </a:r>
            <a:endParaRPr lang="en-US" sz="1400" i="1" dirty="0">
              <a:latin typeface="Tahoma" pitchFamily="34" charset="0"/>
            </a:endParaRPr>
          </a:p>
        </p:txBody>
      </p:sp>
      <p:sp>
        <p:nvSpPr>
          <p:cNvPr id="722960" name="Rectangle 16"/>
          <p:cNvSpPr>
            <a:spLocks noChangeArrowheads="1"/>
          </p:cNvSpPr>
          <p:nvPr/>
        </p:nvSpPr>
        <p:spPr bwMode="auto">
          <a:xfrm>
            <a:off x="1357313" y="3735388"/>
            <a:ext cx="1047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722961" name="Rectangle 17"/>
          <p:cNvSpPr>
            <a:spLocks noChangeArrowheads="1"/>
          </p:cNvSpPr>
          <p:nvPr/>
        </p:nvSpPr>
        <p:spPr bwMode="auto">
          <a:xfrm>
            <a:off x="1565275" y="37179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722962" name="Rectangle 18"/>
          <p:cNvSpPr>
            <a:spLocks noChangeArrowheads="1"/>
          </p:cNvSpPr>
          <p:nvPr/>
        </p:nvSpPr>
        <p:spPr bwMode="auto">
          <a:xfrm>
            <a:off x="1682750" y="3717925"/>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722963" name="Rectangle 19"/>
          <p:cNvSpPr>
            <a:spLocks noChangeArrowheads="1"/>
          </p:cNvSpPr>
          <p:nvPr/>
        </p:nvSpPr>
        <p:spPr bwMode="auto">
          <a:xfrm>
            <a:off x="1790700" y="37163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722964" name="Rectangle 20"/>
          <p:cNvSpPr>
            <a:spLocks noChangeArrowheads="1"/>
          </p:cNvSpPr>
          <p:nvPr/>
        </p:nvSpPr>
        <p:spPr bwMode="auto">
          <a:xfrm>
            <a:off x="1906588" y="3857625"/>
            <a:ext cx="229230"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a:rPr>
              <a:t>LR</a:t>
            </a:r>
            <a:endParaRPr lang="en-US" sz="1400" i="1" dirty="0">
              <a:latin typeface="Tahoma" pitchFamily="34" charset="0"/>
            </a:endParaRPr>
          </a:p>
        </p:txBody>
      </p:sp>
      <p:sp>
        <p:nvSpPr>
          <p:cNvPr id="57363" name="Line 21"/>
          <p:cNvSpPr>
            <a:spLocks noChangeShapeType="1"/>
          </p:cNvSpPr>
          <p:nvPr/>
        </p:nvSpPr>
        <p:spPr bwMode="auto">
          <a:xfrm>
            <a:off x="2611438" y="2484438"/>
            <a:ext cx="3925887" cy="3230562"/>
          </a:xfrm>
          <a:prstGeom prst="line">
            <a:avLst/>
          </a:prstGeom>
          <a:noFill/>
          <a:ln w="30163">
            <a:solidFill>
              <a:srgbClr val="3C5DAA"/>
            </a:solidFill>
            <a:miter lim="800000"/>
            <a:headEnd/>
            <a:tailEnd/>
          </a:ln>
        </p:spPr>
        <p:txBody>
          <a:bodyPr/>
          <a:lstStyle/>
          <a:p>
            <a:endParaRPr lang="en-US"/>
          </a:p>
        </p:txBody>
      </p:sp>
      <p:sp>
        <p:nvSpPr>
          <p:cNvPr id="57364" name="Line 22"/>
          <p:cNvSpPr>
            <a:spLocks noChangeShapeType="1"/>
          </p:cNvSpPr>
          <p:nvPr/>
        </p:nvSpPr>
        <p:spPr bwMode="auto">
          <a:xfrm>
            <a:off x="2462213" y="2511425"/>
            <a:ext cx="2290762" cy="3395663"/>
          </a:xfrm>
          <a:prstGeom prst="line">
            <a:avLst/>
          </a:prstGeom>
          <a:noFill/>
          <a:ln w="30163">
            <a:solidFill>
              <a:srgbClr val="4B8FCC"/>
            </a:solidFill>
            <a:miter lim="800000"/>
            <a:headEnd/>
            <a:tailEnd/>
          </a:ln>
        </p:spPr>
        <p:txBody>
          <a:bodyPr/>
          <a:lstStyle/>
          <a:p>
            <a:endParaRPr lang="en-US"/>
          </a:p>
        </p:txBody>
      </p:sp>
      <p:sp>
        <p:nvSpPr>
          <p:cNvPr id="57365" name="Freeform 23"/>
          <p:cNvSpPr>
            <a:spLocks/>
          </p:cNvSpPr>
          <p:nvPr/>
        </p:nvSpPr>
        <p:spPr bwMode="auto">
          <a:xfrm>
            <a:off x="3713163" y="2484438"/>
            <a:ext cx="4275137" cy="2289175"/>
          </a:xfrm>
          <a:custGeom>
            <a:avLst/>
            <a:gdLst>
              <a:gd name="T0" fmla="*/ 0 w 595"/>
              <a:gd name="T1" fmla="*/ 0 h 357"/>
              <a:gd name="T2" fmla="*/ 2147483647 w 595"/>
              <a:gd name="T3" fmla="*/ 2147483647 h 357"/>
              <a:gd name="T4" fmla="*/ 2147483647 w 595"/>
              <a:gd name="T5" fmla="*/ 2147483647 h 357"/>
              <a:gd name="T6" fmla="*/ 0 60000 65536"/>
              <a:gd name="T7" fmla="*/ 0 60000 65536"/>
              <a:gd name="T8" fmla="*/ 0 60000 65536"/>
              <a:gd name="T9" fmla="*/ 0 w 595"/>
              <a:gd name="T10" fmla="*/ 0 h 357"/>
              <a:gd name="T11" fmla="*/ 595 w 595"/>
              <a:gd name="T12" fmla="*/ 357 h 357"/>
            </a:gdLst>
            <a:ahLst/>
            <a:cxnLst>
              <a:cxn ang="T6">
                <a:pos x="T0" y="T1"/>
              </a:cxn>
              <a:cxn ang="T7">
                <a:pos x="T2" y="T3"/>
              </a:cxn>
              <a:cxn ang="T8">
                <a:pos x="T4" y="T5"/>
              </a:cxn>
            </a:cxnLst>
            <a:rect l="T9" t="T10" r="T11" b="T12"/>
            <a:pathLst>
              <a:path w="595" h="357">
                <a:moveTo>
                  <a:pt x="0" y="0"/>
                </a:moveTo>
                <a:cubicBezTo>
                  <a:pt x="0" y="95"/>
                  <a:pt x="31" y="170"/>
                  <a:pt x="82" y="217"/>
                </a:cubicBezTo>
                <a:cubicBezTo>
                  <a:pt x="234" y="357"/>
                  <a:pt x="509" y="323"/>
                  <a:pt x="595" y="101"/>
                </a:cubicBezTo>
              </a:path>
            </a:pathLst>
          </a:custGeom>
          <a:noFill/>
          <a:ln w="30163" cap="flat">
            <a:solidFill>
              <a:srgbClr val="8C64AB"/>
            </a:solidFill>
            <a:prstDash val="solid"/>
            <a:miter lim="800000"/>
            <a:headEnd/>
            <a:tailEnd/>
          </a:ln>
        </p:spPr>
        <p:txBody>
          <a:bodyPr/>
          <a:lstStyle/>
          <a:p>
            <a:endParaRPr lang="en-US"/>
          </a:p>
        </p:txBody>
      </p:sp>
      <p:sp>
        <p:nvSpPr>
          <p:cNvPr id="722968" name="Oval 24"/>
          <p:cNvSpPr>
            <a:spLocks noChangeArrowheads="1"/>
          </p:cNvSpPr>
          <p:nvPr/>
        </p:nvSpPr>
        <p:spPr bwMode="auto">
          <a:xfrm>
            <a:off x="4229100" y="3810000"/>
            <a:ext cx="146050" cy="131763"/>
          </a:xfrm>
          <a:prstGeom prst="ellipse">
            <a:avLst/>
          </a:prstGeom>
          <a:solidFill>
            <a:srgbClr val="000000"/>
          </a:solidFill>
          <a:ln w="9525">
            <a:noFill/>
            <a:round/>
            <a:headEnd/>
            <a:tailEnd/>
          </a:ln>
        </p:spPr>
        <p:txBody>
          <a:bodyPr/>
          <a:lstStyle/>
          <a:p>
            <a:endParaRPr lang="en-US"/>
          </a:p>
        </p:txBody>
      </p:sp>
      <p:sp>
        <p:nvSpPr>
          <p:cNvPr id="57367" name="Freeform 25"/>
          <p:cNvSpPr>
            <a:spLocks/>
          </p:cNvSpPr>
          <p:nvPr/>
        </p:nvSpPr>
        <p:spPr bwMode="auto">
          <a:xfrm>
            <a:off x="2266950" y="1281113"/>
            <a:ext cx="6038850" cy="4767262"/>
          </a:xfrm>
          <a:custGeom>
            <a:avLst/>
            <a:gdLst>
              <a:gd name="T0" fmla="*/ 2147483647 w 1984"/>
              <a:gd name="T1" fmla="*/ 2147483647 h 1758"/>
              <a:gd name="T2" fmla="*/ 0 w 1984"/>
              <a:gd name="T3" fmla="*/ 2147483647 h 1758"/>
              <a:gd name="T4" fmla="*/ 0 w 1984"/>
              <a:gd name="T5" fmla="*/ 0 h 1758"/>
              <a:gd name="T6" fmla="*/ 0 60000 65536"/>
              <a:gd name="T7" fmla="*/ 0 60000 65536"/>
              <a:gd name="T8" fmla="*/ 0 60000 65536"/>
              <a:gd name="T9" fmla="*/ 0 w 1984"/>
              <a:gd name="T10" fmla="*/ 0 h 1758"/>
              <a:gd name="T11" fmla="*/ 1984 w 1984"/>
              <a:gd name="T12" fmla="*/ 1758 h 1758"/>
            </a:gdLst>
            <a:ahLst/>
            <a:cxnLst>
              <a:cxn ang="T6">
                <a:pos x="T0" y="T1"/>
              </a:cxn>
              <a:cxn ang="T7">
                <a:pos x="T2" y="T3"/>
              </a:cxn>
              <a:cxn ang="T8">
                <a:pos x="T4" y="T5"/>
              </a:cxn>
            </a:cxnLst>
            <a:rect l="T9" t="T10" r="T11" b="T12"/>
            <a:pathLst>
              <a:path w="1984" h="1758">
                <a:moveTo>
                  <a:pt x="1984" y="1758"/>
                </a:moveTo>
                <a:lnTo>
                  <a:pt x="0" y="1758"/>
                </a:lnTo>
                <a:lnTo>
                  <a:pt x="0" y="0"/>
                </a:lnTo>
              </a:path>
            </a:pathLst>
          </a:custGeom>
          <a:noFill/>
          <a:ln w="7938" cap="flat">
            <a:solidFill>
              <a:srgbClr val="000000"/>
            </a:solidFill>
            <a:prstDash val="solid"/>
            <a:miter lim="800000"/>
            <a:headEnd/>
            <a:tailEnd/>
          </a:ln>
        </p:spPr>
        <p:txBody>
          <a:bodyPr/>
          <a:lstStyle/>
          <a:p>
            <a:endParaRPr lang="en-US"/>
          </a:p>
        </p:txBody>
      </p:sp>
      <p:sp>
        <p:nvSpPr>
          <p:cNvPr id="722970" name="Line 26"/>
          <p:cNvSpPr>
            <a:spLocks noChangeShapeType="1"/>
          </p:cNvSpPr>
          <p:nvPr/>
        </p:nvSpPr>
        <p:spPr bwMode="auto">
          <a:xfrm flipH="1">
            <a:off x="4583113" y="2652713"/>
            <a:ext cx="746125" cy="876300"/>
          </a:xfrm>
          <a:prstGeom prst="line">
            <a:avLst/>
          </a:prstGeom>
          <a:noFill/>
          <a:ln w="7938">
            <a:solidFill>
              <a:srgbClr val="000000"/>
            </a:solidFill>
            <a:miter lim="800000"/>
            <a:headEnd/>
            <a:tailEnd/>
          </a:ln>
        </p:spPr>
        <p:txBody>
          <a:bodyPr/>
          <a:lstStyle/>
          <a:p>
            <a:endParaRPr lang="en-US"/>
          </a:p>
        </p:txBody>
      </p:sp>
      <p:sp>
        <p:nvSpPr>
          <p:cNvPr id="722971" name="Freeform 27"/>
          <p:cNvSpPr>
            <a:spLocks/>
          </p:cNvSpPr>
          <p:nvPr/>
        </p:nvSpPr>
        <p:spPr bwMode="auto">
          <a:xfrm>
            <a:off x="4498975" y="2300288"/>
            <a:ext cx="1692275" cy="333375"/>
          </a:xfrm>
          <a:custGeom>
            <a:avLst/>
            <a:gdLst>
              <a:gd name="T0" fmla="*/ 2147483647 w 265"/>
              <a:gd name="T1" fmla="*/ 1697956925 h 60"/>
              <a:gd name="T2" fmla="*/ 2147483647 w 265"/>
              <a:gd name="T3" fmla="*/ 1852315067 h 60"/>
              <a:gd name="T4" fmla="*/ 489361203 w 265"/>
              <a:gd name="T5" fmla="*/ 1852315067 h 60"/>
              <a:gd name="T6" fmla="*/ 0 w 265"/>
              <a:gd name="T7" fmla="*/ 1697956925 h 60"/>
              <a:gd name="T8" fmla="*/ 0 w 265"/>
              <a:gd name="T9" fmla="*/ 185234302 h 60"/>
              <a:gd name="T10" fmla="*/ 489361203 w 265"/>
              <a:gd name="T11" fmla="*/ 0 h 60"/>
              <a:gd name="T12" fmla="*/ 2147483647 w 265"/>
              <a:gd name="T13" fmla="*/ 0 h 60"/>
              <a:gd name="T14" fmla="*/ 2147483647 w 265"/>
              <a:gd name="T15" fmla="*/ 185234302 h 60"/>
              <a:gd name="T16" fmla="*/ 2147483647 w 265"/>
              <a:gd name="T17" fmla="*/ 1697956925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5"/>
              <a:gd name="T28" fmla="*/ 0 h 60"/>
              <a:gd name="T29" fmla="*/ 265 w 265"/>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5" h="60">
                <a:moveTo>
                  <a:pt x="265" y="55"/>
                </a:moveTo>
                <a:cubicBezTo>
                  <a:pt x="265" y="58"/>
                  <a:pt x="260" y="60"/>
                  <a:pt x="253" y="60"/>
                </a:cubicBezTo>
                <a:cubicBezTo>
                  <a:pt x="12" y="60"/>
                  <a:pt x="12" y="60"/>
                  <a:pt x="12" y="60"/>
                </a:cubicBezTo>
                <a:cubicBezTo>
                  <a:pt x="5" y="60"/>
                  <a:pt x="0" y="58"/>
                  <a:pt x="0" y="55"/>
                </a:cubicBezTo>
                <a:cubicBezTo>
                  <a:pt x="0" y="6"/>
                  <a:pt x="0" y="6"/>
                  <a:pt x="0" y="6"/>
                </a:cubicBezTo>
                <a:cubicBezTo>
                  <a:pt x="0" y="3"/>
                  <a:pt x="5" y="0"/>
                  <a:pt x="12" y="0"/>
                </a:cubicBezTo>
                <a:cubicBezTo>
                  <a:pt x="253" y="0"/>
                  <a:pt x="253" y="0"/>
                  <a:pt x="253" y="0"/>
                </a:cubicBezTo>
                <a:cubicBezTo>
                  <a:pt x="260" y="0"/>
                  <a:pt x="265" y="3"/>
                  <a:pt x="265" y="6"/>
                </a:cubicBezTo>
                <a:lnTo>
                  <a:pt x="265" y="55"/>
                </a:lnTo>
                <a:close/>
              </a:path>
            </a:pathLst>
          </a:custGeom>
          <a:solidFill>
            <a:srgbClr val="D7E2E0"/>
          </a:solidFill>
          <a:ln w="9525">
            <a:noFill/>
            <a:round/>
            <a:headEnd/>
            <a:tailEnd/>
          </a:ln>
        </p:spPr>
        <p:txBody>
          <a:bodyPr/>
          <a:lstStyle/>
          <a:p>
            <a:endParaRPr lang="en-US"/>
          </a:p>
        </p:txBody>
      </p:sp>
      <p:sp>
        <p:nvSpPr>
          <p:cNvPr id="722972" name="Rectangle 28"/>
          <p:cNvSpPr>
            <a:spLocks noChangeArrowheads="1"/>
          </p:cNvSpPr>
          <p:nvPr/>
        </p:nvSpPr>
        <p:spPr bwMode="auto">
          <a:xfrm>
            <a:off x="4692650" y="2362200"/>
            <a:ext cx="1296988"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rPr>
              <a:t>Point of tangency</a:t>
            </a:r>
            <a:endParaRPr lang="en-US" sz="1400" b="1"/>
          </a:p>
        </p:txBody>
      </p:sp>
      <p:sp>
        <p:nvSpPr>
          <p:cNvPr id="57371" name="Freeform 29"/>
          <p:cNvSpPr>
            <a:spLocks/>
          </p:cNvSpPr>
          <p:nvPr/>
        </p:nvSpPr>
        <p:spPr bwMode="auto">
          <a:xfrm>
            <a:off x="3859213" y="2205038"/>
            <a:ext cx="3463925" cy="3144837"/>
          </a:xfrm>
          <a:custGeom>
            <a:avLst/>
            <a:gdLst>
              <a:gd name="T0" fmla="*/ 2147483647 w 482"/>
              <a:gd name="T1" fmla="*/ 0 h 491"/>
              <a:gd name="T2" fmla="*/ 0 w 482"/>
              <a:gd name="T3" fmla="*/ 2147483647 h 491"/>
              <a:gd name="T4" fmla="*/ 0 60000 65536"/>
              <a:gd name="T5" fmla="*/ 0 60000 65536"/>
              <a:gd name="T6" fmla="*/ 0 w 482"/>
              <a:gd name="T7" fmla="*/ 0 h 491"/>
              <a:gd name="T8" fmla="*/ 482 w 482"/>
              <a:gd name="T9" fmla="*/ 491 h 491"/>
            </a:gdLst>
            <a:ahLst/>
            <a:cxnLst>
              <a:cxn ang="T4">
                <a:pos x="T0" y="T1"/>
              </a:cxn>
              <a:cxn ang="T5">
                <a:pos x="T2" y="T3"/>
              </a:cxn>
            </a:cxnLst>
            <a:rect l="T6" t="T7" r="T8" b="T9"/>
            <a:pathLst>
              <a:path w="482" h="491">
                <a:moveTo>
                  <a:pt x="482" y="0"/>
                </a:moveTo>
                <a:cubicBezTo>
                  <a:pt x="378" y="383"/>
                  <a:pt x="170" y="444"/>
                  <a:pt x="0" y="491"/>
                </a:cubicBezTo>
              </a:path>
            </a:pathLst>
          </a:custGeom>
          <a:noFill/>
          <a:ln w="30163" cap="flat">
            <a:solidFill>
              <a:srgbClr val="F3716D"/>
            </a:solidFill>
            <a:prstDash val="solid"/>
            <a:miter lim="800000"/>
            <a:headEnd/>
            <a:tailEnd/>
          </a:ln>
        </p:spPr>
        <p:txBody>
          <a:bodyPr/>
          <a:lstStyle/>
          <a:p>
            <a:endParaRPr lang="en-US"/>
          </a:p>
        </p:txBody>
      </p:sp>
      <p:sp>
        <p:nvSpPr>
          <p:cNvPr id="722974" name="Oval 30"/>
          <p:cNvSpPr>
            <a:spLocks noChangeArrowheads="1"/>
          </p:cNvSpPr>
          <p:nvPr/>
        </p:nvSpPr>
        <p:spPr bwMode="auto">
          <a:xfrm>
            <a:off x="4229100" y="5184775"/>
            <a:ext cx="146050" cy="127000"/>
          </a:xfrm>
          <a:prstGeom prst="ellipse">
            <a:avLst/>
          </a:prstGeom>
          <a:solidFill>
            <a:srgbClr val="000000"/>
          </a:solidFill>
          <a:ln w="9525">
            <a:noFill/>
            <a:round/>
            <a:headEnd/>
            <a:tailEnd/>
          </a:ln>
        </p:spPr>
        <p:txBody>
          <a:bodyPr/>
          <a:lstStyle/>
          <a:p>
            <a:endParaRPr lang="en-US"/>
          </a:p>
        </p:txBody>
      </p:sp>
      <p:sp>
        <p:nvSpPr>
          <p:cNvPr id="57373" name="Rectangle 31"/>
          <p:cNvSpPr>
            <a:spLocks noChangeArrowheads="1"/>
          </p:cNvSpPr>
          <p:nvPr/>
        </p:nvSpPr>
        <p:spPr bwMode="auto">
          <a:xfrm>
            <a:off x="1541463" y="838200"/>
            <a:ext cx="146050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a:t>
            </a:r>
            <a:endParaRPr lang="en-US" sz="1400">
              <a:latin typeface="Tahoma" pitchFamily="34" charset="0"/>
            </a:endParaRPr>
          </a:p>
        </p:txBody>
      </p:sp>
      <p:sp>
        <p:nvSpPr>
          <p:cNvPr id="57374" name="Rectangle 32"/>
          <p:cNvSpPr>
            <a:spLocks noChangeArrowheads="1"/>
          </p:cNvSpPr>
          <p:nvPr/>
        </p:nvSpPr>
        <p:spPr bwMode="auto">
          <a:xfrm>
            <a:off x="7237413" y="6162675"/>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Roman"/>
              </a:rPr>
              <a:t>Quantity</a:t>
            </a:r>
            <a:endParaRPr lang="en-US" sz="1400">
              <a:latin typeface="Tahoma" pitchFamily="34" charset="0"/>
            </a:endParaRPr>
          </a:p>
        </p:txBody>
      </p:sp>
      <p:cxnSp>
        <p:nvCxnSpPr>
          <p:cNvPr id="548914" name="Straight Connector 86"/>
          <p:cNvCxnSpPr>
            <a:cxnSpLocks noChangeShapeType="1"/>
          </p:cNvCxnSpPr>
          <p:nvPr/>
        </p:nvCxnSpPr>
        <p:spPr bwMode="auto">
          <a:xfrm>
            <a:off x="4302125" y="3916363"/>
            <a:ext cx="0" cy="2116137"/>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2273300" y="3867150"/>
            <a:ext cx="1973263" cy="0"/>
          </a:xfrm>
          <a:prstGeom prst="line">
            <a:avLst/>
          </a:prstGeom>
          <a:noFill/>
          <a:ln w="15875">
            <a:solidFill>
              <a:srgbClr val="808080"/>
            </a:solidFill>
            <a:prstDash val="sysDot"/>
            <a:round/>
            <a:headEnd/>
            <a:tailEnd type="none" w="med" len="lg"/>
          </a:ln>
        </p:spPr>
      </p:cxnSp>
      <p:sp>
        <p:nvSpPr>
          <p:cNvPr id="89090" name="Rectangle 2"/>
          <p:cNvSpPr>
            <a:spLocks noRot="1" noChangeArrowheads="1"/>
          </p:cNvSpPr>
          <p:nvPr/>
        </p:nvSpPr>
        <p:spPr bwMode="auto">
          <a:xfrm>
            <a:off x="914400" y="0"/>
            <a:ext cx="8015288" cy="798513"/>
          </a:xfrm>
          <a:prstGeom prst="rect">
            <a:avLst/>
          </a:prstGeom>
          <a:noFill/>
          <a:ln w="9525">
            <a:noFill/>
            <a:miter lim="800000"/>
            <a:headEnd/>
            <a:tailEnd/>
          </a:ln>
        </p:spPr>
        <p:txBody>
          <a:bodyPr anchor="ctr"/>
          <a:lstStyle/>
          <a:p>
            <a:pPr eaLnBrk="0" hangingPunct="0">
              <a:lnSpc>
                <a:spcPct val="85000"/>
              </a:lnSpc>
              <a:defRPr/>
            </a:pPr>
            <a:r>
              <a:rPr lang="en-US" sz="3200" b="1" dirty="0">
                <a:solidFill>
                  <a:schemeClr val="bg1"/>
                </a:solidFill>
                <a:effectLst>
                  <a:outerShdw blurRad="38100" dist="38100" dir="2700000" algn="tl">
                    <a:srgbClr val="000000">
                      <a:alpha val="43137"/>
                    </a:srgbClr>
                  </a:outerShdw>
                </a:effectLst>
              </a:rPr>
              <a:t>The Long-Run Zero-Profit Equilibrium</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2974"/>
                                        </p:tgtEl>
                                        <p:attrNameLst>
                                          <p:attrName>style.visibility</p:attrName>
                                        </p:attrNameLst>
                                      </p:cBhvr>
                                      <p:to>
                                        <p:strVal val="visible"/>
                                      </p:to>
                                    </p:set>
                                    <p:animEffect transition="in" filter="fade">
                                      <p:cBhvr>
                                        <p:cTn id="7" dur="500"/>
                                        <p:tgtEl>
                                          <p:spTgt spid="72297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22968"/>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722955"/>
                                        </p:tgtEl>
                                        <p:attrNameLst>
                                          <p:attrName>style.visibility</p:attrName>
                                        </p:attrNameLst>
                                      </p:cBhvr>
                                      <p:to>
                                        <p:strVal val="visible"/>
                                      </p:to>
                                    </p:set>
                                  </p:childTnLst>
                                </p:cTn>
                              </p:par>
                              <p:par>
                                <p:cTn id="12" presetID="22" presetClass="entr" presetSubtype="4" fill="hold" grpId="0" nodeType="withEffect">
                                  <p:stCondLst>
                                    <p:cond delay="0"/>
                                  </p:stCondLst>
                                  <p:childTnLst>
                                    <p:set>
                                      <p:cBhvr>
                                        <p:cTn id="13" dur="1" fill="hold">
                                          <p:stCondLst>
                                            <p:cond delay="0"/>
                                          </p:stCondLst>
                                        </p:cTn>
                                        <p:tgtEl>
                                          <p:spTgt spid="722970"/>
                                        </p:tgtEl>
                                        <p:attrNameLst>
                                          <p:attrName>style.visibility</p:attrName>
                                        </p:attrNameLst>
                                      </p:cBhvr>
                                      <p:to>
                                        <p:strVal val="visible"/>
                                      </p:to>
                                    </p:set>
                                    <p:animEffect transition="in" filter="wipe(down)">
                                      <p:cBhvr>
                                        <p:cTn id="14" dur="500"/>
                                        <p:tgtEl>
                                          <p:spTgt spid="722970"/>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722971"/>
                                        </p:tgtEl>
                                        <p:attrNameLst>
                                          <p:attrName>style.visibility</p:attrName>
                                        </p:attrNameLst>
                                      </p:cBhvr>
                                      <p:to>
                                        <p:strVal val="visible"/>
                                      </p:to>
                                    </p:set>
                                    <p:animEffect transition="in" filter="wipe(down)">
                                      <p:cBhvr>
                                        <p:cTn id="17" dur="500"/>
                                        <p:tgtEl>
                                          <p:spTgt spid="722971"/>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722972"/>
                                        </p:tgtEl>
                                        <p:attrNameLst>
                                          <p:attrName>style.visibility</p:attrName>
                                        </p:attrNameLst>
                                      </p:cBhvr>
                                      <p:to>
                                        <p:strVal val="visible"/>
                                      </p:to>
                                    </p:set>
                                    <p:animEffect transition="in" filter="wipe(down)">
                                      <p:cBhvr>
                                        <p:cTn id="20" dur="500"/>
                                        <p:tgtEl>
                                          <p:spTgt spid="722972"/>
                                        </p:tgtEl>
                                      </p:cBhvr>
                                    </p:animEffect>
                                  </p:childTnLst>
                                </p:cTn>
                              </p:par>
                              <p:par>
                                <p:cTn id="21" presetID="10" presetClass="entr" presetSubtype="0" fill="hold" nodeType="withEffect">
                                  <p:stCondLst>
                                    <p:cond delay="0"/>
                                  </p:stCondLst>
                                  <p:childTnLst>
                                    <p:set>
                                      <p:cBhvr>
                                        <p:cTn id="22" dur="1" fill="hold">
                                          <p:stCondLst>
                                            <p:cond delay="0"/>
                                          </p:stCondLst>
                                        </p:cTn>
                                        <p:tgtEl>
                                          <p:spTgt spid="548914"/>
                                        </p:tgtEl>
                                        <p:attrNameLst>
                                          <p:attrName>style.visibility</p:attrName>
                                        </p:attrNameLst>
                                      </p:cBhvr>
                                      <p:to>
                                        <p:strVal val="visible"/>
                                      </p:to>
                                    </p:set>
                                    <p:animEffect transition="in" filter="fade">
                                      <p:cBhvr>
                                        <p:cTn id="23" dur="500"/>
                                        <p:tgtEl>
                                          <p:spTgt spid="5489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22956"/>
                                        </p:tgtEl>
                                        <p:attrNameLst>
                                          <p:attrName>style.visibility</p:attrName>
                                        </p:attrNameLst>
                                      </p:cBhvr>
                                      <p:to>
                                        <p:strVal val="visible"/>
                                      </p:to>
                                    </p:set>
                                    <p:animEffect transition="in" filter="fade">
                                      <p:cBhvr>
                                        <p:cTn id="26" dur="500"/>
                                        <p:tgtEl>
                                          <p:spTgt spid="72295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22957"/>
                                        </p:tgtEl>
                                        <p:attrNameLst>
                                          <p:attrName>style.visibility</p:attrName>
                                        </p:attrNameLst>
                                      </p:cBhvr>
                                      <p:to>
                                        <p:strVal val="visible"/>
                                      </p:to>
                                    </p:set>
                                    <p:animEffect transition="in" filter="fade">
                                      <p:cBhvr>
                                        <p:cTn id="29" dur="500"/>
                                        <p:tgtEl>
                                          <p:spTgt spid="722957"/>
                                        </p:tgtEl>
                                      </p:cBhvr>
                                    </p:animEffect>
                                  </p:childTnLst>
                                </p:cTn>
                              </p:par>
                              <p:par>
                                <p:cTn id="30" presetID="10"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22958"/>
                                        </p:tgtEl>
                                        <p:attrNameLst>
                                          <p:attrName>style.visibility</p:attrName>
                                        </p:attrNameLst>
                                      </p:cBhvr>
                                      <p:to>
                                        <p:strVal val="visible"/>
                                      </p:to>
                                    </p:set>
                                    <p:animEffect transition="in" filter="fade">
                                      <p:cBhvr>
                                        <p:cTn id="35" dur="500"/>
                                        <p:tgtEl>
                                          <p:spTgt spid="72295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22959"/>
                                        </p:tgtEl>
                                        <p:attrNameLst>
                                          <p:attrName>style.visibility</p:attrName>
                                        </p:attrNameLst>
                                      </p:cBhvr>
                                      <p:to>
                                        <p:strVal val="visible"/>
                                      </p:to>
                                    </p:set>
                                    <p:animEffect transition="in" filter="fade">
                                      <p:cBhvr>
                                        <p:cTn id="38" dur="500"/>
                                        <p:tgtEl>
                                          <p:spTgt spid="72295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22960"/>
                                        </p:tgtEl>
                                        <p:attrNameLst>
                                          <p:attrName>style.visibility</p:attrName>
                                        </p:attrNameLst>
                                      </p:cBhvr>
                                      <p:to>
                                        <p:strVal val="visible"/>
                                      </p:to>
                                    </p:set>
                                    <p:animEffect transition="in" filter="fade">
                                      <p:cBhvr>
                                        <p:cTn id="41" dur="500"/>
                                        <p:tgtEl>
                                          <p:spTgt spid="72296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22961"/>
                                        </p:tgtEl>
                                        <p:attrNameLst>
                                          <p:attrName>style.visibility</p:attrName>
                                        </p:attrNameLst>
                                      </p:cBhvr>
                                      <p:to>
                                        <p:strVal val="visible"/>
                                      </p:to>
                                    </p:set>
                                    <p:animEffect transition="in" filter="fade">
                                      <p:cBhvr>
                                        <p:cTn id="44" dur="500"/>
                                        <p:tgtEl>
                                          <p:spTgt spid="72296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722962"/>
                                        </p:tgtEl>
                                        <p:attrNameLst>
                                          <p:attrName>style.visibility</p:attrName>
                                        </p:attrNameLst>
                                      </p:cBhvr>
                                      <p:to>
                                        <p:strVal val="visible"/>
                                      </p:to>
                                    </p:set>
                                    <p:animEffect transition="in" filter="fade">
                                      <p:cBhvr>
                                        <p:cTn id="47" dur="500"/>
                                        <p:tgtEl>
                                          <p:spTgt spid="72296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22963"/>
                                        </p:tgtEl>
                                        <p:attrNameLst>
                                          <p:attrName>style.visibility</p:attrName>
                                        </p:attrNameLst>
                                      </p:cBhvr>
                                      <p:to>
                                        <p:strVal val="visible"/>
                                      </p:to>
                                    </p:set>
                                    <p:animEffect transition="in" filter="fade">
                                      <p:cBhvr>
                                        <p:cTn id="50" dur="500"/>
                                        <p:tgtEl>
                                          <p:spTgt spid="72296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22964"/>
                                        </p:tgtEl>
                                        <p:attrNameLst>
                                          <p:attrName>style.visibility</p:attrName>
                                        </p:attrNameLst>
                                      </p:cBhvr>
                                      <p:to>
                                        <p:strVal val="visible"/>
                                      </p:to>
                                    </p:set>
                                    <p:animEffect transition="in" filter="fade">
                                      <p:cBhvr>
                                        <p:cTn id="53" dur="500"/>
                                        <p:tgtEl>
                                          <p:spTgt spid="722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55" grpId="0"/>
      <p:bldP spid="722956" grpId="0"/>
      <p:bldP spid="722957" grpId="0"/>
      <p:bldP spid="722958" grpId="0"/>
      <p:bldP spid="722959" grpId="0"/>
      <p:bldP spid="722960" grpId="0"/>
      <p:bldP spid="722961" grpId="0"/>
      <p:bldP spid="722962" grpId="0"/>
      <p:bldP spid="722963" grpId="0"/>
      <p:bldP spid="722964" grpId="0"/>
      <p:bldP spid="722968" grpId="0" animBg="1"/>
      <p:bldP spid="722970" grpId="0" animBg="1"/>
      <p:bldP spid="722971" grpId="0" animBg="1"/>
      <p:bldP spid="722972" grpId="0"/>
      <p:bldP spid="72297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rrowheads="1"/>
          </p:cNvSpPr>
          <p:nvPr>
            <p:ph type="title" idx="4294967295"/>
          </p:nvPr>
        </p:nvSpPr>
        <p:spPr>
          <a:xfrm>
            <a:off x="503238" y="0"/>
            <a:ext cx="8408987" cy="731838"/>
          </a:xfrm>
        </p:spPr>
        <p:txBody>
          <a:bodyPr/>
          <a:lstStyle/>
          <a:p>
            <a:pPr>
              <a:defRPr/>
            </a:pPr>
            <a:r>
              <a:rPr lang="en-US" sz="2800" smtClean="0">
                <a:effectLst>
                  <a:outerShdw blurRad="38100" dist="38100" dir="2700000" algn="tl">
                    <a:srgbClr val="C0C0C0"/>
                  </a:outerShdw>
                </a:effectLst>
              </a:rPr>
              <a:t>Monopolistic Competition versus Perfect Competition</a:t>
            </a:r>
            <a:endParaRPr lang="en-US" sz="2800" b="0" smtClean="0">
              <a:effectLst>
                <a:outerShdw blurRad="38100" dist="38100" dir="2700000" algn="tl">
                  <a:srgbClr val="C0C0C0"/>
                </a:outerShdw>
              </a:effectLst>
            </a:endParaRPr>
          </a:p>
        </p:txBody>
      </p:sp>
      <p:sp>
        <p:nvSpPr>
          <p:cNvPr id="59394" name="Text Box 3"/>
          <p:cNvSpPr txBox="1">
            <a:spLocks noChangeArrowheads="1"/>
          </p:cNvSpPr>
          <p:nvPr/>
        </p:nvSpPr>
        <p:spPr bwMode="auto">
          <a:xfrm>
            <a:off x="827088" y="800100"/>
            <a:ext cx="8101012" cy="5797550"/>
          </a:xfrm>
          <a:prstGeom prst="rect">
            <a:avLst/>
          </a:prstGeom>
          <a:noFill/>
          <a:ln w="9525" algn="ctr">
            <a:noFill/>
            <a:miter lim="800000"/>
            <a:headEnd/>
            <a:tailEnd type="none" w="med" len="lg"/>
          </a:ln>
        </p:spPr>
        <p:txBody>
          <a:bodyPr/>
          <a:lstStyle/>
          <a:p>
            <a:pPr marL="231775" indent="-231775">
              <a:buClr>
                <a:schemeClr val="tx1"/>
              </a:buClr>
              <a:buFont typeface="Wingdings" pitchFamily="2" charset="2"/>
              <a:buChar char="§"/>
            </a:pPr>
            <a:r>
              <a:rPr lang="en-US" sz="2400"/>
              <a:t>Most industries are monopolistically competitive. </a:t>
            </a:r>
          </a:p>
          <a:p>
            <a:pPr marL="742950" lvl="1" indent="-285750">
              <a:buClr>
                <a:schemeClr val="tx1"/>
              </a:buClr>
              <a:buFont typeface="Wingdings" pitchFamily="2" charset="2"/>
              <a:buChar char="§"/>
            </a:pPr>
            <a:r>
              <a:rPr lang="en-US" sz="2400"/>
              <a:t>It is the most common market structure.</a:t>
            </a:r>
          </a:p>
          <a:p>
            <a:pPr marL="231775" indent="-231775">
              <a:buClr>
                <a:schemeClr val="tx1"/>
              </a:buClr>
              <a:buFont typeface="Wingdings" pitchFamily="2" charset="2"/>
              <a:buChar char="§"/>
            </a:pPr>
            <a:endParaRPr lang="en-US" sz="2400"/>
          </a:p>
          <a:p>
            <a:pPr marL="231775" indent="-231775">
              <a:buClr>
                <a:schemeClr val="tx1"/>
              </a:buClr>
              <a:buFont typeface="Wingdings" pitchFamily="2" charset="2"/>
              <a:buChar char="§"/>
            </a:pPr>
            <a:r>
              <a:rPr lang="en-US" sz="2400"/>
              <a:t>Price exceeds marginal cost, so some mutually beneficial trades are unexploited.</a:t>
            </a:r>
          </a:p>
          <a:p>
            <a:pPr marL="742950" lvl="1" indent="-285750">
              <a:buClr>
                <a:schemeClr val="tx1"/>
              </a:buClr>
              <a:buFont typeface="Wingdings" pitchFamily="2" charset="2"/>
              <a:buChar char="§"/>
            </a:pPr>
            <a:r>
              <a:rPr lang="en-US" sz="2400"/>
              <a:t>Firms charge a </a:t>
            </a:r>
            <a:r>
              <a:rPr lang="en-US" sz="2400" i="1"/>
              <a:t>mark-up </a:t>
            </a:r>
            <a:r>
              <a:rPr lang="en-US" sz="2400"/>
              <a:t>over their marginal cost.</a:t>
            </a:r>
          </a:p>
          <a:p>
            <a:pPr marL="231775" indent="-231775">
              <a:buClr>
                <a:schemeClr val="tx1"/>
              </a:buClr>
              <a:buFont typeface="Wingdings" pitchFamily="2" charset="2"/>
              <a:buChar char="§"/>
            </a:pPr>
            <a:endParaRPr lang="en-US" sz="2400"/>
          </a:p>
          <a:p>
            <a:pPr marL="231775" indent="-231775">
              <a:buClr>
                <a:schemeClr val="tx1"/>
              </a:buClr>
              <a:buFont typeface="Wingdings" pitchFamily="2" charset="2"/>
              <a:buChar char="§"/>
            </a:pPr>
            <a:r>
              <a:rPr lang="en-US" sz="2400"/>
              <a:t>In the long-run equilibrium of a monopolistically competitive industry, there are many firms, all earning zero profit. </a:t>
            </a:r>
            <a:br>
              <a:rPr lang="en-US" sz="2400"/>
            </a:br>
            <a:endParaRPr lang="en-US" sz="2400"/>
          </a:p>
          <a:p>
            <a:pPr marL="231775" indent="-231775">
              <a:buClr>
                <a:schemeClr val="tx1"/>
              </a:buClr>
              <a:buFont typeface="Wingdings" pitchFamily="2" charset="2"/>
              <a:buChar char="§"/>
            </a:pPr>
            <a:r>
              <a:rPr lang="en-US" sz="2400"/>
              <a:t>Firms operate at a level of production less than their minimum ATC.</a:t>
            </a:r>
          </a:p>
          <a:p>
            <a:pPr marL="742950" lvl="1" indent="-285750">
              <a:buClr>
                <a:schemeClr val="tx1"/>
              </a:buClr>
              <a:buFont typeface="Wingdings" pitchFamily="2" charset="2"/>
              <a:buChar char="§"/>
            </a:pPr>
            <a:r>
              <a:rPr lang="en-US" sz="2400"/>
              <a:t>There is </a:t>
            </a:r>
            <a:r>
              <a:rPr lang="en-US" sz="2400" i="1"/>
              <a:t>excess capacity.</a:t>
            </a:r>
          </a:p>
          <a:p>
            <a:pPr marL="742950" lvl="1" indent="-285750">
              <a:buClr>
                <a:schemeClr val="tx1"/>
              </a:buClr>
              <a:buFont typeface="Wingdings" pitchFamily="2" charset="2"/>
              <a:buChar char="§"/>
            </a:pPr>
            <a:r>
              <a:rPr lang="en-US" sz="2400"/>
              <a:t>A monopolistically competitive firm produces less than a similar firm in a perfectly competitive market.</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Picture 3"/>
          <p:cNvPicPr>
            <a:picLocks noChangeAspect="1"/>
          </p:cNvPicPr>
          <p:nvPr/>
        </p:nvPicPr>
        <p:blipFill>
          <a:blip r:embed="rId3"/>
          <a:srcRect/>
          <a:stretch>
            <a:fillRect/>
          </a:stretch>
        </p:blipFill>
        <p:spPr bwMode="auto">
          <a:xfrm>
            <a:off x="36513" y="0"/>
            <a:ext cx="9107487" cy="6858000"/>
          </a:xfrm>
          <a:prstGeom prst="rect">
            <a:avLst/>
          </a:prstGeom>
          <a:noFill/>
          <a:ln w="9525">
            <a:noFill/>
            <a:miter lim="800000"/>
            <a:headEnd/>
            <a:tailEnd/>
          </a:ln>
        </p:spPr>
      </p:pic>
      <p:sp>
        <p:nvSpPr>
          <p:cNvPr id="5" name="Freeform 27"/>
          <p:cNvSpPr>
            <a:spLocks/>
          </p:cNvSpPr>
          <p:nvPr/>
        </p:nvSpPr>
        <p:spPr bwMode="auto">
          <a:xfrm>
            <a:off x="4679950" y="3730625"/>
            <a:ext cx="1111250" cy="768350"/>
          </a:xfrm>
          <a:custGeom>
            <a:avLst/>
            <a:gdLst>
              <a:gd name="T0" fmla="*/ 2147483647 w 265"/>
              <a:gd name="T1" fmla="*/ 2147483647 h 60"/>
              <a:gd name="T2" fmla="*/ 2147483647 w 265"/>
              <a:gd name="T3" fmla="*/ 2147483647 h 60"/>
              <a:gd name="T4" fmla="*/ 211015860 w 265"/>
              <a:gd name="T5" fmla="*/ 2147483647 h 60"/>
              <a:gd name="T6" fmla="*/ 0 w 265"/>
              <a:gd name="T7" fmla="*/ 2147483647 h 60"/>
              <a:gd name="T8" fmla="*/ 0 w 265"/>
              <a:gd name="T9" fmla="*/ 983936354 h 60"/>
              <a:gd name="T10" fmla="*/ 211015860 w 265"/>
              <a:gd name="T11" fmla="*/ 0 h 60"/>
              <a:gd name="T12" fmla="*/ 2147483647 w 265"/>
              <a:gd name="T13" fmla="*/ 0 h 60"/>
              <a:gd name="T14" fmla="*/ 2147483647 w 265"/>
              <a:gd name="T15" fmla="*/ 983936354 h 60"/>
              <a:gd name="T16" fmla="*/ 2147483647 w 265"/>
              <a:gd name="T17" fmla="*/ 2147483647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5"/>
              <a:gd name="T28" fmla="*/ 0 h 60"/>
              <a:gd name="T29" fmla="*/ 265 w 265"/>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5" h="60">
                <a:moveTo>
                  <a:pt x="265" y="55"/>
                </a:moveTo>
                <a:cubicBezTo>
                  <a:pt x="265" y="58"/>
                  <a:pt x="260" y="60"/>
                  <a:pt x="253" y="60"/>
                </a:cubicBezTo>
                <a:cubicBezTo>
                  <a:pt x="12" y="60"/>
                  <a:pt x="12" y="60"/>
                  <a:pt x="12" y="60"/>
                </a:cubicBezTo>
                <a:cubicBezTo>
                  <a:pt x="5" y="60"/>
                  <a:pt x="0" y="58"/>
                  <a:pt x="0" y="55"/>
                </a:cubicBezTo>
                <a:cubicBezTo>
                  <a:pt x="0" y="6"/>
                  <a:pt x="0" y="6"/>
                  <a:pt x="0" y="6"/>
                </a:cubicBezTo>
                <a:cubicBezTo>
                  <a:pt x="0" y="3"/>
                  <a:pt x="5" y="0"/>
                  <a:pt x="12" y="0"/>
                </a:cubicBezTo>
                <a:cubicBezTo>
                  <a:pt x="253" y="0"/>
                  <a:pt x="253" y="0"/>
                  <a:pt x="253" y="0"/>
                </a:cubicBezTo>
                <a:cubicBezTo>
                  <a:pt x="260" y="0"/>
                  <a:pt x="265" y="3"/>
                  <a:pt x="265" y="6"/>
                </a:cubicBezTo>
                <a:lnTo>
                  <a:pt x="265" y="55"/>
                </a:lnTo>
                <a:close/>
              </a:path>
            </a:pathLst>
          </a:custGeom>
          <a:solidFill>
            <a:srgbClr val="D7E2E0"/>
          </a:solidFill>
          <a:ln w="9525">
            <a:noFill/>
            <a:round/>
            <a:headEnd/>
            <a:tailEnd/>
          </a:ln>
        </p:spPr>
        <p:txBody>
          <a:bodyPr/>
          <a:lstStyle/>
          <a:p>
            <a:endParaRPr lang="en-US"/>
          </a:p>
        </p:txBody>
      </p:sp>
      <p:sp>
        <p:nvSpPr>
          <p:cNvPr id="61443" name="Freeform 27"/>
          <p:cNvSpPr>
            <a:spLocks/>
          </p:cNvSpPr>
          <p:nvPr/>
        </p:nvSpPr>
        <p:spPr bwMode="auto">
          <a:xfrm>
            <a:off x="142875" y="4378325"/>
            <a:ext cx="1258888" cy="720725"/>
          </a:xfrm>
          <a:custGeom>
            <a:avLst/>
            <a:gdLst>
              <a:gd name="T0" fmla="*/ 2147483647 w 265"/>
              <a:gd name="T1" fmla="*/ 2147483647 h 60"/>
              <a:gd name="T2" fmla="*/ 2147483647 w 265"/>
              <a:gd name="T3" fmla="*/ 2147483647 h 60"/>
              <a:gd name="T4" fmla="*/ 270808136 w 265"/>
              <a:gd name="T5" fmla="*/ 2147483647 h 60"/>
              <a:gd name="T6" fmla="*/ 0 w 265"/>
              <a:gd name="T7" fmla="*/ 2147483647 h 60"/>
              <a:gd name="T8" fmla="*/ 0 w 265"/>
              <a:gd name="T9" fmla="*/ 865747037 h 60"/>
              <a:gd name="T10" fmla="*/ 270808136 w 265"/>
              <a:gd name="T11" fmla="*/ 0 h 60"/>
              <a:gd name="T12" fmla="*/ 2147483647 w 265"/>
              <a:gd name="T13" fmla="*/ 0 h 60"/>
              <a:gd name="T14" fmla="*/ 2147483647 w 265"/>
              <a:gd name="T15" fmla="*/ 865747037 h 60"/>
              <a:gd name="T16" fmla="*/ 2147483647 w 265"/>
              <a:gd name="T17" fmla="*/ 2147483647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5"/>
              <a:gd name="T28" fmla="*/ 0 h 60"/>
              <a:gd name="T29" fmla="*/ 265 w 265"/>
              <a:gd name="T30" fmla="*/ 60 h 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5" h="60">
                <a:moveTo>
                  <a:pt x="265" y="55"/>
                </a:moveTo>
                <a:cubicBezTo>
                  <a:pt x="265" y="58"/>
                  <a:pt x="260" y="60"/>
                  <a:pt x="253" y="60"/>
                </a:cubicBezTo>
                <a:cubicBezTo>
                  <a:pt x="12" y="60"/>
                  <a:pt x="12" y="60"/>
                  <a:pt x="12" y="60"/>
                </a:cubicBezTo>
                <a:cubicBezTo>
                  <a:pt x="5" y="60"/>
                  <a:pt x="0" y="58"/>
                  <a:pt x="0" y="55"/>
                </a:cubicBezTo>
                <a:cubicBezTo>
                  <a:pt x="0" y="6"/>
                  <a:pt x="0" y="6"/>
                  <a:pt x="0" y="6"/>
                </a:cubicBezTo>
                <a:cubicBezTo>
                  <a:pt x="0" y="3"/>
                  <a:pt x="5" y="0"/>
                  <a:pt x="12" y="0"/>
                </a:cubicBezTo>
                <a:cubicBezTo>
                  <a:pt x="253" y="0"/>
                  <a:pt x="253" y="0"/>
                  <a:pt x="253" y="0"/>
                </a:cubicBezTo>
                <a:cubicBezTo>
                  <a:pt x="260" y="0"/>
                  <a:pt x="265" y="3"/>
                  <a:pt x="265" y="6"/>
                </a:cubicBezTo>
                <a:lnTo>
                  <a:pt x="265" y="55"/>
                </a:lnTo>
                <a:close/>
              </a:path>
            </a:pathLst>
          </a:custGeom>
          <a:solidFill>
            <a:srgbClr val="D7E2E0"/>
          </a:solidFill>
          <a:ln w="9525">
            <a:noFill/>
            <a:round/>
            <a:headEnd/>
            <a:tailEnd/>
          </a:ln>
        </p:spPr>
        <p:txBody>
          <a:bodyPr/>
          <a:lstStyle/>
          <a:p>
            <a:endParaRPr lang="en-US"/>
          </a:p>
        </p:txBody>
      </p:sp>
      <p:sp>
        <p:nvSpPr>
          <p:cNvPr id="7" name="Rectangle 2"/>
          <p:cNvSpPr>
            <a:spLocks noRot="1" noChangeArrowheads="1"/>
          </p:cNvSpPr>
          <p:nvPr/>
        </p:nvSpPr>
        <p:spPr bwMode="auto">
          <a:xfrm>
            <a:off x="144463" y="0"/>
            <a:ext cx="8999537" cy="685800"/>
          </a:xfrm>
          <a:prstGeom prst="rect">
            <a:avLst/>
          </a:prstGeom>
          <a:noFill/>
          <a:ln w="9525">
            <a:noFill/>
            <a:miter lim="800000"/>
            <a:headEnd/>
            <a:tailEnd/>
          </a:ln>
        </p:spPr>
        <p:txBody>
          <a:bodyPr anchor="ctr"/>
          <a:lstStyle/>
          <a:p>
            <a:pPr eaLnBrk="0" hangingPunct="0">
              <a:lnSpc>
                <a:spcPct val="85000"/>
              </a:lnSpc>
              <a:defRPr/>
            </a:pPr>
            <a:r>
              <a:rPr lang="en-US" sz="3200" b="1">
                <a:solidFill>
                  <a:schemeClr val="bg1"/>
                </a:solidFill>
                <a:effectLst>
                  <a:outerShdw blurRad="38100" dist="38100" dir="2700000" algn="tl">
                    <a:srgbClr val="C0C0C0"/>
                  </a:outerShdw>
                </a:effectLst>
              </a:rPr>
              <a:t>Comparing LR Equilibrium with Perfect Competition</a:t>
            </a:r>
          </a:p>
        </p:txBody>
      </p:sp>
      <p:cxnSp>
        <p:nvCxnSpPr>
          <p:cNvPr id="8" name="Straight Connector 86"/>
          <p:cNvCxnSpPr>
            <a:cxnSpLocks noChangeShapeType="1"/>
          </p:cNvCxnSpPr>
          <p:nvPr/>
        </p:nvCxnSpPr>
        <p:spPr bwMode="auto">
          <a:xfrm>
            <a:off x="7600950" y="4689475"/>
            <a:ext cx="0" cy="749300"/>
          </a:xfrm>
          <a:prstGeom prst="line">
            <a:avLst/>
          </a:prstGeom>
          <a:noFill/>
          <a:ln w="15875">
            <a:solidFill>
              <a:srgbClr val="808080"/>
            </a:solidFill>
            <a:prstDash val="sysDot"/>
            <a:round/>
            <a:headEnd/>
            <a:tailEnd type="none" w="med" len="lg"/>
          </a:ln>
        </p:spPr>
      </p:cxnSp>
      <p:cxnSp>
        <p:nvCxnSpPr>
          <p:cNvPr id="9" name="Straight Connector 86"/>
          <p:cNvCxnSpPr>
            <a:cxnSpLocks noChangeShapeType="1"/>
          </p:cNvCxnSpPr>
          <p:nvPr/>
        </p:nvCxnSpPr>
        <p:spPr bwMode="auto">
          <a:xfrm>
            <a:off x="6543675" y="2457450"/>
            <a:ext cx="7938" cy="2976563"/>
          </a:xfrm>
          <a:prstGeom prst="line">
            <a:avLst/>
          </a:prstGeom>
          <a:noFill/>
          <a:ln w="9525">
            <a:solidFill>
              <a:srgbClr val="808080"/>
            </a:solidFill>
            <a:prstDash val="sysDot"/>
            <a:round/>
            <a:headEnd/>
            <a:tailEnd type="none" w="med" len="lg"/>
          </a:ln>
        </p:spPr>
      </p:cxnSp>
      <p:sp>
        <p:nvSpPr>
          <p:cNvPr id="61447" name="Line 78"/>
          <p:cNvSpPr>
            <a:spLocks noChangeShapeType="1"/>
          </p:cNvSpPr>
          <p:nvPr/>
        </p:nvSpPr>
        <p:spPr bwMode="auto">
          <a:xfrm>
            <a:off x="1347788" y="4592638"/>
            <a:ext cx="2381250" cy="0"/>
          </a:xfrm>
          <a:prstGeom prst="line">
            <a:avLst/>
          </a:prstGeom>
          <a:noFill/>
          <a:ln w="30163">
            <a:solidFill>
              <a:srgbClr val="4B8FCC"/>
            </a:solidFill>
            <a:miter lim="800000"/>
            <a:headEnd/>
            <a:tailEnd/>
          </a:ln>
        </p:spPr>
        <p:txBody>
          <a:bodyPr/>
          <a:lstStyle/>
          <a:p>
            <a:endParaRPr lang="en-US"/>
          </a:p>
        </p:txBody>
      </p:sp>
      <p:sp>
        <p:nvSpPr>
          <p:cNvPr id="61448" name="Rectangle 79"/>
          <p:cNvSpPr>
            <a:spLocks noChangeArrowheads="1"/>
          </p:cNvSpPr>
          <p:nvPr/>
        </p:nvSpPr>
        <p:spPr bwMode="auto">
          <a:xfrm>
            <a:off x="3651250" y="2243138"/>
            <a:ext cx="2762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61449" name="Rectangle 80"/>
          <p:cNvSpPr>
            <a:spLocks noChangeArrowheads="1"/>
          </p:cNvSpPr>
          <p:nvPr/>
        </p:nvSpPr>
        <p:spPr bwMode="auto">
          <a:xfrm>
            <a:off x="4324350" y="2266950"/>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61450" name="Rectangle 81"/>
          <p:cNvSpPr>
            <a:spLocks noChangeArrowheads="1"/>
          </p:cNvSpPr>
          <p:nvPr/>
        </p:nvSpPr>
        <p:spPr bwMode="auto">
          <a:xfrm>
            <a:off x="4421188" y="2266950"/>
            <a:ext cx="109537"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61451" name="Rectangle 82"/>
          <p:cNvSpPr>
            <a:spLocks noChangeArrowheads="1"/>
          </p:cNvSpPr>
          <p:nvPr/>
        </p:nvSpPr>
        <p:spPr bwMode="auto">
          <a:xfrm>
            <a:off x="4506913" y="2266950"/>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15" name="Rectangle 83"/>
          <p:cNvSpPr>
            <a:spLocks noChangeArrowheads="1"/>
          </p:cNvSpPr>
          <p:nvPr/>
        </p:nvSpPr>
        <p:spPr bwMode="auto">
          <a:xfrm>
            <a:off x="6251575" y="1065213"/>
            <a:ext cx="2449513" cy="488950"/>
          </a:xfrm>
          <a:prstGeom prst="rect">
            <a:avLst/>
          </a:prstGeom>
          <a:noFill/>
          <a:ln w="9525">
            <a:noFill/>
            <a:miter lim="800000"/>
            <a:headEnd/>
            <a:tailEnd/>
          </a:ln>
        </p:spPr>
        <p:txBody>
          <a:bodyPr lIns="0" tIns="0" rIns="0" bIns="0">
            <a:spAutoFit/>
          </a:bodyPr>
          <a:lstStyle/>
          <a:p>
            <a:pPr marL="1588" indent="-1588" algn="ctr"/>
            <a:r>
              <a:rPr lang="en-US" sz="1600" b="1">
                <a:solidFill>
                  <a:srgbClr val="000000"/>
                </a:solidFill>
              </a:rPr>
              <a:t>(b) Long-Run Equilibrium in Monopolistic Competition </a:t>
            </a:r>
            <a:endParaRPr lang="en-US" sz="1600" b="1"/>
          </a:p>
        </p:txBody>
      </p:sp>
      <p:sp>
        <p:nvSpPr>
          <p:cNvPr id="61453" name="Freeform 84"/>
          <p:cNvSpPr>
            <a:spLocks/>
          </p:cNvSpPr>
          <p:nvPr/>
        </p:nvSpPr>
        <p:spPr bwMode="auto">
          <a:xfrm>
            <a:off x="1347788" y="1835150"/>
            <a:ext cx="3248025" cy="3603625"/>
          </a:xfrm>
          <a:custGeom>
            <a:avLst/>
            <a:gdLst>
              <a:gd name="T0" fmla="*/ 2147483647 w 1694"/>
              <a:gd name="T1" fmla="*/ 2147483647 h 1548"/>
              <a:gd name="T2" fmla="*/ 0 w 1694"/>
              <a:gd name="T3" fmla="*/ 2147483647 h 1548"/>
              <a:gd name="T4" fmla="*/ 0 w 1694"/>
              <a:gd name="T5" fmla="*/ 0 h 1548"/>
              <a:gd name="T6" fmla="*/ 0 60000 65536"/>
              <a:gd name="T7" fmla="*/ 0 60000 65536"/>
              <a:gd name="T8" fmla="*/ 0 60000 65536"/>
              <a:gd name="T9" fmla="*/ 0 w 1694"/>
              <a:gd name="T10" fmla="*/ 0 h 1548"/>
              <a:gd name="T11" fmla="*/ 1694 w 1694"/>
              <a:gd name="T12" fmla="*/ 1548 h 1548"/>
            </a:gdLst>
            <a:ahLst/>
            <a:cxnLst>
              <a:cxn ang="T6">
                <a:pos x="T0" y="T1"/>
              </a:cxn>
              <a:cxn ang="T7">
                <a:pos x="T2" y="T3"/>
              </a:cxn>
              <a:cxn ang="T8">
                <a:pos x="T4" y="T5"/>
              </a:cxn>
            </a:cxnLst>
            <a:rect l="T9" t="T10" r="T11" b="T12"/>
            <a:pathLst>
              <a:path w="1694" h="1548">
                <a:moveTo>
                  <a:pt x="1694" y="1548"/>
                </a:moveTo>
                <a:lnTo>
                  <a:pt x="0" y="1548"/>
                </a:lnTo>
                <a:lnTo>
                  <a:pt x="0" y="0"/>
                </a:lnTo>
              </a:path>
            </a:pathLst>
          </a:custGeom>
          <a:noFill/>
          <a:ln w="6350" cap="flat">
            <a:solidFill>
              <a:srgbClr val="000000"/>
            </a:solidFill>
            <a:prstDash val="solid"/>
            <a:miter lim="800000"/>
            <a:headEnd/>
            <a:tailEnd/>
          </a:ln>
        </p:spPr>
        <p:txBody>
          <a:bodyPr/>
          <a:lstStyle/>
          <a:p>
            <a:endParaRPr lang="en-US"/>
          </a:p>
        </p:txBody>
      </p:sp>
      <p:sp>
        <p:nvSpPr>
          <p:cNvPr id="61454" name="Freeform 85"/>
          <p:cNvSpPr>
            <a:spLocks/>
          </p:cNvSpPr>
          <p:nvPr/>
        </p:nvSpPr>
        <p:spPr bwMode="auto">
          <a:xfrm>
            <a:off x="1547813" y="2508250"/>
            <a:ext cx="2178050" cy="2865438"/>
          </a:xfrm>
          <a:custGeom>
            <a:avLst/>
            <a:gdLst>
              <a:gd name="T0" fmla="*/ 0 w 481"/>
              <a:gd name="T1" fmla="*/ 2147483647 h 521"/>
              <a:gd name="T2" fmla="*/ 2147483647 w 481"/>
              <a:gd name="T3" fmla="*/ 0 h 521"/>
              <a:gd name="T4" fmla="*/ 0 60000 65536"/>
              <a:gd name="T5" fmla="*/ 0 60000 65536"/>
              <a:gd name="T6" fmla="*/ 0 w 481"/>
              <a:gd name="T7" fmla="*/ 0 h 521"/>
              <a:gd name="T8" fmla="*/ 481 w 481"/>
              <a:gd name="T9" fmla="*/ 521 h 521"/>
            </a:gdLst>
            <a:ahLst/>
            <a:cxnLst>
              <a:cxn ang="T4">
                <a:pos x="T0" y="T1"/>
              </a:cxn>
              <a:cxn ang="T5">
                <a:pos x="T2" y="T3"/>
              </a:cxn>
            </a:cxnLst>
            <a:rect l="T6" t="T7" r="T8" b="T9"/>
            <a:pathLst>
              <a:path w="481" h="521">
                <a:moveTo>
                  <a:pt x="0" y="499"/>
                </a:moveTo>
                <a:cubicBezTo>
                  <a:pt x="182" y="474"/>
                  <a:pt x="382" y="521"/>
                  <a:pt x="481" y="0"/>
                </a:cubicBezTo>
              </a:path>
            </a:pathLst>
          </a:custGeom>
          <a:noFill/>
          <a:ln w="30163" cap="flat">
            <a:solidFill>
              <a:srgbClr val="F3716D"/>
            </a:solidFill>
            <a:prstDash val="solid"/>
            <a:miter lim="800000"/>
            <a:headEnd/>
            <a:tailEnd/>
          </a:ln>
        </p:spPr>
        <p:txBody>
          <a:bodyPr/>
          <a:lstStyle/>
          <a:p>
            <a:endParaRPr lang="en-US"/>
          </a:p>
        </p:txBody>
      </p:sp>
      <p:sp>
        <p:nvSpPr>
          <p:cNvPr id="61455" name="Freeform 86"/>
          <p:cNvSpPr>
            <a:spLocks/>
          </p:cNvSpPr>
          <p:nvPr/>
        </p:nvSpPr>
        <p:spPr bwMode="auto">
          <a:xfrm>
            <a:off x="1570038" y="2524125"/>
            <a:ext cx="2867025" cy="2081213"/>
          </a:xfrm>
          <a:custGeom>
            <a:avLst/>
            <a:gdLst>
              <a:gd name="T0" fmla="*/ 0 w 633"/>
              <a:gd name="T1" fmla="*/ 2147483647 h 378"/>
              <a:gd name="T2" fmla="*/ 2147483647 w 633"/>
              <a:gd name="T3" fmla="*/ 2147483647 h 378"/>
              <a:gd name="T4" fmla="*/ 2147483647 w 633"/>
              <a:gd name="T5" fmla="*/ 0 h 378"/>
              <a:gd name="T6" fmla="*/ 0 60000 65536"/>
              <a:gd name="T7" fmla="*/ 0 60000 65536"/>
              <a:gd name="T8" fmla="*/ 0 60000 65536"/>
              <a:gd name="T9" fmla="*/ 0 w 633"/>
              <a:gd name="T10" fmla="*/ 0 h 378"/>
              <a:gd name="T11" fmla="*/ 633 w 633"/>
              <a:gd name="T12" fmla="*/ 378 h 378"/>
            </a:gdLst>
            <a:ahLst/>
            <a:cxnLst>
              <a:cxn ang="T6">
                <a:pos x="T0" y="T1"/>
              </a:cxn>
              <a:cxn ang="T7">
                <a:pos x="T2" y="T3"/>
              </a:cxn>
              <a:cxn ang="T8">
                <a:pos x="T4" y="T5"/>
              </a:cxn>
            </a:cxnLst>
            <a:rect l="T9" t="T10" r="T11" b="T12"/>
            <a:pathLst>
              <a:path w="633" h="378">
                <a:moveTo>
                  <a:pt x="0" y="95"/>
                </a:moveTo>
                <a:cubicBezTo>
                  <a:pt x="57" y="276"/>
                  <a:pt x="224" y="378"/>
                  <a:pt x="339" y="378"/>
                </a:cubicBezTo>
                <a:cubicBezTo>
                  <a:pt x="470" y="378"/>
                  <a:pt x="588" y="225"/>
                  <a:pt x="633" y="0"/>
                </a:cubicBezTo>
              </a:path>
            </a:pathLst>
          </a:custGeom>
          <a:noFill/>
          <a:ln w="30163" cap="flat">
            <a:solidFill>
              <a:srgbClr val="8C64AB"/>
            </a:solidFill>
            <a:prstDash val="solid"/>
            <a:miter lim="800000"/>
            <a:headEnd/>
            <a:tailEnd/>
          </a:ln>
        </p:spPr>
        <p:txBody>
          <a:bodyPr/>
          <a:lstStyle/>
          <a:p>
            <a:endParaRPr lang="en-US"/>
          </a:p>
        </p:txBody>
      </p:sp>
      <p:sp>
        <p:nvSpPr>
          <p:cNvPr id="61456" name="Oval 87"/>
          <p:cNvSpPr>
            <a:spLocks noChangeArrowheads="1"/>
          </p:cNvSpPr>
          <p:nvPr/>
        </p:nvSpPr>
        <p:spPr bwMode="auto">
          <a:xfrm>
            <a:off x="3027363" y="4535488"/>
            <a:ext cx="92075" cy="111125"/>
          </a:xfrm>
          <a:prstGeom prst="ellipse">
            <a:avLst/>
          </a:prstGeom>
          <a:solidFill>
            <a:srgbClr val="000000"/>
          </a:solidFill>
          <a:ln w="9525">
            <a:noFill/>
            <a:round/>
            <a:headEnd/>
            <a:tailEnd/>
          </a:ln>
        </p:spPr>
        <p:txBody>
          <a:bodyPr/>
          <a:lstStyle/>
          <a:p>
            <a:endParaRPr lang="en-US"/>
          </a:p>
        </p:txBody>
      </p:sp>
      <p:sp>
        <p:nvSpPr>
          <p:cNvPr id="20" name="Rectangle 88"/>
          <p:cNvSpPr>
            <a:spLocks noChangeArrowheads="1"/>
          </p:cNvSpPr>
          <p:nvPr/>
        </p:nvSpPr>
        <p:spPr bwMode="auto">
          <a:xfrm>
            <a:off x="8291513" y="2270125"/>
            <a:ext cx="2762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21" name="Rectangle 89"/>
          <p:cNvSpPr>
            <a:spLocks noChangeArrowheads="1"/>
          </p:cNvSpPr>
          <p:nvPr/>
        </p:nvSpPr>
        <p:spPr bwMode="auto">
          <a:xfrm>
            <a:off x="8694738" y="2271713"/>
            <a:ext cx="120650"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2" name="Rectangle 90"/>
          <p:cNvSpPr>
            <a:spLocks noChangeArrowheads="1"/>
          </p:cNvSpPr>
          <p:nvPr/>
        </p:nvSpPr>
        <p:spPr bwMode="auto">
          <a:xfrm>
            <a:off x="8793163" y="2271713"/>
            <a:ext cx="109537"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3" name="Rectangle 91"/>
          <p:cNvSpPr>
            <a:spLocks noChangeArrowheads="1"/>
          </p:cNvSpPr>
          <p:nvPr/>
        </p:nvSpPr>
        <p:spPr bwMode="auto">
          <a:xfrm>
            <a:off x="8877300" y="2271713"/>
            <a:ext cx="130175"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5" name="Freeform 93"/>
          <p:cNvSpPr>
            <a:spLocks/>
          </p:cNvSpPr>
          <p:nvPr/>
        </p:nvSpPr>
        <p:spPr bwMode="auto">
          <a:xfrm>
            <a:off x="6208713" y="2546350"/>
            <a:ext cx="2184400" cy="2660650"/>
          </a:xfrm>
          <a:custGeom>
            <a:avLst/>
            <a:gdLst>
              <a:gd name="T0" fmla="*/ 0 w 483"/>
              <a:gd name="T1" fmla="*/ 2147483647 h 484"/>
              <a:gd name="T2" fmla="*/ 2147483647 w 483"/>
              <a:gd name="T3" fmla="*/ 0 h 484"/>
              <a:gd name="T4" fmla="*/ 0 60000 65536"/>
              <a:gd name="T5" fmla="*/ 0 60000 65536"/>
              <a:gd name="T6" fmla="*/ 0 w 483"/>
              <a:gd name="T7" fmla="*/ 0 h 484"/>
              <a:gd name="T8" fmla="*/ 483 w 483"/>
              <a:gd name="T9" fmla="*/ 484 h 484"/>
            </a:gdLst>
            <a:ahLst/>
            <a:cxnLst>
              <a:cxn ang="T4">
                <a:pos x="T0" y="T1"/>
              </a:cxn>
              <a:cxn ang="T5">
                <a:pos x="T2" y="T3"/>
              </a:cxn>
            </a:cxnLst>
            <a:rect l="T6" t="T7" r="T8" b="T9"/>
            <a:pathLst>
              <a:path w="483" h="484">
                <a:moveTo>
                  <a:pt x="0" y="464"/>
                </a:moveTo>
                <a:cubicBezTo>
                  <a:pt x="183" y="440"/>
                  <a:pt x="384" y="484"/>
                  <a:pt x="483" y="0"/>
                </a:cubicBezTo>
              </a:path>
            </a:pathLst>
          </a:custGeom>
          <a:noFill/>
          <a:ln w="30163" cap="flat">
            <a:solidFill>
              <a:srgbClr val="F3716D"/>
            </a:solidFill>
            <a:prstDash val="solid"/>
            <a:miter lim="800000"/>
            <a:headEnd/>
            <a:tailEnd/>
          </a:ln>
        </p:spPr>
        <p:txBody>
          <a:bodyPr/>
          <a:lstStyle/>
          <a:p>
            <a:endParaRPr lang="en-US"/>
          </a:p>
        </p:txBody>
      </p:sp>
      <p:sp>
        <p:nvSpPr>
          <p:cNvPr id="26" name="Line 94"/>
          <p:cNvSpPr>
            <a:spLocks noChangeShapeType="1"/>
          </p:cNvSpPr>
          <p:nvPr/>
        </p:nvSpPr>
        <p:spPr bwMode="auto">
          <a:xfrm>
            <a:off x="5965825" y="3668713"/>
            <a:ext cx="1712913" cy="1546225"/>
          </a:xfrm>
          <a:prstGeom prst="line">
            <a:avLst/>
          </a:prstGeom>
          <a:noFill/>
          <a:ln w="30163">
            <a:solidFill>
              <a:srgbClr val="3C5DAA"/>
            </a:solidFill>
            <a:miter lim="800000"/>
            <a:headEnd/>
            <a:tailEnd/>
          </a:ln>
        </p:spPr>
        <p:txBody>
          <a:bodyPr/>
          <a:lstStyle/>
          <a:p>
            <a:endParaRPr lang="en-US"/>
          </a:p>
        </p:txBody>
      </p:sp>
      <p:sp>
        <p:nvSpPr>
          <p:cNvPr id="27" name="Line 95"/>
          <p:cNvSpPr>
            <a:spLocks noChangeShapeType="1"/>
          </p:cNvSpPr>
          <p:nvPr/>
        </p:nvSpPr>
        <p:spPr bwMode="auto">
          <a:xfrm>
            <a:off x="5846763" y="3668713"/>
            <a:ext cx="827087" cy="1624012"/>
          </a:xfrm>
          <a:prstGeom prst="line">
            <a:avLst/>
          </a:prstGeom>
          <a:noFill/>
          <a:ln w="30163">
            <a:solidFill>
              <a:srgbClr val="4B8FCC"/>
            </a:solidFill>
            <a:miter lim="800000"/>
            <a:headEnd/>
            <a:tailEnd/>
          </a:ln>
        </p:spPr>
        <p:txBody>
          <a:bodyPr/>
          <a:lstStyle/>
          <a:p>
            <a:endParaRPr lang="en-US"/>
          </a:p>
        </p:txBody>
      </p:sp>
      <p:sp>
        <p:nvSpPr>
          <p:cNvPr id="28" name="Oval 96"/>
          <p:cNvSpPr>
            <a:spLocks noChangeArrowheads="1"/>
          </p:cNvSpPr>
          <p:nvPr/>
        </p:nvSpPr>
        <p:spPr bwMode="auto">
          <a:xfrm>
            <a:off x="6505575" y="5000625"/>
            <a:ext cx="92075" cy="109538"/>
          </a:xfrm>
          <a:prstGeom prst="ellipse">
            <a:avLst/>
          </a:prstGeom>
          <a:solidFill>
            <a:srgbClr val="000000"/>
          </a:solidFill>
          <a:ln w="9525">
            <a:noFill/>
            <a:round/>
            <a:headEnd/>
            <a:tailEnd/>
          </a:ln>
        </p:spPr>
        <p:txBody>
          <a:bodyPr/>
          <a:lstStyle/>
          <a:p>
            <a:endParaRPr lang="en-US"/>
          </a:p>
        </p:txBody>
      </p:sp>
      <p:sp>
        <p:nvSpPr>
          <p:cNvPr id="29" name="Freeform 97"/>
          <p:cNvSpPr>
            <a:spLocks/>
          </p:cNvSpPr>
          <p:nvPr/>
        </p:nvSpPr>
        <p:spPr bwMode="auto">
          <a:xfrm>
            <a:off x="5962650" y="2533650"/>
            <a:ext cx="2838450" cy="2112963"/>
          </a:xfrm>
          <a:custGeom>
            <a:avLst/>
            <a:gdLst>
              <a:gd name="T0" fmla="*/ 0 w 627"/>
              <a:gd name="T1" fmla="*/ 2147483647 h 384"/>
              <a:gd name="T2" fmla="*/ 2147483647 w 627"/>
              <a:gd name="T3" fmla="*/ 2147483647 h 384"/>
              <a:gd name="T4" fmla="*/ 2147483647 w 627"/>
              <a:gd name="T5" fmla="*/ 0 h 384"/>
              <a:gd name="T6" fmla="*/ 0 60000 65536"/>
              <a:gd name="T7" fmla="*/ 0 60000 65536"/>
              <a:gd name="T8" fmla="*/ 0 60000 65536"/>
              <a:gd name="T9" fmla="*/ 0 w 627"/>
              <a:gd name="T10" fmla="*/ 0 h 384"/>
              <a:gd name="T11" fmla="*/ 627 w 627"/>
              <a:gd name="T12" fmla="*/ 384 h 384"/>
            </a:gdLst>
            <a:ahLst/>
            <a:cxnLst>
              <a:cxn ang="T6">
                <a:pos x="T0" y="T1"/>
              </a:cxn>
              <a:cxn ang="T7">
                <a:pos x="T2" y="T3"/>
              </a:cxn>
              <a:cxn ang="T8">
                <a:pos x="T4" y="T5"/>
              </a:cxn>
            </a:cxnLst>
            <a:rect l="T9" t="T10" r="T11" b="T12"/>
            <a:pathLst>
              <a:path w="627" h="384">
                <a:moveTo>
                  <a:pt x="0" y="97"/>
                </a:moveTo>
                <a:cubicBezTo>
                  <a:pt x="56" y="280"/>
                  <a:pt x="222" y="384"/>
                  <a:pt x="335" y="384"/>
                </a:cubicBezTo>
                <a:cubicBezTo>
                  <a:pt x="466" y="384"/>
                  <a:pt x="582" y="228"/>
                  <a:pt x="627" y="0"/>
                </a:cubicBezTo>
              </a:path>
            </a:pathLst>
          </a:custGeom>
          <a:noFill/>
          <a:ln w="30163" cap="flat">
            <a:solidFill>
              <a:srgbClr val="8C64AB"/>
            </a:solidFill>
            <a:prstDash val="solid"/>
            <a:miter lim="800000"/>
            <a:headEnd/>
            <a:tailEnd/>
          </a:ln>
        </p:spPr>
        <p:txBody>
          <a:bodyPr/>
          <a:lstStyle/>
          <a:p>
            <a:endParaRPr lang="en-US"/>
          </a:p>
        </p:txBody>
      </p:sp>
      <p:sp>
        <p:nvSpPr>
          <p:cNvPr id="30" name="Oval 98"/>
          <p:cNvSpPr>
            <a:spLocks noChangeArrowheads="1"/>
          </p:cNvSpPr>
          <p:nvPr/>
        </p:nvSpPr>
        <p:spPr bwMode="auto">
          <a:xfrm>
            <a:off x="6505575" y="4137025"/>
            <a:ext cx="92075" cy="109538"/>
          </a:xfrm>
          <a:prstGeom prst="ellipse">
            <a:avLst/>
          </a:prstGeom>
          <a:solidFill>
            <a:srgbClr val="000000"/>
          </a:solidFill>
          <a:ln w="9525">
            <a:noFill/>
            <a:round/>
            <a:headEnd/>
            <a:tailEnd/>
          </a:ln>
        </p:spPr>
        <p:txBody>
          <a:bodyPr/>
          <a:lstStyle/>
          <a:p>
            <a:endParaRPr lang="en-US"/>
          </a:p>
        </p:txBody>
      </p:sp>
      <p:sp>
        <p:nvSpPr>
          <p:cNvPr id="31" name="Rectangle 99"/>
          <p:cNvSpPr>
            <a:spLocks noChangeArrowheads="1"/>
          </p:cNvSpPr>
          <p:nvPr/>
        </p:nvSpPr>
        <p:spPr bwMode="auto">
          <a:xfrm>
            <a:off x="4745038" y="4010025"/>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32" name="Rectangle 100"/>
          <p:cNvSpPr>
            <a:spLocks noChangeArrowheads="1"/>
          </p:cNvSpPr>
          <p:nvPr/>
        </p:nvSpPr>
        <p:spPr bwMode="auto">
          <a:xfrm>
            <a:off x="4837113" y="4122738"/>
            <a:ext cx="236537" cy="182562"/>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MC</a:t>
            </a:r>
            <a:endParaRPr lang="en-US" sz="1200" i="1">
              <a:latin typeface="Tahoma" pitchFamily="34" charset="0"/>
            </a:endParaRPr>
          </a:p>
        </p:txBody>
      </p:sp>
      <p:sp>
        <p:nvSpPr>
          <p:cNvPr id="33" name="Rectangle 101"/>
          <p:cNvSpPr>
            <a:spLocks noChangeArrowheads="1"/>
          </p:cNvSpPr>
          <p:nvPr/>
        </p:nvSpPr>
        <p:spPr bwMode="auto">
          <a:xfrm>
            <a:off x="5010150" y="4010025"/>
            <a:ext cx="15240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 =</a:t>
            </a:r>
            <a:endParaRPr lang="en-US" sz="1400">
              <a:latin typeface="Tahoma" pitchFamily="34" charset="0"/>
            </a:endParaRPr>
          </a:p>
        </p:txBody>
      </p:sp>
      <p:sp>
        <p:nvSpPr>
          <p:cNvPr id="34" name="Rectangle 102"/>
          <p:cNvSpPr>
            <a:spLocks noChangeArrowheads="1"/>
          </p:cNvSpPr>
          <p:nvPr/>
        </p:nvSpPr>
        <p:spPr bwMode="auto">
          <a:xfrm>
            <a:off x="5186363" y="4010025"/>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35" name="Rectangle 103"/>
          <p:cNvSpPr>
            <a:spLocks noChangeArrowheads="1"/>
          </p:cNvSpPr>
          <p:nvPr/>
        </p:nvSpPr>
        <p:spPr bwMode="auto">
          <a:xfrm>
            <a:off x="5280025" y="4010025"/>
            <a:ext cx="109538"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36" name="Rectangle 104"/>
          <p:cNvSpPr>
            <a:spLocks noChangeArrowheads="1"/>
          </p:cNvSpPr>
          <p:nvPr/>
        </p:nvSpPr>
        <p:spPr bwMode="auto">
          <a:xfrm>
            <a:off x="5362575" y="4010025"/>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37" name="Rectangle 105"/>
          <p:cNvSpPr>
            <a:spLocks noChangeArrowheads="1"/>
          </p:cNvSpPr>
          <p:nvPr/>
        </p:nvSpPr>
        <p:spPr bwMode="auto">
          <a:xfrm>
            <a:off x="5467350" y="4122738"/>
            <a:ext cx="236538" cy="182562"/>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MC</a:t>
            </a:r>
            <a:endParaRPr lang="en-US" sz="1200" i="1">
              <a:latin typeface="Tahoma" pitchFamily="34" charset="0"/>
            </a:endParaRPr>
          </a:p>
        </p:txBody>
      </p:sp>
      <p:sp>
        <p:nvSpPr>
          <p:cNvPr id="38" name="Rectangle 106"/>
          <p:cNvSpPr>
            <a:spLocks noChangeArrowheads="1"/>
          </p:cNvSpPr>
          <p:nvPr/>
        </p:nvSpPr>
        <p:spPr bwMode="auto">
          <a:xfrm>
            <a:off x="5213350" y="4911725"/>
            <a:ext cx="2762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39" name="Rectangle 107"/>
          <p:cNvSpPr>
            <a:spLocks noChangeArrowheads="1"/>
          </p:cNvSpPr>
          <p:nvPr/>
        </p:nvSpPr>
        <p:spPr bwMode="auto">
          <a:xfrm>
            <a:off x="5464175" y="5059363"/>
            <a:ext cx="236538" cy="182562"/>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MC</a:t>
            </a:r>
            <a:endParaRPr lang="en-US" sz="1200" i="1">
              <a:latin typeface="Tahoma" pitchFamily="34" charset="0"/>
            </a:endParaRPr>
          </a:p>
        </p:txBody>
      </p:sp>
      <p:sp>
        <p:nvSpPr>
          <p:cNvPr id="61477" name="Rectangle 108"/>
          <p:cNvSpPr>
            <a:spLocks noChangeArrowheads="1"/>
          </p:cNvSpPr>
          <p:nvPr/>
        </p:nvSpPr>
        <p:spPr bwMode="auto">
          <a:xfrm>
            <a:off x="2970213" y="5454650"/>
            <a:ext cx="13970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61478" name="Rectangle 109"/>
          <p:cNvSpPr>
            <a:spLocks noChangeArrowheads="1"/>
          </p:cNvSpPr>
          <p:nvPr/>
        </p:nvSpPr>
        <p:spPr bwMode="auto">
          <a:xfrm>
            <a:off x="3094038" y="5564188"/>
            <a:ext cx="211137" cy="182562"/>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PC</a:t>
            </a:r>
            <a:endParaRPr lang="en-US" sz="1200" i="1">
              <a:latin typeface="Tahoma" pitchFamily="34" charset="0"/>
            </a:endParaRPr>
          </a:p>
        </p:txBody>
      </p:sp>
      <p:sp>
        <p:nvSpPr>
          <p:cNvPr id="42" name="Rectangle 110"/>
          <p:cNvSpPr>
            <a:spLocks noChangeArrowheads="1"/>
          </p:cNvSpPr>
          <p:nvPr/>
        </p:nvSpPr>
        <p:spPr bwMode="auto">
          <a:xfrm>
            <a:off x="6457950" y="5454650"/>
            <a:ext cx="13970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43" name="Rectangle 111"/>
          <p:cNvSpPr>
            <a:spLocks noChangeArrowheads="1"/>
          </p:cNvSpPr>
          <p:nvPr/>
        </p:nvSpPr>
        <p:spPr bwMode="auto">
          <a:xfrm>
            <a:off x="6584950" y="5564188"/>
            <a:ext cx="236538" cy="182562"/>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MC</a:t>
            </a:r>
            <a:endParaRPr lang="en-US" sz="1200" i="1">
              <a:latin typeface="Tahoma" pitchFamily="34" charset="0"/>
            </a:endParaRPr>
          </a:p>
        </p:txBody>
      </p:sp>
      <p:sp>
        <p:nvSpPr>
          <p:cNvPr id="44" name="Rectangle 112"/>
          <p:cNvSpPr>
            <a:spLocks noChangeArrowheads="1"/>
          </p:cNvSpPr>
          <p:nvPr/>
        </p:nvSpPr>
        <p:spPr bwMode="auto">
          <a:xfrm>
            <a:off x="7704138" y="5099050"/>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45" name="Rectangle 113"/>
          <p:cNvSpPr>
            <a:spLocks noChangeArrowheads="1"/>
          </p:cNvSpPr>
          <p:nvPr/>
        </p:nvSpPr>
        <p:spPr bwMode="auto">
          <a:xfrm>
            <a:off x="7824788" y="5210175"/>
            <a:ext cx="236537" cy="182563"/>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MC</a:t>
            </a:r>
            <a:endParaRPr lang="en-US" sz="1200" i="1">
              <a:latin typeface="Tahoma" pitchFamily="34" charset="0"/>
            </a:endParaRPr>
          </a:p>
        </p:txBody>
      </p:sp>
      <p:sp>
        <p:nvSpPr>
          <p:cNvPr id="46" name="Rectangle 114"/>
          <p:cNvSpPr>
            <a:spLocks noChangeArrowheads="1"/>
          </p:cNvSpPr>
          <p:nvPr/>
        </p:nvSpPr>
        <p:spPr bwMode="auto">
          <a:xfrm>
            <a:off x="6684963" y="5153025"/>
            <a:ext cx="2762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47" name="Rectangle 115"/>
          <p:cNvSpPr>
            <a:spLocks noChangeArrowheads="1"/>
          </p:cNvSpPr>
          <p:nvPr/>
        </p:nvSpPr>
        <p:spPr bwMode="auto">
          <a:xfrm>
            <a:off x="6983413" y="5265738"/>
            <a:ext cx="236537" cy="182562"/>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MC</a:t>
            </a:r>
            <a:endParaRPr lang="en-US" sz="1200" i="1">
              <a:latin typeface="Tahoma" pitchFamily="34" charset="0"/>
            </a:endParaRPr>
          </a:p>
        </p:txBody>
      </p:sp>
      <p:sp>
        <p:nvSpPr>
          <p:cNvPr id="61485" name="Rectangle 116"/>
          <p:cNvSpPr>
            <a:spLocks noChangeArrowheads="1"/>
          </p:cNvSpPr>
          <p:nvPr/>
        </p:nvSpPr>
        <p:spPr bwMode="auto">
          <a:xfrm>
            <a:off x="274638" y="4449763"/>
            <a:ext cx="119062"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61486" name="Rectangle 117"/>
          <p:cNvSpPr>
            <a:spLocks noChangeArrowheads="1"/>
          </p:cNvSpPr>
          <p:nvPr/>
        </p:nvSpPr>
        <p:spPr bwMode="auto">
          <a:xfrm>
            <a:off x="347663" y="4522788"/>
            <a:ext cx="211137" cy="182562"/>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PC</a:t>
            </a:r>
            <a:endParaRPr lang="en-US" sz="1200" i="1">
              <a:latin typeface="Tahoma" pitchFamily="34" charset="0"/>
            </a:endParaRPr>
          </a:p>
        </p:txBody>
      </p:sp>
      <p:sp>
        <p:nvSpPr>
          <p:cNvPr id="61487" name="Rectangle 118"/>
          <p:cNvSpPr>
            <a:spLocks noChangeArrowheads="1"/>
          </p:cNvSpPr>
          <p:nvPr/>
        </p:nvSpPr>
        <p:spPr bwMode="auto">
          <a:xfrm>
            <a:off x="638175" y="4457700"/>
            <a:ext cx="4286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 MC</a:t>
            </a:r>
            <a:endParaRPr lang="en-US" sz="1400" i="1">
              <a:latin typeface="Tahoma" pitchFamily="34" charset="0"/>
            </a:endParaRPr>
          </a:p>
        </p:txBody>
      </p:sp>
      <p:sp>
        <p:nvSpPr>
          <p:cNvPr id="61488" name="Rectangle 119"/>
          <p:cNvSpPr>
            <a:spLocks noChangeArrowheads="1"/>
          </p:cNvSpPr>
          <p:nvPr/>
        </p:nvSpPr>
        <p:spPr bwMode="auto">
          <a:xfrm>
            <a:off x="1035050" y="4591050"/>
            <a:ext cx="211138" cy="182563"/>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PC</a:t>
            </a:r>
            <a:endParaRPr lang="en-US" sz="1200" i="1">
              <a:latin typeface="Tahoma" pitchFamily="34" charset="0"/>
            </a:endParaRPr>
          </a:p>
        </p:txBody>
      </p:sp>
      <p:sp>
        <p:nvSpPr>
          <p:cNvPr id="61489" name="Rectangle 120"/>
          <p:cNvSpPr>
            <a:spLocks noChangeArrowheads="1"/>
          </p:cNvSpPr>
          <p:nvPr/>
        </p:nvSpPr>
        <p:spPr bwMode="auto">
          <a:xfrm>
            <a:off x="431800" y="4724400"/>
            <a:ext cx="15240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 =</a:t>
            </a:r>
            <a:endParaRPr lang="en-US" sz="1400">
              <a:latin typeface="Tahoma" pitchFamily="34" charset="0"/>
            </a:endParaRPr>
          </a:p>
        </p:txBody>
      </p:sp>
      <p:sp>
        <p:nvSpPr>
          <p:cNvPr id="61490" name="Rectangle 121"/>
          <p:cNvSpPr>
            <a:spLocks noChangeArrowheads="1"/>
          </p:cNvSpPr>
          <p:nvPr/>
        </p:nvSpPr>
        <p:spPr bwMode="auto">
          <a:xfrm>
            <a:off x="635000" y="4721225"/>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61491" name="Rectangle 122"/>
          <p:cNvSpPr>
            <a:spLocks noChangeArrowheads="1"/>
          </p:cNvSpPr>
          <p:nvPr/>
        </p:nvSpPr>
        <p:spPr bwMode="auto">
          <a:xfrm>
            <a:off x="733425" y="4721225"/>
            <a:ext cx="109538"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61492" name="Rectangle 123"/>
          <p:cNvSpPr>
            <a:spLocks noChangeArrowheads="1"/>
          </p:cNvSpPr>
          <p:nvPr/>
        </p:nvSpPr>
        <p:spPr bwMode="auto">
          <a:xfrm>
            <a:off x="815975" y="4721225"/>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61493" name="Rectangle 124"/>
          <p:cNvSpPr>
            <a:spLocks noChangeArrowheads="1"/>
          </p:cNvSpPr>
          <p:nvPr/>
        </p:nvSpPr>
        <p:spPr bwMode="auto">
          <a:xfrm>
            <a:off x="922338" y="4829175"/>
            <a:ext cx="211137" cy="182563"/>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PC</a:t>
            </a:r>
            <a:endParaRPr lang="en-US" sz="1200" i="1">
              <a:latin typeface="Tahoma" pitchFamily="34" charset="0"/>
            </a:endParaRPr>
          </a:p>
        </p:txBody>
      </p:sp>
      <p:sp>
        <p:nvSpPr>
          <p:cNvPr id="61494" name="Rectangle 125"/>
          <p:cNvSpPr>
            <a:spLocks noChangeArrowheads="1"/>
          </p:cNvSpPr>
          <p:nvPr/>
        </p:nvSpPr>
        <p:spPr bwMode="auto">
          <a:xfrm>
            <a:off x="3673475" y="4460875"/>
            <a:ext cx="179388"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 D</a:t>
            </a:r>
            <a:endParaRPr lang="en-US" sz="1400" i="1">
              <a:latin typeface="Tahoma" pitchFamily="34" charset="0"/>
            </a:endParaRPr>
          </a:p>
        </p:txBody>
      </p:sp>
      <p:sp>
        <p:nvSpPr>
          <p:cNvPr id="61495" name="Rectangle 126"/>
          <p:cNvSpPr>
            <a:spLocks noChangeArrowheads="1"/>
          </p:cNvSpPr>
          <p:nvPr/>
        </p:nvSpPr>
        <p:spPr bwMode="auto">
          <a:xfrm>
            <a:off x="3817938" y="4460875"/>
            <a:ext cx="153987" cy="21431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 =</a:t>
            </a:r>
            <a:endParaRPr lang="en-US" sz="1400">
              <a:latin typeface="Tahoma" pitchFamily="34" charset="0"/>
            </a:endParaRPr>
          </a:p>
        </p:txBody>
      </p:sp>
      <p:sp>
        <p:nvSpPr>
          <p:cNvPr id="61496" name="Rectangle 127"/>
          <p:cNvSpPr>
            <a:spLocks noChangeArrowheads="1"/>
          </p:cNvSpPr>
          <p:nvPr/>
        </p:nvSpPr>
        <p:spPr bwMode="auto">
          <a:xfrm>
            <a:off x="3952875" y="4460875"/>
            <a:ext cx="2762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61497" name="Rectangle 128"/>
          <p:cNvSpPr>
            <a:spLocks noChangeArrowheads="1"/>
          </p:cNvSpPr>
          <p:nvPr/>
        </p:nvSpPr>
        <p:spPr bwMode="auto">
          <a:xfrm>
            <a:off x="4208463" y="4460875"/>
            <a:ext cx="153987" cy="21431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 =</a:t>
            </a:r>
            <a:endParaRPr lang="en-US" sz="1400">
              <a:latin typeface="Tahoma" pitchFamily="34" charset="0"/>
            </a:endParaRPr>
          </a:p>
        </p:txBody>
      </p:sp>
      <p:sp>
        <p:nvSpPr>
          <p:cNvPr id="61498" name="Rectangle 129"/>
          <p:cNvSpPr>
            <a:spLocks noChangeArrowheads="1"/>
          </p:cNvSpPr>
          <p:nvPr/>
        </p:nvSpPr>
        <p:spPr bwMode="auto">
          <a:xfrm>
            <a:off x="4364038" y="4460875"/>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61499" name="Rectangle 130"/>
          <p:cNvSpPr>
            <a:spLocks noChangeArrowheads="1"/>
          </p:cNvSpPr>
          <p:nvPr/>
        </p:nvSpPr>
        <p:spPr bwMode="auto">
          <a:xfrm>
            <a:off x="4421188" y="4568825"/>
            <a:ext cx="211137" cy="182563"/>
          </a:xfrm>
          <a:prstGeom prst="rect">
            <a:avLst/>
          </a:prstGeom>
          <a:noFill/>
          <a:ln w="9525">
            <a:noFill/>
            <a:miter lim="800000"/>
            <a:headEnd/>
            <a:tailEnd/>
          </a:ln>
        </p:spPr>
        <p:txBody>
          <a:bodyPr wrap="none" lIns="0" tIns="0" rIns="0" bIns="0">
            <a:spAutoFit/>
          </a:bodyPr>
          <a:lstStyle/>
          <a:p>
            <a:pPr marL="1588" indent="-1588"/>
            <a:r>
              <a:rPr lang="en-US" sz="1200" i="1">
                <a:solidFill>
                  <a:srgbClr val="000000"/>
                </a:solidFill>
                <a:latin typeface="Myriad Pro"/>
              </a:rPr>
              <a:t>PC</a:t>
            </a:r>
            <a:endParaRPr lang="en-US" sz="1200" i="1">
              <a:latin typeface="Tahoma" pitchFamily="34" charset="0"/>
            </a:endParaRPr>
          </a:p>
        </p:txBody>
      </p:sp>
      <p:sp>
        <p:nvSpPr>
          <p:cNvPr id="63" name="Line 131"/>
          <p:cNvSpPr>
            <a:spLocks noChangeShapeType="1"/>
          </p:cNvSpPr>
          <p:nvPr/>
        </p:nvSpPr>
        <p:spPr bwMode="auto">
          <a:xfrm flipV="1">
            <a:off x="7599363" y="5538788"/>
            <a:ext cx="0" cy="555625"/>
          </a:xfrm>
          <a:prstGeom prst="line">
            <a:avLst/>
          </a:prstGeom>
          <a:noFill/>
          <a:ln w="6350">
            <a:solidFill>
              <a:srgbClr val="000000"/>
            </a:solidFill>
            <a:miter lim="800000"/>
            <a:headEnd/>
            <a:tailEnd/>
          </a:ln>
        </p:spPr>
        <p:txBody>
          <a:bodyPr/>
          <a:lstStyle/>
          <a:p>
            <a:endParaRPr lang="en-US"/>
          </a:p>
        </p:txBody>
      </p:sp>
      <p:sp>
        <p:nvSpPr>
          <p:cNvPr id="64" name="Freeform 132"/>
          <p:cNvSpPr>
            <a:spLocks/>
          </p:cNvSpPr>
          <p:nvPr/>
        </p:nvSpPr>
        <p:spPr bwMode="auto">
          <a:xfrm>
            <a:off x="6611938" y="5840413"/>
            <a:ext cx="2003425" cy="360362"/>
          </a:xfrm>
          <a:custGeom>
            <a:avLst/>
            <a:gdLst>
              <a:gd name="T0" fmla="*/ 2147483647 w 346"/>
              <a:gd name="T1" fmla="*/ 1864970854 h 63"/>
              <a:gd name="T2" fmla="*/ 2147483647 w 346"/>
              <a:gd name="T3" fmla="*/ 2061282296 h 63"/>
              <a:gd name="T4" fmla="*/ 536431511 w 346"/>
              <a:gd name="T5" fmla="*/ 2061282296 h 63"/>
              <a:gd name="T6" fmla="*/ 0 w 346"/>
              <a:gd name="T7" fmla="*/ 1864970854 h 63"/>
              <a:gd name="T8" fmla="*/ 0 w 346"/>
              <a:gd name="T9" fmla="*/ 196311531 h 63"/>
              <a:gd name="T10" fmla="*/ 536431511 w 346"/>
              <a:gd name="T11" fmla="*/ 0 h 63"/>
              <a:gd name="T12" fmla="*/ 2147483647 w 346"/>
              <a:gd name="T13" fmla="*/ 0 h 63"/>
              <a:gd name="T14" fmla="*/ 2147483647 w 346"/>
              <a:gd name="T15" fmla="*/ 196311531 h 63"/>
              <a:gd name="T16" fmla="*/ 2147483647 w 346"/>
              <a:gd name="T17" fmla="*/ 1864970854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6"/>
              <a:gd name="T28" fmla="*/ 0 h 63"/>
              <a:gd name="T29" fmla="*/ 346 w 346"/>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6" h="63">
                <a:moveTo>
                  <a:pt x="346" y="57"/>
                </a:moveTo>
                <a:cubicBezTo>
                  <a:pt x="346" y="61"/>
                  <a:pt x="339" y="63"/>
                  <a:pt x="330" y="63"/>
                </a:cubicBezTo>
                <a:cubicBezTo>
                  <a:pt x="16" y="63"/>
                  <a:pt x="16" y="63"/>
                  <a:pt x="16" y="63"/>
                </a:cubicBezTo>
                <a:cubicBezTo>
                  <a:pt x="7" y="63"/>
                  <a:pt x="0" y="61"/>
                  <a:pt x="0" y="57"/>
                </a:cubicBezTo>
                <a:cubicBezTo>
                  <a:pt x="0" y="6"/>
                  <a:pt x="0" y="6"/>
                  <a:pt x="0" y="6"/>
                </a:cubicBezTo>
                <a:cubicBezTo>
                  <a:pt x="0" y="3"/>
                  <a:pt x="7" y="0"/>
                  <a:pt x="16" y="0"/>
                </a:cubicBezTo>
                <a:cubicBezTo>
                  <a:pt x="330" y="0"/>
                  <a:pt x="330" y="0"/>
                  <a:pt x="330" y="0"/>
                </a:cubicBezTo>
                <a:cubicBezTo>
                  <a:pt x="339" y="0"/>
                  <a:pt x="346" y="3"/>
                  <a:pt x="346" y="6"/>
                </a:cubicBezTo>
                <a:lnTo>
                  <a:pt x="346" y="57"/>
                </a:lnTo>
                <a:close/>
              </a:path>
            </a:pathLst>
          </a:custGeom>
          <a:solidFill>
            <a:srgbClr val="D7E2E0"/>
          </a:solidFill>
          <a:ln w="9525">
            <a:noFill/>
            <a:round/>
            <a:headEnd/>
            <a:tailEnd/>
          </a:ln>
        </p:spPr>
        <p:txBody>
          <a:bodyPr/>
          <a:lstStyle/>
          <a:p>
            <a:endParaRPr lang="en-US"/>
          </a:p>
        </p:txBody>
      </p:sp>
      <p:sp>
        <p:nvSpPr>
          <p:cNvPr id="61502" name="Line 133"/>
          <p:cNvSpPr>
            <a:spLocks noChangeShapeType="1"/>
          </p:cNvSpPr>
          <p:nvPr/>
        </p:nvSpPr>
        <p:spPr bwMode="auto">
          <a:xfrm flipV="1">
            <a:off x="3049588" y="5730875"/>
            <a:ext cx="0" cy="347663"/>
          </a:xfrm>
          <a:prstGeom prst="line">
            <a:avLst/>
          </a:prstGeom>
          <a:noFill/>
          <a:ln w="6350">
            <a:solidFill>
              <a:srgbClr val="000000"/>
            </a:solidFill>
            <a:miter lim="800000"/>
            <a:headEnd/>
            <a:tailEnd/>
          </a:ln>
        </p:spPr>
        <p:txBody>
          <a:bodyPr/>
          <a:lstStyle/>
          <a:p>
            <a:endParaRPr lang="en-US"/>
          </a:p>
        </p:txBody>
      </p:sp>
      <p:sp>
        <p:nvSpPr>
          <p:cNvPr id="61503" name="Freeform 134"/>
          <p:cNvSpPr>
            <a:spLocks/>
          </p:cNvSpPr>
          <p:nvPr/>
        </p:nvSpPr>
        <p:spPr bwMode="auto">
          <a:xfrm>
            <a:off x="2111375" y="5846763"/>
            <a:ext cx="1870075" cy="354012"/>
          </a:xfrm>
          <a:custGeom>
            <a:avLst/>
            <a:gdLst>
              <a:gd name="T0" fmla="*/ 2147483647 w 350"/>
              <a:gd name="T1" fmla="*/ 1937239368 h 58"/>
              <a:gd name="T2" fmla="*/ 2147483647 w 350"/>
              <a:gd name="T3" fmla="*/ 2147483647 h 58"/>
              <a:gd name="T4" fmla="*/ 485321862 w 350"/>
              <a:gd name="T5" fmla="*/ 2147483647 h 58"/>
              <a:gd name="T6" fmla="*/ 0 w 350"/>
              <a:gd name="T7" fmla="*/ 1937239368 h 58"/>
              <a:gd name="T8" fmla="*/ 0 w 350"/>
              <a:gd name="T9" fmla="*/ 186271347 h 58"/>
              <a:gd name="T10" fmla="*/ 485321862 w 350"/>
              <a:gd name="T11" fmla="*/ 0 h 58"/>
              <a:gd name="T12" fmla="*/ 2147483647 w 350"/>
              <a:gd name="T13" fmla="*/ 0 h 58"/>
              <a:gd name="T14" fmla="*/ 2147483647 w 350"/>
              <a:gd name="T15" fmla="*/ 186271347 h 58"/>
              <a:gd name="T16" fmla="*/ 2147483647 w 350"/>
              <a:gd name="T17" fmla="*/ 1937239368 h 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0"/>
              <a:gd name="T28" fmla="*/ 0 h 58"/>
              <a:gd name="T29" fmla="*/ 350 w 350"/>
              <a:gd name="T30" fmla="*/ 58 h 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0" h="58">
                <a:moveTo>
                  <a:pt x="350" y="52"/>
                </a:moveTo>
                <a:cubicBezTo>
                  <a:pt x="350" y="55"/>
                  <a:pt x="342" y="58"/>
                  <a:pt x="333" y="58"/>
                </a:cubicBezTo>
                <a:cubicBezTo>
                  <a:pt x="17" y="58"/>
                  <a:pt x="17" y="58"/>
                  <a:pt x="17" y="58"/>
                </a:cubicBezTo>
                <a:cubicBezTo>
                  <a:pt x="8" y="58"/>
                  <a:pt x="0" y="55"/>
                  <a:pt x="0" y="52"/>
                </a:cubicBezTo>
                <a:cubicBezTo>
                  <a:pt x="0" y="5"/>
                  <a:pt x="0" y="5"/>
                  <a:pt x="0" y="5"/>
                </a:cubicBezTo>
                <a:cubicBezTo>
                  <a:pt x="0" y="2"/>
                  <a:pt x="8" y="0"/>
                  <a:pt x="17" y="0"/>
                </a:cubicBezTo>
                <a:cubicBezTo>
                  <a:pt x="333" y="0"/>
                  <a:pt x="333" y="0"/>
                  <a:pt x="333" y="0"/>
                </a:cubicBezTo>
                <a:cubicBezTo>
                  <a:pt x="342" y="0"/>
                  <a:pt x="350" y="2"/>
                  <a:pt x="350" y="5"/>
                </a:cubicBezTo>
                <a:lnTo>
                  <a:pt x="350" y="52"/>
                </a:lnTo>
                <a:close/>
              </a:path>
            </a:pathLst>
          </a:custGeom>
          <a:solidFill>
            <a:srgbClr val="D7E2E0"/>
          </a:solidFill>
          <a:ln w="9525">
            <a:noFill/>
            <a:round/>
            <a:headEnd/>
            <a:tailEnd/>
          </a:ln>
        </p:spPr>
        <p:txBody>
          <a:bodyPr/>
          <a:lstStyle/>
          <a:p>
            <a:endParaRPr lang="en-US"/>
          </a:p>
        </p:txBody>
      </p:sp>
      <p:sp>
        <p:nvSpPr>
          <p:cNvPr id="67" name="Oval 135"/>
          <p:cNvSpPr>
            <a:spLocks noChangeArrowheads="1"/>
          </p:cNvSpPr>
          <p:nvPr/>
        </p:nvSpPr>
        <p:spPr bwMode="auto">
          <a:xfrm>
            <a:off x="7556500" y="4575175"/>
            <a:ext cx="92075" cy="111125"/>
          </a:xfrm>
          <a:prstGeom prst="ellipse">
            <a:avLst/>
          </a:prstGeom>
          <a:solidFill>
            <a:srgbClr val="000000"/>
          </a:solidFill>
          <a:ln w="9525">
            <a:noFill/>
            <a:round/>
            <a:headEnd/>
            <a:tailEnd/>
          </a:ln>
        </p:spPr>
        <p:txBody>
          <a:bodyPr/>
          <a:lstStyle/>
          <a:p>
            <a:endParaRPr lang="en-US"/>
          </a:p>
        </p:txBody>
      </p:sp>
      <p:sp>
        <p:nvSpPr>
          <p:cNvPr id="61505" name="Rectangle 136"/>
          <p:cNvSpPr>
            <a:spLocks noChangeArrowheads="1"/>
          </p:cNvSpPr>
          <p:nvPr/>
        </p:nvSpPr>
        <p:spPr bwMode="auto">
          <a:xfrm>
            <a:off x="2012950" y="1095375"/>
            <a:ext cx="2162175" cy="488950"/>
          </a:xfrm>
          <a:prstGeom prst="rect">
            <a:avLst/>
          </a:prstGeom>
          <a:noFill/>
          <a:ln w="9525">
            <a:noFill/>
            <a:miter lim="800000"/>
            <a:headEnd/>
            <a:tailEnd/>
          </a:ln>
        </p:spPr>
        <p:txBody>
          <a:bodyPr lIns="0" tIns="0" rIns="0" bIns="0">
            <a:spAutoFit/>
          </a:bodyPr>
          <a:lstStyle/>
          <a:p>
            <a:pPr marL="1588" indent="-1588" algn="ctr"/>
            <a:r>
              <a:rPr lang="en-US" sz="1600" b="1">
                <a:solidFill>
                  <a:srgbClr val="000000"/>
                </a:solidFill>
              </a:rPr>
              <a:t>(a) Long-Run Equilibrium in Perfect Competition </a:t>
            </a:r>
            <a:endParaRPr lang="en-US" sz="1600" b="1"/>
          </a:p>
        </p:txBody>
      </p:sp>
      <p:sp>
        <p:nvSpPr>
          <p:cNvPr id="61506" name="Rectangle 137"/>
          <p:cNvSpPr>
            <a:spLocks noChangeArrowheads="1"/>
          </p:cNvSpPr>
          <p:nvPr/>
        </p:nvSpPr>
        <p:spPr bwMode="auto">
          <a:xfrm>
            <a:off x="898525" y="1138238"/>
            <a:ext cx="919163" cy="63817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a:t>
            </a:r>
            <a:endParaRPr lang="en-US" sz="1400">
              <a:latin typeface="Tahoma" pitchFamily="34" charset="0"/>
            </a:endParaRPr>
          </a:p>
        </p:txBody>
      </p:sp>
      <p:sp>
        <p:nvSpPr>
          <p:cNvPr id="70" name="Rectangle 138"/>
          <p:cNvSpPr>
            <a:spLocks noChangeArrowheads="1"/>
          </p:cNvSpPr>
          <p:nvPr/>
        </p:nvSpPr>
        <p:spPr bwMode="auto">
          <a:xfrm>
            <a:off x="5305425" y="1138238"/>
            <a:ext cx="920750" cy="63817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a:t>
            </a:r>
            <a:endParaRPr lang="en-US" sz="1400">
              <a:latin typeface="Tahoma" pitchFamily="34" charset="0"/>
            </a:endParaRPr>
          </a:p>
        </p:txBody>
      </p:sp>
      <p:sp>
        <p:nvSpPr>
          <p:cNvPr id="61508" name="Rectangle 139"/>
          <p:cNvSpPr>
            <a:spLocks noChangeArrowheads="1"/>
          </p:cNvSpPr>
          <p:nvPr/>
        </p:nvSpPr>
        <p:spPr bwMode="auto">
          <a:xfrm>
            <a:off x="2255838" y="5895975"/>
            <a:ext cx="1625600" cy="212725"/>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rPr>
              <a:t>Minimum-cost output</a:t>
            </a:r>
            <a:endParaRPr lang="en-US" sz="1400" b="1"/>
          </a:p>
        </p:txBody>
      </p:sp>
      <p:sp>
        <p:nvSpPr>
          <p:cNvPr id="72" name="Rectangle 140"/>
          <p:cNvSpPr>
            <a:spLocks noChangeArrowheads="1"/>
          </p:cNvSpPr>
          <p:nvPr/>
        </p:nvSpPr>
        <p:spPr bwMode="auto">
          <a:xfrm>
            <a:off x="6797675" y="5895975"/>
            <a:ext cx="1625600" cy="212725"/>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rPr>
              <a:t>Minimum-cost output</a:t>
            </a:r>
            <a:endParaRPr lang="en-US" sz="1400" b="1"/>
          </a:p>
        </p:txBody>
      </p:sp>
      <p:sp>
        <p:nvSpPr>
          <p:cNvPr id="61510" name="Rectangle 141"/>
          <p:cNvSpPr>
            <a:spLocks noChangeArrowheads="1"/>
          </p:cNvSpPr>
          <p:nvPr/>
        </p:nvSpPr>
        <p:spPr bwMode="auto">
          <a:xfrm>
            <a:off x="3946525" y="5514975"/>
            <a:ext cx="66040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Quantity</a:t>
            </a:r>
            <a:endParaRPr lang="en-US" sz="1400">
              <a:latin typeface="Tahoma" pitchFamily="34" charset="0"/>
            </a:endParaRPr>
          </a:p>
        </p:txBody>
      </p:sp>
      <p:sp>
        <p:nvSpPr>
          <p:cNvPr id="74" name="Rectangle 142"/>
          <p:cNvSpPr>
            <a:spLocks noChangeArrowheads="1"/>
          </p:cNvSpPr>
          <p:nvPr/>
        </p:nvSpPr>
        <p:spPr bwMode="auto">
          <a:xfrm>
            <a:off x="8196263" y="5530850"/>
            <a:ext cx="66040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Roman"/>
              </a:rPr>
              <a:t>Quantity</a:t>
            </a:r>
            <a:endParaRPr lang="en-US" sz="1400">
              <a:latin typeface="Tahoma" pitchFamily="34" charset="0"/>
            </a:endParaRPr>
          </a:p>
        </p:txBody>
      </p:sp>
      <p:cxnSp>
        <p:nvCxnSpPr>
          <p:cNvPr id="61512" name="Straight Connector 86"/>
          <p:cNvCxnSpPr>
            <a:cxnSpLocks noChangeShapeType="1"/>
          </p:cNvCxnSpPr>
          <p:nvPr/>
        </p:nvCxnSpPr>
        <p:spPr bwMode="auto">
          <a:xfrm>
            <a:off x="3065463" y="4652963"/>
            <a:ext cx="0" cy="750887"/>
          </a:xfrm>
          <a:prstGeom prst="line">
            <a:avLst/>
          </a:prstGeom>
          <a:noFill/>
          <a:ln w="15875">
            <a:solidFill>
              <a:srgbClr val="808080"/>
            </a:solidFill>
            <a:prstDash val="sysDot"/>
            <a:round/>
            <a:headEnd/>
            <a:tailEnd type="none" w="med" len="lg"/>
          </a:ln>
        </p:spPr>
      </p:cxnSp>
      <p:cxnSp>
        <p:nvCxnSpPr>
          <p:cNvPr id="76" name="Straight Connector 86"/>
          <p:cNvCxnSpPr>
            <a:cxnSpLocks noChangeShapeType="1"/>
          </p:cNvCxnSpPr>
          <p:nvPr/>
        </p:nvCxnSpPr>
        <p:spPr bwMode="auto">
          <a:xfrm>
            <a:off x="5786438" y="4202113"/>
            <a:ext cx="701675" cy="0"/>
          </a:xfrm>
          <a:prstGeom prst="line">
            <a:avLst/>
          </a:prstGeom>
          <a:noFill/>
          <a:ln w="15875">
            <a:solidFill>
              <a:srgbClr val="808080"/>
            </a:solidFill>
            <a:prstDash val="sysDot"/>
            <a:round/>
            <a:headEnd/>
            <a:tailEnd type="none" w="med" len="lg"/>
          </a:ln>
        </p:spPr>
      </p:cxnSp>
      <p:cxnSp>
        <p:nvCxnSpPr>
          <p:cNvPr id="77" name="Straight Connector 86"/>
          <p:cNvCxnSpPr>
            <a:cxnSpLocks noChangeShapeType="1"/>
          </p:cNvCxnSpPr>
          <p:nvPr/>
        </p:nvCxnSpPr>
        <p:spPr bwMode="auto">
          <a:xfrm>
            <a:off x="5786438" y="5049838"/>
            <a:ext cx="701675" cy="0"/>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7596188" y="2492375"/>
            <a:ext cx="0" cy="2944813"/>
          </a:xfrm>
          <a:prstGeom prst="line">
            <a:avLst/>
          </a:prstGeom>
          <a:noFill/>
          <a:ln w="952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6545263" y="4221163"/>
            <a:ext cx="6350" cy="1223962"/>
          </a:xfrm>
          <a:prstGeom prst="line">
            <a:avLst/>
          </a:prstGeom>
          <a:noFill/>
          <a:ln w="15875">
            <a:solidFill>
              <a:srgbClr val="808080"/>
            </a:solidFill>
            <a:prstDash val="sysDot"/>
            <a:round/>
            <a:headEnd/>
            <a:tailEnd type="none" w="med" len="lg"/>
          </a:ln>
        </p:spPr>
      </p:cxnSp>
      <p:sp>
        <p:nvSpPr>
          <p:cNvPr id="110671" name="Line 79"/>
          <p:cNvSpPr>
            <a:spLocks noChangeShapeType="1"/>
          </p:cNvSpPr>
          <p:nvPr/>
        </p:nvSpPr>
        <p:spPr bwMode="auto">
          <a:xfrm>
            <a:off x="6551613" y="2636838"/>
            <a:ext cx="1044575" cy="0"/>
          </a:xfrm>
          <a:prstGeom prst="line">
            <a:avLst/>
          </a:prstGeom>
          <a:noFill/>
          <a:ln w="9525">
            <a:solidFill>
              <a:schemeClr val="tx1"/>
            </a:solidFill>
            <a:round/>
            <a:headEnd type="triangle" w="med" len="med"/>
            <a:tailEnd type="triangle" w="med" len="med"/>
          </a:ln>
        </p:spPr>
        <p:txBody>
          <a:bodyPr/>
          <a:lstStyle/>
          <a:p>
            <a:endParaRPr lang="en-US"/>
          </a:p>
        </p:txBody>
      </p:sp>
      <p:sp>
        <p:nvSpPr>
          <p:cNvPr id="4" name="Freeform 132"/>
          <p:cNvSpPr>
            <a:spLocks/>
          </p:cNvSpPr>
          <p:nvPr/>
        </p:nvSpPr>
        <p:spPr bwMode="auto">
          <a:xfrm>
            <a:off x="6402388" y="2005013"/>
            <a:ext cx="1265237" cy="360362"/>
          </a:xfrm>
          <a:custGeom>
            <a:avLst/>
            <a:gdLst>
              <a:gd name="T0" fmla="*/ 2147483647 w 346"/>
              <a:gd name="T1" fmla="*/ 1864970854 h 63"/>
              <a:gd name="T2" fmla="*/ 2147483647 w 346"/>
              <a:gd name="T3" fmla="*/ 2061282296 h 63"/>
              <a:gd name="T4" fmla="*/ 213949364 w 346"/>
              <a:gd name="T5" fmla="*/ 2061282296 h 63"/>
              <a:gd name="T6" fmla="*/ 0 w 346"/>
              <a:gd name="T7" fmla="*/ 1864970854 h 63"/>
              <a:gd name="T8" fmla="*/ 0 w 346"/>
              <a:gd name="T9" fmla="*/ 196311531 h 63"/>
              <a:gd name="T10" fmla="*/ 213949364 w 346"/>
              <a:gd name="T11" fmla="*/ 0 h 63"/>
              <a:gd name="T12" fmla="*/ 2147483647 w 346"/>
              <a:gd name="T13" fmla="*/ 0 h 63"/>
              <a:gd name="T14" fmla="*/ 2147483647 w 346"/>
              <a:gd name="T15" fmla="*/ 196311531 h 63"/>
              <a:gd name="T16" fmla="*/ 2147483647 w 346"/>
              <a:gd name="T17" fmla="*/ 1864970854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6"/>
              <a:gd name="T28" fmla="*/ 0 h 63"/>
              <a:gd name="T29" fmla="*/ 346 w 346"/>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6" h="63">
                <a:moveTo>
                  <a:pt x="346" y="57"/>
                </a:moveTo>
                <a:cubicBezTo>
                  <a:pt x="346" y="61"/>
                  <a:pt x="339" y="63"/>
                  <a:pt x="330" y="63"/>
                </a:cubicBezTo>
                <a:cubicBezTo>
                  <a:pt x="16" y="63"/>
                  <a:pt x="16" y="63"/>
                  <a:pt x="16" y="63"/>
                </a:cubicBezTo>
                <a:cubicBezTo>
                  <a:pt x="7" y="63"/>
                  <a:pt x="0" y="61"/>
                  <a:pt x="0" y="57"/>
                </a:cubicBezTo>
                <a:cubicBezTo>
                  <a:pt x="0" y="6"/>
                  <a:pt x="0" y="6"/>
                  <a:pt x="0" y="6"/>
                </a:cubicBezTo>
                <a:cubicBezTo>
                  <a:pt x="0" y="3"/>
                  <a:pt x="7" y="0"/>
                  <a:pt x="16" y="0"/>
                </a:cubicBezTo>
                <a:cubicBezTo>
                  <a:pt x="330" y="0"/>
                  <a:pt x="330" y="0"/>
                  <a:pt x="330" y="0"/>
                </a:cubicBezTo>
                <a:cubicBezTo>
                  <a:pt x="339" y="0"/>
                  <a:pt x="346" y="3"/>
                  <a:pt x="346" y="6"/>
                </a:cubicBezTo>
                <a:lnTo>
                  <a:pt x="346" y="57"/>
                </a:lnTo>
                <a:close/>
              </a:path>
            </a:pathLst>
          </a:custGeom>
          <a:solidFill>
            <a:srgbClr val="D7E2E0"/>
          </a:solidFill>
          <a:ln w="9525">
            <a:noFill/>
            <a:round/>
            <a:headEnd/>
            <a:tailEnd/>
          </a:ln>
        </p:spPr>
        <p:txBody>
          <a:bodyPr/>
          <a:lstStyle/>
          <a:p>
            <a:endParaRPr lang="en-US"/>
          </a:p>
        </p:txBody>
      </p:sp>
      <p:sp>
        <p:nvSpPr>
          <p:cNvPr id="110656" name="Rectangle 140"/>
          <p:cNvSpPr>
            <a:spLocks noChangeArrowheads="1"/>
          </p:cNvSpPr>
          <p:nvPr/>
        </p:nvSpPr>
        <p:spPr bwMode="auto">
          <a:xfrm>
            <a:off x="6442075" y="2060575"/>
            <a:ext cx="1143000" cy="212725"/>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rPr>
              <a:t>Excess Capacity</a:t>
            </a:r>
            <a:endParaRPr lang="en-US" sz="1400" b="1"/>
          </a:p>
        </p:txBody>
      </p:sp>
      <p:sp>
        <p:nvSpPr>
          <p:cNvPr id="6" name="Freeform 132"/>
          <p:cNvSpPr>
            <a:spLocks/>
          </p:cNvSpPr>
          <p:nvPr/>
        </p:nvSpPr>
        <p:spPr bwMode="auto">
          <a:xfrm>
            <a:off x="5111750" y="4562475"/>
            <a:ext cx="792163" cy="271463"/>
          </a:xfrm>
          <a:custGeom>
            <a:avLst/>
            <a:gdLst>
              <a:gd name="T0" fmla="*/ 2147483647 w 346"/>
              <a:gd name="T1" fmla="*/ 1864970854 h 63"/>
              <a:gd name="T2" fmla="*/ 2147483647 w 346"/>
              <a:gd name="T3" fmla="*/ 2061282296 h 63"/>
              <a:gd name="T4" fmla="*/ 213949364 w 346"/>
              <a:gd name="T5" fmla="*/ 2061282296 h 63"/>
              <a:gd name="T6" fmla="*/ 0 w 346"/>
              <a:gd name="T7" fmla="*/ 1864970854 h 63"/>
              <a:gd name="T8" fmla="*/ 0 w 346"/>
              <a:gd name="T9" fmla="*/ 196311531 h 63"/>
              <a:gd name="T10" fmla="*/ 213949364 w 346"/>
              <a:gd name="T11" fmla="*/ 0 h 63"/>
              <a:gd name="T12" fmla="*/ 2147483647 w 346"/>
              <a:gd name="T13" fmla="*/ 0 h 63"/>
              <a:gd name="T14" fmla="*/ 2147483647 w 346"/>
              <a:gd name="T15" fmla="*/ 196311531 h 63"/>
              <a:gd name="T16" fmla="*/ 2147483647 w 346"/>
              <a:gd name="T17" fmla="*/ 1864970854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6"/>
              <a:gd name="T28" fmla="*/ 0 h 63"/>
              <a:gd name="T29" fmla="*/ 346 w 346"/>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6" h="63">
                <a:moveTo>
                  <a:pt x="346" y="57"/>
                </a:moveTo>
                <a:cubicBezTo>
                  <a:pt x="346" y="61"/>
                  <a:pt x="339" y="63"/>
                  <a:pt x="330" y="63"/>
                </a:cubicBezTo>
                <a:cubicBezTo>
                  <a:pt x="16" y="63"/>
                  <a:pt x="16" y="63"/>
                  <a:pt x="16" y="63"/>
                </a:cubicBezTo>
                <a:cubicBezTo>
                  <a:pt x="7" y="63"/>
                  <a:pt x="0" y="61"/>
                  <a:pt x="0" y="57"/>
                </a:cubicBezTo>
                <a:cubicBezTo>
                  <a:pt x="0" y="6"/>
                  <a:pt x="0" y="6"/>
                  <a:pt x="0" y="6"/>
                </a:cubicBezTo>
                <a:cubicBezTo>
                  <a:pt x="0" y="3"/>
                  <a:pt x="7" y="0"/>
                  <a:pt x="16" y="0"/>
                </a:cubicBezTo>
                <a:cubicBezTo>
                  <a:pt x="330" y="0"/>
                  <a:pt x="330" y="0"/>
                  <a:pt x="330" y="0"/>
                </a:cubicBezTo>
                <a:cubicBezTo>
                  <a:pt x="339" y="0"/>
                  <a:pt x="346" y="3"/>
                  <a:pt x="346" y="6"/>
                </a:cubicBezTo>
                <a:lnTo>
                  <a:pt x="346" y="57"/>
                </a:lnTo>
                <a:close/>
              </a:path>
            </a:pathLst>
          </a:custGeom>
          <a:solidFill>
            <a:srgbClr val="D7E2E0"/>
          </a:solidFill>
          <a:ln w="9525">
            <a:noFill/>
            <a:round/>
            <a:headEnd/>
            <a:tailEnd/>
          </a:ln>
        </p:spPr>
        <p:txBody>
          <a:bodyPr/>
          <a:lstStyle/>
          <a:p>
            <a:endParaRPr lang="en-US"/>
          </a:p>
        </p:txBody>
      </p:sp>
      <p:sp>
        <p:nvSpPr>
          <p:cNvPr id="10" name="Rectangle 140"/>
          <p:cNvSpPr>
            <a:spLocks noChangeArrowheads="1"/>
          </p:cNvSpPr>
          <p:nvPr/>
        </p:nvSpPr>
        <p:spPr bwMode="auto">
          <a:xfrm>
            <a:off x="5111750" y="4581525"/>
            <a:ext cx="790575" cy="212725"/>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rPr>
              <a:t>Mark-up</a:t>
            </a:r>
            <a:endParaRPr lang="en-US" sz="1400" b="1"/>
          </a:p>
        </p:txBody>
      </p:sp>
      <p:sp>
        <p:nvSpPr>
          <p:cNvPr id="24" name="Freeform 92"/>
          <p:cNvSpPr>
            <a:spLocks/>
          </p:cNvSpPr>
          <p:nvPr/>
        </p:nvSpPr>
        <p:spPr bwMode="auto">
          <a:xfrm>
            <a:off x="5765800" y="1825625"/>
            <a:ext cx="3217863" cy="3613150"/>
          </a:xfrm>
          <a:custGeom>
            <a:avLst/>
            <a:gdLst>
              <a:gd name="T0" fmla="*/ 2147483647 w 1678"/>
              <a:gd name="T1" fmla="*/ 2147483647 h 1552"/>
              <a:gd name="T2" fmla="*/ 0 w 1678"/>
              <a:gd name="T3" fmla="*/ 2147483647 h 1552"/>
              <a:gd name="T4" fmla="*/ 0 w 1678"/>
              <a:gd name="T5" fmla="*/ 0 h 1552"/>
              <a:gd name="T6" fmla="*/ 0 60000 65536"/>
              <a:gd name="T7" fmla="*/ 0 60000 65536"/>
              <a:gd name="T8" fmla="*/ 0 60000 65536"/>
              <a:gd name="T9" fmla="*/ 0 w 1678"/>
              <a:gd name="T10" fmla="*/ 0 h 1552"/>
              <a:gd name="T11" fmla="*/ 1678 w 1678"/>
              <a:gd name="T12" fmla="*/ 1552 h 1552"/>
            </a:gdLst>
            <a:ahLst/>
            <a:cxnLst>
              <a:cxn ang="T6">
                <a:pos x="T0" y="T1"/>
              </a:cxn>
              <a:cxn ang="T7">
                <a:pos x="T2" y="T3"/>
              </a:cxn>
              <a:cxn ang="T8">
                <a:pos x="T4" y="T5"/>
              </a:cxn>
            </a:cxnLst>
            <a:rect l="T9" t="T10" r="T11" b="T12"/>
            <a:pathLst>
              <a:path w="1678" h="1552">
                <a:moveTo>
                  <a:pt x="1678" y="1552"/>
                </a:moveTo>
                <a:lnTo>
                  <a:pt x="0" y="1552"/>
                </a:lnTo>
                <a:lnTo>
                  <a:pt x="0" y="0"/>
                </a:lnTo>
              </a:path>
            </a:pathLst>
          </a:custGeom>
          <a:noFill/>
          <a:ln w="6350" cap="flat">
            <a:solidFill>
              <a:srgbClr val="000000"/>
            </a:solidFill>
            <a:prstDash val="solid"/>
            <a:miter lim="800000"/>
            <a:headEnd/>
            <a:tailEnd/>
          </a:ln>
        </p:spPr>
        <p:txBody>
          <a:bodyPr/>
          <a:lstStyle/>
          <a:p>
            <a:endParaRPr lang="en-US"/>
          </a:p>
        </p:txBody>
      </p:sp>
      <p:sp>
        <p:nvSpPr>
          <p:cNvPr id="11" name="Line 79"/>
          <p:cNvSpPr>
            <a:spLocks noChangeShapeType="1"/>
          </p:cNvSpPr>
          <p:nvPr/>
        </p:nvSpPr>
        <p:spPr bwMode="auto">
          <a:xfrm flipV="1">
            <a:off x="5867400" y="4221163"/>
            <a:ext cx="0" cy="828675"/>
          </a:xfrm>
          <a:prstGeom prst="line">
            <a:avLst/>
          </a:prstGeom>
          <a:noFill/>
          <a:ln w="9525">
            <a:solidFill>
              <a:schemeClr val="tx1"/>
            </a:solidFill>
            <a:round/>
            <a:headEnd type="triangle" w="med" len="me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left)">
                                      <p:cBhvr>
                                        <p:cTn id="19" dur="500"/>
                                        <p:tgtEl>
                                          <p:spTgt spid="20"/>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left)">
                                      <p:cBhvr>
                                        <p:cTn id="28" dur="500"/>
                                        <p:tgtEl>
                                          <p:spTgt spid="23"/>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wipe(left)">
                                      <p:cBhvr>
                                        <p:cTn id="34" dur="500"/>
                                        <p:tgtEl>
                                          <p:spTgt spid="25"/>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left)">
                                      <p:cBhvr>
                                        <p:cTn id="40" dur="500"/>
                                        <p:tgtEl>
                                          <p:spTgt spid="27"/>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500"/>
                                        <p:tgtEl>
                                          <p:spTgt spid="28"/>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left)">
                                      <p:cBhvr>
                                        <p:cTn id="46" dur="500"/>
                                        <p:tgtEl>
                                          <p:spTgt spid="29"/>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wipe(left)">
                                      <p:cBhvr>
                                        <p:cTn id="49" dur="500"/>
                                        <p:tgtEl>
                                          <p:spTgt spid="30"/>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wipe(left)">
                                      <p:cBhvr>
                                        <p:cTn id="55" dur="500"/>
                                        <p:tgtEl>
                                          <p:spTgt spid="32"/>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left)">
                                      <p:cBhvr>
                                        <p:cTn id="58" dur="500"/>
                                        <p:tgtEl>
                                          <p:spTgt spid="33"/>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wipe(left)">
                                      <p:cBhvr>
                                        <p:cTn id="61" dur="500"/>
                                        <p:tgtEl>
                                          <p:spTgt spid="34"/>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wipe(left)">
                                      <p:cBhvr>
                                        <p:cTn id="64" dur="500"/>
                                        <p:tgtEl>
                                          <p:spTgt spid="35"/>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left)">
                                      <p:cBhvr>
                                        <p:cTn id="67" dur="500"/>
                                        <p:tgtEl>
                                          <p:spTgt spid="36"/>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wipe(left)">
                                      <p:cBhvr>
                                        <p:cTn id="70" dur="500"/>
                                        <p:tgtEl>
                                          <p:spTgt spid="37"/>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wipe(left)">
                                      <p:cBhvr>
                                        <p:cTn id="73" dur="500"/>
                                        <p:tgtEl>
                                          <p:spTgt spid="38"/>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wipe(left)">
                                      <p:cBhvr>
                                        <p:cTn id="76" dur="500"/>
                                        <p:tgtEl>
                                          <p:spTgt spid="39"/>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wipe(left)">
                                      <p:cBhvr>
                                        <p:cTn id="79" dur="500"/>
                                        <p:tgtEl>
                                          <p:spTgt spid="42"/>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wipe(left)">
                                      <p:cBhvr>
                                        <p:cTn id="82" dur="500"/>
                                        <p:tgtEl>
                                          <p:spTgt spid="43"/>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wipe(left)">
                                      <p:cBhvr>
                                        <p:cTn id="85" dur="500"/>
                                        <p:tgtEl>
                                          <p:spTgt spid="44"/>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45"/>
                                        </p:tgtEl>
                                        <p:attrNameLst>
                                          <p:attrName>style.visibility</p:attrName>
                                        </p:attrNameLst>
                                      </p:cBhvr>
                                      <p:to>
                                        <p:strVal val="visible"/>
                                      </p:to>
                                    </p:set>
                                    <p:animEffect transition="in" filter="wipe(left)">
                                      <p:cBhvr>
                                        <p:cTn id="88" dur="500"/>
                                        <p:tgtEl>
                                          <p:spTgt spid="45"/>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46"/>
                                        </p:tgtEl>
                                        <p:attrNameLst>
                                          <p:attrName>style.visibility</p:attrName>
                                        </p:attrNameLst>
                                      </p:cBhvr>
                                      <p:to>
                                        <p:strVal val="visible"/>
                                      </p:to>
                                    </p:set>
                                    <p:animEffect transition="in" filter="wipe(left)">
                                      <p:cBhvr>
                                        <p:cTn id="91" dur="500"/>
                                        <p:tgtEl>
                                          <p:spTgt spid="46"/>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47"/>
                                        </p:tgtEl>
                                        <p:attrNameLst>
                                          <p:attrName>style.visibility</p:attrName>
                                        </p:attrNameLst>
                                      </p:cBhvr>
                                      <p:to>
                                        <p:strVal val="visible"/>
                                      </p:to>
                                    </p:set>
                                    <p:animEffect transition="in" filter="wipe(left)">
                                      <p:cBhvr>
                                        <p:cTn id="94" dur="500"/>
                                        <p:tgtEl>
                                          <p:spTgt spid="47"/>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wipe(left)">
                                      <p:cBhvr>
                                        <p:cTn id="97" dur="500"/>
                                        <p:tgtEl>
                                          <p:spTgt spid="63"/>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wipe(left)">
                                      <p:cBhvr>
                                        <p:cTn id="100" dur="500"/>
                                        <p:tgtEl>
                                          <p:spTgt spid="64"/>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67"/>
                                        </p:tgtEl>
                                        <p:attrNameLst>
                                          <p:attrName>style.visibility</p:attrName>
                                        </p:attrNameLst>
                                      </p:cBhvr>
                                      <p:to>
                                        <p:strVal val="visible"/>
                                      </p:to>
                                    </p:set>
                                    <p:animEffect transition="in" filter="wipe(left)">
                                      <p:cBhvr>
                                        <p:cTn id="103" dur="500"/>
                                        <p:tgtEl>
                                          <p:spTgt spid="67"/>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70"/>
                                        </p:tgtEl>
                                        <p:attrNameLst>
                                          <p:attrName>style.visibility</p:attrName>
                                        </p:attrNameLst>
                                      </p:cBhvr>
                                      <p:to>
                                        <p:strVal val="visible"/>
                                      </p:to>
                                    </p:set>
                                    <p:animEffect transition="in" filter="wipe(left)">
                                      <p:cBhvr>
                                        <p:cTn id="106" dur="500"/>
                                        <p:tgtEl>
                                          <p:spTgt spid="70"/>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72"/>
                                        </p:tgtEl>
                                        <p:attrNameLst>
                                          <p:attrName>style.visibility</p:attrName>
                                        </p:attrNameLst>
                                      </p:cBhvr>
                                      <p:to>
                                        <p:strVal val="visible"/>
                                      </p:to>
                                    </p:set>
                                    <p:animEffect transition="in" filter="wipe(left)">
                                      <p:cBhvr>
                                        <p:cTn id="109" dur="500"/>
                                        <p:tgtEl>
                                          <p:spTgt spid="72"/>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74"/>
                                        </p:tgtEl>
                                        <p:attrNameLst>
                                          <p:attrName>style.visibility</p:attrName>
                                        </p:attrNameLst>
                                      </p:cBhvr>
                                      <p:to>
                                        <p:strVal val="visible"/>
                                      </p:to>
                                    </p:set>
                                    <p:animEffect transition="in" filter="wipe(left)">
                                      <p:cBhvr>
                                        <p:cTn id="112" dur="500"/>
                                        <p:tgtEl>
                                          <p:spTgt spid="74"/>
                                        </p:tgtEl>
                                      </p:cBhvr>
                                    </p:animEffect>
                                  </p:childTnLst>
                                </p:cTn>
                              </p:par>
                              <p:par>
                                <p:cTn id="113" presetID="22" presetClass="entr" presetSubtype="8" fill="hold" nodeType="withEffect">
                                  <p:stCondLst>
                                    <p:cond delay="0"/>
                                  </p:stCondLst>
                                  <p:childTnLst>
                                    <p:set>
                                      <p:cBhvr>
                                        <p:cTn id="114" dur="1" fill="hold">
                                          <p:stCondLst>
                                            <p:cond delay="0"/>
                                          </p:stCondLst>
                                        </p:cTn>
                                        <p:tgtEl>
                                          <p:spTgt spid="76"/>
                                        </p:tgtEl>
                                        <p:attrNameLst>
                                          <p:attrName>style.visibility</p:attrName>
                                        </p:attrNameLst>
                                      </p:cBhvr>
                                      <p:to>
                                        <p:strVal val="visible"/>
                                      </p:to>
                                    </p:set>
                                    <p:animEffect transition="in" filter="wipe(left)">
                                      <p:cBhvr>
                                        <p:cTn id="115" dur="500"/>
                                        <p:tgtEl>
                                          <p:spTgt spid="76"/>
                                        </p:tgtEl>
                                      </p:cBhvr>
                                    </p:animEffect>
                                  </p:childTnLst>
                                </p:cTn>
                              </p:par>
                              <p:par>
                                <p:cTn id="116" presetID="22" presetClass="entr" presetSubtype="8" fill="hold" nodeType="withEffect">
                                  <p:stCondLst>
                                    <p:cond delay="0"/>
                                  </p:stCondLst>
                                  <p:childTnLst>
                                    <p:set>
                                      <p:cBhvr>
                                        <p:cTn id="117" dur="1" fill="hold">
                                          <p:stCondLst>
                                            <p:cond delay="0"/>
                                          </p:stCondLst>
                                        </p:cTn>
                                        <p:tgtEl>
                                          <p:spTgt spid="77"/>
                                        </p:tgtEl>
                                        <p:attrNameLst>
                                          <p:attrName>style.visibility</p:attrName>
                                        </p:attrNameLst>
                                      </p:cBhvr>
                                      <p:to>
                                        <p:strVal val="visible"/>
                                      </p:to>
                                    </p:set>
                                    <p:animEffect transition="in" filter="wipe(left)">
                                      <p:cBhvr>
                                        <p:cTn id="118" dur="500"/>
                                        <p:tgtEl>
                                          <p:spTgt spid="77"/>
                                        </p:tgtEl>
                                      </p:cBhvr>
                                    </p:animEffect>
                                  </p:childTnLst>
                                </p:cTn>
                              </p:par>
                              <p:par>
                                <p:cTn id="119" presetID="22" presetClass="entr" presetSubtype="8" fill="hold" nodeType="withEffect">
                                  <p:stCondLst>
                                    <p:cond delay="0"/>
                                  </p:stCondLst>
                                  <p:childTnLst>
                                    <p:set>
                                      <p:cBhvr>
                                        <p:cTn id="120" dur="1" fill="hold">
                                          <p:stCondLst>
                                            <p:cond delay="0"/>
                                          </p:stCondLst>
                                        </p:cTn>
                                        <p:tgtEl>
                                          <p:spTgt spid="2"/>
                                        </p:tgtEl>
                                        <p:attrNameLst>
                                          <p:attrName>style.visibility</p:attrName>
                                        </p:attrNameLst>
                                      </p:cBhvr>
                                      <p:to>
                                        <p:strVal val="visible"/>
                                      </p:to>
                                    </p:set>
                                    <p:animEffect transition="in" filter="wipe(left)">
                                      <p:cBhvr>
                                        <p:cTn id="121" dur="500"/>
                                        <p:tgtEl>
                                          <p:spTgt spid="2"/>
                                        </p:tgtEl>
                                      </p:cBhvr>
                                    </p:animEffect>
                                  </p:childTnLst>
                                </p:cTn>
                              </p:par>
                              <p:par>
                                <p:cTn id="122" presetID="22" presetClass="entr" presetSubtype="8" fill="hold" nodeType="withEffect">
                                  <p:stCondLst>
                                    <p:cond delay="0"/>
                                  </p:stCondLst>
                                  <p:childTnLst>
                                    <p:set>
                                      <p:cBhvr>
                                        <p:cTn id="123" dur="1" fill="hold">
                                          <p:stCondLst>
                                            <p:cond delay="0"/>
                                          </p:stCondLst>
                                        </p:cTn>
                                        <p:tgtEl>
                                          <p:spTgt spid="3"/>
                                        </p:tgtEl>
                                        <p:attrNameLst>
                                          <p:attrName>style.visibility</p:attrName>
                                        </p:attrNameLst>
                                      </p:cBhvr>
                                      <p:to>
                                        <p:strVal val="visible"/>
                                      </p:to>
                                    </p:set>
                                    <p:animEffect transition="in" filter="wipe(left)">
                                      <p:cBhvr>
                                        <p:cTn id="124" dur="500"/>
                                        <p:tgtEl>
                                          <p:spTgt spid="3"/>
                                        </p:tgtEl>
                                      </p:cBhvr>
                                    </p:animEffect>
                                  </p:childTnLst>
                                </p:cTn>
                              </p:par>
                              <p:par>
                                <p:cTn id="125" presetID="22" presetClass="entr" presetSubtype="8" fill="hold" grpId="0" nodeType="withEffect">
                                  <p:stCondLst>
                                    <p:cond delay="0"/>
                                  </p:stCondLst>
                                  <p:childTnLst>
                                    <p:set>
                                      <p:cBhvr>
                                        <p:cTn id="126" dur="1" fill="hold">
                                          <p:stCondLst>
                                            <p:cond delay="0"/>
                                          </p:stCondLst>
                                        </p:cTn>
                                        <p:tgtEl>
                                          <p:spTgt spid="110671"/>
                                        </p:tgtEl>
                                        <p:attrNameLst>
                                          <p:attrName>style.visibility</p:attrName>
                                        </p:attrNameLst>
                                      </p:cBhvr>
                                      <p:to>
                                        <p:strVal val="visible"/>
                                      </p:to>
                                    </p:set>
                                    <p:animEffect transition="in" filter="wipe(left)">
                                      <p:cBhvr>
                                        <p:cTn id="127" dur="500"/>
                                        <p:tgtEl>
                                          <p:spTgt spid="110671"/>
                                        </p:tgtEl>
                                      </p:cBhvr>
                                    </p:animEffect>
                                  </p:childTnLst>
                                </p:cTn>
                              </p:par>
                              <p:par>
                                <p:cTn id="128" presetID="22" presetClass="entr" presetSubtype="8" fill="hold" grpId="0" nodeType="withEffect">
                                  <p:stCondLst>
                                    <p:cond delay="0"/>
                                  </p:stCondLst>
                                  <p:childTnLst>
                                    <p:set>
                                      <p:cBhvr>
                                        <p:cTn id="129" dur="1" fill="hold">
                                          <p:stCondLst>
                                            <p:cond delay="0"/>
                                          </p:stCondLst>
                                        </p:cTn>
                                        <p:tgtEl>
                                          <p:spTgt spid="4"/>
                                        </p:tgtEl>
                                        <p:attrNameLst>
                                          <p:attrName>style.visibility</p:attrName>
                                        </p:attrNameLst>
                                      </p:cBhvr>
                                      <p:to>
                                        <p:strVal val="visible"/>
                                      </p:to>
                                    </p:set>
                                    <p:animEffect transition="in" filter="wipe(left)">
                                      <p:cBhvr>
                                        <p:cTn id="130" dur="500"/>
                                        <p:tgtEl>
                                          <p:spTgt spid="4"/>
                                        </p:tgtEl>
                                      </p:cBhvr>
                                    </p:animEffect>
                                  </p:childTnLst>
                                </p:cTn>
                              </p:par>
                              <p:par>
                                <p:cTn id="131" presetID="22" presetClass="entr" presetSubtype="8" fill="hold" grpId="0" nodeType="withEffect">
                                  <p:stCondLst>
                                    <p:cond delay="0"/>
                                  </p:stCondLst>
                                  <p:childTnLst>
                                    <p:set>
                                      <p:cBhvr>
                                        <p:cTn id="132" dur="1" fill="hold">
                                          <p:stCondLst>
                                            <p:cond delay="0"/>
                                          </p:stCondLst>
                                        </p:cTn>
                                        <p:tgtEl>
                                          <p:spTgt spid="110656"/>
                                        </p:tgtEl>
                                        <p:attrNameLst>
                                          <p:attrName>style.visibility</p:attrName>
                                        </p:attrNameLst>
                                      </p:cBhvr>
                                      <p:to>
                                        <p:strVal val="visible"/>
                                      </p:to>
                                    </p:set>
                                    <p:animEffect transition="in" filter="wipe(left)">
                                      <p:cBhvr>
                                        <p:cTn id="133" dur="500"/>
                                        <p:tgtEl>
                                          <p:spTgt spid="110656"/>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11"/>
                                        </p:tgtEl>
                                        <p:attrNameLst>
                                          <p:attrName>style.visibility</p:attrName>
                                        </p:attrNameLst>
                                      </p:cBhvr>
                                      <p:to>
                                        <p:strVal val="visible"/>
                                      </p:to>
                                    </p:set>
                                    <p:animEffect transition="in" filter="wipe(left)">
                                      <p:cBhvr>
                                        <p:cTn id="136" dur="500"/>
                                        <p:tgtEl>
                                          <p:spTgt spid="11"/>
                                        </p:tgtEl>
                                      </p:cBhvr>
                                    </p:animEffect>
                                  </p:childTnLst>
                                </p:cTn>
                              </p:par>
                              <p:par>
                                <p:cTn id="137" presetID="22" presetClass="entr" presetSubtype="8" fill="hold" grpId="0" nodeType="withEffect">
                                  <p:stCondLst>
                                    <p:cond delay="0"/>
                                  </p:stCondLst>
                                  <p:childTnLst>
                                    <p:set>
                                      <p:cBhvr>
                                        <p:cTn id="138" dur="1" fill="hold">
                                          <p:stCondLst>
                                            <p:cond delay="0"/>
                                          </p:stCondLst>
                                        </p:cTn>
                                        <p:tgtEl>
                                          <p:spTgt spid="6"/>
                                        </p:tgtEl>
                                        <p:attrNameLst>
                                          <p:attrName>style.visibility</p:attrName>
                                        </p:attrNameLst>
                                      </p:cBhvr>
                                      <p:to>
                                        <p:strVal val="visible"/>
                                      </p:to>
                                    </p:set>
                                    <p:animEffect transition="in" filter="wipe(left)">
                                      <p:cBhvr>
                                        <p:cTn id="139" dur="500"/>
                                        <p:tgtEl>
                                          <p:spTgt spid="6"/>
                                        </p:tgtEl>
                                      </p:cBhvr>
                                    </p:animEffect>
                                  </p:childTnLst>
                                </p:cTn>
                              </p:par>
                              <p:par>
                                <p:cTn id="140" presetID="22" presetClass="entr" presetSubtype="8" fill="hold" grpId="0" nodeType="withEffect">
                                  <p:stCondLst>
                                    <p:cond delay="0"/>
                                  </p:stCondLst>
                                  <p:childTnLst>
                                    <p:set>
                                      <p:cBhvr>
                                        <p:cTn id="141" dur="1" fill="hold">
                                          <p:stCondLst>
                                            <p:cond delay="0"/>
                                          </p:stCondLst>
                                        </p:cTn>
                                        <p:tgtEl>
                                          <p:spTgt spid="10"/>
                                        </p:tgtEl>
                                        <p:attrNameLst>
                                          <p:attrName>style.visibility</p:attrName>
                                        </p:attrNameLst>
                                      </p:cBhvr>
                                      <p:to>
                                        <p:strVal val="visible"/>
                                      </p:to>
                                    </p:set>
                                    <p:animEffect transition="in" filter="wipe(left)">
                                      <p:cBhvr>
                                        <p:cTn id="1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p:bldP spid="20" grpId="0"/>
      <p:bldP spid="21" grpId="0"/>
      <p:bldP spid="22" grpId="0"/>
      <p:bldP spid="23" grpId="0"/>
      <p:bldP spid="25" grpId="0" animBg="1"/>
      <p:bldP spid="26" grpId="0" animBg="1"/>
      <p:bldP spid="27" grpId="0" animBg="1"/>
      <p:bldP spid="28" grpId="0" animBg="1"/>
      <p:bldP spid="29" grpId="0" animBg="1"/>
      <p:bldP spid="30" grpId="0" animBg="1"/>
      <p:bldP spid="31" grpId="0"/>
      <p:bldP spid="32" grpId="0"/>
      <p:bldP spid="33" grpId="0"/>
      <p:bldP spid="34" grpId="0"/>
      <p:bldP spid="35" grpId="0"/>
      <p:bldP spid="36" grpId="0"/>
      <p:bldP spid="37" grpId="0"/>
      <p:bldP spid="38" grpId="0"/>
      <p:bldP spid="39" grpId="0"/>
      <p:bldP spid="42" grpId="0"/>
      <p:bldP spid="43" grpId="0"/>
      <p:bldP spid="44" grpId="0"/>
      <p:bldP spid="45" grpId="0"/>
      <p:bldP spid="46" grpId="0"/>
      <p:bldP spid="47" grpId="0"/>
      <p:bldP spid="63" grpId="0" animBg="1"/>
      <p:bldP spid="64" grpId="0" animBg="1"/>
      <p:bldP spid="67" grpId="0" animBg="1"/>
      <p:bldP spid="70" grpId="0"/>
      <p:bldP spid="72" grpId="0"/>
      <p:bldP spid="74" grpId="0"/>
      <p:bldP spid="110671" grpId="0" animBg="1"/>
      <p:bldP spid="4" grpId="0" animBg="1"/>
      <p:bldP spid="110656" grpId="0"/>
      <p:bldP spid="6" grpId="0" animBg="1"/>
      <p:bldP spid="10" grpId="0"/>
      <p:bldP spid="24"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rrowheads="1"/>
          </p:cNvSpPr>
          <p:nvPr>
            <p:ph type="title" idx="4294967295"/>
          </p:nvPr>
        </p:nvSpPr>
        <p:spPr>
          <a:xfrm>
            <a:off x="900113" y="76200"/>
            <a:ext cx="8012112" cy="609600"/>
          </a:xfrm>
        </p:spPr>
        <p:txBody>
          <a:bodyPr/>
          <a:lstStyle/>
          <a:p>
            <a:pPr>
              <a:defRPr/>
            </a:pPr>
            <a:r>
              <a:rPr lang="en-US" dirty="0" smtClean="0"/>
              <a:t>Is Monopolistic Competition Inefficient?</a:t>
            </a:r>
            <a:endParaRPr lang="en-US" b="0" dirty="0" smtClean="0"/>
          </a:p>
        </p:txBody>
      </p:sp>
      <p:sp>
        <p:nvSpPr>
          <p:cNvPr id="63490" name="Text Box 3"/>
          <p:cNvSpPr txBox="1">
            <a:spLocks noChangeArrowheads="1"/>
          </p:cNvSpPr>
          <p:nvPr/>
        </p:nvSpPr>
        <p:spPr bwMode="auto">
          <a:xfrm>
            <a:off x="647700" y="728663"/>
            <a:ext cx="8012113" cy="5340350"/>
          </a:xfrm>
          <a:prstGeom prst="rect">
            <a:avLst/>
          </a:prstGeom>
          <a:noFill/>
          <a:ln w="9525" algn="ctr">
            <a:noFill/>
            <a:miter lim="800000"/>
            <a:headEnd/>
            <a:tailEnd type="none" w="med" len="lg"/>
          </a:ln>
        </p:spPr>
        <p:txBody>
          <a:bodyPr/>
          <a:lstStyle/>
          <a:p>
            <a:pPr marL="231775" indent="-231775">
              <a:buClr>
                <a:schemeClr val="tx1"/>
              </a:buClr>
              <a:buFont typeface="Arial" charset="0"/>
              <a:buChar char="•"/>
            </a:pPr>
            <a:r>
              <a:rPr lang="en-US" sz="2400"/>
              <a:t>When compared with perfect competition, prices are higher under monopolistic competition.  </a:t>
            </a:r>
          </a:p>
          <a:p>
            <a:pPr marL="742950" lvl="1" indent="-285750">
              <a:buClr>
                <a:schemeClr val="tx1"/>
              </a:buClr>
              <a:buFont typeface="Arial" charset="0"/>
              <a:buChar char="•"/>
            </a:pPr>
            <a:r>
              <a:rPr lang="en-US" sz="2400"/>
              <a:t>Firms produce less than the output at which average total cost is minimized.</a:t>
            </a:r>
          </a:p>
          <a:p>
            <a:pPr marL="742950" lvl="1" indent="-285750">
              <a:buClr>
                <a:schemeClr val="tx1"/>
              </a:buClr>
              <a:buFont typeface="Arial" charset="0"/>
              <a:buChar char="•"/>
            </a:pPr>
            <a:r>
              <a:rPr lang="en-US" sz="2400"/>
              <a:t>Firms charge a price that is higher than the marginal cost of production.</a:t>
            </a:r>
          </a:p>
          <a:p>
            <a:pPr marL="231775" indent="-231775">
              <a:buClr>
                <a:schemeClr val="tx1"/>
              </a:buClr>
              <a:buFont typeface="Arial" charset="0"/>
              <a:buChar char="•"/>
            </a:pPr>
            <a:endParaRPr lang="en-US" sz="2400"/>
          </a:p>
          <a:p>
            <a:pPr marL="231775" indent="-231775">
              <a:buClr>
                <a:schemeClr val="tx1"/>
              </a:buClr>
              <a:buFont typeface="Arial" charset="0"/>
              <a:buChar char="•"/>
            </a:pPr>
            <a:r>
              <a:rPr lang="en-US" sz="2400"/>
              <a:t>The higher price consumers pay because of excess capacity is offset to some extent by the value they receive from greater diversity.</a:t>
            </a:r>
          </a:p>
          <a:p>
            <a:pPr marL="742950" lvl="1" indent="-285750">
              <a:buClr>
                <a:schemeClr val="tx1"/>
              </a:buClr>
              <a:buFont typeface="Arial" charset="0"/>
              <a:buChar char="•"/>
            </a:pPr>
            <a:r>
              <a:rPr lang="en-US" sz="2400"/>
              <a:t>It is not clear that there is</a:t>
            </a:r>
            <a:br>
              <a:rPr lang="en-US" sz="2400"/>
            </a:br>
            <a:r>
              <a:rPr lang="en-US" sz="2400"/>
              <a:t>any inefficiency because</a:t>
            </a:r>
            <a:br>
              <a:rPr lang="en-US" sz="2400"/>
            </a:br>
            <a:r>
              <a:rPr lang="en-US" sz="2400"/>
              <a:t>of excess capacity.</a:t>
            </a:r>
          </a:p>
          <a:p>
            <a:pPr marL="742950" lvl="1" indent="-285750">
              <a:buClr>
                <a:schemeClr val="tx1"/>
              </a:buClr>
              <a:buFont typeface="Arial" charset="0"/>
              <a:buChar char="•"/>
            </a:pPr>
            <a:endParaRPr lang="en-US" sz="2400"/>
          </a:p>
          <a:p>
            <a:pPr marL="231775" indent="-231775">
              <a:buClr>
                <a:schemeClr val="tx1"/>
              </a:buClr>
              <a:buFont typeface="Arial" charset="0"/>
              <a:buChar char="•"/>
            </a:pPr>
            <a:endParaRPr lang="en-US" sz="2400"/>
          </a:p>
        </p:txBody>
      </p:sp>
      <p:sp>
        <p:nvSpPr>
          <p:cNvPr id="2" name="Text Box 10"/>
          <p:cNvSpPr txBox="1">
            <a:spLocks noChangeArrowheads="1"/>
          </p:cNvSpPr>
          <p:nvPr/>
        </p:nvSpPr>
        <p:spPr bwMode="auto">
          <a:xfrm>
            <a:off x="576263" y="5734050"/>
            <a:ext cx="5075237" cy="1008063"/>
          </a:xfrm>
          <a:prstGeom prst="rect">
            <a:avLst/>
          </a:prstGeom>
          <a:solidFill>
            <a:schemeClr val="bg2"/>
          </a:solidFill>
          <a:ln w="12700" algn="ctr">
            <a:noFill/>
            <a:miter lim="800000"/>
            <a:headEnd/>
            <a:tailEnd type="none" w="sm" len="lg"/>
          </a:ln>
        </p:spPr>
        <p:txBody>
          <a:bodyPr anchor="ctr"/>
          <a:lstStyle/>
          <a:p>
            <a:pPr marL="1588" indent="-1588">
              <a:spcBef>
                <a:spcPct val="20000"/>
              </a:spcBef>
            </a:pPr>
            <a:r>
              <a:rPr lang="en-US" sz="2000">
                <a:solidFill>
                  <a:srgbClr val="0033CC"/>
                </a:solidFill>
              </a:rPr>
              <a:t>Would you prefer to live where there is </a:t>
            </a:r>
            <a:r>
              <a:rPr lang="en-US" sz="2000" i="1">
                <a:solidFill>
                  <a:srgbClr val="0033CC"/>
                </a:solidFill>
              </a:rPr>
              <a:t>only one </a:t>
            </a:r>
            <a:r>
              <a:rPr lang="en-US" sz="2000">
                <a:solidFill>
                  <a:srgbClr val="0033CC"/>
                </a:solidFill>
              </a:rPr>
              <a:t>(low priced) restaurant, or where there are a few restaurants (but with higher prices)?</a:t>
            </a:r>
          </a:p>
        </p:txBody>
      </p:sp>
      <p:pic>
        <p:nvPicPr>
          <p:cNvPr id="63492" name="Picture 6"/>
          <p:cNvPicPr>
            <a:picLocks noChangeAspect="1" noChangeArrowheads="1"/>
          </p:cNvPicPr>
          <p:nvPr/>
        </p:nvPicPr>
        <p:blipFill>
          <a:blip r:embed="rId3"/>
          <a:srcRect/>
          <a:stretch>
            <a:fillRect/>
          </a:stretch>
        </p:blipFill>
        <p:spPr bwMode="auto">
          <a:xfrm>
            <a:off x="5651500" y="4292600"/>
            <a:ext cx="3048000" cy="22860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p:cNvSpPr>
            <a:spLocks noGrp="1" noRot="1" noChangeArrowheads="1"/>
          </p:cNvSpPr>
          <p:nvPr>
            <p:ph type="title" idx="4294967295"/>
          </p:nvPr>
        </p:nvSpPr>
        <p:spPr>
          <a:xfrm>
            <a:off x="827088" y="169863"/>
            <a:ext cx="8083550" cy="381000"/>
          </a:xfrm>
        </p:spPr>
        <p:txBody>
          <a:bodyPr/>
          <a:lstStyle/>
          <a:p>
            <a:pPr>
              <a:defRPr/>
            </a:pPr>
            <a:r>
              <a:rPr lang="en-US" dirty="0" smtClean="0"/>
              <a:t>Controversies About Product Differentiation</a:t>
            </a:r>
            <a:endParaRPr lang="en-US" b="0" dirty="0" smtClean="0"/>
          </a:p>
        </p:txBody>
      </p:sp>
      <p:sp>
        <p:nvSpPr>
          <p:cNvPr id="65538" name="Text Box 3"/>
          <p:cNvSpPr txBox="1">
            <a:spLocks noChangeArrowheads="1"/>
          </p:cNvSpPr>
          <p:nvPr/>
        </p:nvSpPr>
        <p:spPr bwMode="auto">
          <a:xfrm>
            <a:off x="971550" y="912813"/>
            <a:ext cx="7939088" cy="1076325"/>
          </a:xfrm>
          <a:prstGeom prst="rect">
            <a:avLst/>
          </a:prstGeom>
          <a:noFill/>
          <a:ln w="9525" algn="ctr">
            <a:noFill/>
            <a:miter lim="800000"/>
            <a:headEnd/>
            <a:tailEnd type="none" w="med" len="lg"/>
          </a:ln>
        </p:spPr>
        <p:txBody>
          <a:bodyPr/>
          <a:lstStyle/>
          <a:p>
            <a:pPr marL="1588" indent="-1588"/>
            <a:r>
              <a:rPr lang="en-US" sz="2400"/>
              <a:t>No discussion of product differentiation is complete discussing the two related issues of </a:t>
            </a:r>
            <a:r>
              <a:rPr lang="en-US" sz="2400" i="1"/>
              <a:t>advertising </a:t>
            </a:r>
            <a:r>
              <a:rPr lang="en-US" sz="2400"/>
              <a:t>and </a:t>
            </a:r>
            <a:r>
              <a:rPr lang="en-US" sz="2400" i="1"/>
              <a:t>brand names</a:t>
            </a:r>
            <a:r>
              <a:rPr lang="en-US" sz="2400"/>
              <a:t>.</a:t>
            </a:r>
            <a:endParaRPr lang="en-US" sz="2400">
              <a:latin typeface="Tahoma" pitchFamily="34" charset="0"/>
            </a:endParaRPr>
          </a:p>
        </p:txBody>
      </p:sp>
      <p:pic>
        <p:nvPicPr>
          <p:cNvPr id="65539" name="Picture 7"/>
          <p:cNvPicPr>
            <a:picLocks noChangeAspect="1" noChangeArrowheads="1"/>
          </p:cNvPicPr>
          <p:nvPr/>
        </p:nvPicPr>
        <p:blipFill>
          <a:blip r:embed="rId3"/>
          <a:srcRect/>
          <a:stretch>
            <a:fillRect/>
          </a:stretch>
        </p:blipFill>
        <p:spPr bwMode="auto">
          <a:xfrm>
            <a:off x="971550" y="3033713"/>
            <a:ext cx="2857500" cy="3563937"/>
          </a:xfrm>
          <a:prstGeom prst="rect">
            <a:avLst/>
          </a:prstGeom>
          <a:noFill/>
          <a:ln w="9525">
            <a:noFill/>
            <a:miter lim="800000"/>
            <a:headEnd/>
            <a:tailEnd/>
          </a:ln>
        </p:spPr>
      </p:pic>
      <p:sp>
        <p:nvSpPr>
          <p:cNvPr id="2" name="Text Box 10"/>
          <p:cNvSpPr txBox="1">
            <a:spLocks noChangeArrowheads="1"/>
          </p:cNvSpPr>
          <p:nvPr/>
        </p:nvSpPr>
        <p:spPr bwMode="auto">
          <a:xfrm>
            <a:off x="3743325" y="5337175"/>
            <a:ext cx="4897438" cy="1295400"/>
          </a:xfrm>
          <a:prstGeom prst="rect">
            <a:avLst/>
          </a:prstGeom>
          <a:solidFill>
            <a:schemeClr val="bg2"/>
          </a:solidFill>
          <a:ln w="12700" algn="ctr">
            <a:noFill/>
            <a:miter lim="800000"/>
            <a:headEnd/>
            <a:tailEnd type="none" w="sm" len="lg"/>
          </a:ln>
        </p:spPr>
        <p:txBody>
          <a:bodyPr anchor="ctr"/>
          <a:lstStyle/>
          <a:p>
            <a:pPr marL="1588" indent="-1588">
              <a:spcBef>
                <a:spcPct val="20000"/>
              </a:spcBef>
            </a:pPr>
            <a:r>
              <a:rPr lang="en-US" sz="2000">
                <a:solidFill>
                  <a:srgbClr val="0033CC"/>
                </a:solidFill>
              </a:rPr>
              <a:t>Does it make a product better if a celebrity uses it? </a:t>
            </a:r>
          </a:p>
          <a:p>
            <a:pPr marL="1588" indent="-1588">
              <a:spcBef>
                <a:spcPct val="20000"/>
              </a:spcBef>
            </a:pPr>
            <a:r>
              <a:rPr lang="en-US" sz="2000">
                <a:solidFill>
                  <a:srgbClr val="0033CC"/>
                </a:solidFill>
              </a:rPr>
              <a:t>Why does it matter whether or not your favorite celebrity wears a brand of watch?</a:t>
            </a:r>
          </a:p>
        </p:txBody>
      </p:sp>
      <p:pic>
        <p:nvPicPr>
          <p:cNvPr id="65541" name="Picture 10"/>
          <p:cNvPicPr>
            <a:picLocks noChangeAspect="1" noChangeArrowheads="1"/>
          </p:cNvPicPr>
          <p:nvPr/>
        </p:nvPicPr>
        <p:blipFill>
          <a:blip r:embed="rId4"/>
          <a:srcRect/>
          <a:stretch>
            <a:fillRect/>
          </a:stretch>
        </p:blipFill>
        <p:spPr bwMode="auto">
          <a:xfrm>
            <a:off x="4751388" y="2024063"/>
            <a:ext cx="3490912" cy="2439987"/>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p:cNvSpPr>
            <a:spLocks noGrp="1"/>
          </p:cNvSpPr>
          <p:nvPr>
            <p:ph type="title" idx="4294967295"/>
          </p:nvPr>
        </p:nvSpPr>
        <p:spPr bwMode="auto">
          <a:xfrm>
            <a:off x="1071563" y="74613"/>
            <a:ext cx="8078787" cy="538162"/>
          </a:xfrm>
        </p:spPr>
        <p:txBody>
          <a:bodyPr anchor="t"/>
          <a:lstStyle/>
          <a:p>
            <a:pPr>
              <a:defRPr/>
            </a:pPr>
            <a:r>
              <a:rPr lang="en-US" smtClean="0">
                <a:effectLst>
                  <a:outerShdw blurRad="38100" dist="38100" dir="2700000" algn="tl">
                    <a:srgbClr val="C0C0C0"/>
                  </a:outerShdw>
                </a:effectLst>
              </a:rPr>
              <a:t>The Role of Advertising</a:t>
            </a:r>
          </a:p>
        </p:txBody>
      </p:sp>
      <p:sp>
        <p:nvSpPr>
          <p:cNvPr id="67586" name="Content Placeholder 2"/>
          <p:cNvSpPr>
            <a:spLocks noGrp="1"/>
          </p:cNvSpPr>
          <p:nvPr>
            <p:ph idx="4294967295"/>
          </p:nvPr>
        </p:nvSpPr>
        <p:spPr>
          <a:xfrm>
            <a:off x="755650" y="836613"/>
            <a:ext cx="8280400" cy="5688012"/>
          </a:xfrm>
        </p:spPr>
        <p:txBody>
          <a:bodyPr/>
          <a:lstStyle/>
          <a:p>
            <a:pPr>
              <a:buFont typeface="Arial" charset="0"/>
              <a:buNone/>
            </a:pPr>
            <a:r>
              <a:rPr lang="en-US" smtClean="0">
                <a:solidFill>
                  <a:srgbClr val="C00000"/>
                </a:solidFill>
              </a:rPr>
              <a:t>Advertising spending</a:t>
            </a:r>
          </a:p>
          <a:p>
            <a:r>
              <a:rPr lang="en-US" smtClean="0"/>
              <a:t>Highly differentiated consumer goods: 10-20% of revenue</a:t>
            </a:r>
          </a:p>
          <a:p>
            <a:r>
              <a:rPr lang="en-US" smtClean="0"/>
              <a:t>Industrial products: Little advertising</a:t>
            </a:r>
          </a:p>
          <a:p>
            <a:r>
              <a:rPr lang="en-US" smtClean="0"/>
              <a:t>Homogenous products: No advertising</a:t>
            </a:r>
          </a:p>
          <a:p>
            <a:pPr>
              <a:buFont typeface="Arial" charset="0"/>
              <a:buNone/>
            </a:pPr>
            <a:endParaRPr lang="en-US" smtClean="0">
              <a:solidFill>
                <a:srgbClr val="C00000"/>
              </a:solidFill>
            </a:endParaRPr>
          </a:p>
          <a:p>
            <a:pPr>
              <a:buFont typeface="Arial" charset="0"/>
              <a:buNone/>
            </a:pPr>
            <a:r>
              <a:rPr lang="en-US" smtClean="0">
                <a:solidFill>
                  <a:srgbClr val="C00000"/>
                </a:solidFill>
              </a:rPr>
              <a:t>Incentive to advertise</a:t>
            </a:r>
          </a:p>
          <a:p>
            <a:r>
              <a:rPr lang="en-US" smtClean="0"/>
              <a:t>Firms in perfectly competitive markets do not advertise</a:t>
            </a:r>
          </a:p>
          <a:p>
            <a:pPr lvl="1"/>
            <a:r>
              <a:rPr lang="en-US" smtClean="0"/>
              <a:t> Can always sell production at market price</a:t>
            </a:r>
          </a:p>
          <a:p>
            <a:r>
              <a:rPr lang="en-US" smtClean="0"/>
              <a:t>Firms advertise when they sell differentiated products and charge prices above marginal cost</a:t>
            </a:r>
          </a:p>
          <a:p>
            <a:pPr lvl="1"/>
            <a:r>
              <a:rPr lang="en-US" smtClean="0"/>
              <a:t>To attract more buyers</a:t>
            </a:r>
          </a:p>
          <a:p>
            <a:pPr lvl="1"/>
            <a:r>
              <a:rPr lang="en-US" smtClean="0"/>
              <a:t>To reduce price elasticity of demand</a:t>
            </a:r>
          </a:p>
          <a:p>
            <a:pPr lvl="2"/>
            <a:r>
              <a:rPr lang="en-US" smtClean="0"/>
              <a:t> Allows a higher price mark-up</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p:cNvSpPr>
            <a:spLocks noGrp="1"/>
          </p:cNvSpPr>
          <p:nvPr>
            <p:ph type="title" idx="4294967295"/>
          </p:nvPr>
        </p:nvSpPr>
        <p:spPr bwMode="auto">
          <a:xfrm>
            <a:off x="1071563" y="74613"/>
            <a:ext cx="8078787" cy="538162"/>
          </a:xfrm>
        </p:spPr>
        <p:txBody>
          <a:bodyPr anchor="t"/>
          <a:lstStyle/>
          <a:p>
            <a:pPr>
              <a:defRPr/>
            </a:pPr>
            <a:r>
              <a:rPr lang="en-US" smtClean="0">
                <a:effectLst>
                  <a:outerShdw blurRad="38100" dist="38100" dir="2700000" algn="tl">
                    <a:srgbClr val="C0C0C0"/>
                  </a:outerShdw>
                </a:effectLst>
              </a:rPr>
              <a:t>The Role of Advertising</a:t>
            </a:r>
          </a:p>
        </p:txBody>
      </p:sp>
      <p:sp>
        <p:nvSpPr>
          <p:cNvPr id="68610" name="Content Placeholder 2"/>
          <p:cNvSpPr>
            <a:spLocks noGrp="1"/>
          </p:cNvSpPr>
          <p:nvPr>
            <p:ph idx="4294967295"/>
          </p:nvPr>
        </p:nvSpPr>
        <p:spPr>
          <a:xfrm>
            <a:off x="863600" y="765175"/>
            <a:ext cx="8075613" cy="5635625"/>
          </a:xfrm>
        </p:spPr>
        <p:txBody>
          <a:bodyPr/>
          <a:lstStyle/>
          <a:p>
            <a:pPr>
              <a:buFont typeface="Arial" charset="0"/>
              <a:buNone/>
            </a:pPr>
            <a:r>
              <a:rPr lang="en-US" smtClean="0">
                <a:solidFill>
                  <a:srgbClr val="C00000"/>
                </a:solidFill>
              </a:rPr>
              <a:t>Debate over advertising</a:t>
            </a:r>
          </a:p>
          <a:p>
            <a:r>
              <a:rPr lang="en-US" smtClean="0"/>
              <a:t>Is it a waste of valuable resources?</a:t>
            </a:r>
          </a:p>
          <a:p>
            <a:r>
              <a:rPr lang="en-US" smtClean="0"/>
              <a:t>Does it convey information to the consumer?</a:t>
            </a:r>
          </a:p>
          <a:p>
            <a:pPr lvl="1"/>
            <a:endParaRPr lang="en-US" smtClean="0"/>
          </a:p>
          <a:p>
            <a:pPr>
              <a:buFont typeface="Arial" charset="0"/>
              <a:buNone/>
            </a:pPr>
            <a:r>
              <a:rPr lang="en-US" smtClean="0">
                <a:solidFill>
                  <a:srgbClr val="C00000"/>
                </a:solidFill>
              </a:rPr>
              <a:t>Critique of advertising</a:t>
            </a:r>
          </a:p>
          <a:p>
            <a:r>
              <a:rPr lang="en-US" smtClean="0"/>
              <a:t>Firms advertise to manipulate people’s tastes</a:t>
            </a:r>
          </a:p>
          <a:p>
            <a:pPr lvl="1"/>
            <a:r>
              <a:rPr lang="en-US" smtClean="0"/>
              <a:t> Psychological rather than informational</a:t>
            </a:r>
          </a:p>
          <a:p>
            <a:pPr lvl="1"/>
            <a:r>
              <a:rPr lang="en-US" smtClean="0"/>
              <a:t> Creates a desire that otherwise might not exist</a:t>
            </a:r>
          </a:p>
          <a:p>
            <a:r>
              <a:rPr lang="en-US" smtClean="0"/>
              <a:t>Increase perception of product differentiation</a:t>
            </a:r>
          </a:p>
          <a:p>
            <a:pPr lvl="1"/>
            <a:r>
              <a:rPr lang="en-US" smtClean="0"/>
              <a:t> Fosters brand loyalty</a:t>
            </a:r>
          </a:p>
          <a:p>
            <a:pPr lvl="1"/>
            <a:r>
              <a:rPr lang="en-US" smtClean="0"/>
              <a:t>Impedes competition</a:t>
            </a:r>
          </a:p>
          <a:p>
            <a:pPr lvl="1"/>
            <a:r>
              <a:rPr lang="en-US" smtClean="0"/>
              <a:t>Makes buyers less concerned with price differences among similar goods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p:cNvSpPr>
            <a:spLocks noGrp="1"/>
          </p:cNvSpPr>
          <p:nvPr>
            <p:ph type="title" idx="4294967295"/>
          </p:nvPr>
        </p:nvSpPr>
        <p:spPr bwMode="auto">
          <a:xfrm>
            <a:off x="1071563" y="74613"/>
            <a:ext cx="8078787" cy="538162"/>
          </a:xfrm>
          <a:noFill/>
        </p:spPr>
        <p:txBody>
          <a:bodyPr anchor="t"/>
          <a:lstStyle/>
          <a:p>
            <a:r>
              <a:rPr lang="en-US" smtClean="0">
                <a:effectLst/>
              </a:rPr>
              <a:t>Advertising</a:t>
            </a:r>
          </a:p>
        </p:txBody>
      </p:sp>
      <p:sp>
        <p:nvSpPr>
          <p:cNvPr id="69634" name="Content Placeholder 2"/>
          <p:cNvSpPr>
            <a:spLocks noGrp="1"/>
          </p:cNvSpPr>
          <p:nvPr>
            <p:ph idx="4294967295"/>
          </p:nvPr>
        </p:nvSpPr>
        <p:spPr>
          <a:xfrm>
            <a:off x="755650" y="728663"/>
            <a:ext cx="8208963" cy="5903912"/>
          </a:xfrm>
        </p:spPr>
        <p:txBody>
          <a:bodyPr/>
          <a:lstStyle/>
          <a:p>
            <a:pPr>
              <a:spcAft>
                <a:spcPct val="50000"/>
              </a:spcAft>
              <a:buFont typeface="Arial" charset="0"/>
              <a:buNone/>
            </a:pPr>
            <a:r>
              <a:rPr lang="en-US" b="1" smtClean="0">
                <a:solidFill>
                  <a:srgbClr val="C00000"/>
                </a:solidFill>
              </a:rPr>
              <a:t>Defense of advertising</a:t>
            </a:r>
            <a:endParaRPr lang="en-US" smtClean="0"/>
          </a:p>
          <a:p>
            <a:r>
              <a:rPr lang="en-US" smtClean="0"/>
              <a:t>Advertising is not a waste of resources when it gives consumers useful information about products. </a:t>
            </a:r>
          </a:p>
          <a:p>
            <a:pPr lvl="1"/>
            <a:r>
              <a:rPr lang="en-US" smtClean="0"/>
              <a:t>Customers can make better choices and choose the best product for their needs</a:t>
            </a:r>
          </a:p>
          <a:p>
            <a:pPr lvl="1"/>
            <a:r>
              <a:rPr lang="en-US" smtClean="0"/>
              <a:t>Enhances the ability of markets to allocate resources efficiently</a:t>
            </a:r>
          </a:p>
          <a:p>
            <a:r>
              <a:rPr lang="en-US" smtClean="0"/>
              <a:t>Advertising allows a firm to demonstrate their participation and commitment to a market.</a:t>
            </a:r>
          </a:p>
          <a:p>
            <a:r>
              <a:rPr lang="en-US" smtClean="0"/>
              <a:t>Advertising can foster competition</a:t>
            </a:r>
          </a:p>
          <a:p>
            <a:pPr lvl="1"/>
            <a:r>
              <a:rPr lang="en-US" smtClean="0"/>
              <a:t>Customers are more aware of substitutes and alternatives</a:t>
            </a:r>
          </a:p>
          <a:p>
            <a:pPr lvl="2"/>
            <a:r>
              <a:rPr lang="en-US" smtClean="0"/>
              <a:t>Can take advantage of price differences</a:t>
            </a:r>
          </a:p>
          <a:p>
            <a:pPr lvl="1"/>
            <a:r>
              <a:rPr lang="en-US" smtClean="0"/>
              <a:t>Allows new firms to enter more easily</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idx="4294967295"/>
          </p:nvPr>
        </p:nvSpPr>
        <p:spPr bwMode="auto">
          <a:noFill/>
        </p:spPr>
        <p:txBody>
          <a:bodyPr/>
          <a:lstStyle/>
          <a:p>
            <a:r>
              <a:rPr lang="en-US" smtClean="0">
                <a:effectLst/>
              </a:rPr>
              <a:t>Informative Advertising</a:t>
            </a:r>
          </a:p>
        </p:txBody>
      </p:sp>
      <p:sp>
        <p:nvSpPr>
          <p:cNvPr id="70658" name="Content Placeholder 2"/>
          <p:cNvSpPr>
            <a:spLocks noGrp="1"/>
          </p:cNvSpPr>
          <p:nvPr>
            <p:ph idx="4294967295"/>
          </p:nvPr>
        </p:nvSpPr>
        <p:spPr/>
        <p:txBody>
          <a:bodyPr/>
          <a:lstStyle/>
          <a:p>
            <a:pPr marL="0" indent="0"/>
            <a:r>
              <a:rPr lang="en-US" smtClean="0">
                <a:solidFill>
                  <a:srgbClr val="0070C0"/>
                </a:solidFill>
              </a:rPr>
              <a:t> Advertising to convey information </a:t>
            </a:r>
            <a:r>
              <a:rPr lang="en-US" smtClean="0"/>
              <a:t> </a:t>
            </a:r>
          </a:p>
          <a:p>
            <a:pPr lvl="1"/>
            <a:r>
              <a:rPr lang="en-US" smtClean="0"/>
              <a:t> Price, quality and availability information</a:t>
            </a:r>
          </a:p>
          <a:p>
            <a:pPr marL="0" indent="0"/>
            <a:endParaRPr lang="en-US" smtClean="0"/>
          </a:p>
        </p:txBody>
      </p:sp>
      <p:pic>
        <p:nvPicPr>
          <p:cNvPr id="5123" name="Picture 3"/>
          <p:cNvPicPr>
            <a:picLocks noChangeAspect="1" noChangeArrowheads="1"/>
          </p:cNvPicPr>
          <p:nvPr/>
        </p:nvPicPr>
        <p:blipFill>
          <a:blip r:embed="rId2">
            <a:extLst/>
          </a:blip>
          <a:srcRect/>
          <a:stretch>
            <a:fillRect/>
          </a:stretch>
        </p:blipFill>
        <p:spPr bwMode="auto">
          <a:xfrm>
            <a:off x="1638300" y="2146300"/>
            <a:ext cx="6192168" cy="372427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2"/>
          <p:cNvSpPr>
            <a:spLocks noGrp="1"/>
          </p:cNvSpPr>
          <p:nvPr>
            <p:ph type="title" idx="4294967295"/>
          </p:nvPr>
        </p:nvSpPr>
        <p:spPr bwMode="auto">
          <a:noFill/>
        </p:spPr>
        <p:txBody>
          <a:bodyPr anchor="t"/>
          <a:lstStyle/>
          <a:p>
            <a:r>
              <a:rPr lang="en-US" smtClean="0">
                <a:effectLst/>
              </a:rPr>
              <a:t>Advertising and the price of eyeglasses</a:t>
            </a:r>
          </a:p>
        </p:txBody>
      </p:sp>
      <p:sp>
        <p:nvSpPr>
          <p:cNvPr id="71682" name="Content Placeholder 1"/>
          <p:cNvSpPr>
            <a:spLocks noGrp="1"/>
          </p:cNvSpPr>
          <p:nvPr>
            <p:ph idx="4294967295"/>
          </p:nvPr>
        </p:nvSpPr>
        <p:spPr>
          <a:xfrm>
            <a:off x="792163" y="981075"/>
            <a:ext cx="8123237" cy="5495925"/>
          </a:xfrm>
        </p:spPr>
        <p:txBody>
          <a:bodyPr/>
          <a:lstStyle/>
          <a:p>
            <a:pPr>
              <a:buFont typeface="Arial" charset="0"/>
              <a:buNone/>
            </a:pPr>
            <a:r>
              <a:rPr lang="en-US" sz="2400" smtClean="0"/>
              <a:t>	In 1963, various states in the US started allowing advertising by optometrists:</a:t>
            </a:r>
          </a:p>
          <a:p>
            <a:r>
              <a:rPr lang="en-US" sz="2400" smtClean="0"/>
              <a:t>States that prohibited advertising</a:t>
            </a:r>
          </a:p>
          <a:p>
            <a:pPr lvl="1"/>
            <a:r>
              <a:rPr lang="en-US" smtClean="0"/>
              <a:t>Average price paid for a pair of eyeglasses = $33</a:t>
            </a:r>
          </a:p>
          <a:p>
            <a:r>
              <a:rPr lang="en-US" sz="2400" smtClean="0"/>
              <a:t>States that did not restrict advertising</a:t>
            </a:r>
          </a:p>
          <a:p>
            <a:pPr lvl="1"/>
            <a:r>
              <a:rPr lang="en-US" smtClean="0"/>
              <a:t>Average price = $26</a:t>
            </a:r>
          </a:p>
          <a:p>
            <a:endParaRPr lang="en-US" sz="2000" smtClean="0"/>
          </a:p>
          <a:p>
            <a:r>
              <a:rPr lang="en-US" sz="2400" smtClean="0"/>
              <a:t>The study found that advertising informed consumers of alternatives </a:t>
            </a:r>
          </a:p>
          <a:p>
            <a:pPr lvl="1"/>
            <a:r>
              <a:rPr lang="en-US" smtClean="0"/>
              <a:t>Consumers – easier to find firms with better prices</a:t>
            </a:r>
          </a:p>
          <a:p>
            <a:pPr lvl="1"/>
            <a:r>
              <a:rPr lang="en-US" smtClean="0"/>
              <a:t>Reduced average prices</a:t>
            </a:r>
          </a:p>
          <a:p>
            <a:pPr lvl="1"/>
            <a:r>
              <a:rPr lang="en-US" smtClean="0"/>
              <a:t>Fostered competition </a:t>
            </a:r>
          </a:p>
          <a:p>
            <a:pPr lvl="1"/>
            <a:r>
              <a:rPr lang="en-US" smtClean="0"/>
              <a:t>Firms’ demand became more elastic</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idx="4294967295"/>
          </p:nvPr>
        </p:nvSpPr>
        <p:spPr bwMode="auto">
          <a:xfrm>
            <a:off x="900113" y="74613"/>
            <a:ext cx="8178800" cy="538162"/>
          </a:xfrm>
          <a:noFill/>
        </p:spPr>
        <p:txBody>
          <a:bodyPr anchor="t"/>
          <a:lstStyle/>
          <a:p>
            <a:r>
              <a:rPr lang="en-US" smtClean="0">
                <a:effectLst/>
              </a:rPr>
              <a:t>Brand Names: A Signal of Quality?</a:t>
            </a:r>
          </a:p>
        </p:txBody>
      </p:sp>
      <p:sp>
        <p:nvSpPr>
          <p:cNvPr id="72706" name="Content Placeholder 2"/>
          <p:cNvSpPr>
            <a:spLocks noGrp="1"/>
          </p:cNvSpPr>
          <p:nvPr>
            <p:ph idx="4294967295"/>
          </p:nvPr>
        </p:nvSpPr>
        <p:spPr>
          <a:xfrm>
            <a:off x="647700" y="1016000"/>
            <a:ext cx="8137525" cy="5383213"/>
          </a:xfrm>
        </p:spPr>
        <p:txBody>
          <a:bodyPr/>
          <a:lstStyle/>
          <a:p>
            <a:r>
              <a:rPr lang="en-US" smtClean="0">
                <a:solidFill>
                  <a:srgbClr val="C00000"/>
                </a:solidFill>
              </a:rPr>
              <a:t>Advertising that creates and promotes a brand </a:t>
            </a:r>
          </a:p>
          <a:p>
            <a:pPr lvl="1"/>
            <a:r>
              <a:rPr lang="en-US" smtClean="0"/>
              <a:t>Has little apparent information</a:t>
            </a:r>
          </a:p>
          <a:p>
            <a:pPr lvl="1"/>
            <a:r>
              <a:rPr lang="en-US" smtClean="0"/>
              <a:t>Is frequently considered wasteful</a:t>
            </a:r>
          </a:p>
          <a:p>
            <a:pPr lvl="1"/>
            <a:endParaRPr lang="en-US" smtClean="0"/>
          </a:p>
          <a:p>
            <a:r>
              <a:rPr lang="en-US" smtClean="0"/>
              <a:t>The information offered – a signal about quality</a:t>
            </a:r>
          </a:p>
          <a:p>
            <a:pPr lvl="1"/>
            <a:r>
              <a:rPr lang="en-US" smtClean="0"/>
              <a:t>Willingness to spend money on brand</a:t>
            </a:r>
          </a:p>
          <a:p>
            <a:pPr lvl="2"/>
            <a:r>
              <a:rPr lang="en-US" smtClean="0"/>
              <a:t> Signals the quality of the product</a:t>
            </a:r>
          </a:p>
          <a:p>
            <a:pPr lvl="1"/>
            <a:r>
              <a:rPr lang="en-US" smtClean="0"/>
              <a:t>Content of advertising is irrelevant</a:t>
            </a:r>
          </a:p>
        </p:txBody>
      </p:sp>
      <p:pic>
        <p:nvPicPr>
          <p:cNvPr id="72707" name="Picture 9"/>
          <p:cNvPicPr>
            <a:picLocks noChangeAspect="1" noChangeArrowheads="1"/>
          </p:cNvPicPr>
          <p:nvPr/>
        </p:nvPicPr>
        <p:blipFill>
          <a:blip r:embed="rId2"/>
          <a:srcRect/>
          <a:stretch>
            <a:fillRect/>
          </a:stretch>
        </p:blipFill>
        <p:spPr bwMode="auto">
          <a:xfrm>
            <a:off x="6551613" y="1520825"/>
            <a:ext cx="2133600" cy="1096963"/>
          </a:xfrm>
          <a:prstGeom prst="rect">
            <a:avLst/>
          </a:prstGeom>
          <a:noFill/>
          <a:ln w="9525">
            <a:noFill/>
            <a:miter lim="800000"/>
            <a:headEnd/>
            <a:tailEnd/>
          </a:ln>
        </p:spPr>
      </p:pic>
      <p:pic>
        <p:nvPicPr>
          <p:cNvPr id="72708" name="Picture 11"/>
          <p:cNvPicPr>
            <a:picLocks noChangeAspect="1" noChangeArrowheads="1"/>
          </p:cNvPicPr>
          <p:nvPr/>
        </p:nvPicPr>
        <p:blipFill>
          <a:blip r:embed="rId3"/>
          <a:srcRect/>
          <a:stretch>
            <a:fillRect/>
          </a:stretch>
        </p:blipFill>
        <p:spPr bwMode="auto">
          <a:xfrm>
            <a:off x="1187450" y="4868863"/>
            <a:ext cx="4610100" cy="1417637"/>
          </a:xfrm>
          <a:prstGeom prst="rect">
            <a:avLst/>
          </a:prstGeom>
          <a:noFill/>
          <a:ln w="9525">
            <a:noFill/>
            <a:miter lim="800000"/>
            <a:headEnd/>
            <a:tailEnd/>
          </a:ln>
        </p:spPr>
      </p:pic>
      <p:pic>
        <p:nvPicPr>
          <p:cNvPr id="72709" name="Picture 12"/>
          <p:cNvPicPr>
            <a:picLocks noChangeAspect="1" noChangeArrowheads="1"/>
          </p:cNvPicPr>
          <p:nvPr/>
        </p:nvPicPr>
        <p:blipFill>
          <a:blip r:embed="rId4"/>
          <a:srcRect/>
          <a:stretch>
            <a:fillRect/>
          </a:stretch>
        </p:blipFill>
        <p:spPr bwMode="auto">
          <a:xfrm>
            <a:off x="6599238" y="3467100"/>
            <a:ext cx="2112962" cy="27701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stCondLst>
                                    <p:cond delay="0"/>
                                  </p:stCondLst>
                                  <p:childTnLst>
                                    <p:set>
                                      <p:cBhvr>
                                        <p:cTn id="6" dur="1" fill="hold">
                                          <p:stCondLst>
                                            <p:cond delay="0"/>
                                          </p:stCondLst>
                                        </p:cTn>
                                        <p:tgtEl>
                                          <p:spTgt spid="72707"/>
                                        </p:tgtEl>
                                        <p:attrNameLst>
                                          <p:attrName>style.visibility</p:attrName>
                                        </p:attrNameLst>
                                      </p:cBhvr>
                                      <p:to>
                                        <p:strVal val="visible"/>
                                      </p:to>
                                    </p:set>
                                    <p:anim calcmode="lin" valueType="num">
                                      <p:cBhvr>
                                        <p:cTn id="7" dur="500" fill="hold"/>
                                        <p:tgtEl>
                                          <p:spTgt spid="72707"/>
                                        </p:tgtEl>
                                        <p:attrNameLst>
                                          <p:attrName>ppt_x</p:attrName>
                                        </p:attrNameLst>
                                      </p:cBhvr>
                                      <p:tavLst>
                                        <p:tav tm="0">
                                          <p:val>
                                            <p:strVal val="#ppt_x-.2"/>
                                          </p:val>
                                        </p:tav>
                                        <p:tav tm="100000">
                                          <p:val>
                                            <p:strVal val="#ppt_x"/>
                                          </p:val>
                                        </p:tav>
                                      </p:tavLst>
                                    </p:anim>
                                    <p:anim calcmode="lin" valueType="num">
                                      <p:cBhvr>
                                        <p:cTn id="8" dur="500" fill="hold"/>
                                        <p:tgtEl>
                                          <p:spTgt spid="72707"/>
                                        </p:tgtEl>
                                        <p:attrNameLst>
                                          <p:attrName>ppt_y</p:attrName>
                                        </p:attrNameLst>
                                      </p:cBhvr>
                                      <p:tavLst>
                                        <p:tav tm="0">
                                          <p:val>
                                            <p:strVal val="#ppt_y"/>
                                          </p:val>
                                        </p:tav>
                                        <p:tav tm="100000">
                                          <p:val>
                                            <p:strVal val="#ppt_y"/>
                                          </p:val>
                                        </p:tav>
                                      </p:tavLst>
                                    </p:anim>
                                    <p:animEffect transition="in" filter="wipe(right)" prLst="gradientSize: 0.1">
                                      <p:cBhvr>
                                        <p:cTn id="9" dur="500"/>
                                        <p:tgtEl>
                                          <p:spTgt spid="72707"/>
                                        </p:tgtEl>
                                      </p:cBhvr>
                                    </p:animEffect>
                                  </p:childTnLst>
                                </p:cTn>
                              </p:par>
                              <p:par>
                                <p:cTn id="10" presetID="22" presetClass="entr" presetSubtype="1" fill="hold" nodeType="withEffect">
                                  <p:stCondLst>
                                    <p:cond delay="0"/>
                                  </p:stCondLst>
                                  <p:childTnLst>
                                    <p:set>
                                      <p:cBhvr>
                                        <p:cTn id="11" dur="1" fill="hold">
                                          <p:stCondLst>
                                            <p:cond delay="0"/>
                                          </p:stCondLst>
                                        </p:cTn>
                                        <p:tgtEl>
                                          <p:spTgt spid="72709"/>
                                        </p:tgtEl>
                                        <p:attrNameLst>
                                          <p:attrName>style.visibility</p:attrName>
                                        </p:attrNameLst>
                                      </p:cBhvr>
                                      <p:to>
                                        <p:strVal val="visible"/>
                                      </p:to>
                                    </p:set>
                                    <p:animEffect transition="in" filter="wipe(up)">
                                      <p:cBhvr>
                                        <p:cTn id="12" dur="500"/>
                                        <p:tgtEl>
                                          <p:spTgt spid="72709"/>
                                        </p:tgtEl>
                                      </p:cBhvr>
                                    </p:animEffect>
                                  </p:childTnLst>
                                </p:cTn>
                              </p:par>
                              <p:par>
                                <p:cTn id="13" presetID="29" presetClass="entr" presetSubtype="0" fill="hold" nodeType="withEffect">
                                  <p:stCondLst>
                                    <p:cond delay="0"/>
                                  </p:stCondLst>
                                  <p:childTnLst>
                                    <p:set>
                                      <p:cBhvr>
                                        <p:cTn id="14" dur="1" fill="hold">
                                          <p:stCondLst>
                                            <p:cond delay="0"/>
                                          </p:stCondLst>
                                        </p:cTn>
                                        <p:tgtEl>
                                          <p:spTgt spid="72708"/>
                                        </p:tgtEl>
                                        <p:attrNameLst>
                                          <p:attrName>style.visibility</p:attrName>
                                        </p:attrNameLst>
                                      </p:cBhvr>
                                      <p:to>
                                        <p:strVal val="visible"/>
                                      </p:to>
                                    </p:set>
                                    <p:anim calcmode="lin" valueType="num">
                                      <p:cBhvr>
                                        <p:cTn id="15" dur="1000" fill="hold"/>
                                        <p:tgtEl>
                                          <p:spTgt spid="72708"/>
                                        </p:tgtEl>
                                        <p:attrNameLst>
                                          <p:attrName>ppt_x</p:attrName>
                                        </p:attrNameLst>
                                      </p:cBhvr>
                                      <p:tavLst>
                                        <p:tav tm="0">
                                          <p:val>
                                            <p:strVal val="#ppt_x-.2"/>
                                          </p:val>
                                        </p:tav>
                                        <p:tav tm="100000">
                                          <p:val>
                                            <p:strVal val="#ppt_x"/>
                                          </p:val>
                                        </p:tav>
                                      </p:tavLst>
                                    </p:anim>
                                    <p:anim calcmode="lin" valueType="num">
                                      <p:cBhvr>
                                        <p:cTn id="16" dur="1000" fill="hold"/>
                                        <p:tgtEl>
                                          <p:spTgt spid="72708"/>
                                        </p:tgtEl>
                                        <p:attrNameLst>
                                          <p:attrName>ppt_y</p:attrName>
                                        </p:attrNameLst>
                                      </p:cBhvr>
                                      <p:tavLst>
                                        <p:tav tm="0">
                                          <p:val>
                                            <p:strVal val="#ppt_y"/>
                                          </p:val>
                                        </p:tav>
                                        <p:tav tm="100000">
                                          <p:val>
                                            <p:strVal val="#ppt_y"/>
                                          </p:val>
                                        </p:tav>
                                      </p:tavLst>
                                    </p:anim>
                                    <p:animEffect transition="in" filter="wipe(right)" prLst="gradientSize: 0.1">
                                      <p:cBhvr>
                                        <p:cTn id="17" dur="1000"/>
                                        <p:tgtEl>
                                          <p:spTgt spid="72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p:cNvSpPr>
            <a:spLocks noGrp="1"/>
          </p:cNvSpPr>
          <p:nvPr>
            <p:ph type="title" idx="4294967295"/>
          </p:nvPr>
        </p:nvSpPr>
        <p:spPr bwMode="auto">
          <a:xfrm>
            <a:off x="1071563" y="74613"/>
            <a:ext cx="8078787" cy="538162"/>
          </a:xfrm>
          <a:noFill/>
        </p:spPr>
        <p:txBody>
          <a:bodyPr anchor="t"/>
          <a:lstStyle/>
          <a:p>
            <a:r>
              <a:rPr lang="en-US" smtClean="0">
                <a:effectLst/>
              </a:rPr>
              <a:t>Pros and Cons of Brand Names</a:t>
            </a:r>
          </a:p>
        </p:txBody>
      </p:sp>
      <p:sp>
        <p:nvSpPr>
          <p:cNvPr id="73730" name="Content Placeholder 2"/>
          <p:cNvSpPr>
            <a:spLocks noGrp="1"/>
          </p:cNvSpPr>
          <p:nvPr>
            <p:ph idx="4294967295"/>
          </p:nvPr>
        </p:nvSpPr>
        <p:spPr>
          <a:xfrm>
            <a:off x="611188" y="620713"/>
            <a:ext cx="8424862" cy="6084887"/>
          </a:xfrm>
        </p:spPr>
        <p:txBody>
          <a:bodyPr/>
          <a:lstStyle/>
          <a:p>
            <a:pPr>
              <a:buFont typeface="Arial" charset="0"/>
              <a:buNone/>
            </a:pPr>
            <a:r>
              <a:rPr lang="en-US" b="1" smtClean="0">
                <a:solidFill>
                  <a:schemeClr val="tx2"/>
                </a:solidFill>
              </a:rPr>
              <a:t>Brand names</a:t>
            </a:r>
          </a:p>
          <a:p>
            <a:r>
              <a:rPr lang="en-US" smtClean="0"/>
              <a:t>Firms spend more on advertising and charge higher prices than generic (unbranded) substitutes</a:t>
            </a:r>
          </a:p>
          <a:p>
            <a:r>
              <a:rPr lang="en-US" smtClean="0">
                <a:solidFill>
                  <a:srgbClr val="800000"/>
                </a:solidFill>
              </a:rPr>
              <a:t>Critics of brand names</a:t>
            </a:r>
          </a:p>
          <a:p>
            <a:pPr lvl="1"/>
            <a:r>
              <a:rPr lang="en-US" smtClean="0"/>
              <a:t>Creates product differentiation for products that are not actually differentiated</a:t>
            </a:r>
          </a:p>
          <a:p>
            <a:pPr lvl="1"/>
            <a:r>
              <a:rPr lang="en-US" smtClean="0"/>
              <a:t>Consumers are irrational: willing</a:t>
            </a:r>
            <a:br>
              <a:rPr lang="en-US" smtClean="0"/>
            </a:br>
            <a:r>
              <a:rPr lang="en-US" smtClean="0"/>
              <a:t>to pay more for brand names and </a:t>
            </a:r>
            <a:br>
              <a:rPr lang="en-US" smtClean="0"/>
            </a:br>
            <a:r>
              <a:rPr lang="en-US" smtClean="0"/>
              <a:t>celebrity endorsements</a:t>
            </a:r>
          </a:p>
          <a:p>
            <a:r>
              <a:rPr lang="en-US" smtClean="0">
                <a:solidFill>
                  <a:srgbClr val="008000"/>
                </a:solidFill>
              </a:rPr>
              <a:t>Defenders of brand names</a:t>
            </a:r>
          </a:p>
          <a:p>
            <a:pPr lvl="1"/>
            <a:r>
              <a:rPr lang="en-US" smtClean="0"/>
              <a:t>Consumers gain information </a:t>
            </a:r>
            <a:br>
              <a:rPr lang="en-US" smtClean="0"/>
            </a:br>
            <a:r>
              <a:rPr lang="en-US" smtClean="0"/>
              <a:t>about quality</a:t>
            </a:r>
          </a:p>
          <a:p>
            <a:pPr lvl="1"/>
            <a:r>
              <a:rPr lang="en-US" smtClean="0"/>
              <a:t>Firms have incentive to maintain </a:t>
            </a:r>
            <a:br>
              <a:rPr lang="en-US" smtClean="0"/>
            </a:br>
            <a:r>
              <a:rPr lang="en-US" smtClean="0"/>
              <a:t>high quality to protect the brand</a:t>
            </a:r>
          </a:p>
          <a:p>
            <a:pPr lvl="1"/>
            <a:endParaRPr lang="en-US" smtClean="0"/>
          </a:p>
        </p:txBody>
      </p:sp>
      <p:pic>
        <p:nvPicPr>
          <p:cNvPr id="73731" name="Picture 7"/>
          <p:cNvPicPr>
            <a:picLocks noChangeAspect="1" noChangeArrowheads="1"/>
          </p:cNvPicPr>
          <p:nvPr/>
        </p:nvPicPr>
        <p:blipFill>
          <a:blip r:embed="rId2"/>
          <a:srcRect/>
          <a:stretch>
            <a:fillRect/>
          </a:stretch>
        </p:blipFill>
        <p:spPr bwMode="auto">
          <a:xfrm>
            <a:off x="6119813" y="3055938"/>
            <a:ext cx="2814637" cy="314483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3731"/>
                                        </p:tgtEl>
                                        <p:attrNameLst>
                                          <p:attrName>style.visibility</p:attrName>
                                        </p:attrNameLst>
                                      </p:cBhvr>
                                      <p:to>
                                        <p:strVal val="visible"/>
                                      </p:to>
                                    </p:set>
                                    <p:animEffect transition="in" filter="dissolve">
                                      <p:cBhvr>
                                        <p:cTn id="7" dur="500"/>
                                        <p:tgtEl>
                                          <p:spTgt spid="73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3" name="Picture 15"/>
          <p:cNvPicPr>
            <a:picLocks noChangeAspect="1" noChangeArrowheads="1"/>
          </p:cNvPicPr>
          <p:nvPr/>
        </p:nvPicPr>
        <p:blipFill>
          <a:blip r:embed="rId2"/>
          <a:srcRect/>
          <a:stretch>
            <a:fillRect/>
          </a:stretch>
        </p:blipFill>
        <p:spPr bwMode="auto">
          <a:xfrm>
            <a:off x="595313" y="728663"/>
            <a:ext cx="5668962" cy="4160837"/>
          </a:xfrm>
          <a:prstGeom prst="rect">
            <a:avLst/>
          </a:prstGeom>
          <a:noFill/>
          <a:ln w="9525">
            <a:noFill/>
            <a:miter lim="800000"/>
            <a:headEnd/>
            <a:tailEnd/>
          </a:ln>
        </p:spPr>
      </p:pic>
      <p:sp>
        <p:nvSpPr>
          <p:cNvPr id="5" name="Cloud Callout 4"/>
          <p:cNvSpPr>
            <a:spLocks noChangeArrowheads="1"/>
          </p:cNvSpPr>
          <p:nvPr/>
        </p:nvSpPr>
        <p:spPr bwMode="auto">
          <a:xfrm rot="-569767">
            <a:off x="4683125" y="3284538"/>
            <a:ext cx="4389438" cy="3462337"/>
          </a:xfrm>
          <a:prstGeom prst="cloudCallout">
            <a:avLst>
              <a:gd name="adj1" fmla="val -111810"/>
              <a:gd name="adj2" fmla="val 8231"/>
            </a:avLst>
          </a:prstGeom>
          <a:solidFill>
            <a:srgbClr val="FFFF66">
              <a:alpha val="69019"/>
            </a:srgbClr>
          </a:solidFill>
          <a:ln w="38100" algn="ctr">
            <a:solidFill>
              <a:schemeClr val="tx1"/>
            </a:solidFill>
            <a:round/>
            <a:headEnd/>
            <a:tailEnd/>
          </a:ln>
        </p:spPr>
        <p:txBody>
          <a:bodyPr anchor="ctr"/>
          <a:lstStyle/>
          <a:p>
            <a:pPr algn="ctr"/>
            <a:endParaRPr lang="en-US">
              <a:solidFill>
                <a:srgbClr val="000000"/>
              </a:solidFill>
            </a:endParaRPr>
          </a:p>
        </p:txBody>
      </p:sp>
      <p:sp>
        <p:nvSpPr>
          <p:cNvPr id="74755" name="Title 1"/>
          <p:cNvSpPr>
            <a:spLocks noGrp="1"/>
          </p:cNvSpPr>
          <p:nvPr>
            <p:ph type="title" idx="4294967295"/>
          </p:nvPr>
        </p:nvSpPr>
        <p:spPr bwMode="auto">
          <a:xfrm>
            <a:off x="863600" y="0"/>
            <a:ext cx="7669213" cy="555625"/>
          </a:xfrm>
          <a:noFill/>
        </p:spPr>
        <p:txBody>
          <a:bodyPr/>
          <a:lstStyle/>
          <a:p>
            <a:r>
              <a:rPr lang="en-US" smtClean="0">
                <a:effectLst/>
              </a:rPr>
              <a:t>Advertising as a Costly Signal</a:t>
            </a:r>
          </a:p>
        </p:txBody>
      </p:sp>
      <p:pic>
        <p:nvPicPr>
          <p:cNvPr id="7171" name="Picture 3" descr="C:\Users\solina\AppData\Local\Microsoft\Windows\Temporary Internet Files\Content.Outlook\SH09VSVL\note.png"/>
          <p:cNvPicPr>
            <a:picLocks noChangeAspect="1" noChangeArrowheads="1"/>
          </p:cNvPicPr>
          <p:nvPr/>
        </p:nvPicPr>
        <p:blipFill>
          <a:blip r:embed="rId3"/>
          <a:srcRect/>
          <a:stretch>
            <a:fillRect/>
          </a:stretch>
        </p:blipFill>
        <p:spPr bwMode="auto">
          <a:xfrm>
            <a:off x="1511300" y="5445125"/>
            <a:ext cx="1050925" cy="1219200"/>
          </a:xfrm>
          <a:prstGeom prst="rect">
            <a:avLst/>
          </a:prstGeom>
          <a:noFill/>
          <a:ln w="9525">
            <a:noFill/>
            <a:miter lim="800000"/>
            <a:headEnd/>
            <a:tailEnd/>
          </a:ln>
        </p:spPr>
      </p:pic>
      <p:sp>
        <p:nvSpPr>
          <p:cNvPr id="6" name="TextBox 5"/>
          <p:cNvSpPr txBox="1">
            <a:spLocks noChangeArrowheads="1"/>
          </p:cNvSpPr>
          <p:nvPr/>
        </p:nvSpPr>
        <p:spPr bwMode="auto">
          <a:xfrm>
            <a:off x="5292725" y="3897313"/>
            <a:ext cx="3313113" cy="2436812"/>
          </a:xfrm>
          <a:prstGeom prst="rect">
            <a:avLst/>
          </a:prstGeom>
          <a:noFill/>
          <a:ln w="9525">
            <a:noFill/>
            <a:miter lim="800000"/>
            <a:headEnd/>
            <a:tailEnd/>
          </a:ln>
        </p:spPr>
        <p:txBody>
          <a:bodyPr>
            <a:spAutoFit/>
          </a:bodyPr>
          <a:lstStyle/>
          <a:p>
            <a:r>
              <a:rPr lang="en-US" sz="2200" b="1"/>
              <a:t>“If they’re spending so much $$$ on advertising for this product, they must expect it to be profitable and be around a long time.  Must be good.”  </a:t>
            </a:r>
          </a:p>
          <a:p>
            <a:endParaRPr lang="en-US" sz="22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 calcmode="lin" valueType="num">
                                      <p:cBhvr additive="base">
                                        <p:cTn id="7" dur="500" fill="hold"/>
                                        <p:tgtEl>
                                          <p:spTgt spid="7171"/>
                                        </p:tgtEl>
                                        <p:attrNameLst>
                                          <p:attrName>ppt_x</p:attrName>
                                        </p:attrNameLst>
                                      </p:cBhvr>
                                      <p:tavLst>
                                        <p:tav tm="0">
                                          <p:val>
                                            <p:strVal val="#ppt_x"/>
                                          </p:val>
                                        </p:tav>
                                        <p:tav tm="100000">
                                          <p:val>
                                            <p:strVal val="#ppt_x"/>
                                          </p:val>
                                        </p:tav>
                                      </p:tavLst>
                                    </p:anim>
                                    <p:anim calcmode="lin" valueType="num">
                                      <p:cBhvr additive="base">
                                        <p:cTn id="8" dur="500" fill="hold"/>
                                        <p:tgtEl>
                                          <p:spTgt spid="7171"/>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idx="4294967295"/>
          </p:nvPr>
        </p:nvSpPr>
        <p:spPr bwMode="auto">
          <a:xfrm>
            <a:off x="719138" y="60325"/>
            <a:ext cx="8174037" cy="555625"/>
          </a:xfrm>
          <a:noFill/>
        </p:spPr>
        <p:txBody>
          <a:bodyPr/>
          <a:lstStyle/>
          <a:p>
            <a:r>
              <a:rPr lang="en-US" smtClean="0">
                <a:effectLst/>
              </a:rPr>
              <a:t>Between Perfect Competition and Monopoly</a:t>
            </a:r>
          </a:p>
        </p:txBody>
      </p:sp>
      <p:pic>
        <p:nvPicPr>
          <p:cNvPr id="57346" name="Picture 2"/>
          <p:cNvPicPr>
            <a:picLocks noChangeAspect="1" noChangeArrowheads="1"/>
          </p:cNvPicPr>
          <p:nvPr/>
        </p:nvPicPr>
        <p:blipFill>
          <a:blip r:embed="rId2"/>
          <a:srcRect/>
          <a:stretch>
            <a:fillRect/>
          </a:stretch>
        </p:blipFill>
        <p:spPr bwMode="auto">
          <a:xfrm>
            <a:off x="1204913" y="611188"/>
            <a:ext cx="7075487" cy="6057900"/>
          </a:xfrm>
          <a:prstGeom prst="rect">
            <a:avLst/>
          </a:prstGeom>
          <a:noFill/>
          <a:ln w="9525" algn="ctr">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left)">
                                      <p:cBhvr>
                                        <p:cTn id="7" dur="500"/>
                                        <p:tgtEl>
                                          <p:spTgt spid="57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p:cNvSpPr>
          <p:nvPr>
            <p:ph type="title" idx="4294967295"/>
          </p:nvPr>
        </p:nvSpPr>
        <p:spPr bwMode="auto">
          <a:xfrm>
            <a:off x="1071563" y="74613"/>
            <a:ext cx="8078787" cy="538162"/>
          </a:xfrm>
          <a:noFill/>
        </p:spPr>
        <p:txBody>
          <a:bodyPr anchor="t"/>
          <a:lstStyle/>
          <a:p>
            <a:r>
              <a:rPr lang="en-US" smtClean="0">
                <a:effectLst/>
              </a:rPr>
              <a:t>Welfare of Society: Sources of Inefficiency</a:t>
            </a:r>
          </a:p>
        </p:txBody>
      </p:sp>
      <p:sp>
        <p:nvSpPr>
          <p:cNvPr id="76802" name="Content Placeholder 2"/>
          <p:cNvSpPr>
            <a:spLocks noGrp="1"/>
          </p:cNvSpPr>
          <p:nvPr>
            <p:ph idx="4294967295"/>
          </p:nvPr>
        </p:nvSpPr>
        <p:spPr>
          <a:xfrm>
            <a:off x="684213" y="800100"/>
            <a:ext cx="8280400" cy="5689600"/>
          </a:xfrm>
        </p:spPr>
        <p:txBody>
          <a:bodyPr/>
          <a:lstStyle/>
          <a:p>
            <a:r>
              <a:rPr lang="en-US" smtClean="0"/>
              <a:t>In the short run</a:t>
            </a:r>
          </a:p>
          <a:p>
            <a:pPr lvl="1"/>
            <a:r>
              <a:rPr lang="en-US" smtClean="0"/>
              <a:t>Markup of price over marginal cost</a:t>
            </a:r>
          </a:p>
          <a:p>
            <a:pPr lvl="2"/>
            <a:r>
              <a:rPr lang="en-US" smtClean="0"/>
              <a:t> Deadweight loss of monopoly pricing</a:t>
            </a:r>
          </a:p>
          <a:p>
            <a:pPr lvl="2"/>
            <a:r>
              <a:rPr lang="en-US" smtClean="0"/>
              <a:t> Some welfare improving trades are not made</a:t>
            </a:r>
          </a:p>
          <a:p>
            <a:pPr lvl="1"/>
            <a:r>
              <a:rPr lang="en-US" smtClean="0"/>
              <a:t>Wasteful spending on advertising to product differentiate</a:t>
            </a:r>
          </a:p>
          <a:p>
            <a:pPr lvl="2"/>
            <a:endParaRPr lang="en-US" smtClean="0"/>
          </a:p>
          <a:p>
            <a:r>
              <a:rPr lang="en-US" smtClean="0"/>
              <a:t>In the long run</a:t>
            </a:r>
          </a:p>
          <a:p>
            <a:pPr lvl="1"/>
            <a:r>
              <a:rPr lang="en-US" smtClean="0"/>
              <a:t>Too much entry</a:t>
            </a:r>
          </a:p>
          <a:p>
            <a:pPr lvl="2"/>
            <a:r>
              <a:rPr lang="en-US" smtClean="0"/>
              <a:t> Firms produce less than quantity that minimizes ATC</a:t>
            </a:r>
          </a:p>
          <a:p>
            <a:pPr lvl="2"/>
            <a:r>
              <a:rPr lang="en-US" smtClean="0"/>
              <a:t> Too many firms exist – duplication of fixed costs</a:t>
            </a:r>
          </a:p>
          <a:p>
            <a:pPr lvl="3"/>
            <a:r>
              <a:rPr lang="en-US" smtClean="0"/>
              <a:t>ATC is higher than minimum ATC</a:t>
            </a:r>
          </a:p>
          <a:p>
            <a:pPr lvl="2"/>
            <a:r>
              <a:rPr lang="en-US" smtClean="0"/>
              <a:t> Off-set by</a:t>
            </a:r>
          </a:p>
          <a:p>
            <a:pPr lvl="3"/>
            <a:r>
              <a:rPr lang="en-US" smtClean="0"/>
              <a:t>Product-variety benefit for consumers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00113" y="39688"/>
            <a:ext cx="7993062" cy="579437"/>
          </a:xfrm>
        </p:spPr>
        <p:txBody>
          <a:bodyPr/>
          <a:lstStyle/>
          <a:p>
            <a:pPr>
              <a:defRPr/>
            </a:pPr>
            <a:r>
              <a:rPr lang="en-US" dirty="0" smtClean="0">
                <a:solidFill>
                  <a:schemeClr val="tx1"/>
                </a:solidFill>
              </a:rPr>
              <a:t>Summary</a:t>
            </a:r>
            <a:endParaRPr lang="en-US" dirty="0">
              <a:solidFill>
                <a:schemeClr val="tx1"/>
              </a:solidFill>
            </a:endParaRPr>
          </a:p>
        </p:txBody>
      </p:sp>
      <p:sp>
        <p:nvSpPr>
          <p:cNvPr id="739330" name="Rectangle 2"/>
          <p:cNvSpPr>
            <a:spLocks noGrp="1" noChangeArrowheads="1"/>
          </p:cNvSpPr>
          <p:nvPr>
            <p:ph idx="4294967295"/>
          </p:nvPr>
        </p:nvSpPr>
        <p:spPr>
          <a:xfrm>
            <a:off x="900113" y="922338"/>
            <a:ext cx="7993062" cy="5386387"/>
          </a:xfrm>
        </p:spPr>
        <p:txBody>
          <a:bodyPr/>
          <a:lstStyle/>
          <a:p>
            <a:pPr marL="463550" indent="-463550">
              <a:buFont typeface="Calibri" pitchFamily="34" charset="0"/>
              <a:buAutoNum type="arabicPeriod"/>
            </a:pPr>
            <a:r>
              <a:rPr lang="en-US" smtClean="0"/>
              <a:t> </a:t>
            </a:r>
            <a:r>
              <a:rPr lang="en-US" b="1" smtClean="0"/>
              <a:t>M</a:t>
            </a:r>
            <a:r>
              <a:rPr lang="tr-TR" b="1" smtClean="0"/>
              <a:t>onopolistic competition</a:t>
            </a:r>
            <a:r>
              <a:rPr lang="tr-TR" smtClean="0"/>
              <a:t> is a market structure in</a:t>
            </a:r>
            <a:r>
              <a:rPr lang="en-US" smtClean="0"/>
              <a:t> </a:t>
            </a:r>
            <a:r>
              <a:rPr lang="tr-TR" smtClean="0"/>
              <a:t>which there are many competing producers, each producing</a:t>
            </a:r>
            <a:r>
              <a:rPr lang="en-US" smtClean="0"/>
              <a:t> </a:t>
            </a:r>
            <a:r>
              <a:rPr lang="tr-TR" smtClean="0"/>
              <a:t>a differentiated product, and there is free entry and</a:t>
            </a:r>
            <a:r>
              <a:rPr lang="en-US" smtClean="0"/>
              <a:t> </a:t>
            </a:r>
            <a:r>
              <a:rPr lang="tr-TR" smtClean="0"/>
              <a:t>exit in the long run. </a:t>
            </a:r>
            <a:r>
              <a:rPr lang="en-US" smtClean="0"/>
              <a:t/>
            </a:r>
            <a:br>
              <a:rPr lang="en-US" smtClean="0"/>
            </a:br>
            <a:r>
              <a:rPr lang="tr-TR" smtClean="0"/>
              <a:t>Product differentiation takes three</a:t>
            </a:r>
            <a:r>
              <a:rPr lang="en-US" smtClean="0"/>
              <a:t> </a:t>
            </a:r>
            <a:r>
              <a:rPr lang="tr-TR" smtClean="0"/>
              <a:t>main forms: by style or type, by location, or by quality.</a:t>
            </a:r>
            <a:r>
              <a:rPr lang="en-US" smtClean="0"/>
              <a:t> </a:t>
            </a:r>
            <a:br>
              <a:rPr lang="en-US" smtClean="0"/>
            </a:br>
            <a:endParaRPr lang="en-US" smtClean="0"/>
          </a:p>
          <a:p>
            <a:pPr marL="463550" indent="-463550">
              <a:buFont typeface="Calibri" pitchFamily="34" charset="0"/>
              <a:buAutoNum type="arabicPeriod"/>
            </a:pPr>
            <a:r>
              <a:rPr lang="en-US" smtClean="0"/>
              <a:t> </a:t>
            </a:r>
            <a:r>
              <a:rPr lang="tr-TR" smtClean="0"/>
              <a:t>Short-run profits will attract entry of new firms in the</a:t>
            </a:r>
            <a:r>
              <a:rPr lang="en-US" smtClean="0"/>
              <a:t> </a:t>
            </a:r>
            <a:r>
              <a:rPr lang="tr-TR" smtClean="0"/>
              <a:t>long run. This reduces the quantity each existing producer</a:t>
            </a:r>
            <a:r>
              <a:rPr lang="en-US" smtClean="0"/>
              <a:t> </a:t>
            </a:r>
            <a:r>
              <a:rPr lang="tr-TR" smtClean="0"/>
              <a:t>sells at any given price and shifts its demand curve to</a:t>
            </a:r>
            <a:r>
              <a:rPr lang="en-US" smtClean="0"/>
              <a:t> </a:t>
            </a:r>
            <a:r>
              <a:rPr lang="tr-TR" smtClean="0"/>
              <a:t>the left. Short-run losses will induce exit by some firms</a:t>
            </a:r>
            <a:r>
              <a:rPr lang="en-US" smtClean="0"/>
              <a:t> </a:t>
            </a:r>
            <a:r>
              <a:rPr lang="tr-TR" smtClean="0"/>
              <a:t>in the long run. This shifts the demand curve of each</a:t>
            </a:r>
            <a:r>
              <a:rPr lang="en-US" smtClean="0"/>
              <a:t> </a:t>
            </a:r>
            <a:r>
              <a:rPr lang="tr-TR" smtClean="0"/>
              <a:t>remaining firm to the right.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9330">
                                            <p:txEl>
                                              <p:pRg st="0" end="0"/>
                                            </p:txEl>
                                          </p:spTgt>
                                        </p:tgtEl>
                                        <p:attrNameLst>
                                          <p:attrName>style.visibility</p:attrName>
                                        </p:attrNameLst>
                                      </p:cBhvr>
                                      <p:to>
                                        <p:strVal val="visible"/>
                                      </p:to>
                                    </p:set>
                                    <p:animEffect transition="in" filter="wipe(left)">
                                      <p:cBhvr>
                                        <p:cTn id="7" dur="500"/>
                                        <p:tgtEl>
                                          <p:spTgt spid="7393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9330">
                                            <p:txEl>
                                              <p:pRg st="1" end="1"/>
                                            </p:txEl>
                                          </p:spTgt>
                                        </p:tgtEl>
                                        <p:attrNameLst>
                                          <p:attrName>style.visibility</p:attrName>
                                        </p:attrNameLst>
                                      </p:cBhvr>
                                      <p:to>
                                        <p:strVal val="visible"/>
                                      </p:to>
                                    </p:set>
                                    <p:animEffect transition="in" filter="wipe(left)">
                                      <p:cBhvr>
                                        <p:cTn id="12" dur="500"/>
                                        <p:tgtEl>
                                          <p:spTgt spid="7393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33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741378" name="Rectangle 2"/>
          <p:cNvSpPr>
            <a:spLocks noGrp="1" noChangeArrowheads="1"/>
          </p:cNvSpPr>
          <p:nvPr>
            <p:ph idx="4294967295"/>
          </p:nvPr>
        </p:nvSpPr>
        <p:spPr>
          <a:xfrm>
            <a:off x="900113" y="981075"/>
            <a:ext cx="7993062" cy="5145088"/>
          </a:xfrm>
        </p:spPr>
        <p:txBody>
          <a:bodyPr/>
          <a:lstStyle/>
          <a:p>
            <a:pPr marL="463550" indent="-463550">
              <a:buFont typeface="Calibri" pitchFamily="34" charset="0"/>
              <a:buAutoNum type="arabicPeriod" startAt="3"/>
            </a:pPr>
            <a:r>
              <a:rPr lang="en-US" smtClean="0"/>
              <a:t> </a:t>
            </a:r>
            <a:r>
              <a:rPr lang="tr-TR" smtClean="0"/>
              <a:t>In the long run, a monopolistically competitive industry</a:t>
            </a:r>
            <a:r>
              <a:rPr lang="en-US" smtClean="0"/>
              <a:t> </a:t>
            </a:r>
            <a:r>
              <a:rPr lang="tr-TR" smtClean="0"/>
              <a:t>is in </a:t>
            </a:r>
            <a:r>
              <a:rPr lang="tr-TR" b="1" smtClean="0"/>
              <a:t>zero-profit equilibrium</a:t>
            </a:r>
            <a:r>
              <a:rPr lang="tr-TR" smtClean="0"/>
              <a:t>:</a:t>
            </a:r>
            <a:r>
              <a:rPr lang="tr-TR" b="1" smtClean="0"/>
              <a:t> </a:t>
            </a:r>
            <a:r>
              <a:rPr lang="tr-TR" smtClean="0"/>
              <a:t>at its profit-maximizing</a:t>
            </a:r>
            <a:r>
              <a:rPr lang="en-US" smtClean="0"/>
              <a:t> </a:t>
            </a:r>
            <a:r>
              <a:rPr lang="tr-TR" smtClean="0"/>
              <a:t>quantity, the demand curve for each existing firm is tangent</a:t>
            </a:r>
            <a:r>
              <a:rPr lang="en-US" smtClean="0"/>
              <a:t> </a:t>
            </a:r>
            <a:r>
              <a:rPr lang="tr-TR" smtClean="0"/>
              <a:t>to its average total cost curve. </a:t>
            </a:r>
            <a:r>
              <a:rPr lang="en-US" smtClean="0"/>
              <a:t/>
            </a:r>
            <a:br>
              <a:rPr lang="en-US" smtClean="0"/>
            </a:br>
            <a:r>
              <a:rPr lang="tr-TR" smtClean="0"/>
              <a:t>There are zero profits</a:t>
            </a:r>
            <a:r>
              <a:rPr lang="en-US" smtClean="0"/>
              <a:t> </a:t>
            </a:r>
            <a:r>
              <a:rPr lang="tr-TR" smtClean="0"/>
              <a:t>in the industry and no entry or exit.</a:t>
            </a:r>
            <a:r>
              <a:rPr lang="en-US" smtClean="0"/>
              <a:t/>
            </a:r>
            <a:br>
              <a:rPr lang="en-US" smtClean="0"/>
            </a:br>
            <a:endParaRPr lang="tr-TR" smtClean="0"/>
          </a:p>
          <a:p>
            <a:pPr marL="463550" indent="-463550">
              <a:buFont typeface="Calibri" pitchFamily="34" charset="0"/>
              <a:buAutoNum type="arabicPeriod" startAt="3"/>
            </a:pPr>
            <a:r>
              <a:rPr lang="en-US" smtClean="0"/>
              <a:t> </a:t>
            </a:r>
            <a:r>
              <a:rPr lang="tr-TR" smtClean="0"/>
              <a:t>In long-run equilibrium, firms in a monopolistically</a:t>
            </a:r>
            <a:r>
              <a:rPr lang="en-US" smtClean="0"/>
              <a:t> </a:t>
            </a:r>
            <a:r>
              <a:rPr lang="tr-TR" smtClean="0"/>
              <a:t>competitive industry sell at a price greater than marginal</a:t>
            </a:r>
            <a:r>
              <a:rPr lang="en-US" smtClean="0"/>
              <a:t> </a:t>
            </a:r>
            <a:r>
              <a:rPr lang="tr-TR" smtClean="0"/>
              <a:t>cost. </a:t>
            </a:r>
            <a:r>
              <a:rPr lang="en-US" smtClean="0"/>
              <a:t/>
            </a:r>
            <a:br>
              <a:rPr lang="en-US" smtClean="0"/>
            </a:br>
            <a:r>
              <a:rPr lang="tr-TR" smtClean="0"/>
              <a:t>They also have </a:t>
            </a:r>
            <a:r>
              <a:rPr lang="tr-TR" b="1" smtClean="0"/>
              <a:t>excess capacity </a:t>
            </a:r>
            <a:r>
              <a:rPr lang="tr-TR" smtClean="0"/>
              <a:t>because they produce</a:t>
            </a:r>
            <a:r>
              <a:rPr lang="en-US" smtClean="0"/>
              <a:t> </a:t>
            </a:r>
            <a:r>
              <a:rPr lang="tr-TR" smtClean="0"/>
              <a:t>less than the minimum-cost output; as a result,</a:t>
            </a:r>
            <a:r>
              <a:rPr lang="en-US" smtClean="0"/>
              <a:t> </a:t>
            </a:r>
            <a:r>
              <a:rPr lang="tr-TR" smtClean="0"/>
              <a:t>they have higher costs than firms in a perfectly competitive</a:t>
            </a:r>
            <a:r>
              <a:rPr lang="en-US" smtClean="0"/>
              <a:t> </a:t>
            </a:r>
            <a:r>
              <a:rPr lang="tr-TR" smtClean="0"/>
              <a:t>industry.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1378">
                                            <p:txEl>
                                              <p:pRg st="0" end="0"/>
                                            </p:txEl>
                                          </p:spTgt>
                                        </p:tgtEl>
                                        <p:attrNameLst>
                                          <p:attrName>style.visibility</p:attrName>
                                        </p:attrNameLst>
                                      </p:cBhvr>
                                      <p:to>
                                        <p:strVal val="visible"/>
                                      </p:to>
                                    </p:set>
                                    <p:animEffect transition="in" filter="wipe(left)">
                                      <p:cBhvr>
                                        <p:cTn id="7" dur="500"/>
                                        <p:tgtEl>
                                          <p:spTgt spid="7413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1378">
                                            <p:txEl>
                                              <p:pRg st="1" end="1"/>
                                            </p:txEl>
                                          </p:spTgt>
                                        </p:tgtEl>
                                        <p:attrNameLst>
                                          <p:attrName>style.visibility</p:attrName>
                                        </p:attrNameLst>
                                      </p:cBhvr>
                                      <p:to>
                                        <p:strVal val="visible"/>
                                      </p:to>
                                    </p:set>
                                    <p:animEffect transition="in" filter="wipe(left)">
                                      <p:cBhvr>
                                        <p:cTn id="12" dur="500"/>
                                        <p:tgtEl>
                                          <p:spTgt spid="7413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78"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743426" name="Rectangle 2"/>
          <p:cNvSpPr>
            <a:spLocks noGrp="1" noChangeArrowheads="1"/>
          </p:cNvSpPr>
          <p:nvPr>
            <p:ph idx="4294967295"/>
          </p:nvPr>
        </p:nvSpPr>
        <p:spPr>
          <a:xfrm>
            <a:off x="900113" y="981075"/>
            <a:ext cx="7993062" cy="5145088"/>
          </a:xfrm>
        </p:spPr>
        <p:txBody>
          <a:bodyPr/>
          <a:lstStyle/>
          <a:p>
            <a:pPr marL="463550" indent="-463550">
              <a:buFont typeface="Calibri" pitchFamily="34" charset="0"/>
              <a:buAutoNum type="arabicPeriod" startAt="5"/>
            </a:pPr>
            <a:r>
              <a:rPr lang="en-US" smtClean="0"/>
              <a:t> </a:t>
            </a:r>
            <a:r>
              <a:rPr lang="tr-TR" smtClean="0"/>
              <a:t>A monopolistically competitive firm will always prefer to</a:t>
            </a:r>
            <a:r>
              <a:rPr lang="en-US" smtClean="0"/>
              <a:t> </a:t>
            </a:r>
            <a:r>
              <a:rPr lang="tr-TR" smtClean="0"/>
              <a:t>make an additional sale at the going price, so it will</a:t>
            </a:r>
            <a:r>
              <a:rPr lang="en-US" smtClean="0"/>
              <a:t> </a:t>
            </a:r>
            <a:r>
              <a:rPr lang="tr-TR" smtClean="0"/>
              <a:t>engage in advertising to increase demand for its product</a:t>
            </a:r>
            <a:r>
              <a:rPr lang="en-US" smtClean="0"/>
              <a:t> </a:t>
            </a:r>
            <a:r>
              <a:rPr lang="tr-TR" smtClean="0"/>
              <a:t>and enhance its market power. </a:t>
            </a:r>
            <a:r>
              <a:rPr lang="en-US" smtClean="0"/>
              <a:t/>
            </a:r>
            <a:br>
              <a:rPr lang="en-US" smtClean="0"/>
            </a:br>
            <a:r>
              <a:rPr lang="en-US" smtClean="0"/>
              <a:t/>
            </a:r>
            <a:br>
              <a:rPr lang="en-US" smtClean="0"/>
            </a:br>
            <a:r>
              <a:rPr lang="tr-TR" smtClean="0"/>
              <a:t>Advertising and </a:t>
            </a:r>
            <a:r>
              <a:rPr lang="tr-TR" b="1" smtClean="0"/>
              <a:t>brand</a:t>
            </a:r>
            <a:r>
              <a:rPr lang="en-US" b="1" smtClean="0"/>
              <a:t> </a:t>
            </a:r>
            <a:r>
              <a:rPr lang="tr-TR" b="1" smtClean="0"/>
              <a:t>names </a:t>
            </a:r>
            <a:r>
              <a:rPr lang="tr-TR" smtClean="0"/>
              <a:t>that provide useful information to consumers are</a:t>
            </a:r>
            <a:r>
              <a:rPr lang="en-US" smtClean="0"/>
              <a:t> </a:t>
            </a:r>
            <a:r>
              <a:rPr lang="tr-TR" smtClean="0"/>
              <a:t>economically valuable. But they are economically wasteful</a:t>
            </a:r>
            <a:r>
              <a:rPr lang="en-US" smtClean="0"/>
              <a:t> </a:t>
            </a:r>
            <a:r>
              <a:rPr lang="tr-TR" smtClean="0"/>
              <a:t>when their only purpose is to create market power.</a:t>
            </a:r>
            <a:r>
              <a:rPr lang="en-US" smtClean="0"/>
              <a:t> </a:t>
            </a:r>
            <a:r>
              <a:rPr lang="tr-TR" smtClean="0"/>
              <a:t>In reality, advertising and brand names are likely to be</a:t>
            </a:r>
            <a:r>
              <a:rPr lang="en-US" smtClean="0"/>
              <a:t> </a:t>
            </a:r>
            <a:r>
              <a:rPr lang="tr-TR" smtClean="0"/>
              <a:t>some of both: economically valuable and economically</a:t>
            </a:r>
            <a:r>
              <a:rPr lang="en-US" smtClean="0"/>
              <a:t> </a:t>
            </a:r>
            <a:r>
              <a:rPr lang="tr-TR" smtClean="0"/>
              <a:t>wasteful.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3426">
                                            <p:txEl>
                                              <p:pRg st="0" end="0"/>
                                            </p:txEl>
                                          </p:spTgt>
                                        </p:tgtEl>
                                        <p:attrNameLst>
                                          <p:attrName>style.visibility</p:attrName>
                                        </p:attrNameLst>
                                      </p:cBhvr>
                                      <p:to>
                                        <p:strVal val="visible"/>
                                      </p:to>
                                    </p:set>
                                    <p:animEffect transition="in" filter="wipe(left)">
                                      <p:cBhvr>
                                        <p:cTn id="7" dur="500"/>
                                        <p:tgtEl>
                                          <p:spTgt spid="7434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26"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4"/>
          <p:cNvSpPr>
            <a:spLocks noGrp="1"/>
          </p:cNvSpPr>
          <p:nvPr>
            <p:ph idx="4294967295"/>
          </p:nvPr>
        </p:nvSpPr>
        <p:spPr>
          <a:xfrm>
            <a:off x="899592" y="1052736"/>
            <a:ext cx="7992888" cy="5472608"/>
          </a:xfrm>
        </p:spPr>
        <p:txBody>
          <a:bodyPr numCol="2"/>
          <a:lstStyle/>
          <a:p>
            <a:pPr>
              <a:buFont typeface="Arial" pitchFamily="34" charset="0"/>
              <a:buChar char="•"/>
              <a:defRPr/>
            </a:pPr>
            <a:r>
              <a:rPr lang="en-US" sz="2400" dirty="0" smtClean="0"/>
              <a:t>Monopolistic competition</a:t>
            </a:r>
          </a:p>
          <a:p>
            <a:pPr>
              <a:buFont typeface="Arial" pitchFamily="34" charset="0"/>
              <a:buChar char="•"/>
              <a:defRPr/>
            </a:pPr>
            <a:r>
              <a:rPr lang="en-US" sz="2400" dirty="0" smtClean="0"/>
              <a:t>Zero-profit equilibrium</a:t>
            </a:r>
          </a:p>
          <a:p>
            <a:pPr>
              <a:buFont typeface="Arial" pitchFamily="34" charset="0"/>
              <a:buChar char="•"/>
              <a:defRPr/>
            </a:pPr>
            <a:r>
              <a:rPr lang="en-US" sz="2400" dirty="0" smtClean="0"/>
              <a:t>Excess capacity</a:t>
            </a:r>
          </a:p>
          <a:p>
            <a:pPr>
              <a:buFont typeface="Arial" pitchFamily="34" charset="0"/>
              <a:buChar char="•"/>
              <a:defRPr/>
            </a:pPr>
            <a:r>
              <a:rPr lang="en-US" sz="2400" dirty="0" smtClean="0"/>
              <a:t>Brand name</a:t>
            </a:r>
            <a:endParaRPr lang="en-US" sz="2400" dirty="0"/>
          </a:p>
        </p:txBody>
      </p:sp>
      <p:sp>
        <p:nvSpPr>
          <p:cNvPr id="4" name="Title 3"/>
          <p:cNvSpPr>
            <a:spLocks noGrp="1"/>
          </p:cNvSpPr>
          <p:nvPr>
            <p:ph type="title" idx="4294967295"/>
          </p:nvPr>
        </p:nvSpPr>
        <p:spPr>
          <a:xfrm>
            <a:off x="971550" y="39688"/>
            <a:ext cx="7993063" cy="579437"/>
          </a:xfrm>
        </p:spPr>
        <p:txBody>
          <a:bodyPr/>
          <a:lstStyle/>
          <a:p>
            <a:pPr eaLnBrk="1" hangingPunct="1">
              <a:defRPr/>
            </a:pPr>
            <a:r>
              <a:rPr lang="id-ID" dirty="0" smtClean="0">
                <a:effectLst>
                  <a:outerShdw blurRad="38100" dist="38100" dir="2700000" algn="tl">
                    <a:srgbClr val="C0C0C0"/>
                  </a:outerShdw>
                </a:effectLst>
              </a:rPr>
              <a:t>KEY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5841</TotalTime>
  <Words>2319</Words>
  <Application>Microsoft Office PowerPoint</Application>
  <PresentationFormat>On-screen Show (4:3)</PresentationFormat>
  <Paragraphs>399</Paragraphs>
  <Slides>35</Slides>
  <Notes>23</Notes>
  <HiddenSlides>0</HiddenSlides>
  <MMClips>0</MMClips>
  <ScaleCrop>false</ScaleCrop>
  <HeadingPairs>
    <vt:vector size="4" baseType="variant">
      <vt:variant>
        <vt:lpstr>Theme</vt:lpstr>
      </vt:variant>
      <vt:variant>
        <vt:i4>3</vt:i4>
      </vt:variant>
      <vt:variant>
        <vt:lpstr>Slide Titles</vt:lpstr>
      </vt:variant>
      <vt:variant>
        <vt:i4>35</vt:i4>
      </vt:variant>
    </vt:vector>
  </HeadingPairs>
  <TitlesOfParts>
    <vt:vector size="38" baseType="lpstr">
      <vt:lpstr>Office Theme</vt:lpstr>
      <vt:lpstr>1_Office Theme</vt:lpstr>
      <vt:lpstr>2_Office Theme</vt:lpstr>
      <vt:lpstr>Chapter 15 Monopolistic Competition and  Product Differentiation  </vt:lpstr>
      <vt:lpstr>PowerPoint Presentation</vt:lpstr>
      <vt:lpstr>Four Market Structures</vt:lpstr>
      <vt:lpstr>The Meaning of Monopolistic Competition</vt:lpstr>
      <vt:lpstr>Product Differentiation</vt:lpstr>
      <vt:lpstr>Product Differentiation</vt:lpstr>
      <vt:lpstr>Product Differentiation</vt:lpstr>
      <vt:lpstr>Product Differentiation</vt:lpstr>
      <vt:lpstr>Case Study: Any Color, So Long As It’s Black</vt:lpstr>
      <vt:lpstr>Understanding Monopolistic Competition</vt:lpstr>
      <vt:lpstr>Monopolistic Competition in the Short Run</vt:lpstr>
      <vt:lpstr>PowerPoint Presentation</vt:lpstr>
      <vt:lpstr>Monopolistic Competition Short Run Equilibrium </vt:lpstr>
      <vt:lpstr>Monopolistic Competition in the Long Run</vt:lpstr>
      <vt:lpstr>PowerPoint Presentation</vt:lpstr>
      <vt:lpstr>PowerPoint Presentation</vt:lpstr>
      <vt:lpstr>PowerPoint Presentation</vt:lpstr>
      <vt:lpstr>Monopolistic Competition versus Perfect Competition</vt:lpstr>
      <vt:lpstr>PowerPoint Presentation</vt:lpstr>
      <vt:lpstr>Is Monopolistic Competition Inefficient?</vt:lpstr>
      <vt:lpstr>Controversies About Product Differentiation</vt:lpstr>
      <vt:lpstr>The Role of Advertising</vt:lpstr>
      <vt:lpstr>The Role of Advertising</vt:lpstr>
      <vt:lpstr>Advertising</vt:lpstr>
      <vt:lpstr>Informative Advertising</vt:lpstr>
      <vt:lpstr>Advertising and the price of eyeglasses</vt:lpstr>
      <vt:lpstr>Brand Names: A Signal of Quality?</vt:lpstr>
      <vt:lpstr>Pros and Cons of Brand Names</vt:lpstr>
      <vt:lpstr>Advertising as a Costly Signal</vt:lpstr>
      <vt:lpstr>Between Perfect Competition and Monopoly</vt:lpstr>
      <vt:lpstr>Welfare of Society: Sources of Inefficiency</vt:lpstr>
      <vt:lpstr>Summary</vt:lpstr>
      <vt:lpstr>Summary</vt:lpstr>
      <vt:lpstr>Summary</vt:lpstr>
      <vt:lpstr>KEY TERMS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lk</cp:lastModifiedBy>
  <cp:revision>243</cp:revision>
  <dcterms:created xsi:type="dcterms:W3CDTF">2011-11-30T16:12:49Z</dcterms:created>
  <dcterms:modified xsi:type="dcterms:W3CDTF">2015-12-11T14:08:01Z</dcterms:modified>
</cp:coreProperties>
</file>