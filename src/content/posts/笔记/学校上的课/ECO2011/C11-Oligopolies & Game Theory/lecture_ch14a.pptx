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5" r:id="rId2"/>
    <p:sldMasterId id="2147483730" r:id="rId3"/>
  </p:sldMasterIdLst>
  <p:notesMasterIdLst>
    <p:notesMasterId r:id="rId34"/>
  </p:notesMasterIdLst>
  <p:sldIdLst>
    <p:sldId id="261" r:id="rId4"/>
    <p:sldId id="478" r:id="rId5"/>
    <p:sldId id="479" r:id="rId6"/>
    <p:sldId id="481" r:id="rId7"/>
    <p:sldId id="509" r:id="rId8"/>
    <p:sldId id="482" r:id="rId9"/>
    <p:sldId id="483" r:id="rId10"/>
    <p:sldId id="484" r:id="rId11"/>
    <p:sldId id="485" r:id="rId12"/>
    <p:sldId id="515" r:id="rId13"/>
    <p:sldId id="510" r:id="rId14"/>
    <p:sldId id="486" r:id="rId15"/>
    <p:sldId id="487" r:id="rId16"/>
    <p:sldId id="488" r:id="rId17"/>
    <p:sldId id="490" r:id="rId18"/>
    <p:sldId id="491" r:id="rId19"/>
    <p:sldId id="513" r:id="rId20"/>
    <p:sldId id="514" r:id="rId21"/>
    <p:sldId id="492" r:id="rId22"/>
    <p:sldId id="494" r:id="rId23"/>
    <p:sldId id="498" r:id="rId24"/>
    <p:sldId id="500" r:id="rId25"/>
    <p:sldId id="499" r:id="rId26"/>
    <p:sldId id="497" r:id="rId27"/>
    <p:sldId id="501" r:id="rId28"/>
    <p:sldId id="503" r:id="rId29"/>
    <p:sldId id="504" r:id="rId30"/>
    <p:sldId id="505" r:id="rId31"/>
    <p:sldId id="506" r:id="rId32"/>
    <p:sldId id="507" r:id="rId33"/>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FFFFFF"/>
    <a:srgbClr val="B2B2B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91" autoAdjust="0"/>
  </p:normalViewPr>
  <p:slideViewPr>
    <p:cSldViewPr>
      <p:cViewPr varScale="1">
        <p:scale>
          <a:sx n="95" d="100"/>
          <a:sy n="95" d="100"/>
        </p:scale>
        <p:origin x="-86" y="-10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141"/>
    </p:cViewPr>
  </p:sorterViewPr>
  <p:notesViewPr>
    <p:cSldViewPr>
      <p:cViewPr varScale="1">
        <p:scale>
          <a:sx n="52" d="100"/>
          <a:sy n="52" d="100"/>
        </p:scale>
        <p:origin x="-2678" y="-86"/>
      </p:cViewPr>
      <p:guideLst>
        <p:guide orient="horz" pos="3110"/>
        <p:guide pos="2141"/>
      </p:guideLst>
    </p:cSldViewPr>
  </p:notesViewPr>
  <p:gridSpacing cx="36868100" cy="368681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D64F1AEF-25A1-4445-829E-2F583954674E}" type="datetime1">
              <a:rPr lang="en-US"/>
              <a:pPr>
                <a:defRPr/>
              </a:pPr>
              <a:t>4/16/2013</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341C928E-3AF1-45D5-B359-341AAFC87ECD}"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F3FEDC6-2735-41E1-8721-C96D6DC896AF}" type="slidenum">
              <a:rPr lang="en-US" sz="1200"/>
              <a:pPr algn="r"/>
              <a:t>1</a:t>
            </a:fld>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07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5A0D4497-6530-459F-BDC6-6056653F08AD}" type="slidenum">
              <a:rPr lang="en-US" sz="1200"/>
              <a:pPr algn="r"/>
              <a:t>2</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27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2826FC8-E805-47F4-B3E2-428C3942BA66}" type="slidenum">
              <a:rPr lang="en-US" sz="1200">
                <a:latin typeface="Arial" charset="0"/>
              </a:rPr>
              <a:pPr algn="r"/>
              <a:t>3</a:t>
            </a:fld>
            <a:endParaRPr lang="en-US" sz="120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48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86C6B04-71EF-4F48-9DAA-6826649A6E78}" type="slidenum">
              <a:rPr lang="en-US" sz="1200">
                <a:latin typeface="Arial" charset="0"/>
              </a:rPr>
              <a:pPr algn="r"/>
              <a:t>4</a:t>
            </a:fld>
            <a:endParaRPr lang="en-US"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68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74EB2025-F9A7-4980-99D8-4F8748900912}" type="slidenum">
              <a:rPr lang="en-US" sz="1200"/>
              <a:pPr algn="r"/>
              <a:t>5</a:t>
            </a:fld>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891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7F372917-752C-4794-A1A9-043BCDEC960D}" type="slidenum">
              <a:rPr lang="en-US" sz="1200">
                <a:latin typeface="Arial" charset="0"/>
              </a:rPr>
              <a:pPr algn="r"/>
              <a:t>6</a:t>
            </a:fld>
            <a:endParaRPr lang="en-US" sz="12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09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5663C061-481D-4052-ACC7-6B311E08A3C3}" type="slidenum">
              <a:rPr lang="en-US" sz="1200">
                <a:latin typeface="Arial" charset="0"/>
              </a:rPr>
              <a:pPr algn="r"/>
              <a:t>7</a:t>
            </a:fld>
            <a:endParaRPr lang="en-US" sz="120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30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AD194745-CA08-46C6-98AF-71F54112360A}" type="slidenum">
              <a:rPr lang="en-US" sz="1200">
                <a:latin typeface="Arial" charset="0"/>
              </a:rPr>
              <a:pPr algn="r"/>
              <a:t>8</a:t>
            </a:fld>
            <a:endParaRPr lang="en-US" sz="120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50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CB8BC7E-E98E-477C-B92E-D81EAA41A33C}" type="slidenum">
              <a:rPr lang="en-US" sz="1200">
                <a:latin typeface="Arial" charset="0"/>
              </a:rPr>
              <a:pPr algn="r"/>
              <a:t>9</a:t>
            </a:fld>
            <a:endParaRPr lang="en-US" sz="12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915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F23D352-203F-4DBC-8751-0163FC69A21F}" type="slidenum">
              <a:rPr lang="en-US" sz="1200">
                <a:latin typeface="Arial" charset="0"/>
              </a:rPr>
              <a:pPr algn="r"/>
              <a:t>12</a:t>
            </a:fld>
            <a:endParaRPr lang="en-US" sz="120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20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14-1:</a:t>
            </a:r>
            <a:r>
              <a:rPr lang="en-US" smtClean="0">
                <a:latin typeface="Arial" charset="0"/>
              </a:rPr>
              <a:t> </a:t>
            </a:r>
            <a:r>
              <a:rPr lang="en-US" b="1" smtClean="0">
                <a:latin typeface="Arial" charset="0"/>
              </a:rPr>
              <a:t>A Payoff Matrix </a:t>
            </a:r>
            <a:endParaRPr lang="en-US" smtClean="0">
              <a:latin typeface="Arial" charset="0"/>
            </a:endParaRPr>
          </a:p>
          <a:p>
            <a:pPr defTabSz="914400">
              <a:spcBef>
                <a:spcPct val="0"/>
              </a:spcBef>
            </a:pPr>
            <a:r>
              <a:rPr lang="en-US" smtClean="0">
                <a:latin typeface="Arial" charset="0"/>
              </a:rPr>
              <a:t>Two firms, ADM and Ajinomoto, must decide how much lysine to produce. The profits of the two firms are interdependent: each firm’s profit depends not only on its own decision but also on the other’s decision. Each row represents an action by ADM, each column one by Ajinomoto. Both firms will be better off if they both choose the lower output; but it is in each firm’s individual interest to choose the higher output.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5325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13291F6-0107-456F-A993-E3EEC5359706}" type="slidenum">
              <a:rPr lang="en-US" sz="1200">
                <a:latin typeface="Arial" charset="0"/>
              </a:rPr>
              <a:pPr algn="r"/>
              <a:t>14</a:t>
            </a:fld>
            <a:endParaRPr lang="en-US" sz="120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29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14-2: The Prisoners’ Dilemma</a:t>
            </a:r>
            <a:endParaRPr lang="en-US" smtClean="0">
              <a:latin typeface="Arial" charset="0"/>
            </a:endParaRPr>
          </a:p>
          <a:p>
            <a:pPr defTabSz="914400">
              <a:spcBef>
                <a:spcPct val="0"/>
              </a:spcBef>
            </a:pPr>
            <a:r>
              <a:rPr lang="en-US" smtClean="0">
                <a:latin typeface="Arial" charset="0"/>
              </a:rPr>
              <a:t>Each of two prisoners, held in separate cells, is offered a deal by the police—a light sentence if she confesses and implicates her accomplice but her accomplice does not do the same, a heavy sentence if she does not confess but her accomplice does, and so on. It is in the joint interest of both prisoners not to confess; it is in each one’s individual interest to confess.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5734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8963D9B-D13A-4A37-AEB2-74877021CEAB}" type="slidenum">
              <a:rPr lang="en-US" sz="1200">
                <a:latin typeface="Arial" charset="0"/>
              </a:rPr>
              <a:pPr algn="r"/>
              <a:t>16</a:t>
            </a:fld>
            <a:endParaRPr lang="en-US" sz="120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604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765AE50-D42F-426D-A4EF-EA238E8F4F66}" type="slidenum">
              <a:rPr lang="en-US" sz="1200"/>
              <a:pPr algn="r"/>
              <a:t>18</a:t>
            </a:fld>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24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62137423-C3E5-4DB8-A891-038731C4F120}" type="slidenum">
              <a:rPr lang="en-US" sz="1200">
                <a:latin typeface="Arial" charset="0"/>
              </a:rPr>
              <a:pPr algn="r"/>
              <a:t>19</a:t>
            </a:fld>
            <a:endParaRPr lang="en-US" sz="120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451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14-3: How Repeated Interaction Can Support Collusion</a:t>
            </a:r>
            <a:endParaRPr lang="en-US" smtClean="0">
              <a:latin typeface="Arial" charset="0"/>
            </a:endParaRPr>
          </a:p>
          <a:p>
            <a:pPr defTabSz="914400">
              <a:spcBef>
                <a:spcPct val="0"/>
              </a:spcBef>
            </a:pPr>
            <a:r>
              <a:rPr lang="en-US" smtClean="0">
                <a:latin typeface="Arial" charset="0"/>
              </a:rPr>
              <a:t>A strategy of “tit for tat” involves playing cooperatively at first, then following the other player’s move. This rewards good behavior and punishes bad behavior. If the other player cheats, playing “tit for tat” will lead to only a short-term loss in comparison to playing “always cheat.” But if the other player plays “tit for tat,” also playing “tit for tat” leads to a long-term gain. So a firm that expects other firms to play “tit for tat” may well choose to do the same, leading to successful tacit collusion.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noFill/>
          <a:ln>
            <a:solidFill>
              <a:srgbClr val="000000"/>
            </a:solidFill>
            <a:miter lim="800000"/>
            <a:headEnd/>
            <a:tailEnd/>
          </a:ln>
        </p:spPr>
      </p:sp>
      <p:sp>
        <p:nvSpPr>
          <p:cNvPr id="665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65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535F279-E085-4808-892B-0162EBBDE33E}" type="slidenum">
              <a:rPr lang="en-US" sz="1200">
                <a:latin typeface="Arial" charset="0"/>
              </a:rPr>
              <a:pPr algn="r"/>
              <a:t>21</a:t>
            </a:fld>
            <a:endParaRPr lang="en-US" sz="120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86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66340C0-A2EA-45F4-BD91-F122E858943A}" type="slidenum">
              <a:rPr lang="en-US" sz="1200">
                <a:latin typeface="Arial" charset="0"/>
              </a:rPr>
              <a:pPr algn="r"/>
              <a:t>22</a:t>
            </a:fld>
            <a:endParaRPr lang="en-US" sz="120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706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7A12A87C-DCAF-4448-A7B6-84E38AACA9CB}" type="slidenum">
              <a:rPr lang="en-US" sz="1200">
                <a:latin typeface="Arial" charset="0"/>
              </a:rPr>
              <a:pPr algn="r"/>
              <a:t>23</a:t>
            </a:fld>
            <a:endParaRPr lang="en-US" sz="120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p:spPr>
      </p:sp>
      <p:sp>
        <p:nvSpPr>
          <p:cNvPr id="7270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7270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89F5E28-6538-480C-A2F7-F827607DEA43}" type="slidenum">
              <a:rPr lang="en-US" sz="1200"/>
              <a:pPr algn="r"/>
              <a:t>24</a:t>
            </a:fld>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bwMode="auto">
          <a:noFill/>
          <a:ln>
            <a:solidFill>
              <a:srgbClr val="000000"/>
            </a:solidFill>
            <a:miter lim="800000"/>
            <a:headEnd/>
            <a:tailEnd/>
          </a:ln>
        </p:spPr>
      </p:sp>
      <p:sp>
        <p:nvSpPr>
          <p:cNvPr id="7475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7475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E6A6B60-3043-4044-A1B5-35C305668495}" type="slidenum">
              <a:rPr lang="en-US" sz="1200"/>
              <a:pPr algn="r"/>
              <a:t>25</a:t>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EE1F486E-C755-413F-9678-2E0129FCA291}" type="datetime1">
              <a:rPr lang="id-ID"/>
              <a:pPr>
                <a:defRPr/>
              </a:pPr>
              <a:t>16/04/2013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55A96241-76C9-48C4-A6EE-20197F4C03E1}"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73B1A688-7F76-4515-9FB2-CB69F0FD9FE4}" type="datetime1">
              <a:rPr lang="id-ID"/>
              <a:pPr>
                <a:defRPr/>
              </a:pPr>
              <a:t>16/04/2013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0AB40AA8-666E-49AA-9456-B29306EB361B}"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0D0A56A-E479-43FB-955E-1FBF89E1160D}" type="datetime1">
              <a:rPr lang="id-ID"/>
              <a:pPr>
                <a:defRPr/>
              </a:pPr>
              <a:t>16/04/2013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25EECD8-599A-48B8-8955-774A815DC330}"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C5DF06AE-99D6-43F3-B529-7F838E3D859E}" type="datetime1">
              <a:rPr lang="id-ID"/>
              <a:pPr>
                <a:defRPr/>
              </a:pPr>
              <a:t>16/04/2013</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C3BE3A4E-80E1-4F56-9CE3-7E603D375BF8}"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7BE065B8-5EE2-44AC-8FA0-BD2D56F7D37C}" type="datetime1">
              <a:rPr lang="id-ID"/>
              <a:pPr>
                <a:defRPr/>
              </a:pPr>
              <a:t>16/04/2013</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E7E28978-0B00-4D28-AA90-C84110E91EE7}"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66FBE248-5FA6-41FA-93F0-99EDA3286E80}" type="datetime1">
              <a:rPr lang="id-ID"/>
              <a:pPr>
                <a:defRPr/>
              </a:pPr>
              <a:t>16/04/2013</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16120257-77C4-446D-B799-66A5AAABEACC}"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8F6099F-99E5-4F4D-88CA-EC709A513D7B}" type="datetime1">
              <a:rPr lang="id-ID"/>
              <a:pPr>
                <a:defRPr/>
              </a:pPr>
              <a:t>16/04/2013</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CE373D0D-7084-4BCC-B757-34F4631C09B2}"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DD55459-6961-45D1-92A6-45581ACE0C60}" type="datetime1">
              <a:rPr lang="id-ID"/>
              <a:pPr>
                <a:defRPr/>
              </a:pPr>
              <a:t>16/04/2013</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A2ED1BF7-A5D2-47EA-9C87-9FF0F63F0B75}"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5A4CA4E8-79EF-473D-BE23-3FCA69B9A961}" type="datetime1">
              <a:rPr lang="id-ID"/>
              <a:pPr>
                <a:defRPr/>
              </a:pPr>
              <a:t>16/04/2013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B568647-B241-4B7D-82A9-0892FD523ED5}"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7F65C84D-D0B6-4BAE-8C02-5A4B82B99756}" type="datetime1">
              <a:rPr lang="id-ID"/>
              <a:pPr>
                <a:defRPr/>
              </a:pPr>
              <a:t>16/04/2013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A888E750-C075-4F00-A85A-E2598ABFDF90}"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95680C2-0E52-4F65-89CE-AE51BFF54F04}" type="datetime1">
              <a:rPr lang="id-ID"/>
              <a:pPr>
                <a:defRPr/>
              </a:pPr>
              <a:t>16/04/2013</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C4ADE0BE-A9C0-446A-A757-03116FE06261}"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B09676AE-A721-4B41-BA35-DFC73B046640}"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74614DED-7B30-4826-8FB5-E5DFF19250BD}"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7F95922D-3CEE-4AE8-9973-D7A62DEECCA5}"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EE84936A-B784-4E69-A604-CBAC65A7C96E}"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FEE85C96-7DF3-4488-B9F8-063EC2CE81A7}"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3D4037A8-D2FC-4F91-A1D4-7FDB01006B20}"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684E33D3-8C38-4BF3-9037-EA47856714EA}"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81602BA1-40F7-41D9-A9F6-D22C5BABE15B}"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561E704A-64AD-4527-ABAE-3CFA16A9D7FB}"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9660808F-9ED1-49D1-B2A1-A63A56050281}"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16/04/2013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D674BD0C-C431-4485-BE84-6A8E0C0330EC}"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A7379D89-1C70-4D49-A474-B14E6FCDC600}" type="datetime1">
              <a:rPr lang="id-ID"/>
              <a:pPr>
                <a:defRPr/>
              </a:pPr>
              <a:t>16/04/2013</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6ED9BE09-1A87-459E-9876-D1510CCA9773}" type="slidenum">
              <a:rPr lang="id-ID"/>
              <a:pPr>
                <a:defRPr/>
              </a:pPr>
              <a:t>‹#›</a:t>
            </a:fld>
            <a:endParaRPr lang="id-ID"/>
          </a:p>
        </p:txBody>
      </p:sp>
      <p:sp>
        <p:nvSpPr>
          <p:cNvPr id="1031"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EC566DA9-5EA5-4095-BDCD-571B2FE6F25F}"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41" r:id="rId2"/>
    <p:sldLayoutId id="2147483740" r:id="rId3"/>
    <p:sldLayoutId id="2147483739" r:id="rId4"/>
    <p:sldLayoutId id="2147483754" r:id="rId5"/>
    <p:sldLayoutId id="2147483755" r:id="rId6"/>
    <p:sldLayoutId id="2147483738" r:id="rId7"/>
    <p:sldLayoutId id="2147483737" r:id="rId8"/>
    <p:sldLayoutId id="2147483736" r:id="rId9"/>
    <p:sldLayoutId id="2147483735" r:id="rId10"/>
    <p:sldLayoutId id="2147483734"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16/04/2013</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6B4D5529-6D9F-4E7B-A591-398012FCFB98}" type="slidenum">
              <a:rPr lang="id-ID"/>
              <a:pPr>
                <a:defRPr/>
              </a:pPr>
              <a:t>‹#›</a:t>
            </a:fld>
            <a:endParaRPr lang="id-ID"/>
          </a:p>
        </p:txBody>
      </p:sp>
      <p:sp>
        <p:nvSpPr>
          <p:cNvPr id="14343"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03F5EE8B-F3C5-4FC9-8B73-BD77BAD10B81}"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16/04/2013</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61338577-D8C9-4C83-87CD-9FE881D6FCBC}"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52" r:id="rId1"/>
    <p:sldLayoutId id="2147483751" r:id="rId2"/>
    <p:sldLayoutId id="2147483750" r:id="rId3"/>
    <p:sldLayoutId id="2147483749" r:id="rId4"/>
    <p:sldLayoutId id="2147483748" r:id="rId5"/>
    <p:sldLayoutId id="2147483747" r:id="rId6"/>
    <p:sldLayoutId id="2147483746" r:id="rId7"/>
    <p:sldLayoutId id="2147483745" r:id="rId8"/>
    <p:sldLayoutId id="2147483744" r:id="rId9"/>
    <p:sldLayoutId id="2147483743" r:id="rId10"/>
    <p:sldLayoutId id="214748374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p:cNvSpPr>
            <a:spLocks noGrp="1"/>
          </p:cNvSpPr>
          <p:nvPr>
            <p:ph type="ctrTitle"/>
          </p:nvPr>
        </p:nvSpPr>
        <p:spPr>
          <a:xfrm>
            <a:off x="1798638" y="4221163"/>
            <a:ext cx="7237412" cy="1927225"/>
          </a:xfrm>
        </p:spPr>
        <p:txBody>
          <a:bodyPr/>
          <a:lstStyle/>
          <a:p>
            <a:pPr>
              <a:defRPr/>
            </a:pPr>
            <a:r>
              <a:rPr lang="en-US" smtClean="0">
                <a:effectLst>
                  <a:outerShdw blurRad="38100" dist="38100" dir="2700000" algn="tl">
                    <a:srgbClr val="C0C0C0"/>
                  </a:outerShdw>
                </a:effectLst>
              </a:rPr>
              <a:t>Chapter 14</a:t>
            </a:r>
            <a:br>
              <a:rPr lang="en-US" smtClean="0">
                <a:effectLst>
                  <a:outerShdw blurRad="38100" dist="38100" dir="2700000" algn="tl">
                    <a:srgbClr val="C0C0C0"/>
                  </a:outerShdw>
                </a:effectLst>
              </a:rPr>
            </a:br>
            <a:r>
              <a:rPr lang="en-US" sz="3500" b="0" smtClean="0">
                <a:effectLst>
                  <a:outerShdw blurRad="38100" dist="38100" dir="2700000" algn="tl">
                    <a:srgbClr val="C0C0C0"/>
                  </a:outerShdw>
                </a:effectLst>
              </a:rPr>
              <a:t>Oligopoly</a:t>
            </a:r>
          </a:p>
        </p:txBody>
      </p:sp>
      <p:sp>
        <p:nvSpPr>
          <p:cNvPr id="27650"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4"/>
          <p:cNvSpPr>
            <a:spLocks noGrp="1"/>
          </p:cNvSpPr>
          <p:nvPr>
            <p:ph sz="half" idx="4294967295"/>
          </p:nvPr>
        </p:nvSpPr>
        <p:spPr>
          <a:xfrm>
            <a:off x="3286125" y="428625"/>
            <a:ext cx="5572125" cy="5857875"/>
          </a:xfrm>
        </p:spPr>
        <p:txBody>
          <a:bodyPr/>
          <a:lstStyle/>
          <a:p>
            <a:pPr>
              <a:lnSpc>
                <a:spcPct val="90000"/>
              </a:lnSpc>
            </a:pPr>
            <a:r>
              <a:rPr lang="en-US" smtClean="0"/>
              <a:t>The meaning of oligopoly, and why it occurs </a:t>
            </a:r>
          </a:p>
          <a:p>
            <a:pPr>
              <a:lnSpc>
                <a:spcPct val="90000"/>
              </a:lnSpc>
            </a:pPr>
            <a:r>
              <a:rPr lang="en-US" smtClean="0"/>
              <a:t>Why oligopolists have an incentive to act in ways that reduce their combined profit, and why they can benefit from collusion </a:t>
            </a:r>
          </a:p>
          <a:p>
            <a:pPr>
              <a:lnSpc>
                <a:spcPct val="90000"/>
              </a:lnSpc>
            </a:pPr>
            <a:r>
              <a:rPr lang="en-US" smtClean="0"/>
              <a:t>How our understanding of oligopoly can be enhanced by using game theory, especially the concept of the prisoners’ dilemma </a:t>
            </a:r>
          </a:p>
          <a:p>
            <a:pPr>
              <a:lnSpc>
                <a:spcPct val="90000"/>
              </a:lnSpc>
            </a:pPr>
            <a:r>
              <a:rPr lang="en-US" smtClean="0"/>
              <a:t>How repeated interactions among oligopolists can help them achieve tacit collusion </a:t>
            </a:r>
          </a:p>
          <a:p>
            <a:pPr>
              <a:lnSpc>
                <a:spcPct val="90000"/>
              </a:lnSpc>
            </a:pPr>
            <a:r>
              <a:rPr lang="en-US" smtClean="0"/>
              <a:t>How oligopoly works in practice, under the legal constraints of antitrust policy</a:t>
            </a:r>
          </a:p>
          <a:p>
            <a:pPr>
              <a:lnSpc>
                <a:spcPct val="90000"/>
              </a:lnSpc>
            </a:pPr>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ph type="title" idx="4294967295"/>
          </p:nvPr>
        </p:nvSpPr>
        <p:spPr>
          <a:xfrm>
            <a:off x="971550" y="0"/>
            <a:ext cx="7993063" cy="620713"/>
          </a:xfrm>
        </p:spPr>
        <p:txBody>
          <a:bodyPr/>
          <a:lstStyle/>
          <a:p>
            <a:pPr>
              <a:defRPr/>
            </a:pPr>
            <a:r>
              <a:rPr lang="en-US" smtClean="0">
                <a:effectLst>
                  <a:outerShdw blurRad="38100" dist="38100" dir="2700000" algn="tl">
                    <a:srgbClr val="C0C0C0"/>
                  </a:outerShdw>
                </a:effectLst>
              </a:rPr>
              <a:t>Properties of Oligopoly Markets</a:t>
            </a:r>
            <a:endParaRPr lang="en-US" b="0" smtClean="0">
              <a:effectLst>
                <a:outerShdw blurRad="38100" dist="38100" dir="2700000" algn="tl">
                  <a:srgbClr val="C0C0C0"/>
                </a:outerShdw>
              </a:effectLst>
            </a:endParaRPr>
          </a:p>
        </p:txBody>
      </p:sp>
      <p:sp>
        <p:nvSpPr>
          <p:cNvPr id="31746" name="Text Box 3"/>
          <p:cNvSpPr txBox="1">
            <a:spLocks noChangeArrowheads="1"/>
          </p:cNvSpPr>
          <p:nvPr/>
        </p:nvSpPr>
        <p:spPr bwMode="auto">
          <a:xfrm>
            <a:off x="792163" y="2816225"/>
            <a:ext cx="8172450" cy="3867150"/>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i="1"/>
              <a:t>Oligopoly </a:t>
            </a:r>
            <a:r>
              <a:rPr lang="en-US" sz="2400"/>
              <a:t>and monopolistic competition are forms of market structure with </a:t>
            </a:r>
            <a:r>
              <a:rPr lang="en-US" sz="2200" i="1"/>
              <a:t>imperfect competition </a:t>
            </a:r>
            <a:r>
              <a:rPr lang="en-US" sz="2200" i="1">
                <a:sym typeface="Symbol" pitchFamily="18" charset="2"/>
              </a:rPr>
              <a:t> </a:t>
            </a:r>
            <a:r>
              <a:rPr lang="en-US" sz="2200">
                <a:sym typeface="Symbol" pitchFamily="18" charset="2"/>
              </a:rPr>
              <a:t>firms have competitors but still have market power</a:t>
            </a:r>
          </a:p>
          <a:p>
            <a:pPr marL="688975" lvl="1" indent="-231775">
              <a:buClr>
                <a:schemeClr val="tx1"/>
              </a:buClr>
              <a:buFont typeface="Wingdings" pitchFamily="2" charset="2"/>
              <a:buChar char="§"/>
            </a:pPr>
            <a:r>
              <a:rPr lang="en-US" sz="2200"/>
              <a:t>When no one firm has a monopoly, but producers can affect market prices, there is </a:t>
            </a:r>
            <a:r>
              <a:rPr lang="en-US" sz="2200" b="1"/>
              <a:t>imperfect competition</a:t>
            </a:r>
            <a:r>
              <a:rPr lang="en-US" sz="2200"/>
              <a:t>.</a:t>
            </a:r>
          </a:p>
          <a:p>
            <a:pPr marL="688975" lvl="1" indent="-231775">
              <a:buClr>
                <a:schemeClr val="tx1"/>
              </a:buClr>
              <a:buFont typeface="Wingdings" pitchFamily="2" charset="2"/>
              <a:buChar char="§"/>
            </a:pPr>
            <a:endParaRPr lang="en-US" sz="2200" b="1"/>
          </a:p>
          <a:p>
            <a:pPr marL="231775" indent="-231775">
              <a:buClr>
                <a:schemeClr val="tx1"/>
              </a:buClr>
              <a:buFont typeface="Arial" charset="0"/>
              <a:buChar char="•"/>
            </a:pPr>
            <a:r>
              <a:rPr lang="en-US" sz="2400" b="1"/>
              <a:t>Oligopoly</a:t>
            </a:r>
            <a:r>
              <a:rPr lang="en-US" sz="2400"/>
              <a:t> is a common market structure. </a:t>
            </a:r>
          </a:p>
          <a:p>
            <a:pPr marL="688975" lvl="1" indent="-231775">
              <a:buClr>
                <a:schemeClr val="tx1"/>
              </a:buClr>
              <a:buFont typeface="Wingdings" pitchFamily="2" charset="2"/>
              <a:buChar char="§"/>
            </a:pPr>
            <a:r>
              <a:rPr lang="en-US" sz="2200"/>
              <a:t>It arises from the same forces that lead to monopoly, except in a weaker form. </a:t>
            </a:r>
          </a:p>
          <a:p>
            <a:pPr marL="688975" lvl="1" indent="-231775">
              <a:buClr>
                <a:schemeClr val="tx1"/>
              </a:buClr>
              <a:buFont typeface="Wingdings" pitchFamily="2" charset="2"/>
              <a:buChar char="§"/>
            </a:pPr>
            <a:r>
              <a:rPr lang="en-US" sz="2200"/>
              <a:t>It is an industry with only a small number of producers. </a:t>
            </a:r>
          </a:p>
          <a:p>
            <a:pPr marL="688975" lvl="1" indent="-231775">
              <a:buClr>
                <a:schemeClr val="tx1"/>
              </a:buClr>
              <a:buFont typeface="Wingdings" pitchFamily="2" charset="2"/>
              <a:buChar char="§"/>
            </a:pPr>
            <a:r>
              <a:rPr lang="en-US" sz="2200"/>
              <a:t>A producer in such an industry is known as an </a:t>
            </a:r>
            <a:r>
              <a:rPr lang="en-US" sz="2200" b="1"/>
              <a:t>oligopolist.</a:t>
            </a:r>
            <a:endParaRPr lang="en-US" sz="2200"/>
          </a:p>
        </p:txBody>
      </p:sp>
      <p:cxnSp>
        <p:nvCxnSpPr>
          <p:cNvPr id="8" name="Straight Arrow Connector 7"/>
          <p:cNvCxnSpPr/>
          <p:nvPr/>
        </p:nvCxnSpPr>
        <p:spPr>
          <a:xfrm>
            <a:off x="838200" y="1998663"/>
            <a:ext cx="8077200" cy="0"/>
          </a:xfrm>
          <a:prstGeom prst="straightConnector1">
            <a:avLst/>
          </a:prstGeom>
          <a:ln w="571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748" name="TextBox 9"/>
          <p:cNvSpPr txBox="1">
            <a:spLocks noChangeArrowheads="1"/>
          </p:cNvSpPr>
          <p:nvPr/>
        </p:nvSpPr>
        <p:spPr bwMode="auto">
          <a:xfrm>
            <a:off x="7391400" y="1341438"/>
            <a:ext cx="1501775" cy="366712"/>
          </a:xfrm>
          <a:prstGeom prst="rect">
            <a:avLst/>
          </a:prstGeom>
          <a:noFill/>
          <a:ln w="9525">
            <a:noFill/>
            <a:miter lim="800000"/>
            <a:headEnd/>
            <a:tailEnd/>
          </a:ln>
        </p:spPr>
        <p:txBody>
          <a:bodyPr>
            <a:spAutoFit/>
          </a:bodyPr>
          <a:lstStyle/>
          <a:p>
            <a:r>
              <a:rPr lang="en-US" b="1"/>
              <a:t>Monopoly</a:t>
            </a:r>
          </a:p>
        </p:txBody>
      </p:sp>
      <p:cxnSp>
        <p:nvCxnSpPr>
          <p:cNvPr id="15" name="Straight Connector 14"/>
          <p:cNvCxnSpPr/>
          <p:nvPr/>
        </p:nvCxnSpPr>
        <p:spPr>
          <a:xfrm flipV="1">
            <a:off x="8267700" y="1614488"/>
            <a:ext cx="0" cy="3841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750" name="TextBox 17"/>
          <p:cNvSpPr txBox="1">
            <a:spLocks noChangeArrowheads="1"/>
          </p:cNvSpPr>
          <p:nvPr/>
        </p:nvSpPr>
        <p:spPr bwMode="auto">
          <a:xfrm>
            <a:off x="609600" y="668338"/>
            <a:ext cx="2209800" cy="366712"/>
          </a:xfrm>
          <a:prstGeom prst="rect">
            <a:avLst/>
          </a:prstGeom>
          <a:noFill/>
          <a:ln w="9525">
            <a:noFill/>
            <a:miter lim="800000"/>
            <a:headEnd/>
            <a:tailEnd/>
          </a:ln>
        </p:spPr>
        <p:txBody>
          <a:bodyPr>
            <a:spAutoFit/>
          </a:bodyPr>
          <a:lstStyle/>
          <a:p>
            <a:r>
              <a:rPr lang="en-US" b="1"/>
              <a:t>Perfect competition</a:t>
            </a:r>
          </a:p>
        </p:txBody>
      </p:sp>
      <p:cxnSp>
        <p:nvCxnSpPr>
          <p:cNvPr id="19" name="Straight Connector 18"/>
          <p:cNvCxnSpPr/>
          <p:nvPr/>
        </p:nvCxnSpPr>
        <p:spPr>
          <a:xfrm flipV="1">
            <a:off x="1257300" y="1031875"/>
            <a:ext cx="0" cy="9667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752" name="TextBox 19"/>
          <p:cNvSpPr txBox="1">
            <a:spLocks noChangeArrowheads="1"/>
          </p:cNvSpPr>
          <p:nvPr/>
        </p:nvSpPr>
        <p:spPr bwMode="auto">
          <a:xfrm>
            <a:off x="2746375" y="944563"/>
            <a:ext cx="1933575" cy="641350"/>
          </a:xfrm>
          <a:prstGeom prst="rect">
            <a:avLst/>
          </a:prstGeom>
          <a:noFill/>
          <a:ln w="9525">
            <a:noFill/>
            <a:miter lim="800000"/>
            <a:headEnd/>
            <a:tailEnd/>
          </a:ln>
        </p:spPr>
        <p:txBody>
          <a:bodyPr>
            <a:spAutoFit/>
          </a:bodyPr>
          <a:lstStyle/>
          <a:p>
            <a:r>
              <a:rPr lang="en-US" b="1"/>
              <a:t>Monopolistic competition</a:t>
            </a:r>
          </a:p>
        </p:txBody>
      </p:sp>
      <p:cxnSp>
        <p:nvCxnSpPr>
          <p:cNvPr id="21" name="Straight Connector 20"/>
          <p:cNvCxnSpPr/>
          <p:nvPr/>
        </p:nvCxnSpPr>
        <p:spPr>
          <a:xfrm flipV="1">
            <a:off x="3505200" y="1495425"/>
            <a:ext cx="0" cy="5032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754" name="TextBox 21"/>
          <p:cNvSpPr txBox="1">
            <a:spLocks noChangeArrowheads="1"/>
          </p:cNvSpPr>
          <p:nvPr/>
        </p:nvSpPr>
        <p:spPr bwMode="auto">
          <a:xfrm>
            <a:off x="5029200" y="1123950"/>
            <a:ext cx="2438400" cy="366713"/>
          </a:xfrm>
          <a:prstGeom prst="rect">
            <a:avLst/>
          </a:prstGeom>
          <a:noFill/>
          <a:ln w="9525">
            <a:noFill/>
            <a:miter lim="800000"/>
            <a:headEnd/>
            <a:tailEnd/>
          </a:ln>
        </p:spPr>
        <p:txBody>
          <a:bodyPr>
            <a:spAutoFit/>
          </a:bodyPr>
          <a:lstStyle/>
          <a:p>
            <a:r>
              <a:rPr lang="en-US" b="1"/>
              <a:t>Oligopoly</a:t>
            </a:r>
          </a:p>
        </p:txBody>
      </p:sp>
      <p:cxnSp>
        <p:nvCxnSpPr>
          <p:cNvPr id="23" name="Straight Connector 22"/>
          <p:cNvCxnSpPr/>
          <p:nvPr/>
        </p:nvCxnSpPr>
        <p:spPr>
          <a:xfrm flipV="1">
            <a:off x="5943600" y="1495425"/>
            <a:ext cx="0" cy="5032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a:spLocks noChangeArrowheads="1"/>
          </p:cNvSpPr>
          <p:nvPr/>
        </p:nvSpPr>
        <p:spPr bwMode="auto">
          <a:xfrm>
            <a:off x="1090613" y="1989138"/>
            <a:ext cx="7729537" cy="641350"/>
          </a:xfrm>
          <a:prstGeom prst="rect">
            <a:avLst/>
          </a:prstGeom>
          <a:noFill/>
          <a:ln w="9525">
            <a:noFill/>
            <a:miter lim="800000"/>
            <a:headEnd/>
            <a:tailEnd/>
          </a:ln>
        </p:spPr>
        <p:txBody>
          <a:bodyPr>
            <a:spAutoFit/>
          </a:bodyPr>
          <a:lstStyle/>
          <a:p>
            <a:r>
              <a:rPr lang="en-US" b="1" i="1">
                <a:solidFill>
                  <a:srgbClr val="E46C0A"/>
                </a:solidFill>
              </a:rPr>
              <a:t>More competition					Less competition</a:t>
            </a:r>
          </a:p>
          <a:p>
            <a:r>
              <a:rPr lang="en-US" b="1" i="1">
                <a:solidFill>
                  <a:srgbClr val="E46C0A"/>
                </a:solidFill>
              </a:rPr>
              <a:t>(less price control)					(more price control)</a:t>
            </a:r>
          </a:p>
        </p:txBody>
      </p:sp>
      <p:sp>
        <p:nvSpPr>
          <p:cNvPr id="31757" name="Rectangle 17"/>
          <p:cNvSpPr>
            <a:spLocks noChangeArrowheads="1"/>
          </p:cNvSpPr>
          <p:nvPr/>
        </p:nvSpPr>
        <p:spPr bwMode="auto">
          <a:xfrm>
            <a:off x="5040313" y="1125538"/>
            <a:ext cx="1079500" cy="358775"/>
          </a:xfrm>
          <a:prstGeom prst="rect">
            <a:avLst/>
          </a:prstGeom>
          <a:noFill/>
          <a:ln w="25400">
            <a:solidFill>
              <a:srgbClr val="FF6600"/>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rrowheads="1"/>
          </p:cNvSpPr>
          <p:nvPr>
            <p:ph type="title" idx="4294967295"/>
          </p:nvPr>
        </p:nvSpPr>
        <p:spPr>
          <a:xfrm>
            <a:off x="900113" y="115888"/>
            <a:ext cx="8015287" cy="457200"/>
          </a:xfrm>
        </p:spPr>
        <p:txBody>
          <a:bodyPr/>
          <a:lstStyle/>
          <a:p>
            <a:pPr>
              <a:defRPr/>
            </a:pPr>
            <a:r>
              <a:rPr lang="en-US" smtClean="0">
                <a:effectLst>
                  <a:outerShdw blurRad="38100" dist="38100" dir="2700000" algn="tl">
                    <a:srgbClr val="C0C0C0"/>
                  </a:outerShdw>
                </a:effectLst>
              </a:rPr>
              <a:t>Measuring Oligopoly</a:t>
            </a:r>
            <a:endParaRPr lang="en-US" b="0" smtClean="0">
              <a:effectLst>
                <a:outerShdw blurRad="38100" dist="38100" dir="2700000" algn="tl">
                  <a:srgbClr val="C0C0C0"/>
                </a:outerShdw>
              </a:effectLst>
            </a:endParaRPr>
          </a:p>
        </p:txBody>
      </p:sp>
      <p:sp>
        <p:nvSpPr>
          <p:cNvPr id="33794" name="Text Box 3"/>
          <p:cNvSpPr txBox="1">
            <a:spLocks noChangeArrowheads="1"/>
          </p:cNvSpPr>
          <p:nvPr/>
        </p:nvSpPr>
        <p:spPr bwMode="auto">
          <a:xfrm>
            <a:off x="647700" y="3375025"/>
            <a:ext cx="8243888" cy="3257550"/>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The </a:t>
            </a:r>
            <a:r>
              <a:rPr lang="en-US" sz="2400" i="1"/>
              <a:t>Herfindahl–Hirschman Index</a:t>
            </a:r>
            <a:r>
              <a:rPr lang="en-US" sz="2400"/>
              <a:t> (HHI) is a measure of market power and market competition </a:t>
            </a:r>
          </a:p>
          <a:p>
            <a:pPr marL="688975" lvl="1" indent="-231775">
              <a:buClr>
                <a:schemeClr val="tx1"/>
              </a:buClr>
              <a:buFont typeface="Arial" charset="0"/>
              <a:buChar char="•"/>
            </a:pPr>
            <a:r>
              <a:rPr lang="en-US" sz="2200"/>
              <a:t>HHI = sum of the squares of each firm’s share of market sales. </a:t>
            </a:r>
          </a:p>
          <a:p>
            <a:pPr marL="688975" lvl="1" indent="-231775">
              <a:buClr>
                <a:schemeClr val="tx1"/>
              </a:buClr>
              <a:buFont typeface="Arial" charset="0"/>
              <a:buChar char="•"/>
            </a:pPr>
            <a:r>
              <a:rPr lang="en-US" sz="2200"/>
              <a:t>E.g. there are three firms with 60%, 25%, and 15% market share:</a:t>
            </a:r>
          </a:p>
          <a:p>
            <a:pPr marL="1143000" lvl="2" indent="-228600">
              <a:buClr>
                <a:schemeClr val="tx1"/>
              </a:buClr>
              <a:buFont typeface="Arial" charset="0"/>
              <a:buChar char="•"/>
            </a:pPr>
            <a:r>
              <a:rPr lang="en-US" sz="2200"/>
              <a:t>HHI = 602 + 252 + 152 = 4,450</a:t>
            </a:r>
          </a:p>
          <a:p>
            <a:pPr marL="1143000" lvl="2" indent="-228600">
              <a:buClr>
                <a:schemeClr val="tx1"/>
              </a:buClr>
              <a:buFont typeface="Arial" charset="0"/>
              <a:buChar char="•"/>
            </a:pPr>
            <a:endParaRPr lang="en-US" sz="2200"/>
          </a:p>
          <a:p>
            <a:pPr marL="231775" indent="-231775">
              <a:buClr>
                <a:schemeClr val="tx1"/>
              </a:buClr>
              <a:buFont typeface="Arial" charset="0"/>
              <a:buChar char="•"/>
            </a:pPr>
            <a:r>
              <a:rPr lang="en-US" sz="2400"/>
              <a:t>Larger HHI indicates less competition in an industry. </a:t>
            </a:r>
          </a:p>
          <a:p>
            <a:pPr marL="688975" lvl="1" indent="-231775">
              <a:buClr>
                <a:schemeClr val="tx1"/>
              </a:buClr>
              <a:buFont typeface="Arial" charset="0"/>
              <a:buChar char="•"/>
            </a:pPr>
            <a:r>
              <a:rPr lang="en-US" sz="2400"/>
              <a:t>HHI &lt; 1000 indicates a competitive industry</a:t>
            </a:r>
          </a:p>
          <a:p>
            <a:pPr marL="688975" lvl="1" indent="-231775">
              <a:buClr>
                <a:schemeClr val="tx1"/>
              </a:buClr>
              <a:buFont typeface="Arial" charset="0"/>
              <a:buChar char="•"/>
            </a:pPr>
            <a:r>
              <a:rPr lang="en-US" sz="2400"/>
              <a:t>HHI &gt; 1800 indicates an oligopoly</a:t>
            </a:r>
          </a:p>
        </p:txBody>
      </p:sp>
      <p:pic>
        <p:nvPicPr>
          <p:cNvPr id="2" name="Picture 1" descr="Krug3e_table_14_01.jpg"/>
          <p:cNvPicPr>
            <a:picLocks noChangeAspect="1"/>
          </p:cNvPicPr>
          <p:nvPr/>
        </p:nvPicPr>
        <p:blipFill>
          <a:blip r:embed="rId3"/>
          <a:srcRect/>
          <a:stretch>
            <a:fillRect/>
          </a:stretch>
        </p:blipFill>
        <p:spPr bwMode="auto">
          <a:xfrm>
            <a:off x="719138" y="823913"/>
            <a:ext cx="8229600" cy="23891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Title 1"/>
          <p:cNvSpPr>
            <a:spLocks noGrp="1"/>
          </p:cNvSpPr>
          <p:nvPr>
            <p:ph type="title" idx="4294967295"/>
          </p:nvPr>
        </p:nvSpPr>
        <p:spPr bwMode="auto">
          <a:noFill/>
        </p:spPr>
        <p:txBody>
          <a:bodyPr/>
          <a:lstStyle/>
          <a:p>
            <a:r>
              <a:rPr lang="en-US" smtClean="0">
                <a:effectLst/>
              </a:rPr>
              <a:t>Studying Oligopoly Behavior…</a:t>
            </a:r>
          </a:p>
        </p:txBody>
      </p:sp>
      <p:sp>
        <p:nvSpPr>
          <p:cNvPr id="35842" name="Content Placeholder 2"/>
          <p:cNvSpPr>
            <a:spLocks noGrp="1"/>
          </p:cNvSpPr>
          <p:nvPr>
            <p:ph idx="4294967295"/>
          </p:nvPr>
        </p:nvSpPr>
        <p:spPr>
          <a:xfrm>
            <a:off x="652463" y="692150"/>
            <a:ext cx="8275637" cy="2628900"/>
          </a:xfrm>
        </p:spPr>
        <p:txBody>
          <a:bodyPr/>
          <a:lstStyle/>
          <a:p>
            <a:pPr marL="0" indent="0"/>
            <a:r>
              <a:rPr lang="en-US" smtClean="0"/>
              <a:t> Understanding oligopoly behavior is complicated because it’s not a single firm considering its costs and pricing in a vacuum (like perfectly competitive firms and monopolies).</a:t>
            </a:r>
          </a:p>
          <a:p>
            <a:pPr marL="0" indent="0"/>
            <a:endParaRPr lang="en-US" sz="1400" smtClean="0"/>
          </a:p>
          <a:p>
            <a:pPr marL="0" indent="0"/>
            <a:r>
              <a:rPr lang="en-US" smtClean="0"/>
              <a:t> The </a:t>
            </a:r>
            <a:r>
              <a:rPr lang="en-US" smtClean="0">
                <a:solidFill>
                  <a:srgbClr val="990033"/>
                </a:solidFill>
              </a:rPr>
              <a:t>profits</a:t>
            </a:r>
            <a:r>
              <a:rPr lang="en-US" smtClean="0"/>
              <a:t> of a large firm </a:t>
            </a:r>
            <a:r>
              <a:rPr lang="en-US" smtClean="0">
                <a:solidFill>
                  <a:srgbClr val="990033"/>
                </a:solidFill>
              </a:rPr>
              <a:t>depend heavily on the actions taken by other large firms.</a:t>
            </a:r>
          </a:p>
        </p:txBody>
      </p:sp>
      <p:pic>
        <p:nvPicPr>
          <p:cNvPr id="2050" name="Picture 2" descr="http://www.sxc.hu/pic/l/k/kh/khaibit/1387445_50258862.jpg"/>
          <p:cNvPicPr>
            <a:picLocks noChangeAspect="1" noChangeArrowheads="1"/>
          </p:cNvPicPr>
          <p:nvPr/>
        </p:nvPicPr>
        <p:blipFill>
          <a:blip r:embed="rId3"/>
          <a:srcRect/>
          <a:stretch>
            <a:fillRect/>
          </a:stretch>
        </p:blipFill>
        <p:spPr bwMode="auto">
          <a:xfrm>
            <a:off x="5292725" y="2816225"/>
            <a:ext cx="3124200" cy="2082800"/>
          </a:xfrm>
          <a:prstGeom prst="rect">
            <a:avLst/>
          </a:prstGeom>
          <a:ln>
            <a:noFill/>
          </a:ln>
          <a:effectLst>
            <a:outerShdw blurRad="292100" dist="139700" dir="2700000" algn="tl" rotWithShape="0">
              <a:srgbClr val="333333">
                <a:alpha val="65000"/>
              </a:srgbClr>
            </a:outerShdw>
          </a:effectLst>
          <a:extLst>
            <a:ext uri="{909E8E84-426E-40DD-AFC4-6F175D3DCCD1}"/>
          </a:extLst>
        </p:spPr>
      </p:pic>
      <p:sp>
        <p:nvSpPr>
          <p:cNvPr id="2" name="Text Box 3"/>
          <p:cNvSpPr txBox="1">
            <a:spLocks noChangeArrowheads="1"/>
          </p:cNvSpPr>
          <p:nvPr/>
        </p:nvSpPr>
        <p:spPr bwMode="auto">
          <a:xfrm>
            <a:off x="684213" y="5337175"/>
            <a:ext cx="8015287" cy="1187450"/>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Some of the key issues in oligopoly can be understood by looking at the simplest case, a duopoly. </a:t>
            </a:r>
          </a:p>
          <a:p>
            <a:pPr marL="688975" lvl="1" indent="-231775">
              <a:buClr>
                <a:schemeClr val="tx1"/>
              </a:buClr>
              <a:buFont typeface="Arial" charset="0"/>
              <a:buChar char="•"/>
            </a:pPr>
            <a:r>
              <a:rPr lang="en-US" sz="2400"/>
              <a:t>A </a:t>
            </a:r>
            <a:r>
              <a:rPr lang="en-US" sz="2400" i="1"/>
              <a:t>duopoly</a:t>
            </a:r>
            <a:r>
              <a:rPr lang="en-US" sz="2400"/>
              <a:t> is an oligopoly of two firms</a:t>
            </a:r>
          </a:p>
        </p:txBody>
      </p:sp>
      <p:sp>
        <p:nvSpPr>
          <p:cNvPr id="4" name="Text Box 3"/>
          <p:cNvSpPr txBox="1">
            <a:spLocks noChangeArrowheads="1"/>
          </p:cNvSpPr>
          <p:nvPr/>
        </p:nvSpPr>
        <p:spPr bwMode="auto">
          <a:xfrm>
            <a:off x="647700" y="3284538"/>
            <a:ext cx="4679950" cy="1933575"/>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Firms in an oligopoly experience </a:t>
            </a:r>
            <a:r>
              <a:rPr lang="en-US" sz="2500">
                <a:solidFill>
                  <a:srgbClr val="990033"/>
                </a:solidFill>
              </a:rPr>
              <a:t>Strategic Interaction</a:t>
            </a:r>
          </a:p>
          <a:p>
            <a:pPr marL="688975" lvl="1" indent="-231775">
              <a:buClr>
                <a:schemeClr val="tx1"/>
              </a:buClr>
              <a:buFont typeface="Arial" charset="0"/>
              <a:buChar char="•"/>
            </a:pPr>
            <a:r>
              <a:rPr lang="en-US" sz="2400"/>
              <a:t>Actions of any one firm has a large impact on the profits of other firms.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rrowheads="1"/>
          </p:cNvSpPr>
          <p:nvPr>
            <p:ph type="title" idx="4294967295"/>
          </p:nvPr>
        </p:nvSpPr>
        <p:spPr>
          <a:xfrm>
            <a:off x="827088" y="115888"/>
            <a:ext cx="8137525" cy="457200"/>
          </a:xfrm>
        </p:spPr>
        <p:txBody>
          <a:bodyPr/>
          <a:lstStyle/>
          <a:p>
            <a:pPr>
              <a:defRPr/>
            </a:pPr>
            <a:r>
              <a:rPr lang="en-US" dirty="0" smtClean="0"/>
              <a:t>Understanding Oligopoly</a:t>
            </a:r>
          </a:p>
        </p:txBody>
      </p:sp>
      <p:sp>
        <p:nvSpPr>
          <p:cNvPr id="37890" name="Text Box 3"/>
          <p:cNvSpPr txBox="1">
            <a:spLocks noChangeArrowheads="1"/>
          </p:cNvSpPr>
          <p:nvPr/>
        </p:nvSpPr>
        <p:spPr bwMode="auto">
          <a:xfrm>
            <a:off x="684213" y="728663"/>
            <a:ext cx="8280400" cy="5934075"/>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With only two firms in the industry, each would realize that by producing more, it would drive down the market price. </a:t>
            </a:r>
          </a:p>
          <a:p>
            <a:pPr marL="742950" lvl="1" indent="-285750">
              <a:buClr>
                <a:schemeClr val="tx1"/>
              </a:buClr>
              <a:buFont typeface="Arial" charset="0"/>
              <a:buChar char="•"/>
            </a:pPr>
            <a:r>
              <a:rPr lang="en-US" sz="2400"/>
              <a:t>Each firm would, like a monopolist, realize that profits would be higher if it limited its production. </a:t>
            </a:r>
          </a:p>
          <a:p>
            <a:pPr marL="742950" lvl="1" indent="-285750">
              <a:buClr>
                <a:schemeClr val="tx1"/>
              </a:buClr>
              <a:buFont typeface="Arial" charset="0"/>
              <a:buChar char="•"/>
            </a:pPr>
            <a:r>
              <a:rPr lang="en-US" sz="2400"/>
              <a:t>So how much will the two firms produce?</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One possibility is that the two companies will engage in </a:t>
            </a:r>
            <a:r>
              <a:rPr lang="en-US" sz="2400" b="1"/>
              <a:t>collusion</a:t>
            </a:r>
            <a:r>
              <a:rPr lang="en-US" sz="2400"/>
              <a:t>. Sellers engage in </a:t>
            </a:r>
            <a:r>
              <a:rPr lang="en-US" sz="2400" b="1"/>
              <a:t>collusion </a:t>
            </a:r>
            <a:r>
              <a:rPr lang="en-US" sz="2400"/>
              <a:t>when they cooperate and agree not to reduce each others’ profits. </a:t>
            </a:r>
          </a:p>
          <a:p>
            <a:pPr marL="742950" lvl="1" indent="-285750">
              <a:buClr>
                <a:schemeClr val="tx1"/>
              </a:buClr>
              <a:buFont typeface="Arial" charset="0"/>
              <a:buChar char="•"/>
            </a:pPr>
            <a:r>
              <a:rPr lang="en-US" sz="2400"/>
              <a:t>The strongest form of collusion is a </a:t>
            </a:r>
            <a:r>
              <a:rPr lang="en-US" sz="2400" b="1"/>
              <a:t>cartel</a:t>
            </a:r>
            <a:r>
              <a:rPr lang="en-US" sz="2400"/>
              <a:t>,</a:t>
            </a:r>
            <a:r>
              <a:rPr lang="en-US" sz="2400" b="1"/>
              <a:t> </a:t>
            </a:r>
            <a:r>
              <a:rPr lang="en-US" sz="2400"/>
              <a:t>an agreement by several producers to obey output or price restrictions to increase their joint profits. </a:t>
            </a:r>
          </a:p>
          <a:p>
            <a:pPr marL="742950" lvl="1" indent="-285750">
              <a:buClr>
                <a:schemeClr val="tx1"/>
              </a:buClr>
              <a:buFont typeface="Arial" charset="0"/>
              <a:buChar char="•"/>
            </a:pPr>
            <a:endParaRPr lang="en-US" sz="2400"/>
          </a:p>
          <a:p>
            <a:pPr marL="231775" indent="-231775">
              <a:buClr>
                <a:schemeClr val="tx1"/>
              </a:buClr>
              <a:buFont typeface="Arial" charset="0"/>
              <a:buChar char="•"/>
            </a:pPr>
            <a:r>
              <a:rPr lang="en-US" sz="2400"/>
              <a:t>By acting as if they were a single monopolist, firms can earn the highest profits possible from a market. </a:t>
            </a:r>
          </a:p>
          <a:p>
            <a:pPr marL="742950" lvl="1" indent="-285750">
              <a:buClr>
                <a:schemeClr val="tx1"/>
              </a:buClr>
              <a:buFont typeface="Arial" charset="0"/>
              <a:buChar char="•"/>
            </a:pPr>
            <a:r>
              <a:rPr lang="en-US" sz="2400"/>
              <a:t>So, there is a high incentive to form a cartel. </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title" idx="4294967295"/>
          </p:nvPr>
        </p:nvSpPr>
        <p:spPr>
          <a:xfrm>
            <a:off x="827088" y="44450"/>
            <a:ext cx="7554912" cy="609600"/>
          </a:xfrm>
        </p:spPr>
        <p:txBody>
          <a:bodyPr/>
          <a:lstStyle/>
          <a:p>
            <a:pPr>
              <a:defRPr/>
            </a:pPr>
            <a:r>
              <a:rPr lang="en-US" dirty="0" smtClean="0"/>
              <a:t>Understanding Oligopoly</a:t>
            </a:r>
          </a:p>
        </p:txBody>
      </p:sp>
      <p:sp>
        <p:nvSpPr>
          <p:cNvPr id="39938" name="Text Box 3"/>
          <p:cNvSpPr txBox="1">
            <a:spLocks noChangeArrowheads="1"/>
          </p:cNvSpPr>
          <p:nvPr/>
        </p:nvSpPr>
        <p:spPr bwMode="auto">
          <a:xfrm>
            <a:off x="863600" y="836613"/>
            <a:ext cx="8051800" cy="5132387"/>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On the other hand, the firms in an industry may not agree with one another, and may engage in non-cooperative behavior, ignoring the effects of their actions on each others’ profits.</a:t>
            </a:r>
          </a:p>
          <a:p>
            <a:pPr marL="688975" lvl="1" indent="-231775">
              <a:buClr>
                <a:schemeClr val="tx1"/>
              </a:buClr>
              <a:buFont typeface="Wingdings" pitchFamily="2" charset="2"/>
              <a:buChar char="§"/>
            </a:pPr>
            <a:r>
              <a:rPr lang="en-US" sz="2300"/>
              <a:t>When firms ignore the effects of their actions on each others’ profits, they engage in </a:t>
            </a:r>
            <a:r>
              <a:rPr lang="en-US" sz="2300" b="1"/>
              <a:t>non-cooperative behavior</a:t>
            </a:r>
            <a:r>
              <a:rPr lang="en-US" sz="2300"/>
              <a:t>.</a:t>
            </a:r>
            <a:r>
              <a:rPr lang="en-US" sz="2400"/>
              <a:t> </a:t>
            </a:r>
          </a:p>
          <a:p>
            <a:pPr marL="231775" indent="-231775">
              <a:buClr>
                <a:schemeClr val="tx1"/>
              </a:buClr>
              <a:buFont typeface="Wingdings" pitchFamily="2" charset="2"/>
              <a:buChar char="§"/>
            </a:pPr>
            <a:endParaRPr lang="en-US" sz="2400"/>
          </a:p>
          <a:p>
            <a:pPr marL="231775" indent="-231775">
              <a:buClr>
                <a:schemeClr val="tx1"/>
              </a:buClr>
              <a:buFont typeface="Arial" charset="0"/>
              <a:buChar char="•"/>
            </a:pPr>
            <a:r>
              <a:rPr lang="en-US" sz="2400"/>
              <a:t>Firms in a cartel also have an incentive to engage in non-cooperative behavior — to cheat and to produce more than it is supposed to under the cartel agreement. </a:t>
            </a:r>
          </a:p>
          <a:p>
            <a:pPr marL="688975" lvl="1" indent="-231775">
              <a:buClr>
                <a:schemeClr val="tx1"/>
              </a:buClr>
              <a:buFont typeface="Wingdings" pitchFamily="2" charset="2"/>
              <a:buChar char="§"/>
            </a:pPr>
            <a:r>
              <a:rPr lang="en-US" sz="2300"/>
              <a:t>So, there are two principal outcomes: successful </a:t>
            </a:r>
            <a:r>
              <a:rPr lang="en-US" sz="2300" i="1"/>
              <a:t>collusion </a:t>
            </a:r>
            <a:r>
              <a:rPr lang="en-US" sz="2300"/>
              <a:t>or behaving </a:t>
            </a:r>
            <a:r>
              <a:rPr lang="en-US" sz="2300" i="1"/>
              <a:t>non-cooperatively </a:t>
            </a:r>
            <a:r>
              <a:rPr lang="en-US" sz="2300"/>
              <a:t>by cheating. </a:t>
            </a:r>
          </a:p>
          <a:p>
            <a:pPr marL="688975" lvl="1" indent="-231775">
              <a:buClr>
                <a:schemeClr val="tx1"/>
              </a:buClr>
              <a:buFont typeface="Wingdings" pitchFamily="2" charset="2"/>
              <a:buChar char="§"/>
            </a:pPr>
            <a:r>
              <a:rPr lang="en-US" sz="2300"/>
              <a:t>It is easier for firms to achieve successful collusion when firms in an industry face short-run capacity constraints.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827088" y="-26988"/>
            <a:ext cx="8243887" cy="685801"/>
          </a:xfrm>
        </p:spPr>
        <p:txBody>
          <a:bodyPr/>
          <a:lstStyle/>
          <a:p>
            <a:pPr>
              <a:defRPr/>
            </a:pPr>
            <a:r>
              <a:rPr lang="en-US" smtClean="0">
                <a:effectLst>
                  <a:outerShdw blurRad="38100" dist="38100" dir="2700000" algn="tl">
                    <a:srgbClr val="C0C0C0"/>
                  </a:outerShdw>
                </a:effectLst>
              </a:rPr>
              <a:t>Capacity Constrained: Competing in Quantities</a:t>
            </a:r>
            <a:endParaRPr lang="en-US" b="0" smtClean="0">
              <a:effectLst>
                <a:outerShdw blurRad="38100" dist="38100" dir="2700000" algn="tl">
                  <a:srgbClr val="C0C0C0"/>
                </a:outerShdw>
              </a:effectLst>
              <a:latin typeface="Rockwell Condensed" pitchFamily="18" charset="0"/>
            </a:endParaRPr>
          </a:p>
        </p:txBody>
      </p:sp>
      <p:sp>
        <p:nvSpPr>
          <p:cNvPr id="41986" name="Text Box 3"/>
          <p:cNvSpPr txBox="1">
            <a:spLocks noChangeArrowheads="1"/>
          </p:cNvSpPr>
          <p:nvPr/>
        </p:nvSpPr>
        <p:spPr bwMode="auto">
          <a:xfrm>
            <a:off x="900113" y="893763"/>
            <a:ext cx="8010525" cy="5630862"/>
          </a:xfrm>
          <a:prstGeom prst="rect">
            <a:avLst/>
          </a:prstGeom>
          <a:noFill/>
          <a:ln w="9525" algn="ctr">
            <a:noFill/>
            <a:miter lim="800000"/>
            <a:headEnd/>
            <a:tailEnd type="none" w="med" len="lg"/>
          </a:ln>
        </p:spPr>
        <p:txBody>
          <a:bodyPr/>
          <a:lstStyle/>
          <a:p>
            <a:pPr marL="231775" indent="-231775">
              <a:buClr>
                <a:schemeClr val="tx1"/>
              </a:buClr>
              <a:buFont typeface="Arial" charset="0"/>
              <a:buChar char="•"/>
            </a:pPr>
            <a:r>
              <a:rPr lang="en-US" sz="2400"/>
              <a:t>Depending on whether firms face short-run capacity constraints, firms may engage in </a:t>
            </a:r>
            <a:r>
              <a:rPr lang="en-US" sz="2400" i="1"/>
              <a:t>quantity competition </a:t>
            </a:r>
            <a:r>
              <a:rPr lang="en-US" sz="2400"/>
              <a:t>or</a:t>
            </a:r>
            <a:r>
              <a:rPr lang="en-US" sz="2400" i="1"/>
              <a:t> price</a:t>
            </a:r>
            <a:r>
              <a:rPr lang="en-US" sz="2400"/>
              <a:t> </a:t>
            </a:r>
            <a:r>
              <a:rPr lang="en-US" sz="2400" i="1"/>
              <a:t>competition</a:t>
            </a:r>
            <a:r>
              <a:rPr lang="en-US" sz="2400"/>
              <a:t>.</a:t>
            </a:r>
            <a:endParaRPr lang="en-US" sz="2400" i="1"/>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The basic insight of </a:t>
            </a:r>
            <a:r>
              <a:rPr lang="en-US" sz="2400" i="1"/>
              <a:t>quantity competition</a:t>
            </a:r>
            <a:r>
              <a:rPr lang="en-US" sz="2400"/>
              <a:t> (or the Cournot model) is that when firms are restricted in how much they can produce, it is easier for them to avoid excessive competition.</a:t>
            </a:r>
          </a:p>
          <a:p>
            <a:pPr marL="1600200" lvl="3" indent="-228600">
              <a:buClr>
                <a:schemeClr val="tx1"/>
              </a:buClr>
              <a:buFont typeface="Arial" charset="0"/>
              <a:buChar char="•"/>
            </a:pPr>
            <a:endParaRPr lang="en-US" sz="1400"/>
          </a:p>
          <a:p>
            <a:pPr marL="231775" indent="-231775">
              <a:buClr>
                <a:schemeClr val="tx1"/>
              </a:buClr>
              <a:buFont typeface="Arial" charset="0"/>
              <a:buChar char="•"/>
            </a:pPr>
            <a:r>
              <a:rPr lang="en-US" sz="2400"/>
              <a:t>If firms are restricted in how much they can produce, they can “divvy up” the market, thereby pricing above marginal cost and earning profits. </a:t>
            </a:r>
          </a:p>
          <a:p>
            <a:pPr marL="742950" lvl="1" indent="-285750">
              <a:buClr>
                <a:schemeClr val="tx1"/>
              </a:buClr>
              <a:buFont typeface="Arial" charset="0"/>
              <a:buChar char="•"/>
            </a:pPr>
            <a:r>
              <a:rPr lang="en-US" sz="2200"/>
              <a:t>It is easier for them to achieve an outcome that looks like collusion without an agreement.</a:t>
            </a:r>
          </a:p>
          <a:p>
            <a:pPr marL="742950" lvl="1" indent="-285750">
              <a:buClr>
                <a:schemeClr val="tx1"/>
              </a:buClr>
              <a:buFont typeface="Arial" charset="0"/>
              <a:buChar char="•"/>
            </a:pPr>
            <a:r>
              <a:rPr lang="en-US" sz="2200"/>
              <a:t>Profits earned are still lower than if the firms agreed to split the market and monopoly pricing.</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10"/>
          <p:cNvPicPr>
            <a:picLocks noChangeAspect="1" noChangeArrowheads="1"/>
          </p:cNvPicPr>
          <p:nvPr/>
        </p:nvPicPr>
        <p:blipFill>
          <a:blip r:embed="rId3"/>
          <a:srcRect/>
          <a:stretch>
            <a:fillRect/>
          </a:stretch>
        </p:blipFill>
        <p:spPr bwMode="auto">
          <a:xfrm>
            <a:off x="4967288" y="3321050"/>
            <a:ext cx="3810000" cy="2857500"/>
          </a:xfrm>
          <a:prstGeom prst="rect">
            <a:avLst/>
          </a:prstGeom>
          <a:noFill/>
          <a:ln w="9525">
            <a:noFill/>
            <a:miter lim="800000"/>
            <a:headEnd/>
            <a:tailEnd/>
          </a:ln>
        </p:spPr>
      </p:pic>
      <p:sp>
        <p:nvSpPr>
          <p:cNvPr id="82946" name="Rectangle 2"/>
          <p:cNvSpPr>
            <a:spLocks noGrp="1" noRot="1" noChangeArrowheads="1"/>
          </p:cNvSpPr>
          <p:nvPr>
            <p:ph type="title" idx="4294967295"/>
          </p:nvPr>
        </p:nvSpPr>
        <p:spPr>
          <a:xfrm>
            <a:off x="900113" y="28575"/>
            <a:ext cx="8010525" cy="628650"/>
          </a:xfrm>
        </p:spPr>
        <p:txBody>
          <a:bodyPr/>
          <a:lstStyle/>
          <a:p>
            <a:pPr>
              <a:defRPr/>
            </a:pPr>
            <a:r>
              <a:rPr lang="en-US" smtClean="0">
                <a:effectLst>
                  <a:outerShdw blurRad="38100" dist="38100" dir="2700000" algn="tl">
                    <a:srgbClr val="C0C0C0"/>
                  </a:outerShdw>
                </a:effectLst>
              </a:rPr>
              <a:t>Unrestricted Production: Competing in Prices</a:t>
            </a:r>
            <a:endParaRPr lang="en-US" sz="3600" b="0" smtClean="0">
              <a:effectLst>
                <a:outerShdw blurRad="38100" dist="38100" dir="2700000" algn="tl">
                  <a:srgbClr val="C0C0C0"/>
                </a:outerShdw>
              </a:effectLst>
              <a:latin typeface="Rockwell Condensed" pitchFamily="18" charset="0"/>
            </a:endParaRPr>
          </a:p>
        </p:txBody>
      </p:sp>
      <p:sp>
        <p:nvSpPr>
          <p:cNvPr id="44035" name="Text Box 3"/>
          <p:cNvSpPr txBox="1">
            <a:spLocks noChangeArrowheads="1"/>
          </p:cNvSpPr>
          <p:nvPr/>
        </p:nvSpPr>
        <p:spPr bwMode="auto">
          <a:xfrm>
            <a:off x="647700" y="728663"/>
            <a:ext cx="8353425" cy="2557462"/>
          </a:xfrm>
          <a:prstGeom prst="rect">
            <a:avLst/>
          </a:prstGeom>
          <a:noFill/>
          <a:ln w="9525" algn="ctr">
            <a:noFill/>
            <a:miter lim="800000"/>
            <a:headEnd/>
            <a:tailEnd type="none" w="med" len="lg"/>
          </a:ln>
        </p:spPr>
        <p:txBody>
          <a:bodyPr/>
          <a:lstStyle/>
          <a:p>
            <a:pPr marL="231775" indent="-231775">
              <a:buClr>
                <a:schemeClr val="tx1"/>
              </a:buClr>
              <a:buFont typeface="Wingdings" pitchFamily="2" charset="2"/>
              <a:buChar char="§"/>
            </a:pPr>
            <a:r>
              <a:rPr lang="en-US" sz="2400"/>
              <a:t>The logic behind </a:t>
            </a:r>
            <a:r>
              <a:rPr lang="en-US" sz="2400" i="1"/>
              <a:t>price</a:t>
            </a:r>
            <a:r>
              <a:rPr lang="en-US" sz="2400"/>
              <a:t> </a:t>
            </a:r>
            <a:r>
              <a:rPr lang="en-US" sz="2400" i="1"/>
              <a:t>competition</a:t>
            </a:r>
            <a:r>
              <a:rPr lang="en-US" sz="2400"/>
              <a:t> (or the Bertrand model) is that when firms produce perfect substitutes and have sufficient capacity to satisfy demand (when price </a:t>
            </a:r>
            <a:r>
              <a:rPr lang="en-US" altLang="zh-HK" sz="2400"/>
              <a:t>≥</a:t>
            </a:r>
            <a:r>
              <a:rPr lang="en-US" sz="2400"/>
              <a:t> marginal cost), then firms will engage in undercutting each other’s prices </a:t>
            </a:r>
          </a:p>
          <a:p>
            <a:pPr marL="742950" lvl="1" indent="-285750">
              <a:buClr>
                <a:schemeClr val="tx1"/>
              </a:buClr>
              <a:buFont typeface="Wingdings" pitchFamily="2" charset="2"/>
              <a:buChar char="§"/>
            </a:pPr>
            <a:r>
              <a:rPr lang="en-US" sz="2400"/>
              <a:t>Undercutting occurs until the price are driven to marginal cost—that is, price under perfect competition.</a:t>
            </a:r>
          </a:p>
        </p:txBody>
      </p:sp>
      <p:pic>
        <p:nvPicPr>
          <p:cNvPr id="44036" name="Picture 4"/>
          <p:cNvPicPr>
            <a:picLocks noChangeAspect="1" noChangeArrowheads="1"/>
          </p:cNvPicPr>
          <p:nvPr/>
        </p:nvPicPr>
        <p:blipFill>
          <a:blip r:embed="rId4"/>
          <a:srcRect/>
          <a:stretch>
            <a:fillRect/>
          </a:stretch>
        </p:blipFill>
        <p:spPr bwMode="auto">
          <a:xfrm>
            <a:off x="647700" y="3284538"/>
            <a:ext cx="3810000" cy="2857500"/>
          </a:xfrm>
          <a:prstGeom prst="rect">
            <a:avLst/>
          </a:prstGeom>
          <a:noFill/>
          <a:ln w="9525">
            <a:noFill/>
            <a:miter lim="800000"/>
            <a:headEnd/>
            <a:tailEnd/>
          </a:ln>
        </p:spPr>
      </p:pic>
      <p:sp>
        <p:nvSpPr>
          <p:cNvPr id="3" name="Text Box 10"/>
          <p:cNvSpPr txBox="1">
            <a:spLocks noChangeArrowheads="1"/>
          </p:cNvSpPr>
          <p:nvPr/>
        </p:nvSpPr>
        <p:spPr bwMode="auto">
          <a:xfrm>
            <a:off x="827088" y="6003925"/>
            <a:ext cx="3673475" cy="738188"/>
          </a:xfrm>
          <a:prstGeom prst="rect">
            <a:avLst/>
          </a:prstGeom>
          <a:solidFill>
            <a:schemeClr val="bg2"/>
          </a:solidFill>
          <a:ln w="12700" algn="ctr">
            <a:noFill/>
            <a:miter lim="800000"/>
            <a:headEnd/>
            <a:tailEnd type="none" w="sm" len="lg"/>
          </a:ln>
        </p:spPr>
        <p:txBody>
          <a:bodyPr anchor="ctr"/>
          <a:lstStyle/>
          <a:p>
            <a:pPr marL="1588" indent="-1588">
              <a:spcBef>
                <a:spcPct val="20000"/>
              </a:spcBef>
            </a:pPr>
            <a:r>
              <a:rPr lang="en-US" sz="2000">
                <a:solidFill>
                  <a:srgbClr val="0033CC"/>
                </a:solidFill>
              </a:rPr>
              <a:t>Firms compete in quantity when they build new production lines</a:t>
            </a:r>
          </a:p>
        </p:txBody>
      </p:sp>
      <p:sp>
        <p:nvSpPr>
          <p:cNvPr id="2" name="Text Box 10"/>
          <p:cNvSpPr txBox="1">
            <a:spLocks noChangeArrowheads="1"/>
          </p:cNvSpPr>
          <p:nvPr/>
        </p:nvSpPr>
        <p:spPr bwMode="auto">
          <a:xfrm>
            <a:off x="5146675" y="6003925"/>
            <a:ext cx="3673475" cy="738188"/>
          </a:xfrm>
          <a:prstGeom prst="rect">
            <a:avLst/>
          </a:prstGeom>
          <a:solidFill>
            <a:schemeClr val="bg2"/>
          </a:solidFill>
          <a:ln w="12700" algn="ctr">
            <a:noFill/>
            <a:miter lim="800000"/>
            <a:headEnd/>
            <a:tailEnd type="none" w="sm" len="lg"/>
          </a:ln>
        </p:spPr>
        <p:txBody>
          <a:bodyPr anchor="ctr"/>
          <a:lstStyle/>
          <a:p>
            <a:pPr marL="1588" indent="-1588">
              <a:spcBef>
                <a:spcPct val="20000"/>
              </a:spcBef>
            </a:pPr>
            <a:r>
              <a:rPr lang="en-US" sz="2000">
                <a:solidFill>
                  <a:srgbClr val="0033CC"/>
                </a:solidFill>
              </a:rPr>
              <a:t>Unconstrained production leads to price competition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idx="4294967295"/>
          </p:nvPr>
        </p:nvSpPr>
        <p:spPr bwMode="auto">
          <a:xfrm>
            <a:off x="1071563" y="74613"/>
            <a:ext cx="8078787" cy="538162"/>
          </a:xfrm>
          <a:noFill/>
        </p:spPr>
        <p:txBody>
          <a:bodyPr anchor="t"/>
          <a:lstStyle/>
          <a:p>
            <a:r>
              <a:rPr lang="en-US" smtClean="0">
                <a:effectLst/>
              </a:rPr>
              <a:t>Profits for an Oligopoly </a:t>
            </a:r>
          </a:p>
        </p:txBody>
      </p:sp>
      <p:sp>
        <p:nvSpPr>
          <p:cNvPr id="46082" name="Content Placeholder 2"/>
          <p:cNvSpPr>
            <a:spLocks noGrp="1"/>
          </p:cNvSpPr>
          <p:nvPr>
            <p:ph idx="4294967295"/>
          </p:nvPr>
        </p:nvSpPr>
        <p:spPr>
          <a:xfrm>
            <a:off x="755650" y="873125"/>
            <a:ext cx="8137525" cy="5580063"/>
          </a:xfrm>
        </p:spPr>
        <p:txBody>
          <a:bodyPr/>
          <a:lstStyle/>
          <a:p>
            <a:r>
              <a:rPr lang="en-US" smtClean="0"/>
              <a:t>Oligopolists earn the highest profits if they cooperate to reach the monopoly outcome</a:t>
            </a:r>
          </a:p>
          <a:p>
            <a:pPr lvl="1"/>
            <a:r>
              <a:rPr lang="en-US" smtClean="0"/>
              <a:t>Set price = P</a:t>
            </a:r>
            <a:r>
              <a:rPr lang="en-US" baseline="-25000" smtClean="0"/>
              <a:t>M </a:t>
            </a:r>
            <a:r>
              <a:rPr lang="en-US" smtClean="0"/>
              <a:t>, allocate quantity = Q</a:t>
            </a:r>
            <a:r>
              <a:rPr lang="en-US" baseline="-25000" smtClean="0"/>
              <a:t>M</a:t>
            </a:r>
          </a:p>
          <a:p>
            <a:r>
              <a:rPr lang="en-US" smtClean="0"/>
              <a:t>If they pursue their own self-interest, each is tempted to raise production and capture a larger share of the market</a:t>
            </a:r>
          </a:p>
          <a:p>
            <a:pPr lvl="1"/>
            <a:r>
              <a:rPr lang="en-US" smtClean="0"/>
              <a:t> Total production rises and prices fall</a:t>
            </a:r>
          </a:p>
          <a:p>
            <a:pPr lvl="1"/>
            <a:r>
              <a:rPr lang="en-US" smtClean="0"/>
              <a:t> Firms have lower profits</a:t>
            </a:r>
          </a:p>
          <a:p>
            <a:r>
              <a:rPr lang="en-US" smtClean="0"/>
              <a:t>If sellers do not form a cartel</a:t>
            </a:r>
          </a:p>
          <a:p>
            <a:pPr lvl="1"/>
            <a:r>
              <a:rPr lang="en-US" smtClean="0"/>
              <a:t>As the number of sellers in an oligopoly grows larger</a:t>
            </a:r>
          </a:p>
          <a:p>
            <a:pPr lvl="2"/>
            <a:r>
              <a:rPr lang="en-US" smtClean="0"/>
              <a:t> Looks more like a competitive market</a:t>
            </a:r>
          </a:p>
          <a:p>
            <a:pPr lvl="2"/>
            <a:r>
              <a:rPr lang="en-US" smtClean="0"/>
              <a:t> Price – approaches marginal cost</a:t>
            </a:r>
          </a:p>
          <a:p>
            <a:pPr lvl="2"/>
            <a:r>
              <a:rPr lang="en-US" smtClean="0"/>
              <a:t> Quantity produced – approaches socially efficient level</a:t>
            </a:r>
          </a:p>
          <a:p>
            <a:pPr lvl="2"/>
            <a:r>
              <a:rPr lang="en-US" smtClean="0"/>
              <a:t> Profits – approaches zero</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idx="4294967295"/>
          </p:nvPr>
        </p:nvSpPr>
        <p:spPr bwMode="auto">
          <a:noFill/>
        </p:spPr>
        <p:txBody>
          <a:bodyPr/>
          <a:lstStyle/>
          <a:p>
            <a:r>
              <a:rPr lang="en-US" smtClean="0">
                <a:effectLst/>
              </a:rPr>
              <a:t>To Cooperate or Not?</a:t>
            </a:r>
          </a:p>
        </p:txBody>
      </p:sp>
      <p:sp>
        <p:nvSpPr>
          <p:cNvPr id="47106" name="Content Placeholder 2"/>
          <p:cNvSpPr>
            <a:spLocks noGrp="1"/>
          </p:cNvSpPr>
          <p:nvPr>
            <p:ph idx="4294967295"/>
          </p:nvPr>
        </p:nvSpPr>
        <p:spPr>
          <a:xfrm>
            <a:off x="646113" y="1592263"/>
            <a:ext cx="5581650" cy="3132137"/>
          </a:xfrm>
        </p:spPr>
        <p:txBody>
          <a:bodyPr/>
          <a:lstStyle/>
          <a:p>
            <a:pPr marL="0" indent="0">
              <a:lnSpc>
                <a:spcPct val="90000"/>
              </a:lnSpc>
            </a:pPr>
            <a:r>
              <a:rPr lang="en-US" smtClean="0"/>
              <a:t> How will firms in an oligopoly behave?</a:t>
            </a:r>
          </a:p>
          <a:p>
            <a:pPr lvl="1">
              <a:lnSpc>
                <a:spcPct val="90000"/>
              </a:lnSpc>
              <a:buFont typeface="Wingdings" pitchFamily="2" charset="2"/>
              <a:buBlip>
                <a:blip r:embed="rId2"/>
              </a:buBlip>
            </a:pPr>
            <a:r>
              <a:rPr lang="en-US" smtClean="0">
                <a:solidFill>
                  <a:srgbClr val="0070C0"/>
                </a:solidFill>
              </a:rPr>
              <a:t>Will each firm act in its own self-interest, even though this drives down every firms’s profits (noncooperative behavior)? </a:t>
            </a:r>
            <a:endParaRPr lang="en-US" smtClean="0">
              <a:solidFill>
                <a:srgbClr val="990033"/>
              </a:solidFill>
            </a:endParaRPr>
          </a:p>
          <a:p>
            <a:pPr lvl="1">
              <a:lnSpc>
                <a:spcPct val="90000"/>
              </a:lnSpc>
              <a:buFont typeface="Wingdings" pitchFamily="2" charset="2"/>
              <a:buBlip>
                <a:blip r:embed="rId2"/>
              </a:buBlip>
            </a:pPr>
            <a:r>
              <a:rPr lang="en-US" smtClean="0">
                <a:solidFill>
                  <a:srgbClr val="0070C0"/>
                </a:solidFill>
              </a:rPr>
              <a:t>Will firms engage in collusion, reaching and holding to an agreement that maximizes their combined profits?</a:t>
            </a:r>
          </a:p>
          <a:p>
            <a:pPr lvl="1">
              <a:lnSpc>
                <a:spcPct val="90000"/>
              </a:lnSpc>
              <a:buFont typeface="Wingdings" pitchFamily="2" charset="2"/>
              <a:buBlip>
                <a:blip r:embed="rId2"/>
              </a:buBlip>
            </a:pPr>
            <a:endParaRPr lang="en-US" smtClean="0">
              <a:solidFill>
                <a:srgbClr val="0070C0"/>
              </a:solidFill>
            </a:endParaRPr>
          </a:p>
        </p:txBody>
      </p:sp>
      <p:pic>
        <p:nvPicPr>
          <p:cNvPr id="47107" name="Picture 7"/>
          <p:cNvPicPr>
            <a:picLocks noChangeAspect="1" noChangeArrowheads="1"/>
          </p:cNvPicPr>
          <p:nvPr/>
        </p:nvPicPr>
        <p:blipFill>
          <a:blip r:embed="rId3"/>
          <a:srcRect/>
          <a:stretch>
            <a:fillRect/>
          </a:stretch>
        </p:blipFill>
        <p:spPr bwMode="auto">
          <a:xfrm>
            <a:off x="8351838" y="1412875"/>
            <a:ext cx="487362" cy="1409700"/>
          </a:xfrm>
          <a:prstGeom prst="rect">
            <a:avLst/>
          </a:prstGeom>
          <a:noFill/>
          <a:ln w="9525">
            <a:noFill/>
            <a:miter lim="800000"/>
            <a:headEnd/>
            <a:tailEnd/>
          </a:ln>
        </p:spPr>
      </p:pic>
      <p:pic>
        <p:nvPicPr>
          <p:cNvPr id="47108" name="Picture 8"/>
          <p:cNvPicPr>
            <a:picLocks noChangeAspect="1" noChangeArrowheads="1"/>
          </p:cNvPicPr>
          <p:nvPr/>
        </p:nvPicPr>
        <p:blipFill>
          <a:blip r:embed="rId4"/>
          <a:srcRect/>
          <a:stretch>
            <a:fillRect/>
          </a:stretch>
        </p:blipFill>
        <p:spPr bwMode="auto">
          <a:xfrm>
            <a:off x="7416800" y="1376363"/>
            <a:ext cx="487363" cy="1409700"/>
          </a:xfrm>
          <a:prstGeom prst="rect">
            <a:avLst/>
          </a:prstGeom>
          <a:noFill/>
          <a:ln w="9525">
            <a:noFill/>
            <a:miter lim="800000"/>
            <a:headEnd/>
            <a:tailEnd/>
          </a:ln>
        </p:spPr>
      </p:pic>
      <p:sp>
        <p:nvSpPr>
          <p:cNvPr id="47109" name="Content Placeholder 2"/>
          <p:cNvSpPr>
            <a:spLocks/>
          </p:cNvSpPr>
          <p:nvPr/>
        </p:nvSpPr>
        <p:spPr bwMode="auto">
          <a:xfrm>
            <a:off x="4103688" y="692150"/>
            <a:ext cx="5040312" cy="684213"/>
          </a:xfrm>
          <a:prstGeom prst="rect">
            <a:avLst/>
          </a:prstGeom>
          <a:noFill/>
          <a:ln w="9525">
            <a:noFill/>
            <a:miter lim="800000"/>
            <a:headEnd/>
            <a:tailEnd/>
          </a:ln>
        </p:spPr>
        <p:txBody>
          <a:bodyPr/>
          <a:lstStyle/>
          <a:p>
            <a:pPr eaLnBrk="0" hangingPunct="0">
              <a:spcBef>
                <a:spcPct val="20000"/>
              </a:spcBef>
              <a:buFont typeface="Arial" charset="0"/>
              <a:buNone/>
            </a:pPr>
            <a:r>
              <a:rPr lang="en-US" sz="2000" i="1">
                <a:solidFill>
                  <a:srgbClr val="990033"/>
                </a:solidFill>
              </a:rPr>
              <a:t>Noncooperative behavior: </a:t>
            </a:r>
            <a:r>
              <a:rPr lang="en-US" sz="2000"/>
              <a:t>Firms ignoring the effects of their actions on each others’ profits.</a:t>
            </a:r>
          </a:p>
        </p:txBody>
      </p:sp>
      <p:sp>
        <p:nvSpPr>
          <p:cNvPr id="47110" name="Content Placeholder 2"/>
          <p:cNvSpPr>
            <a:spLocks/>
          </p:cNvSpPr>
          <p:nvPr/>
        </p:nvSpPr>
        <p:spPr bwMode="auto">
          <a:xfrm>
            <a:off x="719138" y="5157788"/>
            <a:ext cx="8101012" cy="1116012"/>
          </a:xfrm>
          <a:prstGeom prst="rect">
            <a:avLst/>
          </a:prstGeom>
          <a:noFill/>
          <a:ln w="9525">
            <a:noFill/>
            <a:miter lim="800000"/>
            <a:headEnd/>
            <a:tailEnd/>
          </a:ln>
        </p:spPr>
        <p:txBody>
          <a:bodyPr/>
          <a:lstStyle/>
          <a:p>
            <a:pPr eaLnBrk="0" hangingPunct="0">
              <a:lnSpc>
                <a:spcPct val="90000"/>
              </a:lnSpc>
              <a:spcBef>
                <a:spcPct val="20000"/>
              </a:spcBef>
              <a:buFont typeface="Arial" charset="0"/>
              <a:buChar char="•"/>
            </a:pPr>
            <a:r>
              <a:rPr lang="en-US" sz="2500" i="1">
                <a:solidFill>
                  <a:srgbClr val="990033"/>
                </a:solidFill>
              </a:rPr>
              <a:t> Game theory: </a:t>
            </a:r>
            <a:r>
              <a:rPr lang="en-US" sz="2500"/>
              <a:t>The study of behavior in situations of interdependence; a way of predicting outcomes in strategic situations like oligopolies.</a:t>
            </a:r>
            <a:endParaRPr lang="en-US" sz="2500" i="1">
              <a:solidFill>
                <a:srgbClr val="0070C0"/>
              </a:solidFill>
            </a:endParaRPr>
          </a:p>
        </p:txBody>
      </p:sp>
      <p:pic>
        <p:nvPicPr>
          <p:cNvPr id="47111" name="Picture 12"/>
          <p:cNvPicPr>
            <a:picLocks noChangeAspect="1" noChangeArrowheads="1"/>
          </p:cNvPicPr>
          <p:nvPr/>
        </p:nvPicPr>
        <p:blipFill>
          <a:blip r:embed="rId5"/>
          <a:srcRect/>
          <a:stretch>
            <a:fillRect/>
          </a:stretch>
        </p:blipFill>
        <p:spPr bwMode="auto">
          <a:xfrm>
            <a:off x="6980238" y="2924175"/>
            <a:ext cx="1371600" cy="1371600"/>
          </a:xfrm>
          <a:prstGeom prst="rect">
            <a:avLst/>
          </a:prstGeom>
          <a:noFill/>
          <a:ln w="9525">
            <a:noFill/>
            <a:miter lim="800000"/>
            <a:headEnd/>
            <a:tailEnd/>
          </a:ln>
        </p:spPr>
      </p:pic>
      <p:sp>
        <p:nvSpPr>
          <p:cNvPr id="47112" name="Content Placeholder 2"/>
          <p:cNvSpPr>
            <a:spLocks/>
          </p:cNvSpPr>
          <p:nvPr/>
        </p:nvSpPr>
        <p:spPr bwMode="auto">
          <a:xfrm>
            <a:off x="6443663" y="4257675"/>
            <a:ext cx="2628900" cy="649288"/>
          </a:xfrm>
          <a:prstGeom prst="rect">
            <a:avLst/>
          </a:prstGeom>
          <a:noFill/>
          <a:ln w="9525">
            <a:noFill/>
            <a:miter lim="800000"/>
            <a:headEnd/>
            <a:tailEnd/>
          </a:ln>
        </p:spPr>
        <p:txBody>
          <a:bodyPr/>
          <a:lstStyle/>
          <a:p>
            <a:pPr eaLnBrk="0" hangingPunct="0">
              <a:spcBef>
                <a:spcPct val="20000"/>
              </a:spcBef>
              <a:buFont typeface="Arial" charset="0"/>
              <a:buNone/>
            </a:pPr>
            <a:r>
              <a:rPr lang="en-US" sz="2000" i="1">
                <a:solidFill>
                  <a:srgbClr val="990033"/>
                </a:solidFill>
              </a:rPr>
              <a:t>Collusion:</a:t>
            </a:r>
            <a:r>
              <a:rPr lang="en-US" sz="2000"/>
              <a:t> Cooperating to keep prices high.</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idx="4294967295"/>
          </p:nvPr>
        </p:nvSpPr>
        <p:spPr>
          <a:xfrm>
            <a:off x="827088" y="188913"/>
            <a:ext cx="8088312" cy="304800"/>
          </a:xfrm>
        </p:spPr>
        <p:txBody>
          <a:bodyPr/>
          <a:lstStyle/>
          <a:p>
            <a:pPr>
              <a:defRPr/>
            </a:pPr>
            <a:r>
              <a:rPr lang="en-US" dirty="0" smtClean="0"/>
              <a:t>The Prisoners’ Dilemma</a:t>
            </a:r>
            <a:endParaRPr lang="en-US" b="0" dirty="0" smtClean="0"/>
          </a:p>
        </p:txBody>
      </p:sp>
      <p:sp>
        <p:nvSpPr>
          <p:cNvPr id="48130" name="Text Box 3"/>
          <p:cNvSpPr txBox="1">
            <a:spLocks noChangeArrowheads="1"/>
          </p:cNvSpPr>
          <p:nvPr/>
        </p:nvSpPr>
        <p:spPr bwMode="auto">
          <a:xfrm>
            <a:off x="900113" y="911225"/>
            <a:ext cx="8015287" cy="4894263"/>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When the decisions of two or more firms significantly affect each others’ profits, they are in a situation of </a:t>
            </a:r>
            <a:r>
              <a:rPr lang="en-US" sz="2400" b="1"/>
              <a:t>interdependence</a:t>
            </a:r>
            <a:r>
              <a:rPr lang="en-US" sz="2400"/>
              <a:t>.</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The study of behavior in situations of interdependence is known as </a:t>
            </a:r>
            <a:r>
              <a:rPr lang="en-US" sz="2400" b="1"/>
              <a:t>game theory</a:t>
            </a:r>
            <a:r>
              <a:rPr lang="en-US" sz="2400"/>
              <a:t>.</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The reward received by a player in a game</a:t>
            </a:r>
            <a:r>
              <a:rPr lang="en-US" sz="2400">
                <a:cs typeface="Arial" charset="0"/>
              </a:rPr>
              <a:t>—</a:t>
            </a:r>
            <a:r>
              <a:rPr lang="en-US" sz="2400"/>
              <a:t>such as the profit earned by an oligopolist—is that player’s </a:t>
            </a:r>
            <a:r>
              <a:rPr lang="en-US" sz="2400" b="1"/>
              <a:t>payoff</a:t>
            </a:r>
            <a:r>
              <a:rPr lang="en-US" sz="2400"/>
              <a:t>.</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A </a:t>
            </a:r>
            <a:r>
              <a:rPr lang="en-US" sz="2400" b="1"/>
              <a:t>payoff matrix </a:t>
            </a:r>
            <a:r>
              <a:rPr lang="en-US" sz="2400"/>
              <a:t>shows how the payoff to each of the participants in a two-player game depends on the actions of both. Such a matrix helps us analyze interdependence.</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rrowheads="1"/>
          </p:cNvSpPr>
          <p:nvPr>
            <p:ph type="title" idx="4294967295"/>
          </p:nvPr>
        </p:nvSpPr>
        <p:spPr>
          <a:xfrm>
            <a:off x="827088" y="76200"/>
            <a:ext cx="8316912" cy="508000"/>
          </a:xfrm>
        </p:spPr>
        <p:txBody>
          <a:bodyPr/>
          <a:lstStyle/>
          <a:p>
            <a:pPr>
              <a:defRPr/>
            </a:pPr>
            <a:r>
              <a:rPr lang="en-US" smtClean="0">
                <a:effectLst>
                  <a:outerShdw blurRad="38100" dist="38100" dir="2700000" algn="tl">
                    <a:srgbClr val="C0C0C0"/>
                  </a:outerShdw>
                </a:effectLst>
              </a:rPr>
              <a:t>A Payoff Matrix for a Duopoly</a:t>
            </a:r>
          </a:p>
        </p:txBody>
      </p:sp>
      <p:sp>
        <p:nvSpPr>
          <p:cNvPr id="50178" name="Rectangle 5"/>
          <p:cNvSpPr>
            <a:spLocks noChangeArrowheads="1"/>
          </p:cNvSpPr>
          <p:nvPr/>
        </p:nvSpPr>
        <p:spPr bwMode="auto">
          <a:xfrm rot="-5400000">
            <a:off x="1045369" y="3985419"/>
            <a:ext cx="508000" cy="274638"/>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Pro"/>
              </a:rPr>
              <a:t>ADM</a:t>
            </a:r>
            <a:endParaRPr lang="en-US">
              <a:latin typeface="Tahoma" pitchFamily="34" charset="0"/>
            </a:endParaRPr>
          </a:p>
        </p:txBody>
      </p:sp>
      <p:sp>
        <p:nvSpPr>
          <p:cNvPr id="50179" name="Rectangle 6"/>
          <p:cNvSpPr>
            <a:spLocks noChangeArrowheads="1"/>
          </p:cNvSpPr>
          <p:nvPr/>
        </p:nvSpPr>
        <p:spPr bwMode="auto">
          <a:xfrm>
            <a:off x="4999038" y="800100"/>
            <a:ext cx="1016000" cy="274638"/>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Ajinomoto</a:t>
            </a:r>
            <a:endParaRPr lang="en-US">
              <a:latin typeface="Tahoma" pitchFamily="34" charset="0"/>
            </a:endParaRPr>
          </a:p>
        </p:txBody>
      </p:sp>
      <p:sp>
        <p:nvSpPr>
          <p:cNvPr id="50180" name="Rectangle 7"/>
          <p:cNvSpPr>
            <a:spLocks noChangeArrowheads="1"/>
          </p:cNvSpPr>
          <p:nvPr/>
        </p:nvSpPr>
        <p:spPr bwMode="auto">
          <a:xfrm>
            <a:off x="1677988" y="2690813"/>
            <a:ext cx="1000125" cy="823912"/>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Produce 30 million pounds </a:t>
            </a:r>
            <a:endParaRPr lang="en-US">
              <a:latin typeface="Tahoma" pitchFamily="34" charset="0"/>
            </a:endParaRPr>
          </a:p>
        </p:txBody>
      </p:sp>
      <p:sp>
        <p:nvSpPr>
          <p:cNvPr id="50181" name="Freeform 8"/>
          <p:cNvSpPr>
            <a:spLocks/>
          </p:cNvSpPr>
          <p:nvPr/>
        </p:nvSpPr>
        <p:spPr bwMode="auto">
          <a:xfrm>
            <a:off x="2717800" y="4179888"/>
            <a:ext cx="2765425" cy="2290762"/>
          </a:xfrm>
          <a:custGeom>
            <a:avLst/>
            <a:gdLst>
              <a:gd name="T0" fmla="*/ 2147483647 w 1101"/>
              <a:gd name="T1" fmla="*/ 2147483647 h 1102"/>
              <a:gd name="T2" fmla="*/ 0 w 1101"/>
              <a:gd name="T3" fmla="*/ 2147483647 h 1102"/>
              <a:gd name="T4" fmla="*/ 0 w 1101"/>
              <a:gd name="T5" fmla="*/ 0 h 1102"/>
              <a:gd name="T6" fmla="*/ 2147483647 w 1101"/>
              <a:gd name="T7" fmla="*/ 2147483647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1101" y="1102"/>
                </a:moveTo>
                <a:lnTo>
                  <a:pt x="0" y="1102"/>
                </a:lnTo>
                <a:lnTo>
                  <a:pt x="0" y="0"/>
                </a:lnTo>
                <a:lnTo>
                  <a:pt x="1101"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0182" name="Freeform 9"/>
          <p:cNvSpPr>
            <a:spLocks/>
          </p:cNvSpPr>
          <p:nvPr/>
        </p:nvSpPr>
        <p:spPr bwMode="auto">
          <a:xfrm>
            <a:off x="2717800" y="4179888"/>
            <a:ext cx="2765425" cy="2290762"/>
          </a:xfrm>
          <a:custGeom>
            <a:avLst/>
            <a:gdLst>
              <a:gd name="T0" fmla="*/ 0 w 1101"/>
              <a:gd name="T1" fmla="*/ 0 h 1102"/>
              <a:gd name="T2" fmla="*/ 2147483647 w 1101"/>
              <a:gd name="T3" fmla="*/ 0 h 1102"/>
              <a:gd name="T4" fmla="*/ 2147483647 w 1101"/>
              <a:gd name="T5" fmla="*/ 2147483647 h 1102"/>
              <a:gd name="T6" fmla="*/ 0 w 1101"/>
              <a:gd name="T7" fmla="*/ 0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0" y="0"/>
                </a:moveTo>
                <a:lnTo>
                  <a:pt x="1101" y="0"/>
                </a:lnTo>
                <a:lnTo>
                  <a:pt x="1101"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0183" name="Freeform 10"/>
          <p:cNvSpPr>
            <a:spLocks/>
          </p:cNvSpPr>
          <p:nvPr/>
        </p:nvSpPr>
        <p:spPr bwMode="auto">
          <a:xfrm>
            <a:off x="5483225" y="4179888"/>
            <a:ext cx="2760663" cy="2290762"/>
          </a:xfrm>
          <a:custGeom>
            <a:avLst/>
            <a:gdLst>
              <a:gd name="T0" fmla="*/ 2147483647 w 1099"/>
              <a:gd name="T1" fmla="*/ 2147483647 h 1102"/>
              <a:gd name="T2" fmla="*/ 0 w 1099"/>
              <a:gd name="T3" fmla="*/ 2147483647 h 1102"/>
              <a:gd name="T4" fmla="*/ 0 w 1099"/>
              <a:gd name="T5" fmla="*/ 0 h 1102"/>
              <a:gd name="T6" fmla="*/ 2147483647 w 1099"/>
              <a:gd name="T7" fmla="*/ 2147483647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1099" y="1102"/>
                </a:moveTo>
                <a:lnTo>
                  <a:pt x="0" y="1102"/>
                </a:lnTo>
                <a:lnTo>
                  <a:pt x="0" y="0"/>
                </a:lnTo>
                <a:lnTo>
                  <a:pt x="1099"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0184" name="Freeform 11"/>
          <p:cNvSpPr>
            <a:spLocks/>
          </p:cNvSpPr>
          <p:nvPr/>
        </p:nvSpPr>
        <p:spPr bwMode="auto">
          <a:xfrm>
            <a:off x="5483225" y="4179888"/>
            <a:ext cx="2760663" cy="2290762"/>
          </a:xfrm>
          <a:custGeom>
            <a:avLst/>
            <a:gdLst>
              <a:gd name="T0" fmla="*/ 0 w 1099"/>
              <a:gd name="T1" fmla="*/ 0 h 1102"/>
              <a:gd name="T2" fmla="*/ 2147483647 w 1099"/>
              <a:gd name="T3" fmla="*/ 0 h 1102"/>
              <a:gd name="T4" fmla="*/ 2147483647 w 1099"/>
              <a:gd name="T5" fmla="*/ 2147483647 h 1102"/>
              <a:gd name="T6" fmla="*/ 0 w 1099"/>
              <a:gd name="T7" fmla="*/ 0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0" y="0"/>
                </a:moveTo>
                <a:lnTo>
                  <a:pt x="1099" y="0"/>
                </a:lnTo>
                <a:lnTo>
                  <a:pt x="1099"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0185" name="Freeform 12"/>
          <p:cNvSpPr>
            <a:spLocks/>
          </p:cNvSpPr>
          <p:nvPr/>
        </p:nvSpPr>
        <p:spPr bwMode="auto">
          <a:xfrm>
            <a:off x="2717800" y="1889125"/>
            <a:ext cx="2765425" cy="2290763"/>
          </a:xfrm>
          <a:custGeom>
            <a:avLst/>
            <a:gdLst>
              <a:gd name="T0" fmla="*/ 2147483647 w 1101"/>
              <a:gd name="T1" fmla="*/ 2147483647 h 1102"/>
              <a:gd name="T2" fmla="*/ 0 w 1101"/>
              <a:gd name="T3" fmla="*/ 2147483647 h 1102"/>
              <a:gd name="T4" fmla="*/ 0 w 1101"/>
              <a:gd name="T5" fmla="*/ 0 h 1102"/>
              <a:gd name="T6" fmla="*/ 2147483647 w 1101"/>
              <a:gd name="T7" fmla="*/ 2147483647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1101" y="1102"/>
                </a:moveTo>
                <a:lnTo>
                  <a:pt x="0" y="1102"/>
                </a:lnTo>
                <a:lnTo>
                  <a:pt x="0" y="0"/>
                </a:lnTo>
                <a:lnTo>
                  <a:pt x="1101"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0186" name="Freeform 13"/>
          <p:cNvSpPr>
            <a:spLocks/>
          </p:cNvSpPr>
          <p:nvPr/>
        </p:nvSpPr>
        <p:spPr bwMode="auto">
          <a:xfrm>
            <a:off x="2717800" y="1889125"/>
            <a:ext cx="2765425" cy="2290763"/>
          </a:xfrm>
          <a:custGeom>
            <a:avLst/>
            <a:gdLst>
              <a:gd name="T0" fmla="*/ 0 w 1101"/>
              <a:gd name="T1" fmla="*/ 0 h 1102"/>
              <a:gd name="T2" fmla="*/ 2147483647 w 1101"/>
              <a:gd name="T3" fmla="*/ 0 h 1102"/>
              <a:gd name="T4" fmla="*/ 2147483647 w 1101"/>
              <a:gd name="T5" fmla="*/ 2147483647 h 1102"/>
              <a:gd name="T6" fmla="*/ 0 w 1101"/>
              <a:gd name="T7" fmla="*/ 0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0" y="0"/>
                </a:moveTo>
                <a:lnTo>
                  <a:pt x="1101" y="0"/>
                </a:lnTo>
                <a:lnTo>
                  <a:pt x="1101"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0187" name="Freeform 14"/>
          <p:cNvSpPr>
            <a:spLocks/>
          </p:cNvSpPr>
          <p:nvPr/>
        </p:nvSpPr>
        <p:spPr bwMode="auto">
          <a:xfrm>
            <a:off x="5483225" y="1889125"/>
            <a:ext cx="2760663" cy="2290763"/>
          </a:xfrm>
          <a:custGeom>
            <a:avLst/>
            <a:gdLst>
              <a:gd name="T0" fmla="*/ 2147483647 w 1099"/>
              <a:gd name="T1" fmla="*/ 2147483647 h 1102"/>
              <a:gd name="T2" fmla="*/ 0 w 1099"/>
              <a:gd name="T3" fmla="*/ 2147483647 h 1102"/>
              <a:gd name="T4" fmla="*/ 0 w 1099"/>
              <a:gd name="T5" fmla="*/ 0 h 1102"/>
              <a:gd name="T6" fmla="*/ 2147483647 w 1099"/>
              <a:gd name="T7" fmla="*/ 2147483647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1099" y="1102"/>
                </a:moveTo>
                <a:lnTo>
                  <a:pt x="0" y="1102"/>
                </a:lnTo>
                <a:lnTo>
                  <a:pt x="0" y="0"/>
                </a:lnTo>
                <a:lnTo>
                  <a:pt x="1099"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0188" name="Freeform 15"/>
          <p:cNvSpPr>
            <a:spLocks/>
          </p:cNvSpPr>
          <p:nvPr/>
        </p:nvSpPr>
        <p:spPr bwMode="auto">
          <a:xfrm>
            <a:off x="5483225" y="1889125"/>
            <a:ext cx="2760663" cy="2290763"/>
          </a:xfrm>
          <a:custGeom>
            <a:avLst/>
            <a:gdLst>
              <a:gd name="T0" fmla="*/ 0 w 1099"/>
              <a:gd name="T1" fmla="*/ 0 h 1102"/>
              <a:gd name="T2" fmla="*/ 2147483647 w 1099"/>
              <a:gd name="T3" fmla="*/ 0 h 1102"/>
              <a:gd name="T4" fmla="*/ 2147483647 w 1099"/>
              <a:gd name="T5" fmla="*/ 2147483647 h 1102"/>
              <a:gd name="T6" fmla="*/ 0 w 1099"/>
              <a:gd name="T7" fmla="*/ 0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0" y="0"/>
                </a:moveTo>
                <a:lnTo>
                  <a:pt x="1099" y="0"/>
                </a:lnTo>
                <a:lnTo>
                  <a:pt x="1099"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201744" name="Rectangle 16"/>
          <p:cNvSpPr>
            <a:spLocks noChangeArrowheads="1"/>
          </p:cNvSpPr>
          <p:nvPr/>
        </p:nvSpPr>
        <p:spPr bwMode="auto">
          <a:xfrm>
            <a:off x="2808288" y="3357563"/>
            <a:ext cx="1595437" cy="823912"/>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ADM makes $180 million profit</a:t>
            </a:r>
            <a:endParaRPr lang="en-US">
              <a:latin typeface="Tahoma" pitchFamily="34" charset="0"/>
            </a:endParaRPr>
          </a:p>
        </p:txBody>
      </p:sp>
      <p:sp>
        <p:nvSpPr>
          <p:cNvPr id="50190" name="Freeform 17"/>
          <p:cNvSpPr>
            <a:spLocks/>
          </p:cNvSpPr>
          <p:nvPr/>
        </p:nvSpPr>
        <p:spPr bwMode="auto">
          <a:xfrm>
            <a:off x="1482725" y="1943100"/>
            <a:ext cx="169863" cy="4581525"/>
          </a:xfrm>
          <a:custGeom>
            <a:avLst/>
            <a:gdLst>
              <a:gd name="T0" fmla="*/ 2147483647 w 25"/>
              <a:gd name="T1" fmla="*/ 0 h 677"/>
              <a:gd name="T2" fmla="*/ 2147483647 w 25"/>
              <a:gd name="T3" fmla="*/ 2147483647 h 677"/>
              <a:gd name="T4" fmla="*/ 2147483647 w 25"/>
              <a:gd name="T5" fmla="*/ 2147483647 h 677"/>
              <a:gd name="T6" fmla="*/ 0 w 25"/>
              <a:gd name="T7" fmla="*/ 2147483647 h 677"/>
              <a:gd name="T8" fmla="*/ 2147483647 w 25"/>
              <a:gd name="T9" fmla="*/ 2147483647 h 677"/>
              <a:gd name="T10" fmla="*/ 2147483647 w 25"/>
              <a:gd name="T11" fmla="*/ 2147483647 h 677"/>
              <a:gd name="T12" fmla="*/ 2147483647 w 25"/>
              <a:gd name="T13" fmla="*/ 2147483647 h 677"/>
              <a:gd name="T14" fmla="*/ 0 60000 65536"/>
              <a:gd name="T15" fmla="*/ 0 60000 65536"/>
              <a:gd name="T16" fmla="*/ 0 60000 65536"/>
              <a:gd name="T17" fmla="*/ 0 60000 65536"/>
              <a:gd name="T18" fmla="*/ 0 60000 65536"/>
              <a:gd name="T19" fmla="*/ 0 60000 65536"/>
              <a:gd name="T20" fmla="*/ 0 60000 65536"/>
              <a:gd name="T21" fmla="*/ 0 w 25"/>
              <a:gd name="T22" fmla="*/ 0 h 677"/>
              <a:gd name="T23" fmla="*/ 25 w 25"/>
              <a:gd name="T24" fmla="*/ 677 h 6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677">
                <a:moveTo>
                  <a:pt x="25" y="0"/>
                </a:moveTo>
                <a:cubicBezTo>
                  <a:pt x="15" y="0"/>
                  <a:pt x="10" y="3"/>
                  <a:pt x="10" y="16"/>
                </a:cubicBezTo>
                <a:cubicBezTo>
                  <a:pt x="10" y="19"/>
                  <a:pt x="10" y="326"/>
                  <a:pt x="10" y="328"/>
                </a:cubicBezTo>
                <a:cubicBezTo>
                  <a:pt x="10" y="332"/>
                  <a:pt x="8" y="339"/>
                  <a:pt x="0" y="339"/>
                </a:cubicBezTo>
                <a:cubicBezTo>
                  <a:pt x="8" y="339"/>
                  <a:pt x="10" y="346"/>
                  <a:pt x="10" y="349"/>
                </a:cubicBezTo>
                <a:cubicBezTo>
                  <a:pt x="10" y="352"/>
                  <a:pt x="10" y="658"/>
                  <a:pt x="10" y="661"/>
                </a:cubicBezTo>
                <a:cubicBezTo>
                  <a:pt x="10" y="674"/>
                  <a:pt x="15" y="677"/>
                  <a:pt x="25" y="677"/>
                </a:cubicBezTo>
              </a:path>
            </a:pathLst>
          </a:custGeom>
          <a:noFill/>
          <a:ln w="25400" cap="flat">
            <a:solidFill>
              <a:srgbClr val="FFCD67"/>
            </a:solidFill>
            <a:prstDash val="solid"/>
            <a:miter lim="800000"/>
            <a:headEnd/>
            <a:tailEnd/>
          </a:ln>
        </p:spPr>
        <p:txBody>
          <a:bodyPr/>
          <a:lstStyle/>
          <a:p>
            <a:endParaRPr lang="en-US"/>
          </a:p>
        </p:txBody>
      </p:sp>
      <p:sp>
        <p:nvSpPr>
          <p:cNvPr id="50191" name="Freeform 18"/>
          <p:cNvSpPr>
            <a:spLocks/>
          </p:cNvSpPr>
          <p:nvPr/>
        </p:nvSpPr>
        <p:spPr bwMode="auto">
          <a:xfrm>
            <a:off x="2717800" y="1100138"/>
            <a:ext cx="5526088" cy="201612"/>
          </a:xfrm>
          <a:custGeom>
            <a:avLst/>
            <a:gdLst>
              <a:gd name="T0" fmla="*/ 2147483647 w 677"/>
              <a:gd name="T1" fmla="*/ 2147483647 h 25"/>
              <a:gd name="T2" fmla="*/ 2147483647 w 677"/>
              <a:gd name="T3" fmla="*/ 2147483647 h 25"/>
              <a:gd name="T4" fmla="*/ 2147483647 w 677"/>
              <a:gd name="T5" fmla="*/ 2147483647 h 25"/>
              <a:gd name="T6" fmla="*/ 2147483647 w 677"/>
              <a:gd name="T7" fmla="*/ 0 h 25"/>
              <a:gd name="T8" fmla="*/ 2147483647 w 677"/>
              <a:gd name="T9" fmla="*/ 2147483647 h 25"/>
              <a:gd name="T10" fmla="*/ 2147483647 w 677"/>
              <a:gd name="T11" fmla="*/ 2147483647 h 25"/>
              <a:gd name="T12" fmla="*/ 0 w 677"/>
              <a:gd name="T13" fmla="*/ 2147483647 h 25"/>
              <a:gd name="T14" fmla="*/ 0 60000 65536"/>
              <a:gd name="T15" fmla="*/ 0 60000 65536"/>
              <a:gd name="T16" fmla="*/ 0 60000 65536"/>
              <a:gd name="T17" fmla="*/ 0 60000 65536"/>
              <a:gd name="T18" fmla="*/ 0 60000 65536"/>
              <a:gd name="T19" fmla="*/ 0 60000 65536"/>
              <a:gd name="T20" fmla="*/ 0 60000 65536"/>
              <a:gd name="T21" fmla="*/ 0 w 677"/>
              <a:gd name="T22" fmla="*/ 0 h 25"/>
              <a:gd name="T23" fmla="*/ 677 w 67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7" h="25">
                <a:moveTo>
                  <a:pt x="677" y="25"/>
                </a:moveTo>
                <a:cubicBezTo>
                  <a:pt x="677" y="15"/>
                  <a:pt x="674" y="10"/>
                  <a:pt x="661" y="10"/>
                </a:cubicBezTo>
                <a:cubicBezTo>
                  <a:pt x="658" y="10"/>
                  <a:pt x="351" y="10"/>
                  <a:pt x="349" y="10"/>
                </a:cubicBezTo>
                <a:cubicBezTo>
                  <a:pt x="346" y="10"/>
                  <a:pt x="338" y="8"/>
                  <a:pt x="338" y="0"/>
                </a:cubicBezTo>
                <a:cubicBezTo>
                  <a:pt x="338" y="8"/>
                  <a:pt x="331" y="10"/>
                  <a:pt x="328" y="10"/>
                </a:cubicBezTo>
                <a:cubicBezTo>
                  <a:pt x="326" y="10"/>
                  <a:pt x="19" y="10"/>
                  <a:pt x="16" y="10"/>
                </a:cubicBezTo>
                <a:cubicBezTo>
                  <a:pt x="3" y="10"/>
                  <a:pt x="0" y="15"/>
                  <a:pt x="0" y="25"/>
                </a:cubicBezTo>
              </a:path>
            </a:pathLst>
          </a:custGeom>
          <a:noFill/>
          <a:ln w="25400" cap="flat">
            <a:solidFill>
              <a:srgbClr val="C7C4E2"/>
            </a:solidFill>
            <a:prstDash val="solid"/>
            <a:miter lim="800000"/>
            <a:headEnd/>
            <a:tailEnd/>
          </a:ln>
        </p:spPr>
        <p:txBody>
          <a:bodyPr/>
          <a:lstStyle/>
          <a:p>
            <a:endParaRPr lang="en-US"/>
          </a:p>
        </p:txBody>
      </p:sp>
      <p:sp>
        <p:nvSpPr>
          <p:cNvPr id="50192" name="Rectangle 19"/>
          <p:cNvSpPr>
            <a:spLocks noChangeArrowheads="1"/>
          </p:cNvSpPr>
          <p:nvPr/>
        </p:nvSpPr>
        <p:spPr bwMode="auto">
          <a:xfrm>
            <a:off x="1652588" y="4926013"/>
            <a:ext cx="1000125" cy="823912"/>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Produce 40 million pounds </a:t>
            </a:r>
            <a:endParaRPr lang="en-US">
              <a:latin typeface="Tahoma" pitchFamily="34" charset="0"/>
            </a:endParaRPr>
          </a:p>
        </p:txBody>
      </p:sp>
      <p:sp>
        <p:nvSpPr>
          <p:cNvPr id="50193" name="Rectangle 20"/>
          <p:cNvSpPr>
            <a:spLocks noChangeArrowheads="1"/>
          </p:cNvSpPr>
          <p:nvPr/>
        </p:nvSpPr>
        <p:spPr bwMode="auto">
          <a:xfrm>
            <a:off x="3335338" y="1268413"/>
            <a:ext cx="1566862" cy="549275"/>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Produce 30 million pounds </a:t>
            </a:r>
            <a:endParaRPr lang="en-US">
              <a:latin typeface="Tahoma" pitchFamily="34" charset="0"/>
            </a:endParaRPr>
          </a:p>
        </p:txBody>
      </p:sp>
      <p:sp>
        <p:nvSpPr>
          <p:cNvPr id="50194" name="Rectangle 21"/>
          <p:cNvSpPr>
            <a:spLocks noChangeArrowheads="1"/>
          </p:cNvSpPr>
          <p:nvPr/>
        </p:nvSpPr>
        <p:spPr bwMode="auto">
          <a:xfrm>
            <a:off x="5991225" y="1279525"/>
            <a:ext cx="1566863" cy="549275"/>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Produce 40 million pounds </a:t>
            </a:r>
            <a:endParaRPr lang="en-US">
              <a:latin typeface="Tahoma" pitchFamily="34" charset="0"/>
            </a:endParaRPr>
          </a:p>
        </p:txBody>
      </p:sp>
      <p:sp>
        <p:nvSpPr>
          <p:cNvPr id="201750" name="Rectangle 22"/>
          <p:cNvSpPr>
            <a:spLocks noChangeArrowheads="1"/>
          </p:cNvSpPr>
          <p:nvPr/>
        </p:nvSpPr>
        <p:spPr bwMode="auto">
          <a:xfrm>
            <a:off x="3195638" y="2008188"/>
            <a:ext cx="2170112"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Ajinomoto makes $180 million profit.</a:t>
            </a:r>
            <a:endParaRPr lang="en-US">
              <a:latin typeface="Tahoma" pitchFamily="34" charset="0"/>
            </a:endParaRPr>
          </a:p>
        </p:txBody>
      </p:sp>
      <p:sp>
        <p:nvSpPr>
          <p:cNvPr id="201751" name="Rectangle 23"/>
          <p:cNvSpPr>
            <a:spLocks noChangeArrowheads="1"/>
          </p:cNvSpPr>
          <p:nvPr/>
        </p:nvSpPr>
        <p:spPr bwMode="auto">
          <a:xfrm>
            <a:off x="5969000" y="2008188"/>
            <a:ext cx="2170113"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Ajinomoto makes $200 million profit.</a:t>
            </a:r>
            <a:endParaRPr lang="en-US">
              <a:latin typeface="Tahoma" pitchFamily="34" charset="0"/>
            </a:endParaRPr>
          </a:p>
        </p:txBody>
      </p:sp>
      <p:sp>
        <p:nvSpPr>
          <p:cNvPr id="201752" name="Rectangle 24"/>
          <p:cNvSpPr>
            <a:spLocks noChangeArrowheads="1"/>
          </p:cNvSpPr>
          <p:nvPr/>
        </p:nvSpPr>
        <p:spPr bwMode="auto">
          <a:xfrm>
            <a:off x="3195638" y="4302125"/>
            <a:ext cx="2170112"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Ajinomoto makes $150 million profit.</a:t>
            </a:r>
            <a:endParaRPr lang="en-US">
              <a:latin typeface="Tahoma" pitchFamily="34" charset="0"/>
            </a:endParaRPr>
          </a:p>
        </p:txBody>
      </p:sp>
      <p:sp>
        <p:nvSpPr>
          <p:cNvPr id="201753" name="Rectangle 25"/>
          <p:cNvSpPr>
            <a:spLocks noChangeArrowheads="1"/>
          </p:cNvSpPr>
          <p:nvPr/>
        </p:nvSpPr>
        <p:spPr bwMode="auto">
          <a:xfrm>
            <a:off x="5969000" y="4302125"/>
            <a:ext cx="2170113"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Ajinomoto makes $160 million profit.</a:t>
            </a:r>
            <a:endParaRPr lang="en-US">
              <a:latin typeface="Tahoma" pitchFamily="34" charset="0"/>
            </a:endParaRPr>
          </a:p>
        </p:txBody>
      </p:sp>
      <p:sp>
        <p:nvSpPr>
          <p:cNvPr id="201754" name="Rectangle 26"/>
          <p:cNvSpPr>
            <a:spLocks noChangeArrowheads="1"/>
          </p:cNvSpPr>
          <p:nvPr/>
        </p:nvSpPr>
        <p:spPr bwMode="auto">
          <a:xfrm>
            <a:off x="5580063" y="3357563"/>
            <a:ext cx="1593850" cy="823912"/>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ADM makes $150 million profit</a:t>
            </a:r>
            <a:endParaRPr lang="en-US">
              <a:latin typeface="Tahoma" pitchFamily="34" charset="0"/>
            </a:endParaRPr>
          </a:p>
        </p:txBody>
      </p:sp>
      <p:sp>
        <p:nvSpPr>
          <p:cNvPr id="201755" name="Rectangle 27"/>
          <p:cNvSpPr>
            <a:spLocks noChangeArrowheads="1"/>
          </p:cNvSpPr>
          <p:nvPr/>
        </p:nvSpPr>
        <p:spPr bwMode="auto">
          <a:xfrm>
            <a:off x="2808288" y="5553075"/>
            <a:ext cx="1595437" cy="823913"/>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ADM makes $200 million profit</a:t>
            </a:r>
            <a:endParaRPr lang="en-US">
              <a:latin typeface="Tahoma" pitchFamily="34" charset="0"/>
            </a:endParaRPr>
          </a:p>
        </p:txBody>
      </p:sp>
      <p:sp>
        <p:nvSpPr>
          <p:cNvPr id="201756" name="Rectangle 28"/>
          <p:cNvSpPr>
            <a:spLocks noChangeArrowheads="1"/>
          </p:cNvSpPr>
          <p:nvPr/>
        </p:nvSpPr>
        <p:spPr bwMode="auto">
          <a:xfrm>
            <a:off x="5543550" y="5624513"/>
            <a:ext cx="1595438" cy="823912"/>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ADM makes $160million profit</a:t>
            </a:r>
            <a:endParaRPr lang="en-US">
              <a:latin typeface="Tahoma" pitchFamily="34" charset="0"/>
            </a:endParaRPr>
          </a:p>
        </p:txBody>
      </p:sp>
      <p:sp>
        <p:nvSpPr>
          <p:cNvPr id="46107" name="Rectangle 27"/>
          <p:cNvSpPr>
            <a:spLocks noChangeArrowheads="1"/>
          </p:cNvSpPr>
          <p:nvPr/>
        </p:nvSpPr>
        <p:spPr bwMode="auto">
          <a:xfrm>
            <a:off x="5472113" y="4184650"/>
            <a:ext cx="2771775" cy="2305050"/>
          </a:xfrm>
          <a:prstGeom prst="rect">
            <a:avLst/>
          </a:prstGeom>
          <a:noFill/>
          <a:ln w="31750">
            <a:solidFill>
              <a:srgbClr val="800000"/>
            </a:solidFill>
            <a:miter lim="800000"/>
            <a:headEnd/>
            <a:tailEnd/>
          </a:ln>
        </p:spPr>
        <p:txBody>
          <a:bodyPr wrap="none" anchor="ctr"/>
          <a:lstStyle/>
          <a:p>
            <a:endParaRPr lang="en-US"/>
          </a:p>
        </p:txBody>
      </p:sp>
      <p:sp>
        <p:nvSpPr>
          <p:cNvPr id="46109" name="Rectangle 29"/>
          <p:cNvSpPr>
            <a:spLocks noChangeArrowheads="1"/>
          </p:cNvSpPr>
          <p:nvPr/>
        </p:nvSpPr>
        <p:spPr bwMode="auto">
          <a:xfrm>
            <a:off x="2700338" y="1881188"/>
            <a:ext cx="2771775" cy="2305050"/>
          </a:xfrm>
          <a:prstGeom prst="rect">
            <a:avLst/>
          </a:prstGeom>
          <a:noFill/>
          <a:ln w="31750">
            <a:solidFill>
              <a:srgbClr val="339966"/>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1744"/>
                                        </p:tgtEl>
                                        <p:attrNameLst>
                                          <p:attrName>style.visibility</p:attrName>
                                        </p:attrNameLst>
                                      </p:cBhvr>
                                      <p:to>
                                        <p:strVal val="visible"/>
                                      </p:to>
                                    </p:set>
                                    <p:animEffect transition="in" filter="dissolve">
                                      <p:cBhvr>
                                        <p:cTn id="7" dur="500"/>
                                        <p:tgtEl>
                                          <p:spTgt spid="20174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1754"/>
                                        </p:tgtEl>
                                        <p:attrNameLst>
                                          <p:attrName>style.visibility</p:attrName>
                                        </p:attrNameLst>
                                      </p:cBhvr>
                                      <p:to>
                                        <p:strVal val="visible"/>
                                      </p:to>
                                    </p:set>
                                    <p:animEffect transition="in" filter="dissolve">
                                      <p:cBhvr>
                                        <p:cTn id="11" dur="500"/>
                                        <p:tgtEl>
                                          <p:spTgt spid="201754"/>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01755"/>
                                        </p:tgtEl>
                                        <p:attrNameLst>
                                          <p:attrName>style.visibility</p:attrName>
                                        </p:attrNameLst>
                                      </p:cBhvr>
                                      <p:to>
                                        <p:strVal val="visible"/>
                                      </p:to>
                                    </p:set>
                                    <p:animEffect transition="in" filter="dissolve">
                                      <p:cBhvr>
                                        <p:cTn id="15" dur="500"/>
                                        <p:tgtEl>
                                          <p:spTgt spid="20175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01756"/>
                                        </p:tgtEl>
                                        <p:attrNameLst>
                                          <p:attrName>style.visibility</p:attrName>
                                        </p:attrNameLst>
                                      </p:cBhvr>
                                      <p:to>
                                        <p:strVal val="visible"/>
                                      </p:to>
                                    </p:set>
                                    <p:animEffect transition="in" filter="dissolve">
                                      <p:cBhvr>
                                        <p:cTn id="19" dur="500"/>
                                        <p:tgtEl>
                                          <p:spTgt spid="20175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01750"/>
                                        </p:tgtEl>
                                        <p:attrNameLst>
                                          <p:attrName>style.visibility</p:attrName>
                                        </p:attrNameLst>
                                      </p:cBhvr>
                                      <p:to>
                                        <p:strVal val="visible"/>
                                      </p:to>
                                    </p:set>
                                    <p:animEffect transition="in" filter="dissolve">
                                      <p:cBhvr>
                                        <p:cTn id="24" dur="500"/>
                                        <p:tgtEl>
                                          <p:spTgt spid="201750"/>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201751"/>
                                        </p:tgtEl>
                                        <p:attrNameLst>
                                          <p:attrName>style.visibility</p:attrName>
                                        </p:attrNameLst>
                                      </p:cBhvr>
                                      <p:to>
                                        <p:strVal val="visible"/>
                                      </p:to>
                                    </p:set>
                                    <p:animEffect transition="in" filter="dissolve">
                                      <p:cBhvr>
                                        <p:cTn id="28" dur="500"/>
                                        <p:tgtEl>
                                          <p:spTgt spid="201751"/>
                                        </p:tgtEl>
                                      </p:cBhvr>
                                    </p:animEffect>
                                  </p:childTnLst>
                                </p:cTn>
                              </p:par>
                            </p:childTnLst>
                          </p:cTn>
                        </p:par>
                        <p:par>
                          <p:cTn id="29" fill="hold">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201752"/>
                                        </p:tgtEl>
                                        <p:attrNameLst>
                                          <p:attrName>style.visibility</p:attrName>
                                        </p:attrNameLst>
                                      </p:cBhvr>
                                      <p:to>
                                        <p:strVal val="visible"/>
                                      </p:to>
                                    </p:set>
                                    <p:animEffect transition="in" filter="dissolve">
                                      <p:cBhvr>
                                        <p:cTn id="32" dur="500"/>
                                        <p:tgtEl>
                                          <p:spTgt spid="201752"/>
                                        </p:tgtEl>
                                      </p:cBhvr>
                                    </p:animEffect>
                                  </p:childTnLst>
                                </p:cTn>
                              </p:par>
                            </p:childTnLst>
                          </p:cTn>
                        </p:par>
                        <p:par>
                          <p:cTn id="33" fill="hold">
                            <p:stCondLst>
                              <p:cond delay="1500"/>
                            </p:stCondLst>
                            <p:childTnLst>
                              <p:par>
                                <p:cTn id="34" presetID="9" presetClass="entr" presetSubtype="0" fill="hold" grpId="0" nodeType="afterEffect">
                                  <p:stCondLst>
                                    <p:cond delay="0"/>
                                  </p:stCondLst>
                                  <p:childTnLst>
                                    <p:set>
                                      <p:cBhvr>
                                        <p:cTn id="35" dur="1" fill="hold">
                                          <p:stCondLst>
                                            <p:cond delay="0"/>
                                          </p:stCondLst>
                                        </p:cTn>
                                        <p:tgtEl>
                                          <p:spTgt spid="201753"/>
                                        </p:tgtEl>
                                        <p:attrNameLst>
                                          <p:attrName>style.visibility</p:attrName>
                                        </p:attrNameLst>
                                      </p:cBhvr>
                                      <p:to>
                                        <p:strVal val="visible"/>
                                      </p:to>
                                    </p:set>
                                    <p:animEffect transition="in" filter="dissolve">
                                      <p:cBhvr>
                                        <p:cTn id="36" dur="500"/>
                                        <p:tgtEl>
                                          <p:spTgt spid="20175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6107"/>
                                        </p:tgtEl>
                                        <p:attrNameLst>
                                          <p:attrName>style.visibility</p:attrName>
                                        </p:attrNameLst>
                                      </p:cBhvr>
                                      <p:to>
                                        <p:strVal val="visible"/>
                                      </p:to>
                                    </p:set>
                                    <p:animEffect transition="in" filter="dissolve">
                                      <p:cBhvr>
                                        <p:cTn id="41" dur="500"/>
                                        <p:tgtEl>
                                          <p:spTgt spid="4610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46109"/>
                                        </p:tgtEl>
                                        <p:attrNameLst>
                                          <p:attrName>style.visibility</p:attrName>
                                        </p:attrNameLst>
                                      </p:cBhvr>
                                      <p:to>
                                        <p:strVal val="visible"/>
                                      </p:to>
                                    </p:set>
                                    <p:animEffect transition="in" filter="dissolve">
                                      <p:cBhvr>
                                        <p:cTn id="46" dur="500"/>
                                        <p:tgtEl>
                                          <p:spTgt spid="46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44" grpId="0"/>
      <p:bldP spid="201750" grpId="0"/>
      <p:bldP spid="201751" grpId="0"/>
      <p:bldP spid="201752" grpId="0"/>
      <p:bldP spid="201753" grpId="0"/>
      <p:bldP spid="201754" grpId="0"/>
      <p:bldP spid="201755" grpId="0"/>
      <p:bldP spid="201756" grpId="0"/>
      <p:bldP spid="46107" grpId="0" animBg="1"/>
      <p:bldP spid="4610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rrowheads="1"/>
          </p:cNvSpPr>
          <p:nvPr>
            <p:ph type="title" idx="4294967295"/>
          </p:nvPr>
        </p:nvSpPr>
        <p:spPr>
          <a:xfrm>
            <a:off x="900113" y="44450"/>
            <a:ext cx="8064500" cy="609600"/>
          </a:xfrm>
        </p:spPr>
        <p:txBody>
          <a:bodyPr/>
          <a:lstStyle/>
          <a:p>
            <a:pPr>
              <a:defRPr/>
            </a:pPr>
            <a:r>
              <a:rPr lang="en-US" dirty="0" smtClean="0"/>
              <a:t>The Prisoners’ Dilemma</a:t>
            </a:r>
            <a:endParaRPr lang="en-US" b="0" dirty="0" smtClean="0"/>
          </a:p>
        </p:txBody>
      </p:sp>
      <p:sp>
        <p:nvSpPr>
          <p:cNvPr id="52226" name="Text Box 3"/>
          <p:cNvSpPr txBox="1">
            <a:spLocks noChangeArrowheads="1"/>
          </p:cNvSpPr>
          <p:nvPr/>
        </p:nvSpPr>
        <p:spPr bwMode="auto">
          <a:xfrm>
            <a:off x="792163" y="728663"/>
            <a:ext cx="8064500" cy="5965825"/>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Economists use </a:t>
            </a:r>
            <a:r>
              <a:rPr lang="en-US" sz="2400" i="1"/>
              <a:t>game theory </a:t>
            </a:r>
            <a:r>
              <a:rPr lang="en-US" sz="2400"/>
              <a:t>to study firms’ behavior when there is </a:t>
            </a:r>
            <a:r>
              <a:rPr lang="en-US" sz="2400" i="1"/>
              <a:t>interdependence </a:t>
            </a:r>
            <a:r>
              <a:rPr lang="en-US" sz="2400"/>
              <a:t>between their </a:t>
            </a:r>
            <a:r>
              <a:rPr lang="en-US" sz="2400" i="1"/>
              <a:t>payoffs</a:t>
            </a:r>
            <a:r>
              <a:rPr lang="en-US" sz="2400"/>
              <a:t>. </a:t>
            </a:r>
          </a:p>
          <a:p>
            <a:pPr marL="231775" indent="-231775">
              <a:buClr>
                <a:schemeClr val="tx1"/>
              </a:buClr>
              <a:buFont typeface="Arial" charset="0"/>
              <a:buChar char="•"/>
            </a:pPr>
            <a:endParaRPr lang="en-US" sz="1400"/>
          </a:p>
          <a:p>
            <a:pPr marL="231775" indent="-231775">
              <a:buClr>
                <a:schemeClr val="tx1"/>
              </a:buClr>
              <a:buFont typeface="Arial" charset="0"/>
              <a:buChar char="•"/>
            </a:pPr>
            <a:r>
              <a:rPr lang="en-US" sz="2400"/>
              <a:t>A game can be represented with a </a:t>
            </a:r>
            <a:r>
              <a:rPr lang="en-US" sz="2400" i="1"/>
              <a:t>payoff matrix</a:t>
            </a:r>
            <a:r>
              <a:rPr lang="en-US" sz="2400"/>
              <a:t>. </a:t>
            </a:r>
          </a:p>
          <a:p>
            <a:pPr marL="688975" lvl="1" indent="-231775">
              <a:buClr>
                <a:schemeClr val="tx1"/>
              </a:buClr>
              <a:buFont typeface="Wingdings" pitchFamily="2" charset="2"/>
              <a:buChar char="§"/>
            </a:pPr>
            <a:r>
              <a:rPr lang="en-US" sz="2200"/>
              <a:t>Depending on the payoffs, a player may or may not have a </a:t>
            </a:r>
            <a:r>
              <a:rPr lang="en-US" sz="2200" i="1"/>
              <a:t>dominant strategy</a:t>
            </a:r>
            <a:r>
              <a:rPr lang="en-US" sz="2200"/>
              <a:t>.</a:t>
            </a:r>
          </a:p>
          <a:p>
            <a:pPr marL="688975" lvl="1" indent="-231775">
              <a:buClr>
                <a:schemeClr val="tx1"/>
              </a:buClr>
              <a:buFont typeface="Wingdings" pitchFamily="2" charset="2"/>
              <a:buChar char="§"/>
            </a:pPr>
            <a:r>
              <a:rPr lang="en-US" sz="2200"/>
              <a:t>A dominant strategy is the best strategy no matter what the other person does.</a:t>
            </a:r>
            <a:br>
              <a:rPr lang="en-US" sz="2200"/>
            </a:br>
            <a:endParaRPr lang="en-US" sz="1400"/>
          </a:p>
          <a:p>
            <a:pPr marL="231775" indent="-231775">
              <a:buClr>
                <a:schemeClr val="tx1"/>
              </a:buClr>
              <a:buFont typeface="Arial" charset="0"/>
              <a:buChar char="•"/>
            </a:pPr>
            <a:r>
              <a:rPr lang="en-US" sz="2400"/>
              <a:t>When each firm’s dominant strategy is to cheat, but both are worse off if </a:t>
            </a:r>
            <a:r>
              <a:rPr lang="en-US" sz="2400" i="1"/>
              <a:t>both </a:t>
            </a:r>
            <a:r>
              <a:rPr lang="en-US" sz="2400"/>
              <a:t>cheat, the situation is known as a </a:t>
            </a:r>
            <a:r>
              <a:rPr lang="en-US" sz="2400" i="1"/>
              <a:t>prisoners’ dilemma</a:t>
            </a:r>
            <a:r>
              <a:rPr lang="en-US" sz="2400"/>
              <a:t>.</a:t>
            </a:r>
          </a:p>
          <a:p>
            <a:pPr marL="231775" indent="-231775">
              <a:buClr>
                <a:schemeClr val="tx1"/>
              </a:buClr>
              <a:buFont typeface="Arial" charset="0"/>
              <a:buChar char="•"/>
            </a:pPr>
            <a:endParaRPr lang="en-US" sz="1400"/>
          </a:p>
          <a:p>
            <a:pPr marL="231775" indent="-231775">
              <a:buClr>
                <a:schemeClr val="tx1"/>
              </a:buClr>
              <a:buFont typeface="Arial" charset="0"/>
              <a:buChar char="•"/>
            </a:pPr>
            <a:r>
              <a:rPr lang="en-US" sz="2400"/>
              <a:t>The prisoner’s dilemma game displays two characteristics: </a:t>
            </a:r>
          </a:p>
          <a:p>
            <a:pPr marL="688975" lvl="1" indent="-231775">
              <a:buClr>
                <a:schemeClr val="tx1"/>
              </a:buClr>
              <a:buFont typeface="Arial" charset="0"/>
              <a:buNone/>
            </a:pPr>
            <a:r>
              <a:rPr lang="en-US" sz="2200"/>
              <a:t>1) Each player has an incentive to choose an action that benefits itself at the other player’s expense. </a:t>
            </a:r>
          </a:p>
          <a:p>
            <a:pPr marL="688975" lvl="1" indent="-231775">
              <a:buClr>
                <a:schemeClr val="tx1"/>
              </a:buClr>
              <a:buFont typeface="Arial" charset="0"/>
              <a:buNone/>
            </a:pPr>
            <a:r>
              <a:rPr lang="en-US" sz="2200"/>
              <a:t>2) When both players act in this way, both are worse off than if they had acted cooperatively.</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rrowheads="1"/>
          </p:cNvSpPr>
          <p:nvPr>
            <p:ph type="title" idx="4294967295"/>
          </p:nvPr>
        </p:nvSpPr>
        <p:spPr>
          <a:xfrm>
            <a:off x="827088" y="90488"/>
            <a:ext cx="8316912" cy="530225"/>
          </a:xfrm>
        </p:spPr>
        <p:txBody>
          <a:bodyPr/>
          <a:lstStyle/>
          <a:p>
            <a:pPr>
              <a:defRPr/>
            </a:pPr>
            <a:r>
              <a:rPr lang="en-US" sz="2800" smtClean="0">
                <a:effectLst>
                  <a:outerShdw blurRad="38100" dist="38100" dir="2700000" algn="tl">
                    <a:srgbClr val="C0C0C0"/>
                  </a:outerShdw>
                </a:effectLst>
              </a:rPr>
              <a:t>The </a:t>
            </a:r>
            <a:r>
              <a:rPr lang="en-US" smtClean="0">
                <a:effectLst>
                  <a:outerShdw blurRad="38100" dist="38100" dir="2700000" algn="tl">
                    <a:srgbClr val="C0C0C0"/>
                  </a:outerShdw>
                </a:effectLst>
              </a:rPr>
              <a:t>Prisoners</a:t>
            </a:r>
            <a:r>
              <a:rPr lang="en-US" sz="2800" smtClean="0">
                <a:effectLst>
                  <a:outerShdw blurRad="38100" dist="38100" dir="2700000" algn="tl">
                    <a:srgbClr val="C0C0C0"/>
                  </a:outerShdw>
                </a:effectLst>
              </a:rPr>
              <a:t>’ Dilemma</a:t>
            </a:r>
          </a:p>
        </p:txBody>
      </p:sp>
      <p:sp>
        <p:nvSpPr>
          <p:cNvPr id="54274" name="Rectangle 5"/>
          <p:cNvSpPr>
            <a:spLocks noChangeArrowheads="1"/>
          </p:cNvSpPr>
          <p:nvPr/>
        </p:nvSpPr>
        <p:spPr bwMode="auto">
          <a:xfrm>
            <a:off x="1597025" y="2651125"/>
            <a:ext cx="987425" cy="549275"/>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Don’t confess</a:t>
            </a:r>
            <a:endParaRPr lang="en-US">
              <a:latin typeface="Tahoma" pitchFamily="34" charset="0"/>
            </a:endParaRPr>
          </a:p>
        </p:txBody>
      </p:sp>
      <p:sp>
        <p:nvSpPr>
          <p:cNvPr id="54275" name="Rectangle 6"/>
          <p:cNvSpPr>
            <a:spLocks noChangeArrowheads="1"/>
          </p:cNvSpPr>
          <p:nvPr/>
        </p:nvSpPr>
        <p:spPr bwMode="auto">
          <a:xfrm>
            <a:off x="3351213" y="1446213"/>
            <a:ext cx="1384300" cy="274637"/>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Don’t confess</a:t>
            </a:r>
            <a:endParaRPr lang="en-US">
              <a:latin typeface="Tahoma" pitchFamily="34" charset="0"/>
            </a:endParaRPr>
          </a:p>
        </p:txBody>
      </p:sp>
      <p:sp>
        <p:nvSpPr>
          <p:cNvPr id="54276" name="Rectangle 7"/>
          <p:cNvSpPr>
            <a:spLocks noChangeArrowheads="1"/>
          </p:cNvSpPr>
          <p:nvPr/>
        </p:nvSpPr>
        <p:spPr bwMode="auto">
          <a:xfrm>
            <a:off x="1649413" y="5019675"/>
            <a:ext cx="838200" cy="274638"/>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Confess</a:t>
            </a:r>
            <a:endParaRPr lang="en-US">
              <a:latin typeface="Tahoma" pitchFamily="34" charset="0"/>
            </a:endParaRPr>
          </a:p>
        </p:txBody>
      </p:sp>
      <p:sp>
        <p:nvSpPr>
          <p:cNvPr id="54277" name="Rectangle 8"/>
          <p:cNvSpPr>
            <a:spLocks noChangeArrowheads="1"/>
          </p:cNvSpPr>
          <p:nvPr/>
        </p:nvSpPr>
        <p:spPr bwMode="auto">
          <a:xfrm>
            <a:off x="6453188" y="1446213"/>
            <a:ext cx="838200" cy="274637"/>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Confess</a:t>
            </a:r>
            <a:endParaRPr lang="en-US">
              <a:latin typeface="Tahoma" pitchFamily="34" charset="0"/>
            </a:endParaRPr>
          </a:p>
        </p:txBody>
      </p:sp>
      <p:sp>
        <p:nvSpPr>
          <p:cNvPr id="54278" name="Freeform 9"/>
          <p:cNvSpPr>
            <a:spLocks/>
          </p:cNvSpPr>
          <p:nvPr/>
        </p:nvSpPr>
        <p:spPr bwMode="auto">
          <a:xfrm>
            <a:off x="2613025" y="3995738"/>
            <a:ext cx="2820988" cy="2243137"/>
          </a:xfrm>
          <a:custGeom>
            <a:avLst/>
            <a:gdLst>
              <a:gd name="T0" fmla="*/ 2147483647 w 1100"/>
              <a:gd name="T1" fmla="*/ 2147483647 h 1101"/>
              <a:gd name="T2" fmla="*/ 0 w 1100"/>
              <a:gd name="T3" fmla="*/ 2147483647 h 1101"/>
              <a:gd name="T4" fmla="*/ 0 w 1100"/>
              <a:gd name="T5" fmla="*/ 0 h 1101"/>
              <a:gd name="T6" fmla="*/ 2147483647 w 1100"/>
              <a:gd name="T7" fmla="*/ 2147483647 h 1101"/>
              <a:gd name="T8" fmla="*/ 0 60000 65536"/>
              <a:gd name="T9" fmla="*/ 0 60000 65536"/>
              <a:gd name="T10" fmla="*/ 0 60000 65536"/>
              <a:gd name="T11" fmla="*/ 0 60000 65536"/>
              <a:gd name="T12" fmla="*/ 0 w 1100"/>
              <a:gd name="T13" fmla="*/ 0 h 1101"/>
              <a:gd name="T14" fmla="*/ 1100 w 1100"/>
              <a:gd name="T15" fmla="*/ 1101 h 1101"/>
            </a:gdLst>
            <a:ahLst/>
            <a:cxnLst>
              <a:cxn ang="T8">
                <a:pos x="T0" y="T1"/>
              </a:cxn>
              <a:cxn ang="T9">
                <a:pos x="T2" y="T3"/>
              </a:cxn>
              <a:cxn ang="T10">
                <a:pos x="T4" y="T5"/>
              </a:cxn>
              <a:cxn ang="T11">
                <a:pos x="T6" y="T7"/>
              </a:cxn>
            </a:cxnLst>
            <a:rect l="T12" t="T13" r="T14" b="T15"/>
            <a:pathLst>
              <a:path w="1100" h="1101">
                <a:moveTo>
                  <a:pt x="1100" y="1101"/>
                </a:moveTo>
                <a:lnTo>
                  <a:pt x="0" y="1101"/>
                </a:lnTo>
                <a:lnTo>
                  <a:pt x="0" y="0"/>
                </a:lnTo>
                <a:lnTo>
                  <a:pt x="1100" y="1101"/>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54279" name="Freeform 10"/>
          <p:cNvSpPr>
            <a:spLocks/>
          </p:cNvSpPr>
          <p:nvPr/>
        </p:nvSpPr>
        <p:spPr bwMode="auto">
          <a:xfrm>
            <a:off x="2613025" y="3995738"/>
            <a:ext cx="2820988" cy="2243137"/>
          </a:xfrm>
          <a:custGeom>
            <a:avLst/>
            <a:gdLst>
              <a:gd name="T0" fmla="*/ 0 w 1100"/>
              <a:gd name="T1" fmla="*/ 0 h 1101"/>
              <a:gd name="T2" fmla="*/ 2147483647 w 1100"/>
              <a:gd name="T3" fmla="*/ 0 h 1101"/>
              <a:gd name="T4" fmla="*/ 2147483647 w 1100"/>
              <a:gd name="T5" fmla="*/ 2147483647 h 1101"/>
              <a:gd name="T6" fmla="*/ 0 w 1100"/>
              <a:gd name="T7" fmla="*/ 0 h 1101"/>
              <a:gd name="T8" fmla="*/ 0 60000 65536"/>
              <a:gd name="T9" fmla="*/ 0 60000 65536"/>
              <a:gd name="T10" fmla="*/ 0 60000 65536"/>
              <a:gd name="T11" fmla="*/ 0 60000 65536"/>
              <a:gd name="T12" fmla="*/ 0 w 1100"/>
              <a:gd name="T13" fmla="*/ 0 h 1101"/>
              <a:gd name="T14" fmla="*/ 1100 w 1100"/>
              <a:gd name="T15" fmla="*/ 1101 h 1101"/>
            </a:gdLst>
            <a:ahLst/>
            <a:cxnLst>
              <a:cxn ang="T8">
                <a:pos x="T0" y="T1"/>
              </a:cxn>
              <a:cxn ang="T9">
                <a:pos x="T2" y="T3"/>
              </a:cxn>
              <a:cxn ang="T10">
                <a:pos x="T4" y="T5"/>
              </a:cxn>
              <a:cxn ang="T11">
                <a:pos x="T6" y="T7"/>
              </a:cxn>
            </a:cxnLst>
            <a:rect l="T12" t="T13" r="T14" b="T15"/>
            <a:pathLst>
              <a:path w="1100" h="1101">
                <a:moveTo>
                  <a:pt x="0" y="0"/>
                </a:moveTo>
                <a:lnTo>
                  <a:pt x="1100" y="0"/>
                </a:lnTo>
                <a:lnTo>
                  <a:pt x="1100" y="1101"/>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54280" name="Freeform 11"/>
          <p:cNvSpPr>
            <a:spLocks/>
          </p:cNvSpPr>
          <p:nvPr/>
        </p:nvSpPr>
        <p:spPr bwMode="auto">
          <a:xfrm>
            <a:off x="5434013" y="3995738"/>
            <a:ext cx="2809875" cy="2243137"/>
          </a:xfrm>
          <a:custGeom>
            <a:avLst/>
            <a:gdLst>
              <a:gd name="T0" fmla="*/ 2147483647 w 1096"/>
              <a:gd name="T1" fmla="*/ 2147483647 h 1101"/>
              <a:gd name="T2" fmla="*/ 0 w 1096"/>
              <a:gd name="T3" fmla="*/ 2147483647 h 1101"/>
              <a:gd name="T4" fmla="*/ 0 w 1096"/>
              <a:gd name="T5" fmla="*/ 0 h 1101"/>
              <a:gd name="T6" fmla="*/ 2147483647 w 1096"/>
              <a:gd name="T7" fmla="*/ 2147483647 h 1101"/>
              <a:gd name="T8" fmla="*/ 0 60000 65536"/>
              <a:gd name="T9" fmla="*/ 0 60000 65536"/>
              <a:gd name="T10" fmla="*/ 0 60000 65536"/>
              <a:gd name="T11" fmla="*/ 0 60000 65536"/>
              <a:gd name="T12" fmla="*/ 0 w 1096"/>
              <a:gd name="T13" fmla="*/ 0 h 1101"/>
              <a:gd name="T14" fmla="*/ 1096 w 1096"/>
              <a:gd name="T15" fmla="*/ 1101 h 1101"/>
            </a:gdLst>
            <a:ahLst/>
            <a:cxnLst>
              <a:cxn ang="T8">
                <a:pos x="T0" y="T1"/>
              </a:cxn>
              <a:cxn ang="T9">
                <a:pos x="T2" y="T3"/>
              </a:cxn>
              <a:cxn ang="T10">
                <a:pos x="T4" y="T5"/>
              </a:cxn>
              <a:cxn ang="T11">
                <a:pos x="T6" y="T7"/>
              </a:cxn>
            </a:cxnLst>
            <a:rect l="T12" t="T13" r="T14" b="T15"/>
            <a:pathLst>
              <a:path w="1096" h="1101">
                <a:moveTo>
                  <a:pt x="1096" y="1101"/>
                </a:moveTo>
                <a:lnTo>
                  <a:pt x="0" y="1101"/>
                </a:lnTo>
                <a:lnTo>
                  <a:pt x="0" y="0"/>
                </a:lnTo>
                <a:lnTo>
                  <a:pt x="1096" y="1101"/>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54281" name="Freeform 12"/>
          <p:cNvSpPr>
            <a:spLocks/>
          </p:cNvSpPr>
          <p:nvPr/>
        </p:nvSpPr>
        <p:spPr bwMode="auto">
          <a:xfrm>
            <a:off x="5434013" y="3995738"/>
            <a:ext cx="2809875" cy="2243137"/>
          </a:xfrm>
          <a:custGeom>
            <a:avLst/>
            <a:gdLst>
              <a:gd name="T0" fmla="*/ 0 w 1096"/>
              <a:gd name="T1" fmla="*/ 0 h 1101"/>
              <a:gd name="T2" fmla="*/ 2147483647 w 1096"/>
              <a:gd name="T3" fmla="*/ 0 h 1101"/>
              <a:gd name="T4" fmla="*/ 2147483647 w 1096"/>
              <a:gd name="T5" fmla="*/ 2147483647 h 1101"/>
              <a:gd name="T6" fmla="*/ 0 w 1096"/>
              <a:gd name="T7" fmla="*/ 0 h 1101"/>
              <a:gd name="T8" fmla="*/ 0 60000 65536"/>
              <a:gd name="T9" fmla="*/ 0 60000 65536"/>
              <a:gd name="T10" fmla="*/ 0 60000 65536"/>
              <a:gd name="T11" fmla="*/ 0 60000 65536"/>
              <a:gd name="T12" fmla="*/ 0 w 1096"/>
              <a:gd name="T13" fmla="*/ 0 h 1101"/>
              <a:gd name="T14" fmla="*/ 1096 w 1096"/>
              <a:gd name="T15" fmla="*/ 1101 h 1101"/>
            </a:gdLst>
            <a:ahLst/>
            <a:cxnLst>
              <a:cxn ang="T8">
                <a:pos x="T0" y="T1"/>
              </a:cxn>
              <a:cxn ang="T9">
                <a:pos x="T2" y="T3"/>
              </a:cxn>
              <a:cxn ang="T10">
                <a:pos x="T4" y="T5"/>
              </a:cxn>
              <a:cxn ang="T11">
                <a:pos x="T6" y="T7"/>
              </a:cxn>
            </a:cxnLst>
            <a:rect l="T12" t="T13" r="T14" b="T15"/>
            <a:pathLst>
              <a:path w="1096" h="1101">
                <a:moveTo>
                  <a:pt x="0" y="0"/>
                </a:moveTo>
                <a:lnTo>
                  <a:pt x="1096" y="0"/>
                </a:lnTo>
                <a:lnTo>
                  <a:pt x="1096" y="1101"/>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54282" name="Freeform 13"/>
          <p:cNvSpPr>
            <a:spLocks/>
          </p:cNvSpPr>
          <p:nvPr/>
        </p:nvSpPr>
        <p:spPr bwMode="auto">
          <a:xfrm>
            <a:off x="2613025" y="1755775"/>
            <a:ext cx="2820988" cy="2239963"/>
          </a:xfrm>
          <a:custGeom>
            <a:avLst/>
            <a:gdLst>
              <a:gd name="T0" fmla="*/ 2147483647 w 1100"/>
              <a:gd name="T1" fmla="*/ 2147483647 h 1100"/>
              <a:gd name="T2" fmla="*/ 0 w 1100"/>
              <a:gd name="T3" fmla="*/ 2147483647 h 1100"/>
              <a:gd name="T4" fmla="*/ 0 w 1100"/>
              <a:gd name="T5" fmla="*/ 0 h 1100"/>
              <a:gd name="T6" fmla="*/ 2147483647 w 1100"/>
              <a:gd name="T7" fmla="*/ 2147483647 h 1100"/>
              <a:gd name="T8" fmla="*/ 0 60000 65536"/>
              <a:gd name="T9" fmla="*/ 0 60000 65536"/>
              <a:gd name="T10" fmla="*/ 0 60000 65536"/>
              <a:gd name="T11" fmla="*/ 0 60000 65536"/>
              <a:gd name="T12" fmla="*/ 0 w 1100"/>
              <a:gd name="T13" fmla="*/ 0 h 1100"/>
              <a:gd name="T14" fmla="*/ 1100 w 1100"/>
              <a:gd name="T15" fmla="*/ 1100 h 1100"/>
            </a:gdLst>
            <a:ahLst/>
            <a:cxnLst>
              <a:cxn ang="T8">
                <a:pos x="T0" y="T1"/>
              </a:cxn>
              <a:cxn ang="T9">
                <a:pos x="T2" y="T3"/>
              </a:cxn>
              <a:cxn ang="T10">
                <a:pos x="T4" y="T5"/>
              </a:cxn>
              <a:cxn ang="T11">
                <a:pos x="T6" y="T7"/>
              </a:cxn>
            </a:cxnLst>
            <a:rect l="T12" t="T13" r="T14" b="T15"/>
            <a:pathLst>
              <a:path w="1100" h="1100">
                <a:moveTo>
                  <a:pt x="1100" y="1100"/>
                </a:moveTo>
                <a:lnTo>
                  <a:pt x="0" y="1100"/>
                </a:lnTo>
                <a:lnTo>
                  <a:pt x="0" y="0"/>
                </a:lnTo>
                <a:lnTo>
                  <a:pt x="1100" y="1100"/>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54283" name="Freeform 14"/>
          <p:cNvSpPr>
            <a:spLocks/>
          </p:cNvSpPr>
          <p:nvPr/>
        </p:nvSpPr>
        <p:spPr bwMode="auto">
          <a:xfrm>
            <a:off x="2613025" y="1755775"/>
            <a:ext cx="2820988" cy="2239963"/>
          </a:xfrm>
          <a:custGeom>
            <a:avLst/>
            <a:gdLst>
              <a:gd name="T0" fmla="*/ 0 w 1100"/>
              <a:gd name="T1" fmla="*/ 0 h 1100"/>
              <a:gd name="T2" fmla="*/ 2147483647 w 1100"/>
              <a:gd name="T3" fmla="*/ 0 h 1100"/>
              <a:gd name="T4" fmla="*/ 2147483647 w 1100"/>
              <a:gd name="T5" fmla="*/ 2147483647 h 1100"/>
              <a:gd name="T6" fmla="*/ 0 w 1100"/>
              <a:gd name="T7" fmla="*/ 0 h 1100"/>
              <a:gd name="T8" fmla="*/ 0 60000 65536"/>
              <a:gd name="T9" fmla="*/ 0 60000 65536"/>
              <a:gd name="T10" fmla="*/ 0 60000 65536"/>
              <a:gd name="T11" fmla="*/ 0 60000 65536"/>
              <a:gd name="T12" fmla="*/ 0 w 1100"/>
              <a:gd name="T13" fmla="*/ 0 h 1100"/>
              <a:gd name="T14" fmla="*/ 1100 w 1100"/>
              <a:gd name="T15" fmla="*/ 1100 h 1100"/>
            </a:gdLst>
            <a:ahLst/>
            <a:cxnLst>
              <a:cxn ang="T8">
                <a:pos x="T0" y="T1"/>
              </a:cxn>
              <a:cxn ang="T9">
                <a:pos x="T2" y="T3"/>
              </a:cxn>
              <a:cxn ang="T10">
                <a:pos x="T4" y="T5"/>
              </a:cxn>
              <a:cxn ang="T11">
                <a:pos x="T6" y="T7"/>
              </a:cxn>
            </a:cxnLst>
            <a:rect l="T12" t="T13" r="T14" b="T15"/>
            <a:pathLst>
              <a:path w="1100" h="1100">
                <a:moveTo>
                  <a:pt x="0" y="0"/>
                </a:moveTo>
                <a:lnTo>
                  <a:pt x="1100" y="0"/>
                </a:lnTo>
                <a:lnTo>
                  <a:pt x="1100" y="1100"/>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54284" name="Freeform 15"/>
          <p:cNvSpPr>
            <a:spLocks/>
          </p:cNvSpPr>
          <p:nvPr/>
        </p:nvSpPr>
        <p:spPr bwMode="auto">
          <a:xfrm>
            <a:off x="5434013" y="1755775"/>
            <a:ext cx="2809875" cy="2239963"/>
          </a:xfrm>
          <a:custGeom>
            <a:avLst/>
            <a:gdLst>
              <a:gd name="T0" fmla="*/ 2147483647 w 1096"/>
              <a:gd name="T1" fmla="*/ 2147483647 h 1100"/>
              <a:gd name="T2" fmla="*/ 0 w 1096"/>
              <a:gd name="T3" fmla="*/ 2147483647 h 1100"/>
              <a:gd name="T4" fmla="*/ 0 w 1096"/>
              <a:gd name="T5" fmla="*/ 0 h 1100"/>
              <a:gd name="T6" fmla="*/ 2147483647 w 1096"/>
              <a:gd name="T7" fmla="*/ 2147483647 h 1100"/>
              <a:gd name="T8" fmla="*/ 0 60000 65536"/>
              <a:gd name="T9" fmla="*/ 0 60000 65536"/>
              <a:gd name="T10" fmla="*/ 0 60000 65536"/>
              <a:gd name="T11" fmla="*/ 0 60000 65536"/>
              <a:gd name="T12" fmla="*/ 0 w 1096"/>
              <a:gd name="T13" fmla="*/ 0 h 1100"/>
              <a:gd name="T14" fmla="*/ 1096 w 1096"/>
              <a:gd name="T15" fmla="*/ 1100 h 1100"/>
            </a:gdLst>
            <a:ahLst/>
            <a:cxnLst>
              <a:cxn ang="T8">
                <a:pos x="T0" y="T1"/>
              </a:cxn>
              <a:cxn ang="T9">
                <a:pos x="T2" y="T3"/>
              </a:cxn>
              <a:cxn ang="T10">
                <a:pos x="T4" y="T5"/>
              </a:cxn>
              <a:cxn ang="T11">
                <a:pos x="T6" y="T7"/>
              </a:cxn>
            </a:cxnLst>
            <a:rect l="T12" t="T13" r="T14" b="T15"/>
            <a:pathLst>
              <a:path w="1096" h="1100">
                <a:moveTo>
                  <a:pt x="1096" y="1100"/>
                </a:moveTo>
                <a:lnTo>
                  <a:pt x="0" y="1100"/>
                </a:lnTo>
                <a:lnTo>
                  <a:pt x="0" y="0"/>
                </a:lnTo>
                <a:lnTo>
                  <a:pt x="1096" y="1100"/>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54285" name="Freeform 16"/>
          <p:cNvSpPr>
            <a:spLocks/>
          </p:cNvSpPr>
          <p:nvPr/>
        </p:nvSpPr>
        <p:spPr bwMode="auto">
          <a:xfrm>
            <a:off x="5434013" y="1755775"/>
            <a:ext cx="2809875" cy="2239963"/>
          </a:xfrm>
          <a:custGeom>
            <a:avLst/>
            <a:gdLst>
              <a:gd name="T0" fmla="*/ 0 w 1096"/>
              <a:gd name="T1" fmla="*/ 0 h 1100"/>
              <a:gd name="T2" fmla="*/ 2147483647 w 1096"/>
              <a:gd name="T3" fmla="*/ 0 h 1100"/>
              <a:gd name="T4" fmla="*/ 2147483647 w 1096"/>
              <a:gd name="T5" fmla="*/ 2147483647 h 1100"/>
              <a:gd name="T6" fmla="*/ 0 w 1096"/>
              <a:gd name="T7" fmla="*/ 0 h 1100"/>
              <a:gd name="T8" fmla="*/ 0 60000 65536"/>
              <a:gd name="T9" fmla="*/ 0 60000 65536"/>
              <a:gd name="T10" fmla="*/ 0 60000 65536"/>
              <a:gd name="T11" fmla="*/ 0 60000 65536"/>
              <a:gd name="T12" fmla="*/ 0 w 1096"/>
              <a:gd name="T13" fmla="*/ 0 h 1100"/>
              <a:gd name="T14" fmla="*/ 1096 w 1096"/>
              <a:gd name="T15" fmla="*/ 1100 h 1100"/>
            </a:gdLst>
            <a:ahLst/>
            <a:cxnLst>
              <a:cxn ang="T8">
                <a:pos x="T0" y="T1"/>
              </a:cxn>
              <a:cxn ang="T9">
                <a:pos x="T2" y="T3"/>
              </a:cxn>
              <a:cxn ang="T10">
                <a:pos x="T4" y="T5"/>
              </a:cxn>
              <a:cxn ang="T11">
                <a:pos x="T6" y="T7"/>
              </a:cxn>
            </a:cxnLst>
            <a:rect l="T12" t="T13" r="T14" b="T15"/>
            <a:pathLst>
              <a:path w="1096" h="1100">
                <a:moveTo>
                  <a:pt x="0" y="0"/>
                </a:moveTo>
                <a:lnTo>
                  <a:pt x="1096" y="0"/>
                </a:lnTo>
                <a:lnTo>
                  <a:pt x="1096" y="1100"/>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54286" name="Rectangle 17"/>
          <p:cNvSpPr>
            <a:spLocks noChangeArrowheads="1"/>
          </p:cNvSpPr>
          <p:nvPr/>
        </p:nvSpPr>
        <p:spPr bwMode="auto">
          <a:xfrm>
            <a:off x="5091113" y="925513"/>
            <a:ext cx="673100" cy="274637"/>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Louise</a:t>
            </a:r>
            <a:endParaRPr lang="en-US">
              <a:latin typeface="Tahoma" pitchFamily="34" charset="0"/>
            </a:endParaRPr>
          </a:p>
        </p:txBody>
      </p:sp>
      <p:sp>
        <p:nvSpPr>
          <p:cNvPr id="54287" name="Freeform 18"/>
          <p:cNvSpPr>
            <a:spLocks/>
          </p:cNvSpPr>
          <p:nvPr/>
        </p:nvSpPr>
        <p:spPr bwMode="auto">
          <a:xfrm>
            <a:off x="1462088" y="1755775"/>
            <a:ext cx="233362" cy="4483100"/>
          </a:xfrm>
          <a:custGeom>
            <a:avLst/>
            <a:gdLst>
              <a:gd name="T0" fmla="*/ 2147483647 w 25"/>
              <a:gd name="T1" fmla="*/ 0 h 677"/>
              <a:gd name="T2" fmla="*/ 2147483647 w 25"/>
              <a:gd name="T3" fmla="*/ 2147483647 h 677"/>
              <a:gd name="T4" fmla="*/ 2147483647 w 25"/>
              <a:gd name="T5" fmla="*/ 2147483647 h 677"/>
              <a:gd name="T6" fmla="*/ 0 w 25"/>
              <a:gd name="T7" fmla="*/ 2147483647 h 677"/>
              <a:gd name="T8" fmla="*/ 2147483647 w 25"/>
              <a:gd name="T9" fmla="*/ 2147483647 h 677"/>
              <a:gd name="T10" fmla="*/ 2147483647 w 25"/>
              <a:gd name="T11" fmla="*/ 2147483647 h 677"/>
              <a:gd name="T12" fmla="*/ 2147483647 w 25"/>
              <a:gd name="T13" fmla="*/ 2147483647 h 677"/>
              <a:gd name="T14" fmla="*/ 0 60000 65536"/>
              <a:gd name="T15" fmla="*/ 0 60000 65536"/>
              <a:gd name="T16" fmla="*/ 0 60000 65536"/>
              <a:gd name="T17" fmla="*/ 0 60000 65536"/>
              <a:gd name="T18" fmla="*/ 0 60000 65536"/>
              <a:gd name="T19" fmla="*/ 0 60000 65536"/>
              <a:gd name="T20" fmla="*/ 0 60000 65536"/>
              <a:gd name="T21" fmla="*/ 0 w 25"/>
              <a:gd name="T22" fmla="*/ 0 h 677"/>
              <a:gd name="T23" fmla="*/ 25 w 25"/>
              <a:gd name="T24" fmla="*/ 677 h 6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677">
                <a:moveTo>
                  <a:pt x="25" y="0"/>
                </a:moveTo>
                <a:cubicBezTo>
                  <a:pt x="15" y="0"/>
                  <a:pt x="10" y="3"/>
                  <a:pt x="10" y="16"/>
                </a:cubicBezTo>
                <a:cubicBezTo>
                  <a:pt x="10" y="19"/>
                  <a:pt x="10" y="326"/>
                  <a:pt x="10" y="328"/>
                </a:cubicBezTo>
                <a:cubicBezTo>
                  <a:pt x="10" y="332"/>
                  <a:pt x="8" y="339"/>
                  <a:pt x="0" y="339"/>
                </a:cubicBezTo>
                <a:cubicBezTo>
                  <a:pt x="8" y="339"/>
                  <a:pt x="10" y="346"/>
                  <a:pt x="10" y="349"/>
                </a:cubicBezTo>
                <a:cubicBezTo>
                  <a:pt x="10" y="352"/>
                  <a:pt x="10" y="658"/>
                  <a:pt x="10" y="661"/>
                </a:cubicBezTo>
                <a:cubicBezTo>
                  <a:pt x="10" y="674"/>
                  <a:pt x="15" y="677"/>
                  <a:pt x="25" y="677"/>
                </a:cubicBezTo>
              </a:path>
            </a:pathLst>
          </a:custGeom>
          <a:noFill/>
          <a:ln w="26988" cap="flat">
            <a:solidFill>
              <a:srgbClr val="FFCD67"/>
            </a:solidFill>
            <a:prstDash val="solid"/>
            <a:miter lim="800000"/>
            <a:headEnd/>
            <a:tailEnd/>
          </a:ln>
        </p:spPr>
        <p:txBody>
          <a:bodyPr/>
          <a:lstStyle/>
          <a:p>
            <a:endParaRPr lang="en-US"/>
          </a:p>
        </p:txBody>
      </p:sp>
      <p:sp>
        <p:nvSpPr>
          <p:cNvPr id="54288" name="Freeform 19"/>
          <p:cNvSpPr>
            <a:spLocks/>
          </p:cNvSpPr>
          <p:nvPr/>
        </p:nvSpPr>
        <p:spPr bwMode="auto">
          <a:xfrm>
            <a:off x="2613025" y="1277938"/>
            <a:ext cx="5630863" cy="168275"/>
          </a:xfrm>
          <a:custGeom>
            <a:avLst/>
            <a:gdLst>
              <a:gd name="T0" fmla="*/ 2147483647 w 677"/>
              <a:gd name="T1" fmla="*/ 2147483647 h 25"/>
              <a:gd name="T2" fmla="*/ 2147483647 w 677"/>
              <a:gd name="T3" fmla="*/ 2147483647 h 25"/>
              <a:gd name="T4" fmla="*/ 2147483647 w 677"/>
              <a:gd name="T5" fmla="*/ 2147483647 h 25"/>
              <a:gd name="T6" fmla="*/ 2147483647 w 677"/>
              <a:gd name="T7" fmla="*/ 0 h 25"/>
              <a:gd name="T8" fmla="*/ 2147483647 w 677"/>
              <a:gd name="T9" fmla="*/ 2147483647 h 25"/>
              <a:gd name="T10" fmla="*/ 2147483647 w 677"/>
              <a:gd name="T11" fmla="*/ 2147483647 h 25"/>
              <a:gd name="T12" fmla="*/ 0 w 677"/>
              <a:gd name="T13" fmla="*/ 2147483647 h 25"/>
              <a:gd name="T14" fmla="*/ 0 60000 65536"/>
              <a:gd name="T15" fmla="*/ 0 60000 65536"/>
              <a:gd name="T16" fmla="*/ 0 60000 65536"/>
              <a:gd name="T17" fmla="*/ 0 60000 65536"/>
              <a:gd name="T18" fmla="*/ 0 60000 65536"/>
              <a:gd name="T19" fmla="*/ 0 60000 65536"/>
              <a:gd name="T20" fmla="*/ 0 60000 65536"/>
              <a:gd name="T21" fmla="*/ 0 w 677"/>
              <a:gd name="T22" fmla="*/ 0 h 25"/>
              <a:gd name="T23" fmla="*/ 677 w 67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7" h="25">
                <a:moveTo>
                  <a:pt x="677" y="25"/>
                </a:moveTo>
                <a:cubicBezTo>
                  <a:pt x="677" y="15"/>
                  <a:pt x="674" y="10"/>
                  <a:pt x="661" y="10"/>
                </a:cubicBezTo>
                <a:cubicBezTo>
                  <a:pt x="658" y="10"/>
                  <a:pt x="351" y="10"/>
                  <a:pt x="349" y="10"/>
                </a:cubicBezTo>
                <a:cubicBezTo>
                  <a:pt x="346" y="10"/>
                  <a:pt x="338" y="8"/>
                  <a:pt x="338" y="0"/>
                </a:cubicBezTo>
                <a:cubicBezTo>
                  <a:pt x="338" y="8"/>
                  <a:pt x="331" y="10"/>
                  <a:pt x="328" y="10"/>
                </a:cubicBezTo>
                <a:cubicBezTo>
                  <a:pt x="326" y="10"/>
                  <a:pt x="19" y="10"/>
                  <a:pt x="16" y="10"/>
                </a:cubicBezTo>
                <a:cubicBezTo>
                  <a:pt x="3" y="10"/>
                  <a:pt x="0" y="15"/>
                  <a:pt x="0" y="25"/>
                </a:cubicBezTo>
              </a:path>
            </a:pathLst>
          </a:custGeom>
          <a:noFill/>
          <a:ln w="26988" cap="flat">
            <a:solidFill>
              <a:srgbClr val="C7C4E2"/>
            </a:solidFill>
            <a:prstDash val="solid"/>
            <a:miter lim="800000"/>
            <a:headEnd/>
            <a:tailEnd/>
          </a:ln>
        </p:spPr>
        <p:txBody>
          <a:bodyPr/>
          <a:lstStyle/>
          <a:p>
            <a:endParaRPr lang="en-US"/>
          </a:p>
        </p:txBody>
      </p:sp>
      <p:sp>
        <p:nvSpPr>
          <p:cNvPr id="203796" name="Rectangle 20"/>
          <p:cNvSpPr>
            <a:spLocks noChangeArrowheads="1"/>
          </p:cNvSpPr>
          <p:nvPr/>
        </p:nvSpPr>
        <p:spPr bwMode="auto">
          <a:xfrm>
            <a:off x="6413500" y="1960563"/>
            <a:ext cx="1600200"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Louise gets 2-year sentence.</a:t>
            </a:r>
            <a:endParaRPr lang="en-US">
              <a:latin typeface="Tahoma" pitchFamily="34" charset="0"/>
            </a:endParaRPr>
          </a:p>
        </p:txBody>
      </p:sp>
      <p:sp>
        <p:nvSpPr>
          <p:cNvPr id="203797" name="Rectangle 21"/>
          <p:cNvSpPr>
            <a:spLocks noChangeArrowheads="1"/>
          </p:cNvSpPr>
          <p:nvPr/>
        </p:nvSpPr>
        <p:spPr bwMode="auto">
          <a:xfrm>
            <a:off x="3582988" y="1960563"/>
            <a:ext cx="1600200"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Louise gets 5-year sentence.</a:t>
            </a:r>
            <a:endParaRPr lang="en-US">
              <a:latin typeface="Tahoma" pitchFamily="34" charset="0"/>
            </a:endParaRPr>
          </a:p>
        </p:txBody>
      </p:sp>
      <p:sp>
        <p:nvSpPr>
          <p:cNvPr id="203798" name="Rectangle 22"/>
          <p:cNvSpPr>
            <a:spLocks noChangeArrowheads="1"/>
          </p:cNvSpPr>
          <p:nvPr/>
        </p:nvSpPr>
        <p:spPr bwMode="auto">
          <a:xfrm>
            <a:off x="5543550" y="3321050"/>
            <a:ext cx="1846263" cy="549275"/>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Thelma gets 20-year sentence.</a:t>
            </a:r>
            <a:endParaRPr lang="en-US">
              <a:latin typeface="Tahoma" pitchFamily="34" charset="0"/>
            </a:endParaRPr>
          </a:p>
        </p:txBody>
      </p:sp>
      <p:sp>
        <p:nvSpPr>
          <p:cNvPr id="203799" name="Rectangle 23"/>
          <p:cNvSpPr>
            <a:spLocks noChangeArrowheads="1"/>
          </p:cNvSpPr>
          <p:nvPr/>
        </p:nvSpPr>
        <p:spPr bwMode="auto">
          <a:xfrm>
            <a:off x="2735263" y="3284538"/>
            <a:ext cx="1600200" cy="549275"/>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Thelma gets 5-year sentence.</a:t>
            </a:r>
            <a:endParaRPr lang="en-US">
              <a:latin typeface="Tahoma" pitchFamily="34" charset="0"/>
            </a:endParaRPr>
          </a:p>
        </p:txBody>
      </p:sp>
      <p:sp>
        <p:nvSpPr>
          <p:cNvPr id="203800" name="Rectangle 24"/>
          <p:cNvSpPr>
            <a:spLocks noChangeArrowheads="1"/>
          </p:cNvSpPr>
          <p:nvPr/>
        </p:nvSpPr>
        <p:spPr bwMode="auto">
          <a:xfrm>
            <a:off x="6413500" y="4210050"/>
            <a:ext cx="1600200"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Louise gets 15-year sentence.</a:t>
            </a:r>
            <a:endParaRPr lang="en-US">
              <a:latin typeface="Tahoma" pitchFamily="34" charset="0"/>
            </a:endParaRPr>
          </a:p>
        </p:txBody>
      </p:sp>
      <p:sp>
        <p:nvSpPr>
          <p:cNvPr id="203801" name="Rectangle 25"/>
          <p:cNvSpPr>
            <a:spLocks noChangeArrowheads="1"/>
          </p:cNvSpPr>
          <p:nvPr/>
        </p:nvSpPr>
        <p:spPr bwMode="auto">
          <a:xfrm>
            <a:off x="3582988" y="4210050"/>
            <a:ext cx="1600200" cy="549275"/>
          </a:xfrm>
          <a:prstGeom prst="rect">
            <a:avLst/>
          </a:prstGeom>
          <a:noFill/>
          <a:ln w="9525">
            <a:noFill/>
            <a:miter lim="800000"/>
            <a:headEnd/>
            <a:tailEnd/>
          </a:ln>
        </p:spPr>
        <p:txBody>
          <a:bodyPr lIns="0" tIns="0" rIns="0" bIns="0">
            <a:spAutoFit/>
          </a:bodyPr>
          <a:lstStyle/>
          <a:p>
            <a:pPr marL="1588" indent="-1588" algn="r"/>
            <a:r>
              <a:rPr lang="en-US">
                <a:solidFill>
                  <a:srgbClr val="000000"/>
                </a:solidFill>
                <a:latin typeface="Myriad Pro"/>
              </a:rPr>
              <a:t>Louise gets 20-year sentence.</a:t>
            </a:r>
            <a:endParaRPr lang="en-US">
              <a:latin typeface="Tahoma" pitchFamily="34" charset="0"/>
            </a:endParaRPr>
          </a:p>
        </p:txBody>
      </p:sp>
      <p:sp>
        <p:nvSpPr>
          <p:cNvPr id="203802" name="Rectangle 26"/>
          <p:cNvSpPr>
            <a:spLocks noChangeArrowheads="1"/>
          </p:cNvSpPr>
          <p:nvPr/>
        </p:nvSpPr>
        <p:spPr bwMode="auto">
          <a:xfrm>
            <a:off x="5543550" y="5516563"/>
            <a:ext cx="1846263" cy="549275"/>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Thelma gets 15-year sentence.</a:t>
            </a:r>
            <a:endParaRPr lang="en-US">
              <a:latin typeface="Tahoma" pitchFamily="34" charset="0"/>
            </a:endParaRPr>
          </a:p>
        </p:txBody>
      </p:sp>
      <p:sp>
        <p:nvSpPr>
          <p:cNvPr id="203803" name="Rectangle 27"/>
          <p:cNvSpPr>
            <a:spLocks noChangeArrowheads="1"/>
          </p:cNvSpPr>
          <p:nvPr/>
        </p:nvSpPr>
        <p:spPr bwMode="auto">
          <a:xfrm>
            <a:off x="2735263" y="5481638"/>
            <a:ext cx="1600200" cy="549275"/>
          </a:xfrm>
          <a:prstGeom prst="rect">
            <a:avLst/>
          </a:prstGeom>
          <a:noFill/>
          <a:ln w="9525">
            <a:noFill/>
            <a:miter lim="800000"/>
            <a:headEnd/>
            <a:tailEnd/>
          </a:ln>
        </p:spPr>
        <p:txBody>
          <a:bodyPr lIns="0" tIns="0" rIns="0" bIns="0">
            <a:spAutoFit/>
          </a:bodyPr>
          <a:lstStyle/>
          <a:p>
            <a:pPr marL="1588" indent="-1588"/>
            <a:r>
              <a:rPr lang="en-US">
                <a:solidFill>
                  <a:srgbClr val="000000"/>
                </a:solidFill>
                <a:latin typeface="Myriad Pro"/>
              </a:rPr>
              <a:t>Thelma gets 2-year sentence.</a:t>
            </a:r>
            <a:endParaRPr lang="en-US">
              <a:latin typeface="Tahoma" pitchFamily="34" charset="0"/>
            </a:endParaRPr>
          </a:p>
        </p:txBody>
      </p:sp>
      <p:sp>
        <p:nvSpPr>
          <p:cNvPr id="54297" name="Rectangle 53"/>
          <p:cNvSpPr>
            <a:spLocks noChangeArrowheads="1"/>
          </p:cNvSpPr>
          <p:nvPr/>
        </p:nvSpPr>
        <p:spPr bwMode="auto">
          <a:xfrm rot="-5400000">
            <a:off x="682625" y="3887788"/>
            <a:ext cx="849313" cy="274637"/>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Thelma</a:t>
            </a:r>
            <a:endParaRPr lang="en-US">
              <a:latin typeface="Tahoma" pitchFamily="34" charset="0"/>
            </a:endParaRPr>
          </a:p>
        </p:txBody>
      </p:sp>
      <p:sp>
        <p:nvSpPr>
          <p:cNvPr id="50203" name="Rectangle 27"/>
          <p:cNvSpPr>
            <a:spLocks noChangeArrowheads="1"/>
          </p:cNvSpPr>
          <p:nvPr/>
        </p:nvSpPr>
        <p:spPr bwMode="auto">
          <a:xfrm>
            <a:off x="5400675" y="3968750"/>
            <a:ext cx="2879725" cy="2305050"/>
          </a:xfrm>
          <a:prstGeom prst="rect">
            <a:avLst/>
          </a:prstGeom>
          <a:noFill/>
          <a:ln w="31750">
            <a:solidFill>
              <a:srgbClr val="800000"/>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799"/>
                                        </p:tgtEl>
                                        <p:attrNameLst>
                                          <p:attrName>style.visibility</p:attrName>
                                        </p:attrNameLst>
                                      </p:cBhvr>
                                      <p:to>
                                        <p:strVal val="visible"/>
                                      </p:to>
                                    </p:set>
                                    <p:animEffect transition="in" filter="wipe(left)">
                                      <p:cBhvr>
                                        <p:cTn id="7" dur="500"/>
                                        <p:tgtEl>
                                          <p:spTgt spid="20379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3798"/>
                                        </p:tgtEl>
                                        <p:attrNameLst>
                                          <p:attrName>style.visibility</p:attrName>
                                        </p:attrNameLst>
                                      </p:cBhvr>
                                      <p:to>
                                        <p:strVal val="visible"/>
                                      </p:to>
                                    </p:set>
                                    <p:animEffect transition="in" filter="wipe(left)">
                                      <p:cBhvr>
                                        <p:cTn id="11" dur="500"/>
                                        <p:tgtEl>
                                          <p:spTgt spid="20379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03803"/>
                                        </p:tgtEl>
                                        <p:attrNameLst>
                                          <p:attrName>style.visibility</p:attrName>
                                        </p:attrNameLst>
                                      </p:cBhvr>
                                      <p:to>
                                        <p:strVal val="visible"/>
                                      </p:to>
                                    </p:set>
                                    <p:animEffect transition="in" filter="wipe(left)">
                                      <p:cBhvr>
                                        <p:cTn id="15" dur="500"/>
                                        <p:tgtEl>
                                          <p:spTgt spid="20380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03802"/>
                                        </p:tgtEl>
                                        <p:attrNameLst>
                                          <p:attrName>style.visibility</p:attrName>
                                        </p:attrNameLst>
                                      </p:cBhvr>
                                      <p:to>
                                        <p:strVal val="visible"/>
                                      </p:to>
                                    </p:set>
                                    <p:animEffect transition="in" filter="wipe(left)">
                                      <p:cBhvr>
                                        <p:cTn id="19" dur="500"/>
                                        <p:tgtEl>
                                          <p:spTgt spid="20380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3797"/>
                                        </p:tgtEl>
                                        <p:attrNameLst>
                                          <p:attrName>style.visibility</p:attrName>
                                        </p:attrNameLst>
                                      </p:cBhvr>
                                      <p:to>
                                        <p:strVal val="visible"/>
                                      </p:to>
                                    </p:set>
                                    <p:animEffect transition="in" filter="wipe(left)">
                                      <p:cBhvr>
                                        <p:cTn id="24" dur="500"/>
                                        <p:tgtEl>
                                          <p:spTgt spid="203797"/>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03796"/>
                                        </p:tgtEl>
                                        <p:attrNameLst>
                                          <p:attrName>style.visibility</p:attrName>
                                        </p:attrNameLst>
                                      </p:cBhvr>
                                      <p:to>
                                        <p:strVal val="visible"/>
                                      </p:to>
                                    </p:set>
                                    <p:animEffect transition="in" filter="wipe(left)">
                                      <p:cBhvr>
                                        <p:cTn id="28" dur="500"/>
                                        <p:tgtEl>
                                          <p:spTgt spid="203796"/>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203801"/>
                                        </p:tgtEl>
                                        <p:attrNameLst>
                                          <p:attrName>style.visibility</p:attrName>
                                        </p:attrNameLst>
                                      </p:cBhvr>
                                      <p:to>
                                        <p:strVal val="visible"/>
                                      </p:to>
                                    </p:set>
                                    <p:animEffect transition="in" filter="wipe(left)">
                                      <p:cBhvr>
                                        <p:cTn id="32" dur="500"/>
                                        <p:tgtEl>
                                          <p:spTgt spid="203801"/>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203800"/>
                                        </p:tgtEl>
                                        <p:attrNameLst>
                                          <p:attrName>style.visibility</p:attrName>
                                        </p:attrNameLst>
                                      </p:cBhvr>
                                      <p:to>
                                        <p:strVal val="visible"/>
                                      </p:to>
                                    </p:set>
                                    <p:animEffect transition="in" filter="wipe(left)">
                                      <p:cBhvr>
                                        <p:cTn id="36" dur="500"/>
                                        <p:tgtEl>
                                          <p:spTgt spid="20380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0203"/>
                                        </p:tgtEl>
                                        <p:attrNameLst>
                                          <p:attrName>style.visibility</p:attrName>
                                        </p:attrNameLst>
                                      </p:cBhvr>
                                      <p:to>
                                        <p:strVal val="visible"/>
                                      </p:to>
                                    </p:set>
                                    <p:animEffect transition="in" filter="dissolve">
                                      <p:cBhvr>
                                        <p:cTn id="41" dur="500"/>
                                        <p:tgtEl>
                                          <p:spTgt spid="50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96" grpId="0"/>
      <p:bldP spid="203797" grpId="0"/>
      <p:bldP spid="203798" grpId="0"/>
      <p:bldP spid="203799" grpId="0"/>
      <p:bldP spid="203800" grpId="0"/>
      <p:bldP spid="203801" grpId="0"/>
      <p:bldP spid="203802" grpId="0"/>
      <p:bldP spid="203803" grpId="0"/>
      <p:bldP spid="5020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title" idx="4294967295"/>
          </p:nvPr>
        </p:nvSpPr>
        <p:spPr>
          <a:xfrm>
            <a:off x="971550" y="76200"/>
            <a:ext cx="7943850" cy="581025"/>
          </a:xfrm>
        </p:spPr>
        <p:txBody>
          <a:bodyPr/>
          <a:lstStyle/>
          <a:p>
            <a:pPr>
              <a:defRPr/>
            </a:pPr>
            <a:r>
              <a:rPr lang="en-US" dirty="0" smtClean="0"/>
              <a:t>The Prisoners’ Dilemma</a:t>
            </a:r>
            <a:endParaRPr lang="en-US" b="0" dirty="0" smtClean="0"/>
          </a:p>
        </p:txBody>
      </p:sp>
      <p:sp>
        <p:nvSpPr>
          <p:cNvPr id="56322" name="Text Box 3"/>
          <p:cNvSpPr txBox="1">
            <a:spLocks noChangeArrowheads="1"/>
          </p:cNvSpPr>
          <p:nvPr/>
        </p:nvSpPr>
        <p:spPr bwMode="auto">
          <a:xfrm>
            <a:off x="755650" y="765175"/>
            <a:ext cx="7943850" cy="5934075"/>
          </a:xfrm>
          <a:prstGeom prst="rect">
            <a:avLst/>
          </a:prstGeom>
          <a:noFill/>
          <a:ln w="9525" algn="ctr">
            <a:noFill/>
            <a:miter lim="800000"/>
            <a:headEnd/>
            <a:tailEnd type="none" w="med" len="lg"/>
          </a:ln>
        </p:spPr>
        <p:txBody>
          <a:bodyPr>
            <a:spAutoFit/>
          </a:bodyPr>
          <a:lstStyle/>
          <a:p>
            <a:pPr marL="231775" indent="-231775">
              <a:buClr>
                <a:schemeClr val="tx1"/>
              </a:buClr>
              <a:buFont typeface="Wingdings" pitchFamily="2" charset="2"/>
              <a:buChar char="§"/>
            </a:pPr>
            <a:r>
              <a:rPr lang="en-US" sz="2400"/>
              <a:t>An action is a </a:t>
            </a:r>
            <a:r>
              <a:rPr lang="en-US" sz="2400" b="1"/>
              <a:t>dominant strategy </a:t>
            </a:r>
            <a:r>
              <a:rPr lang="en-US" sz="2400"/>
              <a:t>when it is a player’s best action regardless of the action taken by the other player. Depending on the payoffs, a player may or may not have a </a:t>
            </a:r>
            <a:r>
              <a:rPr lang="en-US" sz="2400" i="1"/>
              <a:t>dominant strategy</a:t>
            </a:r>
            <a:r>
              <a:rPr lang="en-US" sz="2400"/>
              <a:t>.</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A </a:t>
            </a:r>
            <a:r>
              <a:rPr lang="en-US" sz="2400" b="1"/>
              <a:t>Nash equilibrium</a:t>
            </a:r>
            <a:r>
              <a:rPr lang="en-US" sz="2400"/>
              <a:t>,</a:t>
            </a:r>
            <a:r>
              <a:rPr lang="en-US" sz="2400" b="1"/>
              <a:t> </a:t>
            </a:r>
            <a:r>
              <a:rPr lang="en-US" sz="2400"/>
              <a:t>also known as a </a:t>
            </a:r>
            <a:r>
              <a:rPr lang="en-US" sz="2400" b="1"/>
              <a:t>non-cooperative equilibrium</a:t>
            </a:r>
            <a:r>
              <a:rPr lang="en-US" sz="2400"/>
              <a:t>,</a:t>
            </a:r>
            <a:r>
              <a:rPr lang="en-US" sz="2400" b="1"/>
              <a:t> </a:t>
            </a:r>
            <a:r>
              <a:rPr lang="en-US" sz="2400"/>
              <a:t>is the result when each player in a game chooses the action that maximizes his or her payoff given the actions of other players, ignoring the effects of his or her action on the payoffs received by those other players.</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Players who don’t take their interdependence into account arrive at a Nash, or non-cooperative, equilibrium. </a:t>
            </a:r>
          </a:p>
          <a:p>
            <a:pPr marL="742950" lvl="1" indent="-285750">
              <a:buClr>
                <a:schemeClr val="tx1"/>
              </a:buClr>
              <a:buFont typeface="Wingdings" pitchFamily="2" charset="2"/>
              <a:buChar char="§"/>
            </a:pPr>
            <a:r>
              <a:rPr lang="en-US" sz="2400"/>
              <a:t>Oligopolists who do not cooperate with each other, pursuing only their own profits, will end up at the non-cooperative equilibrium.</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bwMode="auto">
          <a:xfrm>
            <a:off x="827088" y="0"/>
            <a:ext cx="7059612" cy="584200"/>
          </a:xfrm>
        </p:spPr>
        <p:txBody>
          <a:bodyPr/>
          <a:lstStyle/>
          <a:p>
            <a:pPr>
              <a:defRPr/>
            </a:pPr>
            <a:r>
              <a:rPr lang="en-US" smtClean="0">
                <a:effectLst>
                  <a:outerShdw blurRad="38100" dist="38100" dir="2700000" algn="tl">
                    <a:srgbClr val="C0C0C0"/>
                  </a:outerShdw>
                </a:effectLst>
              </a:rPr>
              <a:t>Multiple Nash Equilibrium</a:t>
            </a:r>
            <a:endParaRPr lang="en-US" smtClean="0">
              <a:effectLst/>
            </a:endParaRPr>
          </a:p>
        </p:txBody>
      </p:sp>
      <p:sp>
        <p:nvSpPr>
          <p:cNvPr id="58370" name="Content Placeholder 2"/>
          <p:cNvSpPr>
            <a:spLocks noGrp="1"/>
          </p:cNvSpPr>
          <p:nvPr>
            <p:ph idx="4294967295"/>
          </p:nvPr>
        </p:nvSpPr>
        <p:spPr>
          <a:xfrm>
            <a:off x="611188" y="620713"/>
            <a:ext cx="8353425" cy="2916237"/>
          </a:xfrm>
        </p:spPr>
        <p:txBody>
          <a:bodyPr/>
          <a:lstStyle/>
          <a:p>
            <a:pPr marL="0" indent="0"/>
            <a:r>
              <a:rPr lang="en-US" sz="2000" smtClean="0"/>
              <a:t> Two firms are the only producers in a market, deciding whether to advertise. </a:t>
            </a:r>
          </a:p>
          <a:p>
            <a:pPr marL="0" indent="0"/>
            <a:r>
              <a:rPr lang="en-US" sz="2000" smtClean="0"/>
              <a:t> If B does not advertise, A earns $2,200 in profit without advertising and $2,000 if A does advertise. (The advertising increases its costs more than its revenues.) But, if firm B advertises, firm A earns $1,500 in profit without advertising and $1,800 if A does advertise. </a:t>
            </a:r>
          </a:p>
          <a:p>
            <a:pPr marL="0" indent="0"/>
            <a:r>
              <a:rPr lang="en-US" sz="2000" smtClean="0"/>
              <a:t> If A advertises, B earns $2,000 in profit without advertising and $2,200 if B does advertise. If A does not advertise, B earns $2,600 without advertising and $2,400 if B does advertise.</a:t>
            </a:r>
          </a:p>
        </p:txBody>
      </p:sp>
      <p:grpSp>
        <p:nvGrpSpPr>
          <p:cNvPr id="58371" name="Group 38"/>
          <p:cNvGrpSpPr>
            <a:grpSpLocks/>
          </p:cNvGrpSpPr>
          <p:nvPr/>
        </p:nvGrpSpPr>
        <p:grpSpPr bwMode="auto">
          <a:xfrm>
            <a:off x="3182938" y="3033713"/>
            <a:ext cx="5926137" cy="3743325"/>
            <a:chOff x="2005" y="1911"/>
            <a:chExt cx="3733" cy="2358"/>
          </a:xfrm>
        </p:grpSpPr>
        <p:sp>
          <p:nvSpPr>
            <p:cNvPr id="58376" name="Rectangle 5"/>
            <p:cNvSpPr>
              <a:spLocks noChangeArrowheads="1"/>
            </p:cNvSpPr>
            <p:nvPr/>
          </p:nvSpPr>
          <p:spPr bwMode="auto">
            <a:xfrm rot="-5400000">
              <a:off x="1900" y="3218"/>
              <a:ext cx="383" cy="173"/>
            </a:xfrm>
            <a:prstGeom prst="rect">
              <a:avLst/>
            </a:prstGeom>
            <a:noFill/>
            <a:ln w="9525">
              <a:noFill/>
              <a:miter lim="800000"/>
              <a:headEnd/>
              <a:tailEnd/>
            </a:ln>
          </p:spPr>
          <p:txBody>
            <a:bodyPr wrap="none" lIns="0" tIns="0" rIns="0" bIns="0">
              <a:spAutoFit/>
            </a:bodyPr>
            <a:lstStyle/>
            <a:p>
              <a:pPr marL="1588" indent="-1588"/>
              <a:r>
                <a:rPr lang="en-US" b="1">
                  <a:solidFill>
                    <a:srgbClr val="000000"/>
                  </a:solidFill>
                </a:rPr>
                <a:t>Firm B</a:t>
              </a:r>
              <a:endParaRPr lang="en-US" b="1"/>
            </a:p>
          </p:txBody>
        </p:sp>
        <p:sp>
          <p:nvSpPr>
            <p:cNvPr id="58377" name="Rectangle 6"/>
            <p:cNvSpPr>
              <a:spLocks noChangeArrowheads="1"/>
            </p:cNvSpPr>
            <p:nvPr/>
          </p:nvSpPr>
          <p:spPr bwMode="auto">
            <a:xfrm>
              <a:off x="4081" y="1911"/>
              <a:ext cx="389" cy="173"/>
            </a:xfrm>
            <a:prstGeom prst="rect">
              <a:avLst/>
            </a:prstGeom>
            <a:noFill/>
            <a:ln w="9525">
              <a:noFill/>
              <a:miter lim="800000"/>
              <a:headEnd/>
              <a:tailEnd/>
            </a:ln>
          </p:spPr>
          <p:txBody>
            <a:bodyPr wrap="none" lIns="0" tIns="0" rIns="0" bIns="0">
              <a:spAutoFit/>
            </a:bodyPr>
            <a:lstStyle/>
            <a:p>
              <a:pPr marL="1588" indent="-1588" algn="ctr"/>
              <a:r>
                <a:rPr lang="en-US" b="1">
                  <a:solidFill>
                    <a:srgbClr val="000000"/>
                  </a:solidFill>
                </a:rPr>
                <a:t>Firm A</a:t>
              </a:r>
              <a:endParaRPr lang="en-US" b="1"/>
            </a:p>
          </p:txBody>
        </p:sp>
        <p:sp>
          <p:nvSpPr>
            <p:cNvPr id="58378" name="Rectangle 7"/>
            <p:cNvSpPr>
              <a:spLocks noChangeArrowheads="1"/>
            </p:cNvSpPr>
            <p:nvPr/>
          </p:nvSpPr>
          <p:spPr bwMode="auto">
            <a:xfrm>
              <a:off x="2227" y="2682"/>
              <a:ext cx="535" cy="346"/>
            </a:xfrm>
            <a:prstGeom prst="rect">
              <a:avLst/>
            </a:prstGeom>
            <a:noFill/>
            <a:ln w="9525">
              <a:noFill/>
              <a:miter lim="800000"/>
              <a:headEnd/>
              <a:tailEnd/>
            </a:ln>
          </p:spPr>
          <p:txBody>
            <a:bodyPr lIns="0" tIns="0" rIns="0" bIns="0">
              <a:spAutoFit/>
            </a:bodyPr>
            <a:lstStyle/>
            <a:p>
              <a:pPr marL="1588" indent="-1588" algn="ctr"/>
              <a:r>
                <a:rPr lang="en-US">
                  <a:solidFill>
                    <a:srgbClr val="000000"/>
                  </a:solidFill>
                </a:rPr>
                <a:t>Adver-tise</a:t>
              </a:r>
            </a:p>
          </p:txBody>
        </p:sp>
        <p:sp>
          <p:nvSpPr>
            <p:cNvPr id="58379" name="Freeform 8"/>
            <p:cNvSpPr>
              <a:spLocks/>
            </p:cNvSpPr>
            <p:nvPr/>
          </p:nvSpPr>
          <p:spPr bwMode="auto">
            <a:xfrm>
              <a:off x="2783" y="3290"/>
              <a:ext cx="1479" cy="934"/>
            </a:xfrm>
            <a:custGeom>
              <a:avLst/>
              <a:gdLst>
                <a:gd name="T0" fmla="*/ 4990261 w 1101"/>
                <a:gd name="T1" fmla="*/ 1645548 h 1102"/>
                <a:gd name="T2" fmla="*/ 0 w 1101"/>
                <a:gd name="T3" fmla="*/ 1645548 h 1102"/>
                <a:gd name="T4" fmla="*/ 0 w 1101"/>
                <a:gd name="T5" fmla="*/ 0 h 1102"/>
                <a:gd name="T6" fmla="*/ 4990261 w 1101"/>
                <a:gd name="T7" fmla="*/ 1645548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1101" y="1102"/>
                  </a:moveTo>
                  <a:lnTo>
                    <a:pt x="0" y="1102"/>
                  </a:lnTo>
                  <a:lnTo>
                    <a:pt x="0" y="0"/>
                  </a:lnTo>
                  <a:lnTo>
                    <a:pt x="1101"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8380" name="Freeform 9"/>
            <p:cNvSpPr>
              <a:spLocks/>
            </p:cNvSpPr>
            <p:nvPr/>
          </p:nvSpPr>
          <p:spPr bwMode="auto">
            <a:xfrm>
              <a:off x="2783" y="3290"/>
              <a:ext cx="1479" cy="934"/>
            </a:xfrm>
            <a:custGeom>
              <a:avLst/>
              <a:gdLst>
                <a:gd name="T0" fmla="*/ 0 w 1101"/>
                <a:gd name="T1" fmla="*/ 0 h 1102"/>
                <a:gd name="T2" fmla="*/ 4990261 w 1101"/>
                <a:gd name="T3" fmla="*/ 0 h 1102"/>
                <a:gd name="T4" fmla="*/ 4990261 w 1101"/>
                <a:gd name="T5" fmla="*/ 1645548 h 1102"/>
                <a:gd name="T6" fmla="*/ 0 w 1101"/>
                <a:gd name="T7" fmla="*/ 0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0" y="0"/>
                  </a:moveTo>
                  <a:lnTo>
                    <a:pt x="1101" y="0"/>
                  </a:lnTo>
                  <a:lnTo>
                    <a:pt x="1101"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8381" name="Freeform 10"/>
            <p:cNvSpPr>
              <a:spLocks/>
            </p:cNvSpPr>
            <p:nvPr/>
          </p:nvSpPr>
          <p:spPr bwMode="auto">
            <a:xfrm>
              <a:off x="4262" y="3290"/>
              <a:ext cx="1476" cy="934"/>
            </a:xfrm>
            <a:custGeom>
              <a:avLst/>
              <a:gdLst>
                <a:gd name="T0" fmla="*/ 4979553 w 1099"/>
                <a:gd name="T1" fmla="*/ 1645548 h 1102"/>
                <a:gd name="T2" fmla="*/ 0 w 1099"/>
                <a:gd name="T3" fmla="*/ 1645548 h 1102"/>
                <a:gd name="T4" fmla="*/ 0 w 1099"/>
                <a:gd name="T5" fmla="*/ 0 h 1102"/>
                <a:gd name="T6" fmla="*/ 4979553 w 1099"/>
                <a:gd name="T7" fmla="*/ 1645548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1099" y="1102"/>
                  </a:moveTo>
                  <a:lnTo>
                    <a:pt x="0" y="1102"/>
                  </a:lnTo>
                  <a:lnTo>
                    <a:pt x="0" y="0"/>
                  </a:lnTo>
                  <a:lnTo>
                    <a:pt x="1099"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8382" name="Freeform 11"/>
            <p:cNvSpPr>
              <a:spLocks/>
            </p:cNvSpPr>
            <p:nvPr/>
          </p:nvSpPr>
          <p:spPr bwMode="auto">
            <a:xfrm>
              <a:off x="4262" y="3290"/>
              <a:ext cx="1476" cy="934"/>
            </a:xfrm>
            <a:custGeom>
              <a:avLst/>
              <a:gdLst>
                <a:gd name="T0" fmla="*/ 0 w 1099"/>
                <a:gd name="T1" fmla="*/ 0 h 1102"/>
                <a:gd name="T2" fmla="*/ 4979553 w 1099"/>
                <a:gd name="T3" fmla="*/ 0 h 1102"/>
                <a:gd name="T4" fmla="*/ 4979553 w 1099"/>
                <a:gd name="T5" fmla="*/ 1645548 h 1102"/>
                <a:gd name="T6" fmla="*/ 0 w 1099"/>
                <a:gd name="T7" fmla="*/ 0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0" y="0"/>
                  </a:moveTo>
                  <a:lnTo>
                    <a:pt x="1099" y="0"/>
                  </a:lnTo>
                  <a:lnTo>
                    <a:pt x="1099"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8383" name="Freeform 12"/>
            <p:cNvSpPr>
              <a:spLocks/>
            </p:cNvSpPr>
            <p:nvPr/>
          </p:nvSpPr>
          <p:spPr bwMode="auto">
            <a:xfrm>
              <a:off x="2783" y="2355"/>
              <a:ext cx="1479" cy="935"/>
            </a:xfrm>
            <a:custGeom>
              <a:avLst/>
              <a:gdLst>
                <a:gd name="T0" fmla="*/ 4990261 w 1101"/>
                <a:gd name="T1" fmla="*/ 1649073 h 1102"/>
                <a:gd name="T2" fmla="*/ 0 w 1101"/>
                <a:gd name="T3" fmla="*/ 1649073 h 1102"/>
                <a:gd name="T4" fmla="*/ 0 w 1101"/>
                <a:gd name="T5" fmla="*/ 0 h 1102"/>
                <a:gd name="T6" fmla="*/ 4990261 w 1101"/>
                <a:gd name="T7" fmla="*/ 1649073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1101" y="1102"/>
                  </a:moveTo>
                  <a:lnTo>
                    <a:pt x="0" y="1102"/>
                  </a:lnTo>
                  <a:lnTo>
                    <a:pt x="0" y="0"/>
                  </a:lnTo>
                  <a:lnTo>
                    <a:pt x="1101"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8384" name="Freeform 13"/>
            <p:cNvSpPr>
              <a:spLocks/>
            </p:cNvSpPr>
            <p:nvPr/>
          </p:nvSpPr>
          <p:spPr bwMode="auto">
            <a:xfrm>
              <a:off x="2783" y="2355"/>
              <a:ext cx="1479" cy="935"/>
            </a:xfrm>
            <a:custGeom>
              <a:avLst/>
              <a:gdLst>
                <a:gd name="T0" fmla="*/ 0 w 1101"/>
                <a:gd name="T1" fmla="*/ 0 h 1102"/>
                <a:gd name="T2" fmla="*/ 4990261 w 1101"/>
                <a:gd name="T3" fmla="*/ 0 h 1102"/>
                <a:gd name="T4" fmla="*/ 4990261 w 1101"/>
                <a:gd name="T5" fmla="*/ 1649073 h 1102"/>
                <a:gd name="T6" fmla="*/ 0 w 1101"/>
                <a:gd name="T7" fmla="*/ 0 h 1102"/>
                <a:gd name="T8" fmla="*/ 0 60000 65536"/>
                <a:gd name="T9" fmla="*/ 0 60000 65536"/>
                <a:gd name="T10" fmla="*/ 0 60000 65536"/>
                <a:gd name="T11" fmla="*/ 0 60000 65536"/>
                <a:gd name="T12" fmla="*/ 0 w 1101"/>
                <a:gd name="T13" fmla="*/ 0 h 1102"/>
                <a:gd name="T14" fmla="*/ 1101 w 1101"/>
                <a:gd name="T15" fmla="*/ 1102 h 1102"/>
              </a:gdLst>
              <a:ahLst/>
              <a:cxnLst>
                <a:cxn ang="T8">
                  <a:pos x="T0" y="T1"/>
                </a:cxn>
                <a:cxn ang="T9">
                  <a:pos x="T2" y="T3"/>
                </a:cxn>
                <a:cxn ang="T10">
                  <a:pos x="T4" y="T5"/>
                </a:cxn>
                <a:cxn ang="T11">
                  <a:pos x="T6" y="T7"/>
                </a:cxn>
              </a:cxnLst>
              <a:rect l="T12" t="T13" r="T14" b="T15"/>
              <a:pathLst>
                <a:path w="1101" h="1102">
                  <a:moveTo>
                    <a:pt x="0" y="0"/>
                  </a:moveTo>
                  <a:lnTo>
                    <a:pt x="1101" y="0"/>
                  </a:lnTo>
                  <a:lnTo>
                    <a:pt x="1101"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8385" name="Freeform 14"/>
            <p:cNvSpPr>
              <a:spLocks/>
            </p:cNvSpPr>
            <p:nvPr/>
          </p:nvSpPr>
          <p:spPr bwMode="auto">
            <a:xfrm>
              <a:off x="4262" y="2355"/>
              <a:ext cx="1476" cy="935"/>
            </a:xfrm>
            <a:custGeom>
              <a:avLst/>
              <a:gdLst>
                <a:gd name="T0" fmla="*/ 4979553 w 1099"/>
                <a:gd name="T1" fmla="*/ 1649073 h 1102"/>
                <a:gd name="T2" fmla="*/ 0 w 1099"/>
                <a:gd name="T3" fmla="*/ 1649073 h 1102"/>
                <a:gd name="T4" fmla="*/ 0 w 1099"/>
                <a:gd name="T5" fmla="*/ 0 h 1102"/>
                <a:gd name="T6" fmla="*/ 4979553 w 1099"/>
                <a:gd name="T7" fmla="*/ 1649073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1099" y="1102"/>
                  </a:moveTo>
                  <a:lnTo>
                    <a:pt x="0" y="1102"/>
                  </a:lnTo>
                  <a:lnTo>
                    <a:pt x="0" y="0"/>
                  </a:lnTo>
                  <a:lnTo>
                    <a:pt x="1099" y="1102"/>
                  </a:lnTo>
                  <a:close/>
                </a:path>
              </a:pathLst>
            </a:custGeom>
            <a:solidFill>
              <a:srgbClr val="FFCD67"/>
            </a:solidFill>
            <a:ln w="7938" cap="flat">
              <a:solidFill>
                <a:srgbClr val="000000"/>
              </a:solidFill>
              <a:prstDash val="solid"/>
              <a:miter lim="800000"/>
              <a:headEnd/>
              <a:tailEnd/>
            </a:ln>
          </p:spPr>
          <p:txBody>
            <a:bodyPr/>
            <a:lstStyle/>
            <a:p>
              <a:endParaRPr lang="en-US"/>
            </a:p>
          </p:txBody>
        </p:sp>
        <p:sp>
          <p:nvSpPr>
            <p:cNvPr id="58386" name="Freeform 15"/>
            <p:cNvSpPr>
              <a:spLocks/>
            </p:cNvSpPr>
            <p:nvPr/>
          </p:nvSpPr>
          <p:spPr bwMode="auto">
            <a:xfrm>
              <a:off x="4262" y="2355"/>
              <a:ext cx="1476" cy="935"/>
            </a:xfrm>
            <a:custGeom>
              <a:avLst/>
              <a:gdLst>
                <a:gd name="T0" fmla="*/ 0 w 1099"/>
                <a:gd name="T1" fmla="*/ 0 h 1102"/>
                <a:gd name="T2" fmla="*/ 4979553 w 1099"/>
                <a:gd name="T3" fmla="*/ 0 h 1102"/>
                <a:gd name="T4" fmla="*/ 4979553 w 1099"/>
                <a:gd name="T5" fmla="*/ 1649073 h 1102"/>
                <a:gd name="T6" fmla="*/ 0 w 1099"/>
                <a:gd name="T7" fmla="*/ 0 h 1102"/>
                <a:gd name="T8" fmla="*/ 0 60000 65536"/>
                <a:gd name="T9" fmla="*/ 0 60000 65536"/>
                <a:gd name="T10" fmla="*/ 0 60000 65536"/>
                <a:gd name="T11" fmla="*/ 0 60000 65536"/>
                <a:gd name="T12" fmla="*/ 0 w 1099"/>
                <a:gd name="T13" fmla="*/ 0 h 1102"/>
                <a:gd name="T14" fmla="*/ 1099 w 1099"/>
                <a:gd name="T15" fmla="*/ 1102 h 1102"/>
              </a:gdLst>
              <a:ahLst/>
              <a:cxnLst>
                <a:cxn ang="T8">
                  <a:pos x="T0" y="T1"/>
                </a:cxn>
                <a:cxn ang="T9">
                  <a:pos x="T2" y="T3"/>
                </a:cxn>
                <a:cxn ang="T10">
                  <a:pos x="T4" y="T5"/>
                </a:cxn>
                <a:cxn ang="T11">
                  <a:pos x="T6" y="T7"/>
                </a:cxn>
              </a:cxnLst>
              <a:rect l="T12" t="T13" r="T14" b="T15"/>
              <a:pathLst>
                <a:path w="1099" h="1102">
                  <a:moveTo>
                    <a:pt x="0" y="0"/>
                  </a:moveTo>
                  <a:lnTo>
                    <a:pt x="1099" y="0"/>
                  </a:lnTo>
                  <a:lnTo>
                    <a:pt x="1099" y="1102"/>
                  </a:lnTo>
                  <a:lnTo>
                    <a:pt x="0" y="0"/>
                  </a:lnTo>
                  <a:close/>
                </a:path>
              </a:pathLst>
            </a:custGeom>
            <a:solidFill>
              <a:srgbClr val="C7C4E2"/>
            </a:solidFill>
            <a:ln w="7938" cap="flat">
              <a:solidFill>
                <a:srgbClr val="000000"/>
              </a:solidFill>
              <a:prstDash val="solid"/>
              <a:miter lim="800000"/>
              <a:headEnd/>
              <a:tailEnd/>
            </a:ln>
          </p:spPr>
          <p:txBody>
            <a:bodyPr/>
            <a:lstStyle/>
            <a:p>
              <a:endParaRPr lang="en-US"/>
            </a:p>
          </p:txBody>
        </p:sp>
        <p:sp>
          <p:nvSpPr>
            <p:cNvPr id="58387" name="Rectangle 16"/>
            <p:cNvSpPr>
              <a:spLocks noChangeArrowheads="1"/>
            </p:cNvSpPr>
            <p:nvPr/>
          </p:nvSpPr>
          <p:spPr bwMode="auto">
            <a:xfrm>
              <a:off x="2831" y="2954"/>
              <a:ext cx="853"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B makes $2200 profit.</a:t>
              </a:r>
            </a:p>
          </p:txBody>
        </p:sp>
        <p:sp>
          <p:nvSpPr>
            <p:cNvPr id="58388" name="Freeform 17"/>
            <p:cNvSpPr>
              <a:spLocks/>
            </p:cNvSpPr>
            <p:nvPr/>
          </p:nvSpPr>
          <p:spPr bwMode="auto">
            <a:xfrm>
              <a:off x="2222" y="2400"/>
              <a:ext cx="91" cy="1869"/>
            </a:xfrm>
            <a:custGeom>
              <a:avLst/>
              <a:gdLst>
                <a:gd name="T0" fmla="*/ 2250616 w 25"/>
                <a:gd name="T1" fmla="*/ 0 h 677"/>
                <a:gd name="T2" fmla="*/ 900245 w 25"/>
                <a:gd name="T3" fmla="*/ 825242 h 677"/>
                <a:gd name="T4" fmla="*/ 900245 w 25"/>
                <a:gd name="T5" fmla="*/ 16917503 h 677"/>
                <a:gd name="T6" fmla="*/ 0 w 25"/>
                <a:gd name="T7" fmla="*/ 17484861 h 677"/>
                <a:gd name="T8" fmla="*/ 900245 w 25"/>
                <a:gd name="T9" fmla="*/ 18000639 h 677"/>
                <a:gd name="T10" fmla="*/ 900245 w 25"/>
                <a:gd name="T11" fmla="*/ 34092878 h 677"/>
                <a:gd name="T12" fmla="*/ 2250616 w 25"/>
                <a:gd name="T13" fmla="*/ 34918153 h 677"/>
                <a:gd name="T14" fmla="*/ 0 60000 65536"/>
                <a:gd name="T15" fmla="*/ 0 60000 65536"/>
                <a:gd name="T16" fmla="*/ 0 60000 65536"/>
                <a:gd name="T17" fmla="*/ 0 60000 65536"/>
                <a:gd name="T18" fmla="*/ 0 60000 65536"/>
                <a:gd name="T19" fmla="*/ 0 60000 65536"/>
                <a:gd name="T20" fmla="*/ 0 60000 65536"/>
                <a:gd name="T21" fmla="*/ 0 w 25"/>
                <a:gd name="T22" fmla="*/ 0 h 677"/>
                <a:gd name="T23" fmla="*/ 25 w 25"/>
                <a:gd name="T24" fmla="*/ 677 h 6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677">
                  <a:moveTo>
                    <a:pt x="25" y="0"/>
                  </a:moveTo>
                  <a:cubicBezTo>
                    <a:pt x="15" y="0"/>
                    <a:pt x="10" y="3"/>
                    <a:pt x="10" y="16"/>
                  </a:cubicBezTo>
                  <a:cubicBezTo>
                    <a:pt x="10" y="19"/>
                    <a:pt x="10" y="326"/>
                    <a:pt x="10" y="328"/>
                  </a:cubicBezTo>
                  <a:cubicBezTo>
                    <a:pt x="10" y="332"/>
                    <a:pt x="8" y="339"/>
                    <a:pt x="0" y="339"/>
                  </a:cubicBezTo>
                  <a:cubicBezTo>
                    <a:pt x="8" y="339"/>
                    <a:pt x="10" y="346"/>
                    <a:pt x="10" y="349"/>
                  </a:cubicBezTo>
                  <a:cubicBezTo>
                    <a:pt x="10" y="352"/>
                    <a:pt x="10" y="658"/>
                    <a:pt x="10" y="661"/>
                  </a:cubicBezTo>
                  <a:cubicBezTo>
                    <a:pt x="10" y="674"/>
                    <a:pt x="15" y="677"/>
                    <a:pt x="25" y="677"/>
                  </a:cubicBezTo>
                </a:path>
              </a:pathLst>
            </a:custGeom>
            <a:noFill/>
            <a:ln w="25400" cap="flat">
              <a:solidFill>
                <a:srgbClr val="FFCD67"/>
              </a:solidFill>
              <a:prstDash val="solid"/>
              <a:miter lim="800000"/>
              <a:headEnd/>
              <a:tailEnd/>
            </a:ln>
          </p:spPr>
          <p:txBody>
            <a:bodyPr/>
            <a:lstStyle/>
            <a:p>
              <a:endParaRPr lang="en-US"/>
            </a:p>
          </p:txBody>
        </p:sp>
        <p:sp>
          <p:nvSpPr>
            <p:cNvPr id="58389" name="Freeform 18"/>
            <p:cNvSpPr>
              <a:spLocks/>
            </p:cNvSpPr>
            <p:nvPr/>
          </p:nvSpPr>
          <p:spPr bwMode="auto">
            <a:xfrm>
              <a:off x="2783" y="2122"/>
              <a:ext cx="2955" cy="83"/>
            </a:xfrm>
            <a:custGeom>
              <a:avLst/>
              <a:gdLst>
                <a:gd name="T0" fmla="*/ 105282291 w 677"/>
                <a:gd name="T1" fmla="*/ 2222249 h 25"/>
                <a:gd name="T2" fmla="*/ 102794051 w 677"/>
                <a:gd name="T3" fmla="*/ 888900 h 25"/>
                <a:gd name="T4" fmla="*/ 54274016 w 677"/>
                <a:gd name="T5" fmla="*/ 888900 h 25"/>
                <a:gd name="T6" fmla="*/ 52563381 w 677"/>
                <a:gd name="T7" fmla="*/ 0 h 25"/>
                <a:gd name="T8" fmla="*/ 51008240 w 677"/>
                <a:gd name="T9" fmla="*/ 888900 h 25"/>
                <a:gd name="T10" fmla="*/ 2488211 w 677"/>
                <a:gd name="T11" fmla="*/ 888900 h 25"/>
                <a:gd name="T12" fmla="*/ 0 w 677"/>
                <a:gd name="T13" fmla="*/ 2222249 h 25"/>
                <a:gd name="T14" fmla="*/ 0 60000 65536"/>
                <a:gd name="T15" fmla="*/ 0 60000 65536"/>
                <a:gd name="T16" fmla="*/ 0 60000 65536"/>
                <a:gd name="T17" fmla="*/ 0 60000 65536"/>
                <a:gd name="T18" fmla="*/ 0 60000 65536"/>
                <a:gd name="T19" fmla="*/ 0 60000 65536"/>
                <a:gd name="T20" fmla="*/ 0 60000 65536"/>
                <a:gd name="T21" fmla="*/ 0 w 677"/>
                <a:gd name="T22" fmla="*/ 0 h 25"/>
                <a:gd name="T23" fmla="*/ 677 w 67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7" h="25">
                  <a:moveTo>
                    <a:pt x="677" y="25"/>
                  </a:moveTo>
                  <a:cubicBezTo>
                    <a:pt x="677" y="15"/>
                    <a:pt x="674" y="10"/>
                    <a:pt x="661" y="10"/>
                  </a:cubicBezTo>
                  <a:cubicBezTo>
                    <a:pt x="658" y="10"/>
                    <a:pt x="351" y="10"/>
                    <a:pt x="349" y="10"/>
                  </a:cubicBezTo>
                  <a:cubicBezTo>
                    <a:pt x="346" y="10"/>
                    <a:pt x="338" y="8"/>
                    <a:pt x="338" y="0"/>
                  </a:cubicBezTo>
                  <a:cubicBezTo>
                    <a:pt x="338" y="8"/>
                    <a:pt x="331" y="10"/>
                    <a:pt x="328" y="10"/>
                  </a:cubicBezTo>
                  <a:cubicBezTo>
                    <a:pt x="326" y="10"/>
                    <a:pt x="19" y="10"/>
                    <a:pt x="16" y="10"/>
                  </a:cubicBezTo>
                  <a:cubicBezTo>
                    <a:pt x="3" y="10"/>
                    <a:pt x="0" y="15"/>
                    <a:pt x="0" y="25"/>
                  </a:cubicBezTo>
                </a:path>
              </a:pathLst>
            </a:custGeom>
            <a:noFill/>
            <a:ln w="25400" cap="flat">
              <a:solidFill>
                <a:srgbClr val="C7C4E2"/>
              </a:solidFill>
              <a:prstDash val="solid"/>
              <a:miter lim="800000"/>
              <a:headEnd/>
              <a:tailEnd/>
            </a:ln>
          </p:spPr>
          <p:txBody>
            <a:bodyPr/>
            <a:lstStyle/>
            <a:p>
              <a:endParaRPr lang="en-US"/>
            </a:p>
          </p:txBody>
        </p:sp>
        <p:sp>
          <p:nvSpPr>
            <p:cNvPr id="58390" name="Rectangle 19"/>
            <p:cNvSpPr>
              <a:spLocks noChangeArrowheads="1"/>
            </p:cNvSpPr>
            <p:nvPr/>
          </p:nvSpPr>
          <p:spPr bwMode="auto">
            <a:xfrm>
              <a:off x="2213" y="3594"/>
              <a:ext cx="536" cy="519"/>
            </a:xfrm>
            <a:prstGeom prst="rect">
              <a:avLst/>
            </a:prstGeom>
            <a:noFill/>
            <a:ln w="9525">
              <a:noFill/>
              <a:miter lim="800000"/>
              <a:headEnd/>
              <a:tailEnd/>
            </a:ln>
          </p:spPr>
          <p:txBody>
            <a:bodyPr lIns="0" tIns="0" rIns="0" bIns="0">
              <a:spAutoFit/>
            </a:bodyPr>
            <a:lstStyle/>
            <a:p>
              <a:pPr marL="1588" indent="-1588" algn="ctr"/>
              <a:r>
                <a:rPr lang="en-US">
                  <a:solidFill>
                    <a:srgbClr val="000000"/>
                  </a:solidFill>
                </a:rPr>
                <a:t>Don’t Adver-tise</a:t>
              </a:r>
            </a:p>
          </p:txBody>
        </p:sp>
        <p:sp>
          <p:nvSpPr>
            <p:cNvPr id="58391" name="Rectangle 20"/>
            <p:cNvSpPr>
              <a:spLocks noChangeArrowheads="1"/>
            </p:cNvSpPr>
            <p:nvPr/>
          </p:nvSpPr>
          <p:spPr bwMode="auto">
            <a:xfrm>
              <a:off x="3113" y="2145"/>
              <a:ext cx="838" cy="173"/>
            </a:xfrm>
            <a:prstGeom prst="rect">
              <a:avLst/>
            </a:prstGeom>
            <a:noFill/>
            <a:ln w="9525">
              <a:noFill/>
              <a:miter lim="800000"/>
              <a:headEnd/>
              <a:tailEnd/>
            </a:ln>
          </p:spPr>
          <p:txBody>
            <a:bodyPr lIns="0" tIns="0" rIns="0" bIns="0">
              <a:spAutoFit/>
            </a:bodyPr>
            <a:lstStyle/>
            <a:p>
              <a:pPr marL="1588" indent="-1588" algn="ctr"/>
              <a:r>
                <a:rPr lang="en-US">
                  <a:solidFill>
                    <a:srgbClr val="000000"/>
                  </a:solidFill>
                </a:rPr>
                <a:t>Advertise</a:t>
              </a:r>
              <a:endParaRPr lang="en-US"/>
            </a:p>
          </p:txBody>
        </p:sp>
        <p:sp>
          <p:nvSpPr>
            <p:cNvPr id="58392" name="Rectangle 21"/>
            <p:cNvSpPr>
              <a:spLocks noChangeArrowheads="1"/>
            </p:cNvSpPr>
            <p:nvPr/>
          </p:nvSpPr>
          <p:spPr bwMode="auto">
            <a:xfrm>
              <a:off x="4426" y="2168"/>
              <a:ext cx="1108" cy="173"/>
            </a:xfrm>
            <a:prstGeom prst="rect">
              <a:avLst/>
            </a:prstGeom>
            <a:noFill/>
            <a:ln w="9525">
              <a:noFill/>
              <a:miter lim="800000"/>
              <a:headEnd/>
              <a:tailEnd/>
            </a:ln>
          </p:spPr>
          <p:txBody>
            <a:bodyPr lIns="0" tIns="0" rIns="0" bIns="0">
              <a:spAutoFit/>
            </a:bodyPr>
            <a:lstStyle/>
            <a:p>
              <a:pPr marL="1588" indent="-1588" algn="ctr"/>
              <a:r>
                <a:rPr lang="en-US">
                  <a:solidFill>
                    <a:srgbClr val="000000"/>
                  </a:solidFill>
                </a:rPr>
                <a:t>Don’t Advertise</a:t>
              </a:r>
            </a:p>
          </p:txBody>
        </p:sp>
        <p:sp>
          <p:nvSpPr>
            <p:cNvPr id="58393" name="Rectangle 22"/>
            <p:cNvSpPr>
              <a:spLocks noChangeArrowheads="1"/>
            </p:cNvSpPr>
            <p:nvPr/>
          </p:nvSpPr>
          <p:spPr bwMode="auto">
            <a:xfrm>
              <a:off x="3039" y="2404"/>
              <a:ext cx="1160"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A makes $1800 profit.</a:t>
              </a:r>
              <a:endParaRPr lang="en-US"/>
            </a:p>
          </p:txBody>
        </p:sp>
        <p:sp>
          <p:nvSpPr>
            <p:cNvPr id="58394" name="Rectangle 23"/>
            <p:cNvSpPr>
              <a:spLocks noChangeArrowheads="1"/>
            </p:cNvSpPr>
            <p:nvPr/>
          </p:nvSpPr>
          <p:spPr bwMode="auto">
            <a:xfrm>
              <a:off x="4522" y="2404"/>
              <a:ext cx="1159"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A makes $1500 profit.</a:t>
              </a:r>
            </a:p>
          </p:txBody>
        </p:sp>
        <p:sp>
          <p:nvSpPr>
            <p:cNvPr id="58395" name="Rectangle 24"/>
            <p:cNvSpPr>
              <a:spLocks noChangeArrowheads="1"/>
            </p:cNvSpPr>
            <p:nvPr/>
          </p:nvSpPr>
          <p:spPr bwMode="auto">
            <a:xfrm>
              <a:off x="3039" y="3340"/>
              <a:ext cx="1160"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A makes $2000 profit.</a:t>
              </a:r>
            </a:p>
          </p:txBody>
        </p:sp>
        <p:sp>
          <p:nvSpPr>
            <p:cNvPr id="58396" name="Rectangle 25"/>
            <p:cNvSpPr>
              <a:spLocks noChangeArrowheads="1"/>
            </p:cNvSpPr>
            <p:nvPr/>
          </p:nvSpPr>
          <p:spPr bwMode="auto">
            <a:xfrm>
              <a:off x="4522" y="3340"/>
              <a:ext cx="1159"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A makes $2200 profit.</a:t>
              </a:r>
            </a:p>
          </p:txBody>
        </p:sp>
        <p:sp>
          <p:nvSpPr>
            <p:cNvPr id="58397" name="Rectangle 26"/>
            <p:cNvSpPr>
              <a:spLocks noChangeArrowheads="1"/>
            </p:cNvSpPr>
            <p:nvPr/>
          </p:nvSpPr>
          <p:spPr bwMode="auto">
            <a:xfrm>
              <a:off x="4314" y="2954"/>
              <a:ext cx="853"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B makes $2400 profit.</a:t>
              </a:r>
            </a:p>
          </p:txBody>
        </p:sp>
        <p:sp>
          <p:nvSpPr>
            <p:cNvPr id="58398" name="Rectangle 27"/>
            <p:cNvSpPr>
              <a:spLocks noChangeArrowheads="1"/>
            </p:cNvSpPr>
            <p:nvPr/>
          </p:nvSpPr>
          <p:spPr bwMode="auto">
            <a:xfrm>
              <a:off x="2831" y="3850"/>
              <a:ext cx="853"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B makes $2000 profit.</a:t>
              </a:r>
            </a:p>
          </p:txBody>
        </p:sp>
        <p:sp>
          <p:nvSpPr>
            <p:cNvPr id="58399" name="Rectangle 28"/>
            <p:cNvSpPr>
              <a:spLocks noChangeArrowheads="1"/>
            </p:cNvSpPr>
            <p:nvPr/>
          </p:nvSpPr>
          <p:spPr bwMode="auto">
            <a:xfrm>
              <a:off x="4294" y="3879"/>
              <a:ext cx="853" cy="346"/>
            </a:xfrm>
            <a:prstGeom prst="rect">
              <a:avLst/>
            </a:prstGeom>
            <a:noFill/>
            <a:ln w="9525">
              <a:noFill/>
              <a:miter lim="800000"/>
              <a:headEnd/>
              <a:tailEnd/>
            </a:ln>
          </p:spPr>
          <p:txBody>
            <a:bodyPr lIns="0" tIns="0" rIns="0" bIns="0">
              <a:spAutoFit/>
            </a:bodyPr>
            <a:lstStyle/>
            <a:p>
              <a:pPr marL="1588" indent="-1588" algn="r"/>
              <a:r>
                <a:rPr lang="en-US">
                  <a:solidFill>
                    <a:srgbClr val="000000"/>
                  </a:solidFill>
                </a:rPr>
                <a:t>Firm B makes $2600 profit.</a:t>
              </a:r>
            </a:p>
          </p:txBody>
        </p:sp>
      </p:grpSp>
      <p:grpSp>
        <p:nvGrpSpPr>
          <p:cNvPr id="93221" name="Group 37"/>
          <p:cNvGrpSpPr>
            <a:grpSpLocks/>
          </p:cNvGrpSpPr>
          <p:nvPr/>
        </p:nvGrpSpPr>
        <p:grpSpPr bwMode="auto">
          <a:xfrm>
            <a:off x="4392613" y="3716338"/>
            <a:ext cx="4705350" cy="2984500"/>
            <a:chOff x="2774" y="2352"/>
            <a:chExt cx="2964" cy="1880"/>
          </a:xfrm>
        </p:grpSpPr>
        <p:sp>
          <p:nvSpPr>
            <p:cNvPr id="58374" name="Rectangle 31"/>
            <p:cNvSpPr>
              <a:spLocks noChangeArrowheads="1"/>
            </p:cNvSpPr>
            <p:nvPr/>
          </p:nvSpPr>
          <p:spPr bwMode="auto">
            <a:xfrm>
              <a:off x="4256" y="3292"/>
              <a:ext cx="1482" cy="940"/>
            </a:xfrm>
            <a:prstGeom prst="rect">
              <a:avLst/>
            </a:prstGeom>
            <a:noFill/>
            <a:ln w="31750">
              <a:solidFill>
                <a:srgbClr val="008000"/>
              </a:solidFill>
              <a:miter lim="800000"/>
              <a:headEnd/>
              <a:tailEnd/>
            </a:ln>
          </p:spPr>
          <p:txBody>
            <a:bodyPr wrap="none" anchor="ctr"/>
            <a:lstStyle/>
            <a:p>
              <a:endParaRPr lang="en-US"/>
            </a:p>
          </p:txBody>
        </p:sp>
        <p:sp>
          <p:nvSpPr>
            <p:cNvPr id="58375" name="Rectangle 32"/>
            <p:cNvSpPr>
              <a:spLocks noChangeArrowheads="1"/>
            </p:cNvSpPr>
            <p:nvPr/>
          </p:nvSpPr>
          <p:spPr bwMode="auto">
            <a:xfrm>
              <a:off x="2774" y="2352"/>
              <a:ext cx="1482" cy="940"/>
            </a:xfrm>
            <a:prstGeom prst="rect">
              <a:avLst/>
            </a:prstGeom>
            <a:noFill/>
            <a:ln w="31750">
              <a:solidFill>
                <a:srgbClr val="800000"/>
              </a:solidFill>
              <a:miter lim="800000"/>
              <a:headEnd/>
              <a:tailEnd/>
            </a:ln>
          </p:spPr>
          <p:txBody>
            <a:bodyPr wrap="none" anchor="ctr"/>
            <a:lstStyle/>
            <a:p>
              <a:endParaRPr lang="en-US"/>
            </a:p>
          </p:txBody>
        </p:sp>
      </p:grpSp>
      <p:sp>
        <p:nvSpPr>
          <p:cNvPr id="4" name="Content Placeholder 2"/>
          <p:cNvSpPr>
            <a:spLocks/>
          </p:cNvSpPr>
          <p:nvPr/>
        </p:nvSpPr>
        <p:spPr bwMode="auto">
          <a:xfrm>
            <a:off x="647700" y="3573463"/>
            <a:ext cx="2808288" cy="2951162"/>
          </a:xfrm>
          <a:prstGeom prst="rect">
            <a:avLst/>
          </a:prstGeom>
          <a:noFill/>
          <a:ln w="9525">
            <a:noFill/>
            <a:miter lim="800000"/>
            <a:headEnd/>
            <a:tailEnd/>
          </a:ln>
        </p:spPr>
        <p:txBody>
          <a:bodyPr/>
          <a:lstStyle/>
          <a:p>
            <a:pPr eaLnBrk="0" hangingPunct="0">
              <a:spcBef>
                <a:spcPct val="20000"/>
              </a:spcBef>
              <a:buFont typeface="Arial" charset="0"/>
              <a:buChar char="•"/>
            </a:pPr>
            <a:r>
              <a:rPr lang="en-US" sz="2000"/>
              <a:t> What should Firm B do if Firm A advertises?</a:t>
            </a:r>
          </a:p>
          <a:p>
            <a:pPr eaLnBrk="0" hangingPunct="0">
              <a:spcBef>
                <a:spcPct val="20000"/>
              </a:spcBef>
              <a:buFont typeface="Arial" charset="0"/>
              <a:buChar char="•"/>
            </a:pPr>
            <a:r>
              <a:rPr lang="en-US" sz="2000"/>
              <a:t> What should Firm B do if Firm A does not advertise?</a:t>
            </a:r>
          </a:p>
          <a:p>
            <a:pPr eaLnBrk="0" hangingPunct="0">
              <a:spcBef>
                <a:spcPct val="20000"/>
              </a:spcBef>
              <a:buFont typeface="Arial" charset="0"/>
              <a:buChar char="•"/>
            </a:pPr>
            <a:r>
              <a:rPr lang="en-US" sz="2000"/>
              <a:t> Does Firm B have a dominant strategy?</a:t>
            </a:r>
          </a:p>
          <a:p>
            <a:pPr eaLnBrk="0" hangingPunct="0">
              <a:spcBef>
                <a:spcPct val="20000"/>
              </a:spcBef>
              <a:buFont typeface="Arial" charset="0"/>
              <a:buChar char="•"/>
            </a:pP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3221"/>
                                        </p:tgtEl>
                                        <p:attrNameLst>
                                          <p:attrName>style.visibility</p:attrName>
                                        </p:attrNameLst>
                                      </p:cBhvr>
                                      <p:to>
                                        <p:strVal val="visible"/>
                                      </p:to>
                                    </p:set>
                                    <p:animEffect transition="in" filter="dissolve">
                                      <p:cBhvr>
                                        <p:cTn id="12" dur="500"/>
                                        <p:tgtEl>
                                          <p:spTgt spid="93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92163" y="3716338"/>
            <a:ext cx="8208962" cy="2989262"/>
          </a:xfrm>
        </p:spPr>
        <p:txBody>
          <a:bodyPr/>
          <a:lstStyle/>
          <a:p>
            <a:pPr marL="0" indent="0">
              <a:lnSpc>
                <a:spcPct val="80000"/>
              </a:lnSpc>
            </a:pPr>
            <a:r>
              <a:rPr lang="en-US" sz="2200" smtClean="0"/>
              <a:t> Which actions maximize the total payoff of Nikita and Margaret?</a:t>
            </a:r>
          </a:p>
          <a:p>
            <a:pPr marL="0" indent="0">
              <a:lnSpc>
                <a:spcPct val="80000"/>
              </a:lnSpc>
            </a:pPr>
            <a:r>
              <a:rPr lang="en-US" sz="2200" smtClean="0"/>
              <a:t> Which actions maximize their individual payoffs? </a:t>
            </a:r>
          </a:p>
          <a:p>
            <a:pPr marL="0" indent="0">
              <a:lnSpc>
                <a:spcPct val="80000"/>
              </a:lnSpc>
            </a:pPr>
            <a:r>
              <a:rPr lang="en-US" sz="2200" smtClean="0"/>
              <a:t> Find the Nash (noncooperative) equilibrium. </a:t>
            </a:r>
          </a:p>
          <a:p>
            <a:pPr marL="0" indent="0">
              <a:lnSpc>
                <a:spcPct val="80000"/>
              </a:lnSpc>
            </a:pPr>
            <a:endParaRPr lang="en-US" sz="2200" smtClean="0"/>
          </a:p>
          <a:p>
            <a:pPr marL="0" indent="0">
              <a:lnSpc>
                <a:spcPct val="80000"/>
              </a:lnSpc>
              <a:buFont typeface="Arial" charset="0"/>
              <a:buNone/>
            </a:pPr>
            <a:r>
              <a:rPr lang="en-US" sz="2200" smtClean="0"/>
              <a:t> What will happen if they don’t cooperate?</a:t>
            </a:r>
          </a:p>
          <a:p>
            <a:pPr marL="0" indent="0">
              <a:lnSpc>
                <a:spcPct val="80000"/>
              </a:lnSpc>
              <a:buFont typeface="Calibri" pitchFamily="34" charset="0"/>
              <a:buAutoNum type="alphaLcParenR"/>
            </a:pPr>
            <a:r>
              <a:rPr lang="en-US" sz="2200" smtClean="0"/>
              <a:t> They will both build the missile.</a:t>
            </a:r>
          </a:p>
          <a:p>
            <a:pPr marL="0" indent="0">
              <a:lnSpc>
                <a:spcPct val="80000"/>
              </a:lnSpc>
              <a:buFont typeface="Calibri" pitchFamily="34" charset="0"/>
              <a:buAutoNum type="alphaLcParenR"/>
            </a:pPr>
            <a:r>
              <a:rPr lang="en-US" sz="2200" smtClean="0"/>
              <a:t> Neither will build the missile.</a:t>
            </a:r>
          </a:p>
          <a:p>
            <a:pPr marL="0" indent="0">
              <a:lnSpc>
                <a:spcPct val="80000"/>
              </a:lnSpc>
              <a:buFont typeface="Calibri" pitchFamily="34" charset="0"/>
              <a:buAutoNum type="alphaLcParenR"/>
            </a:pPr>
            <a:r>
              <a:rPr lang="en-US" sz="2200" smtClean="0"/>
              <a:t> Margaret will but Nikita won’t build the missile.</a:t>
            </a:r>
          </a:p>
          <a:p>
            <a:pPr marL="0" indent="0">
              <a:lnSpc>
                <a:spcPct val="80000"/>
              </a:lnSpc>
              <a:buFont typeface="Calibri" pitchFamily="34" charset="0"/>
              <a:buAutoNum type="alphaLcParenR"/>
            </a:pPr>
            <a:r>
              <a:rPr lang="en-US" sz="2200" smtClean="0"/>
              <a:t> Nikita will but Margaret won’t build the missile.</a:t>
            </a:r>
          </a:p>
        </p:txBody>
      </p:sp>
      <p:pic>
        <p:nvPicPr>
          <p:cNvPr id="59394" name="Picture 2"/>
          <p:cNvPicPr>
            <a:picLocks noChangeAspect="1" noChangeArrowheads="1"/>
          </p:cNvPicPr>
          <p:nvPr/>
        </p:nvPicPr>
        <p:blipFill>
          <a:blip r:embed="rId3"/>
          <a:srcRect/>
          <a:stretch>
            <a:fillRect/>
          </a:stretch>
        </p:blipFill>
        <p:spPr bwMode="auto">
          <a:xfrm>
            <a:off x="2411413" y="728663"/>
            <a:ext cx="4572000" cy="2947987"/>
          </a:xfrm>
          <a:prstGeom prst="rect">
            <a:avLst/>
          </a:prstGeom>
          <a:noFill/>
          <a:ln w="9525">
            <a:noFill/>
            <a:miter lim="800000"/>
            <a:headEnd/>
            <a:tailEnd/>
          </a:ln>
        </p:spPr>
      </p:pic>
      <p:sp>
        <p:nvSpPr>
          <p:cNvPr id="59395" name="Title 1"/>
          <p:cNvSpPr>
            <a:spLocks/>
          </p:cNvSpPr>
          <p:nvPr/>
        </p:nvSpPr>
        <p:spPr bwMode="auto">
          <a:xfrm>
            <a:off x="971550" y="60325"/>
            <a:ext cx="8078788" cy="555625"/>
          </a:xfrm>
          <a:prstGeom prst="rect">
            <a:avLst/>
          </a:prstGeom>
          <a:noFill/>
          <a:ln w="9525">
            <a:noFill/>
            <a:miter lim="800000"/>
            <a:headEnd/>
            <a:tailEnd/>
          </a:ln>
        </p:spPr>
        <p:txBody>
          <a:bodyPr anchor="ctr"/>
          <a:lstStyle/>
          <a:p>
            <a:pPr eaLnBrk="0" hangingPunct="0"/>
            <a:r>
              <a:rPr lang="en-US" sz="3200" b="1">
                <a:solidFill>
                  <a:schemeClr val="bg1"/>
                </a:solidFill>
              </a:rPr>
              <a:t>Is the Arms Race a Prisoner’s Dilemma?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5" end="5"/>
                                            </p:txEl>
                                          </p:spTgt>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idx="4294967295"/>
          </p:nvPr>
        </p:nvSpPr>
        <p:spPr>
          <a:xfrm>
            <a:off x="900113" y="115888"/>
            <a:ext cx="7939087" cy="381000"/>
          </a:xfrm>
        </p:spPr>
        <p:txBody>
          <a:bodyPr/>
          <a:lstStyle/>
          <a:p>
            <a:pPr>
              <a:defRPr/>
            </a:pPr>
            <a:r>
              <a:rPr lang="en-US" smtClean="0">
                <a:effectLst>
                  <a:outerShdw blurRad="38100" dist="38100" dir="2700000" algn="tl">
                    <a:srgbClr val="C0C0C0"/>
                  </a:outerShdw>
                </a:effectLst>
              </a:rPr>
              <a:t>Repeated Interaction and Tacit Collusion</a:t>
            </a:r>
          </a:p>
        </p:txBody>
      </p:sp>
      <p:sp>
        <p:nvSpPr>
          <p:cNvPr id="61442" name="Text Box 3"/>
          <p:cNvSpPr txBox="1">
            <a:spLocks noChangeArrowheads="1"/>
          </p:cNvSpPr>
          <p:nvPr/>
        </p:nvSpPr>
        <p:spPr bwMode="auto">
          <a:xfrm>
            <a:off x="900113" y="873125"/>
            <a:ext cx="8064500" cy="4838700"/>
          </a:xfrm>
          <a:prstGeom prst="rect">
            <a:avLst/>
          </a:prstGeom>
          <a:noFill/>
          <a:ln w="9525" algn="ctr">
            <a:noFill/>
            <a:miter lim="800000"/>
            <a:headEnd/>
            <a:tailEnd type="none" w="med" len="lg"/>
          </a:ln>
        </p:spPr>
        <p:txBody>
          <a:bodyPr>
            <a:spAutoFit/>
          </a:bodyPr>
          <a:lstStyle/>
          <a:p>
            <a:pPr marL="231775" indent="-231775">
              <a:spcBef>
                <a:spcPct val="20000"/>
              </a:spcBef>
              <a:buClr>
                <a:schemeClr val="tx1"/>
              </a:buClr>
              <a:buFont typeface="Wingdings" pitchFamily="2" charset="2"/>
              <a:buChar char="§"/>
            </a:pPr>
            <a:r>
              <a:rPr lang="en-US" sz="2400"/>
              <a:t>But if a game is played repeatedly, players may engage in </a:t>
            </a:r>
            <a:r>
              <a:rPr lang="en-US" sz="2400" i="1"/>
              <a:t>strategic behavior</a:t>
            </a:r>
            <a:r>
              <a:rPr lang="en-US" sz="2400"/>
              <a:t>, sacrificing short-run profit to influence future behavior. </a:t>
            </a:r>
          </a:p>
          <a:p>
            <a:pPr marL="231775" indent="-231775">
              <a:spcBef>
                <a:spcPct val="20000"/>
              </a:spcBef>
              <a:buClr>
                <a:schemeClr val="tx1"/>
              </a:buClr>
              <a:buFont typeface="Wingdings" pitchFamily="2" charset="2"/>
              <a:buChar char="§"/>
            </a:pPr>
            <a:endParaRPr lang="en-US" sz="1400"/>
          </a:p>
          <a:p>
            <a:pPr marL="231775" indent="-231775">
              <a:spcBef>
                <a:spcPct val="20000"/>
              </a:spcBef>
              <a:buClr>
                <a:schemeClr val="tx1"/>
              </a:buClr>
              <a:buFont typeface="Wingdings" pitchFamily="2" charset="2"/>
              <a:buChar char="§"/>
            </a:pPr>
            <a:r>
              <a:rPr lang="en-US" sz="2400"/>
              <a:t>In repeated prisoners’ dilemma games, </a:t>
            </a:r>
            <a:r>
              <a:rPr lang="en-US" sz="2400" i="1"/>
              <a:t>tit for tat </a:t>
            </a:r>
            <a:r>
              <a:rPr lang="en-US" sz="2400"/>
              <a:t>is often a good strategy, leading to successful tacit collusion. </a:t>
            </a:r>
          </a:p>
          <a:p>
            <a:pPr marL="688975" lvl="1" indent="-231775">
              <a:spcBef>
                <a:spcPct val="20000"/>
              </a:spcBef>
              <a:buClr>
                <a:schemeClr val="tx1"/>
              </a:buClr>
              <a:buFont typeface="Wingdings" pitchFamily="2" charset="2"/>
              <a:buChar char="§"/>
            </a:pPr>
            <a:r>
              <a:rPr lang="en-US" sz="2400"/>
              <a:t>Tit for tat involves playing cooperatively at first, then doing whatever the other player did in the previous period.</a:t>
            </a:r>
          </a:p>
          <a:p>
            <a:pPr marL="231775" indent="-231775">
              <a:spcBef>
                <a:spcPct val="20000"/>
              </a:spcBef>
              <a:buClr>
                <a:schemeClr val="tx1"/>
              </a:buClr>
              <a:buFont typeface="Wingdings" pitchFamily="2" charset="2"/>
              <a:buChar char="§"/>
            </a:pPr>
            <a:endParaRPr lang="en-US" sz="1400"/>
          </a:p>
          <a:p>
            <a:pPr marL="231775" indent="-231775">
              <a:spcBef>
                <a:spcPct val="20000"/>
              </a:spcBef>
              <a:buClr>
                <a:schemeClr val="tx1"/>
              </a:buClr>
              <a:buFont typeface="Wingdings" pitchFamily="2" charset="2"/>
              <a:buChar char="§"/>
            </a:pPr>
            <a:r>
              <a:rPr lang="en-US" sz="2400"/>
              <a:t>When firms limit production and raise prices in a way that raises each others’ profits, even though they have not made any formal agreement, they are engaged in tacit collusion. </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rrowheads="1"/>
          </p:cNvSpPr>
          <p:nvPr>
            <p:ph type="title" idx="4294967295"/>
          </p:nvPr>
        </p:nvSpPr>
        <p:spPr/>
        <p:txBody>
          <a:bodyPr/>
          <a:lstStyle/>
          <a:p>
            <a:pPr>
              <a:defRPr/>
            </a:pPr>
            <a:r>
              <a:rPr lang="en-US" sz="2800" dirty="0" smtClean="0"/>
              <a:t>How Repeated Interaction Can Support Collusion</a:t>
            </a:r>
          </a:p>
        </p:txBody>
      </p:sp>
      <p:sp>
        <p:nvSpPr>
          <p:cNvPr id="63490" name="Rectangle 5"/>
          <p:cNvSpPr>
            <a:spLocks noChangeArrowheads="1"/>
          </p:cNvSpPr>
          <p:nvPr/>
        </p:nvSpPr>
        <p:spPr bwMode="auto">
          <a:xfrm>
            <a:off x="1266825" y="2720975"/>
            <a:ext cx="906463" cy="244475"/>
          </a:xfrm>
          <a:prstGeom prst="rect">
            <a:avLst/>
          </a:prstGeom>
          <a:noFill/>
          <a:ln w="9525">
            <a:noFill/>
            <a:miter lim="800000"/>
            <a:headEnd/>
            <a:tailEnd/>
          </a:ln>
        </p:spPr>
        <p:txBody>
          <a:bodyPr lIns="0" tIns="0" rIns="0" bIns="0">
            <a:spAutoFit/>
          </a:bodyPr>
          <a:lstStyle/>
          <a:p>
            <a:pPr marL="1588" indent="-1588" algn="ctr"/>
            <a:r>
              <a:rPr lang="en-US" sz="1600">
                <a:solidFill>
                  <a:srgbClr val="000000"/>
                </a:solidFill>
                <a:latin typeface="Myriad Pro"/>
              </a:rPr>
              <a:t>Tit for tat</a:t>
            </a:r>
            <a:endParaRPr lang="en-US" sz="1600">
              <a:latin typeface="Tahoma" pitchFamily="34" charset="0"/>
            </a:endParaRPr>
          </a:p>
        </p:txBody>
      </p:sp>
      <p:sp>
        <p:nvSpPr>
          <p:cNvPr id="63491" name="Rectangle 6"/>
          <p:cNvSpPr>
            <a:spLocks noChangeArrowheads="1"/>
          </p:cNvSpPr>
          <p:nvPr/>
        </p:nvSpPr>
        <p:spPr bwMode="auto">
          <a:xfrm>
            <a:off x="3603625" y="1363663"/>
            <a:ext cx="804863" cy="244475"/>
          </a:xfrm>
          <a:prstGeom prst="rect">
            <a:avLst/>
          </a:prstGeom>
          <a:noFill/>
          <a:ln w="9525">
            <a:noFill/>
            <a:miter lim="800000"/>
            <a:headEnd/>
            <a:tailEnd/>
          </a:ln>
        </p:spPr>
        <p:txBody>
          <a:bodyPr wrap="none" lIns="0" tIns="0" rIns="0" bIns="0">
            <a:spAutoFit/>
          </a:bodyPr>
          <a:lstStyle/>
          <a:p>
            <a:pPr marL="1588" indent="-1588" algn="ctr"/>
            <a:r>
              <a:rPr lang="en-US" sz="1600">
                <a:solidFill>
                  <a:srgbClr val="000000"/>
                </a:solidFill>
                <a:latin typeface="Myriad Pro"/>
              </a:rPr>
              <a:t>Tit for tat</a:t>
            </a:r>
            <a:endParaRPr lang="en-US" sz="1600">
              <a:latin typeface="Tahoma" pitchFamily="34" charset="0"/>
            </a:endParaRPr>
          </a:p>
        </p:txBody>
      </p:sp>
      <p:sp>
        <p:nvSpPr>
          <p:cNvPr id="63492" name="Rectangle 7"/>
          <p:cNvSpPr>
            <a:spLocks noChangeArrowheads="1"/>
          </p:cNvSpPr>
          <p:nvPr/>
        </p:nvSpPr>
        <p:spPr bwMode="auto">
          <a:xfrm>
            <a:off x="1196975" y="4916488"/>
            <a:ext cx="1077913" cy="488950"/>
          </a:xfrm>
          <a:prstGeom prst="rect">
            <a:avLst/>
          </a:prstGeom>
          <a:noFill/>
          <a:ln w="9525">
            <a:noFill/>
            <a:miter lim="800000"/>
            <a:headEnd/>
            <a:tailEnd/>
          </a:ln>
        </p:spPr>
        <p:txBody>
          <a:bodyPr lIns="0" tIns="0" rIns="0" bIns="0">
            <a:spAutoFit/>
          </a:bodyPr>
          <a:lstStyle/>
          <a:p>
            <a:pPr marL="1588" indent="-1588" algn="ctr"/>
            <a:r>
              <a:rPr lang="en-US" sz="1600">
                <a:solidFill>
                  <a:srgbClr val="000000"/>
                </a:solidFill>
                <a:latin typeface="Myriad Pro"/>
              </a:rPr>
              <a:t>Always cheat</a:t>
            </a:r>
            <a:endParaRPr lang="en-US" sz="1600">
              <a:latin typeface="Tahoma" pitchFamily="34" charset="0"/>
            </a:endParaRPr>
          </a:p>
        </p:txBody>
      </p:sp>
      <p:sp>
        <p:nvSpPr>
          <p:cNvPr id="63493" name="Rectangle 8"/>
          <p:cNvSpPr>
            <a:spLocks noChangeArrowheads="1"/>
          </p:cNvSpPr>
          <p:nvPr/>
        </p:nvSpPr>
        <p:spPr bwMode="auto">
          <a:xfrm>
            <a:off x="6829425" y="1341438"/>
            <a:ext cx="1195388" cy="244475"/>
          </a:xfrm>
          <a:prstGeom prst="rect">
            <a:avLst/>
          </a:prstGeom>
          <a:noFill/>
          <a:ln w="9525">
            <a:noFill/>
            <a:miter lim="800000"/>
            <a:headEnd/>
            <a:tailEnd/>
          </a:ln>
        </p:spPr>
        <p:txBody>
          <a:bodyPr wrap="none" lIns="0" tIns="0" rIns="0" bIns="0">
            <a:spAutoFit/>
          </a:bodyPr>
          <a:lstStyle/>
          <a:p>
            <a:pPr marL="1588" indent="-1588" algn="ctr"/>
            <a:r>
              <a:rPr lang="en-US" sz="1600">
                <a:solidFill>
                  <a:srgbClr val="000000"/>
                </a:solidFill>
                <a:latin typeface="Myriad Pro"/>
              </a:rPr>
              <a:t>Always cheat</a:t>
            </a:r>
            <a:endParaRPr lang="en-US" sz="1600">
              <a:latin typeface="Tahoma" pitchFamily="34" charset="0"/>
            </a:endParaRPr>
          </a:p>
        </p:txBody>
      </p:sp>
      <p:sp>
        <p:nvSpPr>
          <p:cNvPr id="63494" name="Freeform 9"/>
          <p:cNvSpPr>
            <a:spLocks/>
          </p:cNvSpPr>
          <p:nvPr/>
        </p:nvSpPr>
        <p:spPr bwMode="auto">
          <a:xfrm>
            <a:off x="2301875" y="3994150"/>
            <a:ext cx="3298825" cy="2332038"/>
          </a:xfrm>
          <a:custGeom>
            <a:avLst/>
            <a:gdLst>
              <a:gd name="T0" fmla="*/ 2147483647 w 1074"/>
              <a:gd name="T1" fmla="*/ 2147483647 h 1075"/>
              <a:gd name="T2" fmla="*/ 0 w 1074"/>
              <a:gd name="T3" fmla="*/ 2147483647 h 1075"/>
              <a:gd name="T4" fmla="*/ 0 w 1074"/>
              <a:gd name="T5" fmla="*/ 0 h 1075"/>
              <a:gd name="T6" fmla="*/ 2147483647 w 1074"/>
              <a:gd name="T7" fmla="*/ 2147483647 h 1075"/>
              <a:gd name="T8" fmla="*/ 0 60000 65536"/>
              <a:gd name="T9" fmla="*/ 0 60000 65536"/>
              <a:gd name="T10" fmla="*/ 0 60000 65536"/>
              <a:gd name="T11" fmla="*/ 0 60000 65536"/>
              <a:gd name="T12" fmla="*/ 0 w 1074"/>
              <a:gd name="T13" fmla="*/ 0 h 1075"/>
              <a:gd name="T14" fmla="*/ 1074 w 1074"/>
              <a:gd name="T15" fmla="*/ 1075 h 1075"/>
            </a:gdLst>
            <a:ahLst/>
            <a:cxnLst>
              <a:cxn ang="T8">
                <a:pos x="T0" y="T1"/>
              </a:cxn>
              <a:cxn ang="T9">
                <a:pos x="T2" y="T3"/>
              </a:cxn>
              <a:cxn ang="T10">
                <a:pos x="T4" y="T5"/>
              </a:cxn>
              <a:cxn ang="T11">
                <a:pos x="T6" y="T7"/>
              </a:cxn>
            </a:cxnLst>
            <a:rect l="T12" t="T13" r="T14" b="T15"/>
            <a:pathLst>
              <a:path w="1074" h="1075">
                <a:moveTo>
                  <a:pt x="1074" y="1075"/>
                </a:moveTo>
                <a:lnTo>
                  <a:pt x="0" y="1075"/>
                </a:lnTo>
                <a:lnTo>
                  <a:pt x="0" y="0"/>
                </a:lnTo>
                <a:lnTo>
                  <a:pt x="1074" y="1075"/>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63495" name="Freeform 10"/>
          <p:cNvSpPr>
            <a:spLocks/>
          </p:cNvSpPr>
          <p:nvPr/>
        </p:nvSpPr>
        <p:spPr bwMode="auto">
          <a:xfrm>
            <a:off x="2301875" y="3994150"/>
            <a:ext cx="3298825" cy="2332038"/>
          </a:xfrm>
          <a:custGeom>
            <a:avLst/>
            <a:gdLst>
              <a:gd name="T0" fmla="*/ 0 w 1074"/>
              <a:gd name="T1" fmla="*/ 0 h 1075"/>
              <a:gd name="T2" fmla="*/ 2147483647 w 1074"/>
              <a:gd name="T3" fmla="*/ 0 h 1075"/>
              <a:gd name="T4" fmla="*/ 2147483647 w 1074"/>
              <a:gd name="T5" fmla="*/ 2147483647 h 1075"/>
              <a:gd name="T6" fmla="*/ 0 w 1074"/>
              <a:gd name="T7" fmla="*/ 0 h 1075"/>
              <a:gd name="T8" fmla="*/ 0 60000 65536"/>
              <a:gd name="T9" fmla="*/ 0 60000 65536"/>
              <a:gd name="T10" fmla="*/ 0 60000 65536"/>
              <a:gd name="T11" fmla="*/ 0 60000 65536"/>
              <a:gd name="T12" fmla="*/ 0 w 1074"/>
              <a:gd name="T13" fmla="*/ 0 h 1075"/>
              <a:gd name="T14" fmla="*/ 1074 w 1074"/>
              <a:gd name="T15" fmla="*/ 1075 h 1075"/>
            </a:gdLst>
            <a:ahLst/>
            <a:cxnLst>
              <a:cxn ang="T8">
                <a:pos x="T0" y="T1"/>
              </a:cxn>
              <a:cxn ang="T9">
                <a:pos x="T2" y="T3"/>
              </a:cxn>
              <a:cxn ang="T10">
                <a:pos x="T4" y="T5"/>
              </a:cxn>
              <a:cxn ang="T11">
                <a:pos x="T6" y="T7"/>
              </a:cxn>
            </a:cxnLst>
            <a:rect l="T12" t="T13" r="T14" b="T15"/>
            <a:pathLst>
              <a:path w="1074" h="1075">
                <a:moveTo>
                  <a:pt x="0" y="0"/>
                </a:moveTo>
                <a:lnTo>
                  <a:pt x="1074" y="0"/>
                </a:lnTo>
                <a:lnTo>
                  <a:pt x="1074" y="1075"/>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63496" name="Freeform 11"/>
          <p:cNvSpPr>
            <a:spLocks/>
          </p:cNvSpPr>
          <p:nvPr/>
        </p:nvSpPr>
        <p:spPr bwMode="auto">
          <a:xfrm>
            <a:off x="5600700" y="3994150"/>
            <a:ext cx="3292475" cy="2332038"/>
          </a:xfrm>
          <a:custGeom>
            <a:avLst/>
            <a:gdLst>
              <a:gd name="T0" fmla="*/ 2147483647 w 1072"/>
              <a:gd name="T1" fmla="*/ 2147483647 h 1075"/>
              <a:gd name="T2" fmla="*/ 0 w 1072"/>
              <a:gd name="T3" fmla="*/ 2147483647 h 1075"/>
              <a:gd name="T4" fmla="*/ 0 w 1072"/>
              <a:gd name="T5" fmla="*/ 0 h 1075"/>
              <a:gd name="T6" fmla="*/ 2147483647 w 1072"/>
              <a:gd name="T7" fmla="*/ 2147483647 h 1075"/>
              <a:gd name="T8" fmla="*/ 0 60000 65536"/>
              <a:gd name="T9" fmla="*/ 0 60000 65536"/>
              <a:gd name="T10" fmla="*/ 0 60000 65536"/>
              <a:gd name="T11" fmla="*/ 0 60000 65536"/>
              <a:gd name="T12" fmla="*/ 0 w 1072"/>
              <a:gd name="T13" fmla="*/ 0 h 1075"/>
              <a:gd name="T14" fmla="*/ 1072 w 1072"/>
              <a:gd name="T15" fmla="*/ 1075 h 1075"/>
            </a:gdLst>
            <a:ahLst/>
            <a:cxnLst>
              <a:cxn ang="T8">
                <a:pos x="T0" y="T1"/>
              </a:cxn>
              <a:cxn ang="T9">
                <a:pos x="T2" y="T3"/>
              </a:cxn>
              <a:cxn ang="T10">
                <a:pos x="T4" y="T5"/>
              </a:cxn>
              <a:cxn ang="T11">
                <a:pos x="T6" y="T7"/>
              </a:cxn>
            </a:cxnLst>
            <a:rect l="T12" t="T13" r="T14" b="T15"/>
            <a:pathLst>
              <a:path w="1072" h="1075">
                <a:moveTo>
                  <a:pt x="1072" y="1075"/>
                </a:moveTo>
                <a:lnTo>
                  <a:pt x="0" y="1075"/>
                </a:lnTo>
                <a:lnTo>
                  <a:pt x="0" y="0"/>
                </a:lnTo>
                <a:lnTo>
                  <a:pt x="1072" y="1075"/>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63497" name="Freeform 12"/>
          <p:cNvSpPr>
            <a:spLocks/>
          </p:cNvSpPr>
          <p:nvPr/>
        </p:nvSpPr>
        <p:spPr bwMode="auto">
          <a:xfrm>
            <a:off x="5600700" y="3994150"/>
            <a:ext cx="3292475" cy="2332038"/>
          </a:xfrm>
          <a:custGeom>
            <a:avLst/>
            <a:gdLst>
              <a:gd name="T0" fmla="*/ 0 w 1072"/>
              <a:gd name="T1" fmla="*/ 0 h 1075"/>
              <a:gd name="T2" fmla="*/ 2147483647 w 1072"/>
              <a:gd name="T3" fmla="*/ 0 h 1075"/>
              <a:gd name="T4" fmla="*/ 2147483647 w 1072"/>
              <a:gd name="T5" fmla="*/ 2147483647 h 1075"/>
              <a:gd name="T6" fmla="*/ 0 w 1072"/>
              <a:gd name="T7" fmla="*/ 0 h 1075"/>
              <a:gd name="T8" fmla="*/ 0 60000 65536"/>
              <a:gd name="T9" fmla="*/ 0 60000 65536"/>
              <a:gd name="T10" fmla="*/ 0 60000 65536"/>
              <a:gd name="T11" fmla="*/ 0 60000 65536"/>
              <a:gd name="T12" fmla="*/ 0 w 1072"/>
              <a:gd name="T13" fmla="*/ 0 h 1075"/>
              <a:gd name="T14" fmla="*/ 1072 w 1072"/>
              <a:gd name="T15" fmla="*/ 1075 h 1075"/>
            </a:gdLst>
            <a:ahLst/>
            <a:cxnLst>
              <a:cxn ang="T8">
                <a:pos x="T0" y="T1"/>
              </a:cxn>
              <a:cxn ang="T9">
                <a:pos x="T2" y="T3"/>
              </a:cxn>
              <a:cxn ang="T10">
                <a:pos x="T4" y="T5"/>
              </a:cxn>
              <a:cxn ang="T11">
                <a:pos x="T6" y="T7"/>
              </a:cxn>
            </a:cxnLst>
            <a:rect l="T12" t="T13" r="T14" b="T15"/>
            <a:pathLst>
              <a:path w="1072" h="1075">
                <a:moveTo>
                  <a:pt x="0" y="0"/>
                </a:moveTo>
                <a:lnTo>
                  <a:pt x="1072" y="0"/>
                </a:lnTo>
                <a:lnTo>
                  <a:pt x="1072" y="1075"/>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63498" name="Freeform 13"/>
          <p:cNvSpPr>
            <a:spLocks/>
          </p:cNvSpPr>
          <p:nvPr/>
        </p:nvSpPr>
        <p:spPr bwMode="auto">
          <a:xfrm>
            <a:off x="2301875" y="1665288"/>
            <a:ext cx="3298825" cy="2328862"/>
          </a:xfrm>
          <a:custGeom>
            <a:avLst/>
            <a:gdLst>
              <a:gd name="T0" fmla="*/ 2147483647 w 1074"/>
              <a:gd name="T1" fmla="*/ 2147483647 h 1074"/>
              <a:gd name="T2" fmla="*/ 0 w 1074"/>
              <a:gd name="T3" fmla="*/ 2147483647 h 1074"/>
              <a:gd name="T4" fmla="*/ 0 w 1074"/>
              <a:gd name="T5" fmla="*/ 0 h 1074"/>
              <a:gd name="T6" fmla="*/ 2147483647 w 1074"/>
              <a:gd name="T7" fmla="*/ 2147483647 h 1074"/>
              <a:gd name="T8" fmla="*/ 0 60000 65536"/>
              <a:gd name="T9" fmla="*/ 0 60000 65536"/>
              <a:gd name="T10" fmla="*/ 0 60000 65536"/>
              <a:gd name="T11" fmla="*/ 0 60000 65536"/>
              <a:gd name="T12" fmla="*/ 0 w 1074"/>
              <a:gd name="T13" fmla="*/ 0 h 1074"/>
              <a:gd name="T14" fmla="*/ 1074 w 1074"/>
              <a:gd name="T15" fmla="*/ 1074 h 1074"/>
            </a:gdLst>
            <a:ahLst/>
            <a:cxnLst>
              <a:cxn ang="T8">
                <a:pos x="T0" y="T1"/>
              </a:cxn>
              <a:cxn ang="T9">
                <a:pos x="T2" y="T3"/>
              </a:cxn>
              <a:cxn ang="T10">
                <a:pos x="T4" y="T5"/>
              </a:cxn>
              <a:cxn ang="T11">
                <a:pos x="T6" y="T7"/>
              </a:cxn>
            </a:cxnLst>
            <a:rect l="T12" t="T13" r="T14" b="T15"/>
            <a:pathLst>
              <a:path w="1074" h="1074">
                <a:moveTo>
                  <a:pt x="1074" y="1074"/>
                </a:moveTo>
                <a:lnTo>
                  <a:pt x="0" y="1074"/>
                </a:lnTo>
                <a:lnTo>
                  <a:pt x="0" y="0"/>
                </a:lnTo>
                <a:lnTo>
                  <a:pt x="1074" y="1074"/>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63499" name="Freeform 14"/>
          <p:cNvSpPr>
            <a:spLocks/>
          </p:cNvSpPr>
          <p:nvPr/>
        </p:nvSpPr>
        <p:spPr bwMode="auto">
          <a:xfrm>
            <a:off x="2301875" y="1665288"/>
            <a:ext cx="3298825" cy="2328862"/>
          </a:xfrm>
          <a:custGeom>
            <a:avLst/>
            <a:gdLst>
              <a:gd name="T0" fmla="*/ 0 w 1074"/>
              <a:gd name="T1" fmla="*/ 0 h 1074"/>
              <a:gd name="T2" fmla="*/ 2147483647 w 1074"/>
              <a:gd name="T3" fmla="*/ 0 h 1074"/>
              <a:gd name="T4" fmla="*/ 2147483647 w 1074"/>
              <a:gd name="T5" fmla="*/ 2147483647 h 1074"/>
              <a:gd name="T6" fmla="*/ 0 w 1074"/>
              <a:gd name="T7" fmla="*/ 0 h 1074"/>
              <a:gd name="T8" fmla="*/ 0 60000 65536"/>
              <a:gd name="T9" fmla="*/ 0 60000 65536"/>
              <a:gd name="T10" fmla="*/ 0 60000 65536"/>
              <a:gd name="T11" fmla="*/ 0 60000 65536"/>
              <a:gd name="T12" fmla="*/ 0 w 1074"/>
              <a:gd name="T13" fmla="*/ 0 h 1074"/>
              <a:gd name="T14" fmla="*/ 1074 w 1074"/>
              <a:gd name="T15" fmla="*/ 1074 h 1074"/>
            </a:gdLst>
            <a:ahLst/>
            <a:cxnLst>
              <a:cxn ang="T8">
                <a:pos x="T0" y="T1"/>
              </a:cxn>
              <a:cxn ang="T9">
                <a:pos x="T2" y="T3"/>
              </a:cxn>
              <a:cxn ang="T10">
                <a:pos x="T4" y="T5"/>
              </a:cxn>
              <a:cxn ang="T11">
                <a:pos x="T6" y="T7"/>
              </a:cxn>
            </a:cxnLst>
            <a:rect l="T12" t="T13" r="T14" b="T15"/>
            <a:pathLst>
              <a:path w="1074" h="1074">
                <a:moveTo>
                  <a:pt x="0" y="0"/>
                </a:moveTo>
                <a:lnTo>
                  <a:pt x="1074" y="0"/>
                </a:lnTo>
                <a:lnTo>
                  <a:pt x="1074" y="1074"/>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63500" name="Freeform 15"/>
          <p:cNvSpPr>
            <a:spLocks/>
          </p:cNvSpPr>
          <p:nvPr/>
        </p:nvSpPr>
        <p:spPr bwMode="auto">
          <a:xfrm>
            <a:off x="5600700" y="1665288"/>
            <a:ext cx="3292475" cy="2328862"/>
          </a:xfrm>
          <a:custGeom>
            <a:avLst/>
            <a:gdLst>
              <a:gd name="T0" fmla="*/ 2147483647 w 1072"/>
              <a:gd name="T1" fmla="*/ 2147483647 h 1074"/>
              <a:gd name="T2" fmla="*/ 0 w 1072"/>
              <a:gd name="T3" fmla="*/ 2147483647 h 1074"/>
              <a:gd name="T4" fmla="*/ 0 w 1072"/>
              <a:gd name="T5" fmla="*/ 0 h 1074"/>
              <a:gd name="T6" fmla="*/ 2147483647 w 1072"/>
              <a:gd name="T7" fmla="*/ 2147483647 h 1074"/>
              <a:gd name="T8" fmla="*/ 0 60000 65536"/>
              <a:gd name="T9" fmla="*/ 0 60000 65536"/>
              <a:gd name="T10" fmla="*/ 0 60000 65536"/>
              <a:gd name="T11" fmla="*/ 0 60000 65536"/>
              <a:gd name="T12" fmla="*/ 0 w 1072"/>
              <a:gd name="T13" fmla="*/ 0 h 1074"/>
              <a:gd name="T14" fmla="*/ 1072 w 1072"/>
              <a:gd name="T15" fmla="*/ 1074 h 1074"/>
            </a:gdLst>
            <a:ahLst/>
            <a:cxnLst>
              <a:cxn ang="T8">
                <a:pos x="T0" y="T1"/>
              </a:cxn>
              <a:cxn ang="T9">
                <a:pos x="T2" y="T3"/>
              </a:cxn>
              <a:cxn ang="T10">
                <a:pos x="T4" y="T5"/>
              </a:cxn>
              <a:cxn ang="T11">
                <a:pos x="T6" y="T7"/>
              </a:cxn>
            </a:cxnLst>
            <a:rect l="T12" t="T13" r="T14" b="T15"/>
            <a:pathLst>
              <a:path w="1072" h="1074">
                <a:moveTo>
                  <a:pt x="1072" y="1074"/>
                </a:moveTo>
                <a:lnTo>
                  <a:pt x="0" y="1074"/>
                </a:lnTo>
                <a:lnTo>
                  <a:pt x="0" y="0"/>
                </a:lnTo>
                <a:lnTo>
                  <a:pt x="1072" y="1074"/>
                </a:lnTo>
                <a:close/>
              </a:path>
            </a:pathLst>
          </a:custGeom>
          <a:solidFill>
            <a:srgbClr val="FFCD67"/>
          </a:solidFill>
          <a:ln w="9525" cap="flat">
            <a:solidFill>
              <a:srgbClr val="000000"/>
            </a:solidFill>
            <a:prstDash val="solid"/>
            <a:miter lim="800000"/>
            <a:headEnd/>
            <a:tailEnd/>
          </a:ln>
        </p:spPr>
        <p:txBody>
          <a:bodyPr/>
          <a:lstStyle/>
          <a:p>
            <a:endParaRPr lang="en-US"/>
          </a:p>
        </p:txBody>
      </p:sp>
      <p:sp>
        <p:nvSpPr>
          <p:cNvPr id="63501" name="Freeform 16"/>
          <p:cNvSpPr>
            <a:spLocks/>
          </p:cNvSpPr>
          <p:nvPr/>
        </p:nvSpPr>
        <p:spPr bwMode="auto">
          <a:xfrm>
            <a:off x="5600700" y="1665288"/>
            <a:ext cx="3292475" cy="2328862"/>
          </a:xfrm>
          <a:custGeom>
            <a:avLst/>
            <a:gdLst>
              <a:gd name="T0" fmla="*/ 0 w 1072"/>
              <a:gd name="T1" fmla="*/ 0 h 1074"/>
              <a:gd name="T2" fmla="*/ 2147483647 w 1072"/>
              <a:gd name="T3" fmla="*/ 0 h 1074"/>
              <a:gd name="T4" fmla="*/ 2147483647 w 1072"/>
              <a:gd name="T5" fmla="*/ 2147483647 h 1074"/>
              <a:gd name="T6" fmla="*/ 0 w 1072"/>
              <a:gd name="T7" fmla="*/ 0 h 1074"/>
              <a:gd name="T8" fmla="*/ 0 60000 65536"/>
              <a:gd name="T9" fmla="*/ 0 60000 65536"/>
              <a:gd name="T10" fmla="*/ 0 60000 65536"/>
              <a:gd name="T11" fmla="*/ 0 60000 65536"/>
              <a:gd name="T12" fmla="*/ 0 w 1072"/>
              <a:gd name="T13" fmla="*/ 0 h 1074"/>
              <a:gd name="T14" fmla="*/ 1072 w 1072"/>
              <a:gd name="T15" fmla="*/ 1074 h 1074"/>
            </a:gdLst>
            <a:ahLst/>
            <a:cxnLst>
              <a:cxn ang="T8">
                <a:pos x="T0" y="T1"/>
              </a:cxn>
              <a:cxn ang="T9">
                <a:pos x="T2" y="T3"/>
              </a:cxn>
              <a:cxn ang="T10">
                <a:pos x="T4" y="T5"/>
              </a:cxn>
              <a:cxn ang="T11">
                <a:pos x="T6" y="T7"/>
              </a:cxn>
            </a:cxnLst>
            <a:rect l="T12" t="T13" r="T14" b="T15"/>
            <a:pathLst>
              <a:path w="1072" h="1074">
                <a:moveTo>
                  <a:pt x="0" y="0"/>
                </a:moveTo>
                <a:lnTo>
                  <a:pt x="1072" y="0"/>
                </a:lnTo>
                <a:lnTo>
                  <a:pt x="1072" y="1074"/>
                </a:lnTo>
                <a:lnTo>
                  <a:pt x="0" y="0"/>
                </a:lnTo>
                <a:close/>
              </a:path>
            </a:pathLst>
          </a:custGeom>
          <a:solidFill>
            <a:srgbClr val="C7C4E2"/>
          </a:solidFill>
          <a:ln w="9525" cap="flat">
            <a:solidFill>
              <a:srgbClr val="000000"/>
            </a:solidFill>
            <a:prstDash val="solid"/>
            <a:miter lim="800000"/>
            <a:headEnd/>
            <a:tailEnd/>
          </a:ln>
        </p:spPr>
        <p:txBody>
          <a:bodyPr/>
          <a:lstStyle/>
          <a:p>
            <a:endParaRPr lang="en-US"/>
          </a:p>
        </p:txBody>
      </p:sp>
      <p:sp>
        <p:nvSpPr>
          <p:cNvPr id="63502" name="Rectangle 17"/>
          <p:cNvSpPr>
            <a:spLocks noChangeArrowheads="1"/>
          </p:cNvSpPr>
          <p:nvPr/>
        </p:nvSpPr>
        <p:spPr bwMode="auto">
          <a:xfrm rot="-5400000">
            <a:off x="615951" y="3857625"/>
            <a:ext cx="450850" cy="244475"/>
          </a:xfrm>
          <a:prstGeom prst="rect">
            <a:avLst/>
          </a:prstGeom>
          <a:noFill/>
          <a:ln w="9525">
            <a:noFill/>
            <a:miter lim="800000"/>
            <a:headEnd/>
            <a:tailEnd/>
          </a:ln>
        </p:spPr>
        <p:txBody>
          <a:bodyPr wrap="none" lIns="0" tIns="0" rIns="0" bIns="0">
            <a:spAutoFit/>
          </a:bodyPr>
          <a:lstStyle/>
          <a:p>
            <a:pPr marL="1588" indent="-1588"/>
            <a:r>
              <a:rPr lang="en-US" sz="1600">
                <a:solidFill>
                  <a:srgbClr val="000000"/>
                </a:solidFill>
                <a:latin typeface="Myriad Pro"/>
              </a:rPr>
              <a:t>ADM</a:t>
            </a:r>
            <a:endParaRPr lang="en-US" sz="1600">
              <a:latin typeface="Tahoma" pitchFamily="34" charset="0"/>
            </a:endParaRPr>
          </a:p>
        </p:txBody>
      </p:sp>
      <p:sp>
        <p:nvSpPr>
          <p:cNvPr id="63503" name="Rectangle 18"/>
          <p:cNvSpPr>
            <a:spLocks noChangeArrowheads="1"/>
          </p:cNvSpPr>
          <p:nvPr/>
        </p:nvSpPr>
        <p:spPr bwMode="auto">
          <a:xfrm>
            <a:off x="5140325" y="765175"/>
            <a:ext cx="901700" cy="244475"/>
          </a:xfrm>
          <a:prstGeom prst="rect">
            <a:avLst/>
          </a:prstGeom>
          <a:noFill/>
          <a:ln w="9525">
            <a:noFill/>
            <a:miter lim="800000"/>
            <a:headEnd/>
            <a:tailEnd/>
          </a:ln>
        </p:spPr>
        <p:txBody>
          <a:bodyPr wrap="none" lIns="0" tIns="0" rIns="0" bIns="0">
            <a:spAutoFit/>
          </a:bodyPr>
          <a:lstStyle/>
          <a:p>
            <a:pPr marL="1588" indent="-1588" algn="ctr"/>
            <a:r>
              <a:rPr lang="en-US" sz="1600">
                <a:solidFill>
                  <a:srgbClr val="000000"/>
                </a:solidFill>
                <a:latin typeface="Myriad Pro"/>
              </a:rPr>
              <a:t>Ajinomoto</a:t>
            </a:r>
            <a:endParaRPr lang="en-US" sz="1600">
              <a:latin typeface="Tahoma" pitchFamily="34" charset="0"/>
            </a:endParaRPr>
          </a:p>
        </p:txBody>
      </p:sp>
      <p:sp>
        <p:nvSpPr>
          <p:cNvPr id="63504" name="Freeform 19"/>
          <p:cNvSpPr>
            <a:spLocks/>
          </p:cNvSpPr>
          <p:nvPr/>
        </p:nvSpPr>
        <p:spPr bwMode="auto">
          <a:xfrm>
            <a:off x="1052513" y="1665288"/>
            <a:ext cx="214312" cy="4632325"/>
          </a:xfrm>
          <a:custGeom>
            <a:avLst/>
            <a:gdLst>
              <a:gd name="T0" fmla="*/ 2147483647 w 25"/>
              <a:gd name="T1" fmla="*/ 0 h 677"/>
              <a:gd name="T2" fmla="*/ 2147483647 w 25"/>
              <a:gd name="T3" fmla="*/ 2147483647 h 677"/>
              <a:gd name="T4" fmla="*/ 2147483647 w 25"/>
              <a:gd name="T5" fmla="*/ 2147483647 h 677"/>
              <a:gd name="T6" fmla="*/ 0 w 25"/>
              <a:gd name="T7" fmla="*/ 2147483647 h 677"/>
              <a:gd name="T8" fmla="*/ 2147483647 w 25"/>
              <a:gd name="T9" fmla="*/ 2147483647 h 677"/>
              <a:gd name="T10" fmla="*/ 2147483647 w 25"/>
              <a:gd name="T11" fmla="*/ 2147483647 h 677"/>
              <a:gd name="T12" fmla="*/ 2147483647 w 25"/>
              <a:gd name="T13" fmla="*/ 2147483647 h 677"/>
              <a:gd name="T14" fmla="*/ 0 60000 65536"/>
              <a:gd name="T15" fmla="*/ 0 60000 65536"/>
              <a:gd name="T16" fmla="*/ 0 60000 65536"/>
              <a:gd name="T17" fmla="*/ 0 60000 65536"/>
              <a:gd name="T18" fmla="*/ 0 60000 65536"/>
              <a:gd name="T19" fmla="*/ 0 60000 65536"/>
              <a:gd name="T20" fmla="*/ 0 60000 65536"/>
              <a:gd name="T21" fmla="*/ 0 w 25"/>
              <a:gd name="T22" fmla="*/ 0 h 677"/>
              <a:gd name="T23" fmla="*/ 25 w 25"/>
              <a:gd name="T24" fmla="*/ 677 h 6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677">
                <a:moveTo>
                  <a:pt x="25" y="0"/>
                </a:moveTo>
                <a:cubicBezTo>
                  <a:pt x="15" y="0"/>
                  <a:pt x="10" y="3"/>
                  <a:pt x="10" y="16"/>
                </a:cubicBezTo>
                <a:cubicBezTo>
                  <a:pt x="10" y="19"/>
                  <a:pt x="10" y="326"/>
                  <a:pt x="10" y="328"/>
                </a:cubicBezTo>
                <a:cubicBezTo>
                  <a:pt x="10" y="332"/>
                  <a:pt x="8" y="339"/>
                  <a:pt x="0" y="339"/>
                </a:cubicBezTo>
                <a:cubicBezTo>
                  <a:pt x="8" y="339"/>
                  <a:pt x="10" y="346"/>
                  <a:pt x="10" y="349"/>
                </a:cubicBezTo>
                <a:cubicBezTo>
                  <a:pt x="10" y="352"/>
                  <a:pt x="10" y="658"/>
                  <a:pt x="10" y="661"/>
                </a:cubicBezTo>
                <a:cubicBezTo>
                  <a:pt x="10" y="674"/>
                  <a:pt x="15" y="677"/>
                  <a:pt x="25" y="677"/>
                </a:cubicBezTo>
              </a:path>
            </a:pathLst>
          </a:custGeom>
          <a:noFill/>
          <a:ln w="25400" cap="flat">
            <a:solidFill>
              <a:srgbClr val="FFCD67"/>
            </a:solidFill>
            <a:prstDash val="solid"/>
            <a:miter lim="800000"/>
            <a:headEnd/>
            <a:tailEnd/>
          </a:ln>
        </p:spPr>
        <p:txBody>
          <a:bodyPr/>
          <a:lstStyle/>
          <a:p>
            <a:endParaRPr lang="en-US"/>
          </a:p>
        </p:txBody>
      </p:sp>
      <p:sp>
        <p:nvSpPr>
          <p:cNvPr id="63505" name="Freeform 20"/>
          <p:cNvSpPr>
            <a:spLocks/>
          </p:cNvSpPr>
          <p:nvPr/>
        </p:nvSpPr>
        <p:spPr bwMode="auto">
          <a:xfrm>
            <a:off x="2301875" y="1144588"/>
            <a:ext cx="6591300" cy="304800"/>
          </a:xfrm>
          <a:custGeom>
            <a:avLst/>
            <a:gdLst>
              <a:gd name="T0" fmla="*/ 2147483647 w 677"/>
              <a:gd name="T1" fmla="*/ 2147483647 h 25"/>
              <a:gd name="T2" fmla="*/ 2147483647 w 677"/>
              <a:gd name="T3" fmla="*/ 2147483647 h 25"/>
              <a:gd name="T4" fmla="*/ 2147483647 w 677"/>
              <a:gd name="T5" fmla="*/ 2147483647 h 25"/>
              <a:gd name="T6" fmla="*/ 2147483647 w 677"/>
              <a:gd name="T7" fmla="*/ 0 h 25"/>
              <a:gd name="T8" fmla="*/ 2147483647 w 677"/>
              <a:gd name="T9" fmla="*/ 2147483647 h 25"/>
              <a:gd name="T10" fmla="*/ 2147483647 w 677"/>
              <a:gd name="T11" fmla="*/ 2147483647 h 25"/>
              <a:gd name="T12" fmla="*/ 0 w 677"/>
              <a:gd name="T13" fmla="*/ 2147483647 h 25"/>
              <a:gd name="T14" fmla="*/ 0 60000 65536"/>
              <a:gd name="T15" fmla="*/ 0 60000 65536"/>
              <a:gd name="T16" fmla="*/ 0 60000 65536"/>
              <a:gd name="T17" fmla="*/ 0 60000 65536"/>
              <a:gd name="T18" fmla="*/ 0 60000 65536"/>
              <a:gd name="T19" fmla="*/ 0 60000 65536"/>
              <a:gd name="T20" fmla="*/ 0 60000 65536"/>
              <a:gd name="T21" fmla="*/ 0 w 677"/>
              <a:gd name="T22" fmla="*/ 0 h 25"/>
              <a:gd name="T23" fmla="*/ 677 w 67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7" h="25">
                <a:moveTo>
                  <a:pt x="677" y="25"/>
                </a:moveTo>
                <a:cubicBezTo>
                  <a:pt x="677" y="15"/>
                  <a:pt x="674" y="10"/>
                  <a:pt x="661" y="10"/>
                </a:cubicBezTo>
                <a:cubicBezTo>
                  <a:pt x="658" y="10"/>
                  <a:pt x="351" y="10"/>
                  <a:pt x="349" y="10"/>
                </a:cubicBezTo>
                <a:cubicBezTo>
                  <a:pt x="346" y="10"/>
                  <a:pt x="338" y="8"/>
                  <a:pt x="338" y="0"/>
                </a:cubicBezTo>
                <a:cubicBezTo>
                  <a:pt x="338" y="8"/>
                  <a:pt x="331" y="10"/>
                  <a:pt x="328" y="10"/>
                </a:cubicBezTo>
                <a:cubicBezTo>
                  <a:pt x="326" y="10"/>
                  <a:pt x="19" y="10"/>
                  <a:pt x="16" y="10"/>
                </a:cubicBezTo>
                <a:cubicBezTo>
                  <a:pt x="3" y="10"/>
                  <a:pt x="0" y="15"/>
                  <a:pt x="0" y="25"/>
                </a:cubicBezTo>
              </a:path>
            </a:pathLst>
          </a:custGeom>
          <a:noFill/>
          <a:ln w="25400" cap="flat">
            <a:solidFill>
              <a:srgbClr val="C7C4E2"/>
            </a:solidFill>
            <a:prstDash val="solid"/>
            <a:miter lim="800000"/>
            <a:headEnd/>
            <a:tailEnd/>
          </a:ln>
        </p:spPr>
        <p:txBody>
          <a:bodyPr/>
          <a:lstStyle/>
          <a:p>
            <a:endParaRPr lang="en-US"/>
          </a:p>
        </p:txBody>
      </p:sp>
      <p:sp>
        <p:nvSpPr>
          <p:cNvPr id="205845" name="Rectangle 21"/>
          <p:cNvSpPr>
            <a:spLocks noChangeArrowheads="1"/>
          </p:cNvSpPr>
          <p:nvPr/>
        </p:nvSpPr>
        <p:spPr bwMode="auto">
          <a:xfrm>
            <a:off x="2401888" y="3249613"/>
            <a:ext cx="1949450" cy="733425"/>
          </a:xfrm>
          <a:prstGeom prst="rect">
            <a:avLst/>
          </a:prstGeom>
          <a:noFill/>
          <a:ln w="9525">
            <a:noFill/>
            <a:miter lim="800000"/>
            <a:headEnd/>
            <a:tailEnd/>
          </a:ln>
        </p:spPr>
        <p:txBody>
          <a:bodyPr lIns="0" tIns="0" rIns="0" bIns="0">
            <a:spAutoFit/>
          </a:bodyPr>
          <a:lstStyle/>
          <a:p>
            <a:pPr marL="1588" indent="-1588"/>
            <a:r>
              <a:rPr lang="en-US" sz="1600">
                <a:solidFill>
                  <a:srgbClr val="000000"/>
                </a:solidFill>
                <a:latin typeface="Myriad Pro"/>
              </a:rPr>
              <a:t>ADM makes $180 million profit each year.</a:t>
            </a:r>
            <a:endParaRPr lang="en-US" sz="1600">
              <a:latin typeface="Tahoma" pitchFamily="34" charset="0"/>
            </a:endParaRPr>
          </a:p>
        </p:txBody>
      </p:sp>
      <p:sp>
        <p:nvSpPr>
          <p:cNvPr id="205846" name="Rectangle 22"/>
          <p:cNvSpPr>
            <a:spLocks noChangeArrowheads="1"/>
          </p:cNvSpPr>
          <p:nvPr/>
        </p:nvSpPr>
        <p:spPr bwMode="auto">
          <a:xfrm>
            <a:off x="2863850" y="1819275"/>
            <a:ext cx="2654300" cy="488950"/>
          </a:xfrm>
          <a:prstGeom prst="rect">
            <a:avLst/>
          </a:prstGeom>
          <a:noFill/>
          <a:ln w="9525">
            <a:noFill/>
            <a:miter lim="800000"/>
            <a:headEnd/>
            <a:tailEnd/>
          </a:ln>
        </p:spPr>
        <p:txBody>
          <a:bodyPr lIns="0" tIns="0" rIns="0" bIns="0">
            <a:spAutoFit/>
          </a:bodyPr>
          <a:lstStyle/>
          <a:p>
            <a:pPr marL="1588" indent="-1588" algn="r"/>
            <a:r>
              <a:rPr lang="en-US" sz="1600">
                <a:solidFill>
                  <a:srgbClr val="000000"/>
                </a:solidFill>
                <a:latin typeface="Myriad Pro"/>
              </a:rPr>
              <a:t>Ajinomoto makes $180 million profit each year.</a:t>
            </a:r>
            <a:endParaRPr lang="en-US" sz="1600">
              <a:latin typeface="Tahoma" pitchFamily="34" charset="0"/>
            </a:endParaRPr>
          </a:p>
        </p:txBody>
      </p:sp>
      <p:sp>
        <p:nvSpPr>
          <p:cNvPr id="205847" name="Rectangle 23"/>
          <p:cNvSpPr>
            <a:spLocks noChangeArrowheads="1"/>
          </p:cNvSpPr>
          <p:nvPr/>
        </p:nvSpPr>
        <p:spPr bwMode="auto">
          <a:xfrm>
            <a:off x="6697663" y="1766888"/>
            <a:ext cx="2063750" cy="977900"/>
          </a:xfrm>
          <a:prstGeom prst="rect">
            <a:avLst/>
          </a:prstGeom>
          <a:noFill/>
          <a:ln w="9525">
            <a:noFill/>
            <a:miter lim="800000"/>
            <a:headEnd/>
            <a:tailEnd/>
          </a:ln>
        </p:spPr>
        <p:txBody>
          <a:bodyPr lIns="0" tIns="0" rIns="0" bIns="0">
            <a:spAutoFit/>
          </a:bodyPr>
          <a:lstStyle/>
          <a:p>
            <a:pPr marL="1588" indent="-1588" algn="r"/>
            <a:r>
              <a:rPr lang="en-US" sz="1600">
                <a:solidFill>
                  <a:srgbClr val="000000"/>
                </a:solidFill>
                <a:latin typeface="Myriad Pro"/>
              </a:rPr>
              <a:t>Ajinomoto makes $200 million profit 1</a:t>
            </a:r>
            <a:r>
              <a:rPr lang="en-US" sz="1600" baseline="30000">
                <a:solidFill>
                  <a:srgbClr val="000000"/>
                </a:solidFill>
                <a:latin typeface="Myriad Pro"/>
              </a:rPr>
              <a:t>st</a:t>
            </a:r>
            <a:r>
              <a:rPr lang="en-US" sz="1600">
                <a:solidFill>
                  <a:srgbClr val="000000"/>
                </a:solidFill>
                <a:latin typeface="Myriad Pro"/>
              </a:rPr>
              <a:t> year, $160 profit each later year.</a:t>
            </a:r>
            <a:endParaRPr lang="en-US" sz="1600">
              <a:latin typeface="Tahoma" pitchFamily="34" charset="0"/>
            </a:endParaRPr>
          </a:p>
        </p:txBody>
      </p:sp>
      <p:sp>
        <p:nvSpPr>
          <p:cNvPr id="205848" name="Rectangle 24"/>
          <p:cNvSpPr>
            <a:spLocks noChangeArrowheads="1"/>
          </p:cNvSpPr>
          <p:nvPr/>
        </p:nvSpPr>
        <p:spPr bwMode="auto">
          <a:xfrm>
            <a:off x="3203575" y="4041775"/>
            <a:ext cx="2339975" cy="977900"/>
          </a:xfrm>
          <a:prstGeom prst="rect">
            <a:avLst/>
          </a:prstGeom>
          <a:noFill/>
          <a:ln w="9525">
            <a:noFill/>
            <a:miter lim="800000"/>
            <a:headEnd/>
            <a:tailEnd/>
          </a:ln>
        </p:spPr>
        <p:txBody>
          <a:bodyPr lIns="0" tIns="0" rIns="0" bIns="0">
            <a:spAutoFit/>
          </a:bodyPr>
          <a:lstStyle/>
          <a:p>
            <a:pPr marL="1588" indent="-1588" algn="r"/>
            <a:r>
              <a:rPr lang="en-US" sz="1600">
                <a:solidFill>
                  <a:srgbClr val="000000"/>
                </a:solidFill>
                <a:latin typeface="Myriad Pro"/>
              </a:rPr>
              <a:t>Ajinomoto makes $150 million profit 1</a:t>
            </a:r>
            <a:r>
              <a:rPr lang="en-US" sz="1600" baseline="30000">
                <a:solidFill>
                  <a:srgbClr val="000000"/>
                </a:solidFill>
                <a:latin typeface="Myriad Pro"/>
              </a:rPr>
              <a:t>st</a:t>
            </a:r>
            <a:r>
              <a:rPr lang="en-US" sz="1600">
                <a:solidFill>
                  <a:srgbClr val="000000"/>
                </a:solidFill>
                <a:latin typeface="Myriad Pro"/>
              </a:rPr>
              <a:t> year, $160 million profit each later year.</a:t>
            </a:r>
            <a:endParaRPr lang="en-US" sz="1600">
              <a:latin typeface="Tahoma" pitchFamily="34" charset="0"/>
            </a:endParaRPr>
          </a:p>
        </p:txBody>
      </p:sp>
      <p:sp>
        <p:nvSpPr>
          <p:cNvPr id="205849" name="Rectangle 25"/>
          <p:cNvSpPr>
            <a:spLocks noChangeArrowheads="1"/>
          </p:cNvSpPr>
          <p:nvPr/>
        </p:nvSpPr>
        <p:spPr bwMode="auto">
          <a:xfrm>
            <a:off x="6107113" y="4110038"/>
            <a:ext cx="2654300" cy="488950"/>
          </a:xfrm>
          <a:prstGeom prst="rect">
            <a:avLst/>
          </a:prstGeom>
          <a:noFill/>
          <a:ln w="9525">
            <a:noFill/>
            <a:miter lim="800000"/>
            <a:headEnd/>
            <a:tailEnd/>
          </a:ln>
        </p:spPr>
        <p:txBody>
          <a:bodyPr lIns="0" tIns="0" rIns="0" bIns="0">
            <a:spAutoFit/>
          </a:bodyPr>
          <a:lstStyle/>
          <a:p>
            <a:pPr marL="1588" indent="-1588" algn="r"/>
            <a:r>
              <a:rPr lang="en-US" sz="1600">
                <a:solidFill>
                  <a:srgbClr val="000000"/>
                </a:solidFill>
                <a:latin typeface="Myriad Pro"/>
              </a:rPr>
              <a:t>Ajinomoto makes $160 million profit each year.</a:t>
            </a:r>
            <a:endParaRPr lang="en-US" sz="1600">
              <a:latin typeface="Tahoma" pitchFamily="34" charset="0"/>
            </a:endParaRPr>
          </a:p>
        </p:txBody>
      </p:sp>
      <p:sp>
        <p:nvSpPr>
          <p:cNvPr id="205850" name="Rectangle 26"/>
          <p:cNvSpPr>
            <a:spLocks noChangeArrowheads="1"/>
          </p:cNvSpPr>
          <p:nvPr/>
        </p:nvSpPr>
        <p:spPr bwMode="auto">
          <a:xfrm>
            <a:off x="5732463" y="2997200"/>
            <a:ext cx="1951037" cy="977900"/>
          </a:xfrm>
          <a:prstGeom prst="rect">
            <a:avLst/>
          </a:prstGeom>
          <a:noFill/>
          <a:ln w="9525">
            <a:noFill/>
            <a:miter lim="800000"/>
            <a:headEnd/>
            <a:tailEnd/>
          </a:ln>
        </p:spPr>
        <p:txBody>
          <a:bodyPr lIns="0" tIns="0" rIns="0" bIns="0">
            <a:spAutoFit/>
          </a:bodyPr>
          <a:lstStyle/>
          <a:p>
            <a:pPr marL="1588" indent="-1588"/>
            <a:r>
              <a:rPr lang="en-US" sz="1600">
                <a:solidFill>
                  <a:srgbClr val="000000"/>
                </a:solidFill>
                <a:latin typeface="Myriad Pro"/>
              </a:rPr>
              <a:t>ADM makes $150 million profit 1</a:t>
            </a:r>
            <a:r>
              <a:rPr lang="en-US" sz="1600" baseline="30000">
                <a:solidFill>
                  <a:srgbClr val="000000"/>
                </a:solidFill>
                <a:latin typeface="Myriad Pro"/>
              </a:rPr>
              <a:t>st</a:t>
            </a:r>
            <a:r>
              <a:rPr lang="en-US" sz="1600">
                <a:solidFill>
                  <a:srgbClr val="000000"/>
                </a:solidFill>
                <a:latin typeface="Myriad Pro"/>
              </a:rPr>
              <a:t> year, $160 million profit each later year.</a:t>
            </a:r>
            <a:endParaRPr lang="en-US" sz="1600">
              <a:latin typeface="Tahoma" pitchFamily="34" charset="0"/>
            </a:endParaRPr>
          </a:p>
        </p:txBody>
      </p:sp>
      <p:sp>
        <p:nvSpPr>
          <p:cNvPr id="205851" name="Rectangle 27"/>
          <p:cNvSpPr>
            <a:spLocks noChangeArrowheads="1"/>
          </p:cNvSpPr>
          <p:nvPr/>
        </p:nvSpPr>
        <p:spPr bwMode="auto">
          <a:xfrm>
            <a:off x="2381250" y="5337175"/>
            <a:ext cx="2119313" cy="977900"/>
          </a:xfrm>
          <a:prstGeom prst="rect">
            <a:avLst/>
          </a:prstGeom>
          <a:noFill/>
          <a:ln w="9525">
            <a:noFill/>
            <a:miter lim="800000"/>
            <a:headEnd/>
            <a:tailEnd/>
          </a:ln>
        </p:spPr>
        <p:txBody>
          <a:bodyPr lIns="0" tIns="0" rIns="0" bIns="0">
            <a:spAutoFit/>
          </a:bodyPr>
          <a:lstStyle/>
          <a:p>
            <a:pPr marL="1588" indent="-1588"/>
            <a:r>
              <a:rPr lang="en-US" sz="1600">
                <a:solidFill>
                  <a:srgbClr val="000000"/>
                </a:solidFill>
                <a:latin typeface="Myriad Pro"/>
              </a:rPr>
              <a:t>ADM makes $200 million profit 1</a:t>
            </a:r>
            <a:r>
              <a:rPr lang="en-US" sz="1600" baseline="30000">
                <a:solidFill>
                  <a:srgbClr val="000000"/>
                </a:solidFill>
                <a:latin typeface="Myriad Pro"/>
              </a:rPr>
              <a:t>st</a:t>
            </a:r>
            <a:r>
              <a:rPr lang="en-US" sz="1600">
                <a:solidFill>
                  <a:srgbClr val="000000"/>
                </a:solidFill>
                <a:latin typeface="Myriad Pro"/>
              </a:rPr>
              <a:t> year, $160 million profit each later year.</a:t>
            </a:r>
            <a:endParaRPr lang="en-US" sz="1600">
              <a:latin typeface="Tahoma" pitchFamily="34" charset="0"/>
            </a:endParaRPr>
          </a:p>
        </p:txBody>
      </p:sp>
      <p:sp>
        <p:nvSpPr>
          <p:cNvPr id="205852" name="Rectangle 28"/>
          <p:cNvSpPr>
            <a:spLocks noChangeArrowheads="1"/>
          </p:cNvSpPr>
          <p:nvPr/>
        </p:nvSpPr>
        <p:spPr bwMode="auto">
          <a:xfrm>
            <a:off x="5734050" y="5589588"/>
            <a:ext cx="1951038" cy="733425"/>
          </a:xfrm>
          <a:prstGeom prst="rect">
            <a:avLst/>
          </a:prstGeom>
          <a:noFill/>
          <a:ln w="9525">
            <a:noFill/>
            <a:miter lim="800000"/>
            <a:headEnd/>
            <a:tailEnd/>
          </a:ln>
        </p:spPr>
        <p:txBody>
          <a:bodyPr lIns="0" tIns="0" rIns="0" bIns="0">
            <a:spAutoFit/>
          </a:bodyPr>
          <a:lstStyle/>
          <a:p>
            <a:pPr marL="1588" indent="-1588"/>
            <a:r>
              <a:rPr lang="en-US" sz="1600">
                <a:solidFill>
                  <a:srgbClr val="000000"/>
                </a:solidFill>
                <a:latin typeface="Myriad Pro"/>
              </a:rPr>
              <a:t>ADM makes $160 million profit each year.</a:t>
            </a:r>
            <a:endParaRPr lang="en-US" sz="1600">
              <a:latin typeface="Tahoma" pitchFamily="34" charset="0"/>
            </a:endParaRPr>
          </a:p>
        </p:txBody>
      </p:sp>
      <p:sp>
        <p:nvSpPr>
          <p:cNvPr id="56347" name="Rectangle 27"/>
          <p:cNvSpPr>
            <a:spLocks noChangeArrowheads="1"/>
          </p:cNvSpPr>
          <p:nvPr/>
        </p:nvSpPr>
        <p:spPr bwMode="auto">
          <a:xfrm>
            <a:off x="2305050" y="1665288"/>
            <a:ext cx="3311525" cy="2339975"/>
          </a:xfrm>
          <a:prstGeom prst="rect">
            <a:avLst/>
          </a:prstGeom>
          <a:noFill/>
          <a:ln w="31750">
            <a:solidFill>
              <a:srgbClr val="339966"/>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5845"/>
                                        </p:tgtEl>
                                        <p:attrNameLst>
                                          <p:attrName>style.visibility</p:attrName>
                                        </p:attrNameLst>
                                      </p:cBhvr>
                                      <p:to>
                                        <p:strVal val="visible"/>
                                      </p:to>
                                    </p:set>
                                    <p:animEffect transition="in" filter="wipe(up)">
                                      <p:cBhvr>
                                        <p:cTn id="7" dur="500"/>
                                        <p:tgtEl>
                                          <p:spTgt spid="20584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05850"/>
                                        </p:tgtEl>
                                        <p:attrNameLst>
                                          <p:attrName>style.visibility</p:attrName>
                                        </p:attrNameLst>
                                      </p:cBhvr>
                                      <p:to>
                                        <p:strVal val="visible"/>
                                      </p:to>
                                    </p:set>
                                    <p:animEffect transition="in" filter="wipe(up)">
                                      <p:cBhvr>
                                        <p:cTn id="10" dur="500"/>
                                        <p:tgtEl>
                                          <p:spTgt spid="205850"/>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05851"/>
                                        </p:tgtEl>
                                        <p:attrNameLst>
                                          <p:attrName>style.visibility</p:attrName>
                                        </p:attrNameLst>
                                      </p:cBhvr>
                                      <p:to>
                                        <p:strVal val="visible"/>
                                      </p:to>
                                    </p:set>
                                    <p:animEffect transition="in" filter="wipe(up)">
                                      <p:cBhvr>
                                        <p:cTn id="13" dur="500"/>
                                        <p:tgtEl>
                                          <p:spTgt spid="205851"/>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05852"/>
                                        </p:tgtEl>
                                        <p:attrNameLst>
                                          <p:attrName>style.visibility</p:attrName>
                                        </p:attrNameLst>
                                      </p:cBhvr>
                                      <p:to>
                                        <p:strVal val="visible"/>
                                      </p:to>
                                    </p:set>
                                    <p:animEffect transition="in" filter="wipe(up)">
                                      <p:cBhvr>
                                        <p:cTn id="16" dur="500"/>
                                        <p:tgtEl>
                                          <p:spTgt spid="20585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05846"/>
                                        </p:tgtEl>
                                        <p:attrNameLst>
                                          <p:attrName>style.visibility</p:attrName>
                                        </p:attrNameLst>
                                      </p:cBhvr>
                                      <p:to>
                                        <p:strVal val="visible"/>
                                      </p:to>
                                    </p:set>
                                    <p:animEffect transition="in" filter="wipe(up)">
                                      <p:cBhvr>
                                        <p:cTn id="21" dur="500"/>
                                        <p:tgtEl>
                                          <p:spTgt spid="205846"/>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205847"/>
                                        </p:tgtEl>
                                        <p:attrNameLst>
                                          <p:attrName>style.visibility</p:attrName>
                                        </p:attrNameLst>
                                      </p:cBhvr>
                                      <p:to>
                                        <p:strVal val="visible"/>
                                      </p:to>
                                    </p:set>
                                    <p:animEffect transition="in" filter="wipe(up)">
                                      <p:cBhvr>
                                        <p:cTn id="24" dur="500"/>
                                        <p:tgtEl>
                                          <p:spTgt spid="205847"/>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05848"/>
                                        </p:tgtEl>
                                        <p:attrNameLst>
                                          <p:attrName>style.visibility</p:attrName>
                                        </p:attrNameLst>
                                      </p:cBhvr>
                                      <p:to>
                                        <p:strVal val="visible"/>
                                      </p:to>
                                    </p:set>
                                    <p:animEffect transition="in" filter="wipe(up)">
                                      <p:cBhvr>
                                        <p:cTn id="27" dur="500"/>
                                        <p:tgtEl>
                                          <p:spTgt spid="20584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05849"/>
                                        </p:tgtEl>
                                        <p:attrNameLst>
                                          <p:attrName>style.visibility</p:attrName>
                                        </p:attrNameLst>
                                      </p:cBhvr>
                                      <p:to>
                                        <p:strVal val="visible"/>
                                      </p:to>
                                    </p:set>
                                    <p:animEffect transition="in" filter="wipe(up)">
                                      <p:cBhvr>
                                        <p:cTn id="30" dur="500"/>
                                        <p:tgtEl>
                                          <p:spTgt spid="20584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6347"/>
                                        </p:tgtEl>
                                        <p:attrNameLst>
                                          <p:attrName>style.visibility</p:attrName>
                                        </p:attrNameLst>
                                      </p:cBhvr>
                                      <p:to>
                                        <p:strVal val="visible"/>
                                      </p:to>
                                    </p:set>
                                    <p:animEffect transition="in" filter="dissolve">
                                      <p:cBhvr>
                                        <p:cTn id="35" dur="500"/>
                                        <p:tgtEl>
                                          <p:spTgt spid="56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45" grpId="0"/>
      <p:bldP spid="205846" grpId="0"/>
      <p:bldP spid="205847" grpId="0"/>
      <p:bldP spid="205848" grpId="0"/>
      <p:bldP spid="205849" grpId="0"/>
      <p:bldP spid="205850" grpId="0"/>
      <p:bldP spid="205851" grpId="0"/>
      <p:bldP spid="205852" grpId="0"/>
      <p:bldP spid="5634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idx="4294967295"/>
          </p:nvPr>
        </p:nvSpPr>
        <p:spPr>
          <a:xfrm>
            <a:off x="912813" y="115888"/>
            <a:ext cx="8088312" cy="381000"/>
          </a:xfrm>
        </p:spPr>
        <p:txBody>
          <a:bodyPr/>
          <a:lstStyle/>
          <a:p>
            <a:pPr>
              <a:defRPr/>
            </a:pPr>
            <a:r>
              <a:rPr lang="en-US" dirty="0" smtClean="0"/>
              <a:t>Oligopoly in Practice</a:t>
            </a:r>
            <a:endParaRPr lang="en-US" b="0" dirty="0" smtClean="0"/>
          </a:p>
        </p:txBody>
      </p:sp>
      <p:sp>
        <p:nvSpPr>
          <p:cNvPr id="65538" name="Text Box 3"/>
          <p:cNvSpPr txBox="1">
            <a:spLocks noChangeArrowheads="1"/>
          </p:cNvSpPr>
          <p:nvPr/>
        </p:nvSpPr>
        <p:spPr bwMode="auto">
          <a:xfrm>
            <a:off x="827088" y="914400"/>
            <a:ext cx="8101012" cy="5791200"/>
          </a:xfrm>
          <a:prstGeom prst="rect">
            <a:avLst/>
          </a:prstGeom>
          <a:noFill/>
          <a:ln w="9525" algn="ctr">
            <a:noFill/>
            <a:miter lim="800000"/>
            <a:headEnd/>
            <a:tailEnd type="none" w="med" len="lg"/>
          </a:ln>
        </p:spPr>
        <p:txBody>
          <a:bodyPr/>
          <a:lstStyle/>
          <a:p>
            <a:pPr marL="231775" indent="-231775">
              <a:buClr>
                <a:schemeClr val="tx1"/>
              </a:buClr>
              <a:buFont typeface="Arial" charset="0"/>
              <a:buChar char="•"/>
            </a:pPr>
            <a:r>
              <a:rPr lang="en-US" sz="2400"/>
              <a:t>Oligopolies operate under legal restrictions that make it illegal to collude on price or quantities or agree not to compete. </a:t>
            </a:r>
          </a:p>
          <a:p>
            <a:pPr marL="688975" lvl="1" indent="-231775">
              <a:buClr>
                <a:schemeClr val="tx1"/>
              </a:buClr>
              <a:buFont typeface="Arial" charset="0"/>
              <a:buChar char="•"/>
            </a:pPr>
            <a:r>
              <a:rPr lang="en-US" sz="2300"/>
              <a:t>They are laws against </a:t>
            </a:r>
            <a:r>
              <a:rPr lang="en-US" sz="2300" i="1"/>
              <a:t>unfair competition, anti-competitive behavior</a:t>
            </a:r>
            <a:r>
              <a:rPr lang="en-US" sz="2300"/>
              <a:t> or in the US are called </a:t>
            </a:r>
            <a:r>
              <a:rPr lang="en-US" sz="2300" i="1"/>
              <a:t>antitrust law.</a:t>
            </a:r>
          </a:p>
          <a:p>
            <a:pPr marL="688975" lvl="1" indent="-231775">
              <a:buClr>
                <a:schemeClr val="tx1"/>
              </a:buClr>
              <a:buFont typeface="Arial" charset="0"/>
              <a:buChar char="•"/>
            </a:pPr>
            <a:r>
              <a:rPr lang="en-US" sz="2300" b="1"/>
              <a:t>Antitrust policies</a:t>
            </a:r>
            <a:r>
              <a:rPr lang="en-US" sz="2300"/>
              <a:t> are government efforts to prevent oligopolistic firms from behaving like monopolies</a:t>
            </a:r>
            <a:r>
              <a:rPr lang="en-US" sz="2300" i="1"/>
              <a:t>.</a:t>
            </a:r>
          </a:p>
          <a:p>
            <a:pPr marL="231775" indent="-231775">
              <a:buClr>
                <a:schemeClr val="tx1"/>
              </a:buClr>
              <a:buFont typeface="Arial" charset="0"/>
              <a:buChar char="•"/>
            </a:pPr>
            <a:endParaRPr lang="en-US"/>
          </a:p>
          <a:p>
            <a:pPr marL="231775" indent="-231775">
              <a:buClr>
                <a:schemeClr val="tx1"/>
              </a:buClr>
              <a:buFont typeface="Arial" charset="0"/>
              <a:buChar char="•"/>
            </a:pPr>
            <a:r>
              <a:rPr lang="en-US" sz="2400"/>
              <a:t>Firms may still succeed in </a:t>
            </a:r>
            <a:r>
              <a:rPr lang="en-US" sz="2400" i="1"/>
              <a:t>tacit collusion.</a:t>
            </a:r>
          </a:p>
          <a:p>
            <a:pPr marL="688975" lvl="1" indent="-231775">
              <a:buClr>
                <a:schemeClr val="tx1"/>
              </a:buClr>
              <a:buFont typeface="Arial" charset="0"/>
              <a:buChar char="•"/>
            </a:pPr>
            <a:r>
              <a:rPr lang="en-US" sz="2300"/>
              <a:t>Collusion without a face-to-face or formal agreement. </a:t>
            </a:r>
          </a:p>
          <a:p>
            <a:pPr marL="231775" indent="-231775">
              <a:buClr>
                <a:schemeClr val="tx1"/>
              </a:buClr>
              <a:buFont typeface="Arial" charset="0"/>
              <a:buChar char="•"/>
            </a:pPr>
            <a:endParaRPr lang="en-US"/>
          </a:p>
          <a:p>
            <a:pPr marL="231775" indent="-231775">
              <a:buClr>
                <a:schemeClr val="tx1"/>
              </a:buClr>
              <a:buFont typeface="Arial" charset="0"/>
              <a:buChar char="•"/>
            </a:pPr>
            <a:r>
              <a:rPr lang="en-US" sz="2400"/>
              <a:t>Tacit collusion is limited by a number of factors, including:</a:t>
            </a:r>
          </a:p>
          <a:p>
            <a:pPr marL="688975" lvl="1" indent="-231775">
              <a:buClr>
                <a:schemeClr val="tx1"/>
              </a:buClr>
              <a:buFont typeface="Wingdings" pitchFamily="2" charset="2"/>
              <a:buChar char="§"/>
            </a:pPr>
            <a:r>
              <a:rPr lang="en-US" sz="2300"/>
              <a:t>Large numbers of firms</a:t>
            </a:r>
          </a:p>
          <a:p>
            <a:pPr marL="688975" lvl="1" indent="-231775">
              <a:buClr>
                <a:schemeClr val="tx1"/>
              </a:buClr>
              <a:buFont typeface="Wingdings" pitchFamily="2" charset="2"/>
              <a:buChar char="§"/>
            </a:pPr>
            <a:r>
              <a:rPr lang="en-US" sz="2300"/>
              <a:t>Complex products and pricing scheme</a:t>
            </a:r>
          </a:p>
          <a:p>
            <a:pPr marL="688975" lvl="1" indent="-231775">
              <a:buClr>
                <a:schemeClr val="tx1"/>
              </a:buClr>
              <a:buFont typeface="Wingdings" pitchFamily="2" charset="2"/>
              <a:buChar char="§"/>
            </a:pPr>
            <a:r>
              <a:rPr lang="en-US" sz="2300"/>
              <a:t>Bargaining power of buyers</a:t>
            </a:r>
          </a:p>
          <a:p>
            <a:pPr marL="688975" lvl="1" indent="-231775">
              <a:buClr>
                <a:schemeClr val="tx1"/>
              </a:buClr>
              <a:buFont typeface="Wingdings" pitchFamily="2" charset="2"/>
              <a:buChar char="§"/>
            </a:pPr>
            <a:r>
              <a:rPr lang="en-US" sz="2300"/>
              <a:t>Conflicts of interest among firms</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idx="4294967295"/>
          </p:nvPr>
        </p:nvSpPr>
        <p:spPr>
          <a:xfrm>
            <a:off x="971550" y="76200"/>
            <a:ext cx="7943850" cy="609600"/>
          </a:xfrm>
        </p:spPr>
        <p:txBody>
          <a:bodyPr/>
          <a:lstStyle/>
          <a:p>
            <a:pPr>
              <a:defRPr/>
            </a:pPr>
            <a:r>
              <a:rPr lang="en-US" sz="3100" dirty="0" smtClean="0"/>
              <a:t>Product Differentiation and Price Leadership</a:t>
            </a:r>
            <a:endParaRPr lang="en-US" sz="3100" b="0" dirty="0" smtClean="0"/>
          </a:p>
        </p:txBody>
      </p:sp>
      <p:sp>
        <p:nvSpPr>
          <p:cNvPr id="67586" name="Text Box 3"/>
          <p:cNvSpPr txBox="1">
            <a:spLocks noChangeArrowheads="1"/>
          </p:cNvSpPr>
          <p:nvPr/>
        </p:nvSpPr>
        <p:spPr bwMode="auto">
          <a:xfrm>
            <a:off x="971550" y="976313"/>
            <a:ext cx="7943850" cy="2282825"/>
          </a:xfrm>
          <a:prstGeom prst="rect">
            <a:avLst/>
          </a:prstGeom>
          <a:noFill/>
          <a:ln w="9525" algn="ctr">
            <a:noFill/>
            <a:miter lim="800000"/>
            <a:headEnd/>
            <a:tailEnd type="none" w="med" len="lg"/>
          </a:ln>
        </p:spPr>
        <p:txBody>
          <a:bodyPr>
            <a:spAutoFit/>
          </a:bodyPr>
          <a:lstStyle/>
          <a:p>
            <a:pPr marL="231775" indent="-231775">
              <a:buClr>
                <a:schemeClr val="tx1"/>
              </a:buClr>
              <a:buFont typeface="Wingdings" pitchFamily="2" charset="2"/>
              <a:buChar char="§"/>
            </a:pPr>
            <a:r>
              <a:rPr lang="en-US" sz="2400"/>
              <a:t>In </a:t>
            </a:r>
            <a:r>
              <a:rPr lang="en-US" sz="2400" b="1"/>
              <a:t>price leadership</a:t>
            </a:r>
            <a:r>
              <a:rPr lang="en-US" sz="2400"/>
              <a:t>, one firm sets its price first, and other firms then follow.</a:t>
            </a:r>
            <a:br>
              <a:rPr lang="en-US" sz="2400"/>
            </a:br>
            <a:endParaRPr lang="en-US" sz="2400"/>
          </a:p>
          <a:p>
            <a:pPr marL="231775" indent="-231775">
              <a:buClr>
                <a:schemeClr val="tx1"/>
              </a:buClr>
              <a:buFont typeface="Wingdings" pitchFamily="2" charset="2"/>
              <a:buChar char="§"/>
            </a:pPr>
            <a:r>
              <a:rPr lang="en-US" sz="2400"/>
              <a:t>Firms that have a tacit understanding not to compete on price often engage in intense </a:t>
            </a:r>
            <a:r>
              <a:rPr lang="en-US" sz="2400" b="1"/>
              <a:t>non-price competition</a:t>
            </a:r>
            <a:r>
              <a:rPr lang="en-US" sz="2400"/>
              <a:t>, using advertising and other means to try to increase their sales.</a:t>
            </a:r>
          </a:p>
        </p:txBody>
      </p:sp>
      <p:pic>
        <p:nvPicPr>
          <p:cNvPr id="67587" name="Picture 4"/>
          <p:cNvPicPr>
            <a:picLocks noChangeAspect="1" noChangeArrowheads="1"/>
          </p:cNvPicPr>
          <p:nvPr/>
        </p:nvPicPr>
        <p:blipFill>
          <a:blip r:embed="rId3"/>
          <a:srcRect/>
          <a:stretch>
            <a:fillRect/>
          </a:stretch>
        </p:blipFill>
        <p:spPr bwMode="auto">
          <a:xfrm>
            <a:off x="3365500" y="5229225"/>
            <a:ext cx="2286000" cy="1425575"/>
          </a:xfrm>
          <a:prstGeom prst="rect">
            <a:avLst/>
          </a:prstGeom>
          <a:noFill/>
          <a:ln w="9525">
            <a:noFill/>
            <a:miter lim="800000"/>
            <a:headEnd/>
            <a:tailEnd/>
          </a:ln>
        </p:spPr>
      </p:pic>
      <p:pic>
        <p:nvPicPr>
          <p:cNvPr id="67588" name="Picture 5"/>
          <p:cNvPicPr>
            <a:picLocks noChangeAspect="1" noChangeArrowheads="1"/>
          </p:cNvPicPr>
          <p:nvPr/>
        </p:nvPicPr>
        <p:blipFill>
          <a:blip r:embed="rId4"/>
          <a:srcRect/>
          <a:stretch>
            <a:fillRect/>
          </a:stretch>
        </p:blipFill>
        <p:spPr bwMode="auto">
          <a:xfrm>
            <a:off x="6767513" y="4976813"/>
            <a:ext cx="2286000" cy="1714500"/>
          </a:xfrm>
          <a:prstGeom prst="rect">
            <a:avLst/>
          </a:prstGeom>
          <a:noFill/>
          <a:ln w="9525">
            <a:noFill/>
            <a:miter lim="800000"/>
            <a:headEnd/>
            <a:tailEnd/>
          </a:ln>
        </p:spPr>
      </p:pic>
      <p:pic>
        <p:nvPicPr>
          <p:cNvPr id="67589" name="Picture 7"/>
          <p:cNvPicPr>
            <a:picLocks noChangeAspect="1" noChangeArrowheads="1"/>
          </p:cNvPicPr>
          <p:nvPr/>
        </p:nvPicPr>
        <p:blipFill>
          <a:blip r:embed="rId5"/>
          <a:srcRect/>
          <a:stretch>
            <a:fillRect/>
          </a:stretch>
        </p:blipFill>
        <p:spPr bwMode="auto">
          <a:xfrm>
            <a:off x="5435600" y="4149725"/>
            <a:ext cx="2286000" cy="1257300"/>
          </a:xfrm>
          <a:prstGeom prst="rect">
            <a:avLst/>
          </a:prstGeom>
          <a:noFill/>
          <a:ln w="9525">
            <a:noFill/>
            <a:miter lim="800000"/>
            <a:headEnd/>
            <a:tailEnd/>
          </a:ln>
        </p:spPr>
      </p:pic>
      <p:pic>
        <p:nvPicPr>
          <p:cNvPr id="67590" name="Picture 8"/>
          <p:cNvPicPr>
            <a:picLocks noChangeAspect="1" noChangeArrowheads="1"/>
          </p:cNvPicPr>
          <p:nvPr/>
        </p:nvPicPr>
        <p:blipFill>
          <a:blip r:embed="rId6"/>
          <a:srcRect/>
          <a:stretch>
            <a:fillRect/>
          </a:stretch>
        </p:blipFill>
        <p:spPr bwMode="auto">
          <a:xfrm>
            <a:off x="1223963" y="4545013"/>
            <a:ext cx="2286000" cy="1463675"/>
          </a:xfrm>
          <a:prstGeom prst="rect">
            <a:avLst/>
          </a:prstGeom>
          <a:noFill/>
          <a:ln w="9525">
            <a:noFill/>
            <a:miter lim="800000"/>
            <a:headEnd/>
            <a:tailEnd/>
          </a:ln>
        </p:spPr>
      </p:pic>
      <p:sp>
        <p:nvSpPr>
          <p:cNvPr id="3" name="Text Box 10"/>
          <p:cNvSpPr txBox="1">
            <a:spLocks noChangeArrowheads="1"/>
          </p:cNvSpPr>
          <p:nvPr/>
        </p:nvSpPr>
        <p:spPr bwMode="auto">
          <a:xfrm>
            <a:off x="684213" y="3824288"/>
            <a:ext cx="4464050" cy="557212"/>
          </a:xfrm>
          <a:prstGeom prst="rect">
            <a:avLst/>
          </a:prstGeom>
          <a:solidFill>
            <a:schemeClr val="bg2"/>
          </a:solidFill>
          <a:ln w="12700" algn="ctr">
            <a:noFill/>
            <a:miter lim="800000"/>
            <a:headEnd/>
            <a:tailEnd type="none" w="sm" len="lg"/>
          </a:ln>
        </p:spPr>
        <p:txBody>
          <a:bodyPr anchor="ctr"/>
          <a:lstStyle/>
          <a:p>
            <a:pPr marL="1588" indent="-1588">
              <a:spcBef>
                <a:spcPct val="20000"/>
              </a:spcBef>
            </a:pPr>
            <a:r>
              <a:rPr lang="en-US" sz="2300">
                <a:solidFill>
                  <a:srgbClr val="0033CC"/>
                </a:solidFill>
              </a:rPr>
              <a:t>How different is toothpaste really?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idx="4294967295"/>
          </p:nvPr>
        </p:nvSpPr>
        <p:spPr>
          <a:xfrm>
            <a:off x="900113" y="76200"/>
            <a:ext cx="8015287" cy="609600"/>
          </a:xfrm>
        </p:spPr>
        <p:txBody>
          <a:bodyPr/>
          <a:lstStyle/>
          <a:p>
            <a:pPr>
              <a:defRPr/>
            </a:pPr>
            <a:r>
              <a:rPr lang="en-US" sz="3100" dirty="0" smtClean="0"/>
              <a:t>Product Differentiation and Price Leadership</a:t>
            </a:r>
            <a:endParaRPr lang="en-US" sz="3100" b="0" dirty="0" smtClean="0"/>
          </a:p>
        </p:txBody>
      </p:sp>
      <p:sp>
        <p:nvSpPr>
          <p:cNvPr id="69634" name="Text Box 3"/>
          <p:cNvSpPr txBox="1">
            <a:spLocks noChangeArrowheads="1"/>
          </p:cNvSpPr>
          <p:nvPr/>
        </p:nvSpPr>
        <p:spPr bwMode="auto">
          <a:xfrm>
            <a:off x="971550" y="928688"/>
            <a:ext cx="7956550" cy="5568950"/>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To limit competition, oligopolists often engage in </a:t>
            </a:r>
            <a:r>
              <a:rPr lang="en-US" sz="2400" i="1"/>
              <a:t>product differentiation, </a:t>
            </a:r>
            <a:r>
              <a:rPr lang="en-US" sz="2400"/>
              <a:t>which is an attempt by a firm to convince buyers that its product is different from the products of other firms in the industry.</a:t>
            </a:r>
            <a:br>
              <a:rPr lang="en-US" sz="2400"/>
            </a:br>
            <a:endParaRPr lang="en-US" sz="2400"/>
          </a:p>
          <a:p>
            <a:pPr marL="231775" indent="-231775">
              <a:buClr>
                <a:schemeClr val="tx1"/>
              </a:buClr>
              <a:buFont typeface="Arial" charset="0"/>
              <a:buChar char="•"/>
            </a:pPr>
            <a:r>
              <a:rPr lang="en-US" sz="2400"/>
              <a:t>Oligopolists often try to avoid competing directly on price, engaging in </a:t>
            </a:r>
            <a:r>
              <a:rPr lang="en-US" sz="2400" i="1"/>
              <a:t>non-price competition </a:t>
            </a:r>
            <a:r>
              <a:rPr lang="en-US" sz="2400"/>
              <a:t>through advertising and other means instead.</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When collusion breaks down, or when a tacit agreement falls apart, there is a </a:t>
            </a:r>
            <a:r>
              <a:rPr lang="en-US" sz="2400" i="1"/>
              <a:t>price war</a:t>
            </a:r>
            <a:r>
              <a:rPr lang="en-US" sz="2400"/>
              <a:t>.</a:t>
            </a:r>
          </a:p>
          <a:p>
            <a:pPr marL="742950" lvl="1" indent="-285750">
              <a:buClr>
                <a:schemeClr val="tx1"/>
              </a:buClr>
              <a:buFont typeface="Arial" charset="0"/>
              <a:buChar char="•"/>
            </a:pPr>
            <a:r>
              <a:rPr lang="en-US" sz="2400"/>
              <a:t>This can drive profits to zero under Bertrand competition (price competition).</a:t>
            </a:r>
          </a:p>
          <a:p>
            <a:pPr marL="742950" lvl="1" indent="-285750">
              <a:buClr>
                <a:schemeClr val="tx1"/>
              </a:buClr>
              <a:buFont typeface="Arial" charset="0"/>
              <a:buChar char="•"/>
            </a:pPr>
            <a:r>
              <a:rPr lang="en-US" sz="2400"/>
              <a:t>Price wars are more likely to occur when products are not differentiated or are commodities.</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00113" y="60325"/>
            <a:ext cx="7993062" cy="555625"/>
          </a:xfrm>
        </p:spPr>
        <p:txBody>
          <a:bodyPr/>
          <a:lstStyle/>
          <a:p>
            <a:pPr>
              <a:defRPr/>
            </a:pPr>
            <a:r>
              <a:rPr lang="en-US" dirty="0" smtClean="0"/>
              <a:t>The Ups and Downs of Oil Cartels</a:t>
            </a:r>
            <a:endParaRPr lang="en-US" dirty="0"/>
          </a:p>
        </p:txBody>
      </p:sp>
      <p:pic>
        <p:nvPicPr>
          <p:cNvPr id="71682" name="Content Placeholder 4" descr="Krug3e_fig_14_04.jpg"/>
          <p:cNvPicPr>
            <a:picLocks noGrp="1" noChangeAspect="1"/>
          </p:cNvPicPr>
          <p:nvPr>
            <p:ph idx="4294967295"/>
          </p:nvPr>
        </p:nvPicPr>
        <p:blipFill>
          <a:blip r:embed="rId3"/>
          <a:srcRect t="-3027" b="-3027"/>
          <a:stretch>
            <a:fillRect/>
          </a:stretch>
        </p:blipFill>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216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11970" name="Rectangle 2"/>
          <p:cNvSpPr>
            <a:spLocks noGrp="1" noChangeArrowheads="1"/>
          </p:cNvSpPr>
          <p:nvPr>
            <p:ph idx="4294967295"/>
          </p:nvPr>
        </p:nvSpPr>
        <p:spPr>
          <a:xfrm>
            <a:off x="887413" y="922338"/>
            <a:ext cx="8113712" cy="5675312"/>
          </a:xfrm>
        </p:spPr>
        <p:txBody>
          <a:bodyPr/>
          <a:lstStyle/>
          <a:p>
            <a:pPr marL="463550" indent="-463550">
              <a:buFontTx/>
              <a:buAutoNum type="arabicPeriod"/>
            </a:pPr>
            <a:r>
              <a:rPr lang="tr-TR" smtClean="0"/>
              <a:t>Many industries are </a:t>
            </a:r>
            <a:r>
              <a:rPr lang="tr-TR" b="1" smtClean="0"/>
              <a:t>oligopolies</a:t>
            </a:r>
            <a:r>
              <a:rPr lang="tr-TR" smtClean="0"/>
              <a:t>:</a:t>
            </a:r>
            <a:r>
              <a:rPr lang="tr-TR" b="1" smtClean="0"/>
              <a:t> </a:t>
            </a:r>
            <a:r>
              <a:rPr lang="tr-TR" smtClean="0"/>
              <a:t>there are only a few</a:t>
            </a:r>
            <a:r>
              <a:rPr lang="en-US" smtClean="0"/>
              <a:t> </a:t>
            </a:r>
            <a:r>
              <a:rPr lang="tr-TR" smtClean="0"/>
              <a:t>sellers. In particular, a </a:t>
            </a:r>
            <a:r>
              <a:rPr lang="tr-TR" b="1" smtClean="0"/>
              <a:t>duopoly </a:t>
            </a:r>
            <a:r>
              <a:rPr lang="tr-TR" smtClean="0"/>
              <a:t>has only two sellers.</a:t>
            </a:r>
            <a:r>
              <a:rPr lang="en-US" smtClean="0"/>
              <a:t/>
            </a:r>
            <a:br>
              <a:rPr lang="en-US" smtClean="0"/>
            </a:br>
            <a:r>
              <a:rPr lang="tr-TR" smtClean="0"/>
              <a:t>Oligopolies exist for </a:t>
            </a:r>
            <a:r>
              <a:rPr lang="en-US" smtClean="0"/>
              <a:t>similar</a:t>
            </a:r>
            <a:r>
              <a:rPr lang="tr-TR" smtClean="0"/>
              <a:t> reasons that</a:t>
            </a:r>
            <a:r>
              <a:rPr lang="en-US" smtClean="0"/>
              <a:t> </a:t>
            </a:r>
            <a:r>
              <a:rPr lang="tr-TR" smtClean="0"/>
              <a:t>monopolies exist. They are characterized</a:t>
            </a:r>
            <a:r>
              <a:rPr lang="en-US" smtClean="0"/>
              <a:t> </a:t>
            </a:r>
            <a:r>
              <a:rPr lang="tr-TR" smtClean="0"/>
              <a:t>by </a:t>
            </a:r>
            <a:r>
              <a:rPr lang="tr-TR" b="1" smtClean="0"/>
              <a:t>imperfect competition</a:t>
            </a:r>
            <a:r>
              <a:rPr lang="tr-TR" smtClean="0"/>
              <a:t>:</a:t>
            </a:r>
            <a:r>
              <a:rPr lang="tr-TR" b="1" smtClean="0"/>
              <a:t> </a:t>
            </a:r>
            <a:r>
              <a:rPr lang="tr-TR" smtClean="0"/>
              <a:t>firms compete but </a:t>
            </a:r>
            <a:r>
              <a:rPr lang="en-US" smtClean="0"/>
              <a:t>also </a:t>
            </a:r>
            <a:r>
              <a:rPr lang="tr-TR" smtClean="0"/>
              <a:t>possess</a:t>
            </a:r>
            <a:r>
              <a:rPr lang="en-US" smtClean="0"/>
              <a:t> </a:t>
            </a:r>
            <a:r>
              <a:rPr lang="tr-TR" smtClean="0"/>
              <a:t>market power.</a:t>
            </a:r>
            <a:endParaRPr lang="en-US" smtClean="0"/>
          </a:p>
          <a:p>
            <a:pPr marL="463550" indent="-463550">
              <a:buFontTx/>
              <a:buAutoNum type="arabicPeriod"/>
            </a:pPr>
            <a:endParaRPr lang="en-US" smtClean="0"/>
          </a:p>
          <a:p>
            <a:pPr marL="463550" indent="-463550">
              <a:buFontTx/>
              <a:buAutoNum type="arabicPeriod"/>
            </a:pPr>
            <a:r>
              <a:rPr lang="tr-TR" smtClean="0"/>
              <a:t>Predicting the behavior of </a:t>
            </a:r>
            <a:r>
              <a:rPr lang="tr-TR" b="1" smtClean="0"/>
              <a:t>oligopolists </a:t>
            </a:r>
            <a:r>
              <a:rPr lang="tr-TR" smtClean="0"/>
              <a:t>poses a </a:t>
            </a:r>
            <a:r>
              <a:rPr lang="en-US" smtClean="0"/>
              <a:t>challenge</a:t>
            </a:r>
            <a:r>
              <a:rPr lang="tr-TR" smtClean="0"/>
              <a:t>. The firms in an oligopoly could maximize</a:t>
            </a:r>
            <a:r>
              <a:rPr lang="en-US" smtClean="0"/>
              <a:t> </a:t>
            </a:r>
            <a:r>
              <a:rPr lang="tr-TR" smtClean="0"/>
              <a:t>their combined profits by acting as a </a:t>
            </a:r>
            <a:r>
              <a:rPr lang="tr-TR" b="1" smtClean="0"/>
              <a:t>cartel</a:t>
            </a:r>
            <a:r>
              <a:rPr lang="tr-TR" smtClean="0"/>
              <a:t>,</a:t>
            </a:r>
            <a:r>
              <a:rPr lang="tr-TR" b="1" smtClean="0"/>
              <a:t> </a:t>
            </a:r>
            <a:r>
              <a:rPr lang="tr-TR" smtClean="0"/>
              <a:t>setting output</a:t>
            </a:r>
            <a:r>
              <a:rPr lang="en-US" smtClean="0"/>
              <a:t> </a:t>
            </a:r>
            <a:r>
              <a:rPr lang="tr-TR" smtClean="0"/>
              <a:t>levels for each firm as if they were a single monopolist;</a:t>
            </a:r>
            <a:r>
              <a:rPr lang="en-US" smtClean="0"/>
              <a:t> </a:t>
            </a:r>
            <a:r>
              <a:rPr lang="tr-TR" smtClean="0"/>
              <a:t>to the extent that firms manage to do this, they engage in </a:t>
            </a:r>
            <a:r>
              <a:rPr lang="tr-TR" b="1" smtClean="0"/>
              <a:t>collusion</a:t>
            </a:r>
            <a:r>
              <a:rPr lang="tr-TR" smtClean="0"/>
              <a:t>.</a:t>
            </a:r>
            <a:r>
              <a:rPr lang="tr-TR" b="1" smtClean="0"/>
              <a:t> </a:t>
            </a:r>
            <a:r>
              <a:rPr lang="tr-TR" smtClean="0"/>
              <a:t>But each individual firm has an incentive to produce more than it would in such an arrangement—to engage in</a:t>
            </a:r>
            <a:r>
              <a:rPr lang="en-US" smtClean="0"/>
              <a:t> </a:t>
            </a:r>
            <a:r>
              <a:rPr lang="tr-TR" b="1" smtClean="0"/>
              <a:t>non</a:t>
            </a:r>
            <a:r>
              <a:rPr lang="en-US" b="1" smtClean="0"/>
              <a:t>-</a:t>
            </a:r>
            <a:r>
              <a:rPr lang="tr-TR" b="1" smtClean="0"/>
              <a:t>cooperative behavior</a:t>
            </a:r>
            <a:r>
              <a:rPr lang="tr-TR"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1970">
                                            <p:txEl>
                                              <p:pRg st="0" end="0"/>
                                            </p:txEl>
                                          </p:spTgt>
                                        </p:tgtEl>
                                        <p:attrNameLst>
                                          <p:attrName>style.visibility</p:attrName>
                                        </p:attrNameLst>
                                      </p:cBhvr>
                                      <p:to>
                                        <p:strVal val="visible"/>
                                      </p:to>
                                    </p:set>
                                    <p:animEffect transition="in" filter="fade">
                                      <p:cBhvr>
                                        <p:cTn id="7" dur="500"/>
                                        <p:tgtEl>
                                          <p:spTgt spid="2119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1970">
                                            <p:txEl>
                                              <p:pRg st="2" end="2"/>
                                            </p:txEl>
                                          </p:spTgt>
                                        </p:tgtEl>
                                        <p:attrNameLst>
                                          <p:attrName>style.visibility</p:attrName>
                                        </p:attrNameLst>
                                      </p:cBhvr>
                                      <p:to>
                                        <p:strVal val="visible"/>
                                      </p:to>
                                    </p:set>
                                    <p:animEffect transition="in" filter="fade">
                                      <p:cBhvr>
                                        <p:cTn id="12" dur="500"/>
                                        <p:tgtEl>
                                          <p:spTgt spid="2119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14018" name="Rectangle 2"/>
          <p:cNvSpPr>
            <a:spLocks noGrp="1" noChangeArrowheads="1"/>
          </p:cNvSpPr>
          <p:nvPr>
            <p:ph idx="4294967295"/>
          </p:nvPr>
        </p:nvSpPr>
        <p:spPr>
          <a:xfrm>
            <a:off x="887413" y="908050"/>
            <a:ext cx="8005762" cy="5218113"/>
          </a:xfrm>
        </p:spPr>
        <p:txBody>
          <a:bodyPr/>
          <a:lstStyle/>
          <a:p>
            <a:pPr marL="463550" indent="-463550">
              <a:buFontTx/>
              <a:buAutoNum type="arabicPeriod" startAt="3"/>
            </a:pPr>
            <a:r>
              <a:rPr lang="tr-TR" smtClean="0"/>
              <a:t>The situation of </a:t>
            </a:r>
            <a:r>
              <a:rPr lang="tr-TR" b="1" smtClean="0"/>
              <a:t>interdependence</a:t>
            </a:r>
            <a:r>
              <a:rPr lang="tr-TR" smtClean="0"/>
              <a:t>,</a:t>
            </a:r>
            <a:r>
              <a:rPr lang="tr-TR" b="1" smtClean="0"/>
              <a:t> </a:t>
            </a:r>
            <a:r>
              <a:rPr lang="tr-TR" smtClean="0"/>
              <a:t>in which each firm’s</a:t>
            </a:r>
            <a:r>
              <a:rPr lang="en-US" smtClean="0"/>
              <a:t> </a:t>
            </a:r>
            <a:r>
              <a:rPr lang="tr-TR" smtClean="0"/>
              <a:t>profit depends noticeably on what other firms do, is the</a:t>
            </a:r>
            <a:r>
              <a:rPr lang="en-US" smtClean="0"/>
              <a:t> </a:t>
            </a:r>
            <a:r>
              <a:rPr lang="tr-TR" smtClean="0"/>
              <a:t>subject of </a:t>
            </a:r>
            <a:r>
              <a:rPr lang="tr-TR" b="1" smtClean="0"/>
              <a:t>game theory</a:t>
            </a:r>
            <a:r>
              <a:rPr lang="tr-TR" smtClean="0"/>
              <a:t>.</a:t>
            </a:r>
            <a:r>
              <a:rPr lang="tr-TR" b="1" smtClean="0"/>
              <a:t> </a:t>
            </a:r>
            <a:r>
              <a:rPr lang="en-US" b="1" smtClean="0"/>
              <a:t/>
            </a:r>
            <a:br>
              <a:rPr lang="en-US" b="1" smtClean="0"/>
            </a:br>
            <a:r>
              <a:rPr lang="en-US" b="1" smtClean="0"/>
              <a:t/>
            </a:r>
            <a:br>
              <a:rPr lang="en-US" b="1" smtClean="0"/>
            </a:br>
            <a:r>
              <a:rPr lang="tr-TR" smtClean="0"/>
              <a:t>In the case of a game with two</a:t>
            </a:r>
            <a:r>
              <a:rPr lang="en-US" smtClean="0"/>
              <a:t> </a:t>
            </a:r>
            <a:r>
              <a:rPr lang="tr-TR" smtClean="0"/>
              <a:t>players, the </a:t>
            </a:r>
            <a:r>
              <a:rPr lang="tr-TR" b="1" smtClean="0"/>
              <a:t>payoff </a:t>
            </a:r>
            <a:r>
              <a:rPr lang="tr-TR" smtClean="0"/>
              <a:t>of each player depends both on its</a:t>
            </a:r>
            <a:r>
              <a:rPr lang="en-US" smtClean="0"/>
              <a:t> </a:t>
            </a:r>
            <a:r>
              <a:rPr lang="tr-TR" smtClean="0"/>
              <a:t>own actions and on the actions of the other; this </a:t>
            </a:r>
            <a:r>
              <a:rPr lang="en-US" smtClean="0"/>
              <a:t>i</a:t>
            </a:r>
            <a:r>
              <a:rPr lang="tr-TR" smtClean="0"/>
              <a:t>nterdependence can be represented as a </a:t>
            </a:r>
            <a:r>
              <a:rPr lang="tr-TR" b="1" smtClean="0"/>
              <a:t>payoff matrix</a:t>
            </a:r>
            <a:r>
              <a:rPr lang="tr-TR" smtClean="0"/>
              <a:t>.</a:t>
            </a:r>
            <a:r>
              <a:rPr lang="en-US" b="1" smtClean="0"/>
              <a:t> </a:t>
            </a:r>
            <a:br>
              <a:rPr lang="en-US" b="1" smtClean="0"/>
            </a:br>
            <a:r>
              <a:rPr lang="en-US" b="1" smtClean="0"/>
              <a:t/>
            </a:r>
            <a:br>
              <a:rPr lang="en-US" b="1" smtClean="0"/>
            </a:br>
            <a:r>
              <a:rPr lang="tr-TR" smtClean="0"/>
              <a:t>Depending on the structure of payoffs in the payoff</a:t>
            </a:r>
            <a:r>
              <a:rPr lang="en-US" smtClean="0"/>
              <a:t> </a:t>
            </a:r>
            <a:r>
              <a:rPr lang="tr-TR" smtClean="0"/>
              <a:t>matrix, a player may have a </a:t>
            </a:r>
            <a:r>
              <a:rPr lang="tr-TR" b="1" smtClean="0"/>
              <a:t>dominant strategy</a:t>
            </a:r>
            <a:r>
              <a:rPr lang="tr-TR" smtClean="0"/>
              <a:t>—an</a:t>
            </a:r>
            <a:r>
              <a:rPr lang="en-US" smtClean="0"/>
              <a:t> </a:t>
            </a:r>
            <a:r>
              <a:rPr lang="tr-TR" smtClean="0"/>
              <a:t>action that is always the best regardless of the other player’s</a:t>
            </a:r>
            <a:r>
              <a:rPr lang="en-US" smtClean="0"/>
              <a:t> </a:t>
            </a:r>
            <a:r>
              <a:rPr lang="tr-TR" smtClean="0"/>
              <a:t>actions.</a:t>
            </a:r>
          </a:p>
          <a:p>
            <a:pPr marL="463550" indent="-463550">
              <a:lnSpc>
                <a:spcPct val="80000"/>
              </a:lnSpc>
              <a:buFontTx/>
              <a:buNone/>
            </a:pPr>
            <a:endParaRPr lang="tr-TR"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4018">
                                            <p:txEl>
                                              <p:pRg st="0" end="0"/>
                                            </p:txEl>
                                          </p:spTgt>
                                        </p:tgtEl>
                                        <p:attrNameLst>
                                          <p:attrName>style.visibility</p:attrName>
                                        </p:attrNameLst>
                                      </p:cBhvr>
                                      <p:to>
                                        <p:strVal val="visible"/>
                                      </p:to>
                                    </p:set>
                                    <p:animEffect transition="in" filter="fade">
                                      <p:cBhvr>
                                        <p:cTn id="7" dur="500"/>
                                        <p:tgtEl>
                                          <p:spTgt spid="214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15042" name="Rectangle 2"/>
          <p:cNvSpPr>
            <a:spLocks noGrp="1" noChangeArrowheads="1"/>
          </p:cNvSpPr>
          <p:nvPr>
            <p:ph idx="4294967295"/>
          </p:nvPr>
        </p:nvSpPr>
        <p:spPr>
          <a:xfrm>
            <a:off x="887413" y="908050"/>
            <a:ext cx="8005762" cy="5218113"/>
          </a:xfrm>
        </p:spPr>
        <p:txBody>
          <a:bodyPr/>
          <a:lstStyle/>
          <a:p>
            <a:pPr marL="463550" indent="-463550">
              <a:buFontTx/>
              <a:buAutoNum type="arabicPeriod" startAt="4"/>
            </a:pPr>
            <a:r>
              <a:rPr lang="tr-TR" b="1" smtClean="0"/>
              <a:t>Duopolists </a:t>
            </a:r>
            <a:r>
              <a:rPr lang="tr-TR" smtClean="0"/>
              <a:t>face a particular type of game known as a</a:t>
            </a:r>
            <a:r>
              <a:rPr lang="en-US" smtClean="0"/>
              <a:t> </a:t>
            </a:r>
            <a:r>
              <a:rPr lang="tr-TR" b="1" smtClean="0"/>
              <a:t>prisoners’ dilemma</a:t>
            </a:r>
            <a:r>
              <a:rPr lang="tr-TR" smtClean="0"/>
              <a:t>;</a:t>
            </a:r>
            <a:r>
              <a:rPr lang="tr-TR" b="1" smtClean="0"/>
              <a:t> </a:t>
            </a:r>
            <a:r>
              <a:rPr lang="tr-TR" smtClean="0"/>
              <a:t>if each acts independently in its</a:t>
            </a:r>
            <a:r>
              <a:rPr lang="en-US" smtClean="0"/>
              <a:t> </a:t>
            </a:r>
            <a:r>
              <a:rPr lang="tr-TR" smtClean="0"/>
              <a:t>own interest, the resulting </a:t>
            </a:r>
            <a:r>
              <a:rPr lang="tr-TR" b="1" smtClean="0"/>
              <a:t>Nash equilibrium </a:t>
            </a:r>
            <a:r>
              <a:rPr lang="en-US" smtClean="0"/>
              <a:t>(</a:t>
            </a:r>
            <a:r>
              <a:rPr lang="tr-TR" smtClean="0"/>
              <a:t>or </a:t>
            </a:r>
            <a:r>
              <a:rPr lang="en-US" smtClean="0"/>
              <a:t> </a:t>
            </a:r>
            <a:r>
              <a:rPr lang="en-US" b="1" smtClean="0"/>
              <a:t>n</a:t>
            </a:r>
            <a:r>
              <a:rPr lang="tr-TR" b="1" smtClean="0"/>
              <a:t>oncooperative equilibrium</a:t>
            </a:r>
            <a:r>
              <a:rPr lang="en-US" smtClean="0"/>
              <a:t>)</a:t>
            </a:r>
            <a:r>
              <a:rPr lang="tr-TR" smtClean="0"/>
              <a:t> will be bad for both.</a:t>
            </a:r>
            <a:r>
              <a:rPr lang="en-US" smtClean="0"/>
              <a:t/>
            </a:r>
            <a:br>
              <a:rPr lang="en-US" smtClean="0"/>
            </a:br>
            <a:r>
              <a:rPr lang="en-US" smtClean="0"/>
              <a:t/>
            </a:r>
            <a:br>
              <a:rPr lang="en-US" smtClean="0"/>
            </a:br>
            <a:r>
              <a:rPr lang="tr-TR" smtClean="0"/>
              <a:t>However,</a:t>
            </a:r>
            <a:r>
              <a:rPr lang="en-US" smtClean="0"/>
              <a:t> </a:t>
            </a:r>
            <a:r>
              <a:rPr lang="tr-TR" smtClean="0"/>
              <a:t>firms that expect to play a game repeatedly tend to</a:t>
            </a:r>
            <a:r>
              <a:rPr lang="en-US" smtClean="0"/>
              <a:t> </a:t>
            </a:r>
            <a:r>
              <a:rPr lang="tr-TR" smtClean="0"/>
              <a:t>engage in </a:t>
            </a:r>
            <a:r>
              <a:rPr lang="tr-TR" b="1" smtClean="0"/>
              <a:t>strategic behavior</a:t>
            </a:r>
            <a:r>
              <a:rPr lang="tr-TR" smtClean="0"/>
              <a:t>,</a:t>
            </a:r>
            <a:r>
              <a:rPr lang="tr-TR" b="1" smtClean="0"/>
              <a:t> </a:t>
            </a:r>
            <a:r>
              <a:rPr lang="tr-TR" smtClean="0"/>
              <a:t>trying to influence each</a:t>
            </a:r>
            <a:r>
              <a:rPr lang="en-US" smtClean="0"/>
              <a:t> </a:t>
            </a:r>
            <a:r>
              <a:rPr lang="tr-TR" smtClean="0"/>
              <a:t>other’s future actions. A particular strategy that seems to</a:t>
            </a:r>
            <a:r>
              <a:rPr lang="en-US" smtClean="0"/>
              <a:t> </a:t>
            </a:r>
            <a:r>
              <a:rPr lang="tr-TR" smtClean="0"/>
              <a:t>work well in such situations is </a:t>
            </a:r>
            <a:r>
              <a:rPr lang="tr-TR" b="1" smtClean="0"/>
              <a:t>tit for tat</a:t>
            </a:r>
            <a:r>
              <a:rPr lang="tr-TR" smtClean="0"/>
              <a:t>,</a:t>
            </a:r>
            <a:r>
              <a:rPr lang="tr-TR" b="1" smtClean="0"/>
              <a:t> </a:t>
            </a:r>
            <a:r>
              <a:rPr lang="tr-TR" smtClean="0"/>
              <a:t>which often</a:t>
            </a:r>
            <a:r>
              <a:rPr lang="en-US" smtClean="0"/>
              <a:t> </a:t>
            </a:r>
            <a:r>
              <a:rPr lang="tr-TR" smtClean="0"/>
              <a:t>leads to </a:t>
            </a:r>
            <a:r>
              <a:rPr lang="tr-TR" b="1" smtClean="0"/>
              <a:t>tacit collusion</a:t>
            </a:r>
            <a:r>
              <a:rPr lang="tr-TR"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42">
                                            <p:txEl>
                                              <p:pRg st="0" end="0"/>
                                            </p:txEl>
                                          </p:spTgt>
                                        </p:tgtEl>
                                        <p:attrNameLst>
                                          <p:attrName>style.visibility</p:attrName>
                                        </p:attrNameLst>
                                      </p:cBhvr>
                                      <p:to>
                                        <p:strVal val="visible"/>
                                      </p:to>
                                    </p:set>
                                    <p:animEffect transition="in" filter="fade">
                                      <p:cBhvr>
                                        <p:cTn id="7" dur="500"/>
                                        <p:tgtEl>
                                          <p:spTgt spid="2150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15042" name="Rectangle 2"/>
          <p:cNvSpPr>
            <a:spLocks noGrp="1" noChangeArrowheads="1"/>
          </p:cNvSpPr>
          <p:nvPr>
            <p:ph idx="4294967295"/>
          </p:nvPr>
        </p:nvSpPr>
        <p:spPr>
          <a:xfrm>
            <a:off x="887413" y="908050"/>
            <a:ext cx="8005762" cy="5218113"/>
          </a:xfrm>
        </p:spPr>
        <p:txBody>
          <a:bodyPr/>
          <a:lstStyle/>
          <a:p>
            <a:pPr marL="463550" indent="-463550">
              <a:buFont typeface="Calibri" pitchFamily="34" charset="0"/>
              <a:buAutoNum type="arabicPeriod" startAt="5"/>
            </a:pPr>
            <a:r>
              <a:rPr lang="tr-TR" smtClean="0"/>
              <a:t>The </a:t>
            </a:r>
            <a:r>
              <a:rPr lang="tr-TR" b="1" smtClean="0"/>
              <a:t>kinked demand curve </a:t>
            </a:r>
            <a:r>
              <a:rPr lang="tr-TR" smtClean="0"/>
              <a:t>illustrates how an oligopolist</a:t>
            </a:r>
            <a:r>
              <a:rPr lang="en-US" smtClean="0"/>
              <a:t> </a:t>
            </a:r>
            <a:r>
              <a:rPr lang="tr-TR" smtClean="0"/>
              <a:t>that faces unique changes in its marginal cost within a</a:t>
            </a:r>
            <a:r>
              <a:rPr lang="en-US" smtClean="0"/>
              <a:t> </a:t>
            </a:r>
            <a:r>
              <a:rPr lang="tr-TR" smtClean="0"/>
              <a:t>certain range may choose not to adjust its output and</a:t>
            </a:r>
            <a:r>
              <a:rPr lang="en-US" smtClean="0"/>
              <a:t> </a:t>
            </a:r>
            <a:r>
              <a:rPr lang="tr-TR" smtClean="0"/>
              <a:t>price in order to avoid a breakdown in tacit collusion.</a:t>
            </a:r>
            <a:endParaRPr lang="en-US" smtClean="0"/>
          </a:p>
          <a:p>
            <a:pPr marL="463550" indent="-463550">
              <a:buFont typeface="Calibri" pitchFamily="34" charset="0"/>
              <a:buAutoNum type="arabicPeriod" startAt="5"/>
            </a:pPr>
            <a:endParaRPr lang="en-US" smtClean="0"/>
          </a:p>
          <a:p>
            <a:pPr marL="463550" indent="-463550">
              <a:buFont typeface="Calibri" pitchFamily="34" charset="0"/>
              <a:buAutoNum type="arabicPeriod" startAt="5"/>
            </a:pPr>
            <a:r>
              <a:rPr lang="tr-TR" smtClean="0"/>
              <a:t>In order to limit the ability of oligopolists to collude and</a:t>
            </a:r>
            <a:r>
              <a:rPr lang="en-US" smtClean="0"/>
              <a:t> </a:t>
            </a:r>
            <a:r>
              <a:rPr lang="tr-TR" smtClean="0"/>
              <a:t>act like monopolists, most governments pursue an</a:t>
            </a:r>
            <a:r>
              <a:rPr lang="en-US" smtClean="0"/>
              <a:t> </a:t>
            </a:r>
            <a:r>
              <a:rPr lang="tr-TR" b="1" smtClean="0"/>
              <a:t>antitrust policy </a:t>
            </a:r>
            <a:r>
              <a:rPr lang="tr-TR" smtClean="0"/>
              <a:t>designed to make collusion more difficult.</a:t>
            </a:r>
            <a:r>
              <a:rPr lang="en-US" smtClean="0"/>
              <a:t> </a:t>
            </a:r>
            <a:r>
              <a:rPr lang="tr-TR" smtClean="0"/>
              <a:t>In practice, however, tacit collusion is widespread.</a:t>
            </a:r>
            <a:endParaRPr lang="en-US" smtClean="0"/>
          </a:p>
          <a:p>
            <a:pPr marL="463550" indent="-463550">
              <a:buFont typeface="Arial" charset="0"/>
              <a:buNone/>
            </a:pPr>
            <a:endParaRPr lang="tr-TR"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42">
                                            <p:txEl>
                                              <p:pRg st="0" end="0"/>
                                            </p:txEl>
                                          </p:spTgt>
                                        </p:tgtEl>
                                        <p:attrNameLst>
                                          <p:attrName>style.visibility</p:attrName>
                                        </p:attrNameLst>
                                      </p:cBhvr>
                                      <p:to>
                                        <p:strVal val="visible"/>
                                      </p:to>
                                    </p:set>
                                    <p:animEffect transition="in" filter="fade">
                                      <p:cBhvr>
                                        <p:cTn id="7" dur="500"/>
                                        <p:tgtEl>
                                          <p:spTgt spid="2150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42">
                                            <p:txEl>
                                              <p:pRg st="2" end="2"/>
                                            </p:txEl>
                                          </p:spTgt>
                                        </p:tgtEl>
                                        <p:attrNameLst>
                                          <p:attrName>style.visibility</p:attrName>
                                        </p:attrNameLst>
                                      </p:cBhvr>
                                      <p:to>
                                        <p:strVal val="visible"/>
                                      </p:to>
                                    </p:set>
                                    <p:animEffect transition="in" filter="fade">
                                      <p:cBhvr>
                                        <p:cTn id="12" dur="500"/>
                                        <p:tgtEl>
                                          <p:spTgt spid="2150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16066" name="Rectangle 2"/>
          <p:cNvSpPr>
            <a:spLocks noGrp="1" noChangeArrowheads="1"/>
          </p:cNvSpPr>
          <p:nvPr>
            <p:ph idx="4294967295"/>
          </p:nvPr>
        </p:nvSpPr>
        <p:spPr>
          <a:xfrm>
            <a:off x="887413" y="922338"/>
            <a:ext cx="7799387" cy="5386387"/>
          </a:xfrm>
        </p:spPr>
        <p:txBody>
          <a:bodyPr/>
          <a:lstStyle/>
          <a:p>
            <a:pPr marL="463550" indent="-463550">
              <a:spcBef>
                <a:spcPct val="0"/>
              </a:spcBef>
              <a:buFont typeface="Calibri" pitchFamily="34" charset="0"/>
              <a:buAutoNum type="arabicPeriod" startAt="7"/>
            </a:pPr>
            <a:r>
              <a:rPr lang="tr-TR" smtClean="0"/>
              <a:t>A variety of factors make tacit collusion difficult: large</a:t>
            </a:r>
            <a:r>
              <a:rPr lang="en-US" smtClean="0"/>
              <a:t> </a:t>
            </a:r>
            <a:r>
              <a:rPr lang="tr-TR" smtClean="0"/>
              <a:t>numbers of firms, complex products and pricing, differences</a:t>
            </a:r>
            <a:r>
              <a:rPr lang="en-US" smtClean="0"/>
              <a:t> </a:t>
            </a:r>
            <a:r>
              <a:rPr lang="tr-TR" smtClean="0"/>
              <a:t>in interests, and bargaining power of buyers.</a:t>
            </a:r>
            <a:r>
              <a:rPr lang="en-US" smtClean="0"/>
              <a:t/>
            </a:r>
            <a:br>
              <a:rPr lang="en-US" smtClean="0"/>
            </a:br>
            <a:r>
              <a:rPr lang="en-US" smtClean="0"/>
              <a:t/>
            </a:r>
            <a:br>
              <a:rPr lang="en-US" smtClean="0"/>
            </a:br>
            <a:r>
              <a:rPr lang="tr-TR" smtClean="0"/>
              <a:t>When</a:t>
            </a:r>
            <a:r>
              <a:rPr lang="en-US" smtClean="0"/>
              <a:t> </a:t>
            </a:r>
            <a:r>
              <a:rPr lang="tr-TR" smtClean="0"/>
              <a:t>tacit collusion breaks down, there is a </a:t>
            </a:r>
            <a:r>
              <a:rPr lang="tr-TR" b="1" smtClean="0"/>
              <a:t>price war</a:t>
            </a:r>
            <a:r>
              <a:rPr lang="tr-TR" smtClean="0"/>
              <a:t>.</a:t>
            </a:r>
            <a:r>
              <a:rPr lang="en-US" b="1" smtClean="0"/>
              <a:t> </a:t>
            </a:r>
            <a:r>
              <a:rPr lang="tr-TR" smtClean="0"/>
              <a:t>Oligopolists try to avoid price wars in various ways, such</a:t>
            </a:r>
            <a:r>
              <a:rPr lang="en-US" smtClean="0"/>
              <a:t> </a:t>
            </a:r>
            <a:r>
              <a:rPr lang="tr-TR" smtClean="0"/>
              <a:t>as through </a:t>
            </a:r>
            <a:r>
              <a:rPr lang="tr-TR" b="1" smtClean="0"/>
              <a:t>product differentiation </a:t>
            </a:r>
            <a:r>
              <a:rPr lang="tr-TR" smtClean="0"/>
              <a:t>and through </a:t>
            </a:r>
            <a:r>
              <a:rPr lang="tr-TR" b="1" smtClean="0"/>
              <a:t>price</a:t>
            </a:r>
            <a:r>
              <a:rPr lang="en-US" b="1" smtClean="0"/>
              <a:t> </a:t>
            </a:r>
            <a:r>
              <a:rPr lang="tr-TR" b="1" smtClean="0"/>
              <a:t>leadership</a:t>
            </a:r>
            <a:r>
              <a:rPr lang="tr-TR" smtClean="0"/>
              <a:t>,</a:t>
            </a:r>
            <a:r>
              <a:rPr lang="tr-TR" b="1" smtClean="0"/>
              <a:t> </a:t>
            </a:r>
            <a:r>
              <a:rPr lang="tr-TR" smtClean="0"/>
              <a:t>in which one firm sets prices for the industry.</a:t>
            </a:r>
            <a:r>
              <a:rPr lang="en-US" smtClean="0"/>
              <a:t> </a:t>
            </a:r>
            <a:r>
              <a:rPr lang="tr-TR" smtClean="0"/>
              <a:t>Another is through </a:t>
            </a:r>
            <a:r>
              <a:rPr lang="tr-TR" b="1" smtClean="0"/>
              <a:t>nonprice competition</a:t>
            </a:r>
            <a:r>
              <a:rPr lang="tr-TR" smtClean="0"/>
              <a:t>,</a:t>
            </a:r>
            <a:r>
              <a:rPr lang="tr-TR" b="1" smtClean="0"/>
              <a:t> </a:t>
            </a:r>
            <a:r>
              <a:rPr lang="tr-TR" smtClean="0"/>
              <a:t>like</a:t>
            </a:r>
            <a:r>
              <a:rPr lang="en-US" smtClean="0"/>
              <a:t> </a:t>
            </a:r>
            <a:r>
              <a:rPr lang="tr-TR" smtClean="0"/>
              <a:t>advertising.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066">
                                            <p:txEl>
                                              <p:pRg st="0" end="0"/>
                                            </p:txEl>
                                          </p:spTgt>
                                        </p:tgtEl>
                                        <p:attrNameLst>
                                          <p:attrName>style.visibility</p:attrName>
                                        </p:attrNameLst>
                                      </p:cBhvr>
                                      <p:to>
                                        <p:strVal val="visible"/>
                                      </p:to>
                                    </p:set>
                                    <p:animEffect transition="in" filter="fade">
                                      <p:cBhvr>
                                        <p:cTn id="7" dur="500"/>
                                        <p:tgtEl>
                                          <p:spTgt spid="2160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899592" y="980728"/>
            <a:ext cx="7992888" cy="5688632"/>
          </a:xfrm>
        </p:spPr>
        <p:txBody>
          <a:bodyPr numCol="2"/>
          <a:lstStyle/>
          <a:p>
            <a:pPr>
              <a:buFont typeface="Arial" pitchFamily="34" charset="0"/>
              <a:buChar char="•"/>
              <a:defRPr/>
            </a:pPr>
            <a:r>
              <a:rPr lang="en-US" sz="2400" dirty="0" smtClean="0"/>
              <a:t>Oligopoly</a:t>
            </a:r>
          </a:p>
          <a:p>
            <a:pPr>
              <a:buFont typeface="Arial" pitchFamily="34" charset="0"/>
              <a:buChar char="•"/>
              <a:defRPr/>
            </a:pPr>
            <a:r>
              <a:rPr lang="en-US" sz="2400" dirty="0" smtClean="0"/>
              <a:t>Oligopolist</a:t>
            </a:r>
          </a:p>
          <a:p>
            <a:pPr>
              <a:buFont typeface="Arial" pitchFamily="34" charset="0"/>
              <a:buChar char="•"/>
              <a:defRPr/>
            </a:pPr>
            <a:r>
              <a:rPr lang="en-US" sz="2400" dirty="0" smtClean="0"/>
              <a:t>Imperfect competition</a:t>
            </a:r>
          </a:p>
          <a:p>
            <a:pPr>
              <a:buFont typeface="Arial" pitchFamily="34" charset="0"/>
              <a:buChar char="•"/>
              <a:defRPr/>
            </a:pPr>
            <a:r>
              <a:rPr lang="en-US" sz="2400" dirty="0" smtClean="0"/>
              <a:t>Duopoly</a:t>
            </a:r>
          </a:p>
          <a:p>
            <a:pPr>
              <a:buFont typeface="Arial" pitchFamily="34" charset="0"/>
              <a:buChar char="•"/>
              <a:defRPr/>
            </a:pPr>
            <a:r>
              <a:rPr lang="en-US" sz="2400" dirty="0" err="1" smtClean="0"/>
              <a:t>Duopolist</a:t>
            </a:r>
            <a:endParaRPr lang="en-US" sz="2400" dirty="0" smtClean="0"/>
          </a:p>
          <a:p>
            <a:pPr>
              <a:buFont typeface="Arial" pitchFamily="34" charset="0"/>
              <a:buChar char="•"/>
              <a:defRPr/>
            </a:pPr>
            <a:r>
              <a:rPr lang="en-US" sz="2400" dirty="0" smtClean="0"/>
              <a:t>Collusion</a:t>
            </a:r>
          </a:p>
          <a:p>
            <a:pPr>
              <a:buFont typeface="Arial" pitchFamily="34" charset="0"/>
              <a:buChar char="•"/>
              <a:defRPr/>
            </a:pPr>
            <a:r>
              <a:rPr lang="en-US" sz="2400" dirty="0" smtClean="0"/>
              <a:t>Cartel</a:t>
            </a:r>
          </a:p>
          <a:p>
            <a:pPr>
              <a:buFont typeface="Arial" pitchFamily="34" charset="0"/>
              <a:buChar char="•"/>
              <a:defRPr/>
            </a:pPr>
            <a:r>
              <a:rPr lang="en-US" sz="2400" dirty="0" smtClean="0"/>
              <a:t>Noncooperative behavior</a:t>
            </a:r>
          </a:p>
          <a:p>
            <a:pPr>
              <a:buFont typeface="Arial" pitchFamily="34" charset="0"/>
              <a:buChar char="•"/>
              <a:defRPr/>
            </a:pPr>
            <a:r>
              <a:rPr lang="en-US" sz="2400" dirty="0" smtClean="0"/>
              <a:t>Interdependence</a:t>
            </a:r>
          </a:p>
          <a:p>
            <a:pPr>
              <a:buFont typeface="Arial" pitchFamily="34" charset="0"/>
              <a:buChar char="•"/>
              <a:defRPr/>
            </a:pPr>
            <a:r>
              <a:rPr lang="en-US" sz="2400" dirty="0" smtClean="0"/>
              <a:t>Game theory</a:t>
            </a:r>
          </a:p>
          <a:p>
            <a:pPr>
              <a:buFont typeface="Arial" pitchFamily="34" charset="0"/>
              <a:buChar char="•"/>
              <a:defRPr/>
            </a:pPr>
            <a:r>
              <a:rPr lang="en-US" sz="2400" dirty="0" smtClean="0"/>
              <a:t>Payoff</a:t>
            </a:r>
          </a:p>
          <a:p>
            <a:pPr>
              <a:buFont typeface="Arial" pitchFamily="34" charset="0"/>
              <a:buChar char="•"/>
              <a:defRPr/>
            </a:pPr>
            <a:r>
              <a:rPr lang="en-US" sz="2400" dirty="0" smtClean="0"/>
              <a:t>Payoff matrix</a:t>
            </a:r>
          </a:p>
          <a:p>
            <a:pPr>
              <a:buFont typeface="Arial" pitchFamily="34" charset="0"/>
              <a:buChar char="•"/>
              <a:defRPr/>
            </a:pPr>
            <a:r>
              <a:rPr lang="en-US" sz="2400" dirty="0" smtClean="0"/>
              <a:t>Prisoners’ dilemma</a:t>
            </a:r>
          </a:p>
          <a:p>
            <a:pPr>
              <a:buFont typeface="Arial" pitchFamily="34" charset="0"/>
              <a:buChar char="•"/>
              <a:defRPr/>
            </a:pPr>
            <a:r>
              <a:rPr lang="en-US" sz="2400" dirty="0" smtClean="0"/>
              <a:t>Dominant strategy</a:t>
            </a:r>
          </a:p>
          <a:p>
            <a:pPr>
              <a:buFont typeface="Arial" pitchFamily="34" charset="0"/>
              <a:buChar char="•"/>
              <a:defRPr/>
            </a:pPr>
            <a:r>
              <a:rPr lang="en-US" sz="2400" dirty="0" smtClean="0"/>
              <a:t>Nash equilibrium</a:t>
            </a:r>
          </a:p>
          <a:p>
            <a:pPr>
              <a:buFont typeface="Arial" pitchFamily="34" charset="0"/>
              <a:buChar char="•"/>
              <a:defRPr/>
            </a:pPr>
            <a:r>
              <a:rPr lang="en-US" sz="2400" dirty="0" smtClean="0"/>
              <a:t>Noncooperative equilibrium</a:t>
            </a:r>
          </a:p>
          <a:p>
            <a:pPr>
              <a:buFont typeface="Arial" pitchFamily="34" charset="0"/>
              <a:buChar char="•"/>
              <a:defRPr/>
            </a:pPr>
            <a:r>
              <a:rPr lang="en-US" sz="2400" dirty="0" smtClean="0"/>
              <a:t>Strategic behavior</a:t>
            </a:r>
          </a:p>
          <a:p>
            <a:pPr>
              <a:buFont typeface="Arial" pitchFamily="34" charset="0"/>
              <a:buChar char="•"/>
              <a:defRPr/>
            </a:pPr>
            <a:r>
              <a:rPr lang="en-US" sz="2400" dirty="0" smtClean="0"/>
              <a:t>Tit for tat</a:t>
            </a:r>
          </a:p>
          <a:p>
            <a:pPr>
              <a:buFont typeface="Arial" pitchFamily="34" charset="0"/>
              <a:buChar char="•"/>
              <a:defRPr/>
            </a:pPr>
            <a:r>
              <a:rPr lang="en-US" sz="2400" dirty="0" smtClean="0"/>
              <a:t>Tacit collusion</a:t>
            </a:r>
          </a:p>
          <a:p>
            <a:pPr>
              <a:buFont typeface="Arial" pitchFamily="34" charset="0"/>
              <a:buChar char="•"/>
              <a:defRPr/>
            </a:pPr>
            <a:r>
              <a:rPr lang="en-US" sz="2400" dirty="0" smtClean="0"/>
              <a:t>Antitrust policy</a:t>
            </a:r>
          </a:p>
          <a:p>
            <a:pPr>
              <a:buFont typeface="Arial" pitchFamily="34" charset="0"/>
              <a:buChar char="•"/>
              <a:defRPr/>
            </a:pPr>
            <a:r>
              <a:rPr lang="en-US" sz="2400" dirty="0" smtClean="0"/>
              <a:t>Price war</a:t>
            </a:r>
          </a:p>
          <a:p>
            <a:pPr>
              <a:buFont typeface="Arial" pitchFamily="34" charset="0"/>
              <a:buChar char="•"/>
              <a:defRPr/>
            </a:pPr>
            <a:r>
              <a:rPr lang="en-US" sz="2400" dirty="0" smtClean="0"/>
              <a:t>Product differentiation</a:t>
            </a:r>
          </a:p>
          <a:p>
            <a:pPr>
              <a:buFont typeface="Arial" pitchFamily="34" charset="0"/>
              <a:buChar char="•"/>
              <a:defRPr/>
            </a:pPr>
            <a:r>
              <a:rPr lang="en-US" sz="2400" dirty="0" smtClean="0"/>
              <a:t>Price leadership</a:t>
            </a:r>
          </a:p>
          <a:p>
            <a:pPr>
              <a:buFont typeface="Arial" pitchFamily="34" charset="0"/>
              <a:buChar char="•"/>
              <a:defRPr/>
            </a:pPr>
            <a:r>
              <a:rPr lang="en-US" sz="2400" dirty="0" smtClean="0"/>
              <a:t>Nonprice competition</a:t>
            </a:r>
            <a:endParaRPr lang="en-US" sz="2400" dirty="0"/>
          </a:p>
        </p:txBody>
      </p:sp>
      <p:sp>
        <p:nvSpPr>
          <p:cNvPr id="4" name="Title 3"/>
          <p:cNvSpPr>
            <a:spLocks noGrp="1"/>
          </p:cNvSpPr>
          <p:nvPr>
            <p:ph type="title" idx="4294967295"/>
          </p:nvPr>
        </p:nvSpPr>
        <p:spPr>
          <a:xfrm>
            <a:off x="1076325" y="39688"/>
            <a:ext cx="8074025" cy="579437"/>
          </a:xfrm>
        </p:spPr>
        <p:txBody>
          <a:bodyPr/>
          <a:lstStyle/>
          <a:p>
            <a:pPr eaLnBrk="1" hangingPunct="1">
              <a:defRPr/>
            </a:pPr>
            <a:r>
              <a:rPr lang="id-ID"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5436</TotalTime>
  <Words>2739</Words>
  <Application>Microsoft Office PowerPoint</Application>
  <PresentationFormat>On-screen Show (4:3)</PresentationFormat>
  <Paragraphs>267</Paragraphs>
  <Slides>30</Slides>
  <Notes>22</Notes>
  <HiddenSlides>0</HiddenSlides>
  <MMClips>0</MMClips>
  <ScaleCrop>false</ScaleCrop>
  <HeadingPairs>
    <vt:vector size="6" baseType="variant">
      <vt:variant>
        <vt:lpstr>Fonts Used</vt:lpstr>
      </vt:variant>
      <vt:variant>
        <vt:i4>9</vt:i4>
      </vt:variant>
      <vt:variant>
        <vt:lpstr>Design Template</vt:lpstr>
      </vt:variant>
      <vt:variant>
        <vt:i4>6</vt:i4>
      </vt:variant>
      <vt:variant>
        <vt:lpstr>Slide Titles</vt:lpstr>
      </vt:variant>
      <vt:variant>
        <vt:i4>30</vt:i4>
      </vt:variant>
    </vt:vector>
  </HeadingPairs>
  <TitlesOfParts>
    <vt:vector size="45" baseType="lpstr">
      <vt:lpstr>Calibri</vt:lpstr>
      <vt:lpstr>MS PGothic</vt:lpstr>
      <vt:lpstr>Arial</vt:lpstr>
      <vt:lpstr>Wingdings</vt:lpstr>
      <vt:lpstr>Bookman Old Style</vt:lpstr>
      <vt:lpstr>Symbol</vt:lpstr>
      <vt:lpstr>Rockwell Condensed</vt:lpstr>
      <vt:lpstr>Myriad Pro</vt:lpstr>
      <vt:lpstr>Tahoma</vt:lpstr>
      <vt:lpstr>Office Theme</vt:lpstr>
      <vt:lpstr>1_Office Theme</vt:lpstr>
      <vt:lpstr>2_Office Theme</vt:lpstr>
      <vt:lpstr>Office Theme</vt:lpstr>
      <vt:lpstr>Office Theme</vt:lpstr>
      <vt:lpstr>Office Theme</vt:lpstr>
      <vt:lpstr>Chapter 14 Oligopoly</vt:lpstr>
      <vt:lpstr>Slide 2</vt:lpstr>
      <vt:lpstr>Properties of Oligopoly Markets</vt:lpstr>
      <vt:lpstr>Measuring Oligopoly</vt:lpstr>
      <vt:lpstr>Studying Oligopoly Behavior…</vt:lpstr>
      <vt:lpstr>Understanding Oligopoly</vt:lpstr>
      <vt:lpstr>Understanding Oligopoly</vt:lpstr>
      <vt:lpstr>Capacity Constrained: Competing in Quantities</vt:lpstr>
      <vt:lpstr>Unrestricted Production: Competing in Prices</vt:lpstr>
      <vt:lpstr>Profits for an Oligopoly </vt:lpstr>
      <vt:lpstr>To Cooperate or Not?</vt:lpstr>
      <vt:lpstr>The Prisoners’ Dilemma</vt:lpstr>
      <vt:lpstr>A Payoff Matrix for a Duopoly</vt:lpstr>
      <vt:lpstr>The Prisoners’ Dilemma</vt:lpstr>
      <vt:lpstr>The Prisoners’ Dilemma</vt:lpstr>
      <vt:lpstr>The Prisoners’ Dilemma</vt:lpstr>
      <vt:lpstr>Multiple Nash Equilibrium</vt:lpstr>
      <vt:lpstr>Slide 18</vt:lpstr>
      <vt:lpstr>Repeated Interaction and Tacit Collusion</vt:lpstr>
      <vt:lpstr>How Repeated Interaction Can Support Collusion</vt:lpstr>
      <vt:lpstr>Oligopoly in Practice</vt:lpstr>
      <vt:lpstr>Product Differentiation and Price Leadership</vt:lpstr>
      <vt:lpstr>Product Differentiation and Price Leadership</vt:lpstr>
      <vt:lpstr>The Ups and Downs of Oil Cartels</vt:lpstr>
      <vt:lpstr>Summary</vt:lpstr>
      <vt:lpstr>Summary</vt:lpstr>
      <vt:lpstr>Summary</vt:lpstr>
      <vt:lpstr>Summary</vt:lpstr>
      <vt:lpstr>Summary</vt:lpstr>
      <vt:lpstr>KEY TERMS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lawrencekhoo</cp:lastModifiedBy>
  <cp:revision>200</cp:revision>
  <dcterms:created xsi:type="dcterms:W3CDTF">2011-11-30T16:12:49Z</dcterms:created>
  <dcterms:modified xsi:type="dcterms:W3CDTF">2013-04-16T03:33:37Z</dcterms:modified>
</cp:coreProperties>
</file>