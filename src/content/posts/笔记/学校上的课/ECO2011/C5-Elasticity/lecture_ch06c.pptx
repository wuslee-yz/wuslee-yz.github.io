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13" r:id="rId6"/>
  </p:sldMasterIdLst>
  <p:notesMasterIdLst>
    <p:notesMasterId r:id="rId5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x="9144000" cy="6858000" type="screen4x3"/>
  <p:notesSz cx="6797675" cy="987425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405"/>
  </p:normalViewPr>
  <p:slideViewPr>
    <p:cSldViewPr snapToGrid="0" snapToObjects="1">
      <p:cViewPr varScale="1">
        <p:scale>
          <a:sx n="131" d="100"/>
          <a:sy n="131" d="100"/>
        </p:scale>
        <p:origin x="162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notesMaster" Target="notesMasters/notesMaster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theme" Target="theme/theme1.xml"/><Relationship Id="rId5" Type="http://schemas.openxmlformats.org/officeDocument/2006/relationships/slideMaster" Target="slideMasters/slideMaster5.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8" Type="http://schemas.openxmlformats.org/officeDocument/2006/relationships/slide" Target="slides/slide2.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39" name="PlaceHolder 1"/>
          <p:cNvSpPr>
            <a:spLocks noGrp="1"/>
          </p:cNvSpPr>
          <p:nvPr>
            <p:ph type="body"/>
          </p:nvPr>
        </p:nvSpPr>
        <p:spPr>
          <a:xfrm>
            <a:off x="777240" y="4777560"/>
            <a:ext cx="6217560" cy="4525920"/>
          </a:xfrm>
          <a:prstGeom prst="rect">
            <a:avLst/>
          </a:prstGeom>
        </p:spPr>
        <p:txBody>
          <a:bodyPr lIns="0" tIns="0" rIns="0" bIns="0"/>
          <a:lstStyle/>
          <a:p>
            <a:r>
              <a:rPr lang="en-US" sz="2000" strike="noStrike" spc="-1">
                <a:solidFill>
                  <a:srgbClr val="000000"/>
                </a:solidFill>
                <a:uFill>
                  <a:solidFill>
                    <a:srgbClr val="FFFFFF"/>
                  </a:solidFill>
                </a:uFill>
                <a:latin typeface="Arial"/>
              </a:rPr>
              <a:t>Click to edit the notes format</a:t>
            </a:r>
          </a:p>
        </p:txBody>
      </p:sp>
      <p:sp>
        <p:nvSpPr>
          <p:cNvPr id="240" name="PlaceHolder 2"/>
          <p:cNvSpPr>
            <a:spLocks noGrp="1"/>
          </p:cNvSpPr>
          <p:nvPr>
            <p:ph type="hdr"/>
          </p:nvPr>
        </p:nvSpPr>
        <p:spPr>
          <a:xfrm>
            <a:off x="0" y="0"/>
            <a:ext cx="3372840" cy="502560"/>
          </a:xfrm>
          <a:prstGeom prst="rect">
            <a:avLst/>
          </a:prstGeom>
        </p:spPr>
        <p:txBody>
          <a:bodyPr lIns="0" tIns="0" rIns="0" bIns="0"/>
          <a:lstStyle/>
          <a:p>
            <a:r>
              <a:rPr lang="en-US" sz="1400" strike="noStrike" spc="-1">
                <a:solidFill>
                  <a:srgbClr val="000000"/>
                </a:solidFill>
                <a:uFill>
                  <a:solidFill>
                    <a:srgbClr val="FFFFFF"/>
                  </a:solidFill>
                </a:uFill>
                <a:latin typeface="Times New Roman"/>
              </a:rPr>
              <a:t>&lt;header&gt;</a:t>
            </a:r>
          </a:p>
        </p:txBody>
      </p:sp>
      <p:sp>
        <p:nvSpPr>
          <p:cNvPr id="241" name="PlaceHolder 3"/>
          <p:cNvSpPr>
            <a:spLocks noGrp="1"/>
          </p:cNvSpPr>
          <p:nvPr>
            <p:ph type="dt"/>
          </p:nvPr>
        </p:nvSpPr>
        <p:spPr>
          <a:xfrm>
            <a:off x="4399200" y="0"/>
            <a:ext cx="3372840" cy="502560"/>
          </a:xfrm>
          <a:prstGeom prst="rect">
            <a:avLst/>
          </a:prstGeom>
        </p:spPr>
        <p:txBody>
          <a:bodyPr lIns="0" tIns="0" rIns="0" bIns="0"/>
          <a:lstStyle/>
          <a:p>
            <a:pPr algn="r"/>
            <a:r>
              <a:rPr lang="en-US" sz="1400" strike="noStrike" spc="-1">
                <a:solidFill>
                  <a:srgbClr val="000000"/>
                </a:solidFill>
                <a:uFill>
                  <a:solidFill>
                    <a:srgbClr val="FFFFFF"/>
                  </a:solidFill>
                </a:uFill>
                <a:latin typeface="Times New Roman"/>
              </a:rPr>
              <a:t>&lt;date/time&gt;</a:t>
            </a:r>
          </a:p>
        </p:txBody>
      </p:sp>
      <p:sp>
        <p:nvSpPr>
          <p:cNvPr id="242" name="PlaceHolder 4"/>
          <p:cNvSpPr>
            <a:spLocks noGrp="1"/>
          </p:cNvSpPr>
          <p:nvPr>
            <p:ph type="ftr"/>
          </p:nvPr>
        </p:nvSpPr>
        <p:spPr>
          <a:xfrm>
            <a:off x="0" y="9555480"/>
            <a:ext cx="3372840" cy="502560"/>
          </a:xfrm>
          <a:prstGeom prst="rect">
            <a:avLst/>
          </a:prstGeom>
        </p:spPr>
        <p:txBody>
          <a:bodyPr lIns="0" tIns="0" rIns="0" bIns="0" anchor="b"/>
          <a:lstStyle/>
          <a:p>
            <a:r>
              <a:rPr lang="en-US" sz="1400" strike="noStrike" spc="-1">
                <a:solidFill>
                  <a:srgbClr val="000000"/>
                </a:solidFill>
                <a:uFill>
                  <a:solidFill>
                    <a:srgbClr val="FFFFFF"/>
                  </a:solidFill>
                </a:uFill>
                <a:latin typeface="Times New Roman"/>
              </a:rPr>
              <a:t>&lt;footer&gt;</a:t>
            </a:r>
          </a:p>
        </p:txBody>
      </p:sp>
      <p:sp>
        <p:nvSpPr>
          <p:cNvPr id="243" name="PlaceHolder 5"/>
          <p:cNvSpPr>
            <a:spLocks noGrp="1"/>
          </p:cNvSpPr>
          <p:nvPr>
            <p:ph type="sldNum"/>
          </p:nvPr>
        </p:nvSpPr>
        <p:spPr>
          <a:xfrm>
            <a:off x="4399200" y="9555480"/>
            <a:ext cx="3372840" cy="502560"/>
          </a:xfrm>
          <a:prstGeom prst="rect">
            <a:avLst/>
          </a:prstGeom>
        </p:spPr>
        <p:txBody>
          <a:bodyPr lIns="0" tIns="0" rIns="0" bIns="0" anchor="b"/>
          <a:lstStyle/>
          <a:p>
            <a:pPr algn="r"/>
            <a:fld id="{0A720B6A-3151-4C24-B949-A64F7B1D28A6}" type="slidenum">
              <a:rPr lang="en-US" sz="1400" strike="noStrike" spc="-1">
                <a:solidFill>
                  <a:srgbClr val="000000"/>
                </a:solidFill>
                <a:uFill>
                  <a:solidFill>
                    <a:srgbClr val="FFFFFF"/>
                  </a:solidFill>
                </a:uFill>
                <a:latin typeface="Times New Roman"/>
              </a:rPr>
              <a:t>‹#›</a:t>
            </a:fld>
            <a:endParaRPr lang="en-US" sz="1400" strike="noStrike" spc="-1">
              <a:solidFill>
                <a:srgbClr val="000000"/>
              </a:solidFill>
              <a:uFill>
                <a:solidFill>
                  <a:srgbClr val="FFFFFF"/>
                </a:solidFill>
              </a:u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3"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54"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9EE0F299-189E-4E05-984F-A1B7E0AEA716}" type="slidenum">
              <a:rPr lang="en-US" sz="1200" strike="noStrike" spc="-1">
                <a:solidFill>
                  <a:srgbClr val="000000"/>
                </a:solidFill>
                <a:uFill>
                  <a:solidFill>
                    <a:srgbClr val="FFFFFF"/>
                  </a:solidFill>
                </a:uFill>
                <a:latin typeface="Calibri"/>
                <a:ea typeface="MS PGothic"/>
              </a:rPr>
              <a:t>1</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5"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56" name="TextShape 2"/>
          <p:cNvSpPr txBox="1"/>
          <p:nvPr/>
        </p:nvSpPr>
        <p:spPr>
          <a:xfrm>
            <a:off x="3849840" y="9379080"/>
            <a:ext cx="2945880" cy="493200"/>
          </a:xfrm>
          <a:prstGeom prst="rect">
            <a:avLst/>
          </a:prstGeom>
          <a:noFill/>
          <a:ln>
            <a:noFill/>
          </a:ln>
        </p:spPr>
        <p:txBody>
          <a:bodyPr anchor="b"/>
          <a:lstStyle/>
          <a:p>
            <a:pPr algn="r">
              <a:lnSpc>
                <a:spcPct val="100000"/>
              </a:lnSpc>
            </a:pPr>
            <a:fld id="{61753F9A-7EC4-4182-A3EE-FBC7E3F41A3F}" type="slidenum">
              <a:rPr lang="en-US" sz="1200" strike="noStrike" spc="-1">
                <a:solidFill>
                  <a:srgbClr val="000000"/>
                </a:solidFill>
                <a:uFill>
                  <a:solidFill>
                    <a:srgbClr val="FFFFFF"/>
                  </a:solidFill>
                </a:uFill>
                <a:latin typeface="Times New Roman"/>
              </a:rPr>
              <a:t>2</a:t>
            </a:fld>
            <a:endParaRPr lang="en-US" sz="1400" strike="noStrike" spc="-1">
              <a:solidFill>
                <a:srgbClr val="000000"/>
              </a:solidFill>
              <a:uFill>
                <a:solidFill>
                  <a:srgbClr val="FFFFFF"/>
                </a:solidFill>
              </a:u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7"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58"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0B2933E5-C18A-43D7-9BAC-6D0AF26B41B5}" type="slidenum">
              <a:rPr lang="en-US" sz="1200" strike="noStrike" spc="-1">
                <a:solidFill>
                  <a:srgbClr val="000000"/>
                </a:solidFill>
                <a:uFill>
                  <a:solidFill>
                    <a:srgbClr val="FFFFFF"/>
                  </a:solidFill>
                </a:uFill>
                <a:latin typeface="Calibri"/>
                <a:ea typeface="MS PGothic"/>
              </a:rPr>
              <a:t>3</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60"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02458C1F-58E2-4701-A05B-23D949878D30}" type="slidenum">
              <a:rPr lang="en-US" sz="1200" strike="noStrike" spc="-1">
                <a:solidFill>
                  <a:srgbClr val="000000"/>
                </a:solidFill>
                <a:uFill>
                  <a:solidFill>
                    <a:srgbClr val="FFFFFF"/>
                  </a:solidFill>
                </a:uFill>
                <a:latin typeface="Arial"/>
                <a:ea typeface="MS PGothic"/>
              </a:rPr>
              <a:t>4</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1" name="PlaceHolder 1"/>
          <p:cNvSpPr>
            <a:spLocks noGrp="1"/>
          </p:cNvSpPr>
          <p:nvPr>
            <p:ph type="body"/>
          </p:nvPr>
        </p:nvSpPr>
        <p:spPr>
          <a:xfrm>
            <a:off x="679320" y="4691160"/>
            <a:ext cx="5438520" cy="4443120"/>
          </a:xfrm>
          <a:prstGeom prst="rect">
            <a:avLst/>
          </a:prstGeom>
        </p:spPr>
        <p:txBody>
          <a:bodyPr/>
          <a:lstStyle/>
          <a:p>
            <a:pPr marL="216000" indent="-216000">
              <a:lnSpc>
                <a:spcPct val="100000"/>
              </a:lnSpc>
            </a:pPr>
            <a:r>
              <a:rPr lang="en-US" sz="2000" b="1" i="1" u="sng" strike="noStrike" spc="-1">
                <a:solidFill>
                  <a:srgbClr val="000000"/>
                </a:solidFill>
                <a:uFill>
                  <a:solidFill>
                    <a:srgbClr val="FFFFFF"/>
                  </a:solidFill>
                </a:uFill>
                <a:latin typeface="Arial"/>
              </a:rPr>
              <a:t>Figure Caption:</a:t>
            </a:r>
            <a:r>
              <a:rPr lang="en-US" sz="2000" strike="noStrike" spc="-1">
                <a:solidFill>
                  <a:srgbClr val="000000"/>
                </a:solidFill>
                <a:uFill>
                  <a:solidFill>
                    <a:srgbClr val="FFFFFF"/>
                  </a:solidFill>
                </a:uFill>
                <a:latin typeface="Arial"/>
              </a:rPr>
              <a:t>  </a:t>
            </a:r>
          </a:p>
          <a:p>
            <a:pPr marL="216000" indent="-216000">
              <a:lnSpc>
                <a:spcPct val="100000"/>
              </a:lnSpc>
            </a:pPr>
            <a:r>
              <a:rPr lang="en-US" sz="2000" b="1" strike="noStrike" spc="-1">
                <a:solidFill>
                  <a:srgbClr val="000000"/>
                </a:solidFill>
                <a:uFill>
                  <a:solidFill>
                    <a:srgbClr val="FFFFFF"/>
                  </a:solidFill>
                </a:uFill>
                <a:latin typeface="Arial"/>
              </a:rPr>
              <a:t>Figure 6-1: Demand for Vaccinations </a:t>
            </a:r>
            <a:endParaRPr lang="en-US" sz="2000" strike="noStrike" spc="-1">
              <a:solidFill>
                <a:srgbClr val="000000"/>
              </a:solidFill>
              <a:uFill>
                <a:solidFill>
                  <a:srgbClr val="FFFFFF"/>
                </a:solidFill>
              </a:uFill>
              <a:latin typeface="Arial"/>
            </a:endParaRPr>
          </a:p>
          <a:p>
            <a:pPr marL="216000" indent="-216000">
              <a:lnSpc>
                <a:spcPct val="100000"/>
              </a:lnSpc>
            </a:pPr>
            <a:r>
              <a:rPr lang="en-US" sz="2000" strike="noStrike" spc="-1">
                <a:solidFill>
                  <a:srgbClr val="000000"/>
                </a:solidFill>
                <a:uFill>
                  <a:solidFill>
                    <a:srgbClr val="FFFFFF"/>
                  </a:solidFill>
                </a:uFill>
                <a:latin typeface="Arial"/>
              </a:rPr>
              <a:t>At a price of $20 per vaccination, the quantity of vaccinations demanded is 10 million per year (point </a:t>
            </a:r>
            <a:r>
              <a:rPr lang="en-US" sz="2000" i="1" strike="noStrike" spc="-1">
                <a:solidFill>
                  <a:srgbClr val="000000"/>
                </a:solidFill>
                <a:uFill>
                  <a:solidFill>
                    <a:srgbClr val="FFFFFF"/>
                  </a:solidFill>
                </a:uFill>
                <a:latin typeface="Arial"/>
              </a:rPr>
              <a:t>A</a:t>
            </a:r>
            <a:r>
              <a:rPr lang="en-US" sz="2000" strike="noStrike" spc="-1">
                <a:solidFill>
                  <a:srgbClr val="000000"/>
                </a:solidFill>
                <a:uFill>
                  <a:solidFill>
                    <a:srgbClr val="FFFFFF"/>
                  </a:solidFill>
                </a:uFill>
                <a:latin typeface="Arial"/>
              </a:rPr>
              <a:t>). When price rises to $21 per vaccination, the quantity demanded falls to 9.9 million vaccinations per year (point B).</a:t>
            </a:r>
          </a:p>
          <a:p>
            <a:pPr marL="216000" indent="-216000">
              <a:lnSpc>
                <a:spcPct val="100000"/>
              </a:lnSpc>
            </a:pPr>
            <a:endParaRPr lang="en-US" sz="2000" strike="noStrike" spc="-1">
              <a:solidFill>
                <a:srgbClr val="000000"/>
              </a:solidFill>
              <a:uFill>
                <a:solidFill>
                  <a:srgbClr val="FFFFFF"/>
                </a:solidFill>
              </a:uFill>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2"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63"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92EC08A2-0013-42D5-9C7A-9906E3245018}" type="slidenum">
              <a:rPr lang="en-US" sz="1200" strike="noStrike" spc="-1">
                <a:solidFill>
                  <a:srgbClr val="000000"/>
                </a:solidFill>
                <a:uFill>
                  <a:solidFill>
                    <a:srgbClr val="FFFFFF"/>
                  </a:solidFill>
                </a:uFill>
                <a:latin typeface="Arial"/>
                <a:ea typeface="MS PGothic"/>
              </a:rPr>
              <a:t>6</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4"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65"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A22D97EB-1A18-475E-8EEE-A70E067D9FB2}" type="slidenum">
              <a:rPr lang="en-US" sz="1200" strike="noStrike" spc="-1">
                <a:solidFill>
                  <a:srgbClr val="000000"/>
                </a:solidFill>
                <a:uFill>
                  <a:solidFill>
                    <a:srgbClr val="FFFFFF"/>
                  </a:solidFill>
                </a:uFill>
                <a:latin typeface="Arial"/>
                <a:ea typeface="MS PGothic"/>
              </a:rPr>
              <a:t>7</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6"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67"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3FAB0002-A2F9-4A96-A25F-725080ACB946}" type="slidenum">
              <a:rPr lang="en-US" sz="1200" strike="noStrike" spc="-1">
                <a:solidFill>
                  <a:srgbClr val="000000"/>
                </a:solidFill>
                <a:uFill>
                  <a:solidFill>
                    <a:srgbClr val="FFFFFF"/>
                  </a:solidFill>
                </a:uFill>
                <a:latin typeface="Arial"/>
                <a:ea typeface="MS PGothic"/>
              </a:rPr>
              <a:t>8</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8"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69"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25113E68-DF25-4B50-A07F-9A35412DC901}" type="slidenum">
              <a:rPr lang="en-US" sz="1200" strike="noStrike" spc="-1">
                <a:solidFill>
                  <a:srgbClr val="000000"/>
                </a:solidFill>
                <a:uFill>
                  <a:solidFill>
                    <a:srgbClr val="FFFFFF"/>
                  </a:solidFill>
                </a:uFill>
                <a:latin typeface="Arial"/>
                <a:ea typeface="MS PGothic"/>
              </a:rPr>
              <a:t>9</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0"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71"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6AFFE2F5-FECC-4BD8-9C8F-390659B53842}" type="slidenum">
              <a:rPr lang="en-US" sz="1200" strike="noStrike" spc="-1">
                <a:solidFill>
                  <a:srgbClr val="000000"/>
                </a:solidFill>
                <a:uFill>
                  <a:solidFill>
                    <a:srgbClr val="FFFFFF"/>
                  </a:solidFill>
                </a:uFill>
                <a:latin typeface="Calibri"/>
                <a:ea typeface="MS PGothic"/>
              </a:rPr>
              <a:t>10</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2" name="PlaceHolder 1"/>
          <p:cNvSpPr>
            <a:spLocks noGrp="1"/>
          </p:cNvSpPr>
          <p:nvPr>
            <p:ph type="body"/>
          </p:nvPr>
        </p:nvSpPr>
        <p:spPr>
          <a:xfrm>
            <a:off x="679320" y="4691160"/>
            <a:ext cx="5438520" cy="4443120"/>
          </a:xfrm>
          <a:prstGeom prst="rect">
            <a:avLst/>
          </a:prstGeom>
        </p:spPr>
        <p:txBody>
          <a:bodyPr/>
          <a:lstStyle/>
          <a:p>
            <a:pPr marL="216000" indent="-216000">
              <a:lnSpc>
                <a:spcPct val="100000"/>
              </a:lnSpc>
            </a:pPr>
            <a:r>
              <a:rPr lang="en-US" sz="2000" b="1" i="1" u="sng" strike="noStrike" spc="-1">
                <a:solidFill>
                  <a:srgbClr val="000000"/>
                </a:solidFill>
                <a:uFill>
                  <a:solidFill>
                    <a:srgbClr val="FFFFFF"/>
                  </a:solidFill>
                </a:uFill>
                <a:latin typeface="Arial"/>
              </a:rPr>
              <a:t>Figure Caption:</a:t>
            </a:r>
            <a:r>
              <a:rPr lang="en-US" sz="2000" strike="noStrike" spc="-1">
                <a:solidFill>
                  <a:srgbClr val="000000"/>
                </a:solidFill>
                <a:uFill>
                  <a:solidFill>
                    <a:srgbClr val="FFFFFF"/>
                  </a:solidFill>
                </a:uFill>
                <a:latin typeface="Arial"/>
              </a:rPr>
              <a:t>  </a:t>
            </a:r>
          </a:p>
          <a:p>
            <a:pPr marL="216000" indent="-216000">
              <a:lnSpc>
                <a:spcPct val="100000"/>
              </a:lnSpc>
            </a:pPr>
            <a:r>
              <a:rPr lang="en-US" sz="2000" b="1" strike="noStrike" spc="-1">
                <a:solidFill>
                  <a:srgbClr val="000000"/>
                </a:solidFill>
                <a:uFill>
                  <a:solidFill>
                    <a:srgbClr val="FFFFFF"/>
                  </a:solidFill>
                </a:uFill>
                <a:latin typeface="Arial"/>
              </a:rPr>
              <a:t>Figure 6-2: Two Extreme Cases of Price Elasticity of Demand</a:t>
            </a:r>
            <a:endParaRPr lang="en-US" sz="2000" strike="noStrike" spc="-1">
              <a:solidFill>
                <a:srgbClr val="000000"/>
              </a:solidFill>
              <a:uFill>
                <a:solidFill>
                  <a:srgbClr val="FFFFFF"/>
                </a:solidFill>
              </a:uFill>
              <a:latin typeface="Arial"/>
            </a:endParaRPr>
          </a:p>
          <a:p>
            <a:pPr marL="216000" indent="-216000">
              <a:lnSpc>
                <a:spcPct val="100000"/>
              </a:lnSpc>
            </a:pPr>
            <a:r>
              <a:rPr lang="en-US" sz="2000" strike="noStrike" spc="-1">
                <a:solidFill>
                  <a:srgbClr val="000000"/>
                </a:solidFill>
                <a:uFill>
                  <a:solidFill>
                    <a:srgbClr val="FFFFFF"/>
                  </a:solidFill>
                </a:uFill>
                <a:latin typeface="Arial"/>
              </a:rPr>
              <a:t>Panel (a) shows a perfectly inelastic demand curve, which is a vertical line. The quantity of shoelaces demanded is always 1 billion pairs, regardless of price. As a result, the price elasticity of demand is zero—the quantity demanded is unaffected by the price.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3" name="PlaceHolder 1"/>
          <p:cNvSpPr>
            <a:spLocks noGrp="1"/>
          </p:cNvSpPr>
          <p:nvPr>
            <p:ph type="body"/>
          </p:nvPr>
        </p:nvSpPr>
        <p:spPr>
          <a:xfrm>
            <a:off x="679320" y="4691160"/>
            <a:ext cx="5438520" cy="4443120"/>
          </a:xfrm>
          <a:prstGeom prst="rect">
            <a:avLst/>
          </a:prstGeom>
        </p:spPr>
        <p:txBody>
          <a:bodyPr/>
          <a:lstStyle/>
          <a:p>
            <a:pPr marL="216000" indent="-216000">
              <a:lnSpc>
                <a:spcPct val="100000"/>
              </a:lnSpc>
            </a:pPr>
            <a:r>
              <a:rPr lang="en-US" sz="2000" b="1" i="1" u="sng" strike="noStrike" spc="-1">
                <a:solidFill>
                  <a:srgbClr val="000000"/>
                </a:solidFill>
                <a:uFill>
                  <a:solidFill>
                    <a:srgbClr val="FFFFFF"/>
                  </a:solidFill>
                </a:uFill>
                <a:latin typeface="Arial"/>
              </a:rPr>
              <a:t>Figure Caption:</a:t>
            </a:r>
            <a:r>
              <a:rPr lang="en-US" sz="2000" strike="noStrike" spc="-1">
                <a:solidFill>
                  <a:srgbClr val="000000"/>
                </a:solidFill>
                <a:uFill>
                  <a:solidFill>
                    <a:srgbClr val="FFFFFF"/>
                  </a:solidFill>
                </a:uFill>
                <a:latin typeface="Arial"/>
              </a:rPr>
              <a:t>  </a:t>
            </a:r>
          </a:p>
          <a:p>
            <a:pPr marL="216000" indent="-216000">
              <a:lnSpc>
                <a:spcPct val="100000"/>
              </a:lnSpc>
            </a:pPr>
            <a:r>
              <a:rPr lang="en-US" sz="2000" b="1" strike="noStrike" spc="-1">
                <a:solidFill>
                  <a:srgbClr val="000000"/>
                </a:solidFill>
                <a:uFill>
                  <a:solidFill>
                    <a:srgbClr val="FFFFFF"/>
                  </a:solidFill>
                </a:uFill>
                <a:latin typeface="Arial"/>
              </a:rPr>
              <a:t>Figure 6-2: Two Extreme Cases of Price Elasticity of Demand</a:t>
            </a:r>
            <a:endParaRPr lang="en-US" sz="2000" strike="noStrike" spc="-1">
              <a:solidFill>
                <a:srgbClr val="000000"/>
              </a:solidFill>
              <a:uFill>
                <a:solidFill>
                  <a:srgbClr val="FFFFFF"/>
                </a:solidFill>
              </a:uFill>
              <a:latin typeface="Arial"/>
            </a:endParaRPr>
          </a:p>
          <a:p>
            <a:pPr marL="216000" indent="-216000">
              <a:lnSpc>
                <a:spcPct val="100000"/>
              </a:lnSpc>
            </a:pPr>
            <a:r>
              <a:rPr lang="en-US" sz="2000" strike="noStrike" spc="-1">
                <a:solidFill>
                  <a:srgbClr val="000000"/>
                </a:solidFill>
                <a:uFill>
                  <a:solidFill>
                    <a:srgbClr val="FFFFFF"/>
                  </a:solidFill>
                </a:uFill>
                <a:latin typeface="Arial"/>
              </a:rPr>
              <a:t>Panel (b) shows a perfectly elastic demand curve, which is a horizontal line. At a price of $5, consumers will buy any quantity of pink tennis balls, but will buy none at a price above $5. If the price falls below $5, they will buy an extremely large number of pink tennis balls and none of any other color.</a:t>
            </a:r>
          </a:p>
          <a:p>
            <a:pPr marL="216000" indent="-216000">
              <a:lnSpc>
                <a:spcPct val="100000"/>
              </a:lnSpc>
            </a:pPr>
            <a:endParaRPr lang="en-US" sz="2000" strike="noStrike" spc="-1">
              <a:solidFill>
                <a:srgbClr val="000000"/>
              </a:solidFill>
              <a:uFill>
                <a:solidFill>
                  <a:srgbClr val="FFFFFF"/>
                </a:solidFill>
              </a:uFill>
              <a:latin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4" name="PlaceHolder 1"/>
          <p:cNvSpPr>
            <a:spLocks noGrp="1"/>
          </p:cNvSpPr>
          <p:nvPr>
            <p:ph type="body"/>
          </p:nvPr>
        </p:nvSpPr>
        <p:spPr>
          <a:xfrm>
            <a:off x="679320" y="4691160"/>
            <a:ext cx="5438520" cy="4443120"/>
          </a:xfrm>
          <a:prstGeom prst="rect">
            <a:avLst/>
          </a:prstGeom>
        </p:spPr>
        <p:txBody>
          <a:bodyPr/>
          <a:lstStyle/>
          <a:p>
            <a:pPr marL="216000" indent="-216000">
              <a:lnSpc>
                <a:spcPct val="100000"/>
              </a:lnSpc>
            </a:pPr>
            <a:r>
              <a:rPr lang="en-US" sz="2000" b="1" i="1" u="sng" strike="noStrike" spc="-1">
                <a:solidFill>
                  <a:srgbClr val="000000"/>
                </a:solidFill>
                <a:uFill>
                  <a:solidFill>
                    <a:srgbClr val="FFFFFF"/>
                  </a:solidFill>
                </a:uFill>
                <a:latin typeface="Arial"/>
              </a:rPr>
              <a:t>Figure Caption:</a:t>
            </a:r>
            <a:r>
              <a:rPr lang="en-US" sz="2000" strike="noStrike" spc="-1">
                <a:solidFill>
                  <a:srgbClr val="000000"/>
                </a:solidFill>
                <a:uFill>
                  <a:solidFill>
                    <a:srgbClr val="FFFFFF"/>
                  </a:solidFill>
                </a:uFill>
                <a:latin typeface="Arial"/>
              </a:rPr>
              <a:t>  </a:t>
            </a:r>
          </a:p>
          <a:p>
            <a:pPr marL="216000" indent="-216000">
              <a:lnSpc>
                <a:spcPct val="100000"/>
              </a:lnSpc>
            </a:pPr>
            <a:r>
              <a:rPr lang="en-US" sz="2000" b="1" strike="noStrike" spc="-1">
                <a:solidFill>
                  <a:srgbClr val="000000"/>
                </a:solidFill>
                <a:uFill>
                  <a:solidFill>
                    <a:srgbClr val="FFFFFF"/>
                  </a:solidFill>
                </a:uFill>
                <a:latin typeface="Arial"/>
              </a:rPr>
              <a:t>Figure 6-3: Unit-Elastic Demand, Inelastic Demand, and Elastic Demand</a:t>
            </a:r>
            <a:endParaRPr lang="en-US" sz="2000" strike="noStrike" spc="-1">
              <a:solidFill>
                <a:srgbClr val="000000"/>
              </a:solidFill>
              <a:uFill>
                <a:solidFill>
                  <a:srgbClr val="FFFFFF"/>
                </a:solidFill>
              </a:uFill>
              <a:latin typeface="Arial"/>
            </a:endParaRPr>
          </a:p>
          <a:p>
            <a:pPr marL="216000" indent="-216000">
              <a:lnSpc>
                <a:spcPct val="100000"/>
              </a:lnSpc>
            </a:pPr>
            <a:r>
              <a:rPr lang="en-US" sz="2000" strike="noStrike" spc="-1">
                <a:solidFill>
                  <a:srgbClr val="000000"/>
                </a:solidFill>
                <a:uFill>
                  <a:solidFill>
                    <a:srgbClr val="FFFFFF"/>
                  </a:solidFill>
                </a:uFill>
                <a:latin typeface="Arial"/>
              </a:rPr>
              <a:t>A case of elastic demand is shown in Panel (c): a 20% increase in price causes a 40% decline in quantity demanded, implying a price elasticity of demand of 2. All percentages are calculated using the midpoint method.</a:t>
            </a:r>
          </a:p>
          <a:p>
            <a:pPr marL="216000" indent="-216000">
              <a:lnSpc>
                <a:spcPct val="100000"/>
              </a:lnSpc>
            </a:pPr>
            <a:endParaRPr lang="en-US" sz="2000" strike="noStrike" spc="-1">
              <a:solidFill>
                <a:srgbClr val="000000"/>
              </a:solidFill>
              <a:uFill>
                <a:solidFill>
                  <a:srgbClr val="FFFFFF"/>
                </a:solidFill>
              </a:uFill>
              <a:latin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5" name="PlaceHolder 1"/>
          <p:cNvSpPr>
            <a:spLocks noGrp="1"/>
          </p:cNvSpPr>
          <p:nvPr>
            <p:ph type="body"/>
          </p:nvPr>
        </p:nvSpPr>
        <p:spPr>
          <a:xfrm>
            <a:off x="679320" y="4691160"/>
            <a:ext cx="5438520" cy="4443120"/>
          </a:xfrm>
          <a:prstGeom prst="rect">
            <a:avLst/>
          </a:prstGeom>
        </p:spPr>
        <p:txBody>
          <a:bodyPr/>
          <a:lstStyle/>
          <a:p>
            <a:pPr marL="216000" indent="-216000">
              <a:lnSpc>
                <a:spcPct val="100000"/>
              </a:lnSpc>
            </a:pPr>
            <a:r>
              <a:rPr lang="en-US" sz="2000" b="1" i="1" u="sng" strike="noStrike" spc="-1">
                <a:solidFill>
                  <a:srgbClr val="000000"/>
                </a:solidFill>
                <a:uFill>
                  <a:solidFill>
                    <a:srgbClr val="FFFFFF"/>
                  </a:solidFill>
                </a:uFill>
                <a:latin typeface="Arial"/>
              </a:rPr>
              <a:t>Figure Caption:</a:t>
            </a:r>
            <a:r>
              <a:rPr lang="en-US" sz="2000" strike="noStrike" spc="-1">
                <a:solidFill>
                  <a:srgbClr val="000000"/>
                </a:solidFill>
                <a:uFill>
                  <a:solidFill>
                    <a:srgbClr val="FFFFFF"/>
                  </a:solidFill>
                </a:uFill>
                <a:latin typeface="Arial"/>
              </a:rPr>
              <a:t>  </a:t>
            </a:r>
          </a:p>
          <a:p>
            <a:pPr marL="216000" indent="-216000">
              <a:lnSpc>
                <a:spcPct val="100000"/>
              </a:lnSpc>
            </a:pPr>
            <a:r>
              <a:rPr lang="en-US" sz="2000" b="1" strike="noStrike" spc="-1">
                <a:solidFill>
                  <a:srgbClr val="000000"/>
                </a:solidFill>
                <a:uFill>
                  <a:solidFill>
                    <a:srgbClr val="FFFFFF"/>
                  </a:solidFill>
                </a:uFill>
                <a:latin typeface="Arial"/>
              </a:rPr>
              <a:t>Figure 6-3: Unit-Elastic Demand, Inelastic Demand, and Elastic Demand</a:t>
            </a:r>
            <a:endParaRPr lang="en-US" sz="2000" strike="noStrike" spc="-1">
              <a:solidFill>
                <a:srgbClr val="000000"/>
              </a:solidFill>
              <a:uFill>
                <a:solidFill>
                  <a:srgbClr val="FFFFFF"/>
                </a:solidFill>
              </a:uFill>
              <a:latin typeface="Arial"/>
            </a:endParaRPr>
          </a:p>
          <a:p>
            <a:pPr marL="216000" indent="-216000">
              <a:lnSpc>
                <a:spcPct val="100000"/>
              </a:lnSpc>
            </a:pPr>
            <a:r>
              <a:rPr lang="en-US" sz="2000" strike="noStrike" spc="-1">
                <a:solidFill>
                  <a:srgbClr val="000000"/>
                </a:solidFill>
                <a:uFill>
                  <a:solidFill>
                    <a:srgbClr val="FFFFFF"/>
                  </a:solidFill>
                </a:uFill>
                <a:latin typeface="Arial"/>
              </a:rPr>
              <a:t>Panel (a) shows a case of unit-elastic demand: a 20% increase in price generates a 20% decline in quantity demanded, implying a price elasticity of demand of 1.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6" name="PlaceHolder 1"/>
          <p:cNvSpPr>
            <a:spLocks noGrp="1"/>
          </p:cNvSpPr>
          <p:nvPr>
            <p:ph type="body"/>
          </p:nvPr>
        </p:nvSpPr>
        <p:spPr>
          <a:xfrm>
            <a:off x="679320" y="4691160"/>
            <a:ext cx="5438520" cy="4443120"/>
          </a:xfrm>
          <a:prstGeom prst="rect">
            <a:avLst/>
          </a:prstGeom>
        </p:spPr>
        <p:txBody>
          <a:bodyPr/>
          <a:lstStyle/>
          <a:p>
            <a:pPr marL="216000" indent="-216000">
              <a:lnSpc>
                <a:spcPct val="100000"/>
              </a:lnSpc>
            </a:pPr>
            <a:r>
              <a:rPr lang="en-US" sz="2000" b="1" i="1" u="sng" strike="noStrike" spc="-1">
                <a:solidFill>
                  <a:srgbClr val="000000"/>
                </a:solidFill>
                <a:uFill>
                  <a:solidFill>
                    <a:srgbClr val="FFFFFF"/>
                  </a:solidFill>
                </a:uFill>
                <a:latin typeface="Arial"/>
              </a:rPr>
              <a:t>Figure Caption:</a:t>
            </a:r>
            <a:r>
              <a:rPr lang="en-US" sz="2000" strike="noStrike" spc="-1">
                <a:solidFill>
                  <a:srgbClr val="000000"/>
                </a:solidFill>
                <a:uFill>
                  <a:solidFill>
                    <a:srgbClr val="FFFFFF"/>
                  </a:solidFill>
                </a:uFill>
                <a:latin typeface="Arial"/>
              </a:rPr>
              <a:t>  </a:t>
            </a:r>
          </a:p>
          <a:p>
            <a:pPr marL="216000" indent="-216000">
              <a:lnSpc>
                <a:spcPct val="100000"/>
              </a:lnSpc>
            </a:pPr>
            <a:r>
              <a:rPr lang="en-US" sz="2000" b="1" strike="noStrike" spc="-1">
                <a:solidFill>
                  <a:srgbClr val="000000"/>
                </a:solidFill>
                <a:uFill>
                  <a:solidFill>
                    <a:srgbClr val="FFFFFF"/>
                  </a:solidFill>
                </a:uFill>
                <a:latin typeface="Arial"/>
              </a:rPr>
              <a:t>Figure 6-3: Unit-Elastic Demand, Inelastic Demand, and Elastic Demand</a:t>
            </a:r>
            <a:endParaRPr lang="en-US" sz="2000" strike="noStrike" spc="-1">
              <a:solidFill>
                <a:srgbClr val="000000"/>
              </a:solidFill>
              <a:uFill>
                <a:solidFill>
                  <a:srgbClr val="FFFFFF"/>
                </a:solidFill>
              </a:uFill>
              <a:latin typeface="Arial"/>
            </a:endParaRPr>
          </a:p>
          <a:p>
            <a:pPr marL="216000" indent="-216000">
              <a:lnSpc>
                <a:spcPct val="100000"/>
              </a:lnSpc>
            </a:pPr>
            <a:r>
              <a:rPr lang="en-US" sz="2000" strike="noStrike" spc="-1">
                <a:solidFill>
                  <a:srgbClr val="000000"/>
                </a:solidFill>
                <a:uFill>
                  <a:solidFill>
                    <a:srgbClr val="FFFFFF"/>
                  </a:solidFill>
                </a:uFill>
                <a:latin typeface="Arial"/>
              </a:rPr>
              <a:t>Panel (b) shows a case of inelastic demand: a 20% increase in price generates a 10% decline in quantity demanded, implying a price elasticity of demand of 0.5.</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7"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78"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8C61A88D-88CC-40B2-ACE6-9A74238F509F}" type="slidenum">
              <a:rPr lang="en-US" sz="1200" strike="noStrike" spc="-1">
                <a:solidFill>
                  <a:srgbClr val="000000"/>
                </a:solidFill>
                <a:uFill>
                  <a:solidFill>
                    <a:srgbClr val="FFFFFF"/>
                  </a:solidFill>
                </a:uFill>
                <a:latin typeface="Arial"/>
                <a:ea typeface="MS PGothic"/>
              </a:rPr>
              <a:t>16</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9" name="PlaceHolder 1"/>
          <p:cNvSpPr>
            <a:spLocks noGrp="1"/>
          </p:cNvSpPr>
          <p:nvPr>
            <p:ph type="body"/>
          </p:nvPr>
        </p:nvSpPr>
        <p:spPr>
          <a:xfrm>
            <a:off x="679320" y="4691160"/>
            <a:ext cx="5438520" cy="4443120"/>
          </a:xfrm>
          <a:prstGeom prst="rect">
            <a:avLst/>
          </a:prstGeom>
        </p:spPr>
        <p:txBody>
          <a:bodyPr/>
          <a:lstStyle/>
          <a:p>
            <a:pPr marL="216000" indent="-216000">
              <a:lnSpc>
                <a:spcPct val="100000"/>
              </a:lnSpc>
            </a:pPr>
            <a:r>
              <a:rPr lang="en-US" sz="2000" b="1" i="1" u="sng" strike="noStrike" spc="-1">
                <a:solidFill>
                  <a:srgbClr val="000000"/>
                </a:solidFill>
                <a:uFill>
                  <a:solidFill>
                    <a:srgbClr val="FFFFFF"/>
                  </a:solidFill>
                </a:uFill>
                <a:latin typeface="Arial"/>
              </a:rPr>
              <a:t>Figure Caption:</a:t>
            </a:r>
            <a:r>
              <a:rPr lang="en-US" sz="2000" strike="noStrike" spc="-1">
                <a:solidFill>
                  <a:srgbClr val="000000"/>
                </a:solidFill>
                <a:uFill>
                  <a:solidFill>
                    <a:srgbClr val="FFFFFF"/>
                  </a:solidFill>
                </a:uFill>
                <a:latin typeface="Arial"/>
              </a:rPr>
              <a:t>  </a:t>
            </a:r>
          </a:p>
          <a:p>
            <a:pPr marL="216000" indent="-216000">
              <a:lnSpc>
                <a:spcPct val="100000"/>
              </a:lnSpc>
            </a:pPr>
            <a:r>
              <a:rPr lang="en-US" sz="2000" b="1" strike="noStrike" spc="-1">
                <a:solidFill>
                  <a:srgbClr val="000000"/>
                </a:solidFill>
                <a:uFill>
                  <a:solidFill>
                    <a:srgbClr val="FFFFFF"/>
                  </a:solidFill>
                </a:uFill>
                <a:latin typeface="Arial"/>
              </a:rPr>
              <a:t>Figure 6-4 (a):</a:t>
            </a:r>
            <a:endParaRPr lang="en-US" sz="2000" strike="noStrike" spc="-1">
              <a:solidFill>
                <a:srgbClr val="000000"/>
              </a:solidFill>
              <a:uFill>
                <a:solidFill>
                  <a:srgbClr val="FFFFFF"/>
                </a:solidFill>
              </a:uFill>
              <a:latin typeface="Arial"/>
            </a:endParaRPr>
          </a:p>
          <a:p>
            <a:pPr marL="216000" indent="-216000">
              <a:lnSpc>
                <a:spcPct val="100000"/>
              </a:lnSpc>
            </a:pPr>
            <a:r>
              <a:rPr lang="en-US" sz="2000" strike="noStrike" spc="-1">
                <a:solidFill>
                  <a:srgbClr val="000000"/>
                </a:solidFill>
                <a:uFill>
                  <a:solidFill>
                    <a:srgbClr val="FFFFFF"/>
                  </a:solidFill>
                </a:uFill>
                <a:latin typeface="Arial"/>
              </a:rPr>
              <a:t>The green rectangle represents total revenue generated from 1,100 drivers who each pay a toll of $0.90.</a:t>
            </a:r>
          </a:p>
          <a:p>
            <a:pPr marL="216000" indent="-216000">
              <a:lnSpc>
                <a:spcPct val="100000"/>
              </a:lnSpc>
            </a:pPr>
            <a:endParaRPr lang="en-US" sz="2000" strike="noStrike" spc="-1">
              <a:solidFill>
                <a:srgbClr val="000000"/>
              </a:solidFill>
              <a:uFill>
                <a:solidFill>
                  <a:srgbClr val="FFFFFF"/>
                </a:solidFill>
              </a:uFill>
              <a:latin typeface="Arial"/>
            </a:endParaRPr>
          </a:p>
        </p:txBody>
      </p:sp>
      <p:sp>
        <p:nvSpPr>
          <p:cNvPr id="1280"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1F851F3E-679F-4BA8-A264-08A8BD4F700B}" type="slidenum">
              <a:rPr lang="en-US" sz="1200" strike="noStrike" spc="-1">
                <a:solidFill>
                  <a:srgbClr val="000000"/>
                </a:solidFill>
                <a:uFill>
                  <a:solidFill>
                    <a:srgbClr val="FFFFFF"/>
                  </a:solidFill>
                </a:uFill>
                <a:latin typeface="Calibri"/>
                <a:ea typeface="MS PGothic"/>
              </a:rPr>
              <a:t>17</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1"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82"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C205D7CB-2161-49D6-AF07-CED96FD383A1}" type="slidenum">
              <a:rPr lang="en-US" sz="1200" strike="noStrike" spc="-1">
                <a:solidFill>
                  <a:srgbClr val="000000"/>
                </a:solidFill>
                <a:uFill>
                  <a:solidFill>
                    <a:srgbClr val="FFFFFF"/>
                  </a:solidFill>
                </a:uFill>
                <a:latin typeface="Arial"/>
                <a:ea typeface="MS PGothic"/>
              </a:rPr>
              <a:t>18</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3" name="PlaceHolder 1"/>
          <p:cNvSpPr>
            <a:spLocks noGrp="1"/>
          </p:cNvSpPr>
          <p:nvPr>
            <p:ph type="body"/>
          </p:nvPr>
        </p:nvSpPr>
        <p:spPr>
          <a:xfrm>
            <a:off x="679320" y="4691160"/>
            <a:ext cx="5438520" cy="4443120"/>
          </a:xfrm>
          <a:prstGeom prst="rect">
            <a:avLst/>
          </a:prstGeom>
        </p:spPr>
        <p:txBody>
          <a:bodyPr/>
          <a:lstStyle/>
          <a:p>
            <a:pPr marL="216000" indent="-216000">
              <a:lnSpc>
                <a:spcPct val="100000"/>
              </a:lnSpc>
            </a:pPr>
            <a:r>
              <a:rPr lang="en-US" sz="2000" b="1" i="1" u="sng" strike="noStrike" spc="-1">
                <a:solidFill>
                  <a:srgbClr val="000000"/>
                </a:solidFill>
                <a:uFill>
                  <a:solidFill>
                    <a:srgbClr val="FFFFFF"/>
                  </a:solidFill>
                </a:uFill>
                <a:latin typeface="Arial"/>
              </a:rPr>
              <a:t>Figure Caption:</a:t>
            </a:r>
            <a:r>
              <a:rPr lang="en-US" sz="2000" strike="noStrike" spc="-1">
                <a:solidFill>
                  <a:srgbClr val="000000"/>
                </a:solidFill>
                <a:uFill>
                  <a:solidFill>
                    <a:srgbClr val="FFFFFF"/>
                  </a:solidFill>
                </a:uFill>
                <a:latin typeface="Arial"/>
              </a:rPr>
              <a:t>  </a:t>
            </a:r>
          </a:p>
          <a:p>
            <a:pPr marL="216000" indent="-216000">
              <a:lnSpc>
                <a:spcPct val="100000"/>
              </a:lnSpc>
            </a:pPr>
            <a:r>
              <a:rPr lang="en-US" sz="2000" b="1" strike="noStrike" spc="-1">
                <a:solidFill>
                  <a:srgbClr val="000000"/>
                </a:solidFill>
                <a:uFill>
                  <a:solidFill>
                    <a:srgbClr val="FFFFFF"/>
                  </a:solidFill>
                </a:uFill>
                <a:latin typeface="Arial"/>
              </a:rPr>
              <a:t>Figure 6-4 (b):</a:t>
            </a:r>
            <a:endParaRPr lang="en-US" sz="2000" strike="noStrike" spc="-1">
              <a:solidFill>
                <a:srgbClr val="000000"/>
              </a:solidFill>
              <a:uFill>
                <a:solidFill>
                  <a:srgbClr val="FFFFFF"/>
                </a:solidFill>
              </a:uFill>
              <a:latin typeface="Arial"/>
            </a:endParaRPr>
          </a:p>
          <a:p>
            <a:pPr marL="216000" indent="-216000">
              <a:lnSpc>
                <a:spcPct val="100000"/>
              </a:lnSpc>
            </a:pPr>
            <a:r>
              <a:rPr lang="en-US" sz="2000" strike="noStrike" spc="-1">
                <a:solidFill>
                  <a:srgbClr val="000000"/>
                </a:solidFill>
                <a:uFill>
                  <a:solidFill>
                    <a:srgbClr val="FFFFFF"/>
                  </a:solidFill>
                </a:uFill>
                <a:latin typeface="Arial"/>
              </a:rPr>
              <a:t>The graph above shows how total revenue is affected when the price increases from $0.90 to $1.10. Due to the quantity effect, total revenue falls by area </a:t>
            </a:r>
            <a:r>
              <a:rPr lang="en-US" sz="2000" i="1" strike="noStrike" spc="-1">
                <a:solidFill>
                  <a:srgbClr val="000000"/>
                </a:solidFill>
                <a:uFill>
                  <a:solidFill>
                    <a:srgbClr val="FFFFFF"/>
                  </a:solidFill>
                </a:uFill>
                <a:latin typeface="Arial"/>
              </a:rPr>
              <a:t>A. </a:t>
            </a:r>
            <a:r>
              <a:rPr lang="en-US" sz="2000" strike="noStrike" spc="-1">
                <a:solidFill>
                  <a:srgbClr val="000000"/>
                </a:solidFill>
                <a:uFill>
                  <a:solidFill>
                    <a:srgbClr val="FFFFFF"/>
                  </a:solidFill>
                </a:uFill>
                <a:latin typeface="Arial"/>
              </a:rPr>
              <a:t>Due to the price effect, total revenue increases by the area </a:t>
            </a:r>
            <a:r>
              <a:rPr lang="en-US" sz="2000" i="1" strike="noStrike" spc="-1">
                <a:solidFill>
                  <a:srgbClr val="000000"/>
                </a:solidFill>
                <a:uFill>
                  <a:solidFill>
                    <a:srgbClr val="FFFFFF"/>
                  </a:solidFill>
                </a:uFill>
                <a:latin typeface="Arial"/>
              </a:rPr>
              <a:t>C. </a:t>
            </a:r>
            <a:r>
              <a:rPr lang="en-US" sz="2000" strike="noStrike" spc="-1">
                <a:solidFill>
                  <a:srgbClr val="000000"/>
                </a:solidFill>
                <a:uFill>
                  <a:solidFill>
                    <a:srgbClr val="FFFFFF"/>
                  </a:solidFill>
                </a:uFill>
                <a:latin typeface="Arial"/>
              </a:rPr>
              <a:t>In general, the overall effect can go either way, depending on the price elasticity of demand.</a:t>
            </a:r>
          </a:p>
          <a:p>
            <a:pPr marL="216000" indent="-216000">
              <a:lnSpc>
                <a:spcPct val="100000"/>
              </a:lnSpc>
            </a:pPr>
            <a:endParaRPr lang="en-US" sz="2000" strike="noStrike" spc="-1">
              <a:solidFill>
                <a:srgbClr val="000000"/>
              </a:solidFill>
              <a:uFill>
                <a:solidFill>
                  <a:srgbClr val="FFFFFF"/>
                </a:solidFill>
              </a:uFill>
              <a:latin typeface="Arial"/>
            </a:endParaRPr>
          </a:p>
        </p:txBody>
      </p:sp>
      <p:sp>
        <p:nvSpPr>
          <p:cNvPr id="1284"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1B931217-31FA-4720-ADC6-78AD7EEA9034}" type="slidenum">
              <a:rPr lang="en-US" sz="1200" strike="noStrike" spc="-1">
                <a:solidFill>
                  <a:srgbClr val="000000"/>
                </a:solidFill>
                <a:uFill>
                  <a:solidFill>
                    <a:srgbClr val="FFFFFF"/>
                  </a:solidFill>
                </a:uFill>
                <a:latin typeface="Calibri"/>
                <a:ea typeface="MS PGothic"/>
              </a:rPr>
              <a:t>19</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5"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86"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054FEDCA-89FB-457B-AEA2-969790B14C3D}" type="slidenum">
              <a:rPr lang="en-US" sz="1200" strike="noStrike" spc="-1">
                <a:solidFill>
                  <a:srgbClr val="000000"/>
                </a:solidFill>
                <a:uFill>
                  <a:solidFill>
                    <a:srgbClr val="FFFFFF"/>
                  </a:solidFill>
                </a:uFill>
                <a:latin typeface="Arial"/>
                <a:ea typeface="MS PGothic"/>
              </a:rPr>
              <a:t>20</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7"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88"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67804F48-194F-4249-BB46-DEB9A39192C9}" type="slidenum">
              <a:rPr lang="en-US" sz="1200" strike="noStrike" spc="-1">
                <a:solidFill>
                  <a:srgbClr val="000000"/>
                </a:solidFill>
                <a:uFill>
                  <a:solidFill>
                    <a:srgbClr val="FFFFFF"/>
                  </a:solidFill>
                </a:uFill>
                <a:latin typeface="Arial"/>
                <a:ea typeface="MS PGothic"/>
              </a:rPr>
              <a:t>22</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9" name="PlaceHolder 1"/>
          <p:cNvSpPr>
            <a:spLocks noGrp="1"/>
          </p:cNvSpPr>
          <p:nvPr>
            <p:ph type="body"/>
          </p:nvPr>
        </p:nvSpPr>
        <p:spPr>
          <a:xfrm>
            <a:off x="679320" y="4691160"/>
            <a:ext cx="5438520" cy="4443120"/>
          </a:xfrm>
          <a:prstGeom prst="rect">
            <a:avLst/>
          </a:prstGeom>
        </p:spPr>
        <p:txBody>
          <a:bodyPr/>
          <a:lstStyle/>
          <a:p>
            <a:pPr marL="216000" indent="-216000">
              <a:lnSpc>
                <a:spcPct val="100000"/>
              </a:lnSpc>
            </a:pPr>
            <a:r>
              <a:rPr lang="en-US" sz="2000" b="1" i="1" u="sng" strike="noStrike" spc="-1">
                <a:solidFill>
                  <a:srgbClr val="000000"/>
                </a:solidFill>
                <a:uFill>
                  <a:solidFill>
                    <a:srgbClr val="FFFFFF"/>
                  </a:solidFill>
                </a:uFill>
                <a:latin typeface="Arial"/>
              </a:rPr>
              <a:t>Figure Caption:</a:t>
            </a:r>
            <a:r>
              <a:rPr lang="en-US" sz="2000" strike="noStrike" spc="-1">
                <a:solidFill>
                  <a:srgbClr val="000000"/>
                </a:solidFill>
                <a:uFill>
                  <a:solidFill>
                    <a:srgbClr val="FFFFFF"/>
                  </a:solidFill>
                </a:uFill>
                <a:latin typeface="Arial"/>
              </a:rPr>
              <a:t>  </a:t>
            </a:r>
          </a:p>
          <a:p>
            <a:pPr marL="216000" indent="-216000">
              <a:lnSpc>
                <a:spcPct val="100000"/>
              </a:lnSpc>
            </a:pPr>
            <a:r>
              <a:rPr lang="en-US" sz="2000" b="1" strike="noStrike" spc="-1">
                <a:solidFill>
                  <a:srgbClr val="000000"/>
                </a:solidFill>
                <a:uFill>
                  <a:solidFill>
                    <a:srgbClr val="FFFFFF"/>
                  </a:solidFill>
                </a:uFill>
                <a:latin typeface="Arial"/>
              </a:rPr>
              <a:t>Figure 6-5: The Price Elasticity of Demand Changes Along the Demand Curve</a:t>
            </a:r>
            <a:endParaRPr lang="en-US" sz="2000" strike="noStrike" spc="-1">
              <a:solidFill>
                <a:srgbClr val="000000"/>
              </a:solidFill>
              <a:uFill>
                <a:solidFill>
                  <a:srgbClr val="FFFFFF"/>
                </a:solidFill>
              </a:uFill>
              <a:latin typeface="Arial"/>
            </a:endParaRPr>
          </a:p>
          <a:p>
            <a:pPr marL="216000" indent="-216000">
              <a:lnSpc>
                <a:spcPct val="100000"/>
              </a:lnSpc>
            </a:pPr>
            <a:r>
              <a:rPr lang="en-US" sz="2000" strike="noStrike" spc="-1">
                <a:solidFill>
                  <a:srgbClr val="000000"/>
                </a:solidFill>
                <a:uFill>
                  <a:solidFill>
                    <a:srgbClr val="FFFFFF"/>
                  </a:solidFill>
                </a:uFill>
                <a:latin typeface="Arial"/>
              </a:rPr>
              <a:t>The upper panel shows a demand curve corresponding to the demand schedule in the table. The lower panel shows how total revenue changes along that demand curve: at each price and quantity combination, the height of the bar represents the total revenue generated. You can see that at a low price, raising the price increases total revenue. So demand is inelastic at low prices. At a high price, however, a rise in price reduces total revenue. So demand is elastic at high prices.</a:t>
            </a:r>
          </a:p>
          <a:p>
            <a:pPr marL="216000" indent="-216000">
              <a:lnSpc>
                <a:spcPct val="100000"/>
              </a:lnSpc>
            </a:pPr>
            <a:endParaRPr lang="en-US" sz="2000" strike="noStrike" spc="-1">
              <a:solidFill>
                <a:srgbClr val="000000"/>
              </a:solidFill>
              <a:uFill>
                <a:solidFill>
                  <a:srgbClr val="FFFFFF"/>
                </a:solidFill>
              </a:uFill>
              <a:latin typeface="Arial"/>
            </a:endParaRPr>
          </a:p>
        </p:txBody>
      </p:sp>
      <p:sp>
        <p:nvSpPr>
          <p:cNvPr id="1290"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67EFD019-B70B-4ADD-9FD9-B2AEA4E0FC9D}" type="slidenum">
              <a:rPr lang="en-US" sz="1200" strike="noStrike" spc="-1">
                <a:solidFill>
                  <a:srgbClr val="000000"/>
                </a:solidFill>
                <a:uFill>
                  <a:solidFill>
                    <a:srgbClr val="FFFFFF"/>
                  </a:solidFill>
                </a:uFill>
                <a:latin typeface="Calibri"/>
                <a:ea typeface="MS PGothic"/>
              </a:rPr>
              <a:t>23</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1"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92"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E2682DC1-E6F5-4E96-AA8B-C0D40AC0E7E9}" type="slidenum">
              <a:rPr lang="en-US" sz="1200" strike="noStrike" spc="-1">
                <a:solidFill>
                  <a:srgbClr val="000000"/>
                </a:solidFill>
                <a:uFill>
                  <a:solidFill>
                    <a:srgbClr val="FFFFFF"/>
                  </a:solidFill>
                </a:uFill>
                <a:latin typeface="Arial"/>
                <a:ea typeface="MS PGothic"/>
              </a:rPr>
              <a:t>24</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3"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94"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9B1D8EBA-B2F6-40A5-9464-26AFCCE52F06}" type="slidenum">
              <a:rPr lang="en-US" sz="1200" strike="noStrike" spc="-1">
                <a:solidFill>
                  <a:srgbClr val="000000"/>
                </a:solidFill>
                <a:uFill>
                  <a:solidFill>
                    <a:srgbClr val="FFFFFF"/>
                  </a:solidFill>
                </a:uFill>
                <a:latin typeface="Arial"/>
                <a:ea typeface="MS PGothic"/>
              </a:rPr>
              <a:t>26</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5"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96"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C68CDBAA-200D-4FE5-8C6B-9F9EBB87D3DC}" type="slidenum">
              <a:rPr lang="en-US" sz="1200" strike="noStrike" spc="-1">
                <a:solidFill>
                  <a:srgbClr val="000000"/>
                </a:solidFill>
                <a:uFill>
                  <a:solidFill>
                    <a:srgbClr val="FFFFFF"/>
                  </a:solidFill>
                </a:uFill>
                <a:latin typeface="Arial"/>
                <a:ea typeface="MS PGothic"/>
              </a:rPr>
              <a:t>27</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7"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298"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123C597B-6696-4A60-B42D-A67E2937CC9C}" type="slidenum">
              <a:rPr lang="en-US" sz="1200" strike="noStrike" spc="-1">
                <a:solidFill>
                  <a:srgbClr val="000000"/>
                </a:solidFill>
                <a:uFill>
                  <a:solidFill>
                    <a:srgbClr val="FFFFFF"/>
                  </a:solidFill>
                </a:uFill>
                <a:latin typeface="Arial"/>
                <a:ea typeface="MS PGothic"/>
              </a:rPr>
              <a:t>28</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300"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1B0EBE7D-ED2F-4407-B447-177B473A1303}" type="slidenum">
              <a:rPr lang="en-US" sz="1200" strike="noStrike" spc="-1">
                <a:solidFill>
                  <a:srgbClr val="000000"/>
                </a:solidFill>
                <a:uFill>
                  <a:solidFill>
                    <a:srgbClr val="FFFFFF"/>
                  </a:solidFill>
                </a:uFill>
                <a:latin typeface="Arial"/>
                <a:ea typeface="MS PGothic"/>
              </a:rPr>
              <a:t>29</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1" name="PlaceHolder 1"/>
          <p:cNvSpPr>
            <a:spLocks noGrp="1"/>
          </p:cNvSpPr>
          <p:nvPr>
            <p:ph type="body"/>
          </p:nvPr>
        </p:nvSpPr>
        <p:spPr>
          <a:xfrm>
            <a:off x="679320" y="4691160"/>
            <a:ext cx="5438520" cy="4443120"/>
          </a:xfrm>
          <a:prstGeom prst="rect">
            <a:avLst/>
          </a:prstGeom>
        </p:spPr>
        <p:txBody>
          <a:bodyPr/>
          <a:lstStyle/>
          <a:p>
            <a:pPr marL="216000" indent="-216000">
              <a:lnSpc>
                <a:spcPct val="100000"/>
              </a:lnSpc>
            </a:pPr>
            <a:r>
              <a:rPr lang="en-US" sz="2000" b="1" i="1" u="sng" strike="noStrike" spc="-1">
                <a:solidFill>
                  <a:srgbClr val="000000"/>
                </a:solidFill>
                <a:uFill>
                  <a:solidFill>
                    <a:srgbClr val="FFFFFF"/>
                  </a:solidFill>
                </a:uFill>
                <a:latin typeface="Arial"/>
              </a:rPr>
              <a:t>Figure Caption:</a:t>
            </a:r>
            <a:r>
              <a:rPr lang="en-US" sz="2000" strike="noStrike" spc="-1">
                <a:solidFill>
                  <a:srgbClr val="000000"/>
                </a:solidFill>
                <a:uFill>
                  <a:solidFill>
                    <a:srgbClr val="FFFFFF"/>
                  </a:solidFill>
                </a:uFill>
                <a:latin typeface="Arial"/>
              </a:rPr>
              <a:t>  </a:t>
            </a:r>
          </a:p>
          <a:p>
            <a:pPr marL="216000" indent="-216000">
              <a:lnSpc>
                <a:spcPct val="100000"/>
              </a:lnSpc>
            </a:pPr>
            <a:r>
              <a:rPr lang="en-US" sz="2000" b="1" strike="noStrike" spc="-1">
                <a:solidFill>
                  <a:srgbClr val="000000"/>
                </a:solidFill>
                <a:uFill>
                  <a:solidFill>
                    <a:srgbClr val="FFFFFF"/>
                  </a:solidFill>
                </a:uFill>
                <a:latin typeface="Arial"/>
              </a:rPr>
              <a:t>Figure 6-6:</a:t>
            </a:r>
            <a:endParaRPr lang="en-US" sz="2000" strike="noStrike" spc="-1">
              <a:solidFill>
                <a:srgbClr val="000000"/>
              </a:solidFill>
              <a:uFill>
                <a:solidFill>
                  <a:srgbClr val="FFFFFF"/>
                </a:solidFill>
              </a:uFill>
              <a:latin typeface="Arial"/>
            </a:endParaRPr>
          </a:p>
          <a:p>
            <a:pPr marL="216000" indent="-216000">
              <a:lnSpc>
                <a:spcPct val="100000"/>
              </a:lnSpc>
            </a:pPr>
            <a:r>
              <a:rPr lang="en-US" sz="2000" strike="noStrike" spc="-1">
                <a:solidFill>
                  <a:srgbClr val="000000"/>
                </a:solidFill>
                <a:uFill>
                  <a:solidFill>
                    <a:srgbClr val="FFFFFF"/>
                  </a:solidFill>
                </a:uFill>
                <a:latin typeface="Arial"/>
              </a:rPr>
              <a:t>Panel (a) shows a perfectly inelastic supply curve, which is a vertical line. The price elasticity of supply is zero: the quantity supplied is always the same, regardless of price. </a:t>
            </a:r>
          </a:p>
          <a:p>
            <a:pPr marL="216000" indent="-216000">
              <a:lnSpc>
                <a:spcPct val="100000"/>
              </a:lnSpc>
            </a:pPr>
            <a:r>
              <a:rPr lang="en-US" sz="2000" strike="noStrike" spc="-1">
                <a:solidFill>
                  <a:srgbClr val="000000"/>
                </a:solidFill>
                <a:uFill>
                  <a:solidFill>
                    <a:srgbClr val="FFFFFF"/>
                  </a:solidFill>
                </a:uFill>
                <a:latin typeface="Arial"/>
              </a:rPr>
              <a:t>Panel (b) shows a perfectly elastic supply curve, which is a horizontal line. At a price of $12, producers will supply any quantity, but they will supply none at a price below $12. If price rises above $12, they will supply an extremely large quantity.</a:t>
            </a:r>
          </a:p>
          <a:p>
            <a:pPr marL="216000" indent="-216000">
              <a:lnSpc>
                <a:spcPct val="100000"/>
              </a:lnSpc>
            </a:pPr>
            <a:endParaRPr lang="en-US" sz="2000" strike="noStrike" spc="-1">
              <a:solidFill>
                <a:srgbClr val="000000"/>
              </a:solidFill>
              <a:uFill>
                <a:solidFill>
                  <a:srgbClr val="FFFFFF"/>
                </a:solidFill>
              </a:uFill>
              <a:latin typeface="Arial"/>
            </a:endParaRPr>
          </a:p>
        </p:txBody>
      </p:sp>
      <p:sp>
        <p:nvSpPr>
          <p:cNvPr id="1302"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49556DA4-6476-4FA2-8A14-BBBA4645A39A}" type="slidenum">
              <a:rPr lang="en-US" sz="1200" strike="noStrike" spc="-1">
                <a:solidFill>
                  <a:srgbClr val="000000"/>
                </a:solidFill>
                <a:uFill>
                  <a:solidFill>
                    <a:srgbClr val="FFFFFF"/>
                  </a:solidFill>
                </a:uFill>
                <a:latin typeface="Calibri"/>
                <a:ea typeface="MS PGothic"/>
              </a:rPr>
              <a:t>31</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3" name="PlaceHolder 1"/>
          <p:cNvSpPr>
            <a:spLocks noGrp="1"/>
          </p:cNvSpPr>
          <p:nvPr>
            <p:ph type="body"/>
          </p:nvPr>
        </p:nvSpPr>
        <p:spPr>
          <a:xfrm>
            <a:off x="679320" y="4691160"/>
            <a:ext cx="5438520" cy="4443120"/>
          </a:xfrm>
          <a:prstGeom prst="rect">
            <a:avLst/>
          </a:prstGeom>
        </p:spPr>
        <p:txBody>
          <a:bodyPr/>
          <a:lstStyle/>
          <a:p>
            <a:pPr marL="216000" indent="-216000">
              <a:lnSpc>
                <a:spcPct val="100000"/>
              </a:lnSpc>
            </a:pPr>
            <a:r>
              <a:rPr lang="en-US" sz="2000" b="1" i="1" u="sng" strike="noStrike" spc="-1">
                <a:solidFill>
                  <a:srgbClr val="000000"/>
                </a:solidFill>
                <a:uFill>
                  <a:solidFill>
                    <a:srgbClr val="FFFFFF"/>
                  </a:solidFill>
                </a:uFill>
                <a:latin typeface="Arial"/>
              </a:rPr>
              <a:t>Figure Caption:</a:t>
            </a:r>
            <a:r>
              <a:rPr lang="en-US" sz="2000" strike="noStrike" spc="-1">
                <a:solidFill>
                  <a:srgbClr val="000000"/>
                </a:solidFill>
                <a:uFill>
                  <a:solidFill>
                    <a:srgbClr val="FFFFFF"/>
                  </a:solidFill>
                </a:uFill>
                <a:latin typeface="Arial"/>
              </a:rPr>
              <a:t>  </a:t>
            </a:r>
          </a:p>
          <a:p>
            <a:pPr marL="216000" indent="-216000">
              <a:lnSpc>
                <a:spcPct val="100000"/>
              </a:lnSpc>
            </a:pPr>
            <a:r>
              <a:rPr lang="en-US" sz="2000" b="1" strike="noStrike" spc="-1">
                <a:solidFill>
                  <a:srgbClr val="000000"/>
                </a:solidFill>
                <a:uFill>
                  <a:solidFill>
                    <a:srgbClr val="FFFFFF"/>
                  </a:solidFill>
                </a:uFill>
                <a:latin typeface="Arial"/>
              </a:rPr>
              <a:t>Figure 6-6:</a:t>
            </a:r>
            <a:endParaRPr lang="en-US" sz="2000" strike="noStrike" spc="-1">
              <a:solidFill>
                <a:srgbClr val="000000"/>
              </a:solidFill>
              <a:uFill>
                <a:solidFill>
                  <a:srgbClr val="FFFFFF"/>
                </a:solidFill>
              </a:uFill>
              <a:latin typeface="Arial"/>
            </a:endParaRPr>
          </a:p>
          <a:p>
            <a:pPr marL="216000" indent="-216000">
              <a:lnSpc>
                <a:spcPct val="100000"/>
              </a:lnSpc>
            </a:pPr>
            <a:r>
              <a:rPr lang="en-US" sz="2000" strike="noStrike" spc="-1">
                <a:solidFill>
                  <a:srgbClr val="000000"/>
                </a:solidFill>
                <a:uFill>
                  <a:solidFill>
                    <a:srgbClr val="FFFFFF"/>
                  </a:solidFill>
                </a:uFill>
                <a:latin typeface="Arial"/>
              </a:rPr>
              <a:t>Panel (a) shows a perfectly inelastic supply curve, which is a vertical line. The price elasticity of supply is zero: the quantity supplied is always the same, regardless of price. </a:t>
            </a:r>
          </a:p>
          <a:p>
            <a:pPr marL="216000" indent="-216000">
              <a:lnSpc>
                <a:spcPct val="100000"/>
              </a:lnSpc>
            </a:pPr>
            <a:r>
              <a:rPr lang="en-US" sz="2000" strike="noStrike" spc="-1">
                <a:solidFill>
                  <a:srgbClr val="000000"/>
                </a:solidFill>
                <a:uFill>
                  <a:solidFill>
                    <a:srgbClr val="FFFFFF"/>
                  </a:solidFill>
                </a:uFill>
                <a:latin typeface="Arial"/>
              </a:rPr>
              <a:t>Panel (b) shows a perfectly elastic supply curve, which is a horizontal line. At a price of $12, producers will supply any quantity, but they will supply none at a price below $12. If price rises above $12, they will supply an extremely large quantity.</a:t>
            </a:r>
          </a:p>
          <a:p>
            <a:pPr marL="216000" indent="-216000">
              <a:lnSpc>
                <a:spcPct val="100000"/>
              </a:lnSpc>
            </a:pPr>
            <a:endParaRPr lang="en-US" sz="2000" strike="noStrike" spc="-1">
              <a:solidFill>
                <a:srgbClr val="000000"/>
              </a:solidFill>
              <a:uFill>
                <a:solidFill>
                  <a:srgbClr val="FFFFFF"/>
                </a:solidFill>
              </a:uFill>
              <a:latin typeface="Arial"/>
            </a:endParaRPr>
          </a:p>
        </p:txBody>
      </p:sp>
      <p:sp>
        <p:nvSpPr>
          <p:cNvPr id="1304"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012D21AF-96C1-438F-91F0-49EFC052601C}" type="slidenum">
              <a:rPr lang="en-US" sz="1200" strike="noStrike" spc="-1">
                <a:solidFill>
                  <a:srgbClr val="000000"/>
                </a:solidFill>
                <a:uFill>
                  <a:solidFill>
                    <a:srgbClr val="FFFFFF"/>
                  </a:solidFill>
                </a:uFill>
                <a:latin typeface="Calibri"/>
                <a:ea typeface="MS PGothic"/>
              </a:rPr>
              <a:t>32</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5"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306"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43264BF1-C654-43AB-9DAF-F145AA0E7F31}" type="slidenum">
              <a:rPr lang="en-US" sz="1200" strike="noStrike" spc="-1">
                <a:solidFill>
                  <a:srgbClr val="000000"/>
                </a:solidFill>
                <a:uFill>
                  <a:solidFill>
                    <a:srgbClr val="FFFFFF"/>
                  </a:solidFill>
                </a:uFill>
                <a:latin typeface="Calibri"/>
                <a:ea typeface="MS PGothic"/>
              </a:rPr>
              <a:t>33</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7"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308"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91F83AE9-77F3-4EA4-A2FF-BB3823F9989A}" type="slidenum">
              <a:rPr lang="en-US" sz="1200" strike="noStrike" spc="-1">
                <a:solidFill>
                  <a:srgbClr val="000000"/>
                </a:solidFill>
                <a:uFill>
                  <a:solidFill>
                    <a:srgbClr val="FFFFFF"/>
                  </a:solidFill>
                </a:uFill>
                <a:latin typeface="Arial"/>
                <a:ea typeface="MS PGothic"/>
              </a:rPr>
              <a:t>34</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9"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310"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98225726-12F1-45AF-BFE7-F2D14C221598}" type="slidenum">
              <a:rPr lang="en-US" sz="1200" strike="noStrike" spc="-1">
                <a:solidFill>
                  <a:srgbClr val="000000"/>
                </a:solidFill>
                <a:uFill>
                  <a:solidFill>
                    <a:srgbClr val="FFFFFF"/>
                  </a:solidFill>
                </a:uFill>
                <a:latin typeface="Calibri"/>
                <a:ea typeface="MS PGothic"/>
              </a:rPr>
              <a:t>36</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1" name="PlaceHolder 1"/>
          <p:cNvSpPr>
            <a:spLocks noGrp="1"/>
          </p:cNvSpPr>
          <p:nvPr>
            <p:ph type="body"/>
          </p:nvPr>
        </p:nvSpPr>
        <p:spPr>
          <a:xfrm>
            <a:off x="679320" y="4691160"/>
            <a:ext cx="5438520" cy="4443120"/>
          </a:xfrm>
          <a:prstGeom prst="rect">
            <a:avLst/>
          </a:prstGeom>
        </p:spPr>
        <p:txBody>
          <a:bodyPr/>
          <a:lstStyle/>
          <a:p>
            <a:endParaRPr lang="en-US" sz="2000" strike="noStrike" spc="-1">
              <a:solidFill>
                <a:srgbClr val="000000"/>
              </a:solidFill>
              <a:uFill>
                <a:solidFill>
                  <a:srgbClr val="FFFFFF"/>
                </a:solidFill>
              </a:uFill>
              <a:latin typeface="Arial"/>
            </a:endParaRPr>
          </a:p>
        </p:txBody>
      </p:sp>
      <p:sp>
        <p:nvSpPr>
          <p:cNvPr id="1312" name="CustomShape 2"/>
          <p:cNvSpPr/>
          <p:nvPr/>
        </p:nvSpPr>
        <p:spPr>
          <a:xfrm>
            <a:off x="3849840" y="9379080"/>
            <a:ext cx="2945880" cy="4932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DFDE9F6C-E56D-43B5-8069-EB9BF2962593}" type="slidenum">
              <a:rPr lang="en-US" sz="1200" strike="noStrike" spc="-1">
                <a:solidFill>
                  <a:srgbClr val="000000"/>
                </a:solidFill>
                <a:uFill>
                  <a:solidFill>
                    <a:srgbClr val="FFFFFF"/>
                  </a:solidFill>
                </a:uFill>
                <a:latin typeface="Calibri"/>
                <a:ea typeface="MS PGothic"/>
              </a:rPr>
              <a:t>37</a:t>
            </a:fld>
            <a:endParaRPr lang="en-US" sz="1800" strike="noStrike" spc="-1">
              <a:solidFill>
                <a:srgbClr val="000000"/>
              </a:solidFill>
              <a:uFill>
                <a:solidFill>
                  <a:srgbClr val="FFFFFF"/>
                </a:solidFill>
              </a:uFill>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7" name="PlaceHolder 2"/>
          <p:cNvSpPr>
            <a:spLocks noGrp="1"/>
          </p:cNvSpPr>
          <p:nvPr>
            <p:ph type="subTitle"/>
          </p:nvPr>
        </p:nvSpPr>
        <p:spPr>
          <a:xfrm>
            <a:off x="887400" y="1102680"/>
            <a:ext cx="7799040" cy="50230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9" name="PlaceHolder 2"/>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1" name="PlaceHolder 2"/>
          <p:cNvSpPr>
            <a:spLocks noGrp="1"/>
          </p:cNvSpPr>
          <p:nvPr>
            <p:ph type="body"/>
          </p:nvPr>
        </p:nvSpPr>
        <p:spPr>
          <a:xfrm>
            <a:off x="88740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2" name="PlaceHolder 3"/>
          <p:cNvSpPr>
            <a:spLocks noGrp="1"/>
          </p:cNvSpPr>
          <p:nvPr>
            <p:ph type="body"/>
          </p:nvPr>
        </p:nvSpPr>
        <p:spPr>
          <a:xfrm>
            <a:off x="488412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1075680" y="40320"/>
            <a:ext cx="8073720" cy="26794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6"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7" name="PlaceHolder 3"/>
          <p:cNvSpPr>
            <a:spLocks noGrp="1"/>
          </p:cNvSpPr>
          <p:nvPr>
            <p:ph type="body"/>
          </p:nvPr>
        </p:nvSpPr>
        <p:spPr>
          <a:xfrm>
            <a:off x="88740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8" name="PlaceHolder 4"/>
          <p:cNvSpPr>
            <a:spLocks noGrp="1"/>
          </p:cNvSpPr>
          <p:nvPr>
            <p:ph type="body"/>
          </p:nvPr>
        </p:nvSpPr>
        <p:spPr>
          <a:xfrm>
            <a:off x="488412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20" name="PlaceHolder 2"/>
          <p:cNvSpPr>
            <a:spLocks noGrp="1"/>
          </p:cNvSpPr>
          <p:nvPr>
            <p:ph type="body"/>
          </p:nvPr>
        </p:nvSpPr>
        <p:spPr>
          <a:xfrm>
            <a:off x="88740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1"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2" name="PlaceHolder 4"/>
          <p:cNvSpPr>
            <a:spLocks noGrp="1"/>
          </p:cNvSpPr>
          <p:nvPr>
            <p:ph type="body"/>
          </p:nvPr>
        </p:nvSpPr>
        <p:spPr>
          <a:xfrm>
            <a:off x="488412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24"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5"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6" name="PlaceHolder 4"/>
          <p:cNvSpPr>
            <a:spLocks noGrp="1"/>
          </p:cNvSpPr>
          <p:nvPr>
            <p:ph type="body"/>
          </p:nvPr>
        </p:nvSpPr>
        <p:spPr>
          <a:xfrm>
            <a:off x="887400" y="372636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28" name="PlaceHolder 2"/>
          <p:cNvSpPr>
            <a:spLocks noGrp="1"/>
          </p:cNvSpPr>
          <p:nvPr>
            <p:ph type="body"/>
          </p:nvPr>
        </p:nvSpPr>
        <p:spPr>
          <a:xfrm>
            <a:off x="887400" y="110268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9" name="PlaceHolder 3"/>
          <p:cNvSpPr>
            <a:spLocks noGrp="1"/>
          </p:cNvSpPr>
          <p:nvPr>
            <p:ph type="body"/>
          </p:nvPr>
        </p:nvSpPr>
        <p:spPr>
          <a:xfrm>
            <a:off x="887400" y="372636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31"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32"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33" name="PlaceHolder 4"/>
          <p:cNvSpPr>
            <a:spLocks noGrp="1"/>
          </p:cNvSpPr>
          <p:nvPr>
            <p:ph type="body"/>
          </p:nvPr>
        </p:nvSpPr>
        <p:spPr>
          <a:xfrm>
            <a:off x="488412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34" name="PlaceHolder 5"/>
          <p:cNvSpPr>
            <a:spLocks noGrp="1"/>
          </p:cNvSpPr>
          <p:nvPr>
            <p:ph type="body"/>
          </p:nvPr>
        </p:nvSpPr>
        <p:spPr>
          <a:xfrm>
            <a:off x="88740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36" name="PlaceHolder 2"/>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37" name="PlaceHolder 3"/>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pic>
        <p:nvPicPr>
          <p:cNvPr id="38" name="Picture 37"/>
          <p:cNvPicPr/>
          <p:nvPr/>
        </p:nvPicPr>
        <p:blipFill>
          <a:blip r:embed="rId2"/>
          <a:stretch/>
        </p:blipFill>
        <p:spPr>
          <a:xfrm>
            <a:off x="1639080" y="1102320"/>
            <a:ext cx="6295320" cy="5023080"/>
          </a:xfrm>
          <a:prstGeom prst="rect">
            <a:avLst/>
          </a:prstGeom>
          <a:ln>
            <a:noFill/>
          </a:ln>
        </p:spPr>
      </p:pic>
      <p:pic>
        <p:nvPicPr>
          <p:cNvPr id="39" name="Picture 38"/>
          <p:cNvPicPr/>
          <p:nvPr/>
        </p:nvPicPr>
        <p:blipFill>
          <a:blip r:embed="rId2"/>
          <a:stretch/>
        </p:blipFill>
        <p:spPr>
          <a:xfrm>
            <a:off x="1639080" y="1102320"/>
            <a:ext cx="6295320" cy="502308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47" name="PlaceHolder 2"/>
          <p:cNvSpPr>
            <a:spLocks noGrp="1"/>
          </p:cNvSpPr>
          <p:nvPr>
            <p:ph type="subTitle"/>
          </p:nvPr>
        </p:nvSpPr>
        <p:spPr>
          <a:xfrm>
            <a:off x="887400" y="1102680"/>
            <a:ext cx="7799040" cy="50230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49" name="PlaceHolder 2"/>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51" name="PlaceHolder 2"/>
          <p:cNvSpPr>
            <a:spLocks noGrp="1"/>
          </p:cNvSpPr>
          <p:nvPr>
            <p:ph type="body"/>
          </p:nvPr>
        </p:nvSpPr>
        <p:spPr>
          <a:xfrm>
            <a:off x="88740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52" name="PlaceHolder 3"/>
          <p:cNvSpPr>
            <a:spLocks noGrp="1"/>
          </p:cNvSpPr>
          <p:nvPr>
            <p:ph type="body"/>
          </p:nvPr>
        </p:nvSpPr>
        <p:spPr>
          <a:xfrm>
            <a:off x="488412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1075680" y="40320"/>
            <a:ext cx="8073720" cy="26794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56"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57" name="PlaceHolder 3"/>
          <p:cNvSpPr>
            <a:spLocks noGrp="1"/>
          </p:cNvSpPr>
          <p:nvPr>
            <p:ph type="body"/>
          </p:nvPr>
        </p:nvSpPr>
        <p:spPr>
          <a:xfrm>
            <a:off x="88740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58" name="PlaceHolder 4"/>
          <p:cNvSpPr>
            <a:spLocks noGrp="1"/>
          </p:cNvSpPr>
          <p:nvPr>
            <p:ph type="body"/>
          </p:nvPr>
        </p:nvSpPr>
        <p:spPr>
          <a:xfrm>
            <a:off x="488412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60" name="PlaceHolder 2"/>
          <p:cNvSpPr>
            <a:spLocks noGrp="1"/>
          </p:cNvSpPr>
          <p:nvPr>
            <p:ph type="body"/>
          </p:nvPr>
        </p:nvSpPr>
        <p:spPr>
          <a:xfrm>
            <a:off x="88740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61"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62" name="PlaceHolder 4"/>
          <p:cNvSpPr>
            <a:spLocks noGrp="1"/>
          </p:cNvSpPr>
          <p:nvPr>
            <p:ph type="body"/>
          </p:nvPr>
        </p:nvSpPr>
        <p:spPr>
          <a:xfrm>
            <a:off x="488412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64"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65"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66" name="PlaceHolder 4"/>
          <p:cNvSpPr>
            <a:spLocks noGrp="1"/>
          </p:cNvSpPr>
          <p:nvPr>
            <p:ph type="body"/>
          </p:nvPr>
        </p:nvSpPr>
        <p:spPr>
          <a:xfrm>
            <a:off x="887400" y="372636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68" name="PlaceHolder 2"/>
          <p:cNvSpPr>
            <a:spLocks noGrp="1"/>
          </p:cNvSpPr>
          <p:nvPr>
            <p:ph type="body"/>
          </p:nvPr>
        </p:nvSpPr>
        <p:spPr>
          <a:xfrm>
            <a:off x="887400" y="110268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69" name="PlaceHolder 3"/>
          <p:cNvSpPr>
            <a:spLocks noGrp="1"/>
          </p:cNvSpPr>
          <p:nvPr>
            <p:ph type="body"/>
          </p:nvPr>
        </p:nvSpPr>
        <p:spPr>
          <a:xfrm>
            <a:off x="887400" y="372636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71"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72"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73" name="PlaceHolder 4"/>
          <p:cNvSpPr>
            <a:spLocks noGrp="1"/>
          </p:cNvSpPr>
          <p:nvPr>
            <p:ph type="body"/>
          </p:nvPr>
        </p:nvSpPr>
        <p:spPr>
          <a:xfrm>
            <a:off x="488412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74" name="PlaceHolder 5"/>
          <p:cNvSpPr>
            <a:spLocks noGrp="1"/>
          </p:cNvSpPr>
          <p:nvPr>
            <p:ph type="body"/>
          </p:nvPr>
        </p:nvSpPr>
        <p:spPr>
          <a:xfrm>
            <a:off x="88740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76" name="PlaceHolder 2"/>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77" name="PlaceHolder 3"/>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pic>
        <p:nvPicPr>
          <p:cNvPr id="78" name="Picture 77"/>
          <p:cNvPicPr/>
          <p:nvPr/>
        </p:nvPicPr>
        <p:blipFill>
          <a:blip r:embed="rId2"/>
          <a:stretch/>
        </p:blipFill>
        <p:spPr>
          <a:xfrm>
            <a:off x="1639080" y="1102320"/>
            <a:ext cx="6295320" cy="5023080"/>
          </a:xfrm>
          <a:prstGeom prst="rect">
            <a:avLst/>
          </a:prstGeom>
          <a:ln>
            <a:noFill/>
          </a:ln>
        </p:spPr>
      </p:pic>
      <p:pic>
        <p:nvPicPr>
          <p:cNvPr id="79" name="Picture 78"/>
          <p:cNvPicPr/>
          <p:nvPr/>
        </p:nvPicPr>
        <p:blipFill>
          <a:blip r:embed="rId2"/>
          <a:stretch/>
        </p:blipFill>
        <p:spPr>
          <a:xfrm>
            <a:off x="1639080" y="1102320"/>
            <a:ext cx="6295320" cy="5023080"/>
          </a:xfrm>
          <a:prstGeom prst="rect">
            <a:avLst/>
          </a:prstGeom>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86" name="PlaceHolder 2"/>
          <p:cNvSpPr>
            <a:spLocks noGrp="1"/>
          </p:cNvSpPr>
          <p:nvPr>
            <p:ph type="subTitle"/>
          </p:nvPr>
        </p:nvSpPr>
        <p:spPr>
          <a:xfrm>
            <a:off x="887400" y="1102680"/>
            <a:ext cx="7799040" cy="50230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88" name="PlaceHolder 2"/>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90" name="PlaceHolder 2"/>
          <p:cNvSpPr>
            <a:spLocks noGrp="1"/>
          </p:cNvSpPr>
          <p:nvPr>
            <p:ph type="body"/>
          </p:nvPr>
        </p:nvSpPr>
        <p:spPr>
          <a:xfrm>
            <a:off x="88740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91" name="PlaceHolder 3"/>
          <p:cNvSpPr>
            <a:spLocks noGrp="1"/>
          </p:cNvSpPr>
          <p:nvPr>
            <p:ph type="body"/>
          </p:nvPr>
        </p:nvSpPr>
        <p:spPr>
          <a:xfrm>
            <a:off x="488412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2"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3" name="PlaceHolder 1"/>
          <p:cNvSpPr>
            <a:spLocks noGrp="1"/>
          </p:cNvSpPr>
          <p:nvPr>
            <p:ph type="subTitle"/>
          </p:nvPr>
        </p:nvSpPr>
        <p:spPr>
          <a:xfrm>
            <a:off x="1075680" y="40320"/>
            <a:ext cx="8073720" cy="26794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95"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96" name="PlaceHolder 3"/>
          <p:cNvSpPr>
            <a:spLocks noGrp="1"/>
          </p:cNvSpPr>
          <p:nvPr>
            <p:ph type="body"/>
          </p:nvPr>
        </p:nvSpPr>
        <p:spPr>
          <a:xfrm>
            <a:off x="88740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97" name="PlaceHolder 4"/>
          <p:cNvSpPr>
            <a:spLocks noGrp="1"/>
          </p:cNvSpPr>
          <p:nvPr>
            <p:ph type="body"/>
          </p:nvPr>
        </p:nvSpPr>
        <p:spPr>
          <a:xfrm>
            <a:off x="488412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99" name="PlaceHolder 2"/>
          <p:cNvSpPr>
            <a:spLocks noGrp="1"/>
          </p:cNvSpPr>
          <p:nvPr>
            <p:ph type="body"/>
          </p:nvPr>
        </p:nvSpPr>
        <p:spPr>
          <a:xfrm>
            <a:off x="88740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00"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01" name="PlaceHolder 4"/>
          <p:cNvSpPr>
            <a:spLocks noGrp="1"/>
          </p:cNvSpPr>
          <p:nvPr>
            <p:ph type="body"/>
          </p:nvPr>
        </p:nvSpPr>
        <p:spPr>
          <a:xfrm>
            <a:off x="488412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03"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04"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05" name="PlaceHolder 4"/>
          <p:cNvSpPr>
            <a:spLocks noGrp="1"/>
          </p:cNvSpPr>
          <p:nvPr>
            <p:ph type="body"/>
          </p:nvPr>
        </p:nvSpPr>
        <p:spPr>
          <a:xfrm>
            <a:off x="887400" y="372636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07" name="PlaceHolder 2"/>
          <p:cNvSpPr>
            <a:spLocks noGrp="1"/>
          </p:cNvSpPr>
          <p:nvPr>
            <p:ph type="body"/>
          </p:nvPr>
        </p:nvSpPr>
        <p:spPr>
          <a:xfrm>
            <a:off x="887400" y="110268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08" name="PlaceHolder 3"/>
          <p:cNvSpPr>
            <a:spLocks noGrp="1"/>
          </p:cNvSpPr>
          <p:nvPr>
            <p:ph type="body"/>
          </p:nvPr>
        </p:nvSpPr>
        <p:spPr>
          <a:xfrm>
            <a:off x="887400" y="372636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10"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11"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12" name="PlaceHolder 4"/>
          <p:cNvSpPr>
            <a:spLocks noGrp="1"/>
          </p:cNvSpPr>
          <p:nvPr>
            <p:ph type="body"/>
          </p:nvPr>
        </p:nvSpPr>
        <p:spPr>
          <a:xfrm>
            <a:off x="488412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13" name="PlaceHolder 5"/>
          <p:cNvSpPr>
            <a:spLocks noGrp="1"/>
          </p:cNvSpPr>
          <p:nvPr>
            <p:ph type="body"/>
          </p:nvPr>
        </p:nvSpPr>
        <p:spPr>
          <a:xfrm>
            <a:off x="88740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15" name="PlaceHolder 2"/>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16" name="PlaceHolder 3"/>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pic>
        <p:nvPicPr>
          <p:cNvPr id="117" name="Picture 116"/>
          <p:cNvPicPr/>
          <p:nvPr/>
        </p:nvPicPr>
        <p:blipFill>
          <a:blip r:embed="rId2"/>
          <a:stretch/>
        </p:blipFill>
        <p:spPr>
          <a:xfrm>
            <a:off x="1639080" y="1102320"/>
            <a:ext cx="6295320" cy="5023080"/>
          </a:xfrm>
          <a:prstGeom prst="rect">
            <a:avLst/>
          </a:prstGeom>
          <a:ln>
            <a:noFill/>
          </a:ln>
        </p:spPr>
      </p:pic>
      <p:pic>
        <p:nvPicPr>
          <p:cNvPr id="118" name="Picture 117"/>
          <p:cNvPicPr/>
          <p:nvPr/>
        </p:nvPicPr>
        <p:blipFill>
          <a:blip r:embed="rId2"/>
          <a:stretch/>
        </p:blipFill>
        <p:spPr>
          <a:xfrm>
            <a:off x="1639080" y="1102320"/>
            <a:ext cx="6295320" cy="5023080"/>
          </a:xfrm>
          <a:prstGeom prst="rect">
            <a:avLst/>
          </a:prstGeom>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5"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26" name="PlaceHolder 2"/>
          <p:cNvSpPr>
            <a:spLocks noGrp="1"/>
          </p:cNvSpPr>
          <p:nvPr>
            <p:ph type="subTitle"/>
          </p:nvPr>
        </p:nvSpPr>
        <p:spPr>
          <a:xfrm>
            <a:off x="887400" y="1102680"/>
            <a:ext cx="7799040" cy="50230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28" name="PlaceHolder 2"/>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30" name="PlaceHolder 2"/>
          <p:cNvSpPr>
            <a:spLocks noGrp="1"/>
          </p:cNvSpPr>
          <p:nvPr>
            <p:ph type="body"/>
          </p:nvPr>
        </p:nvSpPr>
        <p:spPr>
          <a:xfrm>
            <a:off x="88740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31" name="PlaceHolder 3"/>
          <p:cNvSpPr>
            <a:spLocks noGrp="1"/>
          </p:cNvSpPr>
          <p:nvPr>
            <p:ph type="body"/>
          </p:nvPr>
        </p:nvSpPr>
        <p:spPr>
          <a:xfrm>
            <a:off x="488412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2"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3" name="PlaceHolder 1"/>
          <p:cNvSpPr>
            <a:spLocks noGrp="1"/>
          </p:cNvSpPr>
          <p:nvPr>
            <p:ph type="subTitle"/>
          </p:nvPr>
        </p:nvSpPr>
        <p:spPr>
          <a:xfrm>
            <a:off x="1075680" y="40320"/>
            <a:ext cx="8073720" cy="26794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35"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36" name="PlaceHolder 3"/>
          <p:cNvSpPr>
            <a:spLocks noGrp="1"/>
          </p:cNvSpPr>
          <p:nvPr>
            <p:ph type="body"/>
          </p:nvPr>
        </p:nvSpPr>
        <p:spPr>
          <a:xfrm>
            <a:off x="88740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37" name="PlaceHolder 4"/>
          <p:cNvSpPr>
            <a:spLocks noGrp="1"/>
          </p:cNvSpPr>
          <p:nvPr>
            <p:ph type="body"/>
          </p:nvPr>
        </p:nvSpPr>
        <p:spPr>
          <a:xfrm>
            <a:off x="488412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39" name="PlaceHolder 2"/>
          <p:cNvSpPr>
            <a:spLocks noGrp="1"/>
          </p:cNvSpPr>
          <p:nvPr>
            <p:ph type="body"/>
          </p:nvPr>
        </p:nvSpPr>
        <p:spPr>
          <a:xfrm>
            <a:off x="88740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40"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41" name="PlaceHolder 4"/>
          <p:cNvSpPr>
            <a:spLocks noGrp="1"/>
          </p:cNvSpPr>
          <p:nvPr>
            <p:ph type="body"/>
          </p:nvPr>
        </p:nvSpPr>
        <p:spPr>
          <a:xfrm>
            <a:off x="488412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43"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44"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45" name="PlaceHolder 4"/>
          <p:cNvSpPr>
            <a:spLocks noGrp="1"/>
          </p:cNvSpPr>
          <p:nvPr>
            <p:ph type="body"/>
          </p:nvPr>
        </p:nvSpPr>
        <p:spPr>
          <a:xfrm>
            <a:off x="887400" y="372636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47" name="PlaceHolder 2"/>
          <p:cNvSpPr>
            <a:spLocks noGrp="1"/>
          </p:cNvSpPr>
          <p:nvPr>
            <p:ph type="body"/>
          </p:nvPr>
        </p:nvSpPr>
        <p:spPr>
          <a:xfrm>
            <a:off x="887400" y="110268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48" name="PlaceHolder 3"/>
          <p:cNvSpPr>
            <a:spLocks noGrp="1"/>
          </p:cNvSpPr>
          <p:nvPr>
            <p:ph type="body"/>
          </p:nvPr>
        </p:nvSpPr>
        <p:spPr>
          <a:xfrm>
            <a:off x="887400" y="372636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50"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51"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52" name="PlaceHolder 4"/>
          <p:cNvSpPr>
            <a:spLocks noGrp="1"/>
          </p:cNvSpPr>
          <p:nvPr>
            <p:ph type="body"/>
          </p:nvPr>
        </p:nvSpPr>
        <p:spPr>
          <a:xfrm>
            <a:off x="488412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53" name="PlaceHolder 5"/>
          <p:cNvSpPr>
            <a:spLocks noGrp="1"/>
          </p:cNvSpPr>
          <p:nvPr>
            <p:ph type="body"/>
          </p:nvPr>
        </p:nvSpPr>
        <p:spPr>
          <a:xfrm>
            <a:off x="88740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4"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55" name="PlaceHolder 2"/>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56" name="PlaceHolder 3"/>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pic>
        <p:nvPicPr>
          <p:cNvPr id="157" name="Picture 156"/>
          <p:cNvPicPr/>
          <p:nvPr/>
        </p:nvPicPr>
        <p:blipFill>
          <a:blip r:embed="rId2"/>
          <a:stretch/>
        </p:blipFill>
        <p:spPr>
          <a:xfrm>
            <a:off x="1639080" y="1102320"/>
            <a:ext cx="6295320" cy="5023080"/>
          </a:xfrm>
          <a:prstGeom prst="rect">
            <a:avLst/>
          </a:prstGeom>
          <a:ln>
            <a:noFill/>
          </a:ln>
        </p:spPr>
      </p:pic>
      <p:pic>
        <p:nvPicPr>
          <p:cNvPr id="158" name="Picture 157"/>
          <p:cNvPicPr/>
          <p:nvPr/>
        </p:nvPicPr>
        <p:blipFill>
          <a:blip r:embed="rId2"/>
          <a:stretch/>
        </p:blipFill>
        <p:spPr>
          <a:xfrm>
            <a:off x="1639080" y="1102320"/>
            <a:ext cx="6295320" cy="5023080"/>
          </a:xfrm>
          <a:prstGeom prst="rect">
            <a:avLst/>
          </a:prstGeom>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65"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66" name="PlaceHolder 2"/>
          <p:cNvSpPr>
            <a:spLocks noGrp="1"/>
          </p:cNvSpPr>
          <p:nvPr>
            <p:ph type="subTitle"/>
          </p:nvPr>
        </p:nvSpPr>
        <p:spPr>
          <a:xfrm>
            <a:off x="887400" y="1102680"/>
            <a:ext cx="7799040" cy="50230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67"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68" name="PlaceHolder 2"/>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70" name="PlaceHolder 2"/>
          <p:cNvSpPr>
            <a:spLocks noGrp="1"/>
          </p:cNvSpPr>
          <p:nvPr>
            <p:ph type="body"/>
          </p:nvPr>
        </p:nvSpPr>
        <p:spPr>
          <a:xfrm>
            <a:off x="88740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71" name="PlaceHolder 3"/>
          <p:cNvSpPr>
            <a:spLocks noGrp="1"/>
          </p:cNvSpPr>
          <p:nvPr>
            <p:ph type="body"/>
          </p:nvPr>
        </p:nvSpPr>
        <p:spPr>
          <a:xfrm>
            <a:off x="488412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2"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3" name="PlaceHolder 1"/>
          <p:cNvSpPr>
            <a:spLocks noGrp="1"/>
          </p:cNvSpPr>
          <p:nvPr>
            <p:ph type="subTitle"/>
          </p:nvPr>
        </p:nvSpPr>
        <p:spPr>
          <a:xfrm>
            <a:off x="1075680" y="40320"/>
            <a:ext cx="8073720" cy="26794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4"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75"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76" name="PlaceHolder 3"/>
          <p:cNvSpPr>
            <a:spLocks noGrp="1"/>
          </p:cNvSpPr>
          <p:nvPr>
            <p:ph type="body"/>
          </p:nvPr>
        </p:nvSpPr>
        <p:spPr>
          <a:xfrm>
            <a:off x="88740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77" name="PlaceHolder 4"/>
          <p:cNvSpPr>
            <a:spLocks noGrp="1"/>
          </p:cNvSpPr>
          <p:nvPr>
            <p:ph type="body"/>
          </p:nvPr>
        </p:nvSpPr>
        <p:spPr>
          <a:xfrm>
            <a:off x="488412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79" name="PlaceHolder 2"/>
          <p:cNvSpPr>
            <a:spLocks noGrp="1"/>
          </p:cNvSpPr>
          <p:nvPr>
            <p:ph type="body"/>
          </p:nvPr>
        </p:nvSpPr>
        <p:spPr>
          <a:xfrm>
            <a:off x="88740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80"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81" name="PlaceHolder 4"/>
          <p:cNvSpPr>
            <a:spLocks noGrp="1"/>
          </p:cNvSpPr>
          <p:nvPr>
            <p:ph type="body"/>
          </p:nvPr>
        </p:nvSpPr>
        <p:spPr>
          <a:xfrm>
            <a:off x="488412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83"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84"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85" name="PlaceHolder 4"/>
          <p:cNvSpPr>
            <a:spLocks noGrp="1"/>
          </p:cNvSpPr>
          <p:nvPr>
            <p:ph type="body"/>
          </p:nvPr>
        </p:nvSpPr>
        <p:spPr>
          <a:xfrm>
            <a:off x="887400" y="372636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87" name="PlaceHolder 2"/>
          <p:cNvSpPr>
            <a:spLocks noGrp="1"/>
          </p:cNvSpPr>
          <p:nvPr>
            <p:ph type="body"/>
          </p:nvPr>
        </p:nvSpPr>
        <p:spPr>
          <a:xfrm>
            <a:off x="887400" y="110268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88" name="PlaceHolder 3"/>
          <p:cNvSpPr>
            <a:spLocks noGrp="1"/>
          </p:cNvSpPr>
          <p:nvPr>
            <p:ph type="body"/>
          </p:nvPr>
        </p:nvSpPr>
        <p:spPr>
          <a:xfrm>
            <a:off x="887400" y="372636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89"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90"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91"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92" name="PlaceHolder 4"/>
          <p:cNvSpPr>
            <a:spLocks noGrp="1"/>
          </p:cNvSpPr>
          <p:nvPr>
            <p:ph type="body"/>
          </p:nvPr>
        </p:nvSpPr>
        <p:spPr>
          <a:xfrm>
            <a:off x="488412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93" name="PlaceHolder 5"/>
          <p:cNvSpPr>
            <a:spLocks noGrp="1"/>
          </p:cNvSpPr>
          <p:nvPr>
            <p:ph type="body"/>
          </p:nvPr>
        </p:nvSpPr>
        <p:spPr>
          <a:xfrm>
            <a:off x="88740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94"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195" name="PlaceHolder 2"/>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196" name="PlaceHolder 3"/>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pic>
        <p:nvPicPr>
          <p:cNvPr id="197" name="Picture 196"/>
          <p:cNvPicPr/>
          <p:nvPr/>
        </p:nvPicPr>
        <p:blipFill>
          <a:blip r:embed="rId2"/>
          <a:stretch/>
        </p:blipFill>
        <p:spPr>
          <a:xfrm>
            <a:off x="1639080" y="1102320"/>
            <a:ext cx="6295320" cy="5023080"/>
          </a:xfrm>
          <a:prstGeom prst="rect">
            <a:avLst/>
          </a:prstGeom>
          <a:ln>
            <a:noFill/>
          </a:ln>
        </p:spPr>
      </p:pic>
      <p:pic>
        <p:nvPicPr>
          <p:cNvPr id="198" name="Picture 197"/>
          <p:cNvPicPr/>
          <p:nvPr/>
        </p:nvPicPr>
        <p:blipFill>
          <a:blip r:embed="rId2"/>
          <a:stretch/>
        </p:blipFill>
        <p:spPr>
          <a:xfrm>
            <a:off x="1639080" y="1102320"/>
            <a:ext cx="6295320" cy="5023080"/>
          </a:xfrm>
          <a:prstGeom prst="rect">
            <a:avLst/>
          </a:prstGeom>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5"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206" name="PlaceHolder 2"/>
          <p:cNvSpPr>
            <a:spLocks noGrp="1"/>
          </p:cNvSpPr>
          <p:nvPr>
            <p:ph type="subTitle"/>
          </p:nvPr>
        </p:nvSpPr>
        <p:spPr>
          <a:xfrm>
            <a:off x="887400" y="1102680"/>
            <a:ext cx="7799040" cy="50230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7"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208" name="PlaceHolder 2"/>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9"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210" name="PlaceHolder 2"/>
          <p:cNvSpPr>
            <a:spLocks noGrp="1"/>
          </p:cNvSpPr>
          <p:nvPr>
            <p:ph type="body"/>
          </p:nvPr>
        </p:nvSpPr>
        <p:spPr>
          <a:xfrm>
            <a:off x="88740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11" name="PlaceHolder 3"/>
          <p:cNvSpPr>
            <a:spLocks noGrp="1"/>
          </p:cNvSpPr>
          <p:nvPr>
            <p:ph type="body"/>
          </p:nvPr>
        </p:nvSpPr>
        <p:spPr>
          <a:xfrm>
            <a:off x="488412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12"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13" name="PlaceHolder 1"/>
          <p:cNvSpPr>
            <a:spLocks noGrp="1"/>
          </p:cNvSpPr>
          <p:nvPr>
            <p:ph type="subTitle"/>
          </p:nvPr>
        </p:nvSpPr>
        <p:spPr>
          <a:xfrm>
            <a:off x="1075680" y="40320"/>
            <a:ext cx="8073720" cy="26794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14"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215"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16" name="PlaceHolder 3"/>
          <p:cNvSpPr>
            <a:spLocks noGrp="1"/>
          </p:cNvSpPr>
          <p:nvPr>
            <p:ph type="body"/>
          </p:nvPr>
        </p:nvSpPr>
        <p:spPr>
          <a:xfrm>
            <a:off x="88740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17" name="PlaceHolder 4"/>
          <p:cNvSpPr>
            <a:spLocks noGrp="1"/>
          </p:cNvSpPr>
          <p:nvPr>
            <p:ph type="body"/>
          </p:nvPr>
        </p:nvSpPr>
        <p:spPr>
          <a:xfrm>
            <a:off x="488412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18"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219" name="PlaceHolder 2"/>
          <p:cNvSpPr>
            <a:spLocks noGrp="1"/>
          </p:cNvSpPr>
          <p:nvPr>
            <p:ph type="body"/>
          </p:nvPr>
        </p:nvSpPr>
        <p:spPr>
          <a:xfrm>
            <a:off x="887400" y="1102680"/>
            <a:ext cx="380592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20"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21" name="PlaceHolder 4"/>
          <p:cNvSpPr>
            <a:spLocks noGrp="1"/>
          </p:cNvSpPr>
          <p:nvPr>
            <p:ph type="body"/>
          </p:nvPr>
        </p:nvSpPr>
        <p:spPr>
          <a:xfrm>
            <a:off x="488412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2"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223"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24"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25" name="PlaceHolder 4"/>
          <p:cNvSpPr>
            <a:spLocks noGrp="1"/>
          </p:cNvSpPr>
          <p:nvPr>
            <p:ph type="body"/>
          </p:nvPr>
        </p:nvSpPr>
        <p:spPr>
          <a:xfrm>
            <a:off x="887400" y="372636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26"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227" name="PlaceHolder 2"/>
          <p:cNvSpPr>
            <a:spLocks noGrp="1"/>
          </p:cNvSpPr>
          <p:nvPr>
            <p:ph type="body"/>
          </p:nvPr>
        </p:nvSpPr>
        <p:spPr>
          <a:xfrm>
            <a:off x="887400" y="110268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28" name="PlaceHolder 3"/>
          <p:cNvSpPr>
            <a:spLocks noGrp="1"/>
          </p:cNvSpPr>
          <p:nvPr>
            <p:ph type="body"/>
          </p:nvPr>
        </p:nvSpPr>
        <p:spPr>
          <a:xfrm>
            <a:off x="887400" y="3726360"/>
            <a:ext cx="779904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29"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230" name="PlaceHolder 2"/>
          <p:cNvSpPr>
            <a:spLocks noGrp="1"/>
          </p:cNvSpPr>
          <p:nvPr>
            <p:ph type="body"/>
          </p:nvPr>
        </p:nvSpPr>
        <p:spPr>
          <a:xfrm>
            <a:off x="88740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31" name="PlaceHolder 3"/>
          <p:cNvSpPr>
            <a:spLocks noGrp="1"/>
          </p:cNvSpPr>
          <p:nvPr>
            <p:ph type="body"/>
          </p:nvPr>
        </p:nvSpPr>
        <p:spPr>
          <a:xfrm>
            <a:off x="4884120" y="110268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32" name="PlaceHolder 4"/>
          <p:cNvSpPr>
            <a:spLocks noGrp="1"/>
          </p:cNvSpPr>
          <p:nvPr>
            <p:ph type="body"/>
          </p:nvPr>
        </p:nvSpPr>
        <p:spPr>
          <a:xfrm>
            <a:off x="488412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33" name="PlaceHolder 5"/>
          <p:cNvSpPr>
            <a:spLocks noGrp="1"/>
          </p:cNvSpPr>
          <p:nvPr>
            <p:ph type="body"/>
          </p:nvPr>
        </p:nvSpPr>
        <p:spPr>
          <a:xfrm>
            <a:off x="887400" y="3726360"/>
            <a:ext cx="3805920" cy="239580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1075680" y="40320"/>
            <a:ext cx="8073720" cy="577800"/>
          </a:xfrm>
          <a:prstGeom prst="rect">
            <a:avLst/>
          </a:prstGeom>
        </p:spPr>
        <p:txBody>
          <a:bodyPr lIns="0" tIns="0" rIns="0" bIns="0" anchor="ctr"/>
          <a:lstStyle/>
          <a:p>
            <a:endParaRPr lang="id-ID" sz="3200" strike="noStrike" spc="-1">
              <a:solidFill>
                <a:srgbClr val="000000"/>
              </a:solidFill>
              <a:uFill>
                <a:solidFill>
                  <a:srgbClr val="FFFFFF"/>
                </a:solidFill>
              </a:uFill>
              <a:latin typeface="Calibri"/>
            </a:endParaRPr>
          </a:p>
        </p:txBody>
      </p:sp>
      <p:sp>
        <p:nvSpPr>
          <p:cNvPr id="235" name="PlaceHolder 2"/>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sp>
        <p:nvSpPr>
          <p:cNvPr id="236" name="PlaceHolder 3"/>
          <p:cNvSpPr>
            <a:spLocks noGrp="1"/>
          </p:cNvSpPr>
          <p:nvPr>
            <p:ph type="body"/>
          </p:nvPr>
        </p:nvSpPr>
        <p:spPr>
          <a:xfrm>
            <a:off x="887400" y="1102680"/>
            <a:ext cx="7799040" cy="5023080"/>
          </a:xfrm>
          <a:prstGeom prst="rect">
            <a:avLst/>
          </a:prstGeom>
        </p:spPr>
        <p:txBody>
          <a:bodyPr lIns="0" tIns="0" rIns="0" bIns="0"/>
          <a:lstStyle/>
          <a:p>
            <a:endParaRPr lang="id-ID" sz="2500" strike="noStrike" spc="-1">
              <a:solidFill>
                <a:srgbClr val="000000"/>
              </a:solidFill>
              <a:uFill>
                <a:solidFill>
                  <a:srgbClr val="FFFFFF"/>
                </a:solidFill>
              </a:uFill>
              <a:latin typeface="Calibri"/>
            </a:endParaRPr>
          </a:p>
        </p:txBody>
      </p:sp>
      <p:pic>
        <p:nvPicPr>
          <p:cNvPr id="237" name="Picture 236"/>
          <p:cNvPicPr/>
          <p:nvPr/>
        </p:nvPicPr>
        <p:blipFill>
          <a:blip r:embed="rId2"/>
          <a:stretch/>
        </p:blipFill>
        <p:spPr>
          <a:xfrm>
            <a:off x="1639080" y="1102320"/>
            <a:ext cx="6295320" cy="5023080"/>
          </a:xfrm>
          <a:prstGeom prst="rect">
            <a:avLst/>
          </a:prstGeom>
          <a:ln>
            <a:noFill/>
          </a:ln>
        </p:spPr>
      </p:pic>
      <p:pic>
        <p:nvPicPr>
          <p:cNvPr id="238" name="Picture 237"/>
          <p:cNvPicPr/>
          <p:nvPr/>
        </p:nvPicPr>
        <p:blipFill>
          <a:blip r:embed="rId2"/>
          <a:stretch/>
        </p:blipFill>
        <p:spPr>
          <a:xfrm>
            <a:off x="1639080" y="1102320"/>
            <a:ext cx="6295320" cy="502308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3.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4.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5.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6.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6" name="CustomShape 1" hidden="1"/>
          <p:cNvSpPr/>
          <p:nvPr/>
        </p:nvSpPr>
        <p:spPr>
          <a:xfrm>
            <a:off x="8459640" y="6381720"/>
            <a:ext cx="593280" cy="379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r">
              <a:lnSpc>
                <a:spcPct val="100000"/>
              </a:lnSpc>
            </a:pPr>
            <a:fld id="{78F8FBC2-7698-4ADD-A1EA-55A3A1A36EB9}" type="slidenum">
              <a:rPr lang="en-US" sz="1200" strike="noStrike" spc="-1">
                <a:solidFill>
                  <a:srgbClr val="000000"/>
                </a:solidFill>
                <a:uFill>
                  <a:solidFill>
                    <a:srgbClr val="FFFFFF"/>
                  </a:solidFill>
                </a:uFill>
                <a:latin typeface="Arial"/>
                <a:ea typeface="MS PGothic"/>
              </a:rPr>
              <a:t>‹#›</a:t>
            </a:fld>
            <a:endParaRPr lang="en-US" sz="1800" strike="noStrike" spc="-1">
              <a:solidFill>
                <a:srgbClr val="000000"/>
              </a:solidFill>
              <a:uFill>
                <a:solidFill>
                  <a:srgbClr val="FFFFFF"/>
                </a:solidFill>
              </a:uFill>
              <a:latin typeface="Arial"/>
            </a:endParaRPr>
          </a:p>
        </p:txBody>
      </p:sp>
      <p:sp>
        <p:nvSpPr>
          <p:cNvPr id="7" name="PlaceHolder 2"/>
          <p:cNvSpPr>
            <a:spLocks noGrp="1"/>
          </p:cNvSpPr>
          <p:nvPr>
            <p:ph type="title"/>
          </p:nvPr>
        </p:nvSpPr>
        <p:spPr>
          <a:xfrm>
            <a:off x="3201120" y="4965480"/>
            <a:ext cx="5786280" cy="534960"/>
          </a:xfrm>
          <a:prstGeom prst="rect">
            <a:avLst/>
          </a:prstGeom>
        </p:spPr>
        <p:txBody>
          <a:bodyPr anchor="ctr"/>
          <a:lstStyle/>
          <a:p>
            <a:pPr algn="r">
              <a:lnSpc>
                <a:spcPct val="100000"/>
              </a:lnSpc>
            </a:pPr>
            <a:r>
              <a:rPr lang="id-ID" sz="3600" b="1" strike="noStrike" spc="-1">
                <a:solidFill>
                  <a:srgbClr val="FFFFFF"/>
                </a:solidFill>
                <a:uFill>
                  <a:solidFill>
                    <a:srgbClr val="FFFFFF"/>
                  </a:solidFill>
                </a:uFill>
                <a:latin typeface="Calibri"/>
                <a:ea typeface="MS PGothic"/>
              </a:rPr>
              <a:t>Click to edit Master title style</a:t>
            </a:r>
            <a:endParaRPr lang="id-ID" sz="3200" strike="noStrike" spc="-1">
              <a:solidFill>
                <a:srgbClr val="000000"/>
              </a:solidFill>
              <a:uFill>
                <a:solidFill>
                  <a:srgbClr val="FFFFFF"/>
                </a:solidFill>
              </a:uFill>
              <a:latin typeface="Calibri"/>
            </a:endParaRPr>
          </a:p>
        </p:txBody>
      </p:sp>
      <p:sp>
        <p:nvSpPr>
          <p:cNvPr id="2" name="PlaceHolder 3"/>
          <p:cNvSpPr>
            <a:spLocks noGrp="1"/>
          </p:cNvSpPr>
          <p:nvPr>
            <p:ph type="dt"/>
          </p:nvPr>
        </p:nvSpPr>
        <p:spPr>
          <a:xfrm>
            <a:off x="457200" y="6356520"/>
            <a:ext cx="2133360" cy="364680"/>
          </a:xfrm>
          <a:prstGeom prst="rect">
            <a:avLst/>
          </a:prstGeom>
        </p:spPr>
        <p:txBody>
          <a:bodyPr anchor="ctr"/>
          <a:lstStyle/>
          <a:p>
            <a:pPr>
              <a:lnSpc>
                <a:spcPct val="100000"/>
              </a:lnSpc>
            </a:pPr>
            <a:r>
              <a:rPr lang="en-US" sz="1200" strike="noStrike" spc="-1">
                <a:solidFill>
                  <a:srgbClr val="898989"/>
                </a:solidFill>
                <a:uFill>
                  <a:solidFill>
                    <a:srgbClr val="FFFFFF"/>
                  </a:solidFill>
                </a:uFill>
                <a:latin typeface="Calibri"/>
                <a:ea typeface="MS PGothic"/>
              </a:rPr>
              <a:t>6/9/20</a:t>
            </a:r>
            <a:endParaRPr lang="en-US" sz="1400" strike="noStrike" spc="-1">
              <a:solidFill>
                <a:srgbClr val="000000"/>
              </a:solidFill>
              <a:uFill>
                <a:solidFill>
                  <a:srgbClr val="FFFFFF"/>
                </a:solidFill>
              </a:uFill>
              <a:latin typeface="Times New Roman"/>
            </a:endParaRPr>
          </a:p>
        </p:txBody>
      </p:sp>
      <p:sp>
        <p:nvSpPr>
          <p:cNvPr id="3" name="PlaceHolder 4"/>
          <p:cNvSpPr>
            <a:spLocks noGrp="1"/>
          </p:cNvSpPr>
          <p:nvPr>
            <p:ph type="ftr"/>
          </p:nvPr>
        </p:nvSpPr>
        <p:spPr>
          <a:xfrm>
            <a:off x="3124080" y="6356520"/>
            <a:ext cx="2895120" cy="364680"/>
          </a:xfrm>
          <a:prstGeom prst="rect">
            <a:avLst/>
          </a:prstGeom>
        </p:spPr>
        <p:txBody>
          <a:bodyPr anchor="ctr"/>
          <a:lstStyle/>
          <a:p>
            <a:endParaRPr lang="en-US" sz="2400" strike="noStrike" spc="-1">
              <a:solidFill>
                <a:srgbClr val="000000"/>
              </a:solidFill>
              <a:uFill>
                <a:solidFill>
                  <a:srgbClr val="FFFFFF"/>
                </a:solidFill>
              </a:uFill>
              <a:latin typeface="Times New Roman"/>
            </a:endParaRPr>
          </a:p>
        </p:txBody>
      </p:sp>
      <p:sp>
        <p:nvSpPr>
          <p:cNvPr id="4" name="PlaceHolder 5"/>
          <p:cNvSpPr>
            <a:spLocks noGrp="1"/>
          </p:cNvSpPr>
          <p:nvPr>
            <p:ph type="sldNum"/>
          </p:nvPr>
        </p:nvSpPr>
        <p:spPr>
          <a:xfrm>
            <a:off x="6553080" y="6356520"/>
            <a:ext cx="2133360" cy="364680"/>
          </a:xfrm>
          <a:prstGeom prst="rect">
            <a:avLst/>
          </a:prstGeom>
        </p:spPr>
        <p:txBody>
          <a:bodyPr anchor="ctr"/>
          <a:lstStyle/>
          <a:p>
            <a:pPr algn="r">
              <a:lnSpc>
                <a:spcPct val="100000"/>
              </a:lnSpc>
            </a:pPr>
            <a:fld id="{0FA449BC-1846-4EF9-A252-D4079C4BDAF9}" type="slidenum">
              <a:rPr lang="en-US" sz="1200" strike="noStrike" spc="-1">
                <a:solidFill>
                  <a:srgbClr val="898989"/>
                </a:solidFill>
                <a:uFill>
                  <a:solidFill>
                    <a:srgbClr val="FFFFFF"/>
                  </a:solidFill>
                </a:uFill>
                <a:latin typeface="Calibri"/>
                <a:ea typeface="MS PGothic"/>
              </a:rPr>
              <a:t>‹#›</a:t>
            </a:fld>
            <a:endParaRPr lang="en-US" sz="1400" strike="noStrike" spc="-1">
              <a:solidFill>
                <a:srgbClr val="000000"/>
              </a:solidFill>
              <a:uFill>
                <a:solidFill>
                  <a:srgbClr val="FFFFFF"/>
                </a:solidFill>
              </a:uFill>
              <a:latin typeface="Times New Roman"/>
            </a:endParaRPr>
          </a:p>
        </p:txBody>
      </p:sp>
      <p:sp>
        <p:nvSpPr>
          <p:cNvPr id="5" name="PlaceHolder 6"/>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id-ID" sz="2500" strike="noStrike" spc="-1">
                <a:solidFill>
                  <a:srgbClr val="000000"/>
                </a:solidFill>
                <a:uFill>
                  <a:solidFill>
                    <a:srgbClr val="FFFFFF"/>
                  </a:solidFill>
                </a:uFill>
                <a:latin typeface="Calibri"/>
              </a:rPr>
              <a:t>Click to edit the outline text format</a:t>
            </a:r>
          </a:p>
          <a:p>
            <a:pPr marL="864000" lvl="1" indent="-324000">
              <a:buClr>
                <a:srgbClr val="000000"/>
              </a:buClr>
              <a:buSzPct val="75000"/>
              <a:buFont typeface="Symbol" charset="2"/>
              <a:buChar char=""/>
            </a:pPr>
            <a:r>
              <a:rPr lang="id-ID" sz="2300" strike="noStrike" spc="-1">
                <a:solidFill>
                  <a:srgbClr val="000000"/>
                </a:solidFill>
                <a:uFill>
                  <a:solidFill>
                    <a:srgbClr val="FFFFFF"/>
                  </a:solidFill>
                </a:uFill>
                <a:latin typeface="Calibri"/>
              </a:rPr>
              <a:t>Second Outline Level</a:t>
            </a:r>
          </a:p>
          <a:p>
            <a:pPr marL="1296000" lvl="2" indent="-288000">
              <a:buClr>
                <a:srgbClr val="000000"/>
              </a:buClr>
              <a:buSzPct val="45000"/>
              <a:buFont typeface="Wingdings" charset="2"/>
              <a:buChar char=""/>
            </a:pPr>
            <a:r>
              <a:rPr lang="id-ID" sz="2200" strike="noStrike" spc="-1">
                <a:solidFill>
                  <a:srgbClr val="000000"/>
                </a:solidFill>
                <a:uFill>
                  <a:solidFill>
                    <a:srgbClr val="FFFFFF"/>
                  </a:solidFill>
                </a:uFill>
                <a:latin typeface="Calibri"/>
              </a:rPr>
              <a:t>Third Outline Level</a:t>
            </a:r>
          </a:p>
          <a:p>
            <a:pPr marL="1728000" lvl="3" indent="-216000">
              <a:buClr>
                <a:srgbClr val="000000"/>
              </a:buClr>
              <a:buSzPct val="75000"/>
              <a:buFont typeface="Symbol" charset="2"/>
              <a:buChar char=""/>
            </a:pPr>
            <a:r>
              <a:rPr lang="id-ID" sz="2000" strike="noStrike" spc="-1">
                <a:solidFill>
                  <a:srgbClr val="000000"/>
                </a:solidFill>
                <a:uFill>
                  <a:solidFill>
                    <a:srgbClr val="FFFFFF"/>
                  </a:solidFill>
                </a:uFill>
                <a:latin typeface="Calibri"/>
              </a:rPr>
              <a:t>Fourth Outline Level</a:t>
            </a:r>
          </a:p>
          <a:p>
            <a:pPr marL="2160000" lvl="4" indent="-216000">
              <a:buClr>
                <a:srgbClr val="000000"/>
              </a:buClr>
              <a:buSzPct val="45000"/>
              <a:buFont typeface="Wingdings" charset="2"/>
              <a:buChar char=""/>
            </a:pPr>
            <a:r>
              <a:rPr lang="id-ID" sz="2000" strike="noStrike" spc="-1">
                <a:solidFill>
                  <a:srgbClr val="000000"/>
                </a:solidFill>
                <a:uFill>
                  <a:solidFill>
                    <a:srgbClr val="FFFFFF"/>
                  </a:solidFill>
                </a:uFill>
                <a:latin typeface="Calibri"/>
              </a:rPr>
              <a:t>Fifth Outline Level</a:t>
            </a:r>
          </a:p>
          <a:p>
            <a:pPr marL="2592000" lvl="5" indent="-216000">
              <a:buClr>
                <a:srgbClr val="000000"/>
              </a:buClr>
              <a:buSzPct val="45000"/>
              <a:buFont typeface="Wingdings" charset="2"/>
              <a:buChar char=""/>
            </a:pPr>
            <a:r>
              <a:rPr lang="id-ID" sz="2000" strike="noStrike" spc="-1">
                <a:solidFill>
                  <a:srgbClr val="000000"/>
                </a:solidFill>
                <a:uFill>
                  <a:solidFill>
                    <a:srgbClr val="FFFFFF"/>
                  </a:solidFill>
                </a:uFill>
                <a:latin typeface="Calibri"/>
              </a:rPr>
              <a:t>Sixth Outline Level</a:t>
            </a:r>
          </a:p>
          <a:p>
            <a:pPr marL="3024000" lvl="6" indent="-216000">
              <a:buClr>
                <a:srgbClr val="000000"/>
              </a:buClr>
              <a:buSzPct val="45000"/>
              <a:buFont typeface="Wingdings" charset="2"/>
              <a:buChar char=""/>
            </a:pPr>
            <a:r>
              <a:rPr lang="id-ID" sz="2000" strike="noStrike" spc="-1">
                <a:solidFill>
                  <a:srgbClr val="000000"/>
                </a:solidFill>
                <a:uFill>
                  <a:solidFill>
                    <a:srgbClr val="FFFFFF"/>
                  </a:solidFill>
                </a:u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40" name="CustomShape 1"/>
          <p:cNvSpPr/>
          <p:nvPr/>
        </p:nvSpPr>
        <p:spPr>
          <a:xfrm>
            <a:off x="8459640" y="6381720"/>
            <a:ext cx="593280" cy="379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r">
              <a:lnSpc>
                <a:spcPct val="100000"/>
              </a:lnSpc>
            </a:pPr>
            <a:fld id="{9F871360-CCC4-406D-8091-9D7EBFF3643C}" type="slidenum">
              <a:rPr lang="en-US" sz="1200" strike="noStrike" spc="-1">
                <a:solidFill>
                  <a:srgbClr val="000000"/>
                </a:solidFill>
                <a:uFill>
                  <a:solidFill>
                    <a:srgbClr val="FFFFFF"/>
                  </a:solidFill>
                </a:uFill>
                <a:latin typeface="Arial"/>
                <a:ea typeface="MS PGothic"/>
              </a:rPr>
              <a:t>‹#›</a:t>
            </a:fld>
            <a:endParaRPr lang="en-US" sz="1800" strike="noStrike" spc="-1">
              <a:solidFill>
                <a:srgbClr val="000000"/>
              </a:solidFill>
              <a:uFill>
                <a:solidFill>
                  <a:srgbClr val="FFFFFF"/>
                </a:solidFill>
              </a:uFill>
              <a:latin typeface="Arial"/>
            </a:endParaRPr>
          </a:p>
        </p:txBody>
      </p:sp>
      <p:sp>
        <p:nvSpPr>
          <p:cNvPr id="41" name="PlaceHolder 2"/>
          <p:cNvSpPr>
            <a:spLocks noGrp="1"/>
          </p:cNvSpPr>
          <p:nvPr>
            <p:ph type="title"/>
          </p:nvPr>
        </p:nvSpPr>
        <p:spPr>
          <a:xfrm>
            <a:off x="1071720" y="60480"/>
            <a:ext cx="8078400" cy="555120"/>
          </a:xfrm>
          <a:prstGeom prst="rect">
            <a:avLst/>
          </a:prstGeom>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Click to edit Master title style</a:t>
            </a:r>
            <a:endParaRPr lang="id-ID" sz="3200" strike="noStrike" spc="-1">
              <a:solidFill>
                <a:srgbClr val="000000"/>
              </a:solidFill>
              <a:uFill>
                <a:solidFill>
                  <a:srgbClr val="FFFFFF"/>
                </a:solidFill>
              </a:uFill>
              <a:latin typeface="Calibri"/>
            </a:endParaRPr>
          </a:p>
        </p:txBody>
      </p:sp>
      <p:sp>
        <p:nvSpPr>
          <p:cNvPr id="42" name="PlaceHolder 3"/>
          <p:cNvSpPr>
            <a:spLocks noGrp="1"/>
          </p:cNvSpPr>
          <p:nvPr>
            <p:ph type="body"/>
          </p:nvPr>
        </p:nvSpPr>
        <p:spPr>
          <a:xfrm>
            <a:off x="611280" y="692280"/>
            <a:ext cx="8424360" cy="5544720"/>
          </a:xfrm>
          <a:prstGeom prst="rect">
            <a:avLst/>
          </a:prstGeom>
        </p:spPr>
        <p:txBody>
          <a:bodyPr/>
          <a:lstStyle/>
          <a:p>
            <a:pPr marL="432000" indent="-324000">
              <a:buClr>
                <a:srgbClr val="000000"/>
              </a:buClr>
              <a:buSzPct val="45000"/>
              <a:buFont typeface="Wingdings" charset="2"/>
              <a:buChar char=""/>
            </a:pPr>
            <a:r>
              <a:rPr lang="id-ID" sz="2500" strike="noStrike" spc="-1">
                <a:solidFill>
                  <a:srgbClr val="000000"/>
                </a:solidFill>
                <a:uFill>
                  <a:solidFill>
                    <a:srgbClr val="FFFFFF"/>
                  </a:solidFill>
                </a:uFill>
                <a:latin typeface="Calibri"/>
                <a:ea typeface="MS PGothic"/>
              </a:rPr>
              <a:t>Click to edit the outline text format</a:t>
            </a:r>
            <a:endParaRPr lang="id-ID" sz="2500" strike="noStrike" spc="-1">
              <a:solidFill>
                <a:srgbClr val="000000"/>
              </a:solidFill>
              <a:uFill>
                <a:solidFill>
                  <a:srgbClr val="FFFFFF"/>
                </a:solidFill>
              </a:uFill>
              <a:latin typeface="Calibri"/>
            </a:endParaRPr>
          </a:p>
          <a:p>
            <a:pPr marL="864000" lvl="1" indent="-324000">
              <a:buClr>
                <a:srgbClr val="000000"/>
              </a:buClr>
              <a:buSzPct val="75000"/>
              <a:buFont typeface="Symbol" charset="2"/>
              <a:buChar char=""/>
            </a:pPr>
            <a:r>
              <a:rPr lang="id-ID" sz="2500" strike="noStrike" spc="-1">
                <a:solidFill>
                  <a:srgbClr val="000000"/>
                </a:solidFill>
                <a:uFill>
                  <a:solidFill>
                    <a:srgbClr val="FFFFFF"/>
                  </a:solidFill>
                </a:uFill>
                <a:latin typeface="Calibri"/>
                <a:ea typeface="MS PGothic"/>
              </a:rPr>
              <a:t>Second Outline Level</a:t>
            </a:r>
            <a:endParaRPr lang="id-ID" sz="2500" strike="noStrike" spc="-1">
              <a:solidFill>
                <a:srgbClr val="000000"/>
              </a:solidFill>
              <a:uFill>
                <a:solidFill>
                  <a:srgbClr val="FFFFFF"/>
                </a:solidFill>
              </a:uFill>
              <a:latin typeface="Calibri"/>
            </a:endParaRPr>
          </a:p>
          <a:p>
            <a:pPr marL="1296000" lvl="2" indent="-288000">
              <a:buClr>
                <a:srgbClr val="000000"/>
              </a:buClr>
              <a:buSzPct val="45000"/>
              <a:buFont typeface="Wingdings" charset="2"/>
              <a:buChar char=""/>
            </a:pPr>
            <a:r>
              <a:rPr lang="id-ID" sz="2500" strike="noStrike" spc="-1">
                <a:solidFill>
                  <a:srgbClr val="000000"/>
                </a:solidFill>
                <a:uFill>
                  <a:solidFill>
                    <a:srgbClr val="FFFFFF"/>
                  </a:solidFill>
                </a:uFill>
                <a:latin typeface="Calibri"/>
                <a:ea typeface="MS PGothic"/>
              </a:rPr>
              <a:t>Third Outline Level</a:t>
            </a:r>
            <a:endParaRPr lang="id-ID" sz="2500" strike="noStrike" spc="-1">
              <a:solidFill>
                <a:srgbClr val="000000"/>
              </a:solidFill>
              <a:uFill>
                <a:solidFill>
                  <a:srgbClr val="FFFFFF"/>
                </a:solidFill>
              </a:uFill>
              <a:latin typeface="Calibri"/>
            </a:endParaRPr>
          </a:p>
          <a:p>
            <a:pPr marL="1728000" lvl="3" indent="-216000">
              <a:buClr>
                <a:srgbClr val="000000"/>
              </a:buClr>
              <a:buSzPct val="75000"/>
              <a:buFont typeface="Symbol" charset="2"/>
              <a:buChar char=""/>
            </a:pPr>
            <a:r>
              <a:rPr lang="id-ID" sz="2500" strike="noStrike" spc="-1">
                <a:solidFill>
                  <a:srgbClr val="000000"/>
                </a:solidFill>
                <a:uFill>
                  <a:solidFill>
                    <a:srgbClr val="FFFFFF"/>
                  </a:solidFill>
                </a:uFill>
                <a:latin typeface="Calibri"/>
                <a:ea typeface="MS PGothic"/>
              </a:rPr>
              <a:t>Fourth Outline Level</a:t>
            </a:r>
            <a:endParaRPr lang="id-ID" sz="2500" strike="noStrike" spc="-1">
              <a:solidFill>
                <a:srgbClr val="000000"/>
              </a:solidFill>
              <a:uFill>
                <a:solidFill>
                  <a:srgbClr val="FFFFFF"/>
                </a:solidFill>
              </a:uFill>
              <a:latin typeface="Calibri"/>
            </a:endParaRPr>
          </a:p>
          <a:p>
            <a:pPr marL="2160000" lvl="4" indent="-216000">
              <a:buClr>
                <a:srgbClr val="000000"/>
              </a:buClr>
              <a:buSzPct val="45000"/>
              <a:buFont typeface="Wingdings" charset="2"/>
              <a:buChar char=""/>
            </a:pPr>
            <a:r>
              <a:rPr lang="id-ID" sz="2500" strike="noStrike" spc="-1">
                <a:solidFill>
                  <a:srgbClr val="000000"/>
                </a:solidFill>
                <a:uFill>
                  <a:solidFill>
                    <a:srgbClr val="FFFFFF"/>
                  </a:solidFill>
                </a:uFill>
                <a:latin typeface="Calibri"/>
                <a:ea typeface="MS PGothic"/>
              </a:rPr>
              <a:t>Fifth Outline Level</a:t>
            </a:r>
            <a:endParaRPr lang="id-ID" sz="2500" strike="noStrike" spc="-1">
              <a:solidFill>
                <a:srgbClr val="000000"/>
              </a:solidFill>
              <a:uFill>
                <a:solidFill>
                  <a:srgbClr val="FFFFFF"/>
                </a:solidFill>
              </a:uFill>
              <a:latin typeface="Calibri"/>
            </a:endParaRPr>
          </a:p>
          <a:p>
            <a:pPr marL="2592000" lvl="5" indent="-216000">
              <a:buClr>
                <a:srgbClr val="000000"/>
              </a:buClr>
              <a:buSzPct val="45000"/>
              <a:buFont typeface="Wingdings" charset="2"/>
              <a:buChar char=""/>
            </a:pPr>
            <a:r>
              <a:rPr lang="id-ID" sz="2500" strike="noStrike" spc="-1">
                <a:solidFill>
                  <a:srgbClr val="000000"/>
                </a:solidFill>
                <a:uFill>
                  <a:solidFill>
                    <a:srgbClr val="FFFFFF"/>
                  </a:solidFill>
                </a:uFill>
                <a:latin typeface="Calibri"/>
                <a:ea typeface="MS PGothic"/>
              </a:rPr>
              <a:t>Sixth Outline Level</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500" strike="noStrike" spc="-1">
                <a:solidFill>
                  <a:srgbClr val="000000"/>
                </a:solidFill>
                <a:uFill>
                  <a:solidFill>
                    <a:srgbClr val="FFFFFF"/>
                  </a:solidFill>
                </a:uFill>
                <a:latin typeface="Calibri"/>
                <a:ea typeface="MS PGothic"/>
              </a:rPr>
              <a:t>Seventh Outline LevelClick to edit Master text styles</a:t>
            </a:r>
            <a:endParaRPr lang="id-ID" sz="2500" strike="noStrike" spc="-1">
              <a:solidFill>
                <a:srgbClr val="000000"/>
              </a:solidFill>
              <a:uFill>
                <a:solidFill>
                  <a:srgbClr val="FFFFFF"/>
                </a:solidFill>
              </a:uFill>
              <a:latin typeface="Calibri"/>
            </a:endParaRPr>
          </a:p>
          <a:p>
            <a:pPr marL="743040" lvl="1" indent="-285480">
              <a:lnSpc>
                <a:spcPct val="100000"/>
              </a:lnSpc>
              <a:buClr>
                <a:srgbClr val="000000"/>
              </a:buClr>
              <a:buFont typeface="Wingdings" charset="2"/>
              <a:buChar char=""/>
            </a:pPr>
            <a:r>
              <a:rPr lang="id-ID" sz="2400" strike="noStrike" spc="-1">
                <a:solidFill>
                  <a:srgbClr val="000000"/>
                </a:solidFill>
                <a:uFill>
                  <a:solidFill>
                    <a:srgbClr val="FFFFFF"/>
                  </a:solidFill>
                </a:uFill>
                <a:latin typeface="Calibri"/>
                <a:ea typeface="MS PGothic"/>
              </a:rPr>
              <a:t>Second level</a:t>
            </a:r>
            <a:endParaRPr lang="id-ID" sz="2500" strike="noStrike" spc="-1">
              <a:solidFill>
                <a:srgbClr val="000000"/>
              </a:solidFill>
              <a:uFill>
                <a:solidFill>
                  <a:srgbClr val="FFFFFF"/>
                </a:solidFill>
              </a:uFill>
              <a:latin typeface="Calibri"/>
            </a:endParaRPr>
          </a:p>
          <a:p>
            <a:pPr marL="1143000" lvl="2" indent="-228240">
              <a:lnSpc>
                <a:spcPct val="100000"/>
              </a:lnSpc>
              <a:buClr>
                <a:srgbClr val="000000"/>
              </a:buClr>
              <a:buFont typeface="Wingdings" charset="2"/>
              <a:buChar char=""/>
            </a:pPr>
            <a:r>
              <a:rPr lang="id-ID" sz="2300" strike="noStrike" spc="-1">
                <a:solidFill>
                  <a:srgbClr val="000000"/>
                </a:solidFill>
                <a:uFill>
                  <a:solidFill>
                    <a:srgbClr val="FFFFFF"/>
                  </a:solidFill>
                </a:uFill>
                <a:latin typeface="Calibri"/>
                <a:ea typeface="MS PGothic"/>
              </a:rPr>
              <a:t>Third level</a:t>
            </a:r>
            <a:endParaRPr lang="id-ID" sz="2500" strike="noStrike" spc="-1">
              <a:solidFill>
                <a:srgbClr val="000000"/>
              </a:solidFill>
              <a:uFill>
                <a:solidFill>
                  <a:srgbClr val="FFFFFF"/>
                </a:solidFill>
              </a:uFill>
              <a:latin typeface="Calibri"/>
            </a:endParaRPr>
          </a:p>
          <a:p>
            <a:pPr marL="1600200" lvl="3" indent="-228240">
              <a:lnSpc>
                <a:spcPct val="100000"/>
              </a:lnSpc>
              <a:buClr>
                <a:srgbClr val="000000"/>
              </a:buClr>
              <a:buFont typeface="Arial"/>
              <a:buChar char="–"/>
            </a:pPr>
            <a:r>
              <a:rPr lang="id-ID" sz="2200" strike="noStrike" spc="-1">
                <a:solidFill>
                  <a:srgbClr val="000000"/>
                </a:solidFill>
                <a:uFill>
                  <a:solidFill>
                    <a:srgbClr val="FFFFFF"/>
                  </a:solidFill>
                </a:uFill>
                <a:latin typeface="Calibri"/>
                <a:ea typeface="MS PGothic"/>
              </a:rPr>
              <a:t>Fourth level</a:t>
            </a:r>
            <a:endParaRPr lang="id-ID" sz="2500" strike="noStrike" spc="-1">
              <a:solidFill>
                <a:srgbClr val="000000"/>
              </a:solidFill>
              <a:uFill>
                <a:solidFill>
                  <a:srgbClr val="FFFFFF"/>
                </a:solidFill>
              </a:uFill>
              <a:latin typeface="Calibri"/>
            </a:endParaRPr>
          </a:p>
          <a:p>
            <a:pPr marL="2057400" lvl="4" indent="-228240">
              <a:lnSpc>
                <a:spcPct val="100000"/>
              </a:lnSpc>
              <a:buClr>
                <a:srgbClr val="000000"/>
              </a:buClr>
              <a:buFont typeface="Arial"/>
              <a:buChar char="»"/>
            </a:pPr>
            <a:r>
              <a:rPr lang="id-ID" sz="2000" strike="noStrike" spc="-1">
                <a:solidFill>
                  <a:srgbClr val="000000"/>
                </a:solidFill>
                <a:uFill>
                  <a:solidFill>
                    <a:srgbClr val="FFFFFF"/>
                  </a:solidFill>
                </a:uFill>
                <a:latin typeface="Calibri"/>
                <a:ea typeface="MS PGothic"/>
              </a:rPr>
              <a:t>Fifth level</a:t>
            </a:r>
            <a:endParaRPr lang="id-ID" sz="2500" strike="noStrike" spc="-1">
              <a:solidFill>
                <a:srgbClr val="000000"/>
              </a:solidFill>
              <a:uFill>
                <a:solidFill>
                  <a:srgbClr val="FFFFFF"/>
                </a:solidFill>
              </a:uFill>
              <a:latin typeface="Calibri"/>
            </a:endParaRPr>
          </a:p>
        </p:txBody>
      </p:sp>
      <p:sp>
        <p:nvSpPr>
          <p:cNvPr id="43" name="PlaceHolder 4"/>
          <p:cNvSpPr>
            <a:spLocks noGrp="1"/>
          </p:cNvSpPr>
          <p:nvPr>
            <p:ph type="dt"/>
          </p:nvPr>
        </p:nvSpPr>
        <p:spPr>
          <a:xfrm>
            <a:off x="457200" y="6356520"/>
            <a:ext cx="2133360" cy="364680"/>
          </a:xfrm>
          <a:prstGeom prst="rect">
            <a:avLst/>
          </a:prstGeom>
        </p:spPr>
        <p:txBody>
          <a:bodyPr anchor="ctr"/>
          <a:lstStyle/>
          <a:p>
            <a:pPr>
              <a:lnSpc>
                <a:spcPct val="100000"/>
              </a:lnSpc>
            </a:pPr>
            <a:r>
              <a:rPr lang="en-US" sz="1200" strike="noStrike" spc="-1">
                <a:solidFill>
                  <a:srgbClr val="898989"/>
                </a:solidFill>
                <a:uFill>
                  <a:solidFill>
                    <a:srgbClr val="FFFFFF"/>
                  </a:solidFill>
                </a:uFill>
                <a:latin typeface="Calibri"/>
                <a:ea typeface="MS PGothic"/>
              </a:rPr>
              <a:t>6/9/20</a:t>
            </a:r>
            <a:endParaRPr lang="en-US" sz="1400" strike="noStrike" spc="-1">
              <a:solidFill>
                <a:srgbClr val="000000"/>
              </a:solidFill>
              <a:uFill>
                <a:solidFill>
                  <a:srgbClr val="FFFFFF"/>
                </a:solidFill>
              </a:uFill>
              <a:latin typeface="Times New Roman"/>
            </a:endParaRPr>
          </a:p>
        </p:txBody>
      </p:sp>
      <p:sp>
        <p:nvSpPr>
          <p:cNvPr id="44" name="PlaceHolder 5"/>
          <p:cNvSpPr>
            <a:spLocks noGrp="1"/>
          </p:cNvSpPr>
          <p:nvPr>
            <p:ph type="ftr"/>
          </p:nvPr>
        </p:nvSpPr>
        <p:spPr>
          <a:xfrm>
            <a:off x="3124080" y="6356520"/>
            <a:ext cx="2895120" cy="364680"/>
          </a:xfrm>
          <a:prstGeom prst="rect">
            <a:avLst/>
          </a:prstGeom>
        </p:spPr>
        <p:txBody>
          <a:bodyPr anchor="ctr"/>
          <a:lstStyle/>
          <a:p>
            <a:endParaRPr lang="en-US" sz="2400" strike="noStrike" spc="-1">
              <a:solidFill>
                <a:srgbClr val="000000"/>
              </a:solidFill>
              <a:uFill>
                <a:solidFill>
                  <a:srgbClr val="FFFFFF"/>
                </a:solidFill>
              </a:uFill>
              <a:latin typeface="Times New Roman"/>
            </a:endParaRPr>
          </a:p>
        </p:txBody>
      </p:sp>
      <p:sp>
        <p:nvSpPr>
          <p:cNvPr id="45" name="PlaceHolder 6"/>
          <p:cNvSpPr>
            <a:spLocks noGrp="1"/>
          </p:cNvSpPr>
          <p:nvPr>
            <p:ph type="sldNum"/>
          </p:nvPr>
        </p:nvSpPr>
        <p:spPr>
          <a:xfrm>
            <a:off x="6553080" y="6356520"/>
            <a:ext cx="2133360" cy="364680"/>
          </a:xfrm>
          <a:prstGeom prst="rect">
            <a:avLst/>
          </a:prstGeom>
        </p:spPr>
        <p:txBody>
          <a:bodyPr anchor="ctr"/>
          <a:lstStyle/>
          <a:p>
            <a:pPr algn="r">
              <a:lnSpc>
                <a:spcPct val="100000"/>
              </a:lnSpc>
            </a:pPr>
            <a:fld id="{33A1650E-B574-44BF-88AB-D0B50DC64290}" type="slidenum">
              <a:rPr lang="en-US" sz="1200" strike="noStrike" spc="-1">
                <a:solidFill>
                  <a:srgbClr val="898989"/>
                </a:solidFill>
                <a:uFill>
                  <a:solidFill>
                    <a:srgbClr val="FFFFFF"/>
                  </a:solidFill>
                </a:uFill>
                <a:latin typeface="Calibri"/>
                <a:ea typeface="MS PGothic"/>
              </a:rPr>
              <a:t>‹#›</a:t>
            </a:fld>
            <a:endParaRPr lang="en-US" sz="1400" strike="noStrike" spc="-1">
              <a:solidFill>
                <a:srgbClr val="000000"/>
              </a:solidFill>
              <a:uFill>
                <a:solidFill>
                  <a:srgbClr val="FFFFFF"/>
                </a:solidFill>
              </a:uFill>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80" name="PlaceHolder 1"/>
          <p:cNvSpPr>
            <a:spLocks noGrp="1"/>
          </p:cNvSpPr>
          <p:nvPr>
            <p:ph type="dt"/>
          </p:nvPr>
        </p:nvSpPr>
        <p:spPr>
          <a:xfrm>
            <a:off x="457200" y="6356520"/>
            <a:ext cx="2133360" cy="364680"/>
          </a:xfrm>
          <a:prstGeom prst="rect">
            <a:avLst/>
          </a:prstGeom>
        </p:spPr>
        <p:txBody>
          <a:bodyPr anchor="ctr"/>
          <a:lstStyle/>
          <a:p>
            <a:pPr>
              <a:lnSpc>
                <a:spcPct val="100000"/>
              </a:lnSpc>
            </a:pPr>
            <a:r>
              <a:rPr lang="en-US" sz="1200" strike="noStrike" spc="-1">
                <a:solidFill>
                  <a:srgbClr val="8B8B8B"/>
                </a:solidFill>
                <a:uFill>
                  <a:solidFill>
                    <a:srgbClr val="FFFFFF"/>
                  </a:solidFill>
                </a:uFill>
                <a:latin typeface="Calibri"/>
                <a:ea typeface="MS PGothic"/>
              </a:rPr>
              <a:t>6/9/20</a:t>
            </a:r>
            <a:endParaRPr lang="en-US" sz="1400" strike="noStrike" spc="-1">
              <a:solidFill>
                <a:srgbClr val="000000"/>
              </a:solidFill>
              <a:uFill>
                <a:solidFill>
                  <a:srgbClr val="FFFFFF"/>
                </a:solidFill>
              </a:uFill>
              <a:latin typeface="Times New Roman"/>
            </a:endParaRPr>
          </a:p>
        </p:txBody>
      </p:sp>
      <p:sp>
        <p:nvSpPr>
          <p:cNvPr id="81" name="PlaceHolder 2"/>
          <p:cNvSpPr>
            <a:spLocks noGrp="1"/>
          </p:cNvSpPr>
          <p:nvPr>
            <p:ph type="ftr"/>
          </p:nvPr>
        </p:nvSpPr>
        <p:spPr>
          <a:xfrm>
            <a:off x="3124080" y="6356520"/>
            <a:ext cx="2895120" cy="364680"/>
          </a:xfrm>
          <a:prstGeom prst="rect">
            <a:avLst/>
          </a:prstGeom>
        </p:spPr>
        <p:txBody>
          <a:bodyPr anchor="ctr"/>
          <a:lstStyle/>
          <a:p>
            <a:endParaRPr lang="en-US" sz="2400" strike="noStrike" spc="-1">
              <a:solidFill>
                <a:srgbClr val="000000"/>
              </a:solidFill>
              <a:uFill>
                <a:solidFill>
                  <a:srgbClr val="FFFFFF"/>
                </a:solidFill>
              </a:uFill>
              <a:latin typeface="Times New Roman"/>
            </a:endParaRPr>
          </a:p>
        </p:txBody>
      </p:sp>
      <p:sp>
        <p:nvSpPr>
          <p:cNvPr id="82" name="PlaceHolder 3"/>
          <p:cNvSpPr>
            <a:spLocks noGrp="1"/>
          </p:cNvSpPr>
          <p:nvPr>
            <p:ph type="sldNum"/>
          </p:nvPr>
        </p:nvSpPr>
        <p:spPr>
          <a:xfrm>
            <a:off x="6553080" y="6356520"/>
            <a:ext cx="2133360" cy="364680"/>
          </a:xfrm>
          <a:prstGeom prst="rect">
            <a:avLst/>
          </a:prstGeom>
        </p:spPr>
        <p:txBody>
          <a:bodyPr anchor="ctr"/>
          <a:lstStyle/>
          <a:p>
            <a:pPr algn="r">
              <a:lnSpc>
                <a:spcPct val="100000"/>
              </a:lnSpc>
            </a:pPr>
            <a:fld id="{C764B087-6731-4AC2-B3DD-A1124EF17182}" type="slidenum">
              <a:rPr lang="en-US" sz="1200" strike="noStrike" spc="-1">
                <a:solidFill>
                  <a:srgbClr val="8B8B8B"/>
                </a:solidFill>
                <a:uFill>
                  <a:solidFill>
                    <a:srgbClr val="FFFFFF"/>
                  </a:solidFill>
                </a:uFill>
                <a:latin typeface="Calibri"/>
                <a:ea typeface="MS PGothic"/>
              </a:rPr>
              <a:t>‹#›</a:t>
            </a:fld>
            <a:endParaRPr lang="en-US" sz="1400" strike="noStrike" spc="-1">
              <a:solidFill>
                <a:srgbClr val="000000"/>
              </a:solidFill>
              <a:uFill>
                <a:solidFill>
                  <a:srgbClr val="FFFFFF"/>
                </a:solidFill>
              </a:uFill>
              <a:latin typeface="Times New Roman"/>
            </a:endParaRPr>
          </a:p>
        </p:txBody>
      </p:sp>
      <p:sp>
        <p:nvSpPr>
          <p:cNvPr id="83" name="PlaceHolder 4"/>
          <p:cNvSpPr>
            <a:spLocks noGrp="1"/>
          </p:cNvSpPr>
          <p:nvPr>
            <p:ph type="title"/>
          </p:nvPr>
        </p:nvSpPr>
        <p:spPr>
          <a:xfrm>
            <a:off x="457200" y="273600"/>
            <a:ext cx="8229240" cy="1144800"/>
          </a:xfrm>
          <a:prstGeom prst="rect">
            <a:avLst/>
          </a:prstGeom>
        </p:spPr>
        <p:txBody>
          <a:bodyPr lIns="0" tIns="0" rIns="0" bIns="0" anchor="ctr"/>
          <a:lstStyle/>
          <a:p>
            <a:r>
              <a:rPr lang="id-ID" sz="3200" strike="noStrike" spc="-1">
                <a:solidFill>
                  <a:srgbClr val="000000"/>
                </a:solidFill>
                <a:uFill>
                  <a:solidFill>
                    <a:srgbClr val="FFFFFF"/>
                  </a:solidFill>
                </a:uFill>
                <a:latin typeface="Calibri"/>
              </a:rPr>
              <a:t>Click to edit the title text format</a:t>
            </a:r>
          </a:p>
        </p:txBody>
      </p:sp>
      <p:sp>
        <p:nvSpPr>
          <p:cNvPr id="84" name="PlaceHolder 5"/>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id-ID" sz="2400" strike="noStrike" spc="-1">
                <a:solidFill>
                  <a:srgbClr val="000000"/>
                </a:solidFill>
                <a:uFill>
                  <a:solidFill>
                    <a:srgbClr val="FFFFFF"/>
                  </a:solidFill>
                </a:uFill>
                <a:latin typeface="Calibri"/>
              </a:rPr>
              <a:t>Click to edit the outline text format</a:t>
            </a:r>
          </a:p>
          <a:p>
            <a:pPr marL="864000" lvl="1" indent="-324000">
              <a:buClr>
                <a:srgbClr val="000000"/>
              </a:buClr>
              <a:buSzPct val="75000"/>
              <a:buFont typeface="Symbol" charset="2"/>
              <a:buChar char=""/>
            </a:pPr>
            <a:r>
              <a:rPr lang="id-ID" sz="2000" strike="noStrike" spc="-1">
                <a:solidFill>
                  <a:srgbClr val="000000"/>
                </a:solidFill>
                <a:uFill>
                  <a:solidFill>
                    <a:srgbClr val="FFFFFF"/>
                  </a:solidFill>
                </a:uFill>
                <a:latin typeface="Calibri"/>
              </a:rPr>
              <a:t>Second Outline Level</a:t>
            </a:r>
          </a:p>
          <a:p>
            <a:pPr marL="1296000" lvl="2" indent="-288000">
              <a:buClr>
                <a:srgbClr val="000000"/>
              </a:buClr>
              <a:buSzPct val="45000"/>
              <a:buFont typeface="Wingdings" charset="2"/>
              <a:buChar char=""/>
            </a:pPr>
            <a:r>
              <a:rPr lang="id-ID" sz="1800" strike="noStrike" spc="-1">
                <a:solidFill>
                  <a:srgbClr val="000000"/>
                </a:solidFill>
                <a:uFill>
                  <a:solidFill>
                    <a:srgbClr val="FFFFFF"/>
                  </a:solidFill>
                </a:uFill>
                <a:latin typeface="Calibri"/>
              </a:rPr>
              <a:t>Third Outline Level</a:t>
            </a:r>
          </a:p>
          <a:p>
            <a:pPr marL="1728000" lvl="3" indent="-216000">
              <a:buClr>
                <a:srgbClr val="000000"/>
              </a:buClr>
              <a:buSzPct val="75000"/>
              <a:buFont typeface="Symbol" charset="2"/>
              <a:buChar char=""/>
            </a:pPr>
            <a:r>
              <a:rPr lang="id-ID" sz="1600" strike="noStrike" spc="-1">
                <a:solidFill>
                  <a:srgbClr val="000000"/>
                </a:solidFill>
                <a:uFill>
                  <a:solidFill>
                    <a:srgbClr val="FFFFFF"/>
                  </a:solidFill>
                </a:uFill>
                <a:latin typeface="Calibri"/>
              </a:rPr>
              <a:t>Fourth Outline Level</a:t>
            </a:r>
          </a:p>
          <a:p>
            <a:pPr marL="2160000" lvl="4" indent="-216000">
              <a:buClr>
                <a:srgbClr val="000000"/>
              </a:buClr>
              <a:buSzPct val="45000"/>
              <a:buFont typeface="Wingdings" charset="2"/>
              <a:buChar char=""/>
            </a:pPr>
            <a:r>
              <a:rPr lang="id-ID" sz="2000" strike="noStrike" spc="-1">
                <a:solidFill>
                  <a:srgbClr val="000000"/>
                </a:solidFill>
                <a:uFill>
                  <a:solidFill>
                    <a:srgbClr val="FFFFFF"/>
                  </a:solidFill>
                </a:uFill>
                <a:latin typeface="Calibri"/>
              </a:rPr>
              <a:t>Fifth Outline Level</a:t>
            </a:r>
          </a:p>
          <a:p>
            <a:pPr marL="2592000" lvl="5" indent="-216000">
              <a:buClr>
                <a:srgbClr val="000000"/>
              </a:buClr>
              <a:buSzPct val="45000"/>
              <a:buFont typeface="Wingdings" charset="2"/>
              <a:buChar char=""/>
            </a:pPr>
            <a:r>
              <a:rPr lang="id-ID" sz="2000" strike="noStrike" spc="-1">
                <a:solidFill>
                  <a:srgbClr val="000000"/>
                </a:solidFill>
                <a:uFill>
                  <a:solidFill>
                    <a:srgbClr val="FFFFFF"/>
                  </a:solidFill>
                </a:uFill>
                <a:latin typeface="Calibri"/>
              </a:rPr>
              <a:t>Sixth Outline Level</a:t>
            </a:r>
          </a:p>
          <a:p>
            <a:pPr marL="3024000" lvl="6" indent="-216000">
              <a:buClr>
                <a:srgbClr val="000000"/>
              </a:buClr>
              <a:buSzPct val="45000"/>
              <a:buFont typeface="Wingdings" charset="2"/>
              <a:buChar char=""/>
            </a:pPr>
            <a:r>
              <a:rPr lang="id-ID" sz="2000" strike="noStrike" spc="-1">
                <a:solidFill>
                  <a:srgbClr val="000000"/>
                </a:solidFill>
                <a:uFill>
                  <a:solidFill>
                    <a:srgbClr val="FFFFFF"/>
                  </a:solidFill>
                </a:u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119" name="CustomShape 1"/>
          <p:cNvSpPr/>
          <p:nvPr/>
        </p:nvSpPr>
        <p:spPr>
          <a:xfrm>
            <a:off x="8459640" y="6381720"/>
            <a:ext cx="593280" cy="379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r">
              <a:lnSpc>
                <a:spcPct val="100000"/>
              </a:lnSpc>
            </a:pPr>
            <a:fld id="{097ACBC3-E107-420F-A7EB-CB13F6461330}" type="slidenum">
              <a:rPr lang="en-US" sz="1200" strike="noStrike" spc="-1">
                <a:solidFill>
                  <a:srgbClr val="000000"/>
                </a:solidFill>
                <a:uFill>
                  <a:solidFill>
                    <a:srgbClr val="FFFFFF"/>
                  </a:solidFill>
                </a:uFill>
                <a:latin typeface="Arial"/>
                <a:ea typeface="MS PGothic"/>
              </a:rPr>
              <a:t>‹#›</a:t>
            </a:fld>
            <a:endParaRPr lang="en-US" sz="1800" strike="noStrike" spc="-1">
              <a:solidFill>
                <a:srgbClr val="000000"/>
              </a:solidFill>
              <a:uFill>
                <a:solidFill>
                  <a:srgbClr val="FFFFFF"/>
                </a:solidFill>
              </a:uFill>
              <a:latin typeface="Arial"/>
            </a:endParaRPr>
          </a:p>
        </p:txBody>
      </p:sp>
      <p:sp>
        <p:nvSpPr>
          <p:cNvPr id="120" name="PlaceHolder 2"/>
          <p:cNvSpPr>
            <a:spLocks noGrp="1"/>
          </p:cNvSpPr>
          <p:nvPr>
            <p:ph type="dt"/>
          </p:nvPr>
        </p:nvSpPr>
        <p:spPr>
          <a:xfrm>
            <a:off x="457200" y="6356520"/>
            <a:ext cx="2133360" cy="364680"/>
          </a:xfrm>
          <a:prstGeom prst="rect">
            <a:avLst/>
          </a:prstGeom>
        </p:spPr>
        <p:txBody>
          <a:bodyPr anchor="ctr"/>
          <a:lstStyle/>
          <a:p>
            <a:pPr>
              <a:lnSpc>
                <a:spcPct val="100000"/>
              </a:lnSpc>
            </a:pPr>
            <a:r>
              <a:rPr lang="en-US" sz="1200" strike="noStrike" spc="-1">
                <a:solidFill>
                  <a:srgbClr val="898989"/>
                </a:solidFill>
                <a:uFill>
                  <a:solidFill>
                    <a:srgbClr val="FFFFFF"/>
                  </a:solidFill>
                </a:uFill>
                <a:latin typeface="Calibri"/>
                <a:ea typeface="MS PGothic"/>
              </a:rPr>
              <a:t>6/9/20</a:t>
            </a:r>
            <a:endParaRPr lang="en-US" sz="1400" strike="noStrike" spc="-1">
              <a:solidFill>
                <a:srgbClr val="000000"/>
              </a:solidFill>
              <a:uFill>
                <a:solidFill>
                  <a:srgbClr val="FFFFFF"/>
                </a:solidFill>
              </a:uFill>
              <a:latin typeface="Times New Roman"/>
            </a:endParaRPr>
          </a:p>
        </p:txBody>
      </p:sp>
      <p:sp>
        <p:nvSpPr>
          <p:cNvPr id="121" name="PlaceHolder 3"/>
          <p:cNvSpPr>
            <a:spLocks noGrp="1"/>
          </p:cNvSpPr>
          <p:nvPr>
            <p:ph type="ftr"/>
          </p:nvPr>
        </p:nvSpPr>
        <p:spPr>
          <a:xfrm>
            <a:off x="3124080" y="6356520"/>
            <a:ext cx="2895120" cy="364680"/>
          </a:xfrm>
          <a:prstGeom prst="rect">
            <a:avLst/>
          </a:prstGeom>
        </p:spPr>
        <p:txBody>
          <a:bodyPr anchor="ctr"/>
          <a:lstStyle/>
          <a:p>
            <a:endParaRPr lang="en-US" sz="2400" strike="noStrike" spc="-1">
              <a:solidFill>
                <a:srgbClr val="000000"/>
              </a:solidFill>
              <a:uFill>
                <a:solidFill>
                  <a:srgbClr val="FFFFFF"/>
                </a:solidFill>
              </a:uFill>
              <a:latin typeface="Times New Roman"/>
            </a:endParaRPr>
          </a:p>
        </p:txBody>
      </p:sp>
      <p:sp>
        <p:nvSpPr>
          <p:cNvPr id="122" name="PlaceHolder 4"/>
          <p:cNvSpPr>
            <a:spLocks noGrp="1"/>
          </p:cNvSpPr>
          <p:nvPr>
            <p:ph type="sldNum"/>
          </p:nvPr>
        </p:nvSpPr>
        <p:spPr>
          <a:xfrm>
            <a:off x="6553080" y="6356520"/>
            <a:ext cx="2133360" cy="364680"/>
          </a:xfrm>
          <a:prstGeom prst="rect">
            <a:avLst/>
          </a:prstGeom>
        </p:spPr>
        <p:txBody>
          <a:bodyPr anchor="ctr"/>
          <a:lstStyle/>
          <a:p>
            <a:pPr algn="r">
              <a:lnSpc>
                <a:spcPct val="100000"/>
              </a:lnSpc>
            </a:pPr>
            <a:fld id="{E2BF25D3-7FF1-46C9-8003-030AD731C927}" type="slidenum">
              <a:rPr lang="en-US" sz="1200" strike="noStrike" spc="-1">
                <a:solidFill>
                  <a:srgbClr val="898989"/>
                </a:solidFill>
                <a:uFill>
                  <a:solidFill>
                    <a:srgbClr val="FFFFFF"/>
                  </a:solidFill>
                </a:uFill>
                <a:latin typeface="Calibri"/>
                <a:ea typeface="MS PGothic"/>
              </a:rPr>
              <a:t>‹#›</a:t>
            </a:fld>
            <a:endParaRPr lang="en-US" sz="1400" strike="noStrike" spc="-1">
              <a:solidFill>
                <a:srgbClr val="000000"/>
              </a:solidFill>
              <a:uFill>
                <a:solidFill>
                  <a:srgbClr val="FFFFFF"/>
                </a:solidFill>
              </a:uFill>
              <a:latin typeface="Times New Roman"/>
            </a:endParaRPr>
          </a:p>
        </p:txBody>
      </p:sp>
      <p:sp>
        <p:nvSpPr>
          <p:cNvPr id="123" name="PlaceHolder 5"/>
          <p:cNvSpPr>
            <a:spLocks noGrp="1"/>
          </p:cNvSpPr>
          <p:nvPr>
            <p:ph type="title"/>
          </p:nvPr>
        </p:nvSpPr>
        <p:spPr>
          <a:xfrm>
            <a:off x="457200" y="273600"/>
            <a:ext cx="8229240" cy="1144800"/>
          </a:xfrm>
          <a:prstGeom prst="rect">
            <a:avLst/>
          </a:prstGeom>
        </p:spPr>
        <p:txBody>
          <a:bodyPr lIns="0" tIns="0" rIns="0" bIns="0" anchor="ctr"/>
          <a:lstStyle/>
          <a:p>
            <a:r>
              <a:rPr lang="id-ID" sz="3200" strike="noStrike" spc="-1">
                <a:solidFill>
                  <a:srgbClr val="000000"/>
                </a:solidFill>
                <a:uFill>
                  <a:solidFill>
                    <a:srgbClr val="FFFFFF"/>
                  </a:solidFill>
                </a:uFill>
                <a:latin typeface="Calibri"/>
              </a:rPr>
              <a:t>Click to edit the title text format</a:t>
            </a:r>
          </a:p>
        </p:txBody>
      </p:sp>
      <p:sp>
        <p:nvSpPr>
          <p:cNvPr id="124" name="PlaceHolder 6"/>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id-ID" sz="2500" strike="noStrike" spc="-1">
                <a:solidFill>
                  <a:srgbClr val="000000"/>
                </a:solidFill>
                <a:uFill>
                  <a:solidFill>
                    <a:srgbClr val="FFFFFF"/>
                  </a:solidFill>
                </a:uFill>
                <a:latin typeface="Calibri"/>
              </a:rPr>
              <a:t>Click to edit the outline text format</a:t>
            </a:r>
          </a:p>
          <a:p>
            <a:pPr marL="864000" lvl="1" indent="-324000">
              <a:buClr>
                <a:srgbClr val="000000"/>
              </a:buClr>
              <a:buSzPct val="75000"/>
              <a:buFont typeface="Symbol" charset="2"/>
              <a:buChar char=""/>
            </a:pPr>
            <a:r>
              <a:rPr lang="id-ID" sz="2300" strike="noStrike" spc="-1">
                <a:solidFill>
                  <a:srgbClr val="000000"/>
                </a:solidFill>
                <a:uFill>
                  <a:solidFill>
                    <a:srgbClr val="FFFFFF"/>
                  </a:solidFill>
                </a:uFill>
                <a:latin typeface="Calibri"/>
              </a:rPr>
              <a:t>Second Outline Level</a:t>
            </a:r>
          </a:p>
          <a:p>
            <a:pPr marL="1296000" lvl="2" indent="-288000">
              <a:buClr>
                <a:srgbClr val="000000"/>
              </a:buClr>
              <a:buSzPct val="45000"/>
              <a:buFont typeface="Wingdings" charset="2"/>
              <a:buChar char=""/>
            </a:pPr>
            <a:r>
              <a:rPr lang="id-ID" sz="2200" strike="noStrike" spc="-1">
                <a:solidFill>
                  <a:srgbClr val="000000"/>
                </a:solidFill>
                <a:uFill>
                  <a:solidFill>
                    <a:srgbClr val="FFFFFF"/>
                  </a:solidFill>
                </a:uFill>
                <a:latin typeface="Calibri"/>
              </a:rPr>
              <a:t>Third Outline Level</a:t>
            </a:r>
          </a:p>
          <a:p>
            <a:pPr marL="1728000" lvl="3" indent="-216000">
              <a:buClr>
                <a:srgbClr val="000000"/>
              </a:buClr>
              <a:buSzPct val="75000"/>
              <a:buFont typeface="Symbol" charset="2"/>
              <a:buChar char=""/>
            </a:pPr>
            <a:r>
              <a:rPr lang="id-ID" sz="2000" strike="noStrike" spc="-1">
                <a:solidFill>
                  <a:srgbClr val="000000"/>
                </a:solidFill>
                <a:uFill>
                  <a:solidFill>
                    <a:srgbClr val="FFFFFF"/>
                  </a:solidFill>
                </a:uFill>
                <a:latin typeface="Calibri"/>
              </a:rPr>
              <a:t>Fourth Outline Level</a:t>
            </a:r>
          </a:p>
          <a:p>
            <a:pPr marL="2160000" lvl="4" indent="-216000">
              <a:buClr>
                <a:srgbClr val="000000"/>
              </a:buClr>
              <a:buSzPct val="45000"/>
              <a:buFont typeface="Wingdings" charset="2"/>
              <a:buChar char=""/>
            </a:pPr>
            <a:r>
              <a:rPr lang="id-ID" sz="2000" strike="noStrike" spc="-1">
                <a:solidFill>
                  <a:srgbClr val="000000"/>
                </a:solidFill>
                <a:uFill>
                  <a:solidFill>
                    <a:srgbClr val="FFFFFF"/>
                  </a:solidFill>
                </a:uFill>
                <a:latin typeface="Calibri"/>
              </a:rPr>
              <a:t>Fifth Outline Level</a:t>
            </a:r>
          </a:p>
          <a:p>
            <a:pPr marL="2592000" lvl="5" indent="-216000">
              <a:buClr>
                <a:srgbClr val="000000"/>
              </a:buClr>
              <a:buSzPct val="45000"/>
              <a:buFont typeface="Wingdings" charset="2"/>
              <a:buChar char=""/>
            </a:pPr>
            <a:r>
              <a:rPr lang="id-ID" sz="2000" strike="noStrike" spc="-1">
                <a:solidFill>
                  <a:srgbClr val="000000"/>
                </a:solidFill>
                <a:uFill>
                  <a:solidFill>
                    <a:srgbClr val="FFFFFF"/>
                  </a:solidFill>
                </a:uFill>
                <a:latin typeface="Calibri"/>
              </a:rPr>
              <a:t>Sixth Outline Level</a:t>
            </a:r>
          </a:p>
          <a:p>
            <a:pPr marL="3024000" lvl="6" indent="-216000">
              <a:buClr>
                <a:srgbClr val="000000"/>
              </a:buClr>
              <a:buSzPct val="45000"/>
              <a:buFont typeface="Wingdings" charset="2"/>
              <a:buChar char=""/>
            </a:pPr>
            <a:r>
              <a:rPr lang="id-ID" sz="2000" strike="noStrike" spc="-1">
                <a:solidFill>
                  <a:srgbClr val="000000"/>
                </a:solidFill>
                <a:uFill>
                  <a:solidFill>
                    <a:srgbClr val="FFFFFF"/>
                  </a:solidFill>
                </a:u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159" name="CustomShape 1" hidden="1"/>
          <p:cNvSpPr/>
          <p:nvPr/>
        </p:nvSpPr>
        <p:spPr>
          <a:xfrm>
            <a:off x="8459640" y="6381720"/>
            <a:ext cx="593280" cy="379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r">
              <a:lnSpc>
                <a:spcPct val="100000"/>
              </a:lnSpc>
            </a:pPr>
            <a:fld id="{49FCAC3F-5040-492C-A5B3-15F7D26953B8}" type="slidenum">
              <a:rPr lang="en-US" sz="1200" strike="noStrike" spc="-1">
                <a:solidFill>
                  <a:srgbClr val="000000"/>
                </a:solidFill>
                <a:uFill>
                  <a:solidFill>
                    <a:srgbClr val="FFFFFF"/>
                  </a:solidFill>
                </a:uFill>
                <a:latin typeface="Arial"/>
                <a:ea typeface="MS PGothic"/>
              </a:rPr>
              <a:t>‹#›</a:t>
            </a:fld>
            <a:endParaRPr lang="en-US" sz="1800" strike="noStrike" spc="-1">
              <a:solidFill>
                <a:srgbClr val="000000"/>
              </a:solidFill>
              <a:uFill>
                <a:solidFill>
                  <a:srgbClr val="FFFFFF"/>
                </a:solidFill>
              </a:uFill>
              <a:latin typeface="Arial"/>
            </a:endParaRPr>
          </a:p>
        </p:txBody>
      </p:sp>
      <p:sp>
        <p:nvSpPr>
          <p:cNvPr id="160" name="PlaceHolder 2"/>
          <p:cNvSpPr>
            <a:spLocks noGrp="1"/>
          </p:cNvSpPr>
          <p:nvPr>
            <p:ph type="title"/>
          </p:nvPr>
        </p:nvSpPr>
        <p:spPr>
          <a:xfrm>
            <a:off x="1075680" y="40320"/>
            <a:ext cx="8073720" cy="577800"/>
          </a:xfrm>
          <a:prstGeom prst="rect">
            <a:avLst/>
          </a:prstGeom>
        </p:spPr>
        <p:txBody>
          <a:bodyPr anchor="ctr"/>
          <a:lstStyle/>
          <a:p>
            <a:pPr>
              <a:lnSpc>
                <a:spcPct val="100000"/>
              </a:lnSpc>
            </a:pPr>
            <a:r>
              <a:rPr lang="id-ID" sz="3200" b="1" strike="noStrike" spc="-1">
                <a:solidFill>
                  <a:srgbClr val="000000"/>
                </a:solidFill>
                <a:uFill>
                  <a:solidFill>
                    <a:srgbClr val="FFFFFF"/>
                  </a:solidFill>
                </a:uFill>
                <a:latin typeface="Calibri"/>
                <a:ea typeface="MS PGothic"/>
              </a:rPr>
              <a:t>Click to edit Master title style</a:t>
            </a:r>
            <a:endParaRPr lang="id-ID" sz="3200" strike="noStrike" spc="-1">
              <a:solidFill>
                <a:srgbClr val="000000"/>
              </a:solidFill>
              <a:uFill>
                <a:solidFill>
                  <a:srgbClr val="FFFFFF"/>
                </a:solidFill>
              </a:uFill>
              <a:latin typeface="Calibri"/>
            </a:endParaRPr>
          </a:p>
        </p:txBody>
      </p:sp>
      <p:sp>
        <p:nvSpPr>
          <p:cNvPr id="161" name="PlaceHolder 3"/>
          <p:cNvSpPr>
            <a:spLocks noGrp="1"/>
          </p:cNvSpPr>
          <p:nvPr>
            <p:ph type="body"/>
          </p:nvPr>
        </p:nvSpPr>
        <p:spPr>
          <a:xfrm>
            <a:off x="887400" y="739440"/>
            <a:ext cx="7799040" cy="5386320"/>
          </a:xfrm>
          <a:prstGeom prst="rect">
            <a:avLst/>
          </a:prstGeom>
        </p:spPr>
        <p:txBody>
          <a:bodyPr/>
          <a:lstStyle/>
          <a:p>
            <a:pPr marL="432000" indent="-324000">
              <a:buClr>
                <a:srgbClr val="000000"/>
              </a:buClr>
              <a:buSzPct val="45000"/>
              <a:buFont typeface="Wingdings" charset="2"/>
              <a:buChar char=""/>
            </a:pPr>
            <a:r>
              <a:rPr lang="id-ID" sz="2500" strike="noStrike" spc="-1">
                <a:solidFill>
                  <a:srgbClr val="000000"/>
                </a:solidFill>
                <a:uFill>
                  <a:solidFill>
                    <a:srgbClr val="FFFFFF"/>
                  </a:solidFill>
                </a:uFill>
                <a:latin typeface="Calibri"/>
                <a:ea typeface="MS PGothic"/>
              </a:rPr>
              <a:t>Click to edit the outline text format</a:t>
            </a:r>
            <a:endParaRPr lang="id-ID" sz="2500" strike="noStrike" spc="-1">
              <a:solidFill>
                <a:srgbClr val="000000"/>
              </a:solidFill>
              <a:uFill>
                <a:solidFill>
                  <a:srgbClr val="FFFFFF"/>
                </a:solidFill>
              </a:uFill>
              <a:latin typeface="Calibri"/>
            </a:endParaRPr>
          </a:p>
          <a:p>
            <a:pPr marL="864000" lvl="1" indent="-324000">
              <a:buClr>
                <a:srgbClr val="000000"/>
              </a:buClr>
              <a:buSzPct val="75000"/>
              <a:buFont typeface="Symbol" charset="2"/>
              <a:buChar char=""/>
            </a:pPr>
            <a:r>
              <a:rPr lang="id-ID" sz="2500" strike="noStrike" spc="-1">
                <a:solidFill>
                  <a:srgbClr val="000000"/>
                </a:solidFill>
                <a:uFill>
                  <a:solidFill>
                    <a:srgbClr val="FFFFFF"/>
                  </a:solidFill>
                </a:uFill>
                <a:latin typeface="Calibri"/>
                <a:ea typeface="MS PGothic"/>
              </a:rPr>
              <a:t>Second Outline Level</a:t>
            </a:r>
            <a:endParaRPr lang="id-ID" sz="2500" strike="noStrike" spc="-1">
              <a:solidFill>
                <a:srgbClr val="000000"/>
              </a:solidFill>
              <a:uFill>
                <a:solidFill>
                  <a:srgbClr val="FFFFFF"/>
                </a:solidFill>
              </a:uFill>
              <a:latin typeface="Calibri"/>
            </a:endParaRPr>
          </a:p>
          <a:p>
            <a:pPr marL="1296000" lvl="2" indent="-288000">
              <a:buClr>
                <a:srgbClr val="000000"/>
              </a:buClr>
              <a:buSzPct val="45000"/>
              <a:buFont typeface="Wingdings" charset="2"/>
              <a:buChar char=""/>
            </a:pPr>
            <a:r>
              <a:rPr lang="id-ID" sz="2500" strike="noStrike" spc="-1">
                <a:solidFill>
                  <a:srgbClr val="000000"/>
                </a:solidFill>
                <a:uFill>
                  <a:solidFill>
                    <a:srgbClr val="FFFFFF"/>
                  </a:solidFill>
                </a:uFill>
                <a:latin typeface="Calibri"/>
                <a:ea typeface="MS PGothic"/>
              </a:rPr>
              <a:t>Third Outline Level</a:t>
            </a:r>
            <a:endParaRPr lang="id-ID" sz="2500" strike="noStrike" spc="-1">
              <a:solidFill>
                <a:srgbClr val="000000"/>
              </a:solidFill>
              <a:uFill>
                <a:solidFill>
                  <a:srgbClr val="FFFFFF"/>
                </a:solidFill>
              </a:uFill>
              <a:latin typeface="Calibri"/>
            </a:endParaRPr>
          </a:p>
          <a:p>
            <a:pPr marL="1728000" lvl="3" indent="-216000">
              <a:buClr>
                <a:srgbClr val="000000"/>
              </a:buClr>
              <a:buSzPct val="75000"/>
              <a:buFont typeface="Symbol" charset="2"/>
              <a:buChar char=""/>
            </a:pPr>
            <a:r>
              <a:rPr lang="id-ID" sz="2500" strike="noStrike" spc="-1">
                <a:solidFill>
                  <a:srgbClr val="000000"/>
                </a:solidFill>
                <a:uFill>
                  <a:solidFill>
                    <a:srgbClr val="FFFFFF"/>
                  </a:solidFill>
                </a:uFill>
                <a:latin typeface="Calibri"/>
                <a:ea typeface="MS PGothic"/>
              </a:rPr>
              <a:t>Fourth Outline Level</a:t>
            </a:r>
            <a:endParaRPr lang="id-ID" sz="2500" strike="noStrike" spc="-1">
              <a:solidFill>
                <a:srgbClr val="000000"/>
              </a:solidFill>
              <a:uFill>
                <a:solidFill>
                  <a:srgbClr val="FFFFFF"/>
                </a:solidFill>
              </a:uFill>
              <a:latin typeface="Calibri"/>
            </a:endParaRPr>
          </a:p>
          <a:p>
            <a:pPr marL="2160000" lvl="4" indent="-216000">
              <a:buClr>
                <a:srgbClr val="000000"/>
              </a:buClr>
              <a:buSzPct val="45000"/>
              <a:buFont typeface="Wingdings" charset="2"/>
              <a:buChar char=""/>
            </a:pPr>
            <a:r>
              <a:rPr lang="id-ID" sz="2500" strike="noStrike" spc="-1">
                <a:solidFill>
                  <a:srgbClr val="000000"/>
                </a:solidFill>
                <a:uFill>
                  <a:solidFill>
                    <a:srgbClr val="FFFFFF"/>
                  </a:solidFill>
                </a:uFill>
                <a:latin typeface="Calibri"/>
                <a:ea typeface="MS PGothic"/>
              </a:rPr>
              <a:t>Fifth Outline Level</a:t>
            </a:r>
            <a:endParaRPr lang="id-ID" sz="2500" strike="noStrike" spc="-1">
              <a:solidFill>
                <a:srgbClr val="000000"/>
              </a:solidFill>
              <a:uFill>
                <a:solidFill>
                  <a:srgbClr val="FFFFFF"/>
                </a:solidFill>
              </a:uFill>
              <a:latin typeface="Calibri"/>
            </a:endParaRPr>
          </a:p>
          <a:p>
            <a:pPr marL="2592000" lvl="5" indent="-216000">
              <a:buClr>
                <a:srgbClr val="000000"/>
              </a:buClr>
              <a:buSzPct val="45000"/>
              <a:buFont typeface="Wingdings" charset="2"/>
              <a:buChar char=""/>
            </a:pPr>
            <a:r>
              <a:rPr lang="id-ID" sz="2500" strike="noStrike" spc="-1">
                <a:solidFill>
                  <a:srgbClr val="000000"/>
                </a:solidFill>
                <a:uFill>
                  <a:solidFill>
                    <a:srgbClr val="FFFFFF"/>
                  </a:solidFill>
                </a:uFill>
                <a:latin typeface="Calibri"/>
                <a:ea typeface="MS PGothic"/>
              </a:rPr>
              <a:t>Sixth Outline Level</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500" strike="noStrike" spc="-1">
                <a:solidFill>
                  <a:srgbClr val="000000"/>
                </a:solidFill>
                <a:uFill>
                  <a:solidFill>
                    <a:srgbClr val="FFFFFF"/>
                  </a:solidFill>
                </a:uFill>
                <a:latin typeface="Calibri"/>
                <a:ea typeface="MS PGothic"/>
              </a:rPr>
              <a:t>Seventh Outline LevelClick to edit Master text styles</a:t>
            </a:r>
            <a:endParaRPr lang="id-ID" sz="2500" strike="noStrike" spc="-1">
              <a:solidFill>
                <a:srgbClr val="000000"/>
              </a:solidFill>
              <a:uFill>
                <a:solidFill>
                  <a:srgbClr val="FFFFFF"/>
                </a:solidFill>
              </a:uFill>
              <a:latin typeface="Calibri"/>
            </a:endParaRPr>
          </a:p>
          <a:p>
            <a:pPr marL="743040" lvl="1" indent="-285480">
              <a:lnSpc>
                <a:spcPct val="100000"/>
              </a:lnSpc>
              <a:buClr>
                <a:srgbClr val="000000"/>
              </a:buClr>
              <a:buFont typeface="Wingdings" charset="2"/>
              <a:buChar char=""/>
            </a:pPr>
            <a:r>
              <a:rPr lang="id-ID" sz="2400" strike="noStrike" spc="-1">
                <a:solidFill>
                  <a:srgbClr val="000000"/>
                </a:solidFill>
                <a:uFill>
                  <a:solidFill>
                    <a:srgbClr val="FFFFFF"/>
                  </a:solidFill>
                </a:uFill>
                <a:latin typeface="Calibri"/>
                <a:ea typeface="MS PGothic"/>
              </a:rPr>
              <a:t>Second level</a:t>
            </a:r>
            <a:endParaRPr lang="id-ID" sz="2500" strike="noStrike" spc="-1">
              <a:solidFill>
                <a:srgbClr val="000000"/>
              </a:solidFill>
              <a:uFill>
                <a:solidFill>
                  <a:srgbClr val="FFFFFF"/>
                </a:solidFill>
              </a:uFill>
              <a:latin typeface="Calibri"/>
            </a:endParaRPr>
          </a:p>
          <a:p>
            <a:pPr marL="1143000" lvl="2" indent="-228240">
              <a:lnSpc>
                <a:spcPct val="100000"/>
              </a:lnSpc>
              <a:buClr>
                <a:srgbClr val="000000"/>
              </a:buClr>
              <a:buFont typeface="Wingdings" charset="2"/>
              <a:buChar char=""/>
            </a:pPr>
            <a:r>
              <a:rPr lang="id-ID" sz="2300" strike="noStrike" spc="-1">
                <a:solidFill>
                  <a:srgbClr val="000000"/>
                </a:solidFill>
                <a:uFill>
                  <a:solidFill>
                    <a:srgbClr val="FFFFFF"/>
                  </a:solidFill>
                </a:uFill>
                <a:latin typeface="Calibri"/>
                <a:ea typeface="MS PGothic"/>
              </a:rPr>
              <a:t>Third level</a:t>
            </a:r>
            <a:endParaRPr lang="id-ID" sz="2500" strike="noStrike" spc="-1">
              <a:solidFill>
                <a:srgbClr val="000000"/>
              </a:solidFill>
              <a:uFill>
                <a:solidFill>
                  <a:srgbClr val="FFFFFF"/>
                </a:solidFill>
              </a:uFill>
              <a:latin typeface="Calibri"/>
            </a:endParaRPr>
          </a:p>
          <a:p>
            <a:pPr marL="1600200" lvl="3" indent="-228240">
              <a:lnSpc>
                <a:spcPct val="100000"/>
              </a:lnSpc>
              <a:buClr>
                <a:srgbClr val="000000"/>
              </a:buClr>
              <a:buFont typeface="Arial"/>
              <a:buChar char="–"/>
            </a:pPr>
            <a:r>
              <a:rPr lang="id-ID" sz="2200" strike="noStrike" spc="-1">
                <a:solidFill>
                  <a:srgbClr val="000000"/>
                </a:solidFill>
                <a:uFill>
                  <a:solidFill>
                    <a:srgbClr val="FFFFFF"/>
                  </a:solidFill>
                </a:uFill>
                <a:latin typeface="Calibri"/>
                <a:ea typeface="MS PGothic"/>
              </a:rPr>
              <a:t>Fourth level</a:t>
            </a:r>
            <a:endParaRPr lang="id-ID" sz="2500" strike="noStrike" spc="-1">
              <a:solidFill>
                <a:srgbClr val="000000"/>
              </a:solidFill>
              <a:uFill>
                <a:solidFill>
                  <a:srgbClr val="FFFFFF"/>
                </a:solidFill>
              </a:uFill>
              <a:latin typeface="Calibri"/>
            </a:endParaRPr>
          </a:p>
          <a:p>
            <a:pPr marL="2057400" lvl="4" indent="-228240">
              <a:lnSpc>
                <a:spcPct val="100000"/>
              </a:lnSpc>
              <a:buClr>
                <a:srgbClr val="000000"/>
              </a:buClr>
              <a:buFont typeface="Arial"/>
              <a:buChar char="»"/>
            </a:pPr>
            <a:r>
              <a:rPr lang="id-ID" sz="2000" strike="noStrike" spc="-1">
                <a:solidFill>
                  <a:srgbClr val="000000"/>
                </a:solidFill>
                <a:uFill>
                  <a:solidFill>
                    <a:srgbClr val="FFFFFF"/>
                  </a:solidFill>
                </a:uFill>
                <a:latin typeface="Calibri"/>
                <a:ea typeface="MS PGothic"/>
              </a:rPr>
              <a:t>Fifth level</a:t>
            </a:r>
            <a:endParaRPr lang="id-ID" sz="2500" strike="noStrike" spc="-1">
              <a:solidFill>
                <a:srgbClr val="000000"/>
              </a:solidFill>
              <a:uFill>
                <a:solidFill>
                  <a:srgbClr val="FFFFFF"/>
                </a:solidFill>
              </a:uFill>
              <a:latin typeface="Calibri"/>
            </a:endParaRPr>
          </a:p>
        </p:txBody>
      </p:sp>
      <p:sp>
        <p:nvSpPr>
          <p:cNvPr id="162" name="PlaceHolder 4"/>
          <p:cNvSpPr>
            <a:spLocks noGrp="1"/>
          </p:cNvSpPr>
          <p:nvPr>
            <p:ph type="dt"/>
          </p:nvPr>
        </p:nvSpPr>
        <p:spPr>
          <a:xfrm>
            <a:off x="457200" y="6356520"/>
            <a:ext cx="2133360" cy="364680"/>
          </a:xfrm>
          <a:prstGeom prst="rect">
            <a:avLst/>
          </a:prstGeom>
        </p:spPr>
        <p:txBody>
          <a:bodyPr anchor="ctr"/>
          <a:lstStyle/>
          <a:p>
            <a:pPr>
              <a:lnSpc>
                <a:spcPct val="100000"/>
              </a:lnSpc>
            </a:pPr>
            <a:r>
              <a:rPr lang="en-US" sz="1200" strike="noStrike" spc="-1">
                <a:solidFill>
                  <a:srgbClr val="898989"/>
                </a:solidFill>
                <a:uFill>
                  <a:solidFill>
                    <a:srgbClr val="FFFFFF"/>
                  </a:solidFill>
                </a:uFill>
                <a:latin typeface="Calibri"/>
                <a:ea typeface="MS PGothic"/>
              </a:rPr>
              <a:t>6/9/20</a:t>
            </a:r>
            <a:endParaRPr lang="en-US" sz="1400" strike="noStrike" spc="-1">
              <a:solidFill>
                <a:srgbClr val="000000"/>
              </a:solidFill>
              <a:uFill>
                <a:solidFill>
                  <a:srgbClr val="FFFFFF"/>
                </a:solidFill>
              </a:uFill>
              <a:latin typeface="Times New Roman"/>
            </a:endParaRPr>
          </a:p>
        </p:txBody>
      </p:sp>
      <p:sp>
        <p:nvSpPr>
          <p:cNvPr id="163" name="PlaceHolder 5"/>
          <p:cNvSpPr>
            <a:spLocks noGrp="1"/>
          </p:cNvSpPr>
          <p:nvPr>
            <p:ph type="ftr"/>
          </p:nvPr>
        </p:nvSpPr>
        <p:spPr>
          <a:xfrm>
            <a:off x="3124080" y="6356520"/>
            <a:ext cx="2895120" cy="364680"/>
          </a:xfrm>
          <a:prstGeom prst="rect">
            <a:avLst/>
          </a:prstGeom>
        </p:spPr>
        <p:txBody>
          <a:bodyPr anchor="ctr"/>
          <a:lstStyle/>
          <a:p>
            <a:endParaRPr lang="en-US" sz="2400" strike="noStrike" spc="-1">
              <a:solidFill>
                <a:srgbClr val="000000"/>
              </a:solidFill>
              <a:uFill>
                <a:solidFill>
                  <a:srgbClr val="FFFFFF"/>
                </a:solidFill>
              </a:uFill>
              <a:latin typeface="Times New Roman"/>
            </a:endParaRPr>
          </a:p>
        </p:txBody>
      </p:sp>
      <p:sp>
        <p:nvSpPr>
          <p:cNvPr id="164" name="PlaceHolder 6"/>
          <p:cNvSpPr>
            <a:spLocks noGrp="1"/>
          </p:cNvSpPr>
          <p:nvPr>
            <p:ph type="sldNum"/>
          </p:nvPr>
        </p:nvSpPr>
        <p:spPr>
          <a:xfrm>
            <a:off x="6553080" y="6356520"/>
            <a:ext cx="2133360" cy="364680"/>
          </a:xfrm>
          <a:prstGeom prst="rect">
            <a:avLst/>
          </a:prstGeom>
        </p:spPr>
        <p:txBody>
          <a:bodyPr anchor="ctr"/>
          <a:lstStyle/>
          <a:p>
            <a:pPr algn="r">
              <a:lnSpc>
                <a:spcPct val="100000"/>
              </a:lnSpc>
            </a:pPr>
            <a:fld id="{66FCF668-4107-4BCB-B2A5-EDA11147C876}" type="slidenum">
              <a:rPr lang="en-US" sz="1200" strike="noStrike" spc="-1">
                <a:solidFill>
                  <a:srgbClr val="898989"/>
                </a:solidFill>
                <a:uFill>
                  <a:solidFill>
                    <a:srgbClr val="FFFFFF"/>
                  </a:solidFill>
                </a:uFill>
                <a:latin typeface="Calibri"/>
                <a:ea typeface="MS PGothic"/>
              </a:rPr>
              <a:t>‹#›</a:t>
            </a:fld>
            <a:endParaRPr lang="en-US" sz="1400" strike="noStrike" spc="-1">
              <a:solidFill>
                <a:srgbClr val="000000"/>
              </a:solidFill>
              <a:uFill>
                <a:solidFill>
                  <a:srgbClr val="FFFFFF"/>
                </a:solidFill>
              </a:uFill>
              <a:latin typeface="Times New Roman"/>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199" name="CustomShape 1" hidden="1"/>
          <p:cNvSpPr/>
          <p:nvPr/>
        </p:nvSpPr>
        <p:spPr>
          <a:xfrm>
            <a:off x="8459640" y="6381720"/>
            <a:ext cx="593280" cy="379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r">
              <a:lnSpc>
                <a:spcPct val="100000"/>
              </a:lnSpc>
            </a:pPr>
            <a:fld id="{A86D0109-D39D-45D3-860D-993BD751477F}" type="slidenum">
              <a:rPr lang="en-US" sz="1200" strike="noStrike" spc="-1">
                <a:solidFill>
                  <a:srgbClr val="000000"/>
                </a:solidFill>
                <a:uFill>
                  <a:solidFill>
                    <a:srgbClr val="FFFFFF"/>
                  </a:solidFill>
                </a:uFill>
                <a:latin typeface="Arial"/>
                <a:ea typeface="MS PGothic"/>
              </a:rPr>
              <a:t>‹#›</a:t>
            </a:fld>
            <a:endParaRPr lang="en-US" sz="1800" strike="noStrike" spc="-1">
              <a:solidFill>
                <a:srgbClr val="000000"/>
              </a:solidFill>
              <a:uFill>
                <a:solidFill>
                  <a:srgbClr val="FFFFFF"/>
                </a:solidFill>
              </a:uFill>
              <a:latin typeface="Arial"/>
            </a:endParaRPr>
          </a:p>
        </p:txBody>
      </p:sp>
      <p:sp>
        <p:nvSpPr>
          <p:cNvPr id="200" name="PlaceHolder 2"/>
          <p:cNvSpPr>
            <a:spLocks noGrp="1"/>
          </p:cNvSpPr>
          <p:nvPr>
            <p:ph type="body"/>
          </p:nvPr>
        </p:nvSpPr>
        <p:spPr>
          <a:xfrm>
            <a:off x="887400" y="1102680"/>
            <a:ext cx="7799040" cy="5023080"/>
          </a:xfrm>
          <a:prstGeom prst="rect">
            <a:avLst/>
          </a:prstGeom>
        </p:spPr>
        <p:txBody>
          <a:bodyPr/>
          <a:lstStyle/>
          <a:p>
            <a:pPr marL="432000" indent="-324000">
              <a:buClr>
                <a:srgbClr val="000000"/>
              </a:buClr>
              <a:buSzPct val="45000"/>
              <a:buFont typeface="Wingdings" charset="2"/>
              <a:buChar char=""/>
            </a:pPr>
            <a:r>
              <a:rPr lang="id-ID" sz="2500" strike="noStrike" spc="-1">
                <a:solidFill>
                  <a:srgbClr val="000000"/>
                </a:solidFill>
                <a:uFill>
                  <a:solidFill>
                    <a:srgbClr val="FFFFFF"/>
                  </a:solidFill>
                </a:uFill>
                <a:latin typeface="Calibri"/>
                <a:ea typeface="MS PGothic"/>
              </a:rPr>
              <a:t>Click to edit the outline text format</a:t>
            </a:r>
            <a:endParaRPr lang="id-ID" sz="2500" strike="noStrike" spc="-1">
              <a:solidFill>
                <a:srgbClr val="000000"/>
              </a:solidFill>
              <a:uFill>
                <a:solidFill>
                  <a:srgbClr val="FFFFFF"/>
                </a:solidFill>
              </a:uFill>
              <a:latin typeface="Calibri"/>
            </a:endParaRPr>
          </a:p>
          <a:p>
            <a:pPr marL="864000" lvl="1" indent="-324000">
              <a:buClr>
                <a:srgbClr val="000000"/>
              </a:buClr>
              <a:buSzPct val="75000"/>
              <a:buFont typeface="Symbol" charset="2"/>
              <a:buChar char=""/>
            </a:pPr>
            <a:r>
              <a:rPr lang="id-ID" sz="2500" strike="noStrike" spc="-1">
                <a:solidFill>
                  <a:srgbClr val="000000"/>
                </a:solidFill>
                <a:uFill>
                  <a:solidFill>
                    <a:srgbClr val="FFFFFF"/>
                  </a:solidFill>
                </a:uFill>
                <a:latin typeface="Calibri"/>
                <a:ea typeface="MS PGothic"/>
              </a:rPr>
              <a:t>Second Outline Level</a:t>
            </a:r>
            <a:endParaRPr lang="id-ID" sz="2500" strike="noStrike" spc="-1">
              <a:solidFill>
                <a:srgbClr val="000000"/>
              </a:solidFill>
              <a:uFill>
                <a:solidFill>
                  <a:srgbClr val="FFFFFF"/>
                </a:solidFill>
              </a:uFill>
              <a:latin typeface="Calibri"/>
            </a:endParaRPr>
          </a:p>
          <a:p>
            <a:pPr marL="1296000" lvl="2" indent="-288000">
              <a:buClr>
                <a:srgbClr val="000000"/>
              </a:buClr>
              <a:buSzPct val="45000"/>
              <a:buFont typeface="Wingdings" charset="2"/>
              <a:buChar char=""/>
            </a:pPr>
            <a:r>
              <a:rPr lang="id-ID" sz="2500" strike="noStrike" spc="-1">
                <a:solidFill>
                  <a:srgbClr val="000000"/>
                </a:solidFill>
                <a:uFill>
                  <a:solidFill>
                    <a:srgbClr val="FFFFFF"/>
                  </a:solidFill>
                </a:uFill>
                <a:latin typeface="Calibri"/>
                <a:ea typeface="MS PGothic"/>
              </a:rPr>
              <a:t>Third Outline Level</a:t>
            </a:r>
            <a:endParaRPr lang="id-ID" sz="2500" strike="noStrike" spc="-1">
              <a:solidFill>
                <a:srgbClr val="000000"/>
              </a:solidFill>
              <a:uFill>
                <a:solidFill>
                  <a:srgbClr val="FFFFFF"/>
                </a:solidFill>
              </a:uFill>
              <a:latin typeface="Calibri"/>
            </a:endParaRPr>
          </a:p>
          <a:p>
            <a:pPr marL="1728000" lvl="3" indent="-216000">
              <a:buClr>
                <a:srgbClr val="000000"/>
              </a:buClr>
              <a:buSzPct val="75000"/>
              <a:buFont typeface="Symbol" charset="2"/>
              <a:buChar char=""/>
            </a:pPr>
            <a:r>
              <a:rPr lang="id-ID" sz="2500" strike="noStrike" spc="-1">
                <a:solidFill>
                  <a:srgbClr val="000000"/>
                </a:solidFill>
                <a:uFill>
                  <a:solidFill>
                    <a:srgbClr val="FFFFFF"/>
                  </a:solidFill>
                </a:uFill>
                <a:latin typeface="Calibri"/>
                <a:ea typeface="MS PGothic"/>
              </a:rPr>
              <a:t>Fourth Outline Level</a:t>
            </a:r>
            <a:endParaRPr lang="id-ID" sz="2500" strike="noStrike" spc="-1">
              <a:solidFill>
                <a:srgbClr val="000000"/>
              </a:solidFill>
              <a:uFill>
                <a:solidFill>
                  <a:srgbClr val="FFFFFF"/>
                </a:solidFill>
              </a:uFill>
              <a:latin typeface="Calibri"/>
            </a:endParaRPr>
          </a:p>
          <a:p>
            <a:pPr marL="2160000" lvl="4" indent="-216000">
              <a:buClr>
                <a:srgbClr val="000000"/>
              </a:buClr>
              <a:buSzPct val="45000"/>
              <a:buFont typeface="Wingdings" charset="2"/>
              <a:buChar char=""/>
            </a:pPr>
            <a:r>
              <a:rPr lang="id-ID" sz="2500" strike="noStrike" spc="-1">
                <a:solidFill>
                  <a:srgbClr val="000000"/>
                </a:solidFill>
                <a:uFill>
                  <a:solidFill>
                    <a:srgbClr val="FFFFFF"/>
                  </a:solidFill>
                </a:uFill>
                <a:latin typeface="Calibri"/>
                <a:ea typeface="MS PGothic"/>
              </a:rPr>
              <a:t>Fifth Outline Level</a:t>
            </a:r>
            <a:endParaRPr lang="id-ID" sz="2500" strike="noStrike" spc="-1">
              <a:solidFill>
                <a:srgbClr val="000000"/>
              </a:solidFill>
              <a:uFill>
                <a:solidFill>
                  <a:srgbClr val="FFFFFF"/>
                </a:solidFill>
              </a:uFill>
              <a:latin typeface="Calibri"/>
            </a:endParaRPr>
          </a:p>
          <a:p>
            <a:pPr marL="2592000" lvl="5" indent="-216000">
              <a:buClr>
                <a:srgbClr val="000000"/>
              </a:buClr>
              <a:buSzPct val="45000"/>
              <a:buFont typeface="Wingdings" charset="2"/>
              <a:buChar char=""/>
            </a:pPr>
            <a:r>
              <a:rPr lang="id-ID" sz="2500" strike="noStrike" spc="-1">
                <a:solidFill>
                  <a:srgbClr val="000000"/>
                </a:solidFill>
                <a:uFill>
                  <a:solidFill>
                    <a:srgbClr val="FFFFFF"/>
                  </a:solidFill>
                </a:uFill>
                <a:latin typeface="Calibri"/>
                <a:ea typeface="MS PGothic"/>
              </a:rPr>
              <a:t>Sixth Outline Level</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500" strike="noStrike" spc="-1">
                <a:solidFill>
                  <a:srgbClr val="000000"/>
                </a:solidFill>
                <a:uFill>
                  <a:solidFill>
                    <a:srgbClr val="FFFFFF"/>
                  </a:solidFill>
                </a:uFill>
                <a:latin typeface="Calibri"/>
                <a:ea typeface="MS PGothic"/>
              </a:rPr>
              <a:t>Seventh Outline LevelClick to edit Master text styles</a:t>
            </a:r>
            <a:endParaRPr lang="id-ID" sz="2500" strike="noStrike" spc="-1">
              <a:solidFill>
                <a:srgbClr val="000000"/>
              </a:solidFill>
              <a:uFill>
                <a:solidFill>
                  <a:srgbClr val="FFFFFF"/>
                </a:solidFill>
              </a:uFill>
              <a:latin typeface="Calibri"/>
            </a:endParaRPr>
          </a:p>
          <a:p>
            <a:pPr marL="743040" lvl="1" indent="-285480">
              <a:lnSpc>
                <a:spcPct val="100000"/>
              </a:lnSpc>
              <a:buClr>
                <a:srgbClr val="000000"/>
              </a:buClr>
              <a:buFont typeface="Wingdings" charset="2"/>
              <a:buChar char=""/>
            </a:pPr>
            <a:r>
              <a:rPr lang="id-ID" sz="2400" strike="noStrike" spc="-1">
                <a:solidFill>
                  <a:srgbClr val="000000"/>
                </a:solidFill>
                <a:uFill>
                  <a:solidFill>
                    <a:srgbClr val="FFFFFF"/>
                  </a:solidFill>
                </a:uFill>
                <a:latin typeface="Calibri"/>
                <a:ea typeface="MS PGothic"/>
              </a:rPr>
              <a:t>Second level</a:t>
            </a:r>
            <a:endParaRPr lang="id-ID" sz="2500" strike="noStrike" spc="-1">
              <a:solidFill>
                <a:srgbClr val="000000"/>
              </a:solidFill>
              <a:uFill>
                <a:solidFill>
                  <a:srgbClr val="FFFFFF"/>
                </a:solidFill>
              </a:uFill>
              <a:latin typeface="Calibri"/>
            </a:endParaRPr>
          </a:p>
          <a:p>
            <a:pPr marL="1143000" lvl="2" indent="-228240">
              <a:lnSpc>
                <a:spcPct val="100000"/>
              </a:lnSpc>
              <a:buClr>
                <a:srgbClr val="000000"/>
              </a:buClr>
              <a:buFont typeface="Wingdings" charset="2"/>
              <a:buChar char=""/>
            </a:pPr>
            <a:r>
              <a:rPr lang="id-ID" sz="2300" strike="noStrike" spc="-1">
                <a:solidFill>
                  <a:srgbClr val="000000"/>
                </a:solidFill>
                <a:uFill>
                  <a:solidFill>
                    <a:srgbClr val="FFFFFF"/>
                  </a:solidFill>
                </a:uFill>
                <a:latin typeface="Calibri"/>
                <a:ea typeface="MS PGothic"/>
              </a:rPr>
              <a:t>Third level</a:t>
            </a:r>
            <a:endParaRPr lang="id-ID" sz="2500" strike="noStrike" spc="-1">
              <a:solidFill>
                <a:srgbClr val="000000"/>
              </a:solidFill>
              <a:uFill>
                <a:solidFill>
                  <a:srgbClr val="FFFFFF"/>
                </a:solidFill>
              </a:uFill>
              <a:latin typeface="Calibri"/>
            </a:endParaRPr>
          </a:p>
          <a:p>
            <a:pPr marL="1600200" lvl="3" indent="-228240">
              <a:lnSpc>
                <a:spcPct val="100000"/>
              </a:lnSpc>
              <a:buClr>
                <a:srgbClr val="000000"/>
              </a:buClr>
              <a:buFont typeface="Arial"/>
              <a:buChar char="–"/>
            </a:pPr>
            <a:r>
              <a:rPr lang="id-ID" sz="2200" strike="noStrike" spc="-1">
                <a:solidFill>
                  <a:srgbClr val="000000"/>
                </a:solidFill>
                <a:uFill>
                  <a:solidFill>
                    <a:srgbClr val="FFFFFF"/>
                  </a:solidFill>
                </a:uFill>
                <a:latin typeface="Calibri"/>
                <a:ea typeface="MS PGothic"/>
              </a:rPr>
              <a:t>Fourth level</a:t>
            </a:r>
            <a:endParaRPr lang="id-ID" sz="2500" strike="noStrike" spc="-1">
              <a:solidFill>
                <a:srgbClr val="000000"/>
              </a:solidFill>
              <a:uFill>
                <a:solidFill>
                  <a:srgbClr val="FFFFFF"/>
                </a:solidFill>
              </a:uFill>
              <a:latin typeface="Calibri"/>
            </a:endParaRPr>
          </a:p>
          <a:p>
            <a:pPr marL="2057400" lvl="4" indent="-228240">
              <a:lnSpc>
                <a:spcPct val="100000"/>
              </a:lnSpc>
              <a:buClr>
                <a:srgbClr val="000000"/>
              </a:buClr>
              <a:buFont typeface="Arial"/>
              <a:buChar char="»"/>
            </a:pPr>
            <a:r>
              <a:rPr lang="id-ID" sz="2000" strike="noStrike" spc="-1">
                <a:solidFill>
                  <a:srgbClr val="000000"/>
                </a:solidFill>
                <a:uFill>
                  <a:solidFill>
                    <a:srgbClr val="FFFFFF"/>
                  </a:solidFill>
                </a:uFill>
                <a:latin typeface="Calibri"/>
                <a:ea typeface="MS PGothic"/>
              </a:rPr>
              <a:t>Fifth level</a:t>
            </a:r>
            <a:endParaRPr lang="id-ID" sz="2500" strike="noStrike" spc="-1">
              <a:solidFill>
                <a:srgbClr val="000000"/>
              </a:solidFill>
              <a:uFill>
                <a:solidFill>
                  <a:srgbClr val="FFFFFF"/>
                </a:solidFill>
              </a:uFill>
              <a:latin typeface="Calibri"/>
            </a:endParaRPr>
          </a:p>
        </p:txBody>
      </p:sp>
      <p:sp>
        <p:nvSpPr>
          <p:cNvPr id="201" name="PlaceHolder 3"/>
          <p:cNvSpPr>
            <a:spLocks noGrp="1"/>
          </p:cNvSpPr>
          <p:nvPr>
            <p:ph type="title"/>
          </p:nvPr>
        </p:nvSpPr>
        <p:spPr>
          <a:xfrm>
            <a:off x="1075680" y="40320"/>
            <a:ext cx="8073720" cy="577800"/>
          </a:xfrm>
          <a:prstGeom prst="rect">
            <a:avLst/>
          </a:prstGeom>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Click to edit Master title style</a:t>
            </a:r>
            <a:endParaRPr lang="id-ID" sz="3200" strike="noStrike" spc="-1">
              <a:solidFill>
                <a:srgbClr val="000000"/>
              </a:solidFill>
              <a:uFill>
                <a:solidFill>
                  <a:srgbClr val="FFFFFF"/>
                </a:solidFill>
              </a:uFill>
              <a:latin typeface="Calibri"/>
            </a:endParaRPr>
          </a:p>
        </p:txBody>
      </p:sp>
      <p:sp>
        <p:nvSpPr>
          <p:cNvPr id="202" name="PlaceHolder 4"/>
          <p:cNvSpPr>
            <a:spLocks noGrp="1"/>
          </p:cNvSpPr>
          <p:nvPr>
            <p:ph type="dt"/>
          </p:nvPr>
        </p:nvSpPr>
        <p:spPr>
          <a:xfrm>
            <a:off x="457200" y="6356520"/>
            <a:ext cx="2133360" cy="364680"/>
          </a:xfrm>
          <a:prstGeom prst="rect">
            <a:avLst/>
          </a:prstGeom>
        </p:spPr>
        <p:txBody>
          <a:bodyPr anchor="ctr"/>
          <a:lstStyle/>
          <a:p>
            <a:pPr>
              <a:lnSpc>
                <a:spcPct val="100000"/>
              </a:lnSpc>
            </a:pPr>
            <a:r>
              <a:rPr lang="en-US" sz="1200" strike="noStrike" spc="-1">
                <a:solidFill>
                  <a:srgbClr val="898989"/>
                </a:solidFill>
                <a:uFill>
                  <a:solidFill>
                    <a:srgbClr val="FFFFFF"/>
                  </a:solidFill>
                </a:uFill>
                <a:latin typeface="Calibri"/>
                <a:ea typeface="MS PGothic"/>
              </a:rPr>
              <a:t>6/9/20</a:t>
            </a:r>
            <a:endParaRPr lang="en-US" sz="1400" strike="noStrike" spc="-1">
              <a:solidFill>
                <a:srgbClr val="000000"/>
              </a:solidFill>
              <a:uFill>
                <a:solidFill>
                  <a:srgbClr val="FFFFFF"/>
                </a:solidFill>
              </a:uFill>
              <a:latin typeface="Times New Roman"/>
            </a:endParaRPr>
          </a:p>
        </p:txBody>
      </p:sp>
      <p:sp>
        <p:nvSpPr>
          <p:cNvPr id="203" name="PlaceHolder 5"/>
          <p:cNvSpPr>
            <a:spLocks noGrp="1"/>
          </p:cNvSpPr>
          <p:nvPr>
            <p:ph type="ftr"/>
          </p:nvPr>
        </p:nvSpPr>
        <p:spPr>
          <a:xfrm>
            <a:off x="3124080" y="6356520"/>
            <a:ext cx="2895120" cy="364680"/>
          </a:xfrm>
          <a:prstGeom prst="rect">
            <a:avLst/>
          </a:prstGeom>
        </p:spPr>
        <p:txBody>
          <a:bodyPr anchor="ctr"/>
          <a:lstStyle/>
          <a:p>
            <a:endParaRPr lang="en-US" sz="2400" strike="noStrike" spc="-1">
              <a:solidFill>
                <a:srgbClr val="000000"/>
              </a:solidFill>
              <a:uFill>
                <a:solidFill>
                  <a:srgbClr val="FFFFFF"/>
                </a:solidFill>
              </a:uFill>
              <a:latin typeface="Times New Roman"/>
            </a:endParaRPr>
          </a:p>
        </p:txBody>
      </p:sp>
      <p:sp>
        <p:nvSpPr>
          <p:cNvPr id="204" name="PlaceHolder 6"/>
          <p:cNvSpPr>
            <a:spLocks noGrp="1"/>
          </p:cNvSpPr>
          <p:nvPr>
            <p:ph type="sldNum"/>
          </p:nvPr>
        </p:nvSpPr>
        <p:spPr>
          <a:xfrm>
            <a:off x="6553080" y="6356520"/>
            <a:ext cx="2133360" cy="364680"/>
          </a:xfrm>
          <a:prstGeom prst="rect">
            <a:avLst/>
          </a:prstGeom>
        </p:spPr>
        <p:txBody>
          <a:bodyPr anchor="ctr"/>
          <a:lstStyle/>
          <a:p>
            <a:pPr algn="r">
              <a:lnSpc>
                <a:spcPct val="100000"/>
              </a:lnSpc>
            </a:pPr>
            <a:fld id="{1746D044-48B0-4CD0-BF5D-74865014F4F8}" type="slidenum">
              <a:rPr lang="en-US" sz="1200" strike="noStrike" spc="-1">
                <a:solidFill>
                  <a:srgbClr val="898989"/>
                </a:solidFill>
                <a:uFill>
                  <a:solidFill>
                    <a:srgbClr val="FFFFFF"/>
                  </a:solidFill>
                </a:uFill>
                <a:latin typeface="Calibri"/>
                <a:ea typeface="MS PGothic"/>
              </a:rPr>
              <a:t>‹#›</a:t>
            </a:fld>
            <a:endParaRPr lang="en-US" sz="1400" strike="noStrike" spc="-1">
              <a:solidFill>
                <a:srgbClr val="000000"/>
              </a:solidFill>
              <a:uFill>
                <a:solidFill>
                  <a:srgbClr val="FFFFFF"/>
                </a:solidFill>
              </a:uFill>
              <a:latin typeface="Times New Roman"/>
            </a:endParaRP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7.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6.xml"/><Relationship Id="rId1" Type="http://schemas.openxmlformats.org/officeDocument/2006/relationships/slideLayout" Target="../slideLayouts/slideLayout37.xml"/><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7.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7.xml"/><Relationship Id="rId6" Type="http://schemas.openxmlformats.org/officeDocument/2006/relationships/image" Target="../media/image22.png"/><Relationship Id="rId5" Type="http://schemas.openxmlformats.org/officeDocument/2006/relationships/image" Target="../media/image21.wmf"/><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37.xml"/><Relationship Id="rId5" Type="http://schemas.openxmlformats.org/officeDocument/2006/relationships/image" Target="../media/image29.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3.xml"/><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TextShape 1"/>
          <p:cNvSpPr txBox="1"/>
          <p:nvPr/>
        </p:nvSpPr>
        <p:spPr>
          <a:xfrm>
            <a:off x="2209680" y="4813200"/>
            <a:ext cx="6754320" cy="1063440"/>
          </a:xfrm>
          <a:prstGeom prst="rect">
            <a:avLst/>
          </a:prstGeom>
          <a:noFill/>
          <a:ln>
            <a:noFill/>
          </a:ln>
        </p:spPr>
        <p:txBody>
          <a:bodyPr anchor="ctr"/>
          <a:lstStyle/>
          <a:p>
            <a:pPr algn="r">
              <a:lnSpc>
                <a:spcPct val="100000"/>
              </a:lnSpc>
            </a:pPr>
            <a:r>
              <a:rPr lang="id-ID" sz="3600" b="1" strike="noStrike" spc="-1">
                <a:solidFill>
                  <a:srgbClr val="FFFFFF"/>
                </a:solidFill>
                <a:uFill>
                  <a:solidFill>
                    <a:srgbClr val="FFFFFF"/>
                  </a:solidFill>
                </a:uFill>
                <a:latin typeface="Calibri"/>
                <a:ea typeface="MS PGothic"/>
              </a:rPr>
              <a:t>Chapter 6 
</a:t>
            </a:r>
            <a:r>
              <a:rPr lang="id-ID" sz="2800" b="1" strike="noStrike" spc="-1">
                <a:solidFill>
                  <a:srgbClr val="FFFFFF"/>
                </a:solidFill>
                <a:uFill>
                  <a:solidFill>
                    <a:srgbClr val="FFFFFF"/>
                  </a:solidFill>
                </a:uFill>
                <a:latin typeface="Calibri"/>
                <a:ea typeface="MS PGothic"/>
              </a:rPr>
              <a:t>Elasticity
</a:t>
            </a:r>
            <a:endParaRPr lang="id-ID" sz="3200" strike="noStrike" spc="-1">
              <a:solidFill>
                <a:srgbClr val="000000"/>
              </a:solidFill>
              <a:uFill>
                <a:solidFill>
                  <a:srgbClr val="FFFFFF"/>
                </a:solidFill>
              </a:uFill>
              <a:latin typeface="Calibri"/>
            </a:endParaRPr>
          </a:p>
        </p:txBody>
      </p:sp>
      <p:sp>
        <p:nvSpPr>
          <p:cNvPr id="245" name="TextShape 2"/>
          <p:cNvSpPr txBox="1"/>
          <p:nvPr/>
        </p:nvSpPr>
        <p:spPr>
          <a:xfrm>
            <a:off x="2286000" y="5500800"/>
            <a:ext cx="6700320" cy="642600"/>
          </a:xfrm>
          <a:prstGeom prst="rect">
            <a:avLst/>
          </a:prstGeom>
          <a:noFill/>
          <a:ln>
            <a:noFill/>
          </a:ln>
        </p:spPr>
        <p:txBody>
          <a:bodyPr/>
          <a:lstStyle/>
          <a:p>
            <a:pPr algn="ctr">
              <a:lnSpc>
                <a:spcPct val="80000"/>
              </a:lnSpc>
            </a:pPr>
            <a:endParaRPr lang="en-US" sz="3200" strike="noStrike" spc="-1">
              <a:solidFill>
                <a:srgbClr val="000000"/>
              </a:solidFill>
              <a:uFill>
                <a:solidFill>
                  <a:srgbClr val="FFFFFF"/>
                </a:solidFill>
              </a:uFill>
              <a:latin typeface="Arial"/>
            </a:endParaRPr>
          </a:p>
          <a:p>
            <a:pPr algn="ctr">
              <a:lnSpc>
                <a:spcPct val="80000"/>
              </a:lnSpc>
            </a:pPr>
            <a:endParaRPr lang="en-US" sz="3200" strike="noStrike" spc="-1">
              <a:solidFill>
                <a:srgbClr val="000000"/>
              </a:solidFill>
              <a:uFill>
                <a:solidFill>
                  <a:srgbClr val="FFFFFF"/>
                </a:solidFill>
              </a:uFill>
              <a:latin typeface="Arial"/>
            </a:endParaRPr>
          </a:p>
        </p:txBody>
      </p:sp>
      <p:sp>
        <p:nvSpPr>
          <p:cNvPr id="246" name="CustomShape 3"/>
          <p:cNvSpPr/>
          <p:nvPr/>
        </p:nvSpPr>
        <p:spPr>
          <a:xfrm>
            <a:off x="0" y="2438280"/>
            <a:ext cx="914040" cy="7585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chorCtr="1"/>
          <a:lstStyle/>
          <a:p>
            <a:pPr marL="1440" indent="-1080" algn="ctr">
              <a:lnSpc>
                <a:spcPct val="100000"/>
              </a:lnSpc>
            </a:pPr>
            <a:r>
              <a:rPr lang="en-US" sz="4000" b="1" strike="noStrike" spc="-1">
                <a:solidFill>
                  <a:srgbClr val="993366"/>
                </a:solidFill>
                <a:uFill>
                  <a:solidFill>
                    <a:srgbClr val="FFFFFF"/>
                  </a:solidFill>
                </a:uFill>
                <a:latin typeface="Bookman Old Style"/>
                <a:ea typeface="MS PGothic"/>
              </a:rPr>
              <a:t>&gt;&gt;</a:t>
            </a:r>
            <a:endParaRPr lang="en-US" sz="1800" strike="noStrike" spc="-1">
              <a:solidFill>
                <a:srgbClr val="000000"/>
              </a:solidFill>
              <a:uFill>
                <a:solidFill>
                  <a:srgbClr val="FFFFFF"/>
                </a:solidFill>
              </a:uFill>
              <a:latin typeface="Arial"/>
            </a:endParaRPr>
          </a:p>
        </p:txBody>
      </p:sp>
      <p:sp>
        <p:nvSpPr>
          <p:cNvPr id="247" name="CustomShape 4"/>
          <p:cNvSpPr/>
          <p:nvPr/>
        </p:nvSpPr>
        <p:spPr>
          <a:xfrm>
            <a:off x="4435560" y="-1440"/>
            <a:ext cx="4708080" cy="4114440"/>
          </a:xfrm>
          <a:prstGeom prst="rect">
            <a:avLst/>
          </a:prstGeom>
          <a:solidFill>
            <a:schemeClr val="accent4">
              <a:lumMod val="75000"/>
            </a:schemeClr>
          </a:solidFill>
          <a:ln>
            <a:noFill/>
          </a:ln>
        </p:spPr>
        <p:style>
          <a:lnRef idx="0">
            <a:scrgbClr r="0" g="0" b="0"/>
          </a:lnRef>
          <a:fillRef idx="0">
            <a:scrgbClr r="0" g="0" b="0"/>
          </a:fillRef>
          <a:effectRef idx="0">
            <a:scrgbClr r="0" g="0" b="0"/>
          </a:effectRef>
          <a:fontRef idx="minor"/>
        </p:style>
        <p:txBody>
          <a:bodyPr lIns="90000" tIns="45000" rIns="90000" bIns="45000"/>
          <a:lstStyle/>
          <a:p>
            <a:pPr marL="457200" algn="r">
              <a:lnSpc>
                <a:spcPct val="100000"/>
              </a:lnSpc>
            </a:pPr>
            <a:r>
              <a:rPr lang="en-US" sz="3200" strike="noStrike" spc="-1">
                <a:solidFill>
                  <a:srgbClr val="F79646"/>
                </a:solidFill>
                <a:uFill>
                  <a:solidFill>
                    <a:srgbClr val="FFFFFF"/>
                  </a:solidFill>
                </a:uFill>
                <a:latin typeface="Calibri"/>
                <a:ea typeface="MS PGothic"/>
              </a:rPr>
              <a:t>THIRD EDITION</a:t>
            </a:r>
            <a:endParaRPr lang="en-US" sz="1800" strike="noStrike" spc="-1">
              <a:solidFill>
                <a:srgbClr val="000000"/>
              </a:solidFill>
              <a:uFill>
                <a:solidFill>
                  <a:srgbClr val="FFFFFF"/>
                </a:solidFill>
              </a:uFill>
              <a:latin typeface="Arial"/>
            </a:endParaRPr>
          </a:p>
          <a:p>
            <a:pPr marL="457200" algn="r">
              <a:lnSpc>
                <a:spcPct val="100000"/>
              </a:lnSpc>
            </a:pPr>
            <a:endParaRPr lang="en-US" sz="1800" strike="noStrike" spc="-1">
              <a:solidFill>
                <a:srgbClr val="000000"/>
              </a:solidFill>
              <a:uFill>
                <a:solidFill>
                  <a:srgbClr val="FFFFFF"/>
                </a:solidFill>
              </a:uFill>
              <a:latin typeface="Arial"/>
            </a:endParaRPr>
          </a:p>
          <a:p>
            <a:pPr marL="457200" algn="r">
              <a:lnSpc>
                <a:spcPct val="100000"/>
              </a:lnSpc>
            </a:pPr>
            <a:r>
              <a:rPr lang="en-US" sz="3800" b="1" strike="noStrike" spc="-1">
                <a:solidFill>
                  <a:srgbClr val="FFFFFF"/>
                </a:solidFill>
                <a:uFill>
                  <a:solidFill>
                    <a:srgbClr val="FFFFFF"/>
                  </a:solidFill>
                </a:uFill>
                <a:latin typeface="Calibri"/>
                <a:ea typeface="MS PGothic"/>
              </a:rPr>
              <a:t>MICROECONOMICS</a:t>
            </a:r>
            <a:r>
              <a:rPr lang="en-US" sz="3900" b="1" strike="noStrike" spc="-1">
                <a:solidFill>
                  <a:srgbClr val="FFFFFF"/>
                </a:solidFill>
                <a:uFill>
                  <a:solidFill>
                    <a:srgbClr val="FFFFFF"/>
                  </a:solidFill>
                </a:uFill>
                <a:latin typeface="Calibri"/>
                <a:ea typeface="MS PGothic"/>
              </a:rPr>
              <a:t>
</a:t>
            </a:r>
            <a:r>
              <a:rPr lang="en-US" sz="2400" strike="noStrike" spc="-1">
                <a:solidFill>
                  <a:srgbClr val="FFFFFF"/>
                </a:solidFill>
                <a:uFill>
                  <a:solidFill>
                    <a:srgbClr val="FFFFFF"/>
                  </a:solidFill>
                </a:uFill>
                <a:latin typeface="Calibri"/>
                <a:ea typeface="MS PGothic"/>
              </a:rPr>
              <a:t>Paul Krugman | Robin Wells</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TextShape 1"/>
          <p:cNvSpPr txBox="1"/>
          <p:nvPr/>
        </p:nvSpPr>
        <p:spPr>
          <a:xfrm>
            <a:off x="1071720" y="60480"/>
            <a:ext cx="8078400" cy="555120"/>
          </a:xfrm>
          <a:prstGeom prst="rect">
            <a:avLst/>
          </a:prstGeom>
          <a:noFill/>
          <a:ln>
            <a:noFill/>
          </a:ln>
        </p:spPr>
        <p:txBody>
          <a:bodyPr anchor="ctr"/>
          <a:lstStyle/>
          <a:p>
            <a:pPr>
              <a:lnSpc>
                <a:spcPct val="100000"/>
              </a:lnSpc>
            </a:pPr>
            <a:r>
              <a:rPr lang="id-ID" sz="4000" b="1" strike="noStrike" spc="-1">
                <a:solidFill>
                  <a:srgbClr val="FFFFFF"/>
                </a:solidFill>
                <a:uFill>
                  <a:solidFill>
                    <a:srgbClr val="FFFFFF"/>
                  </a:solidFill>
                </a:uFill>
                <a:latin typeface="Calibri"/>
                <a:ea typeface="MS PGothic"/>
              </a:rPr>
              <a:t>Price Elasticity of Demand</a:t>
            </a:r>
            <a:endParaRPr lang="id-ID" sz="3200" strike="noStrike" spc="-1">
              <a:solidFill>
                <a:srgbClr val="000000"/>
              </a:solidFill>
              <a:uFill>
                <a:solidFill>
                  <a:srgbClr val="FFFFFF"/>
                </a:solidFill>
              </a:uFill>
              <a:latin typeface="Calibri"/>
            </a:endParaRPr>
          </a:p>
        </p:txBody>
      </p:sp>
      <p:sp>
        <p:nvSpPr>
          <p:cNvPr id="249" name="TextShape 2"/>
          <p:cNvSpPr txBox="1"/>
          <p:nvPr/>
        </p:nvSpPr>
        <p:spPr>
          <a:xfrm>
            <a:off x="467640" y="3219840"/>
            <a:ext cx="6202080" cy="3089160"/>
          </a:xfrm>
          <a:prstGeom prst="rect">
            <a:avLst/>
          </a:prstGeom>
          <a:noFill/>
          <a:ln>
            <a:noFill/>
          </a:ln>
        </p:spPr>
        <p:txBody>
          <a:bodyPr/>
          <a:lstStyle/>
          <a:p>
            <a:pPr marL="343080" indent="-342720">
              <a:lnSpc>
                <a:spcPct val="100000"/>
              </a:lnSpc>
              <a:buClr>
                <a:srgbClr val="000000"/>
              </a:buClr>
              <a:buFont typeface="Arial"/>
              <a:buChar char="•"/>
            </a:pPr>
            <a:r>
              <a:rPr lang="id-ID" sz="2800" strike="noStrike" spc="-1">
                <a:solidFill>
                  <a:srgbClr val="000000"/>
                </a:solidFill>
                <a:uFill>
                  <a:solidFill>
                    <a:srgbClr val="FFFFFF"/>
                  </a:solidFill>
                </a:uFill>
                <a:latin typeface="Calibri"/>
                <a:ea typeface="MS PGothic"/>
              </a:rPr>
              <a:t>A demand curve is </a:t>
            </a:r>
            <a:r>
              <a:rPr lang="id-ID" sz="2800" b="1" strike="noStrike" spc="-1">
                <a:solidFill>
                  <a:srgbClr val="9BBB59"/>
                </a:solidFill>
                <a:uFill>
                  <a:solidFill>
                    <a:srgbClr val="FFFFFF"/>
                  </a:solidFill>
                </a:uFill>
                <a:latin typeface="Calibri"/>
                <a:ea typeface="MS PGothic"/>
              </a:rPr>
              <a:t>elastic</a:t>
            </a:r>
            <a:r>
              <a:rPr lang="id-ID" sz="2800" strike="noStrike" spc="-1">
                <a:solidFill>
                  <a:srgbClr val="9BBB59"/>
                </a:solidFill>
                <a:uFill>
                  <a:solidFill>
                    <a:srgbClr val="FFFFFF"/>
                  </a:solidFill>
                </a:uFill>
                <a:latin typeface="Calibri"/>
                <a:ea typeface="MS PGothic"/>
              </a:rPr>
              <a:t> </a:t>
            </a:r>
            <a:r>
              <a:rPr lang="id-ID" sz="2800" strike="noStrike" spc="-1">
                <a:solidFill>
                  <a:srgbClr val="000000"/>
                </a:solidFill>
                <a:uFill>
                  <a:solidFill>
                    <a:srgbClr val="FFFFFF"/>
                  </a:solidFill>
                </a:uFill>
                <a:latin typeface="Calibri"/>
                <a:ea typeface="MS PGothic"/>
              </a:rPr>
              <a:t>when an increase in price reduces the quantity demanded </a:t>
            </a:r>
            <a:r>
              <a:rPr lang="id-ID" sz="2800" b="1" strike="noStrike" spc="-1">
                <a:solidFill>
                  <a:srgbClr val="9BBB59"/>
                </a:solidFill>
                <a:uFill>
                  <a:solidFill>
                    <a:srgbClr val="FFFFFF"/>
                  </a:solidFill>
                </a:uFill>
                <a:latin typeface="Calibri"/>
                <a:ea typeface="MS PGothic"/>
              </a:rPr>
              <a:t>a lot </a:t>
            </a:r>
            <a:r>
              <a:rPr lang="id-ID" sz="2800" strike="noStrike" spc="-1">
                <a:solidFill>
                  <a:srgbClr val="000000"/>
                </a:solidFill>
                <a:uFill>
                  <a:solidFill>
                    <a:srgbClr val="FFFFFF"/>
                  </a:solidFill>
                </a:uFill>
                <a:latin typeface="Calibri"/>
                <a:ea typeface="MS PGothic"/>
              </a:rPr>
              <a:t>(and vice versa).</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800" strike="noStrike" spc="-1">
                <a:solidFill>
                  <a:srgbClr val="000000"/>
                </a:solidFill>
                <a:uFill>
                  <a:solidFill>
                    <a:srgbClr val="FFFFFF"/>
                  </a:solidFill>
                </a:uFill>
                <a:latin typeface="Calibri"/>
                <a:ea typeface="MS PGothic"/>
              </a:rPr>
              <a:t>When the same increase in price reduces quantity demanded </a:t>
            </a:r>
            <a:r>
              <a:rPr lang="id-ID" sz="2800" b="1" strike="noStrike" spc="-1">
                <a:solidFill>
                  <a:srgbClr val="C0504D"/>
                </a:solidFill>
                <a:uFill>
                  <a:solidFill>
                    <a:srgbClr val="FFFFFF"/>
                  </a:solidFill>
                </a:uFill>
                <a:latin typeface="Calibri"/>
                <a:ea typeface="MS PGothic"/>
              </a:rPr>
              <a:t>just a little</a:t>
            </a:r>
            <a:r>
              <a:rPr lang="id-ID" sz="2800" strike="noStrike" spc="-1">
                <a:solidFill>
                  <a:srgbClr val="000000"/>
                </a:solidFill>
                <a:uFill>
                  <a:solidFill>
                    <a:srgbClr val="FFFFFF"/>
                  </a:solidFill>
                </a:uFill>
                <a:latin typeface="Calibri"/>
                <a:ea typeface="MS PGothic"/>
              </a:rPr>
              <a:t>, then the demand curve is </a:t>
            </a:r>
            <a:r>
              <a:rPr lang="id-ID" sz="2800" b="1" strike="noStrike" spc="-1">
                <a:solidFill>
                  <a:srgbClr val="C0504D"/>
                </a:solidFill>
                <a:uFill>
                  <a:solidFill>
                    <a:srgbClr val="FFFFFF"/>
                  </a:solidFill>
                </a:uFill>
                <a:latin typeface="Calibri"/>
                <a:ea typeface="MS PGothic"/>
              </a:rPr>
              <a:t>inelastic</a:t>
            </a:r>
            <a:r>
              <a:rPr lang="id-ID" sz="2800" strike="noStrike" spc="-1">
                <a:solidFill>
                  <a:srgbClr val="000000"/>
                </a:solidFill>
                <a:uFill>
                  <a:solidFill>
                    <a:srgbClr val="FFFFFF"/>
                  </a:solidFill>
                </a:uFill>
                <a:latin typeface="Calibri"/>
                <a:ea typeface="MS PGothic"/>
              </a:rPr>
              <a:t>.</a:t>
            </a: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p:txBody>
      </p:sp>
      <p:sp>
        <p:nvSpPr>
          <p:cNvPr id="250" name="CustomShape 3"/>
          <p:cNvSpPr/>
          <p:nvPr/>
        </p:nvSpPr>
        <p:spPr>
          <a:xfrm>
            <a:off x="539640" y="993240"/>
            <a:ext cx="6311160" cy="2147400"/>
          </a:xfrm>
          <a:prstGeom prst="rect">
            <a:avLst/>
          </a:prstGeom>
          <a:noFill/>
          <a:ln w="9360">
            <a:noFill/>
          </a:ln>
        </p:spPr>
        <p:style>
          <a:lnRef idx="0">
            <a:scrgbClr r="0" g="0" b="0"/>
          </a:lnRef>
          <a:fillRef idx="0">
            <a:scrgbClr r="0" g="0" b="0"/>
          </a:fillRef>
          <a:effectRef idx="0">
            <a:scrgbClr r="0" g="0" b="0"/>
          </a:effectRef>
          <a:fontRef idx="minor"/>
        </p:style>
        <p:txBody>
          <a:bodyPr/>
          <a:lstStyle/>
          <a:p>
            <a:pPr marL="343080" indent="-342720">
              <a:lnSpc>
                <a:spcPct val="100000"/>
              </a:lnSpc>
              <a:buClr>
                <a:srgbClr val="000000"/>
              </a:buClr>
              <a:buFont typeface="Arial"/>
              <a:buChar char="•"/>
            </a:pPr>
            <a:r>
              <a:rPr lang="en-US" sz="2800" strike="noStrike" spc="-1">
                <a:solidFill>
                  <a:srgbClr val="000000"/>
                </a:solidFill>
                <a:uFill>
                  <a:solidFill>
                    <a:srgbClr val="FFFFFF"/>
                  </a:solidFill>
                </a:uFill>
                <a:latin typeface="Calibri"/>
                <a:ea typeface="MS PGothic"/>
              </a:rPr>
              <a:t>There is an </a:t>
            </a:r>
            <a:r>
              <a:rPr lang="en-US" sz="2800" i="1" strike="noStrike" spc="-1">
                <a:solidFill>
                  <a:srgbClr val="376092"/>
                </a:solidFill>
                <a:uFill>
                  <a:solidFill>
                    <a:srgbClr val="FFFFFF"/>
                  </a:solidFill>
                </a:uFill>
                <a:latin typeface="Calibri"/>
                <a:ea typeface="MS PGothic"/>
              </a:rPr>
              <a:t>inverse relationship between price and quantity demanded.</a:t>
            </a:r>
            <a:endParaRPr lang="en-US" sz="2500" strike="noStrike" spc="-1">
              <a:solidFill>
                <a:srgbClr val="000000"/>
              </a:solidFill>
              <a:uFill>
                <a:solidFill>
                  <a:srgbClr val="FFFFFF"/>
                </a:solidFill>
              </a:uFill>
              <a:latin typeface="Arial"/>
            </a:endParaRPr>
          </a:p>
          <a:p>
            <a:pPr marL="343080" indent="-342720">
              <a:lnSpc>
                <a:spcPct val="100000"/>
              </a:lnSpc>
              <a:buClr>
                <a:srgbClr val="000000"/>
              </a:buClr>
              <a:buFont typeface="Arial"/>
              <a:buChar char="•"/>
            </a:pPr>
            <a:r>
              <a:rPr lang="en-US" sz="2800" strike="noStrike" spc="-1">
                <a:solidFill>
                  <a:srgbClr val="000000"/>
                </a:solidFill>
                <a:uFill>
                  <a:solidFill>
                    <a:srgbClr val="FFFFFF"/>
                  </a:solidFill>
                </a:uFill>
                <a:latin typeface="Calibri"/>
                <a:ea typeface="MS PGothic"/>
              </a:rPr>
              <a:t>But </a:t>
            </a:r>
            <a:r>
              <a:rPr lang="en-US" sz="2800" i="1" strike="noStrike" spc="-1">
                <a:solidFill>
                  <a:srgbClr val="000000"/>
                </a:solidFill>
                <a:uFill>
                  <a:solidFill>
                    <a:srgbClr val="FFFFFF"/>
                  </a:solidFill>
                </a:uFill>
                <a:latin typeface="Calibri"/>
                <a:ea typeface="MS PGothic"/>
              </a:rPr>
              <a:t>how much </a:t>
            </a:r>
            <a:r>
              <a:rPr lang="en-US" sz="2800" strike="noStrike" spc="-1">
                <a:solidFill>
                  <a:srgbClr val="000000"/>
                </a:solidFill>
                <a:uFill>
                  <a:solidFill>
                    <a:srgbClr val="FFFFFF"/>
                  </a:solidFill>
                </a:uFill>
                <a:latin typeface="Calibri"/>
                <a:ea typeface="MS PGothic"/>
              </a:rPr>
              <a:t>does quantity demanded change when price changes?</a:t>
            </a:r>
            <a:endParaRPr lang="en-US" sz="2500" strike="noStrike" spc="-1">
              <a:solidFill>
                <a:srgbClr val="000000"/>
              </a:solidFill>
              <a:uFill>
                <a:solidFill>
                  <a:srgbClr val="FFFFFF"/>
                </a:solidFill>
              </a:uFill>
              <a:latin typeface="Arial"/>
            </a:endParaRPr>
          </a:p>
        </p:txBody>
      </p:sp>
      <p:pic>
        <p:nvPicPr>
          <p:cNvPr id="251" name="Picture 10"/>
          <p:cNvPicPr/>
          <p:nvPr/>
        </p:nvPicPr>
        <p:blipFill>
          <a:blip r:embed="rId3"/>
          <a:stretch/>
        </p:blipFill>
        <p:spPr>
          <a:xfrm>
            <a:off x="7020360" y="348480"/>
            <a:ext cx="2076120" cy="3200040"/>
          </a:xfrm>
          <a:prstGeom prst="rect">
            <a:avLst/>
          </a:prstGeom>
          <a:ln>
            <a:noFill/>
          </a:ln>
          <a:effectLst>
            <a:outerShdw blurRad="292100" dist="139700" dir="2700000" algn="tl" rotWithShape="0">
              <a:srgbClr val="333333">
                <a:alpha val="65000"/>
              </a:srgbClr>
            </a:outerShdw>
          </a:effectLst>
        </p:spPr>
      </p:pic>
      <p:pic>
        <p:nvPicPr>
          <p:cNvPr id="252" name="Picture 2"/>
          <p:cNvPicPr/>
          <p:nvPr/>
        </p:nvPicPr>
        <p:blipFill>
          <a:blip r:embed="rId4"/>
          <a:stretch/>
        </p:blipFill>
        <p:spPr>
          <a:xfrm>
            <a:off x="6716520" y="3339000"/>
            <a:ext cx="2209320" cy="1949760"/>
          </a:xfrm>
          <a:prstGeom prst="rect">
            <a:avLst/>
          </a:prstGeom>
          <a:ln w="63360">
            <a:solidFill>
              <a:srgbClr val="333333"/>
            </a:solidFill>
            <a:round/>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3" name="Line 4"/>
          <p:cNvSpPr/>
          <p:nvPr/>
        </p:nvSpPr>
        <p:spPr>
          <a:xfrm flipV="1">
            <a:off x="6084000" y="5157000"/>
            <a:ext cx="4320" cy="150120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254" name="Line 5"/>
          <p:cNvSpPr/>
          <p:nvPr/>
        </p:nvSpPr>
        <p:spPr>
          <a:xfrm flipH="1">
            <a:off x="6088320" y="6658200"/>
            <a:ext cx="2444040" cy="21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255" name="CustomShape 6"/>
          <p:cNvSpPr/>
          <p:nvPr/>
        </p:nvSpPr>
        <p:spPr>
          <a:xfrm>
            <a:off x="6279480" y="5185440"/>
            <a:ext cx="2133000" cy="1398960"/>
          </a:xfrm>
          <a:custGeom>
            <a:avLst/>
            <a:gdLst/>
            <a:ahLst/>
            <a:cxnLst/>
            <a:rect l="l" t="t" r="r" b="b"/>
            <a:pathLst>
              <a:path w="423" h="494">
                <a:moveTo>
                  <a:pt x="0" y="0"/>
                </a:moveTo>
                <a:cubicBezTo>
                  <a:pt x="23" y="133"/>
                  <a:pt x="158" y="409"/>
                  <a:pt x="423" y="494"/>
                </a:cubicBezTo>
              </a:path>
            </a:pathLst>
          </a:custGeom>
          <a:noFill/>
          <a:ln w="30240">
            <a:solidFill>
              <a:srgbClr val="3C5DAA"/>
            </a:solidFill>
            <a:miter/>
          </a:ln>
        </p:spPr>
        <p:style>
          <a:lnRef idx="0">
            <a:scrgbClr r="0" g="0" b="0"/>
          </a:lnRef>
          <a:fillRef idx="0">
            <a:scrgbClr r="0" g="0" b="0"/>
          </a:fillRef>
          <a:effectRef idx="0">
            <a:scrgbClr r="0" g="0" b="0"/>
          </a:effectRef>
          <a:fontRef idx="minor"/>
        </p:style>
      </p:sp>
      <p:sp>
        <p:nvSpPr>
          <p:cNvPr id="256" name="CustomShape 7"/>
          <p:cNvSpPr/>
          <p:nvPr/>
        </p:nvSpPr>
        <p:spPr>
          <a:xfrm>
            <a:off x="6228000" y="5157360"/>
            <a:ext cx="100080" cy="568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257" name="CustomShape 8"/>
          <p:cNvSpPr/>
          <p:nvPr/>
        </p:nvSpPr>
        <p:spPr>
          <a:xfrm>
            <a:off x="6344640" y="5389200"/>
            <a:ext cx="101520" cy="576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258" name="CustomShape 9"/>
          <p:cNvSpPr/>
          <p:nvPr/>
        </p:nvSpPr>
        <p:spPr>
          <a:xfrm>
            <a:off x="6526800" y="5623920"/>
            <a:ext cx="101520" cy="576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259" name="CustomShape 10"/>
          <p:cNvSpPr/>
          <p:nvPr/>
        </p:nvSpPr>
        <p:spPr>
          <a:xfrm>
            <a:off x="6768360" y="5856840"/>
            <a:ext cx="98640" cy="55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260" name="CustomShape 11"/>
          <p:cNvSpPr/>
          <p:nvPr/>
        </p:nvSpPr>
        <p:spPr>
          <a:xfrm>
            <a:off x="7101000" y="6089760"/>
            <a:ext cx="101520" cy="55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261" name="CustomShape 12"/>
          <p:cNvSpPr/>
          <p:nvPr/>
        </p:nvSpPr>
        <p:spPr>
          <a:xfrm>
            <a:off x="7549200" y="6321240"/>
            <a:ext cx="101520" cy="576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262" name="CustomShape 13"/>
          <p:cNvSpPr/>
          <p:nvPr/>
        </p:nvSpPr>
        <p:spPr>
          <a:xfrm>
            <a:off x="8361360" y="6556680"/>
            <a:ext cx="102960" cy="568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263" name="CustomShape 14"/>
          <p:cNvSpPr/>
          <p:nvPr/>
        </p:nvSpPr>
        <p:spPr>
          <a:xfrm>
            <a:off x="7883280" y="6226200"/>
            <a:ext cx="477720" cy="21348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b="1" i="1" strike="noStrike" spc="-1">
                <a:solidFill>
                  <a:srgbClr val="000000"/>
                </a:solidFill>
                <a:uFill>
                  <a:solidFill>
                    <a:srgbClr val="FFFFFF"/>
                  </a:solidFill>
                </a:uFill>
                <a:latin typeface="Tahoma"/>
                <a:ea typeface="Tahoma"/>
              </a:rPr>
              <a:t>D</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10" presetClass="entr" fill="hold" nodeType="afterEffect">
                                  <p:stCondLst>
                                    <p:cond delay="0"/>
                                  </p:stCondLst>
                                  <p:childTnLst>
                                    <p:set>
                                      <p:cBhvr>
                                        <p:cTn id="6" dur="1" fill="hold">
                                          <p:stCondLst>
                                            <p:cond delay="0"/>
                                          </p:stCondLst>
                                        </p:cTn>
                                        <p:tgtEl>
                                          <p:spTgt spid="252"/>
                                        </p:tgtEl>
                                        <p:attrNameLst>
                                          <p:attrName>style.visibility</p:attrName>
                                        </p:attrNameLst>
                                      </p:cBhvr>
                                      <p:to>
                                        <p:strVal val="visible"/>
                                      </p:to>
                                    </p:set>
                                    <p:animEffect transition="in" filter="fade">
                                      <p:cBhvr additive="repl">
                                        <p:cTn id="7" dur="500"/>
                                        <p:tgtEl>
                                          <p:spTgt spid="2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249">
                                            <p:txEl>
                                              <p:pRg st="106" end="215"/>
                                            </p:txEl>
                                          </p:spTgt>
                                        </p:tgtEl>
                                        <p:attrNameLst>
                                          <p:attrName>style.visibility</p:attrName>
                                        </p:attrNameLst>
                                      </p:cBhvr>
                                      <p:to>
                                        <p:strVal val="visible"/>
                                      </p:to>
                                    </p:set>
                                    <p:animEffect transition="in" filter="fade">
                                      <p:cBhvr additive="repl">
                                        <p:cTn id="12" dur="2000"/>
                                        <p:tgtEl>
                                          <p:spTgt spid="249">
                                            <p:txEl>
                                              <p:pRg st="106" end="215"/>
                                            </p:txEl>
                                          </p:spTgt>
                                        </p:tgtEl>
                                      </p:cBhvr>
                                    </p:animEffect>
                                  </p:childTnLst>
                                </p:cTn>
                              </p:par>
                              <p:par>
                                <p:cTn id="13" presetID="10" presetClass="entr" fill="hold" nodeType="withEffect">
                                  <p:stCondLst>
                                    <p:cond delay="0"/>
                                  </p:stCondLst>
                                  <p:childTnLst>
                                    <p:set>
                                      <p:cBhvr>
                                        <p:cTn id="14" dur="1" fill="hold">
                                          <p:stCondLst>
                                            <p:cond delay="0"/>
                                          </p:stCondLst>
                                        </p:cTn>
                                        <p:tgtEl>
                                          <p:spTgt spid="251"/>
                                        </p:tgtEl>
                                        <p:attrNameLst>
                                          <p:attrName>style.visibility</p:attrName>
                                        </p:attrNameLst>
                                      </p:cBhvr>
                                      <p:to>
                                        <p:strVal val="visible"/>
                                      </p:to>
                                    </p:set>
                                    <p:animEffect transition="in" filter="fade">
                                      <p:cBhvr additive="repl">
                                        <p:cTn id="15" dur="500"/>
                                        <p:tgtEl>
                                          <p:spTgt spid="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TextShape 1"/>
          <p:cNvSpPr txBox="1"/>
          <p:nvPr/>
        </p:nvSpPr>
        <p:spPr>
          <a:xfrm>
            <a:off x="3286080" y="620640"/>
            <a:ext cx="5571720" cy="5976720"/>
          </a:xfrm>
          <a:prstGeom prst="rect">
            <a:avLst/>
          </a:prstGeom>
          <a:noFill/>
          <a:ln w="9360">
            <a:noFill/>
          </a:ln>
        </p:spPr>
        <p:txBody>
          <a:bodyPr/>
          <a:lstStyle/>
          <a:p>
            <a:pPr marL="343080" indent="-342720">
              <a:lnSpc>
                <a:spcPct val="80000"/>
              </a:lnSpc>
              <a:buClr>
                <a:srgbClr val="660033"/>
              </a:buClr>
              <a:buFont typeface="Arial"/>
              <a:buChar char="•"/>
            </a:pPr>
            <a:r>
              <a:rPr lang="id-ID" sz="2400" strike="noStrike" spc="-1">
                <a:solidFill>
                  <a:srgbClr val="000000"/>
                </a:solidFill>
                <a:uFill>
                  <a:solidFill>
                    <a:srgbClr val="FFFFFF"/>
                  </a:solidFill>
                </a:uFill>
                <a:latin typeface="Calibri"/>
              </a:rPr>
              <a:t>What is the definition of </a:t>
            </a:r>
            <a:r>
              <a:rPr lang="id-ID" sz="2400" b="1" strike="noStrike" spc="-1">
                <a:solidFill>
                  <a:srgbClr val="000000"/>
                </a:solidFill>
                <a:uFill>
                  <a:solidFill>
                    <a:srgbClr val="FFFFFF"/>
                  </a:solidFill>
                </a:uFill>
                <a:latin typeface="Calibri"/>
              </a:rPr>
              <a:t>elasticity?</a:t>
            </a:r>
            <a:endParaRPr lang="id-ID" sz="2400" strike="noStrike" spc="-1">
              <a:solidFill>
                <a:srgbClr val="000000"/>
              </a:solidFill>
              <a:uFill>
                <a:solidFill>
                  <a:srgbClr val="FFFFFF"/>
                </a:solidFill>
              </a:uFill>
              <a:latin typeface="Calibri"/>
            </a:endParaRPr>
          </a:p>
          <a:p>
            <a:pPr marL="343080" indent="-342720">
              <a:lnSpc>
                <a:spcPct val="80000"/>
              </a:lnSpc>
              <a:buClr>
                <a:srgbClr val="660033"/>
              </a:buClr>
              <a:buFont typeface="Arial"/>
              <a:buChar char="•"/>
            </a:pPr>
            <a:r>
              <a:rPr lang="id-ID" sz="2400" strike="noStrike" spc="-1">
                <a:solidFill>
                  <a:srgbClr val="000000"/>
                </a:solidFill>
                <a:uFill>
                  <a:solidFill>
                    <a:srgbClr val="FFFFFF"/>
                  </a:solidFill>
                </a:uFill>
                <a:latin typeface="Calibri"/>
              </a:rPr>
              <a:t>Why economists use elasticity to measure responsiveness to changes in prices or incomes</a:t>
            </a:r>
          </a:p>
          <a:p>
            <a:pPr marL="343080" indent="-342720">
              <a:lnSpc>
                <a:spcPct val="80000"/>
              </a:lnSpc>
              <a:buClr>
                <a:srgbClr val="660033"/>
              </a:buClr>
              <a:buFont typeface="Arial"/>
              <a:buChar char="•"/>
            </a:pPr>
            <a:r>
              <a:rPr lang="id-ID" sz="2400" strike="noStrike" spc="-1">
                <a:solidFill>
                  <a:srgbClr val="000000"/>
                </a:solidFill>
                <a:uFill>
                  <a:solidFill>
                    <a:srgbClr val="FFFFFF"/>
                  </a:solidFill>
                </a:uFill>
                <a:latin typeface="Calibri"/>
              </a:rPr>
              <a:t>What is the meaning and importance of:</a:t>
            </a:r>
          </a:p>
          <a:p>
            <a:pPr marL="743040" lvl="1" indent="-285480">
              <a:lnSpc>
                <a:spcPct val="80000"/>
              </a:lnSpc>
              <a:buClr>
                <a:srgbClr val="660033"/>
              </a:buClr>
              <a:buFont typeface="Wingdings" charset="2"/>
              <a:buChar char=""/>
            </a:pPr>
            <a:r>
              <a:rPr lang="id-ID" sz="2200" strike="noStrike" spc="-1">
                <a:solidFill>
                  <a:srgbClr val="000000"/>
                </a:solidFill>
                <a:uFill>
                  <a:solidFill>
                    <a:srgbClr val="FFFFFF"/>
                  </a:solidFill>
                </a:uFill>
                <a:latin typeface="Calibri"/>
              </a:rPr>
              <a:t>price elasticity of demand?</a:t>
            </a:r>
            <a:endParaRPr lang="id-ID" sz="2000" strike="noStrike" spc="-1">
              <a:solidFill>
                <a:srgbClr val="000000"/>
              </a:solidFill>
              <a:uFill>
                <a:solidFill>
                  <a:srgbClr val="FFFFFF"/>
                </a:solidFill>
              </a:uFill>
              <a:latin typeface="Calibri"/>
            </a:endParaRPr>
          </a:p>
          <a:p>
            <a:pPr marL="743040" lvl="1" indent="-285480">
              <a:lnSpc>
                <a:spcPct val="80000"/>
              </a:lnSpc>
              <a:buClr>
                <a:srgbClr val="660033"/>
              </a:buClr>
              <a:buFont typeface="Wingdings" charset="2"/>
              <a:buChar char=""/>
            </a:pPr>
            <a:r>
              <a:rPr lang="id-ID" sz="2200" strike="noStrike" spc="-1">
                <a:solidFill>
                  <a:srgbClr val="000000"/>
                </a:solidFill>
                <a:uFill>
                  <a:solidFill>
                    <a:srgbClr val="FFFFFF"/>
                  </a:solidFill>
                </a:uFill>
                <a:latin typeface="Calibri"/>
              </a:rPr>
              <a:t>income elasticity of demand?</a:t>
            </a:r>
            <a:endParaRPr lang="id-ID" sz="2000" strike="noStrike" spc="-1">
              <a:solidFill>
                <a:srgbClr val="000000"/>
              </a:solidFill>
              <a:uFill>
                <a:solidFill>
                  <a:srgbClr val="FFFFFF"/>
                </a:solidFill>
              </a:uFill>
              <a:latin typeface="Calibri"/>
            </a:endParaRPr>
          </a:p>
          <a:p>
            <a:pPr marL="743040" lvl="1" indent="-285480">
              <a:lnSpc>
                <a:spcPct val="80000"/>
              </a:lnSpc>
              <a:buClr>
                <a:srgbClr val="660033"/>
              </a:buClr>
              <a:buFont typeface="Wingdings" charset="2"/>
              <a:buChar char=""/>
            </a:pPr>
            <a:r>
              <a:rPr lang="id-ID" sz="2200" strike="noStrike" spc="-1">
                <a:solidFill>
                  <a:srgbClr val="000000"/>
                </a:solidFill>
                <a:uFill>
                  <a:solidFill>
                    <a:srgbClr val="FFFFFF"/>
                  </a:solidFill>
                </a:uFill>
                <a:latin typeface="Calibri"/>
              </a:rPr>
              <a:t>price elasticity of supply?</a:t>
            </a:r>
            <a:endParaRPr lang="id-ID" sz="2000" strike="noStrike" spc="-1">
              <a:solidFill>
                <a:srgbClr val="000000"/>
              </a:solidFill>
              <a:uFill>
                <a:solidFill>
                  <a:srgbClr val="FFFFFF"/>
                </a:solidFill>
              </a:uFill>
              <a:latin typeface="Calibri"/>
            </a:endParaRPr>
          </a:p>
          <a:p>
            <a:pPr marL="343080" indent="-342720">
              <a:lnSpc>
                <a:spcPct val="100000"/>
              </a:lnSpc>
              <a:buClr>
                <a:srgbClr val="660033"/>
              </a:buClr>
              <a:buFont typeface="Arial"/>
              <a:buChar char="•"/>
            </a:pPr>
            <a:r>
              <a:rPr lang="id-ID" sz="2400" strike="noStrike" spc="-1">
                <a:solidFill>
                  <a:srgbClr val="000000"/>
                </a:solidFill>
                <a:uFill>
                  <a:solidFill>
                    <a:srgbClr val="FFFFFF"/>
                  </a:solidFill>
                </a:uFill>
                <a:latin typeface="Calibri"/>
              </a:rPr>
              <a:t>What factors influence the size of these various elasticities?</a:t>
            </a:r>
          </a:p>
          <a:p>
            <a:pPr marL="343080" indent="-342720">
              <a:lnSpc>
                <a:spcPct val="100000"/>
              </a:lnSpc>
              <a:buClr>
                <a:srgbClr val="660033"/>
              </a:buClr>
              <a:buFont typeface="Arial"/>
              <a:buChar char="•"/>
            </a:pPr>
            <a:r>
              <a:rPr lang="id-ID" sz="2400" strike="noStrike" spc="-1">
                <a:solidFill>
                  <a:srgbClr val="000000"/>
                </a:solidFill>
                <a:uFill>
                  <a:solidFill>
                    <a:srgbClr val="FFFFFF"/>
                  </a:solidFill>
                </a:uFill>
                <a:latin typeface="Calibri"/>
              </a:rPr>
              <a:t>How the cross-price elasticity of demand measures the responsiveness of demand for one good to changes in the price of another good</a:t>
            </a:r>
          </a:p>
          <a:p>
            <a:pPr>
              <a:lnSpc>
                <a:spcPct val="100000"/>
              </a:lnSpc>
            </a:pPr>
            <a:endParaRPr lang="id-ID" sz="2400" strike="noStrike" spc="-1">
              <a:solidFill>
                <a:srgbClr val="000000"/>
              </a:solidFill>
              <a:uFill>
                <a:solidFill>
                  <a:srgbClr val="FFFFFF"/>
                </a:solidFill>
              </a:uFill>
              <a:latin typeface="Calibri"/>
            </a:endParaRPr>
          </a:p>
        </p:txBody>
      </p:sp>
      <p:sp>
        <p:nvSpPr>
          <p:cNvPr id="265" name="CustomShape 2"/>
          <p:cNvSpPr/>
          <p:nvPr/>
        </p:nvSpPr>
        <p:spPr>
          <a:xfrm>
            <a:off x="146160" y="1857240"/>
            <a:ext cx="2493720" cy="2040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3200" b="1" strike="noStrike" spc="-1">
                <a:solidFill>
                  <a:srgbClr val="FFFFFF"/>
                </a:solidFill>
                <a:uFill>
                  <a:solidFill>
                    <a:srgbClr val="FFFFFF"/>
                  </a:solidFill>
                </a:uFill>
                <a:latin typeface="Calibri"/>
              </a:rPr>
              <a:t>WHAT YOU</a:t>
            </a:r>
            <a:endParaRPr lang="en-US" sz="1800" strike="noStrike" spc="-1">
              <a:solidFill>
                <a:srgbClr val="000000"/>
              </a:solidFill>
              <a:uFill>
                <a:solidFill>
                  <a:srgbClr val="FFFFFF"/>
                </a:solidFill>
              </a:uFill>
              <a:latin typeface="Arial"/>
            </a:endParaRPr>
          </a:p>
          <a:p>
            <a:pPr algn="ctr">
              <a:lnSpc>
                <a:spcPct val="100000"/>
              </a:lnSpc>
            </a:pPr>
            <a:r>
              <a:rPr lang="en-US" sz="3200" b="1" strike="noStrike" spc="-1">
                <a:solidFill>
                  <a:srgbClr val="FFFFFF"/>
                </a:solidFill>
                <a:uFill>
                  <a:solidFill>
                    <a:srgbClr val="FFFFFF"/>
                  </a:solidFill>
                </a:uFill>
                <a:latin typeface="Calibri"/>
              </a:rPr>
              <a:t>WILL LEARN</a:t>
            </a:r>
            <a:endParaRPr lang="en-US" sz="1800" strike="noStrike" spc="-1">
              <a:solidFill>
                <a:srgbClr val="000000"/>
              </a:solidFill>
              <a:uFill>
                <a:solidFill>
                  <a:srgbClr val="FFFFFF"/>
                </a:solidFill>
              </a:uFill>
              <a:latin typeface="Arial"/>
            </a:endParaRPr>
          </a:p>
          <a:p>
            <a:pPr algn="ctr">
              <a:lnSpc>
                <a:spcPct val="100000"/>
              </a:lnSpc>
            </a:pPr>
            <a:r>
              <a:rPr lang="en-US" sz="3200" b="1" strike="noStrike" spc="-1">
                <a:solidFill>
                  <a:srgbClr val="FFFFFF"/>
                </a:solidFill>
                <a:uFill>
                  <a:solidFill>
                    <a:srgbClr val="FFFFFF"/>
                  </a:solidFill>
                </a:uFill>
                <a:latin typeface="Calibri"/>
              </a:rPr>
              <a:t>IN THIS CHAPTER</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TextShape 1"/>
          <p:cNvSpPr txBox="1"/>
          <p:nvPr/>
        </p:nvSpPr>
        <p:spPr>
          <a:xfrm>
            <a:off x="826920" y="60480"/>
            <a:ext cx="8322840" cy="55512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The Price Elasticity of Demand</a:t>
            </a:r>
            <a:endParaRPr lang="id-ID" sz="3200" strike="noStrike" spc="-1">
              <a:solidFill>
                <a:srgbClr val="000000"/>
              </a:solidFill>
              <a:uFill>
                <a:solidFill>
                  <a:srgbClr val="FFFFFF"/>
                </a:solidFill>
              </a:uFill>
              <a:latin typeface="Calibri"/>
            </a:endParaRPr>
          </a:p>
        </p:txBody>
      </p:sp>
      <p:sp>
        <p:nvSpPr>
          <p:cNvPr id="267" name="TextShape 2"/>
          <p:cNvSpPr txBox="1"/>
          <p:nvPr/>
        </p:nvSpPr>
        <p:spPr>
          <a:xfrm>
            <a:off x="755640" y="2852640"/>
            <a:ext cx="8208720" cy="3528720"/>
          </a:xfrm>
          <a:prstGeom prst="rect">
            <a:avLst/>
          </a:prstGeom>
          <a:solidFill>
            <a:srgbClr val="FFFFFF"/>
          </a:solidFill>
          <a:ln w="9360">
            <a:solidFill>
              <a:srgbClr val="000000"/>
            </a:solidFill>
            <a:miter/>
          </a:ln>
        </p:spPr>
        <p:txBody>
          <a:bodyPr/>
          <a:lstStyle/>
          <a:p>
            <a:pPr>
              <a:lnSpc>
                <a:spcPct val="100000"/>
              </a:lnSpc>
            </a:pP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p:txBody>
      </p:sp>
      <p:sp>
        <p:nvSpPr>
          <p:cNvPr id="268" name="CustomShape 3"/>
          <p:cNvSpPr/>
          <p:nvPr/>
        </p:nvSpPr>
        <p:spPr>
          <a:xfrm>
            <a:off x="0" y="0"/>
            <a:ext cx="9143640" cy="360"/>
          </a:xfrm>
          <a:prstGeom prst="rect">
            <a:avLst/>
          </a:prstGeom>
          <a:noFill/>
          <a:ln w="9360">
            <a:noFill/>
          </a:ln>
        </p:spPr>
        <p:style>
          <a:lnRef idx="0">
            <a:scrgbClr r="0" g="0" b="0"/>
          </a:lnRef>
          <a:fillRef idx="0">
            <a:scrgbClr r="0" g="0" b="0"/>
          </a:fillRef>
          <a:effectRef idx="0">
            <a:scrgbClr r="0" g="0" b="0"/>
          </a:effectRef>
          <a:fontRef idx="minor"/>
        </p:style>
      </p:sp>
      <p:sp>
        <p:nvSpPr>
          <p:cNvPr id="269" name="CustomShape 4"/>
          <p:cNvSpPr/>
          <p:nvPr/>
        </p:nvSpPr>
        <p:spPr>
          <a:xfrm>
            <a:off x="0" y="0"/>
            <a:ext cx="9143640" cy="360"/>
          </a:xfrm>
          <a:prstGeom prst="rect">
            <a:avLst/>
          </a:prstGeom>
          <a:noFill/>
          <a:ln w="9360">
            <a:noFill/>
          </a:ln>
        </p:spPr>
        <p:style>
          <a:lnRef idx="0">
            <a:scrgbClr r="0" g="0" b="0"/>
          </a:lnRef>
          <a:fillRef idx="0">
            <a:scrgbClr r="0" g="0" b="0"/>
          </a:fillRef>
          <a:effectRef idx="0">
            <a:scrgbClr r="0" g="0" b="0"/>
          </a:effectRef>
          <a:fontRef idx="minor"/>
        </p:style>
      </p:sp>
      <p:sp>
        <p:nvSpPr>
          <p:cNvPr id="270" name="CustomShape 5"/>
          <p:cNvSpPr/>
          <p:nvPr/>
        </p:nvSpPr>
        <p:spPr>
          <a:xfrm>
            <a:off x="0" y="0"/>
            <a:ext cx="9143640" cy="360"/>
          </a:xfrm>
          <a:prstGeom prst="rect">
            <a:avLst/>
          </a:prstGeom>
          <a:noFill/>
          <a:ln w="9360">
            <a:noFill/>
          </a:ln>
        </p:spPr>
        <p:style>
          <a:lnRef idx="0">
            <a:scrgbClr r="0" g="0" b="0"/>
          </a:lnRef>
          <a:fillRef idx="0">
            <a:scrgbClr r="0" g="0" b="0"/>
          </a:fillRef>
          <a:effectRef idx="0">
            <a:scrgbClr r="0" g="0" b="0"/>
          </a:effectRef>
          <a:fontRef idx="minor"/>
        </p:style>
      </p:sp>
      <p:pic>
        <p:nvPicPr>
          <p:cNvPr id="271" name="Picture 38"/>
          <p:cNvPicPr/>
          <p:nvPr/>
        </p:nvPicPr>
        <p:blipFill>
          <a:blip r:embed="rId3"/>
          <a:stretch/>
        </p:blipFill>
        <p:spPr>
          <a:xfrm>
            <a:off x="2289240" y="4119480"/>
            <a:ext cx="5409720" cy="942480"/>
          </a:xfrm>
          <a:prstGeom prst="rect">
            <a:avLst/>
          </a:prstGeom>
          <a:ln w="9360">
            <a:noFill/>
          </a:ln>
        </p:spPr>
      </p:pic>
      <p:pic>
        <p:nvPicPr>
          <p:cNvPr id="272" name="Picture 40"/>
          <p:cNvPicPr/>
          <p:nvPr/>
        </p:nvPicPr>
        <p:blipFill>
          <a:blip r:embed="rId4"/>
          <a:stretch/>
        </p:blipFill>
        <p:spPr>
          <a:xfrm>
            <a:off x="1025640" y="2924280"/>
            <a:ext cx="7938720" cy="933120"/>
          </a:xfrm>
          <a:prstGeom prst="rect">
            <a:avLst/>
          </a:prstGeom>
          <a:ln w="9360">
            <a:noFill/>
          </a:ln>
        </p:spPr>
      </p:pic>
      <p:pic>
        <p:nvPicPr>
          <p:cNvPr id="273" name="Picture 41"/>
          <p:cNvPicPr/>
          <p:nvPr/>
        </p:nvPicPr>
        <p:blipFill>
          <a:blip r:embed="rId5"/>
          <a:stretch/>
        </p:blipFill>
        <p:spPr>
          <a:xfrm>
            <a:off x="1073160" y="5300640"/>
            <a:ext cx="7891200" cy="1037880"/>
          </a:xfrm>
          <a:prstGeom prst="rect">
            <a:avLst/>
          </a:prstGeom>
          <a:ln w="9360">
            <a:noFill/>
          </a:ln>
        </p:spPr>
      </p:pic>
      <p:sp>
        <p:nvSpPr>
          <p:cNvPr id="274" name="CustomShape 6"/>
          <p:cNvSpPr/>
          <p:nvPr/>
        </p:nvSpPr>
        <p:spPr>
          <a:xfrm>
            <a:off x="755640" y="907920"/>
            <a:ext cx="7938720" cy="18824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233280" indent="-23292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The </a:t>
            </a:r>
            <a:r>
              <a:rPr lang="en-US" sz="2500" b="1" strike="noStrike" spc="-1">
                <a:solidFill>
                  <a:srgbClr val="000000"/>
                </a:solidFill>
                <a:uFill>
                  <a:solidFill>
                    <a:srgbClr val="FFFFFF"/>
                  </a:solidFill>
                </a:uFill>
                <a:latin typeface="Calibri"/>
                <a:ea typeface="MS PGothic"/>
              </a:rPr>
              <a:t>price elasticity of demand </a:t>
            </a:r>
            <a:r>
              <a:rPr lang="en-US" sz="2500" strike="noStrike" spc="-1">
                <a:solidFill>
                  <a:srgbClr val="000000"/>
                </a:solidFill>
                <a:uFill>
                  <a:solidFill>
                    <a:srgbClr val="FFFFFF"/>
                  </a:solidFill>
                </a:uFill>
                <a:latin typeface="Calibri"/>
                <a:ea typeface="MS PGothic"/>
              </a:rPr>
              <a:t>is the ratio of the percent change in the quantity demanded to the percent change in the price as we move along the demand curve (dropping the minus sign).</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272"/>
                                        </p:tgtEl>
                                        <p:attrNameLst>
                                          <p:attrName>style.visibility</p:attrName>
                                        </p:attrNameLst>
                                      </p:cBhvr>
                                      <p:to>
                                        <p:strVal val="visible"/>
                                      </p:to>
                                    </p:set>
                                    <p:animEffect transition="in" filter="fade">
                                      <p:cBhvr additive="repl">
                                        <p:cTn id="7" dur="500"/>
                                        <p:tgtEl>
                                          <p:spTgt spid="27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271"/>
                                        </p:tgtEl>
                                        <p:attrNameLst>
                                          <p:attrName>style.visibility</p:attrName>
                                        </p:attrNameLst>
                                      </p:cBhvr>
                                      <p:to>
                                        <p:strVal val="visible"/>
                                      </p:to>
                                    </p:set>
                                    <p:animEffect transition="in" filter="fade">
                                      <p:cBhvr additive="repl">
                                        <p:cTn id="12" dur="500"/>
                                        <p:tgtEl>
                                          <p:spTgt spid="27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nodeType="clickEffect">
                                  <p:stCondLst>
                                    <p:cond delay="0"/>
                                  </p:stCondLst>
                                  <p:childTnLst>
                                    <p:set>
                                      <p:cBhvr>
                                        <p:cTn id="16" dur="1" fill="hold">
                                          <p:stCondLst>
                                            <p:cond delay="0"/>
                                          </p:stCondLst>
                                        </p:cTn>
                                        <p:tgtEl>
                                          <p:spTgt spid="273"/>
                                        </p:tgtEl>
                                        <p:attrNameLst>
                                          <p:attrName>style.visibility</p:attrName>
                                        </p:attrNameLst>
                                      </p:cBhvr>
                                      <p:to>
                                        <p:strVal val="visible"/>
                                      </p:to>
                                    </p:set>
                                    <p:animEffect transition="in" filter="fade">
                                      <p:cBhvr additive="repl">
                                        <p:cTn id="17" dur="500"/>
                                        <p:tgtEl>
                                          <p:spTgt spid="27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nodeType="clickEffect">
                                  <p:stCondLst>
                                    <p:cond delay="0"/>
                                  </p:stCondLst>
                                  <p:childTnLst>
                                    <p:set>
                                      <p:cBhvr>
                                        <p:cTn id="21" dur="1" fill="hold">
                                          <p:stCondLst>
                                            <p:cond delay="0"/>
                                          </p:stCondLst>
                                        </p:cTn>
                                        <p:tgtEl>
                                          <p:spTgt spid="274">
                                            <p:txEl>
                                              <p:pRg st="0" end="187"/>
                                            </p:txEl>
                                          </p:spTgt>
                                        </p:tgtEl>
                                        <p:attrNameLst>
                                          <p:attrName>style.visibility</p:attrName>
                                        </p:attrNameLst>
                                      </p:cBhvr>
                                      <p:to>
                                        <p:strVal val="visible"/>
                                      </p:to>
                                    </p:set>
                                    <p:animEffect transition="in" filter="fade">
                                      <p:cBhvr additive="repl">
                                        <p:cTn id="22" dur="500"/>
                                        <p:tgtEl>
                                          <p:spTgt spid="274">
                                            <p:txEl>
                                              <p:pRg st="0" end="18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CustomShape 1"/>
          <p:cNvSpPr/>
          <p:nvPr/>
        </p:nvSpPr>
        <p:spPr>
          <a:xfrm>
            <a:off x="4643280" y="1916280"/>
            <a:ext cx="3657240" cy="1919160"/>
          </a:xfrm>
          <a:prstGeom prst="rect">
            <a:avLst/>
          </a:prstGeom>
          <a:solidFill>
            <a:schemeClr val="accent5">
              <a:lumMod val="20000"/>
              <a:lumOff val="80000"/>
            </a:schemeClr>
          </a:solidFill>
          <a:ln w="9360">
            <a:noFill/>
          </a:ln>
        </p:spPr>
        <p:style>
          <a:lnRef idx="0">
            <a:scrgbClr r="0" g="0" b="0"/>
          </a:lnRef>
          <a:fillRef idx="0">
            <a:scrgbClr r="0" g="0" b="0"/>
          </a:fillRef>
          <a:effectRef idx="0">
            <a:scrgbClr r="0" g="0" b="0"/>
          </a:effectRef>
          <a:fontRef idx="minor"/>
        </p:style>
        <p:txBody>
          <a:bodyPr lIns="90000" tIns="45000" rIns="90000" bIns="45000"/>
          <a:lstStyle/>
          <a:p>
            <a:pPr marL="1440" indent="-1080" algn="ctr">
              <a:lnSpc>
                <a:spcPct val="100000"/>
              </a:lnSpc>
            </a:pPr>
            <a:r>
              <a:rPr lang="en-US" sz="2400" strike="noStrike" spc="-1">
                <a:solidFill>
                  <a:srgbClr val="0033CC"/>
                </a:solidFill>
                <a:uFill>
                  <a:solidFill>
                    <a:srgbClr val="FFFFFF"/>
                  </a:solidFill>
                </a:uFill>
                <a:latin typeface="Calibri"/>
                <a:ea typeface="MS PGothic"/>
              </a:rPr>
              <a:t>When price rises to $21 per vaccination, world quantity demanded</a:t>
            </a:r>
            <a:r>
              <a:rPr lang="en-US" sz="2400" strike="noStrike" spc="-1">
                <a:solidFill>
                  <a:srgbClr val="FF0000"/>
                </a:solidFill>
                <a:uFill>
                  <a:solidFill>
                    <a:srgbClr val="FFFFFF"/>
                  </a:solidFill>
                </a:uFill>
                <a:latin typeface="Calibri"/>
                <a:ea typeface="MS PGothic"/>
              </a:rPr>
              <a:t> </a:t>
            </a:r>
            <a:r>
              <a:rPr lang="en-US" sz="2400" strike="noStrike" spc="-1">
                <a:solidFill>
                  <a:srgbClr val="0033CC"/>
                </a:solidFill>
                <a:uFill>
                  <a:solidFill>
                    <a:srgbClr val="FFFFFF"/>
                  </a:solidFill>
                </a:uFill>
                <a:latin typeface="Calibri"/>
                <a:ea typeface="MS PGothic"/>
              </a:rPr>
              <a:t>falls to 9.9 million vaccinations per year</a:t>
            </a:r>
            <a:r>
              <a:rPr lang="en-US" sz="2400" strike="noStrike" spc="-1">
                <a:solidFill>
                  <a:srgbClr val="FF0000"/>
                </a:solidFill>
                <a:uFill>
                  <a:solidFill>
                    <a:srgbClr val="FFFFFF"/>
                  </a:solidFill>
                </a:uFill>
                <a:latin typeface="Calibri"/>
                <a:ea typeface="MS PGothic"/>
              </a:rPr>
              <a:t> </a:t>
            </a:r>
            <a:r>
              <a:rPr lang="en-US" sz="2400" strike="noStrike" spc="-1">
                <a:solidFill>
                  <a:srgbClr val="0033CC"/>
                </a:solidFill>
                <a:uFill>
                  <a:solidFill>
                    <a:srgbClr val="FFFFFF"/>
                  </a:solidFill>
                </a:uFill>
                <a:latin typeface="Calibri"/>
                <a:ea typeface="MS PGothic"/>
              </a:rPr>
              <a:t>(point </a:t>
            </a:r>
            <a:r>
              <a:rPr lang="en-US" sz="2400" i="1" strike="noStrike" spc="-1">
                <a:solidFill>
                  <a:srgbClr val="0033CC"/>
                </a:solidFill>
                <a:uFill>
                  <a:solidFill>
                    <a:srgbClr val="FFFFFF"/>
                  </a:solidFill>
                </a:uFill>
                <a:latin typeface="Calibri"/>
                <a:ea typeface="MS PGothic"/>
              </a:rPr>
              <a:t>B</a:t>
            </a:r>
            <a:r>
              <a:rPr lang="en-US" sz="2400" strike="noStrike" spc="-1">
                <a:solidFill>
                  <a:srgbClr val="0033CC"/>
                </a:solidFill>
                <a:uFill>
                  <a:solidFill>
                    <a:srgbClr val="FFFFFF"/>
                  </a:solidFill>
                </a:uFill>
                <a:latin typeface="Calibri"/>
                <a:ea typeface="MS PGothic"/>
              </a:rPr>
              <a:t>).</a:t>
            </a:r>
            <a:endParaRPr lang="en-US" sz="1800" strike="noStrike" spc="-1">
              <a:solidFill>
                <a:srgbClr val="000000"/>
              </a:solidFill>
              <a:uFill>
                <a:solidFill>
                  <a:srgbClr val="FFFFFF"/>
                </a:solidFill>
              </a:uFill>
              <a:latin typeface="Arial"/>
            </a:endParaRPr>
          </a:p>
        </p:txBody>
      </p:sp>
      <p:sp>
        <p:nvSpPr>
          <p:cNvPr id="276" name="CustomShape 2"/>
          <p:cNvSpPr/>
          <p:nvPr/>
        </p:nvSpPr>
        <p:spPr>
          <a:xfrm>
            <a:off x="4284000" y="4911840"/>
            <a:ext cx="131760" cy="213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D</a:t>
            </a:r>
            <a:endParaRPr lang="en-US" sz="1800" strike="noStrike" spc="-1">
              <a:solidFill>
                <a:srgbClr val="000000"/>
              </a:solidFill>
              <a:uFill>
                <a:solidFill>
                  <a:srgbClr val="FFFFFF"/>
                </a:solidFill>
              </a:uFill>
              <a:latin typeface="Arial"/>
            </a:endParaRPr>
          </a:p>
        </p:txBody>
      </p:sp>
      <p:sp>
        <p:nvSpPr>
          <p:cNvPr id="277" name="CustomShape 3"/>
          <p:cNvSpPr/>
          <p:nvPr/>
        </p:nvSpPr>
        <p:spPr>
          <a:xfrm>
            <a:off x="3011400" y="1685880"/>
            <a:ext cx="1190160" cy="3319200"/>
          </a:xfrm>
          <a:custGeom>
            <a:avLst/>
            <a:gdLst/>
            <a:ahLst/>
            <a:cxnLst/>
            <a:rect l="l" t="t" r="r" b="b"/>
            <a:pathLst>
              <a:path w="199" h="526">
                <a:moveTo>
                  <a:pt x="0" y="0"/>
                </a:moveTo>
                <a:cubicBezTo>
                  <a:pt x="19" y="167"/>
                  <a:pt x="13" y="426"/>
                  <a:pt x="199" y="526"/>
                </a:cubicBezTo>
              </a:path>
            </a:pathLst>
          </a:custGeom>
          <a:noFill/>
          <a:ln w="30240">
            <a:solidFill>
              <a:srgbClr val="3C5DAA"/>
            </a:solidFill>
            <a:miter/>
          </a:ln>
        </p:spPr>
        <p:style>
          <a:lnRef idx="0">
            <a:scrgbClr r="0" g="0" b="0"/>
          </a:lnRef>
          <a:fillRef idx="0">
            <a:scrgbClr r="0" g="0" b="0"/>
          </a:fillRef>
          <a:effectRef idx="0">
            <a:scrgbClr r="0" g="0" b="0"/>
          </a:effectRef>
          <a:fontRef idx="minor"/>
        </p:style>
      </p:sp>
      <p:sp>
        <p:nvSpPr>
          <p:cNvPr id="278" name="Line 4"/>
          <p:cNvSpPr/>
          <p:nvPr/>
        </p:nvSpPr>
        <p:spPr>
          <a:xfrm flipV="1">
            <a:off x="2035080" y="5317920"/>
            <a:ext cx="125280" cy="74520"/>
          </a:xfrm>
          <a:prstGeom prst="line">
            <a:avLst/>
          </a:prstGeom>
          <a:ln w="6480">
            <a:solidFill>
              <a:srgbClr val="000000"/>
            </a:solidFill>
            <a:miter/>
          </a:ln>
        </p:spPr>
        <p:style>
          <a:lnRef idx="0">
            <a:scrgbClr r="0" g="0" b="0"/>
          </a:lnRef>
          <a:fillRef idx="0">
            <a:scrgbClr r="0" g="0" b="0"/>
          </a:fillRef>
          <a:effectRef idx="0">
            <a:scrgbClr r="0" g="0" b="0"/>
          </a:effectRef>
          <a:fontRef idx="minor"/>
        </p:style>
      </p:sp>
      <p:sp>
        <p:nvSpPr>
          <p:cNvPr id="279" name="Line 5"/>
          <p:cNvSpPr/>
          <p:nvPr/>
        </p:nvSpPr>
        <p:spPr>
          <a:xfrm>
            <a:off x="3877920" y="5759280"/>
            <a:ext cx="360" cy="149040"/>
          </a:xfrm>
          <a:prstGeom prst="line">
            <a:avLst/>
          </a:prstGeom>
          <a:ln w="6480">
            <a:solidFill>
              <a:srgbClr val="000000"/>
            </a:solidFill>
            <a:miter/>
          </a:ln>
        </p:spPr>
        <p:style>
          <a:lnRef idx="0">
            <a:scrgbClr r="0" g="0" b="0"/>
          </a:lnRef>
          <a:fillRef idx="0">
            <a:scrgbClr r="0" g="0" b="0"/>
          </a:fillRef>
          <a:effectRef idx="0">
            <a:scrgbClr r="0" g="0" b="0"/>
          </a:effectRef>
          <a:fontRef idx="minor"/>
        </p:style>
      </p:sp>
      <p:sp>
        <p:nvSpPr>
          <p:cNvPr id="280" name="Line 6"/>
          <p:cNvSpPr/>
          <p:nvPr/>
        </p:nvSpPr>
        <p:spPr>
          <a:xfrm>
            <a:off x="3562200" y="5759280"/>
            <a:ext cx="360" cy="149040"/>
          </a:xfrm>
          <a:prstGeom prst="line">
            <a:avLst/>
          </a:prstGeom>
          <a:ln w="6480">
            <a:solidFill>
              <a:srgbClr val="000000"/>
            </a:solidFill>
            <a:miter/>
          </a:ln>
        </p:spPr>
        <p:style>
          <a:lnRef idx="0">
            <a:scrgbClr r="0" g="0" b="0"/>
          </a:lnRef>
          <a:fillRef idx="0">
            <a:scrgbClr r="0" g="0" b="0"/>
          </a:fillRef>
          <a:effectRef idx="0">
            <a:scrgbClr r="0" g="0" b="0"/>
          </a:effectRef>
          <a:fontRef idx="minor"/>
        </p:style>
      </p:sp>
      <p:sp>
        <p:nvSpPr>
          <p:cNvPr id="281" name="CustomShape 7"/>
          <p:cNvSpPr/>
          <p:nvPr/>
        </p:nvSpPr>
        <p:spPr>
          <a:xfrm>
            <a:off x="3748680" y="5954760"/>
            <a:ext cx="39672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10.0</a:t>
            </a:r>
            <a:endParaRPr lang="en-US" sz="1800" strike="noStrike" spc="-1">
              <a:solidFill>
                <a:srgbClr val="000000"/>
              </a:solidFill>
              <a:uFill>
                <a:solidFill>
                  <a:srgbClr val="FFFFFF"/>
                </a:solidFill>
              </a:uFill>
              <a:latin typeface="Arial"/>
            </a:endParaRPr>
          </a:p>
        </p:txBody>
      </p:sp>
      <p:sp>
        <p:nvSpPr>
          <p:cNvPr id="282" name="CustomShape 8"/>
          <p:cNvSpPr/>
          <p:nvPr/>
        </p:nvSpPr>
        <p:spPr>
          <a:xfrm>
            <a:off x="3419280" y="5954760"/>
            <a:ext cx="28404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9.9</a:t>
            </a:r>
            <a:endParaRPr lang="en-US" sz="1800" strike="noStrike" spc="-1">
              <a:solidFill>
                <a:srgbClr val="000000"/>
              </a:solidFill>
              <a:uFill>
                <a:solidFill>
                  <a:srgbClr val="FFFFFF"/>
                </a:solidFill>
              </a:uFill>
              <a:latin typeface="Arial"/>
            </a:endParaRPr>
          </a:p>
        </p:txBody>
      </p:sp>
      <p:sp>
        <p:nvSpPr>
          <p:cNvPr id="283" name="Line 9"/>
          <p:cNvSpPr/>
          <p:nvPr/>
        </p:nvSpPr>
        <p:spPr>
          <a:xfrm>
            <a:off x="2100240" y="3450960"/>
            <a:ext cx="144360" cy="360"/>
          </a:xfrm>
          <a:prstGeom prst="line">
            <a:avLst/>
          </a:prstGeom>
          <a:ln w="6480">
            <a:solidFill>
              <a:srgbClr val="000000"/>
            </a:solidFill>
            <a:miter/>
          </a:ln>
        </p:spPr>
        <p:style>
          <a:lnRef idx="0">
            <a:scrgbClr r="0" g="0" b="0"/>
          </a:lnRef>
          <a:fillRef idx="0">
            <a:scrgbClr r="0" g="0" b="0"/>
          </a:fillRef>
          <a:effectRef idx="0">
            <a:scrgbClr r="0" g="0" b="0"/>
          </a:effectRef>
          <a:fontRef idx="minor"/>
        </p:style>
      </p:sp>
      <p:sp>
        <p:nvSpPr>
          <p:cNvPr id="284" name="Line 10"/>
          <p:cNvSpPr/>
          <p:nvPr/>
        </p:nvSpPr>
        <p:spPr>
          <a:xfrm>
            <a:off x="2100240" y="4313160"/>
            <a:ext cx="144360" cy="360"/>
          </a:xfrm>
          <a:prstGeom prst="line">
            <a:avLst/>
          </a:prstGeom>
          <a:ln w="6480">
            <a:solidFill>
              <a:srgbClr val="000000"/>
            </a:solidFill>
            <a:miter/>
          </a:ln>
        </p:spPr>
        <p:style>
          <a:lnRef idx="0">
            <a:scrgbClr r="0" g="0" b="0"/>
          </a:lnRef>
          <a:fillRef idx="0">
            <a:scrgbClr r="0" g="0" b="0"/>
          </a:fillRef>
          <a:effectRef idx="0">
            <a:scrgbClr r="0" g="0" b="0"/>
          </a:effectRef>
          <a:fontRef idx="minor"/>
        </p:style>
      </p:sp>
      <p:sp>
        <p:nvSpPr>
          <p:cNvPr id="285" name="CustomShape 11"/>
          <p:cNvSpPr/>
          <p:nvPr/>
        </p:nvSpPr>
        <p:spPr>
          <a:xfrm>
            <a:off x="1648080" y="3316320"/>
            <a:ext cx="3405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$21</a:t>
            </a:r>
            <a:endParaRPr lang="en-US" sz="1800" strike="noStrike" spc="-1">
              <a:solidFill>
                <a:srgbClr val="000000"/>
              </a:solidFill>
              <a:uFill>
                <a:solidFill>
                  <a:srgbClr val="FFFFFF"/>
                </a:solidFill>
              </a:uFill>
              <a:latin typeface="Arial"/>
            </a:endParaRPr>
          </a:p>
        </p:txBody>
      </p:sp>
      <p:sp>
        <p:nvSpPr>
          <p:cNvPr id="286" name="CustomShape 12"/>
          <p:cNvSpPr/>
          <p:nvPr/>
        </p:nvSpPr>
        <p:spPr>
          <a:xfrm>
            <a:off x="1767240" y="4179960"/>
            <a:ext cx="22788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20</a:t>
            </a:r>
            <a:endParaRPr lang="en-US" sz="1800" strike="noStrike" spc="-1">
              <a:solidFill>
                <a:srgbClr val="000000"/>
              </a:solidFill>
              <a:uFill>
                <a:solidFill>
                  <a:srgbClr val="FFFFFF"/>
                </a:solidFill>
              </a:uFill>
              <a:latin typeface="Arial"/>
            </a:endParaRPr>
          </a:p>
        </p:txBody>
      </p:sp>
      <p:sp>
        <p:nvSpPr>
          <p:cNvPr id="287" name="CustomShape 13"/>
          <p:cNvSpPr/>
          <p:nvPr/>
        </p:nvSpPr>
        <p:spPr>
          <a:xfrm>
            <a:off x="1163520" y="1103400"/>
            <a:ext cx="1923840" cy="21348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b="1" strike="noStrike" spc="-1">
                <a:solidFill>
                  <a:srgbClr val="000000"/>
                </a:solidFill>
                <a:uFill>
                  <a:solidFill>
                    <a:srgbClr val="FFFFFF"/>
                  </a:solidFill>
                </a:uFill>
                <a:latin typeface="Calibri"/>
                <a:ea typeface="MS PGothic"/>
              </a:rPr>
              <a:t>Price of vaccination</a:t>
            </a:r>
            <a:endParaRPr lang="en-US" sz="1800" strike="noStrike" spc="-1">
              <a:solidFill>
                <a:srgbClr val="000000"/>
              </a:solidFill>
              <a:uFill>
                <a:solidFill>
                  <a:srgbClr val="FFFFFF"/>
                </a:solidFill>
              </a:uFill>
              <a:latin typeface="Arial"/>
            </a:endParaRPr>
          </a:p>
        </p:txBody>
      </p:sp>
      <p:sp>
        <p:nvSpPr>
          <p:cNvPr id="288" name="CustomShape 14"/>
          <p:cNvSpPr/>
          <p:nvPr/>
        </p:nvSpPr>
        <p:spPr>
          <a:xfrm>
            <a:off x="1883880" y="5954760"/>
            <a:ext cx="11484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289" name="CustomShape 15"/>
          <p:cNvSpPr/>
          <p:nvPr/>
        </p:nvSpPr>
        <p:spPr>
          <a:xfrm>
            <a:off x="4365720" y="6067440"/>
            <a:ext cx="3590640" cy="21348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b="1" strike="noStrike" spc="-1">
                <a:solidFill>
                  <a:srgbClr val="000000"/>
                </a:solidFill>
                <a:uFill>
                  <a:solidFill>
                    <a:srgbClr val="FFFFFF"/>
                  </a:solidFill>
                </a:uFill>
                <a:latin typeface="Calibri"/>
                <a:ea typeface="MS PGothic"/>
              </a:rPr>
              <a:t>Quantity of vaccinations (millions)</a:t>
            </a:r>
            <a:endParaRPr lang="en-US" sz="1800" strike="noStrike" spc="-1">
              <a:solidFill>
                <a:srgbClr val="000000"/>
              </a:solidFill>
              <a:uFill>
                <a:solidFill>
                  <a:srgbClr val="FFFFFF"/>
                </a:solidFill>
              </a:uFill>
              <a:latin typeface="Arial"/>
            </a:endParaRPr>
          </a:p>
        </p:txBody>
      </p:sp>
      <p:sp>
        <p:nvSpPr>
          <p:cNvPr id="290" name="Line 16"/>
          <p:cNvSpPr/>
          <p:nvPr/>
        </p:nvSpPr>
        <p:spPr>
          <a:xfrm flipV="1">
            <a:off x="2100240" y="1471320"/>
            <a:ext cx="360" cy="3882960"/>
          </a:xfrm>
          <a:prstGeom prst="line">
            <a:avLst/>
          </a:prstGeom>
          <a:ln w="6480">
            <a:solidFill>
              <a:srgbClr val="000000"/>
            </a:solidFill>
            <a:miter/>
          </a:ln>
        </p:spPr>
        <p:style>
          <a:lnRef idx="0">
            <a:scrgbClr r="0" g="0" b="0"/>
          </a:lnRef>
          <a:fillRef idx="0">
            <a:scrgbClr r="0" g="0" b="0"/>
          </a:fillRef>
          <a:effectRef idx="0">
            <a:scrgbClr r="0" g="0" b="0"/>
          </a:effectRef>
          <a:fontRef idx="minor"/>
        </p:style>
      </p:sp>
      <p:sp>
        <p:nvSpPr>
          <p:cNvPr id="291" name="CustomShape 17"/>
          <p:cNvSpPr/>
          <p:nvPr/>
        </p:nvSpPr>
        <p:spPr>
          <a:xfrm>
            <a:off x="2100240" y="5456160"/>
            <a:ext cx="429840" cy="452160"/>
          </a:xfrm>
          <a:custGeom>
            <a:avLst/>
            <a:gdLst/>
            <a:ahLst/>
            <a:cxnLst/>
            <a:rect l="l" t="t" r="r" b="b"/>
            <a:pathLst>
              <a:path w="170" h="170">
                <a:moveTo>
                  <a:pt x="170" y="170"/>
                </a:moveTo>
                <a:lnTo>
                  <a:pt x="0" y="170"/>
                </a:lnTo>
                <a:lnTo>
                  <a:pt x="0" y="0"/>
                </a:lnTo>
              </a:path>
            </a:pathLst>
          </a:custGeom>
          <a:noFill/>
          <a:ln w="6480">
            <a:solidFill>
              <a:srgbClr val="000000"/>
            </a:solidFill>
            <a:miter/>
          </a:ln>
        </p:spPr>
        <p:style>
          <a:lnRef idx="0">
            <a:scrgbClr r="0" g="0" b="0"/>
          </a:lnRef>
          <a:fillRef idx="0">
            <a:scrgbClr r="0" g="0" b="0"/>
          </a:fillRef>
          <a:effectRef idx="0">
            <a:scrgbClr r="0" g="0" b="0"/>
          </a:effectRef>
          <a:fontRef idx="minor"/>
        </p:style>
      </p:sp>
      <p:sp>
        <p:nvSpPr>
          <p:cNvPr id="292" name="Line 18"/>
          <p:cNvSpPr/>
          <p:nvPr/>
        </p:nvSpPr>
        <p:spPr>
          <a:xfrm flipH="1">
            <a:off x="2627280" y="5908320"/>
            <a:ext cx="4143240" cy="360"/>
          </a:xfrm>
          <a:prstGeom prst="line">
            <a:avLst/>
          </a:prstGeom>
          <a:ln w="6480">
            <a:solidFill>
              <a:srgbClr val="000000"/>
            </a:solidFill>
            <a:miter/>
          </a:ln>
        </p:spPr>
        <p:style>
          <a:lnRef idx="0">
            <a:scrgbClr r="0" g="0" b="0"/>
          </a:lnRef>
          <a:fillRef idx="0">
            <a:scrgbClr r="0" g="0" b="0"/>
          </a:fillRef>
          <a:effectRef idx="0">
            <a:scrgbClr r="0" g="0" b="0"/>
          </a:effectRef>
          <a:fontRef idx="minor"/>
        </p:style>
      </p:sp>
      <p:sp>
        <p:nvSpPr>
          <p:cNvPr id="293" name="Line 19"/>
          <p:cNvSpPr/>
          <p:nvPr/>
        </p:nvSpPr>
        <p:spPr>
          <a:xfrm flipV="1">
            <a:off x="2035080" y="5419440"/>
            <a:ext cx="125280" cy="74880"/>
          </a:xfrm>
          <a:prstGeom prst="line">
            <a:avLst/>
          </a:prstGeom>
          <a:ln w="6480">
            <a:solidFill>
              <a:srgbClr val="000000"/>
            </a:solidFill>
            <a:miter/>
          </a:ln>
        </p:spPr>
        <p:style>
          <a:lnRef idx="0">
            <a:scrgbClr r="0" g="0" b="0"/>
          </a:lnRef>
          <a:fillRef idx="0">
            <a:scrgbClr r="0" g="0" b="0"/>
          </a:fillRef>
          <a:effectRef idx="0">
            <a:scrgbClr r="0" g="0" b="0"/>
          </a:effectRef>
          <a:fontRef idx="minor"/>
        </p:style>
      </p:sp>
      <p:sp>
        <p:nvSpPr>
          <p:cNvPr id="294" name="Line 20"/>
          <p:cNvSpPr/>
          <p:nvPr/>
        </p:nvSpPr>
        <p:spPr>
          <a:xfrm flipH="1">
            <a:off x="2495520" y="5848200"/>
            <a:ext cx="72720" cy="125280"/>
          </a:xfrm>
          <a:prstGeom prst="line">
            <a:avLst/>
          </a:prstGeom>
          <a:ln w="6480">
            <a:solidFill>
              <a:srgbClr val="000000"/>
            </a:solidFill>
            <a:miter/>
          </a:ln>
        </p:spPr>
        <p:style>
          <a:lnRef idx="0">
            <a:scrgbClr r="0" g="0" b="0"/>
          </a:lnRef>
          <a:fillRef idx="0">
            <a:scrgbClr r="0" g="0" b="0"/>
          </a:fillRef>
          <a:effectRef idx="0">
            <a:scrgbClr r="0" g="0" b="0"/>
          </a:effectRef>
          <a:fontRef idx="minor"/>
        </p:style>
      </p:sp>
      <p:sp>
        <p:nvSpPr>
          <p:cNvPr id="295" name="Line 21"/>
          <p:cNvSpPr/>
          <p:nvPr/>
        </p:nvSpPr>
        <p:spPr>
          <a:xfrm flipH="1">
            <a:off x="2592360" y="5848200"/>
            <a:ext cx="69840" cy="125280"/>
          </a:xfrm>
          <a:prstGeom prst="line">
            <a:avLst/>
          </a:prstGeom>
          <a:ln w="6480">
            <a:solidFill>
              <a:srgbClr val="000000"/>
            </a:solidFill>
            <a:miter/>
          </a:ln>
        </p:spPr>
        <p:style>
          <a:lnRef idx="0">
            <a:scrgbClr r="0" g="0" b="0"/>
          </a:lnRef>
          <a:fillRef idx="0">
            <a:scrgbClr r="0" g="0" b="0"/>
          </a:fillRef>
          <a:effectRef idx="0">
            <a:scrgbClr r="0" g="0" b="0"/>
          </a:effectRef>
          <a:fontRef idx="minor"/>
        </p:style>
      </p:sp>
      <p:sp>
        <p:nvSpPr>
          <p:cNvPr id="296" name="CustomShape 22"/>
          <p:cNvSpPr/>
          <p:nvPr/>
        </p:nvSpPr>
        <p:spPr>
          <a:xfrm>
            <a:off x="3309120" y="3141720"/>
            <a:ext cx="111960" cy="213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B</a:t>
            </a:r>
            <a:endParaRPr lang="en-US" sz="1800" strike="noStrike" spc="-1">
              <a:solidFill>
                <a:srgbClr val="000000"/>
              </a:solidFill>
              <a:uFill>
                <a:solidFill>
                  <a:srgbClr val="FFFFFF"/>
                </a:solidFill>
              </a:uFill>
              <a:latin typeface="Arial"/>
            </a:endParaRPr>
          </a:p>
        </p:txBody>
      </p:sp>
      <p:sp>
        <p:nvSpPr>
          <p:cNvPr id="297" name="CustomShape 23"/>
          <p:cNvSpPr/>
          <p:nvPr/>
        </p:nvSpPr>
        <p:spPr>
          <a:xfrm>
            <a:off x="3165480" y="3402360"/>
            <a:ext cx="118800" cy="1342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298" name="CustomShape 24"/>
          <p:cNvSpPr/>
          <p:nvPr/>
        </p:nvSpPr>
        <p:spPr>
          <a:xfrm>
            <a:off x="3214800" y="3607200"/>
            <a:ext cx="2196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299" name="CustomShape 25"/>
          <p:cNvSpPr/>
          <p:nvPr/>
        </p:nvSpPr>
        <p:spPr>
          <a:xfrm>
            <a:off x="3214800" y="3729960"/>
            <a:ext cx="2196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00" name="CustomShape 26"/>
          <p:cNvSpPr/>
          <p:nvPr/>
        </p:nvSpPr>
        <p:spPr>
          <a:xfrm>
            <a:off x="3214800" y="3844080"/>
            <a:ext cx="21960" cy="270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01" name="CustomShape 27"/>
          <p:cNvSpPr/>
          <p:nvPr/>
        </p:nvSpPr>
        <p:spPr>
          <a:xfrm>
            <a:off x="3214800" y="3965040"/>
            <a:ext cx="2196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02" name="CustomShape 28"/>
          <p:cNvSpPr/>
          <p:nvPr/>
        </p:nvSpPr>
        <p:spPr>
          <a:xfrm>
            <a:off x="3214800" y="4087800"/>
            <a:ext cx="21960" cy="270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03" name="CustomShape 29"/>
          <p:cNvSpPr/>
          <p:nvPr/>
        </p:nvSpPr>
        <p:spPr>
          <a:xfrm>
            <a:off x="3214800" y="4208760"/>
            <a:ext cx="2196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04" name="CustomShape 30"/>
          <p:cNvSpPr/>
          <p:nvPr/>
        </p:nvSpPr>
        <p:spPr>
          <a:xfrm>
            <a:off x="3214800" y="4323240"/>
            <a:ext cx="2196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05" name="CustomShape 31"/>
          <p:cNvSpPr/>
          <p:nvPr/>
        </p:nvSpPr>
        <p:spPr>
          <a:xfrm>
            <a:off x="3214800" y="4446000"/>
            <a:ext cx="21960" cy="270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06" name="CustomShape 32"/>
          <p:cNvSpPr/>
          <p:nvPr/>
        </p:nvSpPr>
        <p:spPr>
          <a:xfrm>
            <a:off x="3214800" y="4568760"/>
            <a:ext cx="21960" cy="270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07" name="CustomShape 33"/>
          <p:cNvSpPr/>
          <p:nvPr/>
        </p:nvSpPr>
        <p:spPr>
          <a:xfrm>
            <a:off x="3214800" y="4682880"/>
            <a:ext cx="21960" cy="270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08" name="CustomShape 34"/>
          <p:cNvSpPr/>
          <p:nvPr/>
        </p:nvSpPr>
        <p:spPr>
          <a:xfrm>
            <a:off x="3214800" y="4803840"/>
            <a:ext cx="2196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09" name="CustomShape 35"/>
          <p:cNvSpPr/>
          <p:nvPr/>
        </p:nvSpPr>
        <p:spPr>
          <a:xfrm>
            <a:off x="3214800" y="4926600"/>
            <a:ext cx="21960" cy="270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10" name="CustomShape 36"/>
          <p:cNvSpPr/>
          <p:nvPr/>
        </p:nvSpPr>
        <p:spPr>
          <a:xfrm>
            <a:off x="3214800" y="5042520"/>
            <a:ext cx="2196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11" name="CustomShape 37"/>
          <p:cNvSpPr/>
          <p:nvPr/>
        </p:nvSpPr>
        <p:spPr>
          <a:xfrm>
            <a:off x="3214800" y="5162040"/>
            <a:ext cx="2196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12" name="CustomShape 38"/>
          <p:cNvSpPr/>
          <p:nvPr/>
        </p:nvSpPr>
        <p:spPr>
          <a:xfrm>
            <a:off x="3214800" y="5284800"/>
            <a:ext cx="21960" cy="270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13" name="CustomShape 39"/>
          <p:cNvSpPr/>
          <p:nvPr/>
        </p:nvSpPr>
        <p:spPr>
          <a:xfrm>
            <a:off x="3214800" y="5405760"/>
            <a:ext cx="2196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14" name="CustomShape 40"/>
          <p:cNvSpPr/>
          <p:nvPr/>
        </p:nvSpPr>
        <p:spPr>
          <a:xfrm>
            <a:off x="3214800" y="5523480"/>
            <a:ext cx="2196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15" name="CustomShape 41"/>
          <p:cNvSpPr/>
          <p:nvPr/>
        </p:nvSpPr>
        <p:spPr>
          <a:xfrm>
            <a:off x="3214800" y="5644440"/>
            <a:ext cx="21960" cy="270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16" name="CustomShape 42"/>
          <p:cNvSpPr/>
          <p:nvPr/>
        </p:nvSpPr>
        <p:spPr>
          <a:xfrm>
            <a:off x="3214800" y="5767200"/>
            <a:ext cx="2196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17" name="CustomShape 43"/>
          <p:cNvSpPr/>
          <p:nvPr/>
        </p:nvSpPr>
        <p:spPr>
          <a:xfrm>
            <a:off x="3214800" y="5881320"/>
            <a:ext cx="21960" cy="270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18" name="CustomShape 44"/>
          <p:cNvSpPr/>
          <p:nvPr/>
        </p:nvSpPr>
        <p:spPr>
          <a:xfrm>
            <a:off x="1962000" y="3457080"/>
            <a:ext cx="2340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19" name="CustomShape 45"/>
          <p:cNvSpPr/>
          <p:nvPr/>
        </p:nvSpPr>
        <p:spPr>
          <a:xfrm>
            <a:off x="2070000" y="3457080"/>
            <a:ext cx="2340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20" name="CustomShape 46"/>
          <p:cNvSpPr/>
          <p:nvPr/>
        </p:nvSpPr>
        <p:spPr>
          <a:xfrm>
            <a:off x="2178000" y="3457080"/>
            <a:ext cx="2340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21" name="CustomShape 47"/>
          <p:cNvSpPr/>
          <p:nvPr/>
        </p:nvSpPr>
        <p:spPr>
          <a:xfrm>
            <a:off x="2286000" y="3457080"/>
            <a:ext cx="2340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22" name="CustomShape 48"/>
          <p:cNvSpPr/>
          <p:nvPr/>
        </p:nvSpPr>
        <p:spPr>
          <a:xfrm>
            <a:off x="2392200" y="3457080"/>
            <a:ext cx="2520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23" name="CustomShape 49"/>
          <p:cNvSpPr/>
          <p:nvPr/>
        </p:nvSpPr>
        <p:spPr>
          <a:xfrm>
            <a:off x="2505240" y="3457080"/>
            <a:ext cx="2664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24" name="CustomShape 50"/>
          <p:cNvSpPr/>
          <p:nvPr/>
        </p:nvSpPr>
        <p:spPr>
          <a:xfrm>
            <a:off x="2614680" y="3457080"/>
            <a:ext cx="2196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25" name="CustomShape 51"/>
          <p:cNvSpPr/>
          <p:nvPr/>
        </p:nvSpPr>
        <p:spPr>
          <a:xfrm>
            <a:off x="2720880" y="3457080"/>
            <a:ext cx="2520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26" name="CustomShape 52"/>
          <p:cNvSpPr/>
          <p:nvPr/>
        </p:nvSpPr>
        <p:spPr>
          <a:xfrm>
            <a:off x="2830680" y="3457080"/>
            <a:ext cx="2196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27" name="CustomShape 53"/>
          <p:cNvSpPr/>
          <p:nvPr/>
        </p:nvSpPr>
        <p:spPr>
          <a:xfrm>
            <a:off x="2936880" y="3457080"/>
            <a:ext cx="2520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28" name="CustomShape 54"/>
          <p:cNvSpPr/>
          <p:nvPr/>
        </p:nvSpPr>
        <p:spPr>
          <a:xfrm>
            <a:off x="3046320" y="3457080"/>
            <a:ext cx="21960" cy="28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29" name="CustomShape 55"/>
          <p:cNvSpPr/>
          <p:nvPr/>
        </p:nvSpPr>
        <p:spPr>
          <a:xfrm>
            <a:off x="3618720" y="4030560"/>
            <a:ext cx="111960" cy="213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A</a:t>
            </a:r>
            <a:endParaRPr lang="en-US" sz="1800" strike="noStrike" spc="-1">
              <a:solidFill>
                <a:srgbClr val="000000"/>
              </a:solidFill>
              <a:uFill>
                <a:solidFill>
                  <a:srgbClr val="FFFFFF"/>
                </a:solidFill>
              </a:uFill>
              <a:latin typeface="Arial"/>
            </a:endParaRPr>
          </a:p>
        </p:txBody>
      </p:sp>
      <p:sp>
        <p:nvSpPr>
          <p:cNvPr id="330" name="CustomShape 56"/>
          <p:cNvSpPr/>
          <p:nvPr/>
        </p:nvSpPr>
        <p:spPr>
          <a:xfrm>
            <a:off x="3483000" y="4273560"/>
            <a:ext cx="120240" cy="12492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31" name="CustomShape 57"/>
          <p:cNvSpPr/>
          <p:nvPr/>
        </p:nvSpPr>
        <p:spPr>
          <a:xfrm>
            <a:off x="3525840" y="4494240"/>
            <a:ext cx="2196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32" name="CustomShape 58"/>
          <p:cNvSpPr/>
          <p:nvPr/>
        </p:nvSpPr>
        <p:spPr>
          <a:xfrm>
            <a:off x="3525840" y="4600440"/>
            <a:ext cx="2196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33" name="CustomShape 59"/>
          <p:cNvSpPr/>
          <p:nvPr/>
        </p:nvSpPr>
        <p:spPr>
          <a:xfrm>
            <a:off x="3525840" y="4713120"/>
            <a:ext cx="2196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34" name="CustomShape 60"/>
          <p:cNvSpPr/>
          <p:nvPr/>
        </p:nvSpPr>
        <p:spPr>
          <a:xfrm>
            <a:off x="3525840" y="4827600"/>
            <a:ext cx="2196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35" name="CustomShape 61"/>
          <p:cNvSpPr/>
          <p:nvPr/>
        </p:nvSpPr>
        <p:spPr>
          <a:xfrm>
            <a:off x="3525840" y="4935600"/>
            <a:ext cx="2196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36" name="CustomShape 62"/>
          <p:cNvSpPr/>
          <p:nvPr/>
        </p:nvSpPr>
        <p:spPr>
          <a:xfrm>
            <a:off x="3525840" y="5046840"/>
            <a:ext cx="2196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37" name="CustomShape 63"/>
          <p:cNvSpPr/>
          <p:nvPr/>
        </p:nvSpPr>
        <p:spPr>
          <a:xfrm>
            <a:off x="3525840" y="5160960"/>
            <a:ext cx="2196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38" name="CustomShape 64"/>
          <p:cNvSpPr/>
          <p:nvPr/>
        </p:nvSpPr>
        <p:spPr>
          <a:xfrm>
            <a:off x="3525840" y="5273640"/>
            <a:ext cx="2196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39" name="CustomShape 65"/>
          <p:cNvSpPr/>
          <p:nvPr/>
        </p:nvSpPr>
        <p:spPr>
          <a:xfrm>
            <a:off x="3525840" y="5383080"/>
            <a:ext cx="2196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40" name="CustomShape 66"/>
          <p:cNvSpPr/>
          <p:nvPr/>
        </p:nvSpPr>
        <p:spPr>
          <a:xfrm>
            <a:off x="3525840" y="5495760"/>
            <a:ext cx="2196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41" name="CustomShape 67"/>
          <p:cNvSpPr/>
          <p:nvPr/>
        </p:nvSpPr>
        <p:spPr>
          <a:xfrm>
            <a:off x="3525840" y="5610240"/>
            <a:ext cx="2196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42" name="CustomShape 68"/>
          <p:cNvSpPr/>
          <p:nvPr/>
        </p:nvSpPr>
        <p:spPr>
          <a:xfrm>
            <a:off x="3525840" y="5716440"/>
            <a:ext cx="2196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43" name="CustomShape 69"/>
          <p:cNvSpPr/>
          <p:nvPr/>
        </p:nvSpPr>
        <p:spPr>
          <a:xfrm>
            <a:off x="1962000" y="4324320"/>
            <a:ext cx="234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44" name="CustomShape 70"/>
          <p:cNvSpPr/>
          <p:nvPr/>
        </p:nvSpPr>
        <p:spPr>
          <a:xfrm>
            <a:off x="2070000" y="4324320"/>
            <a:ext cx="234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45" name="CustomShape 71"/>
          <p:cNvSpPr/>
          <p:nvPr/>
        </p:nvSpPr>
        <p:spPr>
          <a:xfrm>
            <a:off x="2178000" y="4324320"/>
            <a:ext cx="234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46" name="CustomShape 72"/>
          <p:cNvSpPr/>
          <p:nvPr/>
        </p:nvSpPr>
        <p:spPr>
          <a:xfrm>
            <a:off x="2286000" y="4324320"/>
            <a:ext cx="234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47" name="CustomShape 73"/>
          <p:cNvSpPr/>
          <p:nvPr/>
        </p:nvSpPr>
        <p:spPr>
          <a:xfrm>
            <a:off x="2392200" y="4324320"/>
            <a:ext cx="252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48" name="CustomShape 74"/>
          <p:cNvSpPr/>
          <p:nvPr/>
        </p:nvSpPr>
        <p:spPr>
          <a:xfrm>
            <a:off x="2505240" y="4324320"/>
            <a:ext cx="2664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49" name="CustomShape 75"/>
          <p:cNvSpPr/>
          <p:nvPr/>
        </p:nvSpPr>
        <p:spPr>
          <a:xfrm>
            <a:off x="2614680" y="4324320"/>
            <a:ext cx="2196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50" name="CustomShape 76"/>
          <p:cNvSpPr/>
          <p:nvPr/>
        </p:nvSpPr>
        <p:spPr>
          <a:xfrm>
            <a:off x="2720880" y="4324320"/>
            <a:ext cx="252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51" name="CustomShape 77"/>
          <p:cNvSpPr/>
          <p:nvPr/>
        </p:nvSpPr>
        <p:spPr>
          <a:xfrm>
            <a:off x="2830680" y="4324320"/>
            <a:ext cx="2196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52" name="CustomShape 78"/>
          <p:cNvSpPr/>
          <p:nvPr/>
        </p:nvSpPr>
        <p:spPr>
          <a:xfrm>
            <a:off x="2936880" y="4324320"/>
            <a:ext cx="252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53" name="CustomShape 79"/>
          <p:cNvSpPr/>
          <p:nvPr/>
        </p:nvSpPr>
        <p:spPr>
          <a:xfrm>
            <a:off x="3046320" y="4324320"/>
            <a:ext cx="2196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54" name="CustomShape 80"/>
          <p:cNvSpPr/>
          <p:nvPr/>
        </p:nvSpPr>
        <p:spPr>
          <a:xfrm>
            <a:off x="3152880" y="4324320"/>
            <a:ext cx="252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55" name="CustomShape 81"/>
          <p:cNvSpPr/>
          <p:nvPr/>
        </p:nvSpPr>
        <p:spPr>
          <a:xfrm>
            <a:off x="3262320" y="4324320"/>
            <a:ext cx="2196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56" name="CustomShape 82"/>
          <p:cNvSpPr/>
          <p:nvPr/>
        </p:nvSpPr>
        <p:spPr>
          <a:xfrm>
            <a:off x="3376440" y="4324320"/>
            <a:ext cx="2196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357" name="TextShape 83"/>
          <p:cNvSpPr txBox="1"/>
          <p:nvPr/>
        </p:nvSpPr>
        <p:spPr>
          <a:xfrm>
            <a:off x="826920" y="60480"/>
            <a:ext cx="8137080" cy="55512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Demand for Vaccination</a:t>
            </a:r>
            <a:endParaRPr lang="id-ID" sz="3200" strike="noStrike" spc="-1">
              <a:solidFill>
                <a:srgbClr val="000000"/>
              </a:solidFill>
              <a:uFill>
                <a:solidFill>
                  <a:srgbClr val="FFFFFF"/>
                </a:solidFill>
              </a:u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CustomShape 1"/>
          <p:cNvSpPr/>
          <p:nvPr/>
        </p:nvSpPr>
        <p:spPr>
          <a:xfrm>
            <a:off x="936720" y="914400"/>
            <a:ext cx="8098920" cy="540972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p:txBody>
      </p:sp>
      <p:sp>
        <p:nvSpPr>
          <p:cNvPr id="359" name="TextShape 2"/>
          <p:cNvSpPr txBox="1"/>
          <p:nvPr/>
        </p:nvSpPr>
        <p:spPr>
          <a:xfrm>
            <a:off x="755640" y="0"/>
            <a:ext cx="8388000" cy="68544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Calculating the Price Elasticity of Demand </a:t>
            </a:r>
            <a:endParaRPr lang="id-ID" sz="3200" strike="noStrike" spc="-1">
              <a:solidFill>
                <a:srgbClr val="000000"/>
              </a:solidFill>
              <a:uFill>
                <a:solidFill>
                  <a:srgbClr val="FFFFFF"/>
                </a:solidFill>
              </a:uFill>
              <a:latin typeface="Calibri"/>
            </a:endParaRPr>
          </a:p>
        </p:txBody>
      </p:sp>
      <p:pic>
        <p:nvPicPr>
          <p:cNvPr id="360" name="Picture 10"/>
          <p:cNvPicPr/>
          <p:nvPr/>
        </p:nvPicPr>
        <p:blipFill>
          <a:blip r:embed="rId3"/>
          <a:stretch/>
        </p:blipFill>
        <p:spPr>
          <a:xfrm>
            <a:off x="1038240" y="1341360"/>
            <a:ext cx="7926120" cy="658440"/>
          </a:xfrm>
          <a:prstGeom prst="rect">
            <a:avLst/>
          </a:prstGeom>
          <a:ln w="9360">
            <a:noFill/>
          </a:ln>
        </p:spPr>
      </p:pic>
      <p:pic>
        <p:nvPicPr>
          <p:cNvPr id="361" name="Picture 11"/>
          <p:cNvPicPr/>
          <p:nvPr/>
        </p:nvPicPr>
        <p:blipFill>
          <a:blip r:embed="rId4"/>
          <a:stretch/>
        </p:blipFill>
        <p:spPr>
          <a:xfrm>
            <a:off x="2433600" y="2595600"/>
            <a:ext cx="5090760" cy="748800"/>
          </a:xfrm>
          <a:prstGeom prst="rect">
            <a:avLst/>
          </a:prstGeom>
          <a:ln w="9360">
            <a:noFill/>
          </a:ln>
        </p:spPr>
      </p:pic>
      <p:pic>
        <p:nvPicPr>
          <p:cNvPr id="362" name="Picture 12"/>
          <p:cNvPicPr/>
          <p:nvPr/>
        </p:nvPicPr>
        <p:blipFill>
          <a:blip r:embed="rId5"/>
          <a:stretch/>
        </p:blipFill>
        <p:spPr>
          <a:xfrm>
            <a:off x="977760" y="3789360"/>
            <a:ext cx="8027640" cy="1077480"/>
          </a:xfrm>
          <a:prstGeom prst="rect">
            <a:avLst/>
          </a:prstGeom>
          <a:ln w="9360">
            <a:noFill/>
          </a:ln>
        </p:spPr>
      </p:pic>
      <p:pic>
        <p:nvPicPr>
          <p:cNvPr id="363" name="Picture 13"/>
          <p:cNvPicPr/>
          <p:nvPr/>
        </p:nvPicPr>
        <p:blipFill>
          <a:blip r:embed="rId6"/>
          <a:stretch/>
        </p:blipFill>
        <p:spPr>
          <a:xfrm>
            <a:off x="2355840" y="5186520"/>
            <a:ext cx="5311440" cy="904680"/>
          </a:xfrm>
          <a:prstGeom prst="rect">
            <a:avLst/>
          </a:prstGeom>
          <a:ln w="936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0"/>
                                        </p:tgtEl>
                                        <p:attrNameLst>
                                          <p:attrName>style.visibility</p:attrName>
                                        </p:attrNameLst>
                                      </p:cBhvr>
                                      <p:to>
                                        <p:strVal val="visible"/>
                                      </p:to>
                                    </p:set>
                                    <p:animEffect transition="in" filter="wipe(left)">
                                      <p:cBhvr additive="repl">
                                        <p:cTn id="7" dur="500"/>
                                        <p:tgtEl>
                                          <p:spTgt spid="3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1"/>
                                        </p:tgtEl>
                                        <p:attrNameLst>
                                          <p:attrName>style.visibility</p:attrName>
                                        </p:attrNameLst>
                                      </p:cBhvr>
                                      <p:to>
                                        <p:strVal val="visible"/>
                                      </p:to>
                                    </p:set>
                                    <p:animEffect transition="in" filter="wipe(left)">
                                      <p:cBhvr additive="repl">
                                        <p:cTn id="12" dur="500"/>
                                        <p:tgtEl>
                                          <p:spTgt spid="3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62"/>
                                        </p:tgtEl>
                                        <p:attrNameLst>
                                          <p:attrName>style.visibility</p:attrName>
                                        </p:attrNameLst>
                                      </p:cBhvr>
                                      <p:to>
                                        <p:strVal val="visible"/>
                                      </p:to>
                                    </p:set>
                                    <p:animEffect transition="in" filter="wipe(left)">
                                      <p:cBhvr additive="repl">
                                        <p:cTn id="17" dur="500"/>
                                        <p:tgtEl>
                                          <p:spTgt spid="36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63"/>
                                        </p:tgtEl>
                                        <p:attrNameLst>
                                          <p:attrName>style.visibility</p:attrName>
                                        </p:attrNameLst>
                                      </p:cBhvr>
                                      <p:to>
                                        <p:strVal val="visible"/>
                                      </p:to>
                                    </p:set>
                                    <p:animEffect transition="in" filter="wipe(left)">
                                      <p:cBhvr additive="repl">
                                        <p:cTn id="22" dur="500"/>
                                        <p:tgtEl>
                                          <p:spTgt spid="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CustomShape 1"/>
          <p:cNvSpPr/>
          <p:nvPr/>
        </p:nvSpPr>
        <p:spPr>
          <a:xfrm>
            <a:off x="1044720" y="2637000"/>
            <a:ext cx="7919640" cy="403200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p:txBody>
      </p:sp>
      <p:sp>
        <p:nvSpPr>
          <p:cNvPr id="365" name="TextShape 2"/>
          <p:cNvSpPr txBox="1"/>
          <p:nvPr/>
        </p:nvSpPr>
        <p:spPr>
          <a:xfrm>
            <a:off x="826920" y="60480"/>
            <a:ext cx="8322840" cy="55512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Using the Midpoint Method</a:t>
            </a:r>
            <a:endParaRPr lang="id-ID" sz="3200" strike="noStrike" spc="-1">
              <a:solidFill>
                <a:srgbClr val="000000"/>
              </a:solidFill>
              <a:uFill>
                <a:solidFill>
                  <a:srgbClr val="FFFFFF"/>
                </a:solidFill>
              </a:uFill>
              <a:latin typeface="Calibri"/>
            </a:endParaRPr>
          </a:p>
        </p:txBody>
      </p:sp>
      <p:sp>
        <p:nvSpPr>
          <p:cNvPr id="366" name="CustomShape 3"/>
          <p:cNvSpPr/>
          <p:nvPr/>
        </p:nvSpPr>
        <p:spPr>
          <a:xfrm>
            <a:off x="0" y="0"/>
            <a:ext cx="9143640" cy="360"/>
          </a:xfrm>
          <a:prstGeom prst="rect">
            <a:avLst/>
          </a:prstGeom>
          <a:noFill/>
          <a:ln w="9360">
            <a:noFill/>
          </a:ln>
        </p:spPr>
        <p:style>
          <a:lnRef idx="0">
            <a:scrgbClr r="0" g="0" b="0"/>
          </a:lnRef>
          <a:fillRef idx="0">
            <a:scrgbClr r="0" g="0" b="0"/>
          </a:fillRef>
          <a:effectRef idx="0">
            <a:scrgbClr r="0" g="0" b="0"/>
          </a:effectRef>
          <a:fontRef idx="minor"/>
        </p:style>
      </p:sp>
      <p:pic>
        <p:nvPicPr>
          <p:cNvPr id="367" name="Picture 7"/>
          <p:cNvPicPr/>
          <p:nvPr/>
        </p:nvPicPr>
        <p:blipFill>
          <a:blip r:embed="rId3"/>
          <a:stretch/>
        </p:blipFill>
        <p:spPr>
          <a:xfrm>
            <a:off x="2771640" y="2689200"/>
            <a:ext cx="5952600" cy="1171080"/>
          </a:xfrm>
          <a:prstGeom prst="rect">
            <a:avLst/>
          </a:prstGeom>
          <a:ln w="9360">
            <a:noFill/>
          </a:ln>
        </p:spPr>
      </p:pic>
      <p:pic>
        <p:nvPicPr>
          <p:cNvPr id="368" name="Picture 9"/>
          <p:cNvPicPr/>
          <p:nvPr/>
        </p:nvPicPr>
        <p:blipFill>
          <a:blip r:embed="rId4"/>
          <a:stretch/>
        </p:blipFill>
        <p:spPr>
          <a:xfrm>
            <a:off x="1116000" y="3716280"/>
            <a:ext cx="7124400" cy="980640"/>
          </a:xfrm>
          <a:prstGeom prst="rect">
            <a:avLst/>
          </a:prstGeom>
          <a:ln w="9360">
            <a:noFill/>
          </a:ln>
        </p:spPr>
      </p:pic>
      <p:pic>
        <p:nvPicPr>
          <p:cNvPr id="369" name="Picture 10"/>
          <p:cNvPicPr/>
          <p:nvPr/>
        </p:nvPicPr>
        <p:blipFill>
          <a:blip r:embed="rId5"/>
          <a:stretch/>
        </p:blipFill>
        <p:spPr>
          <a:xfrm>
            <a:off x="2324160" y="4653000"/>
            <a:ext cx="5776560" cy="1871280"/>
          </a:xfrm>
          <a:prstGeom prst="rect">
            <a:avLst/>
          </a:prstGeom>
          <a:ln w="9360">
            <a:noFill/>
          </a:ln>
        </p:spPr>
      </p:pic>
      <p:sp>
        <p:nvSpPr>
          <p:cNvPr id="370" name="CustomShape 4"/>
          <p:cNvSpPr/>
          <p:nvPr/>
        </p:nvSpPr>
        <p:spPr>
          <a:xfrm>
            <a:off x="900000" y="836640"/>
            <a:ext cx="7938720" cy="1655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230040" indent="-22968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The </a:t>
            </a:r>
            <a:r>
              <a:rPr lang="en-US" sz="2500" b="1" strike="noStrike" spc="-1">
                <a:solidFill>
                  <a:srgbClr val="000000"/>
                </a:solidFill>
                <a:uFill>
                  <a:solidFill>
                    <a:srgbClr val="FFFFFF"/>
                  </a:solidFill>
                </a:uFill>
                <a:latin typeface="Calibri"/>
                <a:ea typeface="MS PGothic"/>
              </a:rPr>
              <a:t>midpoint method </a:t>
            </a:r>
            <a:r>
              <a:rPr lang="en-US" sz="2500" strike="noStrike" spc="-1">
                <a:solidFill>
                  <a:srgbClr val="000000"/>
                </a:solidFill>
                <a:uFill>
                  <a:solidFill>
                    <a:srgbClr val="FFFFFF"/>
                  </a:solidFill>
                </a:uFill>
                <a:latin typeface="Calibri"/>
                <a:ea typeface="MS PGothic"/>
              </a:rPr>
              <a:t>is a technique for calculating the percent change. In this approach, we calculate changes in a variable compared with the average, or midpoint, of the starting and final values.</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7"/>
                                        </p:tgtEl>
                                        <p:attrNameLst>
                                          <p:attrName>style.visibility</p:attrName>
                                        </p:attrNameLst>
                                      </p:cBhvr>
                                      <p:to>
                                        <p:strVal val="visible"/>
                                      </p:to>
                                    </p:set>
                                    <p:animEffect transition="in" filter="wipe(left)">
                                      <p:cBhvr additive="repl">
                                        <p:cTn id="7" dur="500"/>
                                        <p:tgtEl>
                                          <p:spTgt spid="3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8"/>
                                        </p:tgtEl>
                                        <p:attrNameLst>
                                          <p:attrName>style.visibility</p:attrName>
                                        </p:attrNameLst>
                                      </p:cBhvr>
                                      <p:to>
                                        <p:strVal val="visible"/>
                                      </p:to>
                                    </p:set>
                                    <p:animEffect transition="in" filter="wipe(left)">
                                      <p:cBhvr additive="repl">
                                        <p:cTn id="12" dur="500"/>
                                        <p:tgtEl>
                                          <p:spTgt spid="36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69"/>
                                        </p:tgtEl>
                                        <p:attrNameLst>
                                          <p:attrName>style.visibility</p:attrName>
                                        </p:attrNameLst>
                                      </p:cBhvr>
                                      <p:to>
                                        <p:strVal val="visible"/>
                                      </p:to>
                                    </p:set>
                                    <p:animEffect transition="in" filter="wipe(left)">
                                      <p:cBhvr additive="repl">
                                        <p:cTn id="17" dur="500"/>
                                        <p:tgtEl>
                                          <p:spTgt spid="36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nodeType="clickEffect">
                                  <p:stCondLst>
                                    <p:cond delay="0"/>
                                  </p:stCondLst>
                                  <p:childTnLst>
                                    <p:set>
                                      <p:cBhvr>
                                        <p:cTn id="21" dur="1" fill="hold">
                                          <p:stCondLst>
                                            <p:cond delay="0"/>
                                          </p:stCondLst>
                                        </p:cTn>
                                        <p:tgtEl>
                                          <p:spTgt spid="370">
                                            <p:txEl>
                                              <p:pRg st="0" end="198"/>
                                            </p:txEl>
                                          </p:spTgt>
                                        </p:tgtEl>
                                        <p:attrNameLst>
                                          <p:attrName>style.visibility</p:attrName>
                                        </p:attrNameLst>
                                      </p:cBhvr>
                                      <p:to>
                                        <p:strVal val="visible"/>
                                      </p:to>
                                    </p:set>
                                    <p:animEffect transition="in" filter="fade">
                                      <p:cBhvr additive="repl">
                                        <p:cTn id="22" dur="500"/>
                                        <p:tgtEl>
                                          <p:spTgt spid="370">
                                            <p:txEl>
                                              <p:pRg st="0" end="19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CustomShape 1"/>
          <p:cNvSpPr/>
          <p:nvPr/>
        </p:nvSpPr>
        <p:spPr>
          <a:xfrm>
            <a:off x="684360" y="898560"/>
            <a:ext cx="8388000" cy="540972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p:txBody>
      </p:sp>
      <p:sp>
        <p:nvSpPr>
          <p:cNvPr id="372" name="TextShape 2"/>
          <p:cNvSpPr txBox="1"/>
          <p:nvPr/>
        </p:nvSpPr>
        <p:spPr>
          <a:xfrm>
            <a:off x="971640" y="76320"/>
            <a:ext cx="7910280" cy="60912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Using the Midpoint Method</a:t>
            </a:r>
            <a:endParaRPr lang="id-ID" sz="3200" strike="noStrike" spc="-1">
              <a:solidFill>
                <a:srgbClr val="000000"/>
              </a:solidFill>
              <a:uFill>
                <a:solidFill>
                  <a:srgbClr val="FFFFFF"/>
                </a:solidFill>
              </a:uFill>
              <a:latin typeface="Calibri"/>
            </a:endParaRPr>
          </a:p>
        </p:txBody>
      </p:sp>
      <p:pic>
        <p:nvPicPr>
          <p:cNvPr id="373" name="Picture 19"/>
          <p:cNvPicPr/>
          <p:nvPr/>
        </p:nvPicPr>
        <p:blipFill>
          <a:blip r:embed="rId3"/>
          <a:stretch/>
        </p:blipFill>
        <p:spPr>
          <a:xfrm>
            <a:off x="1776240" y="1052640"/>
            <a:ext cx="6324120" cy="1441080"/>
          </a:xfrm>
          <a:prstGeom prst="rect">
            <a:avLst/>
          </a:prstGeom>
          <a:ln w="9360">
            <a:noFill/>
          </a:ln>
        </p:spPr>
      </p:pic>
      <p:pic>
        <p:nvPicPr>
          <p:cNvPr id="374" name="Picture 9"/>
          <p:cNvPicPr/>
          <p:nvPr/>
        </p:nvPicPr>
        <p:blipFill>
          <a:blip r:embed="rId4"/>
          <a:stretch/>
        </p:blipFill>
        <p:spPr>
          <a:xfrm>
            <a:off x="900000" y="2838600"/>
            <a:ext cx="8053200" cy="740880"/>
          </a:xfrm>
          <a:prstGeom prst="rect">
            <a:avLst/>
          </a:prstGeom>
          <a:ln w="9360">
            <a:noFill/>
          </a:ln>
        </p:spPr>
      </p:pic>
      <p:pic>
        <p:nvPicPr>
          <p:cNvPr id="375" name="Picture 10"/>
          <p:cNvPicPr/>
          <p:nvPr/>
        </p:nvPicPr>
        <p:blipFill>
          <a:blip r:embed="rId5"/>
          <a:stretch/>
        </p:blipFill>
        <p:spPr>
          <a:xfrm>
            <a:off x="1332000" y="3860640"/>
            <a:ext cx="7225920" cy="791640"/>
          </a:xfrm>
          <a:prstGeom prst="rect">
            <a:avLst/>
          </a:prstGeom>
          <a:ln w="9360">
            <a:noFill/>
          </a:ln>
        </p:spPr>
      </p:pic>
      <p:pic>
        <p:nvPicPr>
          <p:cNvPr id="376" name="Picture 11"/>
          <p:cNvPicPr/>
          <p:nvPr/>
        </p:nvPicPr>
        <p:blipFill>
          <a:blip r:embed="rId6"/>
          <a:stretch/>
        </p:blipFill>
        <p:spPr>
          <a:xfrm>
            <a:off x="1006560" y="4998960"/>
            <a:ext cx="7843320" cy="877680"/>
          </a:xfrm>
          <a:prstGeom prst="rect">
            <a:avLst/>
          </a:prstGeom>
          <a:ln w="936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74"/>
                                        </p:tgtEl>
                                        <p:attrNameLst>
                                          <p:attrName>style.visibility</p:attrName>
                                        </p:attrNameLst>
                                      </p:cBhvr>
                                      <p:to>
                                        <p:strVal val="visible"/>
                                      </p:to>
                                    </p:set>
                                    <p:animEffect transition="in" filter="wipe(left)">
                                      <p:cBhvr additive="repl">
                                        <p:cTn id="7" dur="500"/>
                                        <p:tgtEl>
                                          <p:spTgt spid="3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75"/>
                                        </p:tgtEl>
                                        <p:attrNameLst>
                                          <p:attrName>style.visibility</p:attrName>
                                        </p:attrNameLst>
                                      </p:cBhvr>
                                      <p:to>
                                        <p:strVal val="visible"/>
                                      </p:to>
                                    </p:set>
                                    <p:animEffect transition="in" filter="wipe(left)">
                                      <p:cBhvr additive="repl">
                                        <p:cTn id="12" dur="500"/>
                                        <p:tgtEl>
                                          <p:spTgt spid="3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76"/>
                                        </p:tgtEl>
                                        <p:attrNameLst>
                                          <p:attrName>style.visibility</p:attrName>
                                        </p:attrNameLst>
                                      </p:cBhvr>
                                      <p:to>
                                        <p:strVal val="visible"/>
                                      </p:to>
                                    </p:set>
                                    <p:animEffect transition="in" filter="wipe(left)">
                                      <p:cBhvr additive="repl">
                                        <p:cTn id="17" dur="500"/>
                                        <p:tgtEl>
                                          <p:spTgt spid="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TextShape 1"/>
          <p:cNvSpPr txBox="1"/>
          <p:nvPr/>
        </p:nvSpPr>
        <p:spPr>
          <a:xfrm>
            <a:off x="900000" y="76320"/>
            <a:ext cx="8064000" cy="609120"/>
          </a:xfrm>
          <a:prstGeom prst="rect">
            <a:avLst/>
          </a:prstGeom>
          <a:noFill/>
          <a:ln>
            <a:noFill/>
          </a:ln>
        </p:spPr>
        <p:txBody>
          <a:bodyPr anchor="ctr"/>
          <a:lstStyle/>
          <a:p>
            <a:pPr>
              <a:lnSpc>
                <a:spcPct val="100000"/>
              </a:lnSpc>
            </a:pPr>
            <a:r>
              <a:rPr lang="id-ID" sz="2800" b="1" strike="noStrike" spc="-1">
                <a:solidFill>
                  <a:srgbClr val="FFFFFF"/>
                </a:solidFill>
                <a:uFill>
                  <a:solidFill>
                    <a:srgbClr val="FFFFFF"/>
                  </a:solidFill>
                </a:uFill>
                <a:latin typeface="Calibri"/>
                <a:ea typeface="MS PGothic"/>
              </a:rPr>
              <a:t>Some Estimated Price Elasticities of Demand</a:t>
            </a:r>
            <a:endParaRPr lang="id-ID" sz="3200" strike="noStrike" spc="-1">
              <a:solidFill>
                <a:srgbClr val="000000"/>
              </a:solidFill>
              <a:uFill>
                <a:solidFill>
                  <a:srgbClr val="FFFFFF"/>
                </a:solidFill>
              </a:uFill>
              <a:latin typeface="Calibri"/>
            </a:endParaRPr>
          </a:p>
        </p:txBody>
      </p:sp>
      <p:sp>
        <p:nvSpPr>
          <p:cNvPr id="378" name="TextShape 2"/>
          <p:cNvSpPr txBox="1"/>
          <p:nvPr/>
        </p:nvSpPr>
        <p:spPr>
          <a:xfrm>
            <a:off x="1185840" y="963720"/>
            <a:ext cx="7733880" cy="5017680"/>
          </a:xfrm>
          <a:prstGeom prst="rect">
            <a:avLst/>
          </a:prstGeom>
          <a:noFill/>
          <a:ln w="9360">
            <a:noFill/>
          </a:ln>
        </p:spPr>
        <p:txBody>
          <a:bodyPr/>
          <a:lstStyle/>
          <a:p>
            <a:pPr marL="343080" indent="-342720">
              <a:lnSpc>
                <a:spcPct val="80000"/>
              </a:lnSpc>
            </a:pPr>
            <a:r>
              <a:rPr lang="id-ID" sz="2500" b="1" strike="noStrike" spc="-1">
                <a:solidFill>
                  <a:srgbClr val="000000"/>
                </a:solidFill>
                <a:uFill>
                  <a:solidFill>
                    <a:srgbClr val="FFFFFF"/>
                  </a:solidFill>
                </a:uFill>
                <a:latin typeface="Arial"/>
                <a:ea typeface="MS PGothic"/>
              </a:rPr>
              <a:t>Good 			    Price Elasticity</a:t>
            </a:r>
            <a:endParaRPr lang="id-ID" sz="2500" strike="noStrike" spc="-1">
              <a:solidFill>
                <a:srgbClr val="000000"/>
              </a:solidFill>
              <a:uFill>
                <a:solidFill>
                  <a:srgbClr val="FFFFFF"/>
                </a:solidFill>
              </a:uFill>
              <a:latin typeface="Calibri"/>
            </a:endParaRPr>
          </a:p>
          <a:p>
            <a:pPr marL="343080" indent="-342720">
              <a:lnSpc>
                <a:spcPct val="80000"/>
              </a:lnSpc>
            </a:pPr>
            <a:endParaRPr lang="id-ID" sz="2500" strike="noStrike" spc="-1">
              <a:solidFill>
                <a:srgbClr val="000000"/>
              </a:solidFill>
              <a:uFill>
                <a:solidFill>
                  <a:srgbClr val="FFFFFF"/>
                </a:solidFill>
              </a:uFill>
              <a:latin typeface="Calibri"/>
            </a:endParaRPr>
          </a:p>
          <a:p>
            <a:pPr marL="343080" indent="-342720">
              <a:lnSpc>
                <a:spcPct val="80000"/>
              </a:lnSpc>
            </a:pPr>
            <a:r>
              <a:rPr lang="id-ID" sz="2100" b="1" u="sng" strike="noStrike" spc="-1">
                <a:solidFill>
                  <a:srgbClr val="000000"/>
                </a:solidFill>
                <a:uFill>
                  <a:solidFill>
                    <a:srgbClr val="FFFFFF"/>
                  </a:solidFill>
                </a:uFill>
                <a:latin typeface="Arial"/>
                <a:ea typeface="MS PGothic"/>
              </a:rPr>
              <a:t>Inelastic demand</a:t>
            </a:r>
            <a:endParaRPr lang="id-ID" sz="2500" strike="noStrike" spc="-1">
              <a:solidFill>
                <a:srgbClr val="000000"/>
              </a:solidFill>
              <a:uFill>
                <a:solidFill>
                  <a:srgbClr val="FFFFFF"/>
                </a:solidFill>
              </a:uFill>
              <a:latin typeface="Calibri"/>
            </a:endParaRPr>
          </a:p>
          <a:p>
            <a:pPr>
              <a:lnSpc>
                <a:spcPct val="80000"/>
              </a:lnSpc>
            </a:pPr>
            <a:endParaRPr lang="id-ID" sz="2500" strike="noStrike" spc="-1">
              <a:solidFill>
                <a:srgbClr val="000000"/>
              </a:solidFill>
              <a:uFill>
                <a:solidFill>
                  <a:srgbClr val="FFFFFF"/>
                </a:solidFill>
              </a:uFill>
              <a:latin typeface="Calibri"/>
            </a:endParaRPr>
          </a:p>
          <a:p>
            <a:pPr marL="343080" indent="-342720">
              <a:lnSpc>
                <a:spcPct val="80000"/>
              </a:lnSpc>
              <a:buClr>
                <a:srgbClr val="000000"/>
              </a:buClr>
              <a:buFont typeface="Arial"/>
              <a:buChar char="•"/>
            </a:pPr>
            <a:r>
              <a:rPr lang="id-ID" sz="2100" strike="noStrike" spc="-1">
                <a:solidFill>
                  <a:srgbClr val="000000"/>
                </a:solidFill>
                <a:uFill>
                  <a:solidFill>
                    <a:srgbClr val="FFFFFF"/>
                  </a:solidFill>
                </a:uFill>
                <a:latin typeface="Arial"/>
                <a:ea typeface="MS PGothic"/>
              </a:rPr>
              <a:t>Eggs 			0.1</a:t>
            </a:r>
            <a:endParaRPr lang="id-ID" sz="2500" strike="noStrike" spc="-1">
              <a:solidFill>
                <a:srgbClr val="000000"/>
              </a:solidFill>
              <a:uFill>
                <a:solidFill>
                  <a:srgbClr val="FFFFFF"/>
                </a:solidFill>
              </a:uFill>
              <a:latin typeface="Calibri"/>
            </a:endParaRPr>
          </a:p>
          <a:p>
            <a:pPr marL="343080" indent="-342720">
              <a:lnSpc>
                <a:spcPct val="80000"/>
              </a:lnSpc>
              <a:buClr>
                <a:srgbClr val="000000"/>
              </a:buClr>
              <a:buFont typeface="Arial"/>
              <a:buChar char="•"/>
            </a:pPr>
            <a:r>
              <a:rPr lang="id-ID" sz="2100" strike="noStrike" spc="-1">
                <a:solidFill>
                  <a:srgbClr val="000000"/>
                </a:solidFill>
                <a:uFill>
                  <a:solidFill>
                    <a:srgbClr val="FFFFFF"/>
                  </a:solidFill>
                </a:uFill>
                <a:latin typeface="Arial"/>
                <a:ea typeface="MS PGothic"/>
              </a:rPr>
              <a:t>Beef 			0.4</a:t>
            </a:r>
            <a:endParaRPr lang="id-ID" sz="2500" strike="noStrike" spc="-1">
              <a:solidFill>
                <a:srgbClr val="000000"/>
              </a:solidFill>
              <a:uFill>
                <a:solidFill>
                  <a:srgbClr val="FFFFFF"/>
                </a:solidFill>
              </a:uFill>
              <a:latin typeface="Calibri"/>
            </a:endParaRPr>
          </a:p>
          <a:p>
            <a:pPr marL="343080" indent="-342720">
              <a:lnSpc>
                <a:spcPct val="80000"/>
              </a:lnSpc>
              <a:buClr>
                <a:srgbClr val="000000"/>
              </a:buClr>
              <a:buFont typeface="Arial"/>
              <a:buChar char="•"/>
            </a:pPr>
            <a:r>
              <a:rPr lang="id-ID" sz="2100" strike="noStrike" spc="-1">
                <a:solidFill>
                  <a:srgbClr val="000000"/>
                </a:solidFill>
                <a:uFill>
                  <a:solidFill>
                    <a:srgbClr val="FFFFFF"/>
                  </a:solidFill>
                </a:uFill>
                <a:latin typeface="Arial"/>
                <a:ea typeface="MS PGothic"/>
              </a:rPr>
              <a:t>Stationery			0.5</a:t>
            </a:r>
            <a:endParaRPr lang="id-ID" sz="2500" strike="noStrike" spc="-1">
              <a:solidFill>
                <a:srgbClr val="000000"/>
              </a:solidFill>
              <a:uFill>
                <a:solidFill>
                  <a:srgbClr val="FFFFFF"/>
                </a:solidFill>
              </a:uFill>
              <a:latin typeface="Calibri"/>
            </a:endParaRPr>
          </a:p>
          <a:p>
            <a:pPr marL="343080" indent="-342720">
              <a:lnSpc>
                <a:spcPct val="80000"/>
              </a:lnSpc>
              <a:buClr>
                <a:srgbClr val="000000"/>
              </a:buClr>
              <a:buFont typeface="Arial"/>
              <a:buChar char="•"/>
            </a:pPr>
            <a:r>
              <a:rPr lang="id-ID" sz="2100" strike="noStrike" spc="-1">
                <a:solidFill>
                  <a:srgbClr val="000000"/>
                </a:solidFill>
                <a:uFill>
                  <a:solidFill>
                    <a:srgbClr val="FFFFFF"/>
                  </a:solidFill>
                </a:uFill>
                <a:latin typeface="Arial"/>
                <a:ea typeface="MS PGothic"/>
              </a:rPr>
              <a:t>Gasoline 			0.5</a:t>
            </a:r>
            <a:endParaRPr lang="id-ID" sz="2500" strike="noStrike" spc="-1">
              <a:solidFill>
                <a:srgbClr val="000000"/>
              </a:solidFill>
              <a:uFill>
                <a:solidFill>
                  <a:srgbClr val="FFFFFF"/>
                </a:solidFill>
              </a:uFill>
              <a:latin typeface="Calibri"/>
            </a:endParaRPr>
          </a:p>
          <a:p>
            <a:pPr>
              <a:lnSpc>
                <a:spcPct val="80000"/>
              </a:lnSpc>
            </a:pPr>
            <a:endParaRPr lang="id-ID" sz="2500" strike="noStrike" spc="-1">
              <a:solidFill>
                <a:srgbClr val="000000"/>
              </a:solidFill>
              <a:uFill>
                <a:solidFill>
                  <a:srgbClr val="FFFFFF"/>
                </a:solidFill>
              </a:uFill>
              <a:latin typeface="Calibri"/>
            </a:endParaRPr>
          </a:p>
          <a:p>
            <a:pPr marL="343080" indent="-342720">
              <a:lnSpc>
                <a:spcPct val="80000"/>
              </a:lnSpc>
            </a:pPr>
            <a:r>
              <a:rPr lang="id-ID" sz="2100" b="1" i="1" u="sng" strike="noStrike" spc="-1">
                <a:solidFill>
                  <a:srgbClr val="000000"/>
                </a:solidFill>
                <a:uFill>
                  <a:solidFill>
                    <a:srgbClr val="FFFFFF"/>
                  </a:solidFill>
                </a:uFill>
                <a:latin typeface="Arial"/>
                <a:ea typeface="MS PGothic"/>
              </a:rPr>
              <a:t>Elastic demand</a:t>
            </a:r>
            <a:endParaRPr lang="id-ID" sz="2500" strike="noStrike" spc="-1">
              <a:solidFill>
                <a:srgbClr val="000000"/>
              </a:solidFill>
              <a:uFill>
                <a:solidFill>
                  <a:srgbClr val="FFFFFF"/>
                </a:solidFill>
              </a:uFill>
              <a:latin typeface="Calibri"/>
            </a:endParaRPr>
          </a:p>
          <a:p>
            <a:pPr>
              <a:lnSpc>
                <a:spcPct val="80000"/>
              </a:lnSpc>
            </a:pPr>
            <a:endParaRPr lang="id-ID" sz="2500" strike="noStrike" spc="-1">
              <a:solidFill>
                <a:srgbClr val="000000"/>
              </a:solidFill>
              <a:uFill>
                <a:solidFill>
                  <a:srgbClr val="FFFFFF"/>
                </a:solidFill>
              </a:uFill>
              <a:latin typeface="Calibri"/>
            </a:endParaRPr>
          </a:p>
          <a:p>
            <a:pPr marL="343080" indent="-342720">
              <a:lnSpc>
                <a:spcPct val="80000"/>
              </a:lnSpc>
              <a:buClr>
                <a:srgbClr val="000000"/>
              </a:buClr>
              <a:buFont typeface="Arial"/>
              <a:buChar char="•"/>
            </a:pPr>
            <a:r>
              <a:rPr lang="id-ID" sz="2100" strike="noStrike" spc="-1">
                <a:solidFill>
                  <a:srgbClr val="000000"/>
                </a:solidFill>
                <a:uFill>
                  <a:solidFill>
                    <a:srgbClr val="FFFFFF"/>
                  </a:solidFill>
                </a:uFill>
                <a:latin typeface="Arial"/>
                <a:ea typeface="MS PGothic"/>
              </a:rPr>
              <a:t>Housing 			1.2</a:t>
            </a:r>
            <a:endParaRPr lang="id-ID" sz="2500" strike="noStrike" spc="-1">
              <a:solidFill>
                <a:srgbClr val="000000"/>
              </a:solidFill>
              <a:uFill>
                <a:solidFill>
                  <a:srgbClr val="FFFFFF"/>
                </a:solidFill>
              </a:uFill>
              <a:latin typeface="Calibri"/>
            </a:endParaRPr>
          </a:p>
          <a:p>
            <a:pPr marL="343080" indent="-342720">
              <a:lnSpc>
                <a:spcPct val="80000"/>
              </a:lnSpc>
              <a:buClr>
                <a:srgbClr val="000000"/>
              </a:buClr>
              <a:buFont typeface="Arial"/>
              <a:buChar char="•"/>
            </a:pPr>
            <a:r>
              <a:rPr lang="id-ID" sz="2100" strike="noStrike" spc="-1">
                <a:solidFill>
                  <a:srgbClr val="000000"/>
                </a:solidFill>
                <a:uFill>
                  <a:solidFill>
                    <a:srgbClr val="FFFFFF"/>
                  </a:solidFill>
                </a:uFill>
                <a:latin typeface="Arial"/>
                <a:ea typeface="MS PGothic"/>
              </a:rPr>
              <a:t>Restaurant meals 		2.3</a:t>
            </a:r>
            <a:endParaRPr lang="id-ID" sz="2500" strike="noStrike" spc="-1">
              <a:solidFill>
                <a:srgbClr val="000000"/>
              </a:solidFill>
              <a:uFill>
                <a:solidFill>
                  <a:srgbClr val="FFFFFF"/>
                </a:solidFill>
              </a:uFill>
              <a:latin typeface="Calibri"/>
            </a:endParaRPr>
          </a:p>
          <a:p>
            <a:pPr marL="343080" indent="-342720">
              <a:lnSpc>
                <a:spcPct val="80000"/>
              </a:lnSpc>
              <a:buClr>
                <a:srgbClr val="000000"/>
              </a:buClr>
              <a:buFont typeface="Arial"/>
              <a:buChar char="•"/>
            </a:pPr>
            <a:r>
              <a:rPr lang="id-ID" sz="2100" strike="noStrike" spc="-1">
                <a:solidFill>
                  <a:srgbClr val="000000"/>
                </a:solidFill>
                <a:uFill>
                  <a:solidFill>
                    <a:srgbClr val="FFFFFF"/>
                  </a:solidFill>
                </a:uFill>
                <a:latin typeface="Arial"/>
                <a:ea typeface="MS PGothic"/>
              </a:rPr>
              <a:t>Airline travel 		2.4</a:t>
            </a:r>
            <a:endParaRPr lang="id-ID" sz="2500" strike="noStrike" spc="-1">
              <a:solidFill>
                <a:srgbClr val="000000"/>
              </a:solidFill>
              <a:uFill>
                <a:solidFill>
                  <a:srgbClr val="FFFFFF"/>
                </a:solidFill>
              </a:uFill>
              <a:latin typeface="Calibri"/>
            </a:endParaRPr>
          </a:p>
          <a:p>
            <a:pPr marL="343080" indent="-342720">
              <a:lnSpc>
                <a:spcPct val="80000"/>
              </a:lnSpc>
              <a:buClr>
                <a:srgbClr val="000000"/>
              </a:buClr>
              <a:buFont typeface="Arial"/>
              <a:buChar char="•"/>
            </a:pPr>
            <a:r>
              <a:rPr lang="id-ID" sz="2100" strike="noStrike" spc="-1">
                <a:solidFill>
                  <a:srgbClr val="000000"/>
                </a:solidFill>
                <a:uFill>
                  <a:solidFill>
                    <a:srgbClr val="FFFFFF"/>
                  </a:solidFill>
                </a:uFill>
                <a:latin typeface="Arial"/>
                <a:ea typeface="MS PGothic"/>
              </a:rPr>
              <a:t>Foreign travel 		4.1</a:t>
            </a:r>
            <a:endParaRPr lang="id-ID" sz="2500" strike="noStrike" spc="-1">
              <a:solidFill>
                <a:srgbClr val="000000"/>
              </a:solidFill>
              <a:uFill>
                <a:solidFill>
                  <a:srgbClr val="FFFFFF"/>
                </a:solidFill>
              </a:uFill>
              <a:latin typeface="Calibri"/>
            </a:endParaRPr>
          </a:p>
        </p:txBody>
      </p:sp>
      <p:sp>
        <p:nvSpPr>
          <p:cNvPr id="379" name="CustomShape 3"/>
          <p:cNvSpPr/>
          <p:nvPr/>
        </p:nvSpPr>
        <p:spPr>
          <a:xfrm>
            <a:off x="5881680" y="2603520"/>
            <a:ext cx="2361960" cy="609120"/>
          </a:xfrm>
          <a:prstGeom prst="rect">
            <a:avLst/>
          </a:prstGeom>
          <a:solidFill>
            <a:schemeClr val="accent5">
              <a:lumMod val="20000"/>
              <a:lumOff val="80000"/>
            </a:schemeClr>
          </a:solidFill>
          <a:ln w="9360">
            <a:noFill/>
          </a:ln>
        </p:spPr>
        <p:style>
          <a:lnRef idx="0">
            <a:scrgbClr r="0" g="0" b="0"/>
          </a:lnRef>
          <a:fillRef idx="0">
            <a:scrgbClr r="0" g="0" b="0"/>
          </a:fillRef>
          <a:effectRef idx="0">
            <a:scrgbClr r="0" g="0" b="0"/>
          </a:effectRef>
          <a:fontRef idx="minor"/>
        </p:style>
        <p:txBody>
          <a:bodyPr lIns="90000" tIns="45000" rIns="90000" bIns="45000"/>
          <a:lstStyle/>
          <a:p>
            <a:pPr marL="1440" indent="-1080" algn="ctr">
              <a:lnSpc>
                <a:spcPct val="100000"/>
              </a:lnSpc>
            </a:pPr>
            <a:r>
              <a:rPr lang="en-US" sz="1800" b="1" strike="noStrike" spc="-1">
                <a:solidFill>
                  <a:srgbClr val="0033CC"/>
                </a:solidFill>
                <a:uFill>
                  <a:solidFill>
                    <a:srgbClr val="FFFFFF"/>
                  </a:solidFill>
                </a:uFill>
                <a:latin typeface="Calibri"/>
                <a:ea typeface="MS PGothic"/>
              </a:rPr>
              <a:t>Price elasticity of demand &lt; 1</a:t>
            </a:r>
            <a:endParaRPr lang="en-US" sz="1800" strike="noStrike" spc="-1">
              <a:solidFill>
                <a:srgbClr val="000000"/>
              </a:solidFill>
              <a:uFill>
                <a:solidFill>
                  <a:srgbClr val="FFFFFF"/>
                </a:solidFill>
              </a:uFill>
              <a:latin typeface="Arial"/>
            </a:endParaRPr>
          </a:p>
        </p:txBody>
      </p:sp>
      <p:sp>
        <p:nvSpPr>
          <p:cNvPr id="380" name="CustomShape 4"/>
          <p:cNvSpPr/>
          <p:nvPr/>
        </p:nvSpPr>
        <p:spPr>
          <a:xfrm>
            <a:off x="5881680" y="4764240"/>
            <a:ext cx="2361960" cy="609120"/>
          </a:xfrm>
          <a:prstGeom prst="rect">
            <a:avLst/>
          </a:prstGeom>
          <a:solidFill>
            <a:schemeClr val="accent5">
              <a:lumMod val="20000"/>
              <a:lumOff val="80000"/>
            </a:schemeClr>
          </a:solidFill>
          <a:ln w="9360">
            <a:noFill/>
          </a:ln>
        </p:spPr>
        <p:style>
          <a:lnRef idx="0">
            <a:scrgbClr r="0" g="0" b="0"/>
          </a:lnRef>
          <a:fillRef idx="0">
            <a:scrgbClr r="0" g="0" b="0"/>
          </a:fillRef>
          <a:effectRef idx="0">
            <a:scrgbClr r="0" g="0" b="0"/>
          </a:effectRef>
          <a:fontRef idx="minor"/>
        </p:style>
        <p:txBody>
          <a:bodyPr lIns="90000" tIns="45000" rIns="90000" bIns="45000"/>
          <a:lstStyle/>
          <a:p>
            <a:pPr marL="1440" indent="-1080" algn="ctr">
              <a:lnSpc>
                <a:spcPct val="100000"/>
              </a:lnSpc>
            </a:pPr>
            <a:r>
              <a:rPr lang="en-US" sz="1800" b="1" strike="noStrike" spc="-1">
                <a:solidFill>
                  <a:srgbClr val="0033CC"/>
                </a:solidFill>
                <a:uFill>
                  <a:solidFill>
                    <a:srgbClr val="FFFFFF"/>
                  </a:solidFill>
                </a:uFill>
                <a:latin typeface="Calibri"/>
                <a:ea typeface="MS PGothic"/>
              </a:rPr>
              <a:t>Price elasticity of demand &gt; 1</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78">
                                            <p:txEl>
                                              <p:pRg st="0" end="29"/>
                                            </p:txEl>
                                          </p:spTgt>
                                        </p:tgtEl>
                                        <p:attrNameLst>
                                          <p:attrName>style.visibility</p:attrName>
                                        </p:attrNameLst>
                                      </p:cBhvr>
                                      <p:to>
                                        <p:strVal val="visible"/>
                                      </p:to>
                                    </p:set>
                                    <p:animEffect transition="in" filter="wipe(left)">
                                      <p:cBhvr additive="repl">
                                        <p:cTn id="7" dur="500"/>
                                        <p:tgtEl>
                                          <p:spTgt spid="378">
                                            <p:txEl>
                                              <p:pRg st="0" end="29"/>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78">
                                            <p:txEl>
                                              <p:pRg st="30" end="47"/>
                                            </p:txEl>
                                          </p:spTgt>
                                        </p:tgtEl>
                                        <p:attrNameLst>
                                          <p:attrName>style.visibility</p:attrName>
                                        </p:attrNameLst>
                                      </p:cBhvr>
                                      <p:to>
                                        <p:strVal val="visible"/>
                                      </p:to>
                                    </p:set>
                                    <p:animEffect transition="in" filter="wipe(left)">
                                      <p:cBhvr additive="repl">
                                        <p:cTn id="10" dur="500"/>
                                        <p:tgtEl>
                                          <p:spTgt spid="378">
                                            <p:txEl>
                                              <p:pRg st="30" end="47"/>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78">
                                            <p:txEl>
                                              <p:pRg st="48" end="60"/>
                                            </p:txEl>
                                          </p:spTgt>
                                        </p:tgtEl>
                                        <p:attrNameLst>
                                          <p:attrName>style.visibility</p:attrName>
                                        </p:attrNameLst>
                                      </p:cBhvr>
                                      <p:to>
                                        <p:strVal val="visible"/>
                                      </p:to>
                                    </p:set>
                                    <p:animEffect transition="in" filter="wipe(left)">
                                      <p:cBhvr additive="repl">
                                        <p:cTn id="13" dur="500"/>
                                        <p:tgtEl>
                                          <p:spTgt spid="378">
                                            <p:txEl>
                                              <p:pRg st="48" end="60"/>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378">
                                            <p:txEl>
                                              <p:pRg st="60" end="72"/>
                                            </p:txEl>
                                          </p:spTgt>
                                        </p:tgtEl>
                                        <p:attrNameLst>
                                          <p:attrName>style.visibility</p:attrName>
                                        </p:attrNameLst>
                                      </p:cBhvr>
                                      <p:to>
                                        <p:strVal val="visible"/>
                                      </p:to>
                                    </p:set>
                                    <p:animEffect transition="in" filter="wipe(left)">
                                      <p:cBhvr additive="repl">
                                        <p:cTn id="16" dur="500"/>
                                        <p:tgtEl>
                                          <p:spTgt spid="378">
                                            <p:txEl>
                                              <p:pRg st="60" end="72"/>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378">
                                            <p:txEl>
                                              <p:pRg st="72" end="89"/>
                                            </p:txEl>
                                          </p:spTgt>
                                        </p:tgtEl>
                                        <p:attrNameLst>
                                          <p:attrName>style.visibility</p:attrName>
                                        </p:attrNameLst>
                                      </p:cBhvr>
                                      <p:to>
                                        <p:strVal val="visible"/>
                                      </p:to>
                                    </p:set>
                                    <p:animEffect transition="in" filter="wipe(left)">
                                      <p:cBhvr additive="repl">
                                        <p:cTn id="19" dur="500"/>
                                        <p:tgtEl>
                                          <p:spTgt spid="378">
                                            <p:txEl>
                                              <p:pRg st="72" end="89"/>
                                            </p:txEl>
                                          </p:spTgt>
                                        </p:tgtEl>
                                      </p:cBhvr>
                                    </p:animEffect>
                                  </p:childTnLst>
                                </p:cTn>
                              </p:par>
                              <p:par>
                                <p:cTn id="20" presetID="22" presetClass="entr" presetSubtype="8" fill="hold" nodeType="withEffect">
                                  <p:stCondLst>
                                    <p:cond delay="0"/>
                                  </p:stCondLst>
                                  <p:childTnLst>
                                    <p:set>
                                      <p:cBhvr>
                                        <p:cTn id="21" dur="1" fill="hold">
                                          <p:stCondLst>
                                            <p:cond delay="0"/>
                                          </p:stCondLst>
                                        </p:cTn>
                                        <p:tgtEl>
                                          <p:spTgt spid="378">
                                            <p:txEl>
                                              <p:pRg st="89" end="105"/>
                                            </p:txEl>
                                          </p:spTgt>
                                        </p:tgtEl>
                                        <p:attrNameLst>
                                          <p:attrName>style.visibility</p:attrName>
                                        </p:attrNameLst>
                                      </p:cBhvr>
                                      <p:to>
                                        <p:strVal val="visible"/>
                                      </p:to>
                                    </p:set>
                                    <p:animEffect transition="in" filter="wipe(left)">
                                      <p:cBhvr additive="repl">
                                        <p:cTn id="22" dur="500"/>
                                        <p:tgtEl>
                                          <p:spTgt spid="378">
                                            <p:txEl>
                                              <p:pRg st="89" end="10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79"/>
                                        </p:tgtEl>
                                        <p:attrNameLst>
                                          <p:attrName>style.visibility</p:attrName>
                                        </p:attrNameLst>
                                      </p:cBhvr>
                                      <p:to>
                                        <p:strVal val="visible"/>
                                      </p:to>
                                    </p:set>
                                    <p:animEffect transition="in" filter="wipe(left)">
                                      <p:cBhvr additive="repl">
                                        <p:cTn id="27" dur="500"/>
                                        <p:tgtEl>
                                          <p:spTgt spid="37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78">
                                            <p:txEl>
                                              <p:pRg st="106" end="121"/>
                                            </p:txEl>
                                          </p:spTgt>
                                        </p:tgtEl>
                                        <p:attrNameLst>
                                          <p:attrName>style.visibility</p:attrName>
                                        </p:attrNameLst>
                                      </p:cBhvr>
                                      <p:to>
                                        <p:strVal val="visible"/>
                                      </p:to>
                                    </p:set>
                                    <p:animEffect transition="in" filter="wipe(left)">
                                      <p:cBhvr additive="repl">
                                        <p:cTn id="32" dur="500"/>
                                        <p:tgtEl>
                                          <p:spTgt spid="378">
                                            <p:txEl>
                                              <p:pRg st="106" end="121"/>
                                            </p:txEl>
                                          </p:spTgt>
                                        </p:tgtEl>
                                      </p:cBhvr>
                                    </p:animEffect>
                                  </p:childTnLst>
                                </p:cTn>
                              </p:par>
                              <p:par>
                                <p:cTn id="33" presetID="22" presetClass="entr" presetSubtype="8" fill="hold" nodeType="withEffect">
                                  <p:stCondLst>
                                    <p:cond delay="0"/>
                                  </p:stCondLst>
                                  <p:childTnLst>
                                    <p:set>
                                      <p:cBhvr>
                                        <p:cTn id="34" dur="1" fill="hold">
                                          <p:stCondLst>
                                            <p:cond delay="0"/>
                                          </p:stCondLst>
                                        </p:cTn>
                                        <p:tgtEl>
                                          <p:spTgt spid="378">
                                            <p:txEl>
                                              <p:pRg st="122" end="137"/>
                                            </p:txEl>
                                          </p:spTgt>
                                        </p:tgtEl>
                                        <p:attrNameLst>
                                          <p:attrName>style.visibility</p:attrName>
                                        </p:attrNameLst>
                                      </p:cBhvr>
                                      <p:to>
                                        <p:strVal val="visible"/>
                                      </p:to>
                                    </p:set>
                                    <p:animEffect transition="in" filter="wipe(left)">
                                      <p:cBhvr additive="repl">
                                        <p:cTn id="35" dur="500"/>
                                        <p:tgtEl>
                                          <p:spTgt spid="378">
                                            <p:txEl>
                                              <p:pRg st="122" end="137"/>
                                            </p:txEl>
                                          </p:spTgt>
                                        </p:tgtEl>
                                      </p:cBhvr>
                                    </p:animEffect>
                                  </p:childTnLst>
                                </p:cTn>
                              </p:par>
                              <p:par>
                                <p:cTn id="36" presetID="22" presetClass="entr" presetSubtype="8" fill="hold" nodeType="withEffect">
                                  <p:stCondLst>
                                    <p:cond delay="0"/>
                                  </p:stCondLst>
                                  <p:childTnLst>
                                    <p:set>
                                      <p:cBhvr>
                                        <p:cTn id="37" dur="1" fill="hold">
                                          <p:stCondLst>
                                            <p:cond delay="0"/>
                                          </p:stCondLst>
                                        </p:cTn>
                                        <p:tgtEl>
                                          <p:spTgt spid="378">
                                            <p:txEl>
                                              <p:pRg st="137" end="160"/>
                                            </p:txEl>
                                          </p:spTgt>
                                        </p:tgtEl>
                                        <p:attrNameLst>
                                          <p:attrName>style.visibility</p:attrName>
                                        </p:attrNameLst>
                                      </p:cBhvr>
                                      <p:to>
                                        <p:strVal val="visible"/>
                                      </p:to>
                                    </p:set>
                                    <p:animEffect transition="in" filter="wipe(left)">
                                      <p:cBhvr additive="repl">
                                        <p:cTn id="38" dur="500"/>
                                        <p:tgtEl>
                                          <p:spTgt spid="378">
                                            <p:txEl>
                                              <p:pRg st="137" end="160"/>
                                            </p:txEl>
                                          </p:spTgt>
                                        </p:tgtEl>
                                      </p:cBhvr>
                                    </p:animEffect>
                                  </p:childTnLst>
                                </p:cTn>
                              </p:par>
                              <p:par>
                                <p:cTn id="39" presetID="22" presetClass="entr" presetSubtype="8" fill="hold" nodeType="withEffect">
                                  <p:stCondLst>
                                    <p:cond delay="0"/>
                                  </p:stCondLst>
                                  <p:childTnLst>
                                    <p:set>
                                      <p:cBhvr>
                                        <p:cTn id="40" dur="1" fill="hold">
                                          <p:stCondLst>
                                            <p:cond delay="0"/>
                                          </p:stCondLst>
                                        </p:cTn>
                                        <p:tgtEl>
                                          <p:spTgt spid="378">
                                            <p:txEl>
                                              <p:pRg st="160" end="181"/>
                                            </p:txEl>
                                          </p:spTgt>
                                        </p:tgtEl>
                                        <p:attrNameLst>
                                          <p:attrName>style.visibility</p:attrName>
                                        </p:attrNameLst>
                                      </p:cBhvr>
                                      <p:to>
                                        <p:strVal val="visible"/>
                                      </p:to>
                                    </p:set>
                                    <p:animEffect transition="in" filter="wipe(left)">
                                      <p:cBhvr additive="repl">
                                        <p:cTn id="41" dur="500"/>
                                        <p:tgtEl>
                                          <p:spTgt spid="378">
                                            <p:txEl>
                                              <p:pRg st="160" end="181"/>
                                            </p:txEl>
                                          </p:spTgt>
                                        </p:tgtEl>
                                      </p:cBhvr>
                                    </p:animEffect>
                                  </p:childTnLst>
                                </p:cTn>
                              </p:par>
                              <p:par>
                                <p:cTn id="42" presetID="22" presetClass="entr" presetSubtype="8" fill="hold" nodeType="withEffect">
                                  <p:stCondLst>
                                    <p:cond delay="0"/>
                                  </p:stCondLst>
                                  <p:childTnLst>
                                    <p:set>
                                      <p:cBhvr>
                                        <p:cTn id="43" dur="1" fill="hold">
                                          <p:stCondLst>
                                            <p:cond delay="0"/>
                                          </p:stCondLst>
                                        </p:cTn>
                                        <p:tgtEl>
                                          <p:spTgt spid="378">
                                            <p:txEl>
                                              <p:pRg st="181" end="202"/>
                                            </p:txEl>
                                          </p:spTgt>
                                        </p:tgtEl>
                                        <p:attrNameLst>
                                          <p:attrName>style.visibility</p:attrName>
                                        </p:attrNameLst>
                                      </p:cBhvr>
                                      <p:to>
                                        <p:strVal val="visible"/>
                                      </p:to>
                                    </p:set>
                                    <p:animEffect transition="in" filter="wipe(left)">
                                      <p:cBhvr additive="repl">
                                        <p:cTn id="44" dur="500"/>
                                        <p:tgtEl>
                                          <p:spTgt spid="378">
                                            <p:txEl>
                                              <p:pRg st="181" end="20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380"/>
                                        </p:tgtEl>
                                        <p:attrNameLst>
                                          <p:attrName>style.visibility</p:attrName>
                                        </p:attrNameLst>
                                      </p:cBhvr>
                                      <p:to>
                                        <p:strVal val="visible"/>
                                      </p:to>
                                    </p:set>
                                    <p:animEffect transition="in" filter="wipe(left)">
                                      <p:cBhvr additive="repl">
                                        <p:cTn id="49" dur="500"/>
                                        <p:tgtEl>
                                          <p:spTgt spid="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TextShape 1"/>
          <p:cNvSpPr txBox="1"/>
          <p:nvPr/>
        </p:nvSpPr>
        <p:spPr>
          <a:xfrm>
            <a:off x="900000" y="60480"/>
            <a:ext cx="8064000" cy="555120"/>
          </a:xfrm>
          <a:prstGeom prst="rect">
            <a:avLst/>
          </a:prstGeom>
          <a:noFill/>
          <a:ln>
            <a:noFill/>
          </a:ln>
        </p:spPr>
        <p:txBody>
          <a:bodyPr anchor="ctr"/>
          <a:lstStyle/>
          <a:p>
            <a:pPr>
              <a:lnSpc>
                <a:spcPct val="100000"/>
              </a:lnSpc>
            </a:pPr>
            <a:r>
              <a:rPr lang="id-ID" sz="2800" b="1" strike="noStrike" spc="-1">
                <a:solidFill>
                  <a:srgbClr val="FFFFFF"/>
                </a:solidFill>
                <a:uFill>
                  <a:solidFill>
                    <a:srgbClr val="FFFFFF"/>
                  </a:solidFill>
                </a:uFill>
                <a:latin typeface="Calibri"/>
                <a:ea typeface="MS PGothic"/>
              </a:rPr>
              <a:t>Interpreting the Price Elasticity of Demand</a:t>
            </a:r>
            <a:endParaRPr lang="id-ID" sz="3200" strike="noStrike" spc="-1">
              <a:solidFill>
                <a:srgbClr val="000000"/>
              </a:solidFill>
              <a:uFill>
                <a:solidFill>
                  <a:srgbClr val="FFFFFF"/>
                </a:solidFill>
              </a:uFill>
              <a:latin typeface="Calibri"/>
            </a:endParaRPr>
          </a:p>
        </p:txBody>
      </p:sp>
      <p:sp>
        <p:nvSpPr>
          <p:cNvPr id="382" name="TextShape 2"/>
          <p:cNvSpPr txBox="1"/>
          <p:nvPr/>
        </p:nvSpPr>
        <p:spPr>
          <a:xfrm>
            <a:off x="900000" y="969840"/>
            <a:ext cx="7992720" cy="5411520"/>
          </a:xfrm>
          <a:prstGeom prst="rect">
            <a:avLst/>
          </a:prstGeom>
          <a:noFill/>
          <a:ln w="9360">
            <a:noFill/>
          </a:ln>
        </p:spPr>
        <p:txBody>
          <a:bodyPr/>
          <a:lstStyle/>
          <a:p>
            <a:pPr marL="343080" indent="-342720">
              <a:lnSpc>
                <a:spcPct val="90000"/>
              </a:lnSpc>
            </a:pPr>
            <a:r>
              <a:rPr lang="id-ID" sz="2500" b="1" strike="noStrike" spc="-1">
                <a:solidFill>
                  <a:srgbClr val="000000"/>
                </a:solidFill>
                <a:uFill>
                  <a:solidFill>
                    <a:srgbClr val="FFFFFF"/>
                  </a:solidFill>
                </a:uFill>
                <a:latin typeface="Calibri"/>
                <a:ea typeface="MS PGothic"/>
              </a:rPr>
              <a:t>Two Extreme Cases of Price Elasticity of Demand</a:t>
            </a:r>
            <a:endParaRPr lang="id-ID" sz="2500" strike="noStrike" spc="-1">
              <a:solidFill>
                <a:srgbClr val="000000"/>
              </a:solidFill>
              <a:uFill>
                <a:solidFill>
                  <a:srgbClr val="FFFFFF"/>
                </a:solidFill>
              </a:uFill>
              <a:latin typeface="Calibri"/>
            </a:endParaRPr>
          </a:p>
          <a:p>
            <a:pPr marL="343080" indent="-342720">
              <a:lnSpc>
                <a:spcPct val="90000"/>
              </a:lnSpc>
            </a:pPr>
            <a:endParaRPr lang="id-ID" sz="2500" strike="noStrike" spc="-1">
              <a:solidFill>
                <a:srgbClr val="000000"/>
              </a:solidFill>
              <a:uFill>
                <a:solidFill>
                  <a:srgbClr val="FFFFFF"/>
                </a:solidFill>
              </a:uFill>
              <a:latin typeface="Calibri"/>
            </a:endParaRPr>
          </a:p>
          <a:p>
            <a:pPr marL="343080" indent="-342720">
              <a:lnSpc>
                <a:spcPct val="90000"/>
              </a:lnSpc>
              <a:buClr>
                <a:srgbClr val="000000"/>
              </a:buClr>
              <a:buFont typeface="Arial"/>
              <a:buChar char="•"/>
            </a:pPr>
            <a:r>
              <a:rPr lang="id-ID" sz="2500" strike="noStrike" spc="-1">
                <a:solidFill>
                  <a:srgbClr val="000000"/>
                </a:solidFill>
                <a:uFill>
                  <a:solidFill>
                    <a:srgbClr val="FFFFFF"/>
                  </a:solidFill>
                </a:uFill>
                <a:latin typeface="Calibri"/>
                <a:ea typeface="MS PGothic"/>
              </a:rPr>
              <a:t>Demand is </a:t>
            </a:r>
            <a:r>
              <a:rPr lang="id-ID" sz="2500" b="1" strike="noStrike" spc="-1">
                <a:solidFill>
                  <a:srgbClr val="000000"/>
                </a:solidFill>
                <a:uFill>
                  <a:solidFill>
                    <a:srgbClr val="FFFFFF"/>
                  </a:solidFill>
                </a:uFill>
                <a:latin typeface="Calibri"/>
                <a:ea typeface="MS PGothic"/>
              </a:rPr>
              <a:t>perfectly inelastic</a:t>
            </a:r>
            <a:r>
              <a:rPr lang="id-ID" sz="2500" strike="noStrike" spc="-1">
                <a:solidFill>
                  <a:srgbClr val="000000"/>
                </a:solidFill>
                <a:uFill>
                  <a:solidFill>
                    <a:srgbClr val="FFFFFF"/>
                  </a:solidFill>
                </a:uFill>
                <a:latin typeface="Calibri"/>
                <a:ea typeface="MS PGothic"/>
              </a:rPr>
              <a:t> when the quantity demanded does not respond at all to changes in the price. 
When demand is perfectly inelastic, the demand curve is a vertical line.</a:t>
            </a:r>
            <a:endParaRPr lang="id-ID" sz="2500" strike="noStrike" spc="-1">
              <a:solidFill>
                <a:srgbClr val="000000"/>
              </a:solidFill>
              <a:uFill>
                <a:solidFill>
                  <a:srgbClr val="FFFFFF"/>
                </a:solidFill>
              </a:uFill>
              <a:latin typeface="Calibri"/>
            </a:endParaRPr>
          </a:p>
          <a:p>
            <a:pPr>
              <a:lnSpc>
                <a:spcPct val="90000"/>
              </a:lnSpc>
            </a:pPr>
            <a:endParaRPr lang="id-ID" sz="2500" strike="noStrike" spc="-1">
              <a:solidFill>
                <a:srgbClr val="000000"/>
              </a:solidFill>
              <a:uFill>
                <a:solidFill>
                  <a:srgbClr val="FFFFFF"/>
                </a:solidFill>
              </a:uFill>
              <a:latin typeface="Calibri"/>
            </a:endParaRPr>
          </a:p>
          <a:p>
            <a:pPr marL="343080" indent="-342720">
              <a:lnSpc>
                <a:spcPct val="90000"/>
              </a:lnSpc>
              <a:buClr>
                <a:srgbClr val="000000"/>
              </a:buClr>
              <a:buFont typeface="Arial"/>
              <a:buChar char="•"/>
            </a:pPr>
            <a:r>
              <a:rPr lang="id-ID" sz="2500" strike="noStrike" spc="-1">
                <a:solidFill>
                  <a:srgbClr val="000000"/>
                </a:solidFill>
                <a:uFill>
                  <a:solidFill>
                    <a:srgbClr val="FFFFFF"/>
                  </a:solidFill>
                </a:uFill>
                <a:latin typeface="Calibri"/>
                <a:ea typeface="MS PGothic"/>
              </a:rPr>
              <a:t>Demand is </a:t>
            </a:r>
            <a:r>
              <a:rPr lang="id-ID" sz="2500" b="1" strike="noStrike" spc="-1">
                <a:solidFill>
                  <a:srgbClr val="000000"/>
                </a:solidFill>
                <a:uFill>
                  <a:solidFill>
                    <a:srgbClr val="FFFFFF"/>
                  </a:solidFill>
                </a:uFill>
                <a:latin typeface="Calibri"/>
                <a:ea typeface="MS PGothic"/>
              </a:rPr>
              <a:t>perfectly elastic </a:t>
            </a:r>
            <a:r>
              <a:rPr lang="id-ID" sz="2500" strike="noStrike" spc="-1">
                <a:solidFill>
                  <a:srgbClr val="000000"/>
                </a:solidFill>
                <a:uFill>
                  <a:solidFill>
                    <a:srgbClr val="FFFFFF"/>
                  </a:solidFill>
                </a:uFill>
                <a:latin typeface="Calibri"/>
                <a:ea typeface="MS PGothic"/>
              </a:rPr>
              <a:t>when any price increase will cause the quantity demanded to drop to zero. 
When demand is perfectly elastic, the demand curve is a horizontal line.</a:t>
            </a: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382">
                                            <p:txEl>
                                              <p:pRg st="0" end="48"/>
                                            </p:txEl>
                                          </p:spTgt>
                                        </p:tgtEl>
                                        <p:attrNameLst>
                                          <p:attrName>style.visibility</p:attrName>
                                        </p:attrNameLst>
                                      </p:cBhvr>
                                      <p:to>
                                        <p:strVal val="visible"/>
                                      </p:to>
                                    </p:set>
                                    <p:animEffect transition="in" filter="fade">
                                      <p:cBhvr additive="repl">
                                        <p:cTn id="7" dur="500"/>
                                        <p:tgtEl>
                                          <p:spTgt spid="382">
                                            <p:txEl>
                                              <p:pRg st="0" end="4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382">
                                            <p:txEl>
                                              <p:pRg st="49" end="229"/>
                                            </p:txEl>
                                          </p:spTgt>
                                        </p:tgtEl>
                                        <p:attrNameLst>
                                          <p:attrName>style.visibility</p:attrName>
                                        </p:attrNameLst>
                                      </p:cBhvr>
                                      <p:to>
                                        <p:strVal val="visible"/>
                                      </p:to>
                                    </p:set>
                                    <p:animEffect transition="in" filter="fade">
                                      <p:cBhvr additive="repl">
                                        <p:cTn id="12" dur="500"/>
                                        <p:tgtEl>
                                          <p:spTgt spid="382">
                                            <p:txEl>
                                              <p:pRg st="49" end="22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nodeType="clickEffect">
                                  <p:stCondLst>
                                    <p:cond delay="0"/>
                                  </p:stCondLst>
                                  <p:childTnLst>
                                    <p:set>
                                      <p:cBhvr>
                                        <p:cTn id="16" dur="1" fill="hold">
                                          <p:stCondLst>
                                            <p:cond delay="0"/>
                                          </p:stCondLst>
                                        </p:cTn>
                                        <p:tgtEl>
                                          <p:spTgt spid="382">
                                            <p:txEl>
                                              <p:pRg st="230" end="406"/>
                                            </p:txEl>
                                          </p:spTgt>
                                        </p:tgtEl>
                                        <p:attrNameLst>
                                          <p:attrName>style.visibility</p:attrName>
                                        </p:attrNameLst>
                                      </p:cBhvr>
                                      <p:to>
                                        <p:strVal val="visible"/>
                                      </p:to>
                                    </p:set>
                                    <p:animEffect transition="in" filter="fade">
                                      <p:cBhvr additive="repl">
                                        <p:cTn id="17" dur="500"/>
                                        <p:tgtEl>
                                          <p:spTgt spid="382">
                                            <p:txEl>
                                              <p:pRg st="230" end="40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TextShape 1"/>
          <p:cNvSpPr txBox="1"/>
          <p:nvPr/>
        </p:nvSpPr>
        <p:spPr>
          <a:xfrm>
            <a:off x="971640" y="60480"/>
            <a:ext cx="7921440" cy="555120"/>
          </a:xfrm>
          <a:prstGeom prst="rect">
            <a:avLst/>
          </a:prstGeom>
          <a:noFill/>
          <a:ln>
            <a:noFill/>
          </a:ln>
        </p:spPr>
        <p:txBody>
          <a:bodyPr anchor="ctr"/>
          <a:lstStyle/>
          <a:p>
            <a:pPr>
              <a:lnSpc>
                <a:spcPct val="100000"/>
              </a:lnSpc>
            </a:pPr>
            <a:r>
              <a:rPr lang="id-ID" sz="2400" b="1" strike="noStrike" spc="-1">
                <a:solidFill>
                  <a:srgbClr val="FFFFFF"/>
                </a:solidFill>
                <a:uFill>
                  <a:solidFill>
                    <a:srgbClr val="FFFFFF"/>
                  </a:solidFill>
                </a:uFill>
                <a:latin typeface="Arial"/>
                <a:ea typeface="MS PGothic"/>
              </a:rPr>
              <a:t>Two Extreme Cases of Price Elasticity of Demand</a:t>
            </a:r>
            <a:endParaRPr lang="id-ID" sz="3200" strike="noStrike" spc="-1">
              <a:solidFill>
                <a:srgbClr val="000000"/>
              </a:solidFill>
              <a:uFill>
                <a:solidFill>
                  <a:srgbClr val="FFFFFF"/>
                </a:solidFill>
              </a:uFill>
              <a:latin typeface="Calibri"/>
            </a:endParaRPr>
          </a:p>
        </p:txBody>
      </p:sp>
      <p:sp>
        <p:nvSpPr>
          <p:cNvPr id="384" name="Line 2"/>
          <p:cNvSpPr/>
          <p:nvPr/>
        </p:nvSpPr>
        <p:spPr>
          <a:xfrm flipV="1">
            <a:off x="4601880" y="2573280"/>
            <a:ext cx="360" cy="2973240"/>
          </a:xfrm>
          <a:prstGeom prst="line">
            <a:avLst/>
          </a:prstGeom>
          <a:ln w="34920">
            <a:solidFill>
              <a:srgbClr val="3C5DAA"/>
            </a:solidFill>
            <a:miter/>
          </a:ln>
        </p:spPr>
        <p:style>
          <a:lnRef idx="0">
            <a:scrgbClr r="0" g="0" b="0"/>
          </a:lnRef>
          <a:fillRef idx="0">
            <a:scrgbClr r="0" g="0" b="0"/>
          </a:fillRef>
          <a:effectRef idx="0">
            <a:scrgbClr r="0" g="0" b="0"/>
          </a:effectRef>
          <a:fontRef idx="minor"/>
        </p:style>
      </p:sp>
      <p:sp>
        <p:nvSpPr>
          <p:cNvPr id="385" name="CustomShape 3"/>
          <p:cNvSpPr/>
          <p:nvPr/>
        </p:nvSpPr>
        <p:spPr>
          <a:xfrm>
            <a:off x="4564800" y="2233440"/>
            <a:ext cx="131760" cy="213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D</a:t>
            </a:r>
            <a:endParaRPr lang="en-US" sz="1800" strike="noStrike" spc="-1">
              <a:solidFill>
                <a:srgbClr val="000000"/>
              </a:solidFill>
              <a:uFill>
                <a:solidFill>
                  <a:srgbClr val="FFFFFF"/>
                </a:solidFill>
              </a:uFill>
              <a:latin typeface="Arial"/>
            </a:endParaRPr>
          </a:p>
        </p:txBody>
      </p:sp>
      <p:sp>
        <p:nvSpPr>
          <p:cNvPr id="386" name="CustomShape 4"/>
          <p:cNvSpPr/>
          <p:nvPr/>
        </p:nvSpPr>
        <p:spPr>
          <a:xfrm>
            <a:off x="4716000" y="2351160"/>
            <a:ext cx="11484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1</a:t>
            </a:r>
            <a:endParaRPr lang="en-US" sz="1800" strike="noStrike" spc="-1">
              <a:solidFill>
                <a:srgbClr val="000000"/>
              </a:solidFill>
              <a:uFill>
                <a:solidFill>
                  <a:srgbClr val="FFFFFF"/>
                </a:solidFill>
              </a:uFill>
              <a:latin typeface="Arial"/>
            </a:endParaRPr>
          </a:p>
        </p:txBody>
      </p:sp>
      <p:sp>
        <p:nvSpPr>
          <p:cNvPr id="387" name="Line 5"/>
          <p:cNvSpPr/>
          <p:nvPr/>
        </p:nvSpPr>
        <p:spPr>
          <a:xfrm flipH="1">
            <a:off x="4601880" y="4559040"/>
            <a:ext cx="72900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388" name="CustomShape 6"/>
          <p:cNvSpPr/>
          <p:nvPr/>
        </p:nvSpPr>
        <p:spPr>
          <a:xfrm>
            <a:off x="5347080" y="4229280"/>
            <a:ext cx="1961280" cy="537840"/>
          </a:xfrm>
          <a:custGeom>
            <a:avLst/>
            <a:gdLst/>
            <a:ahLst/>
            <a:cxnLst/>
            <a:rect l="l" t="t" r="r" b="b"/>
            <a:pathLst>
              <a:path w="199" h="178">
                <a:moveTo>
                  <a:pt x="199" y="162"/>
                </a:moveTo>
                <a:cubicBezTo>
                  <a:pt x="199" y="170"/>
                  <a:pt x="191" y="178"/>
                  <a:pt x="183" y="178"/>
                </a:cubicBezTo>
                <a:cubicBezTo>
                  <a:pt x="16" y="178"/>
                  <a:pt x="16" y="178"/>
                  <a:pt x="16" y="178"/>
                </a:cubicBezTo>
                <a:cubicBezTo>
                  <a:pt x="7" y="178"/>
                  <a:pt x="0" y="170"/>
                  <a:pt x="0" y="162"/>
                </a:cubicBezTo>
                <a:cubicBezTo>
                  <a:pt x="0" y="16"/>
                  <a:pt x="0" y="16"/>
                  <a:pt x="0" y="16"/>
                </a:cubicBezTo>
                <a:cubicBezTo>
                  <a:pt x="0" y="7"/>
                  <a:pt x="7" y="0"/>
                  <a:pt x="16" y="0"/>
                </a:cubicBezTo>
                <a:cubicBezTo>
                  <a:pt x="183" y="0"/>
                  <a:pt x="183" y="0"/>
                  <a:pt x="183" y="0"/>
                </a:cubicBezTo>
                <a:cubicBezTo>
                  <a:pt x="191" y="0"/>
                  <a:pt x="199" y="7"/>
                  <a:pt x="199" y="16"/>
                </a:cubicBezTo>
                <a:lnTo>
                  <a:pt x="199" y="162"/>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389" name="CustomShape 7"/>
          <p:cNvSpPr/>
          <p:nvPr/>
        </p:nvSpPr>
        <p:spPr>
          <a:xfrm>
            <a:off x="5405400" y="4229280"/>
            <a:ext cx="1842120" cy="4266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Calibri"/>
                <a:ea typeface="MS PGothic"/>
              </a:rPr>
              <a:t>… leaves the quantity demanded unchanged.</a:t>
            </a:r>
            <a:endParaRPr lang="en-US" sz="1800" strike="noStrike" spc="-1">
              <a:solidFill>
                <a:srgbClr val="000000"/>
              </a:solidFill>
              <a:uFill>
                <a:solidFill>
                  <a:srgbClr val="FFFFFF"/>
                </a:solidFill>
              </a:uFill>
              <a:latin typeface="Arial"/>
            </a:endParaRPr>
          </a:p>
        </p:txBody>
      </p:sp>
      <p:sp>
        <p:nvSpPr>
          <p:cNvPr id="390" name="CustomShape 8"/>
          <p:cNvSpPr/>
          <p:nvPr/>
        </p:nvSpPr>
        <p:spPr>
          <a:xfrm>
            <a:off x="1260360" y="3433680"/>
            <a:ext cx="1150560" cy="533160"/>
          </a:xfrm>
          <a:custGeom>
            <a:avLst/>
            <a:gdLst/>
            <a:ahLst/>
            <a:cxnLst/>
            <a:rect l="l" t="t" r="r" b="b"/>
            <a:pathLst>
              <a:path w="188" h="101">
                <a:moveTo>
                  <a:pt x="188" y="85"/>
                </a:moveTo>
                <a:cubicBezTo>
                  <a:pt x="188" y="93"/>
                  <a:pt x="181" y="101"/>
                  <a:pt x="172" y="101"/>
                </a:cubicBezTo>
                <a:cubicBezTo>
                  <a:pt x="16" y="101"/>
                  <a:pt x="16" y="101"/>
                  <a:pt x="16" y="101"/>
                </a:cubicBezTo>
                <a:cubicBezTo>
                  <a:pt x="7" y="101"/>
                  <a:pt x="0" y="93"/>
                  <a:pt x="0" y="85"/>
                </a:cubicBezTo>
                <a:cubicBezTo>
                  <a:pt x="0" y="16"/>
                  <a:pt x="0" y="16"/>
                  <a:pt x="0" y="16"/>
                </a:cubicBezTo>
                <a:cubicBezTo>
                  <a:pt x="0" y="7"/>
                  <a:pt x="7" y="0"/>
                  <a:pt x="16" y="0"/>
                </a:cubicBezTo>
                <a:cubicBezTo>
                  <a:pt x="172" y="0"/>
                  <a:pt x="172" y="0"/>
                  <a:pt x="172" y="0"/>
                </a:cubicBezTo>
                <a:cubicBezTo>
                  <a:pt x="181" y="0"/>
                  <a:pt x="188" y="7"/>
                  <a:pt x="188" y="16"/>
                </a:cubicBezTo>
                <a:lnTo>
                  <a:pt x="188" y="85"/>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391" name="CustomShape 9"/>
          <p:cNvSpPr/>
          <p:nvPr/>
        </p:nvSpPr>
        <p:spPr>
          <a:xfrm>
            <a:off x="1109520" y="3537000"/>
            <a:ext cx="1422000" cy="4266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Calibri"/>
                <a:ea typeface="MS PGothic"/>
              </a:rPr>
              <a:t>An increase in price…</a:t>
            </a:r>
            <a:endParaRPr lang="en-US" sz="1800" strike="noStrike" spc="-1">
              <a:solidFill>
                <a:srgbClr val="000000"/>
              </a:solidFill>
              <a:uFill>
                <a:solidFill>
                  <a:srgbClr val="FFFFFF"/>
                </a:solidFill>
              </a:uFill>
              <a:latin typeface="Arial"/>
            </a:endParaRPr>
          </a:p>
        </p:txBody>
      </p:sp>
      <p:sp>
        <p:nvSpPr>
          <p:cNvPr id="392" name="Line 10"/>
          <p:cNvSpPr/>
          <p:nvPr/>
        </p:nvSpPr>
        <p:spPr>
          <a:xfrm flipV="1">
            <a:off x="2555640" y="3635280"/>
            <a:ext cx="360" cy="226800"/>
          </a:xfrm>
          <a:prstGeom prst="line">
            <a:avLst/>
          </a:prstGeom>
          <a:ln w="12600">
            <a:solidFill>
              <a:srgbClr val="000000"/>
            </a:solidFill>
            <a:miter/>
          </a:ln>
        </p:spPr>
        <p:style>
          <a:lnRef idx="0">
            <a:scrgbClr r="0" g="0" b="0"/>
          </a:lnRef>
          <a:fillRef idx="0">
            <a:scrgbClr r="0" g="0" b="0"/>
          </a:fillRef>
          <a:effectRef idx="0">
            <a:scrgbClr r="0" g="0" b="0"/>
          </a:effectRef>
          <a:fontRef idx="minor"/>
        </p:style>
      </p:sp>
      <p:sp>
        <p:nvSpPr>
          <p:cNvPr id="393" name="CustomShape 11"/>
          <p:cNvSpPr/>
          <p:nvPr/>
        </p:nvSpPr>
        <p:spPr>
          <a:xfrm>
            <a:off x="2513160" y="3537000"/>
            <a:ext cx="82080" cy="129960"/>
          </a:xfrm>
          <a:custGeom>
            <a:avLst/>
            <a:gdLst/>
            <a:ahLst/>
            <a:cxnLst/>
            <a:rect l="l" t="t" r="r" b="b"/>
            <a:pathLst>
              <a:path w="14" h="21">
                <a:moveTo>
                  <a:pt x="7" y="18"/>
                </a:moveTo>
                <a:cubicBezTo>
                  <a:pt x="1" y="21"/>
                  <a:pt x="1" y="21"/>
                  <a:pt x="1" y="21"/>
                </a:cubicBezTo>
                <a:cubicBezTo>
                  <a:pt x="0" y="21"/>
                  <a:pt x="0" y="21"/>
                  <a:pt x="0" y="21"/>
                </a:cubicBezTo>
                <a:cubicBezTo>
                  <a:pt x="5" y="11"/>
                  <a:pt x="5" y="11"/>
                  <a:pt x="5" y="11"/>
                </a:cubicBezTo>
                <a:cubicBezTo>
                  <a:pt x="5" y="7"/>
                  <a:pt x="6" y="3"/>
                  <a:pt x="7" y="0"/>
                </a:cubicBezTo>
                <a:cubicBezTo>
                  <a:pt x="8" y="3"/>
                  <a:pt x="9" y="7"/>
                  <a:pt x="10" y="11"/>
                </a:cubicBezTo>
                <a:cubicBezTo>
                  <a:pt x="14" y="21"/>
                  <a:pt x="14" y="21"/>
                  <a:pt x="14" y="21"/>
                </a:cubicBezTo>
                <a:cubicBezTo>
                  <a:pt x="14" y="21"/>
                  <a:pt x="14" y="21"/>
                  <a:pt x="14" y="21"/>
                </a:cubicBezTo>
                <a:lnTo>
                  <a:pt x="7" y="18"/>
                </a:lnTo>
                <a:close/>
              </a:path>
            </a:pathLst>
          </a:custGeom>
          <a:solidFill>
            <a:srgbClr val="000000"/>
          </a:solidFill>
          <a:ln w="9360">
            <a:noFill/>
          </a:ln>
        </p:spPr>
        <p:style>
          <a:lnRef idx="0">
            <a:scrgbClr r="0" g="0" b="0"/>
          </a:lnRef>
          <a:fillRef idx="0">
            <a:scrgbClr r="0" g="0" b="0"/>
          </a:fillRef>
          <a:effectRef idx="0">
            <a:scrgbClr r="0" g="0" b="0"/>
          </a:effectRef>
          <a:fontRef idx="minor"/>
        </p:style>
      </p:sp>
      <p:sp>
        <p:nvSpPr>
          <p:cNvPr id="394" name="CustomShape 12"/>
          <p:cNvSpPr/>
          <p:nvPr/>
        </p:nvSpPr>
        <p:spPr>
          <a:xfrm>
            <a:off x="4535280" y="5600880"/>
            <a:ext cx="11484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1</a:t>
            </a:r>
            <a:endParaRPr lang="en-US" sz="1800" strike="noStrike" spc="-1">
              <a:solidFill>
                <a:srgbClr val="000000"/>
              </a:solidFill>
              <a:uFill>
                <a:solidFill>
                  <a:srgbClr val="FFFFFF"/>
                </a:solidFill>
              </a:uFill>
              <a:latin typeface="Arial"/>
            </a:endParaRPr>
          </a:p>
        </p:txBody>
      </p:sp>
      <p:sp>
        <p:nvSpPr>
          <p:cNvPr id="395" name="CustomShape 13"/>
          <p:cNvSpPr/>
          <p:nvPr/>
        </p:nvSpPr>
        <p:spPr>
          <a:xfrm>
            <a:off x="2719080" y="5600880"/>
            <a:ext cx="11484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396" name="CustomShape 14"/>
          <p:cNvSpPr/>
          <p:nvPr/>
        </p:nvSpPr>
        <p:spPr>
          <a:xfrm>
            <a:off x="4272120" y="5727600"/>
            <a:ext cx="4419360" cy="21348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b="1" strike="noStrike" spc="-1">
                <a:solidFill>
                  <a:srgbClr val="000000"/>
                </a:solidFill>
                <a:uFill>
                  <a:solidFill>
                    <a:srgbClr val="FFFFFF"/>
                  </a:solidFill>
                </a:uFill>
                <a:latin typeface="Calibri"/>
                <a:ea typeface="MS PGothic"/>
              </a:rPr>
              <a:t>Quantity of shoelaces (billions of pairs per year)</a:t>
            </a:r>
            <a:endParaRPr lang="en-US" sz="1800" strike="noStrike" spc="-1">
              <a:solidFill>
                <a:srgbClr val="000000"/>
              </a:solidFill>
              <a:uFill>
                <a:solidFill>
                  <a:srgbClr val="FFFFFF"/>
                </a:solidFill>
              </a:uFill>
              <a:latin typeface="Arial"/>
            </a:endParaRPr>
          </a:p>
        </p:txBody>
      </p:sp>
      <p:sp>
        <p:nvSpPr>
          <p:cNvPr id="397" name="CustomShape 15"/>
          <p:cNvSpPr/>
          <p:nvPr/>
        </p:nvSpPr>
        <p:spPr>
          <a:xfrm>
            <a:off x="2600640" y="3325680"/>
            <a:ext cx="22788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$3</a:t>
            </a:r>
            <a:endParaRPr lang="en-US" sz="1800" strike="noStrike" spc="-1">
              <a:solidFill>
                <a:srgbClr val="000000"/>
              </a:solidFill>
              <a:uFill>
                <a:solidFill>
                  <a:srgbClr val="FFFFFF"/>
                </a:solidFill>
              </a:uFill>
              <a:latin typeface="Arial"/>
            </a:endParaRPr>
          </a:p>
        </p:txBody>
      </p:sp>
      <p:sp>
        <p:nvSpPr>
          <p:cNvPr id="398" name="CustomShape 16"/>
          <p:cNvSpPr/>
          <p:nvPr/>
        </p:nvSpPr>
        <p:spPr>
          <a:xfrm>
            <a:off x="2580120" y="3879720"/>
            <a:ext cx="22788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$2</a:t>
            </a:r>
            <a:endParaRPr lang="en-US" sz="1800" strike="noStrike" spc="-1">
              <a:solidFill>
                <a:srgbClr val="000000"/>
              </a:solidFill>
              <a:uFill>
                <a:solidFill>
                  <a:srgbClr val="FFFFFF"/>
                </a:solidFill>
              </a:uFill>
              <a:latin typeface="Arial"/>
            </a:endParaRPr>
          </a:p>
        </p:txBody>
      </p:sp>
      <p:sp>
        <p:nvSpPr>
          <p:cNvPr id="399" name="CustomShape 17"/>
          <p:cNvSpPr/>
          <p:nvPr/>
        </p:nvSpPr>
        <p:spPr>
          <a:xfrm>
            <a:off x="1833480" y="1517760"/>
            <a:ext cx="1739520" cy="4266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b="1" strike="noStrike" spc="-1">
                <a:solidFill>
                  <a:srgbClr val="000000"/>
                </a:solidFill>
                <a:uFill>
                  <a:solidFill>
                    <a:srgbClr val="FFFFFF"/>
                  </a:solidFill>
                </a:uFill>
                <a:latin typeface="Calibri"/>
                <a:ea typeface="MS PGothic"/>
              </a:rPr>
              <a:t>Price of shoelaces </a:t>
            </a:r>
            <a:endParaRPr lang="en-US" sz="1800" strike="noStrike" spc="-1">
              <a:solidFill>
                <a:srgbClr val="000000"/>
              </a:solidFill>
              <a:uFill>
                <a:solidFill>
                  <a:srgbClr val="FFFFFF"/>
                </a:solidFill>
              </a:uFill>
              <a:latin typeface="Arial"/>
            </a:endParaRPr>
          </a:p>
          <a:p>
            <a:pPr marL="1440" indent="-1080" algn="ctr">
              <a:lnSpc>
                <a:spcPct val="100000"/>
              </a:lnSpc>
            </a:pPr>
            <a:r>
              <a:rPr lang="en-US" sz="1400" b="1" strike="noStrike" spc="-1">
                <a:solidFill>
                  <a:srgbClr val="000000"/>
                </a:solidFill>
                <a:uFill>
                  <a:solidFill>
                    <a:srgbClr val="FFFFFF"/>
                  </a:solidFill>
                </a:uFill>
                <a:latin typeface="Calibri"/>
                <a:ea typeface="MS PGothic"/>
              </a:rPr>
              <a:t>(per pair)</a:t>
            </a:r>
            <a:endParaRPr lang="en-US" sz="1800" strike="noStrike" spc="-1">
              <a:solidFill>
                <a:srgbClr val="000000"/>
              </a:solidFill>
              <a:uFill>
                <a:solidFill>
                  <a:srgbClr val="FFFFFF"/>
                </a:solidFill>
              </a:uFill>
              <a:latin typeface="Arial"/>
            </a:endParaRPr>
          </a:p>
        </p:txBody>
      </p:sp>
      <p:sp>
        <p:nvSpPr>
          <p:cNvPr id="400" name="Line 18"/>
          <p:cNvSpPr/>
          <p:nvPr/>
        </p:nvSpPr>
        <p:spPr>
          <a:xfrm>
            <a:off x="2930400" y="3454200"/>
            <a:ext cx="14112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401" name="Line 19"/>
          <p:cNvSpPr/>
          <p:nvPr/>
        </p:nvSpPr>
        <p:spPr>
          <a:xfrm>
            <a:off x="2930400" y="4012920"/>
            <a:ext cx="14112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402" name="Line 20"/>
          <p:cNvSpPr/>
          <p:nvPr/>
        </p:nvSpPr>
        <p:spPr>
          <a:xfrm flipV="1">
            <a:off x="2930400" y="1800000"/>
            <a:ext cx="360" cy="341964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403" name="CustomShape 21"/>
          <p:cNvSpPr/>
          <p:nvPr/>
        </p:nvSpPr>
        <p:spPr>
          <a:xfrm>
            <a:off x="2930400" y="5321160"/>
            <a:ext cx="3804840" cy="225000"/>
          </a:xfrm>
          <a:custGeom>
            <a:avLst/>
            <a:gdLst/>
            <a:ahLst/>
            <a:cxnLst/>
            <a:rect l="l" t="t" r="r" b="b"/>
            <a:pathLst>
              <a:path w="1798" h="100">
                <a:moveTo>
                  <a:pt x="1798" y="100"/>
                </a:moveTo>
                <a:lnTo>
                  <a:pt x="0" y="100"/>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sp>
      <p:sp>
        <p:nvSpPr>
          <p:cNvPr id="404" name="Line 22"/>
          <p:cNvSpPr/>
          <p:nvPr/>
        </p:nvSpPr>
        <p:spPr>
          <a:xfrm flipV="1">
            <a:off x="2866680" y="5181480"/>
            <a:ext cx="122400" cy="7632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405" name="Line 23"/>
          <p:cNvSpPr/>
          <p:nvPr/>
        </p:nvSpPr>
        <p:spPr>
          <a:xfrm flipV="1">
            <a:off x="2866680" y="5283000"/>
            <a:ext cx="122400" cy="7452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406" name="CustomShape 24"/>
          <p:cNvSpPr/>
          <p:nvPr/>
        </p:nvSpPr>
        <p:spPr>
          <a:xfrm>
            <a:off x="3492360" y="3441600"/>
            <a:ext cx="234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07" name="CustomShape 25"/>
          <p:cNvSpPr/>
          <p:nvPr/>
        </p:nvSpPr>
        <p:spPr>
          <a:xfrm>
            <a:off x="3598920" y="3441600"/>
            <a:ext cx="234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08" name="CustomShape 26"/>
          <p:cNvSpPr/>
          <p:nvPr/>
        </p:nvSpPr>
        <p:spPr>
          <a:xfrm>
            <a:off x="3705120" y="3441600"/>
            <a:ext cx="2196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09" name="CustomShape 27"/>
          <p:cNvSpPr/>
          <p:nvPr/>
        </p:nvSpPr>
        <p:spPr>
          <a:xfrm>
            <a:off x="3809880" y="3441600"/>
            <a:ext cx="234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10" name="CustomShape 28"/>
          <p:cNvSpPr/>
          <p:nvPr/>
        </p:nvSpPr>
        <p:spPr>
          <a:xfrm>
            <a:off x="3922560" y="3441600"/>
            <a:ext cx="234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11" name="CustomShape 29"/>
          <p:cNvSpPr/>
          <p:nvPr/>
        </p:nvSpPr>
        <p:spPr>
          <a:xfrm>
            <a:off x="4029120" y="3441600"/>
            <a:ext cx="252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12" name="CustomShape 30"/>
          <p:cNvSpPr/>
          <p:nvPr/>
        </p:nvSpPr>
        <p:spPr>
          <a:xfrm>
            <a:off x="4137120" y="3441600"/>
            <a:ext cx="2196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13" name="CustomShape 31"/>
          <p:cNvSpPr/>
          <p:nvPr/>
        </p:nvSpPr>
        <p:spPr>
          <a:xfrm>
            <a:off x="4241880" y="3441600"/>
            <a:ext cx="234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14" name="CustomShape 32"/>
          <p:cNvSpPr/>
          <p:nvPr/>
        </p:nvSpPr>
        <p:spPr>
          <a:xfrm>
            <a:off x="4348080" y="3441600"/>
            <a:ext cx="234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15" name="CustomShape 33"/>
          <p:cNvSpPr/>
          <p:nvPr/>
        </p:nvSpPr>
        <p:spPr>
          <a:xfrm>
            <a:off x="4454640" y="3441600"/>
            <a:ext cx="2196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16" name="CustomShape 34"/>
          <p:cNvSpPr/>
          <p:nvPr/>
        </p:nvSpPr>
        <p:spPr>
          <a:xfrm>
            <a:off x="4543560" y="3392640"/>
            <a:ext cx="117000" cy="1234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17" name="CustomShape 35"/>
          <p:cNvSpPr/>
          <p:nvPr/>
        </p:nvSpPr>
        <p:spPr>
          <a:xfrm>
            <a:off x="3492360" y="4000680"/>
            <a:ext cx="2340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18" name="CustomShape 36"/>
          <p:cNvSpPr/>
          <p:nvPr/>
        </p:nvSpPr>
        <p:spPr>
          <a:xfrm>
            <a:off x="3598920" y="4000680"/>
            <a:ext cx="2340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19" name="CustomShape 37"/>
          <p:cNvSpPr/>
          <p:nvPr/>
        </p:nvSpPr>
        <p:spPr>
          <a:xfrm>
            <a:off x="3705120" y="4000680"/>
            <a:ext cx="2196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20" name="CustomShape 38"/>
          <p:cNvSpPr/>
          <p:nvPr/>
        </p:nvSpPr>
        <p:spPr>
          <a:xfrm>
            <a:off x="3809880" y="4000680"/>
            <a:ext cx="2340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21" name="CustomShape 39"/>
          <p:cNvSpPr/>
          <p:nvPr/>
        </p:nvSpPr>
        <p:spPr>
          <a:xfrm>
            <a:off x="3922560" y="4000680"/>
            <a:ext cx="2340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22" name="CustomShape 40"/>
          <p:cNvSpPr/>
          <p:nvPr/>
        </p:nvSpPr>
        <p:spPr>
          <a:xfrm>
            <a:off x="4029120" y="4000680"/>
            <a:ext cx="2520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23" name="CustomShape 41"/>
          <p:cNvSpPr/>
          <p:nvPr/>
        </p:nvSpPr>
        <p:spPr>
          <a:xfrm>
            <a:off x="4137120" y="4000680"/>
            <a:ext cx="2196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24" name="CustomShape 42"/>
          <p:cNvSpPr/>
          <p:nvPr/>
        </p:nvSpPr>
        <p:spPr>
          <a:xfrm>
            <a:off x="4241880" y="4000680"/>
            <a:ext cx="2340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25" name="CustomShape 43"/>
          <p:cNvSpPr/>
          <p:nvPr/>
        </p:nvSpPr>
        <p:spPr>
          <a:xfrm>
            <a:off x="4348080" y="4000680"/>
            <a:ext cx="2340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26" name="CustomShape 44"/>
          <p:cNvSpPr/>
          <p:nvPr/>
        </p:nvSpPr>
        <p:spPr>
          <a:xfrm>
            <a:off x="4454640" y="4000680"/>
            <a:ext cx="2196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27" name="CustomShape 45"/>
          <p:cNvSpPr/>
          <p:nvPr/>
        </p:nvSpPr>
        <p:spPr>
          <a:xfrm>
            <a:off x="4543560" y="3951360"/>
            <a:ext cx="117000" cy="12492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28" name="CustomShape 46"/>
          <p:cNvSpPr/>
          <p:nvPr/>
        </p:nvSpPr>
        <p:spPr>
          <a:xfrm>
            <a:off x="3170880" y="952560"/>
            <a:ext cx="20160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b="1" strike="noStrike" spc="-1">
                <a:solidFill>
                  <a:srgbClr val="000000"/>
                </a:solidFill>
                <a:uFill>
                  <a:solidFill>
                    <a:srgbClr val="FFFFFF"/>
                  </a:solidFill>
                </a:uFill>
                <a:latin typeface="Calibri"/>
                <a:ea typeface="MS PGothic"/>
              </a:rPr>
              <a:t>(a)</a:t>
            </a:r>
            <a:endParaRPr lang="en-US" sz="1800" strike="noStrike" spc="-1">
              <a:solidFill>
                <a:srgbClr val="000000"/>
              </a:solidFill>
              <a:uFill>
                <a:solidFill>
                  <a:srgbClr val="FFFFFF"/>
                </a:solidFill>
              </a:uFill>
              <a:latin typeface="Arial"/>
            </a:endParaRPr>
          </a:p>
        </p:txBody>
      </p:sp>
      <p:sp>
        <p:nvSpPr>
          <p:cNvPr id="429" name="CustomShape 47"/>
          <p:cNvSpPr/>
          <p:nvPr/>
        </p:nvSpPr>
        <p:spPr>
          <a:xfrm>
            <a:off x="3492360" y="952560"/>
            <a:ext cx="3092040" cy="4266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b="1" strike="noStrike" spc="-1">
                <a:solidFill>
                  <a:srgbClr val="000000"/>
                </a:solidFill>
                <a:uFill>
                  <a:solidFill>
                    <a:srgbClr val="FFFFFF"/>
                  </a:solidFill>
                </a:uFill>
                <a:latin typeface="Calibri"/>
                <a:ea typeface="MS PGothic"/>
              </a:rPr>
              <a:t>Perfectly Inelastic Demand: </a:t>
            </a:r>
            <a:endParaRPr lang="en-US" sz="1800" strike="noStrike" spc="-1">
              <a:solidFill>
                <a:srgbClr val="000000"/>
              </a:solidFill>
              <a:uFill>
                <a:solidFill>
                  <a:srgbClr val="FFFFFF"/>
                </a:solidFill>
              </a:uFill>
              <a:latin typeface="Arial"/>
            </a:endParaRPr>
          </a:p>
          <a:p>
            <a:pPr marL="1440" indent="-1080" algn="ctr">
              <a:lnSpc>
                <a:spcPct val="100000"/>
              </a:lnSpc>
            </a:pPr>
            <a:r>
              <a:rPr lang="en-US" sz="1400" b="1" strike="noStrike" spc="-1">
                <a:solidFill>
                  <a:srgbClr val="000000"/>
                </a:solidFill>
                <a:uFill>
                  <a:solidFill>
                    <a:srgbClr val="FFFFFF"/>
                  </a:solidFill>
                </a:uFill>
                <a:latin typeface="Calibri"/>
                <a:ea typeface="MS PGothic"/>
              </a:rPr>
              <a:t>Price Elasticity of Demand = 0</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TextShape 1"/>
          <p:cNvSpPr txBox="1"/>
          <p:nvPr/>
        </p:nvSpPr>
        <p:spPr>
          <a:xfrm>
            <a:off x="990720" y="60480"/>
            <a:ext cx="7902360" cy="555120"/>
          </a:xfrm>
          <a:prstGeom prst="rect">
            <a:avLst/>
          </a:prstGeom>
          <a:noFill/>
          <a:ln>
            <a:noFill/>
          </a:ln>
        </p:spPr>
        <p:txBody>
          <a:bodyPr anchor="ctr"/>
          <a:lstStyle/>
          <a:p>
            <a:pPr>
              <a:lnSpc>
                <a:spcPct val="100000"/>
              </a:lnSpc>
            </a:pPr>
            <a:r>
              <a:rPr lang="id-ID" sz="2400" b="1" strike="noStrike" spc="-1">
                <a:solidFill>
                  <a:srgbClr val="FFFFFF"/>
                </a:solidFill>
                <a:uFill>
                  <a:solidFill>
                    <a:srgbClr val="FFFFFF"/>
                  </a:solidFill>
                </a:uFill>
                <a:latin typeface="Calibri"/>
                <a:ea typeface="MS PGothic"/>
              </a:rPr>
              <a:t>Two Extreme Cases of Price Elasticity of Demand</a:t>
            </a:r>
            <a:endParaRPr lang="id-ID" sz="3200" strike="noStrike" spc="-1">
              <a:solidFill>
                <a:srgbClr val="000000"/>
              </a:solidFill>
              <a:uFill>
                <a:solidFill>
                  <a:srgbClr val="FFFFFF"/>
                </a:solidFill>
              </a:uFill>
              <a:latin typeface="Calibri"/>
            </a:endParaRPr>
          </a:p>
        </p:txBody>
      </p:sp>
      <p:sp>
        <p:nvSpPr>
          <p:cNvPr id="431" name="CustomShape 2"/>
          <p:cNvSpPr/>
          <p:nvPr/>
        </p:nvSpPr>
        <p:spPr>
          <a:xfrm>
            <a:off x="900000" y="2819520"/>
            <a:ext cx="1944360" cy="753840"/>
          </a:xfrm>
          <a:custGeom>
            <a:avLst/>
            <a:gdLst/>
            <a:ahLst/>
            <a:cxnLst/>
            <a:rect l="l" t="t" r="r" b="b"/>
            <a:pathLst>
              <a:path w="281" h="132">
                <a:moveTo>
                  <a:pt x="281" y="116"/>
                </a:moveTo>
                <a:cubicBezTo>
                  <a:pt x="281" y="125"/>
                  <a:pt x="274" y="132"/>
                  <a:pt x="265" y="132"/>
                </a:cubicBezTo>
                <a:cubicBezTo>
                  <a:pt x="16" y="132"/>
                  <a:pt x="16" y="132"/>
                  <a:pt x="16" y="132"/>
                </a:cubicBezTo>
                <a:cubicBezTo>
                  <a:pt x="7" y="132"/>
                  <a:pt x="0" y="125"/>
                  <a:pt x="0" y="116"/>
                </a:cubicBezTo>
                <a:cubicBezTo>
                  <a:pt x="0" y="16"/>
                  <a:pt x="0" y="16"/>
                  <a:pt x="0" y="16"/>
                </a:cubicBezTo>
                <a:cubicBezTo>
                  <a:pt x="0" y="7"/>
                  <a:pt x="7" y="0"/>
                  <a:pt x="16" y="0"/>
                </a:cubicBezTo>
                <a:cubicBezTo>
                  <a:pt x="265" y="0"/>
                  <a:pt x="265" y="0"/>
                  <a:pt x="265" y="0"/>
                </a:cubicBezTo>
                <a:cubicBezTo>
                  <a:pt x="274" y="0"/>
                  <a:pt x="281" y="7"/>
                  <a:pt x="281" y="16"/>
                </a:cubicBezTo>
                <a:lnTo>
                  <a:pt x="281" y="116"/>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432" name="CustomShape 3"/>
          <p:cNvSpPr/>
          <p:nvPr/>
        </p:nvSpPr>
        <p:spPr>
          <a:xfrm>
            <a:off x="976320" y="2895480"/>
            <a:ext cx="1798200" cy="6397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At any price above $5, quantity demanded is zero</a:t>
            </a:r>
            <a:endParaRPr lang="en-US" sz="1800" strike="noStrike" spc="-1">
              <a:solidFill>
                <a:srgbClr val="000000"/>
              </a:solidFill>
              <a:uFill>
                <a:solidFill>
                  <a:srgbClr val="FFFFFF"/>
                </a:solidFill>
              </a:uFill>
              <a:latin typeface="Arial"/>
            </a:endParaRPr>
          </a:p>
        </p:txBody>
      </p:sp>
      <p:sp>
        <p:nvSpPr>
          <p:cNvPr id="433" name="Line 4"/>
          <p:cNvSpPr/>
          <p:nvPr/>
        </p:nvSpPr>
        <p:spPr>
          <a:xfrm>
            <a:off x="5051880" y="3622320"/>
            <a:ext cx="360" cy="284400"/>
          </a:xfrm>
          <a:prstGeom prst="line">
            <a:avLst/>
          </a:prstGeom>
          <a:ln w="9360">
            <a:solidFill>
              <a:srgbClr val="000000"/>
            </a:solidFill>
            <a:miter/>
          </a:ln>
        </p:spPr>
        <p:style>
          <a:lnRef idx="0">
            <a:scrgbClr r="0" g="0" b="0"/>
          </a:lnRef>
          <a:fillRef idx="0">
            <a:scrgbClr r="0" g="0" b="0"/>
          </a:fillRef>
          <a:effectRef idx="0">
            <a:scrgbClr r="0" g="0" b="0"/>
          </a:effectRef>
          <a:fontRef idx="minor"/>
        </p:style>
      </p:sp>
      <p:sp>
        <p:nvSpPr>
          <p:cNvPr id="434" name="CustomShape 5"/>
          <p:cNvSpPr/>
          <p:nvPr/>
        </p:nvSpPr>
        <p:spPr>
          <a:xfrm>
            <a:off x="4038480" y="2637000"/>
            <a:ext cx="2018880" cy="942480"/>
          </a:xfrm>
          <a:custGeom>
            <a:avLst/>
            <a:gdLst/>
            <a:ahLst/>
            <a:cxnLst/>
            <a:rect l="l" t="t" r="r" b="b"/>
            <a:pathLst>
              <a:path w="224" h="178">
                <a:moveTo>
                  <a:pt x="224" y="162"/>
                </a:moveTo>
                <a:cubicBezTo>
                  <a:pt x="224" y="170"/>
                  <a:pt x="216" y="178"/>
                  <a:pt x="206" y="178"/>
                </a:cubicBezTo>
                <a:cubicBezTo>
                  <a:pt x="18" y="178"/>
                  <a:pt x="18" y="178"/>
                  <a:pt x="18" y="178"/>
                </a:cubicBezTo>
                <a:cubicBezTo>
                  <a:pt x="8" y="178"/>
                  <a:pt x="0" y="170"/>
                  <a:pt x="0" y="162"/>
                </a:cubicBezTo>
                <a:cubicBezTo>
                  <a:pt x="0" y="16"/>
                  <a:pt x="0" y="16"/>
                  <a:pt x="0" y="16"/>
                </a:cubicBezTo>
                <a:cubicBezTo>
                  <a:pt x="0" y="7"/>
                  <a:pt x="8" y="0"/>
                  <a:pt x="18" y="0"/>
                </a:cubicBezTo>
                <a:cubicBezTo>
                  <a:pt x="206" y="0"/>
                  <a:pt x="206" y="0"/>
                  <a:pt x="206" y="0"/>
                </a:cubicBezTo>
                <a:cubicBezTo>
                  <a:pt x="216" y="0"/>
                  <a:pt x="224" y="7"/>
                  <a:pt x="224" y="16"/>
                </a:cubicBezTo>
                <a:lnTo>
                  <a:pt x="224" y="162"/>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435" name="CustomShape 6"/>
          <p:cNvSpPr/>
          <p:nvPr/>
        </p:nvSpPr>
        <p:spPr>
          <a:xfrm>
            <a:off x="4083480" y="2708280"/>
            <a:ext cx="1799280" cy="6397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At exactly $5, consumers will buy any quantity</a:t>
            </a:r>
            <a:endParaRPr lang="en-US" sz="1800" strike="noStrike" spc="-1">
              <a:solidFill>
                <a:srgbClr val="000000"/>
              </a:solidFill>
              <a:uFill>
                <a:solidFill>
                  <a:srgbClr val="FFFFFF"/>
                </a:solidFill>
              </a:uFill>
              <a:latin typeface="Arial"/>
            </a:endParaRPr>
          </a:p>
        </p:txBody>
      </p:sp>
      <p:sp>
        <p:nvSpPr>
          <p:cNvPr id="436" name="CustomShape 7"/>
          <p:cNvSpPr/>
          <p:nvPr/>
        </p:nvSpPr>
        <p:spPr>
          <a:xfrm>
            <a:off x="928440" y="4038480"/>
            <a:ext cx="1776600" cy="1114920"/>
          </a:xfrm>
          <a:custGeom>
            <a:avLst/>
            <a:gdLst/>
            <a:ahLst/>
            <a:cxnLst/>
            <a:rect l="l" t="t" r="r" b="b"/>
            <a:pathLst>
              <a:path w="281" h="177">
                <a:moveTo>
                  <a:pt x="281" y="161"/>
                </a:moveTo>
                <a:cubicBezTo>
                  <a:pt x="281" y="170"/>
                  <a:pt x="274" y="177"/>
                  <a:pt x="265" y="177"/>
                </a:cubicBezTo>
                <a:cubicBezTo>
                  <a:pt x="16" y="177"/>
                  <a:pt x="16" y="177"/>
                  <a:pt x="16" y="177"/>
                </a:cubicBezTo>
                <a:cubicBezTo>
                  <a:pt x="7" y="177"/>
                  <a:pt x="0" y="170"/>
                  <a:pt x="0" y="161"/>
                </a:cubicBezTo>
                <a:cubicBezTo>
                  <a:pt x="0" y="16"/>
                  <a:pt x="0" y="16"/>
                  <a:pt x="0" y="16"/>
                </a:cubicBezTo>
                <a:cubicBezTo>
                  <a:pt x="0" y="7"/>
                  <a:pt x="7" y="0"/>
                  <a:pt x="16" y="0"/>
                </a:cubicBezTo>
                <a:cubicBezTo>
                  <a:pt x="265" y="0"/>
                  <a:pt x="265" y="0"/>
                  <a:pt x="265" y="0"/>
                </a:cubicBezTo>
                <a:cubicBezTo>
                  <a:pt x="274" y="0"/>
                  <a:pt x="281" y="7"/>
                  <a:pt x="281" y="16"/>
                </a:cubicBezTo>
                <a:lnTo>
                  <a:pt x="281" y="161"/>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437" name="CustomShape 8"/>
          <p:cNvSpPr/>
          <p:nvPr/>
        </p:nvSpPr>
        <p:spPr>
          <a:xfrm>
            <a:off x="900000" y="4214520"/>
            <a:ext cx="1761480" cy="8521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At any price below $5, quantity demanded is infinite</a:t>
            </a:r>
            <a:endParaRPr lang="en-US" sz="1800" strike="noStrike" spc="-1">
              <a:solidFill>
                <a:srgbClr val="000000"/>
              </a:solidFill>
              <a:uFill>
                <a:solidFill>
                  <a:srgbClr val="FFFFFF"/>
                </a:solidFill>
              </a:uFill>
              <a:latin typeface="Arial"/>
            </a:endParaRPr>
          </a:p>
        </p:txBody>
      </p:sp>
      <p:sp>
        <p:nvSpPr>
          <p:cNvPr id="438" name="Line 9"/>
          <p:cNvSpPr/>
          <p:nvPr/>
        </p:nvSpPr>
        <p:spPr>
          <a:xfrm flipH="1">
            <a:off x="2979720" y="3895560"/>
            <a:ext cx="3057480" cy="360"/>
          </a:xfrm>
          <a:prstGeom prst="line">
            <a:avLst/>
          </a:prstGeom>
          <a:ln w="34920">
            <a:solidFill>
              <a:srgbClr val="3C5DAA"/>
            </a:solidFill>
            <a:miter/>
          </a:ln>
        </p:spPr>
        <p:style>
          <a:lnRef idx="0">
            <a:scrgbClr r="0" g="0" b="0"/>
          </a:lnRef>
          <a:fillRef idx="0">
            <a:scrgbClr r="0" g="0" b="0"/>
          </a:fillRef>
          <a:effectRef idx="0">
            <a:scrgbClr r="0" g="0" b="0"/>
          </a:effectRef>
          <a:fontRef idx="minor"/>
        </p:style>
      </p:sp>
      <p:sp>
        <p:nvSpPr>
          <p:cNvPr id="439" name="CustomShape 10"/>
          <p:cNvSpPr/>
          <p:nvPr/>
        </p:nvSpPr>
        <p:spPr>
          <a:xfrm>
            <a:off x="6117480" y="3765600"/>
            <a:ext cx="131760" cy="213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D</a:t>
            </a:r>
            <a:endParaRPr lang="en-US" sz="1800" strike="noStrike" spc="-1">
              <a:solidFill>
                <a:srgbClr val="000000"/>
              </a:solidFill>
              <a:uFill>
                <a:solidFill>
                  <a:srgbClr val="FFFFFF"/>
                </a:solidFill>
              </a:uFill>
              <a:latin typeface="Arial"/>
            </a:endParaRPr>
          </a:p>
        </p:txBody>
      </p:sp>
      <p:sp>
        <p:nvSpPr>
          <p:cNvPr id="440" name="CustomShape 11"/>
          <p:cNvSpPr/>
          <p:nvPr/>
        </p:nvSpPr>
        <p:spPr>
          <a:xfrm>
            <a:off x="6260760" y="3868560"/>
            <a:ext cx="11484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2</a:t>
            </a:r>
            <a:endParaRPr lang="en-US" sz="1800" strike="noStrike" spc="-1">
              <a:solidFill>
                <a:srgbClr val="000000"/>
              </a:solidFill>
              <a:uFill>
                <a:solidFill>
                  <a:srgbClr val="FFFFFF"/>
                </a:solidFill>
              </a:uFill>
              <a:latin typeface="Arial"/>
            </a:endParaRPr>
          </a:p>
        </p:txBody>
      </p:sp>
      <p:sp>
        <p:nvSpPr>
          <p:cNvPr id="441" name="Line 12"/>
          <p:cNvSpPr/>
          <p:nvPr/>
        </p:nvSpPr>
        <p:spPr>
          <a:xfrm>
            <a:off x="2979720" y="3890880"/>
            <a:ext cx="137880" cy="360"/>
          </a:xfrm>
          <a:prstGeom prst="line">
            <a:avLst/>
          </a:prstGeom>
          <a:ln w="9360">
            <a:solidFill>
              <a:srgbClr val="000000"/>
            </a:solidFill>
            <a:miter/>
          </a:ln>
        </p:spPr>
        <p:style>
          <a:lnRef idx="0">
            <a:scrgbClr r="0" g="0" b="0"/>
          </a:lnRef>
          <a:fillRef idx="0">
            <a:scrgbClr r="0" g="0" b="0"/>
          </a:fillRef>
          <a:effectRef idx="0">
            <a:scrgbClr r="0" g="0" b="0"/>
          </a:effectRef>
          <a:fontRef idx="minor"/>
        </p:style>
      </p:sp>
      <p:sp>
        <p:nvSpPr>
          <p:cNvPr id="442" name="CustomShape 13"/>
          <p:cNvSpPr/>
          <p:nvPr/>
        </p:nvSpPr>
        <p:spPr>
          <a:xfrm>
            <a:off x="2749320" y="5425920"/>
            <a:ext cx="11484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443" name="CustomShape 14"/>
          <p:cNvSpPr/>
          <p:nvPr/>
        </p:nvSpPr>
        <p:spPr>
          <a:xfrm>
            <a:off x="2659320" y="3778200"/>
            <a:ext cx="22788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$5</a:t>
            </a:r>
            <a:endParaRPr lang="en-US" sz="1800" strike="noStrike" spc="-1">
              <a:solidFill>
                <a:srgbClr val="000000"/>
              </a:solidFill>
              <a:uFill>
                <a:solidFill>
                  <a:srgbClr val="FFFFFF"/>
                </a:solidFill>
              </a:uFill>
              <a:latin typeface="Arial"/>
            </a:endParaRPr>
          </a:p>
        </p:txBody>
      </p:sp>
      <p:sp>
        <p:nvSpPr>
          <p:cNvPr id="444" name="CustomShape 15"/>
          <p:cNvSpPr/>
          <p:nvPr/>
        </p:nvSpPr>
        <p:spPr>
          <a:xfrm>
            <a:off x="2979720" y="2048040"/>
            <a:ext cx="3687480" cy="3330360"/>
          </a:xfrm>
          <a:custGeom>
            <a:avLst/>
            <a:gdLst/>
            <a:ahLst/>
            <a:cxnLst/>
            <a:rect l="l" t="t" r="r" b="b"/>
            <a:pathLst>
              <a:path w="1792" h="1665">
                <a:moveTo>
                  <a:pt x="1792" y="1665"/>
                </a:moveTo>
                <a:lnTo>
                  <a:pt x="0" y="1665"/>
                </a:lnTo>
                <a:lnTo>
                  <a:pt x="0" y="0"/>
                </a:lnTo>
              </a:path>
            </a:pathLst>
          </a:custGeom>
          <a:noFill/>
          <a:ln w="9360">
            <a:solidFill>
              <a:srgbClr val="000000"/>
            </a:solidFill>
            <a:miter/>
          </a:ln>
        </p:spPr>
        <p:style>
          <a:lnRef idx="0">
            <a:scrgbClr r="0" g="0" b="0"/>
          </a:lnRef>
          <a:fillRef idx="0">
            <a:scrgbClr r="0" g="0" b="0"/>
          </a:fillRef>
          <a:effectRef idx="0">
            <a:scrgbClr r="0" g="0" b="0"/>
          </a:effectRef>
          <a:fontRef idx="minor"/>
        </p:style>
      </p:sp>
      <p:sp>
        <p:nvSpPr>
          <p:cNvPr id="445" name="CustomShape 16"/>
          <p:cNvSpPr/>
          <p:nvPr/>
        </p:nvSpPr>
        <p:spPr>
          <a:xfrm>
            <a:off x="4105440" y="5506920"/>
            <a:ext cx="3590640" cy="21348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b="1" strike="noStrike" spc="-1">
                <a:solidFill>
                  <a:srgbClr val="000000"/>
                </a:solidFill>
                <a:uFill>
                  <a:solidFill>
                    <a:srgbClr val="FFFFFF"/>
                  </a:solidFill>
                </a:uFill>
                <a:latin typeface="Calibri"/>
                <a:ea typeface="MS PGothic"/>
              </a:rPr>
              <a:t>Quantity of tennis balls (dozens per year)</a:t>
            </a:r>
            <a:endParaRPr lang="en-US" sz="1800" strike="noStrike" spc="-1">
              <a:solidFill>
                <a:srgbClr val="000000"/>
              </a:solidFill>
              <a:uFill>
                <a:solidFill>
                  <a:srgbClr val="FFFFFF"/>
                </a:solidFill>
              </a:uFill>
              <a:latin typeface="Arial"/>
            </a:endParaRPr>
          </a:p>
        </p:txBody>
      </p:sp>
      <p:sp>
        <p:nvSpPr>
          <p:cNvPr id="446" name="CustomShape 17"/>
          <p:cNvSpPr/>
          <p:nvPr/>
        </p:nvSpPr>
        <p:spPr>
          <a:xfrm>
            <a:off x="3003480" y="968400"/>
            <a:ext cx="228240" cy="2127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nSpc>
                <a:spcPct val="100000"/>
              </a:lnSpc>
            </a:pPr>
            <a:r>
              <a:rPr lang="en-US" sz="1400" b="1" strike="noStrike" spc="-1">
                <a:solidFill>
                  <a:srgbClr val="000000"/>
                </a:solidFill>
                <a:uFill>
                  <a:solidFill>
                    <a:srgbClr val="FFFFFF"/>
                  </a:solidFill>
                </a:uFill>
                <a:latin typeface="Calibri"/>
                <a:ea typeface="MS PGothic"/>
              </a:rPr>
              <a:t>(b)</a:t>
            </a:r>
            <a:endParaRPr lang="en-US" sz="1800" strike="noStrike" spc="-1">
              <a:solidFill>
                <a:srgbClr val="000000"/>
              </a:solidFill>
              <a:uFill>
                <a:solidFill>
                  <a:srgbClr val="FFFFFF"/>
                </a:solidFill>
              </a:uFill>
              <a:latin typeface="Arial"/>
            </a:endParaRPr>
          </a:p>
        </p:txBody>
      </p:sp>
      <p:sp>
        <p:nvSpPr>
          <p:cNvPr id="447" name="CustomShape 18"/>
          <p:cNvSpPr/>
          <p:nvPr/>
        </p:nvSpPr>
        <p:spPr>
          <a:xfrm>
            <a:off x="3308400" y="968400"/>
            <a:ext cx="3042720" cy="4878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b="1" strike="noStrike" spc="-1">
                <a:solidFill>
                  <a:srgbClr val="000000"/>
                </a:solidFill>
                <a:uFill>
                  <a:solidFill>
                    <a:srgbClr val="FFFFFF"/>
                  </a:solidFill>
                </a:uFill>
                <a:latin typeface="Calibri"/>
                <a:ea typeface="MS PGothic"/>
              </a:rPr>
              <a:t>Price Elastic Demand: Price Elasticity of Demand = </a:t>
            </a:r>
            <a:r>
              <a:rPr lang="en-US" sz="1800" b="1" strike="noStrike" spc="-1">
                <a:solidFill>
                  <a:srgbClr val="000000"/>
                </a:solidFill>
                <a:uFill>
                  <a:solidFill>
                    <a:srgbClr val="FFFFFF"/>
                  </a:solidFill>
                </a:uFill>
                <a:latin typeface="Calibri"/>
                <a:ea typeface="MS PGothic"/>
              </a:rPr>
              <a:t>∞</a:t>
            </a:r>
            <a:endParaRPr lang="en-US" sz="1800" strike="noStrike" spc="-1">
              <a:solidFill>
                <a:srgbClr val="000000"/>
              </a:solidFill>
              <a:uFill>
                <a:solidFill>
                  <a:srgbClr val="FFFFFF"/>
                </a:solidFill>
              </a:uFill>
              <a:latin typeface="Arial"/>
            </a:endParaRPr>
          </a:p>
        </p:txBody>
      </p:sp>
      <p:sp>
        <p:nvSpPr>
          <p:cNvPr id="448" name="CustomShape 19"/>
          <p:cNvSpPr/>
          <p:nvPr/>
        </p:nvSpPr>
        <p:spPr>
          <a:xfrm>
            <a:off x="1274760" y="1644480"/>
            <a:ext cx="1704600" cy="6397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b="1" strike="noStrike" spc="-1">
                <a:solidFill>
                  <a:srgbClr val="000000"/>
                </a:solidFill>
                <a:uFill>
                  <a:solidFill>
                    <a:srgbClr val="FFFFFF"/>
                  </a:solidFill>
                </a:uFill>
                <a:latin typeface="Calibri"/>
                <a:ea typeface="MS PGothic"/>
              </a:rPr>
              <a:t>Price of pink tennis balls </a:t>
            </a:r>
            <a:endParaRPr lang="en-US" sz="1800" strike="noStrike" spc="-1">
              <a:solidFill>
                <a:srgbClr val="000000"/>
              </a:solidFill>
              <a:uFill>
                <a:solidFill>
                  <a:srgbClr val="FFFFFF"/>
                </a:solidFill>
              </a:uFill>
              <a:latin typeface="Arial"/>
            </a:endParaRPr>
          </a:p>
          <a:p>
            <a:pPr marL="1440" indent="-1080" algn="ctr">
              <a:lnSpc>
                <a:spcPct val="100000"/>
              </a:lnSpc>
            </a:pPr>
            <a:r>
              <a:rPr lang="en-US" sz="1400" b="1" strike="noStrike" spc="-1">
                <a:solidFill>
                  <a:srgbClr val="000000"/>
                </a:solidFill>
                <a:uFill>
                  <a:solidFill>
                    <a:srgbClr val="FFFFFF"/>
                  </a:solidFill>
                </a:uFill>
                <a:latin typeface="Calibri"/>
                <a:ea typeface="MS PGothic"/>
              </a:rPr>
              <a:t>(per dozen)</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 name="TextShape 1"/>
          <p:cNvSpPr txBox="1"/>
          <p:nvPr/>
        </p:nvSpPr>
        <p:spPr>
          <a:xfrm>
            <a:off x="900000" y="60480"/>
            <a:ext cx="8249760" cy="55512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Elastic Demand</a:t>
            </a:r>
            <a:endParaRPr lang="id-ID" sz="3200" strike="noStrike" spc="-1">
              <a:solidFill>
                <a:srgbClr val="000000"/>
              </a:solidFill>
              <a:uFill>
                <a:solidFill>
                  <a:srgbClr val="FFFFFF"/>
                </a:solidFill>
              </a:uFill>
              <a:latin typeface="Calibri"/>
            </a:endParaRPr>
          </a:p>
        </p:txBody>
      </p:sp>
      <p:sp>
        <p:nvSpPr>
          <p:cNvPr id="450" name="CustomShape 2"/>
          <p:cNvSpPr/>
          <p:nvPr/>
        </p:nvSpPr>
        <p:spPr>
          <a:xfrm>
            <a:off x="3300480" y="5130000"/>
            <a:ext cx="2350800" cy="808200"/>
          </a:xfrm>
          <a:custGeom>
            <a:avLst/>
            <a:gdLst/>
            <a:ahLst/>
            <a:cxnLst/>
            <a:rect l="l" t="t" r="r" b="b"/>
            <a:pathLst>
              <a:path w="368" h="137">
                <a:moveTo>
                  <a:pt x="368" y="120"/>
                </a:moveTo>
                <a:cubicBezTo>
                  <a:pt x="368" y="129"/>
                  <a:pt x="360" y="137"/>
                  <a:pt x="351" y="137"/>
                </a:cubicBezTo>
                <a:cubicBezTo>
                  <a:pt x="16" y="137"/>
                  <a:pt x="16" y="137"/>
                  <a:pt x="16" y="137"/>
                </a:cubicBezTo>
                <a:cubicBezTo>
                  <a:pt x="7" y="137"/>
                  <a:pt x="0" y="129"/>
                  <a:pt x="0" y="120"/>
                </a:cubicBezTo>
                <a:cubicBezTo>
                  <a:pt x="0" y="17"/>
                  <a:pt x="0" y="17"/>
                  <a:pt x="0" y="17"/>
                </a:cubicBezTo>
                <a:cubicBezTo>
                  <a:pt x="0" y="8"/>
                  <a:pt x="7" y="0"/>
                  <a:pt x="16" y="0"/>
                </a:cubicBezTo>
                <a:cubicBezTo>
                  <a:pt x="351" y="0"/>
                  <a:pt x="351" y="0"/>
                  <a:pt x="351" y="0"/>
                </a:cubicBezTo>
                <a:cubicBezTo>
                  <a:pt x="360" y="0"/>
                  <a:pt x="368" y="8"/>
                  <a:pt x="368" y="17"/>
                </a:cubicBezTo>
                <a:lnTo>
                  <a:pt x="368" y="120"/>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451" name="CustomShape 3"/>
          <p:cNvSpPr/>
          <p:nvPr/>
        </p:nvSpPr>
        <p:spPr>
          <a:xfrm>
            <a:off x="3430440" y="5168520"/>
            <a:ext cx="2199960" cy="6393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 generates a 40% decrease in the quantity of crossings demanded.</a:t>
            </a:r>
            <a:endParaRPr lang="en-US" sz="1800" strike="noStrike" spc="-1">
              <a:solidFill>
                <a:srgbClr val="000000"/>
              </a:solidFill>
              <a:uFill>
                <a:solidFill>
                  <a:srgbClr val="FFFFFF"/>
                </a:solidFill>
              </a:uFill>
              <a:latin typeface="Arial"/>
            </a:endParaRPr>
          </a:p>
        </p:txBody>
      </p:sp>
      <p:sp>
        <p:nvSpPr>
          <p:cNvPr id="452" name="Line 4"/>
          <p:cNvSpPr/>
          <p:nvPr/>
        </p:nvSpPr>
        <p:spPr>
          <a:xfrm flipH="1">
            <a:off x="4282920" y="4926240"/>
            <a:ext cx="501480" cy="360"/>
          </a:xfrm>
          <a:prstGeom prst="line">
            <a:avLst/>
          </a:prstGeom>
          <a:ln w="11160">
            <a:solidFill>
              <a:srgbClr val="000000"/>
            </a:solidFill>
            <a:miter/>
          </a:ln>
        </p:spPr>
        <p:style>
          <a:lnRef idx="0">
            <a:scrgbClr r="0" g="0" b="0"/>
          </a:lnRef>
          <a:fillRef idx="0">
            <a:scrgbClr r="0" g="0" b="0"/>
          </a:fillRef>
          <a:effectRef idx="0">
            <a:scrgbClr r="0" g="0" b="0"/>
          </a:effectRef>
          <a:fontRef idx="minor"/>
        </p:style>
      </p:sp>
      <p:sp>
        <p:nvSpPr>
          <p:cNvPr id="453" name="CustomShape 5"/>
          <p:cNvSpPr/>
          <p:nvPr/>
        </p:nvSpPr>
        <p:spPr>
          <a:xfrm>
            <a:off x="4138560" y="4869000"/>
            <a:ext cx="150480" cy="114840"/>
          </a:xfrm>
          <a:custGeom>
            <a:avLst/>
            <a:gdLst/>
            <a:ahLst/>
            <a:cxnLst/>
            <a:rect l="l" t="t" r="r" b="b"/>
            <a:pathLst>
              <a:path w="22" h="14">
                <a:moveTo>
                  <a:pt x="18" y="7"/>
                </a:moveTo>
                <a:cubicBezTo>
                  <a:pt x="22" y="14"/>
                  <a:pt x="22" y="14"/>
                  <a:pt x="22" y="14"/>
                </a:cubicBezTo>
                <a:cubicBezTo>
                  <a:pt x="21" y="14"/>
                  <a:pt x="21" y="14"/>
                  <a:pt x="21" y="14"/>
                </a:cubicBezTo>
                <a:cubicBezTo>
                  <a:pt x="11" y="10"/>
                  <a:pt x="11" y="10"/>
                  <a:pt x="11" y="10"/>
                </a:cubicBezTo>
                <a:cubicBezTo>
                  <a:pt x="7" y="9"/>
                  <a:pt x="4" y="8"/>
                  <a:pt x="0" y="7"/>
                </a:cubicBezTo>
                <a:cubicBezTo>
                  <a:pt x="4" y="6"/>
                  <a:pt x="7" y="5"/>
                  <a:pt x="11" y="5"/>
                </a:cubicBezTo>
                <a:cubicBezTo>
                  <a:pt x="21" y="0"/>
                  <a:pt x="21" y="0"/>
                  <a:pt x="21" y="0"/>
                </a:cubicBezTo>
                <a:cubicBezTo>
                  <a:pt x="22" y="1"/>
                  <a:pt x="22" y="1"/>
                  <a:pt x="22" y="1"/>
                </a:cubicBezTo>
                <a:lnTo>
                  <a:pt x="18" y="7"/>
                </a:lnTo>
                <a:close/>
              </a:path>
            </a:pathLst>
          </a:custGeom>
          <a:solidFill>
            <a:srgbClr val="000000"/>
          </a:solidFill>
          <a:ln w="9360">
            <a:noFill/>
          </a:ln>
        </p:spPr>
        <p:style>
          <a:lnRef idx="0">
            <a:scrgbClr r="0" g="0" b="0"/>
          </a:lnRef>
          <a:fillRef idx="0">
            <a:scrgbClr r="0" g="0" b="0"/>
          </a:fillRef>
          <a:effectRef idx="0">
            <a:scrgbClr r="0" g="0" b="0"/>
          </a:effectRef>
          <a:fontRef idx="minor"/>
        </p:style>
      </p:sp>
      <p:sp>
        <p:nvSpPr>
          <p:cNvPr id="454" name="CustomShape 6"/>
          <p:cNvSpPr/>
          <p:nvPr/>
        </p:nvSpPr>
        <p:spPr>
          <a:xfrm>
            <a:off x="3122640" y="1790640"/>
            <a:ext cx="2839680" cy="1810800"/>
          </a:xfrm>
          <a:custGeom>
            <a:avLst/>
            <a:gdLst/>
            <a:ahLst/>
            <a:cxnLst/>
            <a:rect l="l" t="t" r="r" b="b"/>
            <a:pathLst>
              <a:path w="419" h="269">
                <a:moveTo>
                  <a:pt x="0" y="0"/>
                </a:moveTo>
                <a:cubicBezTo>
                  <a:pt x="14" y="27"/>
                  <a:pt x="58" y="175"/>
                  <a:pt x="419" y="269"/>
                </a:cubicBezTo>
              </a:path>
            </a:pathLst>
          </a:custGeom>
          <a:noFill/>
          <a:ln w="30240">
            <a:solidFill>
              <a:srgbClr val="3C5DAA"/>
            </a:solidFill>
            <a:miter/>
          </a:ln>
        </p:spPr>
        <p:style>
          <a:lnRef idx="0">
            <a:scrgbClr r="0" g="0" b="0"/>
          </a:lnRef>
          <a:fillRef idx="0">
            <a:scrgbClr r="0" g="0" b="0"/>
          </a:fillRef>
          <a:effectRef idx="0">
            <a:scrgbClr r="0" g="0" b="0"/>
          </a:effectRef>
          <a:fontRef idx="minor"/>
        </p:style>
      </p:sp>
      <p:sp>
        <p:nvSpPr>
          <p:cNvPr id="455" name="CustomShape 7"/>
          <p:cNvSpPr/>
          <p:nvPr/>
        </p:nvSpPr>
        <p:spPr>
          <a:xfrm>
            <a:off x="6022800" y="3479760"/>
            <a:ext cx="1317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D</a:t>
            </a:r>
            <a:endParaRPr lang="en-US" sz="1800" strike="noStrike" spc="-1">
              <a:solidFill>
                <a:srgbClr val="000000"/>
              </a:solidFill>
              <a:uFill>
                <a:solidFill>
                  <a:srgbClr val="FFFFFF"/>
                </a:solidFill>
              </a:uFill>
              <a:latin typeface="Arial"/>
            </a:endParaRPr>
          </a:p>
        </p:txBody>
      </p:sp>
      <p:sp>
        <p:nvSpPr>
          <p:cNvPr id="456" name="CustomShape 8"/>
          <p:cNvSpPr/>
          <p:nvPr/>
        </p:nvSpPr>
        <p:spPr>
          <a:xfrm>
            <a:off x="6156360" y="3584520"/>
            <a:ext cx="70920" cy="2127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3</a:t>
            </a:r>
            <a:endParaRPr lang="en-US" sz="1800" strike="noStrike" spc="-1">
              <a:solidFill>
                <a:srgbClr val="000000"/>
              </a:solidFill>
              <a:uFill>
                <a:solidFill>
                  <a:srgbClr val="FFFFFF"/>
                </a:solidFill>
              </a:uFill>
              <a:latin typeface="Arial"/>
            </a:endParaRPr>
          </a:p>
        </p:txBody>
      </p:sp>
      <p:sp>
        <p:nvSpPr>
          <p:cNvPr id="457" name="CustomShape 9"/>
          <p:cNvSpPr/>
          <p:nvPr/>
        </p:nvSpPr>
        <p:spPr>
          <a:xfrm>
            <a:off x="3187800" y="790560"/>
            <a:ext cx="34113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gn="ctr">
              <a:lnSpc>
                <a:spcPct val="100000"/>
              </a:lnSpc>
            </a:pPr>
            <a:r>
              <a:rPr lang="en-US" sz="1400" b="1" strike="noStrike" spc="-1">
                <a:solidFill>
                  <a:srgbClr val="000000"/>
                </a:solidFill>
                <a:uFill>
                  <a:solidFill>
                    <a:srgbClr val="FFFFFF"/>
                  </a:solidFill>
                </a:uFill>
                <a:latin typeface="Calibri"/>
                <a:ea typeface="MS PGothic"/>
              </a:rPr>
              <a:t>Elastic Demand: Price Elasticity of Demand = 2</a:t>
            </a:r>
            <a:endParaRPr lang="en-US" sz="1800" strike="noStrike" spc="-1">
              <a:solidFill>
                <a:srgbClr val="000000"/>
              </a:solidFill>
              <a:uFill>
                <a:solidFill>
                  <a:srgbClr val="FFFFFF"/>
                </a:solidFill>
              </a:uFill>
              <a:latin typeface="Arial"/>
            </a:endParaRPr>
          </a:p>
        </p:txBody>
      </p:sp>
      <p:sp>
        <p:nvSpPr>
          <p:cNvPr id="458" name="CustomShape 10"/>
          <p:cNvSpPr/>
          <p:nvPr/>
        </p:nvSpPr>
        <p:spPr>
          <a:xfrm>
            <a:off x="3968640" y="4916520"/>
            <a:ext cx="3405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800</a:t>
            </a:r>
            <a:endParaRPr lang="en-US" sz="1800" strike="noStrike" spc="-1">
              <a:solidFill>
                <a:srgbClr val="000000"/>
              </a:solidFill>
              <a:uFill>
                <a:solidFill>
                  <a:srgbClr val="FFFFFF"/>
                </a:solidFill>
              </a:uFill>
              <a:latin typeface="Arial"/>
            </a:endParaRPr>
          </a:p>
        </p:txBody>
      </p:sp>
      <p:sp>
        <p:nvSpPr>
          <p:cNvPr id="459" name="CustomShape 11"/>
          <p:cNvSpPr/>
          <p:nvPr/>
        </p:nvSpPr>
        <p:spPr>
          <a:xfrm>
            <a:off x="4638960" y="4916520"/>
            <a:ext cx="5097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1,200</a:t>
            </a:r>
            <a:endParaRPr lang="en-US" sz="1800" strike="noStrike" spc="-1">
              <a:solidFill>
                <a:srgbClr val="000000"/>
              </a:solidFill>
              <a:uFill>
                <a:solidFill>
                  <a:srgbClr val="FFFFFF"/>
                </a:solidFill>
              </a:uFill>
              <a:latin typeface="Arial"/>
            </a:endParaRPr>
          </a:p>
        </p:txBody>
      </p:sp>
      <p:sp>
        <p:nvSpPr>
          <p:cNvPr id="460" name="Line 12"/>
          <p:cNvSpPr/>
          <p:nvPr/>
        </p:nvSpPr>
        <p:spPr>
          <a:xfrm>
            <a:off x="2724120" y="2879640"/>
            <a:ext cx="16056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461" name="Line 13"/>
          <p:cNvSpPr/>
          <p:nvPr/>
        </p:nvSpPr>
        <p:spPr>
          <a:xfrm>
            <a:off x="2724120" y="3236760"/>
            <a:ext cx="16056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462" name="Line 14"/>
          <p:cNvSpPr/>
          <p:nvPr/>
        </p:nvSpPr>
        <p:spPr>
          <a:xfrm>
            <a:off x="4911840" y="4703760"/>
            <a:ext cx="360" cy="16164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463" name="Line 15"/>
          <p:cNvSpPr/>
          <p:nvPr/>
        </p:nvSpPr>
        <p:spPr>
          <a:xfrm>
            <a:off x="4178520" y="4703760"/>
            <a:ext cx="360" cy="16164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464" name="CustomShape 16"/>
          <p:cNvSpPr/>
          <p:nvPr/>
        </p:nvSpPr>
        <p:spPr>
          <a:xfrm>
            <a:off x="2724480" y="1515960"/>
            <a:ext cx="4185720" cy="3349440"/>
          </a:xfrm>
          <a:custGeom>
            <a:avLst/>
            <a:gdLst/>
            <a:ahLst/>
            <a:cxnLst/>
            <a:rect l="l" t="t" r="r" b="b"/>
            <a:pathLst>
              <a:path w="1459" h="1176">
                <a:moveTo>
                  <a:pt x="1459" y="1176"/>
                </a:moveTo>
                <a:lnTo>
                  <a:pt x="0" y="1176"/>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sp>
      <p:sp>
        <p:nvSpPr>
          <p:cNvPr id="465" name="CustomShape 17"/>
          <p:cNvSpPr/>
          <p:nvPr/>
        </p:nvSpPr>
        <p:spPr>
          <a:xfrm>
            <a:off x="2468520" y="4916520"/>
            <a:ext cx="11484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466" name="CustomShape 18"/>
          <p:cNvSpPr/>
          <p:nvPr/>
        </p:nvSpPr>
        <p:spPr>
          <a:xfrm>
            <a:off x="2202120" y="2720880"/>
            <a:ext cx="5097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$1.10</a:t>
            </a:r>
            <a:endParaRPr lang="en-US" sz="1800" strike="noStrike" spc="-1">
              <a:solidFill>
                <a:srgbClr val="000000"/>
              </a:solidFill>
              <a:uFill>
                <a:solidFill>
                  <a:srgbClr val="FFFFFF"/>
                </a:solidFill>
              </a:uFill>
              <a:latin typeface="Arial"/>
            </a:endParaRPr>
          </a:p>
        </p:txBody>
      </p:sp>
      <p:sp>
        <p:nvSpPr>
          <p:cNvPr id="467" name="CustomShape 19"/>
          <p:cNvSpPr/>
          <p:nvPr/>
        </p:nvSpPr>
        <p:spPr>
          <a:xfrm>
            <a:off x="2353680" y="3081240"/>
            <a:ext cx="39672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0.90</a:t>
            </a:r>
            <a:endParaRPr lang="en-US" sz="1800" strike="noStrike" spc="-1">
              <a:solidFill>
                <a:srgbClr val="000000"/>
              </a:solidFill>
              <a:uFill>
                <a:solidFill>
                  <a:srgbClr val="FFFFFF"/>
                </a:solidFill>
              </a:uFill>
              <a:latin typeface="Arial"/>
            </a:endParaRPr>
          </a:p>
        </p:txBody>
      </p:sp>
      <p:sp>
        <p:nvSpPr>
          <p:cNvPr id="468" name="CustomShape 20"/>
          <p:cNvSpPr/>
          <p:nvPr/>
        </p:nvSpPr>
        <p:spPr>
          <a:xfrm>
            <a:off x="6002640" y="5019840"/>
            <a:ext cx="1809360" cy="42588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Quantity of bridge crossings (per day)</a:t>
            </a:r>
            <a:endParaRPr lang="en-US" sz="1800" strike="noStrike" spc="-1">
              <a:solidFill>
                <a:srgbClr val="000000"/>
              </a:solidFill>
              <a:uFill>
                <a:solidFill>
                  <a:srgbClr val="FFFFFF"/>
                </a:solidFill>
              </a:uFill>
              <a:latin typeface="Arial"/>
            </a:endParaRPr>
          </a:p>
        </p:txBody>
      </p:sp>
      <p:sp>
        <p:nvSpPr>
          <p:cNvPr id="469" name="CustomShape 21"/>
          <p:cNvSpPr/>
          <p:nvPr/>
        </p:nvSpPr>
        <p:spPr>
          <a:xfrm>
            <a:off x="1757520" y="1095480"/>
            <a:ext cx="2117520" cy="2127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Price of bridge crossing</a:t>
            </a:r>
            <a:endParaRPr lang="en-US" sz="1800" strike="noStrike" spc="-1">
              <a:solidFill>
                <a:srgbClr val="000000"/>
              </a:solidFill>
              <a:uFill>
                <a:solidFill>
                  <a:srgbClr val="FFFFFF"/>
                </a:solidFill>
              </a:uFill>
              <a:latin typeface="Arial"/>
            </a:endParaRPr>
          </a:p>
        </p:txBody>
      </p:sp>
      <p:sp>
        <p:nvSpPr>
          <p:cNvPr id="470" name="CustomShape 22"/>
          <p:cNvSpPr/>
          <p:nvPr/>
        </p:nvSpPr>
        <p:spPr>
          <a:xfrm>
            <a:off x="664200" y="2568960"/>
            <a:ext cx="1424160" cy="771840"/>
          </a:xfrm>
          <a:custGeom>
            <a:avLst/>
            <a:gdLst/>
            <a:ahLst/>
            <a:cxnLst/>
            <a:rect l="l" t="t" r="r" b="b"/>
            <a:pathLst>
              <a:path w="147" h="178">
                <a:moveTo>
                  <a:pt x="147" y="162"/>
                </a:moveTo>
                <a:cubicBezTo>
                  <a:pt x="147" y="171"/>
                  <a:pt x="140" y="178"/>
                  <a:pt x="131" y="178"/>
                </a:cubicBezTo>
                <a:cubicBezTo>
                  <a:pt x="16" y="178"/>
                  <a:pt x="16" y="178"/>
                  <a:pt x="16" y="178"/>
                </a:cubicBezTo>
                <a:cubicBezTo>
                  <a:pt x="7" y="178"/>
                  <a:pt x="0" y="171"/>
                  <a:pt x="0" y="162"/>
                </a:cubicBezTo>
                <a:cubicBezTo>
                  <a:pt x="0" y="16"/>
                  <a:pt x="0" y="16"/>
                  <a:pt x="0" y="16"/>
                </a:cubicBezTo>
                <a:cubicBezTo>
                  <a:pt x="0" y="7"/>
                  <a:pt x="7" y="0"/>
                  <a:pt x="16" y="0"/>
                </a:cubicBezTo>
                <a:cubicBezTo>
                  <a:pt x="131" y="0"/>
                  <a:pt x="131" y="0"/>
                  <a:pt x="131" y="0"/>
                </a:cubicBezTo>
                <a:cubicBezTo>
                  <a:pt x="140" y="0"/>
                  <a:pt x="147" y="7"/>
                  <a:pt x="147" y="16"/>
                </a:cubicBezTo>
                <a:lnTo>
                  <a:pt x="147" y="162"/>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471" name="CustomShape 23"/>
          <p:cNvSpPr/>
          <p:nvPr/>
        </p:nvSpPr>
        <p:spPr>
          <a:xfrm>
            <a:off x="2131560" y="2765880"/>
            <a:ext cx="93240" cy="165960"/>
          </a:xfrm>
          <a:custGeom>
            <a:avLst/>
            <a:gdLst/>
            <a:ahLst/>
            <a:cxnLst/>
            <a:rect l="l" t="t" r="r" b="b"/>
            <a:pathLst>
              <a:path w="13" h="22">
                <a:moveTo>
                  <a:pt x="7" y="18"/>
                </a:moveTo>
                <a:cubicBezTo>
                  <a:pt x="0" y="22"/>
                  <a:pt x="0" y="22"/>
                  <a:pt x="0" y="22"/>
                </a:cubicBezTo>
                <a:cubicBezTo>
                  <a:pt x="0" y="22"/>
                  <a:pt x="0" y="22"/>
                  <a:pt x="0" y="22"/>
                </a:cubicBezTo>
                <a:cubicBezTo>
                  <a:pt x="4" y="11"/>
                  <a:pt x="4" y="11"/>
                  <a:pt x="4" y="11"/>
                </a:cubicBezTo>
                <a:cubicBezTo>
                  <a:pt x="5" y="8"/>
                  <a:pt x="6" y="4"/>
                  <a:pt x="7" y="0"/>
                </a:cubicBezTo>
                <a:cubicBezTo>
                  <a:pt x="7" y="4"/>
                  <a:pt x="8" y="8"/>
                  <a:pt x="9" y="11"/>
                </a:cubicBezTo>
                <a:cubicBezTo>
                  <a:pt x="13" y="22"/>
                  <a:pt x="13" y="22"/>
                  <a:pt x="13" y="22"/>
                </a:cubicBezTo>
                <a:cubicBezTo>
                  <a:pt x="13" y="22"/>
                  <a:pt x="13" y="22"/>
                  <a:pt x="13" y="22"/>
                </a:cubicBezTo>
                <a:lnTo>
                  <a:pt x="7" y="18"/>
                </a:lnTo>
                <a:close/>
              </a:path>
            </a:pathLst>
          </a:custGeom>
          <a:solidFill>
            <a:srgbClr val="000000"/>
          </a:solidFill>
          <a:ln w="9360">
            <a:noFill/>
          </a:ln>
        </p:spPr>
        <p:style>
          <a:lnRef idx="0">
            <a:scrgbClr r="0" g="0" b="0"/>
          </a:lnRef>
          <a:fillRef idx="0">
            <a:scrgbClr r="0" g="0" b="0"/>
          </a:fillRef>
          <a:effectRef idx="0">
            <a:scrgbClr r="0" g="0" b="0"/>
          </a:effectRef>
          <a:fontRef idx="minor"/>
        </p:style>
      </p:sp>
      <p:sp>
        <p:nvSpPr>
          <p:cNvPr id="472" name="CustomShape 24"/>
          <p:cNvSpPr/>
          <p:nvPr/>
        </p:nvSpPr>
        <p:spPr>
          <a:xfrm>
            <a:off x="664200" y="2646000"/>
            <a:ext cx="1431000" cy="4266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A 20% increase in the price ...</a:t>
            </a:r>
            <a:endParaRPr lang="en-US" sz="1800" strike="noStrike" spc="-1">
              <a:solidFill>
                <a:srgbClr val="000000"/>
              </a:solidFill>
              <a:uFill>
                <a:solidFill>
                  <a:srgbClr val="FFFFFF"/>
                </a:solidFill>
              </a:uFill>
              <a:latin typeface="Arial"/>
            </a:endParaRPr>
          </a:p>
        </p:txBody>
      </p:sp>
      <p:sp>
        <p:nvSpPr>
          <p:cNvPr id="473" name="Line 25"/>
          <p:cNvSpPr/>
          <p:nvPr/>
        </p:nvSpPr>
        <p:spPr>
          <a:xfrm flipV="1">
            <a:off x="2177280" y="2898000"/>
            <a:ext cx="360" cy="214200"/>
          </a:xfrm>
          <a:prstGeom prst="line">
            <a:avLst/>
          </a:prstGeom>
          <a:ln w="11160">
            <a:solidFill>
              <a:srgbClr val="000000"/>
            </a:solidFill>
            <a:miter/>
          </a:ln>
        </p:spPr>
        <p:style>
          <a:lnRef idx="0">
            <a:scrgbClr r="0" g="0" b="0"/>
          </a:lnRef>
          <a:fillRef idx="0">
            <a:scrgbClr r="0" g="0" b="0"/>
          </a:fillRef>
          <a:effectRef idx="0">
            <a:scrgbClr r="0" g="0" b="0"/>
          </a:effectRef>
          <a:fontRef idx="minor"/>
        </p:style>
      </p:sp>
      <p:sp>
        <p:nvSpPr>
          <p:cNvPr id="474" name="CustomShape 26"/>
          <p:cNvSpPr/>
          <p:nvPr/>
        </p:nvSpPr>
        <p:spPr>
          <a:xfrm>
            <a:off x="4210200" y="2536920"/>
            <a:ext cx="1119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B</a:t>
            </a:r>
            <a:endParaRPr lang="en-US" sz="1800" strike="noStrike" spc="-1">
              <a:solidFill>
                <a:srgbClr val="000000"/>
              </a:solidFill>
              <a:uFill>
                <a:solidFill>
                  <a:srgbClr val="FFFFFF"/>
                </a:solidFill>
              </a:uFill>
              <a:latin typeface="Arial"/>
            </a:endParaRPr>
          </a:p>
        </p:txBody>
      </p:sp>
      <p:sp>
        <p:nvSpPr>
          <p:cNvPr id="475" name="CustomShape 27"/>
          <p:cNvSpPr/>
          <p:nvPr/>
        </p:nvSpPr>
        <p:spPr>
          <a:xfrm>
            <a:off x="4127400" y="322416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76" name="CustomShape 28"/>
          <p:cNvSpPr/>
          <p:nvPr/>
        </p:nvSpPr>
        <p:spPr>
          <a:xfrm>
            <a:off x="2900520" y="286056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77" name="CustomShape 29"/>
          <p:cNvSpPr/>
          <p:nvPr/>
        </p:nvSpPr>
        <p:spPr>
          <a:xfrm>
            <a:off x="3022560" y="2860560"/>
            <a:ext cx="2520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78" name="CustomShape 30"/>
          <p:cNvSpPr/>
          <p:nvPr/>
        </p:nvSpPr>
        <p:spPr>
          <a:xfrm>
            <a:off x="3141720" y="2860560"/>
            <a:ext cx="2988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79" name="CustomShape 31"/>
          <p:cNvSpPr/>
          <p:nvPr/>
        </p:nvSpPr>
        <p:spPr>
          <a:xfrm>
            <a:off x="3265560" y="286056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80" name="CustomShape 32"/>
          <p:cNvSpPr/>
          <p:nvPr/>
        </p:nvSpPr>
        <p:spPr>
          <a:xfrm>
            <a:off x="3395520" y="286056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81" name="CustomShape 33"/>
          <p:cNvSpPr/>
          <p:nvPr/>
        </p:nvSpPr>
        <p:spPr>
          <a:xfrm>
            <a:off x="3516480" y="2860560"/>
            <a:ext cx="2808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82" name="CustomShape 34"/>
          <p:cNvSpPr/>
          <p:nvPr/>
        </p:nvSpPr>
        <p:spPr>
          <a:xfrm>
            <a:off x="3638520" y="2860560"/>
            <a:ext cx="2520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83" name="CustomShape 35"/>
          <p:cNvSpPr/>
          <p:nvPr/>
        </p:nvSpPr>
        <p:spPr>
          <a:xfrm>
            <a:off x="3760920" y="286056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84" name="CustomShape 36"/>
          <p:cNvSpPr/>
          <p:nvPr/>
        </p:nvSpPr>
        <p:spPr>
          <a:xfrm>
            <a:off x="3882960" y="2860560"/>
            <a:ext cx="2520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85" name="CustomShape 37"/>
          <p:cNvSpPr/>
          <p:nvPr/>
        </p:nvSpPr>
        <p:spPr>
          <a:xfrm>
            <a:off x="4005360" y="286056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86" name="CustomShape 38"/>
          <p:cNvSpPr/>
          <p:nvPr/>
        </p:nvSpPr>
        <p:spPr>
          <a:xfrm>
            <a:off x="4127400" y="298944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87" name="CustomShape 39"/>
          <p:cNvSpPr/>
          <p:nvPr/>
        </p:nvSpPr>
        <p:spPr>
          <a:xfrm>
            <a:off x="4127400" y="3108240"/>
            <a:ext cx="2664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88" name="CustomShape 40"/>
          <p:cNvSpPr/>
          <p:nvPr/>
        </p:nvSpPr>
        <p:spPr>
          <a:xfrm>
            <a:off x="4127400" y="3344760"/>
            <a:ext cx="2664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89" name="CustomShape 41"/>
          <p:cNvSpPr/>
          <p:nvPr/>
        </p:nvSpPr>
        <p:spPr>
          <a:xfrm>
            <a:off x="4127400" y="3459240"/>
            <a:ext cx="2664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90" name="CustomShape 42"/>
          <p:cNvSpPr/>
          <p:nvPr/>
        </p:nvSpPr>
        <p:spPr>
          <a:xfrm>
            <a:off x="4127400" y="3579840"/>
            <a:ext cx="2664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91" name="CustomShape 43"/>
          <p:cNvSpPr/>
          <p:nvPr/>
        </p:nvSpPr>
        <p:spPr>
          <a:xfrm>
            <a:off x="4127400" y="3700440"/>
            <a:ext cx="2664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92" name="CustomShape 44"/>
          <p:cNvSpPr/>
          <p:nvPr/>
        </p:nvSpPr>
        <p:spPr>
          <a:xfrm>
            <a:off x="4127400" y="3816360"/>
            <a:ext cx="2664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93" name="CustomShape 45"/>
          <p:cNvSpPr/>
          <p:nvPr/>
        </p:nvSpPr>
        <p:spPr>
          <a:xfrm>
            <a:off x="4127400" y="3935520"/>
            <a:ext cx="2664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94" name="CustomShape 46"/>
          <p:cNvSpPr/>
          <p:nvPr/>
        </p:nvSpPr>
        <p:spPr>
          <a:xfrm>
            <a:off x="4127400" y="4051440"/>
            <a:ext cx="2664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95" name="CustomShape 47"/>
          <p:cNvSpPr/>
          <p:nvPr/>
        </p:nvSpPr>
        <p:spPr>
          <a:xfrm>
            <a:off x="4127400" y="417348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96" name="CustomShape 48"/>
          <p:cNvSpPr/>
          <p:nvPr/>
        </p:nvSpPr>
        <p:spPr>
          <a:xfrm>
            <a:off x="4127400" y="428796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97" name="CustomShape 49"/>
          <p:cNvSpPr/>
          <p:nvPr/>
        </p:nvSpPr>
        <p:spPr>
          <a:xfrm>
            <a:off x="4127400" y="4406760"/>
            <a:ext cx="2664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98" name="CustomShape 50"/>
          <p:cNvSpPr/>
          <p:nvPr/>
        </p:nvSpPr>
        <p:spPr>
          <a:xfrm>
            <a:off x="4127400" y="4522680"/>
            <a:ext cx="2664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499" name="CustomShape 51"/>
          <p:cNvSpPr/>
          <p:nvPr/>
        </p:nvSpPr>
        <p:spPr>
          <a:xfrm>
            <a:off x="4127400" y="4643280"/>
            <a:ext cx="2664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00" name="CustomShape 52"/>
          <p:cNvSpPr/>
          <p:nvPr/>
        </p:nvSpPr>
        <p:spPr>
          <a:xfrm>
            <a:off x="4073400" y="2806560"/>
            <a:ext cx="132840" cy="1328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01" name="CustomShape 53"/>
          <p:cNvSpPr/>
          <p:nvPr/>
        </p:nvSpPr>
        <p:spPr>
          <a:xfrm>
            <a:off x="4940280" y="2894040"/>
            <a:ext cx="1119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A</a:t>
            </a:r>
            <a:endParaRPr lang="en-US" sz="1800" strike="noStrike" spc="-1">
              <a:solidFill>
                <a:srgbClr val="000000"/>
              </a:solidFill>
              <a:uFill>
                <a:solidFill>
                  <a:srgbClr val="FFFFFF"/>
                </a:solidFill>
              </a:uFill>
              <a:latin typeface="Arial"/>
            </a:endParaRPr>
          </a:p>
        </p:txBody>
      </p:sp>
      <p:sp>
        <p:nvSpPr>
          <p:cNvPr id="502" name="CustomShape 54"/>
          <p:cNvSpPr/>
          <p:nvPr/>
        </p:nvSpPr>
        <p:spPr>
          <a:xfrm>
            <a:off x="2900520" y="322416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03" name="CustomShape 55"/>
          <p:cNvSpPr/>
          <p:nvPr/>
        </p:nvSpPr>
        <p:spPr>
          <a:xfrm>
            <a:off x="3022560" y="3224160"/>
            <a:ext cx="2520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04" name="CustomShape 56"/>
          <p:cNvSpPr/>
          <p:nvPr/>
        </p:nvSpPr>
        <p:spPr>
          <a:xfrm>
            <a:off x="3141720" y="3224160"/>
            <a:ext cx="2988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05" name="CustomShape 57"/>
          <p:cNvSpPr/>
          <p:nvPr/>
        </p:nvSpPr>
        <p:spPr>
          <a:xfrm>
            <a:off x="3265560" y="322416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06" name="CustomShape 58"/>
          <p:cNvSpPr/>
          <p:nvPr/>
        </p:nvSpPr>
        <p:spPr>
          <a:xfrm>
            <a:off x="3395520" y="322416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07" name="CustomShape 59"/>
          <p:cNvSpPr/>
          <p:nvPr/>
        </p:nvSpPr>
        <p:spPr>
          <a:xfrm>
            <a:off x="3516480" y="3224160"/>
            <a:ext cx="2808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08" name="CustomShape 60"/>
          <p:cNvSpPr/>
          <p:nvPr/>
        </p:nvSpPr>
        <p:spPr>
          <a:xfrm>
            <a:off x="3638520" y="3224160"/>
            <a:ext cx="2520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09" name="CustomShape 61"/>
          <p:cNvSpPr/>
          <p:nvPr/>
        </p:nvSpPr>
        <p:spPr>
          <a:xfrm>
            <a:off x="3760920" y="322416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10" name="CustomShape 62"/>
          <p:cNvSpPr/>
          <p:nvPr/>
        </p:nvSpPr>
        <p:spPr>
          <a:xfrm>
            <a:off x="3882960" y="3224160"/>
            <a:ext cx="2520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11" name="CustomShape 63"/>
          <p:cNvSpPr/>
          <p:nvPr/>
        </p:nvSpPr>
        <p:spPr>
          <a:xfrm>
            <a:off x="4005360" y="322416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12" name="CustomShape 64"/>
          <p:cNvSpPr/>
          <p:nvPr/>
        </p:nvSpPr>
        <p:spPr>
          <a:xfrm>
            <a:off x="4248000" y="3224160"/>
            <a:ext cx="2808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13" name="CustomShape 65"/>
          <p:cNvSpPr/>
          <p:nvPr/>
        </p:nvSpPr>
        <p:spPr>
          <a:xfrm>
            <a:off x="4376880" y="3224160"/>
            <a:ext cx="2808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14" name="CustomShape 66"/>
          <p:cNvSpPr/>
          <p:nvPr/>
        </p:nvSpPr>
        <p:spPr>
          <a:xfrm>
            <a:off x="4498920" y="3224160"/>
            <a:ext cx="2808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15" name="CustomShape 67"/>
          <p:cNvSpPr/>
          <p:nvPr/>
        </p:nvSpPr>
        <p:spPr>
          <a:xfrm>
            <a:off x="4621320" y="3224160"/>
            <a:ext cx="2808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16" name="CustomShape 68"/>
          <p:cNvSpPr/>
          <p:nvPr/>
        </p:nvSpPr>
        <p:spPr>
          <a:xfrm>
            <a:off x="4743360" y="322416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17" name="CustomShape 69"/>
          <p:cNvSpPr/>
          <p:nvPr/>
        </p:nvSpPr>
        <p:spPr>
          <a:xfrm>
            <a:off x="4859280" y="3344760"/>
            <a:ext cx="2664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18" name="CustomShape 70"/>
          <p:cNvSpPr/>
          <p:nvPr/>
        </p:nvSpPr>
        <p:spPr>
          <a:xfrm>
            <a:off x="4859280" y="3459240"/>
            <a:ext cx="2664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19" name="CustomShape 71"/>
          <p:cNvSpPr/>
          <p:nvPr/>
        </p:nvSpPr>
        <p:spPr>
          <a:xfrm>
            <a:off x="4859280" y="3579840"/>
            <a:ext cx="2664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20" name="CustomShape 72"/>
          <p:cNvSpPr/>
          <p:nvPr/>
        </p:nvSpPr>
        <p:spPr>
          <a:xfrm>
            <a:off x="4859280" y="3700440"/>
            <a:ext cx="2664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21" name="CustomShape 73"/>
          <p:cNvSpPr/>
          <p:nvPr/>
        </p:nvSpPr>
        <p:spPr>
          <a:xfrm>
            <a:off x="4859280" y="3816360"/>
            <a:ext cx="2664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22" name="CustomShape 74"/>
          <p:cNvSpPr/>
          <p:nvPr/>
        </p:nvSpPr>
        <p:spPr>
          <a:xfrm>
            <a:off x="4859280" y="3935520"/>
            <a:ext cx="2664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23" name="CustomShape 75"/>
          <p:cNvSpPr/>
          <p:nvPr/>
        </p:nvSpPr>
        <p:spPr>
          <a:xfrm>
            <a:off x="4859280" y="4051440"/>
            <a:ext cx="2664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24" name="CustomShape 76"/>
          <p:cNvSpPr/>
          <p:nvPr/>
        </p:nvSpPr>
        <p:spPr>
          <a:xfrm>
            <a:off x="4859280" y="417348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25" name="CustomShape 77"/>
          <p:cNvSpPr/>
          <p:nvPr/>
        </p:nvSpPr>
        <p:spPr>
          <a:xfrm>
            <a:off x="4859280" y="428796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26" name="CustomShape 78"/>
          <p:cNvSpPr/>
          <p:nvPr/>
        </p:nvSpPr>
        <p:spPr>
          <a:xfrm>
            <a:off x="4859280" y="4406760"/>
            <a:ext cx="2664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27" name="CustomShape 79"/>
          <p:cNvSpPr/>
          <p:nvPr/>
        </p:nvSpPr>
        <p:spPr>
          <a:xfrm>
            <a:off x="4859280" y="4522680"/>
            <a:ext cx="2664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28" name="CustomShape 80"/>
          <p:cNvSpPr/>
          <p:nvPr/>
        </p:nvSpPr>
        <p:spPr>
          <a:xfrm>
            <a:off x="4859280" y="4643280"/>
            <a:ext cx="2664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29" name="CustomShape 81"/>
          <p:cNvSpPr/>
          <p:nvPr/>
        </p:nvSpPr>
        <p:spPr>
          <a:xfrm>
            <a:off x="4809960" y="3171960"/>
            <a:ext cx="137880" cy="1328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30" name="CustomShape 82"/>
          <p:cNvSpPr/>
          <p:nvPr/>
        </p:nvSpPr>
        <p:spPr>
          <a:xfrm>
            <a:off x="755640" y="6192720"/>
            <a:ext cx="7919640" cy="4255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200" strike="noStrike" spc="-1">
                <a:solidFill>
                  <a:srgbClr val="000000"/>
                </a:solidFill>
                <a:uFill>
                  <a:solidFill>
                    <a:srgbClr val="FFFFFF"/>
                  </a:solidFill>
                </a:uFill>
                <a:latin typeface="Calibri"/>
                <a:ea typeface="MS PGothic"/>
              </a:rPr>
              <a:t>Demand is </a:t>
            </a:r>
            <a:r>
              <a:rPr lang="en-US" sz="2200" b="1" strike="noStrike" spc="-1">
                <a:solidFill>
                  <a:srgbClr val="000000"/>
                </a:solidFill>
                <a:uFill>
                  <a:solidFill>
                    <a:srgbClr val="FFFFFF"/>
                  </a:solidFill>
                </a:uFill>
                <a:latin typeface="Calibri"/>
                <a:ea typeface="MS PGothic"/>
              </a:rPr>
              <a:t>elastic </a:t>
            </a:r>
            <a:r>
              <a:rPr lang="en-US" sz="2200" strike="noStrike" spc="-1">
                <a:solidFill>
                  <a:srgbClr val="000000"/>
                </a:solidFill>
                <a:uFill>
                  <a:solidFill>
                    <a:srgbClr val="FFFFFF"/>
                  </a:solidFill>
                </a:uFill>
                <a:latin typeface="Calibri"/>
                <a:ea typeface="MS PGothic"/>
              </a:rPr>
              <a:t>if the price elasticity of demand is </a:t>
            </a:r>
            <a:r>
              <a:rPr lang="en-US" sz="2200" b="1" strike="noStrike" spc="-1">
                <a:solidFill>
                  <a:srgbClr val="000000"/>
                </a:solidFill>
                <a:uFill>
                  <a:solidFill>
                    <a:srgbClr val="FFFFFF"/>
                  </a:solidFill>
                </a:uFill>
                <a:latin typeface="Calibri"/>
                <a:ea typeface="MS PGothic"/>
              </a:rPr>
              <a:t>greater</a:t>
            </a:r>
            <a:r>
              <a:rPr lang="en-US" sz="2200" strike="noStrike" spc="-1">
                <a:solidFill>
                  <a:srgbClr val="000000"/>
                </a:solidFill>
                <a:uFill>
                  <a:solidFill>
                    <a:srgbClr val="FFFFFF"/>
                  </a:solidFill>
                </a:uFill>
                <a:latin typeface="Calibri"/>
                <a:ea typeface="MS PGothic"/>
              </a:rPr>
              <a:t> than 1</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 name="TextShape 1"/>
          <p:cNvSpPr txBox="1"/>
          <p:nvPr/>
        </p:nvSpPr>
        <p:spPr>
          <a:xfrm>
            <a:off x="971640" y="60480"/>
            <a:ext cx="7992720" cy="55512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Unit Elasticity of Demand</a:t>
            </a:r>
            <a:endParaRPr lang="id-ID" sz="3200" strike="noStrike" spc="-1">
              <a:solidFill>
                <a:srgbClr val="000000"/>
              </a:solidFill>
              <a:uFill>
                <a:solidFill>
                  <a:srgbClr val="FFFFFF"/>
                </a:solidFill>
              </a:uFill>
              <a:latin typeface="Calibri"/>
            </a:endParaRPr>
          </a:p>
        </p:txBody>
      </p:sp>
      <p:sp>
        <p:nvSpPr>
          <p:cNvPr id="532" name="CustomShape 2"/>
          <p:cNvSpPr/>
          <p:nvPr/>
        </p:nvSpPr>
        <p:spPr>
          <a:xfrm>
            <a:off x="769320" y="2503440"/>
            <a:ext cx="1315440" cy="997200"/>
          </a:xfrm>
          <a:custGeom>
            <a:avLst/>
            <a:gdLst/>
            <a:ahLst/>
            <a:cxnLst/>
            <a:rect l="l" t="t" r="r" b="b"/>
            <a:pathLst>
              <a:path w="147" h="166">
                <a:moveTo>
                  <a:pt x="147" y="150"/>
                </a:moveTo>
                <a:cubicBezTo>
                  <a:pt x="147" y="159"/>
                  <a:pt x="139" y="166"/>
                  <a:pt x="131" y="166"/>
                </a:cubicBezTo>
                <a:cubicBezTo>
                  <a:pt x="16" y="166"/>
                  <a:pt x="16" y="166"/>
                  <a:pt x="16" y="166"/>
                </a:cubicBezTo>
                <a:cubicBezTo>
                  <a:pt x="8" y="166"/>
                  <a:pt x="0" y="159"/>
                  <a:pt x="0" y="150"/>
                </a:cubicBezTo>
                <a:cubicBezTo>
                  <a:pt x="0" y="16"/>
                  <a:pt x="0" y="16"/>
                  <a:pt x="0" y="16"/>
                </a:cubicBezTo>
                <a:cubicBezTo>
                  <a:pt x="0" y="7"/>
                  <a:pt x="8" y="0"/>
                  <a:pt x="16" y="0"/>
                </a:cubicBezTo>
                <a:cubicBezTo>
                  <a:pt x="131" y="0"/>
                  <a:pt x="131" y="0"/>
                  <a:pt x="131" y="0"/>
                </a:cubicBezTo>
                <a:cubicBezTo>
                  <a:pt x="139" y="0"/>
                  <a:pt x="147" y="7"/>
                  <a:pt x="147" y="16"/>
                </a:cubicBezTo>
                <a:lnTo>
                  <a:pt x="147" y="150"/>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533" name="CustomShape 3"/>
          <p:cNvSpPr/>
          <p:nvPr/>
        </p:nvSpPr>
        <p:spPr>
          <a:xfrm>
            <a:off x="856800" y="2568240"/>
            <a:ext cx="1227600" cy="6390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A 20% increase in   the price ...</a:t>
            </a:r>
            <a:endParaRPr lang="en-US" sz="1800" strike="noStrike" spc="-1">
              <a:solidFill>
                <a:srgbClr val="000000"/>
              </a:solidFill>
              <a:uFill>
                <a:solidFill>
                  <a:srgbClr val="FFFFFF"/>
                </a:solidFill>
              </a:uFill>
              <a:latin typeface="Arial"/>
            </a:endParaRPr>
          </a:p>
        </p:txBody>
      </p:sp>
      <p:sp>
        <p:nvSpPr>
          <p:cNvPr id="534" name="Line 4"/>
          <p:cNvSpPr/>
          <p:nvPr/>
        </p:nvSpPr>
        <p:spPr>
          <a:xfrm flipV="1">
            <a:off x="2216520" y="3031920"/>
            <a:ext cx="360" cy="270360"/>
          </a:xfrm>
          <a:prstGeom prst="line">
            <a:avLst/>
          </a:prstGeom>
          <a:ln w="11160">
            <a:solidFill>
              <a:srgbClr val="000000"/>
            </a:solidFill>
            <a:miter/>
          </a:ln>
        </p:spPr>
        <p:style>
          <a:lnRef idx="0">
            <a:scrgbClr r="0" g="0" b="0"/>
          </a:lnRef>
          <a:fillRef idx="0">
            <a:scrgbClr r="0" g="0" b="0"/>
          </a:fillRef>
          <a:effectRef idx="0">
            <a:scrgbClr r="0" g="0" b="0"/>
          </a:effectRef>
          <a:fontRef idx="minor"/>
        </p:style>
      </p:sp>
      <p:sp>
        <p:nvSpPr>
          <p:cNvPr id="535" name="CustomShape 5"/>
          <p:cNvSpPr/>
          <p:nvPr/>
        </p:nvSpPr>
        <p:spPr>
          <a:xfrm>
            <a:off x="2156400" y="2877480"/>
            <a:ext cx="111240" cy="200520"/>
          </a:xfrm>
          <a:custGeom>
            <a:avLst/>
            <a:gdLst/>
            <a:ahLst/>
            <a:cxnLst/>
            <a:rect l="l" t="t" r="r" b="b"/>
            <a:pathLst>
              <a:path w="13" h="21">
                <a:moveTo>
                  <a:pt x="7" y="17"/>
                </a:moveTo>
                <a:cubicBezTo>
                  <a:pt x="0" y="21"/>
                  <a:pt x="0" y="21"/>
                  <a:pt x="0" y="21"/>
                </a:cubicBezTo>
                <a:cubicBezTo>
                  <a:pt x="0" y="21"/>
                  <a:pt x="0" y="21"/>
                  <a:pt x="0" y="21"/>
                </a:cubicBezTo>
                <a:cubicBezTo>
                  <a:pt x="4" y="11"/>
                  <a:pt x="4" y="11"/>
                  <a:pt x="4" y="11"/>
                </a:cubicBezTo>
                <a:cubicBezTo>
                  <a:pt x="5" y="7"/>
                  <a:pt x="6" y="3"/>
                  <a:pt x="7" y="0"/>
                </a:cubicBezTo>
                <a:cubicBezTo>
                  <a:pt x="7" y="3"/>
                  <a:pt x="8" y="7"/>
                  <a:pt x="9" y="11"/>
                </a:cubicBezTo>
                <a:cubicBezTo>
                  <a:pt x="13" y="21"/>
                  <a:pt x="13" y="21"/>
                  <a:pt x="13" y="21"/>
                </a:cubicBezTo>
                <a:cubicBezTo>
                  <a:pt x="13" y="21"/>
                  <a:pt x="13" y="21"/>
                  <a:pt x="13" y="21"/>
                </a:cubicBezTo>
                <a:lnTo>
                  <a:pt x="7" y="17"/>
                </a:lnTo>
                <a:close/>
              </a:path>
            </a:pathLst>
          </a:custGeom>
          <a:solidFill>
            <a:srgbClr val="000000"/>
          </a:solidFill>
          <a:ln w="9360">
            <a:noFill/>
          </a:ln>
        </p:spPr>
        <p:style>
          <a:lnRef idx="0">
            <a:scrgbClr r="0" g="0" b="0"/>
          </a:lnRef>
          <a:fillRef idx="0">
            <a:scrgbClr r="0" g="0" b="0"/>
          </a:fillRef>
          <a:effectRef idx="0">
            <a:scrgbClr r="0" g="0" b="0"/>
          </a:effectRef>
          <a:fontRef idx="minor"/>
        </p:style>
      </p:sp>
      <p:sp>
        <p:nvSpPr>
          <p:cNvPr id="536" name="CustomShape 6"/>
          <p:cNvSpPr/>
          <p:nvPr/>
        </p:nvSpPr>
        <p:spPr>
          <a:xfrm>
            <a:off x="4148280" y="2139840"/>
            <a:ext cx="2646000" cy="1785600"/>
          </a:xfrm>
          <a:custGeom>
            <a:avLst/>
            <a:gdLst/>
            <a:ahLst/>
            <a:cxnLst/>
            <a:rect l="l" t="t" r="r" b="b"/>
            <a:pathLst>
              <a:path w="355" h="269">
                <a:moveTo>
                  <a:pt x="0" y="0"/>
                </a:moveTo>
                <a:cubicBezTo>
                  <a:pt x="13" y="28"/>
                  <a:pt x="83" y="219"/>
                  <a:pt x="355" y="269"/>
                </a:cubicBezTo>
              </a:path>
            </a:pathLst>
          </a:custGeom>
          <a:noFill/>
          <a:ln w="30240">
            <a:solidFill>
              <a:srgbClr val="3C5DAA"/>
            </a:solidFill>
            <a:miter/>
          </a:ln>
        </p:spPr>
        <p:style>
          <a:lnRef idx="0">
            <a:scrgbClr r="0" g="0" b="0"/>
          </a:lnRef>
          <a:fillRef idx="0">
            <a:scrgbClr r="0" g="0" b="0"/>
          </a:fillRef>
          <a:effectRef idx="0">
            <a:scrgbClr r="0" g="0" b="0"/>
          </a:effectRef>
          <a:fontRef idx="minor"/>
        </p:style>
      </p:sp>
      <p:sp>
        <p:nvSpPr>
          <p:cNvPr id="537" name="CustomShape 7"/>
          <p:cNvSpPr/>
          <p:nvPr/>
        </p:nvSpPr>
        <p:spPr>
          <a:xfrm>
            <a:off x="6845040" y="3795840"/>
            <a:ext cx="1317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D</a:t>
            </a:r>
            <a:endParaRPr lang="en-US" sz="1800" strike="noStrike" spc="-1">
              <a:solidFill>
                <a:srgbClr val="000000"/>
              </a:solidFill>
              <a:uFill>
                <a:solidFill>
                  <a:srgbClr val="FFFFFF"/>
                </a:solidFill>
              </a:uFill>
              <a:latin typeface="Arial"/>
            </a:endParaRPr>
          </a:p>
        </p:txBody>
      </p:sp>
      <p:sp>
        <p:nvSpPr>
          <p:cNvPr id="538" name="CustomShape 8"/>
          <p:cNvSpPr/>
          <p:nvPr/>
        </p:nvSpPr>
        <p:spPr>
          <a:xfrm>
            <a:off x="7020000" y="3860640"/>
            <a:ext cx="124920" cy="2127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1</a:t>
            </a:r>
            <a:endParaRPr lang="en-US" sz="1800" strike="noStrike" spc="-1">
              <a:solidFill>
                <a:srgbClr val="000000"/>
              </a:solidFill>
              <a:uFill>
                <a:solidFill>
                  <a:srgbClr val="FFFFFF"/>
                </a:solidFill>
              </a:uFill>
              <a:latin typeface="Arial"/>
            </a:endParaRPr>
          </a:p>
        </p:txBody>
      </p:sp>
      <p:sp>
        <p:nvSpPr>
          <p:cNvPr id="539" name="CustomShape 9"/>
          <p:cNvSpPr/>
          <p:nvPr/>
        </p:nvSpPr>
        <p:spPr>
          <a:xfrm>
            <a:off x="4624560" y="4904640"/>
            <a:ext cx="164880" cy="87120"/>
          </a:xfrm>
          <a:custGeom>
            <a:avLst/>
            <a:gdLst/>
            <a:ahLst/>
            <a:cxnLst/>
            <a:rect l="l" t="t" r="r" b="b"/>
            <a:pathLst>
              <a:path w="22" h="13">
                <a:moveTo>
                  <a:pt x="18" y="6"/>
                </a:moveTo>
                <a:cubicBezTo>
                  <a:pt x="22" y="13"/>
                  <a:pt x="22" y="13"/>
                  <a:pt x="22" y="13"/>
                </a:cubicBezTo>
                <a:cubicBezTo>
                  <a:pt x="22" y="13"/>
                  <a:pt x="22" y="13"/>
                  <a:pt x="22" y="13"/>
                </a:cubicBezTo>
                <a:cubicBezTo>
                  <a:pt x="11" y="9"/>
                  <a:pt x="11" y="9"/>
                  <a:pt x="11" y="9"/>
                </a:cubicBezTo>
                <a:cubicBezTo>
                  <a:pt x="7" y="8"/>
                  <a:pt x="4" y="7"/>
                  <a:pt x="0" y="6"/>
                </a:cubicBezTo>
                <a:cubicBezTo>
                  <a:pt x="4" y="6"/>
                  <a:pt x="7" y="5"/>
                  <a:pt x="11" y="4"/>
                </a:cubicBezTo>
                <a:cubicBezTo>
                  <a:pt x="22" y="0"/>
                  <a:pt x="22" y="0"/>
                  <a:pt x="22" y="0"/>
                </a:cubicBezTo>
                <a:cubicBezTo>
                  <a:pt x="22" y="0"/>
                  <a:pt x="22" y="0"/>
                  <a:pt x="22" y="0"/>
                </a:cubicBezTo>
                <a:lnTo>
                  <a:pt x="18" y="6"/>
                </a:lnTo>
                <a:close/>
              </a:path>
            </a:pathLst>
          </a:custGeom>
          <a:solidFill>
            <a:srgbClr val="000000"/>
          </a:solidFill>
          <a:ln w="9360">
            <a:noFill/>
          </a:ln>
        </p:spPr>
        <p:style>
          <a:lnRef idx="0">
            <a:scrgbClr r="0" g="0" b="0"/>
          </a:lnRef>
          <a:fillRef idx="0">
            <a:scrgbClr r="0" g="0" b="0"/>
          </a:fillRef>
          <a:effectRef idx="0">
            <a:scrgbClr r="0" g="0" b="0"/>
          </a:effectRef>
          <a:fontRef idx="minor"/>
        </p:style>
      </p:sp>
      <p:sp>
        <p:nvSpPr>
          <p:cNvPr id="540" name="CustomShape 10"/>
          <p:cNvSpPr/>
          <p:nvPr/>
        </p:nvSpPr>
        <p:spPr>
          <a:xfrm>
            <a:off x="3403440" y="5123880"/>
            <a:ext cx="2997000" cy="825120"/>
          </a:xfrm>
          <a:custGeom>
            <a:avLst/>
            <a:gdLst/>
            <a:ahLst/>
            <a:cxnLst/>
            <a:rect l="l" t="t" r="r" b="b"/>
            <a:pathLst>
              <a:path w="368" h="137">
                <a:moveTo>
                  <a:pt x="368" y="120"/>
                </a:moveTo>
                <a:cubicBezTo>
                  <a:pt x="368" y="129"/>
                  <a:pt x="360" y="137"/>
                  <a:pt x="351" y="137"/>
                </a:cubicBezTo>
                <a:cubicBezTo>
                  <a:pt x="16" y="137"/>
                  <a:pt x="16" y="137"/>
                  <a:pt x="16" y="137"/>
                </a:cubicBezTo>
                <a:cubicBezTo>
                  <a:pt x="7" y="137"/>
                  <a:pt x="0" y="129"/>
                  <a:pt x="0" y="120"/>
                </a:cubicBezTo>
                <a:cubicBezTo>
                  <a:pt x="0" y="17"/>
                  <a:pt x="0" y="17"/>
                  <a:pt x="0" y="17"/>
                </a:cubicBezTo>
                <a:cubicBezTo>
                  <a:pt x="0" y="8"/>
                  <a:pt x="7" y="0"/>
                  <a:pt x="16" y="0"/>
                </a:cubicBezTo>
                <a:cubicBezTo>
                  <a:pt x="351" y="0"/>
                  <a:pt x="351" y="0"/>
                  <a:pt x="351" y="0"/>
                </a:cubicBezTo>
                <a:cubicBezTo>
                  <a:pt x="360" y="0"/>
                  <a:pt x="368" y="8"/>
                  <a:pt x="368" y="17"/>
                </a:cubicBezTo>
                <a:lnTo>
                  <a:pt x="368" y="120"/>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541" name="Line 11"/>
          <p:cNvSpPr/>
          <p:nvPr/>
        </p:nvSpPr>
        <p:spPr>
          <a:xfrm flipH="1">
            <a:off x="4743360" y="4944240"/>
            <a:ext cx="217440" cy="360"/>
          </a:xfrm>
          <a:prstGeom prst="line">
            <a:avLst/>
          </a:prstGeom>
          <a:ln w="11160">
            <a:solidFill>
              <a:srgbClr val="000000"/>
            </a:solidFill>
            <a:miter/>
          </a:ln>
        </p:spPr>
        <p:style>
          <a:lnRef idx="0">
            <a:scrgbClr r="0" g="0" b="0"/>
          </a:lnRef>
          <a:fillRef idx="0">
            <a:scrgbClr r="0" g="0" b="0"/>
          </a:fillRef>
          <a:effectRef idx="0">
            <a:scrgbClr r="0" g="0" b="0"/>
          </a:effectRef>
          <a:fontRef idx="minor"/>
        </p:style>
      </p:sp>
      <p:sp>
        <p:nvSpPr>
          <p:cNvPr id="542" name="CustomShape 12"/>
          <p:cNvSpPr/>
          <p:nvPr/>
        </p:nvSpPr>
        <p:spPr>
          <a:xfrm>
            <a:off x="3505320" y="5218920"/>
            <a:ext cx="2787120" cy="6390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 . . . generates a 20% decrease in the quantity of crossings demanded.</a:t>
            </a:r>
            <a:endParaRPr lang="en-US" sz="1800" strike="noStrike" spc="-1">
              <a:solidFill>
                <a:srgbClr val="000000"/>
              </a:solidFill>
              <a:uFill>
                <a:solidFill>
                  <a:srgbClr val="FFFFFF"/>
                </a:solidFill>
              </a:uFill>
              <a:latin typeface="Arial"/>
            </a:endParaRPr>
          </a:p>
        </p:txBody>
      </p:sp>
      <p:sp>
        <p:nvSpPr>
          <p:cNvPr id="543" name="CustomShape 13"/>
          <p:cNvSpPr/>
          <p:nvPr/>
        </p:nvSpPr>
        <p:spPr>
          <a:xfrm>
            <a:off x="3165120" y="690480"/>
            <a:ext cx="378000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gn="ctr">
              <a:lnSpc>
                <a:spcPct val="100000"/>
              </a:lnSpc>
            </a:pPr>
            <a:r>
              <a:rPr lang="en-US" sz="1400" b="1" strike="noStrike" spc="-1">
                <a:solidFill>
                  <a:srgbClr val="000000"/>
                </a:solidFill>
                <a:uFill>
                  <a:solidFill>
                    <a:srgbClr val="FFFFFF"/>
                  </a:solidFill>
                </a:uFill>
                <a:latin typeface="Calibri"/>
                <a:ea typeface="MS PGothic"/>
              </a:rPr>
              <a:t>Unit-Elastic Demand: Price Elasticity of Demand = 1</a:t>
            </a:r>
            <a:endParaRPr lang="en-US" sz="1800" strike="noStrike" spc="-1">
              <a:solidFill>
                <a:srgbClr val="000000"/>
              </a:solidFill>
              <a:uFill>
                <a:solidFill>
                  <a:srgbClr val="FFFFFF"/>
                </a:solidFill>
              </a:uFill>
              <a:latin typeface="Arial"/>
            </a:endParaRPr>
          </a:p>
        </p:txBody>
      </p:sp>
      <p:sp>
        <p:nvSpPr>
          <p:cNvPr id="544" name="CustomShape 14"/>
          <p:cNvSpPr/>
          <p:nvPr/>
        </p:nvSpPr>
        <p:spPr>
          <a:xfrm>
            <a:off x="4322160" y="4869000"/>
            <a:ext cx="3405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900</a:t>
            </a:r>
            <a:endParaRPr lang="en-US" sz="1800" strike="noStrike" spc="-1">
              <a:solidFill>
                <a:srgbClr val="000000"/>
              </a:solidFill>
              <a:uFill>
                <a:solidFill>
                  <a:srgbClr val="FFFFFF"/>
                </a:solidFill>
              </a:uFill>
              <a:latin typeface="Arial"/>
            </a:endParaRPr>
          </a:p>
        </p:txBody>
      </p:sp>
      <p:sp>
        <p:nvSpPr>
          <p:cNvPr id="545" name="CustomShape 15"/>
          <p:cNvSpPr/>
          <p:nvPr/>
        </p:nvSpPr>
        <p:spPr>
          <a:xfrm>
            <a:off x="4884480" y="4869000"/>
            <a:ext cx="5097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1,100</a:t>
            </a:r>
            <a:endParaRPr lang="en-US" sz="1800" strike="noStrike" spc="-1">
              <a:solidFill>
                <a:srgbClr val="000000"/>
              </a:solidFill>
              <a:uFill>
                <a:solidFill>
                  <a:srgbClr val="FFFFFF"/>
                </a:solidFill>
              </a:uFill>
              <a:latin typeface="Arial"/>
            </a:endParaRPr>
          </a:p>
        </p:txBody>
      </p:sp>
      <p:sp>
        <p:nvSpPr>
          <p:cNvPr id="546" name="Line 16"/>
          <p:cNvSpPr/>
          <p:nvPr/>
        </p:nvSpPr>
        <p:spPr>
          <a:xfrm>
            <a:off x="2823840" y="2855880"/>
            <a:ext cx="17640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547" name="Line 17"/>
          <p:cNvSpPr/>
          <p:nvPr/>
        </p:nvSpPr>
        <p:spPr>
          <a:xfrm>
            <a:off x="2823840" y="3216240"/>
            <a:ext cx="17640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548" name="Line 18"/>
          <p:cNvSpPr/>
          <p:nvPr/>
        </p:nvSpPr>
        <p:spPr>
          <a:xfrm>
            <a:off x="5027400" y="4660560"/>
            <a:ext cx="360" cy="1605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549" name="Line 19"/>
          <p:cNvSpPr/>
          <p:nvPr/>
        </p:nvSpPr>
        <p:spPr>
          <a:xfrm>
            <a:off x="4624200" y="4660560"/>
            <a:ext cx="360" cy="1605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550" name="CustomShape 20"/>
          <p:cNvSpPr/>
          <p:nvPr/>
        </p:nvSpPr>
        <p:spPr>
          <a:xfrm>
            <a:off x="2824200" y="1511280"/>
            <a:ext cx="4573080" cy="3309480"/>
          </a:xfrm>
          <a:custGeom>
            <a:avLst/>
            <a:gdLst/>
            <a:ahLst/>
            <a:cxnLst/>
            <a:rect l="l" t="t" r="r" b="b"/>
            <a:pathLst>
              <a:path w="1450" h="1179">
                <a:moveTo>
                  <a:pt x="1450" y="1179"/>
                </a:moveTo>
                <a:lnTo>
                  <a:pt x="0" y="1179"/>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sp>
      <p:sp>
        <p:nvSpPr>
          <p:cNvPr id="551" name="CustomShape 21"/>
          <p:cNvSpPr/>
          <p:nvPr/>
        </p:nvSpPr>
        <p:spPr>
          <a:xfrm>
            <a:off x="2544480" y="4869000"/>
            <a:ext cx="11484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552" name="CustomShape 22"/>
          <p:cNvSpPr/>
          <p:nvPr/>
        </p:nvSpPr>
        <p:spPr>
          <a:xfrm>
            <a:off x="2295360" y="2730600"/>
            <a:ext cx="5097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$1.10</a:t>
            </a:r>
            <a:endParaRPr lang="en-US" sz="1800" strike="noStrike" spc="-1">
              <a:solidFill>
                <a:srgbClr val="000000"/>
              </a:solidFill>
              <a:uFill>
                <a:solidFill>
                  <a:srgbClr val="FFFFFF"/>
                </a:solidFill>
              </a:uFill>
              <a:latin typeface="Arial"/>
            </a:endParaRPr>
          </a:p>
        </p:txBody>
      </p:sp>
      <p:sp>
        <p:nvSpPr>
          <p:cNvPr id="553" name="CustomShape 23"/>
          <p:cNvSpPr/>
          <p:nvPr/>
        </p:nvSpPr>
        <p:spPr>
          <a:xfrm>
            <a:off x="2400840" y="3087720"/>
            <a:ext cx="39672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0.90</a:t>
            </a:r>
            <a:endParaRPr lang="en-US" sz="1800" strike="noStrike" spc="-1">
              <a:solidFill>
                <a:srgbClr val="000000"/>
              </a:solidFill>
              <a:uFill>
                <a:solidFill>
                  <a:srgbClr val="FFFFFF"/>
                </a:solidFill>
              </a:uFill>
              <a:latin typeface="Arial"/>
            </a:endParaRPr>
          </a:p>
        </p:txBody>
      </p:sp>
      <p:sp>
        <p:nvSpPr>
          <p:cNvPr id="554" name="CustomShape 24"/>
          <p:cNvSpPr/>
          <p:nvPr/>
        </p:nvSpPr>
        <p:spPr>
          <a:xfrm>
            <a:off x="1981080" y="1239840"/>
            <a:ext cx="1879200" cy="4255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Price of bridge crossing</a:t>
            </a:r>
            <a:endParaRPr lang="en-US" sz="1800" strike="noStrike" spc="-1">
              <a:solidFill>
                <a:srgbClr val="000000"/>
              </a:solidFill>
              <a:uFill>
                <a:solidFill>
                  <a:srgbClr val="FFFFFF"/>
                </a:solidFill>
              </a:uFill>
              <a:latin typeface="Arial"/>
            </a:endParaRPr>
          </a:p>
        </p:txBody>
      </p:sp>
      <p:sp>
        <p:nvSpPr>
          <p:cNvPr id="555" name="CustomShape 25"/>
          <p:cNvSpPr/>
          <p:nvPr/>
        </p:nvSpPr>
        <p:spPr>
          <a:xfrm>
            <a:off x="6500880" y="4965840"/>
            <a:ext cx="1956960" cy="42588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Quantity of bridge crossings (per day)</a:t>
            </a:r>
            <a:endParaRPr lang="en-US" sz="1800" strike="noStrike" spc="-1">
              <a:solidFill>
                <a:srgbClr val="000000"/>
              </a:solidFill>
              <a:uFill>
                <a:solidFill>
                  <a:srgbClr val="FFFFFF"/>
                </a:solidFill>
              </a:uFill>
              <a:latin typeface="Arial"/>
            </a:endParaRPr>
          </a:p>
        </p:txBody>
      </p:sp>
      <p:sp>
        <p:nvSpPr>
          <p:cNvPr id="556" name="CustomShape 26"/>
          <p:cNvSpPr/>
          <p:nvPr/>
        </p:nvSpPr>
        <p:spPr>
          <a:xfrm>
            <a:off x="5087880" y="2874960"/>
            <a:ext cx="1119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A</a:t>
            </a:r>
            <a:endParaRPr lang="en-US" sz="1800" strike="noStrike" spc="-1">
              <a:solidFill>
                <a:srgbClr val="000000"/>
              </a:solidFill>
              <a:uFill>
                <a:solidFill>
                  <a:srgbClr val="FFFFFF"/>
                </a:solidFill>
              </a:uFill>
              <a:latin typeface="Arial"/>
            </a:endParaRPr>
          </a:p>
        </p:txBody>
      </p:sp>
      <p:sp>
        <p:nvSpPr>
          <p:cNvPr id="557" name="CustomShape 27"/>
          <p:cNvSpPr/>
          <p:nvPr/>
        </p:nvSpPr>
        <p:spPr>
          <a:xfrm>
            <a:off x="3059280" y="3195720"/>
            <a:ext cx="3312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58" name="CustomShape 28"/>
          <p:cNvSpPr/>
          <p:nvPr/>
        </p:nvSpPr>
        <p:spPr>
          <a:xfrm>
            <a:off x="3197160" y="319572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59" name="CustomShape 29"/>
          <p:cNvSpPr/>
          <p:nvPr/>
        </p:nvSpPr>
        <p:spPr>
          <a:xfrm>
            <a:off x="3327480" y="3195720"/>
            <a:ext cx="3132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60" name="CustomShape 30"/>
          <p:cNvSpPr/>
          <p:nvPr/>
        </p:nvSpPr>
        <p:spPr>
          <a:xfrm>
            <a:off x="3465360" y="319572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61" name="CustomShape 31"/>
          <p:cNvSpPr/>
          <p:nvPr/>
        </p:nvSpPr>
        <p:spPr>
          <a:xfrm>
            <a:off x="3595680" y="3195720"/>
            <a:ext cx="3132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62" name="CustomShape 32"/>
          <p:cNvSpPr/>
          <p:nvPr/>
        </p:nvSpPr>
        <p:spPr>
          <a:xfrm>
            <a:off x="3730680" y="3195720"/>
            <a:ext cx="2988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63" name="CustomShape 33"/>
          <p:cNvSpPr/>
          <p:nvPr/>
        </p:nvSpPr>
        <p:spPr>
          <a:xfrm>
            <a:off x="3863880" y="3195720"/>
            <a:ext cx="3132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64" name="CustomShape 34"/>
          <p:cNvSpPr/>
          <p:nvPr/>
        </p:nvSpPr>
        <p:spPr>
          <a:xfrm>
            <a:off x="4006800" y="3195720"/>
            <a:ext cx="3132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65" name="CustomShape 35"/>
          <p:cNvSpPr/>
          <p:nvPr/>
        </p:nvSpPr>
        <p:spPr>
          <a:xfrm>
            <a:off x="4141800" y="3195720"/>
            <a:ext cx="2808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66" name="CustomShape 36"/>
          <p:cNvSpPr/>
          <p:nvPr/>
        </p:nvSpPr>
        <p:spPr>
          <a:xfrm>
            <a:off x="4273560" y="3195720"/>
            <a:ext cx="3312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67" name="CustomShape 37"/>
          <p:cNvSpPr/>
          <p:nvPr/>
        </p:nvSpPr>
        <p:spPr>
          <a:xfrm>
            <a:off x="4410000" y="3195720"/>
            <a:ext cx="2808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68" name="CustomShape 38"/>
          <p:cNvSpPr/>
          <p:nvPr/>
        </p:nvSpPr>
        <p:spPr>
          <a:xfrm>
            <a:off x="4541760" y="3195720"/>
            <a:ext cx="3132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69" name="CustomShape 39"/>
          <p:cNvSpPr/>
          <p:nvPr/>
        </p:nvSpPr>
        <p:spPr>
          <a:xfrm>
            <a:off x="4678200" y="3195720"/>
            <a:ext cx="2808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70" name="CustomShape 40"/>
          <p:cNvSpPr/>
          <p:nvPr/>
        </p:nvSpPr>
        <p:spPr>
          <a:xfrm>
            <a:off x="4809960" y="3195720"/>
            <a:ext cx="3132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71" name="CustomShape 41"/>
          <p:cNvSpPr/>
          <p:nvPr/>
        </p:nvSpPr>
        <p:spPr>
          <a:xfrm>
            <a:off x="5011560" y="3376440"/>
            <a:ext cx="3132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72" name="CustomShape 42"/>
          <p:cNvSpPr/>
          <p:nvPr/>
        </p:nvSpPr>
        <p:spPr>
          <a:xfrm>
            <a:off x="5011560" y="3500280"/>
            <a:ext cx="3132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73" name="CustomShape 43"/>
          <p:cNvSpPr/>
          <p:nvPr/>
        </p:nvSpPr>
        <p:spPr>
          <a:xfrm>
            <a:off x="5011560" y="3621240"/>
            <a:ext cx="3132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74" name="CustomShape 44"/>
          <p:cNvSpPr/>
          <p:nvPr/>
        </p:nvSpPr>
        <p:spPr>
          <a:xfrm>
            <a:off x="5011560" y="3738600"/>
            <a:ext cx="3132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75" name="CustomShape 45"/>
          <p:cNvSpPr/>
          <p:nvPr/>
        </p:nvSpPr>
        <p:spPr>
          <a:xfrm>
            <a:off x="5011560" y="3859200"/>
            <a:ext cx="3132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76" name="CustomShape 46"/>
          <p:cNvSpPr/>
          <p:nvPr/>
        </p:nvSpPr>
        <p:spPr>
          <a:xfrm>
            <a:off x="5011560" y="3979800"/>
            <a:ext cx="3132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77" name="CustomShape 47"/>
          <p:cNvSpPr/>
          <p:nvPr/>
        </p:nvSpPr>
        <p:spPr>
          <a:xfrm>
            <a:off x="5011560" y="4097160"/>
            <a:ext cx="3132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78" name="CustomShape 48"/>
          <p:cNvSpPr/>
          <p:nvPr/>
        </p:nvSpPr>
        <p:spPr>
          <a:xfrm>
            <a:off x="5011560" y="4218120"/>
            <a:ext cx="3132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79" name="CustomShape 49"/>
          <p:cNvSpPr/>
          <p:nvPr/>
        </p:nvSpPr>
        <p:spPr>
          <a:xfrm>
            <a:off x="5011560" y="4336920"/>
            <a:ext cx="3132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80" name="CustomShape 50"/>
          <p:cNvSpPr/>
          <p:nvPr/>
        </p:nvSpPr>
        <p:spPr>
          <a:xfrm>
            <a:off x="5011560" y="4462560"/>
            <a:ext cx="3132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81" name="CustomShape 51"/>
          <p:cNvSpPr/>
          <p:nvPr/>
        </p:nvSpPr>
        <p:spPr>
          <a:xfrm>
            <a:off x="5011560" y="4581360"/>
            <a:ext cx="3132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82" name="CustomShape 52"/>
          <p:cNvSpPr/>
          <p:nvPr/>
        </p:nvSpPr>
        <p:spPr>
          <a:xfrm>
            <a:off x="4944960" y="3147840"/>
            <a:ext cx="149040" cy="131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83" name="CustomShape 53"/>
          <p:cNvSpPr/>
          <p:nvPr/>
        </p:nvSpPr>
        <p:spPr>
          <a:xfrm>
            <a:off x="4703760" y="2503440"/>
            <a:ext cx="1119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B</a:t>
            </a:r>
            <a:endParaRPr lang="en-US" sz="1800" strike="noStrike" spc="-1">
              <a:solidFill>
                <a:srgbClr val="000000"/>
              </a:solidFill>
              <a:uFill>
                <a:solidFill>
                  <a:srgbClr val="FFFFFF"/>
                </a:solidFill>
              </a:uFill>
              <a:latin typeface="Arial"/>
            </a:endParaRPr>
          </a:p>
        </p:txBody>
      </p:sp>
      <p:sp>
        <p:nvSpPr>
          <p:cNvPr id="584" name="CustomShape 54"/>
          <p:cNvSpPr/>
          <p:nvPr/>
        </p:nvSpPr>
        <p:spPr>
          <a:xfrm>
            <a:off x="3059280" y="2828880"/>
            <a:ext cx="3312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85" name="CustomShape 55"/>
          <p:cNvSpPr/>
          <p:nvPr/>
        </p:nvSpPr>
        <p:spPr>
          <a:xfrm>
            <a:off x="3197160" y="2828880"/>
            <a:ext cx="2664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86" name="CustomShape 56"/>
          <p:cNvSpPr/>
          <p:nvPr/>
        </p:nvSpPr>
        <p:spPr>
          <a:xfrm>
            <a:off x="3327480" y="2828880"/>
            <a:ext cx="3132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87" name="CustomShape 57"/>
          <p:cNvSpPr/>
          <p:nvPr/>
        </p:nvSpPr>
        <p:spPr>
          <a:xfrm>
            <a:off x="3465360" y="2828880"/>
            <a:ext cx="2664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88" name="CustomShape 58"/>
          <p:cNvSpPr/>
          <p:nvPr/>
        </p:nvSpPr>
        <p:spPr>
          <a:xfrm>
            <a:off x="3595680" y="2828880"/>
            <a:ext cx="3132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89" name="CustomShape 59"/>
          <p:cNvSpPr/>
          <p:nvPr/>
        </p:nvSpPr>
        <p:spPr>
          <a:xfrm>
            <a:off x="3730680" y="2828880"/>
            <a:ext cx="2988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90" name="CustomShape 60"/>
          <p:cNvSpPr/>
          <p:nvPr/>
        </p:nvSpPr>
        <p:spPr>
          <a:xfrm>
            <a:off x="3863880" y="2828880"/>
            <a:ext cx="3132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91" name="CustomShape 61"/>
          <p:cNvSpPr/>
          <p:nvPr/>
        </p:nvSpPr>
        <p:spPr>
          <a:xfrm>
            <a:off x="4006800" y="2828880"/>
            <a:ext cx="3132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92" name="CustomShape 62"/>
          <p:cNvSpPr/>
          <p:nvPr/>
        </p:nvSpPr>
        <p:spPr>
          <a:xfrm>
            <a:off x="4141800" y="2828880"/>
            <a:ext cx="2808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93" name="CustomShape 63"/>
          <p:cNvSpPr/>
          <p:nvPr/>
        </p:nvSpPr>
        <p:spPr>
          <a:xfrm>
            <a:off x="4273560" y="2828880"/>
            <a:ext cx="3312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94" name="CustomShape 64"/>
          <p:cNvSpPr/>
          <p:nvPr/>
        </p:nvSpPr>
        <p:spPr>
          <a:xfrm>
            <a:off x="4410000" y="2828880"/>
            <a:ext cx="2808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95" name="CustomShape 65"/>
          <p:cNvSpPr/>
          <p:nvPr/>
        </p:nvSpPr>
        <p:spPr>
          <a:xfrm>
            <a:off x="4613400" y="300024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96" name="CustomShape 66"/>
          <p:cNvSpPr/>
          <p:nvPr/>
        </p:nvSpPr>
        <p:spPr>
          <a:xfrm>
            <a:off x="4613400" y="312120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97" name="CustomShape 67"/>
          <p:cNvSpPr/>
          <p:nvPr/>
        </p:nvSpPr>
        <p:spPr>
          <a:xfrm>
            <a:off x="4613400" y="3240000"/>
            <a:ext cx="2664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98" name="CustomShape 68"/>
          <p:cNvSpPr/>
          <p:nvPr/>
        </p:nvSpPr>
        <p:spPr>
          <a:xfrm>
            <a:off x="4613400" y="3360600"/>
            <a:ext cx="2664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599" name="CustomShape 69"/>
          <p:cNvSpPr/>
          <p:nvPr/>
        </p:nvSpPr>
        <p:spPr>
          <a:xfrm>
            <a:off x="4613400" y="3484440"/>
            <a:ext cx="2664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00" name="CustomShape 70"/>
          <p:cNvSpPr/>
          <p:nvPr/>
        </p:nvSpPr>
        <p:spPr>
          <a:xfrm>
            <a:off x="4613400" y="3605040"/>
            <a:ext cx="2664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01" name="CustomShape 71"/>
          <p:cNvSpPr/>
          <p:nvPr/>
        </p:nvSpPr>
        <p:spPr>
          <a:xfrm>
            <a:off x="4613400" y="3722760"/>
            <a:ext cx="2664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02" name="CustomShape 72"/>
          <p:cNvSpPr/>
          <p:nvPr/>
        </p:nvSpPr>
        <p:spPr>
          <a:xfrm>
            <a:off x="4613400" y="384336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03" name="CustomShape 73"/>
          <p:cNvSpPr/>
          <p:nvPr/>
        </p:nvSpPr>
        <p:spPr>
          <a:xfrm>
            <a:off x="4613400" y="3963960"/>
            <a:ext cx="2664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04" name="CustomShape 74"/>
          <p:cNvSpPr/>
          <p:nvPr/>
        </p:nvSpPr>
        <p:spPr>
          <a:xfrm>
            <a:off x="4613400" y="408132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05" name="CustomShape 75"/>
          <p:cNvSpPr/>
          <p:nvPr/>
        </p:nvSpPr>
        <p:spPr>
          <a:xfrm>
            <a:off x="4613400" y="420228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06" name="CustomShape 76"/>
          <p:cNvSpPr/>
          <p:nvPr/>
        </p:nvSpPr>
        <p:spPr>
          <a:xfrm>
            <a:off x="4613400" y="4321080"/>
            <a:ext cx="2664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07" name="CustomShape 77"/>
          <p:cNvSpPr/>
          <p:nvPr/>
        </p:nvSpPr>
        <p:spPr>
          <a:xfrm>
            <a:off x="4613400" y="444672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08" name="CustomShape 78"/>
          <p:cNvSpPr/>
          <p:nvPr/>
        </p:nvSpPr>
        <p:spPr>
          <a:xfrm>
            <a:off x="4613400" y="4565520"/>
            <a:ext cx="2664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09" name="CustomShape 79"/>
          <p:cNvSpPr/>
          <p:nvPr/>
        </p:nvSpPr>
        <p:spPr>
          <a:xfrm>
            <a:off x="4551480" y="2774880"/>
            <a:ext cx="149040" cy="131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10" name="CustomShape 80"/>
          <p:cNvSpPr/>
          <p:nvPr/>
        </p:nvSpPr>
        <p:spPr>
          <a:xfrm>
            <a:off x="846360" y="6097680"/>
            <a:ext cx="7797960" cy="4255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200" strike="noStrike" spc="-1">
                <a:solidFill>
                  <a:srgbClr val="000000"/>
                </a:solidFill>
                <a:uFill>
                  <a:solidFill>
                    <a:srgbClr val="FFFFFF"/>
                  </a:solidFill>
                </a:uFill>
                <a:latin typeface="Calibri"/>
                <a:ea typeface="MS PGothic"/>
              </a:rPr>
              <a:t>Demand is </a:t>
            </a:r>
            <a:r>
              <a:rPr lang="en-US" sz="2200" b="1" strike="noStrike" spc="-1">
                <a:solidFill>
                  <a:srgbClr val="000000"/>
                </a:solidFill>
                <a:uFill>
                  <a:solidFill>
                    <a:srgbClr val="FFFFFF"/>
                  </a:solidFill>
                </a:uFill>
                <a:latin typeface="Calibri"/>
                <a:ea typeface="MS PGothic"/>
              </a:rPr>
              <a:t>unit-elastic </a:t>
            </a:r>
            <a:r>
              <a:rPr lang="en-US" sz="2200" strike="noStrike" spc="-1">
                <a:solidFill>
                  <a:srgbClr val="000000"/>
                </a:solidFill>
                <a:uFill>
                  <a:solidFill>
                    <a:srgbClr val="FFFFFF"/>
                  </a:solidFill>
                </a:uFill>
                <a:latin typeface="Calibri"/>
                <a:ea typeface="MS PGothic"/>
              </a:rPr>
              <a:t>if the price elasticity of demand is </a:t>
            </a:r>
            <a:r>
              <a:rPr lang="en-US" sz="2200" b="1" strike="noStrike" spc="-1">
                <a:solidFill>
                  <a:srgbClr val="000000"/>
                </a:solidFill>
                <a:uFill>
                  <a:solidFill>
                    <a:srgbClr val="FFFFFF"/>
                  </a:solidFill>
                </a:uFill>
                <a:latin typeface="Calibri"/>
                <a:ea typeface="MS PGothic"/>
              </a:rPr>
              <a:t>equal</a:t>
            </a:r>
            <a:r>
              <a:rPr lang="en-US" sz="2200" strike="noStrike" spc="-1">
                <a:solidFill>
                  <a:srgbClr val="000000"/>
                </a:solidFill>
                <a:uFill>
                  <a:solidFill>
                    <a:srgbClr val="FFFFFF"/>
                  </a:solidFill>
                </a:uFill>
                <a:latin typeface="Calibri"/>
                <a:ea typeface="MS PGothic"/>
              </a:rPr>
              <a:t> to 1</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 name="TextShape 1"/>
          <p:cNvSpPr txBox="1"/>
          <p:nvPr/>
        </p:nvSpPr>
        <p:spPr>
          <a:xfrm>
            <a:off x="826920" y="60480"/>
            <a:ext cx="8065800" cy="55512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Inelastic Demand</a:t>
            </a:r>
            <a:endParaRPr lang="id-ID" sz="3200" strike="noStrike" spc="-1">
              <a:solidFill>
                <a:srgbClr val="000000"/>
              </a:solidFill>
              <a:uFill>
                <a:solidFill>
                  <a:srgbClr val="FFFFFF"/>
                </a:solidFill>
              </a:uFill>
              <a:latin typeface="Calibri"/>
            </a:endParaRPr>
          </a:p>
        </p:txBody>
      </p:sp>
      <p:sp>
        <p:nvSpPr>
          <p:cNvPr id="612" name="CustomShape 2"/>
          <p:cNvSpPr/>
          <p:nvPr/>
        </p:nvSpPr>
        <p:spPr>
          <a:xfrm>
            <a:off x="4185720" y="1584360"/>
            <a:ext cx="1906200" cy="3144600"/>
          </a:xfrm>
          <a:custGeom>
            <a:avLst/>
            <a:gdLst/>
            <a:ahLst/>
            <a:cxnLst/>
            <a:rect l="l" t="t" r="r" b="b"/>
            <a:pathLst>
              <a:path w="233" h="431">
                <a:moveTo>
                  <a:pt x="0" y="0"/>
                </a:moveTo>
                <a:cubicBezTo>
                  <a:pt x="12" y="29"/>
                  <a:pt x="83" y="247"/>
                  <a:pt x="233" y="431"/>
                </a:cubicBezTo>
              </a:path>
            </a:pathLst>
          </a:custGeom>
          <a:noFill/>
          <a:ln w="30240">
            <a:solidFill>
              <a:srgbClr val="3C5DAA"/>
            </a:solidFill>
            <a:miter/>
          </a:ln>
        </p:spPr>
        <p:style>
          <a:lnRef idx="0">
            <a:scrgbClr r="0" g="0" b="0"/>
          </a:lnRef>
          <a:fillRef idx="0">
            <a:scrgbClr r="0" g="0" b="0"/>
          </a:fillRef>
          <a:effectRef idx="0">
            <a:scrgbClr r="0" g="0" b="0"/>
          </a:effectRef>
          <a:fontRef idx="minor"/>
        </p:style>
      </p:sp>
      <p:sp>
        <p:nvSpPr>
          <p:cNvPr id="613" name="CustomShape 3"/>
          <p:cNvSpPr/>
          <p:nvPr/>
        </p:nvSpPr>
        <p:spPr>
          <a:xfrm>
            <a:off x="6173280" y="4540320"/>
            <a:ext cx="1317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D</a:t>
            </a:r>
            <a:endParaRPr lang="en-US" sz="1800" strike="noStrike" spc="-1">
              <a:solidFill>
                <a:srgbClr val="000000"/>
              </a:solidFill>
              <a:uFill>
                <a:solidFill>
                  <a:srgbClr val="FFFFFF"/>
                </a:solidFill>
              </a:uFill>
              <a:latin typeface="Arial"/>
            </a:endParaRPr>
          </a:p>
        </p:txBody>
      </p:sp>
      <p:sp>
        <p:nvSpPr>
          <p:cNvPr id="614" name="CustomShape 4"/>
          <p:cNvSpPr/>
          <p:nvPr/>
        </p:nvSpPr>
        <p:spPr>
          <a:xfrm>
            <a:off x="6300360" y="4654440"/>
            <a:ext cx="191880" cy="2127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2</a:t>
            </a:r>
            <a:endParaRPr lang="en-US" sz="1800" strike="noStrike" spc="-1">
              <a:solidFill>
                <a:srgbClr val="000000"/>
              </a:solidFill>
              <a:uFill>
                <a:solidFill>
                  <a:srgbClr val="FFFFFF"/>
                </a:solidFill>
              </a:uFill>
              <a:latin typeface="Arial"/>
            </a:endParaRPr>
          </a:p>
        </p:txBody>
      </p:sp>
      <p:sp>
        <p:nvSpPr>
          <p:cNvPr id="615" name="Line 5"/>
          <p:cNvSpPr/>
          <p:nvPr/>
        </p:nvSpPr>
        <p:spPr>
          <a:xfrm>
            <a:off x="6066720" y="3325680"/>
            <a:ext cx="36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616" name="Line 6"/>
          <p:cNvSpPr/>
          <p:nvPr/>
        </p:nvSpPr>
        <p:spPr>
          <a:xfrm flipH="1">
            <a:off x="4708800" y="4977720"/>
            <a:ext cx="158040" cy="360"/>
          </a:xfrm>
          <a:prstGeom prst="line">
            <a:avLst/>
          </a:prstGeom>
          <a:ln w="11160">
            <a:solidFill>
              <a:srgbClr val="000000"/>
            </a:solidFill>
            <a:miter/>
          </a:ln>
        </p:spPr>
        <p:style>
          <a:lnRef idx="0">
            <a:scrgbClr r="0" g="0" b="0"/>
          </a:lnRef>
          <a:fillRef idx="0">
            <a:scrgbClr r="0" g="0" b="0"/>
          </a:fillRef>
          <a:effectRef idx="0">
            <a:scrgbClr r="0" g="0" b="0"/>
          </a:effectRef>
          <a:fontRef idx="minor"/>
        </p:style>
      </p:sp>
      <p:sp>
        <p:nvSpPr>
          <p:cNvPr id="617" name="CustomShape 7"/>
          <p:cNvSpPr/>
          <p:nvPr/>
        </p:nvSpPr>
        <p:spPr>
          <a:xfrm>
            <a:off x="4569480" y="4919760"/>
            <a:ext cx="191160" cy="119880"/>
          </a:xfrm>
          <a:custGeom>
            <a:avLst/>
            <a:gdLst/>
            <a:ahLst/>
            <a:cxnLst/>
            <a:rect l="l" t="t" r="r" b="b"/>
            <a:pathLst>
              <a:path w="22" h="13">
                <a:moveTo>
                  <a:pt x="18" y="6"/>
                </a:moveTo>
                <a:cubicBezTo>
                  <a:pt x="22" y="13"/>
                  <a:pt x="22" y="13"/>
                  <a:pt x="22" y="13"/>
                </a:cubicBezTo>
                <a:cubicBezTo>
                  <a:pt x="22" y="13"/>
                  <a:pt x="22" y="13"/>
                  <a:pt x="22" y="13"/>
                </a:cubicBezTo>
                <a:cubicBezTo>
                  <a:pt x="11" y="9"/>
                  <a:pt x="11" y="9"/>
                  <a:pt x="11" y="9"/>
                </a:cubicBezTo>
                <a:cubicBezTo>
                  <a:pt x="8" y="8"/>
                  <a:pt x="4" y="7"/>
                  <a:pt x="0" y="6"/>
                </a:cubicBezTo>
                <a:cubicBezTo>
                  <a:pt x="4" y="6"/>
                  <a:pt x="8" y="5"/>
                  <a:pt x="11" y="4"/>
                </a:cubicBezTo>
                <a:cubicBezTo>
                  <a:pt x="22" y="0"/>
                  <a:pt x="22" y="0"/>
                  <a:pt x="22" y="0"/>
                </a:cubicBezTo>
                <a:cubicBezTo>
                  <a:pt x="22" y="0"/>
                  <a:pt x="22" y="0"/>
                  <a:pt x="22" y="0"/>
                </a:cubicBezTo>
                <a:lnTo>
                  <a:pt x="18" y="6"/>
                </a:lnTo>
                <a:close/>
              </a:path>
            </a:pathLst>
          </a:custGeom>
          <a:solidFill>
            <a:srgbClr val="000000"/>
          </a:solidFill>
          <a:ln w="9360">
            <a:noFill/>
          </a:ln>
        </p:spPr>
        <p:style>
          <a:lnRef idx="0">
            <a:scrgbClr r="0" g="0" b="0"/>
          </a:lnRef>
          <a:fillRef idx="0">
            <a:scrgbClr r="0" g="0" b="0"/>
          </a:fillRef>
          <a:effectRef idx="0">
            <a:scrgbClr r="0" g="0" b="0"/>
          </a:effectRef>
          <a:fontRef idx="minor"/>
        </p:style>
      </p:sp>
      <p:sp>
        <p:nvSpPr>
          <p:cNvPr id="618" name="CustomShape 8"/>
          <p:cNvSpPr/>
          <p:nvPr/>
        </p:nvSpPr>
        <p:spPr>
          <a:xfrm>
            <a:off x="3087360" y="5254200"/>
            <a:ext cx="3411000" cy="782640"/>
          </a:xfrm>
          <a:custGeom>
            <a:avLst/>
            <a:gdLst/>
            <a:ahLst/>
            <a:cxnLst/>
            <a:rect l="l" t="t" r="r" b="b"/>
            <a:pathLst>
              <a:path w="368" h="137">
                <a:moveTo>
                  <a:pt x="368" y="120"/>
                </a:moveTo>
                <a:cubicBezTo>
                  <a:pt x="368" y="129"/>
                  <a:pt x="360" y="137"/>
                  <a:pt x="351" y="137"/>
                </a:cubicBezTo>
                <a:cubicBezTo>
                  <a:pt x="16" y="137"/>
                  <a:pt x="16" y="137"/>
                  <a:pt x="16" y="137"/>
                </a:cubicBezTo>
                <a:cubicBezTo>
                  <a:pt x="7" y="137"/>
                  <a:pt x="0" y="129"/>
                  <a:pt x="0" y="120"/>
                </a:cubicBezTo>
                <a:cubicBezTo>
                  <a:pt x="0" y="17"/>
                  <a:pt x="0" y="17"/>
                  <a:pt x="0" y="17"/>
                </a:cubicBezTo>
                <a:cubicBezTo>
                  <a:pt x="0" y="8"/>
                  <a:pt x="7" y="0"/>
                  <a:pt x="16" y="0"/>
                </a:cubicBezTo>
                <a:cubicBezTo>
                  <a:pt x="351" y="0"/>
                  <a:pt x="351" y="0"/>
                  <a:pt x="351" y="0"/>
                </a:cubicBezTo>
                <a:cubicBezTo>
                  <a:pt x="360" y="0"/>
                  <a:pt x="368" y="8"/>
                  <a:pt x="368" y="17"/>
                </a:cubicBezTo>
                <a:lnTo>
                  <a:pt x="368" y="120"/>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619" name="CustomShape 9"/>
          <p:cNvSpPr/>
          <p:nvPr/>
        </p:nvSpPr>
        <p:spPr>
          <a:xfrm>
            <a:off x="3255120" y="5356440"/>
            <a:ext cx="3243240" cy="6390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 . . . generates a 10% decrease in the quantity of crossings demanded.</a:t>
            </a:r>
            <a:endParaRPr lang="en-US" sz="1800" strike="noStrike" spc="-1">
              <a:solidFill>
                <a:srgbClr val="000000"/>
              </a:solidFill>
              <a:uFill>
                <a:solidFill>
                  <a:srgbClr val="FFFFFF"/>
                </a:solidFill>
              </a:uFill>
              <a:latin typeface="Arial"/>
            </a:endParaRPr>
          </a:p>
        </p:txBody>
      </p:sp>
      <p:sp>
        <p:nvSpPr>
          <p:cNvPr id="620" name="CustomShape 10"/>
          <p:cNvSpPr/>
          <p:nvPr/>
        </p:nvSpPr>
        <p:spPr>
          <a:xfrm>
            <a:off x="3305520" y="620640"/>
            <a:ext cx="369468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gn="ctr">
              <a:lnSpc>
                <a:spcPct val="100000"/>
              </a:lnSpc>
            </a:pPr>
            <a:r>
              <a:rPr lang="en-US" sz="1400" b="1" strike="noStrike" spc="-1">
                <a:solidFill>
                  <a:srgbClr val="000000"/>
                </a:solidFill>
                <a:uFill>
                  <a:solidFill>
                    <a:srgbClr val="FFFFFF"/>
                  </a:solidFill>
                </a:uFill>
                <a:latin typeface="Calibri"/>
                <a:ea typeface="MS PGothic"/>
              </a:rPr>
              <a:t>Inelastic Demand: Price Elasticity of Demand = 0.5</a:t>
            </a:r>
            <a:endParaRPr lang="en-US" sz="1800" strike="noStrike" spc="-1">
              <a:solidFill>
                <a:srgbClr val="000000"/>
              </a:solidFill>
              <a:uFill>
                <a:solidFill>
                  <a:srgbClr val="FFFFFF"/>
                </a:solidFill>
              </a:uFill>
              <a:latin typeface="Arial"/>
            </a:endParaRPr>
          </a:p>
        </p:txBody>
      </p:sp>
      <p:sp>
        <p:nvSpPr>
          <p:cNvPr id="621" name="CustomShape 11"/>
          <p:cNvSpPr/>
          <p:nvPr/>
        </p:nvSpPr>
        <p:spPr>
          <a:xfrm>
            <a:off x="4307040" y="4971960"/>
            <a:ext cx="3405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950</a:t>
            </a:r>
            <a:endParaRPr lang="en-US" sz="1800" strike="noStrike" spc="-1">
              <a:solidFill>
                <a:srgbClr val="000000"/>
              </a:solidFill>
              <a:uFill>
                <a:solidFill>
                  <a:srgbClr val="FFFFFF"/>
                </a:solidFill>
              </a:uFill>
              <a:latin typeface="Arial"/>
            </a:endParaRPr>
          </a:p>
        </p:txBody>
      </p:sp>
      <p:sp>
        <p:nvSpPr>
          <p:cNvPr id="622" name="CustomShape 12"/>
          <p:cNvSpPr/>
          <p:nvPr/>
        </p:nvSpPr>
        <p:spPr>
          <a:xfrm>
            <a:off x="4864680" y="4971960"/>
            <a:ext cx="5097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1,050</a:t>
            </a:r>
            <a:endParaRPr lang="en-US" sz="1800" strike="noStrike" spc="-1">
              <a:solidFill>
                <a:srgbClr val="000000"/>
              </a:solidFill>
              <a:uFill>
                <a:solidFill>
                  <a:srgbClr val="FFFFFF"/>
                </a:solidFill>
              </a:uFill>
              <a:latin typeface="Arial"/>
            </a:endParaRPr>
          </a:p>
        </p:txBody>
      </p:sp>
      <p:sp>
        <p:nvSpPr>
          <p:cNvPr id="623" name="Line 13"/>
          <p:cNvSpPr/>
          <p:nvPr/>
        </p:nvSpPr>
        <p:spPr>
          <a:xfrm>
            <a:off x="2646720" y="2763720"/>
            <a:ext cx="19872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624" name="Line 14"/>
          <p:cNvSpPr/>
          <p:nvPr/>
        </p:nvSpPr>
        <p:spPr>
          <a:xfrm>
            <a:off x="2646720" y="3159000"/>
            <a:ext cx="19872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625" name="Line 15"/>
          <p:cNvSpPr/>
          <p:nvPr/>
        </p:nvSpPr>
        <p:spPr>
          <a:xfrm>
            <a:off x="4966200" y="4749480"/>
            <a:ext cx="360" cy="1731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626" name="Line 16"/>
          <p:cNvSpPr/>
          <p:nvPr/>
        </p:nvSpPr>
        <p:spPr>
          <a:xfrm>
            <a:off x="4744080" y="4749480"/>
            <a:ext cx="360" cy="1731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627" name="CustomShape 17"/>
          <p:cNvSpPr/>
          <p:nvPr/>
        </p:nvSpPr>
        <p:spPr>
          <a:xfrm>
            <a:off x="2647080" y="1285920"/>
            <a:ext cx="5095440" cy="3636720"/>
          </a:xfrm>
          <a:custGeom>
            <a:avLst/>
            <a:gdLst/>
            <a:ahLst/>
            <a:cxnLst/>
            <a:rect l="l" t="t" r="r" b="b"/>
            <a:pathLst>
              <a:path w="1470" h="1178">
                <a:moveTo>
                  <a:pt x="1470" y="1178"/>
                </a:moveTo>
                <a:lnTo>
                  <a:pt x="0" y="1178"/>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sp>
      <p:sp>
        <p:nvSpPr>
          <p:cNvPr id="628" name="CustomShape 18"/>
          <p:cNvSpPr/>
          <p:nvPr/>
        </p:nvSpPr>
        <p:spPr>
          <a:xfrm>
            <a:off x="2343600" y="4971960"/>
            <a:ext cx="11484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629" name="CustomShape 19"/>
          <p:cNvSpPr/>
          <p:nvPr/>
        </p:nvSpPr>
        <p:spPr>
          <a:xfrm>
            <a:off x="2100600" y="2638440"/>
            <a:ext cx="5097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$1.10</a:t>
            </a:r>
            <a:endParaRPr lang="en-US" sz="1800" strike="noStrike" spc="-1">
              <a:solidFill>
                <a:srgbClr val="000000"/>
              </a:solidFill>
              <a:uFill>
                <a:solidFill>
                  <a:srgbClr val="FFFFFF"/>
                </a:solidFill>
              </a:uFill>
              <a:latin typeface="Arial"/>
            </a:endParaRPr>
          </a:p>
        </p:txBody>
      </p:sp>
      <p:sp>
        <p:nvSpPr>
          <p:cNvPr id="630" name="CustomShape 20"/>
          <p:cNvSpPr/>
          <p:nvPr/>
        </p:nvSpPr>
        <p:spPr>
          <a:xfrm>
            <a:off x="2252520" y="2998800"/>
            <a:ext cx="39672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0.90</a:t>
            </a:r>
            <a:endParaRPr lang="en-US" sz="1800" strike="noStrike" spc="-1">
              <a:solidFill>
                <a:srgbClr val="000000"/>
              </a:solidFill>
              <a:uFill>
                <a:solidFill>
                  <a:srgbClr val="FFFFFF"/>
                </a:solidFill>
              </a:uFill>
              <a:latin typeface="Arial"/>
            </a:endParaRPr>
          </a:p>
        </p:txBody>
      </p:sp>
      <p:sp>
        <p:nvSpPr>
          <p:cNvPr id="631" name="CustomShape 21"/>
          <p:cNvSpPr/>
          <p:nvPr/>
        </p:nvSpPr>
        <p:spPr>
          <a:xfrm>
            <a:off x="1602360" y="1017720"/>
            <a:ext cx="2231640" cy="2127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Price of bridge crossing</a:t>
            </a:r>
            <a:endParaRPr lang="en-US" sz="1800" strike="noStrike" spc="-1">
              <a:solidFill>
                <a:srgbClr val="000000"/>
              </a:solidFill>
              <a:uFill>
                <a:solidFill>
                  <a:srgbClr val="FFFFFF"/>
                </a:solidFill>
              </a:uFill>
              <a:latin typeface="Arial"/>
            </a:endParaRPr>
          </a:p>
        </p:txBody>
      </p:sp>
      <p:sp>
        <p:nvSpPr>
          <p:cNvPr id="632" name="CustomShape 22"/>
          <p:cNvSpPr/>
          <p:nvPr/>
        </p:nvSpPr>
        <p:spPr>
          <a:xfrm>
            <a:off x="6644160" y="5057640"/>
            <a:ext cx="1815840" cy="42588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Quantity of bridge crossings (per day)</a:t>
            </a:r>
            <a:endParaRPr lang="en-US" sz="1800" strike="noStrike" spc="-1">
              <a:solidFill>
                <a:srgbClr val="000000"/>
              </a:solidFill>
              <a:uFill>
                <a:solidFill>
                  <a:srgbClr val="FFFFFF"/>
                </a:solidFill>
              </a:uFill>
              <a:latin typeface="Arial"/>
            </a:endParaRPr>
          </a:p>
        </p:txBody>
      </p:sp>
      <p:sp>
        <p:nvSpPr>
          <p:cNvPr id="633" name="CustomShape 23"/>
          <p:cNvSpPr/>
          <p:nvPr/>
        </p:nvSpPr>
        <p:spPr>
          <a:xfrm>
            <a:off x="612000" y="2400120"/>
            <a:ext cx="1262880" cy="996480"/>
          </a:xfrm>
          <a:custGeom>
            <a:avLst/>
            <a:gdLst/>
            <a:ahLst/>
            <a:cxnLst/>
            <a:rect l="l" t="t" r="r" b="b"/>
            <a:pathLst>
              <a:path w="147" h="166">
                <a:moveTo>
                  <a:pt x="147" y="150"/>
                </a:moveTo>
                <a:cubicBezTo>
                  <a:pt x="147" y="159"/>
                  <a:pt x="139" y="166"/>
                  <a:pt x="131" y="166"/>
                </a:cubicBezTo>
                <a:cubicBezTo>
                  <a:pt x="16" y="166"/>
                  <a:pt x="16" y="166"/>
                  <a:pt x="16" y="166"/>
                </a:cubicBezTo>
                <a:cubicBezTo>
                  <a:pt x="8" y="166"/>
                  <a:pt x="0" y="159"/>
                  <a:pt x="0" y="150"/>
                </a:cubicBezTo>
                <a:cubicBezTo>
                  <a:pt x="0" y="16"/>
                  <a:pt x="0" y="16"/>
                  <a:pt x="0" y="16"/>
                </a:cubicBezTo>
                <a:cubicBezTo>
                  <a:pt x="0" y="7"/>
                  <a:pt x="8" y="0"/>
                  <a:pt x="16" y="0"/>
                </a:cubicBezTo>
                <a:cubicBezTo>
                  <a:pt x="131" y="0"/>
                  <a:pt x="131" y="0"/>
                  <a:pt x="131" y="0"/>
                </a:cubicBezTo>
                <a:cubicBezTo>
                  <a:pt x="139" y="0"/>
                  <a:pt x="147" y="7"/>
                  <a:pt x="147" y="16"/>
                </a:cubicBezTo>
                <a:lnTo>
                  <a:pt x="147" y="150"/>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634" name="Line 24"/>
          <p:cNvSpPr/>
          <p:nvPr/>
        </p:nvSpPr>
        <p:spPr>
          <a:xfrm flipV="1">
            <a:off x="1978560" y="2866680"/>
            <a:ext cx="360" cy="261000"/>
          </a:xfrm>
          <a:prstGeom prst="line">
            <a:avLst/>
          </a:prstGeom>
          <a:ln w="11160">
            <a:solidFill>
              <a:srgbClr val="000000"/>
            </a:solidFill>
            <a:miter/>
          </a:ln>
        </p:spPr>
        <p:style>
          <a:lnRef idx="0">
            <a:scrgbClr r="0" g="0" b="0"/>
          </a:lnRef>
          <a:fillRef idx="0">
            <a:scrgbClr r="0" g="0" b="0"/>
          </a:fillRef>
          <a:effectRef idx="0">
            <a:scrgbClr r="0" g="0" b="0"/>
          </a:effectRef>
          <a:fontRef idx="minor"/>
        </p:style>
      </p:sp>
      <p:sp>
        <p:nvSpPr>
          <p:cNvPr id="635" name="CustomShape 25"/>
          <p:cNvSpPr/>
          <p:nvPr/>
        </p:nvSpPr>
        <p:spPr>
          <a:xfrm>
            <a:off x="1923120" y="2679840"/>
            <a:ext cx="100440" cy="199080"/>
          </a:xfrm>
          <a:custGeom>
            <a:avLst/>
            <a:gdLst/>
            <a:ahLst/>
            <a:cxnLst/>
            <a:rect l="l" t="t" r="r" b="b"/>
            <a:pathLst>
              <a:path w="13" h="21">
                <a:moveTo>
                  <a:pt x="7" y="17"/>
                </a:moveTo>
                <a:cubicBezTo>
                  <a:pt x="0" y="21"/>
                  <a:pt x="0" y="21"/>
                  <a:pt x="0" y="21"/>
                </a:cubicBezTo>
                <a:cubicBezTo>
                  <a:pt x="0" y="21"/>
                  <a:pt x="0" y="21"/>
                  <a:pt x="0" y="21"/>
                </a:cubicBezTo>
                <a:cubicBezTo>
                  <a:pt x="4" y="11"/>
                  <a:pt x="4" y="11"/>
                  <a:pt x="4" y="11"/>
                </a:cubicBezTo>
                <a:cubicBezTo>
                  <a:pt x="5" y="7"/>
                  <a:pt x="6" y="3"/>
                  <a:pt x="7" y="0"/>
                </a:cubicBezTo>
                <a:cubicBezTo>
                  <a:pt x="7" y="3"/>
                  <a:pt x="8" y="7"/>
                  <a:pt x="9" y="11"/>
                </a:cubicBezTo>
                <a:cubicBezTo>
                  <a:pt x="13" y="21"/>
                  <a:pt x="13" y="21"/>
                  <a:pt x="13" y="21"/>
                </a:cubicBezTo>
                <a:cubicBezTo>
                  <a:pt x="13" y="21"/>
                  <a:pt x="13" y="21"/>
                  <a:pt x="13" y="21"/>
                </a:cubicBezTo>
                <a:lnTo>
                  <a:pt x="7" y="17"/>
                </a:lnTo>
                <a:close/>
              </a:path>
            </a:pathLst>
          </a:custGeom>
          <a:solidFill>
            <a:srgbClr val="000000"/>
          </a:solidFill>
          <a:ln w="9360">
            <a:noFill/>
          </a:ln>
        </p:spPr>
        <p:style>
          <a:lnRef idx="0">
            <a:scrgbClr r="0" g="0" b="0"/>
          </a:lnRef>
          <a:fillRef idx="0">
            <a:scrgbClr r="0" g="0" b="0"/>
          </a:fillRef>
          <a:effectRef idx="0">
            <a:scrgbClr r="0" g="0" b="0"/>
          </a:effectRef>
          <a:fontRef idx="minor"/>
        </p:style>
      </p:sp>
      <p:sp>
        <p:nvSpPr>
          <p:cNvPr id="636" name="CustomShape 26"/>
          <p:cNvSpPr/>
          <p:nvPr/>
        </p:nvSpPr>
        <p:spPr>
          <a:xfrm>
            <a:off x="638280" y="2509200"/>
            <a:ext cx="1224720" cy="6397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A 20% increase in 
the price ...</a:t>
            </a:r>
            <a:endParaRPr lang="en-US" sz="1800" strike="noStrike" spc="-1">
              <a:solidFill>
                <a:srgbClr val="000000"/>
              </a:solidFill>
              <a:uFill>
                <a:solidFill>
                  <a:srgbClr val="FFFFFF"/>
                </a:solidFill>
              </a:uFill>
              <a:latin typeface="Arial"/>
            </a:endParaRPr>
          </a:p>
        </p:txBody>
      </p:sp>
      <p:sp>
        <p:nvSpPr>
          <p:cNvPr id="637" name="CustomShape 27"/>
          <p:cNvSpPr/>
          <p:nvPr/>
        </p:nvSpPr>
        <p:spPr>
          <a:xfrm>
            <a:off x="5017680" y="2789280"/>
            <a:ext cx="1119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A</a:t>
            </a:r>
            <a:endParaRPr lang="en-US" sz="1800" strike="noStrike" spc="-1">
              <a:solidFill>
                <a:srgbClr val="000000"/>
              </a:solidFill>
              <a:uFill>
                <a:solidFill>
                  <a:srgbClr val="FFFFFF"/>
                </a:solidFill>
              </a:uFill>
              <a:latin typeface="Arial"/>
            </a:endParaRPr>
          </a:p>
        </p:txBody>
      </p:sp>
      <p:sp>
        <p:nvSpPr>
          <p:cNvPr id="638" name="CustomShape 28"/>
          <p:cNvSpPr/>
          <p:nvPr/>
        </p:nvSpPr>
        <p:spPr>
          <a:xfrm>
            <a:off x="2934720" y="3137040"/>
            <a:ext cx="2988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39" name="CustomShape 29"/>
          <p:cNvSpPr/>
          <p:nvPr/>
        </p:nvSpPr>
        <p:spPr>
          <a:xfrm>
            <a:off x="3087360" y="3137040"/>
            <a:ext cx="3456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40" name="CustomShape 30"/>
          <p:cNvSpPr/>
          <p:nvPr/>
        </p:nvSpPr>
        <p:spPr>
          <a:xfrm>
            <a:off x="3242880" y="3137040"/>
            <a:ext cx="3456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41" name="CustomShape 31"/>
          <p:cNvSpPr/>
          <p:nvPr/>
        </p:nvSpPr>
        <p:spPr>
          <a:xfrm>
            <a:off x="3398400" y="3137040"/>
            <a:ext cx="3456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42" name="CustomShape 32"/>
          <p:cNvSpPr/>
          <p:nvPr/>
        </p:nvSpPr>
        <p:spPr>
          <a:xfrm>
            <a:off x="3553920" y="3137040"/>
            <a:ext cx="3132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43" name="CustomShape 33"/>
          <p:cNvSpPr/>
          <p:nvPr/>
        </p:nvSpPr>
        <p:spPr>
          <a:xfrm>
            <a:off x="3711240" y="3137040"/>
            <a:ext cx="3132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44" name="CustomShape 34"/>
          <p:cNvSpPr/>
          <p:nvPr/>
        </p:nvSpPr>
        <p:spPr>
          <a:xfrm>
            <a:off x="3868200" y="3137040"/>
            <a:ext cx="2988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45" name="CustomShape 35"/>
          <p:cNvSpPr/>
          <p:nvPr/>
        </p:nvSpPr>
        <p:spPr>
          <a:xfrm>
            <a:off x="4023720" y="3137040"/>
            <a:ext cx="2988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46" name="CustomShape 36"/>
          <p:cNvSpPr/>
          <p:nvPr/>
        </p:nvSpPr>
        <p:spPr>
          <a:xfrm>
            <a:off x="4179600" y="3137040"/>
            <a:ext cx="2988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47" name="CustomShape 37"/>
          <p:cNvSpPr/>
          <p:nvPr/>
        </p:nvSpPr>
        <p:spPr>
          <a:xfrm>
            <a:off x="4330080" y="3137040"/>
            <a:ext cx="3600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48" name="CustomShape 38"/>
          <p:cNvSpPr/>
          <p:nvPr/>
        </p:nvSpPr>
        <p:spPr>
          <a:xfrm>
            <a:off x="4488840" y="3137040"/>
            <a:ext cx="3312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49" name="CustomShape 39"/>
          <p:cNvSpPr/>
          <p:nvPr/>
        </p:nvSpPr>
        <p:spPr>
          <a:xfrm>
            <a:off x="4644720" y="3137040"/>
            <a:ext cx="3312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50" name="CustomShape 40"/>
          <p:cNvSpPr/>
          <p:nvPr/>
        </p:nvSpPr>
        <p:spPr>
          <a:xfrm>
            <a:off x="4800240" y="3137040"/>
            <a:ext cx="3312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51" name="CustomShape 41"/>
          <p:cNvSpPr/>
          <p:nvPr/>
        </p:nvSpPr>
        <p:spPr>
          <a:xfrm>
            <a:off x="4936680" y="3333600"/>
            <a:ext cx="3600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52" name="CustomShape 42"/>
          <p:cNvSpPr/>
          <p:nvPr/>
        </p:nvSpPr>
        <p:spPr>
          <a:xfrm>
            <a:off x="4936680" y="3471840"/>
            <a:ext cx="36000" cy="298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53" name="CustomShape 43"/>
          <p:cNvSpPr/>
          <p:nvPr/>
        </p:nvSpPr>
        <p:spPr>
          <a:xfrm>
            <a:off x="4936680" y="3603600"/>
            <a:ext cx="3600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54" name="CustomShape 44"/>
          <p:cNvSpPr/>
          <p:nvPr/>
        </p:nvSpPr>
        <p:spPr>
          <a:xfrm>
            <a:off x="4936680" y="3735360"/>
            <a:ext cx="3600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55" name="CustomShape 45"/>
          <p:cNvSpPr/>
          <p:nvPr/>
        </p:nvSpPr>
        <p:spPr>
          <a:xfrm>
            <a:off x="4936680" y="3867120"/>
            <a:ext cx="3600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56" name="CustomShape 46"/>
          <p:cNvSpPr/>
          <p:nvPr/>
        </p:nvSpPr>
        <p:spPr>
          <a:xfrm>
            <a:off x="4936680" y="3997440"/>
            <a:ext cx="36000" cy="298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57" name="CustomShape 47"/>
          <p:cNvSpPr/>
          <p:nvPr/>
        </p:nvSpPr>
        <p:spPr>
          <a:xfrm>
            <a:off x="4936680" y="4129200"/>
            <a:ext cx="3600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58" name="CustomShape 48"/>
          <p:cNvSpPr/>
          <p:nvPr/>
        </p:nvSpPr>
        <p:spPr>
          <a:xfrm>
            <a:off x="4936680" y="4259160"/>
            <a:ext cx="36000" cy="3132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59" name="CustomShape 49"/>
          <p:cNvSpPr/>
          <p:nvPr/>
        </p:nvSpPr>
        <p:spPr>
          <a:xfrm>
            <a:off x="4936680" y="4392720"/>
            <a:ext cx="3600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60" name="CustomShape 50"/>
          <p:cNvSpPr/>
          <p:nvPr/>
        </p:nvSpPr>
        <p:spPr>
          <a:xfrm>
            <a:off x="4936680" y="4530600"/>
            <a:ext cx="3600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61" name="CustomShape 51"/>
          <p:cNvSpPr/>
          <p:nvPr/>
        </p:nvSpPr>
        <p:spPr>
          <a:xfrm>
            <a:off x="4936680" y="4660920"/>
            <a:ext cx="36000" cy="298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62" name="CustomShape 52"/>
          <p:cNvSpPr/>
          <p:nvPr/>
        </p:nvSpPr>
        <p:spPr>
          <a:xfrm>
            <a:off x="4882680" y="3085920"/>
            <a:ext cx="163080" cy="1440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63" name="CustomShape 53"/>
          <p:cNvSpPr/>
          <p:nvPr/>
        </p:nvSpPr>
        <p:spPr>
          <a:xfrm>
            <a:off x="4806720" y="2389320"/>
            <a:ext cx="1119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B</a:t>
            </a:r>
            <a:endParaRPr lang="en-US" sz="1800" strike="noStrike" spc="-1">
              <a:solidFill>
                <a:srgbClr val="000000"/>
              </a:solidFill>
              <a:uFill>
                <a:solidFill>
                  <a:srgbClr val="FFFFFF"/>
                </a:solidFill>
              </a:uFill>
              <a:latin typeface="Arial"/>
            </a:endParaRPr>
          </a:p>
        </p:txBody>
      </p:sp>
      <p:sp>
        <p:nvSpPr>
          <p:cNvPr id="664" name="CustomShape 54"/>
          <p:cNvSpPr/>
          <p:nvPr/>
        </p:nvSpPr>
        <p:spPr>
          <a:xfrm>
            <a:off x="2934720" y="2747880"/>
            <a:ext cx="29880" cy="3132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65" name="CustomShape 55"/>
          <p:cNvSpPr/>
          <p:nvPr/>
        </p:nvSpPr>
        <p:spPr>
          <a:xfrm>
            <a:off x="3087360" y="2747880"/>
            <a:ext cx="34560" cy="3132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66" name="CustomShape 56"/>
          <p:cNvSpPr/>
          <p:nvPr/>
        </p:nvSpPr>
        <p:spPr>
          <a:xfrm>
            <a:off x="3242880" y="2747880"/>
            <a:ext cx="34560" cy="3132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67" name="CustomShape 57"/>
          <p:cNvSpPr/>
          <p:nvPr/>
        </p:nvSpPr>
        <p:spPr>
          <a:xfrm>
            <a:off x="3398400" y="2747880"/>
            <a:ext cx="34560" cy="3132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68" name="CustomShape 58"/>
          <p:cNvSpPr/>
          <p:nvPr/>
        </p:nvSpPr>
        <p:spPr>
          <a:xfrm>
            <a:off x="3553920" y="2747880"/>
            <a:ext cx="31320" cy="3132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69" name="CustomShape 59"/>
          <p:cNvSpPr/>
          <p:nvPr/>
        </p:nvSpPr>
        <p:spPr>
          <a:xfrm>
            <a:off x="3711240" y="2747880"/>
            <a:ext cx="31320" cy="3132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70" name="CustomShape 60"/>
          <p:cNvSpPr/>
          <p:nvPr/>
        </p:nvSpPr>
        <p:spPr>
          <a:xfrm>
            <a:off x="3868200" y="2747880"/>
            <a:ext cx="29880" cy="3132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71" name="CustomShape 61"/>
          <p:cNvSpPr/>
          <p:nvPr/>
        </p:nvSpPr>
        <p:spPr>
          <a:xfrm>
            <a:off x="4023720" y="2747880"/>
            <a:ext cx="29880" cy="3132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72" name="CustomShape 62"/>
          <p:cNvSpPr/>
          <p:nvPr/>
        </p:nvSpPr>
        <p:spPr>
          <a:xfrm>
            <a:off x="4179600" y="2747880"/>
            <a:ext cx="29880" cy="3132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73" name="CustomShape 63"/>
          <p:cNvSpPr/>
          <p:nvPr/>
        </p:nvSpPr>
        <p:spPr>
          <a:xfrm>
            <a:off x="4330080" y="2747880"/>
            <a:ext cx="36000" cy="3132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74" name="CustomShape 64"/>
          <p:cNvSpPr/>
          <p:nvPr/>
        </p:nvSpPr>
        <p:spPr>
          <a:xfrm>
            <a:off x="4488840" y="2747880"/>
            <a:ext cx="33120" cy="3132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75" name="CustomShape 65"/>
          <p:cNvSpPr/>
          <p:nvPr/>
        </p:nvSpPr>
        <p:spPr>
          <a:xfrm>
            <a:off x="4717440" y="2938320"/>
            <a:ext cx="3312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76" name="CustomShape 66"/>
          <p:cNvSpPr/>
          <p:nvPr/>
        </p:nvSpPr>
        <p:spPr>
          <a:xfrm>
            <a:off x="4717440" y="3068640"/>
            <a:ext cx="33120" cy="298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77" name="CustomShape 67"/>
          <p:cNvSpPr/>
          <p:nvPr/>
        </p:nvSpPr>
        <p:spPr>
          <a:xfrm>
            <a:off x="4717440" y="3201840"/>
            <a:ext cx="3312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78" name="CustomShape 68"/>
          <p:cNvSpPr/>
          <p:nvPr/>
        </p:nvSpPr>
        <p:spPr>
          <a:xfrm>
            <a:off x="4717440" y="3332160"/>
            <a:ext cx="3312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79" name="CustomShape 69"/>
          <p:cNvSpPr/>
          <p:nvPr/>
        </p:nvSpPr>
        <p:spPr>
          <a:xfrm>
            <a:off x="4717440" y="3470400"/>
            <a:ext cx="33120" cy="298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80" name="CustomShape 70"/>
          <p:cNvSpPr/>
          <p:nvPr/>
        </p:nvSpPr>
        <p:spPr>
          <a:xfrm>
            <a:off x="4717440" y="3602160"/>
            <a:ext cx="3312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81" name="CustomShape 71"/>
          <p:cNvSpPr/>
          <p:nvPr/>
        </p:nvSpPr>
        <p:spPr>
          <a:xfrm>
            <a:off x="4717440" y="3733920"/>
            <a:ext cx="3312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82" name="CustomShape 72"/>
          <p:cNvSpPr/>
          <p:nvPr/>
        </p:nvSpPr>
        <p:spPr>
          <a:xfrm>
            <a:off x="4717440" y="3865680"/>
            <a:ext cx="3312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83" name="CustomShape 73"/>
          <p:cNvSpPr/>
          <p:nvPr/>
        </p:nvSpPr>
        <p:spPr>
          <a:xfrm>
            <a:off x="4717440" y="3995640"/>
            <a:ext cx="33120" cy="298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84" name="CustomShape 74"/>
          <p:cNvSpPr/>
          <p:nvPr/>
        </p:nvSpPr>
        <p:spPr>
          <a:xfrm>
            <a:off x="4717440" y="4127400"/>
            <a:ext cx="3312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85" name="CustomShape 75"/>
          <p:cNvSpPr/>
          <p:nvPr/>
        </p:nvSpPr>
        <p:spPr>
          <a:xfrm>
            <a:off x="4717440" y="4257720"/>
            <a:ext cx="33120" cy="3132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86" name="CustomShape 76"/>
          <p:cNvSpPr/>
          <p:nvPr/>
        </p:nvSpPr>
        <p:spPr>
          <a:xfrm>
            <a:off x="4717440" y="4390920"/>
            <a:ext cx="33120" cy="266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87" name="CustomShape 77"/>
          <p:cNvSpPr/>
          <p:nvPr/>
        </p:nvSpPr>
        <p:spPr>
          <a:xfrm>
            <a:off x="4717440" y="4529160"/>
            <a:ext cx="33120" cy="280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88" name="CustomShape 78"/>
          <p:cNvSpPr/>
          <p:nvPr/>
        </p:nvSpPr>
        <p:spPr>
          <a:xfrm>
            <a:off x="4717440" y="4659120"/>
            <a:ext cx="33120" cy="298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89" name="CustomShape 79"/>
          <p:cNvSpPr/>
          <p:nvPr/>
        </p:nvSpPr>
        <p:spPr>
          <a:xfrm>
            <a:off x="4644720" y="2690640"/>
            <a:ext cx="161640" cy="1458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690" name="CustomShape 80"/>
          <p:cNvSpPr/>
          <p:nvPr/>
        </p:nvSpPr>
        <p:spPr>
          <a:xfrm>
            <a:off x="826920" y="6093000"/>
            <a:ext cx="7632360" cy="4255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200" strike="noStrike" spc="-1">
                <a:solidFill>
                  <a:srgbClr val="000000"/>
                </a:solidFill>
                <a:uFill>
                  <a:solidFill>
                    <a:srgbClr val="FFFFFF"/>
                  </a:solidFill>
                </a:uFill>
                <a:latin typeface="Calibri"/>
                <a:ea typeface="MS PGothic"/>
              </a:rPr>
              <a:t>Demand is </a:t>
            </a:r>
            <a:r>
              <a:rPr lang="en-US" sz="2200" b="1" strike="noStrike" spc="-1">
                <a:solidFill>
                  <a:srgbClr val="000000"/>
                </a:solidFill>
                <a:uFill>
                  <a:solidFill>
                    <a:srgbClr val="FFFFFF"/>
                  </a:solidFill>
                </a:uFill>
                <a:latin typeface="Calibri"/>
                <a:ea typeface="MS PGothic"/>
              </a:rPr>
              <a:t>inelastic </a:t>
            </a:r>
            <a:r>
              <a:rPr lang="en-US" sz="2200" strike="noStrike" spc="-1">
                <a:solidFill>
                  <a:srgbClr val="000000"/>
                </a:solidFill>
                <a:uFill>
                  <a:solidFill>
                    <a:srgbClr val="FFFFFF"/>
                  </a:solidFill>
                </a:uFill>
                <a:latin typeface="Calibri"/>
                <a:ea typeface="MS PGothic"/>
              </a:rPr>
              <a:t>if the price elasticity of demand is </a:t>
            </a:r>
            <a:r>
              <a:rPr lang="en-US" sz="2200" b="1" strike="noStrike" spc="-1">
                <a:solidFill>
                  <a:srgbClr val="000000"/>
                </a:solidFill>
                <a:uFill>
                  <a:solidFill>
                    <a:srgbClr val="FFFFFF"/>
                  </a:solidFill>
                </a:uFill>
                <a:latin typeface="Calibri"/>
                <a:ea typeface="MS PGothic"/>
              </a:rPr>
              <a:t>less</a:t>
            </a:r>
            <a:r>
              <a:rPr lang="en-US" sz="2200" strike="noStrike" spc="-1">
                <a:solidFill>
                  <a:srgbClr val="000000"/>
                </a:solidFill>
                <a:uFill>
                  <a:solidFill>
                    <a:srgbClr val="FFFFFF"/>
                  </a:solidFill>
                </a:uFill>
                <a:latin typeface="Calibri"/>
                <a:ea typeface="MS PGothic"/>
              </a:rPr>
              <a:t> than 1</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 name="TextShape 1"/>
          <p:cNvSpPr txBox="1"/>
          <p:nvPr/>
        </p:nvSpPr>
        <p:spPr>
          <a:xfrm>
            <a:off x="1071720" y="60480"/>
            <a:ext cx="8078400" cy="55512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Unit-Elastic, Inelastic, or Elastic?</a:t>
            </a:r>
            <a:endParaRPr lang="id-ID" sz="3200" strike="noStrike" spc="-1">
              <a:solidFill>
                <a:srgbClr val="000000"/>
              </a:solidFill>
              <a:uFill>
                <a:solidFill>
                  <a:srgbClr val="FFFFFF"/>
                </a:solidFill>
              </a:uFill>
              <a:latin typeface="Calibri"/>
            </a:endParaRPr>
          </a:p>
        </p:txBody>
      </p:sp>
      <p:sp>
        <p:nvSpPr>
          <p:cNvPr id="692" name="TextShape 2"/>
          <p:cNvSpPr txBox="1"/>
          <p:nvPr/>
        </p:nvSpPr>
        <p:spPr>
          <a:xfrm>
            <a:off x="684360" y="836640"/>
            <a:ext cx="8351640" cy="5400360"/>
          </a:xfrm>
          <a:prstGeom prst="rect">
            <a:avLst/>
          </a:prstGeom>
          <a:noFill/>
          <a:ln w="9360">
            <a:noFill/>
          </a:ln>
        </p:spPr>
        <p:txBody>
          <a:bodyPr/>
          <a:lstStyle/>
          <a:p>
            <a:pPr>
              <a:lnSpc>
                <a:spcPct val="100000"/>
              </a:lnSpc>
            </a:pPr>
            <a:r>
              <a:rPr lang="id-ID" sz="2500" strike="noStrike" spc="-1">
                <a:solidFill>
                  <a:srgbClr val="000000"/>
                </a:solidFill>
                <a:uFill>
                  <a:solidFill>
                    <a:srgbClr val="FFFFFF"/>
                  </a:solidFill>
                </a:uFill>
                <a:latin typeface="Calibri"/>
                <a:ea typeface="MS PGothic"/>
              </a:rPr>
              <a:t>Why Does It Matter Whether Demand is Unit-Elastic, Inelastic, or Elastic?:</a:t>
            </a: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a:p>
            <a:pPr>
              <a:lnSpc>
                <a:spcPct val="100000"/>
              </a:lnSpc>
              <a:buClr>
                <a:srgbClr val="000000"/>
              </a:buClr>
              <a:buFont typeface="Arial"/>
              <a:buChar char="•"/>
            </a:pPr>
            <a:r>
              <a:rPr lang="id-ID" sz="2500" strike="noStrike" spc="-1">
                <a:solidFill>
                  <a:srgbClr val="000000"/>
                </a:solidFill>
                <a:uFill>
                  <a:solidFill>
                    <a:srgbClr val="FFFFFF"/>
                  </a:solidFill>
                </a:uFill>
                <a:latin typeface="Calibri"/>
                <a:ea typeface="MS PGothic"/>
              </a:rPr>
              <a:t> Because this classification predicts how changes in the price of a good will affect the total revenue earned by producers from the sale of that good.</a:t>
            </a: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a:p>
            <a:pPr>
              <a:lnSpc>
                <a:spcPct val="100000"/>
              </a:lnSpc>
              <a:buClr>
                <a:srgbClr val="000000"/>
              </a:buClr>
              <a:buFont typeface="Arial"/>
              <a:buChar char="•"/>
            </a:pPr>
            <a:r>
              <a:rPr lang="id-ID" sz="2500" strike="noStrike" spc="-1">
                <a:solidFill>
                  <a:srgbClr val="000000"/>
                </a:solidFill>
                <a:uFill>
                  <a:solidFill>
                    <a:srgbClr val="FFFFFF"/>
                  </a:solidFill>
                </a:uFill>
                <a:latin typeface="Calibri"/>
                <a:ea typeface="MS PGothic"/>
              </a:rPr>
              <a:t> The total revenue is defined as the total value of sales of a good or service:</a:t>
            </a: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a:p>
            <a:pPr>
              <a:lnSpc>
                <a:spcPct val="100000"/>
              </a:lnSpc>
            </a:pPr>
            <a:r>
              <a:rPr lang="id-ID" sz="2500" strike="noStrike" spc="-1">
                <a:solidFill>
                  <a:srgbClr val="000000"/>
                </a:solidFill>
                <a:uFill>
                  <a:solidFill>
                    <a:srgbClr val="FFFFFF"/>
                  </a:solidFill>
                </a:uFill>
                <a:latin typeface="Calibri"/>
                <a:ea typeface="MS PGothic"/>
              </a:rPr>
              <a:t>		Total Revenue = Price × Quantity Sold</a:t>
            </a:r>
            <a:endParaRPr lang="id-ID" sz="2500" strike="noStrike" spc="-1">
              <a:solidFill>
                <a:srgbClr val="000000"/>
              </a:solidFill>
              <a:uFill>
                <a:solidFill>
                  <a:srgbClr val="FFFFFF"/>
                </a:solidFill>
              </a:u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692">
                                            <p:txEl>
                                              <p:pRg st="0" end="75"/>
                                            </p:txEl>
                                          </p:spTgt>
                                        </p:tgtEl>
                                        <p:attrNameLst>
                                          <p:attrName>style.visibility</p:attrName>
                                        </p:attrNameLst>
                                      </p:cBhvr>
                                      <p:to>
                                        <p:strVal val="visible"/>
                                      </p:to>
                                    </p:set>
                                    <p:animEffect transition="in" filter="fade">
                                      <p:cBhvr additive="repl">
                                        <p:cTn id="7" dur="500"/>
                                        <p:tgtEl>
                                          <p:spTgt spid="692">
                                            <p:txEl>
                                              <p:pRg st="0" end="7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692">
                                            <p:txEl>
                                              <p:pRg st="76" end="227"/>
                                            </p:txEl>
                                          </p:spTgt>
                                        </p:tgtEl>
                                        <p:attrNameLst>
                                          <p:attrName>style.visibility</p:attrName>
                                        </p:attrNameLst>
                                      </p:cBhvr>
                                      <p:to>
                                        <p:strVal val="visible"/>
                                      </p:to>
                                    </p:set>
                                    <p:animEffect transition="in" filter="fade">
                                      <p:cBhvr additive="repl">
                                        <p:cTn id="12" dur="500"/>
                                        <p:tgtEl>
                                          <p:spTgt spid="692">
                                            <p:txEl>
                                              <p:pRg st="76" end="22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nodeType="clickEffect">
                                  <p:stCondLst>
                                    <p:cond delay="0"/>
                                  </p:stCondLst>
                                  <p:childTnLst>
                                    <p:set>
                                      <p:cBhvr>
                                        <p:cTn id="16" dur="1" fill="hold">
                                          <p:stCondLst>
                                            <p:cond delay="0"/>
                                          </p:stCondLst>
                                        </p:cTn>
                                        <p:tgtEl>
                                          <p:spTgt spid="692">
                                            <p:txEl>
                                              <p:pRg st="228" end="308"/>
                                            </p:txEl>
                                          </p:spTgt>
                                        </p:tgtEl>
                                        <p:attrNameLst>
                                          <p:attrName>style.visibility</p:attrName>
                                        </p:attrNameLst>
                                      </p:cBhvr>
                                      <p:to>
                                        <p:strVal val="visible"/>
                                      </p:to>
                                    </p:set>
                                    <p:animEffect transition="in" filter="fade">
                                      <p:cBhvr additive="repl">
                                        <p:cTn id="17" dur="500"/>
                                        <p:tgtEl>
                                          <p:spTgt spid="692">
                                            <p:txEl>
                                              <p:pRg st="228" end="30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nodeType="clickEffect">
                                  <p:stCondLst>
                                    <p:cond delay="0"/>
                                  </p:stCondLst>
                                  <p:childTnLst>
                                    <p:set>
                                      <p:cBhvr>
                                        <p:cTn id="21" dur="1" fill="hold">
                                          <p:stCondLst>
                                            <p:cond delay="0"/>
                                          </p:stCondLst>
                                        </p:cTn>
                                        <p:tgtEl>
                                          <p:spTgt spid="692">
                                            <p:txEl>
                                              <p:pRg st="309" end="349"/>
                                            </p:txEl>
                                          </p:spTgt>
                                        </p:tgtEl>
                                        <p:attrNameLst>
                                          <p:attrName>style.visibility</p:attrName>
                                        </p:attrNameLst>
                                      </p:cBhvr>
                                      <p:to>
                                        <p:strVal val="visible"/>
                                      </p:to>
                                    </p:set>
                                    <p:animEffect transition="in" filter="fade">
                                      <p:cBhvr additive="repl">
                                        <p:cTn id="22" dur="500"/>
                                        <p:tgtEl>
                                          <p:spTgt spid="692">
                                            <p:txEl>
                                              <p:pRg st="309" end="34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 name="TextShape 1"/>
          <p:cNvSpPr txBox="1"/>
          <p:nvPr/>
        </p:nvSpPr>
        <p:spPr>
          <a:xfrm>
            <a:off x="954000" y="60480"/>
            <a:ext cx="7938720" cy="55512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Total Revenue by Area</a:t>
            </a:r>
            <a:endParaRPr lang="id-ID" sz="3200" strike="noStrike" spc="-1">
              <a:solidFill>
                <a:srgbClr val="000000"/>
              </a:solidFill>
              <a:uFill>
                <a:solidFill>
                  <a:srgbClr val="FFFFFF"/>
                </a:solidFill>
              </a:uFill>
              <a:latin typeface="Calibri"/>
            </a:endParaRPr>
          </a:p>
        </p:txBody>
      </p:sp>
      <p:sp>
        <p:nvSpPr>
          <p:cNvPr id="694" name="CustomShape 2"/>
          <p:cNvSpPr/>
          <p:nvPr/>
        </p:nvSpPr>
        <p:spPr>
          <a:xfrm>
            <a:off x="2943360" y="1450800"/>
            <a:ext cx="360" cy="212400"/>
          </a:xfrm>
          <a:prstGeom prst="rect">
            <a:avLst/>
          </a:prstGeom>
          <a:noFill/>
          <a:ln w="9360">
            <a:noFill/>
          </a:ln>
        </p:spPr>
        <p:style>
          <a:lnRef idx="0">
            <a:scrgbClr r="0" g="0" b="0"/>
          </a:lnRef>
          <a:fillRef idx="0">
            <a:scrgbClr r="0" g="0" b="0"/>
          </a:fillRef>
          <a:effectRef idx="0">
            <a:scrgbClr r="0" g="0" b="0"/>
          </a:effectRef>
          <a:fontRef idx="minor"/>
        </p:style>
      </p:sp>
      <p:sp>
        <p:nvSpPr>
          <p:cNvPr id="695" name="CustomShape 3"/>
          <p:cNvSpPr/>
          <p:nvPr/>
        </p:nvSpPr>
        <p:spPr>
          <a:xfrm>
            <a:off x="3930480" y="2563920"/>
            <a:ext cx="3007800" cy="2153880"/>
          </a:xfrm>
          <a:custGeom>
            <a:avLst/>
            <a:gdLst/>
            <a:ahLst/>
            <a:cxnLst/>
            <a:rect l="l" t="t" r="r" b="b"/>
            <a:pathLst>
              <a:path w="444" h="336">
                <a:moveTo>
                  <a:pt x="0" y="0"/>
                </a:moveTo>
                <a:cubicBezTo>
                  <a:pt x="17" y="34"/>
                  <a:pt x="104" y="273"/>
                  <a:pt x="444" y="336"/>
                </a:cubicBezTo>
              </a:path>
            </a:pathLst>
          </a:custGeom>
          <a:noFill/>
          <a:ln w="34920">
            <a:solidFill>
              <a:srgbClr val="3C5DAA"/>
            </a:solidFill>
            <a:miter/>
          </a:ln>
        </p:spPr>
        <p:style>
          <a:lnRef idx="0">
            <a:scrgbClr r="0" g="0" b="0"/>
          </a:lnRef>
          <a:fillRef idx="0">
            <a:scrgbClr r="0" g="0" b="0"/>
          </a:fillRef>
          <a:effectRef idx="0">
            <a:scrgbClr r="0" g="0" b="0"/>
          </a:effectRef>
          <a:fontRef idx="minor"/>
        </p:style>
      </p:sp>
      <p:sp>
        <p:nvSpPr>
          <p:cNvPr id="696" name="CustomShape 4"/>
          <p:cNvSpPr/>
          <p:nvPr/>
        </p:nvSpPr>
        <p:spPr>
          <a:xfrm>
            <a:off x="7049160" y="4707000"/>
            <a:ext cx="11484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b="1" i="1" strike="noStrike" spc="-1">
                <a:solidFill>
                  <a:srgbClr val="000000"/>
                </a:solidFill>
                <a:uFill>
                  <a:solidFill>
                    <a:srgbClr val="FFFFFF"/>
                  </a:solidFill>
                </a:uFill>
                <a:latin typeface="Calibri"/>
                <a:ea typeface="MS PGothic"/>
              </a:rPr>
              <a:t>D</a:t>
            </a:r>
            <a:endParaRPr lang="en-US" sz="1800" strike="noStrike" spc="-1">
              <a:solidFill>
                <a:srgbClr val="000000"/>
              </a:solidFill>
              <a:uFill>
                <a:solidFill>
                  <a:srgbClr val="FFFFFF"/>
                </a:solidFill>
              </a:uFill>
              <a:latin typeface="Arial"/>
            </a:endParaRPr>
          </a:p>
        </p:txBody>
      </p:sp>
      <p:sp>
        <p:nvSpPr>
          <p:cNvPr id="697" name="CustomShape 5"/>
          <p:cNvSpPr/>
          <p:nvPr/>
        </p:nvSpPr>
        <p:spPr>
          <a:xfrm>
            <a:off x="2124000" y="3562200"/>
            <a:ext cx="2504880" cy="2236320"/>
          </a:xfrm>
          <a:prstGeom prst="rect">
            <a:avLst/>
          </a:prstGeom>
          <a:solidFill>
            <a:srgbClr val="CFE4AE"/>
          </a:solidFill>
          <a:ln w="9360">
            <a:noFill/>
          </a:ln>
        </p:spPr>
        <p:style>
          <a:lnRef idx="0">
            <a:scrgbClr r="0" g="0" b="0"/>
          </a:lnRef>
          <a:fillRef idx="0">
            <a:scrgbClr r="0" g="0" b="0"/>
          </a:fillRef>
          <a:effectRef idx="0">
            <a:scrgbClr r="0" g="0" b="0"/>
          </a:effectRef>
          <a:fontRef idx="minor"/>
        </p:style>
      </p:sp>
      <p:sp>
        <p:nvSpPr>
          <p:cNvPr id="698" name="CustomShape 6"/>
          <p:cNvSpPr/>
          <p:nvPr/>
        </p:nvSpPr>
        <p:spPr>
          <a:xfrm>
            <a:off x="2347920" y="4331160"/>
            <a:ext cx="2036160" cy="6390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Total revenue = 
price x quantity = $990</a:t>
            </a:r>
            <a:endParaRPr lang="en-US" sz="1800" strike="noStrike" spc="-1">
              <a:solidFill>
                <a:srgbClr val="000000"/>
              </a:solidFill>
              <a:uFill>
                <a:solidFill>
                  <a:srgbClr val="FFFFFF"/>
                </a:solidFill>
              </a:uFill>
              <a:latin typeface="Arial"/>
            </a:endParaRPr>
          </a:p>
        </p:txBody>
      </p:sp>
      <p:sp>
        <p:nvSpPr>
          <p:cNvPr id="699" name="Line 7"/>
          <p:cNvSpPr/>
          <p:nvPr/>
        </p:nvSpPr>
        <p:spPr>
          <a:xfrm>
            <a:off x="2130120" y="3579480"/>
            <a:ext cx="162000" cy="180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700" name="Line 8"/>
          <p:cNvSpPr/>
          <p:nvPr/>
        </p:nvSpPr>
        <p:spPr>
          <a:xfrm>
            <a:off x="4635360" y="5620680"/>
            <a:ext cx="1440" cy="1785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701" name="CustomShape 9"/>
          <p:cNvSpPr/>
          <p:nvPr/>
        </p:nvSpPr>
        <p:spPr>
          <a:xfrm>
            <a:off x="4351320" y="5853960"/>
            <a:ext cx="5097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1,100</a:t>
            </a:r>
            <a:endParaRPr lang="en-US" sz="1800" strike="noStrike" spc="-1">
              <a:solidFill>
                <a:srgbClr val="000000"/>
              </a:solidFill>
              <a:uFill>
                <a:solidFill>
                  <a:srgbClr val="FFFFFF"/>
                </a:solidFill>
              </a:uFill>
              <a:latin typeface="Arial"/>
            </a:endParaRPr>
          </a:p>
        </p:txBody>
      </p:sp>
      <p:sp>
        <p:nvSpPr>
          <p:cNvPr id="702" name="CustomShape 10"/>
          <p:cNvSpPr/>
          <p:nvPr/>
        </p:nvSpPr>
        <p:spPr>
          <a:xfrm>
            <a:off x="2130480" y="1226880"/>
            <a:ext cx="5079600" cy="4572360"/>
          </a:xfrm>
          <a:custGeom>
            <a:avLst/>
            <a:gdLst/>
            <a:ahLst/>
            <a:cxnLst/>
            <a:rect l="l" t="t" r="r" b="b"/>
            <a:pathLst>
              <a:path w="2107" h="1747">
                <a:moveTo>
                  <a:pt x="2107" y="1747"/>
                </a:moveTo>
                <a:lnTo>
                  <a:pt x="0" y="1747"/>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sp>
      <p:sp>
        <p:nvSpPr>
          <p:cNvPr id="703" name="CustomShape 11"/>
          <p:cNvSpPr/>
          <p:nvPr/>
        </p:nvSpPr>
        <p:spPr>
          <a:xfrm>
            <a:off x="1877760" y="5853960"/>
            <a:ext cx="11484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704" name="CustomShape 12"/>
          <p:cNvSpPr/>
          <p:nvPr/>
        </p:nvSpPr>
        <p:spPr>
          <a:xfrm>
            <a:off x="1425600" y="3475800"/>
            <a:ext cx="5097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$0.90</a:t>
            </a:r>
            <a:endParaRPr lang="en-US" sz="1800" strike="noStrike" spc="-1">
              <a:solidFill>
                <a:srgbClr val="000000"/>
              </a:solidFill>
              <a:uFill>
                <a:solidFill>
                  <a:srgbClr val="FFFFFF"/>
                </a:solidFill>
              </a:uFill>
              <a:latin typeface="Arial"/>
            </a:endParaRPr>
          </a:p>
        </p:txBody>
      </p:sp>
      <p:sp>
        <p:nvSpPr>
          <p:cNvPr id="705" name="CustomShape 13"/>
          <p:cNvSpPr/>
          <p:nvPr/>
        </p:nvSpPr>
        <p:spPr>
          <a:xfrm>
            <a:off x="1332000" y="907920"/>
            <a:ext cx="2133360" cy="2437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600" b="1" strike="noStrike" spc="-1">
                <a:solidFill>
                  <a:srgbClr val="000000"/>
                </a:solidFill>
                <a:uFill>
                  <a:solidFill>
                    <a:srgbClr val="FFFFFF"/>
                  </a:solidFill>
                </a:uFill>
                <a:latin typeface="Calibri"/>
                <a:ea typeface="MS PGothic"/>
              </a:rPr>
              <a:t>Price of bridge crossing</a:t>
            </a:r>
            <a:endParaRPr lang="en-US" sz="1800" strike="noStrike" spc="-1">
              <a:solidFill>
                <a:srgbClr val="000000"/>
              </a:solidFill>
              <a:uFill>
                <a:solidFill>
                  <a:srgbClr val="FFFFFF"/>
                </a:solidFill>
              </a:uFill>
              <a:latin typeface="Arial"/>
            </a:endParaRPr>
          </a:p>
        </p:txBody>
      </p:sp>
      <p:sp>
        <p:nvSpPr>
          <p:cNvPr id="706" name="CustomShape 14"/>
          <p:cNvSpPr/>
          <p:nvPr/>
        </p:nvSpPr>
        <p:spPr>
          <a:xfrm>
            <a:off x="5937120" y="5952600"/>
            <a:ext cx="2873160" cy="48708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600" b="1" strike="noStrike" spc="-1">
                <a:solidFill>
                  <a:srgbClr val="000000"/>
                </a:solidFill>
                <a:uFill>
                  <a:solidFill>
                    <a:srgbClr val="FFFFFF"/>
                  </a:solidFill>
                </a:uFill>
                <a:latin typeface="Calibri"/>
                <a:ea typeface="MS PGothic"/>
              </a:rPr>
              <a:t>Quantity of bridge crossings 
(per day)</a:t>
            </a:r>
            <a:endParaRPr lang="en-US" sz="1800" strike="noStrike" spc="-1">
              <a:solidFill>
                <a:srgbClr val="000000"/>
              </a:solidFill>
              <a:uFill>
                <a:solidFill>
                  <a:srgbClr val="FFFFFF"/>
                </a:solidFill>
              </a:uFill>
              <a:latin typeface="Arial"/>
            </a:endParaRPr>
          </a:p>
        </p:txBody>
      </p:sp>
      <p:sp>
        <p:nvSpPr>
          <p:cNvPr id="707" name="CustomShape 15"/>
          <p:cNvSpPr/>
          <p:nvPr/>
        </p:nvSpPr>
        <p:spPr>
          <a:xfrm>
            <a:off x="2122560" y="3569760"/>
            <a:ext cx="295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08" name="CustomShape 16"/>
          <p:cNvSpPr/>
          <p:nvPr/>
        </p:nvSpPr>
        <p:spPr>
          <a:xfrm>
            <a:off x="2256480" y="3569760"/>
            <a:ext cx="313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09" name="CustomShape 17"/>
          <p:cNvSpPr/>
          <p:nvPr/>
        </p:nvSpPr>
        <p:spPr>
          <a:xfrm>
            <a:off x="2392200" y="3569760"/>
            <a:ext cx="295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10" name="CustomShape 18"/>
          <p:cNvSpPr/>
          <p:nvPr/>
        </p:nvSpPr>
        <p:spPr>
          <a:xfrm>
            <a:off x="2535120" y="3569760"/>
            <a:ext cx="313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11" name="CustomShape 19"/>
          <p:cNvSpPr/>
          <p:nvPr/>
        </p:nvSpPr>
        <p:spPr>
          <a:xfrm>
            <a:off x="2670840" y="3569760"/>
            <a:ext cx="295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12" name="CustomShape 20"/>
          <p:cNvSpPr/>
          <p:nvPr/>
        </p:nvSpPr>
        <p:spPr>
          <a:xfrm>
            <a:off x="2804760" y="3569760"/>
            <a:ext cx="313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13" name="CustomShape 21"/>
          <p:cNvSpPr/>
          <p:nvPr/>
        </p:nvSpPr>
        <p:spPr>
          <a:xfrm>
            <a:off x="2942640" y="3569760"/>
            <a:ext cx="277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14" name="CustomShape 22"/>
          <p:cNvSpPr/>
          <p:nvPr/>
        </p:nvSpPr>
        <p:spPr>
          <a:xfrm>
            <a:off x="3078360" y="3569760"/>
            <a:ext cx="295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15" name="CustomShape 23"/>
          <p:cNvSpPr/>
          <p:nvPr/>
        </p:nvSpPr>
        <p:spPr>
          <a:xfrm>
            <a:off x="3212280" y="3569760"/>
            <a:ext cx="295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16" name="CustomShape 24"/>
          <p:cNvSpPr/>
          <p:nvPr/>
        </p:nvSpPr>
        <p:spPr>
          <a:xfrm>
            <a:off x="3348000" y="3569760"/>
            <a:ext cx="295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17" name="CustomShape 25"/>
          <p:cNvSpPr/>
          <p:nvPr/>
        </p:nvSpPr>
        <p:spPr>
          <a:xfrm>
            <a:off x="3481920" y="3569760"/>
            <a:ext cx="313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18" name="CustomShape 26"/>
          <p:cNvSpPr/>
          <p:nvPr/>
        </p:nvSpPr>
        <p:spPr>
          <a:xfrm>
            <a:off x="3626640" y="3569760"/>
            <a:ext cx="295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19" name="CustomShape 27"/>
          <p:cNvSpPr/>
          <p:nvPr/>
        </p:nvSpPr>
        <p:spPr>
          <a:xfrm>
            <a:off x="3760560" y="3569760"/>
            <a:ext cx="313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20" name="CustomShape 28"/>
          <p:cNvSpPr/>
          <p:nvPr/>
        </p:nvSpPr>
        <p:spPr>
          <a:xfrm>
            <a:off x="3898080" y="3569760"/>
            <a:ext cx="277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21" name="CustomShape 29"/>
          <p:cNvSpPr/>
          <p:nvPr/>
        </p:nvSpPr>
        <p:spPr>
          <a:xfrm>
            <a:off x="4032360" y="3569760"/>
            <a:ext cx="313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22" name="CustomShape 30"/>
          <p:cNvSpPr/>
          <p:nvPr/>
        </p:nvSpPr>
        <p:spPr>
          <a:xfrm>
            <a:off x="4168080" y="3569760"/>
            <a:ext cx="295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23" name="CustomShape 31"/>
          <p:cNvSpPr/>
          <p:nvPr/>
        </p:nvSpPr>
        <p:spPr>
          <a:xfrm>
            <a:off x="4303800" y="3569760"/>
            <a:ext cx="295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24" name="CustomShape 32"/>
          <p:cNvSpPr/>
          <p:nvPr/>
        </p:nvSpPr>
        <p:spPr>
          <a:xfrm>
            <a:off x="4437720" y="3569760"/>
            <a:ext cx="295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25" name="CustomShape 33"/>
          <p:cNvSpPr/>
          <p:nvPr/>
        </p:nvSpPr>
        <p:spPr>
          <a:xfrm>
            <a:off x="4621320" y="3779280"/>
            <a:ext cx="27720" cy="306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26" name="CustomShape 34"/>
          <p:cNvSpPr/>
          <p:nvPr/>
        </p:nvSpPr>
        <p:spPr>
          <a:xfrm>
            <a:off x="4621320" y="3917880"/>
            <a:ext cx="27720" cy="32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27" name="CustomShape 35"/>
          <p:cNvSpPr/>
          <p:nvPr/>
        </p:nvSpPr>
        <p:spPr>
          <a:xfrm>
            <a:off x="4621320" y="4058280"/>
            <a:ext cx="27720" cy="306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28" name="CustomShape 36"/>
          <p:cNvSpPr/>
          <p:nvPr/>
        </p:nvSpPr>
        <p:spPr>
          <a:xfrm>
            <a:off x="4621320" y="4196880"/>
            <a:ext cx="27720" cy="32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29" name="CustomShape 37"/>
          <p:cNvSpPr/>
          <p:nvPr/>
        </p:nvSpPr>
        <p:spPr>
          <a:xfrm>
            <a:off x="4621320" y="4337280"/>
            <a:ext cx="27720" cy="306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30" name="CustomShape 38"/>
          <p:cNvSpPr/>
          <p:nvPr/>
        </p:nvSpPr>
        <p:spPr>
          <a:xfrm>
            <a:off x="4621320" y="4479840"/>
            <a:ext cx="277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31" name="CustomShape 39"/>
          <p:cNvSpPr/>
          <p:nvPr/>
        </p:nvSpPr>
        <p:spPr>
          <a:xfrm>
            <a:off x="4621320" y="4616280"/>
            <a:ext cx="27720" cy="306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32" name="CustomShape 40"/>
          <p:cNvSpPr/>
          <p:nvPr/>
        </p:nvSpPr>
        <p:spPr>
          <a:xfrm>
            <a:off x="4621320" y="4758840"/>
            <a:ext cx="27720" cy="306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33" name="CustomShape 41"/>
          <p:cNvSpPr/>
          <p:nvPr/>
        </p:nvSpPr>
        <p:spPr>
          <a:xfrm>
            <a:off x="4621320" y="4905000"/>
            <a:ext cx="27720" cy="306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34" name="CustomShape 42"/>
          <p:cNvSpPr/>
          <p:nvPr/>
        </p:nvSpPr>
        <p:spPr>
          <a:xfrm>
            <a:off x="4621320" y="5045400"/>
            <a:ext cx="27720" cy="306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35" name="CustomShape 43"/>
          <p:cNvSpPr/>
          <p:nvPr/>
        </p:nvSpPr>
        <p:spPr>
          <a:xfrm>
            <a:off x="4621320" y="5184000"/>
            <a:ext cx="27720" cy="306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36" name="CustomShape 44"/>
          <p:cNvSpPr/>
          <p:nvPr/>
        </p:nvSpPr>
        <p:spPr>
          <a:xfrm>
            <a:off x="4621320" y="5324400"/>
            <a:ext cx="27720" cy="306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37" name="CustomShape 45"/>
          <p:cNvSpPr/>
          <p:nvPr/>
        </p:nvSpPr>
        <p:spPr>
          <a:xfrm>
            <a:off x="4621320" y="5462640"/>
            <a:ext cx="27720" cy="34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38" name="CustomShape 46"/>
          <p:cNvSpPr/>
          <p:nvPr/>
        </p:nvSpPr>
        <p:spPr>
          <a:xfrm>
            <a:off x="4621320" y="5605200"/>
            <a:ext cx="27720" cy="284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39" name="CustomShape 47"/>
          <p:cNvSpPr/>
          <p:nvPr/>
        </p:nvSpPr>
        <p:spPr>
          <a:xfrm>
            <a:off x="4566600" y="3500280"/>
            <a:ext cx="149400" cy="15372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40" name="CustomShape 48"/>
          <p:cNvSpPr/>
          <p:nvPr/>
        </p:nvSpPr>
        <p:spPr>
          <a:xfrm>
            <a:off x="1027080" y="3645000"/>
            <a:ext cx="304560" cy="2036520"/>
          </a:xfrm>
          <a:prstGeom prst="leftBrace">
            <a:avLst>
              <a:gd name="adj1" fmla="val 23917"/>
              <a:gd name="adj2" fmla="val 50000"/>
            </a:avLst>
          </a:prstGeom>
          <a:noFill/>
          <a:ln w="19080">
            <a:solidFill>
              <a:schemeClr val="tx1"/>
            </a:solidFill>
            <a:round/>
          </a:ln>
        </p:spPr>
        <p:style>
          <a:lnRef idx="1">
            <a:schemeClr val="accent1"/>
          </a:lnRef>
          <a:fillRef idx="0">
            <a:schemeClr val="accent1"/>
          </a:fillRef>
          <a:effectRef idx="0">
            <a:schemeClr val="accent1"/>
          </a:effectRef>
          <a:fontRef idx="minor"/>
        </p:style>
      </p:sp>
      <p:sp>
        <p:nvSpPr>
          <p:cNvPr id="741" name="CustomShape 49"/>
          <p:cNvSpPr/>
          <p:nvPr/>
        </p:nvSpPr>
        <p:spPr>
          <a:xfrm>
            <a:off x="634680" y="4478400"/>
            <a:ext cx="33336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P</a:t>
            </a:r>
            <a:endParaRPr lang="en-US" sz="1800" strike="noStrike" spc="-1">
              <a:solidFill>
                <a:srgbClr val="000000"/>
              </a:solidFill>
              <a:uFill>
                <a:solidFill>
                  <a:srgbClr val="FFFFFF"/>
                </a:solidFill>
              </a:uFill>
              <a:latin typeface="Arial"/>
            </a:endParaRPr>
          </a:p>
        </p:txBody>
      </p:sp>
      <p:sp>
        <p:nvSpPr>
          <p:cNvPr id="742" name="CustomShape 50"/>
          <p:cNvSpPr/>
          <p:nvPr/>
        </p:nvSpPr>
        <p:spPr>
          <a:xfrm rot="16200000">
            <a:off x="3267000" y="5058000"/>
            <a:ext cx="304560" cy="2447640"/>
          </a:xfrm>
          <a:prstGeom prst="leftBrace">
            <a:avLst>
              <a:gd name="adj1" fmla="val 23921"/>
              <a:gd name="adj2" fmla="val 50000"/>
            </a:avLst>
          </a:prstGeom>
          <a:noFill/>
          <a:ln w="19080">
            <a:solidFill>
              <a:schemeClr val="tx1"/>
            </a:solidFill>
            <a:round/>
          </a:ln>
        </p:spPr>
        <p:style>
          <a:lnRef idx="0">
            <a:scrgbClr r="0" g="0" b="0"/>
          </a:lnRef>
          <a:fillRef idx="0">
            <a:scrgbClr r="0" g="0" b="0"/>
          </a:fillRef>
          <a:effectRef idx="0">
            <a:scrgbClr r="0" g="0" b="0"/>
          </a:effectRef>
          <a:fontRef idx="minor"/>
        </p:style>
      </p:sp>
      <p:sp>
        <p:nvSpPr>
          <p:cNvPr id="743" name="CustomShape 51"/>
          <p:cNvSpPr/>
          <p:nvPr/>
        </p:nvSpPr>
        <p:spPr>
          <a:xfrm>
            <a:off x="3182400" y="6446880"/>
            <a:ext cx="35928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Q</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 name="TextShape 1"/>
          <p:cNvSpPr txBox="1"/>
          <p:nvPr/>
        </p:nvSpPr>
        <p:spPr>
          <a:xfrm>
            <a:off x="900000" y="0"/>
            <a:ext cx="7710120" cy="68544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Elasticity and Total Revenue </a:t>
            </a:r>
            <a:endParaRPr lang="id-ID" sz="3200" strike="noStrike" spc="-1">
              <a:solidFill>
                <a:srgbClr val="000000"/>
              </a:solidFill>
              <a:uFill>
                <a:solidFill>
                  <a:srgbClr val="FFFFFF"/>
                </a:solidFill>
              </a:uFill>
              <a:latin typeface="Calibri"/>
            </a:endParaRPr>
          </a:p>
        </p:txBody>
      </p:sp>
      <p:sp>
        <p:nvSpPr>
          <p:cNvPr id="745" name="TextShape 2"/>
          <p:cNvSpPr txBox="1"/>
          <p:nvPr/>
        </p:nvSpPr>
        <p:spPr>
          <a:xfrm>
            <a:off x="900000" y="981000"/>
            <a:ext cx="8064000" cy="5184360"/>
          </a:xfrm>
          <a:prstGeom prst="rect">
            <a:avLst/>
          </a:prstGeom>
          <a:noFill/>
          <a:ln w="9360">
            <a:noFill/>
          </a:ln>
        </p:spPr>
        <p:txBody>
          <a:bodyPr/>
          <a:lstStyle/>
          <a:p>
            <a:pPr>
              <a:lnSpc>
                <a:spcPct val="100000"/>
              </a:lnSpc>
            </a:pPr>
            <a:endParaRPr lang="id-ID" sz="2500" strike="noStrike" spc="-1">
              <a:solidFill>
                <a:srgbClr val="000000"/>
              </a:solidFill>
              <a:uFill>
                <a:solidFill>
                  <a:srgbClr val="FFFFFF"/>
                </a:solidFill>
              </a:uFill>
              <a:latin typeface="Calibri"/>
            </a:endParaRPr>
          </a:p>
          <a:p>
            <a:pPr marL="343080" indent="-342720">
              <a:lnSpc>
                <a:spcPct val="100000"/>
              </a:lnSpc>
            </a:pPr>
            <a:r>
              <a:rPr lang="id-ID" sz="2500" strike="noStrike" spc="-1">
                <a:solidFill>
                  <a:srgbClr val="000000"/>
                </a:solidFill>
                <a:uFill>
                  <a:solidFill>
                    <a:srgbClr val="FFFFFF"/>
                  </a:solidFill>
                </a:uFill>
                <a:latin typeface="Calibri"/>
                <a:ea typeface="MS PGothic"/>
              </a:rPr>
              <a:t>When a seller raises the price of a good, there are two countervailing effects in action (except in the rare case of a good with perfectly elastic or perfectly inelastic demand):</a:t>
            </a: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a:p>
            <a:pPr marL="914400" lvl="1" indent="-456840">
              <a:lnSpc>
                <a:spcPct val="100000"/>
              </a:lnSpc>
              <a:buClr>
                <a:srgbClr val="000000"/>
              </a:buClr>
              <a:buFont typeface="Wingdings" charset="2"/>
              <a:buChar char=""/>
            </a:pPr>
            <a:r>
              <a:rPr lang="id-ID" sz="2400" b="1" i="1" strike="noStrike" spc="-1">
                <a:solidFill>
                  <a:srgbClr val="000000"/>
                </a:solidFill>
                <a:uFill>
                  <a:solidFill>
                    <a:srgbClr val="FFFFFF"/>
                  </a:solidFill>
                </a:uFill>
                <a:latin typeface="Calibri"/>
                <a:ea typeface="MS PGothic"/>
              </a:rPr>
              <a:t>A price effect:</a:t>
            </a:r>
            <a:r>
              <a:rPr lang="id-ID" sz="2400" strike="noStrike" spc="-1">
                <a:solidFill>
                  <a:srgbClr val="000000"/>
                </a:solidFill>
                <a:uFill>
                  <a:solidFill>
                    <a:srgbClr val="FFFFFF"/>
                  </a:solidFill>
                </a:uFill>
                <a:latin typeface="Calibri"/>
                <a:ea typeface="MS PGothic"/>
              </a:rPr>
              <a:t> After a price increase, each unit sold sells at a higher price, which tends to raise revenue.
</a:t>
            </a:r>
            <a:r>
              <a:rPr lang="id-ID" sz="2400" strike="noStrike" spc="-1">
                <a:solidFill>
                  <a:srgbClr val="000000"/>
                </a:solidFill>
                <a:uFill>
                  <a:solidFill>
                    <a:srgbClr val="FFFFFF"/>
                  </a:solidFill>
                </a:uFill>
                <a:latin typeface="Calibri"/>
              </a:rPr>
              <a:t> </a:t>
            </a:r>
            <a:endParaRPr lang="id-ID" sz="2300" strike="noStrike" spc="-1">
              <a:solidFill>
                <a:srgbClr val="000000"/>
              </a:solidFill>
              <a:uFill>
                <a:solidFill>
                  <a:srgbClr val="FFFFFF"/>
                </a:solidFill>
              </a:uFill>
              <a:latin typeface="Calibri"/>
            </a:endParaRPr>
          </a:p>
          <a:p>
            <a:pPr marL="914400" lvl="1" indent="-456840">
              <a:lnSpc>
                <a:spcPct val="100000"/>
              </a:lnSpc>
              <a:buClr>
                <a:srgbClr val="000000"/>
              </a:buClr>
              <a:buFont typeface="Wingdings" charset="2"/>
              <a:buChar char=""/>
            </a:pPr>
            <a:r>
              <a:rPr lang="id-ID" sz="2400" b="1" i="1" strike="noStrike" spc="-1">
                <a:solidFill>
                  <a:srgbClr val="000000"/>
                </a:solidFill>
                <a:uFill>
                  <a:solidFill>
                    <a:srgbClr val="FFFFFF"/>
                  </a:solidFill>
                </a:uFill>
                <a:latin typeface="Calibri"/>
                <a:ea typeface="MS PGothic"/>
              </a:rPr>
              <a:t>A quantity effect:</a:t>
            </a:r>
            <a:r>
              <a:rPr lang="id-ID" sz="2400" strike="noStrike" spc="-1">
                <a:solidFill>
                  <a:srgbClr val="000000"/>
                </a:solidFill>
                <a:uFill>
                  <a:solidFill>
                    <a:srgbClr val="FFFFFF"/>
                  </a:solidFill>
                </a:uFill>
                <a:latin typeface="Calibri"/>
                <a:ea typeface="MS PGothic"/>
              </a:rPr>
              <a:t> After a price increase, fewer units are sold, which tends to lower revenue.</a:t>
            </a:r>
            <a:endParaRPr lang="id-ID" sz="2300" strike="noStrike" spc="-1">
              <a:solidFill>
                <a:srgbClr val="000000"/>
              </a:solidFill>
              <a:uFill>
                <a:solidFill>
                  <a:srgbClr val="FFFFFF"/>
                </a:solidFill>
              </a:u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745">
                                            <p:txEl>
                                              <p:pRg st="1" end="180"/>
                                            </p:txEl>
                                          </p:spTgt>
                                        </p:tgtEl>
                                        <p:attrNameLst>
                                          <p:attrName>style.visibility</p:attrName>
                                        </p:attrNameLst>
                                      </p:cBhvr>
                                      <p:to>
                                        <p:strVal val="visible"/>
                                      </p:to>
                                    </p:set>
                                    <p:animEffect transition="in" filter="fade">
                                      <p:cBhvr additive="repl">
                                        <p:cTn id="7" dur="500"/>
                                        <p:tgtEl>
                                          <p:spTgt spid="745">
                                            <p:txEl>
                                              <p:pRg st="1" end="18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745">
                                            <p:txEl>
                                              <p:pRg st="181" end="292"/>
                                            </p:txEl>
                                          </p:spTgt>
                                        </p:tgtEl>
                                        <p:attrNameLst>
                                          <p:attrName>style.visibility</p:attrName>
                                        </p:attrNameLst>
                                      </p:cBhvr>
                                      <p:to>
                                        <p:strVal val="visible"/>
                                      </p:to>
                                    </p:set>
                                    <p:animEffect transition="in" filter="fade">
                                      <p:cBhvr additive="repl">
                                        <p:cTn id="12" dur="500"/>
                                        <p:tgtEl>
                                          <p:spTgt spid="745">
                                            <p:txEl>
                                              <p:pRg st="181" end="29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nodeType="clickEffect">
                                  <p:stCondLst>
                                    <p:cond delay="0"/>
                                  </p:stCondLst>
                                  <p:childTnLst>
                                    <p:set>
                                      <p:cBhvr>
                                        <p:cTn id="16" dur="1" fill="hold">
                                          <p:stCondLst>
                                            <p:cond delay="0"/>
                                          </p:stCondLst>
                                        </p:cTn>
                                        <p:tgtEl>
                                          <p:spTgt spid="745">
                                            <p:txEl>
                                              <p:pRg st="292" end="387"/>
                                            </p:txEl>
                                          </p:spTgt>
                                        </p:tgtEl>
                                        <p:attrNameLst>
                                          <p:attrName>style.visibility</p:attrName>
                                        </p:attrNameLst>
                                      </p:cBhvr>
                                      <p:to>
                                        <p:strVal val="visible"/>
                                      </p:to>
                                    </p:set>
                                    <p:animEffect transition="in" filter="fade">
                                      <p:cBhvr additive="repl">
                                        <p:cTn id="17" dur="500"/>
                                        <p:tgtEl>
                                          <p:spTgt spid="745">
                                            <p:txEl>
                                              <p:pRg st="292" end="38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 name="TextShape 1"/>
          <p:cNvSpPr txBox="1"/>
          <p:nvPr/>
        </p:nvSpPr>
        <p:spPr>
          <a:xfrm>
            <a:off x="900000" y="0"/>
            <a:ext cx="8064000" cy="68544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Effect of a Price Increase on Total Revenue</a:t>
            </a:r>
            <a:endParaRPr lang="id-ID" sz="3200" strike="noStrike" spc="-1">
              <a:solidFill>
                <a:srgbClr val="000000"/>
              </a:solidFill>
              <a:uFill>
                <a:solidFill>
                  <a:srgbClr val="FFFFFF"/>
                </a:solidFill>
              </a:uFill>
              <a:latin typeface="Calibri"/>
            </a:endParaRPr>
          </a:p>
        </p:txBody>
      </p:sp>
      <p:sp>
        <p:nvSpPr>
          <p:cNvPr id="747" name="Line 2"/>
          <p:cNvSpPr/>
          <p:nvPr/>
        </p:nvSpPr>
        <p:spPr>
          <a:xfrm flipH="1">
            <a:off x="3425760" y="2479320"/>
            <a:ext cx="662040" cy="79884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748" name="CustomShape 3"/>
          <p:cNvSpPr/>
          <p:nvPr/>
        </p:nvSpPr>
        <p:spPr>
          <a:xfrm>
            <a:off x="4078440" y="1917720"/>
            <a:ext cx="2139480" cy="752040"/>
          </a:xfrm>
          <a:custGeom>
            <a:avLst/>
            <a:gdLst/>
            <a:ahLst/>
            <a:cxnLst/>
            <a:rect l="l" t="t" r="r" b="b"/>
            <a:pathLst>
              <a:path w="322" h="138">
                <a:moveTo>
                  <a:pt x="322" y="122"/>
                </a:moveTo>
                <a:cubicBezTo>
                  <a:pt x="322" y="131"/>
                  <a:pt x="315" y="138"/>
                  <a:pt x="306" y="138"/>
                </a:cubicBezTo>
                <a:cubicBezTo>
                  <a:pt x="16" y="138"/>
                  <a:pt x="16" y="138"/>
                  <a:pt x="16" y="138"/>
                </a:cubicBezTo>
                <a:cubicBezTo>
                  <a:pt x="8" y="138"/>
                  <a:pt x="0" y="131"/>
                  <a:pt x="0" y="122"/>
                </a:cubicBezTo>
                <a:cubicBezTo>
                  <a:pt x="0" y="16"/>
                  <a:pt x="0" y="16"/>
                  <a:pt x="0" y="16"/>
                </a:cubicBezTo>
                <a:cubicBezTo>
                  <a:pt x="0" y="7"/>
                  <a:pt x="8" y="0"/>
                  <a:pt x="16" y="0"/>
                </a:cubicBezTo>
                <a:cubicBezTo>
                  <a:pt x="306" y="0"/>
                  <a:pt x="306" y="0"/>
                  <a:pt x="306" y="0"/>
                </a:cubicBezTo>
                <a:cubicBezTo>
                  <a:pt x="315" y="0"/>
                  <a:pt x="322" y="7"/>
                  <a:pt x="322" y="16"/>
                </a:cubicBezTo>
                <a:lnTo>
                  <a:pt x="322" y="122"/>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749" name="CustomShape 4"/>
          <p:cNvSpPr/>
          <p:nvPr/>
        </p:nvSpPr>
        <p:spPr>
          <a:xfrm>
            <a:off x="4170240" y="1971720"/>
            <a:ext cx="1974600" cy="6397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Price effect of price increase: higher price for each unit sold</a:t>
            </a:r>
            <a:endParaRPr lang="en-US" sz="1800" strike="noStrike" spc="-1">
              <a:solidFill>
                <a:srgbClr val="000000"/>
              </a:solidFill>
              <a:uFill>
                <a:solidFill>
                  <a:srgbClr val="FFFFFF"/>
                </a:solidFill>
              </a:uFill>
              <a:latin typeface="Arial"/>
            </a:endParaRPr>
          </a:p>
        </p:txBody>
      </p:sp>
      <p:sp>
        <p:nvSpPr>
          <p:cNvPr id="750" name="CustomShape 5"/>
          <p:cNvSpPr/>
          <p:nvPr/>
        </p:nvSpPr>
        <p:spPr>
          <a:xfrm>
            <a:off x="3625920" y="2365200"/>
            <a:ext cx="2952360" cy="1953720"/>
          </a:xfrm>
          <a:custGeom>
            <a:avLst/>
            <a:gdLst/>
            <a:ahLst/>
            <a:cxnLst/>
            <a:rect l="l" t="t" r="r" b="b"/>
            <a:pathLst>
              <a:path w="444" h="336">
                <a:moveTo>
                  <a:pt x="0" y="0"/>
                </a:moveTo>
                <a:cubicBezTo>
                  <a:pt x="17" y="34"/>
                  <a:pt x="104" y="273"/>
                  <a:pt x="444" y="336"/>
                </a:cubicBezTo>
              </a:path>
            </a:pathLst>
          </a:custGeom>
          <a:noFill/>
          <a:ln w="34920">
            <a:solidFill>
              <a:srgbClr val="3C5DAA"/>
            </a:solidFill>
            <a:miter/>
          </a:ln>
        </p:spPr>
        <p:style>
          <a:lnRef idx="0">
            <a:scrgbClr r="0" g="0" b="0"/>
          </a:lnRef>
          <a:fillRef idx="0">
            <a:scrgbClr r="0" g="0" b="0"/>
          </a:fillRef>
          <a:effectRef idx="0">
            <a:scrgbClr r="0" g="0" b="0"/>
          </a:effectRef>
          <a:fontRef idx="minor"/>
        </p:style>
      </p:sp>
      <p:sp>
        <p:nvSpPr>
          <p:cNvPr id="751" name="CustomShape 6"/>
          <p:cNvSpPr/>
          <p:nvPr/>
        </p:nvSpPr>
        <p:spPr>
          <a:xfrm>
            <a:off x="6678000" y="4308480"/>
            <a:ext cx="131760" cy="213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D</a:t>
            </a:r>
            <a:endParaRPr lang="en-US" sz="1800" strike="noStrike" spc="-1">
              <a:solidFill>
                <a:srgbClr val="000000"/>
              </a:solidFill>
              <a:uFill>
                <a:solidFill>
                  <a:srgbClr val="FFFFFF"/>
                </a:solidFill>
              </a:uFill>
              <a:latin typeface="Arial"/>
            </a:endParaRPr>
          </a:p>
        </p:txBody>
      </p:sp>
      <p:sp>
        <p:nvSpPr>
          <p:cNvPr id="752" name="Line 7"/>
          <p:cNvSpPr/>
          <p:nvPr/>
        </p:nvSpPr>
        <p:spPr>
          <a:xfrm flipH="1">
            <a:off x="4497120" y="3470040"/>
            <a:ext cx="885960" cy="8715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753" name="CustomShape 8"/>
          <p:cNvSpPr/>
          <p:nvPr/>
        </p:nvSpPr>
        <p:spPr>
          <a:xfrm>
            <a:off x="5407200" y="2830680"/>
            <a:ext cx="1542600" cy="774360"/>
          </a:xfrm>
          <a:custGeom>
            <a:avLst/>
            <a:gdLst/>
            <a:ahLst/>
            <a:cxnLst/>
            <a:rect l="l" t="t" r="r" b="b"/>
            <a:pathLst>
              <a:path w="232" h="171">
                <a:moveTo>
                  <a:pt x="232" y="155"/>
                </a:moveTo>
                <a:cubicBezTo>
                  <a:pt x="232" y="163"/>
                  <a:pt x="225" y="171"/>
                  <a:pt x="216" y="171"/>
                </a:cubicBezTo>
                <a:cubicBezTo>
                  <a:pt x="16" y="171"/>
                  <a:pt x="16" y="171"/>
                  <a:pt x="16" y="171"/>
                </a:cubicBezTo>
                <a:cubicBezTo>
                  <a:pt x="7" y="171"/>
                  <a:pt x="0" y="163"/>
                  <a:pt x="0" y="155"/>
                </a:cubicBezTo>
                <a:cubicBezTo>
                  <a:pt x="0" y="16"/>
                  <a:pt x="0" y="16"/>
                  <a:pt x="0" y="16"/>
                </a:cubicBezTo>
                <a:cubicBezTo>
                  <a:pt x="0" y="7"/>
                  <a:pt x="7" y="0"/>
                  <a:pt x="16" y="0"/>
                </a:cubicBezTo>
                <a:cubicBezTo>
                  <a:pt x="216" y="0"/>
                  <a:pt x="216" y="0"/>
                  <a:pt x="216" y="0"/>
                </a:cubicBezTo>
                <a:cubicBezTo>
                  <a:pt x="225" y="0"/>
                  <a:pt x="232" y="7"/>
                  <a:pt x="232" y="16"/>
                </a:cubicBezTo>
                <a:lnTo>
                  <a:pt x="232" y="155"/>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754" name="CustomShape 9"/>
          <p:cNvSpPr/>
          <p:nvPr/>
        </p:nvSpPr>
        <p:spPr>
          <a:xfrm>
            <a:off x="5460840" y="2876400"/>
            <a:ext cx="1479240" cy="8521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Quantity effect of price increase: fewer units sold</a:t>
            </a:r>
            <a:endParaRPr lang="en-US" sz="1800" strike="noStrike" spc="-1">
              <a:solidFill>
                <a:srgbClr val="000000"/>
              </a:solidFill>
              <a:uFill>
                <a:solidFill>
                  <a:srgbClr val="FFFFFF"/>
                </a:solidFill>
              </a:uFill>
              <a:latin typeface="Arial"/>
            </a:endParaRPr>
          </a:p>
        </p:txBody>
      </p:sp>
      <p:sp>
        <p:nvSpPr>
          <p:cNvPr id="755" name="CustomShape 10"/>
          <p:cNvSpPr/>
          <p:nvPr/>
        </p:nvSpPr>
        <p:spPr>
          <a:xfrm>
            <a:off x="2124000" y="3533760"/>
            <a:ext cx="2012040" cy="1761840"/>
          </a:xfrm>
          <a:prstGeom prst="rect">
            <a:avLst/>
          </a:prstGeom>
          <a:solidFill>
            <a:srgbClr val="CFE4AE"/>
          </a:solidFill>
          <a:ln w="9360">
            <a:noFill/>
          </a:ln>
        </p:spPr>
        <p:style>
          <a:lnRef idx="0">
            <a:scrgbClr r="0" g="0" b="0"/>
          </a:lnRef>
          <a:fillRef idx="0">
            <a:scrgbClr r="0" g="0" b="0"/>
          </a:fillRef>
          <a:effectRef idx="0">
            <a:scrgbClr r="0" g="0" b="0"/>
          </a:effectRef>
          <a:fontRef idx="minor"/>
        </p:style>
      </p:sp>
      <p:sp>
        <p:nvSpPr>
          <p:cNvPr id="756" name="CustomShape 11"/>
          <p:cNvSpPr/>
          <p:nvPr/>
        </p:nvSpPr>
        <p:spPr>
          <a:xfrm>
            <a:off x="3015720" y="4287960"/>
            <a:ext cx="111960" cy="213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B</a:t>
            </a:r>
            <a:endParaRPr lang="en-US" sz="1800" strike="noStrike" spc="-1">
              <a:solidFill>
                <a:srgbClr val="000000"/>
              </a:solidFill>
              <a:uFill>
                <a:solidFill>
                  <a:srgbClr val="FFFFFF"/>
                </a:solidFill>
              </a:uFill>
              <a:latin typeface="Arial"/>
            </a:endParaRPr>
          </a:p>
        </p:txBody>
      </p:sp>
      <p:sp>
        <p:nvSpPr>
          <p:cNvPr id="757" name="CustomShape 12"/>
          <p:cNvSpPr/>
          <p:nvPr/>
        </p:nvSpPr>
        <p:spPr>
          <a:xfrm>
            <a:off x="2306520" y="3529080"/>
            <a:ext cx="2916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58" name="CustomShape 13"/>
          <p:cNvSpPr/>
          <p:nvPr/>
        </p:nvSpPr>
        <p:spPr>
          <a:xfrm>
            <a:off x="2431440" y="3529080"/>
            <a:ext cx="277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59" name="CustomShape 14"/>
          <p:cNvSpPr/>
          <p:nvPr/>
        </p:nvSpPr>
        <p:spPr>
          <a:xfrm>
            <a:off x="2554560" y="3529080"/>
            <a:ext cx="2916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60" name="CustomShape 15"/>
          <p:cNvSpPr/>
          <p:nvPr/>
        </p:nvSpPr>
        <p:spPr>
          <a:xfrm>
            <a:off x="2685960" y="3529080"/>
            <a:ext cx="277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61" name="CustomShape 16"/>
          <p:cNvSpPr/>
          <p:nvPr/>
        </p:nvSpPr>
        <p:spPr>
          <a:xfrm>
            <a:off x="2809080" y="3529080"/>
            <a:ext cx="2916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62" name="CustomShape 17"/>
          <p:cNvSpPr/>
          <p:nvPr/>
        </p:nvSpPr>
        <p:spPr>
          <a:xfrm>
            <a:off x="2934000" y="3529080"/>
            <a:ext cx="259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63" name="CustomShape 18"/>
          <p:cNvSpPr/>
          <p:nvPr/>
        </p:nvSpPr>
        <p:spPr>
          <a:xfrm>
            <a:off x="3057120" y="3529080"/>
            <a:ext cx="277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64" name="CustomShape 19"/>
          <p:cNvSpPr/>
          <p:nvPr/>
        </p:nvSpPr>
        <p:spPr>
          <a:xfrm>
            <a:off x="3182040" y="3529080"/>
            <a:ext cx="259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65" name="CustomShape 20"/>
          <p:cNvSpPr/>
          <p:nvPr/>
        </p:nvSpPr>
        <p:spPr>
          <a:xfrm>
            <a:off x="3306960" y="3529080"/>
            <a:ext cx="259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66" name="CustomShape 21"/>
          <p:cNvSpPr/>
          <p:nvPr/>
        </p:nvSpPr>
        <p:spPr>
          <a:xfrm>
            <a:off x="3428640" y="3529080"/>
            <a:ext cx="277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67" name="CustomShape 22"/>
          <p:cNvSpPr/>
          <p:nvPr/>
        </p:nvSpPr>
        <p:spPr>
          <a:xfrm>
            <a:off x="3553200" y="3529080"/>
            <a:ext cx="277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68" name="CustomShape 23"/>
          <p:cNvSpPr/>
          <p:nvPr/>
        </p:nvSpPr>
        <p:spPr>
          <a:xfrm>
            <a:off x="3683160" y="3529080"/>
            <a:ext cx="277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69" name="CustomShape 24"/>
          <p:cNvSpPr/>
          <p:nvPr/>
        </p:nvSpPr>
        <p:spPr>
          <a:xfrm>
            <a:off x="3806280" y="3529080"/>
            <a:ext cx="2916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70" name="CustomShape 25"/>
          <p:cNvSpPr/>
          <p:nvPr/>
        </p:nvSpPr>
        <p:spPr>
          <a:xfrm>
            <a:off x="3931200" y="3529080"/>
            <a:ext cx="277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71" name="CustomShape 26"/>
          <p:cNvSpPr/>
          <p:nvPr/>
        </p:nvSpPr>
        <p:spPr>
          <a:xfrm>
            <a:off x="4056120" y="3529080"/>
            <a:ext cx="277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72" name="CustomShape 27"/>
          <p:cNvSpPr/>
          <p:nvPr/>
        </p:nvSpPr>
        <p:spPr>
          <a:xfrm>
            <a:off x="4124880" y="3573360"/>
            <a:ext cx="2592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73" name="CustomShape 28"/>
          <p:cNvSpPr/>
          <p:nvPr/>
        </p:nvSpPr>
        <p:spPr>
          <a:xfrm>
            <a:off x="4124880" y="3686040"/>
            <a:ext cx="259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74" name="CustomShape 29"/>
          <p:cNvSpPr/>
          <p:nvPr/>
        </p:nvSpPr>
        <p:spPr>
          <a:xfrm>
            <a:off x="4124880" y="3789360"/>
            <a:ext cx="2592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75" name="CustomShape 30"/>
          <p:cNvSpPr/>
          <p:nvPr/>
        </p:nvSpPr>
        <p:spPr>
          <a:xfrm>
            <a:off x="4124880" y="3894120"/>
            <a:ext cx="2592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76" name="CustomShape 31"/>
          <p:cNvSpPr/>
          <p:nvPr/>
        </p:nvSpPr>
        <p:spPr>
          <a:xfrm>
            <a:off x="4124880" y="3997440"/>
            <a:ext cx="2592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77" name="CustomShape 32"/>
          <p:cNvSpPr/>
          <p:nvPr/>
        </p:nvSpPr>
        <p:spPr>
          <a:xfrm>
            <a:off x="4124880" y="4103640"/>
            <a:ext cx="259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78" name="CustomShape 33"/>
          <p:cNvSpPr/>
          <p:nvPr/>
        </p:nvSpPr>
        <p:spPr>
          <a:xfrm>
            <a:off x="4124880" y="4208400"/>
            <a:ext cx="2592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79" name="CustomShape 34"/>
          <p:cNvSpPr/>
          <p:nvPr/>
        </p:nvSpPr>
        <p:spPr>
          <a:xfrm>
            <a:off x="4124880" y="4313160"/>
            <a:ext cx="259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80" name="CustomShape 35"/>
          <p:cNvSpPr/>
          <p:nvPr/>
        </p:nvSpPr>
        <p:spPr>
          <a:xfrm>
            <a:off x="4124880" y="4417920"/>
            <a:ext cx="259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81" name="CustomShape 36"/>
          <p:cNvSpPr/>
          <p:nvPr/>
        </p:nvSpPr>
        <p:spPr>
          <a:xfrm>
            <a:off x="4124880" y="4527720"/>
            <a:ext cx="2592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82" name="CustomShape 37"/>
          <p:cNvSpPr/>
          <p:nvPr/>
        </p:nvSpPr>
        <p:spPr>
          <a:xfrm>
            <a:off x="4124880" y="4633920"/>
            <a:ext cx="259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83" name="CustomShape 38"/>
          <p:cNvSpPr/>
          <p:nvPr/>
        </p:nvSpPr>
        <p:spPr>
          <a:xfrm>
            <a:off x="4124880" y="4737240"/>
            <a:ext cx="259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84" name="CustomShape 39"/>
          <p:cNvSpPr/>
          <p:nvPr/>
        </p:nvSpPr>
        <p:spPr>
          <a:xfrm>
            <a:off x="4124880" y="4842000"/>
            <a:ext cx="2592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85" name="CustomShape 40"/>
          <p:cNvSpPr/>
          <p:nvPr/>
        </p:nvSpPr>
        <p:spPr>
          <a:xfrm>
            <a:off x="4124880" y="4946760"/>
            <a:ext cx="2592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86" name="CustomShape 41"/>
          <p:cNvSpPr/>
          <p:nvPr/>
        </p:nvSpPr>
        <p:spPr>
          <a:xfrm>
            <a:off x="4124880" y="5051520"/>
            <a:ext cx="2592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87" name="CustomShape 42"/>
          <p:cNvSpPr/>
          <p:nvPr/>
        </p:nvSpPr>
        <p:spPr>
          <a:xfrm>
            <a:off x="4133880" y="3260880"/>
            <a:ext cx="252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88" name="CustomShape 43"/>
          <p:cNvSpPr/>
          <p:nvPr/>
        </p:nvSpPr>
        <p:spPr>
          <a:xfrm>
            <a:off x="4133880" y="3365640"/>
            <a:ext cx="2520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89" name="CustomShape 44"/>
          <p:cNvSpPr/>
          <p:nvPr/>
        </p:nvSpPr>
        <p:spPr>
          <a:xfrm>
            <a:off x="4133880" y="3470400"/>
            <a:ext cx="2520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90" name="CustomShape 45"/>
          <p:cNvSpPr/>
          <p:nvPr/>
        </p:nvSpPr>
        <p:spPr>
          <a:xfrm>
            <a:off x="2122560" y="3144960"/>
            <a:ext cx="1999800" cy="388440"/>
          </a:xfrm>
          <a:prstGeom prst="rect">
            <a:avLst/>
          </a:prstGeom>
          <a:solidFill>
            <a:srgbClr val="B1DFDB"/>
          </a:solidFill>
          <a:ln w="9360">
            <a:noFill/>
          </a:ln>
        </p:spPr>
        <p:style>
          <a:lnRef idx="0">
            <a:scrgbClr r="0" g="0" b="0"/>
          </a:lnRef>
          <a:fillRef idx="0">
            <a:scrgbClr r="0" g="0" b="0"/>
          </a:fillRef>
          <a:effectRef idx="0">
            <a:scrgbClr r="0" g="0" b="0"/>
          </a:effectRef>
          <a:fontRef idx="minor"/>
        </p:style>
      </p:sp>
      <p:sp>
        <p:nvSpPr>
          <p:cNvPr id="791" name="CustomShape 46"/>
          <p:cNvSpPr/>
          <p:nvPr/>
        </p:nvSpPr>
        <p:spPr>
          <a:xfrm>
            <a:off x="3083400" y="3241800"/>
            <a:ext cx="122400" cy="213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C</a:t>
            </a:r>
            <a:endParaRPr lang="en-US" sz="1800" strike="noStrike" spc="-1">
              <a:solidFill>
                <a:srgbClr val="000000"/>
              </a:solidFill>
              <a:uFill>
                <a:solidFill>
                  <a:srgbClr val="FFFFFF"/>
                </a:solidFill>
              </a:uFill>
              <a:latin typeface="Arial"/>
            </a:endParaRPr>
          </a:p>
        </p:txBody>
      </p:sp>
      <p:sp>
        <p:nvSpPr>
          <p:cNvPr id="792" name="CustomShape 47"/>
          <p:cNvSpPr/>
          <p:nvPr/>
        </p:nvSpPr>
        <p:spPr>
          <a:xfrm>
            <a:off x="2376360" y="3133800"/>
            <a:ext cx="2808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93" name="CustomShape 48"/>
          <p:cNvSpPr/>
          <p:nvPr/>
        </p:nvSpPr>
        <p:spPr>
          <a:xfrm>
            <a:off x="2496960" y="3133800"/>
            <a:ext cx="2664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94" name="CustomShape 49"/>
          <p:cNvSpPr/>
          <p:nvPr/>
        </p:nvSpPr>
        <p:spPr>
          <a:xfrm>
            <a:off x="2616120" y="3133800"/>
            <a:ext cx="2808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95" name="CustomShape 50"/>
          <p:cNvSpPr/>
          <p:nvPr/>
        </p:nvSpPr>
        <p:spPr>
          <a:xfrm>
            <a:off x="2743200" y="3133800"/>
            <a:ext cx="2664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96" name="CustomShape 51"/>
          <p:cNvSpPr/>
          <p:nvPr/>
        </p:nvSpPr>
        <p:spPr>
          <a:xfrm>
            <a:off x="2862360" y="3133800"/>
            <a:ext cx="2808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97" name="CustomShape 52"/>
          <p:cNvSpPr/>
          <p:nvPr/>
        </p:nvSpPr>
        <p:spPr>
          <a:xfrm>
            <a:off x="2982960" y="3133800"/>
            <a:ext cx="2520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98" name="CustomShape 53"/>
          <p:cNvSpPr/>
          <p:nvPr/>
        </p:nvSpPr>
        <p:spPr>
          <a:xfrm>
            <a:off x="3102120" y="3133800"/>
            <a:ext cx="2664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799" name="CustomShape 54"/>
          <p:cNvSpPr/>
          <p:nvPr/>
        </p:nvSpPr>
        <p:spPr>
          <a:xfrm>
            <a:off x="3222720" y="3133800"/>
            <a:ext cx="2520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00" name="CustomShape 55"/>
          <p:cNvSpPr/>
          <p:nvPr/>
        </p:nvSpPr>
        <p:spPr>
          <a:xfrm>
            <a:off x="3343320" y="3133800"/>
            <a:ext cx="2520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01" name="CustomShape 56"/>
          <p:cNvSpPr/>
          <p:nvPr/>
        </p:nvSpPr>
        <p:spPr>
          <a:xfrm>
            <a:off x="3460680" y="3133800"/>
            <a:ext cx="2664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02" name="CustomShape 57"/>
          <p:cNvSpPr/>
          <p:nvPr/>
        </p:nvSpPr>
        <p:spPr>
          <a:xfrm>
            <a:off x="3581280" y="3133800"/>
            <a:ext cx="2664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03" name="CustomShape 58"/>
          <p:cNvSpPr/>
          <p:nvPr/>
        </p:nvSpPr>
        <p:spPr>
          <a:xfrm>
            <a:off x="3706920" y="3133800"/>
            <a:ext cx="2664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04" name="CustomShape 59"/>
          <p:cNvSpPr/>
          <p:nvPr/>
        </p:nvSpPr>
        <p:spPr>
          <a:xfrm>
            <a:off x="3825720" y="3133800"/>
            <a:ext cx="2808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05" name="CustomShape 60"/>
          <p:cNvSpPr/>
          <p:nvPr/>
        </p:nvSpPr>
        <p:spPr>
          <a:xfrm>
            <a:off x="3946680" y="3133800"/>
            <a:ext cx="2664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06" name="CustomShape 61"/>
          <p:cNvSpPr/>
          <p:nvPr/>
        </p:nvSpPr>
        <p:spPr>
          <a:xfrm>
            <a:off x="4079880" y="3081240"/>
            <a:ext cx="131400" cy="1155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07" name="CustomShape 62"/>
          <p:cNvSpPr/>
          <p:nvPr/>
        </p:nvSpPr>
        <p:spPr>
          <a:xfrm>
            <a:off x="4116240" y="3533760"/>
            <a:ext cx="445680" cy="1761840"/>
          </a:xfrm>
          <a:prstGeom prst="rect">
            <a:avLst/>
          </a:prstGeom>
          <a:solidFill>
            <a:srgbClr val="FBD4D2"/>
          </a:solidFill>
          <a:ln w="9360">
            <a:noFill/>
          </a:ln>
        </p:spPr>
        <p:style>
          <a:lnRef idx="0">
            <a:scrgbClr r="0" g="0" b="0"/>
          </a:lnRef>
          <a:fillRef idx="0">
            <a:scrgbClr r="0" g="0" b="0"/>
          </a:fillRef>
          <a:effectRef idx="0">
            <a:scrgbClr r="0" g="0" b="0"/>
          </a:effectRef>
          <a:fontRef idx="minor"/>
        </p:style>
      </p:sp>
      <p:sp>
        <p:nvSpPr>
          <p:cNvPr id="808" name="CustomShape 63"/>
          <p:cNvSpPr/>
          <p:nvPr/>
        </p:nvSpPr>
        <p:spPr>
          <a:xfrm>
            <a:off x="4250520" y="4287960"/>
            <a:ext cx="111960" cy="213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A</a:t>
            </a:r>
            <a:endParaRPr lang="en-US" sz="1800" strike="noStrike" spc="-1">
              <a:solidFill>
                <a:srgbClr val="000000"/>
              </a:solidFill>
              <a:uFill>
                <a:solidFill>
                  <a:srgbClr val="FFFFFF"/>
                </a:solidFill>
              </a:uFill>
              <a:latin typeface="Arial"/>
            </a:endParaRPr>
          </a:p>
        </p:txBody>
      </p:sp>
      <p:sp>
        <p:nvSpPr>
          <p:cNvPr id="809" name="CustomShape 64"/>
          <p:cNvSpPr/>
          <p:nvPr/>
        </p:nvSpPr>
        <p:spPr>
          <a:xfrm>
            <a:off x="4549680" y="3686040"/>
            <a:ext cx="2664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10" name="CustomShape 65"/>
          <p:cNvSpPr/>
          <p:nvPr/>
        </p:nvSpPr>
        <p:spPr>
          <a:xfrm>
            <a:off x="4549680" y="3789360"/>
            <a:ext cx="2664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11" name="CustomShape 66"/>
          <p:cNvSpPr/>
          <p:nvPr/>
        </p:nvSpPr>
        <p:spPr>
          <a:xfrm>
            <a:off x="4549680" y="3894120"/>
            <a:ext cx="2664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12" name="CustomShape 67"/>
          <p:cNvSpPr/>
          <p:nvPr/>
        </p:nvSpPr>
        <p:spPr>
          <a:xfrm>
            <a:off x="4549680" y="3997440"/>
            <a:ext cx="26640" cy="252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13" name="CustomShape 68"/>
          <p:cNvSpPr/>
          <p:nvPr/>
        </p:nvSpPr>
        <p:spPr>
          <a:xfrm>
            <a:off x="4549680" y="4103640"/>
            <a:ext cx="2664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14" name="CustomShape 69"/>
          <p:cNvSpPr/>
          <p:nvPr/>
        </p:nvSpPr>
        <p:spPr>
          <a:xfrm>
            <a:off x="4549680" y="4208400"/>
            <a:ext cx="2664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15" name="CustomShape 70"/>
          <p:cNvSpPr/>
          <p:nvPr/>
        </p:nvSpPr>
        <p:spPr>
          <a:xfrm>
            <a:off x="4549680" y="4313160"/>
            <a:ext cx="2664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16" name="CustomShape 71"/>
          <p:cNvSpPr/>
          <p:nvPr/>
        </p:nvSpPr>
        <p:spPr>
          <a:xfrm>
            <a:off x="4549680" y="4417920"/>
            <a:ext cx="2664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17" name="CustomShape 72"/>
          <p:cNvSpPr/>
          <p:nvPr/>
        </p:nvSpPr>
        <p:spPr>
          <a:xfrm>
            <a:off x="4549680" y="4527720"/>
            <a:ext cx="2664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18" name="CustomShape 73"/>
          <p:cNvSpPr/>
          <p:nvPr/>
        </p:nvSpPr>
        <p:spPr>
          <a:xfrm>
            <a:off x="4549680" y="4633920"/>
            <a:ext cx="2664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19" name="CustomShape 74"/>
          <p:cNvSpPr/>
          <p:nvPr/>
        </p:nvSpPr>
        <p:spPr>
          <a:xfrm>
            <a:off x="4549680" y="4737240"/>
            <a:ext cx="2664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20" name="CustomShape 75"/>
          <p:cNvSpPr/>
          <p:nvPr/>
        </p:nvSpPr>
        <p:spPr>
          <a:xfrm>
            <a:off x="4549680" y="4842000"/>
            <a:ext cx="2664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21" name="CustomShape 76"/>
          <p:cNvSpPr/>
          <p:nvPr/>
        </p:nvSpPr>
        <p:spPr>
          <a:xfrm>
            <a:off x="4549680" y="4946760"/>
            <a:ext cx="26640" cy="2340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22" name="CustomShape 77"/>
          <p:cNvSpPr/>
          <p:nvPr/>
        </p:nvSpPr>
        <p:spPr>
          <a:xfrm>
            <a:off x="4549680" y="5051520"/>
            <a:ext cx="2664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23" name="CustomShape 78"/>
          <p:cNvSpPr/>
          <p:nvPr/>
        </p:nvSpPr>
        <p:spPr>
          <a:xfrm>
            <a:off x="4484520" y="3476520"/>
            <a:ext cx="131400" cy="1155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24" name="CustomShape 79"/>
          <p:cNvSpPr/>
          <p:nvPr/>
        </p:nvSpPr>
        <p:spPr>
          <a:xfrm>
            <a:off x="4157640" y="3529080"/>
            <a:ext cx="2520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25" name="CustomShape 80"/>
          <p:cNvSpPr/>
          <p:nvPr/>
        </p:nvSpPr>
        <p:spPr>
          <a:xfrm>
            <a:off x="4278240" y="3529080"/>
            <a:ext cx="2520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26" name="CustomShape 81"/>
          <p:cNvSpPr/>
          <p:nvPr/>
        </p:nvSpPr>
        <p:spPr>
          <a:xfrm>
            <a:off x="4395960" y="3529080"/>
            <a:ext cx="26640" cy="219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27" name="CustomShape 82"/>
          <p:cNvSpPr/>
          <p:nvPr/>
        </p:nvSpPr>
        <p:spPr>
          <a:xfrm>
            <a:off x="3847680" y="5338800"/>
            <a:ext cx="3405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900</a:t>
            </a:r>
            <a:endParaRPr lang="en-US" sz="1800" strike="noStrike" spc="-1">
              <a:solidFill>
                <a:srgbClr val="000000"/>
              </a:solidFill>
              <a:uFill>
                <a:solidFill>
                  <a:srgbClr val="FFFFFF"/>
                </a:solidFill>
              </a:uFill>
              <a:latin typeface="Arial"/>
            </a:endParaRPr>
          </a:p>
        </p:txBody>
      </p:sp>
      <p:sp>
        <p:nvSpPr>
          <p:cNvPr id="828" name="CustomShape 83"/>
          <p:cNvSpPr/>
          <p:nvPr/>
        </p:nvSpPr>
        <p:spPr>
          <a:xfrm>
            <a:off x="4335120" y="5338800"/>
            <a:ext cx="5097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1,100</a:t>
            </a:r>
            <a:endParaRPr lang="en-US" sz="1800" strike="noStrike" spc="-1">
              <a:solidFill>
                <a:srgbClr val="000000"/>
              </a:solidFill>
              <a:uFill>
                <a:solidFill>
                  <a:srgbClr val="FFFFFF"/>
                </a:solidFill>
              </a:uFill>
              <a:latin typeface="Arial"/>
            </a:endParaRPr>
          </a:p>
        </p:txBody>
      </p:sp>
      <p:sp>
        <p:nvSpPr>
          <p:cNvPr id="829" name="Line 84"/>
          <p:cNvSpPr/>
          <p:nvPr/>
        </p:nvSpPr>
        <p:spPr>
          <a:xfrm>
            <a:off x="2124000" y="3144600"/>
            <a:ext cx="15696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830" name="Line 85"/>
          <p:cNvSpPr/>
          <p:nvPr/>
        </p:nvSpPr>
        <p:spPr>
          <a:xfrm>
            <a:off x="2124000" y="3539880"/>
            <a:ext cx="15696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831" name="Line 86"/>
          <p:cNvSpPr/>
          <p:nvPr/>
        </p:nvSpPr>
        <p:spPr>
          <a:xfrm>
            <a:off x="4528440" y="5154480"/>
            <a:ext cx="360" cy="14112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832" name="Line 87"/>
          <p:cNvSpPr/>
          <p:nvPr/>
        </p:nvSpPr>
        <p:spPr>
          <a:xfrm>
            <a:off x="4092480" y="5154480"/>
            <a:ext cx="360" cy="14112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833" name="CustomShape 88"/>
          <p:cNvSpPr/>
          <p:nvPr/>
        </p:nvSpPr>
        <p:spPr>
          <a:xfrm>
            <a:off x="2124360" y="1685880"/>
            <a:ext cx="4836240" cy="3609720"/>
          </a:xfrm>
          <a:custGeom>
            <a:avLst/>
            <a:gdLst/>
            <a:ahLst/>
            <a:cxnLst/>
            <a:rect l="l" t="t" r="r" b="b"/>
            <a:pathLst>
              <a:path w="2090" h="1744">
                <a:moveTo>
                  <a:pt x="2090" y="1744"/>
                </a:moveTo>
                <a:lnTo>
                  <a:pt x="0" y="1744"/>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sp>
      <p:sp>
        <p:nvSpPr>
          <p:cNvPr id="834" name="CustomShape 89"/>
          <p:cNvSpPr/>
          <p:nvPr/>
        </p:nvSpPr>
        <p:spPr>
          <a:xfrm>
            <a:off x="1879200" y="5338800"/>
            <a:ext cx="11484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835" name="CustomShape 90"/>
          <p:cNvSpPr/>
          <p:nvPr/>
        </p:nvSpPr>
        <p:spPr>
          <a:xfrm>
            <a:off x="1440360" y="3067200"/>
            <a:ext cx="5097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$1.10</a:t>
            </a:r>
            <a:endParaRPr lang="en-US" sz="1800" strike="noStrike" spc="-1">
              <a:solidFill>
                <a:srgbClr val="000000"/>
              </a:solidFill>
              <a:uFill>
                <a:solidFill>
                  <a:srgbClr val="FFFFFF"/>
                </a:solidFill>
              </a:uFill>
              <a:latin typeface="Arial"/>
            </a:endParaRPr>
          </a:p>
        </p:txBody>
      </p:sp>
      <p:sp>
        <p:nvSpPr>
          <p:cNvPr id="836" name="CustomShape 91"/>
          <p:cNvSpPr/>
          <p:nvPr/>
        </p:nvSpPr>
        <p:spPr>
          <a:xfrm>
            <a:off x="1568160" y="3457440"/>
            <a:ext cx="39672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0.90</a:t>
            </a:r>
            <a:endParaRPr lang="en-US" sz="1800" strike="noStrike" spc="-1">
              <a:solidFill>
                <a:srgbClr val="000000"/>
              </a:solidFill>
              <a:uFill>
                <a:solidFill>
                  <a:srgbClr val="FFFFFF"/>
                </a:solidFill>
              </a:uFill>
              <a:latin typeface="Arial"/>
            </a:endParaRPr>
          </a:p>
        </p:txBody>
      </p:sp>
      <p:sp>
        <p:nvSpPr>
          <p:cNvPr id="837" name="CustomShape 92"/>
          <p:cNvSpPr/>
          <p:nvPr/>
        </p:nvSpPr>
        <p:spPr>
          <a:xfrm>
            <a:off x="6078240" y="5451480"/>
            <a:ext cx="2706480" cy="3963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300" b="1" strike="noStrike" spc="-1">
                <a:solidFill>
                  <a:srgbClr val="000000"/>
                </a:solidFill>
                <a:uFill>
                  <a:solidFill>
                    <a:srgbClr val="FFFFFF"/>
                  </a:solidFill>
                </a:uFill>
                <a:latin typeface="Calibri"/>
                <a:ea typeface="MS PGothic"/>
              </a:rPr>
              <a:t>Quantity of bridge crossings 
(per day)</a:t>
            </a:r>
            <a:endParaRPr lang="en-US" sz="1800" strike="noStrike" spc="-1">
              <a:solidFill>
                <a:srgbClr val="000000"/>
              </a:solidFill>
              <a:uFill>
                <a:solidFill>
                  <a:srgbClr val="FFFFFF"/>
                </a:solidFill>
              </a:uFill>
              <a:latin typeface="Arial"/>
            </a:endParaRPr>
          </a:p>
        </p:txBody>
      </p:sp>
      <p:sp>
        <p:nvSpPr>
          <p:cNvPr id="838" name="CustomShape 93"/>
          <p:cNvSpPr/>
          <p:nvPr/>
        </p:nvSpPr>
        <p:spPr>
          <a:xfrm>
            <a:off x="1116000" y="1413000"/>
            <a:ext cx="1862640" cy="21348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b="1" strike="noStrike" spc="-1">
                <a:solidFill>
                  <a:srgbClr val="000000"/>
                </a:solidFill>
                <a:uFill>
                  <a:solidFill>
                    <a:srgbClr val="FFFFFF"/>
                  </a:solidFill>
                </a:uFill>
                <a:latin typeface="Calibri"/>
                <a:ea typeface="MS PGothic"/>
              </a:rPr>
              <a:t>Price of bridge crossing</a:t>
            </a:r>
            <a:endParaRPr lang="en-US" sz="1800" strike="noStrike" spc="-1">
              <a:solidFill>
                <a:srgbClr val="000000"/>
              </a:solidFill>
              <a:uFill>
                <a:solidFill>
                  <a:srgbClr val="FFFFFF"/>
                </a:solidFill>
              </a:uFill>
              <a:latin typeface="Arial"/>
            </a:endParaRPr>
          </a:p>
        </p:txBody>
      </p:sp>
      <p:sp>
        <p:nvSpPr>
          <p:cNvPr id="839" name="CustomShape 94"/>
          <p:cNvSpPr/>
          <p:nvPr/>
        </p:nvSpPr>
        <p:spPr>
          <a:xfrm flipV="1">
            <a:off x="1332000" y="3155400"/>
            <a:ext cx="360" cy="372600"/>
          </a:xfrm>
          <a:custGeom>
            <a:avLst/>
            <a:gdLst/>
            <a:ahLst/>
            <a:cxnLst/>
            <a:rect l="l" t="t" r="r" b="b"/>
            <a:pathLst>
              <a:path w="21600" h="21600">
                <a:moveTo>
                  <a:pt x="0" y="0"/>
                </a:moveTo>
                <a:lnTo>
                  <a:pt x="21600" y="21600"/>
                </a:lnTo>
              </a:path>
            </a:pathLst>
          </a:custGeom>
          <a:noFill/>
          <a:ln w="38160">
            <a:solidFill>
              <a:srgbClr val="4A7EBB"/>
            </a:solidFill>
            <a:round/>
            <a:tailEnd type="arrow" w="med" len="med"/>
          </a:ln>
        </p:spPr>
        <p:style>
          <a:lnRef idx="1">
            <a:schemeClr val="accent1"/>
          </a:lnRef>
          <a:fillRef idx="0">
            <a:schemeClr val="accent1"/>
          </a:fillRef>
          <a:effectRef idx="0">
            <a:schemeClr val="accent1"/>
          </a:effectRef>
          <a:fontRef idx="minor"/>
        </p:style>
      </p:sp>
      <p:sp>
        <p:nvSpPr>
          <p:cNvPr id="840" name="CustomShape 95"/>
          <p:cNvSpPr/>
          <p:nvPr/>
        </p:nvSpPr>
        <p:spPr>
          <a:xfrm flipH="1">
            <a:off x="4067280" y="5661000"/>
            <a:ext cx="412560" cy="360"/>
          </a:xfrm>
          <a:custGeom>
            <a:avLst/>
            <a:gdLst/>
            <a:ahLst/>
            <a:cxnLst/>
            <a:rect l="l" t="t" r="r" b="b"/>
            <a:pathLst>
              <a:path w="21600" h="21600">
                <a:moveTo>
                  <a:pt x="0" y="0"/>
                </a:moveTo>
                <a:lnTo>
                  <a:pt x="21600" y="21600"/>
                </a:lnTo>
              </a:path>
            </a:pathLst>
          </a:custGeom>
          <a:noFill/>
          <a:ln w="38160">
            <a:solidFill>
              <a:srgbClr val="4A7EBB"/>
            </a:solidFill>
            <a:round/>
            <a:tailEnd type="arrow" w="med" len="med"/>
          </a:ln>
        </p:spPr>
        <p:style>
          <a:lnRef idx="1">
            <a:schemeClr val="accent1"/>
          </a:lnRef>
          <a:fillRef idx="0">
            <a:schemeClr val="accent1"/>
          </a:fillRef>
          <a:effectRef idx="0">
            <a:schemeClr val="accent1"/>
          </a:effectRef>
          <a:fontRef idx="minor"/>
        </p:style>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 name="TextShape 1"/>
          <p:cNvSpPr txBox="1"/>
          <p:nvPr/>
        </p:nvSpPr>
        <p:spPr>
          <a:xfrm>
            <a:off x="900000" y="0"/>
            <a:ext cx="7992720" cy="68544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Elasticity and Total Revenue</a:t>
            </a:r>
            <a:endParaRPr lang="id-ID" sz="3200" strike="noStrike" spc="-1">
              <a:solidFill>
                <a:srgbClr val="000000"/>
              </a:solidFill>
              <a:uFill>
                <a:solidFill>
                  <a:srgbClr val="FFFFFF"/>
                </a:solidFill>
              </a:uFill>
              <a:latin typeface="Calibri"/>
            </a:endParaRPr>
          </a:p>
        </p:txBody>
      </p:sp>
      <p:sp>
        <p:nvSpPr>
          <p:cNvPr id="842" name="TextShape 2"/>
          <p:cNvSpPr txBox="1"/>
          <p:nvPr/>
        </p:nvSpPr>
        <p:spPr>
          <a:xfrm>
            <a:off x="971640" y="969840"/>
            <a:ext cx="7992720" cy="5411520"/>
          </a:xfrm>
          <a:prstGeom prst="rect">
            <a:avLst/>
          </a:prstGeom>
          <a:noFill/>
          <a:ln w="9360">
            <a:noFill/>
          </a:ln>
        </p:spPr>
        <p:txBody>
          <a:bodyPr/>
          <a:lstStyle/>
          <a:p>
            <a:pPr marL="230040" indent="-225000">
              <a:lnSpc>
                <a:spcPct val="80000"/>
              </a:lnSpc>
              <a:buClr>
                <a:srgbClr val="000000"/>
              </a:buClr>
              <a:buFont typeface="Arial"/>
              <a:buChar char="•"/>
            </a:pPr>
            <a:r>
              <a:rPr lang="id-ID" sz="2500" strike="noStrike" spc="-1">
                <a:solidFill>
                  <a:srgbClr val="000000"/>
                </a:solidFill>
                <a:uFill>
                  <a:solidFill>
                    <a:srgbClr val="FFFFFF"/>
                  </a:solidFill>
                </a:uFill>
                <a:latin typeface="Calibri"/>
                <a:ea typeface="MS PGothic"/>
              </a:rPr>
              <a:t>If demand for a good is </a:t>
            </a:r>
            <a:r>
              <a:rPr lang="id-ID" sz="2500" b="1" i="1" strike="noStrike" spc="-1">
                <a:solidFill>
                  <a:srgbClr val="000000"/>
                </a:solidFill>
                <a:uFill>
                  <a:solidFill>
                    <a:srgbClr val="FFFFFF"/>
                  </a:solidFill>
                </a:uFill>
                <a:latin typeface="Calibri"/>
                <a:ea typeface="MS PGothic"/>
              </a:rPr>
              <a:t>elastic</a:t>
            </a:r>
            <a:r>
              <a:rPr lang="id-ID" sz="2500" i="1" strike="noStrike" spc="-1">
                <a:solidFill>
                  <a:srgbClr val="000000"/>
                </a:solidFill>
                <a:uFill>
                  <a:solidFill>
                    <a:srgbClr val="FFFFFF"/>
                  </a:solidFill>
                </a:uFill>
                <a:latin typeface="Calibri"/>
                <a:ea typeface="MS PGothic"/>
              </a:rPr>
              <a:t> </a:t>
            </a:r>
            <a:r>
              <a:rPr lang="id-ID" sz="2500" strike="noStrike" spc="-1">
                <a:solidFill>
                  <a:srgbClr val="000000"/>
                </a:solidFill>
                <a:uFill>
                  <a:solidFill>
                    <a:srgbClr val="FFFFFF"/>
                  </a:solidFill>
                </a:uFill>
                <a:latin typeface="Calibri"/>
                <a:ea typeface="MS PGothic"/>
              </a:rPr>
              <a:t>(the price elasticity of demand is greater than 1), an increase in price reduces total revenue. </a:t>
            </a:r>
            <a:endParaRPr lang="id-ID" sz="2500" strike="noStrike" spc="-1">
              <a:solidFill>
                <a:srgbClr val="000000"/>
              </a:solidFill>
              <a:uFill>
                <a:solidFill>
                  <a:srgbClr val="FFFFFF"/>
                </a:solidFill>
              </a:uFill>
              <a:latin typeface="Calibri"/>
            </a:endParaRPr>
          </a:p>
          <a:p>
            <a:endParaRPr lang="id-ID" sz="2500" strike="noStrike" spc="-1">
              <a:solidFill>
                <a:srgbClr val="000000"/>
              </a:solidFill>
              <a:uFill>
                <a:solidFill>
                  <a:srgbClr val="FFFFFF"/>
                </a:solidFill>
              </a:uFill>
              <a:latin typeface="Calibri"/>
            </a:endParaRPr>
          </a:p>
          <a:p>
            <a:pPr marL="914400" lvl="1" indent="-452160">
              <a:lnSpc>
                <a:spcPct val="80000"/>
              </a:lnSpc>
              <a:buClr>
                <a:srgbClr val="000000"/>
              </a:buClr>
              <a:buFont typeface="Wingdings" charset="2"/>
              <a:buChar char=""/>
            </a:pPr>
            <a:r>
              <a:rPr lang="id-ID" sz="2400" strike="noStrike" spc="-1">
                <a:solidFill>
                  <a:srgbClr val="000000"/>
                </a:solidFill>
                <a:uFill>
                  <a:solidFill>
                    <a:srgbClr val="FFFFFF"/>
                  </a:solidFill>
                </a:uFill>
                <a:latin typeface="Calibri"/>
                <a:ea typeface="MS PGothic"/>
              </a:rPr>
              <a:t>In this case, the quantity effect is stronger than the price effect.</a:t>
            </a:r>
            <a:endParaRPr lang="id-ID" sz="2300" strike="noStrike" spc="-1">
              <a:solidFill>
                <a:srgbClr val="000000"/>
              </a:solidFill>
              <a:uFill>
                <a:solidFill>
                  <a:srgbClr val="FFFFFF"/>
                </a:solidFill>
              </a:uFill>
              <a:latin typeface="Calibri"/>
            </a:endParaRPr>
          </a:p>
          <a:p>
            <a:endParaRPr lang="id-ID" sz="2500" strike="noStrike" spc="-1">
              <a:solidFill>
                <a:srgbClr val="000000"/>
              </a:solidFill>
              <a:uFill>
                <a:solidFill>
                  <a:srgbClr val="FFFFFF"/>
                </a:solidFill>
              </a:uFill>
              <a:latin typeface="Calibri"/>
            </a:endParaRPr>
          </a:p>
          <a:p>
            <a:pPr marL="230040" indent="-225000">
              <a:lnSpc>
                <a:spcPct val="100000"/>
              </a:lnSpc>
              <a:buClr>
                <a:srgbClr val="000000"/>
              </a:buClr>
              <a:buFont typeface="Arial"/>
              <a:buChar char="•"/>
            </a:pPr>
            <a:r>
              <a:rPr lang="id-ID" sz="2500" strike="noStrike" spc="-1">
                <a:solidFill>
                  <a:srgbClr val="000000"/>
                </a:solidFill>
                <a:uFill>
                  <a:solidFill>
                    <a:srgbClr val="FFFFFF"/>
                  </a:solidFill>
                </a:uFill>
                <a:latin typeface="Calibri"/>
                <a:ea typeface="MS PGothic"/>
              </a:rPr>
              <a:t>If demand for a good is</a:t>
            </a:r>
            <a:r>
              <a:rPr lang="id-ID" sz="2500" b="1" strike="noStrike" spc="-1">
                <a:solidFill>
                  <a:srgbClr val="000000"/>
                </a:solidFill>
                <a:uFill>
                  <a:solidFill>
                    <a:srgbClr val="FFFFFF"/>
                  </a:solidFill>
                </a:uFill>
                <a:latin typeface="Calibri"/>
                <a:ea typeface="MS PGothic"/>
              </a:rPr>
              <a:t> </a:t>
            </a:r>
            <a:r>
              <a:rPr lang="id-ID" sz="2500" b="1" i="1" strike="noStrike" spc="-1">
                <a:solidFill>
                  <a:srgbClr val="000000"/>
                </a:solidFill>
                <a:uFill>
                  <a:solidFill>
                    <a:srgbClr val="FFFFFF"/>
                  </a:solidFill>
                </a:uFill>
                <a:latin typeface="Calibri"/>
                <a:ea typeface="MS PGothic"/>
              </a:rPr>
              <a:t>inelastic</a:t>
            </a:r>
            <a:r>
              <a:rPr lang="id-ID" sz="2500" i="1" strike="noStrike" spc="-1">
                <a:solidFill>
                  <a:srgbClr val="000000"/>
                </a:solidFill>
                <a:uFill>
                  <a:solidFill>
                    <a:srgbClr val="FFFFFF"/>
                  </a:solidFill>
                </a:uFill>
                <a:latin typeface="Calibri"/>
                <a:ea typeface="MS PGothic"/>
              </a:rPr>
              <a:t> </a:t>
            </a:r>
            <a:r>
              <a:rPr lang="id-ID" sz="2500" strike="noStrike" spc="-1">
                <a:solidFill>
                  <a:srgbClr val="000000"/>
                </a:solidFill>
                <a:uFill>
                  <a:solidFill>
                    <a:srgbClr val="FFFFFF"/>
                  </a:solidFill>
                </a:uFill>
                <a:latin typeface="Calibri"/>
                <a:ea typeface="MS PGothic"/>
              </a:rPr>
              <a:t>(the price elasticity of demand is less than 1), a higher price increases total revenue. </a:t>
            </a:r>
            <a:endParaRPr lang="id-ID" sz="2500" strike="noStrike" spc="-1">
              <a:solidFill>
                <a:srgbClr val="000000"/>
              </a:solidFill>
              <a:uFill>
                <a:solidFill>
                  <a:srgbClr val="FFFFFF"/>
                </a:solidFill>
              </a:uFill>
              <a:latin typeface="Calibri"/>
            </a:endParaRPr>
          </a:p>
          <a:p>
            <a:endParaRPr lang="id-ID" sz="2500" strike="noStrike" spc="-1">
              <a:solidFill>
                <a:srgbClr val="000000"/>
              </a:solidFill>
              <a:uFill>
                <a:solidFill>
                  <a:srgbClr val="FFFFFF"/>
                </a:solidFill>
              </a:uFill>
              <a:latin typeface="Calibri"/>
            </a:endParaRPr>
          </a:p>
          <a:p>
            <a:pPr marL="914400" lvl="1" indent="-452160">
              <a:lnSpc>
                <a:spcPct val="100000"/>
              </a:lnSpc>
              <a:buClr>
                <a:srgbClr val="000000"/>
              </a:buClr>
              <a:buFont typeface="Wingdings" charset="2"/>
              <a:buChar char=""/>
            </a:pPr>
            <a:r>
              <a:rPr lang="id-ID" sz="2400" strike="noStrike" spc="-1">
                <a:solidFill>
                  <a:srgbClr val="000000"/>
                </a:solidFill>
                <a:uFill>
                  <a:solidFill>
                    <a:srgbClr val="FFFFFF"/>
                  </a:solidFill>
                </a:uFill>
                <a:latin typeface="Calibri"/>
                <a:ea typeface="MS PGothic"/>
              </a:rPr>
              <a:t>In this case, the price effect is stronger than the quantity effect.</a:t>
            </a:r>
            <a:endParaRPr lang="id-ID" sz="2300" strike="noStrike" spc="-1">
              <a:solidFill>
                <a:srgbClr val="000000"/>
              </a:solidFill>
              <a:uFill>
                <a:solidFill>
                  <a:srgbClr val="FFFFFF"/>
                </a:solidFill>
              </a:u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842">
                                            <p:txEl>
                                              <p:pRg st="0" end="129"/>
                                            </p:txEl>
                                          </p:spTgt>
                                        </p:tgtEl>
                                        <p:attrNameLst>
                                          <p:attrName>style.visibility</p:attrName>
                                        </p:attrNameLst>
                                      </p:cBhvr>
                                      <p:to>
                                        <p:strVal val="visible"/>
                                      </p:to>
                                    </p:set>
                                    <p:animEffect transition="in" filter="fade">
                                      <p:cBhvr additive="repl">
                                        <p:cTn id="7" dur="500"/>
                                        <p:tgtEl>
                                          <p:spTgt spid="842">
                                            <p:txEl>
                                              <p:pRg st="0" end="129"/>
                                            </p:txEl>
                                          </p:spTgt>
                                        </p:tgtEl>
                                      </p:cBhvr>
                                    </p:animEffect>
                                  </p:childTnLst>
                                </p:cTn>
                              </p:par>
                              <p:par>
                                <p:cTn id="8" presetID="10" presetClass="entr" fill="hold" nodeType="withEffect">
                                  <p:stCondLst>
                                    <p:cond delay="0"/>
                                  </p:stCondLst>
                                  <p:childTnLst>
                                    <p:set>
                                      <p:cBhvr>
                                        <p:cTn id="9" dur="1" fill="hold">
                                          <p:stCondLst>
                                            <p:cond delay="0"/>
                                          </p:stCondLst>
                                        </p:cTn>
                                        <p:tgtEl>
                                          <p:spTgt spid="842">
                                            <p:txEl>
                                              <p:pRg st="130" end="199"/>
                                            </p:txEl>
                                          </p:spTgt>
                                        </p:tgtEl>
                                        <p:attrNameLst>
                                          <p:attrName>style.visibility</p:attrName>
                                        </p:attrNameLst>
                                      </p:cBhvr>
                                      <p:to>
                                        <p:strVal val="visible"/>
                                      </p:to>
                                    </p:set>
                                    <p:animEffect transition="in" filter="fade">
                                      <p:cBhvr additive="repl">
                                        <p:cTn id="10" dur="500"/>
                                        <p:tgtEl>
                                          <p:spTgt spid="842">
                                            <p:txEl>
                                              <p:pRg st="130" end="199"/>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fill="hold" nodeType="clickEffect">
                                  <p:stCondLst>
                                    <p:cond delay="0"/>
                                  </p:stCondLst>
                                  <p:childTnLst>
                                    <p:set>
                                      <p:cBhvr>
                                        <p:cTn id="14" dur="1" fill="hold">
                                          <p:stCondLst>
                                            <p:cond delay="0"/>
                                          </p:stCondLst>
                                        </p:cTn>
                                        <p:tgtEl>
                                          <p:spTgt spid="842">
                                            <p:txEl>
                                              <p:pRg st="200" end="324"/>
                                            </p:txEl>
                                          </p:spTgt>
                                        </p:tgtEl>
                                        <p:attrNameLst>
                                          <p:attrName>style.visibility</p:attrName>
                                        </p:attrNameLst>
                                      </p:cBhvr>
                                      <p:to>
                                        <p:strVal val="visible"/>
                                      </p:to>
                                    </p:set>
                                    <p:animEffect transition="in" filter="fade">
                                      <p:cBhvr additive="repl">
                                        <p:cTn id="15" dur="500"/>
                                        <p:tgtEl>
                                          <p:spTgt spid="842">
                                            <p:txEl>
                                              <p:pRg st="200" end="324"/>
                                            </p:txEl>
                                          </p:spTgt>
                                        </p:tgtEl>
                                      </p:cBhvr>
                                    </p:animEffect>
                                  </p:childTnLst>
                                </p:cTn>
                              </p:par>
                              <p:par>
                                <p:cTn id="16" presetID="10" presetClass="entr" fill="hold" nodeType="withEffect">
                                  <p:stCondLst>
                                    <p:cond delay="0"/>
                                  </p:stCondLst>
                                  <p:childTnLst>
                                    <p:set>
                                      <p:cBhvr>
                                        <p:cTn id="17" dur="1" fill="hold">
                                          <p:stCondLst>
                                            <p:cond delay="0"/>
                                          </p:stCondLst>
                                        </p:cTn>
                                        <p:tgtEl>
                                          <p:spTgt spid="842">
                                            <p:txEl>
                                              <p:pRg st="325" end="394"/>
                                            </p:txEl>
                                          </p:spTgt>
                                        </p:tgtEl>
                                        <p:attrNameLst>
                                          <p:attrName>style.visibility</p:attrName>
                                        </p:attrNameLst>
                                      </p:cBhvr>
                                      <p:to>
                                        <p:strVal val="visible"/>
                                      </p:to>
                                    </p:set>
                                    <p:animEffect transition="in" filter="fade">
                                      <p:cBhvr additive="repl">
                                        <p:cTn id="18" dur="500"/>
                                        <p:tgtEl>
                                          <p:spTgt spid="842">
                                            <p:txEl>
                                              <p:pRg st="325" end="39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 name="TextShape 1"/>
          <p:cNvSpPr txBox="1"/>
          <p:nvPr/>
        </p:nvSpPr>
        <p:spPr>
          <a:xfrm>
            <a:off x="611280" y="44280"/>
            <a:ext cx="8538840" cy="49968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How Total Revenue Changes When Price Changes</a:t>
            </a:r>
            <a:endParaRPr lang="id-ID" sz="3200" strike="noStrike" spc="-1">
              <a:solidFill>
                <a:srgbClr val="000000"/>
              </a:solidFill>
              <a:uFill>
                <a:solidFill>
                  <a:srgbClr val="FFFFFF"/>
                </a:solidFill>
              </a:uFill>
              <a:latin typeface="Calibri"/>
            </a:endParaRPr>
          </a:p>
        </p:txBody>
      </p:sp>
      <p:sp>
        <p:nvSpPr>
          <p:cNvPr id="844" name="CustomShape 2"/>
          <p:cNvSpPr/>
          <p:nvPr/>
        </p:nvSpPr>
        <p:spPr>
          <a:xfrm>
            <a:off x="558360" y="685800"/>
            <a:ext cx="416952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marL="343080" indent="-342720">
              <a:lnSpc>
                <a:spcPct val="100000"/>
              </a:lnSpc>
            </a:pPr>
            <a:r>
              <a:rPr lang="en-US" sz="1800" b="1" strike="noStrike" spc="-1">
                <a:solidFill>
                  <a:srgbClr val="000000"/>
                </a:solidFill>
                <a:uFill>
                  <a:solidFill>
                    <a:srgbClr val="FFFFFF"/>
                  </a:solidFill>
                </a:uFill>
                <a:latin typeface="Arial"/>
                <a:ea typeface="MS PGothic"/>
              </a:rPr>
              <a:t>  The case of inelastic demand</a:t>
            </a:r>
            <a:endParaRPr lang="en-US" sz="1800" strike="noStrike" spc="-1">
              <a:solidFill>
                <a:srgbClr val="000000"/>
              </a:solidFill>
              <a:uFill>
                <a:solidFill>
                  <a:srgbClr val="FFFFFF"/>
                </a:solidFill>
              </a:uFill>
              <a:latin typeface="Arial"/>
            </a:endParaRPr>
          </a:p>
        </p:txBody>
      </p:sp>
      <p:sp>
        <p:nvSpPr>
          <p:cNvPr id="845" name="CustomShape 3"/>
          <p:cNvSpPr/>
          <p:nvPr/>
        </p:nvSpPr>
        <p:spPr>
          <a:xfrm>
            <a:off x="1166760" y="1023840"/>
            <a:ext cx="3352320" cy="3047760"/>
          </a:xfrm>
          <a:prstGeom prst="rect">
            <a:avLst/>
          </a:prstGeom>
          <a:solidFill>
            <a:schemeClr val="bg1"/>
          </a:solidFill>
          <a:ln>
            <a:solidFill>
              <a:schemeClr val="bg1"/>
            </a:solidFill>
            <a:round/>
          </a:ln>
        </p:spPr>
        <p:style>
          <a:lnRef idx="2">
            <a:schemeClr val="accent1">
              <a:shade val="50000"/>
            </a:schemeClr>
          </a:lnRef>
          <a:fillRef idx="1">
            <a:schemeClr val="accent1"/>
          </a:fillRef>
          <a:effectRef idx="0">
            <a:schemeClr val="accent1"/>
          </a:effectRef>
          <a:fontRef idx="minor"/>
        </p:style>
      </p:sp>
      <p:sp>
        <p:nvSpPr>
          <p:cNvPr id="846" name="Line 4"/>
          <p:cNvSpPr/>
          <p:nvPr/>
        </p:nvSpPr>
        <p:spPr>
          <a:xfrm flipH="1">
            <a:off x="1168200" y="1023840"/>
            <a:ext cx="1440" cy="3047760"/>
          </a:xfrm>
          <a:prstGeom prst="line">
            <a:avLst/>
          </a:prstGeom>
          <a:ln w="28440">
            <a:solidFill>
              <a:schemeClr val="tx1"/>
            </a:solidFill>
            <a:round/>
          </a:ln>
        </p:spPr>
        <p:style>
          <a:lnRef idx="1">
            <a:schemeClr val="accent1"/>
          </a:lnRef>
          <a:fillRef idx="0">
            <a:schemeClr val="accent1"/>
          </a:fillRef>
          <a:effectRef idx="0">
            <a:schemeClr val="accent1"/>
          </a:effectRef>
          <a:fontRef idx="minor"/>
        </p:style>
      </p:sp>
      <p:sp>
        <p:nvSpPr>
          <p:cNvPr id="847" name="CustomShape 5"/>
          <p:cNvSpPr/>
          <p:nvPr/>
        </p:nvSpPr>
        <p:spPr>
          <a:xfrm>
            <a:off x="469800" y="938160"/>
            <a:ext cx="76464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Price </a:t>
            </a:r>
            <a:endParaRPr lang="en-US" sz="1800" strike="noStrike" spc="-1">
              <a:solidFill>
                <a:srgbClr val="000000"/>
              </a:solidFill>
              <a:uFill>
                <a:solidFill>
                  <a:srgbClr val="FFFFFF"/>
                </a:solidFill>
              </a:uFill>
              <a:latin typeface="Arial"/>
            </a:endParaRPr>
          </a:p>
        </p:txBody>
      </p:sp>
      <p:sp>
        <p:nvSpPr>
          <p:cNvPr id="848" name="CustomShape 6"/>
          <p:cNvSpPr/>
          <p:nvPr/>
        </p:nvSpPr>
        <p:spPr>
          <a:xfrm>
            <a:off x="3423240" y="2717640"/>
            <a:ext cx="110628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Demand </a:t>
            </a:r>
            <a:endParaRPr lang="en-US" sz="1800" strike="noStrike" spc="-1">
              <a:solidFill>
                <a:srgbClr val="000000"/>
              </a:solidFill>
              <a:uFill>
                <a:solidFill>
                  <a:srgbClr val="FFFFFF"/>
                </a:solidFill>
              </a:uFill>
              <a:latin typeface="Arial"/>
            </a:endParaRPr>
          </a:p>
        </p:txBody>
      </p:sp>
      <p:sp>
        <p:nvSpPr>
          <p:cNvPr id="849" name="CustomShape 7"/>
          <p:cNvSpPr/>
          <p:nvPr/>
        </p:nvSpPr>
        <p:spPr>
          <a:xfrm>
            <a:off x="2487600" y="1138320"/>
            <a:ext cx="1418760" cy="2142720"/>
          </a:xfrm>
          <a:custGeom>
            <a:avLst/>
            <a:gdLst/>
            <a:ahLst/>
            <a:cxnLst/>
            <a:rect l="l" t="t" r="r" b="b"/>
            <a:pathLst>
              <a:path w="1638795" h="1413164">
                <a:moveTo>
                  <a:pt x="0" y="0"/>
                </a:moveTo>
                <a:cubicBezTo>
                  <a:pt x="261961" y="977646"/>
                  <a:pt x="927550" y="1298766"/>
                  <a:pt x="1638795" y="1413164"/>
                </a:cubicBezTo>
              </a:path>
            </a:pathLst>
          </a:custGeom>
          <a:noFill/>
          <a:ln w="38160">
            <a:solidFill>
              <a:srgbClr val="000099"/>
            </a:solidFill>
            <a:round/>
          </a:ln>
        </p:spPr>
        <p:style>
          <a:lnRef idx="1">
            <a:schemeClr val="accent1"/>
          </a:lnRef>
          <a:fillRef idx="0">
            <a:schemeClr val="accent1"/>
          </a:fillRef>
          <a:effectRef idx="0">
            <a:schemeClr val="accent1"/>
          </a:effectRef>
          <a:fontRef idx="minor"/>
        </p:style>
      </p:sp>
      <p:sp>
        <p:nvSpPr>
          <p:cNvPr id="850" name="CustomShape 8"/>
          <p:cNvSpPr/>
          <p:nvPr/>
        </p:nvSpPr>
        <p:spPr>
          <a:xfrm>
            <a:off x="2794680" y="4071960"/>
            <a:ext cx="56052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100</a:t>
            </a:r>
            <a:endParaRPr lang="en-US" sz="1800" strike="noStrike" spc="-1">
              <a:solidFill>
                <a:srgbClr val="000000"/>
              </a:solidFill>
              <a:uFill>
                <a:solidFill>
                  <a:srgbClr val="FFFFFF"/>
                </a:solidFill>
              </a:uFill>
              <a:latin typeface="Arial"/>
            </a:endParaRPr>
          </a:p>
        </p:txBody>
      </p:sp>
      <p:sp>
        <p:nvSpPr>
          <p:cNvPr id="851" name="Line 9"/>
          <p:cNvSpPr/>
          <p:nvPr/>
        </p:nvSpPr>
        <p:spPr>
          <a:xfrm flipH="1">
            <a:off x="2993760" y="2624040"/>
            <a:ext cx="1800" cy="144756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852" name="CustomShape 10"/>
          <p:cNvSpPr/>
          <p:nvPr/>
        </p:nvSpPr>
        <p:spPr>
          <a:xfrm>
            <a:off x="611280" y="4437000"/>
            <a:ext cx="8405280" cy="23155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216000" indent="-216000">
              <a:lnSpc>
                <a:spcPct val="100000"/>
              </a:lnSpc>
              <a:buClr>
                <a:srgbClr val="000000"/>
              </a:buClr>
              <a:buFont typeface="Symbol" charset="2"/>
              <a:buChar char=""/>
            </a:pPr>
            <a:r>
              <a:rPr lang="en-US" sz="1800" strike="noStrike" spc="-1">
                <a:solidFill>
                  <a:srgbClr val="000000"/>
                </a:solidFill>
                <a:uFill>
                  <a:solidFill>
                    <a:srgbClr val="FFFFFF"/>
                  </a:solidFill>
                </a:uFill>
                <a:latin typeface="Arial"/>
                <a:ea typeface="MS PGothic"/>
              </a:rPr>
              <a:t> In the case of inelastic demand, an increase in the price leads to a decrease in quantity demanded that is proportionately smaller, so total revenue increases. Here an increase in the price from $4 to $5 causes the quantity demanded to fall from 100 to 90. Total revenue rises from $400 to $450. </a:t>
            </a:r>
            <a:endParaRPr lang="en-US" sz="1800" strike="noStrike" spc="-1">
              <a:solidFill>
                <a:srgbClr val="000000"/>
              </a:solidFill>
              <a:uFill>
                <a:solidFill>
                  <a:srgbClr val="FFFFFF"/>
                </a:solidFill>
              </a:uFill>
              <a:latin typeface="Arial"/>
            </a:endParaRPr>
          </a:p>
          <a:p>
            <a:pPr marL="216000" indent="-216000">
              <a:lnSpc>
                <a:spcPct val="100000"/>
              </a:lnSpc>
              <a:buClr>
                <a:srgbClr val="000000"/>
              </a:buClr>
              <a:buFont typeface="Symbol" charset="2"/>
              <a:buChar char=""/>
            </a:pPr>
            <a:r>
              <a:rPr lang="en-US" sz="1800" strike="noStrike" spc="-1">
                <a:solidFill>
                  <a:srgbClr val="000000"/>
                </a:solidFill>
                <a:uFill>
                  <a:solidFill>
                    <a:srgbClr val="FFFFFF"/>
                  </a:solidFill>
                </a:uFill>
                <a:latin typeface="Arial"/>
                <a:ea typeface="MS PGothic"/>
              </a:rPr>
              <a:t> In the case of elastic demand, an increase in the price leads to a decrease in quantity demanded that is proportionately larger, so total revenue decreases. Here an increase in the price from $4 to $5 causes the quantity demanded to fall from 100 to 70. Total revenue falls from $400 to $350.</a:t>
            </a:r>
            <a:endParaRPr lang="en-US" sz="1800" strike="noStrike" spc="-1">
              <a:solidFill>
                <a:srgbClr val="000000"/>
              </a:solidFill>
              <a:uFill>
                <a:solidFill>
                  <a:srgbClr val="FFFFFF"/>
                </a:solidFill>
              </a:uFill>
              <a:latin typeface="Arial"/>
            </a:endParaRPr>
          </a:p>
        </p:txBody>
      </p:sp>
      <p:sp>
        <p:nvSpPr>
          <p:cNvPr id="853" name="CustomShape 11"/>
          <p:cNvSpPr/>
          <p:nvPr/>
        </p:nvSpPr>
        <p:spPr>
          <a:xfrm>
            <a:off x="5195880" y="692280"/>
            <a:ext cx="396540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marL="343080" indent="-342720">
              <a:lnSpc>
                <a:spcPct val="100000"/>
              </a:lnSpc>
            </a:pPr>
            <a:r>
              <a:rPr lang="en-US" sz="1800" b="1" strike="noStrike" spc="-1">
                <a:solidFill>
                  <a:srgbClr val="000000"/>
                </a:solidFill>
                <a:uFill>
                  <a:solidFill>
                    <a:srgbClr val="FFFFFF"/>
                  </a:solidFill>
                </a:uFill>
                <a:latin typeface="Arial"/>
                <a:ea typeface="MS PGothic"/>
              </a:rPr>
              <a:t>  The case of elastic demand</a:t>
            </a:r>
            <a:endParaRPr lang="en-US" sz="1800" strike="noStrike" spc="-1">
              <a:solidFill>
                <a:srgbClr val="000000"/>
              </a:solidFill>
              <a:uFill>
                <a:solidFill>
                  <a:srgbClr val="FFFFFF"/>
                </a:solidFill>
              </a:uFill>
              <a:latin typeface="Arial"/>
            </a:endParaRPr>
          </a:p>
        </p:txBody>
      </p:sp>
      <p:sp>
        <p:nvSpPr>
          <p:cNvPr id="854" name="CustomShape 12"/>
          <p:cNvSpPr/>
          <p:nvPr/>
        </p:nvSpPr>
        <p:spPr>
          <a:xfrm>
            <a:off x="5618160" y="1022400"/>
            <a:ext cx="3352320" cy="3047760"/>
          </a:xfrm>
          <a:prstGeom prst="rect">
            <a:avLst/>
          </a:prstGeom>
          <a:solidFill>
            <a:schemeClr val="bg1"/>
          </a:solidFill>
          <a:ln>
            <a:solidFill>
              <a:schemeClr val="bg1"/>
            </a:solidFill>
            <a:round/>
          </a:ln>
        </p:spPr>
        <p:style>
          <a:lnRef idx="2">
            <a:schemeClr val="accent1">
              <a:shade val="50000"/>
            </a:schemeClr>
          </a:lnRef>
          <a:fillRef idx="1">
            <a:schemeClr val="accent1"/>
          </a:fillRef>
          <a:effectRef idx="0">
            <a:schemeClr val="accent1"/>
          </a:effectRef>
          <a:fontRef idx="minor"/>
        </p:style>
      </p:sp>
      <p:sp>
        <p:nvSpPr>
          <p:cNvPr id="855" name="Line 13"/>
          <p:cNvSpPr/>
          <p:nvPr/>
        </p:nvSpPr>
        <p:spPr>
          <a:xfrm flipH="1">
            <a:off x="5618160" y="1022040"/>
            <a:ext cx="1440" cy="3048120"/>
          </a:xfrm>
          <a:prstGeom prst="line">
            <a:avLst/>
          </a:prstGeom>
          <a:ln w="28440">
            <a:solidFill>
              <a:schemeClr val="tx1"/>
            </a:solidFill>
            <a:round/>
          </a:ln>
        </p:spPr>
        <p:style>
          <a:lnRef idx="1">
            <a:schemeClr val="accent1"/>
          </a:lnRef>
          <a:fillRef idx="0">
            <a:schemeClr val="accent1"/>
          </a:fillRef>
          <a:effectRef idx="0">
            <a:schemeClr val="accent1"/>
          </a:effectRef>
          <a:fontRef idx="minor"/>
        </p:style>
      </p:sp>
      <p:sp>
        <p:nvSpPr>
          <p:cNvPr id="856" name="CustomShape 14"/>
          <p:cNvSpPr/>
          <p:nvPr/>
        </p:nvSpPr>
        <p:spPr>
          <a:xfrm>
            <a:off x="4837320" y="963720"/>
            <a:ext cx="76464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Price </a:t>
            </a:r>
            <a:endParaRPr lang="en-US" sz="1800" strike="noStrike" spc="-1">
              <a:solidFill>
                <a:srgbClr val="000000"/>
              </a:solidFill>
              <a:uFill>
                <a:solidFill>
                  <a:srgbClr val="FFFFFF"/>
                </a:solidFill>
              </a:uFill>
              <a:latin typeface="Arial"/>
            </a:endParaRPr>
          </a:p>
        </p:txBody>
      </p:sp>
      <p:sp>
        <p:nvSpPr>
          <p:cNvPr id="857" name="Line 15"/>
          <p:cNvSpPr/>
          <p:nvPr/>
        </p:nvSpPr>
        <p:spPr>
          <a:xfrm flipV="1">
            <a:off x="5618160" y="2238120"/>
            <a:ext cx="1077840" cy="324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858" name="CustomShape 16"/>
          <p:cNvSpPr/>
          <p:nvPr/>
        </p:nvSpPr>
        <p:spPr>
          <a:xfrm>
            <a:off x="5140440" y="2013120"/>
            <a:ext cx="43416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$5</a:t>
            </a:r>
            <a:endParaRPr lang="en-US" sz="1800" strike="noStrike" spc="-1">
              <a:solidFill>
                <a:srgbClr val="000000"/>
              </a:solidFill>
              <a:uFill>
                <a:solidFill>
                  <a:srgbClr val="FFFFFF"/>
                </a:solidFill>
              </a:uFill>
              <a:latin typeface="Arial"/>
            </a:endParaRPr>
          </a:p>
        </p:txBody>
      </p:sp>
      <p:sp>
        <p:nvSpPr>
          <p:cNvPr id="859" name="CustomShape 17"/>
          <p:cNvSpPr/>
          <p:nvPr/>
        </p:nvSpPr>
        <p:spPr>
          <a:xfrm>
            <a:off x="7922160" y="3017880"/>
            <a:ext cx="110628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Demand </a:t>
            </a:r>
            <a:endParaRPr lang="en-US" sz="1800" strike="noStrike" spc="-1">
              <a:solidFill>
                <a:srgbClr val="000000"/>
              </a:solidFill>
              <a:uFill>
                <a:solidFill>
                  <a:srgbClr val="FFFFFF"/>
                </a:solidFill>
              </a:uFill>
              <a:latin typeface="Arial"/>
            </a:endParaRPr>
          </a:p>
        </p:txBody>
      </p:sp>
      <p:sp>
        <p:nvSpPr>
          <p:cNvPr id="860" name="CustomShape 18"/>
          <p:cNvSpPr/>
          <p:nvPr/>
        </p:nvSpPr>
        <p:spPr>
          <a:xfrm>
            <a:off x="6172200" y="1438200"/>
            <a:ext cx="2511000" cy="1487160"/>
          </a:xfrm>
          <a:custGeom>
            <a:avLst/>
            <a:gdLst/>
            <a:ahLst/>
            <a:cxnLst/>
            <a:rect l="l" t="t" r="r" b="b"/>
            <a:pathLst>
              <a:path w="1638795" h="1413164">
                <a:moveTo>
                  <a:pt x="0" y="0"/>
                </a:moveTo>
                <a:cubicBezTo>
                  <a:pt x="261961" y="977646"/>
                  <a:pt x="927550" y="1298766"/>
                  <a:pt x="1638795" y="1413164"/>
                </a:cubicBezTo>
              </a:path>
            </a:pathLst>
          </a:custGeom>
          <a:noFill/>
          <a:ln w="38160">
            <a:solidFill>
              <a:srgbClr val="000099"/>
            </a:solidFill>
            <a:round/>
          </a:ln>
        </p:spPr>
        <p:style>
          <a:lnRef idx="1">
            <a:schemeClr val="accent1"/>
          </a:lnRef>
          <a:fillRef idx="0">
            <a:schemeClr val="accent1"/>
          </a:fillRef>
          <a:effectRef idx="0">
            <a:schemeClr val="accent1"/>
          </a:effectRef>
          <a:fontRef idx="minor"/>
        </p:style>
      </p:sp>
      <p:sp>
        <p:nvSpPr>
          <p:cNvPr id="861" name="CustomShape 19"/>
          <p:cNvSpPr/>
          <p:nvPr/>
        </p:nvSpPr>
        <p:spPr>
          <a:xfrm>
            <a:off x="1160640" y="2655720"/>
            <a:ext cx="1864800" cy="1418760"/>
          </a:xfrm>
          <a:prstGeom prst="rect">
            <a:avLst/>
          </a:prstGeom>
          <a:solidFill>
            <a:srgbClr val="00FFFF">
              <a:alpha val="51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r">
              <a:lnSpc>
                <a:spcPct val="100000"/>
              </a:lnSpc>
            </a:pPr>
            <a:r>
              <a:rPr lang="en-US" sz="1800" strike="noStrike" spc="-1">
                <a:solidFill>
                  <a:srgbClr val="000000"/>
                </a:solidFill>
                <a:uFill>
                  <a:solidFill>
                    <a:srgbClr val="FFFFFF"/>
                  </a:solidFill>
                </a:uFill>
                <a:latin typeface="Arial"/>
                <a:ea typeface="MS PGothic"/>
              </a:rPr>
              <a:t>B</a:t>
            </a:r>
            <a:endParaRPr lang="en-US" sz="1800" strike="noStrike" spc="-1">
              <a:solidFill>
                <a:srgbClr val="000000"/>
              </a:solidFill>
              <a:uFill>
                <a:solidFill>
                  <a:srgbClr val="FFFFFF"/>
                </a:solidFill>
              </a:uFill>
              <a:latin typeface="Arial"/>
            </a:endParaRPr>
          </a:p>
        </p:txBody>
      </p:sp>
      <p:sp>
        <p:nvSpPr>
          <p:cNvPr id="862" name="CustomShape 20"/>
          <p:cNvSpPr/>
          <p:nvPr/>
        </p:nvSpPr>
        <p:spPr>
          <a:xfrm>
            <a:off x="5643720" y="2647800"/>
            <a:ext cx="1810800" cy="1418760"/>
          </a:xfrm>
          <a:prstGeom prst="rect">
            <a:avLst/>
          </a:prstGeom>
          <a:solidFill>
            <a:srgbClr val="00FFFF">
              <a:alpha val="51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r">
              <a:lnSpc>
                <a:spcPct val="100000"/>
              </a:lnSpc>
            </a:pPr>
            <a:r>
              <a:rPr lang="en-US" sz="1800" strike="noStrike" spc="-1">
                <a:solidFill>
                  <a:srgbClr val="000000"/>
                </a:solidFill>
                <a:uFill>
                  <a:solidFill>
                    <a:srgbClr val="FFFFFF"/>
                  </a:solidFill>
                </a:uFill>
                <a:latin typeface="Arial"/>
                <a:ea typeface="MS PGothic"/>
              </a:rPr>
              <a:t>B</a:t>
            </a:r>
            <a:endParaRPr lang="en-US" sz="1800" strike="noStrike" spc="-1">
              <a:solidFill>
                <a:srgbClr val="000000"/>
              </a:solidFill>
              <a:uFill>
                <a:solidFill>
                  <a:srgbClr val="FFFFFF"/>
                </a:solidFill>
              </a:uFill>
              <a:latin typeface="Arial"/>
            </a:endParaRPr>
          </a:p>
        </p:txBody>
      </p:sp>
      <p:sp>
        <p:nvSpPr>
          <p:cNvPr id="863" name="Line 21"/>
          <p:cNvSpPr/>
          <p:nvPr/>
        </p:nvSpPr>
        <p:spPr>
          <a:xfrm>
            <a:off x="5618160" y="4063680"/>
            <a:ext cx="3352680" cy="1800"/>
          </a:xfrm>
          <a:prstGeom prst="line">
            <a:avLst/>
          </a:prstGeom>
          <a:ln w="28440">
            <a:solidFill>
              <a:schemeClr val="tx1"/>
            </a:solidFill>
            <a:round/>
          </a:ln>
        </p:spPr>
        <p:style>
          <a:lnRef idx="1">
            <a:schemeClr val="accent1"/>
          </a:lnRef>
          <a:fillRef idx="0">
            <a:schemeClr val="accent1"/>
          </a:fillRef>
          <a:effectRef idx="0">
            <a:schemeClr val="accent1"/>
          </a:effectRef>
          <a:fontRef idx="minor"/>
        </p:style>
      </p:sp>
      <p:sp>
        <p:nvSpPr>
          <p:cNvPr id="864" name="CustomShape 22"/>
          <p:cNvSpPr/>
          <p:nvPr/>
        </p:nvSpPr>
        <p:spPr>
          <a:xfrm>
            <a:off x="7997400" y="4052880"/>
            <a:ext cx="109260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Quantity </a:t>
            </a:r>
            <a:endParaRPr lang="en-US" sz="1800" strike="noStrike" spc="-1">
              <a:solidFill>
                <a:srgbClr val="000000"/>
              </a:solidFill>
              <a:uFill>
                <a:solidFill>
                  <a:srgbClr val="FFFFFF"/>
                </a:solidFill>
              </a:uFill>
              <a:latin typeface="Arial"/>
            </a:endParaRPr>
          </a:p>
        </p:txBody>
      </p:sp>
      <p:sp>
        <p:nvSpPr>
          <p:cNvPr id="865" name="CustomShape 23"/>
          <p:cNvSpPr/>
          <p:nvPr/>
        </p:nvSpPr>
        <p:spPr>
          <a:xfrm>
            <a:off x="5354640" y="4064040"/>
            <a:ext cx="30744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0</a:t>
            </a:r>
            <a:endParaRPr lang="en-US" sz="1800" strike="noStrike" spc="-1">
              <a:solidFill>
                <a:srgbClr val="000000"/>
              </a:solidFill>
              <a:uFill>
                <a:solidFill>
                  <a:srgbClr val="FFFFFF"/>
                </a:solidFill>
              </a:uFill>
              <a:latin typeface="Arial"/>
            </a:endParaRPr>
          </a:p>
        </p:txBody>
      </p:sp>
      <p:sp>
        <p:nvSpPr>
          <p:cNvPr id="866" name="Line 24"/>
          <p:cNvSpPr/>
          <p:nvPr/>
        </p:nvSpPr>
        <p:spPr>
          <a:xfrm>
            <a:off x="1166760" y="4071600"/>
            <a:ext cx="3352680" cy="1800"/>
          </a:xfrm>
          <a:prstGeom prst="line">
            <a:avLst/>
          </a:prstGeom>
          <a:ln w="28440">
            <a:solidFill>
              <a:schemeClr val="tx1"/>
            </a:solidFill>
            <a:round/>
          </a:ln>
        </p:spPr>
        <p:style>
          <a:lnRef idx="1">
            <a:schemeClr val="accent1"/>
          </a:lnRef>
          <a:fillRef idx="0">
            <a:schemeClr val="accent1"/>
          </a:fillRef>
          <a:effectRef idx="0">
            <a:schemeClr val="accent1"/>
          </a:effectRef>
          <a:fontRef idx="minor"/>
        </p:style>
      </p:sp>
      <p:sp>
        <p:nvSpPr>
          <p:cNvPr id="867" name="CustomShape 25"/>
          <p:cNvSpPr/>
          <p:nvPr/>
        </p:nvSpPr>
        <p:spPr>
          <a:xfrm>
            <a:off x="3546000" y="4087800"/>
            <a:ext cx="109260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Quantity </a:t>
            </a:r>
            <a:endParaRPr lang="en-US" sz="1800" strike="noStrike" spc="-1">
              <a:solidFill>
                <a:srgbClr val="000000"/>
              </a:solidFill>
              <a:uFill>
                <a:solidFill>
                  <a:srgbClr val="FFFFFF"/>
                </a:solidFill>
              </a:uFill>
              <a:latin typeface="Arial"/>
            </a:endParaRPr>
          </a:p>
        </p:txBody>
      </p:sp>
      <p:sp>
        <p:nvSpPr>
          <p:cNvPr id="868" name="CustomShape 26"/>
          <p:cNvSpPr/>
          <p:nvPr/>
        </p:nvSpPr>
        <p:spPr>
          <a:xfrm>
            <a:off x="903240" y="4071960"/>
            <a:ext cx="30744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0</a:t>
            </a:r>
            <a:endParaRPr lang="en-US" sz="1800" strike="noStrike" spc="-1">
              <a:solidFill>
                <a:srgbClr val="000000"/>
              </a:solidFill>
              <a:uFill>
                <a:solidFill>
                  <a:srgbClr val="FFFFFF"/>
                </a:solidFill>
              </a:uFill>
              <a:latin typeface="Arial"/>
            </a:endParaRPr>
          </a:p>
        </p:txBody>
      </p:sp>
      <p:sp>
        <p:nvSpPr>
          <p:cNvPr id="869" name="CustomShape 27"/>
          <p:cNvSpPr/>
          <p:nvPr/>
        </p:nvSpPr>
        <p:spPr>
          <a:xfrm>
            <a:off x="7246080" y="4070520"/>
            <a:ext cx="56052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100</a:t>
            </a:r>
            <a:endParaRPr lang="en-US" sz="1800" strike="noStrike" spc="-1">
              <a:solidFill>
                <a:srgbClr val="000000"/>
              </a:solidFill>
              <a:uFill>
                <a:solidFill>
                  <a:srgbClr val="FFFFFF"/>
                </a:solidFill>
              </a:uFill>
              <a:latin typeface="Arial"/>
            </a:endParaRPr>
          </a:p>
        </p:txBody>
      </p:sp>
      <p:sp>
        <p:nvSpPr>
          <p:cNvPr id="870" name="Line 28"/>
          <p:cNvSpPr/>
          <p:nvPr/>
        </p:nvSpPr>
        <p:spPr>
          <a:xfrm flipH="1">
            <a:off x="7445160" y="2622240"/>
            <a:ext cx="1800" cy="144792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871" name="CustomShape 29"/>
          <p:cNvSpPr/>
          <p:nvPr/>
        </p:nvSpPr>
        <p:spPr>
          <a:xfrm>
            <a:off x="1174680" y="2243160"/>
            <a:ext cx="1598400" cy="1821960"/>
          </a:xfrm>
          <a:prstGeom prst="rect">
            <a:avLst/>
          </a:prstGeom>
          <a:solidFill>
            <a:srgbClr val="FFAFAF">
              <a:alpha val="80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A</a:t>
            </a:r>
            <a:endParaRPr lang="en-US" sz="1800" strike="noStrike" spc="-1">
              <a:solidFill>
                <a:srgbClr val="000000"/>
              </a:solidFill>
              <a:uFill>
                <a:solidFill>
                  <a:srgbClr val="FFFFFF"/>
                </a:solidFill>
              </a:uFill>
              <a:latin typeface="Arial"/>
            </a:endParaRPr>
          </a:p>
        </p:txBody>
      </p:sp>
      <p:sp>
        <p:nvSpPr>
          <p:cNvPr id="872" name="CustomShape 30"/>
          <p:cNvSpPr/>
          <p:nvPr/>
        </p:nvSpPr>
        <p:spPr>
          <a:xfrm>
            <a:off x="5635800" y="2255760"/>
            <a:ext cx="1068120" cy="1800000"/>
          </a:xfrm>
          <a:prstGeom prst="rect">
            <a:avLst/>
          </a:prstGeom>
          <a:solidFill>
            <a:srgbClr val="FFAFAF">
              <a:alpha val="80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A</a:t>
            </a:r>
            <a:endParaRPr lang="en-US" sz="1800" strike="noStrike" spc="-1">
              <a:solidFill>
                <a:srgbClr val="000000"/>
              </a:solidFill>
              <a:uFill>
                <a:solidFill>
                  <a:srgbClr val="FFFFFF"/>
                </a:solidFill>
              </a:uFill>
              <a:latin typeface="Arial"/>
            </a:endParaRPr>
          </a:p>
        </p:txBody>
      </p:sp>
      <p:sp>
        <p:nvSpPr>
          <p:cNvPr id="873" name="Line 31"/>
          <p:cNvSpPr/>
          <p:nvPr/>
        </p:nvSpPr>
        <p:spPr>
          <a:xfrm flipH="1">
            <a:off x="6715080" y="2242800"/>
            <a:ext cx="1440" cy="182880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874" name="CustomShape 32"/>
          <p:cNvSpPr/>
          <p:nvPr/>
        </p:nvSpPr>
        <p:spPr>
          <a:xfrm>
            <a:off x="6504120" y="4070520"/>
            <a:ext cx="43416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70</a:t>
            </a:r>
            <a:endParaRPr lang="en-US" sz="1800" strike="noStrike" spc="-1">
              <a:solidFill>
                <a:srgbClr val="000000"/>
              </a:solidFill>
              <a:uFill>
                <a:solidFill>
                  <a:srgbClr val="FFFFFF"/>
                </a:solidFill>
              </a:uFill>
              <a:latin typeface="Arial"/>
            </a:endParaRPr>
          </a:p>
        </p:txBody>
      </p:sp>
      <p:sp>
        <p:nvSpPr>
          <p:cNvPr id="875" name="Line 33"/>
          <p:cNvSpPr/>
          <p:nvPr/>
        </p:nvSpPr>
        <p:spPr>
          <a:xfrm>
            <a:off x="5618160" y="2620800"/>
            <a:ext cx="1828800" cy="144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876" name="CustomShape 34"/>
          <p:cNvSpPr/>
          <p:nvPr/>
        </p:nvSpPr>
        <p:spPr>
          <a:xfrm>
            <a:off x="5278320" y="2425680"/>
            <a:ext cx="30744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4</a:t>
            </a:r>
            <a:endParaRPr lang="en-US" sz="1800" strike="noStrike" spc="-1">
              <a:solidFill>
                <a:srgbClr val="000000"/>
              </a:solidFill>
              <a:uFill>
                <a:solidFill>
                  <a:srgbClr val="FFFFFF"/>
                </a:solidFill>
              </a:uFill>
              <a:latin typeface="Arial"/>
            </a:endParaRPr>
          </a:p>
        </p:txBody>
      </p:sp>
      <p:sp>
        <p:nvSpPr>
          <p:cNvPr id="877" name="Line 35"/>
          <p:cNvSpPr/>
          <p:nvPr/>
        </p:nvSpPr>
        <p:spPr>
          <a:xfrm flipH="1">
            <a:off x="2776320" y="2244600"/>
            <a:ext cx="1800" cy="182880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878" name="CustomShape 36"/>
          <p:cNvSpPr/>
          <p:nvPr/>
        </p:nvSpPr>
        <p:spPr>
          <a:xfrm>
            <a:off x="2468880" y="4071960"/>
            <a:ext cx="43416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90</a:t>
            </a:r>
            <a:endParaRPr lang="en-US" sz="1800" strike="noStrike" spc="-1">
              <a:solidFill>
                <a:srgbClr val="000000"/>
              </a:solidFill>
              <a:uFill>
                <a:solidFill>
                  <a:srgbClr val="FFFFFF"/>
                </a:solidFill>
              </a:uFill>
              <a:latin typeface="Arial"/>
            </a:endParaRPr>
          </a:p>
        </p:txBody>
      </p:sp>
      <p:sp>
        <p:nvSpPr>
          <p:cNvPr id="879" name="Line 37"/>
          <p:cNvSpPr/>
          <p:nvPr/>
        </p:nvSpPr>
        <p:spPr>
          <a:xfrm>
            <a:off x="1166760" y="2622240"/>
            <a:ext cx="1828800" cy="180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880" name="CustomShape 38"/>
          <p:cNvSpPr/>
          <p:nvPr/>
        </p:nvSpPr>
        <p:spPr>
          <a:xfrm>
            <a:off x="826920" y="2454120"/>
            <a:ext cx="30744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4</a:t>
            </a:r>
            <a:endParaRPr lang="en-US" sz="1800" strike="noStrike" spc="-1">
              <a:solidFill>
                <a:srgbClr val="000000"/>
              </a:solidFill>
              <a:uFill>
                <a:solidFill>
                  <a:srgbClr val="FFFFFF"/>
                </a:solidFill>
              </a:uFill>
              <a:latin typeface="Arial"/>
            </a:endParaRPr>
          </a:p>
        </p:txBody>
      </p:sp>
      <p:sp>
        <p:nvSpPr>
          <p:cNvPr id="881" name="Line 39"/>
          <p:cNvSpPr/>
          <p:nvPr/>
        </p:nvSpPr>
        <p:spPr>
          <a:xfrm>
            <a:off x="1168200" y="2242800"/>
            <a:ext cx="1608120" cy="324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882" name="CustomShape 40"/>
          <p:cNvSpPr/>
          <p:nvPr/>
        </p:nvSpPr>
        <p:spPr>
          <a:xfrm>
            <a:off x="690840" y="2014560"/>
            <a:ext cx="43416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strike="noStrike" spc="-1">
                <a:solidFill>
                  <a:srgbClr val="000000"/>
                </a:solidFill>
                <a:uFill>
                  <a:solidFill>
                    <a:srgbClr val="FFFFFF"/>
                  </a:solidFill>
                </a:uFill>
                <a:latin typeface="Arial"/>
                <a:ea typeface="MS PGothic"/>
              </a:rPr>
              <a:t>$5</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 name="TextShape 1"/>
          <p:cNvSpPr txBox="1"/>
          <p:nvPr/>
        </p:nvSpPr>
        <p:spPr>
          <a:xfrm>
            <a:off x="900000" y="0"/>
            <a:ext cx="7992720" cy="68544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Elasticity and Total Revenue</a:t>
            </a:r>
            <a:endParaRPr lang="id-ID" sz="3200" strike="noStrike" spc="-1">
              <a:solidFill>
                <a:srgbClr val="000000"/>
              </a:solidFill>
              <a:uFill>
                <a:solidFill>
                  <a:srgbClr val="FFFFFF"/>
                </a:solidFill>
              </a:uFill>
              <a:latin typeface="Calibri"/>
            </a:endParaRPr>
          </a:p>
        </p:txBody>
      </p:sp>
      <p:sp>
        <p:nvSpPr>
          <p:cNvPr id="884" name="TextShape 2"/>
          <p:cNvSpPr txBox="1"/>
          <p:nvPr/>
        </p:nvSpPr>
        <p:spPr>
          <a:xfrm>
            <a:off x="576360" y="692280"/>
            <a:ext cx="8532360" cy="2303280"/>
          </a:xfrm>
          <a:prstGeom prst="rect">
            <a:avLst/>
          </a:prstGeom>
          <a:noFill/>
          <a:ln w="9360">
            <a:noFill/>
          </a:ln>
        </p:spPr>
        <p:txBody>
          <a:bodyPr/>
          <a:lstStyle/>
          <a:p>
            <a:pPr marL="230040" indent="-225000">
              <a:lnSpc>
                <a:spcPct val="100000"/>
              </a:lnSpc>
              <a:buClr>
                <a:srgbClr val="000000"/>
              </a:buClr>
              <a:buFont typeface="Arial"/>
              <a:buChar char="•"/>
            </a:pPr>
            <a:r>
              <a:rPr lang="id-ID" sz="2500" strike="noStrike" spc="-1">
                <a:solidFill>
                  <a:srgbClr val="000000"/>
                </a:solidFill>
                <a:uFill>
                  <a:solidFill>
                    <a:srgbClr val="FFFFFF"/>
                  </a:solidFill>
                </a:uFill>
                <a:latin typeface="Calibri"/>
                <a:ea typeface="MS PGothic"/>
              </a:rPr>
              <a:t>If demand is</a:t>
            </a:r>
            <a:r>
              <a:rPr lang="id-ID" sz="2500" b="1" strike="noStrike" spc="-1">
                <a:solidFill>
                  <a:srgbClr val="000000"/>
                </a:solidFill>
                <a:uFill>
                  <a:solidFill>
                    <a:srgbClr val="FFFFFF"/>
                  </a:solidFill>
                </a:uFill>
                <a:latin typeface="Calibri"/>
                <a:ea typeface="MS PGothic"/>
              </a:rPr>
              <a:t> </a:t>
            </a:r>
            <a:r>
              <a:rPr lang="id-ID" sz="2500" b="1" i="1" strike="noStrike" spc="-1">
                <a:solidFill>
                  <a:srgbClr val="000000"/>
                </a:solidFill>
                <a:uFill>
                  <a:solidFill>
                    <a:srgbClr val="FFFFFF"/>
                  </a:solidFill>
                </a:uFill>
                <a:latin typeface="Calibri"/>
                <a:ea typeface="MS PGothic"/>
              </a:rPr>
              <a:t>unit-elastic</a:t>
            </a:r>
            <a:r>
              <a:rPr lang="id-ID" sz="2500" i="1" strike="noStrike" spc="-1">
                <a:solidFill>
                  <a:srgbClr val="000000"/>
                </a:solidFill>
                <a:uFill>
                  <a:solidFill>
                    <a:srgbClr val="FFFFFF"/>
                  </a:solidFill>
                </a:uFill>
                <a:latin typeface="Calibri"/>
                <a:ea typeface="MS PGothic"/>
              </a:rPr>
              <a:t> </a:t>
            </a:r>
            <a:r>
              <a:rPr lang="id-ID" sz="2500" strike="noStrike" spc="-1">
                <a:solidFill>
                  <a:srgbClr val="000000"/>
                </a:solidFill>
                <a:uFill>
                  <a:solidFill>
                    <a:srgbClr val="FFFFFF"/>
                  </a:solidFill>
                </a:uFill>
                <a:latin typeface="Calibri"/>
                <a:ea typeface="MS PGothic"/>
              </a:rPr>
              <a:t>(the price elasticity of demand is 1), an increase in price does not change total revenue.</a:t>
            </a:r>
            <a:endParaRPr lang="id-ID" sz="2500" strike="noStrike" spc="-1">
              <a:solidFill>
                <a:srgbClr val="000000"/>
              </a:solidFill>
              <a:uFill>
                <a:solidFill>
                  <a:srgbClr val="FFFFFF"/>
                </a:solidFill>
              </a:uFill>
              <a:latin typeface="Calibri"/>
            </a:endParaRPr>
          </a:p>
          <a:p>
            <a:pPr marL="630360" lvl="1" indent="-225000">
              <a:lnSpc>
                <a:spcPct val="100000"/>
              </a:lnSpc>
              <a:buClr>
                <a:srgbClr val="000000"/>
              </a:buClr>
              <a:buFont typeface="Wingdings" charset="2"/>
              <a:buChar char=""/>
            </a:pPr>
            <a:r>
              <a:rPr lang="id-ID" sz="2400" strike="noStrike" spc="-1">
                <a:solidFill>
                  <a:srgbClr val="000000"/>
                </a:solidFill>
                <a:uFill>
                  <a:solidFill>
                    <a:srgbClr val="FFFFFF"/>
                  </a:solidFill>
                </a:uFill>
                <a:latin typeface="Calibri"/>
                <a:ea typeface="MS PGothic"/>
              </a:rPr>
              <a:t>The sales effect and the price effect exactly offset each other</a:t>
            </a:r>
            <a:endParaRPr lang="id-ID" sz="2300" strike="noStrike" spc="-1">
              <a:solidFill>
                <a:srgbClr val="000000"/>
              </a:solidFill>
              <a:uFill>
                <a:solidFill>
                  <a:srgbClr val="FFFFFF"/>
                </a:solidFill>
              </a:uFill>
              <a:latin typeface="Calibri"/>
            </a:endParaRPr>
          </a:p>
        </p:txBody>
      </p:sp>
      <p:pic>
        <p:nvPicPr>
          <p:cNvPr id="885" name="Picture 3"/>
          <p:cNvPicPr/>
          <p:nvPr/>
        </p:nvPicPr>
        <p:blipFill>
          <a:blip r:embed="rId3"/>
          <a:stretch/>
        </p:blipFill>
        <p:spPr>
          <a:xfrm>
            <a:off x="806400" y="2205000"/>
            <a:ext cx="8229240" cy="4539960"/>
          </a:xfrm>
          <a:prstGeom prst="rect">
            <a:avLst/>
          </a:prstGeom>
          <a:ln w="936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884">
                                            <p:txEl>
                                              <p:pRg st="0" end="117"/>
                                            </p:txEl>
                                          </p:spTgt>
                                        </p:tgtEl>
                                        <p:attrNameLst>
                                          <p:attrName>style.visibility</p:attrName>
                                        </p:attrNameLst>
                                      </p:cBhvr>
                                      <p:to>
                                        <p:strVal val="visible"/>
                                      </p:to>
                                    </p:set>
                                    <p:animEffect transition="in" filter="fade">
                                      <p:cBhvr additive="repl">
                                        <p:cTn id="7" dur="500"/>
                                        <p:tgtEl>
                                          <p:spTgt spid="884">
                                            <p:txEl>
                                              <p:pRg st="0" end="117"/>
                                            </p:txEl>
                                          </p:spTgt>
                                        </p:tgtEl>
                                      </p:cBhvr>
                                    </p:animEffect>
                                  </p:childTnLst>
                                </p:cTn>
                              </p:par>
                            </p:childTnLst>
                          </p:cTn>
                        </p:par>
                        <p:par>
                          <p:cTn id="8" fill="hold">
                            <p:stCondLst>
                              <p:cond delay="500"/>
                            </p:stCondLst>
                            <p:childTnLst>
                              <p:par>
                                <p:cTn id="9" presetID="10" presetClass="entr" fill="hold" nodeType="afterEffect">
                                  <p:stCondLst>
                                    <p:cond delay="0"/>
                                  </p:stCondLst>
                                  <p:childTnLst>
                                    <p:set>
                                      <p:cBhvr>
                                        <p:cTn id="10" dur="1" fill="hold">
                                          <p:stCondLst>
                                            <p:cond delay="0"/>
                                          </p:stCondLst>
                                        </p:cTn>
                                        <p:tgtEl>
                                          <p:spTgt spid="884">
                                            <p:txEl>
                                              <p:pRg st="117" end="181"/>
                                            </p:txEl>
                                          </p:spTgt>
                                        </p:tgtEl>
                                        <p:attrNameLst>
                                          <p:attrName>style.visibility</p:attrName>
                                        </p:attrNameLst>
                                      </p:cBhvr>
                                      <p:to>
                                        <p:strVal val="visible"/>
                                      </p:to>
                                    </p:set>
                                    <p:animEffect transition="in" filter="fade">
                                      <p:cBhvr additive="repl">
                                        <p:cTn id="11" dur="500"/>
                                        <p:tgtEl>
                                          <p:spTgt spid="884">
                                            <p:txEl>
                                              <p:pRg st="117" end="18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fill="hold" nodeType="clickEffect">
                                  <p:stCondLst>
                                    <p:cond delay="0"/>
                                  </p:stCondLst>
                                  <p:childTnLst>
                                    <p:set>
                                      <p:cBhvr>
                                        <p:cTn id="15" dur="1" fill="hold">
                                          <p:stCondLst>
                                            <p:cond delay="0"/>
                                          </p:stCondLst>
                                        </p:cTn>
                                        <p:tgtEl>
                                          <p:spTgt spid="8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 name="TextShape 1"/>
          <p:cNvSpPr txBox="1"/>
          <p:nvPr/>
        </p:nvSpPr>
        <p:spPr>
          <a:xfrm>
            <a:off x="949320" y="28440"/>
            <a:ext cx="7943400" cy="685440"/>
          </a:xfrm>
          <a:prstGeom prst="rect">
            <a:avLst/>
          </a:prstGeom>
          <a:noFill/>
          <a:ln>
            <a:noFill/>
          </a:ln>
        </p:spPr>
        <p:txBody>
          <a:bodyPr anchor="ctr"/>
          <a:lstStyle/>
          <a:p>
            <a:pPr>
              <a:lnSpc>
                <a:spcPct val="100000"/>
              </a:lnSpc>
            </a:pPr>
            <a:r>
              <a:rPr lang="id-ID" sz="2800" b="1" strike="noStrike" spc="-1">
                <a:solidFill>
                  <a:srgbClr val="FFFFFF"/>
                </a:solidFill>
                <a:uFill>
                  <a:solidFill>
                    <a:srgbClr val="FFFFFF"/>
                  </a:solidFill>
                </a:uFill>
                <a:latin typeface="Calibri"/>
                <a:ea typeface="MS PGothic"/>
              </a:rPr>
              <a:t>Demand Schedule and Total Revenue</a:t>
            </a:r>
            <a:endParaRPr lang="id-ID" sz="3200" strike="noStrike" spc="-1">
              <a:solidFill>
                <a:srgbClr val="000000"/>
              </a:solidFill>
              <a:uFill>
                <a:solidFill>
                  <a:srgbClr val="FFFFFF"/>
                </a:solidFill>
              </a:uFill>
              <a:latin typeface="Calibri"/>
            </a:endParaRPr>
          </a:p>
        </p:txBody>
      </p:sp>
      <p:sp>
        <p:nvSpPr>
          <p:cNvPr id="887" name="Line 2"/>
          <p:cNvSpPr/>
          <p:nvPr/>
        </p:nvSpPr>
        <p:spPr>
          <a:xfrm>
            <a:off x="1598400" y="1385640"/>
            <a:ext cx="2919600" cy="1397160"/>
          </a:xfrm>
          <a:prstGeom prst="line">
            <a:avLst/>
          </a:prstGeom>
          <a:ln w="30240">
            <a:solidFill>
              <a:srgbClr val="3C5DAA"/>
            </a:solidFill>
            <a:miter/>
          </a:ln>
        </p:spPr>
        <p:style>
          <a:lnRef idx="0">
            <a:scrgbClr r="0" g="0" b="0"/>
          </a:lnRef>
          <a:fillRef idx="0">
            <a:scrgbClr r="0" g="0" b="0"/>
          </a:fillRef>
          <a:effectRef idx="0">
            <a:scrgbClr r="0" g="0" b="0"/>
          </a:effectRef>
          <a:fontRef idx="minor"/>
        </p:style>
      </p:sp>
      <p:sp>
        <p:nvSpPr>
          <p:cNvPr id="888" name="CustomShape 3"/>
          <p:cNvSpPr/>
          <p:nvPr/>
        </p:nvSpPr>
        <p:spPr>
          <a:xfrm>
            <a:off x="1562040" y="1352520"/>
            <a:ext cx="72720" cy="662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89" name="CustomShape 4"/>
          <p:cNvSpPr/>
          <p:nvPr/>
        </p:nvSpPr>
        <p:spPr>
          <a:xfrm>
            <a:off x="1852560" y="1494000"/>
            <a:ext cx="72720" cy="680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90" name="CustomShape 5"/>
          <p:cNvSpPr/>
          <p:nvPr/>
        </p:nvSpPr>
        <p:spPr>
          <a:xfrm>
            <a:off x="2143080" y="1631880"/>
            <a:ext cx="74160" cy="662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91" name="CustomShape 6"/>
          <p:cNvSpPr/>
          <p:nvPr/>
        </p:nvSpPr>
        <p:spPr>
          <a:xfrm>
            <a:off x="2438280" y="1773360"/>
            <a:ext cx="74160" cy="680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92" name="CustomShape 7"/>
          <p:cNvSpPr/>
          <p:nvPr/>
        </p:nvSpPr>
        <p:spPr>
          <a:xfrm>
            <a:off x="2730600" y="1911240"/>
            <a:ext cx="72720" cy="680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93" name="CustomShape 8"/>
          <p:cNvSpPr/>
          <p:nvPr/>
        </p:nvSpPr>
        <p:spPr>
          <a:xfrm>
            <a:off x="3021120" y="2050920"/>
            <a:ext cx="74160" cy="680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94" name="CustomShape 9"/>
          <p:cNvSpPr/>
          <p:nvPr/>
        </p:nvSpPr>
        <p:spPr>
          <a:xfrm>
            <a:off x="3311640" y="2189160"/>
            <a:ext cx="74160" cy="680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95" name="CustomShape 10"/>
          <p:cNvSpPr/>
          <p:nvPr/>
        </p:nvSpPr>
        <p:spPr>
          <a:xfrm>
            <a:off x="3603600" y="2332080"/>
            <a:ext cx="72720" cy="662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96" name="CustomShape 11"/>
          <p:cNvSpPr/>
          <p:nvPr/>
        </p:nvSpPr>
        <p:spPr>
          <a:xfrm>
            <a:off x="3898800" y="2468520"/>
            <a:ext cx="72720" cy="680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97" name="CustomShape 12"/>
          <p:cNvSpPr/>
          <p:nvPr/>
        </p:nvSpPr>
        <p:spPr>
          <a:xfrm>
            <a:off x="4189320" y="2611440"/>
            <a:ext cx="74160" cy="662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98" name="CustomShape 13"/>
          <p:cNvSpPr/>
          <p:nvPr/>
        </p:nvSpPr>
        <p:spPr>
          <a:xfrm>
            <a:off x="4479840" y="2747880"/>
            <a:ext cx="74160" cy="680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899" name="CustomShape 14"/>
          <p:cNvSpPr/>
          <p:nvPr/>
        </p:nvSpPr>
        <p:spPr>
          <a:xfrm>
            <a:off x="4578120" y="2629080"/>
            <a:ext cx="111960" cy="1828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200" i="1" strike="noStrike" spc="-1">
                <a:solidFill>
                  <a:srgbClr val="000000"/>
                </a:solidFill>
                <a:uFill>
                  <a:solidFill>
                    <a:srgbClr val="FFFFFF"/>
                  </a:solidFill>
                </a:uFill>
                <a:latin typeface="Myriad Roman"/>
                <a:ea typeface="MS PGothic"/>
              </a:rPr>
              <a:t>D</a:t>
            </a:r>
            <a:endParaRPr lang="en-US" sz="1800" strike="noStrike" spc="-1">
              <a:solidFill>
                <a:srgbClr val="000000"/>
              </a:solidFill>
              <a:uFill>
                <a:solidFill>
                  <a:srgbClr val="FFFFFF"/>
                </a:solidFill>
              </a:uFill>
              <a:latin typeface="Arial"/>
            </a:endParaRPr>
          </a:p>
        </p:txBody>
      </p:sp>
      <p:sp>
        <p:nvSpPr>
          <p:cNvPr id="900" name="Line 15"/>
          <p:cNvSpPr/>
          <p:nvPr/>
        </p:nvSpPr>
        <p:spPr>
          <a:xfrm flipV="1">
            <a:off x="2217600" y="5686200"/>
            <a:ext cx="360" cy="6048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01" name="CustomShape 16"/>
          <p:cNvSpPr/>
          <p:nvPr/>
        </p:nvSpPr>
        <p:spPr>
          <a:xfrm>
            <a:off x="1390680" y="5575320"/>
            <a:ext cx="1652400" cy="83880"/>
          </a:xfrm>
          <a:custGeom>
            <a:avLst/>
            <a:gdLst/>
            <a:ahLst/>
            <a:cxnLst/>
            <a:rect l="l" t="t" r="r" b="b"/>
            <a:pathLst>
              <a:path w="448" h="25">
                <a:moveTo>
                  <a:pt x="0" y="0"/>
                </a:moveTo>
                <a:cubicBezTo>
                  <a:pt x="0" y="10"/>
                  <a:pt x="3" y="15"/>
                  <a:pt x="16" y="15"/>
                </a:cubicBezTo>
                <a:cubicBezTo>
                  <a:pt x="19" y="15"/>
                  <a:pt x="211" y="15"/>
                  <a:pt x="213" y="15"/>
                </a:cubicBezTo>
                <a:cubicBezTo>
                  <a:pt x="217" y="15"/>
                  <a:pt x="224" y="17"/>
                  <a:pt x="224" y="25"/>
                </a:cubicBezTo>
                <a:cubicBezTo>
                  <a:pt x="224" y="17"/>
                  <a:pt x="231" y="15"/>
                  <a:pt x="235" y="15"/>
                </a:cubicBezTo>
                <a:cubicBezTo>
                  <a:pt x="237" y="15"/>
                  <a:pt x="429" y="15"/>
                  <a:pt x="432" y="15"/>
                </a:cubicBezTo>
                <a:cubicBezTo>
                  <a:pt x="445" y="15"/>
                  <a:pt x="448" y="10"/>
                  <a:pt x="448" y="0"/>
                </a:cubicBezTo>
              </a:path>
            </a:pathLst>
          </a:custGeom>
          <a:noFill/>
          <a:ln w="22320">
            <a:solidFill>
              <a:srgbClr val="C7D6EE"/>
            </a:solidFill>
            <a:round/>
          </a:ln>
        </p:spPr>
        <p:style>
          <a:lnRef idx="0">
            <a:scrgbClr r="0" g="0" b="0"/>
          </a:lnRef>
          <a:fillRef idx="0">
            <a:scrgbClr r="0" g="0" b="0"/>
          </a:fillRef>
          <a:effectRef idx="0">
            <a:scrgbClr r="0" g="0" b="0"/>
          </a:effectRef>
          <a:fontRef idx="minor"/>
        </p:style>
      </p:sp>
      <p:sp>
        <p:nvSpPr>
          <p:cNvPr id="902" name="CustomShape 17"/>
          <p:cNvSpPr/>
          <p:nvPr/>
        </p:nvSpPr>
        <p:spPr>
          <a:xfrm>
            <a:off x="1620720" y="5753160"/>
            <a:ext cx="1193400" cy="647280"/>
          </a:xfrm>
          <a:custGeom>
            <a:avLst/>
            <a:gdLst/>
            <a:ahLst/>
            <a:cxnLst/>
            <a:rect l="l" t="t" r="r" b="b"/>
            <a:pathLst>
              <a:path w="324" h="133">
                <a:moveTo>
                  <a:pt x="324" y="117"/>
                </a:moveTo>
                <a:cubicBezTo>
                  <a:pt x="324" y="126"/>
                  <a:pt x="317" y="133"/>
                  <a:pt x="308" y="133"/>
                </a:cubicBezTo>
                <a:cubicBezTo>
                  <a:pt x="16" y="133"/>
                  <a:pt x="16" y="133"/>
                  <a:pt x="16" y="133"/>
                </a:cubicBezTo>
                <a:cubicBezTo>
                  <a:pt x="7" y="133"/>
                  <a:pt x="0" y="126"/>
                  <a:pt x="0" y="117"/>
                </a:cubicBezTo>
                <a:cubicBezTo>
                  <a:pt x="0" y="16"/>
                  <a:pt x="0" y="16"/>
                  <a:pt x="0" y="16"/>
                </a:cubicBezTo>
                <a:cubicBezTo>
                  <a:pt x="0" y="7"/>
                  <a:pt x="7" y="0"/>
                  <a:pt x="16" y="0"/>
                </a:cubicBezTo>
                <a:cubicBezTo>
                  <a:pt x="308" y="0"/>
                  <a:pt x="308" y="0"/>
                  <a:pt x="308" y="0"/>
                </a:cubicBezTo>
                <a:cubicBezTo>
                  <a:pt x="317" y="0"/>
                  <a:pt x="324" y="7"/>
                  <a:pt x="324" y="16"/>
                </a:cubicBezTo>
                <a:lnTo>
                  <a:pt x="324" y="117"/>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903" name="CustomShape 18"/>
          <p:cNvSpPr/>
          <p:nvPr/>
        </p:nvSpPr>
        <p:spPr>
          <a:xfrm>
            <a:off x="1677960" y="5740560"/>
            <a:ext cx="1122120" cy="8366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100" strike="noStrike" spc="-1">
                <a:solidFill>
                  <a:srgbClr val="000000"/>
                </a:solidFill>
                <a:uFill>
                  <a:solidFill>
                    <a:srgbClr val="FFFFFF"/>
                  </a:solidFill>
                </a:uFill>
                <a:latin typeface="Myriad Roman"/>
                <a:ea typeface="MS PGothic"/>
              </a:rPr>
              <a:t>Demand is elastic: a higher  price</a:t>
            </a:r>
            <a:r>
              <a:rPr lang="en-US" sz="1100" strike="noStrike" spc="-1">
                <a:solidFill>
                  <a:srgbClr val="FF0000"/>
                </a:solidFill>
                <a:uFill>
                  <a:solidFill>
                    <a:srgbClr val="FFFFFF"/>
                  </a:solidFill>
                </a:uFill>
                <a:latin typeface="Myriad Roman"/>
                <a:ea typeface="MS PGothic"/>
              </a:rPr>
              <a:t> </a:t>
            </a:r>
            <a:r>
              <a:rPr lang="en-US" sz="1100" strike="noStrike" spc="-1">
                <a:solidFill>
                  <a:srgbClr val="000000"/>
                </a:solidFill>
                <a:uFill>
                  <a:solidFill>
                    <a:srgbClr val="FFFFFF"/>
                  </a:solidFill>
                </a:uFill>
                <a:latin typeface="Myriad Roman"/>
                <a:ea typeface="MS PGothic"/>
              </a:rPr>
              <a:t>reduces total revenue</a:t>
            </a:r>
            <a:endParaRPr lang="en-US" sz="1800" strike="noStrike" spc="-1">
              <a:solidFill>
                <a:srgbClr val="000000"/>
              </a:solidFill>
              <a:uFill>
                <a:solidFill>
                  <a:srgbClr val="FFFFFF"/>
                </a:solidFill>
              </a:uFill>
              <a:latin typeface="Arial"/>
            </a:endParaRPr>
          </a:p>
        </p:txBody>
      </p:sp>
      <p:sp>
        <p:nvSpPr>
          <p:cNvPr id="904" name="CustomShape 19"/>
          <p:cNvSpPr/>
          <p:nvPr/>
        </p:nvSpPr>
        <p:spPr>
          <a:xfrm>
            <a:off x="1827360" y="4486320"/>
            <a:ext cx="128160" cy="194760"/>
          </a:xfrm>
          <a:custGeom>
            <a:avLst/>
            <a:gdLst/>
            <a:ahLst/>
            <a:cxnLst/>
            <a:rect l="l" t="t" r="r" b="b"/>
            <a:pathLst>
              <a:path w="35" h="58">
                <a:moveTo>
                  <a:pt x="17" y="10"/>
                </a:moveTo>
                <a:cubicBezTo>
                  <a:pt x="34" y="0"/>
                  <a:pt x="34" y="0"/>
                  <a:pt x="34" y="0"/>
                </a:cubicBezTo>
                <a:cubicBezTo>
                  <a:pt x="35" y="0"/>
                  <a:pt x="35" y="0"/>
                  <a:pt x="35" y="0"/>
                </a:cubicBezTo>
                <a:cubicBezTo>
                  <a:pt x="24" y="29"/>
                  <a:pt x="24" y="29"/>
                  <a:pt x="24" y="29"/>
                </a:cubicBezTo>
                <a:cubicBezTo>
                  <a:pt x="22" y="38"/>
                  <a:pt x="19" y="48"/>
                  <a:pt x="17" y="58"/>
                </a:cubicBezTo>
                <a:cubicBezTo>
                  <a:pt x="15" y="48"/>
                  <a:pt x="13" y="38"/>
                  <a:pt x="11" y="29"/>
                </a:cubicBezTo>
                <a:cubicBezTo>
                  <a:pt x="0" y="0"/>
                  <a:pt x="0" y="0"/>
                  <a:pt x="0" y="0"/>
                </a:cubicBezTo>
                <a:cubicBezTo>
                  <a:pt x="0" y="0"/>
                  <a:pt x="0" y="0"/>
                  <a:pt x="0" y="0"/>
                </a:cubicBezTo>
                <a:lnTo>
                  <a:pt x="17" y="10"/>
                </a:lnTo>
                <a:close/>
              </a:path>
            </a:pathLst>
          </a:custGeom>
          <a:solidFill>
            <a:srgbClr val="C7D6EE"/>
          </a:solidFill>
          <a:ln w="9360">
            <a:noFill/>
          </a:ln>
        </p:spPr>
        <p:style>
          <a:lnRef idx="0">
            <a:scrgbClr r="0" g="0" b="0"/>
          </a:lnRef>
          <a:fillRef idx="0">
            <a:scrgbClr r="0" g="0" b="0"/>
          </a:fillRef>
          <a:effectRef idx="0">
            <a:scrgbClr r="0" g="0" b="0"/>
          </a:effectRef>
          <a:fontRef idx="minor"/>
        </p:style>
      </p:sp>
      <p:sp>
        <p:nvSpPr>
          <p:cNvPr id="905" name="CustomShape 20"/>
          <p:cNvSpPr/>
          <p:nvPr/>
        </p:nvSpPr>
        <p:spPr>
          <a:xfrm>
            <a:off x="1531800" y="5000760"/>
            <a:ext cx="131400" cy="196560"/>
          </a:xfrm>
          <a:custGeom>
            <a:avLst/>
            <a:gdLst/>
            <a:ahLst/>
            <a:cxnLst/>
            <a:rect l="l" t="t" r="r" b="b"/>
            <a:pathLst>
              <a:path w="36" h="59">
                <a:moveTo>
                  <a:pt x="18" y="11"/>
                </a:moveTo>
                <a:cubicBezTo>
                  <a:pt x="35" y="0"/>
                  <a:pt x="35" y="0"/>
                  <a:pt x="35" y="0"/>
                </a:cubicBezTo>
                <a:cubicBezTo>
                  <a:pt x="36" y="1"/>
                  <a:pt x="36" y="1"/>
                  <a:pt x="36" y="1"/>
                </a:cubicBezTo>
                <a:cubicBezTo>
                  <a:pt x="24" y="29"/>
                  <a:pt x="24" y="29"/>
                  <a:pt x="24" y="29"/>
                </a:cubicBezTo>
                <a:cubicBezTo>
                  <a:pt x="22" y="39"/>
                  <a:pt x="20" y="49"/>
                  <a:pt x="18" y="59"/>
                </a:cubicBezTo>
                <a:cubicBezTo>
                  <a:pt x="16" y="49"/>
                  <a:pt x="14" y="39"/>
                  <a:pt x="12" y="29"/>
                </a:cubicBezTo>
                <a:cubicBezTo>
                  <a:pt x="0" y="1"/>
                  <a:pt x="0" y="1"/>
                  <a:pt x="0" y="1"/>
                </a:cubicBezTo>
                <a:cubicBezTo>
                  <a:pt x="1" y="0"/>
                  <a:pt x="1" y="0"/>
                  <a:pt x="1" y="0"/>
                </a:cubicBezTo>
                <a:lnTo>
                  <a:pt x="18" y="11"/>
                </a:lnTo>
                <a:close/>
              </a:path>
            </a:pathLst>
          </a:custGeom>
          <a:solidFill>
            <a:srgbClr val="C7D6EE"/>
          </a:solidFill>
          <a:ln w="9360">
            <a:noFill/>
          </a:ln>
        </p:spPr>
        <p:style>
          <a:lnRef idx="0">
            <a:scrgbClr r="0" g="0" b="0"/>
          </a:lnRef>
          <a:fillRef idx="0">
            <a:scrgbClr r="0" g="0" b="0"/>
          </a:fillRef>
          <a:effectRef idx="0">
            <a:scrgbClr r="0" g="0" b="0"/>
          </a:effectRef>
          <a:fontRef idx="minor"/>
        </p:style>
      </p:sp>
      <p:sp>
        <p:nvSpPr>
          <p:cNvPr id="906" name="CustomShape 21"/>
          <p:cNvSpPr/>
          <p:nvPr/>
        </p:nvSpPr>
        <p:spPr>
          <a:xfrm>
            <a:off x="2117880" y="4105440"/>
            <a:ext cx="129960" cy="198000"/>
          </a:xfrm>
          <a:custGeom>
            <a:avLst/>
            <a:gdLst/>
            <a:ahLst/>
            <a:cxnLst/>
            <a:rect l="l" t="t" r="r" b="b"/>
            <a:pathLst>
              <a:path w="35" h="59">
                <a:moveTo>
                  <a:pt x="17" y="11"/>
                </a:moveTo>
                <a:cubicBezTo>
                  <a:pt x="35" y="0"/>
                  <a:pt x="35" y="0"/>
                  <a:pt x="35" y="0"/>
                </a:cubicBezTo>
                <a:cubicBezTo>
                  <a:pt x="35" y="1"/>
                  <a:pt x="35" y="1"/>
                  <a:pt x="35" y="1"/>
                </a:cubicBezTo>
                <a:cubicBezTo>
                  <a:pt x="24" y="29"/>
                  <a:pt x="24" y="29"/>
                  <a:pt x="24" y="29"/>
                </a:cubicBezTo>
                <a:cubicBezTo>
                  <a:pt x="22" y="39"/>
                  <a:pt x="20" y="49"/>
                  <a:pt x="17" y="59"/>
                </a:cubicBezTo>
                <a:cubicBezTo>
                  <a:pt x="15" y="49"/>
                  <a:pt x="13" y="39"/>
                  <a:pt x="11" y="29"/>
                </a:cubicBezTo>
                <a:cubicBezTo>
                  <a:pt x="0" y="1"/>
                  <a:pt x="0" y="1"/>
                  <a:pt x="0" y="1"/>
                </a:cubicBezTo>
                <a:cubicBezTo>
                  <a:pt x="0" y="0"/>
                  <a:pt x="0" y="0"/>
                  <a:pt x="0" y="0"/>
                </a:cubicBezTo>
                <a:lnTo>
                  <a:pt x="17" y="11"/>
                </a:lnTo>
                <a:close/>
              </a:path>
            </a:pathLst>
          </a:custGeom>
          <a:solidFill>
            <a:srgbClr val="C7D6EE"/>
          </a:solidFill>
          <a:ln w="9360">
            <a:noFill/>
          </a:ln>
        </p:spPr>
        <p:style>
          <a:lnRef idx="0">
            <a:scrgbClr r="0" g="0" b="0"/>
          </a:lnRef>
          <a:fillRef idx="0">
            <a:scrgbClr r="0" g="0" b="0"/>
          </a:fillRef>
          <a:effectRef idx="0">
            <a:scrgbClr r="0" g="0" b="0"/>
          </a:effectRef>
          <a:fontRef idx="minor"/>
        </p:style>
      </p:sp>
      <p:sp>
        <p:nvSpPr>
          <p:cNvPr id="907" name="CustomShape 22"/>
          <p:cNvSpPr/>
          <p:nvPr/>
        </p:nvSpPr>
        <p:spPr>
          <a:xfrm>
            <a:off x="2409840" y="3824280"/>
            <a:ext cx="128160" cy="199800"/>
          </a:xfrm>
          <a:custGeom>
            <a:avLst/>
            <a:gdLst/>
            <a:ahLst/>
            <a:cxnLst/>
            <a:rect l="l" t="t" r="r" b="b"/>
            <a:pathLst>
              <a:path w="35" h="59">
                <a:moveTo>
                  <a:pt x="18" y="11"/>
                </a:moveTo>
                <a:cubicBezTo>
                  <a:pt x="35" y="0"/>
                  <a:pt x="35" y="0"/>
                  <a:pt x="35" y="0"/>
                </a:cubicBezTo>
                <a:cubicBezTo>
                  <a:pt x="35" y="1"/>
                  <a:pt x="35" y="1"/>
                  <a:pt x="35" y="1"/>
                </a:cubicBezTo>
                <a:cubicBezTo>
                  <a:pt x="24" y="29"/>
                  <a:pt x="24" y="29"/>
                  <a:pt x="24" y="29"/>
                </a:cubicBezTo>
                <a:cubicBezTo>
                  <a:pt x="22" y="39"/>
                  <a:pt x="20" y="49"/>
                  <a:pt x="18" y="59"/>
                </a:cubicBezTo>
                <a:cubicBezTo>
                  <a:pt x="15" y="49"/>
                  <a:pt x="13" y="39"/>
                  <a:pt x="11" y="29"/>
                </a:cubicBezTo>
                <a:cubicBezTo>
                  <a:pt x="0" y="1"/>
                  <a:pt x="0" y="1"/>
                  <a:pt x="0" y="1"/>
                </a:cubicBezTo>
                <a:cubicBezTo>
                  <a:pt x="0" y="0"/>
                  <a:pt x="0" y="0"/>
                  <a:pt x="0" y="0"/>
                </a:cubicBezTo>
                <a:lnTo>
                  <a:pt x="18" y="11"/>
                </a:lnTo>
                <a:close/>
              </a:path>
            </a:pathLst>
          </a:custGeom>
          <a:solidFill>
            <a:srgbClr val="C7D6EE"/>
          </a:solidFill>
          <a:ln w="9360">
            <a:noFill/>
          </a:ln>
        </p:spPr>
        <p:style>
          <a:lnRef idx="0">
            <a:scrgbClr r="0" g="0" b="0"/>
          </a:lnRef>
          <a:fillRef idx="0">
            <a:scrgbClr r="0" g="0" b="0"/>
          </a:fillRef>
          <a:effectRef idx="0">
            <a:scrgbClr r="0" g="0" b="0"/>
          </a:effectRef>
          <a:fontRef idx="minor"/>
        </p:style>
      </p:sp>
      <p:sp>
        <p:nvSpPr>
          <p:cNvPr id="908" name="CustomShape 23"/>
          <p:cNvSpPr/>
          <p:nvPr/>
        </p:nvSpPr>
        <p:spPr>
          <a:xfrm>
            <a:off x="2700360" y="3666960"/>
            <a:ext cx="128160" cy="194760"/>
          </a:xfrm>
          <a:custGeom>
            <a:avLst/>
            <a:gdLst/>
            <a:ahLst/>
            <a:cxnLst/>
            <a:rect l="l" t="t" r="r" b="b"/>
            <a:pathLst>
              <a:path w="35" h="58">
                <a:moveTo>
                  <a:pt x="18" y="10"/>
                </a:moveTo>
                <a:cubicBezTo>
                  <a:pt x="35" y="0"/>
                  <a:pt x="35" y="0"/>
                  <a:pt x="35" y="0"/>
                </a:cubicBezTo>
                <a:cubicBezTo>
                  <a:pt x="35" y="0"/>
                  <a:pt x="35" y="0"/>
                  <a:pt x="35" y="0"/>
                </a:cubicBezTo>
                <a:cubicBezTo>
                  <a:pt x="24" y="28"/>
                  <a:pt x="24" y="28"/>
                  <a:pt x="24" y="28"/>
                </a:cubicBezTo>
                <a:cubicBezTo>
                  <a:pt x="22" y="38"/>
                  <a:pt x="20" y="48"/>
                  <a:pt x="18" y="58"/>
                </a:cubicBezTo>
                <a:cubicBezTo>
                  <a:pt x="16" y="48"/>
                  <a:pt x="13" y="38"/>
                  <a:pt x="11" y="28"/>
                </a:cubicBezTo>
                <a:cubicBezTo>
                  <a:pt x="0" y="0"/>
                  <a:pt x="0" y="0"/>
                  <a:pt x="0" y="0"/>
                </a:cubicBezTo>
                <a:cubicBezTo>
                  <a:pt x="0" y="0"/>
                  <a:pt x="0" y="0"/>
                  <a:pt x="0" y="0"/>
                </a:cubicBezTo>
                <a:lnTo>
                  <a:pt x="18" y="10"/>
                </a:lnTo>
                <a:close/>
              </a:path>
            </a:pathLst>
          </a:custGeom>
          <a:solidFill>
            <a:srgbClr val="C7D6EE"/>
          </a:solidFill>
          <a:ln w="9360">
            <a:noFill/>
          </a:ln>
        </p:spPr>
        <p:style>
          <a:lnRef idx="0">
            <a:scrgbClr r="0" g="0" b="0"/>
          </a:lnRef>
          <a:fillRef idx="0">
            <a:scrgbClr r="0" g="0" b="0"/>
          </a:fillRef>
          <a:effectRef idx="0">
            <a:scrgbClr r="0" g="0" b="0"/>
          </a:effectRef>
          <a:fontRef idx="minor"/>
        </p:style>
      </p:sp>
      <p:sp>
        <p:nvSpPr>
          <p:cNvPr id="909" name="Line 24"/>
          <p:cNvSpPr/>
          <p:nvPr/>
        </p:nvSpPr>
        <p:spPr>
          <a:xfrm flipV="1">
            <a:off x="2482560" y="1385640"/>
            <a:ext cx="141480" cy="12708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10" name="Line 25"/>
          <p:cNvSpPr/>
          <p:nvPr/>
        </p:nvSpPr>
        <p:spPr>
          <a:xfrm>
            <a:off x="1888920" y="1527120"/>
            <a:ext cx="360" cy="3008160"/>
          </a:xfrm>
          <a:prstGeom prst="line">
            <a:avLst/>
          </a:prstGeom>
          <a:ln w="57240">
            <a:solidFill>
              <a:srgbClr val="C7D6EE"/>
            </a:solidFill>
            <a:miter/>
          </a:ln>
        </p:spPr>
        <p:style>
          <a:lnRef idx="0">
            <a:scrgbClr r="0" g="0" b="0"/>
          </a:lnRef>
          <a:fillRef idx="0">
            <a:scrgbClr r="0" g="0" b="0"/>
          </a:fillRef>
          <a:effectRef idx="0">
            <a:scrgbClr r="0" g="0" b="0"/>
          </a:effectRef>
          <a:fontRef idx="minor"/>
        </p:style>
      </p:sp>
      <p:sp>
        <p:nvSpPr>
          <p:cNvPr id="911" name="Line 26"/>
          <p:cNvSpPr/>
          <p:nvPr/>
        </p:nvSpPr>
        <p:spPr>
          <a:xfrm>
            <a:off x="1598400" y="1385640"/>
            <a:ext cx="360" cy="3668760"/>
          </a:xfrm>
          <a:prstGeom prst="line">
            <a:avLst/>
          </a:prstGeom>
          <a:ln w="57240">
            <a:solidFill>
              <a:srgbClr val="C7D6EE"/>
            </a:solidFill>
            <a:miter/>
          </a:ln>
        </p:spPr>
        <p:style>
          <a:lnRef idx="0">
            <a:scrgbClr r="0" g="0" b="0"/>
          </a:lnRef>
          <a:fillRef idx="0">
            <a:scrgbClr r="0" g="0" b="0"/>
          </a:fillRef>
          <a:effectRef idx="0">
            <a:scrgbClr r="0" g="0" b="0"/>
          </a:effectRef>
          <a:fontRef idx="minor"/>
        </p:style>
      </p:sp>
      <p:sp>
        <p:nvSpPr>
          <p:cNvPr id="912" name="Line 27"/>
          <p:cNvSpPr/>
          <p:nvPr/>
        </p:nvSpPr>
        <p:spPr>
          <a:xfrm>
            <a:off x="2180880" y="1665000"/>
            <a:ext cx="360" cy="2492640"/>
          </a:xfrm>
          <a:prstGeom prst="line">
            <a:avLst/>
          </a:prstGeom>
          <a:ln w="57240">
            <a:solidFill>
              <a:srgbClr val="C7D6EE"/>
            </a:solidFill>
            <a:miter/>
          </a:ln>
        </p:spPr>
        <p:style>
          <a:lnRef idx="0">
            <a:scrgbClr r="0" g="0" b="0"/>
          </a:lnRef>
          <a:fillRef idx="0">
            <a:scrgbClr r="0" g="0" b="0"/>
          </a:fillRef>
          <a:effectRef idx="0">
            <a:scrgbClr r="0" g="0" b="0"/>
          </a:effectRef>
          <a:fontRef idx="minor"/>
        </p:style>
      </p:sp>
      <p:sp>
        <p:nvSpPr>
          <p:cNvPr id="913" name="Line 28"/>
          <p:cNvSpPr/>
          <p:nvPr/>
        </p:nvSpPr>
        <p:spPr>
          <a:xfrm>
            <a:off x="2474640" y="1806480"/>
            <a:ext cx="360" cy="2071440"/>
          </a:xfrm>
          <a:prstGeom prst="line">
            <a:avLst/>
          </a:prstGeom>
          <a:ln w="57240">
            <a:solidFill>
              <a:srgbClr val="C7D6EE"/>
            </a:solidFill>
            <a:miter/>
          </a:ln>
        </p:spPr>
        <p:style>
          <a:lnRef idx="0">
            <a:scrgbClr r="0" g="0" b="0"/>
          </a:lnRef>
          <a:fillRef idx="0">
            <a:scrgbClr r="0" g="0" b="0"/>
          </a:fillRef>
          <a:effectRef idx="0">
            <a:scrgbClr r="0" g="0" b="0"/>
          </a:effectRef>
          <a:fontRef idx="minor"/>
        </p:style>
      </p:sp>
      <p:sp>
        <p:nvSpPr>
          <p:cNvPr id="914" name="Line 29"/>
          <p:cNvSpPr/>
          <p:nvPr/>
        </p:nvSpPr>
        <p:spPr>
          <a:xfrm>
            <a:off x="2766960" y="1947600"/>
            <a:ext cx="360" cy="1770120"/>
          </a:xfrm>
          <a:prstGeom prst="line">
            <a:avLst/>
          </a:prstGeom>
          <a:ln w="57240">
            <a:solidFill>
              <a:srgbClr val="C7D6EE"/>
            </a:solidFill>
            <a:miter/>
          </a:ln>
        </p:spPr>
        <p:style>
          <a:lnRef idx="0">
            <a:scrgbClr r="0" g="0" b="0"/>
          </a:lnRef>
          <a:fillRef idx="0">
            <a:scrgbClr r="0" g="0" b="0"/>
          </a:fillRef>
          <a:effectRef idx="0">
            <a:scrgbClr r="0" g="0" b="0"/>
          </a:effectRef>
          <a:fontRef idx="minor"/>
        </p:style>
      </p:sp>
      <p:sp>
        <p:nvSpPr>
          <p:cNvPr id="915" name="CustomShape 30"/>
          <p:cNvSpPr/>
          <p:nvPr/>
        </p:nvSpPr>
        <p:spPr>
          <a:xfrm>
            <a:off x="1816200" y="4694400"/>
            <a:ext cx="147240" cy="502920"/>
          </a:xfrm>
          <a:prstGeom prst="rect">
            <a:avLst/>
          </a:prstGeom>
          <a:solidFill>
            <a:srgbClr val="CFE4AE"/>
          </a:solidFill>
          <a:ln w="9360">
            <a:noFill/>
          </a:ln>
        </p:spPr>
        <p:style>
          <a:lnRef idx="0">
            <a:scrgbClr r="0" g="0" b="0"/>
          </a:lnRef>
          <a:fillRef idx="0">
            <a:scrgbClr r="0" g="0" b="0"/>
          </a:fillRef>
          <a:effectRef idx="0">
            <a:scrgbClr r="0" g="0" b="0"/>
          </a:effectRef>
          <a:fontRef idx="minor"/>
        </p:style>
      </p:sp>
      <p:sp>
        <p:nvSpPr>
          <p:cNvPr id="916" name="CustomShape 31"/>
          <p:cNvSpPr/>
          <p:nvPr/>
        </p:nvSpPr>
        <p:spPr>
          <a:xfrm>
            <a:off x="2106720" y="4303800"/>
            <a:ext cx="147240" cy="893520"/>
          </a:xfrm>
          <a:prstGeom prst="rect">
            <a:avLst/>
          </a:prstGeom>
          <a:solidFill>
            <a:srgbClr val="CFE4AE"/>
          </a:solidFill>
          <a:ln w="9360">
            <a:noFill/>
          </a:ln>
        </p:spPr>
        <p:style>
          <a:lnRef idx="0">
            <a:scrgbClr r="0" g="0" b="0"/>
          </a:lnRef>
          <a:fillRef idx="0">
            <a:scrgbClr r="0" g="0" b="0"/>
          </a:fillRef>
          <a:effectRef idx="0">
            <a:scrgbClr r="0" g="0" b="0"/>
          </a:effectRef>
          <a:fontRef idx="minor"/>
        </p:style>
      </p:sp>
      <p:sp>
        <p:nvSpPr>
          <p:cNvPr id="917" name="CustomShape 32"/>
          <p:cNvSpPr/>
          <p:nvPr/>
        </p:nvSpPr>
        <p:spPr>
          <a:xfrm>
            <a:off x="2401920" y="4024440"/>
            <a:ext cx="147240" cy="1172880"/>
          </a:xfrm>
          <a:prstGeom prst="rect">
            <a:avLst/>
          </a:prstGeom>
          <a:solidFill>
            <a:srgbClr val="CFE4AE"/>
          </a:solidFill>
          <a:ln w="9360">
            <a:noFill/>
          </a:ln>
        </p:spPr>
        <p:style>
          <a:lnRef idx="0">
            <a:scrgbClr r="0" g="0" b="0"/>
          </a:lnRef>
          <a:fillRef idx="0">
            <a:scrgbClr r="0" g="0" b="0"/>
          </a:fillRef>
          <a:effectRef idx="0">
            <a:scrgbClr r="0" g="0" b="0"/>
          </a:effectRef>
          <a:fontRef idx="minor"/>
        </p:style>
      </p:sp>
      <p:sp>
        <p:nvSpPr>
          <p:cNvPr id="918" name="CustomShape 33"/>
          <p:cNvSpPr/>
          <p:nvPr/>
        </p:nvSpPr>
        <p:spPr>
          <a:xfrm>
            <a:off x="2692440" y="3855960"/>
            <a:ext cx="147240" cy="1341000"/>
          </a:xfrm>
          <a:prstGeom prst="rect">
            <a:avLst/>
          </a:prstGeom>
          <a:solidFill>
            <a:srgbClr val="CFE4AE"/>
          </a:solidFill>
          <a:ln w="9360">
            <a:noFill/>
          </a:ln>
        </p:spPr>
        <p:style>
          <a:lnRef idx="0">
            <a:scrgbClr r="0" g="0" b="0"/>
          </a:lnRef>
          <a:fillRef idx="0">
            <a:scrgbClr r="0" g="0" b="0"/>
          </a:fillRef>
          <a:effectRef idx="0">
            <a:scrgbClr r="0" g="0" b="0"/>
          </a:effectRef>
          <a:fontRef idx="minor"/>
        </p:style>
      </p:sp>
      <p:sp>
        <p:nvSpPr>
          <p:cNvPr id="919" name="CustomShape 34"/>
          <p:cNvSpPr/>
          <p:nvPr/>
        </p:nvSpPr>
        <p:spPr>
          <a:xfrm>
            <a:off x="1698480" y="1211400"/>
            <a:ext cx="1455480" cy="729720"/>
          </a:xfrm>
          <a:custGeom>
            <a:avLst/>
            <a:gdLst/>
            <a:ahLst/>
            <a:cxnLst/>
            <a:rect l="l" t="t" r="r" b="b"/>
            <a:pathLst>
              <a:path w="395" h="217">
                <a:moveTo>
                  <a:pt x="391" y="217"/>
                </a:moveTo>
                <a:cubicBezTo>
                  <a:pt x="395" y="208"/>
                  <a:pt x="395" y="202"/>
                  <a:pt x="383" y="196"/>
                </a:cubicBezTo>
                <a:cubicBezTo>
                  <a:pt x="381" y="195"/>
                  <a:pt x="216" y="108"/>
                  <a:pt x="214" y="107"/>
                </a:cubicBezTo>
                <a:cubicBezTo>
                  <a:pt x="211" y="106"/>
                  <a:pt x="206" y="100"/>
                  <a:pt x="209" y="93"/>
                </a:cubicBezTo>
                <a:cubicBezTo>
                  <a:pt x="206" y="100"/>
                  <a:pt x="199" y="99"/>
                  <a:pt x="195" y="97"/>
                </a:cubicBezTo>
                <a:cubicBezTo>
                  <a:pt x="193" y="96"/>
                  <a:pt x="23" y="7"/>
                  <a:pt x="21" y="6"/>
                </a:cubicBezTo>
                <a:cubicBezTo>
                  <a:pt x="9" y="0"/>
                  <a:pt x="4" y="3"/>
                  <a:pt x="0" y="12"/>
                </a:cubicBezTo>
              </a:path>
            </a:pathLst>
          </a:custGeom>
          <a:noFill/>
          <a:ln w="22320">
            <a:solidFill>
              <a:srgbClr val="C7D6EE"/>
            </a:solidFill>
            <a:round/>
          </a:ln>
        </p:spPr>
        <p:style>
          <a:lnRef idx="0">
            <a:scrgbClr r="0" g="0" b="0"/>
          </a:lnRef>
          <a:fillRef idx="0">
            <a:scrgbClr r="0" g="0" b="0"/>
          </a:fillRef>
          <a:effectRef idx="0">
            <a:scrgbClr r="0" g="0" b="0"/>
          </a:effectRef>
          <a:fontRef idx="minor"/>
        </p:style>
      </p:sp>
      <p:sp>
        <p:nvSpPr>
          <p:cNvPr id="920" name="CustomShape 35"/>
          <p:cNvSpPr/>
          <p:nvPr/>
        </p:nvSpPr>
        <p:spPr>
          <a:xfrm>
            <a:off x="2593800" y="1211400"/>
            <a:ext cx="622080" cy="188640"/>
          </a:xfrm>
          <a:custGeom>
            <a:avLst/>
            <a:gdLst/>
            <a:ahLst/>
            <a:cxnLst/>
            <a:rect l="l" t="t" r="r" b="b"/>
            <a:pathLst>
              <a:path w="119" h="55">
                <a:moveTo>
                  <a:pt x="119" y="39"/>
                </a:moveTo>
                <a:cubicBezTo>
                  <a:pt x="119" y="48"/>
                  <a:pt x="112" y="55"/>
                  <a:pt x="103" y="55"/>
                </a:cubicBezTo>
                <a:cubicBezTo>
                  <a:pt x="16" y="55"/>
                  <a:pt x="16" y="55"/>
                  <a:pt x="16" y="55"/>
                </a:cubicBezTo>
                <a:cubicBezTo>
                  <a:pt x="8" y="55"/>
                  <a:pt x="0" y="48"/>
                  <a:pt x="0" y="39"/>
                </a:cubicBezTo>
                <a:cubicBezTo>
                  <a:pt x="0" y="16"/>
                  <a:pt x="0" y="16"/>
                  <a:pt x="0" y="16"/>
                </a:cubicBezTo>
                <a:cubicBezTo>
                  <a:pt x="0" y="7"/>
                  <a:pt x="8" y="0"/>
                  <a:pt x="16" y="0"/>
                </a:cubicBezTo>
                <a:cubicBezTo>
                  <a:pt x="103" y="0"/>
                  <a:pt x="103" y="0"/>
                  <a:pt x="103" y="0"/>
                </a:cubicBezTo>
                <a:cubicBezTo>
                  <a:pt x="112" y="0"/>
                  <a:pt x="119" y="7"/>
                  <a:pt x="119" y="16"/>
                </a:cubicBezTo>
                <a:lnTo>
                  <a:pt x="119" y="39"/>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921" name="CustomShape 36"/>
          <p:cNvSpPr/>
          <p:nvPr/>
        </p:nvSpPr>
        <p:spPr>
          <a:xfrm>
            <a:off x="2669040" y="1238400"/>
            <a:ext cx="460800" cy="167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gn="ctr">
              <a:lnSpc>
                <a:spcPct val="100000"/>
              </a:lnSpc>
            </a:pPr>
            <a:r>
              <a:rPr lang="en-US" sz="1100" strike="noStrike" spc="-1">
                <a:solidFill>
                  <a:srgbClr val="000000"/>
                </a:solidFill>
                <a:uFill>
                  <a:solidFill>
                    <a:srgbClr val="FFFFFF"/>
                  </a:solidFill>
                </a:uFill>
                <a:latin typeface="Myriad Roman"/>
                <a:ea typeface="MS PGothic"/>
              </a:rPr>
              <a:t>Elastic</a:t>
            </a:r>
            <a:endParaRPr lang="en-US" sz="1800" strike="noStrike" spc="-1">
              <a:solidFill>
                <a:srgbClr val="000000"/>
              </a:solidFill>
              <a:uFill>
                <a:solidFill>
                  <a:srgbClr val="FFFFFF"/>
                </a:solidFill>
              </a:uFill>
              <a:latin typeface="Arial"/>
            </a:endParaRPr>
          </a:p>
        </p:txBody>
      </p:sp>
      <p:sp>
        <p:nvSpPr>
          <p:cNvPr id="922" name="Line 37"/>
          <p:cNvSpPr/>
          <p:nvPr/>
        </p:nvSpPr>
        <p:spPr>
          <a:xfrm>
            <a:off x="4518000" y="2784240"/>
            <a:ext cx="360" cy="2270160"/>
          </a:xfrm>
          <a:prstGeom prst="line">
            <a:avLst/>
          </a:prstGeom>
          <a:ln w="57240">
            <a:solidFill>
              <a:srgbClr val="FBD4D2"/>
            </a:solidFill>
            <a:miter/>
          </a:ln>
        </p:spPr>
        <p:style>
          <a:lnRef idx="0">
            <a:scrgbClr r="0" g="0" b="0"/>
          </a:lnRef>
          <a:fillRef idx="0">
            <a:scrgbClr r="0" g="0" b="0"/>
          </a:fillRef>
          <a:effectRef idx="0">
            <a:scrgbClr r="0" g="0" b="0"/>
          </a:effectRef>
          <a:fontRef idx="minor"/>
        </p:style>
      </p:sp>
      <p:sp>
        <p:nvSpPr>
          <p:cNvPr id="923" name="CustomShape 38"/>
          <p:cNvSpPr/>
          <p:nvPr/>
        </p:nvSpPr>
        <p:spPr>
          <a:xfrm>
            <a:off x="4451400" y="5000760"/>
            <a:ext cx="131400" cy="196560"/>
          </a:xfrm>
          <a:custGeom>
            <a:avLst/>
            <a:gdLst/>
            <a:ahLst/>
            <a:cxnLst/>
            <a:rect l="l" t="t" r="r" b="b"/>
            <a:pathLst>
              <a:path w="36" h="59">
                <a:moveTo>
                  <a:pt x="18" y="11"/>
                </a:moveTo>
                <a:cubicBezTo>
                  <a:pt x="35" y="0"/>
                  <a:pt x="35" y="0"/>
                  <a:pt x="35" y="0"/>
                </a:cubicBezTo>
                <a:cubicBezTo>
                  <a:pt x="36" y="1"/>
                  <a:pt x="36" y="1"/>
                  <a:pt x="36" y="1"/>
                </a:cubicBezTo>
                <a:cubicBezTo>
                  <a:pt x="24" y="29"/>
                  <a:pt x="24" y="29"/>
                  <a:pt x="24" y="29"/>
                </a:cubicBezTo>
                <a:cubicBezTo>
                  <a:pt x="22" y="39"/>
                  <a:pt x="20" y="49"/>
                  <a:pt x="18" y="59"/>
                </a:cubicBezTo>
                <a:cubicBezTo>
                  <a:pt x="16" y="49"/>
                  <a:pt x="14" y="39"/>
                  <a:pt x="12" y="29"/>
                </a:cubicBezTo>
                <a:cubicBezTo>
                  <a:pt x="0" y="1"/>
                  <a:pt x="0" y="1"/>
                  <a:pt x="0" y="1"/>
                </a:cubicBezTo>
                <a:cubicBezTo>
                  <a:pt x="1" y="0"/>
                  <a:pt x="1" y="0"/>
                  <a:pt x="1" y="0"/>
                </a:cubicBezTo>
                <a:lnTo>
                  <a:pt x="18" y="11"/>
                </a:lnTo>
                <a:close/>
              </a:path>
            </a:pathLst>
          </a:custGeom>
          <a:solidFill>
            <a:srgbClr val="FBD4D2"/>
          </a:solidFill>
          <a:ln w="9360">
            <a:noFill/>
          </a:ln>
        </p:spPr>
        <p:style>
          <a:lnRef idx="0">
            <a:scrgbClr r="0" g="0" b="0"/>
          </a:lnRef>
          <a:fillRef idx="0">
            <a:scrgbClr r="0" g="0" b="0"/>
          </a:fillRef>
          <a:effectRef idx="0">
            <a:scrgbClr r="0" g="0" b="0"/>
          </a:effectRef>
          <a:fontRef idx="minor"/>
        </p:style>
      </p:sp>
      <p:sp>
        <p:nvSpPr>
          <p:cNvPr id="924" name="Line 39"/>
          <p:cNvSpPr/>
          <p:nvPr/>
        </p:nvSpPr>
        <p:spPr>
          <a:xfrm>
            <a:off x="3641400" y="2365200"/>
            <a:ext cx="360" cy="1512720"/>
          </a:xfrm>
          <a:prstGeom prst="line">
            <a:avLst/>
          </a:prstGeom>
          <a:ln w="57240">
            <a:solidFill>
              <a:srgbClr val="FBD4D2"/>
            </a:solidFill>
            <a:miter/>
          </a:ln>
        </p:spPr>
        <p:style>
          <a:lnRef idx="0">
            <a:scrgbClr r="0" g="0" b="0"/>
          </a:lnRef>
          <a:fillRef idx="0">
            <a:scrgbClr r="0" g="0" b="0"/>
          </a:fillRef>
          <a:effectRef idx="0">
            <a:scrgbClr r="0" g="0" b="0"/>
          </a:effectRef>
          <a:fontRef idx="minor"/>
        </p:style>
      </p:sp>
      <p:sp>
        <p:nvSpPr>
          <p:cNvPr id="925" name="CustomShape 40"/>
          <p:cNvSpPr/>
          <p:nvPr/>
        </p:nvSpPr>
        <p:spPr>
          <a:xfrm>
            <a:off x="3576600" y="3824280"/>
            <a:ext cx="129960" cy="199800"/>
          </a:xfrm>
          <a:custGeom>
            <a:avLst/>
            <a:gdLst/>
            <a:ahLst/>
            <a:cxnLst/>
            <a:rect l="l" t="t" r="r" b="b"/>
            <a:pathLst>
              <a:path w="35" h="59">
                <a:moveTo>
                  <a:pt x="17" y="11"/>
                </a:moveTo>
                <a:cubicBezTo>
                  <a:pt x="35" y="0"/>
                  <a:pt x="35" y="0"/>
                  <a:pt x="35" y="0"/>
                </a:cubicBezTo>
                <a:cubicBezTo>
                  <a:pt x="35" y="1"/>
                  <a:pt x="35" y="1"/>
                  <a:pt x="35" y="1"/>
                </a:cubicBezTo>
                <a:cubicBezTo>
                  <a:pt x="24" y="29"/>
                  <a:pt x="24" y="29"/>
                  <a:pt x="24" y="29"/>
                </a:cubicBezTo>
                <a:cubicBezTo>
                  <a:pt x="22" y="39"/>
                  <a:pt x="20" y="49"/>
                  <a:pt x="17" y="59"/>
                </a:cubicBezTo>
                <a:cubicBezTo>
                  <a:pt x="15" y="49"/>
                  <a:pt x="13" y="39"/>
                  <a:pt x="11" y="29"/>
                </a:cubicBezTo>
                <a:cubicBezTo>
                  <a:pt x="0" y="1"/>
                  <a:pt x="0" y="1"/>
                  <a:pt x="0" y="1"/>
                </a:cubicBezTo>
                <a:cubicBezTo>
                  <a:pt x="0" y="0"/>
                  <a:pt x="0" y="0"/>
                  <a:pt x="0" y="0"/>
                </a:cubicBezTo>
                <a:lnTo>
                  <a:pt x="17" y="11"/>
                </a:lnTo>
                <a:close/>
              </a:path>
            </a:pathLst>
          </a:custGeom>
          <a:solidFill>
            <a:srgbClr val="FBD4D2"/>
          </a:solidFill>
          <a:ln w="9360">
            <a:noFill/>
          </a:ln>
        </p:spPr>
        <p:style>
          <a:lnRef idx="0">
            <a:scrgbClr r="0" g="0" b="0"/>
          </a:lnRef>
          <a:fillRef idx="0">
            <a:scrgbClr r="0" g="0" b="0"/>
          </a:fillRef>
          <a:effectRef idx="0">
            <a:scrgbClr r="0" g="0" b="0"/>
          </a:effectRef>
          <a:fontRef idx="minor"/>
        </p:style>
      </p:sp>
      <p:sp>
        <p:nvSpPr>
          <p:cNvPr id="926" name="Line 41"/>
          <p:cNvSpPr/>
          <p:nvPr/>
        </p:nvSpPr>
        <p:spPr>
          <a:xfrm>
            <a:off x="3349440" y="2224080"/>
            <a:ext cx="360" cy="1493640"/>
          </a:xfrm>
          <a:prstGeom prst="line">
            <a:avLst/>
          </a:prstGeom>
          <a:ln w="57240">
            <a:solidFill>
              <a:srgbClr val="FBD4D2"/>
            </a:solidFill>
            <a:miter/>
          </a:ln>
        </p:spPr>
        <p:style>
          <a:lnRef idx="0">
            <a:scrgbClr r="0" g="0" b="0"/>
          </a:lnRef>
          <a:fillRef idx="0">
            <a:scrgbClr r="0" g="0" b="0"/>
          </a:fillRef>
          <a:effectRef idx="0">
            <a:scrgbClr r="0" g="0" b="0"/>
          </a:effectRef>
          <a:fontRef idx="minor"/>
        </p:style>
      </p:sp>
      <p:sp>
        <p:nvSpPr>
          <p:cNvPr id="927" name="CustomShape 42"/>
          <p:cNvSpPr/>
          <p:nvPr/>
        </p:nvSpPr>
        <p:spPr>
          <a:xfrm>
            <a:off x="3286080" y="3666960"/>
            <a:ext cx="129960" cy="194760"/>
          </a:xfrm>
          <a:custGeom>
            <a:avLst/>
            <a:gdLst/>
            <a:ahLst/>
            <a:cxnLst/>
            <a:rect l="l" t="t" r="r" b="b"/>
            <a:pathLst>
              <a:path w="35" h="58">
                <a:moveTo>
                  <a:pt x="17" y="10"/>
                </a:moveTo>
                <a:cubicBezTo>
                  <a:pt x="34" y="0"/>
                  <a:pt x="34" y="0"/>
                  <a:pt x="34" y="0"/>
                </a:cubicBezTo>
                <a:cubicBezTo>
                  <a:pt x="35" y="0"/>
                  <a:pt x="35" y="0"/>
                  <a:pt x="35" y="0"/>
                </a:cubicBezTo>
                <a:cubicBezTo>
                  <a:pt x="24" y="28"/>
                  <a:pt x="24" y="28"/>
                  <a:pt x="24" y="28"/>
                </a:cubicBezTo>
                <a:cubicBezTo>
                  <a:pt x="22" y="38"/>
                  <a:pt x="19" y="48"/>
                  <a:pt x="17" y="58"/>
                </a:cubicBezTo>
                <a:cubicBezTo>
                  <a:pt x="15" y="48"/>
                  <a:pt x="13" y="38"/>
                  <a:pt x="11" y="28"/>
                </a:cubicBezTo>
                <a:cubicBezTo>
                  <a:pt x="0" y="0"/>
                  <a:pt x="0" y="0"/>
                  <a:pt x="0" y="0"/>
                </a:cubicBezTo>
                <a:cubicBezTo>
                  <a:pt x="0" y="0"/>
                  <a:pt x="0" y="0"/>
                  <a:pt x="0" y="0"/>
                </a:cubicBezTo>
                <a:lnTo>
                  <a:pt x="17" y="10"/>
                </a:lnTo>
                <a:close/>
              </a:path>
            </a:pathLst>
          </a:custGeom>
          <a:solidFill>
            <a:srgbClr val="FBD4D2"/>
          </a:solidFill>
          <a:ln w="9360">
            <a:noFill/>
          </a:ln>
        </p:spPr>
        <p:style>
          <a:lnRef idx="0">
            <a:scrgbClr r="0" g="0" b="0"/>
          </a:lnRef>
          <a:fillRef idx="0">
            <a:scrgbClr r="0" g="0" b="0"/>
          </a:fillRef>
          <a:effectRef idx="0">
            <a:scrgbClr r="0" g="0" b="0"/>
          </a:effectRef>
          <a:fontRef idx="minor"/>
        </p:style>
      </p:sp>
      <p:sp>
        <p:nvSpPr>
          <p:cNvPr id="928" name="Line 43"/>
          <p:cNvSpPr/>
          <p:nvPr/>
        </p:nvSpPr>
        <p:spPr>
          <a:xfrm>
            <a:off x="3935160" y="2506320"/>
            <a:ext cx="360" cy="1651320"/>
          </a:xfrm>
          <a:prstGeom prst="line">
            <a:avLst/>
          </a:prstGeom>
          <a:ln w="57240">
            <a:solidFill>
              <a:srgbClr val="FBD4D2"/>
            </a:solidFill>
            <a:miter/>
          </a:ln>
        </p:spPr>
        <p:style>
          <a:lnRef idx="0">
            <a:scrgbClr r="0" g="0" b="0"/>
          </a:lnRef>
          <a:fillRef idx="0">
            <a:scrgbClr r="0" g="0" b="0"/>
          </a:fillRef>
          <a:effectRef idx="0">
            <a:scrgbClr r="0" g="0" b="0"/>
          </a:effectRef>
          <a:fontRef idx="minor"/>
        </p:style>
      </p:sp>
      <p:sp>
        <p:nvSpPr>
          <p:cNvPr id="929" name="CustomShape 44"/>
          <p:cNvSpPr/>
          <p:nvPr/>
        </p:nvSpPr>
        <p:spPr>
          <a:xfrm>
            <a:off x="3868560" y="4105440"/>
            <a:ext cx="129960" cy="198000"/>
          </a:xfrm>
          <a:custGeom>
            <a:avLst/>
            <a:gdLst/>
            <a:ahLst/>
            <a:cxnLst/>
            <a:rect l="l" t="t" r="r" b="b"/>
            <a:pathLst>
              <a:path w="35" h="59">
                <a:moveTo>
                  <a:pt x="18" y="11"/>
                </a:moveTo>
                <a:cubicBezTo>
                  <a:pt x="35" y="0"/>
                  <a:pt x="35" y="0"/>
                  <a:pt x="35" y="0"/>
                </a:cubicBezTo>
                <a:cubicBezTo>
                  <a:pt x="35" y="1"/>
                  <a:pt x="35" y="1"/>
                  <a:pt x="35" y="1"/>
                </a:cubicBezTo>
                <a:cubicBezTo>
                  <a:pt x="24" y="29"/>
                  <a:pt x="24" y="29"/>
                  <a:pt x="24" y="29"/>
                </a:cubicBezTo>
                <a:cubicBezTo>
                  <a:pt x="22" y="39"/>
                  <a:pt x="20" y="49"/>
                  <a:pt x="18" y="59"/>
                </a:cubicBezTo>
                <a:cubicBezTo>
                  <a:pt x="15" y="49"/>
                  <a:pt x="13" y="39"/>
                  <a:pt x="11" y="29"/>
                </a:cubicBezTo>
                <a:cubicBezTo>
                  <a:pt x="0" y="1"/>
                  <a:pt x="0" y="1"/>
                  <a:pt x="0" y="1"/>
                </a:cubicBezTo>
                <a:cubicBezTo>
                  <a:pt x="0" y="0"/>
                  <a:pt x="0" y="0"/>
                  <a:pt x="0" y="0"/>
                </a:cubicBezTo>
                <a:lnTo>
                  <a:pt x="18" y="11"/>
                </a:lnTo>
                <a:close/>
              </a:path>
            </a:pathLst>
          </a:custGeom>
          <a:solidFill>
            <a:srgbClr val="FBD4D2"/>
          </a:solidFill>
          <a:ln w="9360">
            <a:noFill/>
          </a:ln>
        </p:spPr>
        <p:style>
          <a:lnRef idx="0">
            <a:scrgbClr r="0" g="0" b="0"/>
          </a:lnRef>
          <a:fillRef idx="0">
            <a:scrgbClr r="0" g="0" b="0"/>
          </a:fillRef>
          <a:effectRef idx="0">
            <a:scrgbClr r="0" g="0" b="0"/>
          </a:effectRef>
          <a:fontRef idx="minor"/>
        </p:style>
      </p:sp>
      <p:sp>
        <p:nvSpPr>
          <p:cNvPr id="930" name="Line 45"/>
          <p:cNvSpPr/>
          <p:nvPr/>
        </p:nvSpPr>
        <p:spPr>
          <a:xfrm>
            <a:off x="4225680" y="2647800"/>
            <a:ext cx="360" cy="1900080"/>
          </a:xfrm>
          <a:prstGeom prst="line">
            <a:avLst/>
          </a:prstGeom>
          <a:ln w="57240">
            <a:solidFill>
              <a:srgbClr val="FBD4D2"/>
            </a:solidFill>
            <a:miter/>
          </a:ln>
        </p:spPr>
        <p:style>
          <a:lnRef idx="0">
            <a:scrgbClr r="0" g="0" b="0"/>
          </a:lnRef>
          <a:fillRef idx="0">
            <a:scrgbClr r="0" g="0" b="0"/>
          </a:fillRef>
          <a:effectRef idx="0">
            <a:scrgbClr r="0" g="0" b="0"/>
          </a:effectRef>
          <a:fontRef idx="minor"/>
        </p:style>
      </p:sp>
      <p:sp>
        <p:nvSpPr>
          <p:cNvPr id="931" name="CustomShape 46"/>
          <p:cNvSpPr/>
          <p:nvPr/>
        </p:nvSpPr>
        <p:spPr>
          <a:xfrm>
            <a:off x="4160880" y="4498920"/>
            <a:ext cx="126720" cy="194760"/>
          </a:xfrm>
          <a:custGeom>
            <a:avLst/>
            <a:gdLst/>
            <a:ahLst/>
            <a:cxnLst/>
            <a:rect l="l" t="t" r="r" b="b"/>
            <a:pathLst>
              <a:path w="35" h="58">
                <a:moveTo>
                  <a:pt x="18" y="10"/>
                </a:moveTo>
                <a:cubicBezTo>
                  <a:pt x="35" y="0"/>
                  <a:pt x="35" y="0"/>
                  <a:pt x="35" y="0"/>
                </a:cubicBezTo>
                <a:cubicBezTo>
                  <a:pt x="35" y="0"/>
                  <a:pt x="35" y="0"/>
                  <a:pt x="35" y="0"/>
                </a:cubicBezTo>
                <a:cubicBezTo>
                  <a:pt x="24" y="29"/>
                  <a:pt x="24" y="29"/>
                  <a:pt x="24" y="29"/>
                </a:cubicBezTo>
                <a:cubicBezTo>
                  <a:pt x="22" y="38"/>
                  <a:pt x="20" y="48"/>
                  <a:pt x="18" y="58"/>
                </a:cubicBezTo>
                <a:cubicBezTo>
                  <a:pt x="16" y="48"/>
                  <a:pt x="13" y="38"/>
                  <a:pt x="11" y="29"/>
                </a:cubicBezTo>
                <a:cubicBezTo>
                  <a:pt x="0" y="0"/>
                  <a:pt x="0" y="0"/>
                  <a:pt x="0" y="0"/>
                </a:cubicBezTo>
                <a:cubicBezTo>
                  <a:pt x="0" y="0"/>
                  <a:pt x="0" y="0"/>
                  <a:pt x="0" y="0"/>
                </a:cubicBezTo>
                <a:lnTo>
                  <a:pt x="18" y="10"/>
                </a:lnTo>
                <a:close/>
              </a:path>
            </a:pathLst>
          </a:custGeom>
          <a:solidFill>
            <a:srgbClr val="FBD4D2"/>
          </a:solidFill>
          <a:ln w="9360">
            <a:noFill/>
          </a:ln>
        </p:spPr>
        <p:style>
          <a:lnRef idx="0">
            <a:scrgbClr r="0" g="0" b="0"/>
          </a:lnRef>
          <a:fillRef idx="0">
            <a:scrgbClr r="0" g="0" b="0"/>
          </a:fillRef>
          <a:effectRef idx="0">
            <a:scrgbClr r="0" g="0" b="0"/>
          </a:effectRef>
          <a:fontRef idx="minor"/>
        </p:style>
      </p:sp>
      <p:sp>
        <p:nvSpPr>
          <p:cNvPr id="932" name="CustomShape 47"/>
          <p:cNvSpPr/>
          <p:nvPr/>
        </p:nvSpPr>
        <p:spPr>
          <a:xfrm>
            <a:off x="3276720" y="3855960"/>
            <a:ext cx="145800" cy="1341000"/>
          </a:xfrm>
          <a:prstGeom prst="rect">
            <a:avLst/>
          </a:prstGeom>
          <a:solidFill>
            <a:srgbClr val="CFE4AE"/>
          </a:solidFill>
          <a:ln w="9360">
            <a:noFill/>
          </a:ln>
        </p:spPr>
        <p:style>
          <a:lnRef idx="0">
            <a:scrgbClr r="0" g="0" b="0"/>
          </a:lnRef>
          <a:fillRef idx="0">
            <a:scrgbClr r="0" g="0" b="0"/>
          </a:fillRef>
          <a:effectRef idx="0">
            <a:scrgbClr r="0" g="0" b="0"/>
          </a:effectRef>
          <a:fontRef idx="minor"/>
        </p:style>
      </p:sp>
      <p:sp>
        <p:nvSpPr>
          <p:cNvPr id="933" name="CustomShape 48"/>
          <p:cNvSpPr/>
          <p:nvPr/>
        </p:nvSpPr>
        <p:spPr>
          <a:xfrm>
            <a:off x="3565440" y="4024440"/>
            <a:ext cx="149040" cy="1172880"/>
          </a:xfrm>
          <a:prstGeom prst="rect">
            <a:avLst/>
          </a:prstGeom>
          <a:solidFill>
            <a:srgbClr val="CFE4AE"/>
          </a:solidFill>
          <a:ln w="9360">
            <a:noFill/>
          </a:ln>
        </p:spPr>
        <p:style>
          <a:lnRef idx="0">
            <a:scrgbClr r="0" g="0" b="0"/>
          </a:lnRef>
          <a:fillRef idx="0">
            <a:scrgbClr r="0" g="0" b="0"/>
          </a:fillRef>
          <a:effectRef idx="0">
            <a:scrgbClr r="0" g="0" b="0"/>
          </a:effectRef>
          <a:fontRef idx="minor"/>
        </p:style>
      </p:sp>
      <p:sp>
        <p:nvSpPr>
          <p:cNvPr id="934" name="CustomShape 49"/>
          <p:cNvSpPr/>
          <p:nvPr/>
        </p:nvSpPr>
        <p:spPr>
          <a:xfrm>
            <a:off x="3860640" y="4303800"/>
            <a:ext cx="147240" cy="893520"/>
          </a:xfrm>
          <a:prstGeom prst="rect">
            <a:avLst/>
          </a:prstGeom>
          <a:solidFill>
            <a:srgbClr val="CFE4AE"/>
          </a:solidFill>
          <a:ln w="9360">
            <a:noFill/>
          </a:ln>
        </p:spPr>
        <p:style>
          <a:lnRef idx="0">
            <a:scrgbClr r="0" g="0" b="0"/>
          </a:lnRef>
          <a:fillRef idx="0">
            <a:scrgbClr r="0" g="0" b="0"/>
          </a:fillRef>
          <a:effectRef idx="0">
            <a:scrgbClr r="0" g="0" b="0"/>
          </a:effectRef>
          <a:fontRef idx="minor"/>
        </p:style>
      </p:sp>
      <p:sp>
        <p:nvSpPr>
          <p:cNvPr id="935" name="CustomShape 50"/>
          <p:cNvSpPr/>
          <p:nvPr/>
        </p:nvSpPr>
        <p:spPr>
          <a:xfrm>
            <a:off x="4152960" y="4694400"/>
            <a:ext cx="147240" cy="502920"/>
          </a:xfrm>
          <a:prstGeom prst="rect">
            <a:avLst/>
          </a:prstGeom>
          <a:solidFill>
            <a:srgbClr val="CFE4AE"/>
          </a:solidFill>
          <a:ln w="9360">
            <a:noFill/>
          </a:ln>
        </p:spPr>
        <p:style>
          <a:lnRef idx="0">
            <a:scrgbClr r="0" g="0" b="0"/>
          </a:lnRef>
          <a:fillRef idx="0">
            <a:scrgbClr r="0" g="0" b="0"/>
          </a:fillRef>
          <a:effectRef idx="0">
            <a:scrgbClr r="0" g="0" b="0"/>
          </a:effectRef>
          <a:fontRef idx="minor"/>
        </p:style>
      </p:sp>
      <p:sp>
        <p:nvSpPr>
          <p:cNvPr id="936" name="CustomShape 51"/>
          <p:cNvSpPr/>
          <p:nvPr/>
        </p:nvSpPr>
        <p:spPr>
          <a:xfrm>
            <a:off x="3154320" y="1905120"/>
            <a:ext cx="1441080" cy="721800"/>
          </a:xfrm>
          <a:custGeom>
            <a:avLst/>
            <a:gdLst/>
            <a:ahLst/>
            <a:cxnLst/>
            <a:rect l="l" t="t" r="r" b="b"/>
            <a:pathLst>
              <a:path w="391" h="215">
                <a:moveTo>
                  <a:pt x="386" y="215"/>
                </a:moveTo>
                <a:cubicBezTo>
                  <a:pt x="391" y="206"/>
                  <a:pt x="391" y="200"/>
                  <a:pt x="379" y="194"/>
                </a:cubicBezTo>
                <a:cubicBezTo>
                  <a:pt x="377" y="193"/>
                  <a:pt x="215" y="108"/>
                  <a:pt x="213" y="107"/>
                </a:cubicBezTo>
                <a:cubicBezTo>
                  <a:pt x="210" y="105"/>
                  <a:pt x="205" y="100"/>
                  <a:pt x="209" y="93"/>
                </a:cubicBezTo>
                <a:cubicBezTo>
                  <a:pt x="205" y="100"/>
                  <a:pt x="198" y="99"/>
                  <a:pt x="195" y="97"/>
                </a:cubicBezTo>
                <a:cubicBezTo>
                  <a:pt x="193" y="96"/>
                  <a:pt x="24" y="8"/>
                  <a:pt x="22" y="6"/>
                </a:cubicBezTo>
                <a:cubicBezTo>
                  <a:pt x="10" y="0"/>
                  <a:pt x="5" y="3"/>
                  <a:pt x="0" y="12"/>
                </a:cubicBezTo>
              </a:path>
            </a:pathLst>
          </a:custGeom>
          <a:noFill/>
          <a:ln w="22320">
            <a:solidFill>
              <a:srgbClr val="FBD4D2"/>
            </a:solidFill>
            <a:round/>
          </a:ln>
        </p:spPr>
        <p:style>
          <a:lnRef idx="0">
            <a:scrgbClr r="0" g="0" b="0"/>
          </a:lnRef>
          <a:fillRef idx="0">
            <a:scrgbClr r="0" g="0" b="0"/>
          </a:fillRef>
          <a:effectRef idx="0">
            <a:scrgbClr r="0" g="0" b="0"/>
          </a:effectRef>
          <a:fontRef idx="minor"/>
        </p:style>
      </p:sp>
      <p:sp>
        <p:nvSpPr>
          <p:cNvPr id="937" name="Line 52"/>
          <p:cNvSpPr/>
          <p:nvPr/>
        </p:nvSpPr>
        <p:spPr>
          <a:xfrm flipV="1">
            <a:off x="3938400" y="2077920"/>
            <a:ext cx="141120" cy="12528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38" name="CustomShape 53"/>
          <p:cNvSpPr/>
          <p:nvPr/>
        </p:nvSpPr>
        <p:spPr>
          <a:xfrm>
            <a:off x="4049640" y="1879560"/>
            <a:ext cx="664920" cy="209160"/>
          </a:xfrm>
          <a:custGeom>
            <a:avLst/>
            <a:gdLst/>
            <a:ahLst/>
            <a:cxnLst/>
            <a:rect l="l" t="t" r="r" b="b"/>
            <a:pathLst>
              <a:path w="149" h="56">
                <a:moveTo>
                  <a:pt x="149" y="40"/>
                </a:moveTo>
                <a:cubicBezTo>
                  <a:pt x="149" y="49"/>
                  <a:pt x="141" y="56"/>
                  <a:pt x="133" y="56"/>
                </a:cubicBezTo>
                <a:cubicBezTo>
                  <a:pt x="16" y="56"/>
                  <a:pt x="16" y="56"/>
                  <a:pt x="16" y="56"/>
                </a:cubicBezTo>
                <a:cubicBezTo>
                  <a:pt x="8" y="56"/>
                  <a:pt x="0" y="49"/>
                  <a:pt x="0" y="40"/>
                </a:cubicBezTo>
                <a:cubicBezTo>
                  <a:pt x="0" y="16"/>
                  <a:pt x="0" y="16"/>
                  <a:pt x="0" y="16"/>
                </a:cubicBezTo>
                <a:cubicBezTo>
                  <a:pt x="0" y="8"/>
                  <a:pt x="8" y="0"/>
                  <a:pt x="16" y="0"/>
                </a:cubicBezTo>
                <a:cubicBezTo>
                  <a:pt x="133" y="0"/>
                  <a:pt x="133" y="0"/>
                  <a:pt x="133" y="0"/>
                </a:cubicBezTo>
                <a:cubicBezTo>
                  <a:pt x="141" y="0"/>
                  <a:pt x="149" y="8"/>
                  <a:pt x="149" y="16"/>
                </a:cubicBezTo>
                <a:lnTo>
                  <a:pt x="149" y="40"/>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939" name="CustomShape 54"/>
          <p:cNvSpPr/>
          <p:nvPr/>
        </p:nvSpPr>
        <p:spPr>
          <a:xfrm>
            <a:off x="4088520" y="1879560"/>
            <a:ext cx="588960" cy="167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gn="ctr">
              <a:lnSpc>
                <a:spcPct val="100000"/>
              </a:lnSpc>
            </a:pPr>
            <a:r>
              <a:rPr lang="en-US" sz="1100" strike="noStrike" spc="-1">
                <a:solidFill>
                  <a:srgbClr val="000000"/>
                </a:solidFill>
                <a:uFill>
                  <a:solidFill>
                    <a:srgbClr val="FFFFFF"/>
                  </a:solidFill>
                </a:uFill>
                <a:latin typeface="Myriad Roman"/>
                <a:ea typeface="MS PGothic"/>
              </a:rPr>
              <a:t>Inelastic</a:t>
            </a:r>
            <a:endParaRPr lang="en-US" sz="1800" strike="noStrike" spc="-1">
              <a:solidFill>
                <a:srgbClr val="000000"/>
              </a:solidFill>
              <a:uFill>
                <a:solidFill>
                  <a:srgbClr val="FFFFFF"/>
                </a:solidFill>
              </a:uFill>
              <a:latin typeface="Arial"/>
            </a:endParaRPr>
          </a:p>
        </p:txBody>
      </p:sp>
      <p:sp>
        <p:nvSpPr>
          <p:cNvPr id="940" name="CustomShape 55"/>
          <p:cNvSpPr/>
          <p:nvPr/>
        </p:nvSpPr>
        <p:spPr>
          <a:xfrm>
            <a:off x="2992320" y="3603600"/>
            <a:ext cx="131400" cy="194760"/>
          </a:xfrm>
          <a:custGeom>
            <a:avLst/>
            <a:gdLst/>
            <a:ahLst/>
            <a:cxnLst/>
            <a:rect l="l" t="t" r="r" b="b"/>
            <a:pathLst>
              <a:path w="36" h="58">
                <a:moveTo>
                  <a:pt x="18" y="10"/>
                </a:moveTo>
                <a:cubicBezTo>
                  <a:pt x="35" y="0"/>
                  <a:pt x="35" y="0"/>
                  <a:pt x="35" y="0"/>
                </a:cubicBezTo>
                <a:cubicBezTo>
                  <a:pt x="36" y="1"/>
                  <a:pt x="36" y="1"/>
                  <a:pt x="36" y="1"/>
                </a:cubicBezTo>
                <a:cubicBezTo>
                  <a:pt x="24" y="29"/>
                  <a:pt x="24" y="29"/>
                  <a:pt x="24" y="29"/>
                </a:cubicBezTo>
                <a:cubicBezTo>
                  <a:pt x="22" y="39"/>
                  <a:pt x="20" y="48"/>
                  <a:pt x="18" y="58"/>
                </a:cubicBezTo>
                <a:cubicBezTo>
                  <a:pt x="16" y="48"/>
                  <a:pt x="14" y="39"/>
                  <a:pt x="12" y="29"/>
                </a:cubicBezTo>
                <a:cubicBezTo>
                  <a:pt x="0" y="1"/>
                  <a:pt x="0" y="1"/>
                  <a:pt x="0" y="1"/>
                </a:cubicBezTo>
                <a:cubicBezTo>
                  <a:pt x="1" y="0"/>
                  <a:pt x="1" y="0"/>
                  <a:pt x="1" y="0"/>
                </a:cubicBezTo>
                <a:lnTo>
                  <a:pt x="18" y="10"/>
                </a:lnTo>
                <a:close/>
              </a:path>
            </a:pathLst>
          </a:custGeom>
          <a:solidFill>
            <a:srgbClr val="BCBEC0"/>
          </a:solidFill>
          <a:ln w="9360">
            <a:noFill/>
          </a:ln>
        </p:spPr>
        <p:style>
          <a:lnRef idx="0">
            <a:scrgbClr r="0" g="0" b="0"/>
          </a:lnRef>
          <a:fillRef idx="0">
            <a:scrgbClr r="0" g="0" b="0"/>
          </a:fillRef>
          <a:effectRef idx="0">
            <a:scrgbClr r="0" g="0" b="0"/>
          </a:effectRef>
          <a:fontRef idx="minor"/>
        </p:style>
      </p:sp>
      <p:sp>
        <p:nvSpPr>
          <p:cNvPr id="941" name="Line 56"/>
          <p:cNvSpPr/>
          <p:nvPr/>
        </p:nvSpPr>
        <p:spPr>
          <a:xfrm>
            <a:off x="3057480" y="2089080"/>
            <a:ext cx="360" cy="1565280"/>
          </a:xfrm>
          <a:prstGeom prst="line">
            <a:avLst/>
          </a:prstGeom>
          <a:ln w="90360">
            <a:solidFill>
              <a:srgbClr val="BCBEC0"/>
            </a:solidFill>
            <a:miter/>
          </a:ln>
        </p:spPr>
        <p:style>
          <a:lnRef idx="0">
            <a:scrgbClr r="0" g="0" b="0"/>
          </a:lnRef>
          <a:fillRef idx="0">
            <a:scrgbClr r="0" g="0" b="0"/>
          </a:fillRef>
          <a:effectRef idx="0">
            <a:scrgbClr r="0" g="0" b="0"/>
          </a:effectRef>
          <a:fontRef idx="minor"/>
        </p:style>
      </p:sp>
      <p:sp>
        <p:nvSpPr>
          <p:cNvPr id="942" name="CustomShape 57"/>
          <p:cNvSpPr/>
          <p:nvPr/>
        </p:nvSpPr>
        <p:spPr>
          <a:xfrm>
            <a:off x="2984400" y="3798720"/>
            <a:ext cx="147240" cy="1398240"/>
          </a:xfrm>
          <a:prstGeom prst="rect">
            <a:avLst/>
          </a:prstGeom>
          <a:solidFill>
            <a:srgbClr val="CFE4AE"/>
          </a:solidFill>
          <a:ln w="9360">
            <a:noFill/>
          </a:ln>
        </p:spPr>
        <p:style>
          <a:lnRef idx="0">
            <a:scrgbClr r="0" g="0" b="0"/>
          </a:lnRef>
          <a:fillRef idx="0">
            <a:scrgbClr r="0" g="0" b="0"/>
          </a:fillRef>
          <a:effectRef idx="0">
            <a:scrgbClr r="0" g="0" b="0"/>
          </a:effectRef>
          <a:fontRef idx="minor"/>
        </p:style>
      </p:sp>
      <p:sp>
        <p:nvSpPr>
          <p:cNvPr id="943" name="Line 58"/>
          <p:cNvSpPr/>
          <p:nvPr/>
        </p:nvSpPr>
        <p:spPr>
          <a:xfrm flipV="1">
            <a:off x="3105000" y="1598400"/>
            <a:ext cx="498600" cy="45072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44" name="CustomShape 59"/>
          <p:cNvSpPr/>
          <p:nvPr/>
        </p:nvSpPr>
        <p:spPr>
          <a:xfrm>
            <a:off x="3584520" y="1427040"/>
            <a:ext cx="755280" cy="178920"/>
          </a:xfrm>
          <a:custGeom>
            <a:avLst/>
            <a:gdLst/>
            <a:ahLst/>
            <a:cxnLst/>
            <a:rect l="l" t="t" r="r" b="b"/>
            <a:pathLst>
              <a:path w="183" h="57">
                <a:moveTo>
                  <a:pt x="183" y="41"/>
                </a:moveTo>
                <a:cubicBezTo>
                  <a:pt x="183" y="50"/>
                  <a:pt x="176" y="57"/>
                  <a:pt x="167" y="57"/>
                </a:cubicBezTo>
                <a:cubicBezTo>
                  <a:pt x="16" y="57"/>
                  <a:pt x="16" y="57"/>
                  <a:pt x="16" y="57"/>
                </a:cubicBezTo>
                <a:cubicBezTo>
                  <a:pt x="7" y="57"/>
                  <a:pt x="0" y="50"/>
                  <a:pt x="0" y="41"/>
                </a:cubicBezTo>
                <a:cubicBezTo>
                  <a:pt x="0" y="16"/>
                  <a:pt x="0" y="16"/>
                  <a:pt x="0" y="16"/>
                </a:cubicBezTo>
                <a:cubicBezTo>
                  <a:pt x="0" y="7"/>
                  <a:pt x="7" y="0"/>
                  <a:pt x="16" y="0"/>
                </a:cubicBezTo>
                <a:cubicBezTo>
                  <a:pt x="167" y="0"/>
                  <a:pt x="167" y="0"/>
                  <a:pt x="167" y="0"/>
                </a:cubicBezTo>
                <a:cubicBezTo>
                  <a:pt x="176" y="0"/>
                  <a:pt x="183" y="7"/>
                  <a:pt x="183" y="16"/>
                </a:cubicBezTo>
                <a:lnTo>
                  <a:pt x="183" y="41"/>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945" name="CustomShape 60"/>
          <p:cNvSpPr/>
          <p:nvPr/>
        </p:nvSpPr>
        <p:spPr>
          <a:xfrm>
            <a:off x="3635280" y="1434960"/>
            <a:ext cx="704520" cy="3344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100" strike="noStrike" spc="-1">
                <a:solidFill>
                  <a:srgbClr val="000000"/>
                </a:solidFill>
                <a:uFill>
                  <a:solidFill>
                    <a:srgbClr val="FFFFFF"/>
                  </a:solidFill>
                </a:uFill>
                <a:latin typeface="Myriad Roman"/>
                <a:ea typeface="MS PGothic"/>
              </a:rPr>
              <a:t>Unit-elastic</a:t>
            </a:r>
            <a:endParaRPr lang="en-US" sz="1800" strike="noStrike" spc="-1">
              <a:solidFill>
                <a:srgbClr val="000000"/>
              </a:solidFill>
              <a:uFill>
                <a:solidFill>
                  <a:srgbClr val="FFFFFF"/>
                </a:solidFill>
              </a:uFill>
              <a:latin typeface="Arial"/>
            </a:endParaRPr>
          </a:p>
        </p:txBody>
      </p:sp>
      <p:sp>
        <p:nvSpPr>
          <p:cNvPr id="946" name="Line 61"/>
          <p:cNvSpPr/>
          <p:nvPr/>
        </p:nvSpPr>
        <p:spPr>
          <a:xfrm flipV="1">
            <a:off x="3898800" y="5678280"/>
            <a:ext cx="360" cy="8424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47" name="CustomShape 62"/>
          <p:cNvSpPr/>
          <p:nvPr/>
        </p:nvSpPr>
        <p:spPr>
          <a:xfrm>
            <a:off x="3073320" y="5575320"/>
            <a:ext cx="1650600" cy="83880"/>
          </a:xfrm>
          <a:custGeom>
            <a:avLst/>
            <a:gdLst/>
            <a:ahLst/>
            <a:cxnLst/>
            <a:rect l="l" t="t" r="r" b="b"/>
            <a:pathLst>
              <a:path w="448" h="25">
                <a:moveTo>
                  <a:pt x="0" y="0"/>
                </a:moveTo>
                <a:cubicBezTo>
                  <a:pt x="0" y="10"/>
                  <a:pt x="3" y="15"/>
                  <a:pt x="16" y="15"/>
                </a:cubicBezTo>
                <a:cubicBezTo>
                  <a:pt x="19" y="15"/>
                  <a:pt x="211" y="15"/>
                  <a:pt x="213" y="15"/>
                </a:cubicBezTo>
                <a:cubicBezTo>
                  <a:pt x="217" y="15"/>
                  <a:pt x="224" y="17"/>
                  <a:pt x="224" y="25"/>
                </a:cubicBezTo>
                <a:cubicBezTo>
                  <a:pt x="224" y="17"/>
                  <a:pt x="231" y="15"/>
                  <a:pt x="235" y="15"/>
                </a:cubicBezTo>
                <a:cubicBezTo>
                  <a:pt x="237" y="15"/>
                  <a:pt x="429" y="15"/>
                  <a:pt x="432" y="15"/>
                </a:cubicBezTo>
                <a:cubicBezTo>
                  <a:pt x="445" y="15"/>
                  <a:pt x="448" y="10"/>
                  <a:pt x="448" y="0"/>
                </a:cubicBezTo>
              </a:path>
            </a:pathLst>
          </a:custGeom>
          <a:noFill/>
          <a:ln w="22320">
            <a:solidFill>
              <a:srgbClr val="FBD4D2"/>
            </a:solidFill>
            <a:round/>
          </a:ln>
        </p:spPr>
        <p:style>
          <a:lnRef idx="0">
            <a:scrgbClr r="0" g="0" b="0"/>
          </a:lnRef>
          <a:fillRef idx="0">
            <a:scrgbClr r="0" g="0" b="0"/>
          </a:fillRef>
          <a:effectRef idx="0">
            <a:scrgbClr r="0" g="0" b="0"/>
          </a:effectRef>
          <a:fontRef idx="minor"/>
        </p:style>
      </p:sp>
      <p:sp>
        <p:nvSpPr>
          <p:cNvPr id="948" name="CustomShape 63"/>
          <p:cNvSpPr/>
          <p:nvPr/>
        </p:nvSpPr>
        <p:spPr>
          <a:xfrm>
            <a:off x="3265560" y="5753160"/>
            <a:ext cx="1598400" cy="555120"/>
          </a:xfrm>
          <a:custGeom>
            <a:avLst/>
            <a:gdLst/>
            <a:ahLst/>
            <a:cxnLst/>
            <a:rect l="l" t="t" r="r" b="b"/>
            <a:pathLst>
              <a:path w="345" h="133">
                <a:moveTo>
                  <a:pt x="345" y="117"/>
                </a:moveTo>
                <a:cubicBezTo>
                  <a:pt x="345" y="126"/>
                  <a:pt x="338" y="133"/>
                  <a:pt x="329" y="133"/>
                </a:cubicBezTo>
                <a:cubicBezTo>
                  <a:pt x="16" y="133"/>
                  <a:pt x="16" y="133"/>
                  <a:pt x="16" y="133"/>
                </a:cubicBezTo>
                <a:cubicBezTo>
                  <a:pt x="8" y="133"/>
                  <a:pt x="0" y="126"/>
                  <a:pt x="0" y="117"/>
                </a:cubicBezTo>
                <a:cubicBezTo>
                  <a:pt x="0" y="16"/>
                  <a:pt x="0" y="16"/>
                  <a:pt x="0" y="16"/>
                </a:cubicBezTo>
                <a:cubicBezTo>
                  <a:pt x="0" y="7"/>
                  <a:pt x="8" y="0"/>
                  <a:pt x="16" y="0"/>
                </a:cubicBezTo>
                <a:cubicBezTo>
                  <a:pt x="329" y="0"/>
                  <a:pt x="329" y="0"/>
                  <a:pt x="329" y="0"/>
                </a:cubicBezTo>
                <a:cubicBezTo>
                  <a:pt x="338" y="0"/>
                  <a:pt x="345" y="7"/>
                  <a:pt x="345" y="16"/>
                </a:cubicBezTo>
                <a:lnTo>
                  <a:pt x="345" y="117"/>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949" name="CustomShape 64"/>
          <p:cNvSpPr/>
          <p:nvPr/>
        </p:nvSpPr>
        <p:spPr>
          <a:xfrm>
            <a:off x="3360600" y="5745240"/>
            <a:ext cx="1395000" cy="6692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100" strike="noStrike" spc="-1">
                <a:solidFill>
                  <a:srgbClr val="000000"/>
                </a:solidFill>
                <a:uFill>
                  <a:solidFill>
                    <a:srgbClr val="FFFFFF"/>
                  </a:solidFill>
                </a:uFill>
                <a:latin typeface="Myriad Roman"/>
                <a:ea typeface="MS PGothic"/>
              </a:rPr>
              <a:t>Demand is inelastic: a higher price increases total revenue</a:t>
            </a:r>
            <a:endParaRPr lang="en-US" sz="1800" strike="noStrike" spc="-1">
              <a:solidFill>
                <a:srgbClr val="000000"/>
              </a:solidFill>
              <a:uFill>
                <a:solidFill>
                  <a:srgbClr val="FFFFFF"/>
                </a:solidFill>
              </a:uFill>
              <a:latin typeface="Arial"/>
            </a:endParaRPr>
          </a:p>
        </p:txBody>
      </p:sp>
      <p:sp>
        <p:nvSpPr>
          <p:cNvPr id="950" name="Line 65"/>
          <p:cNvSpPr/>
          <p:nvPr/>
        </p:nvSpPr>
        <p:spPr>
          <a:xfrm>
            <a:off x="1377720" y="3798720"/>
            <a:ext cx="8892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51" name="Line 66"/>
          <p:cNvSpPr/>
          <p:nvPr/>
        </p:nvSpPr>
        <p:spPr>
          <a:xfrm>
            <a:off x="1377720" y="3855960"/>
            <a:ext cx="8892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52" name="Line 67"/>
          <p:cNvSpPr/>
          <p:nvPr/>
        </p:nvSpPr>
        <p:spPr>
          <a:xfrm>
            <a:off x="1377720" y="4024080"/>
            <a:ext cx="8892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53" name="Line 68"/>
          <p:cNvSpPr/>
          <p:nvPr/>
        </p:nvSpPr>
        <p:spPr>
          <a:xfrm>
            <a:off x="1377720" y="4303440"/>
            <a:ext cx="8892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54" name="Line 69"/>
          <p:cNvSpPr/>
          <p:nvPr/>
        </p:nvSpPr>
        <p:spPr>
          <a:xfrm>
            <a:off x="1377720" y="4694040"/>
            <a:ext cx="8892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55" name="CustomShape 70"/>
          <p:cNvSpPr/>
          <p:nvPr/>
        </p:nvSpPr>
        <p:spPr>
          <a:xfrm>
            <a:off x="1226160" y="512748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956" name="CustomShape 71"/>
          <p:cNvSpPr/>
          <p:nvPr/>
        </p:nvSpPr>
        <p:spPr>
          <a:xfrm>
            <a:off x="1556640" y="522144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957" name="CustomShape 72"/>
          <p:cNvSpPr/>
          <p:nvPr/>
        </p:nvSpPr>
        <p:spPr>
          <a:xfrm>
            <a:off x="1848600" y="522144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1</a:t>
            </a:r>
            <a:endParaRPr lang="en-US" sz="1800" strike="noStrike" spc="-1">
              <a:solidFill>
                <a:srgbClr val="000000"/>
              </a:solidFill>
              <a:uFill>
                <a:solidFill>
                  <a:srgbClr val="FFFFFF"/>
                </a:solidFill>
              </a:uFill>
              <a:latin typeface="Arial"/>
            </a:endParaRPr>
          </a:p>
        </p:txBody>
      </p:sp>
      <p:sp>
        <p:nvSpPr>
          <p:cNvPr id="958" name="CustomShape 73"/>
          <p:cNvSpPr/>
          <p:nvPr/>
        </p:nvSpPr>
        <p:spPr>
          <a:xfrm>
            <a:off x="2140560" y="522144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2</a:t>
            </a:r>
            <a:endParaRPr lang="en-US" sz="1800" strike="noStrike" spc="-1">
              <a:solidFill>
                <a:srgbClr val="000000"/>
              </a:solidFill>
              <a:uFill>
                <a:solidFill>
                  <a:srgbClr val="FFFFFF"/>
                </a:solidFill>
              </a:uFill>
              <a:latin typeface="Arial"/>
            </a:endParaRPr>
          </a:p>
        </p:txBody>
      </p:sp>
      <p:sp>
        <p:nvSpPr>
          <p:cNvPr id="959" name="CustomShape 74"/>
          <p:cNvSpPr/>
          <p:nvPr/>
        </p:nvSpPr>
        <p:spPr>
          <a:xfrm>
            <a:off x="2432880" y="522144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3</a:t>
            </a:r>
            <a:endParaRPr lang="en-US" sz="1800" strike="noStrike" spc="-1">
              <a:solidFill>
                <a:srgbClr val="000000"/>
              </a:solidFill>
              <a:uFill>
                <a:solidFill>
                  <a:srgbClr val="FFFFFF"/>
                </a:solidFill>
              </a:uFill>
              <a:latin typeface="Arial"/>
            </a:endParaRPr>
          </a:p>
        </p:txBody>
      </p:sp>
      <p:sp>
        <p:nvSpPr>
          <p:cNvPr id="960" name="CustomShape 75"/>
          <p:cNvSpPr/>
          <p:nvPr/>
        </p:nvSpPr>
        <p:spPr>
          <a:xfrm>
            <a:off x="2723400" y="522144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4</a:t>
            </a:r>
            <a:endParaRPr lang="en-US" sz="1800" strike="noStrike" spc="-1">
              <a:solidFill>
                <a:srgbClr val="000000"/>
              </a:solidFill>
              <a:uFill>
                <a:solidFill>
                  <a:srgbClr val="FFFFFF"/>
                </a:solidFill>
              </a:uFill>
              <a:latin typeface="Arial"/>
            </a:endParaRPr>
          </a:p>
        </p:txBody>
      </p:sp>
      <p:sp>
        <p:nvSpPr>
          <p:cNvPr id="961" name="CustomShape 76"/>
          <p:cNvSpPr/>
          <p:nvPr/>
        </p:nvSpPr>
        <p:spPr>
          <a:xfrm>
            <a:off x="3017160" y="522144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5</a:t>
            </a:r>
            <a:endParaRPr lang="en-US" sz="1800" strike="noStrike" spc="-1">
              <a:solidFill>
                <a:srgbClr val="000000"/>
              </a:solidFill>
              <a:uFill>
                <a:solidFill>
                  <a:srgbClr val="FFFFFF"/>
                </a:solidFill>
              </a:uFill>
              <a:latin typeface="Arial"/>
            </a:endParaRPr>
          </a:p>
        </p:txBody>
      </p:sp>
      <p:sp>
        <p:nvSpPr>
          <p:cNvPr id="962" name="CustomShape 77"/>
          <p:cNvSpPr/>
          <p:nvPr/>
        </p:nvSpPr>
        <p:spPr>
          <a:xfrm>
            <a:off x="3309120" y="522144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6</a:t>
            </a:r>
            <a:endParaRPr lang="en-US" sz="1800" strike="noStrike" spc="-1">
              <a:solidFill>
                <a:srgbClr val="000000"/>
              </a:solidFill>
              <a:uFill>
                <a:solidFill>
                  <a:srgbClr val="FFFFFF"/>
                </a:solidFill>
              </a:uFill>
              <a:latin typeface="Arial"/>
            </a:endParaRPr>
          </a:p>
        </p:txBody>
      </p:sp>
      <p:sp>
        <p:nvSpPr>
          <p:cNvPr id="963" name="CustomShape 78"/>
          <p:cNvSpPr/>
          <p:nvPr/>
        </p:nvSpPr>
        <p:spPr>
          <a:xfrm>
            <a:off x="3601080" y="522144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7</a:t>
            </a:r>
            <a:endParaRPr lang="en-US" sz="1800" strike="noStrike" spc="-1">
              <a:solidFill>
                <a:srgbClr val="000000"/>
              </a:solidFill>
              <a:uFill>
                <a:solidFill>
                  <a:srgbClr val="FFFFFF"/>
                </a:solidFill>
              </a:uFill>
              <a:latin typeface="Arial"/>
            </a:endParaRPr>
          </a:p>
        </p:txBody>
      </p:sp>
      <p:sp>
        <p:nvSpPr>
          <p:cNvPr id="964" name="CustomShape 79"/>
          <p:cNvSpPr/>
          <p:nvPr/>
        </p:nvSpPr>
        <p:spPr>
          <a:xfrm>
            <a:off x="4436280" y="5221440"/>
            <a:ext cx="18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10</a:t>
            </a:r>
            <a:endParaRPr lang="en-US" sz="1800" strike="noStrike" spc="-1">
              <a:solidFill>
                <a:srgbClr val="000000"/>
              </a:solidFill>
              <a:uFill>
                <a:solidFill>
                  <a:srgbClr val="FFFFFF"/>
                </a:solidFill>
              </a:uFill>
              <a:latin typeface="Arial"/>
            </a:endParaRPr>
          </a:p>
        </p:txBody>
      </p:sp>
      <p:sp>
        <p:nvSpPr>
          <p:cNvPr id="965" name="CustomShape 80"/>
          <p:cNvSpPr/>
          <p:nvPr/>
        </p:nvSpPr>
        <p:spPr>
          <a:xfrm>
            <a:off x="4183920" y="522144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9</a:t>
            </a:r>
            <a:endParaRPr lang="en-US" sz="1800" strike="noStrike" spc="-1">
              <a:solidFill>
                <a:srgbClr val="000000"/>
              </a:solidFill>
              <a:uFill>
                <a:solidFill>
                  <a:srgbClr val="FFFFFF"/>
                </a:solidFill>
              </a:uFill>
              <a:latin typeface="Arial"/>
            </a:endParaRPr>
          </a:p>
        </p:txBody>
      </p:sp>
      <p:sp>
        <p:nvSpPr>
          <p:cNvPr id="966" name="CustomShape 81"/>
          <p:cNvSpPr/>
          <p:nvPr/>
        </p:nvSpPr>
        <p:spPr>
          <a:xfrm>
            <a:off x="3893400" y="522144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8</a:t>
            </a:r>
            <a:endParaRPr lang="en-US" sz="1800" strike="noStrike" spc="-1">
              <a:solidFill>
                <a:srgbClr val="000000"/>
              </a:solidFill>
              <a:uFill>
                <a:solidFill>
                  <a:srgbClr val="FFFFFF"/>
                </a:solidFill>
              </a:uFill>
              <a:latin typeface="Arial"/>
            </a:endParaRPr>
          </a:p>
        </p:txBody>
      </p:sp>
      <p:sp>
        <p:nvSpPr>
          <p:cNvPr id="967" name="CustomShape 82"/>
          <p:cNvSpPr/>
          <p:nvPr/>
        </p:nvSpPr>
        <p:spPr>
          <a:xfrm>
            <a:off x="1079280" y="3703680"/>
            <a:ext cx="27180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$25</a:t>
            </a:r>
            <a:endParaRPr lang="en-US" sz="1800" strike="noStrike" spc="-1">
              <a:solidFill>
                <a:srgbClr val="000000"/>
              </a:solidFill>
              <a:uFill>
                <a:solidFill>
                  <a:srgbClr val="FFFFFF"/>
                </a:solidFill>
              </a:uFill>
              <a:latin typeface="Arial"/>
            </a:endParaRPr>
          </a:p>
        </p:txBody>
      </p:sp>
      <p:sp>
        <p:nvSpPr>
          <p:cNvPr id="968" name="CustomShape 83"/>
          <p:cNvSpPr/>
          <p:nvPr/>
        </p:nvSpPr>
        <p:spPr>
          <a:xfrm>
            <a:off x="1152000" y="3811680"/>
            <a:ext cx="18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24</a:t>
            </a:r>
            <a:endParaRPr lang="en-US" sz="1800" strike="noStrike" spc="-1">
              <a:solidFill>
                <a:srgbClr val="000000"/>
              </a:solidFill>
              <a:uFill>
                <a:solidFill>
                  <a:srgbClr val="FFFFFF"/>
                </a:solidFill>
              </a:uFill>
              <a:latin typeface="Arial"/>
            </a:endParaRPr>
          </a:p>
        </p:txBody>
      </p:sp>
      <p:sp>
        <p:nvSpPr>
          <p:cNvPr id="969" name="CustomShape 84"/>
          <p:cNvSpPr/>
          <p:nvPr/>
        </p:nvSpPr>
        <p:spPr>
          <a:xfrm>
            <a:off x="1152000" y="3951360"/>
            <a:ext cx="18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21</a:t>
            </a:r>
            <a:endParaRPr lang="en-US" sz="1800" strike="noStrike" spc="-1">
              <a:solidFill>
                <a:srgbClr val="000000"/>
              </a:solidFill>
              <a:uFill>
                <a:solidFill>
                  <a:srgbClr val="FFFFFF"/>
                </a:solidFill>
              </a:uFill>
              <a:latin typeface="Arial"/>
            </a:endParaRPr>
          </a:p>
        </p:txBody>
      </p:sp>
      <p:sp>
        <p:nvSpPr>
          <p:cNvPr id="970" name="CustomShape 85"/>
          <p:cNvSpPr/>
          <p:nvPr/>
        </p:nvSpPr>
        <p:spPr>
          <a:xfrm>
            <a:off x="1152000" y="4230720"/>
            <a:ext cx="18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16</a:t>
            </a:r>
            <a:endParaRPr lang="en-US" sz="1800" strike="noStrike" spc="-1">
              <a:solidFill>
                <a:srgbClr val="000000"/>
              </a:solidFill>
              <a:uFill>
                <a:solidFill>
                  <a:srgbClr val="FFFFFF"/>
                </a:solidFill>
              </a:uFill>
              <a:latin typeface="Arial"/>
            </a:endParaRPr>
          </a:p>
        </p:txBody>
      </p:sp>
      <p:sp>
        <p:nvSpPr>
          <p:cNvPr id="971" name="CustomShape 86"/>
          <p:cNvSpPr/>
          <p:nvPr/>
        </p:nvSpPr>
        <p:spPr>
          <a:xfrm>
            <a:off x="1226160" y="46227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9</a:t>
            </a:r>
            <a:endParaRPr lang="en-US" sz="1800" strike="noStrike" spc="-1">
              <a:solidFill>
                <a:srgbClr val="000000"/>
              </a:solidFill>
              <a:uFill>
                <a:solidFill>
                  <a:srgbClr val="FFFFFF"/>
                </a:solidFill>
              </a:uFill>
              <a:latin typeface="Arial"/>
            </a:endParaRPr>
          </a:p>
        </p:txBody>
      </p:sp>
      <p:sp>
        <p:nvSpPr>
          <p:cNvPr id="972" name="CustomShape 87"/>
          <p:cNvSpPr/>
          <p:nvPr/>
        </p:nvSpPr>
        <p:spPr>
          <a:xfrm>
            <a:off x="4279680" y="5381640"/>
            <a:ext cx="514080" cy="167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gn="ctr">
              <a:lnSpc>
                <a:spcPct val="100000"/>
              </a:lnSpc>
            </a:pPr>
            <a:r>
              <a:rPr lang="en-US" sz="1100" b="1" strike="noStrike" spc="-1">
                <a:solidFill>
                  <a:srgbClr val="000000"/>
                </a:solidFill>
                <a:uFill>
                  <a:solidFill>
                    <a:srgbClr val="FFFFFF"/>
                  </a:solidFill>
                </a:uFill>
                <a:latin typeface="Calibri"/>
                <a:ea typeface="MS PGothic"/>
              </a:rPr>
              <a:t>Quantity</a:t>
            </a:r>
            <a:endParaRPr lang="en-US" sz="1800" strike="noStrike" spc="-1">
              <a:solidFill>
                <a:srgbClr val="000000"/>
              </a:solidFill>
              <a:uFill>
                <a:solidFill>
                  <a:srgbClr val="FFFFFF"/>
                </a:solidFill>
              </a:uFill>
              <a:latin typeface="Arial"/>
            </a:endParaRPr>
          </a:p>
        </p:txBody>
      </p:sp>
      <p:sp>
        <p:nvSpPr>
          <p:cNvPr id="973" name="CustomShape 88"/>
          <p:cNvSpPr/>
          <p:nvPr/>
        </p:nvSpPr>
        <p:spPr>
          <a:xfrm>
            <a:off x="1042920" y="3068640"/>
            <a:ext cx="597960" cy="3351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100" b="1" strike="noStrike" spc="-1">
                <a:solidFill>
                  <a:srgbClr val="000000"/>
                </a:solidFill>
                <a:uFill>
                  <a:solidFill>
                    <a:srgbClr val="FFFFFF"/>
                  </a:solidFill>
                </a:uFill>
                <a:latin typeface="Calibri"/>
                <a:ea typeface="MS PGothic"/>
              </a:rPr>
              <a:t>Total revenue</a:t>
            </a:r>
            <a:endParaRPr lang="en-US" sz="1800" strike="noStrike" spc="-1">
              <a:solidFill>
                <a:srgbClr val="000000"/>
              </a:solidFill>
              <a:uFill>
                <a:solidFill>
                  <a:srgbClr val="FFFFFF"/>
                </a:solidFill>
              </a:uFill>
              <a:latin typeface="Arial"/>
            </a:endParaRPr>
          </a:p>
        </p:txBody>
      </p:sp>
      <p:sp>
        <p:nvSpPr>
          <p:cNvPr id="974" name="CustomShape 89"/>
          <p:cNvSpPr/>
          <p:nvPr/>
        </p:nvSpPr>
        <p:spPr>
          <a:xfrm>
            <a:off x="1378080" y="3402000"/>
            <a:ext cx="3360240" cy="1794960"/>
          </a:xfrm>
          <a:custGeom>
            <a:avLst/>
            <a:gdLst/>
            <a:ahLst/>
            <a:cxnLst/>
            <a:rect l="l" t="t" r="r" b="b"/>
            <a:pathLst>
              <a:path w="2155" h="1261">
                <a:moveTo>
                  <a:pt x="2155" y="1261"/>
                </a:moveTo>
                <a:lnTo>
                  <a:pt x="0" y="1261"/>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sp>
      <p:sp>
        <p:nvSpPr>
          <p:cNvPr id="975" name="Line 90"/>
          <p:cNvSpPr/>
          <p:nvPr/>
        </p:nvSpPr>
        <p:spPr>
          <a:xfrm>
            <a:off x="1598400" y="1385640"/>
            <a:ext cx="8748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76" name="Line 91"/>
          <p:cNvSpPr/>
          <p:nvPr/>
        </p:nvSpPr>
        <p:spPr>
          <a:xfrm>
            <a:off x="1598400" y="1527120"/>
            <a:ext cx="8748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77" name="Line 92"/>
          <p:cNvSpPr/>
          <p:nvPr/>
        </p:nvSpPr>
        <p:spPr>
          <a:xfrm>
            <a:off x="1598400" y="1665000"/>
            <a:ext cx="8748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78" name="Line 93"/>
          <p:cNvSpPr/>
          <p:nvPr/>
        </p:nvSpPr>
        <p:spPr>
          <a:xfrm>
            <a:off x="1598400" y="1806480"/>
            <a:ext cx="8748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79" name="Line 94"/>
          <p:cNvSpPr/>
          <p:nvPr/>
        </p:nvSpPr>
        <p:spPr>
          <a:xfrm>
            <a:off x="1598400" y="1944360"/>
            <a:ext cx="8748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80" name="Line 95"/>
          <p:cNvSpPr/>
          <p:nvPr/>
        </p:nvSpPr>
        <p:spPr>
          <a:xfrm>
            <a:off x="1598400" y="2085840"/>
            <a:ext cx="8748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81" name="Line 96"/>
          <p:cNvSpPr/>
          <p:nvPr/>
        </p:nvSpPr>
        <p:spPr>
          <a:xfrm>
            <a:off x="1598400" y="2224080"/>
            <a:ext cx="8748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82" name="Line 97"/>
          <p:cNvSpPr/>
          <p:nvPr/>
        </p:nvSpPr>
        <p:spPr>
          <a:xfrm>
            <a:off x="1598400" y="2365200"/>
            <a:ext cx="8748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83" name="Line 98"/>
          <p:cNvSpPr/>
          <p:nvPr/>
        </p:nvSpPr>
        <p:spPr>
          <a:xfrm>
            <a:off x="1598400" y="2503440"/>
            <a:ext cx="8748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84" name="Line 99"/>
          <p:cNvSpPr/>
          <p:nvPr/>
        </p:nvSpPr>
        <p:spPr>
          <a:xfrm>
            <a:off x="1598400" y="2644560"/>
            <a:ext cx="8748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985" name="CustomShape 100"/>
          <p:cNvSpPr/>
          <p:nvPr/>
        </p:nvSpPr>
        <p:spPr>
          <a:xfrm>
            <a:off x="1450080" y="28083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986" name="CustomShape 101"/>
          <p:cNvSpPr/>
          <p:nvPr/>
        </p:nvSpPr>
        <p:spPr>
          <a:xfrm>
            <a:off x="1848600" y="28083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1</a:t>
            </a:r>
            <a:endParaRPr lang="en-US" sz="1800" strike="noStrike" spc="-1">
              <a:solidFill>
                <a:srgbClr val="000000"/>
              </a:solidFill>
              <a:uFill>
                <a:solidFill>
                  <a:srgbClr val="FFFFFF"/>
                </a:solidFill>
              </a:uFill>
              <a:latin typeface="Arial"/>
            </a:endParaRPr>
          </a:p>
        </p:txBody>
      </p:sp>
      <p:sp>
        <p:nvSpPr>
          <p:cNvPr id="987" name="CustomShape 102"/>
          <p:cNvSpPr/>
          <p:nvPr/>
        </p:nvSpPr>
        <p:spPr>
          <a:xfrm>
            <a:off x="2140560" y="28083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2</a:t>
            </a:r>
            <a:endParaRPr lang="en-US" sz="1800" strike="noStrike" spc="-1">
              <a:solidFill>
                <a:srgbClr val="000000"/>
              </a:solidFill>
              <a:uFill>
                <a:solidFill>
                  <a:srgbClr val="FFFFFF"/>
                </a:solidFill>
              </a:uFill>
              <a:latin typeface="Arial"/>
            </a:endParaRPr>
          </a:p>
        </p:txBody>
      </p:sp>
      <p:sp>
        <p:nvSpPr>
          <p:cNvPr id="988" name="CustomShape 103"/>
          <p:cNvSpPr/>
          <p:nvPr/>
        </p:nvSpPr>
        <p:spPr>
          <a:xfrm>
            <a:off x="2432880" y="28083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3</a:t>
            </a:r>
            <a:endParaRPr lang="en-US" sz="1800" strike="noStrike" spc="-1">
              <a:solidFill>
                <a:srgbClr val="000000"/>
              </a:solidFill>
              <a:uFill>
                <a:solidFill>
                  <a:srgbClr val="FFFFFF"/>
                </a:solidFill>
              </a:uFill>
              <a:latin typeface="Arial"/>
            </a:endParaRPr>
          </a:p>
        </p:txBody>
      </p:sp>
      <p:sp>
        <p:nvSpPr>
          <p:cNvPr id="989" name="CustomShape 104"/>
          <p:cNvSpPr/>
          <p:nvPr/>
        </p:nvSpPr>
        <p:spPr>
          <a:xfrm>
            <a:off x="2723400" y="28083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4</a:t>
            </a:r>
            <a:endParaRPr lang="en-US" sz="1800" strike="noStrike" spc="-1">
              <a:solidFill>
                <a:srgbClr val="000000"/>
              </a:solidFill>
              <a:uFill>
                <a:solidFill>
                  <a:srgbClr val="FFFFFF"/>
                </a:solidFill>
              </a:uFill>
              <a:latin typeface="Arial"/>
            </a:endParaRPr>
          </a:p>
        </p:txBody>
      </p:sp>
      <p:sp>
        <p:nvSpPr>
          <p:cNvPr id="990" name="CustomShape 105"/>
          <p:cNvSpPr/>
          <p:nvPr/>
        </p:nvSpPr>
        <p:spPr>
          <a:xfrm>
            <a:off x="3017160" y="28083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5</a:t>
            </a:r>
            <a:endParaRPr lang="en-US" sz="1800" strike="noStrike" spc="-1">
              <a:solidFill>
                <a:srgbClr val="000000"/>
              </a:solidFill>
              <a:uFill>
                <a:solidFill>
                  <a:srgbClr val="FFFFFF"/>
                </a:solidFill>
              </a:uFill>
              <a:latin typeface="Arial"/>
            </a:endParaRPr>
          </a:p>
        </p:txBody>
      </p:sp>
      <p:sp>
        <p:nvSpPr>
          <p:cNvPr id="991" name="CustomShape 106"/>
          <p:cNvSpPr/>
          <p:nvPr/>
        </p:nvSpPr>
        <p:spPr>
          <a:xfrm>
            <a:off x="3309120" y="28083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6</a:t>
            </a:r>
            <a:endParaRPr lang="en-US" sz="1800" strike="noStrike" spc="-1">
              <a:solidFill>
                <a:srgbClr val="000000"/>
              </a:solidFill>
              <a:uFill>
                <a:solidFill>
                  <a:srgbClr val="FFFFFF"/>
                </a:solidFill>
              </a:uFill>
              <a:latin typeface="Arial"/>
            </a:endParaRPr>
          </a:p>
        </p:txBody>
      </p:sp>
      <p:sp>
        <p:nvSpPr>
          <p:cNvPr id="992" name="CustomShape 107"/>
          <p:cNvSpPr/>
          <p:nvPr/>
        </p:nvSpPr>
        <p:spPr>
          <a:xfrm>
            <a:off x="3601080" y="28083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7</a:t>
            </a:r>
            <a:endParaRPr lang="en-US" sz="1800" strike="noStrike" spc="-1">
              <a:solidFill>
                <a:srgbClr val="000000"/>
              </a:solidFill>
              <a:uFill>
                <a:solidFill>
                  <a:srgbClr val="FFFFFF"/>
                </a:solidFill>
              </a:uFill>
              <a:latin typeface="Arial"/>
            </a:endParaRPr>
          </a:p>
        </p:txBody>
      </p:sp>
      <p:sp>
        <p:nvSpPr>
          <p:cNvPr id="993" name="CustomShape 108"/>
          <p:cNvSpPr/>
          <p:nvPr/>
        </p:nvSpPr>
        <p:spPr>
          <a:xfrm>
            <a:off x="4436280" y="2808360"/>
            <a:ext cx="18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10</a:t>
            </a:r>
            <a:endParaRPr lang="en-US" sz="1800" strike="noStrike" spc="-1">
              <a:solidFill>
                <a:srgbClr val="000000"/>
              </a:solidFill>
              <a:uFill>
                <a:solidFill>
                  <a:srgbClr val="FFFFFF"/>
                </a:solidFill>
              </a:uFill>
              <a:latin typeface="Arial"/>
            </a:endParaRPr>
          </a:p>
        </p:txBody>
      </p:sp>
      <p:sp>
        <p:nvSpPr>
          <p:cNvPr id="994" name="CustomShape 109"/>
          <p:cNvSpPr/>
          <p:nvPr/>
        </p:nvSpPr>
        <p:spPr>
          <a:xfrm>
            <a:off x="4183920" y="28083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9</a:t>
            </a:r>
            <a:endParaRPr lang="en-US" sz="1800" strike="noStrike" spc="-1">
              <a:solidFill>
                <a:srgbClr val="000000"/>
              </a:solidFill>
              <a:uFill>
                <a:solidFill>
                  <a:srgbClr val="FFFFFF"/>
                </a:solidFill>
              </a:uFill>
              <a:latin typeface="Arial"/>
            </a:endParaRPr>
          </a:p>
        </p:txBody>
      </p:sp>
      <p:sp>
        <p:nvSpPr>
          <p:cNvPr id="995" name="CustomShape 110"/>
          <p:cNvSpPr/>
          <p:nvPr/>
        </p:nvSpPr>
        <p:spPr>
          <a:xfrm>
            <a:off x="3893400" y="28083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8</a:t>
            </a:r>
            <a:endParaRPr lang="en-US" sz="1800" strike="noStrike" spc="-1">
              <a:solidFill>
                <a:srgbClr val="000000"/>
              </a:solidFill>
              <a:uFill>
                <a:solidFill>
                  <a:srgbClr val="FFFFFF"/>
                </a:solidFill>
              </a:uFill>
              <a:latin typeface="Arial"/>
            </a:endParaRPr>
          </a:p>
        </p:txBody>
      </p:sp>
      <p:sp>
        <p:nvSpPr>
          <p:cNvPr id="996" name="CustomShape 111"/>
          <p:cNvSpPr/>
          <p:nvPr/>
        </p:nvSpPr>
        <p:spPr>
          <a:xfrm>
            <a:off x="1301400" y="1314360"/>
            <a:ext cx="27180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$10</a:t>
            </a:r>
            <a:endParaRPr lang="en-US" sz="1800" strike="noStrike" spc="-1">
              <a:solidFill>
                <a:srgbClr val="000000"/>
              </a:solidFill>
              <a:uFill>
                <a:solidFill>
                  <a:srgbClr val="FFFFFF"/>
                </a:solidFill>
              </a:uFill>
              <a:latin typeface="Arial"/>
            </a:endParaRPr>
          </a:p>
        </p:txBody>
      </p:sp>
      <p:sp>
        <p:nvSpPr>
          <p:cNvPr id="997" name="CustomShape 112"/>
          <p:cNvSpPr/>
          <p:nvPr/>
        </p:nvSpPr>
        <p:spPr>
          <a:xfrm>
            <a:off x="1450080" y="145404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9</a:t>
            </a:r>
            <a:endParaRPr lang="en-US" sz="1800" strike="noStrike" spc="-1">
              <a:solidFill>
                <a:srgbClr val="000000"/>
              </a:solidFill>
              <a:uFill>
                <a:solidFill>
                  <a:srgbClr val="FFFFFF"/>
                </a:solidFill>
              </a:uFill>
              <a:latin typeface="Arial"/>
            </a:endParaRPr>
          </a:p>
        </p:txBody>
      </p:sp>
      <p:sp>
        <p:nvSpPr>
          <p:cNvPr id="998" name="CustomShape 113"/>
          <p:cNvSpPr/>
          <p:nvPr/>
        </p:nvSpPr>
        <p:spPr>
          <a:xfrm>
            <a:off x="1450080" y="159372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8</a:t>
            </a:r>
            <a:endParaRPr lang="en-US" sz="1800" strike="noStrike" spc="-1">
              <a:solidFill>
                <a:srgbClr val="000000"/>
              </a:solidFill>
              <a:uFill>
                <a:solidFill>
                  <a:srgbClr val="FFFFFF"/>
                </a:solidFill>
              </a:uFill>
              <a:latin typeface="Arial"/>
            </a:endParaRPr>
          </a:p>
        </p:txBody>
      </p:sp>
      <p:sp>
        <p:nvSpPr>
          <p:cNvPr id="999" name="CustomShape 114"/>
          <p:cNvSpPr/>
          <p:nvPr/>
        </p:nvSpPr>
        <p:spPr>
          <a:xfrm>
            <a:off x="1450080" y="173340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7</a:t>
            </a:r>
            <a:endParaRPr lang="en-US" sz="1800" strike="noStrike" spc="-1">
              <a:solidFill>
                <a:srgbClr val="000000"/>
              </a:solidFill>
              <a:uFill>
                <a:solidFill>
                  <a:srgbClr val="FFFFFF"/>
                </a:solidFill>
              </a:uFill>
              <a:latin typeface="Arial"/>
            </a:endParaRPr>
          </a:p>
        </p:txBody>
      </p:sp>
      <p:sp>
        <p:nvSpPr>
          <p:cNvPr id="1000" name="CustomShape 115"/>
          <p:cNvSpPr/>
          <p:nvPr/>
        </p:nvSpPr>
        <p:spPr>
          <a:xfrm>
            <a:off x="1450080" y="187164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6</a:t>
            </a:r>
            <a:endParaRPr lang="en-US" sz="1800" strike="noStrike" spc="-1">
              <a:solidFill>
                <a:srgbClr val="000000"/>
              </a:solidFill>
              <a:uFill>
                <a:solidFill>
                  <a:srgbClr val="FFFFFF"/>
                </a:solidFill>
              </a:uFill>
              <a:latin typeface="Arial"/>
            </a:endParaRPr>
          </a:p>
        </p:txBody>
      </p:sp>
      <p:sp>
        <p:nvSpPr>
          <p:cNvPr id="1001" name="CustomShape 116"/>
          <p:cNvSpPr/>
          <p:nvPr/>
        </p:nvSpPr>
        <p:spPr>
          <a:xfrm>
            <a:off x="1450080" y="201132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5</a:t>
            </a:r>
            <a:endParaRPr lang="en-US" sz="1800" strike="noStrike" spc="-1">
              <a:solidFill>
                <a:srgbClr val="000000"/>
              </a:solidFill>
              <a:uFill>
                <a:solidFill>
                  <a:srgbClr val="FFFFFF"/>
                </a:solidFill>
              </a:uFill>
              <a:latin typeface="Arial"/>
            </a:endParaRPr>
          </a:p>
        </p:txBody>
      </p:sp>
      <p:sp>
        <p:nvSpPr>
          <p:cNvPr id="1002" name="CustomShape 117"/>
          <p:cNvSpPr/>
          <p:nvPr/>
        </p:nvSpPr>
        <p:spPr>
          <a:xfrm>
            <a:off x="1450080" y="215100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4</a:t>
            </a:r>
            <a:endParaRPr lang="en-US" sz="1800" strike="noStrike" spc="-1">
              <a:solidFill>
                <a:srgbClr val="000000"/>
              </a:solidFill>
              <a:uFill>
                <a:solidFill>
                  <a:srgbClr val="FFFFFF"/>
                </a:solidFill>
              </a:uFill>
              <a:latin typeface="Arial"/>
            </a:endParaRPr>
          </a:p>
        </p:txBody>
      </p:sp>
      <p:sp>
        <p:nvSpPr>
          <p:cNvPr id="1003" name="CustomShape 118"/>
          <p:cNvSpPr/>
          <p:nvPr/>
        </p:nvSpPr>
        <p:spPr>
          <a:xfrm>
            <a:off x="1450080" y="229392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3</a:t>
            </a:r>
            <a:endParaRPr lang="en-US" sz="1800" strike="noStrike" spc="-1">
              <a:solidFill>
                <a:srgbClr val="000000"/>
              </a:solidFill>
              <a:uFill>
                <a:solidFill>
                  <a:srgbClr val="FFFFFF"/>
                </a:solidFill>
              </a:uFill>
              <a:latin typeface="Arial"/>
            </a:endParaRPr>
          </a:p>
        </p:txBody>
      </p:sp>
      <p:sp>
        <p:nvSpPr>
          <p:cNvPr id="1004" name="CustomShape 119"/>
          <p:cNvSpPr/>
          <p:nvPr/>
        </p:nvSpPr>
        <p:spPr>
          <a:xfrm>
            <a:off x="1450080" y="24321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2</a:t>
            </a:r>
            <a:endParaRPr lang="en-US" sz="1800" strike="noStrike" spc="-1">
              <a:solidFill>
                <a:srgbClr val="000000"/>
              </a:solidFill>
              <a:uFill>
                <a:solidFill>
                  <a:srgbClr val="FFFFFF"/>
                </a:solidFill>
              </a:uFill>
              <a:latin typeface="Arial"/>
            </a:endParaRPr>
          </a:p>
        </p:txBody>
      </p:sp>
      <p:sp>
        <p:nvSpPr>
          <p:cNvPr id="1005" name="CustomShape 120"/>
          <p:cNvSpPr/>
          <p:nvPr/>
        </p:nvSpPr>
        <p:spPr>
          <a:xfrm>
            <a:off x="1450080" y="257004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1</a:t>
            </a:r>
            <a:endParaRPr lang="en-US" sz="1800" strike="noStrike" spc="-1">
              <a:solidFill>
                <a:srgbClr val="000000"/>
              </a:solidFill>
              <a:uFill>
                <a:solidFill>
                  <a:srgbClr val="FFFFFF"/>
                </a:solidFill>
              </a:uFill>
              <a:latin typeface="Arial"/>
            </a:endParaRPr>
          </a:p>
        </p:txBody>
      </p:sp>
      <p:sp>
        <p:nvSpPr>
          <p:cNvPr id="1006" name="CustomShape 121"/>
          <p:cNvSpPr/>
          <p:nvPr/>
        </p:nvSpPr>
        <p:spPr>
          <a:xfrm>
            <a:off x="4279680" y="2968560"/>
            <a:ext cx="51408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b="1" strike="noStrike" spc="-1">
                <a:solidFill>
                  <a:srgbClr val="000000"/>
                </a:solidFill>
                <a:uFill>
                  <a:solidFill>
                    <a:srgbClr val="FFFFFF"/>
                  </a:solidFill>
                </a:uFill>
                <a:latin typeface="Calibri"/>
                <a:ea typeface="MS PGothic"/>
              </a:rPr>
              <a:t>Quantity</a:t>
            </a:r>
            <a:endParaRPr lang="en-US" sz="1800" strike="noStrike" spc="-1">
              <a:solidFill>
                <a:srgbClr val="000000"/>
              </a:solidFill>
              <a:uFill>
                <a:solidFill>
                  <a:srgbClr val="FFFFFF"/>
                </a:solidFill>
              </a:uFill>
              <a:latin typeface="Arial"/>
            </a:endParaRPr>
          </a:p>
        </p:txBody>
      </p:sp>
      <p:sp>
        <p:nvSpPr>
          <p:cNvPr id="1007" name="CustomShape 122"/>
          <p:cNvSpPr/>
          <p:nvPr/>
        </p:nvSpPr>
        <p:spPr>
          <a:xfrm>
            <a:off x="1220040" y="1093680"/>
            <a:ext cx="291600" cy="167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gn="ctr">
              <a:lnSpc>
                <a:spcPct val="100000"/>
              </a:lnSpc>
            </a:pPr>
            <a:r>
              <a:rPr lang="en-US" sz="1100" b="1" strike="noStrike" spc="-1">
                <a:solidFill>
                  <a:srgbClr val="000000"/>
                </a:solidFill>
                <a:uFill>
                  <a:solidFill>
                    <a:srgbClr val="FFFFFF"/>
                  </a:solidFill>
                </a:uFill>
                <a:latin typeface="Calibri"/>
                <a:ea typeface="MS PGothic"/>
              </a:rPr>
              <a:t>Price</a:t>
            </a:r>
            <a:endParaRPr lang="en-US" sz="1800" strike="noStrike" spc="-1">
              <a:solidFill>
                <a:srgbClr val="000000"/>
              </a:solidFill>
              <a:uFill>
                <a:solidFill>
                  <a:srgbClr val="FFFFFF"/>
                </a:solidFill>
              </a:uFill>
              <a:latin typeface="Arial"/>
            </a:endParaRPr>
          </a:p>
        </p:txBody>
      </p:sp>
      <p:sp>
        <p:nvSpPr>
          <p:cNvPr id="1008" name="CustomShape 123"/>
          <p:cNvSpPr/>
          <p:nvPr/>
        </p:nvSpPr>
        <p:spPr>
          <a:xfrm>
            <a:off x="1598760" y="1117440"/>
            <a:ext cx="3139560" cy="1665000"/>
          </a:xfrm>
          <a:custGeom>
            <a:avLst/>
            <a:gdLst/>
            <a:ahLst/>
            <a:cxnLst/>
            <a:rect l="l" t="t" r="r" b="b"/>
            <a:pathLst>
              <a:path w="2013" h="1169">
                <a:moveTo>
                  <a:pt x="2013" y="1169"/>
                </a:moveTo>
                <a:lnTo>
                  <a:pt x="0" y="1169"/>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sp>
      <p:sp>
        <p:nvSpPr>
          <p:cNvPr id="1009" name="CustomShape 124"/>
          <p:cNvSpPr/>
          <p:nvPr/>
        </p:nvSpPr>
        <p:spPr>
          <a:xfrm>
            <a:off x="5613480" y="1947960"/>
            <a:ext cx="2563560" cy="2684160"/>
          </a:xfrm>
          <a:prstGeom prst="rect">
            <a:avLst/>
          </a:prstGeom>
          <a:noFill/>
          <a:ln w="9360">
            <a:noFill/>
          </a:ln>
        </p:spPr>
        <p:style>
          <a:lnRef idx="0">
            <a:scrgbClr r="0" g="0" b="0"/>
          </a:lnRef>
          <a:fillRef idx="0">
            <a:scrgbClr r="0" g="0" b="0"/>
          </a:fillRef>
          <a:effectRef idx="0">
            <a:scrgbClr r="0" g="0" b="0"/>
          </a:effectRef>
          <a:fontRef idx="minor"/>
        </p:style>
      </p:sp>
      <p:sp>
        <p:nvSpPr>
          <p:cNvPr id="1010" name="CustomShape 125"/>
          <p:cNvSpPr/>
          <p:nvPr/>
        </p:nvSpPr>
        <p:spPr>
          <a:xfrm>
            <a:off x="5624640" y="1962000"/>
            <a:ext cx="2534760" cy="2522160"/>
          </a:xfrm>
          <a:prstGeom prst="rect">
            <a:avLst/>
          </a:prstGeom>
          <a:solidFill>
            <a:srgbClr val="FFFFFF"/>
          </a:solidFill>
          <a:ln w="9360">
            <a:noFill/>
          </a:ln>
        </p:spPr>
        <p:style>
          <a:lnRef idx="0">
            <a:scrgbClr r="0" g="0" b="0"/>
          </a:lnRef>
          <a:fillRef idx="0">
            <a:scrgbClr r="0" g="0" b="0"/>
          </a:fillRef>
          <a:effectRef idx="0">
            <a:scrgbClr r="0" g="0" b="0"/>
          </a:effectRef>
          <a:fontRef idx="minor"/>
        </p:style>
      </p:sp>
      <p:sp>
        <p:nvSpPr>
          <p:cNvPr id="1011" name="CustomShape 126"/>
          <p:cNvSpPr/>
          <p:nvPr/>
        </p:nvSpPr>
        <p:spPr>
          <a:xfrm>
            <a:off x="5917680" y="2714760"/>
            <a:ext cx="18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1012" name="CustomShape 127"/>
          <p:cNvSpPr/>
          <p:nvPr/>
        </p:nvSpPr>
        <p:spPr>
          <a:xfrm>
            <a:off x="5991840" y="28749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1</a:t>
            </a:r>
            <a:endParaRPr lang="en-US" sz="1800" strike="noStrike" spc="-1">
              <a:solidFill>
                <a:srgbClr val="000000"/>
              </a:solidFill>
              <a:uFill>
                <a:solidFill>
                  <a:srgbClr val="FFFFFF"/>
                </a:solidFill>
              </a:uFill>
              <a:latin typeface="Arial"/>
            </a:endParaRPr>
          </a:p>
        </p:txBody>
      </p:sp>
      <p:sp>
        <p:nvSpPr>
          <p:cNvPr id="1013" name="CustomShape 128"/>
          <p:cNvSpPr/>
          <p:nvPr/>
        </p:nvSpPr>
        <p:spPr>
          <a:xfrm>
            <a:off x="5991840" y="303372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2</a:t>
            </a:r>
            <a:endParaRPr lang="en-US" sz="1800" strike="noStrike" spc="-1">
              <a:solidFill>
                <a:srgbClr val="000000"/>
              </a:solidFill>
              <a:uFill>
                <a:solidFill>
                  <a:srgbClr val="FFFFFF"/>
                </a:solidFill>
              </a:uFill>
              <a:latin typeface="Arial"/>
            </a:endParaRPr>
          </a:p>
        </p:txBody>
      </p:sp>
      <p:sp>
        <p:nvSpPr>
          <p:cNvPr id="1014" name="CustomShape 129"/>
          <p:cNvSpPr/>
          <p:nvPr/>
        </p:nvSpPr>
        <p:spPr>
          <a:xfrm>
            <a:off x="5991840" y="31989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3</a:t>
            </a:r>
            <a:endParaRPr lang="en-US" sz="1800" strike="noStrike" spc="-1">
              <a:solidFill>
                <a:srgbClr val="000000"/>
              </a:solidFill>
              <a:uFill>
                <a:solidFill>
                  <a:srgbClr val="FFFFFF"/>
                </a:solidFill>
              </a:uFill>
              <a:latin typeface="Arial"/>
            </a:endParaRPr>
          </a:p>
        </p:txBody>
      </p:sp>
      <p:sp>
        <p:nvSpPr>
          <p:cNvPr id="1015" name="CustomShape 130"/>
          <p:cNvSpPr/>
          <p:nvPr/>
        </p:nvSpPr>
        <p:spPr>
          <a:xfrm>
            <a:off x="5991840" y="335772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4</a:t>
            </a:r>
            <a:endParaRPr lang="en-US" sz="1800" strike="noStrike" spc="-1">
              <a:solidFill>
                <a:srgbClr val="000000"/>
              </a:solidFill>
              <a:uFill>
                <a:solidFill>
                  <a:srgbClr val="FFFFFF"/>
                </a:solidFill>
              </a:uFill>
              <a:latin typeface="Arial"/>
            </a:endParaRPr>
          </a:p>
        </p:txBody>
      </p:sp>
      <p:sp>
        <p:nvSpPr>
          <p:cNvPr id="1016" name="CustomShape 131"/>
          <p:cNvSpPr/>
          <p:nvPr/>
        </p:nvSpPr>
        <p:spPr>
          <a:xfrm>
            <a:off x="5991840" y="35193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5</a:t>
            </a:r>
            <a:endParaRPr lang="en-US" sz="1800" strike="noStrike" spc="-1">
              <a:solidFill>
                <a:srgbClr val="000000"/>
              </a:solidFill>
              <a:uFill>
                <a:solidFill>
                  <a:srgbClr val="FFFFFF"/>
                </a:solidFill>
              </a:uFill>
              <a:latin typeface="Arial"/>
            </a:endParaRPr>
          </a:p>
        </p:txBody>
      </p:sp>
      <p:sp>
        <p:nvSpPr>
          <p:cNvPr id="1017" name="CustomShape 132"/>
          <p:cNvSpPr/>
          <p:nvPr/>
        </p:nvSpPr>
        <p:spPr>
          <a:xfrm>
            <a:off x="5991840" y="36813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6</a:t>
            </a:r>
            <a:endParaRPr lang="en-US" sz="1800" strike="noStrike" spc="-1">
              <a:solidFill>
                <a:srgbClr val="000000"/>
              </a:solidFill>
              <a:uFill>
                <a:solidFill>
                  <a:srgbClr val="FFFFFF"/>
                </a:solidFill>
              </a:uFill>
              <a:latin typeface="Arial"/>
            </a:endParaRPr>
          </a:p>
        </p:txBody>
      </p:sp>
      <p:sp>
        <p:nvSpPr>
          <p:cNvPr id="1018" name="CustomShape 133"/>
          <p:cNvSpPr/>
          <p:nvPr/>
        </p:nvSpPr>
        <p:spPr>
          <a:xfrm>
            <a:off x="5991840" y="384480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7</a:t>
            </a:r>
            <a:endParaRPr lang="en-US" sz="1800" strike="noStrike" spc="-1">
              <a:solidFill>
                <a:srgbClr val="000000"/>
              </a:solidFill>
              <a:uFill>
                <a:solidFill>
                  <a:srgbClr val="FFFFFF"/>
                </a:solidFill>
              </a:uFill>
              <a:latin typeface="Arial"/>
            </a:endParaRPr>
          </a:p>
        </p:txBody>
      </p:sp>
      <p:sp>
        <p:nvSpPr>
          <p:cNvPr id="1019" name="CustomShape 134"/>
          <p:cNvSpPr/>
          <p:nvPr/>
        </p:nvSpPr>
        <p:spPr>
          <a:xfrm>
            <a:off x="5991840" y="40035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8</a:t>
            </a:r>
            <a:endParaRPr lang="en-US" sz="1800" strike="noStrike" spc="-1">
              <a:solidFill>
                <a:srgbClr val="000000"/>
              </a:solidFill>
              <a:uFill>
                <a:solidFill>
                  <a:srgbClr val="FFFFFF"/>
                </a:solidFill>
              </a:uFill>
              <a:latin typeface="Arial"/>
            </a:endParaRPr>
          </a:p>
        </p:txBody>
      </p:sp>
      <p:sp>
        <p:nvSpPr>
          <p:cNvPr id="1020" name="CustomShape 135"/>
          <p:cNvSpPr/>
          <p:nvPr/>
        </p:nvSpPr>
        <p:spPr>
          <a:xfrm>
            <a:off x="5930280" y="4168800"/>
            <a:ext cx="18072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  9</a:t>
            </a:r>
            <a:endParaRPr lang="en-US" sz="1800" strike="noStrike" spc="-1">
              <a:solidFill>
                <a:srgbClr val="000000"/>
              </a:solidFill>
              <a:uFill>
                <a:solidFill>
                  <a:srgbClr val="FFFFFF"/>
                </a:solidFill>
              </a:uFill>
              <a:latin typeface="Arial"/>
            </a:endParaRPr>
          </a:p>
        </p:txBody>
      </p:sp>
      <p:sp>
        <p:nvSpPr>
          <p:cNvPr id="1021" name="CustomShape 136"/>
          <p:cNvSpPr/>
          <p:nvPr/>
        </p:nvSpPr>
        <p:spPr>
          <a:xfrm>
            <a:off x="5917680" y="4327560"/>
            <a:ext cx="18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10</a:t>
            </a:r>
            <a:endParaRPr lang="en-US" sz="1800" strike="noStrike" spc="-1">
              <a:solidFill>
                <a:srgbClr val="000000"/>
              </a:solidFill>
              <a:uFill>
                <a:solidFill>
                  <a:srgbClr val="FFFFFF"/>
                </a:solidFill>
              </a:uFill>
              <a:latin typeface="Arial"/>
            </a:endParaRPr>
          </a:p>
        </p:txBody>
      </p:sp>
      <p:sp>
        <p:nvSpPr>
          <p:cNvPr id="1022" name="CustomShape 137"/>
          <p:cNvSpPr/>
          <p:nvPr/>
        </p:nvSpPr>
        <p:spPr>
          <a:xfrm>
            <a:off x="7647840" y="2714760"/>
            <a:ext cx="18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1023" name="CustomShape 138"/>
          <p:cNvSpPr/>
          <p:nvPr/>
        </p:nvSpPr>
        <p:spPr>
          <a:xfrm>
            <a:off x="7722360" y="28749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9</a:t>
            </a:r>
            <a:endParaRPr lang="en-US" sz="1800" strike="noStrike" spc="-1">
              <a:solidFill>
                <a:srgbClr val="000000"/>
              </a:solidFill>
              <a:uFill>
                <a:solidFill>
                  <a:srgbClr val="FFFFFF"/>
                </a:solidFill>
              </a:uFill>
              <a:latin typeface="Arial"/>
            </a:endParaRPr>
          </a:p>
        </p:txBody>
      </p:sp>
      <p:sp>
        <p:nvSpPr>
          <p:cNvPr id="1024" name="CustomShape 139"/>
          <p:cNvSpPr/>
          <p:nvPr/>
        </p:nvSpPr>
        <p:spPr>
          <a:xfrm>
            <a:off x="7647840" y="3033720"/>
            <a:ext cx="18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16</a:t>
            </a:r>
            <a:endParaRPr lang="en-US" sz="1800" strike="noStrike" spc="-1">
              <a:solidFill>
                <a:srgbClr val="000000"/>
              </a:solidFill>
              <a:uFill>
                <a:solidFill>
                  <a:srgbClr val="FFFFFF"/>
                </a:solidFill>
              </a:uFill>
              <a:latin typeface="Arial"/>
            </a:endParaRPr>
          </a:p>
        </p:txBody>
      </p:sp>
      <p:sp>
        <p:nvSpPr>
          <p:cNvPr id="1025" name="CustomShape 140"/>
          <p:cNvSpPr/>
          <p:nvPr/>
        </p:nvSpPr>
        <p:spPr>
          <a:xfrm>
            <a:off x="7647840" y="3198960"/>
            <a:ext cx="18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21</a:t>
            </a:r>
            <a:endParaRPr lang="en-US" sz="1800" strike="noStrike" spc="-1">
              <a:solidFill>
                <a:srgbClr val="000000"/>
              </a:solidFill>
              <a:uFill>
                <a:solidFill>
                  <a:srgbClr val="FFFFFF"/>
                </a:solidFill>
              </a:uFill>
              <a:latin typeface="Arial"/>
            </a:endParaRPr>
          </a:p>
        </p:txBody>
      </p:sp>
      <p:sp>
        <p:nvSpPr>
          <p:cNvPr id="1026" name="CustomShape 141"/>
          <p:cNvSpPr/>
          <p:nvPr/>
        </p:nvSpPr>
        <p:spPr>
          <a:xfrm>
            <a:off x="7647840" y="3357720"/>
            <a:ext cx="18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24</a:t>
            </a:r>
            <a:endParaRPr lang="en-US" sz="1800" strike="noStrike" spc="-1">
              <a:solidFill>
                <a:srgbClr val="000000"/>
              </a:solidFill>
              <a:uFill>
                <a:solidFill>
                  <a:srgbClr val="FFFFFF"/>
                </a:solidFill>
              </a:uFill>
              <a:latin typeface="Arial"/>
            </a:endParaRPr>
          </a:p>
        </p:txBody>
      </p:sp>
      <p:sp>
        <p:nvSpPr>
          <p:cNvPr id="1027" name="CustomShape 142"/>
          <p:cNvSpPr/>
          <p:nvPr/>
        </p:nvSpPr>
        <p:spPr>
          <a:xfrm>
            <a:off x="7647840" y="3522600"/>
            <a:ext cx="18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25</a:t>
            </a:r>
            <a:endParaRPr lang="en-US" sz="1800" strike="noStrike" spc="-1">
              <a:solidFill>
                <a:srgbClr val="000000"/>
              </a:solidFill>
              <a:uFill>
                <a:solidFill>
                  <a:srgbClr val="FFFFFF"/>
                </a:solidFill>
              </a:uFill>
              <a:latin typeface="Arial"/>
            </a:endParaRPr>
          </a:p>
        </p:txBody>
      </p:sp>
      <p:sp>
        <p:nvSpPr>
          <p:cNvPr id="1028" name="CustomShape 143"/>
          <p:cNvSpPr/>
          <p:nvPr/>
        </p:nvSpPr>
        <p:spPr>
          <a:xfrm>
            <a:off x="7647840" y="3681360"/>
            <a:ext cx="18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24</a:t>
            </a:r>
            <a:endParaRPr lang="en-US" sz="1800" strike="noStrike" spc="-1">
              <a:solidFill>
                <a:srgbClr val="000000"/>
              </a:solidFill>
              <a:uFill>
                <a:solidFill>
                  <a:srgbClr val="FFFFFF"/>
                </a:solidFill>
              </a:uFill>
              <a:latin typeface="Arial"/>
            </a:endParaRPr>
          </a:p>
        </p:txBody>
      </p:sp>
      <p:sp>
        <p:nvSpPr>
          <p:cNvPr id="1029" name="CustomShape 144"/>
          <p:cNvSpPr/>
          <p:nvPr/>
        </p:nvSpPr>
        <p:spPr>
          <a:xfrm>
            <a:off x="7647840" y="3844800"/>
            <a:ext cx="18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21</a:t>
            </a:r>
            <a:endParaRPr lang="en-US" sz="1800" strike="noStrike" spc="-1">
              <a:solidFill>
                <a:srgbClr val="000000"/>
              </a:solidFill>
              <a:uFill>
                <a:solidFill>
                  <a:srgbClr val="FFFFFF"/>
                </a:solidFill>
              </a:uFill>
              <a:latin typeface="Arial"/>
            </a:endParaRPr>
          </a:p>
        </p:txBody>
      </p:sp>
      <p:sp>
        <p:nvSpPr>
          <p:cNvPr id="1030" name="CustomShape 145"/>
          <p:cNvSpPr/>
          <p:nvPr/>
        </p:nvSpPr>
        <p:spPr>
          <a:xfrm>
            <a:off x="7647840" y="4003560"/>
            <a:ext cx="18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16</a:t>
            </a:r>
            <a:endParaRPr lang="en-US" sz="1800" strike="noStrike" spc="-1">
              <a:solidFill>
                <a:srgbClr val="000000"/>
              </a:solidFill>
              <a:uFill>
                <a:solidFill>
                  <a:srgbClr val="FFFFFF"/>
                </a:solidFill>
              </a:uFill>
              <a:latin typeface="Arial"/>
            </a:endParaRPr>
          </a:p>
        </p:txBody>
      </p:sp>
      <p:sp>
        <p:nvSpPr>
          <p:cNvPr id="1031" name="CustomShape 146"/>
          <p:cNvSpPr/>
          <p:nvPr/>
        </p:nvSpPr>
        <p:spPr>
          <a:xfrm>
            <a:off x="7722360" y="416880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9</a:t>
            </a:r>
            <a:endParaRPr lang="en-US" sz="1800" strike="noStrike" spc="-1">
              <a:solidFill>
                <a:srgbClr val="000000"/>
              </a:solidFill>
              <a:uFill>
                <a:solidFill>
                  <a:srgbClr val="FFFFFF"/>
                </a:solidFill>
              </a:uFill>
              <a:latin typeface="Arial"/>
            </a:endParaRPr>
          </a:p>
        </p:txBody>
      </p:sp>
      <p:sp>
        <p:nvSpPr>
          <p:cNvPr id="1032" name="CustomShape 147"/>
          <p:cNvSpPr/>
          <p:nvPr/>
        </p:nvSpPr>
        <p:spPr>
          <a:xfrm>
            <a:off x="7722360" y="43275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1033" name="CustomShape 148"/>
          <p:cNvSpPr/>
          <p:nvPr/>
        </p:nvSpPr>
        <p:spPr>
          <a:xfrm>
            <a:off x="6779520" y="2714760"/>
            <a:ext cx="18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10</a:t>
            </a:r>
            <a:endParaRPr lang="en-US" sz="1800" strike="noStrike" spc="-1">
              <a:solidFill>
                <a:srgbClr val="000000"/>
              </a:solidFill>
              <a:uFill>
                <a:solidFill>
                  <a:srgbClr val="FFFFFF"/>
                </a:solidFill>
              </a:uFill>
              <a:latin typeface="Arial"/>
            </a:endParaRPr>
          </a:p>
        </p:txBody>
      </p:sp>
      <p:sp>
        <p:nvSpPr>
          <p:cNvPr id="1034" name="CustomShape 149"/>
          <p:cNvSpPr/>
          <p:nvPr/>
        </p:nvSpPr>
        <p:spPr>
          <a:xfrm>
            <a:off x="6854040" y="28749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9</a:t>
            </a:r>
            <a:endParaRPr lang="en-US" sz="1800" strike="noStrike" spc="-1">
              <a:solidFill>
                <a:srgbClr val="000000"/>
              </a:solidFill>
              <a:uFill>
                <a:solidFill>
                  <a:srgbClr val="FFFFFF"/>
                </a:solidFill>
              </a:uFill>
              <a:latin typeface="Arial"/>
            </a:endParaRPr>
          </a:p>
        </p:txBody>
      </p:sp>
      <p:sp>
        <p:nvSpPr>
          <p:cNvPr id="1035" name="CustomShape 150"/>
          <p:cNvSpPr/>
          <p:nvPr/>
        </p:nvSpPr>
        <p:spPr>
          <a:xfrm>
            <a:off x="6854040" y="303372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8</a:t>
            </a:r>
            <a:endParaRPr lang="en-US" sz="1800" strike="noStrike" spc="-1">
              <a:solidFill>
                <a:srgbClr val="000000"/>
              </a:solidFill>
              <a:uFill>
                <a:solidFill>
                  <a:srgbClr val="FFFFFF"/>
                </a:solidFill>
              </a:uFill>
              <a:latin typeface="Arial"/>
            </a:endParaRPr>
          </a:p>
        </p:txBody>
      </p:sp>
      <p:sp>
        <p:nvSpPr>
          <p:cNvPr id="1036" name="CustomShape 151"/>
          <p:cNvSpPr/>
          <p:nvPr/>
        </p:nvSpPr>
        <p:spPr>
          <a:xfrm>
            <a:off x="6854040" y="31989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7</a:t>
            </a:r>
            <a:endParaRPr lang="en-US" sz="1800" strike="noStrike" spc="-1">
              <a:solidFill>
                <a:srgbClr val="000000"/>
              </a:solidFill>
              <a:uFill>
                <a:solidFill>
                  <a:srgbClr val="FFFFFF"/>
                </a:solidFill>
              </a:uFill>
              <a:latin typeface="Arial"/>
            </a:endParaRPr>
          </a:p>
        </p:txBody>
      </p:sp>
      <p:sp>
        <p:nvSpPr>
          <p:cNvPr id="1037" name="CustomShape 152"/>
          <p:cNvSpPr/>
          <p:nvPr/>
        </p:nvSpPr>
        <p:spPr>
          <a:xfrm>
            <a:off x="6854040" y="335772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6</a:t>
            </a:r>
            <a:endParaRPr lang="en-US" sz="1800" strike="noStrike" spc="-1">
              <a:solidFill>
                <a:srgbClr val="000000"/>
              </a:solidFill>
              <a:uFill>
                <a:solidFill>
                  <a:srgbClr val="FFFFFF"/>
                </a:solidFill>
              </a:uFill>
              <a:latin typeface="Arial"/>
            </a:endParaRPr>
          </a:p>
        </p:txBody>
      </p:sp>
      <p:sp>
        <p:nvSpPr>
          <p:cNvPr id="1038" name="CustomShape 153"/>
          <p:cNvSpPr/>
          <p:nvPr/>
        </p:nvSpPr>
        <p:spPr>
          <a:xfrm>
            <a:off x="6854040" y="352260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5</a:t>
            </a:r>
            <a:endParaRPr lang="en-US" sz="1800" strike="noStrike" spc="-1">
              <a:solidFill>
                <a:srgbClr val="000000"/>
              </a:solidFill>
              <a:uFill>
                <a:solidFill>
                  <a:srgbClr val="FFFFFF"/>
                </a:solidFill>
              </a:uFill>
              <a:latin typeface="Arial"/>
            </a:endParaRPr>
          </a:p>
        </p:txBody>
      </p:sp>
      <p:sp>
        <p:nvSpPr>
          <p:cNvPr id="1039" name="CustomShape 154"/>
          <p:cNvSpPr/>
          <p:nvPr/>
        </p:nvSpPr>
        <p:spPr>
          <a:xfrm>
            <a:off x="6854040" y="36813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4</a:t>
            </a:r>
            <a:endParaRPr lang="en-US" sz="1800" strike="noStrike" spc="-1">
              <a:solidFill>
                <a:srgbClr val="000000"/>
              </a:solidFill>
              <a:uFill>
                <a:solidFill>
                  <a:srgbClr val="FFFFFF"/>
                </a:solidFill>
              </a:uFill>
              <a:latin typeface="Arial"/>
            </a:endParaRPr>
          </a:p>
        </p:txBody>
      </p:sp>
      <p:sp>
        <p:nvSpPr>
          <p:cNvPr id="1040" name="CustomShape 155"/>
          <p:cNvSpPr/>
          <p:nvPr/>
        </p:nvSpPr>
        <p:spPr>
          <a:xfrm>
            <a:off x="6854040" y="384480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3</a:t>
            </a:r>
            <a:endParaRPr lang="en-US" sz="1800" strike="noStrike" spc="-1">
              <a:solidFill>
                <a:srgbClr val="000000"/>
              </a:solidFill>
              <a:uFill>
                <a:solidFill>
                  <a:srgbClr val="FFFFFF"/>
                </a:solidFill>
              </a:uFill>
              <a:latin typeface="Arial"/>
            </a:endParaRPr>
          </a:p>
        </p:txBody>
      </p:sp>
      <p:sp>
        <p:nvSpPr>
          <p:cNvPr id="1041" name="CustomShape 156"/>
          <p:cNvSpPr/>
          <p:nvPr/>
        </p:nvSpPr>
        <p:spPr>
          <a:xfrm>
            <a:off x="6854040" y="40035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2</a:t>
            </a:r>
            <a:endParaRPr lang="en-US" sz="1800" strike="noStrike" spc="-1">
              <a:solidFill>
                <a:srgbClr val="000000"/>
              </a:solidFill>
              <a:uFill>
                <a:solidFill>
                  <a:srgbClr val="FFFFFF"/>
                </a:solidFill>
              </a:uFill>
              <a:latin typeface="Arial"/>
            </a:endParaRPr>
          </a:p>
        </p:txBody>
      </p:sp>
      <p:sp>
        <p:nvSpPr>
          <p:cNvPr id="1042" name="CustomShape 157"/>
          <p:cNvSpPr/>
          <p:nvPr/>
        </p:nvSpPr>
        <p:spPr>
          <a:xfrm>
            <a:off x="6854040" y="416880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1</a:t>
            </a:r>
            <a:endParaRPr lang="en-US" sz="1800" strike="noStrike" spc="-1">
              <a:solidFill>
                <a:srgbClr val="000000"/>
              </a:solidFill>
              <a:uFill>
                <a:solidFill>
                  <a:srgbClr val="FFFFFF"/>
                </a:solidFill>
              </a:uFill>
              <a:latin typeface="Arial"/>
            </a:endParaRPr>
          </a:p>
        </p:txBody>
      </p:sp>
      <p:sp>
        <p:nvSpPr>
          <p:cNvPr id="1043" name="CustomShape 158"/>
          <p:cNvSpPr/>
          <p:nvPr/>
        </p:nvSpPr>
        <p:spPr>
          <a:xfrm>
            <a:off x="6854040" y="4327560"/>
            <a:ext cx="92160" cy="1670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1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1044" name="CustomShape 159"/>
          <p:cNvSpPr/>
          <p:nvPr/>
        </p:nvSpPr>
        <p:spPr>
          <a:xfrm>
            <a:off x="5624640" y="2338560"/>
            <a:ext cx="2534760" cy="342720"/>
          </a:xfrm>
          <a:prstGeom prst="rect">
            <a:avLst/>
          </a:prstGeom>
          <a:solidFill>
            <a:srgbClr val="EBDFD7"/>
          </a:solidFill>
          <a:ln w="9360">
            <a:noFill/>
          </a:ln>
        </p:spPr>
        <p:style>
          <a:lnRef idx="0">
            <a:scrgbClr r="0" g="0" b="0"/>
          </a:lnRef>
          <a:fillRef idx="0">
            <a:scrgbClr r="0" g="0" b="0"/>
          </a:fillRef>
          <a:effectRef idx="0">
            <a:scrgbClr r="0" g="0" b="0"/>
          </a:effectRef>
          <a:fontRef idx="minor"/>
        </p:style>
      </p:sp>
      <p:sp>
        <p:nvSpPr>
          <p:cNvPr id="1045" name="CustomShape 160"/>
          <p:cNvSpPr/>
          <p:nvPr/>
        </p:nvSpPr>
        <p:spPr>
          <a:xfrm>
            <a:off x="7412040" y="2340000"/>
            <a:ext cx="671040" cy="3351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100" b="1" strike="noStrike" spc="-1">
                <a:solidFill>
                  <a:srgbClr val="000000"/>
                </a:solidFill>
                <a:uFill>
                  <a:solidFill>
                    <a:srgbClr val="FFFFFF"/>
                  </a:solidFill>
                </a:uFill>
                <a:latin typeface="Calibri"/>
                <a:ea typeface="MS PGothic"/>
              </a:rPr>
              <a:t>Total Revenue</a:t>
            </a:r>
            <a:endParaRPr lang="en-US" sz="1800" strike="noStrike" spc="-1">
              <a:solidFill>
                <a:srgbClr val="000000"/>
              </a:solidFill>
              <a:uFill>
                <a:solidFill>
                  <a:srgbClr val="FFFFFF"/>
                </a:solidFill>
              </a:uFill>
              <a:latin typeface="Arial"/>
            </a:endParaRPr>
          </a:p>
        </p:txBody>
      </p:sp>
      <p:sp>
        <p:nvSpPr>
          <p:cNvPr id="1046" name="CustomShape 161"/>
          <p:cNvSpPr/>
          <p:nvPr/>
        </p:nvSpPr>
        <p:spPr>
          <a:xfrm>
            <a:off x="6512040" y="2340000"/>
            <a:ext cx="748800" cy="3351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100" b="1" strike="noStrike" spc="-1">
                <a:solidFill>
                  <a:srgbClr val="000000"/>
                </a:solidFill>
                <a:uFill>
                  <a:solidFill>
                    <a:srgbClr val="FFFFFF"/>
                  </a:solidFill>
                </a:uFill>
                <a:latin typeface="Calibri"/>
                <a:ea typeface="MS PGothic"/>
              </a:rPr>
              <a:t>Quantity demanded</a:t>
            </a:r>
            <a:endParaRPr lang="en-US" sz="1800" strike="noStrike" spc="-1">
              <a:solidFill>
                <a:srgbClr val="000000"/>
              </a:solidFill>
              <a:uFill>
                <a:solidFill>
                  <a:srgbClr val="FFFFFF"/>
                </a:solidFill>
              </a:uFill>
              <a:latin typeface="Arial"/>
            </a:endParaRPr>
          </a:p>
        </p:txBody>
      </p:sp>
      <p:sp>
        <p:nvSpPr>
          <p:cNvPr id="1047" name="CustomShape 162"/>
          <p:cNvSpPr/>
          <p:nvPr/>
        </p:nvSpPr>
        <p:spPr>
          <a:xfrm>
            <a:off x="5688000" y="1998720"/>
            <a:ext cx="2417400" cy="3351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100" b="1" strike="noStrike" spc="-1">
                <a:solidFill>
                  <a:srgbClr val="000000"/>
                </a:solidFill>
                <a:uFill>
                  <a:solidFill>
                    <a:srgbClr val="FFFFFF"/>
                  </a:solidFill>
                </a:uFill>
                <a:latin typeface="Myriad Roman"/>
                <a:ea typeface="MS PGothic"/>
              </a:rPr>
              <a:t> </a:t>
            </a:r>
            <a:r>
              <a:rPr lang="en-US" sz="1100" b="1" strike="noStrike" spc="-1">
                <a:solidFill>
                  <a:srgbClr val="000000"/>
                </a:solidFill>
                <a:uFill>
                  <a:solidFill>
                    <a:srgbClr val="FFFFFF"/>
                  </a:solidFill>
                </a:uFill>
                <a:latin typeface="Calibri"/>
                <a:ea typeface="MS PGothic"/>
              </a:rPr>
              <a:t>Demand Schedule and Total Revenue </a:t>
            </a:r>
            <a:endParaRPr lang="en-US" sz="1800" strike="noStrike" spc="-1">
              <a:solidFill>
                <a:srgbClr val="000000"/>
              </a:solidFill>
              <a:uFill>
                <a:solidFill>
                  <a:srgbClr val="FFFFFF"/>
                </a:solidFill>
              </a:uFill>
              <a:latin typeface="Arial"/>
            </a:endParaRPr>
          </a:p>
          <a:p>
            <a:pPr marL="1440" indent="-1080" algn="ctr">
              <a:lnSpc>
                <a:spcPct val="100000"/>
              </a:lnSpc>
            </a:pPr>
            <a:r>
              <a:rPr lang="en-US" sz="1100" b="1" strike="noStrike" spc="-1">
                <a:solidFill>
                  <a:srgbClr val="000000"/>
                </a:solidFill>
                <a:uFill>
                  <a:solidFill>
                    <a:srgbClr val="FFFFFF"/>
                  </a:solidFill>
                </a:uFill>
                <a:latin typeface="Calibri"/>
                <a:ea typeface="MS PGothic"/>
              </a:rPr>
              <a:t>for a Linear Demand Curve</a:t>
            </a:r>
            <a:endParaRPr lang="en-US" sz="1800" strike="noStrike" spc="-1">
              <a:solidFill>
                <a:srgbClr val="000000"/>
              </a:solidFill>
              <a:uFill>
                <a:solidFill>
                  <a:srgbClr val="FFFFFF"/>
                </a:solidFill>
              </a:uFill>
              <a:latin typeface="Arial"/>
            </a:endParaRPr>
          </a:p>
        </p:txBody>
      </p:sp>
      <p:sp>
        <p:nvSpPr>
          <p:cNvPr id="1048" name="CustomShape 163"/>
          <p:cNvSpPr/>
          <p:nvPr/>
        </p:nvSpPr>
        <p:spPr>
          <a:xfrm>
            <a:off x="5893560" y="2424240"/>
            <a:ext cx="291600" cy="167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gn="ctr">
              <a:lnSpc>
                <a:spcPct val="100000"/>
              </a:lnSpc>
            </a:pPr>
            <a:r>
              <a:rPr lang="en-US" sz="1100" b="1" strike="noStrike" spc="-1">
                <a:solidFill>
                  <a:srgbClr val="000000"/>
                </a:solidFill>
                <a:uFill>
                  <a:solidFill>
                    <a:srgbClr val="FFFFFF"/>
                  </a:solidFill>
                </a:uFill>
                <a:latin typeface="Calibri"/>
                <a:ea typeface="MS PGothic"/>
              </a:rPr>
              <a:t>Price</a:t>
            </a:r>
            <a:endParaRPr lang="en-US" sz="1800" strike="noStrike" spc="-1">
              <a:solidFill>
                <a:srgbClr val="000000"/>
              </a:solidFill>
              <a:uFill>
                <a:solidFill>
                  <a:srgbClr val="FFFFFF"/>
                </a:solidFill>
              </a:uFill>
              <a:latin typeface="Arial"/>
            </a:endParaRPr>
          </a:p>
        </p:txBody>
      </p:sp>
      <p:sp>
        <p:nvSpPr>
          <p:cNvPr id="1049" name="Line 164"/>
          <p:cNvSpPr/>
          <p:nvPr/>
        </p:nvSpPr>
        <p:spPr>
          <a:xfrm>
            <a:off x="5624280" y="3017520"/>
            <a:ext cx="2535120" cy="360"/>
          </a:xfrm>
          <a:prstGeom prst="line">
            <a:avLst/>
          </a:prstGeom>
          <a:ln w="6480">
            <a:solidFill>
              <a:srgbClr val="D1D3D4"/>
            </a:solidFill>
            <a:miter/>
          </a:ln>
        </p:spPr>
        <p:style>
          <a:lnRef idx="0">
            <a:scrgbClr r="0" g="0" b="0"/>
          </a:lnRef>
          <a:fillRef idx="0">
            <a:scrgbClr r="0" g="0" b="0"/>
          </a:fillRef>
          <a:effectRef idx="0">
            <a:scrgbClr r="0" g="0" b="0"/>
          </a:effectRef>
          <a:fontRef idx="minor"/>
        </p:style>
      </p:sp>
      <p:sp>
        <p:nvSpPr>
          <p:cNvPr id="1050" name="Line 165"/>
          <p:cNvSpPr/>
          <p:nvPr/>
        </p:nvSpPr>
        <p:spPr>
          <a:xfrm>
            <a:off x="5624280" y="3179520"/>
            <a:ext cx="2535120" cy="360"/>
          </a:xfrm>
          <a:prstGeom prst="line">
            <a:avLst/>
          </a:prstGeom>
          <a:ln w="6480">
            <a:solidFill>
              <a:srgbClr val="D1D3D4"/>
            </a:solidFill>
            <a:miter/>
          </a:ln>
        </p:spPr>
        <p:style>
          <a:lnRef idx="0">
            <a:scrgbClr r="0" g="0" b="0"/>
          </a:lnRef>
          <a:fillRef idx="0">
            <a:scrgbClr r="0" g="0" b="0"/>
          </a:fillRef>
          <a:effectRef idx="0">
            <a:scrgbClr r="0" g="0" b="0"/>
          </a:effectRef>
          <a:fontRef idx="minor"/>
        </p:style>
      </p:sp>
      <p:sp>
        <p:nvSpPr>
          <p:cNvPr id="1051" name="Line 166"/>
          <p:cNvSpPr/>
          <p:nvPr/>
        </p:nvSpPr>
        <p:spPr>
          <a:xfrm>
            <a:off x="5624280" y="3340080"/>
            <a:ext cx="2535120" cy="360"/>
          </a:xfrm>
          <a:prstGeom prst="line">
            <a:avLst/>
          </a:prstGeom>
          <a:ln w="6480">
            <a:solidFill>
              <a:srgbClr val="D1D3D4"/>
            </a:solidFill>
            <a:miter/>
          </a:ln>
        </p:spPr>
        <p:style>
          <a:lnRef idx="0">
            <a:scrgbClr r="0" g="0" b="0"/>
          </a:lnRef>
          <a:fillRef idx="0">
            <a:scrgbClr r="0" g="0" b="0"/>
          </a:fillRef>
          <a:effectRef idx="0">
            <a:scrgbClr r="0" g="0" b="0"/>
          </a:effectRef>
          <a:fontRef idx="minor"/>
        </p:style>
      </p:sp>
      <p:sp>
        <p:nvSpPr>
          <p:cNvPr id="1052" name="Line 167"/>
          <p:cNvSpPr/>
          <p:nvPr/>
        </p:nvSpPr>
        <p:spPr>
          <a:xfrm>
            <a:off x="5624280" y="3501720"/>
            <a:ext cx="2535120" cy="360"/>
          </a:xfrm>
          <a:prstGeom prst="line">
            <a:avLst/>
          </a:prstGeom>
          <a:ln w="6480">
            <a:solidFill>
              <a:srgbClr val="D1D3D4"/>
            </a:solidFill>
            <a:miter/>
          </a:ln>
        </p:spPr>
        <p:style>
          <a:lnRef idx="0">
            <a:scrgbClr r="0" g="0" b="0"/>
          </a:lnRef>
          <a:fillRef idx="0">
            <a:scrgbClr r="0" g="0" b="0"/>
          </a:fillRef>
          <a:effectRef idx="0">
            <a:scrgbClr r="0" g="0" b="0"/>
          </a:effectRef>
          <a:fontRef idx="minor"/>
        </p:style>
      </p:sp>
      <p:sp>
        <p:nvSpPr>
          <p:cNvPr id="1053" name="Line 168"/>
          <p:cNvSpPr/>
          <p:nvPr/>
        </p:nvSpPr>
        <p:spPr>
          <a:xfrm>
            <a:off x="5624280" y="3676320"/>
            <a:ext cx="2535120" cy="360"/>
          </a:xfrm>
          <a:prstGeom prst="line">
            <a:avLst/>
          </a:prstGeom>
          <a:ln w="6480">
            <a:solidFill>
              <a:srgbClr val="D1D3D4"/>
            </a:solidFill>
            <a:miter/>
          </a:ln>
        </p:spPr>
        <p:style>
          <a:lnRef idx="0">
            <a:scrgbClr r="0" g="0" b="0"/>
          </a:lnRef>
          <a:fillRef idx="0">
            <a:scrgbClr r="0" g="0" b="0"/>
          </a:fillRef>
          <a:effectRef idx="0">
            <a:scrgbClr r="0" g="0" b="0"/>
          </a:effectRef>
          <a:fontRef idx="minor"/>
        </p:style>
      </p:sp>
      <p:sp>
        <p:nvSpPr>
          <p:cNvPr id="1054" name="Line 169"/>
          <p:cNvSpPr/>
          <p:nvPr/>
        </p:nvSpPr>
        <p:spPr>
          <a:xfrm>
            <a:off x="5624280" y="3838320"/>
            <a:ext cx="2535120" cy="360"/>
          </a:xfrm>
          <a:prstGeom prst="line">
            <a:avLst/>
          </a:prstGeom>
          <a:ln w="6480">
            <a:solidFill>
              <a:srgbClr val="D1D3D4"/>
            </a:solidFill>
            <a:miter/>
          </a:ln>
        </p:spPr>
        <p:style>
          <a:lnRef idx="0">
            <a:scrgbClr r="0" g="0" b="0"/>
          </a:lnRef>
          <a:fillRef idx="0">
            <a:scrgbClr r="0" g="0" b="0"/>
          </a:fillRef>
          <a:effectRef idx="0">
            <a:scrgbClr r="0" g="0" b="0"/>
          </a:effectRef>
          <a:fontRef idx="minor"/>
        </p:style>
      </p:sp>
      <p:sp>
        <p:nvSpPr>
          <p:cNvPr id="1055" name="Line 170"/>
          <p:cNvSpPr/>
          <p:nvPr/>
        </p:nvSpPr>
        <p:spPr>
          <a:xfrm>
            <a:off x="5624280" y="3985920"/>
            <a:ext cx="2535120" cy="360"/>
          </a:xfrm>
          <a:prstGeom prst="line">
            <a:avLst/>
          </a:prstGeom>
          <a:ln w="6480">
            <a:solidFill>
              <a:srgbClr val="D1D3D4"/>
            </a:solidFill>
            <a:miter/>
          </a:ln>
        </p:spPr>
        <p:style>
          <a:lnRef idx="0">
            <a:scrgbClr r="0" g="0" b="0"/>
          </a:lnRef>
          <a:fillRef idx="0">
            <a:scrgbClr r="0" g="0" b="0"/>
          </a:fillRef>
          <a:effectRef idx="0">
            <a:scrgbClr r="0" g="0" b="0"/>
          </a:effectRef>
          <a:fontRef idx="minor"/>
        </p:style>
      </p:sp>
      <p:sp>
        <p:nvSpPr>
          <p:cNvPr id="1056" name="Line 171"/>
          <p:cNvSpPr/>
          <p:nvPr/>
        </p:nvSpPr>
        <p:spPr>
          <a:xfrm>
            <a:off x="5624280" y="4308120"/>
            <a:ext cx="2535120" cy="360"/>
          </a:xfrm>
          <a:prstGeom prst="line">
            <a:avLst/>
          </a:prstGeom>
          <a:ln w="6480">
            <a:solidFill>
              <a:srgbClr val="D1D3D4"/>
            </a:solidFill>
            <a:miter/>
          </a:ln>
        </p:spPr>
        <p:style>
          <a:lnRef idx="0">
            <a:scrgbClr r="0" g="0" b="0"/>
          </a:lnRef>
          <a:fillRef idx="0">
            <a:scrgbClr r="0" g="0" b="0"/>
          </a:fillRef>
          <a:effectRef idx="0">
            <a:scrgbClr r="0" g="0" b="0"/>
          </a:effectRef>
          <a:fontRef idx="minor"/>
        </p:style>
      </p:sp>
      <p:sp>
        <p:nvSpPr>
          <p:cNvPr id="1057" name="Line 172"/>
          <p:cNvSpPr/>
          <p:nvPr/>
        </p:nvSpPr>
        <p:spPr>
          <a:xfrm>
            <a:off x="5638680" y="4147920"/>
            <a:ext cx="2535120" cy="360"/>
          </a:xfrm>
          <a:prstGeom prst="line">
            <a:avLst/>
          </a:prstGeom>
          <a:ln w="6480">
            <a:solidFill>
              <a:srgbClr val="D1D3D4"/>
            </a:solidFill>
            <a:miter/>
          </a:ln>
        </p:spPr>
        <p:style>
          <a:lnRef idx="0">
            <a:scrgbClr r="0" g="0" b="0"/>
          </a:lnRef>
          <a:fillRef idx="0">
            <a:scrgbClr r="0" g="0" b="0"/>
          </a:fillRef>
          <a:effectRef idx="0">
            <a:scrgbClr r="0" g="0" b="0"/>
          </a:effectRef>
          <a:fontRef idx="minor"/>
        </p:style>
      </p:sp>
      <p:sp>
        <p:nvSpPr>
          <p:cNvPr id="1058" name="Line 173"/>
          <p:cNvSpPr/>
          <p:nvPr/>
        </p:nvSpPr>
        <p:spPr>
          <a:xfrm>
            <a:off x="5624280" y="2868480"/>
            <a:ext cx="2535120" cy="360"/>
          </a:xfrm>
          <a:prstGeom prst="line">
            <a:avLst/>
          </a:prstGeom>
          <a:ln w="6480">
            <a:solidFill>
              <a:srgbClr val="D1D3D4"/>
            </a:solidFill>
            <a:miter/>
          </a:ln>
        </p:spPr>
        <p:style>
          <a:lnRef idx="0">
            <a:scrgbClr r="0" g="0" b="0"/>
          </a:lnRef>
          <a:fillRef idx="0">
            <a:scrgbClr r="0" g="0" b="0"/>
          </a:fillRef>
          <a:effectRef idx="0">
            <a:scrgbClr r="0" g="0" b="0"/>
          </a:effectRef>
          <a:fontRef idx="minor"/>
        </p:style>
      </p:sp>
      <p:sp>
        <p:nvSpPr>
          <p:cNvPr id="1059" name="Line 174"/>
          <p:cNvSpPr/>
          <p:nvPr/>
        </p:nvSpPr>
        <p:spPr>
          <a:xfrm>
            <a:off x="6427440" y="2344680"/>
            <a:ext cx="360" cy="2127240"/>
          </a:xfrm>
          <a:prstGeom prst="line">
            <a:avLst/>
          </a:prstGeom>
          <a:ln w="14400">
            <a:solidFill>
              <a:srgbClr val="BCBEC0"/>
            </a:solidFill>
            <a:miter/>
          </a:ln>
        </p:spPr>
        <p:style>
          <a:lnRef idx="0">
            <a:scrgbClr r="0" g="0" b="0"/>
          </a:lnRef>
          <a:fillRef idx="0">
            <a:scrgbClr r="0" g="0" b="0"/>
          </a:fillRef>
          <a:effectRef idx="0">
            <a:scrgbClr r="0" g="0" b="0"/>
          </a:effectRef>
          <a:fontRef idx="minor"/>
        </p:style>
      </p:sp>
      <p:sp>
        <p:nvSpPr>
          <p:cNvPr id="1060" name="Line 175"/>
          <p:cNvSpPr/>
          <p:nvPr/>
        </p:nvSpPr>
        <p:spPr>
          <a:xfrm>
            <a:off x="7323120" y="2344680"/>
            <a:ext cx="360" cy="2131920"/>
          </a:xfrm>
          <a:prstGeom prst="line">
            <a:avLst/>
          </a:prstGeom>
          <a:ln w="14400">
            <a:solidFill>
              <a:srgbClr val="BCBEC0"/>
            </a:solidFill>
            <a:miter/>
          </a:ln>
        </p:spPr>
        <p:style>
          <a:lnRef idx="0">
            <a:scrgbClr r="0" g="0" b="0"/>
          </a:lnRef>
          <a:fillRef idx="0">
            <a:scrgbClr r="0" g="0" b="0"/>
          </a:fillRef>
          <a:effectRef idx="0">
            <a:scrgbClr r="0" g="0" b="0"/>
          </a:effectRef>
          <a:fontRef idx="minor"/>
        </p:style>
      </p:sp>
      <p:sp>
        <p:nvSpPr>
          <p:cNvPr id="1061" name="CustomShape 176"/>
          <p:cNvSpPr/>
          <p:nvPr/>
        </p:nvSpPr>
        <p:spPr>
          <a:xfrm>
            <a:off x="5624640" y="1962000"/>
            <a:ext cx="2534760" cy="2522160"/>
          </a:xfrm>
          <a:prstGeom prst="rect">
            <a:avLst/>
          </a:prstGeom>
          <a:noFill/>
          <a:ln w="28440">
            <a:solidFill>
              <a:srgbClr val="E6D3CA"/>
            </a:solidFill>
            <a:miter/>
          </a:ln>
        </p:spPr>
        <p:style>
          <a:lnRef idx="0">
            <a:scrgbClr r="0" g="0" b="0"/>
          </a:lnRef>
          <a:fillRef idx="0">
            <a:scrgbClr r="0" g="0" b="0"/>
          </a:fillRef>
          <a:effectRef idx="0">
            <a:scrgbClr r="0" g="0" b="0"/>
          </a:effectRef>
          <a:fontRef idx="minor"/>
        </p:style>
      </p:sp>
      <p:sp>
        <p:nvSpPr>
          <p:cNvPr id="1062" name="CustomShape 177"/>
          <p:cNvSpPr/>
          <p:nvPr/>
        </p:nvSpPr>
        <p:spPr>
          <a:xfrm>
            <a:off x="4859280" y="4724280"/>
            <a:ext cx="4016160" cy="639000"/>
          </a:xfrm>
          <a:prstGeom prst="rect">
            <a:avLst/>
          </a:prstGeom>
          <a:solidFill>
            <a:schemeClr val="accent5">
              <a:lumMod val="20000"/>
              <a:lumOff val="80000"/>
            </a:schemeClr>
          </a:solidFill>
          <a:ln w="9360">
            <a:noFill/>
          </a:ln>
        </p:spPr>
        <p:style>
          <a:lnRef idx="0">
            <a:scrgbClr r="0" g="0" b="0"/>
          </a:lnRef>
          <a:fillRef idx="0">
            <a:scrgbClr r="0" g="0" b="0"/>
          </a:fillRef>
          <a:effectRef idx="0">
            <a:scrgbClr r="0" g="0" b="0"/>
          </a:effectRef>
          <a:fontRef idx="minor"/>
        </p:style>
        <p:txBody>
          <a:bodyPr lIns="90000" tIns="45000" rIns="90000" bIns="45000"/>
          <a:lstStyle/>
          <a:p>
            <a:pPr marL="1440" indent="-1080" algn="ctr">
              <a:lnSpc>
                <a:spcPct val="100000"/>
              </a:lnSpc>
            </a:pPr>
            <a:r>
              <a:rPr lang="en-US" sz="1800" strike="noStrike" spc="-1">
                <a:solidFill>
                  <a:srgbClr val="0033CC"/>
                </a:solidFill>
                <a:uFill>
                  <a:solidFill>
                    <a:srgbClr val="FFFFFF"/>
                  </a:solidFill>
                </a:uFill>
                <a:latin typeface="Calibri"/>
                <a:ea typeface="MS PGothic"/>
              </a:rPr>
              <a:t>The price elasticity of demand changes along the demand curve</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 name="TextShape 1"/>
          <p:cNvSpPr txBox="1"/>
          <p:nvPr/>
        </p:nvSpPr>
        <p:spPr>
          <a:xfrm>
            <a:off x="900000" y="60480"/>
            <a:ext cx="7992720" cy="555120"/>
          </a:xfrm>
          <a:prstGeom prst="rect">
            <a:avLst/>
          </a:prstGeom>
          <a:noFill/>
          <a:ln>
            <a:noFill/>
          </a:ln>
        </p:spPr>
        <p:txBody>
          <a:bodyPr anchor="ctr"/>
          <a:lstStyle/>
          <a:p>
            <a:pPr>
              <a:lnSpc>
                <a:spcPct val="100000"/>
              </a:lnSpc>
            </a:pPr>
            <a:r>
              <a:rPr lang="id-ID" sz="2400" b="1" strike="noStrike" spc="-1">
                <a:solidFill>
                  <a:srgbClr val="FFFFFF"/>
                </a:solidFill>
                <a:uFill>
                  <a:solidFill>
                    <a:srgbClr val="FFFFFF"/>
                  </a:solidFill>
                </a:uFill>
                <a:latin typeface="Calibri"/>
                <a:ea typeface="MS PGothic"/>
              </a:rPr>
              <a:t>What Factors Determine the Price Elasticity of Demand?</a:t>
            </a:r>
            <a:endParaRPr lang="id-ID" sz="3200" strike="noStrike" spc="-1">
              <a:solidFill>
                <a:srgbClr val="000000"/>
              </a:solidFill>
              <a:uFill>
                <a:solidFill>
                  <a:srgbClr val="FFFFFF"/>
                </a:solidFill>
              </a:uFill>
              <a:latin typeface="Calibri"/>
            </a:endParaRPr>
          </a:p>
        </p:txBody>
      </p:sp>
      <p:sp>
        <p:nvSpPr>
          <p:cNvPr id="1064" name="TextShape 2"/>
          <p:cNvSpPr txBox="1"/>
          <p:nvPr/>
        </p:nvSpPr>
        <p:spPr>
          <a:xfrm>
            <a:off x="809640" y="826920"/>
            <a:ext cx="7921440" cy="3816000"/>
          </a:xfrm>
          <a:prstGeom prst="rect">
            <a:avLst/>
          </a:prstGeom>
          <a:noFill/>
          <a:ln w="9360">
            <a:noFill/>
          </a:ln>
        </p:spPr>
        <p:txBody>
          <a:bodyPr/>
          <a:lstStyle/>
          <a:p>
            <a:pPr marL="343080" indent="-342720">
              <a:lnSpc>
                <a:spcPct val="100000"/>
              </a:lnSpc>
            </a:pPr>
            <a:r>
              <a:rPr lang="id-ID" sz="2500" b="1" strike="noStrike" spc="-1">
                <a:solidFill>
                  <a:srgbClr val="000000"/>
                </a:solidFill>
                <a:uFill>
                  <a:solidFill>
                    <a:srgbClr val="FFFFFF"/>
                  </a:solidFill>
                </a:uFill>
                <a:latin typeface="Calibri"/>
                <a:ea typeface="MS PGothic"/>
              </a:rPr>
              <a:t>Price elasticity of demand </a:t>
            </a:r>
            <a:r>
              <a:rPr lang="id-ID" sz="2500" strike="noStrike" spc="-1">
                <a:solidFill>
                  <a:srgbClr val="000000"/>
                </a:solidFill>
                <a:uFill>
                  <a:solidFill>
                    <a:srgbClr val="FFFFFF"/>
                  </a:solidFill>
                </a:uFill>
                <a:latin typeface="Calibri"/>
                <a:ea typeface="MS PGothic"/>
              </a:rPr>
              <a:t>is determined by:</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500" strike="noStrike" spc="-1">
                <a:solidFill>
                  <a:srgbClr val="000000"/>
                </a:solidFill>
                <a:uFill>
                  <a:solidFill>
                    <a:srgbClr val="FFFFFF"/>
                  </a:solidFill>
                </a:uFill>
                <a:latin typeface="Calibri"/>
                <a:ea typeface="MS PGothic"/>
              </a:rPr>
              <a:t>Whether close substitutes are available</a:t>
            </a:r>
            <a:endParaRPr lang="id-ID" sz="2500" strike="noStrike" spc="-1">
              <a:solidFill>
                <a:srgbClr val="000000"/>
              </a:solidFill>
              <a:uFill>
                <a:solidFill>
                  <a:srgbClr val="FFFFFF"/>
                </a:solidFill>
              </a:uFill>
              <a:latin typeface="Calibri"/>
            </a:endParaRPr>
          </a:p>
          <a:p>
            <a:pPr marL="864000" lvl="1" indent="-324000">
              <a:buClr>
                <a:srgbClr val="000000"/>
              </a:buClr>
              <a:buSzPct val="75000"/>
              <a:buFont typeface="Symbol" charset="2"/>
              <a:buChar char=""/>
            </a:pPr>
            <a:r>
              <a:rPr lang="id-ID" sz="2500" strike="noStrike" spc="-1">
                <a:solidFill>
                  <a:srgbClr val="000000"/>
                </a:solidFill>
                <a:uFill>
                  <a:solidFill>
                    <a:srgbClr val="FFFFFF"/>
                  </a:solidFill>
                </a:uFill>
                <a:latin typeface="Calibri"/>
                <a:ea typeface="MS PGothic"/>
              </a:rPr>
              <a:t>more elastic</a:t>
            </a:r>
            <a:endParaRPr lang="id-ID" sz="23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500" strike="noStrike" spc="-1">
                <a:solidFill>
                  <a:srgbClr val="000000"/>
                </a:solidFill>
                <a:uFill>
                  <a:solidFill>
                    <a:srgbClr val="FFFFFF"/>
                  </a:solidFill>
                </a:uFill>
                <a:latin typeface="Calibri"/>
                <a:ea typeface="MS PGothic"/>
              </a:rPr>
              <a:t>Whether the good is a necessity or a luxury</a:t>
            </a:r>
            <a:endParaRPr lang="id-ID" sz="2500" strike="noStrike" spc="-1">
              <a:solidFill>
                <a:srgbClr val="000000"/>
              </a:solidFill>
              <a:uFill>
                <a:solidFill>
                  <a:srgbClr val="FFFFFF"/>
                </a:solidFill>
              </a:uFill>
              <a:latin typeface="Calibri"/>
            </a:endParaRPr>
          </a:p>
          <a:p>
            <a:pPr marL="864000" lvl="1" indent="-324000">
              <a:buClr>
                <a:srgbClr val="000000"/>
              </a:buClr>
              <a:buSzPct val="75000"/>
              <a:buFont typeface="Symbol" charset="2"/>
              <a:buChar char=""/>
            </a:pPr>
            <a:r>
              <a:rPr lang="id-ID" sz="2500" strike="noStrike" spc="-1">
                <a:solidFill>
                  <a:srgbClr val="000000"/>
                </a:solidFill>
                <a:uFill>
                  <a:solidFill>
                    <a:srgbClr val="FFFFFF"/>
                  </a:solidFill>
                </a:uFill>
                <a:latin typeface="Calibri"/>
                <a:ea typeface="MS PGothic"/>
              </a:rPr>
              <a:t>neccesity is less elastic</a:t>
            </a:r>
            <a:endParaRPr lang="id-ID" sz="23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500" strike="noStrike" spc="-1">
                <a:solidFill>
                  <a:srgbClr val="000000"/>
                </a:solidFill>
                <a:uFill>
                  <a:solidFill>
                    <a:srgbClr val="FFFFFF"/>
                  </a:solidFill>
                </a:uFill>
                <a:latin typeface="Calibri"/>
                <a:ea typeface="MS PGothic"/>
              </a:rPr>
              <a:t>Share of income spent on the good</a:t>
            </a:r>
            <a:endParaRPr lang="id-ID" sz="2500" strike="noStrike" spc="-1">
              <a:solidFill>
                <a:srgbClr val="000000"/>
              </a:solidFill>
              <a:uFill>
                <a:solidFill>
                  <a:srgbClr val="FFFFFF"/>
                </a:solidFill>
              </a:uFill>
              <a:latin typeface="Calibri"/>
            </a:endParaRPr>
          </a:p>
          <a:p>
            <a:pPr marL="864000" lvl="1" indent="-324000">
              <a:buClr>
                <a:srgbClr val="000000"/>
              </a:buClr>
              <a:buSzPct val="75000"/>
              <a:buFont typeface="Symbol" charset="2"/>
              <a:buChar char=""/>
            </a:pPr>
            <a:r>
              <a:rPr lang="id-ID" sz="2500" strike="noStrike" spc="-1">
                <a:solidFill>
                  <a:srgbClr val="000000"/>
                </a:solidFill>
                <a:uFill>
                  <a:solidFill>
                    <a:srgbClr val="FFFFFF"/>
                  </a:solidFill>
                </a:uFill>
                <a:latin typeface="Calibri"/>
                <a:ea typeface="MS PGothic"/>
              </a:rPr>
              <a:t>more elastic</a:t>
            </a:r>
            <a:endParaRPr lang="id-ID" sz="23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500" strike="noStrike" spc="-1">
                <a:solidFill>
                  <a:srgbClr val="000000"/>
                </a:solidFill>
                <a:uFill>
                  <a:solidFill>
                    <a:srgbClr val="FFFFFF"/>
                  </a:solidFill>
                </a:uFill>
                <a:latin typeface="Calibri"/>
                <a:ea typeface="MS PGothic"/>
              </a:rPr>
              <a:t>Time to adjust </a:t>
            </a:r>
            <a:endParaRPr lang="id-ID" sz="2500" strike="noStrike" spc="-1">
              <a:solidFill>
                <a:srgbClr val="000000"/>
              </a:solidFill>
              <a:uFill>
                <a:solidFill>
                  <a:srgbClr val="FFFFFF"/>
                </a:solidFill>
              </a:uFill>
              <a:latin typeface="Calibri"/>
            </a:endParaRPr>
          </a:p>
          <a:p>
            <a:pPr marL="864000" lvl="1" indent="-324000">
              <a:buClr>
                <a:srgbClr val="000000"/>
              </a:buClr>
              <a:buSzPct val="75000"/>
              <a:buFont typeface="Symbol" charset="2"/>
              <a:buChar char=""/>
            </a:pPr>
            <a:r>
              <a:rPr lang="id-ID" sz="2500" strike="noStrike" spc="-1">
                <a:solidFill>
                  <a:srgbClr val="000000"/>
                </a:solidFill>
                <a:uFill>
                  <a:solidFill>
                    <a:srgbClr val="FFFFFF"/>
                  </a:solidFill>
                </a:uFill>
                <a:latin typeface="Calibri"/>
                <a:ea typeface="MS PGothic"/>
              </a:rPr>
              <a:t>More elastic</a:t>
            </a:r>
            <a:endParaRPr lang="id-ID" sz="2300" strike="noStrike" spc="-1">
              <a:solidFill>
                <a:srgbClr val="000000"/>
              </a:solidFill>
              <a:uFill>
                <a:solidFill>
                  <a:srgbClr val="FFFFFF"/>
                </a:solidFill>
              </a:uFill>
              <a:latin typeface="Calibri"/>
            </a:endParaRPr>
          </a:p>
        </p:txBody>
      </p:sp>
      <p:pic>
        <p:nvPicPr>
          <p:cNvPr id="1065" name="Picture 2"/>
          <p:cNvPicPr/>
          <p:nvPr/>
        </p:nvPicPr>
        <p:blipFill>
          <a:blip r:embed="rId3"/>
          <a:stretch/>
        </p:blipFill>
        <p:spPr>
          <a:xfrm>
            <a:off x="3999240" y="4206240"/>
            <a:ext cx="3773160" cy="2514240"/>
          </a:xfrm>
          <a:prstGeom prst="rect">
            <a:avLst/>
          </a:prstGeom>
          <a:ln>
            <a:noFill/>
          </a:ln>
          <a:effectLst>
            <a:outerShdw blurRad="292100" dist="139700" dir="2700000" algn="tl" rotWithShape="0">
              <a:srgbClr val="333333">
                <a:alpha val="65000"/>
              </a:srgbClr>
            </a:outerShdw>
          </a:effectLst>
        </p:spPr>
      </p:pic>
      <p:sp>
        <p:nvSpPr>
          <p:cNvPr id="1066" name="CustomShape 3"/>
          <p:cNvSpPr/>
          <p:nvPr/>
        </p:nvSpPr>
        <p:spPr>
          <a:xfrm>
            <a:off x="5959080" y="3689280"/>
            <a:ext cx="3092040" cy="1796400"/>
          </a:xfrm>
          <a:prstGeom prst="rect">
            <a:avLst/>
          </a:prstGeom>
          <a:solidFill>
            <a:srgbClr val="FFFF99"/>
          </a:solid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200" b="1" i="1" strike="noStrike" spc="-1">
                <a:solidFill>
                  <a:srgbClr val="404040"/>
                </a:solidFill>
                <a:uFill>
                  <a:solidFill>
                    <a:srgbClr val="FFFFFF"/>
                  </a:solidFill>
                </a:uFill>
                <a:latin typeface="Candara"/>
                <a:ea typeface="MS PGothic"/>
              </a:rPr>
              <a:t>       Vacations in Bali          </a:t>
            </a:r>
            <a:endParaRPr lang="en-US" sz="1800" strike="noStrike" spc="-1">
              <a:solidFill>
                <a:srgbClr val="000000"/>
              </a:solidFill>
              <a:uFill>
                <a:solidFill>
                  <a:srgbClr val="FFFFFF"/>
                </a:solidFill>
              </a:uFill>
              <a:latin typeface="Arial"/>
            </a:endParaRPr>
          </a:p>
          <a:p>
            <a:pPr marL="216000" indent="-216000">
              <a:lnSpc>
                <a:spcPct val="100000"/>
              </a:lnSpc>
              <a:buClr>
                <a:srgbClr val="404040"/>
              </a:buClr>
              <a:buFont typeface="Symbol" charset="2"/>
              <a:buChar char=""/>
            </a:pPr>
            <a:r>
              <a:rPr lang="en-US" sz="1800" b="1" i="1" strike="noStrike" spc="-1">
                <a:solidFill>
                  <a:srgbClr val="404040"/>
                </a:solidFill>
                <a:uFill>
                  <a:solidFill>
                    <a:srgbClr val="FFFFFF"/>
                  </a:solidFill>
                </a:uFill>
                <a:latin typeface="Candara"/>
                <a:ea typeface="MS PGothic"/>
              </a:rPr>
              <a:t>Have many substitutes</a:t>
            </a:r>
            <a:endParaRPr lang="en-US" sz="1800" strike="noStrike" spc="-1">
              <a:solidFill>
                <a:srgbClr val="000000"/>
              </a:solidFill>
              <a:uFill>
                <a:solidFill>
                  <a:srgbClr val="FFFFFF"/>
                </a:solidFill>
              </a:uFill>
              <a:latin typeface="Arial"/>
            </a:endParaRPr>
          </a:p>
          <a:p>
            <a:pPr marL="216000" indent="-216000">
              <a:lnSpc>
                <a:spcPct val="100000"/>
              </a:lnSpc>
              <a:buClr>
                <a:srgbClr val="404040"/>
              </a:buClr>
              <a:buFont typeface="Symbol" charset="2"/>
              <a:buChar char=""/>
            </a:pPr>
            <a:r>
              <a:rPr lang="en-US" sz="1800" b="1" i="1" strike="noStrike" spc="-1">
                <a:solidFill>
                  <a:srgbClr val="404040"/>
                </a:solidFill>
                <a:uFill>
                  <a:solidFill>
                    <a:srgbClr val="FFFFFF"/>
                  </a:solidFill>
                </a:uFill>
                <a:latin typeface="Candara"/>
                <a:ea typeface="MS PGothic"/>
              </a:rPr>
              <a:t>Are not a necessity </a:t>
            </a:r>
            <a:endParaRPr lang="en-US" sz="1800" strike="noStrike" spc="-1">
              <a:solidFill>
                <a:srgbClr val="000000"/>
              </a:solidFill>
              <a:uFill>
                <a:solidFill>
                  <a:srgbClr val="FFFFFF"/>
                </a:solidFill>
              </a:uFill>
              <a:latin typeface="Arial"/>
            </a:endParaRPr>
          </a:p>
          <a:p>
            <a:pPr marL="216000" indent="-216000">
              <a:lnSpc>
                <a:spcPct val="100000"/>
              </a:lnSpc>
              <a:buClr>
                <a:srgbClr val="404040"/>
              </a:buClr>
              <a:buFont typeface="Symbol" charset="2"/>
              <a:buChar char=""/>
            </a:pPr>
            <a:r>
              <a:rPr lang="en-US" sz="1800" b="1" i="1" strike="noStrike" spc="-1">
                <a:solidFill>
                  <a:srgbClr val="404040"/>
                </a:solidFill>
                <a:uFill>
                  <a:solidFill>
                    <a:srgbClr val="FFFFFF"/>
                  </a:solidFill>
                </a:uFill>
                <a:latin typeface="Candara"/>
                <a:ea typeface="MS PGothic"/>
              </a:rPr>
              <a:t>Very expensive</a:t>
            </a:r>
            <a:endParaRPr lang="en-US" sz="1800" strike="noStrike" spc="-1">
              <a:solidFill>
                <a:srgbClr val="000000"/>
              </a:solidFill>
              <a:uFill>
                <a:solidFill>
                  <a:srgbClr val="FFFFFF"/>
                </a:solidFill>
              </a:uFill>
              <a:latin typeface="Arial"/>
            </a:endParaRPr>
          </a:p>
          <a:p>
            <a:pPr marL="216000" indent="-216000">
              <a:lnSpc>
                <a:spcPct val="100000"/>
              </a:lnSpc>
              <a:buClr>
                <a:srgbClr val="404040"/>
              </a:buClr>
              <a:buFont typeface="Symbol" charset="2"/>
              <a:buChar char=""/>
            </a:pPr>
            <a:r>
              <a:rPr lang="en-US" sz="1800" b="1" i="1" strike="noStrike" spc="-1">
                <a:solidFill>
                  <a:srgbClr val="404040"/>
                </a:solidFill>
                <a:uFill>
                  <a:solidFill>
                    <a:srgbClr val="FFFFFF"/>
                  </a:solidFill>
                </a:uFill>
                <a:latin typeface="Calibri"/>
                <a:ea typeface="MS PGothic"/>
              </a:rPr>
              <a:t>Take a long time to plan</a:t>
            </a:r>
            <a:endParaRPr lang="en-US" sz="1800" strike="noStrike" spc="-1">
              <a:solidFill>
                <a:srgbClr val="000000"/>
              </a:solidFill>
              <a:uFill>
                <a:solidFill>
                  <a:srgbClr val="FFFFFF"/>
                </a:solidFill>
              </a:uFill>
              <a:latin typeface="Arial"/>
            </a:endParaRPr>
          </a:p>
          <a:p>
            <a:pPr marL="216000" indent="-216000">
              <a:lnSpc>
                <a:spcPct val="100000"/>
              </a:lnSpc>
              <a:buClr>
                <a:srgbClr val="404040"/>
              </a:buClr>
              <a:buFont typeface="Symbol" charset="2"/>
              <a:buChar char=""/>
            </a:pPr>
            <a:r>
              <a:rPr lang="en-US" sz="1800" b="1" i="1" strike="noStrike" spc="-1">
                <a:solidFill>
                  <a:srgbClr val="404040"/>
                </a:solidFill>
                <a:uFill>
                  <a:solidFill>
                    <a:srgbClr val="FFFFFF"/>
                  </a:solidFill>
                </a:uFill>
                <a:latin typeface="Candara"/>
                <a:ea typeface="MS PGothic"/>
              </a:rPr>
              <a:t>– </a:t>
            </a:r>
            <a:r>
              <a:rPr lang="en-US" sz="1800" b="1" i="1" strike="noStrike" spc="-1">
                <a:solidFill>
                  <a:srgbClr val="C5000B"/>
                </a:solidFill>
                <a:uFill>
                  <a:solidFill>
                    <a:srgbClr val="FFFFFF"/>
                  </a:solidFill>
                </a:uFill>
                <a:latin typeface="Candara"/>
                <a:ea typeface="MS PGothic"/>
              </a:rPr>
              <a:t>Very Price Elastic</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childTnLst>
                  <p:par>
                    <p:cTn id="3" fill="freeze">
                      <p:stCondLst>
                        <p:cond delay="0"/>
                      </p:stCondLst>
                      <p:childTnLst>
                        <p:par>
                          <p:cTn id="4" fill="freeze">
                            <p:stCondLst>
                              <p:cond delay="0"/>
                            </p:stCondLst>
                            <p:childTnLst>
                              <p:par>
                                <p:cTn id="5" presetID="10" presetClass="entr" fill="hold" nodeType="afterEffect">
                                  <p:stCondLst>
                                    <p:cond delay="0"/>
                                  </p:stCondLst>
                                  <p:childTnLst>
                                    <p:set>
                                      <p:cBhvr>
                                        <p:cTn id="6" dur="1" fill="hold">
                                          <p:stCondLst>
                                            <p:cond delay="0"/>
                                          </p:stCondLst>
                                        </p:cTn>
                                        <p:tgtEl>
                                          <p:spTgt spid="1064">
                                            <p:txEl>
                                              <p:pRg st="0" end="45"/>
                                            </p:txEl>
                                          </p:spTgt>
                                        </p:tgtEl>
                                        <p:attrNameLst>
                                          <p:attrName>style.visibility</p:attrName>
                                        </p:attrNameLst>
                                      </p:cBhvr>
                                      <p:to>
                                        <p:strVal val="visible"/>
                                      </p:to>
                                    </p:set>
                                    <p:animEffect transition="in" filter="fade">
                                      <p:cBhvr additive="repl">
                                        <p:cTn id="7" dur="500"/>
                                        <p:tgtEl>
                                          <p:spTgt spid="1064">
                                            <p:txEl>
                                              <p:pRg st="0" end="45"/>
                                            </p:txEl>
                                          </p:spTgt>
                                        </p:tgtEl>
                                      </p:cBhvr>
                                    </p:animEffect>
                                  </p:childTnLst>
                                </p:cTn>
                              </p:par>
                            </p:childTnLst>
                          </p:cTn>
                        </p:par>
                      </p:childTnLst>
                    </p:cTn>
                  </p:par>
                  <p:par>
                    <p:cTn id="8" fill="freeze">
                      <p:stCondLst>
                        <p:cond delay="indefinite"/>
                      </p:stCondLst>
                      <p:childTnLst>
                        <p:par>
                          <p:cTn id="9" fill="freeze">
                            <p:stCondLst>
                              <p:cond delay="0"/>
                            </p:stCondLst>
                            <p:childTnLst>
                              <p:par>
                                <p:cTn id="10" presetID="10" presetClass="entr" fill="hold" nodeType="clickEffect">
                                  <p:stCondLst>
                                    <p:cond delay="0"/>
                                  </p:stCondLst>
                                  <p:childTnLst>
                                    <p:set>
                                      <p:cBhvr>
                                        <p:cTn id="11" dur="1" fill="hold">
                                          <p:stCondLst>
                                            <p:cond delay="0"/>
                                          </p:stCondLst>
                                        </p:cTn>
                                        <p:tgtEl>
                                          <p:spTgt spid="1065"/>
                                        </p:tgtEl>
                                        <p:attrNameLst>
                                          <p:attrName>style.visibility</p:attrName>
                                        </p:attrNameLst>
                                      </p:cBhvr>
                                      <p:to>
                                        <p:strVal val="visible"/>
                                      </p:to>
                                    </p:set>
                                    <p:animEffect transition="in" filter="fade">
                                      <p:cBhvr additive="repl">
                                        <p:cTn id="12" dur="500"/>
                                        <p:tgtEl>
                                          <p:spTgt spid="1065"/>
                                        </p:tgtEl>
                                      </p:cBhvr>
                                    </p:animEffect>
                                  </p:childTnLst>
                                </p:cTn>
                              </p:par>
                            </p:childTnLst>
                          </p:cTn>
                        </p:par>
                        <p:par>
                          <p:cTn id="13" fill="freeze">
                            <p:stCondLst>
                              <p:cond delay="500"/>
                            </p:stCondLst>
                            <p:childTnLst>
                              <p:par>
                                <p:cTn id="14" presetID="10" presetClass="entr" fill="hold" nodeType="afterEffect">
                                  <p:stCondLst>
                                    <p:cond delay="0"/>
                                  </p:stCondLst>
                                  <p:childTnLst>
                                    <p:set>
                                      <p:cBhvr>
                                        <p:cTn id="15" dur="1" fill="hold">
                                          <p:stCondLst>
                                            <p:cond delay="0"/>
                                          </p:stCondLst>
                                        </p:cTn>
                                        <p:tgtEl>
                                          <p:spTgt spid="1066"/>
                                        </p:tgtEl>
                                        <p:attrNameLst>
                                          <p:attrName>style.visibility</p:attrName>
                                        </p:attrNameLst>
                                      </p:cBhvr>
                                      <p:to>
                                        <p:strVal val="visible"/>
                                      </p:to>
                                    </p:set>
                                    <p:animEffect transition="in" filter="fade">
                                      <p:cBhvr additive="repl">
                                        <p:cTn id="16" dur="500"/>
                                        <p:tgtEl>
                                          <p:spTgt spid="1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7" name="TextShape 1"/>
          <p:cNvSpPr txBox="1"/>
          <p:nvPr/>
        </p:nvSpPr>
        <p:spPr>
          <a:xfrm>
            <a:off x="900000" y="60480"/>
            <a:ext cx="7992720" cy="55512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How Mad?</a:t>
            </a:r>
            <a:endParaRPr lang="id-ID" sz="3200" strike="noStrike" spc="-1">
              <a:solidFill>
                <a:srgbClr val="000000"/>
              </a:solidFill>
              <a:uFill>
                <a:solidFill>
                  <a:srgbClr val="FFFFFF"/>
                </a:solidFill>
              </a:uFill>
              <a:latin typeface="Calibri"/>
            </a:endParaRPr>
          </a:p>
        </p:txBody>
      </p:sp>
      <p:pic>
        <p:nvPicPr>
          <p:cNvPr id="1068" name="Picture 4"/>
          <p:cNvPicPr/>
          <p:nvPr/>
        </p:nvPicPr>
        <p:blipFill>
          <a:blip r:embed="rId2"/>
          <a:stretch/>
        </p:blipFill>
        <p:spPr>
          <a:xfrm>
            <a:off x="1042920" y="976320"/>
            <a:ext cx="7695720" cy="5189040"/>
          </a:xfrm>
          <a:prstGeom prst="rect">
            <a:avLst/>
          </a:prstGeom>
          <a:ln w="9360">
            <a:noFill/>
          </a:ln>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9" name="CustomShape 1"/>
          <p:cNvSpPr/>
          <p:nvPr/>
        </p:nvSpPr>
        <p:spPr>
          <a:xfrm>
            <a:off x="900000" y="3807000"/>
            <a:ext cx="8015040" cy="228564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p:txBody>
      </p:sp>
      <p:sp>
        <p:nvSpPr>
          <p:cNvPr id="1070" name="TextShape 2"/>
          <p:cNvSpPr txBox="1"/>
          <p:nvPr/>
        </p:nvSpPr>
        <p:spPr>
          <a:xfrm>
            <a:off x="971640" y="152280"/>
            <a:ext cx="7943400" cy="456840"/>
          </a:xfrm>
          <a:prstGeom prst="rect">
            <a:avLst/>
          </a:prstGeom>
          <a:noFill/>
          <a:ln>
            <a:noFill/>
          </a:ln>
        </p:spPr>
        <p:txBody>
          <a:bodyPr anchor="ctr"/>
          <a:lstStyle/>
          <a:p>
            <a:pPr>
              <a:lnSpc>
                <a:spcPct val="100000"/>
              </a:lnSpc>
            </a:pPr>
            <a:r>
              <a:rPr lang="id-ID" sz="2800" b="1" strike="noStrike" spc="-1">
                <a:solidFill>
                  <a:srgbClr val="FFFFFF"/>
                </a:solidFill>
                <a:uFill>
                  <a:solidFill>
                    <a:srgbClr val="FFFFFF"/>
                  </a:solidFill>
                </a:uFill>
                <a:latin typeface="Calibri"/>
                <a:ea typeface="MS PGothic"/>
              </a:rPr>
              <a:t>Other Demand Elasticities: Cross-Price Elasticity </a:t>
            </a:r>
            <a:endParaRPr lang="id-ID" sz="3200" strike="noStrike" spc="-1">
              <a:solidFill>
                <a:srgbClr val="000000"/>
              </a:solidFill>
              <a:uFill>
                <a:solidFill>
                  <a:srgbClr val="FFFFFF"/>
                </a:solidFill>
              </a:uFill>
              <a:latin typeface="Calibri"/>
            </a:endParaRPr>
          </a:p>
        </p:txBody>
      </p:sp>
      <p:sp>
        <p:nvSpPr>
          <p:cNvPr id="1071" name="TextShape 3"/>
          <p:cNvSpPr txBox="1"/>
          <p:nvPr/>
        </p:nvSpPr>
        <p:spPr>
          <a:xfrm>
            <a:off x="900000" y="907920"/>
            <a:ext cx="8015040" cy="2736360"/>
          </a:xfrm>
          <a:prstGeom prst="rect">
            <a:avLst/>
          </a:prstGeom>
          <a:noFill/>
          <a:ln w="9360">
            <a:noFill/>
          </a:ln>
        </p:spPr>
        <p:txBody>
          <a:bodyPr/>
          <a:lstStyle/>
          <a:p>
            <a:pPr marL="230040" indent="-229680">
              <a:lnSpc>
                <a:spcPct val="100000"/>
              </a:lnSpc>
              <a:buClr>
                <a:srgbClr val="000000"/>
              </a:buClr>
              <a:buFont typeface="Wingdings" charset="2"/>
              <a:buChar char=""/>
            </a:pPr>
            <a:r>
              <a:rPr lang="id-ID" sz="2500" strike="noStrike" spc="-1">
                <a:solidFill>
                  <a:srgbClr val="000000"/>
                </a:solidFill>
                <a:uFill>
                  <a:solidFill>
                    <a:srgbClr val="FFFFFF"/>
                  </a:solidFill>
                </a:uFill>
                <a:latin typeface="Calibri"/>
                <a:ea typeface="MS PGothic"/>
              </a:rPr>
              <a:t>The </a:t>
            </a:r>
            <a:r>
              <a:rPr lang="id-ID" sz="2500" b="1" strike="noStrike" spc="-1">
                <a:solidFill>
                  <a:srgbClr val="000000"/>
                </a:solidFill>
                <a:uFill>
                  <a:solidFill>
                    <a:srgbClr val="FFFFFF"/>
                  </a:solidFill>
                </a:uFill>
                <a:latin typeface="Calibri"/>
                <a:ea typeface="MS PGothic"/>
              </a:rPr>
              <a:t>cross-price elasticity of demand </a:t>
            </a:r>
            <a:r>
              <a:rPr lang="id-ID" sz="2500" strike="noStrike" spc="-1">
                <a:solidFill>
                  <a:srgbClr val="000000"/>
                </a:solidFill>
                <a:uFill>
                  <a:solidFill>
                    <a:srgbClr val="FFFFFF"/>
                  </a:solidFill>
                </a:uFill>
                <a:latin typeface="Calibri"/>
                <a:ea typeface="MS PGothic"/>
              </a:rPr>
              <a:t>between two goods measures the effect of the change in one good’s price on the quantity demanded of the other good. 
</a:t>
            </a:r>
            <a:r>
              <a:rPr lang="id-ID" sz="2500" strike="noStrike" spc="-1">
                <a:solidFill>
                  <a:srgbClr val="000000"/>
                </a:solidFill>
                <a:uFill>
                  <a:solidFill>
                    <a:srgbClr val="FFFFFF"/>
                  </a:solidFill>
                </a:uFill>
                <a:latin typeface="Calibri"/>
              </a:rPr>
              <a:t> </a:t>
            </a:r>
          </a:p>
          <a:p>
            <a:pPr marL="230040" indent="-229680">
              <a:lnSpc>
                <a:spcPct val="100000"/>
              </a:lnSpc>
              <a:buClr>
                <a:srgbClr val="000000"/>
              </a:buClr>
              <a:buFont typeface="Wingdings" charset="2"/>
              <a:buChar char=""/>
            </a:pPr>
            <a:r>
              <a:rPr lang="id-ID" sz="2500" strike="noStrike" spc="-1">
                <a:solidFill>
                  <a:srgbClr val="000000"/>
                </a:solidFill>
                <a:uFill>
                  <a:solidFill>
                    <a:srgbClr val="FFFFFF"/>
                  </a:solidFill>
                </a:uFill>
                <a:latin typeface="Calibri"/>
                <a:ea typeface="MS PGothic"/>
              </a:rPr>
              <a:t>It is equal to the percent change in the quantity demanded of one good divided by the percent change in the other good’s price.</a:t>
            </a:r>
            <a:endParaRPr lang="id-ID" sz="2500" strike="noStrike" spc="-1">
              <a:solidFill>
                <a:srgbClr val="000000"/>
              </a:solidFill>
              <a:uFill>
                <a:solidFill>
                  <a:srgbClr val="FFFFFF"/>
                </a:solidFill>
              </a:uFill>
              <a:latin typeface="Calibri"/>
            </a:endParaRPr>
          </a:p>
        </p:txBody>
      </p:sp>
      <p:sp>
        <p:nvSpPr>
          <p:cNvPr id="1072" name="CustomShape 4"/>
          <p:cNvSpPr/>
          <p:nvPr/>
        </p:nvSpPr>
        <p:spPr>
          <a:xfrm>
            <a:off x="0" y="0"/>
            <a:ext cx="9143640" cy="360"/>
          </a:xfrm>
          <a:prstGeom prst="rect">
            <a:avLst/>
          </a:prstGeom>
          <a:noFill/>
          <a:ln w="9360">
            <a:noFill/>
          </a:ln>
        </p:spPr>
        <p:style>
          <a:lnRef idx="0">
            <a:scrgbClr r="0" g="0" b="0"/>
          </a:lnRef>
          <a:fillRef idx="0">
            <a:scrgbClr r="0" g="0" b="0"/>
          </a:fillRef>
          <a:effectRef idx="0">
            <a:scrgbClr r="0" g="0" b="0"/>
          </a:effectRef>
          <a:fontRef idx="minor"/>
        </p:style>
      </p:sp>
      <p:sp>
        <p:nvSpPr>
          <p:cNvPr id="1073" name="CustomShape 5"/>
          <p:cNvSpPr/>
          <p:nvPr/>
        </p:nvSpPr>
        <p:spPr>
          <a:xfrm>
            <a:off x="1116000" y="3975120"/>
            <a:ext cx="7559280" cy="8827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1440" indent="-1080" algn="ctr">
              <a:lnSpc>
                <a:spcPct val="100000"/>
              </a:lnSpc>
            </a:pPr>
            <a:r>
              <a:rPr lang="en-US" sz="2400" strike="noStrike" spc="-1">
                <a:solidFill>
                  <a:srgbClr val="000000"/>
                </a:solidFill>
                <a:uFill>
                  <a:solidFill>
                    <a:srgbClr val="FFFFFF"/>
                  </a:solidFill>
                </a:uFill>
                <a:latin typeface="Calibri"/>
                <a:ea typeface="MS PGothic"/>
              </a:rPr>
              <a:t>The Cross-Price Elasticity of Demand</a:t>
            </a:r>
            <a:endParaRPr lang="en-US" sz="1800" strike="noStrike" spc="-1">
              <a:solidFill>
                <a:srgbClr val="000000"/>
              </a:solidFill>
              <a:uFill>
                <a:solidFill>
                  <a:srgbClr val="FFFFFF"/>
                </a:solidFill>
              </a:uFill>
              <a:latin typeface="Arial"/>
            </a:endParaRPr>
          </a:p>
          <a:p>
            <a:pPr marL="1440" indent="-1080" algn="ctr">
              <a:lnSpc>
                <a:spcPct val="100000"/>
              </a:lnSpc>
            </a:pPr>
            <a:r>
              <a:rPr lang="en-US" sz="2400" strike="noStrike" spc="-1">
                <a:solidFill>
                  <a:srgbClr val="000000"/>
                </a:solidFill>
                <a:uFill>
                  <a:solidFill>
                    <a:srgbClr val="FFFFFF"/>
                  </a:solidFill>
                </a:uFill>
                <a:latin typeface="Calibri"/>
                <a:ea typeface="MS PGothic"/>
              </a:rPr>
              <a:t>between Goods A and B</a:t>
            </a:r>
            <a:endParaRPr lang="en-US" sz="1800" strike="noStrike" spc="-1">
              <a:solidFill>
                <a:srgbClr val="000000"/>
              </a:solidFill>
              <a:uFill>
                <a:solidFill>
                  <a:srgbClr val="FFFFFF"/>
                </a:solidFill>
              </a:uFill>
              <a:latin typeface="Arial"/>
            </a:endParaRPr>
          </a:p>
        </p:txBody>
      </p:sp>
      <p:pic>
        <p:nvPicPr>
          <p:cNvPr id="1074" name="Picture 11"/>
          <p:cNvPicPr/>
          <p:nvPr/>
        </p:nvPicPr>
        <p:blipFill>
          <a:blip r:embed="rId3"/>
          <a:stretch/>
        </p:blipFill>
        <p:spPr>
          <a:xfrm>
            <a:off x="1754280" y="5029200"/>
            <a:ext cx="6248160" cy="918720"/>
          </a:xfrm>
          <a:prstGeom prst="rect">
            <a:avLst/>
          </a:prstGeom>
          <a:ln w="936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71">
                                            <p:txEl>
                                              <p:pRg st="0" end="155"/>
                                            </p:txEl>
                                          </p:spTgt>
                                        </p:tgtEl>
                                        <p:attrNameLst>
                                          <p:attrName>style.visibility</p:attrName>
                                        </p:attrNameLst>
                                      </p:cBhvr>
                                      <p:to>
                                        <p:strVal val="visible"/>
                                      </p:to>
                                    </p:set>
                                    <p:animEffect transition="in" filter="wipe(left)">
                                      <p:cBhvr additive="repl">
                                        <p:cTn id="7" dur="500"/>
                                        <p:tgtEl>
                                          <p:spTgt spid="1071">
                                            <p:txEl>
                                              <p:pRg st="0" end="15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71">
                                            <p:txEl>
                                              <p:pRg st="155" end="283"/>
                                            </p:txEl>
                                          </p:spTgt>
                                        </p:tgtEl>
                                        <p:attrNameLst>
                                          <p:attrName>style.visibility</p:attrName>
                                        </p:attrNameLst>
                                      </p:cBhvr>
                                      <p:to>
                                        <p:strVal val="visible"/>
                                      </p:to>
                                    </p:set>
                                    <p:animEffect transition="in" filter="wipe(left)">
                                      <p:cBhvr additive="repl">
                                        <p:cTn id="12" dur="500"/>
                                        <p:tgtEl>
                                          <p:spTgt spid="1071">
                                            <p:txEl>
                                              <p:pRg st="155" end="28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fill="hold" nodeType="clickEffect">
                                  <p:stCondLst>
                                    <p:cond delay="0"/>
                                  </p:stCondLst>
                                  <p:childTnLst>
                                    <p:set>
                                      <p:cBhvr>
                                        <p:cTn id="16" dur="1" fill="hold">
                                          <p:stCondLst>
                                            <p:cond delay="0"/>
                                          </p:stCondLst>
                                        </p:cTn>
                                        <p:tgtEl>
                                          <p:spTgt spid="1069"/>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1073"/>
                                        </p:tgtEl>
                                        <p:attrNameLst>
                                          <p:attrName>style.visibility</p:attrName>
                                        </p:attrNameLst>
                                      </p:cBhvr>
                                      <p:to>
                                        <p:strVal val="visible"/>
                                      </p:to>
                                    </p:set>
                                  </p:childTnLst>
                                </p:cTn>
                              </p:par>
                            </p:childTnLst>
                          </p:cTn>
                        </p:par>
                        <p:par>
                          <p:cTn id="19" fill="hold">
                            <p:stCondLst>
                              <p:cond delay="0"/>
                            </p:stCondLst>
                            <p:childTnLst>
                              <p:par>
                                <p:cTn id="20" presetID="1" presetClass="entr" fill="hold" nodeType="afterEffect">
                                  <p:stCondLst>
                                    <p:cond delay="0"/>
                                  </p:stCondLst>
                                  <p:childTnLst>
                                    <p:set>
                                      <p:cBhvr>
                                        <p:cTn id="21" dur="1" fill="hold">
                                          <p:stCondLst>
                                            <p:cond delay="0"/>
                                          </p:stCondLst>
                                        </p:cTn>
                                        <p:tgtEl>
                                          <p:spTgt spid="1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 name="TextShape 1"/>
          <p:cNvSpPr txBox="1"/>
          <p:nvPr/>
        </p:nvSpPr>
        <p:spPr>
          <a:xfrm>
            <a:off x="971640" y="60480"/>
            <a:ext cx="7992720" cy="55512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Cross-Price Elasticity</a:t>
            </a:r>
            <a:endParaRPr lang="id-ID" sz="3200" strike="noStrike" spc="-1">
              <a:solidFill>
                <a:srgbClr val="000000"/>
              </a:solidFill>
              <a:uFill>
                <a:solidFill>
                  <a:srgbClr val="FFFFFF"/>
                </a:solidFill>
              </a:uFill>
              <a:latin typeface="Calibri"/>
            </a:endParaRPr>
          </a:p>
        </p:txBody>
      </p:sp>
      <p:sp>
        <p:nvSpPr>
          <p:cNvPr id="1076" name="TextShape 2"/>
          <p:cNvSpPr txBox="1"/>
          <p:nvPr/>
        </p:nvSpPr>
        <p:spPr>
          <a:xfrm>
            <a:off x="684360" y="765000"/>
            <a:ext cx="8010000" cy="4103280"/>
          </a:xfrm>
          <a:prstGeom prst="rect">
            <a:avLst/>
          </a:prstGeom>
          <a:noFill/>
          <a:ln w="9360">
            <a:noFill/>
          </a:ln>
        </p:spPr>
        <p:txBody>
          <a:bodyPr/>
          <a:lstStyle/>
          <a:p>
            <a:pPr marL="343080" indent="-342720">
              <a:lnSpc>
                <a:spcPct val="100000"/>
              </a:lnSpc>
              <a:buClr>
                <a:srgbClr val="000000"/>
              </a:buClr>
              <a:buFont typeface="Arial"/>
              <a:buChar char="•"/>
            </a:pPr>
            <a:r>
              <a:rPr lang="id-ID" sz="2500" strike="noStrike" spc="-1">
                <a:solidFill>
                  <a:srgbClr val="000000"/>
                </a:solidFill>
                <a:uFill>
                  <a:solidFill>
                    <a:srgbClr val="FFFFFF"/>
                  </a:solidFill>
                </a:uFill>
                <a:latin typeface="Calibri"/>
                <a:ea typeface="MS PGothic"/>
              </a:rPr>
              <a:t>Goods are </a:t>
            </a:r>
            <a:r>
              <a:rPr lang="id-ID" sz="2500" b="1" strike="noStrike" spc="-1">
                <a:solidFill>
                  <a:srgbClr val="000000"/>
                </a:solidFill>
                <a:uFill>
                  <a:solidFill>
                    <a:srgbClr val="FFFFFF"/>
                  </a:solidFill>
                </a:uFill>
                <a:latin typeface="Calibri"/>
                <a:ea typeface="MS PGothic"/>
              </a:rPr>
              <a:t>substitutes</a:t>
            </a:r>
            <a:r>
              <a:rPr lang="id-ID" sz="2500" strike="noStrike" spc="-1">
                <a:solidFill>
                  <a:srgbClr val="000000"/>
                </a:solidFill>
                <a:uFill>
                  <a:solidFill>
                    <a:srgbClr val="FFFFFF"/>
                  </a:solidFill>
                </a:uFill>
                <a:latin typeface="Calibri"/>
                <a:ea typeface="MS PGothic"/>
              </a:rPr>
              <a:t> when the cross-price elasticity of demand</a:t>
            </a:r>
            <a:r>
              <a:rPr lang="id-ID" sz="2500" i="1" strike="noStrike" spc="-1">
                <a:solidFill>
                  <a:srgbClr val="000000"/>
                </a:solidFill>
                <a:uFill>
                  <a:solidFill>
                    <a:srgbClr val="FFFFFF"/>
                  </a:solidFill>
                </a:uFill>
                <a:latin typeface="Calibri"/>
                <a:ea typeface="MS PGothic"/>
              </a:rPr>
              <a:t> </a:t>
            </a:r>
            <a:r>
              <a:rPr lang="id-ID" sz="2500" strike="noStrike" spc="-1">
                <a:solidFill>
                  <a:srgbClr val="000000"/>
                </a:solidFill>
                <a:uFill>
                  <a:solidFill>
                    <a:srgbClr val="FFFFFF"/>
                  </a:solidFill>
                </a:uFill>
                <a:latin typeface="Calibri"/>
                <a:ea typeface="MS PGothic"/>
              </a:rPr>
              <a:t>is positive. </a:t>
            </a:r>
            <a:endParaRPr lang="id-ID" sz="2500" strike="noStrike" spc="-1">
              <a:solidFill>
                <a:srgbClr val="000000"/>
              </a:solidFill>
              <a:uFill>
                <a:solidFill>
                  <a:srgbClr val="FFFFFF"/>
                </a:solidFill>
              </a:uFill>
              <a:latin typeface="Calibri"/>
            </a:endParaRPr>
          </a:p>
          <a:p>
            <a:pPr marL="743040" lvl="1" indent="-285480">
              <a:lnSpc>
                <a:spcPct val="100000"/>
              </a:lnSpc>
              <a:buClr>
                <a:srgbClr val="000000"/>
              </a:buClr>
              <a:buFont typeface="Wingdings" charset="2"/>
              <a:buChar char=""/>
            </a:pPr>
            <a:r>
              <a:rPr lang="id-ID" sz="2400" strike="noStrike" spc="-1">
                <a:solidFill>
                  <a:srgbClr val="000000"/>
                </a:solidFill>
                <a:uFill>
                  <a:solidFill>
                    <a:srgbClr val="FFFFFF"/>
                  </a:solidFill>
                </a:uFill>
                <a:latin typeface="Calibri"/>
                <a:ea typeface="MS PGothic"/>
              </a:rPr>
              <a:t>An </a:t>
            </a:r>
            <a:r>
              <a:rPr lang="id-ID" sz="2400" strike="noStrike" spc="-1">
                <a:solidFill>
                  <a:srgbClr val="376092"/>
                </a:solidFill>
                <a:uFill>
                  <a:solidFill>
                    <a:srgbClr val="FFFFFF"/>
                  </a:solidFill>
                </a:uFill>
                <a:latin typeface="Calibri"/>
                <a:ea typeface="MS PGothic"/>
              </a:rPr>
              <a:t>increase in the price of one brand of cookies </a:t>
            </a:r>
            <a:r>
              <a:rPr lang="id-ID" sz="2400" strike="noStrike" spc="-1">
                <a:solidFill>
                  <a:srgbClr val="000000"/>
                </a:solidFill>
                <a:uFill>
                  <a:solidFill>
                    <a:srgbClr val="FFFFFF"/>
                  </a:solidFill>
                </a:uFill>
                <a:latin typeface="Calibri"/>
                <a:ea typeface="MS PGothic"/>
              </a:rPr>
              <a:t>will </a:t>
            </a:r>
            <a:r>
              <a:rPr lang="id-ID" sz="2400" strike="noStrike" spc="-1">
                <a:solidFill>
                  <a:srgbClr val="376092"/>
                </a:solidFill>
                <a:uFill>
                  <a:solidFill>
                    <a:srgbClr val="FFFFFF"/>
                  </a:solidFill>
                </a:uFill>
                <a:latin typeface="Calibri"/>
                <a:ea typeface="MS PGothic"/>
              </a:rPr>
              <a:t>increase the demand </a:t>
            </a:r>
            <a:r>
              <a:rPr lang="id-ID" sz="2400" strike="noStrike" spc="-1">
                <a:solidFill>
                  <a:srgbClr val="000000"/>
                </a:solidFill>
                <a:uFill>
                  <a:solidFill>
                    <a:srgbClr val="FFFFFF"/>
                  </a:solidFill>
                </a:uFill>
                <a:latin typeface="Calibri"/>
                <a:ea typeface="MS PGothic"/>
              </a:rPr>
              <a:t>for other brands.</a:t>
            </a:r>
            <a:endParaRPr lang="id-ID" sz="2300" strike="noStrike" spc="-1">
              <a:solidFill>
                <a:srgbClr val="000000"/>
              </a:solidFill>
              <a:uFill>
                <a:solidFill>
                  <a:srgbClr val="FFFFFF"/>
                </a:solidFill>
              </a:uFill>
              <a:latin typeface="Calibri"/>
            </a:endParaRPr>
          </a:p>
        </p:txBody>
      </p:sp>
      <p:pic>
        <p:nvPicPr>
          <p:cNvPr id="1077" name="Picture 6"/>
          <p:cNvPicPr/>
          <p:nvPr/>
        </p:nvPicPr>
        <p:blipFill>
          <a:blip r:embed="rId3"/>
          <a:stretch/>
        </p:blipFill>
        <p:spPr>
          <a:xfrm>
            <a:off x="3608280" y="2481120"/>
            <a:ext cx="2857320" cy="2133360"/>
          </a:xfrm>
          <a:prstGeom prst="rect">
            <a:avLst/>
          </a:prstGeom>
          <a:ln>
            <a:noFill/>
          </a:ln>
          <a:effectLst>
            <a:outerShdw blurRad="292100" dist="139700" dir="2700000" algn="tl" rotWithShape="0">
              <a:srgbClr val="333333">
                <a:alpha val="65000"/>
              </a:srgbClr>
            </a:outerShdw>
          </a:effectLst>
        </p:spPr>
      </p:pic>
      <p:pic>
        <p:nvPicPr>
          <p:cNvPr id="1078" name="Picture 8"/>
          <p:cNvPicPr/>
          <p:nvPr/>
        </p:nvPicPr>
        <p:blipFill>
          <a:blip r:embed="rId4"/>
          <a:stretch/>
        </p:blipFill>
        <p:spPr>
          <a:xfrm>
            <a:off x="755640" y="2471760"/>
            <a:ext cx="2857320" cy="2295000"/>
          </a:xfrm>
          <a:prstGeom prst="rect">
            <a:avLst/>
          </a:prstGeom>
          <a:ln>
            <a:noFill/>
          </a:ln>
          <a:effectLst>
            <a:outerShdw blurRad="292100" dist="139700" dir="2700000" algn="tl" rotWithShape="0">
              <a:srgbClr val="333333">
                <a:alpha val="65000"/>
              </a:srgbClr>
            </a:outerShdw>
          </a:effectLst>
        </p:spPr>
      </p:pic>
      <p:sp>
        <p:nvSpPr>
          <p:cNvPr id="1079" name="CustomShape 3"/>
          <p:cNvSpPr/>
          <p:nvPr/>
        </p:nvSpPr>
        <p:spPr>
          <a:xfrm>
            <a:off x="971640" y="3933720"/>
            <a:ext cx="475920" cy="6998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4000" i="1" strike="noStrike" spc="-1">
                <a:solidFill>
                  <a:srgbClr val="00B050"/>
                </a:solidFill>
                <a:uFill>
                  <a:solidFill>
                    <a:srgbClr val="FFFFFF"/>
                  </a:solidFill>
                </a:uFill>
                <a:latin typeface="Candara"/>
                <a:ea typeface="MS PGothic"/>
              </a:rPr>
              <a:t>$</a:t>
            </a:r>
            <a:endParaRPr lang="en-US" sz="1800" strike="noStrike" spc="-1">
              <a:solidFill>
                <a:srgbClr val="000000"/>
              </a:solidFill>
              <a:uFill>
                <a:solidFill>
                  <a:srgbClr val="FFFFFF"/>
                </a:solidFill>
              </a:uFill>
              <a:latin typeface="Arial"/>
            </a:endParaRPr>
          </a:p>
        </p:txBody>
      </p:sp>
      <p:sp>
        <p:nvSpPr>
          <p:cNvPr id="1080" name="CustomShape 4"/>
          <p:cNvSpPr/>
          <p:nvPr/>
        </p:nvSpPr>
        <p:spPr>
          <a:xfrm>
            <a:off x="3780000" y="4095720"/>
            <a:ext cx="475920" cy="6998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4000" i="1" strike="noStrike" spc="-1">
                <a:solidFill>
                  <a:srgbClr val="00B050"/>
                </a:solidFill>
                <a:uFill>
                  <a:solidFill>
                    <a:srgbClr val="FFFFFF"/>
                  </a:solidFill>
                </a:uFill>
                <a:latin typeface="Candara"/>
                <a:ea typeface="MS PGothic"/>
              </a:rPr>
              <a:t>$</a:t>
            </a:r>
            <a:endParaRPr lang="en-US" sz="1800" strike="noStrike" spc="-1">
              <a:solidFill>
                <a:srgbClr val="000000"/>
              </a:solidFill>
              <a:uFill>
                <a:solidFill>
                  <a:srgbClr val="FFFFFF"/>
                </a:solidFill>
              </a:uFill>
              <a:latin typeface="Arial"/>
            </a:endParaRPr>
          </a:p>
        </p:txBody>
      </p:sp>
      <p:sp>
        <p:nvSpPr>
          <p:cNvPr id="1081" name="CustomShape 5"/>
          <p:cNvSpPr/>
          <p:nvPr/>
        </p:nvSpPr>
        <p:spPr>
          <a:xfrm>
            <a:off x="1219320" y="3933720"/>
            <a:ext cx="475920" cy="6998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4000" i="1" strike="noStrike" spc="-1">
                <a:solidFill>
                  <a:srgbClr val="00B050"/>
                </a:solidFill>
                <a:uFill>
                  <a:solidFill>
                    <a:srgbClr val="FFFFFF"/>
                  </a:solidFill>
                </a:uFill>
                <a:latin typeface="Candara"/>
                <a:ea typeface="MS PGothic"/>
              </a:rPr>
              <a:t>$</a:t>
            </a:r>
            <a:endParaRPr lang="en-US" sz="1800" strike="noStrike" spc="-1">
              <a:solidFill>
                <a:srgbClr val="000000"/>
              </a:solidFill>
              <a:uFill>
                <a:solidFill>
                  <a:srgbClr val="FFFFFF"/>
                </a:solidFill>
              </a:uFill>
              <a:latin typeface="Arial"/>
            </a:endParaRPr>
          </a:p>
        </p:txBody>
      </p:sp>
      <p:sp>
        <p:nvSpPr>
          <p:cNvPr id="1082" name="CustomShape 6"/>
          <p:cNvSpPr/>
          <p:nvPr/>
        </p:nvSpPr>
        <p:spPr>
          <a:xfrm>
            <a:off x="1447920" y="3933720"/>
            <a:ext cx="475920" cy="6998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4000" i="1" strike="noStrike" spc="-1">
                <a:solidFill>
                  <a:srgbClr val="00B050"/>
                </a:solidFill>
                <a:uFill>
                  <a:solidFill>
                    <a:srgbClr val="FFFFFF"/>
                  </a:solidFill>
                </a:uFill>
                <a:latin typeface="Candara"/>
                <a:ea typeface="MS PGothic"/>
              </a:rPr>
              <a:t>$</a:t>
            </a:r>
            <a:endParaRPr lang="en-US" sz="1800" strike="noStrike" spc="-1">
              <a:solidFill>
                <a:srgbClr val="000000"/>
              </a:solidFill>
              <a:uFill>
                <a:solidFill>
                  <a:srgbClr val="FFFFFF"/>
                </a:solidFill>
              </a:uFill>
              <a:latin typeface="Arial"/>
            </a:endParaRPr>
          </a:p>
        </p:txBody>
      </p:sp>
      <p:pic>
        <p:nvPicPr>
          <p:cNvPr id="1083" name="Picture 21"/>
          <p:cNvPicPr/>
          <p:nvPr/>
        </p:nvPicPr>
        <p:blipFill>
          <a:blip r:embed="rId5"/>
          <a:stretch/>
        </p:blipFill>
        <p:spPr>
          <a:xfrm>
            <a:off x="7164360" y="2060640"/>
            <a:ext cx="1633320" cy="3041280"/>
          </a:xfrm>
          <a:prstGeom prst="rect">
            <a:avLst/>
          </a:prstGeom>
          <a:ln w="9360">
            <a:noFill/>
          </a:ln>
        </p:spPr>
      </p:pic>
      <p:sp>
        <p:nvSpPr>
          <p:cNvPr id="1084" name="CustomShape 7"/>
          <p:cNvSpPr/>
          <p:nvPr/>
        </p:nvSpPr>
        <p:spPr>
          <a:xfrm>
            <a:off x="684360" y="5013360"/>
            <a:ext cx="8010000" cy="1728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43080" indent="-34272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Goods are </a:t>
            </a:r>
            <a:r>
              <a:rPr lang="en-US" sz="2500" b="1" strike="noStrike" spc="-1">
                <a:solidFill>
                  <a:srgbClr val="000000"/>
                </a:solidFill>
                <a:uFill>
                  <a:solidFill>
                    <a:srgbClr val="FFFFFF"/>
                  </a:solidFill>
                </a:uFill>
                <a:latin typeface="Calibri"/>
                <a:ea typeface="MS PGothic"/>
              </a:rPr>
              <a:t>complements</a:t>
            </a:r>
            <a:r>
              <a:rPr lang="en-US" sz="2500" strike="noStrike" spc="-1">
                <a:solidFill>
                  <a:srgbClr val="000000"/>
                </a:solidFill>
                <a:uFill>
                  <a:solidFill>
                    <a:srgbClr val="FFFFFF"/>
                  </a:solidFill>
                </a:uFill>
                <a:latin typeface="Calibri"/>
                <a:ea typeface="MS PGothic"/>
              </a:rPr>
              <a:t> when the cross-price elasticity of demand is negative.</a:t>
            </a:r>
            <a:endParaRPr lang="en-US" sz="1800" strike="noStrike" spc="-1">
              <a:solidFill>
                <a:srgbClr val="000000"/>
              </a:solidFill>
              <a:uFill>
                <a:solidFill>
                  <a:srgbClr val="FFFFFF"/>
                </a:solidFill>
              </a:uFill>
              <a:latin typeface="Arial"/>
            </a:endParaRPr>
          </a:p>
          <a:p>
            <a:pPr marL="743040" lvl="1" indent="-28548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An </a:t>
            </a:r>
            <a:r>
              <a:rPr lang="en-US" sz="2400" strike="noStrike" spc="-1">
                <a:solidFill>
                  <a:srgbClr val="376092"/>
                </a:solidFill>
                <a:uFill>
                  <a:solidFill>
                    <a:srgbClr val="FFFFFF"/>
                  </a:solidFill>
                </a:uFill>
                <a:latin typeface="Calibri"/>
                <a:ea typeface="MS PGothic"/>
              </a:rPr>
              <a:t>increase</a:t>
            </a:r>
            <a:r>
              <a:rPr lang="en-US" sz="2400" strike="noStrike" spc="-1">
                <a:solidFill>
                  <a:srgbClr val="000000"/>
                </a:solidFill>
                <a:uFill>
                  <a:solidFill>
                    <a:srgbClr val="FFFFFF"/>
                  </a:solidFill>
                </a:uFill>
                <a:latin typeface="Calibri"/>
                <a:ea typeface="MS PGothic"/>
              </a:rPr>
              <a:t> in the </a:t>
            </a:r>
            <a:r>
              <a:rPr lang="en-US" sz="2400" strike="noStrike" spc="-1">
                <a:solidFill>
                  <a:srgbClr val="376092"/>
                </a:solidFill>
                <a:uFill>
                  <a:solidFill>
                    <a:srgbClr val="FFFFFF"/>
                  </a:solidFill>
                </a:uFill>
                <a:latin typeface="Calibri"/>
                <a:ea typeface="MS PGothic"/>
              </a:rPr>
              <a:t>price of milk </a:t>
            </a:r>
            <a:r>
              <a:rPr lang="en-US" sz="2400" strike="noStrike" spc="-1">
                <a:solidFill>
                  <a:srgbClr val="000000"/>
                </a:solidFill>
                <a:uFill>
                  <a:solidFill>
                    <a:srgbClr val="FFFFFF"/>
                  </a:solidFill>
                </a:uFill>
                <a:latin typeface="Calibri"/>
                <a:ea typeface="MS PGothic"/>
              </a:rPr>
              <a:t>causes a </a:t>
            </a:r>
            <a:r>
              <a:rPr lang="en-US" sz="2400" strike="noStrike" spc="-1">
                <a:solidFill>
                  <a:srgbClr val="376092"/>
                </a:solidFill>
                <a:uFill>
                  <a:solidFill>
                    <a:srgbClr val="FFFFFF"/>
                  </a:solidFill>
                </a:uFill>
                <a:latin typeface="Calibri"/>
                <a:ea typeface="MS PGothic"/>
              </a:rPr>
              <a:t>decrease in demand </a:t>
            </a:r>
            <a:r>
              <a:rPr lang="en-US" sz="2400" strike="noStrike" spc="-1">
                <a:solidFill>
                  <a:srgbClr val="000000"/>
                </a:solidFill>
                <a:uFill>
                  <a:solidFill>
                    <a:srgbClr val="FFFFFF"/>
                  </a:solidFill>
                </a:uFill>
                <a:latin typeface="Calibri"/>
                <a:ea typeface="MS PGothic"/>
              </a:rPr>
              <a:t>for cookies.</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1076">
                                            <p:txEl>
                                              <p:pRg st="0" end="78"/>
                                            </p:txEl>
                                          </p:spTgt>
                                        </p:tgtEl>
                                        <p:attrNameLst>
                                          <p:attrName>style.visibility</p:attrName>
                                        </p:attrNameLst>
                                      </p:cBhvr>
                                      <p:to>
                                        <p:strVal val="visible"/>
                                      </p:to>
                                    </p:set>
                                    <p:animEffect transition="in" filter="fade">
                                      <p:cBhvr additive="repl">
                                        <p:cTn id="7" dur="500"/>
                                        <p:tgtEl>
                                          <p:spTgt spid="1076">
                                            <p:txEl>
                                              <p:pRg st="0" end="78"/>
                                            </p:txEl>
                                          </p:spTgt>
                                        </p:tgtEl>
                                      </p:cBhvr>
                                    </p:animEffect>
                                  </p:childTnLst>
                                </p:cTn>
                              </p:par>
                              <p:par>
                                <p:cTn id="8" presetID="10" presetClass="entr" fill="hold" nodeType="withEffect">
                                  <p:stCondLst>
                                    <p:cond delay="0"/>
                                  </p:stCondLst>
                                  <p:childTnLst>
                                    <p:set>
                                      <p:cBhvr>
                                        <p:cTn id="9" dur="1" fill="hold">
                                          <p:stCondLst>
                                            <p:cond delay="0"/>
                                          </p:stCondLst>
                                        </p:cTn>
                                        <p:tgtEl>
                                          <p:spTgt spid="1076">
                                            <p:txEl>
                                              <p:pRg st="78" end="170"/>
                                            </p:txEl>
                                          </p:spTgt>
                                        </p:tgtEl>
                                        <p:attrNameLst>
                                          <p:attrName>style.visibility</p:attrName>
                                        </p:attrNameLst>
                                      </p:cBhvr>
                                      <p:to>
                                        <p:strVal val="visible"/>
                                      </p:to>
                                    </p:set>
                                    <p:animEffect transition="in" filter="fade">
                                      <p:cBhvr additive="repl">
                                        <p:cTn id="10" dur="500"/>
                                        <p:tgtEl>
                                          <p:spTgt spid="1076">
                                            <p:txEl>
                                              <p:pRg st="78" end="17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fill="hold" nodeType="clickEffect">
                                  <p:stCondLst>
                                    <p:cond delay="0"/>
                                  </p:stCondLst>
                                  <p:childTnLst>
                                    <p:set>
                                      <p:cBhvr>
                                        <p:cTn id="14" dur="1" fill="hold">
                                          <p:stCondLst>
                                            <p:cond delay="0"/>
                                          </p:stCondLst>
                                        </p:cTn>
                                        <p:tgtEl>
                                          <p:spTgt spid="1081"/>
                                        </p:tgtEl>
                                        <p:attrNameLst>
                                          <p:attrName>style.visibility</p:attrName>
                                        </p:attrNameLst>
                                      </p:cBhvr>
                                      <p:to>
                                        <p:strVal val="visible"/>
                                      </p:to>
                                    </p:set>
                                    <p:animEffect transition="in" filter="fade">
                                      <p:cBhvr additive="repl">
                                        <p:cTn id="15" dur="500"/>
                                        <p:tgtEl>
                                          <p:spTgt spid="1081"/>
                                        </p:tgtEl>
                                      </p:cBhvr>
                                    </p:animEffect>
                                  </p:childTnLst>
                                </p:cTn>
                              </p:par>
                              <p:par>
                                <p:cTn id="16" presetID="10" presetClass="entr" fill="hold" nodeType="withEffect">
                                  <p:stCondLst>
                                    <p:cond delay="0"/>
                                  </p:stCondLst>
                                  <p:childTnLst>
                                    <p:set>
                                      <p:cBhvr>
                                        <p:cTn id="17" dur="1" fill="hold">
                                          <p:stCondLst>
                                            <p:cond delay="0"/>
                                          </p:stCondLst>
                                        </p:cTn>
                                        <p:tgtEl>
                                          <p:spTgt spid="1082"/>
                                        </p:tgtEl>
                                        <p:attrNameLst>
                                          <p:attrName>style.visibility</p:attrName>
                                        </p:attrNameLst>
                                      </p:cBhvr>
                                      <p:to>
                                        <p:strVal val="visible"/>
                                      </p:to>
                                    </p:set>
                                    <p:animEffect transition="in" filter="fade">
                                      <p:cBhvr additive="repl">
                                        <p:cTn id="18" dur="500"/>
                                        <p:tgtEl>
                                          <p:spTgt spid="108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fill="hold" nodeType="clickEffect">
                                  <p:stCondLst>
                                    <p:cond delay="0"/>
                                  </p:stCondLst>
                                  <p:childTnLst>
                                    <p:set>
                                      <p:cBhvr>
                                        <p:cTn id="22" dur="1" fill="hold">
                                          <p:stCondLst>
                                            <p:cond delay="0"/>
                                          </p:stCondLst>
                                        </p:cTn>
                                        <p:tgtEl>
                                          <p:spTgt spid="1084">
                                            <p:txEl>
                                              <p:pRg st="0" end="77"/>
                                            </p:txEl>
                                          </p:spTgt>
                                        </p:tgtEl>
                                        <p:attrNameLst>
                                          <p:attrName>style.visibility</p:attrName>
                                        </p:attrNameLst>
                                      </p:cBhvr>
                                      <p:to>
                                        <p:strVal val="visible"/>
                                      </p:to>
                                    </p:set>
                                    <p:animEffect transition="in" filter="fade">
                                      <p:cBhvr additive="repl">
                                        <p:cTn id="23" dur="500"/>
                                        <p:tgtEl>
                                          <p:spTgt spid="1084">
                                            <p:txEl>
                                              <p:pRg st="0" end="77"/>
                                            </p:txEl>
                                          </p:spTgt>
                                        </p:tgtEl>
                                      </p:cBhvr>
                                    </p:animEffect>
                                  </p:childTnLst>
                                </p:cTn>
                              </p:par>
                              <p:par>
                                <p:cTn id="24" presetID="10" presetClass="entr" fill="hold" nodeType="withEffect">
                                  <p:stCondLst>
                                    <p:cond delay="0"/>
                                  </p:stCondLst>
                                  <p:childTnLst>
                                    <p:set>
                                      <p:cBhvr>
                                        <p:cTn id="25" dur="1" fill="hold">
                                          <p:stCondLst>
                                            <p:cond delay="0"/>
                                          </p:stCondLst>
                                        </p:cTn>
                                        <p:tgtEl>
                                          <p:spTgt spid="1084">
                                            <p:txEl>
                                              <p:pRg st="77" end="151"/>
                                            </p:txEl>
                                          </p:spTgt>
                                        </p:tgtEl>
                                        <p:attrNameLst>
                                          <p:attrName>style.visibility</p:attrName>
                                        </p:attrNameLst>
                                      </p:cBhvr>
                                      <p:to>
                                        <p:strVal val="visible"/>
                                      </p:to>
                                    </p:set>
                                    <p:animEffect transition="in" filter="fade">
                                      <p:cBhvr additive="repl">
                                        <p:cTn id="26" dur="500"/>
                                        <p:tgtEl>
                                          <p:spTgt spid="1084">
                                            <p:txEl>
                                              <p:pRg st="77" end="151"/>
                                            </p:txEl>
                                          </p:spTgt>
                                        </p:tgtEl>
                                      </p:cBhvr>
                                    </p:animEffect>
                                  </p:childTnLst>
                                </p:cTn>
                              </p:par>
                            </p:childTnLst>
                          </p:cTn>
                        </p:par>
                        <p:par>
                          <p:cTn id="27" fill="hold">
                            <p:stCondLst>
                              <p:cond delay="500"/>
                            </p:stCondLst>
                            <p:childTnLst>
                              <p:par>
                                <p:cTn id="28" presetID="9" presetClass="entr" fill="hold" nodeType="afterEffect">
                                  <p:stCondLst>
                                    <p:cond delay="0"/>
                                  </p:stCondLst>
                                  <p:childTnLst>
                                    <p:set>
                                      <p:cBhvr>
                                        <p:cTn id="29" dur="1" fill="hold">
                                          <p:stCondLst>
                                            <p:cond delay="0"/>
                                          </p:stCondLst>
                                        </p:cTn>
                                        <p:tgtEl>
                                          <p:spTgt spid="1083"/>
                                        </p:tgtEl>
                                        <p:attrNameLst>
                                          <p:attrName>style.visibility</p:attrName>
                                        </p:attrNameLst>
                                      </p:cBhvr>
                                      <p:to>
                                        <p:strVal val="visible"/>
                                      </p:to>
                                    </p:set>
                                    <p:animEffect transition="in" filter="dissolve">
                                      <p:cBhvr additive="repl">
                                        <p:cTn id="30" dur="500"/>
                                        <p:tgtEl>
                                          <p:spTgt spid="1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 name="CustomShape 1"/>
          <p:cNvSpPr/>
          <p:nvPr/>
        </p:nvSpPr>
        <p:spPr>
          <a:xfrm>
            <a:off x="914400" y="2421000"/>
            <a:ext cx="8000640" cy="107928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p:txBody>
      </p:sp>
      <p:sp>
        <p:nvSpPr>
          <p:cNvPr id="1086" name="TextShape 2"/>
          <p:cNvSpPr txBox="1"/>
          <p:nvPr/>
        </p:nvSpPr>
        <p:spPr>
          <a:xfrm>
            <a:off x="914400" y="76320"/>
            <a:ext cx="8000640" cy="60912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The Income Elasticity of Demand</a:t>
            </a:r>
            <a:endParaRPr lang="id-ID" sz="3200" strike="noStrike" spc="-1">
              <a:solidFill>
                <a:srgbClr val="000000"/>
              </a:solidFill>
              <a:uFill>
                <a:solidFill>
                  <a:srgbClr val="FFFFFF"/>
                </a:solidFill>
              </a:uFill>
              <a:latin typeface="Calibri"/>
            </a:endParaRPr>
          </a:p>
        </p:txBody>
      </p:sp>
      <p:sp>
        <p:nvSpPr>
          <p:cNvPr id="1087" name="CustomShape 3"/>
          <p:cNvSpPr/>
          <p:nvPr/>
        </p:nvSpPr>
        <p:spPr>
          <a:xfrm>
            <a:off x="0" y="0"/>
            <a:ext cx="9143640" cy="360"/>
          </a:xfrm>
          <a:prstGeom prst="rect">
            <a:avLst/>
          </a:prstGeom>
          <a:noFill/>
          <a:ln w="9360">
            <a:noFill/>
          </a:ln>
        </p:spPr>
        <p:style>
          <a:lnRef idx="0">
            <a:scrgbClr r="0" g="0" b="0"/>
          </a:lnRef>
          <a:fillRef idx="0">
            <a:scrgbClr r="0" g="0" b="0"/>
          </a:fillRef>
          <a:effectRef idx="0">
            <a:scrgbClr r="0" g="0" b="0"/>
          </a:effectRef>
          <a:fontRef idx="minor"/>
        </p:style>
      </p:sp>
      <p:sp>
        <p:nvSpPr>
          <p:cNvPr id="1088" name="CustomShape 4"/>
          <p:cNvSpPr/>
          <p:nvPr/>
        </p:nvSpPr>
        <p:spPr>
          <a:xfrm>
            <a:off x="914400" y="692280"/>
            <a:ext cx="8000640" cy="1552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230040" indent="-22968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The </a:t>
            </a:r>
            <a:r>
              <a:rPr lang="en-US" sz="2400" b="1" strike="noStrike" spc="-1">
                <a:solidFill>
                  <a:srgbClr val="000000"/>
                </a:solidFill>
                <a:uFill>
                  <a:solidFill>
                    <a:srgbClr val="FFFFFF"/>
                  </a:solidFill>
                </a:uFill>
                <a:latin typeface="Calibri"/>
                <a:ea typeface="MS PGothic"/>
              </a:rPr>
              <a:t>income elasticity of demand </a:t>
            </a:r>
            <a:r>
              <a:rPr lang="en-US" sz="2400" strike="noStrike" spc="-1">
                <a:solidFill>
                  <a:srgbClr val="000000"/>
                </a:solidFill>
                <a:uFill>
                  <a:solidFill>
                    <a:srgbClr val="FFFFFF"/>
                  </a:solidFill>
                </a:uFill>
                <a:latin typeface="Calibri"/>
                <a:ea typeface="MS PGothic"/>
              </a:rPr>
              <a:t>is the percent change in the quantity of a good demanded when a consumer’s income changes divided by the percent change in the consumer’s income.</a:t>
            </a:r>
            <a:endParaRPr lang="en-US" sz="1800" strike="noStrike" spc="-1">
              <a:solidFill>
                <a:srgbClr val="000000"/>
              </a:solidFill>
              <a:uFill>
                <a:solidFill>
                  <a:srgbClr val="FFFFFF"/>
                </a:solidFill>
              </a:uFill>
              <a:latin typeface="Arial"/>
            </a:endParaRPr>
          </a:p>
        </p:txBody>
      </p:sp>
      <p:pic>
        <p:nvPicPr>
          <p:cNvPr id="1089" name="Picture 10"/>
          <p:cNvPicPr/>
          <p:nvPr/>
        </p:nvPicPr>
        <p:blipFill>
          <a:blip r:embed="rId3"/>
          <a:stretch/>
        </p:blipFill>
        <p:spPr>
          <a:xfrm>
            <a:off x="1042920" y="2693880"/>
            <a:ext cx="7741800" cy="666360"/>
          </a:xfrm>
          <a:prstGeom prst="rect">
            <a:avLst/>
          </a:prstGeom>
          <a:ln w="9360">
            <a:noFill/>
          </a:ln>
        </p:spPr>
      </p:pic>
      <p:sp>
        <p:nvSpPr>
          <p:cNvPr id="1090" name="CustomShape 5"/>
          <p:cNvSpPr/>
          <p:nvPr/>
        </p:nvSpPr>
        <p:spPr>
          <a:xfrm>
            <a:off x="900000" y="3716280"/>
            <a:ext cx="8010000" cy="2952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43080" indent="-34272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When the income elasticity of demand is positive, the good is a </a:t>
            </a:r>
            <a:r>
              <a:rPr lang="en-US" sz="2500" b="1" strike="noStrike" spc="-1">
                <a:solidFill>
                  <a:srgbClr val="000000"/>
                </a:solidFill>
                <a:uFill>
                  <a:solidFill>
                    <a:srgbClr val="FFFFFF"/>
                  </a:solidFill>
                </a:uFill>
                <a:latin typeface="Calibri"/>
                <a:ea typeface="MS PGothic"/>
              </a:rPr>
              <a:t>normal good</a:t>
            </a:r>
            <a:r>
              <a:rPr lang="en-US" sz="2500" strike="noStrike" spc="-1">
                <a:solidFill>
                  <a:srgbClr val="000000"/>
                </a:solidFill>
                <a:uFill>
                  <a:solidFill>
                    <a:srgbClr val="FFFFFF"/>
                  </a:solidFill>
                </a:uFill>
                <a:latin typeface="Calibri"/>
                <a:ea typeface="MS PGothic"/>
              </a:rPr>
              <a:t>; that is, the quantity demanded at any given price increases as income increases.</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343080" indent="-34272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When the income elasticity of demand is negative, the good is an </a:t>
            </a:r>
            <a:r>
              <a:rPr lang="en-US" sz="2500" b="1" strike="noStrike" spc="-1">
                <a:solidFill>
                  <a:srgbClr val="000000"/>
                </a:solidFill>
                <a:uFill>
                  <a:solidFill>
                    <a:srgbClr val="FFFFFF"/>
                  </a:solidFill>
                </a:uFill>
                <a:latin typeface="Calibri"/>
                <a:ea typeface="MS PGothic"/>
              </a:rPr>
              <a:t>inferior good</a:t>
            </a:r>
            <a:r>
              <a:rPr lang="en-US" sz="2500" strike="noStrike" spc="-1">
                <a:solidFill>
                  <a:srgbClr val="000000"/>
                </a:solidFill>
                <a:uFill>
                  <a:solidFill>
                    <a:srgbClr val="FFFFFF"/>
                  </a:solidFill>
                </a:uFill>
                <a:latin typeface="Calibri"/>
                <a:ea typeface="MS PGothic"/>
              </a:rPr>
              <a:t>;  that is, the quantity demanded at any given price decreases as income increases.</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88"/>
                                        </p:tgtEl>
                                        <p:attrNameLst>
                                          <p:attrName>style.visibility</p:attrName>
                                        </p:attrNameLst>
                                      </p:cBhvr>
                                      <p:to>
                                        <p:strVal val="visible"/>
                                      </p:to>
                                    </p:set>
                                    <p:animEffect transition="in" filter="wipe(left)">
                                      <p:cBhvr additive="repl">
                                        <p:cTn id="7" dur="500"/>
                                        <p:tgtEl>
                                          <p:spTgt spid="10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85"/>
                                        </p:tgtEl>
                                        <p:attrNameLst>
                                          <p:attrName>style.visibility</p:attrName>
                                        </p:attrNameLst>
                                      </p:cBhvr>
                                      <p:to>
                                        <p:strVal val="visible"/>
                                      </p:to>
                                    </p:set>
                                    <p:animEffect transition="in" filter="wipe(left)">
                                      <p:cBhvr additive="repl">
                                        <p:cTn id="12" dur="500"/>
                                        <p:tgtEl>
                                          <p:spTgt spid="1085"/>
                                        </p:tgtEl>
                                      </p:cBhvr>
                                    </p:animEffect>
                                  </p:childTnLst>
                                </p:cTn>
                              </p:par>
                              <p:par>
                                <p:cTn id="13" presetID="22" presetClass="entr" presetSubtype="8" fill="hold" nodeType="withEffect">
                                  <p:stCondLst>
                                    <p:cond delay="0"/>
                                  </p:stCondLst>
                                  <p:childTnLst>
                                    <p:set>
                                      <p:cBhvr>
                                        <p:cTn id="14" dur="1" fill="hold">
                                          <p:stCondLst>
                                            <p:cond delay="0"/>
                                          </p:stCondLst>
                                        </p:cTn>
                                        <p:tgtEl>
                                          <p:spTgt spid="1089"/>
                                        </p:tgtEl>
                                        <p:attrNameLst>
                                          <p:attrName>style.visibility</p:attrName>
                                        </p:attrNameLst>
                                      </p:cBhvr>
                                      <p:to>
                                        <p:strVal val="visible"/>
                                      </p:to>
                                    </p:set>
                                    <p:animEffect transition="in" filter="wipe(left)">
                                      <p:cBhvr additive="repl">
                                        <p:cTn id="15" dur="500"/>
                                        <p:tgtEl>
                                          <p:spTgt spid="108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fill="hold" nodeType="clickEffect">
                                  <p:stCondLst>
                                    <p:cond delay="0"/>
                                  </p:stCondLst>
                                  <p:childTnLst>
                                    <p:set>
                                      <p:cBhvr>
                                        <p:cTn id="19" dur="1" fill="hold">
                                          <p:stCondLst>
                                            <p:cond delay="0"/>
                                          </p:stCondLst>
                                        </p:cTn>
                                        <p:tgtEl>
                                          <p:spTgt spid="1090">
                                            <p:txEl>
                                              <p:pRg st="0" end="158"/>
                                            </p:txEl>
                                          </p:spTgt>
                                        </p:tgtEl>
                                        <p:attrNameLst>
                                          <p:attrName>style.visibility</p:attrName>
                                        </p:attrNameLst>
                                      </p:cBhvr>
                                      <p:to>
                                        <p:strVal val="visible"/>
                                      </p:to>
                                    </p:set>
                                    <p:animEffect transition="in" filter="fade">
                                      <p:cBhvr additive="repl">
                                        <p:cTn id="20" dur="500"/>
                                        <p:tgtEl>
                                          <p:spTgt spid="1090">
                                            <p:txEl>
                                              <p:pRg st="0" end="158"/>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fill="hold" nodeType="clickEffect">
                                  <p:stCondLst>
                                    <p:cond delay="0"/>
                                  </p:stCondLst>
                                  <p:childTnLst>
                                    <p:set>
                                      <p:cBhvr>
                                        <p:cTn id="24" dur="1" fill="hold">
                                          <p:stCondLst>
                                            <p:cond delay="0"/>
                                          </p:stCondLst>
                                        </p:cTn>
                                        <p:tgtEl>
                                          <p:spTgt spid="1090">
                                            <p:txEl>
                                              <p:pRg st="159" end="321"/>
                                            </p:txEl>
                                          </p:spTgt>
                                        </p:tgtEl>
                                        <p:attrNameLst>
                                          <p:attrName>style.visibility</p:attrName>
                                        </p:attrNameLst>
                                      </p:cBhvr>
                                      <p:to>
                                        <p:strVal val="visible"/>
                                      </p:to>
                                    </p:set>
                                    <p:animEffect transition="in" filter="fade">
                                      <p:cBhvr additive="repl">
                                        <p:cTn id="25" dur="500"/>
                                        <p:tgtEl>
                                          <p:spTgt spid="1090">
                                            <p:txEl>
                                              <p:pRg st="159" end="3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 name="CustomShape 1"/>
          <p:cNvSpPr/>
          <p:nvPr/>
        </p:nvSpPr>
        <p:spPr>
          <a:xfrm>
            <a:off x="971640" y="3882960"/>
            <a:ext cx="7943400" cy="2209320"/>
          </a:xfrm>
          <a:prstGeom prst="rect">
            <a:avLst/>
          </a:prstGeom>
          <a:solidFill>
            <a:srgbClr val="FFFFFF"/>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p:txBody>
      </p:sp>
      <p:sp>
        <p:nvSpPr>
          <p:cNvPr id="1092" name="TextShape 2"/>
          <p:cNvSpPr txBox="1"/>
          <p:nvPr/>
        </p:nvSpPr>
        <p:spPr>
          <a:xfrm>
            <a:off x="971640" y="44280"/>
            <a:ext cx="7943400" cy="609120"/>
          </a:xfrm>
          <a:prstGeom prst="rect">
            <a:avLst/>
          </a:prstGeom>
          <a:noFill/>
          <a:ln>
            <a:noFill/>
          </a:ln>
        </p:spPr>
        <p:txBody>
          <a:bodyPr anchor="ctr"/>
          <a:lstStyle/>
          <a:p>
            <a:pPr>
              <a:lnSpc>
                <a:spcPct val="100000"/>
              </a:lnSpc>
            </a:pPr>
            <a:r>
              <a:rPr lang="id-ID" sz="2800" b="1" strike="noStrike" spc="-1">
                <a:solidFill>
                  <a:srgbClr val="FFFFFF"/>
                </a:solidFill>
                <a:uFill>
                  <a:solidFill>
                    <a:srgbClr val="FFFFFF"/>
                  </a:solidFill>
                </a:uFill>
                <a:latin typeface="Calibri"/>
                <a:ea typeface="MS PGothic"/>
              </a:rPr>
              <a:t>Measuring the Price Elasticity of Supply</a:t>
            </a:r>
            <a:endParaRPr lang="id-ID" sz="3200" strike="noStrike" spc="-1">
              <a:solidFill>
                <a:srgbClr val="000000"/>
              </a:solidFill>
              <a:uFill>
                <a:solidFill>
                  <a:srgbClr val="FFFFFF"/>
                </a:solidFill>
              </a:uFill>
              <a:latin typeface="Calibri"/>
            </a:endParaRPr>
          </a:p>
        </p:txBody>
      </p:sp>
      <p:sp>
        <p:nvSpPr>
          <p:cNvPr id="1093" name="TextShape 3"/>
          <p:cNvSpPr txBox="1"/>
          <p:nvPr/>
        </p:nvSpPr>
        <p:spPr>
          <a:xfrm>
            <a:off x="971640" y="912960"/>
            <a:ext cx="7943400" cy="2515680"/>
          </a:xfrm>
          <a:prstGeom prst="rect">
            <a:avLst/>
          </a:prstGeom>
          <a:noFill/>
          <a:ln w="9360">
            <a:noFill/>
          </a:ln>
        </p:spPr>
        <p:txBody>
          <a:bodyPr/>
          <a:lstStyle/>
          <a:p>
            <a:pPr marL="230040" indent="-215640">
              <a:lnSpc>
                <a:spcPct val="100000"/>
              </a:lnSpc>
              <a:buClr>
                <a:srgbClr val="000000"/>
              </a:buClr>
              <a:buFont typeface="Arial"/>
              <a:buChar char="•"/>
            </a:pPr>
            <a:r>
              <a:rPr lang="id-ID" sz="2500" strike="noStrike" spc="-1">
                <a:solidFill>
                  <a:srgbClr val="000000"/>
                </a:solidFill>
                <a:uFill>
                  <a:solidFill>
                    <a:srgbClr val="FFFFFF"/>
                  </a:solidFill>
                </a:uFill>
                <a:latin typeface="Calibri"/>
                <a:ea typeface="MS PGothic"/>
              </a:rPr>
              <a:t>The </a:t>
            </a:r>
            <a:r>
              <a:rPr lang="id-ID" sz="2500" b="1" strike="noStrike" spc="-1">
                <a:solidFill>
                  <a:srgbClr val="000000"/>
                </a:solidFill>
                <a:uFill>
                  <a:solidFill>
                    <a:srgbClr val="FFFFFF"/>
                  </a:solidFill>
                </a:uFill>
                <a:latin typeface="Calibri"/>
                <a:ea typeface="MS PGothic"/>
              </a:rPr>
              <a:t>price elasticity of supply </a:t>
            </a:r>
            <a:r>
              <a:rPr lang="id-ID" sz="2500" strike="noStrike" spc="-1">
                <a:solidFill>
                  <a:srgbClr val="000000"/>
                </a:solidFill>
                <a:uFill>
                  <a:solidFill>
                    <a:srgbClr val="FFFFFF"/>
                  </a:solidFill>
                </a:uFill>
                <a:latin typeface="Calibri"/>
                <a:ea typeface="MS PGothic"/>
              </a:rPr>
              <a:t>is a measure of the responsiveness of the quantity of a good supplied to the price of that good. 
</a:t>
            </a:r>
            <a:r>
              <a:rPr lang="id-ID" sz="2500" strike="noStrike" spc="-1">
                <a:solidFill>
                  <a:srgbClr val="000000"/>
                </a:solidFill>
                <a:uFill>
                  <a:solidFill>
                    <a:srgbClr val="FFFFFF"/>
                  </a:solidFill>
                </a:uFill>
                <a:latin typeface="Calibri"/>
              </a:rPr>
              <a:t> </a:t>
            </a:r>
          </a:p>
          <a:p>
            <a:pPr marL="230040" indent="-215640">
              <a:lnSpc>
                <a:spcPct val="100000"/>
              </a:lnSpc>
              <a:buClr>
                <a:srgbClr val="000000"/>
              </a:buClr>
              <a:buFont typeface="Arial"/>
              <a:buChar char="•"/>
            </a:pPr>
            <a:r>
              <a:rPr lang="id-ID" sz="2500" strike="noStrike" spc="-1">
                <a:solidFill>
                  <a:srgbClr val="000000"/>
                </a:solidFill>
                <a:uFill>
                  <a:solidFill>
                    <a:srgbClr val="FFFFFF"/>
                  </a:solidFill>
                </a:uFill>
                <a:latin typeface="Calibri"/>
                <a:ea typeface="MS PGothic"/>
              </a:rPr>
              <a:t>It is the ratio of the percent change in the quantity supplied to the percent change in the price as we move along the supply curve. </a:t>
            </a:r>
            <a:endParaRPr lang="id-ID" sz="2500" strike="noStrike" spc="-1">
              <a:solidFill>
                <a:srgbClr val="000000"/>
              </a:solidFill>
              <a:uFill>
                <a:solidFill>
                  <a:srgbClr val="FFFFFF"/>
                </a:solidFill>
              </a:uFill>
              <a:latin typeface="Calibri"/>
            </a:endParaRPr>
          </a:p>
        </p:txBody>
      </p:sp>
      <p:pic>
        <p:nvPicPr>
          <p:cNvPr id="1094" name="Picture 5"/>
          <p:cNvPicPr/>
          <p:nvPr/>
        </p:nvPicPr>
        <p:blipFill>
          <a:blip r:embed="rId3"/>
          <a:stretch/>
        </p:blipFill>
        <p:spPr>
          <a:xfrm>
            <a:off x="1062000" y="4416480"/>
            <a:ext cx="7757640" cy="896400"/>
          </a:xfrm>
          <a:prstGeom prst="rect">
            <a:avLst/>
          </a:prstGeom>
          <a:ln w="936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93">
                                            <p:txEl>
                                              <p:pRg st="0" end="130"/>
                                            </p:txEl>
                                          </p:spTgt>
                                        </p:tgtEl>
                                        <p:attrNameLst>
                                          <p:attrName>style.visibility</p:attrName>
                                        </p:attrNameLst>
                                      </p:cBhvr>
                                      <p:to>
                                        <p:strVal val="visible"/>
                                      </p:to>
                                    </p:set>
                                    <p:animEffect transition="in" filter="wipe(left)">
                                      <p:cBhvr additive="repl">
                                        <p:cTn id="7" dur="500"/>
                                        <p:tgtEl>
                                          <p:spTgt spid="1093">
                                            <p:txEl>
                                              <p:pRg st="0" end="13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93">
                                            <p:txEl>
                                              <p:pRg st="130" end="264"/>
                                            </p:txEl>
                                          </p:spTgt>
                                        </p:tgtEl>
                                        <p:attrNameLst>
                                          <p:attrName>style.visibility</p:attrName>
                                        </p:attrNameLst>
                                      </p:cBhvr>
                                      <p:to>
                                        <p:strVal val="visible"/>
                                      </p:to>
                                    </p:set>
                                    <p:animEffect transition="in" filter="wipe(left)">
                                      <p:cBhvr additive="repl">
                                        <p:cTn id="12" dur="500"/>
                                        <p:tgtEl>
                                          <p:spTgt spid="1093">
                                            <p:txEl>
                                              <p:pRg st="130" end="26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91"/>
                                        </p:tgtEl>
                                        <p:attrNameLst>
                                          <p:attrName>style.visibility</p:attrName>
                                        </p:attrNameLst>
                                      </p:cBhvr>
                                      <p:to>
                                        <p:strVal val="visible"/>
                                      </p:to>
                                    </p:set>
                                    <p:animEffect transition="in" filter="wipe(left)">
                                      <p:cBhvr additive="repl">
                                        <p:cTn id="17" dur="500"/>
                                        <p:tgtEl>
                                          <p:spTgt spid="1091"/>
                                        </p:tgtEl>
                                      </p:cBhvr>
                                    </p:animEffect>
                                  </p:childTnLst>
                                </p:cTn>
                              </p:par>
                              <p:par>
                                <p:cTn id="18" presetID="22" presetClass="entr" presetSubtype="8" fill="hold" nodeType="withEffect">
                                  <p:stCondLst>
                                    <p:cond delay="0"/>
                                  </p:stCondLst>
                                  <p:childTnLst>
                                    <p:set>
                                      <p:cBhvr>
                                        <p:cTn id="19" dur="1" fill="hold">
                                          <p:stCondLst>
                                            <p:cond delay="0"/>
                                          </p:stCondLst>
                                        </p:cTn>
                                        <p:tgtEl>
                                          <p:spTgt spid="1094"/>
                                        </p:tgtEl>
                                        <p:attrNameLst>
                                          <p:attrName>style.visibility</p:attrName>
                                        </p:attrNameLst>
                                      </p:cBhvr>
                                      <p:to>
                                        <p:strVal val="visible"/>
                                      </p:to>
                                    </p:set>
                                    <p:animEffect transition="in" filter="wipe(left)">
                                      <p:cBhvr additive="repl">
                                        <p:cTn id="20" dur="500"/>
                                        <p:tgtEl>
                                          <p:spTgt spid="10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 name="TextShape 1"/>
          <p:cNvSpPr txBox="1"/>
          <p:nvPr/>
        </p:nvSpPr>
        <p:spPr>
          <a:xfrm>
            <a:off x="1071720" y="60480"/>
            <a:ext cx="8078400" cy="55512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The Price Elasticity of Supply</a:t>
            </a:r>
            <a:endParaRPr lang="id-ID" sz="3200" strike="noStrike" spc="-1">
              <a:solidFill>
                <a:srgbClr val="000000"/>
              </a:solidFill>
              <a:uFill>
                <a:solidFill>
                  <a:srgbClr val="FFFFFF"/>
                </a:solidFill>
              </a:uFill>
              <a:latin typeface="Calibri"/>
            </a:endParaRPr>
          </a:p>
        </p:txBody>
      </p:sp>
      <p:sp>
        <p:nvSpPr>
          <p:cNvPr id="1096" name="CustomShape 2"/>
          <p:cNvSpPr/>
          <p:nvPr/>
        </p:nvSpPr>
        <p:spPr>
          <a:xfrm>
            <a:off x="2028600" y="836640"/>
            <a:ext cx="521064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marL="343080" indent="-342720" algn="ctr">
              <a:lnSpc>
                <a:spcPct val="100000"/>
              </a:lnSpc>
            </a:pPr>
            <a:r>
              <a:rPr lang="en-US" sz="1800" b="1" strike="noStrike" spc="-1">
                <a:solidFill>
                  <a:srgbClr val="000000"/>
                </a:solidFill>
                <a:uFill>
                  <a:solidFill>
                    <a:srgbClr val="FFFFFF"/>
                  </a:solidFill>
                </a:uFill>
                <a:latin typeface="Arial"/>
                <a:ea typeface="MS PGothic"/>
              </a:rPr>
              <a:t>  Unit Elastic Supply: Elasticity Equals 1</a:t>
            </a:r>
            <a:endParaRPr lang="en-US" sz="1800" strike="noStrike" spc="-1">
              <a:solidFill>
                <a:srgbClr val="000000"/>
              </a:solidFill>
              <a:uFill>
                <a:solidFill>
                  <a:srgbClr val="FFFFFF"/>
                </a:solidFill>
              </a:uFill>
              <a:latin typeface="Arial"/>
            </a:endParaRPr>
          </a:p>
        </p:txBody>
      </p:sp>
      <p:sp>
        <p:nvSpPr>
          <p:cNvPr id="1097" name="CustomShape 3"/>
          <p:cNvSpPr/>
          <p:nvPr/>
        </p:nvSpPr>
        <p:spPr>
          <a:xfrm>
            <a:off x="2743200" y="1566720"/>
            <a:ext cx="3352320" cy="3047760"/>
          </a:xfrm>
          <a:prstGeom prst="rect">
            <a:avLst/>
          </a:prstGeom>
          <a:solidFill>
            <a:schemeClr val="bg1"/>
          </a:solidFill>
          <a:ln>
            <a:solidFill>
              <a:schemeClr val="bg1"/>
            </a:solidFill>
            <a:round/>
          </a:ln>
        </p:spPr>
        <p:style>
          <a:lnRef idx="2">
            <a:schemeClr val="accent1">
              <a:shade val="50000"/>
            </a:schemeClr>
          </a:lnRef>
          <a:fillRef idx="1">
            <a:schemeClr val="accent1"/>
          </a:fillRef>
          <a:effectRef idx="0">
            <a:schemeClr val="accent1"/>
          </a:effectRef>
          <a:fontRef idx="minor"/>
        </p:style>
      </p:sp>
      <p:sp>
        <p:nvSpPr>
          <p:cNvPr id="1098" name="Line 4"/>
          <p:cNvSpPr/>
          <p:nvPr/>
        </p:nvSpPr>
        <p:spPr>
          <a:xfrm flipH="1">
            <a:off x="2742840" y="1566720"/>
            <a:ext cx="1800" cy="3048120"/>
          </a:xfrm>
          <a:prstGeom prst="line">
            <a:avLst/>
          </a:prstGeom>
          <a:ln w="28440">
            <a:solidFill>
              <a:schemeClr val="tx1"/>
            </a:solidFill>
            <a:round/>
          </a:ln>
        </p:spPr>
        <p:style>
          <a:lnRef idx="1">
            <a:schemeClr val="accent1"/>
          </a:lnRef>
          <a:fillRef idx="0">
            <a:schemeClr val="accent1"/>
          </a:fillRef>
          <a:effectRef idx="0">
            <a:schemeClr val="accent1"/>
          </a:effectRef>
          <a:fontRef idx="minor"/>
        </p:style>
      </p:sp>
      <p:sp>
        <p:nvSpPr>
          <p:cNvPr id="1099" name="CustomShape 5"/>
          <p:cNvSpPr/>
          <p:nvPr/>
        </p:nvSpPr>
        <p:spPr>
          <a:xfrm>
            <a:off x="1985760" y="1262160"/>
            <a:ext cx="76464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Price </a:t>
            </a:r>
            <a:endParaRPr lang="en-US" sz="1800" strike="noStrike" spc="-1">
              <a:solidFill>
                <a:srgbClr val="000000"/>
              </a:solidFill>
              <a:uFill>
                <a:solidFill>
                  <a:srgbClr val="FFFFFF"/>
                </a:solidFill>
              </a:uFill>
              <a:latin typeface="Arial"/>
            </a:endParaRPr>
          </a:p>
        </p:txBody>
      </p:sp>
      <p:sp>
        <p:nvSpPr>
          <p:cNvPr id="1100" name="Line 6"/>
          <p:cNvSpPr/>
          <p:nvPr/>
        </p:nvSpPr>
        <p:spPr>
          <a:xfrm>
            <a:off x="2743200" y="4614840"/>
            <a:ext cx="3352680" cy="1440"/>
          </a:xfrm>
          <a:prstGeom prst="line">
            <a:avLst/>
          </a:prstGeom>
          <a:ln w="28440">
            <a:solidFill>
              <a:schemeClr val="tx1"/>
            </a:solidFill>
            <a:round/>
          </a:ln>
        </p:spPr>
        <p:style>
          <a:lnRef idx="1">
            <a:schemeClr val="accent1"/>
          </a:lnRef>
          <a:fillRef idx="0">
            <a:schemeClr val="accent1"/>
          </a:fillRef>
          <a:effectRef idx="0">
            <a:schemeClr val="accent1"/>
          </a:effectRef>
          <a:fontRef idx="minor"/>
        </p:style>
      </p:sp>
      <p:sp>
        <p:nvSpPr>
          <p:cNvPr id="1101" name="CustomShape 7"/>
          <p:cNvSpPr/>
          <p:nvPr/>
        </p:nvSpPr>
        <p:spPr>
          <a:xfrm>
            <a:off x="5113080" y="4767120"/>
            <a:ext cx="109260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Quantity </a:t>
            </a:r>
            <a:endParaRPr lang="en-US" sz="1800" strike="noStrike" spc="-1">
              <a:solidFill>
                <a:srgbClr val="000000"/>
              </a:solidFill>
              <a:uFill>
                <a:solidFill>
                  <a:srgbClr val="FFFFFF"/>
                </a:solidFill>
              </a:uFill>
              <a:latin typeface="Arial"/>
            </a:endParaRPr>
          </a:p>
        </p:txBody>
      </p:sp>
      <p:sp>
        <p:nvSpPr>
          <p:cNvPr id="1102" name="CustomShape 8"/>
          <p:cNvSpPr/>
          <p:nvPr/>
        </p:nvSpPr>
        <p:spPr>
          <a:xfrm>
            <a:off x="2508120" y="4614840"/>
            <a:ext cx="30744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0</a:t>
            </a:r>
            <a:endParaRPr lang="en-US" sz="1800" strike="noStrike" spc="-1">
              <a:solidFill>
                <a:srgbClr val="000000"/>
              </a:solidFill>
              <a:uFill>
                <a:solidFill>
                  <a:srgbClr val="FFFFFF"/>
                </a:solidFill>
              </a:uFill>
              <a:latin typeface="Arial"/>
            </a:endParaRPr>
          </a:p>
        </p:txBody>
      </p:sp>
      <p:sp>
        <p:nvSpPr>
          <p:cNvPr id="1103" name="Line 9"/>
          <p:cNvSpPr/>
          <p:nvPr/>
        </p:nvSpPr>
        <p:spPr>
          <a:xfrm>
            <a:off x="2743200" y="2786040"/>
            <a:ext cx="2057400" cy="144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1104" name="CustomShape 10"/>
          <p:cNvSpPr/>
          <p:nvPr/>
        </p:nvSpPr>
        <p:spPr>
          <a:xfrm>
            <a:off x="2289240" y="2557440"/>
            <a:ext cx="43416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$5</a:t>
            </a:r>
            <a:endParaRPr lang="en-US" sz="1800" strike="noStrike" spc="-1">
              <a:solidFill>
                <a:srgbClr val="000000"/>
              </a:solidFill>
              <a:uFill>
                <a:solidFill>
                  <a:srgbClr val="FFFFFF"/>
                </a:solidFill>
              </a:uFill>
              <a:latin typeface="Arial"/>
            </a:endParaRPr>
          </a:p>
        </p:txBody>
      </p:sp>
      <p:sp>
        <p:nvSpPr>
          <p:cNvPr id="1105" name="Line 11"/>
          <p:cNvSpPr/>
          <p:nvPr/>
        </p:nvSpPr>
        <p:spPr>
          <a:xfrm>
            <a:off x="2743200" y="3165120"/>
            <a:ext cx="1600200" cy="180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1106" name="CustomShape 12"/>
          <p:cNvSpPr/>
          <p:nvPr/>
        </p:nvSpPr>
        <p:spPr>
          <a:xfrm>
            <a:off x="2431800" y="2938320"/>
            <a:ext cx="30744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4</a:t>
            </a:r>
            <a:endParaRPr lang="en-US" sz="1800" strike="noStrike" spc="-1">
              <a:solidFill>
                <a:srgbClr val="000000"/>
              </a:solidFill>
              <a:uFill>
                <a:solidFill>
                  <a:srgbClr val="FFFFFF"/>
                </a:solidFill>
              </a:uFill>
              <a:latin typeface="Arial"/>
            </a:endParaRPr>
          </a:p>
        </p:txBody>
      </p:sp>
      <p:sp>
        <p:nvSpPr>
          <p:cNvPr id="1107" name="CustomShape 13"/>
          <p:cNvSpPr/>
          <p:nvPr/>
        </p:nvSpPr>
        <p:spPr>
          <a:xfrm flipV="1">
            <a:off x="2817720" y="2786760"/>
            <a:ext cx="2880" cy="380520"/>
          </a:xfrm>
          <a:custGeom>
            <a:avLst/>
            <a:gdLst/>
            <a:ahLst/>
            <a:cxnLst/>
            <a:rect l="l" t="t" r="r" b="b"/>
            <a:pathLst>
              <a:path w="21600" h="21600">
                <a:moveTo>
                  <a:pt x="0" y="0"/>
                </a:moveTo>
                <a:lnTo>
                  <a:pt x="21600" y="21600"/>
                </a:lnTo>
              </a:path>
            </a:pathLst>
          </a:custGeom>
          <a:noFill/>
          <a:ln w="19080">
            <a:solidFill>
              <a:schemeClr val="tx1"/>
            </a:solidFill>
            <a:round/>
            <a:tailEnd type="triangle" w="med" len="med"/>
          </a:ln>
        </p:spPr>
        <p:style>
          <a:lnRef idx="0">
            <a:scrgbClr r="0" g="0" b="0"/>
          </a:lnRef>
          <a:fillRef idx="0">
            <a:scrgbClr r="0" g="0" b="0"/>
          </a:fillRef>
          <a:effectRef idx="0">
            <a:scrgbClr r="0" g="0" b="0"/>
          </a:effectRef>
          <a:fontRef idx="minor"/>
        </p:style>
      </p:sp>
      <p:sp>
        <p:nvSpPr>
          <p:cNvPr id="1108" name="CustomShape 14"/>
          <p:cNvSpPr/>
          <p:nvPr/>
        </p:nvSpPr>
        <p:spPr>
          <a:xfrm>
            <a:off x="2539800" y="1576440"/>
            <a:ext cx="1831680" cy="974520"/>
          </a:xfrm>
          <a:prstGeom prst="rect">
            <a:avLst/>
          </a:prstGeom>
          <a:solidFill>
            <a:srgbClr val="FFCC66"/>
          </a:solidFill>
          <a:ln w="9360">
            <a:noFill/>
          </a:ln>
        </p:spPr>
        <p:style>
          <a:lnRef idx="0">
            <a:scrgbClr r="0" g="0" b="0"/>
          </a:lnRef>
          <a:fillRef idx="0">
            <a:scrgbClr r="0" g="0" b="0"/>
          </a:fillRef>
          <a:effectRef idx="0">
            <a:scrgbClr r="0" g="0" b="0"/>
          </a:effectRef>
          <a:fontRef idx="minor"/>
        </p:style>
        <p:txBody>
          <a:bodyPr wrap="none" lIns="90000" tIns="45000" rIns="90000" bIns="45000"/>
          <a:lstStyle/>
          <a:p>
            <a:pPr marL="343080" indent="-342720">
              <a:lnSpc>
                <a:spcPct val="100000"/>
              </a:lnSpc>
            </a:pPr>
            <a:r>
              <a:rPr lang="en-US" sz="1800" strike="noStrike" spc="-1">
                <a:solidFill>
                  <a:srgbClr val="000000"/>
                </a:solidFill>
                <a:uFill>
                  <a:solidFill>
                    <a:srgbClr val="FFFFFF"/>
                  </a:solidFill>
                </a:uFill>
                <a:latin typeface="Arial"/>
                <a:ea typeface="MS PGothic"/>
              </a:rPr>
              <a:t>1. A  22%</a:t>
            </a:r>
            <a:endParaRPr lang="en-US" sz="1800" strike="noStrike" spc="-1">
              <a:solidFill>
                <a:srgbClr val="000000"/>
              </a:solidFill>
              <a:uFill>
                <a:solidFill>
                  <a:srgbClr val="FFFFFF"/>
                </a:solidFill>
              </a:uFill>
              <a:latin typeface="Arial"/>
            </a:endParaRPr>
          </a:p>
          <a:p>
            <a:pPr marL="343080" indent="-342720">
              <a:lnSpc>
                <a:spcPct val="100000"/>
              </a:lnSpc>
            </a:pPr>
            <a:r>
              <a:rPr lang="en-US" sz="1800" strike="noStrike" spc="-1">
                <a:solidFill>
                  <a:srgbClr val="000000"/>
                </a:solidFill>
                <a:uFill>
                  <a:solidFill>
                    <a:srgbClr val="FFFFFF"/>
                  </a:solidFill>
                </a:uFill>
                <a:latin typeface="Arial"/>
                <a:ea typeface="MS PGothic"/>
              </a:rPr>
              <a:t>increase</a:t>
            </a:r>
            <a:endParaRPr lang="en-US" sz="1800" strike="noStrike" spc="-1">
              <a:solidFill>
                <a:srgbClr val="000000"/>
              </a:solidFill>
              <a:uFill>
                <a:solidFill>
                  <a:srgbClr val="FFFFFF"/>
                </a:solidFill>
              </a:uFill>
              <a:latin typeface="Arial"/>
            </a:endParaRPr>
          </a:p>
          <a:p>
            <a:pPr marL="343080" indent="-342720">
              <a:lnSpc>
                <a:spcPct val="100000"/>
              </a:lnSpc>
            </a:pPr>
            <a:r>
              <a:rPr lang="en-US" sz="1800" strike="noStrike" spc="-1">
                <a:solidFill>
                  <a:srgbClr val="000000"/>
                </a:solidFill>
                <a:uFill>
                  <a:solidFill>
                    <a:srgbClr val="FFFFFF"/>
                  </a:solidFill>
                </a:uFill>
                <a:latin typeface="Arial"/>
                <a:ea typeface="MS PGothic"/>
              </a:rPr>
              <a:t>in price…</a:t>
            </a:r>
            <a:endParaRPr lang="en-US" sz="1800" strike="noStrike" spc="-1">
              <a:solidFill>
                <a:srgbClr val="000000"/>
              </a:solidFill>
              <a:uFill>
                <a:solidFill>
                  <a:srgbClr val="FFFFFF"/>
                </a:solidFill>
              </a:uFill>
              <a:latin typeface="Arial"/>
            </a:endParaRPr>
          </a:p>
        </p:txBody>
      </p:sp>
      <p:sp>
        <p:nvSpPr>
          <p:cNvPr id="1109" name="Line 15"/>
          <p:cNvSpPr/>
          <p:nvPr/>
        </p:nvSpPr>
        <p:spPr>
          <a:xfrm flipV="1">
            <a:off x="2895480" y="2557440"/>
            <a:ext cx="533160" cy="457200"/>
          </a:xfrm>
          <a:prstGeom prst="line">
            <a:avLst/>
          </a:prstGeom>
          <a:ln>
            <a:solidFill>
              <a:schemeClr val="tx1"/>
            </a:solidFill>
            <a:round/>
          </a:ln>
        </p:spPr>
        <p:style>
          <a:lnRef idx="1">
            <a:schemeClr val="accent1"/>
          </a:lnRef>
          <a:fillRef idx="0">
            <a:schemeClr val="accent1"/>
          </a:fillRef>
          <a:effectRef idx="0">
            <a:schemeClr val="accent1"/>
          </a:effectRef>
          <a:fontRef idx="minor"/>
        </p:style>
      </p:sp>
      <p:sp>
        <p:nvSpPr>
          <p:cNvPr id="1110" name="CustomShape 16"/>
          <p:cNvSpPr/>
          <p:nvPr/>
        </p:nvSpPr>
        <p:spPr>
          <a:xfrm>
            <a:off x="4855320" y="2835360"/>
            <a:ext cx="2436840" cy="1279440"/>
          </a:xfrm>
          <a:prstGeom prst="rect">
            <a:avLst/>
          </a:prstGeom>
          <a:solidFill>
            <a:srgbClr val="FFCC66"/>
          </a:solidFill>
          <a:ln w="9360">
            <a:noFill/>
          </a:ln>
        </p:spPr>
        <p:style>
          <a:lnRef idx="0">
            <a:scrgbClr r="0" g="0" b="0"/>
          </a:lnRef>
          <a:fillRef idx="0">
            <a:scrgbClr r="0" g="0" b="0"/>
          </a:fillRef>
          <a:effectRef idx="0">
            <a:scrgbClr r="0" g="0" b="0"/>
          </a:effectRef>
          <a:fontRef idx="minor"/>
        </p:style>
        <p:txBody>
          <a:bodyPr wrap="none" lIns="90000" tIns="45000" rIns="90000" bIns="45000"/>
          <a:lstStyle/>
          <a:p>
            <a:pPr marL="343080" indent="-342720">
              <a:lnSpc>
                <a:spcPct val="100000"/>
              </a:lnSpc>
            </a:pPr>
            <a:r>
              <a:rPr lang="en-US" sz="1800" strike="noStrike" spc="-1">
                <a:solidFill>
                  <a:srgbClr val="000000"/>
                </a:solidFill>
                <a:uFill>
                  <a:solidFill>
                    <a:srgbClr val="FFFFFF"/>
                  </a:solidFill>
                </a:uFill>
                <a:latin typeface="Arial"/>
                <a:ea typeface="MS PGothic"/>
              </a:rPr>
              <a:t>2. … leads to</a:t>
            </a:r>
            <a:endParaRPr lang="en-US" sz="1800" strike="noStrike" spc="-1">
              <a:solidFill>
                <a:srgbClr val="000000"/>
              </a:solidFill>
              <a:uFill>
                <a:solidFill>
                  <a:srgbClr val="FFFFFF"/>
                </a:solidFill>
              </a:uFill>
              <a:latin typeface="Arial"/>
            </a:endParaRPr>
          </a:p>
          <a:p>
            <a:pPr marL="343080" indent="-342720">
              <a:lnSpc>
                <a:spcPct val="100000"/>
              </a:lnSpc>
            </a:pPr>
            <a:r>
              <a:rPr lang="en-US" sz="1800" strike="noStrike" spc="-1">
                <a:solidFill>
                  <a:srgbClr val="000000"/>
                </a:solidFill>
                <a:uFill>
                  <a:solidFill>
                    <a:srgbClr val="FFFFFF"/>
                  </a:solidFill>
                </a:uFill>
                <a:latin typeface="Arial"/>
                <a:ea typeface="MS PGothic"/>
              </a:rPr>
              <a:t>a 22% increase</a:t>
            </a:r>
            <a:endParaRPr lang="en-US" sz="1800" strike="noStrike" spc="-1">
              <a:solidFill>
                <a:srgbClr val="000000"/>
              </a:solidFill>
              <a:uFill>
                <a:solidFill>
                  <a:srgbClr val="FFFFFF"/>
                </a:solidFill>
              </a:uFill>
              <a:latin typeface="Arial"/>
            </a:endParaRPr>
          </a:p>
          <a:p>
            <a:pPr marL="343080" indent="-342720">
              <a:lnSpc>
                <a:spcPct val="100000"/>
              </a:lnSpc>
            </a:pPr>
            <a:r>
              <a:rPr lang="en-US" sz="1800" strike="noStrike" spc="-1">
                <a:solidFill>
                  <a:srgbClr val="000000"/>
                </a:solidFill>
                <a:uFill>
                  <a:solidFill>
                    <a:srgbClr val="FFFFFF"/>
                  </a:solidFill>
                </a:uFill>
                <a:latin typeface="Arial"/>
                <a:ea typeface="MS PGothic"/>
              </a:rPr>
              <a:t>in quantity</a:t>
            </a:r>
            <a:endParaRPr lang="en-US" sz="1800" strike="noStrike" spc="-1">
              <a:solidFill>
                <a:srgbClr val="000000"/>
              </a:solidFill>
              <a:uFill>
                <a:solidFill>
                  <a:srgbClr val="FFFFFF"/>
                </a:solidFill>
              </a:uFill>
              <a:latin typeface="Arial"/>
            </a:endParaRPr>
          </a:p>
          <a:p>
            <a:pPr marL="343080" indent="-342720">
              <a:lnSpc>
                <a:spcPct val="100000"/>
              </a:lnSpc>
            </a:pPr>
            <a:r>
              <a:rPr lang="en-US" sz="1800" strike="noStrike" spc="-1">
                <a:solidFill>
                  <a:srgbClr val="000000"/>
                </a:solidFill>
                <a:uFill>
                  <a:solidFill>
                    <a:srgbClr val="FFFFFF"/>
                  </a:solidFill>
                </a:uFill>
                <a:latin typeface="Arial"/>
                <a:ea typeface="MS PGothic"/>
              </a:rPr>
              <a:t>supplied</a:t>
            </a:r>
            <a:endParaRPr lang="en-US" sz="1800" strike="noStrike" spc="-1">
              <a:solidFill>
                <a:srgbClr val="000000"/>
              </a:solidFill>
              <a:uFill>
                <a:solidFill>
                  <a:srgbClr val="FFFFFF"/>
                </a:solidFill>
              </a:uFill>
              <a:latin typeface="Arial"/>
            </a:endParaRPr>
          </a:p>
        </p:txBody>
      </p:sp>
      <p:sp>
        <p:nvSpPr>
          <p:cNvPr id="1111" name="Line 17"/>
          <p:cNvSpPr/>
          <p:nvPr/>
        </p:nvSpPr>
        <p:spPr>
          <a:xfrm flipV="1">
            <a:off x="4495680" y="3471840"/>
            <a:ext cx="685800" cy="914400"/>
          </a:xfrm>
          <a:prstGeom prst="line">
            <a:avLst/>
          </a:prstGeom>
          <a:ln>
            <a:solidFill>
              <a:schemeClr val="tx1"/>
            </a:solidFill>
            <a:round/>
          </a:ln>
        </p:spPr>
        <p:style>
          <a:lnRef idx="1">
            <a:schemeClr val="accent1"/>
          </a:lnRef>
          <a:fillRef idx="0">
            <a:schemeClr val="accent1"/>
          </a:fillRef>
          <a:effectRef idx="0">
            <a:schemeClr val="accent1"/>
          </a:effectRef>
          <a:fontRef idx="minor"/>
        </p:style>
      </p:sp>
      <p:sp>
        <p:nvSpPr>
          <p:cNvPr id="1112" name="CustomShape 18"/>
          <p:cNvSpPr/>
          <p:nvPr/>
        </p:nvSpPr>
        <p:spPr>
          <a:xfrm>
            <a:off x="4005720" y="4614840"/>
            <a:ext cx="56052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100</a:t>
            </a:r>
            <a:endParaRPr lang="en-US" sz="1800" strike="noStrike" spc="-1">
              <a:solidFill>
                <a:srgbClr val="000000"/>
              </a:solidFill>
              <a:uFill>
                <a:solidFill>
                  <a:srgbClr val="FFFFFF"/>
                </a:solidFill>
              </a:uFill>
              <a:latin typeface="Arial"/>
            </a:endParaRPr>
          </a:p>
        </p:txBody>
      </p:sp>
      <p:sp>
        <p:nvSpPr>
          <p:cNvPr id="1113" name="Line 19"/>
          <p:cNvSpPr/>
          <p:nvPr/>
        </p:nvSpPr>
        <p:spPr>
          <a:xfrm flipH="1">
            <a:off x="4341600" y="3166920"/>
            <a:ext cx="1800" cy="144792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1114" name="Line 20"/>
          <p:cNvSpPr/>
          <p:nvPr/>
        </p:nvSpPr>
        <p:spPr>
          <a:xfrm flipH="1">
            <a:off x="4798800" y="2787480"/>
            <a:ext cx="1800" cy="182880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1115" name="CustomShape 21"/>
          <p:cNvSpPr/>
          <p:nvPr/>
        </p:nvSpPr>
        <p:spPr>
          <a:xfrm>
            <a:off x="4499640" y="4614840"/>
            <a:ext cx="56052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125</a:t>
            </a:r>
            <a:endParaRPr lang="en-US" sz="1800" strike="noStrike" spc="-1">
              <a:solidFill>
                <a:srgbClr val="000000"/>
              </a:solidFill>
              <a:uFill>
                <a:solidFill>
                  <a:srgbClr val="FFFFFF"/>
                </a:solidFill>
              </a:uFill>
              <a:latin typeface="Arial"/>
            </a:endParaRPr>
          </a:p>
        </p:txBody>
      </p:sp>
      <p:sp>
        <p:nvSpPr>
          <p:cNvPr id="1116" name="CustomShape 22"/>
          <p:cNvSpPr/>
          <p:nvPr/>
        </p:nvSpPr>
        <p:spPr>
          <a:xfrm flipH="1">
            <a:off x="4343400" y="4460760"/>
            <a:ext cx="429840" cy="1080"/>
          </a:xfrm>
          <a:custGeom>
            <a:avLst/>
            <a:gdLst/>
            <a:ahLst/>
            <a:cxnLst/>
            <a:rect l="l" t="t" r="r" b="b"/>
            <a:pathLst>
              <a:path w="21600" h="21600">
                <a:moveTo>
                  <a:pt x="0" y="0"/>
                </a:moveTo>
                <a:lnTo>
                  <a:pt x="21600" y="21600"/>
                </a:lnTo>
              </a:path>
            </a:pathLst>
          </a:custGeom>
          <a:noFill/>
          <a:ln w="19080">
            <a:solidFill>
              <a:schemeClr val="tx1"/>
            </a:solidFill>
            <a:round/>
            <a:headEnd type="triangle" w="med" len="med"/>
          </a:ln>
        </p:spPr>
        <p:style>
          <a:lnRef idx="0">
            <a:scrgbClr r="0" g="0" b="0"/>
          </a:lnRef>
          <a:fillRef idx="0">
            <a:scrgbClr r="0" g="0" b="0"/>
          </a:fillRef>
          <a:effectRef idx="0">
            <a:scrgbClr r="0" g="0" b="0"/>
          </a:effectRef>
          <a:fontRef idx="minor"/>
        </p:style>
      </p:sp>
      <p:sp>
        <p:nvSpPr>
          <p:cNvPr id="1117" name="CustomShape 23"/>
          <p:cNvSpPr/>
          <p:nvPr/>
        </p:nvSpPr>
        <p:spPr>
          <a:xfrm>
            <a:off x="684360" y="5286240"/>
            <a:ext cx="8208720" cy="1310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000" strike="noStrike" spc="-1">
                <a:solidFill>
                  <a:srgbClr val="000000"/>
                </a:solidFill>
                <a:uFill>
                  <a:solidFill>
                    <a:srgbClr val="FFFFFF"/>
                  </a:solidFill>
                </a:uFill>
                <a:latin typeface="Calibri"/>
                <a:ea typeface="MS PGothic"/>
              </a:rPr>
              <a:t>The price elasticity of supply determines whether the supply curve is steep or flat.</a:t>
            </a:r>
            <a:endParaRPr lang="en-US" sz="1800" strike="noStrike" spc="-1">
              <a:solidFill>
                <a:srgbClr val="000000"/>
              </a:solidFill>
              <a:uFill>
                <a:solidFill>
                  <a:srgbClr val="FFFFFF"/>
                </a:solidFill>
              </a:uFill>
              <a:latin typeface="Arial"/>
            </a:endParaRPr>
          </a:p>
          <a:p>
            <a:pPr>
              <a:lnSpc>
                <a:spcPct val="100000"/>
              </a:lnSpc>
            </a:pPr>
            <a:r>
              <a:rPr lang="en-US" sz="2000" strike="noStrike" spc="-1">
                <a:solidFill>
                  <a:srgbClr val="000000"/>
                </a:solidFill>
                <a:uFill>
                  <a:solidFill>
                    <a:srgbClr val="FFFFFF"/>
                  </a:solidFill>
                </a:uFill>
                <a:latin typeface="Calibri"/>
                <a:ea typeface="MS PGothic"/>
              </a:rPr>
              <a:t>In this example, all percentage changes are calculated using the midpoint method.</a:t>
            </a:r>
            <a:endParaRPr lang="en-US" sz="1800" strike="noStrike" spc="-1">
              <a:solidFill>
                <a:srgbClr val="000000"/>
              </a:solidFill>
              <a:uFill>
                <a:solidFill>
                  <a:srgbClr val="FFFFFF"/>
                </a:solidFill>
              </a:uFill>
              <a:latin typeface="Arial"/>
            </a:endParaRPr>
          </a:p>
        </p:txBody>
      </p:sp>
      <p:sp>
        <p:nvSpPr>
          <p:cNvPr id="1118" name="CustomShape 24"/>
          <p:cNvSpPr/>
          <p:nvPr/>
        </p:nvSpPr>
        <p:spPr>
          <a:xfrm>
            <a:off x="4601160" y="1566720"/>
            <a:ext cx="93852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Supply </a:t>
            </a:r>
            <a:endParaRPr lang="en-US" sz="1800" strike="noStrike" spc="-1">
              <a:solidFill>
                <a:srgbClr val="000000"/>
              </a:solidFill>
              <a:uFill>
                <a:solidFill>
                  <a:srgbClr val="FFFFFF"/>
                </a:solidFill>
              </a:uFill>
              <a:latin typeface="Arial"/>
            </a:endParaRPr>
          </a:p>
        </p:txBody>
      </p:sp>
      <p:sp>
        <p:nvSpPr>
          <p:cNvPr id="1119" name="Line 25"/>
          <p:cNvSpPr/>
          <p:nvPr/>
        </p:nvSpPr>
        <p:spPr>
          <a:xfrm flipV="1">
            <a:off x="2743200" y="1947600"/>
            <a:ext cx="2971440" cy="2667240"/>
          </a:xfrm>
          <a:prstGeom prst="line">
            <a:avLst/>
          </a:prstGeom>
          <a:ln w="38160">
            <a:solidFill>
              <a:srgbClr val="000099"/>
            </a:solidFill>
            <a:round/>
          </a:ln>
        </p:spPr>
        <p:style>
          <a:lnRef idx="1">
            <a:schemeClr val="accent1"/>
          </a:lnRef>
          <a:fillRef idx="0">
            <a:schemeClr val="accent1"/>
          </a:fillRef>
          <a:effectRef idx="0">
            <a:schemeClr val="accent1"/>
          </a:effectRef>
          <a:fontRef idx="minor"/>
        </p:style>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 name="TextShape 1"/>
          <p:cNvSpPr txBox="1"/>
          <p:nvPr/>
        </p:nvSpPr>
        <p:spPr>
          <a:xfrm>
            <a:off x="826920" y="44280"/>
            <a:ext cx="8125920" cy="609120"/>
          </a:xfrm>
          <a:prstGeom prst="rect">
            <a:avLst/>
          </a:prstGeom>
          <a:noFill/>
          <a:ln>
            <a:noFill/>
          </a:ln>
        </p:spPr>
        <p:txBody>
          <a:bodyPr anchor="ctr"/>
          <a:lstStyle/>
          <a:p>
            <a:pPr>
              <a:lnSpc>
                <a:spcPct val="100000"/>
              </a:lnSpc>
            </a:pPr>
            <a:r>
              <a:rPr lang="id-ID" sz="2800" b="1" strike="noStrike" spc="-1">
                <a:solidFill>
                  <a:srgbClr val="FFFFFF"/>
                </a:solidFill>
                <a:uFill>
                  <a:solidFill>
                    <a:srgbClr val="FFFFFF"/>
                  </a:solidFill>
                </a:uFill>
                <a:latin typeface="Calibri"/>
                <a:ea typeface="MS PGothic"/>
              </a:rPr>
              <a:t>Two Extreme Cases of Price Elasticity of Supply</a:t>
            </a:r>
            <a:endParaRPr lang="id-ID" sz="3200" strike="noStrike" spc="-1">
              <a:solidFill>
                <a:srgbClr val="000000"/>
              </a:solidFill>
              <a:uFill>
                <a:solidFill>
                  <a:srgbClr val="FFFFFF"/>
                </a:solidFill>
              </a:uFill>
              <a:latin typeface="Calibri"/>
            </a:endParaRPr>
          </a:p>
        </p:txBody>
      </p:sp>
      <p:sp>
        <p:nvSpPr>
          <p:cNvPr id="1121" name="Line 2"/>
          <p:cNvSpPr/>
          <p:nvPr/>
        </p:nvSpPr>
        <p:spPr>
          <a:xfrm flipV="1">
            <a:off x="4161240" y="3383640"/>
            <a:ext cx="360" cy="2238480"/>
          </a:xfrm>
          <a:prstGeom prst="line">
            <a:avLst/>
          </a:prstGeom>
          <a:ln w="30240">
            <a:solidFill>
              <a:srgbClr val="EE313C"/>
            </a:solidFill>
            <a:miter/>
          </a:ln>
        </p:spPr>
        <p:style>
          <a:lnRef idx="0">
            <a:scrgbClr r="0" g="0" b="0"/>
          </a:lnRef>
          <a:fillRef idx="0">
            <a:scrgbClr r="0" g="0" b="0"/>
          </a:fillRef>
          <a:effectRef idx="0">
            <a:scrgbClr r="0" g="0" b="0"/>
          </a:effectRef>
          <a:fontRef idx="minor"/>
        </p:style>
      </p:sp>
      <p:sp>
        <p:nvSpPr>
          <p:cNvPr id="1122" name="CustomShape 3"/>
          <p:cNvSpPr/>
          <p:nvPr/>
        </p:nvSpPr>
        <p:spPr>
          <a:xfrm>
            <a:off x="4119840" y="3126960"/>
            <a:ext cx="9360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S</a:t>
            </a:r>
            <a:endParaRPr lang="en-US" sz="1800" strike="noStrike" spc="-1">
              <a:solidFill>
                <a:srgbClr val="000000"/>
              </a:solidFill>
              <a:uFill>
                <a:solidFill>
                  <a:srgbClr val="FFFFFF"/>
                </a:solidFill>
              </a:uFill>
              <a:latin typeface="Arial"/>
            </a:endParaRPr>
          </a:p>
        </p:txBody>
      </p:sp>
      <p:sp>
        <p:nvSpPr>
          <p:cNvPr id="1123" name="CustomShape 4"/>
          <p:cNvSpPr/>
          <p:nvPr/>
        </p:nvSpPr>
        <p:spPr>
          <a:xfrm>
            <a:off x="4183200" y="3217320"/>
            <a:ext cx="11484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1</a:t>
            </a:r>
            <a:endParaRPr lang="en-US" sz="1800" strike="noStrike" spc="-1">
              <a:solidFill>
                <a:srgbClr val="000000"/>
              </a:solidFill>
              <a:uFill>
                <a:solidFill>
                  <a:srgbClr val="FFFFFF"/>
                </a:solidFill>
              </a:uFill>
              <a:latin typeface="Arial"/>
            </a:endParaRPr>
          </a:p>
        </p:txBody>
      </p:sp>
      <p:sp>
        <p:nvSpPr>
          <p:cNvPr id="1124" name="Line 5"/>
          <p:cNvSpPr/>
          <p:nvPr/>
        </p:nvSpPr>
        <p:spPr>
          <a:xfrm>
            <a:off x="2919600" y="3990240"/>
            <a:ext cx="10476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1125" name="Line 6"/>
          <p:cNvSpPr/>
          <p:nvPr/>
        </p:nvSpPr>
        <p:spPr>
          <a:xfrm>
            <a:off x="2919600" y="4410720"/>
            <a:ext cx="10476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1126" name="CustomShape 7"/>
          <p:cNvSpPr/>
          <p:nvPr/>
        </p:nvSpPr>
        <p:spPr>
          <a:xfrm>
            <a:off x="2339280" y="2013840"/>
            <a:ext cx="2001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b="1" strike="noStrike" spc="-1">
                <a:solidFill>
                  <a:srgbClr val="000000"/>
                </a:solidFill>
                <a:uFill>
                  <a:solidFill>
                    <a:srgbClr val="FFFFFF"/>
                  </a:solidFill>
                </a:uFill>
                <a:latin typeface="Calibri"/>
                <a:ea typeface="MS PGothic"/>
              </a:rPr>
              <a:t>(a)</a:t>
            </a:r>
            <a:endParaRPr lang="en-US" sz="1800" strike="noStrike" spc="-1">
              <a:solidFill>
                <a:srgbClr val="000000"/>
              </a:solidFill>
              <a:uFill>
                <a:solidFill>
                  <a:srgbClr val="FFFFFF"/>
                </a:solidFill>
              </a:uFill>
              <a:latin typeface="Arial"/>
            </a:endParaRPr>
          </a:p>
        </p:txBody>
      </p:sp>
      <p:sp>
        <p:nvSpPr>
          <p:cNvPr id="1127" name="CustomShape 8"/>
          <p:cNvSpPr/>
          <p:nvPr/>
        </p:nvSpPr>
        <p:spPr>
          <a:xfrm>
            <a:off x="2556360" y="1937880"/>
            <a:ext cx="2437920" cy="42588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b="1" strike="noStrike" spc="-1">
                <a:solidFill>
                  <a:srgbClr val="000000"/>
                </a:solidFill>
                <a:uFill>
                  <a:solidFill>
                    <a:srgbClr val="FFFFFF"/>
                  </a:solidFill>
                </a:uFill>
                <a:latin typeface="Calibri"/>
                <a:ea typeface="MS PGothic"/>
              </a:rPr>
              <a:t>Perfectly Inelastic Supply:      Price Elasticity of Supply = 0</a:t>
            </a:r>
            <a:endParaRPr lang="en-US" sz="1800" strike="noStrike" spc="-1">
              <a:solidFill>
                <a:srgbClr val="000000"/>
              </a:solidFill>
              <a:uFill>
                <a:solidFill>
                  <a:srgbClr val="FFFFFF"/>
                </a:solidFill>
              </a:uFill>
              <a:latin typeface="Arial"/>
            </a:endParaRPr>
          </a:p>
        </p:txBody>
      </p:sp>
      <p:sp>
        <p:nvSpPr>
          <p:cNvPr id="1128" name="CustomShape 9"/>
          <p:cNvSpPr/>
          <p:nvPr/>
        </p:nvSpPr>
        <p:spPr>
          <a:xfrm>
            <a:off x="4025880" y="5658840"/>
            <a:ext cx="3405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100</a:t>
            </a:r>
            <a:endParaRPr lang="en-US" sz="1800" strike="noStrike" spc="-1">
              <a:solidFill>
                <a:srgbClr val="000000"/>
              </a:solidFill>
              <a:uFill>
                <a:solidFill>
                  <a:srgbClr val="FFFFFF"/>
                </a:solidFill>
              </a:uFill>
              <a:latin typeface="Arial"/>
            </a:endParaRPr>
          </a:p>
        </p:txBody>
      </p:sp>
      <p:sp>
        <p:nvSpPr>
          <p:cNvPr id="1129" name="CustomShape 10"/>
          <p:cNvSpPr/>
          <p:nvPr/>
        </p:nvSpPr>
        <p:spPr>
          <a:xfrm>
            <a:off x="2760840" y="5658840"/>
            <a:ext cx="11484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1130" name="CustomShape 11"/>
          <p:cNvSpPr/>
          <p:nvPr/>
        </p:nvSpPr>
        <p:spPr>
          <a:xfrm>
            <a:off x="4607280" y="5811120"/>
            <a:ext cx="1463400" cy="6390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Quantity of cell phone frequencies</a:t>
            </a:r>
            <a:endParaRPr lang="en-US" sz="1800" strike="noStrike" spc="-1">
              <a:solidFill>
                <a:srgbClr val="000000"/>
              </a:solidFill>
              <a:uFill>
                <a:solidFill>
                  <a:srgbClr val="FFFFFF"/>
                </a:solidFill>
              </a:uFill>
              <a:latin typeface="Arial"/>
            </a:endParaRPr>
          </a:p>
        </p:txBody>
      </p:sp>
      <p:sp>
        <p:nvSpPr>
          <p:cNvPr id="1131" name="CustomShape 12"/>
          <p:cNvSpPr/>
          <p:nvPr/>
        </p:nvSpPr>
        <p:spPr>
          <a:xfrm>
            <a:off x="2258640" y="3787200"/>
            <a:ext cx="62244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$3,000</a:t>
            </a:r>
            <a:endParaRPr lang="en-US" sz="1800" strike="noStrike" spc="-1">
              <a:solidFill>
                <a:srgbClr val="000000"/>
              </a:solidFill>
              <a:uFill>
                <a:solidFill>
                  <a:srgbClr val="FFFFFF"/>
                </a:solidFill>
              </a:uFill>
              <a:latin typeface="Arial"/>
            </a:endParaRPr>
          </a:p>
        </p:txBody>
      </p:sp>
      <p:sp>
        <p:nvSpPr>
          <p:cNvPr id="1132" name="CustomShape 13"/>
          <p:cNvSpPr/>
          <p:nvPr/>
        </p:nvSpPr>
        <p:spPr>
          <a:xfrm>
            <a:off x="2408400" y="4434840"/>
            <a:ext cx="5097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2,000</a:t>
            </a:r>
            <a:endParaRPr lang="en-US" sz="1800" strike="noStrike" spc="-1">
              <a:solidFill>
                <a:srgbClr val="000000"/>
              </a:solidFill>
              <a:uFill>
                <a:solidFill>
                  <a:srgbClr val="FFFFFF"/>
                </a:solidFill>
              </a:uFill>
              <a:latin typeface="Arial"/>
            </a:endParaRPr>
          </a:p>
        </p:txBody>
      </p:sp>
      <p:sp>
        <p:nvSpPr>
          <p:cNvPr id="1133" name="CustomShape 14"/>
          <p:cNvSpPr/>
          <p:nvPr/>
        </p:nvSpPr>
        <p:spPr>
          <a:xfrm>
            <a:off x="1722960" y="2493360"/>
            <a:ext cx="2464920" cy="4255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Price of cell phone frequency</a:t>
            </a:r>
            <a:endParaRPr lang="en-US" sz="1800" strike="noStrike" spc="-1">
              <a:solidFill>
                <a:srgbClr val="000000"/>
              </a:solidFill>
              <a:uFill>
                <a:solidFill>
                  <a:srgbClr val="FFFFFF"/>
                </a:solidFill>
              </a:uFill>
              <a:latin typeface="Arial"/>
            </a:endParaRPr>
          </a:p>
        </p:txBody>
      </p:sp>
      <p:sp>
        <p:nvSpPr>
          <p:cNvPr id="1134" name="Line 15"/>
          <p:cNvSpPr/>
          <p:nvPr/>
        </p:nvSpPr>
        <p:spPr>
          <a:xfrm flipV="1">
            <a:off x="2919600" y="2864520"/>
            <a:ext cx="360" cy="25131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1135" name="CustomShape 16"/>
          <p:cNvSpPr/>
          <p:nvPr/>
        </p:nvSpPr>
        <p:spPr>
          <a:xfrm>
            <a:off x="2919960" y="5452560"/>
            <a:ext cx="2706480" cy="169560"/>
          </a:xfrm>
          <a:custGeom>
            <a:avLst/>
            <a:gdLst/>
            <a:ahLst/>
            <a:cxnLst/>
            <a:rect l="l" t="t" r="r" b="b"/>
            <a:pathLst>
              <a:path w="1472" h="85">
                <a:moveTo>
                  <a:pt x="1472" y="85"/>
                </a:moveTo>
                <a:lnTo>
                  <a:pt x="0" y="85"/>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sp>
      <p:sp>
        <p:nvSpPr>
          <p:cNvPr id="1136" name="Line 17"/>
          <p:cNvSpPr/>
          <p:nvPr/>
        </p:nvSpPr>
        <p:spPr>
          <a:xfrm flipV="1">
            <a:off x="2872080" y="5347440"/>
            <a:ext cx="92160" cy="5868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1137" name="Line 18"/>
          <p:cNvSpPr/>
          <p:nvPr/>
        </p:nvSpPr>
        <p:spPr>
          <a:xfrm flipV="1">
            <a:off x="2872080" y="5423760"/>
            <a:ext cx="92160" cy="5868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1138" name="Line 19"/>
          <p:cNvSpPr/>
          <p:nvPr/>
        </p:nvSpPr>
        <p:spPr>
          <a:xfrm flipH="1">
            <a:off x="4140360" y="5034600"/>
            <a:ext cx="395280" cy="360"/>
          </a:xfrm>
          <a:prstGeom prst="line">
            <a:avLst/>
          </a:prstGeom>
          <a:ln w="7920">
            <a:solidFill>
              <a:srgbClr val="000000"/>
            </a:solidFill>
            <a:miter/>
          </a:ln>
        </p:spPr>
        <p:style>
          <a:lnRef idx="0">
            <a:scrgbClr r="0" g="0" b="0"/>
          </a:lnRef>
          <a:fillRef idx="0">
            <a:scrgbClr r="0" g="0" b="0"/>
          </a:fillRef>
          <a:effectRef idx="0">
            <a:scrgbClr r="0" g="0" b="0"/>
          </a:effectRef>
          <a:fontRef idx="minor"/>
        </p:style>
      </p:sp>
      <p:sp>
        <p:nvSpPr>
          <p:cNvPr id="1139" name="CustomShape 20"/>
          <p:cNvSpPr/>
          <p:nvPr/>
        </p:nvSpPr>
        <p:spPr>
          <a:xfrm>
            <a:off x="4545720" y="4581000"/>
            <a:ext cx="2182320" cy="632880"/>
          </a:xfrm>
          <a:custGeom>
            <a:avLst/>
            <a:gdLst/>
            <a:ahLst/>
            <a:cxnLst/>
            <a:rect l="l" t="t" r="r" b="b"/>
            <a:pathLst>
              <a:path w="200" h="178">
                <a:moveTo>
                  <a:pt x="200" y="162"/>
                </a:moveTo>
                <a:cubicBezTo>
                  <a:pt x="200" y="170"/>
                  <a:pt x="192" y="178"/>
                  <a:pt x="184" y="178"/>
                </a:cubicBezTo>
                <a:cubicBezTo>
                  <a:pt x="16" y="178"/>
                  <a:pt x="16" y="178"/>
                  <a:pt x="16" y="178"/>
                </a:cubicBezTo>
                <a:cubicBezTo>
                  <a:pt x="8" y="178"/>
                  <a:pt x="0" y="170"/>
                  <a:pt x="0" y="162"/>
                </a:cubicBezTo>
                <a:cubicBezTo>
                  <a:pt x="0" y="16"/>
                  <a:pt x="0" y="16"/>
                  <a:pt x="0" y="16"/>
                </a:cubicBezTo>
                <a:cubicBezTo>
                  <a:pt x="0" y="7"/>
                  <a:pt x="8" y="0"/>
                  <a:pt x="16" y="0"/>
                </a:cubicBezTo>
                <a:cubicBezTo>
                  <a:pt x="184" y="0"/>
                  <a:pt x="184" y="0"/>
                  <a:pt x="184" y="0"/>
                </a:cubicBezTo>
                <a:cubicBezTo>
                  <a:pt x="192" y="0"/>
                  <a:pt x="200" y="7"/>
                  <a:pt x="200" y="16"/>
                </a:cubicBezTo>
                <a:lnTo>
                  <a:pt x="200" y="162"/>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1140" name="CustomShape 21"/>
          <p:cNvSpPr/>
          <p:nvPr/>
        </p:nvSpPr>
        <p:spPr>
          <a:xfrm>
            <a:off x="4584960" y="4651200"/>
            <a:ext cx="1984680" cy="42588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 leaves the quantity supplied unchanged</a:t>
            </a:r>
            <a:endParaRPr lang="en-US" sz="1800" strike="noStrike" spc="-1">
              <a:solidFill>
                <a:srgbClr val="000000"/>
              </a:solidFill>
              <a:uFill>
                <a:solidFill>
                  <a:srgbClr val="FFFFFF"/>
                </a:solidFill>
              </a:uFill>
              <a:latin typeface="Arial"/>
            </a:endParaRPr>
          </a:p>
        </p:txBody>
      </p:sp>
      <p:sp>
        <p:nvSpPr>
          <p:cNvPr id="1141" name="CustomShape 22"/>
          <p:cNvSpPr/>
          <p:nvPr/>
        </p:nvSpPr>
        <p:spPr>
          <a:xfrm>
            <a:off x="3059640" y="4401720"/>
            <a:ext cx="15480" cy="201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42" name="CustomShape 23"/>
          <p:cNvSpPr/>
          <p:nvPr/>
        </p:nvSpPr>
        <p:spPr>
          <a:xfrm>
            <a:off x="3137400" y="4401720"/>
            <a:ext cx="17280" cy="201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43" name="CustomShape 24"/>
          <p:cNvSpPr/>
          <p:nvPr/>
        </p:nvSpPr>
        <p:spPr>
          <a:xfrm>
            <a:off x="3215160" y="4401720"/>
            <a:ext cx="17280" cy="201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44" name="CustomShape 25"/>
          <p:cNvSpPr/>
          <p:nvPr/>
        </p:nvSpPr>
        <p:spPr>
          <a:xfrm>
            <a:off x="3292920" y="4401720"/>
            <a:ext cx="18720" cy="201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45" name="CustomShape 26"/>
          <p:cNvSpPr/>
          <p:nvPr/>
        </p:nvSpPr>
        <p:spPr>
          <a:xfrm>
            <a:off x="3369240" y="4401720"/>
            <a:ext cx="15480" cy="201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46" name="CustomShape 27"/>
          <p:cNvSpPr/>
          <p:nvPr/>
        </p:nvSpPr>
        <p:spPr>
          <a:xfrm>
            <a:off x="3445200" y="4401720"/>
            <a:ext cx="17280" cy="201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47" name="CustomShape 28"/>
          <p:cNvSpPr/>
          <p:nvPr/>
        </p:nvSpPr>
        <p:spPr>
          <a:xfrm>
            <a:off x="3524760" y="4401720"/>
            <a:ext cx="15480" cy="201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48" name="CustomShape 29"/>
          <p:cNvSpPr/>
          <p:nvPr/>
        </p:nvSpPr>
        <p:spPr>
          <a:xfrm>
            <a:off x="3602520" y="4401720"/>
            <a:ext cx="15480" cy="201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49" name="CustomShape 30"/>
          <p:cNvSpPr/>
          <p:nvPr/>
        </p:nvSpPr>
        <p:spPr>
          <a:xfrm>
            <a:off x="3680280" y="4401720"/>
            <a:ext cx="17280" cy="201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50" name="CustomShape 31"/>
          <p:cNvSpPr/>
          <p:nvPr/>
        </p:nvSpPr>
        <p:spPr>
          <a:xfrm>
            <a:off x="3758040" y="4401720"/>
            <a:ext cx="18720" cy="201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51" name="CustomShape 32"/>
          <p:cNvSpPr/>
          <p:nvPr/>
        </p:nvSpPr>
        <p:spPr>
          <a:xfrm>
            <a:off x="3831120" y="4401720"/>
            <a:ext cx="18720" cy="201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52" name="CustomShape 33"/>
          <p:cNvSpPr/>
          <p:nvPr/>
        </p:nvSpPr>
        <p:spPr>
          <a:xfrm>
            <a:off x="3910320" y="4401720"/>
            <a:ext cx="17280" cy="201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53" name="CustomShape 34"/>
          <p:cNvSpPr/>
          <p:nvPr/>
        </p:nvSpPr>
        <p:spPr>
          <a:xfrm>
            <a:off x="3988080" y="4401720"/>
            <a:ext cx="17280" cy="201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54" name="CustomShape 35"/>
          <p:cNvSpPr/>
          <p:nvPr/>
        </p:nvSpPr>
        <p:spPr>
          <a:xfrm>
            <a:off x="4067640" y="4401720"/>
            <a:ext cx="15480" cy="2016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55" name="CustomShape 36"/>
          <p:cNvSpPr/>
          <p:nvPr/>
        </p:nvSpPr>
        <p:spPr>
          <a:xfrm>
            <a:off x="4128120" y="4363560"/>
            <a:ext cx="85320" cy="932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56" name="Line 37"/>
          <p:cNvSpPr/>
          <p:nvPr/>
        </p:nvSpPr>
        <p:spPr>
          <a:xfrm flipV="1">
            <a:off x="2460960" y="4155480"/>
            <a:ext cx="360" cy="169560"/>
          </a:xfrm>
          <a:prstGeom prst="line">
            <a:avLst/>
          </a:prstGeom>
          <a:ln w="11160">
            <a:solidFill>
              <a:srgbClr val="000000"/>
            </a:solidFill>
            <a:miter/>
          </a:ln>
        </p:spPr>
        <p:style>
          <a:lnRef idx="0">
            <a:scrgbClr r="0" g="0" b="0"/>
          </a:lnRef>
          <a:fillRef idx="0">
            <a:scrgbClr r="0" g="0" b="0"/>
          </a:fillRef>
          <a:effectRef idx="0">
            <a:scrgbClr r="0" g="0" b="0"/>
          </a:effectRef>
          <a:fontRef idx="minor"/>
        </p:style>
      </p:sp>
      <p:sp>
        <p:nvSpPr>
          <p:cNvPr id="1157" name="CustomShape 38"/>
          <p:cNvSpPr/>
          <p:nvPr/>
        </p:nvSpPr>
        <p:spPr>
          <a:xfrm>
            <a:off x="2432160" y="4080960"/>
            <a:ext cx="64440" cy="97920"/>
          </a:xfrm>
          <a:custGeom>
            <a:avLst/>
            <a:gdLst/>
            <a:ahLst/>
            <a:cxnLst/>
            <a:rect l="l" t="t" r="r" b="b"/>
            <a:pathLst>
              <a:path w="13" h="21">
                <a:moveTo>
                  <a:pt x="6" y="18"/>
                </a:moveTo>
                <a:cubicBezTo>
                  <a:pt x="0" y="21"/>
                  <a:pt x="0" y="21"/>
                  <a:pt x="0" y="21"/>
                </a:cubicBezTo>
                <a:cubicBezTo>
                  <a:pt x="0" y="21"/>
                  <a:pt x="0" y="21"/>
                  <a:pt x="0" y="21"/>
                </a:cubicBezTo>
                <a:cubicBezTo>
                  <a:pt x="4" y="11"/>
                  <a:pt x="4" y="11"/>
                  <a:pt x="4" y="11"/>
                </a:cubicBezTo>
                <a:cubicBezTo>
                  <a:pt x="5" y="7"/>
                  <a:pt x="6" y="3"/>
                  <a:pt x="6" y="0"/>
                </a:cubicBezTo>
                <a:cubicBezTo>
                  <a:pt x="7" y="3"/>
                  <a:pt x="8" y="7"/>
                  <a:pt x="9" y="11"/>
                </a:cubicBezTo>
                <a:cubicBezTo>
                  <a:pt x="13" y="21"/>
                  <a:pt x="13" y="21"/>
                  <a:pt x="13" y="21"/>
                </a:cubicBezTo>
                <a:cubicBezTo>
                  <a:pt x="13" y="21"/>
                  <a:pt x="13" y="21"/>
                  <a:pt x="13" y="21"/>
                </a:cubicBezTo>
                <a:lnTo>
                  <a:pt x="6" y="18"/>
                </a:lnTo>
                <a:close/>
              </a:path>
            </a:pathLst>
          </a:custGeom>
          <a:solidFill>
            <a:srgbClr val="000000"/>
          </a:solidFill>
          <a:ln w="9360">
            <a:noFill/>
          </a:ln>
        </p:spPr>
        <p:style>
          <a:lnRef idx="0">
            <a:scrgbClr r="0" g="0" b="0"/>
          </a:lnRef>
          <a:fillRef idx="0">
            <a:scrgbClr r="0" g="0" b="0"/>
          </a:fillRef>
          <a:effectRef idx="0">
            <a:scrgbClr r="0" g="0" b="0"/>
          </a:effectRef>
          <a:fontRef idx="minor"/>
        </p:style>
      </p:sp>
      <p:sp>
        <p:nvSpPr>
          <p:cNvPr id="1158" name="CustomShape 39"/>
          <p:cNvSpPr/>
          <p:nvPr/>
        </p:nvSpPr>
        <p:spPr>
          <a:xfrm>
            <a:off x="2905560" y="3980880"/>
            <a:ext cx="17640" cy="172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59" name="CustomShape 40"/>
          <p:cNvSpPr/>
          <p:nvPr/>
        </p:nvSpPr>
        <p:spPr>
          <a:xfrm>
            <a:off x="2993760" y="3980880"/>
            <a:ext cx="19440" cy="172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60" name="CustomShape 41"/>
          <p:cNvSpPr/>
          <p:nvPr/>
        </p:nvSpPr>
        <p:spPr>
          <a:xfrm>
            <a:off x="3081960" y="3980880"/>
            <a:ext cx="19440" cy="172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61" name="CustomShape 42"/>
          <p:cNvSpPr/>
          <p:nvPr/>
        </p:nvSpPr>
        <p:spPr>
          <a:xfrm>
            <a:off x="3170160" y="3980880"/>
            <a:ext cx="21240" cy="172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62" name="CustomShape 43"/>
          <p:cNvSpPr/>
          <p:nvPr/>
        </p:nvSpPr>
        <p:spPr>
          <a:xfrm>
            <a:off x="3256560" y="3980880"/>
            <a:ext cx="17640" cy="172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63" name="CustomShape 44"/>
          <p:cNvSpPr/>
          <p:nvPr/>
        </p:nvSpPr>
        <p:spPr>
          <a:xfrm>
            <a:off x="3342960" y="3980880"/>
            <a:ext cx="19440" cy="172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64" name="CustomShape 45"/>
          <p:cNvSpPr/>
          <p:nvPr/>
        </p:nvSpPr>
        <p:spPr>
          <a:xfrm>
            <a:off x="3432600" y="3980880"/>
            <a:ext cx="17640" cy="172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65" name="CustomShape 46"/>
          <p:cNvSpPr/>
          <p:nvPr/>
        </p:nvSpPr>
        <p:spPr>
          <a:xfrm>
            <a:off x="3520800" y="3980880"/>
            <a:ext cx="17640" cy="172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66" name="CustomShape 47"/>
          <p:cNvSpPr/>
          <p:nvPr/>
        </p:nvSpPr>
        <p:spPr>
          <a:xfrm>
            <a:off x="3609000" y="3980880"/>
            <a:ext cx="19440" cy="172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67" name="CustomShape 48"/>
          <p:cNvSpPr/>
          <p:nvPr/>
        </p:nvSpPr>
        <p:spPr>
          <a:xfrm>
            <a:off x="3697200" y="3980880"/>
            <a:ext cx="21240" cy="172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68" name="CustomShape 49"/>
          <p:cNvSpPr/>
          <p:nvPr/>
        </p:nvSpPr>
        <p:spPr>
          <a:xfrm>
            <a:off x="3780000" y="3980880"/>
            <a:ext cx="21240" cy="172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69" name="CustomShape 50"/>
          <p:cNvSpPr/>
          <p:nvPr/>
        </p:nvSpPr>
        <p:spPr>
          <a:xfrm>
            <a:off x="3870000" y="3980880"/>
            <a:ext cx="19440" cy="172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70" name="CustomShape 51"/>
          <p:cNvSpPr/>
          <p:nvPr/>
        </p:nvSpPr>
        <p:spPr>
          <a:xfrm>
            <a:off x="3958200" y="3980880"/>
            <a:ext cx="19440" cy="172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71" name="CustomShape 52"/>
          <p:cNvSpPr/>
          <p:nvPr/>
        </p:nvSpPr>
        <p:spPr>
          <a:xfrm>
            <a:off x="4048200" y="3980880"/>
            <a:ext cx="17640" cy="1728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72" name="CustomShape 53"/>
          <p:cNvSpPr/>
          <p:nvPr/>
        </p:nvSpPr>
        <p:spPr>
          <a:xfrm>
            <a:off x="611280" y="4003200"/>
            <a:ext cx="2092320" cy="431280"/>
          </a:xfrm>
          <a:custGeom>
            <a:avLst/>
            <a:gdLst/>
            <a:ahLst/>
            <a:cxnLst/>
            <a:rect l="l" t="t" r="r" b="b"/>
            <a:pathLst>
              <a:path w="188" h="101">
                <a:moveTo>
                  <a:pt x="188" y="85"/>
                </a:moveTo>
                <a:cubicBezTo>
                  <a:pt x="188" y="93"/>
                  <a:pt x="181" y="101"/>
                  <a:pt x="172" y="101"/>
                </a:cubicBezTo>
                <a:cubicBezTo>
                  <a:pt x="16" y="101"/>
                  <a:pt x="16" y="101"/>
                  <a:pt x="16" y="101"/>
                </a:cubicBezTo>
                <a:cubicBezTo>
                  <a:pt x="7" y="101"/>
                  <a:pt x="0" y="93"/>
                  <a:pt x="0" y="85"/>
                </a:cubicBezTo>
                <a:cubicBezTo>
                  <a:pt x="0" y="16"/>
                  <a:pt x="0" y="16"/>
                  <a:pt x="0" y="16"/>
                </a:cubicBezTo>
                <a:cubicBezTo>
                  <a:pt x="0" y="7"/>
                  <a:pt x="7" y="0"/>
                  <a:pt x="16" y="0"/>
                </a:cubicBezTo>
                <a:cubicBezTo>
                  <a:pt x="172" y="0"/>
                  <a:pt x="172" y="0"/>
                  <a:pt x="172" y="0"/>
                </a:cubicBezTo>
                <a:cubicBezTo>
                  <a:pt x="181" y="0"/>
                  <a:pt x="188" y="7"/>
                  <a:pt x="188" y="16"/>
                </a:cubicBezTo>
                <a:lnTo>
                  <a:pt x="188" y="85"/>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1173" name="CustomShape 54"/>
          <p:cNvSpPr/>
          <p:nvPr/>
        </p:nvSpPr>
        <p:spPr>
          <a:xfrm>
            <a:off x="539280" y="4131720"/>
            <a:ext cx="2171520" cy="2127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An increase in price…</a:t>
            </a:r>
            <a:endParaRPr lang="en-US" sz="1800" strike="noStrike" spc="-1">
              <a:solidFill>
                <a:srgbClr val="000000"/>
              </a:solidFill>
              <a:uFill>
                <a:solidFill>
                  <a:srgbClr val="FFFFFF"/>
                </a:solidFill>
              </a:uFill>
              <a:latin typeface="Arial"/>
            </a:endParaRPr>
          </a:p>
        </p:txBody>
      </p:sp>
      <p:sp>
        <p:nvSpPr>
          <p:cNvPr id="1174" name="CustomShape 55"/>
          <p:cNvSpPr/>
          <p:nvPr/>
        </p:nvSpPr>
        <p:spPr>
          <a:xfrm>
            <a:off x="4116600" y="3942720"/>
            <a:ext cx="96840" cy="93240"/>
          </a:xfrm>
          <a:prstGeom prst="ellipse">
            <a:avLst/>
          </a:prstGeom>
          <a:solidFill>
            <a:srgbClr val="000000"/>
          </a:solidFill>
          <a:ln w="9360">
            <a:noFill/>
          </a:ln>
        </p:spPr>
        <p:style>
          <a:lnRef idx="0">
            <a:scrgbClr r="0" g="0" b="0"/>
          </a:lnRef>
          <a:fillRef idx="0">
            <a:scrgbClr r="0" g="0" b="0"/>
          </a:fillRef>
          <a:effectRef idx="0">
            <a:scrgbClr r="0" g="0" b="0"/>
          </a:effectRef>
          <a:fontRef idx="minor"/>
        </p:style>
      </p:sp>
      <p:sp>
        <p:nvSpPr>
          <p:cNvPr id="1175" name="CustomShape 56"/>
          <p:cNvSpPr/>
          <p:nvPr/>
        </p:nvSpPr>
        <p:spPr>
          <a:xfrm flipV="1">
            <a:off x="3164400" y="3930840"/>
            <a:ext cx="360" cy="479160"/>
          </a:xfrm>
          <a:custGeom>
            <a:avLst/>
            <a:gdLst/>
            <a:ahLst/>
            <a:cxnLst/>
            <a:rect l="l" t="t" r="r" b="b"/>
            <a:pathLst>
              <a:path w="21600" h="21600">
                <a:moveTo>
                  <a:pt x="0" y="0"/>
                </a:moveTo>
                <a:lnTo>
                  <a:pt x="21600" y="21600"/>
                </a:lnTo>
              </a:path>
            </a:pathLst>
          </a:custGeom>
          <a:noFill/>
          <a:ln w="38160">
            <a:solidFill>
              <a:srgbClr val="4A7EBB"/>
            </a:solidFill>
            <a:round/>
            <a:tailEnd type="arrow" w="med" len="med"/>
          </a:ln>
        </p:spPr>
        <p:style>
          <a:lnRef idx="1">
            <a:schemeClr val="accent1"/>
          </a:lnRef>
          <a:fillRef idx="0">
            <a:schemeClr val="accent1"/>
          </a:fillRef>
          <a:effectRef idx="0">
            <a:schemeClr val="accent1"/>
          </a:effectRef>
          <a:fontRef idx="minor"/>
        </p:style>
      </p:sp>
      <p:sp>
        <p:nvSpPr>
          <p:cNvPr id="1176" name="CustomShape 57"/>
          <p:cNvSpPr/>
          <p:nvPr/>
        </p:nvSpPr>
        <p:spPr>
          <a:xfrm>
            <a:off x="6002280" y="3034800"/>
            <a:ext cx="2920680" cy="3952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000" b="1" strike="noStrike" spc="-1">
                <a:solidFill>
                  <a:srgbClr val="404040"/>
                </a:solidFill>
                <a:uFill>
                  <a:solidFill>
                    <a:srgbClr val="FFFFFF"/>
                  </a:solidFill>
                </a:uFill>
                <a:latin typeface="Calibri"/>
                <a:ea typeface="MS PGothic"/>
              </a:rPr>
              <a:t>The supply of land is fixed</a:t>
            </a:r>
            <a:endParaRPr lang="en-US" sz="1800" strike="noStrike" spc="-1">
              <a:solidFill>
                <a:srgbClr val="000000"/>
              </a:solidFill>
              <a:uFill>
                <a:solidFill>
                  <a:srgbClr val="FFFFFF"/>
                </a:solidFill>
              </a:uFill>
              <a:latin typeface="Arial"/>
            </a:endParaRPr>
          </a:p>
        </p:txBody>
      </p:sp>
      <p:pic>
        <p:nvPicPr>
          <p:cNvPr id="1177" name="Picture 67"/>
          <p:cNvPicPr/>
          <p:nvPr/>
        </p:nvPicPr>
        <p:blipFill>
          <a:blip r:embed="rId3"/>
          <a:stretch/>
        </p:blipFill>
        <p:spPr>
          <a:xfrm>
            <a:off x="5921280" y="962280"/>
            <a:ext cx="3001680" cy="2103120"/>
          </a:xfrm>
          <a:prstGeom prst="rect">
            <a:avLst/>
          </a:prstGeom>
          <a:ln w="9360">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 name="TextShape 1"/>
          <p:cNvSpPr txBox="1"/>
          <p:nvPr/>
        </p:nvSpPr>
        <p:spPr>
          <a:xfrm>
            <a:off x="826920" y="44280"/>
            <a:ext cx="8125920" cy="609120"/>
          </a:xfrm>
          <a:prstGeom prst="rect">
            <a:avLst/>
          </a:prstGeom>
          <a:noFill/>
          <a:ln>
            <a:noFill/>
          </a:ln>
        </p:spPr>
        <p:txBody>
          <a:bodyPr anchor="ctr"/>
          <a:lstStyle/>
          <a:p>
            <a:pPr>
              <a:lnSpc>
                <a:spcPct val="100000"/>
              </a:lnSpc>
            </a:pPr>
            <a:r>
              <a:rPr lang="id-ID" sz="2800" b="1" strike="noStrike" spc="-1">
                <a:solidFill>
                  <a:srgbClr val="FFFFFF"/>
                </a:solidFill>
                <a:uFill>
                  <a:solidFill>
                    <a:srgbClr val="FFFFFF"/>
                  </a:solidFill>
                </a:uFill>
                <a:latin typeface="Calibri"/>
                <a:ea typeface="MS PGothic"/>
              </a:rPr>
              <a:t>Two Extreme Cases of Price Elasticity of Supply</a:t>
            </a:r>
            <a:endParaRPr lang="id-ID" sz="3200" strike="noStrike" spc="-1">
              <a:solidFill>
                <a:srgbClr val="000000"/>
              </a:solidFill>
              <a:uFill>
                <a:solidFill>
                  <a:srgbClr val="FFFFFF"/>
                </a:solidFill>
              </a:uFill>
              <a:latin typeface="Calibri"/>
            </a:endParaRPr>
          </a:p>
        </p:txBody>
      </p:sp>
      <p:sp>
        <p:nvSpPr>
          <p:cNvPr id="1179" name="CustomShape 2"/>
          <p:cNvSpPr/>
          <p:nvPr/>
        </p:nvSpPr>
        <p:spPr>
          <a:xfrm>
            <a:off x="1909800" y="2358360"/>
            <a:ext cx="209520" cy="213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b="1" strike="noStrike" spc="-1">
                <a:solidFill>
                  <a:srgbClr val="000000"/>
                </a:solidFill>
                <a:uFill>
                  <a:solidFill>
                    <a:srgbClr val="FFFFFF"/>
                  </a:solidFill>
                </a:uFill>
                <a:latin typeface="Calibri"/>
                <a:ea typeface="MS PGothic"/>
              </a:rPr>
              <a:t>(b)</a:t>
            </a:r>
            <a:endParaRPr lang="en-US" sz="1800" strike="noStrike" spc="-1">
              <a:solidFill>
                <a:srgbClr val="000000"/>
              </a:solidFill>
              <a:uFill>
                <a:solidFill>
                  <a:srgbClr val="FFFFFF"/>
                </a:solidFill>
              </a:uFill>
              <a:latin typeface="Arial"/>
            </a:endParaRPr>
          </a:p>
        </p:txBody>
      </p:sp>
      <p:sp>
        <p:nvSpPr>
          <p:cNvPr id="1180" name="CustomShape 3"/>
          <p:cNvSpPr/>
          <p:nvPr/>
        </p:nvSpPr>
        <p:spPr>
          <a:xfrm>
            <a:off x="2303280" y="2277000"/>
            <a:ext cx="2313360" cy="4878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b="1" strike="noStrike" spc="-1">
                <a:solidFill>
                  <a:srgbClr val="000000"/>
                </a:solidFill>
                <a:uFill>
                  <a:solidFill>
                    <a:srgbClr val="FFFFFF"/>
                  </a:solidFill>
                </a:uFill>
                <a:latin typeface="Calibri"/>
                <a:ea typeface="MS PGothic"/>
              </a:rPr>
              <a:t>Perfectly Elastic Supply: Price Elasticity of Supply = </a:t>
            </a:r>
            <a:r>
              <a:rPr lang="en-US" sz="1800" b="1" strike="noStrike" spc="-1">
                <a:solidFill>
                  <a:srgbClr val="000000"/>
                </a:solidFill>
                <a:uFill>
                  <a:solidFill>
                    <a:srgbClr val="FFFFFF"/>
                  </a:solidFill>
                </a:uFill>
                <a:latin typeface="Calibri"/>
                <a:ea typeface="MS PGothic"/>
              </a:rPr>
              <a:t>∞</a:t>
            </a:r>
            <a:endParaRPr lang="en-US" sz="1800" strike="noStrike" spc="-1">
              <a:solidFill>
                <a:srgbClr val="000000"/>
              </a:solidFill>
              <a:uFill>
                <a:solidFill>
                  <a:srgbClr val="FFFFFF"/>
                </a:solidFill>
              </a:uFill>
              <a:latin typeface="Arial"/>
            </a:endParaRPr>
          </a:p>
        </p:txBody>
      </p:sp>
      <p:sp>
        <p:nvSpPr>
          <p:cNvPr id="1181" name="CustomShape 4"/>
          <p:cNvSpPr/>
          <p:nvPr/>
        </p:nvSpPr>
        <p:spPr>
          <a:xfrm>
            <a:off x="2652840" y="6309360"/>
            <a:ext cx="114840" cy="213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1182" name="CustomShape 5"/>
          <p:cNvSpPr/>
          <p:nvPr/>
        </p:nvSpPr>
        <p:spPr>
          <a:xfrm>
            <a:off x="3890880" y="6441840"/>
            <a:ext cx="1609920" cy="213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Quantity of pizzas</a:t>
            </a:r>
            <a:endParaRPr lang="en-US" sz="1800" strike="noStrike" spc="-1">
              <a:solidFill>
                <a:srgbClr val="000000"/>
              </a:solidFill>
              <a:uFill>
                <a:solidFill>
                  <a:srgbClr val="FFFFFF"/>
                </a:solidFill>
              </a:uFill>
              <a:latin typeface="Arial"/>
            </a:endParaRPr>
          </a:p>
        </p:txBody>
      </p:sp>
      <p:sp>
        <p:nvSpPr>
          <p:cNvPr id="1183" name="CustomShape 6"/>
          <p:cNvSpPr/>
          <p:nvPr/>
        </p:nvSpPr>
        <p:spPr>
          <a:xfrm>
            <a:off x="2354400" y="4819320"/>
            <a:ext cx="396720" cy="213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$12 </a:t>
            </a:r>
            <a:endParaRPr lang="en-US" sz="1800" strike="noStrike" spc="-1">
              <a:solidFill>
                <a:srgbClr val="000000"/>
              </a:solidFill>
              <a:uFill>
                <a:solidFill>
                  <a:srgbClr val="FFFFFF"/>
                </a:solidFill>
              </a:uFill>
              <a:latin typeface="Arial"/>
            </a:endParaRPr>
          </a:p>
        </p:txBody>
      </p:sp>
      <p:sp>
        <p:nvSpPr>
          <p:cNvPr id="1184" name="CustomShape 7"/>
          <p:cNvSpPr/>
          <p:nvPr/>
        </p:nvSpPr>
        <p:spPr>
          <a:xfrm>
            <a:off x="2224080" y="2898000"/>
            <a:ext cx="1097280" cy="4266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Price of pizza</a:t>
            </a:r>
            <a:endParaRPr lang="en-US" sz="1800" strike="noStrike" spc="-1">
              <a:solidFill>
                <a:srgbClr val="000000"/>
              </a:solidFill>
              <a:uFill>
                <a:solidFill>
                  <a:srgbClr val="FFFFFF"/>
                </a:solidFill>
              </a:uFill>
              <a:latin typeface="Arial"/>
            </a:endParaRPr>
          </a:p>
        </p:txBody>
      </p:sp>
      <p:sp>
        <p:nvSpPr>
          <p:cNvPr id="1185" name="Line 8"/>
          <p:cNvSpPr/>
          <p:nvPr/>
        </p:nvSpPr>
        <p:spPr>
          <a:xfrm>
            <a:off x="2807280" y="4925880"/>
            <a:ext cx="104040" cy="360"/>
          </a:xfrm>
          <a:prstGeom prst="line">
            <a:avLst/>
          </a:prstGeom>
          <a:ln w="6480">
            <a:solidFill>
              <a:srgbClr val="000000"/>
            </a:solidFill>
            <a:miter/>
          </a:ln>
        </p:spPr>
        <p:style>
          <a:lnRef idx="0">
            <a:scrgbClr r="0" g="0" b="0"/>
          </a:lnRef>
          <a:fillRef idx="0">
            <a:scrgbClr r="0" g="0" b="0"/>
          </a:fillRef>
          <a:effectRef idx="0">
            <a:scrgbClr r="0" g="0" b="0"/>
          </a:effectRef>
          <a:fontRef idx="minor"/>
        </p:style>
      </p:sp>
      <p:sp>
        <p:nvSpPr>
          <p:cNvPr id="1186" name="CustomShape 9"/>
          <p:cNvSpPr/>
          <p:nvPr/>
        </p:nvSpPr>
        <p:spPr>
          <a:xfrm>
            <a:off x="2807640" y="3341160"/>
            <a:ext cx="2700720" cy="2915280"/>
          </a:xfrm>
          <a:custGeom>
            <a:avLst/>
            <a:gdLst/>
            <a:ahLst/>
            <a:cxnLst/>
            <a:rect l="l" t="t" r="r" b="b"/>
            <a:pathLst>
              <a:path w="1474" h="1365">
                <a:moveTo>
                  <a:pt x="1474" y="1365"/>
                </a:moveTo>
                <a:lnTo>
                  <a:pt x="0" y="1365"/>
                </a:lnTo>
                <a:lnTo>
                  <a:pt x="0" y="0"/>
                </a:lnTo>
              </a:path>
            </a:pathLst>
          </a:custGeom>
          <a:noFill/>
          <a:ln w="6480">
            <a:solidFill>
              <a:srgbClr val="000000"/>
            </a:solidFill>
            <a:miter/>
          </a:ln>
        </p:spPr>
        <p:style>
          <a:lnRef idx="0">
            <a:scrgbClr r="0" g="0" b="0"/>
          </a:lnRef>
          <a:fillRef idx="0">
            <a:scrgbClr r="0" g="0" b="0"/>
          </a:fillRef>
          <a:effectRef idx="0">
            <a:scrgbClr r="0" g="0" b="0"/>
          </a:effectRef>
          <a:fontRef idx="minor"/>
        </p:style>
      </p:sp>
      <p:sp>
        <p:nvSpPr>
          <p:cNvPr id="1187" name="Line 10"/>
          <p:cNvSpPr/>
          <p:nvPr/>
        </p:nvSpPr>
        <p:spPr>
          <a:xfrm flipH="1">
            <a:off x="2807280" y="4938480"/>
            <a:ext cx="2158920" cy="360"/>
          </a:xfrm>
          <a:prstGeom prst="line">
            <a:avLst/>
          </a:prstGeom>
          <a:ln w="30240">
            <a:solidFill>
              <a:srgbClr val="EE313C"/>
            </a:solidFill>
            <a:miter/>
          </a:ln>
        </p:spPr>
        <p:style>
          <a:lnRef idx="0">
            <a:scrgbClr r="0" g="0" b="0"/>
          </a:lnRef>
          <a:fillRef idx="0">
            <a:scrgbClr r="0" g="0" b="0"/>
          </a:fillRef>
          <a:effectRef idx="0">
            <a:scrgbClr r="0" g="0" b="0"/>
          </a:effectRef>
          <a:fontRef idx="minor"/>
        </p:style>
      </p:sp>
      <p:sp>
        <p:nvSpPr>
          <p:cNvPr id="1188" name="CustomShape 11"/>
          <p:cNvSpPr/>
          <p:nvPr/>
        </p:nvSpPr>
        <p:spPr>
          <a:xfrm>
            <a:off x="5019120" y="4825080"/>
            <a:ext cx="9360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i="1" strike="noStrike" spc="-1">
                <a:solidFill>
                  <a:srgbClr val="000000"/>
                </a:solidFill>
                <a:uFill>
                  <a:solidFill>
                    <a:srgbClr val="FFFFFF"/>
                  </a:solidFill>
                </a:uFill>
                <a:latin typeface="Myriad Roman"/>
                <a:ea typeface="MS PGothic"/>
              </a:rPr>
              <a:t>S</a:t>
            </a:r>
            <a:endParaRPr lang="en-US" sz="1800" strike="noStrike" spc="-1">
              <a:solidFill>
                <a:srgbClr val="000000"/>
              </a:solidFill>
              <a:uFill>
                <a:solidFill>
                  <a:srgbClr val="FFFFFF"/>
                </a:solidFill>
              </a:uFill>
              <a:latin typeface="Arial"/>
            </a:endParaRPr>
          </a:p>
        </p:txBody>
      </p:sp>
      <p:sp>
        <p:nvSpPr>
          <p:cNvPr id="1189" name="CustomShape 12"/>
          <p:cNvSpPr/>
          <p:nvPr/>
        </p:nvSpPr>
        <p:spPr>
          <a:xfrm>
            <a:off x="5080320" y="4913280"/>
            <a:ext cx="171360" cy="21276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1080">
              <a:lnSpc>
                <a:spcPct val="100000"/>
              </a:lnSpc>
            </a:pPr>
            <a:r>
              <a:rPr lang="en-US" sz="1400" strike="noStrike" spc="-1">
                <a:solidFill>
                  <a:srgbClr val="000000"/>
                </a:solidFill>
                <a:uFill>
                  <a:solidFill>
                    <a:srgbClr val="FFFFFF"/>
                  </a:solidFill>
                </a:uFill>
                <a:latin typeface="Myriad Roman"/>
                <a:ea typeface="MS PGothic"/>
              </a:rPr>
              <a:t> 2</a:t>
            </a:r>
            <a:endParaRPr lang="en-US" sz="1800" strike="noStrike" spc="-1">
              <a:solidFill>
                <a:srgbClr val="000000"/>
              </a:solidFill>
              <a:uFill>
                <a:solidFill>
                  <a:srgbClr val="FFFFFF"/>
                </a:solidFill>
              </a:uFill>
              <a:latin typeface="Arial"/>
            </a:endParaRPr>
          </a:p>
        </p:txBody>
      </p:sp>
      <p:sp>
        <p:nvSpPr>
          <p:cNvPr id="1190" name="CustomShape 13"/>
          <p:cNvSpPr/>
          <p:nvPr/>
        </p:nvSpPr>
        <p:spPr>
          <a:xfrm>
            <a:off x="602640" y="3789000"/>
            <a:ext cx="2169000" cy="799200"/>
          </a:xfrm>
          <a:custGeom>
            <a:avLst/>
            <a:gdLst/>
            <a:ahLst/>
            <a:cxnLst/>
            <a:rect l="l" t="t" r="r" b="b"/>
            <a:pathLst>
              <a:path w="267" h="176">
                <a:moveTo>
                  <a:pt x="267" y="156"/>
                </a:moveTo>
                <a:cubicBezTo>
                  <a:pt x="267" y="167"/>
                  <a:pt x="260" y="176"/>
                  <a:pt x="252" y="176"/>
                </a:cubicBezTo>
                <a:cubicBezTo>
                  <a:pt x="15" y="176"/>
                  <a:pt x="15" y="176"/>
                  <a:pt x="15" y="176"/>
                </a:cubicBezTo>
                <a:cubicBezTo>
                  <a:pt x="7" y="176"/>
                  <a:pt x="0" y="167"/>
                  <a:pt x="0" y="156"/>
                </a:cubicBezTo>
                <a:cubicBezTo>
                  <a:pt x="0" y="20"/>
                  <a:pt x="0" y="20"/>
                  <a:pt x="0" y="20"/>
                </a:cubicBezTo>
                <a:cubicBezTo>
                  <a:pt x="0" y="9"/>
                  <a:pt x="7" y="0"/>
                  <a:pt x="15" y="0"/>
                </a:cubicBezTo>
                <a:cubicBezTo>
                  <a:pt x="252" y="0"/>
                  <a:pt x="252" y="0"/>
                  <a:pt x="252" y="0"/>
                </a:cubicBezTo>
                <a:cubicBezTo>
                  <a:pt x="260" y="0"/>
                  <a:pt x="267" y="9"/>
                  <a:pt x="267" y="20"/>
                </a:cubicBezTo>
                <a:lnTo>
                  <a:pt x="267" y="156"/>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1191" name="CustomShape 14"/>
          <p:cNvSpPr/>
          <p:nvPr/>
        </p:nvSpPr>
        <p:spPr>
          <a:xfrm>
            <a:off x="650160" y="3817440"/>
            <a:ext cx="2021400" cy="6390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At any price above $12, quantity supplied is infinite</a:t>
            </a:r>
            <a:endParaRPr lang="en-US" sz="1800" strike="noStrike" spc="-1">
              <a:solidFill>
                <a:srgbClr val="000000"/>
              </a:solidFill>
              <a:uFill>
                <a:solidFill>
                  <a:srgbClr val="FFFFFF"/>
                </a:solidFill>
              </a:uFill>
              <a:latin typeface="Arial"/>
            </a:endParaRPr>
          </a:p>
        </p:txBody>
      </p:sp>
      <p:sp>
        <p:nvSpPr>
          <p:cNvPr id="1192" name="Line 15"/>
          <p:cNvSpPr/>
          <p:nvPr/>
        </p:nvSpPr>
        <p:spPr>
          <a:xfrm flipH="1">
            <a:off x="3939120" y="4656960"/>
            <a:ext cx="25920" cy="282240"/>
          </a:xfrm>
          <a:prstGeom prst="line">
            <a:avLst/>
          </a:prstGeom>
          <a:ln w="6480">
            <a:solidFill>
              <a:srgbClr val="000000"/>
            </a:solidFill>
            <a:miter/>
          </a:ln>
        </p:spPr>
        <p:style>
          <a:lnRef idx="0">
            <a:scrgbClr r="0" g="0" b="0"/>
          </a:lnRef>
          <a:fillRef idx="0">
            <a:scrgbClr r="0" g="0" b="0"/>
          </a:fillRef>
          <a:effectRef idx="0">
            <a:scrgbClr r="0" g="0" b="0"/>
          </a:effectRef>
          <a:fontRef idx="minor"/>
        </p:style>
      </p:sp>
      <p:sp>
        <p:nvSpPr>
          <p:cNvPr id="1193" name="CustomShape 16"/>
          <p:cNvSpPr/>
          <p:nvPr/>
        </p:nvSpPr>
        <p:spPr>
          <a:xfrm>
            <a:off x="3290760" y="3645000"/>
            <a:ext cx="1571400" cy="1149120"/>
          </a:xfrm>
          <a:custGeom>
            <a:avLst/>
            <a:gdLst/>
            <a:ahLst/>
            <a:cxnLst/>
            <a:rect l="l" t="t" r="r" b="b"/>
            <a:pathLst>
              <a:path w="232" h="178">
                <a:moveTo>
                  <a:pt x="232" y="162"/>
                </a:moveTo>
                <a:cubicBezTo>
                  <a:pt x="232" y="171"/>
                  <a:pt x="225" y="178"/>
                  <a:pt x="216" y="178"/>
                </a:cubicBezTo>
                <a:cubicBezTo>
                  <a:pt x="16" y="178"/>
                  <a:pt x="16" y="178"/>
                  <a:pt x="16" y="178"/>
                </a:cubicBezTo>
                <a:cubicBezTo>
                  <a:pt x="7" y="178"/>
                  <a:pt x="0" y="171"/>
                  <a:pt x="0" y="162"/>
                </a:cubicBezTo>
                <a:cubicBezTo>
                  <a:pt x="0" y="16"/>
                  <a:pt x="0" y="16"/>
                  <a:pt x="0" y="16"/>
                </a:cubicBezTo>
                <a:cubicBezTo>
                  <a:pt x="0" y="8"/>
                  <a:pt x="7" y="0"/>
                  <a:pt x="16" y="0"/>
                </a:cubicBezTo>
                <a:cubicBezTo>
                  <a:pt x="216" y="0"/>
                  <a:pt x="216" y="0"/>
                  <a:pt x="216" y="0"/>
                </a:cubicBezTo>
                <a:cubicBezTo>
                  <a:pt x="225" y="0"/>
                  <a:pt x="232" y="8"/>
                  <a:pt x="232" y="16"/>
                </a:cubicBezTo>
                <a:lnTo>
                  <a:pt x="232" y="162"/>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1194" name="CustomShape 17"/>
          <p:cNvSpPr/>
          <p:nvPr/>
        </p:nvSpPr>
        <p:spPr>
          <a:xfrm>
            <a:off x="3372480" y="3719160"/>
            <a:ext cx="1413360" cy="8528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At exactly $12, producers will produce any quantity</a:t>
            </a:r>
            <a:endParaRPr lang="en-US" sz="1800" strike="noStrike" spc="-1">
              <a:solidFill>
                <a:srgbClr val="000000"/>
              </a:solidFill>
              <a:uFill>
                <a:solidFill>
                  <a:srgbClr val="FFFFFF"/>
                </a:solidFill>
              </a:uFill>
              <a:latin typeface="Arial"/>
            </a:endParaRPr>
          </a:p>
        </p:txBody>
      </p:sp>
      <p:sp>
        <p:nvSpPr>
          <p:cNvPr id="1195" name="CustomShape 18"/>
          <p:cNvSpPr/>
          <p:nvPr/>
        </p:nvSpPr>
        <p:spPr>
          <a:xfrm>
            <a:off x="606960" y="5229360"/>
            <a:ext cx="2073600" cy="941040"/>
          </a:xfrm>
          <a:custGeom>
            <a:avLst/>
            <a:gdLst/>
            <a:ahLst/>
            <a:cxnLst/>
            <a:rect l="l" t="t" r="r" b="b"/>
            <a:pathLst>
              <a:path w="267" h="172">
                <a:moveTo>
                  <a:pt x="267" y="151"/>
                </a:moveTo>
                <a:cubicBezTo>
                  <a:pt x="267" y="163"/>
                  <a:pt x="260" y="172"/>
                  <a:pt x="251" y="172"/>
                </a:cubicBezTo>
                <a:cubicBezTo>
                  <a:pt x="15" y="172"/>
                  <a:pt x="15" y="172"/>
                  <a:pt x="15" y="172"/>
                </a:cubicBezTo>
                <a:cubicBezTo>
                  <a:pt x="6" y="172"/>
                  <a:pt x="0" y="163"/>
                  <a:pt x="0" y="151"/>
                </a:cubicBezTo>
                <a:cubicBezTo>
                  <a:pt x="0" y="21"/>
                  <a:pt x="0" y="21"/>
                  <a:pt x="0" y="21"/>
                </a:cubicBezTo>
                <a:cubicBezTo>
                  <a:pt x="0" y="9"/>
                  <a:pt x="6" y="0"/>
                  <a:pt x="15" y="0"/>
                </a:cubicBezTo>
                <a:cubicBezTo>
                  <a:pt x="251" y="0"/>
                  <a:pt x="251" y="0"/>
                  <a:pt x="251" y="0"/>
                </a:cubicBezTo>
                <a:cubicBezTo>
                  <a:pt x="260" y="0"/>
                  <a:pt x="267" y="9"/>
                  <a:pt x="267" y="21"/>
                </a:cubicBezTo>
                <a:lnTo>
                  <a:pt x="267" y="151"/>
                </a:lnTo>
                <a:close/>
              </a:path>
            </a:pathLst>
          </a:custGeom>
          <a:solidFill>
            <a:srgbClr val="D6E2E0"/>
          </a:solidFill>
          <a:ln w="9360">
            <a:noFill/>
          </a:ln>
        </p:spPr>
        <p:style>
          <a:lnRef idx="0">
            <a:scrgbClr r="0" g="0" b="0"/>
          </a:lnRef>
          <a:fillRef idx="0">
            <a:scrgbClr r="0" g="0" b="0"/>
          </a:fillRef>
          <a:effectRef idx="0">
            <a:scrgbClr r="0" g="0" b="0"/>
          </a:effectRef>
          <a:fontRef idx="minor"/>
        </p:style>
      </p:sp>
      <p:sp>
        <p:nvSpPr>
          <p:cNvPr id="1196" name="CustomShape 19"/>
          <p:cNvSpPr/>
          <p:nvPr/>
        </p:nvSpPr>
        <p:spPr>
          <a:xfrm>
            <a:off x="539640" y="5311800"/>
            <a:ext cx="2221200" cy="4266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1080" algn="ctr">
              <a:lnSpc>
                <a:spcPct val="100000"/>
              </a:lnSpc>
            </a:pPr>
            <a:r>
              <a:rPr lang="en-US" sz="1400" strike="noStrike" spc="-1">
                <a:solidFill>
                  <a:srgbClr val="000000"/>
                </a:solidFill>
                <a:uFill>
                  <a:solidFill>
                    <a:srgbClr val="FFFFFF"/>
                  </a:solidFill>
                </a:uFill>
                <a:latin typeface="Myriad Roman"/>
                <a:ea typeface="MS PGothic"/>
              </a:rPr>
              <a:t>At any price below $12, quantity supplied is zero</a:t>
            </a:r>
            <a:endParaRPr lang="en-US" sz="1800" strike="noStrike" spc="-1">
              <a:solidFill>
                <a:srgbClr val="000000"/>
              </a:solidFill>
              <a:uFill>
                <a:solidFill>
                  <a:srgbClr val="FFFFFF"/>
                </a:solidFill>
              </a:uFill>
              <a:latin typeface="Arial"/>
            </a:endParaRPr>
          </a:p>
        </p:txBody>
      </p:sp>
      <p:sp>
        <p:nvSpPr>
          <p:cNvPr id="1197" name="CustomShape 20"/>
          <p:cNvSpPr/>
          <p:nvPr/>
        </p:nvSpPr>
        <p:spPr>
          <a:xfrm>
            <a:off x="6009840" y="3933720"/>
            <a:ext cx="2709360" cy="700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2000" b="1" strike="noStrike" spc="-1">
                <a:solidFill>
                  <a:srgbClr val="404040"/>
                </a:solidFill>
                <a:uFill>
                  <a:solidFill>
                    <a:srgbClr val="FFFFFF"/>
                  </a:solidFill>
                </a:uFill>
                <a:latin typeface="Calibri"/>
                <a:ea typeface="MS PGothic"/>
              </a:rPr>
              <a:t>The supply of copies of </a:t>
            </a:r>
            <a:endParaRPr lang="en-US" sz="1800" strike="noStrike" spc="-1">
              <a:solidFill>
                <a:srgbClr val="000000"/>
              </a:solidFill>
              <a:uFill>
                <a:solidFill>
                  <a:srgbClr val="FFFFFF"/>
                </a:solidFill>
              </a:uFill>
              <a:latin typeface="Arial"/>
            </a:endParaRPr>
          </a:p>
          <a:p>
            <a:pPr>
              <a:lnSpc>
                <a:spcPct val="100000"/>
              </a:lnSpc>
            </a:pPr>
            <a:r>
              <a:rPr lang="en-US" sz="1800" b="1" strike="noStrike" spc="-1">
                <a:solidFill>
                  <a:srgbClr val="404040"/>
                </a:solidFill>
                <a:uFill>
                  <a:solidFill>
                    <a:srgbClr val="FFFFFF"/>
                  </a:solidFill>
                </a:uFill>
                <a:latin typeface="Calibri"/>
                <a:ea typeface="MS PGothic"/>
              </a:rPr>
              <a:t>MP3 song files </a:t>
            </a:r>
            <a:r>
              <a:rPr lang="en-US" sz="2000" b="1" strike="noStrike" spc="-1">
                <a:solidFill>
                  <a:srgbClr val="404040"/>
                </a:solidFill>
                <a:uFill>
                  <a:solidFill>
                    <a:srgbClr val="FFFFFF"/>
                  </a:solidFill>
                </a:uFill>
                <a:latin typeface="Calibri"/>
                <a:ea typeface="MS PGothic"/>
              </a:rPr>
              <a:t>is limitless</a:t>
            </a:r>
            <a:endParaRPr lang="en-US" sz="1800" strike="noStrike" spc="-1">
              <a:solidFill>
                <a:srgbClr val="000000"/>
              </a:solidFill>
              <a:uFill>
                <a:solidFill>
                  <a:srgbClr val="FFFFFF"/>
                </a:solidFill>
              </a:uFill>
              <a:latin typeface="Arial"/>
            </a:endParaRPr>
          </a:p>
        </p:txBody>
      </p:sp>
      <p:pic>
        <p:nvPicPr>
          <p:cNvPr id="1198" name="Picture 30"/>
          <p:cNvPicPr/>
          <p:nvPr/>
        </p:nvPicPr>
        <p:blipFill>
          <a:blip r:embed="rId3"/>
          <a:stretch/>
        </p:blipFill>
        <p:spPr>
          <a:xfrm>
            <a:off x="5364000" y="765000"/>
            <a:ext cx="3717720" cy="3039840"/>
          </a:xfrm>
          <a:prstGeom prst="rect">
            <a:avLst/>
          </a:prstGeom>
          <a:ln w="9360">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9" name="TextShape 1"/>
          <p:cNvSpPr txBox="1"/>
          <p:nvPr/>
        </p:nvSpPr>
        <p:spPr>
          <a:xfrm>
            <a:off x="900000" y="60480"/>
            <a:ext cx="8064000" cy="555120"/>
          </a:xfrm>
          <a:prstGeom prst="rect">
            <a:avLst/>
          </a:prstGeom>
          <a:noFill/>
          <a:ln>
            <a:noFill/>
          </a:ln>
        </p:spPr>
        <p:txBody>
          <a:bodyPr anchor="ctr"/>
          <a:lstStyle/>
          <a:p>
            <a:pPr>
              <a:lnSpc>
                <a:spcPct val="100000"/>
              </a:lnSpc>
            </a:pPr>
            <a:r>
              <a:rPr lang="id-ID" sz="2800" b="1" strike="noStrike" spc="-1">
                <a:solidFill>
                  <a:srgbClr val="FFFFFF"/>
                </a:solidFill>
                <a:uFill>
                  <a:solidFill>
                    <a:srgbClr val="FFFFFF"/>
                  </a:solidFill>
                </a:uFill>
                <a:latin typeface="Calibri"/>
                <a:ea typeface="MS PGothic"/>
              </a:rPr>
              <a:t>Two Extreme Cases of Price Elasticity of Supply</a:t>
            </a:r>
            <a:endParaRPr lang="id-ID" sz="3200" strike="noStrike" spc="-1">
              <a:solidFill>
                <a:srgbClr val="000000"/>
              </a:solidFill>
              <a:uFill>
                <a:solidFill>
                  <a:srgbClr val="FFFFFF"/>
                </a:solidFill>
              </a:uFill>
              <a:latin typeface="Calibri"/>
            </a:endParaRPr>
          </a:p>
        </p:txBody>
      </p:sp>
      <p:sp>
        <p:nvSpPr>
          <p:cNvPr id="1200" name="TextShape 2"/>
          <p:cNvSpPr txBox="1"/>
          <p:nvPr/>
        </p:nvSpPr>
        <p:spPr>
          <a:xfrm>
            <a:off x="900000" y="907920"/>
            <a:ext cx="8064000" cy="5184360"/>
          </a:xfrm>
          <a:prstGeom prst="rect">
            <a:avLst/>
          </a:prstGeom>
          <a:noFill/>
          <a:ln w="9360">
            <a:noFill/>
          </a:ln>
        </p:spPr>
        <p:txBody>
          <a:bodyPr/>
          <a:lstStyle/>
          <a:p>
            <a:pPr marL="230040" indent="-215640">
              <a:lnSpc>
                <a:spcPct val="100000"/>
              </a:lnSpc>
              <a:buClr>
                <a:srgbClr val="000000"/>
              </a:buClr>
              <a:buFont typeface="Arial"/>
              <a:buChar char="•"/>
            </a:pPr>
            <a:r>
              <a:rPr lang="id-ID" sz="2500" strike="noStrike" spc="-1">
                <a:solidFill>
                  <a:srgbClr val="000000"/>
                </a:solidFill>
                <a:uFill>
                  <a:solidFill>
                    <a:srgbClr val="FFFFFF"/>
                  </a:solidFill>
                </a:uFill>
                <a:latin typeface="Calibri"/>
                <a:ea typeface="MS PGothic"/>
              </a:rPr>
              <a:t>There is </a:t>
            </a:r>
            <a:r>
              <a:rPr lang="id-ID" sz="2500" b="1" strike="noStrike" spc="-1">
                <a:solidFill>
                  <a:srgbClr val="000000"/>
                </a:solidFill>
                <a:uFill>
                  <a:solidFill>
                    <a:srgbClr val="FFFFFF"/>
                  </a:solidFill>
                </a:uFill>
                <a:latin typeface="Calibri"/>
                <a:ea typeface="MS PGothic"/>
              </a:rPr>
              <a:t>perfectly inelastic supply </a:t>
            </a:r>
            <a:r>
              <a:rPr lang="id-ID" sz="2500" strike="noStrike" spc="-1">
                <a:solidFill>
                  <a:srgbClr val="000000"/>
                </a:solidFill>
                <a:uFill>
                  <a:solidFill>
                    <a:srgbClr val="FFFFFF"/>
                  </a:solidFill>
                </a:uFill>
                <a:latin typeface="Calibri"/>
                <a:ea typeface="MS PGothic"/>
              </a:rPr>
              <a:t>when the price elasticity of supply is zero, so that changes in the price of the good have no effect on the quantity supplied. A perfectly inelastic supply curve is a vertical line.</a:t>
            </a: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a:p>
            <a:pPr marL="230040" indent="-215640">
              <a:lnSpc>
                <a:spcPct val="100000"/>
              </a:lnSpc>
              <a:buClr>
                <a:srgbClr val="000000"/>
              </a:buClr>
              <a:buFont typeface="Arial"/>
              <a:buChar char="•"/>
            </a:pPr>
            <a:r>
              <a:rPr lang="id-ID" sz="2500" strike="noStrike" spc="-1">
                <a:solidFill>
                  <a:srgbClr val="000000"/>
                </a:solidFill>
                <a:uFill>
                  <a:solidFill>
                    <a:srgbClr val="FFFFFF"/>
                  </a:solidFill>
                </a:uFill>
                <a:latin typeface="Calibri"/>
                <a:ea typeface="MS PGothic"/>
              </a:rPr>
              <a:t>There is </a:t>
            </a:r>
            <a:r>
              <a:rPr lang="id-ID" sz="2500" b="1" strike="noStrike" spc="-1">
                <a:solidFill>
                  <a:srgbClr val="000000"/>
                </a:solidFill>
                <a:uFill>
                  <a:solidFill>
                    <a:srgbClr val="FFFFFF"/>
                  </a:solidFill>
                </a:uFill>
                <a:latin typeface="Calibri"/>
                <a:ea typeface="MS PGothic"/>
              </a:rPr>
              <a:t>perfectly elastic supply </a:t>
            </a:r>
            <a:r>
              <a:rPr lang="id-ID" sz="2500" strike="noStrike" spc="-1">
                <a:solidFill>
                  <a:srgbClr val="000000"/>
                </a:solidFill>
                <a:uFill>
                  <a:solidFill>
                    <a:srgbClr val="FFFFFF"/>
                  </a:solidFill>
                </a:uFill>
                <a:latin typeface="Calibri"/>
                <a:ea typeface="MS PGothic"/>
              </a:rPr>
              <a:t>when even a tiny increase or reduction in the price will lead to very large changes in the quantity supplied, so that the price elasticity of supply is infinite. A perfectly elastic supply curve is a horizontal line.</a:t>
            </a:r>
            <a:endParaRPr lang="id-ID" sz="2500" strike="noStrike" spc="-1">
              <a:solidFill>
                <a:srgbClr val="000000"/>
              </a:solidFill>
              <a:uFill>
                <a:solidFill>
                  <a:srgbClr val="FFFFFF"/>
                </a:solidFill>
              </a:u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200">
                                            <p:txEl>
                                              <p:pRg st="0" end="218"/>
                                            </p:txEl>
                                          </p:spTgt>
                                        </p:tgtEl>
                                        <p:attrNameLst>
                                          <p:attrName>style.visibility</p:attrName>
                                        </p:attrNameLst>
                                      </p:cBhvr>
                                      <p:to>
                                        <p:strVal val="visible"/>
                                      </p:to>
                                    </p:set>
                                    <p:animEffect transition="in" filter="fade">
                                      <p:cBhvr additive="repl">
                                        <p:cTn id="7" dur="500"/>
                                        <p:tgtEl>
                                          <p:spTgt spid="1200">
                                            <p:txEl>
                                              <p:pRg st="0" end="21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1200">
                                            <p:txEl>
                                              <p:pRg st="219" end="470"/>
                                            </p:txEl>
                                          </p:spTgt>
                                        </p:tgtEl>
                                        <p:attrNameLst>
                                          <p:attrName>style.visibility</p:attrName>
                                        </p:attrNameLst>
                                      </p:cBhvr>
                                      <p:to>
                                        <p:strVal val="visible"/>
                                      </p:to>
                                    </p:set>
                                    <p:animEffect transition="in" filter="fade">
                                      <p:cBhvr additive="repl">
                                        <p:cTn id="12" dur="500"/>
                                        <p:tgtEl>
                                          <p:spTgt spid="1200">
                                            <p:txEl>
                                              <p:pRg st="219" end="47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1" name="TextShape 1"/>
          <p:cNvSpPr txBox="1"/>
          <p:nvPr/>
        </p:nvSpPr>
        <p:spPr>
          <a:xfrm>
            <a:off x="971640" y="60480"/>
            <a:ext cx="7992720" cy="555120"/>
          </a:xfrm>
          <a:prstGeom prst="rect">
            <a:avLst/>
          </a:prstGeom>
          <a:noFill/>
          <a:ln>
            <a:noFill/>
          </a:ln>
        </p:spPr>
        <p:txBody>
          <a:bodyPr anchor="ctr"/>
          <a:lstStyle/>
          <a:p>
            <a:pPr>
              <a:lnSpc>
                <a:spcPct val="100000"/>
              </a:lnSpc>
            </a:pPr>
            <a:r>
              <a:rPr lang="id-ID" sz="2200" b="1" strike="noStrike" spc="-1">
                <a:solidFill>
                  <a:srgbClr val="FFFFFF"/>
                </a:solidFill>
                <a:uFill>
                  <a:solidFill>
                    <a:srgbClr val="FFFFFF"/>
                  </a:solidFill>
                </a:uFill>
                <a:latin typeface="Arial"/>
                <a:ea typeface="MS PGothic"/>
              </a:rPr>
              <a:t>What Factors Determine the Price Elasticity of Supply?</a:t>
            </a:r>
            <a:endParaRPr lang="id-ID" sz="3200" strike="noStrike" spc="-1">
              <a:solidFill>
                <a:srgbClr val="000000"/>
              </a:solidFill>
              <a:uFill>
                <a:solidFill>
                  <a:srgbClr val="FFFFFF"/>
                </a:solidFill>
              </a:uFill>
              <a:latin typeface="Calibri"/>
            </a:endParaRPr>
          </a:p>
        </p:txBody>
      </p:sp>
      <p:sp>
        <p:nvSpPr>
          <p:cNvPr id="1202" name="TextShape 2"/>
          <p:cNvSpPr txBox="1"/>
          <p:nvPr/>
        </p:nvSpPr>
        <p:spPr>
          <a:xfrm>
            <a:off x="900000" y="981000"/>
            <a:ext cx="7992720" cy="5256000"/>
          </a:xfrm>
          <a:prstGeom prst="rect">
            <a:avLst/>
          </a:prstGeom>
          <a:noFill/>
          <a:ln w="9360">
            <a:noFill/>
          </a:ln>
        </p:spPr>
        <p:txBody>
          <a:bodyPr/>
          <a:lstStyle/>
          <a:p>
            <a:pPr marL="230040" indent="-215640">
              <a:lnSpc>
                <a:spcPct val="100000"/>
              </a:lnSpc>
              <a:buClr>
                <a:srgbClr val="000000"/>
              </a:buClr>
              <a:buFont typeface="Arial"/>
              <a:buChar char="•"/>
            </a:pPr>
            <a:r>
              <a:rPr lang="id-ID" sz="2500" b="1" strike="noStrike" spc="-1">
                <a:solidFill>
                  <a:srgbClr val="000000"/>
                </a:solidFill>
                <a:uFill>
                  <a:solidFill>
                    <a:srgbClr val="FFFFFF"/>
                  </a:solidFill>
                </a:uFill>
                <a:latin typeface="Calibri"/>
                <a:ea typeface="MS PGothic"/>
              </a:rPr>
              <a:t>The Availability of Inputs:</a:t>
            </a:r>
            <a:r>
              <a:rPr lang="id-ID" sz="2500" strike="noStrike" spc="-1">
                <a:solidFill>
                  <a:srgbClr val="000000"/>
                </a:solidFill>
                <a:uFill>
                  <a:solidFill>
                    <a:srgbClr val="FFFFFF"/>
                  </a:solidFill>
                </a:uFill>
                <a:latin typeface="Calibri"/>
                <a:ea typeface="MS PGothic"/>
              </a:rPr>
              <a:t> The price elasticity of supply tends to be large when inputs are readily available and can be shifted into and out of production at a relatively low cost. It tends to be small when inputs are difficult to obtain.</a:t>
            </a: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a:p>
            <a:pPr marL="230040" indent="-215640">
              <a:lnSpc>
                <a:spcPct val="100000"/>
              </a:lnSpc>
              <a:buClr>
                <a:srgbClr val="000000"/>
              </a:buClr>
              <a:buFont typeface="Arial"/>
              <a:buChar char="•"/>
            </a:pPr>
            <a:r>
              <a:rPr lang="id-ID" sz="2500" b="1" strike="noStrike" spc="-1">
                <a:solidFill>
                  <a:srgbClr val="000000"/>
                </a:solidFill>
                <a:uFill>
                  <a:solidFill>
                    <a:srgbClr val="FFFFFF"/>
                  </a:solidFill>
                </a:uFill>
                <a:latin typeface="Calibri"/>
                <a:ea typeface="MS PGothic"/>
              </a:rPr>
              <a:t>Time:</a:t>
            </a:r>
            <a:r>
              <a:rPr lang="id-ID" sz="2500" strike="noStrike" spc="-1">
                <a:solidFill>
                  <a:srgbClr val="000000"/>
                </a:solidFill>
                <a:uFill>
                  <a:solidFill>
                    <a:srgbClr val="FFFFFF"/>
                  </a:solidFill>
                </a:uFill>
                <a:latin typeface="Calibri"/>
                <a:ea typeface="MS PGothic"/>
              </a:rPr>
              <a:t> The price elasticity of supply tends to grow larger as producers have more time to respond to a price change. This means that the long-run price elasticity of supply is often higher than the short-run elasticity.</a:t>
            </a:r>
            <a:endParaRPr lang="id-ID" sz="2500" strike="noStrike" spc="-1">
              <a:solidFill>
                <a:srgbClr val="000000"/>
              </a:solidFill>
              <a:uFill>
                <a:solidFill>
                  <a:srgbClr val="FFFFFF"/>
                </a:solidFill>
              </a:u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202">
                                            <p:txEl>
                                              <p:pRg st="0" end="241"/>
                                            </p:txEl>
                                          </p:spTgt>
                                        </p:tgtEl>
                                        <p:attrNameLst>
                                          <p:attrName>style.visibility</p:attrName>
                                        </p:attrNameLst>
                                      </p:cBhvr>
                                      <p:to>
                                        <p:strVal val="visible"/>
                                      </p:to>
                                    </p:set>
                                    <p:animEffect transition="in" filter="fade">
                                      <p:cBhvr additive="repl">
                                        <p:cTn id="7" dur="500"/>
                                        <p:tgtEl>
                                          <p:spTgt spid="1202">
                                            <p:txEl>
                                              <p:pRg st="0" end="24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1202">
                                            <p:txEl>
                                              <p:pRg st="242" end="461"/>
                                            </p:txEl>
                                          </p:spTgt>
                                        </p:tgtEl>
                                        <p:attrNameLst>
                                          <p:attrName>style.visibility</p:attrName>
                                        </p:attrNameLst>
                                      </p:cBhvr>
                                      <p:to>
                                        <p:strVal val="visible"/>
                                      </p:to>
                                    </p:set>
                                    <p:animEffect transition="in" filter="fade">
                                      <p:cBhvr additive="repl">
                                        <p:cTn id="12" dur="500"/>
                                        <p:tgtEl>
                                          <p:spTgt spid="1202">
                                            <p:txEl>
                                              <p:pRg st="242" end="46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3" name="TextShape 1"/>
          <p:cNvSpPr txBox="1"/>
          <p:nvPr/>
        </p:nvSpPr>
        <p:spPr>
          <a:xfrm>
            <a:off x="1071720" y="60480"/>
            <a:ext cx="8078400" cy="55512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How the Price Elasticity of Supply Can Vary</a:t>
            </a:r>
            <a:endParaRPr lang="id-ID" sz="3200" strike="noStrike" spc="-1">
              <a:solidFill>
                <a:srgbClr val="000000"/>
              </a:solidFill>
              <a:uFill>
                <a:solidFill>
                  <a:srgbClr val="FFFFFF"/>
                </a:solidFill>
              </a:uFill>
              <a:latin typeface="Calibri"/>
            </a:endParaRPr>
          </a:p>
        </p:txBody>
      </p:sp>
      <p:sp>
        <p:nvSpPr>
          <p:cNvPr id="1204" name="CustomShape 2"/>
          <p:cNvSpPr/>
          <p:nvPr/>
        </p:nvSpPr>
        <p:spPr>
          <a:xfrm>
            <a:off x="1828800" y="1079640"/>
            <a:ext cx="4952520" cy="3047760"/>
          </a:xfrm>
          <a:prstGeom prst="rect">
            <a:avLst/>
          </a:prstGeom>
          <a:solidFill>
            <a:schemeClr val="bg1"/>
          </a:solidFill>
          <a:ln>
            <a:solidFill>
              <a:schemeClr val="bg1"/>
            </a:solidFill>
            <a:round/>
          </a:ln>
        </p:spPr>
        <p:style>
          <a:lnRef idx="2">
            <a:schemeClr val="accent1">
              <a:shade val="50000"/>
            </a:schemeClr>
          </a:lnRef>
          <a:fillRef idx="1">
            <a:schemeClr val="accent1"/>
          </a:fillRef>
          <a:effectRef idx="0">
            <a:schemeClr val="accent1"/>
          </a:effectRef>
          <a:fontRef idx="minor"/>
        </p:style>
      </p:sp>
      <p:sp>
        <p:nvSpPr>
          <p:cNvPr id="1205" name="Line 3"/>
          <p:cNvSpPr/>
          <p:nvPr/>
        </p:nvSpPr>
        <p:spPr>
          <a:xfrm flipH="1">
            <a:off x="1828800" y="1079280"/>
            <a:ext cx="1440" cy="3048120"/>
          </a:xfrm>
          <a:prstGeom prst="line">
            <a:avLst/>
          </a:prstGeom>
          <a:ln w="28440">
            <a:solidFill>
              <a:schemeClr val="tx1"/>
            </a:solidFill>
            <a:round/>
          </a:ln>
        </p:spPr>
        <p:style>
          <a:lnRef idx="1">
            <a:schemeClr val="accent1"/>
          </a:lnRef>
          <a:fillRef idx="0">
            <a:schemeClr val="accent1"/>
          </a:fillRef>
          <a:effectRef idx="0">
            <a:schemeClr val="accent1"/>
          </a:effectRef>
          <a:fontRef idx="minor"/>
        </p:style>
      </p:sp>
      <p:sp>
        <p:nvSpPr>
          <p:cNvPr id="1206" name="CustomShape 4"/>
          <p:cNvSpPr/>
          <p:nvPr/>
        </p:nvSpPr>
        <p:spPr>
          <a:xfrm>
            <a:off x="1071360" y="938160"/>
            <a:ext cx="76464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Price </a:t>
            </a:r>
            <a:endParaRPr lang="en-US" sz="1800" strike="noStrike" spc="-1">
              <a:solidFill>
                <a:srgbClr val="000000"/>
              </a:solidFill>
              <a:uFill>
                <a:solidFill>
                  <a:srgbClr val="FFFFFF"/>
                </a:solidFill>
              </a:uFill>
              <a:latin typeface="Arial"/>
            </a:endParaRPr>
          </a:p>
        </p:txBody>
      </p:sp>
      <p:sp>
        <p:nvSpPr>
          <p:cNvPr id="1207" name="Line 5"/>
          <p:cNvSpPr/>
          <p:nvPr/>
        </p:nvSpPr>
        <p:spPr>
          <a:xfrm>
            <a:off x="1828800" y="4127400"/>
            <a:ext cx="4952880" cy="11160"/>
          </a:xfrm>
          <a:prstGeom prst="line">
            <a:avLst/>
          </a:prstGeom>
          <a:ln w="28440">
            <a:solidFill>
              <a:schemeClr val="tx1"/>
            </a:solidFill>
            <a:round/>
          </a:ln>
        </p:spPr>
        <p:style>
          <a:lnRef idx="1">
            <a:schemeClr val="accent1"/>
          </a:lnRef>
          <a:fillRef idx="0">
            <a:schemeClr val="accent1"/>
          </a:fillRef>
          <a:effectRef idx="0">
            <a:schemeClr val="accent1"/>
          </a:effectRef>
          <a:fontRef idx="minor"/>
        </p:style>
      </p:sp>
      <p:sp>
        <p:nvSpPr>
          <p:cNvPr id="1208" name="CustomShape 6"/>
          <p:cNvSpPr/>
          <p:nvPr/>
        </p:nvSpPr>
        <p:spPr>
          <a:xfrm>
            <a:off x="6636960" y="4139280"/>
            <a:ext cx="109260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Quantity </a:t>
            </a:r>
            <a:endParaRPr lang="en-US" sz="1800" strike="noStrike" spc="-1">
              <a:solidFill>
                <a:srgbClr val="000000"/>
              </a:solidFill>
              <a:uFill>
                <a:solidFill>
                  <a:srgbClr val="FFFFFF"/>
                </a:solidFill>
              </a:uFill>
              <a:latin typeface="Arial"/>
            </a:endParaRPr>
          </a:p>
        </p:txBody>
      </p:sp>
      <p:sp>
        <p:nvSpPr>
          <p:cNvPr id="1209" name="CustomShape 7"/>
          <p:cNvSpPr/>
          <p:nvPr/>
        </p:nvSpPr>
        <p:spPr>
          <a:xfrm>
            <a:off x="1594800" y="4127400"/>
            <a:ext cx="30744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0</a:t>
            </a:r>
            <a:endParaRPr lang="en-US" sz="1800" strike="noStrike" spc="-1">
              <a:solidFill>
                <a:srgbClr val="000000"/>
              </a:solidFill>
              <a:uFill>
                <a:solidFill>
                  <a:srgbClr val="FFFFFF"/>
                </a:solidFill>
              </a:uFill>
              <a:latin typeface="Arial"/>
            </a:endParaRPr>
          </a:p>
        </p:txBody>
      </p:sp>
      <p:sp>
        <p:nvSpPr>
          <p:cNvPr id="1210" name="Line 8"/>
          <p:cNvSpPr/>
          <p:nvPr/>
        </p:nvSpPr>
        <p:spPr>
          <a:xfrm>
            <a:off x="1828440" y="1635120"/>
            <a:ext cx="3810240" cy="144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1211" name="CustomShape 9"/>
          <p:cNvSpPr/>
          <p:nvPr/>
        </p:nvSpPr>
        <p:spPr>
          <a:xfrm>
            <a:off x="1263240" y="1406520"/>
            <a:ext cx="56052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$15</a:t>
            </a:r>
            <a:endParaRPr lang="en-US" sz="1800" strike="noStrike" spc="-1">
              <a:solidFill>
                <a:srgbClr val="000000"/>
              </a:solidFill>
              <a:uFill>
                <a:solidFill>
                  <a:srgbClr val="FFFFFF"/>
                </a:solidFill>
              </a:uFill>
              <a:latin typeface="Arial"/>
            </a:endParaRPr>
          </a:p>
        </p:txBody>
      </p:sp>
      <p:sp>
        <p:nvSpPr>
          <p:cNvPr id="1212" name="Line 10"/>
          <p:cNvSpPr/>
          <p:nvPr/>
        </p:nvSpPr>
        <p:spPr>
          <a:xfrm>
            <a:off x="1828440" y="2144520"/>
            <a:ext cx="3581640" cy="1260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1213" name="CustomShape 11"/>
          <p:cNvSpPr/>
          <p:nvPr/>
        </p:nvSpPr>
        <p:spPr>
          <a:xfrm>
            <a:off x="1390680" y="2004840"/>
            <a:ext cx="43416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12</a:t>
            </a:r>
            <a:endParaRPr lang="en-US" sz="1800" strike="noStrike" spc="-1">
              <a:solidFill>
                <a:srgbClr val="000000"/>
              </a:solidFill>
              <a:uFill>
                <a:solidFill>
                  <a:srgbClr val="FFFFFF"/>
                </a:solidFill>
              </a:uFill>
              <a:latin typeface="Arial"/>
            </a:endParaRPr>
          </a:p>
        </p:txBody>
      </p:sp>
      <p:sp>
        <p:nvSpPr>
          <p:cNvPr id="1214" name="CustomShape 12"/>
          <p:cNvSpPr/>
          <p:nvPr/>
        </p:nvSpPr>
        <p:spPr>
          <a:xfrm>
            <a:off x="5798880" y="1014480"/>
            <a:ext cx="93852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Supply </a:t>
            </a:r>
            <a:endParaRPr lang="en-US" sz="1800" strike="noStrike" spc="-1">
              <a:solidFill>
                <a:srgbClr val="000000"/>
              </a:solidFill>
              <a:uFill>
                <a:solidFill>
                  <a:srgbClr val="FFFFFF"/>
                </a:solidFill>
              </a:uFill>
              <a:latin typeface="Arial"/>
            </a:endParaRPr>
          </a:p>
        </p:txBody>
      </p:sp>
      <p:sp>
        <p:nvSpPr>
          <p:cNvPr id="1215" name="CustomShape 13"/>
          <p:cNvSpPr/>
          <p:nvPr/>
        </p:nvSpPr>
        <p:spPr>
          <a:xfrm rot="15734400">
            <a:off x="2889000" y="605160"/>
            <a:ext cx="2096640" cy="3954240"/>
          </a:xfrm>
          <a:custGeom>
            <a:avLst/>
            <a:gdLst/>
            <a:ahLst/>
            <a:cxnLst/>
            <a:rect l="l" t="t" r="r" b="b"/>
            <a:pathLst>
              <a:path w="2204813" h="2045786">
                <a:moveTo>
                  <a:pt x="273605" y="0"/>
                </a:moveTo>
                <a:cubicBezTo>
                  <a:pt x="0" y="1202334"/>
                  <a:pt x="1182660" y="1931036"/>
                  <a:pt x="2204813" y="2045786"/>
                </a:cubicBezTo>
              </a:path>
            </a:pathLst>
          </a:custGeom>
          <a:noFill/>
          <a:ln w="38160">
            <a:solidFill>
              <a:srgbClr val="000099"/>
            </a:solidFill>
            <a:round/>
          </a:ln>
        </p:spPr>
        <p:style>
          <a:lnRef idx="1">
            <a:schemeClr val="accent1"/>
          </a:lnRef>
          <a:fillRef idx="0">
            <a:schemeClr val="accent1"/>
          </a:fillRef>
          <a:effectRef idx="0">
            <a:schemeClr val="accent1"/>
          </a:effectRef>
          <a:fontRef idx="minor"/>
        </p:style>
      </p:sp>
      <p:sp>
        <p:nvSpPr>
          <p:cNvPr id="1216" name="CustomShape 14"/>
          <p:cNvSpPr/>
          <p:nvPr/>
        </p:nvSpPr>
        <p:spPr>
          <a:xfrm>
            <a:off x="2290320" y="4126680"/>
            <a:ext cx="56052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100</a:t>
            </a:r>
            <a:endParaRPr lang="en-US" sz="1800" strike="noStrike" spc="-1">
              <a:solidFill>
                <a:srgbClr val="000000"/>
              </a:solidFill>
              <a:uFill>
                <a:solidFill>
                  <a:srgbClr val="FFFFFF"/>
                </a:solidFill>
              </a:uFill>
              <a:latin typeface="Arial"/>
            </a:endParaRPr>
          </a:p>
        </p:txBody>
      </p:sp>
      <p:sp>
        <p:nvSpPr>
          <p:cNvPr id="1217" name="Line 15"/>
          <p:cNvSpPr/>
          <p:nvPr/>
        </p:nvSpPr>
        <p:spPr>
          <a:xfrm flipH="1">
            <a:off x="2590560" y="3606480"/>
            <a:ext cx="1800" cy="52092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1218" name="Line 16"/>
          <p:cNvSpPr/>
          <p:nvPr/>
        </p:nvSpPr>
        <p:spPr>
          <a:xfrm>
            <a:off x="5638680" y="1623960"/>
            <a:ext cx="34920" cy="251460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1219" name="CustomShape 17"/>
          <p:cNvSpPr/>
          <p:nvPr/>
        </p:nvSpPr>
        <p:spPr>
          <a:xfrm>
            <a:off x="5567040" y="4137480"/>
            <a:ext cx="56052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525</a:t>
            </a:r>
            <a:endParaRPr lang="en-US" sz="1800" strike="noStrike" spc="-1">
              <a:solidFill>
                <a:srgbClr val="000000"/>
              </a:solidFill>
              <a:uFill>
                <a:solidFill>
                  <a:srgbClr val="FFFFFF"/>
                </a:solidFill>
              </a:uFill>
              <a:latin typeface="Arial"/>
            </a:endParaRPr>
          </a:p>
        </p:txBody>
      </p:sp>
      <p:sp>
        <p:nvSpPr>
          <p:cNvPr id="1220" name="CustomShape 18"/>
          <p:cNvSpPr/>
          <p:nvPr/>
        </p:nvSpPr>
        <p:spPr>
          <a:xfrm>
            <a:off x="611280" y="4616280"/>
            <a:ext cx="8505360" cy="19706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000" strike="noStrike" spc="-1">
                <a:solidFill>
                  <a:srgbClr val="000000"/>
                </a:solidFill>
                <a:uFill>
                  <a:solidFill>
                    <a:srgbClr val="FFFFFF"/>
                  </a:solidFill>
                </a:uFill>
                <a:latin typeface="Calibri"/>
                <a:ea typeface="MS PGothic"/>
              </a:rPr>
              <a:t>Firms often have a maximum capacity for production. The elasticity of supply may be high at low levels of production and very low at high levels of production. </a:t>
            </a:r>
            <a:endParaRPr lang="en-US" sz="1800" strike="noStrike" spc="-1">
              <a:solidFill>
                <a:srgbClr val="000000"/>
              </a:solidFill>
              <a:uFill>
                <a:solidFill>
                  <a:srgbClr val="FFFFFF"/>
                </a:solidFill>
              </a:uFill>
              <a:latin typeface="Arial"/>
            </a:endParaRPr>
          </a:p>
          <a:p>
            <a:pPr>
              <a:lnSpc>
                <a:spcPct val="100000"/>
              </a:lnSpc>
            </a:pPr>
            <a:r>
              <a:rPr lang="en-US" sz="2000" strike="noStrike" spc="-1">
                <a:solidFill>
                  <a:srgbClr val="000000"/>
                </a:solidFill>
                <a:uFill>
                  <a:solidFill>
                    <a:srgbClr val="FFFFFF"/>
                  </a:solidFill>
                </a:uFill>
                <a:latin typeface="Calibri"/>
                <a:ea typeface="MS PGothic"/>
              </a:rPr>
              <a:t>As firms reach their limit of production, it become much harder to increase production, and there is correspondingly little increase in production in response to price increases.</a:t>
            </a:r>
            <a:endParaRPr lang="en-US" sz="1800" strike="noStrike" spc="-1">
              <a:solidFill>
                <a:srgbClr val="000000"/>
              </a:solidFill>
              <a:uFill>
                <a:solidFill>
                  <a:srgbClr val="FFFFFF"/>
                </a:solidFill>
              </a:uFill>
              <a:latin typeface="Arial"/>
            </a:endParaRPr>
          </a:p>
        </p:txBody>
      </p:sp>
      <p:sp>
        <p:nvSpPr>
          <p:cNvPr id="1221" name="CustomShape 19"/>
          <p:cNvSpPr/>
          <p:nvPr/>
        </p:nvSpPr>
        <p:spPr>
          <a:xfrm>
            <a:off x="5109840" y="4139280"/>
            <a:ext cx="56052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500</a:t>
            </a:r>
            <a:endParaRPr lang="en-US" sz="1800" strike="noStrike" spc="-1">
              <a:solidFill>
                <a:srgbClr val="000000"/>
              </a:solidFill>
              <a:uFill>
                <a:solidFill>
                  <a:srgbClr val="FFFFFF"/>
                </a:solidFill>
              </a:uFill>
              <a:latin typeface="Arial"/>
            </a:endParaRPr>
          </a:p>
        </p:txBody>
      </p:sp>
      <p:sp>
        <p:nvSpPr>
          <p:cNvPr id="1222" name="Line 20"/>
          <p:cNvSpPr/>
          <p:nvPr/>
        </p:nvSpPr>
        <p:spPr>
          <a:xfrm>
            <a:off x="5410080" y="2157120"/>
            <a:ext cx="34920" cy="198144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1223" name="CustomShape 21"/>
          <p:cNvSpPr/>
          <p:nvPr/>
        </p:nvSpPr>
        <p:spPr>
          <a:xfrm>
            <a:off x="3072960" y="4139280"/>
            <a:ext cx="56052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200</a:t>
            </a:r>
            <a:endParaRPr lang="en-US" sz="1800" strike="noStrike" spc="-1">
              <a:solidFill>
                <a:srgbClr val="000000"/>
              </a:solidFill>
              <a:uFill>
                <a:solidFill>
                  <a:srgbClr val="FFFFFF"/>
                </a:solidFill>
              </a:uFill>
              <a:latin typeface="Arial"/>
            </a:endParaRPr>
          </a:p>
        </p:txBody>
      </p:sp>
      <p:sp>
        <p:nvSpPr>
          <p:cNvPr id="1224" name="Line 22"/>
          <p:cNvSpPr/>
          <p:nvPr/>
        </p:nvSpPr>
        <p:spPr>
          <a:xfrm flipH="1">
            <a:off x="3350880" y="3452760"/>
            <a:ext cx="1800" cy="68580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1225" name="Line 23"/>
          <p:cNvSpPr/>
          <p:nvPr/>
        </p:nvSpPr>
        <p:spPr>
          <a:xfrm flipV="1">
            <a:off x="1836720" y="3452760"/>
            <a:ext cx="1515960" cy="1116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1226" name="CustomShape 24"/>
          <p:cNvSpPr/>
          <p:nvPr/>
        </p:nvSpPr>
        <p:spPr>
          <a:xfrm>
            <a:off x="1526400" y="3224160"/>
            <a:ext cx="30744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4</a:t>
            </a:r>
            <a:endParaRPr lang="en-US" sz="1800" strike="noStrike" spc="-1">
              <a:solidFill>
                <a:srgbClr val="000000"/>
              </a:solidFill>
              <a:uFill>
                <a:solidFill>
                  <a:srgbClr val="FFFFFF"/>
                </a:solidFill>
              </a:uFill>
              <a:latin typeface="Arial"/>
            </a:endParaRPr>
          </a:p>
        </p:txBody>
      </p:sp>
      <p:sp>
        <p:nvSpPr>
          <p:cNvPr id="1227" name="Line 25"/>
          <p:cNvSpPr/>
          <p:nvPr/>
        </p:nvSpPr>
        <p:spPr>
          <a:xfrm>
            <a:off x="1836720" y="3603600"/>
            <a:ext cx="677880" cy="144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sp>
      <p:sp>
        <p:nvSpPr>
          <p:cNvPr id="1228" name="CustomShape 26"/>
          <p:cNvSpPr/>
          <p:nvPr/>
        </p:nvSpPr>
        <p:spPr>
          <a:xfrm>
            <a:off x="1526400" y="3463920"/>
            <a:ext cx="307440" cy="36468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3</a:t>
            </a:r>
            <a:endParaRPr lang="en-US" sz="1800" strike="noStrike" spc="-1">
              <a:solidFill>
                <a:srgbClr val="000000"/>
              </a:solidFill>
              <a:uFill>
                <a:solidFill>
                  <a:srgbClr val="FFFFFF"/>
                </a:solidFill>
              </a:uFill>
              <a:latin typeface="Arial"/>
            </a:endParaRPr>
          </a:p>
        </p:txBody>
      </p:sp>
      <p:sp>
        <p:nvSpPr>
          <p:cNvPr id="1229" name="CustomShape 27"/>
          <p:cNvSpPr/>
          <p:nvPr/>
        </p:nvSpPr>
        <p:spPr>
          <a:xfrm>
            <a:off x="2514600" y="3529080"/>
            <a:ext cx="145800" cy="136080"/>
          </a:xfrm>
          <a:custGeom>
            <a:avLst/>
            <a:gdLst/>
            <a:ahLst/>
            <a:cxnLst/>
            <a:rect l="l" t="t" r="r" b="b"/>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w="9360">
            <a:noFill/>
          </a:ln>
        </p:spPr>
        <p:style>
          <a:lnRef idx="0">
            <a:scrgbClr r="0" g="0" b="0"/>
          </a:lnRef>
          <a:fillRef idx="0">
            <a:scrgbClr r="0" g="0" b="0"/>
          </a:fillRef>
          <a:effectRef idx="0">
            <a:scrgbClr r="0" g="0" b="0"/>
          </a:effectRef>
          <a:fontRef idx="minor"/>
        </p:style>
      </p:sp>
      <p:sp>
        <p:nvSpPr>
          <p:cNvPr id="1230" name="CustomShape 28"/>
          <p:cNvSpPr/>
          <p:nvPr/>
        </p:nvSpPr>
        <p:spPr>
          <a:xfrm>
            <a:off x="3276720" y="3376440"/>
            <a:ext cx="145800" cy="136080"/>
          </a:xfrm>
          <a:custGeom>
            <a:avLst/>
            <a:gdLst/>
            <a:ahLst/>
            <a:cxnLst/>
            <a:rect l="l" t="t" r="r" b="b"/>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w="9360">
            <a:noFill/>
          </a:ln>
        </p:spPr>
        <p:style>
          <a:lnRef idx="0">
            <a:scrgbClr r="0" g="0" b="0"/>
          </a:lnRef>
          <a:fillRef idx="0">
            <a:scrgbClr r="0" g="0" b="0"/>
          </a:fillRef>
          <a:effectRef idx="0">
            <a:scrgbClr r="0" g="0" b="0"/>
          </a:effectRef>
          <a:fontRef idx="minor"/>
        </p:style>
      </p:sp>
      <p:sp>
        <p:nvSpPr>
          <p:cNvPr id="1231" name="CustomShape 29"/>
          <p:cNvSpPr/>
          <p:nvPr/>
        </p:nvSpPr>
        <p:spPr>
          <a:xfrm>
            <a:off x="5334120" y="2081160"/>
            <a:ext cx="145800" cy="136080"/>
          </a:xfrm>
          <a:custGeom>
            <a:avLst/>
            <a:gdLst/>
            <a:ahLst/>
            <a:cxnLst/>
            <a:rect l="l" t="t" r="r" b="b"/>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w="9360">
            <a:noFill/>
          </a:ln>
        </p:spPr>
        <p:style>
          <a:lnRef idx="0">
            <a:scrgbClr r="0" g="0" b="0"/>
          </a:lnRef>
          <a:fillRef idx="0">
            <a:scrgbClr r="0" g="0" b="0"/>
          </a:fillRef>
          <a:effectRef idx="0">
            <a:scrgbClr r="0" g="0" b="0"/>
          </a:effectRef>
          <a:fontRef idx="minor"/>
        </p:style>
      </p:sp>
      <p:sp>
        <p:nvSpPr>
          <p:cNvPr id="1232" name="CustomShape 30"/>
          <p:cNvSpPr/>
          <p:nvPr/>
        </p:nvSpPr>
        <p:spPr>
          <a:xfrm>
            <a:off x="5586480" y="1574640"/>
            <a:ext cx="145800" cy="136080"/>
          </a:xfrm>
          <a:custGeom>
            <a:avLst/>
            <a:gdLst/>
            <a:ahLst/>
            <a:cxnLst/>
            <a:rect l="l" t="t" r="r" b="b"/>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w="9360">
            <a:noFill/>
          </a:ln>
        </p:spPr>
        <p:style>
          <a:lnRef idx="0">
            <a:scrgbClr r="0" g="0" b="0"/>
          </a:lnRef>
          <a:fillRef idx="0">
            <a:scrgbClr r="0" g="0" b="0"/>
          </a:fillRef>
          <a:effectRef idx="0">
            <a:scrgbClr r="0" g="0" b="0"/>
          </a:effectRef>
          <a:fontRef idx="minor"/>
        </p:style>
      </p:sp>
      <p:sp>
        <p:nvSpPr>
          <p:cNvPr id="1233" name="CustomShape 31"/>
          <p:cNvSpPr/>
          <p:nvPr/>
        </p:nvSpPr>
        <p:spPr>
          <a:xfrm>
            <a:off x="3526200" y="903240"/>
            <a:ext cx="1903320" cy="669600"/>
          </a:xfrm>
          <a:prstGeom prst="rect">
            <a:avLst/>
          </a:prstGeom>
          <a:solidFill>
            <a:srgbClr val="FFCC66"/>
          </a:solid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Elasticity is small</a:t>
            </a:r>
            <a:endParaRPr lang="en-US" sz="1800" strike="noStrike" spc="-1">
              <a:solidFill>
                <a:srgbClr val="000000"/>
              </a:solidFill>
              <a:uFill>
                <a:solidFill>
                  <a:srgbClr val="FFFFFF"/>
                </a:solidFill>
              </a:uFill>
              <a:latin typeface="Arial"/>
            </a:endParaRPr>
          </a:p>
          <a:p>
            <a:pPr algn="ctr">
              <a:lnSpc>
                <a:spcPct val="100000"/>
              </a:lnSpc>
            </a:pPr>
            <a:r>
              <a:rPr lang="en-US" sz="1800" strike="noStrike" spc="-1">
                <a:solidFill>
                  <a:srgbClr val="000000"/>
                </a:solidFill>
                <a:uFill>
                  <a:solidFill>
                    <a:srgbClr val="FFFFFF"/>
                  </a:solidFill>
                </a:uFill>
                <a:latin typeface="Arial"/>
                <a:ea typeface="MS PGothic"/>
              </a:rPr>
              <a:t>(less than 1)</a:t>
            </a:r>
            <a:endParaRPr lang="en-US" sz="1800" strike="noStrike" spc="-1">
              <a:solidFill>
                <a:srgbClr val="000000"/>
              </a:solidFill>
              <a:uFill>
                <a:solidFill>
                  <a:srgbClr val="FFFFFF"/>
                </a:solidFill>
              </a:uFill>
              <a:latin typeface="Arial"/>
            </a:endParaRPr>
          </a:p>
        </p:txBody>
      </p:sp>
      <p:sp>
        <p:nvSpPr>
          <p:cNvPr id="1234" name="CustomShape 32"/>
          <p:cNvSpPr/>
          <p:nvPr/>
        </p:nvSpPr>
        <p:spPr>
          <a:xfrm rot="1717800">
            <a:off x="5133960" y="1476000"/>
            <a:ext cx="307800" cy="644040"/>
          </a:xfrm>
          <a:prstGeom prst="leftBrace">
            <a:avLst>
              <a:gd name="adj1" fmla="val 33333"/>
              <a:gd name="adj2" fmla="val 50000"/>
            </a:avLst>
          </a:prstGeom>
          <a:noFill/>
          <a:ln w="19080">
            <a:solidFill>
              <a:schemeClr val="tx1"/>
            </a:solidFill>
            <a:round/>
          </a:ln>
        </p:spPr>
        <p:style>
          <a:lnRef idx="1">
            <a:schemeClr val="accent1"/>
          </a:lnRef>
          <a:fillRef idx="0">
            <a:schemeClr val="accent1"/>
          </a:fillRef>
          <a:effectRef idx="0">
            <a:schemeClr val="accent1"/>
          </a:effectRef>
          <a:fontRef idx="minor"/>
        </p:style>
      </p:sp>
      <p:sp>
        <p:nvSpPr>
          <p:cNvPr id="1235" name="CustomShape 33"/>
          <p:cNvSpPr/>
          <p:nvPr/>
        </p:nvSpPr>
        <p:spPr>
          <a:xfrm rot="4702200">
            <a:off x="2748240" y="2827440"/>
            <a:ext cx="307800" cy="774360"/>
          </a:xfrm>
          <a:prstGeom prst="leftBrace">
            <a:avLst>
              <a:gd name="adj1" fmla="val 33333"/>
              <a:gd name="adj2" fmla="val 50000"/>
            </a:avLst>
          </a:prstGeom>
          <a:noFill/>
          <a:ln w="19080">
            <a:solidFill>
              <a:schemeClr val="tx1"/>
            </a:solidFill>
            <a:round/>
          </a:ln>
        </p:spPr>
        <p:style>
          <a:lnRef idx="1">
            <a:schemeClr val="accent1"/>
          </a:lnRef>
          <a:fillRef idx="0">
            <a:schemeClr val="accent1"/>
          </a:fillRef>
          <a:effectRef idx="0">
            <a:schemeClr val="accent1"/>
          </a:effectRef>
          <a:fontRef idx="minor"/>
        </p:style>
      </p:sp>
      <p:sp>
        <p:nvSpPr>
          <p:cNvPr id="1236" name="CustomShape 34"/>
          <p:cNvSpPr/>
          <p:nvPr/>
        </p:nvSpPr>
        <p:spPr>
          <a:xfrm>
            <a:off x="1986840" y="2340000"/>
            <a:ext cx="1877400" cy="669600"/>
          </a:xfrm>
          <a:prstGeom prst="rect">
            <a:avLst/>
          </a:prstGeom>
          <a:solidFill>
            <a:srgbClr val="FFCC66"/>
          </a:solid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800" strike="noStrike" spc="-1">
                <a:solidFill>
                  <a:srgbClr val="000000"/>
                </a:solidFill>
                <a:uFill>
                  <a:solidFill>
                    <a:srgbClr val="FFFFFF"/>
                  </a:solidFill>
                </a:uFill>
                <a:latin typeface="Arial"/>
                <a:ea typeface="MS PGothic"/>
              </a:rPr>
              <a:t>Elasticity is large</a:t>
            </a:r>
            <a:endParaRPr lang="en-US" sz="1800" strike="noStrike" spc="-1">
              <a:solidFill>
                <a:srgbClr val="000000"/>
              </a:solidFill>
              <a:uFill>
                <a:solidFill>
                  <a:srgbClr val="FFFFFF"/>
                </a:solidFill>
              </a:uFill>
              <a:latin typeface="Arial"/>
            </a:endParaRPr>
          </a:p>
          <a:p>
            <a:pPr algn="ctr">
              <a:lnSpc>
                <a:spcPct val="100000"/>
              </a:lnSpc>
            </a:pPr>
            <a:r>
              <a:rPr lang="en-US" sz="1800" strike="noStrike" spc="-1">
                <a:solidFill>
                  <a:srgbClr val="000000"/>
                </a:solidFill>
                <a:uFill>
                  <a:solidFill>
                    <a:srgbClr val="FFFFFF"/>
                  </a:solidFill>
                </a:uFill>
                <a:latin typeface="Arial"/>
                <a:ea typeface="MS PGothic"/>
              </a:rPr>
              <a:t>(greater than 1)</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7" name="TextShape 1"/>
          <p:cNvSpPr txBox="1"/>
          <p:nvPr/>
        </p:nvSpPr>
        <p:spPr>
          <a:xfrm>
            <a:off x="1071720" y="60480"/>
            <a:ext cx="8078400" cy="55512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An Elasticity Menagerie</a:t>
            </a:r>
            <a:endParaRPr lang="id-ID" sz="3200" strike="noStrike" spc="-1">
              <a:solidFill>
                <a:srgbClr val="000000"/>
              </a:solidFill>
              <a:uFill>
                <a:solidFill>
                  <a:srgbClr val="FFFFFF"/>
                </a:solidFill>
              </a:uFill>
              <a:latin typeface="Calibri"/>
            </a:endParaRPr>
          </a:p>
        </p:txBody>
      </p:sp>
      <p:pic>
        <p:nvPicPr>
          <p:cNvPr id="1238" name="Content Placeholder 3"/>
          <p:cNvPicPr/>
          <p:nvPr/>
        </p:nvPicPr>
        <p:blipFill>
          <a:blip r:embed="rId3"/>
          <a:srcRect l="-601" r="-83" b="46924"/>
          <a:stretch/>
        </p:blipFill>
        <p:spPr>
          <a:xfrm>
            <a:off x="395280" y="549360"/>
            <a:ext cx="8841960" cy="6268680"/>
          </a:xfrm>
          <a:prstGeom prst="rect">
            <a:avLst/>
          </a:prstGeom>
          <a:ln w="9360">
            <a:noFill/>
          </a:ln>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 name="TextShape 1"/>
          <p:cNvSpPr txBox="1"/>
          <p:nvPr/>
        </p:nvSpPr>
        <p:spPr>
          <a:xfrm>
            <a:off x="1071720" y="60480"/>
            <a:ext cx="8078400" cy="55512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An Elasticity Menagerie</a:t>
            </a:r>
            <a:endParaRPr lang="id-ID" sz="3200" strike="noStrike" spc="-1">
              <a:solidFill>
                <a:srgbClr val="000000"/>
              </a:solidFill>
              <a:uFill>
                <a:solidFill>
                  <a:srgbClr val="FFFFFF"/>
                </a:solidFill>
              </a:uFill>
              <a:latin typeface="Calibri"/>
            </a:endParaRPr>
          </a:p>
        </p:txBody>
      </p:sp>
      <p:pic>
        <p:nvPicPr>
          <p:cNvPr id="1240" name="Content Placeholder 3"/>
          <p:cNvPicPr/>
          <p:nvPr/>
        </p:nvPicPr>
        <p:blipFill>
          <a:blip r:embed="rId3"/>
          <a:srcRect l="-772" t="52698" r="259"/>
          <a:stretch/>
        </p:blipFill>
        <p:spPr>
          <a:xfrm>
            <a:off x="395280" y="601560"/>
            <a:ext cx="8827560" cy="5706720"/>
          </a:xfrm>
          <a:prstGeom prst="rect">
            <a:avLst/>
          </a:prstGeom>
          <a:ln w="9360">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1" name="TextShape 1"/>
          <p:cNvSpPr txBox="1"/>
          <p:nvPr/>
        </p:nvSpPr>
        <p:spPr>
          <a:xfrm>
            <a:off x="900000" y="39600"/>
            <a:ext cx="7992720" cy="579240"/>
          </a:xfrm>
          <a:prstGeom prst="rect">
            <a:avLst/>
          </a:prstGeom>
          <a:noFill/>
          <a:ln>
            <a:noFill/>
          </a:ln>
        </p:spPr>
        <p:txBody>
          <a:bodyPr anchor="ctr"/>
          <a:lstStyle/>
          <a:p>
            <a:pPr>
              <a:lnSpc>
                <a:spcPct val="100000"/>
              </a:lnSpc>
            </a:pPr>
            <a:r>
              <a:rPr lang="id-ID" sz="3200" b="1" strike="noStrike" spc="-1">
                <a:solidFill>
                  <a:srgbClr val="000000"/>
                </a:solidFill>
                <a:uFill>
                  <a:solidFill>
                    <a:srgbClr val="FFFFFF"/>
                  </a:solidFill>
                </a:uFill>
                <a:latin typeface="Calibri"/>
                <a:ea typeface="MS PGothic"/>
              </a:rPr>
              <a:t>SUMMARY</a:t>
            </a:r>
            <a:endParaRPr lang="id-ID" sz="3200" strike="noStrike" spc="-1">
              <a:solidFill>
                <a:srgbClr val="000000"/>
              </a:solidFill>
              <a:uFill>
                <a:solidFill>
                  <a:srgbClr val="FFFFFF"/>
                </a:solidFill>
              </a:uFill>
              <a:latin typeface="Calibri"/>
            </a:endParaRPr>
          </a:p>
        </p:txBody>
      </p:sp>
      <p:sp>
        <p:nvSpPr>
          <p:cNvPr id="1242" name="TextShape 2"/>
          <p:cNvSpPr txBox="1"/>
          <p:nvPr/>
        </p:nvSpPr>
        <p:spPr>
          <a:xfrm>
            <a:off x="887400" y="922320"/>
            <a:ext cx="7799040" cy="5385960"/>
          </a:xfrm>
          <a:prstGeom prst="rect">
            <a:avLst/>
          </a:prstGeom>
          <a:noFill/>
          <a:ln>
            <a:noFill/>
          </a:ln>
        </p:spPr>
        <p:txBody>
          <a:bodyPr/>
          <a:lstStyle/>
          <a:p>
            <a:pPr marL="463680" indent="-463320">
              <a:lnSpc>
                <a:spcPct val="100000"/>
              </a:lnSpc>
              <a:buClr>
                <a:srgbClr val="000000"/>
              </a:buClr>
              <a:buFont typeface="Arial"/>
              <a:buAutoNum type="arabicPeriod"/>
            </a:pPr>
            <a:r>
              <a:rPr lang="id-ID" sz="2500" b="1" strike="noStrike" spc="-1">
                <a:solidFill>
                  <a:srgbClr val="000000"/>
                </a:solidFill>
                <a:uFill>
                  <a:solidFill>
                    <a:srgbClr val="FFFFFF"/>
                  </a:solidFill>
                </a:uFill>
                <a:latin typeface="Calibri"/>
                <a:ea typeface="MS PGothic"/>
              </a:rPr>
              <a:t>Elasticity</a:t>
            </a:r>
            <a:r>
              <a:rPr lang="id-ID" sz="2500" strike="noStrike" spc="-1">
                <a:solidFill>
                  <a:srgbClr val="000000"/>
                </a:solidFill>
                <a:uFill>
                  <a:solidFill>
                    <a:srgbClr val="FFFFFF"/>
                  </a:solidFill>
                </a:uFill>
                <a:latin typeface="Calibri"/>
                <a:ea typeface="MS PGothic"/>
              </a:rPr>
              <a:t> is a general measure of </a:t>
            </a:r>
            <a:r>
              <a:rPr lang="id-ID" sz="2500" b="1" strike="noStrike" spc="-1">
                <a:solidFill>
                  <a:srgbClr val="000000"/>
                </a:solidFill>
                <a:uFill>
                  <a:solidFill>
                    <a:srgbClr val="FFFFFF"/>
                  </a:solidFill>
                </a:uFill>
                <a:latin typeface="Calibri"/>
                <a:ea typeface="MS PGothic"/>
              </a:rPr>
              <a:t>responsiveness</a:t>
            </a:r>
            <a:r>
              <a:rPr lang="id-ID" sz="2500" strike="noStrike" spc="-1">
                <a:solidFill>
                  <a:srgbClr val="000000"/>
                </a:solidFill>
                <a:uFill>
                  <a:solidFill>
                    <a:srgbClr val="FFFFFF"/>
                  </a:solidFill>
                </a:uFill>
                <a:latin typeface="Calibri"/>
                <a:ea typeface="MS PGothic"/>
              </a:rPr>
              <a:t> that can be used to answer such questions.
</a:t>
            </a:r>
            <a:r>
              <a:rPr lang="id-ID" sz="2500" strike="noStrike" spc="-1">
                <a:solidFill>
                  <a:srgbClr val="000000"/>
                </a:solidFill>
                <a:uFill>
                  <a:solidFill>
                    <a:srgbClr val="FFFFFF"/>
                  </a:solidFill>
                </a:uFill>
                <a:latin typeface="Calibri"/>
              </a:rPr>
              <a:t> </a:t>
            </a:r>
          </a:p>
          <a:p>
            <a:pPr marL="463680" indent="-463320">
              <a:lnSpc>
                <a:spcPct val="100000"/>
              </a:lnSpc>
              <a:buClr>
                <a:srgbClr val="000000"/>
              </a:buClr>
              <a:buFont typeface="Arial"/>
              <a:buAutoNum type="arabicPeriod"/>
            </a:pPr>
            <a:r>
              <a:rPr lang="id-ID" sz="2500" strike="noStrike" spc="-1">
                <a:solidFill>
                  <a:srgbClr val="000000"/>
                </a:solidFill>
                <a:uFill>
                  <a:solidFill>
                    <a:srgbClr val="FFFFFF"/>
                  </a:solidFill>
                </a:uFill>
                <a:latin typeface="Calibri"/>
                <a:ea typeface="MS PGothic"/>
              </a:rPr>
              <a:t>The </a:t>
            </a:r>
            <a:r>
              <a:rPr lang="id-ID" sz="2500" b="1" strike="noStrike" spc="-1">
                <a:solidFill>
                  <a:srgbClr val="000000"/>
                </a:solidFill>
                <a:uFill>
                  <a:solidFill>
                    <a:srgbClr val="FFFFFF"/>
                  </a:solidFill>
                </a:uFill>
                <a:latin typeface="Calibri"/>
                <a:ea typeface="MS PGothic"/>
              </a:rPr>
              <a:t>price elasticity of demand</a:t>
            </a:r>
            <a:r>
              <a:rPr lang="id-ID" sz="2500" strike="noStrike" spc="-1">
                <a:solidFill>
                  <a:srgbClr val="000000"/>
                </a:solidFill>
                <a:uFill>
                  <a:solidFill>
                    <a:srgbClr val="FFFFFF"/>
                  </a:solidFill>
                </a:uFill>
                <a:latin typeface="Calibri"/>
                <a:ea typeface="MS PGothic"/>
              </a:rPr>
              <a:t>—the percent change in the quantity demanded divided by the percent change in the price (dropping the minus sign)—is a measure of the responsiveness of the quantity demanded to changes in the price.</a:t>
            </a:r>
            <a:endParaRPr lang="id-ID" sz="2500" strike="noStrike" spc="-1">
              <a:solidFill>
                <a:srgbClr val="000000"/>
              </a:solidFill>
              <a:uFill>
                <a:solidFill>
                  <a:srgbClr val="FFFFFF"/>
                </a:solidFill>
              </a:u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242">
                                            <p:txEl>
                                              <p:pRg st="0" end="94"/>
                                            </p:txEl>
                                          </p:spTgt>
                                        </p:tgtEl>
                                        <p:attrNameLst>
                                          <p:attrName>style.visibility</p:attrName>
                                        </p:attrNameLst>
                                      </p:cBhvr>
                                      <p:to>
                                        <p:strVal val="visible"/>
                                      </p:to>
                                    </p:set>
                                    <p:animEffect transition="in" filter="fade">
                                      <p:cBhvr additive="repl">
                                        <p:cTn id="7" dur="500"/>
                                        <p:tgtEl>
                                          <p:spTgt spid="1242">
                                            <p:txEl>
                                              <p:pRg st="0" end="9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1242">
                                            <p:txEl>
                                              <p:pRg st="94" end="323"/>
                                            </p:txEl>
                                          </p:spTgt>
                                        </p:tgtEl>
                                        <p:attrNameLst>
                                          <p:attrName>style.visibility</p:attrName>
                                        </p:attrNameLst>
                                      </p:cBhvr>
                                      <p:to>
                                        <p:strVal val="visible"/>
                                      </p:to>
                                    </p:set>
                                    <p:animEffect transition="in" filter="fade">
                                      <p:cBhvr additive="repl">
                                        <p:cTn id="12" dur="500"/>
                                        <p:tgtEl>
                                          <p:spTgt spid="1242">
                                            <p:txEl>
                                              <p:pRg st="94" end="3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3" name="TextShape 1"/>
          <p:cNvSpPr txBox="1"/>
          <p:nvPr/>
        </p:nvSpPr>
        <p:spPr>
          <a:xfrm>
            <a:off x="900000" y="39600"/>
            <a:ext cx="7992720" cy="579240"/>
          </a:xfrm>
          <a:prstGeom prst="rect">
            <a:avLst/>
          </a:prstGeom>
          <a:noFill/>
          <a:ln>
            <a:noFill/>
          </a:ln>
        </p:spPr>
        <p:txBody>
          <a:bodyPr anchor="ctr"/>
          <a:lstStyle/>
          <a:p>
            <a:pPr>
              <a:lnSpc>
                <a:spcPct val="100000"/>
              </a:lnSpc>
            </a:pPr>
            <a:r>
              <a:rPr lang="id-ID" sz="3200" b="1" strike="noStrike" spc="-1">
                <a:solidFill>
                  <a:srgbClr val="000000"/>
                </a:solidFill>
                <a:uFill>
                  <a:solidFill>
                    <a:srgbClr val="FFFFFF"/>
                  </a:solidFill>
                </a:uFill>
                <a:latin typeface="Calibri"/>
                <a:ea typeface="MS PGothic"/>
              </a:rPr>
              <a:t>SUMMARY</a:t>
            </a:r>
            <a:endParaRPr lang="id-ID" sz="3200" strike="noStrike" spc="-1">
              <a:solidFill>
                <a:srgbClr val="000000"/>
              </a:solidFill>
              <a:uFill>
                <a:solidFill>
                  <a:srgbClr val="FFFFFF"/>
                </a:solidFill>
              </a:uFill>
              <a:latin typeface="Calibri"/>
            </a:endParaRPr>
          </a:p>
        </p:txBody>
      </p:sp>
      <p:sp>
        <p:nvSpPr>
          <p:cNvPr id="1244" name="TextShape 2"/>
          <p:cNvSpPr txBox="1"/>
          <p:nvPr/>
        </p:nvSpPr>
        <p:spPr>
          <a:xfrm>
            <a:off x="887400" y="922320"/>
            <a:ext cx="7799040" cy="5385960"/>
          </a:xfrm>
          <a:prstGeom prst="rect">
            <a:avLst/>
          </a:prstGeom>
          <a:noFill/>
          <a:ln>
            <a:noFill/>
          </a:ln>
        </p:spPr>
        <p:txBody>
          <a:bodyPr/>
          <a:lstStyle/>
          <a:p>
            <a:pPr marL="463680" indent="-463320">
              <a:lnSpc>
                <a:spcPct val="100000"/>
              </a:lnSpc>
              <a:buClr>
                <a:srgbClr val="000000"/>
              </a:buClr>
              <a:buFont typeface="Calibri"/>
              <a:buAutoNum type="arabicPeriod" startAt="3"/>
            </a:pPr>
            <a:r>
              <a:rPr lang="id-ID" sz="2500" strike="noStrike" spc="-1">
                <a:solidFill>
                  <a:srgbClr val="000000"/>
                </a:solidFill>
                <a:uFill>
                  <a:solidFill>
                    <a:srgbClr val="FFFFFF"/>
                  </a:solidFill>
                </a:uFill>
                <a:latin typeface="Calibri"/>
                <a:ea typeface="MS PGothic"/>
              </a:rPr>
              <a:t>The responsiveness of the quantity demanded to price can range from </a:t>
            </a:r>
            <a:r>
              <a:rPr lang="id-ID" sz="2500" b="1" strike="noStrike" spc="-1">
                <a:solidFill>
                  <a:srgbClr val="000000"/>
                </a:solidFill>
                <a:uFill>
                  <a:solidFill>
                    <a:srgbClr val="FFFFFF"/>
                  </a:solidFill>
                </a:uFill>
                <a:latin typeface="Calibri"/>
                <a:ea typeface="MS PGothic"/>
              </a:rPr>
              <a:t>perfectly inelastic demand, </a:t>
            </a:r>
            <a:r>
              <a:rPr lang="id-ID" sz="2500" strike="noStrike" spc="-1">
                <a:solidFill>
                  <a:srgbClr val="000000"/>
                </a:solidFill>
                <a:uFill>
                  <a:solidFill>
                    <a:srgbClr val="FFFFFF"/>
                  </a:solidFill>
                </a:uFill>
                <a:latin typeface="Calibri"/>
                <a:ea typeface="MS PGothic"/>
              </a:rPr>
              <a:t>where the quantity demanded is unaffected by the price, to </a:t>
            </a:r>
            <a:r>
              <a:rPr lang="id-ID" sz="2500" b="1" strike="noStrike" spc="-1">
                <a:solidFill>
                  <a:srgbClr val="000000"/>
                </a:solidFill>
                <a:uFill>
                  <a:solidFill>
                    <a:srgbClr val="FFFFFF"/>
                  </a:solidFill>
                </a:uFill>
                <a:latin typeface="Calibri"/>
                <a:ea typeface="MS PGothic"/>
              </a:rPr>
              <a:t>perfectly elastic demand, </a:t>
            </a:r>
            <a:r>
              <a:rPr lang="id-ID" sz="2500" strike="noStrike" spc="-1">
                <a:solidFill>
                  <a:srgbClr val="000000"/>
                </a:solidFill>
                <a:uFill>
                  <a:solidFill>
                    <a:srgbClr val="FFFFFF"/>
                  </a:solidFill>
                </a:uFill>
                <a:latin typeface="Calibri"/>
                <a:ea typeface="MS PGothic"/>
              </a:rPr>
              <a:t>where there is a unique price at which consumers will buy as much or as little as they are offered. 
When demand is perfectly inelastic, the demand curve is a vertical line; when it is perfectly elastic, the demand curve is a horizontal line.</a:t>
            </a:r>
            <a:endParaRPr lang="id-ID" sz="2500" strike="noStrike" spc="-1">
              <a:solidFill>
                <a:srgbClr val="000000"/>
              </a:solidFill>
              <a:uFill>
                <a:solidFill>
                  <a:srgbClr val="FFFFFF"/>
                </a:solidFill>
              </a:u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244">
                                            <p:txEl>
                                              <p:pRg st="0" end="425"/>
                                            </p:txEl>
                                          </p:spTgt>
                                        </p:tgtEl>
                                        <p:attrNameLst>
                                          <p:attrName>style.visibility</p:attrName>
                                        </p:attrNameLst>
                                      </p:cBhvr>
                                      <p:to>
                                        <p:strVal val="visible"/>
                                      </p:to>
                                    </p:set>
                                    <p:animEffect transition="in" filter="fade">
                                      <p:cBhvr additive="repl">
                                        <p:cTn id="7" dur="500"/>
                                        <p:tgtEl>
                                          <p:spTgt spid="1244">
                                            <p:txEl>
                                              <p:pRg st="0" end="4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5" name="TextShape 1"/>
          <p:cNvSpPr txBox="1"/>
          <p:nvPr/>
        </p:nvSpPr>
        <p:spPr>
          <a:xfrm>
            <a:off x="971640" y="39600"/>
            <a:ext cx="8178480" cy="579240"/>
          </a:xfrm>
          <a:prstGeom prst="rect">
            <a:avLst/>
          </a:prstGeom>
          <a:noFill/>
          <a:ln>
            <a:noFill/>
          </a:ln>
        </p:spPr>
        <p:txBody>
          <a:bodyPr anchor="ctr"/>
          <a:lstStyle/>
          <a:p>
            <a:pPr>
              <a:lnSpc>
                <a:spcPct val="100000"/>
              </a:lnSpc>
            </a:pPr>
            <a:r>
              <a:rPr lang="id-ID" sz="3200" b="1" strike="noStrike" spc="-1">
                <a:solidFill>
                  <a:srgbClr val="000000"/>
                </a:solidFill>
                <a:uFill>
                  <a:solidFill>
                    <a:srgbClr val="FFFFFF"/>
                  </a:solidFill>
                </a:uFill>
                <a:latin typeface="Calibri"/>
                <a:ea typeface="MS PGothic"/>
              </a:rPr>
              <a:t>SUMMARY</a:t>
            </a:r>
            <a:endParaRPr lang="id-ID" sz="3200" strike="noStrike" spc="-1">
              <a:solidFill>
                <a:srgbClr val="000000"/>
              </a:solidFill>
              <a:uFill>
                <a:solidFill>
                  <a:srgbClr val="FFFFFF"/>
                </a:solidFill>
              </a:uFill>
              <a:latin typeface="Calibri"/>
            </a:endParaRPr>
          </a:p>
        </p:txBody>
      </p:sp>
      <p:sp>
        <p:nvSpPr>
          <p:cNvPr id="1246" name="TextShape 2"/>
          <p:cNvSpPr txBox="1"/>
          <p:nvPr/>
        </p:nvSpPr>
        <p:spPr>
          <a:xfrm>
            <a:off x="900000" y="890640"/>
            <a:ext cx="7954560" cy="5346360"/>
          </a:xfrm>
          <a:prstGeom prst="rect">
            <a:avLst/>
          </a:prstGeom>
          <a:noFill/>
          <a:ln>
            <a:noFill/>
          </a:ln>
        </p:spPr>
        <p:txBody>
          <a:bodyPr/>
          <a:lstStyle/>
          <a:p>
            <a:pPr marL="463680" indent="-463320">
              <a:lnSpc>
                <a:spcPct val="100000"/>
              </a:lnSpc>
              <a:buClr>
                <a:srgbClr val="000000"/>
              </a:buClr>
              <a:buFont typeface="Arial"/>
              <a:buAutoNum type="arabicPeriod" startAt="4"/>
            </a:pPr>
            <a:r>
              <a:rPr lang="id-ID" sz="2500" strike="noStrike" spc="-1">
                <a:solidFill>
                  <a:srgbClr val="000000"/>
                </a:solidFill>
                <a:uFill>
                  <a:solidFill>
                    <a:srgbClr val="FFFFFF"/>
                  </a:solidFill>
                </a:uFill>
                <a:latin typeface="Calibri"/>
                <a:ea typeface="MS PGothic"/>
              </a:rPr>
              <a:t>The price elasticity of demand is classified according to whether it is more or less than 1. If it is greater than 1, demand is </a:t>
            </a:r>
            <a:r>
              <a:rPr lang="id-ID" sz="2500" b="1" strike="noStrike" spc="-1">
                <a:solidFill>
                  <a:srgbClr val="000000"/>
                </a:solidFill>
                <a:uFill>
                  <a:solidFill>
                    <a:srgbClr val="FFFFFF"/>
                  </a:solidFill>
                </a:uFill>
                <a:latin typeface="Calibri"/>
                <a:ea typeface="MS PGothic"/>
              </a:rPr>
              <a:t>elastic; </a:t>
            </a:r>
            <a:r>
              <a:rPr lang="id-ID" sz="2500" strike="noStrike" spc="-1">
                <a:solidFill>
                  <a:srgbClr val="000000"/>
                </a:solidFill>
                <a:uFill>
                  <a:solidFill>
                    <a:srgbClr val="FFFFFF"/>
                  </a:solidFill>
                </a:uFill>
                <a:latin typeface="Calibri"/>
                <a:ea typeface="MS PGothic"/>
              </a:rPr>
              <a:t>if it is less than 1, demand is </a:t>
            </a:r>
            <a:r>
              <a:rPr lang="id-ID" sz="2500" b="1" strike="noStrike" spc="-1">
                <a:solidFill>
                  <a:srgbClr val="000000"/>
                </a:solidFill>
                <a:uFill>
                  <a:solidFill>
                    <a:srgbClr val="FFFFFF"/>
                  </a:solidFill>
                </a:uFill>
                <a:latin typeface="Calibri"/>
                <a:ea typeface="MS PGothic"/>
              </a:rPr>
              <a:t>inelastic; </a:t>
            </a:r>
            <a:r>
              <a:rPr lang="id-ID" sz="2500" strike="noStrike" spc="-1">
                <a:solidFill>
                  <a:srgbClr val="000000"/>
                </a:solidFill>
                <a:uFill>
                  <a:solidFill>
                    <a:srgbClr val="FFFFFF"/>
                  </a:solidFill>
                </a:uFill>
                <a:latin typeface="Calibri"/>
                <a:ea typeface="MS PGothic"/>
              </a:rPr>
              <a:t>if it is exactly 1, demand is </a:t>
            </a:r>
            <a:r>
              <a:rPr lang="id-ID" sz="2500" b="1" strike="noStrike" spc="-1">
                <a:solidFill>
                  <a:srgbClr val="000000"/>
                </a:solidFill>
                <a:uFill>
                  <a:solidFill>
                    <a:srgbClr val="FFFFFF"/>
                  </a:solidFill>
                </a:uFill>
                <a:latin typeface="Calibri"/>
                <a:ea typeface="MS PGothic"/>
              </a:rPr>
              <a:t>unit-elastic. </a:t>
            </a:r>
            <a:r>
              <a:rPr lang="id-ID" sz="2500" strike="noStrike" spc="-1">
                <a:solidFill>
                  <a:srgbClr val="000000"/>
                </a:solidFill>
                <a:uFill>
                  <a:solidFill>
                    <a:srgbClr val="FFFFFF"/>
                  </a:solidFill>
                </a:uFill>
                <a:latin typeface="Calibri"/>
                <a:ea typeface="MS PGothic"/>
              </a:rPr>
              <a:t>This classification determines how </a:t>
            </a:r>
            <a:r>
              <a:rPr lang="id-ID" sz="2500" b="1" strike="noStrike" spc="-1">
                <a:solidFill>
                  <a:srgbClr val="000000"/>
                </a:solidFill>
                <a:uFill>
                  <a:solidFill>
                    <a:srgbClr val="FFFFFF"/>
                  </a:solidFill>
                </a:uFill>
                <a:latin typeface="Calibri"/>
                <a:ea typeface="MS PGothic"/>
              </a:rPr>
              <a:t>total revenue, </a:t>
            </a:r>
            <a:r>
              <a:rPr lang="id-ID" sz="2500" strike="noStrike" spc="-1">
                <a:solidFill>
                  <a:srgbClr val="000000"/>
                </a:solidFill>
                <a:uFill>
                  <a:solidFill>
                    <a:srgbClr val="FFFFFF"/>
                  </a:solidFill>
                </a:uFill>
                <a:latin typeface="Calibri"/>
                <a:ea typeface="MS PGothic"/>
              </a:rPr>
              <a:t>the total value of sales, changes when the price changes. 
</a:t>
            </a:r>
            <a:r>
              <a:rPr lang="id-ID" sz="2500" strike="noStrike" spc="-1">
                <a:solidFill>
                  <a:srgbClr val="000000"/>
                </a:solidFill>
                <a:uFill>
                  <a:solidFill>
                    <a:srgbClr val="FFFFFF"/>
                  </a:solidFill>
                </a:uFill>
                <a:latin typeface="Calibri"/>
              </a:rPr>
              <a:t> </a:t>
            </a:r>
          </a:p>
          <a:p>
            <a:pPr marL="463680" indent="-463320">
              <a:lnSpc>
                <a:spcPct val="100000"/>
              </a:lnSpc>
              <a:buClr>
                <a:srgbClr val="000000"/>
              </a:buClr>
              <a:buFont typeface="Arial"/>
              <a:buAutoNum type="arabicPeriod" startAt="4"/>
            </a:pPr>
            <a:r>
              <a:rPr lang="id-ID" sz="2500" strike="noStrike" spc="-1">
                <a:solidFill>
                  <a:srgbClr val="000000"/>
                </a:solidFill>
                <a:uFill>
                  <a:solidFill>
                    <a:srgbClr val="FFFFFF"/>
                  </a:solidFill>
                </a:uFill>
                <a:latin typeface="Calibri"/>
                <a:ea typeface="MS PGothic"/>
              </a:rPr>
              <a:t>The price elasticity of demand depends on whether there are close substitutes for the good, whether the good is a necessity or a luxury, the share of income spent on the good, and the length of time that has elapsed since the price change.</a:t>
            </a:r>
            <a:endParaRPr lang="id-ID" sz="2500" strike="noStrike" spc="-1">
              <a:solidFill>
                <a:srgbClr val="000000"/>
              </a:solidFill>
              <a:uFill>
                <a:solidFill>
                  <a:srgbClr val="FFFFFF"/>
                </a:solidFill>
              </a:u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246">
                                            <p:txEl>
                                              <p:pRg st="0" end="334"/>
                                            </p:txEl>
                                          </p:spTgt>
                                        </p:tgtEl>
                                        <p:attrNameLst>
                                          <p:attrName>style.visibility</p:attrName>
                                        </p:attrNameLst>
                                      </p:cBhvr>
                                      <p:to>
                                        <p:strVal val="visible"/>
                                      </p:to>
                                    </p:set>
                                    <p:animEffect transition="in" filter="fade">
                                      <p:cBhvr additive="repl">
                                        <p:cTn id="7" dur="500"/>
                                        <p:tgtEl>
                                          <p:spTgt spid="1246">
                                            <p:txEl>
                                              <p:pRg st="0" end="33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1246">
                                            <p:txEl>
                                              <p:pRg st="334" end="574"/>
                                            </p:txEl>
                                          </p:spTgt>
                                        </p:tgtEl>
                                        <p:attrNameLst>
                                          <p:attrName>style.visibility</p:attrName>
                                        </p:attrNameLst>
                                      </p:cBhvr>
                                      <p:to>
                                        <p:strVal val="visible"/>
                                      </p:to>
                                    </p:set>
                                    <p:animEffect transition="in" filter="fade">
                                      <p:cBhvr additive="repl">
                                        <p:cTn id="12" dur="500"/>
                                        <p:tgtEl>
                                          <p:spTgt spid="1246">
                                            <p:txEl>
                                              <p:pRg st="334" end="57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7" name="TextShape 1"/>
          <p:cNvSpPr txBox="1"/>
          <p:nvPr/>
        </p:nvSpPr>
        <p:spPr>
          <a:xfrm>
            <a:off x="971640" y="39600"/>
            <a:ext cx="8178480" cy="579240"/>
          </a:xfrm>
          <a:prstGeom prst="rect">
            <a:avLst/>
          </a:prstGeom>
          <a:noFill/>
          <a:ln>
            <a:noFill/>
          </a:ln>
        </p:spPr>
        <p:txBody>
          <a:bodyPr anchor="ctr"/>
          <a:lstStyle/>
          <a:p>
            <a:pPr>
              <a:lnSpc>
                <a:spcPct val="100000"/>
              </a:lnSpc>
            </a:pPr>
            <a:r>
              <a:rPr lang="id-ID" sz="3200" b="1" strike="noStrike" spc="-1">
                <a:solidFill>
                  <a:srgbClr val="000000"/>
                </a:solidFill>
                <a:uFill>
                  <a:solidFill>
                    <a:srgbClr val="FFFFFF"/>
                  </a:solidFill>
                </a:uFill>
                <a:latin typeface="Calibri"/>
                <a:ea typeface="MS PGothic"/>
              </a:rPr>
              <a:t>SUMMARY</a:t>
            </a:r>
            <a:endParaRPr lang="id-ID" sz="3200" strike="noStrike" spc="-1">
              <a:solidFill>
                <a:srgbClr val="000000"/>
              </a:solidFill>
              <a:uFill>
                <a:solidFill>
                  <a:srgbClr val="FFFFFF"/>
                </a:solidFill>
              </a:uFill>
              <a:latin typeface="Calibri"/>
            </a:endParaRPr>
          </a:p>
        </p:txBody>
      </p:sp>
      <p:sp>
        <p:nvSpPr>
          <p:cNvPr id="1248" name="TextShape 2"/>
          <p:cNvSpPr txBox="1"/>
          <p:nvPr/>
        </p:nvSpPr>
        <p:spPr>
          <a:xfrm>
            <a:off x="900000" y="890640"/>
            <a:ext cx="7954560" cy="5346360"/>
          </a:xfrm>
          <a:prstGeom prst="rect">
            <a:avLst/>
          </a:prstGeom>
          <a:noFill/>
          <a:ln>
            <a:noFill/>
          </a:ln>
        </p:spPr>
        <p:txBody>
          <a:bodyPr/>
          <a:lstStyle/>
          <a:p>
            <a:pPr marL="463680" indent="-463320">
              <a:lnSpc>
                <a:spcPct val="100000"/>
              </a:lnSpc>
              <a:buClr>
                <a:srgbClr val="000000"/>
              </a:buClr>
              <a:buFont typeface="Calibri"/>
              <a:buAutoNum type="arabicPeriod" startAt="6"/>
            </a:pPr>
            <a:r>
              <a:rPr lang="id-ID" sz="2500" strike="noStrike" spc="-1">
                <a:solidFill>
                  <a:srgbClr val="000000"/>
                </a:solidFill>
                <a:uFill>
                  <a:solidFill>
                    <a:srgbClr val="FFFFFF"/>
                  </a:solidFill>
                </a:uFill>
                <a:latin typeface="Calibri"/>
                <a:ea typeface="MS PGothic"/>
              </a:rPr>
              <a:t>The </a:t>
            </a:r>
            <a:r>
              <a:rPr lang="id-ID" sz="2500" b="1" strike="noStrike" spc="-1">
                <a:solidFill>
                  <a:srgbClr val="000000"/>
                </a:solidFill>
                <a:uFill>
                  <a:solidFill>
                    <a:srgbClr val="FFFFFF"/>
                  </a:solidFill>
                </a:uFill>
                <a:latin typeface="Calibri"/>
                <a:ea typeface="MS PGothic"/>
              </a:rPr>
              <a:t>cross-price elasticity of demand </a:t>
            </a:r>
            <a:r>
              <a:rPr lang="id-ID" sz="2500" strike="noStrike" spc="-1">
                <a:solidFill>
                  <a:srgbClr val="000000"/>
                </a:solidFill>
                <a:uFill>
                  <a:solidFill>
                    <a:srgbClr val="FFFFFF"/>
                  </a:solidFill>
                </a:uFill>
                <a:latin typeface="Calibri"/>
                <a:ea typeface="MS PGothic"/>
              </a:rPr>
              <a:t>measures the effect of a change in one good’s price on the quantity of another good demanded. </a:t>
            </a: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a:p>
            <a:pPr marL="463680" indent="-463320">
              <a:lnSpc>
                <a:spcPct val="100000"/>
              </a:lnSpc>
              <a:buClr>
                <a:srgbClr val="000000"/>
              </a:buClr>
              <a:buFont typeface="Calibri"/>
              <a:buAutoNum type="arabicPeriod" startAt="6"/>
            </a:pPr>
            <a:r>
              <a:rPr lang="id-ID" sz="2500" strike="noStrike" spc="-1">
                <a:solidFill>
                  <a:srgbClr val="000000"/>
                </a:solidFill>
                <a:uFill>
                  <a:solidFill>
                    <a:srgbClr val="FFFFFF"/>
                  </a:solidFill>
                </a:uFill>
                <a:latin typeface="Calibri"/>
                <a:ea typeface="MS PGothic"/>
              </a:rPr>
              <a:t>The </a:t>
            </a:r>
            <a:r>
              <a:rPr lang="id-ID" sz="2500" b="1" strike="noStrike" spc="-1">
                <a:solidFill>
                  <a:srgbClr val="000000"/>
                </a:solidFill>
                <a:uFill>
                  <a:solidFill>
                    <a:srgbClr val="FFFFFF"/>
                  </a:solidFill>
                </a:uFill>
                <a:latin typeface="Calibri"/>
                <a:ea typeface="MS PGothic"/>
              </a:rPr>
              <a:t>income elasticity of demand </a:t>
            </a:r>
            <a:r>
              <a:rPr lang="id-ID" sz="2500" strike="noStrike" spc="-1">
                <a:solidFill>
                  <a:srgbClr val="000000"/>
                </a:solidFill>
                <a:uFill>
                  <a:solidFill>
                    <a:srgbClr val="FFFFFF"/>
                  </a:solidFill>
                </a:uFill>
                <a:latin typeface="Calibri"/>
                <a:ea typeface="MS PGothic"/>
              </a:rPr>
              <a:t>is the percent change in the quantity of a good demanded when a consumer’s income changes divided by the percent change in income. If the income elasticity is greater than 1, a good is </a:t>
            </a:r>
            <a:r>
              <a:rPr lang="id-ID" sz="2500" b="1" strike="noStrike" spc="-1">
                <a:solidFill>
                  <a:srgbClr val="000000"/>
                </a:solidFill>
                <a:uFill>
                  <a:solidFill>
                    <a:srgbClr val="FFFFFF"/>
                  </a:solidFill>
                </a:uFill>
                <a:latin typeface="Calibri"/>
                <a:ea typeface="MS PGothic"/>
              </a:rPr>
              <a:t>income elastic; </a:t>
            </a:r>
            <a:r>
              <a:rPr lang="id-ID" sz="2500" strike="noStrike" spc="-1">
                <a:solidFill>
                  <a:srgbClr val="000000"/>
                </a:solidFill>
                <a:uFill>
                  <a:solidFill>
                    <a:srgbClr val="FFFFFF"/>
                  </a:solidFill>
                </a:uFill>
                <a:latin typeface="Calibri"/>
                <a:ea typeface="MS PGothic"/>
              </a:rPr>
              <a:t>if it is positive and less than 1, the good is </a:t>
            </a:r>
            <a:r>
              <a:rPr lang="id-ID" sz="2500" b="1" strike="noStrike" spc="-1">
                <a:solidFill>
                  <a:srgbClr val="000000"/>
                </a:solidFill>
                <a:uFill>
                  <a:solidFill>
                    <a:srgbClr val="FFFFFF"/>
                  </a:solidFill>
                </a:uFill>
                <a:latin typeface="Calibri"/>
                <a:ea typeface="MS PGothic"/>
              </a:rPr>
              <a:t>income-inelastic.</a:t>
            </a:r>
            <a:endParaRPr lang="id-ID" sz="2500" strike="noStrike" spc="-1">
              <a:solidFill>
                <a:srgbClr val="000000"/>
              </a:solidFill>
              <a:uFill>
                <a:solidFill>
                  <a:srgbClr val="FFFFFF"/>
                </a:solidFill>
              </a:uFill>
              <a:latin typeface="Calibri"/>
            </a:endParaRPr>
          </a:p>
          <a:p>
            <a:pPr marL="463680" indent="-463320">
              <a:lnSpc>
                <a:spcPct val="100000"/>
              </a:lnSpc>
            </a:pPr>
            <a:endParaRPr lang="id-ID" sz="2500" strike="noStrike" spc="-1">
              <a:solidFill>
                <a:srgbClr val="000000"/>
              </a:solidFill>
              <a:uFill>
                <a:solidFill>
                  <a:srgbClr val="FFFFFF"/>
                </a:solidFill>
              </a:u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248">
                                            <p:txEl>
                                              <p:pRg st="0" end="132"/>
                                            </p:txEl>
                                          </p:spTgt>
                                        </p:tgtEl>
                                        <p:attrNameLst>
                                          <p:attrName>style.visibility</p:attrName>
                                        </p:attrNameLst>
                                      </p:cBhvr>
                                      <p:to>
                                        <p:strVal val="visible"/>
                                      </p:to>
                                    </p:set>
                                    <p:animEffect transition="in" filter="fade">
                                      <p:cBhvr additive="repl">
                                        <p:cTn id="7" dur="500"/>
                                        <p:tgtEl>
                                          <p:spTgt spid="1248">
                                            <p:txEl>
                                              <p:pRg st="0" end="13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1248">
                                            <p:txEl>
                                              <p:pRg st="133" end="431"/>
                                            </p:txEl>
                                          </p:spTgt>
                                        </p:tgtEl>
                                        <p:attrNameLst>
                                          <p:attrName>style.visibility</p:attrName>
                                        </p:attrNameLst>
                                      </p:cBhvr>
                                      <p:to>
                                        <p:strVal val="visible"/>
                                      </p:to>
                                    </p:set>
                                    <p:animEffect transition="in" filter="fade">
                                      <p:cBhvr additive="repl">
                                        <p:cTn id="12" dur="500"/>
                                        <p:tgtEl>
                                          <p:spTgt spid="1248">
                                            <p:txEl>
                                              <p:pRg st="133" end="43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 name="TextShape 1"/>
          <p:cNvSpPr txBox="1"/>
          <p:nvPr/>
        </p:nvSpPr>
        <p:spPr>
          <a:xfrm>
            <a:off x="971640" y="39600"/>
            <a:ext cx="7921440" cy="579240"/>
          </a:xfrm>
          <a:prstGeom prst="rect">
            <a:avLst/>
          </a:prstGeom>
          <a:noFill/>
          <a:ln>
            <a:noFill/>
          </a:ln>
        </p:spPr>
        <p:txBody>
          <a:bodyPr anchor="ctr"/>
          <a:lstStyle/>
          <a:p>
            <a:pPr>
              <a:lnSpc>
                <a:spcPct val="100000"/>
              </a:lnSpc>
            </a:pPr>
            <a:r>
              <a:rPr lang="id-ID" sz="3200" b="1" strike="noStrike" spc="-1">
                <a:solidFill>
                  <a:srgbClr val="000000"/>
                </a:solidFill>
                <a:uFill>
                  <a:solidFill>
                    <a:srgbClr val="FFFFFF"/>
                  </a:solidFill>
                </a:uFill>
                <a:latin typeface="Calibri"/>
                <a:ea typeface="MS PGothic"/>
              </a:rPr>
              <a:t>SUMMARY</a:t>
            </a:r>
            <a:endParaRPr lang="id-ID" sz="3200" strike="noStrike" spc="-1">
              <a:solidFill>
                <a:srgbClr val="000000"/>
              </a:solidFill>
              <a:uFill>
                <a:solidFill>
                  <a:srgbClr val="FFFFFF"/>
                </a:solidFill>
              </a:uFill>
              <a:latin typeface="Calibri"/>
            </a:endParaRPr>
          </a:p>
        </p:txBody>
      </p:sp>
      <p:sp>
        <p:nvSpPr>
          <p:cNvPr id="1250" name="TextShape 2"/>
          <p:cNvSpPr txBox="1"/>
          <p:nvPr/>
        </p:nvSpPr>
        <p:spPr>
          <a:xfrm>
            <a:off x="971640" y="907920"/>
            <a:ext cx="7921440" cy="5473440"/>
          </a:xfrm>
          <a:prstGeom prst="rect">
            <a:avLst/>
          </a:prstGeom>
          <a:noFill/>
          <a:ln>
            <a:noFill/>
          </a:ln>
        </p:spPr>
        <p:txBody>
          <a:bodyPr/>
          <a:lstStyle/>
          <a:p>
            <a:pPr marL="533520" indent="-533160">
              <a:lnSpc>
                <a:spcPct val="100000"/>
              </a:lnSpc>
              <a:buClr>
                <a:srgbClr val="000000"/>
              </a:buClr>
              <a:buFont typeface="Calibri"/>
              <a:buAutoNum type="arabicPeriod" startAt="8"/>
            </a:pPr>
            <a:r>
              <a:rPr lang="id-ID" sz="2500" strike="noStrike" spc="-1">
                <a:solidFill>
                  <a:srgbClr val="000000"/>
                </a:solidFill>
                <a:uFill>
                  <a:solidFill>
                    <a:srgbClr val="FFFFFF"/>
                  </a:solidFill>
                </a:uFill>
                <a:latin typeface="Calibri"/>
                <a:ea typeface="MS PGothic"/>
              </a:rPr>
              <a:t>The </a:t>
            </a:r>
            <a:r>
              <a:rPr lang="id-ID" sz="2500" b="1" strike="noStrike" spc="-1">
                <a:solidFill>
                  <a:srgbClr val="000000"/>
                </a:solidFill>
                <a:uFill>
                  <a:solidFill>
                    <a:srgbClr val="FFFFFF"/>
                  </a:solidFill>
                </a:uFill>
                <a:latin typeface="Calibri"/>
                <a:ea typeface="MS PGothic"/>
              </a:rPr>
              <a:t>price elasticity of supply </a:t>
            </a:r>
            <a:r>
              <a:rPr lang="id-ID" sz="2500" strike="noStrike" spc="-1">
                <a:solidFill>
                  <a:srgbClr val="000000"/>
                </a:solidFill>
                <a:uFill>
                  <a:solidFill>
                    <a:srgbClr val="FFFFFF"/>
                  </a:solidFill>
                </a:uFill>
                <a:latin typeface="Calibri"/>
                <a:ea typeface="MS PGothic"/>
              </a:rPr>
              <a:t>is the percent change in the quantity of a good supplied divided by the percent change in the price. If the quantity supplied does not change at all, we have an instance of </a:t>
            </a:r>
            <a:r>
              <a:rPr lang="id-ID" sz="2500" b="1" strike="noStrike" spc="-1">
                <a:solidFill>
                  <a:srgbClr val="000000"/>
                </a:solidFill>
                <a:uFill>
                  <a:solidFill>
                    <a:srgbClr val="FFFFFF"/>
                  </a:solidFill>
                </a:uFill>
                <a:latin typeface="Calibri"/>
                <a:ea typeface="MS PGothic"/>
              </a:rPr>
              <a:t>perfectly inelastic supply; </a:t>
            </a:r>
            <a:r>
              <a:rPr lang="id-ID" sz="2500" strike="noStrike" spc="-1">
                <a:solidFill>
                  <a:srgbClr val="000000"/>
                </a:solidFill>
                <a:uFill>
                  <a:solidFill>
                    <a:srgbClr val="FFFFFF"/>
                  </a:solidFill>
                </a:uFill>
                <a:latin typeface="Calibri"/>
                <a:ea typeface="MS PGothic"/>
              </a:rPr>
              <a:t>the supply curve is a vertical line. If the quantity supplied is zero below some price but infinite above that price, we have an instance of </a:t>
            </a:r>
            <a:r>
              <a:rPr lang="id-ID" sz="2500" b="1" strike="noStrike" spc="-1">
                <a:solidFill>
                  <a:srgbClr val="000000"/>
                </a:solidFill>
                <a:uFill>
                  <a:solidFill>
                    <a:srgbClr val="FFFFFF"/>
                  </a:solidFill>
                </a:uFill>
                <a:latin typeface="Calibri"/>
                <a:ea typeface="MS PGothic"/>
              </a:rPr>
              <a:t>perfectly elastic supply; </a:t>
            </a:r>
            <a:r>
              <a:rPr lang="id-ID" sz="2500" strike="noStrike" spc="-1">
                <a:solidFill>
                  <a:srgbClr val="000000"/>
                </a:solidFill>
                <a:uFill>
                  <a:solidFill>
                    <a:srgbClr val="FFFFFF"/>
                  </a:solidFill>
                </a:uFill>
                <a:latin typeface="Calibri"/>
                <a:ea typeface="MS PGothic"/>
              </a:rPr>
              <a:t>the supply curve is a horizontal line.</a:t>
            </a: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a:p>
            <a:pPr marL="533520" indent="-533160">
              <a:lnSpc>
                <a:spcPct val="100000"/>
              </a:lnSpc>
              <a:buClr>
                <a:srgbClr val="000000"/>
              </a:buClr>
              <a:buFont typeface="Calibri"/>
              <a:buAutoNum type="arabicPeriod" startAt="8"/>
            </a:pPr>
            <a:r>
              <a:rPr lang="id-ID" sz="2500" strike="noStrike" spc="-1">
                <a:solidFill>
                  <a:srgbClr val="000000"/>
                </a:solidFill>
                <a:uFill>
                  <a:solidFill>
                    <a:srgbClr val="FFFFFF"/>
                  </a:solidFill>
                </a:uFill>
                <a:latin typeface="Calibri"/>
                <a:ea typeface="MS PGothic"/>
              </a:rPr>
              <a:t>The price elasticity of supply depends on (1) the availability of resources to expand production, and (2) time. It is higher when inputs are available at relatively low cost and the longer it has been since the price change.</a:t>
            </a:r>
            <a:endParaRPr lang="id-ID" sz="2500" strike="noStrike" spc="-1">
              <a:solidFill>
                <a:srgbClr val="000000"/>
              </a:solidFill>
              <a:uFill>
                <a:solidFill>
                  <a:srgbClr val="FFFFFF"/>
                </a:solidFill>
              </a:uFill>
              <a:latin typeface="Calibri"/>
            </a:endParaRPr>
          </a:p>
          <a:p>
            <a:pPr>
              <a:lnSpc>
                <a:spcPct val="100000"/>
              </a:lnSpc>
            </a:pPr>
            <a:endParaRPr lang="id-ID" sz="2500" strike="noStrike" spc="-1">
              <a:solidFill>
                <a:srgbClr val="000000"/>
              </a:solidFill>
              <a:uFill>
                <a:solidFill>
                  <a:srgbClr val="FFFFFF"/>
                </a:solidFill>
              </a:uFill>
              <a:latin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1" name="TextShape 1"/>
          <p:cNvSpPr txBox="1"/>
          <p:nvPr/>
        </p:nvSpPr>
        <p:spPr>
          <a:xfrm>
            <a:off x="995040" y="1124640"/>
            <a:ext cx="7969320" cy="5421600"/>
          </a:xfrm>
          <a:prstGeom prst="rect">
            <a:avLst/>
          </a:prstGeom>
          <a:noFill/>
          <a:ln>
            <a:noFill/>
          </a:ln>
        </p:spPr>
        <p:txBody>
          <a:bodyPr/>
          <a:lstStyle/>
          <a:p>
            <a:pPr marL="343080" indent="-342720">
              <a:lnSpc>
                <a:spcPct val="100000"/>
              </a:lnSpc>
              <a:buClr>
                <a:srgbClr val="000000"/>
              </a:buClr>
              <a:buFont typeface="Arial"/>
              <a:buChar char="•"/>
            </a:pPr>
            <a:r>
              <a:rPr lang="id-ID" sz="2400" strike="noStrike" spc="-1">
                <a:solidFill>
                  <a:srgbClr val="000000"/>
                </a:solidFill>
                <a:uFill>
                  <a:solidFill>
                    <a:srgbClr val="FFFFFF"/>
                  </a:solidFill>
                </a:uFill>
                <a:latin typeface="Calibri"/>
                <a:ea typeface="MS PGothic"/>
              </a:rPr>
              <a:t>Price elasticity of demand</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400" strike="noStrike" spc="-1">
                <a:solidFill>
                  <a:srgbClr val="000000"/>
                </a:solidFill>
                <a:uFill>
                  <a:solidFill>
                    <a:srgbClr val="FFFFFF"/>
                  </a:solidFill>
                </a:uFill>
                <a:latin typeface="Calibri"/>
                <a:ea typeface="MS PGothic"/>
              </a:rPr>
              <a:t>Midpoint method</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400" strike="noStrike" spc="-1">
                <a:solidFill>
                  <a:srgbClr val="000000"/>
                </a:solidFill>
                <a:uFill>
                  <a:solidFill>
                    <a:srgbClr val="FFFFFF"/>
                  </a:solidFill>
                </a:uFill>
                <a:latin typeface="Calibri"/>
                <a:ea typeface="MS PGothic"/>
              </a:rPr>
              <a:t>Perfectly inelastic demand</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400" strike="noStrike" spc="-1">
                <a:solidFill>
                  <a:srgbClr val="000000"/>
                </a:solidFill>
                <a:uFill>
                  <a:solidFill>
                    <a:srgbClr val="FFFFFF"/>
                  </a:solidFill>
                </a:uFill>
                <a:latin typeface="Calibri"/>
                <a:ea typeface="MS PGothic"/>
              </a:rPr>
              <a:t>Perfectly elastic demand</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400" strike="noStrike" spc="-1">
                <a:solidFill>
                  <a:srgbClr val="000000"/>
                </a:solidFill>
                <a:uFill>
                  <a:solidFill>
                    <a:srgbClr val="FFFFFF"/>
                  </a:solidFill>
                </a:uFill>
                <a:latin typeface="Calibri"/>
                <a:ea typeface="MS PGothic"/>
              </a:rPr>
              <a:t>Elastic demand</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400" strike="noStrike" spc="-1">
                <a:solidFill>
                  <a:srgbClr val="000000"/>
                </a:solidFill>
                <a:uFill>
                  <a:solidFill>
                    <a:srgbClr val="FFFFFF"/>
                  </a:solidFill>
                </a:uFill>
                <a:latin typeface="Calibri"/>
                <a:ea typeface="MS PGothic"/>
              </a:rPr>
              <a:t>Inelastic demand</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400" strike="noStrike" spc="-1">
                <a:solidFill>
                  <a:srgbClr val="000000"/>
                </a:solidFill>
                <a:uFill>
                  <a:solidFill>
                    <a:srgbClr val="FFFFFF"/>
                  </a:solidFill>
                </a:uFill>
                <a:latin typeface="Calibri"/>
                <a:ea typeface="MS PGothic"/>
              </a:rPr>
              <a:t>Unit-elastic demand</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400" strike="noStrike" spc="-1">
                <a:solidFill>
                  <a:srgbClr val="000000"/>
                </a:solidFill>
                <a:uFill>
                  <a:solidFill>
                    <a:srgbClr val="FFFFFF"/>
                  </a:solidFill>
                </a:uFill>
                <a:latin typeface="Calibri"/>
                <a:ea typeface="MS PGothic"/>
              </a:rPr>
              <a:t>Total revenue</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400" strike="noStrike" spc="-1">
                <a:solidFill>
                  <a:srgbClr val="000000"/>
                </a:solidFill>
                <a:uFill>
                  <a:solidFill>
                    <a:srgbClr val="FFFFFF"/>
                  </a:solidFill>
                </a:uFill>
                <a:latin typeface="Calibri"/>
                <a:ea typeface="MS PGothic"/>
              </a:rPr>
              <a:t>Cross-price elasticity of demand</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400" strike="noStrike" spc="-1">
                <a:solidFill>
                  <a:srgbClr val="000000"/>
                </a:solidFill>
                <a:uFill>
                  <a:solidFill>
                    <a:srgbClr val="FFFFFF"/>
                  </a:solidFill>
                </a:uFill>
                <a:latin typeface="Calibri"/>
                <a:ea typeface="MS PGothic"/>
              </a:rPr>
              <a:t>Income elasticity of demand</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400" strike="noStrike" spc="-1">
                <a:solidFill>
                  <a:srgbClr val="000000"/>
                </a:solidFill>
                <a:uFill>
                  <a:solidFill>
                    <a:srgbClr val="FFFFFF"/>
                  </a:solidFill>
                </a:uFill>
                <a:latin typeface="Calibri"/>
                <a:ea typeface="MS PGothic"/>
              </a:rPr>
              <a:t>Income-elastic demand</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400" strike="noStrike" spc="-1">
                <a:solidFill>
                  <a:srgbClr val="000000"/>
                </a:solidFill>
                <a:uFill>
                  <a:solidFill>
                    <a:srgbClr val="FFFFFF"/>
                  </a:solidFill>
                </a:uFill>
                <a:latin typeface="Calibri"/>
                <a:ea typeface="MS PGothic"/>
              </a:rPr>
              <a:t>Income-inelastic demand</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400" strike="noStrike" spc="-1">
                <a:solidFill>
                  <a:srgbClr val="000000"/>
                </a:solidFill>
                <a:uFill>
                  <a:solidFill>
                    <a:srgbClr val="FFFFFF"/>
                  </a:solidFill>
                </a:uFill>
                <a:latin typeface="Calibri"/>
                <a:ea typeface="MS PGothic"/>
              </a:rPr>
              <a:t>Price elasticity of supply</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400" strike="noStrike" spc="-1">
                <a:solidFill>
                  <a:srgbClr val="000000"/>
                </a:solidFill>
                <a:uFill>
                  <a:solidFill>
                    <a:srgbClr val="FFFFFF"/>
                  </a:solidFill>
                </a:uFill>
                <a:latin typeface="Calibri"/>
                <a:ea typeface="MS PGothic"/>
              </a:rPr>
              <a:t>Perfectly inelastic supply</a:t>
            </a:r>
            <a:endParaRPr lang="id-ID" sz="2500" strike="noStrike" spc="-1">
              <a:solidFill>
                <a:srgbClr val="000000"/>
              </a:solidFill>
              <a:uFill>
                <a:solidFill>
                  <a:srgbClr val="FFFFFF"/>
                </a:solidFill>
              </a:uFill>
              <a:latin typeface="Calibri"/>
            </a:endParaRPr>
          </a:p>
          <a:p>
            <a:pPr marL="343080" indent="-342720">
              <a:lnSpc>
                <a:spcPct val="100000"/>
              </a:lnSpc>
              <a:buClr>
                <a:srgbClr val="000000"/>
              </a:buClr>
              <a:buFont typeface="Arial"/>
              <a:buChar char="•"/>
            </a:pPr>
            <a:r>
              <a:rPr lang="id-ID" sz="2400" strike="noStrike" spc="-1">
                <a:solidFill>
                  <a:srgbClr val="000000"/>
                </a:solidFill>
                <a:uFill>
                  <a:solidFill>
                    <a:srgbClr val="FFFFFF"/>
                  </a:solidFill>
                </a:uFill>
                <a:latin typeface="Calibri"/>
                <a:ea typeface="MS PGothic"/>
              </a:rPr>
              <a:t>Perfectly elastic supply</a:t>
            </a:r>
            <a:endParaRPr lang="id-ID" sz="2500" strike="noStrike" spc="-1">
              <a:solidFill>
                <a:srgbClr val="000000"/>
              </a:solidFill>
              <a:uFill>
                <a:solidFill>
                  <a:srgbClr val="FFFFFF"/>
                </a:solidFill>
              </a:uFill>
              <a:latin typeface="Calibri"/>
            </a:endParaRPr>
          </a:p>
        </p:txBody>
      </p:sp>
      <p:sp>
        <p:nvSpPr>
          <p:cNvPr id="1252" name="TextShape 2"/>
          <p:cNvSpPr txBox="1"/>
          <p:nvPr/>
        </p:nvSpPr>
        <p:spPr>
          <a:xfrm>
            <a:off x="1076400" y="39600"/>
            <a:ext cx="8073720" cy="579240"/>
          </a:xfrm>
          <a:prstGeom prst="rect">
            <a:avLst/>
          </a:prstGeom>
          <a:noFill/>
          <a:ln>
            <a:noFill/>
          </a:ln>
        </p:spPr>
        <p:txBody>
          <a:bodyPr anchor="ctr"/>
          <a:lstStyle/>
          <a:p>
            <a:pPr>
              <a:lnSpc>
                <a:spcPct val="100000"/>
              </a:lnSpc>
            </a:pPr>
            <a:r>
              <a:rPr lang="id-ID" sz="3200" b="1" strike="noStrike" spc="-1">
                <a:solidFill>
                  <a:srgbClr val="FFFFFF"/>
                </a:solidFill>
                <a:uFill>
                  <a:solidFill>
                    <a:srgbClr val="FFFFFF"/>
                  </a:solidFill>
                </a:uFill>
                <a:latin typeface="Calibri"/>
                <a:ea typeface="MS PGothic"/>
              </a:rPr>
              <a:t>KEY TERMS</a:t>
            </a:r>
            <a:endParaRPr lang="id-ID" sz="3200" strike="noStrike" spc="-1">
              <a:solidFill>
                <a:srgbClr val="000000"/>
              </a:solidFill>
              <a:uFill>
                <a:solidFill>
                  <a:srgbClr val="FFFFFF"/>
                </a:solidFill>
              </a:uFill>
              <a:latin typeface="Calibri"/>
            </a:endParaRP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 presetClass="entr" fill="hold" nodeType="afterEffect">
                                  <p:stCondLst>
                                    <p:cond delay="0"/>
                                  </p:stCondLst>
                                  <p:childTnLst>
                                    <p:set>
                                      <p:cBhvr>
                                        <p:cTn id="6" dur="1" fill="hold">
                                          <p:stCondLst>
                                            <p:cond delay="499"/>
                                          </p:stCondLst>
                                        </p:cTn>
                                        <p:tgtEl>
                                          <p:spTgt spid="12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4509</TotalTime>
  <Words>3654</Words>
  <Application>Microsoft Macintosh PowerPoint</Application>
  <PresentationFormat>On-screen Show (4:3)</PresentationFormat>
  <Paragraphs>553</Paragraphs>
  <Slides>43</Slides>
  <Notes>33</Notes>
  <HiddenSlides>0</HiddenSlides>
  <MMClips>0</MMClips>
  <ScaleCrop>false</ScaleCrop>
  <HeadingPairs>
    <vt:vector size="6" baseType="variant">
      <vt:variant>
        <vt:lpstr>Fonts Used</vt:lpstr>
      </vt:variant>
      <vt:variant>
        <vt:i4>9</vt:i4>
      </vt:variant>
      <vt:variant>
        <vt:lpstr>Theme</vt:lpstr>
      </vt:variant>
      <vt:variant>
        <vt:i4>6</vt:i4>
      </vt:variant>
      <vt:variant>
        <vt:lpstr>Slide Titles</vt:lpstr>
      </vt:variant>
      <vt:variant>
        <vt:i4>43</vt:i4>
      </vt:variant>
    </vt:vector>
  </HeadingPairs>
  <TitlesOfParts>
    <vt:vector size="58" baseType="lpstr">
      <vt:lpstr>Myriad Roman</vt:lpstr>
      <vt:lpstr>Arial</vt:lpstr>
      <vt:lpstr>Bookman Old Style</vt:lpstr>
      <vt:lpstr>Calibri</vt:lpstr>
      <vt:lpstr>Candara</vt:lpstr>
      <vt:lpstr>Symbol</vt:lpstr>
      <vt:lpstr>Tahoma</vt:lpstr>
      <vt:lpstr>Times New Roman</vt:lpstr>
      <vt:lpstr>Wingdings</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Study of Economics</dc:title>
  <dc:creator>Gideon</dc:creator>
  <cp:lastModifiedBy>Jiaji Li (119010147)</cp:lastModifiedBy>
  <cp:revision>136</cp:revision>
  <dcterms:created xsi:type="dcterms:W3CDTF">2011-11-30T16:12:49Z</dcterms:created>
  <dcterms:modified xsi:type="dcterms:W3CDTF">2020-06-22T05:44:59Z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39</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43</vt:i4>
  </property>
</Properties>
</file>