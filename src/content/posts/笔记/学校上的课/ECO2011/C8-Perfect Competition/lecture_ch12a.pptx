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5" r:id="rId2"/>
    <p:sldMasterId id="2147483730" r:id="rId3"/>
  </p:sldMasterIdLst>
  <p:notesMasterIdLst>
    <p:notesMasterId r:id="rId36"/>
  </p:notesMasterIdLst>
  <p:sldIdLst>
    <p:sldId id="261" r:id="rId4"/>
    <p:sldId id="478" r:id="rId5"/>
    <p:sldId id="479" r:id="rId6"/>
    <p:sldId id="480" r:id="rId7"/>
    <p:sldId id="481" r:id="rId8"/>
    <p:sldId id="482" r:id="rId9"/>
    <p:sldId id="483" r:id="rId10"/>
    <p:sldId id="485" r:id="rId11"/>
    <p:sldId id="486" r:id="rId12"/>
    <p:sldId id="487" r:id="rId13"/>
    <p:sldId id="489" r:id="rId14"/>
    <p:sldId id="490" r:id="rId15"/>
    <p:sldId id="491" r:id="rId16"/>
    <p:sldId id="492" r:id="rId17"/>
    <p:sldId id="493" r:id="rId18"/>
    <p:sldId id="512" r:id="rId19"/>
    <p:sldId id="494" r:id="rId20"/>
    <p:sldId id="495" r:id="rId21"/>
    <p:sldId id="496" r:id="rId22"/>
    <p:sldId id="498" r:id="rId23"/>
    <p:sldId id="499" r:id="rId24"/>
    <p:sldId id="500" r:id="rId25"/>
    <p:sldId id="501" r:id="rId26"/>
    <p:sldId id="502" r:id="rId27"/>
    <p:sldId id="503" r:id="rId28"/>
    <p:sldId id="504" r:id="rId29"/>
    <p:sldId id="505" r:id="rId30"/>
    <p:sldId id="506" r:id="rId31"/>
    <p:sldId id="507" r:id="rId32"/>
    <p:sldId id="509" r:id="rId33"/>
    <p:sldId id="510" r:id="rId34"/>
    <p:sldId id="511" r:id="rId35"/>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91" autoAdjust="0"/>
  </p:normalViewPr>
  <p:slideViewPr>
    <p:cSldViewPr>
      <p:cViewPr varScale="1">
        <p:scale>
          <a:sx n="85" d="100"/>
          <a:sy n="85" d="100"/>
        </p:scale>
        <p:origin x="1046"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184"/>
    </p:cViewPr>
  </p:sorterViewPr>
  <p:notesViewPr>
    <p:cSldViewPr>
      <p:cViewPr varScale="1">
        <p:scale>
          <a:sx n="52" d="100"/>
          <a:sy n="52" d="100"/>
        </p:scale>
        <p:origin x="-2678" y="-86"/>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atin typeface="Calibri" pitchFamily="-112" charset="0"/>
                <a:ea typeface="+mn-ea"/>
              </a:defRPr>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66E438BD-AC38-48C5-9FBA-6022299D679F}" type="datetime1">
              <a:rPr lang="en-US"/>
              <a:pPr>
                <a:defRPr/>
              </a:pPr>
              <a:t>11/11/2015</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atin typeface="Calibri" pitchFamily="-112" charset="0"/>
                <a:ea typeface="+mn-ea"/>
              </a:defRPr>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3519A9F3-0BAA-4C06-997E-D34ED70882E5}" type="slidenum">
              <a:rPr lang="en-US"/>
              <a:pPr>
                <a:defRPr/>
              </a:pPr>
              <a:t>‹#›</a:t>
            </a:fld>
            <a:endParaRPr lang="en-US" dirty="0"/>
          </a:p>
        </p:txBody>
      </p:sp>
    </p:spTree>
    <p:extLst>
      <p:ext uri="{BB962C8B-B14F-4D97-AF65-F5344CB8AC3E}">
        <p14:creationId xmlns:p14="http://schemas.microsoft.com/office/powerpoint/2010/main" val="188173592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
        <p:nvSpPr>
          <p:cNvPr id="286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BCC5486-C115-40E1-8C65-31837BF45D2F}" type="slidenum">
              <a:rPr lang="en-US" sz="1200"/>
              <a:pPr algn="r"/>
              <a:t>1</a:t>
            </a:fld>
            <a:endParaRPr lang="en-US" sz="1200"/>
          </a:p>
        </p:txBody>
      </p:sp>
    </p:spTree>
    <p:extLst>
      <p:ext uri="{BB962C8B-B14F-4D97-AF65-F5344CB8AC3E}">
        <p14:creationId xmlns:p14="http://schemas.microsoft.com/office/powerpoint/2010/main" val="1586130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3072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635E35A-CB95-47ED-A16B-1D363AAECE15}" type="slidenum">
              <a:rPr lang="en-US" sz="1200"/>
              <a:pPr algn="r"/>
              <a:t>2</a:t>
            </a:fld>
            <a:endParaRPr lang="en-US" sz="1200"/>
          </a:p>
        </p:txBody>
      </p:sp>
    </p:spTree>
    <p:extLst>
      <p:ext uri="{BB962C8B-B14F-4D97-AF65-F5344CB8AC3E}">
        <p14:creationId xmlns:p14="http://schemas.microsoft.com/office/powerpoint/2010/main" val="2224528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3277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927CA625-6F4F-4723-985D-A30A43431C33}" type="slidenum">
              <a:rPr lang="en-US" sz="1200">
                <a:latin typeface="Arial" charset="0"/>
                <a:cs typeface="Arial" charset="0"/>
              </a:rPr>
              <a:pPr algn="r"/>
              <a:t>3</a:t>
            </a:fld>
            <a:endParaRPr lang="en-US" sz="1200">
              <a:latin typeface="Arial" charset="0"/>
              <a:cs typeface="Arial" charset="0"/>
            </a:endParaRPr>
          </a:p>
        </p:txBody>
      </p:sp>
    </p:spTree>
    <p:extLst>
      <p:ext uri="{BB962C8B-B14F-4D97-AF65-F5344CB8AC3E}">
        <p14:creationId xmlns:p14="http://schemas.microsoft.com/office/powerpoint/2010/main" val="352118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3481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2A84ECC-5ED1-4AEB-988C-7AEFCEB7300B}" type="slidenum">
              <a:rPr lang="en-US" sz="1200">
                <a:latin typeface="Arial" charset="0"/>
                <a:cs typeface="Arial" charset="0"/>
              </a:rPr>
              <a:pPr algn="r"/>
              <a:t>4</a:t>
            </a:fld>
            <a:endParaRPr lang="en-US" sz="1200">
              <a:latin typeface="Arial" charset="0"/>
              <a:cs typeface="Arial" charset="0"/>
            </a:endParaRPr>
          </a:p>
        </p:txBody>
      </p:sp>
    </p:spTree>
    <p:extLst>
      <p:ext uri="{BB962C8B-B14F-4D97-AF65-F5344CB8AC3E}">
        <p14:creationId xmlns:p14="http://schemas.microsoft.com/office/powerpoint/2010/main" val="222877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368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03715E7-89A6-4137-A718-6D8A658268BB}" type="slidenum">
              <a:rPr lang="en-US" sz="1200">
                <a:latin typeface="Arial" charset="0"/>
                <a:cs typeface="Arial" charset="0"/>
              </a:rPr>
              <a:pPr algn="r"/>
              <a:t>5</a:t>
            </a:fld>
            <a:endParaRPr lang="en-US" sz="1200">
              <a:latin typeface="Arial" charset="0"/>
              <a:cs typeface="Arial" charset="0"/>
            </a:endParaRPr>
          </a:p>
        </p:txBody>
      </p:sp>
    </p:spTree>
    <p:extLst>
      <p:ext uri="{BB962C8B-B14F-4D97-AF65-F5344CB8AC3E}">
        <p14:creationId xmlns:p14="http://schemas.microsoft.com/office/powerpoint/2010/main" val="990561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3891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9278AD79-E834-4A84-8930-055447829681}" type="slidenum">
              <a:rPr lang="en-US" sz="1200">
                <a:latin typeface="Arial" charset="0"/>
                <a:cs typeface="Arial" charset="0"/>
              </a:rPr>
              <a:pPr algn="r"/>
              <a:t>6</a:t>
            </a:fld>
            <a:endParaRPr lang="en-US" sz="1200">
              <a:latin typeface="Arial" charset="0"/>
              <a:cs typeface="Arial" charset="0"/>
            </a:endParaRPr>
          </a:p>
        </p:txBody>
      </p:sp>
    </p:spTree>
    <p:extLst>
      <p:ext uri="{BB962C8B-B14F-4D97-AF65-F5344CB8AC3E}">
        <p14:creationId xmlns:p14="http://schemas.microsoft.com/office/powerpoint/2010/main" val="168415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4096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0578F83-CEE9-443A-99C6-9E322369D1DA}" type="slidenum">
              <a:rPr lang="en-US" sz="1200">
                <a:latin typeface="Arial" charset="0"/>
                <a:cs typeface="Arial" charset="0"/>
              </a:rPr>
              <a:pPr algn="r"/>
              <a:t>7</a:t>
            </a:fld>
            <a:endParaRPr lang="en-US" sz="1200">
              <a:latin typeface="Arial" charset="0"/>
              <a:cs typeface="Arial" charset="0"/>
            </a:endParaRPr>
          </a:p>
        </p:txBody>
      </p:sp>
    </p:spTree>
    <p:extLst>
      <p:ext uri="{BB962C8B-B14F-4D97-AF65-F5344CB8AC3E}">
        <p14:creationId xmlns:p14="http://schemas.microsoft.com/office/powerpoint/2010/main" val="2742152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4301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A8FC719-3155-4387-9E7D-FC9B2563340C}" type="slidenum">
              <a:rPr lang="en-US" sz="1200">
                <a:latin typeface="Arial" charset="0"/>
                <a:cs typeface="Arial" charset="0"/>
              </a:rPr>
              <a:pPr algn="r"/>
              <a:t>8</a:t>
            </a:fld>
            <a:endParaRPr lang="en-US" sz="1200">
              <a:latin typeface="Arial" charset="0"/>
              <a:cs typeface="Arial" charset="0"/>
            </a:endParaRPr>
          </a:p>
        </p:txBody>
      </p:sp>
    </p:spTree>
    <p:extLst>
      <p:ext uri="{BB962C8B-B14F-4D97-AF65-F5344CB8AC3E}">
        <p14:creationId xmlns:p14="http://schemas.microsoft.com/office/powerpoint/2010/main" val="3924786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p:spPr>
      </p:sp>
      <p:sp>
        <p:nvSpPr>
          <p:cNvPr id="4505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4505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D7F7DB6-6E9E-498F-B004-DC02103D6C26}" type="slidenum">
              <a:rPr lang="en-US" sz="1200">
                <a:latin typeface="Arial" charset="0"/>
                <a:cs typeface="Arial" charset="0"/>
              </a:rPr>
              <a:pPr algn="r"/>
              <a:t>9</a:t>
            </a:fld>
            <a:endParaRPr lang="en-US" sz="1200">
              <a:latin typeface="Arial" charset="0"/>
              <a:cs typeface="Arial" charset="0"/>
            </a:endParaRPr>
          </a:p>
        </p:txBody>
      </p:sp>
    </p:spTree>
    <p:extLst>
      <p:ext uri="{BB962C8B-B14F-4D97-AF65-F5344CB8AC3E}">
        <p14:creationId xmlns:p14="http://schemas.microsoft.com/office/powerpoint/2010/main" val="1459549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710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12-1: The Price-Taking Firm’s Profit-Maximizing Quantity of Output</a:t>
            </a:r>
            <a:endParaRPr lang="en-US" smtClean="0">
              <a:latin typeface="Arial" charset="0"/>
              <a:cs typeface="Arial" charset="0"/>
            </a:endParaRPr>
          </a:p>
          <a:p>
            <a:pPr defTabSz="914400">
              <a:spcBef>
                <a:spcPct val="0"/>
              </a:spcBef>
            </a:pPr>
            <a:r>
              <a:rPr lang="en-US" smtClean="0">
                <a:latin typeface="Arial" charset="0"/>
                <a:cs typeface="Arial" charset="0"/>
              </a:rPr>
              <a:t>At the profit-maximizing quantity of output, the market price is equal to marginal cost. It is located at the point where the marginal cost curve crosses the marginal revenue curve, which is a horizontal line at the market price. Here, the profit-maximizing point is at an output of 5 bushels of tomatoes, the output quantity at point E.</a:t>
            </a:r>
          </a:p>
        </p:txBody>
      </p:sp>
    </p:spTree>
    <p:extLst>
      <p:ext uri="{BB962C8B-B14F-4D97-AF65-F5344CB8AC3E}">
        <p14:creationId xmlns:p14="http://schemas.microsoft.com/office/powerpoint/2010/main" val="2846152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p:spPr>
      </p:sp>
      <p:sp>
        <p:nvSpPr>
          <p:cNvPr id="4915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4915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3A97563C-757D-414F-9BE5-A00B36704EB7}" type="slidenum">
              <a:rPr lang="en-US" sz="1200">
                <a:latin typeface="Arial" charset="0"/>
                <a:cs typeface="Arial" charset="0"/>
              </a:rPr>
              <a:pPr algn="r"/>
              <a:t>11</a:t>
            </a:fld>
            <a:endParaRPr lang="en-US" sz="1200">
              <a:latin typeface="Arial" charset="0"/>
              <a:cs typeface="Arial" charset="0"/>
            </a:endParaRPr>
          </a:p>
        </p:txBody>
      </p:sp>
    </p:spTree>
    <p:extLst>
      <p:ext uri="{BB962C8B-B14F-4D97-AF65-F5344CB8AC3E}">
        <p14:creationId xmlns:p14="http://schemas.microsoft.com/office/powerpoint/2010/main" val="2687167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120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12-2: Costs and Production in the Short Run</a:t>
            </a:r>
            <a:endParaRPr lang="en-US" smtClean="0">
              <a:latin typeface="Arial" charset="0"/>
              <a:cs typeface="Arial" charset="0"/>
            </a:endParaRPr>
          </a:p>
          <a:p>
            <a:pPr defTabSz="914400">
              <a:spcBef>
                <a:spcPct val="0"/>
              </a:spcBef>
            </a:pPr>
            <a:r>
              <a:rPr lang="en-US" smtClean="0">
                <a:latin typeface="Arial" charset="0"/>
                <a:cs typeface="Arial" charset="0"/>
              </a:rPr>
              <a:t>This figure shows the marginal cost curve, MC, and the short-run average total cost curve, ATC. When the market price is $14, output will be 4 bushels of tomatoes (the minimum-cost output), represented by point C. The price of $14, equal to the firm’s minimum average total cost, is the firm’s breakeven price.</a:t>
            </a:r>
          </a:p>
        </p:txBody>
      </p:sp>
    </p:spTree>
    <p:extLst>
      <p:ext uri="{BB962C8B-B14F-4D97-AF65-F5344CB8AC3E}">
        <p14:creationId xmlns:p14="http://schemas.microsoft.com/office/powerpoint/2010/main" val="3538740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325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12-3: Profitability and the Market Price</a:t>
            </a:r>
            <a:endParaRPr lang="en-US" smtClean="0">
              <a:latin typeface="Arial" charset="0"/>
              <a:cs typeface="Arial" charset="0"/>
            </a:endParaRPr>
          </a:p>
          <a:p>
            <a:pPr defTabSz="914400">
              <a:spcBef>
                <a:spcPct val="0"/>
              </a:spcBef>
            </a:pPr>
            <a:r>
              <a:rPr lang="en-US" smtClean="0">
                <a:latin typeface="Arial" charset="0"/>
                <a:cs typeface="Arial" charset="0"/>
              </a:rPr>
              <a:t>In panel (a) the market price is $18. The farm is profitable because price exceeds minimum average total cost, the breakeven price, $14. The farm’s optimal output choice is indicated by point E, corresponding to an output of 5 bushels. The average total cost of producing 5 bushels is indicated by point Z on the ATC curve, corresponding to an amount of $14.40. The vertical distance between E and Z corresponds to the farm’s per unit profit, $18.00 −$14.40 =$3.60. Total profit is given by the area of the shaded rectangle, 5 ×$3.60 =$18.00. </a:t>
            </a:r>
          </a:p>
        </p:txBody>
      </p:sp>
    </p:spTree>
    <p:extLst>
      <p:ext uri="{BB962C8B-B14F-4D97-AF65-F5344CB8AC3E}">
        <p14:creationId xmlns:p14="http://schemas.microsoft.com/office/powerpoint/2010/main" val="358136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529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12-3: Profitability and the Market Price</a:t>
            </a:r>
            <a:endParaRPr lang="en-US" smtClean="0">
              <a:latin typeface="Arial" charset="0"/>
              <a:cs typeface="Arial" charset="0"/>
            </a:endParaRPr>
          </a:p>
          <a:p>
            <a:pPr defTabSz="914400">
              <a:spcBef>
                <a:spcPct val="0"/>
              </a:spcBef>
            </a:pPr>
            <a:r>
              <a:rPr lang="en-US" smtClean="0">
                <a:latin typeface="Arial" charset="0"/>
                <a:cs typeface="Arial" charset="0"/>
              </a:rPr>
              <a:t>In panel (b) the market price is $10; the farm is unprofitable because the price falls below the minimum average total cost, $14. The farm’s optimal output choice when producing is indicated by point A, corresponding to an output of three bushels. The farm’s per-unit loss, $14.67 −$10.00 =$4.67, is represented by the vertical distance between A and Y. The farm’s total loss is represented by the shaded rectangle, 3 ×$4.67 = $14.00 (adjusted for rounding error).</a:t>
            </a:r>
          </a:p>
        </p:txBody>
      </p:sp>
    </p:spTree>
    <p:extLst>
      <p:ext uri="{BB962C8B-B14F-4D97-AF65-F5344CB8AC3E}">
        <p14:creationId xmlns:p14="http://schemas.microsoft.com/office/powerpoint/2010/main" val="3129730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5734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A65F8C8C-08C1-4BD8-A4A7-B3BDC410736A}" type="slidenum">
              <a:rPr lang="en-US" sz="1200">
                <a:latin typeface="Arial" charset="0"/>
                <a:cs typeface="Arial" charset="0"/>
              </a:rPr>
              <a:pPr algn="r"/>
              <a:t>15</a:t>
            </a:fld>
            <a:endParaRPr lang="en-US" sz="1200">
              <a:latin typeface="Arial" charset="0"/>
              <a:cs typeface="Arial" charset="0"/>
            </a:endParaRPr>
          </a:p>
        </p:txBody>
      </p:sp>
    </p:spTree>
    <p:extLst>
      <p:ext uri="{BB962C8B-B14F-4D97-AF65-F5344CB8AC3E}">
        <p14:creationId xmlns:p14="http://schemas.microsoft.com/office/powerpoint/2010/main" val="284526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041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12-4: The Short-Run Individual Supply Curve</a:t>
            </a:r>
            <a:endParaRPr lang="en-US" smtClean="0">
              <a:latin typeface="Arial" charset="0"/>
              <a:cs typeface="Arial" charset="0"/>
            </a:endParaRPr>
          </a:p>
          <a:p>
            <a:pPr defTabSz="914400">
              <a:spcBef>
                <a:spcPct val="0"/>
              </a:spcBef>
            </a:pPr>
            <a:r>
              <a:rPr lang="en-US" smtClean="0">
                <a:latin typeface="Arial" charset="0"/>
                <a:cs typeface="Arial" charset="0"/>
              </a:rPr>
              <a:t>When the market price equals or exceeds Jennifer and Jason’s shutdown price of $10, the minimum average variable cost indicated by point A, they will produce the output quantity at which marginal cost is equal to price. So at any price equal to or above the minimum average variable cost, the short-run individual supply curve is the firm’s marginal cost curve; this corresponds to the upward sloping segment of the individual supply curve. When market price falls below minimum average variable cost, the firm ceases operation in the short run. This corresponds to the vertical segment of the individual supply curve along the vertical axis.</a:t>
            </a:r>
          </a:p>
        </p:txBody>
      </p:sp>
    </p:spTree>
    <p:extLst>
      <p:ext uri="{BB962C8B-B14F-4D97-AF65-F5344CB8AC3E}">
        <p14:creationId xmlns:p14="http://schemas.microsoft.com/office/powerpoint/2010/main" val="4196834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624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6D1699CD-FC79-440A-8E67-1787E0FFD5DE}" type="slidenum">
              <a:rPr lang="en-US" sz="1200">
                <a:latin typeface="Arial" charset="0"/>
                <a:cs typeface="Arial" charset="0"/>
              </a:rPr>
              <a:pPr algn="r"/>
              <a:t>18</a:t>
            </a:fld>
            <a:endParaRPr lang="en-US" sz="1200">
              <a:latin typeface="Arial" charset="0"/>
              <a:cs typeface="Arial" charset="0"/>
            </a:endParaRPr>
          </a:p>
        </p:txBody>
      </p:sp>
    </p:spTree>
    <p:extLst>
      <p:ext uri="{BB962C8B-B14F-4D97-AF65-F5344CB8AC3E}">
        <p14:creationId xmlns:p14="http://schemas.microsoft.com/office/powerpoint/2010/main" val="4199983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noTextEdit="1"/>
          </p:cNvSpPr>
          <p:nvPr>
            <p:ph type="sldImg"/>
          </p:nvPr>
        </p:nvSpPr>
        <p:spPr bwMode="auto">
          <a:noFill/>
          <a:ln>
            <a:solidFill>
              <a:srgbClr val="000000"/>
            </a:solidFill>
            <a:miter lim="800000"/>
            <a:headEnd/>
            <a:tailEnd/>
          </a:ln>
        </p:spPr>
      </p:sp>
      <p:sp>
        <p:nvSpPr>
          <p:cNvPr id="6451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6451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94A82932-8E6D-4E63-96A6-0E7D17523B36}" type="slidenum">
              <a:rPr lang="en-US" sz="1200">
                <a:latin typeface="Arial" charset="0"/>
                <a:cs typeface="Arial" charset="0"/>
              </a:rPr>
              <a:pPr algn="r"/>
              <a:t>19</a:t>
            </a:fld>
            <a:endParaRPr lang="en-US" sz="1200">
              <a:latin typeface="Arial" charset="0"/>
              <a:cs typeface="Arial" charset="0"/>
            </a:endParaRPr>
          </a:p>
        </p:txBody>
      </p:sp>
    </p:spTree>
    <p:extLst>
      <p:ext uri="{BB962C8B-B14F-4D97-AF65-F5344CB8AC3E}">
        <p14:creationId xmlns:p14="http://schemas.microsoft.com/office/powerpoint/2010/main" val="2179610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656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12-5: The Short-Run Market Equilibrium</a:t>
            </a:r>
            <a:endParaRPr lang="en-US" smtClean="0">
              <a:latin typeface="Arial" charset="0"/>
              <a:cs typeface="Arial" charset="0"/>
            </a:endParaRPr>
          </a:p>
          <a:p>
            <a:pPr defTabSz="914400">
              <a:spcBef>
                <a:spcPct val="0"/>
              </a:spcBef>
            </a:pPr>
            <a:r>
              <a:rPr lang="en-US" smtClean="0">
                <a:latin typeface="Arial" charset="0"/>
                <a:cs typeface="Arial" charset="0"/>
              </a:rPr>
              <a:t>The short-run industry supply curve, S, is the industry supply curve taking the number of producers—here, 100—as given. It is generated by adding together the individual supply curves of the 100 producers. Below the shut-down price of $10, no producer wants to produce in the short run. Above $10, the short-run industry supply curve slopes upward, as each producer increases output as price increases. It intersects the demand curve, D, at point EMKT, the point of short-run market equilibrium, corresponding to a market price of $18 and a quantity of 500 bushels. </a:t>
            </a:r>
          </a:p>
        </p:txBody>
      </p:sp>
    </p:spTree>
    <p:extLst>
      <p:ext uri="{BB962C8B-B14F-4D97-AF65-F5344CB8AC3E}">
        <p14:creationId xmlns:p14="http://schemas.microsoft.com/office/powerpoint/2010/main" val="1924177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861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12-6: The Long-Run Market Equilibrium</a:t>
            </a:r>
            <a:endParaRPr lang="en-US" smtClean="0">
              <a:latin typeface="Arial" charset="0"/>
              <a:cs typeface="Arial" charset="0"/>
            </a:endParaRPr>
          </a:p>
          <a:p>
            <a:pPr defTabSz="914400">
              <a:spcBef>
                <a:spcPct val="0"/>
              </a:spcBef>
            </a:pPr>
            <a:r>
              <a:rPr lang="en-US" smtClean="0">
                <a:latin typeface="Arial" charset="0"/>
                <a:cs typeface="Arial" charset="0"/>
              </a:rPr>
              <a:t>Point EMKT of panel (a) shows the initial short-run market equilibrium. Each of the 100 existing producers makes an economic profit, illustrated in panel (b) by the green rectangle labeled A, the profit of an existing firm. Profits induce entry by additional producers, shifting the short-run industry supply curve outward from S1 to S2 in panel (a), resulting in a new short-run equilibrium at point DMKT, at a lower market price of $16 and higher industry output. Existing firms reduce output and profit falls to the area given by the striped rectangle labeled B in panel (b). Entry continues to shift out the short-run industry supply curve, as price falls and industry output increases yet again. Entry ceases at point CMKT on supply curve S3 in panel (a). Here market price is equal to the break-even price; existing producers make zero economic profits and there is no incentive for entry or exit. Therefore CMKT is also a long-run market equilibrium. </a:t>
            </a:r>
          </a:p>
        </p:txBody>
      </p:sp>
    </p:spTree>
    <p:extLst>
      <p:ext uri="{BB962C8B-B14F-4D97-AF65-F5344CB8AC3E}">
        <p14:creationId xmlns:p14="http://schemas.microsoft.com/office/powerpoint/2010/main" val="265888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lnSpc>
                <a:spcPct val="90000"/>
              </a:lnSpc>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12-7: The Effect of an Increase in Demand in the Short Run and the Long Run </a:t>
            </a:r>
            <a:endParaRPr lang="en-US" smtClean="0">
              <a:latin typeface="Arial" charset="0"/>
              <a:cs typeface="Arial" charset="0"/>
            </a:endParaRPr>
          </a:p>
          <a:p>
            <a:pPr defTabSz="914400">
              <a:lnSpc>
                <a:spcPct val="90000"/>
              </a:lnSpc>
              <a:spcBef>
                <a:spcPct val="0"/>
              </a:spcBef>
            </a:pPr>
            <a:r>
              <a:rPr lang="en-US" smtClean="0">
                <a:latin typeface="Arial" charset="0"/>
                <a:cs typeface="Arial" charset="0"/>
              </a:rPr>
              <a:t>Panel (b) shows how an industry adjusts in the short and long run to an increase in demand; panels (a) and (c) show the corresponding adjustments by an existing firm. Initially the market is at point XMKT in panel (b), a short-run and long-run equilibrium at a price of $14 and industry output of QX. An existing firm makes zero economic profit, operating at point X in panel (a) at minimum average total cost. Demand increases as D1 shifts rightward to D2, in panel (b), raising the market price to $18. Existing firms increase their output, and industry output moves along the short-run industry supply curve S1 to a short-run equilibrium at YMKT. Correspondingly, the existing firm in panel (a) moves from point X to point Y. But at a price of $18 existing firms are profitable. As shown in panel (b), in the long run new entrants arrive and the short-run industry supply curve shifts rightward, from S1 to S2. There is a new equilibrium at point ZMKT, at a lower price of $14 and higher industry output of QZ. An existing firm responds by moving from Y to Z in panel (c), returning to its initial output level and zero economic profit. Production by new entrants accounts for the total increase in industry output, QZ−QX. Like XMKT, ZMKT is also a short-run and long-run equilibrium: with existing firms earning zero economic profit, there is no incentive for any firms to enter or exit the industry. The horizontal line passing through XMKT and ZMKT, LRS, is the long-run industry supply curve: at the break-even price of $14, producers will produce any amount that consumers demand in the long run. </a:t>
            </a:r>
          </a:p>
          <a:p>
            <a:pPr defTabSz="914400">
              <a:spcBef>
                <a:spcPct val="0"/>
              </a:spcBef>
            </a:pPr>
            <a:endParaRPr lang="en-US" smtClean="0"/>
          </a:p>
        </p:txBody>
      </p:sp>
      <p:sp>
        <p:nvSpPr>
          <p:cNvPr id="7065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54393DB5-34EB-46B6-BC56-6FA94504C101}" type="slidenum">
              <a:rPr lang="en-US" sz="1200"/>
              <a:pPr algn="r"/>
              <a:t>22</a:t>
            </a:fld>
            <a:endParaRPr lang="en-US" sz="1200"/>
          </a:p>
        </p:txBody>
      </p:sp>
    </p:spTree>
    <p:extLst>
      <p:ext uri="{BB962C8B-B14F-4D97-AF65-F5344CB8AC3E}">
        <p14:creationId xmlns:p14="http://schemas.microsoft.com/office/powerpoint/2010/main" val="336055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70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cs typeface="Arial" charset="0"/>
              </a:rPr>
              <a:t>Figure Caption:</a:t>
            </a:r>
            <a:r>
              <a:rPr lang="en-US" b="1" i="1" smtClean="0">
                <a:latin typeface="Arial" charset="0"/>
                <a:cs typeface="Arial" charset="0"/>
              </a:rPr>
              <a:t> </a:t>
            </a:r>
            <a:r>
              <a:rPr lang="en-US" b="1" smtClean="0">
                <a:latin typeface="Arial" charset="0"/>
                <a:cs typeface="Arial" charset="0"/>
              </a:rPr>
              <a:t>Figure 12-8: Comparing the Short-Run and Long-Run Industry Supply Curves</a:t>
            </a:r>
            <a:endParaRPr lang="en-US" smtClean="0">
              <a:latin typeface="Arial" charset="0"/>
              <a:cs typeface="Arial" charset="0"/>
            </a:endParaRPr>
          </a:p>
          <a:p>
            <a:pPr defTabSz="914400">
              <a:spcBef>
                <a:spcPct val="0"/>
              </a:spcBef>
            </a:pPr>
            <a:r>
              <a:rPr lang="en-US" smtClean="0">
                <a:latin typeface="Arial" charset="0"/>
                <a:cs typeface="Arial" charset="0"/>
              </a:rPr>
              <a:t>The long-run industry supply curve may slope upward, but it is always flatter—more elastic—than the short run industry supply curve. This is because of entry and exit: a higher price attracts new entrants in the long run, resulting in a rise in industry output and a fall in price; a lower price induces existing producers to exit in the long run, generating a fall in industry output and a rise in price.</a:t>
            </a:r>
          </a:p>
        </p:txBody>
      </p:sp>
    </p:spTree>
    <p:extLst>
      <p:ext uri="{BB962C8B-B14F-4D97-AF65-F5344CB8AC3E}">
        <p14:creationId xmlns:p14="http://schemas.microsoft.com/office/powerpoint/2010/main" val="2204773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noTextEdit="1"/>
          </p:cNvSpPr>
          <p:nvPr>
            <p:ph type="sldImg"/>
          </p:nvPr>
        </p:nvSpPr>
        <p:spPr bwMode="auto">
          <a:noFill/>
          <a:ln>
            <a:solidFill>
              <a:srgbClr val="000000"/>
            </a:solidFill>
            <a:miter lim="800000"/>
            <a:headEnd/>
            <a:tailEnd/>
          </a:ln>
        </p:spPr>
      </p:sp>
      <p:sp>
        <p:nvSpPr>
          <p:cNvPr id="7475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cs typeface="Arial" charset="0"/>
            </a:endParaRPr>
          </a:p>
        </p:txBody>
      </p:sp>
      <p:sp>
        <p:nvSpPr>
          <p:cNvPr id="7475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77F991B-BF41-4F5B-98F7-6CCD3BB8640F}" type="slidenum">
              <a:rPr lang="en-US" sz="1200">
                <a:latin typeface="Arial" charset="0"/>
                <a:cs typeface="Arial" charset="0"/>
              </a:rPr>
              <a:pPr algn="r"/>
              <a:t>24</a:t>
            </a:fld>
            <a:endParaRPr lang="en-US" sz="1200">
              <a:latin typeface="Arial" charset="0"/>
              <a:cs typeface="Arial" charset="0"/>
            </a:endParaRPr>
          </a:p>
        </p:txBody>
      </p:sp>
    </p:spTree>
    <p:extLst>
      <p:ext uri="{BB962C8B-B14F-4D97-AF65-F5344CB8AC3E}">
        <p14:creationId xmlns:p14="http://schemas.microsoft.com/office/powerpoint/2010/main" val="42882887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7680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8EF873B-8A42-4990-AFC2-4C413F197A47}" type="slidenum">
              <a:rPr lang="en-US" sz="1200"/>
              <a:pPr algn="r"/>
              <a:t>25</a:t>
            </a:fld>
            <a:endParaRPr lang="en-US" sz="1200"/>
          </a:p>
        </p:txBody>
      </p:sp>
    </p:spTree>
    <p:extLst>
      <p:ext uri="{BB962C8B-B14F-4D97-AF65-F5344CB8AC3E}">
        <p14:creationId xmlns:p14="http://schemas.microsoft.com/office/powerpoint/2010/main" val="5853156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noTextEdit="1"/>
          </p:cNvSpPr>
          <p:nvPr>
            <p:ph type="sldImg"/>
          </p:nvPr>
        </p:nvSpPr>
        <p:spPr bwMode="auto">
          <a:noFill/>
          <a:ln>
            <a:solidFill>
              <a:srgbClr val="000000"/>
            </a:solidFill>
            <a:miter lim="800000"/>
            <a:headEnd/>
            <a:tailEnd/>
          </a:ln>
        </p:spPr>
      </p:sp>
      <p:sp>
        <p:nvSpPr>
          <p:cNvPr id="7885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7885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8FA0850-D353-4507-BDC0-4CE1131CE559}" type="slidenum">
              <a:rPr lang="en-US" sz="1200"/>
              <a:pPr algn="r"/>
              <a:t>26</a:t>
            </a:fld>
            <a:endParaRPr lang="en-US" sz="1200"/>
          </a:p>
        </p:txBody>
      </p:sp>
    </p:spTree>
    <p:extLst>
      <p:ext uri="{BB962C8B-B14F-4D97-AF65-F5344CB8AC3E}">
        <p14:creationId xmlns:p14="http://schemas.microsoft.com/office/powerpoint/2010/main" val="20820559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50B5520A-BB0F-4CD8-B398-F3BF7DDAB7CB}" type="datetime1">
              <a:rPr lang="id-ID"/>
              <a:pPr>
                <a:defRPr/>
              </a:pPr>
              <a:t>11/11/2015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4C266EA9-F8E9-4F98-9398-1028282DF18F}"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1AF397DD-157B-4FFC-B2D0-FACD2C8FC79F}" type="datetime1">
              <a:rPr lang="id-ID"/>
              <a:pPr>
                <a:defRPr/>
              </a:pPr>
              <a:t>11/11/2015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5BE05B6D-2914-4800-ABBB-22A65DDDF686}"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A981B17-62AE-4E0B-AA6C-0DA5FD046662}" type="datetime1">
              <a:rPr lang="id-ID"/>
              <a:pPr>
                <a:defRPr/>
              </a:pPr>
              <a:t>11/11/2015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84D669FF-FA00-4DD2-89C1-8320CA2C5306}"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698A4B46-5DD9-4A36-A6BF-D4779A910555}" type="datetime1">
              <a:rPr lang="id-ID"/>
              <a:pPr>
                <a:defRPr/>
              </a:pPr>
              <a:t>11/11/2015</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A6A3CE2C-319E-4526-BA29-D4C5BB3BBAB1}"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44D0BB84-0C64-4D76-831B-7CB3F69943BB}" type="datetime1">
              <a:rPr lang="id-ID"/>
              <a:pPr>
                <a:defRPr/>
              </a:pPr>
              <a:t>11/11/2015</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099A59B8-6B02-45C8-B9BE-4ED0D2AC909E}"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DE0EE04A-65E5-4B1F-816F-87F201ADDA2D}" type="datetime1">
              <a:rPr lang="id-ID"/>
              <a:pPr>
                <a:defRPr/>
              </a:pPr>
              <a:t>11/11/2015</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50756CAD-04AA-41B1-9A9C-B9F26488CDE2}"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94F132D-D9FB-4182-BF22-EEB436D052A7}" type="datetime1">
              <a:rPr lang="id-ID"/>
              <a:pPr>
                <a:defRPr/>
              </a:pPr>
              <a:t>11/11/2015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97CE7496-D646-41EB-9DB1-8A0BB34AB35A}"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4EC6D7E-1343-4C4C-9591-B687E3100395}" type="datetime1">
              <a:rPr lang="id-ID"/>
              <a:pPr>
                <a:defRPr/>
              </a:pPr>
              <a:t>11/11/2015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708AB3A4-FBE0-4556-B625-DB6BF969865D}"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CE4EFF5E-1ECC-4D1B-8D7D-210A396A41B3}" type="datetime1">
              <a:rPr lang="id-ID"/>
              <a:pPr>
                <a:defRPr/>
              </a:pPr>
              <a:t>11/11/2015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59BF8135-4280-4717-8990-BEE6104314DB}"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EC313112-BFD3-4D93-99FC-121A414764B1}" type="datetime1">
              <a:rPr lang="id-ID"/>
              <a:pPr>
                <a:defRPr/>
              </a:pPr>
              <a:t>11/11/2015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0EA0608E-592B-4664-B582-3FC0019A2484}"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17ADC50-C4E1-48AE-B1C0-E73949CEA34A}" type="datetime1">
              <a:rPr lang="id-ID"/>
              <a:pPr>
                <a:defRPr/>
              </a:pPr>
              <a:t>11/11/2015</a:t>
            </a:fld>
            <a:endParaRPr lang="id-ID"/>
          </a:p>
        </p:txBody>
      </p:sp>
      <p:sp>
        <p:nvSpPr>
          <p:cNvPr id="3" name="Footer Placeholder 4"/>
          <p:cNvSpPr>
            <a:spLocks noGrp="1"/>
          </p:cNvSpPr>
          <p:nvPr>
            <p:ph type="ftr" sz="quarter" idx="11"/>
          </p:nvPr>
        </p:nvSpPr>
        <p:spPr/>
        <p:txBody>
          <a:bodyPr/>
          <a:lstStyle>
            <a:lvl1pPr>
              <a:defRPr/>
            </a:lvl1pPr>
          </a:lstStyle>
          <a:p>
            <a:pPr>
              <a:defRPr/>
            </a:pPr>
            <a:endParaRPr lang="id-ID"/>
          </a:p>
        </p:txBody>
      </p:sp>
      <p:sp>
        <p:nvSpPr>
          <p:cNvPr id="4" name="Slide Number Placeholder 5"/>
          <p:cNvSpPr>
            <a:spLocks noGrp="1"/>
          </p:cNvSpPr>
          <p:nvPr>
            <p:ph type="sldNum" sz="quarter" idx="12"/>
          </p:nvPr>
        </p:nvSpPr>
        <p:spPr/>
        <p:txBody>
          <a:bodyPr/>
          <a:lstStyle>
            <a:lvl1pPr>
              <a:defRPr/>
            </a:lvl1pPr>
          </a:lstStyle>
          <a:p>
            <a:pPr>
              <a:defRPr/>
            </a:pPr>
            <a:fld id="{EE791ED9-09AC-4139-B572-C4908EA288D6}"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40376F18-0762-4727-A2C5-B06ED9F31AB0}" type="slidenum">
              <a:rPr lang="id-ID"/>
              <a:pPr>
                <a:defRPr/>
              </a:pPr>
              <a:t>‹#›</a:t>
            </a:fld>
            <a:endParaRPr lang="id-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2FEAD064-0E88-4DB9-B2BC-AE236A1209FB}" type="slidenum">
              <a:rPr lang="id-ID"/>
              <a:pPr>
                <a:defRPr/>
              </a:pPr>
              <a:t>‹#›</a:t>
            </a:fld>
            <a:endParaRPr lang="id-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BC1E7A8D-F3E7-4147-9B55-C1C3D161D5F5}" type="slidenum">
              <a:rPr lang="id-ID"/>
              <a:pPr>
                <a:defRPr/>
              </a:pPr>
              <a:t>‹#›</a:t>
            </a:fld>
            <a:endParaRPr lang="id-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72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8DCB43AB-524D-4B3C-B766-673249140C60}" type="slidenum">
              <a:rPr lang="id-ID"/>
              <a:pPr>
                <a:defRPr/>
              </a:pPr>
              <a:t>‹#›</a:t>
            </a:fld>
            <a:endParaRPr lang="id-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8" name="Footer Placeholder 5"/>
          <p:cNvSpPr>
            <a:spLocks noGrp="1"/>
          </p:cNvSpPr>
          <p:nvPr>
            <p:ph type="ftr" sz="quarter" idx="11"/>
          </p:nvPr>
        </p:nvSpPr>
        <p:spPr/>
        <p:txBody>
          <a:bodyPr/>
          <a:lstStyle>
            <a:lvl1pPr>
              <a:defRPr/>
            </a:lvl1pPr>
          </a:lstStyle>
          <a:p>
            <a:pPr>
              <a:defRPr/>
            </a:pPr>
            <a:endParaRPr lang="id-ID"/>
          </a:p>
        </p:txBody>
      </p:sp>
      <p:sp>
        <p:nvSpPr>
          <p:cNvPr id="9" name="Slide Number Placeholder 6"/>
          <p:cNvSpPr>
            <a:spLocks noGrp="1"/>
          </p:cNvSpPr>
          <p:nvPr>
            <p:ph type="sldNum" sz="quarter" idx="12"/>
          </p:nvPr>
        </p:nvSpPr>
        <p:spPr/>
        <p:txBody>
          <a:bodyPr/>
          <a:lstStyle>
            <a:lvl1pPr>
              <a:defRPr/>
            </a:lvl1pPr>
          </a:lstStyle>
          <a:p>
            <a:pPr>
              <a:defRPr/>
            </a:pPr>
            <a:fld id="{8900C0A8-F6A3-4E67-BD97-0A2AE749A40A}" type="slidenum">
              <a:rPr lang="id-ID"/>
              <a:pPr>
                <a:defRPr/>
              </a:pPr>
              <a:t>‹#›</a:t>
            </a:fld>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4" name="Footer Placeholder 5"/>
          <p:cNvSpPr>
            <a:spLocks noGrp="1"/>
          </p:cNvSpPr>
          <p:nvPr>
            <p:ph type="ftr" sz="quarter" idx="11"/>
          </p:nvPr>
        </p:nvSpPr>
        <p:spPr/>
        <p:txBody>
          <a:bodyPr/>
          <a:lstStyle>
            <a:lvl1pPr>
              <a:defRPr/>
            </a:lvl1pPr>
          </a:lstStyle>
          <a:p>
            <a:pPr>
              <a:defRPr/>
            </a:pPr>
            <a:endParaRPr lang="id-ID"/>
          </a:p>
        </p:txBody>
      </p:sp>
      <p:sp>
        <p:nvSpPr>
          <p:cNvPr id="5" name="Slide Number Placeholder 6"/>
          <p:cNvSpPr>
            <a:spLocks noGrp="1"/>
          </p:cNvSpPr>
          <p:nvPr>
            <p:ph type="sldNum" sz="quarter" idx="12"/>
          </p:nvPr>
        </p:nvSpPr>
        <p:spPr/>
        <p:txBody>
          <a:bodyPr/>
          <a:lstStyle>
            <a:lvl1pPr>
              <a:defRPr/>
            </a:lvl1pPr>
          </a:lstStyle>
          <a:p>
            <a:pPr>
              <a:defRPr/>
            </a:pPr>
            <a:fld id="{47AD8F75-F3BC-4E3F-9559-0EB1EC4A7480}" type="slidenum">
              <a:rPr lang="id-ID"/>
              <a:pPr>
                <a:defRPr/>
              </a:pPr>
              <a:t>‹#›</a:t>
            </a:fld>
            <a:endParaRPr lang="id-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3" name="Footer Placeholder 5"/>
          <p:cNvSpPr>
            <a:spLocks noGrp="1"/>
          </p:cNvSpPr>
          <p:nvPr>
            <p:ph type="ftr" sz="quarter" idx="11"/>
          </p:nvPr>
        </p:nvSpPr>
        <p:spPr/>
        <p:txBody>
          <a:bodyPr/>
          <a:lstStyle>
            <a:lvl1pPr>
              <a:defRPr/>
            </a:lvl1pPr>
          </a:lstStyle>
          <a:p>
            <a:pPr>
              <a:defRPr/>
            </a:pPr>
            <a:endParaRPr lang="id-ID"/>
          </a:p>
        </p:txBody>
      </p:sp>
      <p:sp>
        <p:nvSpPr>
          <p:cNvPr id="4" name="Slide Number Placeholder 6"/>
          <p:cNvSpPr>
            <a:spLocks noGrp="1"/>
          </p:cNvSpPr>
          <p:nvPr>
            <p:ph type="sldNum" sz="quarter" idx="12"/>
          </p:nvPr>
        </p:nvSpPr>
        <p:spPr/>
        <p:txBody>
          <a:bodyPr/>
          <a:lstStyle>
            <a:lvl1pPr>
              <a:defRPr/>
            </a:lvl1pPr>
          </a:lstStyle>
          <a:p>
            <a:pPr>
              <a:defRPr/>
            </a:pPr>
            <a:fld id="{4CAE85CE-9CBF-4A16-BA7F-A64F9E55E410}" type="slidenum">
              <a:rPr lang="id-ID"/>
              <a:pPr>
                <a:defRPr/>
              </a:pPr>
              <a:t>‹#›</a:t>
            </a:fld>
            <a:endParaRPr lang="id-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1C257E32-8086-4D1D-A9FA-B3FD14FBF086}" type="slidenum">
              <a:rPr lang="id-ID"/>
              <a:pPr>
                <a:defRPr/>
              </a:pPr>
              <a:t>‹#›</a:t>
            </a:fld>
            <a:endParaRPr lang="id-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BA5D8F33-20F7-4315-9031-BDAC4860EA42}" type="slidenum">
              <a:rPr lang="id-ID"/>
              <a:pPr>
                <a:defRPr/>
              </a:pPr>
              <a:t>‹#›</a:t>
            </a:fld>
            <a:endParaRPr lang="id-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F1EA0C21-8AB9-4ABF-A915-CC5EF0603585}" type="slidenum">
              <a:rPr lang="id-ID"/>
              <a:pPr>
                <a:defRPr/>
              </a:pPr>
              <a:t>‹#›</a:t>
            </a:fld>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7075" y="60325"/>
            <a:ext cx="2073275" cy="6065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7250" y="60325"/>
            <a:ext cx="6067425" cy="6065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11/11/2015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B603E92F-DD4B-4A73-BB97-6CD75E74FEB9}"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611188" y="692150"/>
            <a:ext cx="8424862" cy="554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E00520DC-F73F-406C-B5F5-80AE7328DBF8}" type="datetime1">
              <a:rPr lang="id-ID"/>
              <a:pPr>
                <a:defRPr/>
              </a:pPr>
              <a:t>11/11/2015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E4A1335-8895-41D1-BBE9-46FE48889A08}" type="slidenum">
              <a:rPr lang="id-ID"/>
              <a:pPr>
                <a:defRPr/>
              </a:pPr>
              <a:t>‹#›</a:t>
            </a:fld>
            <a:endParaRPr lang="id-ID"/>
          </a:p>
        </p:txBody>
      </p:sp>
      <p:sp>
        <p:nvSpPr>
          <p:cNvPr id="1031"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181A8881-1B94-4BE3-AC10-A3ED3B712B7D}"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53" r:id="rId1"/>
    <p:sldLayoutId id="2147483734" r:id="rId2"/>
    <p:sldLayoutId id="2147483735" r:id="rId3"/>
    <p:sldLayoutId id="2147483736" r:id="rId4"/>
    <p:sldLayoutId id="2147483754" r:id="rId5"/>
    <p:sldLayoutId id="2147483755" r:id="rId6"/>
    <p:sldLayoutId id="2147483737" r:id="rId7"/>
    <p:sldLayoutId id="2147483738" r:id="rId8"/>
    <p:sldLayoutId id="2147483739" r:id="rId9"/>
    <p:sldLayoutId id="2147483740" r:id="rId10"/>
    <p:sldLayoutId id="2147483741"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3315" name="Text Placeholder 2"/>
          <p:cNvSpPr>
            <a:spLocks noGrp="1"/>
          </p:cNvSpPr>
          <p:nvPr>
            <p:ph type="body" idx="1"/>
          </p:nvPr>
        </p:nvSpPr>
        <p:spPr bwMode="auto">
          <a:xfrm>
            <a:off x="611188" y="692150"/>
            <a:ext cx="8424862" cy="5505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11/11/2015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D812D0AC-90FB-461F-8C18-035A1FCE4DD8}" type="slidenum">
              <a:rPr lang="id-ID"/>
              <a:pPr>
                <a:defRPr/>
              </a:pPr>
              <a:t>‹#›</a:t>
            </a:fld>
            <a:endParaRPr lang="id-ID"/>
          </a:p>
        </p:txBody>
      </p:sp>
      <p:sp>
        <p:nvSpPr>
          <p:cNvPr id="14343"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F5201D8A-A590-47C9-AB78-5D7CFC217D7B}"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1071563" y="60325"/>
            <a:ext cx="8078787" cy="5556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id-ID" smtClean="0"/>
          </a:p>
        </p:txBody>
      </p:sp>
      <p:sp>
        <p:nvSpPr>
          <p:cNvPr id="14339"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7" name="Date Placeholder 4"/>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sz="1200">
                <a:solidFill>
                  <a:prstClr val="black">
                    <a:tint val="75000"/>
                  </a:prstClr>
                </a:solidFill>
              </a:defRPr>
            </a:lvl1pPr>
          </a:lstStyle>
          <a:p>
            <a:pPr>
              <a:defRPr/>
            </a:pPr>
            <a:fld id="{6850F96E-6F6D-4D0D-972E-D998A0AAFE20}" type="datetimeFigureOut">
              <a:rPr lang="id-ID"/>
              <a:pPr>
                <a:defRPr/>
              </a:pPr>
              <a:t>11/11/2015</a:t>
            </a:fld>
            <a:endParaRPr lang="id-ID"/>
          </a:p>
        </p:txBody>
      </p:sp>
      <p:sp>
        <p:nvSpPr>
          <p:cNvPr id="8" name="Footer Placeholder 5"/>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prstClr val="black">
                    <a:tint val="75000"/>
                  </a:prstClr>
                </a:solidFill>
              </a:defRPr>
            </a:lvl1pPr>
          </a:lstStyle>
          <a:p>
            <a:pPr>
              <a:defRPr/>
            </a:pPr>
            <a:endParaRPr lang="id-ID"/>
          </a:p>
        </p:txBody>
      </p:sp>
      <p:sp>
        <p:nvSpPr>
          <p:cNvPr id="9" name="Slide Number Placeholder 6"/>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prstClr val="black">
                    <a:tint val="75000"/>
                  </a:prstClr>
                </a:solidFill>
              </a:defRPr>
            </a:lvl1pPr>
          </a:lstStyle>
          <a:p>
            <a:pPr>
              <a:defRPr/>
            </a:pPr>
            <a:fld id="{63528BD1-3D68-405B-8839-FAD551694E68}"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2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ü"/>
        <a:defRPr sz="2000">
          <a:solidFill>
            <a:schemeClr val="tx1"/>
          </a:solidFill>
          <a:latin typeface="+mn-lt"/>
        </a:defRPr>
      </a:lvl3pPr>
      <a:lvl4pPr marL="1600200" indent="-228600" algn="l" rtl="0" eaLnBrk="0" fontAlgn="base" hangingPunct="0">
        <a:spcBef>
          <a:spcPct val="20000"/>
        </a:spcBef>
        <a:spcAft>
          <a:spcPct val="0"/>
        </a:spcAft>
        <a:buFont typeface="Arial" charset="0"/>
        <a:buChar char="–"/>
        <a:defRPr>
          <a:solidFill>
            <a:schemeClr val="tx1"/>
          </a:solidFill>
          <a:latin typeface="+mn-lt"/>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defRPr>
      </a:lvl5pPr>
      <a:lvl6pPr marL="2514600" indent="-228600" algn="l" rtl="0" fontAlgn="base">
        <a:spcBef>
          <a:spcPct val="20000"/>
        </a:spcBef>
        <a:spcAft>
          <a:spcPct val="0"/>
        </a:spcAft>
        <a:buFont typeface="Arial" charset="0"/>
        <a:buChar char="»"/>
        <a:defRPr sz="1600">
          <a:solidFill>
            <a:schemeClr val="tx1"/>
          </a:solidFill>
          <a:latin typeface="+mn-lt"/>
        </a:defRPr>
      </a:lvl6pPr>
      <a:lvl7pPr marL="2971800" indent="-228600" algn="l" rtl="0" fontAlgn="base">
        <a:spcBef>
          <a:spcPct val="20000"/>
        </a:spcBef>
        <a:spcAft>
          <a:spcPct val="0"/>
        </a:spcAft>
        <a:buFont typeface="Arial" charset="0"/>
        <a:buChar char="»"/>
        <a:defRPr sz="1600">
          <a:solidFill>
            <a:schemeClr val="tx1"/>
          </a:solidFill>
          <a:latin typeface="+mn-lt"/>
        </a:defRPr>
      </a:lvl7pPr>
      <a:lvl8pPr marL="3429000" indent="-228600" algn="l" rtl="0" fontAlgn="base">
        <a:spcBef>
          <a:spcPct val="20000"/>
        </a:spcBef>
        <a:spcAft>
          <a:spcPct val="0"/>
        </a:spcAft>
        <a:buFont typeface="Arial" charset="0"/>
        <a:buChar char="»"/>
        <a:defRPr sz="1600">
          <a:solidFill>
            <a:schemeClr val="tx1"/>
          </a:solidFill>
          <a:latin typeface="+mn-lt"/>
        </a:defRPr>
      </a:lvl8pPr>
      <a:lvl9pPr marL="3886200" indent="-228600" algn="l" rtl="0" fontAlgn="base">
        <a:spcBef>
          <a:spcPct val="20000"/>
        </a:spcBef>
        <a:spcAft>
          <a:spcPct val="0"/>
        </a:spcAft>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p:cNvSpPr>
            <a:spLocks noGrp="1"/>
          </p:cNvSpPr>
          <p:nvPr>
            <p:ph type="ctrTitle"/>
          </p:nvPr>
        </p:nvSpPr>
        <p:spPr>
          <a:xfrm>
            <a:off x="1798638" y="4221163"/>
            <a:ext cx="7237412" cy="1927225"/>
          </a:xfrm>
        </p:spPr>
        <p:txBody>
          <a:bodyPr/>
          <a:lstStyle/>
          <a:p>
            <a:pPr>
              <a:defRPr/>
            </a:pPr>
            <a:r>
              <a:rPr lang="en-US" sz="3200" smtClean="0">
                <a:effectLst>
                  <a:outerShdw blurRad="38100" dist="38100" dir="2700000" algn="tl">
                    <a:srgbClr val="C0C0C0"/>
                  </a:outerShdw>
                </a:effectLst>
              </a:rPr>
              <a:t/>
            </a:r>
            <a:br>
              <a:rPr lang="en-US" sz="3200" smtClean="0">
                <a:effectLst>
                  <a:outerShdw blurRad="38100" dist="38100" dir="2700000" algn="tl">
                    <a:srgbClr val="C0C0C0"/>
                  </a:outerShdw>
                </a:effectLst>
              </a:rPr>
            </a:br>
            <a:r>
              <a:rPr lang="en-US" sz="3200" smtClean="0">
                <a:effectLst>
                  <a:outerShdw blurRad="38100" dist="38100" dir="2700000" algn="tl">
                    <a:srgbClr val="C0C0C0"/>
                  </a:outerShdw>
                </a:effectLst>
              </a:rPr>
              <a:t>Chapter 12</a:t>
            </a:r>
            <a:br>
              <a:rPr lang="en-US" sz="3200" smtClean="0">
                <a:effectLst>
                  <a:outerShdw blurRad="38100" dist="38100" dir="2700000" algn="tl">
                    <a:srgbClr val="C0C0C0"/>
                  </a:outerShdw>
                </a:effectLst>
              </a:rPr>
            </a:br>
            <a:r>
              <a:rPr lang="en-US" sz="3200" b="0" smtClean="0">
                <a:effectLst>
                  <a:outerShdw blurRad="38100" dist="38100" dir="2700000" algn="tl">
                    <a:srgbClr val="C0C0C0"/>
                  </a:outerShdw>
                </a:effectLst>
              </a:rPr>
              <a:t>Perfect Competition and the Supply Curve</a:t>
            </a:r>
            <a:r>
              <a:rPr lang="id-ID" sz="3200" b="0" smtClean="0">
                <a:effectLst>
                  <a:outerShdw blurRad="38100" dist="38100" dir="2700000" algn="tl">
                    <a:srgbClr val="C0C0C0"/>
                  </a:outerShdw>
                </a:effectLst>
              </a:rPr>
              <a:t/>
            </a:r>
            <a:br>
              <a:rPr lang="id-ID" sz="3200" b="0" smtClean="0">
                <a:effectLst>
                  <a:outerShdw blurRad="38100" dist="38100" dir="2700000" algn="tl">
                    <a:srgbClr val="C0C0C0"/>
                  </a:outerShdw>
                </a:effectLst>
              </a:rPr>
            </a:br>
            <a:endParaRPr lang="en-US" sz="3200" b="0" smtClean="0">
              <a:effectLst>
                <a:outerShdw blurRad="38100" dist="38100" dir="2700000" algn="tl">
                  <a:srgbClr val="C0C0C0"/>
                </a:outerShdw>
              </a:effectLst>
            </a:endParaRPr>
          </a:p>
        </p:txBody>
      </p:sp>
      <p:sp>
        <p:nvSpPr>
          <p:cNvPr id="27650" name="Text Box 8"/>
          <p:cNvSpPr txBox="1">
            <a:spLocks noChangeArrowheads="1"/>
          </p:cNvSpPr>
          <p:nvPr/>
        </p:nvSpPr>
        <p:spPr bwMode="auto">
          <a:xfrm>
            <a:off x="0" y="2438400"/>
            <a:ext cx="914400" cy="758825"/>
          </a:xfrm>
          <a:prstGeom prst="rect">
            <a:avLst/>
          </a:prstGeom>
          <a:noFill/>
          <a:ln w="9525">
            <a:noFill/>
            <a:miter lim="800000"/>
            <a:headEnd/>
            <a:tailEnd type="none" w="med" len="lg"/>
          </a:ln>
        </p:spPr>
        <p:txBody>
          <a:bodyPr anchor="ctr" anchorCtr="1"/>
          <a:lstStyle/>
          <a:p>
            <a:pPr marL="1588" indent="-1588" algn="ctr"/>
            <a:r>
              <a:rPr lang="en-US" sz="4000" b="1">
                <a:solidFill>
                  <a:srgbClr val="993366"/>
                </a:solidFill>
                <a:latin typeface="Bookman Old Style" pitchFamily="18" charset="0"/>
              </a:rPr>
              <a:t>&gt;&gt;</a:t>
            </a:r>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4"/>
          <p:cNvSpPr>
            <a:spLocks noGrp="1"/>
          </p:cNvSpPr>
          <p:nvPr>
            <p:ph sz="half" idx="4294967295"/>
          </p:nvPr>
        </p:nvSpPr>
        <p:spPr>
          <a:xfrm>
            <a:off x="3286125" y="428625"/>
            <a:ext cx="5572125" cy="5857875"/>
          </a:xfrm>
        </p:spPr>
        <p:txBody>
          <a:bodyPr/>
          <a:lstStyle/>
          <a:p>
            <a:r>
              <a:rPr lang="en-US" smtClean="0"/>
              <a:t>What a perfectly competitive market is and the characteristics of a perfectly competitive industry</a:t>
            </a:r>
          </a:p>
          <a:p>
            <a:r>
              <a:rPr lang="en-US" smtClean="0"/>
              <a:t>How a price-taking producer determines its profit-maximizing quantity of output</a:t>
            </a:r>
          </a:p>
          <a:p>
            <a:r>
              <a:rPr lang="en-US" smtClean="0"/>
              <a:t>How to assess whether a producer is profitable and why an unprofitable producer may continue to operate in the short run</a:t>
            </a:r>
          </a:p>
          <a:p>
            <a:r>
              <a:rPr lang="en-US" smtClean="0"/>
              <a:t>Why industries behave differently in the short run than in the long run</a:t>
            </a:r>
          </a:p>
          <a:p>
            <a:r>
              <a:rPr lang="en-US" smtClean="0"/>
              <a:t>What determines the industry supply curve in both the short run and the long run</a:t>
            </a:r>
          </a:p>
          <a:p>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rrowheads="1"/>
          </p:cNvSpPr>
          <p:nvPr>
            <p:ph type="title" idx="4294967295"/>
          </p:nvPr>
        </p:nvSpPr>
        <p:spPr>
          <a:xfrm>
            <a:off x="900113" y="76200"/>
            <a:ext cx="7993062" cy="609600"/>
          </a:xfrm>
        </p:spPr>
        <p:txBody>
          <a:bodyPr/>
          <a:lstStyle/>
          <a:p>
            <a:pPr>
              <a:defRPr/>
            </a:pPr>
            <a:r>
              <a:rPr lang="en-US" dirty="0" smtClean="0"/>
              <a:t>Perfect Competition</a:t>
            </a:r>
          </a:p>
        </p:txBody>
      </p:sp>
      <p:sp>
        <p:nvSpPr>
          <p:cNvPr id="31746" name="Rectangle 3"/>
          <p:cNvSpPr>
            <a:spLocks noGrp="1" noChangeArrowheads="1"/>
          </p:cNvSpPr>
          <p:nvPr>
            <p:ph idx="4294967295"/>
          </p:nvPr>
        </p:nvSpPr>
        <p:spPr>
          <a:xfrm>
            <a:off x="971550" y="952500"/>
            <a:ext cx="7921625" cy="5429250"/>
          </a:xfrm>
        </p:spPr>
        <p:txBody>
          <a:bodyPr/>
          <a:lstStyle/>
          <a:p>
            <a:pPr marL="230188" indent="-230188"/>
            <a:r>
              <a:rPr lang="en-US" smtClean="0"/>
              <a:t>A </a:t>
            </a:r>
            <a:r>
              <a:rPr lang="en-US" b="1" smtClean="0"/>
              <a:t>price-taking producer </a:t>
            </a:r>
            <a:r>
              <a:rPr lang="en-US" smtClean="0"/>
              <a:t>is a producer whose actions have no effect on the market price of the good it sells.</a:t>
            </a:r>
            <a:br>
              <a:rPr lang="en-US" smtClean="0"/>
            </a:br>
            <a:endParaRPr lang="en-US" smtClean="0"/>
          </a:p>
          <a:p>
            <a:pPr marL="230188" indent="-230188"/>
            <a:r>
              <a:rPr lang="en-US" smtClean="0"/>
              <a:t>A </a:t>
            </a:r>
            <a:r>
              <a:rPr lang="en-US" b="1" smtClean="0"/>
              <a:t>price-taking consumer </a:t>
            </a:r>
            <a:r>
              <a:rPr lang="en-US" smtClean="0"/>
              <a:t>is a consumer whose actions have no effect on the market price of the good he or she buys.</a:t>
            </a:r>
            <a:br>
              <a:rPr lang="en-US" smtClean="0"/>
            </a:br>
            <a:endParaRPr lang="en-US" smtClean="0"/>
          </a:p>
          <a:p>
            <a:pPr marL="230188" indent="-230188"/>
            <a:r>
              <a:rPr lang="en-US" smtClean="0"/>
              <a:t>A </a:t>
            </a:r>
            <a:r>
              <a:rPr lang="en-US" b="1" smtClean="0"/>
              <a:t>perfectly competitive market </a:t>
            </a:r>
            <a:r>
              <a:rPr lang="en-US" smtClean="0"/>
              <a:t>is a market in which all market participants are price-takers.</a:t>
            </a:r>
            <a:br>
              <a:rPr lang="en-US" smtClean="0"/>
            </a:br>
            <a:endParaRPr lang="en-US" smtClean="0"/>
          </a:p>
          <a:p>
            <a:pPr marL="230188" indent="-230188"/>
            <a:r>
              <a:rPr lang="en-US" smtClean="0"/>
              <a:t>A </a:t>
            </a:r>
            <a:r>
              <a:rPr lang="en-US" b="1" smtClean="0"/>
              <a:t>perfectly competitive industry </a:t>
            </a:r>
            <a:r>
              <a:rPr lang="en-US" smtClean="0"/>
              <a:t>is an industry in which producers are price-takers.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Rot="1" noChangeArrowheads="1"/>
          </p:cNvSpPr>
          <p:nvPr>
            <p:ph type="title" idx="4294967295"/>
          </p:nvPr>
        </p:nvSpPr>
        <p:spPr>
          <a:xfrm>
            <a:off x="900113" y="76200"/>
            <a:ext cx="8064500" cy="609600"/>
          </a:xfrm>
        </p:spPr>
        <p:txBody>
          <a:bodyPr/>
          <a:lstStyle/>
          <a:p>
            <a:pPr>
              <a:tabLst>
                <a:tab pos="3943350" algn="l"/>
              </a:tabLst>
              <a:defRPr/>
            </a:pPr>
            <a:r>
              <a:rPr lang="en-US" sz="2800" dirty="0" smtClean="0"/>
              <a:t>Two Necessary Conditions for Perfect Competition</a:t>
            </a:r>
            <a:endParaRPr lang="en-US" sz="2800" b="0" dirty="0" smtClean="0"/>
          </a:p>
        </p:txBody>
      </p:sp>
      <p:sp>
        <p:nvSpPr>
          <p:cNvPr id="23555" name="Rectangle 3"/>
          <p:cNvSpPr>
            <a:spLocks noGrp="1" noChangeArrowheads="1"/>
          </p:cNvSpPr>
          <p:nvPr>
            <p:ph idx="4294967295"/>
          </p:nvPr>
        </p:nvSpPr>
        <p:spPr>
          <a:xfrm>
            <a:off x="971550" y="974725"/>
            <a:ext cx="7921625" cy="5334000"/>
          </a:xfrm>
        </p:spPr>
        <p:txBody>
          <a:bodyPr/>
          <a:lstStyle/>
          <a:p>
            <a:pPr marL="461963" indent="-447675">
              <a:buFont typeface="Wingdings" pitchFamily="2" charset="2"/>
              <a:buNone/>
            </a:pPr>
            <a:r>
              <a:rPr lang="en-US" b="1" smtClean="0"/>
              <a:t>1.</a:t>
            </a:r>
            <a:r>
              <a:rPr lang="en-US" smtClean="0"/>
              <a:t> For an industry to be perfectly competitive, it must contain many producers, none of whom have a large </a:t>
            </a:r>
            <a:r>
              <a:rPr lang="en-US" b="1" smtClean="0"/>
              <a:t>market share</a:t>
            </a:r>
            <a:r>
              <a:rPr lang="en-US" smtClean="0"/>
              <a:t>.</a:t>
            </a:r>
          </a:p>
          <a:p>
            <a:pPr marL="1025525" lvl="1" indent="-222250"/>
            <a:r>
              <a:rPr lang="en-US" smtClean="0"/>
              <a:t>A producer’s </a:t>
            </a:r>
            <a:r>
              <a:rPr lang="en-US" b="1" smtClean="0"/>
              <a:t>market share </a:t>
            </a:r>
            <a:r>
              <a:rPr lang="en-US" smtClean="0"/>
              <a:t>is the fraction of the total industry output accounted for by that producer’s output.</a:t>
            </a:r>
          </a:p>
          <a:p>
            <a:pPr marL="1025525" lvl="1" indent="-222250">
              <a:buFont typeface="Wingdings" pitchFamily="2" charset="2"/>
              <a:buNone/>
            </a:pPr>
            <a:endParaRPr lang="en-US" sz="1800" smtClean="0"/>
          </a:p>
          <a:p>
            <a:pPr marL="461963" indent="-447675">
              <a:buFont typeface="Wingdings" pitchFamily="2" charset="2"/>
              <a:buNone/>
            </a:pPr>
            <a:r>
              <a:rPr lang="en-US" b="1" smtClean="0"/>
              <a:t>2. </a:t>
            </a:r>
            <a:r>
              <a:rPr lang="en-US" smtClean="0"/>
              <a:t> An industry can be perfectly competitive only if consumers regard the products of all producers as equivalent.</a:t>
            </a:r>
          </a:p>
          <a:p>
            <a:pPr marL="1025525" lvl="1" indent="-222250"/>
            <a:r>
              <a:rPr lang="en-US" smtClean="0"/>
              <a:t>A good is a </a:t>
            </a:r>
            <a:r>
              <a:rPr lang="en-US" b="1" smtClean="0"/>
              <a:t>standardized product</a:t>
            </a:r>
            <a:r>
              <a:rPr lang="en-US" smtClean="0"/>
              <a:t>, also known as a </a:t>
            </a:r>
            <a:r>
              <a:rPr lang="en-US" b="1" smtClean="0"/>
              <a:t>commodity</a:t>
            </a:r>
            <a:r>
              <a:rPr lang="en-US" smtClean="0"/>
              <a:t>, when consumers regard the products of different producers as the same good.  </a:t>
            </a:r>
            <a:endParaRPr lang="en-US" sz="220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fade">
                                      <p:cBhvr>
                                        <p:cTn id="10" dur="500"/>
                                        <p:tgtEl>
                                          <p:spTgt spid="235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3555">
                                            <p:txEl>
                                              <p:pRg st="3" end="3"/>
                                            </p:txEl>
                                          </p:spTgt>
                                        </p:tgtEl>
                                        <p:attrNameLst>
                                          <p:attrName>style.visibility</p:attrName>
                                        </p:attrNameLst>
                                      </p:cBhvr>
                                      <p:to>
                                        <p:strVal val="visible"/>
                                      </p:to>
                                    </p:set>
                                    <p:animEffect transition="in" filter="fade">
                                      <p:cBhvr>
                                        <p:cTn id="15" dur="500"/>
                                        <p:tgtEl>
                                          <p:spTgt spid="23555">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555">
                                            <p:txEl>
                                              <p:pRg st="4" end="4"/>
                                            </p:txEl>
                                          </p:spTgt>
                                        </p:tgtEl>
                                        <p:attrNameLst>
                                          <p:attrName>style.visibility</p:attrName>
                                        </p:attrNameLst>
                                      </p:cBhvr>
                                      <p:to>
                                        <p:strVal val="visible"/>
                                      </p:to>
                                    </p:set>
                                    <p:animEffect transition="in" filter="fade">
                                      <p:cBhvr>
                                        <p:cTn id="18"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Rot="1" noChangeArrowheads="1"/>
          </p:cNvSpPr>
          <p:nvPr>
            <p:ph type="title" idx="4294967295"/>
          </p:nvPr>
        </p:nvSpPr>
        <p:spPr>
          <a:xfrm>
            <a:off x="900113" y="60325"/>
            <a:ext cx="7993062" cy="555625"/>
          </a:xfrm>
        </p:spPr>
        <p:txBody>
          <a:bodyPr/>
          <a:lstStyle/>
          <a:p>
            <a:pPr>
              <a:defRPr/>
            </a:pPr>
            <a:r>
              <a:rPr lang="en-US" smtClean="0">
                <a:effectLst>
                  <a:outerShdw blurRad="38100" dist="38100" dir="2700000" algn="tl">
                    <a:srgbClr val="C0C0C0"/>
                  </a:outerShdw>
                </a:effectLst>
              </a:rPr>
              <a:t>One Long Run Condition: Free Entry and Exit</a:t>
            </a:r>
          </a:p>
        </p:txBody>
      </p:sp>
      <p:sp>
        <p:nvSpPr>
          <p:cNvPr id="35842" name="Rectangle 3"/>
          <p:cNvSpPr>
            <a:spLocks noGrp="1" noChangeArrowheads="1"/>
          </p:cNvSpPr>
          <p:nvPr>
            <p:ph idx="4294967295"/>
          </p:nvPr>
        </p:nvSpPr>
        <p:spPr>
          <a:xfrm>
            <a:off x="971550" y="873125"/>
            <a:ext cx="7939088" cy="3960813"/>
          </a:xfrm>
        </p:spPr>
        <p:txBody>
          <a:bodyPr/>
          <a:lstStyle/>
          <a:p>
            <a:pPr marL="230188" indent="-230188"/>
            <a:r>
              <a:rPr lang="en-US" smtClean="0"/>
              <a:t>There is </a:t>
            </a:r>
            <a:r>
              <a:rPr lang="en-US" b="1" smtClean="0"/>
              <a:t>free entry and exit </a:t>
            </a:r>
            <a:r>
              <a:rPr lang="en-US" smtClean="0"/>
              <a:t>into and out from an industry when new producers can easily enter into or leave that industry.</a:t>
            </a:r>
          </a:p>
          <a:p>
            <a:pPr marL="684213" lvl="1" indent="-219075"/>
            <a:r>
              <a:rPr lang="en-US" smtClean="0"/>
              <a:t>Producers in an industry cannot artificially keep other firms out.</a:t>
            </a:r>
          </a:p>
          <a:p>
            <a:pPr marL="230188" indent="-230188"/>
            <a:r>
              <a:rPr lang="en-US" smtClean="0"/>
              <a:t>Free entry and exit ensures:</a:t>
            </a:r>
          </a:p>
          <a:p>
            <a:pPr marL="684213" lvl="1" indent="-219075"/>
            <a:r>
              <a:rPr lang="en-US" smtClean="0"/>
              <a:t>the number of producers in an industry can adjust to changing market conditions; and</a:t>
            </a:r>
          </a:p>
          <a:p>
            <a:pPr marL="684213" lvl="1" indent="-219075"/>
            <a:r>
              <a:rPr lang="en-US" smtClean="0"/>
              <a:t>profits in the industry are not excessive</a:t>
            </a:r>
          </a:p>
          <a:p>
            <a:pPr marL="684213" lvl="1" indent="-219075"/>
            <a:endParaRPr lang="en-US" smtClean="0"/>
          </a:p>
        </p:txBody>
      </p:sp>
      <p:pic>
        <p:nvPicPr>
          <p:cNvPr id="35843" name="Picture 6"/>
          <p:cNvPicPr>
            <a:picLocks noChangeAspect="1" noChangeArrowheads="1"/>
          </p:cNvPicPr>
          <p:nvPr/>
        </p:nvPicPr>
        <p:blipFill>
          <a:blip r:embed="rId3"/>
          <a:srcRect/>
          <a:stretch>
            <a:fillRect/>
          </a:stretch>
        </p:blipFill>
        <p:spPr bwMode="auto">
          <a:xfrm>
            <a:off x="5835650" y="4906963"/>
            <a:ext cx="2516188" cy="1762125"/>
          </a:xfrm>
          <a:prstGeom prst="rect">
            <a:avLst/>
          </a:prstGeom>
          <a:noFill/>
          <a:ln w="9525">
            <a:noFill/>
            <a:miter lim="800000"/>
            <a:headEnd/>
            <a:tailEnd/>
          </a:ln>
        </p:spPr>
      </p:pic>
      <p:pic>
        <p:nvPicPr>
          <p:cNvPr id="35844" name="Picture 7"/>
          <p:cNvPicPr>
            <a:picLocks noChangeAspect="1" noChangeArrowheads="1"/>
          </p:cNvPicPr>
          <p:nvPr/>
        </p:nvPicPr>
        <p:blipFill>
          <a:blip r:embed="rId4"/>
          <a:srcRect/>
          <a:stretch>
            <a:fillRect/>
          </a:stretch>
        </p:blipFill>
        <p:spPr bwMode="auto">
          <a:xfrm>
            <a:off x="1223963" y="4905375"/>
            <a:ext cx="3429000" cy="17573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rrowheads="1"/>
          </p:cNvSpPr>
          <p:nvPr>
            <p:ph type="title" idx="4294967295"/>
          </p:nvPr>
        </p:nvSpPr>
        <p:spPr>
          <a:xfrm>
            <a:off x="971550" y="60325"/>
            <a:ext cx="7993063" cy="555625"/>
          </a:xfrm>
        </p:spPr>
        <p:txBody>
          <a:bodyPr/>
          <a:lstStyle/>
          <a:p>
            <a:pPr>
              <a:defRPr/>
            </a:pPr>
            <a:r>
              <a:rPr lang="en-US" dirty="0" smtClean="0"/>
              <a:t>Production and Profits</a:t>
            </a:r>
            <a:endParaRPr lang="en-US" b="0" dirty="0" smtClean="0"/>
          </a:p>
        </p:txBody>
      </p:sp>
      <p:sp>
        <p:nvSpPr>
          <p:cNvPr id="37890" name="Slide Number Placeholder 4"/>
          <p:cNvSpPr txBox="1">
            <a:spLocks noGrp="1"/>
          </p:cNvSpPr>
          <p:nvPr/>
        </p:nvSpPr>
        <p:spPr bwMode="auto">
          <a:xfrm>
            <a:off x="7010400" y="6248400"/>
            <a:ext cx="2133600" cy="476250"/>
          </a:xfrm>
          <a:prstGeom prst="rect">
            <a:avLst/>
          </a:prstGeom>
          <a:noFill/>
          <a:ln w="9525">
            <a:noFill/>
            <a:miter lim="800000"/>
            <a:headEnd/>
            <a:tailEnd/>
          </a:ln>
        </p:spPr>
        <p:txBody>
          <a:bodyPr anchor="ctr"/>
          <a:lstStyle/>
          <a:p>
            <a:pPr algn="r"/>
            <a:fld id="{CDFE137E-9890-45CA-982B-8BBB7C0D8F8E}" type="slidenum">
              <a:rPr lang="en-US" sz="1200">
                <a:solidFill>
                  <a:srgbClr val="898989"/>
                </a:solidFill>
              </a:rPr>
              <a:pPr algn="r"/>
              <a:t>6</a:t>
            </a:fld>
            <a:endParaRPr lang="en-US" sz="1200">
              <a:solidFill>
                <a:srgbClr val="898989"/>
              </a:solidFill>
            </a:endParaRPr>
          </a:p>
        </p:txBody>
      </p:sp>
      <p:pic>
        <p:nvPicPr>
          <p:cNvPr id="3" name="Picture 2" descr="Krug3e_table_12_01.jpg"/>
          <p:cNvPicPr>
            <a:picLocks noChangeAspect="1"/>
          </p:cNvPicPr>
          <p:nvPr/>
        </p:nvPicPr>
        <p:blipFill>
          <a:blip r:embed="rId3"/>
          <a:srcRect/>
          <a:stretch>
            <a:fillRect/>
          </a:stretch>
        </p:blipFill>
        <p:spPr bwMode="auto">
          <a:xfrm>
            <a:off x="1763713" y="836613"/>
            <a:ext cx="6492875" cy="54864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rrowheads="1"/>
          </p:cNvSpPr>
          <p:nvPr>
            <p:ph type="title" idx="4294967295"/>
          </p:nvPr>
        </p:nvSpPr>
        <p:spPr>
          <a:xfrm>
            <a:off x="900113" y="0"/>
            <a:ext cx="8243887" cy="609600"/>
          </a:xfrm>
        </p:spPr>
        <p:txBody>
          <a:bodyPr/>
          <a:lstStyle/>
          <a:p>
            <a:pPr>
              <a:defRPr/>
            </a:pPr>
            <a:r>
              <a:rPr lang="en-US" smtClean="0">
                <a:effectLst>
                  <a:outerShdw blurRad="38100" dist="38100" dir="2700000" algn="tl">
                    <a:srgbClr val="C0C0C0"/>
                  </a:outerShdw>
                </a:effectLst>
              </a:rPr>
              <a:t>The Optimal Output Rule</a:t>
            </a:r>
          </a:p>
        </p:txBody>
      </p:sp>
      <p:sp>
        <p:nvSpPr>
          <p:cNvPr id="72707" name="Rectangle 3"/>
          <p:cNvSpPr>
            <a:spLocks noGrp="1" noChangeArrowheads="1"/>
          </p:cNvSpPr>
          <p:nvPr>
            <p:ph idx="4294967295"/>
          </p:nvPr>
        </p:nvSpPr>
        <p:spPr>
          <a:xfrm>
            <a:off x="900113" y="800100"/>
            <a:ext cx="8010525" cy="973138"/>
          </a:xfrm>
        </p:spPr>
        <p:txBody>
          <a:bodyPr/>
          <a:lstStyle/>
          <a:p>
            <a:pPr marL="230188" indent="-230188"/>
            <a:r>
              <a:rPr lang="en-US" b="1" smtClean="0"/>
              <a:t>Marginal revenue </a:t>
            </a:r>
            <a:r>
              <a:rPr lang="en-US" smtClean="0"/>
              <a:t>is the change in total revenue generated by an additional unit of output.</a:t>
            </a:r>
          </a:p>
          <a:p>
            <a:pPr marL="230188" indent="-230188"/>
            <a:endParaRPr lang="en-US" smtClean="0"/>
          </a:p>
        </p:txBody>
      </p:sp>
      <p:pic>
        <p:nvPicPr>
          <p:cNvPr id="26628" name="Picture 4"/>
          <p:cNvPicPr>
            <a:picLocks noChangeAspect="1" noChangeArrowheads="1"/>
          </p:cNvPicPr>
          <p:nvPr/>
        </p:nvPicPr>
        <p:blipFill>
          <a:blip r:embed="rId3"/>
          <a:srcRect/>
          <a:stretch>
            <a:fillRect/>
          </a:stretch>
        </p:blipFill>
        <p:spPr bwMode="auto">
          <a:xfrm>
            <a:off x="900113" y="1974850"/>
            <a:ext cx="7820025" cy="914400"/>
          </a:xfrm>
          <a:prstGeom prst="rect">
            <a:avLst/>
          </a:prstGeom>
          <a:noFill/>
          <a:ln w="9525" algn="ctr">
            <a:noFill/>
            <a:miter lim="800000"/>
            <a:headEnd/>
            <a:tailEnd type="none" w="med" len="lg"/>
          </a:ln>
        </p:spPr>
      </p:pic>
      <p:sp>
        <p:nvSpPr>
          <p:cNvPr id="26629" name="Text Box 5"/>
          <p:cNvSpPr txBox="1">
            <a:spLocks noChangeArrowheads="1"/>
          </p:cNvSpPr>
          <p:nvPr/>
        </p:nvSpPr>
        <p:spPr bwMode="auto">
          <a:xfrm>
            <a:off x="900113" y="3249613"/>
            <a:ext cx="7966075" cy="946150"/>
          </a:xfrm>
          <a:prstGeom prst="rect">
            <a:avLst/>
          </a:prstGeom>
          <a:noFill/>
          <a:ln w="9525" algn="ctr">
            <a:noFill/>
            <a:miter lim="800000"/>
            <a:headEnd/>
            <a:tailEnd type="none" w="med" len="lg"/>
          </a:ln>
        </p:spPr>
        <p:txBody>
          <a:bodyPr>
            <a:spAutoFit/>
          </a:bodyPr>
          <a:lstStyle/>
          <a:p>
            <a:pPr marL="1588" indent="-1588" algn="ctr"/>
            <a:r>
              <a:rPr lang="en-US" sz="2800" b="1"/>
              <a:t>MR = ∆TR/∆Q</a:t>
            </a:r>
          </a:p>
          <a:p>
            <a:pPr marL="1588" indent="-1588"/>
            <a:endParaRPr lang="en-US" sz="2800"/>
          </a:p>
        </p:txBody>
      </p:sp>
      <p:sp>
        <p:nvSpPr>
          <p:cNvPr id="73731" name="Rectangle 3"/>
          <p:cNvSpPr>
            <a:spLocks noChangeArrowheads="1"/>
          </p:cNvSpPr>
          <p:nvPr/>
        </p:nvSpPr>
        <p:spPr bwMode="auto">
          <a:xfrm>
            <a:off x="900113" y="4692650"/>
            <a:ext cx="7993062" cy="1689100"/>
          </a:xfrm>
          <a:prstGeom prst="rect">
            <a:avLst/>
          </a:prstGeom>
          <a:noFill/>
          <a:ln w="9525">
            <a:noFill/>
            <a:miter lim="800000"/>
            <a:headEnd/>
            <a:tailEnd/>
          </a:ln>
        </p:spPr>
        <p:txBody>
          <a:bodyPr/>
          <a:lstStyle/>
          <a:p>
            <a:pPr marL="230188" indent="-230188" eaLnBrk="0" hangingPunct="0">
              <a:spcBef>
                <a:spcPct val="20000"/>
              </a:spcBef>
              <a:buFont typeface="Arial" charset="0"/>
              <a:buChar char="•"/>
            </a:pPr>
            <a:r>
              <a:rPr lang="en-US" sz="2500"/>
              <a:t>The </a:t>
            </a:r>
            <a:r>
              <a:rPr lang="en-US" sz="2500" b="1"/>
              <a:t>optimal output rule </a:t>
            </a:r>
            <a:r>
              <a:rPr lang="en-US" sz="2500"/>
              <a:t>says that profit is maximized by producing the quantity of output at which the marginal cost of the last unit produced is equal to its marginal revenue.</a:t>
            </a:r>
          </a:p>
          <a:p>
            <a:pPr marL="230188" indent="-230188" eaLnBrk="0" hangingPunct="0">
              <a:spcBef>
                <a:spcPct val="20000"/>
              </a:spcBef>
              <a:buFont typeface="Arial" charset="0"/>
              <a:buChar char="•"/>
            </a:pPr>
            <a:endParaRPr lang="en-US" sz="25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fade">
                                      <p:cBhvr>
                                        <p:cTn id="7" dur="500"/>
                                        <p:tgtEl>
                                          <p:spTgt spid="7270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6628"/>
                                        </p:tgtEl>
                                        <p:attrNameLst>
                                          <p:attrName>style.visibility</p:attrName>
                                        </p:attrNameLst>
                                      </p:cBhvr>
                                      <p:to>
                                        <p:strVal val="visible"/>
                                      </p:to>
                                    </p:set>
                                    <p:animEffect transition="in" filter="wipe(left)">
                                      <p:cBhvr>
                                        <p:cTn id="10" dur="500"/>
                                        <p:tgtEl>
                                          <p:spTgt spid="26628"/>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6629"/>
                                        </p:tgtEl>
                                        <p:attrNameLst>
                                          <p:attrName>style.visibility</p:attrName>
                                        </p:attrNameLst>
                                      </p:cBhvr>
                                      <p:to>
                                        <p:strVal val="visible"/>
                                      </p:to>
                                    </p:set>
                                    <p:animEffect transition="in" filter="wipe(left)">
                                      <p:cBhvr>
                                        <p:cTn id="14" dur="500"/>
                                        <p:tgtEl>
                                          <p:spTgt spid="2662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3731">
                                            <p:txEl>
                                              <p:pRg st="0" end="0"/>
                                            </p:txEl>
                                          </p:spTgt>
                                        </p:tgtEl>
                                        <p:attrNameLst>
                                          <p:attrName>style.visibility</p:attrName>
                                        </p:attrNameLst>
                                      </p:cBhvr>
                                      <p:to>
                                        <p:strVal val="visible"/>
                                      </p:to>
                                    </p:set>
                                    <p:animEffect transition="in" filter="fade">
                                      <p:cBhvr>
                                        <p:cTn id="19" dur="500"/>
                                        <p:tgtEl>
                                          <p:spTgt spid="737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P spid="26629" grpId="0"/>
      <p:bldP spid="7373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idx="4294967295"/>
          </p:nvPr>
        </p:nvSpPr>
        <p:spPr>
          <a:xfrm>
            <a:off x="942975" y="76200"/>
            <a:ext cx="7950200" cy="609600"/>
          </a:xfrm>
        </p:spPr>
        <p:txBody>
          <a:bodyPr/>
          <a:lstStyle/>
          <a:p>
            <a:pPr>
              <a:defRPr/>
            </a:pPr>
            <a:r>
              <a:rPr lang="en-US" sz="3000" dirty="0" smtClean="0"/>
              <a:t>Short-Run Costs for Jennifer and Jason’s Farm</a:t>
            </a:r>
            <a:endParaRPr lang="en-US" sz="3000" b="0" dirty="0" smtClean="0"/>
          </a:p>
        </p:txBody>
      </p:sp>
      <p:pic>
        <p:nvPicPr>
          <p:cNvPr id="41986" name="Picture 1" descr="Krug3e_table_12_02.jpg"/>
          <p:cNvPicPr>
            <a:picLocks noChangeAspect="1"/>
          </p:cNvPicPr>
          <p:nvPr/>
        </p:nvPicPr>
        <p:blipFill>
          <a:blip r:embed="rId3"/>
          <a:srcRect/>
          <a:stretch>
            <a:fillRect/>
          </a:stretch>
        </p:blipFill>
        <p:spPr bwMode="auto">
          <a:xfrm>
            <a:off x="889000" y="981075"/>
            <a:ext cx="8229600" cy="461486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rrowheads="1"/>
          </p:cNvSpPr>
          <p:nvPr>
            <p:ph type="title" idx="4294967295"/>
          </p:nvPr>
        </p:nvSpPr>
        <p:spPr>
          <a:xfrm>
            <a:off x="900113" y="0"/>
            <a:ext cx="7993062" cy="609600"/>
          </a:xfrm>
        </p:spPr>
        <p:txBody>
          <a:bodyPr/>
          <a:lstStyle/>
          <a:p>
            <a:pPr>
              <a:defRPr/>
            </a:pPr>
            <a:r>
              <a:rPr lang="en-US" sz="2000" dirty="0" smtClean="0"/>
              <a:t>Marginal Analysis Leads to Profit-Maximizing Quantity of Output</a:t>
            </a:r>
          </a:p>
        </p:txBody>
      </p:sp>
      <p:sp>
        <p:nvSpPr>
          <p:cNvPr id="75779" name="Rectangle 3"/>
          <p:cNvSpPr>
            <a:spLocks noGrp="1" noChangeArrowheads="1"/>
          </p:cNvSpPr>
          <p:nvPr>
            <p:ph idx="4294967295"/>
          </p:nvPr>
        </p:nvSpPr>
        <p:spPr>
          <a:xfrm>
            <a:off x="684213" y="800100"/>
            <a:ext cx="8174037" cy="5472113"/>
          </a:xfrm>
        </p:spPr>
        <p:txBody>
          <a:bodyPr/>
          <a:lstStyle/>
          <a:p>
            <a:pPr marL="230188" indent="-215900"/>
            <a:r>
              <a:rPr lang="en-US" smtClean="0"/>
              <a:t>The </a:t>
            </a:r>
            <a:r>
              <a:rPr lang="en-US" b="1" smtClean="0"/>
              <a:t>price-taking firm’s optimal output rule </a:t>
            </a:r>
            <a:r>
              <a:rPr lang="en-US" smtClean="0"/>
              <a:t>says that a price-taking firm’s profit is maximized by producing the quantity of output at which the marginal cost of the last unit produced is equal to the market price.</a:t>
            </a:r>
          </a:p>
          <a:p>
            <a:pPr marL="230188" indent="-215900"/>
            <a:endParaRPr lang="en-US" smtClean="0"/>
          </a:p>
          <a:p>
            <a:pPr marL="230188" indent="-215900"/>
            <a:r>
              <a:rPr lang="en-US" b="1" smtClean="0"/>
              <a:t>Marginal revenue (MR)</a:t>
            </a:r>
            <a:r>
              <a:rPr lang="en-US" smtClean="0"/>
              <a:t/>
            </a:r>
            <a:br>
              <a:rPr lang="en-US" smtClean="0"/>
            </a:br>
            <a:r>
              <a:rPr lang="en-US" smtClean="0"/>
              <a:t>is the additional revenue </a:t>
            </a:r>
            <a:br>
              <a:rPr lang="en-US" smtClean="0"/>
            </a:br>
            <a:r>
              <a:rPr lang="en-US" smtClean="0"/>
              <a:t>that comes from producing </a:t>
            </a:r>
            <a:br>
              <a:rPr lang="en-US" smtClean="0"/>
            </a:br>
            <a:r>
              <a:rPr lang="en-US" smtClean="0"/>
              <a:t>and selling 1 more unit</a:t>
            </a:r>
          </a:p>
          <a:p>
            <a:pPr marL="230188" indent="-215900"/>
            <a:endParaRPr lang="en-US" smtClean="0"/>
          </a:p>
          <a:p>
            <a:pPr marL="230188" indent="-215900"/>
            <a:r>
              <a:rPr lang="en-US" smtClean="0"/>
              <a:t>The </a:t>
            </a:r>
            <a:r>
              <a:rPr lang="en-US" b="1" smtClean="0"/>
              <a:t>marginal revenue curve </a:t>
            </a:r>
            <a:br>
              <a:rPr lang="en-US" b="1" smtClean="0"/>
            </a:br>
            <a:r>
              <a:rPr lang="en-US" smtClean="0"/>
              <a:t>shows how marginal revenue</a:t>
            </a:r>
            <a:br>
              <a:rPr lang="en-US" smtClean="0"/>
            </a:br>
            <a:r>
              <a:rPr lang="en-US" smtClean="0"/>
              <a:t>varies as output varies.</a:t>
            </a:r>
          </a:p>
          <a:p>
            <a:pPr marL="230188" indent="-215900"/>
            <a:endParaRPr lang="en-US" smtClean="0"/>
          </a:p>
        </p:txBody>
      </p:sp>
      <p:pic>
        <p:nvPicPr>
          <p:cNvPr id="44035" name="Picture 7"/>
          <p:cNvPicPr>
            <a:picLocks noChangeAspect="1" noChangeArrowheads="1"/>
          </p:cNvPicPr>
          <p:nvPr/>
        </p:nvPicPr>
        <p:blipFill>
          <a:blip r:embed="rId3"/>
          <a:srcRect/>
          <a:stretch>
            <a:fillRect/>
          </a:stretch>
        </p:blipFill>
        <p:spPr bwMode="auto">
          <a:xfrm>
            <a:off x="4932363" y="2457450"/>
            <a:ext cx="3771900" cy="2833688"/>
          </a:xfrm>
          <a:prstGeom prst="rect">
            <a:avLst/>
          </a:prstGeom>
          <a:noFill/>
          <a:ln w="9525">
            <a:noFill/>
            <a:miter lim="800000"/>
            <a:headEnd/>
            <a:tailEnd/>
          </a:ln>
        </p:spPr>
      </p:pic>
      <p:sp>
        <p:nvSpPr>
          <p:cNvPr id="7" name="Text Box 12"/>
          <p:cNvSpPr txBox="1">
            <a:spLocks noChangeArrowheads="1"/>
          </p:cNvSpPr>
          <p:nvPr/>
        </p:nvSpPr>
        <p:spPr bwMode="auto">
          <a:xfrm>
            <a:off x="5184775" y="5121275"/>
            <a:ext cx="3743325" cy="1008063"/>
          </a:xfrm>
          <a:prstGeom prst="rect">
            <a:avLst/>
          </a:prstGeom>
          <a:solidFill>
            <a:schemeClr val="bg2"/>
          </a:solidFill>
          <a:ln w="12700" algn="ctr">
            <a:noFill/>
            <a:miter lim="800000"/>
            <a:headEnd/>
            <a:tailEnd type="none" w="sm" len="lg"/>
          </a:ln>
        </p:spPr>
        <p:txBody>
          <a:bodyPr anchor="ctr"/>
          <a:lstStyle/>
          <a:p>
            <a:pPr marL="1588" indent="-1588" algn="r"/>
            <a:r>
              <a:rPr lang="en-US">
                <a:solidFill>
                  <a:srgbClr val="000000"/>
                </a:solidFill>
              </a:rPr>
              <a:t>If I increase production, can I sell my additional production for enough to cover my additional costs?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5779">
                                            <p:txEl>
                                              <p:pRg st="2" end="2"/>
                                            </p:txEl>
                                          </p:spTgt>
                                        </p:tgtEl>
                                        <p:attrNameLst>
                                          <p:attrName>style.visibility</p:attrName>
                                        </p:attrNameLst>
                                      </p:cBhvr>
                                      <p:to>
                                        <p:strVal val="visible"/>
                                      </p:to>
                                    </p:set>
                                    <p:animEffect transition="in" filter="fade">
                                      <p:cBhvr>
                                        <p:cTn id="11" dur="500"/>
                                        <p:tgtEl>
                                          <p:spTgt spid="75779">
                                            <p:txEl>
                                              <p:pRg st="2" end="2"/>
                                            </p:txEl>
                                          </p:spTgt>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75779">
                                            <p:txEl>
                                              <p:pRg st="4" end="4"/>
                                            </p:txEl>
                                          </p:spTgt>
                                        </p:tgtEl>
                                        <p:attrNameLst>
                                          <p:attrName>style.visibility</p:attrName>
                                        </p:attrNameLst>
                                      </p:cBhvr>
                                      <p:to>
                                        <p:strVal val="visible"/>
                                      </p:to>
                                    </p:set>
                                    <p:animEffect transition="in" filter="fade">
                                      <p:cBhvr>
                                        <p:cTn id="15" dur="500"/>
                                        <p:tgtEl>
                                          <p:spTgt spid="75779">
                                            <p:txEl>
                                              <p:pRg st="4" end="4"/>
                                            </p:txEl>
                                          </p:spTgt>
                                        </p:tgtEl>
                                      </p:cBhvr>
                                    </p:animEffect>
                                  </p:childTnLst>
                                </p:cTn>
                              </p:par>
                            </p:childTnLst>
                          </p:cTn>
                        </p:par>
                        <p:par>
                          <p:cTn id="16" fill="hold">
                            <p:stCondLst>
                              <p:cond delay="1000"/>
                            </p:stCondLst>
                            <p:childTnLst>
                              <p:par>
                                <p:cTn id="17" presetID="4" presetClass="entr" presetSubtype="16"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ox(i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uiExpand="1" build="p"/>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Rot="1" noChangeArrowheads="1"/>
          </p:cNvSpPr>
          <p:nvPr>
            <p:ph type="title" idx="4294967295"/>
          </p:nvPr>
        </p:nvSpPr>
        <p:spPr>
          <a:xfrm>
            <a:off x="935038" y="76200"/>
            <a:ext cx="7958137" cy="609600"/>
          </a:xfrm>
        </p:spPr>
        <p:txBody>
          <a:bodyPr/>
          <a:lstStyle/>
          <a:p>
            <a:pPr>
              <a:defRPr/>
            </a:pPr>
            <a:r>
              <a:rPr lang="en-US" sz="2400" dirty="0" smtClean="0"/>
              <a:t>The Price-Taking Firm’s Profit-Maximizing Quantity of Output</a:t>
            </a:r>
          </a:p>
        </p:txBody>
      </p:sp>
      <p:sp>
        <p:nvSpPr>
          <p:cNvPr id="2062" name="Text Box 14"/>
          <p:cNvSpPr txBox="1">
            <a:spLocks noChangeArrowheads="1"/>
          </p:cNvSpPr>
          <p:nvPr/>
        </p:nvSpPr>
        <p:spPr bwMode="auto">
          <a:xfrm>
            <a:off x="984250" y="5692775"/>
            <a:ext cx="7835900" cy="1016000"/>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sz="2000" dirty="0">
                <a:solidFill>
                  <a:srgbClr val="0000FF"/>
                </a:solidFill>
              </a:rPr>
              <a:t>The profit-maximizing point is where </a:t>
            </a:r>
            <a:r>
              <a:rPr lang="en-US" sz="2000" i="1" dirty="0">
                <a:solidFill>
                  <a:srgbClr val="0000FF"/>
                </a:solidFill>
              </a:rPr>
              <a:t>MC</a:t>
            </a:r>
            <a:r>
              <a:rPr lang="en-US" sz="2000" dirty="0">
                <a:solidFill>
                  <a:srgbClr val="0000FF"/>
                </a:solidFill>
              </a:rPr>
              <a:t> crosses the </a:t>
            </a:r>
            <a:r>
              <a:rPr lang="en-US" sz="2000" i="1" dirty="0">
                <a:solidFill>
                  <a:srgbClr val="0000FF"/>
                </a:solidFill>
              </a:rPr>
              <a:t>MR</a:t>
            </a:r>
            <a:r>
              <a:rPr lang="en-US" sz="2000" dirty="0">
                <a:solidFill>
                  <a:srgbClr val="0000FF"/>
                </a:solidFill>
              </a:rPr>
              <a:t> curve </a:t>
            </a:r>
          </a:p>
          <a:p>
            <a:pPr marL="1588" indent="-1588" algn="ctr">
              <a:defRPr/>
            </a:pPr>
            <a:r>
              <a:rPr lang="en-US" sz="2000" dirty="0">
                <a:solidFill>
                  <a:srgbClr val="0000FF"/>
                </a:solidFill>
              </a:rPr>
              <a:t>(horizontal line at the market price):  at an output of 5 bushels of tomatoes (the output quantity at point </a:t>
            </a:r>
            <a:r>
              <a:rPr lang="en-US" sz="2000" i="1" dirty="0">
                <a:solidFill>
                  <a:srgbClr val="0000FF"/>
                </a:solidFill>
              </a:rPr>
              <a:t>E</a:t>
            </a:r>
            <a:r>
              <a:rPr lang="en-US" sz="2000" dirty="0">
                <a:solidFill>
                  <a:srgbClr val="0000FF"/>
                </a:solidFill>
              </a:rPr>
              <a:t>).</a:t>
            </a:r>
          </a:p>
        </p:txBody>
      </p:sp>
      <p:sp>
        <p:nvSpPr>
          <p:cNvPr id="205830" name="Freeform 6"/>
          <p:cNvSpPr>
            <a:spLocks/>
          </p:cNvSpPr>
          <p:nvPr/>
        </p:nvSpPr>
        <p:spPr bwMode="auto">
          <a:xfrm>
            <a:off x="2736850" y="1785938"/>
            <a:ext cx="4298950" cy="2246312"/>
          </a:xfrm>
          <a:custGeom>
            <a:avLst/>
            <a:gdLst>
              <a:gd name="T0" fmla="*/ 0 w 767"/>
              <a:gd name="T1" fmla="*/ 2147483647 h 406"/>
              <a:gd name="T2" fmla="*/ 2147483647 w 767"/>
              <a:gd name="T3" fmla="*/ 2147483647 h 406"/>
              <a:gd name="T4" fmla="*/ 2147483647 w 767"/>
              <a:gd name="T5" fmla="*/ 2147483647 h 406"/>
              <a:gd name="T6" fmla="*/ 2147483647 w 767"/>
              <a:gd name="T7" fmla="*/ 2147483647 h 406"/>
              <a:gd name="T8" fmla="*/ 2147483647 w 767"/>
              <a:gd name="T9" fmla="*/ 2147483647 h 406"/>
              <a:gd name="T10" fmla="*/ 2147483647 w 767"/>
              <a:gd name="T11" fmla="*/ 0 h 406"/>
              <a:gd name="T12" fmla="*/ 0 60000 65536"/>
              <a:gd name="T13" fmla="*/ 0 60000 65536"/>
              <a:gd name="T14" fmla="*/ 0 60000 65536"/>
              <a:gd name="T15" fmla="*/ 0 60000 65536"/>
              <a:gd name="T16" fmla="*/ 0 60000 65536"/>
              <a:gd name="T17" fmla="*/ 0 60000 65536"/>
              <a:gd name="T18" fmla="*/ 0 w 767"/>
              <a:gd name="T19" fmla="*/ 0 h 406"/>
              <a:gd name="T20" fmla="*/ 767 w 767"/>
              <a:gd name="T21" fmla="*/ 406 h 406"/>
            </a:gdLst>
            <a:ahLst/>
            <a:cxnLst>
              <a:cxn ang="T12">
                <a:pos x="T0" y="T1"/>
              </a:cxn>
              <a:cxn ang="T13">
                <a:pos x="T2" y="T3"/>
              </a:cxn>
              <a:cxn ang="T14">
                <a:pos x="T4" y="T5"/>
              </a:cxn>
              <a:cxn ang="T15">
                <a:pos x="T6" y="T7"/>
              </a:cxn>
              <a:cxn ang="T16">
                <a:pos x="T8" y="T9"/>
              </a:cxn>
              <a:cxn ang="T17">
                <a:pos x="T10" y="T11"/>
              </a:cxn>
            </a:cxnLst>
            <a:rect l="T18" t="T19" r="T20" b="T21"/>
            <a:pathLst>
              <a:path w="767" h="406">
                <a:moveTo>
                  <a:pt x="0" y="158"/>
                </a:moveTo>
                <a:cubicBezTo>
                  <a:pt x="7" y="184"/>
                  <a:pt x="7" y="184"/>
                  <a:pt x="7" y="184"/>
                </a:cubicBezTo>
                <a:cubicBezTo>
                  <a:pt x="7" y="184"/>
                  <a:pt x="73" y="406"/>
                  <a:pt x="149" y="396"/>
                </a:cubicBezTo>
                <a:cubicBezTo>
                  <a:pt x="226" y="386"/>
                  <a:pt x="376" y="268"/>
                  <a:pt x="376" y="268"/>
                </a:cubicBezTo>
                <a:cubicBezTo>
                  <a:pt x="744" y="17"/>
                  <a:pt x="744" y="17"/>
                  <a:pt x="744" y="17"/>
                </a:cubicBezTo>
                <a:cubicBezTo>
                  <a:pt x="767" y="0"/>
                  <a:pt x="767" y="0"/>
                  <a:pt x="767" y="0"/>
                </a:cubicBezTo>
              </a:path>
            </a:pathLst>
          </a:custGeom>
          <a:noFill/>
          <a:ln w="30163">
            <a:solidFill>
              <a:srgbClr val="F3716D"/>
            </a:solidFill>
            <a:miter lim="800000"/>
            <a:headEnd/>
            <a:tailEnd/>
          </a:ln>
        </p:spPr>
        <p:txBody>
          <a:bodyPr/>
          <a:lstStyle/>
          <a:p>
            <a:endParaRPr lang="en-US"/>
          </a:p>
        </p:txBody>
      </p:sp>
      <p:sp>
        <p:nvSpPr>
          <p:cNvPr id="46084" name="Line 7"/>
          <p:cNvSpPr>
            <a:spLocks noChangeShapeType="1"/>
          </p:cNvSpPr>
          <p:nvPr/>
        </p:nvSpPr>
        <p:spPr bwMode="auto">
          <a:xfrm>
            <a:off x="2428875" y="1881188"/>
            <a:ext cx="134938" cy="0"/>
          </a:xfrm>
          <a:prstGeom prst="line">
            <a:avLst/>
          </a:prstGeom>
          <a:noFill/>
          <a:ln w="7938">
            <a:solidFill>
              <a:srgbClr val="000000"/>
            </a:solidFill>
            <a:miter lim="800000"/>
            <a:headEnd/>
            <a:tailEnd/>
          </a:ln>
        </p:spPr>
        <p:txBody>
          <a:bodyPr/>
          <a:lstStyle/>
          <a:p>
            <a:endParaRPr lang="en-US"/>
          </a:p>
        </p:txBody>
      </p:sp>
      <p:sp>
        <p:nvSpPr>
          <p:cNvPr id="46085" name="Line 8"/>
          <p:cNvSpPr>
            <a:spLocks noChangeShapeType="1"/>
          </p:cNvSpPr>
          <p:nvPr/>
        </p:nvSpPr>
        <p:spPr bwMode="auto">
          <a:xfrm>
            <a:off x="2428875" y="2339975"/>
            <a:ext cx="134938" cy="0"/>
          </a:xfrm>
          <a:prstGeom prst="line">
            <a:avLst/>
          </a:prstGeom>
          <a:noFill/>
          <a:ln w="7938">
            <a:solidFill>
              <a:srgbClr val="000000"/>
            </a:solidFill>
            <a:miter lim="800000"/>
            <a:headEnd/>
            <a:tailEnd/>
          </a:ln>
        </p:spPr>
        <p:txBody>
          <a:bodyPr/>
          <a:lstStyle/>
          <a:p>
            <a:endParaRPr lang="en-US"/>
          </a:p>
        </p:txBody>
      </p:sp>
      <p:sp>
        <p:nvSpPr>
          <p:cNvPr id="46086" name="Line 9"/>
          <p:cNvSpPr>
            <a:spLocks noChangeShapeType="1"/>
          </p:cNvSpPr>
          <p:nvPr/>
        </p:nvSpPr>
        <p:spPr bwMode="auto">
          <a:xfrm>
            <a:off x="2428875" y="2571750"/>
            <a:ext cx="134938" cy="0"/>
          </a:xfrm>
          <a:prstGeom prst="line">
            <a:avLst/>
          </a:prstGeom>
          <a:noFill/>
          <a:ln w="7938">
            <a:solidFill>
              <a:srgbClr val="000000"/>
            </a:solidFill>
            <a:miter lim="800000"/>
            <a:headEnd/>
            <a:tailEnd/>
          </a:ln>
        </p:spPr>
        <p:txBody>
          <a:bodyPr/>
          <a:lstStyle/>
          <a:p>
            <a:endParaRPr lang="en-US"/>
          </a:p>
        </p:txBody>
      </p:sp>
      <p:sp>
        <p:nvSpPr>
          <p:cNvPr id="46087" name="Line 10"/>
          <p:cNvSpPr>
            <a:spLocks noChangeShapeType="1"/>
          </p:cNvSpPr>
          <p:nvPr/>
        </p:nvSpPr>
        <p:spPr bwMode="auto">
          <a:xfrm>
            <a:off x="2428875" y="2803525"/>
            <a:ext cx="134938" cy="0"/>
          </a:xfrm>
          <a:prstGeom prst="line">
            <a:avLst/>
          </a:prstGeom>
          <a:noFill/>
          <a:ln w="7938">
            <a:solidFill>
              <a:srgbClr val="000000"/>
            </a:solidFill>
            <a:miter lim="800000"/>
            <a:headEnd/>
            <a:tailEnd/>
          </a:ln>
        </p:spPr>
        <p:txBody>
          <a:bodyPr/>
          <a:lstStyle/>
          <a:p>
            <a:endParaRPr lang="en-US"/>
          </a:p>
        </p:txBody>
      </p:sp>
      <p:sp>
        <p:nvSpPr>
          <p:cNvPr id="46088" name="Line 11"/>
          <p:cNvSpPr>
            <a:spLocks noChangeShapeType="1"/>
          </p:cNvSpPr>
          <p:nvPr/>
        </p:nvSpPr>
        <p:spPr bwMode="auto">
          <a:xfrm>
            <a:off x="2428875" y="3268663"/>
            <a:ext cx="134938" cy="0"/>
          </a:xfrm>
          <a:prstGeom prst="line">
            <a:avLst/>
          </a:prstGeom>
          <a:noFill/>
          <a:ln w="7938">
            <a:solidFill>
              <a:srgbClr val="000000"/>
            </a:solidFill>
            <a:miter lim="800000"/>
            <a:headEnd/>
            <a:tailEnd/>
          </a:ln>
        </p:spPr>
        <p:txBody>
          <a:bodyPr/>
          <a:lstStyle/>
          <a:p>
            <a:endParaRPr lang="en-US"/>
          </a:p>
        </p:txBody>
      </p:sp>
      <p:sp>
        <p:nvSpPr>
          <p:cNvPr id="46089" name="Line 12"/>
          <p:cNvSpPr>
            <a:spLocks noChangeShapeType="1"/>
          </p:cNvSpPr>
          <p:nvPr/>
        </p:nvSpPr>
        <p:spPr bwMode="auto">
          <a:xfrm>
            <a:off x="2428875" y="3727450"/>
            <a:ext cx="134938" cy="0"/>
          </a:xfrm>
          <a:prstGeom prst="line">
            <a:avLst/>
          </a:prstGeom>
          <a:noFill/>
          <a:ln w="7938">
            <a:solidFill>
              <a:srgbClr val="000000"/>
            </a:solidFill>
            <a:miter lim="800000"/>
            <a:headEnd/>
            <a:tailEnd/>
          </a:ln>
        </p:spPr>
        <p:txBody>
          <a:bodyPr/>
          <a:lstStyle/>
          <a:p>
            <a:endParaRPr lang="en-US"/>
          </a:p>
        </p:txBody>
      </p:sp>
      <p:sp>
        <p:nvSpPr>
          <p:cNvPr id="46090" name="Line 13"/>
          <p:cNvSpPr>
            <a:spLocks noChangeShapeType="1"/>
          </p:cNvSpPr>
          <p:nvPr/>
        </p:nvSpPr>
        <p:spPr bwMode="auto">
          <a:xfrm>
            <a:off x="2428875" y="3960813"/>
            <a:ext cx="134938" cy="0"/>
          </a:xfrm>
          <a:prstGeom prst="line">
            <a:avLst/>
          </a:prstGeom>
          <a:noFill/>
          <a:ln w="7938">
            <a:solidFill>
              <a:srgbClr val="000000"/>
            </a:solidFill>
            <a:miter lim="800000"/>
            <a:headEnd/>
            <a:tailEnd/>
          </a:ln>
        </p:spPr>
        <p:txBody>
          <a:bodyPr/>
          <a:lstStyle/>
          <a:p>
            <a:endParaRPr lang="en-US"/>
          </a:p>
        </p:txBody>
      </p:sp>
      <p:sp>
        <p:nvSpPr>
          <p:cNvPr id="46091" name="Line 14"/>
          <p:cNvSpPr>
            <a:spLocks noChangeShapeType="1"/>
          </p:cNvSpPr>
          <p:nvPr/>
        </p:nvSpPr>
        <p:spPr bwMode="auto">
          <a:xfrm flipV="1">
            <a:off x="7250113" y="4525963"/>
            <a:ext cx="0" cy="131762"/>
          </a:xfrm>
          <a:prstGeom prst="line">
            <a:avLst/>
          </a:prstGeom>
          <a:noFill/>
          <a:ln w="7938">
            <a:solidFill>
              <a:srgbClr val="000000"/>
            </a:solidFill>
            <a:miter lim="800000"/>
            <a:headEnd/>
            <a:tailEnd/>
          </a:ln>
        </p:spPr>
        <p:txBody>
          <a:bodyPr/>
          <a:lstStyle/>
          <a:p>
            <a:endParaRPr lang="en-US"/>
          </a:p>
        </p:txBody>
      </p:sp>
      <p:sp>
        <p:nvSpPr>
          <p:cNvPr id="46092" name="Line 15"/>
          <p:cNvSpPr>
            <a:spLocks noChangeShapeType="1"/>
          </p:cNvSpPr>
          <p:nvPr/>
        </p:nvSpPr>
        <p:spPr bwMode="auto">
          <a:xfrm flipV="1">
            <a:off x="6559550" y="4525963"/>
            <a:ext cx="0" cy="131762"/>
          </a:xfrm>
          <a:prstGeom prst="line">
            <a:avLst/>
          </a:prstGeom>
          <a:noFill/>
          <a:ln w="7938">
            <a:solidFill>
              <a:srgbClr val="000000"/>
            </a:solidFill>
            <a:miter lim="800000"/>
            <a:headEnd/>
            <a:tailEnd/>
          </a:ln>
        </p:spPr>
        <p:txBody>
          <a:bodyPr/>
          <a:lstStyle/>
          <a:p>
            <a:endParaRPr lang="en-US"/>
          </a:p>
        </p:txBody>
      </p:sp>
      <p:sp>
        <p:nvSpPr>
          <p:cNvPr id="46093" name="Line 16"/>
          <p:cNvSpPr>
            <a:spLocks noChangeShapeType="1"/>
          </p:cNvSpPr>
          <p:nvPr/>
        </p:nvSpPr>
        <p:spPr bwMode="auto">
          <a:xfrm flipV="1">
            <a:off x="5875338" y="4525963"/>
            <a:ext cx="0" cy="131762"/>
          </a:xfrm>
          <a:prstGeom prst="line">
            <a:avLst/>
          </a:prstGeom>
          <a:noFill/>
          <a:ln w="7938">
            <a:solidFill>
              <a:srgbClr val="000000"/>
            </a:solidFill>
            <a:miter lim="800000"/>
            <a:headEnd/>
            <a:tailEnd/>
          </a:ln>
        </p:spPr>
        <p:txBody>
          <a:bodyPr/>
          <a:lstStyle/>
          <a:p>
            <a:endParaRPr lang="en-US"/>
          </a:p>
        </p:txBody>
      </p:sp>
      <p:sp>
        <p:nvSpPr>
          <p:cNvPr id="46094" name="Line 17"/>
          <p:cNvSpPr>
            <a:spLocks noChangeShapeType="1"/>
          </p:cNvSpPr>
          <p:nvPr/>
        </p:nvSpPr>
        <p:spPr bwMode="auto">
          <a:xfrm flipV="1">
            <a:off x="5187950" y="4525963"/>
            <a:ext cx="0" cy="131762"/>
          </a:xfrm>
          <a:prstGeom prst="line">
            <a:avLst/>
          </a:prstGeom>
          <a:noFill/>
          <a:ln w="7938">
            <a:solidFill>
              <a:srgbClr val="000000"/>
            </a:solidFill>
            <a:miter lim="800000"/>
            <a:headEnd/>
            <a:tailEnd/>
          </a:ln>
        </p:spPr>
        <p:txBody>
          <a:bodyPr/>
          <a:lstStyle/>
          <a:p>
            <a:endParaRPr lang="en-US"/>
          </a:p>
        </p:txBody>
      </p:sp>
      <p:sp>
        <p:nvSpPr>
          <p:cNvPr id="46095" name="Line 18"/>
          <p:cNvSpPr>
            <a:spLocks noChangeShapeType="1"/>
          </p:cNvSpPr>
          <p:nvPr/>
        </p:nvSpPr>
        <p:spPr bwMode="auto">
          <a:xfrm flipV="1">
            <a:off x="4497388" y="4525963"/>
            <a:ext cx="0" cy="131762"/>
          </a:xfrm>
          <a:prstGeom prst="line">
            <a:avLst/>
          </a:prstGeom>
          <a:noFill/>
          <a:ln w="7938">
            <a:solidFill>
              <a:srgbClr val="000000"/>
            </a:solidFill>
            <a:miter lim="800000"/>
            <a:headEnd/>
            <a:tailEnd/>
          </a:ln>
        </p:spPr>
        <p:txBody>
          <a:bodyPr/>
          <a:lstStyle/>
          <a:p>
            <a:endParaRPr lang="en-US"/>
          </a:p>
        </p:txBody>
      </p:sp>
      <p:sp>
        <p:nvSpPr>
          <p:cNvPr id="46096" name="Line 19"/>
          <p:cNvSpPr>
            <a:spLocks noChangeShapeType="1"/>
          </p:cNvSpPr>
          <p:nvPr/>
        </p:nvSpPr>
        <p:spPr bwMode="auto">
          <a:xfrm flipV="1">
            <a:off x="3806825" y="4525963"/>
            <a:ext cx="0" cy="131762"/>
          </a:xfrm>
          <a:prstGeom prst="line">
            <a:avLst/>
          </a:prstGeom>
          <a:noFill/>
          <a:ln w="7938">
            <a:solidFill>
              <a:srgbClr val="000000"/>
            </a:solidFill>
            <a:miter lim="800000"/>
            <a:headEnd/>
            <a:tailEnd/>
          </a:ln>
        </p:spPr>
        <p:txBody>
          <a:bodyPr/>
          <a:lstStyle/>
          <a:p>
            <a:endParaRPr lang="en-US"/>
          </a:p>
        </p:txBody>
      </p:sp>
      <p:sp>
        <p:nvSpPr>
          <p:cNvPr id="46097" name="Line 20"/>
          <p:cNvSpPr>
            <a:spLocks noChangeShapeType="1"/>
          </p:cNvSpPr>
          <p:nvPr/>
        </p:nvSpPr>
        <p:spPr bwMode="auto">
          <a:xfrm flipV="1">
            <a:off x="3119438" y="4525963"/>
            <a:ext cx="0" cy="131762"/>
          </a:xfrm>
          <a:prstGeom prst="line">
            <a:avLst/>
          </a:prstGeom>
          <a:noFill/>
          <a:ln w="7938">
            <a:solidFill>
              <a:srgbClr val="000000"/>
            </a:solidFill>
            <a:miter lim="800000"/>
            <a:headEnd/>
            <a:tailEnd/>
          </a:ln>
        </p:spPr>
        <p:txBody>
          <a:bodyPr/>
          <a:lstStyle/>
          <a:p>
            <a:endParaRPr lang="en-US"/>
          </a:p>
        </p:txBody>
      </p:sp>
      <p:sp>
        <p:nvSpPr>
          <p:cNvPr id="46098" name="Rectangle 21"/>
          <p:cNvSpPr>
            <a:spLocks noChangeArrowheads="1"/>
          </p:cNvSpPr>
          <p:nvPr/>
        </p:nvSpPr>
        <p:spPr bwMode="auto">
          <a:xfrm>
            <a:off x="7199313" y="4689475"/>
            <a:ext cx="90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46099" name="Rectangle 22"/>
          <p:cNvSpPr>
            <a:spLocks noChangeArrowheads="1"/>
          </p:cNvSpPr>
          <p:nvPr/>
        </p:nvSpPr>
        <p:spPr bwMode="auto">
          <a:xfrm>
            <a:off x="6511925" y="4689475"/>
            <a:ext cx="90488"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46100" name="Rectangle 23"/>
          <p:cNvSpPr>
            <a:spLocks noChangeArrowheads="1"/>
          </p:cNvSpPr>
          <p:nvPr/>
        </p:nvSpPr>
        <p:spPr bwMode="auto">
          <a:xfrm>
            <a:off x="5822950" y="4689475"/>
            <a:ext cx="90488"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46101" name="Rectangle 24"/>
          <p:cNvSpPr>
            <a:spLocks noChangeArrowheads="1"/>
          </p:cNvSpPr>
          <p:nvPr/>
        </p:nvSpPr>
        <p:spPr bwMode="auto">
          <a:xfrm>
            <a:off x="5135563" y="4689475"/>
            <a:ext cx="90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46102" name="Rectangle 25"/>
          <p:cNvSpPr>
            <a:spLocks noChangeArrowheads="1"/>
          </p:cNvSpPr>
          <p:nvPr/>
        </p:nvSpPr>
        <p:spPr bwMode="auto">
          <a:xfrm>
            <a:off x="4445000" y="4689475"/>
            <a:ext cx="90488"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46103" name="Rectangle 26"/>
          <p:cNvSpPr>
            <a:spLocks noChangeArrowheads="1"/>
          </p:cNvSpPr>
          <p:nvPr/>
        </p:nvSpPr>
        <p:spPr bwMode="auto">
          <a:xfrm>
            <a:off x="3757613" y="4689475"/>
            <a:ext cx="90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46104" name="Rectangle 27"/>
          <p:cNvSpPr>
            <a:spLocks noChangeArrowheads="1"/>
          </p:cNvSpPr>
          <p:nvPr/>
        </p:nvSpPr>
        <p:spPr bwMode="auto">
          <a:xfrm>
            <a:off x="3068638" y="4689475"/>
            <a:ext cx="90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46105" name="Rectangle 28"/>
          <p:cNvSpPr>
            <a:spLocks noChangeArrowheads="1"/>
          </p:cNvSpPr>
          <p:nvPr/>
        </p:nvSpPr>
        <p:spPr bwMode="auto">
          <a:xfrm>
            <a:off x="2243138" y="4689475"/>
            <a:ext cx="90487"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46106" name="Rectangle 29"/>
          <p:cNvSpPr>
            <a:spLocks noChangeArrowheads="1"/>
          </p:cNvSpPr>
          <p:nvPr/>
        </p:nvSpPr>
        <p:spPr bwMode="auto">
          <a:xfrm>
            <a:off x="2125663" y="1773238"/>
            <a:ext cx="271462"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$24</a:t>
            </a:r>
            <a:endParaRPr lang="en-US" sz="1400">
              <a:latin typeface="Tahoma" pitchFamily="34" charset="0"/>
            </a:endParaRPr>
          </a:p>
        </p:txBody>
      </p:sp>
      <p:sp>
        <p:nvSpPr>
          <p:cNvPr id="46107" name="Rectangle 30"/>
          <p:cNvSpPr>
            <a:spLocks noChangeArrowheads="1"/>
          </p:cNvSpPr>
          <p:nvPr/>
        </p:nvSpPr>
        <p:spPr bwMode="auto">
          <a:xfrm>
            <a:off x="2139950" y="2219325"/>
            <a:ext cx="1825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46108" name="Rectangle 31"/>
          <p:cNvSpPr>
            <a:spLocks noChangeArrowheads="1"/>
          </p:cNvSpPr>
          <p:nvPr/>
        </p:nvSpPr>
        <p:spPr bwMode="auto">
          <a:xfrm>
            <a:off x="2139950" y="2451100"/>
            <a:ext cx="1825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46109" name="Rectangle 32"/>
          <p:cNvSpPr>
            <a:spLocks noChangeArrowheads="1"/>
          </p:cNvSpPr>
          <p:nvPr/>
        </p:nvSpPr>
        <p:spPr bwMode="auto">
          <a:xfrm>
            <a:off x="2139950" y="2682875"/>
            <a:ext cx="1825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16</a:t>
            </a:r>
            <a:endParaRPr lang="en-US" sz="1400">
              <a:latin typeface="Tahoma" pitchFamily="34" charset="0"/>
            </a:endParaRPr>
          </a:p>
        </p:txBody>
      </p:sp>
      <p:sp>
        <p:nvSpPr>
          <p:cNvPr id="46110" name="Rectangle 33"/>
          <p:cNvSpPr>
            <a:spLocks noChangeArrowheads="1"/>
          </p:cNvSpPr>
          <p:nvPr/>
        </p:nvSpPr>
        <p:spPr bwMode="auto">
          <a:xfrm>
            <a:off x="2139950" y="3141663"/>
            <a:ext cx="182563"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12</a:t>
            </a:r>
            <a:endParaRPr lang="en-US" sz="1400">
              <a:latin typeface="Tahoma" pitchFamily="34" charset="0"/>
            </a:endParaRPr>
          </a:p>
        </p:txBody>
      </p:sp>
      <p:sp>
        <p:nvSpPr>
          <p:cNvPr id="46111" name="Rectangle 34"/>
          <p:cNvSpPr>
            <a:spLocks noChangeArrowheads="1"/>
          </p:cNvSpPr>
          <p:nvPr/>
        </p:nvSpPr>
        <p:spPr bwMode="auto">
          <a:xfrm>
            <a:off x="2238375" y="360838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a:t>
            </a:r>
            <a:endParaRPr lang="en-US" sz="1400">
              <a:latin typeface="Tahoma" pitchFamily="34" charset="0"/>
            </a:endParaRPr>
          </a:p>
        </p:txBody>
      </p:sp>
      <p:sp>
        <p:nvSpPr>
          <p:cNvPr id="46112" name="Rectangle 35"/>
          <p:cNvSpPr>
            <a:spLocks noChangeArrowheads="1"/>
          </p:cNvSpPr>
          <p:nvPr/>
        </p:nvSpPr>
        <p:spPr bwMode="auto">
          <a:xfrm>
            <a:off x="2238375" y="3840163"/>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46113" name="Rectangle 36"/>
          <p:cNvSpPr>
            <a:spLocks noChangeArrowheads="1"/>
          </p:cNvSpPr>
          <p:nvPr/>
        </p:nvSpPr>
        <p:spPr bwMode="auto">
          <a:xfrm>
            <a:off x="1443038" y="838200"/>
            <a:ext cx="102235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46114" name="Rectangle 37"/>
          <p:cNvSpPr>
            <a:spLocks noChangeArrowheads="1"/>
          </p:cNvSpPr>
          <p:nvPr/>
        </p:nvSpPr>
        <p:spPr bwMode="auto">
          <a:xfrm>
            <a:off x="7254875" y="4951413"/>
            <a:ext cx="1128713"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205862" name="Rectangle 38"/>
          <p:cNvSpPr>
            <a:spLocks noChangeArrowheads="1"/>
          </p:cNvSpPr>
          <p:nvPr/>
        </p:nvSpPr>
        <p:spPr bwMode="auto">
          <a:xfrm>
            <a:off x="7077075" y="1539875"/>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46116" name="Rectangle 39"/>
          <p:cNvSpPr>
            <a:spLocks noChangeArrowheads="1"/>
          </p:cNvSpPr>
          <p:nvPr/>
        </p:nvSpPr>
        <p:spPr bwMode="auto">
          <a:xfrm>
            <a:off x="7294563" y="2422525"/>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46117" name="Rectangle 40"/>
          <p:cNvSpPr>
            <a:spLocks noChangeArrowheads="1"/>
          </p:cNvSpPr>
          <p:nvPr/>
        </p:nvSpPr>
        <p:spPr bwMode="auto">
          <a:xfrm>
            <a:off x="7616825" y="2422525"/>
            <a:ext cx="107950"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46118" name="Rectangle 41"/>
          <p:cNvSpPr>
            <a:spLocks noChangeArrowheads="1"/>
          </p:cNvSpPr>
          <p:nvPr/>
        </p:nvSpPr>
        <p:spPr bwMode="auto">
          <a:xfrm>
            <a:off x="7729538" y="2422525"/>
            <a:ext cx="1698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P</a:t>
            </a:r>
            <a:endParaRPr lang="en-US" sz="1400" i="1">
              <a:latin typeface="Tahoma" pitchFamily="34" charset="0"/>
            </a:endParaRPr>
          </a:p>
        </p:txBody>
      </p:sp>
      <p:sp>
        <p:nvSpPr>
          <p:cNvPr id="205866" name="Rectangle 42"/>
          <p:cNvSpPr>
            <a:spLocks noChangeArrowheads="1"/>
          </p:cNvSpPr>
          <p:nvPr/>
        </p:nvSpPr>
        <p:spPr bwMode="auto">
          <a:xfrm>
            <a:off x="5821363" y="22225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Tahoma" pitchFamily="34" charset="0"/>
            </a:endParaRPr>
          </a:p>
        </p:txBody>
      </p:sp>
      <p:sp>
        <p:nvSpPr>
          <p:cNvPr id="205867" name="Oval 43"/>
          <p:cNvSpPr>
            <a:spLocks noChangeArrowheads="1"/>
          </p:cNvSpPr>
          <p:nvPr/>
        </p:nvSpPr>
        <p:spPr bwMode="auto">
          <a:xfrm>
            <a:off x="2720975" y="2747963"/>
            <a:ext cx="111125" cy="112712"/>
          </a:xfrm>
          <a:prstGeom prst="ellipse">
            <a:avLst/>
          </a:prstGeom>
          <a:solidFill>
            <a:srgbClr val="000000"/>
          </a:solidFill>
          <a:ln w="9525">
            <a:noFill/>
            <a:round/>
            <a:headEnd/>
            <a:tailEnd/>
          </a:ln>
        </p:spPr>
        <p:txBody>
          <a:bodyPr/>
          <a:lstStyle/>
          <a:p>
            <a:endParaRPr lang="en-US"/>
          </a:p>
        </p:txBody>
      </p:sp>
      <p:sp>
        <p:nvSpPr>
          <p:cNvPr id="205868" name="Oval 44"/>
          <p:cNvSpPr>
            <a:spLocks noChangeArrowheads="1"/>
          </p:cNvSpPr>
          <p:nvPr/>
        </p:nvSpPr>
        <p:spPr bwMode="auto">
          <a:xfrm>
            <a:off x="3411538" y="3905250"/>
            <a:ext cx="111125" cy="109538"/>
          </a:xfrm>
          <a:prstGeom prst="ellipse">
            <a:avLst/>
          </a:prstGeom>
          <a:solidFill>
            <a:srgbClr val="000000"/>
          </a:solidFill>
          <a:ln w="9525">
            <a:noFill/>
            <a:round/>
            <a:headEnd/>
            <a:tailEnd/>
          </a:ln>
        </p:spPr>
        <p:txBody>
          <a:bodyPr/>
          <a:lstStyle/>
          <a:p>
            <a:endParaRPr lang="en-US"/>
          </a:p>
        </p:txBody>
      </p:sp>
      <p:sp>
        <p:nvSpPr>
          <p:cNvPr id="205869" name="Oval 45"/>
          <p:cNvSpPr>
            <a:spLocks noChangeArrowheads="1"/>
          </p:cNvSpPr>
          <p:nvPr/>
        </p:nvSpPr>
        <p:spPr bwMode="auto">
          <a:xfrm>
            <a:off x="4094163" y="3673475"/>
            <a:ext cx="111125" cy="109538"/>
          </a:xfrm>
          <a:prstGeom prst="ellipse">
            <a:avLst/>
          </a:prstGeom>
          <a:solidFill>
            <a:srgbClr val="000000"/>
          </a:solidFill>
          <a:ln w="9525">
            <a:noFill/>
            <a:round/>
            <a:headEnd/>
            <a:tailEnd/>
          </a:ln>
        </p:spPr>
        <p:txBody>
          <a:bodyPr/>
          <a:lstStyle/>
          <a:p>
            <a:endParaRPr lang="en-US"/>
          </a:p>
        </p:txBody>
      </p:sp>
      <p:sp>
        <p:nvSpPr>
          <p:cNvPr id="205870" name="Oval 46"/>
          <p:cNvSpPr>
            <a:spLocks noChangeArrowheads="1"/>
          </p:cNvSpPr>
          <p:nvPr/>
        </p:nvSpPr>
        <p:spPr bwMode="auto">
          <a:xfrm>
            <a:off x="4784725" y="3214688"/>
            <a:ext cx="111125" cy="109537"/>
          </a:xfrm>
          <a:prstGeom prst="ellipse">
            <a:avLst/>
          </a:prstGeom>
          <a:solidFill>
            <a:srgbClr val="000000"/>
          </a:solidFill>
          <a:ln w="9525">
            <a:noFill/>
            <a:round/>
            <a:headEnd/>
            <a:tailEnd/>
          </a:ln>
        </p:spPr>
        <p:txBody>
          <a:bodyPr/>
          <a:lstStyle/>
          <a:p>
            <a:endParaRPr lang="en-US"/>
          </a:p>
        </p:txBody>
      </p:sp>
      <p:sp>
        <p:nvSpPr>
          <p:cNvPr id="205871" name="Oval 47"/>
          <p:cNvSpPr>
            <a:spLocks noChangeArrowheads="1"/>
          </p:cNvSpPr>
          <p:nvPr/>
        </p:nvSpPr>
        <p:spPr bwMode="auto">
          <a:xfrm>
            <a:off x="5472113" y="2747963"/>
            <a:ext cx="112712" cy="112712"/>
          </a:xfrm>
          <a:prstGeom prst="ellipse">
            <a:avLst/>
          </a:prstGeom>
          <a:solidFill>
            <a:srgbClr val="000000"/>
          </a:solidFill>
          <a:ln w="9525">
            <a:noFill/>
            <a:round/>
            <a:headEnd/>
            <a:tailEnd/>
          </a:ln>
        </p:spPr>
        <p:txBody>
          <a:bodyPr/>
          <a:lstStyle/>
          <a:p>
            <a:endParaRPr lang="en-US"/>
          </a:p>
        </p:txBody>
      </p:sp>
      <p:sp>
        <p:nvSpPr>
          <p:cNvPr id="205872" name="Oval 48"/>
          <p:cNvSpPr>
            <a:spLocks noChangeArrowheads="1"/>
          </p:cNvSpPr>
          <p:nvPr/>
        </p:nvSpPr>
        <p:spPr bwMode="auto">
          <a:xfrm>
            <a:off x="6162675" y="2284413"/>
            <a:ext cx="111125" cy="109537"/>
          </a:xfrm>
          <a:prstGeom prst="ellipse">
            <a:avLst/>
          </a:prstGeom>
          <a:solidFill>
            <a:srgbClr val="000000"/>
          </a:solidFill>
          <a:ln w="9525">
            <a:noFill/>
            <a:round/>
            <a:headEnd/>
            <a:tailEnd/>
          </a:ln>
        </p:spPr>
        <p:txBody>
          <a:bodyPr/>
          <a:lstStyle/>
          <a:p>
            <a:endParaRPr lang="en-US"/>
          </a:p>
        </p:txBody>
      </p:sp>
      <p:sp>
        <p:nvSpPr>
          <p:cNvPr id="205873" name="Oval 49"/>
          <p:cNvSpPr>
            <a:spLocks noChangeArrowheads="1"/>
          </p:cNvSpPr>
          <p:nvPr/>
        </p:nvSpPr>
        <p:spPr bwMode="auto">
          <a:xfrm>
            <a:off x="6851650" y="1825625"/>
            <a:ext cx="111125" cy="109538"/>
          </a:xfrm>
          <a:prstGeom prst="ellipse">
            <a:avLst/>
          </a:prstGeom>
          <a:solidFill>
            <a:srgbClr val="000000"/>
          </a:solidFill>
          <a:ln w="9525">
            <a:noFill/>
            <a:round/>
            <a:headEnd/>
            <a:tailEnd/>
          </a:ln>
        </p:spPr>
        <p:txBody>
          <a:bodyPr/>
          <a:lstStyle/>
          <a:p>
            <a:endParaRPr lang="en-US"/>
          </a:p>
        </p:txBody>
      </p:sp>
      <p:sp>
        <p:nvSpPr>
          <p:cNvPr id="46127" name="Line 50"/>
          <p:cNvSpPr>
            <a:spLocks noChangeShapeType="1"/>
          </p:cNvSpPr>
          <p:nvPr/>
        </p:nvSpPr>
        <p:spPr bwMode="auto">
          <a:xfrm>
            <a:off x="2428875" y="2571750"/>
            <a:ext cx="4816475" cy="0"/>
          </a:xfrm>
          <a:prstGeom prst="line">
            <a:avLst/>
          </a:prstGeom>
          <a:noFill/>
          <a:ln w="22225">
            <a:solidFill>
              <a:srgbClr val="4B8FCC"/>
            </a:solidFill>
            <a:miter lim="800000"/>
            <a:headEnd/>
            <a:tailEnd/>
          </a:ln>
        </p:spPr>
        <p:txBody>
          <a:bodyPr/>
          <a:lstStyle/>
          <a:p>
            <a:endParaRPr lang="en-US"/>
          </a:p>
        </p:txBody>
      </p:sp>
      <p:sp>
        <p:nvSpPr>
          <p:cNvPr id="205875" name="Oval 51"/>
          <p:cNvSpPr>
            <a:spLocks noChangeArrowheads="1"/>
          </p:cNvSpPr>
          <p:nvPr/>
        </p:nvSpPr>
        <p:spPr bwMode="auto">
          <a:xfrm>
            <a:off x="5821363" y="2516188"/>
            <a:ext cx="111125" cy="109537"/>
          </a:xfrm>
          <a:prstGeom prst="ellipse">
            <a:avLst/>
          </a:prstGeom>
          <a:solidFill>
            <a:srgbClr val="000000"/>
          </a:solidFill>
          <a:ln w="9525">
            <a:noFill/>
            <a:round/>
            <a:headEnd/>
            <a:tailEnd/>
          </a:ln>
        </p:spPr>
        <p:txBody>
          <a:bodyPr/>
          <a:lstStyle/>
          <a:p>
            <a:endParaRPr lang="en-US"/>
          </a:p>
        </p:txBody>
      </p:sp>
      <p:sp>
        <p:nvSpPr>
          <p:cNvPr id="205876" name="Line 52"/>
          <p:cNvSpPr>
            <a:spLocks noChangeShapeType="1"/>
          </p:cNvSpPr>
          <p:nvPr/>
        </p:nvSpPr>
        <p:spPr bwMode="auto">
          <a:xfrm>
            <a:off x="5143500" y="2068513"/>
            <a:ext cx="731838" cy="503237"/>
          </a:xfrm>
          <a:prstGeom prst="line">
            <a:avLst/>
          </a:prstGeom>
          <a:noFill/>
          <a:ln w="7938">
            <a:solidFill>
              <a:srgbClr val="000000"/>
            </a:solidFill>
            <a:miter lim="800000"/>
            <a:headEnd/>
            <a:tailEnd/>
          </a:ln>
        </p:spPr>
        <p:txBody>
          <a:bodyPr/>
          <a:lstStyle/>
          <a:p>
            <a:endParaRPr lang="en-US"/>
          </a:p>
        </p:txBody>
      </p:sp>
      <p:sp>
        <p:nvSpPr>
          <p:cNvPr id="205877" name="Freeform 53"/>
          <p:cNvSpPr>
            <a:spLocks/>
          </p:cNvSpPr>
          <p:nvPr/>
        </p:nvSpPr>
        <p:spPr bwMode="auto">
          <a:xfrm>
            <a:off x="5143500" y="5132388"/>
            <a:ext cx="1487488" cy="531812"/>
          </a:xfrm>
          <a:custGeom>
            <a:avLst/>
            <a:gdLst>
              <a:gd name="T0" fmla="*/ 2147483647 w 269"/>
              <a:gd name="T1" fmla="*/ 2147483647 h 96"/>
              <a:gd name="T2" fmla="*/ 2147483647 w 269"/>
              <a:gd name="T3" fmla="*/ 2147483647 h 96"/>
              <a:gd name="T4" fmla="*/ 2147483647 w 269"/>
              <a:gd name="T5" fmla="*/ 2147483647 h 96"/>
              <a:gd name="T6" fmla="*/ 0 w 269"/>
              <a:gd name="T7" fmla="*/ 2147483647 h 96"/>
              <a:gd name="T8" fmla="*/ 0 w 269"/>
              <a:gd name="T9" fmla="*/ 2147483647 h 96"/>
              <a:gd name="T10" fmla="*/ 2147483647 w 269"/>
              <a:gd name="T11" fmla="*/ 0 h 96"/>
              <a:gd name="T12" fmla="*/ 2147483647 w 269"/>
              <a:gd name="T13" fmla="*/ 0 h 96"/>
              <a:gd name="T14" fmla="*/ 2147483647 w 269"/>
              <a:gd name="T15" fmla="*/ 2147483647 h 96"/>
              <a:gd name="T16" fmla="*/ 2147483647 w 269"/>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9"/>
              <a:gd name="T28" fmla="*/ 0 h 96"/>
              <a:gd name="T29" fmla="*/ 269 w 269"/>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9" h="96">
                <a:moveTo>
                  <a:pt x="269" y="80"/>
                </a:moveTo>
                <a:cubicBezTo>
                  <a:pt x="269" y="89"/>
                  <a:pt x="262" y="96"/>
                  <a:pt x="253" y="96"/>
                </a:cubicBezTo>
                <a:cubicBezTo>
                  <a:pt x="16" y="96"/>
                  <a:pt x="16" y="96"/>
                  <a:pt x="16" y="96"/>
                </a:cubicBezTo>
                <a:cubicBezTo>
                  <a:pt x="7" y="96"/>
                  <a:pt x="0" y="89"/>
                  <a:pt x="0" y="80"/>
                </a:cubicBezTo>
                <a:cubicBezTo>
                  <a:pt x="0" y="16"/>
                  <a:pt x="0" y="16"/>
                  <a:pt x="0" y="16"/>
                </a:cubicBezTo>
                <a:cubicBezTo>
                  <a:pt x="0" y="7"/>
                  <a:pt x="7" y="0"/>
                  <a:pt x="16" y="0"/>
                </a:cubicBezTo>
                <a:cubicBezTo>
                  <a:pt x="253" y="0"/>
                  <a:pt x="253" y="0"/>
                  <a:pt x="253" y="0"/>
                </a:cubicBezTo>
                <a:cubicBezTo>
                  <a:pt x="262" y="0"/>
                  <a:pt x="269" y="7"/>
                  <a:pt x="269" y="16"/>
                </a:cubicBezTo>
                <a:lnTo>
                  <a:pt x="269" y="80"/>
                </a:lnTo>
                <a:close/>
              </a:path>
            </a:pathLst>
          </a:custGeom>
          <a:solidFill>
            <a:srgbClr val="D7E2E0"/>
          </a:solidFill>
          <a:ln w="9525">
            <a:noFill/>
            <a:round/>
            <a:headEnd/>
            <a:tailEnd/>
          </a:ln>
        </p:spPr>
        <p:txBody>
          <a:bodyPr/>
          <a:lstStyle/>
          <a:p>
            <a:endParaRPr lang="en-US"/>
          </a:p>
        </p:txBody>
      </p:sp>
      <p:sp>
        <p:nvSpPr>
          <p:cNvPr id="205878" name="Rectangle 54"/>
          <p:cNvSpPr>
            <a:spLocks noChangeArrowheads="1"/>
          </p:cNvSpPr>
          <p:nvPr/>
        </p:nvSpPr>
        <p:spPr bwMode="auto">
          <a:xfrm>
            <a:off x="5184775" y="5195888"/>
            <a:ext cx="1398588"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Profit-maximizing quantity</a:t>
            </a:r>
            <a:endParaRPr lang="en-US" sz="1400">
              <a:latin typeface="Tahoma" pitchFamily="34" charset="0"/>
            </a:endParaRPr>
          </a:p>
        </p:txBody>
      </p:sp>
      <p:sp>
        <p:nvSpPr>
          <p:cNvPr id="205879" name="Line 55"/>
          <p:cNvSpPr>
            <a:spLocks noChangeShapeType="1"/>
          </p:cNvSpPr>
          <p:nvPr/>
        </p:nvSpPr>
        <p:spPr bwMode="auto">
          <a:xfrm flipV="1">
            <a:off x="5875338" y="4916488"/>
            <a:ext cx="0" cy="206375"/>
          </a:xfrm>
          <a:prstGeom prst="line">
            <a:avLst/>
          </a:prstGeom>
          <a:noFill/>
          <a:ln w="7938">
            <a:solidFill>
              <a:srgbClr val="000000"/>
            </a:solidFill>
            <a:miter lim="800000"/>
            <a:headEnd/>
            <a:tailEnd/>
          </a:ln>
        </p:spPr>
        <p:txBody>
          <a:bodyPr/>
          <a:lstStyle/>
          <a:p>
            <a:endParaRPr lang="en-US"/>
          </a:p>
        </p:txBody>
      </p:sp>
      <p:sp>
        <p:nvSpPr>
          <p:cNvPr id="205880" name="Freeform 56"/>
          <p:cNvSpPr>
            <a:spLocks/>
          </p:cNvSpPr>
          <p:nvPr/>
        </p:nvSpPr>
        <p:spPr bwMode="auto">
          <a:xfrm>
            <a:off x="4391025" y="1593850"/>
            <a:ext cx="768350" cy="523875"/>
          </a:xfrm>
          <a:custGeom>
            <a:avLst/>
            <a:gdLst>
              <a:gd name="T0" fmla="*/ 2147483647 w 137"/>
              <a:gd name="T1" fmla="*/ 2147483647 h 95"/>
              <a:gd name="T2" fmla="*/ 2147483647 w 137"/>
              <a:gd name="T3" fmla="*/ 2147483647 h 95"/>
              <a:gd name="T4" fmla="*/ 2147483647 w 137"/>
              <a:gd name="T5" fmla="*/ 2147483647 h 95"/>
              <a:gd name="T6" fmla="*/ 0 w 137"/>
              <a:gd name="T7" fmla="*/ 2147483647 h 95"/>
              <a:gd name="T8" fmla="*/ 0 w 137"/>
              <a:gd name="T9" fmla="*/ 2147483647 h 95"/>
              <a:gd name="T10" fmla="*/ 2147483647 w 137"/>
              <a:gd name="T11" fmla="*/ 0 h 95"/>
              <a:gd name="T12" fmla="*/ 2147483647 w 137"/>
              <a:gd name="T13" fmla="*/ 0 h 95"/>
              <a:gd name="T14" fmla="*/ 2147483647 w 137"/>
              <a:gd name="T15" fmla="*/ 2147483647 h 95"/>
              <a:gd name="T16" fmla="*/ 2147483647 w 137"/>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7"/>
              <a:gd name="T28" fmla="*/ 0 h 95"/>
              <a:gd name="T29" fmla="*/ 137 w 137"/>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7" h="95">
                <a:moveTo>
                  <a:pt x="137" y="79"/>
                </a:moveTo>
                <a:cubicBezTo>
                  <a:pt x="137" y="88"/>
                  <a:pt x="130" y="95"/>
                  <a:pt x="121" y="95"/>
                </a:cubicBezTo>
                <a:cubicBezTo>
                  <a:pt x="16" y="95"/>
                  <a:pt x="16" y="95"/>
                  <a:pt x="16" y="95"/>
                </a:cubicBezTo>
                <a:cubicBezTo>
                  <a:pt x="7" y="95"/>
                  <a:pt x="0" y="88"/>
                  <a:pt x="0" y="79"/>
                </a:cubicBezTo>
                <a:cubicBezTo>
                  <a:pt x="0" y="16"/>
                  <a:pt x="0" y="16"/>
                  <a:pt x="0" y="16"/>
                </a:cubicBezTo>
                <a:cubicBezTo>
                  <a:pt x="0" y="8"/>
                  <a:pt x="7" y="0"/>
                  <a:pt x="16" y="0"/>
                </a:cubicBezTo>
                <a:cubicBezTo>
                  <a:pt x="121" y="0"/>
                  <a:pt x="121" y="0"/>
                  <a:pt x="121" y="0"/>
                </a:cubicBezTo>
                <a:cubicBezTo>
                  <a:pt x="130" y="0"/>
                  <a:pt x="137" y="8"/>
                  <a:pt x="137" y="16"/>
                </a:cubicBezTo>
                <a:lnTo>
                  <a:pt x="137" y="79"/>
                </a:lnTo>
                <a:close/>
              </a:path>
            </a:pathLst>
          </a:custGeom>
          <a:solidFill>
            <a:srgbClr val="D7E2E0"/>
          </a:solidFill>
          <a:ln w="9525">
            <a:noFill/>
            <a:round/>
            <a:headEnd/>
            <a:tailEnd/>
          </a:ln>
        </p:spPr>
        <p:txBody>
          <a:bodyPr/>
          <a:lstStyle/>
          <a:p>
            <a:endParaRPr lang="en-US"/>
          </a:p>
        </p:txBody>
      </p:sp>
      <p:sp>
        <p:nvSpPr>
          <p:cNvPr id="205881" name="Rectangle 57"/>
          <p:cNvSpPr>
            <a:spLocks noChangeArrowheads="1"/>
          </p:cNvSpPr>
          <p:nvPr/>
        </p:nvSpPr>
        <p:spPr bwMode="auto">
          <a:xfrm>
            <a:off x="4421188" y="1638300"/>
            <a:ext cx="70485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Optimal point</a:t>
            </a:r>
            <a:endParaRPr lang="en-US" sz="1400">
              <a:latin typeface="Tahoma" pitchFamily="34" charset="0"/>
            </a:endParaRPr>
          </a:p>
        </p:txBody>
      </p:sp>
      <p:sp>
        <p:nvSpPr>
          <p:cNvPr id="205882" name="Line 58"/>
          <p:cNvSpPr>
            <a:spLocks noChangeShapeType="1"/>
          </p:cNvSpPr>
          <p:nvPr/>
        </p:nvSpPr>
        <p:spPr bwMode="auto">
          <a:xfrm>
            <a:off x="1970088" y="2571750"/>
            <a:ext cx="157162" cy="0"/>
          </a:xfrm>
          <a:prstGeom prst="line">
            <a:avLst/>
          </a:prstGeom>
          <a:noFill/>
          <a:ln w="7938">
            <a:solidFill>
              <a:srgbClr val="000000"/>
            </a:solidFill>
            <a:miter lim="800000"/>
            <a:headEnd/>
            <a:tailEnd/>
          </a:ln>
        </p:spPr>
        <p:txBody>
          <a:bodyPr/>
          <a:lstStyle/>
          <a:p>
            <a:endParaRPr lang="en-US"/>
          </a:p>
        </p:txBody>
      </p:sp>
      <p:sp>
        <p:nvSpPr>
          <p:cNvPr id="205883" name="Freeform 59"/>
          <p:cNvSpPr>
            <a:spLocks/>
          </p:cNvSpPr>
          <p:nvPr/>
        </p:nvSpPr>
        <p:spPr bwMode="auto">
          <a:xfrm>
            <a:off x="1296988" y="2317750"/>
            <a:ext cx="677862" cy="519113"/>
          </a:xfrm>
          <a:custGeom>
            <a:avLst/>
            <a:gdLst>
              <a:gd name="T0" fmla="*/ 2147483647 w 121"/>
              <a:gd name="T1" fmla="*/ 2147483647 h 94"/>
              <a:gd name="T2" fmla="*/ 2147483647 w 121"/>
              <a:gd name="T3" fmla="*/ 2147483647 h 94"/>
              <a:gd name="T4" fmla="*/ 2147483647 w 121"/>
              <a:gd name="T5" fmla="*/ 2147483647 h 94"/>
              <a:gd name="T6" fmla="*/ 0 w 121"/>
              <a:gd name="T7" fmla="*/ 2147483647 h 94"/>
              <a:gd name="T8" fmla="*/ 0 w 121"/>
              <a:gd name="T9" fmla="*/ 2147483647 h 94"/>
              <a:gd name="T10" fmla="*/ 2147483647 w 121"/>
              <a:gd name="T11" fmla="*/ 0 h 94"/>
              <a:gd name="T12" fmla="*/ 2147483647 w 121"/>
              <a:gd name="T13" fmla="*/ 0 h 94"/>
              <a:gd name="T14" fmla="*/ 2147483647 w 121"/>
              <a:gd name="T15" fmla="*/ 2147483647 h 94"/>
              <a:gd name="T16" fmla="*/ 2147483647 w 121"/>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1"/>
              <a:gd name="T28" fmla="*/ 0 h 94"/>
              <a:gd name="T29" fmla="*/ 121 w 121"/>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1" h="94">
                <a:moveTo>
                  <a:pt x="121" y="78"/>
                </a:moveTo>
                <a:cubicBezTo>
                  <a:pt x="121" y="87"/>
                  <a:pt x="114" y="94"/>
                  <a:pt x="105" y="94"/>
                </a:cubicBezTo>
                <a:cubicBezTo>
                  <a:pt x="16" y="94"/>
                  <a:pt x="16" y="94"/>
                  <a:pt x="16" y="94"/>
                </a:cubicBezTo>
                <a:cubicBezTo>
                  <a:pt x="8" y="94"/>
                  <a:pt x="0" y="87"/>
                  <a:pt x="0" y="78"/>
                </a:cubicBezTo>
                <a:cubicBezTo>
                  <a:pt x="0" y="16"/>
                  <a:pt x="0" y="16"/>
                  <a:pt x="0" y="16"/>
                </a:cubicBezTo>
                <a:cubicBezTo>
                  <a:pt x="0" y="7"/>
                  <a:pt x="8" y="0"/>
                  <a:pt x="16" y="0"/>
                </a:cubicBezTo>
                <a:cubicBezTo>
                  <a:pt x="105" y="0"/>
                  <a:pt x="105" y="0"/>
                  <a:pt x="105" y="0"/>
                </a:cubicBezTo>
                <a:cubicBezTo>
                  <a:pt x="114" y="0"/>
                  <a:pt x="121" y="7"/>
                  <a:pt x="121" y="16"/>
                </a:cubicBezTo>
                <a:lnTo>
                  <a:pt x="121" y="78"/>
                </a:lnTo>
                <a:close/>
              </a:path>
            </a:pathLst>
          </a:custGeom>
          <a:solidFill>
            <a:srgbClr val="D7E2E0"/>
          </a:solidFill>
          <a:ln w="9525">
            <a:noFill/>
            <a:round/>
            <a:headEnd/>
            <a:tailEnd/>
          </a:ln>
        </p:spPr>
        <p:txBody>
          <a:bodyPr/>
          <a:lstStyle/>
          <a:p>
            <a:endParaRPr lang="en-US"/>
          </a:p>
        </p:txBody>
      </p:sp>
      <p:sp>
        <p:nvSpPr>
          <p:cNvPr id="205884" name="Rectangle 60"/>
          <p:cNvSpPr>
            <a:spLocks noChangeArrowheads="1"/>
          </p:cNvSpPr>
          <p:nvPr/>
        </p:nvSpPr>
        <p:spPr bwMode="auto">
          <a:xfrm>
            <a:off x="1341438" y="2349500"/>
            <a:ext cx="617537"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Market price</a:t>
            </a:r>
            <a:endParaRPr lang="en-US" sz="1400">
              <a:latin typeface="Tahoma" pitchFamily="34" charset="0"/>
            </a:endParaRPr>
          </a:p>
        </p:txBody>
      </p:sp>
      <p:sp>
        <p:nvSpPr>
          <p:cNvPr id="46138" name="Freeform 61"/>
          <p:cNvSpPr>
            <a:spLocks/>
          </p:cNvSpPr>
          <p:nvPr/>
        </p:nvSpPr>
        <p:spPr bwMode="auto">
          <a:xfrm>
            <a:off x="2465388" y="838200"/>
            <a:ext cx="5853112" cy="3835400"/>
          </a:xfrm>
          <a:custGeom>
            <a:avLst/>
            <a:gdLst>
              <a:gd name="T0" fmla="*/ 2147483647 w 2467"/>
              <a:gd name="T1" fmla="*/ 2147483647 h 1637"/>
              <a:gd name="T2" fmla="*/ 0 w 2467"/>
              <a:gd name="T3" fmla="*/ 2147483647 h 1637"/>
              <a:gd name="T4" fmla="*/ 0 w 2467"/>
              <a:gd name="T5" fmla="*/ 0 h 1637"/>
              <a:gd name="T6" fmla="*/ 0 60000 65536"/>
              <a:gd name="T7" fmla="*/ 0 60000 65536"/>
              <a:gd name="T8" fmla="*/ 0 60000 65536"/>
              <a:gd name="T9" fmla="*/ 0 w 2467"/>
              <a:gd name="T10" fmla="*/ 0 h 1637"/>
              <a:gd name="T11" fmla="*/ 2467 w 2467"/>
              <a:gd name="T12" fmla="*/ 1637 h 1637"/>
            </a:gdLst>
            <a:ahLst/>
            <a:cxnLst>
              <a:cxn ang="T6">
                <a:pos x="T0" y="T1"/>
              </a:cxn>
              <a:cxn ang="T7">
                <a:pos x="T2" y="T3"/>
              </a:cxn>
              <a:cxn ang="T8">
                <a:pos x="T4" y="T5"/>
              </a:cxn>
            </a:cxnLst>
            <a:rect l="T9" t="T10" r="T11" b="T12"/>
            <a:pathLst>
              <a:path w="2467" h="1637">
                <a:moveTo>
                  <a:pt x="2467" y="1637"/>
                </a:moveTo>
                <a:lnTo>
                  <a:pt x="0" y="1637"/>
                </a:lnTo>
                <a:lnTo>
                  <a:pt x="0" y="0"/>
                </a:lnTo>
              </a:path>
            </a:pathLst>
          </a:custGeom>
          <a:noFill/>
          <a:ln w="7938">
            <a:solidFill>
              <a:srgbClr val="000000"/>
            </a:solidFill>
            <a:miter lim="800000"/>
            <a:headEnd/>
            <a:tailEnd/>
          </a:ln>
        </p:spPr>
        <p:txBody>
          <a:bodyPr/>
          <a:lstStyle/>
          <a:p>
            <a:endParaRPr lang="en-US"/>
          </a:p>
        </p:txBody>
      </p:sp>
      <p:cxnSp>
        <p:nvCxnSpPr>
          <p:cNvPr id="548914" name="Straight Connector 86"/>
          <p:cNvCxnSpPr>
            <a:cxnSpLocks noChangeShapeType="1"/>
          </p:cNvCxnSpPr>
          <p:nvPr/>
        </p:nvCxnSpPr>
        <p:spPr bwMode="auto">
          <a:xfrm>
            <a:off x="5878513" y="2643188"/>
            <a:ext cx="0" cy="1938337"/>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8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87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58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58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58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58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587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5867"/>
                                        </p:tgtEl>
                                        <p:attrNameLst>
                                          <p:attrName>style.visibility</p:attrName>
                                        </p:attrNameLst>
                                      </p:cBhvr>
                                      <p:to>
                                        <p:strVal val="visible"/>
                                      </p:to>
                                    </p:set>
                                  </p:childTnLst>
                                </p:cTn>
                              </p:par>
                              <p:par>
                                <p:cTn id="21" presetID="22" presetClass="entr" presetSubtype="8" fill="hold" grpId="0" nodeType="withEffect">
                                  <p:stCondLst>
                                    <p:cond delay="0"/>
                                  </p:stCondLst>
                                  <p:childTnLst>
                                    <p:set>
                                      <p:cBhvr>
                                        <p:cTn id="22" dur="1" fill="hold">
                                          <p:stCondLst>
                                            <p:cond delay="0"/>
                                          </p:stCondLst>
                                        </p:cTn>
                                        <p:tgtEl>
                                          <p:spTgt spid="205830"/>
                                        </p:tgtEl>
                                        <p:attrNameLst>
                                          <p:attrName>style.visibility</p:attrName>
                                        </p:attrNameLst>
                                      </p:cBhvr>
                                      <p:to>
                                        <p:strVal val="visible"/>
                                      </p:to>
                                    </p:set>
                                    <p:animEffect transition="in" filter="wipe(left)">
                                      <p:cBhvr>
                                        <p:cTn id="23" dur="500"/>
                                        <p:tgtEl>
                                          <p:spTgt spid="205830"/>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20587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0586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05884"/>
                                        </p:tgtEl>
                                        <p:attrNameLst>
                                          <p:attrName>style.visibility</p:attrName>
                                        </p:attrNameLst>
                                      </p:cBhvr>
                                      <p:to>
                                        <p:strVal val="visible"/>
                                      </p:to>
                                    </p:set>
                                    <p:animEffect transition="in" filter="wipe(down)">
                                      <p:cBhvr>
                                        <p:cTn id="32" dur="500"/>
                                        <p:tgtEl>
                                          <p:spTgt spid="205884"/>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20588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588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05881"/>
                                        </p:tgtEl>
                                        <p:attrNameLst>
                                          <p:attrName>style.visibility</p:attrName>
                                        </p:attrNameLst>
                                      </p:cBhvr>
                                      <p:to>
                                        <p:strVal val="visible"/>
                                      </p:to>
                                    </p:set>
                                    <p:animEffect transition="in" filter="wipe(down)">
                                      <p:cBhvr>
                                        <p:cTn id="41" dur="500"/>
                                        <p:tgtEl>
                                          <p:spTgt spid="205881"/>
                                        </p:tgtEl>
                                      </p:cBhvr>
                                    </p:animEffect>
                                  </p:childTnLst>
                                </p:cTn>
                              </p:par>
                              <p:par>
                                <p:cTn id="42" presetID="1" presetClass="entr" presetSubtype="0" fill="hold" grpId="0" nodeType="withEffect">
                                  <p:stCondLst>
                                    <p:cond delay="0"/>
                                  </p:stCondLst>
                                  <p:childTnLst>
                                    <p:set>
                                      <p:cBhvr>
                                        <p:cTn id="43" dur="1" fill="hold">
                                          <p:stCondLst>
                                            <p:cond delay="0"/>
                                          </p:stCondLst>
                                        </p:cTn>
                                        <p:tgtEl>
                                          <p:spTgt spid="205876"/>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0588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548914"/>
                                        </p:tgtEl>
                                        <p:attrNameLst>
                                          <p:attrName>style.visibility</p:attrName>
                                        </p:attrNameLst>
                                      </p:cBhvr>
                                      <p:to>
                                        <p:strVal val="visible"/>
                                      </p:to>
                                    </p:set>
                                    <p:animEffect transition="in" filter="wipe(up)">
                                      <p:cBhvr>
                                        <p:cTn id="50" dur="500"/>
                                        <p:tgtEl>
                                          <p:spTgt spid="548914"/>
                                        </p:tgtEl>
                                      </p:cBhvr>
                                    </p:animEffec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0"/>
                                          </p:stCondLst>
                                        </p:cTn>
                                        <p:tgtEl>
                                          <p:spTgt spid="205879"/>
                                        </p:tgtEl>
                                        <p:attrNameLst>
                                          <p:attrName>style.visibility</p:attrName>
                                        </p:attrNameLst>
                                      </p:cBhvr>
                                      <p:to>
                                        <p:strVal val="visible"/>
                                      </p:to>
                                    </p:set>
                                  </p:childTnLst>
                                </p:cTn>
                              </p:par>
                              <p:par>
                                <p:cTn id="54" presetID="22" presetClass="entr" presetSubtype="1" fill="hold" grpId="0" nodeType="withEffect">
                                  <p:stCondLst>
                                    <p:cond delay="0"/>
                                  </p:stCondLst>
                                  <p:childTnLst>
                                    <p:set>
                                      <p:cBhvr>
                                        <p:cTn id="55" dur="1" fill="hold">
                                          <p:stCondLst>
                                            <p:cond delay="0"/>
                                          </p:stCondLst>
                                        </p:cTn>
                                        <p:tgtEl>
                                          <p:spTgt spid="205878"/>
                                        </p:tgtEl>
                                        <p:attrNameLst>
                                          <p:attrName>style.visibility</p:attrName>
                                        </p:attrNameLst>
                                      </p:cBhvr>
                                      <p:to>
                                        <p:strVal val="visible"/>
                                      </p:to>
                                    </p:set>
                                    <p:animEffect transition="in" filter="wipe(up)">
                                      <p:cBhvr>
                                        <p:cTn id="56" dur="500"/>
                                        <p:tgtEl>
                                          <p:spTgt spid="205878"/>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205877"/>
                                        </p:tgtEl>
                                        <p:attrNameLst>
                                          <p:attrName>style.visibility</p:attrName>
                                        </p:attrNameLst>
                                      </p:cBhvr>
                                      <p:to>
                                        <p:strVal val="visible"/>
                                      </p:to>
                                    </p:set>
                                    <p:animEffect transition="in" filter="wipe(up)">
                                      <p:cBhvr>
                                        <p:cTn id="59" dur="500"/>
                                        <p:tgtEl>
                                          <p:spTgt spid="205877"/>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2" grpId="0" animBg="1"/>
      <p:bldP spid="205830" grpId="0" animBg="1"/>
      <p:bldP spid="205862" grpId="0"/>
      <p:bldP spid="205866" grpId="0"/>
      <p:bldP spid="205867" grpId="0" animBg="1"/>
      <p:bldP spid="205868" grpId="0" animBg="1"/>
      <p:bldP spid="205869" grpId="0" animBg="1"/>
      <p:bldP spid="205870" grpId="0" animBg="1"/>
      <p:bldP spid="205871" grpId="0" animBg="1"/>
      <p:bldP spid="205872" grpId="0" animBg="1"/>
      <p:bldP spid="205873" grpId="0" animBg="1"/>
      <p:bldP spid="205875" grpId="0" animBg="1"/>
      <p:bldP spid="205876" grpId="0" animBg="1"/>
      <p:bldP spid="205877" grpId="0" animBg="1"/>
      <p:bldP spid="205878" grpId="0"/>
      <p:bldP spid="205879" grpId="0" animBg="1"/>
      <p:bldP spid="205880" grpId="0" animBg="1"/>
      <p:bldP spid="205881" grpId="0"/>
      <p:bldP spid="205882" grpId="0" animBg="1"/>
      <p:bldP spid="205883" grpId="0" animBg="1"/>
      <p:bldP spid="20588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rrowheads="1"/>
          </p:cNvSpPr>
          <p:nvPr>
            <p:ph type="title" idx="4294967295"/>
          </p:nvPr>
        </p:nvSpPr>
        <p:spPr>
          <a:xfrm>
            <a:off x="827088" y="76200"/>
            <a:ext cx="8066087" cy="579438"/>
          </a:xfrm>
        </p:spPr>
        <p:txBody>
          <a:bodyPr/>
          <a:lstStyle/>
          <a:p>
            <a:pPr>
              <a:defRPr/>
            </a:pPr>
            <a:r>
              <a:rPr lang="en-US" sz="2800" dirty="0" smtClean="0"/>
              <a:t>Short-Run Average Costs</a:t>
            </a:r>
            <a:endParaRPr lang="en-US" sz="2800" b="0" dirty="0" smtClean="0"/>
          </a:p>
        </p:txBody>
      </p:sp>
      <p:pic>
        <p:nvPicPr>
          <p:cNvPr id="2" name="Picture 1" descr="Krug3e_table_12_03.jpg"/>
          <p:cNvPicPr>
            <a:picLocks noChangeAspect="1"/>
          </p:cNvPicPr>
          <p:nvPr/>
        </p:nvPicPr>
        <p:blipFill>
          <a:blip r:embed="rId3"/>
          <a:srcRect/>
          <a:stretch>
            <a:fillRect/>
          </a:stretch>
        </p:blipFill>
        <p:spPr bwMode="auto">
          <a:xfrm>
            <a:off x="684213" y="700088"/>
            <a:ext cx="8229600" cy="3773487"/>
          </a:xfrm>
          <a:prstGeom prst="rect">
            <a:avLst/>
          </a:prstGeom>
          <a:noFill/>
          <a:ln w="9525">
            <a:noFill/>
            <a:miter lim="800000"/>
            <a:headEnd/>
            <a:tailEnd/>
          </a:ln>
        </p:spPr>
      </p:pic>
      <p:sp>
        <p:nvSpPr>
          <p:cNvPr id="77827" name="Rectangle 3"/>
          <p:cNvSpPr>
            <a:spLocks noChangeArrowheads="1"/>
          </p:cNvSpPr>
          <p:nvPr/>
        </p:nvSpPr>
        <p:spPr bwMode="auto">
          <a:xfrm>
            <a:off x="900113" y="4652963"/>
            <a:ext cx="8064500" cy="2016125"/>
          </a:xfrm>
          <a:prstGeom prst="rect">
            <a:avLst/>
          </a:prstGeom>
          <a:noFill/>
          <a:ln w="9525">
            <a:noFill/>
            <a:miter lim="800000"/>
            <a:headEnd/>
            <a:tailEnd/>
          </a:ln>
        </p:spPr>
        <p:txBody>
          <a:bodyPr/>
          <a:lstStyle/>
          <a:p>
            <a:pPr marL="342900" indent="-342900" eaLnBrk="0" hangingPunct="0">
              <a:spcBef>
                <a:spcPct val="20000"/>
              </a:spcBef>
              <a:buClr>
                <a:schemeClr val="tx1"/>
              </a:buClr>
              <a:buFont typeface="Arial" charset="0"/>
              <a:buNone/>
              <a:defRPr/>
            </a:pPr>
            <a:r>
              <a:rPr lang="en-US" sz="2600" dirty="0">
                <a:effectLst>
                  <a:outerShdw blurRad="38100" dist="38100" dir="2700000" algn="tl">
                    <a:srgbClr val="C0C0C0"/>
                  </a:outerShdw>
                </a:effectLst>
              </a:rPr>
              <a:t>When Is Production Profitable?</a:t>
            </a:r>
            <a:endParaRPr lang="en-US" sz="2600" dirty="0"/>
          </a:p>
          <a:p>
            <a:pPr marL="342900" indent="-342900" eaLnBrk="0" hangingPunct="0">
              <a:spcBef>
                <a:spcPct val="20000"/>
              </a:spcBef>
              <a:buClr>
                <a:schemeClr val="tx1"/>
              </a:buClr>
              <a:buFont typeface="Arial" charset="0"/>
              <a:buChar char="•"/>
              <a:defRPr/>
            </a:pPr>
            <a:r>
              <a:rPr lang="en-US" sz="2500" dirty="0"/>
              <a:t>If </a:t>
            </a:r>
            <a:r>
              <a:rPr lang="en-US" sz="2500" b="1" i="1" dirty="0"/>
              <a:t>TR </a:t>
            </a:r>
            <a:r>
              <a:rPr lang="en-US" sz="2500" b="1" dirty="0"/>
              <a:t>&gt; </a:t>
            </a:r>
            <a:r>
              <a:rPr lang="en-US" sz="2500" b="1" i="1" dirty="0"/>
              <a:t>TC</a:t>
            </a:r>
            <a:r>
              <a:rPr lang="en-US" sz="2500" dirty="0"/>
              <a:t>, </a:t>
            </a:r>
            <a:r>
              <a:rPr lang="en-US" sz="2500" b="1" i="1" dirty="0">
                <a:solidFill>
                  <a:srgbClr val="0070C0"/>
                </a:solidFill>
              </a:rPr>
              <a:t>P </a:t>
            </a:r>
            <a:r>
              <a:rPr lang="en-US" sz="2500" b="1" dirty="0">
                <a:solidFill>
                  <a:srgbClr val="0070C0"/>
                </a:solidFill>
              </a:rPr>
              <a:t>&gt; A</a:t>
            </a:r>
            <a:r>
              <a:rPr lang="en-US" sz="2500" b="1" i="1" dirty="0">
                <a:solidFill>
                  <a:srgbClr val="0070C0"/>
                </a:solidFill>
              </a:rPr>
              <a:t>TC</a:t>
            </a:r>
            <a:r>
              <a:rPr lang="en-US" sz="2500" dirty="0">
                <a:solidFill>
                  <a:srgbClr val="0070C0"/>
                </a:solidFill>
              </a:rPr>
              <a:t>,</a:t>
            </a:r>
            <a:r>
              <a:rPr lang="en-US" sz="2500" dirty="0"/>
              <a:t> the firm is </a:t>
            </a:r>
            <a:r>
              <a:rPr lang="en-US" sz="2500" b="1" i="1" dirty="0"/>
              <a:t>profitable</a:t>
            </a:r>
            <a:r>
              <a:rPr lang="en-US" sz="2500" dirty="0"/>
              <a:t>.</a:t>
            </a:r>
          </a:p>
          <a:p>
            <a:pPr marL="342900" indent="-342900" eaLnBrk="0" hangingPunct="0">
              <a:spcBef>
                <a:spcPct val="20000"/>
              </a:spcBef>
              <a:buClr>
                <a:schemeClr val="tx1"/>
              </a:buClr>
              <a:buFont typeface="Arial" charset="0"/>
              <a:buChar char="•"/>
              <a:defRPr/>
            </a:pPr>
            <a:r>
              <a:rPr lang="en-US" sz="2500" dirty="0"/>
              <a:t>If </a:t>
            </a:r>
            <a:r>
              <a:rPr lang="en-US" sz="2500" b="1" i="1" dirty="0"/>
              <a:t>TR = TC</a:t>
            </a:r>
            <a:r>
              <a:rPr lang="en-US" sz="2500" dirty="0"/>
              <a:t>, </a:t>
            </a:r>
            <a:r>
              <a:rPr lang="en-US" sz="2500" b="1" i="1" dirty="0">
                <a:solidFill>
                  <a:srgbClr val="0070C0"/>
                </a:solidFill>
              </a:rPr>
              <a:t>P </a:t>
            </a:r>
            <a:r>
              <a:rPr lang="en-US" sz="2500" b="1" dirty="0">
                <a:solidFill>
                  <a:srgbClr val="0070C0"/>
                </a:solidFill>
              </a:rPr>
              <a:t>= A</a:t>
            </a:r>
            <a:r>
              <a:rPr lang="en-US" sz="2500" b="1" i="1" dirty="0">
                <a:solidFill>
                  <a:srgbClr val="0070C0"/>
                </a:solidFill>
              </a:rPr>
              <a:t>TC</a:t>
            </a:r>
            <a:r>
              <a:rPr lang="en-US" sz="2500" dirty="0">
                <a:solidFill>
                  <a:srgbClr val="0070C0"/>
                </a:solidFill>
              </a:rPr>
              <a:t>,</a:t>
            </a:r>
            <a:r>
              <a:rPr lang="en-US" sz="2500" dirty="0"/>
              <a:t> the firm </a:t>
            </a:r>
            <a:r>
              <a:rPr lang="en-US" sz="2500" b="1" i="1" dirty="0"/>
              <a:t>breaks even</a:t>
            </a:r>
            <a:r>
              <a:rPr lang="en-US" sz="2500" dirty="0"/>
              <a:t>.</a:t>
            </a:r>
          </a:p>
          <a:p>
            <a:pPr marL="342900" indent="-342900" eaLnBrk="0" hangingPunct="0">
              <a:spcBef>
                <a:spcPct val="20000"/>
              </a:spcBef>
              <a:buClr>
                <a:schemeClr val="tx1"/>
              </a:buClr>
              <a:buFont typeface="Arial" charset="0"/>
              <a:buChar char="•"/>
              <a:defRPr/>
            </a:pPr>
            <a:r>
              <a:rPr lang="en-US" sz="2500" dirty="0"/>
              <a:t>If </a:t>
            </a:r>
            <a:r>
              <a:rPr lang="en-US" sz="2500" b="1" i="1" dirty="0"/>
              <a:t>TR </a:t>
            </a:r>
            <a:r>
              <a:rPr lang="en-US" sz="2500" b="1" dirty="0"/>
              <a:t>&lt; </a:t>
            </a:r>
            <a:r>
              <a:rPr lang="en-US" sz="2500" b="1" i="1" dirty="0"/>
              <a:t>TC</a:t>
            </a:r>
            <a:r>
              <a:rPr lang="en-US" sz="2500" dirty="0"/>
              <a:t>,</a:t>
            </a:r>
            <a:r>
              <a:rPr lang="en-US" sz="2500" b="1" i="1" dirty="0"/>
              <a:t> </a:t>
            </a:r>
            <a:r>
              <a:rPr lang="en-US" sz="2500" b="1" i="1" dirty="0">
                <a:solidFill>
                  <a:srgbClr val="0070C0"/>
                </a:solidFill>
              </a:rPr>
              <a:t>P </a:t>
            </a:r>
            <a:r>
              <a:rPr lang="en-US" sz="2500" b="1" dirty="0">
                <a:solidFill>
                  <a:srgbClr val="0070C0"/>
                </a:solidFill>
              </a:rPr>
              <a:t>&lt; A</a:t>
            </a:r>
            <a:r>
              <a:rPr lang="en-US" sz="2500" b="1" i="1" dirty="0">
                <a:solidFill>
                  <a:srgbClr val="0070C0"/>
                </a:solidFill>
              </a:rPr>
              <a:t>TC</a:t>
            </a:r>
            <a:r>
              <a:rPr lang="en-US" sz="2500" dirty="0">
                <a:solidFill>
                  <a:srgbClr val="0070C0"/>
                </a:solidFill>
              </a:rPr>
              <a:t>,</a:t>
            </a:r>
            <a:r>
              <a:rPr lang="en-US" sz="2500" dirty="0"/>
              <a:t> the firm </a:t>
            </a:r>
            <a:r>
              <a:rPr lang="en-US" sz="2500" b="1" i="1" dirty="0"/>
              <a:t>incurs a loss</a:t>
            </a:r>
            <a:r>
              <a:rPr lang="en-US" sz="25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7827">
                                            <p:txEl>
                                              <p:pRg st="0" end="0"/>
                                            </p:txEl>
                                          </p:spTgt>
                                        </p:tgtEl>
                                        <p:attrNameLst>
                                          <p:attrName>style.visibility</p:attrName>
                                        </p:attrNameLst>
                                      </p:cBhvr>
                                      <p:to>
                                        <p:strVal val="visible"/>
                                      </p:to>
                                    </p:set>
                                    <p:animEffect transition="in" filter="fade">
                                      <p:cBhvr>
                                        <p:cTn id="12" dur="500"/>
                                        <p:tgtEl>
                                          <p:spTgt spid="77827">
                                            <p:txEl>
                                              <p:pRg st="0" end="0"/>
                                            </p:txEl>
                                          </p:spTgt>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77827">
                                            <p:txEl>
                                              <p:pRg st="1" end="1"/>
                                            </p:txEl>
                                          </p:spTgt>
                                        </p:tgtEl>
                                        <p:attrNameLst>
                                          <p:attrName>style.visibility</p:attrName>
                                        </p:attrNameLst>
                                      </p:cBhvr>
                                      <p:to>
                                        <p:strVal val="visible"/>
                                      </p:to>
                                    </p:set>
                                    <p:animEffect transition="in" filter="fade">
                                      <p:cBhvr>
                                        <p:cTn id="16" dur="500"/>
                                        <p:tgtEl>
                                          <p:spTgt spid="77827">
                                            <p:txEl>
                                              <p:pRg st="1" end="1"/>
                                            </p:txEl>
                                          </p:spTgt>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77827">
                                            <p:txEl>
                                              <p:pRg st="2" end="2"/>
                                            </p:txEl>
                                          </p:spTgt>
                                        </p:tgtEl>
                                        <p:attrNameLst>
                                          <p:attrName>style.visibility</p:attrName>
                                        </p:attrNameLst>
                                      </p:cBhvr>
                                      <p:to>
                                        <p:strVal val="visible"/>
                                      </p:to>
                                    </p:set>
                                    <p:animEffect transition="in" filter="fade">
                                      <p:cBhvr>
                                        <p:cTn id="20" dur="500"/>
                                        <p:tgtEl>
                                          <p:spTgt spid="77827">
                                            <p:txEl>
                                              <p:pRg st="2" end="2"/>
                                            </p:txEl>
                                          </p:spTgt>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77827">
                                            <p:txEl>
                                              <p:pRg st="3" end="3"/>
                                            </p:txEl>
                                          </p:spTgt>
                                        </p:tgtEl>
                                        <p:attrNameLst>
                                          <p:attrName>style.visibility</p:attrName>
                                        </p:attrNameLst>
                                      </p:cBhvr>
                                      <p:to>
                                        <p:strVal val="visible"/>
                                      </p:to>
                                    </p:set>
                                    <p:animEffect transition="in" filter="fade">
                                      <p:cBhvr>
                                        <p:cTn id="24" dur="500"/>
                                        <p:tgtEl>
                                          <p:spTgt spid="778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rrowheads="1"/>
          </p:cNvSpPr>
          <p:nvPr>
            <p:ph type="title" idx="4294967295"/>
          </p:nvPr>
        </p:nvSpPr>
        <p:spPr>
          <a:xfrm>
            <a:off x="862013" y="60325"/>
            <a:ext cx="8031162" cy="555625"/>
          </a:xfrm>
        </p:spPr>
        <p:txBody>
          <a:bodyPr/>
          <a:lstStyle/>
          <a:p>
            <a:pPr>
              <a:defRPr/>
            </a:pPr>
            <a:r>
              <a:rPr lang="en-US" dirty="0" smtClean="0"/>
              <a:t>Costs and Production in the Short Run </a:t>
            </a:r>
          </a:p>
        </p:txBody>
      </p:sp>
      <p:sp>
        <p:nvSpPr>
          <p:cNvPr id="50178" name="AutoShape 5"/>
          <p:cNvSpPr>
            <a:spLocks noChangeAspect="1" noChangeArrowheads="1" noTextEdit="1"/>
          </p:cNvSpPr>
          <p:nvPr/>
        </p:nvSpPr>
        <p:spPr bwMode="auto">
          <a:xfrm>
            <a:off x="704850" y="1303338"/>
            <a:ext cx="6737350" cy="4419600"/>
          </a:xfrm>
          <a:prstGeom prst="rect">
            <a:avLst/>
          </a:prstGeom>
          <a:noFill/>
          <a:ln w="9525">
            <a:noFill/>
            <a:miter lim="800000"/>
            <a:headEnd/>
            <a:tailEnd/>
          </a:ln>
        </p:spPr>
        <p:txBody>
          <a:bodyPr/>
          <a:lstStyle/>
          <a:p>
            <a:endParaRPr lang="en-US"/>
          </a:p>
        </p:txBody>
      </p:sp>
      <p:sp>
        <p:nvSpPr>
          <p:cNvPr id="50179" name="Line 6"/>
          <p:cNvSpPr>
            <a:spLocks noChangeShapeType="1"/>
          </p:cNvSpPr>
          <p:nvPr/>
        </p:nvSpPr>
        <p:spPr bwMode="auto">
          <a:xfrm>
            <a:off x="1862138" y="3552825"/>
            <a:ext cx="141287" cy="0"/>
          </a:xfrm>
          <a:prstGeom prst="line">
            <a:avLst/>
          </a:prstGeom>
          <a:noFill/>
          <a:ln w="7938">
            <a:solidFill>
              <a:srgbClr val="000000"/>
            </a:solidFill>
            <a:miter lim="800000"/>
            <a:headEnd/>
            <a:tailEnd/>
          </a:ln>
        </p:spPr>
        <p:txBody>
          <a:bodyPr/>
          <a:lstStyle/>
          <a:p>
            <a:endParaRPr lang="en-US"/>
          </a:p>
        </p:txBody>
      </p:sp>
      <p:sp>
        <p:nvSpPr>
          <p:cNvPr id="50180" name="Line 8"/>
          <p:cNvSpPr>
            <a:spLocks noChangeShapeType="1"/>
          </p:cNvSpPr>
          <p:nvPr/>
        </p:nvSpPr>
        <p:spPr bwMode="auto">
          <a:xfrm>
            <a:off x="1862138" y="3552825"/>
            <a:ext cx="4568825" cy="0"/>
          </a:xfrm>
          <a:prstGeom prst="line">
            <a:avLst/>
          </a:prstGeom>
          <a:noFill/>
          <a:ln w="22225">
            <a:solidFill>
              <a:srgbClr val="4B8FCC"/>
            </a:solidFill>
            <a:miter lim="800000"/>
            <a:headEnd/>
            <a:tailEnd/>
          </a:ln>
        </p:spPr>
        <p:txBody>
          <a:bodyPr/>
          <a:lstStyle/>
          <a:p>
            <a:endParaRPr lang="en-US"/>
          </a:p>
        </p:txBody>
      </p:sp>
      <p:sp>
        <p:nvSpPr>
          <p:cNvPr id="50181" name="Freeform 9"/>
          <p:cNvSpPr>
            <a:spLocks/>
          </p:cNvSpPr>
          <p:nvPr/>
        </p:nvSpPr>
        <p:spPr bwMode="auto">
          <a:xfrm>
            <a:off x="2516188" y="1995488"/>
            <a:ext cx="3919537" cy="1566862"/>
          </a:xfrm>
          <a:custGeom>
            <a:avLst/>
            <a:gdLst>
              <a:gd name="T0" fmla="*/ 0 w 667"/>
              <a:gd name="T1" fmla="*/ 0 h 337"/>
              <a:gd name="T2" fmla="*/ 2147483647 w 667"/>
              <a:gd name="T3" fmla="*/ 2147483647 h 337"/>
              <a:gd name="T4" fmla="*/ 2147483647 w 667"/>
              <a:gd name="T5" fmla="*/ 2147483647 h 337"/>
              <a:gd name="T6" fmla="*/ 2147483647 w 667"/>
              <a:gd name="T7" fmla="*/ 2147483647 h 337"/>
              <a:gd name="T8" fmla="*/ 0 60000 65536"/>
              <a:gd name="T9" fmla="*/ 0 60000 65536"/>
              <a:gd name="T10" fmla="*/ 0 60000 65536"/>
              <a:gd name="T11" fmla="*/ 0 60000 65536"/>
              <a:gd name="T12" fmla="*/ 0 w 667"/>
              <a:gd name="T13" fmla="*/ 0 h 337"/>
              <a:gd name="T14" fmla="*/ 667 w 667"/>
              <a:gd name="T15" fmla="*/ 337 h 337"/>
            </a:gdLst>
            <a:ahLst/>
            <a:cxnLst>
              <a:cxn ang="T8">
                <a:pos x="T0" y="T1"/>
              </a:cxn>
              <a:cxn ang="T9">
                <a:pos x="T2" y="T3"/>
              </a:cxn>
              <a:cxn ang="T10">
                <a:pos x="T4" y="T5"/>
              </a:cxn>
              <a:cxn ang="T11">
                <a:pos x="T6" y="T7"/>
              </a:cxn>
            </a:cxnLst>
            <a:rect l="T12" t="T13" r="T14" b="T15"/>
            <a:pathLst>
              <a:path w="667" h="337">
                <a:moveTo>
                  <a:pt x="0" y="0"/>
                </a:moveTo>
                <a:cubicBezTo>
                  <a:pt x="0" y="0"/>
                  <a:pt x="37" y="313"/>
                  <a:pt x="280" y="332"/>
                </a:cubicBezTo>
                <a:cubicBezTo>
                  <a:pt x="342" y="337"/>
                  <a:pt x="436" y="329"/>
                  <a:pt x="501" y="318"/>
                </a:cubicBezTo>
                <a:cubicBezTo>
                  <a:pt x="566" y="306"/>
                  <a:pt x="667" y="281"/>
                  <a:pt x="667" y="281"/>
                </a:cubicBezTo>
              </a:path>
            </a:pathLst>
          </a:custGeom>
          <a:noFill/>
          <a:ln w="30163" cap="flat">
            <a:solidFill>
              <a:srgbClr val="8C64AB"/>
            </a:solidFill>
            <a:prstDash val="solid"/>
            <a:miter lim="800000"/>
            <a:headEnd/>
            <a:tailEnd/>
          </a:ln>
        </p:spPr>
        <p:txBody>
          <a:bodyPr/>
          <a:lstStyle/>
          <a:p>
            <a:endParaRPr lang="en-US"/>
          </a:p>
        </p:txBody>
      </p:sp>
      <p:sp>
        <p:nvSpPr>
          <p:cNvPr id="50182" name="Line 10"/>
          <p:cNvSpPr>
            <a:spLocks noChangeShapeType="1"/>
          </p:cNvSpPr>
          <p:nvPr/>
        </p:nvSpPr>
        <p:spPr bwMode="auto">
          <a:xfrm>
            <a:off x="1862138" y="1995488"/>
            <a:ext cx="141287" cy="0"/>
          </a:xfrm>
          <a:prstGeom prst="line">
            <a:avLst/>
          </a:prstGeom>
          <a:noFill/>
          <a:ln w="7938">
            <a:solidFill>
              <a:srgbClr val="000000"/>
            </a:solidFill>
            <a:miter lim="800000"/>
            <a:headEnd/>
            <a:tailEnd/>
          </a:ln>
        </p:spPr>
        <p:txBody>
          <a:bodyPr/>
          <a:lstStyle/>
          <a:p>
            <a:endParaRPr lang="en-US"/>
          </a:p>
        </p:txBody>
      </p:sp>
      <p:sp>
        <p:nvSpPr>
          <p:cNvPr id="50183" name="Line 11"/>
          <p:cNvSpPr>
            <a:spLocks noChangeShapeType="1"/>
          </p:cNvSpPr>
          <p:nvPr/>
        </p:nvSpPr>
        <p:spPr bwMode="auto">
          <a:xfrm>
            <a:off x="1862138" y="3162300"/>
            <a:ext cx="141287" cy="0"/>
          </a:xfrm>
          <a:prstGeom prst="line">
            <a:avLst/>
          </a:prstGeom>
          <a:noFill/>
          <a:ln w="7938">
            <a:solidFill>
              <a:srgbClr val="000000"/>
            </a:solidFill>
            <a:miter lim="800000"/>
            <a:headEnd/>
            <a:tailEnd/>
          </a:ln>
        </p:spPr>
        <p:txBody>
          <a:bodyPr/>
          <a:lstStyle/>
          <a:p>
            <a:endParaRPr lang="en-US"/>
          </a:p>
        </p:txBody>
      </p:sp>
      <p:sp>
        <p:nvSpPr>
          <p:cNvPr id="50184" name="Line 12"/>
          <p:cNvSpPr>
            <a:spLocks noChangeShapeType="1"/>
          </p:cNvSpPr>
          <p:nvPr/>
        </p:nvSpPr>
        <p:spPr bwMode="auto">
          <a:xfrm flipV="1">
            <a:off x="6435725" y="4803775"/>
            <a:ext cx="0" cy="111125"/>
          </a:xfrm>
          <a:prstGeom prst="line">
            <a:avLst/>
          </a:prstGeom>
          <a:noFill/>
          <a:ln w="7938">
            <a:solidFill>
              <a:srgbClr val="000000"/>
            </a:solidFill>
            <a:miter lim="800000"/>
            <a:headEnd/>
            <a:tailEnd/>
          </a:ln>
        </p:spPr>
        <p:txBody>
          <a:bodyPr/>
          <a:lstStyle/>
          <a:p>
            <a:endParaRPr lang="en-US"/>
          </a:p>
        </p:txBody>
      </p:sp>
      <p:sp>
        <p:nvSpPr>
          <p:cNvPr id="50185" name="Line 13"/>
          <p:cNvSpPr>
            <a:spLocks noChangeShapeType="1"/>
          </p:cNvSpPr>
          <p:nvPr/>
        </p:nvSpPr>
        <p:spPr bwMode="auto">
          <a:xfrm flipV="1">
            <a:off x="5784850" y="4803775"/>
            <a:ext cx="0" cy="111125"/>
          </a:xfrm>
          <a:prstGeom prst="line">
            <a:avLst/>
          </a:prstGeom>
          <a:noFill/>
          <a:ln w="7938">
            <a:solidFill>
              <a:srgbClr val="000000"/>
            </a:solidFill>
            <a:miter lim="800000"/>
            <a:headEnd/>
            <a:tailEnd/>
          </a:ln>
        </p:spPr>
        <p:txBody>
          <a:bodyPr/>
          <a:lstStyle/>
          <a:p>
            <a:endParaRPr lang="en-US"/>
          </a:p>
        </p:txBody>
      </p:sp>
      <p:sp>
        <p:nvSpPr>
          <p:cNvPr id="50186" name="Line 14"/>
          <p:cNvSpPr>
            <a:spLocks noChangeShapeType="1"/>
          </p:cNvSpPr>
          <p:nvPr/>
        </p:nvSpPr>
        <p:spPr bwMode="auto">
          <a:xfrm flipV="1">
            <a:off x="5132388" y="4803775"/>
            <a:ext cx="0" cy="111125"/>
          </a:xfrm>
          <a:prstGeom prst="line">
            <a:avLst/>
          </a:prstGeom>
          <a:noFill/>
          <a:ln w="7938">
            <a:solidFill>
              <a:srgbClr val="000000"/>
            </a:solidFill>
            <a:miter lim="800000"/>
            <a:headEnd/>
            <a:tailEnd/>
          </a:ln>
        </p:spPr>
        <p:txBody>
          <a:bodyPr/>
          <a:lstStyle/>
          <a:p>
            <a:endParaRPr lang="en-US"/>
          </a:p>
        </p:txBody>
      </p:sp>
      <p:sp>
        <p:nvSpPr>
          <p:cNvPr id="50187" name="Line 15"/>
          <p:cNvSpPr>
            <a:spLocks noChangeShapeType="1"/>
          </p:cNvSpPr>
          <p:nvPr/>
        </p:nvSpPr>
        <p:spPr bwMode="auto">
          <a:xfrm flipV="1">
            <a:off x="4479925" y="4803775"/>
            <a:ext cx="0" cy="111125"/>
          </a:xfrm>
          <a:prstGeom prst="line">
            <a:avLst/>
          </a:prstGeom>
          <a:noFill/>
          <a:ln w="7938">
            <a:solidFill>
              <a:srgbClr val="000000"/>
            </a:solidFill>
            <a:miter lim="800000"/>
            <a:headEnd/>
            <a:tailEnd/>
          </a:ln>
        </p:spPr>
        <p:txBody>
          <a:bodyPr/>
          <a:lstStyle/>
          <a:p>
            <a:endParaRPr lang="en-US"/>
          </a:p>
        </p:txBody>
      </p:sp>
      <p:sp>
        <p:nvSpPr>
          <p:cNvPr id="50188" name="Line 16"/>
          <p:cNvSpPr>
            <a:spLocks noChangeShapeType="1"/>
          </p:cNvSpPr>
          <p:nvPr/>
        </p:nvSpPr>
        <p:spPr bwMode="auto">
          <a:xfrm flipV="1">
            <a:off x="3821113" y="4803775"/>
            <a:ext cx="0" cy="111125"/>
          </a:xfrm>
          <a:prstGeom prst="line">
            <a:avLst/>
          </a:prstGeom>
          <a:noFill/>
          <a:ln w="7938">
            <a:solidFill>
              <a:srgbClr val="000000"/>
            </a:solidFill>
            <a:miter lim="800000"/>
            <a:headEnd/>
            <a:tailEnd/>
          </a:ln>
        </p:spPr>
        <p:txBody>
          <a:bodyPr/>
          <a:lstStyle/>
          <a:p>
            <a:endParaRPr lang="en-US"/>
          </a:p>
        </p:txBody>
      </p:sp>
      <p:sp>
        <p:nvSpPr>
          <p:cNvPr id="50189" name="Line 17"/>
          <p:cNvSpPr>
            <a:spLocks noChangeShapeType="1"/>
          </p:cNvSpPr>
          <p:nvPr/>
        </p:nvSpPr>
        <p:spPr bwMode="auto">
          <a:xfrm flipV="1">
            <a:off x="3168650" y="4803775"/>
            <a:ext cx="0" cy="111125"/>
          </a:xfrm>
          <a:prstGeom prst="line">
            <a:avLst/>
          </a:prstGeom>
          <a:noFill/>
          <a:ln w="7938">
            <a:solidFill>
              <a:srgbClr val="000000"/>
            </a:solidFill>
            <a:miter lim="800000"/>
            <a:headEnd/>
            <a:tailEnd/>
          </a:ln>
        </p:spPr>
        <p:txBody>
          <a:bodyPr/>
          <a:lstStyle/>
          <a:p>
            <a:endParaRPr lang="en-US"/>
          </a:p>
        </p:txBody>
      </p:sp>
      <p:sp>
        <p:nvSpPr>
          <p:cNvPr id="50190" name="Line 18"/>
          <p:cNvSpPr>
            <a:spLocks noChangeShapeType="1"/>
          </p:cNvSpPr>
          <p:nvPr/>
        </p:nvSpPr>
        <p:spPr bwMode="auto">
          <a:xfrm flipV="1">
            <a:off x="2516188" y="4803775"/>
            <a:ext cx="0" cy="111125"/>
          </a:xfrm>
          <a:prstGeom prst="line">
            <a:avLst/>
          </a:prstGeom>
          <a:noFill/>
          <a:ln w="7938">
            <a:solidFill>
              <a:srgbClr val="000000"/>
            </a:solidFill>
            <a:miter lim="800000"/>
            <a:headEnd/>
            <a:tailEnd/>
          </a:ln>
        </p:spPr>
        <p:txBody>
          <a:bodyPr/>
          <a:lstStyle/>
          <a:p>
            <a:endParaRPr lang="en-US"/>
          </a:p>
        </p:txBody>
      </p:sp>
      <p:sp>
        <p:nvSpPr>
          <p:cNvPr id="50191" name="Rectangle 19"/>
          <p:cNvSpPr>
            <a:spLocks noChangeArrowheads="1"/>
          </p:cNvSpPr>
          <p:nvPr/>
        </p:nvSpPr>
        <p:spPr bwMode="auto">
          <a:xfrm>
            <a:off x="6383338" y="494188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50192" name="Rectangle 20"/>
          <p:cNvSpPr>
            <a:spLocks noChangeArrowheads="1"/>
          </p:cNvSpPr>
          <p:nvPr/>
        </p:nvSpPr>
        <p:spPr bwMode="auto">
          <a:xfrm>
            <a:off x="5729288" y="4941888"/>
            <a:ext cx="889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50193" name="Rectangle 21"/>
          <p:cNvSpPr>
            <a:spLocks noChangeArrowheads="1"/>
          </p:cNvSpPr>
          <p:nvPr/>
        </p:nvSpPr>
        <p:spPr bwMode="auto">
          <a:xfrm>
            <a:off x="5075238" y="4941888"/>
            <a:ext cx="92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50194" name="Rectangle 22"/>
          <p:cNvSpPr>
            <a:spLocks noChangeArrowheads="1"/>
          </p:cNvSpPr>
          <p:nvPr/>
        </p:nvSpPr>
        <p:spPr bwMode="auto">
          <a:xfrm>
            <a:off x="4422775" y="4941888"/>
            <a:ext cx="889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50195" name="Rectangle 23"/>
          <p:cNvSpPr>
            <a:spLocks noChangeArrowheads="1"/>
          </p:cNvSpPr>
          <p:nvPr/>
        </p:nvSpPr>
        <p:spPr bwMode="auto">
          <a:xfrm>
            <a:off x="3768725" y="4941888"/>
            <a:ext cx="92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50196" name="Rectangle 24"/>
          <p:cNvSpPr>
            <a:spLocks noChangeArrowheads="1"/>
          </p:cNvSpPr>
          <p:nvPr/>
        </p:nvSpPr>
        <p:spPr bwMode="auto">
          <a:xfrm>
            <a:off x="3113088" y="494188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50197" name="Rectangle 25"/>
          <p:cNvSpPr>
            <a:spLocks noChangeArrowheads="1"/>
          </p:cNvSpPr>
          <p:nvPr/>
        </p:nvSpPr>
        <p:spPr bwMode="auto">
          <a:xfrm>
            <a:off x="2462213" y="4941888"/>
            <a:ext cx="92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50198" name="Rectangle 26"/>
          <p:cNvSpPr>
            <a:spLocks noChangeArrowheads="1"/>
          </p:cNvSpPr>
          <p:nvPr/>
        </p:nvSpPr>
        <p:spPr bwMode="auto">
          <a:xfrm>
            <a:off x="1663700" y="4941888"/>
            <a:ext cx="92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50199" name="Rectangle 27"/>
          <p:cNvSpPr>
            <a:spLocks noChangeArrowheads="1"/>
          </p:cNvSpPr>
          <p:nvPr/>
        </p:nvSpPr>
        <p:spPr bwMode="auto">
          <a:xfrm>
            <a:off x="2108200" y="1865313"/>
            <a:ext cx="271463"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$30</a:t>
            </a:r>
            <a:endParaRPr lang="en-US" sz="1400">
              <a:latin typeface="Tahoma" pitchFamily="34" charset="0"/>
            </a:endParaRPr>
          </a:p>
        </p:txBody>
      </p:sp>
      <p:sp>
        <p:nvSpPr>
          <p:cNvPr id="50200" name="Rectangle 28"/>
          <p:cNvSpPr>
            <a:spLocks noChangeArrowheads="1"/>
          </p:cNvSpPr>
          <p:nvPr/>
        </p:nvSpPr>
        <p:spPr bwMode="auto">
          <a:xfrm>
            <a:off x="1676400" y="3089275"/>
            <a:ext cx="1793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50201" name="Rectangle 29"/>
          <p:cNvSpPr>
            <a:spLocks noChangeArrowheads="1"/>
          </p:cNvSpPr>
          <p:nvPr/>
        </p:nvSpPr>
        <p:spPr bwMode="auto">
          <a:xfrm>
            <a:off x="1676400" y="3449638"/>
            <a:ext cx="1793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50202" name="Rectangle 30"/>
          <p:cNvSpPr>
            <a:spLocks noChangeArrowheads="1"/>
          </p:cNvSpPr>
          <p:nvPr/>
        </p:nvSpPr>
        <p:spPr bwMode="auto">
          <a:xfrm>
            <a:off x="6330950" y="2236788"/>
            <a:ext cx="277813"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50203" name="Rectangle 31"/>
          <p:cNvSpPr>
            <a:spLocks noChangeArrowheads="1"/>
          </p:cNvSpPr>
          <p:nvPr/>
        </p:nvSpPr>
        <p:spPr bwMode="auto">
          <a:xfrm>
            <a:off x="6521450" y="3125788"/>
            <a:ext cx="119063"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50204" name="Rectangle 32"/>
          <p:cNvSpPr>
            <a:spLocks noChangeArrowheads="1"/>
          </p:cNvSpPr>
          <p:nvPr/>
        </p:nvSpPr>
        <p:spPr bwMode="auto">
          <a:xfrm>
            <a:off x="6645275" y="3125788"/>
            <a:ext cx="10795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50205" name="Rectangle 33"/>
          <p:cNvSpPr>
            <a:spLocks noChangeArrowheads="1"/>
          </p:cNvSpPr>
          <p:nvPr/>
        </p:nvSpPr>
        <p:spPr bwMode="auto">
          <a:xfrm>
            <a:off x="6756400" y="3125788"/>
            <a:ext cx="128588"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50206" name="Rectangle 34"/>
          <p:cNvSpPr>
            <a:spLocks noChangeArrowheads="1"/>
          </p:cNvSpPr>
          <p:nvPr/>
        </p:nvSpPr>
        <p:spPr bwMode="auto">
          <a:xfrm>
            <a:off x="6438900" y="3429000"/>
            <a:ext cx="277813"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50207" name="Rectangle 35"/>
          <p:cNvSpPr>
            <a:spLocks noChangeArrowheads="1"/>
          </p:cNvSpPr>
          <p:nvPr/>
        </p:nvSpPr>
        <p:spPr bwMode="auto">
          <a:xfrm>
            <a:off x="6804025" y="3429000"/>
            <a:ext cx="107950"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50208" name="Rectangle 36"/>
          <p:cNvSpPr>
            <a:spLocks noChangeArrowheads="1"/>
          </p:cNvSpPr>
          <p:nvPr/>
        </p:nvSpPr>
        <p:spPr bwMode="auto">
          <a:xfrm>
            <a:off x="6943725" y="3429000"/>
            <a:ext cx="169863"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P</a:t>
            </a:r>
            <a:endParaRPr lang="en-US" sz="1400" i="1">
              <a:latin typeface="Tahoma" pitchFamily="34" charset="0"/>
            </a:endParaRPr>
          </a:p>
        </p:txBody>
      </p:sp>
      <p:sp>
        <p:nvSpPr>
          <p:cNvPr id="50209" name="Rectangle 37"/>
          <p:cNvSpPr>
            <a:spLocks noChangeArrowheads="1"/>
          </p:cNvSpPr>
          <p:nvPr/>
        </p:nvSpPr>
        <p:spPr bwMode="auto">
          <a:xfrm>
            <a:off x="4414838" y="3271838"/>
            <a:ext cx="128587"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07910" name="Line 38"/>
          <p:cNvSpPr>
            <a:spLocks noChangeShapeType="1"/>
          </p:cNvSpPr>
          <p:nvPr/>
        </p:nvSpPr>
        <p:spPr bwMode="auto">
          <a:xfrm flipV="1">
            <a:off x="4479925" y="5132388"/>
            <a:ext cx="0" cy="173037"/>
          </a:xfrm>
          <a:prstGeom prst="line">
            <a:avLst/>
          </a:prstGeom>
          <a:noFill/>
          <a:ln w="7938">
            <a:solidFill>
              <a:srgbClr val="000000"/>
            </a:solidFill>
            <a:miter lim="800000"/>
            <a:headEnd/>
            <a:tailEnd/>
          </a:ln>
        </p:spPr>
        <p:txBody>
          <a:bodyPr/>
          <a:lstStyle/>
          <a:p>
            <a:endParaRPr lang="en-US"/>
          </a:p>
        </p:txBody>
      </p:sp>
      <p:sp>
        <p:nvSpPr>
          <p:cNvPr id="207911" name="Freeform 39"/>
          <p:cNvSpPr>
            <a:spLocks/>
          </p:cNvSpPr>
          <p:nvPr/>
        </p:nvSpPr>
        <p:spPr bwMode="auto">
          <a:xfrm>
            <a:off x="3838575" y="5281613"/>
            <a:ext cx="1303338" cy="441325"/>
          </a:xfrm>
          <a:custGeom>
            <a:avLst/>
            <a:gdLst>
              <a:gd name="T0" fmla="*/ 2147483647 w 222"/>
              <a:gd name="T1" fmla="*/ 2147483647 h 95"/>
              <a:gd name="T2" fmla="*/ 2147483647 w 222"/>
              <a:gd name="T3" fmla="*/ 2147483647 h 95"/>
              <a:gd name="T4" fmla="*/ 2147483647 w 222"/>
              <a:gd name="T5" fmla="*/ 2147483647 h 95"/>
              <a:gd name="T6" fmla="*/ 0 w 222"/>
              <a:gd name="T7" fmla="*/ 2147483647 h 95"/>
              <a:gd name="T8" fmla="*/ 0 w 222"/>
              <a:gd name="T9" fmla="*/ 2147483647 h 95"/>
              <a:gd name="T10" fmla="*/ 2147483647 w 222"/>
              <a:gd name="T11" fmla="*/ 0 h 95"/>
              <a:gd name="T12" fmla="*/ 2147483647 w 222"/>
              <a:gd name="T13" fmla="*/ 0 h 95"/>
              <a:gd name="T14" fmla="*/ 2147483647 w 222"/>
              <a:gd name="T15" fmla="*/ 2147483647 h 95"/>
              <a:gd name="T16" fmla="*/ 2147483647 w 222"/>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2"/>
              <a:gd name="T28" fmla="*/ 0 h 95"/>
              <a:gd name="T29" fmla="*/ 222 w 222"/>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2" h="95">
                <a:moveTo>
                  <a:pt x="222" y="79"/>
                </a:moveTo>
                <a:cubicBezTo>
                  <a:pt x="222" y="87"/>
                  <a:pt x="215" y="95"/>
                  <a:pt x="206" y="95"/>
                </a:cubicBezTo>
                <a:cubicBezTo>
                  <a:pt x="16" y="95"/>
                  <a:pt x="16" y="95"/>
                  <a:pt x="16" y="95"/>
                </a:cubicBezTo>
                <a:cubicBezTo>
                  <a:pt x="7" y="95"/>
                  <a:pt x="0" y="87"/>
                  <a:pt x="0" y="79"/>
                </a:cubicBezTo>
                <a:cubicBezTo>
                  <a:pt x="0" y="16"/>
                  <a:pt x="0" y="16"/>
                  <a:pt x="0" y="16"/>
                </a:cubicBezTo>
                <a:cubicBezTo>
                  <a:pt x="0" y="7"/>
                  <a:pt x="7" y="0"/>
                  <a:pt x="16" y="0"/>
                </a:cubicBezTo>
                <a:cubicBezTo>
                  <a:pt x="206" y="0"/>
                  <a:pt x="206" y="0"/>
                  <a:pt x="206" y="0"/>
                </a:cubicBezTo>
                <a:cubicBezTo>
                  <a:pt x="215" y="0"/>
                  <a:pt x="222" y="7"/>
                  <a:pt x="222" y="16"/>
                </a:cubicBezTo>
                <a:lnTo>
                  <a:pt x="222" y="79"/>
                </a:lnTo>
                <a:close/>
              </a:path>
            </a:pathLst>
          </a:custGeom>
          <a:solidFill>
            <a:srgbClr val="D7E2E0"/>
          </a:solidFill>
          <a:ln w="9525">
            <a:noFill/>
            <a:round/>
            <a:headEnd/>
            <a:tailEnd/>
          </a:ln>
        </p:spPr>
        <p:txBody>
          <a:bodyPr/>
          <a:lstStyle/>
          <a:p>
            <a:endParaRPr lang="en-US"/>
          </a:p>
        </p:txBody>
      </p:sp>
      <p:sp>
        <p:nvSpPr>
          <p:cNvPr id="207912" name="Line 40"/>
          <p:cNvSpPr>
            <a:spLocks noChangeShapeType="1"/>
          </p:cNvSpPr>
          <p:nvPr/>
        </p:nvSpPr>
        <p:spPr bwMode="auto">
          <a:xfrm flipH="1" flipV="1">
            <a:off x="3833813" y="2841625"/>
            <a:ext cx="598487" cy="660400"/>
          </a:xfrm>
          <a:prstGeom prst="line">
            <a:avLst/>
          </a:prstGeom>
          <a:noFill/>
          <a:ln w="7938">
            <a:solidFill>
              <a:srgbClr val="000000"/>
            </a:solidFill>
            <a:miter lim="800000"/>
            <a:headEnd/>
            <a:tailEnd/>
          </a:ln>
        </p:spPr>
        <p:txBody>
          <a:bodyPr/>
          <a:lstStyle/>
          <a:p>
            <a:endParaRPr lang="en-US"/>
          </a:p>
        </p:txBody>
      </p:sp>
      <p:sp>
        <p:nvSpPr>
          <p:cNvPr id="207913" name="Freeform 41"/>
          <p:cNvSpPr>
            <a:spLocks/>
          </p:cNvSpPr>
          <p:nvPr/>
        </p:nvSpPr>
        <p:spPr bwMode="auto">
          <a:xfrm>
            <a:off x="3221038" y="2409825"/>
            <a:ext cx="1570037" cy="442913"/>
          </a:xfrm>
          <a:custGeom>
            <a:avLst/>
            <a:gdLst>
              <a:gd name="T0" fmla="*/ 2147483647 w 267"/>
              <a:gd name="T1" fmla="*/ 2147483647 h 95"/>
              <a:gd name="T2" fmla="*/ 2147483647 w 267"/>
              <a:gd name="T3" fmla="*/ 2147483647 h 95"/>
              <a:gd name="T4" fmla="*/ 2147483647 w 267"/>
              <a:gd name="T5" fmla="*/ 2147483647 h 95"/>
              <a:gd name="T6" fmla="*/ 0 w 267"/>
              <a:gd name="T7" fmla="*/ 2147483647 h 95"/>
              <a:gd name="T8" fmla="*/ 0 w 267"/>
              <a:gd name="T9" fmla="*/ 2147483647 h 95"/>
              <a:gd name="T10" fmla="*/ 2147483647 w 267"/>
              <a:gd name="T11" fmla="*/ 0 h 95"/>
              <a:gd name="T12" fmla="*/ 2147483647 w 267"/>
              <a:gd name="T13" fmla="*/ 0 h 95"/>
              <a:gd name="T14" fmla="*/ 2147483647 w 267"/>
              <a:gd name="T15" fmla="*/ 2147483647 h 95"/>
              <a:gd name="T16" fmla="*/ 2147483647 w 267"/>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7"/>
              <a:gd name="T28" fmla="*/ 0 h 95"/>
              <a:gd name="T29" fmla="*/ 267 w 267"/>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7" h="95">
                <a:moveTo>
                  <a:pt x="267" y="79"/>
                </a:moveTo>
                <a:cubicBezTo>
                  <a:pt x="267" y="87"/>
                  <a:pt x="260" y="95"/>
                  <a:pt x="251" y="95"/>
                </a:cubicBezTo>
                <a:cubicBezTo>
                  <a:pt x="16" y="95"/>
                  <a:pt x="16" y="95"/>
                  <a:pt x="16" y="95"/>
                </a:cubicBezTo>
                <a:cubicBezTo>
                  <a:pt x="7" y="95"/>
                  <a:pt x="0" y="87"/>
                  <a:pt x="0" y="79"/>
                </a:cubicBezTo>
                <a:cubicBezTo>
                  <a:pt x="0" y="16"/>
                  <a:pt x="0" y="16"/>
                  <a:pt x="0" y="16"/>
                </a:cubicBezTo>
                <a:cubicBezTo>
                  <a:pt x="0" y="7"/>
                  <a:pt x="7" y="0"/>
                  <a:pt x="16" y="0"/>
                </a:cubicBezTo>
                <a:cubicBezTo>
                  <a:pt x="251" y="0"/>
                  <a:pt x="251" y="0"/>
                  <a:pt x="251" y="0"/>
                </a:cubicBezTo>
                <a:cubicBezTo>
                  <a:pt x="260" y="0"/>
                  <a:pt x="267" y="7"/>
                  <a:pt x="267" y="16"/>
                </a:cubicBezTo>
                <a:lnTo>
                  <a:pt x="267" y="79"/>
                </a:lnTo>
                <a:close/>
              </a:path>
            </a:pathLst>
          </a:custGeom>
          <a:solidFill>
            <a:srgbClr val="D7E2E0"/>
          </a:solidFill>
          <a:ln w="9525">
            <a:noFill/>
            <a:round/>
            <a:headEnd/>
            <a:tailEnd/>
          </a:ln>
        </p:spPr>
        <p:txBody>
          <a:bodyPr/>
          <a:lstStyle/>
          <a:p>
            <a:endParaRPr lang="en-US"/>
          </a:p>
        </p:txBody>
      </p:sp>
      <p:sp>
        <p:nvSpPr>
          <p:cNvPr id="50214" name="Freeform 42"/>
          <p:cNvSpPr>
            <a:spLocks/>
          </p:cNvSpPr>
          <p:nvPr/>
        </p:nvSpPr>
        <p:spPr bwMode="auto">
          <a:xfrm>
            <a:off x="2138363" y="2446338"/>
            <a:ext cx="4186237" cy="1924050"/>
          </a:xfrm>
          <a:custGeom>
            <a:avLst/>
            <a:gdLst>
              <a:gd name="T0" fmla="*/ 0 w 712"/>
              <a:gd name="T1" fmla="*/ 2147483647 h 414"/>
              <a:gd name="T2" fmla="*/ 2147483647 w 712"/>
              <a:gd name="T3" fmla="*/ 2147483647 h 414"/>
              <a:gd name="T4" fmla="*/ 2147483647 w 712"/>
              <a:gd name="T5" fmla="*/ 2147483647 h 414"/>
              <a:gd name="T6" fmla="*/ 2147483647 w 712"/>
              <a:gd name="T7" fmla="*/ 2147483647 h 414"/>
              <a:gd name="T8" fmla="*/ 2147483647 w 712"/>
              <a:gd name="T9" fmla="*/ 2147483647 h 414"/>
              <a:gd name="T10" fmla="*/ 2147483647 w 712"/>
              <a:gd name="T11" fmla="*/ 0 h 414"/>
              <a:gd name="T12" fmla="*/ 0 60000 65536"/>
              <a:gd name="T13" fmla="*/ 0 60000 65536"/>
              <a:gd name="T14" fmla="*/ 0 60000 65536"/>
              <a:gd name="T15" fmla="*/ 0 60000 65536"/>
              <a:gd name="T16" fmla="*/ 0 60000 65536"/>
              <a:gd name="T17" fmla="*/ 0 60000 65536"/>
              <a:gd name="T18" fmla="*/ 0 w 712"/>
              <a:gd name="T19" fmla="*/ 0 h 414"/>
              <a:gd name="T20" fmla="*/ 712 w 712"/>
              <a:gd name="T21" fmla="*/ 414 h 414"/>
            </a:gdLst>
            <a:ahLst/>
            <a:cxnLst>
              <a:cxn ang="T12">
                <a:pos x="T0" y="T1"/>
              </a:cxn>
              <a:cxn ang="T13">
                <a:pos x="T2" y="T3"/>
              </a:cxn>
              <a:cxn ang="T14">
                <a:pos x="T4" y="T5"/>
              </a:cxn>
              <a:cxn ang="T15">
                <a:pos x="T6" y="T7"/>
              </a:cxn>
              <a:cxn ang="T16">
                <a:pos x="T8" y="T9"/>
              </a:cxn>
              <a:cxn ang="T17">
                <a:pos x="T10" y="T11"/>
              </a:cxn>
            </a:cxnLst>
            <a:rect l="T18" t="T19" r="T20" b="T21"/>
            <a:pathLst>
              <a:path w="712" h="414">
                <a:moveTo>
                  <a:pt x="0" y="155"/>
                </a:moveTo>
                <a:cubicBezTo>
                  <a:pt x="11" y="192"/>
                  <a:pt x="11" y="192"/>
                  <a:pt x="11" y="192"/>
                </a:cubicBezTo>
                <a:cubicBezTo>
                  <a:pt x="11" y="192"/>
                  <a:pt x="71" y="414"/>
                  <a:pt x="140" y="404"/>
                </a:cubicBezTo>
                <a:cubicBezTo>
                  <a:pt x="210" y="395"/>
                  <a:pt x="347" y="276"/>
                  <a:pt x="347" y="276"/>
                </a:cubicBezTo>
                <a:cubicBezTo>
                  <a:pt x="681" y="25"/>
                  <a:pt x="681" y="25"/>
                  <a:pt x="681" y="25"/>
                </a:cubicBezTo>
                <a:cubicBezTo>
                  <a:pt x="712" y="0"/>
                  <a:pt x="712" y="0"/>
                  <a:pt x="712" y="0"/>
                </a:cubicBezTo>
              </a:path>
            </a:pathLst>
          </a:custGeom>
          <a:noFill/>
          <a:ln w="30163" cap="flat">
            <a:solidFill>
              <a:srgbClr val="F3716D"/>
            </a:solidFill>
            <a:prstDash val="solid"/>
            <a:miter lim="800000"/>
            <a:headEnd/>
            <a:tailEnd/>
          </a:ln>
        </p:spPr>
        <p:txBody>
          <a:bodyPr/>
          <a:lstStyle/>
          <a:p>
            <a:endParaRPr lang="en-US"/>
          </a:p>
        </p:txBody>
      </p:sp>
      <p:sp>
        <p:nvSpPr>
          <p:cNvPr id="50215" name="Oval 43"/>
          <p:cNvSpPr>
            <a:spLocks noChangeArrowheads="1"/>
          </p:cNvSpPr>
          <p:nvPr/>
        </p:nvSpPr>
        <p:spPr bwMode="auto">
          <a:xfrm>
            <a:off x="4419600" y="3506788"/>
            <a:ext cx="117475" cy="93662"/>
          </a:xfrm>
          <a:prstGeom prst="ellipse">
            <a:avLst/>
          </a:prstGeom>
          <a:solidFill>
            <a:srgbClr val="000000"/>
          </a:solidFill>
          <a:ln w="9525">
            <a:noFill/>
            <a:round/>
            <a:headEnd/>
            <a:tailEnd/>
          </a:ln>
        </p:spPr>
        <p:txBody>
          <a:bodyPr/>
          <a:lstStyle/>
          <a:p>
            <a:endParaRPr lang="en-US"/>
          </a:p>
        </p:txBody>
      </p:sp>
      <p:sp>
        <p:nvSpPr>
          <p:cNvPr id="50216" name="Oval 44"/>
          <p:cNvSpPr>
            <a:spLocks noChangeArrowheads="1"/>
          </p:cNvSpPr>
          <p:nvPr/>
        </p:nvSpPr>
        <p:spPr bwMode="auto">
          <a:xfrm>
            <a:off x="5084763" y="3463925"/>
            <a:ext cx="117475" cy="95250"/>
          </a:xfrm>
          <a:prstGeom prst="ellipse">
            <a:avLst/>
          </a:prstGeom>
          <a:solidFill>
            <a:srgbClr val="000000"/>
          </a:solidFill>
          <a:ln w="9525">
            <a:noFill/>
            <a:round/>
            <a:headEnd/>
            <a:tailEnd/>
          </a:ln>
        </p:spPr>
        <p:txBody>
          <a:bodyPr/>
          <a:lstStyle/>
          <a:p>
            <a:endParaRPr lang="en-US"/>
          </a:p>
        </p:txBody>
      </p:sp>
      <p:sp>
        <p:nvSpPr>
          <p:cNvPr id="50217" name="Oval 45"/>
          <p:cNvSpPr>
            <a:spLocks noChangeArrowheads="1"/>
          </p:cNvSpPr>
          <p:nvPr/>
        </p:nvSpPr>
        <p:spPr bwMode="auto">
          <a:xfrm>
            <a:off x="5707063" y="3375025"/>
            <a:ext cx="117475" cy="95250"/>
          </a:xfrm>
          <a:prstGeom prst="ellipse">
            <a:avLst/>
          </a:prstGeom>
          <a:solidFill>
            <a:srgbClr val="000000"/>
          </a:solidFill>
          <a:ln w="9525">
            <a:noFill/>
            <a:round/>
            <a:headEnd/>
            <a:tailEnd/>
          </a:ln>
        </p:spPr>
        <p:txBody>
          <a:bodyPr/>
          <a:lstStyle/>
          <a:p>
            <a:endParaRPr lang="en-US"/>
          </a:p>
        </p:txBody>
      </p:sp>
      <p:sp>
        <p:nvSpPr>
          <p:cNvPr id="50218" name="Oval 46"/>
          <p:cNvSpPr>
            <a:spLocks noChangeArrowheads="1"/>
          </p:cNvSpPr>
          <p:nvPr/>
        </p:nvSpPr>
        <p:spPr bwMode="auto">
          <a:xfrm>
            <a:off x="6376988" y="3255963"/>
            <a:ext cx="119062" cy="92075"/>
          </a:xfrm>
          <a:prstGeom prst="ellipse">
            <a:avLst/>
          </a:prstGeom>
          <a:solidFill>
            <a:srgbClr val="000000"/>
          </a:solidFill>
          <a:ln w="9525">
            <a:noFill/>
            <a:round/>
            <a:headEnd/>
            <a:tailEnd/>
          </a:ln>
        </p:spPr>
        <p:txBody>
          <a:bodyPr/>
          <a:lstStyle/>
          <a:p>
            <a:endParaRPr lang="en-US"/>
          </a:p>
        </p:txBody>
      </p:sp>
      <p:sp>
        <p:nvSpPr>
          <p:cNvPr id="50219" name="Oval 47"/>
          <p:cNvSpPr>
            <a:spLocks noChangeArrowheads="1"/>
          </p:cNvSpPr>
          <p:nvPr/>
        </p:nvSpPr>
        <p:spPr bwMode="auto">
          <a:xfrm>
            <a:off x="2457450" y="1949450"/>
            <a:ext cx="115888" cy="93663"/>
          </a:xfrm>
          <a:prstGeom prst="ellipse">
            <a:avLst/>
          </a:prstGeom>
          <a:solidFill>
            <a:srgbClr val="000000"/>
          </a:solidFill>
          <a:ln w="9525">
            <a:noFill/>
            <a:round/>
            <a:headEnd/>
            <a:tailEnd/>
          </a:ln>
        </p:spPr>
        <p:txBody>
          <a:bodyPr/>
          <a:lstStyle/>
          <a:p>
            <a:endParaRPr lang="en-US"/>
          </a:p>
        </p:txBody>
      </p:sp>
      <p:sp>
        <p:nvSpPr>
          <p:cNvPr id="50220" name="Oval 48"/>
          <p:cNvSpPr>
            <a:spLocks noChangeArrowheads="1"/>
          </p:cNvSpPr>
          <p:nvPr/>
        </p:nvSpPr>
        <p:spPr bwMode="auto">
          <a:xfrm>
            <a:off x="3108325" y="3116263"/>
            <a:ext cx="117475" cy="92075"/>
          </a:xfrm>
          <a:prstGeom prst="ellipse">
            <a:avLst/>
          </a:prstGeom>
          <a:solidFill>
            <a:srgbClr val="000000"/>
          </a:solidFill>
          <a:ln w="9525">
            <a:noFill/>
            <a:round/>
            <a:headEnd/>
            <a:tailEnd/>
          </a:ln>
        </p:spPr>
        <p:txBody>
          <a:bodyPr/>
          <a:lstStyle/>
          <a:p>
            <a:endParaRPr lang="en-US"/>
          </a:p>
        </p:txBody>
      </p:sp>
      <p:sp>
        <p:nvSpPr>
          <p:cNvPr id="50221" name="Oval 49"/>
          <p:cNvSpPr>
            <a:spLocks noChangeArrowheads="1"/>
          </p:cNvSpPr>
          <p:nvPr/>
        </p:nvSpPr>
        <p:spPr bwMode="auto">
          <a:xfrm>
            <a:off x="3768725" y="3441700"/>
            <a:ext cx="115888" cy="93663"/>
          </a:xfrm>
          <a:prstGeom prst="ellipse">
            <a:avLst/>
          </a:prstGeom>
          <a:solidFill>
            <a:srgbClr val="000000"/>
          </a:solidFill>
          <a:ln w="9525">
            <a:noFill/>
            <a:round/>
            <a:headEnd/>
            <a:tailEnd/>
          </a:ln>
        </p:spPr>
        <p:txBody>
          <a:bodyPr/>
          <a:lstStyle/>
          <a:p>
            <a:endParaRPr lang="en-US"/>
          </a:p>
        </p:txBody>
      </p:sp>
      <p:sp>
        <p:nvSpPr>
          <p:cNvPr id="50222" name="Freeform 50"/>
          <p:cNvSpPr>
            <a:spLocks/>
          </p:cNvSpPr>
          <p:nvPr/>
        </p:nvSpPr>
        <p:spPr bwMode="auto">
          <a:xfrm>
            <a:off x="1892300" y="1433513"/>
            <a:ext cx="5543550" cy="3481387"/>
          </a:xfrm>
          <a:custGeom>
            <a:avLst/>
            <a:gdLst>
              <a:gd name="T0" fmla="*/ 2147483647 w 2240"/>
              <a:gd name="T1" fmla="*/ 2147483647 h 1833"/>
              <a:gd name="T2" fmla="*/ 0 w 2240"/>
              <a:gd name="T3" fmla="*/ 2147483647 h 1833"/>
              <a:gd name="T4" fmla="*/ 0 w 2240"/>
              <a:gd name="T5" fmla="*/ 0 h 1833"/>
              <a:gd name="T6" fmla="*/ 0 60000 65536"/>
              <a:gd name="T7" fmla="*/ 0 60000 65536"/>
              <a:gd name="T8" fmla="*/ 0 60000 65536"/>
              <a:gd name="T9" fmla="*/ 0 w 2240"/>
              <a:gd name="T10" fmla="*/ 0 h 1833"/>
              <a:gd name="T11" fmla="*/ 2240 w 2240"/>
              <a:gd name="T12" fmla="*/ 1833 h 1833"/>
            </a:gdLst>
            <a:ahLst/>
            <a:cxnLst>
              <a:cxn ang="T6">
                <a:pos x="T0" y="T1"/>
              </a:cxn>
              <a:cxn ang="T7">
                <a:pos x="T2" y="T3"/>
              </a:cxn>
              <a:cxn ang="T8">
                <a:pos x="T4" y="T5"/>
              </a:cxn>
            </a:cxnLst>
            <a:rect l="T9" t="T10" r="T11" b="T12"/>
            <a:pathLst>
              <a:path w="2240" h="1833">
                <a:moveTo>
                  <a:pt x="2240" y="1833"/>
                </a:moveTo>
                <a:lnTo>
                  <a:pt x="0" y="1833"/>
                </a:lnTo>
                <a:lnTo>
                  <a:pt x="0" y="0"/>
                </a:lnTo>
              </a:path>
            </a:pathLst>
          </a:custGeom>
          <a:noFill/>
          <a:ln w="7938" cap="flat">
            <a:solidFill>
              <a:srgbClr val="000000"/>
            </a:solidFill>
            <a:prstDash val="solid"/>
            <a:miter lim="800000"/>
            <a:headEnd/>
            <a:tailEnd/>
          </a:ln>
        </p:spPr>
        <p:txBody>
          <a:bodyPr/>
          <a:lstStyle/>
          <a:p>
            <a:endParaRPr lang="en-US"/>
          </a:p>
        </p:txBody>
      </p:sp>
      <p:sp>
        <p:nvSpPr>
          <p:cNvPr id="207923" name="Line 51"/>
          <p:cNvSpPr>
            <a:spLocks noChangeShapeType="1"/>
          </p:cNvSpPr>
          <p:nvPr/>
        </p:nvSpPr>
        <p:spPr bwMode="auto">
          <a:xfrm flipV="1">
            <a:off x="1387475" y="3521075"/>
            <a:ext cx="288925" cy="31750"/>
          </a:xfrm>
          <a:prstGeom prst="line">
            <a:avLst/>
          </a:prstGeom>
          <a:noFill/>
          <a:ln w="7938">
            <a:solidFill>
              <a:srgbClr val="000000"/>
            </a:solidFill>
            <a:miter lim="800000"/>
            <a:headEnd/>
            <a:tailEnd/>
          </a:ln>
        </p:spPr>
        <p:txBody>
          <a:bodyPr/>
          <a:lstStyle/>
          <a:p>
            <a:endParaRPr lang="en-US"/>
          </a:p>
        </p:txBody>
      </p:sp>
      <p:sp>
        <p:nvSpPr>
          <p:cNvPr id="207924" name="Freeform 52"/>
          <p:cNvSpPr>
            <a:spLocks/>
          </p:cNvSpPr>
          <p:nvPr/>
        </p:nvSpPr>
        <p:spPr bwMode="auto">
          <a:xfrm>
            <a:off x="773113" y="3213100"/>
            <a:ext cx="811212" cy="771525"/>
          </a:xfrm>
          <a:custGeom>
            <a:avLst/>
            <a:gdLst>
              <a:gd name="T0" fmla="*/ 2147483647 w 116"/>
              <a:gd name="T1" fmla="*/ 2147483647 h 133"/>
              <a:gd name="T2" fmla="*/ 2147483647 w 116"/>
              <a:gd name="T3" fmla="*/ 2147483647 h 133"/>
              <a:gd name="T4" fmla="*/ 2147483647 w 116"/>
              <a:gd name="T5" fmla="*/ 2147483647 h 133"/>
              <a:gd name="T6" fmla="*/ 0 w 116"/>
              <a:gd name="T7" fmla="*/ 2147483647 h 133"/>
              <a:gd name="T8" fmla="*/ 0 w 116"/>
              <a:gd name="T9" fmla="*/ 2147483647 h 133"/>
              <a:gd name="T10" fmla="*/ 2147483647 w 116"/>
              <a:gd name="T11" fmla="*/ 0 h 133"/>
              <a:gd name="T12" fmla="*/ 2147483647 w 116"/>
              <a:gd name="T13" fmla="*/ 0 h 133"/>
              <a:gd name="T14" fmla="*/ 2147483647 w 116"/>
              <a:gd name="T15" fmla="*/ 2147483647 h 133"/>
              <a:gd name="T16" fmla="*/ 2147483647 w 116"/>
              <a:gd name="T17" fmla="*/ 2147483647 h 1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6"/>
              <a:gd name="T28" fmla="*/ 0 h 133"/>
              <a:gd name="T29" fmla="*/ 116 w 116"/>
              <a:gd name="T30" fmla="*/ 133 h 1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6" h="133">
                <a:moveTo>
                  <a:pt x="116" y="117"/>
                </a:moveTo>
                <a:cubicBezTo>
                  <a:pt x="116" y="125"/>
                  <a:pt x="109" y="133"/>
                  <a:pt x="100" y="133"/>
                </a:cubicBezTo>
                <a:cubicBezTo>
                  <a:pt x="16" y="133"/>
                  <a:pt x="16" y="133"/>
                  <a:pt x="16" y="133"/>
                </a:cubicBezTo>
                <a:cubicBezTo>
                  <a:pt x="7" y="133"/>
                  <a:pt x="0" y="125"/>
                  <a:pt x="0" y="117"/>
                </a:cubicBezTo>
                <a:cubicBezTo>
                  <a:pt x="0" y="16"/>
                  <a:pt x="0" y="16"/>
                  <a:pt x="0" y="16"/>
                </a:cubicBezTo>
                <a:cubicBezTo>
                  <a:pt x="0" y="7"/>
                  <a:pt x="7" y="0"/>
                  <a:pt x="16" y="0"/>
                </a:cubicBezTo>
                <a:cubicBezTo>
                  <a:pt x="100" y="0"/>
                  <a:pt x="100" y="0"/>
                  <a:pt x="100" y="0"/>
                </a:cubicBezTo>
                <a:cubicBezTo>
                  <a:pt x="109" y="0"/>
                  <a:pt x="116" y="7"/>
                  <a:pt x="116" y="16"/>
                </a:cubicBezTo>
                <a:lnTo>
                  <a:pt x="116" y="117"/>
                </a:lnTo>
                <a:close/>
              </a:path>
            </a:pathLst>
          </a:custGeom>
          <a:solidFill>
            <a:srgbClr val="D7E2E0"/>
          </a:solidFill>
          <a:ln w="9525">
            <a:noFill/>
            <a:round/>
            <a:headEnd/>
            <a:tailEnd/>
          </a:ln>
        </p:spPr>
        <p:txBody>
          <a:bodyPr/>
          <a:lstStyle/>
          <a:p>
            <a:endParaRPr lang="en-US"/>
          </a:p>
        </p:txBody>
      </p:sp>
      <p:sp>
        <p:nvSpPr>
          <p:cNvPr id="207925" name="Rectangle 53"/>
          <p:cNvSpPr>
            <a:spLocks noChangeArrowheads="1"/>
          </p:cNvSpPr>
          <p:nvPr/>
        </p:nvSpPr>
        <p:spPr bwMode="auto">
          <a:xfrm>
            <a:off x="884238" y="3233738"/>
            <a:ext cx="646112"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Break</a:t>
            </a:r>
            <a:r>
              <a:rPr lang="en-US" sz="1400" b="1">
                <a:solidFill>
                  <a:srgbClr val="000000"/>
                </a:solidFill>
                <a:latin typeface="Myriad Pro"/>
              </a:rPr>
              <a:t> </a:t>
            </a:r>
            <a:r>
              <a:rPr lang="en-US" sz="1400">
                <a:solidFill>
                  <a:srgbClr val="000000"/>
                </a:solidFill>
                <a:latin typeface="Myriad Pro"/>
              </a:rPr>
              <a:t>even</a:t>
            </a:r>
            <a:r>
              <a:rPr lang="en-US" sz="1400" b="1">
                <a:solidFill>
                  <a:srgbClr val="000000"/>
                </a:solidFill>
                <a:latin typeface="Myriad Pro"/>
              </a:rPr>
              <a:t> </a:t>
            </a:r>
            <a:r>
              <a:rPr lang="en-US" sz="1400">
                <a:solidFill>
                  <a:srgbClr val="000000"/>
                </a:solidFill>
                <a:latin typeface="Myriad Pro"/>
              </a:rPr>
              <a:t>price</a:t>
            </a:r>
            <a:endParaRPr lang="en-US" sz="1400">
              <a:latin typeface="Tahoma" pitchFamily="34" charset="0"/>
            </a:endParaRPr>
          </a:p>
        </p:txBody>
      </p:sp>
      <p:sp>
        <p:nvSpPr>
          <p:cNvPr id="207926" name="Rectangle 54"/>
          <p:cNvSpPr>
            <a:spLocks noChangeArrowheads="1"/>
          </p:cNvSpPr>
          <p:nvPr/>
        </p:nvSpPr>
        <p:spPr bwMode="auto">
          <a:xfrm>
            <a:off x="3813175" y="5295900"/>
            <a:ext cx="131445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Minimum-cost output</a:t>
            </a:r>
            <a:endParaRPr lang="en-US" sz="1400">
              <a:latin typeface="Tahoma" pitchFamily="34" charset="0"/>
            </a:endParaRPr>
          </a:p>
        </p:txBody>
      </p:sp>
      <p:sp>
        <p:nvSpPr>
          <p:cNvPr id="50227" name="Rectangle 55"/>
          <p:cNvSpPr>
            <a:spLocks noChangeArrowheads="1"/>
          </p:cNvSpPr>
          <p:nvPr/>
        </p:nvSpPr>
        <p:spPr bwMode="auto">
          <a:xfrm>
            <a:off x="1531938" y="1000125"/>
            <a:ext cx="1073150"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50228" name="Rectangle 56"/>
          <p:cNvSpPr>
            <a:spLocks noChangeArrowheads="1"/>
          </p:cNvSpPr>
          <p:nvPr/>
        </p:nvSpPr>
        <p:spPr bwMode="auto">
          <a:xfrm>
            <a:off x="6530975" y="5118100"/>
            <a:ext cx="1184275"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207929" name="Rectangle 57"/>
          <p:cNvSpPr>
            <a:spLocks noChangeArrowheads="1"/>
          </p:cNvSpPr>
          <p:nvPr/>
        </p:nvSpPr>
        <p:spPr bwMode="auto">
          <a:xfrm>
            <a:off x="3260725" y="2422525"/>
            <a:ext cx="149542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Minimum average total cost</a:t>
            </a:r>
            <a:endParaRPr lang="en-US" sz="1400">
              <a:latin typeface="Tahoma" pitchFamily="34" charset="0"/>
            </a:endParaRPr>
          </a:p>
        </p:txBody>
      </p:sp>
      <p:cxnSp>
        <p:nvCxnSpPr>
          <p:cNvPr id="50230" name="Straight Connector 86"/>
          <p:cNvCxnSpPr>
            <a:cxnSpLocks noChangeShapeType="1"/>
          </p:cNvCxnSpPr>
          <p:nvPr/>
        </p:nvCxnSpPr>
        <p:spPr bwMode="auto">
          <a:xfrm>
            <a:off x="4484688" y="3606800"/>
            <a:ext cx="0" cy="1228725"/>
          </a:xfrm>
          <a:prstGeom prst="line">
            <a:avLst/>
          </a:prstGeom>
          <a:noFill/>
          <a:ln w="15875">
            <a:solidFill>
              <a:srgbClr val="808080"/>
            </a:solidFill>
            <a:prstDash val="sysDot"/>
            <a:round/>
            <a:headEnd/>
            <a:tailEnd type="none" w="med" len="lg"/>
          </a:ln>
        </p:spPr>
      </p:cxnSp>
      <p:sp>
        <p:nvSpPr>
          <p:cNvPr id="7179" name="Text Box 11"/>
          <p:cNvSpPr txBox="1">
            <a:spLocks noChangeArrowheads="1"/>
          </p:cNvSpPr>
          <p:nvPr/>
        </p:nvSpPr>
        <p:spPr bwMode="auto">
          <a:xfrm>
            <a:off x="4437063" y="809625"/>
            <a:ext cx="4383087" cy="1233488"/>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spcBef>
                <a:spcPct val="20000"/>
              </a:spcBef>
              <a:defRPr/>
            </a:pPr>
            <a:r>
              <a:rPr lang="en-US" dirty="0">
                <a:solidFill>
                  <a:srgbClr val="0000FF"/>
                </a:solidFill>
              </a:rPr>
              <a:t>At point </a:t>
            </a:r>
            <a:r>
              <a:rPr lang="en-US" i="1" dirty="0">
                <a:solidFill>
                  <a:srgbClr val="0000FF"/>
                </a:solidFill>
              </a:rPr>
              <a:t>C </a:t>
            </a:r>
            <a:r>
              <a:rPr lang="en-US" dirty="0">
                <a:solidFill>
                  <a:srgbClr val="0000FF"/>
                </a:solidFill>
              </a:rPr>
              <a:t>(the minimum average total cost), </a:t>
            </a:r>
            <a:br>
              <a:rPr lang="en-US" dirty="0">
                <a:solidFill>
                  <a:srgbClr val="0000FF"/>
                </a:solidFill>
              </a:rPr>
            </a:br>
            <a:r>
              <a:rPr lang="en-US" dirty="0">
                <a:solidFill>
                  <a:srgbClr val="0000FF"/>
                </a:solidFill>
              </a:rPr>
              <a:t>the market price is $14 and output is 4 bushels of tomatoes </a:t>
            </a:r>
            <a:br>
              <a:rPr lang="en-US" dirty="0">
                <a:solidFill>
                  <a:srgbClr val="0000FF"/>
                </a:solidFill>
              </a:rPr>
            </a:br>
            <a:r>
              <a:rPr lang="en-US" dirty="0">
                <a:solidFill>
                  <a:srgbClr val="0000FF"/>
                </a:solidFill>
              </a:rPr>
              <a:t>(the minimum-cost output).</a:t>
            </a:r>
          </a:p>
        </p:txBody>
      </p:sp>
      <p:sp>
        <p:nvSpPr>
          <p:cNvPr id="207933" name="Rectangle 61"/>
          <p:cNvSpPr>
            <a:spLocks noChangeArrowheads="1"/>
          </p:cNvSpPr>
          <p:nvPr/>
        </p:nvSpPr>
        <p:spPr bwMode="auto">
          <a:xfrm>
            <a:off x="808038" y="5949950"/>
            <a:ext cx="8316912" cy="646113"/>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dirty="0">
                <a:solidFill>
                  <a:srgbClr val="0000FF"/>
                </a:solidFill>
              </a:rPr>
              <a:t>This is where</a:t>
            </a:r>
            <a:r>
              <a:rPr lang="en-US" i="1" dirty="0">
                <a:solidFill>
                  <a:srgbClr val="0000FF"/>
                </a:solidFill>
              </a:rPr>
              <a:t> MC </a:t>
            </a:r>
            <a:r>
              <a:rPr lang="en-US" dirty="0">
                <a:solidFill>
                  <a:srgbClr val="0000FF"/>
                </a:solidFill>
              </a:rPr>
              <a:t>cuts the </a:t>
            </a:r>
            <a:r>
              <a:rPr lang="en-US" i="1" dirty="0">
                <a:solidFill>
                  <a:srgbClr val="0000FF"/>
                </a:solidFill>
              </a:rPr>
              <a:t>ATC</a:t>
            </a:r>
            <a:r>
              <a:rPr lang="en-US" dirty="0">
                <a:solidFill>
                  <a:srgbClr val="0000FF"/>
                </a:solidFill>
              </a:rPr>
              <a:t> curve at its minimum. </a:t>
            </a:r>
            <a:br>
              <a:rPr lang="en-US" dirty="0">
                <a:solidFill>
                  <a:srgbClr val="0000FF"/>
                </a:solidFill>
              </a:rPr>
            </a:br>
            <a:r>
              <a:rPr lang="en-US" dirty="0">
                <a:solidFill>
                  <a:srgbClr val="0000FF"/>
                </a:solidFill>
              </a:rPr>
              <a:t>Minimum average total cost is equal to the firm’s break-even price.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929"/>
                                        </p:tgtEl>
                                        <p:attrNameLst>
                                          <p:attrName>style.visibility</p:attrName>
                                        </p:attrNameLst>
                                      </p:cBhvr>
                                      <p:to>
                                        <p:strVal val="visible"/>
                                      </p:to>
                                    </p:set>
                                    <p:animEffect transition="in" filter="wipe(left)">
                                      <p:cBhvr>
                                        <p:cTn id="7" dur="500"/>
                                        <p:tgtEl>
                                          <p:spTgt spid="20792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0791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207913"/>
                                        </p:tgtEl>
                                        <p:attrNameLst>
                                          <p:attrName>style.visibility</p:attrName>
                                        </p:attrNameLst>
                                      </p:cBhvr>
                                      <p:to>
                                        <p:strVal val="visible"/>
                                      </p:to>
                                    </p:se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07925"/>
                                        </p:tgtEl>
                                        <p:attrNameLst>
                                          <p:attrName>style.visibility</p:attrName>
                                        </p:attrNameLst>
                                      </p:cBhvr>
                                      <p:to>
                                        <p:strVal val="visible"/>
                                      </p:to>
                                    </p:set>
                                    <p:animEffect transition="in" filter="wipe(left)">
                                      <p:cBhvr>
                                        <p:cTn id="15" dur="500"/>
                                        <p:tgtEl>
                                          <p:spTgt spid="207925"/>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07924"/>
                                        </p:tgtEl>
                                        <p:attrNameLst>
                                          <p:attrName>style.visibility</p:attrName>
                                        </p:attrNameLst>
                                      </p:cBhvr>
                                      <p:to>
                                        <p:strVal val="visible"/>
                                      </p:to>
                                    </p:set>
                                    <p:animEffect transition="in" filter="wipe(up)">
                                      <p:cBhvr>
                                        <p:cTn id="18" dur="500"/>
                                        <p:tgtEl>
                                          <p:spTgt spid="207924"/>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207923"/>
                                        </p:tgtEl>
                                        <p:attrNameLst>
                                          <p:attrName>style.visibility</p:attrName>
                                        </p:attrNameLst>
                                      </p:cBhvr>
                                      <p:to>
                                        <p:strVal val="visible"/>
                                      </p:to>
                                    </p:se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207926"/>
                                        </p:tgtEl>
                                        <p:attrNameLst>
                                          <p:attrName>style.visibility</p:attrName>
                                        </p:attrNameLst>
                                      </p:cBhvr>
                                      <p:to>
                                        <p:strVal val="visible"/>
                                      </p:to>
                                    </p:set>
                                    <p:animEffect transition="in" filter="wipe(up)">
                                      <p:cBhvr>
                                        <p:cTn id="24" dur="500"/>
                                        <p:tgtEl>
                                          <p:spTgt spid="207926"/>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07911"/>
                                        </p:tgtEl>
                                        <p:attrNameLst>
                                          <p:attrName>style.visibility</p:attrName>
                                        </p:attrNameLst>
                                      </p:cBhvr>
                                      <p:to>
                                        <p:strVal val="visible"/>
                                      </p:to>
                                    </p:set>
                                    <p:animEffect transition="in" filter="wipe(up)">
                                      <p:cBhvr>
                                        <p:cTn id="27" dur="500"/>
                                        <p:tgtEl>
                                          <p:spTgt spid="207911"/>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07910"/>
                                        </p:tgtEl>
                                        <p:attrNameLst>
                                          <p:attrName>style.visibility</p:attrName>
                                        </p:attrNameLst>
                                      </p:cBhvr>
                                      <p:to>
                                        <p:strVal val="visible"/>
                                      </p:to>
                                    </p:set>
                                    <p:animEffect transition="in" filter="wipe(up)">
                                      <p:cBhvr>
                                        <p:cTn id="30" dur="500"/>
                                        <p:tgtEl>
                                          <p:spTgt spid="2079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179"/>
                                        </p:tgtEl>
                                        <p:attrNameLst>
                                          <p:attrName>style.visibility</p:attrName>
                                        </p:attrNameLst>
                                      </p:cBhvr>
                                      <p:to>
                                        <p:strVal val="visible"/>
                                      </p:to>
                                    </p:set>
                                    <p:animEffect transition="in" filter="wipe(left)">
                                      <p:cBhvr>
                                        <p:cTn id="35" dur="500"/>
                                        <p:tgtEl>
                                          <p:spTgt spid="717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07933"/>
                                        </p:tgtEl>
                                        <p:attrNameLst>
                                          <p:attrName>style.visibility</p:attrName>
                                        </p:attrNameLst>
                                      </p:cBhvr>
                                      <p:to>
                                        <p:strVal val="visible"/>
                                      </p:to>
                                    </p:set>
                                    <p:animEffect transition="in" filter="wipe(left)">
                                      <p:cBhvr>
                                        <p:cTn id="40" dur="500"/>
                                        <p:tgtEl>
                                          <p:spTgt spid="207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10" grpId="0" animBg="1"/>
      <p:bldP spid="207911" grpId="0" animBg="1"/>
      <p:bldP spid="207912" grpId="0" animBg="1"/>
      <p:bldP spid="207913" grpId="0" animBg="1"/>
      <p:bldP spid="207923" grpId="0" animBg="1"/>
      <p:bldP spid="207924" grpId="0" animBg="1"/>
      <p:bldP spid="207925" grpId="0"/>
      <p:bldP spid="207926" grpId="0"/>
      <p:bldP spid="207929" grpId="0"/>
      <p:bldP spid="7179" grpId="0" animBg="1"/>
      <p:bldP spid="2079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Rot="1" noChangeArrowheads="1"/>
          </p:cNvSpPr>
          <p:nvPr>
            <p:ph type="title" idx="4294967295"/>
          </p:nvPr>
        </p:nvSpPr>
        <p:spPr>
          <a:xfrm>
            <a:off x="946150" y="60325"/>
            <a:ext cx="7947025" cy="555625"/>
          </a:xfrm>
        </p:spPr>
        <p:txBody>
          <a:bodyPr/>
          <a:lstStyle/>
          <a:p>
            <a:pPr>
              <a:defRPr/>
            </a:pPr>
            <a:r>
              <a:rPr lang="en-US" dirty="0" smtClean="0"/>
              <a:t>Profitability and the Market Price </a:t>
            </a:r>
          </a:p>
        </p:txBody>
      </p:sp>
      <p:sp>
        <p:nvSpPr>
          <p:cNvPr id="8204" name="Text Box 12"/>
          <p:cNvSpPr txBox="1">
            <a:spLocks noChangeArrowheads="1"/>
          </p:cNvSpPr>
          <p:nvPr/>
        </p:nvSpPr>
        <p:spPr bwMode="auto">
          <a:xfrm>
            <a:off x="827088" y="620713"/>
            <a:ext cx="8316912" cy="923925"/>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farm is profitable because price exceeds minimum average total cost, the break-even price, $14.  The farm’s optimal output choice is (</a:t>
            </a:r>
            <a:r>
              <a:rPr lang="en-US" i="1" dirty="0">
                <a:solidFill>
                  <a:srgbClr val="0000FF"/>
                </a:solidFill>
              </a:rPr>
              <a:t>E</a:t>
            </a:r>
            <a:r>
              <a:rPr lang="en-US" dirty="0">
                <a:solidFill>
                  <a:srgbClr val="0000FF"/>
                </a:solidFill>
              </a:rPr>
              <a:t>) </a:t>
            </a:r>
            <a:r>
              <a:rPr lang="en-US" dirty="0">
                <a:solidFill>
                  <a:srgbClr val="0000FF"/>
                </a:solidFill>
                <a:sym typeface="Wingdings" pitchFamily="2" charset="2"/>
              </a:rPr>
              <a:t> </a:t>
            </a:r>
            <a:r>
              <a:rPr lang="en-US" dirty="0">
                <a:solidFill>
                  <a:srgbClr val="0000FF"/>
                </a:solidFill>
              </a:rPr>
              <a:t>output of 5 bushels.  The average total cost of producing bushels is </a:t>
            </a:r>
            <a:r>
              <a:rPr lang="en-US" i="1" dirty="0">
                <a:solidFill>
                  <a:srgbClr val="0000FF"/>
                </a:solidFill>
              </a:rPr>
              <a:t> </a:t>
            </a:r>
            <a:r>
              <a:rPr lang="en-US" dirty="0">
                <a:solidFill>
                  <a:srgbClr val="0000FF"/>
                </a:solidFill>
              </a:rPr>
              <a:t>(</a:t>
            </a:r>
            <a:r>
              <a:rPr lang="en-US" i="1" dirty="0">
                <a:solidFill>
                  <a:srgbClr val="0000FF"/>
                </a:solidFill>
              </a:rPr>
              <a:t>Z</a:t>
            </a:r>
            <a:r>
              <a:rPr lang="en-US" dirty="0">
                <a:solidFill>
                  <a:srgbClr val="0000FF"/>
                </a:solidFill>
              </a:rPr>
              <a:t> on the </a:t>
            </a:r>
            <a:r>
              <a:rPr lang="en-US" i="1" dirty="0">
                <a:solidFill>
                  <a:srgbClr val="0000FF"/>
                </a:solidFill>
              </a:rPr>
              <a:t>ATC </a:t>
            </a:r>
            <a:r>
              <a:rPr lang="en-US" dirty="0">
                <a:solidFill>
                  <a:srgbClr val="0000FF"/>
                </a:solidFill>
              </a:rPr>
              <a:t>curve) </a:t>
            </a:r>
            <a:r>
              <a:rPr lang="en-US" dirty="0">
                <a:solidFill>
                  <a:srgbClr val="0000FF"/>
                </a:solidFill>
                <a:sym typeface="Wingdings" pitchFamily="2" charset="2"/>
              </a:rPr>
              <a:t></a:t>
            </a:r>
            <a:r>
              <a:rPr lang="en-US" dirty="0">
                <a:solidFill>
                  <a:srgbClr val="0000FF"/>
                </a:solidFill>
              </a:rPr>
              <a:t>$14.40.</a:t>
            </a:r>
          </a:p>
        </p:txBody>
      </p:sp>
      <p:sp>
        <p:nvSpPr>
          <p:cNvPr id="8206" name="Text Box 14"/>
          <p:cNvSpPr txBox="1">
            <a:spLocks noChangeArrowheads="1"/>
          </p:cNvSpPr>
          <p:nvPr/>
        </p:nvSpPr>
        <p:spPr bwMode="auto">
          <a:xfrm>
            <a:off x="6192838" y="1584325"/>
            <a:ext cx="2895600" cy="1754188"/>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vertical distance between </a:t>
            </a:r>
            <a:r>
              <a:rPr lang="en-US" i="1" dirty="0">
                <a:solidFill>
                  <a:srgbClr val="0000FF"/>
                </a:solidFill>
              </a:rPr>
              <a:t>E</a:t>
            </a:r>
            <a:r>
              <a:rPr lang="en-US" dirty="0">
                <a:solidFill>
                  <a:srgbClr val="0000FF"/>
                </a:solidFill>
              </a:rPr>
              <a:t> and </a:t>
            </a:r>
            <a:r>
              <a:rPr lang="en-US" i="1" dirty="0">
                <a:solidFill>
                  <a:srgbClr val="0000FF"/>
                </a:solidFill>
              </a:rPr>
              <a:t>Z</a:t>
            </a:r>
            <a:r>
              <a:rPr lang="en-US" dirty="0">
                <a:solidFill>
                  <a:srgbClr val="0000FF"/>
                </a:solidFill>
              </a:rPr>
              <a:t>:</a:t>
            </a:r>
          </a:p>
          <a:p>
            <a:pPr marL="1588" indent="-1588" algn="ctr">
              <a:defRPr/>
            </a:pPr>
            <a:r>
              <a:rPr lang="en-US" dirty="0">
                <a:solidFill>
                  <a:srgbClr val="0000FF"/>
                </a:solidFill>
              </a:rPr>
              <a:t>farm’s per unit profit, </a:t>
            </a:r>
            <a:br>
              <a:rPr lang="en-US" dirty="0">
                <a:solidFill>
                  <a:srgbClr val="0000FF"/>
                </a:solidFill>
              </a:rPr>
            </a:br>
            <a:r>
              <a:rPr lang="en-US" dirty="0">
                <a:solidFill>
                  <a:srgbClr val="0000FF"/>
                </a:solidFill>
              </a:rPr>
              <a:t>$18.00 − $14.40 = $3.60</a:t>
            </a:r>
          </a:p>
          <a:p>
            <a:pPr marL="1588" indent="-1588" algn="ctr">
              <a:defRPr/>
            </a:pPr>
            <a:r>
              <a:rPr lang="en-US" dirty="0">
                <a:solidFill>
                  <a:srgbClr val="0000FF"/>
                </a:solidFill>
              </a:rPr>
              <a:t>Total profit: </a:t>
            </a:r>
            <a:br>
              <a:rPr lang="en-US" dirty="0">
                <a:solidFill>
                  <a:srgbClr val="0000FF"/>
                </a:solidFill>
              </a:rPr>
            </a:br>
            <a:r>
              <a:rPr lang="en-US" dirty="0">
                <a:solidFill>
                  <a:srgbClr val="0000FF"/>
                </a:solidFill>
              </a:rPr>
              <a:t>5 × $3.60 = $18.00</a:t>
            </a:r>
          </a:p>
        </p:txBody>
      </p:sp>
      <p:sp>
        <p:nvSpPr>
          <p:cNvPr id="209926" name="Rectangle 6"/>
          <p:cNvSpPr>
            <a:spLocks noChangeArrowheads="1"/>
          </p:cNvSpPr>
          <p:nvPr/>
        </p:nvSpPr>
        <p:spPr bwMode="auto">
          <a:xfrm>
            <a:off x="2284413" y="4308475"/>
            <a:ext cx="3055937" cy="384175"/>
          </a:xfrm>
          <a:prstGeom prst="rect">
            <a:avLst/>
          </a:prstGeom>
          <a:solidFill>
            <a:srgbClr val="D7EDE7"/>
          </a:solidFill>
          <a:ln w="9525">
            <a:noFill/>
            <a:miter lim="800000"/>
            <a:headEnd/>
            <a:tailEnd/>
          </a:ln>
        </p:spPr>
        <p:txBody>
          <a:bodyPr/>
          <a:lstStyle/>
          <a:p>
            <a:endParaRPr lang="en-US"/>
          </a:p>
        </p:txBody>
      </p:sp>
      <p:sp>
        <p:nvSpPr>
          <p:cNvPr id="52229" name="Line 7"/>
          <p:cNvSpPr>
            <a:spLocks noChangeShapeType="1"/>
          </p:cNvSpPr>
          <p:nvPr/>
        </p:nvSpPr>
        <p:spPr bwMode="auto">
          <a:xfrm>
            <a:off x="2284413" y="4308475"/>
            <a:ext cx="117475" cy="0"/>
          </a:xfrm>
          <a:prstGeom prst="line">
            <a:avLst/>
          </a:prstGeom>
          <a:noFill/>
          <a:ln w="6350">
            <a:solidFill>
              <a:srgbClr val="000000"/>
            </a:solidFill>
            <a:miter lim="800000"/>
            <a:headEnd/>
            <a:tailEnd/>
          </a:ln>
        </p:spPr>
        <p:txBody>
          <a:bodyPr/>
          <a:lstStyle/>
          <a:p>
            <a:endParaRPr lang="en-US"/>
          </a:p>
        </p:txBody>
      </p:sp>
      <p:sp>
        <p:nvSpPr>
          <p:cNvPr id="52230" name="Line 8"/>
          <p:cNvSpPr>
            <a:spLocks noChangeShapeType="1"/>
          </p:cNvSpPr>
          <p:nvPr/>
        </p:nvSpPr>
        <p:spPr bwMode="auto">
          <a:xfrm>
            <a:off x="2284413" y="4732338"/>
            <a:ext cx="117475" cy="0"/>
          </a:xfrm>
          <a:prstGeom prst="line">
            <a:avLst/>
          </a:prstGeom>
          <a:noFill/>
          <a:ln w="6350">
            <a:solidFill>
              <a:srgbClr val="000000"/>
            </a:solidFill>
            <a:miter lim="800000"/>
            <a:headEnd/>
            <a:tailEnd/>
          </a:ln>
        </p:spPr>
        <p:txBody>
          <a:bodyPr/>
          <a:lstStyle/>
          <a:p>
            <a:endParaRPr lang="en-US"/>
          </a:p>
        </p:txBody>
      </p:sp>
      <p:sp>
        <p:nvSpPr>
          <p:cNvPr id="52231" name="Line 9"/>
          <p:cNvSpPr>
            <a:spLocks noChangeShapeType="1"/>
          </p:cNvSpPr>
          <p:nvPr/>
        </p:nvSpPr>
        <p:spPr bwMode="auto">
          <a:xfrm flipV="1">
            <a:off x="6564313" y="6115050"/>
            <a:ext cx="0" cy="122238"/>
          </a:xfrm>
          <a:prstGeom prst="line">
            <a:avLst/>
          </a:prstGeom>
          <a:noFill/>
          <a:ln w="6350">
            <a:solidFill>
              <a:srgbClr val="000000"/>
            </a:solidFill>
            <a:miter lim="800000"/>
            <a:headEnd/>
            <a:tailEnd/>
          </a:ln>
        </p:spPr>
        <p:txBody>
          <a:bodyPr/>
          <a:lstStyle/>
          <a:p>
            <a:endParaRPr lang="en-US"/>
          </a:p>
        </p:txBody>
      </p:sp>
      <p:sp>
        <p:nvSpPr>
          <p:cNvPr id="52232" name="Line 10"/>
          <p:cNvSpPr>
            <a:spLocks noChangeShapeType="1"/>
          </p:cNvSpPr>
          <p:nvPr/>
        </p:nvSpPr>
        <p:spPr bwMode="auto">
          <a:xfrm flipV="1">
            <a:off x="5953125" y="6115050"/>
            <a:ext cx="0" cy="122238"/>
          </a:xfrm>
          <a:prstGeom prst="line">
            <a:avLst/>
          </a:prstGeom>
          <a:noFill/>
          <a:ln w="6350">
            <a:solidFill>
              <a:srgbClr val="000000"/>
            </a:solidFill>
            <a:miter lim="800000"/>
            <a:headEnd/>
            <a:tailEnd/>
          </a:ln>
        </p:spPr>
        <p:txBody>
          <a:bodyPr/>
          <a:lstStyle/>
          <a:p>
            <a:endParaRPr lang="en-US"/>
          </a:p>
        </p:txBody>
      </p:sp>
      <p:sp>
        <p:nvSpPr>
          <p:cNvPr id="52233" name="Line 11"/>
          <p:cNvSpPr>
            <a:spLocks noChangeShapeType="1"/>
          </p:cNvSpPr>
          <p:nvPr/>
        </p:nvSpPr>
        <p:spPr bwMode="auto">
          <a:xfrm flipV="1">
            <a:off x="5340350" y="6115050"/>
            <a:ext cx="0" cy="122238"/>
          </a:xfrm>
          <a:prstGeom prst="line">
            <a:avLst/>
          </a:prstGeom>
          <a:noFill/>
          <a:ln w="6350">
            <a:solidFill>
              <a:srgbClr val="000000"/>
            </a:solidFill>
            <a:miter lim="800000"/>
            <a:headEnd/>
            <a:tailEnd/>
          </a:ln>
        </p:spPr>
        <p:txBody>
          <a:bodyPr/>
          <a:lstStyle/>
          <a:p>
            <a:endParaRPr lang="en-US"/>
          </a:p>
        </p:txBody>
      </p:sp>
      <p:sp>
        <p:nvSpPr>
          <p:cNvPr id="52234" name="Line 12"/>
          <p:cNvSpPr>
            <a:spLocks noChangeShapeType="1"/>
          </p:cNvSpPr>
          <p:nvPr/>
        </p:nvSpPr>
        <p:spPr bwMode="auto">
          <a:xfrm flipV="1">
            <a:off x="4729163" y="6115050"/>
            <a:ext cx="0" cy="122238"/>
          </a:xfrm>
          <a:prstGeom prst="line">
            <a:avLst/>
          </a:prstGeom>
          <a:noFill/>
          <a:ln w="6350">
            <a:solidFill>
              <a:srgbClr val="000000"/>
            </a:solidFill>
            <a:miter lim="800000"/>
            <a:headEnd/>
            <a:tailEnd/>
          </a:ln>
        </p:spPr>
        <p:txBody>
          <a:bodyPr/>
          <a:lstStyle/>
          <a:p>
            <a:endParaRPr lang="en-US"/>
          </a:p>
        </p:txBody>
      </p:sp>
      <p:sp>
        <p:nvSpPr>
          <p:cNvPr id="52235" name="Line 13"/>
          <p:cNvSpPr>
            <a:spLocks noChangeShapeType="1"/>
          </p:cNvSpPr>
          <p:nvPr/>
        </p:nvSpPr>
        <p:spPr bwMode="auto">
          <a:xfrm flipV="1">
            <a:off x="4116388" y="6115050"/>
            <a:ext cx="0" cy="122238"/>
          </a:xfrm>
          <a:prstGeom prst="line">
            <a:avLst/>
          </a:prstGeom>
          <a:noFill/>
          <a:ln w="6350">
            <a:solidFill>
              <a:srgbClr val="000000"/>
            </a:solidFill>
            <a:miter lim="800000"/>
            <a:headEnd/>
            <a:tailEnd/>
          </a:ln>
        </p:spPr>
        <p:txBody>
          <a:bodyPr/>
          <a:lstStyle/>
          <a:p>
            <a:endParaRPr lang="en-US"/>
          </a:p>
        </p:txBody>
      </p:sp>
      <p:sp>
        <p:nvSpPr>
          <p:cNvPr id="52236" name="Line 14"/>
          <p:cNvSpPr>
            <a:spLocks noChangeShapeType="1"/>
          </p:cNvSpPr>
          <p:nvPr/>
        </p:nvSpPr>
        <p:spPr bwMode="auto">
          <a:xfrm flipV="1">
            <a:off x="3503613" y="6115050"/>
            <a:ext cx="0" cy="122238"/>
          </a:xfrm>
          <a:prstGeom prst="line">
            <a:avLst/>
          </a:prstGeom>
          <a:noFill/>
          <a:ln w="6350">
            <a:solidFill>
              <a:srgbClr val="000000"/>
            </a:solidFill>
            <a:miter lim="800000"/>
            <a:headEnd/>
            <a:tailEnd/>
          </a:ln>
        </p:spPr>
        <p:txBody>
          <a:bodyPr/>
          <a:lstStyle/>
          <a:p>
            <a:endParaRPr lang="en-US"/>
          </a:p>
        </p:txBody>
      </p:sp>
      <p:sp>
        <p:nvSpPr>
          <p:cNvPr id="52237" name="Line 15"/>
          <p:cNvSpPr>
            <a:spLocks noChangeShapeType="1"/>
          </p:cNvSpPr>
          <p:nvPr/>
        </p:nvSpPr>
        <p:spPr bwMode="auto">
          <a:xfrm flipV="1">
            <a:off x="2894013" y="6115050"/>
            <a:ext cx="0" cy="122238"/>
          </a:xfrm>
          <a:prstGeom prst="line">
            <a:avLst/>
          </a:prstGeom>
          <a:noFill/>
          <a:ln w="6350">
            <a:solidFill>
              <a:srgbClr val="000000"/>
            </a:solidFill>
            <a:miter lim="800000"/>
            <a:headEnd/>
            <a:tailEnd/>
          </a:ln>
        </p:spPr>
        <p:txBody>
          <a:bodyPr/>
          <a:lstStyle/>
          <a:p>
            <a:endParaRPr lang="en-US"/>
          </a:p>
        </p:txBody>
      </p:sp>
      <p:sp>
        <p:nvSpPr>
          <p:cNvPr id="52238" name="Rectangle 16"/>
          <p:cNvSpPr>
            <a:spLocks noChangeArrowheads="1"/>
          </p:cNvSpPr>
          <p:nvPr/>
        </p:nvSpPr>
        <p:spPr bwMode="auto">
          <a:xfrm>
            <a:off x="6518275" y="6269038"/>
            <a:ext cx="90488"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52239" name="Rectangle 17"/>
          <p:cNvSpPr>
            <a:spLocks noChangeArrowheads="1"/>
          </p:cNvSpPr>
          <p:nvPr/>
        </p:nvSpPr>
        <p:spPr bwMode="auto">
          <a:xfrm>
            <a:off x="5905500" y="6269038"/>
            <a:ext cx="90488"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52240" name="Rectangle 18"/>
          <p:cNvSpPr>
            <a:spLocks noChangeArrowheads="1"/>
          </p:cNvSpPr>
          <p:nvPr/>
        </p:nvSpPr>
        <p:spPr bwMode="auto">
          <a:xfrm>
            <a:off x="5295900" y="6269038"/>
            <a:ext cx="90488"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52241" name="Rectangle 19"/>
          <p:cNvSpPr>
            <a:spLocks noChangeArrowheads="1"/>
          </p:cNvSpPr>
          <p:nvPr/>
        </p:nvSpPr>
        <p:spPr bwMode="auto">
          <a:xfrm>
            <a:off x="4684713" y="6269038"/>
            <a:ext cx="90487"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52242" name="Rectangle 20"/>
          <p:cNvSpPr>
            <a:spLocks noChangeArrowheads="1"/>
          </p:cNvSpPr>
          <p:nvPr/>
        </p:nvSpPr>
        <p:spPr bwMode="auto">
          <a:xfrm>
            <a:off x="4071938" y="6269038"/>
            <a:ext cx="90487"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52243" name="Rectangle 21"/>
          <p:cNvSpPr>
            <a:spLocks noChangeArrowheads="1"/>
          </p:cNvSpPr>
          <p:nvPr/>
        </p:nvSpPr>
        <p:spPr bwMode="auto">
          <a:xfrm>
            <a:off x="3462338" y="6269038"/>
            <a:ext cx="90487"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52244" name="Rectangle 22"/>
          <p:cNvSpPr>
            <a:spLocks noChangeArrowheads="1"/>
          </p:cNvSpPr>
          <p:nvPr/>
        </p:nvSpPr>
        <p:spPr bwMode="auto">
          <a:xfrm>
            <a:off x="2851150" y="6269038"/>
            <a:ext cx="90488"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52245" name="Rectangle 23"/>
          <p:cNvSpPr>
            <a:spLocks noChangeArrowheads="1"/>
          </p:cNvSpPr>
          <p:nvPr/>
        </p:nvSpPr>
        <p:spPr bwMode="auto">
          <a:xfrm>
            <a:off x="2119313" y="6269038"/>
            <a:ext cx="9207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09944" name="Rectangle 24"/>
          <p:cNvSpPr>
            <a:spLocks noChangeArrowheads="1"/>
          </p:cNvSpPr>
          <p:nvPr/>
        </p:nvSpPr>
        <p:spPr bwMode="auto">
          <a:xfrm>
            <a:off x="6384925" y="3355975"/>
            <a:ext cx="277813"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09945" name="Rectangle 25"/>
          <p:cNvSpPr>
            <a:spLocks noChangeArrowheads="1"/>
          </p:cNvSpPr>
          <p:nvPr/>
        </p:nvSpPr>
        <p:spPr bwMode="auto">
          <a:xfrm>
            <a:off x="2911475" y="4405313"/>
            <a:ext cx="40322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Profit</a:t>
            </a:r>
            <a:endParaRPr lang="en-US" sz="1400">
              <a:latin typeface="Tahoma" pitchFamily="34" charset="0"/>
            </a:endParaRPr>
          </a:p>
        </p:txBody>
      </p:sp>
      <p:sp>
        <p:nvSpPr>
          <p:cNvPr id="209946" name="Rectangle 26"/>
          <p:cNvSpPr>
            <a:spLocks noChangeArrowheads="1"/>
          </p:cNvSpPr>
          <p:nvPr/>
        </p:nvSpPr>
        <p:spPr bwMode="auto">
          <a:xfrm>
            <a:off x="6538913" y="4410075"/>
            <a:ext cx="119062"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09947" name="Rectangle 27"/>
          <p:cNvSpPr>
            <a:spLocks noChangeArrowheads="1"/>
          </p:cNvSpPr>
          <p:nvPr/>
        </p:nvSpPr>
        <p:spPr bwMode="auto">
          <a:xfrm>
            <a:off x="6642100" y="4410075"/>
            <a:ext cx="1079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09948" name="Rectangle 28"/>
          <p:cNvSpPr>
            <a:spLocks noChangeArrowheads="1"/>
          </p:cNvSpPr>
          <p:nvPr/>
        </p:nvSpPr>
        <p:spPr bwMode="auto">
          <a:xfrm>
            <a:off x="6732588" y="4410075"/>
            <a:ext cx="128587"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09949" name="Rectangle 29"/>
          <p:cNvSpPr>
            <a:spLocks noChangeArrowheads="1"/>
          </p:cNvSpPr>
          <p:nvPr/>
        </p:nvSpPr>
        <p:spPr bwMode="auto">
          <a:xfrm>
            <a:off x="6588125" y="4168775"/>
            <a:ext cx="277813"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209950" name="Rectangle 30"/>
          <p:cNvSpPr>
            <a:spLocks noChangeArrowheads="1"/>
          </p:cNvSpPr>
          <p:nvPr/>
        </p:nvSpPr>
        <p:spPr bwMode="auto">
          <a:xfrm>
            <a:off x="6886575" y="4168775"/>
            <a:ext cx="1079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209951" name="Rectangle 31"/>
          <p:cNvSpPr>
            <a:spLocks noChangeArrowheads="1"/>
          </p:cNvSpPr>
          <p:nvPr/>
        </p:nvSpPr>
        <p:spPr bwMode="auto">
          <a:xfrm>
            <a:off x="7002463" y="4168775"/>
            <a:ext cx="169862"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P</a:t>
            </a:r>
            <a:endParaRPr lang="en-US" sz="1400" i="1">
              <a:latin typeface="Tahoma" pitchFamily="34" charset="0"/>
            </a:endParaRPr>
          </a:p>
        </p:txBody>
      </p:sp>
      <p:sp>
        <p:nvSpPr>
          <p:cNvPr id="209952" name="Rectangle 32"/>
          <p:cNvSpPr>
            <a:spLocks noChangeArrowheads="1"/>
          </p:cNvSpPr>
          <p:nvPr/>
        </p:nvSpPr>
        <p:spPr bwMode="auto">
          <a:xfrm>
            <a:off x="4784725" y="4767263"/>
            <a:ext cx="128588"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09953" name="Rectangle 33"/>
          <p:cNvSpPr>
            <a:spLocks noChangeArrowheads="1"/>
          </p:cNvSpPr>
          <p:nvPr/>
        </p:nvSpPr>
        <p:spPr bwMode="auto">
          <a:xfrm>
            <a:off x="5427663" y="4708525"/>
            <a:ext cx="1079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Z</a:t>
            </a:r>
            <a:endParaRPr lang="en-US" sz="1400" i="1">
              <a:latin typeface="Tahoma" pitchFamily="34" charset="0"/>
            </a:endParaRPr>
          </a:p>
        </p:txBody>
      </p:sp>
      <p:sp>
        <p:nvSpPr>
          <p:cNvPr id="209954" name="Rectangle 34"/>
          <p:cNvSpPr>
            <a:spLocks noChangeArrowheads="1"/>
          </p:cNvSpPr>
          <p:nvPr/>
        </p:nvSpPr>
        <p:spPr bwMode="auto">
          <a:xfrm>
            <a:off x="5292725" y="3960813"/>
            <a:ext cx="119063"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Tahoma" pitchFamily="34" charset="0"/>
            </a:endParaRPr>
          </a:p>
        </p:txBody>
      </p:sp>
      <p:sp>
        <p:nvSpPr>
          <p:cNvPr id="209985" name="Rectangle 65"/>
          <p:cNvSpPr>
            <a:spLocks noChangeArrowheads="1"/>
          </p:cNvSpPr>
          <p:nvPr/>
        </p:nvSpPr>
        <p:spPr bwMode="auto">
          <a:xfrm>
            <a:off x="3944938" y="1876425"/>
            <a:ext cx="1568450" cy="214313"/>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Market Price = $18</a:t>
            </a:r>
            <a:endParaRPr lang="en-US" sz="1400" b="1">
              <a:latin typeface="Tahoma" pitchFamily="34" charset="0"/>
            </a:endParaRPr>
          </a:p>
        </p:txBody>
      </p:sp>
      <p:sp>
        <p:nvSpPr>
          <p:cNvPr id="209987" name="Line 67"/>
          <p:cNvSpPr>
            <a:spLocks noChangeShapeType="1"/>
          </p:cNvSpPr>
          <p:nvPr/>
        </p:nvSpPr>
        <p:spPr bwMode="auto">
          <a:xfrm>
            <a:off x="2284413" y="4692650"/>
            <a:ext cx="117475" cy="0"/>
          </a:xfrm>
          <a:prstGeom prst="line">
            <a:avLst/>
          </a:prstGeom>
          <a:noFill/>
          <a:ln w="6350">
            <a:solidFill>
              <a:srgbClr val="000000"/>
            </a:solidFill>
            <a:miter lim="800000"/>
            <a:headEnd/>
            <a:tailEnd/>
          </a:ln>
        </p:spPr>
        <p:txBody>
          <a:bodyPr/>
          <a:lstStyle/>
          <a:p>
            <a:endParaRPr lang="en-US"/>
          </a:p>
        </p:txBody>
      </p:sp>
      <p:sp>
        <p:nvSpPr>
          <p:cNvPr id="52259" name="Rectangle 68"/>
          <p:cNvSpPr>
            <a:spLocks noChangeArrowheads="1"/>
          </p:cNvSpPr>
          <p:nvPr/>
        </p:nvSpPr>
        <p:spPr bwMode="auto">
          <a:xfrm>
            <a:off x="2017713" y="4638675"/>
            <a:ext cx="180975"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209989" name="Rectangle 69"/>
          <p:cNvSpPr>
            <a:spLocks noChangeArrowheads="1"/>
          </p:cNvSpPr>
          <p:nvPr/>
        </p:nvSpPr>
        <p:spPr bwMode="auto">
          <a:xfrm>
            <a:off x="1814513" y="4391025"/>
            <a:ext cx="3984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14.40</a:t>
            </a:r>
            <a:endParaRPr lang="en-US" sz="1400">
              <a:latin typeface="Tahoma" pitchFamily="34" charset="0"/>
            </a:endParaRPr>
          </a:p>
        </p:txBody>
      </p:sp>
      <p:sp>
        <p:nvSpPr>
          <p:cNvPr id="52261" name="Rectangle 74"/>
          <p:cNvSpPr>
            <a:spLocks noChangeArrowheads="1"/>
          </p:cNvSpPr>
          <p:nvPr/>
        </p:nvSpPr>
        <p:spPr bwMode="auto">
          <a:xfrm>
            <a:off x="1933575" y="4176713"/>
            <a:ext cx="273050"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52262" name="Freeform 75"/>
          <p:cNvSpPr>
            <a:spLocks/>
          </p:cNvSpPr>
          <p:nvPr/>
        </p:nvSpPr>
        <p:spPr bwMode="auto">
          <a:xfrm>
            <a:off x="2132013" y="4583113"/>
            <a:ext cx="149225" cy="109537"/>
          </a:xfrm>
          <a:custGeom>
            <a:avLst/>
            <a:gdLst>
              <a:gd name="T0" fmla="*/ 2147483647 w 64"/>
              <a:gd name="T1" fmla="*/ 2147483647 h 44"/>
              <a:gd name="T2" fmla="*/ 0 w 64"/>
              <a:gd name="T3" fmla="*/ 0 h 44"/>
              <a:gd name="T4" fmla="*/ 2147483647 w 64"/>
              <a:gd name="T5" fmla="*/ 2147483647 h 44"/>
              <a:gd name="T6" fmla="*/ 0 60000 65536"/>
              <a:gd name="T7" fmla="*/ 0 60000 65536"/>
              <a:gd name="T8" fmla="*/ 0 60000 65536"/>
              <a:gd name="T9" fmla="*/ 0 w 64"/>
              <a:gd name="T10" fmla="*/ 0 h 44"/>
              <a:gd name="T11" fmla="*/ 64 w 64"/>
              <a:gd name="T12" fmla="*/ 44 h 44"/>
            </a:gdLst>
            <a:ahLst/>
            <a:cxnLst>
              <a:cxn ang="T6">
                <a:pos x="T0" y="T1"/>
              </a:cxn>
              <a:cxn ang="T7">
                <a:pos x="T2" y="T3"/>
              </a:cxn>
              <a:cxn ang="T8">
                <a:pos x="T4" y="T5"/>
              </a:cxn>
            </a:cxnLst>
            <a:rect l="T9" t="T10" r="T11" b="T12"/>
            <a:pathLst>
              <a:path w="64" h="44">
                <a:moveTo>
                  <a:pt x="64" y="44"/>
                </a:moveTo>
                <a:lnTo>
                  <a:pt x="0" y="0"/>
                </a:lnTo>
                <a:lnTo>
                  <a:pt x="64" y="44"/>
                </a:lnTo>
                <a:close/>
              </a:path>
            </a:pathLst>
          </a:custGeom>
          <a:solidFill>
            <a:srgbClr val="000000"/>
          </a:solidFill>
          <a:ln w="9525">
            <a:noFill/>
            <a:round/>
            <a:headEnd/>
            <a:tailEnd/>
          </a:ln>
        </p:spPr>
        <p:txBody>
          <a:bodyPr/>
          <a:lstStyle/>
          <a:p>
            <a:endParaRPr lang="en-US"/>
          </a:p>
        </p:txBody>
      </p:sp>
      <p:sp>
        <p:nvSpPr>
          <p:cNvPr id="209996" name="Line 76"/>
          <p:cNvSpPr>
            <a:spLocks noChangeShapeType="1"/>
          </p:cNvSpPr>
          <p:nvPr/>
        </p:nvSpPr>
        <p:spPr bwMode="auto">
          <a:xfrm flipH="1" flipV="1">
            <a:off x="2132013" y="4583113"/>
            <a:ext cx="149225" cy="109537"/>
          </a:xfrm>
          <a:prstGeom prst="line">
            <a:avLst/>
          </a:prstGeom>
          <a:noFill/>
          <a:ln w="6350">
            <a:solidFill>
              <a:srgbClr val="000000"/>
            </a:solidFill>
            <a:miter lim="800000"/>
            <a:headEnd/>
            <a:tailEnd/>
          </a:ln>
        </p:spPr>
        <p:txBody>
          <a:bodyPr/>
          <a:lstStyle/>
          <a:p>
            <a:endParaRPr lang="en-US"/>
          </a:p>
        </p:txBody>
      </p:sp>
      <p:sp>
        <p:nvSpPr>
          <p:cNvPr id="210002" name="Line 82"/>
          <p:cNvSpPr>
            <a:spLocks noChangeShapeType="1"/>
          </p:cNvSpPr>
          <p:nvPr/>
        </p:nvSpPr>
        <p:spPr bwMode="auto">
          <a:xfrm>
            <a:off x="2284413" y="4308475"/>
            <a:ext cx="4276725" cy="0"/>
          </a:xfrm>
          <a:prstGeom prst="line">
            <a:avLst/>
          </a:prstGeom>
          <a:noFill/>
          <a:ln w="19050">
            <a:solidFill>
              <a:srgbClr val="4B8FCC"/>
            </a:solidFill>
            <a:miter lim="800000"/>
            <a:headEnd/>
            <a:tailEnd/>
          </a:ln>
        </p:spPr>
        <p:txBody>
          <a:bodyPr/>
          <a:lstStyle/>
          <a:p>
            <a:endParaRPr lang="en-US"/>
          </a:p>
        </p:txBody>
      </p:sp>
      <p:sp>
        <p:nvSpPr>
          <p:cNvPr id="210003" name="Freeform 83"/>
          <p:cNvSpPr>
            <a:spLocks/>
          </p:cNvSpPr>
          <p:nvPr/>
        </p:nvSpPr>
        <p:spPr bwMode="auto">
          <a:xfrm>
            <a:off x="2894013" y="3016250"/>
            <a:ext cx="3670300" cy="1820863"/>
          </a:xfrm>
          <a:custGeom>
            <a:avLst/>
            <a:gdLst>
              <a:gd name="T0" fmla="*/ 0 w 762"/>
              <a:gd name="T1" fmla="*/ 0 h 355"/>
              <a:gd name="T2" fmla="*/ 2147483647 w 762"/>
              <a:gd name="T3" fmla="*/ 2147483647 h 355"/>
              <a:gd name="T4" fmla="*/ 2147483647 w 762"/>
              <a:gd name="T5" fmla="*/ 2147483647 h 355"/>
              <a:gd name="T6" fmla="*/ 2147483647 w 762"/>
              <a:gd name="T7" fmla="*/ 2147483647 h 355"/>
              <a:gd name="T8" fmla="*/ 2147483647 w 762"/>
              <a:gd name="T9" fmla="*/ 2147483647 h 355"/>
              <a:gd name="T10" fmla="*/ 0 60000 65536"/>
              <a:gd name="T11" fmla="*/ 0 60000 65536"/>
              <a:gd name="T12" fmla="*/ 0 60000 65536"/>
              <a:gd name="T13" fmla="*/ 0 60000 65536"/>
              <a:gd name="T14" fmla="*/ 0 60000 65536"/>
              <a:gd name="T15" fmla="*/ 0 w 762"/>
              <a:gd name="T16" fmla="*/ 0 h 355"/>
              <a:gd name="T17" fmla="*/ 762 w 762"/>
              <a:gd name="T18" fmla="*/ 355 h 355"/>
            </a:gdLst>
            <a:ahLst/>
            <a:cxnLst>
              <a:cxn ang="T10">
                <a:pos x="T0" y="T1"/>
              </a:cxn>
              <a:cxn ang="T11">
                <a:pos x="T2" y="T3"/>
              </a:cxn>
              <a:cxn ang="T12">
                <a:pos x="T4" y="T5"/>
              </a:cxn>
              <a:cxn ang="T13">
                <a:pos x="T6" y="T7"/>
              </a:cxn>
              <a:cxn ang="T14">
                <a:pos x="T8" y="T9"/>
              </a:cxn>
            </a:cxnLst>
            <a:rect l="T15" t="T16" r="T17" b="T18"/>
            <a:pathLst>
              <a:path w="762" h="355">
                <a:moveTo>
                  <a:pt x="0" y="0"/>
                </a:moveTo>
                <a:cubicBezTo>
                  <a:pt x="0" y="0"/>
                  <a:pt x="58" y="239"/>
                  <a:pt x="201" y="303"/>
                </a:cubicBezTo>
                <a:cubicBezTo>
                  <a:pt x="318" y="355"/>
                  <a:pt x="508" y="327"/>
                  <a:pt x="508" y="327"/>
                </a:cubicBezTo>
                <a:cubicBezTo>
                  <a:pt x="635" y="307"/>
                  <a:pt x="635" y="307"/>
                  <a:pt x="635" y="307"/>
                </a:cubicBezTo>
                <a:cubicBezTo>
                  <a:pt x="762" y="281"/>
                  <a:pt x="762" y="281"/>
                  <a:pt x="762" y="281"/>
                </a:cubicBezTo>
              </a:path>
            </a:pathLst>
          </a:custGeom>
          <a:noFill/>
          <a:ln w="25400">
            <a:solidFill>
              <a:srgbClr val="8C64AB"/>
            </a:solidFill>
            <a:miter lim="800000"/>
            <a:headEnd/>
            <a:tailEnd/>
          </a:ln>
        </p:spPr>
        <p:txBody>
          <a:bodyPr/>
          <a:lstStyle/>
          <a:p>
            <a:endParaRPr lang="en-US"/>
          </a:p>
        </p:txBody>
      </p:sp>
      <p:sp>
        <p:nvSpPr>
          <p:cNvPr id="210004" name="Freeform 84"/>
          <p:cNvSpPr>
            <a:spLocks/>
          </p:cNvSpPr>
          <p:nvPr/>
        </p:nvSpPr>
        <p:spPr bwMode="auto">
          <a:xfrm>
            <a:off x="2560638" y="3573463"/>
            <a:ext cx="3811587" cy="2043112"/>
          </a:xfrm>
          <a:custGeom>
            <a:avLst/>
            <a:gdLst>
              <a:gd name="T0" fmla="*/ 2147483647 w 791"/>
              <a:gd name="T1" fmla="*/ 0 h 398"/>
              <a:gd name="T2" fmla="*/ 2147483647 w 791"/>
              <a:gd name="T3" fmla="*/ 2147483647 h 398"/>
              <a:gd name="T4" fmla="*/ 2147483647 w 791"/>
              <a:gd name="T5" fmla="*/ 2147483647 h 398"/>
              <a:gd name="T6" fmla="*/ 2147483647 w 791"/>
              <a:gd name="T7" fmla="*/ 2147483647 h 398"/>
              <a:gd name="T8" fmla="*/ 2147483647 w 791"/>
              <a:gd name="T9" fmla="*/ 2147483647 h 398"/>
              <a:gd name="T10" fmla="*/ 2147483647 w 791"/>
              <a:gd name="T11" fmla="*/ 2147483647 h 398"/>
              <a:gd name="T12" fmla="*/ 2147483647 w 791"/>
              <a:gd name="T13" fmla="*/ 2147483647 h 398"/>
              <a:gd name="T14" fmla="*/ 0 w 791"/>
              <a:gd name="T15" fmla="*/ 2147483647 h 398"/>
              <a:gd name="T16" fmla="*/ 0 60000 65536"/>
              <a:gd name="T17" fmla="*/ 0 60000 65536"/>
              <a:gd name="T18" fmla="*/ 0 60000 65536"/>
              <a:gd name="T19" fmla="*/ 0 60000 65536"/>
              <a:gd name="T20" fmla="*/ 0 60000 65536"/>
              <a:gd name="T21" fmla="*/ 0 60000 65536"/>
              <a:gd name="T22" fmla="*/ 0 60000 65536"/>
              <a:gd name="T23" fmla="*/ 0 60000 65536"/>
              <a:gd name="T24" fmla="*/ 0 w 791"/>
              <a:gd name="T25" fmla="*/ 0 h 398"/>
              <a:gd name="T26" fmla="*/ 791 w 791"/>
              <a:gd name="T27" fmla="*/ 398 h 3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91" h="398">
                <a:moveTo>
                  <a:pt x="791" y="0"/>
                </a:moveTo>
                <a:cubicBezTo>
                  <a:pt x="767" y="17"/>
                  <a:pt x="767" y="17"/>
                  <a:pt x="767" y="17"/>
                </a:cubicBezTo>
                <a:cubicBezTo>
                  <a:pt x="640" y="101"/>
                  <a:pt x="640" y="101"/>
                  <a:pt x="640" y="101"/>
                </a:cubicBezTo>
                <a:cubicBezTo>
                  <a:pt x="513" y="184"/>
                  <a:pt x="513" y="184"/>
                  <a:pt x="513" y="184"/>
                </a:cubicBezTo>
                <a:cubicBezTo>
                  <a:pt x="387" y="268"/>
                  <a:pt x="387" y="268"/>
                  <a:pt x="387" y="268"/>
                </a:cubicBezTo>
                <a:cubicBezTo>
                  <a:pt x="387" y="268"/>
                  <a:pt x="209" y="398"/>
                  <a:pt x="133" y="394"/>
                </a:cubicBezTo>
                <a:cubicBezTo>
                  <a:pt x="62" y="389"/>
                  <a:pt x="6" y="184"/>
                  <a:pt x="6" y="184"/>
                </a:cubicBezTo>
                <a:cubicBezTo>
                  <a:pt x="0" y="163"/>
                  <a:pt x="0" y="163"/>
                  <a:pt x="0" y="163"/>
                </a:cubicBezTo>
              </a:path>
            </a:pathLst>
          </a:custGeom>
          <a:noFill/>
          <a:ln w="25400">
            <a:solidFill>
              <a:srgbClr val="F3716D"/>
            </a:solidFill>
            <a:miter lim="800000"/>
            <a:headEnd/>
            <a:tailEnd/>
          </a:ln>
        </p:spPr>
        <p:txBody>
          <a:bodyPr/>
          <a:lstStyle/>
          <a:p>
            <a:endParaRPr lang="en-US"/>
          </a:p>
        </p:txBody>
      </p:sp>
      <p:sp>
        <p:nvSpPr>
          <p:cNvPr id="210006" name="Oval 86"/>
          <p:cNvSpPr>
            <a:spLocks noChangeArrowheads="1"/>
          </p:cNvSpPr>
          <p:nvPr/>
        </p:nvSpPr>
        <p:spPr bwMode="auto">
          <a:xfrm>
            <a:off x="4679950" y="4683125"/>
            <a:ext cx="95250" cy="101600"/>
          </a:xfrm>
          <a:prstGeom prst="ellipse">
            <a:avLst/>
          </a:prstGeom>
          <a:solidFill>
            <a:srgbClr val="000000"/>
          </a:solidFill>
          <a:ln w="9525">
            <a:noFill/>
            <a:round/>
            <a:headEnd/>
            <a:tailEnd/>
          </a:ln>
        </p:spPr>
        <p:txBody>
          <a:bodyPr/>
          <a:lstStyle/>
          <a:p>
            <a:endParaRPr lang="en-US"/>
          </a:p>
        </p:txBody>
      </p:sp>
      <p:sp>
        <p:nvSpPr>
          <p:cNvPr id="210007" name="Oval 87"/>
          <p:cNvSpPr>
            <a:spLocks noChangeArrowheads="1"/>
          </p:cNvSpPr>
          <p:nvPr/>
        </p:nvSpPr>
        <p:spPr bwMode="auto">
          <a:xfrm>
            <a:off x="5292725" y="4640263"/>
            <a:ext cx="95250" cy="101600"/>
          </a:xfrm>
          <a:prstGeom prst="ellipse">
            <a:avLst/>
          </a:prstGeom>
          <a:solidFill>
            <a:srgbClr val="000000"/>
          </a:solidFill>
          <a:ln w="9525">
            <a:noFill/>
            <a:round/>
            <a:headEnd/>
            <a:tailEnd/>
          </a:ln>
        </p:spPr>
        <p:txBody>
          <a:bodyPr/>
          <a:lstStyle/>
          <a:p>
            <a:endParaRPr lang="en-US"/>
          </a:p>
        </p:txBody>
      </p:sp>
      <p:sp>
        <p:nvSpPr>
          <p:cNvPr id="210008" name="Oval 88"/>
          <p:cNvSpPr>
            <a:spLocks noChangeArrowheads="1"/>
          </p:cNvSpPr>
          <p:nvPr/>
        </p:nvSpPr>
        <p:spPr bwMode="auto">
          <a:xfrm>
            <a:off x="5292725" y="4256088"/>
            <a:ext cx="95250" cy="101600"/>
          </a:xfrm>
          <a:prstGeom prst="ellipse">
            <a:avLst/>
          </a:prstGeom>
          <a:solidFill>
            <a:srgbClr val="000000"/>
          </a:solidFill>
          <a:ln w="9525">
            <a:noFill/>
            <a:round/>
            <a:headEnd/>
            <a:tailEnd/>
          </a:ln>
        </p:spPr>
        <p:txBody>
          <a:bodyPr/>
          <a:lstStyle/>
          <a:p>
            <a:endParaRPr lang="en-US"/>
          </a:p>
        </p:txBody>
      </p:sp>
      <p:sp>
        <p:nvSpPr>
          <p:cNvPr id="210011" name="Line 91"/>
          <p:cNvSpPr>
            <a:spLocks noChangeShapeType="1"/>
          </p:cNvSpPr>
          <p:nvPr/>
        </p:nvSpPr>
        <p:spPr bwMode="auto">
          <a:xfrm>
            <a:off x="1576388" y="4754563"/>
            <a:ext cx="423862" cy="0"/>
          </a:xfrm>
          <a:prstGeom prst="line">
            <a:avLst/>
          </a:prstGeom>
          <a:noFill/>
          <a:ln w="6350">
            <a:solidFill>
              <a:srgbClr val="000000"/>
            </a:solidFill>
            <a:miter lim="800000"/>
            <a:headEnd/>
            <a:tailEnd/>
          </a:ln>
        </p:spPr>
        <p:txBody>
          <a:bodyPr/>
          <a:lstStyle/>
          <a:p>
            <a:endParaRPr lang="en-US"/>
          </a:p>
        </p:txBody>
      </p:sp>
      <p:sp>
        <p:nvSpPr>
          <p:cNvPr id="210012" name="Freeform 92"/>
          <p:cNvSpPr>
            <a:spLocks/>
          </p:cNvSpPr>
          <p:nvPr/>
        </p:nvSpPr>
        <p:spPr bwMode="auto">
          <a:xfrm>
            <a:off x="1355725" y="4683125"/>
            <a:ext cx="527050" cy="650875"/>
          </a:xfrm>
          <a:custGeom>
            <a:avLst/>
            <a:gdLst>
              <a:gd name="T0" fmla="*/ 2147483647 w 109"/>
              <a:gd name="T1" fmla="*/ 2147483647 h 127"/>
              <a:gd name="T2" fmla="*/ 2147483647 w 109"/>
              <a:gd name="T3" fmla="*/ 2147483647 h 127"/>
              <a:gd name="T4" fmla="*/ 2147483647 w 109"/>
              <a:gd name="T5" fmla="*/ 2147483647 h 127"/>
              <a:gd name="T6" fmla="*/ 0 w 109"/>
              <a:gd name="T7" fmla="*/ 2147483647 h 127"/>
              <a:gd name="T8" fmla="*/ 0 w 109"/>
              <a:gd name="T9" fmla="*/ 2147483647 h 127"/>
              <a:gd name="T10" fmla="*/ 2147483647 w 109"/>
              <a:gd name="T11" fmla="*/ 0 h 127"/>
              <a:gd name="T12" fmla="*/ 2147483647 w 109"/>
              <a:gd name="T13" fmla="*/ 0 h 127"/>
              <a:gd name="T14" fmla="*/ 2147483647 w 109"/>
              <a:gd name="T15" fmla="*/ 2147483647 h 127"/>
              <a:gd name="T16" fmla="*/ 2147483647 w 109"/>
              <a:gd name="T17" fmla="*/ 2147483647 h 1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9"/>
              <a:gd name="T28" fmla="*/ 0 h 127"/>
              <a:gd name="T29" fmla="*/ 109 w 109"/>
              <a:gd name="T30" fmla="*/ 127 h 1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9" h="127">
                <a:moveTo>
                  <a:pt x="109" y="106"/>
                </a:moveTo>
                <a:cubicBezTo>
                  <a:pt x="109" y="117"/>
                  <a:pt x="105" y="127"/>
                  <a:pt x="99" y="127"/>
                </a:cubicBezTo>
                <a:cubicBezTo>
                  <a:pt x="10" y="127"/>
                  <a:pt x="10" y="127"/>
                  <a:pt x="10" y="127"/>
                </a:cubicBezTo>
                <a:cubicBezTo>
                  <a:pt x="5" y="127"/>
                  <a:pt x="0" y="117"/>
                  <a:pt x="0" y="106"/>
                </a:cubicBezTo>
                <a:cubicBezTo>
                  <a:pt x="0" y="22"/>
                  <a:pt x="0" y="22"/>
                  <a:pt x="0" y="22"/>
                </a:cubicBezTo>
                <a:cubicBezTo>
                  <a:pt x="0" y="10"/>
                  <a:pt x="5" y="0"/>
                  <a:pt x="10" y="0"/>
                </a:cubicBezTo>
                <a:cubicBezTo>
                  <a:pt x="99" y="0"/>
                  <a:pt x="99" y="0"/>
                  <a:pt x="99" y="0"/>
                </a:cubicBezTo>
                <a:cubicBezTo>
                  <a:pt x="105" y="0"/>
                  <a:pt x="109" y="10"/>
                  <a:pt x="109" y="22"/>
                </a:cubicBezTo>
                <a:lnTo>
                  <a:pt x="109" y="106"/>
                </a:lnTo>
                <a:close/>
              </a:path>
            </a:pathLst>
          </a:custGeom>
          <a:solidFill>
            <a:srgbClr val="D7E2E0"/>
          </a:solidFill>
          <a:ln w="9525">
            <a:noFill/>
            <a:round/>
            <a:headEnd/>
            <a:tailEnd/>
          </a:ln>
        </p:spPr>
        <p:txBody>
          <a:bodyPr/>
          <a:lstStyle/>
          <a:p>
            <a:endParaRPr lang="en-US"/>
          </a:p>
        </p:txBody>
      </p:sp>
      <p:sp>
        <p:nvSpPr>
          <p:cNvPr id="52272" name="Freeform 95"/>
          <p:cNvSpPr>
            <a:spLocks/>
          </p:cNvSpPr>
          <p:nvPr/>
        </p:nvSpPr>
        <p:spPr bwMode="auto">
          <a:xfrm>
            <a:off x="2284413" y="2255838"/>
            <a:ext cx="4930775" cy="4006850"/>
          </a:xfrm>
          <a:custGeom>
            <a:avLst/>
            <a:gdLst>
              <a:gd name="T0" fmla="*/ 2147483647 w 2199"/>
              <a:gd name="T1" fmla="*/ 2147483647 h 1604"/>
              <a:gd name="T2" fmla="*/ 0 w 2199"/>
              <a:gd name="T3" fmla="*/ 2147483647 h 1604"/>
              <a:gd name="T4" fmla="*/ 0 w 2199"/>
              <a:gd name="T5" fmla="*/ 0 h 1604"/>
              <a:gd name="T6" fmla="*/ 0 60000 65536"/>
              <a:gd name="T7" fmla="*/ 0 60000 65536"/>
              <a:gd name="T8" fmla="*/ 0 60000 65536"/>
              <a:gd name="T9" fmla="*/ 0 w 2199"/>
              <a:gd name="T10" fmla="*/ 0 h 1604"/>
              <a:gd name="T11" fmla="*/ 2199 w 2199"/>
              <a:gd name="T12" fmla="*/ 1604 h 1604"/>
            </a:gdLst>
            <a:ahLst/>
            <a:cxnLst>
              <a:cxn ang="T6">
                <a:pos x="T0" y="T1"/>
              </a:cxn>
              <a:cxn ang="T7">
                <a:pos x="T2" y="T3"/>
              </a:cxn>
              <a:cxn ang="T8">
                <a:pos x="T4" y="T5"/>
              </a:cxn>
            </a:cxnLst>
            <a:rect l="T9" t="T10" r="T11" b="T12"/>
            <a:pathLst>
              <a:path w="2199" h="1604">
                <a:moveTo>
                  <a:pt x="2199" y="1604"/>
                </a:moveTo>
                <a:lnTo>
                  <a:pt x="0" y="1604"/>
                </a:lnTo>
                <a:lnTo>
                  <a:pt x="0" y="0"/>
                </a:lnTo>
              </a:path>
            </a:pathLst>
          </a:custGeom>
          <a:noFill/>
          <a:ln w="6350">
            <a:solidFill>
              <a:srgbClr val="000000"/>
            </a:solidFill>
            <a:miter lim="800000"/>
            <a:headEnd/>
            <a:tailEnd/>
          </a:ln>
        </p:spPr>
        <p:txBody>
          <a:bodyPr/>
          <a:lstStyle/>
          <a:p>
            <a:endParaRPr lang="en-US"/>
          </a:p>
        </p:txBody>
      </p:sp>
      <p:sp>
        <p:nvSpPr>
          <p:cNvPr id="210016" name="Line 96"/>
          <p:cNvSpPr>
            <a:spLocks noChangeShapeType="1"/>
          </p:cNvSpPr>
          <p:nvPr/>
        </p:nvSpPr>
        <p:spPr bwMode="auto">
          <a:xfrm flipH="1" flipV="1">
            <a:off x="4246563" y="3846513"/>
            <a:ext cx="482600" cy="885825"/>
          </a:xfrm>
          <a:prstGeom prst="line">
            <a:avLst/>
          </a:prstGeom>
          <a:noFill/>
          <a:ln w="6350">
            <a:solidFill>
              <a:srgbClr val="000000"/>
            </a:solidFill>
            <a:miter lim="800000"/>
            <a:headEnd/>
            <a:tailEnd/>
          </a:ln>
        </p:spPr>
        <p:txBody>
          <a:bodyPr/>
          <a:lstStyle/>
          <a:p>
            <a:endParaRPr lang="en-US"/>
          </a:p>
        </p:txBody>
      </p:sp>
      <p:sp>
        <p:nvSpPr>
          <p:cNvPr id="210017" name="Freeform 97"/>
          <p:cNvSpPr>
            <a:spLocks/>
          </p:cNvSpPr>
          <p:nvPr/>
        </p:nvSpPr>
        <p:spPr bwMode="auto">
          <a:xfrm>
            <a:off x="3846513" y="3179763"/>
            <a:ext cx="774700" cy="687387"/>
          </a:xfrm>
          <a:custGeom>
            <a:avLst/>
            <a:gdLst>
              <a:gd name="T0" fmla="*/ 2147483647 w 161"/>
              <a:gd name="T1" fmla="*/ 2147483647 h 134"/>
              <a:gd name="T2" fmla="*/ 2147483647 w 161"/>
              <a:gd name="T3" fmla="*/ 2147483647 h 134"/>
              <a:gd name="T4" fmla="*/ 2147483647 w 161"/>
              <a:gd name="T5" fmla="*/ 2147483647 h 134"/>
              <a:gd name="T6" fmla="*/ 0 w 161"/>
              <a:gd name="T7" fmla="*/ 2147483647 h 134"/>
              <a:gd name="T8" fmla="*/ 0 w 161"/>
              <a:gd name="T9" fmla="*/ 2147483647 h 134"/>
              <a:gd name="T10" fmla="*/ 2147483647 w 161"/>
              <a:gd name="T11" fmla="*/ 0 h 134"/>
              <a:gd name="T12" fmla="*/ 2147483647 w 161"/>
              <a:gd name="T13" fmla="*/ 0 h 134"/>
              <a:gd name="T14" fmla="*/ 2147483647 w 161"/>
              <a:gd name="T15" fmla="*/ 2147483647 h 134"/>
              <a:gd name="T16" fmla="*/ 2147483647 w 161"/>
              <a:gd name="T17" fmla="*/ 2147483647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1"/>
              <a:gd name="T28" fmla="*/ 0 h 134"/>
              <a:gd name="T29" fmla="*/ 161 w 161"/>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1" h="134">
                <a:moveTo>
                  <a:pt x="161" y="118"/>
                </a:moveTo>
                <a:cubicBezTo>
                  <a:pt x="161" y="126"/>
                  <a:pt x="154" y="134"/>
                  <a:pt x="145" y="134"/>
                </a:cubicBezTo>
                <a:cubicBezTo>
                  <a:pt x="16" y="134"/>
                  <a:pt x="16" y="134"/>
                  <a:pt x="16" y="134"/>
                </a:cubicBezTo>
                <a:cubicBezTo>
                  <a:pt x="7" y="134"/>
                  <a:pt x="0" y="126"/>
                  <a:pt x="0" y="118"/>
                </a:cubicBezTo>
                <a:cubicBezTo>
                  <a:pt x="0" y="16"/>
                  <a:pt x="0" y="16"/>
                  <a:pt x="0" y="16"/>
                </a:cubicBezTo>
                <a:cubicBezTo>
                  <a:pt x="0" y="8"/>
                  <a:pt x="7" y="0"/>
                  <a:pt x="16" y="0"/>
                </a:cubicBezTo>
                <a:cubicBezTo>
                  <a:pt x="145" y="0"/>
                  <a:pt x="145" y="0"/>
                  <a:pt x="145" y="0"/>
                </a:cubicBezTo>
                <a:cubicBezTo>
                  <a:pt x="154" y="0"/>
                  <a:pt x="161" y="8"/>
                  <a:pt x="161" y="16"/>
                </a:cubicBezTo>
                <a:lnTo>
                  <a:pt x="161" y="118"/>
                </a:lnTo>
                <a:close/>
              </a:path>
            </a:pathLst>
          </a:custGeom>
          <a:solidFill>
            <a:srgbClr val="D7E2E0"/>
          </a:solidFill>
          <a:ln w="9525">
            <a:noFill/>
            <a:round/>
            <a:headEnd/>
            <a:tailEnd/>
          </a:ln>
        </p:spPr>
        <p:txBody>
          <a:bodyPr/>
          <a:lstStyle/>
          <a:p>
            <a:endParaRPr lang="en-US"/>
          </a:p>
        </p:txBody>
      </p:sp>
      <p:sp>
        <p:nvSpPr>
          <p:cNvPr id="52275" name="Rectangle 98"/>
          <p:cNvSpPr>
            <a:spLocks noChangeArrowheads="1"/>
          </p:cNvSpPr>
          <p:nvPr/>
        </p:nvSpPr>
        <p:spPr bwMode="auto">
          <a:xfrm>
            <a:off x="1814513" y="1798638"/>
            <a:ext cx="1004887"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52276" name="Rectangle 101"/>
          <p:cNvSpPr>
            <a:spLocks noChangeArrowheads="1"/>
          </p:cNvSpPr>
          <p:nvPr/>
        </p:nvSpPr>
        <p:spPr bwMode="auto">
          <a:xfrm>
            <a:off x="4941888" y="6481763"/>
            <a:ext cx="2674937"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210023" name="Rectangle 103"/>
          <p:cNvSpPr>
            <a:spLocks noChangeArrowheads="1"/>
          </p:cNvSpPr>
          <p:nvPr/>
        </p:nvSpPr>
        <p:spPr bwMode="auto">
          <a:xfrm>
            <a:off x="3814763" y="3211513"/>
            <a:ext cx="858837"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Minimum average total cost</a:t>
            </a:r>
            <a:endParaRPr lang="en-US" sz="1400">
              <a:latin typeface="Tahoma" pitchFamily="34" charset="0"/>
            </a:endParaRPr>
          </a:p>
        </p:txBody>
      </p:sp>
      <p:sp>
        <p:nvSpPr>
          <p:cNvPr id="210024" name="Rectangle 104"/>
          <p:cNvSpPr>
            <a:spLocks noChangeArrowheads="1"/>
          </p:cNvSpPr>
          <p:nvPr/>
        </p:nvSpPr>
        <p:spPr bwMode="auto">
          <a:xfrm>
            <a:off x="1309688" y="4678363"/>
            <a:ext cx="606425"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Break even price</a:t>
            </a:r>
            <a:endParaRPr lang="en-US" sz="1400">
              <a:latin typeface="Tahoma" pitchFamily="34" charset="0"/>
            </a:endParaRPr>
          </a:p>
        </p:txBody>
      </p:sp>
      <p:cxnSp>
        <p:nvCxnSpPr>
          <p:cNvPr id="548914" name="Straight Connector 86"/>
          <p:cNvCxnSpPr>
            <a:cxnSpLocks noChangeShapeType="1"/>
          </p:cNvCxnSpPr>
          <p:nvPr/>
        </p:nvCxnSpPr>
        <p:spPr bwMode="auto">
          <a:xfrm>
            <a:off x="5330825" y="4314825"/>
            <a:ext cx="0" cy="1846263"/>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4733925" y="4759325"/>
            <a:ext cx="0" cy="1385888"/>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2427288" y="4745038"/>
            <a:ext cx="2251075" cy="0"/>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2427288" y="4686300"/>
            <a:ext cx="2251075" cy="0"/>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9985"/>
                                        </p:tgtEl>
                                        <p:attrNameLst>
                                          <p:attrName>style.visibility</p:attrName>
                                        </p:attrNameLst>
                                      </p:cBhvr>
                                      <p:to>
                                        <p:strVal val="visible"/>
                                      </p:to>
                                    </p:set>
                                  </p:childTnLst>
                                </p:cTn>
                              </p:par>
                              <p:par>
                                <p:cTn id="7" presetID="22" presetClass="entr" presetSubtype="8" fill="hold" grpId="0" nodeType="withEffect">
                                  <p:stCondLst>
                                    <p:cond delay="0"/>
                                  </p:stCondLst>
                                  <p:childTnLst>
                                    <p:set>
                                      <p:cBhvr>
                                        <p:cTn id="8" dur="1" fill="hold">
                                          <p:stCondLst>
                                            <p:cond delay="0"/>
                                          </p:stCondLst>
                                        </p:cTn>
                                        <p:tgtEl>
                                          <p:spTgt spid="210002"/>
                                        </p:tgtEl>
                                        <p:attrNameLst>
                                          <p:attrName>style.visibility</p:attrName>
                                        </p:attrNameLst>
                                      </p:cBhvr>
                                      <p:to>
                                        <p:strVal val="visible"/>
                                      </p:to>
                                    </p:set>
                                    <p:animEffect transition="in" filter="wipe(left)">
                                      <p:cBhvr>
                                        <p:cTn id="9" dur="500"/>
                                        <p:tgtEl>
                                          <p:spTgt spid="210002"/>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20995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0995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0994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0994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0994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09948"/>
                                        </p:tgtEl>
                                        <p:attrNameLst>
                                          <p:attrName>style.visibility</p:attrName>
                                        </p:attrNameLst>
                                      </p:cBhvr>
                                      <p:to>
                                        <p:strVal val="visible"/>
                                      </p:to>
                                    </p:set>
                                  </p:childTnLst>
                                </p:cTn>
                              </p:par>
                              <p:par>
                                <p:cTn id="24" presetID="22" presetClass="entr" presetSubtype="8" fill="hold" grpId="0" nodeType="withEffect">
                                  <p:stCondLst>
                                    <p:cond delay="0"/>
                                  </p:stCondLst>
                                  <p:childTnLst>
                                    <p:set>
                                      <p:cBhvr>
                                        <p:cTn id="25" dur="1" fill="hold">
                                          <p:stCondLst>
                                            <p:cond delay="0"/>
                                          </p:stCondLst>
                                        </p:cTn>
                                        <p:tgtEl>
                                          <p:spTgt spid="210003"/>
                                        </p:tgtEl>
                                        <p:attrNameLst>
                                          <p:attrName>style.visibility</p:attrName>
                                        </p:attrNameLst>
                                      </p:cBhvr>
                                      <p:to>
                                        <p:strVal val="visible"/>
                                      </p:to>
                                    </p:set>
                                    <p:animEffect transition="in" filter="wipe(left)">
                                      <p:cBhvr>
                                        <p:cTn id="26" dur="500"/>
                                        <p:tgtEl>
                                          <p:spTgt spid="21000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0004"/>
                                        </p:tgtEl>
                                        <p:attrNameLst>
                                          <p:attrName>style.visibility</p:attrName>
                                        </p:attrNameLst>
                                      </p:cBhvr>
                                      <p:to>
                                        <p:strVal val="visible"/>
                                      </p:to>
                                    </p:set>
                                    <p:animEffect transition="in" filter="wipe(left)">
                                      <p:cBhvr>
                                        <p:cTn id="31" dur="500"/>
                                        <p:tgtEl>
                                          <p:spTgt spid="210004"/>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20995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09954"/>
                                        </p:tgtEl>
                                        <p:attrNameLst>
                                          <p:attrName>style.visibility</p:attrName>
                                        </p:attrNameLst>
                                      </p:cBhvr>
                                      <p:to>
                                        <p:strVal val="visible"/>
                                      </p:to>
                                    </p:set>
                                  </p:childTnLst>
                                </p:cTn>
                              </p:par>
                              <p:par>
                                <p:cTn id="38" presetID="22" presetClass="entr" presetSubtype="1" fill="hold"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up)">
                                      <p:cBhvr>
                                        <p:cTn id="40" dur="500"/>
                                        <p:tgtEl>
                                          <p:spTgt spid="2"/>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21000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0006"/>
                                        </p:tgtEl>
                                        <p:attrNameLst>
                                          <p:attrName>style.visibility</p:attrName>
                                        </p:attrNameLst>
                                      </p:cBhvr>
                                      <p:to>
                                        <p:strVal val="visible"/>
                                      </p:to>
                                    </p:set>
                                  </p:childTnLst>
                                </p:cTn>
                              </p:par>
                              <p:par>
                                <p:cTn id="45" presetID="22" presetClass="entr" presetSubtype="1" fill="hold" nodeType="withEffect">
                                  <p:stCondLst>
                                    <p:cond delay="0"/>
                                  </p:stCondLst>
                                  <p:childTnLst>
                                    <p:set>
                                      <p:cBhvr>
                                        <p:cTn id="46" dur="1" fill="hold">
                                          <p:stCondLst>
                                            <p:cond delay="0"/>
                                          </p:stCondLst>
                                        </p:cTn>
                                        <p:tgtEl>
                                          <p:spTgt spid="548914"/>
                                        </p:tgtEl>
                                        <p:attrNameLst>
                                          <p:attrName>style.visibility</p:attrName>
                                        </p:attrNameLst>
                                      </p:cBhvr>
                                      <p:to>
                                        <p:strVal val="visible"/>
                                      </p:to>
                                    </p:set>
                                    <p:animEffect transition="in" filter="wipe(up)">
                                      <p:cBhvr>
                                        <p:cTn id="47" dur="500"/>
                                        <p:tgtEl>
                                          <p:spTgt spid="54891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0994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1000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0999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09989"/>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09945"/>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10016"/>
                                        </p:tgtEl>
                                        <p:attrNameLst>
                                          <p:attrName>style.visibility</p:attrName>
                                        </p:attrNameLst>
                                      </p:cBhvr>
                                      <p:to>
                                        <p:strVal val="visible"/>
                                      </p:to>
                                    </p:set>
                                  </p:childTnLst>
                                </p:cTn>
                              </p:par>
                              <p:par>
                                <p:cTn id="64" presetID="13" presetClass="entr" presetSubtype="16" fill="hold" grpId="0" nodeType="withEffect">
                                  <p:stCondLst>
                                    <p:cond delay="0"/>
                                  </p:stCondLst>
                                  <p:childTnLst>
                                    <p:set>
                                      <p:cBhvr>
                                        <p:cTn id="65" dur="1" fill="hold">
                                          <p:stCondLst>
                                            <p:cond delay="0"/>
                                          </p:stCondLst>
                                        </p:cTn>
                                        <p:tgtEl>
                                          <p:spTgt spid="209926"/>
                                        </p:tgtEl>
                                        <p:attrNameLst>
                                          <p:attrName>style.visibility</p:attrName>
                                        </p:attrNameLst>
                                      </p:cBhvr>
                                      <p:to>
                                        <p:strVal val="visible"/>
                                      </p:to>
                                    </p:set>
                                    <p:animEffect transition="in" filter="plus(in)">
                                      <p:cBhvr>
                                        <p:cTn id="66" dur="500"/>
                                        <p:tgtEl>
                                          <p:spTgt spid="209926"/>
                                        </p:tgtEl>
                                      </p:cBhvr>
                                    </p:animEffect>
                                  </p:childTnLst>
                                </p:cTn>
                              </p:par>
                              <p:par>
                                <p:cTn id="67" presetID="1" presetClass="entr" presetSubtype="0" fill="hold" grpId="0" nodeType="withEffect">
                                  <p:stCondLst>
                                    <p:cond delay="0"/>
                                  </p:stCondLst>
                                  <p:childTnLst>
                                    <p:set>
                                      <p:cBhvr>
                                        <p:cTn id="68" dur="1" fill="hold">
                                          <p:stCondLst>
                                            <p:cond delay="0"/>
                                          </p:stCondLst>
                                        </p:cTn>
                                        <p:tgtEl>
                                          <p:spTgt spid="20998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001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10012"/>
                                        </p:tgtEl>
                                        <p:attrNameLst>
                                          <p:attrName>style.visibility</p:attrName>
                                        </p:attrNameLst>
                                      </p:cBhvr>
                                      <p:to>
                                        <p:strVal val="visible"/>
                                      </p:to>
                                    </p:set>
                                  </p:childTnLst>
                                </p:cTn>
                              </p:par>
                              <p:par>
                                <p:cTn id="73" presetID="22" presetClass="entr" presetSubtype="8" fill="hold" grpId="0" nodeType="withEffect">
                                  <p:stCondLst>
                                    <p:cond delay="0"/>
                                  </p:stCondLst>
                                  <p:childTnLst>
                                    <p:set>
                                      <p:cBhvr>
                                        <p:cTn id="74" dur="1" fill="hold">
                                          <p:stCondLst>
                                            <p:cond delay="0"/>
                                          </p:stCondLst>
                                        </p:cTn>
                                        <p:tgtEl>
                                          <p:spTgt spid="210024"/>
                                        </p:tgtEl>
                                        <p:attrNameLst>
                                          <p:attrName>style.visibility</p:attrName>
                                        </p:attrNameLst>
                                      </p:cBhvr>
                                      <p:to>
                                        <p:strVal val="visible"/>
                                      </p:to>
                                    </p:set>
                                    <p:animEffect transition="in" filter="wipe(left)">
                                      <p:cBhvr>
                                        <p:cTn id="75" dur="500"/>
                                        <p:tgtEl>
                                          <p:spTgt spid="210024"/>
                                        </p:tgtEl>
                                      </p:cBhvr>
                                    </p:animEffect>
                                  </p:childTnLst>
                                </p:cTn>
                              </p:par>
                              <p:par>
                                <p:cTn id="76" presetID="1" presetClass="entr" presetSubtype="0" fill="hold" grpId="0" nodeType="withEffect">
                                  <p:stCondLst>
                                    <p:cond delay="0"/>
                                  </p:stCondLst>
                                  <p:childTnLst>
                                    <p:set>
                                      <p:cBhvr>
                                        <p:cTn id="77" dur="1" fill="hold">
                                          <p:stCondLst>
                                            <p:cond delay="0"/>
                                          </p:stCondLst>
                                        </p:cTn>
                                        <p:tgtEl>
                                          <p:spTgt spid="209953"/>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10017"/>
                                        </p:tgtEl>
                                        <p:attrNameLst>
                                          <p:attrName>style.visibility</p:attrName>
                                        </p:attrNameLst>
                                      </p:cBhvr>
                                      <p:to>
                                        <p:strVal val="visible"/>
                                      </p:to>
                                    </p:set>
                                  </p:childTnLst>
                                </p:cTn>
                              </p:par>
                              <p:par>
                                <p:cTn id="80" presetID="22" presetClass="entr" presetSubtype="8" fill="hold" grpId="0" nodeType="withEffect">
                                  <p:stCondLst>
                                    <p:cond delay="0"/>
                                  </p:stCondLst>
                                  <p:childTnLst>
                                    <p:set>
                                      <p:cBhvr>
                                        <p:cTn id="81" dur="1" fill="hold">
                                          <p:stCondLst>
                                            <p:cond delay="0"/>
                                          </p:stCondLst>
                                        </p:cTn>
                                        <p:tgtEl>
                                          <p:spTgt spid="210023"/>
                                        </p:tgtEl>
                                        <p:attrNameLst>
                                          <p:attrName>style.visibility</p:attrName>
                                        </p:attrNameLst>
                                      </p:cBhvr>
                                      <p:to>
                                        <p:strVal val="visible"/>
                                      </p:to>
                                    </p:set>
                                    <p:animEffect transition="in" filter="wipe(left)">
                                      <p:cBhvr>
                                        <p:cTn id="82" dur="500"/>
                                        <p:tgtEl>
                                          <p:spTgt spid="210023"/>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820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4" grpId="0" animBg="1"/>
      <p:bldP spid="8206" grpId="0" animBg="1"/>
      <p:bldP spid="209926" grpId="0" animBg="1"/>
      <p:bldP spid="209944" grpId="0"/>
      <p:bldP spid="209945" grpId="0"/>
      <p:bldP spid="209946" grpId="0"/>
      <p:bldP spid="209947" grpId="0"/>
      <p:bldP spid="209948" grpId="0"/>
      <p:bldP spid="209949" grpId="0"/>
      <p:bldP spid="209950" grpId="0"/>
      <p:bldP spid="209951" grpId="0"/>
      <p:bldP spid="209952" grpId="0"/>
      <p:bldP spid="209953" grpId="0"/>
      <p:bldP spid="209954" grpId="0"/>
      <p:bldP spid="209985" grpId="0"/>
      <p:bldP spid="209987" grpId="0" animBg="1"/>
      <p:bldP spid="209989" grpId="0"/>
      <p:bldP spid="209996" grpId="0" animBg="1"/>
      <p:bldP spid="210002" grpId="0" animBg="1"/>
      <p:bldP spid="210003" grpId="0" animBg="1"/>
      <p:bldP spid="210004" grpId="0" animBg="1"/>
      <p:bldP spid="210006" grpId="0" animBg="1"/>
      <p:bldP spid="210007" grpId="0" animBg="1"/>
      <p:bldP spid="210008" grpId="0" animBg="1"/>
      <p:bldP spid="210011" grpId="0" animBg="1"/>
      <p:bldP spid="210012" grpId="0" animBg="1"/>
      <p:bldP spid="210016" grpId="0" animBg="1"/>
      <p:bldP spid="210017" grpId="0" animBg="1"/>
      <p:bldP spid="210023" grpId="0"/>
      <p:bldP spid="2100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Rot="1" noChangeArrowheads="1"/>
          </p:cNvSpPr>
          <p:nvPr>
            <p:ph type="title" idx="4294967295"/>
          </p:nvPr>
        </p:nvSpPr>
        <p:spPr>
          <a:xfrm>
            <a:off x="915988" y="60325"/>
            <a:ext cx="7977187" cy="555625"/>
          </a:xfrm>
        </p:spPr>
        <p:txBody>
          <a:bodyPr/>
          <a:lstStyle/>
          <a:p>
            <a:pPr>
              <a:defRPr/>
            </a:pPr>
            <a:r>
              <a:rPr lang="en-US" dirty="0" smtClean="0"/>
              <a:t>Profitability and the Market Price </a:t>
            </a:r>
          </a:p>
        </p:txBody>
      </p:sp>
      <p:sp>
        <p:nvSpPr>
          <p:cNvPr id="9228" name="Text Box 12"/>
          <p:cNvSpPr txBox="1">
            <a:spLocks noChangeArrowheads="1"/>
          </p:cNvSpPr>
          <p:nvPr/>
        </p:nvSpPr>
        <p:spPr bwMode="auto">
          <a:xfrm>
            <a:off x="6211888" y="762000"/>
            <a:ext cx="2895600" cy="2862263"/>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farm is unprofitable because the price falls below the minimum average total cost, $14.</a:t>
            </a:r>
          </a:p>
          <a:p>
            <a:pPr marL="1588" indent="-1588" algn="ctr">
              <a:defRPr/>
            </a:pPr>
            <a:r>
              <a:rPr lang="en-US" dirty="0">
                <a:solidFill>
                  <a:srgbClr val="0000FF"/>
                </a:solidFill>
              </a:rPr>
              <a:t>The farm’s optimal output choice is </a:t>
            </a:r>
            <a:br>
              <a:rPr lang="en-US" dirty="0">
                <a:solidFill>
                  <a:srgbClr val="0000FF"/>
                </a:solidFill>
              </a:rPr>
            </a:br>
            <a:r>
              <a:rPr lang="en-US" dirty="0">
                <a:solidFill>
                  <a:srgbClr val="0000FF"/>
                </a:solidFill>
              </a:rPr>
              <a:t>(</a:t>
            </a:r>
            <a:r>
              <a:rPr lang="en-US" i="1" dirty="0">
                <a:solidFill>
                  <a:srgbClr val="0000FF"/>
                </a:solidFill>
              </a:rPr>
              <a:t>A</a:t>
            </a:r>
            <a:r>
              <a:rPr lang="en-US" dirty="0">
                <a:solidFill>
                  <a:srgbClr val="0000FF"/>
                </a:solidFill>
              </a:rPr>
              <a:t>) </a:t>
            </a:r>
            <a:r>
              <a:rPr lang="en-US" dirty="0">
                <a:solidFill>
                  <a:srgbClr val="0000FF"/>
                </a:solidFill>
                <a:sym typeface="Wingdings" pitchFamily="2" charset="2"/>
              </a:rPr>
              <a:t> </a:t>
            </a:r>
            <a:r>
              <a:rPr lang="en-US" dirty="0">
                <a:solidFill>
                  <a:srgbClr val="0000FF"/>
                </a:solidFill>
              </a:rPr>
              <a:t>output of 3 bushels. </a:t>
            </a:r>
          </a:p>
          <a:p>
            <a:pPr marL="1588" indent="-1588" algn="ctr">
              <a:defRPr/>
            </a:pPr>
            <a:r>
              <a:rPr lang="en-US" dirty="0">
                <a:solidFill>
                  <a:srgbClr val="0000FF"/>
                </a:solidFill>
              </a:rPr>
              <a:t>The average total cost of producing bushels is </a:t>
            </a:r>
            <a:r>
              <a:rPr lang="en-US" i="1" dirty="0">
                <a:solidFill>
                  <a:srgbClr val="0000FF"/>
                </a:solidFill>
              </a:rPr>
              <a:t> </a:t>
            </a:r>
            <a:r>
              <a:rPr lang="en-US" dirty="0">
                <a:solidFill>
                  <a:srgbClr val="0000FF"/>
                </a:solidFill>
              </a:rPr>
              <a:t>(</a:t>
            </a:r>
            <a:r>
              <a:rPr lang="en-US" i="1" dirty="0">
                <a:solidFill>
                  <a:srgbClr val="0000FF"/>
                </a:solidFill>
              </a:rPr>
              <a:t>Y</a:t>
            </a:r>
            <a:r>
              <a:rPr lang="en-US" dirty="0">
                <a:solidFill>
                  <a:srgbClr val="0000FF"/>
                </a:solidFill>
              </a:rPr>
              <a:t> on the </a:t>
            </a:r>
            <a:r>
              <a:rPr lang="en-US" i="1" dirty="0">
                <a:solidFill>
                  <a:srgbClr val="0000FF"/>
                </a:solidFill>
              </a:rPr>
              <a:t>ATC </a:t>
            </a:r>
            <a:r>
              <a:rPr lang="en-US" dirty="0">
                <a:solidFill>
                  <a:srgbClr val="0000FF"/>
                </a:solidFill>
              </a:rPr>
              <a:t>curve) </a:t>
            </a:r>
            <a:r>
              <a:rPr lang="en-US" dirty="0">
                <a:solidFill>
                  <a:srgbClr val="0000FF"/>
                </a:solidFill>
                <a:sym typeface="Wingdings" pitchFamily="2" charset="2"/>
              </a:rPr>
              <a:t></a:t>
            </a:r>
            <a:r>
              <a:rPr lang="en-US" dirty="0">
                <a:solidFill>
                  <a:srgbClr val="0000FF"/>
                </a:solidFill>
              </a:rPr>
              <a:t>$14.67.</a:t>
            </a:r>
          </a:p>
        </p:txBody>
      </p:sp>
      <p:sp>
        <p:nvSpPr>
          <p:cNvPr id="9229" name="Text Box 13"/>
          <p:cNvSpPr txBox="1">
            <a:spLocks noChangeArrowheads="1"/>
          </p:cNvSpPr>
          <p:nvPr/>
        </p:nvSpPr>
        <p:spPr bwMode="auto">
          <a:xfrm>
            <a:off x="6211888" y="4343400"/>
            <a:ext cx="2895600" cy="1754188"/>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vertical distance between </a:t>
            </a:r>
            <a:r>
              <a:rPr lang="en-US" i="1" dirty="0">
                <a:solidFill>
                  <a:srgbClr val="0000FF"/>
                </a:solidFill>
              </a:rPr>
              <a:t>A</a:t>
            </a:r>
            <a:r>
              <a:rPr lang="en-US" dirty="0">
                <a:solidFill>
                  <a:srgbClr val="0000FF"/>
                </a:solidFill>
              </a:rPr>
              <a:t> and </a:t>
            </a:r>
            <a:r>
              <a:rPr lang="en-US" i="1" dirty="0">
                <a:solidFill>
                  <a:srgbClr val="0000FF"/>
                </a:solidFill>
              </a:rPr>
              <a:t>Y</a:t>
            </a:r>
            <a:r>
              <a:rPr lang="en-US" dirty="0">
                <a:solidFill>
                  <a:srgbClr val="0000FF"/>
                </a:solidFill>
              </a:rPr>
              <a:t>:</a:t>
            </a:r>
          </a:p>
          <a:p>
            <a:pPr marL="1588" indent="-1588" algn="ctr">
              <a:defRPr/>
            </a:pPr>
            <a:r>
              <a:rPr lang="en-US" dirty="0">
                <a:solidFill>
                  <a:srgbClr val="0000FF"/>
                </a:solidFill>
              </a:rPr>
              <a:t>farm’s per unit loss, </a:t>
            </a:r>
            <a:br>
              <a:rPr lang="en-US" dirty="0">
                <a:solidFill>
                  <a:srgbClr val="0000FF"/>
                </a:solidFill>
              </a:rPr>
            </a:br>
            <a:r>
              <a:rPr lang="en-US" dirty="0">
                <a:solidFill>
                  <a:srgbClr val="0000FF"/>
                </a:solidFill>
              </a:rPr>
              <a:t>$14.67 − $10.00 = $4.67</a:t>
            </a:r>
          </a:p>
          <a:p>
            <a:pPr marL="1588" indent="-1588" algn="ctr">
              <a:defRPr/>
            </a:pPr>
            <a:r>
              <a:rPr lang="en-US" dirty="0">
                <a:solidFill>
                  <a:srgbClr val="0000FF"/>
                </a:solidFill>
              </a:rPr>
              <a:t>Total profit:</a:t>
            </a:r>
            <a:br>
              <a:rPr lang="en-US" dirty="0">
                <a:solidFill>
                  <a:srgbClr val="0000FF"/>
                </a:solidFill>
              </a:rPr>
            </a:br>
            <a:r>
              <a:rPr lang="en-US" dirty="0">
                <a:solidFill>
                  <a:srgbClr val="0000FF"/>
                </a:solidFill>
              </a:rPr>
              <a:t>3 × $4.67 = ~$14.00</a:t>
            </a:r>
          </a:p>
        </p:txBody>
      </p:sp>
      <p:sp>
        <p:nvSpPr>
          <p:cNvPr id="211972" name="Rectangle 4"/>
          <p:cNvSpPr>
            <a:spLocks noChangeArrowheads="1"/>
          </p:cNvSpPr>
          <p:nvPr/>
        </p:nvSpPr>
        <p:spPr bwMode="auto">
          <a:xfrm>
            <a:off x="1219200" y="3665538"/>
            <a:ext cx="1898650" cy="484187"/>
          </a:xfrm>
          <a:prstGeom prst="rect">
            <a:avLst/>
          </a:prstGeom>
          <a:solidFill>
            <a:srgbClr val="FFE5B9"/>
          </a:solidFill>
          <a:ln w="9525">
            <a:noFill/>
            <a:miter lim="800000"/>
            <a:headEnd/>
            <a:tailEnd/>
          </a:ln>
        </p:spPr>
        <p:txBody>
          <a:bodyPr/>
          <a:lstStyle/>
          <a:p>
            <a:endParaRPr lang="en-US"/>
          </a:p>
        </p:txBody>
      </p:sp>
      <p:sp>
        <p:nvSpPr>
          <p:cNvPr id="211973" name="Line 5"/>
          <p:cNvSpPr>
            <a:spLocks noChangeShapeType="1"/>
          </p:cNvSpPr>
          <p:nvPr/>
        </p:nvSpPr>
        <p:spPr bwMode="auto">
          <a:xfrm>
            <a:off x="1219200" y="4149725"/>
            <a:ext cx="120650" cy="0"/>
          </a:xfrm>
          <a:prstGeom prst="line">
            <a:avLst/>
          </a:prstGeom>
          <a:noFill/>
          <a:ln w="6350">
            <a:solidFill>
              <a:srgbClr val="000000"/>
            </a:solidFill>
            <a:miter lim="800000"/>
            <a:headEnd/>
            <a:tailEnd/>
          </a:ln>
        </p:spPr>
        <p:txBody>
          <a:bodyPr/>
          <a:lstStyle/>
          <a:p>
            <a:endParaRPr lang="en-US"/>
          </a:p>
        </p:txBody>
      </p:sp>
      <p:sp>
        <p:nvSpPr>
          <p:cNvPr id="212003" name="Line 35"/>
          <p:cNvSpPr>
            <a:spLocks noChangeShapeType="1"/>
          </p:cNvSpPr>
          <p:nvPr/>
        </p:nvSpPr>
        <p:spPr bwMode="auto">
          <a:xfrm flipH="1" flipV="1">
            <a:off x="3254375" y="2874963"/>
            <a:ext cx="500063" cy="860425"/>
          </a:xfrm>
          <a:prstGeom prst="line">
            <a:avLst/>
          </a:prstGeom>
          <a:noFill/>
          <a:ln w="6350">
            <a:solidFill>
              <a:srgbClr val="000000"/>
            </a:solidFill>
            <a:miter lim="800000"/>
            <a:headEnd/>
            <a:tailEnd/>
          </a:ln>
        </p:spPr>
        <p:txBody>
          <a:bodyPr/>
          <a:lstStyle/>
          <a:p>
            <a:endParaRPr lang="en-US"/>
          </a:p>
        </p:txBody>
      </p:sp>
      <p:sp>
        <p:nvSpPr>
          <p:cNvPr id="212004" name="Freeform 36"/>
          <p:cNvSpPr>
            <a:spLocks/>
          </p:cNvSpPr>
          <p:nvPr/>
        </p:nvSpPr>
        <p:spPr bwMode="auto">
          <a:xfrm>
            <a:off x="2838450" y="2228850"/>
            <a:ext cx="804863" cy="768350"/>
          </a:xfrm>
          <a:custGeom>
            <a:avLst/>
            <a:gdLst>
              <a:gd name="T0" fmla="*/ 2147483647 w 161"/>
              <a:gd name="T1" fmla="*/ 2147483647 h 134"/>
              <a:gd name="T2" fmla="*/ 2147483647 w 161"/>
              <a:gd name="T3" fmla="*/ 2147483647 h 134"/>
              <a:gd name="T4" fmla="*/ 2147483647 w 161"/>
              <a:gd name="T5" fmla="*/ 2147483647 h 134"/>
              <a:gd name="T6" fmla="*/ 0 w 161"/>
              <a:gd name="T7" fmla="*/ 2147483647 h 134"/>
              <a:gd name="T8" fmla="*/ 0 w 161"/>
              <a:gd name="T9" fmla="*/ 2147483647 h 134"/>
              <a:gd name="T10" fmla="*/ 2147483647 w 161"/>
              <a:gd name="T11" fmla="*/ 0 h 134"/>
              <a:gd name="T12" fmla="*/ 2147483647 w 161"/>
              <a:gd name="T13" fmla="*/ 0 h 134"/>
              <a:gd name="T14" fmla="*/ 2147483647 w 161"/>
              <a:gd name="T15" fmla="*/ 2147483647 h 134"/>
              <a:gd name="T16" fmla="*/ 2147483647 w 161"/>
              <a:gd name="T17" fmla="*/ 2147483647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1"/>
              <a:gd name="T28" fmla="*/ 0 h 134"/>
              <a:gd name="T29" fmla="*/ 161 w 161"/>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1" h="134">
                <a:moveTo>
                  <a:pt x="161" y="118"/>
                </a:moveTo>
                <a:cubicBezTo>
                  <a:pt x="161" y="126"/>
                  <a:pt x="154" y="134"/>
                  <a:pt x="145" y="134"/>
                </a:cubicBezTo>
                <a:cubicBezTo>
                  <a:pt x="16" y="134"/>
                  <a:pt x="16" y="134"/>
                  <a:pt x="16" y="134"/>
                </a:cubicBezTo>
                <a:cubicBezTo>
                  <a:pt x="7" y="134"/>
                  <a:pt x="0" y="126"/>
                  <a:pt x="0" y="118"/>
                </a:cubicBezTo>
                <a:cubicBezTo>
                  <a:pt x="0" y="16"/>
                  <a:pt x="0" y="16"/>
                  <a:pt x="0" y="16"/>
                </a:cubicBezTo>
                <a:cubicBezTo>
                  <a:pt x="0" y="8"/>
                  <a:pt x="7" y="0"/>
                  <a:pt x="16" y="0"/>
                </a:cubicBezTo>
                <a:cubicBezTo>
                  <a:pt x="145" y="0"/>
                  <a:pt x="145" y="0"/>
                  <a:pt x="145" y="0"/>
                </a:cubicBezTo>
                <a:cubicBezTo>
                  <a:pt x="154" y="0"/>
                  <a:pt x="161" y="8"/>
                  <a:pt x="161" y="16"/>
                </a:cubicBezTo>
                <a:lnTo>
                  <a:pt x="161" y="118"/>
                </a:lnTo>
                <a:close/>
              </a:path>
            </a:pathLst>
          </a:custGeom>
          <a:solidFill>
            <a:srgbClr val="D7E2E0"/>
          </a:solidFill>
          <a:ln w="9525">
            <a:noFill/>
            <a:round/>
            <a:headEnd/>
            <a:tailEnd/>
          </a:ln>
        </p:spPr>
        <p:txBody>
          <a:bodyPr/>
          <a:lstStyle/>
          <a:p>
            <a:endParaRPr lang="en-US"/>
          </a:p>
        </p:txBody>
      </p:sp>
      <p:sp>
        <p:nvSpPr>
          <p:cNvPr id="212005" name="Line 37"/>
          <p:cNvSpPr>
            <a:spLocks noChangeShapeType="1"/>
          </p:cNvSpPr>
          <p:nvPr/>
        </p:nvSpPr>
        <p:spPr bwMode="auto">
          <a:xfrm>
            <a:off x="1219200" y="3735388"/>
            <a:ext cx="120650" cy="0"/>
          </a:xfrm>
          <a:prstGeom prst="line">
            <a:avLst/>
          </a:prstGeom>
          <a:noFill/>
          <a:ln w="6350">
            <a:solidFill>
              <a:srgbClr val="000000"/>
            </a:solidFill>
            <a:miter lim="800000"/>
            <a:headEnd/>
            <a:tailEnd/>
          </a:ln>
        </p:spPr>
        <p:txBody>
          <a:bodyPr/>
          <a:lstStyle/>
          <a:p>
            <a:endParaRPr lang="en-US"/>
          </a:p>
        </p:txBody>
      </p:sp>
      <p:sp>
        <p:nvSpPr>
          <p:cNvPr id="212006" name="Line 38"/>
          <p:cNvSpPr>
            <a:spLocks noChangeShapeType="1"/>
          </p:cNvSpPr>
          <p:nvPr/>
        </p:nvSpPr>
        <p:spPr bwMode="auto">
          <a:xfrm flipV="1">
            <a:off x="5657850" y="5068888"/>
            <a:ext cx="0" cy="117475"/>
          </a:xfrm>
          <a:prstGeom prst="line">
            <a:avLst/>
          </a:prstGeom>
          <a:noFill/>
          <a:ln w="6350">
            <a:solidFill>
              <a:srgbClr val="000000"/>
            </a:solidFill>
            <a:miter lim="800000"/>
            <a:headEnd/>
            <a:tailEnd/>
          </a:ln>
        </p:spPr>
        <p:txBody>
          <a:bodyPr/>
          <a:lstStyle/>
          <a:p>
            <a:endParaRPr lang="en-US"/>
          </a:p>
        </p:txBody>
      </p:sp>
      <p:sp>
        <p:nvSpPr>
          <p:cNvPr id="212007" name="Line 39"/>
          <p:cNvSpPr>
            <a:spLocks noChangeShapeType="1"/>
          </p:cNvSpPr>
          <p:nvPr/>
        </p:nvSpPr>
        <p:spPr bwMode="auto">
          <a:xfrm flipV="1">
            <a:off x="5021263" y="5068888"/>
            <a:ext cx="0" cy="117475"/>
          </a:xfrm>
          <a:prstGeom prst="line">
            <a:avLst/>
          </a:prstGeom>
          <a:noFill/>
          <a:ln w="6350">
            <a:solidFill>
              <a:srgbClr val="000000"/>
            </a:solidFill>
            <a:miter lim="800000"/>
            <a:headEnd/>
            <a:tailEnd/>
          </a:ln>
        </p:spPr>
        <p:txBody>
          <a:bodyPr/>
          <a:lstStyle/>
          <a:p>
            <a:endParaRPr lang="en-US"/>
          </a:p>
        </p:txBody>
      </p:sp>
      <p:sp>
        <p:nvSpPr>
          <p:cNvPr id="212008" name="Line 40"/>
          <p:cNvSpPr>
            <a:spLocks noChangeShapeType="1"/>
          </p:cNvSpPr>
          <p:nvPr/>
        </p:nvSpPr>
        <p:spPr bwMode="auto">
          <a:xfrm flipV="1">
            <a:off x="4386263" y="5068888"/>
            <a:ext cx="0" cy="117475"/>
          </a:xfrm>
          <a:prstGeom prst="line">
            <a:avLst/>
          </a:prstGeom>
          <a:noFill/>
          <a:ln w="6350">
            <a:solidFill>
              <a:srgbClr val="000000"/>
            </a:solidFill>
            <a:miter lim="800000"/>
            <a:headEnd/>
            <a:tailEnd/>
          </a:ln>
        </p:spPr>
        <p:txBody>
          <a:bodyPr/>
          <a:lstStyle/>
          <a:p>
            <a:endParaRPr lang="en-US"/>
          </a:p>
        </p:txBody>
      </p:sp>
      <p:sp>
        <p:nvSpPr>
          <p:cNvPr id="212009" name="Line 41"/>
          <p:cNvSpPr>
            <a:spLocks noChangeShapeType="1"/>
          </p:cNvSpPr>
          <p:nvPr/>
        </p:nvSpPr>
        <p:spPr bwMode="auto">
          <a:xfrm flipV="1">
            <a:off x="3754438" y="5068888"/>
            <a:ext cx="0" cy="117475"/>
          </a:xfrm>
          <a:prstGeom prst="line">
            <a:avLst/>
          </a:prstGeom>
          <a:noFill/>
          <a:ln w="6350">
            <a:solidFill>
              <a:srgbClr val="000000"/>
            </a:solidFill>
            <a:miter lim="800000"/>
            <a:headEnd/>
            <a:tailEnd/>
          </a:ln>
        </p:spPr>
        <p:txBody>
          <a:bodyPr/>
          <a:lstStyle/>
          <a:p>
            <a:endParaRPr lang="en-US"/>
          </a:p>
        </p:txBody>
      </p:sp>
      <p:sp>
        <p:nvSpPr>
          <p:cNvPr id="212010" name="Line 42"/>
          <p:cNvSpPr>
            <a:spLocks noChangeShapeType="1"/>
          </p:cNvSpPr>
          <p:nvPr/>
        </p:nvSpPr>
        <p:spPr bwMode="auto">
          <a:xfrm flipV="1">
            <a:off x="3117850" y="5068888"/>
            <a:ext cx="0" cy="117475"/>
          </a:xfrm>
          <a:prstGeom prst="line">
            <a:avLst/>
          </a:prstGeom>
          <a:noFill/>
          <a:ln w="6350">
            <a:solidFill>
              <a:srgbClr val="000000"/>
            </a:solidFill>
            <a:miter lim="800000"/>
            <a:headEnd/>
            <a:tailEnd/>
          </a:ln>
        </p:spPr>
        <p:txBody>
          <a:bodyPr/>
          <a:lstStyle/>
          <a:p>
            <a:endParaRPr lang="en-US"/>
          </a:p>
        </p:txBody>
      </p:sp>
      <p:sp>
        <p:nvSpPr>
          <p:cNvPr id="212011" name="Line 43"/>
          <p:cNvSpPr>
            <a:spLocks noChangeShapeType="1"/>
          </p:cNvSpPr>
          <p:nvPr/>
        </p:nvSpPr>
        <p:spPr bwMode="auto">
          <a:xfrm flipV="1">
            <a:off x="2482850" y="5068888"/>
            <a:ext cx="0" cy="117475"/>
          </a:xfrm>
          <a:prstGeom prst="line">
            <a:avLst/>
          </a:prstGeom>
          <a:noFill/>
          <a:ln w="6350">
            <a:solidFill>
              <a:srgbClr val="000000"/>
            </a:solidFill>
            <a:miter lim="800000"/>
            <a:headEnd/>
            <a:tailEnd/>
          </a:ln>
        </p:spPr>
        <p:txBody>
          <a:bodyPr/>
          <a:lstStyle/>
          <a:p>
            <a:endParaRPr lang="en-US"/>
          </a:p>
        </p:txBody>
      </p:sp>
      <p:sp>
        <p:nvSpPr>
          <p:cNvPr id="212012" name="Line 44"/>
          <p:cNvSpPr>
            <a:spLocks noChangeShapeType="1"/>
          </p:cNvSpPr>
          <p:nvPr/>
        </p:nvSpPr>
        <p:spPr bwMode="auto">
          <a:xfrm flipV="1">
            <a:off x="1851025" y="5068888"/>
            <a:ext cx="0" cy="117475"/>
          </a:xfrm>
          <a:prstGeom prst="line">
            <a:avLst/>
          </a:prstGeom>
          <a:noFill/>
          <a:ln w="6350">
            <a:solidFill>
              <a:srgbClr val="000000"/>
            </a:solidFill>
            <a:miter lim="800000"/>
            <a:headEnd/>
            <a:tailEnd/>
          </a:ln>
        </p:spPr>
        <p:txBody>
          <a:bodyPr/>
          <a:lstStyle/>
          <a:p>
            <a:endParaRPr lang="en-US"/>
          </a:p>
        </p:txBody>
      </p:sp>
      <p:sp>
        <p:nvSpPr>
          <p:cNvPr id="212013" name="Rectangle 45"/>
          <p:cNvSpPr>
            <a:spLocks noChangeArrowheads="1"/>
          </p:cNvSpPr>
          <p:nvPr/>
        </p:nvSpPr>
        <p:spPr bwMode="auto">
          <a:xfrm>
            <a:off x="5608638" y="5216525"/>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212014" name="Rectangle 46"/>
          <p:cNvSpPr>
            <a:spLocks noChangeArrowheads="1"/>
          </p:cNvSpPr>
          <p:nvPr/>
        </p:nvSpPr>
        <p:spPr bwMode="auto">
          <a:xfrm>
            <a:off x="4973638" y="5216525"/>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212015" name="Rectangle 47"/>
          <p:cNvSpPr>
            <a:spLocks noChangeArrowheads="1"/>
          </p:cNvSpPr>
          <p:nvPr/>
        </p:nvSpPr>
        <p:spPr bwMode="auto">
          <a:xfrm>
            <a:off x="4340225" y="5216525"/>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212016" name="Rectangle 48"/>
          <p:cNvSpPr>
            <a:spLocks noChangeArrowheads="1"/>
          </p:cNvSpPr>
          <p:nvPr/>
        </p:nvSpPr>
        <p:spPr bwMode="auto">
          <a:xfrm>
            <a:off x="3708400" y="5216525"/>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212017" name="Rectangle 49"/>
          <p:cNvSpPr>
            <a:spLocks noChangeArrowheads="1"/>
          </p:cNvSpPr>
          <p:nvPr/>
        </p:nvSpPr>
        <p:spPr bwMode="auto">
          <a:xfrm>
            <a:off x="3071813" y="5216525"/>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212018" name="Rectangle 50"/>
          <p:cNvSpPr>
            <a:spLocks noChangeArrowheads="1"/>
          </p:cNvSpPr>
          <p:nvPr/>
        </p:nvSpPr>
        <p:spPr bwMode="auto">
          <a:xfrm>
            <a:off x="2439988" y="5216525"/>
            <a:ext cx="92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212019" name="Rectangle 51"/>
          <p:cNvSpPr>
            <a:spLocks noChangeArrowheads="1"/>
          </p:cNvSpPr>
          <p:nvPr/>
        </p:nvSpPr>
        <p:spPr bwMode="auto">
          <a:xfrm>
            <a:off x="1806575" y="5216525"/>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212020" name="Rectangle 52"/>
          <p:cNvSpPr>
            <a:spLocks noChangeArrowheads="1"/>
          </p:cNvSpPr>
          <p:nvPr/>
        </p:nvSpPr>
        <p:spPr bwMode="auto">
          <a:xfrm>
            <a:off x="1047750" y="5216525"/>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12021" name="Rectangle 53"/>
          <p:cNvSpPr>
            <a:spLocks noChangeArrowheads="1"/>
          </p:cNvSpPr>
          <p:nvPr/>
        </p:nvSpPr>
        <p:spPr bwMode="auto">
          <a:xfrm>
            <a:off x="5475288" y="240188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12022" name="Rectangle 54"/>
          <p:cNvSpPr>
            <a:spLocks noChangeArrowheads="1"/>
          </p:cNvSpPr>
          <p:nvPr/>
        </p:nvSpPr>
        <p:spPr bwMode="auto">
          <a:xfrm>
            <a:off x="2185988" y="3822700"/>
            <a:ext cx="32067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Loss</a:t>
            </a:r>
            <a:endParaRPr lang="en-US" sz="1400">
              <a:latin typeface="Tahoma" pitchFamily="34" charset="0"/>
            </a:endParaRPr>
          </a:p>
        </p:txBody>
      </p:sp>
      <p:sp>
        <p:nvSpPr>
          <p:cNvPr id="212023" name="Rectangle 55"/>
          <p:cNvSpPr>
            <a:spLocks noChangeArrowheads="1"/>
          </p:cNvSpPr>
          <p:nvPr/>
        </p:nvSpPr>
        <p:spPr bwMode="auto">
          <a:xfrm>
            <a:off x="5695950" y="32734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2024" name="Rectangle 56"/>
          <p:cNvSpPr>
            <a:spLocks noChangeArrowheads="1"/>
          </p:cNvSpPr>
          <p:nvPr/>
        </p:nvSpPr>
        <p:spPr bwMode="auto">
          <a:xfrm>
            <a:off x="5802313" y="3273425"/>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12025" name="Rectangle 57"/>
          <p:cNvSpPr>
            <a:spLocks noChangeArrowheads="1"/>
          </p:cNvSpPr>
          <p:nvPr/>
        </p:nvSpPr>
        <p:spPr bwMode="auto">
          <a:xfrm>
            <a:off x="5895975" y="327342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2026" name="Rectangle 58"/>
          <p:cNvSpPr>
            <a:spLocks noChangeArrowheads="1"/>
          </p:cNvSpPr>
          <p:nvPr/>
        </p:nvSpPr>
        <p:spPr bwMode="auto">
          <a:xfrm>
            <a:off x="5673725" y="401478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212027" name="Rectangle 59"/>
          <p:cNvSpPr>
            <a:spLocks noChangeArrowheads="1"/>
          </p:cNvSpPr>
          <p:nvPr/>
        </p:nvSpPr>
        <p:spPr bwMode="auto">
          <a:xfrm>
            <a:off x="5986463" y="4014788"/>
            <a:ext cx="106362"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212028" name="Rectangle 60"/>
          <p:cNvSpPr>
            <a:spLocks noChangeArrowheads="1"/>
          </p:cNvSpPr>
          <p:nvPr/>
        </p:nvSpPr>
        <p:spPr bwMode="auto">
          <a:xfrm>
            <a:off x="6103938" y="4014788"/>
            <a:ext cx="1698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P</a:t>
            </a:r>
            <a:endParaRPr lang="en-US" sz="1400" i="1">
              <a:latin typeface="Tahoma" pitchFamily="34" charset="0"/>
            </a:endParaRPr>
          </a:p>
        </p:txBody>
      </p:sp>
      <p:sp>
        <p:nvSpPr>
          <p:cNvPr id="212029" name="Rectangle 61"/>
          <p:cNvSpPr>
            <a:spLocks noChangeArrowheads="1"/>
          </p:cNvSpPr>
          <p:nvPr/>
        </p:nvSpPr>
        <p:spPr bwMode="auto">
          <a:xfrm>
            <a:off x="3819525" y="37592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2030" name="Rectangle 62"/>
          <p:cNvSpPr>
            <a:spLocks noChangeArrowheads="1"/>
          </p:cNvSpPr>
          <p:nvPr/>
        </p:nvSpPr>
        <p:spPr bwMode="auto">
          <a:xfrm>
            <a:off x="3186113" y="41576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2031" name="Rectangle 63"/>
          <p:cNvSpPr>
            <a:spLocks noChangeArrowheads="1"/>
          </p:cNvSpPr>
          <p:nvPr/>
        </p:nvSpPr>
        <p:spPr bwMode="auto">
          <a:xfrm>
            <a:off x="3065463" y="33702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Y</a:t>
            </a:r>
            <a:endParaRPr lang="en-US" sz="1400" i="1">
              <a:latin typeface="Tahoma" pitchFamily="34" charset="0"/>
            </a:endParaRPr>
          </a:p>
        </p:txBody>
      </p:sp>
      <p:sp>
        <p:nvSpPr>
          <p:cNvPr id="212032" name="Freeform 64"/>
          <p:cNvSpPr>
            <a:spLocks/>
          </p:cNvSpPr>
          <p:nvPr/>
        </p:nvSpPr>
        <p:spPr bwMode="auto">
          <a:xfrm>
            <a:off x="1219200" y="1336675"/>
            <a:ext cx="5311775" cy="3849688"/>
          </a:xfrm>
          <a:custGeom>
            <a:avLst/>
            <a:gdLst>
              <a:gd name="T0" fmla="*/ 2147483647 w 2199"/>
              <a:gd name="T1" fmla="*/ 2147483647 h 1604"/>
              <a:gd name="T2" fmla="*/ 0 w 2199"/>
              <a:gd name="T3" fmla="*/ 2147483647 h 1604"/>
              <a:gd name="T4" fmla="*/ 0 w 2199"/>
              <a:gd name="T5" fmla="*/ 0 h 1604"/>
              <a:gd name="T6" fmla="*/ 0 60000 65536"/>
              <a:gd name="T7" fmla="*/ 0 60000 65536"/>
              <a:gd name="T8" fmla="*/ 0 60000 65536"/>
              <a:gd name="T9" fmla="*/ 0 w 2199"/>
              <a:gd name="T10" fmla="*/ 0 h 1604"/>
              <a:gd name="T11" fmla="*/ 2199 w 2199"/>
              <a:gd name="T12" fmla="*/ 1604 h 1604"/>
            </a:gdLst>
            <a:ahLst/>
            <a:cxnLst>
              <a:cxn ang="T6">
                <a:pos x="T0" y="T1"/>
              </a:cxn>
              <a:cxn ang="T7">
                <a:pos x="T2" y="T3"/>
              </a:cxn>
              <a:cxn ang="T8">
                <a:pos x="T4" y="T5"/>
              </a:cxn>
            </a:cxnLst>
            <a:rect l="T9" t="T10" r="T11" b="T12"/>
            <a:pathLst>
              <a:path w="2199" h="1604">
                <a:moveTo>
                  <a:pt x="2199" y="1604"/>
                </a:moveTo>
                <a:lnTo>
                  <a:pt x="0" y="1604"/>
                </a:lnTo>
                <a:lnTo>
                  <a:pt x="0" y="0"/>
                </a:lnTo>
              </a:path>
            </a:pathLst>
          </a:custGeom>
          <a:noFill/>
          <a:ln w="6350">
            <a:solidFill>
              <a:srgbClr val="000000"/>
            </a:solidFill>
            <a:miter lim="800000"/>
            <a:headEnd/>
            <a:tailEnd/>
          </a:ln>
        </p:spPr>
        <p:txBody>
          <a:bodyPr/>
          <a:lstStyle/>
          <a:p>
            <a:endParaRPr lang="en-US"/>
          </a:p>
        </p:txBody>
      </p:sp>
      <p:sp>
        <p:nvSpPr>
          <p:cNvPr id="212034" name="Rectangle 66"/>
          <p:cNvSpPr>
            <a:spLocks noChangeArrowheads="1"/>
          </p:cNvSpPr>
          <p:nvPr/>
        </p:nvSpPr>
        <p:spPr bwMode="auto">
          <a:xfrm>
            <a:off x="2935288" y="990600"/>
            <a:ext cx="1568450"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Market Price = $10</a:t>
            </a:r>
            <a:endParaRPr lang="en-US" sz="1400" b="1">
              <a:latin typeface="Tahoma" pitchFamily="34" charset="0"/>
            </a:endParaRPr>
          </a:p>
        </p:txBody>
      </p:sp>
      <p:sp>
        <p:nvSpPr>
          <p:cNvPr id="212038" name="Line 70"/>
          <p:cNvSpPr>
            <a:spLocks noChangeShapeType="1"/>
          </p:cNvSpPr>
          <p:nvPr/>
        </p:nvSpPr>
        <p:spPr bwMode="auto">
          <a:xfrm>
            <a:off x="1219200" y="3665538"/>
            <a:ext cx="127000" cy="0"/>
          </a:xfrm>
          <a:prstGeom prst="line">
            <a:avLst/>
          </a:prstGeom>
          <a:noFill/>
          <a:ln w="6350">
            <a:solidFill>
              <a:srgbClr val="000000"/>
            </a:solidFill>
            <a:miter lim="800000"/>
            <a:headEnd/>
            <a:tailEnd/>
          </a:ln>
        </p:spPr>
        <p:txBody>
          <a:bodyPr/>
          <a:lstStyle/>
          <a:p>
            <a:endParaRPr lang="en-US"/>
          </a:p>
        </p:txBody>
      </p:sp>
      <p:sp>
        <p:nvSpPr>
          <p:cNvPr id="212039" name="Rectangle 71"/>
          <p:cNvSpPr>
            <a:spLocks noChangeArrowheads="1"/>
          </p:cNvSpPr>
          <p:nvPr/>
        </p:nvSpPr>
        <p:spPr bwMode="auto">
          <a:xfrm>
            <a:off x="954088" y="362426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212040" name="Rectangle 72"/>
          <p:cNvSpPr>
            <a:spLocks noChangeArrowheads="1"/>
          </p:cNvSpPr>
          <p:nvPr/>
        </p:nvSpPr>
        <p:spPr bwMode="auto">
          <a:xfrm>
            <a:off x="952500" y="404018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212041" name="Rectangle 73"/>
          <p:cNvSpPr>
            <a:spLocks noChangeArrowheads="1"/>
          </p:cNvSpPr>
          <p:nvPr/>
        </p:nvSpPr>
        <p:spPr bwMode="auto">
          <a:xfrm>
            <a:off x="755650" y="3357563"/>
            <a:ext cx="468313" cy="184150"/>
          </a:xfrm>
          <a:prstGeom prst="rect">
            <a:avLst/>
          </a:prstGeom>
          <a:noFill/>
          <a:ln w="9525">
            <a:noFill/>
            <a:miter lim="800000"/>
            <a:headEnd/>
            <a:tailEnd/>
          </a:ln>
        </p:spPr>
        <p:txBody>
          <a:bodyPr wrap="none" lIns="0" tIns="0" rIns="0" bIns="0">
            <a:spAutoFit/>
          </a:bodyPr>
          <a:lstStyle/>
          <a:p>
            <a:pPr marL="1588" indent="-1588"/>
            <a:r>
              <a:rPr lang="en-US" sz="1200" b="1">
                <a:solidFill>
                  <a:srgbClr val="000000"/>
                </a:solidFill>
                <a:latin typeface="Myriad Pro"/>
              </a:rPr>
              <a:t>$14.67</a:t>
            </a:r>
            <a:endParaRPr lang="en-US" sz="1200" b="1">
              <a:latin typeface="Tahoma" pitchFamily="34" charset="0"/>
            </a:endParaRPr>
          </a:p>
        </p:txBody>
      </p:sp>
      <p:sp>
        <p:nvSpPr>
          <p:cNvPr id="212045" name="Freeform 77"/>
          <p:cNvSpPr>
            <a:spLocks/>
          </p:cNvSpPr>
          <p:nvPr/>
        </p:nvSpPr>
        <p:spPr bwMode="auto">
          <a:xfrm>
            <a:off x="1060450" y="3559175"/>
            <a:ext cx="153988" cy="106363"/>
          </a:xfrm>
          <a:custGeom>
            <a:avLst/>
            <a:gdLst>
              <a:gd name="T0" fmla="*/ 2147483647 w 64"/>
              <a:gd name="T1" fmla="*/ 2147483647 h 44"/>
              <a:gd name="T2" fmla="*/ 0 w 64"/>
              <a:gd name="T3" fmla="*/ 0 h 44"/>
              <a:gd name="T4" fmla="*/ 2147483647 w 64"/>
              <a:gd name="T5" fmla="*/ 2147483647 h 44"/>
              <a:gd name="T6" fmla="*/ 0 60000 65536"/>
              <a:gd name="T7" fmla="*/ 0 60000 65536"/>
              <a:gd name="T8" fmla="*/ 0 60000 65536"/>
              <a:gd name="T9" fmla="*/ 0 w 64"/>
              <a:gd name="T10" fmla="*/ 0 h 44"/>
              <a:gd name="T11" fmla="*/ 64 w 64"/>
              <a:gd name="T12" fmla="*/ 44 h 44"/>
            </a:gdLst>
            <a:ahLst/>
            <a:cxnLst>
              <a:cxn ang="T6">
                <a:pos x="T0" y="T1"/>
              </a:cxn>
              <a:cxn ang="T7">
                <a:pos x="T2" y="T3"/>
              </a:cxn>
              <a:cxn ang="T8">
                <a:pos x="T4" y="T5"/>
              </a:cxn>
            </a:cxnLst>
            <a:rect l="T9" t="T10" r="T11" b="T12"/>
            <a:pathLst>
              <a:path w="64" h="44">
                <a:moveTo>
                  <a:pt x="64" y="44"/>
                </a:moveTo>
                <a:lnTo>
                  <a:pt x="0" y="0"/>
                </a:lnTo>
                <a:lnTo>
                  <a:pt x="64" y="44"/>
                </a:lnTo>
                <a:close/>
              </a:path>
            </a:pathLst>
          </a:custGeom>
          <a:solidFill>
            <a:srgbClr val="000000"/>
          </a:solidFill>
          <a:ln w="9525">
            <a:noFill/>
            <a:round/>
            <a:headEnd/>
            <a:tailEnd/>
          </a:ln>
        </p:spPr>
        <p:txBody>
          <a:bodyPr/>
          <a:lstStyle/>
          <a:p>
            <a:endParaRPr lang="en-US"/>
          </a:p>
        </p:txBody>
      </p:sp>
      <p:sp>
        <p:nvSpPr>
          <p:cNvPr id="212046" name="Line 78"/>
          <p:cNvSpPr>
            <a:spLocks noChangeShapeType="1"/>
          </p:cNvSpPr>
          <p:nvPr/>
        </p:nvSpPr>
        <p:spPr bwMode="auto">
          <a:xfrm flipH="1" flipV="1">
            <a:off x="1060450" y="3559175"/>
            <a:ext cx="153988" cy="106363"/>
          </a:xfrm>
          <a:prstGeom prst="line">
            <a:avLst/>
          </a:prstGeom>
          <a:noFill/>
          <a:ln w="6350">
            <a:solidFill>
              <a:srgbClr val="000000"/>
            </a:solidFill>
            <a:miter lim="800000"/>
            <a:headEnd/>
            <a:tailEnd/>
          </a:ln>
        </p:spPr>
        <p:txBody>
          <a:bodyPr/>
          <a:lstStyle/>
          <a:p>
            <a:endParaRPr lang="en-US"/>
          </a:p>
        </p:txBody>
      </p:sp>
      <p:sp>
        <p:nvSpPr>
          <p:cNvPr id="212047" name="Line 79"/>
          <p:cNvSpPr>
            <a:spLocks noChangeShapeType="1"/>
          </p:cNvSpPr>
          <p:nvPr/>
        </p:nvSpPr>
        <p:spPr bwMode="auto">
          <a:xfrm>
            <a:off x="1219200" y="4149725"/>
            <a:ext cx="4433888" cy="0"/>
          </a:xfrm>
          <a:prstGeom prst="line">
            <a:avLst/>
          </a:prstGeom>
          <a:noFill/>
          <a:ln w="19050">
            <a:solidFill>
              <a:srgbClr val="4B8FCC"/>
            </a:solidFill>
            <a:miter lim="800000"/>
            <a:headEnd/>
            <a:tailEnd/>
          </a:ln>
        </p:spPr>
        <p:txBody>
          <a:bodyPr/>
          <a:lstStyle/>
          <a:p>
            <a:endParaRPr lang="en-US"/>
          </a:p>
        </p:txBody>
      </p:sp>
      <p:sp>
        <p:nvSpPr>
          <p:cNvPr id="212048" name="Freeform 80"/>
          <p:cNvSpPr>
            <a:spLocks/>
          </p:cNvSpPr>
          <p:nvPr/>
        </p:nvSpPr>
        <p:spPr bwMode="auto">
          <a:xfrm>
            <a:off x="1851025" y="2071688"/>
            <a:ext cx="3806825" cy="1757362"/>
          </a:xfrm>
          <a:custGeom>
            <a:avLst/>
            <a:gdLst>
              <a:gd name="T0" fmla="*/ 0 w 762"/>
              <a:gd name="T1" fmla="*/ 0 h 354"/>
              <a:gd name="T2" fmla="*/ 2147483647 w 762"/>
              <a:gd name="T3" fmla="*/ 2147483647 h 354"/>
              <a:gd name="T4" fmla="*/ 2147483647 w 762"/>
              <a:gd name="T5" fmla="*/ 2147483647 h 354"/>
              <a:gd name="T6" fmla="*/ 2147483647 w 762"/>
              <a:gd name="T7" fmla="*/ 2147483647 h 354"/>
              <a:gd name="T8" fmla="*/ 2147483647 w 762"/>
              <a:gd name="T9" fmla="*/ 2147483647 h 354"/>
              <a:gd name="T10" fmla="*/ 0 60000 65536"/>
              <a:gd name="T11" fmla="*/ 0 60000 65536"/>
              <a:gd name="T12" fmla="*/ 0 60000 65536"/>
              <a:gd name="T13" fmla="*/ 0 60000 65536"/>
              <a:gd name="T14" fmla="*/ 0 60000 65536"/>
              <a:gd name="T15" fmla="*/ 0 w 762"/>
              <a:gd name="T16" fmla="*/ 0 h 354"/>
              <a:gd name="T17" fmla="*/ 762 w 762"/>
              <a:gd name="T18" fmla="*/ 354 h 354"/>
            </a:gdLst>
            <a:ahLst/>
            <a:cxnLst>
              <a:cxn ang="T10">
                <a:pos x="T0" y="T1"/>
              </a:cxn>
              <a:cxn ang="T11">
                <a:pos x="T2" y="T3"/>
              </a:cxn>
              <a:cxn ang="T12">
                <a:pos x="T4" y="T5"/>
              </a:cxn>
              <a:cxn ang="T13">
                <a:pos x="T6" y="T7"/>
              </a:cxn>
              <a:cxn ang="T14">
                <a:pos x="T8" y="T9"/>
              </a:cxn>
            </a:cxnLst>
            <a:rect l="T15" t="T16" r="T17" b="T18"/>
            <a:pathLst>
              <a:path w="762" h="354">
                <a:moveTo>
                  <a:pt x="0" y="0"/>
                </a:moveTo>
                <a:cubicBezTo>
                  <a:pt x="0" y="0"/>
                  <a:pt x="58" y="239"/>
                  <a:pt x="201" y="302"/>
                </a:cubicBezTo>
                <a:cubicBezTo>
                  <a:pt x="318" y="354"/>
                  <a:pt x="508" y="326"/>
                  <a:pt x="508" y="326"/>
                </a:cubicBezTo>
                <a:cubicBezTo>
                  <a:pt x="635" y="307"/>
                  <a:pt x="635" y="307"/>
                  <a:pt x="635" y="307"/>
                </a:cubicBezTo>
                <a:cubicBezTo>
                  <a:pt x="762" y="281"/>
                  <a:pt x="762" y="281"/>
                  <a:pt x="762" y="281"/>
                </a:cubicBezTo>
              </a:path>
            </a:pathLst>
          </a:custGeom>
          <a:noFill/>
          <a:ln w="25400">
            <a:solidFill>
              <a:srgbClr val="8C64AB"/>
            </a:solidFill>
            <a:miter lim="800000"/>
            <a:headEnd/>
            <a:tailEnd/>
          </a:ln>
        </p:spPr>
        <p:txBody>
          <a:bodyPr/>
          <a:lstStyle/>
          <a:p>
            <a:endParaRPr lang="en-US"/>
          </a:p>
        </p:txBody>
      </p:sp>
      <p:sp>
        <p:nvSpPr>
          <p:cNvPr id="212049" name="Oval 81"/>
          <p:cNvSpPr>
            <a:spLocks noChangeArrowheads="1"/>
          </p:cNvSpPr>
          <p:nvPr/>
        </p:nvSpPr>
        <p:spPr bwMode="auto">
          <a:xfrm>
            <a:off x="3067050" y="3614738"/>
            <a:ext cx="101600" cy="98425"/>
          </a:xfrm>
          <a:prstGeom prst="ellipse">
            <a:avLst/>
          </a:prstGeom>
          <a:solidFill>
            <a:srgbClr val="000000"/>
          </a:solidFill>
          <a:ln w="9525">
            <a:noFill/>
            <a:round/>
            <a:headEnd/>
            <a:tailEnd/>
          </a:ln>
        </p:spPr>
        <p:txBody>
          <a:bodyPr/>
          <a:lstStyle/>
          <a:p>
            <a:endParaRPr lang="en-US"/>
          </a:p>
        </p:txBody>
      </p:sp>
      <p:sp>
        <p:nvSpPr>
          <p:cNvPr id="212053" name="Freeform 85"/>
          <p:cNvSpPr>
            <a:spLocks/>
          </p:cNvSpPr>
          <p:nvPr/>
        </p:nvSpPr>
        <p:spPr bwMode="auto">
          <a:xfrm>
            <a:off x="1504950" y="2611438"/>
            <a:ext cx="3951288" cy="1974850"/>
          </a:xfrm>
          <a:custGeom>
            <a:avLst/>
            <a:gdLst>
              <a:gd name="T0" fmla="*/ 2147483647 w 791"/>
              <a:gd name="T1" fmla="*/ 0 h 398"/>
              <a:gd name="T2" fmla="*/ 2147483647 w 791"/>
              <a:gd name="T3" fmla="*/ 2147483647 h 398"/>
              <a:gd name="T4" fmla="*/ 2147483647 w 791"/>
              <a:gd name="T5" fmla="*/ 2147483647 h 398"/>
              <a:gd name="T6" fmla="*/ 2147483647 w 791"/>
              <a:gd name="T7" fmla="*/ 2147483647 h 398"/>
              <a:gd name="T8" fmla="*/ 2147483647 w 791"/>
              <a:gd name="T9" fmla="*/ 2147483647 h 398"/>
              <a:gd name="T10" fmla="*/ 2147483647 w 791"/>
              <a:gd name="T11" fmla="*/ 2147483647 h 398"/>
              <a:gd name="T12" fmla="*/ 2147483647 w 791"/>
              <a:gd name="T13" fmla="*/ 2147483647 h 398"/>
              <a:gd name="T14" fmla="*/ 0 w 791"/>
              <a:gd name="T15" fmla="*/ 2147483647 h 398"/>
              <a:gd name="T16" fmla="*/ 0 60000 65536"/>
              <a:gd name="T17" fmla="*/ 0 60000 65536"/>
              <a:gd name="T18" fmla="*/ 0 60000 65536"/>
              <a:gd name="T19" fmla="*/ 0 60000 65536"/>
              <a:gd name="T20" fmla="*/ 0 60000 65536"/>
              <a:gd name="T21" fmla="*/ 0 60000 65536"/>
              <a:gd name="T22" fmla="*/ 0 60000 65536"/>
              <a:gd name="T23" fmla="*/ 0 60000 65536"/>
              <a:gd name="T24" fmla="*/ 0 w 791"/>
              <a:gd name="T25" fmla="*/ 0 h 398"/>
              <a:gd name="T26" fmla="*/ 791 w 791"/>
              <a:gd name="T27" fmla="*/ 398 h 3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91" h="398">
                <a:moveTo>
                  <a:pt x="791" y="0"/>
                </a:moveTo>
                <a:cubicBezTo>
                  <a:pt x="767" y="17"/>
                  <a:pt x="767" y="17"/>
                  <a:pt x="767" y="17"/>
                </a:cubicBezTo>
                <a:cubicBezTo>
                  <a:pt x="640" y="101"/>
                  <a:pt x="640" y="101"/>
                  <a:pt x="640" y="101"/>
                </a:cubicBezTo>
                <a:cubicBezTo>
                  <a:pt x="513" y="184"/>
                  <a:pt x="513" y="184"/>
                  <a:pt x="513" y="184"/>
                </a:cubicBezTo>
                <a:cubicBezTo>
                  <a:pt x="387" y="268"/>
                  <a:pt x="387" y="268"/>
                  <a:pt x="387" y="268"/>
                </a:cubicBezTo>
                <a:cubicBezTo>
                  <a:pt x="387" y="268"/>
                  <a:pt x="209" y="398"/>
                  <a:pt x="133" y="394"/>
                </a:cubicBezTo>
                <a:cubicBezTo>
                  <a:pt x="62" y="389"/>
                  <a:pt x="6" y="184"/>
                  <a:pt x="6" y="184"/>
                </a:cubicBezTo>
                <a:cubicBezTo>
                  <a:pt x="0" y="163"/>
                  <a:pt x="0" y="163"/>
                  <a:pt x="0" y="163"/>
                </a:cubicBezTo>
              </a:path>
            </a:pathLst>
          </a:custGeom>
          <a:noFill/>
          <a:ln w="25400">
            <a:solidFill>
              <a:srgbClr val="F3716D"/>
            </a:solidFill>
            <a:miter lim="800000"/>
            <a:headEnd/>
            <a:tailEnd/>
          </a:ln>
        </p:spPr>
        <p:txBody>
          <a:bodyPr/>
          <a:lstStyle/>
          <a:p>
            <a:endParaRPr lang="en-US"/>
          </a:p>
        </p:txBody>
      </p:sp>
      <p:sp>
        <p:nvSpPr>
          <p:cNvPr id="212057" name="Line 89"/>
          <p:cNvSpPr>
            <a:spLocks noChangeShapeType="1"/>
          </p:cNvSpPr>
          <p:nvPr/>
        </p:nvSpPr>
        <p:spPr bwMode="auto">
          <a:xfrm>
            <a:off x="476250" y="3735388"/>
            <a:ext cx="439738" cy="0"/>
          </a:xfrm>
          <a:prstGeom prst="line">
            <a:avLst/>
          </a:prstGeom>
          <a:noFill/>
          <a:ln w="6350">
            <a:solidFill>
              <a:srgbClr val="000000"/>
            </a:solidFill>
            <a:miter lim="800000"/>
            <a:headEnd/>
            <a:tailEnd/>
          </a:ln>
        </p:spPr>
        <p:txBody>
          <a:bodyPr/>
          <a:lstStyle/>
          <a:p>
            <a:endParaRPr lang="en-US"/>
          </a:p>
        </p:txBody>
      </p:sp>
      <p:sp>
        <p:nvSpPr>
          <p:cNvPr id="212058" name="Freeform 90"/>
          <p:cNvSpPr>
            <a:spLocks/>
          </p:cNvSpPr>
          <p:nvPr/>
        </p:nvSpPr>
        <p:spPr bwMode="auto">
          <a:xfrm>
            <a:off x="246063" y="3670300"/>
            <a:ext cx="544512" cy="623888"/>
          </a:xfrm>
          <a:custGeom>
            <a:avLst/>
            <a:gdLst>
              <a:gd name="T0" fmla="*/ 2147483647 w 109"/>
              <a:gd name="T1" fmla="*/ 2147483647 h 126"/>
              <a:gd name="T2" fmla="*/ 2147483647 w 109"/>
              <a:gd name="T3" fmla="*/ 2147483647 h 126"/>
              <a:gd name="T4" fmla="*/ 2147483647 w 109"/>
              <a:gd name="T5" fmla="*/ 2147483647 h 126"/>
              <a:gd name="T6" fmla="*/ 0 w 109"/>
              <a:gd name="T7" fmla="*/ 2147483647 h 126"/>
              <a:gd name="T8" fmla="*/ 0 w 109"/>
              <a:gd name="T9" fmla="*/ 2147483647 h 126"/>
              <a:gd name="T10" fmla="*/ 2147483647 w 109"/>
              <a:gd name="T11" fmla="*/ 0 h 126"/>
              <a:gd name="T12" fmla="*/ 2147483647 w 109"/>
              <a:gd name="T13" fmla="*/ 0 h 126"/>
              <a:gd name="T14" fmla="*/ 2147483647 w 109"/>
              <a:gd name="T15" fmla="*/ 2147483647 h 126"/>
              <a:gd name="T16" fmla="*/ 2147483647 w 109"/>
              <a:gd name="T17" fmla="*/ 2147483647 h 1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9"/>
              <a:gd name="T28" fmla="*/ 0 h 126"/>
              <a:gd name="T29" fmla="*/ 109 w 109"/>
              <a:gd name="T30" fmla="*/ 126 h 1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9" h="126">
                <a:moveTo>
                  <a:pt x="109" y="105"/>
                </a:moveTo>
                <a:cubicBezTo>
                  <a:pt x="109" y="117"/>
                  <a:pt x="104" y="126"/>
                  <a:pt x="99" y="126"/>
                </a:cubicBezTo>
                <a:cubicBezTo>
                  <a:pt x="10" y="126"/>
                  <a:pt x="10" y="126"/>
                  <a:pt x="10" y="126"/>
                </a:cubicBezTo>
                <a:cubicBezTo>
                  <a:pt x="4" y="126"/>
                  <a:pt x="0" y="117"/>
                  <a:pt x="0" y="105"/>
                </a:cubicBezTo>
                <a:cubicBezTo>
                  <a:pt x="0" y="21"/>
                  <a:pt x="0" y="21"/>
                  <a:pt x="0" y="21"/>
                </a:cubicBezTo>
                <a:cubicBezTo>
                  <a:pt x="0" y="9"/>
                  <a:pt x="4" y="0"/>
                  <a:pt x="10" y="0"/>
                </a:cubicBezTo>
                <a:cubicBezTo>
                  <a:pt x="99" y="0"/>
                  <a:pt x="99" y="0"/>
                  <a:pt x="99" y="0"/>
                </a:cubicBezTo>
                <a:cubicBezTo>
                  <a:pt x="104" y="0"/>
                  <a:pt x="109" y="9"/>
                  <a:pt x="109" y="21"/>
                </a:cubicBezTo>
                <a:lnTo>
                  <a:pt x="109" y="105"/>
                </a:lnTo>
                <a:close/>
              </a:path>
            </a:pathLst>
          </a:custGeom>
          <a:solidFill>
            <a:srgbClr val="D7E2E0"/>
          </a:solidFill>
          <a:ln w="9525">
            <a:noFill/>
            <a:round/>
            <a:headEnd/>
            <a:tailEnd/>
          </a:ln>
        </p:spPr>
        <p:txBody>
          <a:bodyPr/>
          <a:lstStyle/>
          <a:p>
            <a:endParaRPr lang="en-US"/>
          </a:p>
        </p:txBody>
      </p:sp>
      <p:sp>
        <p:nvSpPr>
          <p:cNvPr id="212061" name="Oval 93"/>
          <p:cNvSpPr>
            <a:spLocks noChangeArrowheads="1"/>
          </p:cNvSpPr>
          <p:nvPr/>
        </p:nvSpPr>
        <p:spPr bwMode="auto">
          <a:xfrm>
            <a:off x="3703638" y="3684588"/>
            <a:ext cx="98425" cy="98425"/>
          </a:xfrm>
          <a:prstGeom prst="ellipse">
            <a:avLst/>
          </a:prstGeom>
          <a:solidFill>
            <a:srgbClr val="000000"/>
          </a:solidFill>
          <a:ln w="9525">
            <a:noFill/>
            <a:round/>
            <a:headEnd/>
            <a:tailEnd/>
          </a:ln>
        </p:spPr>
        <p:txBody>
          <a:bodyPr/>
          <a:lstStyle/>
          <a:p>
            <a:endParaRPr lang="en-US"/>
          </a:p>
        </p:txBody>
      </p:sp>
      <p:sp>
        <p:nvSpPr>
          <p:cNvPr id="212062" name="Oval 94"/>
          <p:cNvSpPr>
            <a:spLocks noChangeArrowheads="1"/>
          </p:cNvSpPr>
          <p:nvPr/>
        </p:nvSpPr>
        <p:spPr bwMode="auto">
          <a:xfrm>
            <a:off x="3067050" y="4102100"/>
            <a:ext cx="101600" cy="98425"/>
          </a:xfrm>
          <a:prstGeom prst="ellipse">
            <a:avLst/>
          </a:prstGeom>
          <a:solidFill>
            <a:srgbClr val="000000"/>
          </a:solidFill>
          <a:ln w="9525">
            <a:noFill/>
            <a:round/>
            <a:headEnd/>
            <a:tailEnd/>
          </a:ln>
        </p:spPr>
        <p:txBody>
          <a:bodyPr/>
          <a:lstStyle/>
          <a:p>
            <a:endParaRPr lang="en-US"/>
          </a:p>
        </p:txBody>
      </p:sp>
      <p:sp>
        <p:nvSpPr>
          <p:cNvPr id="212067" name="Rectangle 99"/>
          <p:cNvSpPr>
            <a:spLocks noChangeArrowheads="1"/>
          </p:cNvSpPr>
          <p:nvPr/>
        </p:nvSpPr>
        <p:spPr bwMode="auto">
          <a:xfrm>
            <a:off x="900113" y="836613"/>
            <a:ext cx="1041400"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212068" name="Rectangle 100"/>
          <p:cNvSpPr>
            <a:spLocks noChangeArrowheads="1"/>
          </p:cNvSpPr>
          <p:nvPr/>
        </p:nvSpPr>
        <p:spPr bwMode="auto">
          <a:xfrm>
            <a:off x="3708400" y="5516563"/>
            <a:ext cx="2773363"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212070" name="Rectangle 102"/>
          <p:cNvSpPr>
            <a:spLocks noChangeArrowheads="1"/>
          </p:cNvSpPr>
          <p:nvPr/>
        </p:nvSpPr>
        <p:spPr bwMode="auto">
          <a:xfrm>
            <a:off x="2786063" y="2281238"/>
            <a:ext cx="890587"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Minimum average total cost</a:t>
            </a:r>
            <a:endParaRPr lang="en-US" sz="1400">
              <a:latin typeface="Tahoma" pitchFamily="34" charset="0"/>
            </a:endParaRPr>
          </a:p>
        </p:txBody>
      </p:sp>
      <p:sp>
        <p:nvSpPr>
          <p:cNvPr id="212073" name="Rectangle 105"/>
          <p:cNvSpPr>
            <a:spLocks noChangeArrowheads="1"/>
          </p:cNvSpPr>
          <p:nvPr/>
        </p:nvSpPr>
        <p:spPr bwMode="auto">
          <a:xfrm>
            <a:off x="217488" y="3644900"/>
            <a:ext cx="627062"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Break even</a:t>
            </a:r>
            <a:r>
              <a:rPr lang="en-US" sz="1400" b="1">
                <a:solidFill>
                  <a:srgbClr val="000000"/>
                </a:solidFill>
                <a:latin typeface="Myriad Pro"/>
              </a:rPr>
              <a:t> </a:t>
            </a:r>
            <a:r>
              <a:rPr lang="en-US" sz="1400">
                <a:solidFill>
                  <a:srgbClr val="000000"/>
                </a:solidFill>
                <a:latin typeface="Myriad Pro"/>
              </a:rPr>
              <a:t>price</a:t>
            </a:r>
            <a:endParaRPr lang="en-US" sz="1400">
              <a:latin typeface="Tahoma" pitchFamily="34" charset="0"/>
            </a:endParaRPr>
          </a:p>
        </p:txBody>
      </p:sp>
      <p:cxnSp>
        <p:nvCxnSpPr>
          <p:cNvPr id="548914" name="Straight Connector 86"/>
          <p:cNvCxnSpPr>
            <a:cxnSpLocks noChangeShapeType="1"/>
          </p:cNvCxnSpPr>
          <p:nvPr/>
        </p:nvCxnSpPr>
        <p:spPr bwMode="auto">
          <a:xfrm>
            <a:off x="1366838" y="3740150"/>
            <a:ext cx="2333625" cy="0"/>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1295400" y="3657600"/>
            <a:ext cx="1754188" cy="0"/>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3744913" y="3783013"/>
            <a:ext cx="0" cy="1309687"/>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3121025" y="4186238"/>
            <a:ext cx="0" cy="906462"/>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20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19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200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20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20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20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206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200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200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200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200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20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20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20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20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20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20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20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20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20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20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20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2032"/>
                                        </p:tgtEl>
                                        <p:attrNameLst>
                                          <p:attrName>style.visibility</p:attrName>
                                        </p:attrNameLst>
                                      </p:cBhvr>
                                      <p:to>
                                        <p:strVal val="visible"/>
                                      </p:to>
                                    </p:set>
                                  </p:childTnLst>
                                </p:cTn>
                              </p:par>
                              <p:par>
                                <p:cTn id="51" presetID="22" presetClass="entr" presetSubtype="8" fill="hold" grpId="0" nodeType="withEffect">
                                  <p:stCondLst>
                                    <p:cond delay="0"/>
                                  </p:stCondLst>
                                  <p:childTnLst>
                                    <p:set>
                                      <p:cBhvr>
                                        <p:cTn id="52" dur="1" fill="hold">
                                          <p:stCondLst>
                                            <p:cond delay="0"/>
                                          </p:stCondLst>
                                        </p:cTn>
                                        <p:tgtEl>
                                          <p:spTgt spid="212047"/>
                                        </p:tgtEl>
                                        <p:attrNameLst>
                                          <p:attrName>style.visibility</p:attrName>
                                        </p:attrNameLst>
                                      </p:cBhvr>
                                      <p:to>
                                        <p:strVal val="visible"/>
                                      </p:to>
                                    </p:set>
                                    <p:animEffect transition="in" filter="wipe(left)">
                                      <p:cBhvr>
                                        <p:cTn id="53" dur="500"/>
                                        <p:tgtEl>
                                          <p:spTgt spid="212047"/>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21202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1202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1202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12048"/>
                                        </p:tgtEl>
                                        <p:attrNameLst>
                                          <p:attrName>style.visibility</p:attrName>
                                        </p:attrNameLst>
                                      </p:cBhvr>
                                      <p:to>
                                        <p:strVal val="visible"/>
                                      </p:to>
                                    </p:set>
                                    <p:animEffect transition="in" filter="wipe(left)">
                                      <p:cBhvr>
                                        <p:cTn id="64" dur="500"/>
                                        <p:tgtEl>
                                          <p:spTgt spid="212048"/>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21202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202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120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206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1203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120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206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
                                        </p:tgtEl>
                                        <p:attrNameLst>
                                          <p:attrName>style.visibility</p:attrName>
                                        </p:attrNameLst>
                                      </p:cBhvr>
                                      <p:to>
                                        <p:strVal val="visible"/>
                                      </p:to>
                                    </p:set>
                                  </p:childTnLst>
                                </p:cTn>
                              </p:par>
                              <p:par>
                                <p:cTn id="85" presetID="22" presetClass="entr" presetSubtype="8" fill="hold" grpId="0" nodeType="withEffect">
                                  <p:stCondLst>
                                    <p:cond delay="0"/>
                                  </p:stCondLst>
                                  <p:childTnLst>
                                    <p:set>
                                      <p:cBhvr>
                                        <p:cTn id="86" dur="1" fill="hold">
                                          <p:stCondLst>
                                            <p:cond delay="0"/>
                                          </p:stCondLst>
                                        </p:cTn>
                                        <p:tgtEl>
                                          <p:spTgt spid="212053"/>
                                        </p:tgtEl>
                                        <p:attrNameLst>
                                          <p:attrName>style.visibility</p:attrName>
                                        </p:attrNameLst>
                                      </p:cBhvr>
                                      <p:to>
                                        <p:strVal val="visible"/>
                                      </p:to>
                                    </p:set>
                                    <p:animEffect transition="in" filter="wipe(left)">
                                      <p:cBhvr>
                                        <p:cTn id="87" dur="500"/>
                                        <p:tgtEl>
                                          <p:spTgt spid="212053"/>
                                        </p:tgtEl>
                                      </p:cBhvr>
                                    </p:animEffect>
                                  </p:childTnLst>
                                </p:cTn>
                              </p:par>
                              <p:par>
                                <p:cTn id="88" presetID="1" presetClass="entr" presetSubtype="0" fill="hold" grpId="0" nodeType="withEffect">
                                  <p:stCondLst>
                                    <p:cond delay="0"/>
                                  </p:stCondLst>
                                  <p:childTnLst>
                                    <p:set>
                                      <p:cBhvr>
                                        <p:cTn id="89" dur="1" fill="hold">
                                          <p:stCondLst>
                                            <p:cond delay="0"/>
                                          </p:stCondLst>
                                        </p:cTn>
                                        <p:tgtEl>
                                          <p:spTgt spid="212021"/>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548914"/>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212004"/>
                                        </p:tgtEl>
                                        <p:attrNameLst>
                                          <p:attrName>style.visibility</p:attrName>
                                        </p:attrNameLst>
                                      </p:cBhvr>
                                      <p:to>
                                        <p:strVal val="visible"/>
                                      </p:to>
                                    </p:set>
                                  </p:childTnLst>
                                </p:cTn>
                              </p:par>
                              <p:par>
                                <p:cTn id="96" presetID="22" presetClass="entr" presetSubtype="8" fill="hold" grpId="0" nodeType="withEffect">
                                  <p:stCondLst>
                                    <p:cond delay="0"/>
                                  </p:stCondLst>
                                  <p:childTnLst>
                                    <p:set>
                                      <p:cBhvr>
                                        <p:cTn id="97" dur="1" fill="hold">
                                          <p:stCondLst>
                                            <p:cond delay="0"/>
                                          </p:stCondLst>
                                        </p:cTn>
                                        <p:tgtEl>
                                          <p:spTgt spid="212070"/>
                                        </p:tgtEl>
                                        <p:attrNameLst>
                                          <p:attrName>style.visibility</p:attrName>
                                        </p:attrNameLst>
                                      </p:cBhvr>
                                      <p:to>
                                        <p:strVal val="visible"/>
                                      </p:to>
                                    </p:set>
                                    <p:animEffect transition="in" filter="wipe(left)">
                                      <p:cBhvr>
                                        <p:cTn id="98" dur="500"/>
                                        <p:tgtEl>
                                          <p:spTgt spid="212070"/>
                                        </p:tgtEl>
                                      </p:cBhvr>
                                    </p:animEffect>
                                  </p:childTnLst>
                                </p:cTn>
                              </p:par>
                              <p:par>
                                <p:cTn id="99" presetID="1" presetClass="entr" presetSubtype="0" fill="hold" grpId="0" nodeType="withEffect">
                                  <p:stCondLst>
                                    <p:cond delay="0"/>
                                  </p:stCondLst>
                                  <p:childTnLst>
                                    <p:set>
                                      <p:cBhvr>
                                        <p:cTn id="100" dur="1" fill="hold">
                                          <p:stCondLst>
                                            <p:cond delay="0"/>
                                          </p:stCondLst>
                                        </p:cTn>
                                        <p:tgtEl>
                                          <p:spTgt spid="21200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1202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1204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1204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1204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12049"/>
                                        </p:tgtEl>
                                        <p:attrNameLst>
                                          <p:attrName>style.visibility</p:attrName>
                                        </p:attrNameLst>
                                      </p:cBhvr>
                                      <p:to>
                                        <p:strVal val="visible"/>
                                      </p:to>
                                    </p:set>
                                  </p:childTnLst>
                                </p:cTn>
                              </p:par>
                              <p:par>
                                <p:cTn id="111" presetID="13" presetClass="entr" presetSubtype="16" fill="hold" grpId="0" nodeType="withEffect">
                                  <p:stCondLst>
                                    <p:cond delay="0"/>
                                  </p:stCondLst>
                                  <p:childTnLst>
                                    <p:set>
                                      <p:cBhvr>
                                        <p:cTn id="112" dur="1" fill="hold">
                                          <p:stCondLst>
                                            <p:cond delay="0"/>
                                          </p:stCondLst>
                                        </p:cTn>
                                        <p:tgtEl>
                                          <p:spTgt spid="211972"/>
                                        </p:tgtEl>
                                        <p:attrNameLst>
                                          <p:attrName>style.visibility</p:attrName>
                                        </p:attrNameLst>
                                      </p:cBhvr>
                                      <p:to>
                                        <p:strVal val="visible"/>
                                      </p:to>
                                    </p:set>
                                    <p:animEffect transition="in" filter="plus(in)">
                                      <p:cBhvr>
                                        <p:cTn id="113" dur="500"/>
                                        <p:tgtEl>
                                          <p:spTgt spid="211972"/>
                                        </p:tgtEl>
                                      </p:cBhvr>
                                    </p:animEffect>
                                  </p:childTnLst>
                                </p:cTn>
                              </p:par>
                              <p:par>
                                <p:cTn id="114" presetID="1" presetClass="entr" presetSubtype="0" fill="hold" grpId="0" nodeType="withEffect">
                                  <p:stCondLst>
                                    <p:cond delay="0"/>
                                  </p:stCondLst>
                                  <p:childTnLst>
                                    <p:set>
                                      <p:cBhvr>
                                        <p:cTn id="115" dur="1" fill="hold">
                                          <p:stCondLst>
                                            <p:cond delay="0"/>
                                          </p:stCondLst>
                                        </p:cTn>
                                        <p:tgtEl>
                                          <p:spTgt spid="21203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212038"/>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212057"/>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212058"/>
                                        </p:tgtEl>
                                        <p:attrNameLst>
                                          <p:attrName>style.visibility</p:attrName>
                                        </p:attrNameLst>
                                      </p:cBhvr>
                                      <p:to>
                                        <p:strVal val="visible"/>
                                      </p:to>
                                    </p:set>
                                  </p:childTnLst>
                                </p:cTn>
                              </p:par>
                              <p:par>
                                <p:cTn id="122" presetID="22" presetClass="entr" presetSubtype="8" fill="hold" grpId="0" nodeType="withEffect">
                                  <p:stCondLst>
                                    <p:cond delay="0"/>
                                  </p:stCondLst>
                                  <p:childTnLst>
                                    <p:set>
                                      <p:cBhvr>
                                        <p:cTn id="123" dur="1" fill="hold">
                                          <p:stCondLst>
                                            <p:cond delay="0"/>
                                          </p:stCondLst>
                                        </p:cTn>
                                        <p:tgtEl>
                                          <p:spTgt spid="212073"/>
                                        </p:tgtEl>
                                        <p:attrNameLst>
                                          <p:attrName>style.visibility</p:attrName>
                                        </p:attrNameLst>
                                      </p:cBhvr>
                                      <p:to>
                                        <p:strVal val="visible"/>
                                      </p:to>
                                    </p:set>
                                    <p:animEffect transition="in" filter="wipe(left)">
                                      <p:cBhvr>
                                        <p:cTn id="124" dur="500"/>
                                        <p:tgtEl>
                                          <p:spTgt spid="212073"/>
                                        </p:tgtEl>
                                      </p:cBhvr>
                                    </p:animEffect>
                                  </p:childTnLst>
                                </p:cTn>
                              </p:par>
                              <p:par>
                                <p:cTn id="125" presetID="1" presetClass="entr" presetSubtype="0" fill="hold" nodeType="withEffect">
                                  <p:stCondLst>
                                    <p:cond delay="0"/>
                                  </p:stCondLst>
                                  <p:childTnLst>
                                    <p:set>
                                      <p:cBhvr>
                                        <p:cTn id="126" dur="1" fill="hold">
                                          <p:stCondLst>
                                            <p:cond delay="0"/>
                                          </p:stCondLst>
                                        </p:cTn>
                                        <p:tgtEl>
                                          <p:spTgt spid="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922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9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animBg="1"/>
      <p:bldP spid="9229" grpId="0" animBg="1"/>
      <p:bldP spid="211972" grpId="0" animBg="1"/>
      <p:bldP spid="211973" grpId="0" animBg="1"/>
      <p:bldP spid="212003" grpId="0" animBg="1"/>
      <p:bldP spid="212004" grpId="0" animBg="1"/>
      <p:bldP spid="212005" grpId="0" animBg="1"/>
      <p:bldP spid="212006" grpId="0" animBg="1"/>
      <p:bldP spid="212007" grpId="0" animBg="1"/>
      <p:bldP spid="212008" grpId="0" animBg="1"/>
      <p:bldP spid="212009" grpId="0" animBg="1"/>
      <p:bldP spid="212010" grpId="0" animBg="1"/>
      <p:bldP spid="212011" grpId="0" animBg="1"/>
      <p:bldP spid="212012" grpId="0" animBg="1"/>
      <p:bldP spid="212013" grpId="0"/>
      <p:bldP spid="212014" grpId="0"/>
      <p:bldP spid="212015" grpId="0"/>
      <p:bldP spid="212016" grpId="0"/>
      <p:bldP spid="212017" grpId="0"/>
      <p:bldP spid="212018" grpId="0"/>
      <p:bldP spid="212019" grpId="0"/>
      <p:bldP spid="212020" grpId="0"/>
      <p:bldP spid="212021" grpId="0"/>
      <p:bldP spid="212022" grpId="0"/>
      <p:bldP spid="212023" grpId="0"/>
      <p:bldP spid="212024" grpId="0"/>
      <p:bldP spid="212025" grpId="0"/>
      <p:bldP spid="212026" grpId="0"/>
      <p:bldP spid="212027" grpId="0"/>
      <p:bldP spid="212028" grpId="0"/>
      <p:bldP spid="212029" grpId="0"/>
      <p:bldP spid="212030" grpId="0"/>
      <p:bldP spid="212031" grpId="0"/>
      <p:bldP spid="212032" grpId="0" animBg="1"/>
      <p:bldP spid="212034" grpId="0"/>
      <p:bldP spid="212038" grpId="0" animBg="1"/>
      <p:bldP spid="212039" grpId="0"/>
      <p:bldP spid="212040" grpId="0"/>
      <p:bldP spid="212041" grpId="0"/>
      <p:bldP spid="212045" grpId="0" animBg="1"/>
      <p:bldP spid="212046" grpId="0" animBg="1"/>
      <p:bldP spid="212047" grpId="0" animBg="1"/>
      <p:bldP spid="212048" grpId="0" animBg="1"/>
      <p:bldP spid="212049" grpId="0" animBg="1"/>
      <p:bldP spid="212053" grpId="0" animBg="1"/>
      <p:bldP spid="212057" grpId="0" animBg="1"/>
      <p:bldP spid="212058" grpId="0" animBg="1"/>
      <p:bldP spid="212061" grpId="0" animBg="1"/>
      <p:bldP spid="212062" grpId="0" animBg="1"/>
      <p:bldP spid="212067" grpId="0"/>
      <p:bldP spid="212068" grpId="0"/>
      <p:bldP spid="212070" grpId="0"/>
      <p:bldP spid="21207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900113" y="60325"/>
            <a:ext cx="8064500" cy="555625"/>
          </a:xfrm>
        </p:spPr>
        <p:txBody>
          <a:bodyPr/>
          <a:lstStyle/>
          <a:p>
            <a:pPr>
              <a:defRPr/>
            </a:pPr>
            <a:r>
              <a:rPr lang="en-US" dirty="0" smtClean="0"/>
              <a:t>Profit, Break Even, or Loss</a:t>
            </a:r>
          </a:p>
        </p:txBody>
      </p:sp>
      <p:sp>
        <p:nvSpPr>
          <p:cNvPr id="56322" name="Rectangle 3"/>
          <p:cNvSpPr>
            <a:spLocks noGrp="1" noChangeArrowheads="1"/>
          </p:cNvSpPr>
          <p:nvPr>
            <p:ph idx="4294967295"/>
          </p:nvPr>
        </p:nvSpPr>
        <p:spPr>
          <a:xfrm>
            <a:off x="900113" y="908050"/>
            <a:ext cx="8012112" cy="5416550"/>
          </a:xfrm>
        </p:spPr>
        <p:txBody>
          <a:bodyPr/>
          <a:lstStyle/>
          <a:p>
            <a:pPr marL="230188" indent="-222250">
              <a:lnSpc>
                <a:spcPct val="90000"/>
              </a:lnSpc>
            </a:pPr>
            <a:r>
              <a:rPr lang="en-US" smtClean="0"/>
              <a:t>The </a:t>
            </a:r>
            <a:r>
              <a:rPr lang="en-US" b="1" smtClean="0"/>
              <a:t>break-even price </a:t>
            </a:r>
            <a:r>
              <a:rPr lang="en-US" smtClean="0"/>
              <a:t>of a price-taking firm is the market price at which it earns zero profits.</a:t>
            </a:r>
          </a:p>
          <a:p>
            <a:pPr marL="230188" indent="-222250">
              <a:lnSpc>
                <a:spcPct val="90000"/>
              </a:lnSpc>
            </a:pPr>
            <a:endParaRPr lang="en-US" smtClean="0"/>
          </a:p>
          <a:p>
            <a:pPr marL="230188" indent="-222250">
              <a:lnSpc>
                <a:spcPct val="90000"/>
              </a:lnSpc>
            </a:pPr>
            <a:r>
              <a:rPr lang="en-US" smtClean="0"/>
              <a:t>Whenever market price exceeds minimum average total cost, the producer is profitable.</a:t>
            </a:r>
          </a:p>
          <a:p>
            <a:pPr marL="230188" indent="-222250">
              <a:lnSpc>
                <a:spcPct val="90000"/>
              </a:lnSpc>
            </a:pPr>
            <a:endParaRPr lang="en-US" smtClean="0"/>
          </a:p>
          <a:p>
            <a:pPr marL="230188" indent="-222250">
              <a:lnSpc>
                <a:spcPct val="90000"/>
              </a:lnSpc>
            </a:pPr>
            <a:r>
              <a:rPr lang="en-US" smtClean="0"/>
              <a:t>Whenever the market price equals minimum average total cost, the producer breaks even.</a:t>
            </a:r>
          </a:p>
          <a:p>
            <a:pPr marL="230188" indent="-222250">
              <a:lnSpc>
                <a:spcPct val="90000"/>
              </a:lnSpc>
            </a:pPr>
            <a:endParaRPr lang="en-US" smtClean="0"/>
          </a:p>
          <a:p>
            <a:pPr marL="230188" indent="-222250">
              <a:lnSpc>
                <a:spcPct val="90000"/>
              </a:lnSpc>
            </a:pPr>
            <a:r>
              <a:rPr lang="en-US" smtClean="0"/>
              <a:t>Whenever market price is less than minimum average total cost, the producer is unprofitable.</a:t>
            </a: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idx="4294967295"/>
          </p:nvPr>
        </p:nvSpPr>
        <p:spPr bwMode="auto">
          <a:xfrm>
            <a:off x="827088" y="76200"/>
            <a:ext cx="8316912" cy="508000"/>
          </a:xfrm>
          <a:noFill/>
        </p:spPr>
        <p:txBody>
          <a:bodyPr/>
          <a:lstStyle/>
          <a:p>
            <a:r>
              <a:rPr lang="en-US" sz="3000" smtClean="0">
                <a:effectLst/>
              </a:rPr>
              <a:t>Profit Maximization in the Short Run</a:t>
            </a:r>
          </a:p>
        </p:txBody>
      </p:sp>
      <p:sp>
        <p:nvSpPr>
          <p:cNvPr id="58370" name="Content Placeholder 2"/>
          <p:cNvSpPr>
            <a:spLocks noGrp="1"/>
          </p:cNvSpPr>
          <p:nvPr>
            <p:ph idx="4294967295"/>
          </p:nvPr>
        </p:nvSpPr>
        <p:spPr>
          <a:xfrm>
            <a:off x="576263" y="692150"/>
            <a:ext cx="8424862" cy="5868988"/>
          </a:xfrm>
        </p:spPr>
        <p:txBody>
          <a:bodyPr/>
          <a:lstStyle/>
          <a:p>
            <a:r>
              <a:rPr lang="en-US" smtClean="0">
                <a:solidFill>
                  <a:srgbClr val="C00000"/>
                </a:solidFill>
              </a:rPr>
              <a:t>Sunk cost</a:t>
            </a:r>
          </a:p>
          <a:p>
            <a:pPr lvl="1"/>
            <a:r>
              <a:rPr lang="en-US" smtClean="0"/>
              <a:t>Sunk costs should be ignored when making decisions</a:t>
            </a:r>
          </a:p>
          <a:p>
            <a:pPr lvl="1"/>
            <a:r>
              <a:rPr lang="en-US" smtClean="0"/>
              <a:t>Has already been committed;  cannot be recovered</a:t>
            </a:r>
          </a:p>
          <a:p>
            <a:pPr lvl="2">
              <a:buFont typeface="Wingdings" pitchFamily="2" charset="2"/>
              <a:buNone/>
            </a:pPr>
            <a:r>
              <a:rPr lang="en-US" i="1" smtClean="0">
                <a:latin typeface="Georgia" pitchFamily="18" charset="0"/>
              </a:rPr>
              <a:t>“No use crying over split milk”</a:t>
            </a:r>
          </a:p>
          <a:p>
            <a:pPr>
              <a:spcBef>
                <a:spcPct val="50000"/>
              </a:spcBef>
            </a:pPr>
            <a:r>
              <a:rPr lang="en-US" sz="2400" smtClean="0"/>
              <a:t>At beach resorts, restaurants are </a:t>
            </a:r>
            <a:br>
              <a:rPr lang="en-US" sz="2400" smtClean="0"/>
            </a:br>
            <a:r>
              <a:rPr lang="en-US" sz="2400" smtClean="0"/>
              <a:t>near-empty on weekdays. </a:t>
            </a:r>
            <a:br>
              <a:rPr lang="en-US" sz="2400" smtClean="0"/>
            </a:br>
            <a:r>
              <a:rPr lang="en-US" sz="2400" smtClean="0"/>
              <a:t>Should they stay open?</a:t>
            </a:r>
          </a:p>
          <a:p>
            <a:pPr lvl="1"/>
            <a:r>
              <a:rPr lang="en-US" smtClean="0"/>
              <a:t>Fixed costs</a:t>
            </a:r>
          </a:p>
          <a:p>
            <a:pPr lvl="2"/>
            <a:r>
              <a:rPr lang="en-US" sz="2400" smtClean="0"/>
              <a:t>Not relevant</a:t>
            </a:r>
          </a:p>
          <a:p>
            <a:pPr lvl="2"/>
            <a:r>
              <a:rPr lang="en-US" sz="2400" smtClean="0"/>
              <a:t>Are sunk costs in short run</a:t>
            </a:r>
          </a:p>
          <a:p>
            <a:pPr lvl="1"/>
            <a:r>
              <a:rPr lang="en-US" smtClean="0"/>
              <a:t>Variable costs – relevant</a:t>
            </a:r>
          </a:p>
          <a:p>
            <a:pPr lvl="1"/>
            <a:r>
              <a:rPr lang="en-US" smtClean="0"/>
              <a:t>Shut down if revenue on weekday &lt; variable costs</a:t>
            </a:r>
          </a:p>
          <a:p>
            <a:pPr lvl="1"/>
            <a:r>
              <a:rPr lang="en-US" smtClean="0"/>
              <a:t>Stay open if revenue on weekday &gt; variable costs</a:t>
            </a:r>
          </a:p>
        </p:txBody>
      </p:sp>
      <p:pic>
        <p:nvPicPr>
          <p:cNvPr id="58371" name="Picture 7"/>
          <p:cNvPicPr>
            <a:picLocks noChangeAspect="1" noChangeArrowheads="1"/>
          </p:cNvPicPr>
          <p:nvPr/>
        </p:nvPicPr>
        <p:blipFill>
          <a:blip r:embed="rId2"/>
          <a:srcRect/>
          <a:stretch>
            <a:fillRect/>
          </a:stretch>
        </p:blipFill>
        <p:spPr bwMode="auto">
          <a:xfrm>
            <a:off x="5462588" y="2843213"/>
            <a:ext cx="3573462" cy="2278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Rot="1" noChangeArrowheads="1"/>
          </p:cNvSpPr>
          <p:nvPr>
            <p:ph type="title" idx="4294967295"/>
          </p:nvPr>
        </p:nvSpPr>
        <p:spPr>
          <a:xfrm>
            <a:off x="946150" y="60325"/>
            <a:ext cx="8018463" cy="555625"/>
          </a:xfrm>
        </p:spPr>
        <p:txBody>
          <a:bodyPr/>
          <a:lstStyle/>
          <a:p>
            <a:pPr>
              <a:defRPr/>
            </a:pPr>
            <a:r>
              <a:rPr lang="en-US" dirty="0" smtClean="0"/>
              <a:t>The Short-Run Individual Supply Curve</a:t>
            </a:r>
          </a:p>
        </p:txBody>
      </p:sp>
      <p:sp>
        <p:nvSpPr>
          <p:cNvPr id="10256" name="Text Box 16"/>
          <p:cNvSpPr txBox="1">
            <a:spLocks noChangeArrowheads="1"/>
          </p:cNvSpPr>
          <p:nvPr/>
        </p:nvSpPr>
        <p:spPr bwMode="auto">
          <a:xfrm>
            <a:off x="6084888" y="765175"/>
            <a:ext cx="2971800" cy="1754188"/>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a:t>
            </a:r>
            <a:r>
              <a:rPr lang="en-US" b="1" dirty="0">
                <a:solidFill>
                  <a:srgbClr val="0000FF"/>
                </a:solidFill>
              </a:rPr>
              <a:t>short-run individual supply curve </a:t>
            </a:r>
            <a:r>
              <a:rPr lang="en-US" dirty="0">
                <a:solidFill>
                  <a:srgbClr val="0000FF"/>
                </a:solidFill>
              </a:rPr>
              <a:t>shows how an individual producer’s optimal output quantity depends on the market price, taking fixed cost as given.</a:t>
            </a:r>
          </a:p>
        </p:txBody>
      </p:sp>
      <p:sp>
        <p:nvSpPr>
          <p:cNvPr id="10254" name="Text Box 14"/>
          <p:cNvSpPr txBox="1">
            <a:spLocks noChangeArrowheads="1"/>
          </p:cNvSpPr>
          <p:nvPr/>
        </p:nvSpPr>
        <p:spPr bwMode="auto">
          <a:xfrm>
            <a:off x="6673850" y="3048000"/>
            <a:ext cx="2362200" cy="2032000"/>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A firm will cease production in the short run if the market price falls below the </a:t>
            </a:r>
            <a:r>
              <a:rPr lang="en-US" b="1" dirty="0">
                <a:solidFill>
                  <a:srgbClr val="0000FF"/>
                </a:solidFill>
              </a:rPr>
              <a:t>shut-down price</a:t>
            </a:r>
            <a:r>
              <a:rPr lang="en-US" dirty="0">
                <a:solidFill>
                  <a:srgbClr val="0000FF"/>
                </a:solidFill>
              </a:rPr>
              <a:t>, which is equal to minimum average variable cost.</a:t>
            </a:r>
          </a:p>
        </p:txBody>
      </p:sp>
      <p:sp>
        <p:nvSpPr>
          <p:cNvPr id="214021" name="Line 5"/>
          <p:cNvSpPr>
            <a:spLocks noChangeShapeType="1"/>
          </p:cNvSpPr>
          <p:nvPr/>
        </p:nvSpPr>
        <p:spPr bwMode="auto">
          <a:xfrm>
            <a:off x="1358900" y="3922713"/>
            <a:ext cx="125413" cy="0"/>
          </a:xfrm>
          <a:prstGeom prst="line">
            <a:avLst/>
          </a:prstGeom>
          <a:noFill/>
          <a:ln w="6350">
            <a:solidFill>
              <a:srgbClr val="000000"/>
            </a:solidFill>
            <a:miter lim="800000"/>
            <a:headEnd/>
            <a:tailEnd/>
          </a:ln>
        </p:spPr>
        <p:txBody>
          <a:bodyPr/>
          <a:lstStyle/>
          <a:p>
            <a:endParaRPr lang="en-US"/>
          </a:p>
        </p:txBody>
      </p:sp>
      <p:sp>
        <p:nvSpPr>
          <p:cNvPr id="214022" name="Freeform 6"/>
          <p:cNvSpPr>
            <a:spLocks/>
          </p:cNvSpPr>
          <p:nvPr/>
        </p:nvSpPr>
        <p:spPr bwMode="auto">
          <a:xfrm>
            <a:off x="2328863" y="2160588"/>
            <a:ext cx="3683000" cy="1800225"/>
          </a:xfrm>
          <a:custGeom>
            <a:avLst/>
            <a:gdLst>
              <a:gd name="T0" fmla="*/ 0 w 761"/>
              <a:gd name="T1" fmla="*/ 0 h 346"/>
              <a:gd name="T2" fmla="*/ 2147483647 w 761"/>
              <a:gd name="T3" fmla="*/ 2147483647 h 346"/>
              <a:gd name="T4" fmla="*/ 2147483647 w 761"/>
              <a:gd name="T5" fmla="*/ 2147483647 h 346"/>
              <a:gd name="T6" fmla="*/ 2147483647 w 761"/>
              <a:gd name="T7" fmla="*/ 2147483647 h 346"/>
              <a:gd name="T8" fmla="*/ 0 60000 65536"/>
              <a:gd name="T9" fmla="*/ 0 60000 65536"/>
              <a:gd name="T10" fmla="*/ 0 60000 65536"/>
              <a:gd name="T11" fmla="*/ 0 60000 65536"/>
              <a:gd name="T12" fmla="*/ 0 w 761"/>
              <a:gd name="T13" fmla="*/ 0 h 346"/>
              <a:gd name="T14" fmla="*/ 761 w 761"/>
              <a:gd name="T15" fmla="*/ 346 h 346"/>
            </a:gdLst>
            <a:ahLst/>
            <a:cxnLst>
              <a:cxn ang="T8">
                <a:pos x="T0" y="T1"/>
              </a:cxn>
              <a:cxn ang="T9">
                <a:pos x="T2" y="T3"/>
              </a:cxn>
              <a:cxn ang="T10">
                <a:pos x="T4" y="T5"/>
              </a:cxn>
              <a:cxn ang="T11">
                <a:pos x="T6" y="T7"/>
              </a:cxn>
            </a:cxnLst>
            <a:rect l="T12" t="T13" r="T14" b="T15"/>
            <a:pathLst>
              <a:path w="761" h="346">
                <a:moveTo>
                  <a:pt x="0" y="0"/>
                </a:moveTo>
                <a:cubicBezTo>
                  <a:pt x="0" y="0"/>
                  <a:pt x="84" y="346"/>
                  <a:pt x="325" y="338"/>
                </a:cubicBezTo>
                <a:cubicBezTo>
                  <a:pt x="567" y="330"/>
                  <a:pt x="634" y="307"/>
                  <a:pt x="634" y="307"/>
                </a:cubicBezTo>
                <a:cubicBezTo>
                  <a:pt x="761" y="281"/>
                  <a:pt x="761" y="281"/>
                  <a:pt x="761" y="281"/>
                </a:cubicBezTo>
              </a:path>
            </a:pathLst>
          </a:custGeom>
          <a:noFill/>
          <a:ln w="30163">
            <a:solidFill>
              <a:srgbClr val="8C64AB"/>
            </a:solidFill>
            <a:miter lim="800000"/>
            <a:headEnd/>
            <a:tailEnd/>
          </a:ln>
        </p:spPr>
        <p:txBody>
          <a:bodyPr/>
          <a:lstStyle/>
          <a:p>
            <a:endParaRPr lang="en-US"/>
          </a:p>
        </p:txBody>
      </p:sp>
      <p:sp>
        <p:nvSpPr>
          <p:cNvPr id="214023" name="Line 7"/>
          <p:cNvSpPr>
            <a:spLocks noChangeShapeType="1"/>
          </p:cNvSpPr>
          <p:nvPr/>
        </p:nvSpPr>
        <p:spPr bwMode="auto">
          <a:xfrm>
            <a:off x="1358900" y="3452813"/>
            <a:ext cx="125413" cy="0"/>
          </a:xfrm>
          <a:prstGeom prst="line">
            <a:avLst/>
          </a:prstGeom>
          <a:noFill/>
          <a:ln w="6350">
            <a:solidFill>
              <a:srgbClr val="000000"/>
            </a:solidFill>
            <a:miter lim="800000"/>
            <a:headEnd/>
            <a:tailEnd/>
          </a:ln>
        </p:spPr>
        <p:txBody>
          <a:bodyPr/>
          <a:lstStyle/>
          <a:p>
            <a:endParaRPr lang="en-US"/>
          </a:p>
        </p:txBody>
      </p:sp>
      <p:sp>
        <p:nvSpPr>
          <p:cNvPr id="214024" name="Line 8"/>
          <p:cNvSpPr>
            <a:spLocks noChangeShapeType="1"/>
          </p:cNvSpPr>
          <p:nvPr/>
        </p:nvSpPr>
        <p:spPr bwMode="auto">
          <a:xfrm>
            <a:off x="1358900" y="3687763"/>
            <a:ext cx="125413" cy="0"/>
          </a:xfrm>
          <a:prstGeom prst="line">
            <a:avLst/>
          </a:prstGeom>
          <a:noFill/>
          <a:ln w="6350">
            <a:solidFill>
              <a:srgbClr val="000000"/>
            </a:solidFill>
            <a:miter lim="800000"/>
            <a:headEnd/>
            <a:tailEnd/>
          </a:ln>
        </p:spPr>
        <p:txBody>
          <a:bodyPr/>
          <a:lstStyle/>
          <a:p>
            <a:endParaRPr lang="en-US"/>
          </a:p>
        </p:txBody>
      </p:sp>
      <p:sp>
        <p:nvSpPr>
          <p:cNvPr id="214025" name="Line 9"/>
          <p:cNvSpPr>
            <a:spLocks noChangeShapeType="1"/>
          </p:cNvSpPr>
          <p:nvPr/>
        </p:nvSpPr>
        <p:spPr bwMode="auto">
          <a:xfrm>
            <a:off x="1358900" y="4157663"/>
            <a:ext cx="125413" cy="0"/>
          </a:xfrm>
          <a:prstGeom prst="line">
            <a:avLst/>
          </a:prstGeom>
          <a:noFill/>
          <a:ln w="6350">
            <a:solidFill>
              <a:srgbClr val="000000"/>
            </a:solidFill>
            <a:miter lim="800000"/>
            <a:headEnd/>
            <a:tailEnd/>
          </a:ln>
        </p:spPr>
        <p:txBody>
          <a:bodyPr/>
          <a:lstStyle/>
          <a:p>
            <a:endParaRPr lang="en-US"/>
          </a:p>
        </p:txBody>
      </p:sp>
      <p:sp>
        <p:nvSpPr>
          <p:cNvPr id="214026" name="Line 10"/>
          <p:cNvSpPr>
            <a:spLocks noChangeShapeType="1"/>
          </p:cNvSpPr>
          <p:nvPr/>
        </p:nvSpPr>
        <p:spPr bwMode="auto">
          <a:xfrm flipV="1">
            <a:off x="5951538" y="5434013"/>
            <a:ext cx="0" cy="133350"/>
          </a:xfrm>
          <a:prstGeom prst="line">
            <a:avLst/>
          </a:prstGeom>
          <a:noFill/>
          <a:ln w="6350">
            <a:solidFill>
              <a:srgbClr val="000000"/>
            </a:solidFill>
            <a:miter lim="800000"/>
            <a:headEnd/>
            <a:tailEnd/>
          </a:ln>
        </p:spPr>
        <p:txBody>
          <a:bodyPr/>
          <a:lstStyle/>
          <a:p>
            <a:endParaRPr lang="en-US"/>
          </a:p>
        </p:txBody>
      </p:sp>
      <p:sp>
        <p:nvSpPr>
          <p:cNvPr id="214027" name="Line 11"/>
          <p:cNvSpPr>
            <a:spLocks noChangeShapeType="1"/>
          </p:cNvSpPr>
          <p:nvPr/>
        </p:nvSpPr>
        <p:spPr bwMode="auto">
          <a:xfrm flipV="1">
            <a:off x="5294313" y="5434013"/>
            <a:ext cx="0" cy="133350"/>
          </a:xfrm>
          <a:prstGeom prst="line">
            <a:avLst/>
          </a:prstGeom>
          <a:noFill/>
          <a:ln w="6350">
            <a:solidFill>
              <a:srgbClr val="000000"/>
            </a:solidFill>
            <a:miter lim="800000"/>
            <a:headEnd/>
            <a:tailEnd/>
          </a:ln>
        </p:spPr>
        <p:txBody>
          <a:bodyPr/>
          <a:lstStyle/>
          <a:p>
            <a:endParaRPr lang="en-US"/>
          </a:p>
        </p:txBody>
      </p:sp>
      <p:sp>
        <p:nvSpPr>
          <p:cNvPr id="214028" name="Line 12"/>
          <p:cNvSpPr>
            <a:spLocks noChangeShapeType="1"/>
          </p:cNvSpPr>
          <p:nvPr/>
        </p:nvSpPr>
        <p:spPr bwMode="auto">
          <a:xfrm flipV="1">
            <a:off x="4638675" y="5434013"/>
            <a:ext cx="0" cy="133350"/>
          </a:xfrm>
          <a:prstGeom prst="line">
            <a:avLst/>
          </a:prstGeom>
          <a:noFill/>
          <a:ln w="6350">
            <a:solidFill>
              <a:srgbClr val="000000"/>
            </a:solidFill>
            <a:miter lim="800000"/>
            <a:headEnd/>
            <a:tailEnd/>
          </a:ln>
        </p:spPr>
        <p:txBody>
          <a:bodyPr/>
          <a:lstStyle/>
          <a:p>
            <a:endParaRPr lang="en-US"/>
          </a:p>
        </p:txBody>
      </p:sp>
      <p:sp>
        <p:nvSpPr>
          <p:cNvPr id="214029" name="Line 13"/>
          <p:cNvSpPr>
            <a:spLocks noChangeShapeType="1"/>
          </p:cNvSpPr>
          <p:nvPr/>
        </p:nvSpPr>
        <p:spPr bwMode="auto">
          <a:xfrm flipV="1">
            <a:off x="3981450" y="5434013"/>
            <a:ext cx="0" cy="133350"/>
          </a:xfrm>
          <a:prstGeom prst="line">
            <a:avLst/>
          </a:prstGeom>
          <a:noFill/>
          <a:ln w="6350">
            <a:solidFill>
              <a:srgbClr val="000000"/>
            </a:solidFill>
            <a:miter lim="800000"/>
            <a:headEnd/>
            <a:tailEnd/>
          </a:ln>
        </p:spPr>
        <p:txBody>
          <a:bodyPr/>
          <a:lstStyle/>
          <a:p>
            <a:endParaRPr lang="en-US"/>
          </a:p>
        </p:txBody>
      </p:sp>
      <p:sp>
        <p:nvSpPr>
          <p:cNvPr id="214030" name="Line 14"/>
          <p:cNvSpPr>
            <a:spLocks noChangeShapeType="1"/>
          </p:cNvSpPr>
          <p:nvPr/>
        </p:nvSpPr>
        <p:spPr bwMode="auto">
          <a:xfrm flipV="1">
            <a:off x="3325813" y="5434013"/>
            <a:ext cx="0" cy="133350"/>
          </a:xfrm>
          <a:prstGeom prst="line">
            <a:avLst/>
          </a:prstGeom>
          <a:noFill/>
          <a:ln w="6350">
            <a:solidFill>
              <a:srgbClr val="000000"/>
            </a:solidFill>
            <a:miter lim="800000"/>
            <a:headEnd/>
            <a:tailEnd/>
          </a:ln>
        </p:spPr>
        <p:txBody>
          <a:bodyPr/>
          <a:lstStyle/>
          <a:p>
            <a:endParaRPr lang="en-US"/>
          </a:p>
        </p:txBody>
      </p:sp>
      <p:sp>
        <p:nvSpPr>
          <p:cNvPr id="214031" name="Line 15"/>
          <p:cNvSpPr>
            <a:spLocks noChangeShapeType="1"/>
          </p:cNvSpPr>
          <p:nvPr/>
        </p:nvSpPr>
        <p:spPr bwMode="auto">
          <a:xfrm flipV="1">
            <a:off x="2668588" y="5434013"/>
            <a:ext cx="0" cy="133350"/>
          </a:xfrm>
          <a:prstGeom prst="line">
            <a:avLst/>
          </a:prstGeom>
          <a:noFill/>
          <a:ln w="6350">
            <a:solidFill>
              <a:srgbClr val="000000"/>
            </a:solidFill>
            <a:miter lim="800000"/>
            <a:headEnd/>
            <a:tailEnd/>
          </a:ln>
        </p:spPr>
        <p:txBody>
          <a:bodyPr/>
          <a:lstStyle/>
          <a:p>
            <a:endParaRPr lang="en-US"/>
          </a:p>
        </p:txBody>
      </p:sp>
      <p:sp>
        <p:nvSpPr>
          <p:cNvPr id="214032" name="Line 16"/>
          <p:cNvSpPr>
            <a:spLocks noChangeShapeType="1"/>
          </p:cNvSpPr>
          <p:nvPr/>
        </p:nvSpPr>
        <p:spPr bwMode="auto">
          <a:xfrm flipV="1">
            <a:off x="2016125" y="5434013"/>
            <a:ext cx="0" cy="133350"/>
          </a:xfrm>
          <a:prstGeom prst="line">
            <a:avLst/>
          </a:prstGeom>
          <a:noFill/>
          <a:ln w="6350">
            <a:solidFill>
              <a:srgbClr val="000000"/>
            </a:solidFill>
            <a:miter lim="800000"/>
            <a:headEnd/>
            <a:tailEnd/>
          </a:ln>
        </p:spPr>
        <p:txBody>
          <a:bodyPr/>
          <a:lstStyle/>
          <a:p>
            <a:endParaRPr lang="en-US"/>
          </a:p>
        </p:txBody>
      </p:sp>
      <p:sp>
        <p:nvSpPr>
          <p:cNvPr id="214033" name="Rectangle 17"/>
          <p:cNvSpPr>
            <a:spLocks noChangeArrowheads="1"/>
          </p:cNvSpPr>
          <p:nvPr/>
        </p:nvSpPr>
        <p:spPr bwMode="auto">
          <a:xfrm>
            <a:off x="5900738" y="5600700"/>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a:t>
            </a:r>
            <a:endParaRPr lang="en-US" sz="1400">
              <a:latin typeface="Tahoma" pitchFamily="34" charset="0"/>
            </a:endParaRPr>
          </a:p>
        </p:txBody>
      </p:sp>
      <p:sp>
        <p:nvSpPr>
          <p:cNvPr id="214034" name="Rectangle 18"/>
          <p:cNvSpPr>
            <a:spLocks noChangeArrowheads="1"/>
          </p:cNvSpPr>
          <p:nvPr/>
        </p:nvSpPr>
        <p:spPr bwMode="auto">
          <a:xfrm>
            <a:off x="5246688" y="5600700"/>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214035" name="Rectangle 19"/>
          <p:cNvSpPr>
            <a:spLocks noChangeArrowheads="1"/>
          </p:cNvSpPr>
          <p:nvPr/>
        </p:nvSpPr>
        <p:spPr bwMode="auto">
          <a:xfrm>
            <a:off x="4589463" y="5600700"/>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214036" name="Rectangle 20"/>
          <p:cNvSpPr>
            <a:spLocks noChangeArrowheads="1"/>
          </p:cNvSpPr>
          <p:nvPr/>
        </p:nvSpPr>
        <p:spPr bwMode="auto">
          <a:xfrm>
            <a:off x="3933825" y="5600700"/>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214037" name="Rectangle 21"/>
          <p:cNvSpPr>
            <a:spLocks noChangeArrowheads="1"/>
          </p:cNvSpPr>
          <p:nvPr/>
        </p:nvSpPr>
        <p:spPr bwMode="auto">
          <a:xfrm>
            <a:off x="3279775" y="5600700"/>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214038" name="Rectangle 22"/>
          <p:cNvSpPr>
            <a:spLocks noChangeArrowheads="1"/>
          </p:cNvSpPr>
          <p:nvPr/>
        </p:nvSpPr>
        <p:spPr bwMode="auto">
          <a:xfrm>
            <a:off x="3540125" y="5600700"/>
            <a:ext cx="219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3.5</a:t>
            </a:r>
            <a:endParaRPr lang="en-US" sz="1400">
              <a:latin typeface="Tahoma" pitchFamily="34" charset="0"/>
            </a:endParaRPr>
          </a:p>
        </p:txBody>
      </p:sp>
      <p:sp>
        <p:nvSpPr>
          <p:cNvPr id="214039" name="Rectangle 23"/>
          <p:cNvSpPr>
            <a:spLocks noChangeArrowheads="1"/>
          </p:cNvSpPr>
          <p:nvPr/>
        </p:nvSpPr>
        <p:spPr bwMode="auto">
          <a:xfrm>
            <a:off x="2622550" y="5600700"/>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214040" name="Rectangle 24"/>
          <p:cNvSpPr>
            <a:spLocks noChangeArrowheads="1"/>
          </p:cNvSpPr>
          <p:nvPr/>
        </p:nvSpPr>
        <p:spPr bwMode="auto">
          <a:xfrm>
            <a:off x="1965325" y="5600700"/>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214041" name="Rectangle 25"/>
          <p:cNvSpPr>
            <a:spLocks noChangeArrowheads="1"/>
          </p:cNvSpPr>
          <p:nvPr/>
        </p:nvSpPr>
        <p:spPr bwMode="auto">
          <a:xfrm>
            <a:off x="1182688" y="5600700"/>
            <a:ext cx="92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14042" name="Rectangle 26"/>
          <p:cNvSpPr>
            <a:spLocks noChangeArrowheads="1"/>
          </p:cNvSpPr>
          <p:nvPr/>
        </p:nvSpPr>
        <p:spPr bwMode="auto">
          <a:xfrm>
            <a:off x="989013" y="3328988"/>
            <a:ext cx="271462" cy="17145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214043" name="Rectangle 27"/>
          <p:cNvSpPr>
            <a:spLocks noChangeArrowheads="1"/>
          </p:cNvSpPr>
          <p:nvPr/>
        </p:nvSpPr>
        <p:spPr bwMode="auto">
          <a:xfrm>
            <a:off x="1084263" y="3563938"/>
            <a:ext cx="18097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16</a:t>
            </a:r>
            <a:endParaRPr lang="en-US" sz="1400">
              <a:latin typeface="Tahoma" pitchFamily="34" charset="0"/>
            </a:endParaRPr>
          </a:p>
        </p:txBody>
      </p:sp>
      <p:sp>
        <p:nvSpPr>
          <p:cNvPr id="214044" name="Rectangle 28"/>
          <p:cNvSpPr>
            <a:spLocks noChangeArrowheads="1"/>
          </p:cNvSpPr>
          <p:nvPr/>
        </p:nvSpPr>
        <p:spPr bwMode="auto">
          <a:xfrm>
            <a:off x="1084263" y="3794125"/>
            <a:ext cx="18097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214045" name="Rectangle 29"/>
          <p:cNvSpPr>
            <a:spLocks noChangeArrowheads="1"/>
          </p:cNvSpPr>
          <p:nvPr/>
        </p:nvSpPr>
        <p:spPr bwMode="auto">
          <a:xfrm>
            <a:off x="1084263" y="4029075"/>
            <a:ext cx="1809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12</a:t>
            </a:r>
            <a:endParaRPr lang="en-US" sz="1400">
              <a:latin typeface="Tahoma" pitchFamily="34" charset="0"/>
            </a:endParaRPr>
          </a:p>
        </p:txBody>
      </p:sp>
      <p:sp>
        <p:nvSpPr>
          <p:cNvPr id="214046" name="Rectangle 30"/>
          <p:cNvSpPr>
            <a:spLocks noChangeArrowheads="1"/>
          </p:cNvSpPr>
          <p:nvPr/>
        </p:nvSpPr>
        <p:spPr bwMode="auto">
          <a:xfrm>
            <a:off x="1084263" y="4267200"/>
            <a:ext cx="18097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214047" name="Rectangle 31"/>
          <p:cNvSpPr>
            <a:spLocks noChangeArrowheads="1"/>
          </p:cNvSpPr>
          <p:nvPr/>
        </p:nvSpPr>
        <p:spPr bwMode="auto">
          <a:xfrm>
            <a:off x="5772150" y="241458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14048" name="Rectangle 32"/>
          <p:cNvSpPr>
            <a:spLocks noChangeArrowheads="1"/>
          </p:cNvSpPr>
          <p:nvPr/>
        </p:nvSpPr>
        <p:spPr bwMode="auto">
          <a:xfrm>
            <a:off x="6002338" y="33956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4049" name="Rectangle 33"/>
          <p:cNvSpPr>
            <a:spLocks noChangeArrowheads="1"/>
          </p:cNvSpPr>
          <p:nvPr/>
        </p:nvSpPr>
        <p:spPr bwMode="auto">
          <a:xfrm>
            <a:off x="6111875" y="3395663"/>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14050" name="Rectangle 34"/>
          <p:cNvSpPr>
            <a:spLocks noChangeArrowheads="1"/>
          </p:cNvSpPr>
          <p:nvPr/>
        </p:nvSpPr>
        <p:spPr bwMode="auto">
          <a:xfrm>
            <a:off x="6210300" y="339566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4051" name="Rectangle 35"/>
          <p:cNvSpPr>
            <a:spLocks noChangeArrowheads="1"/>
          </p:cNvSpPr>
          <p:nvPr/>
        </p:nvSpPr>
        <p:spPr bwMode="auto">
          <a:xfrm>
            <a:off x="5984875" y="370363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4052" name="Rectangle 36"/>
          <p:cNvSpPr>
            <a:spLocks noChangeArrowheads="1"/>
          </p:cNvSpPr>
          <p:nvPr/>
        </p:nvSpPr>
        <p:spPr bwMode="auto">
          <a:xfrm>
            <a:off x="6099175" y="3703638"/>
            <a:ext cx="250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VC</a:t>
            </a:r>
            <a:endParaRPr lang="en-US" sz="1400" i="1">
              <a:latin typeface="Tahoma" pitchFamily="34" charset="0"/>
            </a:endParaRPr>
          </a:p>
        </p:txBody>
      </p:sp>
      <p:sp>
        <p:nvSpPr>
          <p:cNvPr id="214053" name="Rectangle 37"/>
          <p:cNvSpPr>
            <a:spLocks noChangeArrowheads="1"/>
          </p:cNvSpPr>
          <p:nvPr/>
        </p:nvSpPr>
        <p:spPr bwMode="auto">
          <a:xfrm>
            <a:off x="4010025" y="391636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4054" name="Rectangle 38"/>
          <p:cNvSpPr>
            <a:spLocks noChangeArrowheads="1"/>
          </p:cNvSpPr>
          <p:nvPr/>
        </p:nvSpPr>
        <p:spPr bwMode="auto">
          <a:xfrm>
            <a:off x="3713163" y="40862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B</a:t>
            </a:r>
            <a:endParaRPr lang="en-US" sz="1400" i="1">
              <a:latin typeface="Tahoma" pitchFamily="34" charset="0"/>
            </a:endParaRPr>
          </a:p>
        </p:txBody>
      </p:sp>
      <p:sp>
        <p:nvSpPr>
          <p:cNvPr id="214055" name="Rectangle 39"/>
          <p:cNvSpPr>
            <a:spLocks noChangeArrowheads="1"/>
          </p:cNvSpPr>
          <p:nvPr/>
        </p:nvSpPr>
        <p:spPr bwMode="auto">
          <a:xfrm>
            <a:off x="3338513" y="44005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4056" name="Rectangle 40"/>
          <p:cNvSpPr>
            <a:spLocks noChangeArrowheads="1"/>
          </p:cNvSpPr>
          <p:nvPr/>
        </p:nvSpPr>
        <p:spPr bwMode="auto">
          <a:xfrm>
            <a:off x="4706938" y="34004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Tahoma" pitchFamily="34" charset="0"/>
            </a:endParaRPr>
          </a:p>
        </p:txBody>
      </p:sp>
      <p:sp>
        <p:nvSpPr>
          <p:cNvPr id="214057" name="Freeform 41"/>
          <p:cNvSpPr>
            <a:spLocks/>
          </p:cNvSpPr>
          <p:nvPr/>
        </p:nvSpPr>
        <p:spPr bwMode="auto">
          <a:xfrm>
            <a:off x="3325813" y="2654300"/>
            <a:ext cx="2422525" cy="1733550"/>
          </a:xfrm>
          <a:custGeom>
            <a:avLst/>
            <a:gdLst>
              <a:gd name="T0" fmla="*/ 0 w 1107"/>
              <a:gd name="T1" fmla="*/ 2147483647 h 730"/>
              <a:gd name="T2" fmla="*/ 2147483647 w 1107"/>
              <a:gd name="T3" fmla="*/ 2147483647 h 730"/>
              <a:gd name="T4" fmla="*/ 2147483647 w 1107"/>
              <a:gd name="T5" fmla="*/ 2147483647 h 730"/>
              <a:gd name="T6" fmla="*/ 2147483647 w 1107"/>
              <a:gd name="T7" fmla="*/ 2147483647 h 730"/>
              <a:gd name="T8" fmla="*/ 2147483647 w 1107"/>
              <a:gd name="T9" fmla="*/ 2147483647 h 730"/>
              <a:gd name="T10" fmla="*/ 2147483647 w 1107"/>
              <a:gd name="T11" fmla="*/ 0 h 730"/>
              <a:gd name="T12" fmla="*/ 0 60000 65536"/>
              <a:gd name="T13" fmla="*/ 0 60000 65536"/>
              <a:gd name="T14" fmla="*/ 0 60000 65536"/>
              <a:gd name="T15" fmla="*/ 0 60000 65536"/>
              <a:gd name="T16" fmla="*/ 0 60000 65536"/>
              <a:gd name="T17" fmla="*/ 0 60000 65536"/>
              <a:gd name="T18" fmla="*/ 0 w 1107"/>
              <a:gd name="T19" fmla="*/ 0 h 730"/>
              <a:gd name="T20" fmla="*/ 1107 w 1107"/>
              <a:gd name="T21" fmla="*/ 730 h 730"/>
            </a:gdLst>
            <a:ahLst/>
            <a:cxnLst>
              <a:cxn ang="T12">
                <a:pos x="T0" y="T1"/>
              </a:cxn>
              <a:cxn ang="T13">
                <a:pos x="T2" y="T3"/>
              </a:cxn>
              <a:cxn ang="T14">
                <a:pos x="T4" y="T5"/>
              </a:cxn>
              <a:cxn ang="T15">
                <a:pos x="T6" y="T7"/>
              </a:cxn>
              <a:cxn ang="T16">
                <a:pos x="T8" y="T9"/>
              </a:cxn>
              <a:cxn ang="T17">
                <a:pos x="T10" y="T11"/>
              </a:cxn>
            </a:cxnLst>
            <a:rect l="T18" t="T19" r="T20" b="T21"/>
            <a:pathLst>
              <a:path w="1107" h="730">
                <a:moveTo>
                  <a:pt x="0" y="730"/>
                </a:moveTo>
                <a:lnTo>
                  <a:pt x="151" y="633"/>
                </a:lnTo>
                <a:lnTo>
                  <a:pt x="451" y="435"/>
                </a:lnTo>
                <a:lnTo>
                  <a:pt x="748" y="236"/>
                </a:lnTo>
                <a:lnTo>
                  <a:pt x="1048" y="40"/>
                </a:lnTo>
                <a:lnTo>
                  <a:pt x="1107" y="0"/>
                </a:lnTo>
              </a:path>
            </a:pathLst>
          </a:custGeom>
          <a:noFill/>
          <a:ln w="30163">
            <a:solidFill>
              <a:srgbClr val="F3716D"/>
            </a:solidFill>
            <a:miter lim="800000"/>
            <a:headEnd/>
            <a:tailEnd/>
          </a:ln>
        </p:spPr>
        <p:txBody>
          <a:bodyPr/>
          <a:lstStyle/>
          <a:p>
            <a:endParaRPr lang="en-US"/>
          </a:p>
        </p:txBody>
      </p:sp>
      <p:sp>
        <p:nvSpPr>
          <p:cNvPr id="214058" name="Freeform 42"/>
          <p:cNvSpPr>
            <a:spLocks/>
          </p:cNvSpPr>
          <p:nvPr/>
        </p:nvSpPr>
        <p:spPr bwMode="auto">
          <a:xfrm>
            <a:off x="1628775" y="3535363"/>
            <a:ext cx="1697038" cy="1330325"/>
          </a:xfrm>
          <a:custGeom>
            <a:avLst/>
            <a:gdLst>
              <a:gd name="T0" fmla="*/ 2147483647 w 328"/>
              <a:gd name="T1" fmla="*/ 2147483647 h 237"/>
              <a:gd name="T2" fmla="*/ 2147483647 w 328"/>
              <a:gd name="T3" fmla="*/ 2147483647 h 237"/>
              <a:gd name="T4" fmla="*/ 2147483647 w 328"/>
              <a:gd name="T5" fmla="*/ 2147483647 h 237"/>
              <a:gd name="T6" fmla="*/ 2147483647 w 328"/>
              <a:gd name="T7" fmla="*/ 2147483647 h 237"/>
              <a:gd name="T8" fmla="*/ 0 w 328"/>
              <a:gd name="T9" fmla="*/ 0 h 237"/>
              <a:gd name="T10" fmla="*/ 0 60000 65536"/>
              <a:gd name="T11" fmla="*/ 0 60000 65536"/>
              <a:gd name="T12" fmla="*/ 0 60000 65536"/>
              <a:gd name="T13" fmla="*/ 0 60000 65536"/>
              <a:gd name="T14" fmla="*/ 0 60000 65536"/>
              <a:gd name="T15" fmla="*/ 0 w 328"/>
              <a:gd name="T16" fmla="*/ 0 h 237"/>
              <a:gd name="T17" fmla="*/ 328 w 328"/>
              <a:gd name="T18" fmla="*/ 237 h 237"/>
            </a:gdLst>
            <a:ahLst/>
            <a:cxnLst>
              <a:cxn ang="T10">
                <a:pos x="T0" y="T1"/>
              </a:cxn>
              <a:cxn ang="T11">
                <a:pos x="T2" y="T3"/>
              </a:cxn>
              <a:cxn ang="T12">
                <a:pos x="T4" y="T5"/>
              </a:cxn>
              <a:cxn ang="T13">
                <a:pos x="T6" y="T7"/>
              </a:cxn>
              <a:cxn ang="T14">
                <a:pos x="T8" y="T9"/>
              </a:cxn>
            </a:cxnLst>
            <a:rect l="T15" t="T16" r="T17" b="T18"/>
            <a:pathLst>
              <a:path w="328" h="237">
                <a:moveTo>
                  <a:pt x="328" y="152"/>
                </a:moveTo>
                <a:cubicBezTo>
                  <a:pt x="265" y="194"/>
                  <a:pt x="265" y="194"/>
                  <a:pt x="265" y="194"/>
                </a:cubicBezTo>
                <a:cubicBezTo>
                  <a:pt x="265" y="194"/>
                  <a:pt x="197" y="237"/>
                  <a:pt x="144" y="236"/>
                </a:cubicBezTo>
                <a:cubicBezTo>
                  <a:pt x="91" y="235"/>
                  <a:pt x="11" y="27"/>
                  <a:pt x="11" y="27"/>
                </a:cubicBezTo>
                <a:cubicBezTo>
                  <a:pt x="0" y="0"/>
                  <a:pt x="0" y="0"/>
                  <a:pt x="0" y="0"/>
                </a:cubicBezTo>
              </a:path>
            </a:pathLst>
          </a:custGeom>
          <a:noFill/>
          <a:ln w="30163">
            <a:solidFill>
              <a:srgbClr val="FDBA40"/>
            </a:solidFill>
            <a:miter lim="800000"/>
            <a:headEnd/>
            <a:tailEnd/>
          </a:ln>
        </p:spPr>
        <p:txBody>
          <a:bodyPr/>
          <a:lstStyle/>
          <a:p>
            <a:endParaRPr lang="en-US"/>
          </a:p>
        </p:txBody>
      </p:sp>
      <p:sp>
        <p:nvSpPr>
          <p:cNvPr id="214059" name="Oval 43"/>
          <p:cNvSpPr>
            <a:spLocks noChangeArrowheads="1"/>
          </p:cNvSpPr>
          <p:nvPr/>
        </p:nvSpPr>
        <p:spPr bwMode="auto">
          <a:xfrm>
            <a:off x="3929063" y="3865563"/>
            <a:ext cx="103187" cy="114300"/>
          </a:xfrm>
          <a:prstGeom prst="ellipse">
            <a:avLst/>
          </a:prstGeom>
          <a:solidFill>
            <a:srgbClr val="000000"/>
          </a:solidFill>
          <a:ln w="9525">
            <a:noFill/>
            <a:round/>
            <a:headEnd/>
            <a:tailEnd/>
          </a:ln>
        </p:spPr>
        <p:txBody>
          <a:bodyPr/>
          <a:lstStyle/>
          <a:p>
            <a:endParaRPr lang="en-US"/>
          </a:p>
        </p:txBody>
      </p:sp>
      <p:sp>
        <p:nvSpPr>
          <p:cNvPr id="214060" name="Oval 44"/>
          <p:cNvSpPr>
            <a:spLocks noChangeArrowheads="1"/>
          </p:cNvSpPr>
          <p:nvPr/>
        </p:nvSpPr>
        <p:spPr bwMode="auto">
          <a:xfrm>
            <a:off x="3603625" y="4103688"/>
            <a:ext cx="101600" cy="111125"/>
          </a:xfrm>
          <a:prstGeom prst="ellipse">
            <a:avLst/>
          </a:prstGeom>
          <a:solidFill>
            <a:srgbClr val="000000"/>
          </a:solidFill>
          <a:ln w="9525">
            <a:noFill/>
            <a:round/>
            <a:headEnd/>
            <a:tailEnd/>
          </a:ln>
        </p:spPr>
        <p:txBody>
          <a:bodyPr/>
          <a:lstStyle/>
          <a:p>
            <a:endParaRPr lang="en-US"/>
          </a:p>
        </p:txBody>
      </p:sp>
      <p:sp>
        <p:nvSpPr>
          <p:cNvPr id="214061" name="Oval 45"/>
          <p:cNvSpPr>
            <a:spLocks noChangeArrowheads="1"/>
          </p:cNvSpPr>
          <p:nvPr/>
        </p:nvSpPr>
        <p:spPr bwMode="auto">
          <a:xfrm>
            <a:off x="4586288" y="3395663"/>
            <a:ext cx="103187" cy="111125"/>
          </a:xfrm>
          <a:prstGeom prst="ellipse">
            <a:avLst/>
          </a:prstGeom>
          <a:solidFill>
            <a:srgbClr val="000000"/>
          </a:solidFill>
          <a:ln w="9525">
            <a:noFill/>
            <a:round/>
            <a:headEnd/>
            <a:tailEnd/>
          </a:ln>
        </p:spPr>
        <p:txBody>
          <a:bodyPr/>
          <a:lstStyle/>
          <a:p>
            <a:endParaRPr lang="en-US"/>
          </a:p>
        </p:txBody>
      </p:sp>
      <p:sp>
        <p:nvSpPr>
          <p:cNvPr id="214062" name="Line 46"/>
          <p:cNvSpPr>
            <a:spLocks noChangeShapeType="1"/>
          </p:cNvSpPr>
          <p:nvPr/>
        </p:nvSpPr>
        <p:spPr bwMode="auto">
          <a:xfrm>
            <a:off x="904875" y="4387850"/>
            <a:ext cx="174625" cy="0"/>
          </a:xfrm>
          <a:prstGeom prst="line">
            <a:avLst/>
          </a:prstGeom>
          <a:noFill/>
          <a:ln w="6350">
            <a:solidFill>
              <a:srgbClr val="000000"/>
            </a:solidFill>
            <a:miter lim="800000"/>
            <a:headEnd/>
            <a:tailEnd/>
          </a:ln>
        </p:spPr>
        <p:txBody>
          <a:bodyPr/>
          <a:lstStyle/>
          <a:p>
            <a:endParaRPr lang="en-US"/>
          </a:p>
        </p:txBody>
      </p:sp>
      <p:sp>
        <p:nvSpPr>
          <p:cNvPr id="214063" name="Freeform 47"/>
          <p:cNvSpPr>
            <a:spLocks/>
          </p:cNvSpPr>
          <p:nvPr/>
        </p:nvSpPr>
        <p:spPr bwMode="auto">
          <a:xfrm>
            <a:off x="20638" y="4213225"/>
            <a:ext cx="895350" cy="503238"/>
          </a:xfrm>
          <a:custGeom>
            <a:avLst/>
            <a:gdLst>
              <a:gd name="T0" fmla="*/ 2147483647 w 173"/>
              <a:gd name="T1" fmla="*/ 2147483647 h 95"/>
              <a:gd name="T2" fmla="*/ 2147483647 w 173"/>
              <a:gd name="T3" fmla="*/ 2147483647 h 95"/>
              <a:gd name="T4" fmla="*/ 2147483647 w 173"/>
              <a:gd name="T5" fmla="*/ 2147483647 h 95"/>
              <a:gd name="T6" fmla="*/ 0 w 173"/>
              <a:gd name="T7" fmla="*/ 2147483647 h 95"/>
              <a:gd name="T8" fmla="*/ 0 w 173"/>
              <a:gd name="T9" fmla="*/ 2147483647 h 95"/>
              <a:gd name="T10" fmla="*/ 2147483647 w 173"/>
              <a:gd name="T11" fmla="*/ 0 h 95"/>
              <a:gd name="T12" fmla="*/ 2147483647 w 173"/>
              <a:gd name="T13" fmla="*/ 0 h 95"/>
              <a:gd name="T14" fmla="*/ 2147483647 w 173"/>
              <a:gd name="T15" fmla="*/ 2147483647 h 95"/>
              <a:gd name="T16" fmla="*/ 2147483647 w 173"/>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3"/>
              <a:gd name="T28" fmla="*/ 0 h 95"/>
              <a:gd name="T29" fmla="*/ 173 w 173"/>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3" h="95">
                <a:moveTo>
                  <a:pt x="173" y="79"/>
                </a:moveTo>
                <a:cubicBezTo>
                  <a:pt x="173" y="88"/>
                  <a:pt x="166" y="95"/>
                  <a:pt x="157" y="95"/>
                </a:cubicBezTo>
                <a:cubicBezTo>
                  <a:pt x="16" y="95"/>
                  <a:pt x="16" y="95"/>
                  <a:pt x="16" y="95"/>
                </a:cubicBezTo>
                <a:cubicBezTo>
                  <a:pt x="7" y="95"/>
                  <a:pt x="0" y="88"/>
                  <a:pt x="0" y="79"/>
                </a:cubicBezTo>
                <a:cubicBezTo>
                  <a:pt x="0" y="16"/>
                  <a:pt x="0" y="16"/>
                  <a:pt x="0" y="16"/>
                </a:cubicBezTo>
                <a:cubicBezTo>
                  <a:pt x="0" y="7"/>
                  <a:pt x="7" y="0"/>
                  <a:pt x="16" y="0"/>
                </a:cubicBezTo>
                <a:cubicBezTo>
                  <a:pt x="157" y="0"/>
                  <a:pt x="157" y="0"/>
                  <a:pt x="157" y="0"/>
                </a:cubicBezTo>
                <a:cubicBezTo>
                  <a:pt x="166" y="0"/>
                  <a:pt x="173" y="7"/>
                  <a:pt x="173" y="16"/>
                </a:cubicBezTo>
                <a:lnTo>
                  <a:pt x="173" y="79"/>
                </a:lnTo>
                <a:close/>
              </a:path>
            </a:pathLst>
          </a:custGeom>
          <a:solidFill>
            <a:srgbClr val="D7E2E0"/>
          </a:solidFill>
          <a:ln w="9525">
            <a:noFill/>
            <a:round/>
            <a:headEnd/>
            <a:tailEnd/>
          </a:ln>
        </p:spPr>
        <p:txBody>
          <a:bodyPr/>
          <a:lstStyle/>
          <a:p>
            <a:endParaRPr lang="en-US"/>
          </a:p>
        </p:txBody>
      </p:sp>
      <p:sp>
        <p:nvSpPr>
          <p:cNvPr id="214064" name="Freeform 48"/>
          <p:cNvSpPr>
            <a:spLocks/>
          </p:cNvSpPr>
          <p:nvPr/>
        </p:nvSpPr>
        <p:spPr bwMode="auto">
          <a:xfrm>
            <a:off x="1331913" y="1268413"/>
            <a:ext cx="5513387" cy="4298950"/>
          </a:xfrm>
          <a:custGeom>
            <a:avLst/>
            <a:gdLst>
              <a:gd name="T0" fmla="*/ 2147483647 w 2506"/>
              <a:gd name="T1" fmla="*/ 2147483647 h 1833"/>
              <a:gd name="T2" fmla="*/ 0 w 2506"/>
              <a:gd name="T3" fmla="*/ 2147483647 h 1833"/>
              <a:gd name="T4" fmla="*/ 0 w 2506"/>
              <a:gd name="T5" fmla="*/ 0 h 1833"/>
              <a:gd name="T6" fmla="*/ 0 60000 65536"/>
              <a:gd name="T7" fmla="*/ 0 60000 65536"/>
              <a:gd name="T8" fmla="*/ 0 60000 65536"/>
              <a:gd name="T9" fmla="*/ 0 w 2506"/>
              <a:gd name="T10" fmla="*/ 0 h 1833"/>
              <a:gd name="T11" fmla="*/ 2506 w 2506"/>
              <a:gd name="T12" fmla="*/ 1833 h 1833"/>
            </a:gdLst>
            <a:ahLst/>
            <a:cxnLst>
              <a:cxn ang="T6">
                <a:pos x="T0" y="T1"/>
              </a:cxn>
              <a:cxn ang="T7">
                <a:pos x="T2" y="T3"/>
              </a:cxn>
              <a:cxn ang="T8">
                <a:pos x="T4" y="T5"/>
              </a:cxn>
            </a:cxnLst>
            <a:rect l="T9" t="T10" r="T11" b="T12"/>
            <a:pathLst>
              <a:path w="2506" h="1833">
                <a:moveTo>
                  <a:pt x="2506" y="1833"/>
                </a:moveTo>
                <a:lnTo>
                  <a:pt x="0" y="1833"/>
                </a:lnTo>
                <a:lnTo>
                  <a:pt x="0" y="0"/>
                </a:lnTo>
              </a:path>
            </a:pathLst>
          </a:custGeom>
          <a:noFill/>
          <a:ln w="6350">
            <a:solidFill>
              <a:srgbClr val="000000"/>
            </a:solidFill>
            <a:miter lim="800000"/>
            <a:headEnd/>
            <a:tailEnd/>
          </a:ln>
        </p:spPr>
        <p:txBody>
          <a:bodyPr/>
          <a:lstStyle/>
          <a:p>
            <a:endParaRPr lang="en-US"/>
          </a:p>
        </p:txBody>
      </p:sp>
      <p:sp>
        <p:nvSpPr>
          <p:cNvPr id="214065" name="Line 49"/>
          <p:cNvSpPr>
            <a:spLocks noChangeShapeType="1"/>
          </p:cNvSpPr>
          <p:nvPr/>
        </p:nvSpPr>
        <p:spPr bwMode="auto">
          <a:xfrm flipV="1">
            <a:off x="1358900" y="4387850"/>
            <a:ext cx="0" cy="1179513"/>
          </a:xfrm>
          <a:prstGeom prst="line">
            <a:avLst/>
          </a:prstGeom>
          <a:noFill/>
          <a:ln w="30163">
            <a:solidFill>
              <a:srgbClr val="F3716D"/>
            </a:solidFill>
            <a:miter lim="800000"/>
            <a:headEnd/>
            <a:tailEnd/>
          </a:ln>
        </p:spPr>
        <p:txBody>
          <a:bodyPr/>
          <a:lstStyle/>
          <a:p>
            <a:endParaRPr lang="en-US"/>
          </a:p>
        </p:txBody>
      </p:sp>
      <p:sp>
        <p:nvSpPr>
          <p:cNvPr id="214066" name="Line 50"/>
          <p:cNvSpPr>
            <a:spLocks noChangeShapeType="1"/>
          </p:cNvSpPr>
          <p:nvPr/>
        </p:nvSpPr>
        <p:spPr bwMode="auto">
          <a:xfrm flipH="1" flipV="1">
            <a:off x="4430713" y="2344738"/>
            <a:ext cx="527050" cy="877887"/>
          </a:xfrm>
          <a:prstGeom prst="line">
            <a:avLst/>
          </a:prstGeom>
          <a:noFill/>
          <a:ln w="6350">
            <a:solidFill>
              <a:srgbClr val="000000"/>
            </a:solidFill>
            <a:miter lim="800000"/>
            <a:headEnd/>
            <a:tailEnd/>
          </a:ln>
        </p:spPr>
        <p:txBody>
          <a:bodyPr/>
          <a:lstStyle/>
          <a:p>
            <a:endParaRPr lang="en-US"/>
          </a:p>
        </p:txBody>
      </p:sp>
      <p:sp>
        <p:nvSpPr>
          <p:cNvPr id="214067" name="Freeform 51"/>
          <p:cNvSpPr>
            <a:spLocks/>
          </p:cNvSpPr>
          <p:nvPr/>
        </p:nvSpPr>
        <p:spPr bwMode="auto">
          <a:xfrm>
            <a:off x="3635375" y="1616075"/>
            <a:ext cx="1054100" cy="876300"/>
          </a:xfrm>
          <a:custGeom>
            <a:avLst/>
            <a:gdLst>
              <a:gd name="T0" fmla="*/ 2147483647 w 196"/>
              <a:gd name="T1" fmla="*/ 2147483647 h 134"/>
              <a:gd name="T2" fmla="*/ 2147483647 w 196"/>
              <a:gd name="T3" fmla="*/ 2147483647 h 134"/>
              <a:gd name="T4" fmla="*/ 2147483647 w 196"/>
              <a:gd name="T5" fmla="*/ 2147483647 h 134"/>
              <a:gd name="T6" fmla="*/ 0 w 196"/>
              <a:gd name="T7" fmla="*/ 2147483647 h 134"/>
              <a:gd name="T8" fmla="*/ 0 w 196"/>
              <a:gd name="T9" fmla="*/ 2147483647 h 134"/>
              <a:gd name="T10" fmla="*/ 2147483647 w 196"/>
              <a:gd name="T11" fmla="*/ 0 h 134"/>
              <a:gd name="T12" fmla="*/ 2147483647 w 196"/>
              <a:gd name="T13" fmla="*/ 0 h 134"/>
              <a:gd name="T14" fmla="*/ 2147483647 w 196"/>
              <a:gd name="T15" fmla="*/ 2147483647 h 134"/>
              <a:gd name="T16" fmla="*/ 2147483647 w 196"/>
              <a:gd name="T17" fmla="*/ 2147483647 h 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
              <a:gd name="T28" fmla="*/ 0 h 134"/>
              <a:gd name="T29" fmla="*/ 196 w 196"/>
              <a:gd name="T30" fmla="*/ 134 h 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 h="134">
                <a:moveTo>
                  <a:pt x="196" y="118"/>
                </a:moveTo>
                <a:cubicBezTo>
                  <a:pt x="196" y="127"/>
                  <a:pt x="188" y="134"/>
                  <a:pt x="180" y="134"/>
                </a:cubicBezTo>
                <a:cubicBezTo>
                  <a:pt x="16" y="134"/>
                  <a:pt x="16" y="134"/>
                  <a:pt x="16" y="134"/>
                </a:cubicBezTo>
                <a:cubicBezTo>
                  <a:pt x="7" y="134"/>
                  <a:pt x="0" y="127"/>
                  <a:pt x="0" y="118"/>
                </a:cubicBezTo>
                <a:cubicBezTo>
                  <a:pt x="0" y="16"/>
                  <a:pt x="0" y="16"/>
                  <a:pt x="0" y="16"/>
                </a:cubicBezTo>
                <a:cubicBezTo>
                  <a:pt x="0" y="8"/>
                  <a:pt x="7" y="0"/>
                  <a:pt x="16" y="0"/>
                </a:cubicBezTo>
                <a:cubicBezTo>
                  <a:pt x="180" y="0"/>
                  <a:pt x="180" y="0"/>
                  <a:pt x="180" y="0"/>
                </a:cubicBezTo>
                <a:cubicBezTo>
                  <a:pt x="188" y="0"/>
                  <a:pt x="196" y="8"/>
                  <a:pt x="196" y="16"/>
                </a:cubicBezTo>
                <a:lnTo>
                  <a:pt x="196" y="118"/>
                </a:lnTo>
                <a:close/>
              </a:path>
            </a:pathLst>
          </a:custGeom>
          <a:solidFill>
            <a:srgbClr val="D7E2E0"/>
          </a:solidFill>
          <a:ln w="9525">
            <a:noFill/>
            <a:round/>
            <a:headEnd/>
            <a:tailEnd/>
          </a:ln>
        </p:spPr>
        <p:txBody>
          <a:bodyPr/>
          <a:lstStyle/>
          <a:p>
            <a:endParaRPr lang="en-US"/>
          </a:p>
        </p:txBody>
      </p:sp>
      <p:sp>
        <p:nvSpPr>
          <p:cNvPr id="214068" name="Freeform 52"/>
          <p:cNvSpPr>
            <a:spLocks/>
          </p:cNvSpPr>
          <p:nvPr/>
        </p:nvSpPr>
        <p:spPr bwMode="auto">
          <a:xfrm>
            <a:off x="2076450" y="3703638"/>
            <a:ext cx="3935413" cy="733425"/>
          </a:xfrm>
          <a:custGeom>
            <a:avLst/>
            <a:gdLst>
              <a:gd name="T0" fmla="*/ 0 w 761"/>
              <a:gd name="T1" fmla="*/ 0 h 131"/>
              <a:gd name="T2" fmla="*/ 2147483647 w 761"/>
              <a:gd name="T3" fmla="*/ 2147483647 h 131"/>
              <a:gd name="T4" fmla="*/ 2147483647 w 761"/>
              <a:gd name="T5" fmla="*/ 2147483647 h 131"/>
              <a:gd name="T6" fmla="*/ 2147483647 w 761"/>
              <a:gd name="T7" fmla="*/ 2147483647 h 131"/>
              <a:gd name="T8" fmla="*/ 0 60000 65536"/>
              <a:gd name="T9" fmla="*/ 0 60000 65536"/>
              <a:gd name="T10" fmla="*/ 0 60000 65536"/>
              <a:gd name="T11" fmla="*/ 0 60000 65536"/>
              <a:gd name="T12" fmla="*/ 0 w 761"/>
              <a:gd name="T13" fmla="*/ 0 h 131"/>
              <a:gd name="T14" fmla="*/ 761 w 761"/>
              <a:gd name="T15" fmla="*/ 131 h 131"/>
            </a:gdLst>
            <a:ahLst/>
            <a:cxnLst>
              <a:cxn ang="T8">
                <a:pos x="T0" y="T1"/>
              </a:cxn>
              <a:cxn ang="T9">
                <a:pos x="T2" y="T3"/>
              </a:cxn>
              <a:cxn ang="T10">
                <a:pos x="T4" y="T5"/>
              </a:cxn>
              <a:cxn ang="T11">
                <a:pos x="T6" y="T7"/>
              </a:cxn>
            </a:cxnLst>
            <a:rect l="T12" t="T13" r="T14" b="T15"/>
            <a:pathLst>
              <a:path w="761" h="131">
                <a:moveTo>
                  <a:pt x="0" y="0"/>
                </a:moveTo>
                <a:cubicBezTo>
                  <a:pt x="0" y="0"/>
                  <a:pt x="75" y="131"/>
                  <a:pt x="253" y="125"/>
                </a:cubicBezTo>
                <a:cubicBezTo>
                  <a:pt x="432" y="120"/>
                  <a:pt x="634" y="63"/>
                  <a:pt x="634" y="63"/>
                </a:cubicBezTo>
                <a:cubicBezTo>
                  <a:pt x="761" y="30"/>
                  <a:pt x="761" y="30"/>
                  <a:pt x="761" y="30"/>
                </a:cubicBezTo>
              </a:path>
            </a:pathLst>
          </a:custGeom>
          <a:noFill/>
          <a:ln w="30163">
            <a:solidFill>
              <a:srgbClr val="8C64AB"/>
            </a:solidFill>
            <a:miter lim="800000"/>
            <a:headEnd/>
            <a:tailEnd/>
          </a:ln>
        </p:spPr>
        <p:txBody>
          <a:bodyPr/>
          <a:lstStyle/>
          <a:p>
            <a:endParaRPr lang="en-US"/>
          </a:p>
        </p:txBody>
      </p:sp>
      <p:sp>
        <p:nvSpPr>
          <p:cNvPr id="214069" name="Oval 53"/>
          <p:cNvSpPr>
            <a:spLocks noChangeArrowheads="1"/>
          </p:cNvSpPr>
          <p:nvPr/>
        </p:nvSpPr>
        <p:spPr bwMode="auto">
          <a:xfrm>
            <a:off x="3271838" y="4333875"/>
            <a:ext cx="103187" cy="111125"/>
          </a:xfrm>
          <a:prstGeom prst="ellipse">
            <a:avLst/>
          </a:prstGeom>
          <a:solidFill>
            <a:srgbClr val="000000"/>
          </a:solidFill>
          <a:ln w="9525">
            <a:noFill/>
            <a:round/>
            <a:headEnd/>
            <a:tailEnd/>
          </a:ln>
        </p:spPr>
        <p:txBody>
          <a:bodyPr/>
          <a:lstStyle/>
          <a:p>
            <a:endParaRPr lang="en-US"/>
          </a:p>
        </p:txBody>
      </p:sp>
      <p:sp>
        <p:nvSpPr>
          <p:cNvPr id="214070" name="Line 54"/>
          <p:cNvSpPr>
            <a:spLocks noChangeShapeType="1"/>
          </p:cNvSpPr>
          <p:nvPr/>
        </p:nvSpPr>
        <p:spPr bwMode="auto">
          <a:xfrm>
            <a:off x="3386138" y="4411663"/>
            <a:ext cx="1711325" cy="309562"/>
          </a:xfrm>
          <a:prstGeom prst="line">
            <a:avLst/>
          </a:prstGeom>
          <a:noFill/>
          <a:ln w="6350">
            <a:solidFill>
              <a:srgbClr val="000000"/>
            </a:solidFill>
            <a:miter lim="800000"/>
            <a:headEnd/>
            <a:tailEnd/>
          </a:ln>
        </p:spPr>
        <p:txBody>
          <a:bodyPr/>
          <a:lstStyle/>
          <a:p>
            <a:endParaRPr lang="en-US"/>
          </a:p>
        </p:txBody>
      </p:sp>
      <p:sp>
        <p:nvSpPr>
          <p:cNvPr id="214071" name="Freeform 55"/>
          <p:cNvSpPr>
            <a:spLocks/>
          </p:cNvSpPr>
          <p:nvPr/>
        </p:nvSpPr>
        <p:spPr bwMode="auto">
          <a:xfrm>
            <a:off x="5003800" y="4495800"/>
            <a:ext cx="1506538" cy="733425"/>
          </a:xfrm>
          <a:custGeom>
            <a:avLst/>
            <a:gdLst>
              <a:gd name="T0" fmla="*/ 2147483647 w 272"/>
              <a:gd name="T1" fmla="*/ 2147483647 h 95"/>
              <a:gd name="T2" fmla="*/ 2147483647 w 272"/>
              <a:gd name="T3" fmla="*/ 2147483647 h 95"/>
              <a:gd name="T4" fmla="*/ 2147483647 w 272"/>
              <a:gd name="T5" fmla="*/ 2147483647 h 95"/>
              <a:gd name="T6" fmla="*/ 0 w 272"/>
              <a:gd name="T7" fmla="*/ 2147483647 h 95"/>
              <a:gd name="T8" fmla="*/ 0 w 272"/>
              <a:gd name="T9" fmla="*/ 2147483647 h 95"/>
              <a:gd name="T10" fmla="*/ 2147483647 w 272"/>
              <a:gd name="T11" fmla="*/ 0 h 95"/>
              <a:gd name="T12" fmla="*/ 2147483647 w 272"/>
              <a:gd name="T13" fmla="*/ 0 h 95"/>
              <a:gd name="T14" fmla="*/ 2147483647 w 272"/>
              <a:gd name="T15" fmla="*/ 2147483647 h 95"/>
              <a:gd name="T16" fmla="*/ 2147483647 w 272"/>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2"/>
              <a:gd name="T28" fmla="*/ 0 h 95"/>
              <a:gd name="T29" fmla="*/ 272 w 272"/>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2" h="95">
                <a:moveTo>
                  <a:pt x="272" y="79"/>
                </a:moveTo>
                <a:cubicBezTo>
                  <a:pt x="272" y="88"/>
                  <a:pt x="264" y="95"/>
                  <a:pt x="256" y="95"/>
                </a:cubicBezTo>
                <a:cubicBezTo>
                  <a:pt x="16" y="95"/>
                  <a:pt x="16" y="95"/>
                  <a:pt x="16" y="95"/>
                </a:cubicBezTo>
                <a:cubicBezTo>
                  <a:pt x="7" y="95"/>
                  <a:pt x="0" y="88"/>
                  <a:pt x="0" y="79"/>
                </a:cubicBezTo>
                <a:cubicBezTo>
                  <a:pt x="0" y="16"/>
                  <a:pt x="0" y="16"/>
                  <a:pt x="0" y="16"/>
                </a:cubicBezTo>
                <a:cubicBezTo>
                  <a:pt x="0" y="7"/>
                  <a:pt x="7" y="0"/>
                  <a:pt x="16" y="0"/>
                </a:cubicBezTo>
                <a:cubicBezTo>
                  <a:pt x="256" y="0"/>
                  <a:pt x="256" y="0"/>
                  <a:pt x="256" y="0"/>
                </a:cubicBezTo>
                <a:cubicBezTo>
                  <a:pt x="264" y="0"/>
                  <a:pt x="272" y="7"/>
                  <a:pt x="272" y="16"/>
                </a:cubicBezTo>
                <a:lnTo>
                  <a:pt x="272" y="79"/>
                </a:lnTo>
                <a:close/>
              </a:path>
            </a:pathLst>
          </a:custGeom>
          <a:solidFill>
            <a:srgbClr val="D7E2E0"/>
          </a:solidFill>
          <a:ln w="9525">
            <a:noFill/>
            <a:round/>
            <a:headEnd/>
            <a:tailEnd/>
          </a:ln>
        </p:spPr>
        <p:txBody>
          <a:bodyPr/>
          <a:lstStyle/>
          <a:p>
            <a:endParaRPr lang="en-US"/>
          </a:p>
        </p:txBody>
      </p:sp>
      <p:sp>
        <p:nvSpPr>
          <p:cNvPr id="214072" name="Line 56"/>
          <p:cNvSpPr>
            <a:spLocks noChangeShapeType="1"/>
          </p:cNvSpPr>
          <p:nvPr/>
        </p:nvSpPr>
        <p:spPr bwMode="auto">
          <a:xfrm flipV="1">
            <a:off x="3656013" y="5434013"/>
            <a:ext cx="0" cy="133350"/>
          </a:xfrm>
          <a:prstGeom prst="line">
            <a:avLst/>
          </a:prstGeom>
          <a:noFill/>
          <a:ln w="6350">
            <a:solidFill>
              <a:srgbClr val="000000"/>
            </a:solidFill>
            <a:miter lim="800000"/>
            <a:headEnd/>
            <a:tailEnd/>
          </a:ln>
        </p:spPr>
        <p:txBody>
          <a:bodyPr/>
          <a:lstStyle/>
          <a:p>
            <a:endParaRPr lang="en-US"/>
          </a:p>
        </p:txBody>
      </p:sp>
      <p:sp>
        <p:nvSpPr>
          <p:cNvPr id="214073" name="Rectangle 57"/>
          <p:cNvSpPr>
            <a:spLocks noChangeArrowheads="1"/>
          </p:cNvSpPr>
          <p:nvPr/>
        </p:nvSpPr>
        <p:spPr bwMode="auto">
          <a:xfrm>
            <a:off x="5105400" y="4532313"/>
            <a:ext cx="1365250"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Minimum average variable cost</a:t>
            </a:r>
            <a:endParaRPr lang="en-US" sz="1400">
              <a:latin typeface="Tahoma" pitchFamily="34" charset="0"/>
            </a:endParaRPr>
          </a:p>
        </p:txBody>
      </p:sp>
      <p:sp>
        <p:nvSpPr>
          <p:cNvPr id="214074" name="Rectangle 58"/>
          <p:cNvSpPr>
            <a:spLocks noChangeArrowheads="1"/>
          </p:cNvSpPr>
          <p:nvPr/>
        </p:nvSpPr>
        <p:spPr bwMode="auto">
          <a:xfrm>
            <a:off x="3752850" y="1619250"/>
            <a:ext cx="841375"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Short-run individual supply curve</a:t>
            </a:r>
            <a:endParaRPr lang="en-US" sz="1400">
              <a:latin typeface="Tahoma" pitchFamily="34" charset="0"/>
            </a:endParaRPr>
          </a:p>
        </p:txBody>
      </p:sp>
      <p:sp>
        <p:nvSpPr>
          <p:cNvPr id="214075" name="Rectangle 59"/>
          <p:cNvSpPr>
            <a:spLocks noChangeArrowheads="1"/>
          </p:cNvSpPr>
          <p:nvPr/>
        </p:nvSpPr>
        <p:spPr bwMode="auto">
          <a:xfrm>
            <a:off x="20638" y="4257675"/>
            <a:ext cx="900112" cy="42545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Shut-down</a:t>
            </a:r>
            <a:r>
              <a:rPr lang="en-US" sz="1400" b="1">
                <a:solidFill>
                  <a:srgbClr val="000000"/>
                </a:solidFill>
                <a:latin typeface="Myriad Pro"/>
              </a:rPr>
              <a:t> </a:t>
            </a:r>
            <a:r>
              <a:rPr lang="en-US" sz="1400">
                <a:solidFill>
                  <a:srgbClr val="000000"/>
                </a:solidFill>
                <a:latin typeface="Myriad Pro"/>
              </a:rPr>
              <a:t>price</a:t>
            </a:r>
            <a:endParaRPr lang="en-US" sz="1400">
              <a:latin typeface="Tahoma" pitchFamily="34" charset="0"/>
            </a:endParaRPr>
          </a:p>
        </p:txBody>
      </p:sp>
      <p:sp>
        <p:nvSpPr>
          <p:cNvPr id="214076" name="Rectangle 60"/>
          <p:cNvSpPr>
            <a:spLocks noChangeArrowheads="1"/>
          </p:cNvSpPr>
          <p:nvPr/>
        </p:nvSpPr>
        <p:spPr bwMode="auto">
          <a:xfrm>
            <a:off x="827088" y="836613"/>
            <a:ext cx="944562"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214077" name="Rectangle 61"/>
          <p:cNvSpPr>
            <a:spLocks noChangeArrowheads="1"/>
          </p:cNvSpPr>
          <p:nvPr/>
        </p:nvSpPr>
        <p:spPr bwMode="auto">
          <a:xfrm>
            <a:off x="4344988" y="5845175"/>
            <a:ext cx="2513012"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pic>
        <p:nvPicPr>
          <p:cNvPr id="214078" name="Picture 62"/>
          <p:cNvPicPr>
            <a:picLocks noChangeAspect="1" noChangeArrowheads="1"/>
          </p:cNvPicPr>
          <p:nvPr/>
        </p:nvPicPr>
        <p:blipFill>
          <a:blip r:embed="rId3"/>
          <a:srcRect/>
          <a:stretch>
            <a:fillRect/>
          </a:stretch>
        </p:blipFill>
        <p:spPr bwMode="auto">
          <a:xfrm>
            <a:off x="1341438" y="4378325"/>
            <a:ext cx="1939925" cy="50800"/>
          </a:xfrm>
          <a:prstGeom prst="rect">
            <a:avLst/>
          </a:prstGeom>
          <a:noFill/>
          <a:ln w="9525" algn="ctr">
            <a:noFill/>
            <a:miter lim="800000"/>
            <a:headEnd/>
            <a:tailEnd type="none" w="med" len="lg"/>
          </a:ln>
        </p:spPr>
      </p:pic>
      <p:cxnSp>
        <p:nvCxnSpPr>
          <p:cNvPr id="548914" name="Straight Connector 86"/>
          <p:cNvCxnSpPr>
            <a:cxnSpLocks noChangeShapeType="1"/>
          </p:cNvCxnSpPr>
          <p:nvPr/>
        </p:nvCxnSpPr>
        <p:spPr bwMode="auto">
          <a:xfrm>
            <a:off x="3652838" y="4179888"/>
            <a:ext cx="0" cy="1296987"/>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3338513" y="4421188"/>
            <a:ext cx="0" cy="1055687"/>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3981450" y="3979863"/>
            <a:ext cx="0" cy="1497012"/>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4638675" y="3524250"/>
            <a:ext cx="0" cy="1952625"/>
          </a:xfrm>
          <a:prstGeom prst="line">
            <a:avLst/>
          </a:prstGeom>
          <a:noFill/>
          <a:ln w="15875">
            <a:solidFill>
              <a:srgbClr val="808080"/>
            </a:solidFill>
            <a:prstDash val="sysDot"/>
            <a:round/>
            <a:headEnd/>
            <a:tailEnd type="none" w="med" len="lg"/>
          </a:ln>
        </p:spPr>
      </p:cxnSp>
      <p:cxnSp>
        <p:nvCxnSpPr>
          <p:cNvPr id="5" name="Straight Connector 86"/>
          <p:cNvCxnSpPr>
            <a:cxnSpLocks noChangeShapeType="1"/>
          </p:cNvCxnSpPr>
          <p:nvPr/>
        </p:nvCxnSpPr>
        <p:spPr bwMode="auto">
          <a:xfrm>
            <a:off x="1473200" y="4151313"/>
            <a:ext cx="2114550" cy="0"/>
          </a:xfrm>
          <a:prstGeom prst="line">
            <a:avLst/>
          </a:prstGeom>
          <a:noFill/>
          <a:ln w="15875">
            <a:solidFill>
              <a:srgbClr val="808080"/>
            </a:solidFill>
            <a:prstDash val="sysDot"/>
            <a:round/>
            <a:headEnd/>
            <a:tailEnd type="none" w="med" len="lg"/>
          </a:ln>
        </p:spPr>
      </p:cxnSp>
      <p:cxnSp>
        <p:nvCxnSpPr>
          <p:cNvPr id="6" name="Straight Connector 86"/>
          <p:cNvCxnSpPr>
            <a:cxnSpLocks noChangeShapeType="1"/>
          </p:cNvCxnSpPr>
          <p:nvPr/>
        </p:nvCxnSpPr>
        <p:spPr bwMode="auto">
          <a:xfrm>
            <a:off x="1500188" y="3922713"/>
            <a:ext cx="2428875" cy="0"/>
          </a:xfrm>
          <a:prstGeom prst="line">
            <a:avLst/>
          </a:prstGeom>
          <a:noFill/>
          <a:ln w="15875">
            <a:solidFill>
              <a:srgbClr val="808080"/>
            </a:solidFill>
            <a:prstDash val="sysDot"/>
            <a:round/>
            <a:headEnd/>
            <a:tailEnd type="none" w="med" len="lg"/>
          </a:ln>
        </p:spPr>
      </p:cxnSp>
      <p:cxnSp>
        <p:nvCxnSpPr>
          <p:cNvPr id="7" name="Straight Connector 86"/>
          <p:cNvCxnSpPr>
            <a:cxnSpLocks noChangeShapeType="1"/>
          </p:cNvCxnSpPr>
          <p:nvPr/>
        </p:nvCxnSpPr>
        <p:spPr bwMode="auto">
          <a:xfrm>
            <a:off x="1500188" y="3452813"/>
            <a:ext cx="3098800" cy="0"/>
          </a:xfrm>
          <a:prstGeom prst="line">
            <a:avLst/>
          </a:prstGeom>
          <a:noFill/>
          <a:ln w="15875">
            <a:solidFill>
              <a:srgbClr val="808080"/>
            </a:solidFill>
            <a:prstDash val="sysDot"/>
            <a:round/>
            <a:headEnd/>
            <a:tailEnd type="none" w="med" len="lg"/>
          </a:ln>
        </p:spPr>
      </p:cxnSp>
      <p:sp>
        <p:nvSpPr>
          <p:cNvPr id="210012" name="Freeform 92"/>
          <p:cNvSpPr>
            <a:spLocks/>
          </p:cNvSpPr>
          <p:nvPr/>
        </p:nvSpPr>
        <p:spPr bwMode="auto">
          <a:xfrm>
            <a:off x="404813" y="3397250"/>
            <a:ext cx="527050" cy="650875"/>
          </a:xfrm>
          <a:custGeom>
            <a:avLst/>
            <a:gdLst>
              <a:gd name="T0" fmla="*/ 2147483647 w 109"/>
              <a:gd name="T1" fmla="*/ 2147483647 h 127"/>
              <a:gd name="T2" fmla="*/ 2147483647 w 109"/>
              <a:gd name="T3" fmla="*/ 2147483647 h 127"/>
              <a:gd name="T4" fmla="*/ 2147483647 w 109"/>
              <a:gd name="T5" fmla="*/ 2147483647 h 127"/>
              <a:gd name="T6" fmla="*/ 0 w 109"/>
              <a:gd name="T7" fmla="*/ 2147483647 h 127"/>
              <a:gd name="T8" fmla="*/ 0 w 109"/>
              <a:gd name="T9" fmla="*/ 2147483647 h 127"/>
              <a:gd name="T10" fmla="*/ 2147483647 w 109"/>
              <a:gd name="T11" fmla="*/ 0 h 127"/>
              <a:gd name="T12" fmla="*/ 2147483647 w 109"/>
              <a:gd name="T13" fmla="*/ 0 h 127"/>
              <a:gd name="T14" fmla="*/ 2147483647 w 109"/>
              <a:gd name="T15" fmla="*/ 2147483647 h 127"/>
              <a:gd name="T16" fmla="*/ 2147483647 w 109"/>
              <a:gd name="T17" fmla="*/ 2147483647 h 1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9"/>
              <a:gd name="T28" fmla="*/ 0 h 127"/>
              <a:gd name="T29" fmla="*/ 109 w 109"/>
              <a:gd name="T30" fmla="*/ 127 h 1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9" h="127">
                <a:moveTo>
                  <a:pt x="109" y="106"/>
                </a:moveTo>
                <a:cubicBezTo>
                  <a:pt x="109" y="117"/>
                  <a:pt x="105" y="127"/>
                  <a:pt x="99" y="127"/>
                </a:cubicBezTo>
                <a:cubicBezTo>
                  <a:pt x="10" y="127"/>
                  <a:pt x="10" y="127"/>
                  <a:pt x="10" y="127"/>
                </a:cubicBezTo>
                <a:cubicBezTo>
                  <a:pt x="5" y="127"/>
                  <a:pt x="0" y="117"/>
                  <a:pt x="0" y="106"/>
                </a:cubicBezTo>
                <a:cubicBezTo>
                  <a:pt x="0" y="22"/>
                  <a:pt x="0" y="22"/>
                  <a:pt x="0" y="22"/>
                </a:cubicBezTo>
                <a:cubicBezTo>
                  <a:pt x="0" y="10"/>
                  <a:pt x="5" y="0"/>
                  <a:pt x="10" y="0"/>
                </a:cubicBezTo>
                <a:cubicBezTo>
                  <a:pt x="99" y="0"/>
                  <a:pt x="99" y="0"/>
                  <a:pt x="99" y="0"/>
                </a:cubicBezTo>
                <a:cubicBezTo>
                  <a:pt x="105" y="0"/>
                  <a:pt x="109" y="10"/>
                  <a:pt x="109" y="22"/>
                </a:cubicBezTo>
                <a:lnTo>
                  <a:pt x="109" y="106"/>
                </a:lnTo>
                <a:close/>
              </a:path>
            </a:pathLst>
          </a:custGeom>
          <a:solidFill>
            <a:srgbClr val="D7E2E0"/>
          </a:solidFill>
          <a:ln w="9525">
            <a:noFill/>
            <a:round/>
            <a:headEnd/>
            <a:tailEnd/>
          </a:ln>
        </p:spPr>
        <p:txBody>
          <a:bodyPr/>
          <a:lstStyle/>
          <a:p>
            <a:endParaRPr lang="en-US"/>
          </a:p>
        </p:txBody>
      </p:sp>
      <p:sp>
        <p:nvSpPr>
          <p:cNvPr id="210024" name="Rectangle 104"/>
          <p:cNvSpPr>
            <a:spLocks noChangeArrowheads="1"/>
          </p:cNvSpPr>
          <p:nvPr/>
        </p:nvSpPr>
        <p:spPr bwMode="auto">
          <a:xfrm>
            <a:off x="358775" y="3392488"/>
            <a:ext cx="606425" cy="63817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Break even price</a:t>
            </a:r>
            <a:endParaRPr lang="en-US" sz="1400">
              <a:latin typeface="Tahoma" pitchFamily="34" charset="0"/>
            </a:endParaRPr>
          </a:p>
        </p:txBody>
      </p:sp>
      <p:sp>
        <p:nvSpPr>
          <p:cNvPr id="8" name="Line 46"/>
          <p:cNvSpPr>
            <a:spLocks noChangeShapeType="1"/>
          </p:cNvSpPr>
          <p:nvPr/>
        </p:nvSpPr>
        <p:spPr bwMode="auto">
          <a:xfrm>
            <a:off x="900113" y="3933825"/>
            <a:ext cx="174625" cy="0"/>
          </a:xfrm>
          <a:prstGeom prst="line">
            <a:avLst/>
          </a:prstGeom>
          <a:noFill/>
          <a:ln w="6350">
            <a:solidFill>
              <a:srgbClr val="000000"/>
            </a:solidFill>
            <a:miter lim="800000"/>
            <a:headEnd/>
            <a:tailEnd/>
          </a:ln>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0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40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40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40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40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40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40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40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40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40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407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40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40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40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40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40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40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40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40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40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403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403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40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1403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403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1404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407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1407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4064"/>
                                        </p:tgtEl>
                                        <p:attrNameLst>
                                          <p:attrName>style.visibility</p:attrName>
                                        </p:attrNameLst>
                                      </p:cBhvr>
                                      <p:to>
                                        <p:strVal val="visible"/>
                                      </p:to>
                                    </p:set>
                                  </p:childTnLst>
                                </p:cTn>
                              </p:par>
                              <p:par>
                                <p:cTn id="63" presetID="22" presetClass="entr" presetSubtype="8" fill="hold" grpId="0" nodeType="withEffect">
                                  <p:stCondLst>
                                    <p:cond delay="0"/>
                                  </p:stCondLst>
                                  <p:childTnLst>
                                    <p:set>
                                      <p:cBhvr>
                                        <p:cTn id="64" dur="1" fill="hold">
                                          <p:stCondLst>
                                            <p:cond delay="0"/>
                                          </p:stCondLst>
                                        </p:cTn>
                                        <p:tgtEl>
                                          <p:spTgt spid="214022"/>
                                        </p:tgtEl>
                                        <p:attrNameLst>
                                          <p:attrName>style.visibility</p:attrName>
                                        </p:attrNameLst>
                                      </p:cBhvr>
                                      <p:to>
                                        <p:strVal val="visible"/>
                                      </p:to>
                                    </p:set>
                                    <p:animEffect transition="in" filter="wipe(left)">
                                      <p:cBhvr>
                                        <p:cTn id="65" dur="500"/>
                                        <p:tgtEl>
                                          <p:spTgt spid="214022"/>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1404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1404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14050"/>
                                        </p:tgtEl>
                                        <p:attrNameLst>
                                          <p:attrName>style.visibility</p:attrName>
                                        </p:attrNameLst>
                                      </p:cBhvr>
                                      <p:to>
                                        <p:strVal val="visible"/>
                                      </p:to>
                                    </p:set>
                                  </p:childTnLst>
                                </p:cTn>
                              </p:par>
                              <p:par>
                                <p:cTn id="73" presetID="22" presetClass="entr" presetSubtype="8" fill="hold" grpId="0" nodeType="withEffect">
                                  <p:stCondLst>
                                    <p:cond delay="0"/>
                                  </p:stCondLst>
                                  <p:childTnLst>
                                    <p:set>
                                      <p:cBhvr>
                                        <p:cTn id="74" dur="1" fill="hold">
                                          <p:stCondLst>
                                            <p:cond delay="0"/>
                                          </p:stCondLst>
                                        </p:cTn>
                                        <p:tgtEl>
                                          <p:spTgt spid="214068"/>
                                        </p:tgtEl>
                                        <p:attrNameLst>
                                          <p:attrName>style.visibility</p:attrName>
                                        </p:attrNameLst>
                                      </p:cBhvr>
                                      <p:to>
                                        <p:strVal val="visible"/>
                                      </p:to>
                                    </p:set>
                                    <p:animEffect transition="in" filter="wipe(left)">
                                      <p:cBhvr>
                                        <p:cTn id="75" dur="500"/>
                                        <p:tgtEl>
                                          <p:spTgt spid="214068"/>
                                        </p:tgtEl>
                                      </p:cBhvr>
                                    </p:animEffect>
                                  </p:childTnLst>
                                </p:cTn>
                              </p:par>
                            </p:childTnLst>
                          </p:cTn>
                        </p:par>
                        <p:par>
                          <p:cTn id="76" fill="hold">
                            <p:stCondLst>
                              <p:cond delay="1000"/>
                            </p:stCondLst>
                            <p:childTnLst>
                              <p:par>
                                <p:cTn id="77" presetID="1" presetClass="entr" presetSubtype="0" fill="hold" nodeType="afterEffect">
                                  <p:stCondLst>
                                    <p:cond delay="0"/>
                                  </p:stCondLst>
                                  <p:childTnLst>
                                    <p:set>
                                      <p:cBhvr>
                                        <p:cTn id="78" dur="1" fill="hold">
                                          <p:stCondLst>
                                            <p:cond delay="0"/>
                                          </p:stCondLst>
                                        </p:cTn>
                                        <p:tgtEl>
                                          <p:spTgt spid="21405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1405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14058"/>
                                        </p:tgtEl>
                                        <p:attrNameLst>
                                          <p:attrName>style.visibility</p:attrName>
                                        </p:attrNameLst>
                                      </p:cBhvr>
                                      <p:to>
                                        <p:strVal val="visible"/>
                                      </p:to>
                                    </p:set>
                                    <p:animEffect transition="in" filter="wipe(left)">
                                      <p:cBhvr>
                                        <p:cTn id="85" dur="500"/>
                                        <p:tgtEl>
                                          <p:spTgt spid="214058"/>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214057"/>
                                        </p:tgtEl>
                                        <p:attrNameLst>
                                          <p:attrName>style.visibility</p:attrName>
                                        </p:attrNameLst>
                                      </p:cBhvr>
                                      <p:to>
                                        <p:strVal val="visible"/>
                                      </p:to>
                                    </p:set>
                                    <p:animEffect transition="in" filter="wipe(left)">
                                      <p:cBhvr>
                                        <p:cTn id="89" dur="500"/>
                                        <p:tgtEl>
                                          <p:spTgt spid="214057"/>
                                        </p:tgtEl>
                                      </p:cBhvr>
                                    </p:animEffect>
                                  </p:childTnLst>
                                </p:cTn>
                              </p:par>
                            </p:childTnLst>
                          </p:cTn>
                        </p:par>
                        <p:par>
                          <p:cTn id="90" fill="hold">
                            <p:stCondLst>
                              <p:cond delay="1000"/>
                            </p:stCondLst>
                            <p:childTnLst>
                              <p:par>
                                <p:cTn id="91" presetID="1" presetClass="entr" presetSubtype="0" fill="hold" nodeType="afterEffect">
                                  <p:stCondLst>
                                    <p:cond delay="0"/>
                                  </p:stCondLst>
                                  <p:childTnLst>
                                    <p:set>
                                      <p:cBhvr>
                                        <p:cTn id="92" dur="1" fill="hold">
                                          <p:stCondLst>
                                            <p:cond delay="0"/>
                                          </p:stCondLst>
                                        </p:cTn>
                                        <p:tgtEl>
                                          <p:spTgt spid="21404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1405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14069"/>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1405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14060"/>
                                        </p:tgtEl>
                                        <p:attrNameLst>
                                          <p:attrName>style.visibility</p:attrName>
                                        </p:attrNameLst>
                                      </p:cBhvr>
                                      <p:to>
                                        <p:strVal val="visible"/>
                                      </p:to>
                                    </p:set>
                                  </p:childTnLst>
                                </p:cTn>
                              </p:par>
                              <p:par>
                                <p:cTn id="103" presetID="22" presetClass="entr" presetSubtype="8" fill="hold" nodeType="withEffect">
                                  <p:stCondLst>
                                    <p:cond delay="0"/>
                                  </p:stCondLst>
                                  <p:childTnLst>
                                    <p:set>
                                      <p:cBhvr>
                                        <p:cTn id="104" dur="1" fill="hold">
                                          <p:stCondLst>
                                            <p:cond delay="0"/>
                                          </p:stCondLst>
                                        </p:cTn>
                                        <p:tgtEl>
                                          <p:spTgt spid="5"/>
                                        </p:tgtEl>
                                        <p:attrNameLst>
                                          <p:attrName>style.visibility</p:attrName>
                                        </p:attrNameLst>
                                      </p:cBhvr>
                                      <p:to>
                                        <p:strVal val="visible"/>
                                      </p:to>
                                    </p:set>
                                    <p:animEffect transition="in" filter="wipe(left)">
                                      <p:cBhvr>
                                        <p:cTn id="105" dur="500"/>
                                        <p:tgtEl>
                                          <p:spTgt spid="5"/>
                                        </p:tgtEl>
                                      </p:cBhvr>
                                    </p:animEffect>
                                  </p:childTnLst>
                                </p:cTn>
                              </p:par>
                              <p:par>
                                <p:cTn id="106" presetID="22" presetClass="entr" presetSubtype="1" fill="hold" nodeType="withEffect">
                                  <p:stCondLst>
                                    <p:cond delay="0"/>
                                  </p:stCondLst>
                                  <p:childTnLst>
                                    <p:set>
                                      <p:cBhvr>
                                        <p:cTn id="107" dur="1" fill="hold">
                                          <p:stCondLst>
                                            <p:cond delay="0"/>
                                          </p:stCondLst>
                                        </p:cTn>
                                        <p:tgtEl>
                                          <p:spTgt spid="2"/>
                                        </p:tgtEl>
                                        <p:attrNameLst>
                                          <p:attrName>style.visibility</p:attrName>
                                        </p:attrNameLst>
                                      </p:cBhvr>
                                      <p:to>
                                        <p:strVal val="visible"/>
                                      </p:to>
                                    </p:set>
                                    <p:animEffect transition="in" filter="wipe(up)">
                                      <p:cBhvr>
                                        <p:cTn id="108" dur="500"/>
                                        <p:tgtEl>
                                          <p:spTgt spid="2"/>
                                        </p:tgtEl>
                                      </p:cBhvr>
                                    </p:animEffect>
                                  </p:childTnLst>
                                </p:cTn>
                              </p:par>
                              <p:par>
                                <p:cTn id="109" presetID="22" presetClass="entr" presetSubtype="1" fill="hold" nodeType="withEffect">
                                  <p:stCondLst>
                                    <p:cond delay="0"/>
                                  </p:stCondLst>
                                  <p:childTnLst>
                                    <p:set>
                                      <p:cBhvr>
                                        <p:cTn id="110" dur="1" fill="hold">
                                          <p:stCondLst>
                                            <p:cond delay="0"/>
                                          </p:stCondLst>
                                        </p:cTn>
                                        <p:tgtEl>
                                          <p:spTgt spid="548914"/>
                                        </p:tgtEl>
                                        <p:attrNameLst>
                                          <p:attrName>style.visibility</p:attrName>
                                        </p:attrNameLst>
                                      </p:cBhvr>
                                      <p:to>
                                        <p:strVal val="visible"/>
                                      </p:to>
                                    </p:set>
                                    <p:animEffect transition="in" filter="wipe(up)">
                                      <p:cBhvr>
                                        <p:cTn id="111" dur="500"/>
                                        <p:tgtEl>
                                          <p:spTgt spid="548914"/>
                                        </p:tgtEl>
                                      </p:cBhvr>
                                    </p:animEffect>
                                  </p:childTnLst>
                                </p:cTn>
                              </p:par>
                              <p:par>
                                <p:cTn id="112" presetID="1" presetClass="entr" presetSubtype="0" fill="hold" nodeType="withEffect">
                                  <p:stCondLst>
                                    <p:cond delay="0"/>
                                  </p:stCondLst>
                                  <p:childTnLst>
                                    <p:set>
                                      <p:cBhvr>
                                        <p:cTn id="113" dur="1" fill="hold">
                                          <p:stCondLst>
                                            <p:cond delay="0"/>
                                          </p:stCondLst>
                                        </p:cTn>
                                        <p:tgtEl>
                                          <p:spTgt spid="214059"/>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214053"/>
                                        </p:tgtEl>
                                        <p:attrNameLst>
                                          <p:attrName>style.visibility</p:attrName>
                                        </p:attrNameLst>
                                      </p:cBhvr>
                                      <p:to>
                                        <p:strVal val="visible"/>
                                      </p:to>
                                    </p:set>
                                  </p:childTnLst>
                                </p:cTn>
                              </p:par>
                              <p:par>
                                <p:cTn id="116" presetID="22" presetClass="entr" presetSubtype="1" fill="hold" nodeType="withEffect">
                                  <p:stCondLst>
                                    <p:cond delay="0"/>
                                  </p:stCondLst>
                                  <p:childTnLst>
                                    <p:set>
                                      <p:cBhvr>
                                        <p:cTn id="117" dur="1" fill="hold">
                                          <p:stCondLst>
                                            <p:cond delay="0"/>
                                          </p:stCondLst>
                                        </p:cTn>
                                        <p:tgtEl>
                                          <p:spTgt spid="3"/>
                                        </p:tgtEl>
                                        <p:attrNameLst>
                                          <p:attrName>style.visibility</p:attrName>
                                        </p:attrNameLst>
                                      </p:cBhvr>
                                      <p:to>
                                        <p:strVal val="visible"/>
                                      </p:to>
                                    </p:set>
                                    <p:animEffect transition="in" filter="wipe(up)">
                                      <p:cBhvr>
                                        <p:cTn id="118" dur="500"/>
                                        <p:tgtEl>
                                          <p:spTgt spid="3"/>
                                        </p:tgtEl>
                                      </p:cBhvr>
                                    </p:animEffect>
                                  </p:childTnLst>
                                </p:cTn>
                              </p:par>
                              <p:par>
                                <p:cTn id="119" presetID="22" presetClass="entr" presetSubtype="8" fill="hold" nodeType="withEffect">
                                  <p:stCondLst>
                                    <p:cond delay="0"/>
                                  </p:stCondLst>
                                  <p:childTnLst>
                                    <p:set>
                                      <p:cBhvr>
                                        <p:cTn id="120" dur="1" fill="hold">
                                          <p:stCondLst>
                                            <p:cond delay="0"/>
                                          </p:stCondLst>
                                        </p:cTn>
                                        <p:tgtEl>
                                          <p:spTgt spid="6"/>
                                        </p:tgtEl>
                                        <p:attrNameLst>
                                          <p:attrName>style.visibility</p:attrName>
                                        </p:attrNameLst>
                                      </p:cBhvr>
                                      <p:to>
                                        <p:strVal val="visible"/>
                                      </p:to>
                                    </p:set>
                                    <p:animEffect transition="in" filter="wipe(left)">
                                      <p:cBhvr>
                                        <p:cTn id="121" dur="500"/>
                                        <p:tgtEl>
                                          <p:spTgt spid="6"/>
                                        </p:tgtEl>
                                      </p:cBhvr>
                                    </p:animEffect>
                                  </p:childTnLst>
                                </p:cTn>
                              </p:par>
                              <p:par>
                                <p:cTn id="122" presetID="1" presetClass="entr" presetSubtype="0" fill="hold" nodeType="withEffect">
                                  <p:stCondLst>
                                    <p:cond delay="0"/>
                                  </p:stCondLst>
                                  <p:childTnLst>
                                    <p:set>
                                      <p:cBhvr>
                                        <p:cTn id="123" dur="1" fill="hold">
                                          <p:stCondLst>
                                            <p:cond delay="0"/>
                                          </p:stCondLst>
                                        </p:cTn>
                                        <p:tgtEl>
                                          <p:spTgt spid="214056"/>
                                        </p:tgtEl>
                                        <p:attrNameLst>
                                          <p:attrName>style.visibility</p:attrName>
                                        </p:attrNameLst>
                                      </p:cBhvr>
                                      <p:to>
                                        <p:strVal val="visible"/>
                                      </p:to>
                                    </p:set>
                                  </p:childTnLst>
                                </p:cTn>
                              </p:par>
                              <p:par>
                                <p:cTn id="124" presetID="1" presetClass="entr" presetSubtype="0" fill="hold" nodeType="withEffect">
                                  <p:stCondLst>
                                    <p:cond delay="0"/>
                                  </p:stCondLst>
                                  <p:childTnLst>
                                    <p:set>
                                      <p:cBhvr>
                                        <p:cTn id="125" dur="1" fill="hold">
                                          <p:stCondLst>
                                            <p:cond delay="0"/>
                                          </p:stCondLst>
                                        </p:cTn>
                                        <p:tgtEl>
                                          <p:spTgt spid="214061"/>
                                        </p:tgtEl>
                                        <p:attrNameLst>
                                          <p:attrName>style.visibility</p:attrName>
                                        </p:attrNameLst>
                                      </p:cBhvr>
                                      <p:to>
                                        <p:strVal val="visible"/>
                                      </p:to>
                                    </p:set>
                                  </p:childTnLst>
                                </p:cTn>
                              </p:par>
                              <p:par>
                                <p:cTn id="126" presetID="22" presetClass="entr" presetSubtype="8" fill="hold" nodeType="withEffect">
                                  <p:stCondLst>
                                    <p:cond delay="0"/>
                                  </p:stCondLst>
                                  <p:childTnLst>
                                    <p:set>
                                      <p:cBhvr>
                                        <p:cTn id="127" dur="1" fill="hold">
                                          <p:stCondLst>
                                            <p:cond delay="0"/>
                                          </p:stCondLst>
                                        </p:cTn>
                                        <p:tgtEl>
                                          <p:spTgt spid="214078"/>
                                        </p:tgtEl>
                                        <p:attrNameLst>
                                          <p:attrName>style.visibility</p:attrName>
                                        </p:attrNameLst>
                                      </p:cBhvr>
                                      <p:to>
                                        <p:strVal val="visible"/>
                                      </p:to>
                                    </p:set>
                                    <p:animEffect transition="in" filter="wipe(left)">
                                      <p:cBhvr>
                                        <p:cTn id="128" dur="500"/>
                                        <p:tgtEl>
                                          <p:spTgt spid="214078"/>
                                        </p:tgtEl>
                                      </p:cBhvr>
                                    </p:animEffect>
                                  </p:childTnLst>
                                </p:cTn>
                              </p:par>
                              <p:par>
                                <p:cTn id="129" presetID="1" presetClass="entr" presetSubtype="0" fill="hold" grpId="0" nodeType="withEffect">
                                  <p:stCondLst>
                                    <p:cond delay="0"/>
                                  </p:stCondLst>
                                  <p:childTnLst>
                                    <p:set>
                                      <p:cBhvr>
                                        <p:cTn id="130" dur="1" fill="hold">
                                          <p:stCondLst>
                                            <p:cond delay="0"/>
                                          </p:stCondLst>
                                        </p:cTn>
                                        <p:tgtEl>
                                          <p:spTgt spid="214065"/>
                                        </p:tgtEl>
                                        <p:attrNameLst>
                                          <p:attrName>style.visibility</p:attrName>
                                        </p:attrNameLst>
                                      </p:cBhvr>
                                      <p:to>
                                        <p:strVal val="visible"/>
                                      </p:to>
                                    </p:set>
                                  </p:childTnLst>
                                </p:cTn>
                              </p:par>
                              <p:par>
                                <p:cTn id="131" presetID="22" presetClass="entr" presetSubtype="8" fill="hold" nodeType="withEffect">
                                  <p:stCondLst>
                                    <p:cond delay="0"/>
                                  </p:stCondLst>
                                  <p:childTnLst>
                                    <p:set>
                                      <p:cBhvr>
                                        <p:cTn id="132" dur="1" fill="hold">
                                          <p:stCondLst>
                                            <p:cond delay="0"/>
                                          </p:stCondLst>
                                        </p:cTn>
                                        <p:tgtEl>
                                          <p:spTgt spid="7"/>
                                        </p:tgtEl>
                                        <p:attrNameLst>
                                          <p:attrName>style.visibility</p:attrName>
                                        </p:attrNameLst>
                                      </p:cBhvr>
                                      <p:to>
                                        <p:strVal val="visible"/>
                                      </p:to>
                                    </p:set>
                                    <p:animEffect transition="in" filter="wipe(left)">
                                      <p:cBhvr>
                                        <p:cTn id="133" dur="500"/>
                                        <p:tgtEl>
                                          <p:spTgt spid="7"/>
                                        </p:tgtEl>
                                      </p:cBhvr>
                                    </p:animEffect>
                                  </p:childTnLst>
                                </p:cTn>
                              </p:par>
                              <p:par>
                                <p:cTn id="134" presetID="22" presetClass="entr" presetSubtype="1" fill="hold" nodeType="withEffect">
                                  <p:stCondLst>
                                    <p:cond delay="0"/>
                                  </p:stCondLst>
                                  <p:childTnLst>
                                    <p:set>
                                      <p:cBhvr>
                                        <p:cTn id="135" dur="1" fill="hold">
                                          <p:stCondLst>
                                            <p:cond delay="0"/>
                                          </p:stCondLst>
                                        </p:cTn>
                                        <p:tgtEl>
                                          <p:spTgt spid="4"/>
                                        </p:tgtEl>
                                        <p:attrNameLst>
                                          <p:attrName>style.visibility</p:attrName>
                                        </p:attrNameLst>
                                      </p:cBhvr>
                                      <p:to>
                                        <p:strVal val="visible"/>
                                      </p:to>
                                    </p:set>
                                    <p:animEffect transition="in" filter="wipe(up)">
                                      <p:cBhvr>
                                        <p:cTn id="136" dur="500"/>
                                        <p:tgtEl>
                                          <p:spTgt spid="4"/>
                                        </p:tgtEl>
                                      </p:cBhvr>
                                    </p:animEffec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214071"/>
                                        </p:tgtEl>
                                        <p:attrNameLst>
                                          <p:attrName>style.visibility</p:attrName>
                                        </p:attrNameLst>
                                      </p:cBhvr>
                                      <p:to>
                                        <p:strVal val="visible"/>
                                      </p:to>
                                    </p:set>
                                  </p:childTnLst>
                                </p:cTn>
                              </p:par>
                              <p:par>
                                <p:cTn id="141" presetID="22" presetClass="entr" presetSubtype="8" fill="hold" nodeType="withEffect">
                                  <p:stCondLst>
                                    <p:cond delay="0"/>
                                  </p:stCondLst>
                                  <p:childTnLst>
                                    <p:set>
                                      <p:cBhvr>
                                        <p:cTn id="142" dur="1" fill="hold">
                                          <p:stCondLst>
                                            <p:cond delay="0"/>
                                          </p:stCondLst>
                                        </p:cTn>
                                        <p:tgtEl>
                                          <p:spTgt spid="214073"/>
                                        </p:tgtEl>
                                        <p:attrNameLst>
                                          <p:attrName>style.visibility</p:attrName>
                                        </p:attrNameLst>
                                      </p:cBhvr>
                                      <p:to>
                                        <p:strVal val="visible"/>
                                      </p:to>
                                    </p:set>
                                    <p:animEffect transition="in" filter="wipe(left)">
                                      <p:cBhvr>
                                        <p:cTn id="143" dur="500"/>
                                        <p:tgtEl>
                                          <p:spTgt spid="214073"/>
                                        </p:tgtEl>
                                      </p:cBhvr>
                                    </p:animEffect>
                                  </p:childTnLst>
                                </p:cTn>
                              </p:par>
                              <p:par>
                                <p:cTn id="144" presetID="1" presetClass="entr" presetSubtype="0" fill="hold" grpId="0" nodeType="withEffect">
                                  <p:stCondLst>
                                    <p:cond delay="0"/>
                                  </p:stCondLst>
                                  <p:childTnLst>
                                    <p:set>
                                      <p:cBhvr>
                                        <p:cTn id="145" dur="1" fill="hold">
                                          <p:stCondLst>
                                            <p:cond delay="0"/>
                                          </p:stCondLst>
                                        </p:cTn>
                                        <p:tgtEl>
                                          <p:spTgt spid="214070"/>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214062"/>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214063"/>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214067"/>
                                        </p:tgtEl>
                                        <p:attrNameLst>
                                          <p:attrName>style.visibility</p:attrName>
                                        </p:attrNameLst>
                                      </p:cBhvr>
                                      <p:to>
                                        <p:strVal val="visible"/>
                                      </p:to>
                                    </p:set>
                                  </p:childTnLst>
                                </p:cTn>
                              </p:par>
                              <p:par>
                                <p:cTn id="152" presetID="22" presetClass="entr" presetSubtype="8" fill="hold" nodeType="withEffect">
                                  <p:stCondLst>
                                    <p:cond delay="0"/>
                                  </p:stCondLst>
                                  <p:childTnLst>
                                    <p:set>
                                      <p:cBhvr>
                                        <p:cTn id="153" dur="1" fill="hold">
                                          <p:stCondLst>
                                            <p:cond delay="0"/>
                                          </p:stCondLst>
                                        </p:cTn>
                                        <p:tgtEl>
                                          <p:spTgt spid="214074"/>
                                        </p:tgtEl>
                                        <p:attrNameLst>
                                          <p:attrName>style.visibility</p:attrName>
                                        </p:attrNameLst>
                                      </p:cBhvr>
                                      <p:to>
                                        <p:strVal val="visible"/>
                                      </p:to>
                                    </p:set>
                                    <p:animEffect transition="in" filter="wipe(left)">
                                      <p:cBhvr>
                                        <p:cTn id="154" dur="500"/>
                                        <p:tgtEl>
                                          <p:spTgt spid="214074"/>
                                        </p:tgtEl>
                                      </p:cBhvr>
                                    </p:animEffect>
                                  </p:childTnLst>
                                </p:cTn>
                              </p:par>
                              <p:par>
                                <p:cTn id="155" presetID="22" presetClass="entr" presetSubtype="8" fill="hold" nodeType="withEffect">
                                  <p:stCondLst>
                                    <p:cond delay="0"/>
                                  </p:stCondLst>
                                  <p:childTnLst>
                                    <p:set>
                                      <p:cBhvr>
                                        <p:cTn id="156" dur="1" fill="hold">
                                          <p:stCondLst>
                                            <p:cond delay="0"/>
                                          </p:stCondLst>
                                        </p:cTn>
                                        <p:tgtEl>
                                          <p:spTgt spid="214075"/>
                                        </p:tgtEl>
                                        <p:attrNameLst>
                                          <p:attrName>style.visibility</p:attrName>
                                        </p:attrNameLst>
                                      </p:cBhvr>
                                      <p:to>
                                        <p:strVal val="visible"/>
                                      </p:to>
                                    </p:set>
                                    <p:animEffect transition="in" filter="wipe(left)">
                                      <p:cBhvr>
                                        <p:cTn id="157" dur="500"/>
                                        <p:tgtEl>
                                          <p:spTgt spid="214075"/>
                                        </p:tgtEl>
                                      </p:cBhvr>
                                    </p:animEffect>
                                  </p:childTnLst>
                                </p:cTn>
                              </p:par>
                              <p:par>
                                <p:cTn id="158" presetID="1" presetClass="entr" presetSubtype="0" fill="hold" grpId="0" nodeType="withEffect">
                                  <p:stCondLst>
                                    <p:cond delay="0"/>
                                  </p:stCondLst>
                                  <p:childTnLst>
                                    <p:set>
                                      <p:cBhvr>
                                        <p:cTn id="159" dur="1" fill="hold">
                                          <p:stCondLst>
                                            <p:cond delay="0"/>
                                          </p:stCondLst>
                                        </p:cTn>
                                        <p:tgtEl>
                                          <p:spTgt spid="214066"/>
                                        </p:tgtEl>
                                        <p:attrNameLst>
                                          <p:attrName>style.visibility</p:attrName>
                                        </p:attrNameLst>
                                      </p:cBhvr>
                                      <p:to>
                                        <p:strVal val="visible"/>
                                      </p:to>
                                    </p:set>
                                  </p:childTnLst>
                                </p:cTn>
                              </p:par>
                            </p:childTnLst>
                          </p:cTn>
                        </p:par>
                        <p:par>
                          <p:cTn id="160" fill="hold">
                            <p:stCondLst>
                              <p:cond delay="500"/>
                            </p:stCondLst>
                            <p:childTnLst>
                              <p:par>
                                <p:cTn id="161" presetID="1" presetClass="entr" presetSubtype="0" fill="hold" grpId="0" nodeType="afterEffect">
                                  <p:stCondLst>
                                    <p:cond delay="0"/>
                                  </p:stCondLst>
                                  <p:childTnLst>
                                    <p:set>
                                      <p:cBhvr>
                                        <p:cTn id="162" dur="1" fill="hold">
                                          <p:stCondLst>
                                            <p:cond delay="0"/>
                                          </p:stCondLst>
                                        </p:cTn>
                                        <p:tgtEl>
                                          <p:spTgt spid="10256"/>
                                        </p:tgtEl>
                                        <p:attrNameLst>
                                          <p:attrName>style.visibility</p:attrName>
                                        </p:attrNameLst>
                                      </p:cBhvr>
                                      <p:to>
                                        <p:strVal val="visible"/>
                                      </p:to>
                                    </p:set>
                                  </p:childTnLst>
                                </p:cTn>
                              </p:par>
                            </p:childTnLst>
                          </p:cTn>
                        </p:par>
                        <p:par>
                          <p:cTn id="163" fill="hold">
                            <p:stCondLst>
                              <p:cond delay="500"/>
                            </p:stCondLst>
                            <p:childTnLst>
                              <p:par>
                                <p:cTn id="164" presetID="1" presetClass="entr" presetSubtype="0" fill="hold" grpId="0" nodeType="afterEffect">
                                  <p:stCondLst>
                                    <p:cond delay="0"/>
                                  </p:stCondLst>
                                  <p:childTnLst>
                                    <p:set>
                                      <p:cBhvr>
                                        <p:cTn id="165" dur="1" fill="hold">
                                          <p:stCondLst>
                                            <p:cond delay="0"/>
                                          </p:stCondLst>
                                        </p:cTn>
                                        <p:tgtEl>
                                          <p:spTgt spid="10254"/>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210012"/>
                                        </p:tgtEl>
                                        <p:attrNameLst>
                                          <p:attrName>style.visibility</p:attrName>
                                        </p:attrNameLst>
                                      </p:cBhvr>
                                      <p:to>
                                        <p:strVal val="visible"/>
                                      </p:to>
                                    </p:set>
                                  </p:childTnLst>
                                </p:cTn>
                              </p:par>
                              <p:par>
                                <p:cTn id="168" presetID="22" presetClass="entr" presetSubtype="8" fill="hold" grpId="0" nodeType="withEffect">
                                  <p:stCondLst>
                                    <p:cond delay="0"/>
                                  </p:stCondLst>
                                  <p:childTnLst>
                                    <p:set>
                                      <p:cBhvr>
                                        <p:cTn id="169" dur="1" fill="hold">
                                          <p:stCondLst>
                                            <p:cond delay="0"/>
                                          </p:stCondLst>
                                        </p:cTn>
                                        <p:tgtEl>
                                          <p:spTgt spid="210024"/>
                                        </p:tgtEl>
                                        <p:attrNameLst>
                                          <p:attrName>style.visibility</p:attrName>
                                        </p:attrNameLst>
                                      </p:cBhvr>
                                      <p:to>
                                        <p:strVal val="visible"/>
                                      </p:to>
                                    </p:set>
                                    <p:animEffect transition="in" filter="wipe(left)">
                                      <p:cBhvr>
                                        <p:cTn id="170" dur="500"/>
                                        <p:tgtEl>
                                          <p:spTgt spid="210024"/>
                                        </p:tgtEl>
                                      </p:cBhvr>
                                    </p:animEffect>
                                  </p:childTnLst>
                                </p:cTn>
                              </p:par>
                              <p:par>
                                <p:cTn id="171" presetID="1" presetClass="entr" presetSubtype="0" fill="hold" grpId="0" nodeType="withEffect">
                                  <p:stCondLst>
                                    <p:cond delay="0"/>
                                  </p:stCondLst>
                                  <p:childTnLst>
                                    <p:set>
                                      <p:cBhvr>
                                        <p:cTn id="17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6" grpId="0" animBg="1"/>
      <p:bldP spid="10254" grpId="0" animBg="1"/>
      <p:bldP spid="214021" grpId="0" animBg="1"/>
      <p:bldP spid="214022" grpId="0" animBg="1"/>
      <p:bldP spid="214023" grpId="0" animBg="1"/>
      <p:bldP spid="214024" grpId="0" animBg="1"/>
      <p:bldP spid="214025" grpId="0" animBg="1"/>
      <p:bldP spid="214026" grpId="0" animBg="1"/>
      <p:bldP spid="214027" grpId="0" animBg="1"/>
      <p:bldP spid="214028" grpId="0" animBg="1"/>
      <p:bldP spid="214029" grpId="0" animBg="1"/>
      <p:bldP spid="214030" grpId="0" animBg="1"/>
      <p:bldP spid="214031" grpId="0" animBg="1"/>
      <p:bldP spid="214032" grpId="0" animBg="1"/>
      <p:bldP spid="214048" grpId="0"/>
      <p:bldP spid="214055" grpId="0"/>
      <p:bldP spid="214057" grpId="0" animBg="1"/>
      <p:bldP spid="214058" grpId="0" animBg="1"/>
      <p:bldP spid="214062" grpId="0" animBg="1"/>
      <p:bldP spid="214063" grpId="0" animBg="1"/>
      <p:bldP spid="214064" grpId="0" animBg="1"/>
      <p:bldP spid="214065" grpId="0" animBg="1"/>
      <p:bldP spid="214066" grpId="0" animBg="1"/>
      <p:bldP spid="214067" grpId="0" animBg="1"/>
      <p:bldP spid="214068" grpId="0" animBg="1"/>
      <p:bldP spid="214070" grpId="0" animBg="1"/>
      <p:bldP spid="214071" grpId="0" animBg="1"/>
      <p:bldP spid="214072" grpId="0" animBg="1"/>
      <p:bldP spid="210012" grpId="0" animBg="1"/>
      <p:bldP spid="210024" grpId="0"/>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idx="4294967295"/>
          </p:nvPr>
        </p:nvSpPr>
        <p:spPr>
          <a:xfrm>
            <a:off x="827088" y="44450"/>
            <a:ext cx="8281987" cy="579438"/>
          </a:xfrm>
        </p:spPr>
        <p:txBody>
          <a:bodyPr/>
          <a:lstStyle/>
          <a:p>
            <a:pPr>
              <a:defRPr/>
            </a:pPr>
            <a:r>
              <a:rPr lang="en-US" sz="2000" dirty="0" smtClean="0"/>
              <a:t>Summary of the Competitive Firm’s Profitability and Production Conditions</a:t>
            </a:r>
            <a:endParaRPr lang="en-US" sz="2000" b="0" dirty="0" smtClean="0"/>
          </a:p>
        </p:txBody>
      </p:sp>
      <p:pic>
        <p:nvPicPr>
          <p:cNvPr id="2" name="Picture 1" descr="Krug3e_table_12_04.jpg"/>
          <p:cNvPicPr>
            <a:picLocks noChangeAspect="1"/>
          </p:cNvPicPr>
          <p:nvPr/>
        </p:nvPicPr>
        <p:blipFill>
          <a:blip r:embed="rId3"/>
          <a:srcRect/>
          <a:stretch>
            <a:fillRect/>
          </a:stretch>
        </p:blipFill>
        <p:spPr bwMode="auto">
          <a:xfrm>
            <a:off x="755650" y="847725"/>
            <a:ext cx="8229600" cy="3913188"/>
          </a:xfrm>
          <a:prstGeom prst="rect">
            <a:avLst/>
          </a:prstGeom>
          <a:noFill/>
          <a:ln w="9525">
            <a:noFill/>
            <a:miter lim="800000"/>
            <a:headEnd/>
            <a:tailEnd/>
          </a:ln>
        </p:spPr>
      </p:pic>
      <p:sp>
        <p:nvSpPr>
          <p:cNvPr id="61443" name="Rectangle 3"/>
          <p:cNvSpPr>
            <a:spLocks noChangeArrowheads="1"/>
          </p:cNvSpPr>
          <p:nvPr/>
        </p:nvSpPr>
        <p:spPr bwMode="auto">
          <a:xfrm>
            <a:off x="720725" y="5013325"/>
            <a:ext cx="8280400" cy="1474788"/>
          </a:xfrm>
          <a:prstGeom prst="rect">
            <a:avLst/>
          </a:prstGeom>
          <a:noFill/>
          <a:ln w="9525">
            <a:noFill/>
            <a:miter lim="800000"/>
            <a:headEnd/>
            <a:tailEnd/>
          </a:ln>
        </p:spPr>
        <p:txBody>
          <a:bodyPr/>
          <a:lstStyle/>
          <a:p>
            <a:pPr marL="230188" indent="-230188" eaLnBrk="0" hangingPunct="0">
              <a:spcBef>
                <a:spcPct val="20000"/>
              </a:spcBef>
              <a:buFont typeface="Arial" charset="0"/>
              <a:buChar char="•"/>
            </a:pPr>
            <a:r>
              <a:rPr lang="en-US" sz="2400"/>
              <a:t> In the short run, the competitive firm’s supply curve is its marginal-cost curve (MC) above average variable cost (AVC).</a:t>
            </a:r>
          </a:p>
          <a:p>
            <a:pPr marL="230188" indent="-230188" eaLnBrk="0" hangingPunct="0">
              <a:spcBef>
                <a:spcPct val="20000"/>
              </a:spcBef>
              <a:buFont typeface="Arial" charset="0"/>
              <a:buChar char="•"/>
            </a:pPr>
            <a:r>
              <a:rPr lang="en-US" sz="2400"/>
              <a:t> If the price falls below average variable cost, the firm is better off shutting down.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rrowheads="1"/>
          </p:cNvSpPr>
          <p:nvPr>
            <p:ph type="title" idx="4294967295"/>
          </p:nvPr>
        </p:nvSpPr>
        <p:spPr>
          <a:xfrm>
            <a:off x="971550" y="44450"/>
            <a:ext cx="7921625" cy="533400"/>
          </a:xfrm>
        </p:spPr>
        <p:txBody>
          <a:bodyPr/>
          <a:lstStyle/>
          <a:p>
            <a:pPr>
              <a:defRPr/>
            </a:pPr>
            <a:r>
              <a:rPr lang="en-US" dirty="0" smtClean="0"/>
              <a:t>Industry Supply Curve</a:t>
            </a:r>
          </a:p>
        </p:txBody>
      </p:sp>
      <p:sp>
        <p:nvSpPr>
          <p:cNvPr id="63490" name="Rectangle 3"/>
          <p:cNvSpPr>
            <a:spLocks noGrp="1" noChangeArrowheads="1"/>
          </p:cNvSpPr>
          <p:nvPr>
            <p:ph idx="4294967295"/>
          </p:nvPr>
        </p:nvSpPr>
        <p:spPr>
          <a:xfrm>
            <a:off x="792163" y="865188"/>
            <a:ext cx="8101012" cy="5695950"/>
          </a:xfrm>
        </p:spPr>
        <p:txBody>
          <a:bodyPr/>
          <a:lstStyle/>
          <a:p>
            <a:pPr marL="230188" indent="-230188">
              <a:spcBef>
                <a:spcPct val="50000"/>
              </a:spcBef>
            </a:pPr>
            <a:r>
              <a:rPr lang="en-US" smtClean="0"/>
              <a:t>The </a:t>
            </a:r>
            <a:r>
              <a:rPr lang="en-US" b="1" smtClean="0"/>
              <a:t>industry supply curve </a:t>
            </a:r>
            <a:r>
              <a:rPr lang="en-US" smtClean="0"/>
              <a:t>shows the relationship between the price of a good and the total output of the industry as a whole.</a:t>
            </a:r>
          </a:p>
          <a:p>
            <a:pPr marL="230188" indent="-230188">
              <a:spcBef>
                <a:spcPct val="50000"/>
              </a:spcBef>
            </a:pPr>
            <a:r>
              <a:rPr lang="en-US" smtClean="0"/>
              <a:t>The short-run industry supply curve shows how the quantity supplied by an industry depends on the market price given a fixed number of producers.</a:t>
            </a:r>
          </a:p>
          <a:p>
            <a:pPr marL="230188" indent="-230188">
              <a:spcBef>
                <a:spcPct val="50000"/>
              </a:spcBef>
            </a:pPr>
            <a:r>
              <a:rPr lang="en-US" smtClean="0"/>
              <a:t>There is a </a:t>
            </a:r>
            <a:r>
              <a:rPr lang="en-US" b="1" smtClean="0"/>
              <a:t>short-run market equilibrium </a:t>
            </a:r>
            <a:r>
              <a:rPr lang="en-US" smtClean="0"/>
              <a:t>when the quantity supplied equals the quantity demanded, taking the number of producers as given.</a:t>
            </a:r>
          </a:p>
          <a:p>
            <a:pPr marL="230188" indent="-230188">
              <a:spcBef>
                <a:spcPct val="50000"/>
              </a:spcBef>
            </a:pPr>
            <a:r>
              <a:rPr lang="en-US" smtClean="0"/>
              <a:t>A market is in </a:t>
            </a:r>
            <a:r>
              <a:rPr lang="en-US" b="1" smtClean="0"/>
              <a:t>long-run market equilibrium </a:t>
            </a:r>
            <a:r>
              <a:rPr lang="en-US" smtClean="0"/>
              <a:t>when the quantity supplied equals the quantity demanded, given sufficient time for free entry into, and exit from, the industry to occur.</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Rot="1" noChangeArrowheads="1"/>
          </p:cNvSpPr>
          <p:nvPr>
            <p:ph type="title" idx="4294967295"/>
          </p:nvPr>
        </p:nvSpPr>
        <p:spPr>
          <a:xfrm>
            <a:off x="971550" y="60325"/>
            <a:ext cx="7993063" cy="555625"/>
          </a:xfrm>
        </p:spPr>
        <p:txBody>
          <a:bodyPr/>
          <a:lstStyle/>
          <a:p>
            <a:pPr>
              <a:defRPr/>
            </a:pPr>
            <a:r>
              <a:rPr lang="en-US" dirty="0" smtClean="0"/>
              <a:t>The Short-Run Market Equilibrium</a:t>
            </a:r>
          </a:p>
        </p:txBody>
      </p:sp>
      <p:sp>
        <p:nvSpPr>
          <p:cNvPr id="11277" name="Text Box 13"/>
          <p:cNvSpPr txBox="1">
            <a:spLocks noChangeArrowheads="1"/>
          </p:cNvSpPr>
          <p:nvPr/>
        </p:nvSpPr>
        <p:spPr bwMode="auto">
          <a:xfrm>
            <a:off x="6372225" y="1066800"/>
            <a:ext cx="2667000" cy="2047875"/>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a:t>
            </a:r>
            <a:r>
              <a:rPr lang="en-US" b="1" dirty="0">
                <a:solidFill>
                  <a:srgbClr val="0000FF"/>
                </a:solidFill>
              </a:rPr>
              <a:t>short-run industry supply curve </a:t>
            </a:r>
            <a:r>
              <a:rPr lang="en-US" dirty="0">
                <a:solidFill>
                  <a:srgbClr val="0000FF"/>
                </a:solidFill>
              </a:rPr>
              <a:t>shows how the quantity supplied by an industry depends on the market price given a fixed number of producers.</a:t>
            </a:r>
          </a:p>
        </p:txBody>
      </p:sp>
      <p:sp>
        <p:nvSpPr>
          <p:cNvPr id="11276" name="Text Box 12"/>
          <p:cNvSpPr txBox="1">
            <a:spLocks noChangeArrowheads="1"/>
          </p:cNvSpPr>
          <p:nvPr/>
        </p:nvSpPr>
        <p:spPr bwMode="auto">
          <a:xfrm>
            <a:off x="6372225" y="3352800"/>
            <a:ext cx="2667000" cy="2032000"/>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There is a </a:t>
            </a:r>
            <a:r>
              <a:rPr lang="en-US" b="1" dirty="0">
                <a:solidFill>
                  <a:srgbClr val="0000FF"/>
                </a:solidFill>
              </a:rPr>
              <a:t>short-run market equilibrium </a:t>
            </a:r>
            <a:r>
              <a:rPr lang="en-US" dirty="0">
                <a:solidFill>
                  <a:srgbClr val="0000FF"/>
                </a:solidFill>
              </a:rPr>
              <a:t>when the quantity supplied equals the quantity demanded, taking the number of producers as given.</a:t>
            </a:r>
          </a:p>
        </p:txBody>
      </p:sp>
      <p:sp>
        <p:nvSpPr>
          <p:cNvPr id="216070" name="Line 6"/>
          <p:cNvSpPr>
            <a:spLocks noChangeShapeType="1"/>
          </p:cNvSpPr>
          <p:nvPr/>
        </p:nvSpPr>
        <p:spPr bwMode="auto">
          <a:xfrm>
            <a:off x="1370013" y="3460750"/>
            <a:ext cx="122237" cy="0"/>
          </a:xfrm>
          <a:prstGeom prst="line">
            <a:avLst/>
          </a:prstGeom>
          <a:noFill/>
          <a:ln w="7938">
            <a:solidFill>
              <a:srgbClr val="000000"/>
            </a:solidFill>
            <a:miter lim="800000"/>
            <a:headEnd/>
            <a:tailEnd/>
          </a:ln>
        </p:spPr>
        <p:txBody>
          <a:bodyPr/>
          <a:lstStyle/>
          <a:p>
            <a:endParaRPr lang="en-US"/>
          </a:p>
        </p:txBody>
      </p:sp>
      <p:sp>
        <p:nvSpPr>
          <p:cNvPr id="216071" name="Line 7"/>
          <p:cNvSpPr>
            <a:spLocks noChangeShapeType="1"/>
          </p:cNvSpPr>
          <p:nvPr/>
        </p:nvSpPr>
        <p:spPr bwMode="auto">
          <a:xfrm>
            <a:off x="1370013" y="2495550"/>
            <a:ext cx="122237" cy="0"/>
          </a:xfrm>
          <a:prstGeom prst="line">
            <a:avLst/>
          </a:prstGeom>
          <a:noFill/>
          <a:ln w="7938">
            <a:solidFill>
              <a:srgbClr val="000000"/>
            </a:solidFill>
            <a:miter lim="800000"/>
            <a:headEnd/>
            <a:tailEnd/>
          </a:ln>
        </p:spPr>
        <p:txBody>
          <a:bodyPr/>
          <a:lstStyle/>
          <a:p>
            <a:endParaRPr lang="en-US"/>
          </a:p>
        </p:txBody>
      </p:sp>
      <p:sp>
        <p:nvSpPr>
          <p:cNvPr id="216072" name="Line 8"/>
          <p:cNvSpPr>
            <a:spLocks noChangeShapeType="1"/>
          </p:cNvSpPr>
          <p:nvPr/>
        </p:nvSpPr>
        <p:spPr bwMode="auto">
          <a:xfrm>
            <a:off x="1370013" y="2019300"/>
            <a:ext cx="122237" cy="0"/>
          </a:xfrm>
          <a:prstGeom prst="line">
            <a:avLst/>
          </a:prstGeom>
          <a:noFill/>
          <a:ln w="7938">
            <a:solidFill>
              <a:srgbClr val="000000"/>
            </a:solidFill>
            <a:miter lim="800000"/>
            <a:headEnd/>
            <a:tailEnd/>
          </a:ln>
        </p:spPr>
        <p:txBody>
          <a:bodyPr/>
          <a:lstStyle/>
          <a:p>
            <a:endParaRPr lang="en-US"/>
          </a:p>
        </p:txBody>
      </p:sp>
      <p:sp>
        <p:nvSpPr>
          <p:cNvPr id="216073" name="Line 9"/>
          <p:cNvSpPr>
            <a:spLocks noChangeShapeType="1"/>
          </p:cNvSpPr>
          <p:nvPr/>
        </p:nvSpPr>
        <p:spPr bwMode="auto">
          <a:xfrm>
            <a:off x="1370013" y="2978150"/>
            <a:ext cx="122237" cy="0"/>
          </a:xfrm>
          <a:prstGeom prst="line">
            <a:avLst/>
          </a:prstGeom>
          <a:noFill/>
          <a:ln w="7938">
            <a:solidFill>
              <a:srgbClr val="000000"/>
            </a:solidFill>
            <a:miter lim="800000"/>
            <a:headEnd/>
            <a:tailEnd/>
          </a:ln>
        </p:spPr>
        <p:txBody>
          <a:bodyPr/>
          <a:lstStyle/>
          <a:p>
            <a:endParaRPr lang="en-US"/>
          </a:p>
        </p:txBody>
      </p:sp>
      <p:sp>
        <p:nvSpPr>
          <p:cNvPr id="216074" name="Line 10"/>
          <p:cNvSpPr>
            <a:spLocks noChangeShapeType="1"/>
          </p:cNvSpPr>
          <p:nvPr/>
        </p:nvSpPr>
        <p:spPr bwMode="auto">
          <a:xfrm>
            <a:off x="1370013" y="3937000"/>
            <a:ext cx="122237" cy="0"/>
          </a:xfrm>
          <a:prstGeom prst="line">
            <a:avLst/>
          </a:prstGeom>
          <a:noFill/>
          <a:ln w="7938">
            <a:solidFill>
              <a:srgbClr val="000000"/>
            </a:solidFill>
            <a:miter lim="800000"/>
            <a:headEnd/>
            <a:tailEnd/>
          </a:ln>
        </p:spPr>
        <p:txBody>
          <a:bodyPr/>
          <a:lstStyle/>
          <a:p>
            <a:endParaRPr lang="en-US"/>
          </a:p>
        </p:txBody>
      </p:sp>
      <p:sp>
        <p:nvSpPr>
          <p:cNvPr id="65545" name="Line 11"/>
          <p:cNvSpPr>
            <a:spLocks noChangeShapeType="1"/>
          </p:cNvSpPr>
          <p:nvPr/>
        </p:nvSpPr>
        <p:spPr bwMode="auto">
          <a:xfrm flipV="1">
            <a:off x="5959475" y="5005388"/>
            <a:ext cx="0" cy="138112"/>
          </a:xfrm>
          <a:prstGeom prst="line">
            <a:avLst/>
          </a:prstGeom>
          <a:noFill/>
          <a:ln w="7938">
            <a:solidFill>
              <a:srgbClr val="000000"/>
            </a:solidFill>
            <a:miter lim="800000"/>
            <a:headEnd/>
            <a:tailEnd/>
          </a:ln>
        </p:spPr>
        <p:txBody>
          <a:bodyPr/>
          <a:lstStyle/>
          <a:p>
            <a:endParaRPr lang="en-US"/>
          </a:p>
        </p:txBody>
      </p:sp>
      <p:sp>
        <p:nvSpPr>
          <p:cNvPr id="216076" name="Line 12"/>
          <p:cNvSpPr>
            <a:spLocks noChangeShapeType="1"/>
          </p:cNvSpPr>
          <p:nvPr/>
        </p:nvSpPr>
        <p:spPr bwMode="auto">
          <a:xfrm flipV="1">
            <a:off x="5194300" y="5005388"/>
            <a:ext cx="0" cy="138112"/>
          </a:xfrm>
          <a:prstGeom prst="line">
            <a:avLst/>
          </a:prstGeom>
          <a:noFill/>
          <a:ln w="7938">
            <a:solidFill>
              <a:srgbClr val="000000"/>
            </a:solidFill>
            <a:miter lim="800000"/>
            <a:headEnd/>
            <a:tailEnd/>
          </a:ln>
        </p:spPr>
        <p:txBody>
          <a:bodyPr/>
          <a:lstStyle/>
          <a:p>
            <a:endParaRPr lang="en-US"/>
          </a:p>
        </p:txBody>
      </p:sp>
      <p:sp>
        <p:nvSpPr>
          <p:cNvPr id="216077" name="Line 13"/>
          <p:cNvSpPr>
            <a:spLocks noChangeShapeType="1"/>
          </p:cNvSpPr>
          <p:nvPr/>
        </p:nvSpPr>
        <p:spPr bwMode="auto">
          <a:xfrm flipV="1">
            <a:off x="4430713" y="5005388"/>
            <a:ext cx="0" cy="138112"/>
          </a:xfrm>
          <a:prstGeom prst="line">
            <a:avLst/>
          </a:prstGeom>
          <a:noFill/>
          <a:ln w="7938">
            <a:solidFill>
              <a:srgbClr val="000000"/>
            </a:solidFill>
            <a:miter lim="800000"/>
            <a:headEnd/>
            <a:tailEnd/>
          </a:ln>
        </p:spPr>
        <p:txBody>
          <a:bodyPr/>
          <a:lstStyle/>
          <a:p>
            <a:endParaRPr lang="en-US"/>
          </a:p>
        </p:txBody>
      </p:sp>
      <p:sp>
        <p:nvSpPr>
          <p:cNvPr id="216078" name="Line 14"/>
          <p:cNvSpPr>
            <a:spLocks noChangeShapeType="1"/>
          </p:cNvSpPr>
          <p:nvPr/>
        </p:nvSpPr>
        <p:spPr bwMode="auto">
          <a:xfrm flipV="1">
            <a:off x="3663950" y="5005388"/>
            <a:ext cx="0" cy="138112"/>
          </a:xfrm>
          <a:prstGeom prst="line">
            <a:avLst/>
          </a:prstGeom>
          <a:noFill/>
          <a:ln w="7938">
            <a:solidFill>
              <a:srgbClr val="000000"/>
            </a:solidFill>
            <a:miter lim="800000"/>
            <a:headEnd/>
            <a:tailEnd/>
          </a:ln>
        </p:spPr>
        <p:txBody>
          <a:bodyPr/>
          <a:lstStyle/>
          <a:p>
            <a:endParaRPr lang="en-US"/>
          </a:p>
        </p:txBody>
      </p:sp>
      <p:sp>
        <p:nvSpPr>
          <p:cNvPr id="216079" name="Line 15"/>
          <p:cNvSpPr>
            <a:spLocks noChangeShapeType="1"/>
          </p:cNvSpPr>
          <p:nvPr/>
        </p:nvSpPr>
        <p:spPr bwMode="auto">
          <a:xfrm flipV="1">
            <a:off x="2900363" y="5005388"/>
            <a:ext cx="0" cy="138112"/>
          </a:xfrm>
          <a:prstGeom prst="line">
            <a:avLst/>
          </a:prstGeom>
          <a:noFill/>
          <a:ln w="7938">
            <a:solidFill>
              <a:srgbClr val="000000"/>
            </a:solidFill>
            <a:miter lim="800000"/>
            <a:headEnd/>
            <a:tailEnd/>
          </a:ln>
        </p:spPr>
        <p:txBody>
          <a:bodyPr/>
          <a:lstStyle/>
          <a:p>
            <a:endParaRPr lang="en-US"/>
          </a:p>
        </p:txBody>
      </p:sp>
      <p:sp>
        <p:nvSpPr>
          <p:cNvPr id="216080" name="Line 16"/>
          <p:cNvSpPr>
            <a:spLocks noChangeShapeType="1"/>
          </p:cNvSpPr>
          <p:nvPr/>
        </p:nvSpPr>
        <p:spPr bwMode="auto">
          <a:xfrm flipV="1">
            <a:off x="2130425" y="5005388"/>
            <a:ext cx="0" cy="138112"/>
          </a:xfrm>
          <a:prstGeom prst="line">
            <a:avLst/>
          </a:prstGeom>
          <a:noFill/>
          <a:ln w="7938">
            <a:solidFill>
              <a:srgbClr val="000000"/>
            </a:solidFill>
            <a:miter lim="800000"/>
            <a:headEnd/>
            <a:tailEnd/>
          </a:ln>
        </p:spPr>
        <p:txBody>
          <a:bodyPr/>
          <a:lstStyle/>
          <a:p>
            <a:endParaRPr lang="en-US"/>
          </a:p>
        </p:txBody>
      </p:sp>
      <p:sp>
        <p:nvSpPr>
          <p:cNvPr id="216081" name="Rectangle 17"/>
          <p:cNvSpPr>
            <a:spLocks noChangeArrowheads="1"/>
          </p:cNvSpPr>
          <p:nvPr/>
        </p:nvSpPr>
        <p:spPr bwMode="auto">
          <a:xfrm>
            <a:off x="5818188" y="5175250"/>
            <a:ext cx="2714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700</a:t>
            </a:r>
            <a:endParaRPr lang="en-US" sz="1400">
              <a:latin typeface="Tahoma" pitchFamily="34" charset="0"/>
            </a:endParaRPr>
          </a:p>
        </p:txBody>
      </p:sp>
      <p:sp>
        <p:nvSpPr>
          <p:cNvPr id="216082" name="Rectangle 18"/>
          <p:cNvSpPr>
            <a:spLocks noChangeArrowheads="1"/>
          </p:cNvSpPr>
          <p:nvPr/>
        </p:nvSpPr>
        <p:spPr bwMode="auto">
          <a:xfrm>
            <a:off x="5051425" y="5175250"/>
            <a:ext cx="2714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600</a:t>
            </a:r>
            <a:endParaRPr lang="en-US" sz="1400">
              <a:latin typeface="Tahoma" pitchFamily="34" charset="0"/>
            </a:endParaRPr>
          </a:p>
        </p:txBody>
      </p:sp>
      <p:sp>
        <p:nvSpPr>
          <p:cNvPr id="216083" name="Rectangle 19"/>
          <p:cNvSpPr>
            <a:spLocks noChangeArrowheads="1"/>
          </p:cNvSpPr>
          <p:nvPr/>
        </p:nvSpPr>
        <p:spPr bwMode="auto">
          <a:xfrm>
            <a:off x="4286250" y="5175250"/>
            <a:ext cx="2714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500</a:t>
            </a:r>
            <a:endParaRPr lang="en-US" sz="1400">
              <a:latin typeface="Tahoma" pitchFamily="34" charset="0"/>
            </a:endParaRPr>
          </a:p>
        </p:txBody>
      </p:sp>
      <p:sp>
        <p:nvSpPr>
          <p:cNvPr id="216084" name="Rectangle 20"/>
          <p:cNvSpPr>
            <a:spLocks noChangeArrowheads="1"/>
          </p:cNvSpPr>
          <p:nvPr/>
        </p:nvSpPr>
        <p:spPr bwMode="auto">
          <a:xfrm>
            <a:off x="3519488" y="5175250"/>
            <a:ext cx="2714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400</a:t>
            </a:r>
            <a:endParaRPr lang="en-US" sz="1400">
              <a:latin typeface="Tahoma" pitchFamily="34" charset="0"/>
            </a:endParaRPr>
          </a:p>
        </p:txBody>
      </p:sp>
      <p:sp>
        <p:nvSpPr>
          <p:cNvPr id="216085" name="Rectangle 21"/>
          <p:cNvSpPr>
            <a:spLocks noChangeArrowheads="1"/>
          </p:cNvSpPr>
          <p:nvPr/>
        </p:nvSpPr>
        <p:spPr bwMode="auto">
          <a:xfrm>
            <a:off x="2752725" y="5175250"/>
            <a:ext cx="2714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300</a:t>
            </a:r>
            <a:endParaRPr lang="en-US" sz="1400">
              <a:latin typeface="Tahoma" pitchFamily="34" charset="0"/>
            </a:endParaRPr>
          </a:p>
        </p:txBody>
      </p:sp>
      <p:sp>
        <p:nvSpPr>
          <p:cNvPr id="216086" name="Rectangle 22"/>
          <p:cNvSpPr>
            <a:spLocks noChangeArrowheads="1"/>
          </p:cNvSpPr>
          <p:nvPr/>
        </p:nvSpPr>
        <p:spPr bwMode="auto">
          <a:xfrm>
            <a:off x="1987550" y="5175250"/>
            <a:ext cx="2714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200</a:t>
            </a:r>
            <a:endParaRPr lang="en-US" sz="1400">
              <a:latin typeface="Tahoma" pitchFamily="34" charset="0"/>
            </a:endParaRPr>
          </a:p>
        </p:txBody>
      </p:sp>
      <p:sp>
        <p:nvSpPr>
          <p:cNvPr id="216087" name="Rectangle 23"/>
          <p:cNvSpPr>
            <a:spLocks noChangeArrowheads="1"/>
          </p:cNvSpPr>
          <p:nvPr/>
        </p:nvSpPr>
        <p:spPr bwMode="auto">
          <a:xfrm>
            <a:off x="1195388" y="5175250"/>
            <a:ext cx="889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16088" name="Rectangle 24"/>
          <p:cNvSpPr>
            <a:spLocks noChangeArrowheads="1"/>
          </p:cNvSpPr>
          <p:nvPr/>
        </p:nvSpPr>
        <p:spPr bwMode="auto">
          <a:xfrm>
            <a:off x="1000125" y="1881188"/>
            <a:ext cx="2714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$26</a:t>
            </a:r>
            <a:endParaRPr lang="en-US" sz="1400">
              <a:latin typeface="Tahoma" pitchFamily="34" charset="0"/>
            </a:endParaRPr>
          </a:p>
        </p:txBody>
      </p:sp>
      <p:sp>
        <p:nvSpPr>
          <p:cNvPr id="216089" name="Rectangle 25"/>
          <p:cNvSpPr>
            <a:spLocks noChangeArrowheads="1"/>
          </p:cNvSpPr>
          <p:nvPr/>
        </p:nvSpPr>
        <p:spPr bwMode="auto">
          <a:xfrm>
            <a:off x="1096963" y="236061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22</a:t>
            </a:r>
            <a:endParaRPr lang="en-US" sz="1400">
              <a:latin typeface="Tahoma" pitchFamily="34" charset="0"/>
            </a:endParaRPr>
          </a:p>
        </p:txBody>
      </p:sp>
      <p:sp>
        <p:nvSpPr>
          <p:cNvPr id="216090" name="Rectangle 26"/>
          <p:cNvSpPr>
            <a:spLocks noChangeArrowheads="1"/>
          </p:cNvSpPr>
          <p:nvPr/>
        </p:nvSpPr>
        <p:spPr bwMode="auto">
          <a:xfrm>
            <a:off x="1096963" y="2841625"/>
            <a:ext cx="1809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216091" name="Rectangle 27"/>
          <p:cNvSpPr>
            <a:spLocks noChangeArrowheads="1"/>
          </p:cNvSpPr>
          <p:nvPr/>
        </p:nvSpPr>
        <p:spPr bwMode="auto">
          <a:xfrm>
            <a:off x="1096963" y="3317875"/>
            <a:ext cx="1809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216092" name="Rectangle 28"/>
          <p:cNvSpPr>
            <a:spLocks noChangeArrowheads="1"/>
          </p:cNvSpPr>
          <p:nvPr/>
        </p:nvSpPr>
        <p:spPr bwMode="auto">
          <a:xfrm>
            <a:off x="1096963" y="380206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216093" name="Freeform 29"/>
          <p:cNvSpPr>
            <a:spLocks/>
          </p:cNvSpPr>
          <p:nvPr/>
        </p:nvSpPr>
        <p:spPr bwMode="auto">
          <a:xfrm>
            <a:off x="1403350" y="1125538"/>
            <a:ext cx="260350" cy="4017962"/>
          </a:xfrm>
          <a:custGeom>
            <a:avLst/>
            <a:gdLst>
              <a:gd name="T0" fmla="*/ 2147483647 w 134"/>
              <a:gd name="T1" fmla="*/ 2147483647 h 1677"/>
              <a:gd name="T2" fmla="*/ 0 w 134"/>
              <a:gd name="T3" fmla="*/ 2147483647 h 1677"/>
              <a:gd name="T4" fmla="*/ 0 w 134"/>
              <a:gd name="T5" fmla="*/ 0 h 1677"/>
              <a:gd name="T6" fmla="*/ 0 60000 65536"/>
              <a:gd name="T7" fmla="*/ 0 60000 65536"/>
              <a:gd name="T8" fmla="*/ 0 60000 65536"/>
              <a:gd name="T9" fmla="*/ 0 w 134"/>
              <a:gd name="T10" fmla="*/ 0 h 1677"/>
              <a:gd name="T11" fmla="*/ 134 w 134"/>
              <a:gd name="T12" fmla="*/ 1677 h 1677"/>
            </a:gdLst>
            <a:ahLst/>
            <a:cxnLst>
              <a:cxn ang="T6">
                <a:pos x="T0" y="T1"/>
              </a:cxn>
              <a:cxn ang="T7">
                <a:pos x="T2" y="T3"/>
              </a:cxn>
              <a:cxn ang="T8">
                <a:pos x="T4" y="T5"/>
              </a:cxn>
            </a:cxnLst>
            <a:rect l="T9" t="T10" r="T11" b="T12"/>
            <a:pathLst>
              <a:path w="134" h="1677">
                <a:moveTo>
                  <a:pt x="134" y="1677"/>
                </a:moveTo>
                <a:lnTo>
                  <a:pt x="0" y="1677"/>
                </a:lnTo>
                <a:lnTo>
                  <a:pt x="0" y="0"/>
                </a:lnTo>
              </a:path>
            </a:pathLst>
          </a:custGeom>
          <a:noFill/>
          <a:ln w="7938">
            <a:solidFill>
              <a:srgbClr val="000000"/>
            </a:solidFill>
            <a:miter lim="800000"/>
            <a:headEnd/>
            <a:tailEnd/>
          </a:ln>
        </p:spPr>
        <p:txBody>
          <a:bodyPr/>
          <a:lstStyle/>
          <a:p>
            <a:endParaRPr lang="en-US"/>
          </a:p>
        </p:txBody>
      </p:sp>
      <p:sp>
        <p:nvSpPr>
          <p:cNvPr id="216094" name="Line 30"/>
          <p:cNvSpPr>
            <a:spLocks noChangeShapeType="1"/>
          </p:cNvSpPr>
          <p:nvPr/>
        </p:nvSpPr>
        <p:spPr bwMode="auto">
          <a:xfrm flipH="1">
            <a:off x="1746250" y="5143500"/>
            <a:ext cx="4710113" cy="0"/>
          </a:xfrm>
          <a:prstGeom prst="line">
            <a:avLst/>
          </a:prstGeom>
          <a:noFill/>
          <a:ln w="7938">
            <a:solidFill>
              <a:srgbClr val="000000"/>
            </a:solidFill>
            <a:miter lim="800000"/>
            <a:headEnd/>
            <a:tailEnd/>
          </a:ln>
        </p:spPr>
        <p:txBody>
          <a:bodyPr/>
          <a:lstStyle/>
          <a:p>
            <a:endParaRPr lang="en-US"/>
          </a:p>
        </p:txBody>
      </p:sp>
      <p:sp>
        <p:nvSpPr>
          <p:cNvPr id="216095" name="Rectangle 31"/>
          <p:cNvSpPr>
            <a:spLocks noChangeArrowheads="1"/>
          </p:cNvSpPr>
          <p:nvPr/>
        </p:nvSpPr>
        <p:spPr bwMode="auto">
          <a:xfrm>
            <a:off x="5997575" y="30607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16096" name="Rectangle 32"/>
          <p:cNvSpPr>
            <a:spLocks noChangeArrowheads="1"/>
          </p:cNvSpPr>
          <p:nvPr/>
        </p:nvSpPr>
        <p:spPr bwMode="auto">
          <a:xfrm>
            <a:off x="4425950" y="1758950"/>
            <a:ext cx="1470025"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Short-run industry supply curve, </a:t>
            </a:r>
            <a:r>
              <a:rPr lang="en-US" sz="1400" i="1">
                <a:solidFill>
                  <a:srgbClr val="000000"/>
                </a:solidFill>
                <a:latin typeface="Myriad Pro"/>
              </a:rPr>
              <a:t>S</a:t>
            </a:r>
            <a:endParaRPr lang="en-US" sz="1400" i="1">
              <a:latin typeface="Tahoma" pitchFamily="34" charset="0"/>
            </a:endParaRPr>
          </a:p>
        </p:txBody>
      </p:sp>
      <p:sp>
        <p:nvSpPr>
          <p:cNvPr id="216097" name="Line 33"/>
          <p:cNvSpPr>
            <a:spLocks noChangeShapeType="1"/>
          </p:cNvSpPr>
          <p:nvPr/>
        </p:nvSpPr>
        <p:spPr bwMode="auto">
          <a:xfrm flipV="1">
            <a:off x="2900363" y="2260600"/>
            <a:ext cx="2676525" cy="1676400"/>
          </a:xfrm>
          <a:prstGeom prst="line">
            <a:avLst/>
          </a:prstGeom>
          <a:noFill/>
          <a:ln w="30163">
            <a:solidFill>
              <a:srgbClr val="EE313C"/>
            </a:solidFill>
            <a:miter lim="800000"/>
            <a:headEnd/>
            <a:tailEnd/>
          </a:ln>
        </p:spPr>
        <p:txBody>
          <a:bodyPr/>
          <a:lstStyle/>
          <a:p>
            <a:endParaRPr lang="en-US"/>
          </a:p>
        </p:txBody>
      </p:sp>
      <p:sp>
        <p:nvSpPr>
          <p:cNvPr id="216098" name="Line 34"/>
          <p:cNvSpPr>
            <a:spLocks noChangeShapeType="1"/>
          </p:cNvSpPr>
          <p:nvPr/>
        </p:nvSpPr>
        <p:spPr bwMode="auto">
          <a:xfrm>
            <a:off x="2513013" y="2736850"/>
            <a:ext cx="3446462" cy="434975"/>
          </a:xfrm>
          <a:prstGeom prst="line">
            <a:avLst/>
          </a:prstGeom>
          <a:noFill/>
          <a:ln w="30163">
            <a:solidFill>
              <a:srgbClr val="3C5DAA"/>
            </a:solidFill>
            <a:miter lim="800000"/>
            <a:headEnd/>
            <a:tailEnd/>
          </a:ln>
        </p:spPr>
        <p:txBody>
          <a:bodyPr/>
          <a:lstStyle/>
          <a:p>
            <a:endParaRPr lang="en-US"/>
          </a:p>
        </p:txBody>
      </p:sp>
      <p:sp>
        <p:nvSpPr>
          <p:cNvPr id="216099" name="Oval 35"/>
          <p:cNvSpPr>
            <a:spLocks noChangeArrowheads="1"/>
          </p:cNvSpPr>
          <p:nvPr/>
        </p:nvSpPr>
        <p:spPr bwMode="auto">
          <a:xfrm>
            <a:off x="4378325" y="2921000"/>
            <a:ext cx="104775" cy="114300"/>
          </a:xfrm>
          <a:prstGeom prst="ellipse">
            <a:avLst/>
          </a:prstGeom>
          <a:solidFill>
            <a:srgbClr val="000000"/>
          </a:solidFill>
          <a:ln w="9525">
            <a:noFill/>
            <a:round/>
            <a:headEnd/>
            <a:tailEnd/>
          </a:ln>
        </p:spPr>
        <p:txBody>
          <a:bodyPr/>
          <a:lstStyle/>
          <a:p>
            <a:endParaRPr lang="en-US"/>
          </a:p>
        </p:txBody>
      </p:sp>
      <p:sp>
        <p:nvSpPr>
          <p:cNvPr id="216100" name="Oval 36"/>
          <p:cNvSpPr>
            <a:spLocks noChangeArrowheads="1"/>
          </p:cNvSpPr>
          <p:nvPr/>
        </p:nvSpPr>
        <p:spPr bwMode="auto">
          <a:xfrm>
            <a:off x="2847975" y="3879850"/>
            <a:ext cx="103188" cy="114300"/>
          </a:xfrm>
          <a:prstGeom prst="ellipse">
            <a:avLst/>
          </a:prstGeom>
          <a:solidFill>
            <a:srgbClr val="000000"/>
          </a:solidFill>
          <a:ln w="9525">
            <a:noFill/>
            <a:round/>
            <a:headEnd/>
            <a:tailEnd/>
          </a:ln>
        </p:spPr>
        <p:txBody>
          <a:bodyPr/>
          <a:lstStyle/>
          <a:p>
            <a:endParaRPr lang="en-US"/>
          </a:p>
        </p:txBody>
      </p:sp>
      <p:sp>
        <p:nvSpPr>
          <p:cNvPr id="216101" name="Rectangle 37"/>
          <p:cNvSpPr>
            <a:spLocks noChangeArrowheads="1"/>
          </p:cNvSpPr>
          <p:nvPr/>
        </p:nvSpPr>
        <p:spPr bwMode="auto">
          <a:xfrm>
            <a:off x="4184650" y="26050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Tahoma" pitchFamily="34" charset="0"/>
            </a:endParaRPr>
          </a:p>
        </p:txBody>
      </p:sp>
      <p:sp>
        <p:nvSpPr>
          <p:cNvPr id="216102" name="Rectangle 38"/>
          <p:cNvSpPr>
            <a:spLocks noChangeArrowheads="1"/>
          </p:cNvSpPr>
          <p:nvPr/>
        </p:nvSpPr>
        <p:spPr bwMode="auto">
          <a:xfrm>
            <a:off x="4287838" y="2740025"/>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
        <p:nvSpPr>
          <p:cNvPr id="216103" name="Line 39"/>
          <p:cNvSpPr>
            <a:spLocks noChangeShapeType="1"/>
          </p:cNvSpPr>
          <p:nvPr/>
        </p:nvSpPr>
        <p:spPr bwMode="auto">
          <a:xfrm flipH="1">
            <a:off x="1633538" y="5080000"/>
            <a:ext cx="60325" cy="119063"/>
          </a:xfrm>
          <a:prstGeom prst="line">
            <a:avLst/>
          </a:prstGeom>
          <a:noFill/>
          <a:ln w="7938">
            <a:solidFill>
              <a:srgbClr val="000000"/>
            </a:solidFill>
            <a:miter lim="800000"/>
            <a:headEnd/>
            <a:tailEnd/>
          </a:ln>
        </p:spPr>
        <p:txBody>
          <a:bodyPr/>
          <a:lstStyle/>
          <a:p>
            <a:endParaRPr lang="en-US"/>
          </a:p>
        </p:txBody>
      </p:sp>
      <p:sp>
        <p:nvSpPr>
          <p:cNvPr id="216104" name="Line 40"/>
          <p:cNvSpPr>
            <a:spLocks noChangeShapeType="1"/>
          </p:cNvSpPr>
          <p:nvPr/>
        </p:nvSpPr>
        <p:spPr bwMode="auto">
          <a:xfrm flipH="1">
            <a:off x="1716088" y="5080000"/>
            <a:ext cx="61912" cy="119063"/>
          </a:xfrm>
          <a:prstGeom prst="line">
            <a:avLst/>
          </a:prstGeom>
          <a:noFill/>
          <a:ln w="7938">
            <a:solidFill>
              <a:srgbClr val="000000"/>
            </a:solidFill>
            <a:miter lim="800000"/>
            <a:headEnd/>
            <a:tailEnd/>
          </a:ln>
        </p:spPr>
        <p:txBody>
          <a:bodyPr/>
          <a:lstStyle/>
          <a:p>
            <a:endParaRPr lang="en-US"/>
          </a:p>
        </p:txBody>
      </p:sp>
      <p:sp>
        <p:nvSpPr>
          <p:cNvPr id="216105" name="Line 41"/>
          <p:cNvSpPr>
            <a:spLocks noChangeShapeType="1"/>
          </p:cNvSpPr>
          <p:nvPr/>
        </p:nvSpPr>
        <p:spPr bwMode="auto">
          <a:xfrm>
            <a:off x="884238" y="3943350"/>
            <a:ext cx="174625" cy="0"/>
          </a:xfrm>
          <a:prstGeom prst="line">
            <a:avLst/>
          </a:prstGeom>
          <a:noFill/>
          <a:ln w="7938">
            <a:solidFill>
              <a:srgbClr val="000000"/>
            </a:solidFill>
            <a:miter lim="800000"/>
            <a:headEnd/>
            <a:tailEnd/>
          </a:ln>
        </p:spPr>
        <p:txBody>
          <a:bodyPr/>
          <a:lstStyle/>
          <a:p>
            <a:endParaRPr lang="en-US"/>
          </a:p>
        </p:txBody>
      </p:sp>
      <p:sp>
        <p:nvSpPr>
          <p:cNvPr id="216106" name="Freeform 42"/>
          <p:cNvSpPr>
            <a:spLocks/>
          </p:cNvSpPr>
          <p:nvPr/>
        </p:nvSpPr>
        <p:spPr bwMode="auto">
          <a:xfrm>
            <a:off x="0" y="3668713"/>
            <a:ext cx="1079500" cy="552450"/>
          </a:xfrm>
          <a:custGeom>
            <a:avLst/>
            <a:gdLst>
              <a:gd name="T0" fmla="*/ 2147483647 w 174"/>
              <a:gd name="T1" fmla="*/ 2147483647 h 95"/>
              <a:gd name="T2" fmla="*/ 2147483647 w 174"/>
              <a:gd name="T3" fmla="*/ 2147483647 h 95"/>
              <a:gd name="T4" fmla="*/ 2147483647 w 174"/>
              <a:gd name="T5" fmla="*/ 2147483647 h 95"/>
              <a:gd name="T6" fmla="*/ 0 w 174"/>
              <a:gd name="T7" fmla="*/ 2147483647 h 95"/>
              <a:gd name="T8" fmla="*/ 0 w 174"/>
              <a:gd name="T9" fmla="*/ 2147483647 h 95"/>
              <a:gd name="T10" fmla="*/ 2147483647 w 174"/>
              <a:gd name="T11" fmla="*/ 0 h 95"/>
              <a:gd name="T12" fmla="*/ 2147483647 w 174"/>
              <a:gd name="T13" fmla="*/ 0 h 95"/>
              <a:gd name="T14" fmla="*/ 2147483647 w 174"/>
              <a:gd name="T15" fmla="*/ 2147483647 h 95"/>
              <a:gd name="T16" fmla="*/ 2147483647 w 174"/>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4"/>
              <a:gd name="T28" fmla="*/ 0 h 95"/>
              <a:gd name="T29" fmla="*/ 174 w 174"/>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4" h="95">
                <a:moveTo>
                  <a:pt x="174" y="79"/>
                </a:moveTo>
                <a:cubicBezTo>
                  <a:pt x="174" y="88"/>
                  <a:pt x="166" y="95"/>
                  <a:pt x="158" y="95"/>
                </a:cubicBezTo>
                <a:cubicBezTo>
                  <a:pt x="16" y="95"/>
                  <a:pt x="16" y="95"/>
                  <a:pt x="16" y="95"/>
                </a:cubicBezTo>
                <a:cubicBezTo>
                  <a:pt x="7" y="95"/>
                  <a:pt x="0" y="88"/>
                  <a:pt x="0" y="79"/>
                </a:cubicBezTo>
                <a:cubicBezTo>
                  <a:pt x="0" y="16"/>
                  <a:pt x="0" y="16"/>
                  <a:pt x="0" y="16"/>
                </a:cubicBezTo>
                <a:cubicBezTo>
                  <a:pt x="0" y="8"/>
                  <a:pt x="7" y="0"/>
                  <a:pt x="16" y="0"/>
                </a:cubicBezTo>
                <a:cubicBezTo>
                  <a:pt x="158" y="0"/>
                  <a:pt x="158" y="0"/>
                  <a:pt x="158" y="0"/>
                </a:cubicBezTo>
                <a:cubicBezTo>
                  <a:pt x="166" y="0"/>
                  <a:pt x="174" y="8"/>
                  <a:pt x="174" y="16"/>
                </a:cubicBezTo>
                <a:lnTo>
                  <a:pt x="174" y="79"/>
                </a:lnTo>
                <a:close/>
              </a:path>
            </a:pathLst>
          </a:custGeom>
          <a:solidFill>
            <a:srgbClr val="D7E2E0"/>
          </a:solidFill>
          <a:ln w="9525">
            <a:noFill/>
            <a:round/>
            <a:headEnd/>
            <a:tailEnd/>
          </a:ln>
        </p:spPr>
        <p:txBody>
          <a:bodyPr/>
          <a:lstStyle/>
          <a:p>
            <a:endParaRPr lang="en-US"/>
          </a:p>
        </p:txBody>
      </p:sp>
      <p:sp>
        <p:nvSpPr>
          <p:cNvPr id="216107" name="Line 43"/>
          <p:cNvSpPr>
            <a:spLocks noChangeShapeType="1"/>
          </p:cNvSpPr>
          <p:nvPr/>
        </p:nvSpPr>
        <p:spPr bwMode="auto">
          <a:xfrm>
            <a:off x="755650" y="2978150"/>
            <a:ext cx="303213" cy="0"/>
          </a:xfrm>
          <a:prstGeom prst="line">
            <a:avLst/>
          </a:prstGeom>
          <a:noFill/>
          <a:ln w="7938">
            <a:solidFill>
              <a:srgbClr val="000000"/>
            </a:solidFill>
            <a:miter lim="800000"/>
            <a:headEnd/>
            <a:tailEnd/>
          </a:ln>
        </p:spPr>
        <p:txBody>
          <a:bodyPr/>
          <a:lstStyle/>
          <a:p>
            <a:endParaRPr lang="en-US"/>
          </a:p>
        </p:txBody>
      </p:sp>
      <p:sp>
        <p:nvSpPr>
          <p:cNvPr id="216108" name="Freeform 44"/>
          <p:cNvSpPr>
            <a:spLocks/>
          </p:cNvSpPr>
          <p:nvPr/>
        </p:nvSpPr>
        <p:spPr bwMode="auto">
          <a:xfrm>
            <a:off x="122238" y="2708275"/>
            <a:ext cx="647700" cy="539750"/>
          </a:xfrm>
          <a:custGeom>
            <a:avLst/>
            <a:gdLst>
              <a:gd name="T0" fmla="*/ 2147483647 w 125"/>
              <a:gd name="T1" fmla="*/ 2147483647 h 94"/>
              <a:gd name="T2" fmla="*/ 2147483647 w 125"/>
              <a:gd name="T3" fmla="*/ 2147483647 h 94"/>
              <a:gd name="T4" fmla="*/ 2147483647 w 125"/>
              <a:gd name="T5" fmla="*/ 2147483647 h 94"/>
              <a:gd name="T6" fmla="*/ 0 w 125"/>
              <a:gd name="T7" fmla="*/ 2147483647 h 94"/>
              <a:gd name="T8" fmla="*/ 0 w 125"/>
              <a:gd name="T9" fmla="*/ 2147483647 h 94"/>
              <a:gd name="T10" fmla="*/ 2147483647 w 125"/>
              <a:gd name="T11" fmla="*/ 0 h 94"/>
              <a:gd name="T12" fmla="*/ 2147483647 w 125"/>
              <a:gd name="T13" fmla="*/ 0 h 94"/>
              <a:gd name="T14" fmla="*/ 2147483647 w 125"/>
              <a:gd name="T15" fmla="*/ 2147483647 h 94"/>
              <a:gd name="T16" fmla="*/ 2147483647 w 125"/>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5"/>
              <a:gd name="T28" fmla="*/ 0 h 94"/>
              <a:gd name="T29" fmla="*/ 125 w 125"/>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5" h="94">
                <a:moveTo>
                  <a:pt x="125" y="78"/>
                </a:moveTo>
                <a:cubicBezTo>
                  <a:pt x="125" y="87"/>
                  <a:pt x="117" y="94"/>
                  <a:pt x="109" y="94"/>
                </a:cubicBezTo>
                <a:cubicBezTo>
                  <a:pt x="16" y="94"/>
                  <a:pt x="16" y="94"/>
                  <a:pt x="16" y="94"/>
                </a:cubicBezTo>
                <a:cubicBezTo>
                  <a:pt x="7" y="94"/>
                  <a:pt x="0" y="87"/>
                  <a:pt x="0" y="78"/>
                </a:cubicBezTo>
                <a:cubicBezTo>
                  <a:pt x="0" y="16"/>
                  <a:pt x="0" y="16"/>
                  <a:pt x="0" y="16"/>
                </a:cubicBezTo>
                <a:cubicBezTo>
                  <a:pt x="0" y="7"/>
                  <a:pt x="7" y="0"/>
                  <a:pt x="16" y="0"/>
                </a:cubicBezTo>
                <a:cubicBezTo>
                  <a:pt x="109" y="0"/>
                  <a:pt x="109" y="0"/>
                  <a:pt x="109" y="0"/>
                </a:cubicBezTo>
                <a:cubicBezTo>
                  <a:pt x="117" y="0"/>
                  <a:pt x="125" y="7"/>
                  <a:pt x="125" y="16"/>
                </a:cubicBezTo>
                <a:lnTo>
                  <a:pt x="125" y="78"/>
                </a:lnTo>
                <a:close/>
              </a:path>
            </a:pathLst>
          </a:custGeom>
          <a:solidFill>
            <a:srgbClr val="D7E2E0"/>
          </a:solidFill>
          <a:ln w="9525">
            <a:noFill/>
            <a:round/>
            <a:headEnd/>
            <a:tailEnd/>
          </a:ln>
        </p:spPr>
        <p:txBody>
          <a:bodyPr/>
          <a:lstStyle/>
          <a:p>
            <a:endParaRPr lang="en-US"/>
          </a:p>
        </p:txBody>
      </p:sp>
      <p:sp>
        <p:nvSpPr>
          <p:cNvPr id="216109" name="Rectangle 45"/>
          <p:cNvSpPr>
            <a:spLocks noChangeArrowheads="1"/>
          </p:cNvSpPr>
          <p:nvPr/>
        </p:nvSpPr>
        <p:spPr bwMode="auto">
          <a:xfrm>
            <a:off x="61913" y="3724275"/>
            <a:ext cx="946150" cy="42545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Shut-down price</a:t>
            </a:r>
            <a:endParaRPr lang="en-US" sz="1400">
              <a:latin typeface="Tahoma" pitchFamily="34" charset="0"/>
            </a:endParaRPr>
          </a:p>
        </p:txBody>
      </p:sp>
      <p:sp>
        <p:nvSpPr>
          <p:cNvPr id="216110" name="Rectangle 46"/>
          <p:cNvSpPr>
            <a:spLocks noChangeArrowheads="1"/>
          </p:cNvSpPr>
          <p:nvPr/>
        </p:nvSpPr>
        <p:spPr bwMode="auto">
          <a:xfrm>
            <a:off x="900113" y="692150"/>
            <a:ext cx="94297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216111" name="Rectangle 47"/>
          <p:cNvSpPr>
            <a:spLocks noChangeArrowheads="1"/>
          </p:cNvSpPr>
          <p:nvPr/>
        </p:nvSpPr>
        <p:spPr bwMode="auto">
          <a:xfrm>
            <a:off x="4040188" y="5632450"/>
            <a:ext cx="2513012"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216112" name="Rectangle 48"/>
          <p:cNvSpPr>
            <a:spLocks noChangeArrowheads="1"/>
          </p:cNvSpPr>
          <p:nvPr/>
        </p:nvSpPr>
        <p:spPr bwMode="auto">
          <a:xfrm>
            <a:off x="142875" y="2770188"/>
            <a:ext cx="630238"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Market price</a:t>
            </a:r>
            <a:endParaRPr lang="en-US" sz="1400">
              <a:latin typeface="Tahoma" pitchFamily="34" charset="0"/>
            </a:endParaRPr>
          </a:p>
        </p:txBody>
      </p:sp>
      <p:cxnSp>
        <p:nvCxnSpPr>
          <p:cNvPr id="548914" name="Straight Connector 86"/>
          <p:cNvCxnSpPr>
            <a:cxnSpLocks noChangeShapeType="1"/>
          </p:cNvCxnSpPr>
          <p:nvPr/>
        </p:nvCxnSpPr>
        <p:spPr bwMode="auto">
          <a:xfrm>
            <a:off x="2911475" y="3971925"/>
            <a:ext cx="0" cy="1049338"/>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4421188" y="3052763"/>
            <a:ext cx="0" cy="1998662"/>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1519238" y="3927475"/>
            <a:ext cx="1365250" cy="0"/>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1519238" y="2979738"/>
            <a:ext cx="2862262" cy="0"/>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60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60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60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60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60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60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60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608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608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60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608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608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609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610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61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61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60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607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607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607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607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608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608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609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609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609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611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16093"/>
                                        </p:tgtEl>
                                        <p:attrNameLst>
                                          <p:attrName>style.visibility</p:attrName>
                                        </p:attrNameLst>
                                      </p:cBhvr>
                                      <p:to>
                                        <p:strVal val="visible"/>
                                      </p:to>
                                    </p:set>
                                  </p:childTnLst>
                                </p:cTn>
                              </p:par>
                            </p:childTnLst>
                          </p:cTn>
                        </p:par>
                        <p:par>
                          <p:cTn id="61" fill="hold">
                            <p:stCondLst>
                              <p:cond delay="0"/>
                            </p:stCondLst>
                            <p:childTnLst>
                              <p:par>
                                <p:cTn id="62" presetID="22" presetClass="entr" presetSubtype="4" fill="hold" grpId="0" nodeType="afterEffect">
                                  <p:stCondLst>
                                    <p:cond delay="0"/>
                                  </p:stCondLst>
                                  <p:childTnLst>
                                    <p:set>
                                      <p:cBhvr>
                                        <p:cTn id="63" dur="1" fill="hold">
                                          <p:stCondLst>
                                            <p:cond delay="0"/>
                                          </p:stCondLst>
                                        </p:cTn>
                                        <p:tgtEl>
                                          <p:spTgt spid="216097"/>
                                        </p:tgtEl>
                                        <p:attrNameLst>
                                          <p:attrName>style.visibility</p:attrName>
                                        </p:attrNameLst>
                                      </p:cBhvr>
                                      <p:to>
                                        <p:strVal val="visible"/>
                                      </p:to>
                                    </p:set>
                                    <p:animEffect transition="in" filter="wipe(down)">
                                      <p:cBhvr>
                                        <p:cTn id="64" dur="500"/>
                                        <p:tgtEl>
                                          <p:spTgt spid="216097"/>
                                        </p:tgtEl>
                                      </p:cBhvr>
                                    </p:animEffect>
                                  </p:childTnLst>
                                </p:cTn>
                              </p:par>
                            </p:childTnLst>
                          </p:cTn>
                        </p:par>
                        <p:par>
                          <p:cTn id="65" fill="hold">
                            <p:stCondLst>
                              <p:cond delay="500"/>
                            </p:stCondLst>
                            <p:childTnLst>
                              <p:par>
                                <p:cTn id="66" presetID="1" presetClass="entr" presetSubtype="0" fill="hold" grpId="0" nodeType="afterEffect">
                                  <p:stCondLst>
                                    <p:cond delay="0"/>
                                  </p:stCondLst>
                                  <p:childTnLst>
                                    <p:set>
                                      <p:cBhvr>
                                        <p:cTn id="67" dur="1" fill="hold">
                                          <p:stCondLst>
                                            <p:cond delay="0"/>
                                          </p:stCondLst>
                                        </p:cTn>
                                        <p:tgtEl>
                                          <p:spTgt spid="216096"/>
                                        </p:tgtEl>
                                        <p:attrNameLst>
                                          <p:attrName>style.visibility</p:attrName>
                                        </p:attrNameLst>
                                      </p:cBhvr>
                                      <p:to>
                                        <p:strVal val="visible"/>
                                      </p:to>
                                    </p:set>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216099"/>
                                        </p:tgtEl>
                                        <p:attrNameLst>
                                          <p:attrName>style.visibility</p:attrName>
                                        </p:attrNameLst>
                                      </p:cBhvr>
                                      <p:to>
                                        <p:strVal val="visible"/>
                                      </p:to>
                                    </p:set>
                                  </p:childTnLst>
                                </p:cTn>
                              </p:par>
                              <p:par>
                                <p:cTn id="71" presetID="22" presetClass="entr" presetSubtype="4" fill="hold" grpId="0" nodeType="withEffect">
                                  <p:stCondLst>
                                    <p:cond delay="0"/>
                                  </p:stCondLst>
                                  <p:childTnLst>
                                    <p:set>
                                      <p:cBhvr>
                                        <p:cTn id="72" dur="1" fill="hold">
                                          <p:stCondLst>
                                            <p:cond delay="0"/>
                                          </p:stCondLst>
                                        </p:cTn>
                                        <p:tgtEl>
                                          <p:spTgt spid="216098"/>
                                        </p:tgtEl>
                                        <p:attrNameLst>
                                          <p:attrName>style.visibility</p:attrName>
                                        </p:attrNameLst>
                                      </p:cBhvr>
                                      <p:to>
                                        <p:strVal val="visible"/>
                                      </p:to>
                                    </p:set>
                                    <p:animEffect transition="in" filter="wipe(down)">
                                      <p:cBhvr>
                                        <p:cTn id="73" dur="500"/>
                                        <p:tgtEl>
                                          <p:spTgt spid="216098"/>
                                        </p:tgtEl>
                                      </p:cBhvr>
                                    </p:animEffect>
                                  </p:childTnLst>
                                </p:cTn>
                              </p:par>
                            </p:childTnLst>
                          </p:cTn>
                        </p:par>
                        <p:par>
                          <p:cTn id="74" fill="hold">
                            <p:stCondLst>
                              <p:cond delay="1000"/>
                            </p:stCondLst>
                            <p:childTnLst>
                              <p:par>
                                <p:cTn id="75" presetID="1" presetClass="entr" presetSubtype="0" fill="hold" grpId="0" nodeType="afterEffect">
                                  <p:stCondLst>
                                    <p:cond delay="0"/>
                                  </p:stCondLst>
                                  <p:childTnLst>
                                    <p:set>
                                      <p:cBhvr>
                                        <p:cTn id="76" dur="1" fill="hold">
                                          <p:stCondLst>
                                            <p:cond delay="0"/>
                                          </p:stCondLst>
                                        </p:cTn>
                                        <p:tgtEl>
                                          <p:spTgt spid="21609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1610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16102"/>
                                        </p:tgtEl>
                                        <p:attrNameLst>
                                          <p:attrName>style.visibility</p:attrName>
                                        </p:attrNameLst>
                                      </p:cBhvr>
                                      <p:to>
                                        <p:strVal val="visible"/>
                                      </p:to>
                                    </p:set>
                                  </p:childTnLst>
                                </p:cTn>
                              </p:par>
                              <p:par>
                                <p:cTn id="83" presetID="22" presetClass="entr" presetSubtype="1" fill="hold" nodeType="with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wipe(up)">
                                      <p:cBhvr>
                                        <p:cTn id="85" dur="500"/>
                                        <p:tgtEl>
                                          <p:spTgt spid="2"/>
                                        </p:tgtEl>
                                      </p:cBhvr>
                                    </p:animEffect>
                                  </p:childTnLst>
                                </p:cTn>
                              </p:par>
                              <p:par>
                                <p:cTn id="86" presetID="22" presetClass="entr" presetSubtype="8" fill="hold" nodeType="withEffect">
                                  <p:stCondLst>
                                    <p:cond delay="0"/>
                                  </p:stCondLst>
                                  <p:childTnLst>
                                    <p:set>
                                      <p:cBhvr>
                                        <p:cTn id="87" dur="1" fill="hold">
                                          <p:stCondLst>
                                            <p:cond delay="0"/>
                                          </p:stCondLst>
                                        </p:cTn>
                                        <p:tgtEl>
                                          <p:spTgt spid="4"/>
                                        </p:tgtEl>
                                        <p:attrNameLst>
                                          <p:attrName>style.visibility</p:attrName>
                                        </p:attrNameLst>
                                      </p:cBhvr>
                                      <p:to>
                                        <p:strVal val="visible"/>
                                      </p:to>
                                    </p:set>
                                    <p:animEffect transition="in" filter="wipe(left)">
                                      <p:cBhvr>
                                        <p:cTn id="88" dur="500"/>
                                        <p:tgtEl>
                                          <p:spTgt spid="4"/>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1610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6106"/>
                                        </p:tgtEl>
                                        <p:attrNameLst>
                                          <p:attrName>style.visibility</p:attrName>
                                        </p:attrNameLst>
                                      </p:cBhvr>
                                      <p:to>
                                        <p:strVal val="visible"/>
                                      </p:to>
                                    </p:set>
                                  </p:childTnLst>
                                </p:cTn>
                              </p:par>
                              <p:par>
                                <p:cTn id="95" presetID="22" presetClass="entr" presetSubtype="8" fill="hold" nodeType="with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wipe(left)">
                                      <p:cBhvr>
                                        <p:cTn id="97" dur="500"/>
                                        <p:tgtEl>
                                          <p:spTgt spid="3"/>
                                        </p:tgtEl>
                                      </p:cBhvr>
                                    </p:animEffect>
                                  </p:childTnLst>
                                </p:cTn>
                              </p:par>
                              <p:par>
                                <p:cTn id="98" presetID="1" presetClass="entr" presetSubtype="0" fill="hold" grpId="0" nodeType="withEffect">
                                  <p:stCondLst>
                                    <p:cond delay="0"/>
                                  </p:stCondLst>
                                  <p:childTnLst>
                                    <p:set>
                                      <p:cBhvr>
                                        <p:cTn id="99" dur="1" fill="hold">
                                          <p:stCondLst>
                                            <p:cond delay="0"/>
                                          </p:stCondLst>
                                        </p:cTn>
                                        <p:tgtEl>
                                          <p:spTgt spid="216108"/>
                                        </p:tgtEl>
                                        <p:attrNameLst>
                                          <p:attrName>style.visibility</p:attrName>
                                        </p:attrNameLst>
                                      </p:cBhvr>
                                      <p:to>
                                        <p:strVal val="visible"/>
                                      </p:to>
                                    </p:set>
                                  </p:childTnLst>
                                </p:cTn>
                              </p:par>
                              <p:par>
                                <p:cTn id="100" presetID="22" presetClass="entr" presetSubtype="1" fill="hold" nodeType="withEffect">
                                  <p:stCondLst>
                                    <p:cond delay="0"/>
                                  </p:stCondLst>
                                  <p:childTnLst>
                                    <p:set>
                                      <p:cBhvr>
                                        <p:cTn id="101" dur="1" fill="hold">
                                          <p:stCondLst>
                                            <p:cond delay="0"/>
                                          </p:stCondLst>
                                        </p:cTn>
                                        <p:tgtEl>
                                          <p:spTgt spid="548914"/>
                                        </p:tgtEl>
                                        <p:attrNameLst>
                                          <p:attrName>style.visibility</p:attrName>
                                        </p:attrNameLst>
                                      </p:cBhvr>
                                      <p:to>
                                        <p:strVal val="visible"/>
                                      </p:to>
                                    </p:set>
                                    <p:animEffect transition="in" filter="wipe(up)">
                                      <p:cBhvr>
                                        <p:cTn id="102" dur="500"/>
                                        <p:tgtEl>
                                          <p:spTgt spid="548914"/>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216112"/>
                                        </p:tgtEl>
                                        <p:attrNameLst>
                                          <p:attrName>style.visibility</p:attrName>
                                        </p:attrNameLst>
                                      </p:cBhvr>
                                      <p:to>
                                        <p:strVal val="visible"/>
                                      </p:to>
                                    </p:set>
                                    <p:animEffect transition="in" filter="wipe(up)">
                                      <p:cBhvr>
                                        <p:cTn id="105" dur="500"/>
                                        <p:tgtEl>
                                          <p:spTgt spid="216112"/>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216109"/>
                                        </p:tgtEl>
                                        <p:attrNameLst>
                                          <p:attrName>style.visibility</p:attrName>
                                        </p:attrNameLst>
                                      </p:cBhvr>
                                      <p:to>
                                        <p:strVal val="visible"/>
                                      </p:to>
                                    </p:set>
                                    <p:animEffect transition="in" filter="wipe(up)">
                                      <p:cBhvr>
                                        <p:cTn id="108" dur="500"/>
                                        <p:tgtEl>
                                          <p:spTgt spid="216109"/>
                                        </p:tgtEl>
                                      </p:cBhvr>
                                    </p:animEffect>
                                  </p:childTnLst>
                                </p:cTn>
                              </p:par>
                              <p:par>
                                <p:cTn id="109" presetID="1" presetClass="entr" presetSubtype="0" fill="hold" grpId="0" nodeType="withEffect">
                                  <p:stCondLst>
                                    <p:cond delay="0"/>
                                  </p:stCondLst>
                                  <p:childTnLst>
                                    <p:set>
                                      <p:cBhvr>
                                        <p:cTn id="110" dur="1" fill="hold">
                                          <p:stCondLst>
                                            <p:cond delay="0"/>
                                          </p:stCondLst>
                                        </p:cTn>
                                        <p:tgtEl>
                                          <p:spTgt spid="21610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16107"/>
                                        </p:tgtEl>
                                        <p:attrNameLst>
                                          <p:attrName>style.visibility</p:attrName>
                                        </p:attrNameLst>
                                      </p:cBhvr>
                                      <p:to>
                                        <p:strVal val="visible"/>
                                      </p:to>
                                    </p:set>
                                  </p:childTnLst>
                                </p:cTn>
                              </p:par>
                            </p:childTnLst>
                          </p:cTn>
                        </p:par>
                        <p:par>
                          <p:cTn id="113" fill="hold">
                            <p:stCondLst>
                              <p:cond delay="500"/>
                            </p:stCondLst>
                            <p:childTnLst>
                              <p:par>
                                <p:cTn id="114" presetID="22" presetClass="entr" presetSubtype="1" fill="hold" grpId="0" nodeType="afterEffect">
                                  <p:stCondLst>
                                    <p:cond delay="0"/>
                                  </p:stCondLst>
                                  <p:childTnLst>
                                    <p:set>
                                      <p:cBhvr>
                                        <p:cTn id="115" dur="1" fill="hold">
                                          <p:stCondLst>
                                            <p:cond delay="0"/>
                                          </p:stCondLst>
                                        </p:cTn>
                                        <p:tgtEl>
                                          <p:spTgt spid="11277"/>
                                        </p:tgtEl>
                                        <p:attrNameLst>
                                          <p:attrName>style.visibility</p:attrName>
                                        </p:attrNameLst>
                                      </p:cBhvr>
                                      <p:to>
                                        <p:strVal val="visible"/>
                                      </p:to>
                                    </p:set>
                                    <p:animEffect transition="in" filter="wipe(up)">
                                      <p:cBhvr>
                                        <p:cTn id="116" dur="500"/>
                                        <p:tgtEl>
                                          <p:spTgt spid="11277"/>
                                        </p:tgtEl>
                                      </p:cBhvr>
                                    </p:animEffect>
                                  </p:childTnLst>
                                </p:cTn>
                              </p:par>
                            </p:childTnLst>
                          </p:cTn>
                        </p:par>
                        <p:par>
                          <p:cTn id="117" fill="hold">
                            <p:stCondLst>
                              <p:cond delay="1000"/>
                            </p:stCondLst>
                            <p:childTnLst>
                              <p:par>
                                <p:cTn id="118" presetID="22" presetClass="entr" presetSubtype="1" fill="hold" grpId="0" nodeType="afterEffect">
                                  <p:stCondLst>
                                    <p:cond delay="0"/>
                                  </p:stCondLst>
                                  <p:childTnLst>
                                    <p:set>
                                      <p:cBhvr>
                                        <p:cTn id="119" dur="1" fill="hold">
                                          <p:stCondLst>
                                            <p:cond delay="0"/>
                                          </p:stCondLst>
                                        </p:cTn>
                                        <p:tgtEl>
                                          <p:spTgt spid="11276"/>
                                        </p:tgtEl>
                                        <p:attrNameLst>
                                          <p:attrName>style.visibility</p:attrName>
                                        </p:attrNameLst>
                                      </p:cBhvr>
                                      <p:to>
                                        <p:strVal val="visible"/>
                                      </p:to>
                                    </p:set>
                                    <p:animEffect transition="in" filter="wipe(up)">
                                      <p:cBhvr>
                                        <p:cTn id="120" dur="500"/>
                                        <p:tgtEl>
                                          <p:spTgt spid="11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7" grpId="0" animBg="1"/>
      <p:bldP spid="11276" grpId="0" animBg="1"/>
      <p:bldP spid="216070" grpId="0" animBg="1"/>
      <p:bldP spid="216071" grpId="0" animBg="1"/>
      <p:bldP spid="216072" grpId="0" animBg="1"/>
      <p:bldP spid="216073" grpId="0" animBg="1"/>
      <p:bldP spid="216074" grpId="0" animBg="1"/>
      <p:bldP spid="216076" grpId="0" animBg="1"/>
      <p:bldP spid="216077" grpId="0" animBg="1"/>
      <p:bldP spid="216078" grpId="0" animBg="1"/>
      <p:bldP spid="216079" grpId="0" animBg="1"/>
      <p:bldP spid="216080" grpId="0" animBg="1"/>
      <p:bldP spid="216081" grpId="0"/>
      <p:bldP spid="216082" grpId="0"/>
      <p:bldP spid="216083" grpId="0"/>
      <p:bldP spid="216084" grpId="0"/>
      <p:bldP spid="216085" grpId="0"/>
      <p:bldP spid="216086" grpId="0"/>
      <p:bldP spid="216087" grpId="0"/>
      <p:bldP spid="216088" grpId="0"/>
      <p:bldP spid="216089" grpId="0"/>
      <p:bldP spid="216090" grpId="0"/>
      <p:bldP spid="216091" grpId="0"/>
      <p:bldP spid="216092" grpId="0"/>
      <p:bldP spid="216093" grpId="0" animBg="1"/>
      <p:bldP spid="216094" grpId="0" animBg="1"/>
      <p:bldP spid="216095" grpId="0"/>
      <p:bldP spid="216096" grpId="0"/>
      <p:bldP spid="216097" grpId="0" animBg="1"/>
      <p:bldP spid="216098" grpId="0" animBg="1"/>
      <p:bldP spid="216099" grpId="0" animBg="1"/>
      <p:bldP spid="216100" grpId="0" animBg="1"/>
      <p:bldP spid="216101" grpId="0"/>
      <p:bldP spid="216102" grpId="0"/>
      <p:bldP spid="216103" grpId="0" animBg="1"/>
      <p:bldP spid="216104" grpId="0" animBg="1"/>
      <p:bldP spid="216105" grpId="0" animBg="1"/>
      <p:bldP spid="216106" grpId="0" animBg="1"/>
      <p:bldP spid="216107" grpId="0" animBg="1"/>
      <p:bldP spid="216108" grpId="0" animBg="1"/>
      <p:bldP spid="216109" grpId="0"/>
      <p:bldP spid="216110" grpId="0"/>
      <p:bldP spid="216111" grpId="0"/>
      <p:bldP spid="2161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Rot="1" noChangeArrowheads="1"/>
          </p:cNvSpPr>
          <p:nvPr>
            <p:ph type="title" idx="4294967295"/>
          </p:nvPr>
        </p:nvSpPr>
        <p:spPr>
          <a:xfrm>
            <a:off x="904875" y="44450"/>
            <a:ext cx="8010525" cy="555625"/>
          </a:xfrm>
        </p:spPr>
        <p:txBody>
          <a:bodyPr/>
          <a:lstStyle/>
          <a:p>
            <a:pPr>
              <a:defRPr/>
            </a:pPr>
            <a:r>
              <a:rPr lang="en-US" dirty="0" smtClean="0"/>
              <a:t>The Long-Run Market Equilibrium</a:t>
            </a:r>
          </a:p>
        </p:txBody>
      </p:sp>
      <p:sp>
        <p:nvSpPr>
          <p:cNvPr id="12303" name="Text Box 15"/>
          <p:cNvSpPr txBox="1">
            <a:spLocks noChangeArrowheads="1"/>
          </p:cNvSpPr>
          <p:nvPr/>
        </p:nvSpPr>
        <p:spPr bwMode="auto">
          <a:xfrm>
            <a:off x="876300" y="5457825"/>
            <a:ext cx="8159750" cy="923925"/>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spcBef>
                <a:spcPct val="20000"/>
              </a:spcBef>
              <a:defRPr/>
            </a:pPr>
            <a:r>
              <a:rPr lang="en-US" dirty="0">
                <a:solidFill>
                  <a:srgbClr val="0000FF"/>
                </a:solidFill>
              </a:rPr>
              <a:t>A market is in </a:t>
            </a:r>
            <a:r>
              <a:rPr lang="en-US" b="1" dirty="0">
                <a:solidFill>
                  <a:srgbClr val="0000FF"/>
                </a:solidFill>
              </a:rPr>
              <a:t>long-run market equilibrium </a:t>
            </a:r>
            <a:r>
              <a:rPr lang="en-US" dirty="0">
                <a:solidFill>
                  <a:srgbClr val="0000FF"/>
                </a:solidFill>
              </a:rPr>
              <a:t>when the quantity supplied equals the quantity demanded, given that sufficient time has elapsed for entry into and exit from the industry to occur.</a:t>
            </a:r>
          </a:p>
        </p:txBody>
      </p:sp>
      <p:sp>
        <p:nvSpPr>
          <p:cNvPr id="67587" name="Rectangle 131"/>
          <p:cNvSpPr>
            <a:spLocks noChangeArrowheads="1"/>
          </p:cNvSpPr>
          <p:nvPr/>
        </p:nvSpPr>
        <p:spPr bwMode="auto">
          <a:xfrm>
            <a:off x="7172325" y="4819650"/>
            <a:ext cx="18923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218117" name="Rectangle 5"/>
          <p:cNvSpPr>
            <a:spLocks noChangeArrowheads="1"/>
          </p:cNvSpPr>
          <p:nvPr/>
        </p:nvSpPr>
        <p:spPr bwMode="auto">
          <a:xfrm>
            <a:off x="5746750" y="1874838"/>
            <a:ext cx="2114550" cy="1944687"/>
          </a:xfrm>
          <a:prstGeom prst="rect">
            <a:avLst/>
          </a:prstGeom>
          <a:solidFill>
            <a:srgbClr val="D7EDE7"/>
          </a:solidFill>
          <a:ln w="9525">
            <a:noFill/>
            <a:miter lim="800000"/>
            <a:headEnd/>
            <a:tailEnd/>
          </a:ln>
        </p:spPr>
        <p:txBody>
          <a:bodyPr/>
          <a:lstStyle/>
          <a:p>
            <a:endParaRPr lang="en-US"/>
          </a:p>
        </p:txBody>
      </p:sp>
      <p:sp>
        <p:nvSpPr>
          <p:cNvPr id="218118" name="Rectangle 6"/>
          <p:cNvSpPr>
            <a:spLocks noChangeArrowheads="1"/>
          </p:cNvSpPr>
          <p:nvPr/>
        </p:nvSpPr>
        <p:spPr bwMode="auto">
          <a:xfrm>
            <a:off x="5746750" y="2992438"/>
            <a:ext cx="90488" cy="976312"/>
          </a:xfrm>
          <a:prstGeom prst="rect">
            <a:avLst/>
          </a:prstGeom>
          <a:solidFill>
            <a:srgbClr val="FFE5B9"/>
          </a:solidFill>
          <a:ln w="9525">
            <a:noFill/>
            <a:miter lim="800000"/>
            <a:headEnd/>
            <a:tailEnd/>
          </a:ln>
        </p:spPr>
        <p:txBody>
          <a:bodyPr/>
          <a:lstStyle/>
          <a:p>
            <a:endParaRPr lang="en-US"/>
          </a:p>
        </p:txBody>
      </p:sp>
      <p:sp>
        <p:nvSpPr>
          <p:cNvPr id="218119" name="Rectangle 7"/>
          <p:cNvSpPr>
            <a:spLocks noChangeArrowheads="1"/>
          </p:cNvSpPr>
          <p:nvPr/>
        </p:nvSpPr>
        <p:spPr bwMode="auto">
          <a:xfrm>
            <a:off x="5910263" y="2992438"/>
            <a:ext cx="88900" cy="976312"/>
          </a:xfrm>
          <a:prstGeom prst="rect">
            <a:avLst/>
          </a:prstGeom>
          <a:solidFill>
            <a:srgbClr val="FFE5B9"/>
          </a:solidFill>
          <a:ln w="9525">
            <a:noFill/>
            <a:miter lim="800000"/>
            <a:headEnd/>
            <a:tailEnd/>
          </a:ln>
        </p:spPr>
        <p:txBody>
          <a:bodyPr/>
          <a:lstStyle/>
          <a:p>
            <a:endParaRPr lang="en-US"/>
          </a:p>
        </p:txBody>
      </p:sp>
      <p:sp>
        <p:nvSpPr>
          <p:cNvPr id="218120" name="Rectangle 8"/>
          <p:cNvSpPr>
            <a:spLocks noChangeArrowheads="1"/>
          </p:cNvSpPr>
          <p:nvPr/>
        </p:nvSpPr>
        <p:spPr bwMode="auto">
          <a:xfrm>
            <a:off x="6072188" y="2992438"/>
            <a:ext cx="90487" cy="976312"/>
          </a:xfrm>
          <a:prstGeom prst="rect">
            <a:avLst/>
          </a:prstGeom>
          <a:solidFill>
            <a:srgbClr val="FFE5B9"/>
          </a:solidFill>
          <a:ln w="9525">
            <a:noFill/>
            <a:miter lim="800000"/>
            <a:headEnd/>
            <a:tailEnd/>
          </a:ln>
        </p:spPr>
        <p:txBody>
          <a:bodyPr/>
          <a:lstStyle/>
          <a:p>
            <a:endParaRPr lang="en-US"/>
          </a:p>
        </p:txBody>
      </p:sp>
      <p:sp>
        <p:nvSpPr>
          <p:cNvPr id="218121" name="Rectangle 9"/>
          <p:cNvSpPr>
            <a:spLocks noChangeArrowheads="1"/>
          </p:cNvSpPr>
          <p:nvPr/>
        </p:nvSpPr>
        <p:spPr bwMode="auto">
          <a:xfrm>
            <a:off x="6235700" y="2992438"/>
            <a:ext cx="90488" cy="976312"/>
          </a:xfrm>
          <a:prstGeom prst="rect">
            <a:avLst/>
          </a:prstGeom>
          <a:solidFill>
            <a:srgbClr val="FFE5B9"/>
          </a:solidFill>
          <a:ln w="9525">
            <a:noFill/>
            <a:miter lim="800000"/>
            <a:headEnd/>
            <a:tailEnd/>
          </a:ln>
        </p:spPr>
        <p:txBody>
          <a:bodyPr/>
          <a:lstStyle/>
          <a:p>
            <a:endParaRPr lang="en-US"/>
          </a:p>
        </p:txBody>
      </p:sp>
      <p:sp>
        <p:nvSpPr>
          <p:cNvPr id="218122" name="Rectangle 10"/>
          <p:cNvSpPr>
            <a:spLocks noChangeArrowheads="1"/>
          </p:cNvSpPr>
          <p:nvPr/>
        </p:nvSpPr>
        <p:spPr bwMode="auto">
          <a:xfrm>
            <a:off x="6399213" y="2992438"/>
            <a:ext cx="88900" cy="976312"/>
          </a:xfrm>
          <a:prstGeom prst="rect">
            <a:avLst/>
          </a:prstGeom>
          <a:solidFill>
            <a:srgbClr val="FFE5B9"/>
          </a:solidFill>
          <a:ln w="9525">
            <a:noFill/>
            <a:miter lim="800000"/>
            <a:headEnd/>
            <a:tailEnd/>
          </a:ln>
        </p:spPr>
        <p:txBody>
          <a:bodyPr/>
          <a:lstStyle/>
          <a:p>
            <a:endParaRPr lang="en-US"/>
          </a:p>
        </p:txBody>
      </p:sp>
      <p:sp>
        <p:nvSpPr>
          <p:cNvPr id="218123" name="Rectangle 11"/>
          <p:cNvSpPr>
            <a:spLocks noChangeArrowheads="1"/>
          </p:cNvSpPr>
          <p:nvPr/>
        </p:nvSpPr>
        <p:spPr bwMode="auto">
          <a:xfrm>
            <a:off x="6561138" y="2992438"/>
            <a:ext cx="90487" cy="976312"/>
          </a:xfrm>
          <a:prstGeom prst="rect">
            <a:avLst/>
          </a:prstGeom>
          <a:solidFill>
            <a:srgbClr val="FFE5B9"/>
          </a:solidFill>
          <a:ln w="9525">
            <a:noFill/>
            <a:miter lim="800000"/>
            <a:headEnd/>
            <a:tailEnd/>
          </a:ln>
        </p:spPr>
        <p:txBody>
          <a:bodyPr/>
          <a:lstStyle/>
          <a:p>
            <a:endParaRPr lang="en-US"/>
          </a:p>
        </p:txBody>
      </p:sp>
      <p:sp>
        <p:nvSpPr>
          <p:cNvPr id="218124" name="Rectangle 12"/>
          <p:cNvSpPr>
            <a:spLocks noChangeArrowheads="1"/>
          </p:cNvSpPr>
          <p:nvPr/>
        </p:nvSpPr>
        <p:spPr bwMode="auto">
          <a:xfrm>
            <a:off x="6724650" y="2992438"/>
            <a:ext cx="90488" cy="976312"/>
          </a:xfrm>
          <a:prstGeom prst="rect">
            <a:avLst/>
          </a:prstGeom>
          <a:solidFill>
            <a:srgbClr val="FFE5B9"/>
          </a:solidFill>
          <a:ln w="9525">
            <a:noFill/>
            <a:miter lim="800000"/>
            <a:headEnd/>
            <a:tailEnd/>
          </a:ln>
        </p:spPr>
        <p:txBody>
          <a:bodyPr/>
          <a:lstStyle/>
          <a:p>
            <a:endParaRPr lang="en-US"/>
          </a:p>
        </p:txBody>
      </p:sp>
      <p:sp>
        <p:nvSpPr>
          <p:cNvPr id="218125" name="Rectangle 13"/>
          <p:cNvSpPr>
            <a:spLocks noChangeArrowheads="1"/>
          </p:cNvSpPr>
          <p:nvPr/>
        </p:nvSpPr>
        <p:spPr bwMode="auto">
          <a:xfrm>
            <a:off x="6886575" y="2992438"/>
            <a:ext cx="90488" cy="976312"/>
          </a:xfrm>
          <a:prstGeom prst="rect">
            <a:avLst/>
          </a:prstGeom>
          <a:solidFill>
            <a:srgbClr val="FFE5B9"/>
          </a:solidFill>
          <a:ln w="9525">
            <a:noFill/>
            <a:miter lim="800000"/>
            <a:headEnd/>
            <a:tailEnd/>
          </a:ln>
        </p:spPr>
        <p:txBody>
          <a:bodyPr/>
          <a:lstStyle/>
          <a:p>
            <a:endParaRPr lang="en-US"/>
          </a:p>
        </p:txBody>
      </p:sp>
      <p:sp>
        <p:nvSpPr>
          <p:cNvPr id="218126" name="Rectangle 14"/>
          <p:cNvSpPr>
            <a:spLocks noChangeArrowheads="1"/>
          </p:cNvSpPr>
          <p:nvPr/>
        </p:nvSpPr>
        <p:spPr bwMode="auto">
          <a:xfrm>
            <a:off x="7050088" y="2992438"/>
            <a:ext cx="90487" cy="976312"/>
          </a:xfrm>
          <a:prstGeom prst="rect">
            <a:avLst/>
          </a:prstGeom>
          <a:solidFill>
            <a:srgbClr val="FFE5B9"/>
          </a:solidFill>
          <a:ln w="9525">
            <a:noFill/>
            <a:miter lim="800000"/>
            <a:headEnd/>
            <a:tailEnd/>
          </a:ln>
        </p:spPr>
        <p:txBody>
          <a:bodyPr/>
          <a:lstStyle/>
          <a:p>
            <a:endParaRPr lang="en-US"/>
          </a:p>
        </p:txBody>
      </p:sp>
      <p:sp>
        <p:nvSpPr>
          <p:cNvPr id="218127" name="Rectangle 15"/>
          <p:cNvSpPr>
            <a:spLocks noChangeArrowheads="1"/>
          </p:cNvSpPr>
          <p:nvPr/>
        </p:nvSpPr>
        <p:spPr bwMode="auto">
          <a:xfrm>
            <a:off x="7213600" y="2992438"/>
            <a:ext cx="88900" cy="976312"/>
          </a:xfrm>
          <a:prstGeom prst="rect">
            <a:avLst/>
          </a:prstGeom>
          <a:solidFill>
            <a:srgbClr val="FFE5B9"/>
          </a:solidFill>
          <a:ln w="9525">
            <a:noFill/>
            <a:miter lim="800000"/>
            <a:headEnd/>
            <a:tailEnd/>
          </a:ln>
        </p:spPr>
        <p:txBody>
          <a:bodyPr/>
          <a:lstStyle/>
          <a:p>
            <a:endParaRPr lang="en-US"/>
          </a:p>
        </p:txBody>
      </p:sp>
      <p:sp>
        <p:nvSpPr>
          <p:cNvPr id="218128" name="Rectangle 16"/>
          <p:cNvSpPr>
            <a:spLocks noChangeArrowheads="1"/>
          </p:cNvSpPr>
          <p:nvPr/>
        </p:nvSpPr>
        <p:spPr bwMode="auto">
          <a:xfrm>
            <a:off x="7375525" y="2992438"/>
            <a:ext cx="90488" cy="976312"/>
          </a:xfrm>
          <a:prstGeom prst="rect">
            <a:avLst/>
          </a:prstGeom>
          <a:solidFill>
            <a:srgbClr val="FFE5B9"/>
          </a:solidFill>
          <a:ln w="9525">
            <a:noFill/>
            <a:miter lim="800000"/>
            <a:headEnd/>
            <a:tailEnd/>
          </a:ln>
        </p:spPr>
        <p:txBody>
          <a:bodyPr/>
          <a:lstStyle/>
          <a:p>
            <a:endParaRPr lang="en-US"/>
          </a:p>
        </p:txBody>
      </p:sp>
      <p:sp>
        <p:nvSpPr>
          <p:cNvPr id="218129" name="Line 17"/>
          <p:cNvSpPr>
            <a:spLocks noChangeShapeType="1"/>
          </p:cNvSpPr>
          <p:nvPr/>
        </p:nvSpPr>
        <p:spPr bwMode="auto">
          <a:xfrm>
            <a:off x="5189538" y="4110038"/>
            <a:ext cx="317500" cy="0"/>
          </a:xfrm>
          <a:prstGeom prst="line">
            <a:avLst/>
          </a:prstGeom>
          <a:noFill/>
          <a:ln w="7938">
            <a:solidFill>
              <a:srgbClr val="000000"/>
            </a:solidFill>
            <a:miter lim="800000"/>
            <a:headEnd/>
            <a:tailEnd/>
          </a:ln>
        </p:spPr>
        <p:txBody>
          <a:bodyPr/>
          <a:lstStyle/>
          <a:p>
            <a:endParaRPr lang="en-US"/>
          </a:p>
        </p:txBody>
      </p:sp>
      <p:sp>
        <p:nvSpPr>
          <p:cNvPr id="218130" name="Line 18"/>
          <p:cNvSpPr>
            <a:spLocks noChangeShapeType="1"/>
          </p:cNvSpPr>
          <p:nvPr/>
        </p:nvSpPr>
        <p:spPr bwMode="auto">
          <a:xfrm flipV="1">
            <a:off x="3451225" y="1646238"/>
            <a:ext cx="638175" cy="2686050"/>
          </a:xfrm>
          <a:prstGeom prst="line">
            <a:avLst/>
          </a:prstGeom>
          <a:noFill/>
          <a:ln w="30163">
            <a:solidFill>
              <a:srgbClr val="EE313C"/>
            </a:solidFill>
            <a:miter lim="800000"/>
            <a:headEnd/>
            <a:tailEnd/>
          </a:ln>
        </p:spPr>
        <p:txBody>
          <a:bodyPr/>
          <a:lstStyle/>
          <a:p>
            <a:endParaRPr lang="en-US"/>
          </a:p>
        </p:txBody>
      </p:sp>
      <p:sp>
        <p:nvSpPr>
          <p:cNvPr id="218131" name="Line 19"/>
          <p:cNvSpPr>
            <a:spLocks noChangeShapeType="1"/>
          </p:cNvSpPr>
          <p:nvPr/>
        </p:nvSpPr>
        <p:spPr bwMode="auto">
          <a:xfrm flipV="1">
            <a:off x="2365375" y="1627188"/>
            <a:ext cx="638175" cy="2682875"/>
          </a:xfrm>
          <a:prstGeom prst="line">
            <a:avLst/>
          </a:prstGeom>
          <a:noFill/>
          <a:ln w="30163">
            <a:solidFill>
              <a:srgbClr val="F3716D"/>
            </a:solidFill>
            <a:miter lim="800000"/>
            <a:headEnd/>
            <a:tailEnd/>
          </a:ln>
        </p:spPr>
        <p:txBody>
          <a:bodyPr/>
          <a:lstStyle/>
          <a:p>
            <a:endParaRPr lang="en-US"/>
          </a:p>
        </p:txBody>
      </p:sp>
      <p:sp>
        <p:nvSpPr>
          <p:cNvPr id="218132" name="Freeform 20"/>
          <p:cNvSpPr>
            <a:spLocks/>
          </p:cNvSpPr>
          <p:nvPr/>
        </p:nvSpPr>
        <p:spPr bwMode="auto">
          <a:xfrm>
            <a:off x="5813425" y="2644775"/>
            <a:ext cx="3021013" cy="1514475"/>
          </a:xfrm>
          <a:custGeom>
            <a:avLst/>
            <a:gdLst>
              <a:gd name="T0" fmla="*/ 0 w 667"/>
              <a:gd name="T1" fmla="*/ 0 h 343"/>
              <a:gd name="T2" fmla="*/ 2147483647 w 667"/>
              <a:gd name="T3" fmla="*/ 2147483647 h 343"/>
              <a:gd name="T4" fmla="*/ 2147483647 w 667"/>
              <a:gd name="T5" fmla="*/ 2147483647 h 343"/>
              <a:gd name="T6" fmla="*/ 2147483647 w 667"/>
              <a:gd name="T7" fmla="*/ 2147483647 h 343"/>
              <a:gd name="T8" fmla="*/ 2147483647 w 667"/>
              <a:gd name="T9" fmla="*/ 2147483647 h 343"/>
              <a:gd name="T10" fmla="*/ 2147483647 w 667"/>
              <a:gd name="T11" fmla="*/ 2147483647 h 343"/>
              <a:gd name="T12" fmla="*/ 0 60000 65536"/>
              <a:gd name="T13" fmla="*/ 0 60000 65536"/>
              <a:gd name="T14" fmla="*/ 0 60000 65536"/>
              <a:gd name="T15" fmla="*/ 0 60000 65536"/>
              <a:gd name="T16" fmla="*/ 0 60000 65536"/>
              <a:gd name="T17" fmla="*/ 0 60000 65536"/>
              <a:gd name="T18" fmla="*/ 0 w 667"/>
              <a:gd name="T19" fmla="*/ 0 h 343"/>
              <a:gd name="T20" fmla="*/ 667 w 667"/>
              <a:gd name="T21" fmla="*/ 343 h 343"/>
            </a:gdLst>
            <a:ahLst/>
            <a:cxnLst>
              <a:cxn ang="T12">
                <a:pos x="T0" y="T1"/>
              </a:cxn>
              <a:cxn ang="T13">
                <a:pos x="T2" y="T3"/>
              </a:cxn>
              <a:cxn ang="T14">
                <a:pos x="T4" y="T5"/>
              </a:cxn>
              <a:cxn ang="T15">
                <a:pos x="T6" y="T7"/>
              </a:cxn>
              <a:cxn ang="T16">
                <a:pos x="T8" y="T9"/>
              </a:cxn>
              <a:cxn ang="T17">
                <a:pos x="T10" y="T11"/>
              </a:cxn>
            </a:cxnLst>
            <a:rect l="T18" t="T19" r="T20" b="T21"/>
            <a:pathLst>
              <a:path w="667" h="343">
                <a:moveTo>
                  <a:pt x="0" y="0"/>
                </a:moveTo>
                <a:cubicBezTo>
                  <a:pt x="37" y="95"/>
                  <a:pt x="81" y="201"/>
                  <a:pt x="107" y="243"/>
                </a:cubicBezTo>
                <a:cubicBezTo>
                  <a:pt x="168" y="343"/>
                  <a:pt x="271" y="335"/>
                  <a:pt x="279" y="333"/>
                </a:cubicBezTo>
                <a:cubicBezTo>
                  <a:pt x="287" y="331"/>
                  <a:pt x="392" y="293"/>
                  <a:pt x="452" y="269"/>
                </a:cubicBezTo>
                <a:cubicBezTo>
                  <a:pt x="512" y="244"/>
                  <a:pt x="592" y="190"/>
                  <a:pt x="624" y="166"/>
                </a:cubicBezTo>
                <a:cubicBezTo>
                  <a:pt x="644" y="151"/>
                  <a:pt x="659" y="139"/>
                  <a:pt x="667" y="133"/>
                </a:cubicBezTo>
              </a:path>
            </a:pathLst>
          </a:custGeom>
          <a:noFill/>
          <a:ln w="30163">
            <a:solidFill>
              <a:srgbClr val="8C64AB"/>
            </a:solidFill>
            <a:miter lim="800000"/>
            <a:headEnd/>
            <a:tailEnd/>
          </a:ln>
        </p:spPr>
        <p:txBody>
          <a:bodyPr/>
          <a:lstStyle/>
          <a:p>
            <a:endParaRPr lang="en-US"/>
          </a:p>
        </p:txBody>
      </p:sp>
      <p:sp>
        <p:nvSpPr>
          <p:cNvPr id="67604" name="Line 21"/>
          <p:cNvSpPr>
            <a:spLocks noChangeShapeType="1"/>
          </p:cNvSpPr>
          <p:nvPr/>
        </p:nvSpPr>
        <p:spPr bwMode="auto">
          <a:xfrm>
            <a:off x="5746750" y="1874838"/>
            <a:ext cx="107950" cy="0"/>
          </a:xfrm>
          <a:prstGeom prst="line">
            <a:avLst/>
          </a:prstGeom>
          <a:noFill/>
          <a:ln w="7938">
            <a:solidFill>
              <a:srgbClr val="000000"/>
            </a:solidFill>
            <a:miter lim="800000"/>
            <a:headEnd/>
            <a:tailEnd/>
          </a:ln>
        </p:spPr>
        <p:txBody>
          <a:bodyPr/>
          <a:lstStyle/>
          <a:p>
            <a:endParaRPr lang="en-US"/>
          </a:p>
        </p:txBody>
      </p:sp>
      <p:sp>
        <p:nvSpPr>
          <p:cNvPr id="67605" name="Line 22"/>
          <p:cNvSpPr>
            <a:spLocks noChangeShapeType="1"/>
          </p:cNvSpPr>
          <p:nvPr/>
        </p:nvSpPr>
        <p:spPr bwMode="auto">
          <a:xfrm>
            <a:off x="5746750" y="4110038"/>
            <a:ext cx="107950" cy="0"/>
          </a:xfrm>
          <a:prstGeom prst="line">
            <a:avLst/>
          </a:prstGeom>
          <a:noFill/>
          <a:ln w="7938">
            <a:solidFill>
              <a:srgbClr val="000000"/>
            </a:solidFill>
            <a:miter lim="800000"/>
            <a:headEnd/>
            <a:tailEnd/>
          </a:ln>
        </p:spPr>
        <p:txBody>
          <a:bodyPr/>
          <a:lstStyle/>
          <a:p>
            <a:endParaRPr lang="en-US"/>
          </a:p>
        </p:txBody>
      </p:sp>
      <p:sp>
        <p:nvSpPr>
          <p:cNvPr id="67606" name="Line 23"/>
          <p:cNvSpPr>
            <a:spLocks noChangeShapeType="1"/>
          </p:cNvSpPr>
          <p:nvPr/>
        </p:nvSpPr>
        <p:spPr bwMode="auto">
          <a:xfrm flipV="1">
            <a:off x="8639175" y="4424363"/>
            <a:ext cx="0" cy="114300"/>
          </a:xfrm>
          <a:prstGeom prst="line">
            <a:avLst/>
          </a:prstGeom>
          <a:noFill/>
          <a:ln w="7938">
            <a:solidFill>
              <a:srgbClr val="000000"/>
            </a:solidFill>
            <a:miter lim="800000"/>
            <a:headEnd/>
            <a:tailEnd/>
          </a:ln>
        </p:spPr>
        <p:txBody>
          <a:bodyPr/>
          <a:lstStyle/>
          <a:p>
            <a:endParaRPr lang="en-US"/>
          </a:p>
        </p:txBody>
      </p:sp>
      <p:sp>
        <p:nvSpPr>
          <p:cNvPr id="67607" name="Line 24"/>
          <p:cNvSpPr>
            <a:spLocks noChangeShapeType="1"/>
          </p:cNvSpPr>
          <p:nvPr/>
        </p:nvSpPr>
        <p:spPr bwMode="auto">
          <a:xfrm flipV="1">
            <a:off x="7861300" y="4424363"/>
            <a:ext cx="0" cy="114300"/>
          </a:xfrm>
          <a:prstGeom prst="line">
            <a:avLst/>
          </a:prstGeom>
          <a:noFill/>
          <a:ln w="7938">
            <a:solidFill>
              <a:srgbClr val="000000"/>
            </a:solidFill>
            <a:miter lim="800000"/>
            <a:headEnd/>
            <a:tailEnd/>
          </a:ln>
        </p:spPr>
        <p:txBody>
          <a:bodyPr/>
          <a:lstStyle/>
          <a:p>
            <a:endParaRPr lang="en-US"/>
          </a:p>
        </p:txBody>
      </p:sp>
      <p:sp>
        <p:nvSpPr>
          <p:cNvPr id="67608" name="Line 25"/>
          <p:cNvSpPr>
            <a:spLocks noChangeShapeType="1"/>
          </p:cNvSpPr>
          <p:nvPr/>
        </p:nvSpPr>
        <p:spPr bwMode="auto">
          <a:xfrm flipV="1">
            <a:off x="7077075" y="4424363"/>
            <a:ext cx="0" cy="114300"/>
          </a:xfrm>
          <a:prstGeom prst="line">
            <a:avLst/>
          </a:prstGeom>
          <a:noFill/>
          <a:ln w="7938">
            <a:solidFill>
              <a:srgbClr val="000000"/>
            </a:solidFill>
            <a:miter lim="800000"/>
            <a:headEnd/>
            <a:tailEnd/>
          </a:ln>
        </p:spPr>
        <p:txBody>
          <a:bodyPr/>
          <a:lstStyle/>
          <a:p>
            <a:endParaRPr lang="en-US"/>
          </a:p>
        </p:txBody>
      </p:sp>
      <p:sp>
        <p:nvSpPr>
          <p:cNvPr id="67609" name="Line 26"/>
          <p:cNvSpPr>
            <a:spLocks noChangeShapeType="1"/>
          </p:cNvSpPr>
          <p:nvPr/>
        </p:nvSpPr>
        <p:spPr bwMode="auto">
          <a:xfrm flipV="1">
            <a:off x="6294438" y="4424363"/>
            <a:ext cx="0" cy="114300"/>
          </a:xfrm>
          <a:prstGeom prst="line">
            <a:avLst/>
          </a:prstGeom>
          <a:noFill/>
          <a:ln w="7938">
            <a:solidFill>
              <a:srgbClr val="000000"/>
            </a:solidFill>
            <a:miter lim="800000"/>
            <a:headEnd/>
            <a:tailEnd/>
          </a:ln>
        </p:spPr>
        <p:txBody>
          <a:bodyPr/>
          <a:lstStyle/>
          <a:p>
            <a:endParaRPr lang="en-US"/>
          </a:p>
        </p:txBody>
      </p:sp>
      <p:sp>
        <p:nvSpPr>
          <p:cNvPr id="67610" name="Rectangle 27"/>
          <p:cNvSpPr>
            <a:spLocks noChangeArrowheads="1"/>
          </p:cNvSpPr>
          <p:nvPr/>
        </p:nvSpPr>
        <p:spPr bwMode="auto">
          <a:xfrm>
            <a:off x="8593138" y="456088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a:t>
            </a:r>
            <a:endParaRPr lang="en-US" sz="1400">
              <a:latin typeface="Tahoma" pitchFamily="34" charset="0"/>
            </a:endParaRPr>
          </a:p>
        </p:txBody>
      </p:sp>
      <p:sp>
        <p:nvSpPr>
          <p:cNvPr id="67611" name="Rectangle 28"/>
          <p:cNvSpPr>
            <a:spLocks noChangeArrowheads="1"/>
          </p:cNvSpPr>
          <p:nvPr/>
        </p:nvSpPr>
        <p:spPr bwMode="auto">
          <a:xfrm>
            <a:off x="7816850" y="456088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a:t>
            </a:r>
            <a:endParaRPr lang="en-US" sz="1400">
              <a:latin typeface="Tahoma" pitchFamily="34" charset="0"/>
            </a:endParaRPr>
          </a:p>
        </p:txBody>
      </p:sp>
      <p:sp>
        <p:nvSpPr>
          <p:cNvPr id="67612" name="Rectangle 29"/>
          <p:cNvSpPr>
            <a:spLocks noChangeArrowheads="1"/>
          </p:cNvSpPr>
          <p:nvPr/>
        </p:nvSpPr>
        <p:spPr bwMode="auto">
          <a:xfrm>
            <a:off x="7040563" y="4560888"/>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a:t>
            </a:r>
            <a:endParaRPr lang="en-US" sz="1400">
              <a:latin typeface="Tahoma" pitchFamily="34" charset="0"/>
            </a:endParaRPr>
          </a:p>
        </p:txBody>
      </p:sp>
      <p:sp>
        <p:nvSpPr>
          <p:cNvPr id="67613" name="Rectangle 30"/>
          <p:cNvSpPr>
            <a:spLocks noChangeArrowheads="1"/>
          </p:cNvSpPr>
          <p:nvPr/>
        </p:nvSpPr>
        <p:spPr bwMode="auto">
          <a:xfrm>
            <a:off x="7356475" y="4560888"/>
            <a:ext cx="217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4.5</a:t>
            </a:r>
            <a:endParaRPr lang="en-US" sz="1400">
              <a:latin typeface="Tahoma" pitchFamily="34" charset="0"/>
            </a:endParaRPr>
          </a:p>
        </p:txBody>
      </p:sp>
      <p:sp>
        <p:nvSpPr>
          <p:cNvPr id="67614" name="Rectangle 31"/>
          <p:cNvSpPr>
            <a:spLocks noChangeArrowheads="1"/>
          </p:cNvSpPr>
          <p:nvPr/>
        </p:nvSpPr>
        <p:spPr bwMode="auto">
          <a:xfrm>
            <a:off x="6264275" y="456088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67615" name="Rectangle 32"/>
          <p:cNvSpPr>
            <a:spLocks noChangeArrowheads="1"/>
          </p:cNvSpPr>
          <p:nvPr/>
        </p:nvSpPr>
        <p:spPr bwMode="auto">
          <a:xfrm>
            <a:off x="5702300" y="456088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67616" name="Rectangle 33"/>
          <p:cNvSpPr>
            <a:spLocks noChangeArrowheads="1"/>
          </p:cNvSpPr>
          <p:nvPr/>
        </p:nvSpPr>
        <p:spPr bwMode="auto">
          <a:xfrm>
            <a:off x="5424488" y="1755775"/>
            <a:ext cx="2714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67617" name="Rectangle 34"/>
          <p:cNvSpPr>
            <a:spLocks noChangeArrowheads="1"/>
          </p:cNvSpPr>
          <p:nvPr/>
        </p:nvSpPr>
        <p:spPr bwMode="auto">
          <a:xfrm>
            <a:off x="5511800" y="289401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16</a:t>
            </a:r>
            <a:endParaRPr lang="en-US" sz="1400">
              <a:latin typeface="Tahoma" pitchFamily="34" charset="0"/>
            </a:endParaRPr>
          </a:p>
        </p:txBody>
      </p:sp>
      <p:sp>
        <p:nvSpPr>
          <p:cNvPr id="67618" name="Rectangle 35"/>
          <p:cNvSpPr>
            <a:spLocks noChangeArrowheads="1"/>
          </p:cNvSpPr>
          <p:nvPr/>
        </p:nvSpPr>
        <p:spPr bwMode="auto">
          <a:xfrm>
            <a:off x="5513388" y="400526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218148" name="Line 36"/>
          <p:cNvSpPr>
            <a:spLocks noChangeShapeType="1"/>
          </p:cNvSpPr>
          <p:nvPr/>
        </p:nvSpPr>
        <p:spPr bwMode="auto">
          <a:xfrm flipV="1">
            <a:off x="7010400" y="1573213"/>
            <a:ext cx="963613" cy="2754312"/>
          </a:xfrm>
          <a:prstGeom prst="line">
            <a:avLst/>
          </a:prstGeom>
          <a:noFill/>
          <a:ln w="30163">
            <a:solidFill>
              <a:srgbClr val="F3716D"/>
            </a:solidFill>
            <a:miter lim="800000"/>
            <a:headEnd/>
            <a:tailEnd/>
          </a:ln>
        </p:spPr>
        <p:txBody>
          <a:bodyPr/>
          <a:lstStyle/>
          <a:p>
            <a:endParaRPr lang="en-US"/>
          </a:p>
        </p:txBody>
      </p:sp>
      <p:sp>
        <p:nvSpPr>
          <p:cNvPr id="67620" name="Line 37"/>
          <p:cNvSpPr>
            <a:spLocks noChangeShapeType="1"/>
          </p:cNvSpPr>
          <p:nvPr/>
        </p:nvSpPr>
        <p:spPr bwMode="auto">
          <a:xfrm flipH="1" flipV="1">
            <a:off x="5724525" y="1484313"/>
            <a:ext cx="22225" cy="2811462"/>
          </a:xfrm>
          <a:prstGeom prst="line">
            <a:avLst/>
          </a:prstGeom>
          <a:noFill/>
          <a:ln w="7938">
            <a:solidFill>
              <a:srgbClr val="000000"/>
            </a:solidFill>
            <a:miter lim="800000"/>
            <a:headEnd/>
            <a:tailEnd/>
          </a:ln>
        </p:spPr>
        <p:txBody>
          <a:bodyPr/>
          <a:lstStyle/>
          <a:p>
            <a:endParaRPr lang="en-US"/>
          </a:p>
        </p:txBody>
      </p:sp>
      <p:sp>
        <p:nvSpPr>
          <p:cNvPr id="67621" name="Freeform 38"/>
          <p:cNvSpPr>
            <a:spLocks/>
          </p:cNvSpPr>
          <p:nvPr/>
        </p:nvSpPr>
        <p:spPr bwMode="auto">
          <a:xfrm>
            <a:off x="5746750" y="4375150"/>
            <a:ext cx="227013" cy="158750"/>
          </a:xfrm>
          <a:custGeom>
            <a:avLst/>
            <a:gdLst>
              <a:gd name="T0" fmla="*/ 2147483647 w 118"/>
              <a:gd name="T1" fmla="*/ 2147483647 h 85"/>
              <a:gd name="T2" fmla="*/ 0 w 118"/>
              <a:gd name="T3" fmla="*/ 2147483647 h 85"/>
              <a:gd name="T4" fmla="*/ 0 w 118"/>
              <a:gd name="T5" fmla="*/ 0 h 85"/>
              <a:gd name="T6" fmla="*/ 0 60000 65536"/>
              <a:gd name="T7" fmla="*/ 0 60000 65536"/>
              <a:gd name="T8" fmla="*/ 0 60000 65536"/>
              <a:gd name="T9" fmla="*/ 0 w 118"/>
              <a:gd name="T10" fmla="*/ 0 h 85"/>
              <a:gd name="T11" fmla="*/ 118 w 118"/>
              <a:gd name="T12" fmla="*/ 85 h 85"/>
            </a:gdLst>
            <a:ahLst/>
            <a:cxnLst>
              <a:cxn ang="T6">
                <a:pos x="T0" y="T1"/>
              </a:cxn>
              <a:cxn ang="T7">
                <a:pos x="T2" y="T3"/>
              </a:cxn>
              <a:cxn ang="T8">
                <a:pos x="T4" y="T5"/>
              </a:cxn>
            </a:cxnLst>
            <a:rect l="T9" t="T10" r="T11" b="T12"/>
            <a:pathLst>
              <a:path w="118" h="85">
                <a:moveTo>
                  <a:pt x="118" y="85"/>
                </a:moveTo>
                <a:lnTo>
                  <a:pt x="0" y="85"/>
                </a:lnTo>
                <a:lnTo>
                  <a:pt x="0" y="0"/>
                </a:lnTo>
              </a:path>
            </a:pathLst>
          </a:custGeom>
          <a:noFill/>
          <a:ln w="7938">
            <a:solidFill>
              <a:srgbClr val="000000"/>
            </a:solidFill>
            <a:miter lim="800000"/>
            <a:headEnd/>
            <a:tailEnd/>
          </a:ln>
        </p:spPr>
        <p:txBody>
          <a:bodyPr/>
          <a:lstStyle/>
          <a:p>
            <a:endParaRPr lang="en-US"/>
          </a:p>
        </p:txBody>
      </p:sp>
      <p:sp>
        <p:nvSpPr>
          <p:cNvPr id="67622" name="Line 39"/>
          <p:cNvSpPr>
            <a:spLocks noChangeShapeType="1"/>
          </p:cNvSpPr>
          <p:nvPr/>
        </p:nvSpPr>
        <p:spPr bwMode="auto">
          <a:xfrm flipH="1">
            <a:off x="6045200" y="4533900"/>
            <a:ext cx="3019425" cy="0"/>
          </a:xfrm>
          <a:prstGeom prst="line">
            <a:avLst/>
          </a:prstGeom>
          <a:noFill/>
          <a:ln w="7938">
            <a:solidFill>
              <a:srgbClr val="000000"/>
            </a:solidFill>
            <a:miter lim="800000"/>
            <a:headEnd/>
            <a:tailEnd/>
          </a:ln>
        </p:spPr>
        <p:txBody>
          <a:bodyPr/>
          <a:lstStyle/>
          <a:p>
            <a:endParaRPr lang="en-US"/>
          </a:p>
        </p:txBody>
      </p:sp>
      <p:sp>
        <p:nvSpPr>
          <p:cNvPr id="218152" name="Oval 40"/>
          <p:cNvSpPr>
            <a:spLocks noChangeArrowheads="1"/>
          </p:cNvSpPr>
          <p:nvPr/>
        </p:nvSpPr>
        <p:spPr bwMode="auto">
          <a:xfrm>
            <a:off x="7032625" y="4067175"/>
            <a:ext cx="90488" cy="87313"/>
          </a:xfrm>
          <a:prstGeom prst="ellipse">
            <a:avLst/>
          </a:prstGeom>
          <a:solidFill>
            <a:srgbClr val="000000"/>
          </a:solidFill>
          <a:ln w="9525">
            <a:noFill/>
            <a:round/>
            <a:headEnd/>
            <a:tailEnd/>
          </a:ln>
        </p:spPr>
        <p:txBody>
          <a:bodyPr/>
          <a:lstStyle/>
          <a:p>
            <a:endParaRPr lang="en-US"/>
          </a:p>
        </p:txBody>
      </p:sp>
      <p:sp>
        <p:nvSpPr>
          <p:cNvPr id="218153" name="Oval 41"/>
          <p:cNvSpPr>
            <a:spLocks noChangeArrowheads="1"/>
          </p:cNvSpPr>
          <p:nvPr/>
        </p:nvSpPr>
        <p:spPr bwMode="auto">
          <a:xfrm>
            <a:off x="7421563" y="2952750"/>
            <a:ext cx="90487" cy="88900"/>
          </a:xfrm>
          <a:prstGeom prst="ellipse">
            <a:avLst/>
          </a:prstGeom>
          <a:solidFill>
            <a:srgbClr val="000000"/>
          </a:solidFill>
          <a:ln w="9525">
            <a:noFill/>
            <a:round/>
            <a:headEnd/>
            <a:tailEnd/>
          </a:ln>
        </p:spPr>
        <p:txBody>
          <a:bodyPr/>
          <a:lstStyle/>
          <a:p>
            <a:endParaRPr lang="en-US"/>
          </a:p>
        </p:txBody>
      </p:sp>
      <p:sp>
        <p:nvSpPr>
          <p:cNvPr id="218154" name="Oval 42"/>
          <p:cNvSpPr>
            <a:spLocks noChangeArrowheads="1"/>
          </p:cNvSpPr>
          <p:nvPr/>
        </p:nvSpPr>
        <p:spPr bwMode="auto">
          <a:xfrm>
            <a:off x="7820025" y="1831975"/>
            <a:ext cx="90488" cy="87313"/>
          </a:xfrm>
          <a:prstGeom prst="ellipse">
            <a:avLst/>
          </a:prstGeom>
          <a:solidFill>
            <a:srgbClr val="000000"/>
          </a:solidFill>
          <a:ln w="9525">
            <a:noFill/>
            <a:round/>
            <a:headEnd/>
            <a:tailEnd/>
          </a:ln>
        </p:spPr>
        <p:txBody>
          <a:bodyPr/>
          <a:lstStyle/>
          <a:p>
            <a:endParaRPr lang="en-US"/>
          </a:p>
        </p:txBody>
      </p:sp>
      <p:sp>
        <p:nvSpPr>
          <p:cNvPr id="67626" name="Line 43"/>
          <p:cNvSpPr>
            <a:spLocks noChangeShapeType="1"/>
          </p:cNvSpPr>
          <p:nvPr/>
        </p:nvSpPr>
        <p:spPr bwMode="auto">
          <a:xfrm>
            <a:off x="1025525" y="1874838"/>
            <a:ext cx="109538" cy="0"/>
          </a:xfrm>
          <a:prstGeom prst="line">
            <a:avLst/>
          </a:prstGeom>
          <a:noFill/>
          <a:ln w="7938">
            <a:solidFill>
              <a:srgbClr val="000000"/>
            </a:solidFill>
            <a:miter lim="800000"/>
            <a:headEnd/>
            <a:tailEnd/>
          </a:ln>
        </p:spPr>
        <p:txBody>
          <a:bodyPr/>
          <a:lstStyle/>
          <a:p>
            <a:endParaRPr lang="en-US"/>
          </a:p>
        </p:txBody>
      </p:sp>
      <p:sp>
        <p:nvSpPr>
          <p:cNvPr id="67627" name="Line 44"/>
          <p:cNvSpPr>
            <a:spLocks noChangeShapeType="1"/>
          </p:cNvSpPr>
          <p:nvPr/>
        </p:nvSpPr>
        <p:spPr bwMode="auto">
          <a:xfrm>
            <a:off x="1025525" y="2989263"/>
            <a:ext cx="109538" cy="0"/>
          </a:xfrm>
          <a:prstGeom prst="line">
            <a:avLst/>
          </a:prstGeom>
          <a:noFill/>
          <a:ln w="7938">
            <a:solidFill>
              <a:srgbClr val="000000"/>
            </a:solidFill>
            <a:miter lim="800000"/>
            <a:headEnd/>
            <a:tailEnd/>
          </a:ln>
        </p:spPr>
        <p:txBody>
          <a:bodyPr/>
          <a:lstStyle/>
          <a:p>
            <a:endParaRPr lang="en-US"/>
          </a:p>
        </p:txBody>
      </p:sp>
      <p:sp>
        <p:nvSpPr>
          <p:cNvPr id="67628" name="Line 45"/>
          <p:cNvSpPr>
            <a:spLocks noChangeShapeType="1"/>
          </p:cNvSpPr>
          <p:nvPr/>
        </p:nvSpPr>
        <p:spPr bwMode="auto">
          <a:xfrm>
            <a:off x="1025525" y="4110038"/>
            <a:ext cx="109538" cy="0"/>
          </a:xfrm>
          <a:prstGeom prst="line">
            <a:avLst/>
          </a:prstGeom>
          <a:noFill/>
          <a:ln w="7938">
            <a:solidFill>
              <a:srgbClr val="000000"/>
            </a:solidFill>
            <a:miter lim="800000"/>
            <a:headEnd/>
            <a:tailEnd/>
          </a:ln>
        </p:spPr>
        <p:txBody>
          <a:bodyPr/>
          <a:lstStyle/>
          <a:p>
            <a:endParaRPr lang="en-US"/>
          </a:p>
        </p:txBody>
      </p:sp>
      <p:sp>
        <p:nvSpPr>
          <p:cNvPr id="67629" name="Line 46"/>
          <p:cNvSpPr>
            <a:spLocks noChangeShapeType="1"/>
          </p:cNvSpPr>
          <p:nvPr/>
        </p:nvSpPr>
        <p:spPr bwMode="auto">
          <a:xfrm flipV="1">
            <a:off x="3509963" y="4419600"/>
            <a:ext cx="0" cy="114300"/>
          </a:xfrm>
          <a:prstGeom prst="line">
            <a:avLst/>
          </a:prstGeom>
          <a:noFill/>
          <a:ln w="7938">
            <a:solidFill>
              <a:srgbClr val="000000"/>
            </a:solidFill>
            <a:miter lim="800000"/>
            <a:headEnd/>
            <a:tailEnd/>
          </a:ln>
        </p:spPr>
        <p:txBody>
          <a:bodyPr/>
          <a:lstStyle/>
          <a:p>
            <a:endParaRPr lang="en-US"/>
          </a:p>
        </p:txBody>
      </p:sp>
      <p:sp>
        <p:nvSpPr>
          <p:cNvPr id="67630" name="Line 47"/>
          <p:cNvSpPr>
            <a:spLocks noChangeShapeType="1"/>
          </p:cNvSpPr>
          <p:nvPr/>
        </p:nvSpPr>
        <p:spPr bwMode="auto">
          <a:xfrm flipV="1">
            <a:off x="2682875" y="4419600"/>
            <a:ext cx="0" cy="114300"/>
          </a:xfrm>
          <a:prstGeom prst="line">
            <a:avLst/>
          </a:prstGeom>
          <a:noFill/>
          <a:ln w="7938">
            <a:solidFill>
              <a:srgbClr val="000000"/>
            </a:solidFill>
            <a:miter lim="800000"/>
            <a:headEnd/>
            <a:tailEnd/>
          </a:ln>
        </p:spPr>
        <p:txBody>
          <a:bodyPr/>
          <a:lstStyle/>
          <a:p>
            <a:endParaRPr lang="en-US"/>
          </a:p>
        </p:txBody>
      </p:sp>
      <p:sp>
        <p:nvSpPr>
          <p:cNvPr id="67631" name="Line 48"/>
          <p:cNvSpPr>
            <a:spLocks noChangeShapeType="1"/>
          </p:cNvSpPr>
          <p:nvPr/>
        </p:nvSpPr>
        <p:spPr bwMode="auto">
          <a:xfrm flipV="1">
            <a:off x="1852613" y="4419600"/>
            <a:ext cx="0" cy="114300"/>
          </a:xfrm>
          <a:prstGeom prst="line">
            <a:avLst/>
          </a:prstGeom>
          <a:noFill/>
          <a:ln w="7938">
            <a:solidFill>
              <a:srgbClr val="000000"/>
            </a:solidFill>
            <a:miter lim="800000"/>
            <a:headEnd/>
            <a:tailEnd/>
          </a:ln>
        </p:spPr>
        <p:txBody>
          <a:bodyPr/>
          <a:lstStyle/>
          <a:p>
            <a:endParaRPr lang="en-US"/>
          </a:p>
        </p:txBody>
      </p:sp>
      <p:sp>
        <p:nvSpPr>
          <p:cNvPr id="67632" name="Rectangle 49"/>
          <p:cNvSpPr>
            <a:spLocks noChangeArrowheads="1"/>
          </p:cNvSpPr>
          <p:nvPr/>
        </p:nvSpPr>
        <p:spPr bwMode="auto">
          <a:xfrm>
            <a:off x="3324225" y="4560888"/>
            <a:ext cx="3984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1,000</a:t>
            </a:r>
            <a:endParaRPr lang="en-US" sz="1400">
              <a:latin typeface="Tahoma" pitchFamily="34" charset="0"/>
            </a:endParaRPr>
          </a:p>
        </p:txBody>
      </p:sp>
      <p:sp>
        <p:nvSpPr>
          <p:cNvPr id="67633" name="Rectangle 50"/>
          <p:cNvSpPr>
            <a:spLocks noChangeArrowheads="1"/>
          </p:cNvSpPr>
          <p:nvPr/>
        </p:nvSpPr>
        <p:spPr bwMode="auto">
          <a:xfrm>
            <a:off x="2555875" y="4560888"/>
            <a:ext cx="27146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750</a:t>
            </a:r>
            <a:endParaRPr lang="en-US" sz="1400">
              <a:latin typeface="Tahoma" pitchFamily="34" charset="0"/>
            </a:endParaRPr>
          </a:p>
        </p:txBody>
      </p:sp>
      <p:sp>
        <p:nvSpPr>
          <p:cNvPr id="67634" name="Rectangle 51"/>
          <p:cNvSpPr>
            <a:spLocks noChangeArrowheads="1"/>
          </p:cNvSpPr>
          <p:nvPr/>
        </p:nvSpPr>
        <p:spPr bwMode="auto">
          <a:xfrm>
            <a:off x="1728788" y="4560888"/>
            <a:ext cx="271462"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500</a:t>
            </a:r>
            <a:endParaRPr lang="en-US" sz="1400">
              <a:latin typeface="Tahoma" pitchFamily="34" charset="0"/>
            </a:endParaRPr>
          </a:p>
        </p:txBody>
      </p:sp>
      <p:sp>
        <p:nvSpPr>
          <p:cNvPr id="67635" name="Rectangle 52"/>
          <p:cNvSpPr>
            <a:spLocks noChangeArrowheads="1"/>
          </p:cNvSpPr>
          <p:nvPr/>
        </p:nvSpPr>
        <p:spPr bwMode="auto">
          <a:xfrm>
            <a:off x="984250" y="4560888"/>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67636" name="Rectangle 53"/>
          <p:cNvSpPr>
            <a:spLocks noChangeArrowheads="1"/>
          </p:cNvSpPr>
          <p:nvPr/>
        </p:nvSpPr>
        <p:spPr bwMode="auto">
          <a:xfrm>
            <a:off x="755650" y="1738313"/>
            <a:ext cx="298450" cy="215900"/>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67637" name="Rectangle 54"/>
          <p:cNvSpPr>
            <a:spLocks noChangeArrowheads="1"/>
          </p:cNvSpPr>
          <p:nvPr/>
        </p:nvSpPr>
        <p:spPr bwMode="auto">
          <a:xfrm>
            <a:off x="796925" y="289401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16</a:t>
            </a:r>
            <a:endParaRPr lang="en-US" sz="1400">
              <a:latin typeface="Tahoma" pitchFamily="34" charset="0"/>
            </a:endParaRPr>
          </a:p>
        </p:txBody>
      </p:sp>
      <p:sp>
        <p:nvSpPr>
          <p:cNvPr id="67638" name="Rectangle 55"/>
          <p:cNvSpPr>
            <a:spLocks noChangeArrowheads="1"/>
          </p:cNvSpPr>
          <p:nvPr/>
        </p:nvSpPr>
        <p:spPr bwMode="auto">
          <a:xfrm>
            <a:off x="796925" y="4006850"/>
            <a:ext cx="1809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67639" name="Line 56"/>
          <p:cNvSpPr>
            <a:spLocks noChangeShapeType="1"/>
          </p:cNvSpPr>
          <p:nvPr/>
        </p:nvSpPr>
        <p:spPr bwMode="auto">
          <a:xfrm flipV="1">
            <a:off x="1025525" y="1484313"/>
            <a:ext cx="17463" cy="2811462"/>
          </a:xfrm>
          <a:prstGeom prst="line">
            <a:avLst/>
          </a:prstGeom>
          <a:noFill/>
          <a:ln w="7938">
            <a:solidFill>
              <a:srgbClr val="000000"/>
            </a:solidFill>
            <a:miter lim="800000"/>
            <a:headEnd/>
            <a:tailEnd/>
          </a:ln>
        </p:spPr>
        <p:txBody>
          <a:bodyPr/>
          <a:lstStyle/>
          <a:p>
            <a:endParaRPr lang="en-US"/>
          </a:p>
        </p:txBody>
      </p:sp>
      <p:sp>
        <p:nvSpPr>
          <p:cNvPr id="67640" name="Freeform 57"/>
          <p:cNvSpPr>
            <a:spLocks/>
          </p:cNvSpPr>
          <p:nvPr/>
        </p:nvSpPr>
        <p:spPr bwMode="auto">
          <a:xfrm>
            <a:off x="1025525" y="4359275"/>
            <a:ext cx="371475" cy="174625"/>
          </a:xfrm>
          <a:custGeom>
            <a:avLst/>
            <a:gdLst>
              <a:gd name="T0" fmla="*/ 2147483647 w 194"/>
              <a:gd name="T1" fmla="*/ 2147483647 h 94"/>
              <a:gd name="T2" fmla="*/ 0 w 194"/>
              <a:gd name="T3" fmla="*/ 2147483647 h 94"/>
              <a:gd name="T4" fmla="*/ 0 w 194"/>
              <a:gd name="T5" fmla="*/ 0 h 94"/>
              <a:gd name="T6" fmla="*/ 0 60000 65536"/>
              <a:gd name="T7" fmla="*/ 0 60000 65536"/>
              <a:gd name="T8" fmla="*/ 0 60000 65536"/>
              <a:gd name="T9" fmla="*/ 0 w 194"/>
              <a:gd name="T10" fmla="*/ 0 h 94"/>
              <a:gd name="T11" fmla="*/ 194 w 194"/>
              <a:gd name="T12" fmla="*/ 94 h 94"/>
            </a:gdLst>
            <a:ahLst/>
            <a:cxnLst>
              <a:cxn ang="T6">
                <a:pos x="T0" y="T1"/>
              </a:cxn>
              <a:cxn ang="T7">
                <a:pos x="T2" y="T3"/>
              </a:cxn>
              <a:cxn ang="T8">
                <a:pos x="T4" y="T5"/>
              </a:cxn>
            </a:cxnLst>
            <a:rect l="T9" t="T10" r="T11" b="T12"/>
            <a:pathLst>
              <a:path w="194" h="94">
                <a:moveTo>
                  <a:pt x="194" y="94"/>
                </a:moveTo>
                <a:lnTo>
                  <a:pt x="0" y="94"/>
                </a:lnTo>
                <a:lnTo>
                  <a:pt x="0" y="0"/>
                </a:lnTo>
              </a:path>
            </a:pathLst>
          </a:custGeom>
          <a:noFill/>
          <a:ln w="7938">
            <a:solidFill>
              <a:srgbClr val="000000"/>
            </a:solidFill>
            <a:miter lim="800000"/>
            <a:headEnd/>
            <a:tailEnd/>
          </a:ln>
        </p:spPr>
        <p:txBody>
          <a:bodyPr/>
          <a:lstStyle/>
          <a:p>
            <a:endParaRPr lang="en-US"/>
          </a:p>
        </p:txBody>
      </p:sp>
      <p:sp>
        <p:nvSpPr>
          <p:cNvPr id="67641" name="Line 58"/>
          <p:cNvSpPr>
            <a:spLocks noChangeShapeType="1"/>
          </p:cNvSpPr>
          <p:nvPr/>
        </p:nvSpPr>
        <p:spPr bwMode="auto">
          <a:xfrm flipH="1">
            <a:off x="1470025" y="4533900"/>
            <a:ext cx="2838450" cy="0"/>
          </a:xfrm>
          <a:prstGeom prst="line">
            <a:avLst/>
          </a:prstGeom>
          <a:noFill/>
          <a:ln w="7938">
            <a:solidFill>
              <a:srgbClr val="000000"/>
            </a:solidFill>
            <a:miter lim="800000"/>
            <a:headEnd/>
            <a:tailEnd/>
          </a:ln>
        </p:spPr>
        <p:txBody>
          <a:bodyPr/>
          <a:lstStyle/>
          <a:p>
            <a:endParaRPr lang="en-US"/>
          </a:p>
        </p:txBody>
      </p:sp>
      <p:sp>
        <p:nvSpPr>
          <p:cNvPr id="218171" name="Rectangle 59"/>
          <p:cNvSpPr>
            <a:spLocks noChangeArrowheads="1"/>
          </p:cNvSpPr>
          <p:nvPr/>
        </p:nvSpPr>
        <p:spPr bwMode="auto">
          <a:xfrm>
            <a:off x="3722688" y="42926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18172" name="Rectangle 60"/>
          <p:cNvSpPr>
            <a:spLocks noChangeArrowheads="1"/>
          </p:cNvSpPr>
          <p:nvPr/>
        </p:nvSpPr>
        <p:spPr bwMode="auto">
          <a:xfrm>
            <a:off x="7910513" y="19018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Tahoma" pitchFamily="34" charset="0"/>
            </a:endParaRPr>
          </a:p>
        </p:txBody>
      </p:sp>
      <p:sp>
        <p:nvSpPr>
          <p:cNvPr id="218173" name="Rectangle 61"/>
          <p:cNvSpPr>
            <a:spLocks noChangeArrowheads="1"/>
          </p:cNvSpPr>
          <p:nvPr/>
        </p:nvSpPr>
        <p:spPr bwMode="auto">
          <a:xfrm>
            <a:off x="7096125" y="41386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8174" name="Rectangle 62"/>
          <p:cNvSpPr>
            <a:spLocks noChangeArrowheads="1"/>
          </p:cNvSpPr>
          <p:nvPr/>
        </p:nvSpPr>
        <p:spPr bwMode="auto">
          <a:xfrm>
            <a:off x="7494588" y="302736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18175" name="Oval 63"/>
          <p:cNvSpPr>
            <a:spLocks noChangeArrowheads="1"/>
          </p:cNvSpPr>
          <p:nvPr/>
        </p:nvSpPr>
        <p:spPr bwMode="auto">
          <a:xfrm>
            <a:off x="7810500" y="3794125"/>
            <a:ext cx="90488" cy="87313"/>
          </a:xfrm>
          <a:prstGeom prst="ellipse">
            <a:avLst/>
          </a:prstGeom>
          <a:solidFill>
            <a:srgbClr val="000000"/>
          </a:solidFill>
          <a:ln w="9525">
            <a:noFill/>
            <a:round/>
            <a:headEnd/>
            <a:tailEnd/>
          </a:ln>
        </p:spPr>
        <p:txBody>
          <a:bodyPr/>
          <a:lstStyle/>
          <a:p>
            <a:endParaRPr lang="en-US"/>
          </a:p>
        </p:txBody>
      </p:sp>
      <p:sp>
        <p:nvSpPr>
          <p:cNvPr id="218176" name="Rectangle 64"/>
          <p:cNvSpPr>
            <a:spLocks noChangeArrowheads="1"/>
          </p:cNvSpPr>
          <p:nvPr/>
        </p:nvSpPr>
        <p:spPr bwMode="auto">
          <a:xfrm>
            <a:off x="7496175" y="40020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Y</a:t>
            </a:r>
            <a:endParaRPr lang="en-US" sz="1400" i="1">
              <a:latin typeface="Tahoma" pitchFamily="34" charset="0"/>
            </a:endParaRPr>
          </a:p>
        </p:txBody>
      </p:sp>
      <p:sp>
        <p:nvSpPr>
          <p:cNvPr id="218177" name="Rectangle 65"/>
          <p:cNvSpPr>
            <a:spLocks noChangeArrowheads="1"/>
          </p:cNvSpPr>
          <p:nvPr/>
        </p:nvSpPr>
        <p:spPr bwMode="auto">
          <a:xfrm>
            <a:off x="7910513" y="3844925"/>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Z</a:t>
            </a:r>
            <a:endParaRPr lang="en-US" sz="1400" i="1">
              <a:latin typeface="Tahoma" pitchFamily="34" charset="0"/>
            </a:endParaRPr>
          </a:p>
        </p:txBody>
      </p:sp>
      <p:sp>
        <p:nvSpPr>
          <p:cNvPr id="218178" name="Rectangle 66"/>
          <p:cNvSpPr>
            <a:spLocks noChangeArrowheads="1"/>
          </p:cNvSpPr>
          <p:nvPr/>
        </p:nvSpPr>
        <p:spPr bwMode="auto">
          <a:xfrm>
            <a:off x="7886700" y="1314450"/>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18179" name="Rectangle 67"/>
          <p:cNvSpPr>
            <a:spLocks noChangeArrowheads="1"/>
          </p:cNvSpPr>
          <p:nvPr/>
        </p:nvSpPr>
        <p:spPr bwMode="auto">
          <a:xfrm>
            <a:off x="8680450" y="30114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8180" name="Rectangle 68"/>
          <p:cNvSpPr>
            <a:spLocks noChangeArrowheads="1"/>
          </p:cNvSpPr>
          <p:nvPr/>
        </p:nvSpPr>
        <p:spPr bwMode="auto">
          <a:xfrm>
            <a:off x="8778875" y="3011488"/>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18181" name="Rectangle 69"/>
          <p:cNvSpPr>
            <a:spLocks noChangeArrowheads="1"/>
          </p:cNvSpPr>
          <p:nvPr/>
        </p:nvSpPr>
        <p:spPr bwMode="auto">
          <a:xfrm>
            <a:off x="8863013" y="301148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8182" name="Line 70"/>
          <p:cNvSpPr>
            <a:spLocks noChangeShapeType="1"/>
          </p:cNvSpPr>
          <p:nvPr/>
        </p:nvSpPr>
        <p:spPr bwMode="auto">
          <a:xfrm>
            <a:off x="1631950" y="1543050"/>
            <a:ext cx="2065338" cy="2836863"/>
          </a:xfrm>
          <a:prstGeom prst="line">
            <a:avLst/>
          </a:prstGeom>
          <a:noFill/>
          <a:ln w="30163">
            <a:solidFill>
              <a:srgbClr val="3C5DAA"/>
            </a:solidFill>
            <a:miter lim="800000"/>
            <a:headEnd/>
            <a:tailEnd/>
          </a:ln>
        </p:spPr>
        <p:txBody>
          <a:bodyPr/>
          <a:lstStyle/>
          <a:p>
            <a:endParaRPr lang="en-US"/>
          </a:p>
        </p:txBody>
      </p:sp>
      <p:sp>
        <p:nvSpPr>
          <p:cNvPr id="218183" name="Line 71"/>
          <p:cNvSpPr>
            <a:spLocks noChangeShapeType="1"/>
          </p:cNvSpPr>
          <p:nvPr/>
        </p:nvSpPr>
        <p:spPr bwMode="auto">
          <a:xfrm flipV="1">
            <a:off x="1277938" y="1646238"/>
            <a:ext cx="630237" cy="2652712"/>
          </a:xfrm>
          <a:prstGeom prst="line">
            <a:avLst/>
          </a:prstGeom>
          <a:noFill/>
          <a:ln w="30226">
            <a:solidFill>
              <a:srgbClr val="F9B1AD"/>
            </a:solidFill>
            <a:miter lim="800000"/>
            <a:headEnd/>
            <a:tailEnd/>
          </a:ln>
        </p:spPr>
        <p:txBody>
          <a:bodyPr/>
          <a:lstStyle/>
          <a:p>
            <a:endParaRPr lang="en-US"/>
          </a:p>
        </p:txBody>
      </p:sp>
      <p:sp>
        <p:nvSpPr>
          <p:cNvPr id="218184" name="Oval 72"/>
          <p:cNvSpPr>
            <a:spLocks noChangeArrowheads="1"/>
          </p:cNvSpPr>
          <p:nvPr/>
        </p:nvSpPr>
        <p:spPr bwMode="auto">
          <a:xfrm>
            <a:off x="3457575" y="4070350"/>
            <a:ext cx="88900" cy="88900"/>
          </a:xfrm>
          <a:prstGeom prst="ellipse">
            <a:avLst/>
          </a:prstGeom>
          <a:solidFill>
            <a:srgbClr val="000000"/>
          </a:solidFill>
          <a:ln w="9525">
            <a:noFill/>
            <a:round/>
            <a:headEnd/>
            <a:tailEnd/>
          </a:ln>
        </p:spPr>
        <p:txBody>
          <a:bodyPr/>
          <a:lstStyle/>
          <a:p>
            <a:endParaRPr lang="en-US"/>
          </a:p>
        </p:txBody>
      </p:sp>
      <p:sp>
        <p:nvSpPr>
          <p:cNvPr id="218185" name="Oval 73"/>
          <p:cNvSpPr>
            <a:spLocks noChangeArrowheads="1"/>
          </p:cNvSpPr>
          <p:nvPr/>
        </p:nvSpPr>
        <p:spPr bwMode="auto">
          <a:xfrm>
            <a:off x="2636838" y="2944813"/>
            <a:ext cx="90487" cy="87312"/>
          </a:xfrm>
          <a:prstGeom prst="ellipse">
            <a:avLst/>
          </a:prstGeom>
          <a:solidFill>
            <a:srgbClr val="000000"/>
          </a:solidFill>
          <a:ln w="9525">
            <a:noFill/>
            <a:round/>
            <a:headEnd/>
            <a:tailEnd/>
          </a:ln>
        </p:spPr>
        <p:txBody>
          <a:bodyPr/>
          <a:lstStyle/>
          <a:p>
            <a:endParaRPr lang="en-US"/>
          </a:p>
        </p:txBody>
      </p:sp>
      <p:sp>
        <p:nvSpPr>
          <p:cNvPr id="218186" name="Oval 74"/>
          <p:cNvSpPr>
            <a:spLocks noChangeArrowheads="1"/>
          </p:cNvSpPr>
          <p:nvPr/>
        </p:nvSpPr>
        <p:spPr bwMode="auto">
          <a:xfrm>
            <a:off x="1809750" y="1827213"/>
            <a:ext cx="88900" cy="88900"/>
          </a:xfrm>
          <a:prstGeom prst="ellipse">
            <a:avLst/>
          </a:prstGeom>
          <a:solidFill>
            <a:srgbClr val="000000"/>
          </a:solidFill>
          <a:ln w="9525">
            <a:noFill/>
            <a:round/>
            <a:headEnd/>
            <a:tailEnd/>
          </a:ln>
        </p:spPr>
        <p:txBody>
          <a:bodyPr/>
          <a:lstStyle/>
          <a:p>
            <a:endParaRPr lang="en-US"/>
          </a:p>
        </p:txBody>
      </p:sp>
      <p:sp>
        <p:nvSpPr>
          <p:cNvPr id="218187" name="Rectangle 75"/>
          <p:cNvSpPr>
            <a:spLocks noChangeArrowheads="1"/>
          </p:cNvSpPr>
          <p:nvPr/>
        </p:nvSpPr>
        <p:spPr bwMode="auto">
          <a:xfrm>
            <a:off x="6765925" y="27035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18188" name="Rectangle 76"/>
          <p:cNvSpPr>
            <a:spLocks noChangeArrowheads="1"/>
          </p:cNvSpPr>
          <p:nvPr/>
        </p:nvSpPr>
        <p:spPr bwMode="auto">
          <a:xfrm>
            <a:off x="6556375" y="34004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B</a:t>
            </a:r>
            <a:endParaRPr lang="en-US" sz="1400" i="1">
              <a:latin typeface="Tahoma" pitchFamily="34" charset="0"/>
            </a:endParaRPr>
          </a:p>
        </p:txBody>
      </p:sp>
      <p:sp>
        <p:nvSpPr>
          <p:cNvPr id="67660" name="Line 77"/>
          <p:cNvSpPr>
            <a:spLocks noChangeShapeType="1"/>
          </p:cNvSpPr>
          <p:nvPr/>
        </p:nvSpPr>
        <p:spPr bwMode="auto">
          <a:xfrm flipH="1">
            <a:off x="1370013" y="4491038"/>
            <a:ext cx="53975" cy="92075"/>
          </a:xfrm>
          <a:prstGeom prst="line">
            <a:avLst/>
          </a:prstGeom>
          <a:noFill/>
          <a:ln w="7938">
            <a:solidFill>
              <a:srgbClr val="000000"/>
            </a:solidFill>
            <a:miter lim="800000"/>
            <a:headEnd/>
            <a:tailEnd/>
          </a:ln>
        </p:spPr>
        <p:txBody>
          <a:bodyPr/>
          <a:lstStyle/>
          <a:p>
            <a:endParaRPr lang="en-US"/>
          </a:p>
        </p:txBody>
      </p:sp>
      <p:sp>
        <p:nvSpPr>
          <p:cNvPr id="67661" name="Line 78"/>
          <p:cNvSpPr>
            <a:spLocks noChangeShapeType="1"/>
          </p:cNvSpPr>
          <p:nvPr/>
        </p:nvSpPr>
        <p:spPr bwMode="auto">
          <a:xfrm flipH="1">
            <a:off x="1441450" y="4491038"/>
            <a:ext cx="55563" cy="92075"/>
          </a:xfrm>
          <a:prstGeom prst="line">
            <a:avLst/>
          </a:prstGeom>
          <a:noFill/>
          <a:ln w="7938">
            <a:solidFill>
              <a:srgbClr val="000000"/>
            </a:solidFill>
            <a:miter lim="800000"/>
            <a:headEnd/>
            <a:tailEnd/>
          </a:ln>
        </p:spPr>
        <p:txBody>
          <a:bodyPr/>
          <a:lstStyle/>
          <a:p>
            <a:endParaRPr lang="en-US"/>
          </a:p>
        </p:txBody>
      </p:sp>
      <p:sp>
        <p:nvSpPr>
          <p:cNvPr id="67662" name="Line 79"/>
          <p:cNvSpPr>
            <a:spLocks noChangeShapeType="1"/>
          </p:cNvSpPr>
          <p:nvPr/>
        </p:nvSpPr>
        <p:spPr bwMode="auto">
          <a:xfrm flipH="1">
            <a:off x="5946775" y="4491038"/>
            <a:ext cx="52388" cy="92075"/>
          </a:xfrm>
          <a:prstGeom prst="line">
            <a:avLst/>
          </a:prstGeom>
          <a:noFill/>
          <a:ln w="7938">
            <a:solidFill>
              <a:srgbClr val="000000"/>
            </a:solidFill>
            <a:miter lim="800000"/>
            <a:headEnd/>
            <a:tailEnd/>
          </a:ln>
        </p:spPr>
        <p:txBody>
          <a:bodyPr/>
          <a:lstStyle/>
          <a:p>
            <a:endParaRPr lang="en-US"/>
          </a:p>
        </p:txBody>
      </p:sp>
      <p:sp>
        <p:nvSpPr>
          <p:cNvPr id="67663" name="Line 80"/>
          <p:cNvSpPr>
            <a:spLocks noChangeShapeType="1"/>
          </p:cNvSpPr>
          <p:nvPr/>
        </p:nvSpPr>
        <p:spPr bwMode="auto">
          <a:xfrm flipH="1">
            <a:off x="6016625" y="4491038"/>
            <a:ext cx="55563" cy="92075"/>
          </a:xfrm>
          <a:prstGeom prst="line">
            <a:avLst/>
          </a:prstGeom>
          <a:noFill/>
          <a:ln w="7938">
            <a:solidFill>
              <a:srgbClr val="000000"/>
            </a:solidFill>
            <a:miter lim="800000"/>
            <a:headEnd/>
            <a:tailEnd/>
          </a:ln>
        </p:spPr>
        <p:txBody>
          <a:bodyPr/>
          <a:lstStyle/>
          <a:p>
            <a:endParaRPr lang="en-US"/>
          </a:p>
        </p:txBody>
      </p:sp>
      <p:sp>
        <p:nvSpPr>
          <p:cNvPr id="67664" name="Rectangle 81"/>
          <p:cNvSpPr>
            <a:spLocks noChangeArrowheads="1"/>
          </p:cNvSpPr>
          <p:nvPr/>
        </p:nvSpPr>
        <p:spPr bwMode="auto">
          <a:xfrm>
            <a:off x="2325688" y="914400"/>
            <a:ext cx="8445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(a) </a:t>
            </a:r>
            <a:r>
              <a:rPr lang="en-US" sz="1400" b="1">
                <a:solidFill>
                  <a:srgbClr val="000000"/>
                </a:solidFill>
                <a:latin typeface="Myriad Pro"/>
              </a:rPr>
              <a:t>Market</a:t>
            </a:r>
            <a:endParaRPr lang="en-US" sz="1400" b="1">
              <a:latin typeface="Tahoma" pitchFamily="34" charset="0"/>
            </a:endParaRPr>
          </a:p>
        </p:txBody>
      </p:sp>
      <p:sp>
        <p:nvSpPr>
          <p:cNvPr id="67665" name="Rectangle 82"/>
          <p:cNvSpPr>
            <a:spLocks noChangeArrowheads="1"/>
          </p:cNvSpPr>
          <p:nvPr/>
        </p:nvSpPr>
        <p:spPr bwMode="auto">
          <a:xfrm>
            <a:off x="6253163" y="908050"/>
            <a:ext cx="1541462"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(b) </a:t>
            </a:r>
            <a:r>
              <a:rPr lang="en-US" sz="1400" b="1">
                <a:solidFill>
                  <a:srgbClr val="000000"/>
                </a:solidFill>
                <a:latin typeface="Myriad Pro"/>
              </a:rPr>
              <a:t>Individual Firm</a:t>
            </a:r>
            <a:endParaRPr lang="en-US" sz="1400" b="1">
              <a:latin typeface="Tahoma" pitchFamily="34" charset="0"/>
            </a:endParaRPr>
          </a:p>
        </p:txBody>
      </p:sp>
      <p:sp>
        <p:nvSpPr>
          <p:cNvPr id="67666" name="Line 83"/>
          <p:cNvSpPr>
            <a:spLocks noChangeShapeType="1"/>
          </p:cNvSpPr>
          <p:nvPr/>
        </p:nvSpPr>
        <p:spPr bwMode="auto">
          <a:xfrm>
            <a:off x="5746750" y="3819525"/>
            <a:ext cx="107950" cy="0"/>
          </a:xfrm>
          <a:prstGeom prst="line">
            <a:avLst/>
          </a:prstGeom>
          <a:noFill/>
          <a:ln w="7938">
            <a:solidFill>
              <a:srgbClr val="000000"/>
            </a:solidFill>
            <a:miter lim="800000"/>
            <a:headEnd/>
            <a:tailEnd/>
          </a:ln>
        </p:spPr>
        <p:txBody>
          <a:bodyPr/>
          <a:lstStyle/>
          <a:p>
            <a:endParaRPr lang="en-US"/>
          </a:p>
        </p:txBody>
      </p:sp>
      <p:sp>
        <p:nvSpPr>
          <p:cNvPr id="218196" name="Rectangle 84"/>
          <p:cNvSpPr>
            <a:spLocks noChangeArrowheads="1"/>
          </p:cNvSpPr>
          <p:nvPr/>
        </p:nvSpPr>
        <p:spPr bwMode="auto">
          <a:xfrm>
            <a:off x="5319713" y="3725863"/>
            <a:ext cx="398462"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14.40</a:t>
            </a:r>
            <a:endParaRPr lang="en-US" sz="1400">
              <a:latin typeface="Tahoma" pitchFamily="34" charset="0"/>
            </a:endParaRPr>
          </a:p>
        </p:txBody>
      </p:sp>
      <p:sp>
        <p:nvSpPr>
          <p:cNvPr id="67668" name="Line 85"/>
          <p:cNvSpPr>
            <a:spLocks noChangeShapeType="1"/>
          </p:cNvSpPr>
          <p:nvPr/>
        </p:nvSpPr>
        <p:spPr bwMode="auto">
          <a:xfrm flipV="1">
            <a:off x="5700713" y="4264025"/>
            <a:ext cx="90487" cy="61913"/>
          </a:xfrm>
          <a:prstGeom prst="line">
            <a:avLst/>
          </a:prstGeom>
          <a:noFill/>
          <a:ln w="7938">
            <a:solidFill>
              <a:srgbClr val="000000"/>
            </a:solidFill>
            <a:miter lim="800000"/>
            <a:headEnd/>
            <a:tailEnd/>
          </a:ln>
        </p:spPr>
        <p:txBody>
          <a:bodyPr/>
          <a:lstStyle/>
          <a:p>
            <a:endParaRPr lang="en-US"/>
          </a:p>
        </p:txBody>
      </p:sp>
      <p:sp>
        <p:nvSpPr>
          <p:cNvPr id="67669" name="Line 86"/>
          <p:cNvSpPr>
            <a:spLocks noChangeShapeType="1"/>
          </p:cNvSpPr>
          <p:nvPr/>
        </p:nvSpPr>
        <p:spPr bwMode="auto">
          <a:xfrm flipV="1">
            <a:off x="979488" y="4325938"/>
            <a:ext cx="92075" cy="65087"/>
          </a:xfrm>
          <a:prstGeom prst="line">
            <a:avLst/>
          </a:prstGeom>
          <a:noFill/>
          <a:ln w="7938">
            <a:solidFill>
              <a:srgbClr val="000000"/>
            </a:solidFill>
            <a:miter lim="800000"/>
            <a:headEnd/>
            <a:tailEnd/>
          </a:ln>
        </p:spPr>
        <p:txBody>
          <a:bodyPr/>
          <a:lstStyle/>
          <a:p>
            <a:endParaRPr lang="en-US"/>
          </a:p>
        </p:txBody>
      </p:sp>
      <p:sp>
        <p:nvSpPr>
          <p:cNvPr id="67670" name="Line 87"/>
          <p:cNvSpPr>
            <a:spLocks noChangeShapeType="1"/>
          </p:cNvSpPr>
          <p:nvPr/>
        </p:nvSpPr>
        <p:spPr bwMode="auto">
          <a:xfrm flipV="1">
            <a:off x="979488" y="4264025"/>
            <a:ext cx="92075" cy="61913"/>
          </a:xfrm>
          <a:prstGeom prst="line">
            <a:avLst/>
          </a:prstGeom>
          <a:noFill/>
          <a:ln w="7938">
            <a:solidFill>
              <a:srgbClr val="000000"/>
            </a:solidFill>
            <a:miter lim="800000"/>
            <a:headEnd/>
            <a:tailEnd/>
          </a:ln>
        </p:spPr>
        <p:txBody>
          <a:bodyPr/>
          <a:lstStyle/>
          <a:p>
            <a:endParaRPr lang="en-US"/>
          </a:p>
        </p:txBody>
      </p:sp>
      <p:sp>
        <p:nvSpPr>
          <p:cNvPr id="67671" name="Line 88"/>
          <p:cNvSpPr>
            <a:spLocks noChangeShapeType="1"/>
          </p:cNvSpPr>
          <p:nvPr/>
        </p:nvSpPr>
        <p:spPr bwMode="auto">
          <a:xfrm flipV="1">
            <a:off x="5700713" y="4344988"/>
            <a:ext cx="90487" cy="57150"/>
          </a:xfrm>
          <a:prstGeom prst="line">
            <a:avLst/>
          </a:prstGeom>
          <a:noFill/>
          <a:ln w="7938">
            <a:solidFill>
              <a:srgbClr val="000000"/>
            </a:solidFill>
            <a:miter lim="800000"/>
            <a:headEnd/>
            <a:tailEnd/>
          </a:ln>
        </p:spPr>
        <p:txBody>
          <a:bodyPr/>
          <a:lstStyle/>
          <a:p>
            <a:endParaRPr lang="en-US"/>
          </a:p>
        </p:txBody>
      </p:sp>
      <p:sp>
        <p:nvSpPr>
          <p:cNvPr id="67672" name="Line 89"/>
          <p:cNvSpPr>
            <a:spLocks noChangeShapeType="1"/>
          </p:cNvSpPr>
          <p:nvPr/>
        </p:nvSpPr>
        <p:spPr bwMode="auto">
          <a:xfrm>
            <a:off x="5746750" y="2992438"/>
            <a:ext cx="107950" cy="0"/>
          </a:xfrm>
          <a:prstGeom prst="line">
            <a:avLst/>
          </a:prstGeom>
          <a:noFill/>
          <a:ln w="7938">
            <a:solidFill>
              <a:srgbClr val="000000"/>
            </a:solidFill>
            <a:miter lim="800000"/>
            <a:headEnd/>
            <a:tailEnd/>
          </a:ln>
        </p:spPr>
        <p:txBody>
          <a:bodyPr/>
          <a:lstStyle/>
          <a:p>
            <a:endParaRPr lang="en-US"/>
          </a:p>
        </p:txBody>
      </p:sp>
      <p:sp>
        <p:nvSpPr>
          <p:cNvPr id="218202" name="Line 90"/>
          <p:cNvSpPr>
            <a:spLocks noChangeShapeType="1"/>
          </p:cNvSpPr>
          <p:nvPr/>
        </p:nvSpPr>
        <p:spPr bwMode="auto">
          <a:xfrm flipH="1" flipV="1">
            <a:off x="1898650" y="2070100"/>
            <a:ext cx="592138" cy="815975"/>
          </a:xfrm>
          <a:prstGeom prst="line">
            <a:avLst/>
          </a:prstGeom>
          <a:noFill/>
          <a:ln w="19050">
            <a:solidFill>
              <a:srgbClr val="000000"/>
            </a:solidFill>
            <a:miter lim="800000"/>
            <a:headEnd/>
            <a:tailEnd/>
          </a:ln>
        </p:spPr>
        <p:txBody>
          <a:bodyPr/>
          <a:lstStyle/>
          <a:p>
            <a:endParaRPr lang="en-US"/>
          </a:p>
        </p:txBody>
      </p:sp>
      <p:sp>
        <p:nvSpPr>
          <p:cNvPr id="67674" name="Line 91"/>
          <p:cNvSpPr>
            <a:spLocks noChangeShapeType="1"/>
          </p:cNvSpPr>
          <p:nvPr/>
        </p:nvSpPr>
        <p:spPr bwMode="auto">
          <a:xfrm>
            <a:off x="7685088" y="1979613"/>
            <a:ext cx="0" cy="0"/>
          </a:xfrm>
          <a:prstGeom prst="line">
            <a:avLst/>
          </a:prstGeom>
          <a:noFill/>
          <a:ln w="30163">
            <a:solidFill>
              <a:srgbClr val="000000"/>
            </a:solidFill>
            <a:miter lim="800000"/>
            <a:headEnd/>
            <a:tailEnd/>
          </a:ln>
        </p:spPr>
        <p:txBody>
          <a:bodyPr/>
          <a:lstStyle/>
          <a:p>
            <a:endParaRPr lang="en-US"/>
          </a:p>
        </p:txBody>
      </p:sp>
      <p:sp>
        <p:nvSpPr>
          <p:cNvPr id="218204" name="Oval 92"/>
          <p:cNvSpPr>
            <a:spLocks noChangeArrowheads="1"/>
          </p:cNvSpPr>
          <p:nvPr/>
        </p:nvSpPr>
        <p:spPr bwMode="auto">
          <a:xfrm>
            <a:off x="7421563" y="3930650"/>
            <a:ext cx="90487" cy="87313"/>
          </a:xfrm>
          <a:prstGeom prst="ellipse">
            <a:avLst/>
          </a:prstGeom>
          <a:solidFill>
            <a:srgbClr val="000000"/>
          </a:solidFill>
          <a:ln w="9525">
            <a:noFill/>
            <a:round/>
            <a:headEnd/>
            <a:tailEnd/>
          </a:ln>
        </p:spPr>
        <p:txBody>
          <a:bodyPr/>
          <a:lstStyle/>
          <a:p>
            <a:endParaRPr lang="en-US"/>
          </a:p>
        </p:txBody>
      </p:sp>
      <p:sp>
        <p:nvSpPr>
          <p:cNvPr id="67676" name="Line 93"/>
          <p:cNvSpPr>
            <a:spLocks noChangeShapeType="1"/>
          </p:cNvSpPr>
          <p:nvPr/>
        </p:nvSpPr>
        <p:spPr bwMode="auto">
          <a:xfrm flipV="1">
            <a:off x="7466013" y="4424363"/>
            <a:ext cx="0" cy="114300"/>
          </a:xfrm>
          <a:prstGeom prst="line">
            <a:avLst/>
          </a:prstGeom>
          <a:noFill/>
          <a:ln w="7938">
            <a:solidFill>
              <a:srgbClr val="000000"/>
            </a:solidFill>
            <a:miter lim="800000"/>
            <a:headEnd/>
            <a:tailEnd/>
          </a:ln>
        </p:spPr>
        <p:txBody>
          <a:bodyPr/>
          <a:lstStyle/>
          <a:p>
            <a:endParaRPr lang="en-US"/>
          </a:p>
        </p:txBody>
      </p:sp>
      <p:sp>
        <p:nvSpPr>
          <p:cNvPr id="218206" name="Line 94"/>
          <p:cNvSpPr>
            <a:spLocks noChangeShapeType="1"/>
          </p:cNvSpPr>
          <p:nvPr/>
        </p:nvSpPr>
        <p:spPr bwMode="auto">
          <a:xfrm flipH="1">
            <a:off x="7315200" y="1892300"/>
            <a:ext cx="404813" cy="1155700"/>
          </a:xfrm>
          <a:prstGeom prst="line">
            <a:avLst/>
          </a:prstGeom>
          <a:noFill/>
          <a:ln w="19050">
            <a:solidFill>
              <a:srgbClr val="000000"/>
            </a:solidFill>
            <a:miter lim="800000"/>
            <a:headEnd/>
            <a:tailEnd/>
          </a:ln>
        </p:spPr>
        <p:txBody>
          <a:bodyPr/>
          <a:lstStyle/>
          <a:p>
            <a:endParaRPr lang="en-US"/>
          </a:p>
        </p:txBody>
      </p:sp>
      <p:sp>
        <p:nvSpPr>
          <p:cNvPr id="218207" name="Line 95"/>
          <p:cNvSpPr>
            <a:spLocks noChangeShapeType="1"/>
          </p:cNvSpPr>
          <p:nvPr/>
        </p:nvSpPr>
        <p:spPr bwMode="auto">
          <a:xfrm flipH="1" flipV="1">
            <a:off x="2703513" y="3197225"/>
            <a:ext cx="620712" cy="846138"/>
          </a:xfrm>
          <a:prstGeom prst="line">
            <a:avLst/>
          </a:prstGeom>
          <a:noFill/>
          <a:ln w="19050">
            <a:solidFill>
              <a:srgbClr val="000000"/>
            </a:solidFill>
            <a:miter lim="800000"/>
            <a:headEnd/>
            <a:tailEnd/>
          </a:ln>
        </p:spPr>
        <p:txBody>
          <a:bodyPr/>
          <a:lstStyle/>
          <a:p>
            <a:endParaRPr lang="en-US"/>
          </a:p>
        </p:txBody>
      </p:sp>
      <p:sp>
        <p:nvSpPr>
          <p:cNvPr id="218208" name="Rectangle 96"/>
          <p:cNvSpPr>
            <a:spLocks noChangeArrowheads="1"/>
          </p:cNvSpPr>
          <p:nvPr/>
        </p:nvSpPr>
        <p:spPr bwMode="auto">
          <a:xfrm>
            <a:off x="1946275" y="17192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E</a:t>
            </a:r>
            <a:endParaRPr lang="en-US" sz="1400" i="1">
              <a:latin typeface="Tahoma" pitchFamily="34" charset="0"/>
            </a:endParaRPr>
          </a:p>
        </p:txBody>
      </p:sp>
      <p:sp>
        <p:nvSpPr>
          <p:cNvPr id="218212" name="Rectangle 100"/>
          <p:cNvSpPr>
            <a:spLocks noChangeArrowheads="1"/>
          </p:cNvSpPr>
          <p:nvPr/>
        </p:nvSpPr>
        <p:spPr bwMode="auto">
          <a:xfrm>
            <a:off x="2781300" y="284797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18216" name="Rectangle 104"/>
          <p:cNvSpPr>
            <a:spLocks noChangeArrowheads="1"/>
          </p:cNvSpPr>
          <p:nvPr/>
        </p:nvSpPr>
        <p:spPr bwMode="auto">
          <a:xfrm>
            <a:off x="3587750" y="39687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18217" name="Rectangle 105"/>
          <p:cNvSpPr>
            <a:spLocks noChangeArrowheads="1"/>
          </p:cNvSpPr>
          <p:nvPr/>
        </p:nvSpPr>
        <p:spPr bwMode="auto">
          <a:xfrm>
            <a:off x="3692525" y="4070350"/>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
        <p:nvSpPr>
          <p:cNvPr id="218220" name="Rectangle 108"/>
          <p:cNvSpPr>
            <a:spLocks noChangeArrowheads="1"/>
          </p:cNvSpPr>
          <p:nvPr/>
        </p:nvSpPr>
        <p:spPr bwMode="auto">
          <a:xfrm>
            <a:off x="1874838" y="14239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218221" name="Rectangle 109"/>
          <p:cNvSpPr>
            <a:spLocks noChangeArrowheads="1"/>
          </p:cNvSpPr>
          <p:nvPr/>
        </p:nvSpPr>
        <p:spPr bwMode="auto">
          <a:xfrm>
            <a:off x="1963738" y="1524000"/>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218222" name="Rectangle 110"/>
          <p:cNvSpPr>
            <a:spLocks noChangeArrowheads="1"/>
          </p:cNvSpPr>
          <p:nvPr/>
        </p:nvSpPr>
        <p:spPr bwMode="auto">
          <a:xfrm>
            <a:off x="4056063" y="14239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218223" name="Rectangle 111"/>
          <p:cNvSpPr>
            <a:spLocks noChangeArrowheads="1"/>
          </p:cNvSpPr>
          <p:nvPr/>
        </p:nvSpPr>
        <p:spPr bwMode="auto">
          <a:xfrm>
            <a:off x="4146550" y="1524000"/>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a:t>
            </a:r>
            <a:endParaRPr lang="en-US" sz="1400">
              <a:latin typeface="Tahoma" pitchFamily="34" charset="0"/>
            </a:endParaRPr>
          </a:p>
        </p:txBody>
      </p:sp>
      <p:sp>
        <p:nvSpPr>
          <p:cNvPr id="218224" name="Rectangle 112"/>
          <p:cNvSpPr>
            <a:spLocks noChangeArrowheads="1"/>
          </p:cNvSpPr>
          <p:nvPr/>
        </p:nvSpPr>
        <p:spPr bwMode="auto">
          <a:xfrm>
            <a:off x="2970213" y="14112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218225" name="Rectangle 113"/>
          <p:cNvSpPr>
            <a:spLocks noChangeArrowheads="1"/>
          </p:cNvSpPr>
          <p:nvPr/>
        </p:nvSpPr>
        <p:spPr bwMode="auto">
          <a:xfrm>
            <a:off x="3060700" y="1514475"/>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218226" name="Freeform 114"/>
          <p:cNvSpPr>
            <a:spLocks/>
          </p:cNvSpPr>
          <p:nvPr/>
        </p:nvSpPr>
        <p:spPr bwMode="auto">
          <a:xfrm>
            <a:off x="3284538" y="4008438"/>
            <a:ext cx="80962" cy="93662"/>
          </a:xfrm>
          <a:custGeom>
            <a:avLst/>
            <a:gdLst>
              <a:gd name="T0" fmla="*/ 2147483647 w 18"/>
              <a:gd name="T1" fmla="*/ 2147483647 h 21"/>
              <a:gd name="T2" fmla="*/ 2147483647 w 18"/>
              <a:gd name="T3" fmla="*/ 0 h 21"/>
              <a:gd name="T4" fmla="*/ 2147483647 w 18"/>
              <a:gd name="T5" fmla="*/ 0 h 21"/>
              <a:gd name="T6" fmla="*/ 2147483647 w 18"/>
              <a:gd name="T7" fmla="*/ 2147483647 h 21"/>
              <a:gd name="T8" fmla="*/ 2147483647 w 18"/>
              <a:gd name="T9" fmla="*/ 2147483647 h 21"/>
              <a:gd name="T10" fmla="*/ 2147483647 w 18"/>
              <a:gd name="T11" fmla="*/ 2147483647 h 21"/>
              <a:gd name="T12" fmla="*/ 0 w 18"/>
              <a:gd name="T13" fmla="*/ 2147483647 h 21"/>
              <a:gd name="T14" fmla="*/ 0 w 18"/>
              <a:gd name="T15" fmla="*/ 2147483647 h 21"/>
              <a:gd name="T16" fmla="*/ 2147483647 w 18"/>
              <a:gd name="T17" fmla="*/ 2147483647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1"/>
              <a:gd name="T29" fmla="*/ 18 w 18"/>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1">
                <a:moveTo>
                  <a:pt x="8" y="7"/>
                </a:moveTo>
                <a:cubicBezTo>
                  <a:pt x="10" y="0"/>
                  <a:pt x="10" y="0"/>
                  <a:pt x="10" y="0"/>
                </a:cubicBezTo>
                <a:cubicBezTo>
                  <a:pt x="11" y="0"/>
                  <a:pt x="11" y="0"/>
                  <a:pt x="11" y="0"/>
                </a:cubicBezTo>
                <a:cubicBezTo>
                  <a:pt x="13" y="11"/>
                  <a:pt x="13" y="11"/>
                  <a:pt x="13" y="11"/>
                </a:cubicBezTo>
                <a:cubicBezTo>
                  <a:pt x="15" y="14"/>
                  <a:pt x="16" y="17"/>
                  <a:pt x="18" y="21"/>
                </a:cubicBezTo>
                <a:cubicBezTo>
                  <a:pt x="15" y="18"/>
                  <a:pt x="12" y="16"/>
                  <a:pt x="10" y="13"/>
                </a:cubicBezTo>
                <a:cubicBezTo>
                  <a:pt x="0" y="7"/>
                  <a:pt x="0" y="7"/>
                  <a:pt x="0" y="7"/>
                </a:cubicBezTo>
                <a:cubicBezTo>
                  <a:pt x="0" y="7"/>
                  <a:pt x="0" y="7"/>
                  <a:pt x="0" y="7"/>
                </a:cubicBezTo>
                <a:lnTo>
                  <a:pt x="8" y="7"/>
                </a:lnTo>
                <a:close/>
              </a:path>
            </a:pathLst>
          </a:custGeom>
          <a:solidFill>
            <a:srgbClr val="000000"/>
          </a:solidFill>
          <a:ln w="9525">
            <a:noFill/>
            <a:round/>
            <a:headEnd/>
            <a:tailEnd/>
          </a:ln>
        </p:spPr>
        <p:txBody>
          <a:bodyPr/>
          <a:lstStyle/>
          <a:p>
            <a:endParaRPr lang="en-US"/>
          </a:p>
        </p:txBody>
      </p:sp>
      <p:sp>
        <p:nvSpPr>
          <p:cNvPr id="218227" name="Freeform 115"/>
          <p:cNvSpPr>
            <a:spLocks/>
          </p:cNvSpPr>
          <p:nvPr/>
        </p:nvSpPr>
        <p:spPr bwMode="auto">
          <a:xfrm>
            <a:off x="7402513" y="2692400"/>
            <a:ext cx="60325" cy="98425"/>
          </a:xfrm>
          <a:custGeom>
            <a:avLst/>
            <a:gdLst>
              <a:gd name="T0" fmla="*/ 2147483647 w 13"/>
              <a:gd name="T1" fmla="*/ 2147483647 h 22"/>
              <a:gd name="T2" fmla="*/ 2147483647 w 13"/>
              <a:gd name="T3" fmla="*/ 2147483647 h 22"/>
              <a:gd name="T4" fmla="*/ 2147483647 w 13"/>
              <a:gd name="T5" fmla="*/ 2147483647 h 22"/>
              <a:gd name="T6" fmla="*/ 2147483647 w 13"/>
              <a:gd name="T7" fmla="*/ 2147483647 h 22"/>
              <a:gd name="T8" fmla="*/ 0 w 13"/>
              <a:gd name="T9" fmla="*/ 2147483647 h 22"/>
              <a:gd name="T10" fmla="*/ 2147483647 w 13"/>
              <a:gd name="T11" fmla="*/ 2147483647 h 22"/>
              <a:gd name="T12" fmla="*/ 2147483647 w 13"/>
              <a:gd name="T13" fmla="*/ 0 h 22"/>
              <a:gd name="T14" fmla="*/ 2147483647 w 13"/>
              <a:gd name="T15" fmla="*/ 0 h 22"/>
              <a:gd name="T16" fmla="*/ 2147483647 w 13"/>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2"/>
              <a:gd name="T29" fmla="*/ 13 w 13"/>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2">
                <a:moveTo>
                  <a:pt x="6" y="5"/>
                </a:moveTo>
                <a:cubicBezTo>
                  <a:pt x="13" y="4"/>
                  <a:pt x="13" y="4"/>
                  <a:pt x="13" y="4"/>
                </a:cubicBezTo>
                <a:cubicBezTo>
                  <a:pt x="13" y="4"/>
                  <a:pt x="13" y="4"/>
                  <a:pt x="13" y="4"/>
                </a:cubicBezTo>
                <a:cubicBezTo>
                  <a:pt x="6" y="13"/>
                  <a:pt x="6" y="13"/>
                  <a:pt x="6" y="13"/>
                </a:cubicBezTo>
                <a:cubicBezTo>
                  <a:pt x="4" y="16"/>
                  <a:pt x="2" y="19"/>
                  <a:pt x="0" y="22"/>
                </a:cubicBezTo>
                <a:cubicBezTo>
                  <a:pt x="1" y="18"/>
                  <a:pt x="1" y="15"/>
                  <a:pt x="2" y="11"/>
                </a:cubicBezTo>
                <a:cubicBezTo>
                  <a:pt x="1" y="0"/>
                  <a:pt x="1" y="0"/>
                  <a:pt x="1" y="0"/>
                </a:cubicBezTo>
                <a:cubicBezTo>
                  <a:pt x="1" y="0"/>
                  <a:pt x="1" y="0"/>
                  <a:pt x="1" y="0"/>
                </a:cubicBezTo>
                <a:lnTo>
                  <a:pt x="6" y="5"/>
                </a:lnTo>
                <a:close/>
              </a:path>
            </a:pathLst>
          </a:custGeom>
          <a:solidFill>
            <a:srgbClr val="000000"/>
          </a:solidFill>
          <a:ln w="9525">
            <a:noFill/>
            <a:round/>
            <a:headEnd/>
            <a:tailEnd/>
          </a:ln>
        </p:spPr>
        <p:txBody>
          <a:bodyPr/>
          <a:lstStyle/>
          <a:p>
            <a:endParaRPr lang="en-US"/>
          </a:p>
        </p:txBody>
      </p:sp>
      <p:sp>
        <p:nvSpPr>
          <p:cNvPr id="218228" name="Freeform 116"/>
          <p:cNvSpPr>
            <a:spLocks/>
          </p:cNvSpPr>
          <p:nvPr/>
        </p:nvSpPr>
        <p:spPr bwMode="auto">
          <a:xfrm>
            <a:off x="7512050" y="2382838"/>
            <a:ext cx="58738" cy="103187"/>
          </a:xfrm>
          <a:custGeom>
            <a:avLst/>
            <a:gdLst>
              <a:gd name="T0" fmla="*/ 2147483647 w 13"/>
              <a:gd name="T1" fmla="*/ 2147483647 h 23"/>
              <a:gd name="T2" fmla="*/ 2147483647 w 13"/>
              <a:gd name="T3" fmla="*/ 2147483647 h 23"/>
              <a:gd name="T4" fmla="*/ 2147483647 w 13"/>
              <a:gd name="T5" fmla="*/ 2147483647 h 23"/>
              <a:gd name="T6" fmla="*/ 2147483647 w 13"/>
              <a:gd name="T7" fmla="*/ 2147483647 h 23"/>
              <a:gd name="T8" fmla="*/ 0 w 13"/>
              <a:gd name="T9" fmla="*/ 2147483647 h 23"/>
              <a:gd name="T10" fmla="*/ 2147483647 w 13"/>
              <a:gd name="T11" fmla="*/ 2147483647 h 23"/>
              <a:gd name="T12" fmla="*/ 2147483647 w 13"/>
              <a:gd name="T13" fmla="*/ 0 h 23"/>
              <a:gd name="T14" fmla="*/ 2147483647 w 13"/>
              <a:gd name="T15" fmla="*/ 0 h 23"/>
              <a:gd name="T16" fmla="*/ 2147483647 w 13"/>
              <a:gd name="T17" fmla="*/ 2147483647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3"/>
              <a:gd name="T29" fmla="*/ 13 w 13"/>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3">
                <a:moveTo>
                  <a:pt x="6" y="6"/>
                </a:moveTo>
                <a:cubicBezTo>
                  <a:pt x="13" y="4"/>
                  <a:pt x="13" y="4"/>
                  <a:pt x="13" y="4"/>
                </a:cubicBezTo>
                <a:cubicBezTo>
                  <a:pt x="13" y="5"/>
                  <a:pt x="13" y="5"/>
                  <a:pt x="13" y="5"/>
                </a:cubicBezTo>
                <a:cubicBezTo>
                  <a:pt x="6" y="13"/>
                  <a:pt x="6" y="13"/>
                  <a:pt x="6" y="13"/>
                </a:cubicBezTo>
                <a:cubicBezTo>
                  <a:pt x="4" y="16"/>
                  <a:pt x="2" y="20"/>
                  <a:pt x="0" y="23"/>
                </a:cubicBezTo>
                <a:cubicBezTo>
                  <a:pt x="0" y="19"/>
                  <a:pt x="1" y="15"/>
                  <a:pt x="1" y="12"/>
                </a:cubicBezTo>
                <a:cubicBezTo>
                  <a:pt x="1" y="0"/>
                  <a:pt x="1" y="0"/>
                  <a:pt x="1" y="0"/>
                </a:cubicBezTo>
                <a:cubicBezTo>
                  <a:pt x="1" y="0"/>
                  <a:pt x="1" y="0"/>
                  <a:pt x="1" y="0"/>
                </a:cubicBezTo>
                <a:lnTo>
                  <a:pt x="6" y="6"/>
                </a:lnTo>
                <a:close/>
              </a:path>
            </a:pathLst>
          </a:custGeom>
          <a:solidFill>
            <a:srgbClr val="000000"/>
          </a:solidFill>
          <a:ln w="9525">
            <a:noFill/>
            <a:round/>
            <a:headEnd/>
            <a:tailEnd/>
          </a:ln>
        </p:spPr>
        <p:txBody>
          <a:bodyPr/>
          <a:lstStyle/>
          <a:p>
            <a:endParaRPr lang="en-US"/>
          </a:p>
        </p:txBody>
      </p:sp>
      <p:sp>
        <p:nvSpPr>
          <p:cNvPr id="218229" name="Freeform 117"/>
          <p:cNvSpPr>
            <a:spLocks/>
          </p:cNvSpPr>
          <p:nvPr/>
        </p:nvSpPr>
        <p:spPr bwMode="auto">
          <a:xfrm>
            <a:off x="7294563" y="2998788"/>
            <a:ext cx="58737" cy="100012"/>
          </a:xfrm>
          <a:custGeom>
            <a:avLst/>
            <a:gdLst>
              <a:gd name="T0" fmla="*/ 2147483647 w 13"/>
              <a:gd name="T1" fmla="*/ 2147483647 h 23"/>
              <a:gd name="T2" fmla="*/ 2147483647 w 13"/>
              <a:gd name="T3" fmla="*/ 2147483647 h 23"/>
              <a:gd name="T4" fmla="*/ 2147483647 w 13"/>
              <a:gd name="T5" fmla="*/ 2147483647 h 23"/>
              <a:gd name="T6" fmla="*/ 2147483647 w 13"/>
              <a:gd name="T7" fmla="*/ 2147483647 h 23"/>
              <a:gd name="T8" fmla="*/ 0 w 13"/>
              <a:gd name="T9" fmla="*/ 2147483647 h 23"/>
              <a:gd name="T10" fmla="*/ 2147483647 w 13"/>
              <a:gd name="T11" fmla="*/ 2147483647 h 23"/>
              <a:gd name="T12" fmla="*/ 2147483647 w 13"/>
              <a:gd name="T13" fmla="*/ 0 h 23"/>
              <a:gd name="T14" fmla="*/ 2147483647 w 13"/>
              <a:gd name="T15" fmla="*/ 0 h 23"/>
              <a:gd name="T16" fmla="*/ 2147483647 w 13"/>
              <a:gd name="T17" fmla="*/ 2147483647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3"/>
              <a:gd name="T29" fmla="*/ 13 w 13"/>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3">
                <a:moveTo>
                  <a:pt x="6" y="6"/>
                </a:moveTo>
                <a:cubicBezTo>
                  <a:pt x="13" y="4"/>
                  <a:pt x="13" y="4"/>
                  <a:pt x="13" y="4"/>
                </a:cubicBezTo>
                <a:cubicBezTo>
                  <a:pt x="13" y="5"/>
                  <a:pt x="13" y="5"/>
                  <a:pt x="13" y="5"/>
                </a:cubicBezTo>
                <a:cubicBezTo>
                  <a:pt x="6" y="13"/>
                  <a:pt x="6" y="13"/>
                  <a:pt x="6" y="13"/>
                </a:cubicBezTo>
                <a:cubicBezTo>
                  <a:pt x="4" y="16"/>
                  <a:pt x="2" y="20"/>
                  <a:pt x="0" y="23"/>
                </a:cubicBezTo>
                <a:cubicBezTo>
                  <a:pt x="1" y="19"/>
                  <a:pt x="1" y="15"/>
                  <a:pt x="1" y="12"/>
                </a:cubicBezTo>
                <a:cubicBezTo>
                  <a:pt x="1" y="0"/>
                  <a:pt x="1" y="0"/>
                  <a:pt x="1" y="0"/>
                </a:cubicBezTo>
                <a:cubicBezTo>
                  <a:pt x="1" y="0"/>
                  <a:pt x="1" y="0"/>
                  <a:pt x="1" y="0"/>
                </a:cubicBezTo>
                <a:lnTo>
                  <a:pt x="6" y="6"/>
                </a:lnTo>
                <a:close/>
              </a:path>
            </a:pathLst>
          </a:custGeom>
          <a:solidFill>
            <a:srgbClr val="000000"/>
          </a:solidFill>
          <a:ln w="9525">
            <a:noFill/>
            <a:round/>
            <a:headEnd/>
            <a:tailEnd/>
          </a:ln>
        </p:spPr>
        <p:txBody>
          <a:bodyPr/>
          <a:lstStyle/>
          <a:p>
            <a:endParaRPr lang="en-US"/>
          </a:p>
        </p:txBody>
      </p:sp>
      <p:sp>
        <p:nvSpPr>
          <p:cNvPr id="218230" name="Freeform 118"/>
          <p:cNvSpPr>
            <a:spLocks/>
          </p:cNvSpPr>
          <p:nvPr/>
        </p:nvSpPr>
        <p:spPr bwMode="auto">
          <a:xfrm>
            <a:off x="7189788" y="3303588"/>
            <a:ext cx="60325" cy="100012"/>
          </a:xfrm>
          <a:custGeom>
            <a:avLst/>
            <a:gdLst>
              <a:gd name="T0" fmla="*/ 2147483647 w 13"/>
              <a:gd name="T1" fmla="*/ 2147483647 h 23"/>
              <a:gd name="T2" fmla="*/ 2147483647 w 13"/>
              <a:gd name="T3" fmla="*/ 2147483647 h 23"/>
              <a:gd name="T4" fmla="*/ 2147483647 w 13"/>
              <a:gd name="T5" fmla="*/ 2147483647 h 23"/>
              <a:gd name="T6" fmla="*/ 2147483647 w 13"/>
              <a:gd name="T7" fmla="*/ 2147483647 h 23"/>
              <a:gd name="T8" fmla="*/ 0 w 13"/>
              <a:gd name="T9" fmla="*/ 2147483647 h 23"/>
              <a:gd name="T10" fmla="*/ 2147483647 w 13"/>
              <a:gd name="T11" fmla="*/ 2147483647 h 23"/>
              <a:gd name="T12" fmla="*/ 0 w 13"/>
              <a:gd name="T13" fmla="*/ 0 h 23"/>
              <a:gd name="T14" fmla="*/ 0 w 13"/>
              <a:gd name="T15" fmla="*/ 0 h 23"/>
              <a:gd name="T16" fmla="*/ 2147483647 w 13"/>
              <a:gd name="T17" fmla="*/ 2147483647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3"/>
              <a:gd name="T29" fmla="*/ 13 w 13"/>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3">
                <a:moveTo>
                  <a:pt x="5" y="6"/>
                </a:moveTo>
                <a:cubicBezTo>
                  <a:pt x="13" y="4"/>
                  <a:pt x="13" y="4"/>
                  <a:pt x="13" y="4"/>
                </a:cubicBezTo>
                <a:cubicBezTo>
                  <a:pt x="13" y="5"/>
                  <a:pt x="13" y="5"/>
                  <a:pt x="13" y="5"/>
                </a:cubicBezTo>
                <a:cubicBezTo>
                  <a:pt x="5" y="13"/>
                  <a:pt x="5" y="13"/>
                  <a:pt x="5" y="13"/>
                </a:cubicBezTo>
                <a:cubicBezTo>
                  <a:pt x="3" y="16"/>
                  <a:pt x="2" y="19"/>
                  <a:pt x="0" y="23"/>
                </a:cubicBezTo>
                <a:cubicBezTo>
                  <a:pt x="0" y="19"/>
                  <a:pt x="0" y="15"/>
                  <a:pt x="1" y="12"/>
                </a:cubicBezTo>
                <a:cubicBezTo>
                  <a:pt x="0" y="0"/>
                  <a:pt x="0" y="0"/>
                  <a:pt x="0" y="0"/>
                </a:cubicBezTo>
                <a:cubicBezTo>
                  <a:pt x="0" y="0"/>
                  <a:pt x="0" y="0"/>
                  <a:pt x="0" y="0"/>
                </a:cubicBezTo>
                <a:lnTo>
                  <a:pt x="5" y="6"/>
                </a:lnTo>
                <a:close/>
              </a:path>
            </a:pathLst>
          </a:custGeom>
          <a:solidFill>
            <a:srgbClr val="000000"/>
          </a:solidFill>
          <a:ln w="9525">
            <a:noFill/>
            <a:round/>
            <a:headEnd/>
            <a:tailEnd/>
          </a:ln>
        </p:spPr>
        <p:txBody>
          <a:bodyPr/>
          <a:lstStyle/>
          <a:p>
            <a:endParaRPr lang="en-US"/>
          </a:p>
        </p:txBody>
      </p:sp>
      <p:sp>
        <p:nvSpPr>
          <p:cNvPr id="218231" name="Freeform 119"/>
          <p:cNvSpPr>
            <a:spLocks/>
          </p:cNvSpPr>
          <p:nvPr/>
        </p:nvSpPr>
        <p:spPr bwMode="auto">
          <a:xfrm>
            <a:off x="7081838" y="3611563"/>
            <a:ext cx="58737" cy="98425"/>
          </a:xfrm>
          <a:custGeom>
            <a:avLst/>
            <a:gdLst>
              <a:gd name="T0" fmla="*/ 2147483647 w 13"/>
              <a:gd name="T1" fmla="*/ 2147483647 h 22"/>
              <a:gd name="T2" fmla="*/ 2147483647 w 13"/>
              <a:gd name="T3" fmla="*/ 2147483647 h 22"/>
              <a:gd name="T4" fmla="*/ 2147483647 w 13"/>
              <a:gd name="T5" fmla="*/ 2147483647 h 22"/>
              <a:gd name="T6" fmla="*/ 2147483647 w 13"/>
              <a:gd name="T7" fmla="*/ 2147483647 h 22"/>
              <a:gd name="T8" fmla="*/ 0 w 13"/>
              <a:gd name="T9" fmla="*/ 2147483647 h 22"/>
              <a:gd name="T10" fmla="*/ 2147483647 w 13"/>
              <a:gd name="T11" fmla="*/ 2147483647 h 22"/>
              <a:gd name="T12" fmla="*/ 0 w 13"/>
              <a:gd name="T13" fmla="*/ 0 h 22"/>
              <a:gd name="T14" fmla="*/ 0 w 13"/>
              <a:gd name="T15" fmla="*/ 0 h 22"/>
              <a:gd name="T16" fmla="*/ 2147483647 w 13"/>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2"/>
              <a:gd name="T29" fmla="*/ 13 w 13"/>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2">
                <a:moveTo>
                  <a:pt x="5" y="6"/>
                </a:moveTo>
                <a:cubicBezTo>
                  <a:pt x="13" y="4"/>
                  <a:pt x="13" y="4"/>
                  <a:pt x="13" y="4"/>
                </a:cubicBezTo>
                <a:cubicBezTo>
                  <a:pt x="13" y="4"/>
                  <a:pt x="13" y="4"/>
                  <a:pt x="13" y="4"/>
                </a:cubicBezTo>
                <a:cubicBezTo>
                  <a:pt x="5" y="13"/>
                  <a:pt x="5" y="13"/>
                  <a:pt x="5" y="13"/>
                </a:cubicBezTo>
                <a:cubicBezTo>
                  <a:pt x="3" y="16"/>
                  <a:pt x="2" y="19"/>
                  <a:pt x="0" y="22"/>
                </a:cubicBezTo>
                <a:cubicBezTo>
                  <a:pt x="0" y="19"/>
                  <a:pt x="0" y="15"/>
                  <a:pt x="1" y="11"/>
                </a:cubicBezTo>
                <a:cubicBezTo>
                  <a:pt x="0" y="0"/>
                  <a:pt x="0" y="0"/>
                  <a:pt x="0" y="0"/>
                </a:cubicBezTo>
                <a:cubicBezTo>
                  <a:pt x="0" y="0"/>
                  <a:pt x="0" y="0"/>
                  <a:pt x="0" y="0"/>
                </a:cubicBezTo>
                <a:lnTo>
                  <a:pt x="5" y="6"/>
                </a:lnTo>
                <a:close/>
              </a:path>
            </a:pathLst>
          </a:custGeom>
          <a:solidFill>
            <a:srgbClr val="000000"/>
          </a:solidFill>
          <a:ln w="9525">
            <a:noFill/>
            <a:round/>
            <a:headEnd/>
            <a:tailEnd/>
          </a:ln>
        </p:spPr>
        <p:txBody>
          <a:bodyPr/>
          <a:lstStyle/>
          <a:p>
            <a:endParaRPr lang="en-US"/>
          </a:p>
        </p:txBody>
      </p:sp>
      <p:sp>
        <p:nvSpPr>
          <p:cNvPr id="218232" name="Freeform 120"/>
          <p:cNvSpPr>
            <a:spLocks/>
          </p:cNvSpPr>
          <p:nvPr/>
        </p:nvSpPr>
        <p:spPr bwMode="auto">
          <a:xfrm>
            <a:off x="6969125" y="3925888"/>
            <a:ext cx="57150" cy="95250"/>
          </a:xfrm>
          <a:custGeom>
            <a:avLst/>
            <a:gdLst>
              <a:gd name="T0" fmla="*/ 2147483647 w 13"/>
              <a:gd name="T1" fmla="*/ 2147483647 h 22"/>
              <a:gd name="T2" fmla="*/ 2147483647 w 13"/>
              <a:gd name="T3" fmla="*/ 2147483647 h 22"/>
              <a:gd name="T4" fmla="*/ 2147483647 w 13"/>
              <a:gd name="T5" fmla="*/ 2147483647 h 22"/>
              <a:gd name="T6" fmla="*/ 2147483647 w 13"/>
              <a:gd name="T7" fmla="*/ 2147483647 h 22"/>
              <a:gd name="T8" fmla="*/ 0 w 13"/>
              <a:gd name="T9" fmla="*/ 2147483647 h 22"/>
              <a:gd name="T10" fmla="*/ 2147483647 w 13"/>
              <a:gd name="T11" fmla="*/ 2147483647 h 22"/>
              <a:gd name="T12" fmla="*/ 2147483647 w 13"/>
              <a:gd name="T13" fmla="*/ 0 h 22"/>
              <a:gd name="T14" fmla="*/ 2147483647 w 13"/>
              <a:gd name="T15" fmla="*/ 0 h 22"/>
              <a:gd name="T16" fmla="*/ 2147483647 w 13"/>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
              <a:gd name="T28" fmla="*/ 0 h 22"/>
              <a:gd name="T29" fmla="*/ 13 w 13"/>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 h="22">
                <a:moveTo>
                  <a:pt x="6" y="5"/>
                </a:moveTo>
                <a:cubicBezTo>
                  <a:pt x="13" y="4"/>
                  <a:pt x="13" y="4"/>
                  <a:pt x="13" y="4"/>
                </a:cubicBezTo>
                <a:cubicBezTo>
                  <a:pt x="13" y="4"/>
                  <a:pt x="13" y="4"/>
                  <a:pt x="13" y="4"/>
                </a:cubicBezTo>
                <a:cubicBezTo>
                  <a:pt x="6" y="13"/>
                  <a:pt x="6" y="13"/>
                  <a:pt x="6" y="13"/>
                </a:cubicBezTo>
                <a:cubicBezTo>
                  <a:pt x="4" y="16"/>
                  <a:pt x="2" y="19"/>
                  <a:pt x="0" y="22"/>
                </a:cubicBezTo>
                <a:cubicBezTo>
                  <a:pt x="1" y="18"/>
                  <a:pt x="1" y="15"/>
                  <a:pt x="2" y="11"/>
                </a:cubicBezTo>
                <a:cubicBezTo>
                  <a:pt x="1" y="0"/>
                  <a:pt x="1" y="0"/>
                  <a:pt x="1" y="0"/>
                </a:cubicBezTo>
                <a:cubicBezTo>
                  <a:pt x="1" y="0"/>
                  <a:pt x="1" y="0"/>
                  <a:pt x="1" y="0"/>
                </a:cubicBezTo>
                <a:lnTo>
                  <a:pt x="6" y="5"/>
                </a:lnTo>
                <a:close/>
              </a:path>
            </a:pathLst>
          </a:custGeom>
          <a:solidFill>
            <a:srgbClr val="000000"/>
          </a:solidFill>
          <a:ln w="9525">
            <a:noFill/>
            <a:round/>
            <a:headEnd/>
            <a:tailEnd/>
          </a:ln>
        </p:spPr>
        <p:txBody>
          <a:bodyPr/>
          <a:lstStyle/>
          <a:p>
            <a:endParaRPr lang="en-US"/>
          </a:p>
        </p:txBody>
      </p:sp>
      <p:sp>
        <p:nvSpPr>
          <p:cNvPr id="218233" name="Freeform 121"/>
          <p:cNvSpPr>
            <a:spLocks/>
          </p:cNvSpPr>
          <p:nvPr/>
        </p:nvSpPr>
        <p:spPr bwMode="auto">
          <a:xfrm>
            <a:off x="2287588" y="2622550"/>
            <a:ext cx="82550" cy="90488"/>
          </a:xfrm>
          <a:custGeom>
            <a:avLst/>
            <a:gdLst>
              <a:gd name="T0" fmla="*/ 2147483647 w 18"/>
              <a:gd name="T1" fmla="*/ 2147483647 h 21"/>
              <a:gd name="T2" fmla="*/ 2147483647 w 18"/>
              <a:gd name="T3" fmla="*/ 0 h 21"/>
              <a:gd name="T4" fmla="*/ 2147483647 w 18"/>
              <a:gd name="T5" fmla="*/ 0 h 21"/>
              <a:gd name="T6" fmla="*/ 2147483647 w 18"/>
              <a:gd name="T7" fmla="*/ 2147483647 h 21"/>
              <a:gd name="T8" fmla="*/ 2147483647 w 18"/>
              <a:gd name="T9" fmla="*/ 2147483647 h 21"/>
              <a:gd name="T10" fmla="*/ 2147483647 w 18"/>
              <a:gd name="T11" fmla="*/ 2147483647 h 21"/>
              <a:gd name="T12" fmla="*/ 0 w 18"/>
              <a:gd name="T13" fmla="*/ 2147483647 h 21"/>
              <a:gd name="T14" fmla="*/ 0 w 18"/>
              <a:gd name="T15" fmla="*/ 2147483647 h 21"/>
              <a:gd name="T16" fmla="*/ 2147483647 w 18"/>
              <a:gd name="T17" fmla="*/ 2147483647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1"/>
              <a:gd name="T29" fmla="*/ 18 w 18"/>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1">
                <a:moveTo>
                  <a:pt x="7" y="7"/>
                </a:moveTo>
                <a:cubicBezTo>
                  <a:pt x="10" y="0"/>
                  <a:pt x="10" y="0"/>
                  <a:pt x="10" y="0"/>
                </a:cubicBezTo>
                <a:cubicBezTo>
                  <a:pt x="11" y="0"/>
                  <a:pt x="11" y="0"/>
                  <a:pt x="11" y="0"/>
                </a:cubicBezTo>
                <a:cubicBezTo>
                  <a:pt x="13" y="11"/>
                  <a:pt x="13" y="11"/>
                  <a:pt x="13" y="11"/>
                </a:cubicBezTo>
                <a:cubicBezTo>
                  <a:pt x="15" y="15"/>
                  <a:pt x="16" y="18"/>
                  <a:pt x="18" y="21"/>
                </a:cubicBezTo>
                <a:cubicBezTo>
                  <a:pt x="15" y="19"/>
                  <a:pt x="12" y="17"/>
                  <a:pt x="9" y="14"/>
                </a:cubicBezTo>
                <a:cubicBezTo>
                  <a:pt x="0" y="8"/>
                  <a:pt x="0" y="8"/>
                  <a:pt x="0" y="8"/>
                </a:cubicBezTo>
                <a:cubicBezTo>
                  <a:pt x="0" y="8"/>
                  <a:pt x="0" y="8"/>
                  <a:pt x="0" y="8"/>
                </a:cubicBezTo>
                <a:lnTo>
                  <a:pt x="7" y="7"/>
                </a:lnTo>
                <a:close/>
              </a:path>
            </a:pathLst>
          </a:custGeom>
          <a:solidFill>
            <a:srgbClr val="000000"/>
          </a:solidFill>
          <a:ln w="9525">
            <a:noFill/>
            <a:round/>
            <a:headEnd/>
            <a:tailEnd/>
          </a:ln>
        </p:spPr>
        <p:txBody>
          <a:bodyPr/>
          <a:lstStyle/>
          <a:p>
            <a:endParaRPr lang="en-US"/>
          </a:p>
        </p:txBody>
      </p:sp>
      <p:sp>
        <p:nvSpPr>
          <p:cNvPr id="218234" name="Freeform 122"/>
          <p:cNvSpPr>
            <a:spLocks/>
          </p:cNvSpPr>
          <p:nvPr/>
        </p:nvSpPr>
        <p:spPr bwMode="auto">
          <a:xfrm>
            <a:off x="2446338" y="2843213"/>
            <a:ext cx="80962" cy="90487"/>
          </a:xfrm>
          <a:custGeom>
            <a:avLst/>
            <a:gdLst>
              <a:gd name="T0" fmla="*/ 2147483647 w 18"/>
              <a:gd name="T1" fmla="*/ 2147483647 h 21"/>
              <a:gd name="T2" fmla="*/ 2147483647 w 18"/>
              <a:gd name="T3" fmla="*/ 0 h 21"/>
              <a:gd name="T4" fmla="*/ 2147483647 w 18"/>
              <a:gd name="T5" fmla="*/ 0 h 21"/>
              <a:gd name="T6" fmla="*/ 2147483647 w 18"/>
              <a:gd name="T7" fmla="*/ 2147483647 h 21"/>
              <a:gd name="T8" fmla="*/ 2147483647 w 18"/>
              <a:gd name="T9" fmla="*/ 2147483647 h 21"/>
              <a:gd name="T10" fmla="*/ 2147483647 w 18"/>
              <a:gd name="T11" fmla="*/ 2147483647 h 21"/>
              <a:gd name="T12" fmla="*/ 2147483647 w 18"/>
              <a:gd name="T13" fmla="*/ 2147483647 h 21"/>
              <a:gd name="T14" fmla="*/ 0 w 18"/>
              <a:gd name="T15" fmla="*/ 2147483647 h 21"/>
              <a:gd name="T16" fmla="*/ 2147483647 w 18"/>
              <a:gd name="T17" fmla="*/ 2147483647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1"/>
              <a:gd name="T29" fmla="*/ 18 w 18"/>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1">
                <a:moveTo>
                  <a:pt x="8" y="7"/>
                </a:moveTo>
                <a:cubicBezTo>
                  <a:pt x="11" y="0"/>
                  <a:pt x="11" y="0"/>
                  <a:pt x="11" y="0"/>
                </a:cubicBezTo>
                <a:cubicBezTo>
                  <a:pt x="11" y="0"/>
                  <a:pt x="11" y="0"/>
                  <a:pt x="11" y="0"/>
                </a:cubicBezTo>
                <a:cubicBezTo>
                  <a:pt x="14" y="11"/>
                  <a:pt x="14" y="11"/>
                  <a:pt x="14" y="11"/>
                </a:cubicBezTo>
                <a:cubicBezTo>
                  <a:pt x="15" y="14"/>
                  <a:pt x="17" y="17"/>
                  <a:pt x="18" y="21"/>
                </a:cubicBezTo>
                <a:cubicBezTo>
                  <a:pt x="16" y="18"/>
                  <a:pt x="13" y="16"/>
                  <a:pt x="10" y="13"/>
                </a:cubicBezTo>
                <a:cubicBezTo>
                  <a:pt x="1" y="7"/>
                  <a:pt x="1" y="7"/>
                  <a:pt x="1" y="7"/>
                </a:cubicBezTo>
                <a:cubicBezTo>
                  <a:pt x="0" y="7"/>
                  <a:pt x="0" y="7"/>
                  <a:pt x="0" y="7"/>
                </a:cubicBezTo>
                <a:lnTo>
                  <a:pt x="8" y="7"/>
                </a:lnTo>
                <a:close/>
              </a:path>
            </a:pathLst>
          </a:custGeom>
          <a:solidFill>
            <a:srgbClr val="000000"/>
          </a:solidFill>
          <a:ln w="9525">
            <a:noFill/>
            <a:round/>
            <a:headEnd/>
            <a:tailEnd/>
          </a:ln>
        </p:spPr>
        <p:txBody>
          <a:bodyPr/>
          <a:lstStyle/>
          <a:p>
            <a:endParaRPr lang="en-US"/>
          </a:p>
        </p:txBody>
      </p:sp>
      <p:sp>
        <p:nvSpPr>
          <p:cNvPr id="218235" name="Freeform 123"/>
          <p:cNvSpPr>
            <a:spLocks/>
          </p:cNvSpPr>
          <p:nvPr/>
        </p:nvSpPr>
        <p:spPr bwMode="auto">
          <a:xfrm>
            <a:off x="2144713" y="2428875"/>
            <a:ext cx="79375" cy="90488"/>
          </a:xfrm>
          <a:custGeom>
            <a:avLst/>
            <a:gdLst>
              <a:gd name="T0" fmla="*/ 2147483647 w 18"/>
              <a:gd name="T1" fmla="*/ 2147483647 h 21"/>
              <a:gd name="T2" fmla="*/ 2147483647 w 18"/>
              <a:gd name="T3" fmla="*/ 0 h 21"/>
              <a:gd name="T4" fmla="*/ 2147483647 w 18"/>
              <a:gd name="T5" fmla="*/ 0 h 21"/>
              <a:gd name="T6" fmla="*/ 2147483647 w 18"/>
              <a:gd name="T7" fmla="*/ 2147483647 h 21"/>
              <a:gd name="T8" fmla="*/ 2147483647 w 18"/>
              <a:gd name="T9" fmla="*/ 2147483647 h 21"/>
              <a:gd name="T10" fmla="*/ 2147483647 w 18"/>
              <a:gd name="T11" fmla="*/ 2147483647 h 21"/>
              <a:gd name="T12" fmla="*/ 0 w 18"/>
              <a:gd name="T13" fmla="*/ 2147483647 h 21"/>
              <a:gd name="T14" fmla="*/ 0 w 18"/>
              <a:gd name="T15" fmla="*/ 2147483647 h 21"/>
              <a:gd name="T16" fmla="*/ 2147483647 w 18"/>
              <a:gd name="T17" fmla="*/ 2147483647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1"/>
              <a:gd name="T29" fmla="*/ 18 w 18"/>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1">
                <a:moveTo>
                  <a:pt x="8" y="7"/>
                </a:moveTo>
                <a:cubicBezTo>
                  <a:pt x="11" y="0"/>
                  <a:pt x="11" y="0"/>
                  <a:pt x="11" y="0"/>
                </a:cubicBezTo>
                <a:cubicBezTo>
                  <a:pt x="11" y="0"/>
                  <a:pt x="11" y="0"/>
                  <a:pt x="11" y="0"/>
                </a:cubicBezTo>
                <a:cubicBezTo>
                  <a:pt x="14" y="11"/>
                  <a:pt x="14" y="11"/>
                  <a:pt x="14" y="11"/>
                </a:cubicBezTo>
                <a:cubicBezTo>
                  <a:pt x="15" y="14"/>
                  <a:pt x="17" y="18"/>
                  <a:pt x="18" y="21"/>
                </a:cubicBezTo>
                <a:cubicBezTo>
                  <a:pt x="15" y="19"/>
                  <a:pt x="13" y="16"/>
                  <a:pt x="10" y="14"/>
                </a:cubicBezTo>
                <a:cubicBezTo>
                  <a:pt x="0" y="8"/>
                  <a:pt x="0" y="8"/>
                  <a:pt x="0" y="8"/>
                </a:cubicBezTo>
                <a:cubicBezTo>
                  <a:pt x="0" y="7"/>
                  <a:pt x="0" y="7"/>
                  <a:pt x="0" y="7"/>
                </a:cubicBezTo>
                <a:lnTo>
                  <a:pt x="8" y="7"/>
                </a:lnTo>
                <a:close/>
              </a:path>
            </a:pathLst>
          </a:custGeom>
          <a:solidFill>
            <a:srgbClr val="000000"/>
          </a:solidFill>
          <a:ln w="9525">
            <a:noFill/>
            <a:round/>
            <a:headEnd/>
            <a:tailEnd/>
          </a:ln>
        </p:spPr>
        <p:txBody>
          <a:bodyPr/>
          <a:lstStyle/>
          <a:p>
            <a:endParaRPr lang="en-US"/>
          </a:p>
        </p:txBody>
      </p:sp>
      <p:sp>
        <p:nvSpPr>
          <p:cNvPr id="218236" name="Freeform 124"/>
          <p:cNvSpPr>
            <a:spLocks/>
          </p:cNvSpPr>
          <p:nvPr/>
        </p:nvSpPr>
        <p:spPr bwMode="auto">
          <a:xfrm>
            <a:off x="2001838" y="2228850"/>
            <a:ext cx="82550" cy="98425"/>
          </a:xfrm>
          <a:custGeom>
            <a:avLst/>
            <a:gdLst>
              <a:gd name="T0" fmla="*/ 2147483647 w 18"/>
              <a:gd name="T1" fmla="*/ 2147483647 h 22"/>
              <a:gd name="T2" fmla="*/ 2147483647 w 18"/>
              <a:gd name="T3" fmla="*/ 0 h 22"/>
              <a:gd name="T4" fmla="*/ 2147483647 w 18"/>
              <a:gd name="T5" fmla="*/ 0 h 22"/>
              <a:gd name="T6" fmla="*/ 2147483647 w 18"/>
              <a:gd name="T7" fmla="*/ 2147483647 h 22"/>
              <a:gd name="T8" fmla="*/ 2147483647 w 18"/>
              <a:gd name="T9" fmla="*/ 2147483647 h 22"/>
              <a:gd name="T10" fmla="*/ 2147483647 w 18"/>
              <a:gd name="T11" fmla="*/ 2147483647 h 22"/>
              <a:gd name="T12" fmla="*/ 0 w 18"/>
              <a:gd name="T13" fmla="*/ 2147483647 h 22"/>
              <a:gd name="T14" fmla="*/ 0 w 18"/>
              <a:gd name="T15" fmla="*/ 2147483647 h 22"/>
              <a:gd name="T16" fmla="*/ 2147483647 w 18"/>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2"/>
              <a:gd name="T29" fmla="*/ 18 w 18"/>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2">
                <a:moveTo>
                  <a:pt x="7" y="7"/>
                </a:moveTo>
                <a:cubicBezTo>
                  <a:pt x="10" y="0"/>
                  <a:pt x="10" y="0"/>
                  <a:pt x="10" y="0"/>
                </a:cubicBezTo>
                <a:cubicBezTo>
                  <a:pt x="10" y="0"/>
                  <a:pt x="10" y="0"/>
                  <a:pt x="10" y="0"/>
                </a:cubicBezTo>
                <a:cubicBezTo>
                  <a:pt x="13" y="11"/>
                  <a:pt x="13" y="11"/>
                  <a:pt x="13" y="11"/>
                </a:cubicBezTo>
                <a:cubicBezTo>
                  <a:pt x="15" y="15"/>
                  <a:pt x="16" y="18"/>
                  <a:pt x="18" y="22"/>
                </a:cubicBezTo>
                <a:cubicBezTo>
                  <a:pt x="15" y="19"/>
                  <a:pt x="12" y="17"/>
                  <a:pt x="9" y="14"/>
                </a:cubicBezTo>
                <a:cubicBezTo>
                  <a:pt x="0" y="8"/>
                  <a:pt x="0" y="8"/>
                  <a:pt x="0" y="8"/>
                </a:cubicBezTo>
                <a:cubicBezTo>
                  <a:pt x="0" y="8"/>
                  <a:pt x="0" y="8"/>
                  <a:pt x="0" y="8"/>
                </a:cubicBezTo>
                <a:lnTo>
                  <a:pt x="7" y="7"/>
                </a:lnTo>
                <a:close/>
              </a:path>
            </a:pathLst>
          </a:custGeom>
          <a:solidFill>
            <a:srgbClr val="000000"/>
          </a:solidFill>
          <a:ln w="9525">
            <a:noFill/>
            <a:round/>
            <a:headEnd/>
            <a:tailEnd/>
          </a:ln>
        </p:spPr>
        <p:txBody>
          <a:bodyPr/>
          <a:lstStyle/>
          <a:p>
            <a:endParaRPr lang="en-US"/>
          </a:p>
        </p:txBody>
      </p:sp>
      <p:sp>
        <p:nvSpPr>
          <p:cNvPr id="218237" name="Freeform 125"/>
          <p:cNvSpPr>
            <a:spLocks/>
          </p:cNvSpPr>
          <p:nvPr/>
        </p:nvSpPr>
        <p:spPr bwMode="auto">
          <a:xfrm>
            <a:off x="3138488" y="3810000"/>
            <a:ext cx="82550" cy="93663"/>
          </a:xfrm>
          <a:custGeom>
            <a:avLst/>
            <a:gdLst>
              <a:gd name="T0" fmla="*/ 2147483647 w 18"/>
              <a:gd name="T1" fmla="*/ 2147483647 h 21"/>
              <a:gd name="T2" fmla="*/ 2147483647 w 18"/>
              <a:gd name="T3" fmla="*/ 0 h 21"/>
              <a:gd name="T4" fmla="*/ 2147483647 w 18"/>
              <a:gd name="T5" fmla="*/ 0 h 21"/>
              <a:gd name="T6" fmla="*/ 2147483647 w 18"/>
              <a:gd name="T7" fmla="*/ 2147483647 h 21"/>
              <a:gd name="T8" fmla="*/ 2147483647 w 18"/>
              <a:gd name="T9" fmla="*/ 2147483647 h 21"/>
              <a:gd name="T10" fmla="*/ 2147483647 w 18"/>
              <a:gd name="T11" fmla="*/ 2147483647 h 21"/>
              <a:gd name="T12" fmla="*/ 0 w 18"/>
              <a:gd name="T13" fmla="*/ 2147483647 h 21"/>
              <a:gd name="T14" fmla="*/ 0 w 18"/>
              <a:gd name="T15" fmla="*/ 2147483647 h 21"/>
              <a:gd name="T16" fmla="*/ 2147483647 w 18"/>
              <a:gd name="T17" fmla="*/ 2147483647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1"/>
              <a:gd name="T29" fmla="*/ 18 w 18"/>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1">
                <a:moveTo>
                  <a:pt x="8" y="7"/>
                </a:moveTo>
                <a:cubicBezTo>
                  <a:pt x="11" y="0"/>
                  <a:pt x="11" y="0"/>
                  <a:pt x="11" y="0"/>
                </a:cubicBezTo>
                <a:cubicBezTo>
                  <a:pt x="11" y="0"/>
                  <a:pt x="11" y="0"/>
                  <a:pt x="11" y="0"/>
                </a:cubicBezTo>
                <a:cubicBezTo>
                  <a:pt x="14" y="11"/>
                  <a:pt x="14" y="11"/>
                  <a:pt x="14" y="11"/>
                </a:cubicBezTo>
                <a:cubicBezTo>
                  <a:pt x="15" y="15"/>
                  <a:pt x="17" y="18"/>
                  <a:pt x="18" y="21"/>
                </a:cubicBezTo>
                <a:cubicBezTo>
                  <a:pt x="15" y="19"/>
                  <a:pt x="13" y="17"/>
                  <a:pt x="10" y="14"/>
                </a:cubicBezTo>
                <a:cubicBezTo>
                  <a:pt x="0" y="8"/>
                  <a:pt x="0" y="8"/>
                  <a:pt x="0" y="8"/>
                </a:cubicBezTo>
                <a:cubicBezTo>
                  <a:pt x="0" y="8"/>
                  <a:pt x="0" y="8"/>
                  <a:pt x="0" y="8"/>
                </a:cubicBezTo>
                <a:lnTo>
                  <a:pt x="8" y="7"/>
                </a:lnTo>
                <a:close/>
              </a:path>
            </a:pathLst>
          </a:custGeom>
          <a:solidFill>
            <a:srgbClr val="000000"/>
          </a:solidFill>
          <a:ln w="9525">
            <a:noFill/>
            <a:round/>
            <a:headEnd/>
            <a:tailEnd/>
          </a:ln>
        </p:spPr>
        <p:txBody>
          <a:bodyPr/>
          <a:lstStyle/>
          <a:p>
            <a:endParaRPr lang="en-US"/>
          </a:p>
        </p:txBody>
      </p:sp>
      <p:sp>
        <p:nvSpPr>
          <p:cNvPr id="218238" name="Freeform 126"/>
          <p:cNvSpPr>
            <a:spLocks/>
          </p:cNvSpPr>
          <p:nvPr/>
        </p:nvSpPr>
        <p:spPr bwMode="auto">
          <a:xfrm>
            <a:off x="2998788" y="3614738"/>
            <a:ext cx="80962" cy="95250"/>
          </a:xfrm>
          <a:custGeom>
            <a:avLst/>
            <a:gdLst>
              <a:gd name="T0" fmla="*/ 2147483647 w 18"/>
              <a:gd name="T1" fmla="*/ 2147483647 h 21"/>
              <a:gd name="T2" fmla="*/ 2147483647 w 18"/>
              <a:gd name="T3" fmla="*/ 0 h 21"/>
              <a:gd name="T4" fmla="*/ 2147483647 w 18"/>
              <a:gd name="T5" fmla="*/ 0 h 21"/>
              <a:gd name="T6" fmla="*/ 2147483647 w 18"/>
              <a:gd name="T7" fmla="*/ 2147483647 h 21"/>
              <a:gd name="T8" fmla="*/ 2147483647 w 18"/>
              <a:gd name="T9" fmla="*/ 2147483647 h 21"/>
              <a:gd name="T10" fmla="*/ 2147483647 w 18"/>
              <a:gd name="T11" fmla="*/ 2147483647 h 21"/>
              <a:gd name="T12" fmla="*/ 0 w 18"/>
              <a:gd name="T13" fmla="*/ 2147483647 h 21"/>
              <a:gd name="T14" fmla="*/ 0 w 18"/>
              <a:gd name="T15" fmla="*/ 2147483647 h 21"/>
              <a:gd name="T16" fmla="*/ 2147483647 w 18"/>
              <a:gd name="T17" fmla="*/ 2147483647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1"/>
              <a:gd name="T29" fmla="*/ 18 w 18"/>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1">
                <a:moveTo>
                  <a:pt x="7" y="7"/>
                </a:moveTo>
                <a:cubicBezTo>
                  <a:pt x="10" y="0"/>
                  <a:pt x="10" y="0"/>
                  <a:pt x="10" y="0"/>
                </a:cubicBezTo>
                <a:cubicBezTo>
                  <a:pt x="11" y="0"/>
                  <a:pt x="11" y="0"/>
                  <a:pt x="11" y="0"/>
                </a:cubicBezTo>
                <a:cubicBezTo>
                  <a:pt x="13" y="11"/>
                  <a:pt x="13" y="11"/>
                  <a:pt x="13" y="11"/>
                </a:cubicBezTo>
                <a:cubicBezTo>
                  <a:pt x="15" y="14"/>
                  <a:pt x="16" y="18"/>
                  <a:pt x="18" y="21"/>
                </a:cubicBezTo>
                <a:cubicBezTo>
                  <a:pt x="15" y="19"/>
                  <a:pt x="12" y="16"/>
                  <a:pt x="9" y="14"/>
                </a:cubicBezTo>
                <a:cubicBezTo>
                  <a:pt x="0" y="8"/>
                  <a:pt x="0" y="8"/>
                  <a:pt x="0" y="8"/>
                </a:cubicBezTo>
                <a:cubicBezTo>
                  <a:pt x="0" y="7"/>
                  <a:pt x="0" y="7"/>
                  <a:pt x="0" y="7"/>
                </a:cubicBezTo>
                <a:lnTo>
                  <a:pt x="7" y="7"/>
                </a:lnTo>
                <a:close/>
              </a:path>
            </a:pathLst>
          </a:custGeom>
          <a:solidFill>
            <a:srgbClr val="000000"/>
          </a:solidFill>
          <a:ln w="9525">
            <a:noFill/>
            <a:round/>
            <a:headEnd/>
            <a:tailEnd/>
          </a:ln>
        </p:spPr>
        <p:txBody>
          <a:bodyPr/>
          <a:lstStyle/>
          <a:p>
            <a:endParaRPr lang="en-US"/>
          </a:p>
        </p:txBody>
      </p:sp>
      <p:sp>
        <p:nvSpPr>
          <p:cNvPr id="218239" name="Freeform 127"/>
          <p:cNvSpPr>
            <a:spLocks/>
          </p:cNvSpPr>
          <p:nvPr/>
        </p:nvSpPr>
        <p:spPr bwMode="auto">
          <a:xfrm>
            <a:off x="2852738" y="3417888"/>
            <a:ext cx="82550" cy="95250"/>
          </a:xfrm>
          <a:custGeom>
            <a:avLst/>
            <a:gdLst>
              <a:gd name="T0" fmla="*/ 2147483647 w 18"/>
              <a:gd name="T1" fmla="*/ 2147483647 h 22"/>
              <a:gd name="T2" fmla="*/ 2147483647 w 18"/>
              <a:gd name="T3" fmla="*/ 0 h 22"/>
              <a:gd name="T4" fmla="*/ 2147483647 w 18"/>
              <a:gd name="T5" fmla="*/ 0 h 22"/>
              <a:gd name="T6" fmla="*/ 2147483647 w 18"/>
              <a:gd name="T7" fmla="*/ 2147483647 h 22"/>
              <a:gd name="T8" fmla="*/ 2147483647 w 18"/>
              <a:gd name="T9" fmla="*/ 2147483647 h 22"/>
              <a:gd name="T10" fmla="*/ 2147483647 w 18"/>
              <a:gd name="T11" fmla="*/ 2147483647 h 22"/>
              <a:gd name="T12" fmla="*/ 0 w 18"/>
              <a:gd name="T13" fmla="*/ 2147483647 h 22"/>
              <a:gd name="T14" fmla="*/ 0 w 18"/>
              <a:gd name="T15" fmla="*/ 2147483647 h 22"/>
              <a:gd name="T16" fmla="*/ 2147483647 w 18"/>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2"/>
              <a:gd name="T29" fmla="*/ 18 w 18"/>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2">
                <a:moveTo>
                  <a:pt x="8" y="7"/>
                </a:moveTo>
                <a:cubicBezTo>
                  <a:pt x="11" y="0"/>
                  <a:pt x="11" y="0"/>
                  <a:pt x="11" y="0"/>
                </a:cubicBezTo>
                <a:cubicBezTo>
                  <a:pt x="11" y="0"/>
                  <a:pt x="11" y="0"/>
                  <a:pt x="11" y="0"/>
                </a:cubicBezTo>
                <a:cubicBezTo>
                  <a:pt x="14" y="11"/>
                  <a:pt x="14" y="11"/>
                  <a:pt x="14" y="11"/>
                </a:cubicBezTo>
                <a:cubicBezTo>
                  <a:pt x="15" y="15"/>
                  <a:pt x="17" y="18"/>
                  <a:pt x="18" y="22"/>
                </a:cubicBezTo>
                <a:cubicBezTo>
                  <a:pt x="15" y="19"/>
                  <a:pt x="13" y="17"/>
                  <a:pt x="10" y="14"/>
                </a:cubicBezTo>
                <a:cubicBezTo>
                  <a:pt x="0" y="8"/>
                  <a:pt x="0" y="8"/>
                  <a:pt x="0" y="8"/>
                </a:cubicBezTo>
                <a:cubicBezTo>
                  <a:pt x="0" y="8"/>
                  <a:pt x="0" y="8"/>
                  <a:pt x="0" y="8"/>
                </a:cubicBezTo>
                <a:lnTo>
                  <a:pt x="8" y="7"/>
                </a:lnTo>
                <a:close/>
              </a:path>
            </a:pathLst>
          </a:custGeom>
          <a:solidFill>
            <a:srgbClr val="000000"/>
          </a:solidFill>
          <a:ln w="9525">
            <a:noFill/>
            <a:round/>
            <a:headEnd/>
            <a:tailEnd/>
          </a:ln>
        </p:spPr>
        <p:txBody>
          <a:bodyPr/>
          <a:lstStyle/>
          <a:p>
            <a:endParaRPr lang="en-US"/>
          </a:p>
        </p:txBody>
      </p:sp>
      <p:sp>
        <p:nvSpPr>
          <p:cNvPr id="67703" name="Rectangle 128"/>
          <p:cNvSpPr>
            <a:spLocks noChangeArrowheads="1"/>
          </p:cNvSpPr>
          <p:nvPr/>
        </p:nvSpPr>
        <p:spPr bwMode="auto">
          <a:xfrm>
            <a:off x="827088" y="765175"/>
            <a:ext cx="825500"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sp>
        <p:nvSpPr>
          <p:cNvPr id="67704" name="Rectangle 129"/>
          <p:cNvSpPr>
            <a:spLocks noChangeArrowheads="1"/>
          </p:cNvSpPr>
          <p:nvPr/>
        </p:nvSpPr>
        <p:spPr bwMode="auto">
          <a:xfrm>
            <a:off x="2389188" y="4819650"/>
            <a:ext cx="2200275"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tomatoes (bushels)</a:t>
            </a:r>
            <a:endParaRPr lang="en-US" sz="1400">
              <a:latin typeface="Tahoma" pitchFamily="34" charset="0"/>
            </a:endParaRPr>
          </a:p>
        </p:txBody>
      </p:sp>
      <p:sp>
        <p:nvSpPr>
          <p:cNvPr id="67705" name="Rectangle 130"/>
          <p:cNvSpPr>
            <a:spLocks noChangeArrowheads="1"/>
          </p:cNvSpPr>
          <p:nvPr/>
        </p:nvSpPr>
        <p:spPr bwMode="auto">
          <a:xfrm>
            <a:off x="5364163" y="836613"/>
            <a:ext cx="825500"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of bushel</a:t>
            </a:r>
            <a:endParaRPr lang="en-US" sz="1400">
              <a:latin typeface="Tahoma" pitchFamily="34" charset="0"/>
            </a:endParaRPr>
          </a:p>
        </p:txBody>
      </p:sp>
      <p:cxnSp>
        <p:nvCxnSpPr>
          <p:cNvPr id="548914" name="Straight Connector 86"/>
          <p:cNvCxnSpPr>
            <a:cxnSpLocks noChangeShapeType="1"/>
          </p:cNvCxnSpPr>
          <p:nvPr/>
        </p:nvCxnSpPr>
        <p:spPr bwMode="auto">
          <a:xfrm>
            <a:off x="7848600" y="1981200"/>
            <a:ext cx="0" cy="2536825"/>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1158875" y="1870075"/>
            <a:ext cx="4173538" cy="0"/>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5873750" y="1870075"/>
            <a:ext cx="1931988" cy="0"/>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5867400" y="2981325"/>
            <a:ext cx="1943100" cy="0"/>
          </a:xfrm>
          <a:prstGeom prst="line">
            <a:avLst/>
          </a:prstGeom>
          <a:noFill/>
          <a:ln w="15875">
            <a:solidFill>
              <a:srgbClr val="808080"/>
            </a:solidFill>
            <a:prstDash val="sysDot"/>
            <a:round/>
            <a:headEnd/>
            <a:tailEnd type="none" w="med" len="lg"/>
          </a:ln>
        </p:spPr>
      </p:cxnSp>
      <p:cxnSp>
        <p:nvCxnSpPr>
          <p:cNvPr id="5" name="Straight Connector 86"/>
          <p:cNvCxnSpPr>
            <a:cxnSpLocks noChangeShapeType="1"/>
          </p:cNvCxnSpPr>
          <p:nvPr/>
        </p:nvCxnSpPr>
        <p:spPr bwMode="auto">
          <a:xfrm>
            <a:off x="5781675" y="3968750"/>
            <a:ext cx="1631950" cy="0"/>
          </a:xfrm>
          <a:prstGeom prst="line">
            <a:avLst/>
          </a:prstGeom>
          <a:noFill/>
          <a:ln w="15875">
            <a:solidFill>
              <a:srgbClr val="808080"/>
            </a:solidFill>
            <a:prstDash val="sysDot"/>
            <a:round/>
            <a:headEnd/>
            <a:tailEnd type="none" w="med" len="lg"/>
          </a:ln>
        </p:spPr>
      </p:cxnSp>
      <p:cxnSp>
        <p:nvCxnSpPr>
          <p:cNvPr id="6" name="Straight Connector 86"/>
          <p:cNvCxnSpPr>
            <a:cxnSpLocks noChangeShapeType="1"/>
          </p:cNvCxnSpPr>
          <p:nvPr/>
        </p:nvCxnSpPr>
        <p:spPr bwMode="auto">
          <a:xfrm>
            <a:off x="5873750" y="4103688"/>
            <a:ext cx="1114425" cy="0"/>
          </a:xfrm>
          <a:prstGeom prst="line">
            <a:avLst/>
          </a:prstGeom>
          <a:noFill/>
          <a:ln w="15875">
            <a:solidFill>
              <a:srgbClr val="808080"/>
            </a:solidFill>
            <a:prstDash val="sysDot"/>
            <a:round/>
            <a:headEnd/>
            <a:tailEnd type="none" w="med" len="lg"/>
          </a:ln>
        </p:spPr>
      </p:cxnSp>
      <p:cxnSp>
        <p:nvCxnSpPr>
          <p:cNvPr id="7" name="Straight Connector 86"/>
          <p:cNvCxnSpPr>
            <a:cxnSpLocks noChangeShapeType="1"/>
          </p:cNvCxnSpPr>
          <p:nvPr/>
        </p:nvCxnSpPr>
        <p:spPr bwMode="auto">
          <a:xfrm>
            <a:off x="5884863" y="3833813"/>
            <a:ext cx="1931987" cy="0"/>
          </a:xfrm>
          <a:prstGeom prst="line">
            <a:avLst/>
          </a:prstGeom>
          <a:noFill/>
          <a:ln w="15875">
            <a:solidFill>
              <a:srgbClr val="808080"/>
            </a:solidFill>
            <a:prstDash val="sysDot"/>
            <a:round/>
            <a:headEnd/>
            <a:tailEnd type="none" w="med" len="lg"/>
          </a:ln>
        </p:spPr>
      </p:cxnSp>
      <p:cxnSp>
        <p:nvCxnSpPr>
          <p:cNvPr id="8" name="Straight Connector 86"/>
          <p:cNvCxnSpPr>
            <a:cxnSpLocks noChangeShapeType="1"/>
          </p:cNvCxnSpPr>
          <p:nvPr/>
        </p:nvCxnSpPr>
        <p:spPr bwMode="auto">
          <a:xfrm>
            <a:off x="7459663" y="3036888"/>
            <a:ext cx="0" cy="1404937"/>
          </a:xfrm>
          <a:prstGeom prst="line">
            <a:avLst/>
          </a:prstGeom>
          <a:noFill/>
          <a:ln w="15875">
            <a:solidFill>
              <a:srgbClr val="808080"/>
            </a:solidFill>
            <a:prstDash val="sysDot"/>
            <a:round/>
            <a:headEnd/>
            <a:tailEnd type="none" w="med" len="lg"/>
          </a:ln>
        </p:spPr>
      </p:cxnSp>
      <p:cxnSp>
        <p:nvCxnSpPr>
          <p:cNvPr id="9" name="Straight Connector 86"/>
          <p:cNvCxnSpPr>
            <a:cxnSpLocks noChangeShapeType="1"/>
          </p:cNvCxnSpPr>
          <p:nvPr/>
        </p:nvCxnSpPr>
        <p:spPr bwMode="auto">
          <a:xfrm>
            <a:off x="7080250" y="4159250"/>
            <a:ext cx="0" cy="282575"/>
          </a:xfrm>
          <a:prstGeom prst="line">
            <a:avLst/>
          </a:prstGeom>
          <a:noFill/>
          <a:ln w="15875">
            <a:solidFill>
              <a:srgbClr val="808080"/>
            </a:solidFill>
            <a:prstDash val="sysDot"/>
            <a:round/>
            <a:headEnd/>
            <a:tailEnd type="none" w="med" len="lg"/>
          </a:ln>
        </p:spPr>
      </p:cxnSp>
      <p:cxnSp>
        <p:nvCxnSpPr>
          <p:cNvPr id="10" name="Straight Connector 86"/>
          <p:cNvCxnSpPr>
            <a:cxnSpLocks noChangeShapeType="1"/>
          </p:cNvCxnSpPr>
          <p:nvPr/>
        </p:nvCxnSpPr>
        <p:spPr bwMode="auto">
          <a:xfrm>
            <a:off x="1158875" y="2992438"/>
            <a:ext cx="4173538" cy="0"/>
          </a:xfrm>
          <a:prstGeom prst="line">
            <a:avLst/>
          </a:prstGeom>
          <a:noFill/>
          <a:ln w="15875">
            <a:solidFill>
              <a:srgbClr val="808080"/>
            </a:solidFill>
            <a:prstDash val="sysDot"/>
            <a:round/>
            <a:headEnd/>
            <a:tailEnd type="none" w="med" len="lg"/>
          </a:ln>
        </p:spPr>
      </p:cxnSp>
      <p:cxnSp>
        <p:nvCxnSpPr>
          <p:cNvPr id="11" name="Straight Connector 86"/>
          <p:cNvCxnSpPr>
            <a:cxnSpLocks noChangeShapeType="1"/>
          </p:cNvCxnSpPr>
          <p:nvPr/>
        </p:nvCxnSpPr>
        <p:spPr bwMode="auto">
          <a:xfrm>
            <a:off x="1158875" y="4116388"/>
            <a:ext cx="3622675" cy="0"/>
          </a:xfrm>
          <a:prstGeom prst="line">
            <a:avLst/>
          </a:prstGeom>
          <a:noFill/>
          <a:ln w="15875">
            <a:solidFill>
              <a:srgbClr val="808080"/>
            </a:solidFill>
            <a:prstDash val="sysDot"/>
            <a:round/>
            <a:headEnd/>
            <a:tailEnd type="none" w="med" len="lg"/>
          </a:ln>
        </p:spPr>
      </p:cxnSp>
      <p:sp>
        <p:nvSpPr>
          <p:cNvPr id="218255" name="Freeform 143"/>
          <p:cNvSpPr>
            <a:spLocks/>
          </p:cNvSpPr>
          <p:nvPr/>
        </p:nvSpPr>
        <p:spPr bwMode="auto">
          <a:xfrm>
            <a:off x="4572000" y="3822700"/>
            <a:ext cx="654050" cy="652463"/>
          </a:xfrm>
          <a:custGeom>
            <a:avLst/>
            <a:gdLst>
              <a:gd name="T0" fmla="*/ 2147483647 w 108"/>
              <a:gd name="T1" fmla="*/ 2147483647 h 127"/>
              <a:gd name="T2" fmla="*/ 2147483647 w 108"/>
              <a:gd name="T3" fmla="*/ 2147483647 h 127"/>
              <a:gd name="T4" fmla="*/ 2147483647 w 108"/>
              <a:gd name="T5" fmla="*/ 2147483647 h 127"/>
              <a:gd name="T6" fmla="*/ 0 w 108"/>
              <a:gd name="T7" fmla="*/ 2147483647 h 127"/>
              <a:gd name="T8" fmla="*/ 0 w 108"/>
              <a:gd name="T9" fmla="*/ 2147483647 h 127"/>
              <a:gd name="T10" fmla="*/ 2147483647 w 108"/>
              <a:gd name="T11" fmla="*/ 0 h 127"/>
              <a:gd name="T12" fmla="*/ 2147483647 w 108"/>
              <a:gd name="T13" fmla="*/ 0 h 127"/>
              <a:gd name="T14" fmla="*/ 2147483647 w 108"/>
              <a:gd name="T15" fmla="*/ 2147483647 h 127"/>
              <a:gd name="T16" fmla="*/ 2147483647 w 108"/>
              <a:gd name="T17" fmla="*/ 2147483647 h 1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8"/>
              <a:gd name="T28" fmla="*/ 0 h 127"/>
              <a:gd name="T29" fmla="*/ 108 w 108"/>
              <a:gd name="T30" fmla="*/ 127 h 1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8" h="127">
                <a:moveTo>
                  <a:pt x="108" y="111"/>
                </a:moveTo>
                <a:cubicBezTo>
                  <a:pt x="108" y="119"/>
                  <a:pt x="101" y="127"/>
                  <a:pt x="92" y="127"/>
                </a:cubicBezTo>
                <a:cubicBezTo>
                  <a:pt x="16" y="127"/>
                  <a:pt x="16" y="127"/>
                  <a:pt x="16" y="127"/>
                </a:cubicBezTo>
                <a:cubicBezTo>
                  <a:pt x="7" y="127"/>
                  <a:pt x="0" y="119"/>
                  <a:pt x="0" y="111"/>
                </a:cubicBezTo>
                <a:cubicBezTo>
                  <a:pt x="0" y="16"/>
                  <a:pt x="0" y="16"/>
                  <a:pt x="0" y="16"/>
                </a:cubicBezTo>
                <a:cubicBezTo>
                  <a:pt x="0" y="7"/>
                  <a:pt x="7" y="0"/>
                  <a:pt x="16" y="0"/>
                </a:cubicBezTo>
                <a:cubicBezTo>
                  <a:pt x="92" y="0"/>
                  <a:pt x="92" y="0"/>
                  <a:pt x="92" y="0"/>
                </a:cubicBezTo>
                <a:cubicBezTo>
                  <a:pt x="101" y="0"/>
                  <a:pt x="108" y="7"/>
                  <a:pt x="108" y="16"/>
                </a:cubicBezTo>
                <a:lnTo>
                  <a:pt x="108" y="111"/>
                </a:lnTo>
                <a:close/>
              </a:path>
            </a:pathLst>
          </a:custGeom>
          <a:solidFill>
            <a:srgbClr val="D7E2E0"/>
          </a:solidFill>
          <a:ln w="9525">
            <a:noFill/>
            <a:round/>
            <a:headEnd/>
            <a:tailEnd/>
          </a:ln>
        </p:spPr>
        <p:txBody>
          <a:bodyPr/>
          <a:lstStyle/>
          <a:p>
            <a:endParaRPr lang="en-US"/>
          </a:p>
        </p:txBody>
      </p:sp>
      <p:sp>
        <p:nvSpPr>
          <p:cNvPr id="218256" name="Rectangle 144"/>
          <p:cNvSpPr>
            <a:spLocks noChangeArrowheads="1"/>
          </p:cNvSpPr>
          <p:nvPr/>
        </p:nvSpPr>
        <p:spPr bwMode="auto">
          <a:xfrm>
            <a:off x="4613275" y="3827463"/>
            <a:ext cx="592138"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Break-even price</a:t>
            </a:r>
            <a:endParaRPr lang="en-US" sz="1400">
              <a:latin typeface="Tahoma" pitchFamily="34" charset="0"/>
            </a:endParaRPr>
          </a:p>
        </p:txBody>
      </p:sp>
      <p:cxnSp>
        <p:nvCxnSpPr>
          <p:cNvPr id="12" name="Straight Connector 86"/>
          <p:cNvCxnSpPr>
            <a:cxnSpLocks noChangeShapeType="1"/>
          </p:cNvCxnSpPr>
          <p:nvPr/>
        </p:nvCxnSpPr>
        <p:spPr bwMode="auto">
          <a:xfrm>
            <a:off x="1849438" y="1925638"/>
            <a:ext cx="0" cy="2536825"/>
          </a:xfrm>
          <a:prstGeom prst="line">
            <a:avLst/>
          </a:prstGeom>
          <a:noFill/>
          <a:ln w="15875">
            <a:solidFill>
              <a:srgbClr val="808080"/>
            </a:solidFill>
            <a:prstDash val="sysDot"/>
            <a:round/>
            <a:headEnd/>
            <a:tailEnd type="none" w="med" len="lg"/>
          </a:ln>
        </p:spPr>
      </p:cxnSp>
      <p:cxnSp>
        <p:nvCxnSpPr>
          <p:cNvPr id="13" name="Straight Connector 86"/>
          <p:cNvCxnSpPr>
            <a:cxnSpLocks noChangeShapeType="1"/>
          </p:cNvCxnSpPr>
          <p:nvPr/>
        </p:nvCxnSpPr>
        <p:spPr bwMode="auto">
          <a:xfrm>
            <a:off x="2676525" y="3003550"/>
            <a:ext cx="0" cy="1403350"/>
          </a:xfrm>
          <a:prstGeom prst="line">
            <a:avLst/>
          </a:prstGeom>
          <a:noFill/>
          <a:ln w="15875">
            <a:solidFill>
              <a:srgbClr val="808080"/>
            </a:solidFill>
            <a:prstDash val="sysDot"/>
            <a:round/>
            <a:headEnd/>
            <a:tailEnd type="none" w="med" len="lg"/>
          </a:ln>
        </p:spPr>
      </p:cxnSp>
      <p:cxnSp>
        <p:nvCxnSpPr>
          <p:cNvPr id="14" name="Straight Connector 86"/>
          <p:cNvCxnSpPr>
            <a:cxnSpLocks noChangeShapeType="1"/>
          </p:cNvCxnSpPr>
          <p:nvPr/>
        </p:nvCxnSpPr>
        <p:spPr bwMode="auto">
          <a:xfrm>
            <a:off x="3505200" y="4181475"/>
            <a:ext cx="0" cy="280988"/>
          </a:xfrm>
          <a:prstGeom prst="line">
            <a:avLst/>
          </a:prstGeom>
          <a:noFill/>
          <a:ln w="15875">
            <a:solidFill>
              <a:srgbClr val="808080"/>
            </a:solidFill>
            <a:prstDash val="sysDot"/>
            <a:round/>
            <a:headEnd/>
            <a:tailEnd type="none" w="med" len="lg"/>
          </a:ln>
        </p:spPr>
      </p:cxnSp>
      <p:sp>
        <p:nvSpPr>
          <p:cNvPr id="149" name="Line 94"/>
          <p:cNvSpPr>
            <a:spLocks noChangeShapeType="1"/>
          </p:cNvSpPr>
          <p:nvPr/>
        </p:nvSpPr>
        <p:spPr bwMode="auto">
          <a:xfrm flipH="1">
            <a:off x="6934200" y="2971800"/>
            <a:ext cx="404813" cy="1155700"/>
          </a:xfrm>
          <a:prstGeom prst="line">
            <a:avLst/>
          </a:prstGeom>
          <a:noFill/>
          <a:ln w="19050">
            <a:solidFill>
              <a:srgbClr val="000000"/>
            </a:solidFill>
            <a:miter lim="800000"/>
            <a:headEnd/>
            <a:tailEnd/>
          </a:ln>
        </p:spPr>
        <p:txBody>
          <a:bodyPr/>
          <a:lstStyle/>
          <a:p>
            <a:endParaRPr lang="en-US"/>
          </a:p>
        </p:txBody>
      </p:sp>
      <p:sp>
        <p:nvSpPr>
          <p:cNvPr id="218213" name="Rectangle 101"/>
          <p:cNvSpPr>
            <a:spLocks noChangeArrowheads="1"/>
          </p:cNvSpPr>
          <p:nvPr/>
        </p:nvSpPr>
        <p:spPr bwMode="auto">
          <a:xfrm>
            <a:off x="2901950" y="2951163"/>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
        <p:nvSpPr>
          <p:cNvPr id="218209" name="Rectangle 97"/>
          <p:cNvSpPr>
            <a:spLocks noChangeArrowheads="1"/>
          </p:cNvSpPr>
          <p:nvPr/>
        </p:nvSpPr>
        <p:spPr bwMode="auto">
          <a:xfrm>
            <a:off x="2036763" y="1819275"/>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8171"/>
                                        </p:tgtEl>
                                        <p:attrNameLst>
                                          <p:attrName>style.visibility</p:attrName>
                                        </p:attrNameLst>
                                      </p:cBhvr>
                                      <p:to>
                                        <p:strVal val="visible"/>
                                      </p:to>
                                    </p:set>
                                  </p:childTnLst>
                                </p:cTn>
                              </p:par>
                              <p:par>
                                <p:cTn id="7" presetID="22" presetClass="entr" presetSubtype="1" fill="hold" grpId="0" nodeType="withEffect">
                                  <p:stCondLst>
                                    <p:cond delay="0"/>
                                  </p:stCondLst>
                                  <p:childTnLst>
                                    <p:set>
                                      <p:cBhvr>
                                        <p:cTn id="8" dur="1" fill="hold">
                                          <p:stCondLst>
                                            <p:cond delay="0"/>
                                          </p:stCondLst>
                                        </p:cTn>
                                        <p:tgtEl>
                                          <p:spTgt spid="218182"/>
                                        </p:tgtEl>
                                        <p:attrNameLst>
                                          <p:attrName>style.visibility</p:attrName>
                                        </p:attrNameLst>
                                      </p:cBhvr>
                                      <p:to>
                                        <p:strVal val="visible"/>
                                      </p:to>
                                    </p:set>
                                    <p:animEffect transition="in" filter="wipe(up)">
                                      <p:cBhvr>
                                        <p:cTn id="9" dur="500"/>
                                        <p:tgtEl>
                                          <p:spTgt spid="218182"/>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218221"/>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1822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1820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1820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1818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
                                        </p:tgtEl>
                                        <p:attrNameLst>
                                          <p:attrName>style.visibility</p:attrName>
                                        </p:attrNameLst>
                                      </p:cBhvr>
                                      <p:to>
                                        <p:strVal val="visible"/>
                                      </p:to>
                                    </p:set>
                                  </p:childTnLst>
                                </p:cTn>
                              </p:par>
                              <p:par>
                                <p:cTn id="24" presetID="22" presetClass="entr" presetSubtype="8" fill="hold" grpId="0" nodeType="withEffect">
                                  <p:stCondLst>
                                    <p:cond delay="0"/>
                                  </p:stCondLst>
                                  <p:childTnLst>
                                    <p:set>
                                      <p:cBhvr>
                                        <p:cTn id="25" dur="1" fill="hold">
                                          <p:stCondLst>
                                            <p:cond delay="0"/>
                                          </p:stCondLst>
                                        </p:cTn>
                                        <p:tgtEl>
                                          <p:spTgt spid="218183"/>
                                        </p:tgtEl>
                                        <p:attrNameLst>
                                          <p:attrName>style.visibility</p:attrName>
                                        </p:attrNameLst>
                                      </p:cBhvr>
                                      <p:to>
                                        <p:strVal val="visible"/>
                                      </p:to>
                                    </p:set>
                                    <p:animEffect transition="in" filter="wipe(left)">
                                      <p:cBhvr>
                                        <p:cTn id="26" dur="500"/>
                                        <p:tgtEl>
                                          <p:spTgt spid="218183"/>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218175"/>
                                        </p:tgtEl>
                                        <p:attrNameLst>
                                          <p:attrName>style.visibility</p:attrName>
                                        </p:attrNameLst>
                                      </p:cBhvr>
                                      <p:to>
                                        <p:strVal val="visible"/>
                                      </p:to>
                                    </p:set>
                                  </p:childTnLst>
                                </p:cTn>
                              </p:par>
                              <p:par>
                                <p:cTn id="29" presetID="22" presetClass="entr" presetSubtype="8" fill="hold" grpId="0" nodeType="withEffect">
                                  <p:stCondLst>
                                    <p:cond delay="0"/>
                                  </p:stCondLst>
                                  <p:childTnLst>
                                    <p:set>
                                      <p:cBhvr>
                                        <p:cTn id="30" dur="1" fill="hold">
                                          <p:stCondLst>
                                            <p:cond delay="0"/>
                                          </p:stCondLst>
                                        </p:cTn>
                                        <p:tgtEl>
                                          <p:spTgt spid="218132"/>
                                        </p:tgtEl>
                                        <p:attrNameLst>
                                          <p:attrName>style.visibility</p:attrName>
                                        </p:attrNameLst>
                                      </p:cBhvr>
                                      <p:to>
                                        <p:strVal val="visible"/>
                                      </p:to>
                                    </p:set>
                                    <p:animEffect transition="in" filter="wipe(left)">
                                      <p:cBhvr>
                                        <p:cTn id="31" dur="500"/>
                                        <p:tgtEl>
                                          <p:spTgt spid="218132"/>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181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81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8181"/>
                                        </p:tgtEl>
                                        <p:attrNameLst>
                                          <p:attrName>style.visibility</p:attrName>
                                        </p:attrNameLst>
                                      </p:cBhvr>
                                      <p:to>
                                        <p:strVal val="visible"/>
                                      </p:to>
                                    </p:set>
                                  </p:childTnLst>
                                </p:cTn>
                              </p:par>
                              <p:par>
                                <p:cTn id="39" presetID="22" presetClass="entr" presetSubtype="4" fill="hold" grpId="0" nodeType="withEffect">
                                  <p:stCondLst>
                                    <p:cond delay="0"/>
                                  </p:stCondLst>
                                  <p:childTnLst>
                                    <p:set>
                                      <p:cBhvr>
                                        <p:cTn id="40" dur="1" fill="hold">
                                          <p:stCondLst>
                                            <p:cond delay="0"/>
                                          </p:stCondLst>
                                        </p:cTn>
                                        <p:tgtEl>
                                          <p:spTgt spid="218148"/>
                                        </p:tgtEl>
                                        <p:attrNameLst>
                                          <p:attrName>style.visibility</p:attrName>
                                        </p:attrNameLst>
                                      </p:cBhvr>
                                      <p:to>
                                        <p:strVal val="visible"/>
                                      </p:to>
                                    </p:set>
                                    <p:animEffect transition="in" filter="wipe(down)">
                                      <p:cBhvr>
                                        <p:cTn id="41" dur="500"/>
                                        <p:tgtEl>
                                          <p:spTgt spid="218148"/>
                                        </p:tgtEl>
                                      </p:cBhvr>
                                    </p:animEffect>
                                  </p:childTnLst>
                                </p:cTn>
                              </p:par>
                            </p:childTnLst>
                          </p:cTn>
                        </p:par>
                        <p:par>
                          <p:cTn id="42" fill="hold">
                            <p:stCondLst>
                              <p:cond delay="1000"/>
                            </p:stCondLst>
                            <p:childTnLst>
                              <p:par>
                                <p:cTn id="43" presetID="1" presetClass="entr" presetSubtype="0" fill="hold" grpId="0" nodeType="afterEffect">
                                  <p:stCondLst>
                                    <p:cond delay="0"/>
                                  </p:stCondLst>
                                  <p:childTnLst>
                                    <p:set>
                                      <p:cBhvr>
                                        <p:cTn id="44" dur="1" fill="hold">
                                          <p:stCondLst>
                                            <p:cond delay="0"/>
                                          </p:stCondLst>
                                        </p:cTn>
                                        <p:tgtEl>
                                          <p:spTgt spid="2181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817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8187"/>
                                        </p:tgtEl>
                                        <p:attrNameLst>
                                          <p:attrName>style.visibility</p:attrName>
                                        </p:attrNameLst>
                                      </p:cBhvr>
                                      <p:to>
                                        <p:strVal val="visible"/>
                                      </p:to>
                                    </p:set>
                                  </p:childTnLst>
                                </p:cTn>
                              </p:par>
                              <p:par>
                                <p:cTn id="49" presetID="9" presetClass="entr" presetSubtype="0" fill="hold" grpId="0" nodeType="withEffect">
                                  <p:stCondLst>
                                    <p:cond delay="0"/>
                                  </p:stCondLst>
                                  <p:childTnLst>
                                    <p:set>
                                      <p:cBhvr>
                                        <p:cTn id="50" dur="1" fill="hold">
                                          <p:stCondLst>
                                            <p:cond delay="0"/>
                                          </p:stCondLst>
                                        </p:cTn>
                                        <p:tgtEl>
                                          <p:spTgt spid="218117"/>
                                        </p:tgtEl>
                                        <p:attrNameLst>
                                          <p:attrName>style.visibility</p:attrName>
                                        </p:attrNameLst>
                                      </p:cBhvr>
                                      <p:to>
                                        <p:strVal val="visible"/>
                                      </p:to>
                                    </p:set>
                                    <p:animEffect transition="in" filter="dissolve">
                                      <p:cBhvr>
                                        <p:cTn id="51" dur="500"/>
                                        <p:tgtEl>
                                          <p:spTgt spid="218117"/>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21815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18177"/>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7"/>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548914"/>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18185"/>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1820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1823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18234"/>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18235"/>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18236"/>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1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18212"/>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18213"/>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13"/>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4"/>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18227"/>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18228"/>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18174"/>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218153"/>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218206"/>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5"/>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218224"/>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218225"/>
                                        </p:tgtEl>
                                        <p:attrNameLst>
                                          <p:attrName>style.visibility</p:attrName>
                                        </p:attrNameLst>
                                      </p:cBhvr>
                                      <p:to>
                                        <p:strVal val="visible"/>
                                      </p:to>
                                    </p:set>
                                  </p:childTnLst>
                                </p:cTn>
                              </p:par>
                              <p:par>
                                <p:cTn id="102" presetID="22" presetClass="entr" presetSubtype="8" fill="hold" grpId="0" nodeType="withEffect">
                                  <p:stCondLst>
                                    <p:cond delay="0"/>
                                  </p:stCondLst>
                                  <p:childTnLst>
                                    <p:set>
                                      <p:cBhvr>
                                        <p:cTn id="103" dur="1" fill="hold">
                                          <p:stCondLst>
                                            <p:cond delay="0"/>
                                          </p:stCondLst>
                                        </p:cTn>
                                        <p:tgtEl>
                                          <p:spTgt spid="218131"/>
                                        </p:tgtEl>
                                        <p:attrNameLst>
                                          <p:attrName>style.visibility</p:attrName>
                                        </p:attrNameLst>
                                      </p:cBhvr>
                                      <p:to>
                                        <p:strVal val="visible"/>
                                      </p:to>
                                    </p:set>
                                    <p:animEffect transition="in" filter="wipe(left)">
                                      <p:cBhvr>
                                        <p:cTn id="104" dur="500"/>
                                        <p:tgtEl>
                                          <p:spTgt spid="218131"/>
                                        </p:tgtEl>
                                      </p:cBhvr>
                                    </p:animEffect>
                                  </p:childTnLst>
                                </p:cTn>
                              </p:par>
                              <p:par>
                                <p:cTn id="105" presetID="1" presetClass="entr" presetSubtype="0" fill="hold" grpId="0" nodeType="withEffect">
                                  <p:stCondLst>
                                    <p:cond delay="0"/>
                                  </p:stCondLst>
                                  <p:childTnLst>
                                    <p:set>
                                      <p:cBhvr>
                                        <p:cTn id="106" dur="1" fill="hold">
                                          <p:stCondLst>
                                            <p:cond delay="0"/>
                                          </p:stCondLst>
                                        </p:cTn>
                                        <p:tgtEl>
                                          <p:spTgt spid="218188"/>
                                        </p:tgtEl>
                                        <p:attrNameLst>
                                          <p:attrName>style.visibility</p:attrName>
                                        </p:attrNameLst>
                                      </p:cBhvr>
                                      <p:to>
                                        <p:strVal val="visible"/>
                                      </p:to>
                                    </p:set>
                                  </p:childTnLst>
                                </p:cTn>
                              </p:par>
                              <p:par>
                                <p:cTn id="107" presetID="9" presetClass="entr" presetSubtype="0" fill="hold" grpId="0" nodeType="withEffect">
                                  <p:stCondLst>
                                    <p:cond delay="0"/>
                                  </p:stCondLst>
                                  <p:childTnLst>
                                    <p:set>
                                      <p:cBhvr>
                                        <p:cTn id="108" dur="1" fill="hold">
                                          <p:stCondLst>
                                            <p:cond delay="0"/>
                                          </p:stCondLst>
                                        </p:cTn>
                                        <p:tgtEl>
                                          <p:spTgt spid="218118"/>
                                        </p:tgtEl>
                                        <p:attrNameLst>
                                          <p:attrName>style.visibility</p:attrName>
                                        </p:attrNameLst>
                                      </p:cBhvr>
                                      <p:to>
                                        <p:strVal val="visible"/>
                                      </p:to>
                                    </p:set>
                                    <p:animEffect transition="in" filter="dissolve">
                                      <p:cBhvr>
                                        <p:cTn id="109" dur="500"/>
                                        <p:tgtEl>
                                          <p:spTgt spid="218118"/>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218125"/>
                                        </p:tgtEl>
                                        <p:attrNameLst>
                                          <p:attrName>style.visibility</p:attrName>
                                        </p:attrNameLst>
                                      </p:cBhvr>
                                      <p:to>
                                        <p:strVal val="visible"/>
                                      </p:to>
                                    </p:set>
                                    <p:animEffect transition="in" filter="dissolve">
                                      <p:cBhvr>
                                        <p:cTn id="112" dur="500"/>
                                        <p:tgtEl>
                                          <p:spTgt spid="218125"/>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218124"/>
                                        </p:tgtEl>
                                        <p:attrNameLst>
                                          <p:attrName>style.visibility</p:attrName>
                                        </p:attrNameLst>
                                      </p:cBhvr>
                                      <p:to>
                                        <p:strVal val="visible"/>
                                      </p:to>
                                    </p:set>
                                    <p:animEffect transition="in" filter="dissolve">
                                      <p:cBhvr>
                                        <p:cTn id="115" dur="500"/>
                                        <p:tgtEl>
                                          <p:spTgt spid="218124"/>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218123"/>
                                        </p:tgtEl>
                                        <p:attrNameLst>
                                          <p:attrName>style.visibility</p:attrName>
                                        </p:attrNameLst>
                                      </p:cBhvr>
                                      <p:to>
                                        <p:strVal val="visible"/>
                                      </p:to>
                                    </p:set>
                                    <p:animEffect transition="in" filter="dissolve">
                                      <p:cBhvr>
                                        <p:cTn id="118" dur="500"/>
                                        <p:tgtEl>
                                          <p:spTgt spid="218123"/>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218122"/>
                                        </p:tgtEl>
                                        <p:attrNameLst>
                                          <p:attrName>style.visibility</p:attrName>
                                        </p:attrNameLst>
                                      </p:cBhvr>
                                      <p:to>
                                        <p:strVal val="visible"/>
                                      </p:to>
                                    </p:set>
                                    <p:animEffect transition="in" filter="dissolve">
                                      <p:cBhvr>
                                        <p:cTn id="121" dur="500"/>
                                        <p:tgtEl>
                                          <p:spTgt spid="218122"/>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218121"/>
                                        </p:tgtEl>
                                        <p:attrNameLst>
                                          <p:attrName>style.visibility</p:attrName>
                                        </p:attrNameLst>
                                      </p:cBhvr>
                                      <p:to>
                                        <p:strVal val="visible"/>
                                      </p:to>
                                    </p:set>
                                    <p:animEffect transition="in" filter="dissolve">
                                      <p:cBhvr>
                                        <p:cTn id="124" dur="500"/>
                                        <p:tgtEl>
                                          <p:spTgt spid="218121"/>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218120"/>
                                        </p:tgtEl>
                                        <p:attrNameLst>
                                          <p:attrName>style.visibility</p:attrName>
                                        </p:attrNameLst>
                                      </p:cBhvr>
                                      <p:to>
                                        <p:strVal val="visible"/>
                                      </p:to>
                                    </p:set>
                                    <p:animEffect transition="in" filter="dissolve">
                                      <p:cBhvr>
                                        <p:cTn id="127" dur="500"/>
                                        <p:tgtEl>
                                          <p:spTgt spid="218120"/>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218119"/>
                                        </p:tgtEl>
                                        <p:attrNameLst>
                                          <p:attrName>style.visibility</p:attrName>
                                        </p:attrNameLst>
                                      </p:cBhvr>
                                      <p:to>
                                        <p:strVal val="visible"/>
                                      </p:to>
                                    </p:set>
                                    <p:animEffect transition="in" filter="dissolve">
                                      <p:cBhvr>
                                        <p:cTn id="130" dur="500"/>
                                        <p:tgtEl>
                                          <p:spTgt spid="218119"/>
                                        </p:tgtEl>
                                      </p:cBhvr>
                                    </p:animEffect>
                                  </p:childTnLst>
                                </p:cTn>
                              </p:par>
                              <p:par>
                                <p:cTn id="131" presetID="1" presetClass="entr" presetSubtype="0" fill="hold" grpId="0" nodeType="withEffect">
                                  <p:stCondLst>
                                    <p:cond delay="0"/>
                                  </p:stCondLst>
                                  <p:childTnLst>
                                    <p:set>
                                      <p:cBhvr>
                                        <p:cTn id="132" dur="1" fill="hold">
                                          <p:stCondLst>
                                            <p:cond delay="0"/>
                                          </p:stCondLst>
                                        </p:cTn>
                                        <p:tgtEl>
                                          <p:spTgt spid="21817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1812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218126"/>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8"/>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1812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1820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18152"/>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218173"/>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6"/>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21823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1823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18184"/>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1821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18217"/>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1823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18238"/>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18226"/>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18237"/>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18222"/>
                                        </p:tgtEl>
                                        <p:attrNameLst>
                                          <p:attrName>style.visibility</p:attrName>
                                        </p:attrNameLst>
                                      </p:cBhvr>
                                      <p:to>
                                        <p:strVal val="visible"/>
                                      </p:to>
                                    </p:set>
                                  </p:childTnLst>
                                </p:cTn>
                              </p:par>
                              <p:par>
                                <p:cTn id="175" presetID="22" presetClass="entr" presetSubtype="8" fill="hold" grpId="0" nodeType="withEffect">
                                  <p:stCondLst>
                                    <p:cond delay="0"/>
                                  </p:stCondLst>
                                  <p:childTnLst>
                                    <p:set>
                                      <p:cBhvr>
                                        <p:cTn id="176" dur="1" fill="hold">
                                          <p:stCondLst>
                                            <p:cond delay="0"/>
                                          </p:stCondLst>
                                        </p:cTn>
                                        <p:tgtEl>
                                          <p:spTgt spid="218130"/>
                                        </p:tgtEl>
                                        <p:attrNameLst>
                                          <p:attrName>style.visibility</p:attrName>
                                        </p:attrNameLst>
                                      </p:cBhvr>
                                      <p:to>
                                        <p:strVal val="visible"/>
                                      </p:to>
                                    </p:set>
                                    <p:animEffect transition="in" filter="wipe(left)">
                                      <p:cBhvr>
                                        <p:cTn id="177" dur="500"/>
                                        <p:tgtEl>
                                          <p:spTgt spid="218130"/>
                                        </p:tgtEl>
                                      </p:cBhvr>
                                    </p:animEffect>
                                  </p:childTnLst>
                                </p:cTn>
                              </p:par>
                              <p:par>
                                <p:cTn id="178" presetID="1" presetClass="entr" presetSubtype="0" fill="hold" grpId="0" nodeType="withEffect">
                                  <p:stCondLst>
                                    <p:cond delay="0"/>
                                  </p:stCondLst>
                                  <p:childTnLst>
                                    <p:set>
                                      <p:cBhvr>
                                        <p:cTn id="179" dur="1" fill="hold">
                                          <p:stCondLst>
                                            <p:cond delay="0"/>
                                          </p:stCondLst>
                                        </p:cTn>
                                        <p:tgtEl>
                                          <p:spTgt spid="218207"/>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218223"/>
                                        </p:tgtEl>
                                        <p:attrNameLst>
                                          <p:attrName>style.visibility</p:attrName>
                                        </p:attrNameLst>
                                      </p:cBhvr>
                                      <p:to>
                                        <p:strVal val="visible"/>
                                      </p:to>
                                    </p:set>
                                  </p:childTnLst>
                                </p:cTn>
                              </p:par>
                              <p:par>
                                <p:cTn id="182" presetID="1" presetClass="entr" presetSubtype="0" fill="hold" nodeType="withEffect">
                                  <p:stCondLst>
                                    <p:cond delay="0"/>
                                  </p:stCondLst>
                                  <p:childTnLst>
                                    <p:set>
                                      <p:cBhvr>
                                        <p:cTn id="183" dur="1" fill="hold">
                                          <p:stCondLst>
                                            <p:cond delay="0"/>
                                          </p:stCondLst>
                                        </p:cTn>
                                        <p:tgtEl>
                                          <p:spTgt spid="14"/>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149"/>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218256"/>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218255"/>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218196"/>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218129"/>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218232"/>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218229"/>
                                        </p:tgtEl>
                                        <p:attrNameLst>
                                          <p:attrName>style.visibility</p:attrName>
                                        </p:attrNameLst>
                                      </p:cBhvr>
                                      <p:to>
                                        <p:strVal val="visible"/>
                                      </p:to>
                                    </p:set>
                                  </p:childTnLst>
                                </p:cTn>
                              </p:par>
                            </p:childTnLst>
                          </p:cTn>
                        </p:par>
                        <p:par>
                          <p:cTn id="198" fill="hold">
                            <p:stCondLst>
                              <p:cond delay="500"/>
                            </p:stCondLst>
                            <p:childTnLst>
                              <p:par>
                                <p:cTn id="199" presetID="22" presetClass="entr" presetSubtype="1" fill="hold" grpId="0" nodeType="afterEffect">
                                  <p:stCondLst>
                                    <p:cond delay="0"/>
                                  </p:stCondLst>
                                  <p:childTnLst>
                                    <p:set>
                                      <p:cBhvr>
                                        <p:cTn id="200" dur="1" fill="hold">
                                          <p:stCondLst>
                                            <p:cond delay="0"/>
                                          </p:stCondLst>
                                        </p:cTn>
                                        <p:tgtEl>
                                          <p:spTgt spid="12303"/>
                                        </p:tgtEl>
                                        <p:attrNameLst>
                                          <p:attrName>style.visibility</p:attrName>
                                        </p:attrNameLst>
                                      </p:cBhvr>
                                      <p:to>
                                        <p:strVal val="visible"/>
                                      </p:to>
                                    </p:set>
                                    <p:animEffect transition="in" filter="wipe(up)">
                                      <p:cBhvr>
                                        <p:cTn id="201" dur="500"/>
                                        <p:tgtEl>
                                          <p:spTgt spid="12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3" grpId="0" animBg="1"/>
      <p:bldP spid="218117" grpId="0" animBg="1"/>
      <p:bldP spid="218118" grpId="0" animBg="1"/>
      <p:bldP spid="218119" grpId="0" animBg="1"/>
      <p:bldP spid="218120" grpId="0" animBg="1"/>
      <p:bldP spid="218121" grpId="0" animBg="1"/>
      <p:bldP spid="218122" grpId="0" animBg="1"/>
      <p:bldP spid="218123" grpId="0" animBg="1"/>
      <p:bldP spid="218124" grpId="0" animBg="1"/>
      <p:bldP spid="218125" grpId="0" animBg="1"/>
      <p:bldP spid="218126" grpId="0" animBg="1"/>
      <p:bldP spid="218127" grpId="0" animBg="1"/>
      <p:bldP spid="218128" grpId="0" animBg="1"/>
      <p:bldP spid="218129" grpId="0" animBg="1"/>
      <p:bldP spid="218130" grpId="0" animBg="1"/>
      <p:bldP spid="218131" grpId="0" animBg="1"/>
      <p:bldP spid="218132" grpId="0" animBg="1"/>
      <p:bldP spid="218148" grpId="0" animBg="1"/>
      <p:bldP spid="218152" grpId="0" animBg="1"/>
      <p:bldP spid="218153" grpId="0" animBg="1"/>
      <p:bldP spid="218154" grpId="0" animBg="1"/>
      <p:bldP spid="218171" grpId="0"/>
      <p:bldP spid="218172" grpId="0"/>
      <p:bldP spid="218173" grpId="0"/>
      <p:bldP spid="218174" grpId="0"/>
      <p:bldP spid="218175" grpId="0" animBg="1"/>
      <p:bldP spid="218176" grpId="0"/>
      <p:bldP spid="218177" grpId="0"/>
      <p:bldP spid="218178" grpId="0"/>
      <p:bldP spid="218179" grpId="0"/>
      <p:bldP spid="218180" grpId="0"/>
      <p:bldP spid="218181" grpId="0"/>
      <p:bldP spid="218182" grpId="0" animBg="1"/>
      <p:bldP spid="218183" grpId="0" animBg="1"/>
      <p:bldP spid="218184" grpId="0" animBg="1"/>
      <p:bldP spid="218185" grpId="0" animBg="1"/>
      <p:bldP spid="218186" grpId="0" animBg="1"/>
      <p:bldP spid="218187" grpId="0"/>
      <p:bldP spid="218188" grpId="0"/>
      <p:bldP spid="218196" grpId="0"/>
      <p:bldP spid="218202" grpId="0" animBg="1"/>
      <p:bldP spid="218204" grpId="0" animBg="1"/>
      <p:bldP spid="218206" grpId="0" animBg="1"/>
      <p:bldP spid="218207" grpId="0" animBg="1"/>
      <p:bldP spid="218208" grpId="0"/>
      <p:bldP spid="218212" grpId="0"/>
      <p:bldP spid="218216" grpId="0"/>
      <p:bldP spid="218217" grpId="0"/>
      <p:bldP spid="218220" grpId="0"/>
      <p:bldP spid="218221" grpId="0"/>
      <p:bldP spid="218222" grpId="0"/>
      <p:bldP spid="218223" grpId="0"/>
      <p:bldP spid="218224" grpId="0"/>
      <p:bldP spid="218225" grpId="0"/>
      <p:bldP spid="218226" grpId="0" animBg="1"/>
      <p:bldP spid="218227" grpId="0" animBg="1"/>
      <p:bldP spid="218228" grpId="0" animBg="1"/>
      <p:bldP spid="218229" grpId="0" animBg="1"/>
      <p:bldP spid="218230" grpId="0" animBg="1"/>
      <p:bldP spid="218231" grpId="0" animBg="1"/>
      <p:bldP spid="218232" grpId="0" animBg="1"/>
      <p:bldP spid="218233" grpId="0" animBg="1"/>
      <p:bldP spid="218234" grpId="0" animBg="1"/>
      <p:bldP spid="218235" grpId="0" animBg="1"/>
      <p:bldP spid="218236" grpId="0" animBg="1"/>
      <p:bldP spid="218237" grpId="0" animBg="1"/>
      <p:bldP spid="218238" grpId="0" animBg="1"/>
      <p:bldP spid="218239" grpId="0" animBg="1"/>
      <p:bldP spid="218255" grpId="0" animBg="1"/>
      <p:bldP spid="218256" grpId="0"/>
      <p:bldP spid="149" grpId="0" animBg="1"/>
      <p:bldP spid="218213" grpId="0"/>
      <p:bldP spid="21820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3" name="Picture 2"/>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5" name="Rectangle 2"/>
          <p:cNvSpPr>
            <a:spLocks noGrp="1" noRot="1" noChangeArrowheads="1"/>
          </p:cNvSpPr>
          <p:nvPr>
            <p:ph type="title" idx="4294967295"/>
          </p:nvPr>
        </p:nvSpPr>
        <p:spPr>
          <a:xfrm>
            <a:off x="400050" y="0"/>
            <a:ext cx="7977188" cy="555625"/>
          </a:xfrm>
        </p:spPr>
        <p:txBody>
          <a:bodyPr/>
          <a:lstStyle/>
          <a:p>
            <a:pPr>
              <a:defRPr/>
            </a:pPr>
            <a:r>
              <a:rPr lang="en-US" sz="2000" dirty="0" smtClean="0"/>
              <a:t>The Effect of an Increase in Demand in the Short Run and the Long Run</a:t>
            </a:r>
          </a:p>
        </p:txBody>
      </p:sp>
      <p:sp>
        <p:nvSpPr>
          <p:cNvPr id="6" name="Text Box 16"/>
          <p:cNvSpPr txBox="1">
            <a:spLocks noChangeArrowheads="1"/>
          </p:cNvSpPr>
          <p:nvPr/>
        </p:nvSpPr>
        <p:spPr bwMode="auto">
          <a:xfrm>
            <a:off x="274638" y="5468938"/>
            <a:ext cx="3321050" cy="1200150"/>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The </a:t>
            </a:r>
            <a:r>
              <a:rPr lang="en-US" b="1" dirty="0">
                <a:solidFill>
                  <a:srgbClr val="0000FF"/>
                </a:solidFill>
              </a:rPr>
              <a:t>LRS </a:t>
            </a:r>
            <a:r>
              <a:rPr lang="en-US" dirty="0">
                <a:solidFill>
                  <a:srgbClr val="0000FF"/>
                </a:solidFill>
              </a:rPr>
              <a:t>shows how the quantity supplied responds to the price once producers have had time to enter or exit the industry.</a:t>
            </a:r>
          </a:p>
        </p:txBody>
      </p:sp>
      <p:sp>
        <p:nvSpPr>
          <p:cNvPr id="7" name="Text Box 17"/>
          <p:cNvSpPr txBox="1">
            <a:spLocks noChangeArrowheads="1"/>
          </p:cNvSpPr>
          <p:nvPr/>
        </p:nvSpPr>
        <p:spPr bwMode="auto">
          <a:xfrm>
            <a:off x="3617913" y="6016625"/>
            <a:ext cx="5499100" cy="646113"/>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spcBef>
                <a:spcPct val="20000"/>
              </a:spcBef>
              <a:tabLst>
                <a:tab pos="6340475" algn="l"/>
              </a:tabLst>
              <a:defRPr/>
            </a:pPr>
            <a:r>
              <a:rPr lang="en-US" i="1" dirty="0">
                <a:solidFill>
                  <a:srgbClr val="0000FF"/>
                </a:solidFill>
              </a:rPr>
              <a:t>D</a:t>
            </a:r>
            <a:r>
              <a:rPr lang="en-US" dirty="0">
                <a:solidFill>
                  <a:srgbClr val="0000FF"/>
                </a:solidFill>
              </a:rPr>
              <a:t>↑ </a:t>
            </a:r>
            <a:r>
              <a:rPr lang="en-US" dirty="0">
                <a:solidFill>
                  <a:srgbClr val="0000FF"/>
                </a:solidFill>
                <a:sym typeface="Wingdings" pitchFamily="2" charset="2"/>
              </a:rPr>
              <a:t> </a:t>
            </a:r>
            <a:r>
              <a:rPr lang="en-US" i="1" dirty="0">
                <a:solidFill>
                  <a:srgbClr val="0000FF"/>
                </a:solidFill>
                <a:sym typeface="Wingdings" pitchFamily="2" charset="2"/>
              </a:rPr>
              <a:t>P</a:t>
            </a:r>
            <a:r>
              <a:rPr lang="en-US" dirty="0">
                <a:solidFill>
                  <a:srgbClr val="0000FF"/>
                </a:solidFill>
              </a:rPr>
              <a:t>↑ </a:t>
            </a:r>
            <a:r>
              <a:rPr lang="en-US" dirty="0">
                <a:solidFill>
                  <a:srgbClr val="0000FF"/>
                </a:solidFill>
                <a:sym typeface="Wingdings" pitchFamily="2" charset="2"/>
              </a:rPr>
              <a:t> non-zero profits  entry  </a:t>
            </a:r>
            <a:r>
              <a:rPr lang="en-US" i="1" dirty="0">
                <a:solidFill>
                  <a:srgbClr val="0000FF"/>
                </a:solidFill>
                <a:sym typeface="Wingdings" pitchFamily="2" charset="2"/>
              </a:rPr>
              <a:t>S</a:t>
            </a:r>
            <a:r>
              <a:rPr lang="en-US" dirty="0">
                <a:solidFill>
                  <a:srgbClr val="0000FF"/>
                </a:solidFill>
              </a:rPr>
              <a:t>↑ </a:t>
            </a:r>
            <a:r>
              <a:rPr lang="en-US" dirty="0">
                <a:solidFill>
                  <a:srgbClr val="0000FF"/>
                </a:solidFill>
                <a:sym typeface="Wingdings" pitchFamily="2" charset="2"/>
              </a:rPr>
              <a:t> </a:t>
            </a:r>
            <a:r>
              <a:rPr lang="en-US" i="1" dirty="0">
                <a:solidFill>
                  <a:srgbClr val="0000FF"/>
                </a:solidFill>
                <a:sym typeface="Wingdings" pitchFamily="2" charset="2"/>
              </a:rPr>
              <a:t>P</a:t>
            </a:r>
            <a:r>
              <a:rPr lang="en-US" dirty="0">
                <a:solidFill>
                  <a:srgbClr val="0000FF"/>
                </a:solidFill>
                <a:sym typeface="Wingdings" pitchFamily="2" charset="2"/>
              </a:rPr>
              <a:t>↓  back to zero profit (on LRS curve)</a:t>
            </a:r>
            <a:endParaRPr lang="en-US" dirty="0">
              <a:solidFill>
                <a:srgbClr val="0000FF"/>
              </a:solidFill>
            </a:endParaRPr>
          </a:p>
        </p:txBody>
      </p:sp>
      <p:cxnSp>
        <p:nvCxnSpPr>
          <p:cNvPr id="8" name="Straight Connector 86"/>
          <p:cNvCxnSpPr>
            <a:cxnSpLocks noChangeShapeType="1"/>
          </p:cNvCxnSpPr>
          <p:nvPr/>
        </p:nvCxnSpPr>
        <p:spPr bwMode="auto">
          <a:xfrm>
            <a:off x="4056063" y="3654425"/>
            <a:ext cx="0" cy="1101725"/>
          </a:xfrm>
          <a:prstGeom prst="line">
            <a:avLst/>
          </a:prstGeom>
          <a:noFill/>
          <a:ln w="15875">
            <a:solidFill>
              <a:srgbClr val="808080"/>
            </a:solidFill>
            <a:prstDash val="sysDot"/>
            <a:round/>
            <a:headEnd/>
            <a:tailEnd type="none" w="med" len="lg"/>
          </a:ln>
        </p:spPr>
      </p:cxnSp>
      <p:cxnSp>
        <p:nvCxnSpPr>
          <p:cNvPr id="9" name="Straight Connector 86"/>
          <p:cNvCxnSpPr>
            <a:cxnSpLocks noChangeShapeType="1"/>
          </p:cNvCxnSpPr>
          <p:nvPr/>
        </p:nvCxnSpPr>
        <p:spPr bwMode="auto">
          <a:xfrm>
            <a:off x="4186238" y="3322638"/>
            <a:ext cx="0" cy="1433512"/>
          </a:xfrm>
          <a:prstGeom prst="line">
            <a:avLst/>
          </a:prstGeom>
          <a:noFill/>
          <a:ln w="15875">
            <a:solidFill>
              <a:srgbClr val="808080"/>
            </a:solidFill>
            <a:prstDash val="sysDot"/>
            <a:round/>
            <a:headEnd/>
            <a:tailEnd type="none" w="med" len="lg"/>
          </a:ln>
        </p:spPr>
      </p:cxnSp>
      <p:cxnSp>
        <p:nvCxnSpPr>
          <p:cNvPr id="10" name="Straight Connector 86"/>
          <p:cNvCxnSpPr>
            <a:cxnSpLocks noChangeShapeType="1"/>
          </p:cNvCxnSpPr>
          <p:nvPr/>
        </p:nvCxnSpPr>
        <p:spPr bwMode="auto">
          <a:xfrm>
            <a:off x="5180013" y="3654425"/>
            <a:ext cx="0" cy="1101725"/>
          </a:xfrm>
          <a:prstGeom prst="line">
            <a:avLst/>
          </a:prstGeom>
          <a:noFill/>
          <a:ln w="15875">
            <a:solidFill>
              <a:srgbClr val="808080"/>
            </a:solidFill>
            <a:prstDash val="sysDot"/>
            <a:round/>
            <a:headEnd/>
            <a:tailEnd type="none" w="med" len="lg"/>
          </a:ln>
        </p:spPr>
      </p:cxnSp>
      <p:cxnSp>
        <p:nvCxnSpPr>
          <p:cNvPr id="11" name="Straight Connector 86"/>
          <p:cNvCxnSpPr>
            <a:cxnSpLocks noChangeShapeType="1"/>
          </p:cNvCxnSpPr>
          <p:nvPr/>
        </p:nvCxnSpPr>
        <p:spPr bwMode="auto">
          <a:xfrm>
            <a:off x="590550" y="3624263"/>
            <a:ext cx="7240588" cy="0"/>
          </a:xfrm>
          <a:prstGeom prst="line">
            <a:avLst/>
          </a:prstGeom>
          <a:noFill/>
          <a:ln w="15875">
            <a:solidFill>
              <a:srgbClr val="808080"/>
            </a:solidFill>
            <a:prstDash val="sysDot"/>
            <a:round/>
            <a:headEnd/>
            <a:tailEnd type="none" w="med" len="lg"/>
          </a:ln>
        </p:spPr>
      </p:cxnSp>
      <p:cxnSp>
        <p:nvCxnSpPr>
          <p:cNvPr id="12" name="Straight Connector 86"/>
          <p:cNvCxnSpPr>
            <a:cxnSpLocks noChangeShapeType="1"/>
          </p:cNvCxnSpPr>
          <p:nvPr/>
        </p:nvCxnSpPr>
        <p:spPr bwMode="auto">
          <a:xfrm>
            <a:off x="566738" y="3306763"/>
            <a:ext cx="7481887" cy="0"/>
          </a:xfrm>
          <a:prstGeom prst="line">
            <a:avLst/>
          </a:prstGeom>
          <a:noFill/>
          <a:ln w="15875">
            <a:solidFill>
              <a:srgbClr val="808080"/>
            </a:solidFill>
            <a:prstDash val="sysDot"/>
            <a:round/>
            <a:headEnd/>
            <a:tailEnd type="none" w="med" len="lg"/>
          </a:ln>
        </p:spPr>
      </p:cxnSp>
      <p:sp>
        <p:nvSpPr>
          <p:cNvPr id="13" name="Line 5"/>
          <p:cNvSpPr>
            <a:spLocks noChangeShapeType="1"/>
          </p:cNvSpPr>
          <p:nvPr/>
        </p:nvSpPr>
        <p:spPr bwMode="auto">
          <a:xfrm>
            <a:off x="3724275" y="3633788"/>
            <a:ext cx="1990725" cy="0"/>
          </a:xfrm>
          <a:prstGeom prst="line">
            <a:avLst/>
          </a:prstGeom>
          <a:noFill/>
          <a:ln w="22225">
            <a:solidFill>
              <a:srgbClr val="939598"/>
            </a:solidFill>
            <a:miter lim="800000"/>
            <a:headEnd/>
            <a:tailEnd/>
          </a:ln>
        </p:spPr>
        <p:txBody>
          <a:bodyPr/>
          <a:lstStyle/>
          <a:p>
            <a:endParaRPr lang="en-US"/>
          </a:p>
        </p:txBody>
      </p:sp>
      <p:sp>
        <p:nvSpPr>
          <p:cNvPr id="14" name="Rectangle 6"/>
          <p:cNvSpPr>
            <a:spLocks noChangeArrowheads="1"/>
          </p:cNvSpPr>
          <p:nvPr/>
        </p:nvSpPr>
        <p:spPr bwMode="auto">
          <a:xfrm>
            <a:off x="2497138" y="258603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15" name="Rectangle 7"/>
          <p:cNvSpPr>
            <a:spLocks noChangeArrowheads="1"/>
          </p:cNvSpPr>
          <p:nvPr/>
        </p:nvSpPr>
        <p:spPr bwMode="auto">
          <a:xfrm>
            <a:off x="2578100" y="33147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16" name="Rectangle 8"/>
          <p:cNvSpPr>
            <a:spLocks noChangeArrowheads="1"/>
          </p:cNvSpPr>
          <p:nvPr/>
        </p:nvSpPr>
        <p:spPr bwMode="auto">
          <a:xfrm>
            <a:off x="2678113" y="3314700"/>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17" name="Rectangle 9"/>
          <p:cNvSpPr>
            <a:spLocks noChangeArrowheads="1"/>
          </p:cNvSpPr>
          <p:nvPr/>
        </p:nvSpPr>
        <p:spPr bwMode="auto">
          <a:xfrm>
            <a:off x="2765425" y="33147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18" name="Rectangle 10"/>
          <p:cNvSpPr>
            <a:spLocks noChangeArrowheads="1"/>
          </p:cNvSpPr>
          <p:nvPr/>
        </p:nvSpPr>
        <p:spPr bwMode="auto">
          <a:xfrm>
            <a:off x="1743075" y="36464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X</a:t>
            </a:r>
            <a:endParaRPr lang="en-US" sz="1400" i="1">
              <a:latin typeface="Tahoma" pitchFamily="34" charset="0"/>
            </a:endParaRPr>
          </a:p>
        </p:txBody>
      </p:sp>
      <p:sp>
        <p:nvSpPr>
          <p:cNvPr id="19" name="Rectangle 11"/>
          <p:cNvSpPr>
            <a:spLocks noChangeArrowheads="1"/>
          </p:cNvSpPr>
          <p:nvPr/>
        </p:nvSpPr>
        <p:spPr bwMode="auto">
          <a:xfrm>
            <a:off x="2093913" y="33178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Y</a:t>
            </a:r>
            <a:endParaRPr lang="en-US" sz="1400" i="1">
              <a:latin typeface="Tahoma" pitchFamily="34" charset="0"/>
            </a:endParaRPr>
          </a:p>
        </p:txBody>
      </p:sp>
      <p:sp>
        <p:nvSpPr>
          <p:cNvPr id="20" name="Freeform 12"/>
          <p:cNvSpPr>
            <a:spLocks/>
          </p:cNvSpPr>
          <p:nvPr/>
        </p:nvSpPr>
        <p:spPr bwMode="auto">
          <a:xfrm>
            <a:off x="3967163" y="5229225"/>
            <a:ext cx="1309687" cy="776288"/>
          </a:xfrm>
          <a:custGeom>
            <a:avLst/>
            <a:gdLst>
              <a:gd name="T0" fmla="*/ 2147483647 w 281"/>
              <a:gd name="T1" fmla="*/ 2147483647 h 95"/>
              <a:gd name="T2" fmla="*/ 2147483647 w 281"/>
              <a:gd name="T3" fmla="*/ 2147483647 h 95"/>
              <a:gd name="T4" fmla="*/ 2147483647 w 281"/>
              <a:gd name="T5" fmla="*/ 2147483647 h 95"/>
              <a:gd name="T6" fmla="*/ 0 w 281"/>
              <a:gd name="T7" fmla="*/ 2147483647 h 95"/>
              <a:gd name="T8" fmla="*/ 0 w 281"/>
              <a:gd name="T9" fmla="*/ 2147483647 h 95"/>
              <a:gd name="T10" fmla="*/ 2147483647 w 281"/>
              <a:gd name="T11" fmla="*/ 0 h 95"/>
              <a:gd name="T12" fmla="*/ 2147483647 w 281"/>
              <a:gd name="T13" fmla="*/ 0 h 95"/>
              <a:gd name="T14" fmla="*/ 2147483647 w 281"/>
              <a:gd name="T15" fmla="*/ 2147483647 h 95"/>
              <a:gd name="T16" fmla="*/ 2147483647 w 281"/>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1"/>
              <a:gd name="T28" fmla="*/ 0 h 95"/>
              <a:gd name="T29" fmla="*/ 281 w 281"/>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1" h="95">
                <a:moveTo>
                  <a:pt x="281" y="79"/>
                </a:moveTo>
                <a:cubicBezTo>
                  <a:pt x="281" y="88"/>
                  <a:pt x="273" y="95"/>
                  <a:pt x="265" y="95"/>
                </a:cubicBezTo>
                <a:cubicBezTo>
                  <a:pt x="16" y="95"/>
                  <a:pt x="16" y="95"/>
                  <a:pt x="16" y="95"/>
                </a:cubicBezTo>
                <a:cubicBezTo>
                  <a:pt x="7" y="95"/>
                  <a:pt x="0" y="88"/>
                  <a:pt x="0" y="79"/>
                </a:cubicBezTo>
                <a:cubicBezTo>
                  <a:pt x="0" y="16"/>
                  <a:pt x="0" y="16"/>
                  <a:pt x="0" y="16"/>
                </a:cubicBezTo>
                <a:cubicBezTo>
                  <a:pt x="0" y="8"/>
                  <a:pt x="7" y="0"/>
                  <a:pt x="16" y="0"/>
                </a:cubicBezTo>
                <a:cubicBezTo>
                  <a:pt x="265" y="0"/>
                  <a:pt x="265" y="0"/>
                  <a:pt x="265" y="0"/>
                </a:cubicBezTo>
                <a:cubicBezTo>
                  <a:pt x="273" y="0"/>
                  <a:pt x="281" y="8"/>
                  <a:pt x="281" y="16"/>
                </a:cubicBezTo>
                <a:lnTo>
                  <a:pt x="281" y="79"/>
                </a:lnTo>
                <a:close/>
              </a:path>
            </a:pathLst>
          </a:custGeom>
          <a:solidFill>
            <a:srgbClr val="D7E2E0"/>
          </a:solidFill>
          <a:ln w="9525">
            <a:noFill/>
            <a:round/>
            <a:headEnd/>
            <a:tailEnd/>
          </a:ln>
        </p:spPr>
        <p:txBody>
          <a:bodyPr/>
          <a:lstStyle/>
          <a:p>
            <a:endParaRPr lang="en-US"/>
          </a:p>
        </p:txBody>
      </p:sp>
      <p:sp>
        <p:nvSpPr>
          <p:cNvPr id="21" name="Line 13"/>
          <p:cNvSpPr>
            <a:spLocks noChangeShapeType="1"/>
          </p:cNvSpPr>
          <p:nvPr/>
        </p:nvSpPr>
        <p:spPr bwMode="auto">
          <a:xfrm>
            <a:off x="452438" y="3633788"/>
            <a:ext cx="112712" cy="0"/>
          </a:xfrm>
          <a:prstGeom prst="line">
            <a:avLst/>
          </a:prstGeom>
          <a:noFill/>
          <a:ln w="6350">
            <a:solidFill>
              <a:srgbClr val="000000"/>
            </a:solidFill>
            <a:miter lim="800000"/>
            <a:headEnd/>
            <a:tailEnd/>
          </a:ln>
        </p:spPr>
        <p:txBody>
          <a:bodyPr/>
          <a:lstStyle/>
          <a:p>
            <a:endParaRPr lang="en-US"/>
          </a:p>
        </p:txBody>
      </p:sp>
      <p:sp>
        <p:nvSpPr>
          <p:cNvPr id="22" name="Freeform 14"/>
          <p:cNvSpPr>
            <a:spLocks/>
          </p:cNvSpPr>
          <p:nvPr/>
        </p:nvSpPr>
        <p:spPr bwMode="auto">
          <a:xfrm>
            <a:off x="746125" y="2359025"/>
            <a:ext cx="1803400" cy="1393825"/>
          </a:xfrm>
          <a:custGeom>
            <a:avLst/>
            <a:gdLst>
              <a:gd name="T0" fmla="*/ 0 w 387"/>
              <a:gd name="T1" fmla="*/ 0 h 257"/>
              <a:gd name="T2" fmla="*/ 2147483647 w 387"/>
              <a:gd name="T3" fmla="*/ 2147483647 h 257"/>
              <a:gd name="T4" fmla="*/ 2147483647 w 387"/>
              <a:gd name="T5" fmla="*/ 2147483647 h 257"/>
              <a:gd name="T6" fmla="*/ 2147483647 w 387"/>
              <a:gd name="T7" fmla="*/ 2147483647 h 257"/>
              <a:gd name="T8" fmla="*/ 0 60000 65536"/>
              <a:gd name="T9" fmla="*/ 0 60000 65536"/>
              <a:gd name="T10" fmla="*/ 0 60000 65536"/>
              <a:gd name="T11" fmla="*/ 0 60000 65536"/>
              <a:gd name="T12" fmla="*/ 0 w 387"/>
              <a:gd name="T13" fmla="*/ 0 h 257"/>
              <a:gd name="T14" fmla="*/ 387 w 387"/>
              <a:gd name="T15" fmla="*/ 257 h 257"/>
            </a:gdLst>
            <a:ahLst/>
            <a:cxnLst>
              <a:cxn ang="T8">
                <a:pos x="T0" y="T1"/>
              </a:cxn>
              <a:cxn ang="T9">
                <a:pos x="T2" y="T3"/>
              </a:cxn>
              <a:cxn ang="T10">
                <a:pos x="T4" y="T5"/>
              </a:cxn>
              <a:cxn ang="T11">
                <a:pos x="T6" y="T7"/>
              </a:cxn>
            </a:cxnLst>
            <a:rect l="T12" t="T13" r="T14" b="T15"/>
            <a:pathLst>
              <a:path w="387" h="257">
                <a:moveTo>
                  <a:pt x="0" y="0"/>
                </a:moveTo>
                <a:cubicBezTo>
                  <a:pt x="0" y="0"/>
                  <a:pt x="44" y="187"/>
                  <a:pt x="119" y="217"/>
                </a:cubicBezTo>
                <a:cubicBezTo>
                  <a:pt x="217" y="257"/>
                  <a:pt x="357" y="216"/>
                  <a:pt x="357" y="216"/>
                </a:cubicBezTo>
                <a:cubicBezTo>
                  <a:pt x="387" y="208"/>
                  <a:pt x="387" y="208"/>
                  <a:pt x="387" y="208"/>
                </a:cubicBezTo>
              </a:path>
            </a:pathLst>
          </a:custGeom>
          <a:noFill/>
          <a:ln w="28575">
            <a:solidFill>
              <a:srgbClr val="8C64AB"/>
            </a:solidFill>
            <a:miter lim="800000"/>
            <a:headEnd/>
            <a:tailEnd/>
          </a:ln>
        </p:spPr>
        <p:txBody>
          <a:bodyPr/>
          <a:lstStyle/>
          <a:p>
            <a:endParaRPr lang="en-US"/>
          </a:p>
        </p:txBody>
      </p:sp>
      <p:sp>
        <p:nvSpPr>
          <p:cNvPr id="23" name="Rectangle 15"/>
          <p:cNvSpPr>
            <a:spLocks noChangeArrowheads="1"/>
          </p:cNvSpPr>
          <p:nvPr/>
        </p:nvSpPr>
        <p:spPr bwMode="auto">
          <a:xfrm>
            <a:off x="290513" y="4786313"/>
            <a:ext cx="92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4" name="Rectangle 16"/>
          <p:cNvSpPr>
            <a:spLocks noChangeArrowheads="1"/>
          </p:cNvSpPr>
          <p:nvPr/>
        </p:nvSpPr>
        <p:spPr bwMode="auto">
          <a:xfrm>
            <a:off x="3335338" y="4786313"/>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5" name="Rectangle 17"/>
          <p:cNvSpPr>
            <a:spLocks noChangeArrowheads="1"/>
          </p:cNvSpPr>
          <p:nvPr/>
        </p:nvSpPr>
        <p:spPr bwMode="auto">
          <a:xfrm>
            <a:off x="6454775" y="4786313"/>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6" name="Rectangle 18"/>
          <p:cNvSpPr>
            <a:spLocks noChangeArrowheads="1"/>
          </p:cNvSpPr>
          <p:nvPr/>
        </p:nvSpPr>
        <p:spPr bwMode="auto">
          <a:xfrm>
            <a:off x="119063" y="3213100"/>
            <a:ext cx="2698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$18</a:t>
            </a:r>
            <a:endParaRPr lang="en-US" sz="1400">
              <a:latin typeface="Tahoma" pitchFamily="34" charset="0"/>
            </a:endParaRPr>
          </a:p>
        </p:txBody>
      </p:sp>
      <p:sp>
        <p:nvSpPr>
          <p:cNvPr id="27" name="Line 19"/>
          <p:cNvSpPr>
            <a:spLocks noChangeShapeType="1"/>
          </p:cNvSpPr>
          <p:nvPr/>
        </p:nvSpPr>
        <p:spPr bwMode="auto">
          <a:xfrm>
            <a:off x="452438" y="3317875"/>
            <a:ext cx="112712" cy="0"/>
          </a:xfrm>
          <a:prstGeom prst="line">
            <a:avLst/>
          </a:prstGeom>
          <a:noFill/>
          <a:ln w="6350">
            <a:solidFill>
              <a:srgbClr val="000000"/>
            </a:solidFill>
            <a:miter lim="800000"/>
            <a:headEnd/>
            <a:tailEnd/>
          </a:ln>
        </p:spPr>
        <p:txBody>
          <a:bodyPr/>
          <a:lstStyle/>
          <a:p>
            <a:endParaRPr lang="en-US"/>
          </a:p>
        </p:txBody>
      </p:sp>
      <p:sp>
        <p:nvSpPr>
          <p:cNvPr id="28" name="Line 20"/>
          <p:cNvSpPr>
            <a:spLocks noChangeShapeType="1"/>
          </p:cNvSpPr>
          <p:nvPr/>
        </p:nvSpPr>
        <p:spPr bwMode="auto">
          <a:xfrm>
            <a:off x="452438" y="3633788"/>
            <a:ext cx="112712" cy="0"/>
          </a:xfrm>
          <a:prstGeom prst="line">
            <a:avLst/>
          </a:prstGeom>
          <a:noFill/>
          <a:ln w="6350">
            <a:solidFill>
              <a:srgbClr val="000000"/>
            </a:solidFill>
            <a:miter lim="800000"/>
            <a:headEnd/>
            <a:tailEnd/>
          </a:ln>
        </p:spPr>
        <p:txBody>
          <a:bodyPr/>
          <a:lstStyle/>
          <a:p>
            <a:endParaRPr lang="en-US"/>
          </a:p>
        </p:txBody>
      </p:sp>
      <p:sp>
        <p:nvSpPr>
          <p:cNvPr id="29" name="Rectangle 21"/>
          <p:cNvSpPr>
            <a:spLocks noChangeArrowheads="1"/>
          </p:cNvSpPr>
          <p:nvPr/>
        </p:nvSpPr>
        <p:spPr bwMode="auto">
          <a:xfrm>
            <a:off x="206375" y="353218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14</a:t>
            </a:r>
            <a:endParaRPr lang="en-US" sz="1400">
              <a:latin typeface="Tahoma" pitchFamily="34" charset="0"/>
            </a:endParaRPr>
          </a:p>
        </p:txBody>
      </p:sp>
      <p:sp>
        <p:nvSpPr>
          <p:cNvPr id="30" name="Rectangle 22"/>
          <p:cNvSpPr>
            <a:spLocks noChangeArrowheads="1"/>
          </p:cNvSpPr>
          <p:nvPr/>
        </p:nvSpPr>
        <p:spPr bwMode="auto">
          <a:xfrm>
            <a:off x="2303463" y="4787900"/>
            <a:ext cx="6477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Quantity</a:t>
            </a:r>
            <a:endParaRPr lang="en-US" sz="1400">
              <a:latin typeface="Tahoma" pitchFamily="34" charset="0"/>
            </a:endParaRPr>
          </a:p>
        </p:txBody>
      </p:sp>
      <p:sp>
        <p:nvSpPr>
          <p:cNvPr id="31" name="Freeform 23"/>
          <p:cNvSpPr>
            <a:spLocks/>
          </p:cNvSpPr>
          <p:nvPr/>
        </p:nvSpPr>
        <p:spPr bwMode="auto">
          <a:xfrm>
            <a:off x="582613" y="2836863"/>
            <a:ext cx="1995487" cy="1501775"/>
          </a:xfrm>
          <a:custGeom>
            <a:avLst/>
            <a:gdLst>
              <a:gd name="T0" fmla="*/ 0 w 428"/>
              <a:gd name="T1" fmla="*/ 2147483647 h 277"/>
              <a:gd name="T2" fmla="*/ 2147483647 w 428"/>
              <a:gd name="T3" fmla="*/ 2147483647 h 277"/>
              <a:gd name="T4" fmla="*/ 2147483647 w 428"/>
              <a:gd name="T5" fmla="*/ 2147483647 h 277"/>
              <a:gd name="T6" fmla="*/ 2147483647 w 428"/>
              <a:gd name="T7" fmla="*/ 2147483647 h 277"/>
              <a:gd name="T8" fmla="*/ 2147483647 w 428"/>
              <a:gd name="T9" fmla="*/ 2147483647 h 277"/>
              <a:gd name="T10" fmla="*/ 2147483647 w 428"/>
              <a:gd name="T11" fmla="*/ 0 h 277"/>
              <a:gd name="T12" fmla="*/ 0 60000 65536"/>
              <a:gd name="T13" fmla="*/ 0 60000 65536"/>
              <a:gd name="T14" fmla="*/ 0 60000 65536"/>
              <a:gd name="T15" fmla="*/ 0 60000 65536"/>
              <a:gd name="T16" fmla="*/ 0 60000 65536"/>
              <a:gd name="T17" fmla="*/ 0 60000 65536"/>
              <a:gd name="T18" fmla="*/ 0 w 428"/>
              <a:gd name="T19" fmla="*/ 0 h 277"/>
              <a:gd name="T20" fmla="*/ 428 w 428"/>
              <a:gd name="T21" fmla="*/ 277 h 277"/>
            </a:gdLst>
            <a:ahLst/>
            <a:cxnLst>
              <a:cxn ang="T12">
                <a:pos x="T0" y="T1"/>
              </a:cxn>
              <a:cxn ang="T13">
                <a:pos x="T2" y="T3"/>
              </a:cxn>
              <a:cxn ang="T14">
                <a:pos x="T4" y="T5"/>
              </a:cxn>
              <a:cxn ang="T15">
                <a:pos x="T6" y="T7"/>
              </a:cxn>
              <a:cxn ang="T16">
                <a:pos x="T8" y="T9"/>
              </a:cxn>
              <a:cxn ang="T17">
                <a:pos x="T10" y="T11"/>
              </a:cxn>
            </a:cxnLst>
            <a:rect l="T18" t="T19" r="T20" b="T21"/>
            <a:pathLst>
              <a:path w="428" h="277">
                <a:moveTo>
                  <a:pt x="0" y="118"/>
                </a:moveTo>
                <a:cubicBezTo>
                  <a:pt x="0" y="118"/>
                  <a:pt x="34" y="253"/>
                  <a:pt x="71" y="265"/>
                </a:cubicBezTo>
                <a:cubicBezTo>
                  <a:pt x="108" y="277"/>
                  <a:pt x="214" y="177"/>
                  <a:pt x="214" y="177"/>
                </a:cubicBezTo>
                <a:cubicBezTo>
                  <a:pt x="285" y="118"/>
                  <a:pt x="285" y="118"/>
                  <a:pt x="285" y="118"/>
                </a:cubicBezTo>
                <a:cubicBezTo>
                  <a:pt x="356" y="59"/>
                  <a:pt x="356" y="59"/>
                  <a:pt x="356" y="59"/>
                </a:cubicBezTo>
                <a:cubicBezTo>
                  <a:pt x="428" y="0"/>
                  <a:pt x="428" y="0"/>
                  <a:pt x="428" y="0"/>
                </a:cubicBezTo>
              </a:path>
            </a:pathLst>
          </a:custGeom>
          <a:noFill/>
          <a:ln w="28575">
            <a:solidFill>
              <a:srgbClr val="F3716D"/>
            </a:solidFill>
            <a:miter lim="800000"/>
            <a:headEnd/>
            <a:tailEnd/>
          </a:ln>
        </p:spPr>
        <p:txBody>
          <a:bodyPr/>
          <a:lstStyle/>
          <a:p>
            <a:endParaRPr lang="en-US"/>
          </a:p>
        </p:txBody>
      </p:sp>
      <p:sp>
        <p:nvSpPr>
          <p:cNvPr id="32" name="Freeform 24"/>
          <p:cNvSpPr>
            <a:spLocks/>
          </p:cNvSpPr>
          <p:nvPr/>
        </p:nvSpPr>
        <p:spPr bwMode="auto">
          <a:xfrm>
            <a:off x="452438" y="1670050"/>
            <a:ext cx="2457450" cy="3081338"/>
          </a:xfrm>
          <a:custGeom>
            <a:avLst/>
            <a:gdLst>
              <a:gd name="T0" fmla="*/ 2147483647 w 1245"/>
              <a:gd name="T1" fmla="*/ 2147483647 h 1342"/>
              <a:gd name="T2" fmla="*/ 0 w 1245"/>
              <a:gd name="T3" fmla="*/ 2147483647 h 1342"/>
              <a:gd name="T4" fmla="*/ 0 w 1245"/>
              <a:gd name="T5" fmla="*/ 0 h 1342"/>
              <a:gd name="T6" fmla="*/ 0 60000 65536"/>
              <a:gd name="T7" fmla="*/ 0 60000 65536"/>
              <a:gd name="T8" fmla="*/ 0 60000 65536"/>
              <a:gd name="T9" fmla="*/ 0 w 1245"/>
              <a:gd name="T10" fmla="*/ 0 h 1342"/>
              <a:gd name="T11" fmla="*/ 1245 w 1245"/>
              <a:gd name="T12" fmla="*/ 1342 h 1342"/>
            </a:gdLst>
            <a:ahLst/>
            <a:cxnLst>
              <a:cxn ang="T6">
                <a:pos x="T0" y="T1"/>
              </a:cxn>
              <a:cxn ang="T7">
                <a:pos x="T2" y="T3"/>
              </a:cxn>
              <a:cxn ang="T8">
                <a:pos x="T4" y="T5"/>
              </a:cxn>
            </a:cxnLst>
            <a:rect l="T9" t="T10" r="T11" b="T12"/>
            <a:pathLst>
              <a:path w="1245" h="1342">
                <a:moveTo>
                  <a:pt x="1245" y="1342"/>
                </a:moveTo>
                <a:lnTo>
                  <a:pt x="0" y="1342"/>
                </a:lnTo>
                <a:lnTo>
                  <a:pt x="0" y="0"/>
                </a:lnTo>
              </a:path>
            </a:pathLst>
          </a:custGeom>
          <a:noFill/>
          <a:ln w="6350">
            <a:solidFill>
              <a:srgbClr val="000000"/>
            </a:solidFill>
            <a:miter lim="800000"/>
            <a:headEnd/>
            <a:tailEnd/>
          </a:ln>
        </p:spPr>
        <p:txBody>
          <a:bodyPr/>
          <a:lstStyle/>
          <a:p>
            <a:endParaRPr lang="en-US"/>
          </a:p>
        </p:txBody>
      </p:sp>
      <p:sp>
        <p:nvSpPr>
          <p:cNvPr id="33" name="Rectangle 25"/>
          <p:cNvSpPr>
            <a:spLocks noChangeArrowheads="1"/>
          </p:cNvSpPr>
          <p:nvPr/>
        </p:nvSpPr>
        <p:spPr bwMode="auto">
          <a:xfrm>
            <a:off x="8259763" y="2765425"/>
            <a:ext cx="27940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34" name="Rectangle 26"/>
          <p:cNvSpPr>
            <a:spLocks noChangeArrowheads="1"/>
          </p:cNvSpPr>
          <p:nvPr/>
        </p:nvSpPr>
        <p:spPr bwMode="auto">
          <a:xfrm>
            <a:off x="8156575" y="3629025"/>
            <a:ext cx="382588"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Pro"/>
              </a:rPr>
              <a:t>ATC</a:t>
            </a:r>
            <a:endParaRPr lang="en-US" sz="1400" i="1">
              <a:latin typeface="Tahoma" pitchFamily="34" charset="0"/>
            </a:endParaRPr>
          </a:p>
        </p:txBody>
      </p:sp>
      <p:sp>
        <p:nvSpPr>
          <p:cNvPr id="35" name="Rectangle 29"/>
          <p:cNvSpPr>
            <a:spLocks noChangeArrowheads="1"/>
          </p:cNvSpPr>
          <p:nvPr/>
        </p:nvSpPr>
        <p:spPr bwMode="auto">
          <a:xfrm>
            <a:off x="7837488" y="3646488"/>
            <a:ext cx="90487"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Pro"/>
              </a:rPr>
              <a:t>Z</a:t>
            </a:r>
            <a:endParaRPr lang="en-US" sz="1400" i="1">
              <a:latin typeface="Tahoma" pitchFamily="34" charset="0"/>
            </a:endParaRPr>
          </a:p>
        </p:txBody>
      </p:sp>
      <p:sp>
        <p:nvSpPr>
          <p:cNvPr id="36" name="Rectangle 30"/>
          <p:cNvSpPr>
            <a:spLocks noChangeArrowheads="1"/>
          </p:cNvSpPr>
          <p:nvPr/>
        </p:nvSpPr>
        <p:spPr bwMode="auto">
          <a:xfrm>
            <a:off x="8253413" y="3265488"/>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Y</a:t>
            </a:r>
            <a:endParaRPr lang="en-US" sz="1400" i="1">
              <a:latin typeface="Tahoma" pitchFamily="34" charset="0"/>
            </a:endParaRPr>
          </a:p>
        </p:txBody>
      </p:sp>
      <p:sp>
        <p:nvSpPr>
          <p:cNvPr id="37" name="Freeform 31"/>
          <p:cNvSpPr>
            <a:spLocks/>
          </p:cNvSpPr>
          <p:nvPr/>
        </p:nvSpPr>
        <p:spPr bwMode="auto">
          <a:xfrm>
            <a:off x="6861175" y="2359025"/>
            <a:ext cx="1803400" cy="1393825"/>
          </a:xfrm>
          <a:custGeom>
            <a:avLst/>
            <a:gdLst>
              <a:gd name="T0" fmla="*/ 0 w 387"/>
              <a:gd name="T1" fmla="*/ 0 h 257"/>
              <a:gd name="T2" fmla="*/ 2147483647 w 387"/>
              <a:gd name="T3" fmla="*/ 2147483647 h 257"/>
              <a:gd name="T4" fmla="*/ 2147483647 w 387"/>
              <a:gd name="T5" fmla="*/ 2147483647 h 257"/>
              <a:gd name="T6" fmla="*/ 2147483647 w 387"/>
              <a:gd name="T7" fmla="*/ 2147483647 h 257"/>
              <a:gd name="T8" fmla="*/ 0 60000 65536"/>
              <a:gd name="T9" fmla="*/ 0 60000 65536"/>
              <a:gd name="T10" fmla="*/ 0 60000 65536"/>
              <a:gd name="T11" fmla="*/ 0 60000 65536"/>
              <a:gd name="T12" fmla="*/ 0 w 387"/>
              <a:gd name="T13" fmla="*/ 0 h 257"/>
              <a:gd name="T14" fmla="*/ 387 w 387"/>
              <a:gd name="T15" fmla="*/ 257 h 257"/>
            </a:gdLst>
            <a:ahLst/>
            <a:cxnLst>
              <a:cxn ang="T8">
                <a:pos x="T0" y="T1"/>
              </a:cxn>
              <a:cxn ang="T9">
                <a:pos x="T2" y="T3"/>
              </a:cxn>
              <a:cxn ang="T10">
                <a:pos x="T4" y="T5"/>
              </a:cxn>
              <a:cxn ang="T11">
                <a:pos x="T6" y="T7"/>
              </a:cxn>
            </a:cxnLst>
            <a:rect l="T12" t="T13" r="T14" b="T15"/>
            <a:pathLst>
              <a:path w="387" h="257">
                <a:moveTo>
                  <a:pt x="0" y="0"/>
                </a:moveTo>
                <a:cubicBezTo>
                  <a:pt x="0" y="0"/>
                  <a:pt x="44" y="187"/>
                  <a:pt x="119" y="217"/>
                </a:cubicBezTo>
                <a:cubicBezTo>
                  <a:pt x="217" y="257"/>
                  <a:pt x="357" y="216"/>
                  <a:pt x="357" y="216"/>
                </a:cubicBezTo>
                <a:cubicBezTo>
                  <a:pt x="387" y="208"/>
                  <a:pt x="387" y="208"/>
                  <a:pt x="387" y="208"/>
                </a:cubicBezTo>
              </a:path>
            </a:pathLst>
          </a:custGeom>
          <a:noFill/>
          <a:ln w="28575">
            <a:solidFill>
              <a:srgbClr val="8C64AB"/>
            </a:solidFill>
            <a:miter lim="800000"/>
            <a:headEnd/>
            <a:tailEnd/>
          </a:ln>
        </p:spPr>
        <p:txBody>
          <a:bodyPr/>
          <a:lstStyle/>
          <a:p>
            <a:endParaRPr lang="en-US"/>
          </a:p>
        </p:txBody>
      </p:sp>
      <p:sp>
        <p:nvSpPr>
          <p:cNvPr id="38" name="Freeform 32"/>
          <p:cNvSpPr>
            <a:spLocks/>
          </p:cNvSpPr>
          <p:nvPr/>
        </p:nvSpPr>
        <p:spPr bwMode="auto">
          <a:xfrm>
            <a:off x="6697663" y="2836863"/>
            <a:ext cx="1993900" cy="1501775"/>
          </a:xfrm>
          <a:custGeom>
            <a:avLst/>
            <a:gdLst>
              <a:gd name="T0" fmla="*/ 0 w 428"/>
              <a:gd name="T1" fmla="*/ 2147483647 h 277"/>
              <a:gd name="T2" fmla="*/ 2147483647 w 428"/>
              <a:gd name="T3" fmla="*/ 2147483647 h 277"/>
              <a:gd name="T4" fmla="*/ 2147483647 w 428"/>
              <a:gd name="T5" fmla="*/ 2147483647 h 277"/>
              <a:gd name="T6" fmla="*/ 2147483647 w 428"/>
              <a:gd name="T7" fmla="*/ 2147483647 h 277"/>
              <a:gd name="T8" fmla="*/ 2147483647 w 428"/>
              <a:gd name="T9" fmla="*/ 2147483647 h 277"/>
              <a:gd name="T10" fmla="*/ 2147483647 w 428"/>
              <a:gd name="T11" fmla="*/ 0 h 277"/>
              <a:gd name="T12" fmla="*/ 0 60000 65536"/>
              <a:gd name="T13" fmla="*/ 0 60000 65536"/>
              <a:gd name="T14" fmla="*/ 0 60000 65536"/>
              <a:gd name="T15" fmla="*/ 0 60000 65536"/>
              <a:gd name="T16" fmla="*/ 0 60000 65536"/>
              <a:gd name="T17" fmla="*/ 0 60000 65536"/>
              <a:gd name="T18" fmla="*/ 0 w 428"/>
              <a:gd name="T19" fmla="*/ 0 h 277"/>
              <a:gd name="T20" fmla="*/ 428 w 428"/>
              <a:gd name="T21" fmla="*/ 277 h 277"/>
            </a:gdLst>
            <a:ahLst/>
            <a:cxnLst>
              <a:cxn ang="T12">
                <a:pos x="T0" y="T1"/>
              </a:cxn>
              <a:cxn ang="T13">
                <a:pos x="T2" y="T3"/>
              </a:cxn>
              <a:cxn ang="T14">
                <a:pos x="T4" y="T5"/>
              </a:cxn>
              <a:cxn ang="T15">
                <a:pos x="T6" y="T7"/>
              </a:cxn>
              <a:cxn ang="T16">
                <a:pos x="T8" y="T9"/>
              </a:cxn>
              <a:cxn ang="T17">
                <a:pos x="T10" y="T11"/>
              </a:cxn>
            </a:cxnLst>
            <a:rect l="T18" t="T19" r="T20" b="T21"/>
            <a:pathLst>
              <a:path w="428" h="277">
                <a:moveTo>
                  <a:pt x="0" y="118"/>
                </a:moveTo>
                <a:cubicBezTo>
                  <a:pt x="0" y="118"/>
                  <a:pt x="34" y="253"/>
                  <a:pt x="71" y="265"/>
                </a:cubicBezTo>
                <a:cubicBezTo>
                  <a:pt x="108" y="277"/>
                  <a:pt x="214" y="177"/>
                  <a:pt x="214" y="177"/>
                </a:cubicBezTo>
                <a:cubicBezTo>
                  <a:pt x="285" y="118"/>
                  <a:pt x="285" y="118"/>
                  <a:pt x="285" y="118"/>
                </a:cubicBezTo>
                <a:cubicBezTo>
                  <a:pt x="356" y="59"/>
                  <a:pt x="356" y="59"/>
                  <a:pt x="356" y="59"/>
                </a:cubicBezTo>
                <a:cubicBezTo>
                  <a:pt x="428" y="0"/>
                  <a:pt x="428" y="0"/>
                  <a:pt x="428" y="0"/>
                </a:cubicBezTo>
              </a:path>
            </a:pathLst>
          </a:custGeom>
          <a:noFill/>
          <a:ln w="28575">
            <a:solidFill>
              <a:srgbClr val="F3716D"/>
            </a:solidFill>
            <a:miter lim="800000"/>
            <a:headEnd/>
            <a:tailEnd/>
          </a:ln>
        </p:spPr>
        <p:txBody>
          <a:bodyPr/>
          <a:lstStyle/>
          <a:p>
            <a:endParaRPr lang="en-US"/>
          </a:p>
        </p:txBody>
      </p:sp>
      <p:sp>
        <p:nvSpPr>
          <p:cNvPr id="39" name="Freeform 33"/>
          <p:cNvSpPr>
            <a:spLocks/>
          </p:cNvSpPr>
          <p:nvPr/>
        </p:nvSpPr>
        <p:spPr bwMode="auto">
          <a:xfrm>
            <a:off x="6604000" y="1670050"/>
            <a:ext cx="2439988" cy="3081338"/>
          </a:xfrm>
          <a:custGeom>
            <a:avLst/>
            <a:gdLst>
              <a:gd name="T0" fmla="*/ 2147483647 w 1236"/>
              <a:gd name="T1" fmla="*/ 2147483647 h 1342"/>
              <a:gd name="T2" fmla="*/ 0 w 1236"/>
              <a:gd name="T3" fmla="*/ 2147483647 h 1342"/>
              <a:gd name="T4" fmla="*/ 0 w 1236"/>
              <a:gd name="T5" fmla="*/ 0 h 1342"/>
              <a:gd name="T6" fmla="*/ 0 60000 65536"/>
              <a:gd name="T7" fmla="*/ 0 60000 65536"/>
              <a:gd name="T8" fmla="*/ 0 60000 65536"/>
              <a:gd name="T9" fmla="*/ 0 w 1236"/>
              <a:gd name="T10" fmla="*/ 0 h 1342"/>
              <a:gd name="T11" fmla="*/ 1236 w 1236"/>
              <a:gd name="T12" fmla="*/ 1342 h 1342"/>
            </a:gdLst>
            <a:ahLst/>
            <a:cxnLst>
              <a:cxn ang="T6">
                <a:pos x="T0" y="T1"/>
              </a:cxn>
              <a:cxn ang="T7">
                <a:pos x="T2" y="T3"/>
              </a:cxn>
              <a:cxn ang="T8">
                <a:pos x="T4" y="T5"/>
              </a:cxn>
            </a:cxnLst>
            <a:rect l="T9" t="T10" r="T11" b="T12"/>
            <a:pathLst>
              <a:path w="1236" h="1342">
                <a:moveTo>
                  <a:pt x="1236" y="1342"/>
                </a:moveTo>
                <a:lnTo>
                  <a:pt x="0" y="1342"/>
                </a:lnTo>
                <a:lnTo>
                  <a:pt x="0" y="0"/>
                </a:lnTo>
              </a:path>
            </a:pathLst>
          </a:custGeom>
          <a:noFill/>
          <a:ln w="6350">
            <a:solidFill>
              <a:srgbClr val="000000"/>
            </a:solidFill>
            <a:miter lim="800000"/>
            <a:headEnd/>
            <a:tailEnd/>
          </a:ln>
        </p:spPr>
        <p:txBody>
          <a:bodyPr/>
          <a:lstStyle/>
          <a:p>
            <a:endParaRPr lang="en-US"/>
          </a:p>
        </p:txBody>
      </p:sp>
      <p:sp>
        <p:nvSpPr>
          <p:cNvPr id="40" name="Oval 34"/>
          <p:cNvSpPr>
            <a:spLocks noChangeArrowheads="1"/>
          </p:cNvSpPr>
          <p:nvPr/>
        </p:nvSpPr>
        <p:spPr bwMode="auto">
          <a:xfrm>
            <a:off x="7812088" y="3573463"/>
            <a:ext cx="92075" cy="107950"/>
          </a:xfrm>
          <a:prstGeom prst="ellipse">
            <a:avLst/>
          </a:prstGeom>
          <a:solidFill>
            <a:srgbClr val="000000"/>
          </a:solidFill>
          <a:ln w="9525">
            <a:noFill/>
            <a:round/>
            <a:headEnd/>
            <a:tailEnd/>
          </a:ln>
        </p:spPr>
        <p:txBody>
          <a:bodyPr/>
          <a:lstStyle/>
          <a:p>
            <a:endParaRPr lang="en-US"/>
          </a:p>
        </p:txBody>
      </p:sp>
      <p:sp>
        <p:nvSpPr>
          <p:cNvPr id="41" name="Oval 35"/>
          <p:cNvSpPr>
            <a:spLocks noChangeArrowheads="1"/>
          </p:cNvSpPr>
          <p:nvPr/>
        </p:nvSpPr>
        <p:spPr bwMode="auto">
          <a:xfrm>
            <a:off x="8143875" y="3270250"/>
            <a:ext cx="92075" cy="107950"/>
          </a:xfrm>
          <a:prstGeom prst="ellipse">
            <a:avLst/>
          </a:prstGeom>
          <a:solidFill>
            <a:srgbClr val="000000"/>
          </a:solidFill>
          <a:ln w="9525">
            <a:noFill/>
            <a:round/>
            <a:headEnd/>
            <a:tailEnd/>
          </a:ln>
        </p:spPr>
        <p:txBody>
          <a:bodyPr/>
          <a:lstStyle/>
          <a:p>
            <a:endParaRPr lang="en-US"/>
          </a:p>
        </p:txBody>
      </p:sp>
      <p:sp>
        <p:nvSpPr>
          <p:cNvPr id="42" name="Rectangle 36"/>
          <p:cNvSpPr>
            <a:spLocks noChangeArrowheads="1"/>
          </p:cNvSpPr>
          <p:nvPr/>
        </p:nvSpPr>
        <p:spPr bwMode="auto">
          <a:xfrm>
            <a:off x="3033713" y="1655763"/>
            <a:ext cx="40957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Price</a:t>
            </a:r>
            <a:endParaRPr lang="en-US" sz="1400">
              <a:latin typeface="Tahoma" pitchFamily="34" charset="0"/>
            </a:endParaRPr>
          </a:p>
        </p:txBody>
      </p:sp>
      <p:sp>
        <p:nvSpPr>
          <p:cNvPr id="43" name="Line 37"/>
          <p:cNvSpPr>
            <a:spLocks noChangeShapeType="1"/>
          </p:cNvSpPr>
          <p:nvPr/>
        </p:nvSpPr>
        <p:spPr bwMode="auto">
          <a:xfrm flipV="1">
            <a:off x="3760788" y="2733675"/>
            <a:ext cx="690562" cy="1566863"/>
          </a:xfrm>
          <a:prstGeom prst="line">
            <a:avLst/>
          </a:prstGeom>
          <a:noFill/>
          <a:ln w="28575">
            <a:solidFill>
              <a:srgbClr val="FAC0BF"/>
            </a:solidFill>
            <a:miter lim="800000"/>
            <a:headEnd/>
            <a:tailEnd/>
          </a:ln>
        </p:spPr>
        <p:txBody>
          <a:bodyPr/>
          <a:lstStyle/>
          <a:p>
            <a:endParaRPr lang="en-US"/>
          </a:p>
        </p:txBody>
      </p:sp>
      <p:sp>
        <p:nvSpPr>
          <p:cNvPr id="44" name="Line 38"/>
          <p:cNvSpPr>
            <a:spLocks noChangeShapeType="1"/>
          </p:cNvSpPr>
          <p:nvPr/>
        </p:nvSpPr>
        <p:spPr bwMode="auto">
          <a:xfrm>
            <a:off x="3673475" y="3151188"/>
            <a:ext cx="1928813" cy="617537"/>
          </a:xfrm>
          <a:prstGeom prst="line">
            <a:avLst/>
          </a:prstGeom>
          <a:noFill/>
          <a:ln w="28575">
            <a:solidFill>
              <a:srgbClr val="3C5DAA"/>
            </a:solidFill>
            <a:miter lim="800000"/>
            <a:headEnd/>
            <a:tailEnd/>
          </a:ln>
        </p:spPr>
        <p:txBody>
          <a:bodyPr/>
          <a:lstStyle/>
          <a:p>
            <a:endParaRPr lang="en-US"/>
          </a:p>
        </p:txBody>
      </p:sp>
      <p:sp>
        <p:nvSpPr>
          <p:cNvPr id="45" name="Line 39"/>
          <p:cNvSpPr>
            <a:spLocks noChangeShapeType="1"/>
          </p:cNvSpPr>
          <p:nvPr/>
        </p:nvSpPr>
        <p:spPr bwMode="auto">
          <a:xfrm>
            <a:off x="3621088" y="3497263"/>
            <a:ext cx="1916112" cy="617537"/>
          </a:xfrm>
          <a:prstGeom prst="line">
            <a:avLst/>
          </a:prstGeom>
          <a:noFill/>
          <a:ln w="28575">
            <a:solidFill>
              <a:srgbClr val="AEC5E7"/>
            </a:solidFill>
            <a:miter lim="800000"/>
            <a:headEnd/>
            <a:tailEnd/>
          </a:ln>
        </p:spPr>
        <p:txBody>
          <a:bodyPr/>
          <a:lstStyle/>
          <a:p>
            <a:endParaRPr lang="en-US"/>
          </a:p>
        </p:txBody>
      </p:sp>
      <p:sp>
        <p:nvSpPr>
          <p:cNvPr id="46" name="Oval 40"/>
          <p:cNvSpPr>
            <a:spLocks noChangeArrowheads="1"/>
          </p:cNvSpPr>
          <p:nvPr/>
        </p:nvSpPr>
        <p:spPr bwMode="auto">
          <a:xfrm>
            <a:off x="4144963" y="3259138"/>
            <a:ext cx="92075" cy="107950"/>
          </a:xfrm>
          <a:prstGeom prst="ellipse">
            <a:avLst/>
          </a:prstGeom>
          <a:solidFill>
            <a:srgbClr val="000000"/>
          </a:solidFill>
          <a:ln w="9525">
            <a:noFill/>
            <a:round/>
            <a:headEnd/>
            <a:tailEnd/>
          </a:ln>
        </p:spPr>
        <p:txBody>
          <a:bodyPr/>
          <a:lstStyle/>
          <a:p>
            <a:endParaRPr lang="en-US"/>
          </a:p>
        </p:txBody>
      </p:sp>
      <p:sp>
        <p:nvSpPr>
          <p:cNvPr id="47" name="Oval 41"/>
          <p:cNvSpPr>
            <a:spLocks noChangeArrowheads="1"/>
          </p:cNvSpPr>
          <p:nvPr/>
        </p:nvSpPr>
        <p:spPr bwMode="auto">
          <a:xfrm>
            <a:off x="4008438" y="3578225"/>
            <a:ext cx="93662" cy="109538"/>
          </a:xfrm>
          <a:prstGeom prst="ellipse">
            <a:avLst/>
          </a:prstGeom>
          <a:solidFill>
            <a:srgbClr val="000000"/>
          </a:solidFill>
          <a:ln w="9525">
            <a:noFill/>
            <a:round/>
            <a:headEnd/>
            <a:tailEnd/>
          </a:ln>
        </p:spPr>
        <p:txBody>
          <a:bodyPr/>
          <a:lstStyle/>
          <a:p>
            <a:endParaRPr lang="en-US"/>
          </a:p>
        </p:txBody>
      </p:sp>
      <p:sp>
        <p:nvSpPr>
          <p:cNvPr id="48" name="Oval 42"/>
          <p:cNvSpPr>
            <a:spLocks noChangeArrowheads="1"/>
          </p:cNvSpPr>
          <p:nvPr/>
        </p:nvSpPr>
        <p:spPr bwMode="auto">
          <a:xfrm>
            <a:off x="1697038" y="3578225"/>
            <a:ext cx="93662" cy="109538"/>
          </a:xfrm>
          <a:prstGeom prst="ellipse">
            <a:avLst/>
          </a:prstGeom>
          <a:solidFill>
            <a:srgbClr val="000000"/>
          </a:solidFill>
          <a:ln w="9525">
            <a:noFill/>
            <a:round/>
            <a:headEnd/>
            <a:tailEnd/>
          </a:ln>
        </p:spPr>
        <p:txBody>
          <a:bodyPr/>
          <a:lstStyle/>
          <a:p>
            <a:endParaRPr lang="en-US"/>
          </a:p>
        </p:txBody>
      </p:sp>
      <p:sp>
        <p:nvSpPr>
          <p:cNvPr id="49" name="Oval 43"/>
          <p:cNvSpPr>
            <a:spLocks noChangeArrowheads="1"/>
          </p:cNvSpPr>
          <p:nvPr/>
        </p:nvSpPr>
        <p:spPr bwMode="auto">
          <a:xfrm>
            <a:off x="2033588" y="3259138"/>
            <a:ext cx="92075" cy="107950"/>
          </a:xfrm>
          <a:prstGeom prst="ellipse">
            <a:avLst/>
          </a:prstGeom>
          <a:solidFill>
            <a:srgbClr val="000000"/>
          </a:solidFill>
          <a:ln w="9525">
            <a:noFill/>
            <a:round/>
            <a:headEnd/>
            <a:tailEnd/>
          </a:ln>
        </p:spPr>
        <p:txBody>
          <a:bodyPr/>
          <a:lstStyle/>
          <a:p>
            <a:endParaRPr lang="en-US"/>
          </a:p>
        </p:txBody>
      </p:sp>
      <p:sp>
        <p:nvSpPr>
          <p:cNvPr id="50" name="Rectangle 44"/>
          <p:cNvSpPr>
            <a:spLocks noChangeArrowheads="1"/>
          </p:cNvSpPr>
          <p:nvPr/>
        </p:nvSpPr>
        <p:spPr bwMode="auto">
          <a:xfrm>
            <a:off x="4437063" y="24558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51" name="Rectangle 45"/>
          <p:cNvSpPr>
            <a:spLocks noChangeArrowheads="1"/>
          </p:cNvSpPr>
          <p:nvPr/>
        </p:nvSpPr>
        <p:spPr bwMode="auto">
          <a:xfrm>
            <a:off x="4529138" y="2581275"/>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52" name="Rectangle 46"/>
          <p:cNvSpPr>
            <a:spLocks noChangeArrowheads="1"/>
          </p:cNvSpPr>
          <p:nvPr/>
        </p:nvSpPr>
        <p:spPr bwMode="auto">
          <a:xfrm>
            <a:off x="5561013" y="40005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53" name="Rectangle 47"/>
          <p:cNvSpPr>
            <a:spLocks noChangeArrowheads="1"/>
          </p:cNvSpPr>
          <p:nvPr/>
        </p:nvSpPr>
        <p:spPr bwMode="auto">
          <a:xfrm>
            <a:off x="5684838" y="4124325"/>
            <a:ext cx="90487"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a:t>
            </a:r>
            <a:endParaRPr lang="en-US" sz="1400">
              <a:latin typeface="Tahoma" pitchFamily="34" charset="0"/>
            </a:endParaRPr>
          </a:p>
        </p:txBody>
      </p:sp>
      <p:sp>
        <p:nvSpPr>
          <p:cNvPr id="54" name="Rectangle 48"/>
          <p:cNvSpPr>
            <a:spLocks noChangeArrowheads="1"/>
          </p:cNvSpPr>
          <p:nvPr/>
        </p:nvSpPr>
        <p:spPr bwMode="auto">
          <a:xfrm>
            <a:off x="5632450" y="366236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55" name="Rectangle 49"/>
          <p:cNvSpPr>
            <a:spLocks noChangeArrowheads="1"/>
          </p:cNvSpPr>
          <p:nvPr/>
        </p:nvSpPr>
        <p:spPr bwMode="auto">
          <a:xfrm>
            <a:off x="5756275" y="3789363"/>
            <a:ext cx="90488"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56" name="Rectangle 50"/>
          <p:cNvSpPr>
            <a:spLocks noChangeArrowheads="1"/>
          </p:cNvSpPr>
          <p:nvPr/>
        </p:nvSpPr>
        <p:spPr bwMode="auto">
          <a:xfrm>
            <a:off x="5564188" y="24558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57" name="Rectangle 51"/>
          <p:cNvSpPr>
            <a:spLocks noChangeArrowheads="1"/>
          </p:cNvSpPr>
          <p:nvPr/>
        </p:nvSpPr>
        <p:spPr bwMode="auto">
          <a:xfrm>
            <a:off x="5657850" y="2581275"/>
            <a:ext cx="9048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a:t>
            </a:r>
            <a:endParaRPr lang="en-US" sz="1400">
              <a:latin typeface="Tahoma" pitchFamily="34" charset="0"/>
            </a:endParaRPr>
          </a:p>
        </p:txBody>
      </p:sp>
      <p:sp>
        <p:nvSpPr>
          <p:cNvPr id="58" name="Rectangle 52"/>
          <p:cNvSpPr>
            <a:spLocks noChangeArrowheads="1"/>
          </p:cNvSpPr>
          <p:nvPr/>
        </p:nvSpPr>
        <p:spPr bwMode="auto">
          <a:xfrm>
            <a:off x="4203700" y="33432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Y</a:t>
            </a:r>
            <a:endParaRPr lang="en-US" sz="1400" i="1">
              <a:latin typeface="Tahoma" pitchFamily="34" charset="0"/>
            </a:endParaRPr>
          </a:p>
        </p:txBody>
      </p:sp>
      <p:sp>
        <p:nvSpPr>
          <p:cNvPr id="59" name="Rectangle 53"/>
          <p:cNvSpPr>
            <a:spLocks noChangeArrowheads="1"/>
          </p:cNvSpPr>
          <p:nvPr/>
        </p:nvSpPr>
        <p:spPr bwMode="auto">
          <a:xfrm>
            <a:off x="4303713" y="3467100"/>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
        <p:nvSpPr>
          <p:cNvPr id="60" name="Rectangle 54"/>
          <p:cNvSpPr>
            <a:spLocks noChangeArrowheads="1"/>
          </p:cNvSpPr>
          <p:nvPr/>
        </p:nvSpPr>
        <p:spPr bwMode="auto">
          <a:xfrm>
            <a:off x="4084638" y="37020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X</a:t>
            </a:r>
            <a:endParaRPr lang="en-US" sz="1400" i="1">
              <a:latin typeface="Tahoma" pitchFamily="34" charset="0"/>
            </a:endParaRPr>
          </a:p>
        </p:txBody>
      </p:sp>
      <p:sp>
        <p:nvSpPr>
          <p:cNvPr id="61" name="Rectangle 55"/>
          <p:cNvSpPr>
            <a:spLocks noChangeArrowheads="1"/>
          </p:cNvSpPr>
          <p:nvPr/>
        </p:nvSpPr>
        <p:spPr bwMode="auto">
          <a:xfrm>
            <a:off x="4191000" y="3825875"/>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
        <p:nvSpPr>
          <p:cNvPr id="62" name="Rectangle 56"/>
          <p:cNvSpPr>
            <a:spLocks noChangeArrowheads="1"/>
          </p:cNvSpPr>
          <p:nvPr/>
        </p:nvSpPr>
        <p:spPr bwMode="auto">
          <a:xfrm>
            <a:off x="5214938" y="3670300"/>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Z</a:t>
            </a:r>
            <a:endParaRPr lang="en-US" sz="1400" i="1">
              <a:latin typeface="Tahoma" pitchFamily="34" charset="0"/>
            </a:endParaRPr>
          </a:p>
        </p:txBody>
      </p:sp>
      <p:sp>
        <p:nvSpPr>
          <p:cNvPr id="63" name="Rectangle 57"/>
          <p:cNvSpPr>
            <a:spLocks noChangeArrowheads="1"/>
          </p:cNvSpPr>
          <p:nvPr/>
        </p:nvSpPr>
        <p:spPr bwMode="auto">
          <a:xfrm>
            <a:off x="5318125" y="3794125"/>
            <a:ext cx="3778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MKT</a:t>
            </a:r>
            <a:endParaRPr lang="en-US" sz="1400" i="1">
              <a:latin typeface="Tahoma" pitchFamily="34" charset="0"/>
            </a:endParaRPr>
          </a:p>
        </p:txBody>
      </p:sp>
      <p:sp>
        <p:nvSpPr>
          <p:cNvPr id="64" name="Line 58"/>
          <p:cNvSpPr>
            <a:spLocks noChangeShapeType="1"/>
          </p:cNvSpPr>
          <p:nvPr/>
        </p:nvSpPr>
        <p:spPr bwMode="auto">
          <a:xfrm>
            <a:off x="4308475" y="3248025"/>
            <a:ext cx="796925" cy="249238"/>
          </a:xfrm>
          <a:prstGeom prst="line">
            <a:avLst/>
          </a:prstGeom>
          <a:noFill/>
          <a:ln w="17463">
            <a:solidFill>
              <a:srgbClr val="000000"/>
            </a:solidFill>
            <a:miter lim="800000"/>
            <a:headEnd/>
            <a:tailEnd/>
          </a:ln>
        </p:spPr>
        <p:txBody>
          <a:bodyPr/>
          <a:lstStyle/>
          <a:p>
            <a:endParaRPr lang="en-US"/>
          </a:p>
        </p:txBody>
      </p:sp>
      <p:sp>
        <p:nvSpPr>
          <p:cNvPr id="65" name="Freeform 59"/>
          <p:cNvSpPr>
            <a:spLocks/>
          </p:cNvSpPr>
          <p:nvPr/>
        </p:nvSpPr>
        <p:spPr bwMode="auto">
          <a:xfrm>
            <a:off x="5072063" y="3454400"/>
            <a:ext cx="101600" cy="71438"/>
          </a:xfrm>
          <a:custGeom>
            <a:avLst/>
            <a:gdLst>
              <a:gd name="T0" fmla="*/ 2147483647 w 22"/>
              <a:gd name="T1" fmla="*/ 2147483647 h 13"/>
              <a:gd name="T2" fmla="*/ 2147483647 w 22"/>
              <a:gd name="T3" fmla="*/ 0 h 13"/>
              <a:gd name="T4" fmla="*/ 2147483647 w 22"/>
              <a:gd name="T5" fmla="*/ 0 h 13"/>
              <a:gd name="T6" fmla="*/ 2147483647 w 22"/>
              <a:gd name="T7" fmla="*/ 2147483647 h 13"/>
              <a:gd name="T8" fmla="*/ 2147483647 w 22"/>
              <a:gd name="T9" fmla="*/ 2147483647 h 13"/>
              <a:gd name="T10" fmla="*/ 2147483647 w 22"/>
              <a:gd name="T11" fmla="*/ 2147483647 h 13"/>
              <a:gd name="T12" fmla="*/ 0 w 22"/>
              <a:gd name="T13" fmla="*/ 2147483647 h 13"/>
              <a:gd name="T14" fmla="*/ 0 w 22"/>
              <a:gd name="T15" fmla="*/ 2147483647 h 13"/>
              <a:gd name="T16" fmla="*/ 2147483647 w 22"/>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5" y="7"/>
                </a:moveTo>
                <a:cubicBezTo>
                  <a:pt x="3" y="0"/>
                  <a:pt x="3" y="0"/>
                  <a:pt x="3" y="0"/>
                </a:cubicBezTo>
                <a:cubicBezTo>
                  <a:pt x="3" y="0"/>
                  <a:pt x="3" y="0"/>
                  <a:pt x="3" y="0"/>
                </a:cubicBezTo>
                <a:cubicBezTo>
                  <a:pt x="12" y="7"/>
                  <a:pt x="12" y="7"/>
                  <a:pt x="12" y="7"/>
                </a:cubicBezTo>
                <a:cubicBezTo>
                  <a:pt x="16" y="8"/>
                  <a:pt x="19" y="10"/>
                  <a:pt x="22" y="12"/>
                </a:cubicBezTo>
                <a:cubicBezTo>
                  <a:pt x="18" y="12"/>
                  <a:pt x="15" y="11"/>
                  <a:pt x="11" y="11"/>
                </a:cubicBezTo>
                <a:cubicBezTo>
                  <a:pt x="0" y="13"/>
                  <a:pt x="0" y="13"/>
                  <a:pt x="0" y="13"/>
                </a:cubicBezTo>
                <a:cubicBezTo>
                  <a:pt x="0" y="12"/>
                  <a:pt x="0" y="12"/>
                  <a:pt x="0" y="12"/>
                </a:cubicBezTo>
                <a:lnTo>
                  <a:pt x="5" y="7"/>
                </a:lnTo>
                <a:close/>
              </a:path>
            </a:pathLst>
          </a:custGeom>
          <a:solidFill>
            <a:srgbClr val="000000"/>
          </a:solidFill>
          <a:ln w="9525">
            <a:noFill/>
            <a:round/>
            <a:headEnd/>
            <a:tailEnd/>
          </a:ln>
        </p:spPr>
        <p:txBody>
          <a:bodyPr/>
          <a:lstStyle/>
          <a:p>
            <a:endParaRPr lang="en-US"/>
          </a:p>
        </p:txBody>
      </p:sp>
      <p:sp>
        <p:nvSpPr>
          <p:cNvPr id="66" name="Freeform 60"/>
          <p:cNvSpPr>
            <a:spLocks/>
          </p:cNvSpPr>
          <p:nvPr/>
        </p:nvSpPr>
        <p:spPr bwMode="auto">
          <a:xfrm>
            <a:off x="4797425" y="3367088"/>
            <a:ext cx="103188" cy="71437"/>
          </a:xfrm>
          <a:custGeom>
            <a:avLst/>
            <a:gdLst>
              <a:gd name="T0" fmla="*/ 2147483647 w 22"/>
              <a:gd name="T1" fmla="*/ 2147483647 h 13"/>
              <a:gd name="T2" fmla="*/ 2147483647 w 22"/>
              <a:gd name="T3" fmla="*/ 0 h 13"/>
              <a:gd name="T4" fmla="*/ 2147483647 w 22"/>
              <a:gd name="T5" fmla="*/ 0 h 13"/>
              <a:gd name="T6" fmla="*/ 2147483647 w 22"/>
              <a:gd name="T7" fmla="*/ 2147483647 h 13"/>
              <a:gd name="T8" fmla="*/ 2147483647 w 22"/>
              <a:gd name="T9" fmla="*/ 2147483647 h 13"/>
              <a:gd name="T10" fmla="*/ 2147483647 w 22"/>
              <a:gd name="T11" fmla="*/ 2147483647 h 13"/>
              <a:gd name="T12" fmla="*/ 0 w 22"/>
              <a:gd name="T13" fmla="*/ 2147483647 h 13"/>
              <a:gd name="T14" fmla="*/ 0 w 22"/>
              <a:gd name="T15" fmla="*/ 2147483647 h 13"/>
              <a:gd name="T16" fmla="*/ 2147483647 w 22"/>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5" y="7"/>
                </a:moveTo>
                <a:cubicBezTo>
                  <a:pt x="3" y="0"/>
                  <a:pt x="3" y="0"/>
                  <a:pt x="3" y="0"/>
                </a:cubicBezTo>
                <a:cubicBezTo>
                  <a:pt x="3" y="0"/>
                  <a:pt x="3" y="0"/>
                  <a:pt x="3" y="0"/>
                </a:cubicBezTo>
                <a:cubicBezTo>
                  <a:pt x="12" y="7"/>
                  <a:pt x="12" y="7"/>
                  <a:pt x="12" y="7"/>
                </a:cubicBezTo>
                <a:cubicBezTo>
                  <a:pt x="15" y="8"/>
                  <a:pt x="19" y="10"/>
                  <a:pt x="22" y="12"/>
                </a:cubicBezTo>
                <a:cubicBezTo>
                  <a:pt x="18" y="12"/>
                  <a:pt x="15" y="12"/>
                  <a:pt x="11" y="11"/>
                </a:cubicBezTo>
                <a:cubicBezTo>
                  <a:pt x="0" y="13"/>
                  <a:pt x="0" y="13"/>
                  <a:pt x="0" y="13"/>
                </a:cubicBezTo>
                <a:cubicBezTo>
                  <a:pt x="0" y="13"/>
                  <a:pt x="0" y="13"/>
                  <a:pt x="0" y="13"/>
                </a:cubicBezTo>
                <a:lnTo>
                  <a:pt x="5" y="7"/>
                </a:lnTo>
                <a:close/>
              </a:path>
            </a:pathLst>
          </a:custGeom>
          <a:solidFill>
            <a:srgbClr val="000000"/>
          </a:solidFill>
          <a:ln w="9525">
            <a:noFill/>
            <a:round/>
            <a:headEnd/>
            <a:tailEnd/>
          </a:ln>
        </p:spPr>
        <p:txBody>
          <a:bodyPr/>
          <a:lstStyle/>
          <a:p>
            <a:endParaRPr lang="en-US"/>
          </a:p>
        </p:txBody>
      </p:sp>
      <p:sp>
        <p:nvSpPr>
          <p:cNvPr id="67" name="Freeform 61"/>
          <p:cNvSpPr>
            <a:spLocks/>
          </p:cNvSpPr>
          <p:nvPr/>
        </p:nvSpPr>
        <p:spPr bwMode="auto">
          <a:xfrm>
            <a:off x="4506913" y="3279775"/>
            <a:ext cx="109537" cy="66675"/>
          </a:xfrm>
          <a:custGeom>
            <a:avLst/>
            <a:gdLst>
              <a:gd name="T0" fmla="*/ 2147483647 w 23"/>
              <a:gd name="T1" fmla="*/ 2147483647 h 12"/>
              <a:gd name="T2" fmla="*/ 2147483647 w 23"/>
              <a:gd name="T3" fmla="*/ 0 h 12"/>
              <a:gd name="T4" fmla="*/ 2147483647 w 23"/>
              <a:gd name="T5" fmla="*/ 0 h 12"/>
              <a:gd name="T6" fmla="*/ 2147483647 w 23"/>
              <a:gd name="T7" fmla="*/ 2147483647 h 12"/>
              <a:gd name="T8" fmla="*/ 2147483647 w 23"/>
              <a:gd name="T9" fmla="*/ 2147483647 h 12"/>
              <a:gd name="T10" fmla="*/ 2147483647 w 23"/>
              <a:gd name="T11" fmla="*/ 2147483647 h 12"/>
              <a:gd name="T12" fmla="*/ 2147483647 w 23"/>
              <a:gd name="T13" fmla="*/ 2147483647 h 12"/>
              <a:gd name="T14" fmla="*/ 0 w 23"/>
              <a:gd name="T15" fmla="*/ 2147483647 h 12"/>
              <a:gd name="T16" fmla="*/ 2147483647 w 23"/>
              <a:gd name="T17" fmla="*/ 2147483647 h 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2"/>
              <a:gd name="T29" fmla="*/ 23 w 23"/>
              <a:gd name="T30" fmla="*/ 12 h 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2">
                <a:moveTo>
                  <a:pt x="6" y="7"/>
                </a:moveTo>
                <a:cubicBezTo>
                  <a:pt x="4" y="0"/>
                  <a:pt x="4" y="0"/>
                  <a:pt x="4" y="0"/>
                </a:cubicBezTo>
                <a:cubicBezTo>
                  <a:pt x="4" y="0"/>
                  <a:pt x="4" y="0"/>
                  <a:pt x="4" y="0"/>
                </a:cubicBezTo>
                <a:cubicBezTo>
                  <a:pt x="13" y="6"/>
                  <a:pt x="13" y="6"/>
                  <a:pt x="13" y="6"/>
                </a:cubicBezTo>
                <a:cubicBezTo>
                  <a:pt x="16" y="8"/>
                  <a:pt x="20" y="10"/>
                  <a:pt x="23" y="12"/>
                </a:cubicBezTo>
                <a:cubicBezTo>
                  <a:pt x="19" y="11"/>
                  <a:pt x="16" y="11"/>
                  <a:pt x="12" y="11"/>
                </a:cubicBezTo>
                <a:cubicBezTo>
                  <a:pt x="1" y="12"/>
                  <a:pt x="1" y="12"/>
                  <a:pt x="1" y="12"/>
                </a:cubicBezTo>
                <a:cubicBezTo>
                  <a:pt x="0" y="12"/>
                  <a:pt x="0" y="12"/>
                  <a:pt x="0" y="12"/>
                </a:cubicBezTo>
                <a:lnTo>
                  <a:pt x="6" y="7"/>
                </a:lnTo>
                <a:close/>
              </a:path>
            </a:pathLst>
          </a:custGeom>
          <a:solidFill>
            <a:srgbClr val="000000"/>
          </a:solidFill>
          <a:ln w="9525">
            <a:noFill/>
            <a:round/>
            <a:headEnd/>
            <a:tailEnd/>
          </a:ln>
        </p:spPr>
        <p:txBody>
          <a:bodyPr/>
          <a:lstStyle/>
          <a:p>
            <a:endParaRPr lang="en-US"/>
          </a:p>
        </p:txBody>
      </p:sp>
      <p:sp>
        <p:nvSpPr>
          <p:cNvPr id="68" name="Rectangle 62"/>
          <p:cNvSpPr>
            <a:spLocks noChangeArrowheads="1"/>
          </p:cNvSpPr>
          <p:nvPr/>
        </p:nvSpPr>
        <p:spPr bwMode="auto">
          <a:xfrm>
            <a:off x="5132388" y="2401888"/>
            <a:ext cx="398462"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 LRS</a:t>
            </a:r>
            <a:endParaRPr lang="en-US" sz="1400" i="1">
              <a:latin typeface="Tahoma" pitchFamily="34" charset="0"/>
            </a:endParaRPr>
          </a:p>
        </p:txBody>
      </p:sp>
      <p:sp>
        <p:nvSpPr>
          <p:cNvPr id="69" name="Line 63"/>
          <p:cNvSpPr>
            <a:spLocks noChangeShapeType="1"/>
          </p:cNvSpPr>
          <p:nvPr/>
        </p:nvSpPr>
        <p:spPr bwMode="auto">
          <a:xfrm flipV="1">
            <a:off x="1646238" y="3297238"/>
            <a:ext cx="266700" cy="255587"/>
          </a:xfrm>
          <a:prstGeom prst="line">
            <a:avLst/>
          </a:prstGeom>
          <a:noFill/>
          <a:ln w="17463">
            <a:solidFill>
              <a:srgbClr val="000000"/>
            </a:solidFill>
            <a:miter lim="800000"/>
            <a:headEnd/>
            <a:tailEnd/>
          </a:ln>
        </p:spPr>
        <p:txBody>
          <a:bodyPr/>
          <a:lstStyle/>
          <a:p>
            <a:endParaRPr lang="en-US"/>
          </a:p>
        </p:txBody>
      </p:sp>
      <p:sp>
        <p:nvSpPr>
          <p:cNvPr id="70" name="Freeform 64"/>
          <p:cNvSpPr>
            <a:spLocks/>
          </p:cNvSpPr>
          <p:nvPr/>
        </p:nvSpPr>
        <p:spPr bwMode="auto">
          <a:xfrm>
            <a:off x="1870075" y="3254375"/>
            <a:ext cx="92075" cy="96838"/>
          </a:xfrm>
          <a:custGeom>
            <a:avLst/>
            <a:gdLst>
              <a:gd name="T0" fmla="*/ 2147483647 w 20"/>
              <a:gd name="T1" fmla="*/ 2147483647 h 18"/>
              <a:gd name="T2" fmla="*/ 0 w 20"/>
              <a:gd name="T3" fmla="*/ 2147483647 h 18"/>
              <a:gd name="T4" fmla="*/ 0 w 20"/>
              <a:gd name="T5" fmla="*/ 2147483647 h 18"/>
              <a:gd name="T6" fmla="*/ 2147483647 w 20"/>
              <a:gd name="T7" fmla="*/ 2147483647 h 18"/>
              <a:gd name="T8" fmla="*/ 2147483647 w 20"/>
              <a:gd name="T9" fmla="*/ 0 h 18"/>
              <a:gd name="T10" fmla="*/ 2147483647 w 20"/>
              <a:gd name="T11" fmla="*/ 2147483647 h 18"/>
              <a:gd name="T12" fmla="*/ 2147483647 w 20"/>
              <a:gd name="T13" fmla="*/ 2147483647 h 18"/>
              <a:gd name="T14" fmla="*/ 2147483647 w 20"/>
              <a:gd name="T15" fmla="*/ 2147483647 h 18"/>
              <a:gd name="T16" fmla="*/ 2147483647 w 20"/>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8"/>
              <a:gd name="T29" fmla="*/ 20 w 20"/>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8">
                <a:moveTo>
                  <a:pt x="7" y="11"/>
                </a:moveTo>
                <a:cubicBezTo>
                  <a:pt x="0" y="8"/>
                  <a:pt x="0" y="8"/>
                  <a:pt x="0" y="8"/>
                </a:cubicBezTo>
                <a:cubicBezTo>
                  <a:pt x="0" y="8"/>
                  <a:pt x="0" y="8"/>
                  <a:pt x="0" y="8"/>
                </a:cubicBezTo>
                <a:cubicBezTo>
                  <a:pt x="10" y="5"/>
                  <a:pt x="10" y="5"/>
                  <a:pt x="10" y="5"/>
                </a:cubicBezTo>
                <a:cubicBezTo>
                  <a:pt x="14" y="3"/>
                  <a:pt x="17" y="1"/>
                  <a:pt x="20" y="0"/>
                </a:cubicBezTo>
                <a:cubicBezTo>
                  <a:pt x="18" y="2"/>
                  <a:pt x="16" y="5"/>
                  <a:pt x="13" y="8"/>
                </a:cubicBezTo>
                <a:cubicBezTo>
                  <a:pt x="8" y="18"/>
                  <a:pt x="8" y="18"/>
                  <a:pt x="8" y="18"/>
                </a:cubicBezTo>
                <a:cubicBezTo>
                  <a:pt x="8" y="18"/>
                  <a:pt x="8" y="18"/>
                  <a:pt x="8" y="18"/>
                </a:cubicBezTo>
                <a:lnTo>
                  <a:pt x="7" y="11"/>
                </a:lnTo>
                <a:close/>
              </a:path>
            </a:pathLst>
          </a:custGeom>
          <a:solidFill>
            <a:srgbClr val="000000"/>
          </a:solidFill>
          <a:ln w="9525">
            <a:noFill/>
            <a:round/>
            <a:headEnd/>
            <a:tailEnd/>
          </a:ln>
        </p:spPr>
        <p:txBody>
          <a:bodyPr/>
          <a:lstStyle/>
          <a:p>
            <a:endParaRPr lang="en-US"/>
          </a:p>
        </p:txBody>
      </p:sp>
      <p:sp>
        <p:nvSpPr>
          <p:cNvPr id="71" name="Freeform 65"/>
          <p:cNvSpPr>
            <a:spLocks/>
          </p:cNvSpPr>
          <p:nvPr/>
        </p:nvSpPr>
        <p:spPr bwMode="auto">
          <a:xfrm>
            <a:off x="1752600" y="3362325"/>
            <a:ext cx="98425" cy="96838"/>
          </a:xfrm>
          <a:custGeom>
            <a:avLst/>
            <a:gdLst>
              <a:gd name="T0" fmla="*/ 2147483647 w 21"/>
              <a:gd name="T1" fmla="*/ 2147483647 h 18"/>
              <a:gd name="T2" fmla="*/ 0 w 21"/>
              <a:gd name="T3" fmla="*/ 2147483647 h 18"/>
              <a:gd name="T4" fmla="*/ 0 w 21"/>
              <a:gd name="T5" fmla="*/ 2147483647 h 18"/>
              <a:gd name="T6" fmla="*/ 2147483647 w 21"/>
              <a:gd name="T7" fmla="*/ 2147483647 h 18"/>
              <a:gd name="T8" fmla="*/ 2147483647 w 21"/>
              <a:gd name="T9" fmla="*/ 0 h 18"/>
              <a:gd name="T10" fmla="*/ 2147483647 w 21"/>
              <a:gd name="T11" fmla="*/ 2147483647 h 18"/>
              <a:gd name="T12" fmla="*/ 2147483647 w 21"/>
              <a:gd name="T13" fmla="*/ 2147483647 h 18"/>
              <a:gd name="T14" fmla="*/ 2147483647 w 21"/>
              <a:gd name="T15" fmla="*/ 2147483647 h 18"/>
              <a:gd name="T16" fmla="*/ 2147483647 w 21"/>
              <a:gd name="T17" fmla="*/ 2147483647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18"/>
              <a:gd name="T29" fmla="*/ 21 w 21"/>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18">
                <a:moveTo>
                  <a:pt x="7" y="11"/>
                </a:moveTo>
                <a:cubicBezTo>
                  <a:pt x="0" y="8"/>
                  <a:pt x="0" y="8"/>
                  <a:pt x="0" y="8"/>
                </a:cubicBezTo>
                <a:cubicBezTo>
                  <a:pt x="0" y="8"/>
                  <a:pt x="0" y="8"/>
                  <a:pt x="0" y="8"/>
                </a:cubicBezTo>
                <a:cubicBezTo>
                  <a:pt x="11" y="5"/>
                  <a:pt x="11" y="5"/>
                  <a:pt x="11" y="5"/>
                </a:cubicBezTo>
                <a:cubicBezTo>
                  <a:pt x="14" y="3"/>
                  <a:pt x="17" y="1"/>
                  <a:pt x="21" y="0"/>
                </a:cubicBezTo>
                <a:cubicBezTo>
                  <a:pt x="18" y="3"/>
                  <a:pt x="16" y="5"/>
                  <a:pt x="14" y="8"/>
                </a:cubicBezTo>
                <a:cubicBezTo>
                  <a:pt x="8" y="18"/>
                  <a:pt x="8" y="18"/>
                  <a:pt x="8" y="18"/>
                </a:cubicBezTo>
                <a:cubicBezTo>
                  <a:pt x="8" y="18"/>
                  <a:pt x="8" y="18"/>
                  <a:pt x="8" y="18"/>
                </a:cubicBezTo>
                <a:lnTo>
                  <a:pt x="7" y="11"/>
                </a:lnTo>
                <a:close/>
              </a:path>
            </a:pathLst>
          </a:custGeom>
          <a:solidFill>
            <a:srgbClr val="000000"/>
          </a:solidFill>
          <a:ln w="9525">
            <a:noFill/>
            <a:round/>
            <a:headEnd/>
            <a:tailEnd/>
          </a:ln>
        </p:spPr>
        <p:txBody>
          <a:bodyPr/>
          <a:lstStyle/>
          <a:p>
            <a:endParaRPr lang="en-US"/>
          </a:p>
        </p:txBody>
      </p:sp>
      <p:sp>
        <p:nvSpPr>
          <p:cNvPr id="72" name="Line 66"/>
          <p:cNvSpPr>
            <a:spLocks noChangeShapeType="1"/>
          </p:cNvSpPr>
          <p:nvPr/>
        </p:nvSpPr>
        <p:spPr bwMode="auto">
          <a:xfrm flipH="1">
            <a:off x="7867650" y="3270250"/>
            <a:ext cx="231775" cy="215900"/>
          </a:xfrm>
          <a:prstGeom prst="line">
            <a:avLst/>
          </a:prstGeom>
          <a:noFill/>
          <a:ln w="17463">
            <a:solidFill>
              <a:srgbClr val="000000"/>
            </a:solidFill>
            <a:miter lim="800000"/>
            <a:headEnd/>
            <a:tailEnd/>
          </a:ln>
        </p:spPr>
        <p:txBody>
          <a:bodyPr/>
          <a:lstStyle/>
          <a:p>
            <a:endParaRPr lang="en-US"/>
          </a:p>
        </p:txBody>
      </p:sp>
      <p:sp>
        <p:nvSpPr>
          <p:cNvPr id="73" name="Freeform 67"/>
          <p:cNvSpPr>
            <a:spLocks/>
          </p:cNvSpPr>
          <p:nvPr/>
        </p:nvSpPr>
        <p:spPr bwMode="auto">
          <a:xfrm>
            <a:off x="7808913" y="3443288"/>
            <a:ext cx="92075" cy="103187"/>
          </a:xfrm>
          <a:custGeom>
            <a:avLst/>
            <a:gdLst>
              <a:gd name="T0" fmla="*/ 2147483647 w 20"/>
              <a:gd name="T1" fmla="*/ 2147483647 h 19"/>
              <a:gd name="T2" fmla="*/ 2147483647 w 20"/>
              <a:gd name="T3" fmla="*/ 2147483647 h 19"/>
              <a:gd name="T4" fmla="*/ 2147483647 w 20"/>
              <a:gd name="T5" fmla="*/ 2147483647 h 19"/>
              <a:gd name="T6" fmla="*/ 2147483647 w 20"/>
              <a:gd name="T7" fmla="*/ 2147483647 h 19"/>
              <a:gd name="T8" fmla="*/ 0 w 20"/>
              <a:gd name="T9" fmla="*/ 2147483647 h 19"/>
              <a:gd name="T10" fmla="*/ 2147483647 w 20"/>
              <a:gd name="T11" fmla="*/ 2147483647 h 19"/>
              <a:gd name="T12" fmla="*/ 2147483647 w 20"/>
              <a:gd name="T13" fmla="*/ 0 h 19"/>
              <a:gd name="T14" fmla="*/ 2147483647 w 20"/>
              <a:gd name="T15" fmla="*/ 0 h 19"/>
              <a:gd name="T16" fmla="*/ 2147483647 w 20"/>
              <a:gd name="T17" fmla="*/ 2147483647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9"/>
              <a:gd name="T29" fmla="*/ 20 w 20"/>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9">
                <a:moveTo>
                  <a:pt x="13" y="8"/>
                </a:moveTo>
                <a:cubicBezTo>
                  <a:pt x="20" y="10"/>
                  <a:pt x="20" y="10"/>
                  <a:pt x="20" y="10"/>
                </a:cubicBezTo>
                <a:cubicBezTo>
                  <a:pt x="20" y="10"/>
                  <a:pt x="20" y="10"/>
                  <a:pt x="20" y="10"/>
                </a:cubicBezTo>
                <a:cubicBezTo>
                  <a:pt x="10" y="14"/>
                  <a:pt x="10" y="14"/>
                  <a:pt x="10" y="14"/>
                </a:cubicBezTo>
                <a:cubicBezTo>
                  <a:pt x="6" y="15"/>
                  <a:pt x="3" y="17"/>
                  <a:pt x="0" y="19"/>
                </a:cubicBezTo>
                <a:cubicBezTo>
                  <a:pt x="2" y="16"/>
                  <a:pt x="4" y="13"/>
                  <a:pt x="7" y="10"/>
                </a:cubicBezTo>
                <a:cubicBezTo>
                  <a:pt x="12" y="0"/>
                  <a:pt x="12" y="0"/>
                  <a:pt x="12" y="0"/>
                </a:cubicBezTo>
                <a:cubicBezTo>
                  <a:pt x="12" y="0"/>
                  <a:pt x="12" y="0"/>
                  <a:pt x="12" y="0"/>
                </a:cubicBezTo>
                <a:lnTo>
                  <a:pt x="13" y="8"/>
                </a:lnTo>
                <a:close/>
              </a:path>
            </a:pathLst>
          </a:custGeom>
          <a:solidFill>
            <a:srgbClr val="000000"/>
          </a:solidFill>
          <a:ln w="9525">
            <a:noFill/>
            <a:round/>
            <a:headEnd/>
            <a:tailEnd/>
          </a:ln>
        </p:spPr>
        <p:txBody>
          <a:bodyPr/>
          <a:lstStyle/>
          <a:p>
            <a:endParaRPr lang="en-US"/>
          </a:p>
        </p:txBody>
      </p:sp>
      <p:sp>
        <p:nvSpPr>
          <p:cNvPr id="74" name="Freeform 68"/>
          <p:cNvSpPr>
            <a:spLocks/>
          </p:cNvSpPr>
          <p:nvPr/>
        </p:nvSpPr>
        <p:spPr bwMode="auto">
          <a:xfrm>
            <a:off x="7910513" y="3346450"/>
            <a:ext cx="96837" cy="103188"/>
          </a:xfrm>
          <a:custGeom>
            <a:avLst/>
            <a:gdLst>
              <a:gd name="T0" fmla="*/ 2147483647 w 21"/>
              <a:gd name="T1" fmla="*/ 2147483647 h 19"/>
              <a:gd name="T2" fmla="*/ 2147483647 w 21"/>
              <a:gd name="T3" fmla="*/ 2147483647 h 19"/>
              <a:gd name="T4" fmla="*/ 2147483647 w 21"/>
              <a:gd name="T5" fmla="*/ 2147483647 h 19"/>
              <a:gd name="T6" fmla="*/ 2147483647 w 21"/>
              <a:gd name="T7" fmla="*/ 2147483647 h 19"/>
              <a:gd name="T8" fmla="*/ 0 w 21"/>
              <a:gd name="T9" fmla="*/ 2147483647 h 19"/>
              <a:gd name="T10" fmla="*/ 2147483647 w 21"/>
              <a:gd name="T11" fmla="*/ 2147483647 h 19"/>
              <a:gd name="T12" fmla="*/ 2147483647 w 21"/>
              <a:gd name="T13" fmla="*/ 0 h 19"/>
              <a:gd name="T14" fmla="*/ 2147483647 w 21"/>
              <a:gd name="T15" fmla="*/ 0 h 19"/>
              <a:gd name="T16" fmla="*/ 2147483647 w 21"/>
              <a:gd name="T17" fmla="*/ 2147483647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
              <a:gd name="T28" fmla="*/ 0 h 19"/>
              <a:gd name="T29" fmla="*/ 21 w 21"/>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 h="19">
                <a:moveTo>
                  <a:pt x="14" y="8"/>
                </a:moveTo>
                <a:cubicBezTo>
                  <a:pt x="21" y="10"/>
                  <a:pt x="21" y="10"/>
                  <a:pt x="21" y="10"/>
                </a:cubicBezTo>
                <a:cubicBezTo>
                  <a:pt x="21" y="11"/>
                  <a:pt x="21" y="11"/>
                  <a:pt x="21" y="11"/>
                </a:cubicBezTo>
                <a:cubicBezTo>
                  <a:pt x="10" y="14"/>
                  <a:pt x="10" y="14"/>
                  <a:pt x="10" y="14"/>
                </a:cubicBezTo>
                <a:cubicBezTo>
                  <a:pt x="7" y="16"/>
                  <a:pt x="3" y="17"/>
                  <a:pt x="0" y="19"/>
                </a:cubicBezTo>
                <a:cubicBezTo>
                  <a:pt x="2" y="16"/>
                  <a:pt x="4" y="13"/>
                  <a:pt x="7" y="10"/>
                </a:cubicBezTo>
                <a:cubicBezTo>
                  <a:pt x="12" y="0"/>
                  <a:pt x="12" y="0"/>
                  <a:pt x="12" y="0"/>
                </a:cubicBezTo>
                <a:cubicBezTo>
                  <a:pt x="13" y="0"/>
                  <a:pt x="13" y="0"/>
                  <a:pt x="13" y="0"/>
                </a:cubicBezTo>
                <a:lnTo>
                  <a:pt x="14" y="8"/>
                </a:lnTo>
                <a:close/>
              </a:path>
            </a:pathLst>
          </a:custGeom>
          <a:solidFill>
            <a:srgbClr val="000000"/>
          </a:solidFill>
          <a:ln w="9525">
            <a:noFill/>
            <a:round/>
            <a:headEnd/>
            <a:tailEnd/>
          </a:ln>
        </p:spPr>
        <p:txBody>
          <a:bodyPr/>
          <a:lstStyle/>
          <a:p>
            <a:endParaRPr lang="en-US"/>
          </a:p>
        </p:txBody>
      </p:sp>
      <p:sp>
        <p:nvSpPr>
          <p:cNvPr id="75" name="Line 69"/>
          <p:cNvSpPr>
            <a:spLocks noChangeShapeType="1"/>
          </p:cNvSpPr>
          <p:nvPr/>
        </p:nvSpPr>
        <p:spPr bwMode="auto">
          <a:xfrm flipV="1">
            <a:off x="3943350" y="3389313"/>
            <a:ext cx="101600" cy="200025"/>
          </a:xfrm>
          <a:prstGeom prst="line">
            <a:avLst/>
          </a:prstGeom>
          <a:noFill/>
          <a:ln w="17463">
            <a:solidFill>
              <a:srgbClr val="000000"/>
            </a:solidFill>
            <a:miter lim="800000"/>
            <a:headEnd/>
            <a:tailEnd/>
          </a:ln>
        </p:spPr>
        <p:txBody>
          <a:bodyPr/>
          <a:lstStyle/>
          <a:p>
            <a:endParaRPr lang="en-US"/>
          </a:p>
        </p:txBody>
      </p:sp>
      <p:sp>
        <p:nvSpPr>
          <p:cNvPr id="76" name="Freeform 70"/>
          <p:cNvSpPr>
            <a:spLocks/>
          </p:cNvSpPr>
          <p:nvPr/>
        </p:nvSpPr>
        <p:spPr bwMode="auto">
          <a:xfrm>
            <a:off x="4008438" y="3306763"/>
            <a:ext cx="80962" cy="119062"/>
          </a:xfrm>
          <a:custGeom>
            <a:avLst/>
            <a:gdLst>
              <a:gd name="T0" fmla="*/ 2147483647 w 17"/>
              <a:gd name="T1" fmla="*/ 2147483647 h 22"/>
              <a:gd name="T2" fmla="*/ 0 w 17"/>
              <a:gd name="T3" fmla="*/ 2147483647 h 22"/>
              <a:gd name="T4" fmla="*/ 0 w 17"/>
              <a:gd name="T5" fmla="*/ 2147483647 h 22"/>
              <a:gd name="T6" fmla="*/ 2147483647 w 17"/>
              <a:gd name="T7" fmla="*/ 2147483647 h 22"/>
              <a:gd name="T8" fmla="*/ 2147483647 w 17"/>
              <a:gd name="T9" fmla="*/ 0 h 22"/>
              <a:gd name="T10" fmla="*/ 2147483647 w 17"/>
              <a:gd name="T11" fmla="*/ 2147483647 h 22"/>
              <a:gd name="T12" fmla="*/ 2147483647 w 17"/>
              <a:gd name="T13" fmla="*/ 2147483647 h 22"/>
              <a:gd name="T14" fmla="*/ 2147483647 w 17"/>
              <a:gd name="T15" fmla="*/ 2147483647 h 22"/>
              <a:gd name="T16" fmla="*/ 2147483647 w 17"/>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22"/>
              <a:gd name="T29" fmla="*/ 17 w 1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22">
                <a:moveTo>
                  <a:pt x="8" y="15"/>
                </a:moveTo>
                <a:cubicBezTo>
                  <a:pt x="0" y="16"/>
                  <a:pt x="0" y="16"/>
                  <a:pt x="0" y="16"/>
                </a:cubicBezTo>
                <a:cubicBezTo>
                  <a:pt x="0" y="15"/>
                  <a:pt x="0" y="15"/>
                  <a:pt x="0" y="15"/>
                </a:cubicBezTo>
                <a:cubicBezTo>
                  <a:pt x="9" y="8"/>
                  <a:pt x="9" y="8"/>
                  <a:pt x="9" y="8"/>
                </a:cubicBezTo>
                <a:cubicBezTo>
                  <a:pt x="11" y="6"/>
                  <a:pt x="14" y="3"/>
                  <a:pt x="17" y="0"/>
                </a:cubicBezTo>
                <a:cubicBezTo>
                  <a:pt x="15" y="4"/>
                  <a:pt x="14" y="7"/>
                  <a:pt x="13" y="11"/>
                </a:cubicBezTo>
                <a:cubicBezTo>
                  <a:pt x="11" y="22"/>
                  <a:pt x="11" y="22"/>
                  <a:pt x="11" y="22"/>
                </a:cubicBezTo>
                <a:cubicBezTo>
                  <a:pt x="11" y="22"/>
                  <a:pt x="11" y="22"/>
                  <a:pt x="11" y="22"/>
                </a:cubicBezTo>
                <a:lnTo>
                  <a:pt x="8" y="15"/>
                </a:lnTo>
                <a:close/>
              </a:path>
            </a:pathLst>
          </a:custGeom>
          <a:solidFill>
            <a:srgbClr val="000000"/>
          </a:solidFill>
          <a:ln w="9525">
            <a:noFill/>
            <a:round/>
            <a:headEnd/>
            <a:tailEnd/>
          </a:ln>
        </p:spPr>
        <p:txBody>
          <a:bodyPr/>
          <a:lstStyle/>
          <a:p>
            <a:endParaRPr lang="en-US"/>
          </a:p>
        </p:txBody>
      </p:sp>
      <p:sp>
        <p:nvSpPr>
          <p:cNvPr id="77" name="Freeform 71"/>
          <p:cNvSpPr>
            <a:spLocks/>
          </p:cNvSpPr>
          <p:nvPr/>
        </p:nvSpPr>
        <p:spPr bwMode="auto">
          <a:xfrm>
            <a:off x="3957638" y="3409950"/>
            <a:ext cx="79375" cy="119063"/>
          </a:xfrm>
          <a:custGeom>
            <a:avLst/>
            <a:gdLst>
              <a:gd name="T0" fmla="*/ 2147483647 w 17"/>
              <a:gd name="T1" fmla="*/ 2147483647 h 22"/>
              <a:gd name="T2" fmla="*/ 0 w 17"/>
              <a:gd name="T3" fmla="*/ 2147483647 h 22"/>
              <a:gd name="T4" fmla="*/ 0 w 17"/>
              <a:gd name="T5" fmla="*/ 2147483647 h 22"/>
              <a:gd name="T6" fmla="*/ 2147483647 w 17"/>
              <a:gd name="T7" fmla="*/ 2147483647 h 22"/>
              <a:gd name="T8" fmla="*/ 2147483647 w 17"/>
              <a:gd name="T9" fmla="*/ 0 h 22"/>
              <a:gd name="T10" fmla="*/ 2147483647 w 17"/>
              <a:gd name="T11" fmla="*/ 2147483647 h 22"/>
              <a:gd name="T12" fmla="*/ 2147483647 w 17"/>
              <a:gd name="T13" fmla="*/ 2147483647 h 22"/>
              <a:gd name="T14" fmla="*/ 2147483647 w 17"/>
              <a:gd name="T15" fmla="*/ 2147483647 h 22"/>
              <a:gd name="T16" fmla="*/ 2147483647 w 17"/>
              <a:gd name="T17" fmla="*/ 2147483647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22"/>
              <a:gd name="T29" fmla="*/ 17 w 17"/>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22">
                <a:moveTo>
                  <a:pt x="8" y="15"/>
                </a:moveTo>
                <a:cubicBezTo>
                  <a:pt x="0" y="15"/>
                  <a:pt x="0" y="15"/>
                  <a:pt x="0" y="15"/>
                </a:cubicBezTo>
                <a:cubicBezTo>
                  <a:pt x="0" y="15"/>
                  <a:pt x="0" y="15"/>
                  <a:pt x="0" y="15"/>
                </a:cubicBezTo>
                <a:cubicBezTo>
                  <a:pt x="9" y="8"/>
                  <a:pt x="9" y="8"/>
                  <a:pt x="9" y="8"/>
                </a:cubicBezTo>
                <a:cubicBezTo>
                  <a:pt x="12" y="5"/>
                  <a:pt x="14" y="3"/>
                  <a:pt x="17" y="0"/>
                </a:cubicBezTo>
                <a:cubicBezTo>
                  <a:pt x="15" y="4"/>
                  <a:pt x="14" y="7"/>
                  <a:pt x="13" y="11"/>
                </a:cubicBezTo>
                <a:cubicBezTo>
                  <a:pt x="11" y="22"/>
                  <a:pt x="11" y="22"/>
                  <a:pt x="11" y="22"/>
                </a:cubicBezTo>
                <a:cubicBezTo>
                  <a:pt x="11" y="22"/>
                  <a:pt x="11" y="22"/>
                  <a:pt x="11" y="22"/>
                </a:cubicBezTo>
                <a:lnTo>
                  <a:pt x="8" y="15"/>
                </a:lnTo>
                <a:close/>
              </a:path>
            </a:pathLst>
          </a:custGeom>
          <a:solidFill>
            <a:srgbClr val="000000"/>
          </a:solidFill>
          <a:ln w="9525">
            <a:noFill/>
            <a:round/>
            <a:headEnd/>
            <a:tailEnd/>
          </a:ln>
        </p:spPr>
        <p:txBody>
          <a:bodyPr/>
          <a:lstStyle/>
          <a:p>
            <a:endParaRPr lang="en-US"/>
          </a:p>
        </p:txBody>
      </p:sp>
      <p:sp>
        <p:nvSpPr>
          <p:cNvPr id="78" name="Rectangle 72"/>
          <p:cNvSpPr>
            <a:spLocks noChangeArrowheads="1"/>
          </p:cNvSpPr>
          <p:nvPr/>
        </p:nvSpPr>
        <p:spPr bwMode="auto">
          <a:xfrm>
            <a:off x="3951288" y="4786313"/>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79" name="Rectangle 73"/>
          <p:cNvSpPr>
            <a:spLocks noChangeArrowheads="1"/>
          </p:cNvSpPr>
          <p:nvPr/>
        </p:nvSpPr>
        <p:spPr bwMode="auto">
          <a:xfrm>
            <a:off x="4067175" y="48752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X</a:t>
            </a:r>
            <a:endParaRPr lang="en-US" sz="1400" i="1">
              <a:latin typeface="Tahoma" pitchFamily="34" charset="0"/>
            </a:endParaRPr>
          </a:p>
        </p:txBody>
      </p:sp>
      <p:sp>
        <p:nvSpPr>
          <p:cNvPr id="80" name="Rectangle 74"/>
          <p:cNvSpPr>
            <a:spLocks noChangeArrowheads="1"/>
          </p:cNvSpPr>
          <p:nvPr/>
        </p:nvSpPr>
        <p:spPr bwMode="auto">
          <a:xfrm>
            <a:off x="4146550" y="4786313"/>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81" name="Rectangle 75"/>
          <p:cNvSpPr>
            <a:spLocks noChangeArrowheads="1"/>
          </p:cNvSpPr>
          <p:nvPr/>
        </p:nvSpPr>
        <p:spPr bwMode="auto">
          <a:xfrm>
            <a:off x="4262438" y="48752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Y</a:t>
            </a:r>
            <a:endParaRPr lang="en-US" sz="1400" i="1">
              <a:latin typeface="Tahoma" pitchFamily="34" charset="0"/>
            </a:endParaRPr>
          </a:p>
        </p:txBody>
      </p:sp>
      <p:sp>
        <p:nvSpPr>
          <p:cNvPr id="82" name="Rectangle 76"/>
          <p:cNvSpPr>
            <a:spLocks noChangeArrowheads="1"/>
          </p:cNvSpPr>
          <p:nvPr/>
        </p:nvSpPr>
        <p:spPr bwMode="auto">
          <a:xfrm>
            <a:off x="5119688" y="4786313"/>
            <a:ext cx="215900"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83" name="Rectangle 77"/>
          <p:cNvSpPr>
            <a:spLocks noChangeArrowheads="1"/>
          </p:cNvSpPr>
          <p:nvPr/>
        </p:nvSpPr>
        <p:spPr bwMode="auto">
          <a:xfrm>
            <a:off x="5235575" y="4875213"/>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Z</a:t>
            </a:r>
            <a:endParaRPr lang="en-US" sz="1400" i="1">
              <a:latin typeface="Tahoma" pitchFamily="34" charset="0"/>
            </a:endParaRPr>
          </a:p>
        </p:txBody>
      </p:sp>
      <p:sp>
        <p:nvSpPr>
          <p:cNvPr id="84" name="Line 78"/>
          <p:cNvSpPr>
            <a:spLocks noChangeShapeType="1"/>
          </p:cNvSpPr>
          <p:nvPr/>
        </p:nvSpPr>
        <p:spPr bwMode="auto">
          <a:xfrm>
            <a:off x="4056063" y="5097463"/>
            <a:ext cx="1052512" cy="0"/>
          </a:xfrm>
          <a:prstGeom prst="line">
            <a:avLst/>
          </a:prstGeom>
          <a:noFill/>
          <a:ln w="11113">
            <a:solidFill>
              <a:srgbClr val="000000"/>
            </a:solidFill>
            <a:miter lim="800000"/>
            <a:headEnd/>
            <a:tailEnd/>
          </a:ln>
        </p:spPr>
        <p:txBody>
          <a:bodyPr/>
          <a:lstStyle/>
          <a:p>
            <a:endParaRPr lang="en-US"/>
          </a:p>
        </p:txBody>
      </p:sp>
      <p:sp>
        <p:nvSpPr>
          <p:cNvPr id="85" name="Freeform 79"/>
          <p:cNvSpPr>
            <a:spLocks/>
          </p:cNvSpPr>
          <p:nvPr/>
        </p:nvSpPr>
        <p:spPr bwMode="auto">
          <a:xfrm>
            <a:off x="5081588" y="5065713"/>
            <a:ext cx="103187" cy="68262"/>
          </a:xfrm>
          <a:custGeom>
            <a:avLst/>
            <a:gdLst>
              <a:gd name="T0" fmla="*/ 2147483647 w 22"/>
              <a:gd name="T1" fmla="*/ 2147483647 h 13"/>
              <a:gd name="T2" fmla="*/ 0 w 22"/>
              <a:gd name="T3" fmla="*/ 0 h 13"/>
              <a:gd name="T4" fmla="*/ 0 w 22"/>
              <a:gd name="T5" fmla="*/ 0 h 13"/>
              <a:gd name="T6" fmla="*/ 2147483647 w 22"/>
              <a:gd name="T7" fmla="*/ 2147483647 h 13"/>
              <a:gd name="T8" fmla="*/ 2147483647 w 22"/>
              <a:gd name="T9" fmla="*/ 2147483647 h 13"/>
              <a:gd name="T10" fmla="*/ 2147483647 w 22"/>
              <a:gd name="T11" fmla="*/ 2147483647 h 13"/>
              <a:gd name="T12" fmla="*/ 0 w 22"/>
              <a:gd name="T13" fmla="*/ 2147483647 h 13"/>
              <a:gd name="T14" fmla="*/ 0 w 22"/>
              <a:gd name="T15" fmla="*/ 2147483647 h 13"/>
              <a:gd name="T16" fmla="*/ 2147483647 w 22"/>
              <a:gd name="T17" fmla="*/ 2147483647 h 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3"/>
              <a:gd name="T29" fmla="*/ 22 w 22"/>
              <a:gd name="T30" fmla="*/ 13 h 1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3">
                <a:moveTo>
                  <a:pt x="4" y="6"/>
                </a:moveTo>
                <a:cubicBezTo>
                  <a:pt x="0" y="0"/>
                  <a:pt x="0" y="0"/>
                  <a:pt x="0" y="0"/>
                </a:cubicBezTo>
                <a:cubicBezTo>
                  <a:pt x="0" y="0"/>
                  <a:pt x="0" y="0"/>
                  <a:pt x="0" y="0"/>
                </a:cubicBezTo>
                <a:cubicBezTo>
                  <a:pt x="11" y="4"/>
                  <a:pt x="11" y="4"/>
                  <a:pt x="11" y="4"/>
                </a:cubicBezTo>
                <a:cubicBezTo>
                  <a:pt x="15" y="5"/>
                  <a:pt x="18" y="6"/>
                  <a:pt x="22" y="6"/>
                </a:cubicBezTo>
                <a:cubicBezTo>
                  <a:pt x="18" y="7"/>
                  <a:pt x="15" y="8"/>
                  <a:pt x="11" y="9"/>
                </a:cubicBezTo>
                <a:cubicBezTo>
                  <a:pt x="0" y="13"/>
                  <a:pt x="0" y="13"/>
                  <a:pt x="0" y="13"/>
                </a:cubicBezTo>
                <a:cubicBezTo>
                  <a:pt x="0" y="13"/>
                  <a:pt x="0" y="13"/>
                  <a:pt x="0" y="13"/>
                </a:cubicBezTo>
                <a:lnTo>
                  <a:pt x="4" y="6"/>
                </a:lnTo>
                <a:close/>
              </a:path>
            </a:pathLst>
          </a:custGeom>
          <a:solidFill>
            <a:srgbClr val="000000"/>
          </a:solidFill>
          <a:ln w="9525">
            <a:noFill/>
            <a:round/>
            <a:headEnd/>
            <a:tailEnd/>
          </a:ln>
        </p:spPr>
        <p:txBody>
          <a:bodyPr/>
          <a:lstStyle/>
          <a:p>
            <a:endParaRPr lang="en-US"/>
          </a:p>
        </p:txBody>
      </p:sp>
      <p:sp>
        <p:nvSpPr>
          <p:cNvPr id="86" name="Rectangle 80"/>
          <p:cNvSpPr>
            <a:spLocks noChangeArrowheads="1"/>
          </p:cNvSpPr>
          <p:nvPr/>
        </p:nvSpPr>
        <p:spPr bwMode="auto">
          <a:xfrm>
            <a:off x="871538" y="893763"/>
            <a:ext cx="2152650"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(a) </a:t>
            </a:r>
            <a:r>
              <a:rPr lang="en-US" sz="1400" b="1">
                <a:solidFill>
                  <a:srgbClr val="000000"/>
                </a:solidFill>
                <a:latin typeface="Myriad Pro"/>
              </a:rPr>
              <a:t>Existing Firm Response to Increase in Demand</a:t>
            </a:r>
            <a:endParaRPr lang="en-US" sz="1400" b="1">
              <a:latin typeface="Tahoma" pitchFamily="34" charset="0"/>
            </a:endParaRPr>
          </a:p>
        </p:txBody>
      </p:sp>
      <p:sp>
        <p:nvSpPr>
          <p:cNvPr id="87" name="Rectangle 81"/>
          <p:cNvSpPr>
            <a:spLocks noChangeArrowheads="1"/>
          </p:cNvSpPr>
          <p:nvPr/>
        </p:nvSpPr>
        <p:spPr bwMode="auto">
          <a:xfrm>
            <a:off x="3854450" y="898525"/>
            <a:ext cx="1876425" cy="8620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(b) </a:t>
            </a:r>
            <a:r>
              <a:rPr lang="en-US" sz="1400" b="1">
                <a:solidFill>
                  <a:srgbClr val="000000"/>
                </a:solidFill>
                <a:latin typeface="Myriad Pro"/>
              </a:rPr>
              <a:t>Short-Run and Long-Run Market Response to Increase in Demand</a:t>
            </a:r>
            <a:endParaRPr lang="en-US" sz="1400" b="1">
              <a:latin typeface="Tahoma" pitchFamily="34" charset="0"/>
            </a:endParaRPr>
          </a:p>
        </p:txBody>
      </p:sp>
      <p:sp>
        <p:nvSpPr>
          <p:cNvPr id="88" name="Line 82"/>
          <p:cNvSpPr>
            <a:spLocks noChangeShapeType="1"/>
          </p:cNvSpPr>
          <p:nvPr/>
        </p:nvSpPr>
        <p:spPr bwMode="auto">
          <a:xfrm flipV="1">
            <a:off x="4894263" y="2733675"/>
            <a:ext cx="685800" cy="1566863"/>
          </a:xfrm>
          <a:prstGeom prst="line">
            <a:avLst/>
          </a:prstGeom>
          <a:noFill/>
          <a:ln w="28575">
            <a:solidFill>
              <a:srgbClr val="EE313C"/>
            </a:solidFill>
            <a:miter lim="800000"/>
            <a:headEnd/>
            <a:tailEnd/>
          </a:ln>
        </p:spPr>
        <p:txBody>
          <a:bodyPr/>
          <a:lstStyle/>
          <a:p>
            <a:endParaRPr lang="en-US"/>
          </a:p>
        </p:txBody>
      </p:sp>
      <p:sp>
        <p:nvSpPr>
          <p:cNvPr id="89" name="Oval 83"/>
          <p:cNvSpPr>
            <a:spLocks noChangeArrowheads="1"/>
          </p:cNvSpPr>
          <p:nvPr/>
        </p:nvSpPr>
        <p:spPr bwMode="auto">
          <a:xfrm>
            <a:off x="5137150" y="3578225"/>
            <a:ext cx="92075" cy="109538"/>
          </a:xfrm>
          <a:prstGeom prst="ellipse">
            <a:avLst/>
          </a:prstGeom>
          <a:solidFill>
            <a:srgbClr val="000000"/>
          </a:solidFill>
          <a:ln w="9525">
            <a:noFill/>
            <a:round/>
            <a:headEnd/>
            <a:tailEnd/>
          </a:ln>
        </p:spPr>
        <p:txBody>
          <a:bodyPr/>
          <a:lstStyle/>
          <a:p>
            <a:endParaRPr lang="en-US"/>
          </a:p>
        </p:txBody>
      </p:sp>
      <p:sp>
        <p:nvSpPr>
          <p:cNvPr id="90" name="Line 84"/>
          <p:cNvSpPr>
            <a:spLocks noChangeShapeType="1"/>
          </p:cNvSpPr>
          <p:nvPr/>
        </p:nvSpPr>
        <p:spPr bwMode="auto">
          <a:xfrm>
            <a:off x="5226050" y="2625725"/>
            <a:ext cx="311150" cy="979488"/>
          </a:xfrm>
          <a:prstGeom prst="line">
            <a:avLst/>
          </a:prstGeom>
          <a:noFill/>
          <a:ln w="6350">
            <a:solidFill>
              <a:srgbClr val="000000"/>
            </a:solidFill>
            <a:miter lim="800000"/>
            <a:headEnd/>
            <a:tailEnd/>
          </a:ln>
        </p:spPr>
        <p:txBody>
          <a:bodyPr/>
          <a:lstStyle/>
          <a:p>
            <a:endParaRPr lang="en-US"/>
          </a:p>
        </p:txBody>
      </p:sp>
      <p:sp>
        <p:nvSpPr>
          <p:cNvPr id="91" name="Line 85"/>
          <p:cNvSpPr>
            <a:spLocks noChangeShapeType="1"/>
          </p:cNvSpPr>
          <p:nvPr/>
        </p:nvSpPr>
        <p:spPr bwMode="auto">
          <a:xfrm>
            <a:off x="1663700" y="2625725"/>
            <a:ext cx="65088" cy="855663"/>
          </a:xfrm>
          <a:prstGeom prst="line">
            <a:avLst/>
          </a:prstGeom>
          <a:noFill/>
          <a:ln w="6350">
            <a:solidFill>
              <a:srgbClr val="000000"/>
            </a:solidFill>
            <a:miter lim="800000"/>
            <a:headEnd/>
            <a:tailEnd/>
          </a:ln>
        </p:spPr>
        <p:txBody>
          <a:bodyPr/>
          <a:lstStyle/>
          <a:p>
            <a:endParaRPr lang="en-US"/>
          </a:p>
        </p:txBody>
      </p:sp>
      <p:sp>
        <p:nvSpPr>
          <p:cNvPr id="92" name="Freeform 86"/>
          <p:cNvSpPr>
            <a:spLocks/>
          </p:cNvSpPr>
          <p:nvPr/>
        </p:nvSpPr>
        <p:spPr bwMode="auto">
          <a:xfrm>
            <a:off x="1038225" y="1876425"/>
            <a:ext cx="1219200" cy="920750"/>
          </a:xfrm>
          <a:custGeom>
            <a:avLst/>
            <a:gdLst>
              <a:gd name="T0" fmla="*/ 2147483647 w 188"/>
              <a:gd name="T1" fmla="*/ 2147483647 h 170"/>
              <a:gd name="T2" fmla="*/ 2147483647 w 188"/>
              <a:gd name="T3" fmla="*/ 2147483647 h 170"/>
              <a:gd name="T4" fmla="*/ 2147483647 w 188"/>
              <a:gd name="T5" fmla="*/ 2147483647 h 170"/>
              <a:gd name="T6" fmla="*/ 0 w 188"/>
              <a:gd name="T7" fmla="*/ 2147483647 h 170"/>
              <a:gd name="T8" fmla="*/ 0 w 188"/>
              <a:gd name="T9" fmla="*/ 2147483647 h 170"/>
              <a:gd name="T10" fmla="*/ 2147483647 w 188"/>
              <a:gd name="T11" fmla="*/ 0 h 170"/>
              <a:gd name="T12" fmla="*/ 2147483647 w 188"/>
              <a:gd name="T13" fmla="*/ 0 h 170"/>
              <a:gd name="T14" fmla="*/ 2147483647 w 188"/>
              <a:gd name="T15" fmla="*/ 2147483647 h 170"/>
              <a:gd name="T16" fmla="*/ 2147483647 w 188"/>
              <a:gd name="T17" fmla="*/ 2147483647 h 1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8"/>
              <a:gd name="T28" fmla="*/ 0 h 170"/>
              <a:gd name="T29" fmla="*/ 188 w 188"/>
              <a:gd name="T30" fmla="*/ 170 h 1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8" h="170">
                <a:moveTo>
                  <a:pt x="188" y="154"/>
                </a:moveTo>
                <a:cubicBezTo>
                  <a:pt x="188" y="163"/>
                  <a:pt x="181" y="170"/>
                  <a:pt x="172" y="170"/>
                </a:cubicBezTo>
                <a:cubicBezTo>
                  <a:pt x="16" y="170"/>
                  <a:pt x="16" y="170"/>
                  <a:pt x="16" y="170"/>
                </a:cubicBezTo>
                <a:cubicBezTo>
                  <a:pt x="7" y="170"/>
                  <a:pt x="0" y="163"/>
                  <a:pt x="0" y="154"/>
                </a:cubicBezTo>
                <a:cubicBezTo>
                  <a:pt x="0" y="16"/>
                  <a:pt x="0" y="16"/>
                  <a:pt x="0" y="16"/>
                </a:cubicBezTo>
                <a:cubicBezTo>
                  <a:pt x="0" y="7"/>
                  <a:pt x="7" y="0"/>
                  <a:pt x="16" y="0"/>
                </a:cubicBezTo>
                <a:cubicBezTo>
                  <a:pt x="172" y="0"/>
                  <a:pt x="172" y="0"/>
                  <a:pt x="172" y="0"/>
                </a:cubicBezTo>
                <a:cubicBezTo>
                  <a:pt x="181" y="0"/>
                  <a:pt x="188" y="7"/>
                  <a:pt x="188" y="16"/>
                </a:cubicBezTo>
                <a:lnTo>
                  <a:pt x="188" y="154"/>
                </a:lnTo>
                <a:close/>
              </a:path>
            </a:pathLst>
          </a:custGeom>
          <a:solidFill>
            <a:srgbClr val="D7E2E0"/>
          </a:solidFill>
          <a:ln w="9525">
            <a:noFill/>
            <a:round/>
            <a:headEnd/>
            <a:tailEnd/>
          </a:ln>
        </p:spPr>
        <p:txBody>
          <a:bodyPr/>
          <a:lstStyle/>
          <a:p>
            <a:endParaRPr lang="en-US"/>
          </a:p>
        </p:txBody>
      </p:sp>
      <p:sp>
        <p:nvSpPr>
          <p:cNvPr id="93" name="Line 87"/>
          <p:cNvSpPr>
            <a:spLocks noChangeShapeType="1"/>
          </p:cNvSpPr>
          <p:nvPr/>
        </p:nvSpPr>
        <p:spPr bwMode="auto">
          <a:xfrm>
            <a:off x="7850188" y="2554288"/>
            <a:ext cx="68262" cy="900112"/>
          </a:xfrm>
          <a:prstGeom prst="line">
            <a:avLst/>
          </a:prstGeom>
          <a:noFill/>
          <a:ln w="6350">
            <a:solidFill>
              <a:srgbClr val="000000"/>
            </a:solidFill>
            <a:miter lim="800000"/>
            <a:headEnd/>
            <a:tailEnd/>
          </a:ln>
        </p:spPr>
        <p:txBody>
          <a:bodyPr/>
          <a:lstStyle/>
          <a:p>
            <a:endParaRPr lang="en-US"/>
          </a:p>
        </p:txBody>
      </p:sp>
      <p:sp>
        <p:nvSpPr>
          <p:cNvPr id="94" name="Freeform 88"/>
          <p:cNvSpPr>
            <a:spLocks/>
          </p:cNvSpPr>
          <p:nvPr/>
        </p:nvSpPr>
        <p:spPr bwMode="auto">
          <a:xfrm>
            <a:off x="6919913" y="1684338"/>
            <a:ext cx="1473200" cy="1119187"/>
          </a:xfrm>
          <a:custGeom>
            <a:avLst/>
            <a:gdLst>
              <a:gd name="T0" fmla="*/ 2147483647 w 256"/>
              <a:gd name="T1" fmla="*/ 2147483647 h 206"/>
              <a:gd name="T2" fmla="*/ 2147483647 w 256"/>
              <a:gd name="T3" fmla="*/ 2147483647 h 206"/>
              <a:gd name="T4" fmla="*/ 2147483647 w 256"/>
              <a:gd name="T5" fmla="*/ 2147483647 h 206"/>
              <a:gd name="T6" fmla="*/ 0 w 256"/>
              <a:gd name="T7" fmla="*/ 2147483647 h 206"/>
              <a:gd name="T8" fmla="*/ 0 w 256"/>
              <a:gd name="T9" fmla="*/ 2147483647 h 206"/>
              <a:gd name="T10" fmla="*/ 2147483647 w 256"/>
              <a:gd name="T11" fmla="*/ 0 h 206"/>
              <a:gd name="T12" fmla="*/ 2147483647 w 256"/>
              <a:gd name="T13" fmla="*/ 0 h 206"/>
              <a:gd name="T14" fmla="*/ 2147483647 w 256"/>
              <a:gd name="T15" fmla="*/ 2147483647 h 206"/>
              <a:gd name="T16" fmla="*/ 2147483647 w 256"/>
              <a:gd name="T17" fmla="*/ 2147483647 h 2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6"/>
              <a:gd name="T28" fmla="*/ 0 h 206"/>
              <a:gd name="T29" fmla="*/ 256 w 256"/>
              <a:gd name="T30" fmla="*/ 206 h 2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6" h="206">
                <a:moveTo>
                  <a:pt x="256" y="190"/>
                </a:moveTo>
                <a:cubicBezTo>
                  <a:pt x="256" y="199"/>
                  <a:pt x="249" y="206"/>
                  <a:pt x="240" y="206"/>
                </a:cubicBezTo>
                <a:cubicBezTo>
                  <a:pt x="16" y="206"/>
                  <a:pt x="16" y="206"/>
                  <a:pt x="16" y="206"/>
                </a:cubicBezTo>
                <a:cubicBezTo>
                  <a:pt x="7" y="206"/>
                  <a:pt x="0" y="199"/>
                  <a:pt x="0" y="190"/>
                </a:cubicBezTo>
                <a:cubicBezTo>
                  <a:pt x="0" y="16"/>
                  <a:pt x="0" y="16"/>
                  <a:pt x="0" y="16"/>
                </a:cubicBezTo>
                <a:cubicBezTo>
                  <a:pt x="0" y="7"/>
                  <a:pt x="7" y="0"/>
                  <a:pt x="16" y="0"/>
                </a:cubicBezTo>
                <a:cubicBezTo>
                  <a:pt x="240" y="0"/>
                  <a:pt x="240" y="0"/>
                  <a:pt x="240" y="0"/>
                </a:cubicBezTo>
                <a:cubicBezTo>
                  <a:pt x="249" y="0"/>
                  <a:pt x="256" y="7"/>
                  <a:pt x="256" y="16"/>
                </a:cubicBezTo>
                <a:lnTo>
                  <a:pt x="256" y="190"/>
                </a:lnTo>
                <a:close/>
              </a:path>
            </a:pathLst>
          </a:custGeom>
          <a:solidFill>
            <a:srgbClr val="D7E2E0"/>
          </a:solidFill>
          <a:ln w="9525">
            <a:noFill/>
            <a:round/>
            <a:headEnd/>
            <a:tailEnd/>
          </a:ln>
        </p:spPr>
        <p:txBody>
          <a:bodyPr/>
          <a:lstStyle/>
          <a:p>
            <a:endParaRPr lang="en-US"/>
          </a:p>
        </p:txBody>
      </p:sp>
      <p:sp>
        <p:nvSpPr>
          <p:cNvPr id="95" name="Rectangle 89"/>
          <p:cNvSpPr>
            <a:spLocks noChangeArrowheads="1"/>
          </p:cNvSpPr>
          <p:nvPr/>
        </p:nvSpPr>
        <p:spPr bwMode="auto">
          <a:xfrm>
            <a:off x="6386513" y="892175"/>
            <a:ext cx="2152650" cy="6477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(c) </a:t>
            </a:r>
            <a:r>
              <a:rPr lang="en-US" sz="1400" b="1">
                <a:solidFill>
                  <a:srgbClr val="000000"/>
                </a:solidFill>
                <a:latin typeface="Myriad Pro"/>
              </a:rPr>
              <a:t>Existing Firm Response to New Entrants</a:t>
            </a:r>
            <a:endParaRPr lang="en-US" sz="1400" b="1">
              <a:latin typeface="Tahoma" pitchFamily="34" charset="0"/>
            </a:endParaRPr>
          </a:p>
        </p:txBody>
      </p:sp>
      <p:sp>
        <p:nvSpPr>
          <p:cNvPr id="96" name="Rectangle 90"/>
          <p:cNvSpPr>
            <a:spLocks noChangeArrowheads="1"/>
          </p:cNvSpPr>
          <p:nvPr/>
        </p:nvSpPr>
        <p:spPr bwMode="auto">
          <a:xfrm>
            <a:off x="222250" y="1252538"/>
            <a:ext cx="56832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a:t>
            </a:r>
            <a:endParaRPr lang="en-US" sz="1400">
              <a:latin typeface="Tahoma" pitchFamily="34" charset="0"/>
            </a:endParaRPr>
          </a:p>
        </p:txBody>
      </p:sp>
      <p:sp>
        <p:nvSpPr>
          <p:cNvPr id="97" name="Rectangle 91"/>
          <p:cNvSpPr>
            <a:spLocks noChangeArrowheads="1"/>
          </p:cNvSpPr>
          <p:nvPr/>
        </p:nvSpPr>
        <p:spPr bwMode="auto">
          <a:xfrm>
            <a:off x="6127750" y="1670050"/>
            <a:ext cx="56832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a:t>
            </a:r>
            <a:endParaRPr lang="en-US" sz="1400">
              <a:latin typeface="Tahoma" pitchFamily="34" charset="0"/>
            </a:endParaRPr>
          </a:p>
        </p:txBody>
      </p:sp>
      <p:sp>
        <p:nvSpPr>
          <p:cNvPr id="98" name="Freeform 92"/>
          <p:cNvSpPr>
            <a:spLocks/>
          </p:cNvSpPr>
          <p:nvPr/>
        </p:nvSpPr>
        <p:spPr bwMode="auto">
          <a:xfrm>
            <a:off x="3516313" y="1671638"/>
            <a:ext cx="2438400" cy="3081337"/>
          </a:xfrm>
          <a:custGeom>
            <a:avLst/>
            <a:gdLst>
              <a:gd name="T0" fmla="*/ 2147483647 w 1236"/>
              <a:gd name="T1" fmla="*/ 2147483647 h 1342"/>
              <a:gd name="T2" fmla="*/ 0 w 1236"/>
              <a:gd name="T3" fmla="*/ 2147483647 h 1342"/>
              <a:gd name="T4" fmla="*/ 0 w 1236"/>
              <a:gd name="T5" fmla="*/ 0 h 1342"/>
              <a:gd name="T6" fmla="*/ 0 60000 65536"/>
              <a:gd name="T7" fmla="*/ 0 60000 65536"/>
              <a:gd name="T8" fmla="*/ 0 60000 65536"/>
              <a:gd name="T9" fmla="*/ 0 w 1236"/>
              <a:gd name="T10" fmla="*/ 0 h 1342"/>
              <a:gd name="T11" fmla="*/ 1236 w 1236"/>
              <a:gd name="T12" fmla="*/ 1342 h 1342"/>
            </a:gdLst>
            <a:ahLst/>
            <a:cxnLst>
              <a:cxn ang="T6">
                <a:pos x="T0" y="T1"/>
              </a:cxn>
              <a:cxn ang="T7">
                <a:pos x="T2" y="T3"/>
              </a:cxn>
              <a:cxn ang="T8">
                <a:pos x="T4" y="T5"/>
              </a:cxn>
            </a:cxnLst>
            <a:rect l="T9" t="T10" r="T11" b="T12"/>
            <a:pathLst>
              <a:path w="1236" h="1342">
                <a:moveTo>
                  <a:pt x="1236" y="1342"/>
                </a:moveTo>
                <a:lnTo>
                  <a:pt x="0" y="1342"/>
                </a:lnTo>
                <a:lnTo>
                  <a:pt x="0" y="0"/>
                </a:lnTo>
              </a:path>
            </a:pathLst>
          </a:custGeom>
          <a:noFill/>
          <a:ln w="6350">
            <a:solidFill>
              <a:srgbClr val="000000"/>
            </a:solidFill>
            <a:miter lim="800000"/>
            <a:headEnd/>
            <a:tailEnd/>
          </a:ln>
        </p:spPr>
        <p:txBody>
          <a:bodyPr/>
          <a:lstStyle/>
          <a:p>
            <a:endParaRPr lang="en-US"/>
          </a:p>
        </p:txBody>
      </p:sp>
      <p:sp>
        <p:nvSpPr>
          <p:cNvPr id="99" name="Rectangle 93"/>
          <p:cNvSpPr>
            <a:spLocks noChangeArrowheads="1"/>
          </p:cNvSpPr>
          <p:nvPr/>
        </p:nvSpPr>
        <p:spPr bwMode="auto">
          <a:xfrm>
            <a:off x="4008438" y="5273675"/>
            <a:ext cx="1231900"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Increase in output from new  entrants</a:t>
            </a:r>
            <a:endParaRPr lang="en-US" sz="1400">
              <a:latin typeface="Tahoma" pitchFamily="34" charset="0"/>
            </a:endParaRPr>
          </a:p>
        </p:txBody>
      </p:sp>
      <p:sp>
        <p:nvSpPr>
          <p:cNvPr id="100" name="Rectangle 94"/>
          <p:cNvSpPr>
            <a:spLocks noChangeArrowheads="1"/>
          </p:cNvSpPr>
          <p:nvPr/>
        </p:nvSpPr>
        <p:spPr bwMode="auto">
          <a:xfrm>
            <a:off x="1114425" y="1931988"/>
            <a:ext cx="1093788" cy="8604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An increase in demand raises price and profit.</a:t>
            </a:r>
            <a:endParaRPr lang="en-US" sz="1400">
              <a:latin typeface="Tahoma" pitchFamily="34" charset="0"/>
            </a:endParaRPr>
          </a:p>
        </p:txBody>
      </p:sp>
      <p:sp>
        <p:nvSpPr>
          <p:cNvPr id="101" name="Rectangle 95"/>
          <p:cNvSpPr>
            <a:spLocks noChangeArrowheads="1"/>
          </p:cNvSpPr>
          <p:nvPr/>
        </p:nvSpPr>
        <p:spPr bwMode="auto">
          <a:xfrm>
            <a:off x="4564063" y="1757363"/>
            <a:ext cx="757237" cy="8620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Long-run industry supply curve,</a:t>
            </a:r>
            <a:endParaRPr lang="en-US" sz="1400">
              <a:latin typeface="Tahoma" pitchFamily="34" charset="0"/>
            </a:endParaRPr>
          </a:p>
        </p:txBody>
      </p:sp>
      <p:sp>
        <p:nvSpPr>
          <p:cNvPr id="102" name="Rectangle 96"/>
          <p:cNvSpPr>
            <a:spLocks noChangeArrowheads="1"/>
          </p:cNvSpPr>
          <p:nvPr/>
        </p:nvSpPr>
        <p:spPr bwMode="auto">
          <a:xfrm>
            <a:off x="6967538" y="1722438"/>
            <a:ext cx="1371600" cy="10779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Higher industry output from new entrants drive price and profit back down.</a:t>
            </a:r>
            <a:endParaRPr lang="en-US" sz="1400">
              <a:latin typeface="Tahoma" pitchFamily="34" charset="0"/>
            </a:endParaRPr>
          </a:p>
        </p:txBody>
      </p:sp>
      <p:sp>
        <p:nvSpPr>
          <p:cNvPr id="103" name="Rectangle 97"/>
          <p:cNvSpPr>
            <a:spLocks noChangeArrowheads="1"/>
          </p:cNvSpPr>
          <p:nvPr/>
        </p:nvSpPr>
        <p:spPr bwMode="auto">
          <a:xfrm>
            <a:off x="5368925" y="4865688"/>
            <a:ext cx="6477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Quantity</a:t>
            </a:r>
            <a:endParaRPr lang="en-US" sz="1400">
              <a:latin typeface="Tahoma" pitchFamily="34" charset="0"/>
            </a:endParaRPr>
          </a:p>
        </p:txBody>
      </p:sp>
      <p:sp>
        <p:nvSpPr>
          <p:cNvPr id="104" name="Rectangle 98"/>
          <p:cNvSpPr>
            <a:spLocks noChangeArrowheads="1"/>
          </p:cNvSpPr>
          <p:nvPr/>
        </p:nvSpPr>
        <p:spPr bwMode="auto">
          <a:xfrm>
            <a:off x="7710488" y="4852988"/>
            <a:ext cx="6477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Quantity</a:t>
            </a:r>
            <a:endParaRPr lang="en-US" sz="14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22" presetClass="entr" presetSubtype="8"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left)">
                                      <p:cBhvr>
                                        <p:cTn id="34" dur="500"/>
                                        <p:tgtEl>
                                          <p:spTgt spid="31"/>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wipe(right)">
                                      <p:cBhvr>
                                        <p:cTn id="47" dur="500"/>
                                        <p:tgtEl>
                                          <p:spTgt spid="43"/>
                                        </p:tgtEl>
                                      </p:cBhvr>
                                    </p:animEffect>
                                  </p:childTnLst>
                                </p:cTn>
                              </p:par>
                              <p:par>
                                <p:cTn id="48" presetID="1" presetClass="entr" presetSubtype="0" fill="hold" grpId="0" nodeType="withEffect">
                                  <p:stCondLst>
                                    <p:cond delay="0"/>
                                  </p:stCondLst>
                                  <p:childTnLst>
                                    <p:set>
                                      <p:cBhvr>
                                        <p:cTn id="49" dur="1" fill="hold">
                                          <p:stCondLst>
                                            <p:cond delay="0"/>
                                          </p:stCondLst>
                                        </p:cTn>
                                        <p:tgtEl>
                                          <p:spTgt spid="5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5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3"/>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childTnLst>
                                </p:cTn>
                              </p:par>
                              <p:par>
                                <p:cTn id="56" presetID="22" presetClass="entr" presetSubtype="8" fill="hold" grpId="0"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left)">
                                      <p:cBhvr>
                                        <p:cTn id="58" dur="500"/>
                                        <p:tgtEl>
                                          <p:spTgt spid="45"/>
                                        </p:tgtEl>
                                      </p:cBhvr>
                                    </p:animEffect>
                                  </p:childTnLst>
                                </p:cTn>
                              </p:par>
                              <p:par>
                                <p:cTn id="59" presetID="1"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wipe(left)">
                                      <p:cBhvr>
                                        <p:cTn id="81" dur="500"/>
                                        <p:tgtEl>
                                          <p:spTgt spid="38"/>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37"/>
                                        </p:tgtEl>
                                        <p:attrNameLst>
                                          <p:attrName>style.visibility</p:attrName>
                                        </p:attrNameLst>
                                      </p:cBhvr>
                                      <p:to>
                                        <p:strVal val="visible"/>
                                      </p:to>
                                    </p:set>
                                    <p:animEffect transition="in" filter="wipe(left)">
                                      <p:cBhvr>
                                        <p:cTn id="84" dur="500"/>
                                        <p:tgtEl>
                                          <p:spTgt spid="37"/>
                                        </p:tgtEl>
                                      </p:cBhvr>
                                    </p:animEffect>
                                  </p:childTnLst>
                                </p:cTn>
                              </p:par>
                              <p:par>
                                <p:cTn id="85" presetID="1"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0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100"/>
                                        </p:tgtEl>
                                        <p:attrNameLst>
                                          <p:attrName>style.visibility</p:attrName>
                                        </p:attrNameLst>
                                      </p:cBhvr>
                                      <p:to>
                                        <p:strVal val="visible"/>
                                      </p:to>
                                    </p:set>
                                    <p:animEffect transition="in" filter="wipe(left)">
                                      <p:cBhvr>
                                        <p:cTn id="115" dur="500"/>
                                        <p:tgtEl>
                                          <p:spTgt spid="100"/>
                                        </p:tgtEl>
                                      </p:cBhvr>
                                    </p:animEffect>
                                  </p:childTnLst>
                                </p:cTn>
                              </p:par>
                              <p:par>
                                <p:cTn id="116" presetID="1" presetClass="entr" presetSubtype="0" fill="hold" grpId="0" nodeType="withEffect">
                                  <p:stCondLst>
                                    <p:cond delay="0"/>
                                  </p:stCondLst>
                                  <p:childTnLst>
                                    <p:set>
                                      <p:cBhvr>
                                        <p:cTn id="117" dur="1" fill="hold">
                                          <p:stCondLst>
                                            <p:cond delay="0"/>
                                          </p:stCondLst>
                                        </p:cTn>
                                        <p:tgtEl>
                                          <p:spTgt spid="92"/>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69"/>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54"/>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71"/>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55"/>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91"/>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77"/>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46"/>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58"/>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59"/>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49"/>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19"/>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0"/>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36"/>
                                        </p:tgtEl>
                                        <p:attrNameLst>
                                          <p:attrName>style.visibility</p:attrName>
                                        </p:attrNameLst>
                                      </p:cBhvr>
                                      <p:to>
                                        <p:strVal val="visible"/>
                                      </p:to>
                                    </p:set>
                                  </p:childTnLst>
                                </p:cTn>
                              </p:par>
                              <p:par>
                                <p:cTn id="144" presetID="22" presetClass="entr" presetSubtype="8" fill="hold" grpId="0" nodeType="withEffect">
                                  <p:stCondLst>
                                    <p:cond delay="0"/>
                                  </p:stCondLst>
                                  <p:childTnLst>
                                    <p:set>
                                      <p:cBhvr>
                                        <p:cTn id="145" dur="1" fill="hold">
                                          <p:stCondLst>
                                            <p:cond delay="0"/>
                                          </p:stCondLst>
                                        </p:cTn>
                                        <p:tgtEl>
                                          <p:spTgt spid="44"/>
                                        </p:tgtEl>
                                        <p:attrNameLst>
                                          <p:attrName>style.visibility</p:attrName>
                                        </p:attrNameLst>
                                      </p:cBhvr>
                                      <p:to>
                                        <p:strVal val="visible"/>
                                      </p:to>
                                    </p:set>
                                    <p:animEffect transition="in" filter="wipe(left)">
                                      <p:cBhvr>
                                        <p:cTn id="146" dur="500"/>
                                        <p:tgtEl>
                                          <p:spTgt spid="44"/>
                                        </p:tgtEl>
                                      </p:cBhvr>
                                    </p:animEffect>
                                  </p:childTnLst>
                                </p:cTn>
                              </p:par>
                              <p:par>
                                <p:cTn id="147" presetID="1" presetClass="entr" presetSubtype="0" fill="hold" grpId="0" nodeType="withEffect">
                                  <p:stCondLst>
                                    <p:cond delay="0"/>
                                  </p:stCondLst>
                                  <p:childTnLst>
                                    <p:set>
                                      <p:cBhvr>
                                        <p:cTn id="148" dur="1" fill="hold">
                                          <p:stCondLst>
                                            <p:cond delay="0"/>
                                          </p:stCondLst>
                                        </p:cTn>
                                        <p:tgtEl>
                                          <p:spTgt spid="80"/>
                                        </p:tgtEl>
                                        <p:attrNameLst>
                                          <p:attrName>style.visibility</p:attrName>
                                        </p:attrNameLst>
                                      </p:cBhvr>
                                      <p:to>
                                        <p:strVal val="visible"/>
                                      </p:to>
                                    </p:set>
                                  </p:childTnLst>
                                </p:cTn>
                              </p:par>
                              <p:par>
                                <p:cTn id="149" presetID="1" presetClass="entr" presetSubtype="0" fill="hold" grpId="1" nodeType="withEffect">
                                  <p:stCondLst>
                                    <p:cond delay="0"/>
                                  </p:stCondLst>
                                  <p:childTnLst>
                                    <p:set>
                                      <p:cBhvr>
                                        <p:cTn id="150" dur="1" fill="hold">
                                          <p:stCondLst>
                                            <p:cond delay="0"/>
                                          </p:stCondLst>
                                        </p:cTn>
                                        <p:tgtEl>
                                          <p:spTgt spid="4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76"/>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5"/>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81"/>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41"/>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2"/>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5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68"/>
                                        </p:tgtEl>
                                        <p:attrNameLst>
                                          <p:attrName>style.visibility</p:attrName>
                                        </p:attrNameLst>
                                      </p:cBhvr>
                                      <p:to>
                                        <p:strVal val="visible"/>
                                      </p:to>
                                    </p:set>
                                  </p:childTnLst>
                                </p:cTn>
                              </p:par>
                              <p:par>
                                <p:cTn id="171" presetID="22" presetClass="entr" presetSubtype="2" fill="hold" grpId="0" nodeType="withEffect">
                                  <p:stCondLst>
                                    <p:cond delay="0"/>
                                  </p:stCondLst>
                                  <p:childTnLst>
                                    <p:set>
                                      <p:cBhvr>
                                        <p:cTn id="172" dur="1" fill="hold">
                                          <p:stCondLst>
                                            <p:cond delay="0"/>
                                          </p:stCondLst>
                                        </p:cTn>
                                        <p:tgtEl>
                                          <p:spTgt spid="88"/>
                                        </p:tgtEl>
                                        <p:attrNameLst>
                                          <p:attrName>style.visibility</p:attrName>
                                        </p:attrNameLst>
                                      </p:cBhvr>
                                      <p:to>
                                        <p:strVal val="visible"/>
                                      </p:to>
                                    </p:set>
                                    <p:animEffect transition="in" filter="wipe(right)">
                                      <p:cBhvr>
                                        <p:cTn id="173" dur="500"/>
                                        <p:tgtEl>
                                          <p:spTgt spid="88"/>
                                        </p:tgtEl>
                                      </p:cBhvr>
                                    </p:animEffect>
                                  </p:childTnLst>
                                </p:cTn>
                              </p:par>
                              <p:par>
                                <p:cTn id="174" presetID="1" presetClass="entr" presetSubtype="0" fill="hold" grpId="0" nodeType="withEffect">
                                  <p:stCondLst>
                                    <p:cond delay="0"/>
                                  </p:stCondLst>
                                  <p:childTnLst>
                                    <p:set>
                                      <p:cBhvr>
                                        <p:cTn id="175" dur="1" fill="hold">
                                          <p:stCondLst>
                                            <p:cond delay="0"/>
                                          </p:stCondLst>
                                        </p:cTn>
                                        <p:tgtEl>
                                          <p:spTgt spid="90"/>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101"/>
                                        </p:tgtEl>
                                        <p:attrNameLst>
                                          <p:attrName>style.visibility</p:attrName>
                                        </p:attrNameLst>
                                      </p:cBhvr>
                                      <p:to>
                                        <p:strVal val="visible"/>
                                      </p:to>
                                    </p:set>
                                  </p:childTnLst>
                                </p:cTn>
                              </p:par>
                              <p:par>
                                <p:cTn id="178" presetID="1" presetClass="entr" presetSubtype="0" fill="hold" grpId="0" nodeType="withEffect">
                                  <p:stCondLst>
                                    <p:cond delay="0"/>
                                  </p:stCondLst>
                                  <p:childTnLst>
                                    <p:set>
                                      <p:cBhvr>
                                        <p:cTn id="179" dur="1" fill="hold">
                                          <p:stCondLst>
                                            <p:cond delay="0"/>
                                          </p:stCondLst>
                                        </p:cTn>
                                        <p:tgtEl>
                                          <p:spTgt spid="89"/>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93"/>
                                        </p:tgtEl>
                                        <p:attrNameLst>
                                          <p:attrName>style.visibility</p:attrName>
                                        </p:attrNameLst>
                                      </p:cBhvr>
                                      <p:to>
                                        <p:strVal val="visible"/>
                                      </p:to>
                                    </p:set>
                                  </p:childTnLst>
                                </p:cTn>
                              </p:par>
                              <p:par>
                                <p:cTn id="182" presetID="22" presetClass="entr" presetSubtype="8" fill="hold" grpId="0" nodeType="withEffect">
                                  <p:stCondLst>
                                    <p:cond delay="0"/>
                                  </p:stCondLst>
                                  <p:childTnLst>
                                    <p:set>
                                      <p:cBhvr>
                                        <p:cTn id="183" dur="1" fill="hold">
                                          <p:stCondLst>
                                            <p:cond delay="0"/>
                                          </p:stCondLst>
                                        </p:cTn>
                                        <p:tgtEl>
                                          <p:spTgt spid="102"/>
                                        </p:tgtEl>
                                        <p:attrNameLst>
                                          <p:attrName>style.visibility</p:attrName>
                                        </p:attrNameLst>
                                      </p:cBhvr>
                                      <p:to>
                                        <p:strVal val="visible"/>
                                      </p:to>
                                    </p:set>
                                    <p:animEffect transition="in" filter="wipe(left)">
                                      <p:cBhvr>
                                        <p:cTn id="184" dur="500"/>
                                        <p:tgtEl>
                                          <p:spTgt spid="102"/>
                                        </p:tgtEl>
                                      </p:cBhvr>
                                    </p:animEffect>
                                  </p:childTnLst>
                                </p:cTn>
                              </p:par>
                              <p:par>
                                <p:cTn id="185" presetID="1" presetClass="entr" presetSubtype="0" fill="hold" grpId="0" nodeType="withEffect">
                                  <p:stCondLst>
                                    <p:cond delay="0"/>
                                  </p:stCondLst>
                                  <p:childTnLst>
                                    <p:set>
                                      <p:cBhvr>
                                        <p:cTn id="186" dur="1" fill="hold">
                                          <p:stCondLst>
                                            <p:cond delay="0"/>
                                          </p:stCondLst>
                                        </p:cTn>
                                        <p:tgtEl>
                                          <p:spTgt spid="9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67"/>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65"/>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64"/>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0"/>
                                        </p:tgtEl>
                                        <p:attrNameLst>
                                          <p:attrName>style.visibility</p:attrName>
                                        </p:attrNameLst>
                                      </p:cBhvr>
                                      <p:to>
                                        <p:strVal val="visible"/>
                                      </p:to>
                                    </p:set>
                                  </p:childTnLst>
                                </p:cTn>
                              </p:par>
                              <p:par>
                                <p:cTn id="197" presetID="22" presetClass="entr" presetSubtype="8" fill="hold" grpId="0" nodeType="withEffect">
                                  <p:stCondLst>
                                    <p:cond delay="0"/>
                                  </p:stCondLst>
                                  <p:childTnLst>
                                    <p:set>
                                      <p:cBhvr>
                                        <p:cTn id="198" dur="1" fill="hold">
                                          <p:stCondLst>
                                            <p:cond delay="0"/>
                                          </p:stCondLst>
                                        </p:cTn>
                                        <p:tgtEl>
                                          <p:spTgt spid="99"/>
                                        </p:tgtEl>
                                        <p:attrNameLst>
                                          <p:attrName>style.visibility</p:attrName>
                                        </p:attrNameLst>
                                      </p:cBhvr>
                                      <p:to>
                                        <p:strVal val="visible"/>
                                      </p:to>
                                    </p:set>
                                    <p:animEffect transition="in" filter="wipe(left)">
                                      <p:cBhvr>
                                        <p:cTn id="199" dur="500"/>
                                        <p:tgtEl>
                                          <p:spTgt spid="99"/>
                                        </p:tgtEl>
                                      </p:cBhvr>
                                    </p:animEffect>
                                  </p:childTnLst>
                                </p:cTn>
                              </p:par>
                              <p:par>
                                <p:cTn id="200" presetID="1" presetClass="entr" presetSubtype="0" fill="hold" grpId="0" nodeType="withEffect">
                                  <p:stCondLst>
                                    <p:cond delay="0"/>
                                  </p:stCondLst>
                                  <p:childTnLst>
                                    <p:set>
                                      <p:cBhvr>
                                        <p:cTn id="201" dur="1" fill="hold">
                                          <p:stCondLst>
                                            <p:cond delay="0"/>
                                          </p:stCondLst>
                                        </p:cTn>
                                        <p:tgtEl>
                                          <p:spTgt spid="85"/>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84"/>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83"/>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82"/>
                                        </p:tgtEl>
                                        <p:attrNameLst>
                                          <p:attrName>style.visibility</p:attrName>
                                        </p:attrNameLst>
                                      </p:cBhvr>
                                      <p:to>
                                        <p:strVal val="visible"/>
                                      </p:to>
                                    </p:set>
                                  </p:childTnLst>
                                </p:cTn>
                              </p:par>
                              <p:par>
                                <p:cTn id="208" presetID="1" presetClass="entr" presetSubtype="0" fill="hold" nodeType="withEffect">
                                  <p:stCondLst>
                                    <p:cond delay="0"/>
                                  </p:stCondLst>
                                  <p:childTnLst>
                                    <p:set>
                                      <p:cBhvr>
                                        <p:cTn id="209" dur="1" fill="hold">
                                          <p:stCondLst>
                                            <p:cond delay="0"/>
                                          </p:stCondLst>
                                        </p:cTn>
                                        <p:tgtEl>
                                          <p:spTgt spid="10"/>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73"/>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62"/>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63"/>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74"/>
                                        </p:tgtEl>
                                        <p:attrNameLst>
                                          <p:attrName>style.visibility</p:attrName>
                                        </p:attrNameLst>
                                      </p:cBhvr>
                                      <p:to>
                                        <p:strVal val="visible"/>
                                      </p:to>
                                    </p:set>
                                  </p:childTnLst>
                                </p:cTn>
                              </p:par>
                            </p:childTnLst>
                          </p:cTn>
                        </p:par>
                        <p:par>
                          <p:cTn id="220" fill="hold">
                            <p:stCondLst>
                              <p:cond delay="500"/>
                            </p:stCondLst>
                            <p:childTnLst>
                              <p:par>
                                <p:cTn id="221" presetID="22" presetClass="entr" presetSubtype="8" fill="hold" grpId="0" nodeType="afterEffect">
                                  <p:stCondLst>
                                    <p:cond delay="0"/>
                                  </p:stCondLst>
                                  <p:childTnLst>
                                    <p:set>
                                      <p:cBhvr>
                                        <p:cTn id="222" dur="1" fill="hold">
                                          <p:stCondLst>
                                            <p:cond delay="0"/>
                                          </p:stCondLst>
                                        </p:cTn>
                                        <p:tgtEl>
                                          <p:spTgt spid="6"/>
                                        </p:tgtEl>
                                        <p:attrNameLst>
                                          <p:attrName>style.visibility</p:attrName>
                                        </p:attrNameLst>
                                      </p:cBhvr>
                                      <p:to>
                                        <p:strVal val="visible"/>
                                      </p:to>
                                    </p:set>
                                    <p:animEffect transition="in" filter="wipe(left)">
                                      <p:cBhvr>
                                        <p:cTn id="223" dur="500"/>
                                        <p:tgtEl>
                                          <p:spTgt spid="6"/>
                                        </p:tgtEl>
                                      </p:cBhvr>
                                    </p:animEffect>
                                  </p:childTnLst>
                                </p:cTn>
                              </p:par>
                            </p:childTnLst>
                          </p:cTn>
                        </p:par>
                        <p:par>
                          <p:cTn id="224" fill="hold">
                            <p:stCondLst>
                              <p:cond delay="1000"/>
                            </p:stCondLst>
                            <p:childTnLst>
                              <p:par>
                                <p:cTn id="225" presetID="22" presetClass="entr" presetSubtype="8" fill="hold" grpId="0" nodeType="afterEffect">
                                  <p:stCondLst>
                                    <p:cond delay="0"/>
                                  </p:stCondLst>
                                  <p:childTnLst>
                                    <p:set>
                                      <p:cBhvr>
                                        <p:cTn id="226" dur="1" fill="hold">
                                          <p:stCondLst>
                                            <p:cond delay="0"/>
                                          </p:stCondLst>
                                        </p:cTn>
                                        <p:tgtEl>
                                          <p:spTgt spid="7">
                                            <p:bg/>
                                          </p:spTgt>
                                        </p:tgtEl>
                                        <p:attrNameLst>
                                          <p:attrName>style.visibility</p:attrName>
                                        </p:attrNameLst>
                                      </p:cBhvr>
                                      <p:to>
                                        <p:strVal val="visible"/>
                                      </p:to>
                                    </p:set>
                                    <p:animEffect transition="in" filter="wipe(left)">
                                      <p:cBhvr>
                                        <p:cTn id="227" dur="500"/>
                                        <p:tgtEl>
                                          <p:spTgt spid="7">
                                            <p:bg/>
                                          </p:spTgt>
                                        </p:tgtEl>
                                      </p:cBhvr>
                                    </p:animEffect>
                                  </p:childTnLst>
                                </p:cTn>
                              </p:par>
                            </p:childTnLst>
                          </p:cTn>
                        </p:par>
                        <p:par>
                          <p:cTn id="228" fill="hold">
                            <p:stCondLst>
                              <p:cond delay="1500"/>
                            </p:stCondLst>
                            <p:childTnLst>
                              <p:par>
                                <p:cTn id="229" presetID="22" presetClass="entr" presetSubtype="8" fill="hold" grpId="0" nodeType="afterEffect">
                                  <p:stCondLst>
                                    <p:cond delay="0"/>
                                  </p:stCondLst>
                                  <p:childTnLst>
                                    <p:set>
                                      <p:cBhvr>
                                        <p:cTn id="230" dur="1" fill="hold">
                                          <p:stCondLst>
                                            <p:cond delay="0"/>
                                          </p:stCondLst>
                                        </p:cTn>
                                        <p:tgtEl>
                                          <p:spTgt spid="7">
                                            <p:txEl>
                                              <p:pRg st="0" end="0"/>
                                            </p:txEl>
                                          </p:spTgt>
                                        </p:tgtEl>
                                        <p:attrNameLst>
                                          <p:attrName>style.visibility</p:attrName>
                                        </p:attrNameLst>
                                      </p:cBhvr>
                                      <p:to>
                                        <p:strVal val="visible"/>
                                      </p:to>
                                    </p:set>
                                    <p:animEffect transition="in" filter="wipe(left)">
                                      <p:cBhvr>
                                        <p:cTn id="23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allAtOnce" animBg="1"/>
      <p:bldP spid="13" grpId="0" animBg="1"/>
      <p:bldP spid="14" grpId="0"/>
      <p:bldP spid="15" grpId="0"/>
      <p:bldP spid="16" grpId="0"/>
      <p:bldP spid="17" grpId="0"/>
      <p:bldP spid="18" grpId="0"/>
      <p:bldP spid="19" grpId="0"/>
      <p:bldP spid="20" grpId="0" animBg="1"/>
      <p:bldP spid="21" grpId="0" animBg="1"/>
      <p:bldP spid="22" grpId="0" animBg="1"/>
      <p:bldP spid="23" grpId="0"/>
      <p:bldP spid="24" grpId="0"/>
      <p:bldP spid="25" grpId="0"/>
      <p:bldP spid="26" grpId="0"/>
      <p:bldP spid="27" grpId="0" animBg="1"/>
      <p:bldP spid="28" grpId="0" animBg="1"/>
      <p:bldP spid="29" grpId="0"/>
      <p:bldP spid="30" grpId="0"/>
      <p:bldP spid="31" grpId="0" animBg="1"/>
      <p:bldP spid="32" grpId="0" animBg="1"/>
      <p:bldP spid="33" grpId="0"/>
      <p:bldP spid="34" grpId="0"/>
      <p:bldP spid="35" grpId="0"/>
      <p:bldP spid="36" grpId="0"/>
      <p:bldP spid="37" grpId="0" animBg="1"/>
      <p:bldP spid="38" grpId="0" animBg="1"/>
      <p:bldP spid="39" grpId="0" animBg="1"/>
      <p:bldP spid="40" grpId="0" animBg="1"/>
      <p:bldP spid="41" grpId="0" animBg="1"/>
      <p:bldP spid="42" grpId="0"/>
      <p:bldP spid="43" grpId="0" animBg="1"/>
      <p:bldP spid="44" grpId="0" animBg="1"/>
      <p:bldP spid="45" grpId="0" animBg="1"/>
      <p:bldP spid="46" grpId="0" animBg="1"/>
      <p:bldP spid="47" grpId="0" animBg="1"/>
      <p:bldP spid="47" grpId="1" animBg="1"/>
      <p:bldP spid="48" grpId="0" animBg="1"/>
      <p:bldP spid="49" grpId="0" animBg="1"/>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animBg="1"/>
      <p:bldP spid="65" grpId="0" animBg="1"/>
      <p:bldP spid="66" grpId="0" animBg="1"/>
      <p:bldP spid="67" grpId="0" animBg="1"/>
      <p:bldP spid="68" grpId="0"/>
      <p:bldP spid="69" grpId="0" animBg="1"/>
      <p:bldP spid="70" grpId="0" animBg="1"/>
      <p:bldP spid="71" grpId="0" animBg="1"/>
      <p:bldP spid="72" grpId="0" animBg="1"/>
      <p:bldP spid="73" grpId="0" animBg="1"/>
      <p:bldP spid="74" grpId="0" animBg="1"/>
      <p:bldP spid="75" grpId="0" animBg="1"/>
      <p:bldP spid="76" grpId="0" animBg="1"/>
      <p:bldP spid="77" grpId="0" animBg="1"/>
      <p:bldP spid="78" grpId="0"/>
      <p:bldP spid="79" grpId="0"/>
      <p:bldP spid="80" grpId="0"/>
      <p:bldP spid="81" grpId="0"/>
      <p:bldP spid="82" grpId="0"/>
      <p:bldP spid="83" grpId="0"/>
      <p:bldP spid="84" grpId="0" animBg="1"/>
      <p:bldP spid="85" grpId="0" animBg="1"/>
      <p:bldP spid="86" grpId="0"/>
      <p:bldP spid="87" grpId="0"/>
      <p:bldP spid="88" grpId="0" animBg="1"/>
      <p:bldP spid="89" grpId="0" animBg="1"/>
      <p:bldP spid="90" grpId="0" animBg="1"/>
      <p:bldP spid="91" grpId="0" animBg="1"/>
      <p:bldP spid="92" grpId="0" animBg="1"/>
      <p:bldP spid="93" grpId="0" animBg="1"/>
      <p:bldP spid="94" grpId="0" animBg="1"/>
      <p:bldP spid="95" grpId="0"/>
      <p:bldP spid="96" grpId="0"/>
      <p:bldP spid="97" grpId="0"/>
      <p:bldP spid="98" grpId="0" animBg="1"/>
      <p:bldP spid="99" grpId="0"/>
      <p:bldP spid="100" grpId="0"/>
      <p:bldP spid="101" grpId="0"/>
      <p:bldP spid="102" grpId="0"/>
      <p:bldP spid="103" grpId="0"/>
      <p:bldP spid="10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rrowheads="1"/>
          </p:cNvSpPr>
          <p:nvPr>
            <p:ph type="title" idx="4294967295"/>
          </p:nvPr>
        </p:nvSpPr>
        <p:spPr>
          <a:xfrm>
            <a:off x="900113" y="60325"/>
            <a:ext cx="8243887" cy="555625"/>
          </a:xfrm>
        </p:spPr>
        <p:txBody>
          <a:bodyPr/>
          <a:lstStyle/>
          <a:p>
            <a:pPr>
              <a:defRPr/>
            </a:pPr>
            <a:r>
              <a:rPr lang="en-US" sz="2400" dirty="0" smtClean="0"/>
              <a:t>Comparing the Short-Run and Long-Run Industry Supply Curves</a:t>
            </a:r>
          </a:p>
        </p:txBody>
      </p:sp>
      <p:sp>
        <p:nvSpPr>
          <p:cNvPr id="71682" name="AutoShape 5"/>
          <p:cNvSpPr>
            <a:spLocks noChangeAspect="1" noChangeArrowheads="1" noTextEdit="1"/>
          </p:cNvSpPr>
          <p:nvPr/>
        </p:nvSpPr>
        <p:spPr bwMode="auto">
          <a:xfrm>
            <a:off x="755650" y="1066800"/>
            <a:ext cx="5518150" cy="4953000"/>
          </a:xfrm>
          <a:prstGeom prst="rect">
            <a:avLst/>
          </a:prstGeom>
          <a:noFill/>
          <a:ln w="9525">
            <a:noFill/>
            <a:miter lim="800000"/>
            <a:headEnd/>
            <a:tailEnd/>
          </a:ln>
        </p:spPr>
        <p:txBody>
          <a:bodyPr/>
          <a:lstStyle/>
          <a:p>
            <a:endParaRPr lang="en-US"/>
          </a:p>
        </p:txBody>
      </p:sp>
      <p:sp>
        <p:nvSpPr>
          <p:cNvPr id="71683" name="Freeform 7"/>
          <p:cNvSpPr>
            <a:spLocks/>
          </p:cNvSpPr>
          <p:nvPr/>
        </p:nvSpPr>
        <p:spPr bwMode="auto">
          <a:xfrm>
            <a:off x="982663" y="1092200"/>
            <a:ext cx="5351462" cy="4597400"/>
          </a:xfrm>
          <a:custGeom>
            <a:avLst/>
            <a:gdLst>
              <a:gd name="T0" fmla="*/ 2147483647 w 1985"/>
              <a:gd name="T1" fmla="*/ 2147483647 h 1645"/>
              <a:gd name="T2" fmla="*/ 0 w 1985"/>
              <a:gd name="T3" fmla="*/ 2147483647 h 1645"/>
              <a:gd name="T4" fmla="*/ 0 w 1985"/>
              <a:gd name="T5" fmla="*/ 0 h 1645"/>
              <a:gd name="T6" fmla="*/ 0 60000 65536"/>
              <a:gd name="T7" fmla="*/ 0 60000 65536"/>
              <a:gd name="T8" fmla="*/ 0 60000 65536"/>
              <a:gd name="T9" fmla="*/ 0 w 1985"/>
              <a:gd name="T10" fmla="*/ 0 h 1645"/>
              <a:gd name="T11" fmla="*/ 1985 w 1985"/>
              <a:gd name="T12" fmla="*/ 1645 h 1645"/>
            </a:gdLst>
            <a:ahLst/>
            <a:cxnLst>
              <a:cxn ang="T6">
                <a:pos x="T0" y="T1"/>
              </a:cxn>
              <a:cxn ang="T7">
                <a:pos x="T2" y="T3"/>
              </a:cxn>
              <a:cxn ang="T8">
                <a:pos x="T4" y="T5"/>
              </a:cxn>
            </a:cxnLst>
            <a:rect l="T9" t="T10" r="T11" b="T12"/>
            <a:pathLst>
              <a:path w="1985" h="1645">
                <a:moveTo>
                  <a:pt x="1985" y="1645"/>
                </a:moveTo>
                <a:lnTo>
                  <a:pt x="0" y="1645"/>
                </a:lnTo>
                <a:lnTo>
                  <a:pt x="0" y="0"/>
                </a:lnTo>
              </a:path>
            </a:pathLst>
          </a:custGeom>
          <a:noFill/>
          <a:ln w="6350" cap="flat">
            <a:solidFill>
              <a:srgbClr val="000000"/>
            </a:solidFill>
            <a:prstDash val="solid"/>
            <a:miter lim="800000"/>
            <a:headEnd/>
            <a:tailEnd/>
          </a:ln>
        </p:spPr>
        <p:txBody>
          <a:bodyPr/>
          <a:lstStyle/>
          <a:p>
            <a:endParaRPr lang="en-US"/>
          </a:p>
        </p:txBody>
      </p:sp>
      <p:sp>
        <p:nvSpPr>
          <p:cNvPr id="222216" name="Line 8"/>
          <p:cNvSpPr>
            <a:spLocks noChangeShapeType="1"/>
          </p:cNvSpPr>
          <p:nvPr/>
        </p:nvSpPr>
        <p:spPr bwMode="auto">
          <a:xfrm flipV="1">
            <a:off x="1079612" y="3321050"/>
            <a:ext cx="4320480" cy="219075"/>
          </a:xfrm>
          <a:prstGeom prst="line">
            <a:avLst/>
          </a:prstGeom>
          <a:noFill/>
          <a:ln w="30163">
            <a:solidFill>
              <a:srgbClr val="939598"/>
            </a:solidFill>
            <a:miter lim="800000"/>
            <a:headEnd/>
            <a:tailEnd/>
          </a:ln>
        </p:spPr>
        <p:txBody>
          <a:bodyPr/>
          <a:lstStyle/>
          <a:p>
            <a:endParaRPr lang="en-US"/>
          </a:p>
        </p:txBody>
      </p:sp>
      <p:sp>
        <p:nvSpPr>
          <p:cNvPr id="222217" name="Line 9"/>
          <p:cNvSpPr>
            <a:spLocks noChangeShapeType="1"/>
          </p:cNvSpPr>
          <p:nvPr/>
        </p:nvSpPr>
        <p:spPr bwMode="auto">
          <a:xfrm flipH="1">
            <a:off x="1879600" y="1930400"/>
            <a:ext cx="2020888" cy="3416300"/>
          </a:xfrm>
          <a:prstGeom prst="line">
            <a:avLst/>
          </a:prstGeom>
          <a:noFill/>
          <a:ln w="30163">
            <a:solidFill>
              <a:srgbClr val="EE313C"/>
            </a:solidFill>
            <a:miter lim="800000"/>
            <a:headEnd/>
            <a:tailEnd/>
          </a:ln>
        </p:spPr>
        <p:txBody>
          <a:bodyPr/>
          <a:lstStyle/>
          <a:p>
            <a:endParaRPr lang="en-US"/>
          </a:p>
        </p:txBody>
      </p:sp>
      <p:sp>
        <p:nvSpPr>
          <p:cNvPr id="222218" name="Freeform 10"/>
          <p:cNvSpPr>
            <a:spLocks/>
          </p:cNvSpPr>
          <p:nvPr/>
        </p:nvSpPr>
        <p:spPr bwMode="auto">
          <a:xfrm>
            <a:off x="3119438" y="3651250"/>
            <a:ext cx="2794000" cy="914400"/>
          </a:xfrm>
          <a:custGeom>
            <a:avLst/>
            <a:gdLst>
              <a:gd name="T0" fmla="*/ 2147483647 w 424"/>
              <a:gd name="T1" fmla="*/ 2147483647 h 173"/>
              <a:gd name="T2" fmla="*/ 2147483647 w 424"/>
              <a:gd name="T3" fmla="*/ 2147483647 h 173"/>
              <a:gd name="T4" fmla="*/ 2147483647 w 424"/>
              <a:gd name="T5" fmla="*/ 2147483647 h 173"/>
              <a:gd name="T6" fmla="*/ 0 w 424"/>
              <a:gd name="T7" fmla="*/ 2147483647 h 173"/>
              <a:gd name="T8" fmla="*/ 0 w 424"/>
              <a:gd name="T9" fmla="*/ 2147483647 h 173"/>
              <a:gd name="T10" fmla="*/ 2147483647 w 424"/>
              <a:gd name="T11" fmla="*/ 0 h 173"/>
              <a:gd name="T12" fmla="*/ 2147483647 w 424"/>
              <a:gd name="T13" fmla="*/ 0 h 173"/>
              <a:gd name="T14" fmla="*/ 2147483647 w 424"/>
              <a:gd name="T15" fmla="*/ 2147483647 h 173"/>
              <a:gd name="T16" fmla="*/ 2147483647 w 424"/>
              <a:gd name="T17" fmla="*/ 2147483647 h 1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4"/>
              <a:gd name="T28" fmla="*/ 0 h 173"/>
              <a:gd name="T29" fmla="*/ 424 w 424"/>
              <a:gd name="T30" fmla="*/ 173 h 17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4" h="173">
                <a:moveTo>
                  <a:pt x="424" y="157"/>
                </a:moveTo>
                <a:cubicBezTo>
                  <a:pt x="424" y="165"/>
                  <a:pt x="416" y="173"/>
                  <a:pt x="408" y="173"/>
                </a:cubicBezTo>
                <a:cubicBezTo>
                  <a:pt x="16" y="173"/>
                  <a:pt x="16" y="173"/>
                  <a:pt x="16" y="173"/>
                </a:cubicBezTo>
                <a:cubicBezTo>
                  <a:pt x="7" y="173"/>
                  <a:pt x="0" y="165"/>
                  <a:pt x="0" y="157"/>
                </a:cubicBezTo>
                <a:cubicBezTo>
                  <a:pt x="0" y="16"/>
                  <a:pt x="0" y="16"/>
                  <a:pt x="0" y="16"/>
                </a:cubicBezTo>
                <a:cubicBezTo>
                  <a:pt x="0" y="8"/>
                  <a:pt x="7" y="0"/>
                  <a:pt x="16" y="0"/>
                </a:cubicBezTo>
                <a:cubicBezTo>
                  <a:pt x="408" y="0"/>
                  <a:pt x="408" y="0"/>
                  <a:pt x="408" y="0"/>
                </a:cubicBezTo>
                <a:cubicBezTo>
                  <a:pt x="416" y="0"/>
                  <a:pt x="424" y="8"/>
                  <a:pt x="424" y="16"/>
                </a:cubicBezTo>
                <a:lnTo>
                  <a:pt x="424" y="157"/>
                </a:lnTo>
                <a:close/>
              </a:path>
            </a:pathLst>
          </a:custGeom>
          <a:solidFill>
            <a:srgbClr val="D7E2E0"/>
          </a:solidFill>
          <a:ln w="9525">
            <a:noFill/>
            <a:round/>
            <a:headEnd/>
            <a:tailEnd/>
          </a:ln>
        </p:spPr>
        <p:txBody>
          <a:bodyPr/>
          <a:lstStyle/>
          <a:p>
            <a:endParaRPr lang="en-US"/>
          </a:p>
        </p:txBody>
      </p:sp>
      <p:sp>
        <p:nvSpPr>
          <p:cNvPr id="222219" name="Rectangle 11"/>
          <p:cNvSpPr>
            <a:spLocks noChangeArrowheads="1"/>
          </p:cNvSpPr>
          <p:nvPr/>
        </p:nvSpPr>
        <p:spPr bwMode="auto">
          <a:xfrm>
            <a:off x="3119438" y="3651250"/>
            <a:ext cx="2692400" cy="850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The long-run industry supply curve is always flatter</a:t>
            </a:r>
            <a:r>
              <a:rPr lang="en-US" sz="1400">
                <a:latin typeface="Myriad Pro"/>
              </a:rPr>
              <a:t> </a:t>
            </a:r>
            <a:r>
              <a:rPr lang="en-US" sz="1400"/>
              <a:t>—</a:t>
            </a:r>
            <a:r>
              <a:rPr lang="en-US" sz="1400">
                <a:latin typeface="Myriad Pro"/>
              </a:rPr>
              <a:t> much more elastic </a:t>
            </a:r>
            <a:r>
              <a:rPr lang="en-US" sz="1400"/>
              <a:t>—</a:t>
            </a:r>
            <a:r>
              <a:rPr lang="en-US" sz="1400">
                <a:solidFill>
                  <a:srgbClr val="FFC000"/>
                </a:solidFill>
              </a:rPr>
              <a:t> </a:t>
            </a:r>
            <a:r>
              <a:rPr lang="en-US" sz="1400">
                <a:solidFill>
                  <a:srgbClr val="000000"/>
                </a:solidFill>
                <a:latin typeface="Myriad Pro"/>
              </a:rPr>
              <a:t>than the short-run industry supply curve.</a:t>
            </a:r>
            <a:endParaRPr lang="en-US" sz="1400">
              <a:latin typeface="Tahoma" pitchFamily="34" charset="0"/>
            </a:endParaRPr>
          </a:p>
        </p:txBody>
      </p:sp>
      <p:sp>
        <p:nvSpPr>
          <p:cNvPr id="222220" name="Rectangle 12"/>
          <p:cNvSpPr>
            <a:spLocks noChangeArrowheads="1"/>
          </p:cNvSpPr>
          <p:nvPr/>
        </p:nvSpPr>
        <p:spPr bwMode="auto">
          <a:xfrm>
            <a:off x="2944813" y="1320800"/>
            <a:ext cx="187325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Short-run industry supply curve, </a:t>
            </a:r>
            <a:r>
              <a:rPr lang="en-US" sz="1400" i="1">
                <a:solidFill>
                  <a:srgbClr val="000000"/>
                </a:solidFill>
                <a:latin typeface="Myriad Pro"/>
              </a:rPr>
              <a:t>S</a:t>
            </a:r>
            <a:endParaRPr lang="en-US" sz="1400" i="1">
              <a:latin typeface="Tahoma" pitchFamily="34" charset="0"/>
            </a:endParaRPr>
          </a:p>
        </p:txBody>
      </p:sp>
      <p:sp>
        <p:nvSpPr>
          <p:cNvPr id="222221" name="Rectangle 13"/>
          <p:cNvSpPr>
            <a:spLocks noChangeArrowheads="1"/>
          </p:cNvSpPr>
          <p:nvPr/>
        </p:nvSpPr>
        <p:spPr bwMode="auto">
          <a:xfrm>
            <a:off x="4951413" y="2590800"/>
            <a:ext cx="1204912"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Long-run industry supply curve, </a:t>
            </a:r>
            <a:r>
              <a:rPr lang="en-US" sz="1400" i="1">
                <a:solidFill>
                  <a:srgbClr val="000000"/>
                </a:solidFill>
                <a:latin typeface="Myriad Pro"/>
              </a:rPr>
              <a:t>LRS</a:t>
            </a:r>
            <a:endParaRPr lang="en-US" sz="1400" i="1">
              <a:latin typeface="Tahoma" pitchFamily="34" charset="0"/>
            </a:endParaRPr>
          </a:p>
        </p:txBody>
      </p:sp>
      <p:sp>
        <p:nvSpPr>
          <p:cNvPr id="71690" name="Rectangle 15"/>
          <p:cNvSpPr>
            <a:spLocks noChangeArrowheads="1"/>
          </p:cNvSpPr>
          <p:nvPr/>
        </p:nvSpPr>
        <p:spPr bwMode="auto">
          <a:xfrm>
            <a:off x="5476875" y="5821363"/>
            <a:ext cx="66833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14346" name="Text Box 10"/>
          <p:cNvSpPr txBox="1">
            <a:spLocks noChangeArrowheads="1"/>
          </p:cNvSpPr>
          <p:nvPr/>
        </p:nvSpPr>
        <p:spPr bwMode="auto">
          <a:xfrm>
            <a:off x="5724525" y="838200"/>
            <a:ext cx="3352800" cy="1200150"/>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spcBef>
                <a:spcPct val="20000"/>
              </a:spcBef>
              <a:defRPr/>
            </a:pPr>
            <a:r>
              <a:rPr lang="en-US" i="1" dirty="0">
                <a:solidFill>
                  <a:srgbClr val="0000FF"/>
                </a:solidFill>
              </a:rPr>
              <a:t>LRS</a:t>
            </a:r>
            <a:r>
              <a:rPr lang="en-US" dirty="0">
                <a:solidFill>
                  <a:srgbClr val="0000FF"/>
                </a:solidFill>
              </a:rPr>
              <a:t> may slope upward, but it is always flatter than the short-run industry supply curve—</a:t>
            </a:r>
            <a:r>
              <a:rPr lang="en-US" b="1" i="1" dirty="0">
                <a:solidFill>
                  <a:srgbClr val="0000FF"/>
                </a:solidFill>
              </a:rPr>
              <a:t>it can be close to perfectly elastic</a:t>
            </a:r>
            <a:r>
              <a:rPr lang="en-US" dirty="0">
                <a:solidFill>
                  <a:srgbClr val="0000FF"/>
                </a:solidFill>
              </a:rPr>
              <a:t>. </a:t>
            </a:r>
          </a:p>
        </p:txBody>
      </p:sp>
      <p:sp>
        <p:nvSpPr>
          <p:cNvPr id="222226" name="Rectangle 11"/>
          <p:cNvSpPr>
            <a:spLocks noChangeArrowheads="1"/>
          </p:cNvSpPr>
          <p:nvPr/>
        </p:nvSpPr>
        <p:spPr bwMode="auto">
          <a:xfrm>
            <a:off x="6334125" y="2438400"/>
            <a:ext cx="2743200" cy="3416300"/>
          </a:xfrm>
          <a:prstGeom prst="rect">
            <a:avLst/>
          </a:prstGeom>
          <a:solidFill>
            <a:schemeClr val="accent5">
              <a:lumMod val="20000"/>
              <a:lumOff val="80000"/>
            </a:schemeClr>
          </a:solidFill>
          <a:ln w="9525" algn="ctr">
            <a:noFill/>
            <a:miter lim="800000"/>
            <a:headEnd/>
            <a:tailEnd type="none" w="med" len="lg"/>
          </a:ln>
        </p:spPr>
        <p:txBody>
          <a:bodyPr>
            <a:spAutoFit/>
          </a:bodyPr>
          <a:lstStyle/>
          <a:p>
            <a:pPr marL="1588" indent="-1588" algn="ctr">
              <a:defRPr/>
            </a:pPr>
            <a:r>
              <a:rPr lang="en-US" dirty="0">
                <a:solidFill>
                  <a:srgbClr val="0000FF"/>
                </a:solidFill>
              </a:rPr>
              <a:t>This is because of </a:t>
            </a:r>
            <a:r>
              <a:rPr lang="en-US" b="1" i="1" dirty="0">
                <a:solidFill>
                  <a:srgbClr val="0000FF"/>
                </a:solidFill>
              </a:rPr>
              <a:t>entry and exit</a:t>
            </a:r>
            <a:r>
              <a:rPr lang="en-US" dirty="0">
                <a:solidFill>
                  <a:srgbClr val="0000FF"/>
                </a:solidFill>
              </a:rPr>
              <a:t>: </a:t>
            </a:r>
          </a:p>
          <a:p>
            <a:pPr marL="1588" indent="-1588" algn="ctr">
              <a:buClr>
                <a:schemeClr val="tx1"/>
              </a:buClr>
              <a:defRPr/>
            </a:pPr>
            <a:r>
              <a:rPr lang="en-US" dirty="0">
                <a:solidFill>
                  <a:srgbClr val="0000FF"/>
                </a:solidFill>
              </a:rPr>
              <a:t> a higher price attracts new entrants in the long run, resulting in a rise in industry output and lower price; </a:t>
            </a:r>
          </a:p>
          <a:p>
            <a:pPr marL="1588" indent="-1588" algn="ctr">
              <a:buClr>
                <a:schemeClr val="tx1"/>
              </a:buClr>
              <a:defRPr/>
            </a:pPr>
            <a:r>
              <a:rPr lang="en-US" dirty="0">
                <a:solidFill>
                  <a:srgbClr val="0000FF"/>
                </a:solidFill>
              </a:rPr>
              <a:t> a fall in price induces existing producer to exit in the long run, generating a fall in industry output and a rise in price.</a:t>
            </a:r>
          </a:p>
        </p:txBody>
      </p:sp>
      <p:sp>
        <p:nvSpPr>
          <p:cNvPr id="71693" name="Rectangle 90"/>
          <p:cNvSpPr>
            <a:spLocks noChangeArrowheads="1"/>
          </p:cNvSpPr>
          <p:nvPr/>
        </p:nvSpPr>
        <p:spPr bwMode="auto">
          <a:xfrm>
            <a:off x="827088" y="765175"/>
            <a:ext cx="568325"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a:t>
            </a:r>
            <a:endParaRPr lang="en-US" sz="1400">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2217"/>
                                        </p:tgtEl>
                                        <p:attrNameLst>
                                          <p:attrName>style.visibility</p:attrName>
                                        </p:attrNameLst>
                                      </p:cBhvr>
                                      <p:to>
                                        <p:strVal val="visible"/>
                                      </p:to>
                                    </p:set>
                                    <p:animEffect transition="in" filter="wipe(down)">
                                      <p:cBhvr>
                                        <p:cTn id="7" dur="500"/>
                                        <p:tgtEl>
                                          <p:spTgt spid="22221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222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22216"/>
                                        </p:tgtEl>
                                        <p:attrNameLst>
                                          <p:attrName>style.visibility</p:attrName>
                                        </p:attrNameLst>
                                      </p:cBhvr>
                                      <p:to>
                                        <p:strVal val="visible"/>
                                      </p:to>
                                    </p:set>
                                    <p:animEffect transition="in" filter="wipe(down)">
                                      <p:cBhvr>
                                        <p:cTn id="15" dur="500"/>
                                        <p:tgtEl>
                                          <p:spTgt spid="22221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222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22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2218"/>
                                        </p:tgtEl>
                                        <p:attrNameLst>
                                          <p:attrName>style.visibility</p:attrName>
                                        </p:attrNameLst>
                                      </p:cBhvr>
                                      <p:to>
                                        <p:strVal val="visible"/>
                                      </p:to>
                                    </p:set>
                                  </p:childTnLst>
                                </p:cTn>
                              </p:par>
                            </p:childTnLst>
                          </p:cTn>
                        </p:par>
                        <p:par>
                          <p:cTn id="25" fill="hold">
                            <p:stCondLst>
                              <p:cond delay="0"/>
                            </p:stCondLst>
                            <p:childTnLst>
                              <p:par>
                                <p:cTn id="26" presetID="22" presetClass="entr" presetSubtype="1" fill="hold" grpId="0" nodeType="afterEffect">
                                  <p:stCondLst>
                                    <p:cond delay="0"/>
                                  </p:stCondLst>
                                  <p:childTnLst>
                                    <p:set>
                                      <p:cBhvr>
                                        <p:cTn id="27" dur="1" fill="hold">
                                          <p:stCondLst>
                                            <p:cond delay="0"/>
                                          </p:stCondLst>
                                        </p:cTn>
                                        <p:tgtEl>
                                          <p:spTgt spid="14346"/>
                                        </p:tgtEl>
                                        <p:attrNameLst>
                                          <p:attrName>style.visibility</p:attrName>
                                        </p:attrNameLst>
                                      </p:cBhvr>
                                      <p:to>
                                        <p:strVal val="visible"/>
                                      </p:to>
                                    </p:set>
                                    <p:animEffect transition="in" filter="wipe(up)">
                                      <p:cBhvr>
                                        <p:cTn id="28" dur="500"/>
                                        <p:tgtEl>
                                          <p:spTgt spid="14346"/>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222226"/>
                                        </p:tgtEl>
                                        <p:attrNameLst>
                                          <p:attrName>style.visibility</p:attrName>
                                        </p:attrNameLst>
                                      </p:cBhvr>
                                      <p:to>
                                        <p:strVal val="visible"/>
                                      </p:to>
                                    </p:set>
                                    <p:animEffect transition="in" filter="wipe(up)">
                                      <p:cBhvr>
                                        <p:cTn id="32" dur="500"/>
                                        <p:tgtEl>
                                          <p:spTgt spid="222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6" grpId="0" animBg="1"/>
      <p:bldP spid="222217" grpId="0" animBg="1"/>
      <p:bldP spid="222218" grpId="0" animBg="1"/>
      <p:bldP spid="222219" grpId="0"/>
      <p:bldP spid="222220" grpId="0"/>
      <p:bldP spid="222221" grpId="0"/>
      <p:bldP spid="14346" grpId="0" animBg="1"/>
      <p:bldP spid="22222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rrowheads="1"/>
          </p:cNvSpPr>
          <p:nvPr>
            <p:ph type="title" idx="4294967295"/>
          </p:nvPr>
        </p:nvSpPr>
        <p:spPr>
          <a:xfrm>
            <a:off x="900113" y="76200"/>
            <a:ext cx="7993062" cy="609600"/>
          </a:xfrm>
        </p:spPr>
        <p:txBody>
          <a:bodyPr/>
          <a:lstStyle/>
          <a:p>
            <a:pPr>
              <a:defRPr/>
            </a:pPr>
            <a:r>
              <a:rPr lang="en-US" dirty="0" smtClean="0"/>
              <a:t>Conclusions</a:t>
            </a:r>
          </a:p>
        </p:txBody>
      </p:sp>
      <p:sp>
        <p:nvSpPr>
          <p:cNvPr id="73730" name="Rectangle 3"/>
          <p:cNvSpPr>
            <a:spLocks noGrp="1" noChangeArrowheads="1"/>
          </p:cNvSpPr>
          <p:nvPr>
            <p:ph idx="4294967295"/>
          </p:nvPr>
        </p:nvSpPr>
        <p:spPr>
          <a:xfrm>
            <a:off x="719138" y="728663"/>
            <a:ext cx="8281987" cy="5976937"/>
          </a:xfrm>
        </p:spPr>
        <p:txBody>
          <a:bodyPr/>
          <a:lstStyle/>
          <a:p>
            <a:pPr marL="230188" indent="-215900">
              <a:buClr>
                <a:schemeClr val="tx1"/>
              </a:buClr>
            </a:pPr>
            <a:r>
              <a:rPr lang="en-US" smtClean="0"/>
              <a:t>Three conclusions about the cost of production and efficiency in the long-run equilibrium of a perfectly competitive industry: </a:t>
            </a:r>
          </a:p>
          <a:p>
            <a:pPr marL="914400" lvl="1" indent="-457200">
              <a:spcBef>
                <a:spcPct val="60000"/>
              </a:spcBef>
              <a:buFont typeface="Calibri" pitchFamily="34" charset="0"/>
              <a:buAutoNum type="arabicParenR"/>
            </a:pPr>
            <a:r>
              <a:rPr lang="en-US" smtClean="0"/>
              <a:t>In a perfectly competitive industry in equilibrium, the value of marginal cost is equal to the market price, and is the same for all firms.</a:t>
            </a:r>
            <a:endParaRPr lang="en-US" sz="1800" smtClean="0"/>
          </a:p>
          <a:p>
            <a:pPr marL="914400" lvl="1" indent="-457200">
              <a:spcBef>
                <a:spcPct val="60000"/>
              </a:spcBef>
              <a:buFont typeface="Calibri" pitchFamily="34" charset="0"/>
              <a:buAutoNum type="arabicParenR"/>
            </a:pPr>
            <a:r>
              <a:rPr lang="en-US" smtClean="0"/>
              <a:t>In a perfectly competitive industry with free entry and exit, firms will have zero economic profits in long-run equilibrium.</a:t>
            </a:r>
            <a:br>
              <a:rPr lang="en-US" smtClean="0"/>
            </a:br>
            <a:r>
              <a:rPr lang="en-US" smtClean="0"/>
              <a:t>  </a:t>
            </a:r>
            <a:r>
              <a:rPr lang="en-US" sz="2200" smtClean="0">
                <a:sym typeface="Symbol" pitchFamily="18" charset="2"/>
              </a:rPr>
              <a:t> </a:t>
            </a:r>
            <a:r>
              <a:rPr lang="en-US" sz="2200" smtClean="0"/>
              <a:t>If firms are making profits, other firms will enter </a:t>
            </a:r>
            <a:br>
              <a:rPr lang="en-US" sz="2200" smtClean="0"/>
            </a:br>
            <a:r>
              <a:rPr lang="en-US" smtClean="0"/>
              <a:t>  </a:t>
            </a:r>
            <a:r>
              <a:rPr lang="en-US" sz="2200" smtClean="0">
                <a:sym typeface="Symbol" pitchFamily="18" charset="2"/>
              </a:rPr>
              <a:t> </a:t>
            </a:r>
            <a:r>
              <a:rPr lang="en-US" sz="2200" smtClean="0"/>
              <a:t>If firms are making losses, some firms will leave </a:t>
            </a:r>
          </a:p>
          <a:p>
            <a:pPr marL="914400" lvl="1" indent="-457200">
              <a:spcBef>
                <a:spcPct val="60000"/>
              </a:spcBef>
              <a:buFont typeface="Calibri" pitchFamily="34" charset="0"/>
              <a:buAutoNum type="arabicParenR"/>
            </a:pPr>
            <a:r>
              <a:rPr lang="en-US" smtClean="0"/>
              <a:t>The long-run market equilibrium of a perfectly competitive industry is efficient: firms produce at the minimum per unit cost of production.</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26306" name="Rectangle 2"/>
          <p:cNvSpPr>
            <a:spLocks noGrp="1" noChangeArrowheads="1"/>
          </p:cNvSpPr>
          <p:nvPr>
            <p:ph idx="4294967295"/>
          </p:nvPr>
        </p:nvSpPr>
        <p:spPr>
          <a:xfrm>
            <a:off x="900113" y="981075"/>
            <a:ext cx="7993062" cy="5145088"/>
          </a:xfrm>
        </p:spPr>
        <p:txBody>
          <a:bodyPr/>
          <a:lstStyle/>
          <a:p>
            <a:pPr marL="457200" indent="-450850">
              <a:buFontTx/>
              <a:buAutoNum type="arabicPeriod"/>
            </a:pPr>
            <a:r>
              <a:rPr lang="tr-TR" sz="2400" smtClean="0"/>
              <a:t>In a </a:t>
            </a:r>
            <a:r>
              <a:rPr lang="tr-TR" sz="2400" b="1" smtClean="0"/>
              <a:t>perfectly competitive market </a:t>
            </a:r>
            <a:r>
              <a:rPr lang="tr-TR" sz="2400" smtClean="0"/>
              <a:t>all producers are</a:t>
            </a:r>
            <a:r>
              <a:rPr lang="en-US" sz="2400" smtClean="0"/>
              <a:t> </a:t>
            </a:r>
            <a:r>
              <a:rPr lang="tr-TR" sz="2400" b="1" smtClean="0"/>
              <a:t>price-taking producers </a:t>
            </a:r>
            <a:r>
              <a:rPr lang="tr-TR" sz="2400" smtClean="0"/>
              <a:t>and all consumers are </a:t>
            </a:r>
            <a:r>
              <a:rPr lang="tr-TR" sz="2400" b="1" smtClean="0"/>
              <a:t>price</a:t>
            </a:r>
            <a:r>
              <a:rPr lang="en-US" sz="2400" b="1" smtClean="0"/>
              <a:t>-</a:t>
            </a:r>
            <a:r>
              <a:rPr lang="tr-TR" sz="2400" b="1" smtClean="0"/>
              <a:t>taking</a:t>
            </a:r>
            <a:r>
              <a:rPr lang="en-US" sz="2400" b="1" smtClean="0"/>
              <a:t> </a:t>
            </a:r>
            <a:r>
              <a:rPr lang="tr-TR" sz="2400" b="1" smtClean="0"/>
              <a:t>consumers</a:t>
            </a:r>
            <a:r>
              <a:rPr lang="tr-TR" sz="2400" smtClean="0"/>
              <a:t>—no one’s actions can influence the</a:t>
            </a:r>
            <a:r>
              <a:rPr lang="en-US" sz="2400" smtClean="0"/>
              <a:t> </a:t>
            </a:r>
            <a:r>
              <a:rPr lang="tr-TR" sz="2400" smtClean="0"/>
              <a:t>market price. </a:t>
            </a:r>
            <a:r>
              <a:rPr lang="en-US" sz="2400" smtClean="0"/>
              <a:t/>
            </a:r>
            <a:br>
              <a:rPr lang="en-US" sz="2400" smtClean="0"/>
            </a:br>
            <a:endParaRPr lang="en-US" sz="2400" smtClean="0"/>
          </a:p>
          <a:p>
            <a:pPr marL="457200" indent="-450850">
              <a:buFontTx/>
              <a:buAutoNum type="arabicPeriod"/>
            </a:pPr>
            <a:r>
              <a:rPr lang="tr-TR" sz="2400" smtClean="0"/>
              <a:t>There are two necessary conditions for a perfectly</a:t>
            </a:r>
            <a:r>
              <a:rPr lang="en-US" sz="2400" smtClean="0"/>
              <a:t> c</a:t>
            </a:r>
            <a:r>
              <a:rPr lang="tr-TR" sz="2400" smtClean="0"/>
              <a:t>ompetitive industry: there are many producers, none of</a:t>
            </a:r>
            <a:r>
              <a:rPr lang="en-US" sz="2400" smtClean="0"/>
              <a:t> </a:t>
            </a:r>
            <a:r>
              <a:rPr lang="tr-TR" sz="2400" smtClean="0"/>
              <a:t>whom have a large </a:t>
            </a:r>
            <a:r>
              <a:rPr lang="tr-TR" sz="2400" b="1" smtClean="0"/>
              <a:t>market share, </a:t>
            </a:r>
            <a:r>
              <a:rPr lang="tr-TR" sz="2400" smtClean="0"/>
              <a:t>and the industry produces</a:t>
            </a:r>
            <a:r>
              <a:rPr lang="en-US" sz="2400" smtClean="0"/>
              <a:t> </a:t>
            </a:r>
            <a:r>
              <a:rPr lang="tr-TR" sz="2400" smtClean="0"/>
              <a:t>a </a:t>
            </a:r>
            <a:r>
              <a:rPr lang="tr-TR" sz="2400" b="1" smtClean="0"/>
              <a:t>standardized product </a:t>
            </a:r>
            <a:r>
              <a:rPr lang="tr-TR" sz="2400" smtClean="0"/>
              <a:t>or </a:t>
            </a:r>
            <a:r>
              <a:rPr lang="tr-TR" sz="2400" b="1" smtClean="0"/>
              <a:t>commodity</a:t>
            </a:r>
            <a:r>
              <a:rPr lang="tr-TR" sz="2400" smtClean="0"/>
              <a:t>—goods</a:t>
            </a:r>
            <a:r>
              <a:rPr lang="en-US" sz="2400" smtClean="0"/>
              <a:t> </a:t>
            </a:r>
            <a:r>
              <a:rPr lang="tr-TR" sz="2400" smtClean="0"/>
              <a:t>that consumers regard as equivalent. </a:t>
            </a:r>
            <a:r>
              <a:rPr lang="en-US" sz="2400" smtClean="0"/>
              <a:t/>
            </a:r>
            <a:br>
              <a:rPr lang="en-US" sz="2400" smtClean="0"/>
            </a:br>
            <a:r>
              <a:rPr lang="en-US" sz="2400" smtClean="0"/>
              <a:t/>
            </a:r>
            <a:br>
              <a:rPr lang="en-US" sz="2400" smtClean="0"/>
            </a:br>
            <a:r>
              <a:rPr lang="tr-TR" sz="2400" smtClean="0"/>
              <a:t>A third condition is</a:t>
            </a:r>
            <a:r>
              <a:rPr lang="en-US" sz="2400" smtClean="0"/>
              <a:t> </a:t>
            </a:r>
            <a:r>
              <a:rPr lang="tr-TR" sz="2400" smtClean="0"/>
              <a:t>often satisfied as well: </a:t>
            </a:r>
            <a:r>
              <a:rPr lang="tr-TR" sz="2400" b="1" smtClean="0"/>
              <a:t>free entry and exit </a:t>
            </a:r>
            <a:r>
              <a:rPr lang="tr-TR" sz="2400" smtClean="0"/>
              <a:t>into and</a:t>
            </a:r>
            <a:r>
              <a:rPr lang="en-US" sz="2400" smtClean="0"/>
              <a:t> </a:t>
            </a:r>
            <a:r>
              <a:rPr lang="tr-TR" sz="2400" smtClean="0"/>
              <a:t>from the industry.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6306">
                                            <p:txEl>
                                              <p:pRg st="0" end="0"/>
                                            </p:txEl>
                                          </p:spTgt>
                                        </p:tgtEl>
                                        <p:attrNameLst>
                                          <p:attrName>style.visibility</p:attrName>
                                        </p:attrNameLst>
                                      </p:cBhvr>
                                      <p:to>
                                        <p:strVal val="visible"/>
                                      </p:to>
                                    </p:set>
                                    <p:animEffect transition="in" filter="fade">
                                      <p:cBhvr>
                                        <p:cTn id="7" dur="500"/>
                                        <p:tgtEl>
                                          <p:spTgt spid="2263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6306">
                                            <p:txEl>
                                              <p:pRg st="1" end="1"/>
                                            </p:txEl>
                                          </p:spTgt>
                                        </p:tgtEl>
                                        <p:attrNameLst>
                                          <p:attrName>style.visibility</p:attrName>
                                        </p:attrNameLst>
                                      </p:cBhvr>
                                      <p:to>
                                        <p:strVal val="visible"/>
                                      </p:to>
                                    </p:set>
                                    <p:animEffect transition="in" filter="fade">
                                      <p:cBhvr>
                                        <p:cTn id="12" dur="500"/>
                                        <p:tgtEl>
                                          <p:spTgt spid="2263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216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27330" name="Rectangle 2"/>
          <p:cNvSpPr>
            <a:spLocks noGrp="1" noChangeArrowheads="1"/>
          </p:cNvSpPr>
          <p:nvPr>
            <p:ph idx="4294967295"/>
          </p:nvPr>
        </p:nvSpPr>
        <p:spPr>
          <a:xfrm>
            <a:off x="887413" y="981075"/>
            <a:ext cx="8005762" cy="5400675"/>
          </a:xfrm>
        </p:spPr>
        <p:txBody>
          <a:bodyPr/>
          <a:lstStyle/>
          <a:p>
            <a:pPr marL="457200" indent="-457200">
              <a:spcBef>
                <a:spcPct val="0"/>
              </a:spcBef>
              <a:buFontTx/>
              <a:buAutoNum type="arabicPeriod" startAt="3"/>
            </a:pPr>
            <a:r>
              <a:rPr lang="tr-TR" sz="2400" smtClean="0"/>
              <a:t>A producer chooses output according to the </a:t>
            </a:r>
            <a:r>
              <a:rPr lang="tr-TR" sz="2400" b="1" smtClean="0"/>
              <a:t>optimal</a:t>
            </a:r>
            <a:r>
              <a:rPr lang="en-US" sz="2400" b="1" smtClean="0"/>
              <a:t> </a:t>
            </a:r>
            <a:r>
              <a:rPr lang="tr-TR" sz="2400" b="1" smtClean="0"/>
              <a:t>output rule</a:t>
            </a:r>
            <a:r>
              <a:rPr lang="tr-TR" sz="2400" smtClean="0"/>
              <a:t>:</a:t>
            </a:r>
            <a:r>
              <a:rPr lang="tr-TR" sz="2400" b="1" smtClean="0"/>
              <a:t> </a:t>
            </a:r>
            <a:r>
              <a:rPr lang="tr-TR" sz="2400" smtClean="0"/>
              <a:t>produce the quantity at which </a:t>
            </a:r>
            <a:r>
              <a:rPr lang="tr-TR" sz="2400" b="1" smtClean="0"/>
              <a:t>marginal</a:t>
            </a:r>
            <a:r>
              <a:rPr lang="en-US" sz="2400" b="1" smtClean="0"/>
              <a:t> </a:t>
            </a:r>
            <a:r>
              <a:rPr lang="tr-TR" sz="2400" b="1" smtClean="0"/>
              <a:t>revenue </a:t>
            </a:r>
            <a:r>
              <a:rPr lang="tr-TR" sz="2400" smtClean="0"/>
              <a:t>equals marginal cost. </a:t>
            </a:r>
            <a:r>
              <a:rPr lang="en-US" sz="2400" smtClean="0"/>
              <a:t/>
            </a:r>
            <a:br>
              <a:rPr lang="en-US" sz="2400" smtClean="0"/>
            </a:br>
            <a:r>
              <a:rPr lang="en-US" sz="2400" smtClean="0"/>
              <a:t/>
            </a:r>
            <a:br>
              <a:rPr lang="en-US" sz="2400" smtClean="0"/>
            </a:br>
            <a:r>
              <a:rPr lang="tr-TR" sz="2400" smtClean="0"/>
              <a:t>For a price-taking firm,</a:t>
            </a:r>
            <a:r>
              <a:rPr lang="en-US" sz="2400" smtClean="0"/>
              <a:t> </a:t>
            </a:r>
            <a:r>
              <a:rPr lang="tr-TR" sz="2400" smtClean="0"/>
              <a:t>marginal revenue is equal to price and its </a:t>
            </a:r>
            <a:r>
              <a:rPr lang="tr-TR" sz="2400" b="1" smtClean="0"/>
              <a:t>marginal revenue</a:t>
            </a:r>
            <a:r>
              <a:rPr lang="en-US" sz="2400" b="1" smtClean="0"/>
              <a:t> </a:t>
            </a:r>
            <a:r>
              <a:rPr lang="tr-TR" sz="2400" b="1" smtClean="0"/>
              <a:t>curve </a:t>
            </a:r>
            <a:r>
              <a:rPr lang="tr-TR" sz="2400" smtClean="0"/>
              <a:t>is a horizontal line at the market price. It</a:t>
            </a:r>
            <a:r>
              <a:rPr lang="en-US" sz="2400" smtClean="0"/>
              <a:t> </a:t>
            </a:r>
            <a:r>
              <a:rPr lang="tr-TR" sz="2400" smtClean="0"/>
              <a:t>chooses output according to the </a:t>
            </a:r>
            <a:r>
              <a:rPr lang="tr-TR" sz="2400" b="1" smtClean="0"/>
              <a:t>price-taking firm’s</a:t>
            </a:r>
            <a:r>
              <a:rPr lang="en-US" sz="2400" b="1" smtClean="0"/>
              <a:t> </a:t>
            </a:r>
            <a:r>
              <a:rPr lang="tr-TR" sz="2400" b="1" smtClean="0"/>
              <a:t>optimal output rule</a:t>
            </a:r>
            <a:r>
              <a:rPr lang="tr-TR" sz="2400" smtClean="0"/>
              <a:t>:</a:t>
            </a:r>
            <a:r>
              <a:rPr lang="tr-TR" sz="2400" b="1" smtClean="0"/>
              <a:t> </a:t>
            </a:r>
            <a:r>
              <a:rPr lang="tr-TR" sz="2400" smtClean="0"/>
              <a:t>produce the quantity at which</a:t>
            </a:r>
            <a:r>
              <a:rPr lang="en-US" sz="2400" smtClean="0"/>
              <a:t> </a:t>
            </a:r>
            <a:r>
              <a:rPr lang="tr-TR" sz="2400" smtClean="0"/>
              <a:t>price equals marginal cost.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7330">
                                            <p:txEl>
                                              <p:pRg st="0" end="0"/>
                                            </p:txEl>
                                          </p:spTgt>
                                        </p:tgtEl>
                                        <p:attrNameLst>
                                          <p:attrName>style.visibility</p:attrName>
                                        </p:attrNameLst>
                                      </p:cBhvr>
                                      <p:to>
                                        <p:strVal val="visible"/>
                                      </p:to>
                                    </p:set>
                                    <p:animEffect transition="in" filter="fade">
                                      <p:cBhvr>
                                        <p:cTn id="7" dur="500"/>
                                        <p:tgtEl>
                                          <p:spTgt spid="2273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29378" name="Rectangle 2"/>
          <p:cNvSpPr>
            <a:spLocks noGrp="1" noChangeArrowheads="1"/>
          </p:cNvSpPr>
          <p:nvPr>
            <p:ph idx="4294967295"/>
          </p:nvPr>
        </p:nvSpPr>
        <p:spPr>
          <a:xfrm>
            <a:off x="887413" y="908050"/>
            <a:ext cx="8005762" cy="5329238"/>
          </a:xfrm>
        </p:spPr>
        <p:txBody>
          <a:bodyPr/>
          <a:lstStyle/>
          <a:p>
            <a:pPr marL="457200" indent="-457200">
              <a:spcBef>
                <a:spcPct val="0"/>
              </a:spcBef>
              <a:buFontTx/>
              <a:buNone/>
            </a:pPr>
            <a:r>
              <a:rPr lang="en-US" sz="2400" smtClean="0"/>
              <a:t>4.  </a:t>
            </a:r>
            <a:r>
              <a:rPr lang="tr-TR" sz="2400" smtClean="0"/>
              <a:t>Fixed cost is irrelevant to the firm’s optimal short-run</a:t>
            </a:r>
            <a:r>
              <a:rPr lang="en-US" sz="2400" smtClean="0"/>
              <a:t> </a:t>
            </a:r>
            <a:r>
              <a:rPr lang="tr-TR" sz="2400" smtClean="0"/>
              <a:t>production decision, which depends on its </a:t>
            </a:r>
            <a:r>
              <a:rPr lang="tr-TR" sz="2400" b="1" smtClean="0"/>
              <a:t>shut-down</a:t>
            </a:r>
            <a:r>
              <a:rPr lang="en-US" sz="2400" b="1" smtClean="0"/>
              <a:t> </a:t>
            </a:r>
            <a:r>
              <a:rPr lang="tr-TR" sz="2400" b="1" smtClean="0"/>
              <a:t>price</a:t>
            </a:r>
            <a:r>
              <a:rPr lang="tr-TR" sz="2400" smtClean="0"/>
              <a:t>—its minimum average variable cost—and the market</a:t>
            </a:r>
            <a:r>
              <a:rPr lang="en-US" sz="2400" smtClean="0"/>
              <a:t> </a:t>
            </a:r>
            <a:r>
              <a:rPr lang="tr-TR" sz="2400" smtClean="0"/>
              <a:t>price. </a:t>
            </a:r>
            <a:r>
              <a:rPr lang="en-US" sz="2400" smtClean="0"/>
              <a:t/>
            </a:r>
            <a:br>
              <a:rPr lang="en-US" sz="2400" smtClean="0"/>
            </a:br>
            <a:r>
              <a:rPr lang="en-US" sz="2400" smtClean="0"/>
              <a:t/>
            </a:r>
            <a:br>
              <a:rPr lang="en-US" sz="2400" smtClean="0"/>
            </a:br>
            <a:r>
              <a:rPr lang="tr-TR" sz="2400" smtClean="0"/>
              <a:t>When the market price is equal to or exceeds</a:t>
            </a:r>
            <a:r>
              <a:rPr lang="en-US" sz="2400" smtClean="0"/>
              <a:t> </a:t>
            </a:r>
            <a:r>
              <a:rPr lang="tr-TR" sz="2400" smtClean="0"/>
              <a:t>the shut-down price, the firm produces the output quantity</a:t>
            </a:r>
            <a:r>
              <a:rPr lang="en-US" sz="2400" smtClean="0"/>
              <a:t> </a:t>
            </a:r>
            <a:r>
              <a:rPr lang="tr-TR" sz="2400" smtClean="0"/>
              <a:t>where marginal cost equals the market price. </a:t>
            </a:r>
            <a:r>
              <a:rPr lang="en-US" sz="2400" smtClean="0"/>
              <a:t/>
            </a:r>
            <a:br>
              <a:rPr lang="en-US" sz="2400" smtClean="0"/>
            </a:br>
            <a:r>
              <a:rPr lang="en-US" sz="2400" smtClean="0"/>
              <a:t/>
            </a:r>
            <a:br>
              <a:rPr lang="en-US" sz="2400" smtClean="0"/>
            </a:br>
            <a:r>
              <a:rPr lang="tr-TR" sz="2400" smtClean="0"/>
              <a:t>When</a:t>
            </a:r>
            <a:r>
              <a:rPr lang="en-US" sz="2400" smtClean="0"/>
              <a:t> </a:t>
            </a:r>
            <a:r>
              <a:rPr lang="tr-TR" sz="2400" smtClean="0"/>
              <a:t>the market price falls below the shut-down price, the</a:t>
            </a:r>
            <a:r>
              <a:rPr lang="en-US" sz="2400" smtClean="0"/>
              <a:t> </a:t>
            </a:r>
            <a:r>
              <a:rPr lang="tr-TR" sz="2400" smtClean="0"/>
              <a:t>firm ceases production in the short run. This generates</a:t>
            </a:r>
            <a:r>
              <a:rPr lang="en-US" sz="2400" smtClean="0"/>
              <a:t> </a:t>
            </a:r>
            <a:r>
              <a:rPr lang="tr-TR" sz="2400" smtClean="0"/>
              <a:t>the firm’s </a:t>
            </a:r>
            <a:r>
              <a:rPr lang="tr-TR" sz="2400" b="1" smtClean="0"/>
              <a:t>short-run individual supply curve.</a:t>
            </a:r>
            <a:endParaRPr lang="tr-TR"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9378">
                                            <p:txEl>
                                              <p:pRg st="0" end="0"/>
                                            </p:txEl>
                                          </p:spTgt>
                                        </p:tgtEl>
                                        <p:attrNameLst>
                                          <p:attrName>style.visibility</p:attrName>
                                        </p:attrNameLst>
                                      </p:cBhvr>
                                      <p:to>
                                        <p:strVal val="visible"/>
                                      </p:to>
                                    </p:set>
                                    <p:animEffect transition="in" filter="fade">
                                      <p:cBhvr>
                                        <p:cTn id="7" dur="500"/>
                                        <p:tgtEl>
                                          <p:spTgt spid="2293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29378" name="Rectangle 2"/>
          <p:cNvSpPr>
            <a:spLocks noGrp="1" noChangeArrowheads="1"/>
          </p:cNvSpPr>
          <p:nvPr>
            <p:ph idx="4294967295"/>
          </p:nvPr>
        </p:nvSpPr>
        <p:spPr>
          <a:xfrm>
            <a:off x="887413" y="908050"/>
            <a:ext cx="8005762" cy="5329238"/>
          </a:xfrm>
        </p:spPr>
        <p:txBody>
          <a:bodyPr/>
          <a:lstStyle/>
          <a:p>
            <a:pPr marL="457200" indent="-457200">
              <a:spcBef>
                <a:spcPct val="0"/>
              </a:spcBef>
              <a:buFont typeface="Calibri" pitchFamily="34" charset="0"/>
              <a:buNone/>
            </a:pPr>
            <a:r>
              <a:rPr lang="en-US" sz="2400" smtClean="0"/>
              <a:t>5.  </a:t>
            </a:r>
            <a:r>
              <a:rPr lang="tr-TR" sz="2400" smtClean="0"/>
              <a:t>Fixed cost matters over time. </a:t>
            </a:r>
            <a:r>
              <a:rPr lang="en-US" sz="2400" smtClean="0"/>
              <a:t/>
            </a:r>
            <a:br>
              <a:rPr lang="en-US" sz="2400" smtClean="0"/>
            </a:br>
            <a:r>
              <a:rPr lang="en-US" sz="2400" smtClean="0"/>
              <a:t/>
            </a:r>
            <a:br>
              <a:rPr lang="en-US" sz="2400" smtClean="0"/>
            </a:br>
            <a:r>
              <a:rPr lang="tr-TR" sz="2400" smtClean="0"/>
              <a:t>If the market price is</a:t>
            </a:r>
            <a:r>
              <a:rPr lang="en-US" sz="2400" smtClean="0"/>
              <a:t> </a:t>
            </a:r>
            <a:r>
              <a:rPr lang="tr-TR" sz="2400" i="1" smtClean="0"/>
              <a:t>below</a:t>
            </a:r>
            <a:r>
              <a:rPr lang="tr-TR" sz="2400" smtClean="0"/>
              <a:t> minimum average total cost for an extended</a:t>
            </a:r>
            <a:r>
              <a:rPr lang="en-US" sz="2400" smtClean="0"/>
              <a:t> </a:t>
            </a:r>
            <a:r>
              <a:rPr lang="tr-TR" sz="2400" smtClean="0"/>
              <a:t>period, firms will exit the industry in the long</a:t>
            </a:r>
            <a:r>
              <a:rPr lang="en-US" sz="2400" smtClean="0"/>
              <a:t> </a:t>
            </a:r>
            <a:r>
              <a:rPr lang="tr-TR" sz="2400" smtClean="0"/>
              <a:t>run. </a:t>
            </a:r>
            <a:r>
              <a:rPr lang="en-US" sz="2400" smtClean="0"/>
              <a:t/>
            </a:r>
            <a:br>
              <a:rPr lang="en-US" sz="2400" smtClean="0"/>
            </a:br>
            <a:r>
              <a:rPr lang="en-US" sz="2400" smtClean="0"/>
              <a:t/>
            </a:r>
            <a:br>
              <a:rPr lang="en-US" sz="2400" smtClean="0"/>
            </a:br>
            <a:r>
              <a:rPr lang="tr-TR" sz="2400" smtClean="0"/>
              <a:t>If market price is</a:t>
            </a:r>
            <a:r>
              <a:rPr lang="en-US" sz="2400" smtClean="0"/>
              <a:t> </a:t>
            </a:r>
            <a:r>
              <a:rPr lang="tr-TR" sz="2400" i="1" smtClean="0"/>
              <a:t>above</a:t>
            </a:r>
            <a:r>
              <a:rPr lang="en-US" sz="2400" i="1" smtClean="0"/>
              <a:t> </a:t>
            </a:r>
            <a:r>
              <a:rPr lang="tr-TR" sz="2400" smtClean="0"/>
              <a:t>minimum average total cost, existing firms are profitable and new</a:t>
            </a:r>
            <a:r>
              <a:rPr lang="en-US" sz="2400" smtClean="0"/>
              <a:t> </a:t>
            </a:r>
            <a:r>
              <a:rPr lang="tr-TR" sz="2400" smtClean="0"/>
              <a:t>firms will enter the industry in the long run.</a:t>
            </a:r>
            <a:r>
              <a:rPr lang="en-US" sz="2400" smtClean="0"/>
              <a:t/>
            </a:r>
            <a:br>
              <a:rPr lang="en-US" sz="2400" smtClean="0"/>
            </a:br>
            <a:endParaRPr lang="tr-TR"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9378">
                                            <p:txEl>
                                              <p:pRg st="0" end="0"/>
                                            </p:txEl>
                                          </p:spTgt>
                                        </p:tgtEl>
                                        <p:attrNameLst>
                                          <p:attrName>style.visibility</p:attrName>
                                        </p:attrNameLst>
                                      </p:cBhvr>
                                      <p:to>
                                        <p:strVal val="visible"/>
                                      </p:to>
                                    </p:set>
                                    <p:animEffect transition="in" filter="fade">
                                      <p:cBhvr>
                                        <p:cTn id="7" dur="500"/>
                                        <p:tgtEl>
                                          <p:spTgt spid="2293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216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27330" name="Rectangle 2"/>
          <p:cNvSpPr>
            <a:spLocks noGrp="1" noChangeArrowheads="1"/>
          </p:cNvSpPr>
          <p:nvPr>
            <p:ph idx="4294967295"/>
          </p:nvPr>
        </p:nvSpPr>
        <p:spPr>
          <a:xfrm>
            <a:off x="887413" y="908050"/>
            <a:ext cx="8077200" cy="5724525"/>
          </a:xfrm>
        </p:spPr>
        <p:txBody>
          <a:bodyPr/>
          <a:lstStyle/>
          <a:p>
            <a:pPr marL="457200" indent="-457200">
              <a:spcBef>
                <a:spcPct val="0"/>
              </a:spcBef>
              <a:buFont typeface="Calibri" pitchFamily="34" charset="0"/>
              <a:buAutoNum type="arabicPeriod" startAt="6"/>
            </a:pPr>
            <a:r>
              <a:rPr lang="tr-TR" sz="2400" smtClean="0"/>
              <a:t>A firm is profitable if total revenue exceeds total cost or,</a:t>
            </a:r>
            <a:r>
              <a:rPr lang="en-US" sz="2400" smtClean="0"/>
              <a:t> </a:t>
            </a:r>
            <a:r>
              <a:rPr lang="tr-TR" sz="2400" smtClean="0"/>
              <a:t>equivalently, if the market price exceeds its </a:t>
            </a:r>
            <a:r>
              <a:rPr lang="tr-TR" sz="2400" b="1" smtClean="0"/>
              <a:t>break-even price</a:t>
            </a:r>
            <a:r>
              <a:rPr lang="tr-TR" sz="2400" smtClean="0"/>
              <a:t>—</a:t>
            </a:r>
            <a:r>
              <a:rPr lang="en-US" sz="2400" smtClean="0"/>
              <a:t>the </a:t>
            </a:r>
            <a:r>
              <a:rPr lang="tr-TR" sz="2400" smtClean="0"/>
              <a:t>minimum average total cost. </a:t>
            </a:r>
            <a:r>
              <a:rPr lang="en-US" sz="2400" smtClean="0"/>
              <a:t/>
            </a:r>
            <a:br>
              <a:rPr lang="en-US" sz="2400" smtClean="0"/>
            </a:br>
            <a:r>
              <a:rPr lang="tr-TR" sz="2400" smtClean="0"/>
              <a:t>If market price exceeds </a:t>
            </a:r>
            <a:r>
              <a:rPr lang="en-US" sz="2400" smtClean="0"/>
              <a:t> </a:t>
            </a:r>
            <a:r>
              <a:rPr lang="tr-TR" sz="2400" smtClean="0"/>
              <a:t>the break-even price, the firm is profitable; if it is less, the firm is unprofitable; if it is equal, the firm breaks even. </a:t>
            </a:r>
            <a:r>
              <a:rPr lang="en-US" sz="2400" smtClean="0"/>
              <a:t/>
            </a:r>
            <a:br>
              <a:rPr lang="en-US" sz="2400" smtClean="0"/>
            </a:br>
            <a:r>
              <a:rPr lang="tr-TR" sz="2400" i="1" smtClean="0"/>
              <a:t>When </a:t>
            </a:r>
            <a:r>
              <a:rPr lang="en-US" sz="2400" i="1" smtClean="0"/>
              <a:t> </a:t>
            </a:r>
            <a:r>
              <a:rPr lang="tr-TR" sz="2400" i="1" smtClean="0"/>
              <a:t>profitable</a:t>
            </a:r>
            <a:r>
              <a:rPr lang="tr-TR" sz="2400" smtClean="0"/>
              <a:t>, the firm’s per-unit profit is </a:t>
            </a:r>
            <a:r>
              <a:rPr lang="tr-TR" sz="2400" i="1" smtClean="0"/>
              <a:t>P </a:t>
            </a:r>
            <a:r>
              <a:rPr lang="tr-TR" sz="2400" smtClean="0"/>
              <a:t>− </a:t>
            </a:r>
            <a:r>
              <a:rPr lang="tr-TR" sz="2400" i="1" smtClean="0"/>
              <a:t>ATC; </a:t>
            </a:r>
            <a:r>
              <a:rPr lang="en-US" sz="2400" i="1" smtClean="0"/>
              <a:t/>
            </a:r>
            <a:br>
              <a:rPr lang="en-US" sz="2400" i="1" smtClean="0"/>
            </a:br>
            <a:r>
              <a:rPr lang="tr-TR" sz="2400" i="1" smtClean="0"/>
              <a:t>when </a:t>
            </a:r>
            <a:r>
              <a:rPr lang="en-US" sz="2400" i="1" smtClean="0"/>
              <a:t> </a:t>
            </a:r>
            <a:r>
              <a:rPr lang="tr-TR" sz="2400" i="1" smtClean="0"/>
              <a:t>unprofitable</a:t>
            </a:r>
            <a:r>
              <a:rPr lang="tr-TR" sz="2400" smtClean="0"/>
              <a:t>, its per-unit loss is </a:t>
            </a:r>
            <a:r>
              <a:rPr lang="tr-TR" sz="2400" i="1" smtClean="0"/>
              <a:t>ATC </a:t>
            </a:r>
            <a:r>
              <a:rPr lang="tr-TR" sz="2400" smtClean="0"/>
              <a:t>− </a:t>
            </a:r>
            <a:r>
              <a:rPr lang="tr-TR" sz="2400" i="1" smtClean="0"/>
              <a:t>P.</a:t>
            </a:r>
            <a:endParaRPr lang="en-US" sz="2400" i="1" smtClean="0"/>
          </a:p>
          <a:p>
            <a:pPr marL="457200" indent="-457200">
              <a:spcBef>
                <a:spcPct val="0"/>
              </a:spcBef>
              <a:buFont typeface="Calibri" pitchFamily="34" charset="0"/>
              <a:buAutoNum type="arabicPeriod" startAt="6"/>
            </a:pPr>
            <a:endParaRPr lang="en-US" sz="2400" i="1" smtClean="0"/>
          </a:p>
          <a:p>
            <a:pPr marL="457200" indent="-457200">
              <a:buFontTx/>
              <a:buAutoNum type="arabicPeriod" startAt="6"/>
            </a:pPr>
            <a:r>
              <a:rPr lang="tr-TR" sz="2400" smtClean="0"/>
              <a:t>The </a:t>
            </a:r>
            <a:r>
              <a:rPr lang="tr-TR" sz="2400" b="1" smtClean="0"/>
              <a:t>industry supply curve </a:t>
            </a:r>
            <a:r>
              <a:rPr lang="tr-TR" sz="2400" smtClean="0"/>
              <a:t>depends on the time period.</a:t>
            </a:r>
            <a:r>
              <a:rPr lang="en-US" sz="2400" smtClean="0"/>
              <a:t> </a:t>
            </a:r>
            <a:br>
              <a:rPr lang="en-US" sz="2400" smtClean="0"/>
            </a:br>
            <a:r>
              <a:rPr lang="tr-TR" sz="2400" smtClean="0"/>
              <a:t>The </a:t>
            </a:r>
            <a:r>
              <a:rPr lang="tr-TR" sz="2400" b="1" smtClean="0"/>
              <a:t>short-run industry supply curve </a:t>
            </a:r>
            <a:r>
              <a:rPr lang="tr-TR" sz="2400" smtClean="0"/>
              <a:t>is the industry</a:t>
            </a:r>
            <a:r>
              <a:rPr lang="en-US" sz="2400" smtClean="0"/>
              <a:t> </a:t>
            </a:r>
            <a:r>
              <a:rPr lang="tr-TR" sz="2400" smtClean="0"/>
              <a:t>supply curve given that the number of firms is fixed. </a:t>
            </a:r>
            <a:r>
              <a:rPr lang="en-US" sz="2400" smtClean="0"/>
              <a:t/>
            </a:r>
            <a:br>
              <a:rPr lang="en-US" sz="2400" smtClean="0"/>
            </a:br>
            <a:r>
              <a:rPr lang="tr-TR" sz="2400" smtClean="0"/>
              <a:t>The</a:t>
            </a:r>
            <a:r>
              <a:rPr lang="en-US" sz="2400" smtClean="0"/>
              <a:t> </a:t>
            </a:r>
            <a:r>
              <a:rPr lang="tr-TR" sz="2400" b="1" smtClean="0"/>
              <a:t>short-run market equilibrium </a:t>
            </a:r>
            <a:r>
              <a:rPr lang="tr-TR" sz="2400" smtClean="0"/>
              <a:t>is given by the intersection</a:t>
            </a:r>
            <a:r>
              <a:rPr lang="en-US" sz="2400" smtClean="0"/>
              <a:t> </a:t>
            </a:r>
            <a:r>
              <a:rPr lang="tr-TR" sz="2400" smtClean="0"/>
              <a:t>of the short-run industry supply curve and the</a:t>
            </a:r>
            <a:r>
              <a:rPr lang="en-US" sz="2400" smtClean="0"/>
              <a:t> </a:t>
            </a:r>
            <a:r>
              <a:rPr lang="tr-TR" sz="2400" smtClean="0"/>
              <a:t>demand curve.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7330">
                                            <p:txEl>
                                              <p:pRg st="0" end="0"/>
                                            </p:txEl>
                                          </p:spTgt>
                                        </p:tgtEl>
                                        <p:attrNameLst>
                                          <p:attrName>style.visibility</p:attrName>
                                        </p:attrNameLst>
                                      </p:cBhvr>
                                      <p:to>
                                        <p:strVal val="visible"/>
                                      </p:to>
                                    </p:set>
                                    <p:animEffect transition="in" filter="fade">
                                      <p:cBhvr>
                                        <p:cTn id="7" dur="500"/>
                                        <p:tgtEl>
                                          <p:spTgt spid="227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7330">
                                            <p:txEl>
                                              <p:pRg st="2" end="2"/>
                                            </p:txEl>
                                          </p:spTgt>
                                        </p:tgtEl>
                                        <p:attrNameLst>
                                          <p:attrName>style.visibility</p:attrName>
                                        </p:attrNameLst>
                                      </p:cBhvr>
                                      <p:to>
                                        <p:strVal val="visible"/>
                                      </p:to>
                                    </p:set>
                                    <p:animEffect transition="in" filter="fade">
                                      <p:cBhvr>
                                        <p:cTn id="12" dur="500"/>
                                        <p:tgtEl>
                                          <p:spTgt spid="2273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30402" name="Rectangle 2"/>
          <p:cNvSpPr>
            <a:spLocks noGrp="1" noChangeArrowheads="1"/>
          </p:cNvSpPr>
          <p:nvPr>
            <p:ph idx="4294967295"/>
          </p:nvPr>
        </p:nvSpPr>
        <p:spPr>
          <a:xfrm>
            <a:off x="887413" y="981075"/>
            <a:ext cx="8077200" cy="5145088"/>
          </a:xfrm>
        </p:spPr>
        <p:txBody>
          <a:bodyPr/>
          <a:lstStyle/>
          <a:p>
            <a:pPr marL="457200" indent="-457200">
              <a:buFont typeface="Calibri" pitchFamily="34" charset="0"/>
              <a:buAutoNum type="arabicPeriod" startAt="8"/>
            </a:pPr>
            <a:r>
              <a:rPr lang="tr-TR" sz="2400" smtClean="0"/>
              <a:t>The </a:t>
            </a:r>
            <a:r>
              <a:rPr lang="tr-TR" sz="2400" b="1" smtClean="0"/>
              <a:t>long-run industry supply curve </a:t>
            </a:r>
            <a:r>
              <a:rPr lang="tr-TR" sz="2400" smtClean="0"/>
              <a:t>is the industry supply</a:t>
            </a:r>
            <a:r>
              <a:rPr lang="en-US" sz="2400" smtClean="0"/>
              <a:t> </a:t>
            </a:r>
            <a:r>
              <a:rPr lang="tr-TR" sz="2400" smtClean="0"/>
              <a:t>curve given sufficient time for entry into and exit from</a:t>
            </a:r>
            <a:r>
              <a:rPr lang="en-US" sz="2400" smtClean="0"/>
              <a:t> </a:t>
            </a:r>
            <a:r>
              <a:rPr lang="tr-TR" sz="2400" smtClean="0"/>
              <a:t>the industry. </a:t>
            </a:r>
            <a:r>
              <a:rPr lang="en-US" sz="2400" smtClean="0"/>
              <a:t/>
            </a:r>
            <a:br>
              <a:rPr lang="en-US" sz="2400" smtClean="0"/>
            </a:br>
            <a:r>
              <a:rPr lang="en-US" sz="2400" smtClean="0"/>
              <a:t/>
            </a:r>
            <a:br>
              <a:rPr lang="en-US" sz="2400" smtClean="0"/>
            </a:br>
            <a:r>
              <a:rPr lang="tr-TR" sz="2400" smtClean="0"/>
              <a:t>In the </a:t>
            </a:r>
            <a:r>
              <a:rPr lang="tr-TR" sz="2400" b="1" smtClean="0"/>
              <a:t>long-run market equilibrium</a:t>
            </a:r>
            <a:r>
              <a:rPr lang="tr-TR" sz="2400" smtClean="0"/>
              <a:t>—given by the intersection of the long-run industry supply</a:t>
            </a:r>
            <a:r>
              <a:rPr lang="en-US" sz="2400" smtClean="0"/>
              <a:t> </a:t>
            </a:r>
            <a:r>
              <a:rPr lang="tr-TR" sz="2400" smtClean="0"/>
              <a:t>curve and the demand curve—no producer has an incentive</a:t>
            </a:r>
            <a:r>
              <a:rPr lang="en-US" sz="2400" smtClean="0"/>
              <a:t> </a:t>
            </a:r>
            <a:r>
              <a:rPr lang="tr-TR" sz="2400" smtClean="0"/>
              <a:t>to enter or exit. </a:t>
            </a:r>
            <a:r>
              <a:rPr lang="en-US" sz="2400" smtClean="0"/>
              <a:t/>
            </a:r>
            <a:br>
              <a:rPr lang="en-US" sz="2400" smtClean="0"/>
            </a:br>
            <a:r>
              <a:rPr lang="en-US" sz="2400" smtClean="0"/>
              <a:t/>
            </a:r>
            <a:br>
              <a:rPr lang="en-US" sz="2400" smtClean="0"/>
            </a:br>
            <a:r>
              <a:rPr lang="tr-TR" sz="2400" smtClean="0"/>
              <a:t>The long-run industry supply curve is</a:t>
            </a:r>
            <a:r>
              <a:rPr lang="en-US" sz="2400" smtClean="0"/>
              <a:t> </a:t>
            </a:r>
            <a:r>
              <a:rPr lang="tr-TR" sz="2400" smtClean="0"/>
              <a:t>often horizontal. It may slope upward if there is limited</a:t>
            </a:r>
            <a:r>
              <a:rPr lang="en-US" sz="2400" smtClean="0"/>
              <a:t> </a:t>
            </a:r>
            <a:r>
              <a:rPr lang="tr-TR" sz="2400" smtClean="0"/>
              <a:t>supply of an input. </a:t>
            </a:r>
            <a:r>
              <a:rPr lang="en-US" sz="2400" smtClean="0"/>
              <a:t>I</a:t>
            </a:r>
            <a:r>
              <a:rPr lang="tr-TR" sz="2400" smtClean="0"/>
              <a:t>t is always more elastic</a:t>
            </a:r>
            <a:r>
              <a:rPr lang="en-US" sz="2400" smtClean="0"/>
              <a:t> </a:t>
            </a:r>
            <a:r>
              <a:rPr lang="tr-TR" sz="2400" smtClean="0"/>
              <a:t>than the short-run industry supply curve</a:t>
            </a:r>
            <a:r>
              <a:rPr lang="en-US" sz="2400" smtClean="0"/>
              <a:t>.</a:t>
            </a:r>
            <a:endParaRPr lang="tr-TR"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0402">
                                            <p:txEl>
                                              <p:pRg st="0" end="0"/>
                                            </p:txEl>
                                          </p:spTgt>
                                        </p:tgtEl>
                                        <p:attrNameLst>
                                          <p:attrName>style.visibility</p:attrName>
                                        </p:attrNameLst>
                                      </p:cBhvr>
                                      <p:to>
                                        <p:strVal val="visible"/>
                                      </p:to>
                                    </p:set>
                                    <p:animEffect transition="in" filter="fade">
                                      <p:cBhvr>
                                        <p:cTn id="7" dur="500"/>
                                        <p:tgtEl>
                                          <p:spTgt spid="2304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93063"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32450" name="Rectangle 2"/>
          <p:cNvSpPr>
            <a:spLocks noGrp="1" noChangeArrowheads="1"/>
          </p:cNvSpPr>
          <p:nvPr>
            <p:ph idx="4294967295"/>
          </p:nvPr>
        </p:nvSpPr>
        <p:spPr>
          <a:xfrm>
            <a:off x="887413" y="981075"/>
            <a:ext cx="8005762" cy="5145088"/>
          </a:xfrm>
        </p:spPr>
        <p:txBody>
          <a:bodyPr/>
          <a:lstStyle/>
          <a:p>
            <a:pPr marL="457200" indent="-457200">
              <a:buFontTx/>
              <a:buAutoNum type="arabicPeriod" startAt="9"/>
            </a:pPr>
            <a:r>
              <a:rPr lang="tr-TR" sz="2400" smtClean="0"/>
              <a:t>In the long-run market equilibrium of a competitive</a:t>
            </a:r>
            <a:r>
              <a:rPr lang="en-US" sz="2400" smtClean="0"/>
              <a:t> </a:t>
            </a:r>
            <a:r>
              <a:rPr lang="tr-TR" sz="2400" smtClean="0"/>
              <a:t>industry, profit maximization leads each firm to produce</a:t>
            </a:r>
            <a:r>
              <a:rPr lang="en-US" sz="2400" smtClean="0"/>
              <a:t> </a:t>
            </a:r>
            <a:r>
              <a:rPr lang="tr-TR" sz="2400" smtClean="0"/>
              <a:t>at the same marginal cost, which is equal to market</a:t>
            </a:r>
            <a:r>
              <a:rPr lang="en-US" sz="2400" smtClean="0"/>
              <a:t> </a:t>
            </a:r>
            <a:r>
              <a:rPr lang="tr-TR" sz="2400" smtClean="0"/>
              <a:t>price.</a:t>
            </a:r>
            <a:r>
              <a:rPr lang="en-US" sz="2400" smtClean="0"/>
              <a:t/>
            </a:r>
            <a:br>
              <a:rPr lang="en-US" sz="2400" smtClean="0"/>
            </a:br>
            <a:r>
              <a:rPr lang="en-US" sz="2400" smtClean="0"/>
              <a:t/>
            </a:r>
            <a:br>
              <a:rPr lang="en-US" sz="2400" smtClean="0"/>
            </a:br>
            <a:r>
              <a:rPr lang="tr-TR" sz="2400" smtClean="0"/>
              <a:t>Free entry and exit means that each firm earns</a:t>
            </a:r>
            <a:r>
              <a:rPr lang="en-US" sz="2400" smtClean="0"/>
              <a:t> </a:t>
            </a:r>
            <a:r>
              <a:rPr lang="tr-TR" sz="2400" smtClean="0"/>
              <a:t>zero economic profit—producing the output corresponding</a:t>
            </a:r>
            <a:r>
              <a:rPr lang="en-US" sz="2400" smtClean="0"/>
              <a:t> </a:t>
            </a:r>
            <a:r>
              <a:rPr lang="tr-TR" sz="2400" smtClean="0"/>
              <a:t>to its minimum average total cost. So the total cost</a:t>
            </a:r>
            <a:r>
              <a:rPr lang="en-US" sz="2400" smtClean="0"/>
              <a:t> </a:t>
            </a:r>
            <a:r>
              <a:rPr lang="tr-TR" sz="2400" smtClean="0"/>
              <a:t>of production of an industry’s output is minimized. </a:t>
            </a:r>
            <a:r>
              <a:rPr lang="en-US" sz="2400" smtClean="0"/>
              <a:t/>
            </a:r>
            <a:br>
              <a:rPr lang="en-US" sz="2400" smtClean="0"/>
            </a:br>
            <a:r>
              <a:rPr lang="en-US" sz="2400" smtClean="0"/>
              <a:t/>
            </a:r>
            <a:br>
              <a:rPr lang="en-US" sz="2400" smtClean="0"/>
            </a:br>
            <a:r>
              <a:rPr lang="tr-TR" sz="2400" smtClean="0"/>
              <a:t>The</a:t>
            </a:r>
            <a:r>
              <a:rPr lang="en-US" sz="2400" smtClean="0"/>
              <a:t> </a:t>
            </a:r>
            <a:r>
              <a:rPr lang="tr-TR" sz="2400" smtClean="0"/>
              <a:t>outcome is efficient because every consumer with a willingness to pay greater than or equal to marginal cost gets</a:t>
            </a:r>
            <a:r>
              <a:rPr lang="en-US" sz="2400" smtClean="0"/>
              <a:t> </a:t>
            </a:r>
            <a:r>
              <a:rPr lang="tr-TR" sz="2400" smtClean="0"/>
              <a:t>the good.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2450">
                                            <p:txEl>
                                              <p:pRg st="0" end="0"/>
                                            </p:txEl>
                                          </p:spTgt>
                                        </p:tgtEl>
                                        <p:attrNameLst>
                                          <p:attrName>style.visibility</p:attrName>
                                        </p:attrNameLst>
                                      </p:cBhvr>
                                      <p:to>
                                        <p:strVal val="visible"/>
                                      </p:to>
                                    </p:set>
                                    <p:animEffect transition="in" filter="fade">
                                      <p:cBhvr>
                                        <p:cTn id="7" dur="500"/>
                                        <p:tgtEl>
                                          <p:spTgt spid="2324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4294967295"/>
          </p:nvPr>
        </p:nvSpPr>
        <p:spPr>
          <a:xfrm>
            <a:off x="971600" y="800199"/>
            <a:ext cx="7920880" cy="5616624"/>
          </a:xfrm>
        </p:spPr>
        <p:txBody>
          <a:bodyPr numCol="2"/>
          <a:lstStyle/>
          <a:p>
            <a:pPr>
              <a:buFont typeface="Arial" pitchFamily="34" charset="0"/>
              <a:buChar char="•"/>
              <a:defRPr/>
            </a:pPr>
            <a:r>
              <a:rPr lang="en-US" sz="2400" dirty="0" smtClean="0"/>
              <a:t>Price-taking producer</a:t>
            </a:r>
          </a:p>
          <a:p>
            <a:pPr>
              <a:buFont typeface="Arial" pitchFamily="34" charset="0"/>
              <a:buChar char="•"/>
              <a:defRPr/>
            </a:pPr>
            <a:r>
              <a:rPr lang="en-US" sz="2400" dirty="0" smtClean="0"/>
              <a:t>Price-taking consumer</a:t>
            </a:r>
          </a:p>
          <a:p>
            <a:pPr>
              <a:buFont typeface="Arial" pitchFamily="34" charset="0"/>
              <a:buChar char="•"/>
              <a:defRPr/>
            </a:pPr>
            <a:r>
              <a:rPr lang="en-US" sz="2400" dirty="0" smtClean="0"/>
              <a:t>Perfectly competitive market</a:t>
            </a:r>
          </a:p>
          <a:p>
            <a:pPr>
              <a:buFont typeface="Arial" pitchFamily="34" charset="0"/>
              <a:buChar char="•"/>
              <a:defRPr/>
            </a:pPr>
            <a:r>
              <a:rPr lang="en-US" sz="2400" dirty="0" smtClean="0"/>
              <a:t>Perfectly competitive industry</a:t>
            </a:r>
          </a:p>
          <a:p>
            <a:pPr>
              <a:buFont typeface="Arial" pitchFamily="34" charset="0"/>
              <a:buChar char="•"/>
              <a:defRPr/>
            </a:pPr>
            <a:r>
              <a:rPr lang="en-US" sz="2400" dirty="0" smtClean="0"/>
              <a:t>Market share</a:t>
            </a:r>
          </a:p>
          <a:p>
            <a:pPr>
              <a:buFont typeface="Arial" pitchFamily="34" charset="0"/>
              <a:buChar char="•"/>
              <a:defRPr/>
            </a:pPr>
            <a:r>
              <a:rPr lang="en-US" sz="2400" dirty="0" smtClean="0"/>
              <a:t>Standardized product</a:t>
            </a:r>
          </a:p>
          <a:p>
            <a:pPr>
              <a:buFont typeface="Arial" pitchFamily="34" charset="0"/>
              <a:buChar char="•"/>
              <a:defRPr/>
            </a:pPr>
            <a:r>
              <a:rPr lang="en-US" sz="2400" dirty="0" smtClean="0"/>
              <a:t>Commodity</a:t>
            </a:r>
          </a:p>
          <a:p>
            <a:pPr>
              <a:buFont typeface="Arial" pitchFamily="34" charset="0"/>
              <a:buChar char="•"/>
              <a:defRPr/>
            </a:pPr>
            <a:r>
              <a:rPr lang="en-US" sz="2400" dirty="0" smtClean="0"/>
              <a:t>Free entry and exit</a:t>
            </a:r>
          </a:p>
          <a:p>
            <a:pPr>
              <a:buFont typeface="Arial" pitchFamily="34" charset="0"/>
              <a:buChar char="•"/>
              <a:defRPr/>
            </a:pPr>
            <a:r>
              <a:rPr lang="en-US" sz="2400" dirty="0" smtClean="0"/>
              <a:t>Marginal revenue</a:t>
            </a:r>
          </a:p>
          <a:p>
            <a:pPr>
              <a:buFont typeface="Arial" pitchFamily="34" charset="0"/>
              <a:buChar char="•"/>
              <a:defRPr/>
            </a:pPr>
            <a:r>
              <a:rPr lang="en-US" sz="2400" dirty="0" smtClean="0"/>
              <a:t>Optimal output rule</a:t>
            </a:r>
          </a:p>
          <a:p>
            <a:pPr>
              <a:buFont typeface="Arial" pitchFamily="34" charset="0"/>
              <a:buChar char="•"/>
              <a:defRPr/>
            </a:pPr>
            <a:r>
              <a:rPr lang="en-US" sz="2400" dirty="0" smtClean="0"/>
              <a:t>Price-taking firm’s optimal output rule</a:t>
            </a:r>
          </a:p>
          <a:p>
            <a:pPr>
              <a:buFont typeface="Arial" pitchFamily="34" charset="0"/>
              <a:buChar char="•"/>
              <a:defRPr/>
            </a:pPr>
            <a:r>
              <a:rPr lang="en-US" sz="2400" dirty="0" smtClean="0"/>
              <a:t>Marginal revenue curve</a:t>
            </a:r>
          </a:p>
          <a:p>
            <a:pPr>
              <a:buFont typeface="Arial" pitchFamily="34" charset="0"/>
              <a:buChar char="•"/>
              <a:defRPr/>
            </a:pPr>
            <a:r>
              <a:rPr lang="en-US" sz="2400" dirty="0" smtClean="0"/>
              <a:t>Break-even price</a:t>
            </a:r>
          </a:p>
          <a:p>
            <a:pPr>
              <a:buFont typeface="Arial" pitchFamily="34" charset="0"/>
              <a:buChar char="•"/>
              <a:defRPr/>
            </a:pPr>
            <a:r>
              <a:rPr lang="en-US" sz="2400" dirty="0" smtClean="0"/>
              <a:t>Shut-down price</a:t>
            </a:r>
          </a:p>
          <a:p>
            <a:pPr>
              <a:buFont typeface="Arial" pitchFamily="34" charset="0"/>
              <a:buChar char="•"/>
              <a:defRPr/>
            </a:pPr>
            <a:r>
              <a:rPr lang="en-US" sz="2400" dirty="0" smtClean="0"/>
              <a:t>Short-run individual supply curve</a:t>
            </a:r>
          </a:p>
          <a:p>
            <a:pPr>
              <a:buFont typeface="Arial" pitchFamily="34" charset="0"/>
              <a:buChar char="•"/>
              <a:defRPr/>
            </a:pPr>
            <a:r>
              <a:rPr lang="en-US" sz="2400" dirty="0" smtClean="0"/>
              <a:t>Industry supply curve</a:t>
            </a:r>
          </a:p>
          <a:p>
            <a:pPr>
              <a:buFont typeface="Arial" pitchFamily="34" charset="0"/>
              <a:buChar char="•"/>
              <a:defRPr/>
            </a:pPr>
            <a:r>
              <a:rPr lang="en-US" sz="2400" dirty="0" smtClean="0"/>
              <a:t>Short-run industry supply curve</a:t>
            </a:r>
          </a:p>
          <a:p>
            <a:pPr>
              <a:buFont typeface="Arial" pitchFamily="34" charset="0"/>
              <a:buChar char="•"/>
              <a:defRPr/>
            </a:pPr>
            <a:r>
              <a:rPr lang="en-US" sz="2400" dirty="0" smtClean="0"/>
              <a:t>Short-run market equilibrium</a:t>
            </a:r>
          </a:p>
          <a:p>
            <a:pPr>
              <a:buFont typeface="Arial" pitchFamily="34" charset="0"/>
              <a:buChar char="•"/>
              <a:defRPr/>
            </a:pPr>
            <a:r>
              <a:rPr lang="en-US" sz="2400" dirty="0" smtClean="0"/>
              <a:t>Long-run market equilibrium</a:t>
            </a:r>
          </a:p>
          <a:p>
            <a:pPr>
              <a:buFont typeface="Arial" pitchFamily="34" charset="0"/>
              <a:buChar char="•"/>
              <a:defRPr/>
            </a:pPr>
            <a:r>
              <a:rPr lang="en-US" sz="2400" dirty="0" smtClean="0"/>
              <a:t>Long-run industry supply curve</a:t>
            </a:r>
            <a:endParaRPr lang="en-US" sz="2400" dirty="0"/>
          </a:p>
        </p:txBody>
      </p:sp>
      <p:sp>
        <p:nvSpPr>
          <p:cNvPr id="4" name="Title 3"/>
          <p:cNvSpPr>
            <a:spLocks noGrp="1"/>
          </p:cNvSpPr>
          <p:nvPr>
            <p:ph type="title" idx="4294967295"/>
          </p:nvPr>
        </p:nvSpPr>
        <p:spPr>
          <a:xfrm>
            <a:off x="1076325" y="39688"/>
            <a:ext cx="8074025" cy="579437"/>
          </a:xfrm>
        </p:spPr>
        <p:txBody>
          <a:bodyPr/>
          <a:lstStyle/>
          <a:p>
            <a:pPr eaLnBrk="1" hangingPunct="1">
              <a:defRPr/>
            </a:pPr>
            <a:r>
              <a:rPr lang="id-ID" smtClean="0">
                <a:effectLst>
                  <a:outerShdw blurRad="38100" dist="38100" dir="2700000" algn="tl">
                    <a:srgbClr val="C0C0C0"/>
                  </a:outerShdw>
                </a:effectLst>
              </a:rPr>
              <a:t>KEY TERMS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5336</TotalTime>
  <Words>3294</Words>
  <Application>Microsoft Office PowerPoint</Application>
  <PresentationFormat>On-screen Show (4:3)</PresentationFormat>
  <Paragraphs>444</Paragraphs>
  <Slides>32</Slides>
  <Notes>25</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32</vt:i4>
      </vt:variant>
    </vt:vector>
  </HeadingPairs>
  <TitlesOfParts>
    <vt:vector size="44" baseType="lpstr">
      <vt:lpstr>MS PGothic</vt:lpstr>
      <vt:lpstr>Myriad Pro</vt:lpstr>
      <vt:lpstr>Arial</vt:lpstr>
      <vt:lpstr>Bookman Old Style</vt:lpstr>
      <vt:lpstr>Calibri</vt:lpstr>
      <vt:lpstr>Georgia</vt:lpstr>
      <vt:lpstr>Symbol</vt:lpstr>
      <vt:lpstr>Tahoma</vt:lpstr>
      <vt:lpstr>Wingdings</vt:lpstr>
      <vt:lpstr>Office Theme</vt:lpstr>
      <vt:lpstr>1_Office Theme</vt:lpstr>
      <vt:lpstr>2_Office Theme</vt:lpstr>
      <vt:lpstr> Chapter 12 Perfect Competition and the Supply Curve </vt:lpstr>
      <vt:lpstr>PowerPoint Presentation</vt:lpstr>
      <vt:lpstr>Perfect Competition</vt:lpstr>
      <vt:lpstr>Two Necessary Conditions for Perfect Competition</vt:lpstr>
      <vt:lpstr>One Long Run Condition: Free Entry and Exit</vt:lpstr>
      <vt:lpstr>Production and Profits</vt:lpstr>
      <vt:lpstr>The Optimal Output Rule</vt:lpstr>
      <vt:lpstr>Short-Run Costs for Jennifer and Jason’s Farm</vt:lpstr>
      <vt:lpstr>Marginal Analysis Leads to Profit-Maximizing Quantity of Output</vt:lpstr>
      <vt:lpstr>The Price-Taking Firm’s Profit-Maximizing Quantity of Output</vt:lpstr>
      <vt:lpstr>Short-Run Average Costs</vt:lpstr>
      <vt:lpstr>Costs and Production in the Short Run </vt:lpstr>
      <vt:lpstr>Profitability and the Market Price </vt:lpstr>
      <vt:lpstr>Profitability and the Market Price </vt:lpstr>
      <vt:lpstr>Profit, Break Even, or Loss</vt:lpstr>
      <vt:lpstr>Profit Maximization in the Short Run</vt:lpstr>
      <vt:lpstr>The Short-Run Individual Supply Curve</vt:lpstr>
      <vt:lpstr>Summary of the Competitive Firm’s Profitability and Production Conditions</vt:lpstr>
      <vt:lpstr>Industry Supply Curve</vt:lpstr>
      <vt:lpstr>The Short-Run Market Equilibrium</vt:lpstr>
      <vt:lpstr>The Long-Run Market Equilibrium</vt:lpstr>
      <vt:lpstr>The Effect of an Increase in Demand in the Short Run and the Long Run</vt:lpstr>
      <vt:lpstr>Comparing the Short-Run and Long-Run Industry Supply Curves</vt:lpstr>
      <vt:lpstr>Conclusions</vt:lpstr>
      <vt:lpstr>Summary</vt:lpstr>
      <vt:lpstr>Summary</vt:lpstr>
      <vt:lpstr>Summary</vt:lpstr>
      <vt:lpstr>Summary</vt:lpstr>
      <vt:lpstr>Summary</vt:lpstr>
      <vt:lpstr>Summary</vt:lpstr>
      <vt:lpstr>Summary</vt:lpstr>
      <vt:lpstr>KEY TERMS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Lawrence Khoo</cp:lastModifiedBy>
  <cp:revision>200</cp:revision>
  <dcterms:created xsi:type="dcterms:W3CDTF">2011-11-30T16:12:49Z</dcterms:created>
  <dcterms:modified xsi:type="dcterms:W3CDTF">2015-11-11T14:37:14Z</dcterms:modified>
</cp:coreProperties>
</file>