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706" r:id="rId2"/>
  </p:sldMasterIdLst>
  <p:notesMasterIdLst>
    <p:notesMasterId r:id="rId54"/>
  </p:notesMasterIdLst>
  <p:sldIdLst>
    <p:sldId id="256" r:id="rId3"/>
    <p:sldId id="268" r:id="rId4"/>
    <p:sldId id="321" r:id="rId5"/>
    <p:sldId id="269" r:id="rId6"/>
    <p:sldId id="270" r:id="rId7"/>
    <p:sldId id="271" r:id="rId8"/>
    <p:sldId id="272" r:id="rId9"/>
    <p:sldId id="273" r:id="rId10"/>
    <p:sldId id="274" r:id="rId11"/>
    <p:sldId id="275" r:id="rId12"/>
    <p:sldId id="276" r:id="rId13"/>
    <p:sldId id="277" r:id="rId14"/>
    <p:sldId id="278" r:id="rId15"/>
    <p:sldId id="302" r:id="rId16"/>
    <p:sldId id="303" r:id="rId17"/>
    <p:sldId id="279" r:id="rId18"/>
    <p:sldId id="280" r:id="rId19"/>
    <p:sldId id="282" r:id="rId20"/>
    <p:sldId id="283" r:id="rId21"/>
    <p:sldId id="284" r:id="rId22"/>
    <p:sldId id="285" r:id="rId23"/>
    <p:sldId id="304" r:id="rId24"/>
    <p:sldId id="309" r:id="rId25"/>
    <p:sldId id="286" r:id="rId26"/>
    <p:sldId id="323" r:id="rId27"/>
    <p:sldId id="287" r:id="rId28"/>
    <p:sldId id="288" r:id="rId29"/>
    <p:sldId id="289" r:id="rId30"/>
    <p:sldId id="290" r:id="rId31"/>
    <p:sldId id="292" r:id="rId32"/>
    <p:sldId id="293" r:id="rId33"/>
    <p:sldId id="294" r:id="rId34"/>
    <p:sldId id="300" r:id="rId35"/>
    <p:sldId id="299" r:id="rId36"/>
    <p:sldId id="295" r:id="rId37"/>
    <p:sldId id="296" r:id="rId38"/>
    <p:sldId id="297" r:id="rId39"/>
    <p:sldId id="298" r:id="rId40"/>
    <p:sldId id="307" r:id="rId41"/>
    <p:sldId id="315" r:id="rId42"/>
    <p:sldId id="316" r:id="rId43"/>
    <p:sldId id="261" r:id="rId44"/>
    <p:sldId id="317" r:id="rId45"/>
    <p:sldId id="262" r:id="rId46"/>
    <p:sldId id="318" r:id="rId47"/>
    <p:sldId id="263" r:id="rId48"/>
    <p:sldId id="319" r:id="rId49"/>
    <p:sldId id="264" r:id="rId50"/>
    <p:sldId id="320" r:id="rId51"/>
    <p:sldId id="265" r:id="rId52"/>
    <p:sldId id="266" r:id="rId53"/>
  </p:sldIdLst>
  <p:sldSz cx="9144000" cy="6858000" type="screen4x3"/>
  <p:notesSz cx="6797675" cy="9874250"/>
  <p:defaultTextStyle>
    <a:defPPr>
      <a:defRPr lang="id-ID"/>
    </a:defPPr>
    <a:lvl1pPr algn="l"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ia" initials="" lastIdx="3" clrIdx="0"/>
  <p:cmAuthor id="1" name="hbadmin"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041" autoAdjust="0"/>
  </p:normalViewPr>
  <p:slideViewPr>
    <p:cSldViewPr>
      <p:cViewPr varScale="1">
        <p:scale>
          <a:sx n="73" d="100"/>
          <a:sy n="73" d="100"/>
        </p:scale>
        <p:origin x="1219" y="67"/>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5195"/>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49688" y="0"/>
            <a:ext cx="2946400" cy="493713"/>
          </a:xfrm>
          <a:prstGeom prst="rect">
            <a:avLst/>
          </a:prstGeom>
        </p:spPr>
        <p:txBody>
          <a:bodyPr vert="horz" lIns="91440" tIns="45720" rIns="91440" bIns="45720" rtlCol="0"/>
          <a:lstStyle>
            <a:lvl1pPr algn="r">
              <a:defRPr sz="1200"/>
            </a:lvl1pPr>
          </a:lstStyle>
          <a:p>
            <a:pPr>
              <a:defRPr/>
            </a:pPr>
            <a:fld id="{9E5EA305-B6C5-4A4F-9325-1DF8B314B846}" type="datetimeFigureOut">
              <a:rPr lang="en-US"/>
              <a:pPr>
                <a:defRPr/>
              </a:pPr>
              <a:t>10/13/2015</a:t>
            </a:fld>
            <a:endParaRPr lang="en-US" dirty="0"/>
          </a:p>
        </p:txBody>
      </p:sp>
      <p:sp>
        <p:nvSpPr>
          <p:cNvPr id="4" name="Slide Image Placeholder 3"/>
          <p:cNvSpPr>
            <a:spLocks noGrp="1" noRot="1" noChangeAspect="1"/>
          </p:cNvSpPr>
          <p:nvPr>
            <p:ph type="sldImg" idx="2"/>
          </p:nvPr>
        </p:nvSpPr>
        <p:spPr>
          <a:xfrm>
            <a:off x="931863" y="741363"/>
            <a:ext cx="4935537" cy="370205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79450" y="4691063"/>
            <a:ext cx="5438775" cy="4443412"/>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9378950"/>
            <a:ext cx="2946400" cy="493713"/>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49688" y="9378950"/>
            <a:ext cx="2946400" cy="493713"/>
          </a:xfrm>
          <a:prstGeom prst="rect">
            <a:avLst/>
          </a:prstGeom>
        </p:spPr>
        <p:txBody>
          <a:bodyPr vert="horz" lIns="91440" tIns="45720" rIns="91440" bIns="45720" rtlCol="0" anchor="b"/>
          <a:lstStyle>
            <a:lvl1pPr algn="r">
              <a:defRPr sz="1200"/>
            </a:lvl1pPr>
          </a:lstStyle>
          <a:p>
            <a:pPr>
              <a:defRPr/>
            </a:pPr>
            <a:fld id="{41883B64-63F2-4A9B-800E-0F10755BF5DD}" type="slidenum">
              <a:rPr lang="en-US"/>
              <a:pPr>
                <a:defRPr/>
              </a:pPr>
              <a:t>‹#›</a:t>
            </a:fld>
            <a:endParaRPr lang="en-US" dirty="0"/>
          </a:p>
        </p:txBody>
      </p:sp>
    </p:spTree>
    <p:extLst>
      <p:ext uri="{BB962C8B-B14F-4D97-AF65-F5344CB8AC3E}">
        <p14:creationId xmlns:p14="http://schemas.microsoft.com/office/powerpoint/2010/main" val="37524727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4C4960FB-E990-4B1D-ADD8-B6E6436A8C3D}" type="slidenum">
              <a:rPr lang="en-US" smtClean="0"/>
              <a:pPr/>
              <a:t>1</a:t>
            </a:fld>
            <a:endParaRPr lang="en-US" smtClean="0"/>
          </a:p>
        </p:txBody>
      </p:sp>
      <p:sp>
        <p:nvSpPr>
          <p:cNvPr id="2969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969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3346431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1EF434BA-B86D-4EB5-981A-995CC4B41B9B}" type="slidenum">
              <a:rPr lang="en-US" smtClean="0"/>
              <a:pPr/>
              <a:t>3</a:t>
            </a:fld>
            <a:endParaRPr lang="en-US" smtClean="0"/>
          </a:p>
        </p:txBody>
      </p:sp>
      <p:sp>
        <p:nvSpPr>
          <p:cNvPr id="3277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Notes to the instructor</a:t>
            </a:r>
            <a:r>
              <a:rPr lang="en-US" smtClean="0"/>
              <a:t>:</a:t>
            </a:r>
          </a:p>
          <a:p>
            <a:pPr eaLnBrk="1" hangingPunct="1">
              <a:spcBef>
                <a:spcPct val="0"/>
              </a:spcBef>
            </a:pPr>
            <a:r>
              <a:rPr lang="en-US" smtClean="0"/>
              <a:t>Asking the students about their willingness to pay and how it changes with price always catches their attention.</a:t>
            </a:r>
          </a:p>
          <a:p>
            <a:pPr eaLnBrk="1" hangingPunct="1">
              <a:spcBef>
                <a:spcPct val="0"/>
              </a:spcBef>
            </a:pPr>
            <a:r>
              <a:rPr lang="en-US" smtClean="0"/>
              <a:t>For example, you can talk about iPhones, iPods, movie tickets, or any other goods or services that you think will relate to your students.</a:t>
            </a:r>
          </a:p>
          <a:p>
            <a:pPr eaLnBrk="1" hangingPunct="1">
              <a:spcBef>
                <a:spcPct val="0"/>
              </a:spcBef>
            </a:pPr>
            <a:r>
              <a:rPr lang="en-US" smtClean="0"/>
              <a:t>Different students will have different willingness to pay for the example you choose, and it will also change with price.</a:t>
            </a:r>
          </a:p>
          <a:p>
            <a:pPr eaLnBrk="1" hangingPunct="1">
              <a:spcBef>
                <a:spcPct val="0"/>
              </a:spcBef>
            </a:pPr>
            <a:endParaRPr lang="en-US" smtClean="0"/>
          </a:p>
          <a:p>
            <a:pPr eaLnBrk="1" hangingPunct="1">
              <a:spcBef>
                <a:spcPct val="0"/>
              </a:spcBef>
            </a:pPr>
            <a:r>
              <a:rPr lang="en-US" b="1" u="sng" smtClean="0"/>
              <a:t>Class exercise</a:t>
            </a:r>
            <a:r>
              <a:rPr lang="en-US" b="1" smtClean="0"/>
              <a:t>:</a:t>
            </a:r>
          </a:p>
          <a:p>
            <a:pPr eaLnBrk="1" hangingPunct="1">
              <a:spcBef>
                <a:spcPct val="0"/>
              </a:spcBef>
            </a:pPr>
            <a:r>
              <a:rPr lang="en-US" smtClean="0"/>
              <a:t>You can ask your students to select a good or service that they frequently purchase and come up with their own demand schedule indicating their willingness to pay at different prices.</a:t>
            </a:r>
          </a:p>
          <a:p>
            <a:pPr eaLnBrk="1" hangingPunct="1">
              <a:spcBef>
                <a:spcPct val="0"/>
              </a:spcBef>
            </a:pPr>
            <a:endParaRPr lang="en-US" smtClean="0"/>
          </a:p>
          <a:p>
            <a:pPr eaLnBrk="1" hangingPunct="1">
              <a:spcBef>
                <a:spcPct val="0"/>
              </a:spcBef>
            </a:pPr>
            <a:r>
              <a:rPr lang="en-US" smtClean="0"/>
              <a:t>This could be a 5 minutes in-class exercise. After 5 minutes, you can randomly select students and ask them about their demand schedule.</a:t>
            </a:r>
          </a:p>
          <a:p>
            <a:pPr eaLnBrk="1" hangingPunct="1">
              <a:spcBef>
                <a:spcPct val="0"/>
              </a:spcBef>
            </a:pPr>
            <a:endParaRPr lang="en-US" smtClean="0"/>
          </a:p>
          <a:p>
            <a:pPr eaLnBrk="1" hangingPunct="1">
              <a:spcBef>
                <a:spcPct val="0"/>
              </a:spcBef>
            </a:pPr>
            <a:r>
              <a:rPr lang="en-US" smtClean="0"/>
              <a:t>Ask what happens to their quantity demanded as price increases?</a:t>
            </a:r>
          </a:p>
          <a:p>
            <a:pPr eaLnBrk="1" hangingPunct="1">
              <a:spcBef>
                <a:spcPct val="0"/>
              </a:spcBef>
            </a:pPr>
            <a:endParaRPr lang="en-US" smtClean="0"/>
          </a:p>
          <a:p>
            <a:pPr eaLnBrk="1" hangingPunct="1">
              <a:spcBef>
                <a:spcPct val="0"/>
              </a:spcBef>
            </a:pPr>
            <a:endParaRPr lang="en-US" smtClean="0"/>
          </a:p>
          <a:p>
            <a:pPr eaLnBrk="1" hangingPunct="1">
              <a:spcBef>
                <a:spcPct val="0"/>
              </a:spcBef>
            </a:pPr>
            <a:endParaRPr lang="en-US" smtClean="0"/>
          </a:p>
        </p:txBody>
      </p:sp>
    </p:spTree>
    <p:extLst>
      <p:ext uri="{BB962C8B-B14F-4D97-AF65-F5344CB8AC3E}">
        <p14:creationId xmlns:p14="http://schemas.microsoft.com/office/powerpoint/2010/main" val="1600249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922F877-A8BD-4489-84B1-42F43D48042D}" type="slidenum">
              <a:rPr lang="en-US" smtClean="0"/>
              <a:pPr/>
              <a:t>4</a:t>
            </a:fld>
            <a:endParaRPr lang="en-US" smtClean="0"/>
          </a:p>
        </p:txBody>
      </p:sp>
      <p:sp>
        <p:nvSpPr>
          <p:cNvPr id="3481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481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lnSpc>
                <a:spcPct val="90000"/>
              </a:lnSpc>
              <a:spcBef>
                <a:spcPct val="0"/>
              </a:spcBef>
            </a:pPr>
            <a:r>
              <a:rPr lang="en-US" b="1" i="1" u="sng" smtClean="0"/>
              <a:t>Figure Caption:</a:t>
            </a:r>
            <a:r>
              <a:rPr lang="en-US" smtClean="0"/>
              <a:t>  </a:t>
            </a:r>
          </a:p>
          <a:p>
            <a:pPr eaLnBrk="1" hangingPunct="1">
              <a:lnSpc>
                <a:spcPct val="90000"/>
              </a:lnSpc>
              <a:spcBef>
                <a:spcPct val="0"/>
              </a:spcBef>
            </a:pPr>
            <a:r>
              <a:rPr lang="en-US" b="1" smtClean="0"/>
              <a:t>Figure 3-1: The Demand Schedule and the Demand Curve</a:t>
            </a:r>
          </a:p>
          <a:p>
            <a:pPr eaLnBrk="1" hangingPunct="1">
              <a:lnSpc>
                <a:spcPct val="90000"/>
              </a:lnSpc>
              <a:spcBef>
                <a:spcPct val="0"/>
              </a:spcBef>
            </a:pPr>
            <a:r>
              <a:rPr lang="en-US" smtClean="0"/>
              <a:t>The demand schedule for cotton yields the corresponding demand curve, which shows how much of a good or service consumers want to buy at any given price. The demand curve and the demand schedule reflect the law of demand: As price rises, the quantity demanded falls. Similarly, a decrease in price raises the quantity demanded. As a result, the demand curve is downward sloping.</a:t>
            </a:r>
          </a:p>
          <a:p>
            <a:pPr eaLnBrk="1" hangingPunct="1">
              <a:lnSpc>
                <a:spcPct val="90000"/>
              </a:lnSpc>
              <a:spcBef>
                <a:spcPct val="0"/>
              </a:spcBef>
            </a:pPr>
            <a:endParaRPr lang="en-US" smtClean="0"/>
          </a:p>
          <a:p>
            <a:pPr eaLnBrk="1" hangingPunct="1">
              <a:lnSpc>
                <a:spcPct val="90000"/>
              </a:lnSpc>
              <a:spcBef>
                <a:spcPct val="0"/>
              </a:spcBef>
            </a:pPr>
            <a:r>
              <a:rPr lang="en-US" b="1" i="1" u="sng" smtClean="0"/>
              <a:t>Notes to the Instructor:</a:t>
            </a:r>
            <a:r>
              <a:rPr lang="en-US" smtClean="0"/>
              <a:t> It could be a good idea to remind students the definition of “slope”.</a:t>
            </a:r>
          </a:p>
          <a:p>
            <a:pPr eaLnBrk="1" hangingPunct="1">
              <a:lnSpc>
                <a:spcPct val="90000"/>
              </a:lnSpc>
              <a:spcBef>
                <a:spcPct val="0"/>
              </a:spcBef>
            </a:pPr>
            <a:r>
              <a:rPr lang="en-US" smtClean="0"/>
              <a:t>They should understand that the basic demand curve for a normal good is “downward sloping” and also the intuition of its slope. </a:t>
            </a:r>
          </a:p>
          <a:p>
            <a:pPr eaLnBrk="1" hangingPunct="1">
              <a:lnSpc>
                <a:spcPct val="90000"/>
              </a:lnSpc>
              <a:spcBef>
                <a:spcPct val="0"/>
              </a:spcBef>
            </a:pPr>
            <a:r>
              <a:rPr lang="en-US" smtClean="0"/>
              <a:t>I usually underline the inverse relationship between price and quantity demanded: as one goes up, the other goes down.</a:t>
            </a:r>
          </a:p>
          <a:p>
            <a:pPr eaLnBrk="1" hangingPunct="1">
              <a:lnSpc>
                <a:spcPct val="90000"/>
              </a:lnSpc>
              <a:spcBef>
                <a:spcPct val="0"/>
              </a:spcBef>
            </a:pPr>
            <a:endParaRPr lang="en-US" smtClean="0"/>
          </a:p>
          <a:p>
            <a:pPr eaLnBrk="1" hangingPunct="1">
              <a:lnSpc>
                <a:spcPct val="90000"/>
              </a:lnSpc>
              <a:spcBef>
                <a:spcPct val="0"/>
              </a:spcBef>
            </a:pPr>
            <a:r>
              <a:rPr lang="en-US" smtClean="0"/>
              <a:t>More will be revealed further in the chapter.</a:t>
            </a:r>
          </a:p>
          <a:p>
            <a:pPr eaLnBrk="1" hangingPunct="1">
              <a:lnSpc>
                <a:spcPct val="90000"/>
              </a:lnSpc>
              <a:spcBef>
                <a:spcPct val="0"/>
              </a:spcBef>
            </a:pPr>
            <a:r>
              <a:rPr lang="en-US" smtClean="0"/>
              <a:t>Alternatively, you could delay the explanation about the slope until later and then go more into the details of the ”downward slope”, its intuition, exceptions, etc… </a:t>
            </a:r>
          </a:p>
          <a:p>
            <a:pPr eaLnBrk="1" hangingPunct="1">
              <a:lnSpc>
                <a:spcPct val="90000"/>
              </a:lnSpc>
              <a:spcBef>
                <a:spcPct val="0"/>
              </a:spcBef>
            </a:pPr>
            <a:endParaRPr lang="en-US" smtClean="0"/>
          </a:p>
        </p:txBody>
      </p:sp>
    </p:spTree>
    <p:extLst>
      <p:ext uri="{BB962C8B-B14F-4D97-AF65-F5344CB8AC3E}">
        <p14:creationId xmlns:p14="http://schemas.microsoft.com/office/powerpoint/2010/main" val="963900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E527BBD2-A68E-41FF-A482-284F5A33B56F}" type="slidenum">
              <a:rPr lang="en-US" smtClean="0"/>
              <a:pPr/>
              <a:t>5</a:t>
            </a:fld>
            <a:endParaRPr lang="en-US" smtClean="0"/>
          </a:p>
        </p:txBody>
      </p:sp>
      <p:sp>
        <p:nvSpPr>
          <p:cNvPr id="3686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686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2363787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A49B6DF5-B571-45FC-8761-6A0C7DC40EA7}" type="slidenum">
              <a:rPr lang="en-US" smtClean="0"/>
              <a:pPr/>
              <a:t>6</a:t>
            </a:fld>
            <a:endParaRPr lang="en-US" smtClean="0"/>
          </a:p>
        </p:txBody>
      </p:sp>
      <p:sp>
        <p:nvSpPr>
          <p:cNvPr id="3891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891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1501894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A7616D7-1AF4-4636-921C-2FE294447299}" type="slidenum">
              <a:rPr lang="en-US" smtClean="0"/>
              <a:pPr/>
              <a:t>7</a:t>
            </a:fld>
            <a:endParaRPr lang="en-US" smtClean="0"/>
          </a:p>
        </p:txBody>
      </p:sp>
      <p:sp>
        <p:nvSpPr>
          <p:cNvPr id="409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Figure Caption:</a:t>
            </a:r>
            <a:r>
              <a:rPr lang="en-US" smtClean="0"/>
              <a:t>  </a:t>
            </a:r>
          </a:p>
          <a:p>
            <a:pPr eaLnBrk="1" hangingPunct="1">
              <a:spcBef>
                <a:spcPct val="0"/>
              </a:spcBef>
            </a:pPr>
            <a:r>
              <a:rPr lang="en-US" b="1" smtClean="0"/>
              <a:t>Figure 3-2: An increase in demand</a:t>
            </a:r>
          </a:p>
          <a:p>
            <a:pPr eaLnBrk="1" hangingPunct="1">
              <a:spcBef>
                <a:spcPct val="0"/>
              </a:spcBef>
            </a:pPr>
            <a:r>
              <a:rPr lang="en-US" smtClean="0"/>
              <a:t>An increase in the population and other factors generate an increase in demand—a rise in the quantity demanded at any given price. This is represented by the two demand schedules—one showing demand in 2007, before the rise in population, the other showing demand in 2010, after the rise in population—and their corresponding demand curves. The increase in demand shifts the demand curve to the right.</a:t>
            </a:r>
          </a:p>
          <a:p>
            <a:pPr eaLnBrk="1" hangingPunct="1">
              <a:spcBef>
                <a:spcPct val="0"/>
              </a:spcBef>
            </a:pPr>
            <a:endParaRPr lang="en-US" smtClean="0"/>
          </a:p>
        </p:txBody>
      </p:sp>
    </p:spTree>
    <p:extLst>
      <p:ext uri="{BB962C8B-B14F-4D97-AF65-F5344CB8AC3E}">
        <p14:creationId xmlns:p14="http://schemas.microsoft.com/office/powerpoint/2010/main" val="1623075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1617BFB0-A635-4947-BCED-613B196FD075}" type="slidenum">
              <a:rPr lang="en-US" smtClean="0"/>
              <a:pPr/>
              <a:t>8</a:t>
            </a:fld>
            <a:endParaRPr lang="en-US" smtClean="0"/>
          </a:p>
        </p:txBody>
      </p:sp>
      <p:sp>
        <p:nvSpPr>
          <p:cNvPr id="430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30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lnSpc>
                <a:spcPct val="80000"/>
              </a:lnSpc>
              <a:spcBef>
                <a:spcPct val="0"/>
              </a:spcBef>
            </a:pPr>
            <a:r>
              <a:rPr lang="en-US" sz="800" b="1" i="1" u="sng" smtClean="0"/>
              <a:t>Figure Caption:</a:t>
            </a:r>
            <a:r>
              <a:rPr lang="en-US" sz="800" smtClean="0"/>
              <a:t>  </a:t>
            </a:r>
          </a:p>
          <a:p>
            <a:pPr eaLnBrk="1" hangingPunct="1">
              <a:lnSpc>
                <a:spcPct val="80000"/>
              </a:lnSpc>
              <a:spcBef>
                <a:spcPct val="0"/>
              </a:spcBef>
            </a:pPr>
            <a:r>
              <a:rPr lang="en-US" sz="800" b="1" smtClean="0"/>
              <a:t>Figure 3-3: Movement Along the Demand Curve Versus Shift of the Demand Curve</a:t>
            </a:r>
          </a:p>
          <a:p>
            <a:pPr eaLnBrk="1" hangingPunct="1">
              <a:lnSpc>
                <a:spcPct val="80000"/>
              </a:lnSpc>
              <a:spcBef>
                <a:spcPct val="0"/>
              </a:spcBef>
            </a:pPr>
            <a:r>
              <a:rPr lang="en-US" sz="800" smtClean="0"/>
              <a:t>The rise in quantity demanded when going from point A to point B reflects a movement along the demand curve: it is the result of a</a:t>
            </a:r>
          </a:p>
          <a:p>
            <a:pPr eaLnBrk="1" hangingPunct="1">
              <a:lnSpc>
                <a:spcPct val="80000"/>
              </a:lnSpc>
              <a:spcBef>
                <a:spcPct val="0"/>
              </a:spcBef>
            </a:pPr>
            <a:r>
              <a:rPr lang="en-US" sz="800" smtClean="0"/>
              <a:t>fall in the price of the good. The rise in quantity demanded when going from point A to point C reflects a shift of the demand curve:</a:t>
            </a:r>
          </a:p>
          <a:p>
            <a:pPr eaLnBrk="1" hangingPunct="1">
              <a:lnSpc>
                <a:spcPct val="80000"/>
              </a:lnSpc>
              <a:spcBef>
                <a:spcPct val="0"/>
              </a:spcBef>
            </a:pPr>
            <a:r>
              <a:rPr lang="en-US" sz="800" smtClean="0"/>
              <a:t>it is the result of a rise in the quantity demanded at any given price.</a:t>
            </a:r>
          </a:p>
          <a:p>
            <a:pPr eaLnBrk="1" hangingPunct="1">
              <a:lnSpc>
                <a:spcPct val="80000"/>
              </a:lnSpc>
              <a:spcBef>
                <a:spcPct val="0"/>
              </a:spcBef>
            </a:pPr>
            <a:endParaRPr lang="en-US" sz="800" smtClean="0"/>
          </a:p>
          <a:p>
            <a:pPr eaLnBrk="1" hangingPunct="1">
              <a:lnSpc>
                <a:spcPct val="80000"/>
              </a:lnSpc>
              <a:spcBef>
                <a:spcPct val="0"/>
              </a:spcBef>
            </a:pPr>
            <a:r>
              <a:rPr lang="en-US" sz="800" b="1" i="1" u="sng" smtClean="0"/>
              <a:t>Notes to the Instructor:</a:t>
            </a:r>
            <a:r>
              <a:rPr lang="en-US" sz="800" smtClean="0"/>
              <a:t> It is very important that the students can distinguish between a “shift” and a “movement along” a curve.</a:t>
            </a:r>
          </a:p>
          <a:p>
            <a:pPr eaLnBrk="1" hangingPunct="1">
              <a:lnSpc>
                <a:spcPct val="80000"/>
              </a:lnSpc>
              <a:spcBef>
                <a:spcPct val="0"/>
              </a:spcBef>
            </a:pPr>
            <a:endParaRPr lang="en-US" sz="800" smtClean="0"/>
          </a:p>
          <a:p>
            <a:pPr eaLnBrk="1" hangingPunct="1">
              <a:lnSpc>
                <a:spcPct val="80000"/>
              </a:lnSpc>
              <a:spcBef>
                <a:spcPct val="0"/>
              </a:spcBef>
            </a:pPr>
            <a:r>
              <a:rPr lang="en-US" sz="800" smtClean="0"/>
              <a:t>I also give the students the general rule: any change in the value of the variables on the vertical and horizontal axis causes a “movement along” the curve. To generate a shift, we need an outside shock (change in the value of outside - exogenous – variables, which we were assuming to be constant (Ceteris Paribus), such as population, tastes, etc…</a:t>
            </a:r>
          </a:p>
          <a:p>
            <a:pPr eaLnBrk="1" hangingPunct="1">
              <a:lnSpc>
                <a:spcPct val="80000"/>
              </a:lnSpc>
              <a:spcBef>
                <a:spcPct val="0"/>
              </a:spcBef>
            </a:pPr>
            <a:endParaRPr lang="en-US" sz="800" smtClean="0"/>
          </a:p>
          <a:p>
            <a:pPr eaLnBrk="1" hangingPunct="1">
              <a:lnSpc>
                <a:spcPct val="80000"/>
              </a:lnSpc>
              <a:spcBef>
                <a:spcPct val="0"/>
              </a:spcBef>
            </a:pPr>
            <a:r>
              <a:rPr lang="en-US" sz="800" smtClean="0"/>
              <a:t>This is also a good opportunity to underline the difference between “demand” and “quantity demanded”.</a:t>
            </a:r>
          </a:p>
          <a:p>
            <a:pPr eaLnBrk="1" hangingPunct="1">
              <a:lnSpc>
                <a:spcPct val="80000"/>
              </a:lnSpc>
              <a:spcBef>
                <a:spcPct val="0"/>
              </a:spcBef>
            </a:pPr>
            <a:endParaRPr lang="en-US" sz="800" smtClean="0"/>
          </a:p>
          <a:p>
            <a:pPr eaLnBrk="1" hangingPunct="1">
              <a:lnSpc>
                <a:spcPct val="80000"/>
              </a:lnSpc>
              <a:spcBef>
                <a:spcPct val="0"/>
              </a:spcBef>
            </a:pPr>
            <a:r>
              <a:rPr lang="en-US" sz="800" smtClean="0"/>
              <a:t>In ordinary speech most people, including professional economists, use the word </a:t>
            </a:r>
            <a:r>
              <a:rPr lang="en-US" sz="800" i="1" smtClean="0"/>
              <a:t>demand </a:t>
            </a:r>
            <a:r>
              <a:rPr lang="en-US" sz="800" smtClean="0"/>
              <a:t>casually. For example, an economist might say “the demand for air travel has doubled over the past 15 years, partly because of falling air fares” when he or she really means that the </a:t>
            </a:r>
            <a:r>
              <a:rPr lang="en-US" sz="800" i="1" smtClean="0"/>
              <a:t>quantity demanded </a:t>
            </a:r>
            <a:r>
              <a:rPr lang="en-US" sz="800" smtClean="0"/>
              <a:t>has doubled. It’s OK to be a bit sloppy in ordinary conversation. But when you’re doing economic analysis, it’s important to make the distinction between changes in the quantity demanded, which involve movements along a demand curve, and shifts of the demand curve.</a:t>
            </a:r>
          </a:p>
          <a:p>
            <a:pPr eaLnBrk="1" hangingPunct="1">
              <a:lnSpc>
                <a:spcPct val="80000"/>
              </a:lnSpc>
              <a:spcBef>
                <a:spcPct val="0"/>
              </a:spcBef>
            </a:pPr>
            <a:endParaRPr lang="en-US" sz="800" smtClean="0"/>
          </a:p>
          <a:p>
            <a:pPr eaLnBrk="1" hangingPunct="1">
              <a:lnSpc>
                <a:spcPct val="80000"/>
              </a:lnSpc>
              <a:spcBef>
                <a:spcPct val="0"/>
              </a:spcBef>
            </a:pPr>
            <a:r>
              <a:rPr lang="en-US" sz="800" smtClean="0"/>
              <a:t>A </a:t>
            </a:r>
            <a:r>
              <a:rPr lang="en-US" sz="800" b="1" smtClean="0"/>
              <a:t>movement along a curve </a:t>
            </a:r>
            <a:r>
              <a:rPr lang="en-US" sz="800" smtClean="0"/>
              <a:t>occurs when:</a:t>
            </a:r>
          </a:p>
          <a:p>
            <a:pPr eaLnBrk="1" hangingPunct="1">
              <a:lnSpc>
                <a:spcPct val="80000"/>
              </a:lnSpc>
              <a:spcBef>
                <a:spcPct val="0"/>
              </a:spcBef>
            </a:pPr>
            <a:r>
              <a:rPr lang="en-US" sz="800" smtClean="0"/>
              <a:t>1. A change in the value of the variable measured on the horizontal axis leads to a change in the value of the variable measured on the vertical axis, and vice versa. (For example, a change in x leads to a change in y, and vice versa.)</a:t>
            </a:r>
          </a:p>
          <a:p>
            <a:pPr eaLnBrk="1" hangingPunct="1">
              <a:lnSpc>
                <a:spcPct val="80000"/>
              </a:lnSpc>
              <a:spcBef>
                <a:spcPct val="0"/>
              </a:spcBef>
            </a:pPr>
            <a:r>
              <a:rPr lang="en-US" sz="800" smtClean="0"/>
              <a:t>2. The values of both variables change. (For example, both x and y change.)</a:t>
            </a:r>
          </a:p>
          <a:p>
            <a:pPr eaLnBrk="1" hangingPunct="1">
              <a:lnSpc>
                <a:spcPct val="80000"/>
              </a:lnSpc>
              <a:spcBef>
                <a:spcPct val="0"/>
              </a:spcBef>
            </a:pPr>
            <a:endParaRPr lang="en-US" sz="800" smtClean="0"/>
          </a:p>
          <a:p>
            <a:pPr eaLnBrk="1" hangingPunct="1">
              <a:lnSpc>
                <a:spcPct val="80000"/>
              </a:lnSpc>
              <a:spcBef>
                <a:spcPct val="0"/>
              </a:spcBef>
            </a:pPr>
            <a:r>
              <a:rPr lang="en-US" sz="800" smtClean="0"/>
              <a:t>A </a:t>
            </a:r>
            <a:r>
              <a:rPr lang="en-US" sz="800" b="1" smtClean="0"/>
              <a:t>shift of a curve</a:t>
            </a:r>
            <a:r>
              <a:rPr lang="en-US" sz="800" smtClean="0"/>
              <a:t> occurs when the value of only one variable changes while the value of the other variable stays the same. (For example, x changes while y stays the same, or y changes while x stays the same.)</a:t>
            </a:r>
          </a:p>
          <a:p>
            <a:pPr eaLnBrk="1" hangingPunct="1">
              <a:lnSpc>
                <a:spcPct val="80000"/>
              </a:lnSpc>
              <a:spcBef>
                <a:spcPct val="0"/>
              </a:spcBef>
            </a:pPr>
            <a:endParaRPr lang="en-US" sz="800" smtClean="0"/>
          </a:p>
          <a:p>
            <a:pPr eaLnBrk="1" hangingPunct="1">
              <a:lnSpc>
                <a:spcPct val="80000"/>
              </a:lnSpc>
              <a:spcBef>
                <a:spcPct val="0"/>
              </a:spcBef>
            </a:pPr>
            <a:endParaRPr lang="en-US" sz="800" smtClean="0"/>
          </a:p>
          <a:p>
            <a:pPr eaLnBrk="1" hangingPunct="1">
              <a:lnSpc>
                <a:spcPct val="80000"/>
              </a:lnSpc>
              <a:spcBef>
                <a:spcPct val="0"/>
              </a:spcBef>
            </a:pPr>
            <a:r>
              <a:rPr lang="en-US" sz="800" b="1" u="sng" smtClean="0"/>
              <a:t>Class exercise questions</a:t>
            </a:r>
            <a:r>
              <a:rPr lang="en-US" sz="800" b="1" smtClean="0"/>
              <a:t>:</a:t>
            </a:r>
          </a:p>
          <a:p>
            <a:pPr eaLnBrk="1" hangingPunct="1">
              <a:lnSpc>
                <a:spcPct val="80000"/>
              </a:lnSpc>
              <a:spcBef>
                <a:spcPct val="0"/>
              </a:spcBef>
            </a:pPr>
            <a:r>
              <a:rPr lang="en-US" sz="800" smtClean="0"/>
              <a:t>You can ask your students the following exercise questions:</a:t>
            </a:r>
          </a:p>
          <a:p>
            <a:pPr eaLnBrk="1" hangingPunct="1">
              <a:lnSpc>
                <a:spcPct val="80000"/>
              </a:lnSpc>
              <a:spcBef>
                <a:spcPct val="0"/>
              </a:spcBef>
            </a:pPr>
            <a:endParaRPr lang="en-US" sz="800" smtClean="0"/>
          </a:p>
          <a:p>
            <a:pPr eaLnBrk="1" hangingPunct="1">
              <a:lnSpc>
                <a:spcPct val="80000"/>
              </a:lnSpc>
              <a:spcBef>
                <a:spcPct val="0"/>
              </a:spcBef>
            </a:pPr>
            <a:r>
              <a:rPr lang="en-US" sz="800" smtClean="0"/>
              <a:t>- The price of a can of Coke has increased from $1 to $3. Does this cause a movement along or a shift of the demand curve for Coke? Why?</a:t>
            </a:r>
          </a:p>
          <a:p>
            <a:pPr eaLnBrk="1" hangingPunct="1">
              <a:lnSpc>
                <a:spcPct val="80000"/>
              </a:lnSpc>
              <a:spcBef>
                <a:spcPct val="0"/>
              </a:spcBef>
              <a:buFont typeface="Wingdings" pitchFamily="2" charset="2"/>
              <a:buNone/>
            </a:pPr>
            <a:r>
              <a:rPr lang="en-US" sz="800" smtClean="0"/>
              <a:t>- A new scientific research has proven that a regular Coke drinker lives on the average 5 years longer. Does this finding cause a movement along or a shift of the demand curve for Coke? Why?</a:t>
            </a:r>
          </a:p>
          <a:p>
            <a:pPr eaLnBrk="1" hangingPunct="1">
              <a:lnSpc>
                <a:spcPct val="80000"/>
              </a:lnSpc>
              <a:spcBef>
                <a:spcPct val="0"/>
              </a:spcBef>
              <a:buFont typeface="Wingdings" pitchFamily="2" charset="2"/>
              <a:buNone/>
            </a:pPr>
            <a:endParaRPr lang="en-US" sz="800" smtClean="0"/>
          </a:p>
          <a:p>
            <a:pPr eaLnBrk="1" hangingPunct="1">
              <a:lnSpc>
                <a:spcPct val="80000"/>
              </a:lnSpc>
              <a:spcBef>
                <a:spcPct val="0"/>
              </a:spcBef>
              <a:buFont typeface="Wingdings" pitchFamily="2" charset="2"/>
              <a:buNone/>
            </a:pPr>
            <a:r>
              <a:rPr lang="en-US" sz="800" smtClean="0"/>
              <a:t>You can ask them to write their answers on a piece of paper, supported by graphical explanations. At the end, you can ask students to correct each other’s answers.</a:t>
            </a:r>
          </a:p>
          <a:p>
            <a:pPr eaLnBrk="1" hangingPunct="1">
              <a:lnSpc>
                <a:spcPct val="80000"/>
              </a:lnSpc>
              <a:spcBef>
                <a:spcPct val="0"/>
              </a:spcBef>
              <a:buFont typeface="Wingdings" pitchFamily="2" charset="2"/>
              <a:buNone/>
            </a:pPr>
            <a:r>
              <a:rPr lang="en-US" sz="800" smtClean="0"/>
              <a:t>Ten minutes would be enough to you through this exercise.</a:t>
            </a:r>
          </a:p>
        </p:txBody>
      </p:sp>
    </p:spTree>
    <p:extLst>
      <p:ext uri="{BB962C8B-B14F-4D97-AF65-F5344CB8AC3E}">
        <p14:creationId xmlns:p14="http://schemas.microsoft.com/office/powerpoint/2010/main" val="203898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29BDD674-EEEA-4BF9-90B5-0CD24FEFFEB1}" type="slidenum">
              <a:rPr lang="en-US" smtClean="0"/>
              <a:pPr/>
              <a:t>9</a:t>
            </a:fld>
            <a:endParaRPr lang="en-US" smtClean="0"/>
          </a:p>
        </p:txBody>
      </p:sp>
      <p:sp>
        <p:nvSpPr>
          <p:cNvPr id="45058" name="Rectangle 2"/>
          <p:cNvSpPr>
            <a:spLocks noGrp="1" noRot="1" noChangeAspect="1" noChangeArrowheads="1" noTextEdit="1"/>
          </p:cNvSpPr>
          <p:nvPr>
            <p:ph type="sldImg"/>
          </p:nvPr>
        </p:nvSpPr>
        <p:spPr bwMode="auto">
          <a:xfrm>
            <a:off x="1130300" y="741363"/>
            <a:ext cx="4387850" cy="3290887"/>
          </a:xfrm>
          <a:noFill/>
          <a:ln>
            <a:solidFill>
              <a:srgbClr val="000000"/>
            </a:solidFill>
            <a:miter lim="800000"/>
            <a:headEnd/>
            <a:tailEnd/>
          </a:ln>
        </p:spPr>
      </p:sp>
      <p:sp>
        <p:nvSpPr>
          <p:cNvPr id="45059" name="Rectangle 3"/>
          <p:cNvSpPr>
            <a:spLocks noGrp="1" noChangeArrowheads="1"/>
          </p:cNvSpPr>
          <p:nvPr>
            <p:ph type="body" idx="1"/>
          </p:nvPr>
        </p:nvSpPr>
        <p:spPr bwMode="auto">
          <a:xfrm>
            <a:off x="906463" y="4197350"/>
            <a:ext cx="4984750" cy="4937125"/>
          </a:xfrm>
          <a:noFill/>
        </p:spPr>
        <p:txBody>
          <a:bodyPr wrap="square" numCol="1" anchor="t" anchorCtr="0" compatLnSpc="1">
            <a:prstTxWarp prst="textNoShape">
              <a:avLst/>
            </a:prstTxWarp>
          </a:bodyPr>
          <a:lstStyle/>
          <a:p>
            <a:pPr eaLnBrk="1" hangingPunct="1">
              <a:spcBef>
                <a:spcPct val="0"/>
              </a:spcBef>
            </a:pPr>
            <a:r>
              <a:rPr lang="en-US" b="1" i="1" u="sng" smtClean="0"/>
              <a:t>Figure Caption:</a:t>
            </a:r>
            <a:r>
              <a:rPr lang="en-US" smtClean="0"/>
              <a:t>  </a:t>
            </a:r>
          </a:p>
          <a:p>
            <a:pPr eaLnBrk="1" hangingPunct="1">
              <a:spcBef>
                <a:spcPct val="0"/>
              </a:spcBef>
            </a:pPr>
            <a:r>
              <a:rPr lang="en-US" b="1" smtClean="0"/>
              <a:t>Figure 3-4: </a:t>
            </a:r>
            <a:r>
              <a:rPr lang="en-US" b="1" smtClean="0">
                <a:solidFill>
                  <a:srgbClr val="800080"/>
                </a:solidFill>
                <a:latin typeface="OfficinaSans-Bold"/>
              </a:rPr>
              <a:t>Shifts of the Demand Curve</a:t>
            </a:r>
          </a:p>
          <a:p>
            <a:pPr eaLnBrk="1" hangingPunct="1">
              <a:spcBef>
                <a:spcPct val="0"/>
              </a:spcBef>
            </a:pPr>
            <a:r>
              <a:rPr lang="en-US" smtClean="0">
                <a:solidFill>
                  <a:srgbClr val="000000"/>
                </a:solidFill>
                <a:latin typeface="OfficinaSans-Book"/>
              </a:rPr>
              <a:t>Any event that increases demand shifts the demand curve to the right, reflecting a rise in the quantity demanded at any given price. Any event that decreases demand shifts the demand curve to the left, reflecting a fall in the quantity demanded at any given price.</a:t>
            </a:r>
            <a:endParaRPr lang="en-US" smtClean="0">
              <a:solidFill>
                <a:srgbClr val="000000"/>
              </a:solidFill>
              <a:latin typeface="OfficinaSans-Bold"/>
            </a:endParaRPr>
          </a:p>
          <a:p>
            <a:pPr eaLnBrk="1" hangingPunct="1">
              <a:spcBef>
                <a:spcPct val="0"/>
              </a:spcBef>
            </a:pPr>
            <a:endParaRPr lang="en-US" b="1" smtClean="0"/>
          </a:p>
        </p:txBody>
      </p:sp>
    </p:spTree>
    <p:extLst>
      <p:ext uri="{BB962C8B-B14F-4D97-AF65-F5344CB8AC3E}">
        <p14:creationId xmlns:p14="http://schemas.microsoft.com/office/powerpoint/2010/main" val="503707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B57B631A-9541-4285-9D52-CB99A50ACB66}" type="slidenum">
              <a:rPr lang="en-US" smtClean="0"/>
              <a:pPr/>
              <a:t>10</a:t>
            </a:fld>
            <a:endParaRPr lang="en-US" smtClean="0"/>
          </a:p>
        </p:txBody>
      </p:sp>
      <p:sp>
        <p:nvSpPr>
          <p:cNvPr id="47106" name="Rectangle 2"/>
          <p:cNvSpPr>
            <a:spLocks noGrp="1" noRot="1" noChangeAspect="1" noChangeArrowheads="1" noTextEdit="1"/>
          </p:cNvSpPr>
          <p:nvPr>
            <p:ph type="sldImg"/>
          </p:nvPr>
        </p:nvSpPr>
        <p:spPr bwMode="auto">
          <a:xfrm>
            <a:off x="1130300" y="741363"/>
            <a:ext cx="4387850" cy="3290887"/>
          </a:xfrm>
          <a:noFill/>
          <a:ln>
            <a:solidFill>
              <a:srgbClr val="000000"/>
            </a:solidFill>
            <a:miter lim="800000"/>
            <a:headEnd/>
            <a:tailEnd/>
          </a:ln>
        </p:spPr>
      </p:sp>
      <p:sp>
        <p:nvSpPr>
          <p:cNvPr id="47107" name="Rectangle 3"/>
          <p:cNvSpPr>
            <a:spLocks noGrp="1" noChangeArrowheads="1"/>
          </p:cNvSpPr>
          <p:nvPr>
            <p:ph type="body" idx="1"/>
          </p:nvPr>
        </p:nvSpPr>
        <p:spPr bwMode="auto">
          <a:xfrm>
            <a:off x="906463" y="4197350"/>
            <a:ext cx="4984750" cy="4937125"/>
          </a:xfrm>
          <a:noFill/>
        </p:spPr>
        <p:txBody>
          <a:bodyPr wrap="square" numCol="1" anchor="t" anchorCtr="0" compatLnSpc="1">
            <a:prstTxWarp prst="textNoShape">
              <a:avLst/>
            </a:prstTxWarp>
          </a:bodyPr>
          <a:lstStyle/>
          <a:p>
            <a:pPr eaLnBrk="1" hangingPunct="1">
              <a:spcBef>
                <a:spcPct val="0"/>
              </a:spcBef>
            </a:pPr>
            <a:r>
              <a:rPr lang="en-US" b="1" i="1" u="sng" smtClean="0"/>
              <a:t>Notes to the Instructor</a:t>
            </a:r>
            <a:r>
              <a:rPr lang="en-US" i="1" smtClean="0"/>
              <a:t>:</a:t>
            </a:r>
          </a:p>
          <a:p>
            <a:pPr eaLnBrk="1" hangingPunct="1">
              <a:spcBef>
                <a:spcPct val="0"/>
              </a:spcBef>
            </a:pPr>
            <a:r>
              <a:rPr lang="en-US" b="1" u="sng" smtClean="0"/>
              <a:t>Substitutes:</a:t>
            </a:r>
            <a:r>
              <a:rPr lang="en-US" b="1" smtClean="0"/>
              <a:t> </a:t>
            </a:r>
            <a:r>
              <a:rPr lang="en-US" smtClean="0"/>
              <a:t>Ex.: </a:t>
            </a:r>
            <a:r>
              <a:rPr lang="en-US" i="1" smtClean="0"/>
              <a:t>muffins and donuts, cereal and oatmeal, ….</a:t>
            </a:r>
          </a:p>
          <a:p>
            <a:pPr eaLnBrk="1" hangingPunct="1">
              <a:spcBef>
                <a:spcPct val="0"/>
              </a:spcBef>
            </a:pPr>
            <a:r>
              <a:rPr lang="en-US" b="1" u="sng" smtClean="0"/>
              <a:t>Complements: </a:t>
            </a:r>
            <a:r>
              <a:rPr lang="en-US" smtClean="0"/>
              <a:t>Ex: </a:t>
            </a:r>
            <a:r>
              <a:rPr lang="en-US" i="1" smtClean="0"/>
              <a:t>squash balls and squash racquets</a:t>
            </a:r>
            <a:r>
              <a:rPr lang="en-US" smtClean="0"/>
              <a:t>, </a:t>
            </a:r>
            <a:r>
              <a:rPr lang="en-US" i="1" smtClean="0"/>
              <a:t>iPod and earphones,…</a:t>
            </a:r>
            <a:endParaRPr lang="en-US" b="1" u="sng" smtClean="0"/>
          </a:p>
          <a:p>
            <a:pPr eaLnBrk="1" hangingPunct="1">
              <a:spcBef>
                <a:spcPct val="0"/>
              </a:spcBef>
            </a:pPr>
            <a:endParaRPr lang="en-US" b="1" u="sng" smtClean="0"/>
          </a:p>
          <a:p>
            <a:pPr eaLnBrk="1" hangingPunct="1">
              <a:spcBef>
                <a:spcPct val="0"/>
              </a:spcBef>
            </a:pPr>
            <a:r>
              <a:rPr lang="en-US" b="1" u="sng" smtClean="0"/>
              <a:t>Class exercise questions</a:t>
            </a:r>
            <a:r>
              <a:rPr lang="en-US" smtClean="0"/>
              <a:t>:</a:t>
            </a:r>
          </a:p>
          <a:p>
            <a:pPr eaLnBrk="1" hangingPunct="1">
              <a:spcBef>
                <a:spcPct val="0"/>
              </a:spcBef>
              <a:buFont typeface="Wingdings" pitchFamily="2" charset="2"/>
              <a:buNone/>
            </a:pPr>
            <a:r>
              <a:rPr lang="en-US" smtClean="0"/>
              <a:t>- What would be the effect of a sharp increase in the price of squash balls on the demand for squash racquets? Why?</a:t>
            </a:r>
          </a:p>
          <a:p>
            <a:pPr eaLnBrk="1" hangingPunct="1">
              <a:spcBef>
                <a:spcPct val="0"/>
              </a:spcBef>
              <a:buFont typeface="Wingdings" pitchFamily="2" charset="2"/>
              <a:buNone/>
            </a:pPr>
            <a:r>
              <a:rPr lang="en-US" smtClean="0"/>
              <a:t>- What would be the effect of a sharp increase in the price of Pepsi on the demand for Coke? Why?</a:t>
            </a:r>
          </a:p>
          <a:p>
            <a:pPr eaLnBrk="1" hangingPunct="1">
              <a:spcBef>
                <a:spcPct val="0"/>
              </a:spcBef>
            </a:pPr>
            <a:endParaRPr lang="en-US" smtClean="0"/>
          </a:p>
          <a:p>
            <a:pPr eaLnBrk="1" hangingPunct="1">
              <a:spcBef>
                <a:spcPct val="0"/>
              </a:spcBef>
            </a:pPr>
            <a:r>
              <a:rPr lang="en-US" smtClean="0"/>
              <a:t>An interesting example from current events is the debate on building casinos in Massachusetts. Opponents argue that building casinos in Massachusetts would cause a decline in state lottery revenues. This constitutes an example of substitutes. (Although the expected revenue decrease is only about 6%). </a:t>
            </a:r>
          </a:p>
          <a:p>
            <a:pPr eaLnBrk="1" hangingPunct="1">
              <a:spcBef>
                <a:spcPct val="0"/>
              </a:spcBef>
            </a:pPr>
            <a:endParaRPr lang="en-US" b="1" smtClean="0"/>
          </a:p>
        </p:txBody>
      </p:sp>
    </p:spTree>
    <p:extLst>
      <p:ext uri="{BB962C8B-B14F-4D97-AF65-F5344CB8AC3E}">
        <p14:creationId xmlns:p14="http://schemas.microsoft.com/office/powerpoint/2010/main" val="109886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10E76DDA-BE7C-431D-9E41-328B586E0FD8}" type="slidenum">
              <a:rPr lang="en-US" smtClean="0"/>
              <a:pPr/>
              <a:t>11</a:t>
            </a:fld>
            <a:endParaRPr lang="en-US" smtClean="0"/>
          </a:p>
        </p:txBody>
      </p:sp>
      <p:sp>
        <p:nvSpPr>
          <p:cNvPr id="49154" name="Rectangle 2"/>
          <p:cNvSpPr>
            <a:spLocks noGrp="1" noRot="1" noChangeAspect="1" noChangeArrowheads="1" noTextEdit="1"/>
          </p:cNvSpPr>
          <p:nvPr>
            <p:ph type="sldImg"/>
          </p:nvPr>
        </p:nvSpPr>
        <p:spPr bwMode="auto">
          <a:xfrm>
            <a:off x="1130300" y="741363"/>
            <a:ext cx="4387850" cy="3290887"/>
          </a:xfrm>
          <a:noFill/>
          <a:ln>
            <a:solidFill>
              <a:srgbClr val="000000"/>
            </a:solidFill>
            <a:miter lim="800000"/>
            <a:headEnd/>
            <a:tailEnd/>
          </a:ln>
        </p:spPr>
      </p:sp>
      <p:sp>
        <p:nvSpPr>
          <p:cNvPr id="49155" name="Rectangle 3"/>
          <p:cNvSpPr>
            <a:spLocks noGrp="1" noChangeArrowheads="1"/>
          </p:cNvSpPr>
          <p:nvPr>
            <p:ph type="body" idx="1"/>
          </p:nvPr>
        </p:nvSpPr>
        <p:spPr bwMode="auto">
          <a:xfrm>
            <a:off x="906463" y="4197350"/>
            <a:ext cx="4984750" cy="4937125"/>
          </a:xfrm>
          <a:noFill/>
        </p:spPr>
        <p:txBody>
          <a:bodyPr wrap="square" numCol="1" anchor="t" anchorCtr="0" compatLnSpc="1">
            <a:prstTxWarp prst="textNoShape">
              <a:avLst/>
            </a:prstTxWarp>
          </a:bodyPr>
          <a:lstStyle/>
          <a:p>
            <a:pPr eaLnBrk="1" hangingPunct="1">
              <a:spcBef>
                <a:spcPct val="0"/>
              </a:spcBef>
            </a:pPr>
            <a:r>
              <a:rPr lang="en-US" b="1" i="1" u="sng" smtClean="0"/>
              <a:t>Notes to the Instructor</a:t>
            </a:r>
            <a:r>
              <a:rPr lang="en-US" i="1" smtClean="0"/>
              <a:t>:</a:t>
            </a:r>
          </a:p>
          <a:p>
            <a:pPr eaLnBrk="1" hangingPunct="1">
              <a:spcBef>
                <a:spcPct val="0"/>
              </a:spcBef>
            </a:pPr>
            <a:endParaRPr lang="en-US" i="1" smtClean="0"/>
          </a:p>
          <a:p>
            <a:pPr eaLnBrk="1" hangingPunct="1">
              <a:spcBef>
                <a:spcPct val="0"/>
              </a:spcBef>
            </a:pPr>
            <a:r>
              <a:rPr lang="en-US" b="1" u="sng" smtClean="0"/>
              <a:t>Class exercise questions</a:t>
            </a:r>
            <a:r>
              <a:rPr lang="en-US" smtClean="0"/>
              <a:t>:</a:t>
            </a:r>
          </a:p>
          <a:p>
            <a:pPr eaLnBrk="1" hangingPunct="1">
              <a:spcBef>
                <a:spcPct val="0"/>
              </a:spcBef>
              <a:buFont typeface="Wingdings" pitchFamily="2" charset="2"/>
              <a:buNone/>
            </a:pPr>
            <a:r>
              <a:rPr lang="en-US" smtClean="0"/>
              <a:t>- As Talya’s income goes up, she buys less “instant noodles.” What kind of a good is “instant noodles” for Talya?</a:t>
            </a:r>
          </a:p>
          <a:p>
            <a:pPr eaLnBrk="1" hangingPunct="1">
              <a:spcBef>
                <a:spcPct val="0"/>
              </a:spcBef>
              <a:buFont typeface="Wingdings" pitchFamily="2" charset="2"/>
              <a:buNone/>
            </a:pPr>
            <a:r>
              <a:rPr lang="en-US" smtClean="0"/>
              <a:t>- Following David Beckham and Sting, more men start to follow the fashion of wearing skirts. What would the effect of this change in tastes be on the demand for skirts?</a:t>
            </a:r>
          </a:p>
          <a:p>
            <a:pPr eaLnBrk="1" hangingPunct="1">
              <a:spcBef>
                <a:spcPct val="0"/>
              </a:spcBef>
              <a:buFont typeface="Wingdings" pitchFamily="2" charset="2"/>
              <a:buNone/>
            </a:pPr>
            <a:r>
              <a:rPr lang="en-US" smtClean="0"/>
              <a:t>- Scientists announce that there will be no fish left in the oceans in 5 years. What would be the effect of this announcement on demand for sushi?</a:t>
            </a:r>
          </a:p>
          <a:p>
            <a:pPr eaLnBrk="1" hangingPunct="1">
              <a:spcBef>
                <a:spcPct val="0"/>
              </a:spcBef>
            </a:pPr>
            <a:endParaRPr lang="en-US" smtClean="0"/>
          </a:p>
          <a:p>
            <a:pPr eaLnBrk="1" hangingPunct="1">
              <a:spcBef>
                <a:spcPct val="0"/>
              </a:spcBef>
            </a:pPr>
            <a:endParaRPr lang="en-US" b="1" smtClean="0"/>
          </a:p>
        </p:txBody>
      </p:sp>
    </p:spTree>
    <p:extLst>
      <p:ext uri="{BB962C8B-B14F-4D97-AF65-F5344CB8AC3E}">
        <p14:creationId xmlns:p14="http://schemas.microsoft.com/office/powerpoint/2010/main" val="1421975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38EC4EE-0C94-445E-A8C2-0D665CDEB029}" type="slidenum">
              <a:rPr lang="en-US" smtClean="0"/>
              <a:pPr/>
              <a:t>12</a:t>
            </a:fld>
            <a:endParaRPr lang="en-US" smtClean="0"/>
          </a:p>
        </p:txBody>
      </p:sp>
      <p:sp>
        <p:nvSpPr>
          <p:cNvPr id="512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12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Figure Caption:</a:t>
            </a:r>
            <a:r>
              <a:rPr lang="en-US" smtClean="0"/>
              <a:t>  </a:t>
            </a:r>
          </a:p>
          <a:p>
            <a:pPr eaLnBrk="1" hangingPunct="1">
              <a:spcBef>
                <a:spcPct val="0"/>
              </a:spcBef>
            </a:pPr>
            <a:r>
              <a:rPr lang="en-US" b="1" smtClean="0"/>
              <a:t>Figure 3-5: Individual Demand Curves and the Market Demand Curve</a:t>
            </a:r>
          </a:p>
          <a:p>
            <a:pPr eaLnBrk="1" hangingPunct="1">
              <a:spcBef>
                <a:spcPct val="0"/>
              </a:spcBef>
            </a:pPr>
            <a:r>
              <a:rPr lang="en-US" smtClean="0"/>
              <a:t>Darla and Dino are the only two consumers of blue jeans in the market. Panel (a) shows Darla’s individual demand curve: the number of pair of jeans she will buy per year at any given price. Panel (b) shows Dino’s individual demand curve. Given that Darla and Dino are the only two consumers, the </a:t>
            </a:r>
            <a:r>
              <a:rPr lang="en-US" i="1" smtClean="0"/>
              <a:t>market demand curve, </a:t>
            </a:r>
            <a:r>
              <a:rPr lang="en-US" smtClean="0"/>
              <a:t>which shows the quantity of blue jeans demanded by all consumers at any given price, is shown in panel (c). The market demand curve is the </a:t>
            </a:r>
            <a:r>
              <a:rPr lang="en-US" i="1" smtClean="0"/>
              <a:t>horizontal sum </a:t>
            </a:r>
            <a:r>
              <a:rPr lang="en-US" smtClean="0"/>
              <a:t>of the individual demand curves of all consumers. In this case, at any given price, the quantity demanded by the market is the sum of the quantities demanded by Darla and Dino.</a:t>
            </a:r>
          </a:p>
        </p:txBody>
      </p:sp>
    </p:spTree>
    <p:extLst>
      <p:ext uri="{BB962C8B-B14F-4D97-AF65-F5344CB8AC3E}">
        <p14:creationId xmlns:p14="http://schemas.microsoft.com/office/powerpoint/2010/main" val="309784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EAD69BB4-FE53-4FF0-9F35-AC955EECCBCD}" type="slidenum">
              <a:rPr lang="en-US" smtClean="0"/>
              <a:pPr/>
              <a:t>15</a:t>
            </a:fld>
            <a:endParaRPr lang="en-US" smtClean="0"/>
          </a:p>
        </p:txBody>
      </p:sp>
      <p:sp>
        <p:nvSpPr>
          <p:cNvPr id="5734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734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lnSpc>
                <a:spcPct val="80000"/>
              </a:lnSpc>
              <a:spcBef>
                <a:spcPct val="0"/>
              </a:spcBef>
            </a:pPr>
            <a:r>
              <a:rPr lang="en-US" sz="800" b="1" i="1" u="sng" smtClean="0"/>
              <a:t>Figure Caption:</a:t>
            </a:r>
            <a:r>
              <a:rPr lang="en-US" sz="800" smtClean="0"/>
              <a:t>  </a:t>
            </a:r>
          </a:p>
          <a:p>
            <a:pPr eaLnBrk="1" hangingPunct="1">
              <a:lnSpc>
                <a:spcPct val="80000"/>
              </a:lnSpc>
              <a:spcBef>
                <a:spcPct val="0"/>
              </a:spcBef>
            </a:pPr>
            <a:r>
              <a:rPr lang="en-US" sz="800" b="1" smtClean="0"/>
              <a:t>Figure 3-6: The Supply Schedule and the Supply Curve</a:t>
            </a:r>
          </a:p>
          <a:p>
            <a:pPr eaLnBrk="1" hangingPunct="1">
              <a:lnSpc>
                <a:spcPct val="80000"/>
              </a:lnSpc>
              <a:spcBef>
                <a:spcPct val="0"/>
              </a:spcBef>
            </a:pPr>
            <a:r>
              <a:rPr lang="en-US" sz="800" smtClean="0"/>
              <a:t>The supply schedule for cotton is plotted to yield the corresponding supply curve, which shows how much of a good producers are willing to sell at any given price. Just as the quantity of </a:t>
            </a:r>
            <a:r>
              <a:rPr lang="en-US" sz="800" b="1" smtClean="0"/>
              <a:t>cotton </a:t>
            </a:r>
            <a:r>
              <a:rPr lang="en-US" sz="800" smtClean="0"/>
              <a:t>that consumers want to buy depends on the price they have to pay, the quantity that producers are willing to produce and sell—the </a:t>
            </a:r>
            <a:r>
              <a:rPr lang="en-US" sz="800" b="1" smtClean="0"/>
              <a:t>quantity supplied</a:t>
            </a:r>
            <a:r>
              <a:rPr lang="en-US" sz="800" smtClean="0"/>
              <a:t>—depends on the price they are offered.</a:t>
            </a:r>
          </a:p>
          <a:p>
            <a:pPr eaLnBrk="1" hangingPunct="1">
              <a:lnSpc>
                <a:spcPct val="80000"/>
              </a:lnSpc>
              <a:spcBef>
                <a:spcPct val="0"/>
              </a:spcBef>
            </a:pPr>
            <a:endParaRPr lang="en-US" sz="800" smtClean="0"/>
          </a:p>
          <a:p>
            <a:pPr eaLnBrk="1" hangingPunct="1">
              <a:lnSpc>
                <a:spcPct val="80000"/>
              </a:lnSpc>
              <a:spcBef>
                <a:spcPct val="0"/>
              </a:spcBef>
            </a:pPr>
            <a:r>
              <a:rPr lang="en-US" sz="800" b="1" i="1" u="sng" smtClean="0"/>
              <a:t>Notes to the Instructor:</a:t>
            </a:r>
            <a:r>
              <a:rPr lang="en-US" sz="800" smtClean="0"/>
              <a:t>  </a:t>
            </a:r>
          </a:p>
          <a:p>
            <a:pPr eaLnBrk="1" hangingPunct="1">
              <a:lnSpc>
                <a:spcPct val="80000"/>
              </a:lnSpc>
              <a:spcBef>
                <a:spcPct val="0"/>
              </a:spcBef>
            </a:pPr>
            <a:endParaRPr lang="en-US" sz="800" b="1" smtClean="0"/>
          </a:p>
          <a:p>
            <a:pPr eaLnBrk="1" hangingPunct="1">
              <a:lnSpc>
                <a:spcPct val="80000"/>
              </a:lnSpc>
              <a:spcBef>
                <a:spcPct val="0"/>
              </a:spcBef>
            </a:pPr>
            <a:r>
              <a:rPr lang="en-US" sz="800" b="1" smtClean="0"/>
              <a:t>COTTON FIELDS (THE COTTON SONG)</a:t>
            </a:r>
            <a:endParaRPr lang="en-US" sz="800" smtClean="0"/>
          </a:p>
          <a:p>
            <a:pPr eaLnBrk="1" hangingPunct="1">
              <a:lnSpc>
                <a:spcPct val="80000"/>
              </a:lnSpc>
              <a:spcBef>
                <a:spcPct val="0"/>
              </a:spcBef>
            </a:pPr>
            <a:r>
              <a:rPr lang="en-US" sz="800" smtClean="0"/>
              <a:t>Beach Boys</a:t>
            </a:r>
          </a:p>
          <a:p>
            <a:pPr eaLnBrk="1" hangingPunct="1">
              <a:lnSpc>
                <a:spcPct val="80000"/>
              </a:lnSpc>
              <a:spcBef>
                <a:spcPct val="0"/>
              </a:spcBef>
            </a:pPr>
            <a:endParaRPr lang="en-US" sz="800" smtClean="0"/>
          </a:p>
          <a:p>
            <a:pPr eaLnBrk="1" hangingPunct="1">
              <a:lnSpc>
                <a:spcPct val="80000"/>
              </a:lnSpc>
              <a:spcBef>
                <a:spcPct val="0"/>
              </a:spcBef>
            </a:pPr>
            <a:r>
              <a:rPr lang="en-US" sz="800" smtClean="0"/>
              <a:t>When I was a little bitty baby</a:t>
            </a:r>
          </a:p>
          <a:p>
            <a:pPr eaLnBrk="1" hangingPunct="1">
              <a:lnSpc>
                <a:spcPct val="80000"/>
              </a:lnSpc>
              <a:spcBef>
                <a:spcPct val="0"/>
              </a:spcBef>
            </a:pPr>
            <a:r>
              <a:rPr lang="en-US" sz="800" smtClean="0"/>
              <a:t>My mama done rock me in the cradle</a:t>
            </a:r>
          </a:p>
          <a:p>
            <a:pPr eaLnBrk="1" hangingPunct="1">
              <a:lnSpc>
                <a:spcPct val="80000"/>
              </a:lnSpc>
              <a:spcBef>
                <a:spcPct val="0"/>
              </a:spcBef>
            </a:pPr>
            <a:r>
              <a:rPr lang="en-US" sz="800" smtClean="0"/>
              <a:t>In them old cotton fields back home</a:t>
            </a:r>
          </a:p>
          <a:p>
            <a:pPr eaLnBrk="1" hangingPunct="1">
              <a:lnSpc>
                <a:spcPct val="80000"/>
              </a:lnSpc>
              <a:spcBef>
                <a:spcPct val="0"/>
              </a:spcBef>
            </a:pPr>
            <a:r>
              <a:rPr lang="en-US" sz="800" smtClean="0"/>
              <a:t>It was back in Louisiana</a:t>
            </a:r>
          </a:p>
          <a:p>
            <a:pPr eaLnBrk="1" hangingPunct="1">
              <a:lnSpc>
                <a:spcPct val="80000"/>
              </a:lnSpc>
              <a:spcBef>
                <a:spcPct val="0"/>
              </a:spcBef>
            </a:pPr>
            <a:r>
              <a:rPr lang="en-US" sz="800" smtClean="0"/>
              <a:t>Just about a mile from Texarkana</a:t>
            </a:r>
          </a:p>
          <a:p>
            <a:pPr eaLnBrk="1" hangingPunct="1">
              <a:lnSpc>
                <a:spcPct val="80000"/>
              </a:lnSpc>
              <a:spcBef>
                <a:spcPct val="0"/>
              </a:spcBef>
            </a:pPr>
            <a:r>
              <a:rPr lang="en-US" sz="800" smtClean="0"/>
              <a:t>In them old cotton fields back home</a:t>
            </a:r>
          </a:p>
          <a:p>
            <a:pPr eaLnBrk="1" hangingPunct="1">
              <a:lnSpc>
                <a:spcPct val="80000"/>
              </a:lnSpc>
              <a:spcBef>
                <a:spcPct val="0"/>
              </a:spcBef>
            </a:pPr>
            <a:endParaRPr lang="en-US" sz="800" smtClean="0"/>
          </a:p>
          <a:p>
            <a:pPr eaLnBrk="1" hangingPunct="1">
              <a:lnSpc>
                <a:spcPct val="80000"/>
              </a:lnSpc>
              <a:spcBef>
                <a:spcPct val="0"/>
              </a:spcBef>
            </a:pPr>
            <a:r>
              <a:rPr lang="en-US" sz="800" smtClean="0"/>
              <a:t>Let me tell you now well got me in a fix</a:t>
            </a:r>
          </a:p>
          <a:p>
            <a:pPr eaLnBrk="1" hangingPunct="1">
              <a:lnSpc>
                <a:spcPct val="80000"/>
              </a:lnSpc>
              <a:spcBef>
                <a:spcPct val="0"/>
              </a:spcBef>
            </a:pPr>
            <a:r>
              <a:rPr lang="en-US" sz="800" smtClean="0"/>
              <a:t>I caught a nail in my tire doing lickitey splits</a:t>
            </a:r>
          </a:p>
          <a:p>
            <a:pPr eaLnBrk="1" hangingPunct="1">
              <a:lnSpc>
                <a:spcPct val="80000"/>
              </a:lnSpc>
              <a:spcBef>
                <a:spcPct val="0"/>
              </a:spcBef>
            </a:pPr>
            <a:r>
              <a:rPr lang="en-US" sz="800" smtClean="0"/>
              <a:t>I had to walk a long long way to town</a:t>
            </a:r>
          </a:p>
          <a:p>
            <a:pPr eaLnBrk="1" hangingPunct="1">
              <a:lnSpc>
                <a:spcPct val="80000"/>
              </a:lnSpc>
              <a:spcBef>
                <a:spcPct val="0"/>
              </a:spcBef>
            </a:pPr>
            <a:r>
              <a:rPr lang="en-US" sz="800" smtClean="0"/>
              <a:t>Came upon a nice old man well he had a hat on</a:t>
            </a:r>
          </a:p>
          <a:p>
            <a:pPr eaLnBrk="1" hangingPunct="1">
              <a:lnSpc>
                <a:spcPct val="80000"/>
              </a:lnSpc>
              <a:spcBef>
                <a:spcPct val="0"/>
              </a:spcBef>
            </a:pPr>
            <a:r>
              <a:rPr lang="en-US" sz="800" smtClean="0"/>
              <a:t>Wait a minute mister can you give me some directions</a:t>
            </a:r>
          </a:p>
          <a:p>
            <a:pPr eaLnBrk="1" hangingPunct="1">
              <a:lnSpc>
                <a:spcPct val="80000"/>
              </a:lnSpc>
              <a:spcBef>
                <a:spcPct val="0"/>
              </a:spcBef>
            </a:pPr>
            <a:r>
              <a:rPr lang="en-US" sz="800" smtClean="0"/>
              <a:t>I gonna want to be right off for home</a:t>
            </a:r>
          </a:p>
          <a:p>
            <a:pPr eaLnBrk="1" hangingPunct="1">
              <a:lnSpc>
                <a:spcPct val="80000"/>
              </a:lnSpc>
              <a:spcBef>
                <a:spcPct val="0"/>
              </a:spcBef>
            </a:pPr>
            <a:endParaRPr lang="en-US" sz="800" smtClean="0"/>
          </a:p>
          <a:p>
            <a:pPr eaLnBrk="1" hangingPunct="1">
              <a:lnSpc>
                <a:spcPct val="80000"/>
              </a:lnSpc>
              <a:spcBef>
                <a:spcPct val="0"/>
              </a:spcBef>
            </a:pPr>
            <a:r>
              <a:rPr lang="en-US" sz="800" smtClean="0"/>
              <a:t>Don't care if them cotton balls get rotten</a:t>
            </a:r>
          </a:p>
          <a:p>
            <a:pPr eaLnBrk="1" hangingPunct="1">
              <a:lnSpc>
                <a:spcPct val="80000"/>
              </a:lnSpc>
              <a:spcBef>
                <a:spcPct val="0"/>
              </a:spcBef>
            </a:pPr>
            <a:r>
              <a:rPr lang="en-US" sz="800" smtClean="0"/>
              <a:t>When I got you baby, who needs cotton</a:t>
            </a:r>
          </a:p>
          <a:p>
            <a:pPr eaLnBrk="1" hangingPunct="1">
              <a:lnSpc>
                <a:spcPct val="80000"/>
              </a:lnSpc>
              <a:spcBef>
                <a:spcPct val="0"/>
              </a:spcBef>
            </a:pPr>
            <a:r>
              <a:rPr lang="en-US" sz="800" smtClean="0"/>
              <a:t>In them old cotton fields back home</a:t>
            </a:r>
          </a:p>
          <a:p>
            <a:pPr eaLnBrk="1" hangingPunct="1">
              <a:lnSpc>
                <a:spcPct val="80000"/>
              </a:lnSpc>
              <a:spcBef>
                <a:spcPct val="0"/>
              </a:spcBef>
            </a:pPr>
            <a:r>
              <a:rPr lang="en-US" sz="800" smtClean="0"/>
              <a:t>Brother only one thing more that's gonna warm you</a:t>
            </a:r>
          </a:p>
          <a:p>
            <a:pPr eaLnBrk="1" hangingPunct="1">
              <a:lnSpc>
                <a:spcPct val="80000"/>
              </a:lnSpc>
              <a:spcBef>
                <a:spcPct val="0"/>
              </a:spcBef>
            </a:pPr>
            <a:r>
              <a:rPr lang="en-US" sz="800" smtClean="0"/>
              <a:t>A summer's day out in California</a:t>
            </a:r>
          </a:p>
          <a:p>
            <a:pPr eaLnBrk="1" hangingPunct="1">
              <a:lnSpc>
                <a:spcPct val="80000"/>
              </a:lnSpc>
              <a:spcBef>
                <a:spcPct val="0"/>
              </a:spcBef>
            </a:pPr>
            <a:r>
              <a:rPr lang="en-US" sz="800" smtClean="0"/>
              <a:t>It's gonna be those cotton fields back home</a:t>
            </a:r>
          </a:p>
          <a:p>
            <a:pPr eaLnBrk="1" hangingPunct="1">
              <a:lnSpc>
                <a:spcPct val="80000"/>
              </a:lnSpc>
              <a:spcBef>
                <a:spcPct val="0"/>
              </a:spcBef>
            </a:pPr>
            <a:endParaRPr lang="en-US" sz="800" smtClean="0"/>
          </a:p>
          <a:p>
            <a:pPr eaLnBrk="1" hangingPunct="1">
              <a:lnSpc>
                <a:spcPct val="80000"/>
              </a:lnSpc>
              <a:spcBef>
                <a:spcPct val="0"/>
              </a:spcBef>
            </a:pPr>
            <a:r>
              <a:rPr lang="en-US" sz="800" smtClean="0"/>
              <a:t>It was back in Louisiana</a:t>
            </a:r>
          </a:p>
          <a:p>
            <a:pPr eaLnBrk="1" hangingPunct="1">
              <a:lnSpc>
                <a:spcPct val="80000"/>
              </a:lnSpc>
              <a:spcBef>
                <a:spcPct val="0"/>
              </a:spcBef>
            </a:pPr>
            <a:r>
              <a:rPr lang="en-US" sz="800" smtClean="0"/>
              <a:t>Just about a mile from Texarkana</a:t>
            </a:r>
          </a:p>
          <a:p>
            <a:pPr eaLnBrk="1" hangingPunct="1">
              <a:lnSpc>
                <a:spcPct val="80000"/>
              </a:lnSpc>
              <a:spcBef>
                <a:spcPct val="0"/>
              </a:spcBef>
            </a:pPr>
            <a:r>
              <a:rPr lang="en-US" sz="800" smtClean="0"/>
              <a:t>Give me them cotton fields</a:t>
            </a:r>
          </a:p>
          <a:p>
            <a:pPr eaLnBrk="1" hangingPunct="1">
              <a:lnSpc>
                <a:spcPct val="80000"/>
              </a:lnSpc>
              <a:spcBef>
                <a:spcPct val="0"/>
              </a:spcBef>
            </a:pPr>
            <a:r>
              <a:rPr lang="en-US" sz="800" smtClean="0"/>
              <a:t>(It was back in Louisiana)</a:t>
            </a:r>
          </a:p>
          <a:p>
            <a:pPr eaLnBrk="1" hangingPunct="1">
              <a:lnSpc>
                <a:spcPct val="80000"/>
              </a:lnSpc>
              <a:spcBef>
                <a:spcPct val="0"/>
              </a:spcBef>
            </a:pPr>
            <a:r>
              <a:rPr lang="en-US" sz="800" smtClean="0"/>
              <a:t>Let me hear it for the cotton fields</a:t>
            </a:r>
          </a:p>
          <a:p>
            <a:pPr eaLnBrk="1" hangingPunct="1">
              <a:lnSpc>
                <a:spcPct val="80000"/>
              </a:lnSpc>
              <a:spcBef>
                <a:spcPct val="0"/>
              </a:spcBef>
            </a:pPr>
            <a:r>
              <a:rPr lang="en-US" sz="800" smtClean="0"/>
              <a:t>(Just about a mile from Texarkana)</a:t>
            </a:r>
          </a:p>
          <a:p>
            <a:pPr eaLnBrk="1" hangingPunct="1">
              <a:lnSpc>
                <a:spcPct val="80000"/>
              </a:lnSpc>
              <a:spcBef>
                <a:spcPct val="0"/>
              </a:spcBef>
            </a:pPr>
            <a:r>
              <a:rPr lang="en-US" sz="800" smtClean="0"/>
              <a:t>You know that there's just no place like home</a:t>
            </a:r>
          </a:p>
          <a:p>
            <a:pPr eaLnBrk="1" hangingPunct="1">
              <a:lnSpc>
                <a:spcPct val="80000"/>
              </a:lnSpc>
              <a:spcBef>
                <a:spcPct val="0"/>
              </a:spcBef>
            </a:pPr>
            <a:endParaRPr lang="en-US" sz="800" smtClean="0"/>
          </a:p>
          <a:p>
            <a:pPr eaLnBrk="1" hangingPunct="1">
              <a:lnSpc>
                <a:spcPct val="80000"/>
              </a:lnSpc>
              <a:spcBef>
                <a:spcPct val="0"/>
              </a:spcBef>
            </a:pPr>
            <a:r>
              <a:rPr lang="en-US" sz="800" smtClean="0"/>
              <a:t>Well boy it sure feels good to breathe the air back home</a:t>
            </a:r>
          </a:p>
          <a:p>
            <a:pPr eaLnBrk="1" hangingPunct="1">
              <a:lnSpc>
                <a:spcPct val="80000"/>
              </a:lnSpc>
              <a:spcBef>
                <a:spcPct val="0"/>
              </a:spcBef>
            </a:pPr>
            <a:r>
              <a:rPr lang="en-US" sz="800" smtClean="0"/>
              <a:t>You shoulda seen their faces when they seen how I grown</a:t>
            </a:r>
          </a:p>
          <a:p>
            <a:pPr eaLnBrk="1" hangingPunct="1">
              <a:lnSpc>
                <a:spcPct val="80000"/>
              </a:lnSpc>
              <a:spcBef>
                <a:spcPct val="0"/>
              </a:spcBef>
            </a:pPr>
            <a:r>
              <a:rPr lang="en-US" sz="800" smtClean="0"/>
              <a:t>In them old cotton fields back home</a:t>
            </a:r>
          </a:p>
        </p:txBody>
      </p:sp>
    </p:spTree>
    <p:extLst>
      <p:ext uri="{BB962C8B-B14F-4D97-AF65-F5344CB8AC3E}">
        <p14:creationId xmlns:p14="http://schemas.microsoft.com/office/powerpoint/2010/main" val="1828943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024403B9-EC1B-411C-A286-E6E92E40892E}" type="slidenum">
              <a:rPr lang="en-US" smtClean="0"/>
              <a:pPr/>
              <a:t>16</a:t>
            </a:fld>
            <a:endParaRPr lang="en-US" smtClean="0"/>
          </a:p>
        </p:txBody>
      </p:sp>
      <p:sp>
        <p:nvSpPr>
          <p:cNvPr id="5939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939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Figure Caption:</a:t>
            </a:r>
            <a:r>
              <a:rPr lang="en-US" smtClean="0"/>
              <a:t>  </a:t>
            </a:r>
          </a:p>
          <a:p>
            <a:pPr eaLnBrk="1" hangingPunct="1">
              <a:spcBef>
                <a:spcPct val="0"/>
              </a:spcBef>
            </a:pPr>
            <a:r>
              <a:rPr lang="en-US" b="1" smtClean="0"/>
              <a:t>Figure 3-6: The Supply Schedule and the Supply Curve</a:t>
            </a:r>
          </a:p>
          <a:p>
            <a:pPr eaLnBrk="1" hangingPunct="1">
              <a:spcBef>
                <a:spcPct val="0"/>
              </a:spcBef>
            </a:pPr>
            <a:r>
              <a:rPr lang="en-US" smtClean="0"/>
              <a:t>The supply curve and the supply schedule reflect the fact that supply curves are usually upward sloping: the quantity supplied rises when the price rises.</a:t>
            </a:r>
          </a:p>
          <a:p>
            <a:pPr eaLnBrk="1" hangingPunct="1">
              <a:spcBef>
                <a:spcPct val="0"/>
              </a:spcBef>
            </a:pPr>
            <a:endParaRPr lang="en-US" smtClean="0"/>
          </a:p>
          <a:p>
            <a:pPr eaLnBrk="1" hangingPunct="1">
              <a:spcBef>
                <a:spcPct val="0"/>
              </a:spcBef>
            </a:pPr>
            <a:r>
              <a:rPr lang="en-US" b="1" i="1" u="sng" smtClean="0"/>
              <a:t>Notes to the Instructor:</a:t>
            </a:r>
            <a:r>
              <a:rPr lang="en-US" smtClean="0"/>
              <a:t> </a:t>
            </a:r>
          </a:p>
          <a:p>
            <a:pPr eaLnBrk="1" hangingPunct="1">
              <a:spcBef>
                <a:spcPct val="0"/>
              </a:spcBef>
            </a:pPr>
            <a:r>
              <a:rPr lang="en-US" smtClean="0"/>
              <a:t>This could be another opportunity to remind students the definition of “slope”. They should understand that the basic supply curve for a normal good is “upward sloping” and also the intuition of its slope. As the price goes up, producers receive more for each unit of good they sell and hence they are willing to increase the amount supplied. There is a positive relationship between price and quantity supplied: as one goes up, the other one also goes up.</a:t>
            </a:r>
          </a:p>
          <a:p>
            <a:pPr eaLnBrk="1" hangingPunct="1">
              <a:spcBef>
                <a:spcPct val="0"/>
              </a:spcBef>
            </a:pPr>
            <a:endParaRPr lang="en-US" smtClean="0"/>
          </a:p>
          <a:p>
            <a:pPr eaLnBrk="1" hangingPunct="1">
              <a:spcBef>
                <a:spcPct val="0"/>
              </a:spcBef>
            </a:pPr>
            <a:r>
              <a:rPr lang="en-US" smtClean="0"/>
              <a:t>Alternatively, you could delay the explanation about the slope until later and then go more into the details of the ”upward slope,” its intuition, exceptions, etc… </a:t>
            </a:r>
          </a:p>
          <a:p>
            <a:pPr eaLnBrk="1" hangingPunct="1">
              <a:spcBef>
                <a:spcPct val="0"/>
              </a:spcBef>
            </a:pPr>
            <a:endParaRPr lang="en-US" smtClean="0"/>
          </a:p>
        </p:txBody>
      </p:sp>
    </p:spTree>
    <p:extLst>
      <p:ext uri="{BB962C8B-B14F-4D97-AF65-F5344CB8AC3E}">
        <p14:creationId xmlns:p14="http://schemas.microsoft.com/office/powerpoint/2010/main" val="26492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F8B011B-56A4-4DDE-B04E-980615934B6C}" type="slidenum">
              <a:rPr lang="en-US" smtClean="0"/>
              <a:pPr/>
              <a:t>17</a:t>
            </a:fld>
            <a:endParaRPr lang="en-US" smtClean="0"/>
          </a:p>
        </p:txBody>
      </p:sp>
      <p:sp>
        <p:nvSpPr>
          <p:cNvPr id="6349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349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lnSpc>
                <a:spcPct val="90000"/>
              </a:lnSpc>
              <a:spcBef>
                <a:spcPct val="0"/>
              </a:spcBef>
            </a:pPr>
            <a:r>
              <a:rPr lang="en-US" b="1" i="1" u="sng" smtClean="0"/>
              <a:t>Figure Caption:</a:t>
            </a:r>
            <a:r>
              <a:rPr lang="en-US" smtClean="0"/>
              <a:t>  </a:t>
            </a:r>
          </a:p>
          <a:p>
            <a:pPr eaLnBrk="1" hangingPunct="1">
              <a:lnSpc>
                <a:spcPct val="90000"/>
              </a:lnSpc>
              <a:spcBef>
                <a:spcPct val="0"/>
              </a:spcBef>
            </a:pPr>
            <a:r>
              <a:rPr lang="en-US" b="1" smtClean="0"/>
              <a:t>Figure 3-7: An increase in supply</a:t>
            </a:r>
          </a:p>
          <a:p>
            <a:pPr eaLnBrk="1" hangingPunct="1">
              <a:spcBef>
                <a:spcPct val="0"/>
              </a:spcBef>
            </a:pPr>
            <a:r>
              <a:rPr lang="en-US" smtClean="0"/>
              <a:t>The adoption of new technology in the cotton growing business generated an increase in supply—a rise in the quantity supplied  at any given price. This event is represented by the two supply schedules—one showing supply before technology adoption, the other showing supply after technology adoption—and their corresponding supply curves. The increase in supply shifts the supply curve to the right.</a:t>
            </a:r>
          </a:p>
        </p:txBody>
      </p:sp>
    </p:spTree>
    <p:extLst>
      <p:ext uri="{BB962C8B-B14F-4D97-AF65-F5344CB8AC3E}">
        <p14:creationId xmlns:p14="http://schemas.microsoft.com/office/powerpoint/2010/main" val="20775235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464B639A-4FBD-4A4F-A1FC-1FDFC7F89A26}" type="slidenum">
              <a:rPr lang="en-US" smtClean="0"/>
              <a:pPr/>
              <a:t>18</a:t>
            </a:fld>
            <a:endParaRPr lang="en-US" smtClean="0"/>
          </a:p>
        </p:txBody>
      </p:sp>
      <p:sp>
        <p:nvSpPr>
          <p:cNvPr id="655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553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lnSpc>
                <a:spcPct val="80000"/>
              </a:lnSpc>
              <a:spcBef>
                <a:spcPct val="0"/>
              </a:spcBef>
            </a:pPr>
            <a:r>
              <a:rPr lang="en-US" sz="800" b="1" i="1" u="sng" smtClean="0"/>
              <a:t>Figure Caption:</a:t>
            </a:r>
            <a:r>
              <a:rPr lang="en-US" sz="800" smtClean="0"/>
              <a:t> </a:t>
            </a:r>
          </a:p>
          <a:p>
            <a:pPr eaLnBrk="1" hangingPunct="1">
              <a:lnSpc>
                <a:spcPct val="80000"/>
              </a:lnSpc>
              <a:spcBef>
                <a:spcPct val="0"/>
              </a:spcBef>
            </a:pPr>
            <a:r>
              <a:rPr lang="en-US" sz="800" b="1" smtClean="0"/>
              <a:t>Figure 3-8: Movement Along the Supply Curve Versus Shift of the Supply Curve</a:t>
            </a:r>
          </a:p>
          <a:p>
            <a:pPr eaLnBrk="1" hangingPunct="1">
              <a:spcBef>
                <a:spcPct val="0"/>
              </a:spcBef>
            </a:pPr>
            <a:r>
              <a:rPr lang="en-US" smtClean="0"/>
              <a:t>The increase in quantity supplied when going from point </a:t>
            </a:r>
            <a:r>
              <a:rPr lang="en-US" i="1" smtClean="0"/>
              <a:t>A </a:t>
            </a:r>
            <a:r>
              <a:rPr lang="en-US" smtClean="0"/>
              <a:t>to point </a:t>
            </a:r>
            <a:r>
              <a:rPr lang="en-US" i="1" smtClean="0"/>
              <a:t>B </a:t>
            </a:r>
            <a:r>
              <a:rPr lang="en-US" smtClean="0"/>
              <a:t>reflects a movement along the supply curve: it is the result of a rise in the price of the good. The increase in quantity supplied when going from point </a:t>
            </a:r>
            <a:r>
              <a:rPr lang="en-US" i="1" smtClean="0"/>
              <a:t>A </a:t>
            </a:r>
            <a:r>
              <a:rPr lang="en-US" smtClean="0"/>
              <a:t>to point </a:t>
            </a:r>
            <a:r>
              <a:rPr lang="en-US" i="1" smtClean="0"/>
              <a:t>C </a:t>
            </a:r>
            <a:r>
              <a:rPr lang="en-US" smtClean="0"/>
              <a:t>reflects a shift of the supply curve: it is the result of an increase in the quantity supplied at any given price.</a:t>
            </a:r>
          </a:p>
        </p:txBody>
      </p:sp>
    </p:spTree>
    <p:extLst>
      <p:ext uri="{BB962C8B-B14F-4D97-AF65-F5344CB8AC3E}">
        <p14:creationId xmlns:p14="http://schemas.microsoft.com/office/powerpoint/2010/main" val="725627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ED450D53-803B-4F26-BA3D-FA51D8837555}" type="slidenum">
              <a:rPr lang="en-US" smtClean="0"/>
              <a:pPr/>
              <a:t>19</a:t>
            </a:fld>
            <a:endParaRPr lang="en-US" smtClean="0"/>
          </a:p>
        </p:txBody>
      </p:sp>
      <p:sp>
        <p:nvSpPr>
          <p:cNvPr id="67586" name="Rectangle 2"/>
          <p:cNvSpPr>
            <a:spLocks noGrp="1" noRot="1" noChangeAspect="1" noChangeArrowheads="1" noTextEdit="1"/>
          </p:cNvSpPr>
          <p:nvPr>
            <p:ph type="sldImg"/>
          </p:nvPr>
        </p:nvSpPr>
        <p:spPr bwMode="auto">
          <a:xfrm>
            <a:off x="1130300" y="741363"/>
            <a:ext cx="4387850" cy="3290887"/>
          </a:xfrm>
          <a:noFill/>
          <a:ln>
            <a:solidFill>
              <a:srgbClr val="000000"/>
            </a:solidFill>
            <a:miter lim="800000"/>
            <a:headEnd/>
            <a:tailEnd/>
          </a:ln>
        </p:spPr>
      </p:sp>
      <p:sp>
        <p:nvSpPr>
          <p:cNvPr id="67587" name="Rectangle 3"/>
          <p:cNvSpPr>
            <a:spLocks noGrp="1" noChangeArrowheads="1"/>
          </p:cNvSpPr>
          <p:nvPr>
            <p:ph type="body" idx="1"/>
          </p:nvPr>
        </p:nvSpPr>
        <p:spPr bwMode="auto">
          <a:xfrm>
            <a:off x="906463" y="4197350"/>
            <a:ext cx="4984750" cy="4937125"/>
          </a:xfrm>
          <a:noFill/>
        </p:spPr>
        <p:txBody>
          <a:bodyPr wrap="square" numCol="1" anchor="t" anchorCtr="0" compatLnSpc="1">
            <a:prstTxWarp prst="textNoShape">
              <a:avLst/>
            </a:prstTxWarp>
          </a:bodyPr>
          <a:lstStyle/>
          <a:p>
            <a:pPr eaLnBrk="1" hangingPunct="1">
              <a:spcBef>
                <a:spcPct val="0"/>
              </a:spcBef>
            </a:pPr>
            <a:r>
              <a:rPr lang="en-US" b="1" i="1" u="sng" smtClean="0"/>
              <a:t>Figure Caption:</a:t>
            </a:r>
            <a:r>
              <a:rPr lang="en-US" smtClean="0"/>
              <a:t>  </a:t>
            </a:r>
          </a:p>
          <a:p>
            <a:pPr eaLnBrk="1" hangingPunct="1">
              <a:spcBef>
                <a:spcPct val="0"/>
              </a:spcBef>
            </a:pPr>
            <a:r>
              <a:rPr lang="en-US" b="1" smtClean="0"/>
              <a:t>Figure 3-9: </a:t>
            </a:r>
            <a:r>
              <a:rPr lang="en-US" b="1" smtClean="0">
                <a:solidFill>
                  <a:srgbClr val="800080"/>
                </a:solidFill>
                <a:latin typeface="OfficinaSans-Bold"/>
              </a:rPr>
              <a:t>Shifts of the Supply Curve</a:t>
            </a:r>
          </a:p>
          <a:p>
            <a:pPr eaLnBrk="1" hangingPunct="1">
              <a:spcBef>
                <a:spcPct val="0"/>
              </a:spcBef>
            </a:pPr>
            <a:r>
              <a:rPr lang="en-US" smtClean="0"/>
              <a:t>Any event that increases supply shifts the supply curve to the right, reflecting a rise in the quantity supplied at any given price. Any event that decreases supply shifts the supply curve to the left, reflecting a fall in the quantity supplied at any given price.</a:t>
            </a:r>
          </a:p>
          <a:p>
            <a:pPr eaLnBrk="1" hangingPunct="1">
              <a:spcBef>
                <a:spcPct val="0"/>
              </a:spcBef>
            </a:pPr>
            <a:endParaRPr lang="en-US" b="1" i="1" u="sng" smtClean="0">
              <a:solidFill>
                <a:srgbClr val="000000"/>
              </a:solidFill>
              <a:latin typeface="OfficinaSans-Book"/>
            </a:endParaRPr>
          </a:p>
          <a:p>
            <a:pPr eaLnBrk="1" hangingPunct="1">
              <a:spcBef>
                <a:spcPct val="0"/>
              </a:spcBef>
            </a:pPr>
            <a:r>
              <a:rPr lang="en-US" b="1" i="1" u="sng" smtClean="0">
                <a:solidFill>
                  <a:srgbClr val="000000"/>
                </a:solidFill>
                <a:latin typeface="OfficinaSans-Book"/>
              </a:rPr>
              <a:t>Note to the instructor:</a:t>
            </a:r>
            <a:r>
              <a:rPr lang="en-US" smtClean="0">
                <a:solidFill>
                  <a:srgbClr val="000000"/>
                </a:solidFill>
                <a:latin typeface="OfficinaSans-Book"/>
              </a:rPr>
              <a:t> </a:t>
            </a:r>
          </a:p>
          <a:p>
            <a:pPr eaLnBrk="1" hangingPunct="1">
              <a:spcBef>
                <a:spcPct val="0"/>
              </a:spcBef>
            </a:pPr>
            <a:r>
              <a:rPr lang="en-US" smtClean="0"/>
              <a:t>When economists talk about an “increase in supply,” they mean a </a:t>
            </a:r>
            <a:r>
              <a:rPr lang="en-US" i="1" smtClean="0"/>
              <a:t>rightward </a:t>
            </a:r>
            <a:r>
              <a:rPr lang="en-US" smtClean="0"/>
              <a:t>shift of the supply curve: at any given price, producers supply a larger quantity of the good than before. And when economists talk about a “decrease in supply,” they mean a </a:t>
            </a:r>
            <a:r>
              <a:rPr lang="en-US" i="1" smtClean="0"/>
              <a:t>leftward </a:t>
            </a:r>
            <a:r>
              <a:rPr lang="en-US" smtClean="0"/>
              <a:t>shift of the supply curve: at any given price, producers supply a smaller quantity of the good than before.</a:t>
            </a:r>
          </a:p>
          <a:p>
            <a:pPr eaLnBrk="1" hangingPunct="1">
              <a:spcBef>
                <a:spcPct val="0"/>
              </a:spcBef>
            </a:pPr>
            <a:endParaRPr lang="en-US" smtClean="0">
              <a:solidFill>
                <a:srgbClr val="000000"/>
              </a:solidFill>
              <a:latin typeface="OfficinaSans-Bold"/>
            </a:endParaRPr>
          </a:p>
          <a:p>
            <a:pPr eaLnBrk="1" hangingPunct="1">
              <a:spcBef>
                <a:spcPct val="0"/>
              </a:spcBef>
            </a:pPr>
            <a:endParaRPr lang="en-US" b="1" smtClean="0"/>
          </a:p>
        </p:txBody>
      </p:sp>
    </p:spTree>
    <p:extLst>
      <p:ext uri="{BB962C8B-B14F-4D97-AF65-F5344CB8AC3E}">
        <p14:creationId xmlns:p14="http://schemas.microsoft.com/office/powerpoint/2010/main" val="4268366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03057588-A83C-4A6F-9135-29C58902E13D}" type="slidenum">
              <a:rPr lang="en-US" smtClean="0"/>
              <a:pPr/>
              <a:t>20</a:t>
            </a:fld>
            <a:endParaRPr lang="en-US" smtClean="0"/>
          </a:p>
        </p:txBody>
      </p:sp>
      <p:sp>
        <p:nvSpPr>
          <p:cNvPr id="696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96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Notes to the Instructor:</a:t>
            </a:r>
            <a:r>
              <a:rPr lang="en-US" smtClean="0"/>
              <a:t>  </a:t>
            </a:r>
          </a:p>
          <a:p>
            <a:pPr eaLnBrk="1" hangingPunct="1">
              <a:spcBef>
                <a:spcPct val="0"/>
              </a:spcBef>
            </a:pPr>
            <a:endParaRPr lang="en-US" smtClean="0"/>
          </a:p>
          <a:p>
            <a:pPr eaLnBrk="1" hangingPunct="1">
              <a:spcBef>
                <a:spcPct val="0"/>
              </a:spcBef>
            </a:pPr>
            <a:r>
              <a:rPr lang="en-US" b="1" u="sng" smtClean="0"/>
              <a:t>Class exercise</a:t>
            </a:r>
            <a:r>
              <a:rPr lang="en-US" smtClean="0"/>
              <a:t>:</a:t>
            </a:r>
          </a:p>
          <a:p>
            <a:pPr eaLnBrk="1" hangingPunct="1">
              <a:spcBef>
                <a:spcPct val="0"/>
              </a:spcBef>
            </a:pPr>
            <a:endParaRPr lang="en-US" smtClean="0"/>
          </a:p>
          <a:p>
            <a:pPr eaLnBrk="1" hangingPunct="1">
              <a:spcBef>
                <a:spcPct val="0"/>
              </a:spcBef>
            </a:pPr>
            <a:r>
              <a:rPr lang="en-US" smtClean="0"/>
              <a:t>You can ask students the following questions:</a:t>
            </a:r>
          </a:p>
          <a:p>
            <a:pPr eaLnBrk="1" hangingPunct="1">
              <a:spcBef>
                <a:spcPct val="0"/>
              </a:spcBef>
            </a:pPr>
            <a:r>
              <a:rPr lang="en-US" smtClean="0"/>
              <a:t>- Internet technology allows colleges to offer more and more online courses and resources in economics. What happens to the supply of economics knowledge?</a:t>
            </a:r>
          </a:p>
          <a:p>
            <a:pPr eaLnBrk="1" hangingPunct="1">
              <a:spcBef>
                <a:spcPct val="0"/>
              </a:spcBef>
            </a:pPr>
            <a:endParaRPr lang="en-US" smtClean="0"/>
          </a:p>
        </p:txBody>
      </p:sp>
    </p:spTree>
    <p:extLst>
      <p:ext uri="{BB962C8B-B14F-4D97-AF65-F5344CB8AC3E}">
        <p14:creationId xmlns:p14="http://schemas.microsoft.com/office/powerpoint/2010/main" val="4325811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D5B09FF-EC2F-4FB9-9316-B8B61D587989}" type="slidenum">
              <a:rPr lang="en-US" smtClean="0"/>
              <a:pPr/>
              <a:t>23</a:t>
            </a:fld>
            <a:endParaRPr lang="en-US" smtClean="0"/>
          </a:p>
        </p:txBody>
      </p:sp>
      <p:sp>
        <p:nvSpPr>
          <p:cNvPr id="7168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6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Figure Caption:</a:t>
            </a:r>
            <a:r>
              <a:rPr lang="en-US" smtClean="0"/>
              <a:t>  </a:t>
            </a:r>
          </a:p>
          <a:p>
            <a:pPr eaLnBrk="1" hangingPunct="1">
              <a:spcBef>
                <a:spcPct val="0"/>
              </a:spcBef>
            </a:pPr>
            <a:r>
              <a:rPr lang="en-US" b="1" smtClean="0"/>
              <a:t>Figure 3-10: Individual Supply Curves and the Market Supply Curve</a:t>
            </a:r>
          </a:p>
          <a:p>
            <a:pPr eaLnBrk="1" hangingPunct="1">
              <a:spcBef>
                <a:spcPct val="0"/>
              </a:spcBef>
            </a:pPr>
            <a:r>
              <a:rPr lang="en-US" smtClean="0"/>
              <a:t>Panel (a) shows the individual supply curve for Mr. Silva, </a:t>
            </a:r>
            <a:r>
              <a:rPr lang="en-US" i="1" smtClean="0"/>
              <a:t>S</a:t>
            </a:r>
            <a:r>
              <a:rPr lang="en-US" i="1" baseline="-25000" smtClean="0"/>
              <a:t>Silva</a:t>
            </a:r>
            <a:r>
              <a:rPr lang="en-US" i="1" smtClean="0"/>
              <a:t>, </a:t>
            </a:r>
            <a:r>
              <a:rPr lang="en-US" smtClean="0"/>
              <a:t>the quantity of cotton he will sell at any given price. Panel (b) shows the individual supply curve for Mr. Liu, </a:t>
            </a:r>
            <a:r>
              <a:rPr lang="en-US" i="1" smtClean="0"/>
              <a:t>S</a:t>
            </a:r>
            <a:r>
              <a:rPr lang="en-US" i="1" baseline="-25000" smtClean="0"/>
              <a:t>Liu.</a:t>
            </a:r>
            <a:r>
              <a:rPr lang="en-US" i="1" smtClean="0"/>
              <a:t> </a:t>
            </a:r>
            <a:r>
              <a:rPr lang="en-US" smtClean="0"/>
              <a:t>The market supply curve, which shows the quantity of cotton supplied by all producers at any given price, is shown in panel (c). The market supply curve is the horizontal sum of the individual supply curves of all producers.</a:t>
            </a:r>
          </a:p>
          <a:p>
            <a:pPr eaLnBrk="1" hangingPunct="1">
              <a:spcBef>
                <a:spcPct val="0"/>
              </a:spcBef>
            </a:pPr>
            <a:endParaRPr lang="en-US" b="1" smtClean="0"/>
          </a:p>
          <a:p>
            <a:pPr eaLnBrk="1" hangingPunct="1">
              <a:spcBef>
                <a:spcPct val="0"/>
              </a:spcBef>
            </a:pPr>
            <a:r>
              <a:rPr lang="en-US" smtClean="0"/>
              <a:t>At any given price, the quantity supplied to the market is the sum of the quantities supplied by Mr. Silva and Mr. Liu. For example, at a price of $2 per pound, Mr. Silva supplies 3,000 pounds of cotton per year and Mr. Liu supplies 2,000 pounds per year, making the quantity supplied to the market 5,000 pounds.</a:t>
            </a:r>
          </a:p>
          <a:p>
            <a:pPr eaLnBrk="1" hangingPunct="1">
              <a:spcBef>
                <a:spcPct val="0"/>
              </a:spcBef>
            </a:pPr>
            <a:endParaRPr lang="en-US" smtClean="0"/>
          </a:p>
          <a:p>
            <a:pPr eaLnBrk="1" hangingPunct="1">
              <a:spcBef>
                <a:spcPct val="0"/>
              </a:spcBef>
            </a:pPr>
            <a:r>
              <a:rPr lang="en-US" smtClean="0"/>
              <a:t>Clearly, the quantity supplied to the market at any given price is larger with Mr. Liu present than it would be if Mr. Silva was the only supplier. The quantity supplied at a given price would be even larger if we added a third producer, then a fourth, and so on. So an increase in the number of producers leads to an increase in supply and a rightward shift of the supply curve.</a:t>
            </a:r>
          </a:p>
          <a:p>
            <a:pPr eaLnBrk="1" hangingPunct="1">
              <a:spcBef>
                <a:spcPct val="0"/>
              </a:spcBef>
            </a:pPr>
            <a:endParaRPr lang="en-US" smtClean="0"/>
          </a:p>
        </p:txBody>
      </p:sp>
    </p:spTree>
    <p:extLst>
      <p:ext uri="{BB962C8B-B14F-4D97-AF65-F5344CB8AC3E}">
        <p14:creationId xmlns:p14="http://schemas.microsoft.com/office/powerpoint/2010/main" val="34652183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F0CF98CF-E9C1-4F38-90AF-84864927E68A}" type="slidenum">
              <a:rPr lang="en-US" smtClean="0"/>
              <a:pPr/>
              <a:t>25</a:t>
            </a:fld>
            <a:endParaRPr lang="en-US" smtClean="0"/>
          </a:p>
        </p:txBody>
      </p:sp>
      <p:sp>
        <p:nvSpPr>
          <p:cNvPr id="768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68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Notes to the Instructor:</a:t>
            </a:r>
            <a:r>
              <a:rPr lang="en-US" smtClean="0"/>
              <a:t>  </a:t>
            </a:r>
          </a:p>
          <a:p>
            <a:pPr eaLnBrk="1" hangingPunct="1">
              <a:spcBef>
                <a:spcPct val="0"/>
              </a:spcBef>
            </a:pPr>
            <a:r>
              <a:rPr lang="en-US" smtClean="0"/>
              <a:t>It could be useful to go over the “Pitfall: Bought and Sold?” at this point of the lecture:</a:t>
            </a:r>
          </a:p>
          <a:p>
            <a:pPr eaLnBrk="1" hangingPunct="1">
              <a:spcBef>
                <a:spcPct val="0"/>
              </a:spcBef>
            </a:pPr>
            <a:endParaRPr lang="en-US" smtClean="0"/>
          </a:p>
          <a:p>
            <a:pPr eaLnBrk="1" hangingPunct="1">
              <a:spcBef>
                <a:spcPct val="0"/>
              </a:spcBef>
            </a:pPr>
            <a:r>
              <a:rPr lang="en-US" smtClean="0"/>
              <a:t>PITFALLS: BOUGHT </a:t>
            </a:r>
            <a:r>
              <a:rPr lang="en-US" i="1" smtClean="0"/>
              <a:t>AND</a:t>
            </a:r>
            <a:r>
              <a:rPr lang="en-US" smtClean="0"/>
              <a:t> SOLD? </a:t>
            </a:r>
          </a:p>
          <a:p>
            <a:pPr eaLnBrk="1" hangingPunct="1">
              <a:spcBef>
                <a:spcPct val="0"/>
              </a:spcBef>
            </a:pPr>
            <a:r>
              <a:rPr lang="en-US" smtClean="0"/>
              <a:t>   We have been talking about the price at which a good is bought </a:t>
            </a:r>
            <a:r>
              <a:rPr lang="en-US" i="1" smtClean="0"/>
              <a:t>and sold</a:t>
            </a:r>
            <a:r>
              <a:rPr lang="en-US" smtClean="0"/>
              <a:t>, as if the two were the same. But shouldn’t we make a distinction between the price received by sellers and that paid by buyers? In principle, yes; but it is helpful at this point to sacrifice a bit of realism in the interests of simplicity - by assuming away the difference between the prices received by sellers and those paid by buyers. </a:t>
            </a:r>
          </a:p>
          <a:p>
            <a:pPr eaLnBrk="1" hangingPunct="1">
              <a:spcBef>
                <a:spcPct val="0"/>
              </a:spcBef>
            </a:pPr>
            <a:r>
              <a:rPr lang="en-US" smtClean="0"/>
              <a:t>In reality, there is often a middleman—someone who brings buyers and sellers together— who buys from suppliers, then sells to consumers at a markup, for example, coffee merchants who buy from coffee growers and sell to consumers. The growers generally receive less than those who eventually buy the coffee beans pay. No mystery there: that difference is how coffee merchants or any other middlemen make a living. In many markets, however, the difference between the buying and selling price is quite small. So it’s not a bad approximation to think of the price paid by buyers as being the same as the price received by sellers. And that is what we assume in this chapter.</a:t>
            </a:r>
          </a:p>
        </p:txBody>
      </p:sp>
    </p:spTree>
    <p:extLst>
      <p:ext uri="{BB962C8B-B14F-4D97-AF65-F5344CB8AC3E}">
        <p14:creationId xmlns:p14="http://schemas.microsoft.com/office/powerpoint/2010/main" val="419930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6A08EB7-8D39-4A4F-B3D2-0E078C113DC7}" type="slidenum">
              <a:rPr lang="en-US" smtClean="0"/>
              <a:pPr/>
              <a:t>26</a:t>
            </a:fld>
            <a:endParaRPr lang="en-US" smtClean="0"/>
          </a:p>
        </p:txBody>
      </p:sp>
      <p:sp>
        <p:nvSpPr>
          <p:cNvPr id="7885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885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Figure Caption:</a:t>
            </a:r>
            <a:r>
              <a:rPr lang="en-US" smtClean="0"/>
              <a:t>  </a:t>
            </a:r>
          </a:p>
          <a:p>
            <a:pPr eaLnBrk="1" hangingPunct="1">
              <a:spcBef>
                <a:spcPct val="0"/>
              </a:spcBef>
            </a:pPr>
            <a:r>
              <a:rPr lang="en-US" b="1" smtClean="0"/>
              <a:t>Figure 3-11: </a:t>
            </a:r>
            <a:r>
              <a:rPr lang="en-US" b="1" smtClean="0">
                <a:solidFill>
                  <a:srgbClr val="800080"/>
                </a:solidFill>
                <a:latin typeface="OfficinaSans-Bold"/>
              </a:rPr>
              <a:t>Market Equilibrium</a:t>
            </a:r>
          </a:p>
          <a:p>
            <a:pPr eaLnBrk="1" hangingPunct="1">
              <a:spcBef>
                <a:spcPct val="0"/>
              </a:spcBef>
            </a:pPr>
            <a:r>
              <a:rPr lang="en-US" smtClean="0"/>
              <a:t>Market equilibrium occurs at point </a:t>
            </a:r>
            <a:r>
              <a:rPr lang="en-US" i="1" smtClean="0"/>
              <a:t>E, </a:t>
            </a:r>
            <a:r>
              <a:rPr lang="en-US" smtClean="0"/>
              <a:t>where the supply curve and the demand curve intersect. In equilibrium, the quantity demanded is equal</a:t>
            </a:r>
          </a:p>
          <a:p>
            <a:pPr eaLnBrk="1" hangingPunct="1">
              <a:spcBef>
                <a:spcPct val="0"/>
              </a:spcBef>
            </a:pPr>
            <a:r>
              <a:rPr lang="en-US" smtClean="0"/>
              <a:t>to the quantity supplied. In this market, the equilibrium price is $1 per pound and the equilibrium quantity is 10 billion pounds per year.</a:t>
            </a:r>
          </a:p>
          <a:p>
            <a:pPr eaLnBrk="1" hangingPunct="1">
              <a:spcBef>
                <a:spcPct val="0"/>
              </a:spcBef>
            </a:pPr>
            <a:endParaRPr lang="en-US" smtClean="0"/>
          </a:p>
          <a:p>
            <a:pPr eaLnBrk="1" hangingPunct="1">
              <a:spcBef>
                <a:spcPct val="0"/>
              </a:spcBef>
            </a:pPr>
            <a:r>
              <a:rPr lang="en-US" b="1" u="sng" smtClean="0"/>
              <a:t>Discussion:</a:t>
            </a:r>
          </a:p>
          <a:p>
            <a:pPr eaLnBrk="1" hangingPunct="1">
              <a:spcBef>
                <a:spcPct val="0"/>
              </a:spcBef>
            </a:pPr>
            <a:r>
              <a:rPr lang="en-US" sz="900" b="1" smtClean="0"/>
              <a:t>Why do all sales and purchases in a market take place at the same price?</a:t>
            </a:r>
            <a:endParaRPr lang="en-US" b="1" smtClean="0"/>
          </a:p>
          <a:p>
            <a:pPr eaLnBrk="1" hangingPunct="1">
              <a:spcBef>
                <a:spcPct val="0"/>
              </a:spcBef>
            </a:pPr>
            <a:r>
              <a:rPr lang="en-US" smtClean="0"/>
              <a:t>Suppose that a seller offered a potential buyer a price noticeably above what she knew other people to be paying. The buyer would clearly be better off walking away from this particular seller and trying someone else – unless the seller was prepared to offer a better deal. Conversely, a seller would not be willing to sell for significantly less than the amount he knew most buyers were paying; he would be better off waiting to get a more reasonable customer. Thus in any well-established, ongoing market, all sellers receive and all buyers pay approximately the same price. This is what we call the “</a:t>
            </a:r>
            <a:r>
              <a:rPr lang="en-US" b="1" i="1" smtClean="0"/>
              <a:t>market price</a:t>
            </a:r>
            <a:r>
              <a:rPr lang="en-US" smtClean="0"/>
              <a:t>”. </a:t>
            </a:r>
          </a:p>
          <a:p>
            <a:pPr eaLnBrk="1" hangingPunct="1">
              <a:spcBef>
                <a:spcPct val="0"/>
              </a:spcBef>
            </a:pPr>
            <a:endParaRPr lang="en-US" smtClean="0"/>
          </a:p>
        </p:txBody>
      </p:sp>
    </p:spTree>
    <p:extLst>
      <p:ext uri="{BB962C8B-B14F-4D97-AF65-F5344CB8AC3E}">
        <p14:creationId xmlns:p14="http://schemas.microsoft.com/office/powerpoint/2010/main" val="38508381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7164FA4-9355-426A-887F-2F7B1477C425}" type="slidenum">
              <a:rPr lang="en-US" smtClean="0"/>
              <a:pPr/>
              <a:t>27</a:t>
            </a:fld>
            <a:endParaRPr lang="en-US" smtClean="0"/>
          </a:p>
        </p:txBody>
      </p:sp>
      <p:sp>
        <p:nvSpPr>
          <p:cNvPr id="8089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089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Figure Caption:</a:t>
            </a:r>
            <a:r>
              <a:rPr lang="en-US" smtClean="0"/>
              <a:t>  </a:t>
            </a:r>
          </a:p>
          <a:p>
            <a:pPr eaLnBrk="1" hangingPunct="1">
              <a:spcBef>
                <a:spcPct val="0"/>
              </a:spcBef>
            </a:pPr>
            <a:r>
              <a:rPr lang="en-US" b="1" smtClean="0"/>
              <a:t>Figure 3-12: Price Above Its Equilibrium Level Creates a Surplus</a:t>
            </a:r>
            <a:endParaRPr lang="en-US" b="1" smtClean="0">
              <a:solidFill>
                <a:srgbClr val="800080"/>
              </a:solidFill>
              <a:latin typeface="OfficinaSans-Bold"/>
            </a:endParaRPr>
          </a:p>
          <a:p>
            <a:pPr eaLnBrk="1" hangingPunct="1">
              <a:spcBef>
                <a:spcPct val="0"/>
              </a:spcBef>
            </a:pPr>
            <a:r>
              <a:rPr lang="en-US" smtClean="0"/>
              <a:t>The market price of $1.50 is above the equilibrium price of $1. This creates a surplus: at a price of  $1.50, producers would like to sell 11.2 billion pounds but consumers want to buy only 8.1 billion pounds, so there is a surplus of 3.1 billion pounds. This surplus will push the price down until it reaches the equilibrium price of $1.</a:t>
            </a:r>
          </a:p>
          <a:p>
            <a:pPr eaLnBrk="1" hangingPunct="1">
              <a:spcBef>
                <a:spcPct val="0"/>
              </a:spcBef>
            </a:pPr>
            <a:endParaRPr lang="en-US" smtClean="0"/>
          </a:p>
        </p:txBody>
      </p:sp>
    </p:spTree>
    <p:extLst>
      <p:ext uri="{BB962C8B-B14F-4D97-AF65-F5344CB8AC3E}">
        <p14:creationId xmlns:p14="http://schemas.microsoft.com/office/powerpoint/2010/main" val="37085299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5A393764-9733-4EF5-8B7E-60C1C496D779}" type="slidenum">
              <a:rPr lang="en-US" smtClean="0"/>
              <a:pPr/>
              <a:t>28</a:t>
            </a:fld>
            <a:endParaRPr lang="en-US" smtClean="0"/>
          </a:p>
        </p:txBody>
      </p:sp>
      <p:sp>
        <p:nvSpPr>
          <p:cNvPr id="8294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294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Figure Caption:</a:t>
            </a:r>
            <a:r>
              <a:rPr lang="en-US" smtClean="0"/>
              <a:t>  </a:t>
            </a:r>
          </a:p>
          <a:p>
            <a:pPr eaLnBrk="1" hangingPunct="1">
              <a:spcBef>
                <a:spcPct val="0"/>
              </a:spcBef>
            </a:pPr>
            <a:r>
              <a:rPr lang="en-US" b="1" smtClean="0"/>
              <a:t>Figure 3-13: Price Below Its Equilibrium Level Creates a Shortage</a:t>
            </a:r>
            <a:endParaRPr lang="en-US" b="1" smtClean="0">
              <a:solidFill>
                <a:srgbClr val="800080"/>
              </a:solidFill>
              <a:latin typeface="OfficinaSans-Bold"/>
            </a:endParaRPr>
          </a:p>
          <a:p>
            <a:pPr eaLnBrk="1" hangingPunct="1">
              <a:spcBef>
                <a:spcPct val="0"/>
              </a:spcBef>
            </a:pPr>
            <a:r>
              <a:rPr lang="en-US" smtClean="0"/>
              <a:t>The market price of $0.75 is below the equilibrium price of $1. This creates a shortage: consumers want to buy 11.5 billion pounds, but</a:t>
            </a:r>
          </a:p>
          <a:p>
            <a:pPr eaLnBrk="1" hangingPunct="1">
              <a:spcBef>
                <a:spcPct val="0"/>
              </a:spcBef>
            </a:pPr>
            <a:r>
              <a:rPr lang="en-US" smtClean="0"/>
              <a:t>only 9.1 billion pounds are for sale, so there is a shortage of 2.4 billion pounds. This shortage will push the price up until it reaches the</a:t>
            </a:r>
          </a:p>
          <a:p>
            <a:pPr eaLnBrk="1" hangingPunct="1">
              <a:spcBef>
                <a:spcPct val="0"/>
              </a:spcBef>
            </a:pPr>
            <a:r>
              <a:rPr lang="en-US" smtClean="0"/>
              <a:t>equilibrium price of $1.</a:t>
            </a:r>
          </a:p>
          <a:p>
            <a:pPr eaLnBrk="1" hangingPunct="1">
              <a:spcBef>
                <a:spcPct val="0"/>
              </a:spcBef>
            </a:pPr>
            <a:endParaRPr lang="en-US" b="1" i="1" u="sng" smtClean="0">
              <a:solidFill>
                <a:srgbClr val="000000"/>
              </a:solidFill>
              <a:latin typeface="OfficinaSans-Book"/>
            </a:endParaRPr>
          </a:p>
          <a:p>
            <a:pPr eaLnBrk="1" hangingPunct="1">
              <a:spcBef>
                <a:spcPct val="0"/>
              </a:spcBef>
            </a:pPr>
            <a:r>
              <a:rPr lang="en-US" b="1" i="1" u="sng" smtClean="0">
                <a:solidFill>
                  <a:srgbClr val="000000"/>
                </a:solidFill>
                <a:latin typeface="OfficinaSans-Book"/>
              </a:rPr>
              <a:t>Note to the instructor:</a:t>
            </a:r>
            <a:r>
              <a:rPr lang="en-US" smtClean="0">
                <a:solidFill>
                  <a:srgbClr val="000000"/>
                </a:solidFill>
                <a:latin typeface="OfficinaSans-Book"/>
              </a:rPr>
              <a:t> </a:t>
            </a:r>
          </a:p>
          <a:p>
            <a:pPr eaLnBrk="1" hangingPunct="1">
              <a:spcBef>
                <a:spcPct val="0"/>
              </a:spcBef>
            </a:pPr>
            <a:r>
              <a:rPr lang="en-US" smtClean="0">
                <a:solidFill>
                  <a:srgbClr val="000000"/>
                </a:solidFill>
                <a:latin typeface="OfficinaSans-Book"/>
              </a:rPr>
              <a:t>A current example is when Apple introduced its new iPhone 3G in the Summer of 2008, for half the price of its current iPhone model ($199), it caused a (temporary) shortage all over the US. Long lines and waiting lists were an apparent indicator of the shortage.</a:t>
            </a:r>
            <a:endParaRPr lang="en-US" smtClean="0"/>
          </a:p>
        </p:txBody>
      </p:sp>
    </p:spTree>
    <p:extLst>
      <p:ext uri="{BB962C8B-B14F-4D97-AF65-F5344CB8AC3E}">
        <p14:creationId xmlns:p14="http://schemas.microsoft.com/office/powerpoint/2010/main" val="22733153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0244049F-A64F-44DD-9A1C-98339221CC7A}" type="slidenum">
              <a:rPr lang="en-US" smtClean="0"/>
              <a:pPr/>
              <a:t>29</a:t>
            </a:fld>
            <a:endParaRPr lang="en-US" smtClean="0"/>
          </a:p>
        </p:txBody>
      </p:sp>
      <p:sp>
        <p:nvSpPr>
          <p:cNvPr id="89090" name="Rectangle 2"/>
          <p:cNvSpPr>
            <a:spLocks noGrp="1" noRot="1" noChangeAspect="1" noChangeArrowheads="1" noTextEdit="1"/>
          </p:cNvSpPr>
          <p:nvPr>
            <p:ph type="sldImg"/>
          </p:nvPr>
        </p:nvSpPr>
        <p:spPr bwMode="auto">
          <a:xfrm>
            <a:off x="1130300" y="741363"/>
            <a:ext cx="4387850" cy="3290887"/>
          </a:xfrm>
          <a:noFill/>
          <a:ln>
            <a:solidFill>
              <a:srgbClr val="000000"/>
            </a:solidFill>
            <a:miter lim="800000"/>
            <a:headEnd/>
            <a:tailEnd/>
          </a:ln>
        </p:spPr>
      </p:sp>
      <p:sp>
        <p:nvSpPr>
          <p:cNvPr id="592899" name="Rectangle 3"/>
          <p:cNvSpPr>
            <a:spLocks noGrp="1" noChangeArrowheads="1"/>
          </p:cNvSpPr>
          <p:nvPr>
            <p:ph type="body" idx="1"/>
          </p:nvPr>
        </p:nvSpPr>
        <p:spPr>
          <a:xfrm>
            <a:off x="906463" y="4197350"/>
            <a:ext cx="4984750" cy="4937125"/>
          </a:xfrm>
        </p:spPr>
        <p:txBody>
          <a:bodyPr/>
          <a:lstStyle/>
          <a:p>
            <a:pPr eaLnBrk="1" fontAlgn="auto" hangingPunct="1">
              <a:spcBef>
                <a:spcPts val="0"/>
              </a:spcBef>
              <a:spcAft>
                <a:spcPts val="0"/>
              </a:spcAft>
              <a:defRPr/>
            </a:pPr>
            <a:r>
              <a:rPr lang="en-US" b="1" i="1" u="sng" dirty="0"/>
              <a:t>Figure Caption:</a:t>
            </a:r>
            <a:r>
              <a:rPr lang="en-US" dirty="0"/>
              <a:t>  </a:t>
            </a:r>
          </a:p>
          <a:p>
            <a:pPr eaLnBrk="1" fontAlgn="auto" hangingPunct="1">
              <a:spcBef>
                <a:spcPts val="0"/>
              </a:spcBef>
              <a:spcAft>
                <a:spcPts val="0"/>
              </a:spcAft>
              <a:defRPr/>
            </a:pPr>
            <a:r>
              <a:rPr lang="en-US" b="1" dirty="0"/>
              <a:t>Figure 3-14: Equilibrium and </a:t>
            </a:r>
            <a:r>
              <a:rPr lang="en-US" b="1" dirty="0">
                <a:solidFill>
                  <a:srgbClr val="800080"/>
                </a:solidFill>
                <a:latin typeface="OfficinaSans-Bold" charset="0"/>
              </a:rPr>
              <a:t>Shifts of the Demand Curve</a:t>
            </a:r>
          </a:p>
          <a:p>
            <a:pPr eaLnBrk="1" fontAlgn="auto" hangingPunct="1">
              <a:spcBef>
                <a:spcPts val="0"/>
              </a:spcBef>
              <a:spcAft>
                <a:spcPts val="0"/>
              </a:spcAft>
              <a:defRPr/>
            </a:pPr>
            <a:r>
              <a:rPr lang="en-US" dirty="0"/>
              <a:t>The original equilibrium in the market for </a:t>
            </a:r>
            <a:r>
              <a:rPr lang="en-US" dirty="0" smtClean="0"/>
              <a:t>cotton is </a:t>
            </a:r>
            <a:r>
              <a:rPr lang="en-US" dirty="0"/>
              <a:t>at </a:t>
            </a:r>
            <a:r>
              <a:rPr lang="en-US" i="1" dirty="0"/>
              <a:t>E</a:t>
            </a:r>
            <a:r>
              <a:rPr lang="en-US" dirty="0"/>
              <a:t>1, at the intersection of the supply curve and the original demand curve, </a:t>
            </a:r>
            <a:r>
              <a:rPr lang="en-US" i="1" dirty="0"/>
              <a:t>D</a:t>
            </a:r>
            <a:r>
              <a:rPr lang="en-US" dirty="0"/>
              <a:t>1. A rise in</a:t>
            </a:r>
          </a:p>
          <a:p>
            <a:pPr eaLnBrk="1" fontAlgn="auto" hangingPunct="1">
              <a:spcBef>
                <a:spcPts val="0"/>
              </a:spcBef>
              <a:spcAft>
                <a:spcPts val="0"/>
              </a:spcAft>
              <a:defRPr/>
            </a:pPr>
            <a:r>
              <a:rPr lang="en-US" dirty="0"/>
              <a:t>the price of </a:t>
            </a:r>
            <a:r>
              <a:rPr lang="en-US" dirty="0" smtClean="0"/>
              <a:t>polyester</a:t>
            </a:r>
            <a:r>
              <a:rPr lang="en-US" strike="dblStrike" dirty="0" smtClean="0"/>
              <a:t> </a:t>
            </a:r>
            <a:r>
              <a:rPr lang="en-US" dirty="0" smtClean="0"/>
              <a:t>, </a:t>
            </a:r>
            <a:r>
              <a:rPr lang="en-US" dirty="0"/>
              <a:t>a substitute, shifts the demand curve rightward to </a:t>
            </a:r>
            <a:r>
              <a:rPr lang="en-US" i="1" dirty="0"/>
              <a:t>D</a:t>
            </a:r>
            <a:r>
              <a:rPr lang="en-US" dirty="0"/>
              <a:t>2. A shortage exists at the original price, </a:t>
            </a:r>
            <a:r>
              <a:rPr lang="en-US" i="1" dirty="0"/>
              <a:t>P</a:t>
            </a:r>
            <a:r>
              <a:rPr lang="en-US" dirty="0"/>
              <a:t>1, causing both the price and quantity supplied to rise, a movement along the supply curve. A new equilibrium is reached at </a:t>
            </a:r>
            <a:r>
              <a:rPr lang="en-US" i="1" dirty="0"/>
              <a:t>E</a:t>
            </a:r>
            <a:r>
              <a:rPr lang="en-US" dirty="0"/>
              <a:t>2, with a higher equilibrium price, </a:t>
            </a:r>
            <a:r>
              <a:rPr lang="en-US" i="1" dirty="0"/>
              <a:t>P</a:t>
            </a:r>
            <a:r>
              <a:rPr lang="en-US" dirty="0"/>
              <a:t>2, and a higher equilibrium quantity, </a:t>
            </a:r>
            <a:r>
              <a:rPr lang="en-US" i="1" dirty="0"/>
              <a:t>Q</a:t>
            </a:r>
            <a:r>
              <a:rPr lang="en-US" dirty="0"/>
              <a:t>2. When demand for a good or service increases, the equilibrium price and the equilibrium quantity of the good or service both rise.</a:t>
            </a:r>
          </a:p>
          <a:p>
            <a:pPr eaLnBrk="1" fontAlgn="auto" hangingPunct="1">
              <a:spcBef>
                <a:spcPts val="0"/>
              </a:spcBef>
              <a:spcAft>
                <a:spcPts val="0"/>
              </a:spcAft>
              <a:defRPr/>
            </a:pPr>
            <a:endParaRPr lang="en-US" dirty="0"/>
          </a:p>
          <a:p>
            <a:pPr eaLnBrk="1" fontAlgn="auto" hangingPunct="1">
              <a:spcBef>
                <a:spcPts val="0"/>
              </a:spcBef>
              <a:spcAft>
                <a:spcPts val="0"/>
              </a:spcAft>
              <a:defRPr/>
            </a:pPr>
            <a:r>
              <a:rPr lang="en-US" b="1" i="1" u="sng" dirty="0">
                <a:solidFill>
                  <a:srgbClr val="000000"/>
                </a:solidFill>
                <a:latin typeface="OfficinaSans-Book" charset="0"/>
              </a:rPr>
              <a:t>Note to the instructor:</a:t>
            </a:r>
            <a:r>
              <a:rPr lang="en-US" dirty="0">
                <a:solidFill>
                  <a:srgbClr val="000000"/>
                </a:solidFill>
                <a:latin typeface="OfficinaSans-Book" charset="0"/>
              </a:rPr>
              <a:t> </a:t>
            </a:r>
          </a:p>
          <a:p>
            <a:pPr eaLnBrk="1" fontAlgn="auto" hangingPunct="1">
              <a:spcBef>
                <a:spcPts val="0"/>
              </a:spcBef>
              <a:spcAft>
                <a:spcPts val="0"/>
              </a:spcAft>
              <a:defRPr/>
            </a:pPr>
            <a:r>
              <a:rPr lang="en-US" b="1" dirty="0" smtClean="0"/>
              <a:t>Other examples</a:t>
            </a:r>
            <a:r>
              <a:rPr lang="en-US" dirty="0" smtClean="0"/>
              <a:t>: </a:t>
            </a:r>
            <a:br>
              <a:rPr lang="en-US" dirty="0" smtClean="0"/>
            </a:br>
            <a:r>
              <a:rPr lang="en-US" b="1" dirty="0" smtClean="0"/>
              <a:t>(1)</a:t>
            </a:r>
            <a:r>
              <a:rPr lang="en-US" dirty="0" smtClean="0"/>
              <a:t> The </a:t>
            </a:r>
            <a:r>
              <a:rPr lang="en-US" dirty="0"/>
              <a:t>recent successes of Red Socks (Boston’s Baseball Team) caused an increase in demand for the tickets of Red Socks games.</a:t>
            </a:r>
          </a:p>
          <a:p>
            <a:pPr eaLnBrk="1" fontAlgn="auto" hangingPunct="1">
              <a:spcBef>
                <a:spcPts val="0"/>
              </a:spcBef>
              <a:spcAft>
                <a:spcPts val="0"/>
              </a:spcAft>
              <a:defRPr/>
            </a:pPr>
            <a:r>
              <a:rPr lang="en-US" b="1" dirty="0" smtClean="0"/>
              <a:t>(2) </a:t>
            </a:r>
            <a:r>
              <a:rPr lang="en-US" dirty="0" smtClean="0"/>
              <a:t>In </a:t>
            </a:r>
            <a:r>
              <a:rPr lang="en-US" dirty="0"/>
              <a:t>10 years, global warming may increase the demand for land in parts of the world earlier considered “too cold”.</a:t>
            </a:r>
          </a:p>
          <a:p>
            <a:pPr eaLnBrk="1" fontAlgn="auto" hangingPunct="1">
              <a:spcBef>
                <a:spcPts val="0"/>
              </a:spcBef>
              <a:spcAft>
                <a:spcPts val="0"/>
              </a:spcAft>
              <a:defRPr/>
            </a:pPr>
            <a:endParaRPr lang="en-US" sz="900" i="1" dirty="0"/>
          </a:p>
          <a:p>
            <a:pPr eaLnBrk="1" fontAlgn="auto" hangingPunct="1">
              <a:spcBef>
                <a:spcPts val="0"/>
              </a:spcBef>
              <a:spcAft>
                <a:spcPts val="0"/>
              </a:spcAft>
              <a:defRPr/>
            </a:pPr>
            <a:r>
              <a:rPr lang="en-US" sz="900" i="1" dirty="0"/>
              <a:t>Question for Class Discussion:</a:t>
            </a:r>
          </a:p>
          <a:p>
            <a:pPr eaLnBrk="1" fontAlgn="auto" hangingPunct="1">
              <a:spcBef>
                <a:spcPts val="0"/>
              </a:spcBef>
              <a:spcAft>
                <a:spcPts val="0"/>
              </a:spcAft>
              <a:defRPr/>
            </a:pPr>
            <a:r>
              <a:rPr lang="en-US" sz="900" dirty="0"/>
              <a:t>Coffee and tea are substitutes: if the price of tea rises (falls), the demand for coffee will increase (decrease). But how does the price of tea affect the </a:t>
            </a:r>
            <a:r>
              <a:rPr lang="en-US" sz="900" i="1" dirty="0"/>
              <a:t>market</a:t>
            </a:r>
            <a:r>
              <a:rPr lang="en-US" sz="900" dirty="0"/>
              <a:t> for coffee? </a:t>
            </a:r>
          </a:p>
          <a:p>
            <a:pPr eaLnBrk="1" fontAlgn="auto" hangingPunct="1">
              <a:spcBef>
                <a:spcPts val="0"/>
              </a:spcBef>
              <a:spcAft>
                <a:spcPts val="0"/>
              </a:spcAft>
              <a:defRPr/>
            </a:pPr>
            <a:endParaRPr lang="en-US" dirty="0"/>
          </a:p>
        </p:txBody>
      </p:sp>
    </p:spTree>
    <p:extLst>
      <p:ext uri="{BB962C8B-B14F-4D97-AF65-F5344CB8AC3E}">
        <p14:creationId xmlns:p14="http://schemas.microsoft.com/office/powerpoint/2010/main" val="36160752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C0FE765B-7284-4F0A-8DFD-8768DDF0A999}" type="slidenum">
              <a:rPr lang="en-US" smtClean="0"/>
              <a:pPr/>
              <a:t>30</a:t>
            </a:fld>
            <a:endParaRPr lang="en-US" smtClean="0"/>
          </a:p>
        </p:txBody>
      </p:sp>
      <p:sp>
        <p:nvSpPr>
          <p:cNvPr id="91138" name="Rectangle 2"/>
          <p:cNvSpPr>
            <a:spLocks noGrp="1" noRot="1" noChangeAspect="1" noChangeArrowheads="1" noTextEdit="1"/>
          </p:cNvSpPr>
          <p:nvPr>
            <p:ph type="sldImg"/>
          </p:nvPr>
        </p:nvSpPr>
        <p:spPr bwMode="auto">
          <a:xfrm>
            <a:off x="1130300" y="741363"/>
            <a:ext cx="4387850" cy="3290887"/>
          </a:xfrm>
          <a:noFill/>
          <a:ln>
            <a:solidFill>
              <a:srgbClr val="000000"/>
            </a:solidFill>
            <a:miter lim="800000"/>
            <a:headEnd/>
            <a:tailEnd/>
          </a:ln>
        </p:spPr>
      </p:sp>
      <p:sp>
        <p:nvSpPr>
          <p:cNvPr id="91139" name="Rectangle 3"/>
          <p:cNvSpPr>
            <a:spLocks noGrp="1" noChangeArrowheads="1"/>
          </p:cNvSpPr>
          <p:nvPr>
            <p:ph type="body" idx="1"/>
          </p:nvPr>
        </p:nvSpPr>
        <p:spPr bwMode="auto">
          <a:xfrm>
            <a:off x="906463" y="4197350"/>
            <a:ext cx="4984750" cy="4937125"/>
          </a:xfrm>
          <a:noFill/>
        </p:spPr>
        <p:txBody>
          <a:bodyPr wrap="square" numCol="1" anchor="t" anchorCtr="0" compatLnSpc="1">
            <a:prstTxWarp prst="textNoShape">
              <a:avLst/>
            </a:prstTxWarp>
          </a:bodyPr>
          <a:lstStyle/>
          <a:p>
            <a:pPr eaLnBrk="1" hangingPunct="1">
              <a:spcBef>
                <a:spcPct val="0"/>
              </a:spcBef>
            </a:pPr>
            <a:r>
              <a:rPr lang="en-US" sz="900" smtClean="0"/>
              <a:t>A drought causes a fall in the supply of cotton. How does this negative supply shock affect the </a:t>
            </a:r>
            <a:r>
              <a:rPr lang="en-US" sz="900" i="1" smtClean="0"/>
              <a:t>market</a:t>
            </a:r>
            <a:r>
              <a:rPr lang="en-US" sz="900" smtClean="0"/>
              <a:t> for cotton? </a:t>
            </a:r>
          </a:p>
          <a:p>
            <a:pPr eaLnBrk="1" hangingPunct="1">
              <a:spcBef>
                <a:spcPct val="0"/>
              </a:spcBef>
            </a:pPr>
            <a:endParaRPr lang="en-US" b="1" i="1" u="sng" smtClean="0"/>
          </a:p>
          <a:p>
            <a:pPr eaLnBrk="1" hangingPunct="1">
              <a:spcBef>
                <a:spcPct val="0"/>
              </a:spcBef>
            </a:pPr>
            <a:r>
              <a:rPr lang="en-US" b="1" i="1" u="sng" smtClean="0"/>
              <a:t>Figure Caption:</a:t>
            </a:r>
            <a:r>
              <a:rPr lang="en-US" smtClean="0"/>
              <a:t>  </a:t>
            </a:r>
          </a:p>
          <a:p>
            <a:pPr eaLnBrk="1" hangingPunct="1">
              <a:spcBef>
                <a:spcPct val="0"/>
              </a:spcBef>
            </a:pPr>
            <a:r>
              <a:rPr lang="en-US" b="1" smtClean="0"/>
              <a:t>Figure 3-15: Equilibrium and </a:t>
            </a:r>
            <a:r>
              <a:rPr lang="en-US" b="1" smtClean="0">
                <a:solidFill>
                  <a:srgbClr val="800080"/>
                </a:solidFill>
                <a:latin typeface="OfficinaSans-Bold"/>
              </a:rPr>
              <a:t>Shifts of the Demand Curve</a:t>
            </a:r>
          </a:p>
          <a:p>
            <a:pPr eaLnBrk="1" hangingPunct="1">
              <a:spcBef>
                <a:spcPct val="0"/>
              </a:spcBef>
            </a:pPr>
            <a:r>
              <a:rPr lang="en-US" smtClean="0"/>
              <a:t>The original equilibrium in the market for cotton is at </a:t>
            </a:r>
            <a:r>
              <a:rPr lang="en-US" i="1" smtClean="0"/>
              <a:t>E</a:t>
            </a:r>
            <a:r>
              <a:rPr lang="en-US" smtClean="0"/>
              <a:t>1. A drought causes a fall in the supply of cotton and shifts the supply curve leftward from </a:t>
            </a:r>
            <a:r>
              <a:rPr lang="en-US" i="1" smtClean="0"/>
              <a:t>S</a:t>
            </a:r>
            <a:r>
              <a:rPr lang="en-US" smtClean="0"/>
              <a:t>1 to </a:t>
            </a:r>
            <a:r>
              <a:rPr lang="en-US" i="1" smtClean="0"/>
              <a:t>S</a:t>
            </a:r>
            <a:r>
              <a:rPr lang="en-US" smtClean="0"/>
              <a:t>2. A new equilibrium is established at </a:t>
            </a:r>
            <a:r>
              <a:rPr lang="en-US" i="1" smtClean="0"/>
              <a:t>E</a:t>
            </a:r>
            <a:r>
              <a:rPr lang="en-US" smtClean="0"/>
              <a:t>2, with a higher equilibrium price, </a:t>
            </a:r>
            <a:r>
              <a:rPr lang="en-US" i="1" smtClean="0"/>
              <a:t>P</a:t>
            </a:r>
            <a:r>
              <a:rPr lang="en-US" smtClean="0"/>
              <a:t>2, and a lower equilibrium quantity, </a:t>
            </a:r>
            <a:r>
              <a:rPr lang="en-US" i="1" smtClean="0"/>
              <a:t>Q</a:t>
            </a:r>
            <a:r>
              <a:rPr lang="en-US" smtClean="0"/>
              <a:t>2.</a:t>
            </a:r>
          </a:p>
        </p:txBody>
      </p:sp>
    </p:spTree>
    <p:extLst>
      <p:ext uri="{BB962C8B-B14F-4D97-AF65-F5344CB8AC3E}">
        <p14:creationId xmlns:p14="http://schemas.microsoft.com/office/powerpoint/2010/main" val="23522621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089CA3A3-8DAD-466F-9B6E-91FB02A8A63E}" type="slidenum">
              <a:rPr lang="en-US" smtClean="0"/>
              <a:pPr/>
              <a:t>31</a:t>
            </a:fld>
            <a:endParaRPr lang="en-US" smtClean="0"/>
          </a:p>
        </p:txBody>
      </p:sp>
      <p:sp>
        <p:nvSpPr>
          <p:cNvPr id="93186" name="Rectangle 2"/>
          <p:cNvSpPr>
            <a:spLocks noGrp="1" noRot="1" noChangeAspect="1" noChangeArrowheads="1" noTextEdit="1"/>
          </p:cNvSpPr>
          <p:nvPr>
            <p:ph type="sldImg"/>
          </p:nvPr>
        </p:nvSpPr>
        <p:spPr bwMode="auto">
          <a:xfrm>
            <a:off x="1130300" y="741363"/>
            <a:ext cx="4387850" cy="3290887"/>
          </a:xfrm>
          <a:noFill/>
          <a:ln>
            <a:solidFill>
              <a:srgbClr val="000000"/>
            </a:solidFill>
            <a:miter lim="800000"/>
            <a:headEnd/>
            <a:tailEnd/>
          </a:ln>
        </p:spPr>
      </p:sp>
      <p:sp>
        <p:nvSpPr>
          <p:cNvPr id="599043" name="Rectangle 3"/>
          <p:cNvSpPr>
            <a:spLocks noGrp="1" noChangeArrowheads="1"/>
          </p:cNvSpPr>
          <p:nvPr>
            <p:ph type="body" idx="1"/>
          </p:nvPr>
        </p:nvSpPr>
        <p:spPr>
          <a:xfrm>
            <a:off x="906463" y="4197350"/>
            <a:ext cx="4984750" cy="4937125"/>
          </a:xfrm>
        </p:spPr>
        <p:txBody>
          <a:bodyPr/>
          <a:lstStyle/>
          <a:p>
            <a:pPr eaLnBrk="1" fontAlgn="auto" hangingPunct="1">
              <a:spcBef>
                <a:spcPts val="0"/>
              </a:spcBef>
              <a:spcAft>
                <a:spcPts val="0"/>
              </a:spcAft>
              <a:defRPr/>
            </a:pPr>
            <a:r>
              <a:rPr lang="en-US" b="1" i="1" u="sng" dirty="0"/>
              <a:t>Note to the instructor</a:t>
            </a:r>
            <a:r>
              <a:rPr lang="en-US" dirty="0"/>
              <a:t>: </a:t>
            </a:r>
          </a:p>
          <a:p>
            <a:pPr eaLnBrk="1" fontAlgn="auto" hangingPunct="1">
              <a:spcBef>
                <a:spcPts val="0"/>
              </a:spcBef>
              <a:spcAft>
                <a:spcPts val="0"/>
              </a:spcAft>
              <a:defRPr/>
            </a:pPr>
            <a:r>
              <a:rPr lang="en-US" dirty="0"/>
              <a:t>This is a different example than the one used in the textbook (it is from the previous version). You may want to use it as another example or you can hide the slide and choose to exclude it from the lecture presentation.</a:t>
            </a:r>
          </a:p>
          <a:p>
            <a:pPr eaLnBrk="1" fontAlgn="auto" hangingPunct="1">
              <a:spcBef>
                <a:spcPts val="0"/>
              </a:spcBef>
              <a:spcAft>
                <a:spcPts val="0"/>
              </a:spcAft>
              <a:defRPr/>
            </a:pPr>
            <a:endParaRPr lang="en-US" dirty="0"/>
          </a:p>
          <a:p>
            <a:pPr eaLnBrk="1" fontAlgn="auto" hangingPunct="1">
              <a:spcBef>
                <a:spcPts val="0"/>
              </a:spcBef>
              <a:spcAft>
                <a:spcPts val="0"/>
              </a:spcAft>
              <a:defRPr/>
            </a:pPr>
            <a:r>
              <a:rPr lang="en-US" dirty="0"/>
              <a:t>It could be useful to go over the “Pitfall: Which Curve is it anyway?” at this point of the lecture:</a:t>
            </a:r>
          </a:p>
          <a:p>
            <a:pPr eaLnBrk="1" fontAlgn="auto" hangingPunct="1">
              <a:spcBef>
                <a:spcPts val="0"/>
              </a:spcBef>
              <a:spcAft>
                <a:spcPts val="0"/>
              </a:spcAft>
              <a:defRPr/>
            </a:pPr>
            <a:endParaRPr lang="en-US" dirty="0"/>
          </a:p>
          <a:p>
            <a:pPr eaLnBrk="1" fontAlgn="auto" hangingPunct="1">
              <a:spcBef>
                <a:spcPts val="0"/>
              </a:spcBef>
              <a:spcAft>
                <a:spcPts val="0"/>
              </a:spcAft>
              <a:defRPr/>
            </a:pPr>
            <a:r>
              <a:rPr lang="en-US" dirty="0"/>
              <a:t>PITFALLS: WHICH CURVE IS IT, ANYWAY? </a:t>
            </a:r>
          </a:p>
          <a:p>
            <a:pPr eaLnBrk="1" fontAlgn="auto" hangingPunct="1">
              <a:spcBef>
                <a:spcPts val="0"/>
              </a:spcBef>
              <a:spcAft>
                <a:spcPts val="0"/>
              </a:spcAft>
              <a:defRPr/>
            </a:pPr>
            <a:r>
              <a:rPr lang="en-US" dirty="0"/>
              <a:t>    When the price of some good changes, in general we can say that this reflects a change in either supply or demand. But it is easy to get confused about which one.  A helpful clue is the direction of change in the quantity. If the quantity sold changes in the </a:t>
            </a:r>
            <a:r>
              <a:rPr lang="en-US" i="1" dirty="0"/>
              <a:t>same</a:t>
            </a:r>
            <a:r>
              <a:rPr lang="en-US" dirty="0"/>
              <a:t> direction as the price - for example, if both the price and the quantity rise - this suggests that the demand curve has shifted.  If the price and the quantity move in </a:t>
            </a:r>
            <a:r>
              <a:rPr lang="en-US" i="1" dirty="0"/>
              <a:t>opposite</a:t>
            </a:r>
            <a:r>
              <a:rPr lang="en-US" dirty="0"/>
              <a:t> directions, the likely cause is a shift in the supply curve. </a:t>
            </a:r>
          </a:p>
          <a:p>
            <a:pPr eaLnBrk="1" fontAlgn="auto" hangingPunct="1">
              <a:spcBef>
                <a:spcPts val="0"/>
              </a:spcBef>
              <a:spcAft>
                <a:spcPts val="0"/>
              </a:spcAft>
              <a:defRPr/>
            </a:pPr>
            <a:endParaRPr lang="en-US" dirty="0"/>
          </a:p>
          <a:p>
            <a:pPr eaLnBrk="1" fontAlgn="auto" hangingPunct="1">
              <a:spcBef>
                <a:spcPts val="0"/>
              </a:spcBef>
              <a:spcAft>
                <a:spcPts val="0"/>
              </a:spcAft>
              <a:defRPr/>
            </a:pPr>
            <a:endParaRPr lang="en-US" strike="dblStrike" dirty="0"/>
          </a:p>
        </p:txBody>
      </p:sp>
    </p:spTree>
    <p:extLst>
      <p:ext uri="{BB962C8B-B14F-4D97-AF65-F5344CB8AC3E}">
        <p14:creationId xmlns:p14="http://schemas.microsoft.com/office/powerpoint/2010/main" val="42730096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6BC28006-0913-44EE-9FB6-10E2201E40EB}" type="slidenum">
              <a:rPr lang="en-US" smtClean="0"/>
              <a:pPr/>
              <a:t>32</a:t>
            </a:fld>
            <a:endParaRPr lang="en-US" smtClean="0"/>
          </a:p>
        </p:txBody>
      </p:sp>
      <p:sp>
        <p:nvSpPr>
          <p:cNvPr id="1054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547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Note to the instructor</a:t>
            </a:r>
            <a:r>
              <a:rPr lang="en-US" smtClean="0"/>
              <a:t>: </a:t>
            </a:r>
          </a:p>
          <a:p>
            <a:pPr eaLnBrk="1" hangingPunct="1">
              <a:spcBef>
                <a:spcPct val="0"/>
              </a:spcBef>
            </a:pPr>
            <a:r>
              <a:rPr lang="en-US" smtClean="0"/>
              <a:t>This example is from the old text. You can use this as a class exercise question for your students. </a:t>
            </a:r>
          </a:p>
        </p:txBody>
      </p:sp>
    </p:spTree>
    <p:extLst>
      <p:ext uri="{BB962C8B-B14F-4D97-AF65-F5344CB8AC3E}">
        <p14:creationId xmlns:p14="http://schemas.microsoft.com/office/powerpoint/2010/main" val="13413514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4AE082D0-35B4-4988-9235-085E1DA88B45}" type="slidenum">
              <a:rPr lang="en-US" smtClean="0"/>
              <a:pPr/>
              <a:t>33</a:t>
            </a:fld>
            <a:endParaRPr lang="en-US" smtClean="0"/>
          </a:p>
        </p:txBody>
      </p:sp>
      <p:sp>
        <p:nvSpPr>
          <p:cNvPr id="10342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342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Note to the instructor</a:t>
            </a:r>
            <a:r>
              <a:rPr lang="en-US" smtClean="0"/>
              <a:t>: </a:t>
            </a:r>
          </a:p>
          <a:p>
            <a:pPr eaLnBrk="1" hangingPunct="1">
              <a:spcBef>
                <a:spcPct val="0"/>
              </a:spcBef>
            </a:pPr>
            <a:r>
              <a:rPr lang="en-US" smtClean="0"/>
              <a:t>This example is from the previous version. You can choose to hide the slide, if you wish not to cover it in class.</a:t>
            </a:r>
          </a:p>
          <a:p>
            <a:pPr eaLnBrk="1" hangingPunct="1">
              <a:spcBef>
                <a:spcPct val="0"/>
              </a:spcBef>
            </a:pPr>
            <a:endParaRPr lang="en-US" smtClean="0"/>
          </a:p>
          <a:p>
            <a:pPr eaLnBrk="1" hangingPunct="1">
              <a:spcBef>
                <a:spcPct val="0"/>
              </a:spcBef>
            </a:pPr>
            <a:r>
              <a:rPr lang="en-US" smtClean="0"/>
              <a:t>The analysis demands on the steepness of the demand and supply curves (mainly demand curve here). The reason why price increases a lot and quantity decreases only a little has to do with the elasticity of demand (responsiveness of the consumers to the change in price due to the decrease in supply</a:t>
            </a:r>
            <a:r>
              <a:rPr lang="en-US" b="1" smtClean="0"/>
              <a:t>). </a:t>
            </a:r>
            <a:r>
              <a:rPr lang="en-US" smtClean="0"/>
              <a:t>Consumers</a:t>
            </a:r>
            <a:r>
              <a:rPr lang="en-US" b="1" smtClean="0"/>
              <a:t> </a:t>
            </a:r>
            <a:r>
              <a:rPr lang="en-US" smtClean="0"/>
              <a:t>who are addicted to the controlled substances continue to buy them even when the price goes up sharply.</a:t>
            </a:r>
          </a:p>
        </p:txBody>
      </p:sp>
    </p:spTree>
    <p:extLst>
      <p:ext uri="{BB962C8B-B14F-4D97-AF65-F5344CB8AC3E}">
        <p14:creationId xmlns:p14="http://schemas.microsoft.com/office/powerpoint/2010/main" val="33739621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08339F10-DA95-4CA0-98D5-8DC66439CAF7}" type="slidenum">
              <a:rPr lang="en-US" smtClean="0"/>
              <a:pPr/>
              <a:t>34</a:t>
            </a:fld>
            <a:endParaRPr lang="en-US" smtClean="0"/>
          </a:p>
        </p:txBody>
      </p:sp>
      <p:sp>
        <p:nvSpPr>
          <p:cNvPr id="95234" name="Rectangle 2"/>
          <p:cNvSpPr>
            <a:spLocks noGrp="1" noRot="1" noChangeAspect="1" noChangeArrowheads="1" noTextEdit="1"/>
          </p:cNvSpPr>
          <p:nvPr>
            <p:ph type="sldImg"/>
          </p:nvPr>
        </p:nvSpPr>
        <p:spPr bwMode="auto">
          <a:xfrm>
            <a:off x="1130300" y="741363"/>
            <a:ext cx="4387850" cy="3290887"/>
          </a:xfrm>
          <a:noFill/>
          <a:ln>
            <a:solidFill>
              <a:srgbClr val="000000"/>
            </a:solidFill>
            <a:miter lim="800000"/>
            <a:headEnd/>
            <a:tailEnd/>
          </a:ln>
        </p:spPr>
      </p:sp>
      <p:sp>
        <p:nvSpPr>
          <p:cNvPr id="95235" name="Rectangle 3"/>
          <p:cNvSpPr>
            <a:spLocks noGrp="1" noChangeArrowheads="1"/>
          </p:cNvSpPr>
          <p:nvPr>
            <p:ph type="body" idx="1"/>
          </p:nvPr>
        </p:nvSpPr>
        <p:spPr bwMode="auto">
          <a:xfrm>
            <a:off x="906463" y="4197350"/>
            <a:ext cx="4984750" cy="4937125"/>
          </a:xfrm>
          <a:noFill/>
        </p:spPr>
        <p:txBody>
          <a:bodyPr wrap="square" numCol="1" anchor="t" anchorCtr="0" compatLnSpc="1">
            <a:prstTxWarp prst="textNoShape">
              <a:avLst/>
            </a:prstTxWarp>
          </a:bodyPr>
          <a:lstStyle/>
          <a:p>
            <a:pPr eaLnBrk="1" hangingPunct="1">
              <a:spcBef>
                <a:spcPct val="0"/>
              </a:spcBef>
            </a:pPr>
            <a:r>
              <a:rPr lang="en-US" b="1" i="1" u="sng" smtClean="0"/>
              <a:t>Figure Caption:</a:t>
            </a:r>
            <a:r>
              <a:rPr lang="en-US" smtClean="0"/>
              <a:t>  </a:t>
            </a:r>
          </a:p>
          <a:p>
            <a:pPr eaLnBrk="1" hangingPunct="1">
              <a:spcBef>
                <a:spcPct val="0"/>
              </a:spcBef>
            </a:pPr>
            <a:r>
              <a:rPr lang="en-US" b="1" smtClean="0"/>
              <a:t>Figure 3-16 (a) </a:t>
            </a:r>
            <a:r>
              <a:rPr lang="en-US" smtClean="0"/>
              <a:t>There is a simultaneous rightward shift of the demand curve and leftward shift of the supply curve. Here</a:t>
            </a:r>
          </a:p>
          <a:p>
            <a:pPr eaLnBrk="1" hangingPunct="1">
              <a:spcBef>
                <a:spcPct val="0"/>
              </a:spcBef>
            </a:pPr>
            <a:r>
              <a:rPr lang="en-US" smtClean="0"/>
              <a:t>the increase in demand is relatively larger than the decrease in supply, so the equilibrium price and equilibrium quantity both rise.</a:t>
            </a:r>
          </a:p>
        </p:txBody>
      </p:sp>
    </p:spTree>
    <p:extLst>
      <p:ext uri="{BB962C8B-B14F-4D97-AF65-F5344CB8AC3E}">
        <p14:creationId xmlns:p14="http://schemas.microsoft.com/office/powerpoint/2010/main" val="8469375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9E42885-87A8-46EE-9562-E90833A21CB2}" type="slidenum">
              <a:rPr lang="en-US" smtClean="0"/>
              <a:pPr/>
              <a:t>35</a:t>
            </a:fld>
            <a:endParaRPr lang="en-US" smtClean="0"/>
          </a:p>
        </p:txBody>
      </p:sp>
      <p:sp>
        <p:nvSpPr>
          <p:cNvPr id="97282" name="Rectangle 2"/>
          <p:cNvSpPr>
            <a:spLocks noGrp="1" noRot="1" noChangeAspect="1" noChangeArrowheads="1" noTextEdit="1"/>
          </p:cNvSpPr>
          <p:nvPr>
            <p:ph type="sldImg"/>
          </p:nvPr>
        </p:nvSpPr>
        <p:spPr bwMode="auto">
          <a:xfrm>
            <a:off x="1130300" y="741363"/>
            <a:ext cx="4387850" cy="3290887"/>
          </a:xfrm>
          <a:noFill/>
          <a:ln>
            <a:solidFill>
              <a:srgbClr val="000000"/>
            </a:solidFill>
            <a:miter lim="800000"/>
            <a:headEnd/>
            <a:tailEnd/>
          </a:ln>
        </p:spPr>
      </p:sp>
      <p:sp>
        <p:nvSpPr>
          <p:cNvPr id="97283" name="Rectangle 3"/>
          <p:cNvSpPr>
            <a:spLocks noGrp="1" noChangeArrowheads="1"/>
          </p:cNvSpPr>
          <p:nvPr>
            <p:ph type="body" idx="1"/>
          </p:nvPr>
        </p:nvSpPr>
        <p:spPr bwMode="auto">
          <a:xfrm>
            <a:off x="906463" y="4197350"/>
            <a:ext cx="4984750" cy="4937125"/>
          </a:xfrm>
          <a:noFill/>
        </p:spPr>
        <p:txBody>
          <a:bodyPr wrap="square" numCol="1" anchor="t" anchorCtr="0" compatLnSpc="1">
            <a:prstTxWarp prst="textNoShape">
              <a:avLst/>
            </a:prstTxWarp>
          </a:bodyPr>
          <a:lstStyle/>
          <a:p>
            <a:pPr eaLnBrk="1" hangingPunct="1">
              <a:spcBef>
                <a:spcPct val="0"/>
              </a:spcBef>
            </a:pPr>
            <a:r>
              <a:rPr lang="en-US" b="1" i="1" u="sng" smtClean="0"/>
              <a:t>Figure Caption:</a:t>
            </a:r>
            <a:r>
              <a:rPr lang="en-US" smtClean="0"/>
              <a:t>  </a:t>
            </a:r>
          </a:p>
          <a:p>
            <a:pPr eaLnBrk="1" hangingPunct="1">
              <a:spcBef>
                <a:spcPct val="0"/>
              </a:spcBef>
            </a:pPr>
            <a:r>
              <a:rPr lang="en-US" b="1" smtClean="0"/>
              <a:t>Figure 3-16 (b) </a:t>
            </a:r>
            <a:r>
              <a:rPr lang="en-US" smtClean="0"/>
              <a:t>There is also a simultaneous rightward shift of the demand curve and leftward shift of the supply curve. Here the decrease in supply is relatively larger than the increase in demand, so the equilibrium price rises and the equilibrium quantity falls.</a:t>
            </a:r>
          </a:p>
          <a:p>
            <a:pPr eaLnBrk="1" hangingPunct="1">
              <a:spcBef>
                <a:spcPct val="0"/>
              </a:spcBef>
            </a:pPr>
            <a:endParaRPr lang="en-US" smtClean="0"/>
          </a:p>
        </p:txBody>
      </p:sp>
    </p:spTree>
    <p:extLst>
      <p:ext uri="{BB962C8B-B14F-4D97-AF65-F5344CB8AC3E}">
        <p14:creationId xmlns:p14="http://schemas.microsoft.com/office/powerpoint/2010/main" val="27681309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5CCBC41C-3966-4A0B-889B-438F8A963B88}" type="slidenum">
              <a:rPr lang="en-US" smtClean="0"/>
              <a:pPr/>
              <a:t>36</a:t>
            </a:fld>
            <a:endParaRPr lang="en-US" smtClean="0"/>
          </a:p>
        </p:txBody>
      </p:sp>
      <p:sp>
        <p:nvSpPr>
          <p:cNvPr id="993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93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i="1" u="sng" smtClean="0"/>
              <a:t>Note to the instructor</a:t>
            </a:r>
            <a:r>
              <a:rPr lang="en-US" smtClean="0"/>
              <a:t>: </a:t>
            </a:r>
          </a:p>
          <a:p>
            <a:pPr eaLnBrk="1" hangingPunct="1">
              <a:spcBef>
                <a:spcPct val="0"/>
              </a:spcBef>
            </a:pPr>
            <a:r>
              <a:rPr lang="en-US" smtClean="0"/>
              <a:t>In general, when supply and demand shift in opposite directions, we can’t predict what the ultimate effect will be on the quantity bought and sold. What we can say is that a curve that shifts a disproportionately greater distance than the other curve will have a disproportionately greater effect on the quantity bought and sold. That said, we can make the following prediction about the outcome when the supply and demand curves shift in opposite directions:</a:t>
            </a:r>
          </a:p>
          <a:p>
            <a:pPr eaLnBrk="1" hangingPunct="1">
              <a:spcBef>
                <a:spcPct val="0"/>
              </a:spcBef>
            </a:pPr>
            <a:r>
              <a:rPr lang="en-US" smtClean="0"/>
              <a:t> - When demand increases and supply decreases, the equilibrium price rises but the change in the quantity is ambiguous.</a:t>
            </a:r>
          </a:p>
          <a:p>
            <a:pPr eaLnBrk="1" hangingPunct="1">
              <a:spcBef>
                <a:spcPct val="0"/>
              </a:spcBef>
            </a:pPr>
            <a:r>
              <a:rPr lang="en-US" smtClean="0"/>
              <a:t> - When demand decreases and supply increases, the equilibrium price falls but the change in the quantity is ambiguous.</a:t>
            </a:r>
          </a:p>
          <a:p>
            <a:pPr eaLnBrk="1" hangingPunct="1">
              <a:spcBef>
                <a:spcPct val="0"/>
              </a:spcBef>
            </a:pPr>
            <a:endParaRPr lang="en-US" smtClean="0"/>
          </a:p>
          <a:p>
            <a:pPr eaLnBrk="1" hangingPunct="1">
              <a:spcBef>
                <a:spcPct val="0"/>
              </a:spcBef>
            </a:pPr>
            <a:r>
              <a:rPr lang="en-US" smtClean="0"/>
              <a:t>But suppose that the demand and supply curves shift in the same direction. This was the case in the global market for coffee beans, where both supply and demand have increased over the past decade. Can we safely make any predictions about the changes in price and quantity? In this situation, the change in quantity bought and sold can be predicted but the change in price is ambiguous. The two possible outcomes when the supply and demand curves shift in the same direction (which you should check for yourself) are as follows:</a:t>
            </a:r>
          </a:p>
          <a:p>
            <a:pPr eaLnBrk="1" hangingPunct="1">
              <a:spcBef>
                <a:spcPct val="0"/>
              </a:spcBef>
            </a:pPr>
            <a:r>
              <a:rPr lang="en-US" smtClean="0"/>
              <a:t> - When both demand and supply increase, the equilibrium quantity increases but the change in price is ambiguous.</a:t>
            </a:r>
          </a:p>
          <a:p>
            <a:pPr eaLnBrk="1" hangingPunct="1">
              <a:spcBef>
                <a:spcPct val="0"/>
              </a:spcBef>
            </a:pPr>
            <a:r>
              <a:rPr lang="en-US" smtClean="0"/>
              <a:t> - When both demand and supply decrease, the equilibrium quantity decreases but the change in price is ambiguous.</a:t>
            </a:r>
          </a:p>
          <a:p>
            <a:pPr eaLnBrk="1" hangingPunct="1">
              <a:spcBef>
                <a:spcPct val="0"/>
              </a:spcBef>
            </a:pPr>
            <a:endParaRPr lang="en-US" smtClean="0"/>
          </a:p>
        </p:txBody>
      </p:sp>
    </p:spTree>
    <p:extLst>
      <p:ext uri="{BB962C8B-B14F-4D97-AF65-F5344CB8AC3E}">
        <p14:creationId xmlns:p14="http://schemas.microsoft.com/office/powerpoint/2010/main" val="23968392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E7EC5F47-CA9A-4DD1-9CFE-8AF2B129EC82}" type="slidenum">
              <a:rPr lang="en-US" smtClean="0"/>
              <a:pPr/>
              <a:t>37</a:t>
            </a:fld>
            <a:endParaRPr lang="en-US" smtClean="0"/>
          </a:p>
        </p:txBody>
      </p:sp>
      <p:sp>
        <p:nvSpPr>
          <p:cNvPr id="10137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137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Answer: Supply curve shifts right and demand curve shifts left: equilibrium price goes down.</a:t>
            </a:r>
          </a:p>
        </p:txBody>
      </p:sp>
    </p:spTree>
    <p:extLst>
      <p:ext uri="{BB962C8B-B14F-4D97-AF65-F5344CB8AC3E}">
        <p14:creationId xmlns:p14="http://schemas.microsoft.com/office/powerpoint/2010/main" val="35634562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C229B8E6-F685-48BD-8DC7-8D23A775D7A3}" type="slidenum">
              <a:rPr lang="en-US" smtClean="0"/>
              <a:pPr/>
              <a:t>41</a:t>
            </a:fld>
            <a:endParaRPr lang="en-US" smtClean="0"/>
          </a:p>
        </p:txBody>
      </p:sp>
      <p:sp>
        <p:nvSpPr>
          <p:cNvPr id="1167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673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26332593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F334569D-E6EB-4F0D-9AD4-AC7F830A6430}" type="slidenum">
              <a:rPr lang="en-US" smtClean="0"/>
              <a:pPr/>
              <a:t>42</a:t>
            </a:fld>
            <a:endParaRPr lang="en-US" smtClean="0"/>
          </a:p>
        </p:txBody>
      </p:sp>
      <p:sp>
        <p:nvSpPr>
          <p:cNvPr id="11878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878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41264612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250D539D-16E7-458A-A22F-D83467515FFE}" type="slidenum">
              <a:rPr lang="en-US" smtClean="0"/>
              <a:pPr/>
              <a:t>43</a:t>
            </a:fld>
            <a:endParaRPr lang="en-US" smtClean="0"/>
          </a:p>
        </p:txBody>
      </p:sp>
      <p:sp>
        <p:nvSpPr>
          <p:cNvPr id="1208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08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6721805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304779F8-9521-461F-BDE8-68FF2461BD6C}" type="slidenum">
              <a:rPr lang="en-US" smtClean="0"/>
              <a:pPr/>
              <a:t>44</a:t>
            </a:fld>
            <a:endParaRPr lang="en-US" smtClean="0"/>
          </a:p>
        </p:txBody>
      </p:sp>
      <p:sp>
        <p:nvSpPr>
          <p:cNvPr id="12288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28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9644121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BC624E7-86E9-4AF9-BB8A-C01623D6A816}" type="slidenum">
              <a:rPr lang="en-US" smtClean="0"/>
              <a:pPr/>
              <a:t>45</a:t>
            </a:fld>
            <a:endParaRPr lang="en-US" smtClean="0"/>
          </a:p>
        </p:txBody>
      </p:sp>
      <p:sp>
        <p:nvSpPr>
          <p:cNvPr id="1249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49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16417528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E129F1F0-0E51-4C6B-9BD4-9FAF32824BDC}" type="slidenum">
              <a:rPr lang="en-US" smtClean="0"/>
              <a:pPr/>
              <a:t>46</a:t>
            </a:fld>
            <a:endParaRPr lang="en-US" smtClean="0"/>
          </a:p>
        </p:txBody>
      </p:sp>
      <p:sp>
        <p:nvSpPr>
          <p:cNvPr id="12697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697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28928791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1231" y="4965336"/>
            <a:ext cx="5786478" cy="535366"/>
          </a:xfrm>
        </p:spPr>
        <p:txBody>
          <a:bodyPr/>
          <a:lstStyle>
            <a:lvl1pPr algn="r">
              <a:defRPr sz="3600" b="1">
                <a:solidFill>
                  <a:schemeClr val="bg1"/>
                </a:solidFill>
                <a:effectLst>
                  <a:outerShdw blurRad="38100" dist="38100" dir="2700000" algn="tl">
                    <a:srgbClr val="000000">
                      <a:alpha val="43137"/>
                    </a:srgbClr>
                  </a:outerShdw>
                </a:effectLst>
              </a:defRPr>
            </a:lvl1pPr>
          </a:lstStyle>
          <a:p>
            <a:r>
              <a:rPr lang="en-US" dirty="0" smtClean="0"/>
              <a:t>Click to edit Master title style</a:t>
            </a:r>
            <a:endParaRPr lang="id-ID" dirty="0"/>
          </a:p>
        </p:txBody>
      </p:sp>
      <p:sp>
        <p:nvSpPr>
          <p:cNvPr id="3" name="Subtitle 2"/>
          <p:cNvSpPr>
            <a:spLocks noGrp="1"/>
          </p:cNvSpPr>
          <p:nvPr>
            <p:ph type="subTitle" idx="1"/>
          </p:nvPr>
        </p:nvSpPr>
        <p:spPr>
          <a:xfrm>
            <a:off x="2285984" y="5500726"/>
            <a:ext cx="6700887" cy="642918"/>
          </a:xfrm>
        </p:spPr>
        <p:txBody>
          <a:bodyPr>
            <a:normAutofit/>
          </a:bodyPr>
          <a:lstStyle>
            <a:lvl1pPr marL="0" indent="0" algn="r">
              <a:buNone/>
              <a:defRPr sz="3000" b="1">
                <a:solidFill>
                  <a:schemeClr val="tx1"/>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a:defRPr/>
            </a:lvl1pPr>
          </a:lstStyle>
          <a:p>
            <a:pPr>
              <a:defRPr/>
            </a:pPr>
            <a:fld id="{928959AF-5B62-42B1-AAC8-C73B0540C2A4}" type="datetime1">
              <a:rPr lang="id-ID"/>
              <a:pPr>
                <a:defRPr/>
              </a:pPr>
              <a:t>13/10/2015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21AB5766-7A71-41BF-92BF-380E90A2C463}" type="slidenum">
              <a:rPr lang="id-ID"/>
              <a:pPr>
                <a:defRPr/>
              </a:pPr>
              <a:t>‹#›</a:t>
            </a:fld>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3"/>
          <p:cNvSpPr>
            <a:spLocks noGrp="1"/>
          </p:cNvSpPr>
          <p:nvPr>
            <p:ph type="dt" sz="half" idx="10"/>
          </p:nvPr>
        </p:nvSpPr>
        <p:spPr/>
        <p:txBody>
          <a:bodyPr/>
          <a:lstStyle>
            <a:lvl1pPr>
              <a:defRPr/>
            </a:lvl1pPr>
          </a:lstStyle>
          <a:p>
            <a:pPr>
              <a:defRPr/>
            </a:pPr>
            <a:fld id="{7A03C156-9E1D-4347-9B7E-75C0F8DA9B7E}" type="datetime1">
              <a:rPr lang="id-ID"/>
              <a:pPr>
                <a:defRPr/>
              </a:pPr>
              <a:t>13/10/2015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3C3F2C44-3DF0-4953-8232-AE0F10E20561}" type="slidenum">
              <a:rPr lang="id-ID"/>
              <a:pPr>
                <a:defRPr/>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57290" y="4406900"/>
            <a:ext cx="7137422" cy="1362075"/>
          </a:xfrm>
        </p:spPr>
        <p:txBody>
          <a:bodyPr anchor="t"/>
          <a:lstStyle>
            <a:lvl1pPr algn="l">
              <a:defRPr sz="4000" b="1" cap="all">
                <a:solidFill>
                  <a:schemeClr val="tx1"/>
                </a:solidFill>
              </a:defRPr>
            </a:lvl1pPr>
          </a:lstStyle>
          <a:p>
            <a:r>
              <a:rPr lang="en-US" smtClean="0"/>
              <a:t>Click to edit Master title style</a:t>
            </a:r>
            <a:endParaRPr lang="id-ID" dirty="0"/>
          </a:p>
        </p:txBody>
      </p:sp>
      <p:sp>
        <p:nvSpPr>
          <p:cNvPr id="3" name="Text Placeholder 2"/>
          <p:cNvSpPr>
            <a:spLocks noGrp="1"/>
          </p:cNvSpPr>
          <p:nvPr>
            <p:ph type="body" idx="1"/>
          </p:nvPr>
        </p:nvSpPr>
        <p:spPr>
          <a:xfrm>
            <a:off x="1357290" y="2906713"/>
            <a:ext cx="71374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AAEF7275-2C60-4884-8072-3829C0CB3813}" type="datetime1">
              <a:rPr lang="id-ID"/>
              <a:pPr>
                <a:defRPr/>
              </a:pPr>
              <a:t>13/10/2015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5ADAA188-3490-4971-8812-E90C3ABAF4A4}" type="slidenum">
              <a:rPr lang="id-ID"/>
              <a:pPr>
                <a:defRPr/>
              </a:pPr>
              <a:t>‹#›</a:t>
            </a:fld>
            <a:endParaRPr lang="id-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3286116" y="428604"/>
            <a:ext cx="5572164" cy="5857916"/>
          </a:xfrm>
        </p:spPr>
        <p:txBody>
          <a:bodyPr/>
          <a:lstStyle>
            <a:lvl1pPr>
              <a:defRPr sz="2400"/>
            </a:lvl1pPr>
            <a:lvl2pPr>
              <a:defRPr sz="2200"/>
            </a:lvl2pPr>
            <a:lvl3pPr>
              <a:defRPr sz="2000"/>
            </a:lvl3pPr>
            <a:lvl4pPr>
              <a:defRPr sz="1800"/>
            </a:lvl4pPr>
            <a:lvl5pPr>
              <a:defRPr sz="16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9" name="Text Placeholder 8"/>
          <p:cNvSpPr>
            <a:spLocks noGrp="1"/>
          </p:cNvSpPr>
          <p:nvPr>
            <p:ph type="body" sz="quarter" idx="13"/>
          </p:nvPr>
        </p:nvSpPr>
        <p:spPr>
          <a:xfrm>
            <a:off x="357188" y="1357313"/>
            <a:ext cx="2143125" cy="3786187"/>
          </a:xfrm>
        </p:spPr>
        <p:txBody>
          <a:bodyPr anchor="ctr">
            <a:normAutofit/>
          </a:bodyPr>
          <a:lstStyle>
            <a:lvl1pPr marL="0" indent="0" algn="ctr">
              <a:buNone/>
              <a:defRPr sz="3200" b="1" baseline="0">
                <a:solidFill>
                  <a:schemeClr val="bg1"/>
                </a:solidFill>
                <a:effectLst>
                  <a:outerShdw blurRad="38100" dist="38100" dir="2700000" algn="tl">
                    <a:srgbClr val="000000">
                      <a:alpha val="43137"/>
                    </a:srgbClr>
                  </a:outerShdw>
                </a:effectLst>
              </a:defRPr>
            </a:lvl1pPr>
          </a:lstStyle>
          <a:p>
            <a:pPr lvl="0"/>
            <a:r>
              <a:rPr lang="en-US" dirty="0" smtClean="0"/>
              <a:t>Click to edit</a:t>
            </a:r>
            <a:r>
              <a:rPr lang="id-ID" dirty="0" smtClean="0"/>
              <a:t> </a:t>
            </a:r>
            <a:r>
              <a:rPr lang="en-US" dirty="0" smtClean="0"/>
              <a:t>Master text styles</a:t>
            </a:r>
          </a:p>
        </p:txBody>
      </p:sp>
      <p:sp>
        <p:nvSpPr>
          <p:cNvPr id="5" name="Date Placeholder 4"/>
          <p:cNvSpPr>
            <a:spLocks noGrp="1"/>
          </p:cNvSpPr>
          <p:nvPr>
            <p:ph type="dt" sz="half" idx="14"/>
          </p:nvPr>
        </p:nvSpPr>
        <p:spPr/>
        <p:txBody>
          <a:bodyPr/>
          <a:lstStyle>
            <a:lvl1pPr>
              <a:defRPr/>
            </a:lvl1pPr>
          </a:lstStyle>
          <a:p>
            <a:pPr>
              <a:defRPr/>
            </a:pPr>
            <a:fld id="{C62DF313-3D59-44E0-97E6-C38C3839884F}" type="datetime1">
              <a:rPr lang="id-ID"/>
              <a:pPr>
                <a:defRPr/>
              </a:pPr>
              <a:t>13/10/2015</a:t>
            </a:fld>
            <a:endParaRPr lang="id-ID"/>
          </a:p>
        </p:txBody>
      </p:sp>
      <p:sp>
        <p:nvSpPr>
          <p:cNvPr id="6" name="Footer Placeholder 5"/>
          <p:cNvSpPr>
            <a:spLocks noGrp="1"/>
          </p:cNvSpPr>
          <p:nvPr>
            <p:ph type="ftr" sz="quarter" idx="15"/>
          </p:nvPr>
        </p:nvSpPr>
        <p:spPr/>
        <p:txBody>
          <a:bodyPr/>
          <a:lstStyle>
            <a:lvl1pPr>
              <a:defRPr/>
            </a:lvl1pPr>
          </a:lstStyle>
          <a:p>
            <a:pPr>
              <a:defRPr/>
            </a:pPr>
            <a:endParaRPr lang="id-ID"/>
          </a:p>
        </p:txBody>
      </p:sp>
      <p:sp>
        <p:nvSpPr>
          <p:cNvPr id="7" name="Slide Number Placeholder 6"/>
          <p:cNvSpPr>
            <a:spLocks noGrp="1"/>
          </p:cNvSpPr>
          <p:nvPr>
            <p:ph type="sldNum" sz="quarter" idx="16"/>
          </p:nvPr>
        </p:nvSpPr>
        <p:spPr/>
        <p:txBody>
          <a:bodyPr/>
          <a:lstStyle>
            <a:lvl1pPr>
              <a:defRPr/>
            </a:lvl1pPr>
          </a:lstStyle>
          <a:p>
            <a:pPr>
              <a:defRPr/>
            </a:pPr>
            <a:fld id="{C54232B5-1A6A-4DCC-893B-EE663A4BD008}" type="slidenum">
              <a:rPr lang="id-ID"/>
              <a:pPr>
                <a:defRPr/>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914400" y="785794"/>
            <a:ext cx="35829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914400" y="1428736"/>
            <a:ext cx="3582988"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5" name="Text Placeholder 4"/>
          <p:cNvSpPr>
            <a:spLocks noGrp="1"/>
          </p:cNvSpPr>
          <p:nvPr>
            <p:ph type="body" sz="quarter" idx="3"/>
          </p:nvPr>
        </p:nvSpPr>
        <p:spPr>
          <a:xfrm>
            <a:off x="4645025" y="785794"/>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428736"/>
            <a:ext cx="4041775"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3"/>
          <p:cNvSpPr>
            <a:spLocks noGrp="1"/>
          </p:cNvSpPr>
          <p:nvPr>
            <p:ph type="dt" sz="half" idx="10"/>
          </p:nvPr>
        </p:nvSpPr>
        <p:spPr/>
        <p:txBody>
          <a:bodyPr/>
          <a:lstStyle>
            <a:lvl1pPr>
              <a:defRPr/>
            </a:lvl1pPr>
          </a:lstStyle>
          <a:p>
            <a:pPr>
              <a:defRPr/>
            </a:pPr>
            <a:fld id="{5CAF8A71-BB7C-4E6A-A3FC-CFFB07025913}" type="datetime1">
              <a:rPr lang="id-ID"/>
              <a:pPr>
                <a:defRPr/>
              </a:pPr>
              <a:t>13/10/2015</a:t>
            </a:fld>
            <a:endParaRPr lang="id-ID"/>
          </a:p>
        </p:txBody>
      </p:sp>
      <p:sp>
        <p:nvSpPr>
          <p:cNvPr id="8" name="Footer Placeholder 4"/>
          <p:cNvSpPr>
            <a:spLocks noGrp="1"/>
          </p:cNvSpPr>
          <p:nvPr>
            <p:ph type="ftr" sz="quarter" idx="11"/>
          </p:nvPr>
        </p:nvSpPr>
        <p:spPr/>
        <p:txBody>
          <a:bodyPr/>
          <a:lstStyle>
            <a:lvl1pPr>
              <a:defRPr/>
            </a:lvl1pPr>
          </a:lstStyle>
          <a:p>
            <a:pPr>
              <a:defRPr/>
            </a:pPr>
            <a:endParaRPr lang="id-ID"/>
          </a:p>
        </p:txBody>
      </p:sp>
      <p:sp>
        <p:nvSpPr>
          <p:cNvPr id="9" name="Slide Number Placeholder 5"/>
          <p:cNvSpPr>
            <a:spLocks noGrp="1"/>
          </p:cNvSpPr>
          <p:nvPr>
            <p:ph type="sldNum" sz="quarter" idx="12"/>
          </p:nvPr>
        </p:nvSpPr>
        <p:spPr/>
        <p:txBody>
          <a:bodyPr/>
          <a:lstStyle>
            <a:lvl1pPr>
              <a:defRPr/>
            </a:lvl1pPr>
          </a:lstStyle>
          <a:p>
            <a:pPr>
              <a:defRPr/>
            </a:pPr>
            <a:fld id="{55DBC7D4-EEB8-46A1-99DB-D283ADE2B5F6}" type="slidenum">
              <a:rPr lang="id-ID"/>
              <a:pPr>
                <a:defRPr/>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5765" y="40342"/>
            <a:ext cx="8074116" cy="578224"/>
          </a:xfrm>
        </p:spPr>
        <p:txBody>
          <a:bodyPr/>
          <a:lstStyle>
            <a:lvl1pPr>
              <a:defRPr>
                <a:solidFill>
                  <a:schemeClr val="tx1"/>
                </a:solidFill>
              </a:defRPr>
            </a:lvl1pPr>
          </a:lstStyle>
          <a:p>
            <a:r>
              <a:rPr lang="en-US" smtClean="0"/>
              <a:t>Click to edit Master title style</a:t>
            </a:r>
            <a:endParaRPr lang="id-ID"/>
          </a:p>
        </p:txBody>
      </p:sp>
      <p:sp>
        <p:nvSpPr>
          <p:cNvPr id="6" name="Content Placeholder 2"/>
          <p:cNvSpPr>
            <a:spLocks noGrp="1"/>
          </p:cNvSpPr>
          <p:nvPr>
            <p:ph idx="1"/>
          </p:nvPr>
        </p:nvSpPr>
        <p:spPr>
          <a:xfrm>
            <a:off x="887506" y="739588"/>
            <a:ext cx="7799294" cy="538657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2"/>
          <p:cNvSpPr>
            <a:spLocks noGrp="1"/>
          </p:cNvSpPr>
          <p:nvPr>
            <p:ph type="dt" sz="half" idx="10"/>
          </p:nvPr>
        </p:nvSpPr>
        <p:spPr/>
        <p:txBody>
          <a:bodyPr/>
          <a:lstStyle>
            <a:lvl1pPr>
              <a:defRPr/>
            </a:lvl1pPr>
          </a:lstStyle>
          <a:p>
            <a:pPr>
              <a:defRPr/>
            </a:pPr>
            <a:fld id="{72CE8397-A222-4F43-8D2D-0CEC02DF4B75}" type="datetime1">
              <a:rPr lang="id-ID"/>
              <a:pPr>
                <a:defRPr/>
              </a:pPr>
              <a:t>13/10/2015</a:t>
            </a:fld>
            <a:endParaRPr lang="id-ID"/>
          </a:p>
        </p:txBody>
      </p:sp>
      <p:sp>
        <p:nvSpPr>
          <p:cNvPr id="5" name="Footer Placeholder 3"/>
          <p:cNvSpPr>
            <a:spLocks noGrp="1"/>
          </p:cNvSpPr>
          <p:nvPr>
            <p:ph type="ftr" sz="quarter" idx="11"/>
          </p:nvPr>
        </p:nvSpPr>
        <p:spPr/>
        <p:txBody>
          <a:bodyPr/>
          <a:lstStyle>
            <a:lvl1pPr>
              <a:defRPr/>
            </a:lvl1pPr>
          </a:lstStyle>
          <a:p>
            <a:pPr>
              <a:defRPr/>
            </a:pPr>
            <a:endParaRPr lang="id-ID"/>
          </a:p>
        </p:txBody>
      </p:sp>
      <p:sp>
        <p:nvSpPr>
          <p:cNvPr id="7" name="Slide Number Placeholder 4"/>
          <p:cNvSpPr>
            <a:spLocks noGrp="1"/>
          </p:cNvSpPr>
          <p:nvPr>
            <p:ph type="sldNum" sz="quarter" idx="12"/>
          </p:nvPr>
        </p:nvSpPr>
        <p:spPr/>
        <p:txBody>
          <a:bodyPr/>
          <a:lstStyle>
            <a:lvl1pPr>
              <a:defRPr/>
            </a:lvl1pPr>
          </a:lstStyle>
          <a:p>
            <a:pPr>
              <a:defRPr/>
            </a:pPr>
            <a:fld id="{261F2F61-C98B-4E3B-B37E-EEFBEA6556EF}" type="slidenum">
              <a:rPr lang="id-ID"/>
              <a:pPr>
                <a:defRPr/>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887506" y="1102660"/>
            <a:ext cx="7799294" cy="502350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6" name="Title 1"/>
          <p:cNvSpPr>
            <a:spLocks noGrp="1"/>
          </p:cNvSpPr>
          <p:nvPr>
            <p:ph type="title"/>
          </p:nvPr>
        </p:nvSpPr>
        <p:spPr>
          <a:xfrm>
            <a:off x="1075765" y="40342"/>
            <a:ext cx="8074116" cy="578224"/>
          </a:xfrm>
        </p:spPr>
        <p:txBody>
          <a:bodyPr/>
          <a:lstStyle>
            <a:lvl1pPr>
              <a:defRPr>
                <a:solidFill>
                  <a:schemeClr val="bg1"/>
                </a:solidFill>
              </a:defRPr>
            </a:lvl1pPr>
          </a:lstStyle>
          <a:p>
            <a:r>
              <a:rPr lang="en-US" smtClean="0"/>
              <a:t>Click to edit Master title style</a:t>
            </a:r>
            <a:endParaRPr lang="id-ID"/>
          </a:p>
        </p:txBody>
      </p:sp>
      <p:sp>
        <p:nvSpPr>
          <p:cNvPr id="4" name="Date Placeholder 1"/>
          <p:cNvSpPr>
            <a:spLocks noGrp="1"/>
          </p:cNvSpPr>
          <p:nvPr>
            <p:ph type="dt" sz="half" idx="10"/>
          </p:nvPr>
        </p:nvSpPr>
        <p:spPr/>
        <p:txBody>
          <a:bodyPr/>
          <a:lstStyle>
            <a:lvl1pPr>
              <a:defRPr/>
            </a:lvl1pPr>
          </a:lstStyle>
          <a:p>
            <a:pPr>
              <a:defRPr/>
            </a:pPr>
            <a:fld id="{3387C034-42B8-4A2F-BEF6-A84CE31AF98D}" type="datetime1">
              <a:rPr lang="id-ID"/>
              <a:pPr>
                <a:defRPr/>
              </a:pPr>
              <a:t>13/10/2015</a:t>
            </a:fld>
            <a:endParaRPr lang="id-ID"/>
          </a:p>
        </p:txBody>
      </p:sp>
      <p:sp>
        <p:nvSpPr>
          <p:cNvPr id="7" name="Footer Placeholder 2"/>
          <p:cNvSpPr>
            <a:spLocks noGrp="1"/>
          </p:cNvSpPr>
          <p:nvPr>
            <p:ph type="ftr" sz="quarter" idx="11"/>
          </p:nvPr>
        </p:nvSpPr>
        <p:spPr/>
        <p:txBody>
          <a:bodyPr/>
          <a:lstStyle>
            <a:lvl1pPr>
              <a:defRPr/>
            </a:lvl1pPr>
          </a:lstStyle>
          <a:p>
            <a:pPr>
              <a:defRPr/>
            </a:pPr>
            <a:endParaRPr lang="id-ID"/>
          </a:p>
        </p:txBody>
      </p:sp>
      <p:sp>
        <p:nvSpPr>
          <p:cNvPr id="8" name="Slide Number Placeholder 3"/>
          <p:cNvSpPr>
            <a:spLocks noGrp="1"/>
          </p:cNvSpPr>
          <p:nvPr>
            <p:ph type="sldNum" sz="quarter" idx="12"/>
          </p:nvPr>
        </p:nvSpPr>
        <p:spPr/>
        <p:txBody>
          <a:bodyPr/>
          <a:lstStyle>
            <a:lvl1pPr>
              <a:defRPr/>
            </a:lvl1pPr>
          </a:lstStyle>
          <a:p>
            <a:pPr>
              <a:defRPr/>
            </a:pPr>
            <a:fld id="{4FB436DC-6996-4D3B-B123-9B9D41B1B23A}" type="slidenum">
              <a:rPr lang="id-ID"/>
              <a:pPr>
                <a:defRPr/>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7506" y="714356"/>
            <a:ext cx="2578007" cy="720744"/>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Content Placeholder 2"/>
          <p:cNvSpPr>
            <a:spLocks noGrp="1"/>
          </p:cNvSpPr>
          <p:nvPr>
            <p:ph idx="1"/>
          </p:nvPr>
        </p:nvSpPr>
        <p:spPr>
          <a:xfrm>
            <a:off x="3575050" y="712694"/>
            <a:ext cx="5111750" cy="54134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Text Placeholder 3"/>
          <p:cNvSpPr>
            <a:spLocks noGrp="1"/>
          </p:cNvSpPr>
          <p:nvPr>
            <p:ph type="body" sz="half" idx="2"/>
          </p:nvPr>
        </p:nvSpPr>
        <p:spPr>
          <a:xfrm>
            <a:off x="887506" y="1435100"/>
            <a:ext cx="257800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5D4EBB0-0C5E-41FF-AC06-21DC9E4AE3AE}" type="datetime1">
              <a:rPr lang="id-ID"/>
              <a:pPr>
                <a:defRPr/>
              </a:pPr>
              <a:t>13/10/2015</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60E68852-3656-4E9F-973B-C48FEDBE7874}" type="slidenum">
              <a:rPr lang="id-ID"/>
              <a:pPr>
                <a:defRPr/>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Picture Placeholder 2"/>
          <p:cNvSpPr>
            <a:spLocks noGrp="1"/>
          </p:cNvSpPr>
          <p:nvPr>
            <p:ph type="pic" idx="1"/>
          </p:nvPr>
        </p:nvSpPr>
        <p:spPr>
          <a:xfrm>
            <a:off x="1792288" y="726141"/>
            <a:ext cx="5486400" cy="4001434"/>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d-ID"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D1E4A8D-A8F8-42B3-9E22-4590501196F5}" type="datetime1">
              <a:rPr lang="id-ID"/>
              <a:pPr>
                <a:defRPr/>
              </a:pPr>
              <a:t>13/10/2015</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FB3E5BA8-E3B6-4039-A77E-5C1AEB4FFBE2}" type="slidenum">
              <a:rPr lang="id-ID"/>
              <a:pPr>
                <a:defRPr/>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96DA7CAC-1221-48C9-AD5A-8F8381378DCF}" type="datetime1">
              <a:rPr lang="id-ID"/>
              <a:pPr>
                <a:defRPr/>
              </a:pPr>
              <a:t>13/10/2015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BB2530AD-BE6A-40A8-8DC2-295E1CA0513A}" type="slidenum">
              <a:rPr lang="id-ID"/>
              <a:pPr>
                <a:defRPr/>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73C7ABB9-8AE2-4F88-B853-E30B0D48219C}" type="datetime1">
              <a:rPr lang="id-ID"/>
              <a:pPr>
                <a:defRPr/>
              </a:pPr>
              <a:t>13/10/2015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BC791E44-6B5C-4CE0-B978-E2B1A3E58060}" type="slidenum">
              <a:rPr lang="id-ID"/>
              <a:pPr>
                <a:defRPr/>
              </a:pPr>
              <a:t>‹#›</a:t>
            </a:fld>
            <a:endParaRPr lang="id-I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46075" y="0"/>
            <a:ext cx="8763000" cy="731838"/>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8600" y="914400"/>
            <a:ext cx="4267200" cy="5410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914400"/>
            <a:ext cx="4267200" cy="5410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1231" y="4965336"/>
            <a:ext cx="5786478" cy="535366"/>
          </a:xfrm>
        </p:spPr>
        <p:txBody>
          <a:bodyPr/>
          <a:lstStyle>
            <a:lvl1pPr algn="r">
              <a:defRPr sz="3600" b="1">
                <a:solidFill>
                  <a:schemeClr val="bg1"/>
                </a:solidFill>
                <a:effectLst>
                  <a:outerShdw blurRad="38100" dist="38100" dir="2700000" algn="tl">
                    <a:srgbClr val="000000">
                      <a:alpha val="43137"/>
                    </a:srgbClr>
                  </a:outerShdw>
                </a:effectLst>
              </a:defRPr>
            </a:lvl1pPr>
          </a:lstStyle>
          <a:p>
            <a:r>
              <a:rPr lang="en-US" dirty="0" smtClean="0"/>
              <a:t>Click to edit Master title style</a:t>
            </a:r>
            <a:endParaRPr lang="id-ID" dirty="0"/>
          </a:p>
        </p:txBody>
      </p:sp>
      <p:sp>
        <p:nvSpPr>
          <p:cNvPr id="3" name="Subtitle 2"/>
          <p:cNvSpPr>
            <a:spLocks noGrp="1"/>
          </p:cNvSpPr>
          <p:nvPr>
            <p:ph type="subTitle" idx="1"/>
          </p:nvPr>
        </p:nvSpPr>
        <p:spPr>
          <a:xfrm>
            <a:off x="2285984" y="5500726"/>
            <a:ext cx="6700887" cy="642918"/>
          </a:xfrm>
        </p:spPr>
        <p:txBody>
          <a:bodyPr>
            <a:normAutofit/>
          </a:bodyPr>
          <a:lstStyle>
            <a:lvl1pPr marL="0" indent="0" algn="r">
              <a:buNone/>
              <a:defRPr sz="3000" b="1">
                <a:solidFill>
                  <a:schemeClr val="tx1"/>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6850F96E-6F6D-4D0D-972E-D998A0AAFE20}" type="datetimeFigureOut">
              <a:rPr lang="id-ID"/>
              <a:pPr>
                <a:defRPr/>
              </a:pPr>
              <a:t>13/10/2015</a:t>
            </a:fld>
            <a:endParaRPr lang="id-ID"/>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Calibri" pitchFamily="34" charset="0"/>
                <a:ea typeface="MS PGothic" pitchFamily="34" charset="-128"/>
              </a:defRPr>
            </a:lvl1pPr>
          </a:lstStyle>
          <a:p>
            <a:pPr>
              <a:defRPr/>
            </a:pPr>
            <a:endParaRPr lang="id-ID"/>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4FE818BC-816B-4B06-B1F4-7FF71B060E95}" type="slidenum">
              <a:rPr lang="id-ID"/>
              <a:pPr>
                <a:defRPr/>
              </a:pPr>
              <a:t>‹#›</a:t>
            </a:fld>
            <a:endParaRPr lang="id-ID"/>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3"/>
          <p:cNvSpPr>
            <a:spLocks noGrp="1"/>
          </p:cNvSpPr>
          <p:nvPr>
            <p:ph type="dt" sz="half" idx="10"/>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6850F96E-6F6D-4D0D-972E-D998A0AAFE20}" type="datetimeFigureOut">
              <a:rPr lang="id-ID"/>
              <a:pPr>
                <a:defRPr/>
              </a:pPr>
              <a:t>13/10/2015</a:t>
            </a:fld>
            <a:endParaRPr lang="id-ID"/>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Calibri" pitchFamily="34" charset="0"/>
                <a:ea typeface="MS PGothic" pitchFamily="34" charset="-128"/>
              </a:defRPr>
            </a:lvl1pPr>
          </a:lstStyle>
          <a:p>
            <a:pPr>
              <a:defRPr/>
            </a:pPr>
            <a:endParaRPr lang="id-ID"/>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283BE698-20DB-4A27-B488-B4B20F8004ED}" type="slidenum">
              <a:rPr lang="id-ID"/>
              <a:pPr>
                <a:defRPr/>
              </a:pPr>
              <a:t>‹#›</a:t>
            </a:fld>
            <a:endParaRPr lang="id-ID"/>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57290" y="4406900"/>
            <a:ext cx="7137422" cy="1362075"/>
          </a:xfrm>
        </p:spPr>
        <p:txBody>
          <a:bodyPr anchor="t"/>
          <a:lstStyle>
            <a:lvl1pPr algn="l">
              <a:defRPr sz="4000" b="1" cap="all">
                <a:solidFill>
                  <a:schemeClr val="tx1"/>
                </a:solidFill>
              </a:defRPr>
            </a:lvl1pPr>
          </a:lstStyle>
          <a:p>
            <a:r>
              <a:rPr lang="en-US" dirty="0" smtClean="0"/>
              <a:t>Click to edit Master title style</a:t>
            </a:r>
            <a:endParaRPr lang="id-ID" dirty="0"/>
          </a:p>
        </p:txBody>
      </p:sp>
      <p:sp>
        <p:nvSpPr>
          <p:cNvPr id="3" name="Text Placeholder 2"/>
          <p:cNvSpPr>
            <a:spLocks noGrp="1"/>
          </p:cNvSpPr>
          <p:nvPr>
            <p:ph type="body" idx="1"/>
          </p:nvPr>
        </p:nvSpPr>
        <p:spPr>
          <a:xfrm>
            <a:off x="1357290" y="2906713"/>
            <a:ext cx="71374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6850F96E-6F6D-4D0D-972E-D998A0AAFE20}" type="datetimeFigureOut">
              <a:rPr lang="id-ID"/>
              <a:pPr>
                <a:defRPr/>
              </a:pPr>
              <a:t>13/10/2015</a:t>
            </a:fld>
            <a:endParaRPr lang="id-ID"/>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Calibri" pitchFamily="34" charset="0"/>
                <a:ea typeface="MS PGothic" pitchFamily="34" charset="-128"/>
              </a:defRPr>
            </a:lvl1pPr>
          </a:lstStyle>
          <a:p>
            <a:pPr>
              <a:defRPr/>
            </a:pPr>
            <a:endParaRPr lang="id-ID"/>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B7E8AC90-9788-4E2F-8C25-AA14B3CA632C}" type="slidenum">
              <a:rPr lang="id-ID"/>
              <a:pPr>
                <a:defRPr/>
              </a:pPr>
              <a:t>‹#›</a:t>
            </a:fld>
            <a:endParaRPr lang="id-ID"/>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3286116" y="428604"/>
            <a:ext cx="5572164" cy="5857916"/>
          </a:xfrm>
        </p:spPr>
        <p:txBody>
          <a:bodyPr/>
          <a:lstStyle>
            <a:lvl1pPr>
              <a:defRPr sz="2400"/>
            </a:lvl1pPr>
            <a:lvl2pPr>
              <a:defRPr sz="2200"/>
            </a:lvl2pPr>
            <a:lvl3pPr>
              <a:defRPr sz="2000"/>
            </a:lvl3pPr>
            <a:lvl4pPr>
              <a:defRPr sz="1800"/>
            </a:lvl4pPr>
            <a:lvl5pPr>
              <a:defRPr sz="16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9" name="Text Placeholder 8"/>
          <p:cNvSpPr>
            <a:spLocks noGrp="1"/>
          </p:cNvSpPr>
          <p:nvPr>
            <p:ph type="body" sz="quarter" idx="13"/>
          </p:nvPr>
        </p:nvSpPr>
        <p:spPr>
          <a:xfrm>
            <a:off x="357188" y="1357313"/>
            <a:ext cx="2143125" cy="3786187"/>
          </a:xfrm>
        </p:spPr>
        <p:txBody>
          <a:bodyPr anchor="ctr">
            <a:normAutofit/>
          </a:bodyPr>
          <a:lstStyle>
            <a:lvl1pPr marL="0" indent="0" algn="ctr">
              <a:buNone/>
              <a:defRPr sz="3200" b="1" baseline="0">
                <a:solidFill>
                  <a:schemeClr val="bg1"/>
                </a:solidFill>
                <a:effectLst>
                  <a:outerShdw blurRad="38100" dist="38100" dir="2700000" algn="tl">
                    <a:srgbClr val="000000">
                      <a:alpha val="43137"/>
                    </a:srgbClr>
                  </a:outerShdw>
                </a:effectLst>
              </a:defRPr>
            </a:lvl1pPr>
          </a:lstStyle>
          <a:p>
            <a:pPr lvl="0"/>
            <a:r>
              <a:rPr lang="en-US" dirty="0" smtClean="0"/>
              <a:t>Click to edit</a:t>
            </a:r>
            <a:r>
              <a:rPr lang="id-ID" dirty="0" smtClean="0"/>
              <a:t> </a:t>
            </a:r>
            <a:r>
              <a:rPr lang="en-US" dirty="0" smtClean="0"/>
              <a:t>Master text styles</a:t>
            </a:r>
          </a:p>
        </p:txBody>
      </p:sp>
      <p:sp>
        <p:nvSpPr>
          <p:cNvPr id="5" name="Date Placeholder 4"/>
          <p:cNvSpPr>
            <a:spLocks noGrp="1"/>
          </p:cNvSpPr>
          <p:nvPr>
            <p:ph type="dt" sz="half" idx="14"/>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6850F96E-6F6D-4D0D-972E-D998A0AAFE20}" type="datetimeFigureOut">
              <a:rPr lang="id-ID"/>
              <a:pPr>
                <a:defRPr/>
              </a:pPr>
              <a:t>13/10/2015</a:t>
            </a:fld>
            <a:endParaRPr lang="id-ID"/>
          </a:p>
        </p:txBody>
      </p:sp>
      <p:sp>
        <p:nvSpPr>
          <p:cNvPr id="6" name="Footer Placeholder 5"/>
          <p:cNvSpPr>
            <a:spLocks noGrp="1"/>
          </p:cNvSpPr>
          <p:nvPr>
            <p:ph type="ftr" sz="quarter" idx="15"/>
          </p:nvPr>
        </p:nvSpPr>
        <p:spPr/>
        <p:txBody>
          <a:bodyPr/>
          <a:lstStyle>
            <a:lvl1pPr fontAlgn="base">
              <a:spcBef>
                <a:spcPct val="0"/>
              </a:spcBef>
              <a:spcAft>
                <a:spcPct val="0"/>
              </a:spcAft>
              <a:defRPr>
                <a:latin typeface="Calibri" pitchFamily="34" charset="0"/>
                <a:ea typeface="MS PGothic" pitchFamily="34" charset="-128"/>
              </a:defRPr>
            </a:lvl1pPr>
          </a:lstStyle>
          <a:p>
            <a:pPr>
              <a:defRPr/>
            </a:pPr>
            <a:endParaRPr lang="id-ID"/>
          </a:p>
        </p:txBody>
      </p:sp>
      <p:sp>
        <p:nvSpPr>
          <p:cNvPr id="7" name="Slide Number Placeholder 6"/>
          <p:cNvSpPr>
            <a:spLocks noGrp="1"/>
          </p:cNvSpPr>
          <p:nvPr>
            <p:ph type="sldNum" sz="quarter" idx="16"/>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4C0995B9-A985-44F6-936A-954F3BABE8EA}" type="slidenum">
              <a:rPr lang="id-ID"/>
              <a:pPr>
                <a:defRPr/>
              </a:pPr>
              <a:t>‹#›</a:t>
            </a:fld>
            <a:endParaRPr lang="id-ID"/>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914400" y="785794"/>
            <a:ext cx="35829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914400" y="1428736"/>
            <a:ext cx="3582988"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5" name="Text Placeholder 4"/>
          <p:cNvSpPr>
            <a:spLocks noGrp="1"/>
          </p:cNvSpPr>
          <p:nvPr>
            <p:ph type="body" sz="quarter" idx="3"/>
          </p:nvPr>
        </p:nvSpPr>
        <p:spPr>
          <a:xfrm>
            <a:off x="4645025" y="785794"/>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428736"/>
            <a:ext cx="4041775"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6"/>
          <p:cNvSpPr>
            <a:spLocks noGrp="1"/>
          </p:cNvSpPr>
          <p:nvPr>
            <p:ph type="dt" sz="half" idx="10"/>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6850F96E-6F6D-4D0D-972E-D998A0AAFE20}" type="datetimeFigureOut">
              <a:rPr lang="id-ID"/>
              <a:pPr>
                <a:defRPr/>
              </a:pPr>
              <a:t>13/10/2015</a:t>
            </a:fld>
            <a:endParaRPr lang="id-ID"/>
          </a:p>
        </p:txBody>
      </p:sp>
      <p:sp>
        <p:nvSpPr>
          <p:cNvPr id="8" name="Footer Placeholder 7"/>
          <p:cNvSpPr>
            <a:spLocks noGrp="1"/>
          </p:cNvSpPr>
          <p:nvPr>
            <p:ph type="ftr" sz="quarter" idx="11"/>
          </p:nvPr>
        </p:nvSpPr>
        <p:spPr/>
        <p:txBody>
          <a:bodyPr/>
          <a:lstStyle>
            <a:lvl1pPr fontAlgn="base">
              <a:spcBef>
                <a:spcPct val="0"/>
              </a:spcBef>
              <a:spcAft>
                <a:spcPct val="0"/>
              </a:spcAft>
              <a:defRPr>
                <a:latin typeface="Calibri" pitchFamily="34" charset="0"/>
                <a:ea typeface="MS PGothic" pitchFamily="34" charset="-128"/>
              </a:defRPr>
            </a:lvl1pPr>
          </a:lstStyle>
          <a:p>
            <a:pPr>
              <a:defRPr/>
            </a:pPr>
            <a:endParaRPr lang="id-ID"/>
          </a:p>
        </p:txBody>
      </p:sp>
      <p:sp>
        <p:nvSpPr>
          <p:cNvPr id="9" name="Slide Number Placeholder 8"/>
          <p:cNvSpPr>
            <a:spLocks noGrp="1"/>
          </p:cNvSpPr>
          <p:nvPr>
            <p:ph type="sldNum" sz="quarter" idx="12"/>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6219D062-F4A9-4BE8-8E0A-58D148CD0759}" type="slidenum">
              <a:rPr lang="id-ID"/>
              <a:pPr>
                <a:defRPr/>
              </a:pPr>
              <a:t>‹#›</a:t>
            </a:fld>
            <a:endParaRPr lang="id-ID"/>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5765" y="40342"/>
            <a:ext cx="8074116" cy="578224"/>
          </a:xfrm>
        </p:spPr>
        <p:txBody>
          <a:bodyPr/>
          <a:lstStyle>
            <a:lvl1pPr>
              <a:defRPr>
                <a:solidFill>
                  <a:schemeClr val="tx1"/>
                </a:solidFill>
              </a:defRPr>
            </a:lvl1pPr>
          </a:lstStyle>
          <a:p>
            <a:r>
              <a:rPr lang="en-US" smtClean="0"/>
              <a:t>Click to edit Master title style</a:t>
            </a:r>
            <a:endParaRPr lang="id-ID"/>
          </a:p>
        </p:txBody>
      </p:sp>
      <p:sp>
        <p:nvSpPr>
          <p:cNvPr id="6" name="Content Placeholder 2"/>
          <p:cNvSpPr>
            <a:spLocks noGrp="1"/>
          </p:cNvSpPr>
          <p:nvPr>
            <p:ph idx="1"/>
          </p:nvPr>
        </p:nvSpPr>
        <p:spPr>
          <a:xfrm>
            <a:off x="887506" y="739588"/>
            <a:ext cx="7799294" cy="538657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2"/>
          <p:cNvSpPr>
            <a:spLocks noGrp="1"/>
          </p:cNvSpPr>
          <p:nvPr>
            <p:ph type="dt" sz="half" idx="10"/>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6850F96E-6F6D-4D0D-972E-D998A0AAFE20}" type="datetimeFigureOut">
              <a:rPr lang="id-ID"/>
              <a:pPr>
                <a:defRPr/>
              </a:pPr>
              <a:t>13/10/2015</a:t>
            </a:fld>
            <a:endParaRPr lang="id-ID"/>
          </a:p>
        </p:txBody>
      </p:sp>
      <p:sp>
        <p:nvSpPr>
          <p:cNvPr id="5" name="Footer Placeholder 3"/>
          <p:cNvSpPr>
            <a:spLocks noGrp="1"/>
          </p:cNvSpPr>
          <p:nvPr>
            <p:ph type="ftr" sz="quarter" idx="11"/>
          </p:nvPr>
        </p:nvSpPr>
        <p:spPr/>
        <p:txBody>
          <a:bodyPr/>
          <a:lstStyle>
            <a:lvl1pPr fontAlgn="base">
              <a:spcBef>
                <a:spcPct val="0"/>
              </a:spcBef>
              <a:spcAft>
                <a:spcPct val="0"/>
              </a:spcAft>
              <a:defRPr>
                <a:latin typeface="Calibri" pitchFamily="34" charset="0"/>
                <a:ea typeface="MS PGothic" pitchFamily="34" charset="-128"/>
              </a:defRPr>
            </a:lvl1pPr>
          </a:lstStyle>
          <a:p>
            <a:pPr>
              <a:defRPr/>
            </a:pPr>
            <a:endParaRPr lang="id-ID"/>
          </a:p>
        </p:txBody>
      </p:sp>
      <p:sp>
        <p:nvSpPr>
          <p:cNvPr id="7" name="Slide Number Placeholder 4"/>
          <p:cNvSpPr>
            <a:spLocks noGrp="1"/>
          </p:cNvSpPr>
          <p:nvPr>
            <p:ph type="sldNum" sz="quarter" idx="12"/>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22E8635A-A86B-45E0-AA3A-D8050A756DE0}" type="slidenum">
              <a:rPr lang="id-ID"/>
              <a:pPr>
                <a:defRPr/>
              </a:pPr>
              <a:t>‹#›</a:t>
            </a:fld>
            <a:endParaRPr lang="id-ID"/>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887506" y="1102660"/>
            <a:ext cx="7799294" cy="502350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6" name="Title 1"/>
          <p:cNvSpPr>
            <a:spLocks noGrp="1"/>
          </p:cNvSpPr>
          <p:nvPr>
            <p:ph type="title"/>
          </p:nvPr>
        </p:nvSpPr>
        <p:spPr>
          <a:xfrm>
            <a:off x="1075765" y="40342"/>
            <a:ext cx="8074116" cy="578224"/>
          </a:xfrm>
        </p:spPr>
        <p:txBody>
          <a:bodyPr/>
          <a:lstStyle>
            <a:lvl1pPr>
              <a:defRPr>
                <a:solidFill>
                  <a:schemeClr val="bg1"/>
                </a:solidFill>
              </a:defRPr>
            </a:lvl1pPr>
          </a:lstStyle>
          <a:p>
            <a:r>
              <a:rPr lang="en-US" smtClean="0"/>
              <a:t>Click to edit Master title style</a:t>
            </a:r>
            <a:endParaRPr lang="id-ID"/>
          </a:p>
        </p:txBody>
      </p:sp>
      <p:sp>
        <p:nvSpPr>
          <p:cNvPr id="4" name="Date Placeholder 1"/>
          <p:cNvSpPr>
            <a:spLocks noGrp="1"/>
          </p:cNvSpPr>
          <p:nvPr>
            <p:ph type="dt" sz="half" idx="10"/>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6850F96E-6F6D-4D0D-972E-D998A0AAFE20}" type="datetimeFigureOut">
              <a:rPr lang="id-ID"/>
              <a:pPr>
                <a:defRPr/>
              </a:pPr>
              <a:t>13/10/2015</a:t>
            </a:fld>
            <a:endParaRPr lang="id-ID"/>
          </a:p>
        </p:txBody>
      </p:sp>
      <p:sp>
        <p:nvSpPr>
          <p:cNvPr id="7" name="Footer Placeholder 2"/>
          <p:cNvSpPr>
            <a:spLocks noGrp="1"/>
          </p:cNvSpPr>
          <p:nvPr>
            <p:ph type="ftr" sz="quarter" idx="11"/>
          </p:nvPr>
        </p:nvSpPr>
        <p:spPr/>
        <p:txBody>
          <a:bodyPr/>
          <a:lstStyle>
            <a:lvl1pPr fontAlgn="base">
              <a:spcBef>
                <a:spcPct val="0"/>
              </a:spcBef>
              <a:spcAft>
                <a:spcPct val="0"/>
              </a:spcAft>
              <a:defRPr>
                <a:latin typeface="Calibri" pitchFamily="34" charset="0"/>
                <a:ea typeface="MS PGothic" pitchFamily="34" charset="-128"/>
              </a:defRPr>
            </a:lvl1pPr>
          </a:lstStyle>
          <a:p>
            <a:pPr>
              <a:defRPr/>
            </a:pPr>
            <a:endParaRPr lang="id-ID"/>
          </a:p>
        </p:txBody>
      </p:sp>
      <p:sp>
        <p:nvSpPr>
          <p:cNvPr id="8" name="Slide Number Placeholder 3"/>
          <p:cNvSpPr>
            <a:spLocks noGrp="1"/>
          </p:cNvSpPr>
          <p:nvPr>
            <p:ph type="sldNum" sz="quarter" idx="12"/>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3B981A04-49C2-4AFF-9BD0-361B6CCD9A7E}" type="slidenum">
              <a:rPr lang="id-ID"/>
              <a:pPr>
                <a:defRPr/>
              </a:pPr>
              <a:t>‹#›</a:t>
            </a:fld>
            <a:endParaRPr lang="id-ID"/>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7506" y="714356"/>
            <a:ext cx="2578007" cy="720744"/>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Content Placeholder 2"/>
          <p:cNvSpPr>
            <a:spLocks noGrp="1"/>
          </p:cNvSpPr>
          <p:nvPr>
            <p:ph idx="1"/>
          </p:nvPr>
        </p:nvSpPr>
        <p:spPr>
          <a:xfrm>
            <a:off x="3575050" y="712694"/>
            <a:ext cx="5111750" cy="54134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Text Placeholder 3"/>
          <p:cNvSpPr>
            <a:spLocks noGrp="1"/>
          </p:cNvSpPr>
          <p:nvPr>
            <p:ph type="body" sz="half" idx="2"/>
          </p:nvPr>
        </p:nvSpPr>
        <p:spPr>
          <a:xfrm>
            <a:off x="887506" y="1435100"/>
            <a:ext cx="257800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6850F96E-6F6D-4D0D-972E-D998A0AAFE20}" type="datetimeFigureOut">
              <a:rPr lang="id-ID"/>
              <a:pPr>
                <a:defRPr/>
              </a:pPr>
              <a:t>13/10/2015</a:t>
            </a:fld>
            <a:endParaRPr lang="id-ID"/>
          </a:p>
        </p:txBody>
      </p:sp>
      <p:sp>
        <p:nvSpPr>
          <p:cNvPr id="6" name="Footer Placeholder 5"/>
          <p:cNvSpPr>
            <a:spLocks noGrp="1"/>
          </p:cNvSpPr>
          <p:nvPr>
            <p:ph type="ftr" sz="quarter" idx="11"/>
          </p:nvPr>
        </p:nvSpPr>
        <p:spPr/>
        <p:txBody>
          <a:bodyPr/>
          <a:lstStyle>
            <a:lvl1pPr fontAlgn="base">
              <a:spcBef>
                <a:spcPct val="0"/>
              </a:spcBef>
              <a:spcAft>
                <a:spcPct val="0"/>
              </a:spcAft>
              <a:defRPr>
                <a:latin typeface="Calibri" pitchFamily="34" charset="0"/>
                <a:ea typeface="MS PGothic" pitchFamily="34" charset="-128"/>
              </a:defRPr>
            </a:lvl1pPr>
          </a:lstStyle>
          <a:p>
            <a:pPr>
              <a:defRPr/>
            </a:pPr>
            <a:endParaRPr lang="id-ID"/>
          </a:p>
        </p:txBody>
      </p:sp>
      <p:sp>
        <p:nvSpPr>
          <p:cNvPr id="7" name="Slide Number Placeholder 6"/>
          <p:cNvSpPr>
            <a:spLocks noGrp="1"/>
          </p:cNvSpPr>
          <p:nvPr>
            <p:ph type="sldNum" sz="quarter" idx="12"/>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722CD4B6-D4BB-45ED-895F-9C4204E1E8CA}" type="slidenum">
              <a:rPr lang="id-ID"/>
              <a:pPr>
                <a:defRPr/>
              </a:pPr>
              <a:t>‹#›</a:t>
            </a:fld>
            <a:endParaRPr lang="id-ID"/>
          </a:p>
        </p:txBody>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Picture Placeholder 2"/>
          <p:cNvSpPr>
            <a:spLocks noGrp="1"/>
          </p:cNvSpPr>
          <p:nvPr>
            <p:ph type="pic" idx="1"/>
          </p:nvPr>
        </p:nvSpPr>
        <p:spPr>
          <a:xfrm>
            <a:off x="1792288" y="726141"/>
            <a:ext cx="5486400" cy="4001434"/>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d-ID"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6850F96E-6F6D-4D0D-972E-D998A0AAFE20}" type="datetimeFigureOut">
              <a:rPr lang="id-ID"/>
              <a:pPr>
                <a:defRPr/>
              </a:pPr>
              <a:t>13/10/2015</a:t>
            </a:fld>
            <a:endParaRPr lang="id-ID"/>
          </a:p>
        </p:txBody>
      </p:sp>
      <p:sp>
        <p:nvSpPr>
          <p:cNvPr id="6" name="Footer Placeholder 5"/>
          <p:cNvSpPr>
            <a:spLocks noGrp="1"/>
          </p:cNvSpPr>
          <p:nvPr>
            <p:ph type="ftr" sz="quarter" idx="11"/>
          </p:nvPr>
        </p:nvSpPr>
        <p:spPr/>
        <p:txBody>
          <a:bodyPr/>
          <a:lstStyle>
            <a:lvl1pPr fontAlgn="base">
              <a:spcBef>
                <a:spcPct val="0"/>
              </a:spcBef>
              <a:spcAft>
                <a:spcPct val="0"/>
              </a:spcAft>
              <a:defRPr>
                <a:latin typeface="Calibri" pitchFamily="34" charset="0"/>
                <a:ea typeface="MS PGothic" pitchFamily="34" charset="-128"/>
              </a:defRPr>
            </a:lvl1pPr>
          </a:lstStyle>
          <a:p>
            <a:pPr>
              <a:defRPr/>
            </a:pPr>
            <a:endParaRPr lang="id-ID"/>
          </a:p>
        </p:txBody>
      </p:sp>
      <p:sp>
        <p:nvSpPr>
          <p:cNvPr id="7" name="Slide Number Placeholder 6"/>
          <p:cNvSpPr>
            <a:spLocks noGrp="1"/>
          </p:cNvSpPr>
          <p:nvPr>
            <p:ph type="sldNum" sz="quarter" idx="12"/>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394D815B-4808-436E-B464-033EA54B0CAA}" type="slidenum">
              <a:rPr lang="id-ID"/>
              <a:pPr>
                <a:defRPr/>
              </a:pPr>
              <a:t>‹#›</a:t>
            </a:fld>
            <a:endParaRPr lang="id-ID"/>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6850F96E-6F6D-4D0D-972E-D998A0AAFE20}" type="datetimeFigureOut">
              <a:rPr lang="id-ID"/>
              <a:pPr>
                <a:defRPr/>
              </a:pPr>
              <a:t>13/10/2015</a:t>
            </a:fld>
            <a:endParaRPr lang="id-ID"/>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Calibri" pitchFamily="34" charset="0"/>
                <a:ea typeface="MS PGothic" pitchFamily="34" charset="-128"/>
              </a:defRPr>
            </a:lvl1pPr>
          </a:lstStyle>
          <a:p>
            <a:pPr>
              <a:defRPr/>
            </a:pPr>
            <a:endParaRPr lang="id-ID"/>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94CF2D60-B221-4E0B-89C1-0A447F64AEDF}" type="slidenum">
              <a:rPr lang="id-ID"/>
              <a:pPr>
                <a:defRPr/>
              </a:pPr>
              <a:t>‹#›</a:t>
            </a:fld>
            <a:endParaRPr lang="id-ID"/>
          </a:p>
        </p:txBody>
      </p:sp>
    </p:spTree>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6850F96E-6F6D-4D0D-972E-D998A0AAFE20}" type="datetimeFigureOut">
              <a:rPr lang="id-ID"/>
              <a:pPr>
                <a:defRPr/>
              </a:pPr>
              <a:t>13/10/2015</a:t>
            </a:fld>
            <a:endParaRPr lang="id-ID"/>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Calibri" pitchFamily="34" charset="0"/>
                <a:ea typeface="MS PGothic" pitchFamily="34" charset="-128"/>
              </a:defRPr>
            </a:lvl1pPr>
          </a:lstStyle>
          <a:p>
            <a:pPr>
              <a:defRPr/>
            </a:pPr>
            <a:endParaRPr lang="id-ID"/>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Calibri" pitchFamily="34" charset="0"/>
                <a:ea typeface="MS PGothic" pitchFamily="34" charset="-128"/>
              </a:defRPr>
            </a:lvl1pPr>
          </a:lstStyle>
          <a:p>
            <a:pPr>
              <a:defRPr/>
            </a:pPr>
            <a:fld id="{5D2A36B6-3CE6-48BE-863E-69D604296FA9}" type="slidenum">
              <a:rPr lang="id-ID"/>
              <a:pPr>
                <a:defRPr/>
              </a:pPr>
              <a:t>‹#›</a:t>
            </a:fld>
            <a:endParaRPr lang="id-ID"/>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wrap="square" lIns="91440" tIns="45720" rIns="91440" bIns="45720" numCol="1" anchor="ctr" anchorCtr="0" compatLnSpc="1">
            <a:prstTxWarp prst="textNoShape">
              <a:avLst/>
            </a:prstTxWarp>
            <a:noAutofit/>
          </a:bodyPr>
          <a:lstStyle/>
          <a:p>
            <a:pPr lvl="0"/>
            <a:r>
              <a:rPr lang="en-US" smtClean="0"/>
              <a:t>Click to edit Master title style</a:t>
            </a:r>
            <a:endParaRPr lang="id-ID" smtClean="0"/>
          </a:p>
        </p:txBody>
      </p:sp>
      <p:sp>
        <p:nvSpPr>
          <p:cNvPr id="1027" name="Text Placeholder 2"/>
          <p:cNvSpPr>
            <a:spLocks noGrp="1"/>
          </p:cNvSpPr>
          <p:nvPr>
            <p:ph type="body" idx="1"/>
          </p:nvPr>
        </p:nvSpPr>
        <p:spPr bwMode="auto">
          <a:xfrm>
            <a:off x="539750" y="620713"/>
            <a:ext cx="8574088" cy="57610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fld id="{1425F62C-C8F3-47F4-9F04-A9C201AE5FB9}" type="datetime1">
              <a:rPr lang="id-ID"/>
              <a:pPr>
                <a:defRPr/>
              </a:pPr>
              <a:t>13/10/2015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FC3EED38-F938-48CE-8C0E-B19939BA5A16}" type="slidenum">
              <a:rPr lang="id-ID"/>
              <a:pPr>
                <a:defRPr/>
              </a:pPr>
              <a:t>‹#›</a:t>
            </a:fld>
            <a:endParaRPr lang="id-ID"/>
          </a:p>
        </p:txBody>
      </p:sp>
      <p:sp>
        <p:nvSpPr>
          <p:cNvPr id="14343" name="Slide Number Placeholder 3"/>
          <p:cNvSpPr txBox="1">
            <a:spLocks noGrp="1"/>
          </p:cNvSpPr>
          <p:nvPr userDrawn="1"/>
        </p:nvSpPr>
        <p:spPr bwMode="auto">
          <a:xfrm>
            <a:off x="8459788" y="6381750"/>
            <a:ext cx="593725" cy="379413"/>
          </a:xfrm>
          <a:prstGeom prst="rect">
            <a:avLst/>
          </a:prstGeom>
          <a:noFill/>
          <a:ln w="9525">
            <a:noFill/>
            <a:miter lim="800000"/>
            <a:headEnd/>
            <a:tailEnd/>
          </a:ln>
        </p:spPr>
        <p:txBody>
          <a:bodyPr/>
          <a:lstStyle/>
          <a:p>
            <a:pPr algn="r">
              <a:defRPr/>
            </a:pPr>
            <a:fld id="{FB0E4AEE-2654-4D29-954D-9C52BB2B07FD}"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sldLayoutIdLst>
    <p:sldLayoutId id="2147483730" r:id="rId1"/>
    <p:sldLayoutId id="2147483729" r:id="rId2"/>
    <p:sldLayoutId id="2147483728" r:id="rId3"/>
    <p:sldLayoutId id="2147483731" r:id="rId4"/>
    <p:sldLayoutId id="2147483727" r:id="rId5"/>
    <p:sldLayoutId id="2147483732" r:id="rId6"/>
    <p:sldLayoutId id="2147483733" r:id="rId7"/>
    <p:sldLayoutId id="2147483726" r:id="rId8"/>
    <p:sldLayoutId id="2147483725" r:id="rId9"/>
    <p:sldLayoutId id="2147483724" r:id="rId10"/>
    <p:sldLayoutId id="2147483723" r:id="rId11"/>
    <p:sldLayoutId id="2147483734" r:id="rId12"/>
  </p:sldLayoutIdLst>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S PGothic" pitchFamily="34" charset="-128"/>
          <a:cs typeface="+mj-cs"/>
        </a:defRPr>
      </a:lvl1pPr>
      <a:lvl2pPr algn="l" rtl="0" eaLnBrk="0" fontAlgn="base" hangingPunct="0">
        <a:spcBef>
          <a:spcPct val="0"/>
        </a:spcBef>
        <a:spcAft>
          <a:spcPct val="0"/>
        </a:spcAft>
        <a:defRPr sz="3200" b="1">
          <a:solidFill>
            <a:schemeClr val="bg1"/>
          </a:solidFill>
          <a:latin typeface="Calibri" pitchFamily="34" charset="0"/>
          <a:ea typeface="MS PGothic" pitchFamily="34" charset="-128"/>
        </a:defRPr>
      </a:lvl2pPr>
      <a:lvl3pPr algn="l" rtl="0" eaLnBrk="0" fontAlgn="base" hangingPunct="0">
        <a:spcBef>
          <a:spcPct val="0"/>
        </a:spcBef>
        <a:spcAft>
          <a:spcPct val="0"/>
        </a:spcAft>
        <a:defRPr sz="3200" b="1">
          <a:solidFill>
            <a:schemeClr val="bg1"/>
          </a:solidFill>
          <a:latin typeface="Calibri" pitchFamily="34" charset="0"/>
          <a:ea typeface="MS PGothic" pitchFamily="34" charset="-128"/>
        </a:defRPr>
      </a:lvl3pPr>
      <a:lvl4pPr algn="l" rtl="0" eaLnBrk="0" fontAlgn="base" hangingPunct="0">
        <a:spcBef>
          <a:spcPct val="0"/>
        </a:spcBef>
        <a:spcAft>
          <a:spcPct val="0"/>
        </a:spcAft>
        <a:defRPr sz="3200" b="1">
          <a:solidFill>
            <a:schemeClr val="bg1"/>
          </a:solidFill>
          <a:latin typeface="Calibri" pitchFamily="34" charset="0"/>
          <a:ea typeface="MS PGothic" pitchFamily="34" charset="-128"/>
        </a:defRPr>
      </a:lvl4pPr>
      <a:lvl5pPr algn="l" rtl="0" eaLnBrk="0" fontAlgn="base" hangingPunct="0">
        <a:spcBef>
          <a:spcPct val="0"/>
        </a:spcBef>
        <a:spcAft>
          <a:spcPct val="0"/>
        </a:spcAft>
        <a:defRPr sz="3200" b="1">
          <a:solidFill>
            <a:schemeClr val="bg1"/>
          </a:solidFill>
          <a:latin typeface="Calibri" pitchFamily="34" charset="0"/>
          <a:ea typeface="MS PGothic" pitchFamily="34" charset="-128"/>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ü"/>
        <a:defRPr sz="23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lIns="91440" tIns="45720" rIns="91440" bIns="45720" rtlCol="0" anchor="ctr">
            <a:noAutofit/>
          </a:bodyPr>
          <a:lstStyle/>
          <a:p>
            <a:r>
              <a:rPr lang="en-US" smtClean="0"/>
              <a:t>Click to edit Master title style</a:t>
            </a:r>
            <a:endParaRPr lang="id-ID"/>
          </a:p>
        </p:txBody>
      </p:sp>
      <p:sp>
        <p:nvSpPr>
          <p:cNvPr id="14339" name="Text Placeholder 2"/>
          <p:cNvSpPr>
            <a:spLocks noGrp="1"/>
          </p:cNvSpPr>
          <p:nvPr>
            <p:ph type="body" idx="1"/>
          </p:nvPr>
        </p:nvSpPr>
        <p:spPr bwMode="auto">
          <a:xfrm>
            <a:off x="539750" y="620713"/>
            <a:ext cx="8604250" cy="57610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Calibri"/>
                <a:ea typeface="+mn-ea"/>
              </a:defRPr>
            </a:lvl1pPr>
          </a:lstStyle>
          <a:p>
            <a:pPr>
              <a:defRPr/>
            </a:pPr>
            <a:fld id="{6850F96E-6F6D-4D0D-972E-D998A0AAFE20}" type="datetimeFigureOut">
              <a:rPr lang="id-ID"/>
              <a:pPr>
                <a:defRPr/>
              </a:pPr>
              <a:t>13/10/2015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Calibri"/>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Calibri"/>
                <a:ea typeface="+mn-ea"/>
              </a:defRPr>
            </a:lvl1pPr>
          </a:lstStyle>
          <a:p>
            <a:pPr>
              <a:defRPr/>
            </a:pPr>
            <a:fld id="{9EA9B1F7-7B19-4CCE-A4A1-A44E544A8D73}" type="slidenum">
              <a:rPr lang="id-ID"/>
              <a:pPr>
                <a:defRPr/>
              </a:pPr>
              <a:t>‹#›</a:t>
            </a:fld>
            <a:endParaRPr lang="id-ID"/>
          </a:p>
        </p:txBody>
      </p:sp>
      <p:sp>
        <p:nvSpPr>
          <p:cNvPr id="14343" name="Slide Number Placeholder 3"/>
          <p:cNvSpPr txBox="1">
            <a:spLocks noGrp="1"/>
          </p:cNvSpPr>
          <p:nvPr userDrawn="1"/>
        </p:nvSpPr>
        <p:spPr bwMode="auto">
          <a:xfrm>
            <a:off x="8459788" y="6381750"/>
            <a:ext cx="593725" cy="379413"/>
          </a:xfrm>
          <a:prstGeom prst="rect">
            <a:avLst/>
          </a:prstGeom>
          <a:noFill/>
          <a:ln w="9525">
            <a:noFill/>
            <a:miter lim="800000"/>
            <a:headEnd/>
            <a:tailEnd/>
          </a:ln>
        </p:spPr>
        <p:txBody>
          <a:bodyPr/>
          <a:lstStyle/>
          <a:p>
            <a:pPr algn="r">
              <a:defRPr/>
            </a:pPr>
            <a:fld id="{CE9C5000-9A21-481C-B584-2889527FFC7B}"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Wingdings" pitchFamily="2" charset="2"/>
        <a:buChar char="ü"/>
        <a:defRPr sz="23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7" name="Subtitle 16"/>
          <p:cNvSpPr>
            <a:spLocks noGrp="1"/>
          </p:cNvSpPr>
          <p:nvPr>
            <p:ph type="subTitle" idx="1"/>
          </p:nvPr>
        </p:nvSpPr>
        <p:spPr>
          <a:xfrm>
            <a:off x="2286000" y="5500688"/>
            <a:ext cx="6700838" cy="642937"/>
          </a:xfrm>
        </p:spPr>
        <p:txBody>
          <a:bodyPr rtlCol="0"/>
          <a:lstStyle/>
          <a:p>
            <a:pPr eaLnBrk="1" fontAlgn="auto" hangingPunct="1">
              <a:spcAft>
                <a:spcPts val="0"/>
              </a:spcAft>
              <a:buFont typeface="Arial" pitchFamily="34" charset="0"/>
              <a:buNone/>
              <a:defRPr/>
            </a:pPr>
            <a:r>
              <a:rPr lang="en-US" dirty="0" smtClean="0">
                <a:solidFill>
                  <a:schemeClr val="bg1"/>
                </a:solidFill>
                <a:ea typeface="+mn-ea"/>
              </a:rPr>
              <a:t>Supply and Demand</a:t>
            </a:r>
            <a:endParaRPr lang="id-ID" dirty="0">
              <a:solidFill>
                <a:schemeClr val="bg1"/>
              </a:solidFill>
              <a:ea typeface="+mn-ea"/>
            </a:endParaRPr>
          </a:p>
        </p:txBody>
      </p:sp>
      <p:sp>
        <p:nvSpPr>
          <p:cNvPr id="4" name="Title 3"/>
          <p:cNvSpPr>
            <a:spLocks noGrp="1"/>
          </p:cNvSpPr>
          <p:nvPr>
            <p:ph type="ctrTitle"/>
          </p:nvPr>
        </p:nvSpPr>
        <p:spPr>
          <a:xfrm>
            <a:off x="3201988" y="4965700"/>
            <a:ext cx="5786437" cy="534988"/>
          </a:xfrm>
        </p:spPr>
        <p:txBody>
          <a:bodyPr/>
          <a:lstStyle/>
          <a:p>
            <a:pPr>
              <a:defRPr/>
            </a:pPr>
            <a:r>
              <a:rPr lang="en-US" dirty="0" smtClean="0"/>
              <a:t>Chapter 3</a:t>
            </a:r>
            <a:endParaRPr lang="en-US" dirty="0"/>
          </a:p>
        </p:txBody>
      </p:sp>
      <p:sp>
        <p:nvSpPr>
          <p:cNvPr id="5" name="Content Placeholder 7"/>
          <p:cNvSpPr txBox="1">
            <a:spLocks/>
          </p:cNvSpPr>
          <p:nvPr/>
        </p:nvSpPr>
        <p:spPr>
          <a:xfrm>
            <a:off x="4435475" y="-1588"/>
            <a:ext cx="4708525" cy="4114801"/>
          </a:xfrm>
          <a:prstGeom prst="rect">
            <a:avLst/>
          </a:prstGeom>
          <a:solidFill>
            <a:schemeClr val="accent4">
              <a:lumMod val="75000"/>
            </a:schemeClr>
          </a:solidFill>
        </p:spPr>
        <p:txBody>
          <a:bodyPr/>
          <a:lstStyle/>
          <a:p>
            <a:pPr lvl="1" algn="r" eaLnBrk="0" hangingPunct="0">
              <a:spcBef>
                <a:spcPct val="20000"/>
              </a:spcBef>
              <a:buFont typeface="Wingdings" pitchFamily="2" charset="2"/>
              <a:buNone/>
              <a:defRPr/>
            </a:pPr>
            <a:r>
              <a:rPr lang="en-US" sz="3200">
                <a:solidFill>
                  <a:srgbClr val="F79646"/>
                </a:solidFill>
              </a:rPr>
              <a:t>THIRD EDITION</a:t>
            </a:r>
          </a:p>
          <a:p>
            <a:pPr lvl="1" algn="r" eaLnBrk="0" hangingPunct="0">
              <a:spcBef>
                <a:spcPct val="20000"/>
              </a:spcBef>
              <a:buFont typeface="Wingdings" pitchFamily="2" charset="2"/>
              <a:buNone/>
              <a:defRPr/>
            </a:pPr>
            <a:endParaRPr lang="en-US" sz="3200" b="1">
              <a:solidFill>
                <a:schemeClr val="bg1"/>
              </a:solidFill>
            </a:endParaRPr>
          </a:p>
          <a:p>
            <a:pPr lvl="1" algn="r" eaLnBrk="0" hangingPunct="0">
              <a:spcBef>
                <a:spcPct val="20000"/>
              </a:spcBef>
              <a:buFont typeface="Wingdings" pitchFamily="2" charset="2"/>
              <a:buNone/>
              <a:defRPr/>
            </a:pPr>
            <a:r>
              <a:rPr lang="en-US" sz="3800" b="1">
                <a:solidFill>
                  <a:schemeClr val="bg1"/>
                </a:solidFill>
                <a:effectLst>
                  <a:outerShdw blurRad="38100" dist="38100" dir="2700000" algn="tl">
                    <a:srgbClr val="000000"/>
                  </a:outerShdw>
                </a:effectLst>
              </a:rPr>
              <a:t>MICROECONOMICS</a:t>
            </a:r>
            <a:r>
              <a:rPr lang="en-US" sz="3900" b="1">
                <a:solidFill>
                  <a:schemeClr val="bg1"/>
                </a:solidFill>
                <a:effectLst>
                  <a:outerShdw blurRad="38100" dist="38100" dir="2700000" algn="tl">
                    <a:srgbClr val="000000"/>
                  </a:outerShdw>
                </a:effectLst>
              </a:rPr>
              <a:t/>
            </a:r>
            <a:br>
              <a:rPr lang="en-US" sz="3900" b="1">
                <a:solidFill>
                  <a:schemeClr val="bg1"/>
                </a:solidFill>
                <a:effectLst>
                  <a:outerShdw blurRad="38100" dist="38100" dir="2700000" algn="tl">
                    <a:srgbClr val="000000"/>
                  </a:outerShdw>
                </a:effectLst>
              </a:rPr>
            </a:br>
            <a:r>
              <a:rPr lang="en-US" sz="2400">
                <a:solidFill>
                  <a:schemeClr val="bg1"/>
                </a:solidFill>
              </a:rPr>
              <a:t>Paul Krugman | Robin Wells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Rot="1" noChangeArrowheads="1"/>
          </p:cNvSpPr>
          <p:nvPr>
            <p:ph type="title"/>
          </p:nvPr>
        </p:nvSpPr>
        <p:spPr>
          <a:xfrm>
            <a:off x="900113" y="60325"/>
            <a:ext cx="7993062" cy="555625"/>
          </a:xfrm>
        </p:spPr>
        <p:txBody>
          <a:bodyPr/>
          <a:lstStyle/>
          <a:p>
            <a:pPr>
              <a:defRPr/>
            </a:pPr>
            <a:r>
              <a:rPr lang="en-US" dirty="0"/>
              <a:t>Supply and Demand</a:t>
            </a:r>
          </a:p>
        </p:txBody>
      </p:sp>
      <p:sp>
        <p:nvSpPr>
          <p:cNvPr id="228355" name="Rectangle 3"/>
          <p:cNvSpPr>
            <a:spLocks noGrp="1" noChangeArrowheads="1"/>
          </p:cNvSpPr>
          <p:nvPr>
            <p:ph type="body" idx="1"/>
          </p:nvPr>
        </p:nvSpPr>
        <p:spPr>
          <a:xfrm>
            <a:off x="620588" y="898674"/>
            <a:ext cx="8343900" cy="5554662"/>
          </a:xfrm>
        </p:spPr>
        <p:txBody>
          <a:bodyPr/>
          <a:lstStyle/>
          <a:p>
            <a:r>
              <a:rPr lang="en-US" dirty="0" smtClean="0"/>
              <a:t>A </a:t>
            </a:r>
            <a:r>
              <a:rPr lang="en-US" b="1" dirty="0" smtClean="0"/>
              <a:t>competitive market</a:t>
            </a:r>
            <a:r>
              <a:rPr lang="en-US" dirty="0" smtClean="0"/>
              <a:t> is one with: </a:t>
            </a:r>
            <a:endParaRPr lang="en-US" u="sng" dirty="0" smtClean="0"/>
          </a:p>
          <a:p>
            <a:pPr lvl="1"/>
            <a:r>
              <a:rPr lang="en-US" i="1" dirty="0" smtClean="0"/>
              <a:t>Many</a:t>
            </a:r>
            <a:r>
              <a:rPr lang="en-US" dirty="0" smtClean="0"/>
              <a:t> buyers and sellers </a:t>
            </a:r>
            <a:endParaRPr lang="en-US" u="sng" dirty="0" smtClean="0"/>
          </a:p>
          <a:p>
            <a:pPr lvl="1"/>
            <a:r>
              <a:rPr lang="en-US" i="1" dirty="0" smtClean="0"/>
              <a:t>Same</a:t>
            </a:r>
            <a:r>
              <a:rPr lang="en-US" dirty="0" smtClean="0"/>
              <a:t> good or service</a:t>
            </a:r>
          </a:p>
          <a:p>
            <a:pPr lvl="5"/>
            <a:endParaRPr lang="en-US" dirty="0" smtClean="0"/>
          </a:p>
          <a:p>
            <a:r>
              <a:rPr lang="en-US" dirty="0" smtClean="0"/>
              <a:t>The </a:t>
            </a:r>
            <a:r>
              <a:rPr lang="en-US" b="1" dirty="0" smtClean="0"/>
              <a:t>supply and demand</a:t>
            </a:r>
            <a:r>
              <a:rPr lang="en-US" dirty="0" smtClean="0"/>
              <a:t> </a:t>
            </a:r>
            <a:r>
              <a:rPr lang="en-US" b="1" dirty="0" smtClean="0"/>
              <a:t>model</a:t>
            </a:r>
            <a:r>
              <a:rPr lang="en-US" dirty="0" smtClean="0"/>
              <a:t> is a model of how a competitive market works. </a:t>
            </a:r>
          </a:p>
          <a:p>
            <a:pPr lvl="5"/>
            <a:endParaRPr lang="en-US" dirty="0" smtClean="0"/>
          </a:p>
          <a:p>
            <a:r>
              <a:rPr lang="en-US" dirty="0" smtClean="0"/>
              <a:t>Five key elements:</a:t>
            </a:r>
          </a:p>
          <a:p>
            <a:pPr lvl="1"/>
            <a:r>
              <a:rPr lang="en-US" dirty="0" smtClean="0"/>
              <a:t>Demand curve</a:t>
            </a:r>
          </a:p>
          <a:p>
            <a:pPr lvl="1"/>
            <a:r>
              <a:rPr lang="en-US" dirty="0" smtClean="0"/>
              <a:t>Supply curve</a:t>
            </a:r>
          </a:p>
          <a:p>
            <a:pPr lvl="1"/>
            <a:r>
              <a:rPr lang="en-US" dirty="0" smtClean="0"/>
              <a:t>Demand and supply curve shifts</a:t>
            </a:r>
          </a:p>
          <a:p>
            <a:pPr lvl="1"/>
            <a:r>
              <a:rPr lang="en-US" dirty="0" smtClean="0"/>
              <a:t>Market equilibrium</a:t>
            </a:r>
          </a:p>
          <a:p>
            <a:pPr lvl="1"/>
            <a:r>
              <a:rPr lang="en-US" dirty="0" smtClean="0"/>
              <a:t>Changes in the market equilibrium</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8355">
                                            <p:txEl>
                                              <p:pRg st="0" end="0"/>
                                            </p:txEl>
                                          </p:spTgt>
                                        </p:tgtEl>
                                        <p:attrNameLst>
                                          <p:attrName>style.visibility</p:attrName>
                                        </p:attrNameLst>
                                      </p:cBhvr>
                                      <p:to>
                                        <p:strVal val="visible"/>
                                      </p:to>
                                    </p:set>
                                    <p:animEffect transition="in" filter="fade">
                                      <p:cBhvr>
                                        <p:cTn id="7" dur="500"/>
                                        <p:tgtEl>
                                          <p:spTgt spid="22835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8355">
                                            <p:txEl>
                                              <p:pRg st="1" end="1"/>
                                            </p:txEl>
                                          </p:spTgt>
                                        </p:tgtEl>
                                        <p:attrNameLst>
                                          <p:attrName>style.visibility</p:attrName>
                                        </p:attrNameLst>
                                      </p:cBhvr>
                                      <p:to>
                                        <p:strVal val="visible"/>
                                      </p:to>
                                    </p:set>
                                    <p:animEffect transition="in" filter="fade">
                                      <p:cBhvr>
                                        <p:cTn id="10" dur="500"/>
                                        <p:tgtEl>
                                          <p:spTgt spid="22835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8355">
                                            <p:txEl>
                                              <p:pRg st="2" end="2"/>
                                            </p:txEl>
                                          </p:spTgt>
                                        </p:tgtEl>
                                        <p:attrNameLst>
                                          <p:attrName>style.visibility</p:attrName>
                                        </p:attrNameLst>
                                      </p:cBhvr>
                                      <p:to>
                                        <p:strVal val="visible"/>
                                      </p:to>
                                    </p:set>
                                    <p:animEffect transition="in" filter="fade">
                                      <p:cBhvr>
                                        <p:cTn id="13" dur="500"/>
                                        <p:tgtEl>
                                          <p:spTgt spid="22835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28355">
                                            <p:txEl>
                                              <p:pRg st="4" end="4"/>
                                            </p:txEl>
                                          </p:spTgt>
                                        </p:tgtEl>
                                        <p:attrNameLst>
                                          <p:attrName>style.visibility</p:attrName>
                                        </p:attrNameLst>
                                      </p:cBhvr>
                                      <p:to>
                                        <p:strVal val="visible"/>
                                      </p:to>
                                    </p:set>
                                    <p:animEffect transition="in" filter="fade">
                                      <p:cBhvr>
                                        <p:cTn id="18" dur="500"/>
                                        <p:tgtEl>
                                          <p:spTgt spid="22835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8355">
                                            <p:txEl>
                                              <p:pRg st="6" end="6"/>
                                            </p:txEl>
                                          </p:spTgt>
                                        </p:tgtEl>
                                        <p:attrNameLst>
                                          <p:attrName>style.visibility</p:attrName>
                                        </p:attrNameLst>
                                      </p:cBhvr>
                                      <p:to>
                                        <p:strVal val="visible"/>
                                      </p:to>
                                    </p:set>
                                    <p:animEffect transition="in" filter="fade">
                                      <p:cBhvr>
                                        <p:cTn id="23" dur="500"/>
                                        <p:tgtEl>
                                          <p:spTgt spid="228355">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28355">
                                            <p:txEl>
                                              <p:pRg st="7" end="7"/>
                                            </p:txEl>
                                          </p:spTgt>
                                        </p:tgtEl>
                                        <p:attrNameLst>
                                          <p:attrName>style.visibility</p:attrName>
                                        </p:attrNameLst>
                                      </p:cBhvr>
                                      <p:to>
                                        <p:strVal val="visible"/>
                                      </p:to>
                                    </p:set>
                                    <p:animEffect transition="in" filter="fade">
                                      <p:cBhvr>
                                        <p:cTn id="26" dur="500"/>
                                        <p:tgtEl>
                                          <p:spTgt spid="228355">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8355">
                                            <p:txEl>
                                              <p:pRg st="8" end="8"/>
                                            </p:txEl>
                                          </p:spTgt>
                                        </p:tgtEl>
                                        <p:attrNameLst>
                                          <p:attrName>style.visibility</p:attrName>
                                        </p:attrNameLst>
                                      </p:cBhvr>
                                      <p:to>
                                        <p:strVal val="visible"/>
                                      </p:to>
                                    </p:set>
                                    <p:animEffect transition="in" filter="fade">
                                      <p:cBhvr>
                                        <p:cTn id="29" dur="500"/>
                                        <p:tgtEl>
                                          <p:spTgt spid="228355">
                                            <p:txEl>
                                              <p:pRg st="8" end="8"/>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8355">
                                            <p:txEl>
                                              <p:pRg st="9" end="9"/>
                                            </p:txEl>
                                          </p:spTgt>
                                        </p:tgtEl>
                                        <p:attrNameLst>
                                          <p:attrName>style.visibility</p:attrName>
                                        </p:attrNameLst>
                                      </p:cBhvr>
                                      <p:to>
                                        <p:strVal val="visible"/>
                                      </p:to>
                                    </p:set>
                                    <p:animEffect transition="in" filter="fade">
                                      <p:cBhvr>
                                        <p:cTn id="32" dur="500"/>
                                        <p:tgtEl>
                                          <p:spTgt spid="228355">
                                            <p:txEl>
                                              <p:pRg st="9" end="9"/>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8355">
                                            <p:txEl>
                                              <p:pRg st="10" end="10"/>
                                            </p:txEl>
                                          </p:spTgt>
                                        </p:tgtEl>
                                        <p:attrNameLst>
                                          <p:attrName>style.visibility</p:attrName>
                                        </p:attrNameLst>
                                      </p:cBhvr>
                                      <p:to>
                                        <p:strVal val="visible"/>
                                      </p:to>
                                    </p:set>
                                    <p:animEffect transition="in" filter="fade">
                                      <p:cBhvr>
                                        <p:cTn id="35" dur="500"/>
                                        <p:tgtEl>
                                          <p:spTgt spid="228355">
                                            <p:txEl>
                                              <p:pRg st="10" end="1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8355">
                                            <p:txEl>
                                              <p:pRg st="11" end="11"/>
                                            </p:txEl>
                                          </p:spTgt>
                                        </p:tgtEl>
                                        <p:attrNameLst>
                                          <p:attrName>style.visibility</p:attrName>
                                        </p:attrNameLst>
                                      </p:cBhvr>
                                      <p:to>
                                        <p:strVal val="visible"/>
                                      </p:to>
                                    </p:set>
                                    <p:animEffect transition="in" filter="fade">
                                      <p:cBhvr>
                                        <p:cTn id="38" dur="500"/>
                                        <p:tgtEl>
                                          <p:spTgt spid="22835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22" name="Content Placeholder 4"/>
          <p:cNvSpPr>
            <a:spLocks noGrp="1"/>
          </p:cNvSpPr>
          <p:nvPr>
            <p:ph sz="half" idx="2"/>
          </p:nvPr>
        </p:nvSpPr>
        <p:spPr>
          <a:xfrm>
            <a:off x="3286125" y="428625"/>
            <a:ext cx="5572125" cy="5857875"/>
          </a:xfrm>
        </p:spPr>
        <p:txBody>
          <a:bodyPr/>
          <a:lstStyle/>
          <a:p>
            <a:pPr eaLnBrk="1" hangingPunct="1"/>
            <a:r>
              <a:rPr lang="en-US" smtClean="0"/>
              <a:t>What a </a:t>
            </a:r>
            <a:r>
              <a:rPr lang="en-US" b="1" smtClean="0"/>
              <a:t>competitive market </a:t>
            </a:r>
            <a:r>
              <a:rPr lang="en-US" smtClean="0"/>
              <a:t>is and how it is described by the </a:t>
            </a:r>
            <a:r>
              <a:rPr lang="en-US" b="1" smtClean="0"/>
              <a:t>supply and demand model</a:t>
            </a:r>
          </a:p>
          <a:p>
            <a:pPr eaLnBrk="1" hangingPunct="1"/>
            <a:r>
              <a:rPr lang="en-US" smtClean="0"/>
              <a:t>What the </a:t>
            </a:r>
            <a:r>
              <a:rPr lang="en-US" b="1" smtClean="0"/>
              <a:t>demand curve </a:t>
            </a:r>
            <a:r>
              <a:rPr lang="en-US" smtClean="0"/>
              <a:t>and </a:t>
            </a:r>
            <a:r>
              <a:rPr lang="en-US" b="1" smtClean="0"/>
              <a:t>supply curve </a:t>
            </a:r>
            <a:r>
              <a:rPr lang="en-US" smtClean="0"/>
              <a:t>are</a:t>
            </a:r>
          </a:p>
          <a:p>
            <a:pPr eaLnBrk="1" hangingPunct="1"/>
            <a:r>
              <a:rPr lang="en-US" smtClean="0"/>
              <a:t>The difference between </a:t>
            </a:r>
            <a:r>
              <a:rPr lang="en-US" b="1" smtClean="0"/>
              <a:t>movements along a curve </a:t>
            </a:r>
            <a:r>
              <a:rPr lang="en-US" smtClean="0"/>
              <a:t>and </a:t>
            </a:r>
            <a:r>
              <a:rPr lang="en-US" b="1" smtClean="0"/>
              <a:t>shifts of a curve</a:t>
            </a:r>
          </a:p>
          <a:p>
            <a:pPr eaLnBrk="1" hangingPunct="1"/>
            <a:r>
              <a:rPr lang="en-US" smtClean="0"/>
              <a:t>How the supply and demand curves determine a market’s </a:t>
            </a:r>
            <a:r>
              <a:rPr lang="en-US" b="1" smtClean="0"/>
              <a:t>equilibrium price </a:t>
            </a:r>
            <a:r>
              <a:rPr lang="en-US" smtClean="0"/>
              <a:t>and </a:t>
            </a:r>
            <a:r>
              <a:rPr lang="en-US" b="1" smtClean="0"/>
              <a:t>equilibrium quantity</a:t>
            </a:r>
          </a:p>
          <a:p>
            <a:pPr eaLnBrk="1" hangingPunct="1"/>
            <a:r>
              <a:rPr lang="en-US" smtClean="0"/>
              <a:t>In the case of a </a:t>
            </a:r>
            <a:r>
              <a:rPr lang="en-US" b="1" smtClean="0"/>
              <a:t>shortage </a:t>
            </a:r>
            <a:r>
              <a:rPr lang="en-US" smtClean="0"/>
              <a:t>or </a:t>
            </a:r>
            <a:r>
              <a:rPr lang="en-US" b="1" smtClean="0"/>
              <a:t>surplus, </a:t>
            </a:r>
            <a:r>
              <a:rPr lang="en-US" smtClean="0"/>
              <a:t>how price moves the market back to equilibrium</a:t>
            </a:r>
          </a:p>
          <a:p>
            <a:pPr eaLnBrk="1" hangingPunct="1"/>
            <a:endParaRPr lang="id-ID" smtClean="0"/>
          </a:p>
        </p:txBody>
      </p:sp>
      <p:sp>
        <p:nvSpPr>
          <p:cNvPr id="3" name="TextBox 2"/>
          <p:cNvSpPr txBox="1"/>
          <p:nvPr/>
        </p:nvSpPr>
        <p:spPr>
          <a:xfrm>
            <a:off x="146050" y="1857375"/>
            <a:ext cx="2493963" cy="2062163"/>
          </a:xfrm>
          <a:prstGeom prst="rect">
            <a:avLst/>
          </a:prstGeom>
          <a:noFill/>
        </p:spPr>
        <p:txBody>
          <a:bodyPr>
            <a:spAutoFit/>
          </a:bodyPr>
          <a:lstStyle/>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WHAT YOU</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WILL LEARN</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IN THIS CHAPTER</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9378" name="Rectangle 2"/>
          <p:cNvSpPr>
            <a:spLocks noGrp="1" noRot="1" noChangeArrowheads="1"/>
          </p:cNvSpPr>
          <p:nvPr>
            <p:ph type="title"/>
          </p:nvPr>
        </p:nvSpPr>
        <p:spPr>
          <a:xfrm>
            <a:off x="900113" y="0"/>
            <a:ext cx="8064500" cy="731838"/>
          </a:xfrm>
        </p:spPr>
        <p:txBody>
          <a:bodyPr/>
          <a:lstStyle/>
          <a:p>
            <a:pPr>
              <a:defRPr/>
            </a:pPr>
            <a:r>
              <a:rPr lang="en-US" dirty="0" smtClean="0"/>
              <a:t>Demand Schedule</a:t>
            </a:r>
            <a:endParaRPr lang="en-US" dirty="0"/>
          </a:p>
        </p:txBody>
      </p:sp>
      <p:sp>
        <p:nvSpPr>
          <p:cNvPr id="229379" name="Rectangle 3"/>
          <p:cNvSpPr>
            <a:spLocks noGrp="1" noChangeArrowheads="1"/>
          </p:cNvSpPr>
          <p:nvPr>
            <p:ph type="body" sz="half" idx="1"/>
          </p:nvPr>
        </p:nvSpPr>
        <p:spPr>
          <a:xfrm>
            <a:off x="615950" y="839788"/>
            <a:ext cx="3575050" cy="5476875"/>
          </a:xfrm>
        </p:spPr>
        <p:txBody>
          <a:bodyPr/>
          <a:lstStyle/>
          <a:p>
            <a:r>
              <a:rPr lang="en-US" sz="2400" smtClean="0"/>
              <a:t>A demand schedule shows how much of a good or service consumers will want to buy at different prices.</a:t>
            </a:r>
            <a:endParaRPr lang="en-US" sz="2400" u="sng" smtClean="0">
              <a:solidFill>
                <a:srgbClr val="3F6D4E"/>
              </a:solidFill>
            </a:endParaRPr>
          </a:p>
          <a:p>
            <a:endParaRPr lang="en-US" sz="2400" smtClean="0"/>
          </a:p>
        </p:txBody>
      </p:sp>
      <p:grpSp>
        <p:nvGrpSpPr>
          <p:cNvPr id="2" name="Group 183"/>
          <p:cNvGrpSpPr>
            <a:grpSpLocks/>
          </p:cNvGrpSpPr>
          <p:nvPr/>
        </p:nvGrpSpPr>
        <p:grpSpPr bwMode="auto">
          <a:xfrm>
            <a:off x="4589463" y="925513"/>
            <a:ext cx="4191000" cy="5305425"/>
            <a:chOff x="2891" y="583"/>
            <a:chExt cx="2455" cy="3342"/>
          </a:xfrm>
        </p:grpSpPr>
        <p:sp>
          <p:nvSpPr>
            <p:cNvPr id="31748" name="Rectangle 124"/>
            <p:cNvSpPr>
              <a:spLocks noChangeArrowheads="1"/>
            </p:cNvSpPr>
            <p:nvPr/>
          </p:nvSpPr>
          <p:spPr bwMode="auto">
            <a:xfrm>
              <a:off x="4688" y="1619"/>
              <a:ext cx="197"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7.1</a:t>
              </a:r>
              <a:endParaRPr lang="en-US"/>
            </a:p>
          </p:txBody>
        </p:sp>
        <p:sp>
          <p:nvSpPr>
            <p:cNvPr id="31749" name="Rectangle 125"/>
            <p:cNvSpPr>
              <a:spLocks noChangeArrowheads="1"/>
            </p:cNvSpPr>
            <p:nvPr/>
          </p:nvSpPr>
          <p:spPr bwMode="auto">
            <a:xfrm>
              <a:off x="4688" y="1954"/>
              <a:ext cx="197"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7.5</a:t>
              </a:r>
              <a:endParaRPr lang="en-US"/>
            </a:p>
          </p:txBody>
        </p:sp>
        <p:sp>
          <p:nvSpPr>
            <p:cNvPr id="31750" name="Rectangle 126"/>
            <p:cNvSpPr>
              <a:spLocks noChangeArrowheads="1"/>
            </p:cNvSpPr>
            <p:nvPr/>
          </p:nvSpPr>
          <p:spPr bwMode="auto">
            <a:xfrm>
              <a:off x="4688" y="2288"/>
              <a:ext cx="197"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8.1</a:t>
              </a:r>
              <a:endParaRPr lang="en-US"/>
            </a:p>
          </p:txBody>
        </p:sp>
        <p:sp>
          <p:nvSpPr>
            <p:cNvPr id="31751" name="Rectangle 127"/>
            <p:cNvSpPr>
              <a:spLocks noChangeArrowheads="1"/>
            </p:cNvSpPr>
            <p:nvPr/>
          </p:nvSpPr>
          <p:spPr bwMode="auto">
            <a:xfrm>
              <a:off x="4688" y="2623"/>
              <a:ext cx="197"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8.9</a:t>
              </a:r>
              <a:endParaRPr lang="en-US"/>
            </a:p>
          </p:txBody>
        </p:sp>
        <p:sp>
          <p:nvSpPr>
            <p:cNvPr id="31752" name="Rectangle 128"/>
            <p:cNvSpPr>
              <a:spLocks noChangeArrowheads="1"/>
            </p:cNvSpPr>
            <p:nvPr/>
          </p:nvSpPr>
          <p:spPr bwMode="auto">
            <a:xfrm>
              <a:off x="4612" y="2960"/>
              <a:ext cx="276"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10.0</a:t>
              </a:r>
              <a:endParaRPr lang="en-US"/>
            </a:p>
          </p:txBody>
        </p:sp>
        <p:sp>
          <p:nvSpPr>
            <p:cNvPr id="31753" name="Rectangle 129"/>
            <p:cNvSpPr>
              <a:spLocks noChangeArrowheads="1"/>
            </p:cNvSpPr>
            <p:nvPr/>
          </p:nvSpPr>
          <p:spPr bwMode="auto">
            <a:xfrm>
              <a:off x="4612" y="3295"/>
              <a:ext cx="276"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11.5</a:t>
              </a:r>
              <a:endParaRPr lang="en-US"/>
            </a:p>
          </p:txBody>
        </p:sp>
        <p:sp>
          <p:nvSpPr>
            <p:cNvPr id="31754" name="Rectangle 130"/>
            <p:cNvSpPr>
              <a:spLocks noChangeArrowheads="1"/>
            </p:cNvSpPr>
            <p:nvPr/>
          </p:nvSpPr>
          <p:spPr bwMode="auto">
            <a:xfrm>
              <a:off x="4612" y="3630"/>
              <a:ext cx="276"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14.2</a:t>
              </a:r>
              <a:endParaRPr lang="en-US"/>
            </a:p>
          </p:txBody>
        </p:sp>
        <p:sp>
          <p:nvSpPr>
            <p:cNvPr id="31755" name="Rectangle 131"/>
            <p:cNvSpPr>
              <a:spLocks noChangeArrowheads="1"/>
            </p:cNvSpPr>
            <p:nvPr/>
          </p:nvSpPr>
          <p:spPr bwMode="auto">
            <a:xfrm>
              <a:off x="2891" y="847"/>
              <a:ext cx="2455" cy="709"/>
            </a:xfrm>
            <a:prstGeom prst="rect">
              <a:avLst/>
            </a:prstGeom>
            <a:solidFill>
              <a:srgbClr val="EBDFD7"/>
            </a:solidFill>
            <a:ln w="9525">
              <a:noFill/>
              <a:miter lim="800000"/>
              <a:headEnd/>
              <a:tailEnd/>
            </a:ln>
          </p:spPr>
          <p:txBody>
            <a:bodyPr/>
            <a:lstStyle/>
            <a:p>
              <a:endParaRPr lang="en-US"/>
            </a:p>
          </p:txBody>
        </p:sp>
        <p:sp>
          <p:nvSpPr>
            <p:cNvPr id="31756" name="Rectangle 132"/>
            <p:cNvSpPr>
              <a:spLocks noChangeArrowheads="1"/>
            </p:cNvSpPr>
            <p:nvPr/>
          </p:nvSpPr>
          <p:spPr bwMode="auto">
            <a:xfrm>
              <a:off x="2984" y="1023"/>
              <a:ext cx="904" cy="310"/>
            </a:xfrm>
            <a:prstGeom prst="rect">
              <a:avLst/>
            </a:prstGeom>
            <a:noFill/>
            <a:ln w="9525">
              <a:noFill/>
              <a:miter lim="800000"/>
              <a:headEnd/>
              <a:tailEnd/>
            </a:ln>
          </p:spPr>
          <p:txBody>
            <a:bodyPr lIns="0" tIns="0" rIns="0" bIns="0">
              <a:spAutoFit/>
            </a:bodyPr>
            <a:lstStyle/>
            <a:p>
              <a:pPr marL="1588" indent="-1588" algn="ctr"/>
              <a:r>
                <a:rPr lang="en-US" sz="1600" b="1">
                  <a:solidFill>
                    <a:srgbClr val="000000"/>
                  </a:solidFill>
                  <a:cs typeface="Arial" charset="0"/>
                </a:rPr>
                <a:t>Price of cotton (per pound)</a:t>
              </a:r>
              <a:endParaRPr lang="en-US" sz="1600" b="1">
                <a:cs typeface="Arial" charset="0"/>
              </a:endParaRPr>
            </a:p>
          </p:txBody>
        </p:sp>
        <p:sp>
          <p:nvSpPr>
            <p:cNvPr id="31757" name="Rectangle 142"/>
            <p:cNvSpPr>
              <a:spLocks noChangeArrowheads="1"/>
            </p:cNvSpPr>
            <p:nvPr/>
          </p:nvSpPr>
          <p:spPr bwMode="auto">
            <a:xfrm>
              <a:off x="4080" y="959"/>
              <a:ext cx="1152" cy="465"/>
            </a:xfrm>
            <a:prstGeom prst="rect">
              <a:avLst/>
            </a:prstGeom>
            <a:noFill/>
            <a:ln w="9525">
              <a:noFill/>
              <a:miter lim="800000"/>
              <a:headEnd/>
              <a:tailEnd/>
            </a:ln>
          </p:spPr>
          <p:txBody>
            <a:bodyPr lIns="0" tIns="0" rIns="0" bIns="0">
              <a:spAutoFit/>
            </a:bodyPr>
            <a:lstStyle/>
            <a:p>
              <a:pPr marL="1588" indent="-1588" algn="ctr"/>
              <a:r>
                <a:rPr lang="en-US" sz="1600" b="1">
                  <a:solidFill>
                    <a:srgbClr val="000000"/>
                  </a:solidFill>
                  <a:cs typeface="Arial" charset="0"/>
                </a:rPr>
                <a:t>Quantity of cotton demanded </a:t>
              </a:r>
              <a:br>
                <a:rPr lang="en-US" sz="1600" b="1">
                  <a:solidFill>
                    <a:srgbClr val="000000"/>
                  </a:solidFill>
                  <a:cs typeface="Arial" charset="0"/>
                </a:rPr>
              </a:br>
              <a:r>
                <a:rPr lang="en-US" sz="1600" b="1">
                  <a:solidFill>
                    <a:srgbClr val="000000"/>
                  </a:solidFill>
                  <a:cs typeface="Arial" charset="0"/>
                </a:rPr>
                <a:t>(billions of pounds)</a:t>
              </a:r>
              <a:endParaRPr lang="en-US" sz="1600" b="1">
                <a:cs typeface="Arial" charset="0"/>
              </a:endParaRPr>
            </a:p>
          </p:txBody>
        </p:sp>
        <p:sp>
          <p:nvSpPr>
            <p:cNvPr id="31758" name="Rectangle 153"/>
            <p:cNvSpPr>
              <a:spLocks noChangeArrowheads="1"/>
            </p:cNvSpPr>
            <p:nvPr/>
          </p:nvSpPr>
          <p:spPr bwMode="auto">
            <a:xfrm>
              <a:off x="3312" y="1957"/>
              <a:ext cx="276"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1.75</a:t>
              </a:r>
              <a:endParaRPr lang="en-US"/>
            </a:p>
          </p:txBody>
        </p:sp>
        <p:sp>
          <p:nvSpPr>
            <p:cNvPr id="31759" name="Rectangle 154"/>
            <p:cNvSpPr>
              <a:spLocks noChangeArrowheads="1"/>
            </p:cNvSpPr>
            <p:nvPr/>
          </p:nvSpPr>
          <p:spPr bwMode="auto">
            <a:xfrm>
              <a:off x="3312" y="2292"/>
              <a:ext cx="276"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1.50</a:t>
              </a:r>
              <a:endParaRPr lang="en-US"/>
            </a:p>
          </p:txBody>
        </p:sp>
        <p:sp>
          <p:nvSpPr>
            <p:cNvPr id="31760" name="Rectangle 155"/>
            <p:cNvSpPr>
              <a:spLocks noChangeArrowheads="1"/>
            </p:cNvSpPr>
            <p:nvPr/>
          </p:nvSpPr>
          <p:spPr bwMode="auto">
            <a:xfrm>
              <a:off x="3312" y="2629"/>
              <a:ext cx="276"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1.25</a:t>
              </a:r>
              <a:endParaRPr lang="en-US"/>
            </a:p>
          </p:txBody>
        </p:sp>
        <p:sp>
          <p:nvSpPr>
            <p:cNvPr id="31761" name="Rectangle 156"/>
            <p:cNvSpPr>
              <a:spLocks noChangeArrowheads="1"/>
            </p:cNvSpPr>
            <p:nvPr/>
          </p:nvSpPr>
          <p:spPr bwMode="auto">
            <a:xfrm>
              <a:off x="3312" y="2964"/>
              <a:ext cx="276"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1.00</a:t>
              </a:r>
              <a:endParaRPr lang="en-US"/>
            </a:p>
          </p:txBody>
        </p:sp>
        <p:sp>
          <p:nvSpPr>
            <p:cNvPr id="31762" name="Rectangle 157"/>
            <p:cNvSpPr>
              <a:spLocks noChangeArrowheads="1"/>
            </p:cNvSpPr>
            <p:nvPr/>
          </p:nvSpPr>
          <p:spPr bwMode="auto">
            <a:xfrm>
              <a:off x="3312" y="3298"/>
              <a:ext cx="276"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0.75</a:t>
              </a:r>
              <a:endParaRPr lang="en-US"/>
            </a:p>
          </p:txBody>
        </p:sp>
        <p:sp>
          <p:nvSpPr>
            <p:cNvPr id="31763" name="Rectangle 158"/>
            <p:cNvSpPr>
              <a:spLocks noChangeArrowheads="1"/>
            </p:cNvSpPr>
            <p:nvPr/>
          </p:nvSpPr>
          <p:spPr bwMode="auto">
            <a:xfrm>
              <a:off x="3312" y="3633"/>
              <a:ext cx="276"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0.50</a:t>
              </a:r>
              <a:endParaRPr lang="en-US"/>
            </a:p>
          </p:txBody>
        </p:sp>
        <p:sp>
          <p:nvSpPr>
            <p:cNvPr id="31764" name="Rectangle 159"/>
            <p:cNvSpPr>
              <a:spLocks noChangeArrowheads="1"/>
            </p:cNvSpPr>
            <p:nvPr/>
          </p:nvSpPr>
          <p:spPr bwMode="auto">
            <a:xfrm>
              <a:off x="3242" y="1617"/>
              <a:ext cx="355" cy="146"/>
            </a:xfrm>
            <a:prstGeom prst="rect">
              <a:avLst/>
            </a:prstGeom>
            <a:noFill/>
            <a:ln w="9525">
              <a:noFill/>
              <a:miter lim="800000"/>
              <a:headEnd/>
              <a:tailEnd/>
            </a:ln>
          </p:spPr>
          <p:txBody>
            <a:bodyPr wrap="none" lIns="0" tIns="0" rIns="0" bIns="0">
              <a:spAutoFit/>
            </a:bodyPr>
            <a:lstStyle/>
            <a:p>
              <a:pPr marL="1588" indent="-1588"/>
              <a:r>
                <a:rPr lang="en-US" sz="1900">
                  <a:solidFill>
                    <a:srgbClr val="000000"/>
                  </a:solidFill>
                  <a:latin typeface="Myriad Roman"/>
                </a:rPr>
                <a:t>$2.00</a:t>
              </a:r>
              <a:endParaRPr lang="en-US"/>
            </a:p>
          </p:txBody>
        </p:sp>
        <p:sp>
          <p:nvSpPr>
            <p:cNvPr id="31765" name="Rectangle 160"/>
            <p:cNvSpPr>
              <a:spLocks noChangeArrowheads="1"/>
            </p:cNvSpPr>
            <p:nvPr/>
          </p:nvSpPr>
          <p:spPr bwMode="auto">
            <a:xfrm>
              <a:off x="2891" y="583"/>
              <a:ext cx="2455" cy="3342"/>
            </a:xfrm>
            <a:prstGeom prst="rect">
              <a:avLst/>
            </a:prstGeom>
            <a:noFill/>
            <a:ln w="28575">
              <a:solidFill>
                <a:srgbClr val="E6D3CA"/>
              </a:solidFill>
              <a:miter lim="800000"/>
              <a:headEnd/>
              <a:tailEnd/>
            </a:ln>
          </p:spPr>
          <p:txBody>
            <a:bodyPr/>
            <a:lstStyle/>
            <a:p>
              <a:endParaRPr lang="en-US"/>
            </a:p>
          </p:txBody>
        </p:sp>
        <p:sp>
          <p:nvSpPr>
            <p:cNvPr id="31766" name="Rectangle 161"/>
            <p:cNvSpPr>
              <a:spLocks noChangeArrowheads="1"/>
            </p:cNvSpPr>
            <p:nvPr/>
          </p:nvSpPr>
          <p:spPr bwMode="auto">
            <a:xfrm>
              <a:off x="3183" y="637"/>
              <a:ext cx="1863" cy="174"/>
            </a:xfrm>
            <a:prstGeom prst="rect">
              <a:avLst/>
            </a:prstGeom>
            <a:noFill/>
            <a:ln w="9525">
              <a:noFill/>
              <a:miter lim="800000"/>
              <a:headEnd/>
              <a:tailEnd/>
            </a:ln>
          </p:spPr>
          <p:txBody>
            <a:bodyPr wrap="none" lIns="0" tIns="0" rIns="0" bIns="0">
              <a:spAutoFit/>
            </a:bodyPr>
            <a:lstStyle/>
            <a:p>
              <a:pPr marL="1588" indent="-1588" algn="ctr"/>
              <a:r>
                <a:rPr lang="en-US" b="1">
                  <a:solidFill>
                    <a:srgbClr val="000000"/>
                  </a:solidFill>
                  <a:latin typeface="Myriad Roman"/>
                </a:rPr>
                <a:t>Demand Schedule for Cotton</a:t>
              </a:r>
              <a:endParaRPr lang="en-US" b="1"/>
            </a:p>
          </p:txBody>
        </p:sp>
        <p:sp>
          <p:nvSpPr>
            <p:cNvPr id="31767" name="Line 173"/>
            <p:cNvSpPr>
              <a:spLocks noChangeShapeType="1"/>
            </p:cNvSpPr>
            <p:nvPr/>
          </p:nvSpPr>
          <p:spPr bwMode="auto">
            <a:xfrm>
              <a:off x="2891" y="1556"/>
              <a:ext cx="2455" cy="0"/>
            </a:xfrm>
            <a:prstGeom prst="line">
              <a:avLst/>
            </a:prstGeom>
            <a:noFill/>
            <a:ln w="14288">
              <a:solidFill>
                <a:srgbClr val="BCBEC0"/>
              </a:solidFill>
              <a:miter lim="800000"/>
              <a:headEnd/>
              <a:tailEnd/>
            </a:ln>
          </p:spPr>
          <p:txBody>
            <a:bodyPr/>
            <a:lstStyle/>
            <a:p>
              <a:endParaRPr lang="en-US"/>
            </a:p>
          </p:txBody>
        </p:sp>
        <p:sp>
          <p:nvSpPr>
            <p:cNvPr id="31768" name="Line 174"/>
            <p:cNvSpPr>
              <a:spLocks noChangeShapeType="1"/>
            </p:cNvSpPr>
            <p:nvPr/>
          </p:nvSpPr>
          <p:spPr bwMode="auto">
            <a:xfrm>
              <a:off x="2891" y="847"/>
              <a:ext cx="2455" cy="0"/>
            </a:xfrm>
            <a:prstGeom prst="line">
              <a:avLst/>
            </a:prstGeom>
            <a:noFill/>
            <a:ln w="14288">
              <a:solidFill>
                <a:srgbClr val="BCBEC0"/>
              </a:solidFill>
              <a:miter lim="800000"/>
              <a:headEnd/>
              <a:tailEnd/>
            </a:ln>
          </p:spPr>
          <p:txBody>
            <a:bodyPr/>
            <a:lstStyle/>
            <a:p>
              <a:endParaRPr lang="en-US"/>
            </a:p>
          </p:txBody>
        </p:sp>
        <p:sp>
          <p:nvSpPr>
            <p:cNvPr id="31769" name="Line 175"/>
            <p:cNvSpPr>
              <a:spLocks noChangeShapeType="1"/>
            </p:cNvSpPr>
            <p:nvPr/>
          </p:nvSpPr>
          <p:spPr bwMode="auto">
            <a:xfrm>
              <a:off x="3935" y="845"/>
              <a:ext cx="0" cy="3071"/>
            </a:xfrm>
            <a:prstGeom prst="line">
              <a:avLst/>
            </a:prstGeom>
            <a:noFill/>
            <a:ln w="14288">
              <a:solidFill>
                <a:srgbClr val="BCBEC0"/>
              </a:solidFill>
              <a:miter lim="800000"/>
              <a:headEnd/>
              <a:tailEnd/>
            </a:ln>
          </p:spPr>
          <p:txBody>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9379">
                                            <p:txEl>
                                              <p:pRg st="0" end="0"/>
                                            </p:txEl>
                                          </p:spTgt>
                                        </p:tgtEl>
                                        <p:attrNameLst>
                                          <p:attrName>style.visibility</p:attrName>
                                        </p:attrNameLst>
                                      </p:cBhvr>
                                      <p:to>
                                        <p:strVal val="visible"/>
                                      </p:to>
                                    </p:set>
                                    <p:animEffect transition="in" filter="wipe(left)">
                                      <p:cBhvr>
                                        <p:cTn id="7" dur="500"/>
                                        <p:tgtEl>
                                          <p:spTgt spid="2293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8626" name="Rectangle 2"/>
          <p:cNvSpPr>
            <a:spLocks noGrp="1" noRot="1" noChangeArrowheads="1"/>
          </p:cNvSpPr>
          <p:nvPr>
            <p:ph type="title"/>
          </p:nvPr>
        </p:nvSpPr>
        <p:spPr>
          <a:xfrm>
            <a:off x="827088" y="60325"/>
            <a:ext cx="8323262" cy="555625"/>
          </a:xfrm>
        </p:spPr>
        <p:txBody>
          <a:bodyPr/>
          <a:lstStyle/>
          <a:p>
            <a:pPr>
              <a:defRPr/>
            </a:pPr>
            <a:r>
              <a:rPr lang="en-US" dirty="0"/>
              <a:t>Demand Curve</a:t>
            </a:r>
          </a:p>
        </p:txBody>
      </p:sp>
      <p:sp>
        <p:nvSpPr>
          <p:cNvPr id="538627" name="Rectangle 3"/>
          <p:cNvSpPr>
            <a:spLocks noGrp="1" noChangeArrowheads="1"/>
          </p:cNvSpPr>
          <p:nvPr>
            <p:ph type="body" idx="1"/>
          </p:nvPr>
        </p:nvSpPr>
        <p:spPr>
          <a:xfrm>
            <a:off x="3786188" y="904875"/>
            <a:ext cx="5308600" cy="2551113"/>
          </a:xfrm>
          <a:solidFill>
            <a:schemeClr val="accent5">
              <a:lumMod val="20000"/>
              <a:lumOff val="80000"/>
            </a:schemeClr>
          </a:solidFill>
        </p:spPr>
        <p:txBody>
          <a:bodyPr/>
          <a:lstStyle/>
          <a:p>
            <a:pPr marL="111125" indent="4763" algn="ctr">
              <a:buFont typeface="Wingdings" pitchFamily="2" charset="2"/>
              <a:buNone/>
              <a:defRPr/>
            </a:pPr>
            <a:r>
              <a:rPr lang="en-US" smtClean="0">
                <a:solidFill>
                  <a:srgbClr val="0033CC"/>
                </a:solidFill>
              </a:rPr>
              <a:t>A </a:t>
            </a:r>
            <a:r>
              <a:rPr lang="en-US" b="1" i="1" smtClean="0">
                <a:solidFill>
                  <a:srgbClr val="0033CC"/>
                </a:solidFill>
              </a:rPr>
              <a:t>demand curve</a:t>
            </a:r>
            <a:r>
              <a:rPr lang="en-US" smtClean="0">
                <a:solidFill>
                  <a:srgbClr val="0033CC"/>
                </a:solidFill>
              </a:rPr>
              <a:t> is the graphical representation of the demand schedule. </a:t>
            </a:r>
            <a:br>
              <a:rPr lang="en-US" smtClean="0">
                <a:solidFill>
                  <a:srgbClr val="0033CC"/>
                </a:solidFill>
              </a:rPr>
            </a:br>
            <a:r>
              <a:rPr lang="en-US" smtClean="0">
                <a:solidFill>
                  <a:srgbClr val="0033CC"/>
                </a:solidFill>
              </a:rPr>
              <a:t>It shows how much of a good or service consumers want to buy at any given price.</a:t>
            </a:r>
          </a:p>
        </p:txBody>
      </p:sp>
      <p:sp>
        <p:nvSpPr>
          <p:cNvPr id="33795" name="Line 789"/>
          <p:cNvSpPr>
            <a:spLocks noChangeShapeType="1"/>
          </p:cNvSpPr>
          <p:nvPr/>
        </p:nvSpPr>
        <p:spPr bwMode="auto">
          <a:xfrm flipV="1">
            <a:off x="2220913" y="801688"/>
            <a:ext cx="1587" cy="4383087"/>
          </a:xfrm>
          <a:prstGeom prst="line">
            <a:avLst/>
          </a:prstGeom>
          <a:noFill/>
          <a:ln w="7938">
            <a:solidFill>
              <a:srgbClr val="000000"/>
            </a:solidFill>
            <a:miter lim="800000"/>
            <a:headEnd/>
            <a:tailEnd/>
          </a:ln>
        </p:spPr>
        <p:txBody>
          <a:bodyPr/>
          <a:lstStyle/>
          <a:p>
            <a:endParaRPr lang="en-US"/>
          </a:p>
        </p:txBody>
      </p:sp>
      <p:sp>
        <p:nvSpPr>
          <p:cNvPr id="33796" name="Freeform 790"/>
          <p:cNvSpPr>
            <a:spLocks/>
          </p:cNvSpPr>
          <p:nvPr/>
        </p:nvSpPr>
        <p:spPr bwMode="auto">
          <a:xfrm>
            <a:off x="2220913" y="5268913"/>
            <a:ext cx="176212" cy="152400"/>
          </a:xfrm>
          <a:custGeom>
            <a:avLst/>
            <a:gdLst>
              <a:gd name="T0" fmla="*/ 2147483647 w 71"/>
              <a:gd name="T1" fmla="*/ 2147483647 h 71"/>
              <a:gd name="T2" fmla="*/ 0 w 71"/>
              <a:gd name="T3" fmla="*/ 2147483647 h 71"/>
              <a:gd name="T4" fmla="*/ 0 w 71"/>
              <a:gd name="T5" fmla="*/ 0 h 71"/>
              <a:gd name="T6" fmla="*/ 0 60000 65536"/>
              <a:gd name="T7" fmla="*/ 0 60000 65536"/>
              <a:gd name="T8" fmla="*/ 0 60000 65536"/>
              <a:gd name="T9" fmla="*/ 0 w 71"/>
              <a:gd name="T10" fmla="*/ 0 h 71"/>
              <a:gd name="T11" fmla="*/ 71 w 71"/>
              <a:gd name="T12" fmla="*/ 71 h 71"/>
            </a:gdLst>
            <a:ahLst/>
            <a:cxnLst>
              <a:cxn ang="T6">
                <a:pos x="T0" y="T1"/>
              </a:cxn>
              <a:cxn ang="T7">
                <a:pos x="T2" y="T3"/>
              </a:cxn>
              <a:cxn ang="T8">
                <a:pos x="T4" y="T5"/>
              </a:cxn>
            </a:cxnLst>
            <a:rect l="T9" t="T10" r="T11" b="T12"/>
            <a:pathLst>
              <a:path w="71" h="71">
                <a:moveTo>
                  <a:pt x="71" y="71"/>
                </a:moveTo>
                <a:lnTo>
                  <a:pt x="0" y="71"/>
                </a:lnTo>
                <a:lnTo>
                  <a:pt x="0" y="0"/>
                </a:lnTo>
              </a:path>
            </a:pathLst>
          </a:custGeom>
          <a:noFill/>
          <a:ln w="7938" cap="flat">
            <a:solidFill>
              <a:srgbClr val="000000"/>
            </a:solidFill>
            <a:prstDash val="solid"/>
            <a:miter lim="800000"/>
            <a:headEnd/>
            <a:tailEnd/>
          </a:ln>
        </p:spPr>
        <p:txBody>
          <a:bodyPr/>
          <a:lstStyle/>
          <a:p>
            <a:endParaRPr lang="en-US"/>
          </a:p>
        </p:txBody>
      </p:sp>
      <p:sp>
        <p:nvSpPr>
          <p:cNvPr id="33797" name="Line 791"/>
          <p:cNvSpPr>
            <a:spLocks noChangeShapeType="1"/>
          </p:cNvSpPr>
          <p:nvPr/>
        </p:nvSpPr>
        <p:spPr bwMode="auto">
          <a:xfrm flipH="1">
            <a:off x="2490788" y="5421313"/>
            <a:ext cx="3957637" cy="1587"/>
          </a:xfrm>
          <a:prstGeom prst="line">
            <a:avLst/>
          </a:prstGeom>
          <a:noFill/>
          <a:ln w="7938">
            <a:solidFill>
              <a:srgbClr val="000000"/>
            </a:solidFill>
            <a:miter lim="800000"/>
            <a:headEnd/>
            <a:tailEnd/>
          </a:ln>
        </p:spPr>
        <p:txBody>
          <a:bodyPr/>
          <a:lstStyle/>
          <a:p>
            <a:endParaRPr lang="en-US"/>
          </a:p>
        </p:txBody>
      </p:sp>
      <p:sp>
        <p:nvSpPr>
          <p:cNvPr id="33798" name="Rectangle 792"/>
          <p:cNvSpPr>
            <a:spLocks noChangeArrowheads="1"/>
          </p:cNvSpPr>
          <p:nvPr/>
        </p:nvSpPr>
        <p:spPr bwMode="auto">
          <a:xfrm>
            <a:off x="2871788" y="5456238"/>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7</a:t>
            </a:r>
            <a:endParaRPr lang="en-US" sz="1400"/>
          </a:p>
        </p:txBody>
      </p:sp>
      <p:sp>
        <p:nvSpPr>
          <p:cNvPr id="33799" name="Rectangle 793"/>
          <p:cNvSpPr>
            <a:spLocks noChangeArrowheads="1"/>
          </p:cNvSpPr>
          <p:nvPr/>
        </p:nvSpPr>
        <p:spPr bwMode="auto">
          <a:xfrm>
            <a:off x="2020888" y="5456238"/>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p>
        </p:txBody>
      </p:sp>
      <p:sp>
        <p:nvSpPr>
          <p:cNvPr id="33800" name="Rectangle 794"/>
          <p:cNvSpPr>
            <a:spLocks noChangeArrowheads="1"/>
          </p:cNvSpPr>
          <p:nvPr/>
        </p:nvSpPr>
        <p:spPr bwMode="auto">
          <a:xfrm>
            <a:off x="3575050" y="5456238"/>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9</a:t>
            </a:r>
            <a:endParaRPr lang="en-US" sz="1400"/>
          </a:p>
        </p:txBody>
      </p:sp>
      <p:sp>
        <p:nvSpPr>
          <p:cNvPr id="33801" name="Rectangle 795"/>
          <p:cNvSpPr>
            <a:spLocks noChangeArrowheads="1"/>
          </p:cNvSpPr>
          <p:nvPr/>
        </p:nvSpPr>
        <p:spPr bwMode="auto">
          <a:xfrm>
            <a:off x="4224338" y="5456238"/>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11</a:t>
            </a:r>
            <a:endParaRPr lang="en-US" sz="1400"/>
          </a:p>
        </p:txBody>
      </p:sp>
      <p:sp>
        <p:nvSpPr>
          <p:cNvPr id="33802" name="Rectangle 796"/>
          <p:cNvSpPr>
            <a:spLocks noChangeArrowheads="1"/>
          </p:cNvSpPr>
          <p:nvPr/>
        </p:nvSpPr>
        <p:spPr bwMode="auto">
          <a:xfrm>
            <a:off x="5630863" y="5456238"/>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a:t>
            </a:r>
            <a:endParaRPr lang="en-US" sz="1400"/>
          </a:p>
        </p:txBody>
      </p:sp>
      <p:sp>
        <p:nvSpPr>
          <p:cNvPr id="33803" name="Rectangle 797"/>
          <p:cNvSpPr>
            <a:spLocks noChangeArrowheads="1"/>
          </p:cNvSpPr>
          <p:nvPr/>
        </p:nvSpPr>
        <p:spPr bwMode="auto">
          <a:xfrm>
            <a:off x="4924425" y="5456238"/>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13</a:t>
            </a:r>
            <a:endParaRPr lang="en-US" sz="1400"/>
          </a:p>
        </p:txBody>
      </p:sp>
      <p:sp>
        <p:nvSpPr>
          <p:cNvPr id="33804" name="Rectangle 798"/>
          <p:cNvSpPr>
            <a:spLocks noChangeArrowheads="1"/>
          </p:cNvSpPr>
          <p:nvPr/>
        </p:nvSpPr>
        <p:spPr bwMode="auto">
          <a:xfrm>
            <a:off x="6332538" y="5456238"/>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a:t>
            </a:r>
            <a:endParaRPr lang="en-US" sz="1400"/>
          </a:p>
        </p:txBody>
      </p:sp>
      <p:sp>
        <p:nvSpPr>
          <p:cNvPr id="33805" name="Line 809"/>
          <p:cNvSpPr>
            <a:spLocks noChangeShapeType="1"/>
          </p:cNvSpPr>
          <p:nvPr/>
        </p:nvSpPr>
        <p:spPr bwMode="auto">
          <a:xfrm>
            <a:off x="2220913" y="2473325"/>
            <a:ext cx="141287" cy="1588"/>
          </a:xfrm>
          <a:prstGeom prst="line">
            <a:avLst/>
          </a:prstGeom>
          <a:noFill/>
          <a:ln w="7938">
            <a:solidFill>
              <a:srgbClr val="000000"/>
            </a:solidFill>
            <a:miter lim="800000"/>
            <a:headEnd/>
            <a:tailEnd/>
          </a:ln>
        </p:spPr>
        <p:txBody>
          <a:bodyPr/>
          <a:lstStyle/>
          <a:p>
            <a:endParaRPr lang="en-US"/>
          </a:p>
        </p:txBody>
      </p:sp>
      <p:sp>
        <p:nvSpPr>
          <p:cNvPr id="33806" name="Line 810"/>
          <p:cNvSpPr>
            <a:spLocks noChangeShapeType="1"/>
          </p:cNvSpPr>
          <p:nvPr/>
        </p:nvSpPr>
        <p:spPr bwMode="auto">
          <a:xfrm>
            <a:off x="2220913" y="2894013"/>
            <a:ext cx="141287" cy="1587"/>
          </a:xfrm>
          <a:prstGeom prst="line">
            <a:avLst/>
          </a:prstGeom>
          <a:noFill/>
          <a:ln w="7938">
            <a:solidFill>
              <a:srgbClr val="000000"/>
            </a:solidFill>
            <a:miter lim="800000"/>
            <a:headEnd/>
            <a:tailEnd/>
          </a:ln>
        </p:spPr>
        <p:txBody>
          <a:bodyPr/>
          <a:lstStyle/>
          <a:p>
            <a:endParaRPr lang="en-US"/>
          </a:p>
        </p:txBody>
      </p:sp>
      <p:sp>
        <p:nvSpPr>
          <p:cNvPr id="33807" name="Line 811"/>
          <p:cNvSpPr>
            <a:spLocks noChangeShapeType="1"/>
          </p:cNvSpPr>
          <p:nvPr/>
        </p:nvSpPr>
        <p:spPr bwMode="auto">
          <a:xfrm>
            <a:off x="2220913" y="3317875"/>
            <a:ext cx="141287" cy="3175"/>
          </a:xfrm>
          <a:prstGeom prst="line">
            <a:avLst/>
          </a:prstGeom>
          <a:noFill/>
          <a:ln w="7938">
            <a:solidFill>
              <a:srgbClr val="000000"/>
            </a:solidFill>
            <a:miter lim="800000"/>
            <a:headEnd/>
            <a:tailEnd/>
          </a:ln>
        </p:spPr>
        <p:txBody>
          <a:bodyPr/>
          <a:lstStyle/>
          <a:p>
            <a:endParaRPr lang="en-US"/>
          </a:p>
        </p:txBody>
      </p:sp>
      <p:sp>
        <p:nvSpPr>
          <p:cNvPr id="33808" name="Line 812"/>
          <p:cNvSpPr>
            <a:spLocks noChangeShapeType="1"/>
          </p:cNvSpPr>
          <p:nvPr/>
        </p:nvSpPr>
        <p:spPr bwMode="auto">
          <a:xfrm>
            <a:off x="2220913" y="3738563"/>
            <a:ext cx="141287" cy="3175"/>
          </a:xfrm>
          <a:prstGeom prst="line">
            <a:avLst/>
          </a:prstGeom>
          <a:noFill/>
          <a:ln w="7938">
            <a:solidFill>
              <a:srgbClr val="000000"/>
            </a:solidFill>
            <a:miter lim="800000"/>
            <a:headEnd/>
            <a:tailEnd/>
          </a:ln>
        </p:spPr>
        <p:txBody>
          <a:bodyPr/>
          <a:lstStyle/>
          <a:p>
            <a:endParaRPr lang="en-US"/>
          </a:p>
        </p:txBody>
      </p:sp>
      <p:sp>
        <p:nvSpPr>
          <p:cNvPr id="33809" name="Line 813"/>
          <p:cNvSpPr>
            <a:spLocks noChangeShapeType="1"/>
          </p:cNvSpPr>
          <p:nvPr/>
        </p:nvSpPr>
        <p:spPr bwMode="auto">
          <a:xfrm>
            <a:off x="2220913" y="4156075"/>
            <a:ext cx="141287" cy="3175"/>
          </a:xfrm>
          <a:prstGeom prst="line">
            <a:avLst/>
          </a:prstGeom>
          <a:noFill/>
          <a:ln w="7938">
            <a:solidFill>
              <a:srgbClr val="000000"/>
            </a:solidFill>
            <a:miter lim="800000"/>
            <a:headEnd/>
            <a:tailEnd/>
          </a:ln>
        </p:spPr>
        <p:txBody>
          <a:bodyPr/>
          <a:lstStyle/>
          <a:p>
            <a:endParaRPr lang="en-US"/>
          </a:p>
        </p:txBody>
      </p:sp>
      <p:sp>
        <p:nvSpPr>
          <p:cNvPr id="33810" name="Line 814"/>
          <p:cNvSpPr>
            <a:spLocks noChangeShapeType="1"/>
          </p:cNvSpPr>
          <p:nvPr/>
        </p:nvSpPr>
        <p:spPr bwMode="auto">
          <a:xfrm>
            <a:off x="2220913" y="4576763"/>
            <a:ext cx="141287" cy="1587"/>
          </a:xfrm>
          <a:prstGeom prst="line">
            <a:avLst/>
          </a:prstGeom>
          <a:noFill/>
          <a:ln w="7938">
            <a:solidFill>
              <a:srgbClr val="000000"/>
            </a:solidFill>
            <a:miter lim="800000"/>
            <a:headEnd/>
            <a:tailEnd/>
          </a:ln>
        </p:spPr>
        <p:txBody>
          <a:bodyPr/>
          <a:lstStyle/>
          <a:p>
            <a:endParaRPr lang="en-US"/>
          </a:p>
        </p:txBody>
      </p:sp>
      <p:sp>
        <p:nvSpPr>
          <p:cNvPr id="33811" name="Line 815"/>
          <p:cNvSpPr>
            <a:spLocks noChangeShapeType="1"/>
          </p:cNvSpPr>
          <p:nvPr/>
        </p:nvSpPr>
        <p:spPr bwMode="auto">
          <a:xfrm>
            <a:off x="2220913" y="5000625"/>
            <a:ext cx="141287" cy="4763"/>
          </a:xfrm>
          <a:prstGeom prst="line">
            <a:avLst/>
          </a:prstGeom>
          <a:noFill/>
          <a:ln w="7938">
            <a:solidFill>
              <a:srgbClr val="000000"/>
            </a:solidFill>
            <a:miter lim="800000"/>
            <a:headEnd/>
            <a:tailEnd/>
          </a:ln>
        </p:spPr>
        <p:txBody>
          <a:bodyPr/>
          <a:lstStyle/>
          <a:p>
            <a:endParaRPr lang="en-US"/>
          </a:p>
        </p:txBody>
      </p:sp>
      <p:sp>
        <p:nvSpPr>
          <p:cNvPr id="33812" name="Line 816"/>
          <p:cNvSpPr>
            <a:spLocks noChangeShapeType="1"/>
          </p:cNvSpPr>
          <p:nvPr/>
        </p:nvSpPr>
        <p:spPr bwMode="auto">
          <a:xfrm flipV="1">
            <a:off x="2927350" y="5299075"/>
            <a:ext cx="4763" cy="122238"/>
          </a:xfrm>
          <a:prstGeom prst="line">
            <a:avLst/>
          </a:prstGeom>
          <a:noFill/>
          <a:ln w="7938">
            <a:solidFill>
              <a:srgbClr val="000000"/>
            </a:solidFill>
            <a:miter lim="800000"/>
            <a:headEnd/>
            <a:tailEnd/>
          </a:ln>
        </p:spPr>
        <p:txBody>
          <a:bodyPr/>
          <a:lstStyle/>
          <a:p>
            <a:endParaRPr lang="en-US"/>
          </a:p>
        </p:txBody>
      </p:sp>
      <p:sp>
        <p:nvSpPr>
          <p:cNvPr id="33813" name="Line 817"/>
          <p:cNvSpPr>
            <a:spLocks noChangeShapeType="1"/>
          </p:cNvSpPr>
          <p:nvPr/>
        </p:nvSpPr>
        <p:spPr bwMode="auto">
          <a:xfrm flipV="1">
            <a:off x="3630613" y="5299075"/>
            <a:ext cx="3175" cy="122238"/>
          </a:xfrm>
          <a:prstGeom prst="line">
            <a:avLst/>
          </a:prstGeom>
          <a:noFill/>
          <a:ln w="7938">
            <a:solidFill>
              <a:srgbClr val="000000"/>
            </a:solidFill>
            <a:miter lim="800000"/>
            <a:headEnd/>
            <a:tailEnd/>
          </a:ln>
        </p:spPr>
        <p:txBody>
          <a:bodyPr/>
          <a:lstStyle/>
          <a:p>
            <a:endParaRPr lang="en-US"/>
          </a:p>
        </p:txBody>
      </p:sp>
      <p:sp>
        <p:nvSpPr>
          <p:cNvPr id="33814" name="Line 818"/>
          <p:cNvSpPr>
            <a:spLocks noChangeShapeType="1"/>
          </p:cNvSpPr>
          <p:nvPr/>
        </p:nvSpPr>
        <p:spPr bwMode="auto">
          <a:xfrm flipV="1">
            <a:off x="4332288" y="5299075"/>
            <a:ext cx="1587" cy="122238"/>
          </a:xfrm>
          <a:prstGeom prst="line">
            <a:avLst/>
          </a:prstGeom>
          <a:noFill/>
          <a:ln w="7938">
            <a:solidFill>
              <a:srgbClr val="000000"/>
            </a:solidFill>
            <a:miter lim="800000"/>
            <a:headEnd/>
            <a:tailEnd/>
          </a:ln>
        </p:spPr>
        <p:txBody>
          <a:bodyPr/>
          <a:lstStyle/>
          <a:p>
            <a:endParaRPr lang="en-US"/>
          </a:p>
        </p:txBody>
      </p:sp>
      <p:sp>
        <p:nvSpPr>
          <p:cNvPr id="33815" name="Line 819"/>
          <p:cNvSpPr>
            <a:spLocks noChangeShapeType="1"/>
          </p:cNvSpPr>
          <p:nvPr/>
        </p:nvSpPr>
        <p:spPr bwMode="auto">
          <a:xfrm flipV="1">
            <a:off x="5032375" y="5299075"/>
            <a:ext cx="3175" cy="122238"/>
          </a:xfrm>
          <a:prstGeom prst="line">
            <a:avLst/>
          </a:prstGeom>
          <a:noFill/>
          <a:ln w="7938">
            <a:solidFill>
              <a:srgbClr val="000000"/>
            </a:solidFill>
            <a:miter lim="800000"/>
            <a:headEnd/>
            <a:tailEnd/>
          </a:ln>
        </p:spPr>
        <p:txBody>
          <a:bodyPr/>
          <a:lstStyle/>
          <a:p>
            <a:endParaRPr lang="en-US"/>
          </a:p>
        </p:txBody>
      </p:sp>
      <p:sp>
        <p:nvSpPr>
          <p:cNvPr id="33816" name="Line 820"/>
          <p:cNvSpPr>
            <a:spLocks noChangeShapeType="1"/>
          </p:cNvSpPr>
          <p:nvPr/>
        </p:nvSpPr>
        <p:spPr bwMode="auto">
          <a:xfrm flipV="1">
            <a:off x="5740400" y="5299075"/>
            <a:ext cx="1588" cy="122238"/>
          </a:xfrm>
          <a:prstGeom prst="line">
            <a:avLst/>
          </a:prstGeom>
          <a:noFill/>
          <a:ln w="7938">
            <a:solidFill>
              <a:srgbClr val="000000"/>
            </a:solidFill>
            <a:miter lim="800000"/>
            <a:headEnd/>
            <a:tailEnd/>
          </a:ln>
        </p:spPr>
        <p:txBody>
          <a:bodyPr/>
          <a:lstStyle/>
          <a:p>
            <a:endParaRPr lang="en-US"/>
          </a:p>
        </p:txBody>
      </p:sp>
      <p:sp>
        <p:nvSpPr>
          <p:cNvPr id="33817" name="Line 821"/>
          <p:cNvSpPr>
            <a:spLocks noChangeShapeType="1"/>
          </p:cNvSpPr>
          <p:nvPr/>
        </p:nvSpPr>
        <p:spPr bwMode="auto">
          <a:xfrm flipV="1">
            <a:off x="6443663" y="5299075"/>
            <a:ext cx="1587" cy="122238"/>
          </a:xfrm>
          <a:prstGeom prst="line">
            <a:avLst/>
          </a:prstGeom>
          <a:noFill/>
          <a:ln w="7938">
            <a:solidFill>
              <a:srgbClr val="000000"/>
            </a:solidFill>
            <a:miter lim="800000"/>
            <a:headEnd/>
            <a:tailEnd/>
          </a:ln>
        </p:spPr>
        <p:txBody>
          <a:bodyPr/>
          <a:lstStyle/>
          <a:p>
            <a:endParaRPr lang="en-US"/>
          </a:p>
        </p:txBody>
      </p:sp>
      <p:sp>
        <p:nvSpPr>
          <p:cNvPr id="33818" name="Rectangle 822"/>
          <p:cNvSpPr>
            <a:spLocks noChangeArrowheads="1"/>
          </p:cNvSpPr>
          <p:nvPr/>
        </p:nvSpPr>
        <p:spPr bwMode="auto">
          <a:xfrm>
            <a:off x="1649413" y="2365375"/>
            <a:ext cx="44291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$2.00</a:t>
            </a:r>
            <a:endParaRPr lang="en-US" sz="1400"/>
          </a:p>
        </p:txBody>
      </p:sp>
      <p:sp>
        <p:nvSpPr>
          <p:cNvPr id="33819" name="Rectangle 823"/>
          <p:cNvSpPr>
            <a:spLocks noChangeArrowheads="1"/>
          </p:cNvSpPr>
          <p:nvPr/>
        </p:nvSpPr>
        <p:spPr bwMode="auto">
          <a:xfrm>
            <a:off x="1758950" y="2786063"/>
            <a:ext cx="346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1.75</a:t>
            </a:r>
            <a:endParaRPr lang="en-US" sz="1400"/>
          </a:p>
        </p:txBody>
      </p:sp>
      <p:sp>
        <p:nvSpPr>
          <p:cNvPr id="33820" name="Rectangle 824"/>
          <p:cNvSpPr>
            <a:spLocks noChangeArrowheads="1"/>
          </p:cNvSpPr>
          <p:nvPr/>
        </p:nvSpPr>
        <p:spPr bwMode="auto">
          <a:xfrm>
            <a:off x="1758950" y="3208338"/>
            <a:ext cx="346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1.50</a:t>
            </a:r>
            <a:endParaRPr lang="en-US" sz="1400"/>
          </a:p>
        </p:txBody>
      </p:sp>
      <p:sp>
        <p:nvSpPr>
          <p:cNvPr id="33821" name="Rectangle 825"/>
          <p:cNvSpPr>
            <a:spLocks noChangeArrowheads="1"/>
          </p:cNvSpPr>
          <p:nvPr/>
        </p:nvSpPr>
        <p:spPr bwMode="auto">
          <a:xfrm>
            <a:off x="1758950" y="3629025"/>
            <a:ext cx="346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1.25</a:t>
            </a:r>
            <a:endParaRPr lang="en-US" sz="1400"/>
          </a:p>
        </p:txBody>
      </p:sp>
      <p:sp>
        <p:nvSpPr>
          <p:cNvPr id="33822" name="Rectangle 826"/>
          <p:cNvSpPr>
            <a:spLocks noChangeArrowheads="1"/>
          </p:cNvSpPr>
          <p:nvPr/>
        </p:nvSpPr>
        <p:spPr bwMode="auto">
          <a:xfrm>
            <a:off x="1758950" y="4048125"/>
            <a:ext cx="346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a:t>
            </a:r>
            <a:endParaRPr lang="en-US" sz="1400"/>
          </a:p>
        </p:txBody>
      </p:sp>
      <p:sp>
        <p:nvSpPr>
          <p:cNvPr id="33823" name="Rectangle 827"/>
          <p:cNvSpPr>
            <a:spLocks noChangeArrowheads="1"/>
          </p:cNvSpPr>
          <p:nvPr/>
        </p:nvSpPr>
        <p:spPr bwMode="auto">
          <a:xfrm>
            <a:off x="1758950" y="4473575"/>
            <a:ext cx="346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0.75</a:t>
            </a:r>
            <a:endParaRPr lang="en-US" sz="1400"/>
          </a:p>
        </p:txBody>
      </p:sp>
      <p:sp>
        <p:nvSpPr>
          <p:cNvPr id="33824" name="Rectangle 828"/>
          <p:cNvSpPr>
            <a:spLocks noChangeArrowheads="1"/>
          </p:cNvSpPr>
          <p:nvPr/>
        </p:nvSpPr>
        <p:spPr bwMode="auto">
          <a:xfrm>
            <a:off x="1758950" y="4891088"/>
            <a:ext cx="346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0.50</a:t>
            </a:r>
            <a:endParaRPr lang="en-US" sz="1400"/>
          </a:p>
        </p:txBody>
      </p:sp>
      <p:sp>
        <p:nvSpPr>
          <p:cNvPr id="539479" name="Freeform 855"/>
          <p:cNvSpPr>
            <a:spLocks/>
          </p:cNvSpPr>
          <p:nvPr/>
        </p:nvSpPr>
        <p:spPr bwMode="auto">
          <a:xfrm>
            <a:off x="2524125" y="4397375"/>
            <a:ext cx="1695450" cy="839788"/>
          </a:xfrm>
          <a:custGeom>
            <a:avLst/>
            <a:gdLst>
              <a:gd name="T0" fmla="*/ 2147483647 w 242"/>
              <a:gd name="T1" fmla="*/ 2147483647 h 134"/>
              <a:gd name="T2" fmla="*/ 2147483647 w 242"/>
              <a:gd name="T3" fmla="*/ 2147483647 h 134"/>
              <a:gd name="T4" fmla="*/ 2147483647 w 242"/>
              <a:gd name="T5" fmla="*/ 2147483647 h 134"/>
              <a:gd name="T6" fmla="*/ 0 w 242"/>
              <a:gd name="T7" fmla="*/ 2147483647 h 134"/>
              <a:gd name="T8" fmla="*/ 0 w 242"/>
              <a:gd name="T9" fmla="*/ 2147483647 h 134"/>
              <a:gd name="T10" fmla="*/ 2147483647 w 242"/>
              <a:gd name="T11" fmla="*/ 0 h 134"/>
              <a:gd name="T12" fmla="*/ 2147483647 w 242"/>
              <a:gd name="T13" fmla="*/ 0 h 134"/>
              <a:gd name="T14" fmla="*/ 2147483647 w 242"/>
              <a:gd name="T15" fmla="*/ 2147483647 h 134"/>
              <a:gd name="T16" fmla="*/ 2147483647 w 242"/>
              <a:gd name="T17" fmla="*/ 2147483647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2"/>
              <a:gd name="T28" fmla="*/ 0 h 134"/>
              <a:gd name="T29" fmla="*/ 242 w 242"/>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2" h="134">
                <a:moveTo>
                  <a:pt x="242" y="113"/>
                </a:moveTo>
                <a:cubicBezTo>
                  <a:pt x="242" y="124"/>
                  <a:pt x="234" y="134"/>
                  <a:pt x="226" y="134"/>
                </a:cubicBezTo>
                <a:cubicBezTo>
                  <a:pt x="16" y="134"/>
                  <a:pt x="16" y="134"/>
                  <a:pt x="16" y="134"/>
                </a:cubicBezTo>
                <a:cubicBezTo>
                  <a:pt x="8" y="134"/>
                  <a:pt x="0" y="124"/>
                  <a:pt x="0" y="113"/>
                </a:cubicBezTo>
                <a:cubicBezTo>
                  <a:pt x="0" y="21"/>
                  <a:pt x="0" y="21"/>
                  <a:pt x="0" y="21"/>
                </a:cubicBezTo>
                <a:cubicBezTo>
                  <a:pt x="0" y="10"/>
                  <a:pt x="8" y="0"/>
                  <a:pt x="16" y="0"/>
                </a:cubicBezTo>
                <a:cubicBezTo>
                  <a:pt x="226" y="0"/>
                  <a:pt x="226" y="0"/>
                  <a:pt x="226" y="0"/>
                </a:cubicBezTo>
                <a:cubicBezTo>
                  <a:pt x="234" y="0"/>
                  <a:pt x="242" y="10"/>
                  <a:pt x="242" y="21"/>
                </a:cubicBezTo>
                <a:lnTo>
                  <a:pt x="242" y="113"/>
                </a:lnTo>
                <a:close/>
              </a:path>
            </a:pathLst>
          </a:custGeom>
          <a:solidFill>
            <a:srgbClr val="D6E2E0"/>
          </a:solidFill>
          <a:ln w="9525">
            <a:noFill/>
            <a:round/>
            <a:headEnd/>
            <a:tailEnd/>
          </a:ln>
        </p:spPr>
        <p:txBody>
          <a:bodyPr/>
          <a:lstStyle/>
          <a:p>
            <a:endParaRPr lang="en-US"/>
          </a:p>
        </p:txBody>
      </p:sp>
      <p:sp>
        <p:nvSpPr>
          <p:cNvPr id="33826" name="Line 874"/>
          <p:cNvSpPr>
            <a:spLocks noChangeShapeType="1"/>
          </p:cNvSpPr>
          <p:nvPr/>
        </p:nvSpPr>
        <p:spPr bwMode="auto">
          <a:xfrm flipV="1">
            <a:off x="2162175" y="5156200"/>
            <a:ext cx="123825" cy="60325"/>
          </a:xfrm>
          <a:prstGeom prst="line">
            <a:avLst/>
          </a:prstGeom>
          <a:noFill/>
          <a:ln w="7938">
            <a:solidFill>
              <a:srgbClr val="000000"/>
            </a:solidFill>
            <a:miter lim="800000"/>
            <a:headEnd/>
            <a:tailEnd/>
          </a:ln>
        </p:spPr>
        <p:txBody>
          <a:bodyPr/>
          <a:lstStyle/>
          <a:p>
            <a:endParaRPr lang="en-US"/>
          </a:p>
        </p:txBody>
      </p:sp>
      <p:sp>
        <p:nvSpPr>
          <p:cNvPr id="33827" name="Line 875"/>
          <p:cNvSpPr>
            <a:spLocks noChangeShapeType="1"/>
          </p:cNvSpPr>
          <p:nvPr/>
        </p:nvSpPr>
        <p:spPr bwMode="auto">
          <a:xfrm flipV="1">
            <a:off x="2162175" y="5237163"/>
            <a:ext cx="123825" cy="61912"/>
          </a:xfrm>
          <a:prstGeom prst="line">
            <a:avLst/>
          </a:prstGeom>
          <a:noFill/>
          <a:ln w="7938">
            <a:solidFill>
              <a:srgbClr val="000000"/>
            </a:solidFill>
            <a:miter lim="800000"/>
            <a:headEnd/>
            <a:tailEnd/>
          </a:ln>
        </p:spPr>
        <p:txBody>
          <a:bodyPr/>
          <a:lstStyle/>
          <a:p>
            <a:endParaRPr lang="en-US"/>
          </a:p>
        </p:txBody>
      </p:sp>
      <p:sp>
        <p:nvSpPr>
          <p:cNvPr id="33828" name="Line 876"/>
          <p:cNvSpPr>
            <a:spLocks noChangeShapeType="1"/>
          </p:cNvSpPr>
          <p:nvPr/>
        </p:nvSpPr>
        <p:spPr bwMode="auto">
          <a:xfrm flipH="1">
            <a:off x="2362200" y="5365750"/>
            <a:ext cx="71438" cy="106363"/>
          </a:xfrm>
          <a:prstGeom prst="line">
            <a:avLst/>
          </a:prstGeom>
          <a:noFill/>
          <a:ln w="7938">
            <a:solidFill>
              <a:srgbClr val="000000"/>
            </a:solidFill>
            <a:miter lim="800000"/>
            <a:headEnd/>
            <a:tailEnd/>
          </a:ln>
        </p:spPr>
        <p:txBody>
          <a:bodyPr/>
          <a:lstStyle/>
          <a:p>
            <a:endParaRPr lang="en-US"/>
          </a:p>
        </p:txBody>
      </p:sp>
      <p:sp>
        <p:nvSpPr>
          <p:cNvPr id="33829" name="Line 877"/>
          <p:cNvSpPr>
            <a:spLocks noChangeShapeType="1"/>
          </p:cNvSpPr>
          <p:nvPr/>
        </p:nvSpPr>
        <p:spPr bwMode="auto">
          <a:xfrm flipH="1">
            <a:off x="2457450" y="5365750"/>
            <a:ext cx="69850" cy="106363"/>
          </a:xfrm>
          <a:prstGeom prst="line">
            <a:avLst/>
          </a:prstGeom>
          <a:noFill/>
          <a:ln w="7938">
            <a:solidFill>
              <a:srgbClr val="000000"/>
            </a:solidFill>
            <a:miter lim="800000"/>
            <a:headEnd/>
            <a:tailEnd/>
          </a:ln>
        </p:spPr>
        <p:txBody>
          <a:bodyPr/>
          <a:lstStyle/>
          <a:p>
            <a:endParaRPr lang="en-US"/>
          </a:p>
        </p:txBody>
      </p:sp>
      <p:sp>
        <p:nvSpPr>
          <p:cNvPr id="33830" name="Rectangle 878"/>
          <p:cNvSpPr>
            <a:spLocks noChangeArrowheads="1"/>
          </p:cNvSpPr>
          <p:nvPr/>
        </p:nvSpPr>
        <p:spPr bwMode="auto">
          <a:xfrm>
            <a:off x="914400" y="762000"/>
            <a:ext cx="1098550" cy="646113"/>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Roman"/>
              </a:rPr>
              <a:t>Price of cotton </a:t>
            </a:r>
            <a:br>
              <a:rPr lang="en-US" sz="1400" b="1">
                <a:solidFill>
                  <a:srgbClr val="000000"/>
                </a:solidFill>
                <a:latin typeface="Myriad Roman"/>
              </a:rPr>
            </a:br>
            <a:r>
              <a:rPr lang="en-US" sz="1400" b="1">
                <a:solidFill>
                  <a:srgbClr val="000000"/>
                </a:solidFill>
                <a:latin typeface="Myriad Roman"/>
              </a:rPr>
              <a:t>(per pound)</a:t>
            </a:r>
            <a:endParaRPr lang="en-US" sz="1400" b="1"/>
          </a:p>
        </p:txBody>
      </p:sp>
      <p:sp>
        <p:nvSpPr>
          <p:cNvPr id="33831" name="Rectangle 879"/>
          <p:cNvSpPr>
            <a:spLocks noChangeArrowheads="1"/>
          </p:cNvSpPr>
          <p:nvPr/>
        </p:nvSpPr>
        <p:spPr bwMode="auto">
          <a:xfrm>
            <a:off x="4529138" y="5735638"/>
            <a:ext cx="2176462" cy="430212"/>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Roman"/>
              </a:rPr>
              <a:t>Quantity of cotton (billions of pounds)</a:t>
            </a:r>
            <a:endParaRPr lang="en-US" sz="1400" b="1"/>
          </a:p>
        </p:txBody>
      </p:sp>
      <p:grpSp>
        <p:nvGrpSpPr>
          <p:cNvPr id="2" name="Group 886"/>
          <p:cNvGrpSpPr>
            <a:grpSpLocks/>
          </p:cNvGrpSpPr>
          <p:nvPr/>
        </p:nvGrpSpPr>
        <p:grpSpPr bwMode="auto">
          <a:xfrm>
            <a:off x="2903538" y="2422525"/>
            <a:ext cx="3402012" cy="2630488"/>
            <a:chOff x="1829" y="1526"/>
            <a:chExt cx="2143" cy="1657"/>
          </a:xfrm>
        </p:grpSpPr>
        <p:sp>
          <p:nvSpPr>
            <p:cNvPr id="33834" name="Freeform 839"/>
            <p:cNvSpPr>
              <a:spLocks/>
            </p:cNvSpPr>
            <p:nvPr/>
          </p:nvSpPr>
          <p:spPr bwMode="auto">
            <a:xfrm>
              <a:off x="1867" y="1558"/>
              <a:ext cx="1571" cy="1592"/>
            </a:xfrm>
            <a:custGeom>
              <a:avLst/>
              <a:gdLst>
                <a:gd name="T0" fmla="*/ 0 w 423"/>
                <a:gd name="T1" fmla="*/ 0 h 494"/>
                <a:gd name="T2" fmla="*/ 298917 w 423"/>
                <a:gd name="T3" fmla="*/ 171694 h 494"/>
                <a:gd name="T4" fmla="*/ 0 60000 65536"/>
                <a:gd name="T5" fmla="*/ 0 60000 65536"/>
                <a:gd name="T6" fmla="*/ 0 w 423"/>
                <a:gd name="T7" fmla="*/ 0 h 494"/>
                <a:gd name="T8" fmla="*/ 423 w 423"/>
                <a:gd name="T9" fmla="*/ 494 h 494"/>
              </a:gdLst>
              <a:ahLst/>
              <a:cxnLst>
                <a:cxn ang="T4">
                  <a:pos x="T0" y="T1"/>
                </a:cxn>
                <a:cxn ang="T5">
                  <a:pos x="T2" y="T3"/>
                </a:cxn>
              </a:cxnLst>
              <a:rect l="T6" t="T7" r="T8" b="T9"/>
              <a:pathLst>
                <a:path w="423" h="494">
                  <a:moveTo>
                    <a:pt x="0" y="0"/>
                  </a:moveTo>
                  <a:cubicBezTo>
                    <a:pt x="23" y="133"/>
                    <a:pt x="158" y="409"/>
                    <a:pt x="423" y="494"/>
                  </a:cubicBezTo>
                </a:path>
              </a:pathLst>
            </a:custGeom>
            <a:noFill/>
            <a:ln w="30163" cap="flat">
              <a:solidFill>
                <a:srgbClr val="3C5DAA"/>
              </a:solidFill>
              <a:prstDash val="solid"/>
              <a:miter lim="800000"/>
              <a:headEnd/>
              <a:tailEnd/>
            </a:ln>
          </p:spPr>
          <p:txBody>
            <a:bodyPr/>
            <a:lstStyle/>
            <a:p>
              <a:endParaRPr lang="en-US"/>
            </a:p>
          </p:txBody>
        </p:sp>
        <p:grpSp>
          <p:nvGrpSpPr>
            <p:cNvPr id="33835" name="Group 885"/>
            <p:cNvGrpSpPr>
              <a:grpSpLocks/>
            </p:cNvGrpSpPr>
            <p:nvPr/>
          </p:nvGrpSpPr>
          <p:grpSpPr bwMode="auto">
            <a:xfrm>
              <a:off x="1829" y="1526"/>
              <a:ext cx="2143" cy="1657"/>
              <a:chOff x="1829" y="1526"/>
              <a:chExt cx="2143" cy="1657"/>
            </a:xfrm>
          </p:grpSpPr>
          <p:sp>
            <p:nvSpPr>
              <p:cNvPr id="33836" name="Oval 840"/>
              <p:cNvSpPr>
                <a:spLocks noChangeArrowheads="1"/>
              </p:cNvSpPr>
              <p:nvPr/>
            </p:nvSpPr>
            <p:spPr bwMode="auto">
              <a:xfrm>
                <a:off x="1829" y="1526"/>
                <a:ext cx="74" cy="65"/>
              </a:xfrm>
              <a:prstGeom prst="ellipse">
                <a:avLst/>
              </a:prstGeom>
              <a:solidFill>
                <a:srgbClr val="000000"/>
              </a:solidFill>
              <a:ln w="9525">
                <a:noFill/>
                <a:round/>
                <a:headEnd/>
                <a:tailEnd/>
              </a:ln>
            </p:spPr>
            <p:txBody>
              <a:bodyPr/>
              <a:lstStyle/>
              <a:p>
                <a:endParaRPr lang="en-US"/>
              </a:p>
            </p:txBody>
          </p:sp>
          <p:sp>
            <p:nvSpPr>
              <p:cNvPr id="33837" name="Oval 841"/>
              <p:cNvSpPr>
                <a:spLocks noChangeArrowheads="1"/>
              </p:cNvSpPr>
              <p:nvPr/>
            </p:nvSpPr>
            <p:spPr bwMode="auto">
              <a:xfrm>
                <a:off x="1915" y="1790"/>
                <a:ext cx="75" cy="66"/>
              </a:xfrm>
              <a:prstGeom prst="ellipse">
                <a:avLst/>
              </a:prstGeom>
              <a:solidFill>
                <a:srgbClr val="000000"/>
              </a:solidFill>
              <a:ln w="9525">
                <a:noFill/>
                <a:round/>
                <a:headEnd/>
                <a:tailEnd/>
              </a:ln>
            </p:spPr>
            <p:txBody>
              <a:bodyPr/>
              <a:lstStyle/>
              <a:p>
                <a:endParaRPr lang="en-US"/>
              </a:p>
            </p:txBody>
          </p:sp>
          <p:sp>
            <p:nvSpPr>
              <p:cNvPr id="33838" name="Oval 842"/>
              <p:cNvSpPr>
                <a:spLocks noChangeArrowheads="1"/>
              </p:cNvSpPr>
              <p:nvPr/>
            </p:nvSpPr>
            <p:spPr bwMode="auto">
              <a:xfrm>
                <a:off x="2049" y="2057"/>
                <a:ext cx="75" cy="66"/>
              </a:xfrm>
              <a:prstGeom prst="ellipse">
                <a:avLst/>
              </a:prstGeom>
              <a:solidFill>
                <a:srgbClr val="000000"/>
              </a:solidFill>
              <a:ln w="9525">
                <a:noFill/>
                <a:round/>
                <a:headEnd/>
                <a:tailEnd/>
              </a:ln>
            </p:spPr>
            <p:txBody>
              <a:bodyPr/>
              <a:lstStyle/>
              <a:p>
                <a:endParaRPr lang="en-US"/>
              </a:p>
            </p:txBody>
          </p:sp>
          <p:sp>
            <p:nvSpPr>
              <p:cNvPr id="33839" name="Oval 843"/>
              <p:cNvSpPr>
                <a:spLocks noChangeArrowheads="1"/>
              </p:cNvSpPr>
              <p:nvPr/>
            </p:nvSpPr>
            <p:spPr bwMode="auto">
              <a:xfrm>
                <a:off x="2227" y="2322"/>
                <a:ext cx="73" cy="64"/>
              </a:xfrm>
              <a:prstGeom prst="ellipse">
                <a:avLst/>
              </a:prstGeom>
              <a:solidFill>
                <a:srgbClr val="000000"/>
              </a:solidFill>
              <a:ln w="9525">
                <a:noFill/>
                <a:round/>
                <a:headEnd/>
                <a:tailEnd/>
              </a:ln>
            </p:spPr>
            <p:txBody>
              <a:bodyPr/>
              <a:lstStyle/>
              <a:p>
                <a:endParaRPr lang="en-US"/>
              </a:p>
            </p:txBody>
          </p:sp>
          <p:sp>
            <p:nvSpPr>
              <p:cNvPr id="33840" name="Oval 844"/>
              <p:cNvSpPr>
                <a:spLocks noChangeArrowheads="1"/>
              </p:cNvSpPr>
              <p:nvPr/>
            </p:nvSpPr>
            <p:spPr bwMode="auto">
              <a:xfrm>
                <a:off x="2472" y="2587"/>
                <a:ext cx="75" cy="64"/>
              </a:xfrm>
              <a:prstGeom prst="ellipse">
                <a:avLst/>
              </a:prstGeom>
              <a:solidFill>
                <a:srgbClr val="000000"/>
              </a:solidFill>
              <a:ln w="9525">
                <a:noFill/>
                <a:round/>
                <a:headEnd/>
                <a:tailEnd/>
              </a:ln>
            </p:spPr>
            <p:txBody>
              <a:bodyPr/>
              <a:lstStyle/>
              <a:p>
                <a:endParaRPr lang="en-US"/>
              </a:p>
            </p:txBody>
          </p:sp>
          <p:sp>
            <p:nvSpPr>
              <p:cNvPr id="33841" name="Oval 845"/>
              <p:cNvSpPr>
                <a:spLocks noChangeArrowheads="1"/>
              </p:cNvSpPr>
              <p:nvPr/>
            </p:nvSpPr>
            <p:spPr bwMode="auto">
              <a:xfrm>
                <a:off x="2802" y="2850"/>
                <a:ext cx="75" cy="66"/>
              </a:xfrm>
              <a:prstGeom prst="ellipse">
                <a:avLst/>
              </a:prstGeom>
              <a:solidFill>
                <a:srgbClr val="000000"/>
              </a:solidFill>
              <a:ln w="9525">
                <a:noFill/>
                <a:round/>
                <a:headEnd/>
                <a:tailEnd/>
              </a:ln>
            </p:spPr>
            <p:txBody>
              <a:bodyPr/>
              <a:lstStyle/>
              <a:p>
                <a:endParaRPr lang="en-US"/>
              </a:p>
            </p:txBody>
          </p:sp>
          <p:sp>
            <p:nvSpPr>
              <p:cNvPr id="33842" name="Oval 846"/>
              <p:cNvSpPr>
                <a:spLocks noChangeArrowheads="1"/>
              </p:cNvSpPr>
              <p:nvPr/>
            </p:nvSpPr>
            <p:spPr bwMode="auto">
              <a:xfrm>
                <a:off x="3400" y="3118"/>
                <a:ext cx="76" cy="65"/>
              </a:xfrm>
              <a:prstGeom prst="ellipse">
                <a:avLst/>
              </a:prstGeom>
              <a:solidFill>
                <a:srgbClr val="000000"/>
              </a:solidFill>
              <a:ln w="9525">
                <a:noFill/>
                <a:round/>
                <a:headEnd/>
                <a:tailEnd/>
              </a:ln>
            </p:spPr>
            <p:txBody>
              <a:bodyPr/>
              <a:lstStyle/>
              <a:p>
                <a:endParaRPr lang="en-US"/>
              </a:p>
            </p:txBody>
          </p:sp>
          <p:sp>
            <p:nvSpPr>
              <p:cNvPr id="33843" name="Rectangle 882"/>
              <p:cNvSpPr>
                <a:spLocks noChangeArrowheads="1"/>
              </p:cNvSpPr>
              <p:nvPr/>
            </p:nvSpPr>
            <p:spPr bwMode="auto">
              <a:xfrm>
                <a:off x="3406" y="2882"/>
                <a:ext cx="566" cy="271"/>
              </a:xfrm>
              <a:prstGeom prst="rect">
                <a:avLst/>
              </a:prstGeom>
              <a:noFill/>
              <a:ln w="9525">
                <a:noFill/>
                <a:miter lim="800000"/>
                <a:headEnd/>
                <a:tailEnd/>
              </a:ln>
            </p:spPr>
            <p:txBody>
              <a:bodyPr lIns="0" tIns="0" rIns="0" bIns="0">
                <a:spAutoFit/>
              </a:bodyPr>
              <a:lstStyle/>
              <a:p>
                <a:pPr marL="1588" indent="-1588" algn="ctr"/>
                <a:r>
                  <a:rPr lang="en-US" sz="1400" i="1">
                    <a:solidFill>
                      <a:srgbClr val="000000"/>
                    </a:solidFill>
                    <a:latin typeface="Myriad Roman"/>
                  </a:rPr>
                  <a:t>Demand curve, D</a:t>
                </a:r>
                <a:endParaRPr lang="en-US" sz="1400" i="1"/>
              </a:p>
            </p:txBody>
          </p:sp>
        </p:grpSp>
      </p:grpSp>
      <p:sp>
        <p:nvSpPr>
          <p:cNvPr id="539507" name="Rectangle 883"/>
          <p:cNvSpPr>
            <a:spLocks noChangeArrowheads="1"/>
          </p:cNvSpPr>
          <p:nvPr/>
        </p:nvSpPr>
        <p:spPr bwMode="auto">
          <a:xfrm>
            <a:off x="2524125" y="4487863"/>
            <a:ext cx="1685925" cy="646112"/>
          </a:xfrm>
          <a:prstGeom prst="rect">
            <a:avLst/>
          </a:prstGeom>
          <a:noFill/>
          <a:ln w="9525">
            <a:noFill/>
            <a:miter lim="800000"/>
            <a:headEnd/>
            <a:tailEnd/>
          </a:ln>
        </p:spPr>
        <p:txBody>
          <a:bodyPr wrap="square" lIns="0" tIns="0" rIns="0" bIns="0">
            <a:spAutoFit/>
          </a:bodyPr>
          <a:lstStyle/>
          <a:p>
            <a:pPr marL="1588" indent="-1588" algn="ctr"/>
            <a:r>
              <a:rPr lang="en-US" sz="1400" i="1" dirty="0">
                <a:solidFill>
                  <a:srgbClr val="000000"/>
                </a:solidFill>
                <a:latin typeface="Myriad Roman"/>
              </a:rPr>
              <a:t>As price rises, the quantity demanded falls</a:t>
            </a:r>
            <a:endParaRPr lang="en-US" sz="1400" i="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8627">
                                            <p:bg/>
                                          </p:spTgt>
                                        </p:tgtEl>
                                        <p:attrNameLst>
                                          <p:attrName>style.visibility</p:attrName>
                                        </p:attrNameLst>
                                      </p:cBhvr>
                                      <p:to>
                                        <p:strVal val="visible"/>
                                      </p:to>
                                    </p:set>
                                    <p:animEffect transition="in" filter="wipe(left)">
                                      <p:cBhvr>
                                        <p:cTn id="12" dur="500"/>
                                        <p:tgtEl>
                                          <p:spTgt spid="538627">
                                            <p:bg/>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38627">
                                            <p:txEl>
                                              <p:pRg st="0" end="0"/>
                                            </p:txEl>
                                          </p:spTgt>
                                        </p:tgtEl>
                                        <p:attrNameLst>
                                          <p:attrName>style.visibility</p:attrName>
                                        </p:attrNameLst>
                                      </p:cBhvr>
                                      <p:to>
                                        <p:strVal val="visible"/>
                                      </p:to>
                                    </p:set>
                                    <p:animEffect transition="in" filter="wipe(left)">
                                      <p:cBhvr>
                                        <p:cTn id="15" dur="500"/>
                                        <p:tgtEl>
                                          <p:spTgt spid="53862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3947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39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8627" grpId="0" build="p" animBg="1"/>
      <p:bldP spid="539479" grpId="0" animBg="1"/>
      <p:bldP spid="539507"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8501" name="Text Box 5"/>
          <p:cNvSpPr txBox="1">
            <a:spLocks noChangeArrowheads="1"/>
          </p:cNvSpPr>
          <p:nvPr/>
        </p:nvSpPr>
        <p:spPr bwMode="auto">
          <a:xfrm>
            <a:off x="900113" y="1004888"/>
            <a:ext cx="3622675" cy="5016500"/>
          </a:xfrm>
          <a:prstGeom prst="rect">
            <a:avLst/>
          </a:prstGeom>
          <a:noFill/>
          <a:ln w="25400" algn="ctr">
            <a:noFill/>
            <a:prstDash val="sysDot"/>
            <a:miter lim="800000"/>
            <a:headEnd/>
            <a:tailEnd type="none" w="med" len="lg"/>
          </a:ln>
        </p:spPr>
        <p:txBody>
          <a:bodyPr>
            <a:spAutoFit/>
          </a:bodyPr>
          <a:lstStyle/>
          <a:p>
            <a:pPr marL="233363" indent="-233363">
              <a:buClr>
                <a:schemeClr val="tx1"/>
              </a:buClr>
              <a:buFont typeface="Wingdings" pitchFamily="2" charset="2"/>
              <a:buChar char="§"/>
            </a:pPr>
            <a:r>
              <a:rPr lang="en-US" sz="2000"/>
              <a:t>Because of high taxes, gasoline and diesel fuel are more than twice as expensive in most European countries as in the United States.</a:t>
            </a:r>
          </a:p>
          <a:p>
            <a:pPr marL="233363" indent="-233363">
              <a:buClr>
                <a:schemeClr val="tx1"/>
              </a:buClr>
              <a:buFont typeface="Wingdings" pitchFamily="2" charset="2"/>
              <a:buChar char="§"/>
            </a:pPr>
            <a:endParaRPr lang="en-US" sz="2000"/>
          </a:p>
          <a:p>
            <a:pPr marL="233363" indent="-233363">
              <a:buClr>
                <a:schemeClr val="tx1"/>
              </a:buClr>
              <a:buFont typeface="Wingdings" pitchFamily="2" charset="2"/>
              <a:buChar char="§"/>
            </a:pPr>
            <a:r>
              <a:rPr lang="en-US" sz="2000"/>
              <a:t>According to the law of demand, Europeans should buy less gasoline than Americans, and they do.</a:t>
            </a:r>
          </a:p>
          <a:p>
            <a:pPr marL="233363" indent="-233363">
              <a:buClr>
                <a:schemeClr val="tx1"/>
              </a:buClr>
              <a:buFont typeface="Wingdings" pitchFamily="2" charset="2"/>
              <a:buChar char="§"/>
            </a:pPr>
            <a:endParaRPr lang="en-US" sz="2000"/>
          </a:p>
          <a:p>
            <a:pPr marL="233363" indent="-233363">
              <a:buClr>
                <a:schemeClr val="tx1"/>
              </a:buClr>
              <a:buFont typeface="Wingdings" pitchFamily="2" charset="2"/>
              <a:buChar char="§"/>
            </a:pPr>
            <a:r>
              <a:rPr lang="en-US" sz="2000"/>
              <a:t>Europeans consume less than half as much fuel as Americans, mainly because they drive smaller cars with better mileage.</a:t>
            </a:r>
          </a:p>
        </p:txBody>
      </p:sp>
      <p:sp>
        <p:nvSpPr>
          <p:cNvPr id="35842" name="AutoShape 9"/>
          <p:cNvSpPr>
            <a:spLocks noChangeAspect="1" noChangeArrowheads="1" noTextEdit="1"/>
          </p:cNvSpPr>
          <p:nvPr/>
        </p:nvSpPr>
        <p:spPr bwMode="auto">
          <a:xfrm>
            <a:off x="4522788" y="1628775"/>
            <a:ext cx="4621212" cy="4703763"/>
          </a:xfrm>
          <a:prstGeom prst="rect">
            <a:avLst/>
          </a:prstGeom>
          <a:noFill/>
          <a:ln w="9525">
            <a:noFill/>
            <a:miter lim="800000"/>
            <a:headEnd/>
            <a:tailEnd/>
          </a:ln>
        </p:spPr>
        <p:txBody>
          <a:bodyPr/>
          <a:lstStyle/>
          <a:p>
            <a:endParaRPr lang="en-US"/>
          </a:p>
        </p:txBody>
      </p:sp>
      <p:sp>
        <p:nvSpPr>
          <p:cNvPr id="35843" name="Line 12"/>
          <p:cNvSpPr>
            <a:spLocks noChangeShapeType="1"/>
          </p:cNvSpPr>
          <p:nvPr/>
        </p:nvSpPr>
        <p:spPr bwMode="auto">
          <a:xfrm flipH="1">
            <a:off x="5856288" y="2370138"/>
            <a:ext cx="82550" cy="149225"/>
          </a:xfrm>
          <a:prstGeom prst="line">
            <a:avLst/>
          </a:prstGeom>
          <a:noFill/>
          <a:ln w="9525">
            <a:solidFill>
              <a:srgbClr val="000000"/>
            </a:solidFill>
            <a:miter lim="800000"/>
            <a:headEnd/>
            <a:tailEnd/>
          </a:ln>
        </p:spPr>
        <p:txBody>
          <a:bodyPr/>
          <a:lstStyle/>
          <a:p>
            <a:endParaRPr lang="en-US"/>
          </a:p>
        </p:txBody>
      </p:sp>
      <p:sp>
        <p:nvSpPr>
          <p:cNvPr id="35844" name="Line 13"/>
          <p:cNvSpPr>
            <a:spLocks noChangeShapeType="1"/>
          </p:cNvSpPr>
          <p:nvPr/>
        </p:nvSpPr>
        <p:spPr bwMode="auto">
          <a:xfrm>
            <a:off x="5267325" y="2447925"/>
            <a:ext cx="133350" cy="0"/>
          </a:xfrm>
          <a:prstGeom prst="line">
            <a:avLst/>
          </a:prstGeom>
          <a:noFill/>
          <a:ln w="9525">
            <a:solidFill>
              <a:srgbClr val="000000"/>
            </a:solidFill>
            <a:miter lim="800000"/>
            <a:headEnd/>
            <a:tailEnd/>
          </a:ln>
        </p:spPr>
        <p:txBody>
          <a:bodyPr/>
          <a:lstStyle/>
          <a:p>
            <a:endParaRPr lang="en-US"/>
          </a:p>
        </p:txBody>
      </p:sp>
      <p:sp>
        <p:nvSpPr>
          <p:cNvPr id="35845" name="Line 14"/>
          <p:cNvSpPr>
            <a:spLocks noChangeShapeType="1"/>
          </p:cNvSpPr>
          <p:nvPr/>
        </p:nvSpPr>
        <p:spPr bwMode="auto">
          <a:xfrm>
            <a:off x="5267325" y="2943225"/>
            <a:ext cx="133350" cy="0"/>
          </a:xfrm>
          <a:prstGeom prst="line">
            <a:avLst/>
          </a:prstGeom>
          <a:noFill/>
          <a:ln w="9525">
            <a:solidFill>
              <a:srgbClr val="000000"/>
            </a:solidFill>
            <a:miter lim="800000"/>
            <a:headEnd/>
            <a:tailEnd/>
          </a:ln>
        </p:spPr>
        <p:txBody>
          <a:bodyPr/>
          <a:lstStyle/>
          <a:p>
            <a:endParaRPr lang="en-US"/>
          </a:p>
        </p:txBody>
      </p:sp>
      <p:sp>
        <p:nvSpPr>
          <p:cNvPr id="35846" name="Line 15"/>
          <p:cNvSpPr>
            <a:spLocks noChangeShapeType="1"/>
          </p:cNvSpPr>
          <p:nvPr/>
        </p:nvSpPr>
        <p:spPr bwMode="auto">
          <a:xfrm>
            <a:off x="5267325" y="3438525"/>
            <a:ext cx="133350" cy="0"/>
          </a:xfrm>
          <a:prstGeom prst="line">
            <a:avLst/>
          </a:prstGeom>
          <a:noFill/>
          <a:ln w="9525">
            <a:solidFill>
              <a:srgbClr val="000000"/>
            </a:solidFill>
            <a:miter lim="800000"/>
            <a:headEnd/>
            <a:tailEnd/>
          </a:ln>
        </p:spPr>
        <p:txBody>
          <a:bodyPr/>
          <a:lstStyle/>
          <a:p>
            <a:endParaRPr lang="en-US"/>
          </a:p>
        </p:txBody>
      </p:sp>
      <p:sp>
        <p:nvSpPr>
          <p:cNvPr id="35847" name="Line 16"/>
          <p:cNvSpPr>
            <a:spLocks noChangeShapeType="1"/>
          </p:cNvSpPr>
          <p:nvPr/>
        </p:nvSpPr>
        <p:spPr bwMode="auto">
          <a:xfrm>
            <a:off x="5267325" y="3938588"/>
            <a:ext cx="133350" cy="0"/>
          </a:xfrm>
          <a:prstGeom prst="line">
            <a:avLst/>
          </a:prstGeom>
          <a:noFill/>
          <a:ln w="9525">
            <a:solidFill>
              <a:srgbClr val="000000"/>
            </a:solidFill>
            <a:miter lim="800000"/>
            <a:headEnd/>
            <a:tailEnd/>
          </a:ln>
        </p:spPr>
        <p:txBody>
          <a:bodyPr/>
          <a:lstStyle/>
          <a:p>
            <a:endParaRPr lang="en-US"/>
          </a:p>
        </p:txBody>
      </p:sp>
      <p:sp>
        <p:nvSpPr>
          <p:cNvPr id="35848" name="Line 17"/>
          <p:cNvSpPr>
            <a:spLocks noChangeShapeType="1"/>
          </p:cNvSpPr>
          <p:nvPr/>
        </p:nvSpPr>
        <p:spPr bwMode="auto">
          <a:xfrm>
            <a:off x="5267325" y="4433888"/>
            <a:ext cx="133350" cy="0"/>
          </a:xfrm>
          <a:prstGeom prst="line">
            <a:avLst/>
          </a:prstGeom>
          <a:noFill/>
          <a:ln w="9525">
            <a:solidFill>
              <a:srgbClr val="000000"/>
            </a:solidFill>
            <a:miter lim="800000"/>
            <a:headEnd/>
            <a:tailEnd/>
          </a:ln>
        </p:spPr>
        <p:txBody>
          <a:bodyPr/>
          <a:lstStyle/>
          <a:p>
            <a:endParaRPr lang="en-US"/>
          </a:p>
        </p:txBody>
      </p:sp>
      <p:sp>
        <p:nvSpPr>
          <p:cNvPr id="35849" name="Line 18"/>
          <p:cNvSpPr>
            <a:spLocks noChangeShapeType="1"/>
          </p:cNvSpPr>
          <p:nvPr/>
        </p:nvSpPr>
        <p:spPr bwMode="auto">
          <a:xfrm>
            <a:off x="5267325" y="4929188"/>
            <a:ext cx="133350" cy="0"/>
          </a:xfrm>
          <a:prstGeom prst="line">
            <a:avLst/>
          </a:prstGeom>
          <a:noFill/>
          <a:ln w="9525">
            <a:solidFill>
              <a:srgbClr val="000000"/>
            </a:solidFill>
            <a:miter lim="800000"/>
            <a:headEnd/>
            <a:tailEnd/>
          </a:ln>
        </p:spPr>
        <p:txBody>
          <a:bodyPr/>
          <a:lstStyle/>
          <a:p>
            <a:endParaRPr lang="en-US"/>
          </a:p>
        </p:txBody>
      </p:sp>
      <p:sp>
        <p:nvSpPr>
          <p:cNvPr id="35850" name="Line 19"/>
          <p:cNvSpPr>
            <a:spLocks noChangeShapeType="1"/>
          </p:cNvSpPr>
          <p:nvPr/>
        </p:nvSpPr>
        <p:spPr bwMode="auto">
          <a:xfrm flipV="1">
            <a:off x="5292725" y="1916113"/>
            <a:ext cx="0" cy="3365500"/>
          </a:xfrm>
          <a:prstGeom prst="line">
            <a:avLst/>
          </a:prstGeom>
          <a:noFill/>
          <a:ln w="9525">
            <a:solidFill>
              <a:srgbClr val="000000"/>
            </a:solidFill>
            <a:miter lim="800000"/>
            <a:headEnd/>
            <a:tailEnd/>
          </a:ln>
        </p:spPr>
        <p:txBody>
          <a:bodyPr/>
          <a:lstStyle/>
          <a:p>
            <a:endParaRPr lang="en-US"/>
          </a:p>
        </p:txBody>
      </p:sp>
      <p:sp>
        <p:nvSpPr>
          <p:cNvPr id="35851" name="Freeform 20"/>
          <p:cNvSpPr>
            <a:spLocks/>
          </p:cNvSpPr>
          <p:nvPr/>
        </p:nvSpPr>
        <p:spPr bwMode="auto">
          <a:xfrm>
            <a:off x="5267325" y="5291138"/>
            <a:ext cx="155575" cy="165100"/>
          </a:xfrm>
          <a:custGeom>
            <a:avLst/>
            <a:gdLst>
              <a:gd name="T0" fmla="*/ 2147483647 w 98"/>
              <a:gd name="T1" fmla="*/ 2147483647 h 104"/>
              <a:gd name="T2" fmla="*/ 0 w 98"/>
              <a:gd name="T3" fmla="*/ 2147483647 h 104"/>
              <a:gd name="T4" fmla="*/ 0 w 98"/>
              <a:gd name="T5" fmla="*/ 0 h 104"/>
              <a:gd name="T6" fmla="*/ 0 60000 65536"/>
              <a:gd name="T7" fmla="*/ 0 60000 65536"/>
              <a:gd name="T8" fmla="*/ 0 60000 65536"/>
              <a:gd name="T9" fmla="*/ 0 w 98"/>
              <a:gd name="T10" fmla="*/ 0 h 104"/>
              <a:gd name="T11" fmla="*/ 98 w 98"/>
              <a:gd name="T12" fmla="*/ 104 h 104"/>
            </a:gdLst>
            <a:ahLst/>
            <a:cxnLst>
              <a:cxn ang="T6">
                <a:pos x="T0" y="T1"/>
              </a:cxn>
              <a:cxn ang="T7">
                <a:pos x="T2" y="T3"/>
              </a:cxn>
              <a:cxn ang="T8">
                <a:pos x="T4" y="T5"/>
              </a:cxn>
            </a:cxnLst>
            <a:rect l="T9" t="T10" r="T11" b="T12"/>
            <a:pathLst>
              <a:path w="98" h="104">
                <a:moveTo>
                  <a:pt x="98" y="104"/>
                </a:moveTo>
                <a:lnTo>
                  <a:pt x="0" y="104"/>
                </a:lnTo>
                <a:lnTo>
                  <a:pt x="0" y="0"/>
                </a:lnTo>
              </a:path>
            </a:pathLst>
          </a:custGeom>
          <a:noFill/>
          <a:ln w="9525" cap="flat">
            <a:solidFill>
              <a:srgbClr val="000000"/>
            </a:solidFill>
            <a:prstDash val="solid"/>
            <a:miter lim="800000"/>
            <a:headEnd/>
            <a:tailEnd/>
          </a:ln>
        </p:spPr>
        <p:txBody>
          <a:bodyPr/>
          <a:lstStyle/>
          <a:p>
            <a:endParaRPr lang="en-US"/>
          </a:p>
        </p:txBody>
      </p:sp>
      <p:sp>
        <p:nvSpPr>
          <p:cNvPr id="35852" name="Line 21"/>
          <p:cNvSpPr>
            <a:spLocks noChangeShapeType="1"/>
          </p:cNvSpPr>
          <p:nvPr/>
        </p:nvSpPr>
        <p:spPr bwMode="auto">
          <a:xfrm flipH="1">
            <a:off x="5514975" y="5456238"/>
            <a:ext cx="3248025" cy="0"/>
          </a:xfrm>
          <a:prstGeom prst="line">
            <a:avLst/>
          </a:prstGeom>
          <a:noFill/>
          <a:ln w="9525">
            <a:solidFill>
              <a:srgbClr val="000000"/>
            </a:solidFill>
            <a:miter lim="800000"/>
            <a:headEnd/>
            <a:tailEnd/>
          </a:ln>
        </p:spPr>
        <p:txBody>
          <a:bodyPr/>
          <a:lstStyle/>
          <a:p>
            <a:endParaRPr lang="en-US"/>
          </a:p>
        </p:txBody>
      </p:sp>
      <p:sp>
        <p:nvSpPr>
          <p:cNvPr id="35853" name="Line 22"/>
          <p:cNvSpPr>
            <a:spLocks noChangeShapeType="1"/>
          </p:cNvSpPr>
          <p:nvPr/>
        </p:nvSpPr>
        <p:spPr bwMode="auto">
          <a:xfrm>
            <a:off x="5262563" y="5181600"/>
            <a:ext cx="0" cy="0"/>
          </a:xfrm>
          <a:prstGeom prst="line">
            <a:avLst/>
          </a:prstGeom>
          <a:noFill/>
          <a:ln w="20638">
            <a:solidFill>
              <a:srgbClr val="000000"/>
            </a:solidFill>
            <a:miter lim="800000"/>
            <a:headEnd/>
            <a:tailEnd/>
          </a:ln>
        </p:spPr>
        <p:txBody>
          <a:bodyPr/>
          <a:lstStyle/>
          <a:p>
            <a:endParaRPr lang="en-US"/>
          </a:p>
        </p:txBody>
      </p:sp>
      <p:sp>
        <p:nvSpPr>
          <p:cNvPr id="35854" name="Line 23"/>
          <p:cNvSpPr>
            <a:spLocks noChangeShapeType="1"/>
          </p:cNvSpPr>
          <p:nvPr/>
        </p:nvSpPr>
        <p:spPr bwMode="auto">
          <a:xfrm>
            <a:off x="5124450" y="4730750"/>
            <a:ext cx="0" cy="0"/>
          </a:xfrm>
          <a:prstGeom prst="line">
            <a:avLst/>
          </a:prstGeom>
          <a:noFill/>
          <a:ln w="20638">
            <a:solidFill>
              <a:srgbClr val="000000"/>
            </a:solidFill>
            <a:miter lim="800000"/>
            <a:headEnd/>
            <a:tailEnd/>
          </a:ln>
        </p:spPr>
        <p:txBody>
          <a:bodyPr/>
          <a:lstStyle/>
          <a:p>
            <a:endParaRPr lang="en-US"/>
          </a:p>
        </p:txBody>
      </p:sp>
      <p:sp>
        <p:nvSpPr>
          <p:cNvPr id="35855" name="Line 24"/>
          <p:cNvSpPr>
            <a:spLocks noChangeShapeType="1"/>
          </p:cNvSpPr>
          <p:nvPr/>
        </p:nvSpPr>
        <p:spPr bwMode="auto">
          <a:xfrm>
            <a:off x="5262563" y="4362450"/>
            <a:ext cx="0" cy="0"/>
          </a:xfrm>
          <a:prstGeom prst="line">
            <a:avLst/>
          </a:prstGeom>
          <a:noFill/>
          <a:ln w="20638">
            <a:solidFill>
              <a:srgbClr val="000000"/>
            </a:solidFill>
            <a:miter lim="800000"/>
            <a:headEnd/>
            <a:tailEnd/>
          </a:ln>
        </p:spPr>
        <p:txBody>
          <a:bodyPr/>
          <a:lstStyle/>
          <a:p>
            <a:endParaRPr lang="en-US"/>
          </a:p>
        </p:txBody>
      </p:sp>
      <p:sp>
        <p:nvSpPr>
          <p:cNvPr id="35856" name="Line 25"/>
          <p:cNvSpPr>
            <a:spLocks noChangeShapeType="1"/>
          </p:cNvSpPr>
          <p:nvPr/>
        </p:nvSpPr>
        <p:spPr bwMode="auto">
          <a:xfrm>
            <a:off x="5284788" y="4516438"/>
            <a:ext cx="0" cy="0"/>
          </a:xfrm>
          <a:prstGeom prst="line">
            <a:avLst/>
          </a:prstGeom>
          <a:noFill/>
          <a:ln w="20638">
            <a:solidFill>
              <a:srgbClr val="000000"/>
            </a:solidFill>
            <a:miter lim="800000"/>
            <a:headEnd/>
            <a:tailEnd/>
          </a:ln>
        </p:spPr>
        <p:txBody>
          <a:bodyPr/>
          <a:lstStyle/>
          <a:p>
            <a:endParaRPr lang="en-US"/>
          </a:p>
        </p:txBody>
      </p:sp>
      <p:sp>
        <p:nvSpPr>
          <p:cNvPr id="35857" name="Rectangle 26"/>
          <p:cNvSpPr>
            <a:spLocks noChangeArrowheads="1"/>
          </p:cNvSpPr>
          <p:nvPr/>
        </p:nvSpPr>
        <p:spPr bwMode="auto">
          <a:xfrm>
            <a:off x="7453313" y="5511800"/>
            <a:ext cx="2460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a:t>
            </a:r>
            <a:endParaRPr lang="en-US"/>
          </a:p>
        </p:txBody>
      </p:sp>
      <p:sp>
        <p:nvSpPr>
          <p:cNvPr id="35858" name="Rectangle 27"/>
          <p:cNvSpPr>
            <a:spLocks noChangeArrowheads="1"/>
          </p:cNvSpPr>
          <p:nvPr/>
        </p:nvSpPr>
        <p:spPr bwMode="auto">
          <a:xfrm>
            <a:off x="8404225" y="5511800"/>
            <a:ext cx="24606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1.4</a:t>
            </a:r>
            <a:endParaRPr lang="en-US"/>
          </a:p>
        </p:txBody>
      </p:sp>
      <p:sp>
        <p:nvSpPr>
          <p:cNvPr id="35859" name="Rectangle 28"/>
          <p:cNvSpPr>
            <a:spLocks noChangeArrowheads="1"/>
          </p:cNvSpPr>
          <p:nvPr/>
        </p:nvSpPr>
        <p:spPr bwMode="auto">
          <a:xfrm>
            <a:off x="6511925" y="5511800"/>
            <a:ext cx="24606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0.6</a:t>
            </a:r>
            <a:endParaRPr lang="en-US"/>
          </a:p>
        </p:txBody>
      </p:sp>
      <p:sp>
        <p:nvSpPr>
          <p:cNvPr id="35860" name="Rectangle 29"/>
          <p:cNvSpPr>
            <a:spLocks noChangeArrowheads="1"/>
          </p:cNvSpPr>
          <p:nvPr/>
        </p:nvSpPr>
        <p:spPr bwMode="auto">
          <a:xfrm>
            <a:off x="5583238" y="5511800"/>
            <a:ext cx="2460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0.2</a:t>
            </a:r>
            <a:endParaRPr lang="en-US"/>
          </a:p>
        </p:txBody>
      </p:sp>
      <p:sp>
        <p:nvSpPr>
          <p:cNvPr id="35861" name="Rectangle 30"/>
          <p:cNvSpPr>
            <a:spLocks noChangeArrowheads="1"/>
          </p:cNvSpPr>
          <p:nvPr/>
        </p:nvSpPr>
        <p:spPr bwMode="auto">
          <a:xfrm>
            <a:off x="5000625" y="2354263"/>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$8</a:t>
            </a:r>
            <a:endParaRPr lang="en-US"/>
          </a:p>
        </p:txBody>
      </p:sp>
      <p:sp>
        <p:nvSpPr>
          <p:cNvPr id="35862" name="Rectangle 31"/>
          <p:cNvSpPr>
            <a:spLocks noChangeArrowheads="1"/>
          </p:cNvSpPr>
          <p:nvPr/>
        </p:nvSpPr>
        <p:spPr bwMode="auto">
          <a:xfrm>
            <a:off x="5091113" y="2846388"/>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7</a:t>
            </a:r>
            <a:endParaRPr lang="en-US"/>
          </a:p>
        </p:txBody>
      </p:sp>
      <p:sp>
        <p:nvSpPr>
          <p:cNvPr id="35863" name="Rectangle 32"/>
          <p:cNvSpPr>
            <a:spLocks noChangeArrowheads="1"/>
          </p:cNvSpPr>
          <p:nvPr/>
        </p:nvSpPr>
        <p:spPr bwMode="auto">
          <a:xfrm>
            <a:off x="5091113" y="3341688"/>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6</a:t>
            </a:r>
            <a:endParaRPr lang="en-US"/>
          </a:p>
        </p:txBody>
      </p:sp>
      <p:sp>
        <p:nvSpPr>
          <p:cNvPr id="35864" name="Rectangle 33"/>
          <p:cNvSpPr>
            <a:spLocks noChangeArrowheads="1"/>
          </p:cNvSpPr>
          <p:nvPr/>
        </p:nvSpPr>
        <p:spPr bwMode="auto">
          <a:xfrm>
            <a:off x="5091113" y="3833813"/>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5</a:t>
            </a:r>
            <a:endParaRPr lang="en-US"/>
          </a:p>
        </p:txBody>
      </p:sp>
      <p:sp>
        <p:nvSpPr>
          <p:cNvPr id="35865" name="Rectangle 34"/>
          <p:cNvSpPr>
            <a:spLocks noChangeArrowheads="1"/>
          </p:cNvSpPr>
          <p:nvPr/>
        </p:nvSpPr>
        <p:spPr bwMode="auto">
          <a:xfrm>
            <a:off x="5091113" y="433387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4</a:t>
            </a:r>
            <a:endParaRPr lang="en-US"/>
          </a:p>
        </p:txBody>
      </p:sp>
      <p:sp>
        <p:nvSpPr>
          <p:cNvPr id="35866" name="Rectangle 35"/>
          <p:cNvSpPr>
            <a:spLocks noChangeArrowheads="1"/>
          </p:cNvSpPr>
          <p:nvPr/>
        </p:nvSpPr>
        <p:spPr bwMode="auto">
          <a:xfrm>
            <a:off x="5091113" y="483235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3</a:t>
            </a:r>
            <a:endParaRPr lang="en-US"/>
          </a:p>
        </p:txBody>
      </p:sp>
      <p:sp>
        <p:nvSpPr>
          <p:cNvPr id="35867" name="Rectangle 36"/>
          <p:cNvSpPr>
            <a:spLocks noChangeArrowheads="1"/>
          </p:cNvSpPr>
          <p:nvPr/>
        </p:nvSpPr>
        <p:spPr bwMode="auto">
          <a:xfrm>
            <a:off x="4787900" y="981075"/>
            <a:ext cx="914400" cy="862013"/>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Roman"/>
              </a:rPr>
              <a:t>Price of gasoline (per gallon)</a:t>
            </a:r>
            <a:endParaRPr lang="en-US" b="1"/>
          </a:p>
        </p:txBody>
      </p:sp>
      <p:sp>
        <p:nvSpPr>
          <p:cNvPr id="35868" name="Rectangle 48"/>
          <p:cNvSpPr>
            <a:spLocks noChangeArrowheads="1"/>
          </p:cNvSpPr>
          <p:nvPr/>
        </p:nvSpPr>
        <p:spPr bwMode="auto">
          <a:xfrm>
            <a:off x="5099050" y="551180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a:p>
        </p:txBody>
      </p:sp>
      <p:sp>
        <p:nvSpPr>
          <p:cNvPr id="35869" name="Line 49"/>
          <p:cNvSpPr>
            <a:spLocks noChangeShapeType="1"/>
          </p:cNvSpPr>
          <p:nvPr/>
        </p:nvSpPr>
        <p:spPr bwMode="auto">
          <a:xfrm flipV="1">
            <a:off x="8499475" y="5330825"/>
            <a:ext cx="0" cy="131763"/>
          </a:xfrm>
          <a:prstGeom prst="line">
            <a:avLst/>
          </a:prstGeom>
          <a:noFill/>
          <a:ln w="9525">
            <a:solidFill>
              <a:srgbClr val="000000"/>
            </a:solidFill>
            <a:miter lim="800000"/>
            <a:headEnd/>
            <a:tailEnd/>
          </a:ln>
        </p:spPr>
        <p:txBody>
          <a:bodyPr/>
          <a:lstStyle/>
          <a:p>
            <a:endParaRPr lang="en-US"/>
          </a:p>
        </p:txBody>
      </p:sp>
      <p:sp>
        <p:nvSpPr>
          <p:cNvPr id="35870" name="Line 50"/>
          <p:cNvSpPr>
            <a:spLocks noChangeShapeType="1"/>
          </p:cNvSpPr>
          <p:nvPr/>
        </p:nvSpPr>
        <p:spPr bwMode="auto">
          <a:xfrm flipV="1">
            <a:off x="7551738" y="5330825"/>
            <a:ext cx="0" cy="131763"/>
          </a:xfrm>
          <a:prstGeom prst="line">
            <a:avLst/>
          </a:prstGeom>
          <a:noFill/>
          <a:ln w="9525">
            <a:solidFill>
              <a:srgbClr val="000000"/>
            </a:solidFill>
            <a:miter lim="800000"/>
            <a:headEnd/>
            <a:tailEnd/>
          </a:ln>
        </p:spPr>
        <p:txBody>
          <a:bodyPr/>
          <a:lstStyle/>
          <a:p>
            <a:endParaRPr lang="en-US"/>
          </a:p>
        </p:txBody>
      </p:sp>
      <p:sp>
        <p:nvSpPr>
          <p:cNvPr id="35871" name="Line 51"/>
          <p:cNvSpPr>
            <a:spLocks noChangeShapeType="1"/>
          </p:cNvSpPr>
          <p:nvPr/>
        </p:nvSpPr>
        <p:spPr bwMode="auto">
          <a:xfrm flipV="1">
            <a:off x="6605588" y="5330825"/>
            <a:ext cx="0" cy="131763"/>
          </a:xfrm>
          <a:prstGeom prst="line">
            <a:avLst/>
          </a:prstGeom>
          <a:noFill/>
          <a:ln w="9525">
            <a:solidFill>
              <a:srgbClr val="000000"/>
            </a:solidFill>
            <a:miter lim="800000"/>
            <a:headEnd/>
            <a:tailEnd/>
          </a:ln>
        </p:spPr>
        <p:txBody>
          <a:bodyPr/>
          <a:lstStyle/>
          <a:p>
            <a:endParaRPr lang="en-US"/>
          </a:p>
        </p:txBody>
      </p:sp>
      <p:sp>
        <p:nvSpPr>
          <p:cNvPr id="35872" name="Line 52"/>
          <p:cNvSpPr>
            <a:spLocks noChangeShapeType="1"/>
          </p:cNvSpPr>
          <p:nvPr/>
        </p:nvSpPr>
        <p:spPr bwMode="auto">
          <a:xfrm flipV="1">
            <a:off x="5670550" y="5330825"/>
            <a:ext cx="0" cy="131763"/>
          </a:xfrm>
          <a:prstGeom prst="line">
            <a:avLst/>
          </a:prstGeom>
          <a:noFill/>
          <a:ln w="9525">
            <a:solidFill>
              <a:srgbClr val="000000"/>
            </a:solidFill>
            <a:miter lim="800000"/>
            <a:headEnd/>
            <a:tailEnd/>
          </a:ln>
        </p:spPr>
        <p:txBody>
          <a:bodyPr/>
          <a:lstStyle/>
          <a:p>
            <a:endParaRPr lang="en-US"/>
          </a:p>
        </p:txBody>
      </p:sp>
      <p:sp>
        <p:nvSpPr>
          <p:cNvPr id="35873" name="Line 53"/>
          <p:cNvSpPr>
            <a:spLocks noChangeShapeType="1"/>
          </p:cNvSpPr>
          <p:nvPr/>
        </p:nvSpPr>
        <p:spPr bwMode="auto">
          <a:xfrm>
            <a:off x="5773738" y="2717800"/>
            <a:ext cx="176212" cy="142875"/>
          </a:xfrm>
          <a:prstGeom prst="line">
            <a:avLst/>
          </a:prstGeom>
          <a:noFill/>
          <a:ln w="9525">
            <a:solidFill>
              <a:srgbClr val="000000"/>
            </a:solidFill>
            <a:miter lim="800000"/>
            <a:headEnd/>
            <a:tailEnd/>
          </a:ln>
        </p:spPr>
        <p:txBody>
          <a:bodyPr/>
          <a:lstStyle/>
          <a:p>
            <a:endParaRPr lang="en-US"/>
          </a:p>
        </p:txBody>
      </p:sp>
      <p:sp>
        <p:nvSpPr>
          <p:cNvPr id="35874" name="Line 54"/>
          <p:cNvSpPr>
            <a:spLocks noChangeShapeType="1"/>
          </p:cNvSpPr>
          <p:nvPr/>
        </p:nvSpPr>
        <p:spPr bwMode="auto">
          <a:xfrm flipH="1" flipV="1">
            <a:off x="5637213" y="2667000"/>
            <a:ext cx="15875" cy="298450"/>
          </a:xfrm>
          <a:prstGeom prst="line">
            <a:avLst/>
          </a:prstGeom>
          <a:noFill/>
          <a:ln w="9525">
            <a:solidFill>
              <a:srgbClr val="000000"/>
            </a:solidFill>
            <a:miter lim="800000"/>
            <a:headEnd/>
            <a:tailEnd/>
          </a:ln>
        </p:spPr>
        <p:txBody>
          <a:bodyPr/>
          <a:lstStyle/>
          <a:p>
            <a:endParaRPr lang="en-US"/>
          </a:p>
        </p:txBody>
      </p:sp>
      <p:sp>
        <p:nvSpPr>
          <p:cNvPr id="35875" name="Line 55"/>
          <p:cNvSpPr>
            <a:spLocks noChangeShapeType="1"/>
          </p:cNvSpPr>
          <p:nvPr/>
        </p:nvSpPr>
        <p:spPr bwMode="auto">
          <a:xfrm flipH="1" flipV="1">
            <a:off x="5659438" y="3459163"/>
            <a:ext cx="147637" cy="28575"/>
          </a:xfrm>
          <a:prstGeom prst="line">
            <a:avLst/>
          </a:prstGeom>
          <a:noFill/>
          <a:ln w="9525">
            <a:solidFill>
              <a:srgbClr val="000000"/>
            </a:solidFill>
            <a:miter lim="800000"/>
            <a:headEnd/>
            <a:tailEnd/>
          </a:ln>
        </p:spPr>
        <p:txBody>
          <a:bodyPr/>
          <a:lstStyle/>
          <a:p>
            <a:endParaRPr lang="en-US"/>
          </a:p>
        </p:txBody>
      </p:sp>
      <p:sp>
        <p:nvSpPr>
          <p:cNvPr id="35876" name="Line 56"/>
          <p:cNvSpPr>
            <a:spLocks noChangeShapeType="1"/>
          </p:cNvSpPr>
          <p:nvPr/>
        </p:nvSpPr>
        <p:spPr bwMode="auto">
          <a:xfrm flipH="1">
            <a:off x="7540625" y="4373563"/>
            <a:ext cx="115888" cy="71437"/>
          </a:xfrm>
          <a:prstGeom prst="line">
            <a:avLst/>
          </a:prstGeom>
          <a:noFill/>
          <a:ln w="9525">
            <a:solidFill>
              <a:srgbClr val="000000"/>
            </a:solidFill>
            <a:miter lim="800000"/>
            <a:headEnd/>
            <a:tailEnd/>
          </a:ln>
        </p:spPr>
        <p:txBody>
          <a:bodyPr/>
          <a:lstStyle/>
          <a:p>
            <a:endParaRPr lang="en-US"/>
          </a:p>
        </p:txBody>
      </p:sp>
      <p:sp>
        <p:nvSpPr>
          <p:cNvPr id="35877" name="Line 57"/>
          <p:cNvSpPr>
            <a:spLocks noChangeShapeType="1"/>
          </p:cNvSpPr>
          <p:nvPr/>
        </p:nvSpPr>
        <p:spPr bwMode="auto">
          <a:xfrm flipH="1">
            <a:off x="8075613" y="4911725"/>
            <a:ext cx="207962" cy="66675"/>
          </a:xfrm>
          <a:prstGeom prst="line">
            <a:avLst/>
          </a:prstGeom>
          <a:noFill/>
          <a:ln w="9525">
            <a:solidFill>
              <a:srgbClr val="000000"/>
            </a:solidFill>
            <a:miter lim="800000"/>
            <a:headEnd/>
            <a:tailEnd/>
          </a:ln>
        </p:spPr>
        <p:txBody>
          <a:bodyPr/>
          <a:lstStyle/>
          <a:p>
            <a:endParaRPr lang="en-US"/>
          </a:p>
        </p:txBody>
      </p:sp>
      <p:sp>
        <p:nvSpPr>
          <p:cNvPr id="35878" name="Rectangle 58"/>
          <p:cNvSpPr>
            <a:spLocks noChangeArrowheads="1"/>
          </p:cNvSpPr>
          <p:nvPr/>
        </p:nvSpPr>
        <p:spPr bwMode="auto">
          <a:xfrm>
            <a:off x="5967413" y="2762250"/>
            <a:ext cx="57150" cy="195263"/>
          </a:xfrm>
          <a:prstGeom prst="rect">
            <a:avLst/>
          </a:prstGeom>
          <a:noFill/>
          <a:ln w="9525">
            <a:noFill/>
            <a:miter lim="800000"/>
            <a:headEnd/>
            <a:tailEnd/>
          </a:ln>
        </p:spPr>
        <p:txBody>
          <a:bodyPr wrap="none" lIns="0" tIns="0" rIns="0" bIns="0">
            <a:spAutoFit/>
          </a:bodyPr>
          <a:lstStyle/>
          <a:p>
            <a:pPr marL="1588" indent="-1588"/>
            <a:r>
              <a:rPr lang="en-US" sz="1600">
                <a:solidFill>
                  <a:srgbClr val="000000"/>
                </a:solidFill>
                <a:latin typeface="Myriad Roman"/>
              </a:rPr>
              <a:t>I</a:t>
            </a:r>
            <a:endParaRPr lang="en-US"/>
          </a:p>
        </p:txBody>
      </p:sp>
      <p:sp>
        <p:nvSpPr>
          <p:cNvPr id="35879" name="Rectangle 59"/>
          <p:cNvSpPr>
            <a:spLocks noChangeArrowheads="1"/>
          </p:cNvSpPr>
          <p:nvPr/>
        </p:nvSpPr>
        <p:spPr bwMode="auto">
          <a:xfrm>
            <a:off x="6015038" y="2762250"/>
            <a:ext cx="319087" cy="246063"/>
          </a:xfrm>
          <a:prstGeom prst="rect">
            <a:avLst/>
          </a:prstGeom>
          <a:noFill/>
          <a:ln w="9525">
            <a:noFill/>
            <a:miter lim="800000"/>
            <a:headEnd/>
            <a:tailEnd/>
          </a:ln>
        </p:spPr>
        <p:txBody>
          <a:bodyPr wrap="none" lIns="0" tIns="0" rIns="0" bIns="0">
            <a:spAutoFit/>
          </a:bodyPr>
          <a:lstStyle/>
          <a:p>
            <a:pPr marL="1588" indent="-1588"/>
            <a:r>
              <a:rPr lang="en-US" sz="1600" i="1">
                <a:solidFill>
                  <a:srgbClr val="000000"/>
                </a:solidFill>
                <a:latin typeface="Myriad Roman"/>
              </a:rPr>
              <a:t>taly</a:t>
            </a:r>
            <a:endParaRPr lang="en-US" i="1"/>
          </a:p>
        </p:txBody>
      </p:sp>
      <p:sp>
        <p:nvSpPr>
          <p:cNvPr id="35880" name="Rectangle 60"/>
          <p:cNvSpPr>
            <a:spLocks noChangeArrowheads="1"/>
          </p:cNvSpPr>
          <p:nvPr/>
        </p:nvSpPr>
        <p:spPr bwMode="auto">
          <a:xfrm>
            <a:off x="5487988" y="2917825"/>
            <a:ext cx="638175" cy="246063"/>
          </a:xfrm>
          <a:prstGeom prst="rect">
            <a:avLst/>
          </a:prstGeom>
          <a:noFill/>
          <a:ln w="9525">
            <a:noFill/>
            <a:miter lim="800000"/>
            <a:headEnd/>
            <a:tailEnd/>
          </a:ln>
        </p:spPr>
        <p:txBody>
          <a:bodyPr wrap="none" lIns="0" tIns="0" rIns="0" bIns="0">
            <a:spAutoFit/>
          </a:bodyPr>
          <a:lstStyle/>
          <a:p>
            <a:pPr marL="1588" indent="-1588"/>
            <a:r>
              <a:rPr lang="en-US" sz="1600" i="1">
                <a:solidFill>
                  <a:srgbClr val="000000"/>
                </a:solidFill>
                <a:latin typeface="Myriad Roman"/>
              </a:rPr>
              <a:t>France</a:t>
            </a:r>
            <a:endParaRPr lang="en-US" i="1"/>
          </a:p>
        </p:txBody>
      </p:sp>
      <p:sp>
        <p:nvSpPr>
          <p:cNvPr id="35881" name="Rectangle 65"/>
          <p:cNvSpPr>
            <a:spLocks noChangeArrowheads="1"/>
          </p:cNvSpPr>
          <p:nvPr/>
        </p:nvSpPr>
        <p:spPr bwMode="auto">
          <a:xfrm>
            <a:off x="7681913" y="4214813"/>
            <a:ext cx="715962" cy="246062"/>
          </a:xfrm>
          <a:prstGeom prst="rect">
            <a:avLst/>
          </a:prstGeom>
          <a:noFill/>
          <a:ln w="9525">
            <a:noFill/>
            <a:miter lim="800000"/>
            <a:headEnd/>
            <a:tailEnd/>
          </a:ln>
        </p:spPr>
        <p:txBody>
          <a:bodyPr wrap="none" lIns="0" tIns="0" rIns="0" bIns="0">
            <a:spAutoFit/>
          </a:bodyPr>
          <a:lstStyle/>
          <a:p>
            <a:pPr marL="1588" indent="-1588"/>
            <a:r>
              <a:rPr lang="en-US" sz="1600" i="1">
                <a:solidFill>
                  <a:srgbClr val="000000"/>
                </a:solidFill>
                <a:latin typeface="Myriad Roman"/>
              </a:rPr>
              <a:t>Canada</a:t>
            </a:r>
            <a:endParaRPr lang="en-US" i="1"/>
          </a:p>
        </p:txBody>
      </p:sp>
      <p:sp>
        <p:nvSpPr>
          <p:cNvPr id="35882" name="Rectangle 67"/>
          <p:cNvSpPr>
            <a:spLocks noChangeArrowheads="1"/>
          </p:cNvSpPr>
          <p:nvPr/>
        </p:nvSpPr>
        <p:spPr bwMode="auto">
          <a:xfrm>
            <a:off x="6781800" y="4865688"/>
            <a:ext cx="1230313" cy="246062"/>
          </a:xfrm>
          <a:prstGeom prst="rect">
            <a:avLst/>
          </a:prstGeom>
          <a:noFill/>
          <a:ln w="9525">
            <a:noFill/>
            <a:miter lim="800000"/>
            <a:headEnd/>
            <a:tailEnd/>
          </a:ln>
        </p:spPr>
        <p:txBody>
          <a:bodyPr wrap="none" lIns="0" tIns="0" rIns="0" bIns="0">
            <a:spAutoFit/>
          </a:bodyPr>
          <a:lstStyle/>
          <a:p>
            <a:pPr marL="1588" indent="-1588"/>
            <a:r>
              <a:rPr lang="en-US" sz="1600" i="1">
                <a:solidFill>
                  <a:srgbClr val="000000"/>
                </a:solidFill>
                <a:latin typeface="Myriad Roman"/>
              </a:rPr>
              <a:t>United States</a:t>
            </a:r>
            <a:endParaRPr lang="en-US" i="1"/>
          </a:p>
        </p:txBody>
      </p:sp>
      <p:sp>
        <p:nvSpPr>
          <p:cNvPr id="35883" name="Oval 73"/>
          <p:cNvSpPr>
            <a:spLocks noChangeArrowheads="1"/>
          </p:cNvSpPr>
          <p:nvPr/>
        </p:nvSpPr>
        <p:spPr bwMode="auto">
          <a:xfrm>
            <a:off x="8229600" y="4857750"/>
            <a:ext cx="109538" cy="109538"/>
          </a:xfrm>
          <a:prstGeom prst="ellipse">
            <a:avLst/>
          </a:prstGeom>
          <a:solidFill>
            <a:srgbClr val="0076A3"/>
          </a:solidFill>
          <a:ln w="9525">
            <a:noFill/>
            <a:round/>
            <a:headEnd/>
            <a:tailEnd/>
          </a:ln>
        </p:spPr>
        <p:txBody>
          <a:bodyPr/>
          <a:lstStyle/>
          <a:p>
            <a:endParaRPr lang="en-US"/>
          </a:p>
        </p:txBody>
      </p:sp>
      <p:sp>
        <p:nvSpPr>
          <p:cNvPr id="35884" name="Oval 74"/>
          <p:cNvSpPr>
            <a:spLocks noChangeArrowheads="1"/>
          </p:cNvSpPr>
          <p:nvPr/>
        </p:nvSpPr>
        <p:spPr bwMode="auto">
          <a:xfrm>
            <a:off x="7469188" y="4395788"/>
            <a:ext cx="111125" cy="109537"/>
          </a:xfrm>
          <a:prstGeom prst="ellipse">
            <a:avLst/>
          </a:prstGeom>
          <a:solidFill>
            <a:srgbClr val="D3611C"/>
          </a:solidFill>
          <a:ln w="9525">
            <a:noFill/>
            <a:round/>
            <a:headEnd/>
            <a:tailEnd/>
          </a:ln>
        </p:spPr>
        <p:txBody>
          <a:bodyPr/>
          <a:lstStyle/>
          <a:p>
            <a:endParaRPr lang="en-US"/>
          </a:p>
        </p:txBody>
      </p:sp>
      <p:sp>
        <p:nvSpPr>
          <p:cNvPr id="35885" name="Oval 75"/>
          <p:cNvSpPr>
            <a:spLocks noChangeArrowheads="1"/>
          </p:cNvSpPr>
          <p:nvPr/>
        </p:nvSpPr>
        <p:spPr bwMode="auto">
          <a:xfrm>
            <a:off x="5592763" y="3409950"/>
            <a:ext cx="109537" cy="111125"/>
          </a:xfrm>
          <a:prstGeom prst="ellipse">
            <a:avLst/>
          </a:prstGeom>
          <a:solidFill>
            <a:srgbClr val="93817B"/>
          </a:solidFill>
          <a:ln w="9525">
            <a:noFill/>
            <a:round/>
            <a:headEnd/>
            <a:tailEnd/>
          </a:ln>
        </p:spPr>
        <p:txBody>
          <a:bodyPr/>
          <a:lstStyle/>
          <a:p>
            <a:endParaRPr lang="en-US"/>
          </a:p>
        </p:txBody>
      </p:sp>
      <p:sp>
        <p:nvSpPr>
          <p:cNvPr id="35886" name="Oval 76"/>
          <p:cNvSpPr>
            <a:spLocks noChangeArrowheads="1"/>
          </p:cNvSpPr>
          <p:nvPr/>
        </p:nvSpPr>
        <p:spPr bwMode="auto">
          <a:xfrm>
            <a:off x="5559425" y="2624138"/>
            <a:ext cx="111125" cy="109537"/>
          </a:xfrm>
          <a:prstGeom prst="ellipse">
            <a:avLst/>
          </a:prstGeom>
          <a:solidFill>
            <a:srgbClr val="63C29C"/>
          </a:solidFill>
          <a:ln w="9525">
            <a:noFill/>
            <a:round/>
            <a:headEnd/>
            <a:tailEnd/>
          </a:ln>
        </p:spPr>
        <p:txBody>
          <a:bodyPr/>
          <a:lstStyle/>
          <a:p>
            <a:endParaRPr lang="en-US"/>
          </a:p>
        </p:txBody>
      </p:sp>
      <p:sp>
        <p:nvSpPr>
          <p:cNvPr id="35887" name="Oval 77"/>
          <p:cNvSpPr>
            <a:spLocks noChangeArrowheads="1"/>
          </p:cNvSpPr>
          <p:nvPr/>
        </p:nvSpPr>
        <p:spPr bwMode="auto">
          <a:xfrm>
            <a:off x="5730875" y="2678113"/>
            <a:ext cx="109538" cy="111125"/>
          </a:xfrm>
          <a:prstGeom prst="ellipse">
            <a:avLst/>
          </a:prstGeom>
          <a:solidFill>
            <a:srgbClr val="FDBA40"/>
          </a:solidFill>
          <a:ln w="9525">
            <a:noFill/>
            <a:round/>
            <a:headEnd/>
            <a:tailEnd/>
          </a:ln>
        </p:spPr>
        <p:txBody>
          <a:bodyPr/>
          <a:lstStyle/>
          <a:p>
            <a:endParaRPr lang="en-US"/>
          </a:p>
        </p:txBody>
      </p:sp>
      <p:sp>
        <p:nvSpPr>
          <p:cNvPr id="35888" name="Line 78"/>
          <p:cNvSpPr>
            <a:spLocks noChangeShapeType="1"/>
          </p:cNvSpPr>
          <p:nvPr/>
        </p:nvSpPr>
        <p:spPr bwMode="auto">
          <a:xfrm flipV="1">
            <a:off x="5207000" y="5170488"/>
            <a:ext cx="115888" cy="66675"/>
          </a:xfrm>
          <a:prstGeom prst="line">
            <a:avLst/>
          </a:prstGeom>
          <a:noFill/>
          <a:ln w="9525">
            <a:solidFill>
              <a:srgbClr val="000000"/>
            </a:solidFill>
            <a:miter lim="800000"/>
            <a:headEnd/>
            <a:tailEnd/>
          </a:ln>
        </p:spPr>
        <p:txBody>
          <a:bodyPr/>
          <a:lstStyle/>
          <a:p>
            <a:endParaRPr lang="en-US"/>
          </a:p>
        </p:txBody>
      </p:sp>
      <p:sp>
        <p:nvSpPr>
          <p:cNvPr id="35889" name="Line 79"/>
          <p:cNvSpPr>
            <a:spLocks noChangeShapeType="1"/>
          </p:cNvSpPr>
          <p:nvPr/>
        </p:nvSpPr>
        <p:spPr bwMode="auto">
          <a:xfrm flipV="1">
            <a:off x="5207000" y="5259388"/>
            <a:ext cx="115888" cy="65087"/>
          </a:xfrm>
          <a:prstGeom prst="line">
            <a:avLst/>
          </a:prstGeom>
          <a:noFill/>
          <a:ln w="9525">
            <a:solidFill>
              <a:srgbClr val="000000"/>
            </a:solidFill>
            <a:miter lim="800000"/>
            <a:headEnd/>
            <a:tailEnd/>
          </a:ln>
        </p:spPr>
        <p:txBody>
          <a:bodyPr/>
          <a:lstStyle/>
          <a:p>
            <a:endParaRPr lang="en-US"/>
          </a:p>
        </p:txBody>
      </p:sp>
      <p:sp>
        <p:nvSpPr>
          <p:cNvPr id="35890" name="Line 80"/>
          <p:cNvSpPr>
            <a:spLocks noChangeShapeType="1"/>
          </p:cNvSpPr>
          <p:nvPr/>
        </p:nvSpPr>
        <p:spPr bwMode="auto">
          <a:xfrm flipH="1">
            <a:off x="5394325" y="5395913"/>
            <a:ext cx="66675" cy="115887"/>
          </a:xfrm>
          <a:prstGeom prst="line">
            <a:avLst/>
          </a:prstGeom>
          <a:noFill/>
          <a:ln w="9525">
            <a:solidFill>
              <a:srgbClr val="000000"/>
            </a:solidFill>
            <a:miter lim="800000"/>
            <a:headEnd/>
            <a:tailEnd/>
          </a:ln>
        </p:spPr>
        <p:txBody>
          <a:bodyPr/>
          <a:lstStyle/>
          <a:p>
            <a:endParaRPr lang="en-US"/>
          </a:p>
        </p:txBody>
      </p:sp>
      <p:sp>
        <p:nvSpPr>
          <p:cNvPr id="35891" name="Line 81"/>
          <p:cNvSpPr>
            <a:spLocks noChangeShapeType="1"/>
          </p:cNvSpPr>
          <p:nvPr/>
        </p:nvSpPr>
        <p:spPr bwMode="auto">
          <a:xfrm flipH="1">
            <a:off x="5483225" y="5395913"/>
            <a:ext cx="65088" cy="115887"/>
          </a:xfrm>
          <a:prstGeom prst="line">
            <a:avLst/>
          </a:prstGeom>
          <a:noFill/>
          <a:ln w="9525">
            <a:solidFill>
              <a:srgbClr val="000000"/>
            </a:solidFill>
            <a:miter lim="800000"/>
            <a:headEnd/>
            <a:tailEnd/>
          </a:ln>
        </p:spPr>
        <p:txBody>
          <a:bodyPr/>
          <a:lstStyle/>
          <a:p>
            <a:endParaRPr lang="en-US"/>
          </a:p>
        </p:txBody>
      </p:sp>
      <p:sp>
        <p:nvSpPr>
          <p:cNvPr id="35892" name="Line 82"/>
          <p:cNvSpPr>
            <a:spLocks noChangeShapeType="1"/>
          </p:cNvSpPr>
          <p:nvPr/>
        </p:nvSpPr>
        <p:spPr bwMode="auto">
          <a:xfrm flipH="1" flipV="1">
            <a:off x="6016625" y="3746500"/>
            <a:ext cx="127000" cy="109538"/>
          </a:xfrm>
          <a:prstGeom prst="line">
            <a:avLst/>
          </a:prstGeom>
          <a:noFill/>
          <a:ln w="9525">
            <a:solidFill>
              <a:srgbClr val="000000"/>
            </a:solidFill>
            <a:miter lim="800000"/>
            <a:headEnd/>
            <a:tailEnd/>
          </a:ln>
        </p:spPr>
        <p:txBody>
          <a:bodyPr/>
          <a:lstStyle/>
          <a:p>
            <a:endParaRPr lang="en-US"/>
          </a:p>
        </p:txBody>
      </p:sp>
      <p:sp>
        <p:nvSpPr>
          <p:cNvPr id="35893" name="Rectangle 83"/>
          <p:cNvSpPr>
            <a:spLocks noChangeArrowheads="1"/>
          </p:cNvSpPr>
          <p:nvPr/>
        </p:nvSpPr>
        <p:spPr bwMode="auto">
          <a:xfrm>
            <a:off x="6157913" y="3771900"/>
            <a:ext cx="557212" cy="246063"/>
          </a:xfrm>
          <a:prstGeom prst="rect">
            <a:avLst/>
          </a:prstGeom>
          <a:noFill/>
          <a:ln w="9525">
            <a:noFill/>
            <a:miter lim="800000"/>
            <a:headEnd/>
            <a:tailEnd/>
          </a:ln>
        </p:spPr>
        <p:txBody>
          <a:bodyPr wrap="none" lIns="0" tIns="0" rIns="0" bIns="0">
            <a:spAutoFit/>
          </a:bodyPr>
          <a:lstStyle/>
          <a:p>
            <a:pPr marL="1588" indent="-1588"/>
            <a:r>
              <a:rPr lang="en-US" sz="1600" i="1">
                <a:solidFill>
                  <a:srgbClr val="000000"/>
                </a:solidFill>
                <a:latin typeface="Myriad Roman"/>
              </a:rPr>
              <a:t>Japan</a:t>
            </a:r>
            <a:endParaRPr lang="en-US" i="1"/>
          </a:p>
        </p:txBody>
      </p:sp>
      <p:sp>
        <p:nvSpPr>
          <p:cNvPr id="35894" name="Oval 84"/>
          <p:cNvSpPr>
            <a:spLocks noChangeArrowheads="1"/>
          </p:cNvSpPr>
          <p:nvPr/>
        </p:nvSpPr>
        <p:spPr bwMode="auto">
          <a:xfrm>
            <a:off x="5961063" y="3679825"/>
            <a:ext cx="111125" cy="109538"/>
          </a:xfrm>
          <a:prstGeom prst="ellipse">
            <a:avLst/>
          </a:prstGeom>
          <a:solidFill>
            <a:srgbClr val="ED1B2F"/>
          </a:solidFill>
          <a:ln w="9525">
            <a:noFill/>
            <a:round/>
            <a:headEnd/>
            <a:tailEnd/>
          </a:ln>
        </p:spPr>
        <p:txBody>
          <a:bodyPr/>
          <a:lstStyle/>
          <a:p>
            <a:endParaRPr lang="en-US"/>
          </a:p>
        </p:txBody>
      </p:sp>
      <p:sp>
        <p:nvSpPr>
          <p:cNvPr id="35895" name="Rectangle 85"/>
          <p:cNvSpPr>
            <a:spLocks noChangeArrowheads="1"/>
          </p:cNvSpPr>
          <p:nvPr/>
        </p:nvSpPr>
        <p:spPr bwMode="auto">
          <a:xfrm>
            <a:off x="5922963" y="2162175"/>
            <a:ext cx="844550" cy="246063"/>
          </a:xfrm>
          <a:prstGeom prst="rect">
            <a:avLst/>
          </a:prstGeom>
          <a:noFill/>
          <a:ln w="9525">
            <a:noFill/>
            <a:miter lim="800000"/>
            <a:headEnd/>
            <a:tailEnd/>
          </a:ln>
        </p:spPr>
        <p:txBody>
          <a:bodyPr wrap="none" lIns="0" tIns="0" rIns="0" bIns="0">
            <a:spAutoFit/>
          </a:bodyPr>
          <a:lstStyle/>
          <a:p>
            <a:pPr marL="1588" indent="-1588"/>
            <a:r>
              <a:rPr lang="en-US" sz="1600" i="1">
                <a:solidFill>
                  <a:srgbClr val="000000"/>
                </a:solidFill>
                <a:latin typeface="Myriad Roman"/>
              </a:rPr>
              <a:t>Germany</a:t>
            </a:r>
            <a:endParaRPr lang="en-US" i="1"/>
          </a:p>
        </p:txBody>
      </p:sp>
      <p:sp>
        <p:nvSpPr>
          <p:cNvPr id="35896" name="Oval 91"/>
          <p:cNvSpPr>
            <a:spLocks noChangeArrowheads="1"/>
          </p:cNvSpPr>
          <p:nvPr/>
        </p:nvSpPr>
        <p:spPr bwMode="auto">
          <a:xfrm>
            <a:off x="5818188" y="2492375"/>
            <a:ext cx="111125" cy="109538"/>
          </a:xfrm>
          <a:prstGeom prst="ellipse">
            <a:avLst/>
          </a:prstGeom>
          <a:solidFill>
            <a:srgbClr val="FFDF3F"/>
          </a:solidFill>
          <a:ln w="9525">
            <a:noFill/>
            <a:round/>
            <a:headEnd/>
            <a:tailEnd/>
          </a:ln>
        </p:spPr>
        <p:txBody>
          <a:bodyPr/>
          <a:lstStyle/>
          <a:p>
            <a:endParaRPr lang="en-US"/>
          </a:p>
        </p:txBody>
      </p:sp>
      <p:sp>
        <p:nvSpPr>
          <p:cNvPr id="35897" name="Rectangle 92"/>
          <p:cNvSpPr>
            <a:spLocks noChangeArrowheads="1"/>
          </p:cNvSpPr>
          <p:nvPr/>
        </p:nvSpPr>
        <p:spPr bwMode="auto">
          <a:xfrm>
            <a:off x="5827713" y="3387725"/>
            <a:ext cx="522287" cy="246063"/>
          </a:xfrm>
          <a:prstGeom prst="rect">
            <a:avLst/>
          </a:prstGeom>
          <a:noFill/>
          <a:ln w="9525">
            <a:noFill/>
            <a:miter lim="800000"/>
            <a:headEnd/>
            <a:tailEnd/>
          </a:ln>
        </p:spPr>
        <p:txBody>
          <a:bodyPr wrap="none" lIns="0" tIns="0" rIns="0" bIns="0">
            <a:spAutoFit/>
          </a:bodyPr>
          <a:lstStyle/>
          <a:p>
            <a:pPr marL="1588" indent="-1588"/>
            <a:r>
              <a:rPr lang="en-US" sz="1600" i="1">
                <a:solidFill>
                  <a:srgbClr val="000000"/>
                </a:solidFill>
                <a:latin typeface="Myriad Roman"/>
              </a:rPr>
              <a:t>Spain</a:t>
            </a:r>
            <a:endParaRPr lang="en-US" i="1"/>
          </a:p>
        </p:txBody>
      </p:sp>
      <p:sp>
        <p:nvSpPr>
          <p:cNvPr id="35898" name="Line 93"/>
          <p:cNvSpPr>
            <a:spLocks noChangeShapeType="1"/>
          </p:cNvSpPr>
          <p:nvPr/>
        </p:nvSpPr>
        <p:spPr bwMode="auto">
          <a:xfrm>
            <a:off x="5918200" y="2574925"/>
            <a:ext cx="219075" cy="53975"/>
          </a:xfrm>
          <a:prstGeom prst="line">
            <a:avLst/>
          </a:prstGeom>
          <a:noFill/>
          <a:ln w="9525">
            <a:solidFill>
              <a:srgbClr val="000000"/>
            </a:solidFill>
            <a:miter lim="800000"/>
            <a:headEnd/>
            <a:tailEnd/>
          </a:ln>
        </p:spPr>
        <p:txBody>
          <a:bodyPr/>
          <a:lstStyle/>
          <a:p>
            <a:endParaRPr lang="en-US"/>
          </a:p>
        </p:txBody>
      </p:sp>
      <p:sp>
        <p:nvSpPr>
          <p:cNvPr id="35899" name="Oval 94"/>
          <p:cNvSpPr>
            <a:spLocks noChangeArrowheads="1"/>
          </p:cNvSpPr>
          <p:nvPr/>
        </p:nvSpPr>
        <p:spPr bwMode="auto">
          <a:xfrm>
            <a:off x="5862638" y="2519363"/>
            <a:ext cx="109537" cy="109537"/>
          </a:xfrm>
          <a:prstGeom prst="ellipse">
            <a:avLst/>
          </a:prstGeom>
          <a:solidFill>
            <a:srgbClr val="6C4099"/>
          </a:solidFill>
          <a:ln w="9525">
            <a:noFill/>
            <a:round/>
            <a:headEnd/>
            <a:tailEnd/>
          </a:ln>
        </p:spPr>
        <p:txBody>
          <a:bodyPr/>
          <a:lstStyle/>
          <a:p>
            <a:endParaRPr lang="en-US"/>
          </a:p>
        </p:txBody>
      </p:sp>
      <p:sp>
        <p:nvSpPr>
          <p:cNvPr id="35900" name="Rectangle 95"/>
          <p:cNvSpPr>
            <a:spLocks noChangeArrowheads="1"/>
          </p:cNvSpPr>
          <p:nvPr/>
        </p:nvSpPr>
        <p:spPr bwMode="auto">
          <a:xfrm>
            <a:off x="6164263" y="2520950"/>
            <a:ext cx="1457325" cy="246063"/>
          </a:xfrm>
          <a:prstGeom prst="rect">
            <a:avLst/>
          </a:prstGeom>
          <a:noFill/>
          <a:ln w="9525">
            <a:noFill/>
            <a:miter lim="800000"/>
            <a:headEnd/>
            <a:tailEnd/>
          </a:ln>
        </p:spPr>
        <p:txBody>
          <a:bodyPr wrap="none" lIns="0" tIns="0" rIns="0" bIns="0">
            <a:spAutoFit/>
          </a:bodyPr>
          <a:lstStyle/>
          <a:p>
            <a:pPr marL="1588" indent="-1588"/>
            <a:r>
              <a:rPr lang="en-US" sz="1600" i="1">
                <a:solidFill>
                  <a:srgbClr val="000000"/>
                </a:solidFill>
                <a:latin typeface="Myriad Roman"/>
              </a:rPr>
              <a:t>United Kingdom</a:t>
            </a:r>
            <a:endParaRPr lang="en-US" i="1"/>
          </a:p>
        </p:txBody>
      </p:sp>
      <p:sp>
        <p:nvSpPr>
          <p:cNvPr id="35901" name="Rectangle 101"/>
          <p:cNvSpPr>
            <a:spLocks noChangeArrowheads="1"/>
          </p:cNvSpPr>
          <p:nvPr/>
        </p:nvSpPr>
        <p:spPr bwMode="auto">
          <a:xfrm>
            <a:off x="6553200" y="5832475"/>
            <a:ext cx="2209800" cy="646113"/>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Roman"/>
              </a:rPr>
              <a:t>Consumption of gasoline  (gallons per day per capita)</a:t>
            </a:r>
            <a:endParaRPr lang="en-US" b="1"/>
          </a:p>
        </p:txBody>
      </p:sp>
      <p:sp>
        <p:nvSpPr>
          <p:cNvPr id="35902" name="Rectangle 64"/>
          <p:cNvSpPr>
            <a:spLocks noChangeArrowheads="1"/>
          </p:cNvSpPr>
          <p:nvPr/>
        </p:nvSpPr>
        <p:spPr bwMode="auto">
          <a:xfrm>
            <a:off x="900113" y="41275"/>
            <a:ext cx="7993062" cy="584200"/>
          </a:xfrm>
          <a:prstGeom prst="rect">
            <a:avLst/>
          </a:prstGeom>
          <a:noFill/>
          <a:ln w="9525">
            <a:noFill/>
            <a:miter lim="800000"/>
            <a:headEnd/>
            <a:tailEnd/>
          </a:ln>
        </p:spPr>
        <p:txBody>
          <a:bodyPr>
            <a:spAutoFit/>
          </a:bodyPr>
          <a:lstStyle/>
          <a:p>
            <a:pPr>
              <a:buFont typeface="Wingdings" pitchFamily="2" charset="2"/>
              <a:buNone/>
            </a:pPr>
            <a:r>
              <a:rPr lang="en-US" sz="3200">
                <a:solidFill>
                  <a:srgbClr val="92D050"/>
                </a:solidFill>
              </a:rPr>
              <a:t>GLOBAL COMPARISON: Pay More, Pump Less…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85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850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850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6818" name="Rectangle 2"/>
          <p:cNvSpPr>
            <a:spLocks noGrp="1" noRot="1" noChangeArrowheads="1"/>
          </p:cNvSpPr>
          <p:nvPr>
            <p:ph type="title"/>
          </p:nvPr>
        </p:nvSpPr>
        <p:spPr>
          <a:xfrm>
            <a:off x="900113" y="0"/>
            <a:ext cx="8069262" cy="731838"/>
          </a:xfrm>
        </p:spPr>
        <p:txBody>
          <a:bodyPr/>
          <a:lstStyle/>
          <a:p>
            <a:pPr>
              <a:defRPr/>
            </a:pPr>
            <a:r>
              <a:rPr lang="en-US" dirty="0"/>
              <a:t>An Increase in Demand</a:t>
            </a:r>
          </a:p>
        </p:txBody>
      </p:sp>
      <p:sp>
        <p:nvSpPr>
          <p:cNvPr id="546819" name="Rectangle 3"/>
          <p:cNvSpPr>
            <a:spLocks noGrp="1" noChangeArrowheads="1"/>
          </p:cNvSpPr>
          <p:nvPr>
            <p:ph type="body" sz="half" idx="1"/>
          </p:nvPr>
        </p:nvSpPr>
        <p:spPr>
          <a:xfrm>
            <a:off x="900113" y="981075"/>
            <a:ext cx="3067050" cy="5472113"/>
          </a:xfrm>
        </p:spPr>
        <p:txBody>
          <a:bodyPr/>
          <a:lstStyle/>
          <a:p>
            <a:pPr marL="233363" indent="-228600">
              <a:lnSpc>
                <a:spcPct val="95000"/>
              </a:lnSpc>
              <a:buClr>
                <a:schemeClr val="tx1"/>
              </a:buClr>
            </a:pPr>
            <a:r>
              <a:rPr lang="en-US" sz="2000" smtClean="0"/>
              <a:t>An increase in population and other factors generate an increase in demand.</a:t>
            </a:r>
          </a:p>
          <a:p>
            <a:pPr marL="633413" lvl="1" indent="-228600">
              <a:lnSpc>
                <a:spcPct val="95000"/>
              </a:lnSpc>
              <a:buClr>
                <a:schemeClr val="tx1"/>
              </a:buClr>
            </a:pPr>
            <a:r>
              <a:rPr lang="en-US" sz="1800" smtClean="0"/>
              <a:t>a rise in the quantity demanded at any given price </a:t>
            </a:r>
          </a:p>
          <a:p>
            <a:pPr marL="233363" indent="-228600">
              <a:lnSpc>
                <a:spcPct val="95000"/>
              </a:lnSpc>
              <a:buClr>
                <a:schemeClr val="tx1"/>
              </a:buClr>
            </a:pPr>
            <a:endParaRPr lang="en-US" sz="2000" smtClean="0"/>
          </a:p>
          <a:p>
            <a:pPr marL="233363" indent="-228600">
              <a:lnSpc>
                <a:spcPct val="95000"/>
              </a:lnSpc>
              <a:buClr>
                <a:schemeClr val="tx1"/>
              </a:buClr>
            </a:pPr>
            <a:r>
              <a:rPr lang="en-US" sz="2000" smtClean="0"/>
              <a:t>This is represented by the two demand schedules—one showing demand in 2007, before the rise in population, the other showing demand in 2010, after the rise in population.</a:t>
            </a:r>
          </a:p>
        </p:txBody>
      </p:sp>
      <p:sp>
        <p:nvSpPr>
          <p:cNvPr id="546963" name="Rectangle 147"/>
          <p:cNvSpPr>
            <a:spLocks noChangeArrowheads="1"/>
          </p:cNvSpPr>
          <p:nvPr/>
        </p:nvSpPr>
        <p:spPr bwMode="auto">
          <a:xfrm>
            <a:off x="6418263" y="3228975"/>
            <a:ext cx="352425"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7.1</a:t>
            </a:r>
            <a:endParaRPr lang="en-US"/>
          </a:p>
        </p:txBody>
      </p:sp>
      <p:sp>
        <p:nvSpPr>
          <p:cNvPr id="546964" name="Rectangle 148"/>
          <p:cNvSpPr>
            <a:spLocks noChangeArrowheads="1"/>
          </p:cNvSpPr>
          <p:nvPr/>
        </p:nvSpPr>
        <p:spPr bwMode="auto">
          <a:xfrm>
            <a:off x="6418263" y="3573463"/>
            <a:ext cx="352425"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7.5</a:t>
            </a:r>
            <a:endParaRPr lang="en-US"/>
          </a:p>
        </p:txBody>
      </p:sp>
      <p:sp>
        <p:nvSpPr>
          <p:cNvPr id="546965" name="Rectangle 149"/>
          <p:cNvSpPr>
            <a:spLocks noChangeArrowheads="1"/>
          </p:cNvSpPr>
          <p:nvPr/>
        </p:nvSpPr>
        <p:spPr bwMode="auto">
          <a:xfrm>
            <a:off x="6418263" y="3921125"/>
            <a:ext cx="352425"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8.1</a:t>
            </a:r>
            <a:endParaRPr lang="en-US"/>
          </a:p>
        </p:txBody>
      </p:sp>
      <p:sp>
        <p:nvSpPr>
          <p:cNvPr id="546966" name="Rectangle 150"/>
          <p:cNvSpPr>
            <a:spLocks noChangeArrowheads="1"/>
          </p:cNvSpPr>
          <p:nvPr/>
        </p:nvSpPr>
        <p:spPr bwMode="auto">
          <a:xfrm>
            <a:off x="6418263" y="4265613"/>
            <a:ext cx="352425"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8.9</a:t>
            </a:r>
            <a:endParaRPr lang="en-US"/>
          </a:p>
        </p:txBody>
      </p:sp>
      <p:sp>
        <p:nvSpPr>
          <p:cNvPr id="546967" name="Rectangle 151"/>
          <p:cNvSpPr>
            <a:spLocks noChangeArrowheads="1"/>
          </p:cNvSpPr>
          <p:nvPr/>
        </p:nvSpPr>
        <p:spPr bwMode="auto">
          <a:xfrm>
            <a:off x="6284913" y="4608513"/>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10.0</a:t>
            </a:r>
            <a:endParaRPr lang="en-US"/>
          </a:p>
        </p:txBody>
      </p:sp>
      <p:sp>
        <p:nvSpPr>
          <p:cNvPr id="546968" name="Rectangle 152"/>
          <p:cNvSpPr>
            <a:spLocks noChangeArrowheads="1"/>
          </p:cNvSpPr>
          <p:nvPr/>
        </p:nvSpPr>
        <p:spPr bwMode="auto">
          <a:xfrm>
            <a:off x="6284913" y="4953000"/>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11.5</a:t>
            </a:r>
            <a:endParaRPr lang="en-US"/>
          </a:p>
        </p:txBody>
      </p:sp>
      <p:sp>
        <p:nvSpPr>
          <p:cNvPr id="546969" name="Rectangle 153"/>
          <p:cNvSpPr>
            <a:spLocks noChangeArrowheads="1"/>
          </p:cNvSpPr>
          <p:nvPr/>
        </p:nvSpPr>
        <p:spPr bwMode="auto">
          <a:xfrm>
            <a:off x="6284913" y="5300663"/>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14.2</a:t>
            </a:r>
            <a:endParaRPr lang="en-US"/>
          </a:p>
        </p:txBody>
      </p:sp>
      <p:sp>
        <p:nvSpPr>
          <p:cNvPr id="546970" name="Rectangle 154"/>
          <p:cNvSpPr>
            <a:spLocks noChangeArrowheads="1"/>
          </p:cNvSpPr>
          <p:nvPr/>
        </p:nvSpPr>
        <p:spPr bwMode="auto">
          <a:xfrm>
            <a:off x="7883525" y="3228975"/>
            <a:ext cx="352425"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8.5</a:t>
            </a:r>
            <a:endParaRPr lang="en-US"/>
          </a:p>
        </p:txBody>
      </p:sp>
      <p:sp>
        <p:nvSpPr>
          <p:cNvPr id="546971" name="Rectangle 155"/>
          <p:cNvSpPr>
            <a:spLocks noChangeArrowheads="1"/>
          </p:cNvSpPr>
          <p:nvPr/>
        </p:nvSpPr>
        <p:spPr bwMode="auto">
          <a:xfrm>
            <a:off x="7883525" y="3573463"/>
            <a:ext cx="352425"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9.0</a:t>
            </a:r>
            <a:endParaRPr lang="en-US"/>
          </a:p>
        </p:txBody>
      </p:sp>
      <p:sp>
        <p:nvSpPr>
          <p:cNvPr id="546972" name="Rectangle 156"/>
          <p:cNvSpPr>
            <a:spLocks noChangeArrowheads="1"/>
          </p:cNvSpPr>
          <p:nvPr/>
        </p:nvSpPr>
        <p:spPr bwMode="auto">
          <a:xfrm>
            <a:off x="7883525" y="3921125"/>
            <a:ext cx="352425"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9.7</a:t>
            </a:r>
            <a:endParaRPr lang="en-US"/>
          </a:p>
        </p:txBody>
      </p:sp>
      <p:sp>
        <p:nvSpPr>
          <p:cNvPr id="546973" name="Rectangle 157"/>
          <p:cNvSpPr>
            <a:spLocks noChangeArrowheads="1"/>
          </p:cNvSpPr>
          <p:nvPr/>
        </p:nvSpPr>
        <p:spPr bwMode="auto">
          <a:xfrm>
            <a:off x="7751763" y="4265613"/>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10.7</a:t>
            </a:r>
            <a:endParaRPr lang="en-US"/>
          </a:p>
        </p:txBody>
      </p:sp>
      <p:sp>
        <p:nvSpPr>
          <p:cNvPr id="546974" name="Rectangle 158"/>
          <p:cNvSpPr>
            <a:spLocks noChangeArrowheads="1"/>
          </p:cNvSpPr>
          <p:nvPr/>
        </p:nvSpPr>
        <p:spPr bwMode="auto">
          <a:xfrm>
            <a:off x="7751763" y="4608513"/>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12.0</a:t>
            </a:r>
            <a:endParaRPr lang="en-US"/>
          </a:p>
        </p:txBody>
      </p:sp>
      <p:sp>
        <p:nvSpPr>
          <p:cNvPr id="546975" name="Rectangle 159"/>
          <p:cNvSpPr>
            <a:spLocks noChangeArrowheads="1"/>
          </p:cNvSpPr>
          <p:nvPr/>
        </p:nvSpPr>
        <p:spPr bwMode="auto">
          <a:xfrm>
            <a:off x="7751763" y="4953000"/>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13.8</a:t>
            </a:r>
            <a:endParaRPr lang="en-US"/>
          </a:p>
        </p:txBody>
      </p:sp>
      <p:sp>
        <p:nvSpPr>
          <p:cNvPr id="546976" name="Rectangle 160"/>
          <p:cNvSpPr>
            <a:spLocks noChangeArrowheads="1"/>
          </p:cNvSpPr>
          <p:nvPr/>
        </p:nvSpPr>
        <p:spPr bwMode="auto">
          <a:xfrm>
            <a:off x="7751763" y="5300663"/>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17.0</a:t>
            </a:r>
            <a:endParaRPr lang="en-US"/>
          </a:p>
        </p:txBody>
      </p:sp>
      <p:sp>
        <p:nvSpPr>
          <p:cNvPr id="546977" name="Rectangle 161"/>
          <p:cNvSpPr>
            <a:spLocks noChangeArrowheads="1"/>
          </p:cNvSpPr>
          <p:nvPr/>
        </p:nvSpPr>
        <p:spPr bwMode="auto">
          <a:xfrm>
            <a:off x="4067175" y="1733550"/>
            <a:ext cx="4757738" cy="1409700"/>
          </a:xfrm>
          <a:prstGeom prst="rect">
            <a:avLst/>
          </a:prstGeom>
          <a:solidFill>
            <a:srgbClr val="EBDFD7"/>
          </a:solidFill>
          <a:ln w="9525">
            <a:noFill/>
            <a:miter lim="800000"/>
            <a:headEnd/>
            <a:tailEnd/>
          </a:ln>
        </p:spPr>
        <p:txBody>
          <a:bodyPr/>
          <a:lstStyle/>
          <a:p>
            <a:endParaRPr lang="en-US"/>
          </a:p>
        </p:txBody>
      </p:sp>
      <p:sp>
        <p:nvSpPr>
          <p:cNvPr id="546978" name="Line 162"/>
          <p:cNvSpPr>
            <a:spLocks noChangeShapeType="1"/>
          </p:cNvSpPr>
          <p:nvPr/>
        </p:nvSpPr>
        <p:spPr bwMode="auto">
          <a:xfrm>
            <a:off x="4067175" y="3127375"/>
            <a:ext cx="4757738" cy="0"/>
          </a:xfrm>
          <a:prstGeom prst="line">
            <a:avLst/>
          </a:prstGeom>
          <a:noFill/>
          <a:ln w="12700">
            <a:solidFill>
              <a:srgbClr val="BCBEC0"/>
            </a:solidFill>
            <a:miter lim="800000"/>
            <a:headEnd/>
            <a:tailEnd/>
          </a:ln>
        </p:spPr>
        <p:txBody>
          <a:bodyPr/>
          <a:lstStyle/>
          <a:p>
            <a:endParaRPr lang="en-US"/>
          </a:p>
        </p:txBody>
      </p:sp>
      <p:sp>
        <p:nvSpPr>
          <p:cNvPr id="546979" name="Line 163"/>
          <p:cNvSpPr>
            <a:spLocks noChangeShapeType="1"/>
          </p:cNvSpPr>
          <p:nvPr/>
        </p:nvSpPr>
        <p:spPr bwMode="auto">
          <a:xfrm>
            <a:off x="4067175" y="1719263"/>
            <a:ext cx="4757738" cy="14287"/>
          </a:xfrm>
          <a:prstGeom prst="line">
            <a:avLst/>
          </a:prstGeom>
          <a:noFill/>
          <a:ln w="12700">
            <a:solidFill>
              <a:srgbClr val="BCBEC0"/>
            </a:solidFill>
            <a:miter lim="800000"/>
            <a:headEnd/>
            <a:tailEnd/>
          </a:ln>
        </p:spPr>
        <p:txBody>
          <a:bodyPr/>
          <a:lstStyle/>
          <a:p>
            <a:endParaRPr lang="en-US"/>
          </a:p>
        </p:txBody>
      </p:sp>
      <p:sp>
        <p:nvSpPr>
          <p:cNvPr id="547001" name="Rectangle 185"/>
          <p:cNvSpPr>
            <a:spLocks noChangeArrowheads="1"/>
          </p:cNvSpPr>
          <p:nvPr/>
        </p:nvSpPr>
        <p:spPr bwMode="auto">
          <a:xfrm>
            <a:off x="6011863" y="2781300"/>
            <a:ext cx="782637" cy="276225"/>
          </a:xfrm>
          <a:prstGeom prst="rect">
            <a:avLst/>
          </a:prstGeom>
          <a:noFill/>
          <a:ln w="9525">
            <a:noFill/>
            <a:miter lim="800000"/>
            <a:headEnd/>
            <a:tailEnd/>
          </a:ln>
        </p:spPr>
        <p:txBody>
          <a:bodyPr wrap="none" lIns="0" tIns="0" rIns="0" bIns="0">
            <a:spAutoFit/>
          </a:bodyPr>
          <a:lstStyle/>
          <a:p>
            <a:pPr marL="1588" indent="-1588"/>
            <a:r>
              <a:rPr lang="en-US" b="1">
                <a:solidFill>
                  <a:srgbClr val="000000"/>
                </a:solidFill>
                <a:latin typeface="Myriad Roman"/>
              </a:rPr>
              <a:t>in 2007</a:t>
            </a:r>
            <a:endParaRPr lang="en-US" b="1"/>
          </a:p>
        </p:txBody>
      </p:sp>
      <p:sp>
        <p:nvSpPr>
          <p:cNvPr id="547002" name="Rectangle 186"/>
          <p:cNvSpPr>
            <a:spLocks noChangeArrowheads="1"/>
          </p:cNvSpPr>
          <p:nvPr/>
        </p:nvSpPr>
        <p:spPr bwMode="auto">
          <a:xfrm>
            <a:off x="7524750" y="2781300"/>
            <a:ext cx="781050" cy="276225"/>
          </a:xfrm>
          <a:prstGeom prst="rect">
            <a:avLst/>
          </a:prstGeom>
          <a:noFill/>
          <a:ln w="9525">
            <a:noFill/>
            <a:miter lim="800000"/>
            <a:headEnd/>
            <a:tailEnd/>
          </a:ln>
        </p:spPr>
        <p:txBody>
          <a:bodyPr wrap="none" lIns="0" tIns="0" rIns="0" bIns="0">
            <a:spAutoFit/>
          </a:bodyPr>
          <a:lstStyle/>
          <a:p>
            <a:pPr marL="1588" indent="-1588"/>
            <a:r>
              <a:rPr lang="en-US" b="1">
                <a:solidFill>
                  <a:srgbClr val="000000"/>
                </a:solidFill>
                <a:latin typeface="Myriad Roman"/>
              </a:rPr>
              <a:t>in 2010</a:t>
            </a:r>
            <a:endParaRPr lang="en-US" b="1"/>
          </a:p>
        </p:txBody>
      </p:sp>
      <p:sp>
        <p:nvSpPr>
          <p:cNvPr id="547003" name="Rectangle 187"/>
          <p:cNvSpPr>
            <a:spLocks noChangeArrowheads="1"/>
          </p:cNvSpPr>
          <p:nvPr/>
        </p:nvSpPr>
        <p:spPr bwMode="auto">
          <a:xfrm>
            <a:off x="4549775" y="3238500"/>
            <a:ext cx="635000"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$2.00</a:t>
            </a:r>
            <a:endParaRPr lang="en-US"/>
          </a:p>
        </p:txBody>
      </p:sp>
      <p:sp>
        <p:nvSpPr>
          <p:cNvPr id="547016" name="Line 200"/>
          <p:cNvSpPr>
            <a:spLocks noChangeShapeType="1"/>
          </p:cNvSpPr>
          <p:nvPr/>
        </p:nvSpPr>
        <p:spPr bwMode="auto">
          <a:xfrm>
            <a:off x="4067175" y="3500438"/>
            <a:ext cx="4902200" cy="15875"/>
          </a:xfrm>
          <a:prstGeom prst="line">
            <a:avLst/>
          </a:prstGeom>
          <a:noFill/>
          <a:ln w="6350">
            <a:solidFill>
              <a:srgbClr val="D1D3D4"/>
            </a:solidFill>
            <a:miter lim="800000"/>
            <a:headEnd/>
            <a:tailEnd/>
          </a:ln>
        </p:spPr>
        <p:txBody>
          <a:bodyPr/>
          <a:lstStyle/>
          <a:p>
            <a:endParaRPr lang="en-US"/>
          </a:p>
        </p:txBody>
      </p:sp>
      <p:sp>
        <p:nvSpPr>
          <p:cNvPr id="547017" name="Line 201"/>
          <p:cNvSpPr>
            <a:spLocks noChangeShapeType="1"/>
          </p:cNvSpPr>
          <p:nvPr/>
        </p:nvSpPr>
        <p:spPr bwMode="auto">
          <a:xfrm>
            <a:off x="4038600" y="3810000"/>
            <a:ext cx="4786313" cy="11113"/>
          </a:xfrm>
          <a:prstGeom prst="line">
            <a:avLst/>
          </a:prstGeom>
          <a:noFill/>
          <a:ln w="6350">
            <a:solidFill>
              <a:srgbClr val="D1D3D4"/>
            </a:solidFill>
            <a:miter lim="800000"/>
            <a:headEnd/>
            <a:tailEnd/>
          </a:ln>
        </p:spPr>
        <p:txBody>
          <a:bodyPr/>
          <a:lstStyle/>
          <a:p>
            <a:endParaRPr lang="en-US"/>
          </a:p>
        </p:txBody>
      </p:sp>
      <p:sp>
        <p:nvSpPr>
          <p:cNvPr id="547018" name="Line 202"/>
          <p:cNvSpPr>
            <a:spLocks noChangeShapeType="1"/>
          </p:cNvSpPr>
          <p:nvPr/>
        </p:nvSpPr>
        <p:spPr bwMode="auto">
          <a:xfrm flipV="1">
            <a:off x="4067175" y="4152900"/>
            <a:ext cx="4757738" cy="68263"/>
          </a:xfrm>
          <a:prstGeom prst="line">
            <a:avLst/>
          </a:prstGeom>
          <a:noFill/>
          <a:ln w="6350">
            <a:solidFill>
              <a:srgbClr val="D1D3D4"/>
            </a:solidFill>
            <a:miter lim="800000"/>
            <a:headEnd/>
            <a:tailEnd/>
          </a:ln>
        </p:spPr>
        <p:txBody>
          <a:bodyPr/>
          <a:lstStyle/>
          <a:p>
            <a:endParaRPr lang="en-US"/>
          </a:p>
        </p:txBody>
      </p:sp>
      <p:sp>
        <p:nvSpPr>
          <p:cNvPr id="547019" name="Line 203"/>
          <p:cNvSpPr>
            <a:spLocks noChangeShapeType="1"/>
          </p:cNvSpPr>
          <p:nvPr/>
        </p:nvSpPr>
        <p:spPr bwMode="auto">
          <a:xfrm>
            <a:off x="4067175" y="4508500"/>
            <a:ext cx="4757738" cy="4763"/>
          </a:xfrm>
          <a:prstGeom prst="line">
            <a:avLst/>
          </a:prstGeom>
          <a:noFill/>
          <a:ln w="6350">
            <a:solidFill>
              <a:srgbClr val="D1D3D4"/>
            </a:solidFill>
            <a:miter lim="800000"/>
            <a:headEnd/>
            <a:tailEnd/>
          </a:ln>
        </p:spPr>
        <p:txBody>
          <a:bodyPr/>
          <a:lstStyle/>
          <a:p>
            <a:endParaRPr lang="en-US"/>
          </a:p>
        </p:txBody>
      </p:sp>
      <p:sp>
        <p:nvSpPr>
          <p:cNvPr id="547020" name="Line 204"/>
          <p:cNvSpPr>
            <a:spLocks noChangeShapeType="1"/>
          </p:cNvSpPr>
          <p:nvPr/>
        </p:nvSpPr>
        <p:spPr bwMode="auto">
          <a:xfrm flipV="1">
            <a:off x="4067175" y="4848225"/>
            <a:ext cx="4757738" cy="20638"/>
          </a:xfrm>
          <a:prstGeom prst="line">
            <a:avLst/>
          </a:prstGeom>
          <a:noFill/>
          <a:ln w="6350">
            <a:solidFill>
              <a:srgbClr val="D1D3D4"/>
            </a:solidFill>
            <a:miter lim="800000"/>
            <a:headEnd/>
            <a:tailEnd/>
          </a:ln>
        </p:spPr>
        <p:txBody>
          <a:bodyPr/>
          <a:lstStyle/>
          <a:p>
            <a:endParaRPr lang="en-US"/>
          </a:p>
        </p:txBody>
      </p:sp>
      <p:sp>
        <p:nvSpPr>
          <p:cNvPr id="547021" name="Line 205"/>
          <p:cNvSpPr>
            <a:spLocks noChangeShapeType="1"/>
          </p:cNvSpPr>
          <p:nvPr/>
        </p:nvSpPr>
        <p:spPr bwMode="auto">
          <a:xfrm flipV="1">
            <a:off x="4067175" y="5208588"/>
            <a:ext cx="4757738" cy="20637"/>
          </a:xfrm>
          <a:prstGeom prst="line">
            <a:avLst/>
          </a:prstGeom>
          <a:noFill/>
          <a:ln w="6350">
            <a:solidFill>
              <a:srgbClr val="D1D3D4"/>
            </a:solidFill>
            <a:miter lim="800000"/>
            <a:headEnd/>
            <a:tailEnd/>
          </a:ln>
        </p:spPr>
        <p:txBody>
          <a:bodyPr/>
          <a:lstStyle/>
          <a:p>
            <a:endParaRPr lang="en-US"/>
          </a:p>
        </p:txBody>
      </p:sp>
      <p:sp>
        <p:nvSpPr>
          <p:cNvPr id="547022" name="Line 206"/>
          <p:cNvSpPr>
            <a:spLocks noChangeShapeType="1"/>
          </p:cNvSpPr>
          <p:nvPr/>
        </p:nvSpPr>
        <p:spPr bwMode="auto">
          <a:xfrm>
            <a:off x="5872163" y="2667000"/>
            <a:ext cx="2824162" cy="0"/>
          </a:xfrm>
          <a:prstGeom prst="line">
            <a:avLst/>
          </a:prstGeom>
          <a:noFill/>
          <a:ln w="6350">
            <a:solidFill>
              <a:srgbClr val="000000"/>
            </a:solidFill>
            <a:miter lim="800000"/>
            <a:headEnd/>
            <a:tailEnd/>
          </a:ln>
        </p:spPr>
        <p:txBody>
          <a:bodyPr/>
          <a:lstStyle/>
          <a:p>
            <a:endParaRPr lang="en-US"/>
          </a:p>
        </p:txBody>
      </p:sp>
      <p:sp>
        <p:nvSpPr>
          <p:cNvPr id="547023" name="Line 207"/>
          <p:cNvSpPr>
            <a:spLocks noChangeShapeType="1"/>
          </p:cNvSpPr>
          <p:nvPr/>
        </p:nvSpPr>
        <p:spPr bwMode="auto">
          <a:xfrm flipV="1">
            <a:off x="5767388" y="1719263"/>
            <a:ext cx="0" cy="3835400"/>
          </a:xfrm>
          <a:prstGeom prst="line">
            <a:avLst/>
          </a:prstGeom>
          <a:noFill/>
          <a:ln w="12700">
            <a:solidFill>
              <a:srgbClr val="BCBEC0"/>
            </a:solidFill>
            <a:miter lim="800000"/>
            <a:headEnd/>
            <a:tailEnd/>
          </a:ln>
        </p:spPr>
        <p:txBody>
          <a:bodyPr/>
          <a:lstStyle/>
          <a:p>
            <a:endParaRPr lang="en-US"/>
          </a:p>
        </p:txBody>
      </p:sp>
      <p:sp>
        <p:nvSpPr>
          <p:cNvPr id="547024" name="Line 208"/>
          <p:cNvSpPr>
            <a:spLocks noChangeShapeType="1"/>
          </p:cNvSpPr>
          <p:nvPr/>
        </p:nvSpPr>
        <p:spPr bwMode="auto">
          <a:xfrm flipV="1">
            <a:off x="7261225" y="3200400"/>
            <a:ext cx="0" cy="2395538"/>
          </a:xfrm>
          <a:prstGeom prst="line">
            <a:avLst/>
          </a:prstGeom>
          <a:noFill/>
          <a:ln w="12700">
            <a:solidFill>
              <a:srgbClr val="BCBEC0"/>
            </a:solidFill>
            <a:miter lim="800000"/>
            <a:headEnd/>
            <a:tailEnd/>
          </a:ln>
        </p:spPr>
        <p:txBody>
          <a:bodyPr/>
          <a:lstStyle/>
          <a:p>
            <a:endParaRPr lang="en-US"/>
          </a:p>
        </p:txBody>
      </p:sp>
      <p:sp>
        <p:nvSpPr>
          <p:cNvPr id="547025" name="Rectangle 209"/>
          <p:cNvSpPr>
            <a:spLocks noChangeArrowheads="1"/>
          </p:cNvSpPr>
          <p:nvPr/>
        </p:nvSpPr>
        <p:spPr bwMode="auto">
          <a:xfrm>
            <a:off x="4067175" y="1268413"/>
            <a:ext cx="4757738" cy="4286250"/>
          </a:xfrm>
          <a:prstGeom prst="rect">
            <a:avLst/>
          </a:prstGeom>
          <a:noFill/>
          <a:ln w="23813">
            <a:solidFill>
              <a:srgbClr val="E6D3CA"/>
            </a:solidFill>
            <a:miter lim="800000"/>
            <a:headEnd/>
            <a:tailEnd/>
          </a:ln>
        </p:spPr>
        <p:txBody>
          <a:bodyPr/>
          <a:lstStyle/>
          <a:p>
            <a:endParaRPr lang="en-US"/>
          </a:p>
        </p:txBody>
      </p:sp>
      <p:sp>
        <p:nvSpPr>
          <p:cNvPr id="547026" name="Rectangle 210"/>
          <p:cNvSpPr>
            <a:spLocks noChangeArrowheads="1"/>
          </p:cNvSpPr>
          <p:nvPr/>
        </p:nvSpPr>
        <p:spPr bwMode="auto">
          <a:xfrm>
            <a:off x="4684713" y="3565525"/>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1.75</a:t>
            </a:r>
            <a:endParaRPr lang="en-US"/>
          </a:p>
        </p:txBody>
      </p:sp>
      <p:sp>
        <p:nvSpPr>
          <p:cNvPr id="547027" name="Rectangle 211"/>
          <p:cNvSpPr>
            <a:spLocks noChangeArrowheads="1"/>
          </p:cNvSpPr>
          <p:nvPr/>
        </p:nvSpPr>
        <p:spPr bwMode="auto">
          <a:xfrm>
            <a:off x="4684713" y="3910013"/>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1.50</a:t>
            </a:r>
            <a:endParaRPr lang="en-US"/>
          </a:p>
        </p:txBody>
      </p:sp>
      <p:sp>
        <p:nvSpPr>
          <p:cNvPr id="547028" name="Rectangle 212"/>
          <p:cNvSpPr>
            <a:spLocks noChangeArrowheads="1"/>
          </p:cNvSpPr>
          <p:nvPr/>
        </p:nvSpPr>
        <p:spPr bwMode="auto">
          <a:xfrm>
            <a:off x="4684713" y="4257675"/>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1.25</a:t>
            </a:r>
            <a:endParaRPr lang="en-US"/>
          </a:p>
        </p:txBody>
      </p:sp>
      <p:sp>
        <p:nvSpPr>
          <p:cNvPr id="547029" name="Rectangle 213"/>
          <p:cNvSpPr>
            <a:spLocks noChangeArrowheads="1"/>
          </p:cNvSpPr>
          <p:nvPr/>
        </p:nvSpPr>
        <p:spPr bwMode="auto">
          <a:xfrm>
            <a:off x="4684713" y="4602163"/>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1.00</a:t>
            </a:r>
            <a:endParaRPr lang="en-US"/>
          </a:p>
        </p:txBody>
      </p:sp>
      <p:sp>
        <p:nvSpPr>
          <p:cNvPr id="547030" name="Rectangle 214"/>
          <p:cNvSpPr>
            <a:spLocks noChangeArrowheads="1"/>
          </p:cNvSpPr>
          <p:nvPr/>
        </p:nvSpPr>
        <p:spPr bwMode="auto">
          <a:xfrm>
            <a:off x="4684713" y="4945063"/>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0.75</a:t>
            </a:r>
            <a:endParaRPr lang="en-US"/>
          </a:p>
        </p:txBody>
      </p:sp>
      <p:sp>
        <p:nvSpPr>
          <p:cNvPr id="547031" name="Rectangle 215"/>
          <p:cNvSpPr>
            <a:spLocks noChangeArrowheads="1"/>
          </p:cNvSpPr>
          <p:nvPr/>
        </p:nvSpPr>
        <p:spPr bwMode="auto">
          <a:xfrm>
            <a:off x="4684713" y="5289550"/>
            <a:ext cx="493712" cy="244475"/>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Roman"/>
              </a:rPr>
              <a:t>0.50</a:t>
            </a:r>
            <a:endParaRPr lang="en-US"/>
          </a:p>
        </p:txBody>
      </p:sp>
      <p:sp>
        <p:nvSpPr>
          <p:cNvPr id="547032" name="Rectangle 216"/>
          <p:cNvSpPr>
            <a:spLocks noChangeArrowheads="1"/>
          </p:cNvSpPr>
          <p:nvPr/>
        </p:nvSpPr>
        <p:spPr bwMode="auto">
          <a:xfrm>
            <a:off x="4114800" y="2216150"/>
            <a:ext cx="1435100" cy="492125"/>
          </a:xfrm>
          <a:prstGeom prst="rect">
            <a:avLst/>
          </a:prstGeom>
          <a:noFill/>
          <a:ln w="9525">
            <a:noFill/>
            <a:miter lim="800000"/>
            <a:headEnd/>
            <a:tailEnd/>
          </a:ln>
        </p:spPr>
        <p:txBody>
          <a:bodyPr lIns="0" tIns="0" rIns="0" bIns="0">
            <a:spAutoFit/>
          </a:bodyPr>
          <a:lstStyle/>
          <a:p>
            <a:pPr marL="1588" indent="-1588" algn="ctr"/>
            <a:r>
              <a:rPr lang="en-US" sz="1600" b="1">
                <a:solidFill>
                  <a:srgbClr val="000000"/>
                </a:solidFill>
                <a:cs typeface="Arial" charset="0"/>
              </a:rPr>
              <a:t>Price of cotton (per pound)</a:t>
            </a:r>
            <a:endParaRPr lang="en-US" sz="1600" b="1">
              <a:cs typeface="Arial" charset="0"/>
            </a:endParaRPr>
          </a:p>
        </p:txBody>
      </p:sp>
      <p:sp>
        <p:nvSpPr>
          <p:cNvPr id="547033" name="Rectangle 217"/>
          <p:cNvSpPr>
            <a:spLocks noChangeArrowheads="1"/>
          </p:cNvSpPr>
          <p:nvPr/>
        </p:nvSpPr>
        <p:spPr bwMode="auto">
          <a:xfrm>
            <a:off x="6400800" y="1844675"/>
            <a:ext cx="1828800" cy="738188"/>
          </a:xfrm>
          <a:prstGeom prst="rect">
            <a:avLst/>
          </a:prstGeom>
          <a:noFill/>
          <a:ln w="9525">
            <a:noFill/>
            <a:miter lim="800000"/>
            <a:headEnd/>
            <a:tailEnd/>
          </a:ln>
        </p:spPr>
        <p:txBody>
          <a:bodyPr lIns="0" tIns="0" rIns="0" bIns="0">
            <a:spAutoFit/>
          </a:bodyPr>
          <a:lstStyle/>
          <a:p>
            <a:pPr marL="1588" indent="-1588" algn="ctr"/>
            <a:r>
              <a:rPr lang="en-US" sz="1600" b="1">
                <a:solidFill>
                  <a:srgbClr val="000000"/>
                </a:solidFill>
                <a:cs typeface="Arial" charset="0"/>
              </a:rPr>
              <a:t>Quantity of cotton demanded </a:t>
            </a:r>
            <a:br>
              <a:rPr lang="en-US" sz="1600" b="1">
                <a:solidFill>
                  <a:srgbClr val="000000"/>
                </a:solidFill>
                <a:cs typeface="Arial" charset="0"/>
              </a:rPr>
            </a:br>
            <a:r>
              <a:rPr lang="en-US" sz="1600" b="1">
                <a:solidFill>
                  <a:srgbClr val="000000"/>
                </a:solidFill>
                <a:cs typeface="Arial" charset="0"/>
              </a:rPr>
              <a:t>(billions of pounds)</a:t>
            </a:r>
            <a:endParaRPr lang="en-US" sz="1600" b="1">
              <a:cs typeface="Arial" charset="0"/>
            </a:endParaRPr>
          </a:p>
        </p:txBody>
      </p:sp>
      <p:sp>
        <p:nvSpPr>
          <p:cNvPr id="547034" name="Rectangle 218"/>
          <p:cNvSpPr>
            <a:spLocks noChangeArrowheads="1"/>
          </p:cNvSpPr>
          <p:nvPr/>
        </p:nvSpPr>
        <p:spPr bwMode="auto">
          <a:xfrm>
            <a:off x="4719638" y="1381125"/>
            <a:ext cx="3308350" cy="276225"/>
          </a:xfrm>
          <a:prstGeom prst="rect">
            <a:avLst/>
          </a:prstGeom>
          <a:noFill/>
          <a:ln w="9525">
            <a:noFill/>
            <a:miter lim="800000"/>
            <a:headEnd/>
            <a:tailEnd/>
          </a:ln>
        </p:spPr>
        <p:txBody>
          <a:bodyPr wrap="none" lIns="0" tIns="0" rIns="0" bIns="0">
            <a:spAutoFit/>
          </a:bodyPr>
          <a:lstStyle/>
          <a:p>
            <a:pPr marL="1588" indent="-1588"/>
            <a:r>
              <a:rPr lang="en-US" b="1">
                <a:solidFill>
                  <a:srgbClr val="000000"/>
                </a:solidFill>
                <a:latin typeface="Myriad Roman"/>
              </a:rPr>
              <a:t>Demand Schedules for Cotton</a:t>
            </a:r>
            <a:endParaRPr lang="en-US"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6819">
                                            <p:txEl>
                                              <p:pRg st="0" end="0"/>
                                            </p:txEl>
                                          </p:spTgt>
                                        </p:tgtEl>
                                        <p:attrNameLst>
                                          <p:attrName>style.visibility</p:attrName>
                                        </p:attrNameLst>
                                      </p:cBhvr>
                                      <p:to>
                                        <p:strVal val="visible"/>
                                      </p:to>
                                    </p:set>
                                    <p:animEffect transition="in" filter="wipe(left)">
                                      <p:cBhvr>
                                        <p:cTn id="7" dur="500"/>
                                        <p:tgtEl>
                                          <p:spTgt spid="54681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46819">
                                            <p:txEl>
                                              <p:pRg st="1" end="1"/>
                                            </p:txEl>
                                          </p:spTgt>
                                        </p:tgtEl>
                                        <p:attrNameLst>
                                          <p:attrName>style.visibility</p:attrName>
                                        </p:attrNameLst>
                                      </p:cBhvr>
                                      <p:to>
                                        <p:strVal val="visible"/>
                                      </p:to>
                                    </p:set>
                                    <p:animEffect transition="in" filter="wipe(left)">
                                      <p:cBhvr>
                                        <p:cTn id="10" dur="500"/>
                                        <p:tgtEl>
                                          <p:spTgt spid="54681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46819">
                                            <p:txEl>
                                              <p:pRg st="3" end="3"/>
                                            </p:txEl>
                                          </p:spTgt>
                                        </p:tgtEl>
                                        <p:attrNameLst>
                                          <p:attrName>style.visibility</p:attrName>
                                        </p:attrNameLst>
                                      </p:cBhvr>
                                      <p:to>
                                        <p:strVal val="visible"/>
                                      </p:to>
                                    </p:set>
                                    <p:animEffect transition="in" filter="wipe(left)">
                                      <p:cBhvr>
                                        <p:cTn id="15" dur="500"/>
                                        <p:tgtEl>
                                          <p:spTgt spid="54681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546963"/>
                                        </p:tgtEl>
                                        <p:attrNameLst>
                                          <p:attrName>style.visibility</p:attrName>
                                        </p:attrNameLst>
                                      </p:cBhvr>
                                      <p:to>
                                        <p:strVal val="visible"/>
                                      </p:to>
                                    </p:set>
                                    <p:animEffect transition="in" filter="box(in)">
                                      <p:cBhvr>
                                        <p:cTn id="20" dur="500"/>
                                        <p:tgtEl>
                                          <p:spTgt spid="546963"/>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546964"/>
                                        </p:tgtEl>
                                        <p:attrNameLst>
                                          <p:attrName>style.visibility</p:attrName>
                                        </p:attrNameLst>
                                      </p:cBhvr>
                                      <p:to>
                                        <p:strVal val="visible"/>
                                      </p:to>
                                    </p:set>
                                    <p:animEffect transition="in" filter="box(in)">
                                      <p:cBhvr>
                                        <p:cTn id="23" dur="500"/>
                                        <p:tgtEl>
                                          <p:spTgt spid="546964"/>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546965"/>
                                        </p:tgtEl>
                                        <p:attrNameLst>
                                          <p:attrName>style.visibility</p:attrName>
                                        </p:attrNameLst>
                                      </p:cBhvr>
                                      <p:to>
                                        <p:strVal val="visible"/>
                                      </p:to>
                                    </p:set>
                                    <p:animEffect transition="in" filter="box(in)">
                                      <p:cBhvr>
                                        <p:cTn id="26" dur="500"/>
                                        <p:tgtEl>
                                          <p:spTgt spid="546965"/>
                                        </p:tgtEl>
                                      </p:cBhvr>
                                    </p:animEffect>
                                  </p:childTnLst>
                                </p:cTn>
                              </p:par>
                              <p:par>
                                <p:cTn id="27" presetID="4" presetClass="entr" presetSubtype="16" fill="hold" grpId="0" nodeType="withEffect">
                                  <p:stCondLst>
                                    <p:cond delay="0"/>
                                  </p:stCondLst>
                                  <p:childTnLst>
                                    <p:set>
                                      <p:cBhvr>
                                        <p:cTn id="28" dur="1" fill="hold">
                                          <p:stCondLst>
                                            <p:cond delay="0"/>
                                          </p:stCondLst>
                                        </p:cTn>
                                        <p:tgtEl>
                                          <p:spTgt spid="546966"/>
                                        </p:tgtEl>
                                        <p:attrNameLst>
                                          <p:attrName>style.visibility</p:attrName>
                                        </p:attrNameLst>
                                      </p:cBhvr>
                                      <p:to>
                                        <p:strVal val="visible"/>
                                      </p:to>
                                    </p:set>
                                    <p:animEffect transition="in" filter="box(in)">
                                      <p:cBhvr>
                                        <p:cTn id="29" dur="500"/>
                                        <p:tgtEl>
                                          <p:spTgt spid="546966"/>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546967"/>
                                        </p:tgtEl>
                                        <p:attrNameLst>
                                          <p:attrName>style.visibility</p:attrName>
                                        </p:attrNameLst>
                                      </p:cBhvr>
                                      <p:to>
                                        <p:strVal val="visible"/>
                                      </p:to>
                                    </p:set>
                                    <p:animEffect transition="in" filter="box(in)">
                                      <p:cBhvr>
                                        <p:cTn id="32" dur="500"/>
                                        <p:tgtEl>
                                          <p:spTgt spid="546967"/>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546968"/>
                                        </p:tgtEl>
                                        <p:attrNameLst>
                                          <p:attrName>style.visibility</p:attrName>
                                        </p:attrNameLst>
                                      </p:cBhvr>
                                      <p:to>
                                        <p:strVal val="visible"/>
                                      </p:to>
                                    </p:set>
                                    <p:animEffect transition="in" filter="box(in)">
                                      <p:cBhvr>
                                        <p:cTn id="35" dur="500"/>
                                        <p:tgtEl>
                                          <p:spTgt spid="546968"/>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546969"/>
                                        </p:tgtEl>
                                        <p:attrNameLst>
                                          <p:attrName>style.visibility</p:attrName>
                                        </p:attrNameLst>
                                      </p:cBhvr>
                                      <p:to>
                                        <p:strVal val="visible"/>
                                      </p:to>
                                    </p:set>
                                    <p:animEffect transition="in" filter="box(in)">
                                      <p:cBhvr>
                                        <p:cTn id="38" dur="500"/>
                                        <p:tgtEl>
                                          <p:spTgt spid="546969"/>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546970"/>
                                        </p:tgtEl>
                                        <p:attrNameLst>
                                          <p:attrName>style.visibility</p:attrName>
                                        </p:attrNameLst>
                                      </p:cBhvr>
                                      <p:to>
                                        <p:strVal val="visible"/>
                                      </p:to>
                                    </p:set>
                                    <p:animEffect transition="in" filter="box(in)">
                                      <p:cBhvr>
                                        <p:cTn id="41" dur="500"/>
                                        <p:tgtEl>
                                          <p:spTgt spid="546970"/>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546971"/>
                                        </p:tgtEl>
                                        <p:attrNameLst>
                                          <p:attrName>style.visibility</p:attrName>
                                        </p:attrNameLst>
                                      </p:cBhvr>
                                      <p:to>
                                        <p:strVal val="visible"/>
                                      </p:to>
                                    </p:set>
                                    <p:animEffect transition="in" filter="box(in)">
                                      <p:cBhvr>
                                        <p:cTn id="44" dur="500"/>
                                        <p:tgtEl>
                                          <p:spTgt spid="546971"/>
                                        </p:tgtEl>
                                      </p:cBhvr>
                                    </p:animEffect>
                                  </p:childTnLst>
                                </p:cTn>
                              </p:par>
                              <p:par>
                                <p:cTn id="45" presetID="4" presetClass="entr" presetSubtype="16" fill="hold" grpId="0" nodeType="withEffect">
                                  <p:stCondLst>
                                    <p:cond delay="0"/>
                                  </p:stCondLst>
                                  <p:childTnLst>
                                    <p:set>
                                      <p:cBhvr>
                                        <p:cTn id="46" dur="1" fill="hold">
                                          <p:stCondLst>
                                            <p:cond delay="0"/>
                                          </p:stCondLst>
                                        </p:cTn>
                                        <p:tgtEl>
                                          <p:spTgt spid="546972"/>
                                        </p:tgtEl>
                                        <p:attrNameLst>
                                          <p:attrName>style.visibility</p:attrName>
                                        </p:attrNameLst>
                                      </p:cBhvr>
                                      <p:to>
                                        <p:strVal val="visible"/>
                                      </p:to>
                                    </p:set>
                                    <p:animEffect transition="in" filter="box(in)">
                                      <p:cBhvr>
                                        <p:cTn id="47" dur="500"/>
                                        <p:tgtEl>
                                          <p:spTgt spid="546972"/>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546973"/>
                                        </p:tgtEl>
                                        <p:attrNameLst>
                                          <p:attrName>style.visibility</p:attrName>
                                        </p:attrNameLst>
                                      </p:cBhvr>
                                      <p:to>
                                        <p:strVal val="visible"/>
                                      </p:to>
                                    </p:set>
                                    <p:animEffect transition="in" filter="box(in)">
                                      <p:cBhvr>
                                        <p:cTn id="50" dur="500"/>
                                        <p:tgtEl>
                                          <p:spTgt spid="546973"/>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546974"/>
                                        </p:tgtEl>
                                        <p:attrNameLst>
                                          <p:attrName>style.visibility</p:attrName>
                                        </p:attrNameLst>
                                      </p:cBhvr>
                                      <p:to>
                                        <p:strVal val="visible"/>
                                      </p:to>
                                    </p:set>
                                    <p:animEffect transition="in" filter="box(in)">
                                      <p:cBhvr>
                                        <p:cTn id="53" dur="500"/>
                                        <p:tgtEl>
                                          <p:spTgt spid="546974"/>
                                        </p:tgtEl>
                                      </p:cBhvr>
                                    </p:animEffect>
                                  </p:childTnLst>
                                </p:cTn>
                              </p:par>
                              <p:par>
                                <p:cTn id="54" presetID="4" presetClass="entr" presetSubtype="16" fill="hold" grpId="0" nodeType="withEffect">
                                  <p:stCondLst>
                                    <p:cond delay="0"/>
                                  </p:stCondLst>
                                  <p:childTnLst>
                                    <p:set>
                                      <p:cBhvr>
                                        <p:cTn id="55" dur="1" fill="hold">
                                          <p:stCondLst>
                                            <p:cond delay="0"/>
                                          </p:stCondLst>
                                        </p:cTn>
                                        <p:tgtEl>
                                          <p:spTgt spid="546975"/>
                                        </p:tgtEl>
                                        <p:attrNameLst>
                                          <p:attrName>style.visibility</p:attrName>
                                        </p:attrNameLst>
                                      </p:cBhvr>
                                      <p:to>
                                        <p:strVal val="visible"/>
                                      </p:to>
                                    </p:set>
                                    <p:animEffect transition="in" filter="box(in)">
                                      <p:cBhvr>
                                        <p:cTn id="56" dur="500"/>
                                        <p:tgtEl>
                                          <p:spTgt spid="546975"/>
                                        </p:tgtEl>
                                      </p:cBhvr>
                                    </p:animEffect>
                                  </p:childTnLst>
                                </p:cTn>
                              </p:par>
                              <p:par>
                                <p:cTn id="57" presetID="4" presetClass="entr" presetSubtype="16" fill="hold" grpId="0" nodeType="withEffect">
                                  <p:stCondLst>
                                    <p:cond delay="0"/>
                                  </p:stCondLst>
                                  <p:childTnLst>
                                    <p:set>
                                      <p:cBhvr>
                                        <p:cTn id="58" dur="1" fill="hold">
                                          <p:stCondLst>
                                            <p:cond delay="0"/>
                                          </p:stCondLst>
                                        </p:cTn>
                                        <p:tgtEl>
                                          <p:spTgt spid="546976"/>
                                        </p:tgtEl>
                                        <p:attrNameLst>
                                          <p:attrName>style.visibility</p:attrName>
                                        </p:attrNameLst>
                                      </p:cBhvr>
                                      <p:to>
                                        <p:strVal val="visible"/>
                                      </p:to>
                                    </p:set>
                                    <p:animEffect transition="in" filter="box(in)">
                                      <p:cBhvr>
                                        <p:cTn id="59" dur="500"/>
                                        <p:tgtEl>
                                          <p:spTgt spid="546976"/>
                                        </p:tgtEl>
                                      </p:cBhvr>
                                    </p:animEffect>
                                  </p:childTnLst>
                                </p:cTn>
                              </p:par>
                              <p:par>
                                <p:cTn id="60" presetID="4" presetClass="entr" presetSubtype="16" fill="hold" grpId="0" nodeType="withEffect">
                                  <p:stCondLst>
                                    <p:cond delay="0"/>
                                  </p:stCondLst>
                                  <p:childTnLst>
                                    <p:set>
                                      <p:cBhvr>
                                        <p:cTn id="61" dur="1" fill="hold">
                                          <p:stCondLst>
                                            <p:cond delay="0"/>
                                          </p:stCondLst>
                                        </p:cTn>
                                        <p:tgtEl>
                                          <p:spTgt spid="546977"/>
                                        </p:tgtEl>
                                        <p:attrNameLst>
                                          <p:attrName>style.visibility</p:attrName>
                                        </p:attrNameLst>
                                      </p:cBhvr>
                                      <p:to>
                                        <p:strVal val="visible"/>
                                      </p:to>
                                    </p:set>
                                    <p:animEffect transition="in" filter="box(in)">
                                      <p:cBhvr>
                                        <p:cTn id="62" dur="500"/>
                                        <p:tgtEl>
                                          <p:spTgt spid="546977"/>
                                        </p:tgtEl>
                                      </p:cBhvr>
                                    </p:animEffect>
                                  </p:childTnLst>
                                </p:cTn>
                              </p:par>
                              <p:par>
                                <p:cTn id="63" presetID="4" presetClass="entr" presetSubtype="16" fill="hold" grpId="0" nodeType="withEffect">
                                  <p:stCondLst>
                                    <p:cond delay="0"/>
                                  </p:stCondLst>
                                  <p:childTnLst>
                                    <p:set>
                                      <p:cBhvr>
                                        <p:cTn id="64" dur="1" fill="hold">
                                          <p:stCondLst>
                                            <p:cond delay="0"/>
                                          </p:stCondLst>
                                        </p:cTn>
                                        <p:tgtEl>
                                          <p:spTgt spid="546978"/>
                                        </p:tgtEl>
                                        <p:attrNameLst>
                                          <p:attrName>style.visibility</p:attrName>
                                        </p:attrNameLst>
                                      </p:cBhvr>
                                      <p:to>
                                        <p:strVal val="visible"/>
                                      </p:to>
                                    </p:set>
                                    <p:animEffect transition="in" filter="box(in)">
                                      <p:cBhvr>
                                        <p:cTn id="65" dur="500"/>
                                        <p:tgtEl>
                                          <p:spTgt spid="546978"/>
                                        </p:tgtEl>
                                      </p:cBhvr>
                                    </p:animEffect>
                                  </p:childTnLst>
                                </p:cTn>
                              </p:par>
                              <p:par>
                                <p:cTn id="66" presetID="4" presetClass="entr" presetSubtype="16" fill="hold" grpId="0" nodeType="withEffect">
                                  <p:stCondLst>
                                    <p:cond delay="0"/>
                                  </p:stCondLst>
                                  <p:childTnLst>
                                    <p:set>
                                      <p:cBhvr>
                                        <p:cTn id="67" dur="1" fill="hold">
                                          <p:stCondLst>
                                            <p:cond delay="0"/>
                                          </p:stCondLst>
                                        </p:cTn>
                                        <p:tgtEl>
                                          <p:spTgt spid="546979"/>
                                        </p:tgtEl>
                                        <p:attrNameLst>
                                          <p:attrName>style.visibility</p:attrName>
                                        </p:attrNameLst>
                                      </p:cBhvr>
                                      <p:to>
                                        <p:strVal val="visible"/>
                                      </p:to>
                                    </p:set>
                                    <p:animEffect transition="in" filter="box(in)">
                                      <p:cBhvr>
                                        <p:cTn id="68" dur="500"/>
                                        <p:tgtEl>
                                          <p:spTgt spid="546979"/>
                                        </p:tgtEl>
                                      </p:cBhvr>
                                    </p:animEffect>
                                  </p:childTnLst>
                                </p:cTn>
                              </p:par>
                              <p:par>
                                <p:cTn id="69" presetID="4" presetClass="entr" presetSubtype="16" fill="hold" grpId="0" nodeType="withEffect">
                                  <p:stCondLst>
                                    <p:cond delay="0"/>
                                  </p:stCondLst>
                                  <p:childTnLst>
                                    <p:set>
                                      <p:cBhvr>
                                        <p:cTn id="70" dur="1" fill="hold">
                                          <p:stCondLst>
                                            <p:cond delay="0"/>
                                          </p:stCondLst>
                                        </p:cTn>
                                        <p:tgtEl>
                                          <p:spTgt spid="547001"/>
                                        </p:tgtEl>
                                        <p:attrNameLst>
                                          <p:attrName>style.visibility</p:attrName>
                                        </p:attrNameLst>
                                      </p:cBhvr>
                                      <p:to>
                                        <p:strVal val="visible"/>
                                      </p:to>
                                    </p:set>
                                    <p:animEffect transition="in" filter="box(in)">
                                      <p:cBhvr>
                                        <p:cTn id="71" dur="500"/>
                                        <p:tgtEl>
                                          <p:spTgt spid="547001"/>
                                        </p:tgtEl>
                                      </p:cBhvr>
                                    </p:animEffect>
                                  </p:childTnLst>
                                </p:cTn>
                              </p:par>
                              <p:par>
                                <p:cTn id="72" presetID="4" presetClass="entr" presetSubtype="16" fill="hold" grpId="0" nodeType="withEffect">
                                  <p:stCondLst>
                                    <p:cond delay="0"/>
                                  </p:stCondLst>
                                  <p:childTnLst>
                                    <p:set>
                                      <p:cBhvr>
                                        <p:cTn id="73" dur="1" fill="hold">
                                          <p:stCondLst>
                                            <p:cond delay="0"/>
                                          </p:stCondLst>
                                        </p:cTn>
                                        <p:tgtEl>
                                          <p:spTgt spid="547002"/>
                                        </p:tgtEl>
                                        <p:attrNameLst>
                                          <p:attrName>style.visibility</p:attrName>
                                        </p:attrNameLst>
                                      </p:cBhvr>
                                      <p:to>
                                        <p:strVal val="visible"/>
                                      </p:to>
                                    </p:set>
                                    <p:animEffect transition="in" filter="box(in)">
                                      <p:cBhvr>
                                        <p:cTn id="74" dur="500"/>
                                        <p:tgtEl>
                                          <p:spTgt spid="547002"/>
                                        </p:tgtEl>
                                      </p:cBhvr>
                                    </p:animEffect>
                                  </p:childTnLst>
                                </p:cTn>
                              </p:par>
                              <p:par>
                                <p:cTn id="75" presetID="4" presetClass="entr" presetSubtype="16" fill="hold" grpId="0" nodeType="withEffect">
                                  <p:stCondLst>
                                    <p:cond delay="0"/>
                                  </p:stCondLst>
                                  <p:childTnLst>
                                    <p:set>
                                      <p:cBhvr>
                                        <p:cTn id="76" dur="1" fill="hold">
                                          <p:stCondLst>
                                            <p:cond delay="0"/>
                                          </p:stCondLst>
                                        </p:cTn>
                                        <p:tgtEl>
                                          <p:spTgt spid="547003"/>
                                        </p:tgtEl>
                                        <p:attrNameLst>
                                          <p:attrName>style.visibility</p:attrName>
                                        </p:attrNameLst>
                                      </p:cBhvr>
                                      <p:to>
                                        <p:strVal val="visible"/>
                                      </p:to>
                                    </p:set>
                                    <p:animEffect transition="in" filter="box(in)">
                                      <p:cBhvr>
                                        <p:cTn id="77" dur="500"/>
                                        <p:tgtEl>
                                          <p:spTgt spid="547003"/>
                                        </p:tgtEl>
                                      </p:cBhvr>
                                    </p:animEffect>
                                  </p:childTnLst>
                                </p:cTn>
                              </p:par>
                              <p:par>
                                <p:cTn id="78" presetID="4" presetClass="entr" presetSubtype="16" fill="hold" grpId="0" nodeType="withEffect">
                                  <p:stCondLst>
                                    <p:cond delay="0"/>
                                  </p:stCondLst>
                                  <p:childTnLst>
                                    <p:set>
                                      <p:cBhvr>
                                        <p:cTn id="79" dur="1" fill="hold">
                                          <p:stCondLst>
                                            <p:cond delay="0"/>
                                          </p:stCondLst>
                                        </p:cTn>
                                        <p:tgtEl>
                                          <p:spTgt spid="547016"/>
                                        </p:tgtEl>
                                        <p:attrNameLst>
                                          <p:attrName>style.visibility</p:attrName>
                                        </p:attrNameLst>
                                      </p:cBhvr>
                                      <p:to>
                                        <p:strVal val="visible"/>
                                      </p:to>
                                    </p:set>
                                    <p:animEffect transition="in" filter="box(in)">
                                      <p:cBhvr>
                                        <p:cTn id="80" dur="500"/>
                                        <p:tgtEl>
                                          <p:spTgt spid="547016"/>
                                        </p:tgtEl>
                                      </p:cBhvr>
                                    </p:animEffect>
                                  </p:childTnLst>
                                </p:cTn>
                              </p:par>
                              <p:par>
                                <p:cTn id="81" presetID="4" presetClass="entr" presetSubtype="16" fill="hold" grpId="0" nodeType="withEffect">
                                  <p:stCondLst>
                                    <p:cond delay="0"/>
                                  </p:stCondLst>
                                  <p:childTnLst>
                                    <p:set>
                                      <p:cBhvr>
                                        <p:cTn id="82" dur="1" fill="hold">
                                          <p:stCondLst>
                                            <p:cond delay="0"/>
                                          </p:stCondLst>
                                        </p:cTn>
                                        <p:tgtEl>
                                          <p:spTgt spid="547017"/>
                                        </p:tgtEl>
                                        <p:attrNameLst>
                                          <p:attrName>style.visibility</p:attrName>
                                        </p:attrNameLst>
                                      </p:cBhvr>
                                      <p:to>
                                        <p:strVal val="visible"/>
                                      </p:to>
                                    </p:set>
                                    <p:animEffect transition="in" filter="box(in)">
                                      <p:cBhvr>
                                        <p:cTn id="83" dur="500"/>
                                        <p:tgtEl>
                                          <p:spTgt spid="547017"/>
                                        </p:tgtEl>
                                      </p:cBhvr>
                                    </p:animEffect>
                                  </p:childTnLst>
                                </p:cTn>
                              </p:par>
                              <p:par>
                                <p:cTn id="84" presetID="4" presetClass="entr" presetSubtype="16" fill="hold" grpId="0" nodeType="withEffect">
                                  <p:stCondLst>
                                    <p:cond delay="0"/>
                                  </p:stCondLst>
                                  <p:childTnLst>
                                    <p:set>
                                      <p:cBhvr>
                                        <p:cTn id="85" dur="1" fill="hold">
                                          <p:stCondLst>
                                            <p:cond delay="0"/>
                                          </p:stCondLst>
                                        </p:cTn>
                                        <p:tgtEl>
                                          <p:spTgt spid="547018"/>
                                        </p:tgtEl>
                                        <p:attrNameLst>
                                          <p:attrName>style.visibility</p:attrName>
                                        </p:attrNameLst>
                                      </p:cBhvr>
                                      <p:to>
                                        <p:strVal val="visible"/>
                                      </p:to>
                                    </p:set>
                                    <p:animEffect transition="in" filter="box(in)">
                                      <p:cBhvr>
                                        <p:cTn id="86" dur="500"/>
                                        <p:tgtEl>
                                          <p:spTgt spid="547018"/>
                                        </p:tgtEl>
                                      </p:cBhvr>
                                    </p:animEffect>
                                  </p:childTnLst>
                                </p:cTn>
                              </p:par>
                              <p:par>
                                <p:cTn id="87" presetID="4" presetClass="entr" presetSubtype="16" fill="hold" grpId="0" nodeType="withEffect">
                                  <p:stCondLst>
                                    <p:cond delay="0"/>
                                  </p:stCondLst>
                                  <p:childTnLst>
                                    <p:set>
                                      <p:cBhvr>
                                        <p:cTn id="88" dur="1" fill="hold">
                                          <p:stCondLst>
                                            <p:cond delay="0"/>
                                          </p:stCondLst>
                                        </p:cTn>
                                        <p:tgtEl>
                                          <p:spTgt spid="547019"/>
                                        </p:tgtEl>
                                        <p:attrNameLst>
                                          <p:attrName>style.visibility</p:attrName>
                                        </p:attrNameLst>
                                      </p:cBhvr>
                                      <p:to>
                                        <p:strVal val="visible"/>
                                      </p:to>
                                    </p:set>
                                    <p:animEffect transition="in" filter="box(in)">
                                      <p:cBhvr>
                                        <p:cTn id="89" dur="500"/>
                                        <p:tgtEl>
                                          <p:spTgt spid="547019"/>
                                        </p:tgtEl>
                                      </p:cBhvr>
                                    </p:animEffect>
                                  </p:childTnLst>
                                </p:cTn>
                              </p:par>
                              <p:par>
                                <p:cTn id="90" presetID="4" presetClass="entr" presetSubtype="16" fill="hold" grpId="0" nodeType="withEffect">
                                  <p:stCondLst>
                                    <p:cond delay="0"/>
                                  </p:stCondLst>
                                  <p:childTnLst>
                                    <p:set>
                                      <p:cBhvr>
                                        <p:cTn id="91" dur="1" fill="hold">
                                          <p:stCondLst>
                                            <p:cond delay="0"/>
                                          </p:stCondLst>
                                        </p:cTn>
                                        <p:tgtEl>
                                          <p:spTgt spid="547020"/>
                                        </p:tgtEl>
                                        <p:attrNameLst>
                                          <p:attrName>style.visibility</p:attrName>
                                        </p:attrNameLst>
                                      </p:cBhvr>
                                      <p:to>
                                        <p:strVal val="visible"/>
                                      </p:to>
                                    </p:set>
                                    <p:animEffect transition="in" filter="box(in)">
                                      <p:cBhvr>
                                        <p:cTn id="92" dur="500"/>
                                        <p:tgtEl>
                                          <p:spTgt spid="547020"/>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547021"/>
                                        </p:tgtEl>
                                        <p:attrNameLst>
                                          <p:attrName>style.visibility</p:attrName>
                                        </p:attrNameLst>
                                      </p:cBhvr>
                                      <p:to>
                                        <p:strVal val="visible"/>
                                      </p:to>
                                    </p:set>
                                    <p:animEffect transition="in" filter="box(in)">
                                      <p:cBhvr>
                                        <p:cTn id="95" dur="500"/>
                                        <p:tgtEl>
                                          <p:spTgt spid="547021"/>
                                        </p:tgtEl>
                                      </p:cBhvr>
                                    </p:animEffect>
                                  </p:childTnLst>
                                </p:cTn>
                              </p:par>
                              <p:par>
                                <p:cTn id="96" presetID="4" presetClass="entr" presetSubtype="16" fill="hold" grpId="0" nodeType="withEffect">
                                  <p:stCondLst>
                                    <p:cond delay="0"/>
                                  </p:stCondLst>
                                  <p:childTnLst>
                                    <p:set>
                                      <p:cBhvr>
                                        <p:cTn id="97" dur="1" fill="hold">
                                          <p:stCondLst>
                                            <p:cond delay="0"/>
                                          </p:stCondLst>
                                        </p:cTn>
                                        <p:tgtEl>
                                          <p:spTgt spid="547022"/>
                                        </p:tgtEl>
                                        <p:attrNameLst>
                                          <p:attrName>style.visibility</p:attrName>
                                        </p:attrNameLst>
                                      </p:cBhvr>
                                      <p:to>
                                        <p:strVal val="visible"/>
                                      </p:to>
                                    </p:set>
                                    <p:animEffect transition="in" filter="box(in)">
                                      <p:cBhvr>
                                        <p:cTn id="98" dur="500"/>
                                        <p:tgtEl>
                                          <p:spTgt spid="547022"/>
                                        </p:tgtEl>
                                      </p:cBhvr>
                                    </p:animEffect>
                                  </p:childTnLst>
                                </p:cTn>
                              </p:par>
                              <p:par>
                                <p:cTn id="99" presetID="4" presetClass="entr" presetSubtype="16" fill="hold" grpId="0" nodeType="withEffect">
                                  <p:stCondLst>
                                    <p:cond delay="0"/>
                                  </p:stCondLst>
                                  <p:childTnLst>
                                    <p:set>
                                      <p:cBhvr>
                                        <p:cTn id="100" dur="1" fill="hold">
                                          <p:stCondLst>
                                            <p:cond delay="0"/>
                                          </p:stCondLst>
                                        </p:cTn>
                                        <p:tgtEl>
                                          <p:spTgt spid="547023"/>
                                        </p:tgtEl>
                                        <p:attrNameLst>
                                          <p:attrName>style.visibility</p:attrName>
                                        </p:attrNameLst>
                                      </p:cBhvr>
                                      <p:to>
                                        <p:strVal val="visible"/>
                                      </p:to>
                                    </p:set>
                                    <p:animEffect transition="in" filter="box(in)">
                                      <p:cBhvr>
                                        <p:cTn id="101" dur="500"/>
                                        <p:tgtEl>
                                          <p:spTgt spid="547023"/>
                                        </p:tgtEl>
                                      </p:cBhvr>
                                    </p:animEffect>
                                  </p:childTnLst>
                                </p:cTn>
                              </p:par>
                              <p:par>
                                <p:cTn id="102" presetID="4" presetClass="entr" presetSubtype="16" fill="hold" grpId="0" nodeType="withEffect">
                                  <p:stCondLst>
                                    <p:cond delay="0"/>
                                  </p:stCondLst>
                                  <p:childTnLst>
                                    <p:set>
                                      <p:cBhvr>
                                        <p:cTn id="103" dur="1" fill="hold">
                                          <p:stCondLst>
                                            <p:cond delay="0"/>
                                          </p:stCondLst>
                                        </p:cTn>
                                        <p:tgtEl>
                                          <p:spTgt spid="547024"/>
                                        </p:tgtEl>
                                        <p:attrNameLst>
                                          <p:attrName>style.visibility</p:attrName>
                                        </p:attrNameLst>
                                      </p:cBhvr>
                                      <p:to>
                                        <p:strVal val="visible"/>
                                      </p:to>
                                    </p:set>
                                    <p:animEffect transition="in" filter="box(in)">
                                      <p:cBhvr>
                                        <p:cTn id="104" dur="500"/>
                                        <p:tgtEl>
                                          <p:spTgt spid="547024"/>
                                        </p:tgtEl>
                                      </p:cBhvr>
                                    </p:animEffect>
                                  </p:childTnLst>
                                </p:cTn>
                              </p:par>
                              <p:par>
                                <p:cTn id="105" presetID="4" presetClass="entr" presetSubtype="16" fill="hold" grpId="0" nodeType="withEffect">
                                  <p:stCondLst>
                                    <p:cond delay="0"/>
                                  </p:stCondLst>
                                  <p:childTnLst>
                                    <p:set>
                                      <p:cBhvr>
                                        <p:cTn id="106" dur="1" fill="hold">
                                          <p:stCondLst>
                                            <p:cond delay="0"/>
                                          </p:stCondLst>
                                        </p:cTn>
                                        <p:tgtEl>
                                          <p:spTgt spid="547025"/>
                                        </p:tgtEl>
                                        <p:attrNameLst>
                                          <p:attrName>style.visibility</p:attrName>
                                        </p:attrNameLst>
                                      </p:cBhvr>
                                      <p:to>
                                        <p:strVal val="visible"/>
                                      </p:to>
                                    </p:set>
                                    <p:animEffect transition="in" filter="box(in)">
                                      <p:cBhvr>
                                        <p:cTn id="107" dur="500"/>
                                        <p:tgtEl>
                                          <p:spTgt spid="547025"/>
                                        </p:tgtEl>
                                      </p:cBhvr>
                                    </p:animEffect>
                                  </p:childTnLst>
                                </p:cTn>
                              </p:par>
                              <p:par>
                                <p:cTn id="108" presetID="4" presetClass="entr" presetSubtype="16" fill="hold" grpId="0" nodeType="withEffect">
                                  <p:stCondLst>
                                    <p:cond delay="0"/>
                                  </p:stCondLst>
                                  <p:childTnLst>
                                    <p:set>
                                      <p:cBhvr>
                                        <p:cTn id="109" dur="1" fill="hold">
                                          <p:stCondLst>
                                            <p:cond delay="0"/>
                                          </p:stCondLst>
                                        </p:cTn>
                                        <p:tgtEl>
                                          <p:spTgt spid="547026"/>
                                        </p:tgtEl>
                                        <p:attrNameLst>
                                          <p:attrName>style.visibility</p:attrName>
                                        </p:attrNameLst>
                                      </p:cBhvr>
                                      <p:to>
                                        <p:strVal val="visible"/>
                                      </p:to>
                                    </p:set>
                                    <p:animEffect transition="in" filter="box(in)">
                                      <p:cBhvr>
                                        <p:cTn id="110" dur="500"/>
                                        <p:tgtEl>
                                          <p:spTgt spid="547026"/>
                                        </p:tgtEl>
                                      </p:cBhvr>
                                    </p:animEffect>
                                  </p:childTnLst>
                                </p:cTn>
                              </p:par>
                              <p:par>
                                <p:cTn id="111" presetID="4" presetClass="entr" presetSubtype="16" fill="hold" grpId="0" nodeType="withEffect">
                                  <p:stCondLst>
                                    <p:cond delay="0"/>
                                  </p:stCondLst>
                                  <p:childTnLst>
                                    <p:set>
                                      <p:cBhvr>
                                        <p:cTn id="112" dur="1" fill="hold">
                                          <p:stCondLst>
                                            <p:cond delay="0"/>
                                          </p:stCondLst>
                                        </p:cTn>
                                        <p:tgtEl>
                                          <p:spTgt spid="547027"/>
                                        </p:tgtEl>
                                        <p:attrNameLst>
                                          <p:attrName>style.visibility</p:attrName>
                                        </p:attrNameLst>
                                      </p:cBhvr>
                                      <p:to>
                                        <p:strVal val="visible"/>
                                      </p:to>
                                    </p:set>
                                    <p:animEffect transition="in" filter="box(in)">
                                      <p:cBhvr>
                                        <p:cTn id="113" dur="500"/>
                                        <p:tgtEl>
                                          <p:spTgt spid="547027"/>
                                        </p:tgtEl>
                                      </p:cBhvr>
                                    </p:animEffect>
                                  </p:childTnLst>
                                </p:cTn>
                              </p:par>
                              <p:par>
                                <p:cTn id="114" presetID="4" presetClass="entr" presetSubtype="16" fill="hold" grpId="0" nodeType="withEffect">
                                  <p:stCondLst>
                                    <p:cond delay="0"/>
                                  </p:stCondLst>
                                  <p:childTnLst>
                                    <p:set>
                                      <p:cBhvr>
                                        <p:cTn id="115" dur="1" fill="hold">
                                          <p:stCondLst>
                                            <p:cond delay="0"/>
                                          </p:stCondLst>
                                        </p:cTn>
                                        <p:tgtEl>
                                          <p:spTgt spid="547028"/>
                                        </p:tgtEl>
                                        <p:attrNameLst>
                                          <p:attrName>style.visibility</p:attrName>
                                        </p:attrNameLst>
                                      </p:cBhvr>
                                      <p:to>
                                        <p:strVal val="visible"/>
                                      </p:to>
                                    </p:set>
                                    <p:animEffect transition="in" filter="box(in)">
                                      <p:cBhvr>
                                        <p:cTn id="116" dur="500"/>
                                        <p:tgtEl>
                                          <p:spTgt spid="547028"/>
                                        </p:tgtEl>
                                      </p:cBhvr>
                                    </p:animEffect>
                                  </p:childTnLst>
                                </p:cTn>
                              </p:par>
                              <p:par>
                                <p:cTn id="117" presetID="4" presetClass="entr" presetSubtype="16" fill="hold" grpId="0" nodeType="withEffect">
                                  <p:stCondLst>
                                    <p:cond delay="0"/>
                                  </p:stCondLst>
                                  <p:childTnLst>
                                    <p:set>
                                      <p:cBhvr>
                                        <p:cTn id="118" dur="1" fill="hold">
                                          <p:stCondLst>
                                            <p:cond delay="0"/>
                                          </p:stCondLst>
                                        </p:cTn>
                                        <p:tgtEl>
                                          <p:spTgt spid="547029"/>
                                        </p:tgtEl>
                                        <p:attrNameLst>
                                          <p:attrName>style.visibility</p:attrName>
                                        </p:attrNameLst>
                                      </p:cBhvr>
                                      <p:to>
                                        <p:strVal val="visible"/>
                                      </p:to>
                                    </p:set>
                                    <p:animEffect transition="in" filter="box(in)">
                                      <p:cBhvr>
                                        <p:cTn id="119" dur="500"/>
                                        <p:tgtEl>
                                          <p:spTgt spid="547029"/>
                                        </p:tgtEl>
                                      </p:cBhvr>
                                    </p:animEffect>
                                  </p:childTnLst>
                                </p:cTn>
                              </p:par>
                              <p:par>
                                <p:cTn id="120" presetID="4" presetClass="entr" presetSubtype="16" fill="hold" grpId="0" nodeType="withEffect">
                                  <p:stCondLst>
                                    <p:cond delay="0"/>
                                  </p:stCondLst>
                                  <p:childTnLst>
                                    <p:set>
                                      <p:cBhvr>
                                        <p:cTn id="121" dur="1" fill="hold">
                                          <p:stCondLst>
                                            <p:cond delay="0"/>
                                          </p:stCondLst>
                                        </p:cTn>
                                        <p:tgtEl>
                                          <p:spTgt spid="547030"/>
                                        </p:tgtEl>
                                        <p:attrNameLst>
                                          <p:attrName>style.visibility</p:attrName>
                                        </p:attrNameLst>
                                      </p:cBhvr>
                                      <p:to>
                                        <p:strVal val="visible"/>
                                      </p:to>
                                    </p:set>
                                    <p:animEffect transition="in" filter="box(in)">
                                      <p:cBhvr>
                                        <p:cTn id="122" dur="500"/>
                                        <p:tgtEl>
                                          <p:spTgt spid="547030"/>
                                        </p:tgtEl>
                                      </p:cBhvr>
                                    </p:animEffect>
                                  </p:childTnLst>
                                </p:cTn>
                              </p:par>
                              <p:par>
                                <p:cTn id="123" presetID="4" presetClass="entr" presetSubtype="16" fill="hold" grpId="0" nodeType="withEffect">
                                  <p:stCondLst>
                                    <p:cond delay="0"/>
                                  </p:stCondLst>
                                  <p:childTnLst>
                                    <p:set>
                                      <p:cBhvr>
                                        <p:cTn id="124" dur="1" fill="hold">
                                          <p:stCondLst>
                                            <p:cond delay="0"/>
                                          </p:stCondLst>
                                        </p:cTn>
                                        <p:tgtEl>
                                          <p:spTgt spid="547031"/>
                                        </p:tgtEl>
                                        <p:attrNameLst>
                                          <p:attrName>style.visibility</p:attrName>
                                        </p:attrNameLst>
                                      </p:cBhvr>
                                      <p:to>
                                        <p:strVal val="visible"/>
                                      </p:to>
                                    </p:set>
                                    <p:animEffect transition="in" filter="box(in)">
                                      <p:cBhvr>
                                        <p:cTn id="125" dur="500"/>
                                        <p:tgtEl>
                                          <p:spTgt spid="547031"/>
                                        </p:tgtEl>
                                      </p:cBhvr>
                                    </p:animEffect>
                                  </p:childTnLst>
                                </p:cTn>
                              </p:par>
                              <p:par>
                                <p:cTn id="126" presetID="4" presetClass="entr" presetSubtype="16" fill="hold" grpId="0" nodeType="withEffect">
                                  <p:stCondLst>
                                    <p:cond delay="0"/>
                                  </p:stCondLst>
                                  <p:childTnLst>
                                    <p:set>
                                      <p:cBhvr>
                                        <p:cTn id="127" dur="1" fill="hold">
                                          <p:stCondLst>
                                            <p:cond delay="0"/>
                                          </p:stCondLst>
                                        </p:cTn>
                                        <p:tgtEl>
                                          <p:spTgt spid="547032"/>
                                        </p:tgtEl>
                                        <p:attrNameLst>
                                          <p:attrName>style.visibility</p:attrName>
                                        </p:attrNameLst>
                                      </p:cBhvr>
                                      <p:to>
                                        <p:strVal val="visible"/>
                                      </p:to>
                                    </p:set>
                                    <p:animEffect transition="in" filter="box(in)">
                                      <p:cBhvr>
                                        <p:cTn id="128" dur="500"/>
                                        <p:tgtEl>
                                          <p:spTgt spid="547032"/>
                                        </p:tgtEl>
                                      </p:cBhvr>
                                    </p:animEffect>
                                  </p:childTnLst>
                                </p:cTn>
                              </p:par>
                              <p:par>
                                <p:cTn id="129" presetID="4" presetClass="entr" presetSubtype="16" fill="hold" grpId="0" nodeType="withEffect">
                                  <p:stCondLst>
                                    <p:cond delay="0"/>
                                  </p:stCondLst>
                                  <p:childTnLst>
                                    <p:set>
                                      <p:cBhvr>
                                        <p:cTn id="130" dur="1" fill="hold">
                                          <p:stCondLst>
                                            <p:cond delay="0"/>
                                          </p:stCondLst>
                                        </p:cTn>
                                        <p:tgtEl>
                                          <p:spTgt spid="547033"/>
                                        </p:tgtEl>
                                        <p:attrNameLst>
                                          <p:attrName>style.visibility</p:attrName>
                                        </p:attrNameLst>
                                      </p:cBhvr>
                                      <p:to>
                                        <p:strVal val="visible"/>
                                      </p:to>
                                    </p:set>
                                    <p:animEffect transition="in" filter="box(in)">
                                      <p:cBhvr>
                                        <p:cTn id="131" dur="500"/>
                                        <p:tgtEl>
                                          <p:spTgt spid="547033"/>
                                        </p:tgtEl>
                                      </p:cBhvr>
                                    </p:animEffect>
                                  </p:childTnLst>
                                </p:cTn>
                              </p:par>
                              <p:par>
                                <p:cTn id="132" presetID="4" presetClass="entr" presetSubtype="16" fill="hold" grpId="0" nodeType="withEffect">
                                  <p:stCondLst>
                                    <p:cond delay="0"/>
                                  </p:stCondLst>
                                  <p:childTnLst>
                                    <p:set>
                                      <p:cBhvr>
                                        <p:cTn id="133" dur="1" fill="hold">
                                          <p:stCondLst>
                                            <p:cond delay="0"/>
                                          </p:stCondLst>
                                        </p:cTn>
                                        <p:tgtEl>
                                          <p:spTgt spid="547034"/>
                                        </p:tgtEl>
                                        <p:attrNameLst>
                                          <p:attrName>style.visibility</p:attrName>
                                        </p:attrNameLst>
                                      </p:cBhvr>
                                      <p:to>
                                        <p:strVal val="visible"/>
                                      </p:to>
                                    </p:set>
                                    <p:animEffect transition="in" filter="box(in)">
                                      <p:cBhvr>
                                        <p:cTn id="134" dur="500"/>
                                        <p:tgtEl>
                                          <p:spTgt spid="547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19" grpId="0" build="p"/>
      <p:bldP spid="546963" grpId="0"/>
      <p:bldP spid="546964" grpId="0"/>
      <p:bldP spid="546965" grpId="0"/>
      <p:bldP spid="546966" grpId="0"/>
      <p:bldP spid="546967" grpId="0"/>
      <p:bldP spid="546968" grpId="0"/>
      <p:bldP spid="546969" grpId="0"/>
      <p:bldP spid="546970" grpId="0"/>
      <p:bldP spid="546971" grpId="0"/>
      <p:bldP spid="546972" grpId="0"/>
      <p:bldP spid="546973" grpId="0"/>
      <p:bldP spid="546974" grpId="0"/>
      <p:bldP spid="546975" grpId="0"/>
      <p:bldP spid="546976" grpId="0"/>
      <p:bldP spid="546977" grpId="0" animBg="1"/>
      <p:bldP spid="546978" grpId="0" animBg="1"/>
      <p:bldP spid="546979" grpId="0" animBg="1"/>
      <p:bldP spid="547001" grpId="0"/>
      <p:bldP spid="547002" grpId="0"/>
      <p:bldP spid="547003" grpId="0"/>
      <p:bldP spid="547016" grpId="0" animBg="1"/>
      <p:bldP spid="547017" grpId="0" animBg="1"/>
      <p:bldP spid="547018" grpId="0" animBg="1"/>
      <p:bldP spid="547019" grpId="0" animBg="1"/>
      <p:bldP spid="547020" grpId="0" animBg="1"/>
      <p:bldP spid="547021" grpId="0" animBg="1"/>
      <p:bldP spid="547022" grpId="0" animBg="1"/>
      <p:bldP spid="547023" grpId="0" animBg="1"/>
      <p:bldP spid="547024" grpId="0" animBg="1"/>
      <p:bldP spid="547025" grpId="0" animBg="1"/>
      <p:bldP spid="547026" grpId="0"/>
      <p:bldP spid="547027" grpId="0"/>
      <p:bldP spid="547028" grpId="0"/>
      <p:bldP spid="547029" grpId="0"/>
      <p:bldP spid="547030" grpId="0"/>
      <p:bldP spid="547031" grpId="0"/>
      <p:bldP spid="547032" grpId="0"/>
      <p:bldP spid="547033" grpId="0"/>
      <p:bldP spid="547034"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4770" name="Rectangle 2"/>
          <p:cNvSpPr>
            <a:spLocks noGrp="1" noRot="1" noChangeArrowheads="1"/>
          </p:cNvSpPr>
          <p:nvPr>
            <p:ph type="title"/>
          </p:nvPr>
        </p:nvSpPr>
        <p:spPr>
          <a:xfrm>
            <a:off x="827088" y="60325"/>
            <a:ext cx="8323262" cy="555625"/>
          </a:xfrm>
        </p:spPr>
        <p:txBody>
          <a:bodyPr/>
          <a:lstStyle/>
          <a:p>
            <a:pPr>
              <a:defRPr/>
            </a:pPr>
            <a:r>
              <a:rPr lang="en-US" dirty="0"/>
              <a:t>An Increase in Demand</a:t>
            </a:r>
          </a:p>
        </p:txBody>
      </p:sp>
      <p:sp>
        <p:nvSpPr>
          <p:cNvPr id="544771" name="Rectangle 3"/>
          <p:cNvSpPr>
            <a:spLocks noGrp="1" noChangeArrowheads="1"/>
          </p:cNvSpPr>
          <p:nvPr>
            <p:ph type="body" idx="1"/>
          </p:nvPr>
        </p:nvSpPr>
        <p:spPr>
          <a:xfrm>
            <a:off x="971550" y="5402263"/>
            <a:ext cx="7921625" cy="1050925"/>
          </a:xfrm>
          <a:solidFill>
            <a:schemeClr val="accent5">
              <a:lumMod val="20000"/>
              <a:lumOff val="80000"/>
            </a:schemeClr>
          </a:solidFill>
        </p:spPr>
        <p:txBody>
          <a:bodyPr/>
          <a:lstStyle/>
          <a:p>
            <a:pPr marL="0" indent="4763" algn="ctr">
              <a:buFont typeface="Wingdings" pitchFamily="2" charset="2"/>
              <a:buNone/>
              <a:defRPr/>
            </a:pPr>
            <a:r>
              <a:rPr lang="en-US" sz="2100" dirty="0" smtClean="0">
                <a:solidFill>
                  <a:srgbClr val="0033CC"/>
                </a:solidFill>
              </a:rPr>
              <a:t>A </a:t>
            </a:r>
            <a:r>
              <a:rPr lang="en-US" sz="2100" b="1" dirty="0" smtClean="0">
                <a:solidFill>
                  <a:srgbClr val="0033CC"/>
                </a:solidFill>
              </a:rPr>
              <a:t>shift of the demand curve </a:t>
            </a:r>
            <a:r>
              <a:rPr lang="en-US" sz="2100" dirty="0" smtClean="0">
                <a:solidFill>
                  <a:srgbClr val="0033CC"/>
                </a:solidFill>
              </a:rPr>
              <a:t>is a change in the quantity demanded at any given price, represented by the change of the original demand curve to a new position, denoted by a new demand curve.</a:t>
            </a:r>
          </a:p>
        </p:txBody>
      </p:sp>
      <p:sp>
        <p:nvSpPr>
          <p:cNvPr id="544778" name="Text Box 10"/>
          <p:cNvSpPr txBox="1">
            <a:spLocks noChangeArrowheads="1"/>
          </p:cNvSpPr>
          <p:nvPr/>
        </p:nvSpPr>
        <p:spPr bwMode="auto">
          <a:xfrm>
            <a:off x="1042988" y="1668463"/>
            <a:ext cx="2133600" cy="1905000"/>
          </a:xfrm>
          <a:prstGeom prst="rect">
            <a:avLst/>
          </a:prstGeom>
          <a:solidFill>
            <a:schemeClr val="accent5">
              <a:lumMod val="20000"/>
              <a:lumOff val="80000"/>
            </a:schemeClr>
          </a:solidFill>
          <a:ln w="19050" cmpd="thinThick" algn="ctr">
            <a:solidFill>
              <a:schemeClr val="tx1"/>
            </a:solidFill>
            <a:miter lim="800000"/>
            <a:headEnd/>
            <a:tailEnd type="none" w="sm" len="lg"/>
          </a:ln>
          <a:effectLst/>
        </p:spPr>
        <p:txBody>
          <a:bodyPr anchor="ctr"/>
          <a:lstStyle/>
          <a:p>
            <a:pPr marL="1588" indent="-1588" algn="ctr">
              <a:spcBef>
                <a:spcPct val="20000"/>
              </a:spcBef>
              <a:defRPr/>
            </a:pPr>
            <a:r>
              <a:rPr lang="en-US" sz="2400" dirty="0">
                <a:solidFill>
                  <a:srgbClr val="0033CC"/>
                </a:solidFill>
              </a:rPr>
              <a:t>Increase in population </a:t>
            </a:r>
            <a:r>
              <a:rPr lang="en-US" sz="2400" dirty="0">
                <a:solidFill>
                  <a:srgbClr val="0033CC"/>
                </a:solidFill>
                <a:sym typeface="Wingdings" pitchFamily="2" charset="2"/>
              </a:rPr>
              <a:t></a:t>
            </a:r>
          </a:p>
          <a:p>
            <a:pPr marL="1588" indent="-1588" algn="ctr">
              <a:spcBef>
                <a:spcPct val="20000"/>
              </a:spcBef>
              <a:defRPr/>
            </a:pPr>
            <a:r>
              <a:rPr lang="en-US" sz="2400" dirty="0">
                <a:solidFill>
                  <a:srgbClr val="0033CC"/>
                </a:solidFill>
                <a:sym typeface="Wingdings" pitchFamily="2" charset="2"/>
              </a:rPr>
              <a:t>more cotton clothing users</a:t>
            </a:r>
            <a:endParaRPr lang="en-US" sz="3200" dirty="0">
              <a:solidFill>
                <a:srgbClr val="0033CC"/>
              </a:solidFill>
            </a:endParaRPr>
          </a:p>
        </p:txBody>
      </p:sp>
      <p:sp>
        <p:nvSpPr>
          <p:cNvPr id="39940" name="Rectangle 58"/>
          <p:cNvSpPr>
            <a:spLocks noChangeArrowheads="1"/>
          </p:cNvSpPr>
          <p:nvPr/>
        </p:nvSpPr>
        <p:spPr bwMode="auto">
          <a:xfrm>
            <a:off x="2743200" y="836613"/>
            <a:ext cx="1065213" cy="646112"/>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Roman"/>
              </a:rPr>
              <a:t>Price of cotton </a:t>
            </a:r>
            <a:br>
              <a:rPr lang="en-US" sz="1400" b="1">
                <a:solidFill>
                  <a:srgbClr val="000000"/>
                </a:solidFill>
                <a:latin typeface="Myriad Roman"/>
              </a:rPr>
            </a:br>
            <a:r>
              <a:rPr lang="en-US" sz="1400" b="1">
                <a:solidFill>
                  <a:srgbClr val="000000"/>
                </a:solidFill>
                <a:latin typeface="Myriad Roman"/>
              </a:rPr>
              <a:t>(per pound)</a:t>
            </a:r>
            <a:endParaRPr lang="en-US" sz="1400" b="1"/>
          </a:p>
        </p:txBody>
      </p:sp>
      <p:sp>
        <p:nvSpPr>
          <p:cNvPr id="39941" name="Line 63"/>
          <p:cNvSpPr>
            <a:spLocks noChangeShapeType="1"/>
          </p:cNvSpPr>
          <p:nvPr/>
        </p:nvSpPr>
        <p:spPr bwMode="auto">
          <a:xfrm flipV="1">
            <a:off x="3986213" y="914400"/>
            <a:ext cx="0" cy="3273425"/>
          </a:xfrm>
          <a:prstGeom prst="line">
            <a:avLst/>
          </a:prstGeom>
          <a:noFill/>
          <a:ln w="6350">
            <a:solidFill>
              <a:srgbClr val="000000"/>
            </a:solidFill>
            <a:miter lim="800000"/>
            <a:headEnd/>
            <a:tailEnd/>
          </a:ln>
        </p:spPr>
        <p:txBody>
          <a:bodyPr/>
          <a:lstStyle/>
          <a:p>
            <a:endParaRPr lang="en-US"/>
          </a:p>
        </p:txBody>
      </p:sp>
      <p:sp>
        <p:nvSpPr>
          <p:cNvPr id="39942" name="Freeform 64"/>
          <p:cNvSpPr>
            <a:spLocks/>
          </p:cNvSpPr>
          <p:nvPr/>
        </p:nvSpPr>
        <p:spPr bwMode="auto">
          <a:xfrm>
            <a:off x="3986213" y="4264025"/>
            <a:ext cx="166687" cy="136525"/>
          </a:xfrm>
          <a:custGeom>
            <a:avLst/>
            <a:gdLst>
              <a:gd name="T0" fmla="*/ 2147483647 w 83"/>
              <a:gd name="T1" fmla="*/ 2147483647 h 83"/>
              <a:gd name="T2" fmla="*/ 0 w 83"/>
              <a:gd name="T3" fmla="*/ 2147483647 h 83"/>
              <a:gd name="T4" fmla="*/ 0 w 83"/>
              <a:gd name="T5" fmla="*/ 0 h 83"/>
              <a:gd name="T6" fmla="*/ 0 60000 65536"/>
              <a:gd name="T7" fmla="*/ 0 60000 65536"/>
              <a:gd name="T8" fmla="*/ 0 60000 65536"/>
              <a:gd name="T9" fmla="*/ 0 w 83"/>
              <a:gd name="T10" fmla="*/ 0 h 83"/>
              <a:gd name="T11" fmla="*/ 83 w 83"/>
              <a:gd name="T12" fmla="*/ 83 h 83"/>
            </a:gdLst>
            <a:ahLst/>
            <a:cxnLst>
              <a:cxn ang="T6">
                <a:pos x="T0" y="T1"/>
              </a:cxn>
              <a:cxn ang="T7">
                <a:pos x="T2" y="T3"/>
              </a:cxn>
              <a:cxn ang="T8">
                <a:pos x="T4" y="T5"/>
              </a:cxn>
            </a:cxnLst>
            <a:rect l="T9" t="T10" r="T11" b="T12"/>
            <a:pathLst>
              <a:path w="83" h="83">
                <a:moveTo>
                  <a:pt x="83" y="83"/>
                </a:moveTo>
                <a:lnTo>
                  <a:pt x="0" y="83"/>
                </a:lnTo>
                <a:lnTo>
                  <a:pt x="0" y="0"/>
                </a:lnTo>
              </a:path>
            </a:pathLst>
          </a:custGeom>
          <a:noFill/>
          <a:ln w="6350" cap="flat">
            <a:solidFill>
              <a:srgbClr val="000000"/>
            </a:solidFill>
            <a:prstDash val="solid"/>
            <a:miter lim="800000"/>
            <a:headEnd/>
            <a:tailEnd/>
          </a:ln>
        </p:spPr>
        <p:txBody>
          <a:bodyPr/>
          <a:lstStyle/>
          <a:p>
            <a:endParaRPr lang="en-US"/>
          </a:p>
        </p:txBody>
      </p:sp>
      <p:sp>
        <p:nvSpPr>
          <p:cNvPr id="39943" name="Line 65"/>
          <p:cNvSpPr>
            <a:spLocks noChangeShapeType="1"/>
          </p:cNvSpPr>
          <p:nvPr/>
        </p:nvSpPr>
        <p:spPr bwMode="auto">
          <a:xfrm flipH="1">
            <a:off x="4248150" y="4400550"/>
            <a:ext cx="4248150" cy="0"/>
          </a:xfrm>
          <a:prstGeom prst="line">
            <a:avLst/>
          </a:prstGeom>
          <a:noFill/>
          <a:ln w="6350">
            <a:solidFill>
              <a:srgbClr val="000000"/>
            </a:solidFill>
            <a:miter lim="800000"/>
            <a:headEnd/>
            <a:tailEnd/>
          </a:ln>
        </p:spPr>
        <p:txBody>
          <a:bodyPr/>
          <a:lstStyle/>
          <a:p>
            <a:endParaRPr lang="en-US"/>
          </a:p>
        </p:txBody>
      </p:sp>
      <p:sp>
        <p:nvSpPr>
          <p:cNvPr id="39944" name="Rectangle 66"/>
          <p:cNvSpPr>
            <a:spLocks noChangeArrowheads="1"/>
          </p:cNvSpPr>
          <p:nvPr/>
        </p:nvSpPr>
        <p:spPr bwMode="auto">
          <a:xfrm>
            <a:off x="4618038" y="443865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7</a:t>
            </a:r>
            <a:endParaRPr lang="en-US" sz="1400"/>
          </a:p>
        </p:txBody>
      </p:sp>
      <p:sp>
        <p:nvSpPr>
          <p:cNvPr id="39945" name="Rectangle 67"/>
          <p:cNvSpPr>
            <a:spLocks noChangeArrowheads="1"/>
          </p:cNvSpPr>
          <p:nvPr/>
        </p:nvSpPr>
        <p:spPr bwMode="auto">
          <a:xfrm>
            <a:off x="3787775" y="4438650"/>
            <a:ext cx="9683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p>
        </p:txBody>
      </p:sp>
      <p:sp>
        <p:nvSpPr>
          <p:cNvPr id="39946" name="Rectangle 68"/>
          <p:cNvSpPr>
            <a:spLocks noChangeArrowheads="1"/>
          </p:cNvSpPr>
          <p:nvPr/>
        </p:nvSpPr>
        <p:spPr bwMode="auto">
          <a:xfrm>
            <a:off x="5303838" y="443865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9</a:t>
            </a:r>
            <a:endParaRPr lang="en-US" sz="1400"/>
          </a:p>
        </p:txBody>
      </p:sp>
      <p:sp>
        <p:nvSpPr>
          <p:cNvPr id="39947" name="Rectangle 69"/>
          <p:cNvSpPr>
            <a:spLocks noChangeArrowheads="1"/>
          </p:cNvSpPr>
          <p:nvPr/>
        </p:nvSpPr>
        <p:spPr bwMode="auto">
          <a:xfrm>
            <a:off x="5935663" y="44386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11</a:t>
            </a:r>
            <a:endParaRPr lang="en-US" sz="1400"/>
          </a:p>
        </p:txBody>
      </p:sp>
      <p:sp>
        <p:nvSpPr>
          <p:cNvPr id="39948" name="Rectangle 70"/>
          <p:cNvSpPr>
            <a:spLocks noChangeArrowheads="1"/>
          </p:cNvSpPr>
          <p:nvPr/>
        </p:nvSpPr>
        <p:spPr bwMode="auto">
          <a:xfrm>
            <a:off x="7305675" y="44386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a:t>
            </a:r>
            <a:endParaRPr lang="en-US" sz="1400"/>
          </a:p>
        </p:txBody>
      </p:sp>
      <p:sp>
        <p:nvSpPr>
          <p:cNvPr id="39949" name="Rectangle 71"/>
          <p:cNvSpPr>
            <a:spLocks noChangeArrowheads="1"/>
          </p:cNvSpPr>
          <p:nvPr/>
        </p:nvSpPr>
        <p:spPr bwMode="auto">
          <a:xfrm>
            <a:off x="6619875" y="44386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13</a:t>
            </a:r>
            <a:endParaRPr lang="en-US" sz="1400"/>
          </a:p>
        </p:txBody>
      </p:sp>
      <p:sp>
        <p:nvSpPr>
          <p:cNvPr id="39950" name="Rectangle 72"/>
          <p:cNvSpPr>
            <a:spLocks noChangeArrowheads="1"/>
          </p:cNvSpPr>
          <p:nvPr/>
        </p:nvSpPr>
        <p:spPr bwMode="auto">
          <a:xfrm>
            <a:off x="7989888" y="44386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a:t>
            </a:r>
            <a:endParaRPr lang="en-US" sz="1400"/>
          </a:p>
        </p:txBody>
      </p:sp>
      <p:sp>
        <p:nvSpPr>
          <p:cNvPr id="39951" name="Line 83"/>
          <p:cNvSpPr>
            <a:spLocks noChangeShapeType="1"/>
          </p:cNvSpPr>
          <p:nvPr/>
        </p:nvSpPr>
        <p:spPr bwMode="auto">
          <a:xfrm>
            <a:off x="3986213" y="1682750"/>
            <a:ext cx="139700" cy="0"/>
          </a:xfrm>
          <a:prstGeom prst="line">
            <a:avLst/>
          </a:prstGeom>
          <a:noFill/>
          <a:ln w="6350">
            <a:solidFill>
              <a:srgbClr val="000000"/>
            </a:solidFill>
            <a:miter lim="800000"/>
            <a:headEnd/>
            <a:tailEnd/>
          </a:ln>
        </p:spPr>
        <p:txBody>
          <a:bodyPr/>
          <a:lstStyle/>
          <a:p>
            <a:endParaRPr lang="en-US"/>
          </a:p>
        </p:txBody>
      </p:sp>
      <p:sp>
        <p:nvSpPr>
          <p:cNvPr id="39952" name="Line 84"/>
          <p:cNvSpPr>
            <a:spLocks noChangeShapeType="1"/>
          </p:cNvSpPr>
          <p:nvPr/>
        </p:nvSpPr>
        <p:spPr bwMode="auto">
          <a:xfrm>
            <a:off x="3986213" y="2071688"/>
            <a:ext cx="139700" cy="0"/>
          </a:xfrm>
          <a:prstGeom prst="line">
            <a:avLst/>
          </a:prstGeom>
          <a:noFill/>
          <a:ln w="6350">
            <a:solidFill>
              <a:srgbClr val="000000"/>
            </a:solidFill>
            <a:miter lim="800000"/>
            <a:headEnd/>
            <a:tailEnd/>
          </a:ln>
        </p:spPr>
        <p:txBody>
          <a:bodyPr/>
          <a:lstStyle/>
          <a:p>
            <a:endParaRPr lang="en-US"/>
          </a:p>
        </p:txBody>
      </p:sp>
      <p:sp>
        <p:nvSpPr>
          <p:cNvPr id="39953" name="Line 85"/>
          <p:cNvSpPr>
            <a:spLocks noChangeShapeType="1"/>
          </p:cNvSpPr>
          <p:nvPr/>
        </p:nvSpPr>
        <p:spPr bwMode="auto">
          <a:xfrm>
            <a:off x="3986213" y="2459038"/>
            <a:ext cx="139700" cy="0"/>
          </a:xfrm>
          <a:prstGeom prst="line">
            <a:avLst/>
          </a:prstGeom>
          <a:noFill/>
          <a:ln w="6350">
            <a:solidFill>
              <a:srgbClr val="000000"/>
            </a:solidFill>
            <a:miter lim="800000"/>
            <a:headEnd/>
            <a:tailEnd/>
          </a:ln>
        </p:spPr>
        <p:txBody>
          <a:bodyPr/>
          <a:lstStyle/>
          <a:p>
            <a:endParaRPr lang="en-US"/>
          </a:p>
        </p:txBody>
      </p:sp>
      <p:sp>
        <p:nvSpPr>
          <p:cNvPr id="39954" name="Line 86"/>
          <p:cNvSpPr>
            <a:spLocks noChangeShapeType="1"/>
          </p:cNvSpPr>
          <p:nvPr/>
        </p:nvSpPr>
        <p:spPr bwMode="auto">
          <a:xfrm>
            <a:off x="3986213" y="2846388"/>
            <a:ext cx="139700" cy="0"/>
          </a:xfrm>
          <a:prstGeom prst="line">
            <a:avLst/>
          </a:prstGeom>
          <a:noFill/>
          <a:ln w="6350">
            <a:solidFill>
              <a:srgbClr val="000000"/>
            </a:solidFill>
            <a:miter lim="800000"/>
            <a:headEnd/>
            <a:tailEnd/>
          </a:ln>
        </p:spPr>
        <p:txBody>
          <a:bodyPr/>
          <a:lstStyle/>
          <a:p>
            <a:endParaRPr lang="en-US"/>
          </a:p>
        </p:txBody>
      </p:sp>
      <p:sp>
        <p:nvSpPr>
          <p:cNvPr id="39955" name="Line 87"/>
          <p:cNvSpPr>
            <a:spLocks noChangeShapeType="1"/>
          </p:cNvSpPr>
          <p:nvPr/>
        </p:nvSpPr>
        <p:spPr bwMode="auto">
          <a:xfrm>
            <a:off x="3986213" y="3235325"/>
            <a:ext cx="139700" cy="0"/>
          </a:xfrm>
          <a:prstGeom prst="line">
            <a:avLst/>
          </a:prstGeom>
          <a:noFill/>
          <a:ln w="6350">
            <a:solidFill>
              <a:srgbClr val="000000"/>
            </a:solidFill>
            <a:miter lim="800000"/>
            <a:headEnd/>
            <a:tailEnd/>
          </a:ln>
        </p:spPr>
        <p:txBody>
          <a:bodyPr/>
          <a:lstStyle/>
          <a:p>
            <a:endParaRPr lang="en-US"/>
          </a:p>
        </p:txBody>
      </p:sp>
      <p:sp>
        <p:nvSpPr>
          <p:cNvPr id="39956" name="Line 88"/>
          <p:cNvSpPr>
            <a:spLocks noChangeShapeType="1"/>
          </p:cNvSpPr>
          <p:nvPr/>
        </p:nvSpPr>
        <p:spPr bwMode="auto">
          <a:xfrm>
            <a:off x="3986213" y="3624263"/>
            <a:ext cx="139700" cy="0"/>
          </a:xfrm>
          <a:prstGeom prst="line">
            <a:avLst/>
          </a:prstGeom>
          <a:noFill/>
          <a:ln w="6350">
            <a:solidFill>
              <a:srgbClr val="000000"/>
            </a:solidFill>
            <a:miter lim="800000"/>
            <a:headEnd/>
            <a:tailEnd/>
          </a:ln>
        </p:spPr>
        <p:txBody>
          <a:bodyPr/>
          <a:lstStyle/>
          <a:p>
            <a:endParaRPr lang="en-US"/>
          </a:p>
        </p:txBody>
      </p:sp>
      <p:sp>
        <p:nvSpPr>
          <p:cNvPr id="39957" name="Line 89"/>
          <p:cNvSpPr>
            <a:spLocks noChangeShapeType="1"/>
          </p:cNvSpPr>
          <p:nvPr/>
        </p:nvSpPr>
        <p:spPr bwMode="auto">
          <a:xfrm>
            <a:off x="3986213" y="4013200"/>
            <a:ext cx="139700" cy="0"/>
          </a:xfrm>
          <a:prstGeom prst="line">
            <a:avLst/>
          </a:prstGeom>
          <a:noFill/>
          <a:ln w="6350">
            <a:solidFill>
              <a:srgbClr val="000000"/>
            </a:solidFill>
            <a:miter lim="800000"/>
            <a:headEnd/>
            <a:tailEnd/>
          </a:ln>
        </p:spPr>
        <p:txBody>
          <a:bodyPr/>
          <a:lstStyle/>
          <a:p>
            <a:endParaRPr lang="en-US"/>
          </a:p>
        </p:txBody>
      </p:sp>
      <p:sp>
        <p:nvSpPr>
          <p:cNvPr id="39958" name="Line 90"/>
          <p:cNvSpPr>
            <a:spLocks noChangeShapeType="1"/>
          </p:cNvSpPr>
          <p:nvPr/>
        </p:nvSpPr>
        <p:spPr bwMode="auto">
          <a:xfrm flipV="1">
            <a:off x="4673600" y="4291013"/>
            <a:ext cx="0" cy="109537"/>
          </a:xfrm>
          <a:prstGeom prst="line">
            <a:avLst/>
          </a:prstGeom>
          <a:noFill/>
          <a:ln w="6350">
            <a:solidFill>
              <a:srgbClr val="000000"/>
            </a:solidFill>
            <a:miter lim="800000"/>
            <a:headEnd/>
            <a:tailEnd/>
          </a:ln>
        </p:spPr>
        <p:txBody>
          <a:bodyPr/>
          <a:lstStyle/>
          <a:p>
            <a:endParaRPr lang="en-US"/>
          </a:p>
        </p:txBody>
      </p:sp>
      <p:sp>
        <p:nvSpPr>
          <p:cNvPr id="39959" name="Line 91"/>
          <p:cNvSpPr>
            <a:spLocks noChangeShapeType="1"/>
          </p:cNvSpPr>
          <p:nvPr/>
        </p:nvSpPr>
        <p:spPr bwMode="auto">
          <a:xfrm flipV="1">
            <a:off x="5354638" y="4291013"/>
            <a:ext cx="0" cy="109537"/>
          </a:xfrm>
          <a:prstGeom prst="line">
            <a:avLst/>
          </a:prstGeom>
          <a:noFill/>
          <a:ln w="6350">
            <a:solidFill>
              <a:srgbClr val="000000"/>
            </a:solidFill>
            <a:miter lim="800000"/>
            <a:headEnd/>
            <a:tailEnd/>
          </a:ln>
        </p:spPr>
        <p:txBody>
          <a:bodyPr/>
          <a:lstStyle/>
          <a:p>
            <a:endParaRPr lang="en-US"/>
          </a:p>
        </p:txBody>
      </p:sp>
      <p:sp>
        <p:nvSpPr>
          <p:cNvPr id="39960" name="Line 92"/>
          <p:cNvSpPr>
            <a:spLocks noChangeShapeType="1"/>
          </p:cNvSpPr>
          <p:nvPr/>
        </p:nvSpPr>
        <p:spPr bwMode="auto">
          <a:xfrm flipV="1">
            <a:off x="6042025" y="4291013"/>
            <a:ext cx="0" cy="109537"/>
          </a:xfrm>
          <a:prstGeom prst="line">
            <a:avLst/>
          </a:prstGeom>
          <a:noFill/>
          <a:ln w="6350">
            <a:solidFill>
              <a:srgbClr val="000000"/>
            </a:solidFill>
            <a:miter lim="800000"/>
            <a:headEnd/>
            <a:tailEnd/>
          </a:ln>
        </p:spPr>
        <p:txBody>
          <a:bodyPr/>
          <a:lstStyle/>
          <a:p>
            <a:endParaRPr lang="en-US"/>
          </a:p>
        </p:txBody>
      </p:sp>
      <p:sp>
        <p:nvSpPr>
          <p:cNvPr id="39961" name="Line 93"/>
          <p:cNvSpPr>
            <a:spLocks noChangeShapeType="1"/>
          </p:cNvSpPr>
          <p:nvPr/>
        </p:nvSpPr>
        <p:spPr bwMode="auto">
          <a:xfrm flipV="1">
            <a:off x="5059363" y="3055938"/>
            <a:ext cx="452437" cy="850900"/>
          </a:xfrm>
          <a:prstGeom prst="line">
            <a:avLst/>
          </a:prstGeom>
          <a:noFill/>
          <a:ln w="6350">
            <a:solidFill>
              <a:srgbClr val="000000"/>
            </a:solidFill>
            <a:miter lim="800000"/>
            <a:headEnd/>
            <a:tailEnd/>
          </a:ln>
        </p:spPr>
        <p:txBody>
          <a:bodyPr/>
          <a:lstStyle/>
          <a:p>
            <a:endParaRPr lang="en-US"/>
          </a:p>
        </p:txBody>
      </p:sp>
      <p:sp>
        <p:nvSpPr>
          <p:cNvPr id="544862" name="Line 94"/>
          <p:cNvSpPr>
            <a:spLocks noChangeShapeType="1"/>
          </p:cNvSpPr>
          <p:nvPr/>
        </p:nvSpPr>
        <p:spPr bwMode="auto">
          <a:xfrm flipV="1">
            <a:off x="6151563" y="2200275"/>
            <a:ext cx="452437" cy="850900"/>
          </a:xfrm>
          <a:prstGeom prst="line">
            <a:avLst/>
          </a:prstGeom>
          <a:noFill/>
          <a:ln w="6350">
            <a:solidFill>
              <a:srgbClr val="000000"/>
            </a:solidFill>
            <a:miter lim="800000"/>
            <a:headEnd/>
            <a:tailEnd/>
          </a:ln>
        </p:spPr>
        <p:txBody>
          <a:bodyPr/>
          <a:lstStyle/>
          <a:p>
            <a:endParaRPr lang="en-US"/>
          </a:p>
        </p:txBody>
      </p:sp>
      <p:sp>
        <p:nvSpPr>
          <p:cNvPr id="39963" name="Line 95"/>
          <p:cNvSpPr>
            <a:spLocks noChangeShapeType="1"/>
          </p:cNvSpPr>
          <p:nvPr/>
        </p:nvSpPr>
        <p:spPr bwMode="auto">
          <a:xfrm flipV="1">
            <a:off x="6727825" y="4291013"/>
            <a:ext cx="0" cy="109537"/>
          </a:xfrm>
          <a:prstGeom prst="line">
            <a:avLst/>
          </a:prstGeom>
          <a:noFill/>
          <a:ln w="6350">
            <a:solidFill>
              <a:srgbClr val="000000"/>
            </a:solidFill>
            <a:miter lim="800000"/>
            <a:headEnd/>
            <a:tailEnd/>
          </a:ln>
        </p:spPr>
        <p:txBody>
          <a:bodyPr/>
          <a:lstStyle/>
          <a:p>
            <a:endParaRPr lang="en-US"/>
          </a:p>
        </p:txBody>
      </p:sp>
      <p:sp>
        <p:nvSpPr>
          <p:cNvPr id="39964" name="Line 96"/>
          <p:cNvSpPr>
            <a:spLocks noChangeShapeType="1"/>
          </p:cNvSpPr>
          <p:nvPr/>
        </p:nvSpPr>
        <p:spPr bwMode="auto">
          <a:xfrm flipV="1">
            <a:off x="7410450" y="4291013"/>
            <a:ext cx="0" cy="109537"/>
          </a:xfrm>
          <a:prstGeom prst="line">
            <a:avLst/>
          </a:prstGeom>
          <a:noFill/>
          <a:ln w="6350">
            <a:solidFill>
              <a:srgbClr val="000000"/>
            </a:solidFill>
            <a:miter lim="800000"/>
            <a:headEnd/>
            <a:tailEnd/>
          </a:ln>
        </p:spPr>
        <p:txBody>
          <a:bodyPr/>
          <a:lstStyle/>
          <a:p>
            <a:endParaRPr lang="en-US"/>
          </a:p>
        </p:txBody>
      </p:sp>
      <p:sp>
        <p:nvSpPr>
          <p:cNvPr id="39965" name="Line 97"/>
          <p:cNvSpPr>
            <a:spLocks noChangeShapeType="1"/>
          </p:cNvSpPr>
          <p:nvPr/>
        </p:nvSpPr>
        <p:spPr bwMode="auto">
          <a:xfrm flipV="1">
            <a:off x="8096250" y="4291013"/>
            <a:ext cx="0" cy="109537"/>
          </a:xfrm>
          <a:prstGeom prst="line">
            <a:avLst/>
          </a:prstGeom>
          <a:noFill/>
          <a:ln w="6350">
            <a:solidFill>
              <a:srgbClr val="000000"/>
            </a:solidFill>
            <a:miter lim="800000"/>
            <a:headEnd/>
            <a:tailEnd/>
          </a:ln>
        </p:spPr>
        <p:txBody>
          <a:bodyPr/>
          <a:lstStyle/>
          <a:p>
            <a:endParaRPr lang="en-US"/>
          </a:p>
        </p:txBody>
      </p:sp>
      <p:sp>
        <p:nvSpPr>
          <p:cNvPr id="39966" name="Rectangle 98"/>
          <p:cNvSpPr>
            <a:spLocks noChangeArrowheads="1"/>
          </p:cNvSpPr>
          <p:nvPr/>
        </p:nvSpPr>
        <p:spPr bwMode="auto">
          <a:xfrm>
            <a:off x="3427413" y="1582738"/>
            <a:ext cx="44450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$2.00</a:t>
            </a:r>
            <a:endParaRPr lang="en-US" sz="1400"/>
          </a:p>
        </p:txBody>
      </p:sp>
      <p:sp>
        <p:nvSpPr>
          <p:cNvPr id="39967" name="Rectangle 99"/>
          <p:cNvSpPr>
            <a:spLocks noChangeArrowheads="1"/>
          </p:cNvSpPr>
          <p:nvPr/>
        </p:nvSpPr>
        <p:spPr bwMode="auto">
          <a:xfrm>
            <a:off x="3533775" y="1970088"/>
            <a:ext cx="346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1.75</a:t>
            </a:r>
            <a:endParaRPr lang="en-US" sz="1400"/>
          </a:p>
        </p:txBody>
      </p:sp>
      <p:sp>
        <p:nvSpPr>
          <p:cNvPr id="39968" name="Rectangle 100"/>
          <p:cNvSpPr>
            <a:spLocks noChangeArrowheads="1"/>
          </p:cNvSpPr>
          <p:nvPr/>
        </p:nvSpPr>
        <p:spPr bwMode="auto">
          <a:xfrm>
            <a:off x="3533775" y="2362200"/>
            <a:ext cx="346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1.50</a:t>
            </a:r>
            <a:endParaRPr lang="en-US" sz="1400"/>
          </a:p>
        </p:txBody>
      </p:sp>
      <p:sp>
        <p:nvSpPr>
          <p:cNvPr id="39969" name="Rectangle 101"/>
          <p:cNvSpPr>
            <a:spLocks noChangeArrowheads="1"/>
          </p:cNvSpPr>
          <p:nvPr/>
        </p:nvSpPr>
        <p:spPr bwMode="auto">
          <a:xfrm>
            <a:off x="3533775" y="2751138"/>
            <a:ext cx="346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1.25</a:t>
            </a:r>
            <a:endParaRPr lang="en-US" sz="1400"/>
          </a:p>
        </p:txBody>
      </p:sp>
      <p:sp>
        <p:nvSpPr>
          <p:cNvPr id="39970" name="Rectangle 102"/>
          <p:cNvSpPr>
            <a:spLocks noChangeArrowheads="1"/>
          </p:cNvSpPr>
          <p:nvPr/>
        </p:nvSpPr>
        <p:spPr bwMode="auto">
          <a:xfrm>
            <a:off x="3533775" y="3138488"/>
            <a:ext cx="346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a:t>
            </a:r>
            <a:endParaRPr lang="en-US" sz="1400"/>
          </a:p>
        </p:txBody>
      </p:sp>
      <p:sp>
        <p:nvSpPr>
          <p:cNvPr id="39971" name="Rectangle 103"/>
          <p:cNvSpPr>
            <a:spLocks noChangeArrowheads="1"/>
          </p:cNvSpPr>
          <p:nvPr/>
        </p:nvSpPr>
        <p:spPr bwMode="auto">
          <a:xfrm>
            <a:off x="3533775" y="3527425"/>
            <a:ext cx="346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0.75</a:t>
            </a:r>
            <a:endParaRPr lang="en-US" sz="1400"/>
          </a:p>
        </p:txBody>
      </p:sp>
      <p:sp>
        <p:nvSpPr>
          <p:cNvPr id="39972" name="Rectangle 104"/>
          <p:cNvSpPr>
            <a:spLocks noChangeArrowheads="1"/>
          </p:cNvSpPr>
          <p:nvPr/>
        </p:nvSpPr>
        <p:spPr bwMode="auto">
          <a:xfrm>
            <a:off x="3533775" y="3916363"/>
            <a:ext cx="346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0.50</a:t>
            </a:r>
            <a:endParaRPr lang="en-US" sz="1400"/>
          </a:p>
        </p:txBody>
      </p:sp>
      <p:sp>
        <p:nvSpPr>
          <p:cNvPr id="39973" name="Freeform 115"/>
          <p:cNvSpPr>
            <a:spLocks/>
          </p:cNvSpPr>
          <p:nvPr/>
        </p:nvSpPr>
        <p:spPr bwMode="auto">
          <a:xfrm>
            <a:off x="4706938" y="1682750"/>
            <a:ext cx="2430462" cy="2330450"/>
          </a:xfrm>
          <a:custGeom>
            <a:avLst/>
            <a:gdLst>
              <a:gd name="T0" fmla="*/ 0 w 510"/>
              <a:gd name="T1" fmla="*/ 0 h 594"/>
              <a:gd name="T2" fmla="*/ 2147483647 w 510"/>
              <a:gd name="T3" fmla="*/ 2147483647 h 594"/>
              <a:gd name="T4" fmla="*/ 0 60000 65536"/>
              <a:gd name="T5" fmla="*/ 0 60000 65536"/>
              <a:gd name="T6" fmla="*/ 0 w 510"/>
              <a:gd name="T7" fmla="*/ 0 h 594"/>
              <a:gd name="T8" fmla="*/ 510 w 510"/>
              <a:gd name="T9" fmla="*/ 594 h 594"/>
            </a:gdLst>
            <a:ahLst/>
            <a:cxnLst>
              <a:cxn ang="T4">
                <a:pos x="T0" y="T1"/>
              </a:cxn>
              <a:cxn ang="T5">
                <a:pos x="T2" y="T3"/>
              </a:cxn>
            </a:cxnLst>
            <a:rect l="T6" t="T7" r="T8" b="T9"/>
            <a:pathLst>
              <a:path w="510" h="594">
                <a:moveTo>
                  <a:pt x="0" y="0"/>
                </a:moveTo>
                <a:cubicBezTo>
                  <a:pt x="28" y="160"/>
                  <a:pt x="190" y="493"/>
                  <a:pt x="510" y="594"/>
                </a:cubicBezTo>
              </a:path>
            </a:pathLst>
          </a:custGeom>
          <a:noFill/>
          <a:ln w="28575" cap="flat">
            <a:solidFill>
              <a:srgbClr val="AEC5E7"/>
            </a:solidFill>
            <a:prstDash val="solid"/>
            <a:miter lim="800000"/>
            <a:headEnd/>
            <a:tailEnd/>
          </a:ln>
        </p:spPr>
        <p:txBody>
          <a:bodyPr/>
          <a:lstStyle/>
          <a:p>
            <a:endParaRPr lang="en-US"/>
          </a:p>
        </p:txBody>
      </p:sp>
      <p:sp>
        <p:nvSpPr>
          <p:cNvPr id="39974" name="Oval 117"/>
          <p:cNvSpPr>
            <a:spLocks noChangeArrowheads="1"/>
          </p:cNvSpPr>
          <p:nvPr/>
        </p:nvSpPr>
        <p:spPr bwMode="auto">
          <a:xfrm>
            <a:off x="4649788" y="1635125"/>
            <a:ext cx="115887" cy="95250"/>
          </a:xfrm>
          <a:prstGeom prst="ellipse">
            <a:avLst/>
          </a:prstGeom>
          <a:solidFill>
            <a:srgbClr val="000000"/>
          </a:solidFill>
          <a:ln w="9525">
            <a:noFill/>
            <a:round/>
            <a:headEnd/>
            <a:tailEnd/>
          </a:ln>
        </p:spPr>
        <p:txBody>
          <a:bodyPr/>
          <a:lstStyle/>
          <a:p>
            <a:endParaRPr lang="en-US"/>
          </a:p>
        </p:txBody>
      </p:sp>
      <p:sp>
        <p:nvSpPr>
          <p:cNvPr id="39975" name="Oval 119"/>
          <p:cNvSpPr>
            <a:spLocks noChangeArrowheads="1"/>
          </p:cNvSpPr>
          <p:nvPr/>
        </p:nvSpPr>
        <p:spPr bwMode="auto">
          <a:xfrm>
            <a:off x="4783138" y="2024063"/>
            <a:ext cx="119062" cy="93662"/>
          </a:xfrm>
          <a:prstGeom prst="ellipse">
            <a:avLst/>
          </a:prstGeom>
          <a:solidFill>
            <a:srgbClr val="000000"/>
          </a:solidFill>
          <a:ln w="9525">
            <a:noFill/>
            <a:round/>
            <a:headEnd/>
            <a:tailEnd/>
          </a:ln>
        </p:spPr>
        <p:txBody>
          <a:bodyPr/>
          <a:lstStyle/>
          <a:p>
            <a:endParaRPr lang="en-US"/>
          </a:p>
        </p:txBody>
      </p:sp>
      <p:sp>
        <p:nvSpPr>
          <p:cNvPr id="39976" name="Oval 121"/>
          <p:cNvSpPr>
            <a:spLocks noChangeArrowheads="1"/>
          </p:cNvSpPr>
          <p:nvPr/>
        </p:nvSpPr>
        <p:spPr bwMode="auto">
          <a:xfrm>
            <a:off x="4992688" y="2411413"/>
            <a:ext cx="115887" cy="95250"/>
          </a:xfrm>
          <a:prstGeom prst="ellipse">
            <a:avLst/>
          </a:prstGeom>
          <a:solidFill>
            <a:srgbClr val="000000"/>
          </a:solidFill>
          <a:ln w="9525">
            <a:noFill/>
            <a:round/>
            <a:headEnd/>
            <a:tailEnd/>
          </a:ln>
        </p:spPr>
        <p:txBody>
          <a:bodyPr/>
          <a:lstStyle/>
          <a:p>
            <a:endParaRPr lang="en-US"/>
          </a:p>
        </p:txBody>
      </p:sp>
      <p:sp>
        <p:nvSpPr>
          <p:cNvPr id="39977" name="Oval 123"/>
          <p:cNvSpPr>
            <a:spLocks noChangeArrowheads="1"/>
          </p:cNvSpPr>
          <p:nvPr/>
        </p:nvSpPr>
        <p:spPr bwMode="auto">
          <a:xfrm>
            <a:off x="5265738" y="2800350"/>
            <a:ext cx="112712" cy="95250"/>
          </a:xfrm>
          <a:prstGeom prst="ellipse">
            <a:avLst/>
          </a:prstGeom>
          <a:solidFill>
            <a:srgbClr val="000000"/>
          </a:solidFill>
          <a:ln w="9525">
            <a:noFill/>
            <a:round/>
            <a:headEnd/>
            <a:tailEnd/>
          </a:ln>
        </p:spPr>
        <p:txBody>
          <a:bodyPr/>
          <a:lstStyle/>
          <a:p>
            <a:endParaRPr lang="en-US"/>
          </a:p>
        </p:txBody>
      </p:sp>
      <p:sp>
        <p:nvSpPr>
          <p:cNvPr id="39978" name="Oval 125"/>
          <p:cNvSpPr>
            <a:spLocks noChangeArrowheads="1"/>
          </p:cNvSpPr>
          <p:nvPr/>
        </p:nvSpPr>
        <p:spPr bwMode="auto">
          <a:xfrm>
            <a:off x="5640388" y="3189288"/>
            <a:ext cx="115887" cy="93662"/>
          </a:xfrm>
          <a:prstGeom prst="ellipse">
            <a:avLst/>
          </a:prstGeom>
          <a:solidFill>
            <a:srgbClr val="000000"/>
          </a:solidFill>
          <a:ln w="9525">
            <a:noFill/>
            <a:round/>
            <a:headEnd/>
            <a:tailEnd/>
          </a:ln>
        </p:spPr>
        <p:txBody>
          <a:bodyPr/>
          <a:lstStyle/>
          <a:p>
            <a:endParaRPr lang="en-US"/>
          </a:p>
        </p:txBody>
      </p:sp>
      <p:sp>
        <p:nvSpPr>
          <p:cNvPr id="39979" name="Oval 127"/>
          <p:cNvSpPr>
            <a:spLocks noChangeArrowheads="1"/>
          </p:cNvSpPr>
          <p:nvPr/>
        </p:nvSpPr>
        <p:spPr bwMode="auto">
          <a:xfrm>
            <a:off x="6154738" y="3578225"/>
            <a:ext cx="115887" cy="92075"/>
          </a:xfrm>
          <a:prstGeom prst="ellipse">
            <a:avLst/>
          </a:prstGeom>
          <a:solidFill>
            <a:srgbClr val="000000"/>
          </a:solidFill>
          <a:ln w="9525">
            <a:noFill/>
            <a:round/>
            <a:headEnd/>
            <a:tailEnd/>
          </a:ln>
        </p:spPr>
        <p:txBody>
          <a:bodyPr/>
          <a:lstStyle/>
          <a:p>
            <a:endParaRPr lang="en-US"/>
          </a:p>
        </p:txBody>
      </p:sp>
      <p:sp>
        <p:nvSpPr>
          <p:cNvPr id="39980" name="Oval 129"/>
          <p:cNvSpPr>
            <a:spLocks noChangeArrowheads="1"/>
          </p:cNvSpPr>
          <p:nvPr/>
        </p:nvSpPr>
        <p:spPr bwMode="auto">
          <a:xfrm>
            <a:off x="7081838" y="3965575"/>
            <a:ext cx="112712" cy="93663"/>
          </a:xfrm>
          <a:prstGeom prst="ellipse">
            <a:avLst/>
          </a:prstGeom>
          <a:solidFill>
            <a:srgbClr val="000000"/>
          </a:solidFill>
          <a:ln w="9525">
            <a:noFill/>
            <a:round/>
            <a:headEnd/>
            <a:tailEnd/>
          </a:ln>
        </p:spPr>
        <p:txBody>
          <a:bodyPr/>
          <a:lstStyle/>
          <a:p>
            <a:endParaRPr lang="en-US"/>
          </a:p>
        </p:txBody>
      </p:sp>
      <p:sp>
        <p:nvSpPr>
          <p:cNvPr id="39981" name="Freeform 131"/>
          <p:cNvSpPr>
            <a:spLocks/>
          </p:cNvSpPr>
          <p:nvPr/>
        </p:nvSpPr>
        <p:spPr bwMode="auto">
          <a:xfrm>
            <a:off x="4552950" y="3709988"/>
            <a:ext cx="1387475" cy="554037"/>
          </a:xfrm>
          <a:custGeom>
            <a:avLst/>
            <a:gdLst>
              <a:gd name="T0" fmla="*/ 2147483647 w 261"/>
              <a:gd name="T1" fmla="*/ 2147483647 h 114"/>
              <a:gd name="T2" fmla="*/ 2147483647 w 261"/>
              <a:gd name="T3" fmla="*/ 2147483647 h 114"/>
              <a:gd name="T4" fmla="*/ 2147483647 w 261"/>
              <a:gd name="T5" fmla="*/ 2147483647 h 114"/>
              <a:gd name="T6" fmla="*/ 0 w 261"/>
              <a:gd name="T7" fmla="*/ 2147483647 h 114"/>
              <a:gd name="T8" fmla="*/ 0 w 261"/>
              <a:gd name="T9" fmla="*/ 2147483647 h 114"/>
              <a:gd name="T10" fmla="*/ 2147483647 w 261"/>
              <a:gd name="T11" fmla="*/ 0 h 114"/>
              <a:gd name="T12" fmla="*/ 2147483647 w 261"/>
              <a:gd name="T13" fmla="*/ 0 h 114"/>
              <a:gd name="T14" fmla="*/ 2147483647 w 261"/>
              <a:gd name="T15" fmla="*/ 2147483647 h 114"/>
              <a:gd name="T16" fmla="*/ 2147483647 w 261"/>
              <a:gd name="T17" fmla="*/ 2147483647 h 1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1"/>
              <a:gd name="T28" fmla="*/ 0 h 114"/>
              <a:gd name="T29" fmla="*/ 261 w 261"/>
              <a:gd name="T30" fmla="*/ 114 h 1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1" h="114">
                <a:moveTo>
                  <a:pt x="261" y="89"/>
                </a:moveTo>
                <a:cubicBezTo>
                  <a:pt x="261" y="103"/>
                  <a:pt x="252" y="114"/>
                  <a:pt x="242" y="114"/>
                </a:cubicBezTo>
                <a:cubicBezTo>
                  <a:pt x="19" y="114"/>
                  <a:pt x="19" y="114"/>
                  <a:pt x="19" y="114"/>
                </a:cubicBezTo>
                <a:cubicBezTo>
                  <a:pt x="8" y="114"/>
                  <a:pt x="0" y="103"/>
                  <a:pt x="0" y="89"/>
                </a:cubicBezTo>
                <a:cubicBezTo>
                  <a:pt x="0" y="25"/>
                  <a:pt x="0" y="25"/>
                  <a:pt x="0" y="25"/>
                </a:cubicBezTo>
                <a:cubicBezTo>
                  <a:pt x="0" y="11"/>
                  <a:pt x="8" y="0"/>
                  <a:pt x="19" y="0"/>
                </a:cubicBezTo>
                <a:cubicBezTo>
                  <a:pt x="242" y="0"/>
                  <a:pt x="242" y="0"/>
                  <a:pt x="242" y="0"/>
                </a:cubicBezTo>
                <a:cubicBezTo>
                  <a:pt x="252" y="0"/>
                  <a:pt x="261" y="11"/>
                  <a:pt x="261" y="25"/>
                </a:cubicBezTo>
                <a:lnTo>
                  <a:pt x="261" y="89"/>
                </a:lnTo>
                <a:close/>
              </a:path>
            </a:pathLst>
          </a:custGeom>
          <a:solidFill>
            <a:srgbClr val="D6E2E0"/>
          </a:solidFill>
          <a:ln w="9525">
            <a:noFill/>
            <a:round/>
            <a:headEnd/>
            <a:tailEnd/>
          </a:ln>
        </p:spPr>
        <p:txBody>
          <a:bodyPr/>
          <a:lstStyle/>
          <a:p>
            <a:endParaRPr lang="en-US"/>
          </a:p>
        </p:txBody>
      </p:sp>
      <p:sp>
        <p:nvSpPr>
          <p:cNvPr id="544906" name="Freeform 138"/>
          <p:cNvSpPr>
            <a:spLocks/>
          </p:cNvSpPr>
          <p:nvPr/>
        </p:nvSpPr>
        <p:spPr bwMode="auto">
          <a:xfrm>
            <a:off x="5994400" y="1957388"/>
            <a:ext cx="1468438" cy="574675"/>
          </a:xfrm>
          <a:custGeom>
            <a:avLst/>
            <a:gdLst>
              <a:gd name="T0" fmla="*/ 2147483647 w 263"/>
              <a:gd name="T1" fmla="*/ 2147483647 h 115"/>
              <a:gd name="T2" fmla="*/ 2147483647 w 263"/>
              <a:gd name="T3" fmla="*/ 2147483647 h 115"/>
              <a:gd name="T4" fmla="*/ 2147483647 w 263"/>
              <a:gd name="T5" fmla="*/ 2147483647 h 115"/>
              <a:gd name="T6" fmla="*/ 0 w 263"/>
              <a:gd name="T7" fmla="*/ 2147483647 h 115"/>
              <a:gd name="T8" fmla="*/ 0 w 263"/>
              <a:gd name="T9" fmla="*/ 2147483647 h 115"/>
              <a:gd name="T10" fmla="*/ 2147483647 w 263"/>
              <a:gd name="T11" fmla="*/ 0 h 115"/>
              <a:gd name="T12" fmla="*/ 2147483647 w 263"/>
              <a:gd name="T13" fmla="*/ 0 h 115"/>
              <a:gd name="T14" fmla="*/ 2147483647 w 263"/>
              <a:gd name="T15" fmla="*/ 2147483647 h 115"/>
              <a:gd name="T16" fmla="*/ 2147483647 w 263"/>
              <a:gd name="T17" fmla="*/ 2147483647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3"/>
              <a:gd name="T28" fmla="*/ 0 h 115"/>
              <a:gd name="T29" fmla="*/ 263 w 263"/>
              <a:gd name="T30" fmla="*/ 115 h 1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3" h="115">
                <a:moveTo>
                  <a:pt x="263" y="89"/>
                </a:moveTo>
                <a:cubicBezTo>
                  <a:pt x="263" y="103"/>
                  <a:pt x="254" y="115"/>
                  <a:pt x="244" y="115"/>
                </a:cubicBezTo>
                <a:cubicBezTo>
                  <a:pt x="20" y="115"/>
                  <a:pt x="20" y="115"/>
                  <a:pt x="20" y="115"/>
                </a:cubicBezTo>
                <a:cubicBezTo>
                  <a:pt x="9" y="115"/>
                  <a:pt x="0" y="103"/>
                  <a:pt x="0" y="89"/>
                </a:cubicBezTo>
                <a:cubicBezTo>
                  <a:pt x="0" y="25"/>
                  <a:pt x="0" y="25"/>
                  <a:pt x="0" y="25"/>
                </a:cubicBezTo>
                <a:cubicBezTo>
                  <a:pt x="0" y="11"/>
                  <a:pt x="9" y="0"/>
                  <a:pt x="20" y="0"/>
                </a:cubicBezTo>
                <a:cubicBezTo>
                  <a:pt x="244" y="0"/>
                  <a:pt x="244" y="0"/>
                  <a:pt x="244" y="0"/>
                </a:cubicBezTo>
                <a:cubicBezTo>
                  <a:pt x="254" y="0"/>
                  <a:pt x="263" y="11"/>
                  <a:pt x="263" y="25"/>
                </a:cubicBezTo>
                <a:lnTo>
                  <a:pt x="263" y="89"/>
                </a:lnTo>
                <a:close/>
              </a:path>
            </a:pathLst>
          </a:custGeom>
          <a:solidFill>
            <a:srgbClr val="D6E2E0"/>
          </a:solidFill>
          <a:ln w="9525">
            <a:noFill/>
            <a:round/>
            <a:headEnd/>
            <a:tailEnd/>
          </a:ln>
        </p:spPr>
        <p:txBody>
          <a:bodyPr/>
          <a:lstStyle/>
          <a:p>
            <a:endParaRPr lang="en-US"/>
          </a:p>
        </p:txBody>
      </p:sp>
      <p:sp>
        <p:nvSpPr>
          <p:cNvPr id="39983" name="Rectangle 144"/>
          <p:cNvSpPr>
            <a:spLocks noChangeArrowheads="1"/>
          </p:cNvSpPr>
          <p:nvPr/>
        </p:nvSpPr>
        <p:spPr bwMode="auto">
          <a:xfrm>
            <a:off x="6086475" y="2185988"/>
            <a:ext cx="1588" cy="169862"/>
          </a:xfrm>
          <a:prstGeom prst="rect">
            <a:avLst/>
          </a:prstGeom>
          <a:noFill/>
          <a:ln w="9525">
            <a:noFill/>
            <a:miter lim="800000"/>
            <a:headEnd/>
            <a:tailEnd/>
          </a:ln>
        </p:spPr>
        <p:txBody>
          <a:bodyPr wrap="none" lIns="0" tIns="0" rIns="0" bIns="0">
            <a:spAutoFit/>
          </a:bodyPr>
          <a:lstStyle/>
          <a:p>
            <a:pPr marL="1588" indent="-1588"/>
            <a:endParaRPr lang="en-US" sz="1400"/>
          </a:p>
        </p:txBody>
      </p:sp>
      <p:sp>
        <p:nvSpPr>
          <p:cNvPr id="39984" name="Line 145"/>
          <p:cNvSpPr>
            <a:spLocks noChangeShapeType="1"/>
          </p:cNvSpPr>
          <p:nvPr/>
        </p:nvSpPr>
        <p:spPr bwMode="auto">
          <a:xfrm flipV="1">
            <a:off x="3925888" y="4157663"/>
            <a:ext cx="119062" cy="58737"/>
          </a:xfrm>
          <a:prstGeom prst="line">
            <a:avLst/>
          </a:prstGeom>
          <a:noFill/>
          <a:ln w="6350">
            <a:solidFill>
              <a:srgbClr val="000000"/>
            </a:solidFill>
            <a:miter lim="800000"/>
            <a:headEnd/>
            <a:tailEnd/>
          </a:ln>
        </p:spPr>
        <p:txBody>
          <a:bodyPr/>
          <a:lstStyle/>
          <a:p>
            <a:endParaRPr lang="en-US"/>
          </a:p>
        </p:txBody>
      </p:sp>
      <p:sp>
        <p:nvSpPr>
          <p:cNvPr id="39985" name="Line 146"/>
          <p:cNvSpPr>
            <a:spLocks noChangeShapeType="1"/>
          </p:cNvSpPr>
          <p:nvPr/>
        </p:nvSpPr>
        <p:spPr bwMode="auto">
          <a:xfrm flipV="1">
            <a:off x="3925888" y="4237038"/>
            <a:ext cx="119062" cy="53975"/>
          </a:xfrm>
          <a:prstGeom prst="line">
            <a:avLst/>
          </a:prstGeom>
          <a:noFill/>
          <a:ln w="6350">
            <a:solidFill>
              <a:srgbClr val="000000"/>
            </a:solidFill>
            <a:miter lim="800000"/>
            <a:headEnd/>
            <a:tailEnd/>
          </a:ln>
        </p:spPr>
        <p:txBody>
          <a:bodyPr/>
          <a:lstStyle/>
          <a:p>
            <a:endParaRPr lang="en-US"/>
          </a:p>
        </p:txBody>
      </p:sp>
      <p:sp>
        <p:nvSpPr>
          <p:cNvPr id="39986" name="Line 147"/>
          <p:cNvSpPr>
            <a:spLocks noChangeShapeType="1"/>
          </p:cNvSpPr>
          <p:nvPr/>
        </p:nvSpPr>
        <p:spPr bwMode="auto">
          <a:xfrm flipH="1">
            <a:off x="4121150" y="4354513"/>
            <a:ext cx="71438" cy="98425"/>
          </a:xfrm>
          <a:prstGeom prst="line">
            <a:avLst/>
          </a:prstGeom>
          <a:noFill/>
          <a:ln w="6350">
            <a:solidFill>
              <a:srgbClr val="000000"/>
            </a:solidFill>
            <a:miter lim="800000"/>
            <a:headEnd/>
            <a:tailEnd/>
          </a:ln>
        </p:spPr>
        <p:txBody>
          <a:bodyPr/>
          <a:lstStyle/>
          <a:p>
            <a:endParaRPr lang="en-US"/>
          </a:p>
        </p:txBody>
      </p:sp>
      <p:sp>
        <p:nvSpPr>
          <p:cNvPr id="39987" name="Line 148"/>
          <p:cNvSpPr>
            <a:spLocks noChangeShapeType="1"/>
          </p:cNvSpPr>
          <p:nvPr/>
        </p:nvSpPr>
        <p:spPr bwMode="auto">
          <a:xfrm flipH="1">
            <a:off x="4210050" y="4354513"/>
            <a:ext cx="73025" cy="98425"/>
          </a:xfrm>
          <a:prstGeom prst="line">
            <a:avLst/>
          </a:prstGeom>
          <a:noFill/>
          <a:ln w="6350">
            <a:solidFill>
              <a:srgbClr val="000000"/>
            </a:solidFill>
            <a:miter lim="800000"/>
            <a:headEnd/>
            <a:tailEnd/>
          </a:ln>
        </p:spPr>
        <p:txBody>
          <a:bodyPr/>
          <a:lstStyle/>
          <a:p>
            <a:endParaRPr lang="en-US"/>
          </a:p>
        </p:txBody>
      </p:sp>
      <p:sp>
        <p:nvSpPr>
          <p:cNvPr id="544917" name="Line 149"/>
          <p:cNvSpPr>
            <a:spLocks noChangeShapeType="1"/>
          </p:cNvSpPr>
          <p:nvPr/>
        </p:nvSpPr>
        <p:spPr bwMode="auto">
          <a:xfrm>
            <a:off x="5035550" y="2298700"/>
            <a:ext cx="230188" cy="0"/>
          </a:xfrm>
          <a:prstGeom prst="line">
            <a:avLst/>
          </a:prstGeom>
          <a:noFill/>
          <a:ln w="28575">
            <a:solidFill>
              <a:srgbClr val="000000"/>
            </a:solidFill>
            <a:miter lim="800000"/>
            <a:headEnd/>
            <a:tailEnd/>
          </a:ln>
        </p:spPr>
        <p:txBody>
          <a:bodyPr/>
          <a:lstStyle/>
          <a:p>
            <a:endParaRPr lang="en-US"/>
          </a:p>
        </p:txBody>
      </p:sp>
      <p:sp>
        <p:nvSpPr>
          <p:cNvPr id="544918" name="Freeform 150"/>
          <p:cNvSpPr>
            <a:spLocks/>
          </p:cNvSpPr>
          <p:nvPr/>
        </p:nvSpPr>
        <p:spPr bwMode="auto">
          <a:xfrm>
            <a:off x="5221288" y="2247900"/>
            <a:ext cx="200025" cy="101600"/>
          </a:xfrm>
          <a:custGeom>
            <a:avLst/>
            <a:gdLst>
              <a:gd name="T0" fmla="*/ 2147483647 w 42"/>
              <a:gd name="T1" fmla="*/ 2147483647 h 26"/>
              <a:gd name="T2" fmla="*/ 0 w 42"/>
              <a:gd name="T3" fmla="*/ 0 h 26"/>
              <a:gd name="T4" fmla="*/ 0 w 42"/>
              <a:gd name="T5" fmla="*/ 0 h 26"/>
              <a:gd name="T6" fmla="*/ 2147483647 w 42"/>
              <a:gd name="T7" fmla="*/ 2147483647 h 26"/>
              <a:gd name="T8" fmla="*/ 2147483647 w 42"/>
              <a:gd name="T9" fmla="*/ 2147483647 h 26"/>
              <a:gd name="T10" fmla="*/ 2147483647 w 42"/>
              <a:gd name="T11" fmla="*/ 2147483647 h 26"/>
              <a:gd name="T12" fmla="*/ 0 w 42"/>
              <a:gd name="T13" fmla="*/ 2147483647 h 26"/>
              <a:gd name="T14" fmla="*/ 0 w 42"/>
              <a:gd name="T15" fmla="*/ 2147483647 h 26"/>
              <a:gd name="T16" fmla="*/ 2147483647 w 42"/>
              <a:gd name="T17" fmla="*/ 2147483647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
              <a:gd name="T28" fmla="*/ 0 h 26"/>
              <a:gd name="T29" fmla="*/ 42 w 42"/>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 h="26">
                <a:moveTo>
                  <a:pt x="7" y="13"/>
                </a:moveTo>
                <a:cubicBezTo>
                  <a:pt x="0" y="0"/>
                  <a:pt x="0" y="0"/>
                  <a:pt x="0" y="0"/>
                </a:cubicBezTo>
                <a:cubicBezTo>
                  <a:pt x="0" y="0"/>
                  <a:pt x="0" y="0"/>
                  <a:pt x="0" y="0"/>
                </a:cubicBezTo>
                <a:cubicBezTo>
                  <a:pt x="21" y="8"/>
                  <a:pt x="21" y="8"/>
                  <a:pt x="21" y="8"/>
                </a:cubicBezTo>
                <a:cubicBezTo>
                  <a:pt x="28" y="10"/>
                  <a:pt x="35" y="11"/>
                  <a:pt x="42" y="13"/>
                </a:cubicBezTo>
                <a:cubicBezTo>
                  <a:pt x="35" y="15"/>
                  <a:pt x="28" y="16"/>
                  <a:pt x="21" y="18"/>
                </a:cubicBezTo>
                <a:cubicBezTo>
                  <a:pt x="0" y="26"/>
                  <a:pt x="0" y="26"/>
                  <a:pt x="0" y="26"/>
                </a:cubicBezTo>
                <a:cubicBezTo>
                  <a:pt x="0" y="26"/>
                  <a:pt x="0" y="26"/>
                  <a:pt x="0" y="26"/>
                </a:cubicBezTo>
                <a:lnTo>
                  <a:pt x="7" y="13"/>
                </a:lnTo>
                <a:close/>
              </a:path>
            </a:pathLst>
          </a:custGeom>
          <a:solidFill>
            <a:srgbClr val="000000"/>
          </a:solidFill>
          <a:ln w="9525">
            <a:noFill/>
            <a:round/>
            <a:headEnd/>
            <a:tailEnd/>
          </a:ln>
        </p:spPr>
        <p:txBody>
          <a:bodyPr/>
          <a:lstStyle/>
          <a:p>
            <a:endParaRPr lang="en-US"/>
          </a:p>
        </p:txBody>
      </p:sp>
      <p:sp>
        <p:nvSpPr>
          <p:cNvPr id="39990" name="Rectangle 151"/>
          <p:cNvSpPr>
            <a:spLocks noChangeArrowheads="1"/>
          </p:cNvSpPr>
          <p:nvPr/>
        </p:nvSpPr>
        <p:spPr bwMode="auto">
          <a:xfrm>
            <a:off x="7210425" y="3937000"/>
            <a:ext cx="1301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D</a:t>
            </a:r>
            <a:endParaRPr lang="en-US" sz="1400"/>
          </a:p>
        </p:txBody>
      </p:sp>
      <p:sp>
        <p:nvSpPr>
          <p:cNvPr id="39991" name="Rectangle 152"/>
          <p:cNvSpPr>
            <a:spLocks noChangeArrowheads="1"/>
          </p:cNvSpPr>
          <p:nvPr/>
        </p:nvSpPr>
        <p:spPr bwMode="auto">
          <a:xfrm>
            <a:off x="7364413" y="402907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39992" name="Rectangle 153"/>
          <p:cNvSpPr>
            <a:spLocks noChangeArrowheads="1"/>
          </p:cNvSpPr>
          <p:nvPr/>
        </p:nvSpPr>
        <p:spPr bwMode="auto">
          <a:xfrm>
            <a:off x="8172450" y="3937000"/>
            <a:ext cx="1285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D</a:t>
            </a:r>
            <a:endParaRPr lang="en-US" sz="1400"/>
          </a:p>
        </p:txBody>
      </p:sp>
      <p:grpSp>
        <p:nvGrpSpPr>
          <p:cNvPr id="2" name="Group 160"/>
          <p:cNvGrpSpPr>
            <a:grpSpLocks/>
          </p:cNvGrpSpPr>
          <p:nvPr/>
        </p:nvGrpSpPr>
        <p:grpSpPr bwMode="auto">
          <a:xfrm>
            <a:off x="5126038" y="1635125"/>
            <a:ext cx="3297237" cy="2563813"/>
            <a:chOff x="3229" y="1030"/>
            <a:chExt cx="2077" cy="1615"/>
          </a:xfrm>
        </p:grpSpPr>
        <p:sp>
          <p:nvSpPr>
            <p:cNvPr id="39997" name="Freeform 116"/>
            <p:cNvSpPr>
              <a:spLocks/>
            </p:cNvSpPr>
            <p:nvPr/>
          </p:nvSpPr>
          <p:spPr bwMode="auto">
            <a:xfrm>
              <a:off x="3265" y="1060"/>
              <a:ext cx="1835" cy="1468"/>
            </a:xfrm>
            <a:custGeom>
              <a:avLst/>
              <a:gdLst>
                <a:gd name="T0" fmla="*/ 0 w 611"/>
                <a:gd name="T1" fmla="*/ 0 h 594"/>
                <a:gd name="T2" fmla="*/ 149284 w 611"/>
                <a:gd name="T3" fmla="*/ 54761 h 594"/>
                <a:gd name="T4" fmla="*/ 0 60000 65536"/>
                <a:gd name="T5" fmla="*/ 0 60000 65536"/>
                <a:gd name="T6" fmla="*/ 0 w 611"/>
                <a:gd name="T7" fmla="*/ 0 h 594"/>
                <a:gd name="T8" fmla="*/ 611 w 611"/>
                <a:gd name="T9" fmla="*/ 594 h 594"/>
              </a:gdLst>
              <a:ahLst/>
              <a:cxnLst>
                <a:cxn ang="T4">
                  <a:pos x="T0" y="T1"/>
                </a:cxn>
                <a:cxn ang="T5">
                  <a:pos x="T2" y="T3"/>
                </a:cxn>
              </a:cxnLst>
              <a:rect l="T6" t="T7" r="T8" b="T9"/>
              <a:pathLst>
                <a:path w="611" h="594">
                  <a:moveTo>
                    <a:pt x="0" y="0"/>
                  </a:moveTo>
                  <a:cubicBezTo>
                    <a:pt x="52" y="197"/>
                    <a:pt x="248" y="497"/>
                    <a:pt x="611" y="594"/>
                  </a:cubicBezTo>
                </a:path>
              </a:pathLst>
            </a:custGeom>
            <a:noFill/>
            <a:ln w="28575" cap="flat">
              <a:solidFill>
                <a:srgbClr val="3C5DAA"/>
              </a:solidFill>
              <a:prstDash val="solid"/>
              <a:miter lim="800000"/>
              <a:headEnd/>
              <a:tailEnd/>
            </a:ln>
          </p:spPr>
          <p:txBody>
            <a:bodyPr/>
            <a:lstStyle/>
            <a:p>
              <a:endParaRPr lang="en-US"/>
            </a:p>
          </p:txBody>
        </p:sp>
        <p:sp>
          <p:nvSpPr>
            <p:cNvPr id="39998" name="Oval 118"/>
            <p:cNvSpPr>
              <a:spLocks noChangeArrowheads="1"/>
            </p:cNvSpPr>
            <p:nvPr/>
          </p:nvSpPr>
          <p:spPr bwMode="auto">
            <a:xfrm>
              <a:off x="3229" y="1030"/>
              <a:ext cx="73" cy="60"/>
            </a:xfrm>
            <a:prstGeom prst="ellipse">
              <a:avLst/>
            </a:prstGeom>
            <a:solidFill>
              <a:srgbClr val="000000"/>
            </a:solidFill>
            <a:ln w="9525">
              <a:noFill/>
              <a:round/>
              <a:headEnd/>
              <a:tailEnd/>
            </a:ln>
          </p:spPr>
          <p:txBody>
            <a:bodyPr/>
            <a:lstStyle/>
            <a:p>
              <a:endParaRPr lang="en-US"/>
            </a:p>
          </p:txBody>
        </p:sp>
        <p:sp>
          <p:nvSpPr>
            <p:cNvPr id="39999" name="Oval 120"/>
            <p:cNvSpPr>
              <a:spLocks noChangeArrowheads="1"/>
            </p:cNvSpPr>
            <p:nvPr/>
          </p:nvSpPr>
          <p:spPr bwMode="auto">
            <a:xfrm>
              <a:off x="3337" y="1275"/>
              <a:ext cx="73" cy="59"/>
            </a:xfrm>
            <a:prstGeom prst="ellipse">
              <a:avLst/>
            </a:prstGeom>
            <a:solidFill>
              <a:srgbClr val="000000"/>
            </a:solidFill>
            <a:ln w="9525">
              <a:noFill/>
              <a:round/>
              <a:headEnd/>
              <a:tailEnd/>
            </a:ln>
          </p:spPr>
          <p:txBody>
            <a:bodyPr/>
            <a:lstStyle/>
            <a:p>
              <a:endParaRPr lang="en-US"/>
            </a:p>
          </p:txBody>
        </p:sp>
        <p:sp>
          <p:nvSpPr>
            <p:cNvPr id="40000" name="Oval 122"/>
            <p:cNvSpPr>
              <a:spLocks noChangeArrowheads="1"/>
            </p:cNvSpPr>
            <p:nvPr/>
          </p:nvSpPr>
          <p:spPr bwMode="auto">
            <a:xfrm>
              <a:off x="3487" y="1519"/>
              <a:ext cx="75" cy="60"/>
            </a:xfrm>
            <a:prstGeom prst="ellipse">
              <a:avLst/>
            </a:prstGeom>
            <a:solidFill>
              <a:srgbClr val="000000"/>
            </a:solidFill>
            <a:ln w="9525">
              <a:noFill/>
              <a:round/>
              <a:headEnd/>
              <a:tailEnd/>
            </a:ln>
          </p:spPr>
          <p:txBody>
            <a:bodyPr/>
            <a:lstStyle/>
            <a:p>
              <a:endParaRPr lang="en-US"/>
            </a:p>
          </p:txBody>
        </p:sp>
        <p:sp>
          <p:nvSpPr>
            <p:cNvPr id="40001" name="Oval 124"/>
            <p:cNvSpPr>
              <a:spLocks noChangeArrowheads="1"/>
            </p:cNvSpPr>
            <p:nvPr/>
          </p:nvSpPr>
          <p:spPr bwMode="auto">
            <a:xfrm>
              <a:off x="3703" y="1764"/>
              <a:ext cx="73" cy="60"/>
            </a:xfrm>
            <a:prstGeom prst="ellipse">
              <a:avLst/>
            </a:prstGeom>
            <a:solidFill>
              <a:srgbClr val="000000"/>
            </a:solidFill>
            <a:ln w="9525">
              <a:noFill/>
              <a:round/>
              <a:headEnd/>
              <a:tailEnd/>
            </a:ln>
          </p:spPr>
          <p:txBody>
            <a:bodyPr/>
            <a:lstStyle/>
            <a:p>
              <a:endParaRPr lang="en-US"/>
            </a:p>
          </p:txBody>
        </p:sp>
        <p:sp>
          <p:nvSpPr>
            <p:cNvPr id="40002" name="Oval 126"/>
            <p:cNvSpPr>
              <a:spLocks noChangeArrowheads="1"/>
            </p:cNvSpPr>
            <p:nvPr/>
          </p:nvSpPr>
          <p:spPr bwMode="auto">
            <a:xfrm>
              <a:off x="3985" y="2009"/>
              <a:ext cx="73" cy="59"/>
            </a:xfrm>
            <a:prstGeom prst="ellipse">
              <a:avLst/>
            </a:prstGeom>
            <a:solidFill>
              <a:srgbClr val="000000"/>
            </a:solidFill>
            <a:ln w="9525">
              <a:noFill/>
              <a:round/>
              <a:headEnd/>
              <a:tailEnd/>
            </a:ln>
          </p:spPr>
          <p:txBody>
            <a:bodyPr/>
            <a:lstStyle/>
            <a:p>
              <a:endParaRPr lang="en-US"/>
            </a:p>
          </p:txBody>
        </p:sp>
        <p:sp>
          <p:nvSpPr>
            <p:cNvPr id="40003" name="Oval 128"/>
            <p:cNvSpPr>
              <a:spLocks noChangeArrowheads="1"/>
            </p:cNvSpPr>
            <p:nvPr/>
          </p:nvSpPr>
          <p:spPr bwMode="auto">
            <a:xfrm>
              <a:off x="4373" y="2254"/>
              <a:ext cx="73" cy="58"/>
            </a:xfrm>
            <a:prstGeom prst="ellipse">
              <a:avLst/>
            </a:prstGeom>
            <a:solidFill>
              <a:srgbClr val="000000"/>
            </a:solidFill>
            <a:ln w="9525">
              <a:noFill/>
              <a:round/>
              <a:headEnd/>
              <a:tailEnd/>
            </a:ln>
          </p:spPr>
          <p:txBody>
            <a:bodyPr/>
            <a:lstStyle/>
            <a:p>
              <a:endParaRPr lang="en-US"/>
            </a:p>
          </p:txBody>
        </p:sp>
        <p:sp>
          <p:nvSpPr>
            <p:cNvPr id="40004" name="Oval 130"/>
            <p:cNvSpPr>
              <a:spLocks noChangeArrowheads="1"/>
            </p:cNvSpPr>
            <p:nvPr/>
          </p:nvSpPr>
          <p:spPr bwMode="auto">
            <a:xfrm>
              <a:off x="5063" y="2498"/>
              <a:ext cx="73" cy="59"/>
            </a:xfrm>
            <a:prstGeom prst="ellipse">
              <a:avLst/>
            </a:prstGeom>
            <a:solidFill>
              <a:srgbClr val="000000"/>
            </a:solidFill>
            <a:ln w="9525">
              <a:noFill/>
              <a:round/>
              <a:headEnd/>
              <a:tailEnd/>
            </a:ln>
          </p:spPr>
          <p:txBody>
            <a:bodyPr/>
            <a:lstStyle/>
            <a:p>
              <a:endParaRPr lang="en-US"/>
            </a:p>
          </p:txBody>
        </p:sp>
        <p:sp>
          <p:nvSpPr>
            <p:cNvPr id="40005" name="Rectangle 154"/>
            <p:cNvSpPr>
              <a:spLocks noChangeArrowheads="1"/>
            </p:cNvSpPr>
            <p:nvPr/>
          </p:nvSpPr>
          <p:spPr bwMode="auto">
            <a:xfrm>
              <a:off x="5244" y="2538"/>
              <a:ext cx="62" cy="107"/>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grpSp>
      <p:sp>
        <p:nvSpPr>
          <p:cNvPr id="544924" name="Rectangle 156"/>
          <p:cNvSpPr>
            <a:spLocks noChangeArrowheads="1"/>
          </p:cNvSpPr>
          <p:nvPr/>
        </p:nvSpPr>
        <p:spPr bwMode="auto">
          <a:xfrm>
            <a:off x="6132513" y="2027238"/>
            <a:ext cx="1260475" cy="430212"/>
          </a:xfrm>
          <a:prstGeom prst="rect">
            <a:avLst/>
          </a:prstGeom>
          <a:noFill/>
          <a:ln w="9525">
            <a:noFill/>
            <a:miter lim="800000"/>
            <a:headEnd/>
            <a:tailEnd/>
          </a:ln>
        </p:spPr>
        <p:txBody>
          <a:bodyPr lIns="0" tIns="0" rIns="0" bIns="0">
            <a:spAutoFit/>
          </a:bodyPr>
          <a:lstStyle/>
          <a:p>
            <a:pPr marL="1588" indent="-1588" algn="ctr"/>
            <a:r>
              <a:rPr lang="en-US" sz="1400" i="1">
                <a:solidFill>
                  <a:srgbClr val="000000"/>
                </a:solidFill>
                <a:latin typeface="Myriad Roman"/>
              </a:rPr>
              <a:t>Demand curve in 2010</a:t>
            </a:r>
            <a:endParaRPr lang="en-US" sz="1400" i="1"/>
          </a:p>
        </p:txBody>
      </p:sp>
      <p:sp>
        <p:nvSpPr>
          <p:cNvPr id="39995" name="Rectangle 157"/>
          <p:cNvSpPr>
            <a:spLocks noChangeArrowheads="1"/>
          </p:cNvSpPr>
          <p:nvPr/>
        </p:nvSpPr>
        <p:spPr bwMode="auto">
          <a:xfrm>
            <a:off x="4583113" y="3779838"/>
            <a:ext cx="1339850" cy="430212"/>
          </a:xfrm>
          <a:prstGeom prst="rect">
            <a:avLst/>
          </a:prstGeom>
          <a:noFill/>
          <a:ln w="9525">
            <a:noFill/>
            <a:miter lim="800000"/>
            <a:headEnd/>
            <a:tailEnd/>
          </a:ln>
        </p:spPr>
        <p:txBody>
          <a:bodyPr lIns="0" tIns="0" rIns="0" bIns="0">
            <a:spAutoFit/>
          </a:bodyPr>
          <a:lstStyle/>
          <a:p>
            <a:pPr marL="1588" indent="-1588" algn="ctr"/>
            <a:r>
              <a:rPr lang="en-US" sz="1400" i="1">
                <a:solidFill>
                  <a:srgbClr val="000000"/>
                </a:solidFill>
                <a:latin typeface="Myriad Roman"/>
              </a:rPr>
              <a:t>Demand curve in 2007</a:t>
            </a:r>
            <a:endParaRPr lang="en-US" sz="1400" i="1"/>
          </a:p>
        </p:txBody>
      </p:sp>
      <p:sp>
        <p:nvSpPr>
          <p:cNvPr id="39996" name="Rectangle 158"/>
          <p:cNvSpPr>
            <a:spLocks noChangeArrowheads="1"/>
          </p:cNvSpPr>
          <p:nvPr/>
        </p:nvSpPr>
        <p:spPr bwMode="auto">
          <a:xfrm>
            <a:off x="6423025" y="4737100"/>
            <a:ext cx="2111375" cy="430213"/>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Roman"/>
              </a:rPr>
              <a:t>Quantity of cotton (billions of pounds)</a:t>
            </a:r>
            <a:endParaRPr lang="en-US" sz="14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4778"/>
                                        </p:tgtEl>
                                        <p:attrNameLst>
                                          <p:attrName>style.visibility</p:attrName>
                                        </p:attrNameLst>
                                      </p:cBhvr>
                                      <p:to>
                                        <p:strVal val="visible"/>
                                      </p:to>
                                    </p:set>
                                    <p:animEffect transition="in" filter="dissolve">
                                      <p:cBhvr>
                                        <p:cTn id="7" dur="500"/>
                                        <p:tgtEl>
                                          <p:spTgt spid="5447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4918"/>
                                        </p:tgtEl>
                                        <p:attrNameLst>
                                          <p:attrName>style.visibility</p:attrName>
                                        </p:attrNameLst>
                                      </p:cBhvr>
                                      <p:to>
                                        <p:strVal val="visible"/>
                                      </p:to>
                                    </p:set>
                                    <p:animEffect transition="in" filter="wipe(left)">
                                      <p:cBhvr>
                                        <p:cTn id="12" dur="500"/>
                                        <p:tgtEl>
                                          <p:spTgt spid="54491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44917"/>
                                        </p:tgtEl>
                                        <p:attrNameLst>
                                          <p:attrName>style.visibility</p:attrName>
                                        </p:attrNameLst>
                                      </p:cBhvr>
                                      <p:to>
                                        <p:strVal val="visible"/>
                                      </p:to>
                                    </p:set>
                                    <p:animEffect transition="in" filter="wipe(left)">
                                      <p:cBhvr>
                                        <p:cTn id="16" dur="500"/>
                                        <p:tgtEl>
                                          <p:spTgt spid="544917"/>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par>
                          <p:cTn id="21" fill="hold">
                            <p:stCondLst>
                              <p:cond delay="1500"/>
                            </p:stCondLst>
                            <p:childTnLst>
                              <p:par>
                                <p:cTn id="22" presetID="1" presetClass="entr" presetSubtype="0" fill="hold" grpId="0" nodeType="afterEffect">
                                  <p:stCondLst>
                                    <p:cond delay="0"/>
                                  </p:stCondLst>
                                  <p:childTnLst>
                                    <p:set>
                                      <p:cBhvr>
                                        <p:cTn id="23" dur="1" fill="hold">
                                          <p:stCondLst>
                                            <p:cond delay="0"/>
                                          </p:stCondLst>
                                        </p:cTn>
                                        <p:tgtEl>
                                          <p:spTgt spid="544906"/>
                                        </p:tgtEl>
                                        <p:attrNameLst>
                                          <p:attrName>style.visibility</p:attrName>
                                        </p:attrNameLst>
                                      </p:cBhvr>
                                      <p:to>
                                        <p:strVal val="visible"/>
                                      </p:to>
                                    </p:set>
                                  </p:childTnLst>
                                </p:cTn>
                              </p:par>
                            </p:childTnLst>
                          </p:cTn>
                        </p:par>
                        <p:par>
                          <p:cTn id="24" fill="hold">
                            <p:stCondLst>
                              <p:cond delay="1500"/>
                            </p:stCondLst>
                            <p:childTnLst>
                              <p:par>
                                <p:cTn id="25" presetID="1" presetClass="entr" presetSubtype="0" fill="hold" grpId="0" nodeType="afterEffect">
                                  <p:stCondLst>
                                    <p:cond delay="0"/>
                                  </p:stCondLst>
                                  <p:childTnLst>
                                    <p:set>
                                      <p:cBhvr>
                                        <p:cTn id="26" dur="1" fill="hold">
                                          <p:stCondLst>
                                            <p:cond delay="0"/>
                                          </p:stCondLst>
                                        </p:cTn>
                                        <p:tgtEl>
                                          <p:spTgt spid="544924"/>
                                        </p:tgtEl>
                                        <p:attrNameLst>
                                          <p:attrName>style.visibility</p:attrName>
                                        </p:attrNameLst>
                                      </p:cBhvr>
                                      <p:to>
                                        <p:strVal val="visible"/>
                                      </p:to>
                                    </p:set>
                                  </p:childTnLst>
                                </p:cTn>
                              </p:par>
                            </p:childTnLst>
                          </p:cTn>
                        </p:par>
                        <p:par>
                          <p:cTn id="27" fill="hold">
                            <p:stCondLst>
                              <p:cond delay="2000"/>
                            </p:stCondLst>
                            <p:childTnLst>
                              <p:par>
                                <p:cTn id="28" presetID="1" presetClass="entr" presetSubtype="0" fill="hold" grpId="0" nodeType="afterEffect">
                                  <p:stCondLst>
                                    <p:cond delay="0"/>
                                  </p:stCondLst>
                                  <p:childTnLst>
                                    <p:set>
                                      <p:cBhvr>
                                        <p:cTn id="29" dur="1" fill="hold">
                                          <p:stCondLst>
                                            <p:cond delay="0"/>
                                          </p:stCondLst>
                                        </p:cTn>
                                        <p:tgtEl>
                                          <p:spTgt spid="54486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44771">
                                            <p:bg/>
                                          </p:spTgt>
                                        </p:tgtEl>
                                        <p:attrNameLst>
                                          <p:attrName>style.visibility</p:attrName>
                                        </p:attrNameLst>
                                      </p:cBhvr>
                                      <p:to>
                                        <p:strVal val="visible"/>
                                      </p:to>
                                    </p:set>
                                    <p:animEffect transition="in" filter="wipe(left)">
                                      <p:cBhvr>
                                        <p:cTn id="34" dur="500"/>
                                        <p:tgtEl>
                                          <p:spTgt spid="544771">
                                            <p:bg/>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544771">
                                            <p:txEl>
                                              <p:pRg st="0" end="0"/>
                                            </p:txEl>
                                          </p:spTgt>
                                        </p:tgtEl>
                                        <p:attrNameLst>
                                          <p:attrName>style.visibility</p:attrName>
                                        </p:attrNameLst>
                                      </p:cBhvr>
                                      <p:to>
                                        <p:strVal val="visible"/>
                                      </p:to>
                                    </p:set>
                                    <p:animEffect transition="in" filter="wipe(left)">
                                      <p:cBhvr>
                                        <p:cTn id="37" dur="500"/>
                                        <p:tgtEl>
                                          <p:spTgt spid="5447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71" grpId="0" build="p" animBg="1"/>
      <p:bldP spid="544778" grpId="0" animBg="1"/>
      <p:bldP spid="544862" grpId="0" animBg="1"/>
      <p:bldP spid="544906" grpId="0" animBg="1"/>
      <p:bldP spid="544917" grpId="0" animBg="1"/>
      <p:bldP spid="544918" grpId="0" animBg="1"/>
      <p:bldP spid="544924"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8866" name="Rectangle 2"/>
          <p:cNvSpPr>
            <a:spLocks noGrp="1" noRot="1" noChangeArrowheads="1"/>
          </p:cNvSpPr>
          <p:nvPr>
            <p:ph type="title"/>
          </p:nvPr>
        </p:nvSpPr>
        <p:spPr>
          <a:xfrm>
            <a:off x="971550" y="60325"/>
            <a:ext cx="7921625" cy="555625"/>
          </a:xfrm>
        </p:spPr>
        <p:txBody>
          <a:bodyPr/>
          <a:lstStyle/>
          <a:p>
            <a:pPr>
              <a:defRPr/>
            </a:pPr>
            <a:r>
              <a:rPr lang="en-US" dirty="0"/>
              <a:t>Movement Along the Demand Curve</a:t>
            </a:r>
          </a:p>
        </p:txBody>
      </p:sp>
      <p:sp>
        <p:nvSpPr>
          <p:cNvPr id="41986" name="Line 172"/>
          <p:cNvSpPr>
            <a:spLocks noChangeShapeType="1"/>
          </p:cNvSpPr>
          <p:nvPr/>
        </p:nvSpPr>
        <p:spPr bwMode="auto">
          <a:xfrm flipV="1">
            <a:off x="2481263" y="1425575"/>
            <a:ext cx="0" cy="4138613"/>
          </a:xfrm>
          <a:prstGeom prst="line">
            <a:avLst/>
          </a:prstGeom>
          <a:noFill/>
          <a:ln w="7938">
            <a:solidFill>
              <a:srgbClr val="000000"/>
            </a:solidFill>
            <a:miter lim="800000"/>
            <a:headEnd/>
            <a:tailEnd/>
          </a:ln>
        </p:spPr>
        <p:txBody>
          <a:bodyPr/>
          <a:lstStyle/>
          <a:p>
            <a:endParaRPr lang="en-US"/>
          </a:p>
        </p:txBody>
      </p:sp>
      <p:sp>
        <p:nvSpPr>
          <p:cNvPr id="41987" name="Freeform 173"/>
          <p:cNvSpPr>
            <a:spLocks/>
          </p:cNvSpPr>
          <p:nvPr/>
        </p:nvSpPr>
        <p:spPr bwMode="auto">
          <a:xfrm>
            <a:off x="2481263" y="5654675"/>
            <a:ext cx="168275" cy="168275"/>
          </a:xfrm>
          <a:custGeom>
            <a:avLst/>
            <a:gdLst>
              <a:gd name="T0" fmla="*/ 2147483647 w 102"/>
              <a:gd name="T1" fmla="*/ 2147483647 h 101"/>
              <a:gd name="T2" fmla="*/ 0 w 102"/>
              <a:gd name="T3" fmla="*/ 2147483647 h 101"/>
              <a:gd name="T4" fmla="*/ 0 w 102"/>
              <a:gd name="T5" fmla="*/ 0 h 101"/>
              <a:gd name="T6" fmla="*/ 0 60000 65536"/>
              <a:gd name="T7" fmla="*/ 0 60000 65536"/>
              <a:gd name="T8" fmla="*/ 0 60000 65536"/>
              <a:gd name="T9" fmla="*/ 0 w 102"/>
              <a:gd name="T10" fmla="*/ 0 h 101"/>
              <a:gd name="T11" fmla="*/ 102 w 102"/>
              <a:gd name="T12" fmla="*/ 101 h 101"/>
            </a:gdLst>
            <a:ahLst/>
            <a:cxnLst>
              <a:cxn ang="T6">
                <a:pos x="T0" y="T1"/>
              </a:cxn>
              <a:cxn ang="T7">
                <a:pos x="T2" y="T3"/>
              </a:cxn>
              <a:cxn ang="T8">
                <a:pos x="T4" y="T5"/>
              </a:cxn>
            </a:cxnLst>
            <a:rect l="T9" t="T10" r="T11" b="T12"/>
            <a:pathLst>
              <a:path w="102" h="101">
                <a:moveTo>
                  <a:pt x="102" y="101"/>
                </a:moveTo>
                <a:lnTo>
                  <a:pt x="0" y="101"/>
                </a:lnTo>
                <a:lnTo>
                  <a:pt x="0" y="0"/>
                </a:lnTo>
              </a:path>
            </a:pathLst>
          </a:custGeom>
          <a:noFill/>
          <a:ln w="7938" cap="flat">
            <a:solidFill>
              <a:srgbClr val="000000"/>
            </a:solidFill>
            <a:prstDash val="solid"/>
            <a:miter lim="800000"/>
            <a:headEnd/>
            <a:tailEnd/>
          </a:ln>
        </p:spPr>
        <p:txBody>
          <a:bodyPr/>
          <a:lstStyle/>
          <a:p>
            <a:endParaRPr lang="en-US"/>
          </a:p>
        </p:txBody>
      </p:sp>
      <p:sp>
        <p:nvSpPr>
          <p:cNvPr id="41988" name="Line 174"/>
          <p:cNvSpPr>
            <a:spLocks noChangeShapeType="1"/>
          </p:cNvSpPr>
          <p:nvPr/>
        </p:nvSpPr>
        <p:spPr bwMode="auto">
          <a:xfrm flipH="1">
            <a:off x="2738438" y="5822950"/>
            <a:ext cx="4751387" cy="0"/>
          </a:xfrm>
          <a:prstGeom prst="line">
            <a:avLst/>
          </a:prstGeom>
          <a:noFill/>
          <a:ln w="7938">
            <a:solidFill>
              <a:srgbClr val="000000"/>
            </a:solidFill>
            <a:miter lim="800000"/>
            <a:headEnd/>
            <a:tailEnd/>
          </a:ln>
        </p:spPr>
        <p:txBody>
          <a:bodyPr/>
          <a:lstStyle/>
          <a:p>
            <a:endParaRPr lang="en-US"/>
          </a:p>
        </p:txBody>
      </p:sp>
      <p:sp>
        <p:nvSpPr>
          <p:cNvPr id="41989" name="Rectangle 175"/>
          <p:cNvSpPr>
            <a:spLocks noChangeArrowheads="1"/>
          </p:cNvSpPr>
          <p:nvPr/>
        </p:nvSpPr>
        <p:spPr bwMode="auto">
          <a:xfrm>
            <a:off x="3189288" y="586422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7</a:t>
            </a:r>
            <a:endParaRPr lang="en-US" sz="1400"/>
          </a:p>
        </p:txBody>
      </p:sp>
      <p:sp>
        <p:nvSpPr>
          <p:cNvPr id="41990" name="Rectangle 176"/>
          <p:cNvSpPr>
            <a:spLocks noChangeArrowheads="1"/>
          </p:cNvSpPr>
          <p:nvPr/>
        </p:nvSpPr>
        <p:spPr bwMode="auto">
          <a:xfrm>
            <a:off x="3535363" y="5864225"/>
            <a:ext cx="2460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8.1</a:t>
            </a:r>
            <a:endParaRPr lang="en-US" sz="1400"/>
          </a:p>
        </p:txBody>
      </p:sp>
      <p:sp>
        <p:nvSpPr>
          <p:cNvPr id="41991" name="Rectangle 177"/>
          <p:cNvSpPr>
            <a:spLocks noChangeArrowheads="1"/>
          </p:cNvSpPr>
          <p:nvPr/>
        </p:nvSpPr>
        <p:spPr bwMode="auto">
          <a:xfrm>
            <a:off x="4049713" y="5864225"/>
            <a:ext cx="2460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9.7</a:t>
            </a:r>
            <a:endParaRPr lang="en-US" sz="1400"/>
          </a:p>
        </p:txBody>
      </p:sp>
      <p:sp>
        <p:nvSpPr>
          <p:cNvPr id="41992" name="Rectangle 178"/>
          <p:cNvSpPr>
            <a:spLocks noChangeArrowheads="1"/>
          </p:cNvSpPr>
          <p:nvPr/>
        </p:nvSpPr>
        <p:spPr bwMode="auto">
          <a:xfrm>
            <a:off x="2287588" y="586422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p>
        </p:txBody>
      </p:sp>
      <p:sp>
        <p:nvSpPr>
          <p:cNvPr id="41993" name="Rectangle 179"/>
          <p:cNvSpPr>
            <a:spLocks noChangeArrowheads="1"/>
          </p:cNvSpPr>
          <p:nvPr/>
        </p:nvSpPr>
        <p:spPr bwMode="auto">
          <a:xfrm>
            <a:off x="4527550" y="5868988"/>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a:t>
            </a:r>
            <a:endParaRPr lang="en-US" sz="1400"/>
          </a:p>
        </p:txBody>
      </p:sp>
      <p:sp>
        <p:nvSpPr>
          <p:cNvPr id="41994" name="Rectangle 180"/>
          <p:cNvSpPr>
            <a:spLocks noChangeArrowheads="1"/>
          </p:cNvSpPr>
          <p:nvPr/>
        </p:nvSpPr>
        <p:spPr bwMode="auto">
          <a:xfrm>
            <a:off x="6180138" y="5864225"/>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a:t>
            </a:r>
            <a:endParaRPr lang="en-US" sz="1400"/>
          </a:p>
        </p:txBody>
      </p:sp>
      <p:sp>
        <p:nvSpPr>
          <p:cNvPr id="41995" name="Rectangle 181"/>
          <p:cNvSpPr>
            <a:spLocks noChangeArrowheads="1"/>
          </p:cNvSpPr>
          <p:nvPr/>
        </p:nvSpPr>
        <p:spPr bwMode="auto">
          <a:xfrm>
            <a:off x="5418138" y="5864225"/>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13</a:t>
            </a:r>
            <a:endParaRPr lang="en-US" sz="1400"/>
          </a:p>
        </p:txBody>
      </p:sp>
      <p:sp>
        <p:nvSpPr>
          <p:cNvPr id="41996" name="Rectangle 182"/>
          <p:cNvSpPr>
            <a:spLocks noChangeArrowheads="1"/>
          </p:cNvSpPr>
          <p:nvPr/>
        </p:nvSpPr>
        <p:spPr bwMode="auto">
          <a:xfrm>
            <a:off x="6940550" y="5864225"/>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a:t>
            </a:r>
            <a:endParaRPr lang="en-US" sz="1400"/>
          </a:p>
        </p:txBody>
      </p:sp>
      <p:sp>
        <p:nvSpPr>
          <p:cNvPr id="41997" name="Line 193"/>
          <p:cNvSpPr>
            <a:spLocks noChangeShapeType="1"/>
          </p:cNvSpPr>
          <p:nvPr/>
        </p:nvSpPr>
        <p:spPr bwMode="auto">
          <a:xfrm>
            <a:off x="2481263" y="2562225"/>
            <a:ext cx="136525" cy="0"/>
          </a:xfrm>
          <a:prstGeom prst="line">
            <a:avLst/>
          </a:prstGeom>
          <a:noFill/>
          <a:ln w="7938">
            <a:solidFill>
              <a:srgbClr val="000000"/>
            </a:solidFill>
            <a:miter lim="800000"/>
            <a:headEnd/>
            <a:tailEnd/>
          </a:ln>
        </p:spPr>
        <p:txBody>
          <a:bodyPr/>
          <a:lstStyle/>
          <a:p>
            <a:endParaRPr lang="en-US"/>
          </a:p>
        </p:txBody>
      </p:sp>
      <p:sp>
        <p:nvSpPr>
          <p:cNvPr id="41998" name="Line 194"/>
          <p:cNvSpPr>
            <a:spLocks noChangeShapeType="1"/>
          </p:cNvSpPr>
          <p:nvPr/>
        </p:nvSpPr>
        <p:spPr bwMode="auto">
          <a:xfrm>
            <a:off x="2481263" y="3025775"/>
            <a:ext cx="136525" cy="0"/>
          </a:xfrm>
          <a:prstGeom prst="line">
            <a:avLst/>
          </a:prstGeom>
          <a:noFill/>
          <a:ln w="7938">
            <a:solidFill>
              <a:srgbClr val="000000"/>
            </a:solidFill>
            <a:miter lim="800000"/>
            <a:headEnd/>
            <a:tailEnd/>
          </a:ln>
        </p:spPr>
        <p:txBody>
          <a:bodyPr/>
          <a:lstStyle/>
          <a:p>
            <a:endParaRPr lang="en-US"/>
          </a:p>
        </p:txBody>
      </p:sp>
      <p:sp>
        <p:nvSpPr>
          <p:cNvPr id="41999" name="Line 195"/>
          <p:cNvSpPr>
            <a:spLocks noChangeShapeType="1"/>
          </p:cNvSpPr>
          <p:nvPr/>
        </p:nvSpPr>
        <p:spPr bwMode="auto">
          <a:xfrm>
            <a:off x="2481263" y="3960813"/>
            <a:ext cx="136525" cy="0"/>
          </a:xfrm>
          <a:prstGeom prst="line">
            <a:avLst/>
          </a:prstGeom>
          <a:noFill/>
          <a:ln w="7938">
            <a:solidFill>
              <a:srgbClr val="000000"/>
            </a:solidFill>
            <a:miter lim="800000"/>
            <a:headEnd/>
            <a:tailEnd/>
          </a:ln>
        </p:spPr>
        <p:txBody>
          <a:bodyPr/>
          <a:lstStyle/>
          <a:p>
            <a:endParaRPr lang="en-US"/>
          </a:p>
        </p:txBody>
      </p:sp>
      <p:sp>
        <p:nvSpPr>
          <p:cNvPr id="42000" name="Line 196"/>
          <p:cNvSpPr>
            <a:spLocks noChangeShapeType="1"/>
          </p:cNvSpPr>
          <p:nvPr/>
        </p:nvSpPr>
        <p:spPr bwMode="auto">
          <a:xfrm>
            <a:off x="2481263" y="3495675"/>
            <a:ext cx="136525" cy="0"/>
          </a:xfrm>
          <a:prstGeom prst="line">
            <a:avLst/>
          </a:prstGeom>
          <a:noFill/>
          <a:ln w="7938">
            <a:solidFill>
              <a:srgbClr val="000000"/>
            </a:solidFill>
            <a:miter lim="800000"/>
            <a:headEnd/>
            <a:tailEnd/>
          </a:ln>
        </p:spPr>
        <p:txBody>
          <a:bodyPr/>
          <a:lstStyle/>
          <a:p>
            <a:endParaRPr lang="en-US"/>
          </a:p>
        </p:txBody>
      </p:sp>
      <p:sp>
        <p:nvSpPr>
          <p:cNvPr id="42001" name="Line 197"/>
          <p:cNvSpPr>
            <a:spLocks noChangeShapeType="1"/>
          </p:cNvSpPr>
          <p:nvPr/>
        </p:nvSpPr>
        <p:spPr bwMode="auto">
          <a:xfrm>
            <a:off x="2481263" y="4419600"/>
            <a:ext cx="136525" cy="0"/>
          </a:xfrm>
          <a:prstGeom prst="line">
            <a:avLst/>
          </a:prstGeom>
          <a:noFill/>
          <a:ln w="7938">
            <a:solidFill>
              <a:srgbClr val="000000"/>
            </a:solidFill>
            <a:miter lim="800000"/>
            <a:headEnd/>
            <a:tailEnd/>
          </a:ln>
        </p:spPr>
        <p:txBody>
          <a:bodyPr/>
          <a:lstStyle/>
          <a:p>
            <a:endParaRPr lang="en-US"/>
          </a:p>
        </p:txBody>
      </p:sp>
      <p:sp>
        <p:nvSpPr>
          <p:cNvPr id="42002" name="Line 198"/>
          <p:cNvSpPr>
            <a:spLocks noChangeShapeType="1"/>
          </p:cNvSpPr>
          <p:nvPr/>
        </p:nvSpPr>
        <p:spPr bwMode="auto">
          <a:xfrm>
            <a:off x="2481263" y="4889500"/>
            <a:ext cx="136525" cy="0"/>
          </a:xfrm>
          <a:prstGeom prst="line">
            <a:avLst/>
          </a:prstGeom>
          <a:noFill/>
          <a:ln w="7938">
            <a:solidFill>
              <a:srgbClr val="000000"/>
            </a:solidFill>
            <a:miter lim="800000"/>
            <a:headEnd/>
            <a:tailEnd/>
          </a:ln>
        </p:spPr>
        <p:txBody>
          <a:bodyPr/>
          <a:lstStyle/>
          <a:p>
            <a:endParaRPr lang="en-US"/>
          </a:p>
        </p:txBody>
      </p:sp>
      <p:sp>
        <p:nvSpPr>
          <p:cNvPr id="42003" name="Line 199"/>
          <p:cNvSpPr>
            <a:spLocks noChangeShapeType="1"/>
          </p:cNvSpPr>
          <p:nvPr/>
        </p:nvSpPr>
        <p:spPr bwMode="auto">
          <a:xfrm>
            <a:off x="2481263" y="5354638"/>
            <a:ext cx="136525" cy="0"/>
          </a:xfrm>
          <a:prstGeom prst="line">
            <a:avLst/>
          </a:prstGeom>
          <a:noFill/>
          <a:ln w="7938">
            <a:solidFill>
              <a:srgbClr val="000000"/>
            </a:solidFill>
            <a:miter lim="800000"/>
            <a:headEnd/>
            <a:tailEnd/>
          </a:ln>
        </p:spPr>
        <p:txBody>
          <a:bodyPr/>
          <a:lstStyle/>
          <a:p>
            <a:endParaRPr lang="en-US"/>
          </a:p>
        </p:txBody>
      </p:sp>
      <p:sp>
        <p:nvSpPr>
          <p:cNvPr id="42004" name="Line 200"/>
          <p:cNvSpPr>
            <a:spLocks noChangeShapeType="1"/>
          </p:cNvSpPr>
          <p:nvPr/>
        </p:nvSpPr>
        <p:spPr bwMode="auto">
          <a:xfrm flipV="1">
            <a:off x="3244850" y="5686425"/>
            <a:ext cx="0" cy="136525"/>
          </a:xfrm>
          <a:prstGeom prst="line">
            <a:avLst/>
          </a:prstGeom>
          <a:noFill/>
          <a:ln w="7938">
            <a:solidFill>
              <a:srgbClr val="000000"/>
            </a:solidFill>
            <a:miter lim="800000"/>
            <a:headEnd/>
            <a:tailEnd/>
          </a:ln>
        </p:spPr>
        <p:txBody>
          <a:bodyPr/>
          <a:lstStyle/>
          <a:p>
            <a:endParaRPr lang="en-US"/>
          </a:p>
        </p:txBody>
      </p:sp>
      <p:sp>
        <p:nvSpPr>
          <p:cNvPr id="42005" name="Line 201"/>
          <p:cNvSpPr>
            <a:spLocks noChangeShapeType="1"/>
          </p:cNvSpPr>
          <p:nvPr/>
        </p:nvSpPr>
        <p:spPr bwMode="auto">
          <a:xfrm flipV="1">
            <a:off x="3660775" y="5686425"/>
            <a:ext cx="0" cy="136525"/>
          </a:xfrm>
          <a:prstGeom prst="line">
            <a:avLst/>
          </a:prstGeom>
          <a:noFill/>
          <a:ln w="7938">
            <a:solidFill>
              <a:srgbClr val="000000"/>
            </a:solidFill>
            <a:miter lim="800000"/>
            <a:headEnd/>
            <a:tailEnd/>
          </a:ln>
        </p:spPr>
        <p:txBody>
          <a:bodyPr/>
          <a:lstStyle/>
          <a:p>
            <a:endParaRPr lang="en-US"/>
          </a:p>
        </p:txBody>
      </p:sp>
      <p:sp>
        <p:nvSpPr>
          <p:cNvPr id="42006" name="Line 202"/>
          <p:cNvSpPr>
            <a:spLocks noChangeShapeType="1"/>
          </p:cNvSpPr>
          <p:nvPr/>
        </p:nvSpPr>
        <p:spPr bwMode="auto">
          <a:xfrm flipV="1">
            <a:off x="4268788" y="5686425"/>
            <a:ext cx="0" cy="136525"/>
          </a:xfrm>
          <a:prstGeom prst="line">
            <a:avLst/>
          </a:prstGeom>
          <a:noFill/>
          <a:ln w="7938">
            <a:solidFill>
              <a:srgbClr val="000000"/>
            </a:solidFill>
            <a:miter lim="800000"/>
            <a:headEnd/>
            <a:tailEnd/>
          </a:ln>
        </p:spPr>
        <p:txBody>
          <a:bodyPr/>
          <a:lstStyle/>
          <a:p>
            <a:endParaRPr lang="en-US"/>
          </a:p>
        </p:txBody>
      </p:sp>
      <p:sp>
        <p:nvSpPr>
          <p:cNvPr id="42007" name="Freeform 203"/>
          <p:cNvSpPr>
            <a:spLocks/>
          </p:cNvSpPr>
          <p:nvPr/>
        </p:nvSpPr>
        <p:spPr bwMode="auto">
          <a:xfrm>
            <a:off x="4381500" y="5686425"/>
            <a:ext cx="117475" cy="312738"/>
          </a:xfrm>
          <a:custGeom>
            <a:avLst/>
            <a:gdLst>
              <a:gd name="T0" fmla="*/ 0 w 71"/>
              <a:gd name="T1" fmla="*/ 0 h 189"/>
              <a:gd name="T2" fmla="*/ 0 w 71"/>
              <a:gd name="T3" fmla="*/ 2147483647 h 189"/>
              <a:gd name="T4" fmla="*/ 0 w 71"/>
              <a:gd name="T5" fmla="*/ 2147483647 h 189"/>
              <a:gd name="T6" fmla="*/ 2147483647 w 71"/>
              <a:gd name="T7" fmla="*/ 2147483647 h 189"/>
              <a:gd name="T8" fmla="*/ 0 60000 65536"/>
              <a:gd name="T9" fmla="*/ 0 60000 65536"/>
              <a:gd name="T10" fmla="*/ 0 60000 65536"/>
              <a:gd name="T11" fmla="*/ 0 60000 65536"/>
              <a:gd name="T12" fmla="*/ 0 w 71"/>
              <a:gd name="T13" fmla="*/ 0 h 189"/>
              <a:gd name="T14" fmla="*/ 71 w 71"/>
              <a:gd name="T15" fmla="*/ 189 h 189"/>
            </a:gdLst>
            <a:ahLst/>
            <a:cxnLst>
              <a:cxn ang="T8">
                <a:pos x="T0" y="T1"/>
              </a:cxn>
              <a:cxn ang="T9">
                <a:pos x="T2" y="T3"/>
              </a:cxn>
              <a:cxn ang="T10">
                <a:pos x="T4" y="T5"/>
              </a:cxn>
              <a:cxn ang="T11">
                <a:pos x="T6" y="T7"/>
              </a:cxn>
            </a:cxnLst>
            <a:rect l="T12" t="T13" r="T14" b="T15"/>
            <a:pathLst>
              <a:path w="71" h="189">
                <a:moveTo>
                  <a:pt x="0" y="0"/>
                </a:moveTo>
                <a:lnTo>
                  <a:pt x="0" y="82"/>
                </a:lnTo>
                <a:lnTo>
                  <a:pt x="0" y="189"/>
                </a:lnTo>
                <a:lnTo>
                  <a:pt x="71" y="189"/>
                </a:lnTo>
              </a:path>
            </a:pathLst>
          </a:custGeom>
          <a:noFill/>
          <a:ln w="7938" cap="flat">
            <a:solidFill>
              <a:srgbClr val="000000"/>
            </a:solidFill>
            <a:prstDash val="solid"/>
            <a:miter lim="800000"/>
            <a:headEnd/>
            <a:tailEnd/>
          </a:ln>
        </p:spPr>
        <p:txBody>
          <a:bodyPr/>
          <a:lstStyle/>
          <a:p>
            <a:endParaRPr lang="en-US"/>
          </a:p>
        </p:txBody>
      </p:sp>
      <p:sp>
        <p:nvSpPr>
          <p:cNvPr id="42008" name="Line 204"/>
          <p:cNvSpPr>
            <a:spLocks noChangeShapeType="1"/>
          </p:cNvSpPr>
          <p:nvPr/>
        </p:nvSpPr>
        <p:spPr bwMode="auto">
          <a:xfrm flipV="1">
            <a:off x="5522913" y="5686425"/>
            <a:ext cx="0" cy="136525"/>
          </a:xfrm>
          <a:prstGeom prst="line">
            <a:avLst/>
          </a:prstGeom>
          <a:noFill/>
          <a:ln w="7938">
            <a:solidFill>
              <a:srgbClr val="000000"/>
            </a:solidFill>
            <a:miter lim="800000"/>
            <a:headEnd/>
            <a:tailEnd/>
          </a:ln>
        </p:spPr>
        <p:txBody>
          <a:bodyPr/>
          <a:lstStyle/>
          <a:p>
            <a:endParaRPr lang="en-US"/>
          </a:p>
        </p:txBody>
      </p:sp>
      <p:sp>
        <p:nvSpPr>
          <p:cNvPr id="42009" name="Line 205"/>
          <p:cNvSpPr>
            <a:spLocks noChangeShapeType="1"/>
          </p:cNvSpPr>
          <p:nvPr/>
        </p:nvSpPr>
        <p:spPr bwMode="auto">
          <a:xfrm flipV="1">
            <a:off x="6283325" y="5686425"/>
            <a:ext cx="0" cy="136525"/>
          </a:xfrm>
          <a:prstGeom prst="line">
            <a:avLst/>
          </a:prstGeom>
          <a:noFill/>
          <a:ln w="7938">
            <a:solidFill>
              <a:srgbClr val="000000"/>
            </a:solidFill>
            <a:miter lim="800000"/>
            <a:headEnd/>
            <a:tailEnd/>
          </a:ln>
        </p:spPr>
        <p:txBody>
          <a:bodyPr/>
          <a:lstStyle/>
          <a:p>
            <a:endParaRPr lang="en-US"/>
          </a:p>
        </p:txBody>
      </p:sp>
      <p:sp>
        <p:nvSpPr>
          <p:cNvPr id="42010" name="Line 206"/>
          <p:cNvSpPr>
            <a:spLocks noChangeShapeType="1"/>
          </p:cNvSpPr>
          <p:nvPr/>
        </p:nvSpPr>
        <p:spPr bwMode="auto">
          <a:xfrm flipV="1">
            <a:off x="7045325" y="5686425"/>
            <a:ext cx="0" cy="136525"/>
          </a:xfrm>
          <a:prstGeom prst="line">
            <a:avLst/>
          </a:prstGeom>
          <a:noFill/>
          <a:ln w="7938">
            <a:solidFill>
              <a:srgbClr val="000000"/>
            </a:solidFill>
            <a:miter lim="800000"/>
            <a:headEnd/>
            <a:tailEnd/>
          </a:ln>
        </p:spPr>
        <p:txBody>
          <a:bodyPr/>
          <a:lstStyle/>
          <a:p>
            <a:endParaRPr lang="en-US"/>
          </a:p>
        </p:txBody>
      </p:sp>
      <p:sp>
        <p:nvSpPr>
          <p:cNvPr id="42011" name="Rectangle 207"/>
          <p:cNvSpPr>
            <a:spLocks noChangeArrowheads="1"/>
          </p:cNvSpPr>
          <p:nvPr/>
        </p:nvSpPr>
        <p:spPr bwMode="auto">
          <a:xfrm>
            <a:off x="1933575" y="2444750"/>
            <a:ext cx="44291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$2.00</a:t>
            </a:r>
            <a:endParaRPr lang="en-US" sz="1400"/>
          </a:p>
        </p:txBody>
      </p:sp>
      <p:sp>
        <p:nvSpPr>
          <p:cNvPr id="42012" name="Rectangle 208"/>
          <p:cNvSpPr>
            <a:spLocks noChangeArrowheads="1"/>
          </p:cNvSpPr>
          <p:nvPr/>
        </p:nvSpPr>
        <p:spPr bwMode="auto">
          <a:xfrm>
            <a:off x="2036763" y="2909888"/>
            <a:ext cx="346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1.75</a:t>
            </a:r>
            <a:endParaRPr lang="en-US" sz="1400"/>
          </a:p>
        </p:txBody>
      </p:sp>
      <p:sp>
        <p:nvSpPr>
          <p:cNvPr id="42013" name="Rectangle 209"/>
          <p:cNvSpPr>
            <a:spLocks noChangeArrowheads="1"/>
          </p:cNvSpPr>
          <p:nvPr/>
        </p:nvSpPr>
        <p:spPr bwMode="auto">
          <a:xfrm>
            <a:off x="2036763" y="3376613"/>
            <a:ext cx="346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1.50</a:t>
            </a:r>
            <a:endParaRPr lang="en-US" sz="1400"/>
          </a:p>
        </p:txBody>
      </p:sp>
      <p:sp>
        <p:nvSpPr>
          <p:cNvPr id="42014" name="Rectangle 210"/>
          <p:cNvSpPr>
            <a:spLocks noChangeArrowheads="1"/>
          </p:cNvSpPr>
          <p:nvPr/>
        </p:nvSpPr>
        <p:spPr bwMode="auto">
          <a:xfrm>
            <a:off x="2036763" y="3841750"/>
            <a:ext cx="346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1.25</a:t>
            </a:r>
            <a:endParaRPr lang="en-US" sz="1400"/>
          </a:p>
        </p:txBody>
      </p:sp>
      <p:sp>
        <p:nvSpPr>
          <p:cNvPr id="42015" name="Rectangle 211"/>
          <p:cNvSpPr>
            <a:spLocks noChangeArrowheads="1"/>
          </p:cNvSpPr>
          <p:nvPr/>
        </p:nvSpPr>
        <p:spPr bwMode="auto">
          <a:xfrm>
            <a:off x="2036763" y="4306888"/>
            <a:ext cx="346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a:t>
            </a:r>
            <a:endParaRPr lang="en-US" sz="1400"/>
          </a:p>
        </p:txBody>
      </p:sp>
      <p:sp>
        <p:nvSpPr>
          <p:cNvPr id="42016" name="Rectangle 212"/>
          <p:cNvSpPr>
            <a:spLocks noChangeArrowheads="1"/>
          </p:cNvSpPr>
          <p:nvPr/>
        </p:nvSpPr>
        <p:spPr bwMode="auto">
          <a:xfrm>
            <a:off x="2036763" y="4772025"/>
            <a:ext cx="346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0.75</a:t>
            </a:r>
            <a:endParaRPr lang="en-US" sz="1400"/>
          </a:p>
        </p:txBody>
      </p:sp>
      <p:sp>
        <p:nvSpPr>
          <p:cNvPr id="42017" name="Rectangle 213"/>
          <p:cNvSpPr>
            <a:spLocks noChangeArrowheads="1"/>
          </p:cNvSpPr>
          <p:nvPr/>
        </p:nvSpPr>
        <p:spPr bwMode="auto">
          <a:xfrm>
            <a:off x="2036763" y="5238750"/>
            <a:ext cx="346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0.50</a:t>
            </a:r>
            <a:endParaRPr lang="en-US" sz="1400"/>
          </a:p>
        </p:txBody>
      </p:sp>
      <p:sp>
        <p:nvSpPr>
          <p:cNvPr id="42018" name="Freeform 224"/>
          <p:cNvSpPr>
            <a:spLocks/>
          </p:cNvSpPr>
          <p:nvPr/>
        </p:nvSpPr>
        <p:spPr bwMode="auto">
          <a:xfrm>
            <a:off x="3279775" y="2562225"/>
            <a:ext cx="2697163" cy="2792413"/>
          </a:xfrm>
          <a:custGeom>
            <a:avLst/>
            <a:gdLst>
              <a:gd name="T0" fmla="*/ 0 w 693"/>
              <a:gd name="T1" fmla="*/ 0 h 715"/>
              <a:gd name="T2" fmla="*/ 2147483647 w 693"/>
              <a:gd name="T3" fmla="*/ 2147483647 h 715"/>
              <a:gd name="T4" fmla="*/ 0 60000 65536"/>
              <a:gd name="T5" fmla="*/ 0 60000 65536"/>
              <a:gd name="T6" fmla="*/ 0 w 693"/>
              <a:gd name="T7" fmla="*/ 0 h 715"/>
              <a:gd name="T8" fmla="*/ 693 w 693"/>
              <a:gd name="T9" fmla="*/ 715 h 715"/>
            </a:gdLst>
            <a:ahLst/>
            <a:cxnLst>
              <a:cxn ang="T4">
                <a:pos x="T0" y="T1"/>
              </a:cxn>
              <a:cxn ang="T5">
                <a:pos x="T2" y="T3"/>
              </a:cxn>
            </a:cxnLst>
            <a:rect l="T6" t="T7" r="T8" b="T9"/>
            <a:pathLst>
              <a:path w="693" h="715">
                <a:moveTo>
                  <a:pt x="0" y="0"/>
                </a:moveTo>
                <a:cubicBezTo>
                  <a:pt x="39" y="192"/>
                  <a:pt x="259" y="593"/>
                  <a:pt x="693" y="715"/>
                </a:cubicBezTo>
              </a:path>
            </a:pathLst>
          </a:custGeom>
          <a:noFill/>
          <a:ln w="30163" cap="flat">
            <a:solidFill>
              <a:srgbClr val="AEC5E7"/>
            </a:solidFill>
            <a:prstDash val="solid"/>
            <a:miter lim="800000"/>
            <a:headEnd/>
            <a:tailEnd/>
          </a:ln>
        </p:spPr>
        <p:txBody>
          <a:bodyPr/>
          <a:lstStyle/>
          <a:p>
            <a:endParaRPr lang="en-US"/>
          </a:p>
        </p:txBody>
      </p:sp>
      <p:sp>
        <p:nvSpPr>
          <p:cNvPr id="42019" name="Freeform 225"/>
          <p:cNvSpPr>
            <a:spLocks/>
          </p:cNvSpPr>
          <p:nvPr/>
        </p:nvSpPr>
        <p:spPr bwMode="auto">
          <a:xfrm>
            <a:off x="3548063" y="3584575"/>
            <a:ext cx="673100" cy="842963"/>
          </a:xfrm>
          <a:custGeom>
            <a:avLst/>
            <a:gdLst>
              <a:gd name="T0" fmla="*/ 0 w 173"/>
              <a:gd name="T1" fmla="*/ 0 h 216"/>
              <a:gd name="T2" fmla="*/ 2147483647 w 173"/>
              <a:gd name="T3" fmla="*/ 2147483647 h 216"/>
              <a:gd name="T4" fmla="*/ 2147483647 w 173"/>
              <a:gd name="T5" fmla="*/ 2147483647 h 216"/>
              <a:gd name="T6" fmla="*/ 0 60000 65536"/>
              <a:gd name="T7" fmla="*/ 0 60000 65536"/>
              <a:gd name="T8" fmla="*/ 0 60000 65536"/>
              <a:gd name="T9" fmla="*/ 0 w 173"/>
              <a:gd name="T10" fmla="*/ 0 h 216"/>
              <a:gd name="T11" fmla="*/ 173 w 173"/>
              <a:gd name="T12" fmla="*/ 216 h 216"/>
            </a:gdLst>
            <a:ahLst/>
            <a:cxnLst>
              <a:cxn ang="T6">
                <a:pos x="T0" y="T1"/>
              </a:cxn>
              <a:cxn ang="T7">
                <a:pos x="T2" y="T3"/>
              </a:cxn>
              <a:cxn ang="T8">
                <a:pos x="T4" y="T5"/>
              </a:cxn>
            </a:cxnLst>
            <a:rect l="T9" t="T10" r="T11" b="T12"/>
            <a:pathLst>
              <a:path w="173" h="216">
                <a:moveTo>
                  <a:pt x="0" y="0"/>
                </a:moveTo>
                <a:cubicBezTo>
                  <a:pt x="34" y="59"/>
                  <a:pt x="72" y="112"/>
                  <a:pt x="122" y="171"/>
                </a:cubicBezTo>
                <a:cubicBezTo>
                  <a:pt x="122" y="171"/>
                  <a:pt x="149" y="201"/>
                  <a:pt x="173" y="216"/>
                </a:cubicBezTo>
              </a:path>
            </a:pathLst>
          </a:custGeom>
          <a:noFill/>
          <a:ln w="30163" cap="flat">
            <a:solidFill>
              <a:srgbClr val="000000"/>
            </a:solidFill>
            <a:prstDash val="solid"/>
            <a:miter lim="800000"/>
            <a:headEnd/>
            <a:tailEnd/>
          </a:ln>
        </p:spPr>
        <p:txBody>
          <a:bodyPr/>
          <a:lstStyle/>
          <a:p>
            <a:endParaRPr lang="en-US"/>
          </a:p>
        </p:txBody>
      </p:sp>
      <p:sp>
        <p:nvSpPr>
          <p:cNvPr id="42020" name="Freeform 226"/>
          <p:cNvSpPr>
            <a:spLocks/>
          </p:cNvSpPr>
          <p:nvPr/>
        </p:nvSpPr>
        <p:spPr bwMode="auto">
          <a:xfrm>
            <a:off x="3813175" y="2562225"/>
            <a:ext cx="3232150" cy="2792413"/>
          </a:xfrm>
          <a:custGeom>
            <a:avLst/>
            <a:gdLst>
              <a:gd name="T0" fmla="*/ 0 w 830"/>
              <a:gd name="T1" fmla="*/ 0 h 715"/>
              <a:gd name="T2" fmla="*/ 2147483647 w 830"/>
              <a:gd name="T3" fmla="*/ 2147483647 h 715"/>
              <a:gd name="T4" fmla="*/ 0 60000 65536"/>
              <a:gd name="T5" fmla="*/ 0 60000 65536"/>
              <a:gd name="T6" fmla="*/ 0 w 830"/>
              <a:gd name="T7" fmla="*/ 0 h 715"/>
              <a:gd name="T8" fmla="*/ 830 w 830"/>
              <a:gd name="T9" fmla="*/ 715 h 715"/>
            </a:gdLst>
            <a:ahLst/>
            <a:cxnLst>
              <a:cxn ang="T4">
                <a:pos x="T0" y="T1"/>
              </a:cxn>
              <a:cxn ang="T5">
                <a:pos x="T2" y="T3"/>
              </a:cxn>
            </a:cxnLst>
            <a:rect l="T6" t="T7" r="T8" b="T9"/>
            <a:pathLst>
              <a:path w="830" h="715">
                <a:moveTo>
                  <a:pt x="0" y="0"/>
                </a:moveTo>
                <a:cubicBezTo>
                  <a:pt x="71" y="238"/>
                  <a:pt x="337" y="598"/>
                  <a:pt x="830" y="715"/>
                </a:cubicBezTo>
              </a:path>
            </a:pathLst>
          </a:custGeom>
          <a:noFill/>
          <a:ln w="30163" cap="flat">
            <a:solidFill>
              <a:srgbClr val="3C5DAA"/>
            </a:solidFill>
            <a:prstDash val="solid"/>
            <a:miter lim="800000"/>
            <a:headEnd/>
            <a:tailEnd/>
          </a:ln>
        </p:spPr>
        <p:txBody>
          <a:bodyPr/>
          <a:lstStyle/>
          <a:p>
            <a:endParaRPr lang="en-US"/>
          </a:p>
        </p:txBody>
      </p:sp>
      <p:sp>
        <p:nvSpPr>
          <p:cNvPr id="42021" name="Line 230"/>
          <p:cNvSpPr>
            <a:spLocks noChangeShapeType="1"/>
          </p:cNvSpPr>
          <p:nvPr/>
        </p:nvSpPr>
        <p:spPr bwMode="auto">
          <a:xfrm flipV="1">
            <a:off x="2422525" y="5529263"/>
            <a:ext cx="117475" cy="66675"/>
          </a:xfrm>
          <a:prstGeom prst="line">
            <a:avLst/>
          </a:prstGeom>
          <a:noFill/>
          <a:ln w="7938">
            <a:solidFill>
              <a:srgbClr val="000000"/>
            </a:solidFill>
            <a:miter lim="800000"/>
            <a:headEnd/>
            <a:tailEnd/>
          </a:ln>
        </p:spPr>
        <p:txBody>
          <a:bodyPr/>
          <a:lstStyle/>
          <a:p>
            <a:endParaRPr lang="en-US"/>
          </a:p>
        </p:txBody>
      </p:sp>
      <p:sp>
        <p:nvSpPr>
          <p:cNvPr id="42022" name="Line 231"/>
          <p:cNvSpPr>
            <a:spLocks noChangeShapeType="1"/>
          </p:cNvSpPr>
          <p:nvPr/>
        </p:nvSpPr>
        <p:spPr bwMode="auto">
          <a:xfrm flipV="1">
            <a:off x="2422525" y="5619750"/>
            <a:ext cx="117475" cy="66675"/>
          </a:xfrm>
          <a:prstGeom prst="line">
            <a:avLst/>
          </a:prstGeom>
          <a:noFill/>
          <a:ln w="7938">
            <a:solidFill>
              <a:srgbClr val="000000"/>
            </a:solidFill>
            <a:miter lim="800000"/>
            <a:headEnd/>
            <a:tailEnd/>
          </a:ln>
        </p:spPr>
        <p:txBody>
          <a:bodyPr/>
          <a:lstStyle/>
          <a:p>
            <a:endParaRPr lang="en-US"/>
          </a:p>
        </p:txBody>
      </p:sp>
      <p:sp>
        <p:nvSpPr>
          <p:cNvPr id="42023" name="Line 232"/>
          <p:cNvSpPr>
            <a:spLocks noChangeShapeType="1"/>
          </p:cNvSpPr>
          <p:nvPr/>
        </p:nvSpPr>
        <p:spPr bwMode="auto">
          <a:xfrm flipH="1">
            <a:off x="2614613" y="5764213"/>
            <a:ext cx="69850" cy="117475"/>
          </a:xfrm>
          <a:prstGeom prst="line">
            <a:avLst/>
          </a:prstGeom>
          <a:noFill/>
          <a:ln w="7938">
            <a:solidFill>
              <a:srgbClr val="000000"/>
            </a:solidFill>
            <a:miter lim="800000"/>
            <a:headEnd/>
            <a:tailEnd/>
          </a:ln>
        </p:spPr>
        <p:txBody>
          <a:bodyPr/>
          <a:lstStyle/>
          <a:p>
            <a:endParaRPr lang="en-US"/>
          </a:p>
        </p:txBody>
      </p:sp>
      <p:sp>
        <p:nvSpPr>
          <p:cNvPr id="42024" name="Line 233"/>
          <p:cNvSpPr>
            <a:spLocks noChangeShapeType="1"/>
          </p:cNvSpPr>
          <p:nvPr/>
        </p:nvSpPr>
        <p:spPr bwMode="auto">
          <a:xfrm flipH="1">
            <a:off x="2706688" y="5764213"/>
            <a:ext cx="66675" cy="117475"/>
          </a:xfrm>
          <a:prstGeom prst="line">
            <a:avLst/>
          </a:prstGeom>
          <a:noFill/>
          <a:ln w="7938">
            <a:solidFill>
              <a:srgbClr val="000000"/>
            </a:solidFill>
            <a:miter lim="800000"/>
            <a:headEnd/>
            <a:tailEnd/>
          </a:ln>
        </p:spPr>
        <p:txBody>
          <a:bodyPr/>
          <a:lstStyle/>
          <a:p>
            <a:endParaRPr lang="en-US"/>
          </a:p>
        </p:txBody>
      </p:sp>
      <p:sp>
        <p:nvSpPr>
          <p:cNvPr id="42025" name="Line 234"/>
          <p:cNvSpPr>
            <a:spLocks noChangeShapeType="1"/>
          </p:cNvSpPr>
          <p:nvPr/>
        </p:nvSpPr>
        <p:spPr bwMode="auto">
          <a:xfrm>
            <a:off x="3652838" y="3367088"/>
            <a:ext cx="350837" cy="0"/>
          </a:xfrm>
          <a:prstGeom prst="line">
            <a:avLst/>
          </a:prstGeom>
          <a:noFill/>
          <a:ln w="30163">
            <a:solidFill>
              <a:srgbClr val="000000"/>
            </a:solidFill>
            <a:miter lim="800000"/>
            <a:headEnd/>
            <a:tailEnd/>
          </a:ln>
        </p:spPr>
        <p:txBody>
          <a:bodyPr/>
          <a:lstStyle/>
          <a:p>
            <a:endParaRPr lang="en-US"/>
          </a:p>
        </p:txBody>
      </p:sp>
      <p:sp>
        <p:nvSpPr>
          <p:cNvPr id="42026" name="Rectangle 235"/>
          <p:cNvSpPr>
            <a:spLocks noChangeArrowheads="1"/>
          </p:cNvSpPr>
          <p:nvPr/>
        </p:nvSpPr>
        <p:spPr bwMode="auto">
          <a:xfrm>
            <a:off x="6061075" y="5268913"/>
            <a:ext cx="1285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D</a:t>
            </a:r>
            <a:endParaRPr lang="en-US" sz="1400"/>
          </a:p>
        </p:txBody>
      </p:sp>
      <p:sp>
        <p:nvSpPr>
          <p:cNvPr id="42027" name="Rectangle 236"/>
          <p:cNvSpPr>
            <a:spLocks noChangeArrowheads="1"/>
          </p:cNvSpPr>
          <p:nvPr/>
        </p:nvSpPr>
        <p:spPr bwMode="auto">
          <a:xfrm>
            <a:off x="6213475" y="536892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42028" name="Rectangle 237"/>
          <p:cNvSpPr>
            <a:spLocks noChangeArrowheads="1"/>
          </p:cNvSpPr>
          <p:nvPr/>
        </p:nvSpPr>
        <p:spPr bwMode="auto">
          <a:xfrm>
            <a:off x="7127875" y="5268913"/>
            <a:ext cx="1285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D</a:t>
            </a:r>
            <a:endParaRPr lang="en-US" sz="1400"/>
          </a:p>
        </p:txBody>
      </p:sp>
      <p:sp>
        <p:nvSpPr>
          <p:cNvPr id="42029" name="Rectangle 238"/>
          <p:cNvSpPr>
            <a:spLocks noChangeArrowheads="1"/>
          </p:cNvSpPr>
          <p:nvPr/>
        </p:nvSpPr>
        <p:spPr bwMode="auto">
          <a:xfrm>
            <a:off x="7278688" y="536892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42030" name="Rectangle 239"/>
          <p:cNvSpPr>
            <a:spLocks noChangeArrowheads="1"/>
          </p:cNvSpPr>
          <p:nvPr/>
        </p:nvSpPr>
        <p:spPr bwMode="auto">
          <a:xfrm>
            <a:off x="3349625" y="3243263"/>
            <a:ext cx="119063"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A</a:t>
            </a:r>
            <a:endParaRPr lang="en-US" sz="1400"/>
          </a:p>
        </p:txBody>
      </p:sp>
      <p:sp>
        <p:nvSpPr>
          <p:cNvPr id="42031" name="Rectangle 240"/>
          <p:cNvSpPr>
            <a:spLocks noChangeArrowheads="1"/>
          </p:cNvSpPr>
          <p:nvPr/>
        </p:nvSpPr>
        <p:spPr bwMode="auto">
          <a:xfrm>
            <a:off x="4338638" y="3243263"/>
            <a:ext cx="1285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C</a:t>
            </a:r>
            <a:endParaRPr lang="en-US" sz="1400"/>
          </a:p>
        </p:txBody>
      </p:sp>
      <p:sp>
        <p:nvSpPr>
          <p:cNvPr id="42032" name="Rectangle 241"/>
          <p:cNvSpPr>
            <a:spLocks noChangeArrowheads="1"/>
          </p:cNvSpPr>
          <p:nvPr/>
        </p:nvSpPr>
        <p:spPr bwMode="auto">
          <a:xfrm>
            <a:off x="4471988" y="4181475"/>
            <a:ext cx="1190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B</a:t>
            </a:r>
            <a:endParaRPr lang="en-US" sz="1400"/>
          </a:p>
        </p:txBody>
      </p:sp>
      <p:sp>
        <p:nvSpPr>
          <p:cNvPr id="549106" name="Line 242"/>
          <p:cNvSpPr>
            <a:spLocks noChangeShapeType="1"/>
          </p:cNvSpPr>
          <p:nvPr/>
        </p:nvSpPr>
        <p:spPr bwMode="auto">
          <a:xfrm flipV="1">
            <a:off x="3798888" y="2179638"/>
            <a:ext cx="1022350" cy="1127125"/>
          </a:xfrm>
          <a:prstGeom prst="line">
            <a:avLst/>
          </a:prstGeom>
          <a:noFill/>
          <a:ln w="7938">
            <a:solidFill>
              <a:srgbClr val="000000"/>
            </a:solidFill>
            <a:miter lim="800000"/>
            <a:headEnd/>
            <a:tailEnd/>
          </a:ln>
        </p:spPr>
        <p:txBody>
          <a:bodyPr/>
          <a:lstStyle/>
          <a:p>
            <a:endParaRPr lang="en-US"/>
          </a:p>
        </p:txBody>
      </p:sp>
      <p:sp>
        <p:nvSpPr>
          <p:cNvPr id="549107" name="Line 243"/>
          <p:cNvSpPr>
            <a:spLocks noChangeShapeType="1"/>
          </p:cNvSpPr>
          <p:nvPr/>
        </p:nvSpPr>
        <p:spPr bwMode="auto">
          <a:xfrm flipV="1">
            <a:off x="3906838" y="3343275"/>
            <a:ext cx="2119312" cy="757238"/>
          </a:xfrm>
          <a:prstGeom prst="line">
            <a:avLst/>
          </a:prstGeom>
          <a:noFill/>
          <a:ln w="7938">
            <a:solidFill>
              <a:srgbClr val="000000"/>
            </a:solidFill>
            <a:miter lim="800000"/>
            <a:headEnd/>
            <a:tailEnd/>
          </a:ln>
        </p:spPr>
        <p:txBody>
          <a:bodyPr/>
          <a:lstStyle/>
          <a:p>
            <a:endParaRPr lang="en-US"/>
          </a:p>
        </p:txBody>
      </p:sp>
      <p:sp>
        <p:nvSpPr>
          <p:cNvPr id="549108" name="Freeform 244"/>
          <p:cNvSpPr>
            <a:spLocks/>
          </p:cNvSpPr>
          <p:nvPr/>
        </p:nvSpPr>
        <p:spPr bwMode="auto">
          <a:xfrm>
            <a:off x="3941763" y="1870075"/>
            <a:ext cx="2370137" cy="744538"/>
          </a:xfrm>
          <a:custGeom>
            <a:avLst/>
            <a:gdLst>
              <a:gd name="T0" fmla="*/ 2147483647 w 399"/>
              <a:gd name="T1" fmla="*/ 2147483647 h 138"/>
              <a:gd name="T2" fmla="*/ 2147483647 w 399"/>
              <a:gd name="T3" fmla="*/ 2147483647 h 138"/>
              <a:gd name="T4" fmla="*/ 2147483647 w 399"/>
              <a:gd name="T5" fmla="*/ 2147483647 h 138"/>
              <a:gd name="T6" fmla="*/ 0 w 399"/>
              <a:gd name="T7" fmla="*/ 2147483647 h 138"/>
              <a:gd name="T8" fmla="*/ 0 w 399"/>
              <a:gd name="T9" fmla="*/ 2147483647 h 138"/>
              <a:gd name="T10" fmla="*/ 2147483647 w 399"/>
              <a:gd name="T11" fmla="*/ 0 h 138"/>
              <a:gd name="T12" fmla="*/ 2147483647 w 399"/>
              <a:gd name="T13" fmla="*/ 0 h 138"/>
              <a:gd name="T14" fmla="*/ 2147483647 w 399"/>
              <a:gd name="T15" fmla="*/ 2147483647 h 138"/>
              <a:gd name="T16" fmla="*/ 2147483647 w 399"/>
              <a:gd name="T17" fmla="*/ 2147483647 h 13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99"/>
              <a:gd name="T28" fmla="*/ 0 h 138"/>
              <a:gd name="T29" fmla="*/ 399 w 399"/>
              <a:gd name="T30" fmla="*/ 138 h 13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99" h="138">
                <a:moveTo>
                  <a:pt x="399" y="108"/>
                </a:moveTo>
                <a:cubicBezTo>
                  <a:pt x="399" y="125"/>
                  <a:pt x="387" y="138"/>
                  <a:pt x="373" y="138"/>
                </a:cubicBezTo>
                <a:cubicBezTo>
                  <a:pt x="26" y="138"/>
                  <a:pt x="26" y="138"/>
                  <a:pt x="26" y="138"/>
                </a:cubicBezTo>
                <a:cubicBezTo>
                  <a:pt x="12" y="138"/>
                  <a:pt x="0" y="125"/>
                  <a:pt x="0" y="108"/>
                </a:cubicBezTo>
                <a:cubicBezTo>
                  <a:pt x="0" y="31"/>
                  <a:pt x="0" y="31"/>
                  <a:pt x="0" y="31"/>
                </a:cubicBezTo>
                <a:cubicBezTo>
                  <a:pt x="0" y="14"/>
                  <a:pt x="12" y="0"/>
                  <a:pt x="26" y="0"/>
                </a:cubicBezTo>
                <a:cubicBezTo>
                  <a:pt x="373" y="0"/>
                  <a:pt x="373" y="0"/>
                  <a:pt x="373" y="0"/>
                </a:cubicBezTo>
                <a:cubicBezTo>
                  <a:pt x="387" y="0"/>
                  <a:pt x="399" y="14"/>
                  <a:pt x="399" y="31"/>
                </a:cubicBezTo>
                <a:lnTo>
                  <a:pt x="399" y="108"/>
                </a:lnTo>
                <a:close/>
              </a:path>
            </a:pathLst>
          </a:custGeom>
          <a:solidFill>
            <a:srgbClr val="D6E2E0"/>
          </a:solidFill>
          <a:ln w="9525">
            <a:noFill/>
            <a:round/>
            <a:headEnd/>
            <a:tailEnd/>
          </a:ln>
        </p:spPr>
        <p:txBody>
          <a:bodyPr/>
          <a:lstStyle/>
          <a:p>
            <a:endParaRPr lang="en-US"/>
          </a:p>
        </p:txBody>
      </p:sp>
      <p:sp>
        <p:nvSpPr>
          <p:cNvPr id="549116" name="Freeform 252"/>
          <p:cNvSpPr>
            <a:spLocks/>
          </p:cNvSpPr>
          <p:nvPr/>
        </p:nvSpPr>
        <p:spPr bwMode="auto">
          <a:xfrm>
            <a:off x="5041900" y="3101975"/>
            <a:ext cx="2946400" cy="1079500"/>
          </a:xfrm>
          <a:custGeom>
            <a:avLst/>
            <a:gdLst>
              <a:gd name="T0" fmla="*/ 2147483647 w 409"/>
              <a:gd name="T1" fmla="*/ 2147483647 h 249"/>
              <a:gd name="T2" fmla="*/ 2147483647 w 409"/>
              <a:gd name="T3" fmla="*/ 2147483647 h 249"/>
              <a:gd name="T4" fmla="*/ 2147483647 w 409"/>
              <a:gd name="T5" fmla="*/ 2147483647 h 249"/>
              <a:gd name="T6" fmla="*/ 0 w 409"/>
              <a:gd name="T7" fmla="*/ 2147483647 h 249"/>
              <a:gd name="T8" fmla="*/ 0 w 409"/>
              <a:gd name="T9" fmla="*/ 2147483647 h 249"/>
              <a:gd name="T10" fmla="*/ 2147483647 w 409"/>
              <a:gd name="T11" fmla="*/ 0 h 249"/>
              <a:gd name="T12" fmla="*/ 2147483647 w 409"/>
              <a:gd name="T13" fmla="*/ 0 h 249"/>
              <a:gd name="T14" fmla="*/ 2147483647 w 409"/>
              <a:gd name="T15" fmla="*/ 2147483647 h 249"/>
              <a:gd name="T16" fmla="*/ 2147483647 w 409"/>
              <a:gd name="T17" fmla="*/ 2147483647 h 2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9"/>
              <a:gd name="T28" fmla="*/ 0 h 249"/>
              <a:gd name="T29" fmla="*/ 409 w 409"/>
              <a:gd name="T30" fmla="*/ 249 h 2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9" h="249">
                <a:moveTo>
                  <a:pt x="409" y="218"/>
                </a:moveTo>
                <a:cubicBezTo>
                  <a:pt x="409" y="235"/>
                  <a:pt x="397" y="249"/>
                  <a:pt x="383" y="249"/>
                </a:cubicBezTo>
                <a:cubicBezTo>
                  <a:pt x="26" y="249"/>
                  <a:pt x="26" y="249"/>
                  <a:pt x="26" y="249"/>
                </a:cubicBezTo>
                <a:cubicBezTo>
                  <a:pt x="12" y="249"/>
                  <a:pt x="0" y="235"/>
                  <a:pt x="0" y="218"/>
                </a:cubicBezTo>
                <a:cubicBezTo>
                  <a:pt x="0" y="31"/>
                  <a:pt x="0" y="31"/>
                  <a:pt x="0" y="31"/>
                </a:cubicBezTo>
                <a:cubicBezTo>
                  <a:pt x="0" y="14"/>
                  <a:pt x="12" y="0"/>
                  <a:pt x="26" y="0"/>
                </a:cubicBezTo>
                <a:cubicBezTo>
                  <a:pt x="383" y="0"/>
                  <a:pt x="383" y="0"/>
                  <a:pt x="383" y="0"/>
                </a:cubicBezTo>
                <a:cubicBezTo>
                  <a:pt x="397" y="0"/>
                  <a:pt x="409" y="14"/>
                  <a:pt x="409" y="31"/>
                </a:cubicBezTo>
                <a:lnTo>
                  <a:pt x="409" y="218"/>
                </a:lnTo>
                <a:close/>
              </a:path>
            </a:pathLst>
          </a:custGeom>
          <a:solidFill>
            <a:srgbClr val="D6E2E0"/>
          </a:solidFill>
          <a:ln w="9525">
            <a:noFill/>
            <a:round/>
            <a:headEnd/>
            <a:tailEnd/>
          </a:ln>
        </p:spPr>
        <p:txBody>
          <a:bodyPr/>
          <a:lstStyle/>
          <a:p>
            <a:endParaRPr lang="en-US"/>
          </a:p>
        </p:txBody>
      </p:sp>
      <p:sp>
        <p:nvSpPr>
          <p:cNvPr id="42037" name="Freeform 266"/>
          <p:cNvSpPr>
            <a:spLocks/>
          </p:cNvSpPr>
          <p:nvPr/>
        </p:nvSpPr>
        <p:spPr bwMode="auto">
          <a:xfrm>
            <a:off x="3960813" y="4194175"/>
            <a:ext cx="141287" cy="160338"/>
          </a:xfrm>
          <a:custGeom>
            <a:avLst/>
            <a:gdLst>
              <a:gd name="T0" fmla="*/ 2147483647 w 36"/>
              <a:gd name="T1" fmla="*/ 2147483647 h 41"/>
              <a:gd name="T2" fmla="*/ 2147483647 w 36"/>
              <a:gd name="T3" fmla="*/ 0 h 41"/>
              <a:gd name="T4" fmla="*/ 2147483647 w 36"/>
              <a:gd name="T5" fmla="*/ 0 h 41"/>
              <a:gd name="T6" fmla="*/ 2147483647 w 36"/>
              <a:gd name="T7" fmla="*/ 2147483647 h 41"/>
              <a:gd name="T8" fmla="*/ 2147483647 w 36"/>
              <a:gd name="T9" fmla="*/ 2147483647 h 41"/>
              <a:gd name="T10" fmla="*/ 2147483647 w 36"/>
              <a:gd name="T11" fmla="*/ 2147483647 h 41"/>
              <a:gd name="T12" fmla="*/ 0 w 36"/>
              <a:gd name="T13" fmla="*/ 2147483647 h 41"/>
              <a:gd name="T14" fmla="*/ 0 w 36"/>
              <a:gd name="T15" fmla="*/ 2147483647 h 41"/>
              <a:gd name="T16" fmla="*/ 2147483647 w 36"/>
              <a:gd name="T17" fmla="*/ 2147483647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
              <a:gd name="T28" fmla="*/ 0 h 41"/>
              <a:gd name="T29" fmla="*/ 36 w 36"/>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 h="41">
                <a:moveTo>
                  <a:pt x="15" y="14"/>
                </a:moveTo>
                <a:cubicBezTo>
                  <a:pt x="20" y="0"/>
                  <a:pt x="20" y="0"/>
                  <a:pt x="20" y="0"/>
                </a:cubicBezTo>
                <a:cubicBezTo>
                  <a:pt x="20" y="0"/>
                  <a:pt x="20" y="0"/>
                  <a:pt x="20" y="0"/>
                </a:cubicBezTo>
                <a:cubicBezTo>
                  <a:pt x="27" y="21"/>
                  <a:pt x="27" y="21"/>
                  <a:pt x="27" y="21"/>
                </a:cubicBezTo>
                <a:cubicBezTo>
                  <a:pt x="30" y="28"/>
                  <a:pt x="33" y="34"/>
                  <a:pt x="36" y="41"/>
                </a:cubicBezTo>
                <a:cubicBezTo>
                  <a:pt x="31" y="36"/>
                  <a:pt x="25" y="32"/>
                  <a:pt x="19" y="27"/>
                </a:cubicBezTo>
                <a:cubicBezTo>
                  <a:pt x="0" y="16"/>
                  <a:pt x="0" y="16"/>
                  <a:pt x="0" y="16"/>
                </a:cubicBezTo>
                <a:cubicBezTo>
                  <a:pt x="0" y="16"/>
                  <a:pt x="0" y="16"/>
                  <a:pt x="0" y="16"/>
                </a:cubicBezTo>
                <a:lnTo>
                  <a:pt x="15" y="14"/>
                </a:lnTo>
                <a:close/>
              </a:path>
            </a:pathLst>
          </a:custGeom>
          <a:solidFill>
            <a:srgbClr val="000000"/>
          </a:solidFill>
          <a:ln w="9525">
            <a:noFill/>
            <a:round/>
            <a:headEnd/>
            <a:tailEnd/>
          </a:ln>
        </p:spPr>
        <p:txBody>
          <a:bodyPr/>
          <a:lstStyle/>
          <a:p>
            <a:endParaRPr lang="en-US"/>
          </a:p>
        </p:txBody>
      </p:sp>
      <p:sp>
        <p:nvSpPr>
          <p:cNvPr id="42038" name="Freeform 267"/>
          <p:cNvSpPr>
            <a:spLocks/>
          </p:cNvSpPr>
          <p:nvPr/>
        </p:nvSpPr>
        <p:spPr bwMode="auto">
          <a:xfrm>
            <a:off x="3973513" y="3316288"/>
            <a:ext cx="166687" cy="96837"/>
          </a:xfrm>
          <a:custGeom>
            <a:avLst/>
            <a:gdLst>
              <a:gd name="T0" fmla="*/ 2147483647 w 43"/>
              <a:gd name="T1" fmla="*/ 2147483647 h 25"/>
              <a:gd name="T2" fmla="*/ 2147483647 w 43"/>
              <a:gd name="T3" fmla="*/ 0 h 25"/>
              <a:gd name="T4" fmla="*/ 2147483647 w 43"/>
              <a:gd name="T5" fmla="*/ 0 h 25"/>
              <a:gd name="T6" fmla="*/ 2147483647 w 43"/>
              <a:gd name="T7" fmla="*/ 2147483647 h 25"/>
              <a:gd name="T8" fmla="*/ 2147483647 w 43"/>
              <a:gd name="T9" fmla="*/ 2147483647 h 25"/>
              <a:gd name="T10" fmla="*/ 2147483647 w 43"/>
              <a:gd name="T11" fmla="*/ 2147483647 h 25"/>
              <a:gd name="T12" fmla="*/ 2147483647 w 43"/>
              <a:gd name="T13" fmla="*/ 2147483647 h 25"/>
              <a:gd name="T14" fmla="*/ 0 w 43"/>
              <a:gd name="T15" fmla="*/ 2147483647 h 25"/>
              <a:gd name="T16" fmla="*/ 2147483647 w 43"/>
              <a:gd name="T17" fmla="*/ 2147483647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
              <a:gd name="T28" fmla="*/ 0 h 25"/>
              <a:gd name="T29" fmla="*/ 43 w 43"/>
              <a:gd name="T30" fmla="*/ 25 h 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 h="25">
                <a:moveTo>
                  <a:pt x="8" y="13"/>
                </a:moveTo>
                <a:cubicBezTo>
                  <a:pt x="1" y="0"/>
                  <a:pt x="1" y="0"/>
                  <a:pt x="1" y="0"/>
                </a:cubicBezTo>
                <a:cubicBezTo>
                  <a:pt x="1" y="0"/>
                  <a:pt x="1" y="0"/>
                  <a:pt x="1" y="0"/>
                </a:cubicBezTo>
                <a:cubicBezTo>
                  <a:pt x="21" y="8"/>
                  <a:pt x="21" y="8"/>
                  <a:pt x="21" y="8"/>
                </a:cubicBezTo>
                <a:cubicBezTo>
                  <a:pt x="28" y="10"/>
                  <a:pt x="36" y="11"/>
                  <a:pt x="43" y="13"/>
                </a:cubicBezTo>
                <a:cubicBezTo>
                  <a:pt x="36" y="15"/>
                  <a:pt x="28" y="16"/>
                  <a:pt x="21" y="18"/>
                </a:cubicBezTo>
                <a:cubicBezTo>
                  <a:pt x="1" y="25"/>
                  <a:pt x="1" y="25"/>
                  <a:pt x="1" y="25"/>
                </a:cubicBezTo>
                <a:cubicBezTo>
                  <a:pt x="0" y="25"/>
                  <a:pt x="0" y="25"/>
                  <a:pt x="0" y="25"/>
                </a:cubicBezTo>
                <a:lnTo>
                  <a:pt x="8" y="13"/>
                </a:lnTo>
                <a:close/>
              </a:path>
            </a:pathLst>
          </a:custGeom>
          <a:solidFill>
            <a:srgbClr val="000000"/>
          </a:solidFill>
          <a:ln w="9525">
            <a:noFill/>
            <a:round/>
            <a:headEnd/>
            <a:tailEnd/>
          </a:ln>
        </p:spPr>
        <p:txBody>
          <a:bodyPr/>
          <a:lstStyle/>
          <a:p>
            <a:endParaRPr lang="en-US"/>
          </a:p>
        </p:txBody>
      </p:sp>
      <p:sp>
        <p:nvSpPr>
          <p:cNvPr id="42039" name="Freeform 268"/>
          <p:cNvSpPr>
            <a:spLocks/>
          </p:cNvSpPr>
          <p:nvPr/>
        </p:nvSpPr>
        <p:spPr bwMode="auto">
          <a:xfrm>
            <a:off x="3749675" y="3929063"/>
            <a:ext cx="141288" cy="160337"/>
          </a:xfrm>
          <a:custGeom>
            <a:avLst/>
            <a:gdLst>
              <a:gd name="T0" fmla="*/ 2147483647 w 36"/>
              <a:gd name="T1" fmla="*/ 2147483647 h 41"/>
              <a:gd name="T2" fmla="*/ 2147483647 w 36"/>
              <a:gd name="T3" fmla="*/ 0 h 41"/>
              <a:gd name="T4" fmla="*/ 2147483647 w 36"/>
              <a:gd name="T5" fmla="*/ 0 h 41"/>
              <a:gd name="T6" fmla="*/ 2147483647 w 36"/>
              <a:gd name="T7" fmla="*/ 2147483647 h 41"/>
              <a:gd name="T8" fmla="*/ 2147483647 w 36"/>
              <a:gd name="T9" fmla="*/ 2147483647 h 41"/>
              <a:gd name="T10" fmla="*/ 2147483647 w 36"/>
              <a:gd name="T11" fmla="*/ 2147483647 h 41"/>
              <a:gd name="T12" fmla="*/ 0 w 36"/>
              <a:gd name="T13" fmla="*/ 2147483647 h 41"/>
              <a:gd name="T14" fmla="*/ 0 w 36"/>
              <a:gd name="T15" fmla="*/ 2147483647 h 41"/>
              <a:gd name="T16" fmla="*/ 2147483647 w 36"/>
              <a:gd name="T17" fmla="*/ 2147483647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
              <a:gd name="T28" fmla="*/ 0 h 41"/>
              <a:gd name="T29" fmla="*/ 36 w 36"/>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 h="41">
                <a:moveTo>
                  <a:pt x="15" y="13"/>
                </a:moveTo>
                <a:cubicBezTo>
                  <a:pt x="20" y="0"/>
                  <a:pt x="20" y="0"/>
                  <a:pt x="20" y="0"/>
                </a:cubicBezTo>
                <a:cubicBezTo>
                  <a:pt x="21" y="0"/>
                  <a:pt x="21" y="0"/>
                  <a:pt x="21" y="0"/>
                </a:cubicBezTo>
                <a:cubicBezTo>
                  <a:pt x="27" y="21"/>
                  <a:pt x="27" y="21"/>
                  <a:pt x="27" y="21"/>
                </a:cubicBezTo>
                <a:cubicBezTo>
                  <a:pt x="30" y="28"/>
                  <a:pt x="33" y="34"/>
                  <a:pt x="36" y="41"/>
                </a:cubicBezTo>
                <a:cubicBezTo>
                  <a:pt x="30" y="36"/>
                  <a:pt x="25" y="31"/>
                  <a:pt x="19" y="27"/>
                </a:cubicBezTo>
                <a:cubicBezTo>
                  <a:pt x="0" y="15"/>
                  <a:pt x="0" y="15"/>
                  <a:pt x="0" y="15"/>
                </a:cubicBezTo>
                <a:cubicBezTo>
                  <a:pt x="0" y="15"/>
                  <a:pt x="0" y="15"/>
                  <a:pt x="0" y="15"/>
                </a:cubicBezTo>
                <a:lnTo>
                  <a:pt x="15" y="13"/>
                </a:lnTo>
                <a:close/>
              </a:path>
            </a:pathLst>
          </a:custGeom>
          <a:solidFill>
            <a:srgbClr val="000000"/>
          </a:solidFill>
          <a:ln w="9525">
            <a:noFill/>
            <a:round/>
            <a:headEnd/>
            <a:tailEnd/>
          </a:ln>
        </p:spPr>
        <p:txBody>
          <a:bodyPr/>
          <a:lstStyle/>
          <a:p>
            <a:endParaRPr lang="en-US"/>
          </a:p>
        </p:txBody>
      </p:sp>
      <p:sp>
        <p:nvSpPr>
          <p:cNvPr id="42040" name="Freeform 269"/>
          <p:cNvSpPr>
            <a:spLocks/>
          </p:cNvSpPr>
          <p:nvPr/>
        </p:nvSpPr>
        <p:spPr bwMode="auto">
          <a:xfrm>
            <a:off x="3567113" y="3662363"/>
            <a:ext cx="133350" cy="163512"/>
          </a:xfrm>
          <a:custGeom>
            <a:avLst/>
            <a:gdLst>
              <a:gd name="T0" fmla="*/ 2147483647 w 34"/>
              <a:gd name="T1" fmla="*/ 2147483647 h 42"/>
              <a:gd name="T2" fmla="*/ 2147483647 w 34"/>
              <a:gd name="T3" fmla="*/ 0 h 42"/>
              <a:gd name="T4" fmla="*/ 2147483647 w 34"/>
              <a:gd name="T5" fmla="*/ 0 h 42"/>
              <a:gd name="T6" fmla="*/ 2147483647 w 34"/>
              <a:gd name="T7" fmla="*/ 2147483647 h 42"/>
              <a:gd name="T8" fmla="*/ 2147483647 w 34"/>
              <a:gd name="T9" fmla="*/ 2147483647 h 42"/>
              <a:gd name="T10" fmla="*/ 2147483647 w 34"/>
              <a:gd name="T11" fmla="*/ 2147483647 h 42"/>
              <a:gd name="T12" fmla="*/ 0 w 34"/>
              <a:gd name="T13" fmla="*/ 2147483647 h 42"/>
              <a:gd name="T14" fmla="*/ 0 w 34"/>
              <a:gd name="T15" fmla="*/ 2147483647 h 42"/>
              <a:gd name="T16" fmla="*/ 2147483647 w 34"/>
              <a:gd name="T17" fmla="*/ 2147483647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
              <a:gd name="T28" fmla="*/ 0 h 42"/>
              <a:gd name="T29" fmla="*/ 34 w 34"/>
              <a:gd name="T30" fmla="*/ 42 h 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 h="42">
                <a:moveTo>
                  <a:pt x="15" y="13"/>
                </a:moveTo>
                <a:cubicBezTo>
                  <a:pt x="21" y="0"/>
                  <a:pt x="21" y="0"/>
                  <a:pt x="21" y="0"/>
                </a:cubicBezTo>
                <a:cubicBezTo>
                  <a:pt x="22" y="0"/>
                  <a:pt x="22" y="0"/>
                  <a:pt x="22" y="0"/>
                </a:cubicBezTo>
                <a:cubicBezTo>
                  <a:pt x="26" y="22"/>
                  <a:pt x="26" y="22"/>
                  <a:pt x="26" y="22"/>
                </a:cubicBezTo>
                <a:cubicBezTo>
                  <a:pt x="29" y="29"/>
                  <a:pt x="31" y="36"/>
                  <a:pt x="34" y="42"/>
                </a:cubicBezTo>
                <a:cubicBezTo>
                  <a:pt x="29" y="37"/>
                  <a:pt x="24" y="32"/>
                  <a:pt x="18" y="27"/>
                </a:cubicBezTo>
                <a:cubicBezTo>
                  <a:pt x="0" y="14"/>
                  <a:pt x="0" y="14"/>
                  <a:pt x="0" y="14"/>
                </a:cubicBezTo>
                <a:cubicBezTo>
                  <a:pt x="0" y="14"/>
                  <a:pt x="0" y="14"/>
                  <a:pt x="0" y="14"/>
                </a:cubicBezTo>
                <a:lnTo>
                  <a:pt x="15" y="13"/>
                </a:lnTo>
                <a:close/>
              </a:path>
            </a:pathLst>
          </a:custGeom>
          <a:solidFill>
            <a:srgbClr val="000000"/>
          </a:solidFill>
          <a:ln w="9525">
            <a:noFill/>
            <a:round/>
            <a:headEnd/>
            <a:tailEnd/>
          </a:ln>
        </p:spPr>
        <p:txBody>
          <a:bodyPr/>
          <a:lstStyle/>
          <a:p>
            <a:endParaRPr lang="en-US"/>
          </a:p>
        </p:txBody>
      </p:sp>
      <p:sp>
        <p:nvSpPr>
          <p:cNvPr id="42041" name="Rectangle 270"/>
          <p:cNvSpPr>
            <a:spLocks noChangeArrowheads="1"/>
          </p:cNvSpPr>
          <p:nvPr/>
        </p:nvSpPr>
        <p:spPr bwMode="auto">
          <a:xfrm>
            <a:off x="4249738" y="4405313"/>
            <a:ext cx="49212" cy="34925"/>
          </a:xfrm>
          <a:prstGeom prst="rect">
            <a:avLst/>
          </a:prstGeom>
          <a:solidFill>
            <a:srgbClr val="FFFFFF"/>
          </a:solidFill>
          <a:ln w="9525">
            <a:noFill/>
            <a:miter lim="800000"/>
            <a:headEnd/>
            <a:tailEnd/>
          </a:ln>
        </p:spPr>
        <p:txBody>
          <a:bodyPr/>
          <a:lstStyle/>
          <a:p>
            <a:endParaRPr lang="en-US"/>
          </a:p>
        </p:txBody>
      </p:sp>
      <p:sp>
        <p:nvSpPr>
          <p:cNvPr id="42042" name="Freeform 271"/>
          <p:cNvSpPr>
            <a:spLocks/>
          </p:cNvSpPr>
          <p:nvPr/>
        </p:nvSpPr>
        <p:spPr bwMode="auto">
          <a:xfrm>
            <a:off x="4140200" y="4351338"/>
            <a:ext cx="163513" cy="131762"/>
          </a:xfrm>
          <a:custGeom>
            <a:avLst/>
            <a:gdLst>
              <a:gd name="T0" fmla="*/ 2147483647 w 42"/>
              <a:gd name="T1" fmla="*/ 2147483647 h 34"/>
              <a:gd name="T2" fmla="*/ 2147483647 w 42"/>
              <a:gd name="T3" fmla="*/ 0 h 34"/>
              <a:gd name="T4" fmla="*/ 2147483647 w 42"/>
              <a:gd name="T5" fmla="*/ 0 h 34"/>
              <a:gd name="T6" fmla="*/ 2147483647 w 42"/>
              <a:gd name="T7" fmla="*/ 2147483647 h 34"/>
              <a:gd name="T8" fmla="*/ 2147483647 w 42"/>
              <a:gd name="T9" fmla="*/ 2147483647 h 34"/>
              <a:gd name="T10" fmla="*/ 2147483647 w 42"/>
              <a:gd name="T11" fmla="*/ 2147483647 h 34"/>
              <a:gd name="T12" fmla="*/ 0 w 42"/>
              <a:gd name="T13" fmla="*/ 2147483647 h 34"/>
              <a:gd name="T14" fmla="*/ 0 w 42"/>
              <a:gd name="T15" fmla="*/ 2147483647 h 34"/>
              <a:gd name="T16" fmla="*/ 2147483647 w 42"/>
              <a:gd name="T17" fmla="*/ 2147483647 h 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
              <a:gd name="T28" fmla="*/ 0 h 34"/>
              <a:gd name="T29" fmla="*/ 42 w 42"/>
              <a:gd name="T30" fmla="*/ 34 h 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 h="34">
                <a:moveTo>
                  <a:pt x="13" y="15"/>
                </a:moveTo>
                <a:cubicBezTo>
                  <a:pt x="14" y="0"/>
                  <a:pt x="14" y="0"/>
                  <a:pt x="14" y="0"/>
                </a:cubicBezTo>
                <a:cubicBezTo>
                  <a:pt x="14" y="0"/>
                  <a:pt x="14" y="0"/>
                  <a:pt x="14" y="0"/>
                </a:cubicBezTo>
                <a:cubicBezTo>
                  <a:pt x="27" y="18"/>
                  <a:pt x="27" y="18"/>
                  <a:pt x="27" y="18"/>
                </a:cubicBezTo>
                <a:cubicBezTo>
                  <a:pt x="32" y="23"/>
                  <a:pt x="37" y="28"/>
                  <a:pt x="42" y="34"/>
                </a:cubicBezTo>
                <a:cubicBezTo>
                  <a:pt x="36" y="31"/>
                  <a:pt x="29" y="28"/>
                  <a:pt x="22" y="26"/>
                </a:cubicBezTo>
                <a:cubicBezTo>
                  <a:pt x="0" y="22"/>
                  <a:pt x="0" y="22"/>
                  <a:pt x="0" y="22"/>
                </a:cubicBezTo>
                <a:cubicBezTo>
                  <a:pt x="0" y="21"/>
                  <a:pt x="0" y="21"/>
                  <a:pt x="0" y="21"/>
                </a:cubicBezTo>
                <a:lnTo>
                  <a:pt x="13" y="15"/>
                </a:lnTo>
                <a:close/>
              </a:path>
            </a:pathLst>
          </a:custGeom>
          <a:solidFill>
            <a:srgbClr val="000000"/>
          </a:solidFill>
          <a:ln w="9525">
            <a:noFill/>
            <a:round/>
            <a:headEnd/>
            <a:tailEnd/>
          </a:ln>
        </p:spPr>
        <p:txBody>
          <a:bodyPr/>
          <a:lstStyle/>
          <a:p>
            <a:endParaRPr lang="en-US"/>
          </a:p>
        </p:txBody>
      </p:sp>
      <p:cxnSp>
        <p:nvCxnSpPr>
          <p:cNvPr id="42043" name="Straight Connector 86"/>
          <p:cNvCxnSpPr>
            <a:cxnSpLocks noChangeShapeType="1"/>
          </p:cNvCxnSpPr>
          <p:nvPr/>
        </p:nvCxnSpPr>
        <p:spPr bwMode="auto">
          <a:xfrm>
            <a:off x="2727325" y="3487738"/>
            <a:ext cx="1503363" cy="1587"/>
          </a:xfrm>
          <a:prstGeom prst="line">
            <a:avLst/>
          </a:prstGeom>
          <a:noFill/>
          <a:ln w="22225">
            <a:solidFill>
              <a:srgbClr val="9C9C9C"/>
            </a:solidFill>
            <a:prstDash val="sysDot"/>
            <a:round/>
            <a:headEnd/>
            <a:tailEnd type="none" w="med" len="lg"/>
          </a:ln>
        </p:spPr>
      </p:cxnSp>
      <p:cxnSp>
        <p:nvCxnSpPr>
          <p:cNvPr id="42044" name="Straight Connector 86"/>
          <p:cNvCxnSpPr>
            <a:cxnSpLocks noChangeShapeType="1"/>
          </p:cNvCxnSpPr>
          <p:nvPr/>
        </p:nvCxnSpPr>
        <p:spPr bwMode="auto">
          <a:xfrm>
            <a:off x="4271963" y="3508375"/>
            <a:ext cx="0" cy="2063750"/>
          </a:xfrm>
          <a:prstGeom prst="line">
            <a:avLst/>
          </a:prstGeom>
          <a:noFill/>
          <a:ln w="22225">
            <a:solidFill>
              <a:srgbClr val="9C9C9C"/>
            </a:solidFill>
            <a:prstDash val="sysDot"/>
            <a:round/>
            <a:headEnd/>
            <a:tailEnd type="none" w="med" len="lg"/>
          </a:ln>
        </p:spPr>
      </p:cxnSp>
      <p:sp>
        <p:nvSpPr>
          <p:cNvPr id="42045" name="Oval 228"/>
          <p:cNvSpPr>
            <a:spLocks noChangeArrowheads="1"/>
          </p:cNvSpPr>
          <p:nvPr/>
        </p:nvSpPr>
        <p:spPr bwMode="auto">
          <a:xfrm>
            <a:off x="4213225" y="3436938"/>
            <a:ext cx="114300" cy="112712"/>
          </a:xfrm>
          <a:prstGeom prst="ellipse">
            <a:avLst/>
          </a:prstGeom>
          <a:solidFill>
            <a:srgbClr val="000000"/>
          </a:solidFill>
          <a:ln w="9525">
            <a:noFill/>
            <a:round/>
            <a:headEnd/>
            <a:tailEnd/>
          </a:ln>
        </p:spPr>
        <p:txBody>
          <a:bodyPr/>
          <a:lstStyle/>
          <a:p>
            <a:endParaRPr lang="en-US"/>
          </a:p>
        </p:txBody>
      </p:sp>
      <p:cxnSp>
        <p:nvCxnSpPr>
          <p:cNvPr id="42046" name="Straight Connector 86"/>
          <p:cNvCxnSpPr>
            <a:cxnSpLocks noChangeShapeType="1"/>
          </p:cNvCxnSpPr>
          <p:nvPr/>
        </p:nvCxnSpPr>
        <p:spPr bwMode="auto">
          <a:xfrm>
            <a:off x="3654425" y="3506788"/>
            <a:ext cx="0" cy="2063750"/>
          </a:xfrm>
          <a:prstGeom prst="line">
            <a:avLst/>
          </a:prstGeom>
          <a:noFill/>
          <a:ln w="22225">
            <a:solidFill>
              <a:srgbClr val="9C9C9C"/>
            </a:solidFill>
            <a:prstDash val="sysDot"/>
            <a:round/>
            <a:headEnd/>
            <a:tailEnd type="none" w="med" len="lg"/>
          </a:ln>
        </p:spPr>
      </p:cxnSp>
      <p:sp>
        <p:nvSpPr>
          <p:cNvPr id="42047" name="Oval 227"/>
          <p:cNvSpPr>
            <a:spLocks noChangeArrowheads="1"/>
          </p:cNvSpPr>
          <p:nvPr/>
        </p:nvSpPr>
        <p:spPr bwMode="auto">
          <a:xfrm>
            <a:off x="3603625" y="3436938"/>
            <a:ext cx="112713" cy="112712"/>
          </a:xfrm>
          <a:prstGeom prst="ellipse">
            <a:avLst/>
          </a:prstGeom>
          <a:solidFill>
            <a:srgbClr val="000000"/>
          </a:solidFill>
          <a:ln w="9525">
            <a:noFill/>
            <a:round/>
            <a:headEnd/>
            <a:tailEnd/>
          </a:ln>
        </p:spPr>
        <p:txBody>
          <a:bodyPr/>
          <a:lstStyle/>
          <a:p>
            <a:endParaRPr lang="en-US"/>
          </a:p>
        </p:txBody>
      </p:sp>
      <p:cxnSp>
        <p:nvCxnSpPr>
          <p:cNvPr id="42048" name="Straight Connector 86"/>
          <p:cNvCxnSpPr>
            <a:cxnSpLocks noChangeShapeType="1"/>
          </p:cNvCxnSpPr>
          <p:nvPr/>
        </p:nvCxnSpPr>
        <p:spPr bwMode="auto">
          <a:xfrm>
            <a:off x="2727325" y="4421188"/>
            <a:ext cx="1660525" cy="1587"/>
          </a:xfrm>
          <a:prstGeom prst="line">
            <a:avLst/>
          </a:prstGeom>
          <a:noFill/>
          <a:ln w="22225">
            <a:solidFill>
              <a:srgbClr val="9C9C9C"/>
            </a:solidFill>
            <a:prstDash val="sysDot"/>
            <a:round/>
            <a:headEnd/>
            <a:tailEnd type="none" w="med" len="lg"/>
          </a:ln>
        </p:spPr>
      </p:cxnSp>
      <p:cxnSp>
        <p:nvCxnSpPr>
          <p:cNvPr id="42049" name="Straight Connector 86"/>
          <p:cNvCxnSpPr>
            <a:cxnSpLocks noChangeShapeType="1"/>
          </p:cNvCxnSpPr>
          <p:nvPr/>
        </p:nvCxnSpPr>
        <p:spPr bwMode="auto">
          <a:xfrm>
            <a:off x="4387850" y="4460875"/>
            <a:ext cx="0" cy="1111250"/>
          </a:xfrm>
          <a:prstGeom prst="line">
            <a:avLst/>
          </a:prstGeom>
          <a:noFill/>
          <a:ln w="22225">
            <a:solidFill>
              <a:srgbClr val="9C9C9C"/>
            </a:solidFill>
            <a:prstDash val="sysDot"/>
            <a:round/>
            <a:headEnd/>
            <a:tailEnd type="none" w="med" len="lg"/>
          </a:ln>
        </p:spPr>
      </p:cxnSp>
      <p:sp>
        <p:nvSpPr>
          <p:cNvPr id="42050" name="Oval 229"/>
          <p:cNvSpPr>
            <a:spLocks noChangeArrowheads="1"/>
          </p:cNvSpPr>
          <p:nvPr/>
        </p:nvSpPr>
        <p:spPr bwMode="auto">
          <a:xfrm>
            <a:off x="4327525" y="4365625"/>
            <a:ext cx="112713" cy="114300"/>
          </a:xfrm>
          <a:prstGeom prst="ellipse">
            <a:avLst/>
          </a:prstGeom>
          <a:solidFill>
            <a:srgbClr val="000000"/>
          </a:solidFill>
          <a:ln w="9525">
            <a:noFill/>
            <a:round/>
            <a:headEnd/>
            <a:tailEnd/>
          </a:ln>
        </p:spPr>
        <p:txBody>
          <a:bodyPr/>
          <a:lstStyle/>
          <a:p>
            <a:endParaRPr lang="en-US"/>
          </a:p>
        </p:txBody>
      </p:sp>
      <p:sp>
        <p:nvSpPr>
          <p:cNvPr id="549155" name="TextBox 56"/>
          <p:cNvSpPr txBox="1">
            <a:spLocks noChangeArrowheads="1"/>
          </p:cNvSpPr>
          <p:nvPr/>
        </p:nvSpPr>
        <p:spPr bwMode="auto">
          <a:xfrm>
            <a:off x="4016375" y="1931988"/>
            <a:ext cx="2149475" cy="646112"/>
          </a:xfrm>
          <a:prstGeom prst="rect">
            <a:avLst/>
          </a:prstGeom>
          <a:noFill/>
          <a:ln w="9525">
            <a:noFill/>
            <a:miter lim="800000"/>
            <a:headEnd/>
            <a:tailEnd/>
          </a:ln>
        </p:spPr>
        <p:txBody>
          <a:bodyPr>
            <a:spAutoFit/>
          </a:bodyPr>
          <a:lstStyle/>
          <a:p>
            <a:pPr algn="ctr"/>
            <a:r>
              <a:rPr lang="en-US" i="1"/>
              <a:t>A shift of the demand curve…</a:t>
            </a:r>
          </a:p>
        </p:txBody>
      </p:sp>
      <p:sp>
        <p:nvSpPr>
          <p:cNvPr id="549156" name="TextBox 56"/>
          <p:cNvSpPr txBox="1">
            <a:spLocks noChangeArrowheads="1"/>
          </p:cNvSpPr>
          <p:nvPr/>
        </p:nvSpPr>
        <p:spPr bwMode="auto">
          <a:xfrm>
            <a:off x="5118100" y="3167063"/>
            <a:ext cx="2870200" cy="923925"/>
          </a:xfrm>
          <a:prstGeom prst="rect">
            <a:avLst/>
          </a:prstGeom>
          <a:noFill/>
          <a:ln w="9525">
            <a:noFill/>
            <a:miter lim="800000"/>
            <a:headEnd/>
            <a:tailEnd/>
          </a:ln>
        </p:spPr>
        <p:txBody>
          <a:bodyPr anchor="ctr">
            <a:spAutoFit/>
          </a:bodyPr>
          <a:lstStyle/>
          <a:p>
            <a:pPr algn="ctr"/>
            <a:r>
              <a:rPr lang="en-US" i="1"/>
              <a:t>… is not the same thing as a movement along the demand curve</a:t>
            </a:r>
          </a:p>
        </p:txBody>
      </p:sp>
      <p:sp>
        <p:nvSpPr>
          <p:cNvPr id="42053" name="Rectangle 293"/>
          <p:cNvSpPr>
            <a:spLocks noChangeArrowheads="1"/>
          </p:cNvSpPr>
          <p:nvPr/>
        </p:nvSpPr>
        <p:spPr bwMode="auto">
          <a:xfrm>
            <a:off x="1460500" y="1444625"/>
            <a:ext cx="869950" cy="862013"/>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Roman"/>
              </a:rPr>
              <a:t>Price of cotton (per pound)</a:t>
            </a:r>
            <a:endParaRPr lang="en-US" sz="1400" b="1"/>
          </a:p>
        </p:txBody>
      </p:sp>
      <p:sp>
        <p:nvSpPr>
          <p:cNvPr id="42054" name="Rectangle 294"/>
          <p:cNvSpPr>
            <a:spLocks noChangeArrowheads="1"/>
          </p:cNvSpPr>
          <p:nvPr/>
        </p:nvSpPr>
        <p:spPr bwMode="auto">
          <a:xfrm>
            <a:off x="5908675" y="6164263"/>
            <a:ext cx="1724025" cy="431800"/>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Roman"/>
              </a:rPr>
              <a:t>Quantity of cotton (billions of pounds)</a:t>
            </a:r>
            <a:endParaRPr lang="en-US" sz="1400" b="1"/>
          </a:p>
        </p:txBody>
      </p:sp>
      <p:sp>
        <p:nvSpPr>
          <p:cNvPr id="548867" name="Rectangle 3"/>
          <p:cNvSpPr>
            <a:spLocks noGrp="1" noChangeArrowheads="1"/>
          </p:cNvSpPr>
          <p:nvPr>
            <p:ph type="body" idx="1"/>
          </p:nvPr>
        </p:nvSpPr>
        <p:spPr>
          <a:xfrm>
            <a:off x="2630488" y="627063"/>
            <a:ext cx="6018212" cy="1073150"/>
          </a:xfrm>
          <a:solidFill>
            <a:schemeClr val="accent5">
              <a:lumMod val="20000"/>
              <a:lumOff val="80000"/>
            </a:schemeClr>
          </a:solidFill>
        </p:spPr>
        <p:txBody>
          <a:bodyPr/>
          <a:lstStyle/>
          <a:p>
            <a:pPr marL="0" indent="4763" algn="ctr">
              <a:buFont typeface="Wingdings" pitchFamily="2" charset="2"/>
              <a:buNone/>
              <a:defRPr/>
            </a:pPr>
            <a:r>
              <a:rPr lang="en-US" sz="2100" smtClean="0">
                <a:solidFill>
                  <a:srgbClr val="0033CC"/>
                </a:solidFill>
              </a:rPr>
              <a:t>A movement along the demand curve is a change in the quantity demanded of a good that is the result of a change in that good’s price.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9155"/>
                                        </p:tgtEl>
                                        <p:attrNameLst>
                                          <p:attrName>style.visibility</p:attrName>
                                        </p:attrNameLst>
                                      </p:cBhvr>
                                      <p:to>
                                        <p:strVal val="visible"/>
                                      </p:to>
                                    </p:set>
                                    <p:animEffect transition="in" filter="wipe(left)">
                                      <p:cBhvr>
                                        <p:cTn id="7" dur="500"/>
                                        <p:tgtEl>
                                          <p:spTgt spid="54915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49108"/>
                                        </p:tgtEl>
                                        <p:attrNameLst>
                                          <p:attrName>style.visibility</p:attrName>
                                        </p:attrNameLst>
                                      </p:cBhvr>
                                      <p:to>
                                        <p:strVal val="visible"/>
                                      </p:to>
                                    </p:set>
                                    <p:animEffect transition="in" filter="wipe(left)">
                                      <p:cBhvr>
                                        <p:cTn id="10" dur="500"/>
                                        <p:tgtEl>
                                          <p:spTgt spid="54910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49106"/>
                                        </p:tgtEl>
                                        <p:attrNameLst>
                                          <p:attrName>style.visibility</p:attrName>
                                        </p:attrNameLst>
                                      </p:cBhvr>
                                      <p:to>
                                        <p:strVal val="visible"/>
                                      </p:to>
                                    </p:set>
                                    <p:animEffect transition="in" filter="wipe(left)">
                                      <p:cBhvr>
                                        <p:cTn id="13" dur="500"/>
                                        <p:tgtEl>
                                          <p:spTgt spid="54910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49156"/>
                                        </p:tgtEl>
                                        <p:attrNameLst>
                                          <p:attrName>style.visibility</p:attrName>
                                        </p:attrNameLst>
                                      </p:cBhvr>
                                      <p:to>
                                        <p:strVal val="visible"/>
                                      </p:to>
                                    </p:set>
                                    <p:animEffect transition="in" filter="wipe(left)">
                                      <p:cBhvr>
                                        <p:cTn id="18" dur="500"/>
                                        <p:tgtEl>
                                          <p:spTgt spid="549156"/>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549116"/>
                                        </p:tgtEl>
                                        <p:attrNameLst>
                                          <p:attrName>style.visibility</p:attrName>
                                        </p:attrNameLst>
                                      </p:cBhvr>
                                      <p:to>
                                        <p:strVal val="visible"/>
                                      </p:to>
                                    </p:set>
                                    <p:animEffect transition="in" filter="wipe(down)">
                                      <p:cBhvr>
                                        <p:cTn id="21" dur="500"/>
                                        <p:tgtEl>
                                          <p:spTgt spid="549116"/>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49107"/>
                                        </p:tgtEl>
                                        <p:attrNameLst>
                                          <p:attrName>style.visibility</p:attrName>
                                        </p:attrNameLst>
                                      </p:cBhvr>
                                      <p:to>
                                        <p:strVal val="visible"/>
                                      </p:to>
                                    </p:set>
                                    <p:animEffect transition="in" filter="wipe(left)">
                                      <p:cBhvr>
                                        <p:cTn id="24" dur="500"/>
                                        <p:tgtEl>
                                          <p:spTgt spid="54910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48867">
                                            <p:bg/>
                                          </p:spTgt>
                                        </p:tgtEl>
                                        <p:attrNameLst>
                                          <p:attrName>style.visibility</p:attrName>
                                        </p:attrNameLst>
                                      </p:cBhvr>
                                      <p:to>
                                        <p:strVal val="visible"/>
                                      </p:to>
                                    </p:set>
                                    <p:animEffect transition="in" filter="wipe(left)">
                                      <p:cBhvr>
                                        <p:cTn id="29" dur="500"/>
                                        <p:tgtEl>
                                          <p:spTgt spid="548867">
                                            <p:bg/>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548867">
                                            <p:txEl>
                                              <p:pRg st="0" end="0"/>
                                            </p:txEl>
                                          </p:spTgt>
                                        </p:tgtEl>
                                        <p:attrNameLst>
                                          <p:attrName>style.visibility</p:attrName>
                                        </p:attrNameLst>
                                      </p:cBhvr>
                                      <p:to>
                                        <p:strVal val="visible"/>
                                      </p:to>
                                    </p:set>
                                    <p:animEffect transition="in" filter="wipe(left)">
                                      <p:cBhvr>
                                        <p:cTn id="32" dur="500"/>
                                        <p:tgtEl>
                                          <p:spTgt spid="5488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106" grpId="0" animBg="1"/>
      <p:bldP spid="549107" grpId="0" animBg="1"/>
      <p:bldP spid="549108" grpId="0" animBg="1"/>
      <p:bldP spid="549116" grpId="0" animBg="1"/>
      <p:bldP spid="549155" grpId="0"/>
      <p:bldP spid="549156" grpId="0"/>
      <p:bldP spid="548867"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0675" name="Rectangle 3"/>
          <p:cNvSpPr>
            <a:spLocks noGrp="1" noRot="1" noChangeArrowheads="1"/>
          </p:cNvSpPr>
          <p:nvPr>
            <p:ph type="title"/>
          </p:nvPr>
        </p:nvSpPr>
        <p:spPr>
          <a:xfrm>
            <a:off x="900113" y="60325"/>
            <a:ext cx="8015287" cy="555625"/>
          </a:xfrm>
        </p:spPr>
        <p:txBody>
          <a:bodyPr/>
          <a:lstStyle/>
          <a:p>
            <a:pPr>
              <a:defRPr/>
            </a:pPr>
            <a:r>
              <a:rPr lang="en-US" dirty="0"/>
              <a:t>Shifts of the Demand Curve</a:t>
            </a:r>
          </a:p>
        </p:txBody>
      </p:sp>
      <p:sp>
        <p:nvSpPr>
          <p:cNvPr id="540712" name="Text Box 40"/>
          <p:cNvSpPr txBox="1">
            <a:spLocks noChangeArrowheads="1"/>
          </p:cNvSpPr>
          <p:nvPr/>
        </p:nvSpPr>
        <p:spPr bwMode="auto">
          <a:xfrm>
            <a:off x="5076825" y="990600"/>
            <a:ext cx="3838575" cy="3097213"/>
          </a:xfrm>
          <a:prstGeom prst="rect">
            <a:avLst/>
          </a:prstGeom>
          <a:solidFill>
            <a:schemeClr val="accent5">
              <a:lumMod val="20000"/>
              <a:lumOff val="80000"/>
            </a:schemeClr>
          </a:solidFill>
          <a:ln w="57150" cmpd="thinThick" algn="ctr">
            <a:noFill/>
            <a:miter lim="800000"/>
            <a:headEnd/>
            <a:tailEnd type="none" w="sm" len="lg"/>
          </a:ln>
          <a:effectLst/>
        </p:spPr>
        <p:txBody>
          <a:bodyPr/>
          <a:lstStyle/>
          <a:p>
            <a:pPr marL="115888" lvl="1" algn="ctr">
              <a:spcBef>
                <a:spcPct val="20000"/>
              </a:spcBef>
              <a:buClr>
                <a:schemeClr val="tx1"/>
              </a:buClr>
              <a:defRPr/>
            </a:pPr>
            <a:r>
              <a:rPr lang="en-US" sz="2400" dirty="0"/>
              <a:t>A “</a:t>
            </a:r>
            <a:r>
              <a:rPr lang="en-US" sz="2400" b="1" dirty="0"/>
              <a:t>decrease in demand</a:t>
            </a:r>
            <a:r>
              <a:rPr lang="en-US" sz="2400" dirty="0"/>
              <a:t>” means a </a:t>
            </a:r>
            <a:r>
              <a:rPr lang="en-US" sz="2400" i="1" dirty="0"/>
              <a:t>leftward</a:t>
            </a:r>
            <a:r>
              <a:rPr lang="en-US" sz="2400" dirty="0"/>
              <a:t> shift of the demand curve: </a:t>
            </a:r>
            <a:br>
              <a:rPr lang="en-US" sz="2400" dirty="0"/>
            </a:br>
            <a:r>
              <a:rPr lang="en-US" sz="2400" dirty="0"/>
              <a:t>at any given price, consumers demand a smaller quantity than before. </a:t>
            </a:r>
            <a:br>
              <a:rPr lang="en-US" sz="2400" dirty="0"/>
            </a:br>
            <a:r>
              <a:rPr lang="en-US" sz="2400" dirty="0"/>
              <a:t>(D1</a:t>
            </a:r>
            <a:r>
              <a:rPr lang="en-US" sz="2400" dirty="0">
                <a:sym typeface="Wingdings" pitchFamily="2" charset="2"/>
              </a:rPr>
              <a:t>D3)</a:t>
            </a:r>
          </a:p>
          <a:p>
            <a:pPr marL="115888" lvl="1" algn="ctr">
              <a:spcBef>
                <a:spcPct val="20000"/>
              </a:spcBef>
              <a:buClr>
                <a:schemeClr val="tx1"/>
              </a:buClr>
              <a:defRPr/>
            </a:pPr>
            <a:endParaRPr lang="en-US" sz="2400" dirty="0"/>
          </a:p>
        </p:txBody>
      </p:sp>
      <p:sp>
        <p:nvSpPr>
          <p:cNvPr id="44035" name="AutoShape 76"/>
          <p:cNvSpPr>
            <a:spLocks noChangeAspect="1" noChangeArrowheads="1" noTextEdit="1"/>
          </p:cNvSpPr>
          <p:nvPr/>
        </p:nvSpPr>
        <p:spPr bwMode="auto">
          <a:xfrm>
            <a:off x="457200" y="1255713"/>
            <a:ext cx="5502275" cy="4600575"/>
          </a:xfrm>
          <a:prstGeom prst="rect">
            <a:avLst/>
          </a:prstGeom>
          <a:noFill/>
          <a:ln w="9525">
            <a:noFill/>
            <a:miter lim="800000"/>
            <a:headEnd/>
            <a:tailEnd/>
          </a:ln>
        </p:spPr>
        <p:txBody>
          <a:bodyPr/>
          <a:lstStyle/>
          <a:p>
            <a:endParaRPr lang="en-US"/>
          </a:p>
        </p:txBody>
      </p:sp>
      <p:sp>
        <p:nvSpPr>
          <p:cNvPr id="44036" name="Rectangle 79"/>
          <p:cNvSpPr>
            <a:spLocks noChangeArrowheads="1"/>
          </p:cNvSpPr>
          <p:nvPr/>
        </p:nvSpPr>
        <p:spPr bwMode="auto">
          <a:xfrm>
            <a:off x="827088" y="1484313"/>
            <a:ext cx="720725" cy="215900"/>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Roman"/>
              </a:rPr>
              <a:t>Price</a:t>
            </a:r>
            <a:endParaRPr lang="en-US" sz="1400" b="1"/>
          </a:p>
        </p:txBody>
      </p:sp>
      <p:sp>
        <p:nvSpPr>
          <p:cNvPr id="44037" name="Rectangle 84"/>
          <p:cNvSpPr>
            <a:spLocks noChangeArrowheads="1"/>
          </p:cNvSpPr>
          <p:nvPr/>
        </p:nvSpPr>
        <p:spPr bwMode="auto">
          <a:xfrm>
            <a:off x="5294313" y="5661025"/>
            <a:ext cx="717550" cy="169863"/>
          </a:xfrm>
          <a:prstGeom prst="rect">
            <a:avLst/>
          </a:prstGeom>
          <a:noFill/>
          <a:ln w="9525">
            <a:noFill/>
            <a:miter lim="800000"/>
            <a:headEnd/>
            <a:tailEnd/>
          </a:ln>
        </p:spPr>
        <p:txBody>
          <a:bodyPr wrap="none" lIns="0" tIns="0" rIns="0" bIns="0">
            <a:spAutoFit/>
          </a:bodyPr>
          <a:lstStyle/>
          <a:p>
            <a:pPr marL="1588" indent="-1588"/>
            <a:r>
              <a:rPr lang="en-US" sz="1400" b="1">
                <a:solidFill>
                  <a:srgbClr val="000000"/>
                </a:solidFill>
                <a:latin typeface="Myriad Roman"/>
              </a:rPr>
              <a:t>Quantity</a:t>
            </a:r>
            <a:endParaRPr lang="en-US" sz="1400" b="1"/>
          </a:p>
        </p:txBody>
      </p:sp>
      <p:sp>
        <p:nvSpPr>
          <p:cNvPr id="44038" name="Freeform 89"/>
          <p:cNvSpPr>
            <a:spLocks/>
          </p:cNvSpPr>
          <p:nvPr/>
        </p:nvSpPr>
        <p:spPr bwMode="auto">
          <a:xfrm>
            <a:off x="1116013" y="1773238"/>
            <a:ext cx="4968875" cy="3816350"/>
          </a:xfrm>
          <a:custGeom>
            <a:avLst/>
            <a:gdLst>
              <a:gd name="T0" fmla="*/ 2147483647 w 2963"/>
              <a:gd name="T1" fmla="*/ 2147483647 h 2547"/>
              <a:gd name="T2" fmla="*/ 0 w 2963"/>
              <a:gd name="T3" fmla="*/ 2147483647 h 2547"/>
              <a:gd name="T4" fmla="*/ 0 w 2963"/>
              <a:gd name="T5" fmla="*/ 0 h 2547"/>
              <a:gd name="T6" fmla="*/ 0 60000 65536"/>
              <a:gd name="T7" fmla="*/ 0 60000 65536"/>
              <a:gd name="T8" fmla="*/ 0 60000 65536"/>
              <a:gd name="T9" fmla="*/ 0 w 2963"/>
              <a:gd name="T10" fmla="*/ 0 h 2547"/>
              <a:gd name="T11" fmla="*/ 2963 w 2963"/>
              <a:gd name="T12" fmla="*/ 2547 h 2547"/>
            </a:gdLst>
            <a:ahLst/>
            <a:cxnLst>
              <a:cxn ang="T6">
                <a:pos x="T0" y="T1"/>
              </a:cxn>
              <a:cxn ang="T7">
                <a:pos x="T2" y="T3"/>
              </a:cxn>
              <a:cxn ang="T8">
                <a:pos x="T4" y="T5"/>
              </a:cxn>
            </a:cxnLst>
            <a:rect l="T9" t="T10" r="T11" b="T12"/>
            <a:pathLst>
              <a:path w="2963" h="2547">
                <a:moveTo>
                  <a:pt x="2963" y="2547"/>
                </a:moveTo>
                <a:lnTo>
                  <a:pt x="0" y="2547"/>
                </a:lnTo>
                <a:lnTo>
                  <a:pt x="0" y="0"/>
                </a:lnTo>
              </a:path>
            </a:pathLst>
          </a:custGeom>
          <a:noFill/>
          <a:ln w="11113" cap="flat">
            <a:solidFill>
              <a:srgbClr val="000000"/>
            </a:solidFill>
            <a:prstDash val="solid"/>
            <a:miter lim="800000"/>
            <a:headEnd/>
            <a:tailEnd/>
          </a:ln>
        </p:spPr>
        <p:txBody>
          <a:bodyPr/>
          <a:lstStyle/>
          <a:p>
            <a:endParaRPr lang="en-US"/>
          </a:p>
        </p:txBody>
      </p:sp>
      <p:sp>
        <p:nvSpPr>
          <p:cNvPr id="540762" name="Line 90"/>
          <p:cNvSpPr>
            <a:spLocks noChangeShapeType="1"/>
          </p:cNvSpPr>
          <p:nvPr/>
        </p:nvSpPr>
        <p:spPr bwMode="auto">
          <a:xfrm>
            <a:off x="1206500" y="2082800"/>
            <a:ext cx="1338263" cy="2806700"/>
          </a:xfrm>
          <a:prstGeom prst="line">
            <a:avLst/>
          </a:prstGeom>
          <a:noFill/>
          <a:ln w="44450">
            <a:solidFill>
              <a:srgbClr val="3C5DAA"/>
            </a:solidFill>
            <a:miter lim="800000"/>
            <a:headEnd/>
            <a:tailEnd/>
          </a:ln>
        </p:spPr>
        <p:txBody>
          <a:bodyPr/>
          <a:lstStyle/>
          <a:p>
            <a:endParaRPr lang="en-US"/>
          </a:p>
        </p:txBody>
      </p:sp>
      <p:sp>
        <p:nvSpPr>
          <p:cNvPr id="44040" name="Line 91"/>
          <p:cNvSpPr>
            <a:spLocks noChangeShapeType="1"/>
          </p:cNvSpPr>
          <p:nvPr/>
        </p:nvSpPr>
        <p:spPr bwMode="auto">
          <a:xfrm>
            <a:off x="2606675" y="2082800"/>
            <a:ext cx="1336675" cy="2806700"/>
          </a:xfrm>
          <a:prstGeom prst="line">
            <a:avLst/>
          </a:prstGeom>
          <a:noFill/>
          <a:ln w="44450">
            <a:solidFill>
              <a:srgbClr val="AEC5E7"/>
            </a:solidFill>
            <a:miter lim="800000"/>
            <a:headEnd/>
            <a:tailEnd/>
          </a:ln>
        </p:spPr>
        <p:txBody>
          <a:bodyPr/>
          <a:lstStyle/>
          <a:p>
            <a:endParaRPr lang="en-US"/>
          </a:p>
        </p:txBody>
      </p:sp>
      <p:sp>
        <p:nvSpPr>
          <p:cNvPr id="540764" name="Line 92"/>
          <p:cNvSpPr>
            <a:spLocks noChangeShapeType="1"/>
          </p:cNvSpPr>
          <p:nvPr/>
        </p:nvSpPr>
        <p:spPr bwMode="auto">
          <a:xfrm>
            <a:off x="4005263" y="2082800"/>
            <a:ext cx="1338262" cy="2806700"/>
          </a:xfrm>
          <a:prstGeom prst="line">
            <a:avLst/>
          </a:prstGeom>
          <a:noFill/>
          <a:ln w="44450">
            <a:solidFill>
              <a:srgbClr val="3C5DAA"/>
            </a:solidFill>
            <a:miter lim="800000"/>
            <a:headEnd/>
            <a:tailEnd/>
          </a:ln>
        </p:spPr>
        <p:txBody>
          <a:bodyPr/>
          <a:lstStyle/>
          <a:p>
            <a:endParaRPr lang="en-US"/>
          </a:p>
        </p:txBody>
      </p:sp>
      <p:sp>
        <p:nvSpPr>
          <p:cNvPr id="540765" name="Line 93"/>
          <p:cNvSpPr>
            <a:spLocks noChangeShapeType="1"/>
          </p:cNvSpPr>
          <p:nvPr/>
        </p:nvSpPr>
        <p:spPr bwMode="auto">
          <a:xfrm>
            <a:off x="3189288" y="3151188"/>
            <a:ext cx="1087437" cy="1587"/>
          </a:xfrm>
          <a:prstGeom prst="line">
            <a:avLst/>
          </a:prstGeom>
          <a:noFill/>
          <a:ln w="44450">
            <a:solidFill>
              <a:srgbClr val="000000"/>
            </a:solidFill>
            <a:miter lim="800000"/>
            <a:headEnd/>
            <a:tailEnd/>
          </a:ln>
        </p:spPr>
        <p:txBody>
          <a:bodyPr/>
          <a:lstStyle/>
          <a:p>
            <a:endParaRPr lang="en-US"/>
          </a:p>
        </p:txBody>
      </p:sp>
      <p:sp>
        <p:nvSpPr>
          <p:cNvPr id="540766" name="Freeform 94"/>
          <p:cNvSpPr>
            <a:spLocks/>
          </p:cNvSpPr>
          <p:nvPr/>
        </p:nvSpPr>
        <p:spPr bwMode="auto">
          <a:xfrm>
            <a:off x="4183063" y="3095625"/>
            <a:ext cx="169862" cy="106363"/>
          </a:xfrm>
          <a:custGeom>
            <a:avLst/>
            <a:gdLst>
              <a:gd name="T0" fmla="*/ 2147483647 w 29"/>
              <a:gd name="T1" fmla="*/ 2147483647 h 18"/>
              <a:gd name="T2" fmla="*/ 0 w 29"/>
              <a:gd name="T3" fmla="*/ 0 h 18"/>
              <a:gd name="T4" fmla="*/ 0 w 29"/>
              <a:gd name="T5" fmla="*/ 0 h 18"/>
              <a:gd name="T6" fmla="*/ 2147483647 w 29"/>
              <a:gd name="T7" fmla="*/ 2147483647 h 18"/>
              <a:gd name="T8" fmla="*/ 2147483647 w 29"/>
              <a:gd name="T9" fmla="*/ 2147483647 h 18"/>
              <a:gd name="T10" fmla="*/ 2147483647 w 29"/>
              <a:gd name="T11" fmla="*/ 2147483647 h 18"/>
              <a:gd name="T12" fmla="*/ 0 w 29"/>
              <a:gd name="T13" fmla="*/ 2147483647 h 18"/>
              <a:gd name="T14" fmla="*/ 0 w 29"/>
              <a:gd name="T15" fmla="*/ 2147483647 h 18"/>
              <a:gd name="T16" fmla="*/ 2147483647 w 29"/>
              <a:gd name="T17" fmla="*/ 2147483647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
              <a:gd name="T28" fmla="*/ 0 h 18"/>
              <a:gd name="T29" fmla="*/ 29 w 29"/>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 h="18">
                <a:moveTo>
                  <a:pt x="5" y="9"/>
                </a:moveTo>
                <a:cubicBezTo>
                  <a:pt x="0" y="0"/>
                  <a:pt x="0" y="0"/>
                  <a:pt x="0" y="0"/>
                </a:cubicBezTo>
                <a:cubicBezTo>
                  <a:pt x="0" y="0"/>
                  <a:pt x="0" y="0"/>
                  <a:pt x="0" y="0"/>
                </a:cubicBezTo>
                <a:cubicBezTo>
                  <a:pt x="15" y="6"/>
                  <a:pt x="15" y="6"/>
                  <a:pt x="15" y="6"/>
                </a:cubicBezTo>
                <a:cubicBezTo>
                  <a:pt x="19" y="7"/>
                  <a:pt x="24" y="8"/>
                  <a:pt x="29" y="9"/>
                </a:cubicBezTo>
                <a:cubicBezTo>
                  <a:pt x="24" y="10"/>
                  <a:pt x="19" y="11"/>
                  <a:pt x="15" y="12"/>
                </a:cubicBezTo>
                <a:cubicBezTo>
                  <a:pt x="0" y="18"/>
                  <a:pt x="0" y="18"/>
                  <a:pt x="0" y="18"/>
                </a:cubicBezTo>
                <a:cubicBezTo>
                  <a:pt x="0" y="18"/>
                  <a:pt x="0" y="18"/>
                  <a:pt x="0" y="18"/>
                </a:cubicBezTo>
                <a:lnTo>
                  <a:pt x="5" y="9"/>
                </a:lnTo>
                <a:close/>
              </a:path>
            </a:pathLst>
          </a:custGeom>
          <a:solidFill>
            <a:srgbClr val="000000"/>
          </a:solidFill>
          <a:ln w="9525">
            <a:noFill/>
            <a:round/>
            <a:headEnd/>
            <a:tailEnd/>
          </a:ln>
        </p:spPr>
        <p:txBody>
          <a:bodyPr/>
          <a:lstStyle/>
          <a:p>
            <a:endParaRPr lang="en-US"/>
          </a:p>
        </p:txBody>
      </p:sp>
      <p:sp>
        <p:nvSpPr>
          <p:cNvPr id="540767" name="Line 95"/>
          <p:cNvSpPr>
            <a:spLocks noChangeShapeType="1"/>
          </p:cNvSpPr>
          <p:nvPr/>
        </p:nvSpPr>
        <p:spPr bwMode="auto">
          <a:xfrm flipH="1">
            <a:off x="2262188" y="3984625"/>
            <a:ext cx="1128712" cy="1588"/>
          </a:xfrm>
          <a:prstGeom prst="line">
            <a:avLst/>
          </a:prstGeom>
          <a:noFill/>
          <a:ln w="44450">
            <a:solidFill>
              <a:srgbClr val="000000"/>
            </a:solidFill>
            <a:miter lim="800000"/>
            <a:headEnd/>
            <a:tailEnd/>
          </a:ln>
        </p:spPr>
        <p:txBody>
          <a:bodyPr/>
          <a:lstStyle/>
          <a:p>
            <a:endParaRPr lang="en-US"/>
          </a:p>
        </p:txBody>
      </p:sp>
      <p:sp>
        <p:nvSpPr>
          <p:cNvPr id="540768" name="Freeform 96"/>
          <p:cNvSpPr>
            <a:spLocks/>
          </p:cNvSpPr>
          <p:nvPr/>
        </p:nvSpPr>
        <p:spPr bwMode="auto">
          <a:xfrm>
            <a:off x="2139950" y="3929063"/>
            <a:ext cx="168275" cy="106362"/>
          </a:xfrm>
          <a:custGeom>
            <a:avLst/>
            <a:gdLst>
              <a:gd name="T0" fmla="*/ 2147483647 w 29"/>
              <a:gd name="T1" fmla="*/ 2147483647 h 18"/>
              <a:gd name="T2" fmla="*/ 2147483647 w 29"/>
              <a:gd name="T3" fmla="*/ 2147483647 h 18"/>
              <a:gd name="T4" fmla="*/ 2147483647 w 29"/>
              <a:gd name="T5" fmla="*/ 2147483647 h 18"/>
              <a:gd name="T6" fmla="*/ 2147483647 w 29"/>
              <a:gd name="T7" fmla="*/ 2147483647 h 18"/>
              <a:gd name="T8" fmla="*/ 0 w 29"/>
              <a:gd name="T9" fmla="*/ 2147483647 h 18"/>
              <a:gd name="T10" fmla="*/ 2147483647 w 29"/>
              <a:gd name="T11" fmla="*/ 2147483647 h 18"/>
              <a:gd name="T12" fmla="*/ 2147483647 w 29"/>
              <a:gd name="T13" fmla="*/ 0 h 18"/>
              <a:gd name="T14" fmla="*/ 2147483647 w 29"/>
              <a:gd name="T15" fmla="*/ 2147483647 h 18"/>
              <a:gd name="T16" fmla="*/ 2147483647 w 29"/>
              <a:gd name="T17" fmla="*/ 2147483647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
              <a:gd name="T28" fmla="*/ 0 h 18"/>
              <a:gd name="T29" fmla="*/ 29 w 29"/>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 h="18">
                <a:moveTo>
                  <a:pt x="24" y="9"/>
                </a:moveTo>
                <a:cubicBezTo>
                  <a:pt x="29" y="18"/>
                  <a:pt x="29" y="18"/>
                  <a:pt x="29" y="18"/>
                </a:cubicBezTo>
                <a:cubicBezTo>
                  <a:pt x="29" y="18"/>
                  <a:pt x="29" y="18"/>
                  <a:pt x="29" y="18"/>
                </a:cubicBezTo>
                <a:cubicBezTo>
                  <a:pt x="15" y="13"/>
                  <a:pt x="15" y="13"/>
                  <a:pt x="15" y="13"/>
                </a:cubicBezTo>
                <a:cubicBezTo>
                  <a:pt x="10" y="11"/>
                  <a:pt x="5" y="10"/>
                  <a:pt x="0" y="9"/>
                </a:cubicBezTo>
                <a:cubicBezTo>
                  <a:pt x="5" y="8"/>
                  <a:pt x="10" y="7"/>
                  <a:pt x="15" y="6"/>
                </a:cubicBezTo>
                <a:cubicBezTo>
                  <a:pt x="29" y="0"/>
                  <a:pt x="29" y="0"/>
                  <a:pt x="29" y="0"/>
                </a:cubicBezTo>
                <a:cubicBezTo>
                  <a:pt x="29" y="1"/>
                  <a:pt x="29" y="1"/>
                  <a:pt x="29" y="1"/>
                </a:cubicBezTo>
                <a:lnTo>
                  <a:pt x="24" y="9"/>
                </a:lnTo>
                <a:close/>
              </a:path>
            </a:pathLst>
          </a:custGeom>
          <a:solidFill>
            <a:srgbClr val="000000"/>
          </a:solidFill>
          <a:ln w="9525">
            <a:noFill/>
            <a:round/>
            <a:headEnd/>
            <a:tailEnd/>
          </a:ln>
        </p:spPr>
        <p:txBody>
          <a:bodyPr/>
          <a:lstStyle/>
          <a:p>
            <a:endParaRPr lang="en-US"/>
          </a:p>
        </p:txBody>
      </p:sp>
      <p:sp>
        <p:nvSpPr>
          <p:cNvPr id="540769" name="Rectangle 97"/>
          <p:cNvSpPr>
            <a:spLocks noChangeArrowheads="1"/>
          </p:cNvSpPr>
          <p:nvPr/>
        </p:nvSpPr>
        <p:spPr bwMode="auto">
          <a:xfrm>
            <a:off x="2487613" y="491331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p>
        </p:txBody>
      </p:sp>
      <p:sp>
        <p:nvSpPr>
          <p:cNvPr id="540770" name="Rectangle 98"/>
          <p:cNvSpPr>
            <a:spLocks noChangeArrowheads="1"/>
          </p:cNvSpPr>
          <p:nvPr/>
        </p:nvSpPr>
        <p:spPr bwMode="auto">
          <a:xfrm>
            <a:off x="2606675" y="5019675"/>
            <a:ext cx="10001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3</a:t>
            </a:r>
            <a:endParaRPr lang="en-US" sz="1400" i="1"/>
          </a:p>
        </p:txBody>
      </p:sp>
      <p:sp>
        <p:nvSpPr>
          <p:cNvPr id="44048" name="Rectangle 99"/>
          <p:cNvSpPr>
            <a:spLocks noChangeArrowheads="1"/>
          </p:cNvSpPr>
          <p:nvPr/>
        </p:nvSpPr>
        <p:spPr bwMode="auto">
          <a:xfrm>
            <a:off x="3889375" y="491331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p>
        </p:txBody>
      </p:sp>
      <p:sp>
        <p:nvSpPr>
          <p:cNvPr id="44049" name="Rectangle 100"/>
          <p:cNvSpPr>
            <a:spLocks noChangeArrowheads="1"/>
          </p:cNvSpPr>
          <p:nvPr/>
        </p:nvSpPr>
        <p:spPr bwMode="auto">
          <a:xfrm>
            <a:off x="3995738" y="501332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540773" name="Rectangle 101"/>
          <p:cNvSpPr>
            <a:spLocks noChangeArrowheads="1"/>
          </p:cNvSpPr>
          <p:nvPr/>
        </p:nvSpPr>
        <p:spPr bwMode="auto">
          <a:xfrm>
            <a:off x="5294313" y="491331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p>
        </p:txBody>
      </p:sp>
      <p:sp>
        <p:nvSpPr>
          <p:cNvPr id="540774" name="Rectangle 102"/>
          <p:cNvSpPr>
            <a:spLocks noChangeArrowheads="1"/>
          </p:cNvSpPr>
          <p:nvPr/>
        </p:nvSpPr>
        <p:spPr bwMode="auto">
          <a:xfrm>
            <a:off x="5413375" y="5019675"/>
            <a:ext cx="10001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2</a:t>
            </a:r>
            <a:endParaRPr lang="en-US" sz="1400" i="1"/>
          </a:p>
        </p:txBody>
      </p:sp>
      <p:sp>
        <p:nvSpPr>
          <p:cNvPr id="540775" name="Freeform 103"/>
          <p:cNvSpPr>
            <a:spLocks/>
          </p:cNvSpPr>
          <p:nvPr/>
        </p:nvSpPr>
        <p:spPr bwMode="auto">
          <a:xfrm>
            <a:off x="2411413" y="4113213"/>
            <a:ext cx="1008062" cy="554037"/>
          </a:xfrm>
          <a:custGeom>
            <a:avLst/>
            <a:gdLst>
              <a:gd name="T0" fmla="*/ 2147483647 w 173"/>
              <a:gd name="T1" fmla="*/ 2147483647 h 94"/>
              <a:gd name="T2" fmla="*/ 2147483647 w 173"/>
              <a:gd name="T3" fmla="*/ 2147483647 h 94"/>
              <a:gd name="T4" fmla="*/ 2147483647 w 173"/>
              <a:gd name="T5" fmla="*/ 2147483647 h 94"/>
              <a:gd name="T6" fmla="*/ 0 w 173"/>
              <a:gd name="T7" fmla="*/ 2147483647 h 94"/>
              <a:gd name="T8" fmla="*/ 0 w 173"/>
              <a:gd name="T9" fmla="*/ 2147483647 h 94"/>
              <a:gd name="T10" fmla="*/ 2147483647 w 173"/>
              <a:gd name="T11" fmla="*/ 0 h 94"/>
              <a:gd name="T12" fmla="*/ 2147483647 w 173"/>
              <a:gd name="T13" fmla="*/ 0 h 94"/>
              <a:gd name="T14" fmla="*/ 2147483647 w 173"/>
              <a:gd name="T15" fmla="*/ 2147483647 h 94"/>
              <a:gd name="T16" fmla="*/ 2147483647 w 173"/>
              <a:gd name="T17" fmla="*/ 2147483647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3"/>
              <a:gd name="T28" fmla="*/ 0 h 94"/>
              <a:gd name="T29" fmla="*/ 173 w 173"/>
              <a:gd name="T30" fmla="*/ 94 h 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3" h="94">
                <a:moveTo>
                  <a:pt x="173" y="85"/>
                </a:moveTo>
                <a:cubicBezTo>
                  <a:pt x="173" y="90"/>
                  <a:pt x="168" y="94"/>
                  <a:pt x="163" y="94"/>
                </a:cubicBezTo>
                <a:cubicBezTo>
                  <a:pt x="11" y="94"/>
                  <a:pt x="11" y="94"/>
                  <a:pt x="11" y="94"/>
                </a:cubicBezTo>
                <a:cubicBezTo>
                  <a:pt x="5" y="94"/>
                  <a:pt x="0" y="90"/>
                  <a:pt x="0" y="85"/>
                </a:cubicBezTo>
                <a:cubicBezTo>
                  <a:pt x="0" y="8"/>
                  <a:pt x="0" y="8"/>
                  <a:pt x="0" y="8"/>
                </a:cubicBezTo>
                <a:cubicBezTo>
                  <a:pt x="0" y="3"/>
                  <a:pt x="5" y="0"/>
                  <a:pt x="11" y="0"/>
                </a:cubicBezTo>
                <a:cubicBezTo>
                  <a:pt x="163" y="0"/>
                  <a:pt x="163" y="0"/>
                  <a:pt x="163" y="0"/>
                </a:cubicBezTo>
                <a:cubicBezTo>
                  <a:pt x="168" y="0"/>
                  <a:pt x="173" y="3"/>
                  <a:pt x="173" y="8"/>
                </a:cubicBezTo>
                <a:lnTo>
                  <a:pt x="173" y="85"/>
                </a:lnTo>
                <a:close/>
              </a:path>
            </a:pathLst>
          </a:custGeom>
          <a:solidFill>
            <a:srgbClr val="D6E2E0"/>
          </a:solidFill>
          <a:ln w="9525">
            <a:noFill/>
            <a:round/>
            <a:headEnd/>
            <a:tailEnd/>
          </a:ln>
        </p:spPr>
        <p:txBody>
          <a:bodyPr/>
          <a:lstStyle/>
          <a:p>
            <a:endParaRPr lang="en-US"/>
          </a:p>
        </p:txBody>
      </p:sp>
      <p:sp>
        <p:nvSpPr>
          <p:cNvPr id="540781" name="Freeform 109"/>
          <p:cNvSpPr>
            <a:spLocks/>
          </p:cNvSpPr>
          <p:nvPr/>
        </p:nvSpPr>
        <p:spPr bwMode="auto">
          <a:xfrm>
            <a:off x="3209925" y="2495550"/>
            <a:ext cx="1001713" cy="561975"/>
          </a:xfrm>
          <a:custGeom>
            <a:avLst/>
            <a:gdLst>
              <a:gd name="T0" fmla="*/ 2147483647 w 172"/>
              <a:gd name="T1" fmla="*/ 2147483647 h 95"/>
              <a:gd name="T2" fmla="*/ 2147483647 w 172"/>
              <a:gd name="T3" fmla="*/ 2147483647 h 95"/>
              <a:gd name="T4" fmla="*/ 2147483647 w 172"/>
              <a:gd name="T5" fmla="*/ 2147483647 h 95"/>
              <a:gd name="T6" fmla="*/ 0 w 172"/>
              <a:gd name="T7" fmla="*/ 2147483647 h 95"/>
              <a:gd name="T8" fmla="*/ 0 w 172"/>
              <a:gd name="T9" fmla="*/ 2147483647 h 95"/>
              <a:gd name="T10" fmla="*/ 2147483647 w 172"/>
              <a:gd name="T11" fmla="*/ 0 h 95"/>
              <a:gd name="T12" fmla="*/ 2147483647 w 172"/>
              <a:gd name="T13" fmla="*/ 0 h 95"/>
              <a:gd name="T14" fmla="*/ 2147483647 w 172"/>
              <a:gd name="T15" fmla="*/ 2147483647 h 95"/>
              <a:gd name="T16" fmla="*/ 2147483647 w 172"/>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2"/>
              <a:gd name="T28" fmla="*/ 0 h 95"/>
              <a:gd name="T29" fmla="*/ 172 w 172"/>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2" h="95">
                <a:moveTo>
                  <a:pt x="172" y="86"/>
                </a:moveTo>
                <a:cubicBezTo>
                  <a:pt x="172" y="91"/>
                  <a:pt x="168" y="95"/>
                  <a:pt x="162" y="95"/>
                </a:cubicBezTo>
                <a:cubicBezTo>
                  <a:pt x="10" y="95"/>
                  <a:pt x="10" y="95"/>
                  <a:pt x="10" y="95"/>
                </a:cubicBezTo>
                <a:cubicBezTo>
                  <a:pt x="4" y="95"/>
                  <a:pt x="0" y="91"/>
                  <a:pt x="0" y="86"/>
                </a:cubicBezTo>
                <a:cubicBezTo>
                  <a:pt x="0" y="9"/>
                  <a:pt x="0" y="9"/>
                  <a:pt x="0" y="9"/>
                </a:cubicBezTo>
                <a:cubicBezTo>
                  <a:pt x="0" y="4"/>
                  <a:pt x="4" y="0"/>
                  <a:pt x="10" y="0"/>
                </a:cubicBezTo>
                <a:cubicBezTo>
                  <a:pt x="162" y="0"/>
                  <a:pt x="162" y="0"/>
                  <a:pt x="162" y="0"/>
                </a:cubicBezTo>
                <a:cubicBezTo>
                  <a:pt x="168" y="0"/>
                  <a:pt x="172" y="4"/>
                  <a:pt x="172" y="9"/>
                </a:cubicBezTo>
                <a:lnTo>
                  <a:pt x="172" y="86"/>
                </a:lnTo>
                <a:close/>
              </a:path>
            </a:pathLst>
          </a:custGeom>
          <a:solidFill>
            <a:srgbClr val="D6E2E0"/>
          </a:solidFill>
          <a:ln w="9525">
            <a:noFill/>
            <a:round/>
            <a:headEnd/>
            <a:tailEnd/>
          </a:ln>
        </p:spPr>
        <p:txBody>
          <a:bodyPr/>
          <a:lstStyle/>
          <a:p>
            <a:endParaRPr lang="en-US"/>
          </a:p>
        </p:txBody>
      </p:sp>
      <p:sp>
        <p:nvSpPr>
          <p:cNvPr id="540743" name="TextBox 56"/>
          <p:cNvSpPr txBox="1">
            <a:spLocks noChangeArrowheads="1"/>
          </p:cNvSpPr>
          <p:nvPr/>
        </p:nvSpPr>
        <p:spPr bwMode="auto">
          <a:xfrm>
            <a:off x="3241675" y="2517775"/>
            <a:ext cx="969963" cy="523875"/>
          </a:xfrm>
          <a:prstGeom prst="rect">
            <a:avLst/>
          </a:prstGeom>
          <a:noFill/>
          <a:ln w="9525">
            <a:noFill/>
            <a:miter lim="800000"/>
            <a:headEnd/>
            <a:tailEnd/>
          </a:ln>
        </p:spPr>
        <p:txBody>
          <a:bodyPr anchor="ctr">
            <a:spAutoFit/>
          </a:bodyPr>
          <a:lstStyle/>
          <a:p>
            <a:pPr algn="ctr"/>
            <a:r>
              <a:rPr lang="en-US" sz="1400" i="1"/>
              <a:t>Increase in demand</a:t>
            </a:r>
          </a:p>
        </p:txBody>
      </p:sp>
      <p:sp>
        <p:nvSpPr>
          <p:cNvPr id="540741" name="TextBox 56"/>
          <p:cNvSpPr txBox="1">
            <a:spLocks noChangeArrowheads="1"/>
          </p:cNvSpPr>
          <p:nvPr/>
        </p:nvSpPr>
        <p:spPr bwMode="auto">
          <a:xfrm>
            <a:off x="2376488" y="4119563"/>
            <a:ext cx="1057275" cy="523875"/>
          </a:xfrm>
          <a:prstGeom prst="rect">
            <a:avLst/>
          </a:prstGeom>
          <a:noFill/>
          <a:ln w="9525">
            <a:noFill/>
            <a:miter lim="800000"/>
            <a:headEnd/>
            <a:tailEnd/>
          </a:ln>
        </p:spPr>
        <p:txBody>
          <a:bodyPr anchor="ctr">
            <a:spAutoFit/>
          </a:bodyPr>
          <a:lstStyle/>
          <a:p>
            <a:pPr algn="ctr"/>
            <a:r>
              <a:rPr lang="en-US" sz="1400" i="1"/>
              <a:t>Decrease in demand</a:t>
            </a:r>
          </a:p>
        </p:txBody>
      </p:sp>
      <p:sp>
        <p:nvSpPr>
          <p:cNvPr id="540787" name="Text Box 115"/>
          <p:cNvSpPr txBox="1">
            <a:spLocks noChangeArrowheads="1"/>
          </p:cNvSpPr>
          <p:nvPr/>
        </p:nvSpPr>
        <p:spPr bwMode="auto">
          <a:xfrm>
            <a:off x="5076825" y="990600"/>
            <a:ext cx="3838575" cy="3044825"/>
          </a:xfrm>
          <a:prstGeom prst="rect">
            <a:avLst/>
          </a:prstGeom>
          <a:solidFill>
            <a:schemeClr val="accent5">
              <a:lumMod val="20000"/>
              <a:lumOff val="80000"/>
            </a:schemeClr>
          </a:solidFill>
          <a:ln w="57150" cmpd="thinThick" algn="ctr">
            <a:noFill/>
            <a:miter lim="800000"/>
            <a:headEnd/>
            <a:tailEnd type="none" w="sm" len="lg"/>
          </a:ln>
          <a:effectLst/>
        </p:spPr>
        <p:txBody>
          <a:bodyPr anchor="ctr"/>
          <a:lstStyle/>
          <a:p>
            <a:pPr marL="115888" lvl="1" algn="ctr">
              <a:spcBef>
                <a:spcPct val="20000"/>
              </a:spcBef>
              <a:buClr>
                <a:schemeClr val="tx1"/>
              </a:buClr>
              <a:defRPr/>
            </a:pPr>
            <a:r>
              <a:rPr lang="en-US" sz="2400" dirty="0"/>
              <a:t>An “</a:t>
            </a:r>
            <a:r>
              <a:rPr lang="en-US" sz="2400" b="1" dirty="0"/>
              <a:t>increase in demand”</a:t>
            </a:r>
            <a:r>
              <a:rPr lang="en-US" sz="2400" dirty="0"/>
              <a:t> means a </a:t>
            </a:r>
            <a:r>
              <a:rPr lang="en-US" sz="2400" i="1" dirty="0"/>
              <a:t>rightward</a:t>
            </a:r>
            <a:r>
              <a:rPr lang="en-US" sz="2400" dirty="0"/>
              <a:t> shift of the demand curve: </a:t>
            </a:r>
            <a:br>
              <a:rPr lang="en-US" sz="2400" dirty="0"/>
            </a:br>
            <a:r>
              <a:rPr lang="en-US" sz="2400" dirty="0"/>
              <a:t>at any given price, consumers demand a larger quantity than before.  (</a:t>
            </a:r>
            <a:r>
              <a:rPr lang="en-US" sz="2400" i="1" dirty="0"/>
              <a:t>D</a:t>
            </a:r>
            <a:r>
              <a:rPr lang="en-US" sz="2400" i="1" baseline="-25000" dirty="0"/>
              <a:t>1</a:t>
            </a:r>
            <a:r>
              <a:rPr lang="en-US" sz="2400" dirty="0">
                <a:sym typeface="Wingdings" pitchFamily="2" charset="2"/>
              </a:rPr>
              <a:t></a:t>
            </a:r>
            <a:r>
              <a:rPr lang="en-US" sz="2400" i="1" dirty="0">
                <a:sym typeface="Wingdings" pitchFamily="2" charset="2"/>
              </a:rPr>
              <a:t>D</a:t>
            </a:r>
            <a:r>
              <a:rPr lang="en-US" sz="2400" i="1" baseline="-25000" dirty="0">
                <a:sym typeface="Wingdings" pitchFamily="2" charset="2"/>
              </a:rPr>
              <a:t>2</a:t>
            </a:r>
            <a:r>
              <a:rPr lang="en-US" sz="2400" dirty="0">
                <a:sym typeface="Wingdings" pitchFamily="2" charset="2"/>
              </a:rPr>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40712"/>
                                        </p:tgtEl>
                                        <p:attrNameLst>
                                          <p:attrName>style.visibility</p:attrName>
                                        </p:attrNameLst>
                                      </p:cBhvr>
                                      <p:to>
                                        <p:strVal val="visible"/>
                                      </p:to>
                                    </p:set>
                                    <p:animEffect transition="in" filter="box(in)">
                                      <p:cBhvr>
                                        <p:cTn id="7" dur="500"/>
                                        <p:tgtEl>
                                          <p:spTgt spid="540712"/>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540767"/>
                                        </p:tgtEl>
                                        <p:attrNameLst>
                                          <p:attrName>style.visibility</p:attrName>
                                        </p:attrNameLst>
                                      </p:cBhvr>
                                      <p:to>
                                        <p:strVal val="visible"/>
                                      </p:to>
                                    </p:set>
                                    <p:animEffect transition="in" filter="wipe(right)">
                                      <p:cBhvr>
                                        <p:cTn id="11" dur="500"/>
                                        <p:tgtEl>
                                          <p:spTgt spid="540767"/>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540768"/>
                                        </p:tgtEl>
                                        <p:attrNameLst>
                                          <p:attrName>style.visibility</p:attrName>
                                        </p:attrNameLst>
                                      </p:cBhvr>
                                      <p:to>
                                        <p:strVal val="visible"/>
                                      </p:to>
                                    </p:set>
                                    <p:animEffect transition="in" filter="wipe(right)">
                                      <p:cBhvr>
                                        <p:cTn id="15" dur="500"/>
                                        <p:tgtEl>
                                          <p:spTgt spid="540768"/>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540775"/>
                                        </p:tgtEl>
                                        <p:attrNameLst>
                                          <p:attrName>style.visibility</p:attrName>
                                        </p:attrNameLst>
                                      </p:cBhvr>
                                      <p:to>
                                        <p:strVal val="visible"/>
                                      </p:to>
                                    </p:set>
                                    <p:animEffect transition="in" filter="wipe(right)">
                                      <p:cBhvr>
                                        <p:cTn id="19" dur="500"/>
                                        <p:tgtEl>
                                          <p:spTgt spid="540775"/>
                                        </p:tgtEl>
                                      </p:cBhvr>
                                    </p:animEffect>
                                  </p:childTnLst>
                                </p:cTn>
                              </p:par>
                            </p:childTnLst>
                          </p:cTn>
                        </p:par>
                        <p:par>
                          <p:cTn id="20" fill="hold">
                            <p:stCondLst>
                              <p:cond delay="2000"/>
                            </p:stCondLst>
                            <p:childTnLst>
                              <p:par>
                                <p:cTn id="21" presetID="22" presetClass="entr" presetSubtype="2" fill="hold" grpId="0" nodeType="afterEffect">
                                  <p:stCondLst>
                                    <p:cond delay="0"/>
                                  </p:stCondLst>
                                  <p:childTnLst>
                                    <p:set>
                                      <p:cBhvr>
                                        <p:cTn id="22" dur="1" fill="hold">
                                          <p:stCondLst>
                                            <p:cond delay="0"/>
                                          </p:stCondLst>
                                        </p:cTn>
                                        <p:tgtEl>
                                          <p:spTgt spid="540741"/>
                                        </p:tgtEl>
                                        <p:attrNameLst>
                                          <p:attrName>style.visibility</p:attrName>
                                        </p:attrNameLst>
                                      </p:cBhvr>
                                      <p:to>
                                        <p:strVal val="visible"/>
                                      </p:to>
                                    </p:set>
                                    <p:animEffect transition="in" filter="wipe(right)">
                                      <p:cBhvr>
                                        <p:cTn id="23" dur="500"/>
                                        <p:tgtEl>
                                          <p:spTgt spid="540741"/>
                                        </p:tgtEl>
                                      </p:cBhvr>
                                    </p:animEffect>
                                  </p:childTnLst>
                                </p:cTn>
                              </p:par>
                            </p:childTnLst>
                          </p:cTn>
                        </p:par>
                        <p:par>
                          <p:cTn id="24" fill="hold">
                            <p:stCondLst>
                              <p:cond delay="2500"/>
                            </p:stCondLst>
                            <p:childTnLst>
                              <p:par>
                                <p:cTn id="25" presetID="22" presetClass="entr" presetSubtype="2" fill="hold" grpId="0" nodeType="afterEffect">
                                  <p:stCondLst>
                                    <p:cond delay="0"/>
                                  </p:stCondLst>
                                  <p:childTnLst>
                                    <p:set>
                                      <p:cBhvr>
                                        <p:cTn id="26" dur="1" fill="hold">
                                          <p:stCondLst>
                                            <p:cond delay="0"/>
                                          </p:stCondLst>
                                        </p:cTn>
                                        <p:tgtEl>
                                          <p:spTgt spid="540762"/>
                                        </p:tgtEl>
                                        <p:attrNameLst>
                                          <p:attrName>style.visibility</p:attrName>
                                        </p:attrNameLst>
                                      </p:cBhvr>
                                      <p:to>
                                        <p:strVal val="visible"/>
                                      </p:to>
                                    </p:set>
                                    <p:animEffect transition="in" filter="wipe(right)">
                                      <p:cBhvr>
                                        <p:cTn id="27" dur="500"/>
                                        <p:tgtEl>
                                          <p:spTgt spid="540762"/>
                                        </p:tgtEl>
                                      </p:cBhvr>
                                    </p:animEffect>
                                  </p:childTnLst>
                                </p:cTn>
                              </p:par>
                            </p:childTnLst>
                          </p:cTn>
                        </p:par>
                        <p:par>
                          <p:cTn id="28" fill="hold">
                            <p:stCondLst>
                              <p:cond delay="3000"/>
                            </p:stCondLst>
                            <p:childTnLst>
                              <p:par>
                                <p:cTn id="29" presetID="22" presetClass="entr" presetSubtype="2" fill="hold" grpId="0" nodeType="afterEffect">
                                  <p:stCondLst>
                                    <p:cond delay="0"/>
                                  </p:stCondLst>
                                  <p:childTnLst>
                                    <p:set>
                                      <p:cBhvr>
                                        <p:cTn id="30" dur="1" fill="hold">
                                          <p:stCondLst>
                                            <p:cond delay="0"/>
                                          </p:stCondLst>
                                        </p:cTn>
                                        <p:tgtEl>
                                          <p:spTgt spid="540769"/>
                                        </p:tgtEl>
                                        <p:attrNameLst>
                                          <p:attrName>style.visibility</p:attrName>
                                        </p:attrNameLst>
                                      </p:cBhvr>
                                      <p:to>
                                        <p:strVal val="visible"/>
                                      </p:to>
                                    </p:set>
                                    <p:animEffect transition="in" filter="wipe(right)">
                                      <p:cBhvr>
                                        <p:cTn id="31" dur="500"/>
                                        <p:tgtEl>
                                          <p:spTgt spid="540769"/>
                                        </p:tgtEl>
                                      </p:cBhvr>
                                    </p:animEffect>
                                  </p:childTnLst>
                                </p:cTn>
                              </p:par>
                            </p:childTnLst>
                          </p:cTn>
                        </p:par>
                        <p:par>
                          <p:cTn id="32" fill="hold">
                            <p:stCondLst>
                              <p:cond delay="3500"/>
                            </p:stCondLst>
                            <p:childTnLst>
                              <p:par>
                                <p:cTn id="33" presetID="22" presetClass="entr" presetSubtype="2" fill="hold" grpId="0" nodeType="afterEffect">
                                  <p:stCondLst>
                                    <p:cond delay="0"/>
                                  </p:stCondLst>
                                  <p:childTnLst>
                                    <p:set>
                                      <p:cBhvr>
                                        <p:cTn id="34" dur="1" fill="hold">
                                          <p:stCondLst>
                                            <p:cond delay="0"/>
                                          </p:stCondLst>
                                        </p:cTn>
                                        <p:tgtEl>
                                          <p:spTgt spid="540770"/>
                                        </p:tgtEl>
                                        <p:attrNameLst>
                                          <p:attrName>style.visibility</p:attrName>
                                        </p:attrNameLst>
                                      </p:cBhvr>
                                      <p:to>
                                        <p:strVal val="visible"/>
                                      </p:to>
                                    </p:set>
                                    <p:animEffect transition="in" filter="wipe(right)">
                                      <p:cBhvr>
                                        <p:cTn id="35" dur="500"/>
                                        <p:tgtEl>
                                          <p:spTgt spid="540770"/>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540787"/>
                                        </p:tgtEl>
                                        <p:attrNameLst>
                                          <p:attrName>style.visibility</p:attrName>
                                        </p:attrNameLst>
                                      </p:cBhvr>
                                      <p:to>
                                        <p:strVal val="visible"/>
                                      </p:to>
                                    </p:set>
                                    <p:animEffect transition="in" filter="box(in)">
                                      <p:cBhvr>
                                        <p:cTn id="40" dur="500"/>
                                        <p:tgtEl>
                                          <p:spTgt spid="540787"/>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540765"/>
                                        </p:tgtEl>
                                        <p:attrNameLst>
                                          <p:attrName>style.visibility</p:attrName>
                                        </p:attrNameLst>
                                      </p:cBhvr>
                                      <p:to>
                                        <p:strVal val="visible"/>
                                      </p:to>
                                    </p:set>
                                    <p:animEffect transition="in" filter="wipe(left)">
                                      <p:cBhvr>
                                        <p:cTn id="44" dur="500"/>
                                        <p:tgtEl>
                                          <p:spTgt spid="540765"/>
                                        </p:tgtEl>
                                      </p:cBhvr>
                                    </p:animEffect>
                                  </p:childTnLst>
                                </p:cTn>
                              </p:par>
                            </p:childTnLst>
                          </p:cTn>
                        </p:par>
                        <p:par>
                          <p:cTn id="45" fill="hold">
                            <p:stCondLst>
                              <p:cond delay="1000"/>
                            </p:stCondLst>
                            <p:childTnLst>
                              <p:par>
                                <p:cTn id="46" presetID="22" presetClass="entr" presetSubtype="8" fill="hold" grpId="0" nodeType="afterEffect">
                                  <p:stCondLst>
                                    <p:cond delay="0"/>
                                  </p:stCondLst>
                                  <p:childTnLst>
                                    <p:set>
                                      <p:cBhvr>
                                        <p:cTn id="47" dur="1" fill="hold">
                                          <p:stCondLst>
                                            <p:cond delay="0"/>
                                          </p:stCondLst>
                                        </p:cTn>
                                        <p:tgtEl>
                                          <p:spTgt spid="540766"/>
                                        </p:tgtEl>
                                        <p:attrNameLst>
                                          <p:attrName>style.visibility</p:attrName>
                                        </p:attrNameLst>
                                      </p:cBhvr>
                                      <p:to>
                                        <p:strVal val="visible"/>
                                      </p:to>
                                    </p:set>
                                    <p:animEffect transition="in" filter="wipe(left)">
                                      <p:cBhvr>
                                        <p:cTn id="48" dur="500"/>
                                        <p:tgtEl>
                                          <p:spTgt spid="540766"/>
                                        </p:tgtEl>
                                      </p:cBhvr>
                                    </p:animEffect>
                                  </p:childTnLst>
                                </p:cTn>
                              </p:par>
                            </p:childTnLst>
                          </p:cTn>
                        </p:par>
                        <p:par>
                          <p:cTn id="49" fill="hold">
                            <p:stCondLst>
                              <p:cond delay="1500"/>
                            </p:stCondLst>
                            <p:childTnLst>
                              <p:par>
                                <p:cTn id="50" presetID="22" presetClass="entr" presetSubtype="8" fill="hold" grpId="0" nodeType="afterEffect">
                                  <p:stCondLst>
                                    <p:cond delay="0"/>
                                  </p:stCondLst>
                                  <p:childTnLst>
                                    <p:set>
                                      <p:cBhvr>
                                        <p:cTn id="51" dur="1" fill="hold">
                                          <p:stCondLst>
                                            <p:cond delay="0"/>
                                          </p:stCondLst>
                                        </p:cTn>
                                        <p:tgtEl>
                                          <p:spTgt spid="540781"/>
                                        </p:tgtEl>
                                        <p:attrNameLst>
                                          <p:attrName>style.visibility</p:attrName>
                                        </p:attrNameLst>
                                      </p:cBhvr>
                                      <p:to>
                                        <p:strVal val="visible"/>
                                      </p:to>
                                    </p:set>
                                    <p:animEffect transition="in" filter="wipe(left)">
                                      <p:cBhvr>
                                        <p:cTn id="52" dur="500"/>
                                        <p:tgtEl>
                                          <p:spTgt spid="540781"/>
                                        </p:tgtEl>
                                      </p:cBhvr>
                                    </p:animEffect>
                                  </p:childTnLst>
                                </p:cTn>
                              </p:par>
                            </p:childTnLst>
                          </p:cTn>
                        </p:par>
                        <p:par>
                          <p:cTn id="53" fill="hold">
                            <p:stCondLst>
                              <p:cond delay="2000"/>
                            </p:stCondLst>
                            <p:childTnLst>
                              <p:par>
                                <p:cTn id="54" presetID="22" presetClass="entr" presetSubtype="8" fill="hold" grpId="0" nodeType="afterEffect">
                                  <p:stCondLst>
                                    <p:cond delay="0"/>
                                  </p:stCondLst>
                                  <p:childTnLst>
                                    <p:set>
                                      <p:cBhvr>
                                        <p:cTn id="55" dur="1" fill="hold">
                                          <p:stCondLst>
                                            <p:cond delay="0"/>
                                          </p:stCondLst>
                                        </p:cTn>
                                        <p:tgtEl>
                                          <p:spTgt spid="540743"/>
                                        </p:tgtEl>
                                        <p:attrNameLst>
                                          <p:attrName>style.visibility</p:attrName>
                                        </p:attrNameLst>
                                      </p:cBhvr>
                                      <p:to>
                                        <p:strVal val="visible"/>
                                      </p:to>
                                    </p:set>
                                    <p:animEffect transition="in" filter="wipe(left)">
                                      <p:cBhvr>
                                        <p:cTn id="56" dur="500"/>
                                        <p:tgtEl>
                                          <p:spTgt spid="540743"/>
                                        </p:tgtEl>
                                      </p:cBhvr>
                                    </p:animEffect>
                                  </p:childTnLst>
                                </p:cTn>
                              </p:par>
                            </p:childTnLst>
                          </p:cTn>
                        </p:par>
                        <p:par>
                          <p:cTn id="57" fill="hold">
                            <p:stCondLst>
                              <p:cond delay="2500"/>
                            </p:stCondLst>
                            <p:childTnLst>
                              <p:par>
                                <p:cTn id="58" presetID="22" presetClass="entr" presetSubtype="8" fill="hold" grpId="0" nodeType="afterEffect">
                                  <p:stCondLst>
                                    <p:cond delay="0"/>
                                  </p:stCondLst>
                                  <p:childTnLst>
                                    <p:set>
                                      <p:cBhvr>
                                        <p:cTn id="59" dur="1" fill="hold">
                                          <p:stCondLst>
                                            <p:cond delay="0"/>
                                          </p:stCondLst>
                                        </p:cTn>
                                        <p:tgtEl>
                                          <p:spTgt spid="540764"/>
                                        </p:tgtEl>
                                        <p:attrNameLst>
                                          <p:attrName>style.visibility</p:attrName>
                                        </p:attrNameLst>
                                      </p:cBhvr>
                                      <p:to>
                                        <p:strVal val="visible"/>
                                      </p:to>
                                    </p:set>
                                    <p:animEffect transition="in" filter="wipe(left)">
                                      <p:cBhvr>
                                        <p:cTn id="60" dur="500"/>
                                        <p:tgtEl>
                                          <p:spTgt spid="540764"/>
                                        </p:tgtEl>
                                      </p:cBhvr>
                                    </p:animEffect>
                                  </p:childTnLst>
                                </p:cTn>
                              </p:par>
                            </p:childTnLst>
                          </p:cTn>
                        </p:par>
                        <p:par>
                          <p:cTn id="61" fill="hold">
                            <p:stCondLst>
                              <p:cond delay="3000"/>
                            </p:stCondLst>
                            <p:childTnLst>
                              <p:par>
                                <p:cTn id="62" presetID="22" presetClass="entr" presetSubtype="8" fill="hold" grpId="0" nodeType="afterEffect">
                                  <p:stCondLst>
                                    <p:cond delay="0"/>
                                  </p:stCondLst>
                                  <p:childTnLst>
                                    <p:set>
                                      <p:cBhvr>
                                        <p:cTn id="63" dur="1" fill="hold">
                                          <p:stCondLst>
                                            <p:cond delay="0"/>
                                          </p:stCondLst>
                                        </p:cTn>
                                        <p:tgtEl>
                                          <p:spTgt spid="540773"/>
                                        </p:tgtEl>
                                        <p:attrNameLst>
                                          <p:attrName>style.visibility</p:attrName>
                                        </p:attrNameLst>
                                      </p:cBhvr>
                                      <p:to>
                                        <p:strVal val="visible"/>
                                      </p:to>
                                    </p:set>
                                    <p:animEffect transition="in" filter="wipe(left)">
                                      <p:cBhvr>
                                        <p:cTn id="64" dur="500"/>
                                        <p:tgtEl>
                                          <p:spTgt spid="540773"/>
                                        </p:tgtEl>
                                      </p:cBhvr>
                                    </p:animEffect>
                                  </p:childTnLst>
                                </p:cTn>
                              </p:par>
                            </p:childTnLst>
                          </p:cTn>
                        </p:par>
                        <p:par>
                          <p:cTn id="65" fill="hold">
                            <p:stCondLst>
                              <p:cond delay="3500"/>
                            </p:stCondLst>
                            <p:childTnLst>
                              <p:par>
                                <p:cTn id="66" presetID="22" presetClass="entr" presetSubtype="8" fill="hold" grpId="0" nodeType="afterEffect">
                                  <p:stCondLst>
                                    <p:cond delay="0"/>
                                  </p:stCondLst>
                                  <p:childTnLst>
                                    <p:set>
                                      <p:cBhvr>
                                        <p:cTn id="67" dur="1" fill="hold">
                                          <p:stCondLst>
                                            <p:cond delay="0"/>
                                          </p:stCondLst>
                                        </p:cTn>
                                        <p:tgtEl>
                                          <p:spTgt spid="540774"/>
                                        </p:tgtEl>
                                        <p:attrNameLst>
                                          <p:attrName>style.visibility</p:attrName>
                                        </p:attrNameLst>
                                      </p:cBhvr>
                                      <p:to>
                                        <p:strVal val="visible"/>
                                      </p:to>
                                    </p:set>
                                    <p:animEffect transition="in" filter="wipe(left)">
                                      <p:cBhvr>
                                        <p:cTn id="68" dur="500"/>
                                        <p:tgtEl>
                                          <p:spTgt spid="540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712" grpId="0" animBg="1"/>
      <p:bldP spid="540762" grpId="0" animBg="1"/>
      <p:bldP spid="540764" grpId="0" animBg="1"/>
      <p:bldP spid="540765" grpId="0" animBg="1"/>
      <p:bldP spid="540766" grpId="0" animBg="1"/>
      <p:bldP spid="540767" grpId="0" animBg="1"/>
      <p:bldP spid="540768" grpId="0" animBg="1"/>
      <p:bldP spid="540769" grpId="0"/>
      <p:bldP spid="540770" grpId="0"/>
      <p:bldP spid="540773" grpId="0"/>
      <p:bldP spid="540774" grpId="0"/>
      <p:bldP spid="540775" grpId="0" animBg="1"/>
      <p:bldP spid="540781" grpId="0" animBg="1"/>
      <p:bldP spid="540743" grpId="0"/>
      <p:bldP spid="540741" grpId="0"/>
      <p:bldP spid="540787"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5011" name="Rectangle 3"/>
          <p:cNvSpPr>
            <a:spLocks noGrp="1" noRot="1" noChangeArrowheads="1"/>
          </p:cNvSpPr>
          <p:nvPr>
            <p:ph type="title"/>
          </p:nvPr>
        </p:nvSpPr>
        <p:spPr>
          <a:xfrm>
            <a:off x="900113" y="60325"/>
            <a:ext cx="8064500" cy="555625"/>
          </a:xfrm>
        </p:spPr>
        <p:txBody>
          <a:bodyPr/>
          <a:lstStyle/>
          <a:p>
            <a:pPr>
              <a:defRPr/>
            </a:pPr>
            <a:r>
              <a:rPr lang="en-US" dirty="0"/>
              <a:t>What Causes a Demand Curve to Shift?</a:t>
            </a:r>
          </a:p>
        </p:txBody>
      </p:sp>
      <p:sp>
        <p:nvSpPr>
          <p:cNvPr id="555027" name="Rectangle 19"/>
          <p:cNvSpPr>
            <a:spLocks noGrp="1" noChangeArrowheads="1"/>
          </p:cNvSpPr>
          <p:nvPr>
            <p:ph type="body" idx="1"/>
          </p:nvPr>
        </p:nvSpPr>
        <p:spPr>
          <a:xfrm>
            <a:off x="615950" y="912813"/>
            <a:ext cx="8288338" cy="5410200"/>
          </a:xfrm>
        </p:spPr>
        <p:txBody>
          <a:bodyPr/>
          <a:lstStyle/>
          <a:p>
            <a:pPr>
              <a:buFont typeface="Arial" charset="0"/>
              <a:buNone/>
            </a:pPr>
            <a:r>
              <a:rPr lang="en-US" b="1" dirty="0" smtClean="0"/>
              <a:t>Changes in the Prices of Related Goods</a:t>
            </a:r>
          </a:p>
          <a:p>
            <a:pPr>
              <a:buFont typeface="Arial" charset="0"/>
              <a:buNone/>
            </a:pPr>
            <a:endParaRPr lang="en-US" dirty="0" smtClean="0"/>
          </a:p>
          <a:p>
            <a:pPr lvl="1"/>
            <a:r>
              <a:rPr lang="en-US" b="1" dirty="0" smtClean="0"/>
              <a:t>Substitutes</a:t>
            </a:r>
            <a:r>
              <a:rPr lang="en-US" dirty="0" smtClean="0"/>
              <a:t>: Two goods are </a:t>
            </a:r>
            <a:r>
              <a:rPr lang="en-US" b="1" dirty="0" smtClean="0"/>
              <a:t>substitutes</a:t>
            </a:r>
            <a:r>
              <a:rPr lang="en-US" dirty="0" smtClean="0"/>
              <a:t> if a fall in the price of one of the goods makes consumers less willing to buy the other good. </a:t>
            </a:r>
          </a:p>
          <a:p>
            <a:pPr lvl="1"/>
            <a:r>
              <a:rPr lang="en-US" dirty="0" smtClean="0"/>
              <a:t>e.g. Tea &amp; coffee, rice &amp; noodles, McDonalds &amp; KFC</a:t>
            </a:r>
          </a:p>
          <a:p>
            <a:pPr lvl="1">
              <a:buFont typeface="Wingdings" pitchFamily="2" charset="2"/>
              <a:buNone/>
            </a:pPr>
            <a:endParaRPr lang="en-US" dirty="0" smtClean="0"/>
          </a:p>
          <a:p>
            <a:pPr lvl="1"/>
            <a:r>
              <a:rPr lang="en-US" b="1" dirty="0" smtClean="0"/>
              <a:t>Complements</a:t>
            </a:r>
            <a:r>
              <a:rPr lang="en-US" dirty="0" smtClean="0"/>
              <a:t>: Two goods are </a:t>
            </a:r>
            <a:r>
              <a:rPr lang="en-US" b="1" dirty="0" smtClean="0"/>
              <a:t>complements</a:t>
            </a:r>
            <a:r>
              <a:rPr lang="en-US" dirty="0" smtClean="0"/>
              <a:t> if a fall in the price of one good makes people more willing to buy the other good.</a:t>
            </a:r>
            <a:r>
              <a:rPr lang="en-US" sz="2900" dirty="0" smtClean="0"/>
              <a:t>  </a:t>
            </a:r>
          </a:p>
          <a:p>
            <a:pPr lvl="1"/>
            <a:r>
              <a:rPr lang="en-US" dirty="0"/>
              <a:t>e.g. </a:t>
            </a:r>
            <a:r>
              <a:rPr lang="en-US" dirty="0" smtClean="0"/>
              <a:t>Bread </a:t>
            </a:r>
            <a:r>
              <a:rPr lang="en-US" dirty="0"/>
              <a:t>&amp; </a:t>
            </a:r>
            <a:r>
              <a:rPr lang="en-US" dirty="0" smtClean="0"/>
              <a:t>jam, cars </a:t>
            </a:r>
            <a:r>
              <a:rPr lang="en-US" dirty="0"/>
              <a:t>&amp; </a:t>
            </a:r>
            <a:r>
              <a:rPr lang="en-US" dirty="0" smtClean="0"/>
              <a:t>petrol, smartphones </a:t>
            </a:r>
            <a:r>
              <a:rPr lang="en-US" dirty="0"/>
              <a:t>&amp; </a:t>
            </a:r>
            <a:r>
              <a:rPr lang="en-US" dirty="0" smtClean="0"/>
              <a:t>mobile internet service</a:t>
            </a:r>
            <a:endParaRPr lang="en-US" dirty="0"/>
          </a:p>
          <a:p>
            <a:pPr lvl="1"/>
            <a:endParaRPr lang="en-US"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55027">
                                            <p:txEl>
                                              <p:pRg st="0" end="0"/>
                                            </p:txEl>
                                          </p:spTgt>
                                        </p:tgtEl>
                                        <p:attrNameLst>
                                          <p:attrName>style.visibility</p:attrName>
                                        </p:attrNameLst>
                                      </p:cBhvr>
                                      <p:to>
                                        <p:strVal val="visible"/>
                                      </p:to>
                                    </p:set>
                                    <p:animEffect transition="in" filter="wipe(left)">
                                      <p:cBhvr>
                                        <p:cTn id="7" dur="500"/>
                                        <p:tgtEl>
                                          <p:spTgt spid="555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55027">
                                            <p:txEl>
                                              <p:pRg st="2" end="2"/>
                                            </p:txEl>
                                          </p:spTgt>
                                        </p:tgtEl>
                                        <p:attrNameLst>
                                          <p:attrName>style.visibility</p:attrName>
                                        </p:attrNameLst>
                                      </p:cBhvr>
                                      <p:to>
                                        <p:strVal val="visible"/>
                                      </p:to>
                                    </p:set>
                                    <p:animEffect transition="in" filter="wipe(left)">
                                      <p:cBhvr>
                                        <p:cTn id="12" dur="500"/>
                                        <p:tgtEl>
                                          <p:spTgt spid="55502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55027">
                                            <p:txEl>
                                              <p:pRg st="3" end="3"/>
                                            </p:txEl>
                                          </p:spTgt>
                                        </p:tgtEl>
                                        <p:attrNameLst>
                                          <p:attrName>style.visibility</p:attrName>
                                        </p:attrNameLst>
                                      </p:cBhvr>
                                      <p:to>
                                        <p:strVal val="visible"/>
                                      </p:to>
                                    </p:set>
                                    <p:animEffect transition="in" filter="wipe(left)">
                                      <p:cBhvr>
                                        <p:cTn id="17" dur="500"/>
                                        <p:tgtEl>
                                          <p:spTgt spid="55502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55027">
                                            <p:txEl>
                                              <p:pRg st="5" end="5"/>
                                            </p:txEl>
                                          </p:spTgt>
                                        </p:tgtEl>
                                        <p:attrNameLst>
                                          <p:attrName>style.visibility</p:attrName>
                                        </p:attrNameLst>
                                      </p:cBhvr>
                                      <p:to>
                                        <p:strVal val="visible"/>
                                      </p:to>
                                    </p:set>
                                    <p:animEffect transition="in" filter="wipe(left)">
                                      <p:cBhvr>
                                        <p:cTn id="22" dur="500"/>
                                        <p:tgtEl>
                                          <p:spTgt spid="55502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55027">
                                            <p:txEl>
                                              <p:pRg st="6" end="6"/>
                                            </p:txEl>
                                          </p:spTgt>
                                        </p:tgtEl>
                                        <p:attrNameLst>
                                          <p:attrName>style.visibility</p:attrName>
                                        </p:attrNameLst>
                                      </p:cBhvr>
                                      <p:to>
                                        <p:strVal val="visible"/>
                                      </p:to>
                                    </p:set>
                                    <p:animEffect transition="in" filter="wipe(left)">
                                      <p:cBhvr>
                                        <p:cTn id="27" dur="500"/>
                                        <p:tgtEl>
                                          <p:spTgt spid="5550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7058" name="Rectangle 2"/>
          <p:cNvSpPr>
            <a:spLocks noGrp="1" noRot="1" noChangeArrowheads="1"/>
          </p:cNvSpPr>
          <p:nvPr>
            <p:ph type="title"/>
          </p:nvPr>
        </p:nvSpPr>
        <p:spPr>
          <a:xfrm>
            <a:off x="900113" y="60325"/>
            <a:ext cx="8064500" cy="555625"/>
          </a:xfrm>
        </p:spPr>
        <p:txBody>
          <a:bodyPr/>
          <a:lstStyle/>
          <a:p>
            <a:pPr>
              <a:defRPr/>
            </a:pPr>
            <a:r>
              <a:rPr lang="en-US" dirty="0"/>
              <a:t>What Causes a Demand Curve to Shift?</a:t>
            </a:r>
          </a:p>
        </p:txBody>
      </p:sp>
      <p:sp>
        <p:nvSpPr>
          <p:cNvPr id="557061" name="Rectangle 5"/>
          <p:cNvSpPr>
            <a:spLocks noGrp="1" noChangeArrowheads="1"/>
          </p:cNvSpPr>
          <p:nvPr>
            <p:ph type="body" idx="1"/>
          </p:nvPr>
        </p:nvSpPr>
        <p:spPr>
          <a:xfrm>
            <a:off x="584200" y="827088"/>
            <a:ext cx="8270875" cy="5554662"/>
          </a:xfrm>
        </p:spPr>
        <p:txBody>
          <a:bodyPr/>
          <a:lstStyle/>
          <a:p>
            <a:pPr>
              <a:buFont typeface="Arial" charset="0"/>
              <a:buNone/>
            </a:pPr>
            <a:r>
              <a:rPr lang="en-US" b="1" dirty="0" smtClean="0"/>
              <a:t>Changes in Income</a:t>
            </a:r>
            <a:endParaRPr lang="en-US" dirty="0" smtClean="0"/>
          </a:p>
          <a:p>
            <a:pPr lvl="1"/>
            <a:r>
              <a:rPr lang="en-US" b="1" dirty="0" smtClean="0"/>
              <a:t>Normal Goods</a:t>
            </a:r>
            <a:r>
              <a:rPr lang="en-US" dirty="0" smtClean="0"/>
              <a:t>: When a rise in income increases the demand for a good — the normal case — we say that the good is a </a:t>
            </a:r>
            <a:r>
              <a:rPr lang="en-US" b="1" dirty="0" smtClean="0"/>
              <a:t>normal</a:t>
            </a:r>
            <a:r>
              <a:rPr lang="en-US" dirty="0" smtClean="0"/>
              <a:t> </a:t>
            </a:r>
            <a:r>
              <a:rPr lang="en-US" b="1" dirty="0" smtClean="0"/>
              <a:t>good</a:t>
            </a:r>
            <a:r>
              <a:rPr lang="en-US" dirty="0" smtClean="0"/>
              <a:t>. </a:t>
            </a:r>
          </a:p>
          <a:p>
            <a:pPr lvl="1"/>
            <a:r>
              <a:rPr lang="en-US" b="1" dirty="0" smtClean="0"/>
              <a:t>Inferior Goods:</a:t>
            </a:r>
            <a:r>
              <a:rPr lang="en-US" dirty="0" smtClean="0"/>
              <a:t> When a rise in income decreases the demand for a good, it is an </a:t>
            </a:r>
            <a:r>
              <a:rPr lang="en-US" b="1" dirty="0" smtClean="0"/>
              <a:t>inferior good</a:t>
            </a:r>
            <a:r>
              <a:rPr lang="en-US" dirty="0" smtClean="0"/>
              <a:t>. </a:t>
            </a:r>
          </a:p>
          <a:p>
            <a:pPr>
              <a:buNone/>
            </a:pPr>
            <a:endParaRPr lang="en-US" sz="800" b="1" dirty="0"/>
          </a:p>
          <a:p>
            <a:pPr>
              <a:buFont typeface="Arial" charset="0"/>
              <a:buNone/>
            </a:pPr>
            <a:r>
              <a:rPr lang="en-US" b="1" dirty="0" smtClean="0"/>
              <a:t>Changes in the Number of Consumers</a:t>
            </a:r>
          </a:p>
          <a:p>
            <a:pPr lvl="1"/>
            <a:r>
              <a:rPr lang="en-US" dirty="0"/>
              <a:t>More consumers in a market increases demand</a:t>
            </a:r>
          </a:p>
          <a:p>
            <a:pPr>
              <a:buFont typeface="Arial" charset="0"/>
              <a:buNone/>
            </a:pPr>
            <a:endParaRPr lang="en-US" sz="800" b="1" dirty="0" smtClean="0"/>
          </a:p>
          <a:p>
            <a:pPr>
              <a:buFont typeface="Arial" charset="0"/>
              <a:buNone/>
            </a:pPr>
            <a:r>
              <a:rPr lang="en-US" b="1" dirty="0" smtClean="0"/>
              <a:t>Changes in Expectations</a:t>
            </a:r>
          </a:p>
          <a:p>
            <a:pPr lvl="1"/>
            <a:r>
              <a:rPr lang="en-US" dirty="0" smtClean="0"/>
              <a:t>Demand increases if consumers expect price increases, decreases if </a:t>
            </a:r>
            <a:r>
              <a:rPr lang="en-US" dirty="0"/>
              <a:t>consumers expect price </a:t>
            </a:r>
            <a:r>
              <a:rPr lang="en-US" dirty="0" smtClean="0"/>
              <a:t>cuts</a:t>
            </a:r>
            <a:endParaRPr lang="en-US" dirty="0"/>
          </a:p>
          <a:p>
            <a:pPr>
              <a:buNone/>
            </a:pPr>
            <a:endParaRPr lang="en-US" sz="800" b="1" dirty="0"/>
          </a:p>
          <a:p>
            <a:pPr>
              <a:buNone/>
            </a:pPr>
            <a:r>
              <a:rPr lang="en-US" b="1" dirty="0" smtClean="0"/>
              <a:t>Changes </a:t>
            </a:r>
            <a:r>
              <a:rPr lang="en-US" b="1" dirty="0"/>
              <a:t>in Tastes</a:t>
            </a:r>
            <a:endParaRPr lang="en-US" sz="800" dirty="0"/>
          </a:p>
          <a:p>
            <a:pPr>
              <a:buFont typeface="Arial" charset="0"/>
              <a:buNone/>
            </a:pPr>
            <a:endParaRPr lang="en-US" b="1" dirty="0" smtClean="0"/>
          </a:p>
          <a:p>
            <a:pPr>
              <a:buFont typeface="Arial" charset="0"/>
              <a:buNone/>
            </a:pPr>
            <a:endParaRPr lang="en-US" b="1" dirty="0" smtClean="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57061">
                                            <p:txEl>
                                              <p:pRg st="0" end="0"/>
                                            </p:txEl>
                                          </p:spTgt>
                                        </p:tgtEl>
                                        <p:attrNameLst>
                                          <p:attrName>style.visibility</p:attrName>
                                        </p:attrNameLst>
                                      </p:cBhvr>
                                      <p:to>
                                        <p:strVal val="visible"/>
                                      </p:to>
                                    </p:set>
                                    <p:animEffect transition="in" filter="wipe(left)">
                                      <p:cBhvr>
                                        <p:cTn id="7" dur="500"/>
                                        <p:tgtEl>
                                          <p:spTgt spid="5570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57061">
                                            <p:txEl>
                                              <p:pRg st="1" end="1"/>
                                            </p:txEl>
                                          </p:spTgt>
                                        </p:tgtEl>
                                        <p:attrNameLst>
                                          <p:attrName>style.visibility</p:attrName>
                                        </p:attrNameLst>
                                      </p:cBhvr>
                                      <p:to>
                                        <p:strVal val="visible"/>
                                      </p:to>
                                    </p:set>
                                    <p:animEffect transition="in" filter="wipe(left)">
                                      <p:cBhvr>
                                        <p:cTn id="12" dur="500"/>
                                        <p:tgtEl>
                                          <p:spTgt spid="5570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57061">
                                            <p:txEl>
                                              <p:pRg st="2" end="2"/>
                                            </p:txEl>
                                          </p:spTgt>
                                        </p:tgtEl>
                                        <p:attrNameLst>
                                          <p:attrName>style.visibility</p:attrName>
                                        </p:attrNameLst>
                                      </p:cBhvr>
                                      <p:to>
                                        <p:strVal val="visible"/>
                                      </p:to>
                                    </p:set>
                                    <p:animEffect transition="in" filter="wipe(left)">
                                      <p:cBhvr>
                                        <p:cTn id="17" dur="500"/>
                                        <p:tgtEl>
                                          <p:spTgt spid="55706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57061">
                                            <p:txEl>
                                              <p:pRg st="4" end="4"/>
                                            </p:txEl>
                                          </p:spTgt>
                                        </p:tgtEl>
                                        <p:attrNameLst>
                                          <p:attrName>style.visibility</p:attrName>
                                        </p:attrNameLst>
                                      </p:cBhvr>
                                      <p:to>
                                        <p:strVal val="visible"/>
                                      </p:to>
                                    </p:set>
                                    <p:animEffect transition="in" filter="wipe(left)">
                                      <p:cBhvr>
                                        <p:cTn id="22" dur="500"/>
                                        <p:tgtEl>
                                          <p:spTgt spid="55706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57061">
                                            <p:txEl>
                                              <p:pRg st="5" end="5"/>
                                            </p:txEl>
                                          </p:spTgt>
                                        </p:tgtEl>
                                        <p:attrNameLst>
                                          <p:attrName>style.visibility</p:attrName>
                                        </p:attrNameLst>
                                      </p:cBhvr>
                                      <p:to>
                                        <p:strVal val="visible"/>
                                      </p:to>
                                    </p:set>
                                    <p:animEffect transition="in" filter="wipe(left)">
                                      <p:cBhvr>
                                        <p:cTn id="27" dur="500"/>
                                        <p:tgtEl>
                                          <p:spTgt spid="55706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57061">
                                            <p:txEl>
                                              <p:pRg st="7" end="7"/>
                                            </p:txEl>
                                          </p:spTgt>
                                        </p:tgtEl>
                                        <p:attrNameLst>
                                          <p:attrName>style.visibility</p:attrName>
                                        </p:attrNameLst>
                                      </p:cBhvr>
                                      <p:to>
                                        <p:strVal val="visible"/>
                                      </p:to>
                                    </p:set>
                                    <p:animEffect transition="in" filter="wipe(left)">
                                      <p:cBhvr>
                                        <p:cTn id="32" dur="500"/>
                                        <p:tgtEl>
                                          <p:spTgt spid="557061">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57061">
                                            <p:txEl>
                                              <p:pRg st="8" end="8"/>
                                            </p:txEl>
                                          </p:spTgt>
                                        </p:tgtEl>
                                        <p:attrNameLst>
                                          <p:attrName>style.visibility</p:attrName>
                                        </p:attrNameLst>
                                      </p:cBhvr>
                                      <p:to>
                                        <p:strVal val="visible"/>
                                      </p:to>
                                    </p:set>
                                    <p:animEffect transition="in" filter="wipe(left)">
                                      <p:cBhvr>
                                        <p:cTn id="37" dur="500"/>
                                        <p:tgtEl>
                                          <p:spTgt spid="557061">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57061">
                                            <p:txEl>
                                              <p:pRg st="10" end="10"/>
                                            </p:txEl>
                                          </p:spTgt>
                                        </p:tgtEl>
                                        <p:attrNameLst>
                                          <p:attrName>style.visibility</p:attrName>
                                        </p:attrNameLst>
                                      </p:cBhvr>
                                      <p:to>
                                        <p:strVal val="visible"/>
                                      </p:to>
                                    </p:set>
                                    <p:animEffect transition="in" filter="wipe(left)">
                                      <p:cBhvr>
                                        <p:cTn id="42" dur="500"/>
                                        <p:tgtEl>
                                          <p:spTgt spid="55706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cxnSp>
        <p:nvCxnSpPr>
          <p:cNvPr id="50177" name="Straight Connector 86"/>
          <p:cNvCxnSpPr>
            <a:cxnSpLocks noChangeShapeType="1"/>
          </p:cNvCxnSpPr>
          <p:nvPr/>
        </p:nvCxnSpPr>
        <p:spPr bwMode="auto">
          <a:xfrm>
            <a:off x="7264400" y="4381500"/>
            <a:ext cx="1600200" cy="1588"/>
          </a:xfrm>
          <a:prstGeom prst="line">
            <a:avLst/>
          </a:prstGeom>
          <a:noFill/>
          <a:ln w="22225">
            <a:solidFill>
              <a:srgbClr val="9C9C9C"/>
            </a:solidFill>
            <a:prstDash val="sysDot"/>
            <a:round/>
            <a:headEnd/>
            <a:tailEnd type="none" w="med" len="lg"/>
          </a:ln>
        </p:spPr>
      </p:cxnSp>
      <p:cxnSp>
        <p:nvCxnSpPr>
          <p:cNvPr id="50178" name="Straight Connector 86"/>
          <p:cNvCxnSpPr>
            <a:cxnSpLocks noChangeShapeType="1"/>
          </p:cNvCxnSpPr>
          <p:nvPr/>
        </p:nvCxnSpPr>
        <p:spPr bwMode="auto">
          <a:xfrm>
            <a:off x="7264400" y="3495675"/>
            <a:ext cx="609600" cy="1588"/>
          </a:xfrm>
          <a:prstGeom prst="line">
            <a:avLst/>
          </a:prstGeom>
          <a:noFill/>
          <a:ln w="22225">
            <a:solidFill>
              <a:srgbClr val="9C9C9C"/>
            </a:solidFill>
            <a:prstDash val="sysDot"/>
            <a:round/>
            <a:headEnd/>
            <a:tailEnd type="none" w="med" len="lg"/>
          </a:ln>
        </p:spPr>
      </p:cxnSp>
      <p:cxnSp>
        <p:nvCxnSpPr>
          <p:cNvPr id="50179" name="Straight Connector 86"/>
          <p:cNvCxnSpPr>
            <a:cxnSpLocks noChangeShapeType="1"/>
          </p:cNvCxnSpPr>
          <p:nvPr/>
        </p:nvCxnSpPr>
        <p:spPr bwMode="auto">
          <a:xfrm>
            <a:off x="7827963" y="3543300"/>
            <a:ext cx="0" cy="1524000"/>
          </a:xfrm>
          <a:prstGeom prst="line">
            <a:avLst/>
          </a:prstGeom>
          <a:noFill/>
          <a:ln w="22225">
            <a:solidFill>
              <a:srgbClr val="9C9C9C"/>
            </a:solidFill>
            <a:prstDash val="sysDot"/>
            <a:round/>
            <a:headEnd/>
            <a:tailEnd type="none" w="med" len="lg"/>
          </a:ln>
        </p:spPr>
      </p:cxnSp>
      <p:cxnSp>
        <p:nvCxnSpPr>
          <p:cNvPr id="50180" name="Straight Connector 86"/>
          <p:cNvCxnSpPr>
            <a:cxnSpLocks noChangeShapeType="1"/>
          </p:cNvCxnSpPr>
          <p:nvPr/>
        </p:nvCxnSpPr>
        <p:spPr bwMode="auto">
          <a:xfrm>
            <a:off x="8864600" y="4383088"/>
            <a:ext cx="0" cy="684212"/>
          </a:xfrm>
          <a:prstGeom prst="line">
            <a:avLst/>
          </a:prstGeom>
          <a:noFill/>
          <a:ln w="22225">
            <a:solidFill>
              <a:srgbClr val="9C9C9C"/>
            </a:solidFill>
            <a:prstDash val="sysDot"/>
            <a:round/>
            <a:headEnd/>
            <a:tailEnd type="none" w="med" len="lg"/>
          </a:ln>
        </p:spPr>
      </p:cxnSp>
      <p:cxnSp>
        <p:nvCxnSpPr>
          <p:cNvPr id="50181" name="Straight Connector 86"/>
          <p:cNvCxnSpPr>
            <a:cxnSpLocks noChangeShapeType="1"/>
          </p:cNvCxnSpPr>
          <p:nvPr/>
        </p:nvCxnSpPr>
        <p:spPr bwMode="auto">
          <a:xfrm>
            <a:off x="4254500" y="4381500"/>
            <a:ext cx="2438400" cy="3175"/>
          </a:xfrm>
          <a:prstGeom prst="line">
            <a:avLst/>
          </a:prstGeom>
          <a:noFill/>
          <a:ln w="22225">
            <a:solidFill>
              <a:srgbClr val="9C9C9C"/>
            </a:solidFill>
            <a:prstDash val="sysDot"/>
            <a:round/>
            <a:headEnd/>
            <a:tailEnd type="none" w="med" len="lg"/>
          </a:ln>
        </p:spPr>
      </p:cxnSp>
      <p:cxnSp>
        <p:nvCxnSpPr>
          <p:cNvPr id="50182" name="Straight Connector 86"/>
          <p:cNvCxnSpPr>
            <a:cxnSpLocks noChangeShapeType="1"/>
          </p:cNvCxnSpPr>
          <p:nvPr/>
        </p:nvCxnSpPr>
        <p:spPr bwMode="auto">
          <a:xfrm>
            <a:off x="4254500" y="3495675"/>
            <a:ext cx="2438400" cy="3175"/>
          </a:xfrm>
          <a:prstGeom prst="line">
            <a:avLst/>
          </a:prstGeom>
          <a:noFill/>
          <a:ln w="22225">
            <a:solidFill>
              <a:srgbClr val="9C9C9C"/>
            </a:solidFill>
            <a:prstDash val="sysDot"/>
            <a:round/>
            <a:headEnd/>
            <a:tailEnd type="none" w="med" len="lg"/>
          </a:ln>
        </p:spPr>
      </p:cxnSp>
      <p:cxnSp>
        <p:nvCxnSpPr>
          <p:cNvPr id="50183" name="Straight Connector 86"/>
          <p:cNvCxnSpPr>
            <a:cxnSpLocks noChangeShapeType="1"/>
          </p:cNvCxnSpPr>
          <p:nvPr/>
        </p:nvCxnSpPr>
        <p:spPr bwMode="auto">
          <a:xfrm>
            <a:off x="4749800" y="3543300"/>
            <a:ext cx="0" cy="1524000"/>
          </a:xfrm>
          <a:prstGeom prst="line">
            <a:avLst/>
          </a:prstGeom>
          <a:noFill/>
          <a:ln w="22225">
            <a:solidFill>
              <a:srgbClr val="9C9C9C"/>
            </a:solidFill>
            <a:prstDash val="sysDot"/>
            <a:round/>
            <a:headEnd/>
            <a:tailEnd type="none" w="med" len="lg"/>
          </a:ln>
        </p:spPr>
      </p:cxnSp>
      <p:cxnSp>
        <p:nvCxnSpPr>
          <p:cNvPr id="50184" name="Straight Connector 86"/>
          <p:cNvCxnSpPr>
            <a:cxnSpLocks noChangeShapeType="1"/>
          </p:cNvCxnSpPr>
          <p:nvPr/>
        </p:nvCxnSpPr>
        <p:spPr bwMode="auto">
          <a:xfrm>
            <a:off x="5435600" y="4383088"/>
            <a:ext cx="0" cy="684212"/>
          </a:xfrm>
          <a:prstGeom prst="line">
            <a:avLst/>
          </a:prstGeom>
          <a:noFill/>
          <a:ln w="22225">
            <a:solidFill>
              <a:srgbClr val="9C9C9C"/>
            </a:solidFill>
            <a:prstDash val="sysDot"/>
            <a:round/>
            <a:headEnd/>
            <a:tailEnd type="none" w="med" len="lg"/>
          </a:ln>
        </p:spPr>
      </p:cxnSp>
      <p:cxnSp>
        <p:nvCxnSpPr>
          <p:cNvPr id="50185" name="Straight Connector 86"/>
          <p:cNvCxnSpPr>
            <a:cxnSpLocks noChangeShapeType="1"/>
          </p:cNvCxnSpPr>
          <p:nvPr/>
        </p:nvCxnSpPr>
        <p:spPr bwMode="auto">
          <a:xfrm>
            <a:off x="1244600" y="4381500"/>
            <a:ext cx="2438400" cy="3175"/>
          </a:xfrm>
          <a:prstGeom prst="line">
            <a:avLst/>
          </a:prstGeom>
          <a:noFill/>
          <a:ln w="22225">
            <a:solidFill>
              <a:srgbClr val="9C9C9C"/>
            </a:solidFill>
            <a:prstDash val="sysDot"/>
            <a:round/>
            <a:headEnd/>
            <a:tailEnd type="none" w="med" len="lg"/>
          </a:ln>
        </p:spPr>
      </p:cxnSp>
      <p:cxnSp>
        <p:nvCxnSpPr>
          <p:cNvPr id="50186" name="Straight Connector 86"/>
          <p:cNvCxnSpPr>
            <a:cxnSpLocks noChangeShapeType="1"/>
          </p:cNvCxnSpPr>
          <p:nvPr/>
        </p:nvCxnSpPr>
        <p:spPr bwMode="auto">
          <a:xfrm>
            <a:off x="1244600" y="3495675"/>
            <a:ext cx="2438400" cy="3175"/>
          </a:xfrm>
          <a:prstGeom prst="line">
            <a:avLst/>
          </a:prstGeom>
          <a:noFill/>
          <a:ln w="22225">
            <a:solidFill>
              <a:srgbClr val="9C9C9C"/>
            </a:solidFill>
            <a:prstDash val="sysDot"/>
            <a:round/>
            <a:headEnd/>
            <a:tailEnd type="none" w="med" len="lg"/>
          </a:ln>
        </p:spPr>
      </p:cxnSp>
      <p:cxnSp>
        <p:nvCxnSpPr>
          <p:cNvPr id="50187" name="Straight Connector 86"/>
          <p:cNvCxnSpPr>
            <a:cxnSpLocks noChangeShapeType="1"/>
          </p:cNvCxnSpPr>
          <p:nvPr/>
        </p:nvCxnSpPr>
        <p:spPr bwMode="auto">
          <a:xfrm>
            <a:off x="1895475" y="3543300"/>
            <a:ext cx="0" cy="1524000"/>
          </a:xfrm>
          <a:prstGeom prst="line">
            <a:avLst/>
          </a:prstGeom>
          <a:noFill/>
          <a:ln w="22225">
            <a:solidFill>
              <a:srgbClr val="9C9C9C"/>
            </a:solidFill>
            <a:prstDash val="sysDot"/>
            <a:round/>
            <a:headEnd/>
            <a:tailEnd type="none" w="med" len="lg"/>
          </a:ln>
        </p:spPr>
      </p:cxnSp>
      <p:cxnSp>
        <p:nvCxnSpPr>
          <p:cNvPr id="50188" name="Straight Connector 86"/>
          <p:cNvCxnSpPr>
            <a:cxnSpLocks noChangeShapeType="1"/>
          </p:cNvCxnSpPr>
          <p:nvPr/>
        </p:nvCxnSpPr>
        <p:spPr bwMode="auto">
          <a:xfrm>
            <a:off x="2581275" y="4383088"/>
            <a:ext cx="0" cy="684212"/>
          </a:xfrm>
          <a:prstGeom prst="line">
            <a:avLst/>
          </a:prstGeom>
          <a:noFill/>
          <a:ln w="22225">
            <a:solidFill>
              <a:srgbClr val="9C9C9C"/>
            </a:solidFill>
            <a:prstDash val="sysDot"/>
            <a:round/>
            <a:headEnd/>
            <a:tailEnd type="none" w="med" len="lg"/>
          </a:ln>
        </p:spPr>
      </p:cxnSp>
      <p:sp>
        <p:nvSpPr>
          <p:cNvPr id="563202" name="Rectangle 2"/>
          <p:cNvSpPr>
            <a:spLocks noGrp="1" noRot="1" noChangeArrowheads="1"/>
          </p:cNvSpPr>
          <p:nvPr>
            <p:ph type="title"/>
          </p:nvPr>
        </p:nvSpPr>
        <p:spPr>
          <a:xfrm>
            <a:off x="933450" y="60325"/>
            <a:ext cx="8007350" cy="555625"/>
          </a:xfrm>
        </p:spPr>
        <p:txBody>
          <a:bodyPr/>
          <a:lstStyle/>
          <a:p>
            <a:pPr>
              <a:defRPr/>
            </a:pPr>
            <a:r>
              <a:rPr lang="en-US" sz="2400" dirty="0"/>
              <a:t>Individual Demand Curve and the Market Demand Curve</a:t>
            </a:r>
          </a:p>
        </p:txBody>
      </p:sp>
      <p:sp>
        <p:nvSpPr>
          <p:cNvPr id="563262" name="Text Box 62"/>
          <p:cNvSpPr txBox="1">
            <a:spLocks noChangeArrowheads="1"/>
          </p:cNvSpPr>
          <p:nvPr/>
        </p:nvSpPr>
        <p:spPr bwMode="auto">
          <a:xfrm>
            <a:off x="933450" y="836613"/>
            <a:ext cx="8007350" cy="831850"/>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defRPr/>
            </a:pPr>
            <a:r>
              <a:rPr lang="en-US" sz="2400" dirty="0"/>
              <a:t>The market demand curve is the </a:t>
            </a:r>
            <a:r>
              <a:rPr lang="en-US" sz="2400" i="1" dirty="0"/>
              <a:t>horizontal sum </a:t>
            </a:r>
            <a:r>
              <a:rPr lang="en-US" sz="2400" dirty="0"/>
              <a:t>of the individual demand curves of all consumers in that market.</a:t>
            </a:r>
          </a:p>
        </p:txBody>
      </p:sp>
      <p:sp>
        <p:nvSpPr>
          <p:cNvPr id="50191" name="Freeform 259"/>
          <p:cNvSpPr>
            <a:spLocks/>
          </p:cNvSpPr>
          <p:nvPr/>
        </p:nvSpPr>
        <p:spPr bwMode="auto">
          <a:xfrm>
            <a:off x="4056063" y="2747963"/>
            <a:ext cx="2017712" cy="2452687"/>
          </a:xfrm>
          <a:custGeom>
            <a:avLst/>
            <a:gdLst>
              <a:gd name="T0" fmla="*/ 2147483647 w 1271"/>
              <a:gd name="T1" fmla="*/ 2147483647 h 1545"/>
              <a:gd name="T2" fmla="*/ 0 w 1271"/>
              <a:gd name="T3" fmla="*/ 2147483647 h 1545"/>
              <a:gd name="T4" fmla="*/ 0 w 1271"/>
              <a:gd name="T5" fmla="*/ 0 h 1545"/>
              <a:gd name="T6" fmla="*/ 2147483647 w 1271"/>
              <a:gd name="T7" fmla="*/ 0 h 1545"/>
              <a:gd name="T8" fmla="*/ 2147483647 w 1271"/>
              <a:gd name="T9" fmla="*/ 2147483647 h 1545"/>
              <a:gd name="T10" fmla="*/ 2147483647 w 1271"/>
              <a:gd name="T11" fmla="*/ 2147483647 h 1545"/>
              <a:gd name="T12" fmla="*/ 0 60000 65536"/>
              <a:gd name="T13" fmla="*/ 0 60000 65536"/>
              <a:gd name="T14" fmla="*/ 0 60000 65536"/>
              <a:gd name="T15" fmla="*/ 0 60000 65536"/>
              <a:gd name="T16" fmla="*/ 0 60000 65536"/>
              <a:gd name="T17" fmla="*/ 0 60000 65536"/>
              <a:gd name="T18" fmla="*/ 0 w 1271"/>
              <a:gd name="T19" fmla="*/ 0 h 1545"/>
              <a:gd name="T20" fmla="*/ 1271 w 1271"/>
              <a:gd name="T21" fmla="*/ 1545 h 1545"/>
            </a:gdLst>
            <a:ahLst/>
            <a:cxnLst>
              <a:cxn ang="T12">
                <a:pos x="T0" y="T1"/>
              </a:cxn>
              <a:cxn ang="T13">
                <a:pos x="T2" y="T3"/>
              </a:cxn>
              <a:cxn ang="T14">
                <a:pos x="T4" y="T5"/>
              </a:cxn>
              <a:cxn ang="T15">
                <a:pos x="T6" y="T7"/>
              </a:cxn>
              <a:cxn ang="T16">
                <a:pos x="T8" y="T9"/>
              </a:cxn>
              <a:cxn ang="T17">
                <a:pos x="T10" y="T11"/>
              </a:cxn>
            </a:cxnLst>
            <a:rect l="T18" t="T19" r="T20" b="T21"/>
            <a:pathLst>
              <a:path w="1271" h="1545">
                <a:moveTo>
                  <a:pt x="228" y="1545"/>
                </a:moveTo>
                <a:lnTo>
                  <a:pt x="0" y="1545"/>
                </a:lnTo>
                <a:lnTo>
                  <a:pt x="0" y="0"/>
                </a:lnTo>
                <a:lnTo>
                  <a:pt x="1271" y="0"/>
                </a:lnTo>
                <a:lnTo>
                  <a:pt x="1271" y="1545"/>
                </a:lnTo>
                <a:lnTo>
                  <a:pt x="228" y="1545"/>
                </a:lnTo>
              </a:path>
            </a:pathLst>
          </a:custGeom>
          <a:noFill/>
          <a:ln w="9525">
            <a:noFill/>
            <a:round/>
            <a:headEnd/>
            <a:tailEnd/>
          </a:ln>
        </p:spPr>
        <p:txBody>
          <a:bodyPr/>
          <a:lstStyle/>
          <a:p>
            <a:endParaRPr lang="en-US"/>
          </a:p>
        </p:txBody>
      </p:sp>
      <p:sp>
        <p:nvSpPr>
          <p:cNvPr id="50192" name="Line 260"/>
          <p:cNvSpPr>
            <a:spLocks noChangeShapeType="1"/>
          </p:cNvSpPr>
          <p:nvPr/>
        </p:nvSpPr>
        <p:spPr bwMode="auto">
          <a:xfrm flipH="1">
            <a:off x="1244600" y="5159375"/>
            <a:ext cx="55563" cy="82550"/>
          </a:xfrm>
          <a:prstGeom prst="line">
            <a:avLst/>
          </a:prstGeom>
          <a:noFill/>
          <a:ln w="9525">
            <a:solidFill>
              <a:srgbClr val="000000"/>
            </a:solidFill>
            <a:miter lim="800000"/>
            <a:headEnd/>
            <a:tailEnd/>
          </a:ln>
        </p:spPr>
        <p:txBody>
          <a:bodyPr/>
          <a:lstStyle/>
          <a:p>
            <a:endParaRPr lang="en-US"/>
          </a:p>
        </p:txBody>
      </p:sp>
      <p:sp>
        <p:nvSpPr>
          <p:cNvPr id="50193" name="Line 261"/>
          <p:cNvSpPr>
            <a:spLocks noChangeShapeType="1"/>
          </p:cNvSpPr>
          <p:nvPr/>
        </p:nvSpPr>
        <p:spPr bwMode="auto">
          <a:xfrm flipH="1">
            <a:off x="1317625" y="5159375"/>
            <a:ext cx="55563" cy="82550"/>
          </a:xfrm>
          <a:prstGeom prst="line">
            <a:avLst/>
          </a:prstGeom>
          <a:noFill/>
          <a:ln w="9525">
            <a:solidFill>
              <a:srgbClr val="000000"/>
            </a:solidFill>
            <a:miter lim="800000"/>
            <a:headEnd/>
            <a:tailEnd/>
          </a:ln>
        </p:spPr>
        <p:txBody>
          <a:bodyPr/>
          <a:lstStyle/>
          <a:p>
            <a:endParaRPr lang="en-US"/>
          </a:p>
        </p:txBody>
      </p:sp>
      <p:sp>
        <p:nvSpPr>
          <p:cNvPr id="50194" name="Rectangle 262"/>
          <p:cNvSpPr>
            <a:spLocks noChangeArrowheads="1"/>
          </p:cNvSpPr>
          <p:nvPr/>
        </p:nvSpPr>
        <p:spPr bwMode="auto">
          <a:xfrm>
            <a:off x="2733675" y="4570413"/>
            <a:ext cx="120650" cy="200025"/>
          </a:xfrm>
          <a:prstGeom prst="rect">
            <a:avLst/>
          </a:prstGeom>
          <a:noFill/>
          <a:ln w="9525">
            <a:noFill/>
            <a:miter lim="800000"/>
            <a:headEnd/>
            <a:tailEnd/>
          </a:ln>
        </p:spPr>
        <p:txBody>
          <a:bodyPr wrap="none" lIns="0" tIns="0" rIns="0" bIns="0">
            <a:spAutoFit/>
          </a:bodyPr>
          <a:lstStyle/>
          <a:p>
            <a:pPr marL="1588" indent="-1588"/>
            <a:r>
              <a:rPr lang="en-US" sz="1300" i="1">
                <a:solidFill>
                  <a:srgbClr val="000000"/>
                </a:solidFill>
                <a:latin typeface="Myriad Roman"/>
              </a:rPr>
              <a:t>D</a:t>
            </a:r>
            <a:endParaRPr lang="en-US" i="1"/>
          </a:p>
        </p:txBody>
      </p:sp>
      <p:sp>
        <p:nvSpPr>
          <p:cNvPr id="50195" name="Rectangle 263"/>
          <p:cNvSpPr>
            <a:spLocks noChangeArrowheads="1"/>
          </p:cNvSpPr>
          <p:nvPr/>
        </p:nvSpPr>
        <p:spPr bwMode="auto">
          <a:xfrm>
            <a:off x="2836863" y="4656138"/>
            <a:ext cx="276225" cy="138112"/>
          </a:xfrm>
          <a:prstGeom prst="rect">
            <a:avLst/>
          </a:prstGeom>
          <a:noFill/>
          <a:ln w="9525">
            <a:noFill/>
            <a:miter lim="800000"/>
            <a:headEnd/>
            <a:tailEnd/>
          </a:ln>
        </p:spPr>
        <p:txBody>
          <a:bodyPr wrap="none" lIns="0" tIns="0" rIns="0" bIns="0">
            <a:spAutoFit/>
          </a:bodyPr>
          <a:lstStyle/>
          <a:p>
            <a:pPr marL="1588" indent="-1588"/>
            <a:r>
              <a:rPr lang="en-US" sz="900" i="1">
                <a:solidFill>
                  <a:srgbClr val="000000"/>
                </a:solidFill>
                <a:latin typeface="Myriad Roman"/>
              </a:rPr>
              <a:t>Darla</a:t>
            </a:r>
            <a:endParaRPr lang="en-US" i="1"/>
          </a:p>
        </p:txBody>
      </p:sp>
      <p:sp>
        <p:nvSpPr>
          <p:cNvPr id="50196" name="Rectangle 264"/>
          <p:cNvSpPr>
            <a:spLocks noChangeArrowheads="1"/>
          </p:cNvSpPr>
          <p:nvPr/>
        </p:nvSpPr>
        <p:spPr bwMode="auto">
          <a:xfrm>
            <a:off x="5575300" y="4570413"/>
            <a:ext cx="120650" cy="200025"/>
          </a:xfrm>
          <a:prstGeom prst="rect">
            <a:avLst/>
          </a:prstGeom>
          <a:noFill/>
          <a:ln w="9525">
            <a:noFill/>
            <a:miter lim="800000"/>
            <a:headEnd/>
            <a:tailEnd/>
          </a:ln>
        </p:spPr>
        <p:txBody>
          <a:bodyPr wrap="none" lIns="0" tIns="0" rIns="0" bIns="0">
            <a:spAutoFit/>
          </a:bodyPr>
          <a:lstStyle/>
          <a:p>
            <a:pPr marL="1588" indent="-1588"/>
            <a:r>
              <a:rPr lang="en-US" sz="1300" i="1">
                <a:solidFill>
                  <a:srgbClr val="000000"/>
                </a:solidFill>
                <a:latin typeface="Myriad Roman"/>
              </a:rPr>
              <a:t>D</a:t>
            </a:r>
            <a:endParaRPr lang="en-US" i="1"/>
          </a:p>
        </p:txBody>
      </p:sp>
      <p:sp>
        <p:nvSpPr>
          <p:cNvPr id="50197" name="Rectangle 265"/>
          <p:cNvSpPr>
            <a:spLocks noChangeArrowheads="1"/>
          </p:cNvSpPr>
          <p:nvPr/>
        </p:nvSpPr>
        <p:spPr bwMode="auto">
          <a:xfrm>
            <a:off x="5724525" y="4652963"/>
            <a:ext cx="360363" cy="141287"/>
          </a:xfrm>
          <a:prstGeom prst="rect">
            <a:avLst/>
          </a:prstGeom>
          <a:noFill/>
          <a:ln w="9525">
            <a:noFill/>
            <a:miter lim="800000"/>
            <a:headEnd/>
            <a:tailEnd/>
          </a:ln>
        </p:spPr>
        <p:txBody>
          <a:bodyPr lIns="0" tIns="0" rIns="0" bIns="0">
            <a:spAutoFit/>
          </a:bodyPr>
          <a:lstStyle/>
          <a:p>
            <a:pPr marL="1588" indent="-1588"/>
            <a:r>
              <a:rPr lang="en-US" sz="900" i="1">
                <a:solidFill>
                  <a:srgbClr val="000000"/>
                </a:solidFill>
                <a:latin typeface="Myriad Roman"/>
              </a:rPr>
              <a:t>Dino</a:t>
            </a:r>
            <a:endParaRPr lang="en-US" i="1"/>
          </a:p>
        </p:txBody>
      </p:sp>
      <p:sp>
        <p:nvSpPr>
          <p:cNvPr id="50198" name="Line 266"/>
          <p:cNvSpPr>
            <a:spLocks noChangeShapeType="1"/>
          </p:cNvSpPr>
          <p:nvPr/>
        </p:nvSpPr>
        <p:spPr bwMode="auto">
          <a:xfrm>
            <a:off x="1052513" y="4375150"/>
            <a:ext cx="109537" cy="0"/>
          </a:xfrm>
          <a:prstGeom prst="line">
            <a:avLst/>
          </a:prstGeom>
          <a:noFill/>
          <a:ln w="9525">
            <a:solidFill>
              <a:srgbClr val="000000"/>
            </a:solidFill>
            <a:miter lim="800000"/>
            <a:headEnd/>
            <a:tailEnd/>
          </a:ln>
        </p:spPr>
        <p:txBody>
          <a:bodyPr/>
          <a:lstStyle/>
          <a:p>
            <a:endParaRPr lang="en-US"/>
          </a:p>
        </p:txBody>
      </p:sp>
      <p:sp>
        <p:nvSpPr>
          <p:cNvPr id="50199" name="Line 267"/>
          <p:cNvSpPr>
            <a:spLocks noChangeShapeType="1"/>
          </p:cNvSpPr>
          <p:nvPr/>
        </p:nvSpPr>
        <p:spPr bwMode="auto">
          <a:xfrm flipV="1">
            <a:off x="1900238" y="5108575"/>
            <a:ext cx="0" cy="92075"/>
          </a:xfrm>
          <a:prstGeom prst="line">
            <a:avLst/>
          </a:prstGeom>
          <a:noFill/>
          <a:ln w="9525">
            <a:solidFill>
              <a:srgbClr val="000000"/>
            </a:solidFill>
            <a:miter lim="800000"/>
            <a:headEnd/>
            <a:tailEnd/>
          </a:ln>
        </p:spPr>
        <p:txBody>
          <a:bodyPr/>
          <a:lstStyle/>
          <a:p>
            <a:endParaRPr lang="en-US"/>
          </a:p>
        </p:txBody>
      </p:sp>
      <p:sp>
        <p:nvSpPr>
          <p:cNvPr id="50200" name="Line 268"/>
          <p:cNvSpPr>
            <a:spLocks noChangeShapeType="1"/>
          </p:cNvSpPr>
          <p:nvPr/>
        </p:nvSpPr>
        <p:spPr bwMode="auto">
          <a:xfrm flipV="1">
            <a:off x="2584450" y="5108575"/>
            <a:ext cx="0" cy="92075"/>
          </a:xfrm>
          <a:prstGeom prst="line">
            <a:avLst/>
          </a:prstGeom>
          <a:noFill/>
          <a:ln w="9525">
            <a:solidFill>
              <a:srgbClr val="000000"/>
            </a:solidFill>
            <a:miter lim="800000"/>
            <a:headEnd/>
            <a:tailEnd/>
          </a:ln>
        </p:spPr>
        <p:txBody>
          <a:bodyPr/>
          <a:lstStyle/>
          <a:p>
            <a:endParaRPr lang="en-US"/>
          </a:p>
        </p:txBody>
      </p:sp>
      <p:sp>
        <p:nvSpPr>
          <p:cNvPr id="50201" name="Line 269"/>
          <p:cNvSpPr>
            <a:spLocks noChangeShapeType="1"/>
          </p:cNvSpPr>
          <p:nvPr/>
        </p:nvSpPr>
        <p:spPr bwMode="auto">
          <a:xfrm flipV="1">
            <a:off x="4752975" y="5108575"/>
            <a:ext cx="0" cy="92075"/>
          </a:xfrm>
          <a:prstGeom prst="line">
            <a:avLst/>
          </a:prstGeom>
          <a:noFill/>
          <a:ln w="9525">
            <a:solidFill>
              <a:srgbClr val="000000"/>
            </a:solidFill>
            <a:miter lim="800000"/>
            <a:headEnd/>
            <a:tailEnd/>
          </a:ln>
        </p:spPr>
        <p:txBody>
          <a:bodyPr/>
          <a:lstStyle/>
          <a:p>
            <a:endParaRPr lang="en-US"/>
          </a:p>
        </p:txBody>
      </p:sp>
      <p:sp>
        <p:nvSpPr>
          <p:cNvPr id="50202" name="Line 270"/>
          <p:cNvSpPr>
            <a:spLocks noChangeShapeType="1"/>
          </p:cNvSpPr>
          <p:nvPr/>
        </p:nvSpPr>
        <p:spPr bwMode="auto">
          <a:xfrm flipV="1">
            <a:off x="5437188" y="5108575"/>
            <a:ext cx="0" cy="92075"/>
          </a:xfrm>
          <a:prstGeom prst="line">
            <a:avLst/>
          </a:prstGeom>
          <a:noFill/>
          <a:ln w="9525">
            <a:solidFill>
              <a:srgbClr val="000000"/>
            </a:solidFill>
            <a:miter lim="800000"/>
            <a:headEnd/>
            <a:tailEnd/>
          </a:ln>
        </p:spPr>
        <p:txBody>
          <a:bodyPr/>
          <a:lstStyle/>
          <a:p>
            <a:endParaRPr lang="en-US"/>
          </a:p>
        </p:txBody>
      </p:sp>
      <p:sp>
        <p:nvSpPr>
          <p:cNvPr id="50203" name="Rectangle 271"/>
          <p:cNvSpPr>
            <a:spLocks noChangeArrowheads="1"/>
          </p:cNvSpPr>
          <p:nvPr/>
        </p:nvSpPr>
        <p:spPr bwMode="auto">
          <a:xfrm>
            <a:off x="1004888" y="5195888"/>
            <a:ext cx="84137"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0</a:t>
            </a:r>
            <a:endParaRPr lang="en-US"/>
          </a:p>
        </p:txBody>
      </p:sp>
      <p:sp>
        <p:nvSpPr>
          <p:cNvPr id="50204" name="Rectangle 272"/>
          <p:cNvSpPr>
            <a:spLocks noChangeArrowheads="1"/>
          </p:cNvSpPr>
          <p:nvPr/>
        </p:nvSpPr>
        <p:spPr bwMode="auto">
          <a:xfrm>
            <a:off x="3890963" y="5222875"/>
            <a:ext cx="84137"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0</a:t>
            </a:r>
            <a:endParaRPr lang="en-US"/>
          </a:p>
        </p:txBody>
      </p:sp>
      <p:sp>
        <p:nvSpPr>
          <p:cNvPr id="50205" name="Rectangle 273"/>
          <p:cNvSpPr>
            <a:spLocks noChangeArrowheads="1"/>
          </p:cNvSpPr>
          <p:nvPr/>
        </p:nvSpPr>
        <p:spPr bwMode="auto">
          <a:xfrm>
            <a:off x="4714875" y="5222875"/>
            <a:ext cx="84138" cy="1841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2</a:t>
            </a:r>
            <a:endParaRPr lang="en-US"/>
          </a:p>
        </p:txBody>
      </p:sp>
      <p:sp>
        <p:nvSpPr>
          <p:cNvPr id="50206" name="Rectangle 274"/>
          <p:cNvSpPr>
            <a:spLocks noChangeArrowheads="1"/>
          </p:cNvSpPr>
          <p:nvPr/>
        </p:nvSpPr>
        <p:spPr bwMode="auto">
          <a:xfrm>
            <a:off x="5408613" y="5222875"/>
            <a:ext cx="84137" cy="1841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3</a:t>
            </a:r>
            <a:endParaRPr lang="en-US"/>
          </a:p>
        </p:txBody>
      </p:sp>
      <p:sp>
        <p:nvSpPr>
          <p:cNvPr id="50207" name="Rectangle 275"/>
          <p:cNvSpPr>
            <a:spLocks noChangeArrowheads="1"/>
          </p:cNvSpPr>
          <p:nvPr/>
        </p:nvSpPr>
        <p:spPr bwMode="auto">
          <a:xfrm>
            <a:off x="2511425" y="5222875"/>
            <a:ext cx="85725" cy="1841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4</a:t>
            </a:r>
            <a:endParaRPr lang="en-US"/>
          </a:p>
        </p:txBody>
      </p:sp>
      <p:sp>
        <p:nvSpPr>
          <p:cNvPr id="50208" name="Rectangle 276"/>
          <p:cNvSpPr>
            <a:spLocks noChangeArrowheads="1"/>
          </p:cNvSpPr>
          <p:nvPr/>
        </p:nvSpPr>
        <p:spPr bwMode="auto">
          <a:xfrm>
            <a:off x="1825625" y="5222875"/>
            <a:ext cx="85725" cy="1841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3</a:t>
            </a:r>
            <a:endParaRPr lang="en-US"/>
          </a:p>
        </p:txBody>
      </p:sp>
      <p:sp>
        <p:nvSpPr>
          <p:cNvPr id="50209" name="Rectangle 277"/>
          <p:cNvSpPr>
            <a:spLocks noChangeArrowheads="1"/>
          </p:cNvSpPr>
          <p:nvPr/>
        </p:nvSpPr>
        <p:spPr bwMode="auto">
          <a:xfrm>
            <a:off x="6940550" y="5222875"/>
            <a:ext cx="84138"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0</a:t>
            </a:r>
            <a:endParaRPr lang="en-US"/>
          </a:p>
        </p:txBody>
      </p:sp>
      <p:sp>
        <p:nvSpPr>
          <p:cNvPr id="50210" name="Rectangle 278"/>
          <p:cNvSpPr>
            <a:spLocks noChangeArrowheads="1"/>
          </p:cNvSpPr>
          <p:nvPr/>
        </p:nvSpPr>
        <p:spPr bwMode="auto">
          <a:xfrm>
            <a:off x="828675" y="3409950"/>
            <a:ext cx="255588" cy="1841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$30</a:t>
            </a:r>
            <a:endParaRPr lang="en-US"/>
          </a:p>
        </p:txBody>
      </p:sp>
      <p:sp>
        <p:nvSpPr>
          <p:cNvPr id="50211" name="Line 279"/>
          <p:cNvSpPr>
            <a:spLocks noChangeShapeType="1"/>
          </p:cNvSpPr>
          <p:nvPr/>
        </p:nvSpPr>
        <p:spPr bwMode="auto">
          <a:xfrm>
            <a:off x="1052513" y="3495675"/>
            <a:ext cx="134937" cy="4763"/>
          </a:xfrm>
          <a:prstGeom prst="line">
            <a:avLst/>
          </a:prstGeom>
          <a:noFill/>
          <a:ln w="9525">
            <a:solidFill>
              <a:srgbClr val="000000"/>
            </a:solidFill>
            <a:miter lim="800000"/>
            <a:headEnd/>
            <a:tailEnd/>
          </a:ln>
        </p:spPr>
        <p:txBody>
          <a:bodyPr/>
          <a:lstStyle/>
          <a:p>
            <a:endParaRPr lang="en-US"/>
          </a:p>
        </p:txBody>
      </p:sp>
      <p:sp>
        <p:nvSpPr>
          <p:cNvPr id="50212" name="Line 280"/>
          <p:cNvSpPr>
            <a:spLocks noChangeShapeType="1"/>
          </p:cNvSpPr>
          <p:nvPr/>
        </p:nvSpPr>
        <p:spPr bwMode="auto">
          <a:xfrm>
            <a:off x="4065588" y="4375150"/>
            <a:ext cx="109537" cy="0"/>
          </a:xfrm>
          <a:prstGeom prst="line">
            <a:avLst/>
          </a:prstGeom>
          <a:noFill/>
          <a:ln w="9525">
            <a:solidFill>
              <a:srgbClr val="000000"/>
            </a:solidFill>
            <a:miter lim="800000"/>
            <a:headEnd/>
            <a:tailEnd/>
          </a:ln>
        </p:spPr>
        <p:txBody>
          <a:bodyPr/>
          <a:lstStyle/>
          <a:p>
            <a:endParaRPr lang="en-US"/>
          </a:p>
        </p:txBody>
      </p:sp>
      <p:sp>
        <p:nvSpPr>
          <p:cNvPr id="50213" name="Line 281"/>
          <p:cNvSpPr>
            <a:spLocks noChangeShapeType="1"/>
          </p:cNvSpPr>
          <p:nvPr/>
        </p:nvSpPr>
        <p:spPr bwMode="auto">
          <a:xfrm>
            <a:off x="4065588" y="3495675"/>
            <a:ext cx="109537" cy="0"/>
          </a:xfrm>
          <a:prstGeom prst="line">
            <a:avLst/>
          </a:prstGeom>
          <a:noFill/>
          <a:ln w="9525">
            <a:solidFill>
              <a:srgbClr val="000000"/>
            </a:solidFill>
            <a:miter lim="800000"/>
            <a:headEnd/>
            <a:tailEnd/>
          </a:ln>
        </p:spPr>
        <p:txBody>
          <a:bodyPr/>
          <a:lstStyle/>
          <a:p>
            <a:endParaRPr lang="en-US"/>
          </a:p>
        </p:txBody>
      </p:sp>
      <p:sp>
        <p:nvSpPr>
          <p:cNvPr id="50214" name="Rectangle 282"/>
          <p:cNvSpPr>
            <a:spLocks noChangeArrowheads="1"/>
          </p:cNvSpPr>
          <p:nvPr/>
        </p:nvSpPr>
        <p:spPr bwMode="auto">
          <a:xfrm>
            <a:off x="933450" y="4330700"/>
            <a:ext cx="84138"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1</a:t>
            </a:r>
            <a:endParaRPr lang="en-US"/>
          </a:p>
        </p:txBody>
      </p:sp>
      <p:sp>
        <p:nvSpPr>
          <p:cNvPr id="50215" name="Rectangle 283"/>
          <p:cNvSpPr>
            <a:spLocks noChangeArrowheads="1"/>
          </p:cNvSpPr>
          <p:nvPr/>
        </p:nvSpPr>
        <p:spPr bwMode="auto">
          <a:xfrm>
            <a:off x="3773488" y="3395663"/>
            <a:ext cx="254000" cy="185737"/>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$30</a:t>
            </a:r>
            <a:endParaRPr lang="en-US"/>
          </a:p>
        </p:txBody>
      </p:sp>
      <p:sp>
        <p:nvSpPr>
          <p:cNvPr id="50216" name="Rectangle 284"/>
          <p:cNvSpPr>
            <a:spLocks noChangeArrowheads="1"/>
          </p:cNvSpPr>
          <p:nvPr/>
        </p:nvSpPr>
        <p:spPr bwMode="auto">
          <a:xfrm>
            <a:off x="3903663" y="4295775"/>
            <a:ext cx="84137"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1</a:t>
            </a:r>
            <a:endParaRPr lang="en-US"/>
          </a:p>
        </p:txBody>
      </p:sp>
      <p:sp>
        <p:nvSpPr>
          <p:cNvPr id="50217" name="Rectangle 285"/>
          <p:cNvSpPr>
            <a:spLocks noChangeArrowheads="1"/>
          </p:cNvSpPr>
          <p:nvPr/>
        </p:nvSpPr>
        <p:spPr bwMode="auto">
          <a:xfrm>
            <a:off x="6791325" y="3411538"/>
            <a:ext cx="254000" cy="1841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$30</a:t>
            </a:r>
            <a:endParaRPr lang="en-US"/>
          </a:p>
        </p:txBody>
      </p:sp>
      <p:sp>
        <p:nvSpPr>
          <p:cNvPr id="50218" name="Rectangle 286"/>
          <p:cNvSpPr>
            <a:spLocks noChangeArrowheads="1"/>
          </p:cNvSpPr>
          <p:nvPr/>
        </p:nvSpPr>
        <p:spPr bwMode="auto">
          <a:xfrm>
            <a:off x="6931025" y="4295775"/>
            <a:ext cx="84138"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1</a:t>
            </a:r>
            <a:endParaRPr lang="en-US"/>
          </a:p>
        </p:txBody>
      </p:sp>
      <p:sp>
        <p:nvSpPr>
          <p:cNvPr id="50219" name="Freeform 308"/>
          <p:cNvSpPr>
            <a:spLocks/>
          </p:cNvSpPr>
          <p:nvPr/>
        </p:nvSpPr>
        <p:spPr bwMode="auto">
          <a:xfrm>
            <a:off x="1116013" y="3068638"/>
            <a:ext cx="155575" cy="2132012"/>
          </a:xfrm>
          <a:custGeom>
            <a:avLst/>
            <a:gdLst>
              <a:gd name="T0" fmla="*/ 2147483647 w 138"/>
              <a:gd name="T1" fmla="*/ 2147483647 h 1545"/>
              <a:gd name="T2" fmla="*/ 0 w 138"/>
              <a:gd name="T3" fmla="*/ 2147483647 h 1545"/>
              <a:gd name="T4" fmla="*/ 0 w 138"/>
              <a:gd name="T5" fmla="*/ 0 h 1545"/>
              <a:gd name="T6" fmla="*/ 0 60000 65536"/>
              <a:gd name="T7" fmla="*/ 0 60000 65536"/>
              <a:gd name="T8" fmla="*/ 0 60000 65536"/>
              <a:gd name="T9" fmla="*/ 0 w 138"/>
              <a:gd name="T10" fmla="*/ 0 h 1545"/>
              <a:gd name="T11" fmla="*/ 138 w 138"/>
              <a:gd name="T12" fmla="*/ 1545 h 1545"/>
            </a:gdLst>
            <a:ahLst/>
            <a:cxnLst>
              <a:cxn ang="T6">
                <a:pos x="T0" y="T1"/>
              </a:cxn>
              <a:cxn ang="T7">
                <a:pos x="T2" y="T3"/>
              </a:cxn>
              <a:cxn ang="T8">
                <a:pos x="T4" y="T5"/>
              </a:cxn>
            </a:cxnLst>
            <a:rect l="T9" t="T10" r="T11" b="T12"/>
            <a:pathLst>
              <a:path w="138" h="1545">
                <a:moveTo>
                  <a:pt x="138" y="1545"/>
                </a:moveTo>
                <a:lnTo>
                  <a:pt x="0" y="1545"/>
                </a:lnTo>
                <a:lnTo>
                  <a:pt x="0" y="0"/>
                </a:lnTo>
              </a:path>
            </a:pathLst>
          </a:custGeom>
          <a:noFill/>
          <a:ln w="9525" cap="flat">
            <a:solidFill>
              <a:srgbClr val="000000"/>
            </a:solidFill>
            <a:prstDash val="solid"/>
            <a:miter lim="800000"/>
            <a:headEnd/>
            <a:tailEnd/>
          </a:ln>
        </p:spPr>
        <p:txBody>
          <a:bodyPr/>
          <a:lstStyle/>
          <a:p>
            <a:endParaRPr lang="en-US"/>
          </a:p>
        </p:txBody>
      </p:sp>
      <p:sp>
        <p:nvSpPr>
          <p:cNvPr id="50220" name="Line 309"/>
          <p:cNvSpPr>
            <a:spLocks noChangeShapeType="1"/>
          </p:cNvSpPr>
          <p:nvPr/>
        </p:nvSpPr>
        <p:spPr bwMode="auto">
          <a:xfrm flipH="1">
            <a:off x="1346200" y="5200650"/>
            <a:ext cx="1779588" cy="0"/>
          </a:xfrm>
          <a:prstGeom prst="line">
            <a:avLst/>
          </a:prstGeom>
          <a:noFill/>
          <a:ln w="9525">
            <a:solidFill>
              <a:srgbClr val="000000"/>
            </a:solidFill>
            <a:miter lim="800000"/>
            <a:headEnd/>
            <a:tailEnd/>
          </a:ln>
        </p:spPr>
        <p:txBody>
          <a:bodyPr/>
          <a:lstStyle/>
          <a:p>
            <a:endParaRPr lang="en-US"/>
          </a:p>
        </p:txBody>
      </p:sp>
      <p:sp>
        <p:nvSpPr>
          <p:cNvPr id="50221" name="Line 342"/>
          <p:cNvSpPr>
            <a:spLocks noChangeShapeType="1"/>
          </p:cNvSpPr>
          <p:nvPr/>
        </p:nvSpPr>
        <p:spPr bwMode="auto">
          <a:xfrm flipV="1">
            <a:off x="4056063" y="2747963"/>
            <a:ext cx="0" cy="2452687"/>
          </a:xfrm>
          <a:prstGeom prst="line">
            <a:avLst/>
          </a:prstGeom>
          <a:noFill/>
          <a:ln w="9525">
            <a:solidFill>
              <a:srgbClr val="000000"/>
            </a:solidFill>
            <a:miter lim="800000"/>
            <a:headEnd/>
            <a:tailEnd/>
          </a:ln>
        </p:spPr>
        <p:txBody>
          <a:bodyPr/>
          <a:lstStyle/>
          <a:p>
            <a:endParaRPr lang="en-US"/>
          </a:p>
        </p:txBody>
      </p:sp>
      <p:sp>
        <p:nvSpPr>
          <p:cNvPr id="50222" name="Line 343"/>
          <p:cNvSpPr>
            <a:spLocks noChangeShapeType="1"/>
          </p:cNvSpPr>
          <p:nvPr/>
        </p:nvSpPr>
        <p:spPr bwMode="auto">
          <a:xfrm flipH="1">
            <a:off x="4056063" y="5200650"/>
            <a:ext cx="2017712" cy="0"/>
          </a:xfrm>
          <a:prstGeom prst="line">
            <a:avLst/>
          </a:prstGeom>
          <a:noFill/>
          <a:ln w="9525">
            <a:solidFill>
              <a:srgbClr val="000000"/>
            </a:solidFill>
            <a:miter lim="800000"/>
            <a:headEnd/>
            <a:tailEnd/>
          </a:ln>
        </p:spPr>
        <p:txBody>
          <a:bodyPr/>
          <a:lstStyle/>
          <a:p>
            <a:endParaRPr lang="en-US"/>
          </a:p>
        </p:txBody>
      </p:sp>
      <p:sp>
        <p:nvSpPr>
          <p:cNvPr id="50223" name="Line 344"/>
          <p:cNvSpPr>
            <a:spLocks noChangeShapeType="1"/>
          </p:cNvSpPr>
          <p:nvPr/>
        </p:nvSpPr>
        <p:spPr bwMode="auto">
          <a:xfrm>
            <a:off x="2730500" y="4568825"/>
            <a:ext cx="0" cy="0"/>
          </a:xfrm>
          <a:prstGeom prst="line">
            <a:avLst/>
          </a:prstGeom>
          <a:noFill/>
          <a:ln w="36513">
            <a:solidFill>
              <a:srgbClr val="AEC5E7"/>
            </a:solidFill>
            <a:miter lim="800000"/>
            <a:headEnd/>
            <a:tailEnd/>
          </a:ln>
        </p:spPr>
        <p:txBody>
          <a:bodyPr/>
          <a:lstStyle/>
          <a:p>
            <a:endParaRPr lang="en-US"/>
          </a:p>
        </p:txBody>
      </p:sp>
      <p:sp>
        <p:nvSpPr>
          <p:cNvPr id="50224" name="Line 345"/>
          <p:cNvSpPr>
            <a:spLocks noChangeShapeType="1"/>
          </p:cNvSpPr>
          <p:nvPr/>
        </p:nvSpPr>
        <p:spPr bwMode="auto">
          <a:xfrm>
            <a:off x="1717675" y="3289300"/>
            <a:ext cx="0" cy="0"/>
          </a:xfrm>
          <a:prstGeom prst="line">
            <a:avLst/>
          </a:prstGeom>
          <a:noFill/>
          <a:ln w="36513">
            <a:solidFill>
              <a:srgbClr val="AEC5E7"/>
            </a:solidFill>
            <a:miter lim="800000"/>
            <a:headEnd/>
            <a:tailEnd/>
          </a:ln>
        </p:spPr>
        <p:txBody>
          <a:bodyPr/>
          <a:lstStyle/>
          <a:p>
            <a:endParaRPr lang="en-US"/>
          </a:p>
        </p:txBody>
      </p:sp>
      <p:sp>
        <p:nvSpPr>
          <p:cNvPr id="50225" name="Line 386"/>
          <p:cNvSpPr>
            <a:spLocks noChangeShapeType="1"/>
          </p:cNvSpPr>
          <p:nvPr/>
        </p:nvSpPr>
        <p:spPr bwMode="auto">
          <a:xfrm>
            <a:off x="1744663" y="3289300"/>
            <a:ext cx="985837" cy="1279525"/>
          </a:xfrm>
          <a:prstGeom prst="line">
            <a:avLst/>
          </a:prstGeom>
          <a:noFill/>
          <a:ln w="36513">
            <a:solidFill>
              <a:srgbClr val="3C5DAA"/>
            </a:solidFill>
            <a:miter lim="800000"/>
            <a:headEnd/>
            <a:tailEnd/>
          </a:ln>
        </p:spPr>
        <p:txBody>
          <a:bodyPr/>
          <a:lstStyle/>
          <a:p>
            <a:endParaRPr lang="en-US"/>
          </a:p>
        </p:txBody>
      </p:sp>
      <p:sp>
        <p:nvSpPr>
          <p:cNvPr id="50226" name="Oval 387"/>
          <p:cNvSpPr>
            <a:spLocks noChangeArrowheads="1"/>
          </p:cNvSpPr>
          <p:nvPr/>
        </p:nvSpPr>
        <p:spPr bwMode="auto">
          <a:xfrm>
            <a:off x="2533650" y="4329113"/>
            <a:ext cx="92075" cy="92075"/>
          </a:xfrm>
          <a:prstGeom prst="ellipse">
            <a:avLst/>
          </a:prstGeom>
          <a:solidFill>
            <a:srgbClr val="000000"/>
          </a:solidFill>
          <a:ln w="9525">
            <a:noFill/>
            <a:round/>
            <a:headEnd/>
            <a:tailEnd/>
          </a:ln>
        </p:spPr>
        <p:txBody>
          <a:bodyPr/>
          <a:lstStyle/>
          <a:p>
            <a:endParaRPr lang="en-US"/>
          </a:p>
        </p:txBody>
      </p:sp>
      <p:sp>
        <p:nvSpPr>
          <p:cNvPr id="50227" name="Oval 388"/>
          <p:cNvSpPr>
            <a:spLocks noChangeArrowheads="1"/>
          </p:cNvSpPr>
          <p:nvPr/>
        </p:nvSpPr>
        <p:spPr bwMode="auto">
          <a:xfrm>
            <a:off x="1854200" y="3444875"/>
            <a:ext cx="92075" cy="92075"/>
          </a:xfrm>
          <a:prstGeom prst="ellipse">
            <a:avLst/>
          </a:prstGeom>
          <a:solidFill>
            <a:srgbClr val="000000"/>
          </a:solidFill>
          <a:ln w="9525">
            <a:noFill/>
            <a:round/>
            <a:headEnd/>
            <a:tailEnd/>
          </a:ln>
        </p:spPr>
        <p:txBody>
          <a:bodyPr/>
          <a:lstStyle/>
          <a:p>
            <a:endParaRPr lang="en-US"/>
          </a:p>
        </p:txBody>
      </p:sp>
      <p:sp>
        <p:nvSpPr>
          <p:cNvPr id="50228" name="Line 389"/>
          <p:cNvSpPr>
            <a:spLocks noChangeShapeType="1"/>
          </p:cNvSpPr>
          <p:nvPr/>
        </p:nvSpPr>
        <p:spPr bwMode="auto">
          <a:xfrm>
            <a:off x="4583113" y="3260725"/>
            <a:ext cx="985837" cy="1303338"/>
          </a:xfrm>
          <a:prstGeom prst="line">
            <a:avLst/>
          </a:prstGeom>
          <a:noFill/>
          <a:ln w="36513">
            <a:solidFill>
              <a:srgbClr val="3C5DAA"/>
            </a:solidFill>
            <a:miter lim="800000"/>
            <a:headEnd/>
            <a:tailEnd/>
          </a:ln>
        </p:spPr>
        <p:txBody>
          <a:bodyPr/>
          <a:lstStyle/>
          <a:p>
            <a:endParaRPr lang="en-US"/>
          </a:p>
        </p:txBody>
      </p:sp>
      <p:sp>
        <p:nvSpPr>
          <p:cNvPr id="50229" name="Oval 390"/>
          <p:cNvSpPr>
            <a:spLocks noChangeArrowheads="1"/>
          </p:cNvSpPr>
          <p:nvPr/>
        </p:nvSpPr>
        <p:spPr bwMode="auto">
          <a:xfrm>
            <a:off x="5386388" y="4325938"/>
            <a:ext cx="92075" cy="90487"/>
          </a:xfrm>
          <a:prstGeom prst="ellipse">
            <a:avLst/>
          </a:prstGeom>
          <a:solidFill>
            <a:srgbClr val="000000"/>
          </a:solidFill>
          <a:ln w="9525">
            <a:noFill/>
            <a:round/>
            <a:headEnd/>
            <a:tailEnd/>
          </a:ln>
        </p:spPr>
        <p:txBody>
          <a:bodyPr/>
          <a:lstStyle/>
          <a:p>
            <a:endParaRPr lang="en-US"/>
          </a:p>
        </p:txBody>
      </p:sp>
      <p:sp>
        <p:nvSpPr>
          <p:cNvPr id="50230" name="Oval 391"/>
          <p:cNvSpPr>
            <a:spLocks noChangeArrowheads="1"/>
          </p:cNvSpPr>
          <p:nvPr/>
        </p:nvSpPr>
        <p:spPr bwMode="auto">
          <a:xfrm>
            <a:off x="4706938" y="3449638"/>
            <a:ext cx="92075" cy="92075"/>
          </a:xfrm>
          <a:prstGeom prst="ellipse">
            <a:avLst/>
          </a:prstGeom>
          <a:solidFill>
            <a:srgbClr val="000000"/>
          </a:solidFill>
          <a:ln w="9525">
            <a:noFill/>
            <a:round/>
            <a:headEnd/>
            <a:tailEnd/>
          </a:ln>
        </p:spPr>
        <p:txBody>
          <a:bodyPr/>
          <a:lstStyle/>
          <a:p>
            <a:endParaRPr lang="en-US"/>
          </a:p>
        </p:txBody>
      </p:sp>
      <p:sp>
        <p:nvSpPr>
          <p:cNvPr id="50231" name="Line 393"/>
          <p:cNvSpPr>
            <a:spLocks noChangeShapeType="1"/>
          </p:cNvSpPr>
          <p:nvPr/>
        </p:nvSpPr>
        <p:spPr bwMode="auto">
          <a:xfrm flipH="1">
            <a:off x="7270750" y="5159375"/>
            <a:ext cx="55563" cy="82550"/>
          </a:xfrm>
          <a:prstGeom prst="line">
            <a:avLst/>
          </a:prstGeom>
          <a:noFill/>
          <a:ln w="9525">
            <a:solidFill>
              <a:srgbClr val="000000"/>
            </a:solidFill>
            <a:miter lim="800000"/>
            <a:headEnd/>
            <a:tailEnd/>
          </a:ln>
        </p:spPr>
        <p:txBody>
          <a:bodyPr/>
          <a:lstStyle/>
          <a:p>
            <a:endParaRPr lang="en-US"/>
          </a:p>
        </p:txBody>
      </p:sp>
      <p:sp>
        <p:nvSpPr>
          <p:cNvPr id="50232" name="Line 394"/>
          <p:cNvSpPr>
            <a:spLocks noChangeShapeType="1"/>
          </p:cNvSpPr>
          <p:nvPr/>
        </p:nvSpPr>
        <p:spPr bwMode="auto">
          <a:xfrm flipH="1">
            <a:off x="7343775" y="5159375"/>
            <a:ext cx="55563" cy="82550"/>
          </a:xfrm>
          <a:prstGeom prst="line">
            <a:avLst/>
          </a:prstGeom>
          <a:noFill/>
          <a:ln w="9525">
            <a:solidFill>
              <a:srgbClr val="000000"/>
            </a:solidFill>
            <a:miter lim="800000"/>
            <a:headEnd/>
            <a:tailEnd/>
          </a:ln>
        </p:spPr>
        <p:txBody>
          <a:bodyPr/>
          <a:lstStyle/>
          <a:p>
            <a:endParaRPr lang="en-US"/>
          </a:p>
        </p:txBody>
      </p:sp>
      <p:sp>
        <p:nvSpPr>
          <p:cNvPr id="50233" name="Rectangle 395"/>
          <p:cNvSpPr>
            <a:spLocks noChangeArrowheads="1"/>
          </p:cNvSpPr>
          <p:nvPr/>
        </p:nvSpPr>
        <p:spPr bwMode="auto">
          <a:xfrm>
            <a:off x="7773988" y="5222875"/>
            <a:ext cx="85725" cy="1841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5</a:t>
            </a:r>
            <a:endParaRPr lang="en-US"/>
          </a:p>
        </p:txBody>
      </p:sp>
      <p:sp>
        <p:nvSpPr>
          <p:cNvPr id="50234" name="Rectangle 396"/>
          <p:cNvSpPr>
            <a:spLocks noChangeArrowheads="1"/>
          </p:cNvSpPr>
          <p:nvPr/>
        </p:nvSpPr>
        <p:spPr bwMode="auto">
          <a:xfrm>
            <a:off x="8343900" y="5222875"/>
            <a:ext cx="85725" cy="1841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6</a:t>
            </a:r>
            <a:endParaRPr lang="en-US"/>
          </a:p>
        </p:txBody>
      </p:sp>
      <p:sp>
        <p:nvSpPr>
          <p:cNvPr id="50235" name="Rectangle 397"/>
          <p:cNvSpPr>
            <a:spLocks noChangeArrowheads="1"/>
          </p:cNvSpPr>
          <p:nvPr/>
        </p:nvSpPr>
        <p:spPr bwMode="auto">
          <a:xfrm>
            <a:off x="8826500" y="5222875"/>
            <a:ext cx="84138" cy="1841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7</a:t>
            </a:r>
            <a:endParaRPr lang="en-US"/>
          </a:p>
        </p:txBody>
      </p:sp>
      <p:sp>
        <p:nvSpPr>
          <p:cNvPr id="50236" name="Line 398"/>
          <p:cNvSpPr>
            <a:spLocks noChangeShapeType="1"/>
          </p:cNvSpPr>
          <p:nvPr/>
        </p:nvSpPr>
        <p:spPr bwMode="auto">
          <a:xfrm>
            <a:off x="7083425" y="4375150"/>
            <a:ext cx="109538" cy="0"/>
          </a:xfrm>
          <a:prstGeom prst="line">
            <a:avLst/>
          </a:prstGeom>
          <a:noFill/>
          <a:ln w="9525">
            <a:solidFill>
              <a:srgbClr val="000000"/>
            </a:solidFill>
            <a:miter lim="800000"/>
            <a:headEnd/>
            <a:tailEnd/>
          </a:ln>
        </p:spPr>
        <p:txBody>
          <a:bodyPr/>
          <a:lstStyle/>
          <a:p>
            <a:endParaRPr lang="en-US"/>
          </a:p>
        </p:txBody>
      </p:sp>
      <p:sp>
        <p:nvSpPr>
          <p:cNvPr id="50237" name="Line 399"/>
          <p:cNvSpPr>
            <a:spLocks noChangeShapeType="1"/>
          </p:cNvSpPr>
          <p:nvPr/>
        </p:nvSpPr>
        <p:spPr bwMode="auto">
          <a:xfrm>
            <a:off x="7083425" y="3495675"/>
            <a:ext cx="109538" cy="0"/>
          </a:xfrm>
          <a:prstGeom prst="line">
            <a:avLst/>
          </a:prstGeom>
          <a:noFill/>
          <a:ln w="9525">
            <a:solidFill>
              <a:srgbClr val="000000"/>
            </a:solidFill>
            <a:miter lim="800000"/>
            <a:headEnd/>
            <a:tailEnd/>
          </a:ln>
        </p:spPr>
        <p:txBody>
          <a:bodyPr/>
          <a:lstStyle/>
          <a:p>
            <a:endParaRPr lang="en-US"/>
          </a:p>
        </p:txBody>
      </p:sp>
      <p:sp>
        <p:nvSpPr>
          <p:cNvPr id="50238" name="Freeform 410"/>
          <p:cNvSpPr>
            <a:spLocks/>
          </p:cNvSpPr>
          <p:nvPr/>
        </p:nvSpPr>
        <p:spPr bwMode="auto">
          <a:xfrm>
            <a:off x="7078663" y="2747963"/>
            <a:ext cx="219075" cy="2452687"/>
          </a:xfrm>
          <a:custGeom>
            <a:avLst/>
            <a:gdLst>
              <a:gd name="T0" fmla="*/ 2147483647 w 138"/>
              <a:gd name="T1" fmla="*/ 2147483647 h 1545"/>
              <a:gd name="T2" fmla="*/ 0 w 138"/>
              <a:gd name="T3" fmla="*/ 2147483647 h 1545"/>
              <a:gd name="T4" fmla="*/ 0 w 138"/>
              <a:gd name="T5" fmla="*/ 0 h 1545"/>
              <a:gd name="T6" fmla="*/ 0 60000 65536"/>
              <a:gd name="T7" fmla="*/ 0 60000 65536"/>
              <a:gd name="T8" fmla="*/ 0 60000 65536"/>
              <a:gd name="T9" fmla="*/ 0 w 138"/>
              <a:gd name="T10" fmla="*/ 0 h 1545"/>
              <a:gd name="T11" fmla="*/ 138 w 138"/>
              <a:gd name="T12" fmla="*/ 1545 h 1545"/>
            </a:gdLst>
            <a:ahLst/>
            <a:cxnLst>
              <a:cxn ang="T6">
                <a:pos x="T0" y="T1"/>
              </a:cxn>
              <a:cxn ang="T7">
                <a:pos x="T2" y="T3"/>
              </a:cxn>
              <a:cxn ang="T8">
                <a:pos x="T4" y="T5"/>
              </a:cxn>
            </a:cxnLst>
            <a:rect l="T9" t="T10" r="T11" b="T12"/>
            <a:pathLst>
              <a:path w="138" h="1545">
                <a:moveTo>
                  <a:pt x="138" y="1545"/>
                </a:moveTo>
                <a:lnTo>
                  <a:pt x="0" y="1545"/>
                </a:lnTo>
                <a:lnTo>
                  <a:pt x="0" y="0"/>
                </a:lnTo>
              </a:path>
            </a:pathLst>
          </a:custGeom>
          <a:noFill/>
          <a:ln w="9525" cap="flat">
            <a:solidFill>
              <a:srgbClr val="000000"/>
            </a:solidFill>
            <a:prstDash val="solid"/>
            <a:miter lim="800000"/>
            <a:headEnd/>
            <a:tailEnd/>
          </a:ln>
        </p:spPr>
        <p:txBody>
          <a:bodyPr/>
          <a:lstStyle/>
          <a:p>
            <a:endParaRPr lang="en-US"/>
          </a:p>
        </p:txBody>
      </p:sp>
      <p:sp>
        <p:nvSpPr>
          <p:cNvPr id="50239" name="Line 411"/>
          <p:cNvSpPr>
            <a:spLocks noChangeShapeType="1"/>
          </p:cNvSpPr>
          <p:nvPr/>
        </p:nvSpPr>
        <p:spPr bwMode="auto">
          <a:xfrm flipH="1">
            <a:off x="7450138" y="5200650"/>
            <a:ext cx="1801812" cy="0"/>
          </a:xfrm>
          <a:prstGeom prst="line">
            <a:avLst/>
          </a:prstGeom>
          <a:noFill/>
          <a:ln w="9525">
            <a:solidFill>
              <a:srgbClr val="000000"/>
            </a:solidFill>
            <a:miter lim="800000"/>
            <a:headEnd/>
            <a:tailEnd/>
          </a:ln>
        </p:spPr>
        <p:txBody>
          <a:bodyPr/>
          <a:lstStyle/>
          <a:p>
            <a:endParaRPr lang="en-US"/>
          </a:p>
        </p:txBody>
      </p:sp>
      <p:sp>
        <p:nvSpPr>
          <p:cNvPr id="50240" name="Line 412"/>
          <p:cNvSpPr>
            <a:spLocks noChangeShapeType="1"/>
          </p:cNvSpPr>
          <p:nvPr/>
        </p:nvSpPr>
        <p:spPr bwMode="auto">
          <a:xfrm>
            <a:off x="7537450" y="3279775"/>
            <a:ext cx="1531938" cy="1260475"/>
          </a:xfrm>
          <a:prstGeom prst="line">
            <a:avLst/>
          </a:prstGeom>
          <a:noFill/>
          <a:ln w="36513">
            <a:solidFill>
              <a:srgbClr val="3C5DAA"/>
            </a:solidFill>
            <a:miter lim="800000"/>
            <a:headEnd/>
            <a:tailEnd/>
          </a:ln>
        </p:spPr>
        <p:txBody>
          <a:bodyPr/>
          <a:lstStyle/>
          <a:p>
            <a:endParaRPr lang="en-US"/>
          </a:p>
        </p:txBody>
      </p:sp>
      <p:sp>
        <p:nvSpPr>
          <p:cNvPr id="50241" name="Oval 413"/>
          <p:cNvSpPr>
            <a:spLocks noChangeArrowheads="1"/>
          </p:cNvSpPr>
          <p:nvPr/>
        </p:nvSpPr>
        <p:spPr bwMode="auto">
          <a:xfrm>
            <a:off x="8824913" y="4333875"/>
            <a:ext cx="92075" cy="92075"/>
          </a:xfrm>
          <a:prstGeom prst="ellipse">
            <a:avLst/>
          </a:prstGeom>
          <a:solidFill>
            <a:srgbClr val="000000"/>
          </a:solidFill>
          <a:ln w="9525">
            <a:noFill/>
            <a:round/>
            <a:headEnd/>
            <a:tailEnd/>
          </a:ln>
        </p:spPr>
        <p:txBody>
          <a:bodyPr/>
          <a:lstStyle/>
          <a:p>
            <a:endParaRPr lang="en-US"/>
          </a:p>
        </p:txBody>
      </p:sp>
      <p:sp>
        <p:nvSpPr>
          <p:cNvPr id="50242" name="Oval 414"/>
          <p:cNvSpPr>
            <a:spLocks noChangeArrowheads="1"/>
          </p:cNvSpPr>
          <p:nvPr/>
        </p:nvSpPr>
        <p:spPr bwMode="auto">
          <a:xfrm>
            <a:off x="7780338" y="3459163"/>
            <a:ext cx="92075" cy="90487"/>
          </a:xfrm>
          <a:prstGeom prst="ellipse">
            <a:avLst/>
          </a:prstGeom>
          <a:solidFill>
            <a:srgbClr val="000000"/>
          </a:solidFill>
          <a:ln w="9525">
            <a:noFill/>
            <a:round/>
            <a:headEnd/>
            <a:tailEnd/>
          </a:ln>
        </p:spPr>
        <p:txBody>
          <a:bodyPr/>
          <a:lstStyle/>
          <a:p>
            <a:endParaRPr lang="en-US"/>
          </a:p>
        </p:txBody>
      </p:sp>
      <p:sp>
        <p:nvSpPr>
          <p:cNvPr id="50243" name="Line 415"/>
          <p:cNvSpPr>
            <a:spLocks noChangeShapeType="1"/>
          </p:cNvSpPr>
          <p:nvPr/>
        </p:nvSpPr>
        <p:spPr bwMode="auto">
          <a:xfrm flipV="1">
            <a:off x="7826375" y="5108575"/>
            <a:ext cx="0" cy="92075"/>
          </a:xfrm>
          <a:prstGeom prst="line">
            <a:avLst/>
          </a:prstGeom>
          <a:noFill/>
          <a:ln w="9525">
            <a:solidFill>
              <a:srgbClr val="000000"/>
            </a:solidFill>
            <a:miter lim="800000"/>
            <a:headEnd/>
            <a:tailEnd/>
          </a:ln>
        </p:spPr>
        <p:txBody>
          <a:bodyPr/>
          <a:lstStyle/>
          <a:p>
            <a:endParaRPr lang="en-US"/>
          </a:p>
        </p:txBody>
      </p:sp>
      <p:sp>
        <p:nvSpPr>
          <p:cNvPr id="50244" name="Line 416"/>
          <p:cNvSpPr>
            <a:spLocks noChangeShapeType="1"/>
          </p:cNvSpPr>
          <p:nvPr/>
        </p:nvSpPr>
        <p:spPr bwMode="auto">
          <a:xfrm flipV="1">
            <a:off x="8380413" y="5108575"/>
            <a:ext cx="0" cy="92075"/>
          </a:xfrm>
          <a:prstGeom prst="line">
            <a:avLst/>
          </a:prstGeom>
          <a:noFill/>
          <a:ln w="9525">
            <a:solidFill>
              <a:srgbClr val="000000"/>
            </a:solidFill>
            <a:miter lim="800000"/>
            <a:headEnd/>
            <a:tailEnd/>
          </a:ln>
        </p:spPr>
        <p:txBody>
          <a:bodyPr/>
          <a:lstStyle/>
          <a:p>
            <a:endParaRPr lang="en-US"/>
          </a:p>
        </p:txBody>
      </p:sp>
      <p:sp>
        <p:nvSpPr>
          <p:cNvPr id="50245" name="Line 417"/>
          <p:cNvSpPr>
            <a:spLocks noChangeShapeType="1"/>
          </p:cNvSpPr>
          <p:nvPr/>
        </p:nvSpPr>
        <p:spPr bwMode="auto">
          <a:xfrm flipV="1">
            <a:off x="8880475" y="5108575"/>
            <a:ext cx="0" cy="92075"/>
          </a:xfrm>
          <a:prstGeom prst="line">
            <a:avLst/>
          </a:prstGeom>
          <a:noFill/>
          <a:ln w="9525">
            <a:solidFill>
              <a:srgbClr val="000000"/>
            </a:solidFill>
            <a:miter lim="800000"/>
            <a:headEnd/>
            <a:tailEnd/>
          </a:ln>
        </p:spPr>
        <p:txBody>
          <a:bodyPr/>
          <a:lstStyle/>
          <a:p>
            <a:endParaRPr lang="en-US"/>
          </a:p>
        </p:txBody>
      </p:sp>
      <p:sp>
        <p:nvSpPr>
          <p:cNvPr id="50246" name="Rectangle 418"/>
          <p:cNvSpPr>
            <a:spLocks noChangeArrowheads="1"/>
          </p:cNvSpPr>
          <p:nvPr/>
        </p:nvSpPr>
        <p:spPr bwMode="auto">
          <a:xfrm>
            <a:off x="8459788" y="3716338"/>
            <a:ext cx="144462" cy="200025"/>
          </a:xfrm>
          <a:prstGeom prst="rect">
            <a:avLst/>
          </a:prstGeom>
          <a:noFill/>
          <a:ln w="9525">
            <a:noFill/>
            <a:miter lim="800000"/>
            <a:headEnd/>
            <a:tailEnd/>
          </a:ln>
        </p:spPr>
        <p:txBody>
          <a:bodyPr lIns="0" tIns="0" rIns="0" bIns="0">
            <a:spAutoFit/>
          </a:bodyPr>
          <a:lstStyle/>
          <a:p>
            <a:pPr marL="1588" indent="-1588"/>
            <a:r>
              <a:rPr lang="en-US" sz="1300" i="1">
                <a:solidFill>
                  <a:srgbClr val="000000"/>
                </a:solidFill>
                <a:latin typeface="Myriad Roman"/>
              </a:rPr>
              <a:t>D</a:t>
            </a:r>
            <a:endParaRPr lang="en-US" i="1"/>
          </a:p>
        </p:txBody>
      </p:sp>
      <p:sp>
        <p:nvSpPr>
          <p:cNvPr id="50247" name="Rectangle 419"/>
          <p:cNvSpPr>
            <a:spLocks noChangeArrowheads="1"/>
          </p:cNvSpPr>
          <p:nvPr/>
        </p:nvSpPr>
        <p:spPr bwMode="auto">
          <a:xfrm>
            <a:off x="8604250" y="3789363"/>
            <a:ext cx="349250" cy="138112"/>
          </a:xfrm>
          <a:prstGeom prst="rect">
            <a:avLst/>
          </a:prstGeom>
          <a:noFill/>
          <a:ln w="9525">
            <a:noFill/>
            <a:miter lim="800000"/>
            <a:headEnd/>
            <a:tailEnd/>
          </a:ln>
        </p:spPr>
        <p:txBody>
          <a:bodyPr lIns="0" tIns="0" rIns="0" bIns="0">
            <a:spAutoFit/>
          </a:bodyPr>
          <a:lstStyle/>
          <a:p>
            <a:pPr marL="1588" indent="-1588"/>
            <a:r>
              <a:rPr lang="en-US" sz="900" i="1">
                <a:solidFill>
                  <a:srgbClr val="000000"/>
                </a:solidFill>
                <a:latin typeface="Myriad Roman"/>
              </a:rPr>
              <a:t>Market</a:t>
            </a:r>
            <a:endParaRPr lang="en-US" i="1"/>
          </a:p>
        </p:txBody>
      </p:sp>
      <p:sp>
        <p:nvSpPr>
          <p:cNvPr id="50248" name="TextBox 29"/>
          <p:cNvSpPr txBox="1">
            <a:spLocks noChangeArrowheads="1"/>
          </p:cNvSpPr>
          <p:nvPr/>
        </p:nvSpPr>
        <p:spPr bwMode="auto">
          <a:xfrm>
            <a:off x="971550" y="1773238"/>
            <a:ext cx="1600200" cy="738187"/>
          </a:xfrm>
          <a:prstGeom prst="rect">
            <a:avLst/>
          </a:prstGeom>
          <a:noFill/>
          <a:ln w="9525">
            <a:noFill/>
            <a:miter lim="800000"/>
            <a:headEnd/>
            <a:tailEnd/>
          </a:ln>
        </p:spPr>
        <p:txBody>
          <a:bodyPr>
            <a:spAutoFit/>
          </a:bodyPr>
          <a:lstStyle/>
          <a:p>
            <a:pPr algn="ctr"/>
            <a:r>
              <a:rPr lang="en-US" sz="1400" b="1"/>
              <a:t>(a) </a:t>
            </a:r>
          </a:p>
          <a:p>
            <a:pPr algn="ctr"/>
            <a:r>
              <a:rPr lang="en-US" sz="1400" b="1"/>
              <a:t>Darla’s Individual Demand Curve</a:t>
            </a:r>
          </a:p>
        </p:txBody>
      </p:sp>
      <p:sp>
        <p:nvSpPr>
          <p:cNvPr id="50249" name="TextBox 29"/>
          <p:cNvSpPr txBox="1">
            <a:spLocks noChangeArrowheads="1"/>
          </p:cNvSpPr>
          <p:nvPr/>
        </p:nvSpPr>
        <p:spPr bwMode="auto">
          <a:xfrm>
            <a:off x="4292600" y="1866900"/>
            <a:ext cx="1600200" cy="738188"/>
          </a:xfrm>
          <a:prstGeom prst="rect">
            <a:avLst/>
          </a:prstGeom>
          <a:noFill/>
          <a:ln w="9525">
            <a:noFill/>
            <a:miter lim="800000"/>
            <a:headEnd/>
            <a:tailEnd/>
          </a:ln>
        </p:spPr>
        <p:txBody>
          <a:bodyPr>
            <a:spAutoFit/>
          </a:bodyPr>
          <a:lstStyle/>
          <a:p>
            <a:pPr algn="ctr"/>
            <a:r>
              <a:rPr lang="en-US" sz="1400" b="1"/>
              <a:t>(b) </a:t>
            </a:r>
          </a:p>
          <a:p>
            <a:pPr algn="ctr"/>
            <a:r>
              <a:rPr lang="en-US" sz="1400" b="1"/>
              <a:t>Dino’s Individual Demand Curve</a:t>
            </a:r>
          </a:p>
        </p:txBody>
      </p:sp>
      <p:sp>
        <p:nvSpPr>
          <p:cNvPr id="50250" name="TextBox 29"/>
          <p:cNvSpPr txBox="1">
            <a:spLocks noChangeArrowheads="1"/>
          </p:cNvSpPr>
          <p:nvPr/>
        </p:nvSpPr>
        <p:spPr bwMode="auto">
          <a:xfrm>
            <a:off x="6883400" y="1844675"/>
            <a:ext cx="2057400" cy="538163"/>
          </a:xfrm>
          <a:prstGeom prst="rect">
            <a:avLst/>
          </a:prstGeom>
          <a:noFill/>
          <a:ln w="9525">
            <a:noFill/>
            <a:miter lim="800000"/>
            <a:headEnd/>
            <a:tailEnd/>
          </a:ln>
        </p:spPr>
        <p:txBody>
          <a:bodyPr>
            <a:spAutoFit/>
          </a:bodyPr>
          <a:lstStyle/>
          <a:p>
            <a:pPr algn="ctr"/>
            <a:r>
              <a:rPr lang="en-US" sz="1400" b="1"/>
              <a:t>(c) </a:t>
            </a:r>
          </a:p>
          <a:p>
            <a:pPr algn="ctr"/>
            <a:r>
              <a:rPr lang="en-US" sz="1400" b="1"/>
              <a:t>Market Demand Curve</a:t>
            </a:r>
          </a:p>
        </p:txBody>
      </p:sp>
      <p:sp>
        <p:nvSpPr>
          <p:cNvPr id="50251" name="TextBox 29"/>
          <p:cNvSpPr txBox="1">
            <a:spLocks noChangeArrowheads="1"/>
          </p:cNvSpPr>
          <p:nvPr/>
        </p:nvSpPr>
        <p:spPr bwMode="auto">
          <a:xfrm>
            <a:off x="827088" y="2636838"/>
            <a:ext cx="1081087" cy="430212"/>
          </a:xfrm>
          <a:prstGeom prst="rect">
            <a:avLst/>
          </a:prstGeom>
          <a:noFill/>
          <a:ln w="9525">
            <a:noFill/>
            <a:miter lim="800000"/>
            <a:headEnd/>
            <a:tailEnd/>
          </a:ln>
        </p:spPr>
        <p:txBody>
          <a:bodyPr>
            <a:spAutoFit/>
          </a:bodyPr>
          <a:lstStyle/>
          <a:p>
            <a:pPr algn="ctr"/>
            <a:r>
              <a:rPr lang="en-US" sz="1100" b="1"/>
              <a:t>Price of blue jeans (per pair)</a:t>
            </a:r>
          </a:p>
        </p:txBody>
      </p:sp>
      <p:sp>
        <p:nvSpPr>
          <p:cNvPr id="50252" name="TextBox 30"/>
          <p:cNvSpPr txBox="1">
            <a:spLocks noChangeArrowheads="1"/>
          </p:cNvSpPr>
          <p:nvPr/>
        </p:nvSpPr>
        <p:spPr bwMode="auto">
          <a:xfrm>
            <a:off x="1403350" y="5373688"/>
            <a:ext cx="1676400" cy="430212"/>
          </a:xfrm>
          <a:prstGeom prst="rect">
            <a:avLst/>
          </a:prstGeom>
          <a:noFill/>
          <a:ln w="9525">
            <a:noFill/>
            <a:miter lim="800000"/>
            <a:headEnd/>
            <a:tailEnd/>
          </a:ln>
        </p:spPr>
        <p:txBody>
          <a:bodyPr>
            <a:spAutoFit/>
          </a:bodyPr>
          <a:lstStyle/>
          <a:p>
            <a:pPr algn="r"/>
            <a:r>
              <a:rPr lang="en-US" sz="1100" b="1"/>
              <a:t>Quantity of blue jeans (pounds)</a:t>
            </a:r>
          </a:p>
        </p:txBody>
      </p:sp>
      <p:sp>
        <p:nvSpPr>
          <p:cNvPr id="50253" name="TextBox 30"/>
          <p:cNvSpPr txBox="1">
            <a:spLocks noChangeArrowheads="1"/>
          </p:cNvSpPr>
          <p:nvPr/>
        </p:nvSpPr>
        <p:spPr bwMode="auto">
          <a:xfrm>
            <a:off x="7467600" y="5373688"/>
            <a:ext cx="1676400" cy="430212"/>
          </a:xfrm>
          <a:prstGeom prst="rect">
            <a:avLst/>
          </a:prstGeom>
          <a:noFill/>
          <a:ln w="9525">
            <a:noFill/>
            <a:miter lim="800000"/>
            <a:headEnd/>
            <a:tailEnd/>
          </a:ln>
        </p:spPr>
        <p:txBody>
          <a:bodyPr>
            <a:spAutoFit/>
          </a:bodyPr>
          <a:lstStyle/>
          <a:p>
            <a:pPr algn="r"/>
            <a:r>
              <a:rPr lang="en-US" sz="1100" b="1"/>
              <a:t>Quantity of blue jeans (pounds)</a:t>
            </a:r>
          </a:p>
        </p:txBody>
      </p:sp>
      <p:sp>
        <p:nvSpPr>
          <p:cNvPr id="50254" name="TextBox 30"/>
          <p:cNvSpPr txBox="1">
            <a:spLocks noChangeArrowheads="1"/>
          </p:cNvSpPr>
          <p:nvPr/>
        </p:nvSpPr>
        <p:spPr bwMode="auto">
          <a:xfrm>
            <a:off x="4500563" y="5300663"/>
            <a:ext cx="1676400" cy="431800"/>
          </a:xfrm>
          <a:prstGeom prst="rect">
            <a:avLst/>
          </a:prstGeom>
          <a:noFill/>
          <a:ln w="9525">
            <a:noFill/>
            <a:miter lim="800000"/>
            <a:headEnd/>
            <a:tailEnd/>
          </a:ln>
        </p:spPr>
        <p:txBody>
          <a:bodyPr>
            <a:spAutoFit/>
          </a:bodyPr>
          <a:lstStyle/>
          <a:p>
            <a:pPr algn="r"/>
            <a:r>
              <a:rPr lang="en-US" sz="1100" b="1"/>
              <a:t>Quantity of blue jeans (pounds)</a:t>
            </a:r>
          </a:p>
        </p:txBody>
      </p:sp>
      <p:sp>
        <p:nvSpPr>
          <p:cNvPr id="50255" name="TextBox 29"/>
          <p:cNvSpPr txBox="1">
            <a:spLocks noChangeArrowheads="1"/>
          </p:cNvSpPr>
          <p:nvPr/>
        </p:nvSpPr>
        <p:spPr bwMode="auto">
          <a:xfrm>
            <a:off x="2949575" y="2603500"/>
            <a:ext cx="1079500" cy="430213"/>
          </a:xfrm>
          <a:prstGeom prst="rect">
            <a:avLst/>
          </a:prstGeom>
          <a:noFill/>
          <a:ln w="9525">
            <a:noFill/>
            <a:miter lim="800000"/>
            <a:headEnd/>
            <a:tailEnd/>
          </a:ln>
        </p:spPr>
        <p:txBody>
          <a:bodyPr>
            <a:spAutoFit/>
          </a:bodyPr>
          <a:lstStyle/>
          <a:p>
            <a:pPr algn="ctr"/>
            <a:r>
              <a:rPr lang="en-US" sz="1100" b="1"/>
              <a:t>Price of blue jeans (per pair)</a:t>
            </a:r>
          </a:p>
        </p:txBody>
      </p:sp>
      <p:sp>
        <p:nvSpPr>
          <p:cNvPr id="50256" name="TextBox 29"/>
          <p:cNvSpPr txBox="1">
            <a:spLocks noChangeArrowheads="1"/>
          </p:cNvSpPr>
          <p:nvPr/>
        </p:nvSpPr>
        <p:spPr bwMode="auto">
          <a:xfrm>
            <a:off x="5973763" y="2603500"/>
            <a:ext cx="1079500" cy="430213"/>
          </a:xfrm>
          <a:prstGeom prst="rect">
            <a:avLst/>
          </a:prstGeom>
          <a:noFill/>
          <a:ln w="9525">
            <a:noFill/>
            <a:miter lim="800000"/>
            <a:headEnd/>
            <a:tailEnd/>
          </a:ln>
        </p:spPr>
        <p:txBody>
          <a:bodyPr>
            <a:spAutoFit/>
          </a:bodyPr>
          <a:lstStyle/>
          <a:p>
            <a:pPr algn="ctr"/>
            <a:r>
              <a:rPr lang="en-US" sz="1100" b="1"/>
              <a:t>Price of blue jeans (per pair)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262"/>
                                        </p:tgtEl>
                                        <p:attrNameLst>
                                          <p:attrName>style.visibility</p:attrName>
                                        </p:attrNameLst>
                                      </p:cBhvr>
                                      <p:to>
                                        <p:strVal val="visible"/>
                                      </p:to>
                                    </p:set>
                                    <p:animEffect transition="in" filter="wipe(left)">
                                      <p:cBhvr>
                                        <p:cTn id="7" dur="500"/>
                                        <p:tgtEl>
                                          <p:spTgt spid="563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6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113" y="60325"/>
            <a:ext cx="8064500" cy="555625"/>
          </a:xfrm>
        </p:spPr>
        <p:txBody>
          <a:bodyPr/>
          <a:lstStyle/>
          <a:p>
            <a:pPr>
              <a:defRPr/>
            </a:pPr>
            <a:r>
              <a:rPr lang="en-US" dirty="0" smtClean="0">
                <a:solidFill>
                  <a:schemeClr val="accent2">
                    <a:lumMod val="40000"/>
                    <a:lumOff val="60000"/>
                  </a:schemeClr>
                </a:solidFill>
              </a:rPr>
              <a:t>ECONOMICS IN </a:t>
            </a:r>
            <a:r>
              <a:rPr lang="en-US" dirty="0">
                <a:solidFill>
                  <a:schemeClr val="accent2">
                    <a:lumMod val="40000"/>
                    <a:lumOff val="60000"/>
                  </a:schemeClr>
                </a:solidFill>
              </a:rPr>
              <a:t>ACTION: </a:t>
            </a:r>
            <a:r>
              <a:rPr lang="en-US" dirty="0">
                <a:solidFill>
                  <a:schemeClr val="accent2">
                    <a:lumMod val="20000"/>
                    <a:lumOff val="80000"/>
                  </a:schemeClr>
                </a:solidFill>
              </a:rPr>
              <a:t>Beating the </a:t>
            </a:r>
            <a:r>
              <a:rPr lang="en-US" dirty="0" smtClean="0">
                <a:solidFill>
                  <a:schemeClr val="accent2">
                    <a:lumMod val="20000"/>
                    <a:lumOff val="80000"/>
                  </a:schemeClr>
                </a:solidFill>
              </a:rPr>
              <a:t>Traffic</a:t>
            </a:r>
            <a:endParaRPr lang="en-US" dirty="0">
              <a:solidFill>
                <a:schemeClr val="accent2">
                  <a:lumMod val="20000"/>
                  <a:lumOff val="80000"/>
                </a:schemeClr>
              </a:solidFill>
            </a:endParaRPr>
          </a:p>
        </p:txBody>
      </p:sp>
      <p:sp>
        <p:nvSpPr>
          <p:cNvPr id="3" name="Content Placeholder 2"/>
          <p:cNvSpPr>
            <a:spLocks noGrp="1"/>
          </p:cNvSpPr>
          <p:nvPr>
            <p:ph idx="1"/>
          </p:nvPr>
        </p:nvSpPr>
        <p:spPr>
          <a:xfrm>
            <a:off x="688975" y="839788"/>
            <a:ext cx="8196263" cy="5541540"/>
          </a:xfrm>
        </p:spPr>
        <p:txBody>
          <a:bodyPr/>
          <a:lstStyle/>
          <a:p>
            <a:pPr marL="0" indent="0">
              <a:spcAft>
                <a:spcPts val="1200"/>
              </a:spcAft>
              <a:buNone/>
            </a:pPr>
            <a:r>
              <a:rPr lang="en-US" dirty="0" smtClean="0"/>
              <a:t>Traffic </a:t>
            </a:r>
            <a:r>
              <a:rPr lang="en-US" dirty="0"/>
              <a:t>congestion slows down traffic, wastes </a:t>
            </a:r>
            <a:r>
              <a:rPr lang="en-US" dirty="0" smtClean="0"/>
              <a:t>time, and increases air pollution. How can cities reduce traffic congestion? </a:t>
            </a:r>
          </a:p>
          <a:p>
            <a:r>
              <a:rPr lang="en-US" dirty="0" smtClean="0"/>
              <a:t>If </a:t>
            </a:r>
            <a:r>
              <a:rPr lang="en-US" dirty="0"/>
              <a:t>we think of car trips to the city center as a good or service that people consume, we can use the economics of demand to analyze anti-traffic </a:t>
            </a:r>
            <a:r>
              <a:rPr lang="en-US" dirty="0" smtClean="0"/>
              <a:t>policies</a:t>
            </a:r>
          </a:p>
          <a:p>
            <a:r>
              <a:rPr lang="en-US" dirty="0" smtClean="0"/>
              <a:t>A common strategy is to reduce the demand by lowering the prices of substitutes</a:t>
            </a:r>
          </a:p>
          <a:p>
            <a:pPr lvl="1"/>
            <a:r>
              <a:rPr lang="en-US" dirty="0" smtClean="0"/>
              <a:t>Many metropolitan areas subsidize bus and rail service to lure commuters into other forms of transport</a:t>
            </a:r>
          </a:p>
          <a:p>
            <a:r>
              <a:rPr lang="en-US" dirty="0" smtClean="0"/>
              <a:t>Several </a:t>
            </a:r>
            <a:r>
              <a:rPr lang="en-US" dirty="0"/>
              <a:t>cities impose high taxes on </a:t>
            </a:r>
            <a:r>
              <a:rPr lang="en-US" dirty="0" smtClean="0"/>
              <a:t>parking and </a:t>
            </a:r>
            <a:r>
              <a:rPr lang="en-US" dirty="0"/>
              <a:t>impose short time limits on parking meters, </a:t>
            </a:r>
            <a:endParaRPr lang="en-US" dirty="0" smtClean="0"/>
          </a:p>
          <a:p>
            <a:pPr lvl="1"/>
            <a:r>
              <a:rPr lang="en-US" dirty="0" smtClean="0"/>
              <a:t>Raises </a:t>
            </a:r>
            <a:r>
              <a:rPr lang="en-US" dirty="0"/>
              <a:t>revenue and </a:t>
            </a:r>
            <a:r>
              <a:rPr lang="en-US" dirty="0" smtClean="0"/>
              <a:t>discourages driving </a:t>
            </a:r>
            <a:r>
              <a:rPr lang="en-US" dirty="0"/>
              <a:t>into the city</a:t>
            </a:r>
            <a:r>
              <a:rPr lang="en-US" dirty="0" smtClean="0"/>
              <a: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113" y="60325"/>
            <a:ext cx="8064500" cy="555625"/>
          </a:xfrm>
        </p:spPr>
        <p:txBody>
          <a:bodyPr/>
          <a:lstStyle/>
          <a:p>
            <a:pPr>
              <a:defRPr/>
            </a:pPr>
            <a:r>
              <a:rPr lang="en-US" dirty="0" smtClean="0">
                <a:solidFill>
                  <a:schemeClr val="accent2">
                    <a:lumMod val="40000"/>
                    <a:lumOff val="60000"/>
                  </a:schemeClr>
                </a:solidFill>
              </a:rPr>
              <a:t>ECONOMICS IN ACTION</a:t>
            </a:r>
            <a:endParaRPr lang="en-US" dirty="0">
              <a:solidFill>
                <a:schemeClr val="accent2">
                  <a:lumMod val="40000"/>
                  <a:lumOff val="60000"/>
                </a:schemeClr>
              </a:solidFill>
            </a:endParaRPr>
          </a:p>
        </p:txBody>
      </p:sp>
      <p:sp>
        <p:nvSpPr>
          <p:cNvPr id="3" name="Content Placeholder 2"/>
          <p:cNvSpPr>
            <a:spLocks noGrp="1"/>
          </p:cNvSpPr>
          <p:nvPr>
            <p:ph idx="1"/>
          </p:nvPr>
        </p:nvSpPr>
        <p:spPr>
          <a:xfrm>
            <a:off x="900113" y="981075"/>
            <a:ext cx="7993062" cy="5472113"/>
          </a:xfrm>
        </p:spPr>
        <p:txBody>
          <a:bodyPr/>
          <a:lstStyle/>
          <a:p>
            <a:r>
              <a:rPr lang="en-US" dirty="0" smtClean="0"/>
              <a:t>A few cities—including Singapore, London and Stockholm—have directly taxed driving into the city </a:t>
            </a:r>
          </a:p>
          <a:p>
            <a:pPr lvl="1"/>
            <a:r>
              <a:rPr lang="en-US" dirty="0" smtClean="0"/>
              <a:t>“Congestion pricing” (or “congestion charging”) is a </a:t>
            </a:r>
            <a:r>
              <a:rPr lang="en-US" dirty="0">
                <a:solidFill>
                  <a:schemeClr val="accent2">
                    <a:lumMod val="50000"/>
                  </a:schemeClr>
                </a:solidFill>
              </a:rPr>
              <a:t>politically controversial </a:t>
            </a:r>
            <a:r>
              <a:rPr lang="en-US" dirty="0" smtClean="0"/>
              <a:t>charge that is imposed on cars entering the city center during business hours</a:t>
            </a:r>
          </a:p>
          <a:p>
            <a:r>
              <a:rPr lang="en-US" dirty="0" smtClean="0"/>
              <a:t>Cities that implement congestion </a:t>
            </a:r>
            <a:r>
              <a:rPr lang="en-US" dirty="0"/>
              <a:t>pricing, </a:t>
            </a:r>
            <a:r>
              <a:rPr lang="en-US" dirty="0" smtClean="0"/>
              <a:t>do </a:t>
            </a:r>
            <a:r>
              <a:rPr lang="en-US" dirty="0"/>
              <a:t>indeed </a:t>
            </a:r>
            <a:r>
              <a:rPr lang="en-US" dirty="0" smtClean="0"/>
              <a:t>see decreases in traffic </a:t>
            </a:r>
            <a:endParaRPr lang="en-US" dirty="0"/>
          </a:p>
          <a:p>
            <a:pPr lvl="1"/>
            <a:r>
              <a:rPr lang="en-US" dirty="0" smtClean="0"/>
              <a:t>Introduction </a:t>
            </a:r>
            <a:r>
              <a:rPr lang="en-US" dirty="0"/>
              <a:t>of </a:t>
            </a:r>
            <a:r>
              <a:rPr lang="en-US" dirty="0" smtClean="0"/>
              <a:t>congestion </a:t>
            </a:r>
            <a:r>
              <a:rPr lang="en-US" dirty="0"/>
              <a:t>charge in 2003 immediately reduced traffic in </a:t>
            </a:r>
            <a:r>
              <a:rPr lang="en-US" dirty="0" smtClean="0"/>
              <a:t>London </a:t>
            </a:r>
            <a:r>
              <a:rPr lang="en-US" dirty="0"/>
              <a:t>city center by about 15</a:t>
            </a:r>
            <a:r>
              <a:rPr lang="en-US" dirty="0" smtClean="0"/>
              <a:t>%; overall </a:t>
            </a:r>
            <a:r>
              <a:rPr lang="en-US" dirty="0"/>
              <a:t>traffic </a:t>
            </a:r>
            <a:r>
              <a:rPr lang="en-US" dirty="0" smtClean="0"/>
              <a:t>fell </a:t>
            </a:r>
            <a:r>
              <a:rPr lang="en-US" dirty="0"/>
              <a:t>by 21% </a:t>
            </a:r>
            <a:r>
              <a:rPr lang="en-US" dirty="0" smtClean="0"/>
              <a:t>from </a:t>
            </a:r>
            <a:r>
              <a:rPr lang="en-US" dirty="0"/>
              <a:t>2002 </a:t>
            </a:r>
            <a:r>
              <a:rPr lang="en-US" dirty="0" smtClean="0"/>
              <a:t>to 2006</a:t>
            </a:r>
            <a:endParaRPr lang="en-US" dirty="0"/>
          </a:p>
          <a:p>
            <a:pPr lvl="1"/>
            <a:r>
              <a:rPr lang="en-US" dirty="0" smtClean="0"/>
              <a:t>There </a:t>
            </a:r>
            <a:r>
              <a:rPr lang="en-US" dirty="0"/>
              <a:t>was increased use of substitutes, such as public transportation, bicycles, motorbikes, and ride-sharing</a:t>
            </a:r>
            <a:r>
              <a:rPr lang="en-US" dirty="0" smtClean="0"/>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Rot="1" noChangeArrowheads="1"/>
          </p:cNvSpPr>
          <p:nvPr>
            <p:ph type="title"/>
          </p:nvPr>
        </p:nvSpPr>
        <p:spPr>
          <a:xfrm>
            <a:off x="900113" y="0"/>
            <a:ext cx="8064500" cy="731838"/>
          </a:xfrm>
        </p:spPr>
        <p:txBody>
          <a:bodyPr/>
          <a:lstStyle/>
          <a:p>
            <a:pPr>
              <a:defRPr/>
            </a:pPr>
            <a:r>
              <a:rPr lang="en-US" dirty="0"/>
              <a:t>Supply Schedule</a:t>
            </a:r>
          </a:p>
        </p:txBody>
      </p:sp>
      <p:sp>
        <p:nvSpPr>
          <p:cNvPr id="56322" name="Rectangle 3"/>
          <p:cNvSpPr>
            <a:spLocks noGrp="1" noChangeArrowheads="1"/>
          </p:cNvSpPr>
          <p:nvPr>
            <p:ph type="body" sz="half" idx="1"/>
          </p:nvPr>
        </p:nvSpPr>
        <p:spPr>
          <a:xfrm>
            <a:off x="615950" y="846138"/>
            <a:ext cx="2905125" cy="5478462"/>
          </a:xfrm>
        </p:spPr>
        <p:txBody>
          <a:bodyPr/>
          <a:lstStyle/>
          <a:p>
            <a:r>
              <a:rPr lang="en-US" sz="2400" smtClean="0"/>
              <a:t>A supply schedule shows how much of a good or service would be supplied at different prices. </a:t>
            </a:r>
          </a:p>
          <a:p>
            <a:pPr>
              <a:buFont typeface="Wingdings" pitchFamily="2" charset="2"/>
              <a:buNone/>
            </a:pPr>
            <a:endParaRPr lang="en-US" sz="2400" smtClean="0"/>
          </a:p>
        </p:txBody>
      </p:sp>
      <p:graphicFrame>
        <p:nvGraphicFramePr>
          <p:cNvPr id="569382" name="Group 38"/>
          <p:cNvGraphicFramePr>
            <a:graphicFrameLocks noGrp="1"/>
          </p:cNvGraphicFramePr>
          <p:nvPr>
            <p:ph sz="half" idx="2"/>
          </p:nvPr>
        </p:nvGraphicFramePr>
        <p:xfrm>
          <a:off x="4038600" y="838200"/>
          <a:ext cx="4800600" cy="5683886"/>
        </p:xfrm>
        <a:graphic>
          <a:graphicData uri="http://schemas.openxmlformats.org/drawingml/2006/table">
            <a:tbl>
              <a:tblPr/>
              <a:tblGrid>
                <a:gridCol w="2400300"/>
                <a:gridCol w="2400300"/>
              </a:tblGrid>
              <a:tr h="573088">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Supply Schedule for Cotton </a:t>
                      </a:r>
                    </a:p>
                  </a:txBody>
                  <a:tcPr anchor="ctr" horzOverflow="overflow">
                    <a:lnL w="28575"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hMerge="1">
                  <a:txBody>
                    <a:bodyPr/>
                    <a:lstStyle/>
                    <a:p>
                      <a:endParaRPr lang="en-US"/>
                    </a:p>
                  </a:txBody>
                  <a:tcPr/>
                </a:tc>
              </a:tr>
              <a:tr h="6762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Price of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cotton</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(per pound)</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6">
                        <a:lumMod val="40000"/>
                        <a:lumOff val="60000"/>
                        <a:alpha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Quantity of</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cotton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supplied</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(billions of pounds)</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6">
                        <a:lumMod val="40000"/>
                        <a:lumOff val="60000"/>
                        <a:alpha val="50000"/>
                      </a:schemeClr>
                    </a:solidFill>
                  </a:tcPr>
                </a:tc>
              </a:tr>
              <a:tr h="4810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$2.00</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11.6</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r>
              <a:tr h="482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1.75</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11.5</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r>
              <a:tr h="508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1.50</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11.2</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r>
              <a:tr h="482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1.25</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10.7</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r>
              <a:tr h="4794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1.00</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10.0</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r>
              <a:tr h="482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0.75</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9.1</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r>
              <a:tr h="1809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0.50</a:t>
                      </a:r>
                    </a:p>
                  </a:txBody>
                  <a:tcP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8.0</a:t>
                      </a:r>
                    </a:p>
                  </a:txBody>
                  <a:tcP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93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p:cNvSpPr>
            <a:spLocks noGrp="1" noRot="1" noChangeArrowheads="1"/>
          </p:cNvSpPr>
          <p:nvPr>
            <p:ph type="title"/>
          </p:nvPr>
        </p:nvSpPr>
        <p:spPr>
          <a:xfrm>
            <a:off x="900113" y="60325"/>
            <a:ext cx="8020050" cy="555625"/>
          </a:xfrm>
        </p:spPr>
        <p:txBody>
          <a:bodyPr/>
          <a:lstStyle/>
          <a:p>
            <a:pPr>
              <a:defRPr/>
            </a:pPr>
            <a:r>
              <a:rPr lang="en-US" dirty="0"/>
              <a:t>Supply Curve</a:t>
            </a:r>
          </a:p>
        </p:txBody>
      </p:sp>
      <p:sp>
        <p:nvSpPr>
          <p:cNvPr id="58370" name="Line 15"/>
          <p:cNvSpPr>
            <a:spLocks noChangeShapeType="1"/>
          </p:cNvSpPr>
          <p:nvPr/>
        </p:nvSpPr>
        <p:spPr bwMode="auto">
          <a:xfrm flipV="1">
            <a:off x="2393950" y="914400"/>
            <a:ext cx="0" cy="4121150"/>
          </a:xfrm>
          <a:prstGeom prst="line">
            <a:avLst/>
          </a:prstGeom>
          <a:noFill/>
          <a:ln w="7938">
            <a:solidFill>
              <a:srgbClr val="000000"/>
            </a:solidFill>
            <a:miter lim="800000"/>
            <a:headEnd/>
            <a:tailEnd/>
          </a:ln>
        </p:spPr>
        <p:txBody>
          <a:bodyPr/>
          <a:lstStyle/>
          <a:p>
            <a:endParaRPr lang="en-US"/>
          </a:p>
        </p:txBody>
      </p:sp>
      <p:sp>
        <p:nvSpPr>
          <p:cNvPr id="58371" name="TextBox 30"/>
          <p:cNvSpPr txBox="1">
            <a:spLocks noChangeArrowheads="1"/>
          </p:cNvSpPr>
          <p:nvPr/>
        </p:nvSpPr>
        <p:spPr bwMode="auto">
          <a:xfrm>
            <a:off x="4784725" y="5513388"/>
            <a:ext cx="3902075" cy="307975"/>
          </a:xfrm>
          <a:prstGeom prst="rect">
            <a:avLst/>
          </a:prstGeom>
          <a:noFill/>
          <a:ln w="9525">
            <a:noFill/>
            <a:miter lim="800000"/>
            <a:headEnd/>
            <a:tailEnd/>
          </a:ln>
        </p:spPr>
        <p:txBody>
          <a:bodyPr>
            <a:spAutoFit/>
          </a:bodyPr>
          <a:lstStyle/>
          <a:p>
            <a:pPr algn="ctr"/>
            <a:r>
              <a:rPr lang="en-US" sz="1400" b="1"/>
              <a:t>Quantity of cotton (billions of pounds)</a:t>
            </a:r>
          </a:p>
        </p:txBody>
      </p:sp>
      <p:sp>
        <p:nvSpPr>
          <p:cNvPr id="58372" name="TextBox 29"/>
          <p:cNvSpPr txBox="1">
            <a:spLocks noChangeArrowheads="1"/>
          </p:cNvSpPr>
          <p:nvPr/>
        </p:nvSpPr>
        <p:spPr bwMode="auto">
          <a:xfrm>
            <a:off x="900113" y="908050"/>
            <a:ext cx="1508125" cy="523875"/>
          </a:xfrm>
          <a:prstGeom prst="rect">
            <a:avLst/>
          </a:prstGeom>
          <a:noFill/>
          <a:ln w="9525">
            <a:noFill/>
            <a:miter lim="800000"/>
            <a:headEnd/>
            <a:tailEnd/>
          </a:ln>
        </p:spPr>
        <p:txBody>
          <a:bodyPr>
            <a:spAutoFit/>
          </a:bodyPr>
          <a:lstStyle/>
          <a:p>
            <a:pPr algn="ctr"/>
            <a:r>
              <a:rPr lang="en-US" sz="1400" b="1"/>
              <a:t>Price of cotton </a:t>
            </a:r>
            <a:br>
              <a:rPr lang="en-US" sz="1400" b="1"/>
            </a:br>
            <a:r>
              <a:rPr lang="en-US" sz="1400" b="1"/>
              <a:t>(per pound)</a:t>
            </a:r>
          </a:p>
        </p:txBody>
      </p:sp>
      <p:sp>
        <p:nvSpPr>
          <p:cNvPr id="58373" name="Freeform 16"/>
          <p:cNvSpPr>
            <a:spLocks/>
          </p:cNvSpPr>
          <p:nvPr/>
        </p:nvSpPr>
        <p:spPr bwMode="auto">
          <a:xfrm>
            <a:off x="2393950" y="5111750"/>
            <a:ext cx="209550" cy="139700"/>
          </a:xfrm>
          <a:custGeom>
            <a:avLst/>
            <a:gdLst>
              <a:gd name="T0" fmla="*/ 2147483647 w 88"/>
              <a:gd name="T1" fmla="*/ 2147483647 h 86"/>
              <a:gd name="T2" fmla="*/ 0 w 88"/>
              <a:gd name="T3" fmla="*/ 2147483647 h 86"/>
              <a:gd name="T4" fmla="*/ 0 w 88"/>
              <a:gd name="T5" fmla="*/ 0 h 86"/>
              <a:gd name="T6" fmla="*/ 0 60000 65536"/>
              <a:gd name="T7" fmla="*/ 0 60000 65536"/>
              <a:gd name="T8" fmla="*/ 0 60000 65536"/>
              <a:gd name="T9" fmla="*/ 0 w 88"/>
              <a:gd name="T10" fmla="*/ 0 h 86"/>
              <a:gd name="T11" fmla="*/ 88 w 88"/>
              <a:gd name="T12" fmla="*/ 86 h 86"/>
            </a:gdLst>
            <a:ahLst/>
            <a:cxnLst>
              <a:cxn ang="T6">
                <a:pos x="T0" y="T1"/>
              </a:cxn>
              <a:cxn ang="T7">
                <a:pos x="T2" y="T3"/>
              </a:cxn>
              <a:cxn ang="T8">
                <a:pos x="T4" y="T5"/>
              </a:cxn>
            </a:cxnLst>
            <a:rect l="T9" t="T10" r="T11" b="T12"/>
            <a:pathLst>
              <a:path w="88" h="86">
                <a:moveTo>
                  <a:pt x="88" y="86"/>
                </a:moveTo>
                <a:lnTo>
                  <a:pt x="0" y="86"/>
                </a:lnTo>
                <a:lnTo>
                  <a:pt x="0" y="0"/>
                </a:lnTo>
              </a:path>
            </a:pathLst>
          </a:custGeom>
          <a:noFill/>
          <a:ln w="7938" cap="flat">
            <a:solidFill>
              <a:srgbClr val="000000"/>
            </a:solidFill>
            <a:prstDash val="solid"/>
            <a:miter lim="800000"/>
            <a:headEnd/>
            <a:tailEnd/>
          </a:ln>
        </p:spPr>
        <p:txBody>
          <a:bodyPr/>
          <a:lstStyle/>
          <a:p>
            <a:endParaRPr lang="en-US"/>
          </a:p>
        </p:txBody>
      </p:sp>
      <p:sp>
        <p:nvSpPr>
          <p:cNvPr id="58374" name="Line 17"/>
          <p:cNvSpPr>
            <a:spLocks noChangeShapeType="1"/>
          </p:cNvSpPr>
          <p:nvPr/>
        </p:nvSpPr>
        <p:spPr bwMode="auto">
          <a:xfrm flipH="1">
            <a:off x="2716213" y="5251450"/>
            <a:ext cx="4718050" cy="1588"/>
          </a:xfrm>
          <a:prstGeom prst="line">
            <a:avLst/>
          </a:prstGeom>
          <a:noFill/>
          <a:ln w="7938">
            <a:solidFill>
              <a:srgbClr val="000000"/>
            </a:solidFill>
            <a:miter lim="800000"/>
            <a:headEnd/>
            <a:tailEnd/>
          </a:ln>
        </p:spPr>
        <p:txBody>
          <a:bodyPr/>
          <a:lstStyle/>
          <a:p>
            <a:endParaRPr lang="en-US"/>
          </a:p>
        </p:txBody>
      </p:sp>
      <p:sp>
        <p:nvSpPr>
          <p:cNvPr id="58375" name="Rectangle 18"/>
          <p:cNvSpPr>
            <a:spLocks noChangeArrowheads="1"/>
          </p:cNvSpPr>
          <p:nvPr/>
        </p:nvSpPr>
        <p:spPr bwMode="auto">
          <a:xfrm>
            <a:off x="3168650" y="528637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7</a:t>
            </a:r>
            <a:endParaRPr lang="en-US" sz="1400"/>
          </a:p>
        </p:txBody>
      </p:sp>
      <p:sp>
        <p:nvSpPr>
          <p:cNvPr id="58376" name="Rectangle 19"/>
          <p:cNvSpPr>
            <a:spLocks noChangeArrowheads="1"/>
          </p:cNvSpPr>
          <p:nvPr/>
        </p:nvSpPr>
        <p:spPr bwMode="auto">
          <a:xfrm>
            <a:off x="2151063" y="528637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p>
        </p:txBody>
      </p:sp>
      <p:sp>
        <p:nvSpPr>
          <p:cNvPr id="58377" name="Rectangle 20"/>
          <p:cNvSpPr>
            <a:spLocks noChangeArrowheads="1"/>
          </p:cNvSpPr>
          <p:nvPr/>
        </p:nvSpPr>
        <p:spPr bwMode="auto">
          <a:xfrm>
            <a:off x="4008438" y="528637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9</a:t>
            </a:r>
            <a:endParaRPr lang="en-US" sz="1400"/>
          </a:p>
        </p:txBody>
      </p:sp>
      <p:sp>
        <p:nvSpPr>
          <p:cNvPr id="58378" name="Rectangle 21"/>
          <p:cNvSpPr>
            <a:spLocks noChangeArrowheads="1"/>
          </p:cNvSpPr>
          <p:nvPr/>
        </p:nvSpPr>
        <p:spPr bwMode="auto">
          <a:xfrm>
            <a:off x="4784725" y="5286375"/>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11</a:t>
            </a:r>
            <a:endParaRPr lang="en-US" sz="1400"/>
          </a:p>
        </p:txBody>
      </p:sp>
      <p:sp>
        <p:nvSpPr>
          <p:cNvPr id="58379" name="Rectangle 22"/>
          <p:cNvSpPr>
            <a:spLocks noChangeArrowheads="1"/>
          </p:cNvSpPr>
          <p:nvPr/>
        </p:nvSpPr>
        <p:spPr bwMode="auto">
          <a:xfrm>
            <a:off x="6465888" y="5286375"/>
            <a:ext cx="19843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a:t>
            </a:r>
            <a:endParaRPr lang="en-US" sz="1400"/>
          </a:p>
        </p:txBody>
      </p:sp>
      <p:sp>
        <p:nvSpPr>
          <p:cNvPr id="58380" name="Rectangle 23"/>
          <p:cNvSpPr>
            <a:spLocks noChangeArrowheads="1"/>
          </p:cNvSpPr>
          <p:nvPr/>
        </p:nvSpPr>
        <p:spPr bwMode="auto">
          <a:xfrm>
            <a:off x="5624513" y="5286375"/>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13</a:t>
            </a:r>
            <a:endParaRPr lang="en-US" sz="1400"/>
          </a:p>
        </p:txBody>
      </p:sp>
      <p:sp>
        <p:nvSpPr>
          <p:cNvPr id="58381" name="Rectangle 24"/>
          <p:cNvSpPr>
            <a:spLocks noChangeArrowheads="1"/>
          </p:cNvSpPr>
          <p:nvPr/>
        </p:nvSpPr>
        <p:spPr bwMode="auto">
          <a:xfrm>
            <a:off x="7302500" y="5286375"/>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a:t>
            </a:r>
            <a:endParaRPr lang="en-US" sz="1400"/>
          </a:p>
        </p:txBody>
      </p:sp>
      <p:sp>
        <p:nvSpPr>
          <p:cNvPr id="58382" name="Line 35"/>
          <p:cNvSpPr>
            <a:spLocks noChangeShapeType="1"/>
          </p:cNvSpPr>
          <p:nvPr/>
        </p:nvSpPr>
        <p:spPr bwMode="auto">
          <a:xfrm>
            <a:off x="2393950" y="2486025"/>
            <a:ext cx="166688" cy="1588"/>
          </a:xfrm>
          <a:prstGeom prst="line">
            <a:avLst/>
          </a:prstGeom>
          <a:noFill/>
          <a:ln w="7938">
            <a:solidFill>
              <a:srgbClr val="000000"/>
            </a:solidFill>
            <a:miter lim="800000"/>
            <a:headEnd/>
            <a:tailEnd/>
          </a:ln>
        </p:spPr>
        <p:txBody>
          <a:bodyPr/>
          <a:lstStyle/>
          <a:p>
            <a:endParaRPr lang="en-US"/>
          </a:p>
        </p:txBody>
      </p:sp>
      <p:sp>
        <p:nvSpPr>
          <p:cNvPr id="58383" name="Line 36"/>
          <p:cNvSpPr>
            <a:spLocks noChangeShapeType="1"/>
          </p:cNvSpPr>
          <p:nvPr/>
        </p:nvSpPr>
        <p:spPr bwMode="auto">
          <a:xfrm>
            <a:off x="2393950" y="2881313"/>
            <a:ext cx="166688" cy="1587"/>
          </a:xfrm>
          <a:prstGeom prst="line">
            <a:avLst/>
          </a:prstGeom>
          <a:noFill/>
          <a:ln w="7938">
            <a:solidFill>
              <a:srgbClr val="000000"/>
            </a:solidFill>
            <a:miter lim="800000"/>
            <a:headEnd/>
            <a:tailEnd/>
          </a:ln>
        </p:spPr>
        <p:txBody>
          <a:bodyPr/>
          <a:lstStyle/>
          <a:p>
            <a:endParaRPr lang="en-US"/>
          </a:p>
        </p:txBody>
      </p:sp>
      <p:sp>
        <p:nvSpPr>
          <p:cNvPr id="58384" name="Line 37"/>
          <p:cNvSpPr>
            <a:spLocks noChangeShapeType="1"/>
          </p:cNvSpPr>
          <p:nvPr/>
        </p:nvSpPr>
        <p:spPr bwMode="auto">
          <a:xfrm>
            <a:off x="2393950" y="3275013"/>
            <a:ext cx="166688" cy="1587"/>
          </a:xfrm>
          <a:prstGeom prst="line">
            <a:avLst/>
          </a:prstGeom>
          <a:noFill/>
          <a:ln w="7938">
            <a:solidFill>
              <a:srgbClr val="000000"/>
            </a:solidFill>
            <a:miter lim="800000"/>
            <a:headEnd/>
            <a:tailEnd/>
          </a:ln>
        </p:spPr>
        <p:txBody>
          <a:bodyPr/>
          <a:lstStyle/>
          <a:p>
            <a:endParaRPr lang="en-US"/>
          </a:p>
        </p:txBody>
      </p:sp>
      <p:sp>
        <p:nvSpPr>
          <p:cNvPr id="58385" name="Line 38"/>
          <p:cNvSpPr>
            <a:spLocks noChangeShapeType="1"/>
          </p:cNvSpPr>
          <p:nvPr/>
        </p:nvSpPr>
        <p:spPr bwMode="auto">
          <a:xfrm>
            <a:off x="2393950" y="3670300"/>
            <a:ext cx="166688" cy="1588"/>
          </a:xfrm>
          <a:prstGeom prst="line">
            <a:avLst/>
          </a:prstGeom>
          <a:noFill/>
          <a:ln w="7938">
            <a:solidFill>
              <a:srgbClr val="000000"/>
            </a:solidFill>
            <a:miter lim="800000"/>
            <a:headEnd/>
            <a:tailEnd/>
          </a:ln>
        </p:spPr>
        <p:txBody>
          <a:bodyPr/>
          <a:lstStyle/>
          <a:p>
            <a:endParaRPr lang="en-US"/>
          </a:p>
        </p:txBody>
      </p:sp>
      <p:sp>
        <p:nvSpPr>
          <p:cNvPr id="58386" name="Line 39"/>
          <p:cNvSpPr>
            <a:spLocks noChangeShapeType="1"/>
          </p:cNvSpPr>
          <p:nvPr/>
        </p:nvSpPr>
        <p:spPr bwMode="auto">
          <a:xfrm>
            <a:off x="2393950" y="4068763"/>
            <a:ext cx="166688" cy="1587"/>
          </a:xfrm>
          <a:prstGeom prst="line">
            <a:avLst/>
          </a:prstGeom>
          <a:noFill/>
          <a:ln w="7938">
            <a:solidFill>
              <a:srgbClr val="000000"/>
            </a:solidFill>
            <a:miter lim="800000"/>
            <a:headEnd/>
            <a:tailEnd/>
          </a:ln>
        </p:spPr>
        <p:txBody>
          <a:bodyPr/>
          <a:lstStyle/>
          <a:p>
            <a:endParaRPr lang="en-US"/>
          </a:p>
        </p:txBody>
      </p:sp>
      <p:sp>
        <p:nvSpPr>
          <p:cNvPr id="58387" name="Line 40"/>
          <p:cNvSpPr>
            <a:spLocks noChangeShapeType="1"/>
          </p:cNvSpPr>
          <p:nvPr/>
        </p:nvSpPr>
        <p:spPr bwMode="auto">
          <a:xfrm>
            <a:off x="2393950" y="4462463"/>
            <a:ext cx="166688" cy="1587"/>
          </a:xfrm>
          <a:prstGeom prst="line">
            <a:avLst/>
          </a:prstGeom>
          <a:noFill/>
          <a:ln w="7938">
            <a:solidFill>
              <a:srgbClr val="000000"/>
            </a:solidFill>
            <a:miter lim="800000"/>
            <a:headEnd/>
            <a:tailEnd/>
          </a:ln>
        </p:spPr>
        <p:txBody>
          <a:bodyPr/>
          <a:lstStyle/>
          <a:p>
            <a:endParaRPr lang="en-US"/>
          </a:p>
        </p:txBody>
      </p:sp>
      <p:sp>
        <p:nvSpPr>
          <p:cNvPr id="58388" name="Line 41"/>
          <p:cNvSpPr>
            <a:spLocks noChangeShapeType="1"/>
          </p:cNvSpPr>
          <p:nvPr/>
        </p:nvSpPr>
        <p:spPr bwMode="auto">
          <a:xfrm>
            <a:off x="2393950" y="4856163"/>
            <a:ext cx="166688" cy="1587"/>
          </a:xfrm>
          <a:prstGeom prst="line">
            <a:avLst/>
          </a:prstGeom>
          <a:noFill/>
          <a:ln w="7938">
            <a:solidFill>
              <a:srgbClr val="000000"/>
            </a:solidFill>
            <a:miter lim="800000"/>
            <a:headEnd/>
            <a:tailEnd/>
          </a:ln>
        </p:spPr>
        <p:txBody>
          <a:bodyPr/>
          <a:lstStyle/>
          <a:p>
            <a:endParaRPr lang="en-US"/>
          </a:p>
        </p:txBody>
      </p:sp>
      <p:sp>
        <p:nvSpPr>
          <p:cNvPr id="58389" name="Line 42"/>
          <p:cNvSpPr>
            <a:spLocks noChangeShapeType="1"/>
          </p:cNvSpPr>
          <p:nvPr/>
        </p:nvSpPr>
        <p:spPr bwMode="auto">
          <a:xfrm flipV="1">
            <a:off x="3238500" y="5135563"/>
            <a:ext cx="1588" cy="115887"/>
          </a:xfrm>
          <a:prstGeom prst="line">
            <a:avLst/>
          </a:prstGeom>
          <a:noFill/>
          <a:ln w="7938">
            <a:solidFill>
              <a:srgbClr val="000000"/>
            </a:solidFill>
            <a:miter lim="800000"/>
            <a:headEnd/>
            <a:tailEnd/>
          </a:ln>
        </p:spPr>
        <p:txBody>
          <a:bodyPr/>
          <a:lstStyle/>
          <a:p>
            <a:endParaRPr lang="en-US"/>
          </a:p>
        </p:txBody>
      </p:sp>
      <p:sp>
        <p:nvSpPr>
          <p:cNvPr id="58390" name="Line 43"/>
          <p:cNvSpPr>
            <a:spLocks noChangeShapeType="1"/>
          </p:cNvSpPr>
          <p:nvPr/>
        </p:nvSpPr>
        <p:spPr bwMode="auto">
          <a:xfrm flipV="1">
            <a:off x="4076700" y="5135563"/>
            <a:ext cx="1588" cy="115887"/>
          </a:xfrm>
          <a:prstGeom prst="line">
            <a:avLst/>
          </a:prstGeom>
          <a:noFill/>
          <a:ln w="7938">
            <a:solidFill>
              <a:srgbClr val="000000"/>
            </a:solidFill>
            <a:miter lim="800000"/>
            <a:headEnd/>
            <a:tailEnd/>
          </a:ln>
        </p:spPr>
        <p:txBody>
          <a:bodyPr/>
          <a:lstStyle/>
          <a:p>
            <a:endParaRPr lang="en-US"/>
          </a:p>
        </p:txBody>
      </p:sp>
      <p:sp>
        <p:nvSpPr>
          <p:cNvPr id="58391" name="Line 44"/>
          <p:cNvSpPr>
            <a:spLocks noChangeShapeType="1"/>
          </p:cNvSpPr>
          <p:nvPr/>
        </p:nvSpPr>
        <p:spPr bwMode="auto">
          <a:xfrm flipV="1">
            <a:off x="4913313" y="5135563"/>
            <a:ext cx="3175" cy="115887"/>
          </a:xfrm>
          <a:prstGeom prst="line">
            <a:avLst/>
          </a:prstGeom>
          <a:noFill/>
          <a:ln w="7938">
            <a:solidFill>
              <a:srgbClr val="000000"/>
            </a:solidFill>
            <a:miter lim="800000"/>
            <a:headEnd/>
            <a:tailEnd/>
          </a:ln>
        </p:spPr>
        <p:txBody>
          <a:bodyPr/>
          <a:lstStyle/>
          <a:p>
            <a:endParaRPr lang="en-US"/>
          </a:p>
        </p:txBody>
      </p:sp>
      <p:sp>
        <p:nvSpPr>
          <p:cNvPr id="58392" name="Line 45"/>
          <p:cNvSpPr>
            <a:spLocks noChangeShapeType="1"/>
          </p:cNvSpPr>
          <p:nvPr/>
        </p:nvSpPr>
        <p:spPr bwMode="auto">
          <a:xfrm flipV="1">
            <a:off x="5751513" y="5135563"/>
            <a:ext cx="3175" cy="115887"/>
          </a:xfrm>
          <a:prstGeom prst="line">
            <a:avLst/>
          </a:prstGeom>
          <a:noFill/>
          <a:ln w="7938">
            <a:solidFill>
              <a:srgbClr val="000000"/>
            </a:solidFill>
            <a:miter lim="800000"/>
            <a:headEnd/>
            <a:tailEnd/>
          </a:ln>
        </p:spPr>
        <p:txBody>
          <a:bodyPr/>
          <a:lstStyle/>
          <a:p>
            <a:endParaRPr lang="en-US"/>
          </a:p>
        </p:txBody>
      </p:sp>
      <p:sp>
        <p:nvSpPr>
          <p:cNvPr id="58393" name="Line 46"/>
          <p:cNvSpPr>
            <a:spLocks noChangeShapeType="1"/>
          </p:cNvSpPr>
          <p:nvPr/>
        </p:nvSpPr>
        <p:spPr bwMode="auto">
          <a:xfrm flipV="1">
            <a:off x="6597650" y="5135563"/>
            <a:ext cx="1588" cy="115887"/>
          </a:xfrm>
          <a:prstGeom prst="line">
            <a:avLst/>
          </a:prstGeom>
          <a:noFill/>
          <a:ln w="7938">
            <a:solidFill>
              <a:srgbClr val="000000"/>
            </a:solidFill>
            <a:miter lim="800000"/>
            <a:headEnd/>
            <a:tailEnd/>
          </a:ln>
        </p:spPr>
        <p:txBody>
          <a:bodyPr/>
          <a:lstStyle/>
          <a:p>
            <a:endParaRPr lang="en-US"/>
          </a:p>
        </p:txBody>
      </p:sp>
      <p:sp>
        <p:nvSpPr>
          <p:cNvPr id="58394" name="Line 47"/>
          <p:cNvSpPr>
            <a:spLocks noChangeShapeType="1"/>
          </p:cNvSpPr>
          <p:nvPr/>
        </p:nvSpPr>
        <p:spPr bwMode="auto">
          <a:xfrm flipV="1">
            <a:off x="7434263" y="5135563"/>
            <a:ext cx="3175" cy="115887"/>
          </a:xfrm>
          <a:prstGeom prst="line">
            <a:avLst/>
          </a:prstGeom>
          <a:noFill/>
          <a:ln w="7938">
            <a:solidFill>
              <a:srgbClr val="000000"/>
            </a:solidFill>
            <a:miter lim="800000"/>
            <a:headEnd/>
            <a:tailEnd/>
          </a:ln>
        </p:spPr>
        <p:txBody>
          <a:bodyPr/>
          <a:lstStyle/>
          <a:p>
            <a:endParaRPr lang="en-US"/>
          </a:p>
        </p:txBody>
      </p:sp>
      <p:sp>
        <p:nvSpPr>
          <p:cNvPr id="58395" name="Rectangle 48"/>
          <p:cNvSpPr>
            <a:spLocks noChangeArrowheads="1"/>
          </p:cNvSpPr>
          <p:nvPr/>
        </p:nvSpPr>
        <p:spPr bwMode="auto">
          <a:xfrm>
            <a:off x="1711325" y="2382838"/>
            <a:ext cx="442913"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$2.00</a:t>
            </a:r>
            <a:endParaRPr lang="en-US" sz="1400"/>
          </a:p>
        </p:txBody>
      </p:sp>
      <p:sp>
        <p:nvSpPr>
          <p:cNvPr id="58396" name="Rectangle 49"/>
          <p:cNvSpPr>
            <a:spLocks noChangeArrowheads="1"/>
          </p:cNvSpPr>
          <p:nvPr/>
        </p:nvSpPr>
        <p:spPr bwMode="auto">
          <a:xfrm>
            <a:off x="1839913" y="2778125"/>
            <a:ext cx="344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1.75</a:t>
            </a:r>
            <a:endParaRPr lang="en-US" sz="1400"/>
          </a:p>
        </p:txBody>
      </p:sp>
      <p:sp>
        <p:nvSpPr>
          <p:cNvPr id="58397" name="Rectangle 50"/>
          <p:cNvSpPr>
            <a:spLocks noChangeArrowheads="1"/>
          </p:cNvSpPr>
          <p:nvPr/>
        </p:nvSpPr>
        <p:spPr bwMode="auto">
          <a:xfrm>
            <a:off x="1839913" y="3173413"/>
            <a:ext cx="344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1.50</a:t>
            </a:r>
            <a:endParaRPr lang="en-US" sz="1400"/>
          </a:p>
        </p:txBody>
      </p:sp>
      <p:sp>
        <p:nvSpPr>
          <p:cNvPr id="58398" name="Rectangle 51"/>
          <p:cNvSpPr>
            <a:spLocks noChangeArrowheads="1"/>
          </p:cNvSpPr>
          <p:nvPr/>
        </p:nvSpPr>
        <p:spPr bwMode="auto">
          <a:xfrm>
            <a:off x="1839913" y="3568700"/>
            <a:ext cx="344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1.25</a:t>
            </a:r>
            <a:endParaRPr lang="en-US" sz="1400"/>
          </a:p>
        </p:txBody>
      </p:sp>
      <p:sp>
        <p:nvSpPr>
          <p:cNvPr id="58399" name="Rectangle 52"/>
          <p:cNvSpPr>
            <a:spLocks noChangeArrowheads="1"/>
          </p:cNvSpPr>
          <p:nvPr/>
        </p:nvSpPr>
        <p:spPr bwMode="auto">
          <a:xfrm>
            <a:off x="1839913" y="3963988"/>
            <a:ext cx="344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a:t>
            </a:r>
            <a:endParaRPr lang="en-US" sz="1400"/>
          </a:p>
        </p:txBody>
      </p:sp>
      <p:sp>
        <p:nvSpPr>
          <p:cNvPr id="58400" name="Rectangle 53"/>
          <p:cNvSpPr>
            <a:spLocks noChangeArrowheads="1"/>
          </p:cNvSpPr>
          <p:nvPr/>
        </p:nvSpPr>
        <p:spPr bwMode="auto">
          <a:xfrm>
            <a:off x="1839913" y="4359275"/>
            <a:ext cx="344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0.75</a:t>
            </a:r>
            <a:endParaRPr lang="en-US" sz="1400"/>
          </a:p>
        </p:txBody>
      </p:sp>
      <p:sp>
        <p:nvSpPr>
          <p:cNvPr id="58401" name="Rectangle 54"/>
          <p:cNvSpPr>
            <a:spLocks noChangeArrowheads="1"/>
          </p:cNvSpPr>
          <p:nvPr/>
        </p:nvSpPr>
        <p:spPr bwMode="auto">
          <a:xfrm>
            <a:off x="1839913" y="4754563"/>
            <a:ext cx="344487"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0.50</a:t>
            </a:r>
            <a:endParaRPr lang="en-US" sz="1400"/>
          </a:p>
        </p:txBody>
      </p:sp>
      <p:sp>
        <p:nvSpPr>
          <p:cNvPr id="565328" name="Freeform 80"/>
          <p:cNvSpPr>
            <a:spLocks/>
          </p:cNvSpPr>
          <p:nvPr/>
        </p:nvSpPr>
        <p:spPr bwMode="auto">
          <a:xfrm>
            <a:off x="2743200" y="2743200"/>
            <a:ext cx="1905000" cy="877888"/>
          </a:xfrm>
          <a:custGeom>
            <a:avLst/>
            <a:gdLst>
              <a:gd name="T0" fmla="*/ 2147483647 w 218"/>
              <a:gd name="T1" fmla="*/ 2147483647 h 141"/>
              <a:gd name="T2" fmla="*/ 2147483647 w 218"/>
              <a:gd name="T3" fmla="*/ 2147483647 h 141"/>
              <a:gd name="T4" fmla="*/ 2147483647 w 218"/>
              <a:gd name="T5" fmla="*/ 2147483647 h 141"/>
              <a:gd name="T6" fmla="*/ 0 w 218"/>
              <a:gd name="T7" fmla="*/ 2147483647 h 141"/>
              <a:gd name="T8" fmla="*/ 0 w 218"/>
              <a:gd name="T9" fmla="*/ 2147483647 h 141"/>
              <a:gd name="T10" fmla="*/ 2147483647 w 218"/>
              <a:gd name="T11" fmla="*/ 0 h 141"/>
              <a:gd name="T12" fmla="*/ 2147483647 w 218"/>
              <a:gd name="T13" fmla="*/ 0 h 141"/>
              <a:gd name="T14" fmla="*/ 2147483647 w 218"/>
              <a:gd name="T15" fmla="*/ 2147483647 h 141"/>
              <a:gd name="T16" fmla="*/ 2147483647 w 218"/>
              <a:gd name="T17" fmla="*/ 2147483647 h 1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8"/>
              <a:gd name="T28" fmla="*/ 0 h 141"/>
              <a:gd name="T29" fmla="*/ 218 w 218"/>
              <a:gd name="T30" fmla="*/ 141 h 1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8" h="141">
                <a:moveTo>
                  <a:pt x="218" y="119"/>
                </a:moveTo>
                <a:cubicBezTo>
                  <a:pt x="218" y="131"/>
                  <a:pt x="211" y="141"/>
                  <a:pt x="202" y="141"/>
                </a:cubicBezTo>
                <a:cubicBezTo>
                  <a:pt x="16" y="141"/>
                  <a:pt x="16" y="141"/>
                  <a:pt x="16" y="141"/>
                </a:cubicBezTo>
                <a:cubicBezTo>
                  <a:pt x="7" y="141"/>
                  <a:pt x="0" y="131"/>
                  <a:pt x="0" y="119"/>
                </a:cubicBezTo>
                <a:cubicBezTo>
                  <a:pt x="0" y="21"/>
                  <a:pt x="0" y="21"/>
                  <a:pt x="0" y="21"/>
                </a:cubicBezTo>
                <a:cubicBezTo>
                  <a:pt x="0" y="9"/>
                  <a:pt x="7" y="0"/>
                  <a:pt x="16" y="0"/>
                </a:cubicBezTo>
                <a:cubicBezTo>
                  <a:pt x="202" y="0"/>
                  <a:pt x="202" y="0"/>
                  <a:pt x="202" y="0"/>
                </a:cubicBezTo>
                <a:cubicBezTo>
                  <a:pt x="211" y="0"/>
                  <a:pt x="218" y="9"/>
                  <a:pt x="218" y="21"/>
                </a:cubicBezTo>
                <a:lnTo>
                  <a:pt x="218" y="119"/>
                </a:lnTo>
                <a:close/>
              </a:path>
            </a:pathLst>
          </a:custGeom>
          <a:solidFill>
            <a:srgbClr val="D6E2E0"/>
          </a:solidFill>
          <a:ln w="9525">
            <a:noFill/>
            <a:round/>
            <a:headEnd/>
            <a:tailEnd/>
          </a:ln>
        </p:spPr>
        <p:txBody>
          <a:bodyPr/>
          <a:lstStyle/>
          <a:p>
            <a:endParaRPr lang="en-US"/>
          </a:p>
        </p:txBody>
      </p:sp>
      <p:sp>
        <p:nvSpPr>
          <p:cNvPr id="58403" name="Line 101"/>
          <p:cNvSpPr>
            <a:spLocks noChangeShapeType="1"/>
          </p:cNvSpPr>
          <p:nvPr/>
        </p:nvSpPr>
        <p:spPr bwMode="auto">
          <a:xfrm flipV="1">
            <a:off x="2320925" y="5006975"/>
            <a:ext cx="149225" cy="57150"/>
          </a:xfrm>
          <a:prstGeom prst="line">
            <a:avLst/>
          </a:prstGeom>
          <a:noFill/>
          <a:ln w="7938">
            <a:solidFill>
              <a:srgbClr val="000000"/>
            </a:solidFill>
            <a:miter lim="800000"/>
            <a:headEnd/>
            <a:tailEnd/>
          </a:ln>
        </p:spPr>
        <p:txBody>
          <a:bodyPr/>
          <a:lstStyle/>
          <a:p>
            <a:endParaRPr lang="en-US"/>
          </a:p>
        </p:txBody>
      </p:sp>
      <p:sp>
        <p:nvSpPr>
          <p:cNvPr id="58404" name="Line 102"/>
          <p:cNvSpPr>
            <a:spLocks noChangeShapeType="1"/>
          </p:cNvSpPr>
          <p:nvPr/>
        </p:nvSpPr>
        <p:spPr bwMode="auto">
          <a:xfrm flipV="1">
            <a:off x="2320925" y="5083175"/>
            <a:ext cx="149225" cy="57150"/>
          </a:xfrm>
          <a:prstGeom prst="line">
            <a:avLst/>
          </a:prstGeom>
          <a:noFill/>
          <a:ln w="7938">
            <a:solidFill>
              <a:srgbClr val="000000"/>
            </a:solidFill>
            <a:miter lim="800000"/>
            <a:headEnd/>
            <a:tailEnd/>
          </a:ln>
        </p:spPr>
        <p:txBody>
          <a:bodyPr/>
          <a:lstStyle/>
          <a:p>
            <a:endParaRPr lang="en-US"/>
          </a:p>
        </p:txBody>
      </p:sp>
      <p:sp>
        <p:nvSpPr>
          <p:cNvPr id="58405" name="Line 103"/>
          <p:cNvSpPr>
            <a:spLocks noChangeShapeType="1"/>
          </p:cNvSpPr>
          <p:nvPr/>
        </p:nvSpPr>
        <p:spPr bwMode="auto">
          <a:xfrm flipH="1">
            <a:off x="2560638" y="5202238"/>
            <a:ext cx="84137" cy="101600"/>
          </a:xfrm>
          <a:prstGeom prst="line">
            <a:avLst/>
          </a:prstGeom>
          <a:noFill/>
          <a:ln w="7938">
            <a:solidFill>
              <a:srgbClr val="000000"/>
            </a:solidFill>
            <a:miter lim="800000"/>
            <a:headEnd/>
            <a:tailEnd/>
          </a:ln>
        </p:spPr>
        <p:txBody>
          <a:bodyPr/>
          <a:lstStyle/>
          <a:p>
            <a:endParaRPr lang="en-US"/>
          </a:p>
        </p:txBody>
      </p:sp>
      <p:sp>
        <p:nvSpPr>
          <p:cNvPr id="58406" name="Line 104"/>
          <p:cNvSpPr>
            <a:spLocks noChangeShapeType="1"/>
          </p:cNvSpPr>
          <p:nvPr/>
        </p:nvSpPr>
        <p:spPr bwMode="auto">
          <a:xfrm flipH="1">
            <a:off x="2673350" y="5202238"/>
            <a:ext cx="85725" cy="101600"/>
          </a:xfrm>
          <a:prstGeom prst="line">
            <a:avLst/>
          </a:prstGeom>
          <a:noFill/>
          <a:ln w="7938">
            <a:solidFill>
              <a:srgbClr val="000000"/>
            </a:solidFill>
            <a:miter lim="800000"/>
            <a:headEnd/>
            <a:tailEnd/>
          </a:ln>
        </p:spPr>
        <p:txBody>
          <a:bodyPr/>
          <a:lstStyle/>
          <a:p>
            <a:endParaRPr lang="en-US"/>
          </a:p>
        </p:txBody>
      </p:sp>
      <p:sp>
        <p:nvSpPr>
          <p:cNvPr id="538681" name="TextBox 56"/>
          <p:cNvSpPr txBox="1">
            <a:spLocks noChangeArrowheads="1"/>
          </p:cNvSpPr>
          <p:nvPr/>
        </p:nvSpPr>
        <p:spPr bwMode="auto">
          <a:xfrm>
            <a:off x="2743200" y="2819400"/>
            <a:ext cx="1828800" cy="738188"/>
          </a:xfrm>
          <a:prstGeom prst="rect">
            <a:avLst/>
          </a:prstGeom>
          <a:noFill/>
          <a:ln w="9525">
            <a:noFill/>
            <a:miter lim="800000"/>
            <a:headEnd/>
            <a:tailEnd/>
          </a:ln>
        </p:spPr>
        <p:txBody>
          <a:bodyPr>
            <a:spAutoFit/>
          </a:bodyPr>
          <a:lstStyle/>
          <a:p>
            <a:pPr algn="ctr"/>
            <a:r>
              <a:rPr lang="en-US" sz="1400" i="1"/>
              <a:t>As price rises, the quantity supplied rises.</a:t>
            </a:r>
          </a:p>
        </p:txBody>
      </p:sp>
      <p:sp>
        <p:nvSpPr>
          <p:cNvPr id="565365" name="Rectangle 117"/>
          <p:cNvSpPr>
            <a:spLocks noChangeArrowheads="1"/>
          </p:cNvSpPr>
          <p:nvPr/>
        </p:nvSpPr>
        <p:spPr bwMode="auto">
          <a:xfrm>
            <a:off x="5795963" y="1169988"/>
            <a:ext cx="3124200" cy="1847850"/>
          </a:xfrm>
          <a:prstGeom prst="rect">
            <a:avLst/>
          </a:prstGeom>
          <a:solidFill>
            <a:schemeClr val="accent5">
              <a:lumMod val="20000"/>
              <a:lumOff val="80000"/>
            </a:schemeClr>
          </a:solidFill>
          <a:ln w="9525">
            <a:noFill/>
            <a:miter lim="800000"/>
            <a:headEnd/>
            <a:tailEnd/>
          </a:ln>
          <a:effectLst/>
        </p:spPr>
        <p:txBody>
          <a:bodyPr anchor="ctr"/>
          <a:lstStyle/>
          <a:p>
            <a:pPr indent="4763" algn="ctr">
              <a:spcBef>
                <a:spcPct val="20000"/>
              </a:spcBef>
              <a:buClr>
                <a:srgbClr val="000000"/>
              </a:buClr>
              <a:defRPr/>
            </a:pPr>
            <a:r>
              <a:rPr lang="en-US" sz="2000" dirty="0"/>
              <a:t>A </a:t>
            </a:r>
            <a:r>
              <a:rPr lang="en-US" sz="2000" b="1" dirty="0"/>
              <a:t>supply curve</a:t>
            </a:r>
            <a:r>
              <a:rPr lang="en-US" sz="2000" dirty="0"/>
              <a:t> shows graphically how much of a good or service people are willing to sell at any given price.</a:t>
            </a:r>
          </a:p>
        </p:txBody>
      </p:sp>
      <p:grpSp>
        <p:nvGrpSpPr>
          <p:cNvPr id="2" name="Group 123"/>
          <p:cNvGrpSpPr>
            <a:grpSpLocks/>
          </p:cNvGrpSpPr>
          <p:nvPr/>
        </p:nvGrpSpPr>
        <p:grpSpPr bwMode="auto">
          <a:xfrm>
            <a:off x="3582988" y="1905000"/>
            <a:ext cx="2138362" cy="3000375"/>
            <a:chOff x="2257" y="1200"/>
            <a:chExt cx="1347" cy="1890"/>
          </a:xfrm>
        </p:grpSpPr>
        <p:sp>
          <p:nvSpPr>
            <p:cNvPr id="58410" name="TextBox 59"/>
            <p:cNvSpPr txBox="1">
              <a:spLocks noChangeArrowheads="1"/>
            </p:cNvSpPr>
            <p:nvPr/>
          </p:nvSpPr>
          <p:spPr bwMode="auto">
            <a:xfrm>
              <a:off x="2880" y="1200"/>
              <a:ext cx="724" cy="330"/>
            </a:xfrm>
            <a:prstGeom prst="rect">
              <a:avLst/>
            </a:prstGeom>
            <a:noFill/>
            <a:ln w="9525">
              <a:noFill/>
              <a:miter lim="800000"/>
              <a:headEnd/>
              <a:tailEnd/>
            </a:ln>
          </p:spPr>
          <p:txBody>
            <a:bodyPr>
              <a:spAutoFit/>
            </a:bodyPr>
            <a:lstStyle/>
            <a:p>
              <a:pPr algn="ctr"/>
              <a:r>
                <a:rPr lang="en-US" sz="1400" i="1"/>
                <a:t>Supply curve, S</a:t>
              </a:r>
            </a:p>
          </p:txBody>
        </p:sp>
        <p:grpSp>
          <p:nvGrpSpPr>
            <p:cNvPr id="58411" name="Group 122"/>
            <p:cNvGrpSpPr>
              <a:grpSpLocks/>
            </p:cNvGrpSpPr>
            <p:nvPr/>
          </p:nvGrpSpPr>
          <p:grpSpPr bwMode="auto">
            <a:xfrm>
              <a:off x="2257" y="1536"/>
              <a:ext cx="1042" cy="1554"/>
              <a:chOff x="2257" y="1536"/>
              <a:chExt cx="1042" cy="1554"/>
            </a:xfrm>
          </p:grpSpPr>
          <p:grpSp>
            <p:nvGrpSpPr>
              <p:cNvPr id="58412" name="Group 121"/>
              <p:cNvGrpSpPr>
                <a:grpSpLocks/>
              </p:cNvGrpSpPr>
              <p:nvPr/>
            </p:nvGrpSpPr>
            <p:grpSpPr bwMode="auto">
              <a:xfrm>
                <a:off x="2257" y="1566"/>
                <a:ext cx="1015" cy="1524"/>
                <a:chOff x="2257" y="1566"/>
                <a:chExt cx="1015" cy="1524"/>
              </a:xfrm>
            </p:grpSpPr>
            <p:sp>
              <p:nvSpPr>
                <p:cNvPr id="58414" name="Freeform 65"/>
                <p:cNvSpPr>
                  <a:spLocks/>
                </p:cNvSpPr>
                <p:nvPr/>
              </p:nvSpPr>
              <p:spPr bwMode="auto">
                <a:xfrm>
                  <a:off x="2301" y="1566"/>
                  <a:ext cx="954" cy="1493"/>
                </a:xfrm>
                <a:custGeom>
                  <a:avLst/>
                  <a:gdLst>
                    <a:gd name="T0" fmla="*/ 369815 w 215"/>
                    <a:gd name="T1" fmla="*/ 0 h 493"/>
                    <a:gd name="T2" fmla="*/ 0 w 215"/>
                    <a:gd name="T3" fmla="*/ 125563 h 493"/>
                    <a:gd name="T4" fmla="*/ 0 60000 65536"/>
                    <a:gd name="T5" fmla="*/ 0 60000 65536"/>
                    <a:gd name="T6" fmla="*/ 0 w 215"/>
                    <a:gd name="T7" fmla="*/ 0 h 493"/>
                    <a:gd name="T8" fmla="*/ 215 w 215"/>
                    <a:gd name="T9" fmla="*/ 493 h 493"/>
                  </a:gdLst>
                  <a:ahLst/>
                  <a:cxnLst>
                    <a:cxn ang="T4">
                      <a:pos x="T0" y="T1"/>
                    </a:cxn>
                    <a:cxn ang="T5">
                      <a:pos x="T2" y="T3"/>
                    </a:cxn>
                  </a:cxnLst>
                  <a:rect l="T6" t="T7" r="T8" b="T9"/>
                  <a:pathLst>
                    <a:path w="215" h="493">
                      <a:moveTo>
                        <a:pt x="215" y="0"/>
                      </a:moveTo>
                      <a:cubicBezTo>
                        <a:pt x="215" y="148"/>
                        <a:pt x="153" y="320"/>
                        <a:pt x="0" y="493"/>
                      </a:cubicBezTo>
                    </a:path>
                  </a:pathLst>
                </a:custGeom>
                <a:noFill/>
                <a:ln w="36513" cap="flat">
                  <a:solidFill>
                    <a:srgbClr val="EE313C"/>
                  </a:solidFill>
                  <a:prstDash val="solid"/>
                  <a:miter lim="800000"/>
                  <a:headEnd/>
                  <a:tailEnd/>
                </a:ln>
              </p:spPr>
              <p:txBody>
                <a:bodyPr/>
                <a:lstStyle/>
                <a:p>
                  <a:endParaRPr lang="en-US"/>
                </a:p>
              </p:txBody>
            </p:sp>
            <p:sp>
              <p:nvSpPr>
                <p:cNvPr id="58415" name="Oval 67"/>
                <p:cNvSpPr>
                  <a:spLocks noChangeArrowheads="1"/>
                </p:cNvSpPr>
                <p:nvPr/>
              </p:nvSpPr>
              <p:spPr bwMode="auto">
                <a:xfrm>
                  <a:off x="3184" y="1785"/>
                  <a:ext cx="88" cy="59"/>
                </a:xfrm>
                <a:prstGeom prst="ellipse">
                  <a:avLst/>
                </a:prstGeom>
                <a:solidFill>
                  <a:srgbClr val="000000"/>
                </a:solidFill>
                <a:ln w="9525">
                  <a:noFill/>
                  <a:round/>
                  <a:headEnd/>
                  <a:tailEnd/>
                </a:ln>
              </p:spPr>
              <p:txBody>
                <a:bodyPr/>
                <a:lstStyle/>
                <a:p>
                  <a:endParaRPr lang="en-US"/>
                </a:p>
              </p:txBody>
            </p:sp>
            <p:sp>
              <p:nvSpPr>
                <p:cNvPr id="58416" name="Oval 68"/>
                <p:cNvSpPr>
                  <a:spLocks noChangeArrowheads="1"/>
                </p:cNvSpPr>
                <p:nvPr/>
              </p:nvSpPr>
              <p:spPr bwMode="auto">
                <a:xfrm>
                  <a:off x="3105" y="2033"/>
                  <a:ext cx="87" cy="61"/>
                </a:xfrm>
                <a:prstGeom prst="ellipse">
                  <a:avLst/>
                </a:prstGeom>
                <a:solidFill>
                  <a:srgbClr val="000000"/>
                </a:solidFill>
                <a:ln w="9525">
                  <a:noFill/>
                  <a:round/>
                  <a:headEnd/>
                  <a:tailEnd/>
                </a:ln>
              </p:spPr>
              <p:txBody>
                <a:bodyPr/>
                <a:lstStyle/>
                <a:p>
                  <a:endParaRPr lang="en-US"/>
                </a:p>
              </p:txBody>
            </p:sp>
            <p:sp>
              <p:nvSpPr>
                <p:cNvPr id="58417" name="Oval 69"/>
                <p:cNvSpPr>
                  <a:spLocks noChangeArrowheads="1"/>
                </p:cNvSpPr>
                <p:nvPr/>
              </p:nvSpPr>
              <p:spPr bwMode="auto">
                <a:xfrm>
                  <a:off x="2970" y="2281"/>
                  <a:ext cx="89" cy="61"/>
                </a:xfrm>
                <a:prstGeom prst="ellipse">
                  <a:avLst/>
                </a:prstGeom>
                <a:solidFill>
                  <a:srgbClr val="000000"/>
                </a:solidFill>
                <a:ln w="9525">
                  <a:noFill/>
                  <a:round/>
                  <a:headEnd/>
                  <a:tailEnd/>
                </a:ln>
              </p:spPr>
              <p:txBody>
                <a:bodyPr/>
                <a:lstStyle/>
                <a:p>
                  <a:endParaRPr lang="en-US"/>
                </a:p>
              </p:txBody>
            </p:sp>
            <p:sp>
              <p:nvSpPr>
                <p:cNvPr id="58418" name="Oval 70"/>
                <p:cNvSpPr>
                  <a:spLocks noChangeArrowheads="1"/>
                </p:cNvSpPr>
                <p:nvPr/>
              </p:nvSpPr>
              <p:spPr bwMode="auto">
                <a:xfrm>
                  <a:off x="2789" y="2532"/>
                  <a:ext cx="89" cy="61"/>
                </a:xfrm>
                <a:prstGeom prst="ellipse">
                  <a:avLst/>
                </a:prstGeom>
                <a:solidFill>
                  <a:srgbClr val="000000"/>
                </a:solidFill>
                <a:ln w="9525">
                  <a:noFill/>
                  <a:round/>
                  <a:headEnd/>
                  <a:tailEnd/>
                </a:ln>
              </p:spPr>
              <p:txBody>
                <a:bodyPr/>
                <a:lstStyle/>
                <a:p>
                  <a:endParaRPr lang="en-US"/>
                </a:p>
              </p:txBody>
            </p:sp>
            <p:sp>
              <p:nvSpPr>
                <p:cNvPr id="58419" name="Oval 71"/>
                <p:cNvSpPr>
                  <a:spLocks noChangeArrowheads="1"/>
                </p:cNvSpPr>
                <p:nvPr/>
              </p:nvSpPr>
              <p:spPr bwMode="auto">
                <a:xfrm>
                  <a:off x="2550" y="2781"/>
                  <a:ext cx="89" cy="61"/>
                </a:xfrm>
                <a:prstGeom prst="ellipse">
                  <a:avLst/>
                </a:prstGeom>
                <a:solidFill>
                  <a:srgbClr val="000000"/>
                </a:solidFill>
                <a:ln w="9525">
                  <a:noFill/>
                  <a:round/>
                  <a:headEnd/>
                  <a:tailEnd/>
                </a:ln>
              </p:spPr>
              <p:txBody>
                <a:bodyPr/>
                <a:lstStyle/>
                <a:p>
                  <a:endParaRPr lang="en-US"/>
                </a:p>
              </p:txBody>
            </p:sp>
            <p:sp>
              <p:nvSpPr>
                <p:cNvPr id="58420" name="Oval 72"/>
                <p:cNvSpPr>
                  <a:spLocks noChangeArrowheads="1"/>
                </p:cNvSpPr>
                <p:nvPr/>
              </p:nvSpPr>
              <p:spPr bwMode="auto">
                <a:xfrm>
                  <a:off x="2257" y="3029"/>
                  <a:ext cx="89" cy="61"/>
                </a:xfrm>
                <a:prstGeom prst="ellipse">
                  <a:avLst/>
                </a:prstGeom>
                <a:solidFill>
                  <a:srgbClr val="000000"/>
                </a:solidFill>
                <a:ln w="9525">
                  <a:noFill/>
                  <a:round/>
                  <a:headEnd/>
                  <a:tailEnd/>
                </a:ln>
              </p:spPr>
              <p:txBody>
                <a:bodyPr/>
                <a:lstStyle/>
                <a:p>
                  <a:endParaRPr lang="en-US"/>
                </a:p>
              </p:txBody>
            </p:sp>
          </p:grpSp>
          <p:sp>
            <p:nvSpPr>
              <p:cNvPr id="58413" name="Oval 66"/>
              <p:cNvSpPr>
                <a:spLocks noChangeArrowheads="1"/>
              </p:cNvSpPr>
              <p:nvPr/>
            </p:nvSpPr>
            <p:spPr bwMode="auto">
              <a:xfrm>
                <a:off x="3210" y="1536"/>
                <a:ext cx="89" cy="60"/>
              </a:xfrm>
              <a:prstGeom prst="ellipse">
                <a:avLst/>
              </a:prstGeom>
              <a:solidFill>
                <a:srgbClr val="000000"/>
              </a:solidFill>
              <a:ln w="9525">
                <a:noFill/>
                <a:round/>
                <a:headEnd/>
                <a:tailEnd/>
              </a:ln>
            </p:spPr>
            <p:txBody>
              <a:bodyPr/>
              <a:lstStyle/>
              <a:p>
                <a:endParaRPr 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5365">
                                            <p:bg/>
                                          </p:spTgt>
                                        </p:tgtEl>
                                        <p:attrNameLst>
                                          <p:attrName>style.visibility</p:attrName>
                                        </p:attrNameLst>
                                      </p:cBhvr>
                                      <p:to>
                                        <p:strVal val="visible"/>
                                      </p:to>
                                    </p:set>
                                    <p:animEffect transition="in" filter="wipe(left)">
                                      <p:cBhvr>
                                        <p:cTn id="12" dur="500"/>
                                        <p:tgtEl>
                                          <p:spTgt spid="565365">
                                            <p:bg/>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65365">
                                            <p:txEl>
                                              <p:pRg st="0" end="0"/>
                                            </p:txEl>
                                          </p:spTgt>
                                        </p:tgtEl>
                                        <p:attrNameLst>
                                          <p:attrName>style.visibility</p:attrName>
                                        </p:attrNameLst>
                                      </p:cBhvr>
                                      <p:to>
                                        <p:strVal val="visible"/>
                                      </p:to>
                                    </p:set>
                                    <p:animEffect transition="in" filter="wipe(left)">
                                      <p:cBhvr>
                                        <p:cTn id="15" dur="500"/>
                                        <p:tgtEl>
                                          <p:spTgt spid="56536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65328"/>
                                        </p:tgtEl>
                                        <p:attrNameLst>
                                          <p:attrName>style.visibility</p:attrName>
                                        </p:attrNameLst>
                                      </p:cBhvr>
                                      <p:to>
                                        <p:strVal val="visible"/>
                                      </p:to>
                                    </p:set>
                                    <p:animEffect transition="in" filter="wipe(left)">
                                      <p:cBhvr>
                                        <p:cTn id="20" dur="500"/>
                                        <p:tgtEl>
                                          <p:spTgt spid="56532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538681"/>
                                        </p:tgtEl>
                                        <p:attrNameLst>
                                          <p:attrName>style.visibility</p:attrName>
                                        </p:attrNameLst>
                                      </p:cBhvr>
                                      <p:to>
                                        <p:strVal val="visible"/>
                                      </p:to>
                                    </p:set>
                                    <p:animEffect transition="in" filter="wipe(left)">
                                      <p:cBhvr>
                                        <p:cTn id="23" dur="500"/>
                                        <p:tgtEl>
                                          <p:spTgt spid="5386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328" grpId="0" animBg="1"/>
      <p:bldP spid="538681" grpId="0"/>
      <p:bldP spid="565365"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7298" name="Rectangle 2"/>
          <p:cNvSpPr>
            <a:spLocks noGrp="1" noRot="1" noChangeArrowheads="1"/>
          </p:cNvSpPr>
          <p:nvPr>
            <p:ph type="title"/>
          </p:nvPr>
        </p:nvSpPr>
        <p:spPr>
          <a:xfrm>
            <a:off x="971550" y="60325"/>
            <a:ext cx="7993063" cy="555625"/>
          </a:xfrm>
        </p:spPr>
        <p:txBody>
          <a:bodyPr/>
          <a:lstStyle/>
          <a:p>
            <a:pPr>
              <a:defRPr/>
            </a:pPr>
            <a:r>
              <a:rPr lang="en-US" dirty="0"/>
              <a:t>An Increase in Supply</a:t>
            </a:r>
          </a:p>
        </p:txBody>
      </p:sp>
      <p:sp>
        <p:nvSpPr>
          <p:cNvPr id="567299" name="Rectangle 3"/>
          <p:cNvSpPr>
            <a:spLocks noGrp="1" noChangeArrowheads="1"/>
          </p:cNvSpPr>
          <p:nvPr>
            <p:ph type="body" idx="1"/>
          </p:nvPr>
        </p:nvSpPr>
        <p:spPr>
          <a:xfrm>
            <a:off x="900113" y="5748338"/>
            <a:ext cx="8064500" cy="762000"/>
          </a:xfrm>
          <a:solidFill>
            <a:schemeClr val="accent5">
              <a:lumMod val="20000"/>
              <a:lumOff val="80000"/>
            </a:schemeClr>
          </a:solidFill>
        </p:spPr>
        <p:txBody>
          <a:bodyPr/>
          <a:lstStyle/>
          <a:p>
            <a:pPr marL="0" indent="4763" algn="ctr">
              <a:buFont typeface="Wingdings" pitchFamily="2" charset="2"/>
              <a:buNone/>
              <a:defRPr/>
            </a:pPr>
            <a:r>
              <a:rPr lang="en-US" sz="2100" smtClean="0"/>
              <a:t>A shift of the supply curve is a change in the quantity supplied of a good at any given price. </a:t>
            </a:r>
          </a:p>
        </p:txBody>
      </p:sp>
      <p:sp>
        <p:nvSpPr>
          <p:cNvPr id="567306" name="Text Box 10"/>
          <p:cNvSpPr txBox="1">
            <a:spLocks noChangeArrowheads="1"/>
          </p:cNvSpPr>
          <p:nvPr/>
        </p:nvSpPr>
        <p:spPr bwMode="auto">
          <a:xfrm>
            <a:off x="611560" y="1722438"/>
            <a:ext cx="2577728" cy="2743200"/>
          </a:xfrm>
          <a:prstGeom prst="rect">
            <a:avLst/>
          </a:prstGeom>
          <a:solidFill>
            <a:schemeClr val="accent5">
              <a:lumMod val="20000"/>
              <a:lumOff val="80000"/>
            </a:schemeClr>
          </a:solidFill>
          <a:ln w="19050" cmpd="thinThick" algn="ctr">
            <a:solidFill>
              <a:schemeClr val="tx1"/>
            </a:solidFill>
            <a:miter lim="800000"/>
            <a:headEnd/>
            <a:tailEnd type="none" w="sm" len="lg"/>
          </a:ln>
          <a:effectLst/>
        </p:spPr>
        <p:txBody>
          <a:bodyPr anchor="ctr"/>
          <a:lstStyle/>
          <a:p>
            <a:pPr marL="1588" indent="-1588" algn="ctr">
              <a:spcBef>
                <a:spcPct val="20000"/>
              </a:spcBef>
              <a:defRPr/>
            </a:pPr>
            <a:r>
              <a:rPr lang="en-US" sz="2400" dirty="0" smtClean="0"/>
              <a:t>Development of better technology in </a:t>
            </a:r>
            <a:r>
              <a:rPr lang="en-US" sz="2400" dirty="0"/>
              <a:t>cotton-growing business </a:t>
            </a:r>
            <a:r>
              <a:rPr lang="en-US" sz="2400" dirty="0">
                <a:sym typeface="Wingdings" pitchFamily="2" charset="2"/>
              </a:rPr>
              <a:t></a:t>
            </a:r>
          </a:p>
          <a:p>
            <a:pPr marL="1588" indent="-1588" algn="ctr">
              <a:spcBef>
                <a:spcPct val="20000"/>
              </a:spcBef>
              <a:defRPr/>
            </a:pPr>
            <a:r>
              <a:rPr lang="en-US" sz="2400" dirty="0">
                <a:sym typeface="Wingdings" pitchFamily="2" charset="2"/>
              </a:rPr>
              <a:t>more </a:t>
            </a:r>
            <a:r>
              <a:rPr lang="en-US" sz="2400" dirty="0" smtClean="0">
                <a:sym typeface="Wingdings" pitchFamily="2" charset="2"/>
              </a:rPr>
              <a:t>production &amp; cotton </a:t>
            </a:r>
            <a:r>
              <a:rPr lang="en-US" sz="2400" dirty="0">
                <a:sym typeface="Wingdings" pitchFamily="2" charset="2"/>
              </a:rPr>
              <a:t>producers</a:t>
            </a:r>
            <a:endParaRPr lang="en-US" sz="3200" dirty="0"/>
          </a:p>
        </p:txBody>
      </p:sp>
      <p:sp>
        <p:nvSpPr>
          <p:cNvPr id="62468" name="Line 16"/>
          <p:cNvSpPr>
            <a:spLocks noChangeShapeType="1"/>
          </p:cNvSpPr>
          <p:nvPr/>
        </p:nvSpPr>
        <p:spPr bwMode="auto">
          <a:xfrm flipV="1">
            <a:off x="4003675" y="839788"/>
            <a:ext cx="0" cy="3921125"/>
          </a:xfrm>
          <a:prstGeom prst="line">
            <a:avLst/>
          </a:prstGeom>
          <a:noFill/>
          <a:ln w="11113">
            <a:solidFill>
              <a:srgbClr val="000000"/>
            </a:solidFill>
            <a:miter lim="800000"/>
            <a:headEnd/>
            <a:tailEnd/>
          </a:ln>
        </p:spPr>
        <p:txBody>
          <a:bodyPr/>
          <a:lstStyle/>
          <a:p>
            <a:endParaRPr lang="en-US"/>
          </a:p>
        </p:txBody>
      </p:sp>
      <p:sp>
        <p:nvSpPr>
          <p:cNvPr id="62469" name="Freeform 17"/>
          <p:cNvSpPr>
            <a:spLocks/>
          </p:cNvSpPr>
          <p:nvPr/>
        </p:nvSpPr>
        <p:spPr bwMode="auto">
          <a:xfrm>
            <a:off x="4003675" y="4849813"/>
            <a:ext cx="190500" cy="138112"/>
          </a:xfrm>
          <a:custGeom>
            <a:avLst/>
            <a:gdLst>
              <a:gd name="T0" fmla="*/ 2147483647 w 93"/>
              <a:gd name="T1" fmla="*/ 2147483647 h 80"/>
              <a:gd name="T2" fmla="*/ 0 w 93"/>
              <a:gd name="T3" fmla="*/ 2147483647 h 80"/>
              <a:gd name="T4" fmla="*/ 0 w 93"/>
              <a:gd name="T5" fmla="*/ 0 h 80"/>
              <a:gd name="T6" fmla="*/ 0 60000 65536"/>
              <a:gd name="T7" fmla="*/ 0 60000 65536"/>
              <a:gd name="T8" fmla="*/ 0 60000 65536"/>
              <a:gd name="T9" fmla="*/ 0 w 93"/>
              <a:gd name="T10" fmla="*/ 0 h 80"/>
              <a:gd name="T11" fmla="*/ 93 w 93"/>
              <a:gd name="T12" fmla="*/ 80 h 80"/>
            </a:gdLst>
            <a:ahLst/>
            <a:cxnLst>
              <a:cxn ang="T6">
                <a:pos x="T0" y="T1"/>
              </a:cxn>
              <a:cxn ang="T7">
                <a:pos x="T2" y="T3"/>
              </a:cxn>
              <a:cxn ang="T8">
                <a:pos x="T4" y="T5"/>
              </a:cxn>
            </a:cxnLst>
            <a:rect l="T9" t="T10" r="T11" b="T12"/>
            <a:pathLst>
              <a:path w="93" h="80">
                <a:moveTo>
                  <a:pt x="93" y="80"/>
                </a:moveTo>
                <a:lnTo>
                  <a:pt x="0" y="80"/>
                </a:lnTo>
                <a:lnTo>
                  <a:pt x="0" y="0"/>
                </a:lnTo>
              </a:path>
            </a:pathLst>
          </a:custGeom>
          <a:noFill/>
          <a:ln w="11113" cap="flat">
            <a:solidFill>
              <a:srgbClr val="000000"/>
            </a:solidFill>
            <a:prstDash val="solid"/>
            <a:miter lim="800000"/>
            <a:headEnd/>
            <a:tailEnd/>
          </a:ln>
        </p:spPr>
        <p:txBody>
          <a:bodyPr/>
          <a:lstStyle/>
          <a:p>
            <a:endParaRPr lang="en-US"/>
          </a:p>
        </p:txBody>
      </p:sp>
      <p:sp>
        <p:nvSpPr>
          <p:cNvPr id="62470" name="Line 18"/>
          <p:cNvSpPr>
            <a:spLocks noChangeShapeType="1"/>
          </p:cNvSpPr>
          <p:nvPr/>
        </p:nvSpPr>
        <p:spPr bwMode="auto">
          <a:xfrm flipH="1">
            <a:off x="4298950" y="4987925"/>
            <a:ext cx="4110038" cy="0"/>
          </a:xfrm>
          <a:prstGeom prst="line">
            <a:avLst/>
          </a:prstGeom>
          <a:noFill/>
          <a:ln w="11113">
            <a:solidFill>
              <a:srgbClr val="000000"/>
            </a:solidFill>
            <a:miter lim="800000"/>
            <a:headEnd/>
            <a:tailEnd/>
          </a:ln>
        </p:spPr>
        <p:txBody>
          <a:bodyPr/>
          <a:lstStyle/>
          <a:p>
            <a:endParaRPr lang="en-US"/>
          </a:p>
        </p:txBody>
      </p:sp>
      <p:sp>
        <p:nvSpPr>
          <p:cNvPr id="62471" name="Line 19"/>
          <p:cNvSpPr>
            <a:spLocks noChangeShapeType="1"/>
          </p:cNvSpPr>
          <p:nvPr/>
        </p:nvSpPr>
        <p:spPr bwMode="auto">
          <a:xfrm>
            <a:off x="8408988" y="4856163"/>
            <a:ext cx="0" cy="131762"/>
          </a:xfrm>
          <a:prstGeom prst="line">
            <a:avLst/>
          </a:prstGeom>
          <a:noFill/>
          <a:ln w="11113">
            <a:solidFill>
              <a:srgbClr val="000000"/>
            </a:solidFill>
            <a:miter lim="800000"/>
            <a:headEnd/>
            <a:tailEnd/>
          </a:ln>
        </p:spPr>
        <p:txBody>
          <a:bodyPr/>
          <a:lstStyle/>
          <a:p>
            <a:endParaRPr lang="en-US"/>
          </a:p>
        </p:txBody>
      </p:sp>
      <p:sp>
        <p:nvSpPr>
          <p:cNvPr id="62472" name="Line 20"/>
          <p:cNvSpPr>
            <a:spLocks noChangeShapeType="1"/>
          </p:cNvSpPr>
          <p:nvPr/>
        </p:nvSpPr>
        <p:spPr bwMode="auto">
          <a:xfrm>
            <a:off x="7629525" y="4856163"/>
            <a:ext cx="0" cy="131762"/>
          </a:xfrm>
          <a:prstGeom prst="line">
            <a:avLst/>
          </a:prstGeom>
          <a:noFill/>
          <a:ln w="11113">
            <a:solidFill>
              <a:srgbClr val="000000"/>
            </a:solidFill>
            <a:miter lim="800000"/>
            <a:headEnd/>
            <a:tailEnd/>
          </a:ln>
        </p:spPr>
        <p:txBody>
          <a:bodyPr/>
          <a:lstStyle/>
          <a:p>
            <a:endParaRPr lang="en-US"/>
          </a:p>
        </p:txBody>
      </p:sp>
      <p:sp>
        <p:nvSpPr>
          <p:cNvPr id="62473" name="Line 21"/>
          <p:cNvSpPr>
            <a:spLocks noChangeShapeType="1"/>
          </p:cNvSpPr>
          <p:nvPr/>
        </p:nvSpPr>
        <p:spPr bwMode="auto">
          <a:xfrm>
            <a:off x="6854825" y="4856163"/>
            <a:ext cx="0" cy="131762"/>
          </a:xfrm>
          <a:prstGeom prst="line">
            <a:avLst/>
          </a:prstGeom>
          <a:noFill/>
          <a:ln w="11113">
            <a:solidFill>
              <a:srgbClr val="000000"/>
            </a:solidFill>
            <a:miter lim="800000"/>
            <a:headEnd/>
            <a:tailEnd/>
          </a:ln>
        </p:spPr>
        <p:txBody>
          <a:bodyPr/>
          <a:lstStyle/>
          <a:p>
            <a:endParaRPr lang="en-US"/>
          </a:p>
        </p:txBody>
      </p:sp>
      <p:sp>
        <p:nvSpPr>
          <p:cNvPr id="62474" name="Line 22"/>
          <p:cNvSpPr>
            <a:spLocks noChangeShapeType="1"/>
          </p:cNvSpPr>
          <p:nvPr/>
        </p:nvSpPr>
        <p:spPr bwMode="auto">
          <a:xfrm>
            <a:off x="6094413" y="4856163"/>
            <a:ext cx="0" cy="131762"/>
          </a:xfrm>
          <a:prstGeom prst="line">
            <a:avLst/>
          </a:prstGeom>
          <a:noFill/>
          <a:ln w="11113">
            <a:solidFill>
              <a:srgbClr val="000000"/>
            </a:solidFill>
            <a:miter lim="800000"/>
            <a:headEnd/>
            <a:tailEnd/>
          </a:ln>
        </p:spPr>
        <p:txBody>
          <a:bodyPr/>
          <a:lstStyle/>
          <a:p>
            <a:endParaRPr lang="en-US"/>
          </a:p>
        </p:txBody>
      </p:sp>
      <p:sp>
        <p:nvSpPr>
          <p:cNvPr id="62475" name="Line 23"/>
          <p:cNvSpPr>
            <a:spLocks noChangeShapeType="1"/>
          </p:cNvSpPr>
          <p:nvPr/>
        </p:nvSpPr>
        <p:spPr bwMode="auto">
          <a:xfrm>
            <a:off x="5319713" y="4856163"/>
            <a:ext cx="0" cy="131762"/>
          </a:xfrm>
          <a:prstGeom prst="line">
            <a:avLst/>
          </a:prstGeom>
          <a:noFill/>
          <a:ln w="11113">
            <a:solidFill>
              <a:srgbClr val="000000"/>
            </a:solidFill>
            <a:miter lim="800000"/>
            <a:headEnd/>
            <a:tailEnd/>
          </a:ln>
        </p:spPr>
        <p:txBody>
          <a:bodyPr/>
          <a:lstStyle/>
          <a:p>
            <a:endParaRPr lang="en-US"/>
          </a:p>
        </p:txBody>
      </p:sp>
      <p:sp>
        <p:nvSpPr>
          <p:cNvPr id="62476" name="Line 24"/>
          <p:cNvSpPr>
            <a:spLocks noChangeShapeType="1"/>
          </p:cNvSpPr>
          <p:nvPr/>
        </p:nvSpPr>
        <p:spPr bwMode="auto">
          <a:xfrm>
            <a:off x="4546600" y="4856163"/>
            <a:ext cx="0" cy="131762"/>
          </a:xfrm>
          <a:prstGeom prst="line">
            <a:avLst/>
          </a:prstGeom>
          <a:noFill/>
          <a:ln w="11113">
            <a:solidFill>
              <a:srgbClr val="000000"/>
            </a:solidFill>
            <a:miter lim="800000"/>
            <a:headEnd/>
            <a:tailEnd/>
          </a:ln>
        </p:spPr>
        <p:txBody>
          <a:bodyPr/>
          <a:lstStyle/>
          <a:p>
            <a:endParaRPr lang="en-US"/>
          </a:p>
        </p:txBody>
      </p:sp>
      <p:sp>
        <p:nvSpPr>
          <p:cNvPr id="62477" name="Rectangle 25"/>
          <p:cNvSpPr>
            <a:spLocks noChangeArrowheads="1"/>
          </p:cNvSpPr>
          <p:nvPr/>
        </p:nvSpPr>
        <p:spPr bwMode="auto">
          <a:xfrm>
            <a:off x="4484688" y="5032375"/>
            <a:ext cx="98425"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7</a:t>
            </a:r>
            <a:endParaRPr lang="en-US" sz="1400"/>
          </a:p>
        </p:txBody>
      </p:sp>
      <p:sp>
        <p:nvSpPr>
          <p:cNvPr id="62478" name="Rectangle 26"/>
          <p:cNvSpPr>
            <a:spLocks noChangeArrowheads="1"/>
          </p:cNvSpPr>
          <p:nvPr/>
        </p:nvSpPr>
        <p:spPr bwMode="auto">
          <a:xfrm>
            <a:off x="3779838" y="5032375"/>
            <a:ext cx="98425"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p>
        </p:txBody>
      </p:sp>
      <p:sp>
        <p:nvSpPr>
          <p:cNvPr id="62479" name="Rectangle 27"/>
          <p:cNvSpPr>
            <a:spLocks noChangeArrowheads="1"/>
          </p:cNvSpPr>
          <p:nvPr/>
        </p:nvSpPr>
        <p:spPr bwMode="auto">
          <a:xfrm>
            <a:off x="5262563" y="5032375"/>
            <a:ext cx="98425"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9</a:t>
            </a:r>
            <a:endParaRPr lang="en-US" sz="1400"/>
          </a:p>
        </p:txBody>
      </p:sp>
      <p:sp>
        <p:nvSpPr>
          <p:cNvPr id="62480" name="Rectangle 28"/>
          <p:cNvSpPr>
            <a:spLocks noChangeArrowheads="1"/>
          </p:cNvSpPr>
          <p:nvPr/>
        </p:nvSpPr>
        <p:spPr bwMode="auto">
          <a:xfrm>
            <a:off x="5972175" y="5032375"/>
            <a:ext cx="196850"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11</a:t>
            </a:r>
            <a:endParaRPr lang="en-US" sz="1400"/>
          </a:p>
        </p:txBody>
      </p:sp>
      <p:sp>
        <p:nvSpPr>
          <p:cNvPr id="62481" name="Rectangle 29"/>
          <p:cNvSpPr>
            <a:spLocks noChangeArrowheads="1"/>
          </p:cNvSpPr>
          <p:nvPr/>
        </p:nvSpPr>
        <p:spPr bwMode="auto">
          <a:xfrm>
            <a:off x="6732588" y="5032375"/>
            <a:ext cx="195262"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13</a:t>
            </a:r>
            <a:endParaRPr lang="en-US" sz="1400"/>
          </a:p>
        </p:txBody>
      </p:sp>
      <p:sp>
        <p:nvSpPr>
          <p:cNvPr id="62482" name="Rectangle 30"/>
          <p:cNvSpPr>
            <a:spLocks noChangeArrowheads="1"/>
          </p:cNvSpPr>
          <p:nvPr/>
        </p:nvSpPr>
        <p:spPr bwMode="auto">
          <a:xfrm>
            <a:off x="7510463" y="5032375"/>
            <a:ext cx="196850"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a:t>
            </a:r>
            <a:endParaRPr lang="en-US" sz="1400"/>
          </a:p>
        </p:txBody>
      </p:sp>
      <p:sp>
        <p:nvSpPr>
          <p:cNvPr id="62483" name="Rectangle 31"/>
          <p:cNvSpPr>
            <a:spLocks noChangeArrowheads="1"/>
          </p:cNvSpPr>
          <p:nvPr/>
        </p:nvSpPr>
        <p:spPr bwMode="auto">
          <a:xfrm>
            <a:off x="8288338" y="5032375"/>
            <a:ext cx="196850"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a:t>
            </a:r>
            <a:endParaRPr lang="en-US" sz="1400"/>
          </a:p>
        </p:txBody>
      </p:sp>
      <p:sp>
        <p:nvSpPr>
          <p:cNvPr id="62484" name="Line 45"/>
          <p:cNvSpPr>
            <a:spLocks noChangeShapeType="1"/>
          </p:cNvSpPr>
          <p:nvPr/>
        </p:nvSpPr>
        <p:spPr bwMode="auto">
          <a:xfrm>
            <a:off x="4003675" y="1798638"/>
            <a:ext cx="157163" cy="0"/>
          </a:xfrm>
          <a:prstGeom prst="line">
            <a:avLst/>
          </a:prstGeom>
          <a:noFill/>
          <a:ln w="11113">
            <a:solidFill>
              <a:srgbClr val="000000"/>
            </a:solidFill>
            <a:miter lim="800000"/>
            <a:headEnd/>
            <a:tailEnd/>
          </a:ln>
        </p:spPr>
        <p:txBody>
          <a:bodyPr/>
          <a:lstStyle/>
          <a:p>
            <a:endParaRPr lang="en-US"/>
          </a:p>
        </p:txBody>
      </p:sp>
      <p:sp>
        <p:nvSpPr>
          <p:cNvPr id="62485" name="Line 46"/>
          <p:cNvSpPr>
            <a:spLocks noChangeShapeType="1"/>
          </p:cNvSpPr>
          <p:nvPr/>
        </p:nvSpPr>
        <p:spPr bwMode="auto">
          <a:xfrm>
            <a:off x="4003675" y="2252663"/>
            <a:ext cx="157163" cy="0"/>
          </a:xfrm>
          <a:prstGeom prst="line">
            <a:avLst/>
          </a:prstGeom>
          <a:noFill/>
          <a:ln w="11113">
            <a:solidFill>
              <a:srgbClr val="000000"/>
            </a:solidFill>
            <a:miter lim="800000"/>
            <a:headEnd/>
            <a:tailEnd/>
          </a:ln>
        </p:spPr>
        <p:txBody>
          <a:bodyPr/>
          <a:lstStyle/>
          <a:p>
            <a:endParaRPr lang="en-US"/>
          </a:p>
        </p:txBody>
      </p:sp>
      <p:sp>
        <p:nvSpPr>
          <p:cNvPr id="62486" name="Line 47"/>
          <p:cNvSpPr>
            <a:spLocks noChangeShapeType="1"/>
          </p:cNvSpPr>
          <p:nvPr/>
        </p:nvSpPr>
        <p:spPr bwMode="auto">
          <a:xfrm>
            <a:off x="4003675" y="2705100"/>
            <a:ext cx="157163" cy="0"/>
          </a:xfrm>
          <a:prstGeom prst="line">
            <a:avLst/>
          </a:prstGeom>
          <a:noFill/>
          <a:ln w="11113">
            <a:solidFill>
              <a:srgbClr val="000000"/>
            </a:solidFill>
            <a:miter lim="800000"/>
            <a:headEnd/>
            <a:tailEnd/>
          </a:ln>
        </p:spPr>
        <p:txBody>
          <a:bodyPr/>
          <a:lstStyle/>
          <a:p>
            <a:endParaRPr lang="en-US"/>
          </a:p>
        </p:txBody>
      </p:sp>
      <p:sp>
        <p:nvSpPr>
          <p:cNvPr id="62487" name="Line 48"/>
          <p:cNvSpPr>
            <a:spLocks noChangeShapeType="1"/>
          </p:cNvSpPr>
          <p:nvPr/>
        </p:nvSpPr>
        <p:spPr bwMode="auto">
          <a:xfrm>
            <a:off x="4003675" y="3165475"/>
            <a:ext cx="157163" cy="0"/>
          </a:xfrm>
          <a:prstGeom prst="line">
            <a:avLst/>
          </a:prstGeom>
          <a:noFill/>
          <a:ln w="11113">
            <a:solidFill>
              <a:srgbClr val="000000"/>
            </a:solidFill>
            <a:miter lim="800000"/>
            <a:headEnd/>
            <a:tailEnd/>
          </a:ln>
        </p:spPr>
        <p:txBody>
          <a:bodyPr/>
          <a:lstStyle/>
          <a:p>
            <a:endParaRPr lang="en-US"/>
          </a:p>
        </p:txBody>
      </p:sp>
      <p:sp>
        <p:nvSpPr>
          <p:cNvPr id="62488" name="Line 49"/>
          <p:cNvSpPr>
            <a:spLocks noChangeShapeType="1"/>
          </p:cNvSpPr>
          <p:nvPr/>
        </p:nvSpPr>
        <p:spPr bwMode="auto">
          <a:xfrm>
            <a:off x="4003675" y="3659188"/>
            <a:ext cx="157163" cy="0"/>
          </a:xfrm>
          <a:prstGeom prst="line">
            <a:avLst/>
          </a:prstGeom>
          <a:noFill/>
          <a:ln w="11113">
            <a:solidFill>
              <a:srgbClr val="000000"/>
            </a:solidFill>
            <a:miter lim="800000"/>
            <a:headEnd/>
            <a:tailEnd/>
          </a:ln>
        </p:spPr>
        <p:txBody>
          <a:bodyPr/>
          <a:lstStyle/>
          <a:p>
            <a:endParaRPr lang="en-US"/>
          </a:p>
        </p:txBody>
      </p:sp>
      <p:sp>
        <p:nvSpPr>
          <p:cNvPr id="62489" name="Line 50"/>
          <p:cNvSpPr>
            <a:spLocks noChangeShapeType="1"/>
          </p:cNvSpPr>
          <p:nvPr/>
        </p:nvSpPr>
        <p:spPr bwMode="auto">
          <a:xfrm>
            <a:off x="4003675" y="4124325"/>
            <a:ext cx="157163" cy="0"/>
          </a:xfrm>
          <a:prstGeom prst="line">
            <a:avLst/>
          </a:prstGeom>
          <a:noFill/>
          <a:ln w="11113">
            <a:solidFill>
              <a:srgbClr val="000000"/>
            </a:solidFill>
            <a:miter lim="800000"/>
            <a:headEnd/>
            <a:tailEnd/>
          </a:ln>
        </p:spPr>
        <p:txBody>
          <a:bodyPr/>
          <a:lstStyle/>
          <a:p>
            <a:endParaRPr lang="en-US"/>
          </a:p>
        </p:txBody>
      </p:sp>
      <p:sp>
        <p:nvSpPr>
          <p:cNvPr id="62490" name="Line 51"/>
          <p:cNvSpPr>
            <a:spLocks noChangeShapeType="1"/>
          </p:cNvSpPr>
          <p:nvPr/>
        </p:nvSpPr>
        <p:spPr bwMode="auto">
          <a:xfrm>
            <a:off x="4003675" y="4594225"/>
            <a:ext cx="157163" cy="0"/>
          </a:xfrm>
          <a:prstGeom prst="line">
            <a:avLst/>
          </a:prstGeom>
          <a:noFill/>
          <a:ln w="11113">
            <a:solidFill>
              <a:srgbClr val="000000"/>
            </a:solidFill>
            <a:miter lim="800000"/>
            <a:headEnd/>
            <a:tailEnd/>
          </a:ln>
        </p:spPr>
        <p:txBody>
          <a:bodyPr/>
          <a:lstStyle/>
          <a:p>
            <a:endParaRPr lang="en-US"/>
          </a:p>
        </p:txBody>
      </p:sp>
      <p:sp>
        <p:nvSpPr>
          <p:cNvPr id="62491" name="Rectangle 52"/>
          <p:cNvSpPr>
            <a:spLocks noChangeArrowheads="1"/>
          </p:cNvSpPr>
          <p:nvPr/>
        </p:nvSpPr>
        <p:spPr bwMode="auto">
          <a:xfrm>
            <a:off x="3349625" y="1689100"/>
            <a:ext cx="44291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$2.00</a:t>
            </a:r>
            <a:endParaRPr lang="en-US" sz="1400"/>
          </a:p>
        </p:txBody>
      </p:sp>
      <p:sp>
        <p:nvSpPr>
          <p:cNvPr id="62492" name="Rectangle 53"/>
          <p:cNvSpPr>
            <a:spLocks noChangeArrowheads="1"/>
          </p:cNvSpPr>
          <p:nvPr/>
        </p:nvSpPr>
        <p:spPr bwMode="auto">
          <a:xfrm>
            <a:off x="3470275" y="2141538"/>
            <a:ext cx="344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1.75</a:t>
            </a:r>
            <a:endParaRPr lang="en-US" sz="1400"/>
          </a:p>
        </p:txBody>
      </p:sp>
      <p:sp>
        <p:nvSpPr>
          <p:cNvPr id="62493" name="Rectangle 54"/>
          <p:cNvSpPr>
            <a:spLocks noChangeArrowheads="1"/>
          </p:cNvSpPr>
          <p:nvPr/>
        </p:nvSpPr>
        <p:spPr bwMode="auto">
          <a:xfrm>
            <a:off x="3470275" y="2597150"/>
            <a:ext cx="344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1.50</a:t>
            </a:r>
            <a:endParaRPr lang="en-US" sz="1400"/>
          </a:p>
        </p:txBody>
      </p:sp>
      <p:sp>
        <p:nvSpPr>
          <p:cNvPr id="62494" name="Rectangle 55"/>
          <p:cNvSpPr>
            <a:spLocks noChangeArrowheads="1"/>
          </p:cNvSpPr>
          <p:nvPr/>
        </p:nvSpPr>
        <p:spPr bwMode="auto">
          <a:xfrm>
            <a:off x="3470275" y="3055938"/>
            <a:ext cx="344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1.25</a:t>
            </a:r>
            <a:endParaRPr lang="en-US" sz="1400"/>
          </a:p>
        </p:txBody>
      </p:sp>
      <p:sp>
        <p:nvSpPr>
          <p:cNvPr id="62495" name="Rectangle 56"/>
          <p:cNvSpPr>
            <a:spLocks noChangeArrowheads="1"/>
          </p:cNvSpPr>
          <p:nvPr/>
        </p:nvSpPr>
        <p:spPr bwMode="auto">
          <a:xfrm>
            <a:off x="3470275" y="3541713"/>
            <a:ext cx="344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a:t>
            </a:r>
            <a:endParaRPr lang="en-US" sz="1400"/>
          </a:p>
        </p:txBody>
      </p:sp>
      <p:sp>
        <p:nvSpPr>
          <p:cNvPr id="62496" name="Rectangle 57"/>
          <p:cNvSpPr>
            <a:spLocks noChangeArrowheads="1"/>
          </p:cNvSpPr>
          <p:nvPr/>
        </p:nvSpPr>
        <p:spPr bwMode="auto">
          <a:xfrm>
            <a:off x="3470275" y="4011613"/>
            <a:ext cx="344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0.75</a:t>
            </a:r>
            <a:endParaRPr lang="en-US" sz="1400"/>
          </a:p>
        </p:txBody>
      </p:sp>
      <p:sp>
        <p:nvSpPr>
          <p:cNvPr id="62497" name="Rectangle 58"/>
          <p:cNvSpPr>
            <a:spLocks noChangeArrowheads="1"/>
          </p:cNvSpPr>
          <p:nvPr/>
        </p:nvSpPr>
        <p:spPr bwMode="auto">
          <a:xfrm>
            <a:off x="3470275" y="4494213"/>
            <a:ext cx="344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0.50</a:t>
            </a:r>
            <a:endParaRPr lang="en-US" sz="1400"/>
          </a:p>
        </p:txBody>
      </p:sp>
      <p:sp>
        <p:nvSpPr>
          <p:cNvPr id="567365" name="Line 69"/>
          <p:cNvSpPr>
            <a:spLocks noChangeShapeType="1"/>
          </p:cNvSpPr>
          <p:nvPr/>
        </p:nvSpPr>
        <p:spPr bwMode="auto">
          <a:xfrm>
            <a:off x="5183188" y="2566988"/>
            <a:ext cx="944562" cy="450850"/>
          </a:xfrm>
          <a:prstGeom prst="line">
            <a:avLst/>
          </a:prstGeom>
          <a:noFill/>
          <a:ln w="11113">
            <a:solidFill>
              <a:srgbClr val="000000"/>
            </a:solidFill>
            <a:miter lim="800000"/>
            <a:headEnd/>
            <a:tailEnd/>
          </a:ln>
        </p:spPr>
        <p:txBody>
          <a:bodyPr/>
          <a:lstStyle/>
          <a:p>
            <a:endParaRPr lang="en-US"/>
          </a:p>
        </p:txBody>
      </p:sp>
      <p:sp>
        <p:nvSpPr>
          <p:cNvPr id="567366" name="Line 70"/>
          <p:cNvSpPr>
            <a:spLocks noChangeShapeType="1"/>
          </p:cNvSpPr>
          <p:nvPr/>
        </p:nvSpPr>
        <p:spPr bwMode="auto">
          <a:xfrm>
            <a:off x="6691313" y="3427413"/>
            <a:ext cx="747712" cy="492125"/>
          </a:xfrm>
          <a:prstGeom prst="line">
            <a:avLst/>
          </a:prstGeom>
          <a:noFill/>
          <a:ln w="11113">
            <a:solidFill>
              <a:srgbClr val="000000"/>
            </a:solidFill>
            <a:miter lim="800000"/>
            <a:headEnd/>
            <a:tailEnd/>
          </a:ln>
        </p:spPr>
        <p:txBody>
          <a:bodyPr/>
          <a:lstStyle/>
          <a:p>
            <a:endParaRPr lang="en-US"/>
          </a:p>
        </p:txBody>
      </p:sp>
      <p:sp>
        <p:nvSpPr>
          <p:cNvPr id="567367" name="Freeform 71"/>
          <p:cNvSpPr>
            <a:spLocks/>
          </p:cNvSpPr>
          <p:nvPr/>
        </p:nvSpPr>
        <p:spPr bwMode="auto">
          <a:xfrm>
            <a:off x="6737350" y="3824288"/>
            <a:ext cx="1550988" cy="900112"/>
          </a:xfrm>
          <a:custGeom>
            <a:avLst/>
            <a:gdLst>
              <a:gd name="T0" fmla="*/ 2147483647 w 222"/>
              <a:gd name="T1" fmla="*/ 2147483647 h 141"/>
              <a:gd name="T2" fmla="*/ 2147483647 w 222"/>
              <a:gd name="T3" fmla="*/ 2147483647 h 141"/>
              <a:gd name="T4" fmla="*/ 2147483647 w 222"/>
              <a:gd name="T5" fmla="*/ 2147483647 h 141"/>
              <a:gd name="T6" fmla="*/ 0 w 222"/>
              <a:gd name="T7" fmla="*/ 2147483647 h 141"/>
              <a:gd name="T8" fmla="*/ 0 w 222"/>
              <a:gd name="T9" fmla="*/ 2147483647 h 141"/>
              <a:gd name="T10" fmla="*/ 2147483647 w 222"/>
              <a:gd name="T11" fmla="*/ 0 h 141"/>
              <a:gd name="T12" fmla="*/ 2147483647 w 222"/>
              <a:gd name="T13" fmla="*/ 0 h 141"/>
              <a:gd name="T14" fmla="*/ 2147483647 w 222"/>
              <a:gd name="T15" fmla="*/ 2147483647 h 141"/>
              <a:gd name="T16" fmla="*/ 2147483647 w 222"/>
              <a:gd name="T17" fmla="*/ 2147483647 h 1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2"/>
              <a:gd name="T28" fmla="*/ 0 h 141"/>
              <a:gd name="T29" fmla="*/ 222 w 222"/>
              <a:gd name="T30" fmla="*/ 141 h 1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2" h="141">
                <a:moveTo>
                  <a:pt x="222" y="118"/>
                </a:moveTo>
                <a:cubicBezTo>
                  <a:pt x="222" y="130"/>
                  <a:pt x="215" y="141"/>
                  <a:pt x="206" y="141"/>
                </a:cubicBezTo>
                <a:cubicBezTo>
                  <a:pt x="16" y="141"/>
                  <a:pt x="16" y="141"/>
                  <a:pt x="16" y="141"/>
                </a:cubicBezTo>
                <a:cubicBezTo>
                  <a:pt x="7" y="141"/>
                  <a:pt x="0" y="130"/>
                  <a:pt x="0" y="118"/>
                </a:cubicBezTo>
                <a:cubicBezTo>
                  <a:pt x="0" y="23"/>
                  <a:pt x="0" y="23"/>
                  <a:pt x="0" y="23"/>
                </a:cubicBezTo>
                <a:cubicBezTo>
                  <a:pt x="0" y="10"/>
                  <a:pt x="7" y="0"/>
                  <a:pt x="16" y="0"/>
                </a:cubicBezTo>
                <a:cubicBezTo>
                  <a:pt x="206" y="0"/>
                  <a:pt x="206" y="0"/>
                  <a:pt x="206" y="0"/>
                </a:cubicBezTo>
                <a:cubicBezTo>
                  <a:pt x="215" y="0"/>
                  <a:pt x="222" y="10"/>
                  <a:pt x="222" y="23"/>
                </a:cubicBezTo>
                <a:lnTo>
                  <a:pt x="222" y="118"/>
                </a:lnTo>
                <a:close/>
              </a:path>
            </a:pathLst>
          </a:custGeom>
          <a:solidFill>
            <a:srgbClr val="D6E2E0"/>
          </a:solidFill>
          <a:ln w="9525">
            <a:noFill/>
            <a:round/>
            <a:headEnd/>
            <a:tailEnd/>
          </a:ln>
        </p:spPr>
        <p:txBody>
          <a:bodyPr/>
          <a:lstStyle/>
          <a:p>
            <a:endParaRPr lang="en-US"/>
          </a:p>
        </p:txBody>
      </p:sp>
      <p:sp>
        <p:nvSpPr>
          <p:cNvPr id="567387" name="Freeform 91"/>
          <p:cNvSpPr>
            <a:spLocks/>
          </p:cNvSpPr>
          <p:nvPr/>
        </p:nvSpPr>
        <p:spPr bwMode="auto">
          <a:xfrm>
            <a:off x="4489450" y="1828800"/>
            <a:ext cx="1533525" cy="774700"/>
          </a:xfrm>
          <a:custGeom>
            <a:avLst/>
            <a:gdLst>
              <a:gd name="T0" fmla="*/ 2147483647 w 234"/>
              <a:gd name="T1" fmla="*/ 2147483647 h 140"/>
              <a:gd name="T2" fmla="*/ 2147483647 w 234"/>
              <a:gd name="T3" fmla="*/ 2147483647 h 140"/>
              <a:gd name="T4" fmla="*/ 2147483647 w 234"/>
              <a:gd name="T5" fmla="*/ 2147483647 h 140"/>
              <a:gd name="T6" fmla="*/ 0 w 234"/>
              <a:gd name="T7" fmla="*/ 2147483647 h 140"/>
              <a:gd name="T8" fmla="*/ 0 w 234"/>
              <a:gd name="T9" fmla="*/ 2147483647 h 140"/>
              <a:gd name="T10" fmla="*/ 2147483647 w 234"/>
              <a:gd name="T11" fmla="*/ 0 h 140"/>
              <a:gd name="T12" fmla="*/ 2147483647 w 234"/>
              <a:gd name="T13" fmla="*/ 0 h 140"/>
              <a:gd name="T14" fmla="*/ 2147483647 w 234"/>
              <a:gd name="T15" fmla="*/ 2147483647 h 140"/>
              <a:gd name="T16" fmla="*/ 2147483647 w 234"/>
              <a:gd name="T17" fmla="*/ 2147483647 h 1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4"/>
              <a:gd name="T28" fmla="*/ 0 h 140"/>
              <a:gd name="T29" fmla="*/ 234 w 234"/>
              <a:gd name="T30" fmla="*/ 140 h 1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4" h="140">
                <a:moveTo>
                  <a:pt x="234" y="119"/>
                </a:moveTo>
                <a:cubicBezTo>
                  <a:pt x="234" y="130"/>
                  <a:pt x="227" y="140"/>
                  <a:pt x="218" y="140"/>
                </a:cubicBezTo>
                <a:cubicBezTo>
                  <a:pt x="16" y="140"/>
                  <a:pt x="16" y="140"/>
                  <a:pt x="16" y="140"/>
                </a:cubicBezTo>
                <a:cubicBezTo>
                  <a:pt x="7" y="140"/>
                  <a:pt x="0" y="130"/>
                  <a:pt x="0" y="119"/>
                </a:cubicBezTo>
                <a:cubicBezTo>
                  <a:pt x="0" y="21"/>
                  <a:pt x="0" y="21"/>
                  <a:pt x="0" y="21"/>
                </a:cubicBezTo>
                <a:cubicBezTo>
                  <a:pt x="0" y="9"/>
                  <a:pt x="7" y="0"/>
                  <a:pt x="16" y="0"/>
                </a:cubicBezTo>
                <a:cubicBezTo>
                  <a:pt x="218" y="0"/>
                  <a:pt x="218" y="0"/>
                  <a:pt x="218" y="0"/>
                </a:cubicBezTo>
                <a:cubicBezTo>
                  <a:pt x="227" y="0"/>
                  <a:pt x="234" y="9"/>
                  <a:pt x="234" y="21"/>
                </a:cubicBezTo>
                <a:lnTo>
                  <a:pt x="234" y="119"/>
                </a:lnTo>
                <a:close/>
              </a:path>
            </a:pathLst>
          </a:custGeom>
          <a:solidFill>
            <a:srgbClr val="D6E2E0"/>
          </a:solidFill>
          <a:ln w="9525">
            <a:noFill/>
            <a:round/>
            <a:headEnd/>
            <a:tailEnd/>
          </a:ln>
        </p:spPr>
        <p:txBody>
          <a:bodyPr/>
          <a:lstStyle/>
          <a:p>
            <a:endParaRPr lang="en-US"/>
          </a:p>
        </p:txBody>
      </p:sp>
      <p:sp>
        <p:nvSpPr>
          <p:cNvPr id="62502" name="Freeform 112"/>
          <p:cNvSpPr>
            <a:spLocks/>
          </p:cNvSpPr>
          <p:nvPr/>
        </p:nvSpPr>
        <p:spPr bwMode="auto">
          <a:xfrm>
            <a:off x="4933950" y="1792288"/>
            <a:ext cx="1468438" cy="2828925"/>
          </a:xfrm>
          <a:custGeom>
            <a:avLst/>
            <a:gdLst>
              <a:gd name="T0" fmla="*/ 0 w 224"/>
              <a:gd name="T1" fmla="*/ 2147483647 h 511"/>
              <a:gd name="T2" fmla="*/ 2147483647 w 224"/>
              <a:gd name="T3" fmla="*/ 0 h 511"/>
              <a:gd name="T4" fmla="*/ 0 60000 65536"/>
              <a:gd name="T5" fmla="*/ 0 60000 65536"/>
              <a:gd name="T6" fmla="*/ 0 w 224"/>
              <a:gd name="T7" fmla="*/ 0 h 511"/>
              <a:gd name="T8" fmla="*/ 224 w 224"/>
              <a:gd name="T9" fmla="*/ 511 h 511"/>
            </a:gdLst>
            <a:ahLst/>
            <a:cxnLst>
              <a:cxn ang="T4">
                <a:pos x="T0" y="T1"/>
              </a:cxn>
              <a:cxn ang="T5">
                <a:pos x="T2" y="T3"/>
              </a:cxn>
            </a:cxnLst>
            <a:rect l="T6" t="T7" r="T8" b="T9"/>
            <a:pathLst>
              <a:path w="224" h="511">
                <a:moveTo>
                  <a:pt x="0" y="511"/>
                </a:moveTo>
                <a:cubicBezTo>
                  <a:pt x="63" y="422"/>
                  <a:pt x="200" y="308"/>
                  <a:pt x="224" y="0"/>
                </a:cubicBezTo>
              </a:path>
            </a:pathLst>
          </a:custGeom>
          <a:noFill/>
          <a:ln w="41275" cap="flat">
            <a:solidFill>
              <a:srgbClr val="FAC0BF"/>
            </a:solidFill>
            <a:prstDash val="solid"/>
            <a:miter lim="800000"/>
            <a:headEnd/>
            <a:tailEnd/>
          </a:ln>
        </p:spPr>
        <p:txBody>
          <a:bodyPr/>
          <a:lstStyle/>
          <a:p>
            <a:endParaRPr lang="en-US"/>
          </a:p>
        </p:txBody>
      </p:sp>
      <p:sp>
        <p:nvSpPr>
          <p:cNvPr id="62503" name="Oval 121"/>
          <p:cNvSpPr>
            <a:spLocks noChangeArrowheads="1"/>
          </p:cNvSpPr>
          <p:nvPr/>
        </p:nvSpPr>
        <p:spPr bwMode="auto">
          <a:xfrm>
            <a:off x="6330950" y="1736725"/>
            <a:ext cx="130175" cy="111125"/>
          </a:xfrm>
          <a:prstGeom prst="ellipse">
            <a:avLst/>
          </a:prstGeom>
          <a:solidFill>
            <a:srgbClr val="000000"/>
          </a:solidFill>
          <a:ln w="9525">
            <a:noFill/>
            <a:round/>
            <a:headEnd/>
            <a:tailEnd/>
          </a:ln>
        </p:spPr>
        <p:txBody>
          <a:bodyPr/>
          <a:lstStyle/>
          <a:p>
            <a:endParaRPr lang="en-US"/>
          </a:p>
        </p:txBody>
      </p:sp>
      <p:sp>
        <p:nvSpPr>
          <p:cNvPr id="62504" name="Oval 122"/>
          <p:cNvSpPr>
            <a:spLocks noChangeArrowheads="1"/>
          </p:cNvSpPr>
          <p:nvPr/>
        </p:nvSpPr>
        <p:spPr bwMode="auto">
          <a:xfrm>
            <a:off x="5970588" y="3160713"/>
            <a:ext cx="130175" cy="111125"/>
          </a:xfrm>
          <a:prstGeom prst="ellipse">
            <a:avLst/>
          </a:prstGeom>
          <a:solidFill>
            <a:srgbClr val="000000"/>
          </a:solidFill>
          <a:ln w="9525">
            <a:noFill/>
            <a:round/>
            <a:headEnd/>
            <a:tailEnd/>
          </a:ln>
        </p:spPr>
        <p:txBody>
          <a:bodyPr/>
          <a:lstStyle/>
          <a:p>
            <a:endParaRPr lang="en-US"/>
          </a:p>
        </p:txBody>
      </p:sp>
      <p:sp>
        <p:nvSpPr>
          <p:cNvPr id="62505" name="Oval 123"/>
          <p:cNvSpPr>
            <a:spLocks noChangeArrowheads="1"/>
          </p:cNvSpPr>
          <p:nvPr/>
        </p:nvSpPr>
        <p:spPr bwMode="auto">
          <a:xfrm>
            <a:off x="5681663" y="3621088"/>
            <a:ext cx="130175" cy="109537"/>
          </a:xfrm>
          <a:prstGeom prst="ellipse">
            <a:avLst/>
          </a:prstGeom>
          <a:solidFill>
            <a:srgbClr val="000000"/>
          </a:solidFill>
          <a:ln w="9525">
            <a:noFill/>
            <a:round/>
            <a:headEnd/>
            <a:tailEnd/>
          </a:ln>
        </p:spPr>
        <p:txBody>
          <a:bodyPr/>
          <a:lstStyle/>
          <a:p>
            <a:endParaRPr lang="en-US"/>
          </a:p>
        </p:txBody>
      </p:sp>
      <p:sp>
        <p:nvSpPr>
          <p:cNvPr id="62506" name="Oval 124"/>
          <p:cNvSpPr>
            <a:spLocks noChangeArrowheads="1"/>
          </p:cNvSpPr>
          <p:nvPr/>
        </p:nvSpPr>
        <p:spPr bwMode="auto">
          <a:xfrm>
            <a:off x="5302250" y="4090988"/>
            <a:ext cx="130175" cy="111125"/>
          </a:xfrm>
          <a:prstGeom prst="ellipse">
            <a:avLst/>
          </a:prstGeom>
          <a:solidFill>
            <a:srgbClr val="000000"/>
          </a:solidFill>
          <a:ln w="9525">
            <a:noFill/>
            <a:round/>
            <a:headEnd/>
            <a:tailEnd/>
          </a:ln>
        </p:spPr>
        <p:txBody>
          <a:bodyPr/>
          <a:lstStyle/>
          <a:p>
            <a:endParaRPr lang="en-US"/>
          </a:p>
        </p:txBody>
      </p:sp>
      <p:sp>
        <p:nvSpPr>
          <p:cNvPr id="62507" name="Oval 125"/>
          <p:cNvSpPr>
            <a:spLocks noChangeArrowheads="1"/>
          </p:cNvSpPr>
          <p:nvPr/>
        </p:nvSpPr>
        <p:spPr bwMode="auto">
          <a:xfrm>
            <a:off x="4867275" y="4556125"/>
            <a:ext cx="131763" cy="111125"/>
          </a:xfrm>
          <a:prstGeom prst="ellipse">
            <a:avLst/>
          </a:prstGeom>
          <a:solidFill>
            <a:srgbClr val="000000"/>
          </a:solidFill>
          <a:ln w="9525">
            <a:noFill/>
            <a:round/>
            <a:headEnd/>
            <a:tailEnd/>
          </a:ln>
        </p:spPr>
        <p:txBody>
          <a:bodyPr/>
          <a:lstStyle/>
          <a:p>
            <a:endParaRPr lang="en-US"/>
          </a:p>
        </p:txBody>
      </p:sp>
      <p:sp>
        <p:nvSpPr>
          <p:cNvPr id="62508" name="Oval 126"/>
          <p:cNvSpPr>
            <a:spLocks noChangeArrowheads="1"/>
          </p:cNvSpPr>
          <p:nvPr/>
        </p:nvSpPr>
        <p:spPr bwMode="auto">
          <a:xfrm>
            <a:off x="6270625" y="2225675"/>
            <a:ext cx="131763" cy="109538"/>
          </a:xfrm>
          <a:prstGeom prst="ellipse">
            <a:avLst/>
          </a:prstGeom>
          <a:solidFill>
            <a:srgbClr val="000000"/>
          </a:solidFill>
          <a:ln w="9525">
            <a:noFill/>
            <a:round/>
            <a:headEnd/>
            <a:tailEnd/>
          </a:ln>
        </p:spPr>
        <p:txBody>
          <a:bodyPr/>
          <a:lstStyle/>
          <a:p>
            <a:endParaRPr lang="en-US"/>
          </a:p>
        </p:txBody>
      </p:sp>
      <p:sp>
        <p:nvSpPr>
          <p:cNvPr id="62509" name="Oval 127"/>
          <p:cNvSpPr>
            <a:spLocks noChangeArrowheads="1"/>
          </p:cNvSpPr>
          <p:nvPr/>
        </p:nvSpPr>
        <p:spPr bwMode="auto">
          <a:xfrm>
            <a:off x="6154738" y="2684463"/>
            <a:ext cx="130175" cy="111125"/>
          </a:xfrm>
          <a:prstGeom prst="ellipse">
            <a:avLst/>
          </a:prstGeom>
          <a:solidFill>
            <a:srgbClr val="000000"/>
          </a:solidFill>
          <a:ln w="9525">
            <a:noFill/>
            <a:round/>
            <a:headEnd/>
            <a:tailEnd/>
          </a:ln>
        </p:spPr>
        <p:txBody>
          <a:bodyPr/>
          <a:lstStyle/>
          <a:p>
            <a:endParaRPr lang="en-US"/>
          </a:p>
        </p:txBody>
      </p:sp>
      <p:sp>
        <p:nvSpPr>
          <p:cNvPr id="62510" name="Line 128"/>
          <p:cNvSpPr>
            <a:spLocks noChangeShapeType="1"/>
          </p:cNvSpPr>
          <p:nvPr/>
        </p:nvSpPr>
        <p:spPr bwMode="auto">
          <a:xfrm flipV="1">
            <a:off x="3938588" y="4727575"/>
            <a:ext cx="130175" cy="66675"/>
          </a:xfrm>
          <a:prstGeom prst="line">
            <a:avLst/>
          </a:prstGeom>
          <a:noFill/>
          <a:ln w="11113">
            <a:solidFill>
              <a:srgbClr val="000000"/>
            </a:solidFill>
            <a:miter lim="800000"/>
            <a:headEnd/>
            <a:tailEnd/>
          </a:ln>
        </p:spPr>
        <p:txBody>
          <a:bodyPr/>
          <a:lstStyle/>
          <a:p>
            <a:endParaRPr lang="en-US"/>
          </a:p>
        </p:txBody>
      </p:sp>
      <p:sp>
        <p:nvSpPr>
          <p:cNvPr id="62511" name="Line 129"/>
          <p:cNvSpPr>
            <a:spLocks noChangeShapeType="1"/>
          </p:cNvSpPr>
          <p:nvPr/>
        </p:nvSpPr>
        <p:spPr bwMode="auto">
          <a:xfrm flipV="1">
            <a:off x="3938588" y="4816475"/>
            <a:ext cx="130175" cy="66675"/>
          </a:xfrm>
          <a:prstGeom prst="line">
            <a:avLst/>
          </a:prstGeom>
          <a:noFill/>
          <a:ln w="11113">
            <a:solidFill>
              <a:srgbClr val="000000"/>
            </a:solidFill>
            <a:miter lim="800000"/>
            <a:headEnd/>
            <a:tailEnd/>
          </a:ln>
        </p:spPr>
        <p:txBody>
          <a:bodyPr/>
          <a:lstStyle/>
          <a:p>
            <a:endParaRPr lang="en-US"/>
          </a:p>
        </p:txBody>
      </p:sp>
      <p:sp>
        <p:nvSpPr>
          <p:cNvPr id="62512" name="Line 130"/>
          <p:cNvSpPr>
            <a:spLocks noChangeShapeType="1"/>
          </p:cNvSpPr>
          <p:nvPr/>
        </p:nvSpPr>
        <p:spPr bwMode="auto">
          <a:xfrm flipH="1">
            <a:off x="4152900" y="4926013"/>
            <a:ext cx="79375" cy="117475"/>
          </a:xfrm>
          <a:prstGeom prst="line">
            <a:avLst/>
          </a:prstGeom>
          <a:noFill/>
          <a:ln w="11113">
            <a:solidFill>
              <a:srgbClr val="000000"/>
            </a:solidFill>
            <a:miter lim="800000"/>
            <a:headEnd/>
            <a:tailEnd/>
          </a:ln>
        </p:spPr>
        <p:txBody>
          <a:bodyPr/>
          <a:lstStyle/>
          <a:p>
            <a:endParaRPr lang="en-US"/>
          </a:p>
        </p:txBody>
      </p:sp>
      <p:sp>
        <p:nvSpPr>
          <p:cNvPr id="62513" name="Line 131"/>
          <p:cNvSpPr>
            <a:spLocks noChangeShapeType="1"/>
          </p:cNvSpPr>
          <p:nvPr/>
        </p:nvSpPr>
        <p:spPr bwMode="auto">
          <a:xfrm flipH="1">
            <a:off x="4259263" y="4926013"/>
            <a:ext cx="77787" cy="117475"/>
          </a:xfrm>
          <a:prstGeom prst="line">
            <a:avLst/>
          </a:prstGeom>
          <a:noFill/>
          <a:ln w="11113">
            <a:solidFill>
              <a:srgbClr val="000000"/>
            </a:solidFill>
            <a:miter lim="800000"/>
            <a:headEnd/>
            <a:tailEnd/>
          </a:ln>
        </p:spPr>
        <p:txBody>
          <a:bodyPr/>
          <a:lstStyle/>
          <a:p>
            <a:endParaRPr lang="en-US"/>
          </a:p>
        </p:txBody>
      </p:sp>
      <p:sp>
        <p:nvSpPr>
          <p:cNvPr id="567428" name="Line 132"/>
          <p:cNvSpPr>
            <a:spLocks noChangeShapeType="1"/>
          </p:cNvSpPr>
          <p:nvPr/>
        </p:nvSpPr>
        <p:spPr bwMode="auto">
          <a:xfrm>
            <a:off x="6396038" y="2535238"/>
            <a:ext cx="452437" cy="0"/>
          </a:xfrm>
          <a:prstGeom prst="line">
            <a:avLst/>
          </a:prstGeom>
          <a:noFill/>
          <a:ln w="41275">
            <a:solidFill>
              <a:srgbClr val="000000"/>
            </a:solidFill>
            <a:miter lim="800000"/>
            <a:headEnd/>
            <a:tailEnd/>
          </a:ln>
        </p:spPr>
        <p:txBody>
          <a:bodyPr/>
          <a:lstStyle/>
          <a:p>
            <a:endParaRPr lang="en-US"/>
          </a:p>
        </p:txBody>
      </p:sp>
      <p:sp>
        <p:nvSpPr>
          <p:cNvPr id="567429" name="Freeform 133"/>
          <p:cNvSpPr>
            <a:spLocks/>
          </p:cNvSpPr>
          <p:nvPr/>
        </p:nvSpPr>
        <p:spPr bwMode="auto">
          <a:xfrm>
            <a:off x="6797675" y="2474913"/>
            <a:ext cx="228600" cy="120650"/>
          </a:xfrm>
          <a:custGeom>
            <a:avLst/>
            <a:gdLst>
              <a:gd name="T0" fmla="*/ 2147483647 w 35"/>
              <a:gd name="T1" fmla="*/ 2147483647 h 22"/>
              <a:gd name="T2" fmla="*/ 0 w 35"/>
              <a:gd name="T3" fmla="*/ 2147483647 h 22"/>
              <a:gd name="T4" fmla="*/ 2147483647 w 35"/>
              <a:gd name="T5" fmla="*/ 0 h 22"/>
              <a:gd name="T6" fmla="*/ 2147483647 w 35"/>
              <a:gd name="T7" fmla="*/ 2147483647 h 22"/>
              <a:gd name="T8" fmla="*/ 2147483647 w 35"/>
              <a:gd name="T9" fmla="*/ 2147483647 h 22"/>
              <a:gd name="T10" fmla="*/ 2147483647 w 35"/>
              <a:gd name="T11" fmla="*/ 2147483647 h 22"/>
              <a:gd name="T12" fmla="*/ 2147483647 w 35"/>
              <a:gd name="T13" fmla="*/ 2147483647 h 22"/>
              <a:gd name="T14" fmla="*/ 0 w 35"/>
              <a:gd name="T15" fmla="*/ 2147483647 h 22"/>
              <a:gd name="T16" fmla="*/ 2147483647 w 35"/>
              <a:gd name="T17" fmla="*/ 2147483647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5"/>
              <a:gd name="T28" fmla="*/ 0 h 22"/>
              <a:gd name="T29" fmla="*/ 35 w 35"/>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5" h="22">
                <a:moveTo>
                  <a:pt x="7" y="11"/>
                </a:moveTo>
                <a:cubicBezTo>
                  <a:pt x="0" y="1"/>
                  <a:pt x="0" y="1"/>
                  <a:pt x="0" y="1"/>
                </a:cubicBezTo>
                <a:cubicBezTo>
                  <a:pt x="1" y="0"/>
                  <a:pt x="1" y="0"/>
                  <a:pt x="1" y="0"/>
                </a:cubicBezTo>
                <a:cubicBezTo>
                  <a:pt x="18" y="7"/>
                  <a:pt x="18" y="7"/>
                  <a:pt x="18" y="7"/>
                </a:cubicBezTo>
                <a:cubicBezTo>
                  <a:pt x="24" y="8"/>
                  <a:pt x="29" y="10"/>
                  <a:pt x="35" y="11"/>
                </a:cubicBezTo>
                <a:cubicBezTo>
                  <a:pt x="29" y="12"/>
                  <a:pt x="24" y="14"/>
                  <a:pt x="18" y="15"/>
                </a:cubicBezTo>
                <a:cubicBezTo>
                  <a:pt x="1" y="22"/>
                  <a:pt x="1" y="22"/>
                  <a:pt x="1" y="22"/>
                </a:cubicBezTo>
                <a:cubicBezTo>
                  <a:pt x="0" y="22"/>
                  <a:pt x="0" y="22"/>
                  <a:pt x="0" y="22"/>
                </a:cubicBezTo>
                <a:lnTo>
                  <a:pt x="7" y="11"/>
                </a:lnTo>
                <a:close/>
              </a:path>
            </a:pathLst>
          </a:custGeom>
          <a:solidFill>
            <a:srgbClr val="000000"/>
          </a:solidFill>
          <a:ln w="9525">
            <a:noFill/>
            <a:round/>
            <a:headEnd/>
            <a:tailEnd/>
          </a:ln>
        </p:spPr>
        <p:txBody>
          <a:bodyPr/>
          <a:lstStyle/>
          <a:p>
            <a:endParaRPr lang="en-US"/>
          </a:p>
        </p:txBody>
      </p:sp>
      <p:sp>
        <p:nvSpPr>
          <p:cNvPr id="62516" name="Rectangle 134"/>
          <p:cNvSpPr>
            <a:spLocks noChangeArrowheads="1"/>
          </p:cNvSpPr>
          <p:nvPr/>
        </p:nvSpPr>
        <p:spPr bwMode="auto">
          <a:xfrm>
            <a:off x="6318250" y="143351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sp>
        <p:nvSpPr>
          <p:cNvPr id="62517" name="Rectangle 135"/>
          <p:cNvSpPr>
            <a:spLocks noChangeArrowheads="1"/>
          </p:cNvSpPr>
          <p:nvPr/>
        </p:nvSpPr>
        <p:spPr bwMode="auto">
          <a:xfrm>
            <a:off x="6446838" y="1538288"/>
            <a:ext cx="100012"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grpSp>
        <p:nvGrpSpPr>
          <p:cNvPr id="2" name="Group 145"/>
          <p:cNvGrpSpPr>
            <a:grpSpLocks/>
          </p:cNvGrpSpPr>
          <p:nvPr/>
        </p:nvGrpSpPr>
        <p:grpSpPr bwMode="auto">
          <a:xfrm>
            <a:off x="5478463" y="1433513"/>
            <a:ext cx="1992312" cy="3238500"/>
            <a:chOff x="3451" y="903"/>
            <a:chExt cx="1255" cy="2040"/>
          </a:xfrm>
        </p:grpSpPr>
        <p:sp>
          <p:nvSpPr>
            <p:cNvPr id="62523" name="Rectangle 136"/>
            <p:cNvSpPr>
              <a:spLocks noChangeArrowheads="1"/>
            </p:cNvSpPr>
            <p:nvPr/>
          </p:nvSpPr>
          <p:spPr bwMode="auto">
            <a:xfrm>
              <a:off x="4504" y="903"/>
              <a:ext cx="76" cy="136"/>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grpSp>
          <p:nvGrpSpPr>
            <p:cNvPr id="62524" name="Group 144"/>
            <p:cNvGrpSpPr>
              <a:grpSpLocks/>
            </p:cNvGrpSpPr>
            <p:nvPr/>
          </p:nvGrpSpPr>
          <p:grpSpPr bwMode="auto">
            <a:xfrm>
              <a:off x="3451" y="969"/>
              <a:ext cx="1255" cy="1974"/>
              <a:chOff x="3451" y="969"/>
              <a:chExt cx="1255" cy="1974"/>
            </a:xfrm>
          </p:grpSpPr>
          <p:sp>
            <p:nvSpPr>
              <p:cNvPr id="62525" name="Freeform 113"/>
              <p:cNvSpPr>
                <a:spLocks/>
              </p:cNvSpPr>
              <p:nvPr/>
            </p:nvSpPr>
            <p:spPr bwMode="auto">
              <a:xfrm>
                <a:off x="3496" y="1118"/>
                <a:ext cx="1210" cy="1787"/>
              </a:xfrm>
              <a:custGeom>
                <a:avLst/>
                <a:gdLst>
                  <a:gd name="T0" fmla="*/ 309739 w 293"/>
                  <a:gd name="T1" fmla="*/ 0 h 512"/>
                  <a:gd name="T2" fmla="*/ 0 w 293"/>
                  <a:gd name="T3" fmla="*/ 265185 h 512"/>
                  <a:gd name="T4" fmla="*/ 0 60000 65536"/>
                  <a:gd name="T5" fmla="*/ 0 60000 65536"/>
                  <a:gd name="T6" fmla="*/ 0 w 293"/>
                  <a:gd name="T7" fmla="*/ 0 h 512"/>
                  <a:gd name="T8" fmla="*/ 293 w 293"/>
                  <a:gd name="T9" fmla="*/ 512 h 512"/>
                </a:gdLst>
                <a:ahLst/>
                <a:cxnLst>
                  <a:cxn ang="T4">
                    <a:pos x="T0" y="T1"/>
                  </a:cxn>
                  <a:cxn ang="T5">
                    <a:pos x="T2" y="T3"/>
                  </a:cxn>
                </a:cxnLst>
                <a:rect l="T6" t="T7" r="T8" b="T9"/>
                <a:pathLst>
                  <a:path w="293" h="512">
                    <a:moveTo>
                      <a:pt x="258" y="0"/>
                    </a:moveTo>
                    <a:cubicBezTo>
                      <a:pt x="258" y="0"/>
                      <a:pt x="293" y="220"/>
                      <a:pt x="0" y="512"/>
                    </a:cubicBezTo>
                  </a:path>
                </a:pathLst>
              </a:custGeom>
              <a:noFill/>
              <a:ln w="41275" cap="flat">
                <a:solidFill>
                  <a:srgbClr val="EE313C"/>
                </a:solidFill>
                <a:prstDash val="solid"/>
                <a:miter lim="800000"/>
                <a:headEnd/>
                <a:tailEnd/>
              </a:ln>
            </p:spPr>
            <p:txBody>
              <a:bodyPr/>
              <a:lstStyle/>
              <a:p>
                <a:endParaRPr lang="en-US"/>
              </a:p>
            </p:txBody>
          </p:sp>
          <p:sp>
            <p:nvSpPr>
              <p:cNvPr id="62526" name="Oval 114"/>
              <p:cNvSpPr>
                <a:spLocks noChangeArrowheads="1"/>
              </p:cNvSpPr>
              <p:nvPr/>
            </p:nvSpPr>
            <p:spPr bwMode="auto">
              <a:xfrm>
                <a:off x="4530" y="1091"/>
                <a:ext cx="82" cy="70"/>
              </a:xfrm>
              <a:prstGeom prst="ellipse">
                <a:avLst/>
              </a:prstGeom>
              <a:solidFill>
                <a:srgbClr val="000000"/>
              </a:solidFill>
              <a:ln w="9525">
                <a:noFill/>
                <a:round/>
                <a:headEnd/>
                <a:tailEnd/>
              </a:ln>
            </p:spPr>
            <p:txBody>
              <a:bodyPr/>
              <a:lstStyle/>
              <a:p>
                <a:endParaRPr lang="en-US"/>
              </a:p>
            </p:txBody>
          </p:sp>
          <p:sp>
            <p:nvSpPr>
              <p:cNvPr id="62527" name="Oval 115"/>
              <p:cNvSpPr>
                <a:spLocks noChangeArrowheads="1"/>
              </p:cNvSpPr>
              <p:nvPr/>
            </p:nvSpPr>
            <p:spPr bwMode="auto">
              <a:xfrm>
                <a:off x="4496" y="1402"/>
                <a:ext cx="83" cy="69"/>
              </a:xfrm>
              <a:prstGeom prst="ellipse">
                <a:avLst/>
              </a:prstGeom>
              <a:solidFill>
                <a:srgbClr val="000000"/>
              </a:solidFill>
              <a:ln w="9525">
                <a:noFill/>
                <a:round/>
                <a:headEnd/>
                <a:tailEnd/>
              </a:ln>
            </p:spPr>
            <p:txBody>
              <a:bodyPr/>
              <a:lstStyle/>
              <a:p>
                <a:endParaRPr lang="en-US"/>
              </a:p>
            </p:txBody>
          </p:sp>
          <p:sp>
            <p:nvSpPr>
              <p:cNvPr id="62528" name="Oval 116"/>
              <p:cNvSpPr>
                <a:spLocks noChangeArrowheads="1"/>
              </p:cNvSpPr>
              <p:nvPr/>
            </p:nvSpPr>
            <p:spPr bwMode="auto">
              <a:xfrm>
                <a:off x="4401" y="1698"/>
                <a:ext cx="82" cy="70"/>
              </a:xfrm>
              <a:prstGeom prst="ellipse">
                <a:avLst/>
              </a:prstGeom>
              <a:solidFill>
                <a:srgbClr val="000000"/>
              </a:solidFill>
              <a:ln w="9525">
                <a:noFill/>
                <a:round/>
                <a:headEnd/>
                <a:tailEnd/>
              </a:ln>
            </p:spPr>
            <p:txBody>
              <a:bodyPr/>
              <a:lstStyle/>
              <a:p>
                <a:endParaRPr lang="en-US"/>
              </a:p>
            </p:txBody>
          </p:sp>
          <p:sp>
            <p:nvSpPr>
              <p:cNvPr id="62529" name="Oval 117"/>
              <p:cNvSpPr>
                <a:spLocks noChangeArrowheads="1"/>
              </p:cNvSpPr>
              <p:nvPr/>
            </p:nvSpPr>
            <p:spPr bwMode="auto">
              <a:xfrm>
                <a:off x="4248" y="1991"/>
                <a:ext cx="83" cy="70"/>
              </a:xfrm>
              <a:prstGeom prst="ellipse">
                <a:avLst/>
              </a:prstGeom>
              <a:solidFill>
                <a:srgbClr val="000000"/>
              </a:solidFill>
              <a:ln w="9525">
                <a:noFill/>
                <a:round/>
                <a:headEnd/>
                <a:tailEnd/>
              </a:ln>
            </p:spPr>
            <p:txBody>
              <a:bodyPr/>
              <a:lstStyle/>
              <a:p>
                <a:endParaRPr lang="en-US"/>
              </a:p>
            </p:txBody>
          </p:sp>
          <p:sp>
            <p:nvSpPr>
              <p:cNvPr id="62530" name="Oval 118"/>
              <p:cNvSpPr>
                <a:spLocks noChangeArrowheads="1"/>
              </p:cNvSpPr>
              <p:nvPr/>
            </p:nvSpPr>
            <p:spPr bwMode="auto">
              <a:xfrm>
                <a:off x="4050" y="2284"/>
                <a:ext cx="82" cy="70"/>
              </a:xfrm>
              <a:prstGeom prst="ellipse">
                <a:avLst/>
              </a:prstGeom>
              <a:solidFill>
                <a:srgbClr val="000000"/>
              </a:solidFill>
              <a:ln w="9525">
                <a:noFill/>
                <a:round/>
                <a:headEnd/>
                <a:tailEnd/>
              </a:ln>
            </p:spPr>
            <p:txBody>
              <a:bodyPr/>
              <a:lstStyle/>
              <a:p>
                <a:endParaRPr lang="en-US"/>
              </a:p>
            </p:txBody>
          </p:sp>
          <p:sp>
            <p:nvSpPr>
              <p:cNvPr id="62531" name="Oval 119"/>
              <p:cNvSpPr>
                <a:spLocks noChangeArrowheads="1"/>
              </p:cNvSpPr>
              <p:nvPr/>
            </p:nvSpPr>
            <p:spPr bwMode="auto">
              <a:xfrm>
                <a:off x="3781" y="2574"/>
                <a:ext cx="83" cy="70"/>
              </a:xfrm>
              <a:prstGeom prst="ellipse">
                <a:avLst/>
              </a:prstGeom>
              <a:solidFill>
                <a:srgbClr val="000000"/>
              </a:solidFill>
              <a:ln w="9525">
                <a:noFill/>
                <a:round/>
                <a:headEnd/>
                <a:tailEnd/>
              </a:ln>
            </p:spPr>
            <p:txBody>
              <a:bodyPr/>
              <a:lstStyle/>
              <a:p>
                <a:endParaRPr lang="en-US"/>
              </a:p>
            </p:txBody>
          </p:sp>
          <p:sp>
            <p:nvSpPr>
              <p:cNvPr id="62532" name="Oval 120"/>
              <p:cNvSpPr>
                <a:spLocks noChangeArrowheads="1"/>
              </p:cNvSpPr>
              <p:nvPr/>
            </p:nvSpPr>
            <p:spPr bwMode="auto">
              <a:xfrm>
                <a:off x="3451" y="2873"/>
                <a:ext cx="82" cy="70"/>
              </a:xfrm>
              <a:prstGeom prst="ellipse">
                <a:avLst/>
              </a:prstGeom>
              <a:solidFill>
                <a:srgbClr val="000000"/>
              </a:solidFill>
              <a:ln w="9525">
                <a:noFill/>
                <a:round/>
                <a:headEnd/>
                <a:tailEnd/>
              </a:ln>
            </p:spPr>
            <p:txBody>
              <a:bodyPr/>
              <a:lstStyle/>
              <a:p>
                <a:endParaRPr lang="en-US"/>
              </a:p>
            </p:txBody>
          </p:sp>
          <p:sp>
            <p:nvSpPr>
              <p:cNvPr id="62533" name="Rectangle 137"/>
              <p:cNvSpPr>
                <a:spLocks noChangeArrowheads="1"/>
              </p:cNvSpPr>
              <p:nvPr/>
            </p:nvSpPr>
            <p:spPr bwMode="auto">
              <a:xfrm>
                <a:off x="4586" y="969"/>
                <a:ext cx="63" cy="136"/>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grpSp>
      </p:grpSp>
      <p:sp>
        <p:nvSpPr>
          <p:cNvPr id="62519" name="TextBox 29"/>
          <p:cNvSpPr txBox="1">
            <a:spLocks noChangeArrowheads="1"/>
          </p:cNvSpPr>
          <p:nvPr/>
        </p:nvSpPr>
        <p:spPr bwMode="auto">
          <a:xfrm>
            <a:off x="2438400" y="838200"/>
            <a:ext cx="1474788" cy="523875"/>
          </a:xfrm>
          <a:prstGeom prst="rect">
            <a:avLst/>
          </a:prstGeom>
          <a:noFill/>
          <a:ln w="9525">
            <a:noFill/>
            <a:miter lim="800000"/>
            <a:headEnd/>
            <a:tailEnd/>
          </a:ln>
        </p:spPr>
        <p:txBody>
          <a:bodyPr>
            <a:spAutoFit/>
          </a:bodyPr>
          <a:lstStyle/>
          <a:p>
            <a:pPr algn="ctr"/>
            <a:r>
              <a:rPr lang="en-US" sz="1400" b="1"/>
              <a:t>Price of cotton (per pound)</a:t>
            </a:r>
          </a:p>
        </p:txBody>
      </p:sp>
      <p:sp>
        <p:nvSpPr>
          <p:cNvPr id="62520" name="TextBox 30"/>
          <p:cNvSpPr txBox="1">
            <a:spLocks noChangeArrowheads="1"/>
          </p:cNvSpPr>
          <p:nvPr/>
        </p:nvSpPr>
        <p:spPr bwMode="auto">
          <a:xfrm>
            <a:off x="6011863" y="5229225"/>
            <a:ext cx="2555875" cy="523875"/>
          </a:xfrm>
          <a:prstGeom prst="rect">
            <a:avLst/>
          </a:prstGeom>
          <a:noFill/>
          <a:ln w="9525">
            <a:noFill/>
            <a:miter lim="800000"/>
            <a:headEnd/>
            <a:tailEnd/>
          </a:ln>
        </p:spPr>
        <p:txBody>
          <a:bodyPr>
            <a:spAutoFit/>
          </a:bodyPr>
          <a:lstStyle/>
          <a:p>
            <a:pPr algn="ctr"/>
            <a:r>
              <a:rPr lang="en-US" sz="1400" b="1"/>
              <a:t>Quantity of cotton (billions of pounds)</a:t>
            </a:r>
          </a:p>
        </p:txBody>
      </p:sp>
      <p:sp>
        <p:nvSpPr>
          <p:cNvPr id="567436" name="TextBox 56"/>
          <p:cNvSpPr txBox="1">
            <a:spLocks noChangeArrowheads="1"/>
          </p:cNvSpPr>
          <p:nvPr/>
        </p:nvSpPr>
        <p:spPr bwMode="auto">
          <a:xfrm>
            <a:off x="6781800" y="3886200"/>
            <a:ext cx="1474788" cy="738188"/>
          </a:xfrm>
          <a:prstGeom prst="rect">
            <a:avLst/>
          </a:prstGeom>
          <a:noFill/>
          <a:ln w="9525">
            <a:noFill/>
            <a:miter lim="800000"/>
            <a:headEnd/>
            <a:tailEnd/>
          </a:ln>
        </p:spPr>
        <p:txBody>
          <a:bodyPr>
            <a:spAutoFit/>
          </a:bodyPr>
          <a:lstStyle/>
          <a:p>
            <a:pPr algn="ctr"/>
            <a:r>
              <a:rPr lang="en-US" sz="1400" i="1"/>
              <a:t>Supply curve</a:t>
            </a:r>
          </a:p>
          <a:p>
            <a:pPr algn="ctr"/>
            <a:r>
              <a:rPr lang="en-US" sz="1400" i="1"/>
              <a:t>after </a:t>
            </a:r>
          </a:p>
          <a:p>
            <a:pPr algn="ctr"/>
            <a:r>
              <a:rPr lang="en-US" sz="1400" i="1"/>
              <a:t>new technology</a:t>
            </a:r>
          </a:p>
        </p:txBody>
      </p:sp>
      <p:sp>
        <p:nvSpPr>
          <p:cNvPr id="567437" name="TextBox 56"/>
          <p:cNvSpPr txBox="1">
            <a:spLocks noChangeArrowheads="1"/>
          </p:cNvSpPr>
          <p:nvPr/>
        </p:nvSpPr>
        <p:spPr bwMode="auto">
          <a:xfrm>
            <a:off x="4500563" y="1844675"/>
            <a:ext cx="1474787" cy="738188"/>
          </a:xfrm>
          <a:prstGeom prst="rect">
            <a:avLst/>
          </a:prstGeom>
          <a:noFill/>
          <a:ln w="9525">
            <a:noFill/>
            <a:miter lim="800000"/>
            <a:headEnd/>
            <a:tailEnd/>
          </a:ln>
        </p:spPr>
        <p:txBody>
          <a:bodyPr>
            <a:spAutoFit/>
          </a:bodyPr>
          <a:lstStyle/>
          <a:p>
            <a:pPr algn="ctr"/>
            <a:r>
              <a:rPr lang="en-US" sz="1400" i="1"/>
              <a:t>Supply curve </a:t>
            </a:r>
            <a:br>
              <a:rPr lang="en-US" sz="1400" i="1"/>
            </a:br>
            <a:r>
              <a:rPr lang="en-US" sz="1400" i="1"/>
              <a:t>before</a:t>
            </a:r>
            <a:br>
              <a:rPr lang="en-US" sz="1400" i="1"/>
            </a:br>
            <a:r>
              <a:rPr lang="en-US" sz="1400" i="1"/>
              <a:t>new technology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567365"/>
                                        </p:tgtEl>
                                        <p:attrNameLst>
                                          <p:attrName>style.visibility</p:attrName>
                                        </p:attrNameLst>
                                      </p:cBhvr>
                                      <p:to>
                                        <p:strVal val="visible"/>
                                      </p:to>
                                    </p:set>
                                    <p:animEffect transition="in" filter="wipe(right)">
                                      <p:cBhvr>
                                        <p:cTn id="7" dur="500"/>
                                        <p:tgtEl>
                                          <p:spTgt spid="567365"/>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67387"/>
                                        </p:tgtEl>
                                        <p:attrNameLst>
                                          <p:attrName>style.visibility</p:attrName>
                                        </p:attrNameLst>
                                      </p:cBhvr>
                                      <p:to>
                                        <p:strVal val="visible"/>
                                      </p:to>
                                    </p:set>
                                  </p:childTnLst>
                                </p:cTn>
                              </p:par>
                              <p:par>
                                <p:cTn id="10" presetID="22" presetClass="entr" presetSubtype="2" fill="hold" grpId="0" nodeType="withEffect">
                                  <p:stCondLst>
                                    <p:cond delay="0"/>
                                  </p:stCondLst>
                                  <p:childTnLst>
                                    <p:set>
                                      <p:cBhvr>
                                        <p:cTn id="11" dur="1" fill="hold">
                                          <p:stCondLst>
                                            <p:cond delay="0"/>
                                          </p:stCondLst>
                                        </p:cTn>
                                        <p:tgtEl>
                                          <p:spTgt spid="567437"/>
                                        </p:tgtEl>
                                        <p:attrNameLst>
                                          <p:attrName>style.visibility</p:attrName>
                                        </p:attrNameLst>
                                      </p:cBhvr>
                                      <p:to>
                                        <p:strVal val="visible"/>
                                      </p:to>
                                    </p:set>
                                    <p:animEffect transition="in" filter="wipe(right)">
                                      <p:cBhvr>
                                        <p:cTn id="12" dur="500"/>
                                        <p:tgtEl>
                                          <p:spTgt spid="56743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67306"/>
                                        </p:tgtEl>
                                        <p:attrNameLst>
                                          <p:attrName>style.visibility</p:attrName>
                                        </p:attrNameLst>
                                      </p:cBhvr>
                                      <p:to>
                                        <p:strVal val="visible"/>
                                      </p:to>
                                    </p:set>
                                    <p:animEffect transition="in" filter="dissolve">
                                      <p:cBhvr>
                                        <p:cTn id="17" dur="500"/>
                                        <p:tgtEl>
                                          <p:spTgt spid="56730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67367"/>
                                        </p:tgtEl>
                                        <p:attrNameLst>
                                          <p:attrName>style.visibility</p:attrName>
                                        </p:attrNameLst>
                                      </p:cBhvr>
                                      <p:to>
                                        <p:strVal val="visible"/>
                                      </p:to>
                                    </p:set>
                                  </p:childTnLst>
                                </p:cTn>
                              </p:par>
                              <p:par>
                                <p:cTn id="22" presetID="22" presetClass="entr" presetSubtype="8" fill="hold" grpId="0" nodeType="withEffect">
                                  <p:stCondLst>
                                    <p:cond delay="0"/>
                                  </p:stCondLst>
                                  <p:childTnLst>
                                    <p:set>
                                      <p:cBhvr>
                                        <p:cTn id="23" dur="1" fill="hold">
                                          <p:stCondLst>
                                            <p:cond delay="0"/>
                                          </p:stCondLst>
                                        </p:cTn>
                                        <p:tgtEl>
                                          <p:spTgt spid="567436"/>
                                        </p:tgtEl>
                                        <p:attrNameLst>
                                          <p:attrName>style.visibility</p:attrName>
                                        </p:attrNameLst>
                                      </p:cBhvr>
                                      <p:to>
                                        <p:strVal val="visible"/>
                                      </p:to>
                                    </p:set>
                                    <p:animEffect transition="in" filter="wipe(left)">
                                      <p:cBhvr>
                                        <p:cTn id="24" dur="500"/>
                                        <p:tgtEl>
                                          <p:spTgt spid="567436"/>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67366"/>
                                        </p:tgtEl>
                                        <p:attrNameLst>
                                          <p:attrName>style.visibility</p:attrName>
                                        </p:attrNameLst>
                                      </p:cBhvr>
                                      <p:to>
                                        <p:strVal val="visible"/>
                                      </p:to>
                                    </p:set>
                                    <p:animEffect transition="in" filter="wipe(left)">
                                      <p:cBhvr>
                                        <p:cTn id="27" dur="500"/>
                                        <p:tgtEl>
                                          <p:spTgt spid="567366"/>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567429"/>
                                        </p:tgtEl>
                                        <p:attrNameLst>
                                          <p:attrName>style.visibility</p:attrName>
                                        </p:attrNameLst>
                                      </p:cBhvr>
                                      <p:to>
                                        <p:strVal val="visible"/>
                                      </p:to>
                                    </p:set>
                                    <p:animEffect transition="in" filter="wipe(left)">
                                      <p:cBhvr>
                                        <p:cTn id="30" dur="500"/>
                                        <p:tgtEl>
                                          <p:spTgt spid="56742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567428"/>
                                        </p:tgtEl>
                                        <p:attrNameLst>
                                          <p:attrName>style.visibility</p:attrName>
                                        </p:attrNameLst>
                                      </p:cBhvr>
                                      <p:to>
                                        <p:strVal val="visible"/>
                                      </p:to>
                                    </p:set>
                                    <p:animEffect transition="in" filter="wipe(left)">
                                      <p:cBhvr>
                                        <p:cTn id="33" dur="500"/>
                                        <p:tgtEl>
                                          <p:spTgt spid="567428"/>
                                        </p:tgtEl>
                                      </p:cBhvr>
                                    </p:animEffect>
                                  </p:childTnLst>
                                </p:cTn>
                              </p:par>
                              <p:par>
                                <p:cTn id="34" presetID="22" presetClass="entr" presetSubtype="8" fill="hold" nodeType="with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67299">
                                            <p:bg/>
                                          </p:spTgt>
                                        </p:tgtEl>
                                        <p:attrNameLst>
                                          <p:attrName>style.visibility</p:attrName>
                                        </p:attrNameLst>
                                      </p:cBhvr>
                                      <p:to>
                                        <p:strVal val="visible"/>
                                      </p:to>
                                    </p:set>
                                    <p:animEffect transition="in" filter="wipe(left)">
                                      <p:cBhvr>
                                        <p:cTn id="41" dur="500"/>
                                        <p:tgtEl>
                                          <p:spTgt spid="567299">
                                            <p:bg/>
                                          </p:spTgt>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567299">
                                            <p:txEl>
                                              <p:pRg st="0" end="0"/>
                                            </p:txEl>
                                          </p:spTgt>
                                        </p:tgtEl>
                                        <p:attrNameLst>
                                          <p:attrName>style.visibility</p:attrName>
                                        </p:attrNameLst>
                                      </p:cBhvr>
                                      <p:to>
                                        <p:strVal val="visible"/>
                                      </p:to>
                                    </p:set>
                                    <p:animEffect transition="in" filter="wipe(left)">
                                      <p:cBhvr>
                                        <p:cTn id="44" dur="500"/>
                                        <p:tgtEl>
                                          <p:spTgt spid="5672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299" grpId="0" uiExpand="1" build="p" animBg="1"/>
      <p:bldP spid="567306" grpId="0" animBg="1"/>
      <p:bldP spid="567365" grpId="0" animBg="1"/>
      <p:bldP spid="567366" grpId="0" animBg="1"/>
      <p:bldP spid="567367" grpId="0" animBg="1"/>
      <p:bldP spid="567387" grpId="0" animBg="1"/>
      <p:bldP spid="567428" grpId="0" animBg="1"/>
      <p:bldP spid="567429" grpId="0" animBg="1"/>
      <p:bldP spid="567436" grpId="0"/>
      <p:bldP spid="567437"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42" name="Rectangle 2"/>
          <p:cNvSpPr>
            <a:spLocks noGrp="1" noRot="1" noChangeArrowheads="1"/>
          </p:cNvSpPr>
          <p:nvPr>
            <p:ph type="title"/>
          </p:nvPr>
        </p:nvSpPr>
        <p:spPr>
          <a:xfrm>
            <a:off x="914400" y="60325"/>
            <a:ext cx="8050213" cy="555625"/>
          </a:xfrm>
        </p:spPr>
        <p:txBody>
          <a:bodyPr/>
          <a:lstStyle/>
          <a:p>
            <a:pPr>
              <a:defRPr/>
            </a:pPr>
            <a:r>
              <a:rPr lang="en-US" dirty="0"/>
              <a:t>Movement Along the Supply Curve</a:t>
            </a:r>
          </a:p>
        </p:txBody>
      </p:sp>
      <p:sp>
        <p:nvSpPr>
          <p:cNvPr id="573443" name="Rectangle 3"/>
          <p:cNvSpPr>
            <a:spLocks noGrp="1" noChangeArrowheads="1"/>
          </p:cNvSpPr>
          <p:nvPr>
            <p:ph type="body" idx="1"/>
          </p:nvPr>
        </p:nvSpPr>
        <p:spPr>
          <a:xfrm>
            <a:off x="914400" y="5715000"/>
            <a:ext cx="7978775" cy="762000"/>
          </a:xfrm>
          <a:solidFill>
            <a:schemeClr val="accent5">
              <a:lumMod val="20000"/>
              <a:lumOff val="80000"/>
            </a:schemeClr>
          </a:solidFill>
        </p:spPr>
        <p:txBody>
          <a:bodyPr/>
          <a:lstStyle/>
          <a:p>
            <a:pPr marL="0" indent="4763" algn="ctr">
              <a:buFont typeface="Wingdings" pitchFamily="2" charset="2"/>
              <a:buNone/>
              <a:defRPr/>
            </a:pPr>
            <a:r>
              <a:rPr lang="en-US" sz="2100" smtClean="0"/>
              <a:t>A movement along the supply curve is a change in the quantity supplied of a good that is the result of a change in that good’s price. </a:t>
            </a:r>
          </a:p>
        </p:txBody>
      </p:sp>
      <p:cxnSp>
        <p:nvCxnSpPr>
          <p:cNvPr id="64515" name="Straight Connector 86"/>
          <p:cNvCxnSpPr>
            <a:cxnSpLocks noChangeShapeType="1"/>
          </p:cNvCxnSpPr>
          <p:nvPr/>
        </p:nvCxnSpPr>
        <p:spPr bwMode="auto">
          <a:xfrm>
            <a:off x="4894263" y="2743200"/>
            <a:ext cx="0" cy="1905000"/>
          </a:xfrm>
          <a:prstGeom prst="line">
            <a:avLst/>
          </a:prstGeom>
          <a:noFill/>
          <a:ln w="22225">
            <a:solidFill>
              <a:srgbClr val="9C9C9C"/>
            </a:solidFill>
            <a:prstDash val="sysDot"/>
            <a:round/>
            <a:headEnd/>
            <a:tailEnd type="none" w="med" len="lg"/>
          </a:ln>
        </p:spPr>
      </p:cxnSp>
      <p:cxnSp>
        <p:nvCxnSpPr>
          <p:cNvPr id="64516" name="Straight Connector 86"/>
          <p:cNvCxnSpPr>
            <a:cxnSpLocks noChangeShapeType="1"/>
          </p:cNvCxnSpPr>
          <p:nvPr/>
        </p:nvCxnSpPr>
        <p:spPr bwMode="auto">
          <a:xfrm>
            <a:off x="2543175" y="2743200"/>
            <a:ext cx="2351088" cy="1588"/>
          </a:xfrm>
          <a:prstGeom prst="line">
            <a:avLst/>
          </a:prstGeom>
          <a:noFill/>
          <a:ln w="22225">
            <a:solidFill>
              <a:srgbClr val="9C9C9C"/>
            </a:solidFill>
            <a:prstDash val="sysDot"/>
            <a:round/>
            <a:headEnd/>
            <a:tailEnd type="none" w="med" len="lg"/>
          </a:ln>
        </p:spPr>
      </p:cxnSp>
      <p:cxnSp>
        <p:nvCxnSpPr>
          <p:cNvPr id="64517" name="Straight Connector 86"/>
          <p:cNvCxnSpPr>
            <a:cxnSpLocks noChangeShapeType="1"/>
          </p:cNvCxnSpPr>
          <p:nvPr/>
        </p:nvCxnSpPr>
        <p:spPr bwMode="auto">
          <a:xfrm>
            <a:off x="2543175" y="3646488"/>
            <a:ext cx="2652713" cy="0"/>
          </a:xfrm>
          <a:prstGeom prst="line">
            <a:avLst/>
          </a:prstGeom>
          <a:noFill/>
          <a:ln w="22225">
            <a:solidFill>
              <a:srgbClr val="9C9C9C"/>
            </a:solidFill>
            <a:prstDash val="sysDot"/>
            <a:round/>
            <a:headEnd/>
            <a:tailEnd type="none" w="med" len="lg"/>
          </a:ln>
        </p:spPr>
      </p:cxnSp>
      <p:cxnSp>
        <p:nvCxnSpPr>
          <p:cNvPr id="64518" name="Straight Connector 86"/>
          <p:cNvCxnSpPr>
            <a:cxnSpLocks noChangeShapeType="1"/>
          </p:cNvCxnSpPr>
          <p:nvPr/>
        </p:nvCxnSpPr>
        <p:spPr bwMode="auto">
          <a:xfrm>
            <a:off x="4367213" y="3657600"/>
            <a:ext cx="0" cy="990600"/>
          </a:xfrm>
          <a:prstGeom prst="line">
            <a:avLst/>
          </a:prstGeom>
          <a:noFill/>
          <a:ln w="22225">
            <a:solidFill>
              <a:srgbClr val="9C9C9C"/>
            </a:solidFill>
            <a:prstDash val="sysDot"/>
            <a:round/>
            <a:headEnd/>
            <a:tailEnd type="none" w="med" len="lg"/>
          </a:ln>
        </p:spPr>
      </p:cxnSp>
      <p:cxnSp>
        <p:nvCxnSpPr>
          <p:cNvPr id="64519" name="Straight Connector 86"/>
          <p:cNvCxnSpPr>
            <a:cxnSpLocks noChangeShapeType="1"/>
          </p:cNvCxnSpPr>
          <p:nvPr/>
        </p:nvCxnSpPr>
        <p:spPr bwMode="auto">
          <a:xfrm>
            <a:off x="5205413" y="3657600"/>
            <a:ext cx="0" cy="990600"/>
          </a:xfrm>
          <a:prstGeom prst="line">
            <a:avLst/>
          </a:prstGeom>
          <a:noFill/>
          <a:ln w="22225">
            <a:solidFill>
              <a:srgbClr val="9C9C9C"/>
            </a:solidFill>
            <a:prstDash val="sysDot"/>
            <a:round/>
            <a:headEnd/>
            <a:tailEnd type="none" w="med" len="lg"/>
          </a:ln>
        </p:spPr>
      </p:cxnSp>
      <p:sp>
        <p:nvSpPr>
          <p:cNvPr id="64520" name="Line 30"/>
          <p:cNvSpPr>
            <a:spLocks noChangeShapeType="1"/>
          </p:cNvSpPr>
          <p:nvPr/>
        </p:nvSpPr>
        <p:spPr bwMode="auto">
          <a:xfrm flipV="1">
            <a:off x="2293938" y="1008063"/>
            <a:ext cx="0" cy="3622675"/>
          </a:xfrm>
          <a:prstGeom prst="line">
            <a:avLst/>
          </a:prstGeom>
          <a:noFill/>
          <a:ln w="11113">
            <a:solidFill>
              <a:srgbClr val="000000"/>
            </a:solidFill>
            <a:miter lim="800000"/>
            <a:headEnd/>
            <a:tailEnd/>
          </a:ln>
        </p:spPr>
        <p:txBody>
          <a:bodyPr/>
          <a:lstStyle/>
          <a:p>
            <a:endParaRPr lang="en-US"/>
          </a:p>
        </p:txBody>
      </p:sp>
      <p:sp>
        <p:nvSpPr>
          <p:cNvPr id="64521" name="Freeform 31"/>
          <p:cNvSpPr>
            <a:spLocks/>
          </p:cNvSpPr>
          <p:nvPr/>
        </p:nvSpPr>
        <p:spPr bwMode="auto">
          <a:xfrm>
            <a:off x="2293938" y="4713288"/>
            <a:ext cx="293687" cy="153987"/>
          </a:xfrm>
          <a:custGeom>
            <a:avLst/>
            <a:gdLst>
              <a:gd name="T0" fmla="*/ 2147483647 w 159"/>
              <a:gd name="T1" fmla="*/ 2147483647 h 97"/>
              <a:gd name="T2" fmla="*/ 0 w 159"/>
              <a:gd name="T3" fmla="*/ 2147483647 h 97"/>
              <a:gd name="T4" fmla="*/ 0 w 159"/>
              <a:gd name="T5" fmla="*/ 0 h 97"/>
              <a:gd name="T6" fmla="*/ 0 60000 65536"/>
              <a:gd name="T7" fmla="*/ 0 60000 65536"/>
              <a:gd name="T8" fmla="*/ 0 60000 65536"/>
              <a:gd name="T9" fmla="*/ 0 w 159"/>
              <a:gd name="T10" fmla="*/ 0 h 97"/>
              <a:gd name="T11" fmla="*/ 159 w 159"/>
              <a:gd name="T12" fmla="*/ 97 h 97"/>
            </a:gdLst>
            <a:ahLst/>
            <a:cxnLst>
              <a:cxn ang="T6">
                <a:pos x="T0" y="T1"/>
              </a:cxn>
              <a:cxn ang="T7">
                <a:pos x="T2" y="T3"/>
              </a:cxn>
              <a:cxn ang="T8">
                <a:pos x="T4" y="T5"/>
              </a:cxn>
            </a:cxnLst>
            <a:rect l="T9" t="T10" r="T11" b="T12"/>
            <a:pathLst>
              <a:path w="159" h="97">
                <a:moveTo>
                  <a:pt x="159" y="97"/>
                </a:moveTo>
                <a:lnTo>
                  <a:pt x="0" y="97"/>
                </a:lnTo>
                <a:lnTo>
                  <a:pt x="0" y="0"/>
                </a:lnTo>
              </a:path>
            </a:pathLst>
          </a:custGeom>
          <a:noFill/>
          <a:ln w="11113" cap="flat">
            <a:solidFill>
              <a:srgbClr val="000000"/>
            </a:solidFill>
            <a:prstDash val="solid"/>
            <a:miter lim="800000"/>
            <a:headEnd/>
            <a:tailEnd/>
          </a:ln>
        </p:spPr>
        <p:txBody>
          <a:bodyPr/>
          <a:lstStyle/>
          <a:p>
            <a:endParaRPr lang="en-US"/>
          </a:p>
        </p:txBody>
      </p:sp>
      <p:sp>
        <p:nvSpPr>
          <p:cNvPr id="64522" name="Line 32"/>
          <p:cNvSpPr>
            <a:spLocks noChangeShapeType="1"/>
          </p:cNvSpPr>
          <p:nvPr/>
        </p:nvSpPr>
        <p:spPr bwMode="auto">
          <a:xfrm flipH="1">
            <a:off x="2682875" y="4867275"/>
            <a:ext cx="4572000" cy="0"/>
          </a:xfrm>
          <a:prstGeom prst="line">
            <a:avLst/>
          </a:prstGeom>
          <a:noFill/>
          <a:ln w="11113">
            <a:solidFill>
              <a:srgbClr val="000000"/>
            </a:solidFill>
            <a:miter lim="800000"/>
            <a:headEnd/>
            <a:tailEnd/>
          </a:ln>
        </p:spPr>
        <p:txBody>
          <a:bodyPr/>
          <a:lstStyle/>
          <a:p>
            <a:endParaRPr lang="en-US"/>
          </a:p>
        </p:txBody>
      </p:sp>
      <p:sp>
        <p:nvSpPr>
          <p:cNvPr id="64523" name="Rectangle 33"/>
          <p:cNvSpPr>
            <a:spLocks noChangeArrowheads="1"/>
          </p:cNvSpPr>
          <p:nvPr/>
        </p:nvSpPr>
        <p:spPr bwMode="auto">
          <a:xfrm>
            <a:off x="3022600" y="490855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7</a:t>
            </a:r>
            <a:endParaRPr lang="en-US" sz="1400"/>
          </a:p>
        </p:txBody>
      </p:sp>
      <p:sp>
        <p:nvSpPr>
          <p:cNvPr id="64524" name="Rectangle 34"/>
          <p:cNvSpPr>
            <a:spLocks noChangeArrowheads="1"/>
          </p:cNvSpPr>
          <p:nvPr/>
        </p:nvSpPr>
        <p:spPr bwMode="auto">
          <a:xfrm>
            <a:off x="2092325" y="490855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p>
        </p:txBody>
      </p:sp>
      <p:sp>
        <p:nvSpPr>
          <p:cNvPr id="64525" name="Rectangle 35"/>
          <p:cNvSpPr>
            <a:spLocks noChangeArrowheads="1"/>
          </p:cNvSpPr>
          <p:nvPr/>
        </p:nvSpPr>
        <p:spPr bwMode="auto">
          <a:xfrm>
            <a:off x="4270375" y="4908550"/>
            <a:ext cx="19526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a:t>
            </a:r>
            <a:endParaRPr lang="en-US" sz="1400"/>
          </a:p>
        </p:txBody>
      </p:sp>
      <p:sp>
        <p:nvSpPr>
          <p:cNvPr id="64526" name="Rectangle 36"/>
          <p:cNvSpPr>
            <a:spLocks noChangeArrowheads="1"/>
          </p:cNvSpPr>
          <p:nvPr/>
        </p:nvSpPr>
        <p:spPr bwMode="auto">
          <a:xfrm>
            <a:off x="4625975" y="4908550"/>
            <a:ext cx="344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11.2</a:t>
            </a:r>
            <a:endParaRPr lang="en-US" sz="1400"/>
          </a:p>
        </p:txBody>
      </p:sp>
      <p:sp>
        <p:nvSpPr>
          <p:cNvPr id="64527" name="Rectangle 37"/>
          <p:cNvSpPr>
            <a:spLocks noChangeArrowheads="1"/>
          </p:cNvSpPr>
          <p:nvPr/>
        </p:nvSpPr>
        <p:spPr bwMode="auto">
          <a:xfrm>
            <a:off x="5146675" y="49085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a:t>
            </a:r>
            <a:endParaRPr lang="en-US" sz="1400"/>
          </a:p>
        </p:txBody>
      </p:sp>
      <p:sp>
        <p:nvSpPr>
          <p:cNvPr id="64528" name="Rectangle 38"/>
          <p:cNvSpPr>
            <a:spLocks noChangeArrowheads="1"/>
          </p:cNvSpPr>
          <p:nvPr/>
        </p:nvSpPr>
        <p:spPr bwMode="auto">
          <a:xfrm>
            <a:off x="6307138" y="49085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a:t>
            </a:r>
            <a:endParaRPr lang="en-US" sz="1400"/>
          </a:p>
        </p:txBody>
      </p:sp>
      <p:sp>
        <p:nvSpPr>
          <p:cNvPr id="64529" name="Rectangle 39"/>
          <p:cNvSpPr>
            <a:spLocks noChangeArrowheads="1"/>
          </p:cNvSpPr>
          <p:nvPr/>
        </p:nvSpPr>
        <p:spPr bwMode="auto">
          <a:xfrm>
            <a:off x="7146925" y="49085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a:t>
            </a:r>
            <a:endParaRPr lang="en-US" sz="1400"/>
          </a:p>
        </p:txBody>
      </p:sp>
      <p:sp>
        <p:nvSpPr>
          <p:cNvPr id="64530" name="Line 50"/>
          <p:cNvSpPr>
            <a:spLocks noChangeShapeType="1"/>
          </p:cNvSpPr>
          <p:nvPr/>
        </p:nvSpPr>
        <p:spPr bwMode="auto">
          <a:xfrm>
            <a:off x="2293938" y="1900238"/>
            <a:ext cx="144462" cy="0"/>
          </a:xfrm>
          <a:prstGeom prst="line">
            <a:avLst/>
          </a:prstGeom>
          <a:noFill/>
          <a:ln w="11113">
            <a:solidFill>
              <a:srgbClr val="000000"/>
            </a:solidFill>
            <a:miter lim="800000"/>
            <a:headEnd/>
            <a:tailEnd/>
          </a:ln>
        </p:spPr>
        <p:txBody>
          <a:bodyPr/>
          <a:lstStyle/>
          <a:p>
            <a:endParaRPr lang="en-US"/>
          </a:p>
        </p:txBody>
      </p:sp>
      <p:sp>
        <p:nvSpPr>
          <p:cNvPr id="64531" name="Line 51"/>
          <p:cNvSpPr>
            <a:spLocks noChangeShapeType="1"/>
          </p:cNvSpPr>
          <p:nvPr/>
        </p:nvSpPr>
        <p:spPr bwMode="auto">
          <a:xfrm>
            <a:off x="2293938" y="2322513"/>
            <a:ext cx="144462" cy="0"/>
          </a:xfrm>
          <a:prstGeom prst="line">
            <a:avLst/>
          </a:prstGeom>
          <a:noFill/>
          <a:ln w="11113">
            <a:solidFill>
              <a:srgbClr val="000000"/>
            </a:solidFill>
            <a:miter lim="800000"/>
            <a:headEnd/>
            <a:tailEnd/>
          </a:ln>
        </p:spPr>
        <p:txBody>
          <a:bodyPr/>
          <a:lstStyle/>
          <a:p>
            <a:endParaRPr lang="en-US"/>
          </a:p>
        </p:txBody>
      </p:sp>
      <p:sp>
        <p:nvSpPr>
          <p:cNvPr id="64532" name="Line 52"/>
          <p:cNvSpPr>
            <a:spLocks noChangeShapeType="1"/>
          </p:cNvSpPr>
          <p:nvPr/>
        </p:nvSpPr>
        <p:spPr bwMode="auto">
          <a:xfrm>
            <a:off x="2293938" y="2744788"/>
            <a:ext cx="144462" cy="0"/>
          </a:xfrm>
          <a:prstGeom prst="line">
            <a:avLst/>
          </a:prstGeom>
          <a:noFill/>
          <a:ln w="11113">
            <a:solidFill>
              <a:srgbClr val="000000"/>
            </a:solidFill>
            <a:miter lim="800000"/>
            <a:headEnd/>
            <a:tailEnd/>
          </a:ln>
        </p:spPr>
        <p:txBody>
          <a:bodyPr/>
          <a:lstStyle/>
          <a:p>
            <a:endParaRPr lang="en-US"/>
          </a:p>
        </p:txBody>
      </p:sp>
      <p:sp>
        <p:nvSpPr>
          <p:cNvPr id="64533" name="Line 53"/>
          <p:cNvSpPr>
            <a:spLocks noChangeShapeType="1"/>
          </p:cNvSpPr>
          <p:nvPr/>
        </p:nvSpPr>
        <p:spPr bwMode="auto">
          <a:xfrm>
            <a:off x="2293938" y="3171825"/>
            <a:ext cx="144462" cy="0"/>
          </a:xfrm>
          <a:prstGeom prst="line">
            <a:avLst/>
          </a:prstGeom>
          <a:noFill/>
          <a:ln w="11113">
            <a:solidFill>
              <a:srgbClr val="000000"/>
            </a:solidFill>
            <a:miter lim="800000"/>
            <a:headEnd/>
            <a:tailEnd/>
          </a:ln>
        </p:spPr>
        <p:txBody>
          <a:bodyPr/>
          <a:lstStyle/>
          <a:p>
            <a:endParaRPr lang="en-US"/>
          </a:p>
        </p:txBody>
      </p:sp>
      <p:sp>
        <p:nvSpPr>
          <p:cNvPr id="64534" name="Line 54"/>
          <p:cNvSpPr>
            <a:spLocks noChangeShapeType="1"/>
          </p:cNvSpPr>
          <p:nvPr/>
        </p:nvSpPr>
        <p:spPr bwMode="auto">
          <a:xfrm>
            <a:off x="2293938" y="3630613"/>
            <a:ext cx="144462" cy="0"/>
          </a:xfrm>
          <a:prstGeom prst="line">
            <a:avLst/>
          </a:prstGeom>
          <a:noFill/>
          <a:ln w="11113">
            <a:solidFill>
              <a:srgbClr val="000000"/>
            </a:solidFill>
            <a:miter lim="800000"/>
            <a:headEnd/>
            <a:tailEnd/>
          </a:ln>
        </p:spPr>
        <p:txBody>
          <a:bodyPr/>
          <a:lstStyle/>
          <a:p>
            <a:endParaRPr lang="en-US"/>
          </a:p>
        </p:txBody>
      </p:sp>
      <p:sp>
        <p:nvSpPr>
          <p:cNvPr id="64535" name="Line 55"/>
          <p:cNvSpPr>
            <a:spLocks noChangeShapeType="1"/>
          </p:cNvSpPr>
          <p:nvPr/>
        </p:nvSpPr>
        <p:spPr bwMode="auto">
          <a:xfrm>
            <a:off x="2293938" y="4064000"/>
            <a:ext cx="144462" cy="0"/>
          </a:xfrm>
          <a:prstGeom prst="line">
            <a:avLst/>
          </a:prstGeom>
          <a:noFill/>
          <a:ln w="11113">
            <a:solidFill>
              <a:srgbClr val="000000"/>
            </a:solidFill>
            <a:miter lim="800000"/>
            <a:headEnd/>
            <a:tailEnd/>
          </a:ln>
        </p:spPr>
        <p:txBody>
          <a:bodyPr/>
          <a:lstStyle/>
          <a:p>
            <a:endParaRPr lang="en-US"/>
          </a:p>
        </p:txBody>
      </p:sp>
      <p:sp>
        <p:nvSpPr>
          <p:cNvPr id="64536" name="Line 56"/>
          <p:cNvSpPr>
            <a:spLocks noChangeShapeType="1"/>
          </p:cNvSpPr>
          <p:nvPr/>
        </p:nvSpPr>
        <p:spPr bwMode="auto">
          <a:xfrm>
            <a:off x="2293938" y="4502150"/>
            <a:ext cx="144462" cy="0"/>
          </a:xfrm>
          <a:prstGeom prst="line">
            <a:avLst/>
          </a:prstGeom>
          <a:noFill/>
          <a:ln w="11113">
            <a:solidFill>
              <a:srgbClr val="000000"/>
            </a:solidFill>
            <a:miter lim="800000"/>
            <a:headEnd/>
            <a:tailEnd/>
          </a:ln>
        </p:spPr>
        <p:txBody>
          <a:bodyPr/>
          <a:lstStyle/>
          <a:p>
            <a:endParaRPr lang="en-US"/>
          </a:p>
        </p:txBody>
      </p:sp>
      <p:sp>
        <p:nvSpPr>
          <p:cNvPr id="64537" name="Line 57"/>
          <p:cNvSpPr>
            <a:spLocks noChangeShapeType="1"/>
          </p:cNvSpPr>
          <p:nvPr/>
        </p:nvSpPr>
        <p:spPr bwMode="auto">
          <a:xfrm flipV="1">
            <a:off x="3076575" y="4743450"/>
            <a:ext cx="0" cy="123825"/>
          </a:xfrm>
          <a:prstGeom prst="line">
            <a:avLst/>
          </a:prstGeom>
          <a:noFill/>
          <a:ln w="11113">
            <a:solidFill>
              <a:srgbClr val="000000"/>
            </a:solidFill>
            <a:miter lim="800000"/>
            <a:headEnd/>
            <a:tailEnd/>
          </a:ln>
        </p:spPr>
        <p:txBody>
          <a:bodyPr/>
          <a:lstStyle/>
          <a:p>
            <a:endParaRPr lang="en-US"/>
          </a:p>
        </p:txBody>
      </p:sp>
      <p:sp>
        <p:nvSpPr>
          <p:cNvPr id="64538" name="Line 58"/>
          <p:cNvSpPr>
            <a:spLocks noChangeShapeType="1"/>
          </p:cNvSpPr>
          <p:nvPr/>
        </p:nvSpPr>
        <p:spPr bwMode="auto">
          <a:xfrm flipV="1">
            <a:off x="4379913" y="4743450"/>
            <a:ext cx="0" cy="123825"/>
          </a:xfrm>
          <a:prstGeom prst="line">
            <a:avLst/>
          </a:prstGeom>
          <a:noFill/>
          <a:ln w="11113">
            <a:solidFill>
              <a:srgbClr val="000000"/>
            </a:solidFill>
            <a:miter lim="800000"/>
            <a:headEnd/>
            <a:tailEnd/>
          </a:ln>
        </p:spPr>
        <p:txBody>
          <a:bodyPr/>
          <a:lstStyle/>
          <a:p>
            <a:endParaRPr lang="en-US"/>
          </a:p>
        </p:txBody>
      </p:sp>
      <p:sp>
        <p:nvSpPr>
          <p:cNvPr id="64539" name="Line 59"/>
          <p:cNvSpPr>
            <a:spLocks noChangeShapeType="1"/>
          </p:cNvSpPr>
          <p:nvPr/>
        </p:nvSpPr>
        <p:spPr bwMode="auto">
          <a:xfrm flipV="1">
            <a:off x="4887913" y="4743450"/>
            <a:ext cx="0" cy="123825"/>
          </a:xfrm>
          <a:prstGeom prst="line">
            <a:avLst/>
          </a:prstGeom>
          <a:noFill/>
          <a:ln w="11113">
            <a:solidFill>
              <a:srgbClr val="000000"/>
            </a:solidFill>
            <a:miter lim="800000"/>
            <a:headEnd/>
            <a:tailEnd/>
          </a:ln>
        </p:spPr>
        <p:txBody>
          <a:bodyPr/>
          <a:lstStyle/>
          <a:p>
            <a:endParaRPr lang="en-US"/>
          </a:p>
        </p:txBody>
      </p:sp>
      <p:sp>
        <p:nvSpPr>
          <p:cNvPr id="64540" name="Line 60"/>
          <p:cNvSpPr>
            <a:spLocks noChangeShapeType="1"/>
          </p:cNvSpPr>
          <p:nvPr/>
        </p:nvSpPr>
        <p:spPr bwMode="auto">
          <a:xfrm flipV="1">
            <a:off x="5211763" y="4743450"/>
            <a:ext cx="0" cy="123825"/>
          </a:xfrm>
          <a:prstGeom prst="line">
            <a:avLst/>
          </a:prstGeom>
          <a:noFill/>
          <a:ln w="11113">
            <a:solidFill>
              <a:srgbClr val="000000"/>
            </a:solidFill>
            <a:miter lim="800000"/>
            <a:headEnd/>
            <a:tailEnd/>
          </a:ln>
        </p:spPr>
        <p:txBody>
          <a:bodyPr/>
          <a:lstStyle/>
          <a:p>
            <a:endParaRPr lang="en-US"/>
          </a:p>
        </p:txBody>
      </p:sp>
      <p:sp>
        <p:nvSpPr>
          <p:cNvPr id="64541" name="Line 61"/>
          <p:cNvSpPr>
            <a:spLocks noChangeShapeType="1"/>
          </p:cNvSpPr>
          <p:nvPr/>
        </p:nvSpPr>
        <p:spPr bwMode="auto">
          <a:xfrm flipV="1">
            <a:off x="6419850" y="4743450"/>
            <a:ext cx="0" cy="123825"/>
          </a:xfrm>
          <a:prstGeom prst="line">
            <a:avLst/>
          </a:prstGeom>
          <a:noFill/>
          <a:ln w="11113">
            <a:solidFill>
              <a:srgbClr val="000000"/>
            </a:solidFill>
            <a:miter lim="800000"/>
            <a:headEnd/>
            <a:tailEnd/>
          </a:ln>
        </p:spPr>
        <p:txBody>
          <a:bodyPr/>
          <a:lstStyle/>
          <a:p>
            <a:endParaRPr lang="en-US"/>
          </a:p>
        </p:txBody>
      </p:sp>
      <p:sp>
        <p:nvSpPr>
          <p:cNvPr id="64542" name="Line 62"/>
          <p:cNvSpPr>
            <a:spLocks noChangeShapeType="1"/>
          </p:cNvSpPr>
          <p:nvPr/>
        </p:nvSpPr>
        <p:spPr bwMode="auto">
          <a:xfrm flipV="1">
            <a:off x="7254875" y="4743450"/>
            <a:ext cx="0" cy="123825"/>
          </a:xfrm>
          <a:prstGeom prst="line">
            <a:avLst/>
          </a:prstGeom>
          <a:noFill/>
          <a:ln w="11113">
            <a:solidFill>
              <a:srgbClr val="000000"/>
            </a:solidFill>
            <a:miter lim="800000"/>
            <a:headEnd/>
            <a:tailEnd/>
          </a:ln>
        </p:spPr>
        <p:txBody>
          <a:bodyPr/>
          <a:lstStyle/>
          <a:p>
            <a:endParaRPr lang="en-US"/>
          </a:p>
        </p:txBody>
      </p:sp>
      <p:sp>
        <p:nvSpPr>
          <p:cNvPr id="64543" name="Rectangle 63"/>
          <p:cNvSpPr>
            <a:spLocks noChangeArrowheads="1"/>
          </p:cNvSpPr>
          <p:nvPr/>
        </p:nvSpPr>
        <p:spPr bwMode="auto">
          <a:xfrm>
            <a:off x="1704975" y="1797050"/>
            <a:ext cx="4445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$2.00</a:t>
            </a:r>
            <a:endParaRPr lang="en-US" sz="1400"/>
          </a:p>
        </p:txBody>
      </p:sp>
      <p:sp>
        <p:nvSpPr>
          <p:cNvPr id="64544" name="Rectangle 64"/>
          <p:cNvSpPr>
            <a:spLocks noChangeArrowheads="1"/>
          </p:cNvSpPr>
          <p:nvPr/>
        </p:nvSpPr>
        <p:spPr bwMode="auto">
          <a:xfrm>
            <a:off x="1852613" y="2217738"/>
            <a:ext cx="344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1.75</a:t>
            </a:r>
            <a:endParaRPr lang="en-US" sz="1400"/>
          </a:p>
        </p:txBody>
      </p:sp>
      <p:sp>
        <p:nvSpPr>
          <p:cNvPr id="64545" name="Rectangle 65"/>
          <p:cNvSpPr>
            <a:spLocks noChangeArrowheads="1"/>
          </p:cNvSpPr>
          <p:nvPr/>
        </p:nvSpPr>
        <p:spPr bwMode="auto">
          <a:xfrm>
            <a:off x="1852613" y="2641600"/>
            <a:ext cx="344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1.50</a:t>
            </a:r>
            <a:endParaRPr lang="en-US" sz="1400"/>
          </a:p>
        </p:txBody>
      </p:sp>
      <p:sp>
        <p:nvSpPr>
          <p:cNvPr id="64546" name="Rectangle 66"/>
          <p:cNvSpPr>
            <a:spLocks noChangeArrowheads="1"/>
          </p:cNvSpPr>
          <p:nvPr/>
        </p:nvSpPr>
        <p:spPr bwMode="auto">
          <a:xfrm>
            <a:off x="1852613" y="3076575"/>
            <a:ext cx="344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1.25</a:t>
            </a:r>
            <a:endParaRPr lang="en-US" sz="1400"/>
          </a:p>
        </p:txBody>
      </p:sp>
      <p:sp>
        <p:nvSpPr>
          <p:cNvPr id="64547" name="Rectangle 67"/>
          <p:cNvSpPr>
            <a:spLocks noChangeArrowheads="1"/>
          </p:cNvSpPr>
          <p:nvPr/>
        </p:nvSpPr>
        <p:spPr bwMode="auto">
          <a:xfrm>
            <a:off x="1852613" y="3522663"/>
            <a:ext cx="344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a:t>
            </a:r>
            <a:endParaRPr lang="en-US" sz="1400"/>
          </a:p>
        </p:txBody>
      </p:sp>
      <p:sp>
        <p:nvSpPr>
          <p:cNvPr id="64548" name="Rectangle 68"/>
          <p:cNvSpPr>
            <a:spLocks noChangeArrowheads="1"/>
          </p:cNvSpPr>
          <p:nvPr/>
        </p:nvSpPr>
        <p:spPr bwMode="auto">
          <a:xfrm>
            <a:off x="1855788" y="3957638"/>
            <a:ext cx="344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0.75</a:t>
            </a:r>
            <a:endParaRPr lang="en-US" sz="1400"/>
          </a:p>
        </p:txBody>
      </p:sp>
      <p:sp>
        <p:nvSpPr>
          <p:cNvPr id="64549" name="Rectangle 69"/>
          <p:cNvSpPr>
            <a:spLocks noChangeArrowheads="1"/>
          </p:cNvSpPr>
          <p:nvPr/>
        </p:nvSpPr>
        <p:spPr bwMode="auto">
          <a:xfrm>
            <a:off x="1852613" y="4391025"/>
            <a:ext cx="344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0.50</a:t>
            </a:r>
            <a:endParaRPr lang="en-US" sz="1400"/>
          </a:p>
        </p:txBody>
      </p:sp>
      <p:sp>
        <p:nvSpPr>
          <p:cNvPr id="573522" name="Line 82"/>
          <p:cNvSpPr>
            <a:spLocks noChangeShapeType="1"/>
          </p:cNvSpPr>
          <p:nvPr/>
        </p:nvSpPr>
        <p:spPr bwMode="auto">
          <a:xfrm>
            <a:off x="3968750" y="2368550"/>
            <a:ext cx="538163" cy="906463"/>
          </a:xfrm>
          <a:prstGeom prst="line">
            <a:avLst/>
          </a:prstGeom>
          <a:noFill/>
          <a:ln w="11113">
            <a:solidFill>
              <a:srgbClr val="000000"/>
            </a:solidFill>
            <a:miter lim="800000"/>
            <a:headEnd/>
            <a:tailEnd/>
          </a:ln>
        </p:spPr>
        <p:txBody>
          <a:bodyPr/>
          <a:lstStyle/>
          <a:p>
            <a:endParaRPr lang="en-US"/>
          </a:p>
        </p:txBody>
      </p:sp>
      <p:sp>
        <p:nvSpPr>
          <p:cNvPr id="573523" name="Freeform 83"/>
          <p:cNvSpPr>
            <a:spLocks/>
          </p:cNvSpPr>
          <p:nvPr/>
        </p:nvSpPr>
        <p:spPr bwMode="auto">
          <a:xfrm>
            <a:off x="3114675" y="1751013"/>
            <a:ext cx="1600200" cy="617537"/>
          </a:xfrm>
          <a:custGeom>
            <a:avLst/>
            <a:gdLst>
              <a:gd name="T0" fmla="*/ 2147483647 w 256"/>
              <a:gd name="T1" fmla="*/ 2147483647 h 133"/>
              <a:gd name="T2" fmla="*/ 2147483647 w 256"/>
              <a:gd name="T3" fmla="*/ 2147483647 h 133"/>
              <a:gd name="T4" fmla="*/ 2147483647 w 256"/>
              <a:gd name="T5" fmla="*/ 2147483647 h 133"/>
              <a:gd name="T6" fmla="*/ 0 w 256"/>
              <a:gd name="T7" fmla="*/ 2147483647 h 133"/>
              <a:gd name="T8" fmla="*/ 0 w 256"/>
              <a:gd name="T9" fmla="*/ 2147483647 h 133"/>
              <a:gd name="T10" fmla="*/ 2147483647 w 256"/>
              <a:gd name="T11" fmla="*/ 0 h 133"/>
              <a:gd name="T12" fmla="*/ 2147483647 w 256"/>
              <a:gd name="T13" fmla="*/ 0 h 133"/>
              <a:gd name="T14" fmla="*/ 2147483647 w 256"/>
              <a:gd name="T15" fmla="*/ 2147483647 h 133"/>
              <a:gd name="T16" fmla="*/ 2147483647 w 256"/>
              <a:gd name="T17" fmla="*/ 2147483647 h 1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6"/>
              <a:gd name="T28" fmla="*/ 0 h 133"/>
              <a:gd name="T29" fmla="*/ 256 w 256"/>
              <a:gd name="T30" fmla="*/ 133 h 1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6" h="133">
                <a:moveTo>
                  <a:pt x="256" y="111"/>
                </a:moveTo>
                <a:cubicBezTo>
                  <a:pt x="256" y="123"/>
                  <a:pt x="248" y="133"/>
                  <a:pt x="240" y="133"/>
                </a:cubicBezTo>
                <a:cubicBezTo>
                  <a:pt x="16" y="133"/>
                  <a:pt x="16" y="133"/>
                  <a:pt x="16" y="133"/>
                </a:cubicBezTo>
                <a:cubicBezTo>
                  <a:pt x="7" y="133"/>
                  <a:pt x="0" y="123"/>
                  <a:pt x="0" y="111"/>
                </a:cubicBezTo>
                <a:cubicBezTo>
                  <a:pt x="0" y="22"/>
                  <a:pt x="0" y="22"/>
                  <a:pt x="0" y="22"/>
                </a:cubicBezTo>
                <a:cubicBezTo>
                  <a:pt x="0" y="10"/>
                  <a:pt x="7" y="0"/>
                  <a:pt x="16" y="0"/>
                </a:cubicBezTo>
                <a:cubicBezTo>
                  <a:pt x="240" y="0"/>
                  <a:pt x="240" y="0"/>
                  <a:pt x="240" y="0"/>
                </a:cubicBezTo>
                <a:cubicBezTo>
                  <a:pt x="248" y="0"/>
                  <a:pt x="256" y="10"/>
                  <a:pt x="256" y="22"/>
                </a:cubicBezTo>
                <a:lnTo>
                  <a:pt x="256" y="111"/>
                </a:lnTo>
                <a:close/>
              </a:path>
            </a:pathLst>
          </a:custGeom>
          <a:solidFill>
            <a:srgbClr val="D6E2E0"/>
          </a:solidFill>
          <a:ln w="9525">
            <a:noFill/>
            <a:round/>
            <a:headEnd/>
            <a:tailEnd/>
          </a:ln>
        </p:spPr>
        <p:txBody>
          <a:bodyPr/>
          <a:lstStyle/>
          <a:p>
            <a:endParaRPr lang="en-US"/>
          </a:p>
        </p:txBody>
      </p:sp>
      <p:sp>
        <p:nvSpPr>
          <p:cNvPr id="64552" name="Freeform 95"/>
          <p:cNvSpPr>
            <a:spLocks/>
          </p:cNvSpPr>
          <p:nvPr/>
        </p:nvSpPr>
        <p:spPr bwMode="auto">
          <a:xfrm>
            <a:off x="3500438" y="1893888"/>
            <a:ext cx="1592262" cy="2633662"/>
          </a:xfrm>
          <a:custGeom>
            <a:avLst/>
            <a:gdLst>
              <a:gd name="T0" fmla="*/ 0 w 266"/>
              <a:gd name="T1" fmla="*/ 2147483647 h 511"/>
              <a:gd name="T2" fmla="*/ 2147483647 w 266"/>
              <a:gd name="T3" fmla="*/ 0 h 511"/>
              <a:gd name="T4" fmla="*/ 0 60000 65536"/>
              <a:gd name="T5" fmla="*/ 0 60000 65536"/>
              <a:gd name="T6" fmla="*/ 0 w 266"/>
              <a:gd name="T7" fmla="*/ 0 h 511"/>
              <a:gd name="T8" fmla="*/ 266 w 266"/>
              <a:gd name="T9" fmla="*/ 511 h 511"/>
            </a:gdLst>
            <a:ahLst/>
            <a:cxnLst>
              <a:cxn ang="T4">
                <a:pos x="T0" y="T1"/>
              </a:cxn>
              <a:cxn ang="T5">
                <a:pos x="T2" y="T3"/>
              </a:cxn>
            </a:cxnLst>
            <a:rect l="T6" t="T7" r="T8" b="T9"/>
            <a:pathLst>
              <a:path w="266" h="511">
                <a:moveTo>
                  <a:pt x="0" y="511"/>
                </a:moveTo>
                <a:cubicBezTo>
                  <a:pt x="74" y="422"/>
                  <a:pt x="237" y="308"/>
                  <a:pt x="266" y="0"/>
                </a:cubicBezTo>
              </a:path>
            </a:pathLst>
          </a:custGeom>
          <a:noFill/>
          <a:ln w="41275" cap="flat">
            <a:solidFill>
              <a:srgbClr val="FAC0BF"/>
            </a:solidFill>
            <a:prstDash val="solid"/>
            <a:miter lim="800000"/>
            <a:headEnd/>
            <a:tailEnd/>
          </a:ln>
        </p:spPr>
        <p:txBody>
          <a:bodyPr/>
          <a:lstStyle/>
          <a:p>
            <a:endParaRPr lang="en-US"/>
          </a:p>
        </p:txBody>
      </p:sp>
      <p:sp>
        <p:nvSpPr>
          <p:cNvPr id="64553" name="Oval 96"/>
          <p:cNvSpPr>
            <a:spLocks noChangeArrowheads="1"/>
          </p:cNvSpPr>
          <p:nvPr/>
        </p:nvSpPr>
        <p:spPr bwMode="auto">
          <a:xfrm>
            <a:off x="4321175" y="3584575"/>
            <a:ext cx="119063" cy="103188"/>
          </a:xfrm>
          <a:prstGeom prst="ellipse">
            <a:avLst/>
          </a:prstGeom>
          <a:solidFill>
            <a:srgbClr val="000000"/>
          </a:solidFill>
          <a:ln w="9525">
            <a:noFill/>
            <a:round/>
            <a:headEnd/>
            <a:tailEnd/>
          </a:ln>
        </p:spPr>
        <p:txBody>
          <a:bodyPr/>
          <a:lstStyle/>
          <a:p>
            <a:endParaRPr lang="en-US"/>
          </a:p>
        </p:txBody>
      </p:sp>
      <p:sp>
        <p:nvSpPr>
          <p:cNvPr id="64554" name="Oval 97"/>
          <p:cNvSpPr>
            <a:spLocks noChangeArrowheads="1"/>
          </p:cNvSpPr>
          <p:nvPr/>
        </p:nvSpPr>
        <p:spPr bwMode="auto">
          <a:xfrm>
            <a:off x="4829175" y="2708275"/>
            <a:ext cx="119063" cy="103188"/>
          </a:xfrm>
          <a:prstGeom prst="ellipse">
            <a:avLst/>
          </a:prstGeom>
          <a:solidFill>
            <a:srgbClr val="000000"/>
          </a:solidFill>
          <a:ln w="9525">
            <a:noFill/>
            <a:round/>
            <a:headEnd/>
            <a:tailEnd/>
          </a:ln>
        </p:spPr>
        <p:txBody>
          <a:bodyPr/>
          <a:lstStyle/>
          <a:p>
            <a:endParaRPr lang="en-US"/>
          </a:p>
        </p:txBody>
      </p:sp>
      <p:sp>
        <p:nvSpPr>
          <p:cNvPr id="64555" name="Line 98"/>
          <p:cNvSpPr>
            <a:spLocks noChangeShapeType="1"/>
          </p:cNvSpPr>
          <p:nvPr/>
        </p:nvSpPr>
        <p:spPr bwMode="auto">
          <a:xfrm flipV="1">
            <a:off x="2227263" y="4598988"/>
            <a:ext cx="125412" cy="61912"/>
          </a:xfrm>
          <a:prstGeom prst="line">
            <a:avLst/>
          </a:prstGeom>
          <a:noFill/>
          <a:ln w="11113">
            <a:solidFill>
              <a:srgbClr val="000000"/>
            </a:solidFill>
            <a:miter lim="800000"/>
            <a:headEnd/>
            <a:tailEnd/>
          </a:ln>
        </p:spPr>
        <p:txBody>
          <a:bodyPr/>
          <a:lstStyle/>
          <a:p>
            <a:endParaRPr lang="en-US"/>
          </a:p>
        </p:txBody>
      </p:sp>
      <p:sp>
        <p:nvSpPr>
          <p:cNvPr id="64556" name="Line 99"/>
          <p:cNvSpPr>
            <a:spLocks noChangeShapeType="1"/>
          </p:cNvSpPr>
          <p:nvPr/>
        </p:nvSpPr>
        <p:spPr bwMode="auto">
          <a:xfrm flipV="1">
            <a:off x="2227263" y="4681538"/>
            <a:ext cx="125412" cy="61912"/>
          </a:xfrm>
          <a:prstGeom prst="line">
            <a:avLst/>
          </a:prstGeom>
          <a:noFill/>
          <a:ln w="11113">
            <a:solidFill>
              <a:srgbClr val="000000"/>
            </a:solidFill>
            <a:miter lim="800000"/>
            <a:headEnd/>
            <a:tailEnd/>
          </a:ln>
        </p:spPr>
        <p:txBody>
          <a:bodyPr/>
          <a:lstStyle/>
          <a:p>
            <a:endParaRPr lang="en-US"/>
          </a:p>
        </p:txBody>
      </p:sp>
      <p:sp>
        <p:nvSpPr>
          <p:cNvPr id="64557" name="Line 100"/>
          <p:cNvSpPr>
            <a:spLocks noChangeShapeType="1"/>
          </p:cNvSpPr>
          <p:nvPr/>
        </p:nvSpPr>
        <p:spPr bwMode="auto">
          <a:xfrm flipH="1">
            <a:off x="2544763" y="4810125"/>
            <a:ext cx="71437" cy="107950"/>
          </a:xfrm>
          <a:prstGeom prst="line">
            <a:avLst/>
          </a:prstGeom>
          <a:noFill/>
          <a:ln w="11113">
            <a:solidFill>
              <a:srgbClr val="000000"/>
            </a:solidFill>
            <a:miter lim="800000"/>
            <a:headEnd/>
            <a:tailEnd/>
          </a:ln>
        </p:spPr>
        <p:txBody>
          <a:bodyPr/>
          <a:lstStyle/>
          <a:p>
            <a:endParaRPr lang="en-US"/>
          </a:p>
        </p:txBody>
      </p:sp>
      <p:sp>
        <p:nvSpPr>
          <p:cNvPr id="64558" name="Line 101"/>
          <p:cNvSpPr>
            <a:spLocks noChangeShapeType="1"/>
          </p:cNvSpPr>
          <p:nvPr/>
        </p:nvSpPr>
        <p:spPr bwMode="auto">
          <a:xfrm flipH="1">
            <a:off x="2640013" y="4810125"/>
            <a:ext cx="73025" cy="107950"/>
          </a:xfrm>
          <a:prstGeom prst="line">
            <a:avLst/>
          </a:prstGeom>
          <a:noFill/>
          <a:ln w="11113">
            <a:solidFill>
              <a:srgbClr val="000000"/>
            </a:solidFill>
            <a:miter lim="800000"/>
            <a:headEnd/>
            <a:tailEnd/>
          </a:ln>
        </p:spPr>
        <p:txBody>
          <a:bodyPr/>
          <a:lstStyle/>
          <a:p>
            <a:endParaRPr lang="en-US"/>
          </a:p>
        </p:txBody>
      </p:sp>
      <p:sp>
        <p:nvSpPr>
          <p:cNvPr id="64559" name="Freeform 102"/>
          <p:cNvSpPr>
            <a:spLocks/>
          </p:cNvSpPr>
          <p:nvPr/>
        </p:nvSpPr>
        <p:spPr bwMode="auto">
          <a:xfrm>
            <a:off x="4165600" y="1879600"/>
            <a:ext cx="2079625" cy="2636838"/>
          </a:xfrm>
          <a:custGeom>
            <a:avLst/>
            <a:gdLst>
              <a:gd name="T0" fmla="*/ 2147483647 w 348"/>
              <a:gd name="T1" fmla="*/ 0 h 512"/>
              <a:gd name="T2" fmla="*/ 0 w 348"/>
              <a:gd name="T3" fmla="*/ 2147483647 h 512"/>
              <a:gd name="T4" fmla="*/ 0 60000 65536"/>
              <a:gd name="T5" fmla="*/ 0 60000 65536"/>
              <a:gd name="T6" fmla="*/ 0 w 348"/>
              <a:gd name="T7" fmla="*/ 0 h 512"/>
              <a:gd name="T8" fmla="*/ 348 w 348"/>
              <a:gd name="T9" fmla="*/ 512 h 512"/>
            </a:gdLst>
            <a:ahLst/>
            <a:cxnLst>
              <a:cxn ang="T4">
                <a:pos x="T0" y="T1"/>
              </a:cxn>
              <a:cxn ang="T5">
                <a:pos x="T2" y="T3"/>
              </a:cxn>
            </a:cxnLst>
            <a:rect l="T6" t="T7" r="T8" b="T9"/>
            <a:pathLst>
              <a:path w="348" h="512">
                <a:moveTo>
                  <a:pt x="307" y="0"/>
                </a:moveTo>
                <a:cubicBezTo>
                  <a:pt x="307" y="0"/>
                  <a:pt x="348" y="220"/>
                  <a:pt x="0" y="512"/>
                </a:cubicBezTo>
              </a:path>
            </a:pathLst>
          </a:custGeom>
          <a:noFill/>
          <a:ln w="41275" cap="flat">
            <a:solidFill>
              <a:srgbClr val="EE313C"/>
            </a:solidFill>
            <a:prstDash val="solid"/>
            <a:miter lim="800000"/>
            <a:headEnd/>
            <a:tailEnd/>
          </a:ln>
        </p:spPr>
        <p:txBody>
          <a:bodyPr/>
          <a:lstStyle/>
          <a:p>
            <a:endParaRPr lang="en-US"/>
          </a:p>
        </p:txBody>
      </p:sp>
      <p:sp>
        <p:nvSpPr>
          <p:cNvPr id="64560" name="Oval 103"/>
          <p:cNvSpPr>
            <a:spLocks noChangeArrowheads="1"/>
          </p:cNvSpPr>
          <p:nvPr/>
        </p:nvSpPr>
        <p:spPr bwMode="auto">
          <a:xfrm>
            <a:off x="5151438" y="3573463"/>
            <a:ext cx="120650" cy="103187"/>
          </a:xfrm>
          <a:prstGeom prst="ellipse">
            <a:avLst/>
          </a:prstGeom>
          <a:solidFill>
            <a:srgbClr val="000000"/>
          </a:solidFill>
          <a:ln w="9525">
            <a:noFill/>
            <a:round/>
            <a:headEnd/>
            <a:tailEnd/>
          </a:ln>
        </p:spPr>
        <p:txBody>
          <a:bodyPr/>
          <a:lstStyle/>
          <a:p>
            <a:endParaRPr lang="en-US"/>
          </a:p>
        </p:txBody>
      </p:sp>
      <p:sp>
        <p:nvSpPr>
          <p:cNvPr id="64561" name="Freeform 104"/>
          <p:cNvSpPr>
            <a:spLocks/>
          </p:cNvSpPr>
          <p:nvPr/>
        </p:nvSpPr>
        <p:spPr bwMode="auto">
          <a:xfrm>
            <a:off x="4338638" y="2930525"/>
            <a:ext cx="322262" cy="596900"/>
          </a:xfrm>
          <a:custGeom>
            <a:avLst/>
            <a:gdLst>
              <a:gd name="T0" fmla="*/ 0 w 54"/>
              <a:gd name="T1" fmla="*/ 2147483647 h 116"/>
              <a:gd name="T2" fmla="*/ 2147483647 w 54"/>
              <a:gd name="T3" fmla="*/ 0 h 116"/>
              <a:gd name="T4" fmla="*/ 0 60000 65536"/>
              <a:gd name="T5" fmla="*/ 0 60000 65536"/>
              <a:gd name="T6" fmla="*/ 0 w 54"/>
              <a:gd name="T7" fmla="*/ 0 h 116"/>
              <a:gd name="T8" fmla="*/ 54 w 54"/>
              <a:gd name="T9" fmla="*/ 116 h 116"/>
            </a:gdLst>
            <a:ahLst/>
            <a:cxnLst>
              <a:cxn ang="T4">
                <a:pos x="T0" y="T1"/>
              </a:cxn>
              <a:cxn ang="T5">
                <a:pos x="T2" y="T3"/>
              </a:cxn>
            </a:cxnLst>
            <a:rect l="T6" t="T7" r="T8" b="T9"/>
            <a:pathLst>
              <a:path w="54" h="116">
                <a:moveTo>
                  <a:pt x="0" y="116"/>
                </a:moveTo>
                <a:cubicBezTo>
                  <a:pt x="17" y="86"/>
                  <a:pt x="43" y="34"/>
                  <a:pt x="54" y="0"/>
                </a:cubicBezTo>
              </a:path>
            </a:pathLst>
          </a:custGeom>
          <a:noFill/>
          <a:ln w="41275" cap="flat">
            <a:solidFill>
              <a:srgbClr val="000000"/>
            </a:solidFill>
            <a:prstDash val="solid"/>
            <a:miter lim="800000"/>
            <a:headEnd/>
            <a:tailEnd/>
          </a:ln>
        </p:spPr>
        <p:txBody>
          <a:bodyPr/>
          <a:lstStyle/>
          <a:p>
            <a:endParaRPr lang="en-US"/>
          </a:p>
        </p:txBody>
      </p:sp>
      <p:sp>
        <p:nvSpPr>
          <p:cNvPr id="64562" name="Rectangle 105"/>
          <p:cNvSpPr>
            <a:spLocks noChangeArrowheads="1"/>
          </p:cNvSpPr>
          <p:nvPr/>
        </p:nvSpPr>
        <p:spPr bwMode="auto">
          <a:xfrm>
            <a:off x="4999038" y="16144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sp>
        <p:nvSpPr>
          <p:cNvPr id="64563" name="Rectangle 106"/>
          <p:cNvSpPr>
            <a:spLocks noChangeArrowheads="1"/>
          </p:cNvSpPr>
          <p:nvPr/>
        </p:nvSpPr>
        <p:spPr bwMode="auto">
          <a:xfrm>
            <a:off x="5116513" y="1711325"/>
            <a:ext cx="10001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1</a:t>
            </a:r>
            <a:endParaRPr lang="en-US" sz="1400" i="1"/>
          </a:p>
        </p:txBody>
      </p:sp>
      <p:sp>
        <p:nvSpPr>
          <p:cNvPr id="64564" name="Rectangle 107"/>
          <p:cNvSpPr>
            <a:spLocks noChangeArrowheads="1"/>
          </p:cNvSpPr>
          <p:nvPr/>
        </p:nvSpPr>
        <p:spPr bwMode="auto">
          <a:xfrm>
            <a:off x="5911850" y="15843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sp>
        <p:nvSpPr>
          <p:cNvPr id="64565" name="Rectangle 108"/>
          <p:cNvSpPr>
            <a:spLocks noChangeArrowheads="1"/>
          </p:cNvSpPr>
          <p:nvPr/>
        </p:nvSpPr>
        <p:spPr bwMode="auto">
          <a:xfrm>
            <a:off x="6030913" y="1682750"/>
            <a:ext cx="10001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2</a:t>
            </a:r>
            <a:endParaRPr lang="en-US" sz="1400" i="1"/>
          </a:p>
        </p:txBody>
      </p:sp>
      <p:sp>
        <p:nvSpPr>
          <p:cNvPr id="64566" name="Line 109"/>
          <p:cNvSpPr>
            <a:spLocks noChangeShapeType="1"/>
          </p:cNvSpPr>
          <p:nvPr/>
        </p:nvSpPr>
        <p:spPr bwMode="auto">
          <a:xfrm>
            <a:off x="4427538" y="3738563"/>
            <a:ext cx="401637" cy="0"/>
          </a:xfrm>
          <a:prstGeom prst="line">
            <a:avLst/>
          </a:prstGeom>
          <a:noFill/>
          <a:ln w="41275">
            <a:solidFill>
              <a:srgbClr val="000000"/>
            </a:solidFill>
            <a:miter lim="800000"/>
            <a:headEnd/>
            <a:tailEnd/>
          </a:ln>
        </p:spPr>
        <p:txBody>
          <a:bodyPr/>
          <a:lstStyle/>
          <a:p>
            <a:endParaRPr lang="en-US"/>
          </a:p>
        </p:txBody>
      </p:sp>
      <p:sp>
        <p:nvSpPr>
          <p:cNvPr id="64567" name="Rectangle 110"/>
          <p:cNvSpPr>
            <a:spLocks noChangeArrowheads="1"/>
          </p:cNvSpPr>
          <p:nvPr/>
        </p:nvSpPr>
        <p:spPr bwMode="auto">
          <a:xfrm>
            <a:off x="4551363" y="338931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A</a:t>
            </a:r>
            <a:endParaRPr lang="en-US" sz="1400" i="1"/>
          </a:p>
        </p:txBody>
      </p:sp>
      <p:sp>
        <p:nvSpPr>
          <p:cNvPr id="64568" name="Rectangle 111"/>
          <p:cNvSpPr>
            <a:spLocks noChangeArrowheads="1"/>
          </p:cNvSpPr>
          <p:nvPr/>
        </p:nvSpPr>
        <p:spPr bwMode="auto">
          <a:xfrm>
            <a:off x="5300663" y="351631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C</a:t>
            </a:r>
            <a:endParaRPr lang="en-US" sz="1400" i="1"/>
          </a:p>
        </p:txBody>
      </p:sp>
      <p:sp>
        <p:nvSpPr>
          <p:cNvPr id="64569" name="Rectangle 112"/>
          <p:cNvSpPr>
            <a:spLocks noChangeArrowheads="1"/>
          </p:cNvSpPr>
          <p:nvPr/>
        </p:nvSpPr>
        <p:spPr bwMode="auto">
          <a:xfrm>
            <a:off x="4987925" y="26606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B</a:t>
            </a:r>
            <a:endParaRPr lang="en-US" sz="1400" i="1"/>
          </a:p>
        </p:txBody>
      </p:sp>
      <p:sp>
        <p:nvSpPr>
          <p:cNvPr id="573553" name="Line 113"/>
          <p:cNvSpPr>
            <a:spLocks noChangeShapeType="1"/>
          </p:cNvSpPr>
          <p:nvPr/>
        </p:nvSpPr>
        <p:spPr bwMode="auto">
          <a:xfrm>
            <a:off x="4637088" y="3738563"/>
            <a:ext cx="1009650" cy="550862"/>
          </a:xfrm>
          <a:prstGeom prst="line">
            <a:avLst/>
          </a:prstGeom>
          <a:noFill/>
          <a:ln w="11113">
            <a:solidFill>
              <a:srgbClr val="000000"/>
            </a:solidFill>
            <a:miter lim="800000"/>
            <a:headEnd/>
            <a:tailEnd/>
          </a:ln>
        </p:spPr>
        <p:txBody>
          <a:bodyPr/>
          <a:lstStyle/>
          <a:p>
            <a:endParaRPr lang="en-US"/>
          </a:p>
        </p:txBody>
      </p:sp>
      <p:sp>
        <p:nvSpPr>
          <p:cNvPr id="573554" name="Freeform 114"/>
          <p:cNvSpPr>
            <a:spLocks/>
          </p:cNvSpPr>
          <p:nvPr/>
        </p:nvSpPr>
        <p:spPr bwMode="auto">
          <a:xfrm>
            <a:off x="5588000" y="3729038"/>
            <a:ext cx="1333500" cy="922337"/>
          </a:xfrm>
          <a:custGeom>
            <a:avLst/>
            <a:gdLst>
              <a:gd name="T0" fmla="*/ 2147483647 w 223"/>
              <a:gd name="T1" fmla="*/ 2147483647 h 179"/>
              <a:gd name="T2" fmla="*/ 2147483647 w 223"/>
              <a:gd name="T3" fmla="*/ 2147483647 h 179"/>
              <a:gd name="T4" fmla="*/ 2147483647 w 223"/>
              <a:gd name="T5" fmla="*/ 2147483647 h 179"/>
              <a:gd name="T6" fmla="*/ 0 w 223"/>
              <a:gd name="T7" fmla="*/ 2147483647 h 179"/>
              <a:gd name="T8" fmla="*/ 0 w 223"/>
              <a:gd name="T9" fmla="*/ 2147483647 h 179"/>
              <a:gd name="T10" fmla="*/ 2147483647 w 223"/>
              <a:gd name="T11" fmla="*/ 0 h 179"/>
              <a:gd name="T12" fmla="*/ 2147483647 w 223"/>
              <a:gd name="T13" fmla="*/ 0 h 179"/>
              <a:gd name="T14" fmla="*/ 2147483647 w 223"/>
              <a:gd name="T15" fmla="*/ 2147483647 h 179"/>
              <a:gd name="T16" fmla="*/ 2147483647 w 223"/>
              <a:gd name="T17" fmla="*/ 2147483647 h 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3"/>
              <a:gd name="T28" fmla="*/ 0 h 179"/>
              <a:gd name="T29" fmla="*/ 223 w 223"/>
              <a:gd name="T30" fmla="*/ 179 h 17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3" h="179">
                <a:moveTo>
                  <a:pt x="223" y="156"/>
                </a:moveTo>
                <a:cubicBezTo>
                  <a:pt x="223" y="169"/>
                  <a:pt x="215" y="179"/>
                  <a:pt x="207" y="179"/>
                </a:cubicBezTo>
                <a:cubicBezTo>
                  <a:pt x="16" y="179"/>
                  <a:pt x="16" y="179"/>
                  <a:pt x="16" y="179"/>
                </a:cubicBezTo>
                <a:cubicBezTo>
                  <a:pt x="7" y="179"/>
                  <a:pt x="0" y="169"/>
                  <a:pt x="0" y="156"/>
                </a:cubicBezTo>
                <a:cubicBezTo>
                  <a:pt x="0" y="22"/>
                  <a:pt x="0" y="22"/>
                  <a:pt x="0" y="22"/>
                </a:cubicBezTo>
                <a:cubicBezTo>
                  <a:pt x="0" y="10"/>
                  <a:pt x="7" y="0"/>
                  <a:pt x="16" y="0"/>
                </a:cubicBezTo>
                <a:cubicBezTo>
                  <a:pt x="207" y="0"/>
                  <a:pt x="207" y="0"/>
                  <a:pt x="207" y="0"/>
                </a:cubicBezTo>
                <a:cubicBezTo>
                  <a:pt x="215" y="0"/>
                  <a:pt x="223" y="10"/>
                  <a:pt x="223" y="22"/>
                </a:cubicBezTo>
                <a:lnTo>
                  <a:pt x="223" y="156"/>
                </a:lnTo>
                <a:close/>
              </a:path>
            </a:pathLst>
          </a:custGeom>
          <a:solidFill>
            <a:srgbClr val="D6E2E0"/>
          </a:solidFill>
          <a:ln w="9525">
            <a:noFill/>
            <a:round/>
            <a:headEnd/>
            <a:tailEnd/>
          </a:ln>
        </p:spPr>
        <p:txBody>
          <a:bodyPr/>
          <a:lstStyle/>
          <a:p>
            <a:endParaRPr lang="en-US"/>
          </a:p>
        </p:txBody>
      </p:sp>
      <p:sp>
        <p:nvSpPr>
          <p:cNvPr id="64572" name="Freeform 125"/>
          <p:cNvSpPr>
            <a:spLocks/>
          </p:cNvSpPr>
          <p:nvPr/>
        </p:nvSpPr>
        <p:spPr bwMode="auto">
          <a:xfrm>
            <a:off x="4595813" y="2827338"/>
            <a:ext cx="114300" cy="153987"/>
          </a:xfrm>
          <a:custGeom>
            <a:avLst/>
            <a:gdLst>
              <a:gd name="T0" fmla="*/ 2147483647 w 19"/>
              <a:gd name="T1" fmla="*/ 2147483647 h 30"/>
              <a:gd name="T2" fmla="*/ 2147483647 w 19"/>
              <a:gd name="T3" fmla="*/ 2147483647 h 30"/>
              <a:gd name="T4" fmla="*/ 0 w 19"/>
              <a:gd name="T5" fmla="*/ 2147483647 h 30"/>
              <a:gd name="T6" fmla="*/ 2147483647 w 19"/>
              <a:gd name="T7" fmla="*/ 2147483647 h 30"/>
              <a:gd name="T8" fmla="*/ 2147483647 w 19"/>
              <a:gd name="T9" fmla="*/ 0 h 30"/>
              <a:gd name="T10" fmla="*/ 2147483647 w 19"/>
              <a:gd name="T11" fmla="*/ 2147483647 h 30"/>
              <a:gd name="T12" fmla="*/ 2147483647 w 19"/>
              <a:gd name="T13" fmla="*/ 2147483647 h 30"/>
              <a:gd name="T14" fmla="*/ 2147483647 w 19"/>
              <a:gd name="T15" fmla="*/ 2147483647 h 30"/>
              <a:gd name="T16" fmla="*/ 2147483647 w 19"/>
              <a:gd name="T17" fmla="*/ 214748364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30"/>
              <a:gd name="T29" fmla="*/ 19 w 19"/>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30">
                <a:moveTo>
                  <a:pt x="11" y="22"/>
                </a:moveTo>
                <a:cubicBezTo>
                  <a:pt x="1" y="24"/>
                  <a:pt x="1" y="24"/>
                  <a:pt x="1" y="24"/>
                </a:cubicBezTo>
                <a:cubicBezTo>
                  <a:pt x="0" y="24"/>
                  <a:pt x="0" y="24"/>
                  <a:pt x="0" y="24"/>
                </a:cubicBezTo>
                <a:cubicBezTo>
                  <a:pt x="11" y="13"/>
                  <a:pt x="11" y="13"/>
                  <a:pt x="11" y="13"/>
                </a:cubicBezTo>
                <a:cubicBezTo>
                  <a:pt x="13" y="8"/>
                  <a:pt x="16" y="4"/>
                  <a:pt x="19" y="0"/>
                </a:cubicBezTo>
                <a:cubicBezTo>
                  <a:pt x="18" y="5"/>
                  <a:pt x="17" y="10"/>
                  <a:pt x="17" y="15"/>
                </a:cubicBezTo>
                <a:cubicBezTo>
                  <a:pt x="17" y="30"/>
                  <a:pt x="17" y="30"/>
                  <a:pt x="17" y="30"/>
                </a:cubicBezTo>
                <a:cubicBezTo>
                  <a:pt x="17" y="30"/>
                  <a:pt x="17" y="30"/>
                  <a:pt x="17" y="30"/>
                </a:cubicBezTo>
                <a:lnTo>
                  <a:pt x="11" y="22"/>
                </a:lnTo>
                <a:close/>
              </a:path>
            </a:pathLst>
          </a:custGeom>
          <a:solidFill>
            <a:srgbClr val="000000"/>
          </a:solidFill>
          <a:ln w="9525">
            <a:noFill/>
            <a:round/>
            <a:headEnd/>
            <a:tailEnd/>
          </a:ln>
        </p:spPr>
        <p:txBody>
          <a:bodyPr/>
          <a:lstStyle/>
          <a:p>
            <a:endParaRPr lang="en-US"/>
          </a:p>
        </p:txBody>
      </p:sp>
      <p:sp>
        <p:nvSpPr>
          <p:cNvPr id="64573" name="Freeform 126"/>
          <p:cNvSpPr>
            <a:spLocks/>
          </p:cNvSpPr>
          <p:nvPr/>
        </p:nvSpPr>
        <p:spPr bwMode="auto">
          <a:xfrm>
            <a:off x="4786313" y="3692525"/>
            <a:ext cx="179387" cy="92075"/>
          </a:xfrm>
          <a:custGeom>
            <a:avLst/>
            <a:gdLst>
              <a:gd name="T0" fmla="*/ 2147483647 w 30"/>
              <a:gd name="T1" fmla="*/ 2147483647 h 18"/>
              <a:gd name="T2" fmla="*/ 0 w 30"/>
              <a:gd name="T3" fmla="*/ 0 h 18"/>
              <a:gd name="T4" fmla="*/ 2147483647 w 30"/>
              <a:gd name="T5" fmla="*/ 0 h 18"/>
              <a:gd name="T6" fmla="*/ 2147483647 w 30"/>
              <a:gd name="T7" fmla="*/ 2147483647 h 18"/>
              <a:gd name="T8" fmla="*/ 2147483647 w 30"/>
              <a:gd name="T9" fmla="*/ 2147483647 h 18"/>
              <a:gd name="T10" fmla="*/ 2147483647 w 30"/>
              <a:gd name="T11" fmla="*/ 2147483647 h 18"/>
              <a:gd name="T12" fmla="*/ 2147483647 w 30"/>
              <a:gd name="T13" fmla="*/ 2147483647 h 18"/>
              <a:gd name="T14" fmla="*/ 0 w 30"/>
              <a:gd name="T15" fmla="*/ 2147483647 h 18"/>
              <a:gd name="T16" fmla="*/ 2147483647 w 30"/>
              <a:gd name="T17" fmla="*/ 2147483647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18"/>
              <a:gd name="T29" fmla="*/ 30 w 30"/>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18">
                <a:moveTo>
                  <a:pt x="6" y="9"/>
                </a:moveTo>
                <a:cubicBezTo>
                  <a:pt x="0" y="0"/>
                  <a:pt x="0" y="0"/>
                  <a:pt x="0" y="0"/>
                </a:cubicBezTo>
                <a:cubicBezTo>
                  <a:pt x="1" y="0"/>
                  <a:pt x="1" y="0"/>
                  <a:pt x="1" y="0"/>
                </a:cubicBezTo>
                <a:cubicBezTo>
                  <a:pt x="15" y="6"/>
                  <a:pt x="15" y="6"/>
                  <a:pt x="15" y="6"/>
                </a:cubicBezTo>
                <a:cubicBezTo>
                  <a:pt x="20" y="7"/>
                  <a:pt x="25" y="8"/>
                  <a:pt x="30" y="9"/>
                </a:cubicBezTo>
                <a:cubicBezTo>
                  <a:pt x="25" y="10"/>
                  <a:pt x="20" y="11"/>
                  <a:pt x="15" y="12"/>
                </a:cubicBezTo>
                <a:cubicBezTo>
                  <a:pt x="1" y="18"/>
                  <a:pt x="1" y="18"/>
                  <a:pt x="1" y="18"/>
                </a:cubicBezTo>
                <a:cubicBezTo>
                  <a:pt x="0" y="18"/>
                  <a:pt x="0" y="18"/>
                  <a:pt x="0" y="18"/>
                </a:cubicBezTo>
                <a:lnTo>
                  <a:pt x="6" y="9"/>
                </a:lnTo>
                <a:close/>
              </a:path>
            </a:pathLst>
          </a:custGeom>
          <a:solidFill>
            <a:srgbClr val="000000"/>
          </a:solidFill>
          <a:ln w="9525">
            <a:noFill/>
            <a:round/>
            <a:headEnd/>
            <a:tailEnd/>
          </a:ln>
        </p:spPr>
        <p:txBody>
          <a:bodyPr/>
          <a:lstStyle/>
          <a:p>
            <a:endParaRPr lang="en-US"/>
          </a:p>
        </p:txBody>
      </p:sp>
      <p:sp>
        <p:nvSpPr>
          <p:cNvPr id="64574" name="Freeform 127"/>
          <p:cNvSpPr>
            <a:spLocks/>
          </p:cNvSpPr>
          <p:nvPr/>
        </p:nvSpPr>
        <p:spPr bwMode="auto">
          <a:xfrm>
            <a:off x="4498975" y="3043238"/>
            <a:ext cx="114300" cy="153987"/>
          </a:xfrm>
          <a:custGeom>
            <a:avLst/>
            <a:gdLst>
              <a:gd name="T0" fmla="*/ 2147483647 w 19"/>
              <a:gd name="T1" fmla="*/ 2147483647 h 30"/>
              <a:gd name="T2" fmla="*/ 0 w 19"/>
              <a:gd name="T3" fmla="*/ 2147483647 h 30"/>
              <a:gd name="T4" fmla="*/ 0 w 19"/>
              <a:gd name="T5" fmla="*/ 2147483647 h 30"/>
              <a:gd name="T6" fmla="*/ 2147483647 w 19"/>
              <a:gd name="T7" fmla="*/ 2147483647 h 30"/>
              <a:gd name="T8" fmla="*/ 2147483647 w 19"/>
              <a:gd name="T9" fmla="*/ 0 h 30"/>
              <a:gd name="T10" fmla="*/ 2147483647 w 19"/>
              <a:gd name="T11" fmla="*/ 2147483647 h 30"/>
              <a:gd name="T12" fmla="*/ 2147483647 w 19"/>
              <a:gd name="T13" fmla="*/ 2147483647 h 30"/>
              <a:gd name="T14" fmla="*/ 2147483647 w 19"/>
              <a:gd name="T15" fmla="*/ 2147483647 h 30"/>
              <a:gd name="T16" fmla="*/ 2147483647 w 19"/>
              <a:gd name="T17" fmla="*/ 214748364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30"/>
              <a:gd name="T29" fmla="*/ 19 w 19"/>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30">
                <a:moveTo>
                  <a:pt x="10" y="21"/>
                </a:moveTo>
                <a:cubicBezTo>
                  <a:pt x="0" y="23"/>
                  <a:pt x="0" y="23"/>
                  <a:pt x="0" y="23"/>
                </a:cubicBezTo>
                <a:cubicBezTo>
                  <a:pt x="0" y="22"/>
                  <a:pt x="0" y="22"/>
                  <a:pt x="0" y="22"/>
                </a:cubicBezTo>
                <a:cubicBezTo>
                  <a:pt x="10" y="12"/>
                  <a:pt x="10" y="12"/>
                  <a:pt x="10" y="12"/>
                </a:cubicBezTo>
                <a:cubicBezTo>
                  <a:pt x="13" y="8"/>
                  <a:pt x="16" y="4"/>
                  <a:pt x="19" y="0"/>
                </a:cubicBezTo>
                <a:cubicBezTo>
                  <a:pt x="18" y="4"/>
                  <a:pt x="17" y="9"/>
                  <a:pt x="16" y="14"/>
                </a:cubicBezTo>
                <a:cubicBezTo>
                  <a:pt x="16" y="29"/>
                  <a:pt x="16" y="29"/>
                  <a:pt x="16" y="29"/>
                </a:cubicBezTo>
                <a:cubicBezTo>
                  <a:pt x="15" y="30"/>
                  <a:pt x="15" y="30"/>
                  <a:pt x="15" y="30"/>
                </a:cubicBezTo>
                <a:lnTo>
                  <a:pt x="10" y="21"/>
                </a:lnTo>
                <a:close/>
              </a:path>
            </a:pathLst>
          </a:custGeom>
          <a:solidFill>
            <a:srgbClr val="000000"/>
          </a:solidFill>
          <a:ln w="9525">
            <a:noFill/>
            <a:round/>
            <a:headEnd/>
            <a:tailEnd/>
          </a:ln>
        </p:spPr>
        <p:txBody>
          <a:bodyPr/>
          <a:lstStyle/>
          <a:p>
            <a:endParaRPr lang="en-US"/>
          </a:p>
        </p:txBody>
      </p:sp>
      <p:sp>
        <p:nvSpPr>
          <p:cNvPr id="64575" name="Freeform 128"/>
          <p:cNvSpPr>
            <a:spLocks/>
          </p:cNvSpPr>
          <p:nvPr/>
        </p:nvSpPr>
        <p:spPr bwMode="auto">
          <a:xfrm>
            <a:off x="4373563" y="3249613"/>
            <a:ext cx="133350" cy="153987"/>
          </a:xfrm>
          <a:custGeom>
            <a:avLst/>
            <a:gdLst>
              <a:gd name="T0" fmla="*/ 2147483647 w 22"/>
              <a:gd name="T1" fmla="*/ 2147483647 h 30"/>
              <a:gd name="T2" fmla="*/ 2147483647 w 22"/>
              <a:gd name="T3" fmla="*/ 2147483647 h 30"/>
              <a:gd name="T4" fmla="*/ 0 w 22"/>
              <a:gd name="T5" fmla="*/ 2147483647 h 30"/>
              <a:gd name="T6" fmla="*/ 2147483647 w 22"/>
              <a:gd name="T7" fmla="*/ 2147483647 h 30"/>
              <a:gd name="T8" fmla="*/ 2147483647 w 22"/>
              <a:gd name="T9" fmla="*/ 0 h 30"/>
              <a:gd name="T10" fmla="*/ 2147483647 w 22"/>
              <a:gd name="T11" fmla="*/ 2147483647 h 30"/>
              <a:gd name="T12" fmla="*/ 2147483647 w 22"/>
              <a:gd name="T13" fmla="*/ 2147483647 h 30"/>
              <a:gd name="T14" fmla="*/ 2147483647 w 22"/>
              <a:gd name="T15" fmla="*/ 2147483647 h 30"/>
              <a:gd name="T16" fmla="*/ 2147483647 w 22"/>
              <a:gd name="T17" fmla="*/ 214748364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30"/>
              <a:gd name="T29" fmla="*/ 22 w 22"/>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30">
                <a:moveTo>
                  <a:pt x="11" y="21"/>
                </a:moveTo>
                <a:cubicBezTo>
                  <a:pt x="1" y="22"/>
                  <a:pt x="1" y="22"/>
                  <a:pt x="1" y="22"/>
                </a:cubicBezTo>
                <a:cubicBezTo>
                  <a:pt x="0" y="21"/>
                  <a:pt x="0" y="21"/>
                  <a:pt x="0" y="21"/>
                </a:cubicBezTo>
                <a:cubicBezTo>
                  <a:pt x="12" y="12"/>
                  <a:pt x="12" y="12"/>
                  <a:pt x="12" y="12"/>
                </a:cubicBezTo>
                <a:cubicBezTo>
                  <a:pt x="15" y="8"/>
                  <a:pt x="19" y="4"/>
                  <a:pt x="22" y="0"/>
                </a:cubicBezTo>
                <a:cubicBezTo>
                  <a:pt x="20" y="5"/>
                  <a:pt x="19" y="10"/>
                  <a:pt x="18" y="15"/>
                </a:cubicBezTo>
                <a:cubicBezTo>
                  <a:pt x="16" y="30"/>
                  <a:pt x="16" y="30"/>
                  <a:pt x="16" y="30"/>
                </a:cubicBezTo>
                <a:cubicBezTo>
                  <a:pt x="16" y="30"/>
                  <a:pt x="16" y="30"/>
                  <a:pt x="16" y="30"/>
                </a:cubicBezTo>
                <a:lnTo>
                  <a:pt x="11" y="21"/>
                </a:lnTo>
                <a:close/>
              </a:path>
            </a:pathLst>
          </a:custGeom>
          <a:solidFill>
            <a:srgbClr val="000000"/>
          </a:solidFill>
          <a:ln w="9525">
            <a:noFill/>
            <a:round/>
            <a:headEnd/>
            <a:tailEnd/>
          </a:ln>
        </p:spPr>
        <p:txBody>
          <a:bodyPr/>
          <a:lstStyle/>
          <a:p>
            <a:endParaRPr lang="en-US"/>
          </a:p>
        </p:txBody>
      </p:sp>
      <p:sp>
        <p:nvSpPr>
          <p:cNvPr id="64576" name="Oval 129"/>
          <p:cNvSpPr>
            <a:spLocks noChangeArrowheads="1"/>
          </p:cNvSpPr>
          <p:nvPr/>
        </p:nvSpPr>
        <p:spPr bwMode="auto">
          <a:xfrm>
            <a:off x="4872038" y="3609975"/>
            <a:ext cx="39687" cy="41275"/>
          </a:xfrm>
          <a:prstGeom prst="ellipse">
            <a:avLst/>
          </a:prstGeom>
          <a:solidFill>
            <a:srgbClr val="FFFFFF"/>
          </a:solidFill>
          <a:ln w="9525">
            <a:noFill/>
            <a:round/>
            <a:headEnd/>
            <a:tailEnd/>
          </a:ln>
        </p:spPr>
        <p:txBody>
          <a:bodyPr/>
          <a:lstStyle/>
          <a:p>
            <a:endParaRPr lang="en-US"/>
          </a:p>
        </p:txBody>
      </p:sp>
      <p:sp>
        <p:nvSpPr>
          <p:cNvPr id="64577" name="TextBox 29"/>
          <p:cNvSpPr txBox="1">
            <a:spLocks noChangeArrowheads="1"/>
          </p:cNvSpPr>
          <p:nvPr/>
        </p:nvSpPr>
        <p:spPr bwMode="auto">
          <a:xfrm>
            <a:off x="914400" y="990600"/>
            <a:ext cx="1327150" cy="523875"/>
          </a:xfrm>
          <a:prstGeom prst="rect">
            <a:avLst/>
          </a:prstGeom>
          <a:noFill/>
          <a:ln w="9525">
            <a:noFill/>
            <a:miter lim="800000"/>
            <a:headEnd/>
            <a:tailEnd/>
          </a:ln>
        </p:spPr>
        <p:txBody>
          <a:bodyPr>
            <a:spAutoFit/>
          </a:bodyPr>
          <a:lstStyle/>
          <a:p>
            <a:pPr algn="ctr"/>
            <a:r>
              <a:rPr lang="en-US" sz="1400" b="1"/>
              <a:t>Price of cotton (per pound)</a:t>
            </a:r>
          </a:p>
        </p:txBody>
      </p:sp>
      <p:sp>
        <p:nvSpPr>
          <p:cNvPr id="64578" name="TextBox 30"/>
          <p:cNvSpPr txBox="1">
            <a:spLocks noChangeArrowheads="1"/>
          </p:cNvSpPr>
          <p:nvPr/>
        </p:nvSpPr>
        <p:spPr bwMode="auto">
          <a:xfrm>
            <a:off x="5246688" y="5157788"/>
            <a:ext cx="2300287" cy="522287"/>
          </a:xfrm>
          <a:prstGeom prst="rect">
            <a:avLst/>
          </a:prstGeom>
          <a:noFill/>
          <a:ln w="9525">
            <a:noFill/>
            <a:miter lim="800000"/>
            <a:headEnd/>
            <a:tailEnd/>
          </a:ln>
        </p:spPr>
        <p:txBody>
          <a:bodyPr>
            <a:spAutoFit/>
          </a:bodyPr>
          <a:lstStyle/>
          <a:p>
            <a:pPr algn="ctr"/>
            <a:r>
              <a:rPr lang="en-US" sz="1400" b="1"/>
              <a:t>Quantity of cotton (billions of pounds)</a:t>
            </a:r>
          </a:p>
        </p:txBody>
      </p:sp>
      <p:sp>
        <p:nvSpPr>
          <p:cNvPr id="573576" name="TextBox 56"/>
          <p:cNvSpPr txBox="1">
            <a:spLocks noChangeArrowheads="1"/>
          </p:cNvSpPr>
          <p:nvPr/>
        </p:nvSpPr>
        <p:spPr bwMode="auto">
          <a:xfrm>
            <a:off x="5638800" y="3716338"/>
            <a:ext cx="1327150" cy="954087"/>
          </a:xfrm>
          <a:prstGeom prst="rect">
            <a:avLst/>
          </a:prstGeom>
          <a:noFill/>
          <a:ln w="9525">
            <a:noFill/>
            <a:miter lim="800000"/>
            <a:headEnd/>
            <a:tailEnd/>
          </a:ln>
        </p:spPr>
        <p:txBody>
          <a:bodyPr>
            <a:spAutoFit/>
          </a:bodyPr>
          <a:lstStyle/>
          <a:p>
            <a:pPr algn="ctr"/>
            <a:r>
              <a:rPr lang="en-US" sz="1400" i="1"/>
              <a:t>… is not the same thing as a shift of the supply curve</a:t>
            </a:r>
          </a:p>
        </p:txBody>
      </p:sp>
      <p:sp>
        <p:nvSpPr>
          <p:cNvPr id="573577" name="TextBox 56"/>
          <p:cNvSpPr txBox="1">
            <a:spLocks noChangeArrowheads="1"/>
          </p:cNvSpPr>
          <p:nvPr/>
        </p:nvSpPr>
        <p:spPr bwMode="auto">
          <a:xfrm>
            <a:off x="3124200" y="1752600"/>
            <a:ext cx="1590675" cy="523875"/>
          </a:xfrm>
          <a:prstGeom prst="rect">
            <a:avLst/>
          </a:prstGeom>
          <a:noFill/>
          <a:ln w="9525">
            <a:noFill/>
            <a:miter lim="800000"/>
            <a:headEnd/>
            <a:tailEnd/>
          </a:ln>
        </p:spPr>
        <p:txBody>
          <a:bodyPr>
            <a:spAutoFit/>
          </a:bodyPr>
          <a:lstStyle/>
          <a:p>
            <a:pPr algn="ctr"/>
            <a:r>
              <a:rPr lang="en-US" sz="1400" i="1">
                <a:cs typeface="Arial" charset="0"/>
              </a:rPr>
              <a:t>A movement along the supply curve…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43">
                                            <p:bg/>
                                          </p:spTgt>
                                        </p:tgtEl>
                                        <p:attrNameLst>
                                          <p:attrName>style.visibility</p:attrName>
                                        </p:attrNameLst>
                                      </p:cBhvr>
                                      <p:to>
                                        <p:strVal val="visible"/>
                                      </p:to>
                                    </p:set>
                                    <p:animEffect transition="in" filter="wipe(left)">
                                      <p:cBhvr>
                                        <p:cTn id="7" dur="500"/>
                                        <p:tgtEl>
                                          <p:spTgt spid="57344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73443">
                                            <p:txEl>
                                              <p:pRg st="0" end="0"/>
                                            </p:txEl>
                                          </p:spTgt>
                                        </p:tgtEl>
                                        <p:attrNameLst>
                                          <p:attrName>style.visibility</p:attrName>
                                        </p:attrNameLst>
                                      </p:cBhvr>
                                      <p:to>
                                        <p:strVal val="visible"/>
                                      </p:to>
                                    </p:set>
                                    <p:animEffect transition="in" filter="wipe(left)">
                                      <p:cBhvr>
                                        <p:cTn id="10" dur="500"/>
                                        <p:tgtEl>
                                          <p:spTgt spid="57344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573523"/>
                                        </p:tgtEl>
                                        <p:attrNameLst>
                                          <p:attrName>style.visibility</p:attrName>
                                        </p:attrNameLst>
                                      </p:cBhvr>
                                      <p:to>
                                        <p:strVal val="visible"/>
                                      </p:to>
                                    </p:set>
                                    <p:animEffect transition="in" filter="wipe(down)">
                                      <p:cBhvr>
                                        <p:cTn id="15" dur="500"/>
                                        <p:tgtEl>
                                          <p:spTgt spid="573523"/>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573577"/>
                                        </p:tgtEl>
                                        <p:attrNameLst>
                                          <p:attrName>style.visibility</p:attrName>
                                        </p:attrNameLst>
                                      </p:cBhvr>
                                      <p:to>
                                        <p:strVal val="visible"/>
                                      </p:to>
                                    </p:set>
                                    <p:animEffect transition="in" filter="wipe(right)">
                                      <p:cBhvr>
                                        <p:cTn id="18" dur="500"/>
                                        <p:tgtEl>
                                          <p:spTgt spid="573577"/>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573522"/>
                                        </p:tgtEl>
                                        <p:attrNameLst>
                                          <p:attrName>style.visibility</p:attrName>
                                        </p:attrNameLst>
                                      </p:cBhvr>
                                      <p:to>
                                        <p:strVal val="visible"/>
                                      </p:to>
                                    </p:set>
                                    <p:animEffect transition="in" filter="wipe(right)">
                                      <p:cBhvr>
                                        <p:cTn id="21" dur="500"/>
                                        <p:tgtEl>
                                          <p:spTgt spid="57352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573554"/>
                                        </p:tgtEl>
                                        <p:attrNameLst>
                                          <p:attrName>style.visibility</p:attrName>
                                        </p:attrNameLst>
                                      </p:cBhvr>
                                      <p:to>
                                        <p:strVal val="visible"/>
                                      </p:to>
                                    </p:set>
                                    <p:animEffect transition="in" filter="wipe(up)">
                                      <p:cBhvr>
                                        <p:cTn id="26" dur="500"/>
                                        <p:tgtEl>
                                          <p:spTgt spid="573554"/>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573553"/>
                                        </p:tgtEl>
                                        <p:attrNameLst>
                                          <p:attrName>style.visibility</p:attrName>
                                        </p:attrNameLst>
                                      </p:cBhvr>
                                      <p:to>
                                        <p:strVal val="visible"/>
                                      </p:to>
                                    </p:set>
                                    <p:animEffect transition="in" filter="wipe(left)">
                                      <p:cBhvr>
                                        <p:cTn id="29" dur="500"/>
                                        <p:tgtEl>
                                          <p:spTgt spid="573553"/>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573576"/>
                                        </p:tgtEl>
                                        <p:attrNameLst>
                                          <p:attrName>style.visibility</p:attrName>
                                        </p:attrNameLst>
                                      </p:cBhvr>
                                      <p:to>
                                        <p:strVal val="visible"/>
                                      </p:to>
                                    </p:set>
                                    <p:animEffect transition="in" filter="wipe(left)">
                                      <p:cBhvr>
                                        <p:cTn id="32" dur="500"/>
                                        <p:tgtEl>
                                          <p:spTgt spid="5735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3" grpId="0" build="p" animBg="1"/>
      <p:bldP spid="573522" grpId="0" animBg="1"/>
      <p:bldP spid="573523" grpId="0" animBg="1"/>
      <p:bldP spid="573553" grpId="0" animBg="1"/>
      <p:bldP spid="573554" grpId="0" animBg="1"/>
      <p:bldP spid="573576" grpId="0"/>
      <p:bldP spid="573577"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9106" name="Rectangle 2"/>
          <p:cNvSpPr>
            <a:spLocks noChangeAspect="1" noChangeArrowheads="1"/>
          </p:cNvSpPr>
          <p:nvPr/>
        </p:nvSpPr>
        <p:spPr bwMode="auto">
          <a:xfrm>
            <a:off x="5715000" y="981075"/>
            <a:ext cx="3335338" cy="3152775"/>
          </a:xfrm>
          <a:prstGeom prst="rect">
            <a:avLst/>
          </a:prstGeom>
          <a:solidFill>
            <a:schemeClr val="accent5">
              <a:lumMod val="20000"/>
              <a:lumOff val="80000"/>
            </a:schemeClr>
          </a:solidFill>
          <a:ln w="38100" algn="ctr">
            <a:noFill/>
            <a:miter lim="800000"/>
            <a:headEnd/>
            <a:tailEnd type="none" w="med" len="lg"/>
          </a:ln>
          <a:effectLst/>
        </p:spPr>
        <p:txBody>
          <a:bodyPr/>
          <a:lstStyle/>
          <a:p>
            <a:pPr marL="115888" lvl="1" algn="ctr">
              <a:spcBef>
                <a:spcPct val="20000"/>
              </a:spcBef>
              <a:buClr>
                <a:schemeClr val="tx1"/>
              </a:buClr>
              <a:defRPr/>
            </a:pPr>
            <a:r>
              <a:rPr lang="en-US" sz="2400" dirty="0"/>
              <a:t>Any “</a:t>
            </a:r>
            <a:r>
              <a:rPr lang="en-US" sz="2400" b="1" dirty="0"/>
              <a:t>increase in supply</a:t>
            </a:r>
            <a:r>
              <a:rPr lang="en-US" sz="2400" dirty="0"/>
              <a:t>” means a </a:t>
            </a:r>
            <a:r>
              <a:rPr lang="en-US" sz="2400" i="1" dirty="0"/>
              <a:t>right</a:t>
            </a:r>
            <a:r>
              <a:rPr lang="en-US" sz="2400" dirty="0"/>
              <a:t>ward shift of the supply curve: </a:t>
            </a:r>
            <a:br>
              <a:rPr lang="en-US" sz="2400" dirty="0"/>
            </a:br>
            <a:r>
              <a:rPr lang="en-US" sz="2400" dirty="0"/>
              <a:t>at any given price, there is an increase in the quantity supplied. </a:t>
            </a:r>
            <a:br>
              <a:rPr lang="en-US" sz="2400" dirty="0"/>
            </a:br>
            <a:r>
              <a:rPr lang="en-US" sz="2400" dirty="0"/>
              <a:t>(S1</a:t>
            </a:r>
            <a:r>
              <a:rPr lang="en-US" sz="2400" dirty="0">
                <a:sym typeface="Wingdings" pitchFamily="2" charset="2"/>
              </a:rPr>
              <a:t></a:t>
            </a:r>
            <a:r>
              <a:rPr lang="en-US" sz="2400" dirty="0"/>
              <a:t> S2)</a:t>
            </a:r>
          </a:p>
        </p:txBody>
      </p:sp>
      <p:sp>
        <p:nvSpPr>
          <p:cNvPr id="559107" name="Rectangle 3"/>
          <p:cNvSpPr>
            <a:spLocks noGrp="1" noRot="1" noChangeArrowheads="1"/>
          </p:cNvSpPr>
          <p:nvPr>
            <p:ph type="title"/>
          </p:nvPr>
        </p:nvSpPr>
        <p:spPr>
          <a:xfrm>
            <a:off x="900113" y="60325"/>
            <a:ext cx="8064500" cy="555625"/>
          </a:xfrm>
        </p:spPr>
        <p:txBody>
          <a:bodyPr/>
          <a:lstStyle/>
          <a:p>
            <a:pPr>
              <a:defRPr/>
            </a:pPr>
            <a:r>
              <a:rPr lang="en-US" dirty="0"/>
              <a:t>Shifts of the Supply Curve</a:t>
            </a:r>
          </a:p>
        </p:txBody>
      </p:sp>
      <p:sp>
        <p:nvSpPr>
          <p:cNvPr id="66563" name="AutoShape 21"/>
          <p:cNvSpPr>
            <a:spLocks noChangeAspect="1" noChangeArrowheads="1" noTextEdit="1"/>
          </p:cNvSpPr>
          <p:nvPr/>
        </p:nvSpPr>
        <p:spPr bwMode="auto">
          <a:xfrm>
            <a:off x="304800" y="1447800"/>
            <a:ext cx="5410200" cy="4629150"/>
          </a:xfrm>
          <a:prstGeom prst="rect">
            <a:avLst/>
          </a:prstGeom>
          <a:noFill/>
          <a:ln w="9525">
            <a:noFill/>
            <a:miter lim="800000"/>
            <a:headEnd/>
            <a:tailEnd/>
          </a:ln>
        </p:spPr>
        <p:txBody>
          <a:bodyPr/>
          <a:lstStyle/>
          <a:p>
            <a:endParaRPr lang="en-US"/>
          </a:p>
        </p:txBody>
      </p:sp>
      <p:sp>
        <p:nvSpPr>
          <p:cNvPr id="66564" name="Freeform 34"/>
          <p:cNvSpPr>
            <a:spLocks/>
          </p:cNvSpPr>
          <p:nvPr/>
        </p:nvSpPr>
        <p:spPr bwMode="auto">
          <a:xfrm>
            <a:off x="1063625" y="1773238"/>
            <a:ext cx="4803775" cy="4013200"/>
          </a:xfrm>
          <a:custGeom>
            <a:avLst/>
            <a:gdLst>
              <a:gd name="T0" fmla="*/ 2147483647 w 3068"/>
              <a:gd name="T1" fmla="*/ 2147483647 h 2722"/>
              <a:gd name="T2" fmla="*/ 0 w 3068"/>
              <a:gd name="T3" fmla="*/ 2147483647 h 2722"/>
              <a:gd name="T4" fmla="*/ 0 w 3068"/>
              <a:gd name="T5" fmla="*/ 0 h 2722"/>
              <a:gd name="T6" fmla="*/ 0 60000 65536"/>
              <a:gd name="T7" fmla="*/ 0 60000 65536"/>
              <a:gd name="T8" fmla="*/ 0 60000 65536"/>
              <a:gd name="T9" fmla="*/ 0 w 3068"/>
              <a:gd name="T10" fmla="*/ 0 h 2722"/>
              <a:gd name="T11" fmla="*/ 3068 w 3068"/>
              <a:gd name="T12" fmla="*/ 2722 h 2722"/>
            </a:gdLst>
            <a:ahLst/>
            <a:cxnLst>
              <a:cxn ang="T6">
                <a:pos x="T0" y="T1"/>
              </a:cxn>
              <a:cxn ang="T7">
                <a:pos x="T2" y="T3"/>
              </a:cxn>
              <a:cxn ang="T8">
                <a:pos x="T4" y="T5"/>
              </a:cxn>
            </a:cxnLst>
            <a:rect l="T9" t="T10" r="T11" b="T12"/>
            <a:pathLst>
              <a:path w="3068" h="2722">
                <a:moveTo>
                  <a:pt x="3068" y="2722"/>
                </a:moveTo>
                <a:lnTo>
                  <a:pt x="0" y="2722"/>
                </a:lnTo>
                <a:lnTo>
                  <a:pt x="0" y="0"/>
                </a:lnTo>
              </a:path>
            </a:pathLst>
          </a:custGeom>
          <a:noFill/>
          <a:ln w="12700" cap="flat">
            <a:solidFill>
              <a:srgbClr val="000000"/>
            </a:solidFill>
            <a:prstDash val="solid"/>
            <a:miter lim="800000"/>
            <a:headEnd/>
            <a:tailEnd/>
          </a:ln>
        </p:spPr>
        <p:txBody>
          <a:bodyPr/>
          <a:lstStyle/>
          <a:p>
            <a:endParaRPr lang="en-US"/>
          </a:p>
        </p:txBody>
      </p:sp>
      <p:sp>
        <p:nvSpPr>
          <p:cNvPr id="559139" name="Line 35"/>
          <p:cNvSpPr>
            <a:spLocks noChangeShapeType="1"/>
          </p:cNvSpPr>
          <p:nvPr/>
        </p:nvSpPr>
        <p:spPr bwMode="auto">
          <a:xfrm flipH="1">
            <a:off x="4013200" y="2219325"/>
            <a:ext cx="1363663" cy="2819400"/>
          </a:xfrm>
          <a:prstGeom prst="line">
            <a:avLst/>
          </a:prstGeom>
          <a:noFill/>
          <a:ln w="47625">
            <a:solidFill>
              <a:srgbClr val="EE313C"/>
            </a:solidFill>
            <a:miter lim="800000"/>
            <a:headEnd/>
            <a:tailEnd/>
          </a:ln>
        </p:spPr>
        <p:txBody>
          <a:bodyPr/>
          <a:lstStyle/>
          <a:p>
            <a:endParaRPr lang="en-US"/>
          </a:p>
        </p:txBody>
      </p:sp>
      <p:sp>
        <p:nvSpPr>
          <p:cNvPr id="66566" name="Line 36"/>
          <p:cNvSpPr>
            <a:spLocks noChangeShapeType="1"/>
          </p:cNvSpPr>
          <p:nvPr/>
        </p:nvSpPr>
        <p:spPr bwMode="auto">
          <a:xfrm flipH="1">
            <a:off x="2565400" y="2219325"/>
            <a:ext cx="1363663" cy="2819400"/>
          </a:xfrm>
          <a:prstGeom prst="line">
            <a:avLst/>
          </a:prstGeom>
          <a:noFill/>
          <a:ln w="47625">
            <a:solidFill>
              <a:srgbClr val="FAC0BF"/>
            </a:solidFill>
            <a:miter lim="800000"/>
            <a:headEnd/>
            <a:tailEnd/>
          </a:ln>
        </p:spPr>
        <p:txBody>
          <a:bodyPr/>
          <a:lstStyle/>
          <a:p>
            <a:endParaRPr lang="en-US"/>
          </a:p>
        </p:txBody>
      </p:sp>
      <p:sp>
        <p:nvSpPr>
          <p:cNvPr id="559141" name="Line 37"/>
          <p:cNvSpPr>
            <a:spLocks noChangeShapeType="1"/>
          </p:cNvSpPr>
          <p:nvPr/>
        </p:nvSpPr>
        <p:spPr bwMode="auto">
          <a:xfrm flipH="1">
            <a:off x="1117600" y="2219325"/>
            <a:ext cx="1365250" cy="2819400"/>
          </a:xfrm>
          <a:prstGeom prst="line">
            <a:avLst/>
          </a:prstGeom>
          <a:noFill/>
          <a:ln w="47625">
            <a:solidFill>
              <a:srgbClr val="EE313C"/>
            </a:solidFill>
            <a:miter lim="800000"/>
            <a:headEnd/>
            <a:tailEnd/>
          </a:ln>
        </p:spPr>
        <p:txBody>
          <a:bodyPr/>
          <a:lstStyle/>
          <a:p>
            <a:endParaRPr lang="en-US"/>
          </a:p>
        </p:txBody>
      </p:sp>
      <p:sp>
        <p:nvSpPr>
          <p:cNvPr id="559142" name="Rectangle 38"/>
          <p:cNvSpPr>
            <a:spLocks noChangeArrowheads="1"/>
          </p:cNvSpPr>
          <p:nvPr/>
        </p:nvSpPr>
        <p:spPr bwMode="auto">
          <a:xfrm>
            <a:off x="2439988" y="19065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sp>
        <p:nvSpPr>
          <p:cNvPr id="559143" name="Rectangle 39"/>
          <p:cNvSpPr>
            <a:spLocks noChangeArrowheads="1"/>
          </p:cNvSpPr>
          <p:nvPr/>
        </p:nvSpPr>
        <p:spPr bwMode="auto">
          <a:xfrm>
            <a:off x="2549525" y="2016125"/>
            <a:ext cx="10001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3</a:t>
            </a:r>
            <a:endParaRPr lang="en-US" sz="1400" i="1"/>
          </a:p>
        </p:txBody>
      </p:sp>
      <p:sp>
        <p:nvSpPr>
          <p:cNvPr id="66570" name="Rectangle 40"/>
          <p:cNvSpPr>
            <a:spLocks noChangeArrowheads="1"/>
          </p:cNvSpPr>
          <p:nvPr/>
        </p:nvSpPr>
        <p:spPr bwMode="auto">
          <a:xfrm>
            <a:off x="3879850" y="19065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sp>
        <p:nvSpPr>
          <p:cNvPr id="66571" name="Rectangle 41"/>
          <p:cNvSpPr>
            <a:spLocks noChangeArrowheads="1"/>
          </p:cNvSpPr>
          <p:nvPr/>
        </p:nvSpPr>
        <p:spPr bwMode="auto">
          <a:xfrm>
            <a:off x="3990975" y="2016125"/>
            <a:ext cx="10001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1</a:t>
            </a:r>
            <a:endParaRPr lang="en-US" sz="1400" i="1"/>
          </a:p>
        </p:txBody>
      </p:sp>
      <p:sp>
        <p:nvSpPr>
          <p:cNvPr id="559146" name="Rectangle 42"/>
          <p:cNvSpPr>
            <a:spLocks noChangeArrowheads="1"/>
          </p:cNvSpPr>
          <p:nvPr/>
        </p:nvSpPr>
        <p:spPr bwMode="auto">
          <a:xfrm>
            <a:off x="5321300" y="19065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sp>
        <p:nvSpPr>
          <p:cNvPr id="559147" name="Rectangle 43"/>
          <p:cNvSpPr>
            <a:spLocks noChangeArrowheads="1"/>
          </p:cNvSpPr>
          <p:nvPr/>
        </p:nvSpPr>
        <p:spPr bwMode="auto">
          <a:xfrm>
            <a:off x="5430838" y="2016125"/>
            <a:ext cx="10001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2</a:t>
            </a:r>
            <a:endParaRPr lang="en-US" sz="1400" i="1"/>
          </a:p>
        </p:txBody>
      </p:sp>
      <p:sp>
        <p:nvSpPr>
          <p:cNvPr id="559148" name="Line 44"/>
          <p:cNvSpPr>
            <a:spLocks noChangeShapeType="1"/>
          </p:cNvSpPr>
          <p:nvPr/>
        </p:nvSpPr>
        <p:spPr bwMode="auto">
          <a:xfrm>
            <a:off x="3757613" y="3157538"/>
            <a:ext cx="931862" cy="0"/>
          </a:xfrm>
          <a:prstGeom prst="line">
            <a:avLst/>
          </a:prstGeom>
          <a:noFill/>
          <a:ln w="47625">
            <a:solidFill>
              <a:srgbClr val="000000"/>
            </a:solidFill>
            <a:miter lim="800000"/>
            <a:headEnd/>
            <a:tailEnd/>
          </a:ln>
        </p:spPr>
        <p:txBody>
          <a:bodyPr/>
          <a:lstStyle/>
          <a:p>
            <a:endParaRPr lang="en-US"/>
          </a:p>
        </p:txBody>
      </p:sp>
      <p:sp>
        <p:nvSpPr>
          <p:cNvPr id="559149" name="Freeform 45"/>
          <p:cNvSpPr>
            <a:spLocks/>
          </p:cNvSpPr>
          <p:nvPr/>
        </p:nvSpPr>
        <p:spPr bwMode="auto">
          <a:xfrm>
            <a:off x="4641850" y="3103563"/>
            <a:ext cx="171450" cy="106362"/>
          </a:xfrm>
          <a:custGeom>
            <a:avLst/>
            <a:gdLst>
              <a:gd name="T0" fmla="*/ 2147483647 w 29"/>
              <a:gd name="T1" fmla="*/ 2147483647 h 18"/>
              <a:gd name="T2" fmla="*/ 0 w 29"/>
              <a:gd name="T3" fmla="*/ 2147483647 h 18"/>
              <a:gd name="T4" fmla="*/ 0 w 29"/>
              <a:gd name="T5" fmla="*/ 0 h 18"/>
              <a:gd name="T6" fmla="*/ 2147483647 w 29"/>
              <a:gd name="T7" fmla="*/ 2147483647 h 18"/>
              <a:gd name="T8" fmla="*/ 2147483647 w 29"/>
              <a:gd name="T9" fmla="*/ 2147483647 h 18"/>
              <a:gd name="T10" fmla="*/ 2147483647 w 29"/>
              <a:gd name="T11" fmla="*/ 2147483647 h 18"/>
              <a:gd name="T12" fmla="*/ 0 w 29"/>
              <a:gd name="T13" fmla="*/ 2147483647 h 18"/>
              <a:gd name="T14" fmla="*/ 0 w 29"/>
              <a:gd name="T15" fmla="*/ 2147483647 h 18"/>
              <a:gd name="T16" fmla="*/ 2147483647 w 29"/>
              <a:gd name="T17" fmla="*/ 2147483647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
              <a:gd name="T28" fmla="*/ 0 h 18"/>
              <a:gd name="T29" fmla="*/ 29 w 29"/>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 h="18">
                <a:moveTo>
                  <a:pt x="5" y="9"/>
                </a:moveTo>
                <a:cubicBezTo>
                  <a:pt x="0" y="1"/>
                  <a:pt x="0" y="1"/>
                  <a:pt x="0" y="1"/>
                </a:cubicBezTo>
                <a:cubicBezTo>
                  <a:pt x="0" y="0"/>
                  <a:pt x="0" y="0"/>
                  <a:pt x="0" y="0"/>
                </a:cubicBezTo>
                <a:cubicBezTo>
                  <a:pt x="14" y="6"/>
                  <a:pt x="14" y="6"/>
                  <a:pt x="14" y="6"/>
                </a:cubicBezTo>
                <a:cubicBezTo>
                  <a:pt x="19" y="7"/>
                  <a:pt x="24" y="8"/>
                  <a:pt x="29" y="9"/>
                </a:cubicBezTo>
                <a:cubicBezTo>
                  <a:pt x="24" y="10"/>
                  <a:pt x="19" y="11"/>
                  <a:pt x="14" y="12"/>
                </a:cubicBezTo>
                <a:cubicBezTo>
                  <a:pt x="0" y="18"/>
                  <a:pt x="0" y="18"/>
                  <a:pt x="0" y="18"/>
                </a:cubicBezTo>
                <a:cubicBezTo>
                  <a:pt x="0" y="18"/>
                  <a:pt x="0" y="18"/>
                  <a:pt x="0" y="18"/>
                </a:cubicBezTo>
                <a:lnTo>
                  <a:pt x="5" y="9"/>
                </a:lnTo>
                <a:close/>
              </a:path>
            </a:pathLst>
          </a:custGeom>
          <a:solidFill>
            <a:srgbClr val="000000"/>
          </a:solidFill>
          <a:ln w="9525">
            <a:noFill/>
            <a:round/>
            <a:headEnd/>
            <a:tailEnd/>
          </a:ln>
        </p:spPr>
        <p:txBody>
          <a:bodyPr/>
          <a:lstStyle/>
          <a:p>
            <a:endParaRPr lang="en-US"/>
          </a:p>
        </p:txBody>
      </p:sp>
      <p:sp>
        <p:nvSpPr>
          <p:cNvPr id="559150" name="Line 46"/>
          <p:cNvSpPr>
            <a:spLocks noChangeShapeType="1"/>
          </p:cNvSpPr>
          <p:nvPr/>
        </p:nvSpPr>
        <p:spPr bwMode="auto">
          <a:xfrm flipH="1">
            <a:off x="1728788" y="4130675"/>
            <a:ext cx="979487" cy="0"/>
          </a:xfrm>
          <a:prstGeom prst="line">
            <a:avLst/>
          </a:prstGeom>
          <a:noFill/>
          <a:ln w="47625">
            <a:solidFill>
              <a:srgbClr val="000000"/>
            </a:solidFill>
            <a:miter lim="800000"/>
            <a:headEnd/>
            <a:tailEnd/>
          </a:ln>
        </p:spPr>
        <p:txBody>
          <a:bodyPr/>
          <a:lstStyle/>
          <a:p>
            <a:endParaRPr lang="en-US"/>
          </a:p>
        </p:txBody>
      </p:sp>
      <p:sp>
        <p:nvSpPr>
          <p:cNvPr id="559151" name="Freeform 47"/>
          <p:cNvSpPr>
            <a:spLocks/>
          </p:cNvSpPr>
          <p:nvPr/>
        </p:nvSpPr>
        <p:spPr bwMode="auto">
          <a:xfrm>
            <a:off x="1622425" y="4083050"/>
            <a:ext cx="147638" cy="101600"/>
          </a:xfrm>
          <a:custGeom>
            <a:avLst/>
            <a:gdLst>
              <a:gd name="T0" fmla="*/ 2147483647 w 25"/>
              <a:gd name="T1" fmla="*/ 2147483647 h 17"/>
              <a:gd name="T2" fmla="*/ 2147483647 w 25"/>
              <a:gd name="T3" fmla="*/ 2147483647 h 17"/>
              <a:gd name="T4" fmla="*/ 2147483647 w 25"/>
              <a:gd name="T5" fmla="*/ 2147483647 h 17"/>
              <a:gd name="T6" fmla="*/ 2147483647 w 25"/>
              <a:gd name="T7" fmla="*/ 2147483647 h 17"/>
              <a:gd name="T8" fmla="*/ 0 w 25"/>
              <a:gd name="T9" fmla="*/ 2147483647 h 17"/>
              <a:gd name="T10" fmla="*/ 2147483647 w 25"/>
              <a:gd name="T11" fmla="*/ 2147483647 h 17"/>
              <a:gd name="T12" fmla="*/ 2147483647 w 25"/>
              <a:gd name="T13" fmla="*/ 0 h 17"/>
              <a:gd name="T14" fmla="*/ 2147483647 w 25"/>
              <a:gd name="T15" fmla="*/ 0 h 17"/>
              <a:gd name="T16" fmla="*/ 2147483647 w 25"/>
              <a:gd name="T17" fmla="*/ 2147483647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17"/>
              <a:gd name="T29" fmla="*/ 25 w 25"/>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17">
                <a:moveTo>
                  <a:pt x="20" y="8"/>
                </a:moveTo>
                <a:cubicBezTo>
                  <a:pt x="25" y="17"/>
                  <a:pt x="25" y="17"/>
                  <a:pt x="25" y="17"/>
                </a:cubicBezTo>
                <a:cubicBezTo>
                  <a:pt x="25" y="17"/>
                  <a:pt x="25" y="17"/>
                  <a:pt x="25" y="17"/>
                </a:cubicBezTo>
                <a:cubicBezTo>
                  <a:pt x="13" y="12"/>
                  <a:pt x="13" y="12"/>
                  <a:pt x="13" y="12"/>
                </a:cubicBezTo>
                <a:cubicBezTo>
                  <a:pt x="9" y="11"/>
                  <a:pt x="4" y="10"/>
                  <a:pt x="0" y="8"/>
                </a:cubicBezTo>
                <a:cubicBezTo>
                  <a:pt x="4" y="7"/>
                  <a:pt x="9" y="6"/>
                  <a:pt x="13" y="5"/>
                </a:cubicBezTo>
                <a:cubicBezTo>
                  <a:pt x="25" y="0"/>
                  <a:pt x="25" y="0"/>
                  <a:pt x="25" y="0"/>
                </a:cubicBezTo>
                <a:cubicBezTo>
                  <a:pt x="25" y="0"/>
                  <a:pt x="25" y="0"/>
                  <a:pt x="25" y="0"/>
                </a:cubicBezTo>
                <a:lnTo>
                  <a:pt x="20" y="8"/>
                </a:lnTo>
                <a:close/>
              </a:path>
            </a:pathLst>
          </a:custGeom>
          <a:solidFill>
            <a:srgbClr val="000000"/>
          </a:solidFill>
          <a:ln w="9525">
            <a:noFill/>
            <a:round/>
            <a:headEnd/>
            <a:tailEnd/>
          </a:ln>
        </p:spPr>
        <p:txBody>
          <a:bodyPr/>
          <a:lstStyle/>
          <a:p>
            <a:endParaRPr lang="en-US"/>
          </a:p>
        </p:txBody>
      </p:sp>
      <p:sp>
        <p:nvSpPr>
          <p:cNvPr id="559152" name="Freeform 48"/>
          <p:cNvSpPr>
            <a:spLocks/>
          </p:cNvSpPr>
          <p:nvPr/>
        </p:nvSpPr>
        <p:spPr bwMode="auto">
          <a:xfrm>
            <a:off x="1651000" y="4243388"/>
            <a:ext cx="1016000" cy="557212"/>
          </a:xfrm>
          <a:custGeom>
            <a:avLst/>
            <a:gdLst>
              <a:gd name="T0" fmla="*/ 2147483647 w 152"/>
              <a:gd name="T1" fmla="*/ 2147483647 h 94"/>
              <a:gd name="T2" fmla="*/ 2147483647 w 152"/>
              <a:gd name="T3" fmla="*/ 2147483647 h 94"/>
              <a:gd name="T4" fmla="*/ 2147483647 w 152"/>
              <a:gd name="T5" fmla="*/ 2147483647 h 94"/>
              <a:gd name="T6" fmla="*/ 0 w 152"/>
              <a:gd name="T7" fmla="*/ 2147483647 h 94"/>
              <a:gd name="T8" fmla="*/ 0 w 152"/>
              <a:gd name="T9" fmla="*/ 2147483647 h 94"/>
              <a:gd name="T10" fmla="*/ 2147483647 w 152"/>
              <a:gd name="T11" fmla="*/ 0 h 94"/>
              <a:gd name="T12" fmla="*/ 2147483647 w 152"/>
              <a:gd name="T13" fmla="*/ 0 h 94"/>
              <a:gd name="T14" fmla="*/ 2147483647 w 152"/>
              <a:gd name="T15" fmla="*/ 2147483647 h 94"/>
              <a:gd name="T16" fmla="*/ 2147483647 w 152"/>
              <a:gd name="T17" fmla="*/ 2147483647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2"/>
              <a:gd name="T28" fmla="*/ 0 h 94"/>
              <a:gd name="T29" fmla="*/ 152 w 152"/>
              <a:gd name="T30" fmla="*/ 94 h 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2" h="94">
                <a:moveTo>
                  <a:pt x="152" y="86"/>
                </a:moveTo>
                <a:cubicBezTo>
                  <a:pt x="152" y="90"/>
                  <a:pt x="148" y="94"/>
                  <a:pt x="143" y="94"/>
                </a:cubicBezTo>
                <a:cubicBezTo>
                  <a:pt x="10" y="94"/>
                  <a:pt x="10" y="94"/>
                  <a:pt x="10" y="94"/>
                </a:cubicBezTo>
                <a:cubicBezTo>
                  <a:pt x="5" y="94"/>
                  <a:pt x="0" y="90"/>
                  <a:pt x="0" y="86"/>
                </a:cubicBezTo>
                <a:cubicBezTo>
                  <a:pt x="0" y="9"/>
                  <a:pt x="0" y="9"/>
                  <a:pt x="0" y="9"/>
                </a:cubicBezTo>
                <a:cubicBezTo>
                  <a:pt x="0" y="4"/>
                  <a:pt x="5" y="0"/>
                  <a:pt x="10" y="0"/>
                </a:cubicBezTo>
                <a:cubicBezTo>
                  <a:pt x="143" y="0"/>
                  <a:pt x="143" y="0"/>
                  <a:pt x="143" y="0"/>
                </a:cubicBezTo>
                <a:cubicBezTo>
                  <a:pt x="148" y="0"/>
                  <a:pt x="152" y="4"/>
                  <a:pt x="152" y="9"/>
                </a:cubicBezTo>
                <a:lnTo>
                  <a:pt x="152" y="86"/>
                </a:lnTo>
                <a:close/>
              </a:path>
            </a:pathLst>
          </a:custGeom>
          <a:solidFill>
            <a:srgbClr val="D6E2E0"/>
          </a:solidFill>
          <a:ln w="9525">
            <a:noFill/>
            <a:round/>
            <a:headEnd/>
            <a:tailEnd/>
          </a:ln>
        </p:spPr>
        <p:txBody>
          <a:bodyPr/>
          <a:lstStyle/>
          <a:p>
            <a:endParaRPr lang="en-US"/>
          </a:p>
        </p:txBody>
      </p:sp>
      <p:sp>
        <p:nvSpPr>
          <p:cNvPr id="559158" name="Freeform 54"/>
          <p:cNvSpPr>
            <a:spLocks/>
          </p:cNvSpPr>
          <p:nvPr/>
        </p:nvSpPr>
        <p:spPr bwMode="auto">
          <a:xfrm>
            <a:off x="3935413" y="2486025"/>
            <a:ext cx="1017587" cy="565150"/>
          </a:xfrm>
          <a:custGeom>
            <a:avLst/>
            <a:gdLst>
              <a:gd name="T0" fmla="*/ 2147483647 w 153"/>
              <a:gd name="T1" fmla="*/ 2147483647 h 95"/>
              <a:gd name="T2" fmla="*/ 2147483647 w 153"/>
              <a:gd name="T3" fmla="*/ 2147483647 h 95"/>
              <a:gd name="T4" fmla="*/ 2147483647 w 153"/>
              <a:gd name="T5" fmla="*/ 2147483647 h 95"/>
              <a:gd name="T6" fmla="*/ 0 w 153"/>
              <a:gd name="T7" fmla="*/ 2147483647 h 95"/>
              <a:gd name="T8" fmla="*/ 0 w 153"/>
              <a:gd name="T9" fmla="*/ 2147483647 h 95"/>
              <a:gd name="T10" fmla="*/ 2147483647 w 153"/>
              <a:gd name="T11" fmla="*/ 0 h 95"/>
              <a:gd name="T12" fmla="*/ 2147483647 w 153"/>
              <a:gd name="T13" fmla="*/ 0 h 95"/>
              <a:gd name="T14" fmla="*/ 2147483647 w 153"/>
              <a:gd name="T15" fmla="*/ 2147483647 h 95"/>
              <a:gd name="T16" fmla="*/ 2147483647 w 153"/>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3"/>
              <a:gd name="T28" fmla="*/ 0 h 95"/>
              <a:gd name="T29" fmla="*/ 153 w 153"/>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3" h="95">
                <a:moveTo>
                  <a:pt x="153" y="86"/>
                </a:moveTo>
                <a:cubicBezTo>
                  <a:pt x="153" y="91"/>
                  <a:pt x="149" y="95"/>
                  <a:pt x="144" y="95"/>
                </a:cubicBezTo>
                <a:cubicBezTo>
                  <a:pt x="9" y="95"/>
                  <a:pt x="9" y="95"/>
                  <a:pt x="9" y="95"/>
                </a:cubicBezTo>
                <a:cubicBezTo>
                  <a:pt x="4" y="95"/>
                  <a:pt x="0" y="91"/>
                  <a:pt x="0" y="86"/>
                </a:cubicBezTo>
                <a:cubicBezTo>
                  <a:pt x="0" y="9"/>
                  <a:pt x="0" y="9"/>
                  <a:pt x="0" y="9"/>
                </a:cubicBezTo>
                <a:cubicBezTo>
                  <a:pt x="0" y="4"/>
                  <a:pt x="4" y="0"/>
                  <a:pt x="9" y="0"/>
                </a:cubicBezTo>
                <a:cubicBezTo>
                  <a:pt x="144" y="0"/>
                  <a:pt x="144" y="0"/>
                  <a:pt x="144" y="0"/>
                </a:cubicBezTo>
                <a:cubicBezTo>
                  <a:pt x="149" y="0"/>
                  <a:pt x="153" y="4"/>
                  <a:pt x="153" y="9"/>
                </a:cubicBezTo>
                <a:lnTo>
                  <a:pt x="153" y="86"/>
                </a:lnTo>
                <a:close/>
              </a:path>
            </a:pathLst>
          </a:custGeom>
          <a:solidFill>
            <a:srgbClr val="D6E2E0"/>
          </a:solidFill>
          <a:ln w="9525">
            <a:noFill/>
            <a:round/>
            <a:headEnd/>
            <a:tailEnd/>
          </a:ln>
        </p:spPr>
        <p:txBody>
          <a:bodyPr/>
          <a:lstStyle/>
          <a:p>
            <a:endParaRPr lang="en-US"/>
          </a:p>
        </p:txBody>
      </p:sp>
      <p:sp>
        <p:nvSpPr>
          <p:cNvPr id="66580" name="TextBox 29"/>
          <p:cNvSpPr txBox="1">
            <a:spLocks noChangeArrowheads="1"/>
          </p:cNvSpPr>
          <p:nvPr/>
        </p:nvSpPr>
        <p:spPr bwMode="auto">
          <a:xfrm>
            <a:off x="755650" y="1371600"/>
            <a:ext cx="576263" cy="323850"/>
          </a:xfrm>
          <a:prstGeom prst="rect">
            <a:avLst/>
          </a:prstGeom>
          <a:noFill/>
          <a:ln w="9525">
            <a:noFill/>
            <a:miter lim="800000"/>
            <a:headEnd/>
            <a:tailEnd/>
          </a:ln>
        </p:spPr>
        <p:txBody>
          <a:bodyPr>
            <a:spAutoFit/>
          </a:bodyPr>
          <a:lstStyle/>
          <a:p>
            <a:pPr algn="ctr"/>
            <a:r>
              <a:rPr lang="en-US" sz="1500" b="1"/>
              <a:t>Price</a:t>
            </a:r>
          </a:p>
        </p:txBody>
      </p:sp>
      <p:sp>
        <p:nvSpPr>
          <p:cNvPr id="66581" name="TextBox 29"/>
          <p:cNvSpPr txBox="1">
            <a:spLocks noChangeArrowheads="1"/>
          </p:cNvSpPr>
          <p:nvPr/>
        </p:nvSpPr>
        <p:spPr bwMode="auto">
          <a:xfrm>
            <a:off x="4868863" y="5867400"/>
            <a:ext cx="1143000" cy="261938"/>
          </a:xfrm>
          <a:prstGeom prst="rect">
            <a:avLst/>
          </a:prstGeom>
          <a:noFill/>
          <a:ln w="9525">
            <a:noFill/>
            <a:miter lim="800000"/>
            <a:headEnd/>
            <a:tailEnd/>
          </a:ln>
        </p:spPr>
        <p:txBody>
          <a:bodyPr>
            <a:spAutoFit/>
          </a:bodyPr>
          <a:lstStyle/>
          <a:p>
            <a:pPr algn="ctr"/>
            <a:r>
              <a:rPr lang="en-US" sz="1400" b="1"/>
              <a:t>Quantity</a:t>
            </a:r>
          </a:p>
        </p:txBody>
      </p:sp>
      <p:sp>
        <p:nvSpPr>
          <p:cNvPr id="559166" name="TextBox 56"/>
          <p:cNvSpPr txBox="1">
            <a:spLocks noChangeArrowheads="1"/>
          </p:cNvSpPr>
          <p:nvPr/>
        </p:nvSpPr>
        <p:spPr bwMode="auto">
          <a:xfrm>
            <a:off x="1619250" y="4264025"/>
            <a:ext cx="1057275" cy="523875"/>
          </a:xfrm>
          <a:prstGeom prst="rect">
            <a:avLst/>
          </a:prstGeom>
          <a:noFill/>
          <a:ln w="9525">
            <a:noFill/>
            <a:miter lim="800000"/>
            <a:headEnd/>
            <a:tailEnd/>
          </a:ln>
        </p:spPr>
        <p:txBody>
          <a:bodyPr anchor="ctr">
            <a:spAutoFit/>
          </a:bodyPr>
          <a:lstStyle/>
          <a:p>
            <a:pPr algn="ctr"/>
            <a:r>
              <a:rPr lang="en-US" sz="1400" i="1"/>
              <a:t>Decrease in supply</a:t>
            </a:r>
          </a:p>
        </p:txBody>
      </p:sp>
      <p:sp>
        <p:nvSpPr>
          <p:cNvPr id="559167" name="TextBox 56"/>
          <p:cNvSpPr txBox="1">
            <a:spLocks noChangeArrowheads="1"/>
          </p:cNvSpPr>
          <p:nvPr/>
        </p:nvSpPr>
        <p:spPr bwMode="auto">
          <a:xfrm>
            <a:off x="3962400" y="2487613"/>
            <a:ext cx="990600" cy="523875"/>
          </a:xfrm>
          <a:prstGeom prst="rect">
            <a:avLst/>
          </a:prstGeom>
          <a:noFill/>
          <a:ln w="9525">
            <a:noFill/>
            <a:miter lim="800000"/>
            <a:headEnd/>
            <a:tailEnd/>
          </a:ln>
        </p:spPr>
        <p:txBody>
          <a:bodyPr anchor="ctr">
            <a:spAutoFit/>
          </a:bodyPr>
          <a:lstStyle/>
          <a:p>
            <a:pPr algn="ctr"/>
            <a:r>
              <a:rPr lang="en-US" sz="1400" i="1"/>
              <a:t>Increase in supply</a:t>
            </a:r>
          </a:p>
        </p:txBody>
      </p:sp>
      <p:sp>
        <p:nvSpPr>
          <p:cNvPr id="559168" name="Rectangle 64"/>
          <p:cNvSpPr>
            <a:spLocks noChangeAspect="1" noChangeArrowheads="1"/>
          </p:cNvSpPr>
          <p:nvPr/>
        </p:nvSpPr>
        <p:spPr bwMode="auto">
          <a:xfrm>
            <a:off x="5703888" y="981075"/>
            <a:ext cx="3338512" cy="3244850"/>
          </a:xfrm>
          <a:prstGeom prst="rect">
            <a:avLst/>
          </a:prstGeom>
          <a:solidFill>
            <a:schemeClr val="accent5">
              <a:lumMod val="20000"/>
              <a:lumOff val="80000"/>
            </a:schemeClr>
          </a:solidFill>
          <a:ln w="38100" algn="ctr">
            <a:noFill/>
            <a:miter lim="800000"/>
            <a:headEnd/>
            <a:tailEnd type="none" w="med" len="lg"/>
          </a:ln>
          <a:effectLst/>
        </p:spPr>
        <p:txBody>
          <a:bodyPr/>
          <a:lstStyle/>
          <a:p>
            <a:pPr marL="115888" lvl="1" algn="ctr">
              <a:spcBef>
                <a:spcPct val="20000"/>
              </a:spcBef>
              <a:buClr>
                <a:schemeClr val="tx1"/>
              </a:buClr>
              <a:defRPr/>
            </a:pPr>
            <a:r>
              <a:rPr lang="en-US" sz="2400" dirty="0"/>
              <a:t>Any “</a:t>
            </a:r>
            <a:r>
              <a:rPr lang="en-US" sz="2400" b="1" dirty="0"/>
              <a:t>decrease in supply”</a:t>
            </a:r>
            <a:r>
              <a:rPr lang="en-US" sz="2400" dirty="0"/>
              <a:t> means a </a:t>
            </a:r>
            <a:r>
              <a:rPr lang="en-US" sz="2400" i="1" dirty="0"/>
              <a:t>leftward</a:t>
            </a:r>
            <a:r>
              <a:rPr lang="en-US" sz="2400" dirty="0"/>
              <a:t> shift of the supply curve:</a:t>
            </a:r>
            <a:br>
              <a:rPr lang="en-US" sz="2400" dirty="0"/>
            </a:br>
            <a:r>
              <a:rPr lang="en-US" sz="2400" dirty="0"/>
              <a:t> at any given price, there is a decrease in the quantity supplied. </a:t>
            </a:r>
            <a:br>
              <a:rPr lang="en-US" sz="2400" dirty="0"/>
            </a:br>
            <a:r>
              <a:rPr lang="en-US" sz="2400" dirty="0"/>
              <a:t>(</a:t>
            </a:r>
            <a:r>
              <a:rPr lang="en-US" sz="2400" i="1" dirty="0"/>
              <a:t>S</a:t>
            </a:r>
            <a:r>
              <a:rPr lang="en-US" sz="2400" i="1" baseline="-25000" dirty="0"/>
              <a:t>1</a:t>
            </a:r>
            <a:r>
              <a:rPr lang="en-US" sz="2400" dirty="0">
                <a:sym typeface="Wingdings" pitchFamily="2" charset="2"/>
              </a:rPr>
              <a:t></a:t>
            </a:r>
            <a:r>
              <a:rPr lang="en-US" sz="2400" dirty="0"/>
              <a:t> </a:t>
            </a:r>
            <a:r>
              <a:rPr lang="en-US" sz="2400" i="1" dirty="0"/>
              <a:t>S</a:t>
            </a:r>
            <a:r>
              <a:rPr lang="en-US" sz="2400" i="1" baseline="-25000" dirty="0"/>
              <a:t>3</a:t>
            </a:r>
            <a:r>
              <a:rPr lang="en-US" sz="2400" dirty="0"/>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59106"/>
                                        </p:tgtEl>
                                        <p:attrNameLst>
                                          <p:attrName>style.visibility</p:attrName>
                                        </p:attrNameLst>
                                      </p:cBhvr>
                                      <p:to>
                                        <p:strVal val="visible"/>
                                      </p:to>
                                    </p:set>
                                    <p:animEffect transition="in" filter="box(in)">
                                      <p:cBhvr>
                                        <p:cTn id="7" dur="500"/>
                                        <p:tgtEl>
                                          <p:spTgt spid="55910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59148"/>
                                        </p:tgtEl>
                                        <p:attrNameLst>
                                          <p:attrName>style.visibility</p:attrName>
                                        </p:attrNameLst>
                                      </p:cBhvr>
                                      <p:to>
                                        <p:strVal val="visible"/>
                                      </p:to>
                                    </p:set>
                                    <p:animEffect transition="in" filter="wipe(left)">
                                      <p:cBhvr>
                                        <p:cTn id="11" dur="500"/>
                                        <p:tgtEl>
                                          <p:spTgt spid="55914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59149"/>
                                        </p:tgtEl>
                                        <p:attrNameLst>
                                          <p:attrName>style.visibility</p:attrName>
                                        </p:attrNameLst>
                                      </p:cBhvr>
                                      <p:to>
                                        <p:strVal val="visible"/>
                                      </p:to>
                                    </p:set>
                                    <p:animEffect transition="in" filter="wipe(left)">
                                      <p:cBhvr>
                                        <p:cTn id="15" dur="500"/>
                                        <p:tgtEl>
                                          <p:spTgt spid="559149"/>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59167"/>
                                        </p:tgtEl>
                                        <p:attrNameLst>
                                          <p:attrName>style.visibility</p:attrName>
                                        </p:attrNameLst>
                                      </p:cBhvr>
                                      <p:to>
                                        <p:strVal val="visible"/>
                                      </p:to>
                                    </p:set>
                                    <p:animEffect transition="in" filter="wipe(left)">
                                      <p:cBhvr>
                                        <p:cTn id="19" dur="500"/>
                                        <p:tgtEl>
                                          <p:spTgt spid="55916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559158"/>
                                        </p:tgtEl>
                                        <p:attrNameLst>
                                          <p:attrName>style.visibility</p:attrName>
                                        </p:attrNameLst>
                                      </p:cBhvr>
                                      <p:to>
                                        <p:strVal val="visible"/>
                                      </p:to>
                                    </p:set>
                                    <p:animEffect transition="in" filter="wipe(left)">
                                      <p:cBhvr>
                                        <p:cTn id="23" dur="500"/>
                                        <p:tgtEl>
                                          <p:spTgt spid="559158"/>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559139"/>
                                        </p:tgtEl>
                                        <p:attrNameLst>
                                          <p:attrName>style.visibility</p:attrName>
                                        </p:attrNameLst>
                                      </p:cBhvr>
                                      <p:to>
                                        <p:strVal val="visible"/>
                                      </p:to>
                                    </p:set>
                                    <p:animEffect transition="in" filter="wipe(left)">
                                      <p:cBhvr>
                                        <p:cTn id="27" dur="500"/>
                                        <p:tgtEl>
                                          <p:spTgt spid="559139"/>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559146"/>
                                        </p:tgtEl>
                                        <p:attrNameLst>
                                          <p:attrName>style.visibility</p:attrName>
                                        </p:attrNameLst>
                                      </p:cBhvr>
                                      <p:to>
                                        <p:strVal val="visible"/>
                                      </p:to>
                                    </p:set>
                                    <p:animEffect transition="in" filter="wipe(left)">
                                      <p:cBhvr>
                                        <p:cTn id="31" dur="500"/>
                                        <p:tgtEl>
                                          <p:spTgt spid="559146"/>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559147"/>
                                        </p:tgtEl>
                                        <p:attrNameLst>
                                          <p:attrName>style.visibility</p:attrName>
                                        </p:attrNameLst>
                                      </p:cBhvr>
                                      <p:to>
                                        <p:strVal val="visible"/>
                                      </p:to>
                                    </p:set>
                                    <p:animEffect transition="in" filter="wipe(left)">
                                      <p:cBhvr>
                                        <p:cTn id="35" dur="500"/>
                                        <p:tgtEl>
                                          <p:spTgt spid="559147"/>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559168"/>
                                        </p:tgtEl>
                                        <p:attrNameLst>
                                          <p:attrName>style.visibility</p:attrName>
                                        </p:attrNameLst>
                                      </p:cBhvr>
                                      <p:to>
                                        <p:strVal val="visible"/>
                                      </p:to>
                                    </p:set>
                                    <p:animEffect transition="in" filter="box(in)">
                                      <p:cBhvr>
                                        <p:cTn id="40" dur="500"/>
                                        <p:tgtEl>
                                          <p:spTgt spid="559168"/>
                                        </p:tgtEl>
                                      </p:cBhvr>
                                    </p:animEffect>
                                  </p:childTnLst>
                                </p:cTn>
                              </p:par>
                            </p:childTnLst>
                          </p:cTn>
                        </p:par>
                        <p:par>
                          <p:cTn id="41" fill="hold">
                            <p:stCondLst>
                              <p:cond delay="500"/>
                            </p:stCondLst>
                            <p:childTnLst>
                              <p:par>
                                <p:cTn id="42" presetID="22" presetClass="entr" presetSubtype="2" fill="hold" grpId="0" nodeType="afterEffect">
                                  <p:stCondLst>
                                    <p:cond delay="0"/>
                                  </p:stCondLst>
                                  <p:childTnLst>
                                    <p:set>
                                      <p:cBhvr>
                                        <p:cTn id="43" dur="1" fill="hold">
                                          <p:stCondLst>
                                            <p:cond delay="0"/>
                                          </p:stCondLst>
                                        </p:cTn>
                                        <p:tgtEl>
                                          <p:spTgt spid="559150"/>
                                        </p:tgtEl>
                                        <p:attrNameLst>
                                          <p:attrName>style.visibility</p:attrName>
                                        </p:attrNameLst>
                                      </p:cBhvr>
                                      <p:to>
                                        <p:strVal val="visible"/>
                                      </p:to>
                                    </p:set>
                                    <p:animEffect transition="in" filter="wipe(right)">
                                      <p:cBhvr>
                                        <p:cTn id="44" dur="500"/>
                                        <p:tgtEl>
                                          <p:spTgt spid="559150"/>
                                        </p:tgtEl>
                                      </p:cBhvr>
                                    </p:animEffect>
                                  </p:childTnLst>
                                </p:cTn>
                              </p:par>
                            </p:childTnLst>
                          </p:cTn>
                        </p:par>
                        <p:par>
                          <p:cTn id="45" fill="hold">
                            <p:stCondLst>
                              <p:cond delay="1000"/>
                            </p:stCondLst>
                            <p:childTnLst>
                              <p:par>
                                <p:cTn id="46" presetID="22" presetClass="entr" presetSubtype="2" fill="hold" grpId="0" nodeType="afterEffect">
                                  <p:stCondLst>
                                    <p:cond delay="0"/>
                                  </p:stCondLst>
                                  <p:childTnLst>
                                    <p:set>
                                      <p:cBhvr>
                                        <p:cTn id="47" dur="1" fill="hold">
                                          <p:stCondLst>
                                            <p:cond delay="0"/>
                                          </p:stCondLst>
                                        </p:cTn>
                                        <p:tgtEl>
                                          <p:spTgt spid="559151"/>
                                        </p:tgtEl>
                                        <p:attrNameLst>
                                          <p:attrName>style.visibility</p:attrName>
                                        </p:attrNameLst>
                                      </p:cBhvr>
                                      <p:to>
                                        <p:strVal val="visible"/>
                                      </p:to>
                                    </p:set>
                                    <p:animEffect transition="in" filter="wipe(right)">
                                      <p:cBhvr>
                                        <p:cTn id="48" dur="500"/>
                                        <p:tgtEl>
                                          <p:spTgt spid="559151"/>
                                        </p:tgtEl>
                                      </p:cBhvr>
                                    </p:animEffect>
                                  </p:childTnLst>
                                </p:cTn>
                              </p:par>
                            </p:childTnLst>
                          </p:cTn>
                        </p:par>
                        <p:par>
                          <p:cTn id="49" fill="hold">
                            <p:stCondLst>
                              <p:cond delay="1500"/>
                            </p:stCondLst>
                            <p:childTnLst>
                              <p:par>
                                <p:cTn id="50" presetID="22" presetClass="entr" presetSubtype="2" fill="hold" grpId="0" nodeType="afterEffect">
                                  <p:stCondLst>
                                    <p:cond delay="0"/>
                                  </p:stCondLst>
                                  <p:childTnLst>
                                    <p:set>
                                      <p:cBhvr>
                                        <p:cTn id="51" dur="1" fill="hold">
                                          <p:stCondLst>
                                            <p:cond delay="0"/>
                                          </p:stCondLst>
                                        </p:cTn>
                                        <p:tgtEl>
                                          <p:spTgt spid="559152"/>
                                        </p:tgtEl>
                                        <p:attrNameLst>
                                          <p:attrName>style.visibility</p:attrName>
                                        </p:attrNameLst>
                                      </p:cBhvr>
                                      <p:to>
                                        <p:strVal val="visible"/>
                                      </p:to>
                                    </p:set>
                                    <p:animEffect transition="in" filter="wipe(right)">
                                      <p:cBhvr>
                                        <p:cTn id="52" dur="500"/>
                                        <p:tgtEl>
                                          <p:spTgt spid="559152"/>
                                        </p:tgtEl>
                                      </p:cBhvr>
                                    </p:animEffect>
                                  </p:childTnLst>
                                </p:cTn>
                              </p:par>
                            </p:childTnLst>
                          </p:cTn>
                        </p:par>
                        <p:par>
                          <p:cTn id="53" fill="hold">
                            <p:stCondLst>
                              <p:cond delay="2000"/>
                            </p:stCondLst>
                            <p:childTnLst>
                              <p:par>
                                <p:cTn id="54" presetID="22" presetClass="entr" presetSubtype="2" fill="hold" grpId="0" nodeType="afterEffect">
                                  <p:stCondLst>
                                    <p:cond delay="0"/>
                                  </p:stCondLst>
                                  <p:childTnLst>
                                    <p:set>
                                      <p:cBhvr>
                                        <p:cTn id="55" dur="1" fill="hold">
                                          <p:stCondLst>
                                            <p:cond delay="0"/>
                                          </p:stCondLst>
                                        </p:cTn>
                                        <p:tgtEl>
                                          <p:spTgt spid="559166"/>
                                        </p:tgtEl>
                                        <p:attrNameLst>
                                          <p:attrName>style.visibility</p:attrName>
                                        </p:attrNameLst>
                                      </p:cBhvr>
                                      <p:to>
                                        <p:strVal val="visible"/>
                                      </p:to>
                                    </p:set>
                                    <p:animEffect transition="in" filter="wipe(right)">
                                      <p:cBhvr>
                                        <p:cTn id="56" dur="500"/>
                                        <p:tgtEl>
                                          <p:spTgt spid="559166"/>
                                        </p:tgtEl>
                                      </p:cBhvr>
                                    </p:animEffect>
                                  </p:childTnLst>
                                </p:cTn>
                              </p:par>
                            </p:childTnLst>
                          </p:cTn>
                        </p:par>
                        <p:par>
                          <p:cTn id="57" fill="hold">
                            <p:stCondLst>
                              <p:cond delay="2500"/>
                            </p:stCondLst>
                            <p:childTnLst>
                              <p:par>
                                <p:cTn id="58" presetID="22" presetClass="entr" presetSubtype="2" fill="hold" grpId="0" nodeType="afterEffect">
                                  <p:stCondLst>
                                    <p:cond delay="0"/>
                                  </p:stCondLst>
                                  <p:childTnLst>
                                    <p:set>
                                      <p:cBhvr>
                                        <p:cTn id="59" dur="1" fill="hold">
                                          <p:stCondLst>
                                            <p:cond delay="0"/>
                                          </p:stCondLst>
                                        </p:cTn>
                                        <p:tgtEl>
                                          <p:spTgt spid="559141"/>
                                        </p:tgtEl>
                                        <p:attrNameLst>
                                          <p:attrName>style.visibility</p:attrName>
                                        </p:attrNameLst>
                                      </p:cBhvr>
                                      <p:to>
                                        <p:strVal val="visible"/>
                                      </p:to>
                                    </p:set>
                                    <p:animEffect transition="in" filter="wipe(right)">
                                      <p:cBhvr>
                                        <p:cTn id="60" dur="500"/>
                                        <p:tgtEl>
                                          <p:spTgt spid="559141"/>
                                        </p:tgtEl>
                                      </p:cBhvr>
                                    </p:animEffect>
                                  </p:childTnLst>
                                </p:cTn>
                              </p:par>
                            </p:childTnLst>
                          </p:cTn>
                        </p:par>
                        <p:par>
                          <p:cTn id="61" fill="hold">
                            <p:stCondLst>
                              <p:cond delay="3000"/>
                            </p:stCondLst>
                            <p:childTnLst>
                              <p:par>
                                <p:cTn id="62" presetID="22" presetClass="entr" presetSubtype="2" fill="hold" grpId="0" nodeType="afterEffect">
                                  <p:stCondLst>
                                    <p:cond delay="0"/>
                                  </p:stCondLst>
                                  <p:childTnLst>
                                    <p:set>
                                      <p:cBhvr>
                                        <p:cTn id="63" dur="1" fill="hold">
                                          <p:stCondLst>
                                            <p:cond delay="0"/>
                                          </p:stCondLst>
                                        </p:cTn>
                                        <p:tgtEl>
                                          <p:spTgt spid="559142"/>
                                        </p:tgtEl>
                                        <p:attrNameLst>
                                          <p:attrName>style.visibility</p:attrName>
                                        </p:attrNameLst>
                                      </p:cBhvr>
                                      <p:to>
                                        <p:strVal val="visible"/>
                                      </p:to>
                                    </p:set>
                                    <p:animEffect transition="in" filter="wipe(right)">
                                      <p:cBhvr>
                                        <p:cTn id="64" dur="500"/>
                                        <p:tgtEl>
                                          <p:spTgt spid="559142"/>
                                        </p:tgtEl>
                                      </p:cBhvr>
                                    </p:animEffect>
                                  </p:childTnLst>
                                </p:cTn>
                              </p:par>
                            </p:childTnLst>
                          </p:cTn>
                        </p:par>
                        <p:par>
                          <p:cTn id="65" fill="hold">
                            <p:stCondLst>
                              <p:cond delay="3500"/>
                            </p:stCondLst>
                            <p:childTnLst>
                              <p:par>
                                <p:cTn id="66" presetID="22" presetClass="entr" presetSubtype="2" fill="hold" grpId="0" nodeType="afterEffect">
                                  <p:stCondLst>
                                    <p:cond delay="0"/>
                                  </p:stCondLst>
                                  <p:childTnLst>
                                    <p:set>
                                      <p:cBhvr>
                                        <p:cTn id="67" dur="1" fill="hold">
                                          <p:stCondLst>
                                            <p:cond delay="0"/>
                                          </p:stCondLst>
                                        </p:cTn>
                                        <p:tgtEl>
                                          <p:spTgt spid="559143"/>
                                        </p:tgtEl>
                                        <p:attrNameLst>
                                          <p:attrName>style.visibility</p:attrName>
                                        </p:attrNameLst>
                                      </p:cBhvr>
                                      <p:to>
                                        <p:strVal val="visible"/>
                                      </p:to>
                                    </p:set>
                                    <p:animEffect transition="in" filter="wipe(right)">
                                      <p:cBhvr>
                                        <p:cTn id="68" dur="500"/>
                                        <p:tgtEl>
                                          <p:spTgt spid="559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6" grpId="0" animBg="1"/>
      <p:bldP spid="559139" grpId="0" animBg="1"/>
      <p:bldP spid="559141" grpId="0" animBg="1"/>
      <p:bldP spid="559142" grpId="0"/>
      <p:bldP spid="559143" grpId="0"/>
      <p:bldP spid="559146" grpId="0"/>
      <p:bldP spid="559147" grpId="0"/>
      <p:bldP spid="559148" grpId="0" animBg="1"/>
      <p:bldP spid="559149" grpId="0" animBg="1"/>
      <p:bldP spid="559150" grpId="0" animBg="1"/>
      <p:bldP spid="559151" grpId="0" animBg="1"/>
      <p:bldP spid="559152" grpId="0" animBg="1"/>
      <p:bldP spid="559158" grpId="0" animBg="1"/>
      <p:bldP spid="559166" grpId="0"/>
      <p:bldP spid="559167" grpId="0"/>
      <p:bldP spid="559168"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5491" name="Rectangle 3"/>
          <p:cNvSpPr>
            <a:spLocks noGrp="1" noChangeArrowheads="1"/>
          </p:cNvSpPr>
          <p:nvPr>
            <p:ph type="body" idx="1"/>
          </p:nvPr>
        </p:nvSpPr>
        <p:spPr>
          <a:xfrm>
            <a:off x="615950" y="912813"/>
            <a:ext cx="8293100" cy="5410200"/>
          </a:xfrm>
        </p:spPr>
        <p:txBody>
          <a:bodyPr/>
          <a:lstStyle/>
          <a:p>
            <a:r>
              <a:rPr lang="en-US" smtClean="0"/>
              <a:t>Changes in input prices</a:t>
            </a:r>
          </a:p>
          <a:p>
            <a:pPr lvl="1"/>
            <a:r>
              <a:rPr lang="en-US" sz="2900" i="1" smtClean="0"/>
              <a:t>An </a:t>
            </a:r>
            <a:r>
              <a:rPr lang="en-US" sz="2900" b="1" i="1" smtClean="0"/>
              <a:t>input</a:t>
            </a:r>
            <a:r>
              <a:rPr lang="en-US" sz="2900" i="1" smtClean="0"/>
              <a:t> is a good that is used to produce another good.</a:t>
            </a:r>
            <a:r>
              <a:rPr lang="en-US" sz="2900" smtClean="0"/>
              <a:t> </a:t>
            </a:r>
          </a:p>
          <a:p>
            <a:r>
              <a:rPr lang="en-US" smtClean="0"/>
              <a:t>Changes in the prices of related goods and services</a:t>
            </a:r>
          </a:p>
          <a:p>
            <a:r>
              <a:rPr lang="en-US" smtClean="0"/>
              <a:t>Changes in technology</a:t>
            </a:r>
          </a:p>
          <a:p>
            <a:r>
              <a:rPr lang="en-US" smtClean="0"/>
              <a:t>Changes in expectations</a:t>
            </a:r>
          </a:p>
          <a:p>
            <a:r>
              <a:rPr lang="en-US" smtClean="0"/>
              <a:t>Changes in the number of producers</a:t>
            </a:r>
          </a:p>
        </p:txBody>
      </p:sp>
      <p:sp>
        <p:nvSpPr>
          <p:cNvPr id="68610" name="Rectangle 4"/>
          <p:cNvSpPr>
            <a:spLocks noChangeArrowheads="1"/>
          </p:cNvSpPr>
          <p:nvPr/>
        </p:nvSpPr>
        <p:spPr bwMode="auto">
          <a:xfrm>
            <a:off x="900113" y="0"/>
            <a:ext cx="8015287" cy="584200"/>
          </a:xfrm>
          <a:prstGeom prst="rect">
            <a:avLst/>
          </a:prstGeom>
          <a:noFill/>
          <a:ln w="38100" algn="ctr">
            <a:noFill/>
            <a:miter lim="800000"/>
            <a:headEnd/>
            <a:tailEnd type="none" w="med" len="lg"/>
          </a:ln>
        </p:spPr>
        <p:txBody>
          <a:bodyPr>
            <a:spAutoFit/>
          </a:bodyPr>
          <a:lstStyle/>
          <a:p>
            <a:pPr marL="1588" indent="-1588"/>
            <a:r>
              <a:rPr lang="en-US" sz="3200" b="1">
                <a:solidFill>
                  <a:schemeClr val="bg1"/>
                </a:solidFill>
              </a:rPr>
              <a:t>What Causes a Supply Curve to Shift?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75491">
                                            <p:txEl>
                                              <p:pRg st="0" end="0"/>
                                            </p:txEl>
                                          </p:spTgt>
                                        </p:tgtEl>
                                        <p:attrNameLst>
                                          <p:attrName>style.visibility</p:attrName>
                                        </p:attrNameLst>
                                      </p:cBhvr>
                                      <p:to>
                                        <p:strVal val="visible"/>
                                      </p:to>
                                    </p:set>
                                    <p:animEffect transition="in" filter="wipe(left)">
                                      <p:cBhvr>
                                        <p:cTn id="7" dur="500"/>
                                        <p:tgtEl>
                                          <p:spTgt spid="5754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75491">
                                            <p:txEl>
                                              <p:pRg st="1" end="1"/>
                                            </p:txEl>
                                          </p:spTgt>
                                        </p:tgtEl>
                                        <p:attrNameLst>
                                          <p:attrName>style.visibility</p:attrName>
                                        </p:attrNameLst>
                                      </p:cBhvr>
                                      <p:to>
                                        <p:strVal val="visible"/>
                                      </p:to>
                                    </p:set>
                                    <p:animEffect transition="in" filter="wipe(left)">
                                      <p:cBhvr>
                                        <p:cTn id="12" dur="500"/>
                                        <p:tgtEl>
                                          <p:spTgt spid="5754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75491">
                                            <p:txEl>
                                              <p:pRg st="2" end="2"/>
                                            </p:txEl>
                                          </p:spTgt>
                                        </p:tgtEl>
                                        <p:attrNameLst>
                                          <p:attrName>style.visibility</p:attrName>
                                        </p:attrNameLst>
                                      </p:cBhvr>
                                      <p:to>
                                        <p:strVal val="visible"/>
                                      </p:to>
                                    </p:set>
                                    <p:animEffect transition="in" filter="wipe(left)">
                                      <p:cBhvr>
                                        <p:cTn id="17" dur="500"/>
                                        <p:tgtEl>
                                          <p:spTgt spid="5754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75491">
                                            <p:txEl>
                                              <p:pRg st="3" end="3"/>
                                            </p:txEl>
                                          </p:spTgt>
                                        </p:tgtEl>
                                        <p:attrNameLst>
                                          <p:attrName>style.visibility</p:attrName>
                                        </p:attrNameLst>
                                      </p:cBhvr>
                                      <p:to>
                                        <p:strVal val="visible"/>
                                      </p:to>
                                    </p:set>
                                    <p:animEffect transition="in" filter="wipe(left)">
                                      <p:cBhvr>
                                        <p:cTn id="22" dur="500"/>
                                        <p:tgtEl>
                                          <p:spTgt spid="5754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75491">
                                            <p:txEl>
                                              <p:pRg st="4" end="4"/>
                                            </p:txEl>
                                          </p:spTgt>
                                        </p:tgtEl>
                                        <p:attrNameLst>
                                          <p:attrName>style.visibility</p:attrName>
                                        </p:attrNameLst>
                                      </p:cBhvr>
                                      <p:to>
                                        <p:strVal val="visible"/>
                                      </p:to>
                                    </p:set>
                                    <p:animEffect transition="in" filter="wipe(left)">
                                      <p:cBhvr>
                                        <p:cTn id="27" dur="500"/>
                                        <p:tgtEl>
                                          <p:spTgt spid="5754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75491">
                                            <p:txEl>
                                              <p:pRg st="5" end="5"/>
                                            </p:txEl>
                                          </p:spTgt>
                                        </p:tgtEl>
                                        <p:attrNameLst>
                                          <p:attrName>style.visibility</p:attrName>
                                        </p:attrNameLst>
                                      </p:cBhvr>
                                      <p:to>
                                        <p:strVal val="visible"/>
                                      </p:to>
                                    </p:set>
                                    <p:animEffect transition="in" filter="wipe(left)">
                                      <p:cBhvr>
                                        <p:cTn id="32" dur="500"/>
                                        <p:tgtEl>
                                          <p:spTgt spid="5754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113" y="60325"/>
            <a:ext cx="7993062" cy="555625"/>
          </a:xfrm>
        </p:spPr>
        <p:txBody>
          <a:bodyPr/>
          <a:lstStyle/>
          <a:p>
            <a:pPr>
              <a:defRPr/>
            </a:pPr>
            <a:r>
              <a:rPr lang="en-US" dirty="0" smtClean="0">
                <a:solidFill>
                  <a:schemeClr val="accent2">
                    <a:lumMod val="40000"/>
                    <a:lumOff val="60000"/>
                  </a:schemeClr>
                </a:solidFill>
              </a:rPr>
              <a:t>ECONOMICS IN ACTION</a:t>
            </a:r>
            <a:endParaRPr lang="en-US" dirty="0">
              <a:solidFill>
                <a:schemeClr val="accent2">
                  <a:lumMod val="40000"/>
                  <a:lumOff val="60000"/>
                </a:schemeClr>
              </a:solidFill>
            </a:endParaRPr>
          </a:p>
        </p:txBody>
      </p:sp>
      <p:sp>
        <p:nvSpPr>
          <p:cNvPr id="3" name="Content Placeholder 2"/>
          <p:cNvSpPr>
            <a:spLocks noGrp="1"/>
          </p:cNvSpPr>
          <p:nvPr>
            <p:ph idx="1"/>
          </p:nvPr>
        </p:nvSpPr>
        <p:spPr>
          <a:xfrm>
            <a:off x="615950" y="839788"/>
            <a:ext cx="8269288" cy="5541962"/>
          </a:xfrm>
        </p:spPr>
        <p:txBody>
          <a:bodyPr/>
          <a:lstStyle/>
          <a:p>
            <a:pPr>
              <a:buFont typeface="Arial" charset="0"/>
              <a:buNone/>
            </a:pPr>
            <a:r>
              <a:rPr lang="en-US" b="1" smtClean="0">
                <a:solidFill>
                  <a:srgbClr val="953735"/>
                </a:solidFill>
              </a:rPr>
              <a:t>Only Creatures Small and Pampered</a:t>
            </a:r>
            <a:br>
              <a:rPr lang="en-US" b="1" smtClean="0">
                <a:solidFill>
                  <a:srgbClr val="953735"/>
                </a:solidFill>
              </a:rPr>
            </a:br>
            <a:endParaRPr lang="en-US" b="1" smtClean="0">
              <a:solidFill>
                <a:srgbClr val="953735"/>
              </a:solidFill>
            </a:endParaRPr>
          </a:p>
          <a:p>
            <a:r>
              <a:rPr lang="en-US" smtClean="0"/>
              <a:t>According to a recent article in the </a:t>
            </a:r>
            <a:r>
              <a:rPr lang="en-US" i="1" smtClean="0"/>
              <a:t>New York Times</a:t>
            </a:r>
            <a:r>
              <a:rPr lang="en-US" smtClean="0"/>
              <a:t>, the United States has experienced a severe decline in the number of farm veterinarians over the past two decades. </a:t>
            </a:r>
          </a:p>
          <a:p>
            <a:pPr lvl="1"/>
            <a:r>
              <a:rPr lang="en-US" sz="2500" smtClean="0"/>
              <a:t>The source of the problem is competition. </a:t>
            </a:r>
          </a:p>
          <a:p>
            <a:pPr lvl="1"/>
            <a:r>
              <a:rPr lang="en-US" sz="2500" smtClean="0"/>
              <a:t>Vets are being drawn away from the business of caring for farm animals into the more lucrative business of caring for pets.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60325"/>
            <a:ext cx="7921625" cy="555625"/>
          </a:xfrm>
        </p:spPr>
        <p:txBody>
          <a:bodyPr/>
          <a:lstStyle/>
          <a:p>
            <a:pPr>
              <a:defRPr/>
            </a:pPr>
            <a:r>
              <a:rPr lang="en-US" dirty="0" smtClean="0">
                <a:solidFill>
                  <a:schemeClr val="accent2">
                    <a:lumMod val="40000"/>
                    <a:lumOff val="60000"/>
                  </a:schemeClr>
                </a:solidFill>
              </a:rPr>
              <a:t>ECONOMICS IN ACTION</a:t>
            </a:r>
            <a:endParaRPr lang="en-US" dirty="0">
              <a:solidFill>
                <a:schemeClr val="accent2">
                  <a:lumMod val="40000"/>
                  <a:lumOff val="60000"/>
                </a:schemeClr>
              </a:solidFill>
            </a:endParaRPr>
          </a:p>
        </p:txBody>
      </p:sp>
      <p:sp>
        <p:nvSpPr>
          <p:cNvPr id="3" name="Content Placeholder 2"/>
          <p:cNvSpPr>
            <a:spLocks noGrp="1"/>
          </p:cNvSpPr>
          <p:nvPr>
            <p:ph idx="1"/>
          </p:nvPr>
        </p:nvSpPr>
        <p:spPr>
          <a:xfrm>
            <a:off x="971550" y="836613"/>
            <a:ext cx="7921625" cy="5688012"/>
          </a:xfrm>
        </p:spPr>
        <p:txBody>
          <a:bodyPr/>
          <a:lstStyle/>
          <a:p>
            <a:pPr>
              <a:buFont typeface="Arial" charset="0"/>
              <a:buNone/>
            </a:pPr>
            <a:r>
              <a:rPr lang="en-US" b="1" smtClean="0">
                <a:solidFill>
                  <a:srgbClr val="953735"/>
                </a:solidFill>
              </a:rPr>
              <a:t>Only Creatures Small and Pampered</a:t>
            </a:r>
          </a:p>
          <a:p>
            <a:pPr>
              <a:buFont typeface="Arial" charset="0"/>
              <a:buNone/>
            </a:pPr>
            <a:r>
              <a:rPr lang="en-US" smtClean="0"/>
              <a:t>How can we translate this into supply and demand curves?</a:t>
            </a:r>
          </a:p>
          <a:p>
            <a:pPr>
              <a:buFont typeface="Arial" charset="0"/>
              <a:buNone/>
            </a:pPr>
            <a:r>
              <a:rPr lang="en-US" smtClean="0"/>
              <a:t>Farm veterinary services and pet veterinary services are related goods that are substitutes in production.</a:t>
            </a:r>
          </a:p>
          <a:p>
            <a:pPr lvl="1"/>
            <a:r>
              <a:rPr lang="en-US" sz="2500" smtClean="0"/>
              <a:t>A veterinarian typically specializes in one type of practice or the other, and that decision often depends on the going price for the service.</a:t>
            </a:r>
          </a:p>
          <a:p>
            <a:pPr lvl="1"/>
            <a:r>
              <a:rPr lang="en-US" sz="2500" smtClean="0"/>
              <a:t>America’s growing pet population, combined with the increased willingness of doting owners to spend money on their companions’ care, has driven up the price of pet veterinary services. </a:t>
            </a:r>
          </a:p>
          <a:p>
            <a:pPr lvl="1"/>
            <a:r>
              <a:rPr lang="en-US" sz="2500" smtClean="0"/>
              <a:t>So, the supply curve of farm veterinarians has shifted leftward—fewer farm veterinarians are offering their services at any given price.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cxnSp>
        <p:nvCxnSpPr>
          <p:cNvPr id="70657" name="Straight Connector 86"/>
          <p:cNvCxnSpPr>
            <a:cxnSpLocks noChangeShapeType="1"/>
          </p:cNvCxnSpPr>
          <p:nvPr/>
        </p:nvCxnSpPr>
        <p:spPr bwMode="auto">
          <a:xfrm>
            <a:off x="7239000" y="4278313"/>
            <a:ext cx="838200" cy="1587"/>
          </a:xfrm>
          <a:prstGeom prst="line">
            <a:avLst/>
          </a:prstGeom>
          <a:noFill/>
          <a:ln w="22225">
            <a:solidFill>
              <a:srgbClr val="9C9C9C"/>
            </a:solidFill>
            <a:prstDash val="sysDot"/>
            <a:round/>
            <a:headEnd/>
            <a:tailEnd type="none" w="med" len="lg"/>
          </a:ln>
        </p:spPr>
      </p:cxnSp>
      <p:cxnSp>
        <p:nvCxnSpPr>
          <p:cNvPr id="70658" name="Straight Connector 86"/>
          <p:cNvCxnSpPr>
            <a:cxnSpLocks noChangeShapeType="1"/>
          </p:cNvCxnSpPr>
          <p:nvPr/>
        </p:nvCxnSpPr>
        <p:spPr bwMode="auto">
          <a:xfrm>
            <a:off x="7239000" y="3271838"/>
            <a:ext cx="1524000" cy="1587"/>
          </a:xfrm>
          <a:prstGeom prst="line">
            <a:avLst/>
          </a:prstGeom>
          <a:noFill/>
          <a:ln w="22225">
            <a:solidFill>
              <a:srgbClr val="9C9C9C"/>
            </a:solidFill>
            <a:prstDash val="sysDot"/>
            <a:round/>
            <a:headEnd/>
            <a:tailEnd type="none" w="med" len="lg"/>
          </a:ln>
        </p:spPr>
      </p:cxnSp>
      <p:cxnSp>
        <p:nvCxnSpPr>
          <p:cNvPr id="70659" name="Straight Connector 86"/>
          <p:cNvCxnSpPr>
            <a:cxnSpLocks noChangeShapeType="1"/>
          </p:cNvCxnSpPr>
          <p:nvPr/>
        </p:nvCxnSpPr>
        <p:spPr bwMode="auto">
          <a:xfrm>
            <a:off x="8077200" y="4325938"/>
            <a:ext cx="0" cy="685800"/>
          </a:xfrm>
          <a:prstGeom prst="line">
            <a:avLst/>
          </a:prstGeom>
          <a:noFill/>
          <a:ln w="22225">
            <a:solidFill>
              <a:srgbClr val="9C9C9C"/>
            </a:solidFill>
            <a:prstDash val="sysDot"/>
            <a:round/>
            <a:headEnd/>
            <a:tailEnd type="none" w="med" len="lg"/>
          </a:ln>
        </p:spPr>
      </p:cxnSp>
      <p:cxnSp>
        <p:nvCxnSpPr>
          <p:cNvPr id="70660" name="Straight Connector 86"/>
          <p:cNvCxnSpPr>
            <a:cxnSpLocks noChangeShapeType="1"/>
          </p:cNvCxnSpPr>
          <p:nvPr/>
        </p:nvCxnSpPr>
        <p:spPr bwMode="auto">
          <a:xfrm>
            <a:off x="8796338" y="3335338"/>
            <a:ext cx="0" cy="1676400"/>
          </a:xfrm>
          <a:prstGeom prst="line">
            <a:avLst/>
          </a:prstGeom>
          <a:noFill/>
          <a:ln w="22225">
            <a:solidFill>
              <a:srgbClr val="9C9C9C"/>
            </a:solidFill>
            <a:prstDash val="sysDot"/>
            <a:round/>
            <a:headEnd/>
            <a:tailEnd type="none" w="med" len="lg"/>
          </a:ln>
        </p:spPr>
      </p:cxnSp>
      <p:cxnSp>
        <p:nvCxnSpPr>
          <p:cNvPr id="70661" name="Straight Connector 86"/>
          <p:cNvCxnSpPr>
            <a:cxnSpLocks noChangeShapeType="1"/>
          </p:cNvCxnSpPr>
          <p:nvPr/>
        </p:nvCxnSpPr>
        <p:spPr bwMode="auto">
          <a:xfrm>
            <a:off x="4191000" y="4278313"/>
            <a:ext cx="2514600" cy="4762"/>
          </a:xfrm>
          <a:prstGeom prst="line">
            <a:avLst/>
          </a:prstGeom>
          <a:noFill/>
          <a:ln w="22225">
            <a:solidFill>
              <a:srgbClr val="9C9C9C"/>
            </a:solidFill>
            <a:prstDash val="sysDot"/>
            <a:round/>
            <a:headEnd/>
            <a:tailEnd type="none" w="med" len="lg"/>
          </a:ln>
        </p:spPr>
      </p:cxnSp>
      <p:cxnSp>
        <p:nvCxnSpPr>
          <p:cNvPr id="70662" name="Straight Connector 86"/>
          <p:cNvCxnSpPr>
            <a:cxnSpLocks noChangeShapeType="1"/>
          </p:cNvCxnSpPr>
          <p:nvPr/>
        </p:nvCxnSpPr>
        <p:spPr bwMode="auto">
          <a:xfrm>
            <a:off x="4191000" y="3271838"/>
            <a:ext cx="2514600" cy="3175"/>
          </a:xfrm>
          <a:prstGeom prst="line">
            <a:avLst/>
          </a:prstGeom>
          <a:noFill/>
          <a:ln w="22225">
            <a:solidFill>
              <a:srgbClr val="9C9C9C"/>
            </a:solidFill>
            <a:prstDash val="sysDot"/>
            <a:round/>
            <a:headEnd/>
            <a:tailEnd type="none" w="med" len="lg"/>
          </a:ln>
        </p:spPr>
      </p:cxnSp>
      <p:cxnSp>
        <p:nvCxnSpPr>
          <p:cNvPr id="70663" name="Straight Connector 86"/>
          <p:cNvCxnSpPr>
            <a:cxnSpLocks noChangeShapeType="1"/>
          </p:cNvCxnSpPr>
          <p:nvPr/>
        </p:nvCxnSpPr>
        <p:spPr bwMode="auto">
          <a:xfrm>
            <a:off x="4618038" y="4249738"/>
            <a:ext cx="0" cy="762000"/>
          </a:xfrm>
          <a:prstGeom prst="line">
            <a:avLst/>
          </a:prstGeom>
          <a:noFill/>
          <a:ln w="22225">
            <a:solidFill>
              <a:srgbClr val="9C9C9C"/>
            </a:solidFill>
            <a:prstDash val="sysDot"/>
            <a:round/>
            <a:headEnd/>
            <a:tailEnd type="none" w="med" len="lg"/>
          </a:ln>
        </p:spPr>
      </p:cxnSp>
      <p:cxnSp>
        <p:nvCxnSpPr>
          <p:cNvPr id="70664" name="Straight Connector 86"/>
          <p:cNvCxnSpPr>
            <a:cxnSpLocks noChangeShapeType="1"/>
          </p:cNvCxnSpPr>
          <p:nvPr/>
        </p:nvCxnSpPr>
        <p:spPr bwMode="auto">
          <a:xfrm>
            <a:off x="5267325" y="3259138"/>
            <a:ext cx="0" cy="1752600"/>
          </a:xfrm>
          <a:prstGeom prst="line">
            <a:avLst/>
          </a:prstGeom>
          <a:noFill/>
          <a:ln w="22225">
            <a:solidFill>
              <a:srgbClr val="9C9C9C"/>
            </a:solidFill>
            <a:prstDash val="sysDot"/>
            <a:round/>
            <a:headEnd/>
            <a:tailEnd type="none" w="med" len="lg"/>
          </a:ln>
        </p:spPr>
      </p:cxnSp>
      <p:cxnSp>
        <p:nvCxnSpPr>
          <p:cNvPr id="70665" name="Straight Connector 86"/>
          <p:cNvCxnSpPr>
            <a:cxnSpLocks noChangeShapeType="1"/>
          </p:cNvCxnSpPr>
          <p:nvPr/>
        </p:nvCxnSpPr>
        <p:spPr bwMode="auto">
          <a:xfrm>
            <a:off x="1143000" y="4278313"/>
            <a:ext cx="2514600" cy="4762"/>
          </a:xfrm>
          <a:prstGeom prst="line">
            <a:avLst/>
          </a:prstGeom>
          <a:noFill/>
          <a:ln w="22225">
            <a:solidFill>
              <a:srgbClr val="9C9C9C"/>
            </a:solidFill>
            <a:prstDash val="sysDot"/>
            <a:round/>
            <a:headEnd/>
            <a:tailEnd type="none" w="med" len="lg"/>
          </a:ln>
        </p:spPr>
      </p:cxnSp>
      <p:cxnSp>
        <p:nvCxnSpPr>
          <p:cNvPr id="70666" name="Straight Connector 86"/>
          <p:cNvCxnSpPr>
            <a:cxnSpLocks noChangeShapeType="1"/>
          </p:cNvCxnSpPr>
          <p:nvPr/>
        </p:nvCxnSpPr>
        <p:spPr bwMode="auto">
          <a:xfrm>
            <a:off x="1143000" y="3271838"/>
            <a:ext cx="2514600" cy="3175"/>
          </a:xfrm>
          <a:prstGeom prst="line">
            <a:avLst/>
          </a:prstGeom>
          <a:noFill/>
          <a:ln w="22225">
            <a:solidFill>
              <a:srgbClr val="9C9C9C"/>
            </a:solidFill>
            <a:prstDash val="sysDot"/>
            <a:round/>
            <a:headEnd/>
            <a:tailEnd type="none" w="med" len="lg"/>
          </a:ln>
        </p:spPr>
      </p:cxnSp>
      <p:cxnSp>
        <p:nvCxnSpPr>
          <p:cNvPr id="70667" name="Straight Connector 86"/>
          <p:cNvCxnSpPr>
            <a:cxnSpLocks noChangeShapeType="1"/>
          </p:cNvCxnSpPr>
          <p:nvPr/>
        </p:nvCxnSpPr>
        <p:spPr bwMode="auto">
          <a:xfrm>
            <a:off x="2133600" y="4249738"/>
            <a:ext cx="0" cy="762000"/>
          </a:xfrm>
          <a:prstGeom prst="line">
            <a:avLst/>
          </a:prstGeom>
          <a:noFill/>
          <a:ln w="22225">
            <a:solidFill>
              <a:srgbClr val="9C9C9C"/>
            </a:solidFill>
            <a:prstDash val="sysDot"/>
            <a:round/>
            <a:headEnd/>
            <a:tailEnd type="none" w="med" len="lg"/>
          </a:ln>
        </p:spPr>
      </p:cxnSp>
      <p:sp>
        <p:nvSpPr>
          <p:cNvPr id="616450" name="Rectangle 2"/>
          <p:cNvSpPr>
            <a:spLocks noGrp="1" noRot="1" noChangeArrowheads="1"/>
          </p:cNvSpPr>
          <p:nvPr>
            <p:ph type="title"/>
          </p:nvPr>
        </p:nvSpPr>
        <p:spPr>
          <a:xfrm>
            <a:off x="900113" y="60325"/>
            <a:ext cx="8154987" cy="555625"/>
          </a:xfrm>
        </p:spPr>
        <p:txBody>
          <a:bodyPr/>
          <a:lstStyle/>
          <a:p>
            <a:pPr>
              <a:defRPr/>
            </a:pPr>
            <a:r>
              <a:rPr lang="en-US" sz="2800" dirty="0"/>
              <a:t>Individual Supply Curve and the Market Supply Curve</a:t>
            </a:r>
          </a:p>
        </p:txBody>
      </p:sp>
      <p:sp>
        <p:nvSpPr>
          <p:cNvPr id="616493" name="Text Box 45"/>
          <p:cNvSpPr txBox="1">
            <a:spLocks noChangeArrowheads="1"/>
          </p:cNvSpPr>
          <p:nvPr/>
        </p:nvSpPr>
        <p:spPr bwMode="auto">
          <a:xfrm>
            <a:off x="920750" y="765175"/>
            <a:ext cx="8010525" cy="830263"/>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defRPr/>
            </a:pPr>
            <a:r>
              <a:rPr lang="en-US" sz="2400" dirty="0"/>
              <a:t>The market supply curve is the </a:t>
            </a:r>
            <a:r>
              <a:rPr lang="en-US" sz="2400" i="1" dirty="0"/>
              <a:t>horizontal sum </a:t>
            </a:r>
            <a:r>
              <a:rPr lang="en-US" sz="2400" dirty="0"/>
              <a:t>of the individual supply curves of all firms in that market.</a:t>
            </a:r>
          </a:p>
        </p:txBody>
      </p:sp>
      <p:sp>
        <p:nvSpPr>
          <p:cNvPr id="70670" name="Rectangle 56"/>
          <p:cNvSpPr>
            <a:spLocks noChangeArrowheads="1"/>
          </p:cNvSpPr>
          <p:nvPr/>
        </p:nvSpPr>
        <p:spPr bwMode="auto">
          <a:xfrm>
            <a:off x="2233613" y="3030538"/>
            <a:ext cx="111125" cy="200025"/>
          </a:xfrm>
          <a:prstGeom prst="rect">
            <a:avLst/>
          </a:prstGeom>
          <a:noFill/>
          <a:ln w="9525">
            <a:noFill/>
            <a:miter lim="800000"/>
            <a:headEnd/>
            <a:tailEnd/>
          </a:ln>
        </p:spPr>
        <p:txBody>
          <a:bodyPr wrap="none" lIns="0" tIns="0" rIns="0" bIns="0">
            <a:spAutoFit/>
          </a:bodyPr>
          <a:lstStyle/>
          <a:p>
            <a:pPr marL="1588" indent="-1588"/>
            <a:r>
              <a:rPr lang="en-US" sz="1300" i="1">
                <a:solidFill>
                  <a:srgbClr val="000000"/>
                </a:solidFill>
                <a:latin typeface="Myriad Roman"/>
              </a:rPr>
              <a:t>S</a:t>
            </a:r>
            <a:endParaRPr lang="en-US" i="1"/>
          </a:p>
        </p:txBody>
      </p:sp>
      <p:sp>
        <p:nvSpPr>
          <p:cNvPr id="70671" name="Rectangle 57"/>
          <p:cNvSpPr>
            <a:spLocks noChangeArrowheads="1"/>
          </p:cNvSpPr>
          <p:nvPr/>
        </p:nvSpPr>
        <p:spPr bwMode="auto">
          <a:xfrm>
            <a:off x="2311400" y="3117850"/>
            <a:ext cx="250825" cy="138113"/>
          </a:xfrm>
          <a:prstGeom prst="rect">
            <a:avLst/>
          </a:prstGeom>
          <a:noFill/>
          <a:ln w="9525">
            <a:noFill/>
            <a:miter lim="800000"/>
            <a:headEnd/>
            <a:tailEnd/>
          </a:ln>
        </p:spPr>
        <p:txBody>
          <a:bodyPr wrap="none" lIns="0" tIns="0" rIns="0" bIns="0">
            <a:spAutoFit/>
          </a:bodyPr>
          <a:lstStyle/>
          <a:p>
            <a:pPr marL="1588" indent="-1588"/>
            <a:r>
              <a:rPr lang="en-US" sz="900">
                <a:solidFill>
                  <a:srgbClr val="000000"/>
                </a:solidFill>
                <a:latin typeface="Myriad Roman"/>
              </a:rPr>
              <a:t>Silva</a:t>
            </a:r>
            <a:endParaRPr lang="en-US"/>
          </a:p>
        </p:txBody>
      </p:sp>
      <p:sp>
        <p:nvSpPr>
          <p:cNvPr id="70672" name="Rectangle 58"/>
          <p:cNvSpPr>
            <a:spLocks noChangeArrowheads="1"/>
          </p:cNvSpPr>
          <p:nvPr/>
        </p:nvSpPr>
        <p:spPr bwMode="auto">
          <a:xfrm>
            <a:off x="4751388" y="3040063"/>
            <a:ext cx="111125" cy="200025"/>
          </a:xfrm>
          <a:prstGeom prst="rect">
            <a:avLst/>
          </a:prstGeom>
          <a:noFill/>
          <a:ln w="9525">
            <a:noFill/>
            <a:miter lim="800000"/>
            <a:headEnd/>
            <a:tailEnd/>
          </a:ln>
        </p:spPr>
        <p:txBody>
          <a:bodyPr wrap="none" lIns="0" tIns="0" rIns="0" bIns="0">
            <a:spAutoFit/>
          </a:bodyPr>
          <a:lstStyle/>
          <a:p>
            <a:pPr marL="1588" indent="-1588"/>
            <a:r>
              <a:rPr lang="en-US" sz="1300" i="1">
                <a:solidFill>
                  <a:srgbClr val="000000"/>
                </a:solidFill>
                <a:latin typeface="Myriad Roman"/>
              </a:rPr>
              <a:t>S</a:t>
            </a:r>
            <a:endParaRPr lang="en-US" i="1"/>
          </a:p>
        </p:txBody>
      </p:sp>
      <p:sp>
        <p:nvSpPr>
          <p:cNvPr id="70673" name="Rectangle 59"/>
          <p:cNvSpPr>
            <a:spLocks noChangeArrowheads="1"/>
          </p:cNvSpPr>
          <p:nvPr/>
        </p:nvSpPr>
        <p:spPr bwMode="auto">
          <a:xfrm>
            <a:off x="4827588" y="3127375"/>
            <a:ext cx="153987" cy="138113"/>
          </a:xfrm>
          <a:prstGeom prst="rect">
            <a:avLst/>
          </a:prstGeom>
          <a:noFill/>
          <a:ln w="9525">
            <a:noFill/>
            <a:miter lim="800000"/>
            <a:headEnd/>
            <a:tailEnd/>
          </a:ln>
        </p:spPr>
        <p:txBody>
          <a:bodyPr wrap="none" lIns="0" tIns="0" rIns="0" bIns="0">
            <a:spAutoFit/>
          </a:bodyPr>
          <a:lstStyle/>
          <a:p>
            <a:pPr marL="1588" indent="-1588"/>
            <a:r>
              <a:rPr lang="en-US" sz="900">
                <a:solidFill>
                  <a:srgbClr val="000000"/>
                </a:solidFill>
                <a:latin typeface="Myriad Roman"/>
              </a:rPr>
              <a:t>Liu</a:t>
            </a:r>
            <a:endParaRPr lang="en-US"/>
          </a:p>
        </p:txBody>
      </p:sp>
      <p:sp>
        <p:nvSpPr>
          <p:cNvPr id="70674" name="Line 60"/>
          <p:cNvSpPr>
            <a:spLocks noChangeShapeType="1"/>
          </p:cNvSpPr>
          <p:nvPr/>
        </p:nvSpPr>
        <p:spPr bwMode="auto">
          <a:xfrm>
            <a:off x="971550" y="4268788"/>
            <a:ext cx="109538" cy="0"/>
          </a:xfrm>
          <a:prstGeom prst="line">
            <a:avLst/>
          </a:prstGeom>
          <a:noFill/>
          <a:ln w="9525">
            <a:solidFill>
              <a:srgbClr val="000000"/>
            </a:solidFill>
            <a:miter lim="800000"/>
            <a:headEnd/>
            <a:tailEnd/>
          </a:ln>
        </p:spPr>
        <p:txBody>
          <a:bodyPr/>
          <a:lstStyle/>
          <a:p>
            <a:endParaRPr lang="en-US"/>
          </a:p>
        </p:txBody>
      </p:sp>
      <p:sp>
        <p:nvSpPr>
          <p:cNvPr id="70675" name="Line 61"/>
          <p:cNvSpPr>
            <a:spLocks noChangeShapeType="1"/>
          </p:cNvSpPr>
          <p:nvPr/>
        </p:nvSpPr>
        <p:spPr bwMode="auto">
          <a:xfrm flipV="1">
            <a:off x="1558925" y="5091113"/>
            <a:ext cx="0" cy="109537"/>
          </a:xfrm>
          <a:prstGeom prst="line">
            <a:avLst/>
          </a:prstGeom>
          <a:noFill/>
          <a:ln w="9525">
            <a:solidFill>
              <a:srgbClr val="000000"/>
            </a:solidFill>
            <a:miter lim="800000"/>
            <a:headEnd/>
            <a:tailEnd/>
          </a:ln>
        </p:spPr>
        <p:txBody>
          <a:bodyPr/>
          <a:lstStyle/>
          <a:p>
            <a:endParaRPr lang="en-US"/>
          </a:p>
        </p:txBody>
      </p:sp>
      <p:sp>
        <p:nvSpPr>
          <p:cNvPr id="70676" name="Line 62"/>
          <p:cNvSpPr>
            <a:spLocks noChangeShapeType="1"/>
          </p:cNvSpPr>
          <p:nvPr/>
        </p:nvSpPr>
        <p:spPr bwMode="auto">
          <a:xfrm flipV="1">
            <a:off x="2146300" y="5091113"/>
            <a:ext cx="0" cy="109537"/>
          </a:xfrm>
          <a:prstGeom prst="line">
            <a:avLst/>
          </a:prstGeom>
          <a:noFill/>
          <a:ln w="9525">
            <a:solidFill>
              <a:srgbClr val="000000"/>
            </a:solidFill>
            <a:miter lim="800000"/>
            <a:headEnd/>
            <a:tailEnd/>
          </a:ln>
        </p:spPr>
        <p:txBody>
          <a:bodyPr/>
          <a:lstStyle/>
          <a:p>
            <a:endParaRPr lang="en-US"/>
          </a:p>
        </p:txBody>
      </p:sp>
      <p:sp>
        <p:nvSpPr>
          <p:cNvPr id="70677" name="Line 63"/>
          <p:cNvSpPr>
            <a:spLocks noChangeShapeType="1"/>
          </p:cNvSpPr>
          <p:nvPr/>
        </p:nvSpPr>
        <p:spPr bwMode="auto">
          <a:xfrm flipV="1">
            <a:off x="2730500" y="5091113"/>
            <a:ext cx="0" cy="109537"/>
          </a:xfrm>
          <a:prstGeom prst="line">
            <a:avLst/>
          </a:prstGeom>
          <a:noFill/>
          <a:ln w="9525">
            <a:solidFill>
              <a:srgbClr val="000000"/>
            </a:solidFill>
            <a:miter lim="800000"/>
            <a:headEnd/>
            <a:tailEnd/>
          </a:ln>
        </p:spPr>
        <p:txBody>
          <a:bodyPr/>
          <a:lstStyle/>
          <a:p>
            <a:endParaRPr lang="en-US"/>
          </a:p>
        </p:txBody>
      </p:sp>
      <p:sp>
        <p:nvSpPr>
          <p:cNvPr id="70678" name="Line 64"/>
          <p:cNvSpPr>
            <a:spLocks noChangeShapeType="1"/>
          </p:cNvSpPr>
          <p:nvPr/>
        </p:nvSpPr>
        <p:spPr bwMode="auto">
          <a:xfrm flipV="1">
            <a:off x="4632325" y="5091113"/>
            <a:ext cx="0" cy="109537"/>
          </a:xfrm>
          <a:prstGeom prst="line">
            <a:avLst/>
          </a:prstGeom>
          <a:noFill/>
          <a:ln w="9525">
            <a:solidFill>
              <a:srgbClr val="000000"/>
            </a:solidFill>
            <a:miter lim="800000"/>
            <a:headEnd/>
            <a:tailEnd/>
          </a:ln>
        </p:spPr>
        <p:txBody>
          <a:bodyPr/>
          <a:lstStyle/>
          <a:p>
            <a:endParaRPr lang="en-US"/>
          </a:p>
        </p:txBody>
      </p:sp>
      <p:sp>
        <p:nvSpPr>
          <p:cNvPr id="70679" name="Line 65"/>
          <p:cNvSpPr>
            <a:spLocks noChangeShapeType="1"/>
          </p:cNvSpPr>
          <p:nvPr/>
        </p:nvSpPr>
        <p:spPr bwMode="auto">
          <a:xfrm flipV="1">
            <a:off x="5275263" y="5091113"/>
            <a:ext cx="0" cy="109537"/>
          </a:xfrm>
          <a:prstGeom prst="line">
            <a:avLst/>
          </a:prstGeom>
          <a:noFill/>
          <a:ln w="9525">
            <a:solidFill>
              <a:srgbClr val="000000"/>
            </a:solidFill>
            <a:miter lim="800000"/>
            <a:headEnd/>
            <a:tailEnd/>
          </a:ln>
        </p:spPr>
        <p:txBody>
          <a:bodyPr/>
          <a:lstStyle/>
          <a:p>
            <a:endParaRPr lang="en-US"/>
          </a:p>
        </p:txBody>
      </p:sp>
      <p:sp>
        <p:nvSpPr>
          <p:cNvPr id="70680" name="Rectangle 66"/>
          <p:cNvSpPr>
            <a:spLocks noChangeArrowheads="1"/>
          </p:cNvSpPr>
          <p:nvPr/>
        </p:nvSpPr>
        <p:spPr bwMode="auto">
          <a:xfrm>
            <a:off x="4592638" y="5246688"/>
            <a:ext cx="84137"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1</a:t>
            </a:r>
            <a:endParaRPr lang="en-US"/>
          </a:p>
        </p:txBody>
      </p:sp>
      <p:sp>
        <p:nvSpPr>
          <p:cNvPr id="70681" name="Rectangle 67"/>
          <p:cNvSpPr>
            <a:spLocks noChangeArrowheads="1"/>
          </p:cNvSpPr>
          <p:nvPr/>
        </p:nvSpPr>
        <p:spPr bwMode="auto">
          <a:xfrm>
            <a:off x="5235575" y="5246688"/>
            <a:ext cx="84138"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2</a:t>
            </a:r>
            <a:endParaRPr lang="en-US"/>
          </a:p>
        </p:txBody>
      </p:sp>
      <p:sp>
        <p:nvSpPr>
          <p:cNvPr id="70682" name="Rectangle 68"/>
          <p:cNvSpPr>
            <a:spLocks noChangeArrowheads="1"/>
          </p:cNvSpPr>
          <p:nvPr/>
        </p:nvSpPr>
        <p:spPr bwMode="auto">
          <a:xfrm>
            <a:off x="8043863" y="5246688"/>
            <a:ext cx="84137"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3</a:t>
            </a:r>
            <a:endParaRPr lang="en-US"/>
          </a:p>
        </p:txBody>
      </p:sp>
      <p:sp>
        <p:nvSpPr>
          <p:cNvPr id="70683" name="Rectangle 69"/>
          <p:cNvSpPr>
            <a:spLocks noChangeArrowheads="1"/>
          </p:cNvSpPr>
          <p:nvPr/>
        </p:nvSpPr>
        <p:spPr bwMode="auto">
          <a:xfrm>
            <a:off x="7327900" y="5246688"/>
            <a:ext cx="84138"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1</a:t>
            </a:r>
            <a:endParaRPr lang="en-US"/>
          </a:p>
        </p:txBody>
      </p:sp>
      <p:sp>
        <p:nvSpPr>
          <p:cNvPr id="70684" name="Rectangle 70"/>
          <p:cNvSpPr>
            <a:spLocks noChangeArrowheads="1"/>
          </p:cNvSpPr>
          <p:nvPr/>
        </p:nvSpPr>
        <p:spPr bwMode="auto">
          <a:xfrm>
            <a:off x="7686675" y="5246688"/>
            <a:ext cx="84138"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2</a:t>
            </a:r>
            <a:endParaRPr lang="en-US"/>
          </a:p>
        </p:txBody>
      </p:sp>
      <p:sp>
        <p:nvSpPr>
          <p:cNvPr id="70685" name="Rectangle 71"/>
          <p:cNvSpPr>
            <a:spLocks noChangeArrowheads="1"/>
          </p:cNvSpPr>
          <p:nvPr/>
        </p:nvSpPr>
        <p:spPr bwMode="auto">
          <a:xfrm>
            <a:off x="2106613" y="5246688"/>
            <a:ext cx="84137"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2</a:t>
            </a:r>
            <a:endParaRPr lang="en-US"/>
          </a:p>
        </p:txBody>
      </p:sp>
      <p:sp>
        <p:nvSpPr>
          <p:cNvPr id="70686" name="Rectangle 72"/>
          <p:cNvSpPr>
            <a:spLocks noChangeArrowheads="1"/>
          </p:cNvSpPr>
          <p:nvPr/>
        </p:nvSpPr>
        <p:spPr bwMode="auto">
          <a:xfrm>
            <a:off x="2693988" y="5246688"/>
            <a:ext cx="84137"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3</a:t>
            </a:r>
            <a:endParaRPr lang="en-US"/>
          </a:p>
        </p:txBody>
      </p:sp>
      <p:sp>
        <p:nvSpPr>
          <p:cNvPr id="70687" name="Rectangle 73"/>
          <p:cNvSpPr>
            <a:spLocks noChangeArrowheads="1"/>
          </p:cNvSpPr>
          <p:nvPr/>
        </p:nvSpPr>
        <p:spPr bwMode="auto">
          <a:xfrm>
            <a:off x="1520825" y="5246688"/>
            <a:ext cx="84138"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1</a:t>
            </a:r>
            <a:endParaRPr lang="en-US"/>
          </a:p>
        </p:txBody>
      </p:sp>
      <p:sp>
        <p:nvSpPr>
          <p:cNvPr id="70688" name="Rectangle 74"/>
          <p:cNvSpPr>
            <a:spLocks noChangeArrowheads="1"/>
          </p:cNvSpPr>
          <p:nvPr/>
        </p:nvSpPr>
        <p:spPr bwMode="auto">
          <a:xfrm>
            <a:off x="8401050" y="5246688"/>
            <a:ext cx="84138"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4</a:t>
            </a:r>
            <a:endParaRPr lang="en-US"/>
          </a:p>
        </p:txBody>
      </p:sp>
      <p:sp>
        <p:nvSpPr>
          <p:cNvPr id="70689" name="Rectangle 75"/>
          <p:cNvSpPr>
            <a:spLocks noChangeArrowheads="1"/>
          </p:cNvSpPr>
          <p:nvPr/>
        </p:nvSpPr>
        <p:spPr bwMode="auto">
          <a:xfrm>
            <a:off x="8759825" y="5246688"/>
            <a:ext cx="84138"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5</a:t>
            </a:r>
            <a:endParaRPr lang="en-US"/>
          </a:p>
        </p:txBody>
      </p:sp>
      <p:sp>
        <p:nvSpPr>
          <p:cNvPr id="70690" name="Rectangle 76"/>
          <p:cNvSpPr>
            <a:spLocks noChangeArrowheads="1"/>
          </p:cNvSpPr>
          <p:nvPr/>
        </p:nvSpPr>
        <p:spPr bwMode="auto">
          <a:xfrm>
            <a:off x="6875463" y="5246688"/>
            <a:ext cx="84137"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0</a:t>
            </a:r>
            <a:endParaRPr lang="en-US"/>
          </a:p>
        </p:txBody>
      </p:sp>
      <p:sp>
        <p:nvSpPr>
          <p:cNvPr id="70691" name="Rectangle 77"/>
          <p:cNvSpPr>
            <a:spLocks noChangeArrowheads="1"/>
          </p:cNvSpPr>
          <p:nvPr/>
        </p:nvSpPr>
        <p:spPr bwMode="auto">
          <a:xfrm>
            <a:off x="836613" y="5246688"/>
            <a:ext cx="84137"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0</a:t>
            </a:r>
            <a:endParaRPr lang="en-US"/>
          </a:p>
        </p:txBody>
      </p:sp>
      <p:sp>
        <p:nvSpPr>
          <p:cNvPr id="70692" name="Rectangle 78"/>
          <p:cNvSpPr>
            <a:spLocks noChangeArrowheads="1"/>
          </p:cNvSpPr>
          <p:nvPr/>
        </p:nvSpPr>
        <p:spPr bwMode="auto">
          <a:xfrm>
            <a:off x="3838575" y="5246688"/>
            <a:ext cx="84138"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0</a:t>
            </a:r>
            <a:endParaRPr lang="en-US"/>
          </a:p>
        </p:txBody>
      </p:sp>
      <p:sp>
        <p:nvSpPr>
          <p:cNvPr id="70693" name="Line 79"/>
          <p:cNvSpPr>
            <a:spLocks noChangeShapeType="1"/>
          </p:cNvSpPr>
          <p:nvPr/>
        </p:nvSpPr>
        <p:spPr bwMode="auto">
          <a:xfrm>
            <a:off x="971550" y="3276600"/>
            <a:ext cx="109538" cy="0"/>
          </a:xfrm>
          <a:prstGeom prst="line">
            <a:avLst/>
          </a:prstGeom>
          <a:noFill/>
          <a:ln w="9525">
            <a:solidFill>
              <a:srgbClr val="000000"/>
            </a:solidFill>
            <a:miter lim="800000"/>
            <a:headEnd/>
            <a:tailEnd/>
          </a:ln>
        </p:spPr>
        <p:txBody>
          <a:bodyPr/>
          <a:lstStyle/>
          <a:p>
            <a:endParaRPr lang="en-US"/>
          </a:p>
        </p:txBody>
      </p:sp>
      <p:sp>
        <p:nvSpPr>
          <p:cNvPr id="70694" name="Line 80"/>
          <p:cNvSpPr>
            <a:spLocks noChangeShapeType="1"/>
          </p:cNvSpPr>
          <p:nvPr/>
        </p:nvSpPr>
        <p:spPr bwMode="auto">
          <a:xfrm>
            <a:off x="3975100" y="4268788"/>
            <a:ext cx="109538" cy="0"/>
          </a:xfrm>
          <a:prstGeom prst="line">
            <a:avLst/>
          </a:prstGeom>
          <a:noFill/>
          <a:ln w="9525">
            <a:solidFill>
              <a:srgbClr val="000000"/>
            </a:solidFill>
            <a:miter lim="800000"/>
            <a:headEnd/>
            <a:tailEnd/>
          </a:ln>
        </p:spPr>
        <p:txBody>
          <a:bodyPr/>
          <a:lstStyle/>
          <a:p>
            <a:endParaRPr lang="en-US"/>
          </a:p>
        </p:txBody>
      </p:sp>
      <p:sp>
        <p:nvSpPr>
          <p:cNvPr id="70695" name="Line 81"/>
          <p:cNvSpPr>
            <a:spLocks noChangeShapeType="1"/>
          </p:cNvSpPr>
          <p:nvPr/>
        </p:nvSpPr>
        <p:spPr bwMode="auto">
          <a:xfrm>
            <a:off x="3975100" y="3276600"/>
            <a:ext cx="109538" cy="0"/>
          </a:xfrm>
          <a:prstGeom prst="line">
            <a:avLst/>
          </a:prstGeom>
          <a:noFill/>
          <a:ln w="9525">
            <a:solidFill>
              <a:srgbClr val="000000"/>
            </a:solidFill>
            <a:miter lim="800000"/>
            <a:headEnd/>
            <a:tailEnd/>
          </a:ln>
        </p:spPr>
        <p:txBody>
          <a:bodyPr/>
          <a:lstStyle/>
          <a:p>
            <a:endParaRPr lang="en-US"/>
          </a:p>
        </p:txBody>
      </p:sp>
      <p:sp>
        <p:nvSpPr>
          <p:cNvPr id="70696" name="Line 82"/>
          <p:cNvSpPr>
            <a:spLocks noChangeShapeType="1"/>
          </p:cNvSpPr>
          <p:nvPr/>
        </p:nvSpPr>
        <p:spPr bwMode="auto">
          <a:xfrm>
            <a:off x="7005638" y="4268788"/>
            <a:ext cx="111125" cy="0"/>
          </a:xfrm>
          <a:prstGeom prst="line">
            <a:avLst/>
          </a:prstGeom>
          <a:noFill/>
          <a:ln w="9525">
            <a:solidFill>
              <a:srgbClr val="000000"/>
            </a:solidFill>
            <a:miter lim="800000"/>
            <a:headEnd/>
            <a:tailEnd/>
          </a:ln>
        </p:spPr>
        <p:txBody>
          <a:bodyPr/>
          <a:lstStyle/>
          <a:p>
            <a:endParaRPr lang="en-US"/>
          </a:p>
        </p:txBody>
      </p:sp>
      <p:sp>
        <p:nvSpPr>
          <p:cNvPr id="70697" name="Line 83"/>
          <p:cNvSpPr>
            <a:spLocks noChangeShapeType="1"/>
          </p:cNvSpPr>
          <p:nvPr/>
        </p:nvSpPr>
        <p:spPr bwMode="auto">
          <a:xfrm>
            <a:off x="7005638" y="3276600"/>
            <a:ext cx="111125" cy="0"/>
          </a:xfrm>
          <a:prstGeom prst="line">
            <a:avLst/>
          </a:prstGeom>
          <a:noFill/>
          <a:ln w="9525">
            <a:solidFill>
              <a:srgbClr val="000000"/>
            </a:solidFill>
            <a:miter lim="800000"/>
            <a:headEnd/>
            <a:tailEnd/>
          </a:ln>
        </p:spPr>
        <p:txBody>
          <a:bodyPr/>
          <a:lstStyle/>
          <a:p>
            <a:endParaRPr lang="en-US"/>
          </a:p>
        </p:txBody>
      </p:sp>
      <p:sp>
        <p:nvSpPr>
          <p:cNvPr id="70698" name="Rectangle 84"/>
          <p:cNvSpPr>
            <a:spLocks noChangeArrowheads="1"/>
          </p:cNvSpPr>
          <p:nvPr/>
        </p:nvSpPr>
        <p:spPr bwMode="auto">
          <a:xfrm>
            <a:off x="6800850" y="3186113"/>
            <a:ext cx="168275"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$2</a:t>
            </a:r>
            <a:endParaRPr lang="en-US"/>
          </a:p>
        </p:txBody>
      </p:sp>
      <p:sp>
        <p:nvSpPr>
          <p:cNvPr id="70699" name="Rectangle 85"/>
          <p:cNvSpPr>
            <a:spLocks noChangeArrowheads="1"/>
          </p:cNvSpPr>
          <p:nvPr/>
        </p:nvSpPr>
        <p:spPr bwMode="auto">
          <a:xfrm>
            <a:off x="6875463" y="4184650"/>
            <a:ext cx="84137"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1</a:t>
            </a:r>
            <a:endParaRPr lang="en-US"/>
          </a:p>
        </p:txBody>
      </p:sp>
      <p:sp>
        <p:nvSpPr>
          <p:cNvPr id="70700" name="Rectangle 86"/>
          <p:cNvSpPr>
            <a:spLocks noChangeArrowheads="1"/>
          </p:cNvSpPr>
          <p:nvPr/>
        </p:nvSpPr>
        <p:spPr bwMode="auto">
          <a:xfrm>
            <a:off x="3762375" y="3186113"/>
            <a:ext cx="168275"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$2</a:t>
            </a:r>
            <a:endParaRPr lang="en-US"/>
          </a:p>
        </p:txBody>
      </p:sp>
      <p:sp>
        <p:nvSpPr>
          <p:cNvPr id="70701" name="Rectangle 87"/>
          <p:cNvSpPr>
            <a:spLocks noChangeArrowheads="1"/>
          </p:cNvSpPr>
          <p:nvPr/>
        </p:nvSpPr>
        <p:spPr bwMode="auto">
          <a:xfrm>
            <a:off x="3838575" y="4184650"/>
            <a:ext cx="84138"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1</a:t>
            </a:r>
            <a:endParaRPr lang="en-US"/>
          </a:p>
        </p:txBody>
      </p:sp>
      <p:sp>
        <p:nvSpPr>
          <p:cNvPr id="70702" name="Rectangle 88"/>
          <p:cNvSpPr>
            <a:spLocks noChangeArrowheads="1"/>
          </p:cNvSpPr>
          <p:nvPr/>
        </p:nvSpPr>
        <p:spPr bwMode="auto">
          <a:xfrm>
            <a:off x="762000" y="3186113"/>
            <a:ext cx="168275"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$2</a:t>
            </a:r>
            <a:endParaRPr lang="en-US"/>
          </a:p>
        </p:txBody>
      </p:sp>
      <p:sp>
        <p:nvSpPr>
          <p:cNvPr id="70703" name="Rectangle 89"/>
          <p:cNvSpPr>
            <a:spLocks noChangeArrowheads="1"/>
          </p:cNvSpPr>
          <p:nvPr/>
        </p:nvSpPr>
        <p:spPr bwMode="auto">
          <a:xfrm>
            <a:off x="836613" y="4184650"/>
            <a:ext cx="84137" cy="146050"/>
          </a:xfrm>
          <a:prstGeom prst="rect">
            <a:avLst/>
          </a:prstGeom>
          <a:noFill/>
          <a:ln w="9525">
            <a:noFill/>
            <a:miter lim="800000"/>
            <a:headEnd/>
            <a:tailEnd/>
          </a:ln>
        </p:spPr>
        <p:txBody>
          <a:bodyPr wrap="none" lIns="0" tIns="0" rIns="0" bIns="0">
            <a:spAutoFit/>
          </a:bodyPr>
          <a:lstStyle/>
          <a:p>
            <a:pPr marL="1588" indent="-1588"/>
            <a:r>
              <a:rPr lang="en-US" sz="1200">
                <a:solidFill>
                  <a:srgbClr val="000000"/>
                </a:solidFill>
                <a:latin typeface="Myriad Roman"/>
              </a:rPr>
              <a:t>1</a:t>
            </a:r>
            <a:endParaRPr lang="en-US"/>
          </a:p>
        </p:txBody>
      </p:sp>
      <p:sp>
        <p:nvSpPr>
          <p:cNvPr id="70704" name="Freeform 110"/>
          <p:cNvSpPr>
            <a:spLocks/>
          </p:cNvSpPr>
          <p:nvPr/>
        </p:nvSpPr>
        <p:spPr bwMode="auto">
          <a:xfrm>
            <a:off x="971550" y="2587625"/>
            <a:ext cx="1928813" cy="2608263"/>
          </a:xfrm>
          <a:custGeom>
            <a:avLst/>
            <a:gdLst>
              <a:gd name="T0" fmla="*/ 2147483647 w 1215"/>
              <a:gd name="T1" fmla="*/ 2147483647 h 1643"/>
              <a:gd name="T2" fmla="*/ 0 w 1215"/>
              <a:gd name="T3" fmla="*/ 2147483647 h 1643"/>
              <a:gd name="T4" fmla="*/ 0 w 1215"/>
              <a:gd name="T5" fmla="*/ 0 h 1643"/>
              <a:gd name="T6" fmla="*/ 0 60000 65536"/>
              <a:gd name="T7" fmla="*/ 0 60000 65536"/>
              <a:gd name="T8" fmla="*/ 0 60000 65536"/>
              <a:gd name="T9" fmla="*/ 0 w 1215"/>
              <a:gd name="T10" fmla="*/ 0 h 1643"/>
              <a:gd name="T11" fmla="*/ 1215 w 1215"/>
              <a:gd name="T12" fmla="*/ 1643 h 1643"/>
            </a:gdLst>
            <a:ahLst/>
            <a:cxnLst>
              <a:cxn ang="T6">
                <a:pos x="T0" y="T1"/>
              </a:cxn>
              <a:cxn ang="T7">
                <a:pos x="T2" y="T3"/>
              </a:cxn>
              <a:cxn ang="T8">
                <a:pos x="T4" y="T5"/>
              </a:cxn>
            </a:cxnLst>
            <a:rect l="T9" t="T10" r="T11" b="T12"/>
            <a:pathLst>
              <a:path w="1215" h="1643">
                <a:moveTo>
                  <a:pt x="1215" y="1643"/>
                </a:moveTo>
                <a:lnTo>
                  <a:pt x="0" y="1643"/>
                </a:lnTo>
                <a:lnTo>
                  <a:pt x="0" y="0"/>
                </a:lnTo>
              </a:path>
            </a:pathLst>
          </a:custGeom>
          <a:noFill/>
          <a:ln w="9525" cap="flat">
            <a:solidFill>
              <a:srgbClr val="000000"/>
            </a:solidFill>
            <a:prstDash val="solid"/>
            <a:miter lim="800000"/>
            <a:headEnd/>
            <a:tailEnd/>
          </a:ln>
        </p:spPr>
        <p:txBody>
          <a:bodyPr/>
          <a:lstStyle/>
          <a:p>
            <a:endParaRPr lang="en-US"/>
          </a:p>
        </p:txBody>
      </p:sp>
      <p:sp>
        <p:nvSpPr>
          <p:cNvPr id="70705" name="Freeform 131"/>
          <p:cNvSpPr>
            <a:spLocks/>
          </p:cNvSpPr>
          <p:nvPr/>
        </p:nvSpPr>
        <p:spPr bwMode="auto">
          <a:xfrm>
            <a:off x="7005638" y="2587625"/>
            <a:ext cx="2049462" cy="2608263"/>
          </a:xfrm>
          <a:custGeom>
            <a:avLst/>
            <a:gdLst>
              <a:gd name="T0" fmla="*/ 2147483647 w 1291"/>
              <a:gd name="T1" fmla="*/ 2147483647 h 1643"/>
              <a:gd name="T2" fmla="*/ 0 w 1291"/>
              <a:gd name="T3" fmla="*/ 2147483647 h 1643"/>
              <a:gd name="T4" fmla="*/ 0 w 1291"/>
              <a:gd name="T5" fmla="*/ 0 h 1643"/>
              <a:gd name="T6" fmla="*/ 0 60000 65536"/>
              <a:gd name="T7" fmla="*/ 0 60000 65536"/>
              <a:gd name="T8" fmla="*/ 0 60000 65536"/>
              <a:gd name="T9" fmla="*/ 0 w 1291"/>
              <a:gd name="T10" fmla="*/ 0 h 1643"/>
              <a:gd name="T11" fmla="*/ 1291 w 1291"/>
              <a:gd name="T12" fmla="*/ 1643 h 1643"/>
            </a:gdLst>
            <a:ahLst/>
            <a:cxnLst>
              <a:cxn ang="T6">
                <a:pos x="T0" y="T1"/>
              </a:cxn>
              <a:cxn ang="T7">
                <a:pos x="T2" y="T3"/>
              </a:cxn>
              <a:cxn ang="T8">
                <a:pos x="T4" y="T5"/>
              </a:cxn>
            </a:cxnLst>
            <a:rect l="T9" t="T10" r="T11" b="T12"/>
            <a:pathLst>
              <a:path w="1291" h="1643">
                <a:moveTo>
                  <a:pt x="1291" y="1643"/>
                </a:moveTo>
                <a:lnTo>
                  <a:pt x="0" y="1643"/>
                </a:lnTo>
                <a:lnTo>
                  <a:pt x="0" y="0"/>
                </a:lnTo>
              </a:path>
            </a:pathLst>
          </a:custGeom>
          <a:noFill/>
          <a:ln w="9525" cap="flat">
            <a:solidFill>
              <a:srgbClr val="000000"/>
            </a:solidFill>
            <a:prstDash val="solid"/>
            <a:miter lim="800000"/>
            <a:headEnd/>
            <a:tailEnd/>
          </a:ln>
        </p:spPr>
        <p:txBody>
          <a:bodyPr/>
          <a:lstStyle/>
          <a:p>
            <a:endParaRPr lang="en-US"/>
          </a:p>
        </p:txBody>
      </p:sp>
      <p:sp>
        <p:nvSpPr>
          <p:cNvPr id="70706" name="Freeform 152"/>
          <p:cNvSpPr>
            <a:spLocks/>
          </p:cNvSpPr>
          <p:nvPr/>
        </p:nvSpPr>
        <p:spPr bwMode="auto">
          <a:xfrm>
            <a:off x="3975100" y="2587625"/>
            <a:ext cx="1924050" cy="2608263"/>
          </a:xfrm>
          <a:custGeom>
            <a:avLst/>
            <a:gdLst>
              <a:gd name="T0" fmla="*/ 2147483647 w 1212"/>
              <a:gd name="T1" fmla="*/ 2147483647 h 1643"/>
              <a:gd name="T2" fmla="*/ 0 w 1212"/>
              <a:gd name="T3" fmla="*/ 2147483647 h 1643"/>
              <a:gd name="T4" fmla="*/ 0 w 1212"/>
              <a:gd name="T5" fmla="*/ 0 h 1643"/>
              <a:gd name="T6" fmla="*/ 0 60000 65536"/>
              <a:gd name="T7" fmla="*/ 0 60000 65536"/>
              <a:gd name="T8" fmla="*/ 0 60000 65536"/>
              <a:gd name="T9" fmla="*/ 0 w 1212"/>
              <a:gd name="T10" fmla="*/ 0 h 1643"/>
              <a:gd name="T11" fmla="*/ 1212 w 1212"/>
              <a:gd name="T12" fmla="*/ 1643 h 1643"/>
            </a:gdLst>
            <a:ahLst/>
            <a:cxnLst>
              <a:cxn ang="T6">
                <a:pos x="T0" y="T1"/>
              </a:cxn>
              <a:cxn ang="T7">
                <a:pos x="T2" y="T3"/>
              </a:cxn>
              <a:cxn ang="T8">
                <a:pos x="T4" y="T5"/>
              </a:cxn>
            </a:cxnLst>
            <a:rect l="T9" t="T10" r="T11" b="T12"/>
            <a:pathLst>
              <a:path w="1212" h="1643">
                <a:moveTo>
                  <a:pt x="1212" y="1643"/>
                </a:moveTo>
                <a:lnTo>
                  <a:pt x="0" y="1643"/>
                </a:lnTo>
                <a:lnTo>
                  <a:pt x="0" y="0"/>
                </a:lnTo>
              </a:path>
            </a:pathLst>
          </a:custGeom>
          <a:noFill/>
          <a:ln w="9525" cap="flat">
            <a:solidFill>
              <a:srgbClr val="000000"/>
            </a:solidFill>
            <a:prstDash val="solid"/>
            <a:miter lim="800000"/>
            <a:headEnd/>
            <a:tailEnd/>
          </a:ln>
        </p:spPr>
        <p:txBody>
          <a:bodyPr/>
          <a:lstStyle/>
          <a:p>
            <a:endParaRPr lang="en-US"/>
          </a:p>
        </p:txBody>
      </p:sp>
      <p:sp>
        <p:nvSpPr>
          <p:cNvPr id="70707" name="Line 153"/>
          <p:cNvSpPr>
            <a:spLocks noChangeShapeType="1"/>
          </p:cNvSpPr>
          <p:nvPr/>
        </p:nvSpPr>
        <p:spPr bwMode="auto">
          <a:xfrm>
            <a:off x="2597150" y="4438650"/>
            <a:ext cx="0" cy="0"/>
          </a:xfrm>
          <a:prstGeom prst="line">
            <a:avLst/>
          </a:prstGeom>
          <a:noFill/>
          <a:ln w="36513">
            <a:solidFill>
              <a:srgbClr val="AEC5E7"/>
            </a:solidFill>
            <a:miter lim="800000"/>
            <a:headEnd/>
            <a:tailEnd/>
          </a:ln>
        </p:spPr>
        <p:txBody>
          <a:bodyPr/>
          <a:lstStyle/>
          <a:p>
            <a:endParaRPr lang="en-US"/>
          </a:p>
        </p:txBody>
      </p:sp>
      <p:sp>
        <p:nvSpPr>
          <p:cNvPr id="70708" name="Line 154"/>
          <p:cNvSpPr>
            <a:spLocks noChangeShapeType="1"/>
          </p:cNvSpPr>
          <p:nvPr/>
        </p:nvSpPr>
        <p:spPr bwMode="auto">
          <a:xfrm>
            <a:off x="1581150" y="2909888"/>
            <a:ext cx="0" cy="0"/>
          </a:xfrm>
          <a:prstGeom prst="line">
            <a:avLst/>
          </a:prstGeom>
          <a:noFill/>
          <a:ln w="36513">
            <a:solidFill>
              <a:srgbClr val="AEC5E7"/>
            </a:solidFill>
            <a:miter lim="800000"/>
            <a:headEnd/>
            <a:tailEnd/>
          </a:ln>
        </p:spPr>
        <p:txBody>
          <a:bodyPr/>
          <a:lstStyle/>
          <a:p>
            <a:endParaRPr lang="en-US"/>
          </a:p>
        </p:txBody>
      </p:sp>
      <p:sp>
        <p:nvSpPr>
          <p:cNvPr id="70709" name="Line 199"/>
          <p:cNvSpPr>
            <a:spLocks noChangeShapeType="1"/>
          </p:cNvSpPr>
          <p:nvPr/>
        </p:nvSpPr>
        <p:spPr bwMode="auto">
          <a:xfrm flipH="1">
            <a:off x="2041525" y="3167063"/>
            <a:ext cx="752475" cy="1239837"/>
          </a:xfrm>
          <a:prstGeom prst="line">
            <a:avLst/>
          </a:prstGeom>
          <a:noFill/>
          <a:ln w="36513">
            <a:solidFill>
              <a:srgbClr val="EE313C"/>
            </a:solidFill>
            <a:miter lim="800000"/>
            <a:headEnd/>
            <a:tailEnd/>
          </a:ln>
        </p:spPr>
        <p:txBody>
          <a:bodyPr/>
          <a:lstStyle/>
          <a:p>
            <a:endParaRPr lang="en-US"/>
          </a:p>
        </p:txBody>
      </p:sp>
      <p:sp>
        <p:nvSpPr>
          <p:cNvPr id="70710" name="Oval 200"/>
          <p:cNvSpPr>
            <a:spLocks noChangeArrowheads="1"/>
          </p:cNvSpPr>
          <p:nvPr/>
        </p:nvSpPr>
        <p:spPr bwMode="auto">
          <a:xfrm>
            <a:off x="2082800" y="4217988"/>
            <a:ext cx="92075" cy="92075"/>
          </a:xfrm>
          <a:prstGeom prst="ellipse">
            <a:avLst/>
          </a:prstGeom>
          <a:solidFill>
            <a:srgbClr val="000000"/>
          </a:solidFill>
          <a:ln w="9525">
            <a:noFill/>
            <a:round/>
            <a:headEnd/>
            <a:tailEnd/>
          </a:ln>
        </p:spPr>
        <p:txBody>
          <a:bodyPr/>
          <a:lstStyle/>
          <a:p>
            <a:endParaRPr lang="en-US"/>
          </a:p>
        </p:txBody>
      </p:sp>
      <p:sp>
        <p:nvSpPr>
          <p:cNvPr id="70711" name="Oval 201"/>
          <p:cNvSpPr>
            <a:spLocks noChangeArrowheads="1"/>
          </p:cNvSpPr>
          <p:nvPr/>
        </p:nvSpPr>
        <p:spPr bwMode="auto">
          <a:xfrm>
            <a:off x="2689225" y="3225800"/>
            <a:ext cx="90488" cy="92075"/>
          </a:xfrm>
          <a:prstGeom prst="ellipse">
            <a:avLst/>
          </a:prstGeom>
          <a:solidFill>
            <a:srgbClr val="000000"/>
          </a:solidFill>
          <a:ln w="9525">
            <a:noFill/>
            <a:round/>
            <a:headEnd/>
            <a:tailEnd/>
          </a:ln>
        </p:spPr>
        <p:txBody>
          <a:bodyPr/>
          <a:lstStyle/>
          <a:p>
            <a:endParaRPr lang="en-US"/>
          </a:p>
        </p:txBody>
      </p:sp>
      <p:sp>
        <p:nvSpPr>
          <p:cNvPr id="70712" name="Line 202"/>
          <p:cNvSpPr>
            <a:spLocks noChangeShapeType="1"/>
          </p:cNvSpPr>
          <p:nvPr/>
        </p:nvSpPr>
        <p:spPr bwMode="auto">
          <a:xfrm flipH="1">
            <a:off x="4530725" y="3143250"/>
            <a:ext cx="817563" cy="1268413"/>
          </a:xfrm>
          <a:prstGeom prst="line">
            <a:avLst/>
          </a:prstGeom>
          <a:noFill/>
          <a:ln w="36513">
            <a:solidFill>
              <a:srgbClr val="EE313C"/>
            </a:solidFill>
            <a:miter lim="800000"/>
            <a:headEnd/>
            <a:tailEnd/>
          </a:ln>
        </p:spPr>
        <p:txBody>
          <a:bodyPr/>
          <a:lstStyle/>
          <a:p>
            <a:endParaRPr lang="en-US"/>
          </a:p>
        </p:txBody>
      </p:sp>
      <p:sp>
        <p:nvSpPr>
          <p:cNvPr id="70713" name="Line 203"/>
          <p:cNvSpPr>
            <a:spLocks noChangeShapeType="1"/>
          </p:cNvSpPr>
          <p:nvPr/>
        </p:nvSpPr>
        <p:spPr bwMode="auto">
          <a:xfrm flipV="1">
            <a:off x="7951788" y="3106738"/>
            <a:ext cx="979487" cy="1350962"/>
          </a:xfrm>
          <a:prstGeom prst="line">
            <a:avLst/>
          </a:prstGeom>
          <a:noFill/>
          <a:ln w="36513">
            <a:solidFill>
              <a:srgbClr val="EE313C"/>
            </a:solidFill>
            <a:miter lim="800000"/>
            <a:headEnd/>
            <a:tailEnd/>
          </a:ln>
        </p:spPr>
        <p:txBody>
          <a:bodyPr/>
          <a:lstStyle/>
          <a:p>
            <a:endParaRPr lang="en-US"/>
          </a:p>
        </p:txBody>
      </p:sp>
      <p:sp>
        <p:nvSpPr>
          <p:cNvPr id="70714" name="Oval 204"/>
          <p:cNvSpPr>
            <a:spLocks noChangeArrowheads="1"/>
          </p:cNvSpPr>
          <p:nvPr/>
        </p:nvSpPr>
        <p:spPr bwMode="auto">
          <a:xfrm>
            <a:off x="4581525" y="4217988"/>
            <a:ext cx="92075" cy="92075"/>
          </a:xfrm>
          <a:prstGeom prst="ellipse">
            <a:avLst/>
          </a:prstGeom>
          <a:solidFill>
            <a:srgbClr val="000000"/>
          </a:solidFill>
          <a:ln w="9525">
            <a:noFill/>
            <a:round/>
            <a:headEnd/>
            <a:tailEnd/>
          </a:ln>
        </p:spPr>
        <p:txBody>
          <a:bodyPr/>
          <a:lstStyle/>
          <a:p>
            <a:endParaRPr lang="en-US"/>
          </a:p>
        </p:txBody>
      </p:sp>
      <p:sp>
        <p:nvSpPr>
          <p:cNvPr id="70715" name="Oval 205"/>
          <p:cNvSpPr>
            <a:spLocks noChangeArrowheads="1"/>
          </p:cNvSpPr>
          <p:nvPr/>
        </p:nvSpPr>
        <p:spPr bwMode="auto">
          <a:xfrm>
            <a:off x="5224463" y="3230563"/>
            <a:ext cx="92075" cy="92075"/>
          </a:xfrm>
          <a:prstGeom prst="ellipse">
            <a:avLst/>
          </a:prstGeom>
          <a:solidFill>
            <a:srgbClr val="000000"/>
          </a:solidFill>
          <a:ln w="9525">
            <a:noFill/>
            <a:round/>
            <a:headEnd/>
            <a:tailEnd/>
          </a:ln>
        </p:spPr>
        <p:txBody>
          <a:bodyPr/>
          <a:lstStyle/>
          <a:p>
            <a:endParaRPr lang="en-US"/>
          </a:p>
        </p:txBody>
      </p:sp>
      <p:sp>
        <p:nvSpPr>
          <p:cNvPr id="70716" name="Oval 206"/>
          <p:cNvSpPr>
            <a:spLocks noChangeArrowheads="1"/>
          </p:cNvSpPr>
          <p:nvPr/>
        </p:nvSpPr>
        <p:spPr bwMode="auto">
          <a:xfrm>
            <a:off x="8747125" y="3235325"/>
            <a:ext cx="92075" cy="92075"/>
          </a:xfrm>
          <a:prstGeom prst="ellipse">
            <a:avLst/>
          </a:prstGeom>
          <a:solidFill>
            <a:srgbClr val="000000"/>
          </a:solidFill>
          <a:ln w="9525">
            <a:noFill/>
            <a:round/>
            <a:headEnd/>
            <a:tailEnd/>
          </a:ln>
        </p:spPr>
        <p:txBody>
          <a:bodyPr/>
          <a:lstStyle/>
          <a:p>
            <a:endParaRPr lang="en-US"/>
          </a:p>
        </p:txBody>
      </p:sp>
      <p:sp>
        <p:nvSpPr>
          <p:cNvPr id="70717" name="Oval 207"/>
          <p:cNvSpPr>
            <a:spLocks noChangeArrowheads="1"/>
          </p:cNvSpPr>
          <p:nvPr/>
        </p:nvSpPr>
        <p:spPr bwMode="auto">
          <a:xfrm>
            <a:off x="8034338" y="4222750"/>
            <a:ext cx="92075" cy="92075"/>
          </a:xfrm>
          <a:prstGeom prst="ellipse">
            <a:avLst/>
          </a:prstGeom>
          <a:solidFill>
            <a:srgbClr val="000000"/>
          </a:solidFill>
          <a:ln w="9525">
            <a:noFill/>
            <a:round/>
            <a:headEnd/>
            <a:tailEnd/>
          </a:ln>
        </p:spPr>
        <p:txBody>
          <a:bodyPr/>
          <a:lstStyle/>
          <a:p>
            <a:endParaRPr lang="en-US"/>
          </a:p>
        </p:txBody>
      </p:sp>
      <p:sp>
        <p:nvSpPr>
          <p:cNvPr id="70718" name="Line 208"/>
          <p:cNvSpPr>
            <a:spLocks noChangeShapeType="1"/>
          </p:cNvSpPr>
          <p:nvPr/>
        </p:nvSpPr>
        <p:spPr bwMode="auto">
          <a:xfrm flipV="1">
            <a:off x="7364413" y="5091113"/>
            <a:ext cx="0" cy="109537"/>
          </a:xfrm>
          <a:prstGeom prst="line">
            <a:avLst/>
          </a:prstGeom>
          <a:noFill/>
          <a:ln w="9525">
            <a:solidFill>
              <a:srgbClr val="000000"/>
            </a:solidFill>
            <a:miter lim="800000"/>
            <a:headEnd/>
            <a:tailEnd/>
          </a:ln>
        </p:spPr>
        <p:txBody>
          <a:bodyPr/>
          <a:lstStyle/>
          <a:p>
            <a:endParaRPr lang="en-US"/>
          </a:p>
        </p:txBody>
      </p:sp>
      <p:sp>
        <p:nvSpPr>
          <p:cNvPr id="70719" name="Line 209"/>
          <p:cNvSpPr>
            <a:spLocks noChangeShapeType="1"/>
          </p:cNvSpPr>
          <p:nvPr/>
        </p:nvSpPr>
        <p:spPr bwMode="auto">
          <a:xfrm flipV="1">
            <a:off x="7723188" y="5091113"/>
            <a:ext cx="0" cy="109537"/>
          </a:xfrm>
          <a:prstGeom prst="line">
            <a:avLst/>
          </a:prstGeom>
          <a:noFill/>
          <a:ln w="9525">
            <a:solidFill>
              <a:srgbClr val="000000"/>
            </a:solidFill>
            <a:miter lim="800000"/>
            <a:headEnd/>
            <a:tailEnd/>
          </a:ln>
        </p:spPr>
        <p:txBody>
          <a:bodyPr/>
          <a:lstStyle/>
          <a:p>
            <a:endParaRPr lang="en-US"/>
          </a:p>
        </p:txBody>
      </p:sp>
      <p:sp>
        <p:nvSpPr>
          <p:cNvPr id="70720" name="Line 210"/>
          <p:cNvSpPr>
            <a:spLocks noChangeShapeType="1"/>
          </p:cNvSpPr>
          <p:nvPr/>
        </p:nvSpPr>
        <p:spPr bwMode="auto">
          <a:xfrm flipV="1">
            <a:off x="8080375" y="5091113"/>
            <a:ext cx="0" cy="109537"/>
          </a:xfrm>
          <a:prstGeom prst="line">
            <a:avLst/>
          </a:prstGeom>
          <a:noFill/>
          <a:ln w="9525">
            <a:solidFill>
              <a:srgbClr val="000000"/>
            </a:solidFill>
            <a:miter lim="800000"/>
            <a:headEnd/>
            <a:tailEnd/>
          </a:ln>
        </p:spPr>
        <p:txBody>
          <a:bodyPr/>
          <a:lstStyle/>
          <a:p>
            <a:endParaRPr lang="en-US"/>
          </a:p>
        </p:txBody>
      </p:sp>
      <p:sp>
        <p:nvSpPr>
          <p:cNvPr id="70721" name="Line 211"/>
          <p:cNvSpPr>
            <a:spLocks noChangeShapeType="1"/>
          </p:cNvSpPr>
          <p:nvPr/>
        </p:nvSpPr>
        <p:spPr bwMode="auto">
          <a:xfrm flipV="1">
            <a:off x="8439150" y="5091113"/>
            <a:ext cx="0" cy="109537"/>
          </a:xfrm>
          <a:prstGeom prst="line">
            <a:avLst/>
          </a:prstGeom>
          <a:noFill/>
          <a:ln w="9525">
            <a:solidFill>
              <a:srgbClr val="000000"/>
            </a:solidFill>
            <a:miter lim="800000"/>
            <a:headEnd/>
            <a:tailEnd/>
          </a:ln>
        </p:spPr>
        <p:txBody>
          <a:bodyPr/>
          <a:lstStyle/>
          <a:p>
            <a:endParaRPr lang="en-US"/>
          </a:p>
        </p:txBody>
      </p:sp>
      <p:sp>
        <p:nvSpPr>
          <p:cNvPr id="70722" name="Line 212"/>
          <p:cNvSpPr>
            <a:spLocks noChangeShapeType="1"/>
          </p:cNvSpPr>
          <p:nvPr/>
        </p:nvSpPr>
        <p:spPr bwMode="auto">
          <a:xfrm flipV="1">
            <a:off x="8797925" y="5091113"/>
            <a:ext cx="0" cy="109537"/>
          </a:xfrm>
          <a:prstGeom prst="line">
            <a:avLst/>
          </a:prstGeom>
          <a:noFill/>
          <a:ln w="9525">
            <a:solidFill>
              <a:srgbClr val="000000"/>
            </a:solidFill>
            <a:miter lim="800000"/>
            <a:headEnd/>
            <a:tailEnd/>
          </a:ln>
        </p:spPr>
        <p:txBody>
          <a:bodyPr/>
          <a:lstStyle/>
          <a:p>
            <a:endParaRPr lang="en-US"/>
          </a:p>
        </p:txBody>
      </p:sp>
      <p:sp>
        <p:nvSpPr>
          <p:cNvPr id="70723" name="Rectangle 213"/>
          <p:cNvSpPr>
            <a:spLocks noChangeArrowheads="1"/>
          </p:cNvSpPr>
          <p:nvPr/>
        </p:nvSpPr>
        <p:spPr bwMode="auto">
          <a:xfrm>
            <a:off x="8380413" y="3025775"/>
            <a:ext cx="111125" cy="200025"/>
          </a:xfrm>
          <a:prstGeom prst="rect">
            <a:avLst/>
          </a:prstGeom>
          <a:noFill/>
          <a:ln w="9525">
            <a:noFill/>
            <a:miter lim="800000"/>
            <a:headEnd/>
            <a:tailEnd/>
          </a:ln>
        </p:spPr>
        <p:txBody>
          <a:bodyPr wrap="none" lIns="0" tIns="0" rIns="0" bIns="0">
            <a:spAutoFit/>
          </a:bodyPr>
          <a:lstStyle/>
          <a:p>
            <a:pPr marL="1588" indent="-1588"/>
            <a:r>
              <a:rPr lang="en-US" sz="1300" i="1">
                <a:solidFill>
                  <a:srgbClr val="000000"/>
                </a:solidFill>
                <a:latin typeface="Myriad Roman"/>
              </a:rPr>
              <a:t>S</a:t>
            </a:r>
            <a:endParaRPr lang="en-US" i="1"/>
          </a:p>
        </p:txBody>
      </p:sp>
      <p:sp>
        <p:nvSpPr>
          <p:cNvPr id="70724" name="Rectangle 214"/>
          <p:cNvSpPr>
            <a:spLocks noChangeArrowheads="1"/>
          </p:cNvSpPr>
          <p:nvPr/>
        </p:nvSpPr>
        <p:spPr bwMode="auto">
          <a:xfrm>
            <a:off x="8456613" y="3113088"/>
            <a:ext cx="352425" cy="138112"/>
          </a:xfrm>
          <a:prstGeom prst="rect">
            <a:avLst/>
          </a:prstGeom>
          <a:noFill/>
          <a:ln w="9525">
            <a:noFill/>
            <a:miter lim="800000"/>
            <a:headEnd/>
            <a:tailEnd/>
          </a:ln>
        </p:spPr>
        <p:txBody>
          <a:bodyPr wrap="none" lIns="0" tIns="0" rIns="0" bIns="0">
            <a:spAutoFit/>
          </a:bodyPr>
          <a:lstStyle/>
          <a:p>
            <a:pPr marL="1588" indent="-1588"/>
            <a:r>
              <a:rPr lang="en-US" sz="900">
                <a:solidFill>
                  <a:srgbClr val="000000"/>
                </a:solidFill>
                <a:latin typeface="Myriad Roman"/>
              </a:rPr>
              <a:t>Market</a:t>
            </a:r>
            <a:endParaRPr lang="en-US"/>
          </a:p>
        </p:txBody>
      </p:sp>
      <p:sp>
        <p:nvSpPr>
          <p:cNvPr id="70725" name="TextBox 29"/>
          <p:cNvSpPr txBox="1">
            <a:spLocks noChangeArrowheads="1"/>
          </p:cNvSpPr>
          <p:nvPr/>
        </p:nvSpPr>
        <p:spPr bwMode="auto">
          <a:xfrm>
            <a:off x="976313" y="1755775"/>
            <a:ext cx="2057400" cy="738188"/>
          </a:xfrm>
          <a:prstGeom prst="rect">
            <a:avLst/>
          </a:prstGeom>
          <a:noFill/>
          <a:ln w="9525">
            <a:noFill/>
            <a:miter lim="800000"/>
            <a:headEnd/>
            <a:tailEnd/>
          </a:ln>
        </p:spPr>
        <p:txBody>
          <a:bodyPr>
            <a:spAutoFit/>
          </a:bodyPr>
          <a:lstStyle/>
          <a:p>
            <a:pPr algn="ctr"/>
            <a:r>
              <a:rPr lang="en-US" sz="1400" b="1"/>
              <a:t>(a) </a:t>
            </a:r>
          </a:p>
          <a:p>
            <a:pPr algn="ctr"/>
            <a:r>
              <a:rPr lang="en-US" sz="1400" b="1"/>
              <a:t>Mr. Silva’s Individual Supply Curve</a:t>
            </a:r>
          </a:p>
        </p:txBody>
      </p:sp>
      <p:sp>
        <p:nvSpPr>
          <p:cNvPr id="70726" name="TextBox 29"/>
          <p:cNvSpPr txBox="1">
            <a:spLocks noChangeArrowheads="1"/>
          </p:cNvSpPr>
          <p:nvPr/>
        </p:nvSpPr>
        <p:spPr bwMode="auto">
          <a:xfrm>
            <a:off x="3995738" y="1700213"/>
            <a:ext cx="2209800" cy="739775"/>
          </a:xfrm>
          <a:prstGeom prst="rect">
            <a:avLst/>
          </a:prstGeom>
          <a:noFill/>
          <a:ln w="9525">
            <a:noFill/>
            <a:miter lim="800000"/>
            <a:headEnd/>
            <a:tailEnd/>
          </a:ln>
        </p:spPr>
        <p:txBody>
          <a:bodyPr>
            <a:spAutoFit/>
          </a:bodyPr>
          <a:lstStyle/>
          <a:p>
            <a:pPr algn="ctr"/>
            <a:r>
              <a:rPr lang="en-US" sz="1400" b="1"/>
              <a:t>(b) </a:t>
            </a:r>
          </a:p>
          <a:p>
            <a:pPr algn="ctr"/>
            <a:r>
              <a:rPr lang="en-US" sz="1400" b="1"/>
              <a:t>Mr. Liu’s Individual Supply Curve</a:t>
            </a:r>
          </a:p>
        </p:txBody>
      </p:sp>
      <p:sp>
        <p:nvSpPr>
          <p:cNvPr id="70727" name="TextBox 29"/>
          <p:cNvSpPr txBox="1">
            <a:spLocks noChangeArrowheads="1"/>
          </p:cNvSpPr>
          <p:nvPr/>
        </p:nvSpPr>
        <p:spPr bwMode="auto">
          <a:xfrm>
            <a:off x="6875463" y="1773238"/>
            <a:ext cx="2057400" cy="538162"/>
          </a:xfrm>
          <a:prstGeom prst="rect">
            <a:avLst/>
          </a:prstGeom>
          <a:noFill/>
          <a:ln w="9525">
            <a:noFill/>
            <a:miter lim="800000"/>
            <a:headEnd/>
            <a:tailEnd/>
          </a:ln>
        </p:spPr>
        <p:txBody>
          <a:bodyPr>
            <a:spAutoFit/>
          </a:bodyPr>
          <a:lstStyle/>
          <a:p>
            <a:pPr algn="ctr"/>
            <a:r>
              <a:rPr lang="en-US" sz="1400" b="1"/>
              <a:t>(c) </a:t>
            </a:r>
          </a:p>
          <a:p>
            <a:pPr algn="ctr"/>
            <a:r>
              <a:rPr lang="en-US" sz="1400" b="1"/>
              <a:t>Market Supply Curve</a:t>
            </a:r>
          </a:p>
        </p:txBody>
      </p:sp>
      <p:sp>
        <p:nvSpPr>
          <p:cNvPr id="70728" name="TextBox 29"/>
          <p:cNvSpPr txBox="1">
            <a:spLocks noChangeArrowheads="1"/>
          </p:cNvSpPr>
          <p:nvPr/>
        </p:nvSpPr>
        <p:spPr bwMode="auto">
          <a:xfrm>
            <a:off x="900113" y="2492375"/>
            <a:ext cx="876300" cy="600075"/>
          </a:xfrm>
          <a:prstGeom prst="rect">
            <a:avLst/>
          </a:prstGeom>
          <a:noFill/>
          <a:ln w="9525">
            <a:noFill/>
            <a:miter lim="800000"/>
            <a:headEnd/>
            <a:tailEnd/>
          </a:ln>
        </p:spPr>
        <p:txBody>
          <a:bodyPr>
            <a:spAutoFit/>
          </a:bodyPr>
          <a:lstStyle/>
          <a:p>
            <a:pPr algn="ctr"/>
            <a:r>
              <a:rPr lang="en-US" sz="1100" b="1"/>
              <a:t>Price of cotton (per pound)</a:t>
            </a:r>
          </a:p>
        </p:txBody>
      </p:sp>
      <p:sp>
        <p:nvSpPr>
          <p:cNvPr id="70729" name="TextBox 29"/>
          <p:cNvSpPr txBox="1">
            <a:spLocks noChangeArrowheads="1"/>
          </p:cNvSpPr>
          <p:nvPr/>
        </p:nvSpPr>
        <p:spPr bwMode="auto">
          <a:xfrm>
            <a:off x="3135313" y="2474913"/>
            <a:ext cx="876300" cy="600075"/>
          </a:xfrm>
          <a:prstGeom prst="rect">
            <a:avLst/>
          </a:prstGeom>
          <a:noFill/>
          <a:ln w="9525">
            <a:noFill/>
            <a:miter lim="800000"/>
            <a:headEnd/>
            <a:tailEnd/>
          </a:ln>
        </p:spPr>
        <p:txBody>
          <a:bodyPr>
            <a:spAutoFit/>
          </a:bodyPr>
          <a:lstStyle/>
          <a:p>
            <a:pPr algn="ctr"/>
            <a:r>
              <a:rPr lang="en-US" sz="1100" b="1"/>
              <a:t>Price of cotton (per pound)</a:t>
            </a:r>
          </a:p>
        </p:txBody>
      </p:sp>
      <p:sp>
        <p:nvSpPr>
          <p:cNvPr id="70730" name="TextBox 29"/>
          <p:cNvSpPr txBox="1">
            <a:spLocks noChangeArrowheads="1"/>
          </p:cNvSpPr>
          <p:nvPr/>
        </p:nvSpPr>
        <p:spPr bwMode="auto">
          <a:xfrm>
            <a:off x="6088063" y="2619375"/>
            <a:ext cx="876300" cy="600075"/>
          </a:xfrm>
          <a:prstGeom prst="rect">
            <a:avLst/>
          </a:prstGeom>
          <a:noFill/>
          <a:ln w="9525">
            <a:noFill/>
            <a:miter lim="800000"/>
            <a:headEnd/>
            <a:tailEnd/>
          </a:ln>
        </p:spPr>
        <p:txBody>
          <a:bodyPr>
            <a:spAutoFit/>
          </a:bodyPr>
          <a:lstStyle/>
          <a:p>
            <a:pPr algn="ctr"/>
            <a:r>
              <a:rPr lang="en-US" sz="1100" b="1"/>
              <a:t>Price of cotton (per pound)</a:t>
            </a:r>
          </a:p>
        </p:txBody>
      </p:sp>
      <p:sp>
        <p:nvSpPr>
          <p:cNvPr id="70731" name="TextBox 30"/>
          <p:cNvSpPr txBox="1">
            <a:spLocks noChangeArrowheads="1"/>
          </p:cNvSpPr>
          <p:nvPr/>
        </p:nvSpPr>
        <p:spPr bwMode="auto">
          <a:xfrm>
            <a:off x="1524000" y="5487988"/>
            <a:ext cx="1676400" cy="430212"/>
          </a:xfrm>
          <a:prstGeom prst="rect">
            <a:avLst/>
          </a:prstGeom>
          <a:noFill/>
          <a:ln w="9525">
            <a:noFill/>
            <a:miter lim="800000"/>
            <a:headEnd/>
            <a:tailEnd/>
          </a:ln>
        </p:spPr>
        <p:txBody>
          <a:bodyPr>
            <a:spAutoFit/>
          </a:bodyPr>
          <a:lstStyle/>
          <a:p>
            <a:pPr algn="r"/>
            <a:r>
              <a:rPr lang="en-US" sz="1100" b="1"/>
              <a:t>Quantity of cotton (thousands of pounds)</a:t>
            </a:r>
          </a:p>
        </p:txBody>
      </p:sp>
      <p:sp>
        <p:nvSpPr>
          <p:cNvPr id="70732" name="TextBox 30"/>
          <p:cNvSpPr txBox="1">
            <a:spLocks noChangeArrowheads="1"/>
          </p:cNvSpPr>
          <p:nvPr/>
        </p:nvSpPr>
        <p:spPr bwMode="auto">
          <a:xfrm>
            <a:off x="4495800" y="5468938"/>
            <a:ext cx="1676400" cy="430212"/>
          </a:xfrm>
          <a:prstGeom prst="rect">
            <a:avLst/>
          </a:prstGeom>
          <a:noFill/>
          <a:ln w="9525">
            <a:noFill/>
            <a:miter lim="800000"/>
            <a:headEnd/>
            <a:tailEnd/>
          </a:ln>
        </p:spPr>
        <p:txBody>
          <a:bodyPr>
            <a:spAutoFit/>
          </a:bodyPr>
          <a:lstStyle/>
          <a:p>
            <a:pPr algn="r"/>
            <a:r>
              <a:rPr lang="en-US" sz="1100" b="1"/>
              <a:t>Quantity of cotton (thousands of pounds)</a:t>
            </a:r>
          </a:p>
        </p:txBody>
      </p:sp>
      <p:sp>
        <p:nvSpPr>
          <p:cNvPr id="70733" name="TextBox 30"/>
          <p:cNvSpPr txBox="1">
            <a:spLocks noChangeArrowheads="1"/>
          </p:cNvSpPr>
          <p:nvPr/>
        </p:nvSpPr>
        <p:spPr bwMode="auto">
          <a:xfrm>
            <a:off x="7467600" y="5487988"/>
            <a:ext cx="1676400" cy="430212"/>
          </a:xfrm>
          <a:prstGeom prst="rect">
            <a:avLst/>
          </a:prstGeom>
          <a:noFill/>
          <a:ln w="9525">
            <a:noFill/>
            <a:miter lim="800000"/>
            <a:headEnd/>
            <a:tailEnd/>
          </a:ln>
        </p:spPr>
        <p:txBody>
          <a:bodyPr>
            <a:spAutoFit/>
          </a:bodyPr>
          <a:lstStyle/>
          <a:p>
            <a:pPr algn="r"/>
            <a:r>
              <a:rPr lang="en-US" sz="1100" b="1"/>
              <a:t>Quantity of cotton (thousands of pounds)</a:t>
            </a:r>
          </a:p>
        </p:txBody>
      </p:sp>
      <p:cxnSp>
        <p:nvCxnSpPr>
          <p:cNvPr id="70734" name="Straight Connector 86"/>
          <p:cNvCxnSpPr>
            <a:cxnSpLocks noChangeShapeType="1"/>
          </p:cNvCxnSpPr>
          <p:nvPr/>
        </p:nvCxnSpPr>
        <p:spPr bwMode="auto">
          <a:xfrm>
            <a:off x="2725738" y="3259138"/>
            <a:ext cx="0" cy="1752600"/>
          </a:xfrm>
          <a:prstGeom prst="line">
            <a:avLst/>
          </a:prstGeom>
          <a:noFill/>
          <a:ln w="22225">
            <a:solidFill>
              <a:srgbClr val="9C9C9C"/>
            </a:solidFill>
            <a:prstDash val="sysDot"/>
            <a:round/>
            <a:headEnd/>
            <a:tailEnd type="none" w="med" len="lg"/>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16493"/>
                                        </p:tgtEl>
                                        <p:attrNameLst>
                                          <p:attrName>style.visibility</p:attrName>
                                        </p:attrNameLst>
                                      </p:cBhvr>
                                      <p:to>
                                        <p:strVal val="visible"/>
                                      </p:to>
                                    </p:set>
                                    <p:animEffect transition="in" filter="wipe(up)">
                                      <p:cBhvr>
                                        <p:cTn id="7" dur="500"/>
                                        <p:tgtEl>
                                          <p:spTgt spid="616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493"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4754" name="Content Placeholder 4"/>
          <p:cNvSpPr>
            <a:spLocks noGrp="1"/>
          </p:cNvSpPr>
          <p:nvPr>
            <p:ph sz="half" idx="4294967295"/>
          </p:nvPr>
        </p:nvSpPr>
        <p:spPr>
          <a:xfrm>
            <a:off x="3286125" y="428625"/>
            <a:ext cx="5572125" cy="5857875"/>
          </a:xfrm>
        </p:spPr>
        <p:txBody>
          <a:bodyPr/>
          <a:lstStyle/>
          <a:p>
            <a:pPr eaLnBrk="1" hangingPunct="1"/>
            <a:r>
              <a:rPr lang="en-US" sz="2400" smtClean="0">
                <a:solidFill>
                  <a:schemeClr val="accent1"/>
                </a:solidFill>
              </a:rPr>
              <a:t>What a </a:t>
            </a:r>
            <a:r>
              <a:rPr lang="en-US" sz="2400" b="1" smtClean="0">
                <a:solidFill>
                  <a:schemeClr val="accent1"/>
                </a:solidFill>
              </a:rPr>
              <a:t>competitive market </a:t>
            </a:r>
            <a:r>
              <a:rPr lang="en-US" sz="2400" smtClean="0">
                <a:solidFill>
                  <a:schemeClr val="accent1"/>
                </a:solidFill>
              </a:rPr>
              <a:t>is and how it is described by the </a:t>
            </a:r>
            <a:r>
              <a:rPr lang="en-US" sz="2400" b="1" smtClean="0">
                <a:solidFill>
                  <a:schemeClr val="accent1"/>
                </a:solidFill>
              </a:rPr>
              <a:t>supply and demand model</a:t>
            </a:r>
          </a:p>
          <a:p>
            <a:pPr eaLnBrk="1" hangingPunct="1"/>
            <a:r>
              <a:rPr lang="en-US" sz="2400" smtClean="0">
                <a:solidFill>
                  <a:schemeClr val="accent1"/>
                </a:solidFill>
              </a:rPr>
              <a:t>What the </a:t>
            </a:r>
            <a:r>
              <a:rPr lang="en-US" sz="2400" b="1" smtClean="0">
                <a:solidFill>
                  <a:schemeClr val="accent1"/>
                </a:solidFill>
              </a:rPr>
              <a:t>demand curve </a:t>
            </a:r>
            <a:r>
              <a:rPr lang="en-US" sz="2400" smtClean="0">
                <a:solidFill>
                  <a:schemeClr val="accent1"/>
                </a:solidFill>
              </a:rPr>
              <a:t>and </a:t>
            </a:r>
            <a:r>
              <a:rPr lang="en-US" sz="2400" b="1" smtClean="0">
                <a:solidFill>
                  <a:schemeClr val="accent1"/>
                </a:solidFill>
              </a:rPr>
              <a:t>supply curve </a:t>
            </a:r>
            <a:r>
              <a:rPr lang="en-US" sz="2400" smtClean="0">
                <a:solidFill>
                  <a:schemeClr val="accent1"/>
                </a:solidFill>
              </a:rPr>
              <a:t>are</a:t>
            </a:r>
          </a:p>
          <a:p>
            <a:pPr eaLnBrk="1" hangingPunct="1"/>
            <a:r>
              <a:rPr lang="en-US" sz="2400" smtClean="0">
                <a:solidFill>
                  <a:schemeClr val="accent1"/>
                </a:solidFill>
              </a:rPr>
              <a:t>The difference between </a:t>
            </a:r>
            <a:r>
              <a:rPr lang="en-US" sz="2400" b="1" smtClean="0">
                <a:solidFill>
                  <a:schemeClr val="accent1"/>
                </a:solidFill>
              </a:rPr>
              <a:t>movements along a curve </a:t>
            </a:r>
            <a:r>
              <a:rPr lang="en-US" sz="2400" smtClean="0">
                <a:solidFill>
                  <a:schemeClr val="accent1"/>
                </a:solidFill>
              </a:rPr>
              <a:t>and </a:t>
            </a:r>
            <a:r>
              <a:rPr lang="en-US" sz="2400" b="1" smtClean="0">
                <a:solidFill>
                  <a:schemeClr val="accent1"/>
                </a:solidFill>
              </a:rPr>
              <a:t>shifts of a curve</a:t>
            </a:r>
          </a:p>
          <a:p>
            <a:pPr eaLnBrk="1" hangingPunct="1"/>
            <a:r>
              <a:rPr lang="en-US" sz="2400" smtClean="0"/>
              <a:t>How the supply and demand curves determine a market’s </a:t>
            </a:r>
            <a:r>
              <a:rPr lang="en-US" sz="2400" b="1" smtClean="0"/>
              <a:t>equilibrium price </a:t>
            </a:r>
            <a:r>
              <a:rPr lang="en-US" sz="2400" smtClean="0"/>
              <a:t>and </a:t>
            </a:r>
            <a:r>
              <a:rPr lang="en-US" sz="2400" b="1" smtClean="0"/>
              <a:t>equilibrium quantity</a:t>
            </a:r>
          </a:p>
          <a:p>
            <a:pPr eaLnBrk="1" hangingPunct="1"/>
            <a:r>
              <a:rPr lang="en-US" sz="2400" smtClean="0"/>
              <a:t>In the case of a </a:t>
            </a:r>
            <a:r>
              <a:rPr lang="en-US" sz="2400" b="1" smtClean="0"/>
              <a:t>shortage </a:t>
            </a:r>
            <a:r>
              <a:rPr lang="en-US" sz="2400" smtClean="0"/>
              <a:t>or </a:t>
            </a:r>
            <a:r>
              <a:rPr lang="en-US" sz="2400" b="1" smtClean="0"/>
              <a:t>surplus, </a:t>
            </a:r>
            <a:r>
              <a:rPr lang="en-US" sz="2400" smtClean="0"/>
              <a:t>how price moves the market back to equilibrium</a:t>
            </a:r>
          </a:p>
          <a:p>
            <a:pPr eaLnBrk="1" hangingPunct="1"/>
            <a:endParaRPr lang="id-ID" sz="2400" smtClean="0"/>
          </a:p>
        </p:txBody>
      </p:sp>
      <p:sp>
        <p:nvSpPr>
          <p:cNvPr id="3" name="TextBox 2"/>
          <p:cNvSpPr txBox="1"/>
          <p:nvPr/>
        </p:nvSpPr>
        <p:spPr>
          <a:xfrm>
            <a:off x="146050" y="1857375"/>
            <a:ext cx="2493963" cy="2062163"/>
          </a:xfrm>
          <a:prstGeom prst="rect">
            <a:avLst/>
          </a:prstGeom>
          <a:noFill/>
        </p:spPr>
        <p:txBody>
          <a:bodyPr>
            <a:spAutoFit/>
          </a:bodyPr>
          <a:lstStyle/>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WHAT YOU</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WILL LEARN</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IN THIS CHAPTER</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9586" name="Rectangle 2"/>
          <p:cNvSpPr>
            <a:spLocks noGrp="1" noRot="1" noChangeArrowheads="1"/>
          </p:cNvSpPr>
          <p:nvPr>
            <p:ph type="title"/>
          </p:nvPr>
        </p:nvSpPr>
        <p:spPr>
          <a:xfrm>
            <a:off x="900113" y="60325"/>
            <a:ext cx="7993062" cy="555625"/>
          </a:xfrm>
        </p:spPr>
        <p:txBody>
          <a:bodyPr/>
          <a:lstStyle/>
          <a:p>
            <a:pPr>
              <a:defRPr/>
            </a:pPr>
            <a:r>
              <a:rPr lang="en-US" dirty="0"/>
              <a:t>Supply, Demand and Equilibrium</a:t>
            </a:r>
          </a:p>
        </p:txBody>
      </p:sp>
      <p:sp>
        <p:nvSpPr>
          <p:cNvPr id="579587" name="Rectangle 3"/>
          <p:cNvSpPr>
            <a:spLocks noGrp="1" noChangeArrowheads="1"/>
          </p:cNvSpPr>
          <p:nvPr>
            <p:ph type="body" idx="1"/>
          </p:nvPr>
        </p:nvSpPr>
        <p:spPr>
          <a:xfrm>
            <a:off x="657225" y="827088"/>
            <a:ext cx="8197850" cy="5035550"/>
          </a:xfrm>
        </p:spPr>
        <p:txBody>
          <a:bodyPr/>
          <a:lstStyle/>
          <a:p>
            <a:pPr marL="233363" indent="-233363">
              <a:lnSpc>
                <a:spcPct val="90000"/>
              </a:lnSpc>
            </a:pPr>
            <a:r>
              <a:rPr lang="en-US" b="1" smtClean="0"/>
              <a:t>Equilibrium</a:t>
            </a:r>
            <a:r>
              <a:rPr lang="en-US" smtClean="0"/>
              <a:t> in a competitive market: when the quantity demanded of a good equals the quantity supplied of that good</a:t>
            </a:r>
          </a:p>
          <a:p>
            <a:pPr marL="233363" indent="-233363">
              <a:lnSpc>
                <a:spcPct val="90000"/>
              </a:lnSpc>
            </a:pPr>
            <a:endParaRPr lang="en-US" smtClean="0"/>
          </a:p>
          <a:p>
            <a:pPr marL="233363" indent="-233363">
              <a:lnSpc>
                <a:spcPct val="90000"/>
              </a:lnSpc>
            </a:pPr>
            <a:r>
              <a:rPr lang="en-US" smtClean="0"/>
              <a:t>The price at which this takes place is the </a:t>
            </a:r>
            <a:r>
              <a:rPr lang="en-US" b="1" smtClean="0"/>
              <a:t>equilibrium price </a:t>
            </a:r>
            <a:r>
              <a:rPr lang="en-US" smtClean="0"/>
              <a:t>(or </a:t>
            </a:r>
            <a:r>
              <a:rPr lang="en-US" b="1" smtClean="0"/>
              <a:t>market-clearing price</a:t>
            </a:r>
            <a:r>
              <a:rPr lang="en-US" smtClean="0"/>
              <a:t>) </a:t>
            </a:r>
          </a:p>
          <a:p>
            <a:pPr lvl="1">
              <a:lnSpc>
                <a:spcPct val="90000"/>
              </a:lnSpc>
            </a:pPr>
            <a:endParaRPr lang="en-US" smtClean="0"/>
          </a:p>
          <a:p>
            <a:pPr lvl="1">
              <a:lnSpc>
                <a:spcPct val="90000"/>
              </a:lnSpc>
            </a:pPr>
            <a:r>
              <a:rPr lang="en-US" smtClean="0"/>
              <a:t>Every buyer finds a seller and vice versa.</a:t>
            </a:r>
          </a:p>
          <a:p>
            <a:pPr lvl="2">
              <a:lnSpc>
                <a:spcPct val="90000"/>
              </a:lnSpc>
            </a:pPr>
            <a:endParaRPr lang="en-US" sz="2800" smtClean="0"/>
          </a:p>
          <a:p>
            <a:pPr lvl="1">
              <a:lnSpc>
                <a:spcPct val="90000"/>
              </a:lnSpc>
            </a:pPr>
            <a:r>
              <a:rPr lang="en-US" smtClean="0"/>
              <a:t>The quantity of the good bought and sold at that price is the </a:t>
            </a:r>
            <a:r>
              <a:rPr lang="en-US" b="1" smtClean="0"/>
              <a:t>equilibrium quantity.</a:t>
            </a:r>
            <a:r>
              <a:rPr lang="en-US" smtClean="0"/>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9587">
                                            <p:txEl>
                                              <p:pRg st="0" end="0"/>
                                            </p:txEl>
                                          </p:spTgt>
                                        </p:tgtEl>
                                        <p:attrNameLst>
                                          <p:attrName>style.visibility</p:attrName>
                                        </p:attrNameLst>
                                      </p:cBhvr>
                                      <p:to>
                                        <p:strVal val="visible"/>
                                      </p:to>
                                    </p:set>
                                    <p:animEffect transition="in" filter="fade">
                                      <p:cBhvr>
                                        <p:cTn id="7" dur="500"/>
                                        <p:tgtEl>
                                          <p:spTgt spid="5795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79587">
                                            <p:txEl>
                                              <p:pRg st="2" end="2"/>
                                            </p:txEl>
                                          </p:spTgt>
                                        </p:tgtEl>
                                        <p:attrNameLst>
                                          <p:attrName>style.visibility</p:attrName>
                                        </p:attrNameLst>
                                      </p:cBhvr>
                                      <p:to>
                                        <p:strVal val="visible"/>
                                      </p:to>
                                    </p:set>
                                    <p:animEffect transition="in" filter="fade">
                                      <p:cBhvr>
                                        <p:cTn id="12" dur="500"/>
                                        <p:tgtEl>
                                          <p:spTgt spid="57958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79587">
                                            <p:txEl>
                                              <p:pRg st="4" end="4"/>
                                            </p:txEl>
                                          </p:spTgt>
                                        </p:tgtEl>
                                        <p:attrNameLst>
                                          <p:attrName>style.visibility</p:attrName>
                                        </p:attrNameLst>
                                      </p:cBhvr>
                                      <p:to>
                                        <p:strVal val="visible"/>
                                      </p:to>
                                    </p:set>
                                    <p:animEffect transition="in" filter="fade">
                                      <p:cBhvr>
                                        <p:cTn id="15" dur="500"/>
                                        <p:tgtEl>
                                          <p:spTgt spid="579587">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79587">
                                            <p:txEl>
                                              <p:pRg st="6" end="6"/>
                                            </p:txEl>
                                          </p:spTgt>
                                        </p:tgtEl>
                                        <p:attrNameLst>
                                          <p:attrName>style.visibility</p:attrName>
                                        </p:attrNameLst>
                                      </p:cBhvr>
                                      <p:to>
                                        <p:strVal val="visible"/>
                                      </p:to>
                                    </p:set>
                                    <p:animEffect transition="in" filter="fade">
                                      <p:cBhvr>
                                        <p:cTn id="18" dur="500"/>
                                        <p:tgtEl>
                                          <p:spTgt spid="5795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55" name="Text Box 23"/>
          <p:cNvSpPr txBox="1">
            <a:spLocks noChangeArrowheads="1"/>
          </p:cNvSpPr>
          <p:nvPr/>
        </p:nvSpPr>
        <p:spPr bwMode="auto">
          <a:xfrm>
            <a:off x="5580063" y="1412875"/>
            <a:ext cx="3276600" cy="1570038"/>
          </a:xfrm>
          <a:prstGeom prst="rect">
            <a:avLst/>
          </a:prstGeom>
          <a:solidFill>
            <a:schemeClr val="accent5">
              <a:lumMod val="20000"/>
              <a:lumOff val="80000"/>
            </a:schemeClr>
          </a:solidFill>
          <a:ln w="38100" algn="ctr">
            <a:noFill/>
            <a:miter lim="800000"/>
            <a:headEnd/>
            <a:tailEnd type="none" w="med" len="lg"/>
          </a:ln>
          <a:effectLst/>
        </p:spPr>
        <p:txBody>
          <a:bodyPr>
            <a:spAutoFit/>
          </a:bodyPr>
          <a:lstStyle/>
          <a:p>
            <a:pPr marL="1588" indent="-1588" algn="ctr">
              <a:spcBef>
                <a:spcPct val="20000"/>
              </a:spcBef>
              <a:defRPr/>
            </a:pPr>
            <a:r>
              <a:rPr lang="en-US" sz="2400" dirty="0"/>
              <a:t>Market equilibrium occurs at point </a:t>
            </a:r>
            <a:r>
              <a:rPr lang="en-US" sz="2400" i="1" dirty="0"/>
              <a:t>E</a:t>
            </a:r>
            <a:r>
              <a:rPr lang="en-US" sz="2400" dirty="0"/>
              <a:t>, where the supply curve and the demand curve intersect.  </a:t>
            </a:r>
          </a:p>
        </p:txBody>
      </p:sp>
      <p:cxnSp>
        <p:nvCxnSpPr>
          <p:cNvPr id="77826" name="Straight Connector 86"/>
          <p:cNvCxnSpPr>
            <a:cxnSpLocks noChangeShapeType="1"/>
          </p:cNvCxnSpPr>
          <p:nvPr/>
        </p:nvCxnSpPr>
        <p:spPr bwMode="auto">
          <a:xfrm>
            <a:off x="2540000" y="3908425"/>
            <a:ext cx="1914525" cy="3175"/>
          </a:xfrm>
          <a:prstGeom prst="line">
            <a:avLst/>
          </a:prstGeom>
          <a:noFill/>
          <a:ln w="22225">
            <a:solidFill>
              <a:srgbClr val="9C9C9C"/>
            </a:solidFill>
            <a:prstDash val="sysDot"/>
            <a:round/>
            <a:headEnd/>
            <a:tailEnd type="none" w="med" len="lg"/>
          </a:ln>
        </p:spPr>
      </p:cxnSp>
      <p:cxnSp>
        <p:nvCxnSpPr>
          <p:cNvPr id="77827" name="Straight Connector 86"/>
          <p:cNvCxnSpPr>
            <a:cxnSpLocks noChangeShapeType="1"/>
          </p:cNvCxnSpPr>
          <p:nvPr/>
        </p:nvCxnSpPr>
        <p:spPr bwMode="auto">
          <a:xfrm>
            <a:off x="4465638" y="3959225"/>
            <a:ext cx="0" cy="1068388"/>
          </a:xfrm>
          <a:prstGeom prst="line">
            <a:avLst/>
          </a:prstGeom>
          <a:noFill/>
          <a:ln w="22225">
            <a:solidFill>
              <a:srgbClr val="9C9C9C"/>
            </a:solidFill>
            <a:prstDash val="sysDot"/>
            <a:round/>
            <a:headEnd/>
            <a:tailEnd type="none" w="med" len="lg"/>
          </a:ln>
        </p:spPr>
      </p:cxnSp>
      <p:sp>
        <p:nvSpPr>
          <p:cNvPr id="77828" name="TextBox 29"/>
          <p:cNvSpPr txBox="1">
            <a:spLocks noChangeArrowheads="1"/>
          </p:cNvSpPr>
          <p:nvPr/>
        </p:nvSpPr>
        <p:spPr bwMode="auto">
          <a:xfrm>
            <a:off x="873125" y="1096963"/>
            <a:ext cx="1249363" cy="738187"/>
          </a:xfrm>
          <a:prstGeom prst="rect">
            <a:avLst/>
          </a:prstGeom>
          <a:noFill/>
          <a:ln w="9525">
            <a:noFill/>
            <a:miter lim="800000"/>
            <a:headEnd/>
            <a:tailEnd/>
          </a:ln>
        </p:spPr>
        <p:txBody>
          <a:bodyPr>
            <a:spAutoFit/>
          </a:bodyPr>
          <a:lstStyle/>
          <a:p>
            <a:pPr algn="ctr"/>
            <a:r>
              <a:rPr lang="en-US" sz="1400" b="1"/>
              <a:t>Price of cotton </a:t>
            </a:r>
            <a:br>
              <a:rPr lang="en-US" sz="1400" b="1"/>
            </a:br>
            <a:r>
              <a:rPr lang="en-US" sz="1400" b="1"/>
              <a:t>(per pound)</a:t>
            </a:r>
          </a:p>
        </p:txBody>
      </p:sp>
      <p:sp>
        <p:nvSpPr>
          <p:cNvPr id="77829" name="TextBox 30"/>
          <p:cNvSpPr txBox="1">
            <a:spLocks noChangeArrowheads="1"/>
          </p:cNvSpPr>
          <p:nvPr/>
        </p:nvSpPr>
        <p:spPr bwMode="auto">
          <a:xfrm>
            <a:off x="6007100" y="5661025"/>
            <a:ext cx="2165350" cy="523875"/>
          </a:xfrm>
          <a:prstGeom prst="rect">
            <a:avLst/>
          </a:prstGeom>
          <a:noFill/>
          <a:ln w="9525">
            <a:noFill/>
            <a:miter lim="800000"/>
            <a:headEnd/>
            <a:tailEnd/>
          </a:ln>
        </p:spPr>
        <p:txBody>
          <a:bodyPr>
            <a:spAutoFit/>
          </a:bodyPr>
          <a:lstStyle/>
          <a:p>
            <a:pPr algn="ctr"/>
            <a:r>
              <a:rPr lang="en-US" sz="1400" b="1"/>
              <a:t>Quantity of cotton (billions of pounds)</a:t>
            </a:r>
          </a:p>
        </p:txBody>
      </p:sp>
      <p:sp>
        <p:nvSpPr>
          <p:cNvPr id="77830" name="Line 29"/>
          <p:cNvSpPr>
            <a:spLocks noChangeShapeType="1"/>
          </p:cNvSpPr>
          <p:nvPr/>
        </p:nvSpPr>
        <p:spPr bwMode="auto">
          <a:xfrm flipV="1">
            <a:off x="2298700" y="1066800"/>
            <a:ext cx="0" cy="3927475"/>
          </a:xfrm>
          <a:prstGeom prst="line">
            <a:avLst/>
          </a:prstGeom>
          <a:noFill/>
          <a:ln w="11113">
            <a:solidFill>
              <a:srgbClr val="000000"/>
            </a:solidFill>
            <a:miter lim="800000"/>
            <a:headEnd/>
            <a:tailEnd/>
          </a:ln>
        </p:spPr>
        <p:txBody>
          <a:bodyPr/>
          <a:lstStyle/>
          <a:p>
            <a:endParaRPr lang="en-US"/>
          </a:p>
        </p:txBody>
      </p:sp>
      <p:sp>
        <p:nvSpPr>
          <p:cNvPr id="77831" name="Freeform 30"/>
          <p:cNvSpPr>
            <a:spLocks/>
          </p:cNvSpPr>
          <p:nvPr/>
        </p:nvSpPr>
        <p:spPr bwMode="auto">
          <a:xfrm>
            <a:off x="2298700" y="5080000"/>
            <a:ext cx="176213" cy="160338"/>
          </a:xfrm>
          <a:custGeom>
            <a:avLst/>
            <a:gdLst>
              <a:gd name="T0" fmla="*/ 2147483647 w 102"/>
              <a:gd name="T1" fmla="*/ 2147483647 h 101"/>
              <a:gd name="T2" fmla="*/ 0 w 102"/>
              <a:gd name="T3" fmla="*/ 2147483647 h 101"/>
              <a:gd name="T4" fmla="*/ 0 w 102"/>
              <a:gd name="T5" fmla="*/ 0 h 101"/>
              <a:gd name="T6" fmla="*/ 0 60000 65536"/>
              <a:gd name="T7" fmla="*/ 0 60000 65536"/>
              <a:gd name="T8" fmla="*/ 0 60000 65536"/>
              <a:gd name="T9" fmla="*/ 0 w 102"/>
              <a:gd name="T10" fmla="*/ 0 h 101"/>
              <a:gd name="T11" fmla="*/ 102 w 102"/>
              <a:gd name="T12" fmla="*/ 101 h 101"/>
            </a:gdLst>
            <a:ahLst/>
            <a:cxnLst>
              <a:cxn ang="T6">
                <a:pos x="T0" y="T1"/>
              </a:cxn>
              <a:cxn ang="T7">
                <a:pos x="T2" y="T3"/>
              </a:cxn>
              <a:cxn ang="T8">
                <a:pos x="T4" y="T5"/>
              </a:cxn>
            </a:cxnLst>
            <a:rect l="T9" t="T10" r="T11" b="T12"/>
            <a:pathLst>
              <a:path w="102" h="101">
                <a:moveTo>
                  <a:pt x="102" y="101"/>
                </a:moveTo>
                <a:lnTo>
                  <a:pt x="0" y="101"/>
                </a:lnTo>
                <a:lnTo>
                  <a:pt x="0" y="0"/>
                </a:lnTo>
              </a:path>
            </a:pathLst>
          </a:custGeom>
          <a:noFill/>
          <a:ln w="11113" cap="flat">
            <a:solidFill>
              <a:srgbClr val="000000"/>
            </a:solidFill>
            <a:prstDash val="solid"/>
            <a:miter lim="800000"/>
            <a:headEnd/>
            <a:tailEnd/>
          </a:ln>
        </p:spPr>
        <p:txBody>
          <a:bodyPr/>
          <a:lstStyle/>
          <a:p>
            <a:endParaRPr lang="en-US"/>
          </a:p>
        </p:txBody>
      </p:sp>
      <p:sp>
        <p:nvSpPr>
          <p:cNvPr id="77832" name="Line 31"/>
          <p:cNvSpPr>
            <a:spLocks noChangeShapeType="1"/>
          </p:cNvSpPr>
          <p:nvPr/>
        </p:nvSpPr>
        <p:spPr bwMode="auto">
          <a:xfrm flipH="1">
            <a:off x="2568575" y="5240338"/>
            <a:ext cx="4940300" cy="0"/>
          </a:xfrm>
          <a:prstGeom prst="line">
            <a:avLst/>
          </a:prstGeom>
          <a:noFill/>
          <a:ln w="11113">
            <a:solidFill>
              <a:srgbClr val="000000"/>
            </a:solidFill>
            <a:miter lim="800000"/>
            <a:headEnd/>
            <a:tailEnd/>
          </a:ln>
        </p:spPr>
        <p:txBody>
          <a:bodyPr/>
          <a:lstStyle/>
          <a:p>
            <a:endParaRPr lang="en-US"/>
          </a:p>
        </p:txBody>
      </p:sp>
      <p:sp>
        <p:nvSpPr>
          <p:cNvPr id="77833" name="Rectangle 32"/>
          <p:cNvSpPr>
            <a:spLocks noChangeArrowheads="1"/>
          </p:cNvSpPr>
          <p:nvPr/>
        </p:nvSpPr>
        <p:spPr bwMode="auto">
          <a:xfrm>
            <a:off x="3116263" y="527685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7</a:t>
            </a:r>
            <a:endParaRPr lang="en-US" sz="1400"/>
          </a:p>
        </p:txBody>
      </p:sp>
      <p:sp>
        <p:nvSpPr>
          <p:cNvPr id="77834" name="Rectangle 33"/>
          <p:cNvSpPr>
            <a:spLocks noChangeArrowheads="1"/>
          </p:cNvSpPr>
          <p:nvPr/>
        </p:nvSpPr>
        <p:spPr bwMode="auto">
          <a:xfrm>
            <a:off x="2098675" y="527685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p>
        </p:txBody>
      </p:sp>
      <p:sp>
        <p:nvSpPr>
          <p:cNvPr id="77835" name="Rectangle 34"/>
          <p:cNvSpPr>
            <a:spLocks noChangeArrowheads="1"/>
          </p:cNvSpPr>
          <p:nvPr/>
        </p:nvSpPr>
        <p:spPr bwMode="auto">
          <a:xfrm>
            <a:off x="4362450" y="52768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a:t>
            </a:r>
            <a:endParaRPr lang="en-US" sz="1400"/>
          </a:p>
        </p:txBody>
      </p:sp>
      <p:sp>
        <p:nvSpPr>
          <p:cNvPr id="77836" name="Rectangle 35"/>
          <p:cNvSpPr>
            <a:spLocks noChangeArrowheads="1"/>
          </p:cNvSpPr>
          <p:nvPr/>
        </p:nvSpPr>
        <p:spPr bwMode="auto">
          <a:xfrm>
            <a:off x="6534150" y="52768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a:t>
            </a:r>
            <a:endParaRPr lang="en-US" sz="1400"/>
          </a:p>
        </p:txBody>
      </p:sp>
      <p:sp>
        <p:nvSpPr>
          <p:cNvPr id="77837" name="Rectangle 36"/>
          <p:cNvSpPr>
            <a:spLocks noChangeArrowheads="1"/>
          </p:cNvSpPr>
          <p:nvPr/>
        </p:nvSpPr>
        <p:spPr bwMode="auto">
          <a:xfrm>
            <a:off x="5665788" y="52768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13</a:t>
            </a:r>
            <a:endParaRPr lang="en-US" sz="1400"/>
          </a:p>
        </p:txBody>
      </p:sp>
      <p:sp>
        <p:nvSpPr>
          <p:cNvPr id="77838" name="Rectangle 37"/>
          <p:cNvSpPr>
            <a:spLocks noChangeArrowheads="1"/>
          </p:cNvSpPr>
          <p:nvPr/>
        </p:nvSpPr>
        <p:spPr bwMode="auto">
          <a:xfrm>
            <a:off x="7402513" y="52768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a:t>
            </a:r>
            <a:endParaRPr lang="en-US" sz="1400"/>
          </a:p>
        </p:txBody>
      </p:sp>
      <p:sp>
        <p:nvSpPr>
          <p:cNvPr id="77839" name="Line 48"/>
          <p:cNvSpPr>
            <a:spLocks noChangeShapeType="1"/>
          </p:cNvSpPr>
          <p:nvPr/>
        </p:nvSpPr>
        <p:spPr bwMode="auto">
          <a:xfrm>
            <a:off x="2298700" y="2146300"/>
            <a:ext cx="141288" cy="0"/>
          </a:xfrm>
          <a:prstGeom prst="line">
            <a:avLst/>
          </a:prstGeom>
          <a:noFill/>
          <a:ln w="11113">
            <a:solidFill>
              <a:srgbClr val="000000"/>
            </a:solidFill>
            <a:miter lim="800000"/>
            <a:headEnd/>
            <a:tailEnd/>
          </a:ln>
        </p:spPr>
        <p:txBody>
          <a:bodyPr/>
          <a:lstStyle/>
          <a:p>
            <a:endParaRPr lang="en-US"/>
          </a:p>
        </p:txBody>
      </p:sp>
      <p:sp>
        <p:nvSpPr>
          <p:cNvPr id="77840" name="Line 49"/>
          <p:cNvSpPr>
            <a:spLocks noChangeShapeType="1"/>
          </p:cNvSpPr>
          <p:nvPr/>
        </p:nvSpPr>
        <p:spPr bwMode="auto">
          <a:xfrm>
            <a:off x="2298700" y="2586038"/>
            <a:ext cx="141288" cy="0"/>
          </a:xfrm>
          <a:prstGeom prst="line">
            <a:avLst/>
          </a:prstGeom>
          <a:noFill/>
          <a:ln w="11113">
            <a:solidFill>
              <a:srgbClr val="000000"/>
            </a:solidFill>
            <a:miter lim="800000"/>
            <a:headEnd/>
            <a:tailEnd/>
          </a:ln>
        </p:spPr>
        <p:txBody>
          <a:bodyPr/>
          <a:lstStyle/>
          <a:p>
            <a:endParaRPr lang="en-US"/>
          </a:p>
        </p:txBody>
      </p:sp>
      <p:sp>
        <p:nvSpPr>
          <p:cNvPr id="77841" name="Line 50"/>
          <p:cNvSpPr>
            <a:spLocks noChangeShapeType="1"/>
          </p:cNvSpPr>
          <p:nvPr/>
        </p:nvSpPr>
        <p:spPr bwMode="auto">
          <a:xfrm>
            <a:off x="2298700" y="3032125"/>
            <a:ext cx="141288" cy="0"/>
          </a:xfrm>
          <a:prstGeom prst="line">
            <a:avLst/>
          </a:prstGeom>
          <a:noFill/>
          <a:ln w="11113">
            <a:solidFill>
              <a:srgbClr val="000000"/>
            </a:solidFill>
            <a:miter lim="800000"/>
            <a:headEnd/>
            <a:tailEnd/>
          </a:ln>
        </p:spPr>
        <p:txBody>
          <a:bodyPr/>
          <a:lstStyle/>
          <a:p>
            <a:endParaRPr lang="en-US"/>
          </a:p>
        </p:txBody>
      </p:sp>
      <p:sp>
        <p:nvSpPr>
          <p:cNvPr id="77842" name="Line 51"/>
          <p:cNvSpPr>
            <a:spLocks noChangeShapeType="1"/>
          </p:cNvSpPr>
          <p:nvPr/>
        </p:nvSpPr>
        <p:spPr bwMode="auto">
          <a:xfrm>
            <a:off x="2298700" y="3473450"/>
            <a:ext cx="141288" cy="0"/>
          </a:xfrm>
          <a:prstGeom prst="line">
            <a:avLst/>
          </a:prstGeom>
          <a:noFill/>
          <a:ln w="11113">
            <a:solidFill>
              <a:srgbClr val="000000"/>
            </a:solidFill>
            <a:miter lim="800000"/>
            <a:headEnd/>
            <a:tailEnd/>
          </a:ln>
        </p:spPr>
        <p:txBody>
          <a:bodyPr/>
          <a:lstStyle/>
          <a:p>
            <a:endParaRPr lang="en-US"/>
          </a:p>
        </p:txBody>
      </p:sp>
      <p:sp>
        <p:nvSpPr>
          <p:cNvPr id="77843" name="Line 52"/>
          <p:cNvSpPr>
            <a:spLocks noChangeShapeType="1"/>
          </p:cNvSpPr>
          <p:nvPr/>
        </p:nvSpPr>
        <p:spPr bwMode="auto">
          <a:xfrm>
            <a:off x="2298700" y="3913188"/>
            <a:ext cx="141288" cy="0"/>
          </a:xfrm>
          <a:prstGeom prst="line">
            <a:avLst/>
          </a:prstGeom>
          <a:noFill/>
          <a:ln w="11113">
            <a:solidFill>
              <a:srgbClr val="000000"/>
            </a:solidFill>
            <a:miter lim="800000"/>
            <a:headEnd/>
            <a:tailEnd/>
          </a:ln>
        </p:spPr>
        <p:txBody>
          <a:bodyPr/>
          <a:lstStyle/>
          <a:p>
            <a:endParaRPr lang="en-US"/>
          </a:p>
        </p:txBody>
      </p:sp>
      <p:sp>
        <p:nvSpPr>
          <p:cNvPr id="77844" name="Line 53"/>
          <p:cNvSpPr>
            <a:spLocks noChangeShapeType="1"/>
          </p:cNvSpPr>
          <p:nvPr/>
        </p:nvSpPr>
        <p:spPr bwMode="auto">
          <a:xfrm>
            <a:off x="2298700" y="4356100"/>
            <a:ext cx="141288" cy="0"/>
          </a:xfrm>
          <a:prstGeom prst="line">
            <a:avLst/>
          </a:prstGeom>
          <a:noFill/>
          <a:ln w="11113">
            <a:solidFill>
              <a:srgbClr val="000000"/>
            </a:solidFill>
            <a:miter lim="800000"/>
            <a:headEnd/>
            <a:tailEnd/>
          </a:ln>
        </p:spPr>
        <p:txBody>
          <a:bodyPr/>
          <a:lstStyle/>
          <a:p>
            <a:endParaRPr lang="en-US"/>
          </a:p>
        </p:txBody>
      </p:sp>
      <p:sp>
        <p:nvSpPr>
          <p:cNvPr id="77845" name="Line 54"/>
          <p:cNvSpPr>
            <a:spLocks noChangeShapeType="1"/>
          </p:cNvSpPr>
          <p:nvPr/>
        </p:nvSpPr>
        <p:spPr bwMode="auto">
          <a:xfrm>
            <a:off x="2298700" y="4800600"/>
            <a:ext cx="141288" cy="0"/>
          </a:xfrm>
          <a:prstGeom prst="line">
            <a:avLst/>
          </a:prstGeom>
          <a:noFill/>
          <a:ln w="11113">
            <a:solidFill>
              <a:srgbClr val="000000"/>
            </a:solidFill>
            <a:miter lim="800000"/>
            <a:headEnd/>
            <a:tailEnd/>
          </a:ln>
        </p:spPr>
        <p:txBody>
          <a:bodyPr/>
          <a:lstStyle/>
          <a:p>
            <a:endParaRPr lang="en-US"/>
          </a:p>
        </p:txBody>
      </p:sp>
      <p:sp>
        <p:nvSpPr>
          <p:cNvPr id="77846" name="Line 55"/>
          <p:cNvSpPr>
            <a:spLocks noChangeShapeType="1"/>
          </p:cNvSpPr>
          <p:nvPr/>
        </p:nvSpPr>
        <p:spPr bwMode="auto">
          <a:xfrm flipV="1">
            <a:off x="3167063" y="5111750"/>
            <a:ext cx="0" cy="128588"/>
          </a:xfrm>
          <a:prstGeom prst="line">
            <a:avLst/>
          </a:prstGeom>
          <a:noFill/>
          <a:ln w="11113">
            <a:solidFill>
              <a:srgbClr val="000000"/>
            </a:solidFill>
            <a:miter lim="800000"/>
            <a:headEnd/>
            <a:tailEnd/>
          </a:ln>
        </p:spPr>
        <p:txBody>
          <a:bodyPr/>
          <a:lstStyle/>
          <a:p>
            <a:endParaRPr lang="en-US"/>
          </a:p>
        </p:txBody>
      </p:sp>
      <p:sp>
        <p:nvSpPr>
          <p:cNvPr id="77847" name="Line 56"/>
          <p:cNvSpPr>
            <a:spLocks noChangeShapeType="1"/>
          </p:cNvSpPr>
          <p:nvPr/>
        </p:nvSpPr>
        <p:spPr bwMode="auto">
          <a:xfrm flipV="1">
            <a:off x="4468813" y="5111750"/>
            <a:ext cx="0" cy="128588"/>
          </a:xfrm>
          <a:prstGeom prst="line">
            <a:avLst/>
          </a:prstGeom>
          <a:noFill/>
          <a:ln w="11113">
            <a:solidFill>
              <a:srgbClr val="000000"/>
            </a:solidFill>
            <a:miter lim="800000"/>
            <a:headEnd/>
            <a:tailEnd/>
          </a:ln>
        </p:spPr>
        <p:txBody>
          <a:bodyPr/>
          <a:lstStyle/>
          <a:p>
            <a:endParaRPr lang="en-US"/>
          </a:p>
        </p:txBody>
      </p:sp>
      <p:sp>
        <p:nvSpPr>
          <p:cNvPr id="77848" name="Line 57"/>
          <p:cNvSpPr>
            <a:spLocks noChangeShapeType="1"/>
          </p:cNvSpPr>
          <p:nvPr/>
        </p:nvSpPr>
        <p:spPr bwMode="auto">
          <a:xfrm flipV="1">
            <a:off x="5772150" y="5111750"/>
            <a:ext cx="0" cy="128588"/>
          </a:xfrm>
          <a:prstGeom prst="line">
            <a:avLst/>
          </a:prstGeom>
          <a:noFill/>
          <a:ln w="11113">
            <a:solidFill>
              <a:srgbClr val="000000"/>
            </a:solidFill>
            <a:miter lim="800000"/>
            <a:headEnd/>
            <a:tailEnd/>
          </a:ln>
        </p:spPr>
        <p:txBody>
          <a:bodyPr/>
          <a:lstStyle/>
          <a:p>
            <a:endParaRPr lang="en-US"/>
          </a:p>
        </p:txBody>
      </p:sp>
      <p:sp>
        <p:nvSpPr>
          <p:cNvPr id="77849" name="Line 58"/>
          <p:cNvSpPr>
            <a:spLocks noChangeShapeType="1"/>
          </p:cNvSpPr>
          <p:nvPr/>
        </p:nvSpPr>
        <p:spPr bwMode="auto">
          <a:xfrm flipV="1">
            <a:off x="6638925" y="5111750"/>
            <a:ext cx="0" cy="128588"/>
          </a:xfrm>
          <a:prstGeom prst="line">
            <a:avLst/>
          </a:prstGeom>
          <a:noFill/>
          <a:ln w="11113">
            <a:solidFill>
              <a:srgbClr val="000000"/>
            </a:solidFill>
            <a:miter lim="800000"/>
            <a:headEnd/>
            <a:tailEnd/>
          </a:ln>
        </p:spPr>
        <p:txBody>
          <a:bodyPr/>
          <a:lstStyle/>
          <a:p>
            <a:endParaRPr lang="en-US"/>
          </a:p>
        </p:txBody>
      </p:sp>
      <p:sp>
        <p:nvSpPr>
          <p:cNvPr id="77850" name="Line 59"/>
          <p:cNvSpPr>
            <a:spLocks noChangeShapeType="1"/>
          </p:cNvSpPr>
          <p:nvPr/>
        </p:nvSpPr>
        <p:spPr bwMode="auto">
          <a:xfrm flipV="1">
            <a:off x="7508875" y="5111750"/>
            <a:ext cx="0" cy="128588"/>
          </a:xfrm>
          <a:prstGeom prst="line">
            <a:avLst/>
          </a:prstGeom>
          <a:noFill/>
          <a:ln w="11113">
            <a:solidFill>
              <a:srgbClr val="000000"/>
            </a:solidFill>
            <a:miter lim="800000"/>
            <a:headEnd/>
            <a:tailEnd/>
          </a:ln>
        </p:spPr>
        <p:txBody>
          <a:bodyPr/>
          <a:lstStyle/>
          <a:p>
            <a:endParaRPr lang="en-US"/>
          </a:p>
        </p:txBody>
      </p:sp>
      <p:sp>
        <p:nvSpPr>
          <p:cNvPr id="77851" name="Rectangle 60"/>
          <p:cNvSpPr>
            <a:spLocks noChangeArrowheads="1"/>
          </p:cNvSpPr>
          <p:nvPr/>
        </p:nvSpPr>
        <p:spPr bwMode="auto">
          <a:xfrm>
            <a:off x="1730375" y="2032000"/>
            <a:ext cx="44291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$2.00</a:t>
            </a:r>
            <a:endParaRPr lang="en-US" sz="1400"/>
          </a:p>
        </p:txBody>
      </p:sp>
      <p:sp>
        <p:nvSpPr>
          <p:cNvPr id="77852" name="Rectangle 61"/>
          <p:cNvSpPr>
            <a:spLocks noChangeArrowheads="1"/>
          </p:cNvSpPr>
          <p:nvPr/>
        </p:nvSpPr>
        <p:spPr bwMode="auto">
          <a:xfrm>
            <a:off x="1838325" y="2473325"/>
            <a:ext cx="3429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1.75</a:t>
            </a:r>
            <a:endParaRPr lang="en-US" sz="1400"/>
          </a:p>
        </p:txBody>
      </p:sp>
      <p:sp>
        <p:nvSpPr>
          <p:cNvPr id="77853" name="Rectangle 62"/>
          <p:cNvSpPr>
            <a:spLocks noChangeArrowheads="1"/>
          </p:cNvSpPr>
          <p:nvPr/>
        </p:nvSpPr>
        <p:spPr bwMode="auto">
          <a:xfrm>
            <a:off x="1838325" y="2914650"/>
            <a:ext cx="3429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1.50</a:t>
            </a:r>
            <a:endParaRPr lang="en-US" sz="1400"/>
          </a:p>
        </p:txBody>
      </p:sp>
      <p:sp>
        <p:nvSpPr>
          <p:cNvPr id="77854" name="Rectangle 63"/>
          <p:cNvSpPr>
            <a:spLocks noChangeArrowheads="1"/>
          </p:cNvSpPr>
          <p:nvPr/>
        </p:nvSpPr>
        <p:spPr bwMode="auto">
          <a:xfrm>
            <a:off x="1838325" y="3357563"/>
            <a:ext cx="34290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1.25</a:t>
            </a:r>
            <a:endParaRPr lang="en-US" sz="1400"/>
          </a:p>
        </p:txBody>
      </p:sp>
      <p:sp>
        <p:nvSpPr>
          <p:cNvPr id="77855" name="Rectangle 64"/>
          <p:cNvSpPr>
            <a:spLocks noChangeArrowheads="1"/>
          </p:cNvSpPr>
          <p:nvPr/>
        </p:nvSpPr>
        <p:spPr bwMode="auto">
          <a:xfrm>
            <a:off x="1838325" y="3798888"/>
            <a:ext cx="34290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a:t>
            </a:r>
            <a:endParaRPr lang="en-US" sz="1400"/>
          </a:p>
        </p:txBody>
      </p:sp>
      <p:sp>
        <p:nvSpPr>
          <p:cNvPr id="77856" name="Rectangle 65"/>
          <p:cNvSpPr>
            <a:spLocks noChangeArrowheads="1"/>
          </p:cNvSpPr>
          <p:nvPr/>
        </p:nvSpPr>
        <p:spPr bwMode="auto">
          <a:xfrm>
            <a:off x="1838325" y="4240213"/>
            <a:ext cx="34290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0.75</a:t>
            </a:r>
            <a:endParaRPr lang="en-US" sz="1400"/>
          </a:p>
        </p:txBody>
      </p:sp>
      <p:sp>
        <p:nvSpPr>
          <p:cNvPr id="77857" name="Rectangle 66"/>
          <p:cNvSpPr>
            <a:spLocks noChangeArrowheads="1"/>
          </p:cNvSpPr>
          <p:nvPr/>
        </p:nvSpPr>
        <p:spPr bwMode="auto">
          <a:xfrm>
            <a:off x="1838325" y="4683125"/>
            <a:ext cx="3429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0.50</a:t>
            </a:r>
            <a:endParaRPr lang="en-US" sz="1400"/>
          </a:p>
        </p:txBody>
      </p:sp>
      <p:sp>
        <p:nvSpPr>
          <p:cNvPr id="77858" name="Freeform 77"/>
          <p:cNvSpPr>
            <a:spLocks/>
          </p:cNvSpPr>
          <p:nvPr/>
        </p:nvSpPr>
        <p:spPr bwMode="auto">
          <a:xfrm>
            <a:off x="3602038" y="2146300"/>
            <a:ext cx="1566862" cy="2654300"/>
          </a:xfrm>
          <a:custGeom>
            <a:avLst/>
            <a:gdLst>
              <a:gd name="T0" fmla="*/ 2147483647 w 267"/>
              <a:gd name="T1" fmla="*/ 0 h 494"/>
              <a:gd name="T2" fmla="*/ 0 w 267"/>
              <a:gd name="T3" fmla="*/ 2147483647 h 494"/>
              <a:gd name="T4" fmla="*/ 0 60000 65536"/>
              <a:gd name="T5" fmla="*/ 0 60000 65536"/>
              <a:gd name="T6" fmla="*/ 0 w 267"/>
              <a:gd name="T7" fmla="*/ 0 h 494"/>
              <a:gd name="T8" fmla="*/ 267 w 267"/>
              <a:gd name="T9" fmla="*/ 494 h 494"/>
            </a:gdLst>
            <a:ahLst/>
            <a:cxnLst>
              <a:cxn ang="T4">
                <a:pos x="T0" y="T1"/>
              </a:cxn>
              <a:cxn ang="T5">
                <a:pos x="T2" y="T3"/>
              </a:cxn>
            </a:cxnLst>
            <a:rect l="T6" t="T7" r="T8" b="T9"/>
            <a:pathLst>
              <a:path w="267" h="494">
                <a:moveTo>
                  <a:pt x="267" y="0"/>
                </a:moveTo>
                <a:cubicBezTo>
                  <a:pt x="267" y="149"/>
                  <a:pt x="190" y="320"/>
                  <a:pt x="0" y="494"/>
                </a:cubicBezTo>
              </a:path>
            </a:pathLst>
          </a:custGeom>
          <a:noFill/>
          <a:ln w="42863" cap="flat">
            <a:solidFill>
              <a:srgbClr val="EE313C"/>
            </a:solidFill>
            <a:prstDash val="solid"/>
            <a:miter lim="800000"/>
            <a:headEnd/>
            <a:tailEnd/>
          </a:ln>
        </p:spPr>
        <p:txBody>
          <a:bodyPr/>
          <a:lstStyle/>
          <a:p>
            <a:endParaRPr lang="en-US"/>
          </a:p>
        </p:txBody>
      </p:sp>
      <p:sp>
        <p:nvSpPr>
          <p:cNvPr id="77859" name="Rectangle 78"/>
          <p:cNvSpPr>
            <a:spLocks noChangeArrowheads="1"/>
          </p:cNvSpPr>
          <p:nvPr/>
        </p:nvSpPr>
        <p:spPr bwMode="auto">
          <a:xfrm>
            <a:off x="4860925" y="1866900"/>
            <a:ext cx="547688"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Supply</a:t>
            </a:r>
            <a:endParaRPr lang="en-US" sz="1400"/>
          </a:p>
        </p:txBody>
      </p:sp>
      <p:sp>
        <p:nvSpPr>
          <p:cNvPr id="77860" name="Rectangle 79"/>
          <p:cNvSpPr>
            <a:spLocks noChangeArrowheads="1"/>
          </p:cNvSpPr>
          <p:nvPr/>
        </p:nvSpPr>
        <p:spPr bwMode="auto">
          <a:xfrm>
            <a:off x="6388100" y="4691063"/>
            <a:ext cx="67627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Demand</a:t>
            </a:r>
            <a:endParaRPr lang="en-US" sz="1400"/>
          </a:p>
        </p:txBody>
      </p:sp>
      <p:sp>
        <p:nvSpPr>
          <p:cNvPr id="77861" name="Line 81"/>
          <p:cNvSpPr>
            <a:spLocks noChangeShapeType="1"/>
          </p:cNvSpPr>
          <p:nvPr/>
        </p:nvSpPr>
        <p:spPr bwMode="auto">
          <a:xfrm flipV="1">
            <a:off x="2241550" y="4962525"/>
            <a:ext cx="122238" cy="63500"/>
          </a:xfrm>
          <a:prstGeom prst="line">
            <a:avLst/>
          </a:prstGeom>
          <a:noFill/>
          <a:ln w="11113">
            <a:solidFill>
              <a:srgbClr val="000000"/>
            </a:solidFill>
            <a:miter lim="800000"/>
            <a:headEnd/>
            <a:tailEnd/>
          </a:ln>
        </p:spPr>
        <p:txBody>
          <a:bodyPr/>
          <a:lstStyle/>
          <a:p>
            <a:endParaRPr lang="en-US"/>
          </a:p>
        </p:txBody>
      </p:sp>
      <p:sp>
        <p:nvSpPr>
          <p:cNvPr id="77862" name="Line 82"/>
          <p:cNvSpPr>
            <a:spLocks noChangeShapeType="1"/>
          </p:cNvSpPr>
          <p:nvPr/>
        </p:nvSpPr>
        <p:spPr bwMode="auto">
          <a:xfrm flipV="1">
            <a:off x="2241550" y="5048250"/>
            <a:ext cx="122238" cy="63500"/>
          </a:xfrm>
          <a:prstGeom prst="line">
            <a:avLst/>
          </a:prstGeom>
          <a:noFill/>
          <a:ln w="11113">
            <a:solidFill>
              <a:srgbClr val="000000"/>
            </a:solidFill>
            <a:miter lim="800000"/>
            <a:headEnd/>
            <a:tailEnd/>
          </a:ln>
        </p:spPr>
        <p:txBody>
          <a:bodyPr/>
          <a:lstStyle/>
          <a:p>
            <a:endParaRPr lang="en-US"/>
          </a:p>
        </p:txBody>
      </p:sp>
      <p:sp>
        <p:nvSpPr>
          <p:cNvPr id="77863" name="Line 83"/>
          <p:cNvSpPr>
            <a:spLocks noChangeShapeType="1"/>
          </p:cNvSpPr>
          <p:nvPr/>
        </p:nvSpPr>
        <p:spPr bwMode="auto">
          <a:xfrm flipH="1">
            <a:off x="2439988" y="5181600"/>
            <a:ext cx="69850" cy="112713"/>
          </a:xfrm>
          <a:prstGeom prst="line">
            <a:avLst/>
          </a:prstGeom>
          <a:noFill/>
          <a:ln w="11113">
            <a:solidFill>
              <a:srgbClr val="000000"/>
            </a:solidFill>
            <a:miter lim="800000"/>
            <a:headEnd/>
            <a:tailEnd/>
          </a:ln>
        </p:spPr>
        <p:txBody>
          <a:bodyPr/>
          <a:lstStyle/>
          <a:p>
            <a:endParaRPr lang="en-US"/>
          </a:p>
        </p:txBody>
      </p:sp>
      <p:sp>
        <p:nvSpPr>
          <p:cNvPr id="77864" name="Line 84"/>
          <p:cNvSpPr>
            <a:spLocks noChangeShapeType="1"/>
          </p:cNvSpPr>
          <p:nvPr/>
        </p:nvSpPr>
        <p:spPr bwMode="auto">
          <a:xfrm flipH="1">
            <a:off x="2533650" y="5181600"/>
            <a:ext cx="69850" cy="112713"/>
          </a:xfrm>
          <a:prstGeom prst="line">
            <a:avLst/>
          </a:prstGeom>
          <a:noFill/>
          <a:ln w="11113">
            <a:solidFill>
              <a:srgbClr val="000000"/>
            </a:solidFill>
            <a:miter lim="800000"/>
            <a:headEnd/>
            <a:tailEnd/>
          </a:ln>
        </p:spPr>
        <p:txBody>
          <a:bodyPr/>
          <a:lstStyle/>
          <a:p>
            <a:endParaRPr lang="en-US"/>
          </a:p>
        </p:txBody>
      </p:sp>
      <p:sp>
        <p:nvSpPr>
          <p:cNvPr id="77865" name="Freeform 85"/>
          <p:cNvSpPr>
            <a:spLocks/>
          </p:cNvSpPr>
          <p:nvPr/>
        </p:nvSpPr>
        <p:spPr bwMode="auto">
          <a:xfrm>
            <a:off x="3214688" y="2146300"/>
            <a:ext cx="3079750" cy="2654300"/>
          </a:xfrm>
          <a:custGeom>
            <a:avLst/>
            <a:gdLst>
              <a:gd name="T0" fmla="*/ 0 w 525"/>
              <a:gd name="T1" fmla="*/ 0 h 494"/>
              <a:gd name="T2" fmla="*/ 2147483647 w 525"/>
              <a:gd name="T3" fmla="*/ 2147483647 h 494"/>
              <a:gd name="T4" fmla="*/ 0 60000 65536"/>
              <a:gd name="T5" fmla="*/ 0 60000 65536"/>
              <a:gd name="T6" fmla="*/ 0 w 525"/>
              <a:gd name="T7" fmla="*/ 0 h 494"/>
              <a:gd name="T8" fmla="*/ 525 w 525"/>
              <a:gd name="T9" fmla="*/ 494 h 494"/>
            </a:gdLst>
            <a:ahLst/>
            <a:cxnLst>
              <a:cxn ang="T4">
                <a:pos x="T0" y="T1"/>
              </a:cxn>
              <a:cxn ang="T5">
                <a:pos x="T2" y="T3"/>
              </a:cxn>
            </a:cxnLst>
            <a:rect l="T6" t="T7" r="T8" b="T9"/>
            <a:pathLst>
              <a:path w="525" h="494">
                <a:moveTo>
                  <a:pt x="0" y="0"/>
                </a:moveTo>
                <a:cubicBezTo>
                  <a:pt x="29" y="133"/>
                  <a:pt x="196" y="409"/>
                  <a:pt x="525" y="494"/>
                </a:cubicBezTo>
              </a:path>
            </a:pathLst>
          </a:custGeom>
          <a:noFill/>
          <a:ln w="42863" cap="flat">
            <a:solidFill>
              <a:srgbClr val="3C5DAA"/>
            </a:solidFill>
            <a:prstDash val="solid"/>
            <a:miter lim="800000"/>
            <a:headEnd/>
            <a:tailEnd/>
          </a:ln>
        </p:spPr>
        <p:txBody>
          <a:bodyPr/>
          <a:lstStyle/>
          <a:p>
            <a:endParaRPr lang="en-US"/>
          </a:p>
        </p:txBody>
      </p:sp>
      <p:sp>
        <p:nvSpPr>
          <p:cNvPr id="77866" name="Oval 86"/>
          <p:cNvSpPr>
            <a:spLocks noChangeArrowheads="1"/>
          </p:cNvSpPr>
          <p:nvPr/>
        </p:nvSpPr>
        <p:spPr bwMode="auto">
          <a:xfrm>
            <a:off x="4411663" y="3860800"/>
            <a:ext cx="115887" cy="106363"/>
          </a:xfrm>
          <a:prstGeom prst="ellipse">
            <a:avLst/>
          </a:prstGeom>
          <a:solidFill>
            <a:srgbClr val="000000"/>
          </a:solidFill>
          <a:ln w="9525">
            <a:noFill/>
            <a:round/>
            <a:headEnd/>
            <a:tailEnd/>
          </a:ln>
        </p:spPr>
        <p:txBody>
          <a:bodyPr/>
          <a:lstStyle/>
          <a:p>
            <a:endParaRPr lang="en-US"/>
          </a:p>
        </p:txBody>
      </p:sp>
      <p:sp>
        <p:nvSpPr>
          <p:cNvPr id="581719" name="Rectangle 87"/>
          <p:cNvSpPr>
            <a:spLocks noChangeArrowheads="1"/>
          </p:cNvSpPr>
          <p:nvPr/>
        </p:nvSpPr>
        <p:spPr bwMode="auto">
          <a:xfrm>
            <a:off x="4630738" y="376237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p>
        </p:txBody>
      </p:sp>
      <p:sp>
        <p:nvSpPr>
          <p:cNvPr id="581720" name="Line 88"/>
          <p:cNvSpPr>
            <a:spLocks noChangeShapeType="1"/>
          </p:cNvSpPr>
          <p:nvPr/>
        </p:nvSpPr>
        <p:spPr bwMode="auto">
          <a:xfrm flipH="1">
            <a:off x="1531938" y="3913188"/>
            <a:ext cx="255587" cy="0"/>
          </a:xfrm>
          <a:prstGeom prst="line">
            <a:avLst/>
          </a:prstGeom>
          <a:noFill/>
          <a:ln w="11113">
            <a:solidFill>
              <a:srgbClr val="000000"/>
            </a:solidFill>
            <a:miter lim="800000"/>
            <a:headEnd/>
            <a:tailEnd/>
          </a:ln>
        </p:spPr>
        <p:txBody>
          <a:bodyPr/>
          <a:lstStyle/>
          <a:p>
            <a:endParaRPr lang="en-US"/>
          </a:p>
        </p:txBody>
      </p:sp>
      <p:sp>
        <p:nvSpPr>
          <p:cNvPr id="581721" name="Line 89"/>
          <p:cNvSpPr>
            <a:spLocks noChangeShapeType="1"/>
          </p:cNvSpPr>
          <p:nvPr/>
        </p:nvSpPr>
        <p:spPr bwMode="auto">
          <a:xfrm flipH="1">
            <a:off x="4791075" y="3913188"/>
            <a:ext cx="258763" cy="0"/>
          </a:xfrm>
          <a:prstGeom prst="line">
            <a:avLst/>
          </a:prstGeom>
          <a:noFill/>
          <a:ln w="11113">
            <a:solidFill>
              <a:srgbClr val="000000"/>
            </a:solidFill>
            <a:miter lim="800000"/>
            <a:headEnd/>
            <a:tailEnd/>
          </a:ln>
        </p:spPr>
        <p:txBody>
          <a:bodyPr/>
          <a:lstStyle/>
          <a:p>
            <a:endParaRPr lang="en-US"/>
          </a:p>
        </p:txBody>
      </p:sp>
      <p:sp>
        <p:nvSpPr>
          <p:cNvPr id="581722" name="Line 90"/>
          <p:cNvSpPr>
            <a:spLocks noChangeShapeType="1"/>
          </p:cNvSpPr>
          <p:nvPr/>
        </p:nvSpPr>
        <p:spPr bwMode="auto">
          <a:xfrm>
            <a:off x="4468813" y="5492750"/>
            <a:ext cx="0" cy="238125"/>
          </a:xfrm>
          <a:prstGeom prst="line">
            <a:avLst/>
          </a:prstGeom>
          <a:noFill/>
          <a:ln w="11113">
            <a:solidFill>
              <a:srgbClr val="000000"/>
            </a:solidFill>
            <a:miter lim="800000"/>
            <a:headEnd/>
            <a:tailEnd/>
          </a:ln>
        </p:spPr>
        <p:txBody>
          <a:bodyPr/>
          <a:lstStyle/>
          <a:p>
            <a:endParaRPr lang="en-US"/>
          </a:p>
        </p:txBody>
      </p:sp>
      <p:sp>
        <p:nvSpPr>
          <p:cNvPr id="581723" name="Freeform 91"/>
          <p:cNvSpPr>
            <a:spLocks/>
          </p:cNvSpPr>
          <p:nvPr/>
        </p:nvSpPr>
        <p:spPr bwMode="auto">
          <a:xfrm>
            <a:off x="5148263" y="3736975"/>
            <a:ext cx="981075" cy="331788"/>
          </a:xfrm>
          <a:custGeom>
            <a:avLst/>
            <a:gdLst>
              <a:gd name="T0" fmla="*/ 2147483647 w 184"/>
              <a:gd name="T1" fmla="*/ 2147483647 h 62"/>
              <a:gd name="T2" fmla="*/ 2147483647 w 184"/>
              <a:gd name="T3" fmla="*/ 2147483647 h 62"/>
              <a:gd name="T4" fmla="*/ 2147483647 w 184"/>
              <a:gd name="T5" fmla="*/ 2147483647 h 62"/>
              <a:gd name="T6" fmla="*/ 0 w 184"/>
              <a:gd name="T7" fmla="*/ 2147483647 h 62"/>
              <a:gd name="T8" fmla="*/ 0 w 184"/>
              <a:gd name="T9" fmla="*/ 2147483647 h 62"/>
              <a:gd name="T10" fmla="*/ 2147483647 w 184"/>
              <a:gd name="T11" fmla="*/ 0 h 62"/>
              <a:gd name="T12" fmla="*/ 2147483647 w 184"/>
              <a:gd name="T13" fmla="*/ 0 h 62"/>
              <a:gd name="T14" fmla="*/ 2147483647 w 184"/>
              <a:gd name="T15" fmla="*/ 2147483647 h 62"/>
              <a:gd name="T16" fmla="*/ 2147483647 w 184"/>
              <a:gd name="T17" fmla="*/ 2147483647 h 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4"/>
              <a:gd name="T28" fmla="*/ 0 h 62"/>
              <a:gd name="T29" fmla="*/ 184 w 184"/>
              <a:gd name="T30" fmla="*/ 62 h 6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4" h="62">
                <a:moveTo>
                  <a:pt x="184" y="48"/>
                </a:moveTo>
                <a:cubicBezTo>
                  <a:pt x="184" y="55"/>
                  <a:pt x="177" y="62"/>
                  <a:pt x="169" y="62"/>
                </a:cubicBezTo>
                <a:cubicBezTo>
                  <a:pt x="14" y="62"/>
                  <a:pt x="14" y="62"/>
                  <a:pt x="14" y="62"/>
                </a:cubicBezTo>
                <a:cubicBezTo>
                  <a:pt x="6" y="62"/>
                  <a:pt x="0" y="55"/>
                  <a:pt x="0" y="48"/>
                </a:cubicBezTo>
                <a:cubicBezTo>
                  <a:pt x="0" y="15"/>
                  <a:pt x="0" y="15"/>
                  <a:pt x="0" y="15"/>
                </a:cubicBezTo>
                <a:cubicBezTo>
                  <a:pt x="0" y="7"/>
                  <a:pt x="6" y="0"/>
                  <a:pt x="14" y="0"/>
                </a:cubicBezTo>
                <a:cubicBezTo>
                  <a:pt x="169" y="0"/>
                  <a:pt x="169" y="0"/>
                  <a:pt x="169" y="0"/>
                </a:cubicBezTo>
                <a:cubicBezTo>
                  <a:pt x="177" y="0"/>
                  <a:pt x="184" y="7"/>
                  <a:pt x="184" y="15"/>
                </a:cubicBezTo>
                <a:lnTo>
                  <a:pt x="184" y="48"/>
                </a:lnTo>
                <a:close/>
              </a:path>
            </a:pathLst>
          </a:custGeom>
          <a:solidFill>
            <a:srgbClr val="D6E2E0"/>
          </a:solidFill>
          <a:ln w="9525">
            <a:noFill/>
            <a:round/>
            <a:headEnd/>
            <a:tailEnd/>
          </a:ln>
        </p:spPr>
        <p:txBody>
          <a:bodyPr/>
          <a:lstStyle/>
          <a:p>
            <a:endParaRPr lang="en-US"/>
          </a:p>
        </p:txBody>
      </p:sp>
      <p:sp>
        <p:nvSpPr>
          <p:cNvPr id="581728" name="Freeform 96"/>
          <p:cNvSpPr>
            <a:spLocks/>
          </p:cNvSpPr>
          <p:nvPr/>
        </p:nvSpPr>
        <p:spPr bwMode="auto">
          <a:xfrm>
            <a:off x="3946525" y="5730875"/>
            <a:ext cx="1074738" cy="650875"/>
          </a:xfrm>
          <a:custGeom>
            <a:avLst/>
            <a:gdLst>
              <a:gd name="T0" fmla="*/ 2147483647 w 183"/>
              <a:gd name="T1" fmla="*/ 2147483647 h 96"/>
              <a:gd name="T2" fmla="*/ 2147483647 w 183"/>
              <a:gd name="T3" fmla="*/ 2147483647 h 96"/>
              <a:gd name="T4" fmla="*/ 2147483647 w 183"/>
              <a:gd name="T5" fmla="*/ 2147483647 h 96"/>
              <a:gd name="T6" fmla="*/ 0 w 183"/>
              <a:gd name="T7" fmla="*/ 2147483647 h 96"/>
              <a:gd name="T8" fmla="*/ 0 w 183"/>
              <a:gd name="T9" fmla="*/ 2147483647 h 96"/>
              <a:gd name="T10" fmla="*/ 2147483647 w 183"/>
              <a:gd name="T11" fmla="*/ 0 h 96"/>
              <a:gd name="T12" fmla="*/ 2147483647 w 183"/>
              <a:gd name="T13" fmla="*/ 0 h 96"/>
              <a:gd name="T14" fmla="*/ 2147483647 w 183"/>
              <a:gd name="T15" fmla="*/ 2147483647 h 96"/>
              <a:gd name="T16" fmla="*/ 2147483647 w 183"/>
              <a:gd name="T17" fmla="*/ 2147483647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3"/>
              <a:gd name="T28" fmla="*/ 0 h 96"/>
              <a:gd name="T29" fmla="*/ 183 w 183"/>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3" h="96">
                <a:moveTo>
                  <a:pt x="183" y="81"/>
                </a:moveTo>
                <a:cubicBezTo>
                  <a:pt x="183" y="89"/>
                  <a:pt x="177" y="96"/>
                  <a:pt x="169" y="96"/>
                </a:cubicBezTo>
                <a:cubicBezTo>
                  <a:pt x="14" y="96"/>
                  <a:pt x="14" y="96"/>
                  <a:pt x="14" y="96"/>
                </a:cubicBezTo>
                <a:cubicBezTo>
                  <a:pt x="6" y="96"/>
                  <a:pt x="0" y="89"/>
                  <a:pt x="0" y="81"/>
                </a:cubicBezTo>
                <a:cubicBezTo>
                  <a:pt x="0" y="14"/>
                  <a:pt x="0" y="14"/>
                  <a:pt x="0" y="14"/>
                </a:cubicBezTo>
                <a:cubicBezTo>
                  <a:pt x="0" y="7"/>
                  <a:pt x="6" y="0"/>
                  <a:pt x="14" y="0"/>
                </a:cubicBezTo>
                <a:cubicBezTo>
                  <a:pt x="169" y="0"/>
                  <a:pt x="169" y="0"/>
                  <a:pt x="169" y="0"/>
                </a:cubicBezTo>
                <a:cubicBezTo>
                  <a:pt x="177" y="0"/>
                  <a:pt x="183" y="7"/>
                  <a:pt x="183" y="14"/>
                </a:cubicBezTo>
                <a:lnTo>
                  <a:pt x="183" y="81"/>
                </a:lnTo>
                <a:close/>
              </a:path>
            </a:pathLst>
          </a:custGeom>
          <a:solidFill>
            <a:srgbClr val="D6E2E0"/>
          </a:solidFill>
          <a:ln w="9525">
            <a:noFill/>
            <a:round/>
            <a:headEnd/>
            <a:tailEnd/>
          </a:ln>
        </p:spPr>
        <p:txBody>
          <a:bodyPr/>
          <a:lstStyle/>
          <a:p>
            <a:endParaRPr lang="en-US"/>
          </a:p>
        </p:txBody>
      </p:sp>
      <p:sp>
        <p:nvSpPr>
          <p:cNvPr id="581729" name="Freeform 97"/>
          <p:cNvSpPr>
            <a:spLocks/>
          </p:cNvSpPr>
          <p:nvPr/>
        </p:nvSpPr>
        <p:spPr bwMode="auto">
          <a:xfrm>
            <a:off x="873125" y="3678238"/>
            <a:ext cx="965200" cy="514350"/>
          </a:xfrm>
          <a:custGeom>
            <a:avLst/>
            <a:gdLst>
              <a:gd name="T0" fmla="*/ 2147483647 w 183"/>
              <a:gd name="T1" fmla="*/ 2147483647 h 96"/>
              <a:gd name="T2" fmla="*/ 2147483647 w 183"/>
              <a:gd name="T3" fmla="*/ 2147483647 h 96"/>
              <a:gd name="T4" fmla="*/ 2147483647 w 183"/>
              <a:gd name="T5" fmla="*/ 2147483647 h 96"/>
              <a:gd name="T6" fmla="*/ 0 w 183"/>
              <a:gd name="T7" fmla="*/ 2147483647 h 96"/>
              <a:gd name="T8" fmla="*/ 0 w 183"/>
              <a:gd name="T9" fmla="*/ 2147483647 h 96"/>
              <a:gd name="T10" fmla="*/ 2147483647 w 183"/>
              <a:gd name="T11" fmla="*/ 0 h 96"/>
              <a:gd name="T12" fmla="*/ 2147483647 w 183"/>
              <a:gd name="T13" fmla="*/ 0 h 96"/>
              <a:gd name="T14" fmla="*/ 2147483647 w 183"/>
              <a:gd name="T15" fmla="*/ 2147483647 h 96"/>
              <a:gd name="T16" fmla="*/ 2147483647 w 183"/>
              <a:gd name="T17" fmla="*/ 2147483647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3"/>
              <a:gd name="T28" fmla="*/ 0 h 96"/>
              <a:gd name="T29" fmla="*/ 183 w 183"/>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3" h="96">
                <a:moveTo>
                  <a:pt x="183" y="82"/>
                </a:moveTo>
                <a:cubicBezTo>
                  <a:pt x="183" y="89"/>
                  <a:pt x="177" y="96"/>
                  <a:pt x="169" y="96"/>
                </a:cubicBezTo>
                <a:cubicBezTo>
                  <a:pt x="14" y="96"/>
                  <a:pt x="14" y="96"/>
                  <a:pt x="14" y="96"/>
                </a:cubicBezTo>
                <a:cubicBezTo>
                  <a:pt x="6" y="96"/>
                  <a:pt x="0" y="89"/>
                  <a:pt x="0" y="82"/>
                </a:cubicBezTo>
                <a:cubicBezTo>
                  <a:pt x="0" y="15"/>
                  <a:pt x="0" y="15"/>
                  <a:pt x="0" y="15"/>
                </a:cubicBezTo>
                <a:cubicBezTo>
                  <a:pt x="0" y="7"/>
                  <a:pt x="6" y="0"/>
                  <a:pt x="14" y="0"/>
                </a:cubicBezTo>
                <a:cubicBezTo>
                  <a:pt x="169" y="0"/>
                  <a:pt x="169" y="0"/>
                  <a:pt x="169" y="0"/>
                </a:cubicBezTo>
                <a:cubicBezTo>
                  <a:pt x="177" y="0"/>
                  <a:pt x="183" y="7"/>
                  <a:pt x="183" y="15"/>
                </a:cubicBezTo>
                <a:lnTo>
                  <a:pt x="183" y="82"/>
                </a:lnTo>
                <a:close/>
              </a:path>
            </a:pathLst>
          </a:custGeom>
          <a:solidFill>
            <a:srgbClr val="D6E2E0"/>
          </a:solidFill>
          <a:ln w="9525">
            <a:noFill/>
            <a:round/>
            <a:headEnd/>
            <a:tailEnd/>
          </a:ln>
        </p:spPr>
        <p:txBody>
          <a:bodyPr/>
          <a:lstStyle/>
          <a:p>
            <a:endParaRPr lang="en-US"/>
          </a:p>
        </p:txBody>
      </p:sp>
      <p:sp>
        <p:nvSpPr>
          <p:cNvPr id="581739" name="TextBox 56"/>
          <p:cNvSpPr txBox="1">
            <a:spLocks noChangeArrowheads="1"/>
          </p:cNvSpPr>
          <p:nvPr/>
        </p:nvSpPr>
        <p:spPr bwMode="auto">
          <a:xfrm>
            <a:off x="5076825" y="3733800"/>
            <a:ext cx="1119188" cy="307975"/>
          </a:xfrm>
          <a:prstGeom prst="rect">
            <a:avLst/>
          </a:prstGeom>
          <a:noFill/>
          <a:ln w="9525">
            <a:noFill/>
            <a:miter lim="800000"/>
            <a:headEnd/>
            <a:tailEnd/>
          </a:ln>
        </p:spPr>
        <p:txBody>
          <a:bodyPr>
            <a:spAutoFit/>
          </a:bodyPr>
          <a:lstStyle/>
          <a:p>
            <a:pPr algn="ctr"/>
            <a:r>
              <a:rPr lang="en-US" sz="1400" i="1"/>
              <a:t>Equilibrium</a:t>
            </a:r>
          </a:p>
        </p:txBody>
      </p:sp>
      <p:sp>
        <p:nvSpPr>
          <p:cNvPr id="581740" name="TextBox 56"/>
          <p:cNvSpPr txBox="1">
            <a:spLocks noChangeArrowheads="1"/>
          </p:cNvSpPr>
          <p:nvPr/>
        </p:nvSpPr>
        <p:spPr bwMode="auto">
          <a:xfrm>
            <a:off x="817563" y="3667125"/>
            <a:ext cx="1020762" cy="523875"/>
          </a:xfrm>
          <a:prstGeom prst="rect">
            <a:avLst/>
          </a:prstGeom>
          <a:noFill/>
          <a:ln w="9525">
            <a:noFill/>
            <a:miter lim="800000"/>
            <a:headEnd/>
            <a:tailEnd/>
          </a:ln>
        </p:spPr>
        <p:txBody>
          <a:bodyPr anchor="ctr">
            <a:spAutoFit/>
          </a:bodyPr>
          <a:lstStyle/>
          <a:p>
            <a:pPr algn="ctr"/>
            <a:r>
              <a:rPr lang="en-US" sz="1400" i="1"/>
              <a:t>Equilibrium price</a:t>
            </a:r>
          </a:p>
        </p:txBody>
      </p:sp>
      <p:sp>
        <p:nvSpPr>
          <p:cNvPr id="581741" name="TextBox 56"/>
          <p:cNvSpPr txBox="1">
            <a:spLocks noChangeArrowheads="1"/>
          </p:cNvSpPr>
          <p:nvPr/>
        </p:nvSpPr>
        <p:spPr bwMode="auto">
          <a:xfrm>
            <a:off x="3962400" y="5791200"/>
            <a:ext cx="1058863" cy="523875"/>
          </a:xfrm>
          <a:prstGeom prst="rect">
            <a:avLst/>
          </a:prstGeom>
          <a:noFill/>
          <a:ln w="9525">
            <a:noFill/>
            <a:miter lim="800000"/>
            <a:headEnd/>
            <a:tailEnd/>
          </a:ln>
        </p:spPr>
        <p:txBody>
          <a:bodyPr anchor="ctr">
            <a:spAutoFit/>
          </a:bodyPr>
          <a:lstStyle/>
          <a:p>
            <a:pPr algn="ctr"/>
            <a:r>
              <a:rPr lang="en-US" sz="1400" i="1"/>
              <a:t>Equilibrium quantity</a:t>
            </a:r>
          </a:p>
        </p:txBody>
      </p:sp>
      <p:sp>
        <p:nvSpPr>
          <p:cNvPr id="581748" name="Rectangle 116"/>
          <p:cNvSpPr>
            <a:spLocks noGrp="1" noRot="1" noChangeArrowheads="1"/>
          </p:cNvSpPr>
          <p:nvPr>
            <p:ph type="title"/>
          </p:nvPr>
        </p:nvSpPr>
        <p:spPr>
          <a:xfrm>
            <a:off x="873125" y="60325"/>
            <a:ext cx="7983538" cy="555625"/>
          </a:xfrm>
        </p:spPr>
        <p:txBody>
          <a:bodyPr/>
          <a:lstStyle/>
          <a:p>
            <a:pPr>
              <a:defRPr/>
            </a:pPr>
            <a:r>
              <a:rPr lang="en-US" dirty="0"/>
              <a:t>Market Equilibrium</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1655"/>
                                        </p:tgtEl>
                                        <p:attrNameLst>
                                          <p:attrName>style.visibility</p:attrName>
                                        </p:attrNameLst>
                                      </p:cBhvr>
                                      <p:to>
                                        <p:strVal val="visible"/>
                                      </p:to>
                                    </p:set>
                                    <p:animEffect transition="in" filter="wipe(up)">
                                      <p:cBhvr>
                                        <p:cTn id="7" dur="500"/>
                                        <p:tgtEl>
                                          <p:spTgt spid="581655"/>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8171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58173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58172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81741"/>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8172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8172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8174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8172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8172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17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55" grpId="0" animBg="1"/>
      <p:bldP spid="581719" grpId="0"/>
      <p:bldP spid="581720" grpId="0" animBg="1"/>
      <p:bldP spid="581721" grpId="0" animBg="1"/>
      <p:bldP spid="581722" grpId="0" animBg="1"/>
      <p:bldP spid="581723" grpId="0" animBg="1"/>
      <p:bldP spid="581728" grpId="0" animBg="1"/>
      <p:bldP spid="581729" grpId="0" animBg="1"/>
      <p:bldP spid="581739" grpId="0"/>
      <p:bldP spid="581740" grpId="0"/>
      <p:bldP spid="58174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ext Box 3"/>
          <p:cNvSpPr txBox="1">
            <a:spLocks noChangeArrowheads="1"/>
          </p:cNvSpPr>
          <p:nvPr/>
        </p:nvSpPr>
        <p:spPr bwMode="auto">
          <a:xfrm>
            <a:off x="457200" y="152400"/>
            <a:ext cx="8229600" cy="531813"/>
          </a:xfrm>
          <a:prstGeom prst="rect">
            <a:avLst/>
          </a:prstGeom>
          <a:noFill/>
          <a:ln w="38100" algn="ctr">
            <a:noFill/>
            <a:miter lim="800000"/>
            <a:headEnd/>
            <a:tailEnd type="none" w="med" len="lg"/>
          </a:ln>
        </p:spPr>
        <p:txBody>
          <a:bodyPr>
            <a:spAutoFit/>
          </a:bodyPr>
          <a:lstStyle/>
          <a:p>
            <a:pPr marL="1588" indent="-1588"/>
            <a:endParaRPr lang="en-US" sz="3600" b="1">
              <a:solidFill>
                <a:srgbClr val="993366"/>
              </a:solidFill>
            </a:endParaRPr>
          </a:p>
        </p:txBody>
      </p:sp>
      <p:sp>
        <p:nvSpPr>
          <p:cNvPr id="583694" name="Text Box 14"/>
          <p:cNvSpPr txBox="1">
            <a:spLocks noChangeArrowheads="1"/>
          </p:cNvSpPr>
          <p:nvPr/>
        </p:nvSpPr>
        <p:spPr bwMode="auto">
          <a:xfrm>
            <a:off x="5334000" y="1219200"/>
            <a:ext cx="3581400" cy="2678113"/>
          </a:xfrm>
          <a:prstGeom prst="rect">
            <a:avLst/>
          </a:prstGeom>
          <a:solidFill>
            <a:schemeClr val="accent5">
              <a:lumMod val="20000"/>
              <a:lumOff val="80000"/>
            </a:schemeClr>
          </a:solidFill>
          <a:ln w="38100" algn="ctr">
            <a:noFill/>
            <a:miter lim="800000"/>
            <a:headEnd/>
            <a:tailEnd type="none" w="med" len="lg"/>
          </a:ln>
          <a:effectLst/>
        </p:spPr>
        <p:txBody>
          <a:bodyPr>
            <a:spAutoFit/>
          </a:bodyPr>
          <a:lstStyle/>
          <a:p>
            <a:pPr marL="1588" indent="-1588" algn="ctr">
              <a:spcBef>
                <a:spcPct val="20000"/>
              </a:spcBef>
              <a:defRPr/>
            </a:pPr>
            <a:r>
              <a:rPr lang="en-US" sz="2400" dirty="0"/>
              <a:t>There is a </a:t>
            </a:r>
            <a:r>
              <a:rPr lang="en-US" sz="2400" b="1" dirty="0"/>
              <a:t>surplus </a:t>
            </a:r>
            <a:r>
              <a:rPr lang="en-US" sz="2400" dirty="0"/>
              <a:t>of a good when the quantity supplied exceeds the quantity demanded. Surpluses occur when the price is above its equilibrium level. </a:t>
            </a:r>
          </a:p>
        </p:txBody>
      </p:sp>
      <p:cxnSp>
        <p:nvCxnSpPr>
          <p:cNvPr id="79875" name="Straight Connector 86"/>
          <p:cNvCxnSpPr>
            <a:cxnSpLocks noChangeShapeType="1"/>
          </p:cNvCxnSpPr>
          <p:nvPr/>
        </p:nvCxnSpPr>
        <p:spPr bwMode="auto">
          <a:xfrm>
            <a:off x="3286125" y="2979738"/>
            <a:ext cx="0" cy="2043112"/>
          </a:xfrm>
          <a:prstGeom prst="line">
            <a:avLst/>
          </a:prstGeom>
          <a:noFill/>
          <a:ln w="22225">
            <a:solidFill>
              <a:srgbClr val="9C9C9C"/>
            </a:solidFill>
            <a:prstDash val="sysDot"/>
            <a:round/>
            <a:headEnd/>
            <a:tailEnd type="none" w="med" len="lg"/>
          </a:ln>
        </p:spPr>
      </p:cxnSp>
      <p:cxnSp>
        <p:nvCxnSpPr>
          <p:cNvPr id="79876" name="Straight Connector 86"/>
          <p:cNvCxnSpPr>
            <a:cxnSpLocks noChangeShapeType="1"/>
          </p:cNvCxnSpPr>
          <p:nvPr/>
        </p:nvCxnSpPr>
        <p:spPr bwMode="auto">
          <a:xfrm>
            <a:off x="4576763" y="2979738"/>
            <a:ext cx="0" cy="2043112"/>
          </a:xfrm>
          <a:prstGeom prst="line">
            <a:avLst/>
          </a:prstGeom>
          <a:noFill/>
          <a:ln w="22225">
            <a:solidFill>
              <a:srgbClr val="9C9C9C"/>
            </a:solidFill>
            <a:prstDash val="sysDot"/>
            <a:round/>
            <a:headEnd/>
            <a:tailEnd type="none" w="med" len="lg"/>
          </a:ln>
        </p:spPr>
      </p:cxnSp>
      <p:cxnSp>
        <p:nvCxnSpPr>
          <p:cNvPr id="79877" name="Straight Connector 86"/>
          <p:cNvCxnSpPr>
            <a:cxnSpLocks noChangeShapeType="1"/>
          </p:cNvCxnSpPr>
          <p:nvPr/>
        </p:nvCxnSpPr>
        <p:spPr bwMode="auto">
          <a:xfrm>
            <a:off x="2259013" y="2967038"/>
            <a:ext cx="2317750" cy="3175"/>
          </a:xfrm>
          <a:prstGeom prst="line">
            <a:avLst/>
          </a:prstGeom>
          <a:noFill/>
          <a:ln w="22225">
            <a:solidFill>
              <a:srgbClr val="9C9C9C"/>
            </a:solidFill>
            <a:prstDash val="sysDot"/>
            <a:round/>
            <a:headEnd/>
            <a:tailEnd type="none" w="med" len="lg"/>
          </a:ln>
        </p:spPr>
      </p:cxnSp>
      <p:cxnSp>
        <p:nvCxnSpPr>
          <p:cNvPr id="79878" name="Straight Connector 86"/>
          <p:cNvCxnSpPr>
            <a:cxnSpLocks noChangeShapeType="1"/>
          </p:cNvCxnSpPr>
          <p:nvPr/>
        </p:nvCxnSpPr>
        <p:spPr bwMode="auto">
          <a:xfrm>
            <a:off x="2259013" y="3878263"/>
            <a:ext cx="1820862" cy="3175"/>
          </a:xfrm>
          <a:prstGeom prst="line">
            <a:avLst/>
          </a:prstGeom>
          <a:noFill/>
          <a:ln w="22225">
            <a:solidFill>
              <a:srgbClr val="9C9C9C"/>
            </a:solidFill>
            <a:prstDash val="sysDot"/>
            <a:round/>
            <a:headEnd/>
            <a:tailEnd type="none" w="med" len="lg"/>
          </a:ln>
        </p:spPr>
      </p:cxnSp>
      <p:sp>
        <p:nvSpPr>
          <p:cNvPr id="79879" name="Line 29"/>
          <p:cNvSpPr>
            <a:spLocks noChangeShapeType="1"/>
          </p:cNvSpPr>
          <p:nvPr/>
        </p:nvSpPr>
        <p:spPr bwMode="auto">
          <a:xfrm flipV="1">
            <a:off x="2032000" y="957263"/>
            <a:ext cx="0" cy="4003675"/>
          </a:xfrm>
          <a:prstGeom prst="line">
            <a:avLst/>
          </a:prstGeom>
          <a:noFill/>
          <a:ln w="9525">
            <a:solidFill>
              <a:srgbClr val="000000"/>
            </a:solidFill>
            <a:miter lim="800000"/>
            <a:headEnd/>
            <a:tailEnd/>
          </a:ln>
        </p:spPr>
        <p:txBody>
          <a:bodyPr/>
          <a:lstStyle/>
          <a:p>
            <a:endParaRPr lang="en-US"/>
          </a:p>
        </p:txBody>
      </p:sp>
      <p:sp>
        <p:nvSpPr>
          <p:cNvPr id="79880" name="Freeform 30"/>
          <p:cNvSpPr>
            <a:spLocks/>
          </p:cNvSpPr>
          <p:nvPr/>
        </p:nvSpPr>
        <p:spPr bwMode="auto">
          <a:xfrm>
            <a:off x="2032000" y="5048250"/>
            <a:ext cx="268288" cy="165100"/>
          </a:xfrm>
          <a:custGeom>
            <a:avLst/>
            <a:gdLst>
              <a:gd name="T0" fmla="*/ 2147483647 w 155"/>
              <a:gd name="T1" fmla="*/ 2147483647 h 97"/>
              <a:gd name="T2" fmla="*/ 0 w 155"/>
              <a:gd name="T3" fmla="*/ 2147483647 h 97"/>
              <a:gd name="T4" fmla="*/ 0 w 155"/>
              <a:gd name="T5" fmla="*/ 0 h 97"/>
              <a:gd name="T6" fmla="*/ 0 60000 65536"/>
              <a:gd name="T7" fmla="*/ 0 60000 65536"/>
              <a:gd name="T8" fmla="*/ 0 60000 65536"/>
              <a:gd name="T9" fmla="*/ 0 w 155"/>
              <a:gd name="T10" fmla="*/ 0 h 97"/>
              <a:gd name="T11" fmla="*/ 155 w 155"/>
              <a:gd name="T12" fmla="*/ 97 h 97"/>
            </a:gdLst>
            <a:ahLst/>
            <a:cxnLst>
              <a:cxn ang="T6">
                <a:pos x="T0" y="T1"/>
              </a:cxn>
              <a:cxn ang="T7">
                <a:pos x="T2" y="T3"/>
              </a:cxn>
              <a:cxn ang="T8">
                <a:pos x="T4" y="T5"/>
              </a:cxn>
            </a:cxnLst>
            <a:rect l="T9" t="T10" r="T11" b="T12"/>
            <a:pathLst>
              <a:path w="155" h="97">
                <a:moveTo>
                  <a:pt x="155" y="97"/>
                </a:moveTo>
                <a:lnTo>
                  <a:pt x="0" y="97"/>
                </a:lnTo>
                <a:lnTo>
                  <a:pt x="0" y="0"/>
                </a:lnTo>
              </a:path>
            </a:pathLst>
          </a:custGeom>
          <a:noFill/>
          <a:ln w="9525" cap="flat">
            <a:solidFill>
              <a:srgbClr val="000000"/>
            </a:solidFill>
            <a:prstDash val="solid"/>
            <a:miter lim="800000"/>
            <a:headEnd/>
            <a:tailEnd/>
          </a:ln>
        </p:spPr>
        <p:txBody>
          <a:bodyPr/>
          <a:lstStyle/>
          <a:p>
            <a:endParaRPr lang="en-US"/>
          </a:p>
        </p:txBody>
      </p:sp>
      <p:sp>
        <p:nvSpPr>
          <p:cNvPr id="79881" name="Line 31"/>
          <p:cNvSpPr>
            <a:spLocks noChangeShapeType="1"/>
          </p:cNvSpPr>
          <p:nvPr/>
        </p:nvSpPr>
        <p:spPr bwMode="auto">
          <a:xfrm flipH="1">
            <a:off x="2476500" y="5213350"/>
            <a:ext cx="4483100" cy="0"/>
          </a:xfrm>
          <a:prstGeom prst="line">
            <a:avLst/>
          </a:prstGeom>
          <a:noFill/>
          <a:ln w="9525">
            <a:solidFill>
              <a:srgbClr val="000000"/>
            </a:solidFill>
            <a:miter lim="800000"/>
            <a:headEnd/>
            <a:tailEnd/>
          </a:ln>
        </p:spPr>
        <p:txBody>
          <a:bodyPr/>
          <a:lstStyle/>
          <a:p>
            <a:endParaRPr lang="en-US"/>
          </a:p>
        </p:txBody>
      </p:sp>
      <p:sp>
        <p:nvSpPr>
          <p:cNvPr id="79882" name="Rectangle 32"/>
          <p:cNvSpPr>
            <a:spLocks noChangeArrowheads="1"/>
          </p:cNvSpPr>
          <p:nvPr/>
        </p:nvSpPr>
        <p:spPr bwMode="auto">
          <a:xfrm>
            <a:off x="2801938" y="5256213"/>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7</a:t>
            </a:r>
            <a:endParaRPr lang="en-US" sz="1400"/>
          </a:p>
        </p:txBody>
      </p:sp>
      <p:sp>
        <p:nvSpPr>
          <p:cNvPr id="79883" name="Rectangle 33"/>
          <p:cNvSpPr>
            <a:spLocks noChangeArrowheads="1"/>
          </p:cNvSpPr>
          <p:nvPr/>
        </p:nvSpPr>
        <p:spPr bwMode="auto">
          <a:xfrm>
            <a:off x="1839913" y="5256213"/>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p>
        </p:txBody>
      </p:sp>
      <p:sp>
        <p:nvSpPr>
          <p:cNvPr id="79884" name="Rectangle 34"/>
          <p:cNvSpPr>
            <a:spLocks noChangeArrowheads="1"/>
          </p:cNvSpPr>
          <p:nvPr/>
        </p:nvSpPr>
        <p:spPr bwMode="auto">
          <a:xfrm>
            <a:off x="3981450" y="5256213"/>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a:t>
            </a:r>
            <a:endParaRPr lang="en-US" sz="1400"/>
          </a:p>
        </p:txBody>
      </p:sp>
      <p:sp>
        <p:nvSpPr>
          <p:cNvPr id="79885" name="Rectangle 35"/>
          <p:cNvSpPr>
            <a:spLocks noChangeArrowheads="1"/>
          </p:cNvSpPr>
          <p:nvPr/>
        </p:nvSpPr>
        <p:spPr bwMode="auto">
          <a:xfrm>
            <a:off x="6034088" y="5256213"/>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a:t>
            </a:r>
            <a:endParaRPr lang="en-US" sz="1400"/>
          </a:p>
        </p:txBody>
      </p:sp>
      <p:sp>
        <p:nvSpPr>
          <p:cNvPr id="79886" name="Rectangle 36"/>
          <p:cNvSpPr>
            <a:spLocks noChangeArrowheads="1"/>
          </p:cNvSpPr>
          <p:nvPr/>
        </p:nvSpPr>
        <p:spPr bwMode="auto">
          <a:xfrm>
            <a:off x="5213350" y="5256213"/>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13</a:t>
            </a:r>
            <a:endParaRPr lang="en-US" sz="1400"/>
          </a:p>
        </p:txBody>
      </p:sp>
      <p:sp>
        <p:nvSpPr>
          <p:cNvPr id="79887" name="Rectangle 37"/>
          <p:cNvSpPr>
            <a:spLocks noChangeArrowheads="1"/>
          </p:cNvSpPr>
          <p:nvPr/>
        </p:nvSpPr>
        <p:spPr bwMode="auto">
          <a:xfrm>
            <a:off x="6856413" y="5256213"/>
            <a:ext cx="1968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a:t>
            </a:r>
            <a:endParaRPr lang="en-US" sz="1400"/>
          </a:p>
        </p:txBody>
      </p:sp>
      <p:sp>
        <p:nvSpPr>
          <p:cNvPr id="79888" name="Line 48"/>
          <p:cNvSpPr>
            <a:spLocks noChangeShapeType="1"/>
          </p:cNvSpPr>
          <p:nvPr/>
        </p:nvSpPr>
        <p:spPr bwMode="auto">
          <a:xfrm>
            <a:off x="2032000" y="2058988"/>
            <a:ext cx="133350" cy="0"/>
          </a:xfrm>
          <a:prstGeom prst="line">
            <a:avLst/>
          </a:prstGeom>
          <a:noFill/>
          <a:ln w="9525">
            <a:solidFill>
              <a:srgbClr val="000000"/>
            </a:solidFill>
            <a:miter lim="800000"/>
            <a:headEnd/>
            <a:tailEnd/>
          </a:ln>
        </p:spPr>
        <p:txBody>
          <a:bodyPr/>
          <a:lstStyle/>
          <a:p>
            <a:endParaRPr lang="en-US"/>
          </a:p>
        </p:txBody>
      </p:sp>
      <p:sp>
        <p:nvSpPr>
          <p:cNvPr id="79889" name="Line 49"/>
          <p:cNvSpPr>
            <a:spLocks noChangeShapeType="1"/>
          </p:cNvSpPr>
          <p:nvPr/>
        </p:nvSpPr>
        <p:spPr bwMode="auto">
          <a:xfrm>
            <a:off x="2032000" y="2508250"/>
            <a:ext cx="133350" cy="0"/>
          </a:xfrm>
          <a:prstGeom prst="line">
            <a:avLst/>
          </a:prstGeom>
          <a:noFill/>
          <a:ln w="9525">
            <a:solidFill>
              <a:srgbClr val="000000"/>
            </a:solidFill>
            <a:miter lim="800000"/>
            <a:headEnd/>
            <a:tailEnd/>
          </a:ln>
        </p:spPr>
        <p:txBody>
          <a:bodyPr/>
          <a:lstStyle/>
          <a:p>
            <a:endParaRPr lang="en-US"/>
          </a:p>
        </p:txBody>
      </p:sp>
      <p:sp>
        <p:nvSpPr>
          <p:cNvPr id="79890" name="Line 50"/>
          <p:cNvSpPr>
            <a:spLocks noChangeShapeType="1"/>
          </p:cNvSpPr>
          <p:nvPr/>
        </p:nvSpPr>
        <p:spPr bwMode="auto">
          <a:xfrm>
            <a:off x="2032000" y="2955925"/>
            <a:ext cx="133350" cy="0"/>
          </a:xfrm>
          <a:prstGeom prst="line">
            <a:avLst/>
          </a:prstGeom>
          <a:noFill/>
          <a:ln w="9525">
            <a:solidFill>
              <a:srgbClr val="000000"/>
            </a:solidFill>
            <a:miter lim="800000"/>
            <a:headEnd/>
            <a:tailEnd/>
          </a:ln>
        </p:spPr>
        <p:txBody>
          <a:bodyPr/>
          <a:lstStyle/>
          <a:p>
            <a:endParaRPr lang="en-US"/>
          </a:p>
        </p:txBody>
      </p:sp>
      <p:sp>
        <p:nvSpPr>
          <p:cNvPr id="79891" name="Line 51"/>
          <p:cNvSpPr>
            <a:spLocks noChangeShapeType="1"/>
          </p:cNvSpPr>
          <p:nvPr/>
        </p:nvSpPr>
        <p:spPr bwMode="auto">
          <a:xfrm>
            <a:off x="2032000" y="3409950"/>
            <a:ext cx="133350" cy="0"/>
          </a:xfrm>
          <a:prstGeom prst="line">
            <a:avLst/>
          </a:prstGeom>
          <a:noFill/>
          <a:ln w="9525">
            <a:solidFill>
              <a:srgbClr val="000000"/>
            </a:solidFill>
            <a:miter lim="800000"/>
            <a:headEnd/>
            <a:tailEnd/>
          </a:ln>
        </p:spPr>
        <p:txBody>
          <a:bodyPr/>
          <a:lstStyle/>
          <a:p>
            <a:endParaRPr lang="en-US"/>
          </a:p>
        </p:txBody>
      </p:sp>
      <p:sp>
        <p:nvSpPr>
          <p:cNvPr id="79892" name="Line 52"/>
          <p:cNvSpPr>
            <a:spLocks noChangeShapeType="1"/>
          </p:cNvSpPr>
          <p:nvPr/>
        </p:nvSpPr>
        <p:spPr bwMode="auto">
          <a:xfrm>
            <a:off x="2032000" y="4308475"/>
            <a:ext cx="133350" cy="0"/>
          </a:xfrm>
          <a:prstGeom prst="line">
            <a:avLst/>
          </a:prstGeom>
          <a:noFill/>
          <a:ln w="9525">
            <a:solidFill>
              <a:srgbClr val="000000"/>
            </a:solidFill>
            <a:miter lim="800000"/>
            <a:headEnd/>
            <a:tailEnd/>
          </a:ln>
        </p:spPr>
        <p:txBody>
          <a:bodyPr/>
          <a:lstStyle/>
          <a:p>
            <a:endParaRPr lang="en-US"/>
          </a:p>
        </p:txBody>
      </p:sp>
      <p:sp>
        <p:nvSpPr>
          <p:cNvPr id="79893" name="Line 53"/>
          <p:cNvSpPr>
            <a:spLocks noChangeShapeType="1"/>
          </p:cNvSpPr>
          <p:nvPr/>
        </p:nvSpPr>
        <p:spPr bwMode="auto">
          <a:xfrm>
            <a:off x="2032000" y="3859213"/>
            <a:ext cx="133350" cy="0"/>
          </a:xfrm>
          <a:prstGeom prst="line">
            <a:avLst/>
          </a:prstGeom>
          <a:noFill/>
          <a:ln w="9525">
            <a:solidFill>
              <a:srgbClr val="000000"/>
            </a:solidFill>
            <a:miter lim="800000"/>
            <a:headEnd/>
            <a:tailEnd/>
          </a:ln>
        </p:spPr>
        <p:txBody>
          <a:bodyPr/>
          <a:lstStyle/>
          <a:p>
            <a:endParaRPr lang="en-US"/>
          </a:p>
        </p:txBody>
      </p:sp>
      <p:sp>
        <p:nvSpPr>
          <p:cNvPr id="79894" name="Line 54"/>
          <p:cNvSpPr>
            <a:spLocks noChangeShapeType="1"/>
          </p:cNvSpPr>
          <p:nvPr/>
        </p:nvSpPr>
        <p:spPr bwMode="auto">
          <a:xfrm>
            <a:off x="2032000" y="4757738"/>
            <a:ext cx="133350" cy="0"/>
          </a:xfrm>
          <a:prstGeom prst="line">
            <a:avLst/>
          </a:prstGeom>
          <a:noFill/>
          <a:ln w="9525">
            <a:solidFill>
              <a:srgbClr val="000000"/>
            </a:solidFill>
            <a:miter lim="800000"/>
            <a:headEnd/>
            <a:tailEnd/>
          </a:ln>
        </p:spPr>
        <p:txBody>
          <a:bodyPr/>
          <a:lstStyle/>
          <a:p>
            <a:endParaRPr lang="en-US"/>
          </a:p>
        </p:txBody>
      </p:sp>
      <p:sp>
        <p:nvSpPr>
          <p:cNvPr id="79895" name="Line 55"/>
          <p:cNvSpPr>
            <a:spLocks noChangeShapeType="1"/>
          </p:cNvSpPr>
          <p:nvPr/>
        </p:nvSpPr>
        <p:spPr bwMode="auto">
          <a:xfrm flipV="1">
            <a:off x="2854325" y="5081588"/>
            <a:ext cx="0" cy="131762"/>
          </a:xfrm>
          <a:prstGeom prst="line">
            <a:avLst/>
          </a:prstGeom>
          <a:noFill/>
          <a:ln w="9525">
            <a:solidFill>
              <a:srgbClr val="000000"/>
            </a:solidFill>
            <a:miter lim="800000"/>
            <a:headEnd/>
            <a:tailEnd/>
          </a:ln>
        </p:spPr>
        <p:txBody>
          <a:bodyPr/>
          <a:lstStyle/>
          <a:p>
            <a:endParaRPr lang="en-US"/>
          </a:p>
        </p:txBody>
      </p:sp>
      <p:sp>
        <p:nvSpPr>
          <p:cNvPr id="79896" name="Line 56"/>
          <p:cNvSpPr>
            <a:spLocks noChangeShapeType="1"/>
          </p:cNvSpPr>
          <p:nvPr/>
        </p:nvSpPr>
        <p:spPr bwMode="auto">
          <a:xfrm flipV="1">
            <a:off x="3303588" y="5081588"/>
            <a:ext cx="0" cy="131762"/>
          </a:xfrm>
          <a:prstGeom prst="line">
            <a:avLst/>
          </a:prstGeom>
          <a:noFill/>
          <a:ln w="9525">
            <a:solidFill>
              <a:srgbClr val="000000"/>
            </a:solidFill>
            <a:miter lim="800000"/>
            <a:headEnd/>
            <a:tailEnd/>
          </a:ln>
        </p:spPr>
        <p:txBody>
          <a:bodyPr/>
          <a:lstStyle/>
          <a:p>
            <a:endParaRPr lang="en-US"/>
          </a:p>
        </p:txBody>
      </p:sp>
      <p:sp>
        <p:nvSpPr>
          <p:cNvPr id="79897" name="Line 57"/>
          <p:cNvSpPr>
            <a:spLocks noChangeShapeType="1"/>
          </p:cNvSpPr>
          <p:nvPr/>
        </p:nvSpPr>
        <p:spPr bwMode="auto">
          <a:xfrm flipV="1">
            <a:off x="4084638" y="5081588"/>
            <a:ext cx="0" cy="131762"/>
          </a:xfrm>
          <a:prstGeom prst="line">
            <a:avLst/>
          </a:prstGeom>
          <a:noFill/>
          <a:ln w="9525">
            <a:solidFill>
              <a:srgbClr val="000000"/>
            </a:solidFill>
            <a:miter lim="800000"/>
            <a:headEnd/>
            <a:tailEnd/>
          </a:ln>
        </p:spPr>
        <p:txBody>
          <a:bodyPr/>
          <a:lstStyle/>
          <a:p>
            <a:endParaRPr lang="en-US"/>
          </a:p>
        </p:txBody>
      </p:sp>
      <p:sp>
        <p:nvSpPr>
          <p:cNvPr id="79898" name="Line 58"/>
          <p:cNvSpPr>
            <a:spLocks noChangeShapeType="1"/>
          </p:cNvSpPr>
          <p:nvPr/>
        </p:nvSpPr>
        <p:spPr bwMode="auto">
          <a:xfrm flipV="1">
            <a:off x="4575175" y="5081588"/>
            <a:ext cx="0" cy="131762"/>
          </a:xfrm>
          <a:prstGeom prst="line">
            <a:avLst/>
          </a:prstGeom>
          <a:noFill/>
          <a:ln w="9525">
            <a:solidFill>
              <a:srgbClr val="000000"/>
            </a:solidFill>
            <a:miter lim="800000"/>
            <a:headEnd/>
            <a:tailEnd/>
          </a:ln>
        </p:spPr>
        <p:txBody>
          <a:bodyPr/>
          <a:lstStyle/>
          <a:p>
            <a:endParaRPr lang="en-US"/>
          </a:p>
        </p:txBody>
      </p:sp>
      <p:sp>
        <p:nvSpPr>
          <p:cNvPr id="79899" name="Line 59"/>
          <p:cNvSpPr>
            <a:spLocks noChangeShapeType="1"/>
          </p:cNvSpPr>
          <p:nvPr/>
        </p:nvSpPr>
        <p:spPr bwMode="auto">
          <a:xfrm flipV="1">
            <a:off x="5318125" y="5081588"/>
            <a:ext cx="0" cy="131762"/>
          </a:xfrm>
          <a:prstGeom prst="line">
            <a:avLst/>
          </a:prstGeom>
          <a:noFill/>
          <a:ln w="9525">
            <a:solidFill>
              <a:srgbClr val="000000"/>
            </a:solidFill>
            <a:miter lim="800000"/>
            <a:headEnd/>
            <a:tailEnd/>
          </a:ln>
        </p:spPr>
        <p:txBody>
          <a:bodyPr/>
          <a:lstStyle/>
          <a:p>
            <a:endParaRPr lang="en-US"/>
          </a:p>
        </p:txBody>
      </p:sp>
      <p:sp>
        <p:nvSpPr>
          <p:cNvPr id="79900" name="Line 60"/>
          <p:cNvSpPr>
            <a:spLocks noChangeShapeType="1"/>
          </p:cNvSpPr>
          <p:nvPr/>
        </p:nvSpPr>
        <p:spPr bwMode="auto">
          <a:xfrm flipV="1">
            <a:off x="6138863" y="5081588"/>
            <a:ext cx="0" cy="131762"/>
          </a:xfrm>
          <a:prstGeom prst="line">
            <a:avLst/>
          </a:prstGeom>
          <a:noFill/>
          <a:ln w="9525">
            <a:solidFill>
              <a:srgbClr val="000000"/>
            </a:solidFill>
            <a:miter lim="800000"/>
            <a:headEnd/>
            <a:tailEnd/>
          </a:ln>
        </p:spPr>
        <p:txBody>
          <a:bodyPr/>
          <a:lstStyle/>
          <a:p>
            <a:endParaRPr lang="en-US"/>
          </a:p>
        </p:txBody>
      </p:sp>
      <p:sp>
        <p:nvSpPr>
          <p:cNvPr id="79901" name="Line 61"/>
          <p:cNvSpPr>
            <a:spLocks noChangeShapeType="1"/>
          </p:cNvSpPr>
          <p:nvPr/>
        </p:nvSpPr>
        <p:spPr bwMode="auto">
          <a:xfrm flipV="1">
            <a:off x="6959600" y="5081588"/>
            <a:ext cx="0" cy="131762"/>
          </a:xfrm>
          <a:prstGeom prst="line">
            <a:avLst/>
          </a:prstGeom>
          <a:noFill/>
          <a:ln w="9525">
            <a:solidFill>
              <a:srgbClr val="000000"/>
            </a:solidFill>
            <a:miter lim="800000"/>
            <a:headEnd/>
            <a:tailEnd/>
          </a:ln>
        </p:spPr>
        <p:txBody>
          <a:bodyPr/>
          <a:lstStyle/>
          <a:p>
            <a:endParaRPr lang="en-US"/>
          </a:p>
        </p:txBody>
      </p:sp>
      <p:sp>
        <p:nvSpPr>
          <p:cNvPr id="79902" name="Rectangle 62"/>
          <p:cNvSpPr>
            <a:spLocks noChangeArrowheads="1"/>
          </p:cNvSpPr>
          <p:nvPr/>
        </p:nvSpPr>
        <p:spPr bwMode="auto">
          <a:xfrm>
            <a:off x="1490663" y="1947863"/>
            <a:ext cx="4413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$2.00</a:t>
            </a:r>
            <a:endParaRPr lang="en-US" sz="1400"/>
          </a:p>
        </p:txBody>
      </p:sp>
      <p:sp>
        <p:nvSpPr>
          <p:cNvPr id="79903" name="Rectangle 63"/>
          <p:cNvSpPr>
            <a:spLocks noChangeArrowheads="1"/>
          </p:cNvSpPr>
          <p:nvPr/>
        </p:nvSpPr>
        <p:spPr bwMode="auto">
          <a:xfrm>
            <a:off x="1592263" y="2397125"/>
            <a:ext cx="344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1.75</a:t>
            </a:r>
            <a:endParaRPr lang="en-US" sz="1400"/>
          </a:p>
        </p:txBody>
      </p:sp>
      <p:sp>
        <p:nvSpPr>
          <p:cNvPr id="79904" name="Rectangle 64"/>
          <p:cNvSpPr>
            <a:spLocks noChangeArrowheads="1"/>
          </p:cNvSpPr>
          <p:nvPr/>
        </p:nvSpPr>
        <p:spPr bwMode="auto">
          <a:xfrm>
            <a:off x="1592263" y="2847975"/>
            <a:ext cx="344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1.50</a:t>
            </a:r>
            <a:endParaRPr lang="en-US" sz="1400"/>
          </a:p>
        </p:txBody>
      </p:sp>
      <p:sp>
        <p:nvSpPr>
          <p:cNvPr id="79905" name="Rectangle 65"/>
          <p:cNvSpPr>
            <a:spLocks noChangeArrowheads="1"/>
          </p:cNvSpPr>
          <p:nvPr/>
        </p:nvSpPr>
        <p:spPr bwMode="auto">
          <a:xfrm>
            <a:off x="1592263" y="3297238"/>
            <a:ext cx="344487"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1.25</a:t>
            </a:r>
            <a:endParaRPr lang="en-US" sz="1400"/>
          </a:p>
        </p:txBody>
      </p:sp>
      <p:sp>
        <p:nvSpPr>
          <p:cNvPr id="79906" name="Rectangle 66"/>
          <p:cNvSpPr>
            <a:spLocks noChangeArrowheads="1"/>
          </p:cNvSpPr>
          <p:nvPr/>
        </p:nvSpPr>
        <p:spPr bwMode="auto">
          <a:xfrm>
            <a:off x="1592263" y="3749675"/>
            <a:ext cx="344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a:t>
            </a:r>
            <a:endParaRPr lang="en-US" sz="1400"/>
          </a:p>
        </p:txBody>
      </p:sp>
      <p:sp>
        <p:nvSpPr>
          <p:cNvPr id="79907" name="Rectangle 67"/>
          <p:cNvSpPr>
            <a:spLocks noChangeArrowheads="1"/>
          </p:cNvSpPr>
          <p:nvPr/>
        </p:nvSpPr>
        <p:spPr bwMode="auto">
          <a:xfrm>
            <a:off x="1592263" y="4202113"/>
            <a:ext cx="344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0.75</a:t>
            </a:r>
            <a:endParaRPr lang="en-US" sz="1400"/>
          </a:p>
        </p:txBody>
      </p:sp>
      <p:sp>
        <p:nvSpPr>
          <p:cNvPr id="79908" name="Rectangle 68"/>
          <p:cNvSpPr>
            <a:spLocks noChangeArrowheads="1"/>
          </p:cNvSpPr>
          <p:nvPr/>
        </p:nvSpPr>
        <p:spPr bwMode="auto">
          <a:xfrm>
            <a:off x="1592263" y="4649788"/>
            <a:ext cx="344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0.50</a:t>
            </a:r>
            <a:endParaRPr lang="en-US" sz="1400"/>
          </a:p>
        </p:txBody>
      </p:sp>
      <p:sp>
        <p:nvSpPr>
          <p:cNvPr id="79909" name="Freeform 79"/>
          <p:cNvSpPr>
            <a:spLocks/>
          </p:cNvSpPr>
          <p:nvPr/>
        </p:nvSpPr>
        <p:spPr bwMode="auto">
          <a:xfrm>
            <a:off x="3263900" y="2058988"/>
            <a:ext cx="1476375" cy="2705100"/>
          </a:xfrm>
          <a:custGeom>
            <a:avLst/>
            <a:gdLst>
              <a:gd name="T0" fmla="*/ 2147483647 w 266"/>
              <a:gd name="T1" fmla="*/ 0 h 494"/>
              <a:gd name="T2" fmla="*/ 0 w 266"/>
              <a:gd name="T3" fmla="*/ 2147483647 h 494"/>
              <a:gd name="T4" fmla="*/ 0 60000 65536"/>
              <a:gd name="T5" fmla="*/ 0 60000 65536"/>
              <a:gd name="T6" fmla="*/ 0 w 266"/>
              <a:gd name="T7" fmla="*/ 0 h 494"/>
              <a:gd name="T8" fmla="*/ 266 w 266"/>
              <a:gd name="T9" fmla="*/ 494 h 494"/>
            </a:gdLst>
            <a:ahLst/>
            <a:cxnLst>
              <a:cxn ang="T4">
                <a:pos x="T0" y="T1"/>
              </a:cxn>
              <a:cxn ang="T5">
                <a:pos x="T2" y="T3"/>
              </a:cxn>
            </a:cxnLst>
            <a:rect l="T6" t="T7" r="T8" b="T9"/>
            <a:pathLst>
              <a:path w="266" h="494">
                <a:moveTo>
                  <a:pt x="266" y="0"/>
                </a:moveTo>
                <a:cubicBezTo>
                  <a:pt x="266" y="149"/>
                  <a:pt x="190" y="320"/>
                  <a:pt x="0" y="494"/>
                </a:cubicBezTo>
              </a:path>
            </a:pathLst>
          </a:custGeom>
          <a:noFill/>
          <a:ln w="39688" cap="flat">
            <a:solidFill>
              <a:srgbClr val="EE313C"/>
            </a:solidFill>
            <a:prstDash val="solid"/>
            <a:miter lim="800000"/>
            <a:headEnd/>
            <a:tailEnd/>
          </a:ln>
        </p:spPr>
        <p:txBody>
          <a:bodyPr/>
          <a:lstStyle/>
          <a:p>
            <a:endParaRPr lang="en-US"/>
          </a:p>
        </p:txBody>
      </p:sp>
      <p:sp>
        <p:nvSpPr>
          <p:cNvPr id="79910" name="Rectangle 80"/>
          <p:cNvSpPr>
            <a:spLocks noChangeArrowheads="1"/>
          </p:cNvSpPr>
          <p:nvPr/>
        </p:nvSpPr>
        <p:spPr bwMode="auto">
          <a:xfrm>
            <a:off x="4452938" y="1782763"/>
            <a:ext cx="547687"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Supply</a:t>
            </a:r>
            <a:endParaRPr lang="en-US" sz="1400"/>
          </a:p>
        </p:txBody>
      </p:sp>
      <p:sp>
        <p:nvSpPr>
          <p:cNvPr id="79911" name="Rectangle 81"/>
          <p:cNvSpPr>
            <a:spLocks noChangeArrowheads="1"/>
          </p:cNvSpPr>
          <p:nvPr/>
        </p:nvSpPr>
        <p:spPr bwMode="auto">
          <a:xfrm>
            <a:off x="5870575" y="4668838"/>
            <a:ext cx="676275"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Demand</a:t>
            </a:r>
            <a:endParaRPr lang="en-US" sz="1400"/>
          </a:p>
        </p:txBody>
      </p:sp>
      <p:sp>
        <p:nvSpPr>
          <p:cNvPr id="79912" name="Line 83"/>
          <p:cNvSpPr>
            <a:spLocks noChangeShapeType="1"/>
          </p:cNvSpPr>
          <p:nvPr/>
        </p:nvSpPr>
        <p:spPr bwMode="auto">
          <a:xfrm flipV="1">
            <a:off x="1971675" y="4929188"/>
            <a:ext cx="115888" cy="63500"/>
          </a:xfrm>
          <a:prstGeom prst="line">
            <a:avLst/>
          </a:prstGeom>
          <a:noFill/>
          <a:ln w="9525">
            <a:solidFill>
              <a:srgbClr val="000000"/>
            </a:solidFill>
            <a:miter lim="800000"/>
            <a:headEnd/>
            <a:tailEnd/>
          </a:ln>
        </p:spPr>
        <p:txBody>
          <a:bodyPr/>
          <a:lstStyle/>
          <a:p>
            <a:endParaRPr lang="en-US"/>
          </a:p>
        </p:txBody>
      </p:sp>
      <p:sp>
        <p:nvSpPr>
          <p:cNvPr id="79913" name="Line 84"/>
          <p:cNvSpPr>
            <a:spLocks noChangeShapeType="1"/>
          </p:cNvSpPr>
          <p:nvPr/>
        </p:nvSpPr>
        <p:spPr bwMode="auto">
          <a:xfrm flipV="1">
            <a:off x="1971675" y="5014913"/>
            <a:ext cx="115888" cy="66675"/>
          </a:xfrm>
          <a:prstGeom prst="line">
            <a:avLst/>
          </a:prstGeom>
          <a:noFill/>
          <a:ln w="9525">
            <a:solidFill>
              <a:srgbClr val="000000"/>
            </a:solidFill>
            <a:miter lim="800000"/>
            <a:headEnd/>
            <a:tailEnd/>
          </a:ln>
        </p:spPr>
        <p:txBody>
          <a:bodyPr/>
          <a:lstStyle/>
          <a:p>
            <a:endParaRPr lang="en-US"/>
          </a:p>
        </p:txBody>
      </p:sp>
      <p:sp>
        <p:nvSpPr>
          <p:cNvPr id="79914" name="Line 85"/>
          <p:cNvSpPr>
            <a:spLocks noChangeShapeType="1"/>
          </p:cNvSpPr>
          <p:nvPr/>
        </p:nvSpPr>
        <p:spPr bwMode="auto">
          <a:xfrm flipH="1">
            <a:off x="2265363" y="5151438"/>
            <a:ext cx="68262" cy="115887"/>
          </a:xfrm>
          <a:prstGeom prst="line">
            <a:avLst/>
          </a:prstGeom>
          <a:noFill/>
          <a:ln w="9525">
            <a:solidFill>
              <a:srgbClr val="000000"/>
            </a:solidFill>
            <a:miter lim="800000"/>
            <a:headEnd/>
            <a:tailEnd/>
          </a:ln>
        </p:spPr>
        <p:txBody>
          <a:bodyPr/>
          <a:lstStyle/>
          <a:p>
            <a:endParaRPr lang="en-US"/>
          </a:p>
        </p:txBody>
      </p:sp>
      <p:sp>
        <p:nvSpPr>
          <p:cNvPr id="79915" name="Line 86"/>
          <p:cNvSpPr>
            <a:spLocks noChangeShapeType="1"/>
          </p:cNvSpPr>
          <p:nvPr/>
        </p:nvSpPr>
        <p:spPr bwMode="auto">
          <a:xfrm flipH="1">
            <a:off x="2355850" y="5151438"/>
            <a:ext cx="65088" cy="115887"/>
          </a:xfrm>
          <a:prstGeom prst="line">
            <a:avLst/>
          </a:prstGeom>
          <a:noFill/>
          <a:ln w="9525">
            <a:solidFill>
              <a:srgbClr val="000000"/>
            </a:solidFill>
            <a:miter lim="800000"/>
            <a:headEnd/>
            <a:tailEnd/>
          </a:ln>
        </p:spPr>
        <p:txBody>
          <a:bodyPr/>
          <a:lstStyle/>
          <a:p>
            <a:endParaRPr lang="en-US"/>
          </a:p>
        </p:txBody>
      </p:sp>
      <p:sp>
        <p:nvSpPr>
          <p:cNvPr id="79916" name="Freeform 87"/>
          <p:cNvSpPr>
            <a:spLocks/>
          </p:cNvSpPr>
          <p:nvPr/>
        </p:nvSpPr>
        <p:spPr bwMode="auto">
          <a:xfrm>
            <a:off x="2894013" y="2058988"/>
            <a:ext cx="2913062" cy="2705100"/>
          </a:xfrm>
          <a:custGeom>
            <a:avLst/>
            <a:gdLst>
              <a:gd name="T0" fmla="*/ 0 w 525"/>
              <a:gd name="T1" fmla="*/ 0 h 494"/>
              <a:gd name="T2" fmla="*/ 2147483647 w 525"/>
              <a:gd name="T3" fmla="*/ 2147483647 h 494"/>
              <a:gd name="T4" fmla="*/ 0 60000 65536"/>
              <a:gd name="T5" fmla="*/ 0 60000 65536"/>
              <a:gd name="T6" fmla="*/ 0 w 525"/>
              <a:gd name="T7" fmla="*/ 0 h 494"/>
              <a:gd name="T8" fmla="*/ 525 w 525"/>
              <a:gd name="T9" fmla="*/ 494 h 494"/>
            </a:gdLst>
            <a:ahLst/>
            <a:cxnLst>
              <a:cxn ang="T4">
                <a:pos x="T0" y="T1"/>
              </a:cxn>
              <a:cxn ang="T5">
                <a:pos x="T2" y="T3"/>
              </a:cxn>
            </a:cxnLst>
            <a:rect l="T6" t="T7" r="T8" b="T9"/>
            <a:pathLst>
              <a:path w="525" h="494">
                <a:moveTo>
                  <a:pt x="0" y="0"/>
                </a:moveTo>
                <a:cubicBezTo>
                  <a:pt x="30" y="133"/>
                  <a:pt x="196" y="409"/>
                  <a:pt x="525" y="494"/>
                </a:cubicBezTo>
              </a:path>
            </a:pathLst>
          </a:custGeom>
          <a:noFill/>
          <a:ln w="39688" cap="flat">
            <a:solidFill>
              <a:srgbClr val="3C5DAA"/>
            </a:solidFill>
            <a:prstDash val="solid"/>
            <a:miter lim="800000"/>
            <a:headEnd/>
            <a:tailEnd/>
          </a:ln>
        </p:spPr>
        <p:txBody>
          <a:bodyPr/>
          <a:lstStyle/>
          <a:p>
            <a:endParaRPr lang="en-US"/>
          </a:p>
        </p:txBody>
      </p:sp>
      <p:sp>
        <p:nvSpPr>
          <p:cNvPr id="79917" name="Oval 88"/>
          <p:cNvSpPr>
            <a:spLocks noChangeArrowheads="1"/>
          </p:cNvSpPr>
          <p:nvPr/>
        </p:nvSpPr>
        <p:spPr bwMode="auto">
          <a:xfrm>
            <a:off x="4030663" y="3805238"/>
            <a:ext cx="111125" cy="109537"/>
          </a:xfrm>
          <a:prstGeom prst="ellipse">
            <a:avLst/>
          </a:prstGeom>
          <a:solidFill>
            <a:srgbClr val="000000"/>
          </a:solidFill>
          <a:ln w="9525">
            <a:noFill/>
            <a:round/>
            <a:headEnd/>
            <a:tailEnd/>
          </a:ln>
        </p:spPr>
        <p:txBody>
          <a:bodyPr/>
          <a:lstStyle/>
          <a:p>
            <a:endParaRPr lang="en-US"/>
          </a:p>
        </p:txBody>
      </p:sp>
      <p:sp>
        <p:nvSpPr>
          <p:cNvPr id="79918" name="Rectangle 89"/>
          <p:cNvSpPr>
            <a:spLocks noChangeArrowheads="1"/>
          </p:cNvSpPr>
          <p:nvPr/>
        </p:nvSpPr>
        <p:spPr bwMode="auto">
          <a:xfrm>
            <a:off x="3181350" y="5256213"/>
            <a:ext cx="246063"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8.1</a:t>
            </a:r>
            <a:endParaRPr lang="en-US" sz="1400"/>
          </a:p>
        </p:txBody>
      </p:sp>
      <p:sp>
        <p:nvSpPr>
          <p:cNvPr id="79919" name="Rectangle 90"/>
          <p:cNvSpPr>
            <a:spLocks noChangeArrowheads="1"/>
          </p:cNvSpPr>
          <p:nvPr/>
        </p:nvSpPr>
        <p:spPr bwMode="auto">
          <a:xfrm>
            <a:off x="4430713" y="5256213"/>
            <a:ext cx="344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11.2</a:t>
            </a:r>
            <a:endParaRPr lang="en-US" sz="1400"/>
          </a:p>
        </p:txBody>
      </p:sp>
      <p:sp>
        <p:nvSpPr>
          <p:cNvPr id="79920" name="Rectangle 91"/>
          <p:cNvSpPr>
            <a:spLocks noChangeArrowheads="1"/>
          </p:cNvSpPr>
          <p:nvPr/>
        </p:nvSpPr>
        <p:spPr bwMode="auto">
          <a:xfrm>
            <a:off x="4221163" y="36909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p>
        </p:txBody>
      </p:sp>
      <p:sp>
        <p:nvSpPr>
          <p:cNvPr id="79921" name="Line 92"/>
          <p:cNvSpPr>
            <a:spLocks noChangeShapeType="1"/>
          </p:cNvSpPr>
          <p:nvPr/>
        </p:nvSpPr>
        <p:spPr bwMode="auto">
          <a:xfrm>
            <a:off x="4575175" y="5470525"/>
            <a:ext cx="0" cy="328613"/>
          </a:xfrm>
          <a:prstGeom prst="line">
            <a:avLst/>
          </a:prstGeom>
          <a:noFill/>
          <a:ln w="9525">
            <a:solidFill>
              <a:srgbClr val="000000"/>
            </a:solidFill>
            <a:miter lim="800000"/>
            <a:headEnd/>
            <a:tailEnd/>
          </a:ln>
        </p:spPr>
        <p:txBody>
          <a:bodyPr/>
          <a:lstStyle/>
          <a:p>
            <a:endParaRPr lang="en-US"/>
          </a:p>
        </p:txBody>
      </p:sp>
      <p:sp>
        <p:nvSpPr>
          <p:cNvPr id="79922" name="Line 93"/>
          <p:cNvSpPr>
            <a:spLocks noChangeShapeType="1"/>
          </p:cNvSpPr>
          <p:nvPr/>
        </p:nvSpPr>
        <p:spPr bwMode="auto">
          <a:xfrm>
            <a:off x="3303588" y="5470525"/>
            <a:ext cx="0" cy="328613"/>
          </a:xfrm>
          <a:prstGeom prst="line">
            <a:avLst/>
          </a:prstGeom>
          <a:noFill/>
          <a:ln w="9525">
            <a:solidFill>
              <a:srgbClr val="000000"/>
            </a:solidFill>
            <a:miter lim="800000"/>
            <a:headEnd/>
            <a:tailEnd/>
          </a:ln>
        </p:spPr>
        <p:txBody>
          <a:bodyPr/>
          <a:lstStyle/>
          <a:p>
            <a:endParaRPr lang="en-US"/>
          </a:p>
        </p:txBody>
      </p:sp>
      <p:sp>
        <p:nvSpPr>
          <p:cNvPr id="583774" name="Freeform 94"/>
          <p:cNvSpPr>
            <a:spLocks/>
          </p:cNvSpPr>
          <p:nvPr/>
        </p:nvSpPr>
        <p:spPr bwMode="auto">
          <a:xfrm>
            <a:off x="3616325" y="2397125"/>
            <a:ext cx="727075" cy="346075"/>
          </a:xfrm>
          <a:custGeom>
            <a:avLst/>
            <a:gdLst>
              <a:gd name="T0" fmla="*/ 2147483647 w 131"/>
              <a:gd name="T1" fmla="*/ 2147483647 h 58"/>
              <a:gd name="T2" fmla="*/ 2147483647 w 131"/>
              <a:gd name="T3" fmla="*/ 2147483647 h 58"/>
              <a:gd name="T4" fmla="*/ 2147483647 w 131"/>
              <a:gd name="T5" fmla="*/ 2147483647 h 58"/>
              <a:gd name="T6" fmla="*/ 0 w 131"/>
              <a:gd name="T7" fmla="*/ 2147483647 h 58"/>
              <a:gd name="T8" fmla="*/ 0 w 131"/>
              <a:gd name="T9" fmla="*/ 2147483647 h 58"/>
              <a:gd name="T10" fmla="*/ 2147483647 w 131"/>
              <a:gd name="T11" fmla="*/ 0 h 58"/>
              <a:gd name="T12" fmla="*/ 2147483647 w 131"/>
              <a:gd name="T13" fmla="*/ 0 h 58"/>
              <a:gd name="T14" fmla="*/ 2147483647 w 131"/>
              <a:gd name="T15" fmla="*/ 2147483647 h 58"/>
              <a:gd name="T16" fmla="*/ 2147483647 w 131"/>
              <a:gd name="T17" fmla="*/ 2147483647 h 5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1"/>
              <a:gd name="T28" fmla="*/ 0 h 58"/>
              <a:gd name="T29" fmla="*/ 131 w 131"/>
              <a:gd name="T30" fmla="*/ 58 h 5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1" h="58">
                <a:moveTo>
                  <a:pt x="131" y="43"/>
                </a:moveTo>
                <a:cubicBezTo>
                  <a:pt x="131" y="51"/>
                  <a:pt x="125" y="58"/>
                  <a:pt x="117" y="58"/>
                </a:cubicBezTo>
                <a:cubicBezTo>
                  <a:pt x="14" y="58"/>
                  <a:pt x="14" y="58"/>
                  <a:pt x="14" y="58"/>
                </a:cubicBezTo>
                <a:cubicBezTo>
                  <a:pt x="7" y="58"/>
                  <a:pt x="0" y="51"/>
                  <a:pt x="0" y="43"/>
                </a:cubicBezTo>
                <a:cubicBezTo>
                  <a:pt x="0" y="15"/>
                  <a:pt x="0" y="15"/>
                  <a:pt x="0" y="15"/>
                </a:cubicBezTo>
                <a:cubicBezTo>
                  <a:pt x="0" y="7"/>
                  <a:pt x="7" y="0"/>
                  <a:pt x="14" y="0"/>
                </a:cubicBezTo>
                <a:cubicBezTo>
                  <a:pt x="117" y="0"/>
                  <a:pt x="117" y="0"/>
                  <a:pt x="117" y="0"/>
                </a:cubicBezTo>
                <a:cubicBezTo>
                  <a:pt x="125" y="0"/>
                  <a:pt x="131" y="7"/>
                  <a:pt x="131" y="15"/>
                </a:cubicBezTo>
                <a:lnTo>
                  <a:pt x="131" y="43"/>
                </a:lnTo>
                <a:close/>
              </a:path>
            </a:pathLst>
          </a:custGeom>
          <a:solidFill>
            <a:srgbClr val="D6E2E0"/>
          </a:solidFill>
          <a:ln w="9525">
            <a:noFill/>
            <a:round/>
            <a:headEnd/>
            <a:tailEnd/>
          </a:ln>
        </p:spPr>
        <p:txBody>
          <a:bodyPr anchor="ctr"/>
          <a:lstStyle/>
          <a:p>
            <a:endParaRPr lang="en-US"/>
          </a:p>
        </p:txBody>
      </p:sp>
      <p:sp>
        <p:nvSpPr>
          <p:cNvPr id="79924" name="Freeform 98"/>
          <p:cNvSpPr>
            <a:spLocks/>
          </p:cNvSpPr>
          <p:nvPr/>
        </p:nvSpPr>
        <p:spPr bwMode="auto">
          <a:xfrm>
            <a:off x="4067175" y="5783263"/>
            <a:ext cx="1028700" cy="525462"/>
          </a:xfrm>
          <a:custGeom>
            <a:avLst/>
            <a:gdLst>
              <a:gd name="T0" fmla="*/ 2147483647 w 144"/>
              <a:gd name="T1" fmla="*/ 2147483647 h 96"/>
              <a:gd name="T2" fmla="*/ 2147483647 w 144"/>
              <a:gd name="T3" fmla="*/ 2147483647 h 96"/>
              <a:gd name="T4" fmla="*/ 2147483647 w 144"/>
              <a:gd name="T5" fmla="*/ 2147483647 h 96"/>
              <a:gd name="T6" fmla="*/ 0 w 144"/>
              <a:gd name="T7" fmla="*/ 2147483647 h 96"/>
              <a:gd name="T8" fmla="*/ 0 w 144"/>
              <a:gd name="T9" fmla="*/ 2147483647 h 96"/>
              <a:gd name="T10" fmla="*/ 2147483647 w 144"/>
              <a:gd name="T11" fmla="*/ 0 h 96"/>
              <a:gd name="T12" fmla="*/ 2147483647 w 144"/>
              <a:gd name="T13" fmla="*/ 0 h 96"/>
              <a:gd name="T14" fmla="*/ 2147483647 w 144"/>
              <a:gd name="T15" fmla="*/ 2147483647 h 96"/>
              <a:gd name="T16" fmla="*/ 2147483647 w 144"/>
              <a:gd name="T17" fmla="*/ 2147483647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
              <a:gd name="T28" fmla="*/ 0 h 96"/>
              <a:gd name="T29" fmla="*/ 144 w 144"/>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 h="96">
                <a:moveTo>
                  <a:pt x="144" y="81"/>
                </a:moveTo>
                <a:cubicBezTo>
                  <a:pt x="144" y="89"/>
                  <a:pt x="138" y="96"/>
                  <a:pt x="130" y="96"/>
                </a:cubicBezTo>
                <a:cubicBezTo>
                  <a:pt x="14" y="96"/>
                  <a:pt x="14" y="96"/>
                  <a:pt x="14" y="96"/>
                </a:cubicBezTo>
                <a:cubicBezTo>
                  <a:pt x="6" y="96"/>
                  <a:pt x="0" y="89"/>
                  <a:pt x="0" y="81"/>
                </a:cubicBezTo>
                <a:cubicBezTo>
                  <a:pt x="0" y="14"/>
                  <a:pt x="0" y="14"/>
                  <a:pt x="0" y="14"/>
                </a:cubicBezTo>
                <a:cubicBezTo>
                  <a:pt x="0" y="7"/>
                  <a:pt x="6" y="0"/>
                  <a:pt x="14" y="0"/>
                </a:cubicBezTo>
                <a:cubicBezTo>
                  <a:pt x="130" y="0"/>
                  <a:pt x="130" y="0"/>
                  <a:pt x="130" y="0"/>
                </a:cubicBezTo>
                <a:cubicBezTo>
                  <a:pt x="138" y="0"/>
                  <a:pt x="144" y="7"/>
                  <a:pt x="144" y="14"/>
                </a:cubicBezTo>
                <a:lnTo>
                  <a:pt x="144" y="81"/>
                </a:lnTo>
                <a:close/>
              </a:path>
            </a:pathLst>
          </a:custGeom>
          <a:solidFill>
            <a:srgbClr val="D6E2E0"/>
          </a:solidFill>
          <a:ln w="9525">
            <a:noFill/>
            <a:round/>
            <a:headEnd/>
            <a:tailEnd/>
          </a:ln>
        </p:spPr>
        <p:txBody>
          <a:bodyPr anchor="ctr"/>
          <a:lstStyle/>
          <a:p>
            <a:endParaRPr lang="en-US"/>
          </a:p>
        </p:txBody>
      </p:sp>
      <p:sp>
        <p:nvSpPr>
          <p:cNvPr id="79925" name="Freeform 105"/>
          <p:cNvSpPr>
            <a:spLocks/>
          </p:cNvSpPr>
          <p:nvPr/>
        </p:nvSpPr>
        <p:spPr bwMode="auto">
          <a:xfrm>
            <a:off x="2771775" y="5799138"/>
            <a:ext cx="1085850" cy="525462"/>
          </a:xfrm>
          <a:custGeom>
            <a:avLst/>
            <a:gdLst>
              <a:gd name="T0" fmla="*/ 2147483647 w 166"/>
              <a:gd name="T1" fmla="*/ 2147483647 h 96"/>
              <a:gd name="T2" fmla="*/ 2147483647 w 166"/>
              <a:gd name="T3" fmla="*/ 2147483647 h 96"/>
              <a:gd name="T4" fmla="*/ 2147483647 w 166"/>
              <a:gd name="T5" fmla="*/ 2147483647 h 96"/>
              <a:gd name="T6" fmla="*/ 0 w 166"/>
              <a:gd name="T7" fmla="*/ 2147483647 h 96"/>
              <a:gd name="T8" fmla="*/ 0 w 166"/>
              <a:gd name="T9" fmla="*/ 2147483647 h 96"/>
              <a:gd name="T10" fmla="*/ 2147483647 w 166"/>
              <a:gd name="T11" fmla="*/ 0 h 96"/>
              <a:gd name="T12" fmla="*/ 2147483647 w 166"/>
              <a:gd name="T13" fmla="*/ 0 h 96"/>
              <a:gd name="T14" fmla="*/ 2147483647 w 166"/>
              <a:gd name="T15" fmla="*/ 2147483647 h 96"/>
              <a:gd name="T16" fmla="*/ 2147483647 w 166"/>
              <a:gd name="T17" fmla="*/ 2147483647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6"/>
              <a:gd name="T28" fmla="*/ 0 h 96"/>
              <a:gd name="T29" fmla="*/ 166 w 166"/>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6" h="96">
                <a:moveTo>
                  <a:pt x="166" y="81"/>
                </a:moveTo>
                <a:cubicBezTo>
                  <a:pt x="166" y="89"/>
                  <a:pt x="159" y="96"/>
                  <a:pt x="151" y="96"/>
                </a:cubicBezTo>
                <a:cubicBezTo>
                  <a:pt x="14" y="96"/>
                  <a:pt x="14" y="96"/>
                  <a:pt x="14" y="96"/>
                </a:cubicBezTo>
                <a:cubicBezTo>
                  <a:pt x="6" y="96"/>
                  <a:pt x="0" y="89"/>
                  <a:pt x="0" y="81"/>
                </a:cubicBezTo>
                <a:cubicBezTo>
                  <a:pt x="0" y="14"/>
                  <a:pt x="0" y="14"/>
                  <a:pt x="0" y="14"/>
                </a:cubicBezTo>
                <a:cubicBezTo>
                  <a:pt x="0" y="7"/>
                  <a:pt x="6" y="0"/>
                  <a:pt x="14" y="0"/>
                </a:cubicBezTo>
                <a:cubicBezTo>
                  <a:pt x="151" y="0"/>
                  <a:pt x="151" y="0"/>
                  <a:pt x="151" y="0"/>
                </a:cubicBezTo>
                <a:cubicBezTo>
                  <a:pt x="159" y="0"/>
                  <a:pt x="166" y="7"/>
                  <a:pt x="166" y="14"/>
                </a:cubicBezTo>
                <a:lnTo>
                  <a:pt x="166" y="81"/>
                </a:lnTo>
                <a:close/>
              </a:path>
            </a:pathLst>
          </a:custGeom>
          <a:solidFill>
            <a:srgbClr val="D6E2E0"/>
          </a:solidFill>
          <a:ln w="9525">
            <a:noFill/>
            <a:round/>
            <a:headEnd/>
            <a:tailEnd/>
          </a:ln>
        </p:spPr>
        <p:txBody>
          <a:bodyPr/>
          <a:lstStyle/>
          <a:p>
            <a:endParaRPr lang="en-US"/>
          </a:p>
        </p:txBody>
      </p:sp>
      <p:sp>
        <p:nvSpPr>
          <p:cNvPr id="583792" name="Freeform 112"/>
          <p:cNvSpPr>
            <a:spLocks/>
          </p:cNvSpPr>
          <p:nvPr/>
        </p:nvSpPr>
        <p:spPr bwMode="auto">
          <a:xfrm>
            <a:off x="3303588" y="2765425"/>
            <a:ext cx="1271587" cy="134938"/>
          </a:xfrm>
          <a:custGeom>
            <a:avLst/>
            <a:gdLst>
              <a:gd name="T0" fmla="*/ 0 w 229"/>
              <a:gd name="T1" fmla="*/ 2147483647 h 25"/>
              <a:gd name="T2" fmla="*/ 2147483647 w 229"/>
              <a:gd name="T3" fmla="*/ 2147483647 h 25"/>
              <a:gd name="T4" fmla="*/ 2147483647 w 229"/>
              <a:gd name="T5" fmla="*/ 2147483647 h 25"/>
              <a:gd name="T6" fmla="*/ 2147483647 w 229"/>
              <a:gd name="T7" fmla="*/ 0 h 25"/>
              <a:gd name="T8" fmla="*/ 2147483647 w 229"/>
              <a:gd name="T9" fmla="*/ 2147483647 h 25"/>
              <a:gd name="T10" fmla="*/ 2147483647 w 229"/>
              <a:gd name="T11" fmla="*/ 2147483647 h 25"/>
              <a:gd name="T12" fmla="*/ 2147483647 w 229"/>
              <a:gd name="T13" fmla="*/ 2147483647 h 25"/>
              <a:gd name="T14" fmla="*/ 0 60000 65536"/>
              <a:gd name="T15" fmla="*/ 0 60000 65536"/>
              <a:gd name="T16" fmla="*/ 0 60000 65536"/>
              <a:gd name="T17" fmla="*/ 0 60000 65536"/>
              <a:gd name="T18" fmla="*/ 0 60000 65536"/>
              <a:gd name="T19" fmla="*/ 0 60000 65536"/>
              <a:gd name="T20" fmla="*/ 0 60000 65536"/>
              <a:gd name="T21" fmla="*/ 0 w 229"/>
              <a:gd name="T22" fmla="*/ 0 h 25"/>
              <a:gd name="T23" fmla="*/ 229 w 229"/>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9" h="25">
                <a:moveTo>
                  <a:pt x="0" y="25"/>
                </a:moveTo>
                <a:cubicBezTo>
                  <a:pt x="0" y="15"/>
                  <a:pt x="3" y="10"/>
                  <a:pt x="16" y="10"/>
                </a:cubicBezTo>
                <a:cubicBezTo>
                  <a:pt x="19" y="10"/>
                  <a:pt x="106" y="10"/>
                  <a:pt x="108" y="10"/>
                </a:cubicBezTo>
                <a:cubicBezTo>
                  <a:pt x="112" y="10"/>
                  <a:pt x="119" y="8"/>
                  <a:pt x="119" y="0"/>
                </a:cubicBezTo>
                <a:cubicBezTo>
                  <a:pt x="119" y="8"/>
                  <a:pt x="126" y="10"/>
                  <a:pt x="129" y="10"/>
                </a:cubicBezTo>
                <a:cubicBezTo>
                  <a:pt x="132" y="10"/>
                  <a:pt x="211" y="10"/>
                  <a:pt x="213" y="10"/>
                </a:cubicBezTo>
                <a:cubicBezTo>
                  <a:pt x="227" y="10"/>
                  <a:pt x="229" y="15"/>
                  <a:pt x="229" y="25"/>
                </a:cubicBezTo>
              </a:path>
            </a:pathLst>
          </a:custGeom>
          <a:noFill/>
          <a:ln w="30163" cap="flat">
            <a:solidFill>
              <a:srgbClr val="6D6F71"/>
            </a:solidFill>
            <a:prstDash val="solid"/>
            <a:round/>
            <a:headEnd/>
            <a:tailEnd/>
          </a:ln>
        </p:spPr>
        <p:txBody>
          <a:bodyPr/>
          <a:lstStyle/>
          <a:p>
            <a:endParaRPr lang="en-US"/>
          </a:p>
        </p:txBody>
      </p:sp>
      <p:sp>
        <p:nvSpPr>
          <p:cNvPr id="79927" name="Oval 113"/>
          <p:cNvSpPr>
            <a:spLocks noChangeArrowheads="1"/>
          </p:cNvSpPr>
          <p:nvPr/>
        </p:nvSpPr>
        <p:spPr bwMode="auto">
          <a:xfrm>
            <a:off x="3248025" y="2900363"/>
            <a:ext cx="111125" cy="111125"/>
          </a:xfrm>
          <a:prstGeom prst="ellipse">
            <a:avLst/>
          </a:prstGeom>
          <a:solidFill>
            <a:srgbClr val="000000"/>
          </a:solidFill>
          <a:ln w="9525">
            <a:noFill/>
            <a:round/>
            <a:headEnd/>
            <a:tailEnd/>
          </a:ln>
        </p:spPr>
        <p:txBody>
          <a:bodyPr/>
          <a:lstStyle/>
          <a:p>
            <a:endParaRPr lang="en-US"/>
          </a:p>
        </p:txBody>
      </p:sp>
      <p:sp>
        <p:nvSpPr>
          <p:cNvPr id="79928" name="Oval 114"/>
          <p:cNvSpPr>
            <a:spLocks noChangeArrowheads="1"/>
          </p:cNvSpPr>
          <p:nvPr/>
        </p:nvSpPr>
        <p:spPr bwMode="auto">
          <a:xfrm>
            <a:off x="4518025" y="2900363"/>
            <a:ext cx="112713" cy="111125"/>
          </a:xfrm>
          <a:prstGeom prst="ellipse">
            <a:avLst/>
          </a:prstGeom>
          <a:solidFill>
            <a:srgbClr val="000000"/>
          </a:solidFill>
          <a:ln w="9525">
            <a:noFill/>
            <a:round/>
            <a:headEnd/>
            <a:tailEnd/>
          </a:ln>
        </p:spPr>
        <p:txBody>
          <a:bodyPr/>
          <a:lstStyle/>
          <a:p>
            <a:endParaRPr lang="en-US"/>
          </a:p>
        </p:txBody>
      </p:sp>
      <p:sp>
        <p:nvSpPr>
          <p:cNvPr id="583795" name="Rectangle 115"/>
          <p:cNvSpPr>
            <a:spLocks noChangeArrowheads="1"/>
          </p:cNvSpPr>
          <p:nvPr/>
        </p:nvSpPr>
        <p:spPr bwMode="auto">
          <a:xfrm>
            <a:off x="3657600" y="2465388"/>
            <a:ext cx="60801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Surplus</a:t>
            </a:r>
            <a:endParaRPr lang="en-US" sz="1400" i="1"/>
          </a:p>
        </p:txBody>
      </p:sp>
      <p:sp>
        <p:nvSpPr>
          <p:cNvPr id="79930" name="Rectangle 116"/>
          <p:cNvSpPr>
            <a:spLocks noChangeArrowheads="1"/>
          </p:cNvSpPr>
          <p:nvPr/>
        </p:nvSpPr>
        <p:spPr bwMode="auto">
          <a:xfrm>
            <a:off x="2800350" y="5805488"/>
            <a:ext cx="993775" cy="430212"/>
          </a:xfrm>
          <a:prstGeom prst="rect">
            <a:avLst/>
          </a:prstGeom>
          <a:noFill/>
          <a:ln w="9525">
            <a:noFill/>
            <a:miter lim="800000"/>
            <a:headEnd/>
            <a:tailEnd/>
          </a:ln>
        </p:spPr>
        <p:txBody>
          <a:bodyPr lIns="0" tIns="0" rIns="0" bIns="0">
            <a:spAutoFit/>
          </a:bodyPr>
          <a:lstStyle/>
          <a:p>
            <a:pPr marL="1588" indent="-1588" algn="ctr"/>
            <a:r>
              <a:rPr lang="en-US" sz="1400" i="1">
                <a:solidFill>
                  <a:srgbClr val="000000"/>
                </a:solidFill>
                <a:latin typeface="Myriad Roman"/>
              </a:rPr>
              <a:t>Quantity demanded</a:t>
            </a:r>
            <a:endParaRPr lang="en-US" sz="1400" i="1"/>
          </a:p>
        </p:txBody>
      </p:sp>
      <p:sp>
        <p:nvSpPr>
          <p:cNvPr id="79931" name="Rectangle 117"/>
          <p:cNvSpPr>
            <a:spLocks noChangeArrowheads="1"/>
          </p:cNvSpPr>
          <p:nvPr/>
        </p:nvSpPr>
        <p:spPr bwMode="auto">
          <a:xfrm>
            <a:off x="4067175" y="5805488"/>
            <a:ext cx="1001713" cy="430212"/>
          </a:xfrm>
          <a:prstGeom prst="rect">
            <a:avLst/>
          </a:prstGeom>
          <a:noFill/>
          <a:ln w="9525">
            <a:noFill/>
            <a:miter lim="800000"/>
            <a:headEnd/>
            <a:tailEnd/>
          </a:ln>
        </p:spPr>
        <p:txBody>
          <a:bodyPr lIns="0" tIns="0" rIns="0" bIns="0">
            <a:spAutoFit/>
          </a:bodyPr>
          <a:lstStyle/>
          <a:p>
            <a:pPr marL="1588" indent="-1588" algn="ctr"/>
            <a:r>
              <a:rPr lang="en-US" sz="1400" i="1">
                <a:solidFill>
                  <a:srgbClr val="000000"/>
                </a:solidFill>
                <a:latin typeface="Myriad Roman"/>
              </a:rPr>
              <a:t>Quantity supplied</a:t>
            </a:r>
            <a:endParaRPr lang="en-US" sz="1400" i="1"/>
          </a:p>
        </p:txBody>
      </p:sp>
      <p:sp>
        <p:nvSpPr>
          <p:cNvPr id="79932" name="TextBox 29"/>
          <p:cNvSpPr txBox="1">
            <a:spLocks noChangeArrowheads="1"/>
          </p:cNvSpPr>
          <p:nvPr/>
        </p:nvSpPr>
        <p:spPr bwMode="auto">
          <a:xfrm>
            <a:off x="684213" y="836613"/>
            <a:ext cx="1511300" cy="523875"/>
          </a:xfrm>
          <a:prstGeom prst="rect">
            <a:avLst/>
          </a:prstGeom>
          <a:noFill/>
          <a:ln w="9525">
            <a:noFill/>
            <a:miter lim="800000"/>
            <a:headEnd/>
            <a:tailEnd/>
          </a:ln>
        </p:spPr>
        <p:txBody>
          <a:bodyPr>
            <a:spAutoFit/>
          </a:bodyPr>
          <a:lstStyle/>
          <a:p>
            <a:pPr algn="ctr"/>
            <a:r>
              <a:rPr lang="en-US" sz="1400" b="1"/>
              <a:t>Price of cotton (per pound)</a:t>
            </a:r>
          </a:p>
        </p:txBody>
      </p:sp>
      <p:sp>
        <p:nvSpPr>
          <p:cNvPr id="79933" name="TextBox 30"/>
          <p:cNvSpPr txBox="1">
            <a:spLocks noChangeArrowheads="1"/>
          </p:cNvSpPr>
          <p:nvPr/>
        </p:nvSpPr>
        <p:spPr bwMode="auto">
          <a:xfrm>
            <a:off x="5486400" y="5486400"/>
            <a:ext cx="1965325" cy="523875"/>
          </a:xfrm>
          <a:prstGeom prst="rect">
            <a:avLst/>
          </a:prstGeom>
          <a:noFill/>
          <a:ln w="9525">
            <a:noFill/>
            <a:miter lim="800000"/>
            <a:headEnd/>
            <a:tailEnd/>
          </a:ln>
        </p:spPr>
        <p:txBody>
          <a:bodyPr>
            <a:spAutoFit/>
          </a:bodyPr>
          <a:lstStyle/>
          <a:p>
            <a:pPr algn="ctr"/>
            <a:r>
              <a:rPr lang="en-US" sz="1400" b="1"/>
              <a:t>Quantity of cotton (billions of pounds)</a:t>
            </a:r>
          </a:p>
        </p:txBody>
      </p:sp>
      <p:cxnSp>
        <p:nvCxnSpPr>
          <p:cNvPr id="79934" name="Straight Connector 86"/>
          <p:cNvCxnSpPr>
            <a:cxnSpLocks noChangeShapeType="1"/>
          </p:cNvCxnSpPr>
          <p:nvPr/>
        </p:nvCxnSpPr>
        <p:spPr bwMode="auto">
          <a:xfrm>
            <a:off x="4090988" y="3959225"/>
            <a:ext cx="0" cy="1063625"/>
          </a:xfrm>
          <a:prstGeom prst="line">
            <a:avLst/>
          </a:prstGeom>
          <a:noFill/>
          <a:ln w="22225">
            <a:solidFill>
              <a:srgbClr val="9C9C9C"/>
            </a:solidFill>
            <a:prstDash val="sysDot"/>
            <a:round/>
            <a:headEnd/>
            <a:tailEnd type="none" w="med" len="lg"/>
          </a:ln>
        </p:spPr>
      </p:cxnSp>
      <p:sp>
        <p:nvSpPr>
          <p:cNvPr id="583807" name="Rectangle 127"/>
          <p:cNvSpPr>
            <a:spLocks noGrp="1" noRot="1" noChangeArrowheads="1"/>
          </p:cNvSpPr>
          <p:nvPr>
            <p:ph type="title"/>
          </p:nvPr>
        </p:nvSpPr>
        <p:spPr/>
        <p:txBody>
          <a:bodyPr/>
          <a:lstStyle/>
          <a:p>
            <a:pPr>
              <a:defRPr/>
            </a:pPr>
            <a:r>
              <a:rPr lang="en-US" dirty="0"/>
              <a:t>Surplus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3694"/>
                                        </p:tgtEl>
                                        <p:attrNameLst>
                                          <p:attrName>style.visibility</p:attrName>
                                        </p:attrNameLst>
                                      </p:cBhvr>
                                      <p:to>
                                        <p:strVal val="visible"/>
                                      </p:to>
                                    </p:set>
                                    <p:animEffect transition="in" filter="wipe(up)">
                                      <p:cBhvr>
                                        <p:cTn id="7" dur="500"/>
                                        <p:tgtEl>
                                          <p:spTgt spid="5836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83792"/>
                                        </p:tgtEl>
                                        <p:attrNameLst>
                                          <p:attrName>style.visibility</p:attrName>
                                        </p:attrNameLst>
                                      </p:cBhvr>
                                      <p:to>
                                        <p:strVal val="visible"/>
                                      </p:to>
                                    </p:set>
                                    <p:animEffect transition="in" filter="wipe(down)">
                                      <p:cBhvr>
                                        <p:cTn id="12" dur="500"/>
                                        <p:tgtEl>
                                          <p:spTgt spid="583792"/>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583774"/>
                                        </p:tgtEl>
                                        <p:attrNameLst>
                                          <p:attrName>style.visibility</p:attrName>
                                        </p:attrNameLst>
                                      </p:cBhvr>
                                      <p:to>
                                        <p:strVal val="visible"/>
                                      </p:to>
                                    </p:set>
                                    <p:animEffect transition="in" filter="wipe(down)">
                                      <p:cBhvr>
                                        <p:cTn id="16" dur="500"/>
                                        <p:tgtEl>
                                          <p:spTgt spid="583774"/>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583795"/>
                                        </p:tgtEl>
                                        <p:attrNameLst>
                                          <p:attrName>style.visibility</p:attrName>
                                        </p:attrNameLst>
                                      </p:cBhvr>
                                      <p:to>
                                        <p:strVal val="visible"/>
                                      </p:to>
                                    </p:set>
                                    <p:animEffect transition="in" filter="wipe(down)">
                                      <p:cBhvr>
                                        <p:cTn id="19" dur="500"/>
                                        <p:tgtEl>
                                          <p:spTgt spid="58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94" grpId="0" animBg="1"/>
      <p:bldP spid="583774" grpId="0" animBg="1"/>
      <p:bldP spid="583792" grpId="0" animBg="1"/>
      <p:bldP spid="58379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ext Box 3"/>
          <p:cNvSpPr txBox="1">
            <a:spLocks noChangeArrowheads="1"/>
          </p:cNvSpPr>
          <p:nvPr/>
        </p:nvSpPr>
        <p:spPr bwMode="auto">
          <a:xfrm>
            <a:off x="457200" y="152400"/>
            <a:ext cx="8229600" cy="531813"/>
          </a:xfrm>
          <a:prstGeom prst="rect">
            <a:avLst/>
          </a:prstGeom>
          <a:noFill/>
          <a:ln w="38100" algn="ctr">
            <a:noFill/>
            <a:miter lim="800000"/>
            <a:headEnd/>
            <a:tailEnd type="none" w="med" len="lg"/>
          </a:ln>
        </p:spPr>
        <p:txBody>
          <a:bodyPr>
            <a:spAutoFit/>
          </a:bodyPr>
          <a:lstStyle/>
          <a:p>
            <a:pPr marL="1588" indent="-1588"/>
            <a:endParaRPr lang="en-US" sz="3600" b="1">
              <a:solidFill>
                <a:srgbClr val="993366"/>
              </a:solidFill>
            </a:endParaRPr>
          </a:p>
        </p:txBody>
      </p:sp>
      <p:cxnSp>
        <p:nvCxnSpPr>
          <p:cNvPr id="81922" name="Straight Connector 86"/>
          <p:cNvCxnSpPr>
            <a:cxnSpLocks noChangeShapeType="1"/>
          </p:cNvCxnSpPr>
          <p:nvPr/>
        </p:nvCxnSpPr>
        <p:spPr bwMode="auto">
          <a:xfrm>
            <a:off x="2151063" y="4359275"/>
            <a:ext cx="2566987" cy="11113"/>
          </a:xfrm>
          <a:prstGeom prst="line">
            <a:avLst/>
          </a:prstGeom>
          <a:noFill/>
          <a:ln w="22225">
            <a:solidFill>
              <a:srgbClr val="9C9C9C"/>
            </a:solidFill>
            <a:prstDash val="sysDot"/>
            <a:round/>
            <a:headEnd/>
            <a:tailEnd type="none" w="med" len="lg"/>
          </a:ln>
        </p:spPr>
      </p:cxnSp>
      <p:cxnSp>
        <p:nvCxnSpPr>
          <p:cNvPr id="81923" name="Straight Connector 86"/>
          <p:cNvCxnSpPr>
            <a:cxnSpLocks noChangeShapeType="1"/>
          </p:cNvCxnSpPr>
          <p:nvPr/>
        </p:nvCxnSpPr>
        <p:spPr bwMode="auto">
          <a:xfrm>
            <a:off x="2151063" y="3911600"/>
            <a:ext cx="1882775" cy="7938"/>
          </a:xfrm>
          <a:prstGeom prst="line">
            <a:avLst/>
          </a:prstGeom>
          <a:noFill/>
          <a:ln w="22225">
            <a:solidFill>
              <a:srgbClr val="9C9C9C"/>
            </a:solidFill>
            <a:prstDash val="sysDot"/>
            <a:round/>
            <a:headEnd/>
            <a:tailEnd type="none" w="med" len="lg"/>
          </a:ln>
        </p:spPr>
      </p:cxnSp>
      <p:cxnSp>
        <p:nvCxnSpPr>
          <p:cNvPr id="81924" name="Straight Connector 86"/>
          <p:cNvCxnSpPr>
            <a:cxnSpLocks noChangeShapeType="1"/>
          </p:cNvCxnSpPr>
          <p:nvPr/>
        </p:nvCxnSpPr>
        <p:spPr bwMode="auto">
          <a:xfrm>
            <a:off x="4100513" y="3919538"/>
            <a:ext cx="0" cy="1109662"/>
          </a:xfrm>
          <a:prstGeom prst="line">
            <a:avLst/>
          </a:prstGeom>
          <a:noFill/>
          <a:ln w="22225">
            <a:solidFill>
              <a:srgbClr val="9C9C9C"/>
            </a:solidFill>
            <a:prstDash val="sysDot"/>
            <a:round/>
            <a:headEnd/>
            <a:tailEnd type="none" w="med" len="lg"/>
          </a:ln>
        </p:spPr>
      </p:cxnSp>
      <p:sp>
        <p:nvSpPr>
          <p:cNvPr id="81925" name="Line 24"/>
          <p:cNvSpPr>
            <a:spLocks noChangeShapeType="1"/>
          </p:cNvSpPr>
          <p:nvPr/>
        </p:nvSpPr>
        <p:spPr bwMode="auto">
          <a:xfrm flipV="1">
            <a:off x="1947863" y="1066800"/>
            <a:ext cx="0" cy="3922713"/>
          </a:xfrm>
          <a:prstGeom prst="line">
            <a:avLst/>
          </a:prstGeom>
          <a:noFill/>
          <a:ln w="9525">
            <a:solidFill>
              <a:srgbClr val="000000"/>
            </a:solidFill>
            <a:miter lim="800000"/>
            <a:headEnd/>
            <a:tailEnd/>
          </a:ln>
        </p:spPr>
        <p:txBody>
          <a:bodyPr/>
          <a:lstStyle/>
          <a:p>
            <a:endParaRPr lang="en-US"/>
          </a:p>
        </p:txBody>
      </p:sp>
      <p:sp>
        <p:nvSpPr>
          <p:cNvPr id="81926" name="Freeform 25"/>
          <p:cNvSpPr>
            <a:spLocks/>
          </p:cNvSpPr>
          <p:nvPr/>
        </p:nvSpPr>
        <p:spPr bwMode="auto">
          <a:xfrm>
            <a:off x="1947863" y="5075238"/>
            <a:ext cx="168275" cy="160337"/>
          </a:xfrm>
          <a:custGeom>
            <a:avLst/>
            <a:gdLst>
              <a:gd name="T0" fmla="*/ 2147483647 w 95"/>
              <a:gd name="T1" fmla="*/ 2147483647 h 97"/>
              <a:gd name="T2" fmla="*/ 0 w 95"/>
              <a:gd name="T3" fmla="*/ 2147483647 h 97"/>
              <a:gd name="T4" fmla="*/ 0 w 95"/>
              <a:gd name="T5" fmla="*/ 0 h 97"/>
              <a:gd name="T6" fmla="*/ 0 60000 65536"/>
              <a:gd name="T7" fmla="*/ 0 60000 65536"/>
              <a:gd name="T8" fmla="*/ 0 60000 65536"/>
              <a:gd name="T9" fmla="*/ 0 w 95"/>
              <a:gd name="T10" fmla="*/ 0 h 97"/>
              <a:gd name="T11" fmla="*/ 95 w 95"/>
              <a:gd name="T12" fmla="*/ 97 h 97"/>
            </a:gdLst>
            <a:ahLst/>
            <a:cxnLst>
              <a:cxn ang="T6">
                <a:pos x="T0" y="T1"/>
              </a:cxn>
              <a:cxn ang="T7">
                <a:pos x="T2" y="T3"/>
              </a:cxn>
              <a:cxn ang="T8">
                <a:pos x="T4" y="T5"/>
              </a:cxn>
            </a:cxnLst>
            <a:rect l="T9" t="T10" r="T11" b="T12"/>
            <a:pathLst>
              <a:path w="95" h="97">
                <a:moveTo>
                  <a:pt x="95" y="97"/>
                </a:moveTo>
                <a:lnTo>
                  <a:pt x="0" y="97"/>
                </a:lnTo>
                <a:lnTo>
                  <a:pt x="0" y="0"/>
                </a:lnTo>
              </a:path>
            </a:pathLst>
          </a:custGeom>
          <a:noFill/>
          <a:ln w="9525" cap="flat">
            <a:solidFill>
              <a:srgbClr val="000000"/>
            </a:solidFill>
            <a:prstDash val="solid"/>
            <a:miter lim="800000"/>
            <a:headEnd/>
            <a:tailEnd/>
          </a:ln>
        </p:spPr>
        <p:txBody>
          <a:bodyPr/>
          <a:lstStyle/>
          <a:p>
            <a:endParaRPr lang="en-US"/>
          </a:p>
        </p:txBody>
      </p:sp>
      <p:sp>
        <p:nvSpPr>
          <p:cNvPr id="81927" name="Line 26"/>
          <p:cNvSpPr>
            <a:spLocks noChangeShapeType="1"/>
          </p:cNvSpPr>
          <p:nvPr/>
        </p:nvSpPr>
        <p:spPr bwMode="auto">
          <a:xfrm flipH="1">
            <a:off x="2271713" y="5235575"/>
            <a:ext cx="4824412" cy="0"/>
          </a:xfrm>
          <a:prstGeom prst="line">
            <a:avLst/>
          </a:prstGeom>
          <a:noFill/>
          <a:ln w="9525">
            <a:solidFill>
              <a:srgbClr val="000000"/>
            </a:solidFill>
            <a:miter lim="800000"/>
            <a:headEnd/>
            <a:tailEnd/>
          </a:ln>
        </p:spPr>
        <p:txBody>
          <a:bodyPr/>
          <a:lstStyle/>
          <a:p>
            <a:endParaRPr lang="en-US"/>
          </a:p>
        </p:txBody>
      </p:sp>
      <p:sp>
        <p:nvSpPr>
          <p:cNvPr id="81928" name="Rectangle 27"/>
          <p:cNvSpPr>
            <a:spLocks noChangeArrowheads="1"/>
          </p:cNvSpPr>
          <p:nvPr/>
        </p:nvSpPr>
        <p:spPr bwMode="auto">
          <a:xfrm>
            <a:off x="2749550" y="527685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7</a:t>
            </a:r>
            <a:endParaRPr lang="en-US" sz="1400"/>
          </a:p>
        </p:txBody>
      </p:sp>
      <p:sp>
        <p:nvSpPr>
          <p:cNvPr id="81929" name="Rectangle 28"/>
          <p:cNvSpPr>
            <a:spLocks noChangeArrowheads="1"/>
          </p:cNvSpPr>
          <p:nvPr/>
        </p:nvSpPr>
        <p:spPr bwMode="auto">
          <a:xfrm>
            <a:off x="1746250" y="5276850"/>
            <a:ext cx="10001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a:t>
            </a:r>
            <a:endParaRPr lang="en-US" sz="1400"/>
          </a:p>
        </p:txBody>
      </p:sp>
      <p:sp>
        <p:nvSpPr>
          <p:cNvPr id="81930" name="Rectangle 29"/>
          <p:cNvSpPr>
            <a:spLocks noChangeArrowheads="1"/>
          </p:cNvSpPr>
          <p:nvPr/>
        </p:nvSpPr>
        <p:spPr bwMode="auto">
          <a:xfrm>
            <a:off x="3984625" y="52768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a:t>
            </a:r>
            <a:endParaRPr lang="en-US" sz="1400"/>
          </a:p>
        </p:txBody>
      </p:sp>
      <p:sp>
        <p:nvSpPr>
          <p:cNvPr id="81931" name="Rectangle 30"/>
          <p:cNvSpPr>
            <a:spLocks noChangeArrowheads="1"/>
          </p:cNvSpPr>
          <p:nvPr/>
        </p:nvSpPr>
        <p:spPr bwMode="auto">
          <a:xfrm>
            <a:off x="6129338" y="52768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a:t>
            </a:r>
            <a:endParaRPr lang="en-US" sz="1400"/>
          </a:p>
        </p:txBody>
      </p:sp>
      <p:sp>
        <p:nvSpPr>
          <p:cNvPr id="81932" name="Rectangle 31"/>
          <p:cNvSpPr>
            <a:spLocks noChangeArrowheads="1"/>
          </p:cNvSpPr>
          <p:nvPr/>
        </p:nvSpPr>
        <p:spPr bwMode="auto">
          <a:xfrm>
            <a:off x="5272088" y="52768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13</a:t>
            </a:r>
            <a:endParaRPr lang="en-US" sz="1400"/>
          </a:p>
        </p:txBody>
      </p:sp>
      <p:sp>
        <p:nvSpPr>
          <p:cNvPr id="81933" name="Rectangle 32"/>
          <p:cNvSpPr>
            <a:spLocks noChangeArrowheads="1"/>
          </p:cNvSpPr>
          <p:nvPr/>
        </p:nvSpPr>
        <p:spPr bwMode="auto">
          <a:xfrm>
            <a:off x="6986588" y="5276850"/>
            <a:ext cx="1968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a:t>
            </a:r>
            <a:endParaRPr lang="en-US" sz="1400"/>
          </a:p>
        </p:txBody>
      </p:sp>
      <p:sp>
        <p:nvSpPr>
          <p:cNvPr id="81934" name="Line 43"/>
          <p:cNvSpPr>
            <a:spLocks noChangeShapeType="1"/>
          </p:cNvSpPr>
          <p:nvPr/>
        </p:nvSpPr>
        <p:spPr bwMode="auto">
          <a:xfrm>
            <a:off x="1947863" y="2144713"/>
            <a:ext cx="138112" cy="0"/>
          </a:xfrm>
          <a:prstGeom prst="line">
            <a:avLst/>
          </a:prstGeom>
          <a:noFill/>
          <a:ln w="9525">
            <a:solidFill>
              <a:srgbClr val="000000"/>
            </a:solidFill>
            <a:miter lim="800000"/>
            <a:headEnd/>
            <a:tailEnd/>
          </a:ln>
        </p:spPr>
        <p:txBody>
          <a:bodyPr/>
          <a:lstStyle/>
          <a:p>
            <a:endParaRPr lang="en-US"/>
          </a:p>
        </p:txBody>
      </p:sp>
      <p:sp>
        <p:nvSpPr>
          <p:cNvPr id="81935" name="Line 44"/>
          <p:cNvSpPr>
            <a:spLocks noChangeShapeType="1"/>
          </p:cNvSpPr>
          <p:nvPr/>
        </p:nvSpPr>
        <p:spPr bwMode="auto">
          <a:xfrm>
            <a:off x="1947863" y="2586038"/>
            <a:ext cx="138112" cy="0"/>
          </a:xfrm>
          <a:prstGeom prst="line">
            <a:avLst/>
          </a:prstGeom>
          <a:noFill/>
          <a:ln w="9525">
            <a:solidFill>
              <a:srgbClr val="000000"/>
            </a:solidFill>
            <a:miter lim="800000"/>
            <a:headEnd/>
            <a:tailEnd/>
          </a:ln>
        </p:spPr>
        <p:txBody>
          <a:bodyPr/>
          <a:lstStyle/>
          <a:p>
            <a:endParaRPr lang="en-US"/>
          </a:p>
        </p:txBody>
      </p:sp>
      <p:sp>
        <p:nvSpPr>
          <p:cNvPr id="81936" name="Line 45"/>
          <p:cNvSpPr>
            <a:spLocks noChangeShapeType="1"/>
          </p:cNvSpPr>
          <p:nvPr/>
        </p:nvSpPr>
        <p:spPr bwMode="auto">
          <a:xfrm>
            <a:off x="1947863" y="3024188"/>
            <a:ext cx="138112" cy="0"/>
          </a:xfrm>
          <a:prstGeom prst="line">
            <a:avLst/>
          </a:prstGeom>
          <a:noFill/>
          <a:ln w="9525">
            <a:solidFill>
              <a:srgbClr val="000000"/>
            </a:solidFill>
            <a:miter lim="800000"/>
            <a:headEnd/>
            <a:tailEnd/>
          </a:ln>
        </p:spPr>
        <p:txBody>
          <a:bodyPr/>
          <a:lstStyle/>
          <a:p>
            <a:endParaRPr lang="en-US"/>
          </a:p>
        </p:txBody>
      </p:sp>
      <p:sp>
        <p:nvSpPr>
          <p:cNvPr id="81937" name="Line 46"/>
          <p:cNvSpPr>
            <a:spLocks noChangeShapeType="1"/>
          </p:cNvSpPr>
          <p:nvPr/>
        </p:nvSpPr>
        <p:spPr bwMode="auto">
          <a:xfrm>
            <a:off x="1947863" y="3470275"/>
            <a:ext cx="138112" cy="0"/>
          </a:xfrm>
          <a:prstGeom prst="line">
            <a:avLst/>
          </a:prstGeom>
          <a:noFill/>
          <a:ln w="9525">
            <a:solidFill>
              <a:srgbClr val="000000"/>
            </a:solidFill>
            <a:miter lim="800000"/>
            <a:headEnd/>
            <a:tailEnd/>
          </a:ln>
        </p:spPr>
        <p:txBody>
          <a:bodyPr/>
          <a:lstStyle/>
          <a:p>
            <a:endParaRPr lang="en-US"/>
          </a:p>
        </p:txBody>
      </p:sp>
      <p:sp>
        <p:nvSpPr>
          <p:cNvPr id="81938" name="Line 47"/>
          <p:cNvSpPr>
            <a:spLocks noChangeShapeType="1"/>
          </p:cNvSpPr>
          <p:nvPr/>
        </p:nvSpPr>
        <p:spPr bwMode="auto">
          <a:xfrm>
            <a:off x="1947863" y="4349750"/>
            <a:ext cx="138112" cy="0"/>
          </a:xfrm>
          <a:prstGeom prst="line">
            <a:avLst/>
          </a:prstGeom>
          <a:noFill/>
          <a:ln w="9525">
            <a:solidFill>
              <a:srgbClr val="000000"/>
            </a:solidFill>
            <a:miter lim="800000"/>
            <a:headEnd/>
            <a:tailEnd/>
          </a:ln>
        </p:spPr>
        <p:txBody>
          <a:bodyPr/>
          <a:lstStyle/>
          <a:p>
            <a:endParaRPr lang="en-US"/>
          </a:p>
        </p:txBody>
      </p:sp>
      <p:sp>
        <p:nvSpPr>
          <p:cNvPr id="81939" name="Line 48"/>
          <p:cNvSpPr>
            <a:spLocks noChangeShapeType="1"/>
          </p:cNvSpPr>
          <p:nvPr/>
        </p:nvSpPr>
        <p:spPr bwMode="auto">
          <a:xfrm>
            <a:off x="1947863" y="3911600"/>
            <a:ext cx="138112" cy="0"/>
          </a:xfrm>
          <a:prstGeom prst="line">
            <a:avLst/>
          </a:prstGeom>
          <a:noFill/>
          <a:ln w="9525">
            <a:solidFill>
              <a:srgbClr val="000000"/>
            </a:solidFill>
            <a:miter lim="800000"/>
            <a:headEnd/>
            <a:tailEnd/>
          </a:ln>
        </p:spPr>
        <p:txBody>
          <a:bodyPr/>
          <a:lstStyle/>
          <a:p>
            <a:endParaRPr lang="en-US"/>
          </a:p>
        </p:txBody>
      </p:sp>
      <p:sp>
        <p:nvSpPr>
          <p:cNvPr id="81940" name="Line 49"/>
          <p:cNvSpPr>
            <a:spLocks noChangeShapeType="1"/>
          </p:cNvSpPr>
          <p:nvPr/>
        </p:nvSpPr>
        <p:spPr bwMode="auto">
          <a:xfrm>
            <a:off x="1947863" y="4789488"/>
            <a:ext cx="138112" cy="0"/>
          </a:xfrm>
          <a:prstGeom prst="line">
            <a:avLst/>
          </a:prstGeom>
          <a:noFill/>
          <a:ln w="9525">
            <a:solidFill>
              <a:srgbClr val="000000"/>
            </a:solidFill>
            <a:miter lim="800000"/>
            <a:headEnd/>
            <a:tailEnd/>
          </a:ln>
        </p:spPr>
        <p:txBody>
          <a:bodyPr/>
          <a:lstStyle/>
          <a:p>
            <a:endParaRPr lang="en-US"/>
          </a:p>
        </p:txBody>
      </p:sp>
      <p:sp>
        <p:nvSpPr>
          <p:cNvPr id="81941" name="Line 50"/>
          <p:cNvSpPr>
            <a:spLocks noChangeShapeType="1"/>
          </p:cNvSpPr>
          <p:nvPr/>
        </p:nvSpPr>
        <p:spPr bwMode="auto">
          <a:xfrm flipV="1">
            <a:off x="2805113" y="5106988"/>
            <a:ext cx="0" cy="128587"/>
          </a:xfrm>
          <a:prstGeom prst="line">
            <a:avLst/>
          </a:prstGeom>
          <a:noFill/>
          <a:ln w="9525">
            <a:solidFill>
              <a:srgbClr val="000000"/>
            </a:solidFill>
            <a:miter lim="800000"/>
            <a:headEnd/>
            <a:tailEnd/>
          </a:ln>
        </p:spPr>
        <p:txBody>
          <a:bodyPr/>
          <a:lstStyle/>
          <a:p>
            <a:endParaRPr lang="en-US"/>
          </a:p>
        </p:txBody>
      </p:sp>
      <p:sp>
        <p:nvSpPr>
          <p:cNvPr id="81942" name="Line 51"/>
          <p:cNvSpPr>
            <a:spLocks noChangeShapeType="1"/>
          </p:cNvSpPr>
          <p:nvPr/>
        </p:nvSpPr>
        <p:spPr bwMode="auto">
          <a:xfrm flipV="1">
            <a:off x="3703638" y="5106988"/>
            <a:ext cx="0" cy="128587"/>
          </a:xfrm>
          <a:prstGeom prst="line">
            <a:avLst/>
          </a:prstGeom>
          <a:noFill/>
          <a:ln w="9525">
            <a:solidFill>
              <a:srgbClr val="000000"/>
            </a:solidFill>
            <a:miter lim="800000"/>
            <a:headEnd/>
            <a:tailEnd/>
          </a:ln>
        </p:spPr>
        <p:txBody>
          <a:bodyPr/>
          <a:lstStyle/>
          <a:p>
            <a:endParaRPr lang="en-US"/>
          </a:p>
        </p:txBody>
      </p:sp>
      <p:sp>
        <p:nvSpPr>
          <p:cNvPr id="81943" name="Line 52"/>
          <p:cNvSpPr>
            <a:spLocks noChangeShapeType="1"/>
          </p:cNvSpPr>
          <p:nvPr/>
        </p:nvSpPr>
        <p:spPr bwMode="auto">
          <a:xfrm flipV="1">
            <a:off x="4092575" y="5106988"/>
            <a:ext cx="0" cy="128587"/>
          </a:xfrm>
          <a:prstGeom prst="line">
            <a:avLst/>
          </a:prstGeom>
          <a:noFill/>
          <a:ln w="9525">
            <a:solidFill>
              <a:srgbClr val="000000"/>
            </a:solidFill>
            <a:miter lim="800000"/>
            <a:headEnd/>
            <a:tailEnd/>
          </a:ln>
        </p:spPr>
        <p:txBody>
          <a:bodyPr/>
          <a:lstStyle/>
          <a:p>
            <a:endParaRPr lang="en-US"/>
          </a:p>
        </p:txBody>
      </p:sp>
      <p:sp>
        <p:nvSpPr>
          <p:cNvPr id="81944" name="Line 53"/>
          <p:cNvSpPr>
            <a:spLocks noChangeShapeType="1"/>
          </p:cNvSpPr>
          <p:nvPr/>
        </p:nvSpPr>
        <p:spPr bwMode="auto">
          <a:xfrm flipV="1">
            <a:off x="4737100" y="5106988"/>
            <a:ext cx="0" cy="128587"/>
          </a:xfrm>
          <a:prstGeom prst="line">
            <a:avLst/>
          </a:prstGeom>
          <a:noFill/>
          <a:ln w="9525">
            <a:solidFill>
              <a:srgbClr val="000000"/>
            </a:solidFill>
            <a:miter lim="800000"/>
            <a:headEnd/>
            <a:tailEnd/>
          </a:ln>
        </p:spPr>
        <p:txBody>
          <a:bodyPr/>
          <a:lstStyle/>
          <a:p>
            <a:endParaRPr lang="en-US"/>
          </a:p>
        </p:txBody>
      </p:sp>
      <p:sp>
        <p:nvSpPr>
          <p:cNvPr id="81945" name="Line 54"/>
          <p:cNvSpPr>
            <a:spLocks noChangeShapeType="1"/>
          </p:cNvSpPr>
          <p:nvPr/>
        </p:nvSpPr>
        <p:spPr bwMode="auto">
          <a:xfrm flipV="1">
            <a:off x="5380038" y="5106988"/>
            <a:ext cx="0" cy="128587"/>
          </a:xfrm>
          <a:prstGeom prst="line">
            <a:avLst/>
          </a:prstGeom>
          <a:noFill/>
          <a:ln w="9525">
            <a:solidFill>
              <a:srgbClr val="000000"/>
            </a:solidFill>
            <a:miter lim="800000"/>
            <a:headEnd/>
            <a:tailEnd/>
          </a:ln>
        </p:spPr>
        <p:txBody>
          <a:bodyPr/>
          <a:lstStyle/>
          <a:p>
            <a:endParaRPr lang="en-US"/>
          </a:p>
        </p:txBody>
      </p:sp>
      <p:sp>
        <p:nvSpPr>
          <p:cNvPr id="81946" name="Line 55"/>
          <p:cNvSpPr>
            <a:spLocks noChangeShapeType="1"/>
          </p:cNvSpPr>
          <p:nvPr/>
        </p:nvSpPr>
        <p:spPr bwMode="auto">
          <a:xfrm flipV="1">
            <a:off x="6238875" y="5106988"/>
            <a:ext cx="0" cy="128587"/>
          </a:xfrm>
          <a:prstGeom prst="line">
            <a:avLst/>
          </a:prstGeom>
          <a:noFill/>
          <a:ln w="9525">
            <a:solidFill>
              <a:srgbClr val="000000"/>
            </a:solidFill>
            <a:miter lim="800000"/>
            <a:headEnd/>
            <a:tailEnd/>
          </a:ln>
        </p:spPr>
        <p:txBody>
          <a:bodyPr/>
          <a:lstStyle/>
          <a:p>
            <a:endParaRPr lang="en-US"/>
          </a:p>
        </p:txBody>
      </p:sp>
      <p:sp>
        <p:nvSpPr>
          <p:cNvPr id="81947" name="Line 56"/>
          <p:cNvSpPr>
            <a:spLocks noChangeShapeType="1"/>
          </p:cNvSpPr>
          <p:nvPr/>
        </p:nvSpPr>
        <p:spPr bwMode="auto">
          <a:xfrm flipV="1">
            <a:off x="7096125" y="5106988"/>
            <a:ext cx="0" cy="128587"/>
          </a:xfrm>
          <a:prstGeom prst="line">
            <a:avLst/>
          </a:prstGeom>
          <a:noFill/>
          <a:ln w="9525">
            <a:solidFill>
              <a:srgbClr val="000000"/>
            </a:solidFill>
            <a:miter lim="800000"/>
            <a:headEnd/>
            <a:tailEnd/>
          </a:ln>
        </p:spPr>
        <p:txBody>
          <a:bodyPr/>
          <a:lstStyle/>
          <a:p>
            <a:endParaRPr lang="en-US"/>
          </a:p>
        </p:txBody>
      </p:sp>
      <p:sp>
        <p:nvSpPr>
          <p:cNvPr id="81948" name="Rectangle 57"/>
          <p:cNvSpPr>
            <a:spLocks noChangeArrowheads="1"/>
          </p:cNvSpPr>
          <p:nvPr/>
        </p:nvSpPr>
        <p:spPr bwMode="auto">
          <a:xfrm>
            <a:off x="1381125" y="2036763"/>
            <a:ext cx="442913"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$2.00</a:t>
            </a:r>
            <a:endParaRPr lang="en-US" sz="1400"/>
          </a:p>
        </p:txBody>
      </p:sp>
      <p:sp>
        <p:nvSpPr>
          <p:cNvPr id="81949" name="Rectangle 58"/>
          <p:cNvSpPr>
            <a:spLocks noChangeArrowheads="1"/>
          </p:cNvSpPr>
          <p:nvPr/>
        </p:nvSpPr>
        <p:spPr bwMode="auto">
          <a:xfrm>
            <a:off x="1489075" y="2478088"/>
            <a:ext cx="344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1.75</a:t>
            </a:r>
            <a:endParaRPr lang="en-US" sz="1400"/>
          </a:p>
        </p:txBody>
      </p:sp>
      <p:sp>
        <p:nvSpPr>
          <p:cNvPr id="81950" name="Rectangle 59"/>
          <p:cNvSpPr>
            <a:spLocks noChangeArrowheads="1"/>
          </p:cNvSpPr>
          <p:nvPr/>
        </p:nvSpPr>
        <p:spPr bwMode="auto">
          <a:xfrm>
            <a:off x="1489075" y="2919413"/>
            <a:ext cx="344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1.50</a:t>
            </a:r>
            <a:endParaRPr lang="en-US" sz="1400"/>
          </a:p>
        </p:txBody>
      </p:sp>
      <p:sp>
        <p:nvSpPr>
          <p:cNvPr id="81951" name="Rectangle 60"/>
          <p:cNvSpPr>
            <a:spLocks noChangeArrowheads="1"/>
          </p:cNvSpPr>
          <p:nvPr/>
        </p:nvSpPr>
        <p:spPr bwMode="auto">
          <a:xfrm>
            <a:off x="1489075" y="3359150"/>
            <a:ext cx="344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1.25</a:t>
            </a:r>
            <a:endParaRPr lang="en-US" sz="1400"/>
          </a:p>
        </p:txBody>
      </p:sp>
      <p:sp>
        <p:nvSpPr>
          <p:cNvPr id="81952" name="Rectangle 61"/>
          <p:cNvSpPr>
            <a:spLocks noChangeArrowheads="1"/>
          </p:cNvSpPr>
          <p:nvPr/>
        </p:nvSpPr>
        <p:spPr bwMode="auto">
          <a:xfrm>
            <a:off x="1489075" y="3802063"/>
            <a:ext cx="344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1.00</a:t>
            </a:r>
            <a:endParaRPr lang="en-US" sz="1400"/>
          </a:p>
        </p:txBody>
      </p:sp>
      <p:sp>
        <p:nvSpPr>
          <p:cNvPr id="81953" name="Rectangle 62"/>
          <p:cNvSpPr>
            <a:spLocks noChangeArrowheads="1"/>
          </p:cNvSpPr>
          <p:nvPr/>
        </p:nvSpPr>
        <p:spPr bwMode="auto">
          <a:xfrm>
            <a:off x="1489075" y="4243388"/>
            <a:ext cx="344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0.75</a:t>
            </a:r>
            <a:endParaRPr lang="en-US" sz="1400"/>
          </a:p>
        </p:txBody>
      </p:sp>
      <p:sp>
        <p:nvSpPr>
          <p:cNvPr id="81954" name="Rectangle 63"/>
          <p:cNvSpPr>
            <a:spLocks noChangeArrowheads="1"/>
          </p:cNvSpPr>
          <p:nvPr/>
        </p:nvSpPr>
        <p:spPr bwMode="auto">
          <a:xfrm>
            <a:off x="1489075" y="4683125"/>
            <a:ext cx="344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0.50</a:t>
            </a:r>
            <a:endParaRPr lang="en-US" sz="1400"/>
          </a:p>
        </p:txBody>
      </p:sp>
      <p:sp>
        <p:nvSpPr>
          <p:cNvPr id="81955" name="Freeform 74"/>
          <p:cNvSpPr>
            <a:spLocks/>
          </p:cNvSpPr>
          <p:nvPr/>
        </p:nvSpPr>
        <p:spPr bwMode="auto">
          <a:xfrm>
            <a:off x="3235325" y="2144713"/>
            <a:ext cx="1543050" cy="2651125"/>
          </a:xfrm>
          <a:custGeom>
            <a:avLst/>
            <a:gdLst>
              <a:gd name="T0" fmla="*/ 2147483647 w 266"/>
              <a:gd name="T1" fmla="*/ 0 h 494"/>
              <a:gd name="T2" fmla="*/ 0 w 266"/>
              <a:gd name="T3" fmla="*/ 2147483647 h 494"/>
              <a:gd name="T4" fmla="*/ 0 60000 65536"/>
              <a:gd name="T5" fmla="*/ 0 60000 65536"/>
              <a:gd name="T6" fmla="*/ 0 w 266"/>
              <a:gd name="T7" fmla="*/ 0 h 494"/>
              <a:gd name="T8" fmla="*/ 266 w 266"/>
              <a:gd name="T9" fmla="*/ 494 h 494"/>
            </a:gdLst>
            <a:ahLst/>
            <a:cxnLst>
              <a:cxn ang="T4">
                <a:pos x="T0" y="T1"/>
              </a:cxn>
              <a:cxn ang="T5">
                <a:pos x="T2" y="T3"/>
              </a:cxn>
            </a:cxnLst>
            <a:rect l="T6" t="T7" r="T8" b="T9"/>
            <a:pathLst>
              <a:path w="266" h="494">
                <a:moveTo>
                  <a:pt x="266" y="0"/>
                </a:moveTo>
                <a:cubicBezTo>
                  <a:pt x="266" y="149"/>
                  <a:pt x="190" y="320"/>
                  <a:pt x="0" y="494"/>
                </a:cubicBezTo>
              </a:path>
            </a:pathLst>
          </a:custGeom>
          <a:noFill/>
          <a:ln w="41275" cap="flat">
            <a:solidFill>
              <a:srgbClr val="EE313C"/>
            </a:solidFill>
            <a:prstDash val="solid"/>
            <a:miter lim="800000"/>
            <a:headEnd/>
            <a:tailEnd/>
          </a:ln>
        </p:spPr>
        <p:txBody>
          <a:bodyPr/>
          <a:lstStyle/>
          <a:p>
            <a:endParaRPr lang="en-US"/>
          </a:p>
        </p:txBody>
      </p:sp>
      <p:sp>
        <p:nvSpPr>
          <p:cNvPr id="81956" name="Rectangle 75"/>
          <p:cNvSpPr>
            <a:spLocks noChangeArrowheads="1"/>
          </p:cNvSpPr>
          <p:nvPr/>
        </p:nvSpPr>
        <p:spPr bwMode="auto">
          <a:xfrm>
            <a:off x="4476750" y="1876425"/>
            <a:ext cx="5429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Supply</a:t>
            </a:r>
            <a:endParaRPr lang="en-US" sz="1400"/>
          </a:p>
        </p:txBody>
      </p:sp>
      <p:sp>
        <p:nvSpPr>
          <p:cNvPr id="81957" name="Rectangle 76"/>
          <p:cNvSpPr>
            <a:spLocks noChangeArrowheads="1"/>
          </p:cNvSpPr>
          <p:nvPr/>
        </p:nvSpPr>
        <p:spPr bwMode="auto">
          <a:xfrm>
            <a:off x="5967413" y="4702175"/>
            <a:ext cx="6699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Demand</a:t>
            </a:r>
            <a:endParaRPr lang="en-US" sz="1400"/>
          </a:p>
        </p:txBody>
      </p:sp>
      <p:sp>
        <p:nvSpPr>
          <p:cNvPr id="81958" name="Line 78"/>
          <p:cNvSpPr>
            <a:spLocks noChangeShapeType="1"/>
          </p:cNvSpPr>
          <p:nvPr/>
        </p:nvSpPr>
        <p:spPr bwMode="auto">
          <a:xfrm flipV="1">
            <a:off x="1884363" y="4956175"/>
            <a:ext cx="122237" cy="63500"/>
          </a:xfrm>
          <a:prstGeom prst="line">
            <a:avLst/>
          </a:prstGeom>
          <a:noFill/>
          <a:ln w="9525">
            <a:solidFill>
              <a:srgbClr val="000000"/>
            </a:solidFill>
            <a:miter lim="800000"/>
            <a:headEnd/>
            <a:tailEnd/>
          </a:ln>
        </p:spPr>
        <p:txBody>
          <a:bodyPr/>
          <a:lstStyle/>
          <a:p>
            <a:endParaRPr lang="en-US"/>
          </a:p>
        </p:txBody>
      </p:sp>
      <p:sp>
        <p:nvSpPr>
          <p:cNvPr id="81959" name="Line 79"/>
          <p:cNvSpPr>
            <a:spLocks noChangeShapeType="1"/>
          </p:cNvSpPr>
          <p:nvPr/>
        </p:nvSpPr>
        <p:spPr bwMode="auto">
          <a:xfrm flipV="1">
            <a:off x="1884363" y="5041900"/>
            <a:ext cx="122237" cy="65088"/>
          </a:xfrm>
          <a:prstGeom prst="line">
            <a:avLst/>
          </a:prstGeom>
          <a:noFill/>
          <a:ln w="9525">
            <a:solidFill>
              <a:srgbClr val="000000"/>
            </a:solidFill>
            <a:miter lim="800000"/>
            <a:headEnd/>
            <a:tailEnd/>
          </a:ln>
        </p:spPr>
        <p:txBody>
          <a:bodyPr/>
          <a:lstStyle/>
          <a:p>
            <a:endParaRPr lang="en-US"/>
          </a:p>
        </p:txBody>
      </p:sp>
      <p:sp>
        <p:nvSpPr>
          <p:cNvPr id="81960" name="Line 80"/>
          <p:cNvSpPr>
            <a:spLocks noChangeShapeType="1"/>
          </p:cNvSpPr>
          <p:nvPr/>
        </p:nvSpPr>
        <p:spPr bwMode="auto">
          <a:xfrm flipH="1">
            <a:off x="2081213" y="5175250"/>
            <a:ext cx="69850" cy="114300"/>
          </a:xfrm>
          <a:prstGeom prst="line">
            <a:avLst/>
          </a:prstGeom>
          <a:noFill/>
          <a:ln w="9525">
            <a:solidFill>
              <a:srgbClr val="000000"/>
            </a:solidFill>
            <a:miter lim="800000"/>
            <a:headEnd/>
            <a:tailEnd/>
          </a:ln>
        </p:spPr>
        <p:txBody>
          <a:bodyPr/>
          <a:lstStyle/>
          <a:p>
            <a:endParaRPr lang="en-US"/>
          </a:p>
        </p:txBody>
      </p:sp>
      <p:sp>
        <p:nvSpPr>
          <p:cNvPr id="81961" name="Line 81"/>
          <p:cNvSpPr>
            <a:spLocks noChangeShapeType="1"/>
          </p:cNvSpPr>
          <p:nvPr/>
        </p:nvSpPr>
        <p:spPr bwMode="auto">
          <a:xfrm flipH="1">
            <a:off x="2173288" y="5175250"/>
            <a:ext cx="69850" cy="114300"/>
          </a:xfrm>
          <a:prstGeom prst="line">
            <a:avLst/>
          </a:prstGeom>
          <a:noFill/>
          <a:ln w="9525">
            <a:solidFill>
              <a:srgbClr val="000000"/>
            </a:solidFill>
            <a:miter lim="800000"/>
            <a:headEnd/>
            <a:tailEnd/>
          </a:ln>
        </p:spPr>
        <p:txBody>
          <a:bodyPr/>
          <a:lstStyle/>
          <a:p>
            <a:endParaRPr lang="en-US"/>
          </a:p>
        </p:txBody>
      </p:sp>
      <p:sp>
        <p:nvSpPr>
          <p:cNvPr id="81962" name="Freeform 82"/>
          <p:cNvSpPr>
            <a:spLocks/>
          </p:cNvSpPr>
          <p:nvPr/>
        </p:nvSpPr>
        <p:spPr bwMode="auto">
          <a:xfrm>
            <a:off x="2846388" y="2144713"/>
            <a:ext cx="3044825" cy="2651125"/>
          </a:xfrm>
          <a:custGeom>
            <a:avLst/>
            <a:gdLst>
              <a:gd name="T0" fmla="*/ 0 w 525"/>
              <a:gd name="T1" fmla="*/ 0 h 494"/>
              <a:gd name="T2" fmla="*/ 2147483647 w 525"/>
              <a:gd name="T3" fmla="*/ 2147483647 h 494"/>
              <a:gd name="T4" fmla="*/ 0 60000 65536"/>
              <a:gd name="T5" fmla="*/ 0 60000 65536"/>
              <a:gd name="T6" fmla="*/ 0 w 525"/>
              <a:gd name="T7" fmla="*/ 0 h 494"/>
              <a:gd name="T8" fmla="*/ 525 w 525"/>
              <a:gd name="T9" fmla="*/ 494 h 494"/>
            </a:gdLst>
            <a:ahLst/>
            <a:cxnLst>
              <a:cxn ang="T4">
                <a:pos x="T0" y="T1"/>
              </a:cxn>
              <a:cxn ang="T5">
                <a:pos x="T2" y="T3"/>
              </a:cxn>
            </a:cxnLst>
            <a:rect l="T6" t="T7" r="T8" b="T9"/>
            <a:pathLst>
              <a:path w="525" h="494">
                <a:moveTo>
                  <a:pt x="0" y="0"/>
                </a:moveTo>
                <a:cubicBezTo>
                  <a:pt x="30" y="133"/>
                  <a:pt x="196" y="409"/>
                  <a:pt x="525" y="494"/>
                </a:cubicBezTo>
              </a:path>
            </a:pathLst>
          </a:custGeom>
          <a:noFill/>
          <a:ln w="41275" cap="flat">
            <a:solidFill>
              <a:srgbClr val="3C5DAA"/>
            </a:solidFill>
            <a:prstDash val="solid"/>
            <a:miter lim="800000"/>
            <a:headEnd/>
            <a:tailEnd/>
          </a:ln>
        </p:spPr>
        <p:txBody>
          <a:bodyPr/>
          <a:lstStyle/>
          <a:p>
            <a:endParaRPr lang="en-US"/>
          </a:p>
        </p:txBody>
      </p:sp>
      <p:sp>
        <p:nvSpPr>
          <p:cNvPr id="81963" name="Oval 83"/>
          <p:cNvSpPr>
            <a:spLocks noChangeArrowheads="1"/>
          </p:cNvSpPr>
          <p:nvPr/>
        </p:nvSpPr>
        <p:spPr bwMode="auto">
          <a:xfrm>
            <a:off x="4035425" y="3856038"/>
            <a:ext cx="115888" cy="107950"/>
          </a:xfrm>
          <a:prstGeom prst="ellipse">
            <a:avLst/>
          </a:prstGeom>
          <a:solidFill>
            <a:srgbClr val="000000"/>
          </a:solidFill>
          <a:ln w="9525">
            <a:noFill/>
            <a:round/>
            <a:headEnd/>
            <a:tailEnd/>
          </a:ln>
        </p:spPr>
        <p:txBody>
          <a:bodyPr/>
          <a:lstStyle/>
          <a:p>
            <a:endParaRPr lang="en-US"/>
          </a:p>
        </p:txBody>
      </p:sp>
      <p:sp>
        <p:nvSpPr>
          <p:cNvPr id="81964" name="Rectangle 84"/>
          <p:cNvSpPr>
            <a:spLocks noChangeArrowheads="1"/>
          </p:cNvSpPr>
          <p:nvPr/>
        </p:nvSpPr>
        <p:spPr bwMode="auto">
          <a:xfrm>
            <a:off x="3533775" y="5276850"/>
            <a:ext cx="2476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9.1</a:t>
            </a:r>
            <a:endParaRPr lang="en-US" sz="1400"/>
          </a:p>
        </p:txBody>
      </p:sp>
      <p:sp>
        <p:nvSpPr>
          <p:cNvPr id="81965" name="Rectangle 85"/>
          <p:cNvSpPr>
            <a:spLocks noChangeArrowheads="1"/>
          </p:cNvSpPr>
          <p:nvPr/>
        </p:nvSpPr>
        <p:spPr bwMode="auto">
          <a:xfrm>
            <a:off x="4552950" y="5276850"/>
            <a:ext cx="344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11.5</a:t>
            </a:r>
            <a:endParaRPr lang="en-US" sz="1400"/>
          </a:p>
        </p:txBody>
      </p:sp>
      <p:sp>
        <p:nvSpPr>
          <p:cNvPr id="81966" name="Rectangle 86"/>
          <p:cNvSpPr>
            <a:spLocks noChangeArrowheads="1"/>
          </p:cNvSpPr>
          <p:nvPr/>
        </p:nvSpPr>
        <p:spPr bwMode="auto">
          <a:xfrm>
            <a:off x="4275138" y="3743325"/>
            <a:ext cx="1190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E</a:t>
            </a:r>
            <a:endParaRPr lang="en-US" sz="1400"/>
          </a:p>
        </p:txBody>
      </p:sp>
      <p:sp>
        <p:nvSpPr>
          <p:cNvPr id="81967" name="Line 87"/>
          <p:cNvSpPr>
            <a:spLocks noChangeShapeType="1"/>
          </p:cNvSpPr>
          <p:nvPr/>
        </p:nvSpPr>
        <p:spPr bwMode="auto">
          <a:xfrm>
            <a:off x="3703638" y="5487988"/>
            <a:ext cx="0" cy="322262"/>
          </a:xfrm>
          <a:prstGeom prst="line">
            <a:avLst/>
          </a:prstGeom>
          <a:noFill/>
          <a:ln w="9525">
            <a:solidFill>
              <a:srgbClr val="000000"/>
            </a:solidFill>
            <a:miter lim="800000"/>
            <a:headEnd/>
            <a:tailEnd/>
          </a:ln>
        </p:spPr>
        <p:txBody>
          <a:bodyPr/>
          <a:lstStyle/>
          <a:p>
            <a:endParaRPr lang="en-US"/>
          </a:p>
        </p:txBody>
      </p:sp>
      <p:sp>
        <p:nvSpPr>
          <p:cNvPr id="81968" name="Line 88"/>
          <p:cNvSpPr>
            <a:spLocks noChangeShapeType="1"/>
          </p:cNvSpPr>
          <p:nvPr/>
        </p:nvSpPr>
        <p:spPr bwMode="auto">
          <a:xfrm>
            <a:off x="4737100" y="5487988"/>
            <a:ext cx="0" cy="322262"/>
          </a:xfrm>
          <a:prstGeom prst="line">
            <a:avLst/>
          </a:prstGeom>
          <a:noFill/>
          <a:ln w="9525">
            <a:solidFill>
              <a:srgbClr val="000000"/>
            </a:solidFill>
            <a:miter lim="800000"/>
            <a:headEnd/>
            <a:tailEnd/>
          </a:ln>
        </p:spPr>
        <p:txBody>
          <a:bodyPr/>
          <a:lstStyle/>
          <a:p>
            <a:endParaRPr lang="en-US"/>
          </a:p>
        </p:txBody>
      </p:sp>
      <p:sp>
        <p:nvSpPr>
          <p:cNvPr id="585817" name="Freeform 89"/>
          <p:cNvSpPr>
            <a:spLocks/>
          </p:cNvSpPr>
          <p:nvPr/>
        </p:nvSpPr>
        <p:spPr bwMode="auto">
          <a:xfrm>
            <a:off x="3811588" y="4527550"/>
            <a:ext cx="852487" cy="311150"/>
          </a:xfrm>
          <a:custGeom>
            <a:avLst/>
            <a:gdLst>
              <a:gd name="T0" fmla="*/ 2147483647 w 147"/>
              <a:gd name="T1" fmla="*/ 2147483647 h 58"/>
              <a:gd name="T2" fmla="*/ 2147483647 w 147"/>
              <a:gd name="T3" fmla="*/ 2147483647 h 58"/>
              <a:gd name="T4" fmla="*/ 2147483647 w 147"/>
              <a:gd name="T5" fmla="*/ 2147483647 h 58"/>
              <a:gd name="T6" fmla="*/ 0 w 147"/>
              <a:gd name="T7" fmla="*/ 2147483647 h 58"/>
              <a:gd name="T8" fmla="*/ 0 w 147"/>
              <a:gd name="T9" fmla="*/ 2147483647 h 58"/>
              <a:gd name="T10" fmla="*/ 2147483647 w 147"/>
              <a:gd name="T11" fmla="*/ 0 h 58"/>
              <a:gd name="T12" fmla="*/ 2147483647 w 147"/>
              <a:gd name="T13" fmla="*/ 0 h 58"/>
              <a:gd name="T14" fmla="*/ 2147483647 w 147"/>
              <a:gd name="T15" fmla="*/ 2147483647 h 58"/>
              <a:gd name="T16" fmla="*/ 2147483647 w 147"/>
              <a:gd name="T17" fmla="*/ 2147483647 h 5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7"/>
              <a:gd name="T28" fmla="*/ 0 h 58"/>
              <a:gd name="T29" fmla="*/ 147 w 147"/>
              <a:gd name="T30" fmla="*/ 58 h 5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7" h="58">
                <a:moveTo>
                  <a:pt x="147" y="44"/>
                </a:moveTo>
                <a:cubicBezTo>
                  <a:pt x="147" y="51"/>
                  <a:pt x="140" y="58"/>
                  <a:pt x="133" y="58"/>
                </a:cubicBezTo>
                <a:cubicBezTo>
                  <a:pt x="14" y="58"/>
                  <a:pt x="14" y="58"/>
                  <a:pt x="14" y="58"/>
                </a:cubicBezTo>
                <a:cubicBezTo>
                  <a:pt x="6" y="58"/>
                  <a:pt x="0" y="51"/>
                  <a:pt x="0" y="44"/>
                </a:cubicBezTo>
                <a:cubicBezTo>
                  <a:pt x="0" y="15"/>
                  <a:pt x="0" y="15"/>
                  <a:pt x="0" y="15"/>
                </a:cubicBezTo>
                <a:cubicBezTo>
                  <a:pt x="0" y="7"/>
                  <a:pt x="6" y="0"/>
                  <a:pt x="14" y="0"/>
                </a:cubicBezTo>
                <a:cubicBezTo>
                  <a:pt x="133" y="0"/>
                  <a:pt x="133" y="0"/>
                  <a:pt x="133" y="0"/>
                </a:cubicBezTo>
                <a:cubicBezTo>
                  <a:pt x="140" y="0"/>
                  <a:pt x="147" y="7"/>
                  <a:pt x="147" y="15"/>
                </a:cubicBezTo>
                <a:lnTo>
                  <a:pt x="147" y="44"/>
                </a:lnTo>
                <a:close/>
              </a:path>
            </a:pathLst>
          </a:custGeom>
          <a:solidFill>
            <a:srgbClr val="D6E2E0"/>
          </a:solidFill>
          <a:ln w="9525">
            <a:noFill/>
            <a:round/>
            <a:headEnd/>
            <a:tailEnd/>
          </a:ln>
        </p:spPr>
        <p:txBody>
          <a:bodyPr/>
          <a:lstStyle/>
          <a:p>
            <a:endParaRPr lang="en-US"/>
          </a:p>
        </p:txBody>
      </p:sp>
      <p:sp>
        <p:nvSpPr>
          <p:cNvPr id="585818" name="Rectangle 90"/>
          <p:cNvSpPr>
            <a:spLocks noChangeArrowheads="1"/>
          </p:cNvSpPr>
          <p:nvPr/>
        </p:nvSpPr>
        <p:spPr bwMode="auto">
          <a:xfrm>
            <a:off x="3886200" y="4572000"/>
            <a:ext cx="72548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Shortage</a:t>
            </a:r>
            <a:endParaRPr lang="en-US" sz="1400" i="1"/>
          </a:p>
        </p:txBody>
      </p:sp>
      <p:sp>
        <p:nvSpPr>
          <p:cNvPr id="81971" name="Freeform 93"/>
          <p:cNvSpPr>
            <a:spLocks/>
          </p:cNvSpPr>
          <p:nvPr/>
        </p:nvSpPr>
        <p:spPr bwMode="auto">
          <a:xfrm>
            <a:off x="3303588" y="5867400"/>
            <a:ext cx="836612" cy="514350"/>
          </a:xfrm>
          <a:custGeom>
            <a:avLst/>
            <a:gdLst>
              <a:gd name="T0" fmla="*/ 2147483647 w 144"/>
              <a:gd name="T1" fmla="*/ 2147483647 h 96"/>
              <a:gd name="T2" fmla="*/ 2147483647 w 144"/>
              <a:gd name="T3" fmla="*/ 2147483647 h 96"/>
              <a:gd name="T4" fmla="*/ 2147483647 w 144"/>
              <a:gd name="T5" fmla="*/ 2147483647 h 96"/>
              <a:gd name="T6" fmla="*/ 0 w 144"/>
              <a:gd name="T7" fmla="*/ 2147483647 h 96"/>
              <a:gd name="T8" fmla="*/ 0 w 144"/>
              <a:gd name="T9" fmla="*/ 2147483647 h 96"/>
              <a:gd name="T10" fmla="*/ 2147483647 w 144"/>
              <a:gd name="T11" fmla="*/ 0 h 96"/>
              <a:gd name="T12" fmla="*/ 2147483647 w 144"/>
              <a:gd name="T13" fmla="*/ 0 h 96"/>
              <a:gd name="T14" fmla="*/ 2147483647 w 144"/>
              <a:gd name="T15" fmla="*/ 2147483647 h 96"/>
              <a:gd name="T16" fmla="*/ 2147483647 w 144"/>
              <a:gd name="T17" fmla="*/ 2147483647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
              <a:gd name="T28" fmla="*/ 0 h 96"/>
              <a:gd name="T29" fmla="*/ 144 w 144"/>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 h="96">
                <a:moveTo>
                  <a:pt x="144" y="81"/>
                </a:moveTo>
                <a:cubicBezTo>
                  <a:pt x="144" y="89"/>
                  <a:pt x="138" y="96"/>
                  <a:pt x="130" y="96"/>
                </a:cubicBezTo>
                <a:cubicBezTo>
                  <a:pt x="14" y="96"/>
                  <a:pt x="14" y="96"/>
                  <a:pt x="14" y="96"/>
                </a:cubicBezTo>
                <a:cubicBezTo>
                  <a:pt x="6" y="96"/>
                  <a:pt x="0" y="89"/>
                  <a:pt x="0" y="81"/>
                </a:cubicBezTo>
                <a:cubicBezTo>
                  <a:pt x="0" y="14"/>
                  <a:pt x="0" y="14"/>
                  <a:pt x="0" y="14"/>
                </a:cubicBezTo>
                <a:cubicBezTo>
                  <a:pt x="0" y="7"/>
                  <a:pt x="6" y="0"/>
                  <a:pt x="14" y="0"/>
                </a:cubicBezTo>
                <a:cubicBezTo>
                  <a:pt x="130" y="0"/>
                  <a:pt x="130" y="0"/>
                  <a:pt x="130" y="0"/>
                </a:cubicBezTo>
                <a:cubicBezTo>
                  <a:pt x="138" y="0"/>
                  <a:pt x="144" y="7"/>
                  <a:pt x="144" y="14"/>
                </a:cubicBezTo>
                <a:lnTo>
                  <a:pt x="144" y="81"/>
                </a:lnTo>
                <a:close/>
              </a:path>
            </a:pathLst>
          </a:custGeom>
          <a:solidFill>
            <a:srgbClr val="D6E2E0"/>
          </a:solidFill>
          <a:ln w="9525">
            <a:noFill/>
            <a:round/>
            <a:headEnd/>
            <a:tailEnd/>
          </a:ln>
        </p:spPr>
        <p:txBody>
          <a:bodyPr anchor="ctr"/>
          <a:lstStyle/>
          <a:p>
            <a:endParaRPr lang="en-US"/>
          </a:p>
        </p:txBody>
      </p:sp>
      <p:sp>
        <p:nvSpPr>
          <p:cNvPr id="81972" name="Freeform 100"/>
          <p:cNvSpPr>
            <a:spLocks/>
          </p:cNvSpPr>
          <p:nvPr/>
        </p:nvSpPr>
        <p:spPr bwMode="auto">
          <a:xfrm>
            <a:off x="4264025" y="5842000"/>
            <a:ext cx="979488" cy="569913"/>
          </a:xfrm>
          <a:custGeom>
            <a:avLst/>
            <a:gdLst>
              <a:gd name="T0" fmla="*/ 2147483647 w 169"/>
              <a:gd name="T1" fmla="*/ 2147483647 h 96"/>
              <a:gd name="T2" fmla="*/ 2147483647 w 169"/>
              <a:gd name="T3" fmla="*/ 2147483647 h 96"/>
              <a:gd name="T4" fmla="*/ 2147483647 w 169"/>
              <a:gd name="T5" fmla="*/ 2147483647 h 96"/>
              <a:gd name="T6" fmla="*/ 0 w 169"/>
              <a:gd name="T7" fmla="*/ 2147483647 h 96"/>
              <a:gd name="T8" fmla="*/ 0 w 169"/>
              <a:gd name="T9" fmla="*/ 2147483647 h 96"/>
              <a:gd name="T10" fmla="*/ 2147483647 w 169"/>
              <a:gd name="T11" fmla="*/ 0 h 96"/>
              <a:gd name="T12" fmla="*/ 2147483647 w 169"/>
              <a:gd name="T13" fmla="*/ 0 h 96"/>
              <a:gd name="T14" fmla="*/ 2147483647 w 169"/>
              <a:gd name="T15" fmla="*/ 2147483647 h 96"/>
              <a:gd name="T16" fmla="*/ 2147483647 w 169"/>
              <a:gd name="T17" fmla="*/ 2147483647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9"/>
              <a:gd name="T28" fmla="*/ 0 h 96"/>
              <a:gd name="T29" fmla="*/ 169 w 169"/>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9" h="96">
                <a:moveTo>
                  <a:pt x="169" y="81"/>
                </a:moveTo>
                <a:cubicBezTo>
                  <a:pt x="169" y="89"/>
                  <a:pt x="163" y="96"/>
                  <a:pt x="155" y="96"/>
                </a:cubicBezTo>
                <a:cubicBezTo>
                  <a:pt x="14" y="96"/>
                  <a:pt x="14" y="96"/>
                  <a:pt x="14" y="96"/>
                </a:cubicBezTo>
                <a:cubicBezTo>
                  <a:pt x="6" y="96"/>
                  <a:pt x="0" y="89"/>
                  <a:pt x="0" y="81"/>
                </a:cubicBezTo>
                <a:cubicBezTo>
                  <a:pt x="0" y="14"/>
                  <a:pt x="0" y="14"/>
                  <a:pt x="0" y="14"/>
                </a:cubicBezTo>
                <a:cubicBezTo>
                  <a:pt x="0" y="7"/>
                  <a:pt x="6" y="0"/>
                  <a:pt x="14" y="0"/>
                </a:cubicBezTo>
                <a:cubicBezTo>
                  <a:pt x="155" y="0"/>
                  <a:pt x="155" y="0"/>
                  <a:pt x="155" y="0"/>
                </a:cubicBezTo>
                <a:cubicBezTo>
                  <a:pt x="163" y="0"/>
                  <a:pt x="169" y="7"/>
                  <a:pt x="169" y="14"/>
                </a:cubicBezTo>
                <a:lnTo>
                  <a:pt x="169" y="81"/>
                </a:lnTo>
                <a:close/>
              </a:path>
            </a:pathLst>
          </a:custGeom>
          <a:solidFill>
            <a:srgbClr val="D6E2E0"/>
          </a:solidFill>
          <a:ln w="9525">
            <a:noFill/>
            <a:round/>
            <a:headEnd/>
            <a:tailEnd/>
          </a:ln>
        </p:spPr>
        <p:txBody>
          <a:bodyPr anchor="ctr"/>
          <a:lstStyle/>
          <a:p>
            <a:endParaRPr lang="en-US"/>
          </a:p>
        </p:txBody>
      </p:sp>
      <p:sp>
        <p:nvSpPr>
          <p:cNvPr id="585835" name="Freeform 107"/>
          <p:cNvSpPr>
            <a:spLocks/>
          </p:cNvSpPr>
          <p:nvPr/>
        </p:nvSpPr>
        <p:spPr bwMode="auto">
          <a:xfrm>
            <a:off x="3703638" y="4387850"/>
            <a:ext cx="1033462" cy="133350"/>
          </a:xfrm>
          <a:custGeom>
            <a:avLst/>
            <a:gdLst>
              <a:gd name="T0" fmla="*/ 0 w 178"/>
              <a:gd name="T1" fmla="*/ 0 h 25"/>
              <a:gd name="T2" fmla="*/ 2147483647 w 178"/>
              <a:gd name="T3" fmla="*/ 2147483647 h 25"/>
              <a:gd name="T4" fmla="*/ 2147483647 w 178"/>
              <a:gd name="T5" fmla="*/ 2147483647 h 25"/>
              <a:gd name="T6" fmla="*/ 2147483647 w 178"/>
              <a:gd name="T7" fmla="*/ 2147483647 h 25"/>
              <a:gd name="T8" fmla="*/ 2147483647 w 178"/>
              <a:gd name="T9" fmla="*/ 2147483647 h 25"/>
              <a:gd name="T10" fmla="*/ 2147483647 w 178"/>
              <a:gd name="T11" fmla="*/ 2147483647 h 25"/>
              <a:gd name="T12" fmla="*/ 2147483647 w 178"/>
              <a:gd name="T13" fmla="*/ 0 h 25"/>
              <a:gd name="T14" fmla="*/ 0 60000 65536"/>
              <a:gd name="T15" fmla="*/ 0 60000 65536"/>
              <a:gd name="T16" fmla="*/ 0 60000 65536"/>
              <a:gd name="T17" fmla="*/ 0 60000 65536"/>
              <a:gd name="T18" fmla="*/ 0 60000 65536"/>
              <a:gd name="T19" fmla="*/ 0 60000 65536"/>
              <a:gd name="T20" fmla="*/ 0 60000 65536"/>
              <a:gd name="T21" fmla="*/ 0 w 178"/>
              <a:gd name="T22" fmla="*/ 0 h 25"/>
              <a:gd name="T23" fmla="*/ 178 w 178"/>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 h="25">
                <a:moveTo>
                  <a:pt x="0" y="0"/>
                </a:moveTo>
                <a:cubicBezTo>
                  <a:pt x="0" y="10"/>
                  <a:pt x="3" y="15"/>
                  <a:pt x="16" y="15"/>
                </a:cubicBezTo>
                <a:cubicBezTo>
                  <a:pt x="19" y="15"/>
                  <a:pt x="78" y="15"/>
                  <a:pt x="81" y="15"/>
                </a:cubicBezTo>
                <a:cubicBezTo>
                  <a:pt x="84" y="15"/>
                  <a:pt x="91" y="17"/>
                  <a:pt x="91" y="25"/>
                </a:cubicBezTo>
                <a:cubicBezTo>
                  <a:pt x="91" y="17"/>
                  <a:pt x="98" y="15"/>
                  <a:pt x="102" y="15"/>
                </a:cubicBezTo>
                <a:cubicBezTo>
                  <a:pt x="104" y="15"/>
                  <a:pt x="159" y="15"/>
                  <a:pt x="162" y="15"/>
                </a:cubicBezTo>
                <a:cubicBezTo>
                  <a:pt x="175" y="15"/>
                  <a:pt x="178" y="10"/>
                  <a:pt x="178" y="0"/>
                </a:cubicBezTo>
              </a:path>
            </a:pathLst>
          </a:custGeom>
          <a:noFill/>
          <a:ln w="30163" cap="flat">
            <a:solidFill>
              <a:srgbClr val="6D6F71"/>
            </a:solidFill>
            <a:prstDash val="solid"/>
            <a:round/>
            <a:headEnd/>
            <a:tailEnd/>
          </a:ln>
        </p:spPr>
        <p:txBody>
          <a:bodyPr/>
          <a:lstStyle/>
          <a:p>
            <a:endParaRPr lang="en-US"/>
          </a:p>
        </p:txBody>
      </p:sp>
      <p:sp>
        <p:nvSpPr>
          <p:cNvPr id="81974" name="Oval 108"/>
          <p:cNvSpPr>
            <a:spLocks noChangeArrowheads="1"/>
          </p:cNvSpPr>
          <p:nvPr/>
        </p:nvSpPr>
        <p:spPr bwMode="auto">
          <a:xfrm>
            <a:off x="4679950" y="4291013"/>
            <a:ext cx="115888" cy="106362"/>
          </a:xfrm>
          <a:prstGeom prst="ellipse">
            <a:avLst/>
          </a:prstGeom>
          <a:solidFill>
            <a:srgbClr val="000000"/>
          </a:solidFill>
          <a:ln w="9525">
            <a:noFill/>
            <a:round/>
            <a:headEnd/>
            <a:tailEnd/>
          </a:ln>
        </p:spPr>
        <p:txBody>
          <a:bodyPr/>
          <a:lstStyle/>
          <a:p>
            <a:endParaRPr lang="en-US"/>
          </a:p>
        </p:txBody>
      </p:sp>
      <p:sp>
        <p:nvSpPr>
          <p:cNvPr id="81975" name="Oval 109"/>
          <p:cNvSpPr>
            <a:spLocks noChangeArrowheads="1"/>
          </p:cNvSpPr>
          <p:nvPr/>
        </p:nvSpPr>
        <p:spPr bwMode="auto">
          <a:xfrm>
            <a:off x="3646488" y="4295775"/>
            <a:ext cx="115887" cy="107950"/>
          </a:xfrm>
          <a:prstGeom prst="ellipse">
            <a:avLst/>
          </a:prstGeom>
          <a:solidFill>
            <a:srgbClr val="000000"/>
          </a:solidFill>
          <a:ln w="9525">
            <a:noFill/>
            <a:round/>
            <a:headEnd/>
            <a:tailEnd/>
          </a:ln>
        </p:spPr>
        <p:txBody>
          <a:bodyPr/>
          <a:lstStyle/>
          <a:p>
            <a:endParaRPr lang="en-US"/>
          </a:p>
        </p:txBody>
      </p:sp>
      <p:sp>
        <p:nvSpPr>
          <p:cNvPr id="81976" name="Rectangle 110"/>
          <p:cNvSpPr>
            <a:spLocks noChangeArrowheads="1"/>
          </p:cNvSpPr>
          <p:nvPr/>
        </p:nvSpPr>
        <p:spPr bwMode="auto">
          <a:xfrm>
            <a:off x="4238625" y="5900738"/>
            <a:ext cx="1027113" cy="430212"/>
          </a:xfrm>
          <a:prstGeom prst="rect">
            <a:avLst/>
          </a:prstGeom>
          <a:noFill/>
          <a:ln w="9525">
            <a:noFill/>
            <a:miter lim="800000"/>
            <a:headEnd/>
            <a:tailEnd/>
          </a:ln>
        </p:spPr>
        <p:txBody>
          <a:bodyPr lIns="0" tIns="0" rIns="0" bIns="0">
            <a:spAutoFit/>
          </a:bodyPr>
          <a:lstStyle/>
          <a:p>
            <a:pPr marL="1588" indent="-1588" algn="ctr"/>
            <a:r>
              <a:rPr lang="en-US" sz="1400" i="1">
                <a:solidFill>
                  <a:srgbClr val="000000"/>
                </a:solidFill>
                <a:latin typeface="Myriad Roman"/>
              </a:rPr>
              <a:t>Quantity</a:t>
            </a:r>
            <a:r>
              <a:rPr lang="en-US" sz="1400">
                <a:solidFill>
                  <a:srgbClr val="000000"/>
                </a:solidFill>
                <a:latin typeface="Myriad Roman"/>
              </a:rPr>
              <a:t> </a:t>
            </a:r>
            <a:r>
              <a:rPr lang="en-US" sz="1400" i="1">
                <a:solidFill>
                  <a:srgbClr val="000000"/>
                </a:solidFill>
                <a:latin typeface="Myriad Roman"/>
              </a:rPr>
              <a:t>demanded</a:t>
            </a:r>
            <a:endParaRPr lang="en-US" sz="1400" i="1"/>
          </a:p>
        </p:txBody>
      </p:sp>
      <p:sp>
        <p:nvSpPr>
          <p:cNvPr id="81977" name="Rectangle 111"/>
          <p:cNvSpPr>
            <a:spLocks noChangeArrowheads="1"/>
          </p:cNvSpPr>
          <p:nvPr/>
        </p:nvSpPr>
        <p:spPr bwMode="auto">
          <a:xfrm>
            <a:off x="3325813" y="5900738"/>
            <a:ext cx="769937" cy="430212"/>
          </a:xfrm>
          <a:prstGeom prst="rect">
            <a:avLst/>
          </a:prstGeom>
          <a:noFill/>
          <a:ln w="9525">
            <a:noFill/>
            <a:miter lim="800000"/>
            <a:headEnd/>
            <a:tailEnd/>
          </a:ln>
        </p:spPr>
        <p:txBody>
          <a:bodyPr lIns="0" tIns="0" rIns="0" bIns="0">
            <a:spAutoFit/>
          </a:bodyPr>
          <a:lstStyle/>
          <a:p>
            <a:pPr marL="1588" indent="-1588" algn="ctr"/>
            <a:r>
              <a:rPr lang="en-US" sz="1400" i="1">
                <a:solidFill>
                  <a:srgbClr val="000000"/>
                </a:solidFill>
                <a:latin typeface="Myriad Roman"/>
              </a:rPr>
              <a:t>Quantity</a:t>
            </a:r>
            <a:r>
              <a:rPr lang="en-US" sz="1400">
                <a:solidFill>
                  <a:srgbClr val="000000"/>
                </a:solidFill>
                <a:latin typeface="Myriad Roman"/>
              </a:rPr>
              <a:t> </a:t>
            </a:r>
            <a:r>
              <a:rPr lang="en-US" sz="1400" i="1">
                <a:solidFill>
                  <a:srgbClr val="000000"/>
                </a:solidFill>
                <a:latin typeface="Myriad Roman"/>
              </a:rPr>
              <a:t>supplied</a:t>
            </a:r>
            <a:endParaRPr lang="en-US" sz="1400" i="1"/>
          </a:p>
        </p:txBody>
      </p:sp>
      <p:sp>
        <p:nvSpPr>
          <p:cNvPr id="81978" name="TextBox 29"/>
          <p:cNvSpPr txBox="1">
            <a:spLocks noChangeArrowheads="1"/>
          </p:cNvSpPr>
          <p:nvPr/>
        </p:nvSpPr>
        <p:spPr bwMode="auto">
          <a:xfrm>
            <a:off x="766763" y="1052513"/>
            <a:ext cx="1284287" cy="523875"/>
          </a:xfrm>
          <a:prstGeom prst="rect">
            <a:avLst/>
          </a:prstGeom>
          <a:noFill/>
          <a:ln w="9525">
            <a:noFill/>
            <a:miter lim="800000"/>
            <a:headEnd/>
            <a:tailEnd/>
          </a:ln>
        </p:spPr>
        <p:txBody>
          <a:bodyPr>
            <a:spAutoFit/>
          </a:bodyPr>
          <a:lstStyle/>
          <a:p>
            <a:pPr algn="ctr"/>
            <a:r>
              <a:rPr lang="en-US" sz="1400" b="1"/>
              <a:t>Price of cotton (per pound)</a:t>
            </a:r>
          </a:p>
        </p:txBody>
      </p:sp>
      <p:sp>
        <p:nvSpPr>
          <p:cNvPr id="81979" name="TextBox 30"/>
          <p:cNvSpPr txBox="1">
            <a:spLocks noChangeArrowheads="1"/>
          </p:cNvSpPr>
          <p:nvPr/>
        </p:nvSpPr>
        <p:spPr bwMode="auto">
          <a:xfrm>
            <a:off x="5867400" y="5486400"/>
            <a:ext cx="2225675" cy="523875"/>
          </a:xfrm>
          <a:prstGeom prst="rect">
            <a:avLst/>
          </a:prstGeom>
          <a:noFill/>
          <a:ln w="9525">
            <a:noFill/>
            <a:miter lim="800000"/>
            <a:headEnd/>
            <a:tailEnd/>
          </a:ln>
        </p:spPr>
        <p:txBody>
          <a:bodyPr>
            <a:spAutoFit/>
          </a:bodyPr>
          <a:lstStyle/>
          <a:p>
            <a:pPr algn="ctr"/>
            <a:r>
              <a:rPr lang="en-US" sz="1400" b="1"/>
              <a:t>Quantity of cotton (billions of pounds)</a:t>
            </a:r>
          </a:p>
        </p:txBody>
      </p:sp>
      <p:cxnSp>
        <p:nvCxnSpPr>
          <p:cNvPr id="81980" name="Straight Connector 86"/>
          <p:cNvCxnSpPr>
            <a:cxnSpLocks noChangeShapeType="1"/>
          </p:cNvCxnSpPr>
          <p:nvPr/>
        </p:nvCxnSpPr>
        <p:spPr bwMode="auto">
          <a:xfrm>
            <a:off x="4718050" y="4394200"/>
            <a:ext cx="0" cy="635000"/>
          </a:xfrm>
          <a:prstGeom prst="line">
            <a:avLst/>
          </a:prstGeom>
          <a:noFill/>
          <a:ln w="22225">
            <a:solidFill>
              <a:srgbClr val="9C9C9C"/>
            </a:solidFill>
            <a:prstDash val="sysDot"/>
            <a:round/>
            <a:headEnd/>
            <a:tailEnd type="none" w="med" len="lg"/>
          </a:ln>
        </p:spPr>
      </p:cxnSp>
      <p:cxnSp>
        <p:nvCxnSpPr>
          <p:cNvPr id="81981" name="Straight Connector 86"/>
          <p:cNvCxnSpPr>
            <a:cxnSpLocks noChangeShapeType="1"/>
          </p:cNvCxnSpPr>
          <p:nvPr/>
        </p:nvCxnSpPr>
        <p:spPr bwMode="auto">
          <a:xfrm>
            <a:off x="3690938" y="4394200"/>
            <a:ext cx="0" cy="635000"/>
          </a:xfrm>
          <a:prstGeom prst="line">
            <a:avLst/>
          </a:prstGeom>
          <a:noFill/>
          <a:ln w="22225">
            <a:solidFill>
              <a:srgbClr val="9C9C9C"/>
            </a:solidFill>
            <a:prstDash val="sysDot"/>
            <a:round/>
            <a:headEnd/>
            <a:tailEnd type="none" w="med" len="lg"/>
          </a:ln>
        </p:spPr>
      </p:cxnSp>
      <p:sp>
        <p:nvSpPr>
          <p:cNvPr id="585737" name="Text Box 9"/>
          <p:cNvSpPr txBox="1">
            <a:spLocks noChangeArrowheads="1"/>
          </p:cNvSpPr>
          <p:nvPr/>
        </p:nvSpPr>
        <p:spPr bwMode="auto">
          <a:xfrm>
            <a:off x="5334000" y="1143000"/>
            <a:ext cx="3505200" cy="2678113"/>
          </a:xfrm>
          <a:prstGeom prst="rect">
            <a:avLst/>
          </a:prstGeom>
          <a:solidFill>
            <a:schemeClr val="accent5">
              <a:lumMod val="20000"/>
              <a:lumOff val="80000"/>
            </a:schemeClr>
          </a:solidFill>
          <a:ln w="38100">
            <a:noFill/>
            <a:miter lim="800000"/>
            <a:headEnd/>
            <a:tailEnd type="none" w="med" len="lg"/>
          </a:ln>
        </p:spPr>
        <p:txBody>
          <a:bodyPr>
            <a:spAutoFit/>
          </a:bodyPr>
          <a:lstStyle/>
          <a:p>
            <a:pPr marL="1588" indent="-1588" algn="ctr">
              <a:spcBef>
                <a:spcPct val="20000"/>
              </a:spcBef>
              <a:defRPr/>
            </a:pPr>
            <a:r>
              <a:rPr lang="en-US" sz="2400" dirty="0"/>
              <a:t>There is a </a:t>
            </a:r>
            <a:r>
              <a:rPr lang="en-US" sz="2400" b="1" dirty="0"/>
              <a:t>shortage</a:t>
            </a:r>
            <a:r>
              <a:rPr lang="en-US" sz="2400" dirty="0"/>
              <a:t> of a good when the quantity demanded exceeds the quantity supplied. Shortages occur when the price is below its equilibrium level. </a:t>
            </a:r>
          </a:p>
        </p:txBody>
      </p:sp>
      <p:sp>
        <p:nvSpPr>
          <p:cNvPr id="585855" name="Rectangle 127"/>
          <p:cNvSpPr>
            <a:spLocks noGrp="1" noRot="1" noChangeArrowheads="1"/>
          </p:cNvSpPr>
          <p:nvPr>
            <p:ph type="title"/>
          </p:nvPr>
        </p:nvSpPr>
        <p:spPr>
          <a:xfrm>
            <a:off x="900113" y="60325"/>
            <a:ext cx="8250237" cy="555625"/>
          </a:xfrm>
        </p:spPr>
        <p:txBody>
          <a:bodyPr/>
          <a:lstStyle/>
          <a:p>
            <a:pPr>
              <a:defRPr/>
            </a:pPr>
            <a:r>
              <a:rPr lang="en-US" dirty="0"/>
              <a:t>Shortage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85737"/>
                                        </p:tgtEl>
                                        <p:attrNameLst>
                                          <p:attrName>style.visibility</p:attrName>
                                        </p:attrNameLst>
                                      </p:cBhvr>
                                      <p:to>
                                        <p:strVal val="visible"/>
                                      </p:to>
                                    </p:set>
                                    <p:animEffect transition="in" filter="wipe(up)">
                                      <p:cBhvr>
                                        <p:cTn id="7" dur="500"/>
                                        <p:tgtEl>
                                          <p:spTgt spid="5857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85835"/>
                                        </p:tgtEl>
                                        <p:attrNameLst>
                                          <p:attrName>style.visibility</p:attrName>
                                        </p:attrNameLst>
                                      </p:cBhvr>
                                      <p:to>
                                        <p:strVal val="visible"/>
                                      </p:to>
                                    </p:set>
                                    <p:animEffect transition="in" filter="wipe(up)">
                                      <p:cBhvr>
                                        <p:cTn id="12" dur="500"/>
                                        <p:tgtEl>
                                          <p:spTgt spid="585835"/>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58581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858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817" grpId="0" animBg="1"/>
      <p:bldP spid="585818" grpId="0"/>
      <p:bldP spid="585835" grpId="0" animBg="1"/>
      <p:bldP spid="585737"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1875" name="Rectangle 3"/>
          <p:cNvSpPr>
            <a:spLocks noGrp="1" noRot="1" noChangeArrowheads="1"/>
          </p:cNvSpPr>
          <p:nvPr>
            <p:ph type="title"/>
          </p:nvPr>
        </p:nvSpPr>
        <p:spPr>
          <a:xfrm>
            <a:off x="998538" y="60325"/>
            <a:ext cx="7894637" cy="555625"/>
          </a:xfrm>
        </p:spPr>
        <p:txBody>
          <a:bodyPr/>
          <a:lstStyle/>
          <a:p>
            <a:pPr>
              <a:defRPr/>
            </a:pPr>
            <a:r>
              <a:rPr lang="en-US" dirty="0"/>
              <a:t>Equilibrium and Shifts of the Demand Curve</a:t>
            </a:r>
          </a:p>
        </p:txBody>
      </p:sp>
      <p:cxnSp>
        <p:nvCxnSpPr>
          <p:cNvPr id="592037" name="Straight Connector 86"/>
          <p:cNvCxnSpPr>
            <a:cxnSpLocks noChangeShapeType="1"/>
          </p:cNvCxnSpPr>
          <p:nvPr/>
        </p:nvCxnSpPr>
        <p:spPr bwMode="auto">
          <a:xfrm>
            <a:off x="1781175" y="2628900"/>
            <a:ext cx="2860675" cy="12700"/>
          </a:xfrm>
          <a:prstGeom prst="line">
            <a:avLst/>
          </a:prstGeom>
          <a:noFill/>
          <a:ln w="22225">
            <a:solidFill>
              <a:srgbClr val="9C9C9C"/>
            </a:solidFill>
            <a:prstDash val="sysDot"/>
            <a:round/>
            <a:headEnd/>
            <a:tailEnd type="none" w="med" len="lg"/>
          </a:ln>
        </p:spPr>
      </p:cxnSp>
      <p:cxnSp>
        <p:nvCxnSpPr>
          <p:cNvPr id="592038" name="Straight Connector 86"/>
          <p:cNvCxnSpPr>
            <a:cxnSpLocks noChangeShapeType="1"/>
          </p:cNvCxnSpPr>
          <p:nvPr/>
        </p:nvCxnSpPr>
        <p:spPr bwMode="auto">
          <a:xfrm>
            <a:off x="4641850" y="2684463"/>
            <a:ext cx="0" cy="2614612"/>
          </a:xfrm>
          <a:prstGeom prst="line">
            <a:avLst/>
          </a:prstGeom>
          <a:noFill/>
          <a:ln w="22225">
            <a:solidFill>
              <a:srgbClr val="9C9C9C"/>
            </a:solidFill>
            <a:prstDash val="sysDot"/>
            <a:round/>
            <a:headEnd/>
            <a:tailEnd type="none" w="med" len="lg"/>
          </a:ln>
        </p:spPr>
      </p:cxnSp>
      <p:cxnSp>
        <p:nvCxnSpPr>
          <p:cNvPr id="592039" name="Straight Connector 86"/>
          <p:cNvCxnSpPr>
            <a:cxnSpLocks noChangeShapeType="1"/>
          </p:cNvCxnSpPr>
          <p:nvPr/>
        </p:nvCxnSpPr>
        <p:spPr bwMode="auto">
          <a:xfrm>
            <a:off x="1781175" y="3340100"/>
            <a:ext cx="1754188" cy="7938"/>
          </a:xfrm>
          <a:prstGeom prst="line">
            <a:avLst/>
          </a:prstGeom>
          <a:noFill/>
          <a:ln w="22225">
            <a:solidFill>
              <a:srgbClr val="9C9C9C"/>
            </a:solidFill>
            <a:prstDash val="sysDot"/>
            <a:round/>
            <a:headEnd/>
            <a:tailEnd type="none" w="med" len="lg"/>
          </a:ln>
        </p:spPr>
      </p:cxnSp>
      <p:cxnSp>
        <p:nvCxnSpPr>
          <p:cNvPr id="592040" name="Straight Connector 86"/>
          <p:cNvCxnSpPr>
            <a:cxnSpLocks noChangeShapeType="1"/>
          </p:cNvCxnSpPr>
          <p:nvPr/>
        </p:nvCxnSpPr>
        <p:spPr bwMode="auto">
          <a:xfrm>
            <a:off x="3535363" y="3359150"/>
            <a:ext cx="0" cy="1939925"/>
          </a:xfrm>
          <a:prstGeom prst="line">
            <a:avLst/>
          </a:prstGeom>
          <a:noFill/>
          <a:ln w="22225">
            <a:solidFill>
              <a:srgbClr val="9C9C9C"/>
            </a:solidFill>
            <a:prstDash val="sysDot"/>
            <a:round/>
            <a:headEnd/>
            <a:tailEnd type="none" w="med" len="lg"/>
          </a:ln>
        </p:spPr>
      </p:cxnSp>
      <p:sp>
        <p:nvSpPr>
          <p:cNvPr id="592041" name="Freeform 169"/>
          <p:cNvSpPr>
            <a:spLocks/>
          </p:cNvSpPr>
          <p:nvPr/>
        </p:nvSpPr>
        <p:spPr bwMode="auto">
          <a:xfrm>
            <a:off x="3500438" y="5859463"/>
            <a:ext cx="1171575" cy="646112"/>
          </a:xfrm>
          <a:custGeom>
            <a:avLst/>
            <a:gdLst>
              <a:gd name="T0" fmla="*/ 2147483647 w 214"/>
              <a:gd name="T1" fmla="*/ 2147483647 h 59"/>
              <a:gd name="T2" fmla="*/ 2147483647 w 214"/>
              <a:gd name="T3" fmla="*/ 2147483647 h 59"/>
              <a:gd name="T4" fmla="*/ 2147483647 w 214"/>
              <a:gd name="T5" fmla="*/ 2147483647 h 59"/>
              <a:gd name="T6" fmla="*/ 0 w 214"/>
              <a:gd name="T7" fmla="*/ 2147483647 h 59"/>
              <a:gd name="T8" fmla="*/ 0 w 214"/>
              <a:gd name="T9" fmla="*/ 2147483647 h 59"/>
              <a:gd name="T10" fmla="*/ 2147483647 w 214"/>
              <a:gd name="T11" fmla="*/ 0 h 59"/>
              <a:gd name="T12" fmla="*/ 2147483647 w 214"/>
              <a:gd name="T13" fmla="*/ 0 h 59"/>
              <a:gd name="T14" fmla="*/ 2147483647 w 214"/>
              <a:gd name="T15" fmla="*/ 2147483647 h 59"/>
              <a:gd name="T16" fmla="*/ 2147483647 w 214"/>
              <a:gd name="T17" fmla="*/ 2147483647 h 5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4"/>
              <a:gd name="T28" fmla="*/ 0 h 59"/>
              <a:gd name="T29" fmla="*/ 214 w 214"/>
              <a:gd name="T30" fmla="*/ 59 h 5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4" h="59">
                <a:moveTo>
                  <a:pt x="214" y="40"/>
                </a:moveTo>
                <a:cubicBezTo>
                  <a:pt x="214" y="51"/>
                  <a:pt x="206" y="59"/>
                  <a:pt x="196" y="59"/>
                </a:cubicBezTo>
                <a:cubicBezTo>
                  <a:pt x="17" y="59"/>
                  <a:pt x="17" y="59"/>
                  <a:pt x="17" y="59"/>
                </a:cubicBezTo>
                <a:cubicBezTo>
                  <a:pt x="7" y="59"/>
                  <a:pt x="0" y="51"/>
                  <a:pt x="0" y="40"/>
                </a:cubicBezTo>
                <a:cubicBezTo>
                  <a:pt x="0" y="20"/>
                  <a:pt x="0" y="20"/>
                  <a:pt x="0" y="20"/>
                </a:cubicBezTo>
                <a:cubicBezTo>
                  <a:pt x="0" y="9"/>
                  <a:pt x="7" y="0"/>
                  <a:pt x="17" y="0"/>
                </a:cubicBezTo>
                <a:cubicBezTo>
                  <a:pt x="196" y="0"/>
                  <a:pt x="196" y="0"/>
                  <a:pt x="196" y="0"/>
                </a:cubicBezTo>
                <a:cubicBezTo>
                  <a:pt x="206" y="0"/>
                  <a:pt x="214" y="9"/>
                  <a:pt x="214" y="20"/>
                </a:cubicBezTo>
                <a:lnTo>
                  <a:pt x="214" y="40"/>
                </a:lnTo>
                <a:close/>
              </a:path>
            </a:pathLst>
          </a:custGeom>
          <a:solidFill>
            <a:srgbClr val="D6E2E0"/>
          </a:solidFill>
          <a:ln w="9525">
            <a:noFill/>
            <a:round/>
            <a:headEnd/>
            <a:tailEnd/>
          </a:ln>
        </p:spPr>
        <p:txBody>
          <a:bodyPr/>
          <a:lstStyle/>
          <a:p>
            <a:endParaRPr lang="en-US"/>
          </a:p>
        </p:txBody>
      </p:sp>
      <p:sp>
        <p:nvSpPr>
          <p:cNvPr id="592042" name="Rectangle 170"/>
          <p:cNvSpPr>
            <a:spLocks noChangeArrowheads="1"/>
          </p:cNvSpPr>
          <p:nvPr/>
        </p:nvSpPr>
        <p:spPr bwMode="auto">
          <a:xfrm>
            <a:off x="4530725" y="5476875"/>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p>
        </p:txBody>
      </p:sp>
      <p:sp>
        <p:nvSpPr>
          <p:cNvPr id="592043" name="Rectangle 171"/>
          <p:cNvSpPr>
            <a:spLocks noChangeArrowheads="1"/>
          </p:cNvSpPr>
          <p:nvPr/>
        </p:nvSpPr>
        <p:spPr bwMode="auto">
          <a:xfrm>
            <a:off x="4694238" y="5568950"/>
            <a:ext cx="10001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2</a:t>
            </a:r>
            <a:endParaRPr lang="en-US" sz="1400" i="1"/>
          </a:p>
        </p:txBody>
      </p:sp>
      <p:sp>
        <p:nvSpPr>
          <p:cNvPr id="592044" name="Rectangle 172"/>
          <p:cNvSpPr>
            <a:spLocks noChangeArrowheads="1"/>
          </p:cNvSpPr>
          <p:nvPr/>
        </p:nvSpPr>
        <p:spPr bwMode="auto">
          <a:xfrm>
            <a:off x="3416300" y="5453063"/>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p>
        </p:txBody>
      </p:sp>
      <p:sp>
        <p:nvSpPr>
          <p:cNvPr id="592045" name="Rectangle 173"/>
          <p:cNvSpPr>
            <a:spLocks noChangeArrowheads="1"/>
          </p:cNvSpPr>
          <p:nvPr/>
        </p:nvSpPr>
        <p:spPr bwMode="auto">
          <a:xfrm>
            <a:off x="3598863" y="5568950"/>
            <a:ext cx="10001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1</a:t>
            </a:r>
            <a:endParaRPr lang="en-US" sz="1400" i="1"/>
          </a:p>
        </p:txBody>
      </p:sp>
      <p:sp>
        <p:nvSpPr>
          <p:cNvPr id="592046" name="Rectangle 174"/>
          <p:cNvSpPr>
            <a:spLocks noChangeArrowheads="1"/>
          </p:cNvSpPr>
          <p:nvPr/>
        </p:nvSpPr>
        <p:spPr bwMode="auto">
          <a:xfrm>
            <a:off x="1363663" y="24939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p>
        </p:txBody>
      </p:sp>
      <p:sp>
        <p:nvSpPr>
          <p:cNvPr id="592047" name="Rectangle 175"/>
          <p:cNvSpPr>
            <a:spLocks noChangeArrowheads="1"/>
          </p:cNvSpPr>
          <p:nvPr/>
        </p:nvSpPr>
        <p:spPr bwMode="auto">
          <a:xfrm>
            <a:off x="1506538" y="2609850"/>
            <a:ext cx="10001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2</a:t>
            </a:r>
            <a:endParaRPr lang="en-US" sz="1400" i="1"/>
          </a:p>
        </p:txBody>
      </p:sp>
      <p:sp>
        <p:nvSpPr>
          <p:cNvPr id="592048" name="Rectangle 176"/>
          <p:cNvSpPr>
            <a:spLocks noChangeArrowheads="1"/>
          </p:cNvSpPr>
          <p:nvPr/>
        </p:nvSpPr>
        <p:spPr bwMode="auto">
          <a:xfrm>
            <a:off x="1363663" y="32813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p>
        </p:txBody>
      </p:sp>
      <p:sp>
        <p:nvSpPr>
          <p:cNvPr id="592049" name="Rectangle 177"/>
          <p:cNvSpPr>
            <a:spLocks noChangeArrowheads="1"/>
          </p:cNvSpPr>
          <p:nvPr/>
        </p:nvSpPr>
        <p:spPr bwMode="auto">
          <a:xfrm>
            <a:off x="1506538" y="3395663"/>
            <a:ext cx="10001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1</a:t>
            </a:r>
            <a:endParaRPr lang="en-US" sz="1400" i="1"/>
          </a:p>
        </p:txBody>
      </p:sp>
      <p:sp>
        <p:nvSpPr>
          <p:cNvPr id="592050" name="Rectangle 178"/>
          <p:cNvSpPr>
            <a:spLocks noChangeArrowheads="1"/>
          </p:cNvSpPr>
          <p:nvPr/>
        </p:nvSpPr>
        <p:spPr bwMode="auto">
          <a:xfrm>
            <a:off x="6553200" y="380523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p>
        </p:txBody>
      </p:sp>
      <p:sp>
        <p:nvSpPr>
          <p:cNvPr id="592051" name="Rectangle 179"/>
          <p:cNvSpPr>
            <a:spLocks noChangeArrowheads="1"/>
          </p:cNvSpPr>
          <p:nvPr/>
        </p:nvSpPr>
        <p:spPr bwMode="auto">
          <a:xfrm>
            <a:off x="6659563" y="3933825"/>
            <a:ext cx="171450" cy="214313"/>
          </a:xfrm>
          <a:prstGeom prst="rect">
            <a:avLst/>
          </a:prstGeom>
          <a:noFill/>
          <a:ln w="9525">
            <a:noFill/>
            <a:miter lim="800000"/>
            <a:headEnd/>
            <a:tailEnd/>
          </a:ln>
        </p:spPr>
        <p:txBody>
          <a:bodyPr lIns="0" tIns="0" rIns="0" bIns="0">
            <a:spAutoFit/>
          </a:bodyPr>
          <a:lstStyle/>
          <a:p>
            <a:pPr marL="1588" indent="-1588"/>
            <a:r>
              <a:rPr lang="en-US" sz="1400" i="1">
                <a:solidFill>
                  <a:srgbClr val="000000"/>
                </a:solidFill>
                <a:latin typeface="Myriad Roman"/>
              </a:rPr>
              <a:t>2</a:t>
            </a:r>
            <a:endParaRPr lang="en-US" sz="1400" i="1"/>
          </a:p>
        </p:txBody>
      </p:sp>
      <p:sp>
        <p:nvSpPr>
          <p:cNvPr id="592052" name="Rectangle 180"/>
          <p:cNvSpPr>
            <a:spLocks noChangeArrowheads="1"/>
          </p:cNvSpPr>
          <p:nvPr/>
        </p:nvSpPr>
        <p:spPr bwMode="auto">
          <a:xfrm>
            <a:off x="6051550" y="1579563"/>
            <a:ext cx="5429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Supply</a:t>
            </a:r>
            <a:endParaRPr lang="en-US" sz="1400"/>
          </a:p>
        </p:txBody>
      </p:sp>
      <p:sp>
        <p:nvSpPr>
          <p:cNvPr id="592053" name="Rectangle 181"/>
          <p:cNvSpPr>
            <a:spLocks noChangeArrowheads="1"/>
          </p:cNvSpPr>
          <p:nvPr/>
        </p:nvSpPr>
        <p:spPr bwMode="auto">
          <a:xfrm>
            <a:off x="5456238" y="4505325"/>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p>
        </p:txBody>
      </p:sp>
      <p:sp>
        <p:nvSpPr>
          <p:cNvPr id="592054" name="Rectangle 182"/>
          <p:cNvSpPr>
            <a:spLocks noChangeArrowheads="1"/>
          </p:cNvSpPr>
          <p:nvPr/>
        </p:nvSpPr>
        <p:spPr bwMode="auto">
          <a:xfrm>
            <a:off x="5580063" y="4581525"/>
            <a:ext cx="100012"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1</a:t>
            </a:r>
            <a:endParaRPr lang="en-US" sz="1400" i="1"/>
          </a:p>
        </p:txBody>
      </p:sp>
      <p:sp>
        <p:nvSpPr>
          <p:cNvPr id="592055" name="Rectangle 183"/>
          <p:cNvSpPr>
            <a:spLocks noChangeArrowheads="1"/>
          </p:cNvSpPr>
          <p:nvPr/>
        </p:nvSpPr>
        <p:spPr bwMode="auto">
          <a:xfrm>
            <a:off x="4546600" y="22193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p>
        </p:txBody>
      </p:sp>
      <p:sp>
        <p:nvSpPr>
          <p:cNvPr id="592056" name="Rectangle 184"/>
          <p:cNvSpPr>
            <a:spLocks noChangeArrowheads="1"/>
          </p:cNvSpPr>
          <p:nvPr/>
        </p:nvSpPr>
        <p:spPr bwMode="auto">
          <a:xfrm>
            <a:off x="4676775" y="2336800"/>
            <a:ext cx="10001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2</a:t>
            </a:r>
            <a:endParaRPr lang="en-US" sz="1400" i="1"/>
          </a:p>
        </p:txBody>
      </p:sp>
      <p:sp>
        <p:nvSpPr>
          <p:cNvPr id="592057" name="Rectangle 185"/>
          <p:cNvSpPr>
            <a:spLocks noChangeArrowheads="1"/>
          </p:cNvSpPr>
          <p:nvPr/>
        </p:nvSpPr>
        <p:spPr bwMode="auto">
          <a:xfrm>
            <a:off x="3443288" y="29146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p>
        </p:txBody>
      </p:sp>
      <p:sp>
        <p:nvSpPr>
          <p:cNvPr id="592058" name="Rectangle 186"/>
          <p:cNvSpPr>
            <a:spLocks noChangeArrowheads="1"/>
          </p:cNvSpPr>
          <p:nvPr/>
        </p:nvSpPr>
        <p:spPr bwMode="auto">
          <a:xfrm>
            <a:off x="3571875" y="3030538"/>
            <a:ext cx="10001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1</a:t>
            </a:r>
            <a:endParaRPr lang="en-US" sz="1400" i="1"/>
          </a:p>
        </p:txBody>
      </p:sp>
      <p:sp>
        <p:nvSpPr>
          <p:cNvPr id="592059" name="Line 187"/>
          <p:cNvSpPr>
            <a:spLocks noChangeShapeType="1"/>
          </p:cNvSpPr>
          <p:nvPr/>
        </p:nvSpPr>
        <p:spPr bwMode="auto">
          <a:xfrm>
            <a:off x="2181225" y="2336800"/>
            <a:ext cx="1684338" cy="0"/>
          </a:xfrm>
          <a:prstGeom prst="line">
            <a:avLst/>
          </a:prstGeom>
          <a:noFill/>
          <a:ln w="42863">
            <a:solidFill>
              <a:srgbClr val="000000"/>
            </a:solidFill>
            <a:miter lim="800000"/>
            <a:headEnd/>
            <a:tailEnd/>
          </a:ln>
        </p:spPr>
        <p:txBody>
          <a:bodyPr/>
          <a:lstStyle/>
          <a:p>
            <a:endParaRPr lang="en-US"/>
          </a:p>
        </p:txBody>
      </p:sp>
      <p:sp>
        <p:nvSpPr>
          <p:cNvPr id="592060" name="Freeform 188"/>
          <p:cNvSpPr>
            <a:spLocks/>
          </p:cNvSpPr>
          <p:nvPr/>
        </p:nvSpPr>
        <p:spPr bwMode="auto">
          <a:xfrm>
            <a:off x="3813175" y="2282825"/>
            <a:ext cx="198438" cy="109538"/>
          </a:xfrm>
          <a:custGeom>
            <a:avLst/>
            <a:gdLst>
              <a:gd name="T0" fmla="*/ 2147483647 w 30"/>
              <a:gd name="T1" fmla="*/ 2147483647 h 18"/>
              <a:gd name="T2" fmla="*/ 0 w 30"/>
              <a:gd name="T3" fmla="*/ 2147483647 h 18"/>
              <a:gd name="T4" fmla="*/ 2147483647 w 30"/>
              <a:gd name="T5" fmla="*/ 0 h 18"/>
              <a:gd name="T6" fmla="*/ 2147483647 w 30"/>
              <a:gd name="T7" fmla="*/ 2147483647 h 18"/>
              <a:gd name="T8" fmla="*/ 2147483647 w 30"/>
              <a:gd name="T9" fmla="*/ 2147483647 h 18"/>
              <a:gd name="T10" fmla="*/ 2147483647 w 30"/>
              <a:gd name="T11" fmla="*/ 2147483647 h 18"/>
              <a:gd name="T12" fmla="*/ 2147483647 w 30"/>
              <a:gd name="T13" fmla="*/ 2147483647 h 18"/>
              <a:gd name="T14" fmla="*/ 0 w 30"/>
              <a:gd name="T15" fmla="*/ 2147483647 h 18"/>
              <a:gd name="T16" fmla="*/ 2147483647 w 30"/>
              <a:gd name="T17" fmla="*/ 2147483647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18"/>
              <a:gd name="T29" fmla="*/ 30 w 30"/>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18">
                <a:moveTo>
                  <a:pt x="6" y="9"/>
                </a:moveTo>
                <a:cubicBezTo>
                  <a:pt x="0" y="1"/>
                  <a:pt x="0" y="1"/>
                  <a:pt x="0" y="1"/>
                </a:cubicBezTo>
                <a:cubicBezTo>
                  <a:pt x="1" y="0"/>
                  <a:pt x="1" y="0"/>
                  <a:pt x="1" y="0"/>
                </a:cubicBezTo>
                <a:cubicBezTo>
                  <a:pt x="15" y="6"/>
                  <a:pt x="15" y="6"/>
                  <a:pt x="15" y="6"/>
                </a:cubicBezTo>
                <a:cubicBezTo>
                  <a:pt x="20" y="7"/>
                  <a:pt x="25" y="8"/>
                  <a:pt x="30" y="9"/>
                </a:cubicBezTo>
                <a:cubicBezTo>
                  <a:pt x="25" y="10"/>
                  <a:pt x="20" y="11"/>
                  <a:pt x="15" y="12"/>
                </a:cubicBezTo>
                <a:cubicBezTo>
                  <a:pt x="1" y="18"/>
                  <a:pt x="1" y="18"/>
                  <a:pt x="1" y="18"/>
                </a:cubicBezTo>
                <a:cubicBezTo>
                  <a:pt x="0" y="18"/>
                  <a:pt x="0" y="18"/>
                  <a:pt x="0" y="18"/>
                </a:cubicBezTo>
                <a:lnTo>
                  <a:pt x="6" y="9"/>
                </a:lnTo>
                <a:close/>
              </a:path>
            </a:pathLst>
          </a:custGeom>
          <a:solidFill>
            <a:srgbClr val="000000"/>
          </a:solidFill>
          <a:ln w="9525">
            <a:noFill/>
            <a:round/>
            <a:headEnd/>
            <a:tailEnd/>
          </a:ln>
        </p:spPr>
        <p:txBody>
          <a:bodyPr/>
          <a:lstStyle/>
          <a:p>
            <a:endParaRPr lang="en-US"/>
          </a:p>
        </p:txBody>
      </p:sp>
      <p:sp>
        <p:nvSpPr>
          <p:cNvPr id="592061" name="Freeform 189"/>
          <p:cNvSpPr>
            <a:spLocks/>
          </p:cNvSpPr>
          <p:nvPr/>
        </p:nvSpPr>
        <p:spPr bwMode="auto">
          <a:xfrm>
            <a:off x="1704975" y="1016000"/>
            <a:ext cx="6430963" cy="4411663"/>
          </a:xfrm>
          <a:custGeom>
            <a:avLst/>
            <a:gdLst>
              <a:gd name="T0" fmla="*/ 2147483647 w 3345"/>
              <a:gd name="T1" fmla="*/ 2147483647 h 2511"/>
              <a:gd name="T2" fmla="*/ 0 w 3345"/>
              <a:gd name="T3" fmla="*/ 2147483647 h 2511"/>
              <a:gd name="T4" fmla="*/ 0 w 3345"/>
              <a:gd name="T5" fmla="*/ 0 h 2511"/>
              <a:gd name="T6" fmla="*/ 0 60000 65536"/>
              <a:gd name="T7" fmla="*/ 0 60000 65536"/>
              <a:gd name="T8" fmla="*/ 0 60000 65536"/>
              <a:gd name="T9" fmla="*/ 0 w 3345"/>
              <a:gd name="T10" fmla="*/ 0 h 2511"/>
              <a:gd name="T11" fmla="*/ 3345 w 3345"/>
              <a:gd name="T12" fmla="*/ 2511 h 2511"/>
            </a:gdLst>
            <a:ahLst/>
            <a:cxnLst>
              <a:cxn ang="T6">
                <a:pos x="T0" y="T1"/>
              </a:cxn>
              <a:cxn ang="T7">
                <a:pos x="T2" y="T3"/>
              </a:cxn>
              <a:cxn ang="T8">
                <a:pos x="T4" y="T5"/>
              </a:cxn>
            </a:cxnLst>
            <a:rect l="T9" t="T10" r="T11" b="T12"/>
            <a:pathLst>
              <a:path w="3345" h="2511">
                <a:moveTo>
                  <a:pt x="3345" y="2511"/>
                </a:moveTo>
                <a:lnTo>
                  <a:pt x="0" y="2511"/>
                </a:lnTo>
                <a:lnTo>
                  <a:pt x="0" y="0"/>
                </a:lnTo>
              </a:path>
            </a:pathLst>
          </a:custGeom>
          <a:noFill/>
          <a:ln w="11113" cap="flat">
            <a:solidFill>
              <a:srgbClr val="000000"/>
            </a:solidFill>
            <a:prstDash val="solid"/>
            <a:miter lim="800000"/>
            <a:headEnd/>
            <a:tailEnd/>
          </a:ln>
        </p:spPr>
        <p:txBody>
          <a:bodyPr/>
          <a:lstStyle/>
          <a:p>
            <a:endParaRPr lang="en-US"/>
          </a:p>
        </p:txBody>
      </p:sp>
      <p:sp>
        <p:nvSpPr>
          <p:cNvPr id="592062" name="Line 190"/>
          <p:cNvSpPr>
            <a:spLocks noChangeShapeType="1"/>
          </p:cNvSpPr>
          <p:nvPr/>
        </p:nvSpPr>
        <p:spPr bwMode="auto">
          <a:xfrm flipV="1">
            <a:off x="2241550" y="1809750"/>
            <a:ext cx="3733800" cy="2357438"/>
          </a:xfrm>
          <a:prstGeom prst="line">
            <a:avLst/>
          </a:prstGeom>
          <a:noFill/>
          <a:ln w="42863">
            <a:solidFill>
              <a:srgbClr val="EE313C"/>
            </a:solidFill>
            <a:miter lim="800000"/>
            <a:headEnd/>
            <a:tailEnd/>
          </a:ln>
        </p:spPr>
        <p:txBody>
          <a:bodyPr/>
          <a:lstStyle/>
          <a:p>
            <a:endParaRPr lang="en-US"/>
          </a:p>
        </p:txBody>
      </p:sp>
      <p:sp>
        <p:nvSpPr>
          <p:cNvPr id="592063" name="Line 191"/>
          <p:cNvSpPr>
            <a:spLocks noChangeShapeType="1"/>
          </p:cNvSpPr>
          <p:nvPr/>
        </p:nvSpPr>
        <p:spPr bwMode="auto">
          <a:xfrm flipH="1" flipV="1">
            <a:off x="2792413" y="1458913"/>
            <a:ext cx="3732212" cy="2357437"/>
          </a:xfrm>
          <a:prstGeom prst="line">
            <a:avLst/>
          </a:prstGeom>
          <a:noFill/>
          <a:ln w="42863">
            <a:solidFill>
              <a:srgbClr val="3C5DAA"/>
            </a:solidFill>
            <a:miter lim="800000"/>
            <a:headEnd/>
            <a:tailEnd/>
          </a:ln>
        </p:spPr>
        <p:txBody>
          <a:bodyPr/>
          <a:lstStyle/>
          <a:p>
            <a:endParaRPr lang="en-US"/>
          </a:p>
        </p:txBody>
      </p:sp>
      <p:sp>
        <p:nvSpPr>
          <p:cNvPr id="592064" name="Line 192"/>
          <p:cNvSpPr>
            <a:spLocks noChangeShapeType="1"/>
          </p:cNvSpPr>
          <p:nvPr/>
        </p:nvSpPr>
        <p:spPr bwMode="auto">
          <a:xfrm flipH="1" flipV="1">
            <a:off x="1928813" y="2312988"/>
            <a:ext cx="3487737" cy="2198687"/>
          </a:xfrm>
          <a:prstGeom prst="line">
            <a:avLst/>
          </a:prstGeom>
          <a:noFill/>
          <a:ln w="42863">
            <a:solidFill>
              <a:srgbClr val="AEC5E7"/>
            </a:solidFill>
            <a:miter lim="800000"/>
            <a:headEnd/>
            <a:tailEnd/>
          </a:ln>
        </p:spPr>
        <p:txBody>
          <a:bodyPr/>
          <a:lstStyle/>
          <a:p>
            <a:endParaRPr lang="en-US"/>
          </a:p>
        </p:txBody>
      </p:sp>
      <p:sp>
        <p:nvSpPr>
          <p:cNvPr id="592065" name="Oval 193"/>
          <p:cNvSpPr>
            <a:spLocks noChangeArrowheads="1"/>
          </p:cNvSpPr>
          <p:nvPr/>
        </p:nvSpPr>
        <p:spPr bwMode="auto">
          <a:xfrm>
            <a:off x="3489325" y="3276600"/>
            <a:ext cx="131763" cy="122238"/>
          </a:xfrm>
          <a:prstGeom prst="ellipse">
            <a:avLst/>
          </a:prstGeom>
          <a:solidFill>
            <a:srgbClr val="000000"/>
          </a:solidFill>
          <a:ln w="9525">
            <a:noFill/>
            <a:round/>
            <a:headEnd/>
            <a:tailEnd/>
          </a:ln>
        </p:spPr>
        <p:txBody>
          <a:bodyPr/>
          <a:lstStyle/>
          <a:p>
            <a:endParaRPr lang="en-US"/>
          </a:p>
        </p:txBody>
      </p:sp>
      <p:sp>
        <p:nvSpPr>
          <p:cNvPr id="592066" name="Oval 194"/>
          <p:cNvSpPr>
            <a:spLocks noChangeArrowheads="1"/>
          </p:cNvSpPr>
          <p:nvPr/>
        </p:nvSpPr>
        <p:spPr bwMode="auto">
          <a:xfrm>
            <a:off x="4595813" y="2579688"/>
            <a:ext cx="133350" cy="120650"/>
          </a:xfrm>
          <a:prstGeom prst="ellipse">
            <a:avLst/>
          </a:prstGeom>
          <a:solidFill>
            <a:srgbClr val="000000"/>
          </a:solidFill>
          <a:ln w="9525">
            <a:noFill/>
            <a:round/>
            <a:headEnd/>
            <a:tailEnd/>
          </a:ln>
        </p:spPr>
        <p:txBody>
          <a:bodyPr/>
          <a:lstStyle/>
          <a:p>
            <a:endParaRPr lang="en-US"/>
          </a:p>
        </p:txBody>
      </p:sp>
      <p:sp>
        <p:nvSpPr>
          <p:cNvPr id="592067" name="Line 195"/>
          <p:cNvSpPr>
            <a:spLocks noChangeShapeType="1"/>
          </p:cNvSpPr>
          <p:nvPr/>
        </p:nvSpPr>
        <p:spPr bwMode="auto">
          <a:xfrm flipV="1">
            <a:off x="3805238" y="2943225"/>
            <a:ext cx="682625" cy="430213"/>
          </a:xfrm>
          <a:prstGeom prst="line">
            <a:avLst/>
          </a:prstGeom>
          <a:noFill/>
          <a:ln w="42863">
            <a:solidFill>
              <a:srgbClr val="000000"/>
            </a:solidFill>
            <a:miter lim="800000"/>
            <a:headEnd/>
            <a:tailEnd/>
          </a:ln>
        </p:spPr>
        <p:txBody>
          <a:bodyPr/>
          <a:lstStyle/>
          <a:p>
            <a:endParaRPr lang="en-US"/>
          </a:p>
        </p:txBody>
      </p:sp>
      <p:sp>
        <p:nvSpPr>
          <p:cNvPr id="592068" name="Freeform 196"/>
          <p:cNvSpPr>
            <a:spLocks/>
          </p:cNvSpPr>
          <p:nvPr/>
        </p:nvSpPr>
        <p:spPr bwMode="auto">
          <a:xfrm>
            <a:off x="4414838" y="2871788"/>
            <a:ext cx="187325" cy="138112"/>
          </a:xfrm>
          <a:custGeom>
            <a:avLst/>
            <a:gdLst>
              <a:gd name="T0" fmla="*/ 2147483647 w 28"/>
              <a:gd name="T1" fmla="*/ 2147483647 h 23"/>
              <a:gd name="T2" fmla="*/ 0 w 28"/>
              <a:gd name="T3" fmla="*/ 2147483647 h 23"/>
              <a:gd name="T4" fmla="*/ 0 w 28"/>
              <a:gd name="T5" fmla="*/ 2147483647 h 23"/>
              <a:gd name="T6" fmla="*/ 2147483647 w 28"/>
              <a:gd name="T7" fmla="*/ 2147483647 h 23"/>
              <a:gd name="T8" fmla="*/ 2147483647 w 28"/>
              <a:gd name="T9" fmla="*/ 0 h 23"/>
              <a:gd name="T10" fmla="*/ 2147483647 w 28"/>
              <a:gd name="T11" fmla="*/ 2147483647 h 23"/>
              <a:gd name="T12" fmla="*/ 2147483647 w 28"/>
              <a:gd name="T13" fmla="*/ 2147483647 h 23"/>
              <a:gd name="T14" fmla="*/ 2147483647 w 28"/>
              <a:gd name="T15" fmla="*/ 2147483647 h 23"/>
              <a:gd name="T16" fmla="*/ 2147483647 w 28"/>
              <a:gd name="T17" fmla="*/ 2147483647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23"/>
              <a:gd name="T29" fmla="*/ 28 w 28"/>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23">
                <a:moveTo>
                  <a:pt x="9" y="13"/>
                </a:moveTo>
                <a:cubicBezTo>
                  <a:pt x="0" y="9"/>
                  <a:pt x="0" y="9"/>
                  <a:pt x="0" y="9"/>
                </a:cubicBezTo>
                <a:cubicBezTo>
                  <a:pt x="0" y="9"/>
                  <a:pt x="0" y="9"/>
                  <a:pt x="0" y="9"/>
                </a:cubicBezTo>
                <a:cubicBezTo>
                  <a:pt x="15" y="5"/>
                  <a:pt x="15" y="5"/>
                  <a:pt x="15" y="5"/>
                </a:cubicBezTo>
                <a:cubicBezTo>
                  <a:pt x="19" y="4"/>
                  <a:pt x="24" y="2"/>
                  <a:pt x="28" y="0"/>
                </a:cubicBezTo>
                <a:cubicBezTo>
                  <a:pt x="25" y="3"/>
                  <a:pt x="22" y="7"/>
                  <a:pt x="18" y="11"/>
                </a:cubicBezTo>
                <a:cubicBezTo>
                  <a:pt x="10" y="23"/>
                  <a:pt x="10" y="23"/>
                  <a:pt x="10" y="23"/>
                </a:cubicBezTo>
                <a:cubicBezTo>
                  <a:pt x="9" y="23"/>
                  <a:pt x="9" y="23"/>
                  <a:pt x="9" y="23"/>
                </a:cubicBezTo>
                <a:lnTo>
                  <a:pt x="9" y="13"/>
                </a:lnTo>
                <a:close/>
              </a:path>
            </a:pathLst>
          </a:custGeom>
          <a:solidFill>
            <a:srgbClr val="000000"/>
          </a:solidFill>
          <a:ln w="9525">
            <a:noFill/>
            <a:round/>
            <a:headEnd/>
            <a:tailEnd/>
          </a:ln>
        </p:spPr>
        <p:txBody>
          <a:bodyPr/>
          <a:lstStyle/>
          <a:p>
            <a:endParaRPr lang="en-US"/>
          </a:p>
        </p:txBody>
      </p:sp>
      <p:sp>
        <p:nvSpPr>
          <p:cNvPr id="592069" name="Line 197"/>
          <p:cNvSpPr>
            <a:spLocks noChangeShapeType="1"/>
          </p:cNvSpPr>
          <p:nvPr/>
        </p:nvSpPr>
        <p:spPr bwMode="auto">
          <a:xfrm flipV="1">
            <a:off x="4468813" y="2725738"/>
            <a:ext cx="1546225" cy="357187"/>
          </a:xfrm>
          <a:prstGeom prst="line">
            <a:avLst/>
          </a:prstGeom>
          <a:noFill/>
          <a:ln w="11113">
            <a:solidFill>
              <a:srgbClr val="000000"/>
            </a:solidFill>
            <a:miter lim="800000"/>
            <a:headEnd/>
            <a:tailEnd/>
          </a:ln>
        </p:spPr>
        <p:txBody>
          <a:bodyPr/>
          <a:lstStyle/>
          <a:p>
            <a:endParaRPr lang="en-US"/>
          </a:p>
        </p:txBody>
      </p:sp>
      <p:sp>
        <p:nvSpPr>
          <p:cNvPr id="592070" name="Freeform 198"/>
          <p:cNvSpPr>
            <a:spLocks/>
          </p:cNvSpPr>
          <p:nvPr/>
        </p:nvSpPr>
        <p:spPr bwMode="auto">
          <a:xfrm>
            <a:off x="5948363" y="1876425"/>
            <a:ext cx="2855912" cy="1492250"/>
          </a:xfrm>
          <a:custGeom>
            <a:avLst/>
            <a:gdLst>
              <a:gd name="T0" fmla="*/ 2147483647 w 313"/>
              <a:gd name="T1" fmla="*/ 2147483647 h 246"/>
              <a:gd name="T2" fmla="*/ 2147483647 w 313"/>
              <a:gd name="T3" fmla="*/ 2147483647 h 246"/>
              <a:gd name="T4" fmla="*/ 2147483647 w 313"/>
              <a:gd name="T5" fmla="*/ 2147483647 h 246"/>
              <a:gd name="T6" fmla="*/ 0 w 313"/>
              <a:gd name="T7" fmla="*/ 2147483647 h 246"/>
              <a:gd name="T8" fmla="*/ 0 w 313"/>
              <a:gd name="T9" fmla="*/ 2147483647 h 246"/>
              <a:gd name="T10" fmla="*/ 2147483647 w 313"/>
              <a:gd name="T11" fmla="*/ 0 h 246"/>
              <a:gd name="T12" fmla="*/ 2147483647 w 313"/>
              <a:gd name="T13" fmla="*/ 0 h 246"/>
              <a:gd name="T14" fmla="*/ 2147483647 w 313"/>
              <a:gd name="T15" fmla="*/ 2147483647 h 246"/>
              <a:gd name="T16" fmla="*/ 2147483647 w 313"/>
              <a:gd name="T17" fmla="*/ 2147483647 h 2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3"/>
              <a:gd name="T28" fmla="*/ 0 h 246"/>
              <a:gd name="T29" fmla="*/ 313 w 313"/>
              <a:gd name="T30" fmla="*/ 246 h 24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3" h="246">
                <a:moveTo>
                  <a:pt x="313" y="227"/>
                </a:moveTo>
                <a:cubicBezTo>
                  <a:pt x="313" y="238"/>
                  <a:pt x="305" y="246"/>
                  <a:pt x="295" y="246"/>
                </a:cubicBezTo>
                <a:cubicBezTo>
                  <a:pt x="17" y="246"/>
                  <a:pt x="17" y="246"/>
                  <a:pt x="17" y="246"/>
                </a:cubicBezTo>
                <a:cubicBezTo>
                  <a:pt x="7" y="246"/>
                  <a:pt x="0" y="238"/>
                  <a:pt x="0" y="227"/>
                </a:cubicBezTo>
                <a:cubicBezTo>
                  <a:pt x="0" y="20"/>
                  <a:pt x="0" y="20"/>
                  <a:pt x="0" y="20"/>
                </a:cubicBezTo>
                <a:cubicBezTo>
                  <a:pt x="0" y="9"/>
                  <a:pt x="7" y="0"/>
                  <a:pt x="17" y="0"/>
                </a:cubicBezTo>
                <a:cubicBezTo>
                  <a:pt x="295" y="0"/>
                  <a:pt x="295" y="0"/>
                  <a:pt x="295" y="0"/>
                </a:cubicBezTo>
                <a:cubicBezTo>
                  <a:pt x="305" y="0"/>
                  <a:pt x="313" y="9"/>
                  <a:pt x="313" y="20"/>
                </a:cubicBezTo>
                <a:lnTo>
                  <a:pt x="313" y="227"/>
                </a:lnTo>
                <a:close/>
              </a:path>
            </a:pathLst>
          </a:custGeom>
          <a:solidFill>
            <a:srgbClr val="D6E2E0"/>
          </a:solidFill>
          <a:ln w="9525">
            <a:noFill/>
            <a:round/>
            <a:headEnd/>
            <a:tailEnd/>
          </a:ln>
        </p:spPr>
        <p:txBody>
          <a:bodyPr/>
          <a:lstStyle/>
          <a:p>
            <a:endParaRPr lang="en-US"/>
          </a:p>
        </p:txBody>
      </p:sp>
      <p:sp>
        <p:nvSpPr>
          <p:cNvPr id="592071" name="Freeform 199"/>
          <p:cNvSpPr>
            <a:spLocks/>
          </p:cNvSpPr>
          <p:nvPr/>
        </p:nvSpPr>
        <p:spPr bwMode="auto">
          <a:xfrm>
            <a:off x="838200" y="2681288"/>
            <a:ext cx="608013" cy="598487"/>
          </a:xfrm>
          <a:custGeom>
            <a:avLst/>
            <a:gdLst>
              <a:gd name="T0" fmla="*/ 2147483647 w 95"/>
              <a:gd name="T1" fmla="*/ 2147483647 h 99"/>
              <a:gd name="T2" fmla="*/ 2147483647 w 95"/>
              <a:gd name="T3" fmla="*/ 2147483647 h 99"/>
              <a:gd name="T4" fmla="*/ 2147483647 w 95"/>
              <a:gd name="T5" fmla="*/ 2147483647 h 99"/>
              <a:gd name="T6" fmla="*/ 0 w 95"/>
              <a:gd name="T7" fmla="*/ 2147483647 h 99"/>
              <a:gd name="T8" fmla="*/ 0 w 95"/>
              <a:gd name="T9" fmla="*/ 2147483647 h 99"/>
              <a:gd name="T10" fmla="*/ 2147483647 w 95"/>
              <a:gd name="T11" fmla="*/ 0 h 99"/>
              <a:gd name="T12" fmla="*/ 2147483647 w 95"/>
              <a:gd name="T13" fmla="*/ 0 h 99"/>
              <a:gd name="T14" fmla="*/ 2147483647 w 95"/>
              <a:gd name="T15" fmla="*/ 2147483647 h 99"/>
              <a:gd name="T16" fmla="*/ 2147483647 w 95"/>
              <a:gd name="T17" fmla="*/ 2147483647 h 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5"/>
              <a:gd name="T28" fmla="*/ 0 h 99"/>
              <a:gd name="T29" fmla="*/ 95 w 95"/>
              <a:gd name="T30" fmla="*/ 99 h 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5" h="99">
                <a:moveTo>
                  <a:pt x="95" y="80"/>
                </a:moveTo>
                <a:cubicBezTo>
                  <a:pt x="95" y="90"/>
                  <a:pt x="87" y="99"/>
                  <a:pt x="77" y="99"/>
                </a:cubicBezTo>
                <a:cubicBezTo>
                  <a:pt x="17" y="99"/>
                  <a:pt x="17" y="99"/>
                  <a:pt x="17" y="99"/>
                </a:cubicBezTo>
                <a:cubicBezTo>
                  <a:pt x="8" y="99"/>
                  <a:pt x="0" y="90"/>
                  <a:pt x="0" y="80"/>
                </a:cubicBezTo>
                <a:cubicBezTo>
                  <a:pt x="0" y="20"/>
                  <a:pt x="0" y="20"/>
                  <a:pt x="0" y="20"/>
                </a:cubicBezTo>
                <a:cubicBezTo>
                  <a:pt x="0" y="9"/>
                  <a:pt x="8" y="0"/>
                  <a:pt x="17" y="0"/>
                </a:cubicBezTo>
                <a:cubicBezTo>
                  <a:pt x="77" y="0"/>
                  <a:pt x="77" y="0"/>
                  <a:pt x="77" y="0"/>
                </a:cubicBezTo>
                <a:cubicBezTo>
                  <a:pt x="87" y="0"/>
                  <a:pt x="95" y="9"/>
                  <a:pt x="95" y="20"/>
                </a:cubicBezTo>
                <a:lnTo>
                  <a:pt x="95" y="80"/>
                </a:lnTo>
                <a:close/>
              </a:path>
            </a:pathLst>
          </a:custGeom>
          <a:solidFill>
            <a:srgbClr val="D6E2E0"/>
          </a:solidFill>
          <a:ln w="9525">
            <a:noFill/>
            <a:round/>
            <a:headEnd/>
            <a:tailEnd/>
          </a:ln>
        </p:spPr>
        <p:txBody>
          <a:bodyPr/>
          <a:lstStyle/>
          <a:p>
            <a:endParaRPr lang="en-US"/>
          </a:p>
        </p:txBody>
      </p:sp>
      <p:sp>
        <p:nvSpPr>
          <p:cNvPr id="592072" name="Freeform 200"/>
          <p:cNvSpPr>
            <a:spLocks/>
          </p:cNvSpPr>
          <p:nvPr/>
        </p:nvSpPr>
        <p:spPr bwMode="auto">
          <a:xfrm>
            <a:off x="4144963" y="3035300"/>
            <a:ext cx="192087" cy="144463"/>
          </a:xfrm>
          <a:custGeom>
            <a:avLst/>
            <a:gdLst>
              <a:gd name="T0" fmla="*/ 2147483647 w 29"/>
              <a:gd name="T1" fmla="*/ 2147483647 h 24"/>
              <a:gd name="T2" fmla="*/ 0 w 29"/>
              <a:gd name="T3" fmla="*/ 2147483647 h 24"/>
              <a:gd name="T4" fmla="*/ 0 w 29"/>
              <a:gd name="T5" fmla="*/ 2147483647 h 24"/>
              <a:gd name="T6" fmla="*/ 2147483647 w 29"/>
              <a:gd name="T7" fmla="*/ 2147483647 h 24"/>
              <a:gd name="T8" fmla="*/ 2147483647 w 29"/>
              <a:gd name="T9" fmla="*/ 0 h 24"/>
              <a:gd name="T10" fmla="*/ 2147483647 w 29"/>
              <a:gd name="T11" fmla="*/ 2147483647 h 24"/>
              <a:gd name="T12" fmla="*/ 2147483647 w 29"/>
              <a:gd name="T13" fmla="*/ 2147483647 h 24"/>
              <a:gd name="T14" fmla="*/ 2147483647 w 29"/>
              <a:gd name="T15" fmla="*/ 2147483647 h 24"/>
              <a:gd name="T16" fmla="*/ 2147483647 w 29"/>
              <a:gd name="T17" fmla="*/ 2147483647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
              <a:gd name="T28" fmla="*/ 0 h 24"/>
              <a:gd name="T29" fmla="*/ 29 w 29"/>
              <a:gd name="T30" fmla="*/ 24 h 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 h="24">
                <a:moveTo>
                  <a:pt x="10" y="14"/>
                </a:moveTo>
                <a:cubicBezTo>
                  <a:pt x="0" y="10"/>
                  <a:pt x="0" y="10"/>
                  <a:pt x="0" y="10"/>
                </a:cubicBezTo>
                <a:cubicBezTo>
                  <a:pt x="0" y="10"/>
                  <a:pt x="0" y="10"/>
                  <a:pt x="0" y="10"/>
                </a:cubicBezTo>
                <a:cubicBezTo>
                  <a:pt x="15" y="6"/>
                  <a:pt x="15" y="6"/>
                  <a:pt x="15" y="6"/>
                </a:cubicBezTo>
                <a:cubicBezTo>
                  <a:pt x="20" y="4"/>
                  <a:pt x="25" y="2"/>
                  <a:pt x="29" y="0"/>
                </a:cubicBezTo>
                <a:cubicBezTo>
                  <a:pt x="26" y="4"/>
                  <a:pt x="22" y="8"/>
                  <a:pt x="19" y="11"/>
                </a:cubicBezTo>
                <a:cubicBezTo>
                  <a:pt x="11" y="24"/>
                  <a:pt x="11" y="24"/>
                  <a:pt x="11" y="24"/>
                </a:cubicBezTo>
                <a:cubicBezTo>
                  <a:pt x="10" y="24"/>
                  <a:pt x="10" y="24"/>
                  <a:pt x="10" y="24"/>
                </a:cubicBezTo>
                <a:lnTo>
                  <a:pt x="10" y="14"/>
                </a:lnTo>
                <a:close/>
              </a:path>
            </a:pathLst>
          </a:custGeom>
          <a:solidFill>
            <a:srgbClr val="000000"/>
          </a:solidFill>
          <a:ln w="9525">
            <a:noFill/>
            <a:round/>
            <a:headEnd/>
            <a:tailEnd/>
          </a:ln>
        </p:spPr>
        <p:txBody>
          <a:bodyPr/>
          <a:lstStyle/>
          <a:p>
            <a:endParaRPr lang="en-US"/>
          </a:p>
        </p:txBody>
      </p:sp>
      <p:sp>
        <p:nvSpPr>
          <p:cNvPr id="592073" name="Freeform 201"/>
          <p:cNvSpPr>
            <a:spLocks/>
          </p:cNvSpPr>
          <p:nvPr/>
        </p:nvSpPr>
        <p:spPr bwMode="auto">
          <a:xfrm>
            <a:off x="3878263" y="3203575"/>
            <a:ext cx="193675" cy="146050"/>
          </a:xfrm>
          <a:custGeom>
            <a:avLst/>
            <a:gdLst>
              <a:gd name="T0" fmla="*/ 2147483647 w 29"/>
              <a:gd name="T1" fmla="*/ 2147483647 h 24"/>
              <a:gd name="T2" fmla="*/ 0 w 29"/>
              <a:gd name="T3" fmla="*/ 2147483647 h 24"/>
              <a:gd name="T4" fmla="*/ 0 w 29"/>
              <a:gd name="T5" fmla="*/ 2147483647 h 24"/>
              <a:gd name="T6" fmla="*/ 2147483647 w 29"/>
              <a:gd name="T7" fmla="*/ 2147483647 h 24"/>
              <a:gd name="T8" fmla="*/ 2147483647 w 29"/>
              <a:gd name="T9" fmla="*/ 0 h 24"/>
              <a:gd name="T10" fmla="*/ 2147483647 w 29"/>
              <a:gd name="T11" fmla="*/ 2147483647 h 24"/>
              <a:gd name="T12" fmla="*/ 2147483647 w 29"/>
              <a:gd name="T13" fmla="*/ 2147483647 h 24"/>
              <a:gd name="T14" fmla="*/ 2147483647 w 29"/>
              <a:gd name="T15" fmla="*/ 2147483647 h 24"/>
              <a:gd name="T16" fmla="*/ 2147483647 w 29"/>
              <a:gd name="T17" fmla="*/ 2147483647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
              <a:gd name="T28" fmla="*/ 0 h 24"/>
              <a:gd name="T29" fmla="*/ 29 w 29"/>
              <a:gd name="T30" fmla="*/ 24 h 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 h="24">
                <a:moveTo>
                  <a:pt x="9" y="14"/>
                </a:moveTo>
                <a:cubicBezTo>
                  <a:pt x="0" y="10"/>
                  <a:pt x="0" y="10"/>
                  <a:pt x="0" y="10"/>
                </a:cubicBezTo>
                <a:cubicBezTo>
                  <a:pt x="0" y="10"/>
                  <a:pt x="0" y="10"/>
                  <a:pt x="0" y="10"/>
                </a:cubicBezTo>
                <a:cubicBezTo>
                  <a:pt x="15" y="6"/>
                  <a:pt x="15" y="6"/>
                  <a:pt x="15" y="6"/>
                </a:cubicBezTo>
                <a:cubicBezTo>
                  <a:pt x="19" y="4"/>
                  <a:pt x="24" y="2"/>
                  <a:pt x="29" y="0"/>
                </a:cubicBezTo>
                <a:cubicBezTo>
                  <a:pt x="25" y="4"/>
                  <a:pt x="22" y="8"/>
                  <a:pt x="18" y="11"/>
                </a:cubicBezTo>
                <a:cubicBezTo>
                  <a:pt x="10" y="24"/>
                  <a:pt x="10" y="24"/>
                  <a:pt x="10" y="24"/>
                </a:cubicBezTo>
                <a:cubicBezTo>
                  <a:pt x="10" y="24"/>
                  <a:pt x="10" y="24"/>
                  <a:pt x="10" y="24"/>
                </a:cubicBezTo>
                <a:lnTo>
                  <a:pt x="9" y="14"/>
                </a:lnTo>
                <a:close/>
              </a:path>
            </a:pathLst>
          </a:custGeom>
          <a:solidFill>
            <a:srgbClr val="000000"/>
          </a:solidFill>
          <a:ln w="9525">
            <a:noFill/>
            <a:round/>
            <a:headEnd/>
            <a:tailEnd/>
          </a:ln>
        </p:spPr>
        <p:txBody>
          <a:bodyPr/>
          <a:lstStyle/>
          <a:p>
            <a:endParaRPr lang="en-US"/>
          </a:p>
        </p:txBody>
      </p:sp>
      <p:sp>
        <p:nvSpPr>
          <p:cNvPr id="592074" name="Line 202"/>
          <p:cNvSpPr>
            <a:spLocks noChangeShapeType="1"/>
          </p:cNvSpPr>
          <p:nvPr/>
        </p:nvSpPr>
        <p:spPr bwMode="auto">
          <a:xfrm flipV="1">
            <a:off x="1492250" y="2889250"/>
            <a:ext cx="0" cy="303213"/>
          </a:xfrm>
          <a:prstGeom prst="line">
            <a:avLst/>
          </a:prstGeom>
          <a:noFill/>
          <a:ln w="15875">
            <a:solidFill>
              <a:srgbClr val="000000"/>
            </a:solidFill>
            <a:miter lim="800000"/>
            <a:headEnd/>
            <a:tailEnd/>
          </a:ln>
        </p:spPr>
        <p:txBody>
          <a:bodyPr/>
          <a:lstStyle/>
          <a:p>
            <a:endParaRPr lang="en-US"/>
          </a:p>
        </p:txBody>
      </p:sp>
      <p:sp>
        <p:nvSpPr>
          <p:cNvPr id="592075" name="Freeform 203"/>
          <p:cNvSpPr>
            <a:spLocks/>
          </p:cNvSpPr>
          <p:nvPr/>
        </p:nvSpPr>
        <p:spPr bwMode="auto">
          <a:xfrm>
            <a:off x="1446213" y="2805113"/>
            <a:ext cx="93662" cy="120650"/>
          </a:xfrm>
          <a:custGeom>
            <a:avLst/>
            <a:gdLst>
              <a:gd name="T0" fmla="*/ 2147483647 w 14"/>
              <a:gd name="T1" fmla="*/ 2147483647 h 20"/>
              <a:gd name="T2" fmla="*/ 2147483647 w 14"/>
              <a:gd name="T3" fmla="*/ 2147483647 h 20"/>
              <a:gd name="T4" fmla="*/ 0 w 14"/>
              <a:gd name="T5" fmla="*/ 2147483647 h 20"/>
              <a:gd name="T6" fmla="*/ 2147483647 w 14"/>
              <a:gd name="T7" fmla="*/ 2147483647 h 20"/>
              <a:gd name="T8" fmla="*/ 2147483647 w 14"/>
              <a:gd name="T9" fmla="*/ 0 h 20"/>
              <a:gd name="T10" fmla="*/ 2147483647 w 14"/>
              <a:gd name="T11" fmla="*/ 2147483647 h 20"/>
              <a:gd name="T12" fmla="*/ 2147483647 w 14"/>
              <a:gd name="T13" fmla="*/ 2147483647 h 20"/>
              <a:gd name="T14" fmla="*/ 2147483647 w 14"/>
              <a:gd name="T15" fmla="*/ 2147483647 h 20"/>
              <a:gd name="T16" fmla="*/ 2147483647 w 14"/>
              <a:gd name="T17" fmla="*/ 2147483647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20"/>
              <a:gd name="T29" fmla="*/ 14 w 14"/>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20">
                <a:moveTo>
                  <a:pt x="7" y="16"/>
                </a:moveTo>
                <a:cubicBezTo>
                  <a:pt x="1" y="20"/>
                  <a:pt x="1" y="20"/>
                  <a:pt x="1" y="20"/>
                </a:cubicBezTo>
                <a:cubicBezTo>
                  <a:pt x="0" y="19"/>
                  <a:pt x="0" y="19"/>
                  <a:pt x="0" y="19"/>
                </a:cubicBezTo>
                <a:cubicBezTo>
                  <a:pt x="5" y="10"/>
                  <a:pt x="5" y="10"/>
                  <a:pt x="5" y="10"/>
                </a:cubicBezTo>
                <a:cubicBezTo>
                  <a:pt x="5" y="7"/>
                  <a:pt x="6" y="3"/>
                  <a:pt x="7" y="0"/>
                </a:cubicBezTo>
                <a:cubicBezTo>
                  <a:pt x="8" y="3"/>
                  <a:pt x="9" y="7"/>
                  <a:pt x="9" y="10"/>
                </a:cubicBezTo>
                <a:cubicBezTo>
                  <a:pt x="14" y="19"/>
                  <a:pt x="14" y="19"/>
                  <a:pt x="14" y="19"/>
                </a:cubicBezTo>
                <a:cubicBezTo>
                  <a:pt x="14" y="20"/>
                  <a:pt x="14" y="20"/>
                  <a:pt x="14" y="20"/>
                </a:cubicBezTo>
                <a:lnTo>
                  <a:pt x="7" y="16"/>
                </a:lnTo>
                <a:close/>
              </a:path>
            </a:pathLst>
          </a:custGeom>
          <a:solidFill>
            <a:srgbClr val="000000"/>
          </a:solidFill>
          <a:ln w="9525">
            <a:noFill/>
            <a:round/>
            <a:headEnd/>
            <a:tailEnd/>
          </a:ln>
        </p:spPr>
        <p:txBody>
          <a:bodyPr/>
          <a:lstStyle/>
          <a:p>
            <a:endParaRPr lang="en-US"/>
          </a:p>
        </p:txBody>
      </p:sp>
      <p:sp>
        <p:nvSpPr>
          <p:cNvPr id="592076" name="Line 204"/>
          <p:cNvSpPr>
            <a:spLocks noChangeShapeType="1"/>
          </p:cNvSpPr>
          <p:nvPr/>
        </p:nvSpPr>
        <p:spPr bwMode="auto">
          <a:xfrm>
            <a:off x="3713163" y="5597525"/>
            <a:ext cx="715962" cy="0"/>
          </a:xfrm>
          <a:prstGeom prst="line">
            <a:avLst/>
          </a:prstGeom>
          <a:noFill/>
          <a:ln w="15875">
            <a:solidFill>
              <a:srgbClr val="000000"/>
            </a:solidFill>
            <a:miter lim="800000"/>
            <a:headEnd/>
            <a:tailEnd/>
          </a:ln>
        </p:spPr>
        <p:txBody>
          <a:bodyPr/>
          <a:lstStyle/>
          <a:p>
            <a:endParaRPr lang="en-US"/>
          </a:p>
        </p:txBody>
      </p:sp>
      <p:sp>
        <p:nvSpPr>
          <p:cNvPr id="592077" name="Freeform 205"/>
          <p:cNvSpPr>
            <a:spLocks/>
          </p:cNvSpPr>
          <p:nvPr/>
        </p:nvSpPr>
        <p:spPr bwMode="auto">
          <a:xfrm>
            <a:off x="4337050" y="5556250"/>
            <a:ext cx="146050" cy="84138"/>
          </a:xfrm>
          <a:custGeom>
            <a:avLst/>
            <a:gdLst>
              <a:gd name="T0" fmla="*/ 2147483647 w 22"/>
              <a:gd name="T1" fmla="*/ 2147483647 h 14"/>
              <a:gd name="T2" fmla="*/ 0 w 22"/>
              <a:gd name="T3" fmla="*/ 2147483647 h 14"/>
              <a:gd name="T4" fmla="*/ 0 w 22"/>
              <a:gd name="T5" fmla="*/ 0 h 14"/>
              <a:gd name="T6" fmla="*/ 2147483647 w 22"/>
              <a:gd name="T7" fmla="*/ 2147483647 h 14"/>
              <a:gd name="T8" fmla="*/ 2147483647 w 22"/>
              <a:gd name="T9" fmla="*/ 2147483647 h 14"/>
              <a:gd name="T10" fmla="*/ 2147483647 w 22"/>
              <a:gd name="T11" fmla="*/ 2147483647 h 14"/>
              <a:gd name="T12" fmla="*/ 0 w 22"/>
              <a:gd name="T13" fmla="*/ 2147483647 h 14"/>
              <a:gd name="T14" fmla="*/ 0 w 22"/>
              <a:gd name="T15" fmla="*/ 2147483647 h 14"/>
              <a:gd name="T16" fmla="*/ 2147483647 w 22"/>
              <a:gd name="T17" fmla="*/ 2147483647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4"/>
              <a:gd name="T29" fmla="*/ 22 w 22"/>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4">
                <a:moveTo>
                  <a:pt x="4" y="7"/>
                </a:moveTo>
                <a:cubicBezTo>
                  <a:pt x="0" y="1"/>
                  <a:pt x="0" y="1"/>
                  <a:pt x="0" y="1"/>
                </a:cubicBezTo>
                <a:cubicBezTo>
                  <a:pt x="0" y="0"/>
                  <a:pt x="0" y="0"/>
                  <a:pt x="0" y="0"/>
                </a:cubicBezTo>
                <a:cubicBezTo>
                  <a:pt x="11" y="5"/>
                  <a:pt x="11" y="5"/>
                  <a:pt x="11" y="5"/>
                </a:cubicBezTo>
                <a:cubicBezTo>
                  <a:pt x="14" y="5"/>
                  <a:pt x="18" y="6"/>
                  <a:pt x="22" y="7"/>
                </a:cubicBezTo>
                <a:cubicBezTo>
                  <a:pt x="18" y="8"/>
                  <a:pt x="14" y="9"/>
                  <a:pt x="11" y="10"/>
                </a:cubicBezTo>
                <a:cubicBezTo>
                  <a:pt x="0" y="14"/>
                  <a:pt x="0" y="14"/>
                  <a:pt x="0" y="14"/>
                </a:cubicBezTo>
                <a:cubicBezTo>
                  <a:pt x="0" y="14"/>
                  <a:pt x="0" y="14"/>
                  <a:pt x="0" y="14"/>
                </a:cubicBezTo>
                <a:lnTo>
                  <a:pt x="4" y="7"/>
                </a:lnTo>
                <a:close/>
              </a:path>
            </a:pathLst>
          </a:custGeom>
          <a:solidFill>
            <a:srgbClr val="000000"/>
          </a:solidFill>
          <a:ln w="9525">
            <a:noFill/>
            <a:round/>
            <a:headEnd/>
            <a:tailEnd/>
          </a:ln>
        </p:spPr>
        <p:txBody>
          <a:bodyPr/>
          <a:lstStyle/>
          <a:p>
            <a:endParaRPr lang="en-US"/>
          </a:p>
        </p:txBody>
      </p:sp>
      <p:sp>
        <p:nvSpPr>
          <p:cNvPr id="592078" name="Line 206"/>
          <p:cNvSpPr>
            <a:spLocks noChangeShapeType="1"/>
          </p:cNvSpPr>
          <p:nvPr/>
        </p:nvSpPr>
        <p:spPr bwMode="auto">
          <a:xfrm flipV="1">
            <a:off x="3097213" y="1719263"/>
            <a:ext cx="635000" cy="588962"/>
          </a:xfrm>
          <a:prstGeom prst="line">
            <a:avLst/>
          </a:prstGeom>
          <a:noFill/>
          <a:ln w="11113">
            <a:solidFill>
              <a:srgbClr val="000000"/>
            </a:solidFill>
            <a:miter lim="800000"/>
            <a:headEnd/>
            <a:tailEnd/>
          </a:ln>
        </p:spPr>
        <p:txBody>
          <a:bodyPr/>
          <a:lstStyle/>
          <a:p>
            <a:endParaRPr lang="en-US"/>
          </a:p>
        </p:txBody>
      </p:sp>
      <p:sp>
        <p:nvSpPr>
          <p:cNvPr id="592079" name="Freeform 207"/>
          <p:cNvSpPr>
            <a:spLocks/>
          </p:cNvSpPr>
          <p:nvPr/>
        </p:nvSpPr>
        <p:spPr bwMode="auto">
          <a:xfrm>
            <a:off x="3465513" y="1135063"/>
            <a:ext cx="1525587" cy="584200"/>
          </a:xfrm>
          <a:custGeom>
            <a:avLst/>
            <a:gdLst>
              <a:gd name="T0" fmla="*/ 2147483647 w 230"/>
              <a:gd name="T1" fmla="*/ 2147483647 h 95"/>
              <a:gd name="T2" fmla="*/ 2147483647 w 230"/>
              <a:gd name="T3" fmla="*/ 2147483647 h 95"/>
              <a:gd name="T4" fmla="*/ 2147483647 w 230"/>
              <a:gd name="T5" fmla="*/ 2147483647 h 95"/>
              <a:gd name="T6" fmla="*/ 0 w 230"/>
              <a:gd name="T7" fmla="*/ 2147483647 h 95"/>
              <a:gd name="T8" fmla="*/ 0 w 230"/>
              <a:gd name="T9" fmla="*/ 2147483647 h 95"/>
              <a:gd name="T10" fmla="*/ 2147483647 w 230"/>
              <a:gd name="T11" fmla="*/ 0 h 95"/>
              <a:gd name="T12" fmla="*/ 2147483647 w 230"/>
              <a:gd name="T13" fmla="*/ 0 h 95"/>
              <a:gd name="T14" fmla="*/ 2147483647 w 230"/>
              <a:gd name="T15" fmla="*/ 2147483647 h 95"/>
              <a:gd name="T16" fmla="*/ 2147483647 w 230"/>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0"/>
              <a:gd name="T28" fmla="*/ 0 h 95"/>
              <a:gd name="T29" fmla="*/ 230 w 230"/>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0" h="95">
                <a:moveTo>
                  <a:pt x="230" y="79"/>
                </a:moveTo>
                <a:cubicBezTo>
                  <a:pt x="230" y="88"/>
                  <a:pt x="225" y="95"/>
                  <a:pt x="219" y="95"/>
                </a:cubicBezTo>
                <a:cubicBezTo>
                  <a:pt x="11" y="95"/>
                  <a:pt x="11" y="95"/>
                  <a:pt x="11" y="95"/>
                </a:cubicBezTo>
                <a:cubicBezTo>
                  <a:pt x="5" y="95"/>
                  <a:pt x="0" y="88"/>
                  <a:pt x="0" y="79"/>
                </a:cubicBezTo>
                <a:cubicBezTo>
                  <a:pt x="0" y="16"/>
                  <a:pt x="0" y="16"/>
                  <a:pt x="0" y="16"/>
                </a:cubicBezTo>
                <a:cubicBezTo>
                  <a:pt x="0" y="7"/>
                  <a:pt x="5" y="0"/>
                  <a:pt x="11" y="0"/>
                </a:cubicBezTo>
                <a:cubicBezTo>
                  <a:pt x="219" y="0"/>
                  <a:pt x="219" y="0"/>
                  <a:pt x="219" y="0"/>
                </a:cubicBezTo>
                <a:cubicBezTo>
                  <a:pt x="225" y="0"/>
                  <a:pt x="230" y="7"/>
                  <a:pt x="230" y="16"/>
                </a:cubicBezTo>
                <a:lnTo>
                  <a:pt x="230" y="79"/>
                </a:lnTo>
                <a:close/>
              </a:path>
            </a:pathLst>
          </a:custGeom>
          <a:solidFill>
            <a:srgbClr val="D6E2E0"/>
          </a:solidFill>
          <a:ln w="9525">
            <a:noFill/>
            <a:round/>
            <a:headEnd/>
            <a:tailEnd/>
          </a:ln>
        </p:spPr>
        <p:txBody>
          <a:bodyPr/>
          <a:lstStyle/>
          <a:p>
            <a:endParaRPr lang="en-US"/>
          </a:p>
        </p:txBody>
      </p:sp>
      <p:sp>
        <p:nvSpPr>
          <p:cNvPr id="548930" name="TextBox 29"/>
          <p:cNvSpPr txBox="1">
            <a:spLocks noChangeArrowheads="1"/>
          </p:cNvSpPr>
          <p:nvPr/>
        </p:nvSpPr>
        <p:spPr bwMode="auto">
          <a:xfrm>
            <a:off x="827088" y="692150"/>
            <a:ext cx="1512887" cy="307975"/>
          </a:xfrm>
          <a:prstGeom prst="rect">
            <a:avLst/>
          </a:prstGeom>
          <a:noFill/>
          <a:ln w="9525">
            <a:noFill/>
            <a:miter lim="800000"/>
            <a:headEnd/>
            <a:tailEnd/>
          </a:ln>
        </p:spPr>
        <p:txBody>
          <a:bodyPr>
            <a:spAutoFit/>
          </a:bodyPr>
          <a:lstStyle/>
          <a:p>
            <a:pPr algn="ctr"/>
            <a:r>
              <a:rPr lang="en-US" sz="1400" b="1"/>
              <a:t>Price of cotton</a:t>
            </a:r>
          </a:p>
        </p:txBody>
      </p:sp>
      <p:sp>
        <p:nvSpPr>
          <p:cNvPr id="548931" name="TextBox 30"/>
          <p:cNvSpPr txBox="1">
            <a:spLocks noChangeArrowheads="1"/>
          </p:cNvSpPr>
          <p:nvPr/>
        </p:nvSpPr>
        <p:spPr bwMode="auto">
          <a:xfrm>
            <a:off x="6211888" y="5551488"/>
            <a:ext cx="2398712" cy="307975"/>
          </a:xfrm>
          <a:prstGeom prst="rect">
            <a:avLst/>
          </a:prstGeom>
          <a:noFill/>
          <a:ln w="9525">
            <a:noFill/>
            <a:miter lim="800000"/>
            <a:headEnd/>
            <a:tailEnd/>
          </a:ln>
        </p:spPr>
        <p:txBody>
          <a:bodyPr>
            <a:spAutoFit/>
          </a:bodyPr>
          <a:lstStyle/>
          <a:p>
            <a:pPr algn="ctr"/>
            <a:r>
              <a:rPr lang="en-US" sz="1400" b="1"/>
              <a:t>Quantity of cotton</a:t>
            </a:r>
          </a:p>
        </p:txBody>
      </p:sp>
      <p:sp>
        <p:nvSpPr>
          <p:cNvPr id="2" name="TextBox 29"/>
          <p:cNvSpPr txBox="1">
            <a:spLocks noChangeArrowheads="1"/>
          </p:cNvSpPr>
          <p:nvPr/>
        </p:nvSpPr>
        <p:spPr bwMode="auto">
          <a:xfrm>
            <a:off x="750888" y="2622550"/>
            <a:ext cx="755650" cy="646113"/>
          </a:xfrm>
          <a:prstGeom prst="rect">
            <a:avLst/>
          </a:prstGeom>
          <a:noFill/>
          <a:ln w="9525">
            <a:noFill/>
            <a:miter lim="800000"/>
            <a:headEnd/>
            <a:tailEnd/>
          </a:ln>
        </p:spPr>
        <p:txBody>
          <a:bodyPr anchor="ctr">
            <a:spAutoFit/>
          </a:bodyPr>
          <a:lstStyle/>
          <a:p>
            <a:pPr algn="ctr"/>
            <a:r>
              <a:rPr lang="en-US" i="1"/>
              <a:t>Price rises</a:t>
            </a:r>
          </a:p>
        </p:txBody>
      </p:sp>
      <p:sp>
        <p:nvSpPr>
          <p:cNvPr id="3" name="TextBox 29"/>
          <p:cNvSpPr txBox="1">
            <a:spLocks noChangeArrowheads="1"/>
          </p:cNvSpPr>
          <p:nvPr/>
        </p:nvSpPr>
        <p:spPr bwMode="auto">
          <a:xfrm>
            <a:off x="3389313" y="5859463"/>
            <a:ext cx="1354137" cy="646112"/>
          </a:xfrm>
          <a:prstGeom prst="rect">
            <a:avLst/>
          </a:prstGeom>
          <a:noFill/>
          <a:ln w="9525">
            <a:noFill/>
            <a:miter lim="800000"/>
            <a:headEnd/>
            <a:tailEnd/>
          </a:ln>
        </p:spPr>
        <p:txBody>
          <a:bodyPr anchor="ctr">
            <a:spAutoFit/>
          </a:bodyPr>
          <a:lstStyle/>
          <a:p>
            <a:pPr algn="ctr"/>
            <a:r>
              <a:rPr lang="en-US" i="1"/>
              <a:t>Quantity rises</a:t>
            </a:r>
          </a:p>
        </p:txBody>
      </p:sp>
      <p:sp>
        <p:nvSpPr>
          <p:cNvPr id="4" name="TextBox 29"/>
          <p:cNvSpPr txBox="1">
            <a:spLocks noChangeArrowheads="1"/>
          </p:cNvSpPr>
          <p:nvPr/>
        </p:nvSpPr>
        <p:spPr bwMode="auto">
          <a:xfrm>
            <a:off x="3489325" y="1135063"/>
            <a:ext cx="1476375" cy="647700"/>
          </a:xfrm>
          <a:prstGeom prst="rect">
            <a:avLst/>
          </a:prstGeom>
          <a:noFill/>
          <a:ln w="9525">
            <a:noFill/>
            <a:miter lim="800000"/>
            <a:headEnd/>
            <a:tailEnd/>
          </a:ln>
        </p:spPr>
        <p:txBody>
          <a:bodyPr>
            <a:spAutoFit/>
          </a:bodyPr>
          <a:lstStyle/>
          <a:p>
            <a:pPr algn="ctr"/>
            <a:r>
              <a:rPr lang="en-US" i="1"/>
              <a:t>An increase in demand…</a:t>
            </a:r>
          </a:p>
        </p:txBody>
      </p:sp>
      <p:sp>
        <p:nvSpPr>
          <p:cNvPr id="5" name="TextBox 29"/>
          <p:cNvSpPr txBox="1">
            <a:spLocks noChangeArrowheads="1"/>
          </p:cNvSpPr>
          <p:nvPr/>
        </p:nvSpPr>
        <p:spPr bwMode="auto">
          <a:xfrm>
            <a:off x="5918200" y="1858963"/>
            <a:ext cx="2886075" cy="1500187"/>
          </a:xfrm>
          <a:prstGeom prst="rect">
            <a:avLst/>
          </a:prstGeom>
          <a:noFill/>
          <a:ln w="9525">
            <a:noFill/>
            <a:miter lim="800000"/>
            <a:headEnd/>
            <a:tailEnd/>
          </a:ln>
        </p:spPr>
        <p:txBody>
          <a:bodyPr>
            <a:spAutoFit/>
          </a:bodyPr>
          <a:lstStyle/>
          <a:p>
            <a:pPr algn="ctr"/>
            <a:r>
              <a:rPr lang="en-US" i="1"/>
              <a:t>… leads to a movement along the supply curve due to a higher equilibrium price and higher equilibrium quantity.</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89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20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206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20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89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20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20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205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20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20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9206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920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204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20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9206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920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205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9205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92078"/>
                                        </p:tgtEl>
                                        <p:attrNameLst>
                                          <p:attrName>style.visibility</p:attrName>
                                        </p:attrNameLst>
                                      </p:cBhvr>
                                      <p:to>
                                        <p:strVal val="visible"/>
                                      </p:to>
                                    </p:set>
                                  </p:childTnLst>
                                </p:cTn>
                              </p:par>
                              <p:par>
                                <p:cTn id="45" presetID="22" presetClass="entr" presetSubtype="8" fill="hold" grpId="0" nodeType="withEffect">
                                  <p:stCondLst>
                                    <p:cond delay="0"/>
                                  </p:stCondLst>
                                  <p:childTnLst>
                                    <p:set>
                                      <p:cBhvr>
                                        <p:cTn id="46" dur="1" fill="hold">
                                          <p:stCondLst>
                                            <p:cond delay="0"/>
                                          </p:stCondLst>
                                        </p:cTn>
                                        <p:tgtEl>
                                          <p:spTgt spid="592063"/>
                                        </p:tgtEl>
                                        <p:attrNameLst>
                                          <p:attrName>style.visibility</p:attrName>
                                        </p:attrNameLst>
                                      </p:cBhvr>
                                      <p:to>
                                        <p:strVal val="visible"/>
                                      </p:to>
                                    </p:set>
                                    <p:animEffect transition="in" filter="wipe(left)">
                                      <p:cBhvr>
                                        <p:cTn id="47" dur="500"/>
                                        <p:tgtEl>
                                          <p:spTgt spid="592063"/>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500"/>
                                        <p:tgtEl>
                                          <p:spTgt spid="4"/>
                                        </p:tgtEl>
                                      </p:cBhvr>
                                    </p:animEffect>
                                  </p:childTnLst>
                                </p:cTn>
                              </p:par>
                              <p:par>
                                <p:cTn id="51" presetID="1" presetClass="entr" presetSubtype="0" fill="hold" grpId="0" nodeType="withEffect">
                                  <p:stCondLst>
                                    <p:cond delay="0"/>
                                  </p:stCondLst>
                                  <p:childTnLst>
                                    <p:set>
                                      <p:cBhvr>
                                        <p:cTn id="52" dur="1" fill="hold">
                                          <p:stCondLst>
                                            <p:cond delay="0"/>
                                          </p:stCondLst>
                                        </p:cTn>
                                        <p:tgtEl>
                                          <p:spTgt spid="59206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9205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9205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9207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9206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9207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92073"/>
                                        </p:tgtEl>
                                        <p:attrNameLst>
                                          <p:attrName>style.visibility</p:attrName>
                                        </p:attrNameLst>
                                      </p:cBhvr>
                                      <p:to>
                                        <p:strVal val="visible"/>
                                      </p:to>
                                    </p:set>
                                  </p:childTnLst>
                                </p:cTn>
                              </p:par>
                              <p:par>
                                <p:cTn id="67" presetID="22" presetClass="entr" presetSubtype="1" fill="hold" nodeType="withEffect">
                                  <p:stCondLst>
                                    <p:cond delay="0"/>
                                  </p:stCondLst>
                                  <p:childTnLst>
                                    <p:set>
                                      <p:cBhvr>
                                        <p:cTn id="68" dur="1" fill="hold">
                                          <p:stCondLst>
                                            <p:cond delay="0"/>
                                          </p:stCondLst>
                                        </p:cTn>
                                        <p:tgtEl>
                                          <p:spTgt spid="592038"/>
                                        </p:tgtEl>
                                        <p:attrNameLst>
                                          <p:attrName>style.visibility</p:attrName>
                                        </p:attrNameLst>
                                      </p:cBhvr>
                                      <p:to>
                                        <p:strVal val="visible"/>
                                      </p:to>
                                    </p:set>
                                    <p:animEffect transition="in" filter="wipe(up)">
                                      <p:cBhvr>
                                        <p:cTn id="69" dur="500"/>
                                        <p:tgtEl>
                                          <p:spTgt spid="592038"/>
                                        </p:tgtEl>
                                      </p:cBhvr>
                                    </p:animEffect>
                                  </p:childTnLst>
                                </p:cTn>
                              </p:par>
                              <p:par>
                                <p:cTn id="70" presetID="22" presetClass="entr" presetSubtype="8" fill="hold" nodeType="withEffect">
                                  <p:stCondLst>
                                    <p:cond delay="0"/>
                                  </p:stCondLst>
                                  <p:childTnLst>
                                    <p:set>
                                      <p:cBhvr>
                                        <p:cTn id="71" dur="1" fill="hold">
                                          <p:stCondLst>
                                            <p:cond delay="0"/>
                                          </p:stCondLst>
                                        </p:cTn>
                                        <p:tgtEl>
                                          <p:spTgt spid="592037"/>
                                        </p:tgtEl>
                                        <p:attrNameLst>
                                          <p:attrName>style.visibility</p:attrName>
                                        </p:attrNameLst>
                                      </p:cBhvr>
                                      <p:to>
                                        <p:strVal val="visible"/>
                                      </p:to>
                                    </p:set>
                                    <p:animEffect transition="in" filter="wipe(left)">
                                      <p:cBhvr>
                                        <p:cTn id="72" dur="500"/>
                                        <p:tgtEl>
                                          <p:spTgt spid="592037"/>
                                        </p:tgtEl>
                                      </p:cBhvr>
                                    </p:animEffect>
                                  </p:childTnLst>
                                </p:cTn>
                              </p:par>
                              <p:par>
                                <p:cTn id="73" presetID="1" presetClass="entr" presetSubtype="0" fill="hold" grpId="0" nodeType="withEffect">
                                  <p:stCondLst>
                                    <p:cond delay="0"/>
                                  </p:stCondLst>
                                  <p:childTnLst>
                                    <p:set>
                                      <p:cBhvr>
                                        <p:cTn id="74" dur="1" fill="hold">
                                          <p:stCondLst>
                                            <p:cond delay="0"/>
                                          </p:stCondLst>
                                        </p:cTn>
                                        <p:tgtEl>
                                          <p:spTgt spid="59206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92070"/>
                                        </p:tgtEl>
                                        <p:attrNameLst>
                                          <p:attrName>style.visibility</p:attrName>
                                        </p:attrNameLst>
                                      </p:cBhvr>
                                      <p:to>
                                        <p:strVal val="visible"/>
                                      </p:to>
                                    </p:set>
                                  </p:childTnLst>
                                </p:cTn>
                              </p:par>
                              <p:par>
                                <p:cTn id="77" presetID="22" presetClass="entr" presetSubtype="8" fill="hold" grpId="0" nodeType="withEffect">
                                  <p:stCondLst>
                                    <p:cond delay="0"/>
                                  </p:stCondLst>
                                  <p:childTnLst>
                                    <p:set>
                                      <p:cBhvr>
                                        <p:cTn id="78" dur="1" fill="hold">
                                          <p:stCondLst>
                                            <p:cond delay="0"/>
                                          </p:stCondLst>
                                        </p:cTn>
                                        <p:tgtEl>
                                          <p:spTgt spid="5"/>
                                        </p:tgtEl>
                                        <p:attrNameLst>
                                          <p:attrName>style.visibility</p:attrName>
                                        </p:attrNameLst>
                                      </p:cBhvr>
                                      <p:to>
                                        <p:strVal val="visible"/>
                                      </p:to>
                                    </p:set>
                                    <p:animEffect transition="in" filter="wipe(left)">
                                      <p:cBhvr>
                                        <p:cTn id="79" dur="500"/>
                                        <p:tgtEl>
                                          <p:spTgt spid="5"/>
                                        </p:tgtEl>
                                      </p:cBhvr>
                                    </p:animEffect>
                                  </p:childTnLst>
                                </p:cTn>
                              </p:par>
                              <p:par>
                                <p:cTn id="80" presetID="1" presetClass="entr" presetSubtype="0" fill="hold" grpId="0" nodeType="withEffect">
                                  <p:stCondLst>
                                    <p:cond delay="0"/>
                                  </p:stCondLst>
                                  <p:childTnLst>
                                    <p:set>
                                      <p:cBhvr>
                                        <p:cTn id="81" dur="1" fill="hold">
                                          <p:stCondLst>
                                            <p:cond delay="0"/>
                                          </p:stCondLst>
                                        </p:cTn>
                                        <p:tgtEl>
                                          <p:spTgt spid="592066"/>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592056"/>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592055"/>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592075"/>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592074"/>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592047"/>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592046"/>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2"/>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3"/>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592077"/>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592042"/>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592043"/>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592076"/>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592071"/>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592041"/>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5920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041" grpId="0" animBg="1"/>
      <p:bldP spid="592042" grpId="0"/>
      <p:bldP spid="592043" grpId="0"/>
      <p:bldP spid="592044" grpId="0"/>
      <p:bldP spid="592045" grpId="0"/>
      <p:bldP spid="592046" grpId="0"/>
      <p:bldP spid="592047" grpId="0"/>
      <p:bldP spid="592048" grpId="0"/>
      <p:bldP spid="592049" grpId="0"/>
      <p:bldP spid="592050" grpId="0"/>
      <p:bldP spid="592051" grpId="0"/>
      <p:bldP spid="592052" grpId="0"/>
      <p:bldP spid="592053" grpId="0"/>
      <p:bldP spid="592054" grpId="0"/>
      <p:bldP spid="592055" grpId="0"/>
      <p:bldP spid="592056" grpId="0"/>
      <p:bldP spid="592057" grpId="0"/>
      <p:bldP spid="592058" grpId="0"/>
      <p:bldP spid="592059" grpId="0" animBg="1"/>
      <p:bldP spid="592060" grpId="0" animBg="1"/>
      <p:bldP spid="592061" grpId="0" animBg="1"/>
      <p:bldP spid="592062" grpId="0" animBg="1"/>
      <p:bldP spid="592063" grpId="0" animBg="1"/>
      <p:bldP spid="592064" grpId="0" animBg="1"/>
      <p:bldP spid="592065" grpId="0" animBg="1"/>
      <p:bldP spid="592066" grpId="0" animBg="1"/>
      <p:bldP spid="592067" grpId="0" animBg="1"/>
      <p:bldP spid="592068" grpId="0" animBg="1"/>
      <p:bldP spid="592069" grpId="0" animBg="1"/>
      <p:bldP spid="592070" grpId="0" animBg="1"/>
      <p:bldP spid="592071" grpId="0" animBg="1"/>
      <p:bldP spid="592072" grpId="0" animBg="1"/>
      <p:bldP spid="592073" grpId="0" animBg="1"/>
      <p:bldP spid="592074" grpId="0" animBg="1"/>
      <p:bldP spid="592075" grpId="0" animBg="1"/>
      <p:bldP spid="592076" grpId="0" animBg="1"/>
      <p:bldP spid="592077" grpId="0" animBg="1"/>
      <p:bldP spid="592078" grpId="0" animBg="1"/>
      <p:bldP spid="592079" grpId="0" animBg="1"/>
      <p:bldP spid="548930" grpId="0"/>
      <p:bldP spid="548931" grpId="0"/>
      <p:bldP spid="2" grpId="0"/>
      <p:bldP spid="3" grpId="0"/>
      <p:bldP spid="4"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5970" name="Rectangle 2"/>
          <p:cNvSpPr>
            <a:spLocks noGrp="1" noRot="1" noChangeArrowheads="1"/>
          </p:cNvSpPr>
          <p:nvPr>
            <p:ph type="title"/>
          </p:nvPr>
        </p:nvSpPr>
        <p:spPr>
          <a:xfrm>
            <a:off x="900113" y="60325"/>
            <a:ext cx="8250237" cy="555625"/>
          </a:xfrm>
        </p:spPr>
        <p:txBody>
          <a:bodyPr/>
          <a:lstStyle/>
          <a:p>
            <a:pPr>
              <a:defRPr/>
            </a:pPr>
            <a:r>
              <a:rPr lang="en-US" dirty="0"/>
              <a:t>Equilibrium and Shifts of the Supply Curve</a:t>
            </a:r>
          </a:p>
        </p:txBody>
      </p:sp>
      <p:cxnSp>
        <p:nvCxnSpPr>
          <p:cNvPr id="596066" name="Straight Connector 86"/>
          <p:cNvCxnSpPr>
            <a:cxnSpLocks noChangeShapeType="1"/>
          </p:cNvCxnSpPr>
          <p:nvPr/>
        </p:nvCxnSpPr>
        <p:spPr bwMode="auto">
          <a:xfrm>
            <a:off x="2046288" y="2890838"/>
            <a:ext cx="2101850" cy="12700"/>
          </a:xfrm>
          <a:prstGeom prst="line">
            <a:avLst/>
          </a:prstGeom>
          <a:noFill/>
          <a:ln w="22225">
            <a:solidFill>
              <a:srgbClr val="9C9C9C"/>
            </a:solidFill>
            <a:prstDash val="sysDot"/>
            <a:round/>
            <a:headEnd/>
            <a:tailEnd type="none" w="med" len="lg"/>
          </a:ln>
        </p:spPr>
      </p:cxnSp>
      <p:cxnSp>
        <p:nvCxnSpPr>
          <p:cNvPr id="596067" name="Straight Connector 86"/>
          <p:cNvCxnSpPr>
            <a:cxnSpLocks noChangeShapeType="1"/>
          </p:cNvCxnSpPr>
          <p:nvPr/>
        </p:nvCxnSpPr>
        <p:spPr bwMode="auto">
          <a:xfrm>
            <a:off x="4219575" y="2944813"/>
            <a:ext cx="0" cy="2473325"/>
          </a:xfrm>
          <a:prstGeom prst="line">
            <a:avLst/>
          </a:prstGeom>
          <a:noFill/>
          <a:ln w="22225">
            <a:solidFill>
              <a:srgbClr val="9C9C9C"/>
            </a:solidFill>
            <a:prstDash val="sysDot"/>
            <a:round/>
            <a:headEnd/>
            <a:tailEnd type="none" w="med" len="lg"/>
          </a:ln>
        </p:spPr>
      </p:cxnSp>
      <p:cxnSp>
        <p:nvCxnSpPr>
          <p:cNvPr id="596068" name="Straight Connector 86"/>
          <p:cNvCxnSpPr>
            <a:cxnSpLocks noChangeShapeType="1"/>
          </p:cNvCxnSpPr>
          <p:nvPr/>
        </p:nvCxnSpPr>
        <p:spPr bwMode="auto">
          <a:xfrm>
            <a:off x="2046288" y="3967163"/>
            <a:ext cx="2689225" cy="14287"/>
          </a:xfrm>
          <a:prstGeom prst="line">
            <a:avLst/>
          </a:prstGeom>
          <a:noFill/>
          <a:ln w="22225">
            <a:solidFill>
              <a:srgbClr val="9C9C9C"/>
            </a:solidFill>
            <a:prstDash val="sysDot"/>
            <a:round/>
            <a:headEnd/>
            <a:tailEnd type="none" w="med" len="lg"/>
          </a:ln>
        </p:spPr>
      </p:cxnSp>
      <p:cxnSp>
        <p:nvCxnSpPr>
          <p:cNvPr id="596069" name="Straight Connector 86"/>
          <p:cNvCxnSpPr>
            <a:cxnSpLocks noChangeShapeType="1"/>
          </p:cNvCxnSpPr>
          <p:nvPr/>
        </p:nvCxnSpPr>
        <p:spPr bwMode="auto">
          <a:xfrm>
            <a:off x="4735513" y="4043363"/>
            <a:ext cx="0" cy="1374775"/>
          </a:xfrm>
          <a:prstGeom prst="line">
            <a:avLst/>
          </a:prstGeom>
          <a:noFill/>
          <a:ln w="22225">
            <a:solidFill>
              <a:srgbClr val="9C9C9C"/>
            </a:solidFill>
            <a:prstDash val="sysDot"/>
            <a:round/>
            <a:headEnd/>
            <a:tailEnd type="none" w="med" len="lg"/>
          </a:ln>
        </p:spPr>
      </p:cxnSp>
      <p:sp>
        <p:nvSpPr>
          <p:cNvPr id="596070" name="Freeform 102"/>
          <p:cNvSpPr>
            <a:spLocks/>
          </p:cNvSpPr>
          <p:nvPr/>
        </p:nvSpPr>
        <p:spPr bwMode="auto">
          <a:xfrm>
            <a:off x="3962400" y="6053138"/>
            <a:ext cx="1366838" cy="615950"/>
          </a:xfrm>
          <a:custGeom>
            <a:avLst/>
            <a:gdLst>
              <a:gd name="T0" fmla="*/ 2147483647 w 217"/>
              <a:gd name="T1" fmla="*/ 2147483647 h 63"/>
              <a:gd name="T2" fmla="*/ 2147483647 w 217"/>
              <a:gd name="T3" fmla="*/ 2147483647 h 63"/>
              <a:gd name="T4" fmla="*/ 2147483647 w 217"/>
              <a:gd name="T5" fmla="*/ 2147483647 h 63"/>
              <a:gd name="T6" fmla="*/ 0 w 217"/>
              <a:gd name="T7" fmla="*/ 2147483647 h 63"/>
              <a:gd name="T8" fmla="*/ 0 w 217"/>
              <a:gd name="T9" fmla="*/ 2147483647 h 63"/>
              <a:gd name="T10" fmla="*/ 2147483647 w 217"/>
              <a:gd name="T11" fmla="*/ 0 h 63"/>
              <a:gd name="T12" fmla="*/ 2147483647 w 217"/>
              <a:gd name="T13" fmla="*/ 0 h 63"/>
              <a:gd name="T14" fmla="*/ 2147483647 w 217"/>
              <a:gd name="T15" fmla="*/ 2147483647 h 63"/>
              <a:gd name="T16" fmla="*/ 2147483647 w 217"/>
              <a:gd name="T17" fmla="*/ 2147483647 h 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7"/>
              <a:gd name="T28" fmla="*/ 0 h 63"/>
              <a:gd name="T29" fmla="*/ 217 w 217"/>
              <a:gd name="T30" fmla="*/ 63 h 6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7" h="63">
                <a:moveTo>
                  <a:pt x="217" y="49"/>
                </a:moveTo>
                <a:cubicBezTo>
                  <a:pt x="217" y="57"/>
                  <a:pt x="211" y="63"/>
                  <a:pt x="203" y="63"/>
                </a:cubicBezTo>
                <a:cubicBezTo>
                  <a:pt x="14" y="63"/>
                  <a:pt x="14" y="63"/>
                  <a:pt x="14" y="63"/>
                </a:cubicBezTo>
                <a:cubicBezTo>
                  <a:pt x="6" y="63"/>
                  <a:pt x="0" y="57"/>
                  <a:pt x="0" y="49"/>
                </a:cubicBezTo>
                <a:cubicBezTo>
                  <a:pt x="0" y="14"/>
                  <a:pt x="0" y="14"/>
                  <a:pt x="0" y="14"/>
                </a:cubicBezTo>
                <a:cubicBezTo>
                  <a:pt x="0" y="7"/>
                  <a:pt x="6" y="0"/>
                  <a:pt x="14" y="0"/>
                </a:cubicBezTo>
                <a:cubicBezTo>
                  <a:pt x="203" y="0"/>
                  <a:pt x="203" y="0"/>
                  <a:pt x="203" y="0"/>
                </a:cubicBezTo>
                <a:cubicBezTo>
                  <a:pt x="211" y="0"/>
                  <a:pt x="217" y="7"/>
                  <a:pt x="217" y="14"/>
                </a:cubicBezTo>
                <a:lnTo>
                  <a:pt x="217" y="49"/>
                </a:lnTo>
                <a:close/>
              </a:path>
            </a:pathLst>
          </a:custGeom>
          <a:solidFill>
            <a:srgbClr val="D6E2E0"/>
          </a:solidFill>
          <a:ln w="9525">
            <a:noFill/>
            <a:round/>
            <a:headEnd/>
            <a:tailEnd/>
          </a:ln>
        </p:spPr>
        <p:txBody>
          <a:bodyPr/>
          <a:lstStyle/>
          <a:p>
            <a:endParaRPr lang="en-US"/>
          </a:p>
        </p:txBody>
      </p:sp>
      <p:sp>
        <p:nvSpPr>
          <p:cNvPr id="596071" name="Rectangle 103"/>
          <p:cNvSpPr>
            <a:spLocks noChangeArrowheads="1"/>
          </p:cNvSpPr>
          <p:nvPr/>
        </p:nvSpPr>
        <p:spPr bwMode="auto">
          <a:xfrm>
            <a:off x="1681163" y="27955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p>
        </p:txBody>
      </p:sp>
      <p:sp>
        <p:nvSpPr>
          <p:cNvPr id="596072" name="Rectangle 104"/>
          <p:cNvSpPr>
            <a:spLocks noChangeArrowheads="1"/>
          </p:cNvSpPr>
          <p:nvPr/>
        </p:nvSpPr>
        <p:spPr bwMode="auto">
          <a:xfrm>
            <a:off x="1804988" y="291782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596073" name="Rectangle 105"/>
          <p:cNvSpPr>
            <a:spLocks noChangeArrowheads="1"/>
          </p:cNvSpPr>
          <p:nvPr/>
        </p:nvSpPr>
        <p:spPr bwMode="auto">
          <a:xfrm>
            <a:off x="1681163" y="383381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p>
        </p:txBody>
      </p:sp>
      <p:sp>
        <p:nvSpPr>
          <p:cNvPr id="596074" name="Rectangle 106"/>
          <p:cNvSpPr>
            <a:spLocks noChangeArrowheads="1"/>
          </p:cNvSpPr>
          <p:nvPr/>
        </p:nvSpPr>
        <p:spPr bwMode="auto">
          <a:xfrm>
            <a:off x="1804988" y="395605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596075" name="Line 107"/>
          <p:cNvSpPr>
            <a:spLocks noChangeShapeType="1"/>
          </p:cNvSpPr>
          <p:nvPr/>
        </p:nvSpPr>
        <p:spPr bwMode="auto">
          <a:xfrm flipH="1">
            <a:off x="4595813" y="2473325"/>
            <a:ext cx="1152525" cy="0"/>
          </a:xfrm>
          <a:prstGeom prst="line">
            <a:avLst/>
          </a:prstGeom>
          <a:noFill/>
          <a:ln w="41275">
            <a:solidFill>
              <a:srgbClr val="000000"/>
            </a:solidFill>
            <a:miter lim="800000"/>
            <a:headEnd/>
            <a:tailEnd/>
          </a:ln>
        </p:spPr>
        <p:txBody>
          <a:bodyPr/>
          <a:lstStyle/>
          <a:p>
            <a:endParaRPr lang="en-US"/>
          </a:p>
        </p:txBody>
      </p:sp>
      <p:sp>
        <p:nvSpPr>
          <p:cNvPr id="596076" name="Freeform 108"/>
          <p:cNvSpPr>
            <a:spLocks/>
          </p:cNvSpPr>
          <p:nvPr/>
        </p:nvSpPr>
        <p:spPr bwMode="auto">
          <a:xfrm>
            <a:off x="4467225" y="2416175"/>
            <a:ext cx="169863" cy="114300"/>
          </a:xfrm>
          <a:custGeom>
            <a:avLst/>
            <a:gdLst>
              <a:gd name="T0" fmla="*/ 2147483647 w 29"/>
              <a:gd name="T1" fmla="*/ 2147483647 h 18"/>
              <a:gd name="T2" fmla="*/ 2147483647 w 29"/>
              <a:gd name="T3" fmla="*/ 0 h 18"/>
              <a:gd name="T4" fmla="*/ 2147483647 w 29"/>
              <a:gd name="T5" fmla="*/ 0 h 18"/>
              <a:gd name="T6" fmla="*/ 2147483647 w 29"/>
              <a:gd name="T7" fmla="*/ 2147483647 h 18"/>
              <a:gd name="T8" fmla="*/ 0 w 29"/>
              <a:gd name="T9" fmla="*/ 2147483647 h 18"/>
              <a:gd name="T10" fmla="*/ 2147483647 w 29"/>
              <a:gd name="T11" fmla="*/ 2147483647 h 18"/>
              <a:gd name="T12" fmla="*/ 2147483647 w 29"/>
              <a:gd name="T13" fmla="*/ 2147483647 h 18"/>
              <a:gd name="T14" fmla="*/ 2147483647 w 29"/>
              <a:gd name="T15" fmla="*/ 2147483647 h 18"/>
              <a:gd name="T16" fmla="*/ 2147483647 w 29"/>
              <a:gd name="T17" fmla="*/ 2147483647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
              <a:gd name="T28" fmla="*/ 0 h 18"/>
              <a:gd name="T29" fmla="*/ 29 w 29"/>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 h="18">
                <a:moveTo>
                  <a:pt x="24" y="9"/>
                </a:moveTo>
                <a:cubicBezTo>
                  <a:pt x="29" y="0"/>
                  <a:pt x="29" y="0"/>
                  <a:pt x="29" y="0"/>
                </a:cubicBezTo>
                <a:cubicBezTo>
                  <a:pt x="29" y="0"/>
                  <a:pt x="29" y="0"/>
                  <a:pt x="29" y="0"/>
                </a:cubicBezTo>
                <a:cubicBezTo>
                  <a:pt x="15" y="6"/>
                  <a:pt x="15" y="6"/>
                  <a:pt x="15" y="6"/>
                </a:cubicBezTo>
                <a:cubicBezTo>
                  <a:pt x="10" y="7"/>
                  <a:pt x="5" y="8"/>
                  <a:pt x="0" y="9"/>
                </a:cubicBezTo>
                <a:cubicBezTo>
                  <a:pt x="5" y="10"/>
                  <a:pt x="10" y="11"/>
                  <a:pt x="15" y="12"/>
                </a:cubicBezTo>
                <a:cubicBezTo>
                  <a:pt x="29" y="18"/>
                  <a:pt x="29" y="18"/>
                  <a:pt x="29" y="18"/>
                </a:cubicBezTo>
                <a:cubicBezTo>
                  <a:pt x="29" y="18"/>
                  <a:pt x="29" y="18"/>
                  <a:pt x="29" y="18"/>
                </a:cubicBezTo>
                <a:lnTo>
                  <a:pt x="24" y="9"/>
                </a:lnTo>
                <a:close/>
              </a:path>
            </a:pathLst>
          </a:custGeom>
          <a:solidFill>
            <a:srgbClr val="000000"/>
          </a:solidFill>
          <a:ln w="9525">
            <a:noFill/>
            <a:round/>
            <a:headEnd/>
            <a:tailEnd/>
          </a:ln>
        </p:spPr>
        <p:txBody>
          <a:bodyPr/>
          <a:lstStyle/>
          <a:p>
            <a:endParaRPr lang="en-US"/>
          </a:p>
        </p:txBody>
      </p:sp>
      <p:sp>
        <p:nvSpPr>
          <p:cNvPr id="596077" name="Rectangle 109"/>
          <p:cNvSpPr>
            <a:spLocks noChangeArrowheads="1"/>
          </p:cNvSpPr>
          <p:nvPr/>
        </p:nvSpPr>
        <p:spPr bwMode="auto">
          <a:xfrm>
            <a:off x="4724400" y="5638800"/>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p>
        </p:txBody>
      </p:sp>
      <p:sp>
        <p:nvSpPr>
          <p:cNvPr id="596078" name="Rectangle 110"/>
          <p:cNvSpPr>
            <a:spLocks noChangeArrowheads="1"/>
          </p:cNvSpPr>
          <p:nvPr/>
        </p:nvSpPr>
        <p:spPr bwMode="auto">
          <a:xfrm>
            <a:off x="4876800" y="579120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596079" name="Rectangle 111"/>
          <p:cNvSpPr>
            <a:spLocks noChangeArrowheads="1"/>
          </p:cNvSpPr>
          <p:nvPr/>
        </p:nvSpPr>
        <p:spPr bwMode="auto">
          <a:xfrm>
            <a:off x="4114800" y="5638800"/>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p>
        </p:txBody>
      </p:sp>
      <p:sp>
        <p:nvSpPr>
          <p:cNvPr id="596080" name="Rectangle 112"/>
          <p:cNvSpPr>
            <a:spLocks noChangeArrowheads="1"/>
          </p:cNvSpPr>
          <p:nvPr/>
        </p:nvSpPr>
        <p:spPr bwMode="auto">
          <a:xfrm>
            <a:off x="4191000" y="579120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596081" name="Line 113"/>
          <p:cNvSpPr>
            <a:spLocks noChangeShapeType="1"/>
          </p:cNvSpPr>
          <p:nvPr/>
        </p:nvSpPr>
        <p:spPr bwMode="auto">
          <a:xfrm flipV="1">
            <a:off x="1792288" y="3209925"/>
            <a:ext cx="0" cy="615950"/>
          </a:xfrm>
          <a:prstGeom prst="line">
            <a:avLst/>
          </a:prstGeom>
          <a:noFill/>
          <a:ln w="15875">
            <a:solidFill>
              <a:srgbClr val="000000"/>
            </a:solidFill>
            <a:miter lim="800000"/>
            <a:headEnd/>
            <a:tailEnd/>
          </a:ln>
        </p:spPr>
        <p:txBody>
          <a:bodyPr/>
          <a:lstStyle/>
          <a:p>
            <a:endParaRPr lang="en-US"/>
          </a:p>
        </p:txBody>
      </p:sp>
      <p:sp>
        <p:nvSpPr>
          <p:cNvPr id="596082" name="Freeform 114"/>
          <p:cNvSpPr>
            <a:spLocks/>
          </p:cNvSpPr>
          <p:nvPr/>
        </p:nvSpPr>
        <p:spPr bwMode="auto">
          <a:xfrm>
            <a:off x="1751013" y="3121025"/>
            <a:ext cx="80962" cy="122238"/>
          </a:xfrm>
          <a:custGeom>
            <a:avLst/>
            <a:gdLst>
              <a:gd name="T0" fmla="*/ 2147483647 w 14"/>
              <a:gd name="T1" fmla="*/ 2147483647 h 19"/>
              <a:gd name="T2" fmla="*/ 2147483647 w 14"/>
              <a:gd name="T3" fmla="*/ 2147483647 h 19"/>
              <a:gd name="T4" fmla="*/ 2147483647 w 14"/>
              <a:gd name="T5" fmla="*/ 2147483647 h 19"/>
              <a:gd name="T6" fmla="*/ 2147483647 w 14"/>
              <a:gd name="T7" fmla="*/ 2147483647 h 19"/>
              <a:gd name="T8" fmla="*/ 2147483647 w 14"/>
              <a:gd name="T9" fmla="*/ 0 h 19"/>
              <a:gd name="T10" fmla="*/ 2147483647 w 14"/>
              <a:gd name="T11" fmla="*/ 2147483647 h 19"/>
              <a:gd name="T12" fmla="*/ 0 w 14"/>
              <a:gd name="T13" fmla="*/ 2147483647 h 19"/>
              <a:gd name="T14" fmla="*/ 0 w 14"/>
              <a:gd name="T15" fmla="*/ 2147483647 h 19"/>
              <a:gd name="T16" fmla="*/ 2147483647 w 14"/>
              <a:gd name="T17" fmla="*/ 2147483647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19"/>
              <a:gd name="T29" fmla="*/ 14 w 14"/>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19">
                <a:moveTo>
                  <a:pt x="7" y="16"/>
                </a:moveTo>
                <a:cubicBezTo>
                  <a:pt x="13" y="19"/>
                  <a:pt x="13" y="19"/>
                  <a:pt x="13" y="19"/>
                </a:cubicBezTo>
                <a:cubicBezTo>
                  <a:pt x="14" y="19"/>
                  <a:pt x="14" y="19"/>
                  <a:pt x="14" y="19"/>
                </a:cubicBezTo>
                <a:cubicBezTo>
                  <a:pt x="9" y="10"/>
                  <a:pt x="9" y="10"/>
                  <a:pt x="9" y="10"/>
                </a:cubicBezTo>
                <a:cubicBezTo>
                  <a:pt x="9" y="6"/>
                  <a:pt x="8" y="3"/>
                  <a:pt x="7" y="0"/>
                </a:cubicBezTo>
                <a:cubicBezTo>
                  <a:pt x="6" y="3"/>
                  <a:pt x="5" y="6"/>
                  <a:pt x="5" y="10"/>
                </a:cubicBezTo>
                <a:cubicBezTo>
                  <a:pt x="0" y="19"/>
                  <a:pt x="0" y="19"/>
                  <a:pt x="0" y="19"/>
                </a:cubicBezTo>
                <a:cubicBezTo>
                  <a:pt x="0" y="19"/>
                  <a:pt x="0" y="19"/>
                  <a:pt x="0" y="19"/>
                </a:cubicBezTo>
                <a:lnTo>
                  <a:pt x="7" y="16"/>
                </a:lnTo>
                <a:close/>
              </a:path>
            </a:pathLst>
          </a:custGeom>
          <a:solidFill>
            <a:srgbClr val="000000"/>
          </a:solidFill>
          <a:ln w="9525">
            <a:noFill/>
            <a:round/>
            <a:headEnd/>
            <a:tailEnd/>
          </a:ln>
        </p:spPr>
        <p:txBody>
          <a:bodyPr/>
          <a:lstStyle/>
          <a:p>
            <a:endParaRPr lang="en-US"/>
          </a:p>
        </p:txBody>
      </p:sp>
      <p:sp>
        <p:nvSpPr>
          <p:cNvPr id="596083" name="Line 115"/>
          <p:cNvSpPr>
            <a:spLocks noChangeShapeType="1"/>
          </p:cNvSpPr>
          <p:nvPr/>
        </p:nvSpPr>
        <p:spPr bwMode="auto">
          <a:xfrm flipH="1">
            <a:off x="4373563" y="5724525"/>
            <a:ext cx="239712" cy="0"/>
          </a:xfrm>
          <a:prstGeom prst="line">
            <a:avLst/>
          </a:prstGeom>
          <a:noFill/>
          <a:ln w="15875">
            <a:solidFill>
              <a:srgbClr val="000000"/>
            </a:solidFill>
            <a:miter lim="800000"/>
            <a:headEnd/>
            <a:tailEnd/>
          </a:ln>
        </p:spPr>
        <p:txBody>
          <a:bodyPr/>
          <a:lstStyle/>
          <a:p>
            <a:endParaRPr lang="en-US"/>
          </a:p>
        </p:txBody>
      </p:sp>
      <p:sp>
        <p:nvSpPr>
          <p:cNvPr id="596084" name="Freeform 116"/>
          <p:cNvSpPr>
            <a:spLocks/>
          </p:cNvSpPr>
          <p:nvPr/>
        </p:nvSpPr>
        <p:spPr bwMode="auto">
          <a:xfrm>
            <a:off x="4325938" y="5681663"/>
            <a:ext cx="130175" cy="80962"/>
          </a:xfrm>
          <a:custGeom>
            <a:avLst/>
            <a:gdLst>
              <a:gd name="T0" fmla="*/ 2147483647 w 22"/>
              <a:gd name="T1" fmla="*/ 2147483647 h 13"/>
              <a:gd name="T2" fmla="*/ 2147483647 w 22"/>
              <a:gd name="T3" fmla="*/ 0 h 13"/>
              <a:gd name="T4" fmla="*/ 2147483647 w 22"/>
              <a:gd name="T5" fmla="*/ 0 h 13"/>
              <a:gd name="T6" fmla="*/ 2147483647 w 22"/>
              <a:gd name="T7" fmla="*/ 2147483647 h 13"/>
              <a:gd name="T8" fmla="*/ 0 w 22"/>
              <a:gd name="T9" fmla="*/ 2147483647 h 13"/>
              <a:gd name="T10" fmla="*/ 2147483647 w 22"/>
              <a:gd name="T11" fmla="*/ 2147483647 h 13"/>
              <a:gd name="T12" fmla="*/ 2147483647 w 22"/>
              <a:gd name="T13" fmla="*/ 2147483647 h 13"/>
              <a:gd name="T14" fmla="*/ 2147483647 w 22"/>
              <a:gd name="T15" fmla="*/ 2147483647 h 13"/>
              <a:gd name="T16" fmla="*/ 2147483647 w 22"/>
              <a:gd name="T17" fmla="*/ 2147483647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3"/>
              <a:gd name="T29" fmla="*/ 22 w 22"/>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3">
                <a:moveTo>
                  <a:pt x="18" y="7"/>
                </a:moveTo>
                <a:cubicBezTo>
                  <a:pt x="22" y="0"/>
                  <a:pt x="22" y="0"/>
                  <a:pt x="22" y="0"/>
                </a:cubicBezTo>
                <a:cubicBezTo>
                  <a:pt x="22" y="0"/>
                  <a:pt x="22" y="0"/>
                  <a:pt x="22" y="0"/>
                </a:cubicBezTo>
                <a:cubicBezTo>
                  <a:pt x="11" y="4"/>
                  <a:pt x="11" y="4"/>
                  <a:pt x="11" y="4"/>
                </a:cubicBezTo>
                <a:cubicBezTo>
                  <a:pt x="8" y="5"/>
                  <a:pt x="4" y="6"/>
                  <a:pt x="0" y="7"/>
                </a:cubicBezTo>
                <a:cubicBezTo>
                  <a:pt x="4" y="8"/>
                  <a:pt x="8" y="8"/>
                  <a:pt x="11" y="9"/>
                </a:cubicBezTo>
                <a:cubicBezTo>
                  <a:pt x="22" y="13"/>
                  <a:pt x="22" y="13"/>
                  <a:pt x="22" y="13"/>
                </a:cubicBezTo>
                <a:cubicBezTo>
                  <a:pt x="22" y="13"/>
                  <a:pt x="22" y="13"/>
                  <a:pt x="22" y="13"/>
                </a:cubicBezTo>
                <a:lnTo>
                  <a:pt x="18" y="7"/>
                </a:lnTo>
                <a:close/>
              </a:path>
            </a:pathLst>
          </a:custGeom>
          <a:solidFill>
            <a:srgbClr val="000000"/>
          </a:solidFill>
          <a:ln w="9525">
            <a:noFill/>
            <a:round/>
            <a:headEnd/>
            <a:tailEnd/>
          </a:ln>
        </p:spPr>
        <p:txBody>
          <a:bodyPr/>
          <a:lstStyle/>
          <a:p>
            <a:endParaRPr lang="en-US"/>
          </a:p>
        </p:txBody>
      </p:sp>
      <p:sp>
        <p:nvSpPr>
          <p:cNvPr id="596085" name="Line 117"/>
          <p:cNvSpPr>
            <a:spLocks noChangeShapeType="1"/>
          </p:cNvSpPr>
          <p:nvPr/>
        </p:nvSpPr>
        <p:spPr bwMode="auto">
          <a:xfrm flipV="1">
            <a:off x="1949450" y="923925"/>
            <a:ext cx="0" cy="4337050"/>
          </a:xfrm>
          <a:prstGeom prst="line">
            <a:avLst/>
          </a:prstGeom>
          <a:noFill/>
          <a:ln w="11113">
            <a:solidFill>
              <a:srgbClr val="000000"/>
            </a:solidFill>
            <a:miter lim="800000"/>
            <a:headEnd/>
            <a:tailEnd/>
          </a:ln>
        </p:spPr>
        <p:txBody>
          <a:bodyPr/>
          <a:lstStyle/>
          <a:p>
            <a:endParaRPr lang="en-US"/>
          </a:p>
        </p:txBody>
      </p:sp>
      <p:sp>
        <p:nvSpPr>
          <p:cNvPr id="596086" name="Freeform 118"/>
          <p:cNvSpPr>
            <a:spLocks/>
          </p:cNvSpPr>
          <p:nvPr/>
        </p:nvSpPr>
        <p:spPr bwMode="auto">
          <a:xfrm>
            <a:off x="1949450" y="5260975"/>
            <a:ext cx="285750" cy="287338"/>
          </a:xfrm>
          <a:custGeom>
            <a:avLst/>
            <a:gdLst>
              <a:gd name="T0" fmla="*/ 2147483647 w 163"/>
              <a:gd name="T1" fmla="*/ 2147483647 h 150"/>
              <a:gd name="T2" fmla="*/ 0 w 163"/>
              <a:gd name="T3" fmla="*/ 2147483647 h 150"/>
              <a:gd name="T4" fmla="*/ 0 w 163"/>
              <a:gd name="T5" fmla="*/ 0 h 150"/>
              <a:gd name="T6" fmla="*/ 0 60000 65536"/>
              <a:gd name="T7" fmla="*/ 0 60000 65536"/>
              <a:gd name="T8" fmla="*/ 0 60000 65536"/>
              <a:gd name="T9" fmla="*/ 0 w 163"/>
              <a:gd name="T10" fmla="*/ 0 h 150"/>
              <a:gd name="T11" fmla="*/ 163 w 163"/>
              <a:gd name="T12" fmla="*/ 150 h 150"/>
            </a:gdLst>
            <a:ahLst/>
            <a:cxnLst>
              <a:cxn ang="T6">
                <a:pos x="T0" y="T1"/>
              </a:cxn>
              <a:cxn ang="T7">
                <a:pos x="T2" y="T3"/>
              </a:cxn>
              <a:cxn ang="T8">
                <a:pos x="T4" y="T5"/>
              </a:cxn>
            </a:cxnLst>
            <a:rect l="T9" t="T10" r="T11" b="T12"/>
            <a:pathLst>
              <a:path w="163" h="150">
                <a:moveTo>
                  <a:pt x="163" y="150"/>
                </a:moveTo>
                <a:lnTo>
                  <a:pt x="0" y="150"/>
                </a:lnTo>
                <a:lnTo>
                  <a:pt x="0" y="0"/>
                </a:lnTo>
              </a:path>
            </a:pathLst>
          </a:custGeom>
          <a:noFill/>
          <a:ln w="11113" cap="flat">
            <a:solidFill>
              <a:srgbClr val="000000"/>
            </a:solidFill>
            <a:prstDash val="solid"/>
            <a:miter lim="800000"/>
            <a:headEnd/>
            <a:tailEnd/>
          </a:ln>
        </p:spPr>
        <p:txBody>
          <a:bodyPr/>
          <a:lstStyle/>
          <a:p>
            <a:endParaRPr lang="en-US"/>
          </a:p>
        </p:txBody>
      </p:sp>
      <p:sp>
        <p:nvSpPr>
          <p:cNvPr id="596087" name="Line 119"/>
          <p:cNvSpPr>
            <a:spLocks noChangeShapeType="1"/>
          </p:cNvSpPr>
          <p:nvPr/>
        </p:nvSpPr>
        <p:spPr bwMode="auto">
          <a:xfrm flipH="1">
            <a:off x="2235200" y="5548313"/>
            <a:ext cx="5443538" cy="0"/>
          </a:xfrm>
          <a:prstGeom prst="line">
            <a:avLst/>
          </a:prstGeom>
          <a:noFill/>
          <a:ln w="11113">
            <a:solidFill>
              <a:srgbClr val="000000"/>
            </a:solidFill>
            <a:miter lim="800000"/>
            <a:headEnd/>
            <a:tailEnd/>
          </a:ln>
        </p:spPr>
        <p:txBody>
          <a:bodyPr/>
          <a:lstStyle/>
          <a:p>
            <a:endParaRPr lang="en-US"/>
          </a:p>
        </p:txBody>
      </p:sp>
      <p:sp>
        <p:nvSpPr>
          <p:cNvPr id="596088" name="Rectangle 120"/>
          <p:cNvSpPr>
            <a:spLocks noChangeArrowheads="1"/>
          </p:cNvSpPr>
          <p:nvPr/>
        </p:nvSpPr>
        <p:spPr bwMode="auto">
          <a:xfrm>
            <a:off x="5510213" y="4968875"/>
            <a:ext cx="6699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Demand</a:t>
            </a:r>
            <a:endParaRPr lang="en-US" sz="1400"/>
          </a:p>
        </p:txBody>
      </p:sp>
      <p:sp>
        <p:nvSpPr>
          <p:cNvPr id="596089" name="Freeform 121"/>
          <p:cNvSpPr>
            <a:spLocks/>
          </p:cNvSpPr>
          <p:nvPr/>
        </p:nvSpPr>
        <p:spPr bwMode="auto">
          <a:xfrm>
            <a:off x="990600" y="3200400"/>
            <a:ext cx="700088" cy="625475"/>
          </a:xfrm>
          <a:custGeom>
            <a:avLst/>
            <a:gdLst>
              <a:gd name="T0" fmla="*/ 2147483647 w 94"/>
              <a:gd name="T1" fmla="*/ 2147483647 h 95"/>
              <a:gd name="T2" fmla="*/ 2147483647 w 94"/>
              <a:gd name="T3" fmla="*/ 2147483647 h 95"/>
              <a:gd name="T4" fmla="*/ 2147483647 w 94"/>
              <a:gd name="T5" fmla="*/ 2147483647 h 95"/>
              <a:gd name="T6" fmla="*/ 0 w 94"/>
              <a:gd name="T7" fmla="*/ 2147483647 h 95"/>
              <a:gd name="T8" fmla="*/ 0 w 94"/>
              <a:gd name="T9" fmla="*/ 2147483647 h 95"/>
              <a:gd name="T10" fmla="*/ 2147483647 w 94"/>
              <a:gd name="T11" fmla="*/ 0 h 95"/>
              <a:gd name="T12" fmla="*/ 2147483647 w 94"/>
              <a:gd name="T13" fmla="*/ 0 h 95"/>
              <a:gd name="T14" fmla="*/ 2147483647 w 94"/>
              <a:gd name="T15" fmla="*/ 2147483647 h 95"/>
              <a:gd name="T16" fmla="*/ 2147483647 w 94"/>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4"/>
              <a:gd name="T28" fmla="*/ 0 h 95"/>
              <a:gd name="T29" fmla="*/ 94 w 94"/>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4" h="95">
                <a:moveTo>
                  <a:pt x="94" y="81"/>
                </a:moveTo>
                <a:cubicBezTo>
                  <a:pt x="94" y="89"/>
                  <a:pt x="87" y="95"/>
                  <a:pt x="80" y="95"/>
                </a:cubicBezTo>
                <a:cubicBezTo>
                  <a:pt x="14" y="95"/>
                  <a:pt x="14" y="95"/>
                  <a:pt x="14" y="95"/>
                </a:cubicBezTo>
                <a:cubicBezTo>
                  <a:pt x="7" y="95"/>
                  <a:pt x="0" y="89"/>
                  <a:pt x="0" y="81"/>
                </a:cubicBezTo>
                <a:cubicBezTo>
                  <a:pt x="0" y="14"/>
                  <a:pt x="0" y="14"/>
                  <a:pt x="0" y="14"/>
                </a:cubicBezTo>
                <a:cubicBezTo>
                  <a:pt x="0" y="6"/>
                  <a:pt x="7" y="0"/>
                  <a:pt x="14" y="0"/>
                </a:cubicBezTo>
                <a:cubicBezTo>
                  <a:pt x="80" y="0"/>
                  <a:pt x="80" y="0"/>
                  <a:pt x="80" y="0"/>
                </a:cubicBezTo>
                <a:cubicBezTo>
                  <a:pt x="87" y="0"/>
                  <a:pt x="94" y="6"/>
                  <a:pt x="94" y="14"/>
                </a:cubicBezTo>
                <a:lnTo>
                  <a:pt x="94" y="81"/>
                </a:lnTo>
                <a:close/>
              </a:path>
            </a:pathLst>
          </a:custGeom>
          <a:solidFill>
            <a:srgbClr val="D6E2E0"/>
          </a:solidFill>
          <a:ln w="9525">
            <a:noFill/>
            <a:round/>
            <a:headEnd/>
            <a:tailEnd/>
          </a:ln>
        </p:spPr>
        <p:txBody>
          <a:bodyPr/>
          <a:lstStyle/>
          <a:p>
            <a:endParaRPr lang="en-US"/>
          </a:p>
        </p:txBody>
      </p:sp>
      <p:sp>
        <p:nvSpPr>
          <p:cNvPr id="596090" name="Rectangle 122"/>
          <p:cNvSpPr>
            <a:spLocks noChangeArrowheads="1"/>
          </p:cNvSpPr>
          <p:nvPr/>
        </p:nvSpPr>
        <p:spPr bwMode="auto">
          <a:xfrm>
            <a:off x="4876800" y="38862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p>
        </p:txBody>
      </p:sp>
      <p:sp>
        <p:nvSpPr>
          <p:cNvPr id="596091" name="Rectangle 123"/>
          <p:cNvSpPr>
            <a:spLocks noChangeArrowheads="1"/>
          </p:cNvSpPr>
          <p:nvPr/>
        </p:nvSpPr>
        <p:spPr bwMode="auto">
          <a:xfrm>
            <a:off x="4994275" y="396557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596092" name="Rectangle 124"/>
          <p:cNvSpPr>
            <a:spLocks noChangeArrowheads="1"/>
          </p:cNvSpPr>
          <p:nvPr/>
        </p:nvSpPr>
        <p:spPr bwMode="auto">
          <a:xfrm>
            <a:off x="5959475" y="16017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sp>
        <p:nvSpPr>
          <p:cNvPr id="596093" name="Rectangle 125"/>
          <p:cNvSpPr>
            <a:spLocks noChangeArrowheads="1"/>
          </p:cNvSpPr>
          <p:nvPr/>
        </p:nvSpPr>
        <p:spPr bwMode="auto">
          <a:xfrm>
            <a:off x="6073775" y="172402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596094" name="Rectangle 126"/>
          <p:cNvSpPr>
            <a:spLocks noChangeArrowheads="1"/>
          </p:cNvSpPr>
          <p:nvPr/>
        </p:nvSpPr>
        <p:spPr bwMode="auto">
          <a:xfrm>
            <a:off x="4538663" y="15716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sp>
        <p:nvSpPr>
          <p:cNvPr id="596095" name="Rectangle 127"/>
          <p:cNvSpPr>
            <a:spLocks noChangeArrowheads="1"/>
          </p:cNvSpPr>
          <p:nvPr/>
        </p:nvSpPr>
        <p:spPr bwMode="auto">
          <a:xfrm>
            <a:off x="4654550" y="1693863"/>
            <a:ext cx="98425"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596096" name="Rectangle 128"/>
          <p:cNvSpPr>
            <a:spLocks noChangeArrowheads="1"/>
          </p:cNvSpPr>
          <p:nvPr/>
        </p:nvSpPr>
        <p:spPr bwMode="auto">
          <a:xfrm>
            <a:off x="4344988" y="26479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p>
        </p:txBody>
      </p:sp>
      <p:sp>
        <p:nvSpPr>
          <p:cNvPr id="596097" name="Rectangle 129"/>
          <p:cNvSpPr>
            <a:spLocks noChangeArrowheads="1"/>
          </p:cNvSpPr>
          <p:nvPr/>
        </p:nvSpPr>
        <p:spPr bwMode="auto">
          <a:xfrm>
            <a:off x="4500563" y="2708275"/>
            <a:ext cx="152400" cy="215900"/>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Myriad Roman"/>
              </a:rPr>
              <a:t>2</a:t>
            </a:r>
            <a:endParaRPr lang="en-US" sz="1400"/>
          </a:p>
        </p:txBody>
      </p:sp>
      <p:sp>
        <p:nvSpPr>
          <p:cNvPr id="596098" name="Freeform 130"/>
          <p:cNvSpPr>
            <a:spLocks/>
          </p:cNvSpPr>
          <p:nvPr/>
        </p:nvSpPr>
        <p:spPr bwMode="auto">
          <a:xfrm>
            <a:off x="4467225" y="3095625"/>
            <a:ext cx="279400" cy="577850"/>
          </a:xfrm>
          <a:custGeom>
            <a:avLst/>
            <a:gdLst>
              <a:gd name="T0" fmla="*/ 2147483647 w 48"/>
              <a:gd name="T1" fmla="*/ 2147483647 h 91"/>
              <a:gd name="T2" fmla="*/ 0 w 48"/>
              <a:gd name="T3" fmla="*/ 0 h 91"/>
              <a:gd name="T4" fmla="*/ 0 60000 65536"/>
              <a:gd name="T5" fmla="*/ 0 60000 65536"/>
              <a:gd name="T6" fmla="*/ 0 w 48"/>
              <a:gd name="T7" fmla="*/ 0 h 91"/>
              <a:gd name="T8" fmla="*/ 48 w 48"/>
              <a:gd name="T9" fmla="*/ 91 h 91"/>
            </a:gdLst>
            <a:ahLst/>
            <a:cxnLst>
              <a:cxn ang="T4">
                <a:pos x="T0" y="T1"/>
              </a:cxn>
              <a:cxn ang="T5">
                <a:pos x="T2" y="T3"/>
              </a:cxn>
            </a:cxnLst>
            <a:rect l="T6" t="T7" r="T8" b="T9"/>
            <a:pathLst>
              <a:path w="48" h="91">
                <a:moveTo>
                  <a:pt x="48" y="91"/>
                </a:moveTo>
                <a:cubicBezTo>
                  <a:pt x="31" y="63"/>
                  <a:pt x="14" y="33"/>
                  <a:pt x="0" y="0"/>
                </a:cubicBezTo>
              </a:path>
            </a:pathLst>
          </a:custGeom>
          <a:noFill/>
          <a:ln w="41275" cap="flat">
            <a:solidFill>
              <a:srgbClr val="000000"/>
            </a:solidFill>
            <a:prstDash val="solid"/>
            <a:miter lim="800000"/>
            <a:headEnd/>
            <a:tailEnd/>
          </a:ln>
        </p:spPr>
        <p:txBody>
          <a:bodyPr/>
          <a:lstStyle/>
          <a:p>
            <a:endParaRPr lang="en-US"/>
          </a:p>
        </p:txBody>
      </p:sp>
      <p:sp>
        <p:nvSpPr>
          <p:cNvPr id="596099" name="Freeform 131"/>
          <p:cNvSpPr>
            <a:spLocks/>
          </p:cNvSpPr>
          <p:nvPr/>
        </p:nvSpPr>
        <p:spPr bwMode="auto">
          <a:xfrm>
            <a:off x="3948113" y="1785938"/>
            <a:ext cx="1492250" cy="3227387"/>
          </a:xfrm>
          <a:custGeom>
            <a:avLst/>
            <a:gdLst>
              <a:gd name="T0" fmla="*/ 0 w 256"/>
              <a:gd name="T1" fmla="*/ 0 h 508"/>
              <a:gd name="T2" fmla="*/ 2147483647 w 256"/>
              <a:gd name="T3" fmla="*/ 2147483647 h 508"/>
              <a:gd name="T4" fmla="*/ 0 60000 65536"/>
              <a:gd name="T5" fmla="*/ 0 60000 65536"/>
              <a:gd name="T6" fmla="*/ 0 w 256"/>
              <a:gd name="T7" fmla="*/ 0 h 508"/>
              <a:gd name="T8" fmla="*/ 256 w 256"/>
              <a:gd name="T9" fmla="*/ 508 h 508"/>
            </a:gdLst>
            <a:ahLst/>
            <a:cxnLst>
              <a:cxn ang="T4">
                <a:pos x="T0" y="T1"/>
              </a:cxn>
              <a:cxn ang="T5">
                <a:pos x="T2" y="T3"/>
              </a:cxn>
            </a:cxnLst>
            <a:rect l="T6" t="T7" r="T8" b="T9"/>
            <a:pathLst>
              <a:path w="256" h="508">
                <a:moveTo>
                  <a:pt x="0" y="0"/>
                </a:moveTo>
                <a:cubicBezTo>
                  <a:pt x="3" y="134"/>
                  <a:pt x="121" y="354"/>
                  <a:pt x="256" y="508"/>
                </a:cubicBezTo>
              </a:path>
            </a:pathLst>
          </a:custGeom>
          <a:noFill/>
          <a:ln w="41275" cap="flat">
            <a:solidFill>
              <a:srgbClr val="3C5DAA"/>
            </a:solidFill>
            <a:prstDash val="solid"/>
            <a:miter lim="800000"/>
            <a:headEnd/>
            <a:tailEnd/>
          </a:ln>
        </p:spPr>
        <p:txBody>
          <a:bodyPr/>
          <a:lstStyle/>
          <a:p>
            <a:endParaRPr lang="en-US"/>
          </a:p>
        </p:txBody>
      </p:sp>
      <p:sp>
        <p:nvSpPr>
          <p:cNvPr id="596100" name="Freeform 132"/>
          <p:cNvSpPr>
            <a:spLocks/>
          </p:cNvSpPr>
          <p:nvPr/>
        </p:nvSpPr>
        <p:spPr bwMode="auto">
          <a:xfrm>
            <a:off x="2811463" y="1882775"/>
            <a:ext cx="1743075" cy="3005138"/>
          </a:xfrm>
          <a:custGeom>
            <a:avLst/>
            <a:gdLst>
              <a:gd name="T0" fmla="*/ 2147483647 w 299"/>
              <a:gd name="T1" fmla="*/ 0 h 473"/>
              <a:gd name="T2" fmla="*/ 0 w 299"/>
              <a:gd name="T3" fmla="*/ 2147483647 h 473"/>
              <a:gd name="T4" fmla="*/ 0 60000 65536"/>
              <a:gd name="T5" fmla="*/ 0 60000 65536"/>
              <a:gd name="T6" fmla="*/ 0 w 299"/>
              <a:gd name="T7" fmla="*/ 0 h 473"/>
              <a:gd name="T8" fmla="*/ 299 w 299"/>
              <a:gd name="T9" fmla="*/ 473 h 473"/>
            </a:gdLst>
            <a:ahLst/>
            <a:cxnLst>
              <a:cxn ang="T4">
                <a:pos x="T0" y="T1"/>
              </a:cxn>
              <a:cxn ang="T5">
                <a:pos x="T2" y="T3"/>
              </a:cxn>
            </a:cxnLst>
            <a:rect l="T6" t="T7" r="T8" b="T9"/>
            <a:pathLst>
              <a:path w="299" h="473">
                <a:moveTo>
                  <a:pt x="299" y="0"/>
                </a:moveTo>
                <a:cubicBezTo>
                  <a:pt x="280" y="151"/>
                  <a:pt x="130" y="341"/>
                  <a:pt x="0" y="473"/>
                </a:cubicBezTo>
              </a:path>
            </a:pathLst>
          </a:custGeom>
          <a:noFill/>
          <a:ln w="41275" cap="flat">
            <a:solidFill>
              <a:srgbClr val="EE313C"/>
            </a:solidFill>
            <a:prstDash val="solid"/>
            <a:miter lim="800000"/>
            <a:headEnd/>
            <a:tailEnd/>
          </a:ln>
        </p:spPr>
        <p:txBody>
          <a:bodyPr/>
          <a:lstStyle/>
          <a:p>
            <a:endParaRPr lang="en-US"/>
          </a:p>
        </p:txBody>
      </p:sp>
      <p:sp>
        <p:nvSpPr>
          <p:cNvPr id="596101" name="Freeform 133"/>
          <p:cNvSpPr>
            <a:spLocks/>
          </p:cNvSpPr>
          <p:nvPr/>
        </p:nvSpPr>
        <p:spPr bwMode="auto">
          <a:xfrm>
            <a:off x="3500438" y="1925638"/>
            <a:ext cx="2465387" cy="3011487"/>
          </a:xfrm>
          <a:custGeom>
            <a:avLst/>
            <a:gdLst>
              <a:gd name="T0" fmla="*/ 2147483647 w 423"/>
              <a:gd name="T1" fmla="*/ 0 h 474"/>
              <a:gd name="T2" fmla="*/ 0 w 423"/>
              <a:gd name="T3" fmla="*/ 2147483647 h 474"/>
              <a:gd name="T4" fmla="*/ 0 60000 65536"/>
              <a:gd name="T5" fmla="*/ 0 60000 65536"/>
              <a:gd name="T6" fmla="*/ 0 w 423"/>
              <a:gd name="T7" fmla="*/ 0 h 474"/>
              <a:gd name="T8" fmla="*/ 423 w 423"/>
              <a:gd name="T9" fmla="*/ 474 h 474"/>
            </a:gdLst>
            <a:ahLst/>
            <a:cxnLst>
              <a:cxn ang="T4">
                <a:pos x="T0" y="T1"/>
              </a:cxn>
              <a:cxn ang="T5">
                <a:pos x="T2" y="T3"/>
              </a:cxn>
            </a:cxnLst>
            <a:rect l="T6" t="T7" r="T8" b="T9"/>
            <a:pathLst>
              <a:path w="423" h="474">
                <a:moveTo>
                  <a:pt x="423" y="0"/>
                </a:moveTo>
                <a:cubicBezTo>
                  <a:pt x="411" y="81"/>
                  <a:pt x="355" y="259"/>
                  <a:pt x="0" y="474"/>
                </a:cubicBezTo>
              </a:path>
            </a:pathLst>
          </a:custGeom>
          <a:noFill/>
          <a:ln w="41275" cap="flat">
            <a:solidFill>
              <a:srgbClr val="FAC0BF"/>
            </a:solidFill>
            <a:prstDash val="solid"/>
            <a:miter lim="800000"/>
            <a:headEnd/>
            <a:tailEnd/>
          </a:ln>
        </p:spPr>
        <p:txBody>
          <a:bodyPr/>
          <a:lstStyle/>
          <a:p>
            <a:endParaRPr lang="en-US"/>
          </a:p>
        </p:txBody>
      </p:sp>
      <p:sp>
        <p:nvSpPr>
          <p:cNvPr id="596102" name="Oval 134"/>
          <p:cNvSpPr>
            <a:spLocks noChangeArrowheads="1"/>
          </p:cNvSpPr>
          <p:nvPr/>
        </p:nvSpPr>
        <p:spPr bwMode="auto">
          <a:xfrm>
            <a:off x="4694238" y="3921125"/>
            <a:ext cx="117475" cy="127000"/>
          </a:xfrm>
          <a:prstGeom prst="ellipse">
            <a:avLst/>
          </a:prstGeom>
          <a:solidFill>
            <a:srgbClr val="000000"/>
          </a:solidFill>
          <a:ln w="9525">
            <a:noFill/>
            <a:round/>
            <a:headEnd/>
            <a:tailEnd/>
          </a:ln>
        </p:spPr>
        <p:txBody>
          <a:bodyPr/>
          <a:lstStyle/>
          <a:p>
            <a:endParaRPr lang="en-US"/>
          </a:p>
        </p:txBody>
      </p:sp>
      <p:sp>
        <p:nvSpPr>
          <p:cNvPr id="596103" name="Oval 135"/>
          <p:cNvSpPr>
            <a:spLocks noChangeArrowheads="1"/>
          </p:cNvSpPr>
          <p:nvPr/>
        </p:nvSpPr>
        <p:spPr bwMode="auto">
          <a:xfrm>
            <a:off x="4152900" y="2847975"/>
            <a:ext cx="115888" cy="127000"/>
          </a:xfrm>
          <a:prstGeom prst="ellipse">
            <a:avLst/>
          </a:prstGeom>
          <a:solidFill>
            <a:srgbClr val="000000"/>
          </a:solidFill>
          <a:ln w="9525">
            <a:noFill/>
            <a:round/>
            <a:headEnd/>
            <a:tailEnd/>
          </a:ln>
        </p:spPr>
        <p:txBody>
          <a:bodyPr/>
          <a:lstStyle/>
          <a:p>
            <a:endParaRPr lang="en-US"/>
          </a:p>
        </p:txBody>
      </p:sp>
      <p:sp>
        <p:nvSpPr>
          <p:cNvPr id="596104" name="Line 136"/>
          <p:cNvSpPr>
            <a:spLocks noChangeShapeType="1"/>
          </p:cNvSpPr>
          <p:nvPr/>
        </p:nvSpPr>
        <p:spPr bwMode="auto">
          <a:xfrm flipV="1">
            <a:off x="5329238" y="2020888"/>
            <a:ext cx="1071562" cy="452437"/>
          </a:xfrm>
          <a:prstGeom prst="line">
            <a:avLst/>
          </a:prstGeom>
          <a:noFill/>
          <a:ln w="11113">
            <a:solidFill>
              <a:srgbClr val="000000"/>
            </a:solidFill>
            <a:miter lim="800000"/>
            <a:headEnd/>
            <a:tailEnd/>
          </a:ln>
        </p:spPr>
        <p:txBody>
          <a:bodyPr/>
          <a:lstStyle/>
          <a:p>
            <a:endParaRPr lang="en-US"/>
          </a:p>
        </p:txBody>
      </p:sp>
      <p:sp>
        <p:nvSpPr>
          <p:cNvPr id="596105" name="Line 137"/>
          <p:cNvSpPr>
            <a:spLocks noChangeShapeType="1"/>
          </p:cNvSpPr>
          <p:nvPr/>
        </p:nvSpPr>
        <p:spPr bwMode="auto">
          <a:xfrm>
            <a:off x="4624388" y="3425825"/>
            <a:ext cx="1449387" cy="400050"/>
          </a:xfrm>
          <a:prstGeom prst="line">
            <a:avLst/>
          </a:prstGeom>
          <a:noFill/>
          <a:ln w="11113">
            <a:solidFill>
              <a:srgbClr val="000000"/>
            </a:solidFill>
            <a:miter lim="800000"/>
            <a:headEnd/>
            <a:tailEnd/>
          </a:ln>
        </p:spPr>
        <p:txBody>
          <a:bodyPr/>
          <a:lstStyle/>
          <a:p>
            <a:endParaRPr lang="en-US"/>
          </a:p>
        </p:txBody>
      </p:sp>
      <p:sp>
        <p:nvSpPr>
          <p:cNvPr id="596106" name="Freeform 138"/>
          <p:cNvSpPr>
            <a:spLocks/>
          </p:cNvSpPr>
          <p:nvPr/>
        </p:nvSpPr>
        <p:spPr bwMode="auto">
          <a:xfrm>
            <a:off x="6373813" y="1651000"/>
            <a:ext cx="1511300" cy="765175"/>
          </a:xfrm>
          <a:custGeom>
            <a:avLst/>
            <a:gdLst>
              <a:gd name="T0" fmla="*/ 2147483647 w 210"/>
              <a:gd name="T1" fmla="*/ 2147483647 h 95"/>
              <a:gd name="T2" fmla="*/ 2147483647 w 210"/>
              <a:gd name="T3" fmla="*/ 2147483647 h 95"/>
              <a:gd name="T4" fmla="*/ 2147483647 w 210"/>
              <a:gd name="T5" fmla="*/ 2147483647 h 95"/>
              <a:gd name="T6" fmla="*/ 0 w 210"/>
              <a:gd name="T7" fmla="*/ 2147483647 h 95"/>
              <a:gd name="T8" fmla="*/ 0 w 210"/>
              <a:gd name="T9" fmla="*/ 2147483647 h 95"/>
              <a:gd name="T10" fmla="*/ 2147483647 w 210"/>
              <a:gd name="T11" fmla="*/ 0 h 95"/>
              <a:gd name="T12" fmla="*/ 2147483647 w 210"/>
              <a:gd name="T13" fmla="*/ 0 h 95"/>
              <a:gd name="T14" fmla="*/ 2147483647 w 210"/>
              <a:gd name="T15" fmla="*/ 2147483647 h 95"/>
              <a:gd name="T16" fmla="*/ 2147483647 w 210"/>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0"/>
              <a:gd name="T28" fmla="*/ 0 h 95"/>
              <a:gd name="T29" fmla="*/ 210 w 210"/>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0" h="95">
                <a:moveTo>
                  <a:pt x="210" y="81"/>
                </a:moveTo>
                <a:cubicBezTo>
                  <a:pt x="210" y="89"/>
                  <a:pt x="203" y="95"/>
                  <a:pt x="195" y="95"/>
                </a:cubicBezTo>
                <a:cubicBezTo>
                  <a:pt x="14" y="95"/>
                  <a:pt x="14" y="95"/>
                  <a:pt x="14" y="95"/>
                </a:cubicBezTo>
                <a:cubicBezTo>
                  <a:pt x="6" y="95"/>
                  <a:pt x="0" y="89"/>
                  <a:pt x="0" y="81"/>
                </a:cubicBezTo>
                <a:cubicBezTo>
                  <a:pt x="0" y="14"/>
                  <a:pt x="0" y="14"/>
                  <a:pt x="0" y="14"/>
                </a:cubicBezTo>
                <a:cubicBezTo>
                  <a:pt x="0" y="7"/>
                  <a:pt x="6" y="0"/>
                  <a:pt x="14" y="0"/>
                </a:cubicBezTo>
                <a:cubicBezTo>
                  <a:pt x="195" y="0"/>
                  <a:pt x="195" y="0"/>
                  <a:pt x="195" y="0"/>
                </a:cubicBezTo>
                <a:cubicBezTo>
                  <a:pt x="203" y="0"/>
                  <a:pt x="210" y="7"/>
                  <a:pt x="210" y="14"/>
                </a:cubicBezTo>
                <a:lnTo>
                  <a:pt x="210" y="81"/>
                </a:lnTo>
                <a:close/>
              </a:path>
            </a:pathLst>
          </a:custGeom>
          <a:solidFill>
            <a:srgbClr val="D6E2E0"/>
          </a:solidFill>
          <a:ln w="9525">
            <a:noFill/>
            <a:round/>
            <a:headEnd/>
            <a:tailEnd/>
          </a:ln>
        </p:spPr>
        <p:txBody>
          <a:bodyPr/>
          <a:lstStyle/>
          <a:p>
            <a:endParaRPr lang="en-US"/>
          </a:p>
        </p:txBody>
      </p:sp>
      <p:sp>
        <p:nvSpPr>
          <p:cNvPr id="596107" name="Freeform 139"/>
          <p:cNvSpPr>
            <a:spLocks/>
          </p:cNvSpPr>
          <p:nvPr/>
        </p:nvSpPr>
        <p:spPr bwMode="auto">
          <a:xfrm>
            <a:off x="4425950" y="2986088"/>
            <a:ext cx="111125" cy="198437"/>
          </a:xfrm>
          <a:custGeom>
            <a:avLst/>
            <a:gdLst>
              <a:gd name="T0" fmla="*/ 2147483647 w 19"/>
              <a:gd name="T1" fmla="*/ 2147483647 h 31"/>
              <a:gd name="T2" fmla="*/ 2147483647 w 19"/>
              <a:gd name="T3" fmla="*/ 2147483647 h 31"/>
              <a:gd name="T4" fmla="*/ 2147483647 w 19"/>
              <a:gd name="T5" fmla="*/ 2147483647 h 31"/>
              <a:gd name="T6" fmla="*/ 2147483647 w 19"/>
              <a:gd name="T7" fmla="*/ 2147483647 h 31"/>
              <a:gd name="T8" fmla="*/ 0 w 19"/>
              <a:gd name="T9" fmla="*/ 0 h 31"/>
              <a:gd name="T10" fmla="*/ 2147483647 w 19"/>
              <a:gd name="T11" fmla="*/ 2147483647 h 31"/>
              <a:gd name="T12" fmla="*/ 2147483647 w 19"/>
              <a:gd name="T13" fmla="*/ 2147483647 h 31"/>
              <a:gd name="T14" fmla="*/ 2147483647 w 19"/>
              <a:gd name="T15" fmla="*/ 2147483647 h 31"/>
              <a:gd name="T16" fmla="*/ 2147483647 w 19"/>
              <a:gd name="T17" fmla="*/ 2147483647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31"/>
              <a:gd name="T29" fmla="*/ 19 w 19"/>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31">
                <a:moveTo>
                  <a:pt x="9" y="23"/>
                </a:moveTo>
                <a:cubicBezTo>
                  <a:pt x="3" y="31"/>
                  <a:pt x="3" y="31"/>
                  <a:pt x="3" y="31"/>
                </a:cubicBezTo>
                <a:cubicBezTo>
                  <a:pt x="3" y="31"/>
                  <a:pt x="3" y="31"/>
                  <a:pt x="3" y="31"/>
                </a:cubicBezTo>
                <a:cubicBezTo>
                  <a:pt x="3" y="15"/>
                  <a:pt x="3" y="15"/>
                  <a:pt x="3" y="15"/>
                </a:cubicBezTo>
                <a:cubicBezTo>
                  <a:pt x="2" y="10"/>
                  <a:pt x="1" y="5"/>
                  <a:pt x="0" y="0"/>
                </a:cubicBezTo>
                <a:cubicBezTo>
                  <a:pt x="3" y="5"/>
                  <a:pt x="6" y="9"/>
                  <a:pt x="9" y="13"/>
                </a:cubicBezTo>
                <a:cubicBezTo>
                  <a:pt x="19" y="24"/>
                  <a:pt x="19" y="24"/>
                  <a:pt x="19" y="24"/>
                </a:cubicBezTo>
                <a:cubicBezTo>
                  <a:pt x="19" y="25"/>
                  <a:pt x="19" y="25"/>
                  <a:pt x="19" y="25"/>
                </a:cubicBezTo>
                <a:lnTo>
                  <a:pt x="9" y="23"/>
                </a:lnTo>
                <a:close/>
              </a:path>
            </a:pathLst>
          </a:custGeom>
          <a:solidFill>
            <a:srgbClr val="000000"/>
          </a:solidFill>
          <a:ln w="9525">
            <a:noFill/>
            <a:round/>
            <a:headEnd/>
            <a:tailEnd/>
          </a:ln>
        </p:spPr>
        <p:txBody>
          <a:bodyPr/>
          <a:lstStyle/>
          <a:p>
            <a:endParaRPr lang="en-US"/>
          </a:p>
        </p:txBody>
      </p:sp>
      <p:sp>
        <p:nvSpPr>
          <p:cNvPr id="596108" name="Freeform 140"/>
          <p:cNvSpPr>
            <a:spLocks/>
          </p:cNvSpPr>
          <p:nvPr/>
        </p:nvSpPr>
        <p:spPr bwMode="auto">
          <a:xfrm>
            <a:off x="4508500" y="3197225"/>
            <a:ext cx="120650" cy="190500"/>
          </a:xfrm>
          <a:custGeom>
            <a:avLst/>
            <a:gdLst>
              <a:gd name="T0" fmla="*/ 2147483647 w 21"/>
              <a:gd name="T1" fmla="*/ 2147483647 h 30"/>
              <a:gd name="T2" fmla="*/ 2147483647 w 21"/>
              <a:gd name="T3" fmla="*/ 2147483647 h 30"/>
              <a:gd name="T4" fmla="*/ 2147483647 w 21"/>
              <a:gd name="T5" fmla="*/ 2147483647 h 30"/>
              <a:gd name="T6" fmla="*/ 2147483647 w 21"/>
              <a:gd name="T7" fmla="*/ 2147483647 h 30"/>
              <a:gd name="T8" fmla="*/ 0 w 21"/>
              <a:gd name="T9" fmla="*/ 0 h 30"/>
              <a:gd name="T10" fmla="*/ 2147483647 w 21"/>
              <a:gd name="T11" fmla="*/ 2147483647 h 30"/>
              <a:gd name="T12" fmla="*/ 2147483647 w 21"/>
              <a:gd name="T13" fmla="*/ 2147483647 h 30"/>
              <a:gd name="T14" fmla="*/ 2147483647 w 21"/>
              <a:gd name="T15" fmla="*/ 2147483647 h 30"/>
              <a:gd name="T16" fmla="*/ 2147483647 w 21"/>
              <a:gd name="T17" fmla="*/ 214748364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
              <a:gd name="T28" fmla="*/ 0 h 30"/>
              <a:gd name="T29" fmla="*/ 21 w 2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 h="30">
                <a:moveTo>
                  <a:pt x="11" y="22"/>
                </a:moveTo>
                <a:cubicBezTo>
                  <a:pt x="5" y="30"/>
                  <a:pt x="5" y="30"/>
                  <a:pt x="5" y="30"/>
                </a:cubicBezTo>
                <a:cubicBezTo>
                  <a:pt x="5" y="30"/>
                  <a:pt x="5" y="30"/>
                  <a:pt x="5" y="30"/>
                </a:cubicBezTo>
                <a:cubicBezTo>
                  <a:pt x="4" y="15"/>
                  <a:pt x="4" y="15"/>
                  <a:pt x="4" y="15"/>
                </a:cubicBezTo>
                <a:cubicBezTo>
                  <a:pt x="3" y="10"/>
                  <a:pt x="2" y="5"/>
                  <a:pt x="0" y="0"/>
                </a:cubicBezTo>
                <a:cubicBezTo>
                  <a:pt x="4" y="4"/>
                  <a:pt x="7" y="8"/>
                  <a:pt x="10" y="12"/>
                </a:cubicBezTo>
                <a:cubicBezTo>
                  <a:pt x="21" y="23"/>
                  <a:pt x="21" y="23"/>
                  <a:pt x="21" y="23"/>
                </a:cubicBezTo>
                <a:cubicBezTo>
                  <a:pt x="21" y="23"/>
                  <a:pt x="21" y="23"/>
                  <a:pt x="21" y="23"/>
                </a:cubicBezTo>
                <a:lnTo>
                  <a:pt x="11" y="22"/>
                </a:lnTo>
                <a:close/>
              </a:path>
            </a:pathLst>
          </a:custGeom>
          <a:solidFill>
            <a:srgbClr val="000000"/>
          </a:solidFill>
          <a:ln w="9525">
            <a:noFill/>
            <a:round/>
            <a:headEnd/>
            <a:tailEnd/>
          </a:ln>
        </p:spPr>
        <p:txBody>
          <a:bodyPr/>
          <a:lstStyle/>
          <a:p>
            <a:endParaRPr lang="en-US"/>
          </a:p>
        </p:txBody>
      </p:sp>
      <p:sp>
        <p:nvSpPr>
          <p:cNvPr id="596109" name="Freeform 141"/>
          <p:cNvSpPr>
            <a:spLocks/>
          </p:cNvSpPr>
          <p:nvPr/>
        </p:nvSpPr>
        <p:spPr bwMode="auto">
          <a:xfrm>
            <a:off x="4600575" y="3400425"/>
            <a:ext cx="128588" cy="184150"/>
          </a:xfrm>
          <a:custGeom>
            <a:avLst/>
            <a:gdLst>
              <a:gd name="T0" fmla="*/ 2147483647 w 22"/>
              <a:gd name="T1" fmla="*/ 2147483647 h 29"/>
              <a:gd name="T2" fmla="*/ 2147483647 w 22"/>
              <a:gd name="T3" fmla="*/ 2147483647 h 29"/>
              <a:gd name="T4" fmla="*/ 2147483647 w 22"/>
              <a:gd name="T5" fmla="*/ 2147483647 h 29"/>
              <a:gd name="T6" fmla="*/ 2147483647 w 22"/>
              <a:gd name="T7" fmla="*/ 2147483647 h 29"/>
              <a:gd name="T8" fmla="*/ 0 w 22"/>
              <a:gd name="T9" fmla="*/ 0 h 29"/>
              <a:gd name="T10" fmla="*/ 2147483647 w 22"/>
              <a:gd name="T11" fmla="*/ 2147483647 h 29"/>
              <a:gd name="T12" fmla="*/ 2147483647 w 22"/>
              <a:gd name="T13" fmla="*/ 2147483647 h 29"/>
              <a:gd name="T14" fmla="*/ 2147483647 w 22"/>
              <a:gd name="T15" fmla="*/ 2147483647 h 29"/>
              <a:gd name="T16" fmla="*/ 2147483647 w 22"/>
              <a:gd name="T17" fmla="*/ 2147483647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9"/>
              <a:gd name="T29" fmla="*/ 22 w 22"/>
              <a:gd name="T30" fmla="*/ 29 h 2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9">
                <a:moveTo>
                  <a:pt x="12" y="20"/>
                </a:moveTo>
                <a:cubicBezTo>
                  <a:pt x="7" y="29"/>
                  <a:pt x="7" y="29"/>
                  <a:pt x="7" y="29"/>
                </a:cubicBezTo>
                <a:cubicBezTo>
                  <a:pt x="7" y="29"/>
                  <a:pt x="7" y="29"/>
                  <a:pt x="7" y="29"/>
                </a:cubicBezTo>
                <a:cubicBezTo>
                  <a:pt x="5" y="14"/>
                  <a:pt x="5" y="14"/>
                  <a:pt x="5" y="14"/>
                </a:cubicBezTo>
                <a:cubicBezTo>
                  <a:pt x="3" y="9"/>
                  <a:pt x="1" y="5"/>
                  <a:pt x="0" y="0"/>
                </a:cubicBezTo>
                <a:cubicBezTo>
                  <a:pt x="3" y="3"/>
                  <a:pt x="7" y="7"/>
                  <a:pt x="10" y="11"/>
                </a:cubicBezTo>
                <a:cubicBezTo>
                  <a:pt x="22" y="20"/>
                  <a:pt x="22" y="20"/>
                  <a:pt x="22" y="20"/>
                </a:cubicBezTo>
                <a:cubicBezTo>
                  <a:pt x="22" y="20"/>
                  <a:pt x="22" y="20"/>
                  <a:pt x="22" y="20"/>
                </a:cubicBezTo>
                <a:lnTo>
                  <a:pt x="12" y="20"/>
                </a:lnTo>
                <a:close/>
              </a:path>
            </a:pathLst>
          </a:custGeom>
          <a:solidFill>
            <a:srgbClr val="000000"/>
          </a:solidFill>
          <a:ln w="9525">
            <a:noFill/>
            <a:round/>
            <a:headEnd/>
            <a:tailEnd/>
          </a:ln>
        </p:spPr>
        <p:txBody>
          <a:bodyPr/>
          <a:lstStyle/>
          <a:p>
            <a:endParaRPr lang="en-US"/>
          </a:p>
        </p:txBody>
      </p:sp>
      <p:sp>
        <p:nvSpPr>
          <p:cNvPr id="90158" name="Oval 142"/>
          <p:cNvSpPr>
            <a:spLocks noChangeArrowheads="1"/>
          </p:cNvSpPr>
          <p:nvPr/>
        </p:nvSpPr>
        <p:spPr bwMode="auto">
          <a:xfrm>
            <a:off x="2566988" y="2230438"/>
            <a:ext cx="58737" cy="58737"/>
          </a:xfrm>
          <a:prstGeom prst="ellipse">
            <a:avLst/>
          </a:prstGeom>
          <a:solidFill>
            <a:srgbClr val="FFFFFF"/>
          </a:solidFill>
          <a:ln w="9525">
            <a:noFill/>
            <a:round/>
            <a:headEnd/>
            <a:tailEnd/>
          </a:ln>
        </p:spPr>
        <p:txBody>
          <a:bodyPr/>
          <a:lstStyle/>
          <a:p>
            <a:endParaRPr lang="en-US"/>
          </a:p>
        </p:txBody>
      </p:sp>
      <p:sp>
        <p:nvSpPr>
          <p:cNvPr id="90159" name="Oval 143"/>
          <p:cNvSpPr>
            <a:spLocks noChangeArrowheads="1"/>
          </p:cNvSpPr>
          <p:nvPr/>
        </p:nvSpPr>
        <p:spPr bwMode="auto">
          <a:xfrm>
            <a:off x="4192588" y="3946525"/>
            <a:ext cx="30162" cy="25400"/>
          </a:xfrm>
          <a:prstGeom prst="ellipse">
            <a:avLst/>
          </a:prstGeom>
          <a:solidFill>
            <a:srgbClr val="FFFFFF"/>
          </a:solidFill>
          <a:ln w="9525">
            <a:noFill/>
            <a:round/>
            <a:headEnd/>
            <a:tailEnd/>
          </a:ln>
        </p:spPr>
        <p:txBody>
          <a:bodyPr/>
          <a:lstStyle/>
          <a:p>
            <a:endParaRPr lang="en-US"/>
          </a:p>
        </p:txBody>
      </p:sp>
      <p:sp>
        <p:nvSpPr>
          <p:cNvPr id="548930" name="TextBox 29"/>
          <p:cNvSpPr txBox="1">
            <a:spLocks noChangeArrowheads="1"/>
          </p:cNvSpPr>
          <p:nvPr/>
        </p:nvSpPr>
        <p:spPr bwMode="auto">
          <a:xfrm>
            <a:off x="755650" y="836613"/>
            <a:ext cx="1260475" cy="523875"/>
          </a:xfrm>
          <a:prstGeom prst="rect">
            <a:avLst/>
          </a:prstGeom>
          <a:noFill/>
          <a:ln w="9525">
            <a:noFill/>
            <a:miter lim="800000"/>
            <a:headEnd/>
            <a:tailEnd/>
          </a:ln>
        </p:spPr>
        <p:txBody>
          <a:bodyPr>
            <a:spAutoFit/>
          </a:bodyPr>
          <a:lstStyle/>
          <a:p>
            <a:pPr algn="ctr"/>
            <a:r>
              <a:rPr lang="en-US" sz="1400" b="1"/>
              <a:t>Price of cotton</a:t>
            </a:r>
          </a:p>
        </p:txBody>
      </p:sp>
      <p:sp>
        <p:nvSpPr>
          <p:cNvPr id="548931" name="TextBox 30"/>
          <p:cNvSpPr txBox="1">
            <a:spLocks noChangeArrowheads="1"/>
          </p:cNvSpPr>
          <p:nvPr/>
        </p:nvSpPr>
        <p:spPr bwMode="auto">
          <a:xfrm>
            <a:off x="5576888" y="5692775"/>
            <a:ext cx="2185987" cy="307975"/>
          </a:xfrm>
          <a:prstGeom prst="rect">
            <a:avLst/>
          </a:prstGeom>
          <a:noFill/>
          <a:ln w="9525">
            <a:noFill/>
            <a:miter lim="800000"/>
            <a:headEnd/>
            <a:tailEnd/>
          </a:ln>
        </p:spPr>
        <p:txBody>
          <a:bodyPr>
            <a:spAutoFit/>
          </a:bodyPr>
          <a:lstStyle/>
          <a:p>
            <a:pPr algn="ctr"/>
            <a:r>
              <a:rPr lang="en-US" sz="1400" b="1"/>
              <a:t>Quantity of cotton</a:t>
            </a:r>
          </a:p>
        </p:txBody>
      </p:sp>
      <p:sp>
        <p:nvSpPr>
          <p:cNvPr id="2" name="TextBox 29"/>
          <p:cNvSpPr txBox="1">
            <a:spLocks noChangeArrowheads="1"/>
          </p:cNvSpPr>
          <p:nvPr/>
        </p:nvSpPr>
        <p:spPr bwMode="auto">
          <a:xfrm>
            <a:off x="936625" y="3176588"/>
            <a:ext cx="755650" cy="646112"/>
          </a:xfrm>
          <a:prstGeom prst="rect">
            <a:avLst/>
          </a:prstGeom>
          <a:noFill/>
          <a:ln w="9525">
            <a:noFill/>
            <a:miter lim="800000"/>
            <a:headEnd/>
            <a:tailEnd/>
          </a:ln>
        </p:spPr>
        <p:txBody>
          <a:bodyPr>
            <a:spAutoFit/>
          </a:bodyPr>
          <a:lstStyle/>
          <a:p>
            <a:pPr algn="ctr"/>
            <a:r>
              <a:rPr lang="en-US" i="1"/>
              <a:t>Price rises</a:t>
            </a:r>
          </a:p>
        </p:txBody>
      </p:sp>
      <p:sp>
        <p:nvSpPr>
          <p:cNvPr id="3" name="TextBox 29"/>
          <p:cNvSpPr txBox="1">
            <a:spLocks noChangeArrowheads="1"/>
          </p:cNvSpPr>
          <p:nvPr/>
        </p:nvSpPr>
        <p:spPr bwMode="auto">
          <a:xfrm>
            <a:off x="3983038" y="6053138"/>
            <a:ext cx="1260475" cy="646112"/>
          </a:xfrm>
          <a:prstGeom prst="rect">
            <a:avLst/>
          </a:prstGeom>
          <a:noFill/>
          <a:ln w="9525">
            <a:noFill/>
            <a:miter lim="800000"/>
            <a:headEnd/>
            <a:tailEnd/>
          </a:ln>
        </p:spPr>
        <p:txBody>
          <a:bodyPr>
            <a:spAutoFit/>
          </a:bodyPr>
          <a:lstStyle/>
          <a:p>
            <a:pPr algn="ctr"/>
            <a:r>
              <a:rPr lang="en-US" i="1"/>
              <a:t>Quantity falls</a:t>
            </a:r>
          </a:p>
        </p:txBody>
      </p:sp>
      <p:sp>
        <p:nvSpPr>
          <p:cNvPr id="4" name="TextBox 29"/>
          <p:cNvSpPr txBox="1">
            <a:spLocks noChangeArrowheads="1"/>
          </p:cNvSpPr>
          <p:nvPr/>
        </p:nvSpPr>
        <p:spPr bwMode="auto">
          <a:xfrm>
            <a:off x="6245225" y="1697038"/>
            <a:ext cx="1768475" cy="647700"/>
          </a:xfrm>
          <a:prstGeom prst="rect">
            <a:avLst/>
          </a:prstGeom>
          <a:noFill/>
          <a:ln w="9525">
            <a:noFill/>
            <a:miter lim="800000"/>
            <a:headEnd/>
            <a:tailEnd/>
          </a:ln>
        </p:spPr>
        <p:txBody>
          <a:bodyPr anchor="ctr">
            <a:spAutoFit/>
          </a:bodyPr>
          <a:lstStyle/>
          <a:p>
            <a:pPr algn="ctr"/>
            <a:r>
              <a:rPr lang="en-US" i="1"/>
              <a:t>A decrease in supply…</a:t>
            </a:r>
          </a:p>
        </p:txBody>
      </p:sp>
      <p:grpSp>
        <p:nvGrpSpPr>
          <p:cNvPr id="6" name="Group 149"/>
          <p:cNvGrpSpPr>
            <a:grpSpLocks noChangeAspect="1"/>
          </p:cNvGrpSpPr>
          <p:nvPr/>
        </p:nvGrpSpPr>
        <p:grpSpPr bwMode="auto">
          <a:xfrm>
            <a:off x="5881688" y="3095625"/>
            <a:ext cx="2984500" cy="1778000"/>
            <a:chOff x="2508" y="1861"/>
            <a:chExt cx="744" cy="603"/>
          </a:xfrm>
        </p:grpSpPr>
        <p:sp>
          <p:nvSpPr>
            <p:cNvPr id="90167" name="AutoShape 150"/>
            <p:cNvSpPr>
              <a:spLocks noChangeAspect="1" noChangeArrowheads="1" noTextEdit="1"/>
            </p:cNvSpPr>
            <p:nvPr/>
          </p:nvSpPr>
          <p:spPr bwMode="auto">
            <a:xfrm>
              <a:off x="2508" y="1861"/>
              <a:ext cx="744" cy="603"/>
            </a:xfrm>
            <a:prstGeom prst="rect">
              <a:avLst/>
            </a:prstGeom>
            <a:noFill/>
            <a:ln w="9525">
              <a:noFill/>
              <a:miter lim="800000"/>
              <a:headEnd/>
              <a:tailEnd/>
            </a:ln>
          </p:spPr>
          <p:txBody>
            <a:bodyPr/>
            <a:lstStyle/>
            <a:p>
              <a:endParaRPr lang="en-US"/>
            </a:p>
          </p:txBody>
        </p:sp>
        <p:sp>
          <p:nvSpPr>
            <p:cNvPr id="90168" name="Freeform 151"/>
            <p:cNvSpPr>
              <a:spLocks/>
            </p:cNvSpPr>
            <p:nvPr/>
          </p:nvSpPr>
          <p:spPr bwMode="auto">
            <a:xfrm>
              <a:off x="2510" y="1861"/>
              <a:ext cx="740" cy="601"/>
            </a:xfrm>
            <a:custGeom>
              <a:avLst/>
              <a:gdLst>
                <a:gd name="T0" fmla="*/ 23124 w 313"/>
                <a:gd name="T1" fmla="*/ 17434 h 254"/>
                <a:gd name="T2" fmla="*/ 21871 w 313"/>
                <a:gd name="T3" fmla="*/ 18839 h 254"/>
                <a:gd name="T4" fmla="*/ 1348 w 313"/>
                <a:gd name="T5" fmla="*/ 18839 h 254"/>
                <a:gd name="T6" fmla="*/ 0 w 313"/>
                <a:gd name="T7" fmla="*/ 17434 h 254"/>
                <a:gd name="T8" fmla="*/ 0 w 313"/>
                <a:gd name="T9" fmla="*/ 1405 h 254"/>
                <a:gd name="T10" fmla="*/ 1348 w 313"/>
                <a:gd name="T11" fmla="*/ 0 h 254"/>
                <a:gd name="T12" fmla="*/ 21871 w 313"/>
                <a:gd name="T13" fmla="*/ 0 h 254"/>
                <a:gd name="T14" fmla="*/ 23124 w 313"/>
                <a:gd name="T15" fmla="*/ 1405 h 254"/>
                <a:gd name="T16" fmla="*/ 23124 w 313"/>
                <a:gd name="T17" fmla="*/ 17434 h 2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3"/>
                <a:gd name="T28" fmla="*/ 0 h 254"/>
                <a:gd name="T29" fmla="*/ 313 w 313"/>
                <a:gd name="T30" fmla="*/ 254 h 2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3" h="254">
                  <a:moveTo>
                    <a:pt x="313" y="235"/>
                  </a:moveTo>
                  <a:cubicBezTo>
                    <a:pt x="313" y="245"/>
                    <a:pt x="306" y="254"/>
                    <a:pt x="296" y="254"/>
                  </a:cubicBezTo>
                  <a:cubicBezTo>
                    <a:pt x="18" y="254"/>
                    <a:pt x="18" y="254"/>
                    <a:pt x="18" y="254"/>
                  </a:cubicBezTo>
                  <a:cubicBezTo>
                    <a:pt x="8" y="254"/>
                    <a:pt x="0" y="245"/>
                    <a:pt x="0" y="235"/>
                  </a:cubicBezTo>
                  <a:cubicBezTo>
                    <a:pt x="0" y="19"/>
                    <a:pt x="0" y="19"/>
                    <a:pt x="0" y="19"/>
                  </a:cubicBezTo>
                  <a:cubicBezTo>
                    <a:pt x="0" y="8"/>
                    <a:pt x="8" y="0"/>
                    <a:pt x="18" y="0"/>
                  </a:cubicBezTo>
                  <a:cubicBezTo>
                    <a:pt x="296" y="0"/>
                    <a:pt x="296" y="0"/>
                    <a:pt x="296" y="0"/>
                  </a:cubicBezTo>
                  <a:cubicBezTo>
                    <a:pt x="306" y="0"/>
                    <a:pt x="313" y="8"/>
                    <a:pt x="313" y="19"/>
                  </a:cubicBezTo>
                  <a:lnTo>
                    <a:pt x="313" y="235"/>
                  </a:lnTo>
                  <a:close/>
                </a:path>
              </a:pathLst>
            </a:custGeom>
            <a:solidFill>
              <a:srgbClr val="D6E2E0"/>
            </a:solidFill>
            <a:ln w="9525">
              <a:noFill/>
              <a:round/>
              <a:headEnd/>
              <a:tailEnd/>
            </a:ln>
          </p:spPr>
          <p:txBody>
            <a:bodyPr/>
            <a:lstStyle/>
            <a:p>
              <a:endParaRPr lang="en-US"/>
            </a:p>
          </p:txBody>
        </p:sp>
      </p:grpSp>
      <p:sp>
        <p:nvSpPr>
          <p:cNvPr id="5" name="TextBox 29"/>
          <p:cNvSpPr txBox="1">
            <a:spLocks noChangeArrowheads="1"/>
          </p:cNvSpPr>
          <p:nvPr/>
        </p:nvSpPr>
        <p:spPr bwMode="auto">
          <a:xfrm>
            <a:off x="6073775" y="3228975"/>
            <a:ext cx="2792413" cy="1476375"/>
          </a:xfrm>
          <a:prstGeom prst="rect">
            <a:avLst/>
          </a:prstGeom>
          <a:noFill/>
          <a:ln w="9525">
            <a:noFill/>
            <a:miter lim="800000"/>
            <a:headEnd/>
            <a:tailEnd/>
          </a:ln>
        </p:spPr>
        <p:txBody>
          <a:bodyPr>
            <a:spAutoFit/>
          </a:bodyPr>
          <a:lstStyle/>
          <a:p>
            <a:pPr algn="ctr"/>
            <a:r>
              <a:rPr lang="en-US" i="1"/>
              <a:t>… leads to a movement along the demand curve due to a higher equilibrium price and lower equilibrium quantity.</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489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608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60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607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608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607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607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89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9606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606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9609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9609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609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608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9608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9610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610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9609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9609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96106"/>
                                        </p:tgtEl>
                                        <p:attrNameLst>
                                          <p:attrName>style.visibility</p:attrName>
                                        </p:attrNameLst>
                                      </p:cBhvr>
                                      <p:to>
                                        <p:strVal val="visible"/>
                                      </p:to>
                                    </p:set>
                                  </p:childTnLst>
                                </p:cTn>
                              </p:par>
                              <p:par>
                                <p:cTn id="47" presetID="22" presetClass="entr" presetSubtype="8" fill="hold" grpId="0" nodeType="with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left)">
                                      <p:cBhvr>
                                        <p:cTn id="49" dur="500"/>
                                        <p:tgtEl>
                                          <p:spTgt spid="4"/>
                                        </p:tgtEl>
                                      </p:cBhvr>
                                    </p:animEffect>
                                  </p:childTnLst>
                                </p:cTn>
                              </p:par>
                              <p:par>
                                <p:cTn id="50" presetID="1" presetClass="entr" presetSubtype="0" fill="hold" grpId="0" nodeType="withEffect">
                                  <p:stCondLst>
                                    <p:cond delay="0"/>
                                  </p:stCondLst>
                                  <p:childTnLst>
                                    <p:set>
                                      <p:cBhvr>
                                        <p:cTn id="51" dur="1" fill="hold">
                                          <p:stCondLst>
                                            <p:cond delay="0"/>
                                          </p:stCondLst>
                                        </p:cTn>
                                        <p:tgtEl>
                                          <p:spTgt spid="596104"/>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596075"/>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596076"/>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596094"/>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596095"/>
                                        </p:tgtEl>
                                        <p:attrNameLst>
                                          <p:attrName>style.visibility</p:attrName>
                                        </p:attrNameLst>
                                      </p:cBhvr>
                                      <p:to>
                                        <p:strVal val="visible"/>
                                      </p:to>
                                    </p:set>
                                  </p:childTnLst>
                                </p:cTn>
                              </p:par>
                            </p:childTnLst>
                          </p:cTn>
                        </p:par>
                        <p:par>
                          <p:cTn id="60" fill="hold">
                            <p:stCondLst>
                              <p:cond delay="500"/>
                            </p:stCondLst>
                            <p:childTnLst>
                              <p:par>
                                <p:cTn id="61" presetID="22" presetClass="entr" presetSubtype="2" fill="hold" grpId="0" nodeType="afterEffect">
                                  <p:stCondLst>
                                    <p:cond delay="0"/>
                                  </p:stCondLst>
                                  <p:childTnLst>
                                    <p:set>
                                      <p:cBhvr>
                                        <p:cTn id="62" dur="1" fill="hold">
                                          <p:stCondLst>
                                            <p:cond delay="0"/>
                                          </p:stCondLst>
                                        </p:cTn>
                                        <p:tgtEl>
                                          <p:spTgt spid="596100"/>
                                        </p:tgtEl>
                                        <p:attrNameLst>
                                          <p:attrName>style.visibility</p:attrName>
                                        </p:attrNameLst>
                                      </p:cBhvr>
                                      <p:to>
                                        <p:strVal val="visible"/>
                                      </p:to>
                                    </p:set>
                                    <p:animEffect transition="in" filter="wipe(right)">
                                      <p:cBhvr>
                                        <p:cTn id="63" dur="500"/>
                                        <p:tgtEl>
                                          <p:spTgt spid="596100"/>
                                        </p:tgtEl>
                                      </p:cBhvr>
                                    </p:animEffect>
                                  </p:childTnLst>
                                </p:cTn>
                              </p:par>
                              <p:par>
                                <p:cTn id="64" presetID="22" presetClass="entr" presetSubtype="4" fill="hold" nodeType="withEffect">
                                  <p:stCondLst>
                                    <p:cond delay="0"/>
                                  </p:stCondLst>
                                  <p:childTnLst>
                                    <p:set>
                                      <p:cBhvr>
                                        <p:cTn id="65" dur="1" fill="hold">
                                          <p:stCondLst>
                                            <p:cond delay="0"/>
                                          </p:stCondLst>
                                        </p:cTn>
                                        <p:tgtEl>
                                          <p:spTgt spid="596067"/>
                                        </p:tgtEl>
                                        <p:attrNameLst>
                                          <p:attrName>style.visibility</p:attrName>
                                        </p:attrNameLst>
                                      </p:cBhvr>
                                      <p:to>
                                        <p:strVal val="visible"/>
                                      </p:to>
                                    </p:set>
                                    <p:animEffect transition="in" filter="wipe(down)">
                                      <p:cBhvr>
                                        <p:cTn id="66" dur="500"/>
                                        <p:tgtEl>
                                          <p:spTgt spid="596067"/>
                                        </p:tgtEl>
                                      </p:cBhvr>
                                    </p:animEffect>
                                  </p:childTnLst>
                                </p:cTn>
                              </p:par>
                              <p:par>
                                <p:cTn id="67" presetID="22" presetClass="entr" presetSubtype="8" fill="hold" nodeType="withEffect">
                                  <p:stCondLst>
                                    <p:cond delay="0"/>
                                  </p:stCondLst>
                                  <p:childTnLst>
                                    <p:set>
                                      <p:cBhvr>
                                        <p:cTn id="68" dur="1" fill="hold">
                                          <p:stCondLst>
                                            <p:cond delay="0"/>
                                          </p:stCondLst>
                                        </p:cTn>
                                        <p:tgtEl>
                                          <p:spTgt spid="596066"/>
                                        </p:tgtEl>
                                        <p:attrNameLst>
                                          <p:attrName>style.visibility</p:attrName>
                                        </p:attrNameLst>
                                      </p:cBhvr>
                                      <p:to>
                                        <p:strVal val="visible"/>
                                      </p:to>
                                    </p:set>
                                    <p:animEffect transition="in" filter="wipe(left)">
                                      <p:cBhvr>
                                        <p:cTn id="69" dur="500"/>
                                        <p:tgtEl>
                                          <p:spTgt spid="596066"/>
                                        </p:tgtEl>
                                      </p:cBhvr>
                                    </p:animEffect>
                                  </p:childTnLst>
                                </p:cTn>
                              </p:par>
                              <p:par>
                                <p:cTn id="70" presetID="1" presetClass="entr" presetSubtype="0" fill="hold" grpId="0" nodeType="withEffect">
                                  <p:stCondLst>
                                    <p:cond delay="0"/>
                                  </p:stCondLst>
                                  <p:childTnLst>
                                    <p:set>
                                      <p:cBhvr>
                                        <p:cTn id="71" dur="1" fill="hold">
                                          <p:stCondLst>
                                            <p:cond delay="0"/>
                                          </p:stCondLst>
                                        </p:cTn>
                                        <p:tgtEl>
                                          <p:spTgt spid="596097"/>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96080"/>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596079"/>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596070"/>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3"/>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596089"/>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2"/>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596082"/>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596081"/>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596071"/>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6"/>
                                        </p:tgtEl>
                                        <p:attrNameLst>
                                          <p:attrName>style.visibility</p:attrName>
                                        </p:attrNameLst>
                                      </p:cBhvr>
                                      <p:to>
                                        <p:strVal val="visible"/>
                                      </p:to>
                                    </p:set>
                                  </p:childTnLst>
                                </p:cTn>
                              </p:par>
                              <p:par>
                                <p:cTn id="94" presetID="22" presetClass="entr" presetSubtype="8" fill="hold" grpId="0" nodeType="withEffect">
                                  <p:stCondLst>
                                    <p:cond delay="0"/>
                                  </p:stCondLst>
                                  <p:childTnLst>
                                    <p:set>
                                      <p:cBhvr>
                                        <p:cTn id="95" dur="1" fill="hold">
                                          <p:stCondLst>
                                            <p:cond delay="0"/>
                                          </p:stCondLst>
                                        </p:cTn>
                                        <p:tgtEl>
                                          <p:spTgt spid="5"/>
                                        </p:tgtEl>
                                        <p:attrNameLst>
                                          <p:attrName>style.visibility</p:attrName>
                                        </p:attrNameLst>
                                      </p:cBhvr>
                                      <p:to>
                                        <p:strVal val="visible"/>
                                      </p:to>
                                    </p:set>
                                    <p:animEffect transition="in" filter="wipe(left)">
                                      <p:cBhvr>
                                        <p:cTn id="96" dur="500"/>
                                        <p:tgtEl>
                                          <p:spTgt spid="5"/>
                                        </p:tgtEl>
                                      </p:cBhvr>
                                    </p:animEffect>
                                  </p:childTnLst>
                                </p:cTn>
                              </p:par>
                              <p:par>
                                <p:cTn id="97" presetID="1" presetClass="entr" presetSubtype="0" fill="hold" grpId="0" nodeType="withEffect">
                                  <p:stCondLst>
                                    <p:cond delay="0"/>
                                  </p:stCondLst>
                                  <p:childTnLst>
                                    <p:set>
                                      <p:cBhvr>
                                        <p:cTn id="98" dur="1" fill="hold">
                                          <p:stCondLst>
                                            <p:cond delay="0"/>
                                          </p:stCondLst>
                                        </p:cTn>
                                        <p:tgtEl>
                                          <p:spTgt spid="59610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9610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9610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96108"/>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596098"/>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596072"/>
                                        </p:tgtEl>
                                        <p:attrNameLst>
                                          <p:attrName>style.visibility</p:attrName>
                                        </p:attrNameLst>
                                      </p:cBhvr>
                                      <p:to>
                                        <p:strVal val="visible"/>
                                      </p:to>
                                    </p:set>
                                  </p:childTnLst>
                                </p:cTn>
                              </p:par>
                              <p:par>
                                <p:cTn id="109" presetID="1" presetClass="entr" presetSubtype="0" fill="hold" grpId="1" nodeType="withEffect">
                                  <p:stCondLst>
                                    <p:cond delay="0"/>
                                  </p:stCondLst>
                                  <p:childTnLst>
                                    <p:set>
                                      <p:cBhvr>
                                        <p:cTn id="110" dur="1" fill="hold">
                                          <p:stCondLst>
                                            <p:cond delay="0"/>
                                          </p:stCondLst>
                                        </p:cTn>
                                        <p:tgtEl>
                                          <p:spTgt spid="59607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9608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96084"/>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59609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96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070" grpId="0" animBg="1"/>
      <p:bldP spid="596071" grpId="0"/>
      <p:bldP spid="596072" grpId="0"/>
      <p:bldP spid="596073" grpId="0"/>
      <p:bldP spid="596074" grpId="0"/>
      <p:bldP spid="596075" grpId="0" animBg="1"/>
      <p:bldP spid="596076" grpId="0" animBg="1"/>
      <p:bldP spid="596077" grpId="0"/>
      <p:bldP spid="596077" grpId="1"/>
      <p:bldP spid="596078" grpId="0"/>
      <p:bldP spid="596079" grpId="0"/>
      <p:bldP spid="596080" grpId="0"/>
      <p:bldP spid="596081" grpId="0" animBg="1"/>
      <p:bldP spid="596082" grpId="0" animBg="1"/>
      <p:bldP spid="596083" grpId="0" animBg="1"/>
      <p:bldP spid="596084" grpId="0" animBg="1"/>
      <p:bldP spid="596085" grpId="0" animBg="1"/>
      <p:bldP spid="596086" grpId="0" animBg="1"/>
      <p:bldP spid="596087" grpId="0" animBg="1"/>
      <p:bldP spid="596088" grpId="0"/>
      <p:bldP spid="596089" grpId="0" animBg="1"/>
      <p:bldP spid="596090" grpId="0"/>
      <p:bldP spid="596091" grpId="0"/>
      <p:bldP spid="596092" grpId="0"/>
      <p:bldP spid="596093" grpId="0"/>
      <p:bldP spid="596094" grpId="0"/>
      <p:bldP spid="596095" grpId="0"/>
      <p:bldP spid="596096" grpId="0"/>
      <p:bldP spid="596097" grpId="0"/>
      <p:bldP spid="596098" grpId="0" animBg="1"/>
      <p:bldP spid="596099" grpId="0" animBg="1"/>
      <p:bldP spid="596100" grpId="0" animBg="1"/>
      <p:bldP spid="596101" grpId="0" animBg="1"/>
      <p:bldP spid="596102" grpId="0" animBg="1"/>
      <p:bldP spid="596103" grpId="0" animBg="1"/>
      <p:bldP spid="596104" grpId="0" animBg="1"/>
      <p:bldP spid="596105" grpId="0" animBg="1"/>
      <p:bldP spid="596106" grpId="0" animBg="1"/>
      <p:bldP spid="596107" grpId="0" animBg="1"/>
      <p:bldP spid="596108" grpId="0" animBg="1"/>
      <p:bldP spid="596109" grpId="0" animBg="1"/>
      <p:bldP spid="548930" grpId="0"/>
      <p:bldP spid="548931" grpId="0"/>
      <p:bldP spid="2" grpId="0"/>
      <p:bldP spid="3" grpId="0"/>
      <p:bldP spid="4"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8018" name="Rectangle 2"/>
          <p:cNvSpPr>
            <a:spLocks noGrp="1" noRot="1" noChangeArrowheads="1"/>
          </p:cNvSpPr>
          <p:nvPr>
            <p:ph type="title"/>
          </p:nvPr>
        </p:nvSpPr>
        <p:spPr>
          <a:xfrm>
            <a:off x="900113" y="60325"/>
            <a:ext cx="8250237" cy="555625"/>
          </a:xfrm>
        </p:spPr>
        <p:txBody>
          <a:bodyPr/>
          <a:lstStyle/>
          <a:p>
            <a:pPr>
              <a:defRPr/>
            </a:pPr>
            <a:r>
              <a:rPr lang="en-US" dirty="0"/>
              <a:t>Technology Shifts of the Supply Curve</a:t>
            </a:r>
          </a:p>
        </p:txBody>
      </p:sp>
      <p:grpSp>
        <p:nvGrpSpPr>
          <p:cNvPr id="92162" name="Group 3"/>
          <p:cNvGrpSpPr>
            <a:grpSpLocks/>
          </p:cNvGrpSpPr>
          <p:nvPr/>
        </p:nvGrpSpPr>
        <p:grpSpPr bwMode="auto">
          <a:xfrm>
            <a:off x="1960563" y="1509713"/>
            <a:ext cx="3906837" cy="3733800"/>
            <a:chOff x="611" y="951"/>
            <a:chExt cx="3138" cy="2352"/>
          </a:xfrm>
        </p:grpSpPr>
        <p:sp>
          <p:nvSpPr>
            <p:cNvPr id="92190" name="Line 4"/>
            <p:cNvSpPr>
              <a:spLocks noChangeShapeType="1"/>
            </p:cNvSpPr>
            <p:nvPr/>
          </p:nvSpPr>
          <p:spPr bwMode="auto">
            <a:xfrm>
              <a:off x="611" y="951"/>
              <a:ext cx="0" cy="2352"/>
            </a:xfrm>
            <a:prstGeom prst="line">
              <a:avLst/>
            </a:prstGeom>
            <a:noFill/>
            <a:ln w="9525">
              <a:solidFill>
                <a:schemeClr val="tx1"/>
              </a:solidFill>
              <a:round/>
              <a:headEnd/>
              <a:tailEnd/>
            </a:ln>
          </p:spPr>
          <p:txBody>
            <a:bodyPr/>
            <a:lstStyle/>
            <a:p>
              <a:endParaRPr lang="en-US"/>
            </a:p>
          </p:txBody>
        </p:sp>
        <p:sp>
          <p:nvSpPr>
            <p:cNvPr id="92191" name="Line 5"/>
            <p:cNvSpPr>
              <a:spLocks noChangeShapeType="1"/>
            </p:cNvSpPr>
            <p:nvPr/>
          </p:nvSpPr>
          <p:spPr bwMode="auto">
            <a:xfrm>
              <a:off x="611" y="3303"/>
              <a:ext cx="3138" cy="0"/>
            </a:xfrm>
            <a:prstGeom prst="line">
              <a:avLst/>
            </a:prstGeom>
            <a:noFill/>
            <a:ln w="9525">
              <a:solidFill>
                <a:schemeClr val="tx1"/>
              </a:solidFill>
              <a:round/>
              <a:headEnd/>
              <a:tailEnd/>
            </a:ln>
          </p:spPr>
          <p:txBody>
            <a:bodyPr/>
            <a:lstStyle/>
            <a:p>
              <a:endParaRPr lang="en-US"/>
            </a:p>
          </p:txBody>
        </p:sp>
      </p:grpSp>
      <p:sp>
        <p:nvSpPr>
          <p:cNvPr id="92163" name="Text Box 6"/>
          <p:cNvSpPr txBox="1">
            <a:spLocks noChangeArrowheads="1"/>
          </p:cNvSpPr>
          <p:nvPr/>
        </p:nvSpPr>
        <p:spPr bwMode="auto">
          <a:xfrm>
            <a:off x="762000" y="1066800"/>
            <a:ext cx="1143000" cy="473075"/>
          </a:xfrm>
          <a:prstGeom prst="rect">
            <a:avLst/>
          </a:prstGeom>
          <a:noFill/>
          <a:ln w="9525">
            <a:noFill/>
            <a:miter lim="800000"/>
            <a:headEnd/>
            <a:tailEnd/>
          </a:ln>
        </p:spPr>
        <p:txBody>
          <a:bodyPr>
            <a:spAutoFit/>
          </a:bodyPr>
          <a:lstStyle/>
          <a:p>
            <a:pPr algn="ctr"/>
            <a:r>
              <a:rPr lang="en-US" sz="2500" b="1" i="1"/>
              <a:t>Price</a:t>
            </a:r>
          </a:p>
        </p:txBody>
      </p:sp>
      <p:sp>
        <p:nvSpPr>
          <p:cNvPr id="92164" name="Text Box 7"/>
          <p:cNvSpPr txBox="1">
            <a:spLocks noChangeArrowheads="1"/>
          </p:cNvSpPr>
          <p:nvPr/>
        </p:nvSpPr>
        <p:spPr bwMode="auto">
          <a:xfrm>
            <a:off x="5129213" y="5226050"/>
            <a:ext cx="1728787" cy="473075"/>
          </a:xfrm>
          <a:prstGeom prst="rect">
            <a:avLst/>
          </a:prstGeom>
          <a:noFill/>
          <a:ln w="9525">
            <a:noFill/>
            <a:miter lim="800000"/>
            <a:headEnd/>
            <a:tailEnd/>
          </a:ln>
        </p:spPr>
        <p:txBody>
          <a:bodyPr>
            <a:spAutoFit/>
          </a:bodyPr>
          <a:lstStyle/>
          <a:p>
            <a:pPr algn="ctr"/>
            <a:r>
              <a:rPr lang="en-US" sz="2500" b="1" i="1"/>
              <a:t>Quantity</a:t>
            </a:r>
          </a:p>
        </p:txBody>
      </p:sp>
      <p:sp>
        <p:nvSpPr>
          <p:cNvPr id="92165" name="Line 8"/>
          <p:cNvSpPr>
            <a:spLocks noChangeShapeType="1"/>
          </p:cNvSpPr>
          <p:nvPr/>
        </p:nvSpPr>
        <p:spPr bwMode="auto">
          <a:xfrm flipH="1">
            <a:off x="2362200" y="1219200"/>
            <a:ext cx="1981200" cy="2971800"/>
          </a:xfrm>
          <a:prstGeom prst="line">
            <a:avLst/>
          </a:prstGeom>
          <a:noFill/>
          <a:ln w="38100">
            <a:solidFill>
              <a:srgbClr val="FF7C80"/>
            </a:solidFill>
            <a:round/>
            <a:headEnd/>
            <a:tailEnd/>
          </a:ln>
        </p:spPr>
        <p:txBody>
          <a:bodyPr/>
          <a:lstStyle/>
          <a:p>
            <a:endParaRPr lang="en-US"/>
          </a:p>
        </p:txBody>
      </p:sp>
      <p:sp>
        <p:nvSpPr>
          <p:cNvPr id="92166" name="Text Box 9"/>
          <p:cNvSpPr txBox="1">
            <a:spLocks noChangeArrowheads="1"/>
          </p:cNvSpPr>
          <p:nvPr/>
        </p:nvSpPr>
        <p:spPr bwMode="auto">
          <a:xfrm flipH="1">
            <a:off x="4114800" y="762000"/>
            <a:ext cx="533400" cy="473075"/>
          </a:xfrm>
          <a:prstGeom prst="rect">
            <a:avLst/>
          </a:prstGeom>
          <a:noFill/>
          <a:ln w="38100">
            <a:noFill/>
            <a:miter lim="800000"/>
            <a:headEnd/>
            <a:tailEnd/>
          </a:ln>
        </p:spPr>
        <p:txBody>
          <a:bodyPr>
            <a:spAutoFit/>
          </a:bodyPr>
          <a:lstStyle/>
          <a:p>
            <a:r>
              <a:rPr lang="en-US" sz="2500" b="1" i="1"/>
              <a:t>S</a:t>
            </a:r>
            <a:r>
              <a:rPr lang="en-US" sz="2500" b="1" i="1" baseline="-25000"/>
              <a:t>1</a:t>
            </a:r>
            <a:endParaRPr lang="en-US" sz="2500" baseline="-25000"/>
          </a:p>
        </p:txBody>
      </p:sp>
      <p:sp>
        <p:nvSpPr>
          <p:cNvPr id="92167" name="Line 10"/>
          <p:cNvSpPr>
            <a:spLocks noChangeShapeType="1"/>
          </p:cNvSpPr>
          <p:nvPr/>
        </p:nvSpPr>
        <p:spPr bwMode="auto">
          <a:xfrm>
            <a:off x="2133600" y="2057400"/>
            <a:ext cx="2435225" cy="2957513"/>
          </a:xfrm>
          <a:prstGeom prst="line">
            <a:avLst/>
          </a:prstGeom>
          <a:noFill/>
          <a:ln w="38100">
            <a:solidFill>
              <a:srgbClr val="3366FF"/>
            </a:solidFill>
            <a:round/>
            <a:headEnd/>
            <a:tailEnd/>
          </a:ln>
        </p:spPr>
        <p:txBody>
          <a:bodyPr/>
          <a:lstStyle/>
          <a:p>
            <a:endParaRPr lang="en-US"/>
          </a:p>
        </p:txBody>
      </p:sp>
      <p:sp>
        <p:nvSpPr>
          <p:cNvPr id="92168" name="Text Box 11"/>
          <p:cNvSpPr txBox="1">
            <a:spLocks noChangeArrowheads="1"/>
          </p:cNvSpPr>
          <p:nvPr/>
        </p:nvSpPr>
        <p:spPr bwMode="auto">
          <a:xfrm>
            <a:off x="4495800" y="4648200"/>
            <a:ext cx="2692400" cy="457200"/>
          </a:xfrm>
          <a:prstGeom prst="rect">
            <a:avLst/>
          </a:prstGeom>
          <a:noFill/>
          <a:ln w="38100">
            <a:noFill/>
            <a:miter lim="800000"/>
            <a:headEnd/>
            <a:tailEnd/>
          </a:ln>
        </p:spPr>
        <p:txBody>
          <a:bodyPr>
            <a:spAutoFit/>
          </a:bodyPr>
          <a:lstStyle/>
          <a:p>
            <a:r>
              <a:rPr lang="en-US" sz="2400" b="1"/>
              <a:t>Demand</a:t>
            </a:r>
            <a:endParaRPr lang="en-US" sz="2400"/>
          </a:p>
        </p:txBody>
      </p:sp>
      <p:sp>
        <p:nvSpPr>
          <p:cNvPr id="598028" name="Line 12"/>
          <p:cNvSpPr>
            <a:spLocks noChangeShapeType="1"/>
          </p:cNvSpPr>
          <p:nvPr/>
        </p:nvSpPr>
        <p:spPr bwMode="auto">
          <a:xfrm flipV="1">
            <a:off x="3810000" y="2209800"/>
            <a:ext cx="762000" cy="0"/>
          </a:xfrm>
          <a:prstGeom prst="line">
            <a:avLst/>
          </a:prstGeom>
          <a:noFill/>
          <a:ln w="38100">
            <a:solidFill>
              <a:schemeClr val="tx1"/>
            </a:solidFill>
            <a:round/>
            <a:headEnd/>
            <a:tailEnd type="triangle" w="lg" len="med"/>
          </a:ln>
        </p:spPr>
        <p:txBody>
          <a:bodyPr/>
          <a:lstStyle/>
          <a:p>
            <a:endParaRPr lang="en-US"/>
          </a:p>
        </p:txBody>
      </p:sp>
      <p:sp>
        <p:nvSpPr>
          <p:cNvPr id="598029" name="Line 13"/>
          <p:cNvSpPr>
            <a:spLocks noChangeShapeType="1"/>
          </p:cNvSpPr>
          <p:nvPr/>
        </p:nvSpPr>
        <p:spPr bwMode="auto">
          <a:xfrm flipH="1">
            <a:off x="1982788" y="3884613"/>
            <a:ext cx="1673225" cy="0"/>
          </a:xfrm>
          <a:prstGeom prst="line">
            <a:avLst/>
          </a:prstGeom>
          <a:noFill/>
          <a:ln w="25400">
            <a:solidFill>
              <a:schemeClr val="tx1"/>
            </a:solidFill>
            <a:prstDash val="sysDot"/>
            <a:round/>
            <a:headEnd/>
            <a:tailEnd type="none" w="med" len="lg"/>
          </a:ln>
        </p:spPr>
        <p:txBody>
          <a:bodyPr/>
          <a:lstStyle/>
          <a:p>
            <a:endParaRPr lang="en-US"/>
          </a:p>
        </p:txBody>
      </p:sp>
      <p:sp>
        <p:nvSpPr>
          <p:cNvPr id="598030" name="Line 14"/>
          <p:cNvSpPr>
            <a:spLocks noChangeShapeType="1"/>
          </p:cNvSpPr>
          <p:nvPr/>
        </p:nvSpPr>
        <p:spPr bwMode="auto">
          <a:xfrm>
            <a:off x="3657600" y="3886200"/>
            <a:ext cx="0" cy="1371600"/>
          </a:xfrm>
          <a:prstGeom prst="line">
            <a:avLst/>
          </a:prstGeom>
          <a:noFill/>
          <a:ln w="25400">
            <a:solidFill>
              <a:schemeClr val="tx1"/>
            </a:solidFill>
            <a:prstDash val="sysDot"/>
            <a:round/>
            <a:headEnd/>
            <a:tailEnd type="none" w="med" len="lg"/>
          </a:ln>
        </p:spPr>
        <p:txBody>
          <a:bodyPr/>
          <a:lstStyle/>
          <a:p>
            <a:endParaRPr lang="en-US"/>
          </a:p>
        </p:txBody>
      </p:sp>
      <p:sp>
        <p:nvSpPr>
          <p:cNvPr id="92172" name="Line 15"/>
          <p:cNvSpPr>
            <a:spLocks noChangeShapeType="1"/>
          </p:cNvSpPr>
          <p:nvPr/>
        </p:nvSpPr>
        <p:spPr bwMode="auto">
          <a:xfrm>
            <a:off x="3048000" y="3200400"/>
            <a:ext cx="0" cy="2057400"/>
          </a:xfrm>
          <a:prstGeom prst="line">
            <a:avLst/>
          </a:prstGeom>
          <a:noFill/>
          <a:ln w="25400">
            <a:solidFill>
              <a:schemeClr val="tx1"/>
            </a:solidFill>
            <a:prstDash val="sysDot"/>
            <a:round/>
            <a:headEnd/>
            <a:tailEnd type="none" w="med" len="lg"/>
          </a:ln>
        </p:spPr>
        <p:txBody>
          <a:bodyPr/>
          <a:lstStyle/>
          <a:p>
            <a:endParaRPr lang="en-US"/>
          </a:p>
        </p:txBody>
      </p:sp>
      <p:sp>
        <p:nvSpPr>
          <p:cNvPr id="92173" name="Line 16"/>
          <p:cNvSpPr>
            <a:spLocks noChangeShapeType="1"/>
          </p:cNvSpPr>
          <p:nvPr/>
        </p:nvSpPr>
        <p:spPr bwMode="auto">
          <a:xfrm flipH="1">
            <a:off x="1981200" y="3200400"/>
            <a:ext cx="1066800" cy="0"/>
          </a:xfrm>
          <a:prstGeom prst="line">
            <a:avLst/>
          </a:prstGeom>
          <a:noFill/>
          <a:ln w="25400">
            <a:solidFill>
              <a:schemeClr val="tx1"/>
            </a:solidFill>
            <a:prstDash val="sysDot"/>
            <a:round/>
            <a:headEnd/>
            <a:tailEnd type="none" w="med" len="lg"/>
          </a:ln>
        </p:spPr>
        <p:txBody>
          <a:bodyPr/>
          <a:lstStyle/>
          <a:p>
            <a:endParaRPr lang="en-US"/>
          </a:p>
        </p:txBody>
      </p:sp>
      <p:sp>
        <p:nvSpPr>
          <p:cNvPr id="92174" name="Text Box 17"/>
          <p:cNvSpPr txBox="1">
            <a:spLocks noChangeArrowheads="1"/>
          </p:cNvSpPr>
          <p:nvPr/>
        </p:nvSpPr>
        <p:spPr bwMode="auto">
          <a:xfrm>
            <a:off x="2819400" y="2667000"/>
            <a:ext cx="533400" cy="336550"/>
          </a:xfrm>
          <a:prstGeom prst="rect">
            <a:avLst/>
          </a:prstGeom>
          <a:noFill/>
          <a:ln w="25400" algn="ctr">
            <a:noFill/>
            <a:prstDash val="sysDot"/>
            <a:miter lim="800000"/>
            <a:headEnd/>
            <a:tailEnd type="none" w="med" len="lg"/>
          </a:ln>
        </p:spPr>
        <p:txBody>
          <a:bodyPr>
            <a:spAutoFit/>
          </a:bodyPr>
          <a:lstStyle/>
          <a:p>
            <a:pPr marL="1588" indent="-1588"/>
            <a:r>
              <a:rPr lang="en-US"/>
              <a:t>E</a:t>
            </a:r>
            <a:r>
              <a:rPr lang="en-US" baseline="-25000"/>
              <a:t>1</a:t>
            </a:r>
          </a:p>
        </p:txBody>
      </p:sp>
      <p:sp>
        <p:nvSpPr>
          <p:cNvPr id="598034" name="Text Box 18"/>
          <p:cNvSpPr txBox="1">
            <a:spLocks noChangeArrowheads="1"/>
          </p:cNvSpPr>
          <p:nvPr/>
        </p:nvSpPr>
        <p:spPr bwMode="auto">
          <a:xfrm>
            <a:off x="3657600" y="3644900"/>
            <a:ext cx="533400" cy="369888"/>
          </a:xfrm>
          <a:prstGeom prst="rect">
            <a:avLst/>
          </a:prstGeom>
          <a:noFill/>
          <a:ln w="25400" algn="ctr">
            <a:noFill/>
            <a:prstDash val="sysDot"/>
            <a:miter lim="800000"/>
            <a:headEnd/>
            <a:tailEnd type="none" w="med" len="lg"/>
          </a:ln>
        </p:spPr>
        <p:txBody>
          <a:bodyPr>
            <a:spAutoFit/>
          </a:bodyPr>
          <a:lstStyle/>
          <a:p>
            <a:pPr marL="1588" indent="-1588" algn="ctr"/>
            <a:r>
              <a:rPr lang="en-US"/>
              <a:t>E</a:t>
            </a:r>
            <a:r>
              <a:rPr lang="en-US" baseline="-25000"/>
              <a:t>2</a:t>
            </a:r>
          </a:p>
        </p:txBody>
      </p:sp>
      <p:sp>
        <p:nvSpPr>
          <p:cNvPr id="598035" name="Text Box 19"/>
          <p:cNvSpPr txBox="1">
            <a:spLocks noChangeArrowheads="1"/>
          </p:cNvSpPr>
          <p:nvPr/>
        </p:nvSpPr>
        <p:spPr bwMode="auto">
          <a:xfrm>
            <a:off x="1692275" y="838200"/>
            <a:ext cx="2374900" cy="369888"/>
          </a:xfrm>
          <a:prstGeom prst="rect">
            <a:avLst/>
          </a:prstGeom>
          <a:solidFill>
            <a:srgbClr val="B7D4FF"/>
          </a:solidFill>
          <a:ln w="25400" algn="ctr">
            <a:noFill/>
            <a:prstDash val="sysDot"/>
            <a:miter lim="800000"/>
            <a:headEnd/>
            <a:tailEnd type="none" w="med" len="lg"/>
          </a:ln>
        </p:spPr>
        <p:txBody>
          <a:bodyPr>
            <a:spAutoFit/>
          </a:bodyPr>
          <a:lstStyle/>
          <a:p>
            <a:pPr marL="1588" indent="-1588" algn="ctr"/>
            <a:r>
              <a:rPr lang="en-US" i="1"/>
              <a:t>An increase in supply …</a:t>
            </a:r>
          </a:p>
        </p:txBody>
      </p:sp>
      <p:sp>
        <p:nvSpPr>
          <p:cNvPr id="598036" name="Line 20"/>
          <p:cNvSpPr>
            <a:spLocks noChangeShapeType="1"/>
          </p:cNvSpPr>
          <p:nvPr/>
        </p:nvSpPr>
        <p:spPr bwMode="auto">
          <a:xfrm>
            <a:off x="3251200" y="3141663"/>
            <a:ext cx="457200" cy="533400"/>
          </a:xfrm>
          <a:prstGeom prst="line">
            <a:avLst/>
          </a:prstGeom>
          <a:noFill/>
          <a:ln w="28575">
            <a:solidFill>
              <a:schemeClr val="tx1"/>
            </a:solidFill>
            <a:round/>
            <a:headEnd/>
            <a:tailEnd type="triangle" w="lg" len="med"/>
          </a:ln>
        </p:spPr>
        <p:txBody>
          <a:bodyPr/>
          <a:lstStyle/>
          <a:p>
            <a:endParaRPr lang="en-US"/>
          </a:p>
        </p:txBody>
      </p:sp>
      <p:sp>
        <p:nvSpPr>
          <p:cNvPr id="598037" name="Text Box 21"/>
          <p:cNvSpPr txBox="1">
            <a:spLocks noChangeArrowheads="1"/>
          </p:cNvSpPr>
          <p:nvPr/>
        </p:nvSpPr>
        <p:spPr bwMode="auto">
          <a:xfrm>
            <a:off x="1524000" y="3733800"/>
            <a:ext cx="457200" cy="336550"/>
          </a:xfrm>
          <a:prstGeom prst="rect">
            <a:avLst/>
          </a:prstGeom>
          <a:noFill/>
          <a:ln w="25400" algn="ctr">
            <a:noFill/>
            <a:prstDash val="sysDot"/>
            <a:miter lim="800000"/>
            <a:headEnd/>
            <a:tailEnd type="none" w="med" len="lg"/>
          </a:ln>
        </p:spPr>
        <p:txBody>
          <a:bodyPr>
            <a:spAutoFit/>
          </a:bodyPr>
          <a:lstStyle/>
          <a:p>
            <a:pPr marL="1588" indent="-1588"/>
            <a:r>
              <a:rPr lang="en-US"/>
              <a:t>P</a:t>
            </a:r>
            <a:r>
              <a:rPr lang="en-US" baseline="-25000"/>
              <a:t>2</a:t>
            </a:r>
          </a:p>
        </p:txBody>
      </p:sp>
      <p:sp>
        <p:nvSpPr>
          <p:cNvPr id="92179" name="Text Box 22"/>
          <p:cNvSpPr txBox="1">
            <a:spLocks noChangeArrowheads="1"/>
          </p:cNvSpPr>
          <p:nvPr/>
        </p:nvSpPr>
        <p:spPr bwMode="auto">
          <a:xfrm>
            <a:off x="1524000" y="3048000"/>
            <a:ext cx="457200" cy="336550"/>
          </a:xfrm>
          <a:prstGeom prst="rect">
            <a:avLst/>
          </a:prstGeom>
          <a:noFill/>
          <a:ln w="25400" algn="ctr">
            <a:noFill/>
            <a:prstDash val="sysDot"/>
            <a:miter lim="800000"/>
            <a:headEnd/>
            <a:tailEnd type="none" w="med" len="lg"/>
          </a:ln>
        </p:spPr>
        <p:txBody>
          <a:bodyPr>
            <a:spAutoFit/>
          </a:bodyPr>
          <a:lstStyle/>
          <a:p>
            <a:pPr marL="1588" indent="-1588"/>
            <a:r>
              <a:rPr lang="en-US"/>
              <a:t>P</a:t>
            </a:r>
            <a:r>
              <a:rPr lang="en-US" baseline="-25000"/>
              <a:t>1</a:t>
            </a:r>
          </a:p>
        </p:txBody>
      </p:sp>
      <p:sp>
        <p:nvSpPr>
          <p:cNvPr id="92180" name="Text Box 23"/>
          <p:cNvSpPr txBox="1">
            <a:spLocks noChangeArrowheads="1"/>
          </p:cNvSpPr>
          <p:nvPr/>
        </p:nvSpPr>
        <p:spPr bwMode="auto">
          <a:xfrm>
            <a:off x="2806700" y="5334000"/>
            <a:ext cx="457200" cy="495300"/>
          </a:xfrm>
          <a:prstGeom prst="rect">
            <a:avLst/>
          </a:prstGeom>
          <a:noFill/>
          <a:ln w="25400" algn="ctr">
            <a:noFill/>
            <a:prstDash val="sysDot"/>
            <a:miter lim="800000"/>
            <a:headEnd/>
            <a:tailEnd type="none" w="med" len="lg"/>
          </a:ln>
        </p:spPr>
        <p:txBody>
          <a:bodyPr>
            <a:spAutoFit/>
          </a:bodyPr>
          <a:lstStyle/>
          <a:p>
            <a:pPr marL="1588" indent="-1588"/>
            <a:r>
              <a:rPr lang="en-US"/>
              <a:t>Q</a:t>
            </a:r>
            <a:r>
              <a:rPr lang="en-US" baseline="-25000"/>
              <a:t>1</a:t>
            </a:r>
          </a:p>
        </p:txBody>
      </p:sp>
      <p:sp>
        <p:nvSpPr>
          <p:cNvPr id="598040" name="Text Box 24"/>
          <p:cNvSpPr txBox="1">
            <a:spLocks noChangeArrowheads="1"/>
          </p:cNvSpPr>
          <p:nvPr/>
        </p:nvSpPr>
        <p:spPr bwMode="auto">
          <a:xfrm>
            <a:off x="3444875" y="5334000"/>
            <a:ext cx="457200" cy="495300"/>
          </a:xfrm>
          <a:prstGeom prst="rect">
            <a:avLst/>
          </a:prstGeom>
          <a:noFill/>
          <a:ln w="25400" algn="ctr">
            <a:noFill/>
            <a:prstDash val="sysDot"/>
            <a:miter lim="800000"/>
            <a:headEnd/>
            <a:tailEnd type="none" w="med" len="lg"/>
          </a:ln>
        </p:spPr>
        <p:txBody>
          <a:bodyPr>
            <a:spAutoFit/>
          </a:bodyPr>
          <a:lstStyle/>
          <a:p>
            <a:pPr marL="1588" indent="-1588"/>
            <a:r>
              <a:rPr lang="en-US"/>
              <a:t>Q</a:t>
            </a:r>
            <a:r>
              <a:rPr lang="en-US" baseline="-25000"/>
              <a:t>2</a:t>
            </a:r>
          </a:p>
        </p:txBody>
      </p:sp>
      <p:sp>
        <p:nvSpPr>
          <p:cNvPr id="598041" name="Text Box 25"/>
          <p:cNvSpPr txBox="1">
            <a:spLocks noChangeArrowheads="1"/>
          </p:cNvSpPr>
          <p:nvPr/>
        </p:nvSpPr>
        <p:spPr bwMode="auto">
          <a:xfrm>
            <a:off x="5486400" y="990600"/>
            <a:ext cx="3352800" cy="1200150"/>
          </a:xfrm>
          <a:prstGeom prst="rect">
            <a:avLst/>
          </a:prstGeom>
          <a:solidFill>
            <a:srgbClr val="B7D4FF"/>
          </a:solidFill>
          <a:ln w="25400" algn="ctr">
            <a:noFill/>
            <a:prstDash val="sysDot"/>
            <a:miter lim="800000"/>
            <a:headEnd/>
            <a:tailEnd type="none" w="med" len="lg"/>
          </a:ln>
        </p:spPr>
        <p:txBody>
          <a:bodyPr>
            <a:spAutoFit/>
          </a:bodyPr>
          <a:lstStyle/>
          <a:p>
            <a:pPr marL="1588" indent="-1588" algn="ctr"/>
            <a:r>
              <a:rPr lang="en-US" i="1"/>
              <a:t>… leads to a movement along the demand curve to a lower equilibrium price and higher equilibrium quantity.</a:t>
            </a:r>
          </a:p>
        </p:txBody>
      </p:sp>
      <p:sp>
        <p:nvSpPr>
          <p:cNvPr id="598042" name="Line 26"/>
          <p:cNvSpPr>
            <a:spLocks noChangeShapeType="1"/>
          </p:cNvSpPr>
          <p:nvPr/>
        </p:nvSpPr>
        <p:spPr bwMode="auto">
          <a:xfrm>
            <a:off x="1547813" y="3357563"/>
            <a:ext cx="0" cy="533400"/>
          </a:xfrm>
          <a:prstGeom prst="line">
            <a:avLst/>
          </a:prstGeom>
          <a:noFill/>
          <a:ln w="25400">
            <a:solidFill>
              <a:schemeClr val="tx1"/>
            </a:solidFill>
            <a:round/>
            <a:headEnd/>
            <a:tailEnd type="triangle" w="med" len="lg"/>
          </a:ln>
        </p:spPr>
        <p:txBody>
          <a:bodyPr/>
          <a:lstStyle/>
          <a:p>
            <a:endParaRPr lang="en-US"/>
          </a:p>
        </p:txBody>
      </p:sp>
      <p:sp>
        <p:nvSpPr>
          <p:cNvPr id="598043" name="Line 27"/>
          <p:cNvSpPr>
            <a:spLocks noChangeShapeType="1"/>
          </p:cNvSpPr>
          <p:nvPr/>
        </p:nvSpPr>
        <p:spPr bwMode="auto">
          <a:xfrm flipV="1">
            <a:off x="3124200" y="5410200"/>
            <a:ext cx="381000" cy="0"/>
          </a:xfrm>
          <a:prstGeom prst="line">
            <a:avLst/>
          </a:prstGeom>
          <a:noFill/>
          <a:ln w="25400">
            <a:solidFill>
              <a:schemeClr val="tx1"/>
            </a:solidFill>
            <a:round/>
            <a:headEnd/>
            <a:tailEnd type="triangle" w="med" len="lg"/>
          </a:ln>
        </p:spPr>
        <p:txBody>
          <a:bodyPr/>
          <a:lstStyle/>
          <a:p>
            <a:endParaRPr lang="en-US"/>
          </a:p>
        </p:txBody>
      </p:sp>
      <p:sp>
        <p:nvSpPr>
          <p:cNvPr id="598044" name="Text Box 28"/>
          <p:cNvSpPr txBox="1">
            <a:spLocks noChangeArrowheads="1"/>
          </p:cNvSpPr>
          <p:nvPr/>
        </p:nvSpPr>
        <p:spPr bwMode="auto">
          <a:xfrm>
            <a:off x="827088" y="3284538"/>
            <a:ext cx="720725" cy="646112"/>
          </a:xfrm>
          <a:prstGeom prst="rect">
            <a:avLst/>
          </a:prstGeom>
          <a:noFill/>
          <a:ln w="25400" algn="ctr">
            <a:noFill/>
            <a:prstDash val="sysDot"/>
            <a:miter lim="800000"/>
            <a:headEnd/>
            <a:tailEnd type="none" w="med" len="lg"/>
          </a:ln>
        </p:spPr>
        <p:txBody>
          <a:bodyPr>
            <a:spAutoFit/>
          </a:bodyPr>
          <a:lstStyle/>
          <a:p>
            <a:pPr marL="1588" indent="-1588" algn="ctr"/>
            <a:r>
              <a:rPr lang="en-US" i="1"/>
              <a:t>Price falls</a:t>
            </a:r>
          </a:p>
        </p:txBody>
      </p:sp>
      <p:sp>
        <p:nvSpPr>
          <p:cNvPr id="598045" name="Text Box 29"/>
          <p:cNvSpPr txBox="1">
            <a:spLocks noChangeArrowheads="1"/>
          </p:cNvSpPr>
          <p:nvPr/>
        </p:nvSpPr>
        <p:spPr bwMode="auto">
          <a:xfrm>
            <a:off x="2057400" y="5732463"/>
            <a:ext cx="2514600" cy="369887"/>
          </a:xfrm>
          <a:prstGeom prst="rect">
            <a:avLst/>
          </a:prstGeom>
          <a:noFill/>
          <a:ln w="25400" algn="ctr">
            <a:noFill/>
            <a:prstDash val="sysDot"/>
            <a:miter lim="800000"/>
            <a:headEnd/>
            <a:tailEnd type="none" w="med" len="lg"/>
          </a:ln>
        </p:spPr>
        <p:txBody>
          <a:bodyPr>
            <a:spAutoFit/>
          </a:bodyPr>
          <a:lstStyle/>
          <a:p>
            <a:pPr marL="1588" indent="-1588" algn="ctr"/>
            <a:r>
              <a:rPr lang="en-US" i="1"/>
              <a:t>Quantity increases</a:t>
            </a:r>
          </a:p>
        </p:txBody>
      </p:sp>
      <p:sp>
        <p:nvSpPr>
          <p:cNvPr id="598046" name="Line 30"/>
          <p:cNvSpPr>
            <a:spLocks noChangeShapeType="1"/>
          </p:cNvSpPr>
          <p:nvPr/>
        </p:nvSpPr>
        <p:spPr bwMode="auto">
          <a:xfrm flipH="1">
            <a:off x="2895600" y="1981200"/>
            <a:ext cx="1981200" cy="2971800"/>
          </a:xfrm>
          <a:prstGeom prst="line">
            <a:avLst/>
          </a:prstGeom>
          <a:noFill/>
          <a:ln w="38100">
            <a:solidFill>
              <a:srgbClr val="FF0000"/>
            </a:solidFill>
            <a:round/>
            <a:headEnd/>
            <a:tailEnd/>
          </a:ln>
        </p:spPr>
        <p:txBody>
          <a:bodyPr/>
          <a:lstStyle/>
          <a:p>
            <a:endParaRPr lang="en-US"/>
          </a:p>
        </p:txBody>
      </p:sp>
      <p:sp>
        <p:nvSpPr>
          <p:cNvPr id="598047" name="Text Box 31"/>
          <p:cNvSpPr txBox="1">
            <a:spLocks noChangeArrowheads="1"/>
          </p:cNvSpPr>
          <p:nvPr/>
        </p:nvSpPr>
        <p:spPr bwMode="auto">
          <a:xfrm flipH="1">
            <a:off x="4876800" y="1676400"/>
            <a:ext cx="533400" cy="473075"/>
          </a:xfrm>
          <a:prstGeom prst="rect">
            <a:avLst/>
          </a:prstGeom>
          <a:noFill/>
          <a:ln w="38100">
            <a:noFill/>
            <a:miter lim="800000"/>
            <a:headEnd/>
            <a:tailEnd/>
          </a:ln>
        </p:spPr>
        <p:txBody>
          <a:bodyPr>
            <a:spAutoFit/>
          </a:bodyPr>
          <a:lstStyle/>
          <a:p>
            <a:r>
              <a:rPr lang="en-US" sz="2500" b="1" i="1"/>
              <a:t>S</a:t>
            </a:r>
            <a:r>
              <a:rPr lang="en-US" sz="2500" b="1" i="1" baseline="-25000"/>
              <a:t>2</a:t>
            </a:r>
            <a:endParaRPr lang="en-US" sz="2500" baseline="-25000"/>
          </a:p>
        </p:txBody>
      </p:sp>
      <p:sp>
        <p:nvSpPr>
          <p:cNvPr id="598048" name="Rectangle 32"/>
          <p:cNvSpPr>
            <a:spLocks noChangeArrowheads="1"/>
          </p:cNvSpPr>
          <p:nvPr/>
        </p:nvSpPr>
        <p:spPr bwMode="auto">
          <a:xfrm>
            <a:off x="4606925" y="2503488"/>
            <a:ext cx="4495800" cy="1938992"/>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spcBef>
                <a:spcPct val="20000"/>
              </a:spcBef>
              <a:defRPr/>
            </a:pPr>
            <a:r>
              <a:rPr lang="en-US" sz="2000" u="sng" dirty="0"/>
              <a:t>Technological innovation</a:t>
            </a:r>
            <a:r>
              <a:rPr lang="en-US" sz="2000" dirty="0"/>
              <a:t>: In the early 1970s, engineers learned how to put microscopic electronic components onto a silicon chip; progress in the technique has allowed ever more components to be put on each chip.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8048"/>
                                        </p:tgtEl>
                                        <p:attrNameLst>
                                          <p:attrName>style.visibility</p:attrName>
                                        </p:attrNameLst>
                                      </p:cBhvr>
                                      <p:to>
                                        <p:strVal val="visible"/>
                                      </p:to>
                                    </p:set>
                                    <p:animEffect transition="in" filter="box(in)">
                                      <p:cBhvr>
                                        <p:cTn id="7" dur="500"/>
                                        <p:tgtEl>
                                          <p:spTgt spid="5980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8035"/>
                                        </p:tgtEl>
                                        <p:attrNameLst>
                                          <p:attrName>style.visibility</p:attrName>
                                        </p:attrNameLst>
                                      </p:cBhvr>
                                      <p:to>
                                        <p:strVal val="visible"/>
                                      </p:to>
                                    </p:set>
                                    <p:animEffect transition="in" filter="wipe(left)">
                                      <p:cBhvr>
                                        <p:cTn id="12" dur="500"/>
                                        <p:tgtEl>
                                          <p:spTgt spid="59803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98028"/>
                                        </p:tgtEl>
                                        <p:attrNameLst>
                                          <p:attrName>style.visibility</p:attrName>
                                        </p:attrNameLst>
                                      </p:cBhvr>
                                      <p:to>
                                        <p:strVal val="visible"/>
                                      </p:to>
                                    </p:set>
                                    <p:animEffect transition="in" filter="wipe(left)">
                                      <p:cBhvr>
                                        <p:cTn id="16" dur="500"/>
                                        <p:tgtEl>
                                          <p:spTgt spid="598028"/>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598046"/>
                                        </p:tgtEl>
                                        <p:attrNameLst>
                                          <p:attrName>style.visibility</p:attrName>
                                        </p:attrNameLst>
                                      </p:cBhvr>
                                      <p:to>
                                        <p:strVal val="visible"/>
                                      </p:to>
                                    </p:set>
                                    <p:animEffect transition="in" filter="wipe(left)">
                                      <p:cBhvr>
                                        <p:cTn id="20" dur="500"/>
                                        <p:tgtEl>
                                          <p:spTgt spid="598046"/>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598047"/>
                                        </p:tgtEl>
                                        <p:attrNameLst>
                                          <p:attrName>style.visibility</p:attrName>
                                        </p:attrNameLst>
                                      </p:cBhvr>
                                      <p:to>
                                        <p:strVal val="visible"/>
                                      </p:to>
                                    </p:set>
                                    <p:animEffect transition="in" filter="wipe(left)">
                                      <p:cBhvr>
                                        <p:cTn id="24" dur="500"/>
                                        <p:tgtEl>
                                          <p:spTgt spid="59804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98041"/>
                                        </p:tgtEl>
                                        <p:attrNameLst>
                                          <p:attrName>style.visibility</p:attrName>
                                        </p:attrNameLst>
                                      </p:cBhvr>
                                      <p:to>
                                        <p:strVal val="visible"/>
                                      </p:to>
                                    </p:set>
                                    <p:animEffect transition="in" filter="wipe(left)">
                                      <p:cBhvr>
                                        <p:cTn id="29" dur="500"/>
                                        <p:tgtEl>
                                          <p:spTgt spid="598041"/>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598036"/>
                                        </p:tgtEl>
                                        <p:attrNameLst>
                                          <p:attrName>style.visibility</p:attrName>
                                        </p:attrNameLst>
                                      </p:cBhvr>
                                      <p:to>
                                        <p:strVal val="visible"/>
                                      </p:to>
                                    </p:set>
                                    <p:animEffect transition="in" filter="fade">
                                      <p:cBhvr>
                                        <p:cTn id="33" dur="500"/>
                                        <p:tgtEl>
                                          <p:spTgt spid="598036"/>
                                        </p:tgtEl>
                                      </p:cBhvr>
                                    </p:animEffect>
                                  </p:childTnLst>
                                </p:cTn>
                              </p:par>
                            </p:childTnLst>
                          </p:cTn>
                        </p:par>
                        <p:par>
                          <p:cTn id="34" fill="hold">
                            <p:stCondLst>
                              <p:cond delay="1000"/>
                            </p:stCondLst>
                            <p:childTnLst>
                              <p:par>
                                <p:cTn id="35" presetID="10" presetClass="entr" presetSubtype="0" fill="hold" grpId="0" nodeType="afterEffect">
                                  <p:stCondLst>
                                    <p:cond delay="0"/>
                                  </p:stCondLst>
                                  <p:childTnLst>
                                    <p:set>
                                      <p:cBhvr>
                                        <p:cTn id="36" dur="1" fill="hold">
                                          <p:stCondLst>
                                            <p:cond delay="0"/>
                                          </p:stCondLst>
                                        </p:cTn>
                                        <p:tgtEl>
                                          <p:spTgt spid="598034"/>
                                        </p:tgtEl>
                                        <p:attrNameLst>
                                          <p:attrName>style.visibility</p:attrName>
                                        </p:attrNameLst>
                                      </p:cBhvr>
                                      <p:to>
                                        <p:strVal val="visible"/>
                                      </p:to>
                                    </p:set>
                                    <p:animEffect transition="in" filter="fade">
                                      <p:cBhvr>
                                        <p:cTn id="37" dur="500"/>
                                        <p:tgtEl>
                                          <p:spTgt spid="598034"/>
                                        </p:tgtEl>
                                      </p:cBhvr>
                                    </p:animEffect>
                                  </p:childTnLst>
                                </p:cTn>
                              </p:par>
                            </p:childTnLst>
                          </p:cTn>
                        </p:par>
                        <p:par>
                          <p:cTn id="38" fill="hold">
                            <p:stCondLst>
                              <p:cond delay="1500"/>
                            </p:stCondLst>
                            <p:childTnLst>
                              <p:par>
                                <p:cTn id="39" presetID="10" presetClass="entr" presetSubtype="0" fill="hold" grpId="0" nodeType="afterEffect">
                                  <p:stCondLst>
                                    <p:cond delay="0"/>
                                  </p:stCondLst>
                                  <p:childTnLst>
                                    <p:set>
                                      <p:cBhvr>
                                        <p:cTn id="40" dur="1" fill="hold">
                                          <p:stCondLst>
                                            <p:cond delay="0"/>
                                          </p:stCondLst>
                                        </p:cTn>
                                        <p:tgtEl>
                                          <p:spTgt spid="598029"/>
                                        </p:tgtEl>
                                        <p:attrNameLst>
                                          <p:attrName>style.visibility</p:attrName>
                                        </p:attrNameLst>
                                      </p:cBhvr>
                                      <p:to>
                                        <p:strVal val="visible"/>
                                      </p:to>
                                    </p:set>
                                    <p:animEffect transition="in" filter="fade">
                                      <p:cBhvr>
                                        <p:cTn id="41" dur="500"/>
                                        <p:tgtEl>
                                          <p:spTgt spid="598029"/>
                                        </p:tgtEl>
                                      </p:cBhvr>
                                    </p:animEffect>
                                  </p:childTnLst>
                                </p:cTn>
                              </p:par>
                            </p:childTnLst>
                          </p:cTn>
                        </p:par>
                        <p:par>
                          <p:cTn id="42" fill="hold">
                            <p:stCondLst>
                              <p:cond delay="2000"/>
                            </p:stCondLst>
                            <p:childTnLst>
                              <p:par>
                                <p:cTn id="43" presetID="10" presetClass="entr" presetSubtype="0" fill="hold" grpId="0" nodeType="afterEffect">
                                  <p:stCondLst>
                                    <p:cond delay="0"/>
                                  </p:stCondLst>
                                  <p:childTnLst>
                                    <p:set>
                                      <p:cBhvr>
                                        <p:cTn id="44" dur="1" fill="hold">
                                          <p:stCondLst>
                                            <p:cond delay="0"/>
                                          </p:stCondLst>
                                        </p:cTn>
                                        <p:tgtEl>
                                          <p:spTgt spid="598037"/>
                                        </p:tgtEl>
                                        <p:attrNameLst>
                                          <p:attrName>style.visibility</p:attrName>
                                        </p:attrNameLst>
                                      </p:cBhvr>
                                      <p:to>
                                        <p:strVal val="visible"/>
                                      </p:to>
                                    </p:set>
                                    <p:animEffect transition="in" filter="fade">
                                      <p:cBhvr>
                                        <p:cTn id="45" dur="500"/>
                                        <p:tgtEl>
                                          <p:spTgt spid="598037"/>
                                        </p:tgtEl>
                                      </p:cBhvr>
                                    </p:animEffect>
                                  </p:childTnLst>
                                </p:cTn>
                              </p:par>
                            </p:childTnLst>
                          </p:cTn>
                        </p:par>
                        <p:par>
                          <p:cTn id="46" fill="hold">
                            <p:stCondLst>
                              <p:cond delay="2500"/>
                            </p:stCondLst>
                            <p:childTnLst>
                              <p:par>
                                <p:cTn id="47" presetID="10" presetClass="entr" presetSubtype="0" fill="hold" grpId="0" nodeType="afterEffect">
                                  <p:stCondLst>
                                    <p:cond delay="0"/>
                                  </p:stCondLst>
                                  <p:childTnLst>
                                    <p:set>
                                      <p:cBhvr>
                                        <p:cTn id="48" dur="1" fill="hold">
                                          <p:stCondLst>
                                            <p:cond delay="0"/>
                                          </p:stCondLst>
                                        </p:cTn>
                                        <p:tgtEl>
                                          <p:spTgt spid="598042"/>
                                        </p:tgtEl>
                                        <p:attrNameLst>
                                          <p:attrName>style.visibility</p:attrName>
                                        </p:attrNameLst>
                                      </p:cBhvr>
                                      <p:to>
                                        <p:strVal val="visible"/>
                                      </p:to>
                                    </p:set>
                                    <p:animEffect transition="in" filter="fade">
                                      <p:cBhvr>
                                        <p:cTn id="49" dur="500"/>
                                        <p:tgtEl>
                                          <p:spTgt spid="598042"/>
                                        </p:tgtEl>
                                      </p:cBhvr>
                                    </p:animEffect>
                                  </p:childTnLst>
                                </p:cTn>
                              </p:par>
                            </p:childTnLst>
                          </p:cTn>
                        </p:par>
                        <p:par>
                          <p:cTn id="50" fill="hold">
                            <p:stCondLst>
                              <p:cond delay="3000"/>
                            </p:stCondLst>
                            <p:childTnLst>
                              <p:par>
                                <p:cTn id="51" presetID="10" presetClass="entr" presetSubtype="0" fill="hold" grpId="0" nodeType="afterEffect">
                                  <p:stCondLst>
                                    <p:cond delay="0"/>
                                  </p:stCondLst>
                                  <p:childTnLst>
                                    <p:set>
                                      <p:cBhvr>
                                        <p:cTn id="52" dur="1" fill="hold">
                                          <p:stCondLst>
                                            <p:cond delay="0"/>
                                          </p:stCondLst>
                                        </p:cTn>
                                        <p:tgtEl>
                                          <p:spTgt spid="598044"/>
                                        </p:tgtEl>
                                        <p:attrNameLst>
                                          <p:attrName>style.visibility</p:attrName>
                                        </p:attrNameLst>
                                      </p:cBhvr>
                                      <p:to>
                                        <p:strVal val="visible"/>
                                      </p:to>
                                    </p:set>
                                    <p:animEffect transition="in" filter="fade">
                                      <p:cBhvr>
                                        <p:cTn id="53" dur="500"/>
                                        <p:tgtEl>
                                          <p:spTgt spid="598044"/>
                                        </p:tgtEl>
                                      </p:cBhvr>
                                    </p:animEffect>
                                  </p:childTnLst>
                                </p:cTn>
                              </p:par>
                            </p:childTnLst>
                          </p:cTn>
                        </p:par>
                        <p:par>
                          <p:cTn id="54" fill="hold">
                            <p:stCondLst>
                              <p:cond delay="3500"/>
                            </p:stCondLst>
                            <p:childTnLst>
                              <p:par>
                                <p:cTn id="55" presetID="10" presetClass="entr" presetSubtype="0" fill="hold" grpId="0" nodeType="afterEffect">
                                  <p:stCondLst>
                                    <p:cond delay="0"/>
                                  </p:stCondLst>
                                  <p:childTnLst>
                                    <p:set>
                                      <p:cBhvr>
                                        <p:cTn id="56" dur="1" fill="hold">
                                          <p:stCondLst>
                                            <p:cond delay="0"/>
                                          </p:stCondLst>
                                        </p:cTn>
                                        <p:tgtEl>
                                          <p:spTgt spid="598030"/>
                                        </p:tgtEl>
                                        <p:attrNameLst>
                                          <p:attrName>style.visibility</p:attrName>
                                        </p:attrNameLst>
                                      </p:cBhvr>
                                      <p:to>
                                        <p:strVal val="visible"/>
                                      </p:to>
                                    </p:set>
                                    <p:animEffect transition="in" filter="fade">
                                      <p:cBhvr>
                                        <p:cTn id="57" dur="500"/>
                                        <p:tgtEl>
                                          <p:spTgt spid="598030"/>
                                        </p:tgtEl>
                                      </p:cBhvr>
                                    </p:animEffect>
                                  </p:childTnLst>
                                </p:cTn>
                              </p:par>
                            </p:childTnLst>
                          </p:cTn>
                        </p:par>
                        <p:par>
                          <p:cTn id="58" fill="hold">
                            <p:stCondLst>
                              <p:cond delay="4000"/>
                            </p:stCondLst>
                            <p:childTnLst>
                              <p:par>
                                <p:cTn id="59" presetID="10" presetClass="entr" presetSubtype="0" fill="hold" grpId="0" nodeType="afterEffect">
                                  <p:stCondLst>
                                    <p:cond delay="0"/>
                                  </p:stCondLst>
                                  <p:childTnLst>
                                    <p:set>
                                      <p:cBhvr>
                                        <p:cTn id="60" dur="1" fill="hold">
                                          <p:stCondLst>
                                            <p:cond delay="0"/>
                                          </p:stCondLst>
                                        </p:cTn>
                                        <p:tgtEl>
                                          <p:spTgt spid="598040"/>
                                        </p:tgtEl>
                                        <p:attrNameLst>
                                          <p:attrName>style.visibility</p:attrName>
                                        </p:attrNameLst>
                                      </p:cBhvr>
                                      <p:to>
                                        <p:strVal val="visible"/>
                                      </p:to>
                                    </p:set>
                                    <p:animEffect transition="in" filter="fade">
                                      <p:cBhvr>
                                        <p:cTn id="61" dur="500"/>
                                        <p:tgtEl>
                                          <p:spTgt spid="598040"/>
                                        </p:tgtEl>
                                      </p:cBhvr>
                                    </p:animEffect>
                                  </p:childTnLst>
                                </p:cTn>
                              </p:par>
                            </p:childTnLst>
                          </p:cTn>
                        </p:par>
                        <p:par>
                          <p:cTn id="62" fill="hold">
                            <p:stCondLst>
                              <p:cond delay="4500"/>
                            </p:stCondLst>
                            <p:childTnLst>
                              <p:par>
                                <p:cTn id="63" presetID="10" presetClass="entr" presetSubtype="0" fill="hold" grpId="0" nodeType="afterEffect">
                                  <p:stCondLst>
                                    <p:cond delay="0"/>
                                  </p:stCondLst>
                                  <p:childTnLst>
                                    <p:set>
                                      <p:cBhvr>
                                        <p:cTn id="64" dur="1" fill="hold">
                                          <p:stCondLst>
                                            <p:cond delay="0"/>
                                          </p:stCondLst>
                                        </p:cTn>
                                        <p:tgtEl>
                                          <p:spTgt spid="598043"/>
                                        </p:tgtEl>
                                        <p:attrNameLst>
                                          <p:attrName>style.visibility</p:attrName>
                                        </p:attrNameLst>
                                      </p:cBhvr>
                                      <p:to>
                                        <p:strVal val="visible"/>
                                      </p:to>
                                    </p:set>
                                    <p:animEffect transition="in" filter="fade">
                                      <p:cBhvr>
                                        <p:cTn id="65" dur="500"/>
                                        <p:tgtEl>
                                          <p:spTgt spid="598043"/>
                                        </p:tgtEl>
                                      </p:cBhvr>
                                    </p:animEffect>
                                  </p:childTnLst>
                                </p:cTn>
                              </p:par>
                            </p:childTnLst>
                          </p:cTn>
                        </p:par>
                        <p:par>
                          <p:cTn id="66" fill="hold">
                            <p:stCondLst>
                              <p:cond delay="5000"/>
                            </p:stCondLst>
                            <p:childTnLst>
                              <p:par>
                                <p:cTn id="67" presetID="10" presetClass="entr" presetSubtype="0" fill="hold" grpId="0" nodeType="afterEffect">
                                  <p:stCondLst>
                                    <p:cond delay="0"/>
                                  </p:stCondLst>
                                  <p:childTnLst>
                                    <p:set>
                                      <p:cBhvr>
                                        <p:cTn id="68" dur="1" fill="hold">
                                          <p:stCondLst>
                                            <p:cond delay="0"/>
                                          </p:stCondLst>
                                        </p:cTn>
                                        <p:tgtEl>
                                          <p:spTgt spid="598045"/>
                                        </p:tgtEl>
                                        <p:attrNameLst>
                                          <p:attrName>style.visibility</p:attrName>
                                        </p:attrNameLst>
                                      </p:cBhvr>
                                      <p:to>
                                        <p:strVal val="visible"/>
                                      </p:to>
                                    </p:set>
                                    <p:animEffect transition="in" filter="fade">
                                      <p:cBhvr>
                                        <p:cTn id="69" dur="500"/>
                                        <p:tgtEl>
                                          <p:spTgt spid="598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28" grpId="0" animBg="1"/>
      <p:bldP spid="598029" grpId="0" animBg="1"/>
      <p:bldP spid="598030" grpId="0" animBg="1"/>
      <p:bldP spid="598034" grpId="0"/>
      <p:bldP spid="598035" grpId="0" animBg="1"/>
      <p:bldP spid="598036" grpId="0" animBg="1"/>
      <p:bldP spid="598037" grpId="0"/>
      <p:bldP spid="598040" grpId="0"/>
      <p:bldP spid="598041" grpId="0" animBg="1"/>
      <p:bldP spid="598042" grpId="0" animBg="1"/>
      <p:bldP spid="598043" grpId="0" animBg="1"/>
      <p:bldP spid="598044" grpId="0"/>
      <p:bldP spid="598045" grpId="0"/>
      <p:bldP spid="598046" grpId="0" animBg="1"/>
      <p:bldP spid="598047" grpId="0"/>
      <p:bldP spid="598048"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a:xfrm>
            <a:off x="900113" y="60325"/>
            <a:ext cx="8064500" cy="555625"/>
          </a:xfrm>
        </p:spPr>
        <p:txBody>
          <a:bodyPr/>
          <a:lstStyle/>
          <a:p>
            <a:pPr>
              <a:defRPr/>
            </a:pPr>
            <a:r>
              <a:rPr lang="en-US" dirty="0" smtClean="0">
                <a:solidFill>
                  <a:schemeClr val="accent2">
                    <a:lumMod val="40000"/>
                    <a:lumOff val="60000"/>
                  </a:schemeClr>
                </a:solidFill>
              </a:rPr>
              <a:t>ECONOMICS IN ACTION</a:t>
            </a:r>
            <a:endParaRPr lang="en-US" dirty="0">
              <a:solidFill>
                <a:schemeClr val="accent2">
                  <a:lumMod val="40000"/>
                  <a:lumOff val="60000"/>
                </a:schemeClr>
              </a:solidFill>
            </a:endParaRPr>
          </a:p>
        </p:txBody>
      </p:sp>
      <p:sp>
        <p:nvSpPr>
          <p:cNvPr id="606210" name="Rectangle 2"/>
          <p:cNvSpPr>
            <a:spLocks noGrp="1" noChangeArrowheads="1"/>
          </p:cNvSpPr>
          <p:nvPr>
            <p:ph idx="1"/>
          </p:nvPr>
        </p:nvSpPr>
        <p:spPr>
          <a:xfrm>
            <a:off x="539750" y="692150"/>
            <a:ext cx="8496300" cy="5976938"/>
          </a:xfrm>
        </p:spPr>
        <p:txBody>
          <a:bodyPr/>
          <a:lstStyle/>
          <a:p>
            <a:pPr marL="457200" indent="-223838">
              <a:buFontTx/>
              <a:buNone/>
            </a:pPr>
            <a:r>
              <a:rPr lang="en-US" b="1" dirty="0" smtClean="0">
                <a:solidFill>
                  <a:srgbClr val="953735"/>
                </a:solidFill>
              </a:rPr>
              <a:t>The Great Tortilla Crisis</a:t>
            </a:r>
            <a:r>
              <a:rPr lang="en-US" dirty="0" smtClean="0">
                <a:solidFill>
                  <a:srgbClr val="953735"/>
                </a:solidFill>
              </a:rPr>
              <a:t> </a:t>
            </a:r>
          </a:p>
          <a:p>
            <a:pPr marL="457200" indent="-223838">
              <a:buClr>
                <a:schemeClr val="tx1"/>
              </a:buClr>
            </a:pPr>
            <a:r>
              <a:rPr lang="en-US" dirty="0" smtClean="0"/>
              <a:t>In 2007, the Mexican government panicked over a sharp rise in the price of tortillas, a staple food of Mexico’s poor.  The price rose from 25 cents a pound to between 35 and 45 cents a pound in just a few months in early 2007.</a:t>
            </a:r>
            <a:endParaRPr lang="en-US" b="1" dirty="0" smtClean="0"/>
          </a:p>
          <a:p>
            <a:pPr marL="457200" indent="-223838">
              <a:buFontTx/>
              <a:buNone/>
            </a:pPr>
            <a:r>
              <a:rPr lang="en-US" b="1" dirty="0" smtClean="0"/>
              <a:t>Why were tortilla prices soaring?</a:t>
            </a:r>
            <a:r>
              <a:rPr lang="en-US" dirty="0" smtClean="0"/>
              <a:t> </a:t>
            </a:r>
          </a:p>
          <a:p>
            <a:pPr marL="457200" indent="-223838">
              <a:buClr>
                <a:schemeClr val="tx1"/>
              </a:buClr>
            </a:pPr>
            <a:r>
              <a:rPr lang="en-US" dirty="0" smtClean="0"/>
              <a:t>It was a classic example of what happens to equilibrium prices when supply falls. </a:t>
            </a:r>
          </a:p>
          <a:p>
            <a:pPr marL="857250" lvl="1" indent="-223838">
              <a:buClr>
                <a:schemeClr val="tx1"/>
              </a:buClr>
            </a:pPr>
            <a:r>
              <a:rPr lang="en-US" dirty="0" smtClean="0"/>
              <a:t>Tortillas are made from corn, and much of Mexico’s corn is imported from the United States, with the price of corn in both countries basically set in the U.S. corn market. </a:t>
            </a:r>
          </a:p>
          <a:p>
            <a:pPr marL="857250" lvl="1" indent="-223838">
              <a:buClr>
                <a:schemeClr val="tx1"/>
              </a:buClr>
            </a:pPr>
            <a:r>
              <a:rPr lang="en-US" dirty="0" smtClean="0"/>
              <a:t>And U.S. corn prices were rising rapidly thanks to surging demand in a new market: the market for ethanol. </a:t>
            </a:r>
          </a:p>
        </p:txBody>
      </p:sp>
      <p:sp>
        <p:nvSpPr>
          <p:cNvPr id="104451" name="Rectangle 4"/>
          <p:cNvSpPr>
            <a:spLocks noChangeArrowheads="1"/>
          </p:cNvSpPr>
          <p:nvPr/>
        </p:nvSpPr>
        <p:spPr bwMode="auto">
          <a:xfrm>
            <a:off x="381000" y="5638800"/>
            <a:ext cx="8229600" cy="762000"/>
          </a:xfrm>
          <a:prstGeom prst="rect">
            <a:avLst/>
          </a:prstGeom>
          <a:noFill/>
          <a:ln w="9525">
            <a:noFill/>
            <a:miter lim="800000"/>
            <a:headEnd/>
            <a:tailEnd/>
          </a:ln>
        </p:spPr>
        <p:txBody>
          <a:bodyPr/>
          <a:lstStyle/>
          <a:p>
            <a:pPr marL="342900" indent="-342900">
              <a:spcBef>
                <a:spcPct val="20000"/>
              </a:spcBef>
            </a:pPr>
            <a:endParaRPr 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6210">
                                            <p:txEl>
                                              <p:pRg st="0" end="0"/>
                                            </p:txEl>
                                          </p:spTgt>
                                        </p:tgtEl>
                                        <p:attrNameLst>
                                          <p:attrName>style.visibility</p:attrName>
                                        </p:attrNameLst>
                                      </p:cBhvr>
                                      <p:to>
                                        <p:strVal val="visible"/>
                                      </p:to>
                                    </p:set>
                                    <p:animEffect transition="in" filter="wipe(left)">
                                      <p:cBhvr>
                                        <p:cTn id="7" dur="500"/>
                                        <p:tgtEl>
                                          <p:spTgt spid="6062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6210">
                                            <p:txEl>
                                              <p:pRg st="1" end="1"/>
                                            </p:txEl>
                                          </p:spTgt>
                                        </p:tgtEl>
                                        <p:attrNameLst>
                                          <p:attrName>style.visibility</p:attrName>
                                        </p:attrNameLst>
                                      </p:cBhvr>
                                      <p:to>
                                        <p:strVal val="visible"/>
                                      </p:to>
                                    </p:set>
                                    <p:animEffect transition="in" filter="wipe(left)">
                                      <p:cBhvr>
                                        <p:cTn id="12" dur="500"/>
                                        <p:tgtEl>
                                          <p:spTgt spid="6062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06210">
                                            <p:txEl>
                                              <p:pRg st="2" end="2"/>
                                            </p:txEl>
                                          </p:spTgt>
                                        </p:tgtEl>
                                        <p:attrNameLst>
                                          <p:attrName>style.visibility</p:attrName>
                                        </p:attrNameLst>
                                      </p:cBhvr>
                                      <p:to>
                                        <p:strVal val="visible"/>
                                      </p:to>
                                    </p:set>
                                    <p:animEffect transition="in" filter="wipe(left)">
                                      <p:cBhvr>
                                        <p:cTn id="17" dur="500"/>
                                        <p:tgtEl>
                                          <p:spTgt spid="6062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06210">
                                            <p:txEl>
                                              <p:pRg st="3" end="3"/>
                                            </p:txEl>
                                          </p:spTgt>
                                        </p:tgtEl>
                                        <p:attrNameLst>
                                          <p:attrName>style.visibility</p:attrName>
                                        </p:attrNameLst>
                                      </p:cBhvr>
                                      <p:to>
                                        <p:strVal val="visible"/>
                                      </p:to>
                                    </p:set>
                                    <p:animEffect transition="in" filter="wipe(left)">
                                      <p:cBhvr>
                                        <p:cTn id="22" dur="500"/>
                                        <p:tgtEl>
                                          <p:spTgt spid="606210">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606210">
                                            <p:txEl>
                                              <p:pRg st="4" end="4"/>
                                            </p:txEl>
                                          </p:spTgt>
                                        </p:tgtEl>
                                        <p:attrNameLst>
                                          <p:attrName>style.visibility</p:attrName>
                                        </p:attrNameLst>
                                      </p:cBhvr>
                                      <p:to>
                                        <p:strVal val="visible"/>
                                      </p:to>
                                    </p:set>
                                    <p:animEffect transition="in" filter="wipe(left)">
                                      <p:cBhvr>
                                        <p:cTn id="25" dur="500"/>
                                        <p:tgtEl>
                                          <p:spTgt spid="606210">
                                            <p:txEl>
                                              <p:pRg st="4" end="4"/>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606210">
                                            <p:txEl>
                                              <p:pRg st="5" end="5"/>
                                            </p:txEl>
                                          </p:spTgt>
                                        </p:tgtEl>
                                        <p:attrNameLst>
                                          <p:attrName>style.visibility</p:attrName>
                                        </p:attrNameLst>
                                      </p:cBhvr>
                                      <p:to>
                                        <p:strVal val="visible"/>
                                      </p:to>
                                    </p:set>
                                    <p:animEffect transition="in" filter="wipe(left)">
                                      <p:cBhvr>
                                        <p:cTn id="28" dur="500"/>
                                        <p:tgtEl>
                                          <p:spTgt spid="6062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210"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Text Box 2"/>
          <p:cNvSpPr txBox="1">
            <a:spLocks noChangeArrowheads="1"/>
          </p:cNvSpPr>
          <p:nvPr/>
        </p:nvSpPr>
        <p:spPr bwMode="auto">
          <a:xfrm>
            <a:off x="6153150" y="1524000"/>
            <a:ext cx="2719388" cy="3886200"/>
          </a:xfrm>
          <a:prstGeom prst="rect">
            <a:avLst/>
          </a:prstGeom>
          <a:solidFill>
            <a:schemeClr val="accent5">
              <a:lumMod val="20000"/>
              <a:lumOff val="80000"/>
            </a:schemeClr>
          </a:solidFill>
          <a:ln w="57150" cmpd="thinThick" algn="ctr">
            <a:noFill/>
            <a:miter lim="800000"/>
            <a:headEnd/>
            <a:tailEnd type="none" w="sm" len="lg"/>
          </a:ln>
          <a:effectLst/>
        </p:spPr>
        <p:txBody>
          <a:bodyPr anchor="ctr"/>
          <a:lstStyle/>
          <a:p>
            <a:pPr marL="1588" indent="-1588" algn="ctr">
              <a:defRPr/>
            </a:pPr>
            <a:endParaRPr lang="en-US" sz="2400" dirty="0"/>
          </a:p>
          <a:p>
            <a:pPr marL="1588" indent="-1588" algn="ctr">
              <a:defRPr/>
            </a:pPr>
            <a:r>
              <a:rPr lang="en-US" sz="2400" dirty="0"/>
              <a:t>The “</a:t>
            </a:r>
            <a:r>
              <a:rPr lang="en-US" sz="2400" dirty="0">
                <a:solidFill>
                  <a:srgbClr val="478A42"/>
                </a:solidFill>
              </a:rPr>
              <a:t>war on drugs</a:t>
            </a:r>
            <a:r>
              <a:rPr lang="en-US" sz="2400" dirty="0"/>
              <a:t>” shifts the supply curve to the left.</a:t>
            </a:r>
          </a:p>
        </p:txBody>
      </p:sp>
      <p:sp>
        <p:nvSpPr>
          <p:cNvPr id="604163" name="Text Box 3"/>
          <p:cNvSpPr txBox="1">
            <a:spLocks noChangeArrowheads="1"/>
          </p:cNvSpPr>
          <p:nvPr/>
        </p:nvSpPr>
        <p:spPr bwMode="auto">
          <a:xfrm>
            <a:off x="6156325" y="1557338"/>
            <a:ext cx="2663825" cy="3886200"/>
          </a:xfrm>
          <a:prstGeom prst="rect">
            <a:avLst/>
          </a:prstGeom>
          <a:solidFill>
            <a:schemeClr val="accent5">
              <a:lumMod val="20000"/>
              <a:lumOff val="80000"/>
            </a:schemeClr>
          </a:solidFill>
          <a:ln w="57150" cmpd="thinThick" algn="ctr">
            <a:noFill/>
            <a:miter lim="800000"/>
            <a:headEnd/>
            <a:tailEnd type="none" w="sm" len="lg"/>
          </a:ln>
          <a:effectLst/>
        </p:spPr>
        <p:txBody>
          <a:bodyPr/>
          <a:lstStyle/>
          <a:p>
            <a:pPr marL="1588" indent="-1588" algn="ctr">
              <a:defRPr/>
            </a:pPr>
            <a:r>
              <a:rPr lang="en-US" sz="2200" dirty="0"/>
              <a:t>However, we can see by comparing the original equilibrium E</a:t>
            </a:r>
            <a:r>
              <a:rPr lang="en-US" sz="2200" baseline="-25000" dirty="0"/>
              <a:t>1</a:t>
            </a:r>
            <a:r>
              <a:rPr lang="en-US" sz="2200" dirty="0"/>
              <a:t> with the new equilibrium E</a:t>
            </a:r>
            <a:r>
              <a:rPr lang="en-US" sz="2200" baseline="-25000" dirty="0"/>
              <a:t>2</a:t>
            </a:r>
            <a:r>
              <a:rPr lang="en-US" sz="2200" dirty="0"/>
              <a:t> that the actual reduction in the quantity of drugs supplied is much smaller than the shift of the supply curve.</a:t>
            </a:r>
          </a:p>
        </p:txBody>
      </p:sp>
      <p:sp>
        <p:nvSpPr>
          <p:cNvPr id="604164" name="Text Box 4"/>
          <p:cNvSpPr txBox="1">
            <a:spLocks noChangeArrowheads="1"/>
          </p:cNvSpPr>
          <p:nvPr/>
        </p:nvSpPr>
        <p:spPr bwMode="auto">
          <a:xfrm>
            <a:off x="6208713" y="1585913"/>
            <a:ext cx="2665412" cy="3886200"/>
          </a:xfrm>
          <a:prstGeom prst="rect">
            <a:avLst/>
          </a:prstGeom>
          <a:solidFill>
            <a:schemeClr val="accent5">
              <a:lumMod val="20000"/>
              <a:lumOff val="80000"/>
            </a:schemeClr>
          </a:solidFill>
          <a:ln w="57150" cmpd="thinThick" algn="ctr">
            <a:noFill/>
            <a:miter lim="800000"/>
            <a:headEnd/>
            <a:tailEnd type="none" w="sm" len="lg"/>
          </a:ln>
          <a:effectLst/>
        </p:spPr>
        <p:txBody>
          <a:bodyPr anchor="ctr"/>
          <a:lstStyle/>
          <a:p>
            <a:pPr marL="1588" indent="-1588" algn="ctr">
              <a:defRPr/>
            </a:pPr>
            <a:r>
              <a:rPr lang="en-US" sz="2400" dirty="0"/>
              <a:t>The equilibrium price has risen from </a:t>
            </a:r>
            <a:r>
              <a:rPr lang="en-US" sz="2400" i="1" dirty="0"/>
              <a:t>P</a:t>
            </a:r>
            <a:r>
              <a:rPr lang="en-US" sz="2400" baseline="-25000" dirty="0"/>
              <a:t>1</a:t>
            </a:r>
            <a:r>
              <a:rPr lang="en-US" sz="2400" dirty="0"/>
              <a:t> to </a:t>
            </a:r>
            <a:r>
              <a:rPr lang="en-US" sz="2400" i="1" dirty="0"/>
              <a:t>P</a:t>
            </a:r>
            <a:r>
              <a:rPr lang="en-US" sz="2400" baseline="-25000" dirty="0"/>
              <a:t>2</a:t>
            </a:r>
            <a:r>
              <a:rPr lang="en-US" sz="2400" dirty="0"/>
              <a:t>; </a:t>
            </a:r>
            <a:br>
              <a:rPr lang="en-US" sz="2400" dirty="0"/>
            </a:br>
            <a:r>
              <a:rPr lang="en-US" sz="2400" dirty="0"/>
              <a:t>this induces suppliers to provide drugs despite the risks.</a:t>
            </a:r>
          </a:p>
        </p:txBody>
      </p:sp>
      <p:sp>
        <p:nvSpPr>
          <p:cNvPr id="102404" name="Rectangle 5"/>
          <p:cNvSpPr>
            <a:spLocks noGrp="1" noChangeArrowheads="1"/>
          </p:cNvSpPr>
          <p:nvPr>
            <p:ph type="body" idx="1"/>
          </p:nvPr>
        </p:nvSpPr>
        <p:spPr>
          <a:xfrm>
            <a:off x="622300" y="627063"/>
            <a:ext cx="8493125" cy="534987"/>
          </a:xfrm>
        </p:spPr>
        <p:txBody>
          <a:bodyPr/>
          <a:lstStyle/>
          <a:p>
            <a:pPr marL="0" indent="4763">
              <a:lnSpc>
                <a:spcPct val="90000"/>
              </a:lnSpc>
              <a:buFont typeface="Wingdings" pitchFamily="2" charset="2"/>
              <a:buNone/>
            </a:pPr>
            <a:r>
              <a:rPr lang="en-US" sz="2300" b="1" i="1" dirty="0" smtClean="0">
                <a:solidFill>
                  <a:srgbClr val="993366"/>
                </a:solidFill>
              </a:rPr>
              <a:t>Supply, Demand, and Controlled Substances</a:t>
            </a:r>
          </a:p>
        </p:txBody>
      </p:sp>
      <p:sp>
        <p:nvSpPr>
          <p:cNvPr id="102405" name="Rectangle 7"/>
          <p:cNvSpPr>
            <a:spLocks noChangeArrowheads="1"/>
          </p:cNvSpPr>
          <p:nvPr/>
        </p:nvSpPr>
        <p:spPr bwMode="auto">
          <a:xfrm>
            <a:off x="381000" y="5638800"/>
            <a:ext cx="8229600" cy="762000"/>
          </a:xfrm>
          <a:prstGeom prst="rect">
            <a:avLst/>
          </a:prstGeom>
          <a:noFill/>
          <a:ln w="9525">
            <a:noFill/>
            <a:miter lim="800000"/>
            <a:headEnd/>
            <a:tailEnd/>
          </a:ln>
        </p:spPr>
        <p:txBody>
          <a:bodyPr/>
          <a:lstStyle/>
          <a:p>
            <a:pPr marL="342900" indent="-342900">
              <a:spcBef>
                <a:spcPct val="20000"/>
              </a:spcBef>
              <a:buClr>
                <a:srgbClr val="000000"/>
              </a:buClr>
            </a:pPr>
            <a:endParaRPr lang="en-US" sz="2800"/>
          </a:p>
        </p:txBody>
      </p:sp>
      <p:grpSp>
        <p:nvGrpSpPr>
          <p:cNvPr id="2" name="Group 10"/>
          <p:cNvGrpSpPr>
            <a:grpSpLocks/>
          </p:cNvGrpSpPr>
          <p:nvPr/>
        </p:nvGrpSpPr>
        <p:grpSpPr bwMode="auto">
          <a:xfrm>
            <a:off x="2112963" y="1662113"/>
            <a:ext cx="3906837" cy="3733800"/>
            <a:chOff x="611" y="951"/>
            <a:chExt cx="3138" cy="2352"/>
          </a:xfrm>
        </p:grpSpPr>
        <p:sp>
          <p:nvSpPr>
            <p:cNvPr id="102432" name="Line 11"/>
            <p:cNvSpPr>
              <a:spLocks noChangeShapeType="1"/>
            </p:cNvSpPr>
            <p:nvPr/>
          </p:nvSpPr>
          <p:spPr bwMode="auto">
            <a:xfrm>
              <a:off x="611" y="951"/>
              <a:ext cx="0" cy="2352"/>
            </a:xfrm>
            <a:prstGeom prst="line">
              <a:avLst/>
            </a:prstGeom>
            <a:noFill/>
            <a:ln w="9525">
              <a:solidFill>
                <a:schemeClr val="tx1"/>
              </a:solidFill>
              <a:round/>
              <a:headEnd/>
              <a:tailEnd/>
            </a:ln>
          </p:spPr>
          <p:txBody>
            <a:bodyPr/>
            <a:lstStyle/>
            <a:p>
              <a:endParaRPr lang="en-US"/>
            </a:p>
          </p:txBody>
        </p:sp>
        <p:sp>
          <p:nvSpPr>
            <p:cNvPr id="102433" name="Line 12"/>
            <p:cNvSpPr>
              <a:spLocks noChangeShapeType="1"/>
            </p:cNvSpPr>
            <p:nvPr/>
          </p:nvSpPr>
          <p:spPr bwMode="auto">
            <a:xfrm>
              <a:off x="611" y="3303"/>
              <a:ext cx="3138" cy="0"/>
            </a:xfrm>
            <a:prstGeom prst="line">
              <a:avLst/>
            </a:prstGeom>
            <a:noFill/>
            <a:ln w="9525">
              <a:solidFill>
                <a:schemeClr val="tx1"/>
              </a:solidFill>
              <a:round/>
              <a:headEnd/>
              <a:tailEnd/>
            </a:ln>
          </p:spPr>
          <p:txBody>
            <a:bodyPr/>
            <a:lstStyle/>
            <a:p>
              <a:endParaRPr lang="en-US"/>
            </a:p>
          </p:txBody>
        </p:sp>
      </p:grpSp>
      <p:sp>
        <p:nvSpPr>
          <p:cNvPr id="604173" name="Text Box 13"/>
          <p:cNvSpPr txBox="1">
            <a:spLocks noChangeArrowheads="1"/>
          </p:cNvSpPr>
          <p:nvPr/>
        </p:nvSpPr>
        <p:spPr bwMode="auto">
          <a:xfrm>
            <a:off x="914400" y="1219200"/>
            <a:ext cx="1143000" cy="473075"/>
          </a:xfrm>
          <a:prstGeom prst="rect">
            <a:avLst/>
          </a:prstGeom>
          <a:noFill/>
          <a:ln w="9525">
            <a:noFill/>
            <a:miter lim="800000"/>
            <a:headEnd/>
            <a:tailEnd/>
          </a:ln>
        </p:spPr>
        <p:txBody>
          <a:bodyPr>
            <a:spAutoFit/>
          </a:bodyPr>
          <a:lstStyle/>
          <a:p>
            <a:pPr algn="ctr"/>
            <a:r>
              <a:rPr lang="en-US" sz="2500" b="1"/>
              <a:t>Price</a:t>
            </a:r>
          </a:p>
        </p:txBody>
      </p:sp>
      <p:sp>
        <p:nvSpPr>
          <p:cNvPr id="604174" name="Text Box 14"/>
          <p:cNvSpPr txBox="1">
            <a:spLocks noChangeArrowheads="1"/>
          </p:cNvSpPr>
          <p:nvPr/>
        </p:nvSpPr>
        <p:spPr bwMode="auto">
          <a:xfrm>
            <a:off x="5281613" y="5378450"/>
            <a:ext cx="1728787" cy="473075"/>
          </a:xfrm>
          <a:prstGeom prst="rect">
            <a:avLst/>
          </a:prstGeom>
          <a:noFill/>
          <a:ln w="9525">
            <a:noFill/>
            <a:miter lim="800000"/>
            <a:headEnd/>
            <a:tailEnd/>
          </a:ln>
        </p:spPr>
        <p:txBody>
          <a:bodyPr>
            <a:spAutoFit/>
          </a:bodyPr>
          <a:lstStyle/>
          <a:p>
            <a:pPr algn="ctr"/>
            <a:r>
              <a:rPr lang="en-US" sz="2500" b="1"/>
              <a:t>Quantity</a:t>
            </a:r>
          </a:p>
        </p:txBody>
      </p:sp>
      <p:sp>
        <p:nvSpPr>
          <p:cNvPr id="604175" name="Line 15"/>
          <p:cNvSpPr>
            <a:spLocks noChangeShapeType="1"/>
          </p:cNvSpPr>
          <p:nvPr/>
        </p:nvSpPr>
        <p:spPr bwMode="auto">
          <a:xfrm flipH="1">
            <a:off x="3124200" y="2057400"/>
            <a:ext cx="1981200" cy="2971800"/>
          </a:xfrm>
          <a:prstGeom prst="line">
            <a:avLst/>
          </a:prstGeom>
          <a:noFill/>
          <a:ln w="38100">
            <a:solidFill>
              <a:srgbClr val="FF7C80"/>
            </a:solidFill>
            <a:round/>
            <a:headEnd/>
            <a:tailEnd/>
          </a:ln>
        </p:spPr>
        <p:txBody>
          <a:bodyPr/>
          <a:lstStyle/>
          <a:p>
            <a:endParaRPr lang="en-US"/>
          </a:p>
        </p:txBody>
      </p:sp>
      <p:sp>
        <p:nvSpPr>
          <p:cNvPr id="604176" name="Text Box 16"/>
          <p:cNvSpPr txBox="1">
            <a:spLocks noChangeArrowheads="1"/>
          </p:cNvSpPr>
          <p:nvPr/>
        </p:nvSpPr>
        <p:spPr bwMode="auto">
          <a:xfrm flipH="1">
            <a:off x="5029200" y="1600200"/>
            <a:ext cx="533400" cy="473075"/>
          </a:xfrm>
          <a:prstGeom prst="rect">
            <a:avLst/>
          </a:prstGeom>
          <a:noFill/>
          <a:ln w="38100">
            <a:noFill/>
            <a:miter lim="800000"/>
            <a:headEnd/>
            <a:tailEnd/>
          </a:ln>
        </p:spPr>
        <p:txBody>
          <a:bodyPr>
            <a:spAutoFit/>
          </a:bodyPr>
          <a:lstStyle/>
          <a:p>
            <a:r>
              <a:rPr lang="en-US" sz="2500" b="1" i="1"/>
              <a:t>S</a:t>
            </a:r>
            <a:r>
              <a:rPr lang="en-US" sz="2500" b="1" i="1" baseline="-25000"/>
              <a:t>1</a:t>
            </a:r>
            <a:endParaRPr lang="en-US" sz="2500" baseline="-25000"/>
          </a:p>
        </p:txBody>
      </p:sp>
      <p:sp>
        <p:nvSpPr>
          <p:cNvPr id="604177" name="Line 17"/>
          <p:cNvSpPr>
            <a:spLocks noChangeShapeType="1"/>
          </p:cNvSpPr>
          <p:nvPr/>
        </p:nvSpPr>
        <p:spPr bwMode="auto">
          <a:xfrm>
            <a:off x="2895600" y="1447800"/>
            <a:ext cx="1371600" cy="3733800"/>
          </a:xfrm>
          <a:prstGeom prst="line">
            <a:avLst/>
          </a:prstGeom>
          <a:noFill/>
          <a:ln w="38100">
            <a:solidFill>
              <a:srgbClr val="3366FF"/>
            </a:solidFill>
            <a:round/>
            <a:headEnd/>
            <a:tailEnd/>
          </a:ln>
        </p:spPr>
        <p:txBody>
          <a:bodyPr/>
          <a:lstStyle/>
          <a:p>
            <a:endParaRPr lang="en-US"/>
          </a:p>
        </p:txBody>
      </p:sp>
      <p:sp>
        <p:nvSpPr>
          <p:cNvPr id="604178" name="Text Box 18"/>
          <p:cNvSpPr txBox="1">
            <a:spLocks noChangeArrowheads="1"/>
          </p:cNvSpPr>
          <p:nvPr/>
        </p:nvSpPr>
        <p:spPr bwMode="auto">
          <a:xfrm>
            <a:off x="4343400" y="4876800"/>
            <a:ext cx="2692400" cy="457200"/>
          </a:xfrm>
          <a:prstGeom prst="rect">
            <a:avLst/>
          </a:prstGeom>
          <a:noFill/>
          <a:ln w="38100">
            <a:noFill/>
            <a:miter lim="800000"/>
            <a:headEnd/>
            <a:tailEnd/>
          </a:ln>
        </p:spPr>
        <p:txBody>
          <a:bodyPr>
            <a:spAutoFit/>
          </a:bodyPr>
          <a:lstStyle/>
          <a:p>
            <a:r>
              <a:rPr lang="en-US" sz="2400" b="1"/>
              <a:t>Demand</a:t>
            </a:r>
            <a:endParaRPr lang="en-US" sz="2400"/>
          </a:p>
        </p:txBody>
      </p:sp>
      <p:sp>
        <p:nvSpPr>
          <p:cNvPr id="604179" name="Line 19"/>
          <p:cNvSpPr>
            <a:spLocks noChangeShapeType="1"/>
          </p:cNvSpPr>
          <p:nvPr/>
        </p:nvSpPr>
        <p:spPr bwMode="auto">
          <a:xfrm flipH="1" flipV="1">
            <a:off x="3962400" y="2362200"/>
            <a:ext cx="876300" cy="0"/>
          </a:xfrm>
          <a:prstGeom prst="line">
            <a:avLst/>
          </a:prstGeom>
          <a:noFill/>
          <a:ln w="38100">
            <a:solidFill>
              <a:schemeClr val="tx1"/>
            </a:solidFill>
            <a:round/>
            <a:headEnd/>
            <a:tailEnd type="triangle" w="lg" len="med"/>
          </a:ln>
        </p:spPr>
        <p:txBody>
          <a:bodyPr/>
          <a:lstStyle/>
          <a:p>
            <a:endParaRPr lang="en-US"/>
          </a:p>
        </p:txBody>
      </p:sp>
      <p:sp>
        <p:nvSpPr>
          <p:cNvPr id="604180" name="Line 20"/>
          <p:cNvSpPr>
            <a:spLocks noChangeShapeType="1"/>
          </p:cNvSpPr>
          <p:nvPr/>
        </p:nvSpPr>
        <p:spPr bwMode="auto">
          <a:xfrm flipH="1">
            <a:off x="2135188" y="4005263"/>
            <a:ext cx="1673225" cy="0"/>
          </a:xfrm>
          <a:prstGeom prst="line">
            <a:avLst/>
          </a:prstGeom>
          <a:noFill/>
          <a:ln w="25400">
            <a:solidFill>
              <a:schemeClr val="tx1"/>
            </a:solidFill>
            <a:prstDash val="sysDot"/>
            <a:round/>
            <a:headEnd/>
            <a:tailEnd type="none" w="med" len="lg"/>
          </a:ln>
        </p:spPr>
        <p:txBody>
          <a:bodyPr/>
          <a:lstStyle/>
          <a:p>
            <a:endParaRPr lang="en-US"/>
          </a:p>
        </p:txBody>
      </p:sp>
      <p:sp>
        <p:nvSpPr>
          <p:cNvPr id="604181" name="Line 21"/>
          <p:cNvSpPr>
            <a:spLocks noChangeShapeType="1"/>
          </p:cNvSpPr>
          <p:nvPr/>
        </p:nvSpPr>
        <p:spPr bwMode="auto">
          <a:xfrm>
            <a:off x="3825875" y="4038600"/>
            <a:ext cx="0" cy="1371600"/>
          </a:xfrm>
          <a:prstGeom prst="line">
            <a:avLst/>
          </a:prstGeom>
          <a:noFill/>
          <a:ln w="25400">
            <a:solidFill>
              <a:schemeClr val="tx1"/>
            </a:solidFill>
            <a:prstDash val="sysDot"/>
            <a:round/>
            <a:headEnd/>
            <a:tailEnd type="none" w="med" len="lg"/>
          </a:ln>
        </p:spPr>
        <p:txBody>
          <a:bodyPr/>
          <a:lstStyle/>
          <a:p>
            <a:endParaRPr lang="en-US"/>
          </a:p>
        </p:txBody>
      </p:sp>
      <p:sp>
        <p:nvSpPr>
          <p:cNvPr id="604182" name="Line 22"/>
          <p:cNvSpPr>
            <a:spLocks noChangeShapeType="1"/>
          </p:cNvSpPr>
          <p:nvPr/>
        </p:nvSpPr>
        <p:spPr bwMode="auto">
          <a:xfrm>
            <a:off x="3460750" y="3048000"/>
            <a:ext cx="0" cy="2362200"/>
          </a:xfrm>
          <a:prstGeom prst="line">
            <a:avLst/>
          </a:prstGeom>
          <a:noFill/>
          <a:ln w="25400">
            <a:solidFill>
              <a:schemeClr val="tx1"/>
            </a:solidFill>
            <a:prstDash val="sysDot"/>
            <a:round/>
            <a:headEnd/>
            <a:tailEnd type="none" w="med" len="lg"/>
          </a:ln>
        </p:spPr>
        <p:txBody>
          <a:bodyPr/>
          <a:lstStyle/>
          <a:p>
            <a:endParaRPr lang="en-US"/>
          </a:p>
        </p:txBody>
      </p:sp>
      <p:sp>
        <p:nvSpPr>
          <p:cNvPr id="604183" name="Line 23"/>
          <p:cNvSpPr>
            <a:spLocks noChangeShapeType="1"/>
          </p:cNvSpPr>
          <p:nvPr/>
        </p:nvSpPr>
        <p:spPr bwMode="auto">
          <a:xfrm flipH="1">
            <a:off x="2133600" y="3048000"/>
            <a:ext cx="1295400" cy="0"/>
          </a:xfrm>
          <a:prstGeom prst="line">
            <a:avLst/>
          </a:prstGeom>
          <a:noFill/>
          <a:ln w="25400">
            <a:solidFill>
              <a:schemeClr val="tx1"/>
            </a:solidFill>
            <a:prstDash val="sysDot"/>
            <a:round/>
            <a:headEnd/>
            <a:tailEnd type="none" w="med" len="lg"/>
          </a:ln>
        </p:spPr>
        <p:txBody>
          <a:bodyPr/>
          <a:lstStyle/>
          <a:p>
            <a:endParaRPr lang="en-US"/>
          </a:p>
        </p:txBody>
      </p:sp>
      <p:sp>
        <p:nvSpPr>
          <p:cNvPr id="604184" name="Text Box 24"/>
          <p:cNvSpPr txBox="1">
            <a:spLocks noChangeArrowheads="1"/>
          </p:cNvSpPr>
          <p:nvPr/>
        </p:nvSpPr>
        <p:spPr bwMode="auto">
          <a:xfrm>
            <a:off x="3886200" y="3789363"/>
            <a:ext cx="533400" cy="368300"/>
          </a:xfrm>
          <a:prstGeom prst="rect">
            <a:avLst/>
          </a:prstGeom>
          <a:noFill/>
          <a:ln w="25400" algn="ctr">
            <a:noFill/>
            <a:prstDash val="sysDot"/>
            <a:miter lim="800000"/>
            <a:headEnd/>
            <a:tailEnd type="none" w="med" len="lg"/>
          </a:ln>
        </p:spPr>
        <p:txBody>
          <a:bodyPr>
            <a:spAutoFit/>
          </a:bodyPr>
          <a:lstStyle/>
          <a:p>
            <a:pPr marL="1588" indent="-1588" algn="ctr"/>
            <a:r>
              <a:rPr lang="en-US"/>
              <a:t>E</a:t>
            </a:r>
            <a:r>
              <a:rPr lang="en-US" baseline="-25000"/>
              <a:t>1</a:t>
            </a:r>
          </a:p>
        </p:txBody>
      </p:sp>
      <p:sp>
        <p:nvSpPr>
          <p:cNvPr id="604185" name="Text Box 25"/>
          <p:cNvSpPr txBox="1">
            <a:spLocks noChangeArrowheads="1"/>
          </p:cNvSpPr>
          <p:nvPr/>
        </p:nvSpPr>
        <p:spPr bwMode="auto">
          <a:xfrm>
            <a:off x="2987675" y="2708275"/>
            <a:ext cx="533400" cy="369888"/>
          </a:xfrm>
          <a:prstGeom prst="rect">
            <a:avLst/>
          </a:prstGeom>
          <a:noFill/>
          <a:ln w="25400" algn="ctr">
            <a:noFill/>
            <a:prstDash val="sysDot"/>
            <a:miter lim="800000"/>
            <a:headEnd/>
            <a:tailEnd type="none" w="med" len="lg"/>
          </a:ln>
        </p:spPr>
        <p:txBody>
          <a:bodyPr>
            <a:spAutoFit/>
          </a:bodyPr>
          <a:lstStyle/>
          <a:p>
            <a:pPr marL="1588" indent="-1588" algn="ctr"/>
            <a:r>
              <a:rPr lang="en-US"/>
              <a:t>E</a:t>
            </a:r>
            <a:r>
              <a:rPr lang="en-US" baseline="-25000"/>
              <a:t>2</a:t>
            </a:r>
          </a:p>
        </p:txBody>
      </p:sp>
      <p:sp>
        <p:nvSpPr>
          <p:cNvPr id="604186" name="Line 26"/>
          <p:cNvSpPr>
            <a:spLocks noChangeShapeType="1"/>
          </p:cNvSpPr>
          <p:nvPr/>
        </p:nvSpPr>
        <p:spPr bwMode="auto">
          <a:xfrm flipH="1" flipV="1">
            <a:off x="3581400" y="2971800"/>
            <a:ext cx="304800" cy="762000"/>
          </a:xfrm>
          <a:prstGeom prst="line">
            <a:avLst/>
          </a:prstGeom>
          <a:noFill/>
          <a:ln w="38100">
            <a:solidFill>
              <a:schemeClr val="tx1"/>
            </a:solidFill>
            <a:round/>
            <a:headEnd/>
            <a:tailEnd type="triangle" w="lg" len="med"/>
          </a:ln>
        </p:spPr>
        <p:txBody>
          <a:bodyPr/>
          <a:lstStyle/>
          <a:p>
            <a:endParaRPr lang="en-US"/>
          </a:p>
        </p:txBody>
      </p:sp>
      <p:sp>
        <p:nvSpPr>
          <p:cNvPr id="604187" name="Text Box 27"/>
          <p:cNvSpPr txBox="1">
            <a:spLocks noChangeArrowheads="1"/>
          </p:cNvSpPr>
          <p:nvPr/>
        </p:nvSpPr>
        <p:spPr bwMode="auto">
          <a:xfrm>
            <a:off x="1676400" y="2895600"/>
            <a:ext cx="457200" cy="369888"/>
          </a:xfrm>
          <a:prstGeom prst="rect">
            <a:avLst/>
          </a:prstGeom>
          <a:noFill/>
          <a:ln w="25400" algn="ctr">
            <a:noFill/>
            <a:prstDash val="sysDot"/>
            <a:miter lim="800000"/>
            <a:headEnd/>
            <a:tailEnd type="none" w="med" len="lg"/>
          </a:ln>
        </p:spPr>
        <p:txBody>
          <a:bodyPr>
            <a:spAutoFit/>
          </a:bodyPr>
          <a:lstStyle/>
          <a:p>
            <a:pPr marL="1588" indent="-1588"/>
            <a:r>
              <a:rPr lang="en-US" i="1"/>
              <a:t>P</a:t>
            </a:r>
            <a:r>
              <a:rPr lang="en-US" baseline="-25000"/>
              <a:t>2</a:t>
            </a:r>
          </a:p>
        </p:txBody>
      </p:sp>
      <p:sp>
        <p:nvSpPr>
          <p:cNvPr id="604188" name="Text Box 28"/>
          <p:cNvSpPr txBox="1">
            <a:spLocks noChangeArrowheads="1"/>
          </p:cNvSpPr>
          <p:nvPr/>
        </p:nvSpPr>
        <p:spPr bwMode="auto">
          <a:xfrm>
            <a:off x="1692275" y="3789363"/>
            <a:ext cx="457200" cy="368300"/>
          </a:xfrm>
          <a:prstGeom prst="rect">
            <a:avLst/>
          </a:prstGeom>
          <a:noFill/>
          <a:ln w="25400" algn="ctr">
            <a:noFill/>
            <a:prstDash val="sysDot"/>
            <a:miter lim="800000"/>
            <a:headEnd/>
            <a:tailEnd type="none" w="med" len="lg"/>
          </a:ln>
        </p:spPr>
        <p:txBody>
          <a:bodyPr>
            <a:spAutoFit/>
          </a:bodyPr>
          <a:lstStyle/>
          <a:p>
            <a:pPr marL="1588" indent="-1588"/>
            <a:r>
              <a:rPr lang="en-US" i="1"/>
              <a:t>P</a:t>
            </a:r>
            <a:r>
              <a:rPr lang="en-US" baseline="-25000"/>
              <a:t>1</a:t>
            </a:r>
          </a:p>
        </p:txBody>
      </p:sp>
      <p:sp>
        <p:nvSpPr>
          <p:cNvPr id="604189" name="Text Box 29"/>
          <p:cNvSpPr txBox="1">
            <a:spLocks noChangeArrowheads="1"/>
          </p:cNvSpPr>
          <p:nvPr/>
        </p:nvSpPr>
        <p:spPr bwMode="auto">
          <a:xfrm>
            <a:off x="3492500" y="5486400"/>
            <a:ext cx="609600" cy="369888"/>
          </a:xfrm>
          <a:prstGeom prst="rect">
            <a:avLst/>
          </a:prstGeom>
          <a:noFill/>
          <a:ln w="25400" algn="ctr">
            <a:noFill/>
            <a:prstDash val="sysDot"/>
            <a:miter lim="800000"/>
            <a:headEnd/>
            <a:tailEnd type="none" w="med" len="lg"/>
          </a:ln>
        </p:spPr>
        <p:txBody>
          <a:bodyPr>
            <a:spAutoFit/>
          </a:bodyPr>
          <a:lstStyle/>
          <a:p>
            <a:pPr marL="1588" indent="-1588" algn="ctr"/>
            <a:r>
              <a:rPr lang="en-US" i="1"/>
              <a:t>Q</a:t>
            </a:r>
            <a:r>
              <a:rPr lang="en-US" baseline="-25000"/>
              <a:t>1</a:t>
            </a:r>
          </a:p>
        </p:txBody>
      </p:sp>
      <p:sp>
        <p:nvSpPr>
          <p:cNvPr id="604190" name="Text Box 30"/>
          <p:cNvSpPr txBox="1">
            <a:spLocks noChangeArrowheads="1"/>
          </p:cNvSpPr>
          <p:nvPr/>
        </p:nvSpPr>
        <p:spPr bwMode="auto">
          <a:xfrm>
            <a:off x="3189288" y="5486400"/>
            <a:ext cx="576262" cy="381000"/>
          </a:xfrm>
          <a:prstGeom prst="rect">
            <a:avLst/>
          </a:prstGeom>
          <a:noFill/>
          <a:ln w="25400" algn="ctr">
            <a:noFill/>
            <a:prstDash val="sysDot"/>
            <a:miter lim="800000"/>
            <a:headEnd/>
            <a:tailEnd type="none" w="med" len="lg"/>
          </a:ln>
        </p:spPr>
        <p:txBody>
          <a:bodyPr>
            <a:spAutoFit/>
          </a:bodyPr>
          <a:lstStyle/>
          <a:p>
            <a:pPr marL="1588" indent="-1588" algn="ctr"/>
            <a:r>
              <a:rPr lang="en-US" i="1"/>
              <a:t>Q</a:t>
            </a:r>
            <a:r>
              <a:rPr lang="en-US" baseline="-25000"/>
              <a:t>2</a:t>
            </a:r>
          </a:p>
        </p:txBody>
      </p:sp>
      <p:sp>
        <p:nvSpPr>
          <p:cNvPr id="604191" name="Line 31"/>
          <p:cNvSpPr>
            <a:spLocks noChangeShapeType="1"/>
          </p:cNvSpPr>
          <p:nvPr/>
        </p:nvSpPr>
        <p:spPr bwMode="auto">
          <a:xfrm flipV="1">
            <a:off x="1676400" y="3124200"/>
            <a:ext cx="0" cy="914400"/>
          </a:xfrm>
          <a:prstGeom prst="line">
            <a:avLst/>
          </a:prstGeom>
          <a:noFill/>
          <a:ln w="25400">
            <a:solidFill>
              <a:schemeClr val="tx1"/>
            </a:solidFill>
            <a:round/>
            <a:headEnd/>
            <a:tailEnd type="triangle" w="med" len="lg"/>
          </a:ln>
        </p:spPr>
        <p:txBody>
          <a:bodyPr/>
          <a:lstStyle/>
          <a:p>
            <a:endParaRPr lang="en-US"/>
          </a:p>
        </p:txBody>
      </p:sp>
      <p:sp>
        <p:nvSpPr>
          <p:cNvPr id="604192" name="Line 32"/>
          <p:cNvSpPr>
            <a:spLocks noChangeShapeType="1"/>
          </p:cNvSpPr>
          <p:nvPr/>
        </p:nvSpPr>
        <p:spPr bwMode="auto">
          <a:xfrm flipH="1" flipV="1">
            <a:off x="3429000" y="5867400"/>
            <a:ext cx="381000" cy="0"/>
          </a:xfrm>
          <a:prstGeom prst="line">
            <a:avLst/>
          </a:prstGeom>
          <a:noFill/>
          <a:ln w="25400">
            <a:solidFill>
              <a:schemeClr val="tx1"/>
            </a:solidFill>
            <a:round/>
            <a:headEnd/>
            <a:tailEnd type="triangle" w="med" len="lg"/>
          </a:ln>
        </p:spPr>
        <p:txBody>
          <a:bodyPr/>
          <a:lstStyle/>
          <a:p>
            <a:endParaRPr lang="en-US"/>
          </a:p>
        </p:txBody>
      </p:sp>
      <p:sp>
        <p:nvSpPr>
          <p:cNvPr id="604193" name="Text Box 33"/>
          <p:cNvSpPr txBox="1">
            <a:spLocks noChangeArrowheads="1"/>
          </p:cNvSpPr>
          <p:nvPr/>
        </p:nvSpPr>
        <p:spPr bwMode="auto">
          <a:xfrm>
            <a:off x="900113" y="3286125"/>
            <a:ext cx="704850" cy="647700"/>
          </a:xfrm>
          <a:prstGeom prst="rect">
            <a:avLst/>
          </a:prstGeom>
          <a:noFill/>
          <a:ln w="25400" algn="ctr">
            <a:noFill/>
            <a:prstDash val="sysDot"/>
            <a:miter lim="800000"/>
            <a:headEnd/>
            <a:tailEnd type="none" w="med" len="lg"/>
          </a:ln>
        </p:spPr>
        <p:txBody>
          <a:bodyPr>
            <a:spAutoFit/>
          </a:bodyPr>
          <a:lstStyle/>
          <a:p>
            <a:pPr marL="1588" indent="-1588"/>
            <a:r>
              <a:rPr lang="en-US" i="1"/>
              <a:t>Price rises</a:t>
            </a:r>
          </a:p>
        </p:txBody>
      </p:sp>
      <p:sp>
        <p:nvSpPr>
          <p:cNvPr id="604194" name="Text Box 34"/>
          <p:cNvSpPr txBox="1">
            <a:spLocks noChangeArrowheads="1"/>
          </p:cNvSpPr>
          <p:nvPr/>
        </p:nvSpPr>
        <p:spPr bwMode="auto">
          <a:xfrm>
            <a:off x="2590800" y="5943600"/>
            <a:ext cx="2247900" cy="369888"/>
          </a:xfrm>
          <a:prstGeom prst="rect">
            <a:avLst/>
          </a:prstGeom>
          <a:noFill/>
          <a:ln w="25400" algn="ctr">
            <a:noFill/>
            <a:prstDash val="sysDot"/>
            <a:miter lim="800000"/>
            <a:headEnd/>
            <a:tailEnd type="none" w="med" len="lg"/>
          </a:ln>
        </p:spPr>
        <p:txBody>
          <a:bodyPr>
            <a:spAutoFit/>
          </a:bodyPr>
          <a:lstStyle/>
          <a:p>
            <a:pPr marL="1588" indent="-1588" algn="ctr"/>
            <a:r>
              <a:rPr lang="en-US" i="1"/>
              <a:t>Quantity falls</a:t>
            </a:r>
          </a:p>
        </p:txBody>
      </p:sp>
      <p:sp>
        <p:nvSpPr>
          <p:cNvPr id="604195" name="Line 35"/>
          <p:cNvSpPr>
            <a:spLocks noChangeShapeType="1"/>
          </p:cNvSpPr>
          <p:nvPr/>
        </p:nvSpPr>
        <p:spPr bwMode="auto">
          <a:xfrm flipH="1">
            <a:off x="2438400" y="1600200"/>
            <a:ext cx="1981200" cy="2971800"/>
          </a:xfrm>
          <a:prstGeom prst="line">
            <a:avLst/>
          </a:prstGeom>
          <a:noFill/>
          <a:ln w="38100">
            <a:solidFill>
              <a:srgbClr val="FF0000"/>
            </a:solidFill>
            <a:round/>
            <a:headEnd/>
            <a:tailEnd/>
          </a:ln>
        </p:spPr>
        <p:txBody>
          <a:bodyPr/>
          <a:lstStyle/>
          <a:p>
            <a:endParaRPr lang="en-US"/>
          </a:p>
        </p:txBody>
      </p:sp>
      <p:sp>
        <p:nvSpPr>
          <p:cNvPr id="604196" name="Text Box 36"/>
          <p:cNvSpPr txBox="1">
            <a:spLocks noChangeArrowheads="1"/>
          </p:cNvSpPr>
          <p:nvPr/>
        </p:nvSpPr>
        <p:spPr bwMode="auto">
          <a:xfrm flipH="1">
            <a:off x="4267200" y="1143000"/>
            <a:ext cx="533400" cy="473075"/>
          </a:xfrm>
          <a:prstGeom prst="rect">
            <a:avLst/>
          </a:prstGeom>
          <a:noFill/>
          <a:ln w="38100">
            <a:noFill/>
            <a:miter lim="800000"/>
            <a:headEnd/>
            <a:tailEnd/>
          </a:ln>
        </p:spPr>
        <p:txBody>
          <a:bodyPr>
            <a:spAutoFit/>
          </a:bodyPr>
          <a:lstStyle/>
          <a:p>
            <a:r>
              <a:rPr lang="en-US" sz="2500" b="1" i="1"/>
              <a:t>S</a:t>
            </a:r>
            <a:r>
              <a:rPr lang="en-US" sz="2500" b="1" i="1" baseline="-25000"/>
              <a:t>2</a:t>
            </a:r>
            <a:endParaRPr lang="en-US" sz="2500" baseline="-25000"/>
          </a:p>
        </p:txBody>
      </p:sp>
      <p:sp>
        <p:nvSpPr>
          <p:cNvPr id="34" name="Title 4"/>
          <p:cNvSpPr>
            <a:spLocks noGrp="1"/>
          </p:cNvSpPr>
          <p:nvPr>
            <p:ph type="title"/>
          </p:nvPr>
        </p:nvSpPr>
        <p:spPr>
          <a:xfrm>
            <a:off x="971550" y="60325"/>
            <a:ext cx="7993063" cy="555625"/>
          </a:xfrm>
        </p:spPr>
        <p:txBody>
          <a:bodyPr/>
          <a:lstStyle/>
          <a:p>
            <a:pPr>
              <a:defRPr/>
            </a:pPr>
            <a:r>
              <a:rPr lang="en-US" dirty="0" smtClean="0">
                <a:solidFill>
                  <a:schemeClr val="accent6"/>
                </a:solidFill>
              </a:rPr>
              <a:t>FOR INQUIRING MINDS</a:t>
            </a:r>
            <a:endParaRPr lang="en-US" dirty="0">
              <a:solidFill>
                <a:schemeClr val="accent6"/>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417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041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17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0417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0417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418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417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0418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0418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418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0418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604162"/>
                                        </p:tgtEl>
                                        <p:attrNameLst>
                                          <p:attrName>style.visibility</p:attrName>
                                        </p:attrNameLst>
                                      </p:cBhvr>
                                      <p:to>
                                        <p:strVal val="visible"/>
                                      </p:to>
                                    </p:set>
                                    <p:animEffect transition="in" filter="box(in)">
                                      <p:cBhvr>
                                        <p:cTn id="35" dur="500"/>
                                        <p:tgtEl>
                                          <p:spTgt spid="60416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604179"/>
                                        </p:tgtEl>
                                        <p:attrNameLst>
                                          <p:attrName>style.visibility</p:attrName>
                                        </p:attrNameLst>
                                      </p:cBhvr>
                                      <p:to>
                                        <p:strVal val="visible"/>
                                      </p:to>
                                    </p:set>
                                    <p:animEffect transition="in" filter="wipe(right)">
                                      <p:cBhvr>
                                        <p:cTn id="40" dur="500"/>
                                        <p:tgtEl>
                                          <p:spTgt spid="604179"/>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604195"/>
                                        </p:tgtEl>
                                        <p:attrNameLst>
                                          <p:attrName>style.visibility</p:attrName>
                                        </p:attrNameLst>
                                      </p:cBhvr>
                                      <p:to>
                                        <p:strVal val="visible"/>
                                      </p:to>
                                    </p:set>
                                    <p:animEffect transition="in" filter="wipe(up)">
                                      <p:cBhvr>
                                        <p:cTn id="43" dur="500"/>
                                        <p:tgtEl>
                                          <p:spTgt spid="604195"/>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60419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04183"/>
                                        </p:tgtEl>
                                        <p:attrNameLst>
                                          <p:attrName>style.visibility</p:attrName>
                                        </p:attrNameLst>
                                      </p:cBhvr>
                                      <p:to>
                                        <p:strVal val="visible"/>
                                      </p:to>
                                    </p:set>
                                  </p:childTnLst>
                                </p:cTn>
                              </p:par>
                              <p:par>
                                <p:cTn id="50" presetID="22" presetClass="entr" presetSubtype="4" fill="hold" grpId="0" nodeType="withEffect">
                                  <p:stCondLst>
                                    <p:cond delay="0"/>
                                  </p:stCondLst>
                                  <p:childTnLst>
                                    <p:set>
                                      <p:cBhvr>
                                        <p:cTn id="51" dur="1" fill="hold">
                                          <p:stCondLst>
                                            <p:cond delay="0"/>
                                          </p:stCondLst>
                                        </p:cTn>
                                        <p:tgtEl>
                                          <p:spTgt spid="604186"/>
                                        </p:tgtEl>
                                        <p:attrNameLst>
                                          <p:attrName>style.visibility</p:attrName>
                                        </p:attrNameLst>
                                      </p:cBhvr>
                                      <p:to>
                                        <p:strVal val="visible"/>
                                      </p:to>
                                    </p:set>
                                    <p:animEffect transition="in" filter="wipe(down)">
                                      <p:cBhvr>
                                        <p:cTn id="52" dur="500"/>
                                        <p:tgtEl>
                                          <p:spTgt spid="604186"/>
                                        </p:tgtEl>
                                      </p:cBhvr>
                                    </p:animEffect>
                                  </p:childTnLst>
                                </p:cTn>
                              </p:par>
                              <p:par>
                                <p:cTn id="53" presetID="1" presetClass="entr" presetSubtype="0" fill="hold" grpId="0" nodeType="withEffect">
                                  <p:stCondLst>
                                    <p:cond delay="0"/>
                                  </p:stCondLst>
                                  <p:childTnLst>
                                    <p:set>
                                      <p:cBhvr>
                                        <p:cTn id="54" dur="1" fill="hold">
                                          <p:stCondLst>
                                            <p:cond delay="0"/>
                                          </p:stCondLst>
                                        </p:cTn>
                                        <p:tgtEl>
                                          <p:spTgt spid="60418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0418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0418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0419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04193"/>
                                        </p:tgtEl>
                                        <p:attrNameLst>
                                          <p:attrName>style.visibility</p:attrName>
                                        </p:attrNameLst>
                                      </p:cBhvr>
                                      <p:to>
                                        <p:strVal val="visible"/>
                                      </p:to>
                                    </p:set>
                                  </p:childTnLst>
                                </p:cTn>
                              </p:par>
                              <p:par>
                                <p:cTn id="63" presetID="22" presetClass="entr" presetSubtype="4" fill="hold" grpId="0" nodeType="withEffect">
                                  <p:stCondLst>
                                    <p:cond delay="0"/>
                                  </p:stCondLst>
                                  <p:childTnLst>
                                    <p:set>
                                      <p:cBhvr>
                                        <p:cTn id="64" dur="1" fill="hold">
                                          <p:stCondLst>
                                            <p:cond delay="0"/>
                                          </p:stCondLst>
                                        </p:cTn>
                                        <p:tgtEl>
                                          <p:spTgt spid="604191"/>
                                        </p:tgtEl>
                                        <p:attrNameLst>
                                          <p:attrName>style.visibility</p:attrName>
                                        </p:attrNameLst>
                                      </p:cBhvr>
                                      <p:to>
                                        <p:strVal val="visible"/>
                                      </p:to>
                                    </p:set>
                                    <p:animEffect transition="in" filter="wipe(down)">
                                      <p:cBhvr>
                                        <p:cTn id="65" dur="500"/>
                                        <p:tgtEl>
                                          <p:spTgt spid="604191"/>
                                        </p:tgtEl>
                                      </p:cBhvr>
                                    </p:animEffect>
                                  </p:childTnLst>
                                </p:cTn>
                              </p:par>
                              <p:par>
                                <p:cTn id="66" presetID="22" presetClass="entr" presetSubtype="2" fill="hold" grpId="0" nodeType="withEffect">
                                  <p:stCondLst>
                                    <p:cond delay="0"/>
                                  </p:stCondLst>
                                  <p:childTnLst>
                                    <p:set>
                                      <p:cBhvr>
                                        <p:cTn id="67" dur="1" fill="hold">
                                          <p:stCondLst>
                                            <p:cond delay="0"/>
                                          </p:stCondLst>
                                        </p:cTn>
                                        <p:tgtEl>
                                          <p:spTgt spid="604192"/>
                                        </p:tgtEl>
                                        <p:attrNameLst>
                                          <p:attrName>style.visibility</p:attrName>
                                        </p:attrNameLst>
                                      </p:cBhvr>
                                      <p:to>
                                        <p:strVal val="visible"/>
                                      </p:to>
                                    </p:set>
                                    <p:animEffect transition="in" filter="wipe(right)">
                                      <p:cBhvr>
                                        <p:cTn id="68" dur="500"/>
                                        <p:tgtEl>
                                          <p:spTgt spid="604192"/>
                                        </p:tgtEl>
                                      </p:cBhvr>
                                    </p:animEffect>
                                  </p:childTnLst>
                                </p:cTn>
                              </p:par>
                              <p:par>
                                <p:cTn id="69" presetID="1" presetClass="entr" presetSubtype="0" fill="hold" grpId="0" nodeType="withEffect">
                                  <p:stCondLst>
                                    <p:cond delay="0"/>
                                  </p:stCondLst>
                                  <p:childTnLst>
                                    <p:set>
                                      <p:cBhvr>
                                        <p:cTn id="70" dur="1" fill="hold">
                                          <p:stCondLst>
                                            <p:cond delay="0"/>
                                          </p:stCondLst>
                                        </p:cTn>
                                        <p:tgtEl>
                                          <p:spTgt spid="60419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4" presetClass="entr" presetSubtype="16" fill="hold" grpId="0" nodeType="clickEffect">
                                  <p:stCondLst>
                                    <p:cond delay="0"/>
                                  </p:stCondLst>
                                  <p:childTnLst>
                                    <p:set>
                                      <p:cBhvr>
                                        <p:cTn id="74" dur="1" fill="hold">
                                          <p:stCondLst>
                                            <p:cond delay="0"/>
                                          </p:stCondLst>
                                        </p:cTn>
                                        <p:tgtEl>
                                          <p:spTgt spid="604163"/>
                                        </p:tgtEl>
                                        <p:attrNameLst>
                                          <p:attrName>style.visibility</p:attrName>
                                        </p:attrNameLst>
                                      </p:cBhvr>
                                      <p:to>
                                        <p:strVal val="visible"/>
                                      </p:to>
                                    </p:set>
                                    <p:animEffect transition="in" filter="box(in)">
                                      <p:cBhvr>
                                        <p:cTn id="75" dur="500"/>
                                        <p:tgtEl>
                                          <p:spTgt spid="604163"/>
                                        </p:tgtEl>
                                      </p:cBhvr>
                                    </p:animEffect>
                                  </p:childTnLst>
                                </p:cTn>
                              </p:par>
                            </p:childTnLst>
                          </p:cTn>
                        </p:par>
                      </p:childTnLst>
                    </p:cTn>
                  </p:par>
                  <p:par>
                    <p:cTn id="76" fill="hold">
                      <p:stCondLst>
                        <p:cond delay="indefinite"/>
                      </p:stCondLst>
                      <p:childTnLst>
                        <p:par>
                          <p:cTn id="77" fill="hold">
                            <p:stCondLst>
                              <p:cond delay="0"/>
                            </p:stCondLst>
                            <p:childTnLst>
                              <p:par>
                                <p:cTn id="78" presetID="4" presetClass="entr" presetSubtype="16" fill="hold" grpId="0" nodeType="clickEffect">
                                  <p:stCondLst>
                                    <p:cond delay="0"/>
                                  </p:stCondLst>
                                  <p:childTnLst>
                                    <p:set>
                                      <p:cBhvr>
                                        <p:cTn id="79" dur="1" fill="hold">
                                          <p:stCondLst>
                                            <p:cond delay="0"/>
                                          </p:stCondLst>
                                        </p:cTn>
                                        <p:tgtEl>
                                          <p:spTgt spid="604164"/>
                                        </p:tgtEl>
                                        <p:attrNameLst>
                                          <p:attrName>style.visibility</p:attrName>
                                        </p:attrNameLst>
                                      </p:cBhvr>
                                      <p:to>
                                        <p:strVal val="visible"/>
                                      </p:to>
                                    </p:set>
                                    <p:animEffect transition="in" filter="box(in)">
                                      <p:cBhvr>
                                        <p:cTn id="80" dur="500"/>
                                        <p:tgtEl>
                                          <p:spTgt spid="604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62" grpId="0" animBg="1"/>
      <p:bldP spid="604163" grpId="0" animBg="1"/>
      <p:bldP spid="604164" grpId="0" animBg="1"/>
      <p:bldP spid="604173" grpId="0"/>
      <p:bldP spid="604174" grpId="0"/>
      <p:bldP spid="604175" grpId="0" animBg="1"/>
      <p:bldP spid="604176" grpId="0"/>
      <p:bldP spid="604177" grpId="0" animBg="1"/>
      <p:bldP spid="604178" grpId="0"/>
      <p:bldP spid="604179" grpId="0" animBg="1"/>
      <p:bldP spid="604180" grpId="0" animBg="1"/>
      <p:bldP spid="604181" grpId="0" animBg="1"/>
      <p:bldP spid="604182" grpId="0" animBg="1"/>
      <p:bldP spid="604183" grpId="0" animBg="1"/>
      <p:bldP spid="604184" grpId="0"/>
      <p:bldP spid="604185" grpId="0"/>
      <p:bldP spid="604186" grpId="0" animBg="1"/>
      <p:bldP spid="604187" grpId="0"/>
      <p:bldP spid="604188" grpId="0"/>
      <p:bldP spid="604189" grpId="0"/>
      <p:bldP spid="604190" grpId="0"/>
      <p:bldP spid="604191" grpId="0" animBg="1"/>
      <p:bldP spid="604192" grpId="0" animBg="1"/>
      <p:bldP spid="604193" grpId="0"/>
      <p:bldP spid="604194" grpId="0"/>
      <p:bldP spid="604195" grpId="0" animBg="1"/>
      <p:bldP spid="604196"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2354" name="Rectangle 2"/>
          <p:cNvSpPr>
            <a:spLocks noGrp="1" noRot="1" noChangeArrowheads="1"/>
          </p:cNvSpPr>
          <p:nvPr>
            <p:ph type="title"/>
          </p:nvPr>
        </p:nvSpPr>
        <p:spPr>
          <a:xfrm>
            <a:off x="827088" y="60325"/>
            <a:ext cx="8323262" cy="555625"/>
          </a:xfrm>
        </p:spPr>
        <p:txBody>
          <a:bodyPr/>
          <a:lstStyle/>
          <a:p>
            <a:pPr>
              <a:defRPr/>
            </a:pPr>
            <a:r>
              <a:rPr lang="en-US" dirty="0"/>
              <a:t>Simultaneous Shifts of Supply and Demand</a:t>
            </a:r>
          </a:p>
        </p:txBody>
      </p:sp>
      <p:sp>
        <p:nvSpPr>
          <p:cNvPr id="612388" name="Text Box 36"/>
          <p:cNvSpPr txBox="1">
            <a:spLocks noChangeArrowheads="1"/>
          </p:cNvSpPr>
          <p:nvPr/>
        </p:nvSpPr>
        <p:spPr bwMode="auto">
          <a:xfrm>
            <a:off x="6156325" y="3081338"/>
            <a:ext cx="2819400" cy="923925"/>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spcBef>
                <a:spcPct val="20000"/>
              </a:spcBef>
              <a:defRPr/>
            </a:pPr>
            <a:r>
              <a:rPr lang="en-US" dirty="0"/>
              <a:t>Two opposing forces determining the equilibrium quantity.</a:t>
            </a:r>
          </a:p>
        </p:txBody>
      </p:sp>
      <p:sp>
        <p:nvSpPr>
          <p:cNvPr id="612479" name="Text Box 127"/>
          <p:cNvSpPr txBox="1">
            <a:spLocks noChangeArrowheads="1"/>
          </p:cNvSpPr>
          <p:nvPr/>
        </p:nvSpPr>
        <p:spPr bwMode="auto">
          <a:xfrm>
            <a:off x="6165850" y="3067050"/>
            <a:ext cx="2819400" cy="922338"/>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spcBef>
                <a:spcPct val="20000"/>
              </a:spcBef>
              <a:defRPr/>
            </a:pPr>
            <a:r>
              <a:rPr lang="en-US" dirty="0"/>
              <a:t>The increase in demand dominates the decrease in supply.</a:t>
            </a:r>
          </a:p>
        </p:txBody>
      </p:sp>
      <p:sp>
        <p:nvSpPr>
          <p:cNvPr id="548931" name="TextBox 30"/>
          <p:cNvSpPr txBox="1">
            <a:spLocks noChangeArrowheads="1"/>
          </p:cNvSpPr>
          <p:nvPr/>
        </p:nvSpPr>
        <p:spPr bwMode="auto">
          <a:xfrm>
            <a:off x="6477000" y="6019800"/>
            <a:ext cx="1981200" cy="307975"/>
          </a:xfrm>
          <a:prstGeom prst="rect">
            <a:avLst/>
          </a:prstGeom>
          <a:noFill/>
          <a:ln w="9525">
            <a:noFill/>
            <a:miter lim="800000"/>
            <a:headEnd/>
            <a:tailEnd/>
          </a:ln>
        </p:spPr>
        <p:txBody>
          <a:bodyPr>
            <a:spAutoFit/>
          </a:bodyPr>
          <a:lstStyle/>
          <a:p>
            <a:pPr algn="ctr"/>
            <a:r>
              <a:rPr lang="en-US" sz="1400" b="1"/>
              <a:t>Quantity of cotton</a:t>
            </a:r>
          </a:p>
        </p:txBody>
      </p:sp>
      <p:cxnSp>
        <p:nvCxnSpPr>
          <p:cNvPr id="612530" name="Straight Connector 86"/>
          <p:cNvCxnSpPr>
            <a:cxnSpLocks noChangeShapeType="1"/>
          </p:cNvCxnSpPr>
          <p:nvPr/>
        </p:nvCxnSpPr>
        <p:spPr bwMode="auto">
          <a:xfrm>
            <a:off x="2300288" y="4502150"/>
            <a:ext cx="1993900" cy="7938"/>
          </a:xfrm>
          <a:prstGeom prst="line">
            <a:avLst/>
          </a:prstGeom>
          <a:noFill/>
          <a:ln w="22225">
            <a:solidFill>
              <a:srgbClr val="9C9C9C"/>
            </a:solidFill>
            <a:prstDash val="sysDot"/>
            <a:round/>
            <a:headEnd/>
            <a:tailEnd type="none" w="med" len="lg"/>
          </a:ln>
        </p:spPr>
      </p:cxnSp>
      <p:cxnSp>
        <p:nvCxnSpPr>
          <p:cNvPr id="612531" name="Straight Connector 86"/>
          <p:cNvCxnSpPr>
            <a:cxnSpLocks noChangeShapeType="1"/>
          </p:cNvCxnSpPr>
          <p:nvPr/>
        </p:nvCxnSpPr>
        <p:spPr bwMode="auto">
          <a:xfrm>
            <a:off x="2300288" y="3259138"/>
            <a:ext cx="2754312" cy="11112"/>
          </a:xfrm>
          <a:prstGeom prst="line">
            <a:avLst/>
          </a:prstGeom>
          <a:noFill/>
          <a:ln w="22225">
            <a:solidFill>
              <a:srgbClr val="9C9C9C"/>
            </a:solidFill>
            <a:prstDash val="sysDot"/>
            <a:round/>
            <a:headEnd/>
            <a:tailEnd type="none" w="med" len="lg"/>
          </a:ln>
        </p:spPr>
      </p:cxnSp>
      <p:sp>
        <p:nvSpPr>
          <p:cNvPr id="612532" name="Rectangle 180"/>
          <p:cNvSpPr>
            <a:spLocks noChangeArrowheads="1"/>
          </p:cNvSpPr>
          <p:nvPr/>
        </p:nvSpPr>
        <p:spPr bwMode="auto">
          <a:xfrm>
            <a:off x="4953000" y="6096000"/>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p>
        </p:txBody>
      </p:sp>
      <p:sp>
        <p:nvSpPr>
          <p:cNvPr id="612533" name="Rectangle 181"/>
          <p:cNvSpPr>
            <a:spLocks noChangeArrowheads="1"/>
          </p:cNvSpPr>
          <p:nvPr/>
        </p:nvSpPr>
        <p:spPr bwMode="auto">
          <a:xfrm>
            <a:off x="5113338" y="6148388"/>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612534" name="Rectangle 182"/>
          <p:cNvSpPr>
            <a:spLocks noChangeArrowheads="1"/>
          </p:cNvSpPr>
          <p:nvPr/>
        </p:nvSpPr>
        <p:spPr bwMode="auto">
          <a:xfrm>
            <a:off x="4186238" y="6035675"/>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p>
        </p:txBody>
      </p:sp>
      <p:sp>
        <p:nvSpPr>
          <p:cNvPr id="612535" name="Rectangle 183"/>
          <p:cNvSpPr>
            <a:spLocks noChangeArrowheads="1"/>
          </p:cNvSpPr>
          <p:nvPr/>
        </p:nvSpPr>
        <p:spPr bwMode="auto">
          <a:xfrm>
            <a:off x="4379913" y="6148388"/>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612536" name="Rectangle 184"/>
          <p:cNvSpPr>
            <a:spLocks noChangeArrowheads="1"/>
          </p:cNvSpPr>
          <p:nvPr/>
        </p:nvSpPr>
        <p:spPr bwMode="auto">
          <a:xfrm>
            <a:off x="1839913" y="31083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p>
        </p:txBody>
      </p:sp>
      <p:sp>
        <p:nvSpPr>
          <p:cNvPr id="612537" name="Rectangle 185"/>
          <p:cNvSpPr>
            <a:spLocks noChangeArrowheads="1"/>
          </p:cNvSpPr>
          <p:nvPr/>
        </p:nvSpPr>
        <p:spPr bwMode="auto">
          <a:xfrm>
            <a:off x="1989138" y="3221038"/>
            <a:ext cx="9683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612538" name="Rectangle 186"/>
          <p:cNvSpPr>
            <a:spLocks noChangeArrowheads="1"/>
          </p:cNvSpPr>
          <p:nvPr/>
        </p:nvSpPr>
        <p:spPr bwMode="auto">
          <a:xfrm>
            <a:off x="1839913" y="43640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p>
        </p:txBody>
      </p:sp>
      <p:sp>
        <p:nvSpPr>
          <p:cNvPr id="612539" name="Rectangle 187"/>
          <p:cNvSpPr>
            <a:spLocks noChangeArrowheads="1"/>
          </p:cNvSpPr>
          <p:nvPr/>
        </p:nvSpPr>
        <p:spPr bwMode="auto">
          <a:xfrm>
            <a:off x="1989138" y="4475163"/>
            <a:ext cx="96837"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612540" name="Rectangle 188"/>
          <p:cNvSpPr>
            <a:spLocks noChangeArrowheads="1"/>
          </p:cNvSpPr>
          <p:nvPr/>
        </p:nvSpPr>
        <p:spPr bwMode="auto">
          <a:xfrm>
            <a:off x="5938838" y="20272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sp>
        <p:nvSpPr>
          <p:cNvPr id="612541" name="Rectangle 189"/>
          <p:cNvSpPr>
            <a:spLocks noChangeArrowheads="1"/>
          </p:cNvSpPr>
          <p:nvPr/>
        </p:nvSpPr>
        <p:spPr bwMode="auto">
          <a:xfrm>
            <a:off x="6076950" y="2141538"/>
            <a:ext cx="96838"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612542" name="Rectangle 190"/>
          <p:cNvSpPr>
            <a:spLocks noChangeArrowheads="1"/>
          </p:cNvSpPr>
          <p:nvPr/>
        </p:nvSpPr>
        <p:spPr bwMode="auto">
          <a:xfrm>
            <a:off x="6507163" y="488791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p>
        </p:txBody>
      </p:sp>
      <p:sp>
        <p:nvSpPr>
          <p:cNvPr id="612543" name="Rectangle 191"/>
          <p:cNvSpPr>
            <a:spLocks noChangeArrowheads="1"/>
          </p:cNvSpPr>
          <p:nvPr/>
        </p:nvSpPr>
        <p:spPr bwMode="auto">
          <a:xfrm>
            <a:off x="6694488" y="5005388"/>
            <a:ext cx="100012"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612544" name="Rectangle 192"/>
          <p:cNvSpPr>
            <a:spLocks noChangeArrowheads="1"/>
          </p:cNvSpPr>
          <p:nvPr/>
        </p:nvSpPr>
        <p:spPr bwMode="auto">
          <a:xfrm>
            <a:off x="4664075" y="5095875"/>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p>
        </p:txBody>
      </p:sp>
      <p:sp>
        <p:nvSpPr>
          <p:cNvPr id="612545" name="Rectangle 193"/>
          <p:cNvSpPr>
            <a:spLocks noChangeArrowheads="1"/>
          </p:cNvSpPr>
          <p:nvPr/>
        </p:nvSpPr>
        <p:spPr bwMode="auto">
          <a:xfrm>
            <a:off x="4854575" y="5213350"/>
            <a:ext cx="98425"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612546" name="Rectangle 194"/>
          <p:cNvSpPr>
            <a:spLocks noChangeArrowheads="1"/>
          </p:cNvSpPr>
          <p:nvPr/>
        </p:nvSpPr>
        <p:spPr bwMode="auto">
          <a:xfrm>
            <a:off x="6534150" y="20272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sp>
        <p:nvSpPr>
          <p:cNvPr id="612547" name="Rectangle 195"/>
          <p:cNvSpPr>
            <a:spLocks noChangeArrowheads="1"/>
          </p:cNvSpPr>
          <p:nvPr/>
        </p:nvSpPr>
        <p:spPr bwMode="auto">
          <a:xfrm>
            <a:off x="6675438" y="2141538"/>
            <a:ext cx="98425"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612548" name="Rectangle 196"/>
          <p:cNvSpPr>
            <a:spLocks noChangeArrowheads="1"/>
          </p:cNvSpPr>
          <p:nvPr/>
        </p:nvSpPr>
        <p:spPr bwMode="auto">
          <a:xfrm>
            <a:off x="4179888" y="40592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p>
        </p:txBody>
      </p:sp>
      <p:sp>
        <p:nvSpPr>
          <p:cNvPr id="612549" name="Rectangle 197"/>
          <p:cNvSpPr>
            <a:spLocks noChangeArrowheads="1"/>
          </p:cNvSpPr>
          <p:nvPr/>
        </p:nvSpPr>
        <p:spPr bwMode="auto">
          <a:xfrm>
            <a:off x="4318000" y="4170363"/>
            <a:ext cx="9683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612550" name="Rectangle 198"/>
          <p:cNvSpPr>
            <a:spLocks noChangeArrowheads="1"/>
          </p:cNvSpPr>
          <p:nvPr/>
        </p:nvSpPr>
        <p:spPr bwMode="auto">
          <a:xfrm>
            <a:off x="4916488" y="27828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p>
        </p:txBody>
      </p:sp>
      <p:sp>
        <p:nvSpPr>
          <p:cNvPr id="612551" name="Rectangle 199"/>
          <p:cNvSpPr>
            <a:spLocks noChangeArrowheads="1"/>
          </p:cNvSpPr>
          <p:nvPr/>
        </p:nvSpPr>
        <p:spPr bwMode="auto">
          <a:xfrm>
            <a:off x="5056188" y="2900363"/>
            <a:ext cx="100012"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612552" name="Line 200"/>
          <p:cNvSpPr>
            <a:spLocks noChangeShapeType="1"/>
          </p:cNvSpPr>
          <p:nvPr/>
        </p:nvSpPr>
        <p:spPr bwMode="auto">
          <a:xfrm flipH="1">
            <a:off x="5734050" y="2813050"/>
            <a:ext cx="252413" cy="0"/>
          </a:xfrm>
          <a:prstGeom prst="line">
            <a:avLst/>
          </a:prstGeom>
          <a:noFill/>
          <a:ln w="44450">
            <a:solidFill>
              <a:srgbClr val="000000"/>
            </a:solidFill>
            <a:miter lim="800000"/>
            <a:headEnd/>
            <a:tailEnd/>
          </a:ln>
        </p:spPr>
        <p:txBody>
          <a:bodyPr/>
          <a:lstStyle/>
          <a:p>
            <a:endParaRPr lang="en-US"/>
          </a:p>
        </p:txBody>
      </p:sp>
      <p:sp>
        <p:nvSpPr>
          <p:cNvPr id="612553" name="Freeform 201"/>
          <p:cNvSpPr>
            <a:spLocks/>
          </p:cNvSpPr>
          <p:nvPr/>
        </p:nvSpPr>
        <p:spPr bwMode="auto">
          <a:xfrm>
            <a:off x="5583238" y="2759075"/>
            <a:ext cx="204787" cy="107950"/>
          </a:xfrm>
          <a:custGeom>
            <a:avLst/>
            <a:gdLst>
              <a:gd name="T0" fmla="*/ 2147483647 w 29"/>
              <a:gd name="T1" fmla="*/ 2147483647 h 18"/>
              <a:gd name="T2" fmla="*/ 2147483647 w 29"/>
              <a:gd name="T3" fmla="*/ 2147483647 h 18"/>
              <a:gd name="T4" fmla="*/ 2147483647 w 29"/>
              <a:gd name="T5" fmla="*/ 2147483647 h 18"/>
              <a:gd name="T6" fmla="*/ 2147483647 w 29"/>
              <a:gd name="T7" fmla="*/ 2147483647 h 18"/>
              <a:gd name="T8" fmla="*/ 0 w 29"/>
              <a:gd name="T9" fmla="*/ 2147483647 h 18"/>
              <a:gd name="T10" fmla="*/ 2147483647 w 29"/>
              <a:gd name="T11" fmla="*/ 2147483647 h 18"/>
              <a:gd name="T12" fmla="*/ 2147483647 w 29"/>
              <a:gd name="T13" fmla="*/ 0 h 18"/>
              <a:gd name="T14" fmla="*/ 2147483647 w 29"/>
              <a:gd name="T15" fmla="*/ 0 h 18"/>
              <a:gd name="T16" fmla="*/ 2147483647 w 29"/>
              <a:gd name="T17" fmla="*/ 2147483647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
              <a:gd name="T28" fmla="*/ 0 h 18"/>
              <a:gd name="T29" fmla="*/ 29 w 29"/>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 h="18">
                <a:moveTo>
                  <a:pt x="23" y="9"/>
                </a:moveTo>
                <a:cubicBezTo>
                  <a:pt x="29" y="17"/>
                  <a:pt x="29" y="17"/>
                  <a:pt x="29" y="17"/>
                </a:cubicBezTo>
                <a:cubicBezTo>
                  <a:pt x="28" y="18"/>
                  <a:pt x="28" y="18"/>
                  <a:pt x="28" y="18"/>
                </a:cubicBezTo>
                <a:cubicBezTo>
                  <a:pt x="14" y="12"/>
                  <a:pt x="14" y="12"/>
                  <a:pt x="14" y="12"/>
                </a:cubicBezTo>
                <a:cubicBezTo>
                  <a:pt x="9" y="11"/>
                  <a:pt x="4" y="10"/>
                  <a:pt x="0" y="9"/>
                </a:cubicBezTo>
                <a:cubicBezTo>
                  <a:pt x="4" y="8"/>
                  <a:pt x="9" y="7"/>
                  <a:pt x="14" y="6"/>
                </a:cubicBezTo>
                <a:cubicBezTo>
                  <a:pt x="28" y="0"/>
                  <a:pt x="28" y="0"/>
                  <a:pt x="28" y="0"/>
                </a:cubicBezTo>
                <a:cubicBezTo>
                  <a:pt x="29" y="0"/>
                  <a:pt x="29" y="0"/>
                  <a:pt x="29" y="0"/>
                </a:cubicBezTo>
                <a:lnTo>
                  <a:pt x="23" y="9"/>
                </a:lnTo>
                <a:close/>
              </a:path>
            </a:pathLst>
          </a:custGeom>
          <a:solidFill>
            <a:srgbClr val="000000"/>
          </a:solidFill>
          <a:ln w="9525">
            <a:noFill/>
            <a:round/>
            <a:headEnd/>
            <a:tailEnd/>
          </a:ln>
        </p:spPr>
        <p:txBody>
          <a:bodyPr/>
          <a:lstStyle/>
          <a:p>
            <a:endParaRPr lang="en-US"/>
          </a:p>
        </p:txBody>
      </p:sp>
      <p:sp>
        <p:nvSpPr>
          <p:cNvPr id="612554" name="Freeform 202"/>
          <p:cNvSpPr>
            <a:spLocks/>
          </p:cNvSpPr>
          <p:nvPr/>
        </p:nvSpPr>
        <p:spPr bwMode="auto">
          <a:xfrm>
            <a:off x="2206625" y="1601788"/>
            <a:ext cx="5337175" cy="4410075"/>
          </a:xfrm>
          <a:custGeom>
            <a:avLst/>
            <a:gdLst>
              <a:gd name="T0" fmla="*/ 2147483647 w 2697"/>
              <a:gd name="T1" fmla="*/ 2147483647 h 2606"/>
              <a:gd name="T2" fmla="*/ 0 w 2697"/>
              <a:gd name="T3" fmla="*/ 2147483647 h 2606"/>
              <a:gd name="T4" fmla="*/ 0 w 2697"/>
              <a:gd name="T5" fmla="*/ 0 h 2606"/>
              <a:gd name="T6" fmla="*/ 0 60000 65536"/>
              <a:gd name="T7" fmla="*/ 0 60000 65536"/>
              <a:gd name="T8" fmla="*/ 0 60000 65536"/>
              <a:gd name="T9" fmla="*/ 0 w 2697"/>
              <a:gd name="T10" fmla="*/ 0 h 2606"/>
              <a:gd name="T11" fmla="*/ 2697 w 2697"/>
              <a:gd name="T12" fmla="*/ 2606 h 2606"/>
            </a:gdLst>
            <a:ahLst/>
            <a:cxnLst>
              <a:cxn ang="T6">
                <a:pos x="T0" y="T1"/>
              </a:cxn>
              <a:cxn ang="T7">
                <a:pos x="T2" y="T3"/>
              </a:cxn>
              <a:cxn ang="T8">
                <a:pos x="T4" y="T5"/>
              </a:cxn>
            </a:cxnLst>
            <a:rect l="T9" t="T10" r="T11" b="T12"/>
            <a:pathLst>
              <a:path w="2697" h="2606">
                <a:moveTo>
                  <a:pt x="2697" y="2606"/>
                </a:moveTo>
                <a:lnTo>
                  <a:pt x="0" y="2606"/>
                </a:lnTo>
                <a:lnTo>
                  <a:pt x="0" y="0"/>
                </a:lnTo>
              </a:path>
            </a:pathLst>
          </a:custGeom>
          <a:noFill/>
          <a:ln w="11113" cap="flat">
            <a:solidFill>
              <a:srgbClr val="000000"/>
            </a:solidFill>
            <a:prstDash val="solid"/>
            <a:miter lim="800000"/>
            <a:headEnd/>
            <a:tailEnd/>
          </a:ln>
        </p:spPr>
        <p:txBody>
          <a:bodyPr/>
          <a:lstStyle/>
          <a:p>
            <a:endParaRPr lang="en-US"/>
          </a:p>
        </p:txBody>
      </p:sp>
      <p:sp>
        <p:nvSpPr>
          <p:cNvPr id="612555" name="Line 203"/>
          <p:cNvSpPr>
            <a:spLocks noChangeShapeType="1"/>
          </p:cNvSpPr>
          <p:nvPr/>
        </p:nvSpPr>
        <p:spPr bwMode="auto">
          <a:xfrm flipH="1" flipV="1">
            <a:off x="2349500" y="2649538"/>
            <a:ext cx="2562225" cy="2435225"/>
          </a:xfrm>
          <a:prstGeom prst="line">
            <a:avLst/>
          </a:prstGeom>
          <a:noFill/>
          <a:ln w="44450">
            <a:solidFill>
              <a:srgbClr val="AEC5E7"/>
            </a:solidFill>
            <a:miter lim="800000"/>
            <a:headEnd/>
            <a:tailEnd/>
          </a:ln>
        </p:spPr>
        <p:txBody>
          <a:bodyPr/>
          <a:lstStyle/>
          <a:p>
            <a:endParaRPr lang="en-US"/>
          </a:p>
        </p:txBody>
      </p:sp>
      <p:sp>
        <p:nvSpPr>
          <p:cNvPr id="612556" name="Line 204"/>
          <p:cNvSpPr>
            <a:spLocks noChangeShapeType="1"/>
          </p:cNvSpPr>
          <p:nvPr/>
        </p:nvSpPr>
        <p:spPr bwMode="auto">
          <a:xfrm flipV="1">
            <a:off x="2744788" y="2346325"/>
            <a:ext cx="3241675" cy="3082925"/>
          </a:xfrm>
          <a:prstGeom prst="line">
            <a:avLst/>
          </a:prstGeom>
          <a:noFill/>
          <a:ln w="44450">
            <a:solidFill>
              <a:srgbClr val="EE313C"/>
            </a:solidFill>
            <a:miter lim="800000"/>
            <a:headEnd/>
            <a:tailEnd/>
          </a:ln>
        </p:spPr>
        <p:txBody>
          <a:bodyPr/>
          <a:lstStyle/>
          <a:p>
            <a:endParaRPr lang="en-US"/>
          </a:p>
        </p:txBody>
      </p:sp>
      <p:sp>
        <p:nvSpPr>
          <p:cNvPr id="612557" name="Line 205"/>
          <p:cNvSpPr>
            <a:spLocks noChangeShapeType="1"/>
          </p:cNvSpPr>
          <p:nvPr/>
        </p:nvSpPr>
        <p:spPr bwMode="auto">
          <a:xfrm flipV="1">
            <a:off x="3284538" y="2346325"/>
            <a:ext cx="3289300" cy="3132138"/>
          </a:xfrm>
          <a:prstGeom prst="line">
            <a:avLst/>
          </a:prstGeom>
          <a:noFill/>
          <a:ln w="44450">
            <a:solidFill>
              <a:srgbClr val="FAC0BF"/>
            </a:solidFill>
            <a:miter lim="800000"/>
            <a:headEnd/>
            <a:tailEnd/>
          </a:ln>
        </p:spPr>
        <p:txBody>
          <a:bodyPr/>
          <a:lstStyle/>
          <a:p>
            <a:endParaRPr lang="en-US"/>
          </a:p>
        </p:txBody>
      </p:sp>
      <p:sp>
        <p:nvSpPr>
          <p:cNvPr id="612558" name="Oval 206"/>
          <p:cNvSpPr>
            <a:spLocks noChangeArrowheads="1"/>
          </p:cNvSpPr>
          <p:nvPr/>
        </p:nvSpPr>
        <p:spPr bwMode="auto">
          <a:xfrm>
            <a:off x="4232275" y="4448175"/>
            <a:ext cx="141288" cy="122238"/>
          </a:xfrm>
          <a:prstGeom prst="ellipse">
            <a:avLst/>
          </a:prstGeom>
          <a:solidFill>
            <a:srgbClr val="000000"/>
          </a:solidFill>
          <a:ln w="9525">
            <a:noFill/>
            <a:round/>
            <a:headEnd/>
            <a:tailEnd/>
          </a:ln>
        </p:spPr>
        <p:txBody>
          <a:bodyPr/>
          <a:lstStyle/>
          <a:p>
            <a:endParaRPr lang="en-US"/>
          </a:p>
        </p:txBody>
      </p:sp>
      <p:sp>
        <p:nvSpPr>
          <p:cNvPr id="612559" name="Line 207"/>
          <p:cNvSpPr>
            <a:spLocks noChangeShapeType="1"/>
          </p:cNvSpPr>
          <p:nvPr/>
        </p:nvSpPr>
        <p:spPr bwMode="auto">
          <a:xfrm>
            <a:off x="5392738" y="2238375"/>
            <a:ext cx="439737" cy="490538"/>
          </a:xfrm>
          <a:prstGeom prst="line">
            <a:avLst/>
          </a:prstGeom>
          <a:noFill/>
          <a:ln w="11113">
            <a:solidFill>
              <a:srgbClr val="000000"/>
            </a:solidFill>
            <a:miter lim="800000"/>
            <a:headEnd/>
            <a:tailEnd/>
          </a:ln>
        </p:spPr>
        <p:txBody>
          <a:bodyPr/>
          <a:lstStyle/>
          <a:p>
            <a:endParaRPr lang="en-US"/>
          </a:p>
        </p:txBody>
      </p:sp>
      <p:sp>
        <p:nvSpPr>
          <p:cNvPr id="612560" name="Line 208"/>
          <p:cNvSpPr>
            <a:spLocks noChangeShapeType="1"/>
          </p:cNvSpPr>
          <p:nvPr/>
        </p:nvSpPr>
        <p:spPr bwMode="auto">
          <a:xfrm>
            <a:off x="4719638" y="4757738"/>
            <a:ext cx="1614487" cy="0"/>
          </a:xfrm>
          <a:prstGeom prst="line">
            <a:avLst/>
          </a:prstGeom>
          <a:noFill/>
          <a:ln w="44450">
            <a:solidFill>
              <a:srgbClr val="000000"/>
            </a:solidFill>
            <a:miter lim="800000"/>
            <a:headEnd/>
            <a:tailEnd/>
          </a:ln>
        </p:spPr>
        <p:txBody>
          <a:bodyPr/>
          <a:lstStyle/>
          <a:p>
            <a:endParaRPr lang="en-US"/>
          </a:p>
        </p:txBody>
      </p:sp>
      <p:sp>
        <p:nvSpPr>
          <p:cNvPr id="612561" name="Freeform 209"/>
          <p:cNvSpPr>
            <a:spLocks/>
          </p:cNvSpPr>
          <p:nvPr/>
        </p:nvSpPr>
        <p:spPr bwMode="auto">
          <a:xfrm>
            <a:off x="6276975" y="4703763"/>
            <a:ext cx="212725" cy="101600"/>
          </a:xfrm>
          <a:custGeom>
            <a:avLst/>
            <a:gdLst>
              <a:gd name="T0" fmla="*/ 2147483647 w 30"/>
              <a:gd name="T1" fmla="*/ 2147483647 h 17"/>
              <a:gd name="T2" fmla="*/ 0 w 30"/>
              <a:gd name="T3" fmla="*/ 0 h 17"/>
              <a:gd name="T4" fmla="*/ 2147483647 w 30"/>
              <a:gd name="T5" fmla="*/ 0 h 17"/>
              <a:gd name="T6" fmla="*/ 2147483647 w 30"/>
              <a:gd name="T7" fmla="*/ 2147483647 h 17"/>
              <a:gd name="T8" fmla="*/ 2147483647 w 30"/>
              <a:gd name="T9" fmla="*/ 2147483647 h 17"/>
              <a:gd name="T10" fmla="*/ 2147483647 w 30"/>
              <a:gd name="T11" fmla="*/ 2147483647 h 17"/>
              <a:gd name="T12" fmla="*/ 2147483647 w 30"/>
              <a:gd name="T13" fmla="*/ 2147483647 h 17"/>
              <a:gd name="T14" fmla="*/ 0 w 30"/>
              <a:gd name="T15" fmla="*/ 2147483647 h 17"/>
              <a:gd name="T16" fmla="*/ 2147483647 w 30"/>
              <a:gd name="T17" fmla="*/ 2147483647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17"/>
              <a:gd name="T29" fmla="*/ 30 w 30"/>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17">
                <a:moveTo>
                  <a:pt x="6" y="9"/>
                </a:moveTo>
                <a:cubicBezTo>
                  <a:pt x="0" y="0"/>
                  <a:pt x="0" y="0"/>
                  <a:pt x="0" y="0"/>
                </a:cubicBezTo>
                <a:cubicBezTo>
                  <a:pt x="1" y="0"/>
                  <a:pt x="1" y="0"/>
                  <a:pt x="1" y="0"/>
                </a:cubicBezTo>
                <a:cubicBezTo>
                  <a:pt x="15" y="5"/>
                  <a:pt x="15" y="5"/>
                  <a:pt x="15" y="5"/>
                </a:cubicBezTo>
                <a:cubicBezTo>
                  <a:pt x="20" y="6"/>
                  <a:pt x="25" y="7"/>
                  <a:pt x="30" y="9"/>
                </a:cubicBezTo>
                <a:cubicBezTo>
                  <a:pt x="25" y="10"/>
                  <a:pt x="20" y="11"/>
                  <a:pt x="15" y="12"/>
                </a:cubicBezTo>
                <a:cubicBezTo>
                  <a:pt x="1" y="17"/>
                  <a:pt x="1" y="17"/>
                  <a:pt x="1" y="17"/>
                </a:cubicBezTo>
                <a:cubicBezTo>
                  <a:pt x="0" y="17"/>
                  <a:pt x="0" y="17"/>
                  <a:pt x="0" y="17"/>
                </a:cubicBezTo>
                <a:lnTo>
                  <a:pt x="6" y="9"/>
                </a:lnTo>
                <a:close/>
              </a:path>
            </a:pathLst>
          </a:custGeom>
          <a:solidFill>
            <a:srgbClr val="000000"/>
          </a:solidFill>
          <a:ln w="9525">
            <a:noFill/>
            <a:round/>
            <a:headEnd/>
            <a:tailEnd/>
          </a:ln>
        </p:spPr>
        <p:txBody>
          <a:bodyPr/>
          <a:lstStyle/>
          <a:p>
            <a:endParaRPr lang="en-US"/>
          </a:p>
        </p:txBody>
      </p:sp>
      <p:sp>
        <p:nvSpPr>
          <p:cNvPr id="612562" name="Line 210"/>
          <p:cNvSpPr>
            <a:spLocks noChangeShapeType="1"/>
          </p:cNvSpPr>
          <p:nvPr/>
        </p:nvSpPr>
        <p:spPr bwMode="auto">
          <a:xfrm>
            <a:off x="5335588" y="4835525"/>
            <a:ext cx="128587" cy="455613"/>
          </a:xfrm>
          <a:prstGeom prst="line">
            <a:avLst/>
          </a:prstGeom>
          <a:noFill/>
          <a:ln w="11113">
            <a:solidFill>
              <a:srgbClr val="000000"/>
            </a:solidFill>
            <a:miter lim="800000"/>
            <a:headEnd/>
            <a:tailEnd/>
          </a:ln>
        </p:spPr>
        <p:txBody>
          <a:bodyPr/>
          <a:lstStyle/>
          <a:p>
            <a:endParaRPr lang="en-US"/>
          </a:p>
        </p:txBody>
      </p:sp>
      <p:sp>
        <p:nvSpPr>
          <p:cNvPr id="612563" name="Rectangle 211"/>
          <p:cNvSpPr>
            <a:spLocks noChangeArrowheads="1"/>
          </p:cNvSpPr>
          <p:nvPr/>
        </p:nvSpPr>
        <p:spPr bwMode="auto">
          <a:xfrm>
            <a:off x="1828800" y="914400"/>
            <a:ext cx="5105400" cy="215900"/>
          </a:xfrm>
          <a:prstGeom prst="rect">
            <a:avLst/>
          </a:prstGeom>
          <a:noFill/>
          <a:ln w="9525">
            <a:noFill/>
            <a:miter lim="800000"/>
            <a:headEnd/>
            <a:tailEnd/>
          </a:ln>
        </p:spPr>
        <p:txBody>
          <a:bodyPr lIns="0" tIns="0" rIns="0" bIns="0">
            <a:spAutoFit/>
          </a:bodyPr>
          <a:lstStyle/>
          <a:p>
            <a:pPr marL="1588" indent="-1588"/>
            <a:r>
              <a:rPr lang="en-US" sz="1400" b="1">
                <a:solidFill>
                  <a:srgbClr val="000000"/>
                </a:solidFill>
                <a:latin typeface="Myriad Roman"/>
              </a:rPr>
              <a:t>(a) One Possible Outcome: Price Rises, Quantity Rises</a:t>
            </a:r>
            <a:endParaRPr lang="en-US" sz="1400" b="1"/>
          </a:p>
        </p:txBody>
      </p:sp>
      <p:sp>
        <p:nvSpPr>
          <p:cNvPr id="612564" name="Freeform 212"/>
          <p:cNvSpPr>
            <a:spLocks/>
          </p:cNvSpPr>
          <p:nvPr/>
        </p:nvSpPr>
        <p:spPr bwMode="auto">
          <a:xfrm>
            <a:off x="5151438" y="5260975"/>
            <a:ext cx="2136775" cy="690563"/>
          </a:xfrm>
          <a:custGeom>
            <a:avLst/>
            <a:gdLst>
              <a:gd name="T0" fmla="*/ 2147483647 w 221"/>
              <a:gd name="T1" fmla="*/ 2147483647 h 95"/>
              <a:gd name="T2" fmla="*/ 2147483647 w 221"/>
              <a:gd name="T3" fmla="*/ 2147483647 h 95"/>
              <a:gd name="T4" fmla="*/ 2147483647 w 221"/>
              <a:gd name="T5" fmla="*/ 2147483647 h 95"/>
              <a:gd name="T6" fmla="*/ 0 w 221"/>
              <a:gd name="T7" fmla="*/ 2147483647 h 95"/>
              <a:gd name="T8" fmla="*/ 0 w 221"/>
              <a:gd name="T9" fmla="*/ 2147483647 h 95"/>
              <a:gd name="T10" fmla="*/ 2147483647 w 221"/>
              <a:gd name="T11" fmla="*/ 0 h 95"/>
              <a:gd name="T12" fmla="*/ 2147483647 w 221"/>
              <a:gd name="T13" fmla="*/ 0 h 95"/>
              <a:gd name="T14" fmla="*/ 2147483647 w 221"/>
              <a:gd name="T15" fmla="*/ 2147483647 h 95"/>
              <a:gd name="T16" fmla="*/ 2147483647 w 221"/>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1"/>
              <a:gd name="T28" fmla="*/ 0 h 95"/>
              <a:gd name="T29" fmla="*/ 221 w 221"/>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1" h="95">
                <a:moveTo>
                  <a:pt x="221" y="79"/>
                </a:moveTo>
                <a:cubicBezTo>
                  <a:pt x="221" y="87"/>
                  <a:pt x="214" y="95"/>
                  <a:pt x="205" y="95"/>
                </a:cubicBezTo>
                <a:cubicBezTo>
                  <a:pt x="16" y="95"/>
                  <a:pt x="16" y="95"/>
                  <a:pt x="16" y="95"/>
                </a:cubicBezTo>
                <a:cubicBezTo>
                  <a:pt x="7" y="95"/>
                  <a:pt x="0" y="87"/>
                  <a:pt x="0" y="79"/>
                </a:cubicBezTo>
                <a:cubicBezTo>
                  <a:pt x="0" y="16"/>
                  <a:pt x="0" y="16"/>
                  <a:pt x="0" y="16"/>
                </a:cubicBezTo>
                <a:cubicBezTo>
                  <a:pt x="0" y="7"/>
                  <a:pt x="7" y="0"/>
                  <a:pt x="16" y="0"/>
                </a:cubicBezTo>
                <a:cubicBezTo>
                  <a:pt x="205" y="0"/>
                  <a:pt x="205" y="0"/>
                  <a:pt x="205" y="0"/>
                </a:cubicBezTo>
                <a:cubicBezTo>
                  <a:pt x="214" y="0"/>
                  <a:pt x="221" y="7"/>
                  <a:pt x="221" y="16"/>
                </a:cubicBezTo>
                <a:lnTo>
                  <a:pt x="221" y="79"/>
                </a:lnTo>
                <a:close/>
              </a:path>
            </a:pathLst>
          </a:custGeom>
          <a:solidFill>
            <a:srgbClr val="D6E2E0"/>
          </a:solidFill>
          <a:ln w="9525">
            <a:noFill/>
            <a:round/>
            <a:headEnd/>
            <a:tailEnd/>
          </a:ln>
        </p:spPr>
        <p:txBody>
          <a:bodyPr/>
          <a:lstStyle/>
          <a:p>
            <a:endParaRPr lang="en-US"/>
          </a:p>
        </p:txBody>
      </p:sp>
      <p:sp>
        <p:nvSpPr>
          <p:cNvPr id="612565" name="Line 213"/>
          <p:cNvSpPr>
            <a:spLocks noChangeShapeType="1"/>
          </p:cNvSpPr>
          <p:nvPr/>
        </p:nvSpPr>
        <p:spPr bwMode="auto">
          <a:xfrm flipH="1" flipV="1">
            <a:off x="3616325" y="1905000"/>
            <a:ext cx="3078163" cy="2925763"/>
          </a:xfrm>
          <a:prstGeom prst="line">
            <a:avLst/>
          </a:prstGeom>
          <a:noFill/>
          <a:ln w="44450">
            <a:solidFill>
              <a:srgbClr val="3C5DAA"/>
            </a:solidFill>
            <a:miter lim="800000"/>
            <a:headEnd/>
            <a:tailEnd/>
          </a:ln>
        </p:spPr>
        <p:txBody>
          <a:bodyPr/>
          <a:lstStyle/>
          <a:p>
            <a:endParaRPr lang="en-US"/>
          </a:p>
        </p:txBody>
      </p:sp>
      <p:sp>
        <p:nvSpPr>
          <p:cNvPr id="612566" name="Oval 214"/>
          <p:cNvSpPr>
            <a:spLocks noChangeArrowheads="1"/>
          </p:cNvSpPr>
          <p:nvPr/>
        </p:nvSpPr>
        <p:spPr bwMode="auto">
          <a:xfrm>
            <a:off x="4967288" y="3194050"/>
            <a:ext cx="142875" cy="122238"/>
          </a:xfrm>
          <a:prstGeom prst="ellipse">
            <a:avLst/>
          </a:prstGeom>
          <a:solidFill>
            <a:srgbClr val="000000"/>
          </a:solidFill>
          <a:ln w="9525">
            <a:noFill/>
            <a:round/>
            <a:headEnd/>
            <a:tailEnd/>
          </a:ln>
        </p:spPr>
        <p:txBody>
          <a:bodyPr/>
          <a:lstStyle/>
          <a:p>
            <a:endParaRPr lang="en-US"/>
          </a:p>
        </p:txBody>
      </p:sp>
      <p:sp>
        <p:nvSpPr>
          <p:cNvPr id="612567" name="Line 215"/>
          <p:cNvSpPr>
            <a:spLocks noChangeShapeType="1"/>
          </p:cNvSpPr>
          <p:nvPr/>
        </p:nvSpPr>
        <p:spPr bwMode="auto">
          <a:xfrm flipV="1">
            <a:off x="1973263" y="3522663"/>
            <a:ext cx="0" cy="847725"/>
          </a:xfrm>
          <a:prstGeom prst="line">
            <a:avLst/>
          </a:prstGeom>
          <a:noFill/>
          <a:ln w="17463">
            <a:solidFill>
              <a:srgbClr val="000000"/>
            </a:solidFill>
            <a:miter lim="800000"/>
            <a:headEnd/>
            <a:tailEnd/>
          </a:ln>
        </p:spPr>
        <p:txBody>
          <a:bodyPr/>
          <a:lstStyle/>
          <a:p>
            <a:endParaRPr lang="en-US"/>
          </a:p>
        </p:txBody>
      </p:sp>
      <p:sp>
        <p:nvSpPr>
          <p:cNvPr id="612568" name="Freeform 216"/>
          <p:cNvSpPr>
            <a:spLocks/>
          </p:cNvSpPr>
          <p:nvPr/>
        </p:nvSpPr>
        <p:spPr bwMode="auto">
          <a:xfrm>
            <a:off x="1924050" y="3435350"/>
            <a:ext cx="100013" cy="115888"/>
          </a:xfrm>
          <a:custGeom>
            <a:avLst/>
            <a:gdLst>
              <a:gd name="T0" fmla="*/ 2147483647 w 14"/>
              <a:gd name="T1" fmla="*/ 2147483647 h 19"/>
              <a:gd name="T2" fmla="*/ 2147483647 w 14"/>
              <a:gd name="T3" fmla="*/ 2147483647 h 19"/>
              <a:gd name="T4" fmla="*/ 0 w 14"/>
              <a:gd name="T5" fmla="*/ 2147483647 h 19"/>
              <a:gd name="T6" fmla="*/ 2147483647 w 14"/>
              <a:gd name="T7" fmla="*/ 2147483647 h 19"/>
              <a:gd name="T8" fmla="*/ 2147483647 w 14"/>
              <a:gd name="T9" fmla="*/ 0 h 19"/>
              <a:gd name="T10" fmla="*/ 2147483647 w 14"/>
              <a:gd name="T11" fmla="*/ 2147483647 h 19"/>
              <a:gd name="T12" fmla="*/ 2147483647 w 14"/>
              <a:gd name="T13" fmla="*/ 2147483647 h 19"/>
              <a:gd name="T14" fmla="*/ 2147483647 w 14"/>
              <a:gd name="T15" fmla="*/ 2147483647 h 19"/>
              <a:gd name="T16" fmla="*/ 2147483647 w 14"/>
              <a:gd name="T17" fmla="*/ 2147483647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19"/>
              <a:gd name="T29" fmla="*/ 14 w 14"/>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19">
                <a:moveTo>
                  <a:pt x="7" y="16"/>
                </a:moveTo>
                <a:cubicBezTo>
                  <a:pt x="1" y="19"/>
                  <a:pt x="1" y="19"/>
                  <a:pt x="1" y="19"/>
                </a:cubicBezTo>
                <a:cubicBezTo>
                  <a:pt x="0" y="19"/>
                  <a:pt x="0" y="19"/>
                  <a:pt x="0" y="19"/>
                </a:cubicBezTo>
                <a:cubicBezTo>
                  <a:pt x="5" y="10"/>
                  <a:pt x="5" y="10"/>
                  <a:pt x="5" y="10"/>
                </a:cubicBezTo>
                <a:cubicBezTo>
                  <a:pt x="5" y="6"/>
                  <a:pt x="6" y="3"/>
                  <a:pt x="7" y="0"/>
                </a:cubicBezTo>
                <a:cubicBezTo>
                  <a:pt x="8" y="3"/>
                  <a:pt x="9" y="6"/>
                  <a:pt x="9" y="10"/>
                </a:cubicBezTo>
                <a:cubicBezTo>
                  <a:pt x="14" y="19"/>
                  <a:pt x="14" y="19"/>
                  <a:pt x="14" y="19"/>
                </a:cubicBezTo>
                <a:cubicBezTo>
                  <a:pt x="14" y="19"/>
                  <a:pt x="14" y="19"/>
                  <a:pt x="14" y="19"/>
                </a:cubicBezTo>
                <a:lnTo>
                  <a:pt x="7" y="16"/>
                </a:lnTo>
                <a:close/>
              </a:path>
            </a:pathLst>
          </a:custGeom>
          <a:solidFill>
            <a:srgbClr val="000000"/>
          </a:solidFill>
          <a:ln w="9525">
            <a:noFill/>
            <a:round/>
            <a:headEnd/>
            <a:tailEnd/>
          </a:ln>
        </p:spPr>
        <p:txBody>
          <a:bodyPr/>
          <a:lstStyle/>
          <a:p>
            <a:endParaRPr lang="en-US"/>
          </a:p>
        </p:txBody>
      </p:sp>
      <p:sp>
        <p:nvSpPr>
          <p:cNvPr id="612569" name="Line 217"/>
          <p:cNvSpPr>
            <a:spLocks noChangeShapeType="1"/>
          </p:cNvSpPr>
          <p:nvPr/>
        </p:nvSpPr>
        <p:spPr bwMode="auto">
          <a:xfrm>
            <a:off x="4473575" y="6181725"/>
            <a:ext cx="381000" cy="0"/>
          </a:xfrm>
          <a:prstGeom prst="line">
            <a:avLst/>
          </a:prstGeom>
          <a:noFill/>
          <a:ln w="17463">
            <a:solidFill>
              <a:srgbClr val="000000"/>
            </a:solidFill>
            <a:miter lim="800000"/>
            <a:headEnd/>
            <a:tailEnd/>
          </a:ln>
        </p:spPr>
        <p:txBody>
          <a:bodyPr/>
          <a:lstStyle/>
          <a:p>
            <a:endParaRPr lang="en-US"/>
          </a:p>
        </p:txBody>
      </p:sp>
      <p:sp>
        <p:nvSpPr>
          <p:cNvPr id="612570" name="Freeform 218"/>
          <p:cNvSpPr>
            <a:spLocks/>
          </p:cNvSpPr>
          <p:nvPr/>
        </p:nvSpPr>
        <p:spPr bwMode="auto">
          <a:xfrm>
            <a:off x="4756150" y="6138863"/>
            <a:ext cx="155575" cy="84137"/>
          </a:xfrm>
          <a:custGeom>
            <a:avLst/>
            <a:gdLst>
              <a:gd name="T0" fmla="*/ 2147483647 w 22"/>
              <a:gd name="T1" fmla="*/ 2147483647 h 14"/>
              <a:gd name="T2" fmla="*/ 0 w 22"/>
              <a:gd name="T3" fmla="*/ 2147483647 h 14"/>
              <a:gd name="T4" fmla="*/ 0 w 22"/>
              <a:gd name="T5" fmla="*/ 0 h 14"/>
              <a:gd name="T6" fmla="*/ 2147483647 w 22"/>
              <a:gd name="T7" fmla="*/ 2147483647 h 14"/>
              <a:gd name="T8" fmla="*/ 2147483647 w 22"/>
              <a:gd name="T9" fmla="*/ 2147483647 h 14"/>
              <a:gd name="T10" fmla="*/ 2147483647 w 22"/>
              <a:gd name="T11" fmla="*/ 2147483647 h 14"/>
              <a:gd name="T12" fmla="*/ 0 w 22"/>
              <a:gd name="T13" fmla="*/ 2147483647 h 14"/>
              <a:gd name="T14" fmla="*/ 0 w 22"/>
              <a:gd name="T15" fmla="*/ 2147483647 h 14"/>
              <a:gd name="T16" fmla="*/ 2147483647 w 22"/>
              <a:gd name="T17" fmla="*/ 2147483647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4"/>
              <a:gd name="T29" fmla="*/ 22 w 22"/>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4">
                <a:moveTo>
                  <a:pt x="4" y="7"/>
                </a:moveTo>
                <a:cubicBezTo>
                  <a:pt x="0" y="1"/>
                  <a:pt x="0" y="1"/>
                  <a:pt x="0" y="1"/>
                </a:cubicBezTo>
                <a:cubicBezTo>
                  <a:pt x="0" y="0"/>
                  <a:pt x="0" y="0"/>
                  <a:pt x="0" y="0"/>
                </a:cubicBezTo>
                <a:cubicBezTo>
                  <a:pt x="11" y="5"/>
                  <a:pt x="11" y="5"/>
                  <a:pt x="11" y="5"/>
                </a:cubicBezTo>
                <a:cubicBezTo>
                  <a:pt x="14" y="5"/>
                  <a:pt x="18" y="6"/>
                  <a:pt x="22" y="7"/>
                </a:cubicBezTo>
                <a:cubicBezTo>
                  <a:pt x="18" y="8"/>
                  <a:pt x="14" y="9"/>
                  <a:pt x="11" y="10"/>
                </a:cubicBezTo>
                <a:cubicBezTo>
                  <a:pt x="0" y="14"/>
                  <a:pt x="0" y="14"/>
                  <a:pt x="0" y="14"/>
                </a:cubicBezTo>
                <a:cubicBezTo>
                  <a:pt x="0" y="14"/>
                  <a:pt x="0" y="14"/>
                  <a:pt x="0" y="14"/>
                </a:cubicBezTo>
                <a:lnTo>
                  <a:pt x="4" y="7"/>
                </a:lnTo>
                <a:close/>
              </a:path>
            </a:pathLst>
          </a:custGeom>
          <a:solidFill>
            <a:srgbClr val="000000"/>
          </a:solidFill>
          <a:ln w="9525">
            <a:noFill/>
            <a:round/>
            <a:headEnd/>
            <a:tailEnd/>
          </a:ln>
        </p:spPr>
        <p:txBody>
          <a:bodyPr/>
          <a:lstStyle/>
          <a:p>
            <a:endParaRPr lang="en-US"/>
          </a:p>
        </p:txBody>
      </p:sp>
      <p:sp>
        <p:nvSpPr>
          <p:cNvPr id="612571" name="Freeform 219"/>
          <p:cNvSpPr>
            <a:spLocks/>
          </p:cNvSpPr>
          <p:nvPr/>
        </p:nvSpPr>
        <p:spPr bwMode="auto">
          <a:xfrm>
            <a:off x="4191000" y="1389063"/>
            <a:ext cx="1668463" cy="822325"/>
          </a:xfrm>
          <a:custGeom>
            <a:avLst/>
            <a:gdLst>
              <a:gd name="T0" fmla="*/ 2147483647 w 174"/>
              <a:gd name="T1" fmla="*/ 2147483647 h 134"/>
              <a:gd name="T2" fmla="*/ 2147483647 w 174"/>
              <a:gd name="T3" fmla="*/ 2147483647 h 134"/>
              <a:gd name="T4" fmla="*/ 2147483647 w 174"/>
              <a:gd name="T5" fmla="*/ 2147483647 h 134"/>
              <a:gd name="T6" fmla="*/ 0 w 174"/>
              <a:gd name="T7" fmla="*/ 2147483647 h 134"/>
              <a:gd name="T8" fmla="*/ 0 w 174"/>
              <a:gd name="T9" fmla="*/ 2147483647 h 134"/>
              <a:gd name="T10" fmla="*/ 2147483647 w 174"/>
              <a:gd name="T11" fmla="*/ 0 h 134"/>
              <a:gd name="T12" fmla="*/ 2147483647 w 174"/>
              <a:gd name="T13" fmla="*/ 0 h 134"/>
              <a:gd name="T14" fmla="*/ 2147483647 w 174"/>
              <a:gd name="T15" fmla="*/ 2147483647 h 134"/>
              <a:gd name="T16" fmla="*/ 2147483647 w 174"/>
              <a:gd name="T17" fmla="*/ 2147483647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4"/>
              <a:gd name="T28" fmla="*/ 0 h 134"/>
              <a:gd name="T29" fmla="*/ 174 w 174"/>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4" h="134">
                <a:moveTo>
                  <a:pt x="174" y="118"/>
                </a:moveTo>
                <a:cubicBezTo>
                  <a:pt x="174" y="127"/>
                  <a:pt x="167" y="134"/>
                  <a:pt x="158" y="134"/>
                </a:cubicBezTo>
                <a:cubicBezTo>
                  <a:pt x="16" y="134"/>
                  <a:pt x="16" y="134"/>
                  <a:pt x="16" y="134"/>
                </a:cubicBezTo>
                <a:cubicBezTo>
                  <a:pt x="7" y="134"/>
                  <a:pt x="0" y="127"/>
                  <a:pt x="0" y="118"/>
                </a:cubicBezTo>
                <a:cubicBezTo>
                  <a:pt x="0" y="16"/>
                  <a:pt x="0" y="16"/>
                  <a:pt x="0" y="16"/>
                </a:cubicBezTo>
                <a:cubicBezTo>
                  <a:pt x="0" y="8"/>
                  <a:pt x="7" y="0"/>
                  <a:pt x="16" y="0"/>
                </a:cubicBezTo>
                <a:cubicBezTo>
                  <a:pt x="158" y="0"/>
                  <a:pt x="158" y="0"/>
                  <a:pt x="158" y="0"/>
                </a:cubicBezTo>
                <a:cubicBezTo>
                  <a:pt x="167" y="0"/>
                  <a:pt x="174" y="8"/>
                  <a:pt x="174" y="16"/>
                </a:cubicBezTo>
                <a:lnTo>
                  <a:pt x="174" y="118"/>
                </a:lnTo>
                <a:close/>
              </a:path>
            </a:pathLst>
          </a:custGeom>
          <a:solidFill>
            <a:srgbClr val="D6E2E0"/>
          </a:solidFill>
          <a:ln w="9525">
            <a:noFill/>
            <a:round/>
            <a:headEnd/>
            <a:tailEnd/>
          </a:ln>
        </p:spPr>
        <p:txBody>
          <a:bodyPr/>
          <a:lstStyle/>
          <a:p>
            <a:endParaRPr lang="en-US"/>
          </a:p>
        </p:txBody>
      </p:sp>
      <p:sp>
        <p:nvSpPr>
          <p:cNvPr id="548930" name="TextBox 29"/>
          <p:cNvSpPr txBox="1">
            <a:spLocks noChangeArrowheads="1"/>
          </p:cNvSpPr>
          <p:nvPr/>
        </p:nvSpPr>
        <p:spPr bwMode="auto">
          <a:xfrm>
            <a:off x="771525" y="1563688"/>
            <a:ext cx="1423988" cy="307975"/>
          </a:xfrm>
          <a:prstGeom prst="rect">
            <a:avLst/>
          </a:prstGeom>
          <a:noFill/>
          <a:ln w="9525">
            <a:noFill/>
            <a:miter lim="800000"/>
            <a:headEnd/>
            <a:tailEnd/>
          </a:ln>
        </p:spPr>
        <p:txBody>
          <a:bodyPr>
            <a:spAutoFit/>
          </a:bodyPr>
          <a:lstStyle/>
          <a:p>
            <a:pPr algn="ctr"/>
            <a:r>
              <a:rPr lang="en-US" sz="1400" b="1"/>
              <a:t>Price of cotton</a:t>
            </a:r>
          </a:p>
        </p:txBody>
      </p:sp>
      <p:sp>
        <p:nvSpPr>
          <p:cNvPr id="2" name="TextBox 29"/>
          <p:cNvSpPr txBox="1">
            <a:spLocks noChangeArrowheads="1"/>
          </p:cNvSpPr>
          <p:nvPr/>
        </p:nvSpPr>
        <p:spPr bwMode="auto">
          <a:xfrm>
            <a:off x="4240213" y="1338263"/>
            <a:ext cx="1482725" cy="923925"/>
          </a:xfrm>
          <a:prstGeom prst="rect">
            <a:avLst/>
          </a:prstGeom>
          <a:noFill/>
          <a:ln w="9525">
            <a:noFill/>
            <a:miter lim="800000"/>
            <a:headEnd/>
            <a:tailEnd/>
          </a:ln>
        </p:spPr>
        <p:txBody>
          <a:bodyPr>
            <a:spAutoFit/>
          </a:bodyPr>
          <a:lstStyle/>
          <a:p>
            <a:pPr algn="ctr"/>
            <a:r>
              <a:rPr lang="en-US" i="1"/>
              <a:t>Small decrease in supply</a:t>
            </a:r>
          </a:p>
        </p:txBody>
      </p:sp>
      <p:sp>
        <p:nvSpPr>
          <p:cNvPr id="3" name="TextBox 29"/>
          <p:cNvSpPr txBox="1">
            <a:spLocks noChangeArrowheads="1"/>
          </p:cNvSpPr>
          <p:nvPr/>
        </p:nvSpPr>
        <p:spPr bwMode="auto">
          <a:xfrm>
            <a:off x="5265738" y="5299075"/>
            <a:ext cx="2022475" cy="646113"/>
          </a:xfrm>
          <a:prstGeom prst="rect">
            <a:avLst/>
          </a:prstGeom>
          <a:noFill/>
          <a:ln w="9525">
            <a:noFill/>
            <a:miter lim="800000"/>
            <a:headEnd/>
            <a:tailEnd/>
          </a:ln>
        </p:spPr>
        <p:txBody>
          <a:bodyPr>
            <a:spAutoFit/>
          </a:bodyPr>
          <a:lstStyle/>
          <a:p>
            <a:pPr algn="ctr"/>
            <a:r>
              <a:rPr lang="en-US" i="1"/>
              <a:t>Large increase in demand</a:t>
            </a:r>
          </a:p>
        </p:txBody>
      </p:sp>
      <p:cxnSp>
        <p:nvCxnSpPr>
          <p:cNvPr id="612575" name="Straight Connector 86"/>
          <p:cNvCxnSpPr>
            <a:cxnSpLocks noChangeShapeType="1"/>
          </p:cNvCxnSpPr>
          <p:nvPr/>
        </p:nvCxnSpPr>
        <p:spPr bwMode="auto">
          <a:xfrm>
            <a:off x="5032375" y="3270250"/>
            <a:ext cx="0" cy="2681288"/>
          </a:xfrm>
          <a:prstGeom prst="line">
            <a:avLst/>
          </a:prstGeom>
          <a:noFill/>
          <a:ln w="22225">
            <a:solidFill>
              <a:srgbClr val="9C9C9C"/>
            </a:solidFill>
            <a:prstDash val="sysDot"/>
            <a:round/>
            <a:headEnd/>
            <a:tailEnd type="none" w="med" len="lg"/>
          </a:ln>
        </p:spPr>
      </p:cxnSp>
      <p:cxnSp>
        <p:nvCxnSpPr>
          <p:cNvPr id="612576" name="Straight Connector 86"/>
          <p:cNvCxnSpPr>
            <a:cxnSpLocks noChangeShapeType="1"/>
          </p:cNvCxnSpPr>
          <p:nvPr/>
        </p:nvCxnSpPr>
        <p:spPr bwMode="auto">
          <a:xfrm>
            <a:off x="4294188" y="4570413"/>
            <a:ext cx="0" cy="1381125"/>
          </a:xfrm>
          <a:prstGeom prst="line">
            <a:avLst/>
          </a:prstGeom>
          <a:noFill/>
          <a:ln w="22225">
            <a:solidFill>
              <a:srgbClr val="9C9C9C"/>
            </a:solidFill>
            <a:prstDash val="sysDot"/>
            <a:round/>
            <a:headEnd/>
            <a:tailEnd type="none" w="med" len="lg"/>
          </a:ln>
        </p:spPr>
      </p:cxn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489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25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255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25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25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25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89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25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25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1257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25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255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25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25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255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1254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125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25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125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12388"/>
                                        </p:tgtEl>
                                        <p:attrNameLst>
                                          <p:attrName>style.visibility</p:attrName>
                                        </p:attrNameLst>
                                      </p:cBhvr>
                                      <p:to>
                                        <p:strVal val="visible"/>
                                      </p:to>
                                    </p:set>
                                    <p:animEffect transition="in" filter="wipe(left)">
                                      <p:cBhvr>
                                        <p:cTn id="47" dur="500"/>
                                        <p:tgtEl>
                                          <p:spTgt spid="612388"/>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12542"/>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612543"/>
                                        </p:tgtEl>
                                        <p:attrNameLst>
                                          <p:attrName>style.visibility</p:attrName>
                                        </p:attrNameLst>
                                      </p:cBhvr>
                                      <p:to>
                                        <p:strVal val="visible"/>
                                      </p:to>
                                    </p:set>
                                  </p:childTnLst>
                                </p:cTn>
                              </p:par>
                              <p:par>
                                <p:cTn id="54" presetID="22" presetClass="entr" presetSubtype="8" fill="hold" grpId="0" nodeType="withEffect">
                                  <p:stCondLst>
                                    <p:cond delay="0"/>
                                  </p:stCondLst>
                                  <p:childTnLst>
                                    <p:set>
                                      <p:cBhvr>
                                        <p:cTn id="55" dur="1" fill="hold">
                                          <p:stCondLst>
                                            <p:cond delay="0"/>
                                          </p:stCondLst>
                                        </p:cTn>
                                        <p:tgtEl>
                                          <p:spTgt spid="612565"/>
                                        </p:tgtEl>
                                        <p:attrNameLst>
                                          <p:attrName>style.visibility</p:attrName>
                                        </p:attrNameLst>
                                      </p:cBhvr>
                                      <p:to>
                                        <p:strVal val="visible"/>
                                      </p:to>
                                    </p:set>
                                    <p:animEffect transition="in" filter="wipe(left)">
                                      <p:cBhvr>
                                        <p:cTn id="56" dur="500"/>
                                        <p:tgtEl>
                                          <p:spTgt spid="612565"/>
                                        </p:tgtEl>
                                      </p:cBhvr>
                                    </p:animEffect>
                                  </p:childTnLst>
                                </p:cTn>
                              </p:par>
                              <p:par>
                                <p:cTn id="57" presetID="1" presetClass="entr" presetSubtype="0" fill="hold" grpId="0" nodeType="withEffect">
                                  <p:stCondLst>
                                    <p:cond delay="0"/>
                                  </p:stCondLst>
                                  <p:childTnLst>
                                    <p:set>
                                      <p:cBhvr>
                                        <p:cTn id="58" dur="1" fill="hold">
                                          <p:stCondLst>
                                            <p:cond delay="0"/>
                                          </p:stCondLst>
                                        </p:cTn>
                                        <p:tgtEl>
                                          <p:spTgt spid="61256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256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1256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1256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1255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1255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1254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1257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1255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1255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1254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12567"/>
                                        </p:tgtEl>
                                        <p:attrNameLst>
                                          <p:attrName>style.visibility</p:attrName>
                                        </p:attrNameLst>
                                      </p:cBhvr>
                                      <p:to>
                                        <p:strVal val="visible"/>
                                      </p:to>
                                    </p:set>
                                  </p:childTnLst>
                                </p:cTn>
                              </p:par>
                              <p:par>
                                <p:cTn id="89" presetID="22" presetClass="entr" presetSubtype="1" fill="hold" nodeType="withEffect">
                                  <p:stCondLst>
                                    <p:cond delay="0"/>
                                  </p:stCondLst>
                                  <p:childTnLst>
                                    <p:set>
                                      <p:cBhvr>
                                        <p:cTn id="90" dur="1" fill="hold">
                                          <p:stCondLst>
                                            <p:cond delay="0"/>
                                          </p:stCondLst>
                                        </p:cTn>
                                        <p:tgtEl>
                                          <p:spTgt spid="612575"/>
                                        </p:tgtEl>
                                        <p:attrNameLst>
                                          <p:attrName>style.visibility</p:attrName>
                                        </p:attrNameLst>
                                      </p:cBhvr>
                                      <p:to>
                                        <p:strVal val="visible"/>
                                      </p:to>
                                    </p:set>
                                    <p:animEffect transition="in" filter="wipe(up)">
                                      <p:cBhvr>
                                        <p:cTn id="91" dur="500"/>
                                        <p:tgtEl>
                                          <p:spTgt spid="612575"/>
                                        </p:tgtEl>
                                      </p:cBhvr>
                                    </p:animEffect>
                                  </p:childTnLst>
                                </p:cTn>
                              </p:par>
                              <p:par>
                                <p:cTn id="92" presetID="22" presetClass="entr" presetSubtype="8" fill="hold" nodeType="withEffect">
                                  <p:stCondLst>
                                    <p:cond delay="0"/>
                                  </p:stCondLst>
                                  <p:childTnLst>
                                    <p:set>
                                      <p:cBhvr>
                                        <p:cTn id="93" dur="1" fill="hold">
                                          <p:stCondLst>
                                            <p:cond delay="0"/>
                                          </p:stCondLst>
                                        </p:cTn>
                                        <p:tgtEl>
                                          <p:spTgt spid="612531"/>
                                        </p:tgtEl>
                                        <p:attrNameLst>
                                          <p:attrName>style.visibility</p:attrName>
                                        </p:attrNameLst>
                                      </p:cBhvr>
                                      <p:to>
                                        <p:strVal val="visible"/>
                                      </p:to>
                                    </p:set>
                                    <p:animEffect transition="in" filter="wipe(left)">
                                      <p:cBhvr>
                                        <p:cTn id="94" dur="500"/>
                                        <p:tgtEl>
                                          <p:spTgt spid="612531"/>
                                        </p:tgtEl>
                                      </p:cBhvr>
                                    </p:animEffect>
                                  </p:childTnLst>
                                </p:cTn>
                              </p:par>
                              <p:par>
                                <p:cTn id="95" presetID="1" presetClass="entr" presetSubtype="0" fill="hold" grpId="0" nodeType="withEffect">
                                  <p:stCondLst>
                                    <p:cond delay="0"/>
                                  </p:stCondLst>
                                  <p:childTnLst>
                                    <p:set>
                                      <p:cBhvr>
                                        <p:cTn id="96" dur="1" fill="hold">
                                          <p:stCondLst>
                                            <p:cond delay="0"/>
                                          </p:stCondLst>
                                        </p:cTn>
                                        <p:tgtEl>
                                          <p:spTgt spid="61253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1256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12569"/>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612536"/>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1255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1255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1253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12532"/>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1256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61257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612479"/>
                                        </p:tgtEl>
                                        <p:attrNameLst>
                                          <p:attrName>style.visibility</p:attrName>
                                        </p:attrNameLst>
                                      </p:cBhvr>
                                      <p:to>
                                        <p:strVal val="visible"/>
                                      </p:to>
                                    </p:set>
                                    <p:animEffect transition="in" filter="wipe(left)">
                                      <p:cBhvr>
                                        <p:cTn id="119" dur="500"/>
                                        <p:tgtEl>
                                          <p:spTgt spid="6124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88" grpId="0" animBg="1"/>
      <p:bldP spid="612479" grpId="0" animBg="1"/>
      <p:bldP spid="548931" grpId="0"/>
      <p:bldP spid="612532" grpId="0"/>
      <p:bldP spid="612533" grpId="0"/>
      <p:bldP spid="612534" grpId="0"/>
      <p:bldP spid="612535" grpId="0"/>
      <p:bldP spid="612537" grpId="0"/>
      <p:bldP spid="612538" grpId="0"/>
      <p:bldP spid="612539" grpId="0"/>
      <p:bldP spid="612540" grpId="0"/>
      <p:bldP spid="612541" grpId="0"/>
      <p:bldP spid="612542" grpId="0"/>
      <p:bldP spid="612543" grpId="0"/>
      <p:bldP spid="612544" grpId="0"/>
      <p:bldP spid="612545" grpId="0"/>
      <p:bldP spid="612546" grpId="0"/>
      <p:bldP spid="612547" grpId="0"/>
      <p:bldP spid="612548" grpId="0"/>
      <p:bldP spid="612549" grpId="0"/>
      <p:bldP spid="612550" grpId="0"/>
      <p:bldP spid="612551" grpId="0"/>
      <p:bldP spid="612552" grpId="0" animBg="1"/>
      <p:bldP spid="612553" grpId="0" animBg="1"/>
      <p:bldP spid="612554" grpId="0" animBg="1"/>
      <p:bldP spid="612555" grpId="0" animBg="1"/>
      <p:bldP spid="612556" grpId="0" animBg="1"/>
      <p:bldP spid="612557" grpId="0" animBg="1"/>
      <p:bldP spid="612558" grpId="0" animBg="1"/>
      <p:bldP spid="612559" grpId="0" animBg="1"/>
      <p:bldP spid="612560" grpId="0" animBg="1"/>
      <p:bldP spid="612561" grpId="0" animBg="1"/>
      <p:bldP spid="612562" grpId="0" animBg="1"/>
      <p:bldP spid="612563" grpId="0"/>
      <p:bldP spid="612564" grpId="0" animBg="1"/>
      <p:bldP spid="612565" grpId="0" animBg="1"/>
      <p:bldP spid="612566" grpId="0" animBg="1"/>
      <p:bldP spid="612567" grpId="0" animBg="1"/>
      <p:bldP spid="612568" grpId="0" animBg="1"/>
      <p:bldP spid="612569" grpId="0" animBg="1"/>
      <p:bldP spid="612570" grpId="0" animBg="1"/>
      <p:bldP spid="612571" grpId="0" animBg="1"/>
      <p:bldP spid="548930"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02" name="Rectangle 2"/>
          <p:cNvSpPr>
            <a:spLocks noGrp="1" noRot="1" noChangeArrowheads="1"/>
          </p:cNvSpPr>
          <p:nvPr>
            <p:ph type="title"/>
          </p:nvPr>
        </p:nvSpPr>
        <p:spPr>
          <a:xfrm>
            <a:off x="827088" y="60325"/>
            <a:ext cx="8323262" cy="555625"/>
          </a:xfrm>
        </p:spPr>
        <p:txBody>
          <a:bodyPr/>
          <a:lstStyle/>
          <a:p>
            <a:pPr>
              <a:defRPr/>
            </a:pPr>
            <a:r>
              <a:rPr lang="en-US" dirty="0"/>
              <a:t>Simultaneous Shifts of Supply and Demand</a:t>
            </a:r>
          </a:p>
        </p:txBody>
      </p:sp>
      <p:sp>
        <p:nvSpPr>
          <p:cNvPr id="614515" name="Text Box 115"/>
          <p:cNvSpPr txBox="1">
            <a:spLocks noChangeArrowheads="1"/>
          </p:cNvSpPr>
          <p:nvPr/>
        </p:nvSpPr>
        <p:spPr bwMode="auto">
          <a:xfrm>
            <a:off x="6326188" y="2425700"/>
            <a:ext cx="2667000" cy="923925"/>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spcBef>
                <a:spcPct val="20000"/>
              </a:spcBef>
              <a:defRPr/>
            </a:pPr>
            <a:r>
              <a:rPr lang="en-US" dirty="0"/>
              <a:t>Two opposing forces determining the equilibrium quantity.</a:t>
            </a:r>
          </a:p>
        </p:txBody>
      </p:sp>
      <p:sp>
        <p:nvSpPr>
          <p:cNvPr id="96259" name="AutoShape 165"/>
          <p:cNvSpPr>
            <a:spLocks noChangeAspect="1" noChangeArrowheads="1" noTextEdit="1"/>
          </p:cNvSpPr>
          <p:nvPr/>
        </p:nvSpPr>
        <p:spPr bwMode="auto">
          <a:xfrm>
            <a:off x="6324600" y="7239000"/>
            <a:ext cx="1495425" cy="630238"/>
          </a:xfrm>
          <a:prstGeom prst="rect">
            <a:avLst/>
          </a:prstGeom>
          <a:noFill/>
          <a:ln w="9525">
            <a:noFill/>
            <a:miter lim="800000"/>
            <a:headEnd/>
            <a:tailEnd/>
          </a:ln>
        </p:spPr>
        <p:txBody>
          <a:bodyPr/>
          <a:lstStyle/>
          <a:p>
            <a:endParaRPr lang="en-US"/>
          </a:p>
        </p:txBody>
      </p:sp>
      <p:cxnSp>
        <p:nvCxnSpPr>
          <p:cNvPr id="614566" name="Straight Connector 86"/>
          <p:cNvCxnSpPr>
            <a:cxnSpLocks noChangeShapeType="1"/>
          </p:cNvCxnSpPr>
          <p:nvPr/>
        </p:nvCxnSpPr>
        <p:spPr bwMode="auto">
          <a:xfrm>
            <a:off x="3894138" y="3275013"/>
            <a:ext cx="0" cy="2655887"/>
          </a:xfrm>
          <a:prstGeom prst="line">
            <a:avLst/>
          </a:prstGeom>
          <a:noFill/>
          <a:ln w="22225">
            <a:solidFill>
              <a:srgbClr val="9C9C9C"/>
            </a:solidFill>
            <a:prstDash val="sysDot"/>
            <a:round/>
            <a:headEnd/>
            <a:tailEnd type="none" w="med" len="lg"/>
          </a:ln>
        </p:spPr>
      </p:cxnSp>
      <p:cxnSp>
        <p:nvCxnSpPr>
          <p:cNvPr id="614567" name="Straight Connector 86"/>
          <p:cNvCxnSpPr>
            <a:cxnSpLocks noChangeShapeType="1"/>
          </p:cNvCxnSpPr>
          <p:nvPr/>
        </p:nvCxnSpPr>
        <p:spPr bwMode="auto">
          <a:xfrm>
            <a:off x="1895475" y="3265488"/>
            <a:ext cx="1998663" cy="9525"/>
          </a:xfrm>
          <a:prstGeom prst="line">
            <a:avLst/>
          </a:prstGeom>
          <a:noFill/>
          <a:ln w="22225">
            <a:solidFill>
              <a:srgbClr val="9C9C9C"/>
            </a:solidFill>
            <a:prstDash val="sysDot"/>
            <a:round/>
            <a:headEnd/>
            <a:tailEnd type="none" w="med" len="lg"/>
          </a:ln>
        </p:spPr>
      </p:cxnSp>
      <p:cxnSp>
        <p:nvCxnSpPr>
          <p:cNvPr id="614568" name="Straight Connector 86"/>
          <p:cNvCxnSpPr>
            <a:cxnSpLocks noChangeShapeType="1"/>
          </p:cNvCxnSpPr>
          <p:nvPr/>
        </p:nvCxnSpPr>
        <p:spPr bwMode="auto">
          <a:xfrm>
            <a:off x="4292600" y="4291013"/>
            <a:ext cx="0" cy="1639887"/>
          </a:xfrm>
          <a:prstGeom prst="line">
            <a:avLst/>
          </a:prstGeom>
          <a:noFill/>
          <a:ln w="22225">
            <a:solidFill>
              <a:srgbClr val="9C9C9C"/>
            </a:solidFill>
            <a:prstDash val="sysDot"/>
            <a:round/>
            <a:headEnd/>
            <a:tailEnd type="none" w="med" len="lg"/>
          </a:ln>
        </p:spPr>
      </p:cxnSp>
      <p:cxnSp>
        <p:nvCxnSpPr>
          <p:cNvPr id="614569" name="Straight Connector 86"/>
          <p:cNvCxnSpPr>
            <a:cxnSpLocks noChangeShapeType="1"/>
          </p:cNvCxnSpPr>
          <p:nvPr/>
        </p:nvCxnSpPr>
        <p:spPr bwMode="auto">
          <a:xfrm>
            <a:off x="1974850" y="4291013"/>
            <a:ext cx="2317750" cy="11112"/>
          </a:xfrm>
          <a:prstGeom prst="line">
            <a:avLst/>
          </a:prstGeom>
          <a:noFill/>
          <a:ln w="22225">
            <a:solidFill>
              <a:srgbClr val="9C9C9C"/>
            </a:solidFill>
            <a:prstDash val="sysDot"/>
            <a:round/>
            <a:headEnd/>
            <a:tailEnd type="none" w="med" len="lg"/>
          </a:ln>
        </p:spPr>
      </p:cxnSp>
      <p:sp>
        <p:nvSpPr>
          <p:cNvPr id="614570" name="Rectangle 170"/>
          <p:cNvSpPr>
            <a:spLocks noChangeArrowheads="1"/>
          </p:cNvSpPr>
          <p:nvPr/>
        </p:nvSpPr>
        <p:spPr bwMode="auto">
          <a:xfrm>
            <a:off x="4267200" y="6096000"/>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p>
        </p:txBody>
      </p:sp>
      <p:sp>
        <p:nvSpPr>
          <p:cNvPr id="614571" name="Rectangle 171"/>
          <p:cNvSpPr>
            <a:spLocks noChangeArrowheads="1"/>
          </p:cNvSpPr>
          <p:nvPr/>
        </p:nvSpPr>
        <p:spPr bwMode="auto">
          <a:xfrm>
            <a:off x="4419600" y="624840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614572" name="Rectangle 172"/>
          <p:cNvSpPr>
            <a:spLocks noChangeArrowheads="1"/>
          </p:cNvSpPr>
          <p:nvPr/>
        </p:nvSpPr>
        <p:spPr bwMode="auto">
          <a:xfrm>
            <a:off x="3810000" y="6096000"/>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p>
        </p:txBody>
      </p:sp>
      <p:sp>
        <p:nvSpPr>
          <p:cNvPr id="614573" name="Rectangle 173"/>
          <p:cNvSpPr>
            <a:spLocks noChangeArrowheads="1"/>
          </p:cNvSpPr>
          <p:nvPr/>
        </p:nvSpPr>
        <p:spPr bwMode="auto">
          <a:xfrm>
            <a:off x="3886200" y="624840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614574" name="Rectangle 174"/>
          <p:cNvSpPr>
            <a:spLocks noChangeArrowheads="1"/>
          </p:cNvSpPr>
          <p:nvPr/>
        </p:nvSpPr>
        <p:spPr bwMode="auto">
          <a:xfrm>
            <a:off x="1503363" y="31083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p>
        </p:txBody>
      </p:sp>
      <p:sp>
        <p:nvSpPr>
          <p:cNvPr id="614575" name="Rectangle 175"/>
          <p:cNvSpPr>
            <a:spLocks noChangeArrowheads="1"/>
          </p:cNvSpPr>
          <p:nvPr/>
        </p:nvSpPr>
        <p:spPr bwMode="auto">
          <a:xfrm>
            <a:off x="1639888" y="322897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614576" name="Rectangle 176"/>
          <p:cNvSpPr>
            <a:spLocks noChangeArrowheads="1"/>
          </p:cNvSpPr>
          <p:nvPr/>
        </p:nvSpPr>
        <p:spPr bwMode="auto">
          <a:xfrm>
            <a:off x="1503363" y="41497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p>
        </p:txBody>
      </p:sp>
      <p:sp>
        <p:nvSpPr>
          <p:cNvPr id="614577" name="Rectangle 177"/>
          <p:cNvSpPr>
            <a:spLocks noChangeArrowheads="1"/>
          </p:cNvSpPr>
          <p:nvPr/>
        </p:nvSpPr>
        <p:spPr bwMode="auto">
          <a:xfrm>
            <a:off x="1639888" y="4268788"/>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614578" name="Rectangle 178"/>
          <p:cNvSpPr>
            <a:spLocks noChangeArrowheads="1"/>
          </p:cNvSpPr>
          <p:nvPr/>
        </p:nvSpPr>
        <p:spPr bwMode="auto">
          <a:xfrm>
            <a:off x="4976813" y="17780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sp>
        <p:nvSpPr>
          <p:cNvPr id="614579" name="Rectangle 179"/>
          <p:cNvSpPr>
            <a:spLocks noChangeArrowheads="1"/>
          </p:cNvSpPr>
          <p:nvPr/>
        </p:nvSpPr>
        <p:spPr bwMode="auto">
          <a:xfrm>
            <a:off x="5103813" y="1897063"/>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614580" name="Rectangle 180"/>
          <p:cNvSpPr>
            <a:spLocks noChangeArrowheads="1"/>
          </p:cNvSpPr>
          <p:nvPr/>
        </p:nvSpPr>
        <p:spPr bwMode="auto">
          <a:xfrm>
            <a:off x="5568950" y="517048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p>
        </p:txBody>
      </p:sp>
      <p:sp>
        <p:nvSpPr>
          <p:cNvPr id="614581" name="Rectangle 181"/>
          <p:cNvSpPr>
            <a:spLocks noChangeArrowheads="1"/>
          </p:cNvSpPr>
          <p:nvPr/>
        </p:nvSpPr>
        <p:spPr bwMode="auto">
          <a:xfrm>
            <a:off x="5738813" y="5291138"/>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614582" name="Rectangle 182"/>
          <p:cNvSpPr>
            <a:spLocks noChangeArrowheads="1"/>
          </p:cNvSpPr>
          <p:nvPr/>
        </p:nvSpPr>
        <p:spPr bwMode="auto">
          <a:xfrm>
            <a:off x="5187950" y="5438775"/>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p>
        </p:txBody>
      </p:sp>
      <p:sp>
        <p:nvSpPr>
          <p:cNvPr id="614583" name="Rectangle 183"/>
          <p:cNvSpPr>
            <a:spLocks noChangeArrowheads="1"/>
          </p:cNvSpPr>
          <p:nvPr/>
        </p:nvSpPr>
        <p:spPr bwMode="auto">
          <a:xfrm>
            <a:off x="5359400" y="5557838"/>
            <a:ext cx="9683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614584" name="Rectangle 184"/>
          <p:cNvSpPr>
            <a:spLocks noChangeArrowheads="1"/>
          </p:cNvSpPr>
          <p:nvPr/>
        </p:nvSpPr>
        <p:spPr bwMode="auto">
          <a:xfrm>
            <a:off x="5772150" y="23129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S</a:t>
            </a:r>
            <a:endParaRPr lang="en-US" sz="1400" i="1"/>
          </a:p>
        </p:txBody>
      </p:sp>
      <p:sp>
        <p:nvSpPr>
          <p:cNvPr id="614585" name="Rectangle 185"/>
          <p:cNvSpPr>
            <a:spLocks noChangeArrowheads="1"/>
          </p:cNvSpPr>
          <p:nvPr/>
        </p:nvSpPr>
        <p:spPr bwMode="auto">
          <a:xfrm>
            <a:off x="5897563" y="242887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614586" name="Rectangle 186"/>
          <p:cNvSpPr>
            <a:spLocks noChangeArrowheads="1"/>
          </p:cNvSpPr>
          <p:nvPr/>
        </p:nvSpPr>
        <p:spPr bwMode="auto">
          <a:xfrm>
            <a:off x="4175125" y="383381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p>
        </p:txBody>
      </p:sp>
      <p:sp>
        <p:nvSpPr>
          <p:cNvPr id="614587" name="Rectangle 187"/>
          <p:cNvSpPr>
            <a:spLocks noChangeArrowheads="1"/>
          </p:cNvSpPr>
          <p:nvPr/>
        </p:nvSpPr>
        <p:spPr bwMode="auto">
          <a:xfrm>
            <a:off x="4302125" y="395287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p>
        </p:txBody>
      </p:sp>
      <p:sp>
        <p:nvSpPr>
          <p:cNvPr id="614588" name="Rectangle 188"/>
          <p:cNvSpPr>
            <a:spLocks noChangeArrowheads="1"/>
          </p:cNvSpPr>
          <p:nvPr/>
        </p:nvSpPr>
        <p:spPr bwMode="auto">
          <a:xfrm>
            <a:off x="3775075" y="27813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E</a:t>
            </a:r>
            <a:endParaRPr lang="en-US" sz="1400" i="1"/>
          </a:p>
        </p:txBody>
      </p:sp>
      <p:sp>
        <p:nvSpPr>
          <p:cNvPr id="614589" name="Rectangle 189"/>
          <p:cNvSpPr>
            <a:spLocks noChangeArrowheads="1"/>
          </p:cNvSpPr>
          <p:nvPr/>
        </p:nvSpPr>
        <p:spPr bwMode="auto">
          <a:xfrm>
            <a:off x="3902075" y="290195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p>
        </p:txBody>
      </p:sp>
      <p:sp>
        <p:nvSpPr>
          <p:cNvPr id="614590" name="Line 190"/>
          <p:cNvSpPr>
            <a:spLocks noChangeShapeType="1"/>
          </p:cNvSpPr>
          <p:nvPr/>
        </p:nvSpPr>
        <p:spPr bwMode="auto">
          <a:xfrm>
            <a:off x="4899025" y="4859338"/>
            <a:ext cx="230188" cy="0"/>
          </a:xfrm>
          <a:prstGeom prst="line">
            <a:avLst/>
          </a:prstGeom>
          <a:noFill/>
          <a:ln w="49213">
            <a:solidFill>
              <a:srgbClr val="000000"/>
            </a:solidFill>
            <a:miter lim="800000"/>
            <a:headEnd/>
            <a:tailEnd/>
          </a:ln>
        </p:spPr>
        <p:txBody>
          <a:bodyPr/>
          <a:lstStyle/>
          <a:p>
            <a:endParaRPr lang="en-US"/>
          </a:p>
        </p:txBody>
      </p:sp>
      <p:sp>
        <p:nvSpPr>
          <p:cNvPr id="614591" name="Freeform 191"/>
          <p:cNvSpPr>
            <a:spLocks/>
          </p:cNvSpPr>
          <p:nvPr/>
        </p:nvSpPr>
        <p:spPr bwMode="auto">
          <a:xfrm>
            <a:off x="5084763" y="4802188"/>
            <a:ext cx="185737" cy="111125"/>
          </a:xfrm>
          <a:custGeom>
            <a:avLst/>
            <a:gdLst>
              <a:gd name="T0" fmla="*/ 2147483647 w 29"/>
              <a:gd name="T1" fmla="*/ 2147483647 h 18"/>
              <a:gd name="T2" fmla="*/ 0 w 29"/>
              <a:gd name="T3" fmla="*/ 0 h 18"/>
              <a:gd name="T4" fmla="*/ 0 w 29"/>
              <a:gd name="T5" fmla="*/ 0 h 18"/>
              <a:gd name="T6" fmla="*/ 2147483647 w 29"/>
              <a:gd name="T7" fmla="*/ 2147483647 h 18"/>
              <a:gd name="T8" fmla="*/ 2147483647 w 29"/>
              <a:gd name="T9" fmla="*/ 2147483647 h 18"/>
              <a:gd name="T10" fmla="*/ 2147483647 w 29"/>
              <a:gd name="T11" fmla="*/ 2147483647 h 18"/>
              <a:gd name="T12" fmla="*/ 0 w 29"/>
              <a:gd name="T13" fmla="*/ 2147483647 h 18"/>
              <a:gd name="T14" fmla="*/ 0 w 29"/>
              <a:gd name="T15" fmla="*/ 2147483647 h 18"/>
              <a:gd name="T16" fmla="*/ 2147483647 w 29"/>
              <a:gd name="T17" fmla="*/ 2147483647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
              <a:gd name="T28" fmla="*/ 0 h 18"/>
              <a:gd name="T29" fmla="*/ 29 w 29"/>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 h="18">
                <a:moveTo>
                  <a:pt x="5" y="9"/>
                </a:moveTo>
                <a:cubicBezTo>
                  <a:pt x="0" y="0"/>
                  <a:pt x="0" y="0"/>
                  <a:pt x="0" y="0"/>
                </a:cubicBezTo>
                <a:cubicBezTo>
                  <a:pt x="0" y="0"/>
                  <a:pt x="0" y="0"/>
                  <a:pt x="0" y="0"/>
                </a:cubicBezTo>
                <a:cubicBezTo>
                  <a:pt x="14" y="5"/>
                  <a:pt x="14" y="5"/>
                  <a:pt x="14" y="5"/>
                </a:cubicBezTo>
                <a:cubicBezTo>
                  <a:pt x="19" y="7"/>
                  <a:pt x="24" y="8"/>
                  <a:pt x="29" y="9"/>
                </a:cubicBezTo>
                <a:cubicBezTo>
                  <a:pt x="24" y="10"/>
                  <a:pt x="19" y="11"/>
                  <a:pt x="14" y="12"/>
                </a:cubicBezTo>
                <a:cubicBezTo>
                  <a:pt x="0" y="18"/>
                  <a:pt x="0" y="18"/>
                  <a:pt x="0" y="18"/>
                </a:cubicBezTo>
                <a:cubicBezTo>
                  <a:pt x="0" y="17"/>
                  <a:pt x="0" y="17"/>
                  <a:pt x="0" y="17"/>
                </a:cubicBezTo>
                <a:lnTo>
                  <a:pt x="5" y="9"/>
                </a:lnTo>
                <a:close/>
              </a:path>
            </a:pathLst>
          </a:custGeom>
          <a:solidFill>
            <a:srgbClr val="000000"/>
          </a:solidFill>
          <a:ln w="9525">
            <a:noFill/>
            <a:round/>
            <a:headEnd/>
            <a:tailEnd/>
          </a:ln>
        </p:spPr>
        <p:txBody>
          <a:bodyPr/>
          <a:lstStyle/>
          <a:p>
            <a:endParaRPr lang="en-US"/>
          </a:p>
        </p:txBody>
      </p:sp>
      <p:sp>
        <p:nvSpPr>
          <p:cNvPr id="614592" name="Freeform 192"/>
          <p:cNvSpPr>
            <a:spLocks/>
          </p:cNvSpPr>
          <p:nvPr/>
        </p:nvSpPr>
        <p:spPr bwMode="auto">
          <a:xfrm>
            <a:off x="1835150" y="1479550"/>
            <a:ext cx="4826000" cy="4562475"/>
          </a:xfrm>
          <a:custGeom>
            <a:avLst/>
            <a:gdLst>
              <a:gd name="T0" fmla="*/ 2147483647 w 2898"/>
              <a:gd name="T1" fmla="*/ 2147483647 h 2803"/>
              <a:gd name="T2" fmla="*/ 0 w 2898"/>
              <a:gd name="T3" fmla="*/ 2147483647 h 2803"/>
              <a:gd name="T4" fmla="*/ 0 w 2898"/>
              <a:gd name="T5" fmla="*/ 0 h 2803"/>
              <a:gd name="T6" fmla="*/ 0 60000 65536"/>
              <a:gd name="T7" fmla="*/ 0 60000 65536"/>
              <a:gd name="T8" fmla="*/ 0 60000 65536"/>
              <a:gd name="T9" fmla="*/ 0 w 2898"/>
              <a:gd name="T10" fmla="*/ 0 h 2803"/>
              <a:gd name="T11" fmla="*/ 2898 w 2898"/>
              <a:gd name="T12" fmla="*/ 2803 h 2803"/>
            </a:gdLst>
            <a:ahLst/>
            <a:cxnLst>
              <a:cxn ang="T6">
                <a:pos x="T0" y="T1"/>
              </a:cxn>
              <a:cxn ang="T7">
                <a:pos x="T2" y="T3"/>
              </a:cxn>
              <a:cxn ang="T8">
                <a:pos x="T4" y="T5"/>
              </a:cxn>
            </a:cxnLst>
            <a:rect l="T9" t="T10" r="T11" b="T12"/>
            <a:pathLst>
              <a:path w="2898" h="2803">
                <a:moveTo>
                  <a:pt x="2898" y="2803"/>
                </a:moveTo>
                <a:lnTo>
                  <a:pt x="0" y="2803"/>
                </a:lnTo>
                <a:lnTo>
                  <a:pt x="0" y="0"/>
                </a:lnTo>
              </a:path>
            </a:pathLst>
          </a:custGeom>
          <a:noFill/>
          <a:ln w="12700" cap="flat">
            <a:solidFill>
              <a:srgbClr val="000000"/>
            </a:solidFill>
            <a:prstDash val="solid"/>
            <a:miter lim="800000"/>
            <a:headEnd/>
            <a:tailEnd/>
          </a:ln>
        </p:spPr>
        <p:txBody>
          <a:bodyPr/>
          <a:lstStyle/>
          <a:p>
            <a:endParaRPr lang="en-US"/>
          </a:p>
        </p:txBody>
      </p:sp>
      <p:sp>
        <p:nvSpPr>
          <p:cNvPr id="614593" name="Line 193"/>
          <p:cNvSpPr>
            <a:spLocks noChangeShapeType="1"/>
          </p:cNvSpPr>
          <p:nvPr/>
        </p:nvSpPr>
        <p:spPr bwMode="auto">
          <a:xfrm flipH="1" flipV="1">
            <a:off x="2449513" y="2289175"/>
            <a:ext cx="2841625" cy="3082925"/>
          </a:xfrm>
          <a:prstGeom prst="line">
            <a:avLst/>
          </a:prstGeom>
          <a:noFill/>
          <a:ln w="49213">
            <a:solidFill>
              <a:srgbClr val="AEC5E7"/>
            </a:solidFill>
            <a:miter lim="800000"/>
            <a:headEnd/>
            <a:tailEnd/>
          </a:ln>
        </p:spPr>
        <p:txBody>
          <a:bodyPr/>
          <a:lstStyle/>
          <a:p>
            <a:endParaRPr lang="en-US"/>
          </a:p>
        </p:txBody>
      </p:sp>
      <p:sp>
        <p:nvSpPr>
          <p:cNvPr id="614594" name="Line 194"/>
          <p:cNvSpPr>
            <a:spLocks noChangeShapeType="1"/>
          </p:cNvSpPr>
          <p:nvPr/>
        </p:nvSpPr>
        <p:spPr bwMode="auto">
          <a:xfrm flipV="1">
            <a:off x="2341563" y="2100263"/>
            <a:ext cx="2627312" cy="2851150"/>
          </a:xfrm>
          <a:prstGeom prst="line">
            <a:avLst/>
          </a:prstGeom>
          <a:noFill/>
          <a:ln w="49213">
            <a:solidFill>
              <a:srgbClr val="EE313C"/>
            </a:solidFill>
            <a:miter lim="800000"/>
            <a:headEnd/>
            <a:tailEnd/>
          </a:ln>
        </p:spPr>
        <p:txBody>
          <a:bodyPr/>
          <a:lstStyle/>
          <a:p>
            <a:endParaRPr lang="en-US"/>
          </a:p>
        </p:txBody>
      </p:sp>
      <p:sp>
        <p:nvSpPr>
          <p:cNvPr id="614595" name="Line 195"/>
          <p:cNvSpPr>
            <a:spLocks noChangeShapeType="1"/>
          </p:cNvSpPr>
          <p:nvPr/>
        </p:nvSpPr>
        <p:spPr bwMode="auto">
          <a:xfrm flipV="1">
            <a:off x="3181350" y="2638425"/>
            <a:ext cx="2646363" cy="2878138"/>
          </a:xfrm>
          <a:prstGeom prst="line">
            <a:avLst/>
          </a:prstGeom>
          <a:noFill/>
          <a:ln w="49213">
            <a:solidFill>
              <a:srgbClr val="FAC0BF"/>
            </a:solidFill>
            <a:miter lim="800000"/>
            <a:headEnd/>
            <a:tailEnd/>
          </a:ln>
        </p:spPr>
        <p:txBody>
          <a:bodyPr/>
          <a:lstStyle/>
          <a:p>
            <a:endParaRPr lang="en-US"/>
          </a:p>
        </p:txBody>
      </p:sp>
      <p:sp>
        <p:nvSpPr>
          <p:cNvPr id="614596" name="Line 196"/>
          <p:cNvSpPr>
            <a:spLocks noChangeShapeType="1"/>
          </p:cNvSpPr>
          <p:nvPr/>
        </p:nvSpPr>
        <p:spPr bwMode="auto">
          <a:xfrm>
            <a:off x="4206875" y="2157413"/>
            <a:ext cx="762000" cy="638175"/>
          </a:xfrm>
          <a:prstGeom prst="line">
            <a:avLst/>
          </a:prstGeom>
          <a:noFill/>
          <a:ln w="12700">
            <a:solidFill>
              <a:srgbClr val="000000"/>
            </a:solidFill>
            <a:miter lim="800000"/>
            <a:headEnd/>
            <a:tailEnd/>
          </a:ln>
        </p:spPr>
        <p:txBody>
          <a:bodyPr/>
          <a:lstStyle/>
          <a:p>
            <a:endParaRPr lang="en-US"/>
          </a:p>
        </p:txBody>
      </p:sp>
      <p:sp>
        <p:nvSpPr>
          <p:cNvPr id="614597" name="Line 197"/>
          <p:cNvSpPr>
            <a:spLocks noChangeShapeType="1"/>
          </p:cNvSpPr>
          <p:nvPr/>
        </p:nvSpPr>
        <p:spPr bwMode="auto">
          <a:xfrm flipH="1">
            <a:off x="4597400" y="2884488"/>
            <a:ext cx="871538" cy="0"/>
          </a:xfrm>
          <a:prstGeom prst="line">
            <a:avLst/>
          </a:prstGeom>
          <a:noFill/>
          <a:ln w="49213">
            <a:solidFill>
              <a:srgbClr val="000000"/>
            </a:solidFill>
            <a:miter lim="800000"/>
            <a:headEnd/>
            <a:tailEnd/>
          </a:ln>
        </p:spPr>
        <p:txBody>
          <a:bodyPr/>
          <a:lstStyle/>
          <a:p>
            <a:endParaRPr lang="en-US"/>
          </a:p>
        </p:txBody>
      </p:sp>
      <p:sp>
        <p:nvSpPr>
          <p:cNvPr id="614598" name="Freeform 198"/>
          <p:cNvSpPr>
            <a:spLocks/>
          </p:cNvSpPr>
          <p:nvPr/>
        </p:nvSpPr>
        <p:spPr bwMode="auto">
          <a:xfrm>
            <a:off x="4462463" y="2827338"/>
            <a:ext cx="187325" cy="112712"/>
          </a:xfrm>
          <a:custGeom>
            <a:avLst/>
            <a:gdLst>
              <a:gd name="T0" fmla="*/ 2147483647 w 29"/>
              <a:gd name="T1" fmla="*/ 2147483647 h 18"/>
              <a:gd name="T2" fmla="*/ 2147483647 w 29"/>
              <a:gd name="T3" fmla="*/ 2147483647 h 18"/>
              <a:gd name="T4" fmla="*/ 2147483647 w 29"/>
              <a:gd name="T5" fmla="*/ 2147483647 h 18"/>
              <a:gd name="T6" fmla="*/ 2147483647 w 29"/>
              <a:gd name="T7" fmla="*/ 2147483647 h 18"/>
              <a:gd name="T8" fmla="*/ 0 w 29"/>
              <a:gd name="T9" fmla="*/ 2147483647 h 18"/>
              <a:gd name="T10" fmla="*/ 2147483647 w 29"/>
              <a:gd name="T11" fmla="*/ 2147483647 h 18"/>
              <a:gd name="T12" fmla="*/ 2147483647 w 29"/>
              <a:gd name="T13" fmla="*/ 0 h 18"/>
              <a:gd name="T14" fmla="*/ 2147483647 w 29"/>
              <a:gd name="T15" fmla="*/ 0 h 18"/>
              <a:gd name="T16" fmla="*/ 2147483647 w 29"/>
              <a:gd name="T17" fmla="*/ 2147483647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
              <a:gd name="T28" fmla="*/ 0 h 18"/>
              <a:gd name="T29" fmla="*/ 29 w 29"/>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 h="18">
                <a:moveTo>
                  <a:pt x="24" y="9"/>
                </a:moveTo>
                <a:cubicBezTo>
                  <a:pt x="29" y="18"/>
                  <a:pt x="29" y="18"/>
                  <a:pt x="29" y="18"/>
                </a:cubicBezTo>
                <a:cubicBezTo>
                  <a:pt x="29" y="18"/>
                  <a:pt x="29" y="18"/>
                  <a:pt x="29" y="18"/>
                </a:cubicBezTo>
                <a:cubicBezTo>
                  <a:pt x="15" y="12"/>
                  <a:pt x="15" y="12"/>
                  <a:pt x="15" y="12"/>
                </a:cubicBezTo>
                <a:cubicBezTo>
                  <a:pt x="10" y="11"/>
                  <a:pt x="5" y="10"/>
                  <a:pt x="0" y="9"/>
                </a:cubicBezTo>
                <a:cubicBezTo>
                  <a:pt x="5" y="8"/>
                  <a:pt x="10" y="7"/>
                  <a:pt x="15" y="6"/>
                </a:cubicBezTo>
                <a:cubicBezTo>
                  <a:pt x="29" y="0"/>
                  <a:pt x="29" y="0"/>
                  <a:pt x="29" y="0"/>
                </a:cubicBezTo>
                <a:cubicBezTo>
                  <a:pt x="29" y="0"/>
                  <a:pt x="29" y="0"/>
                  <a:pt x="29" y="0"/>
                </a:cubicBezTo>
                <a:lnTo>
                  <a:pt x="24" y="9"/>
                </a:lnTo>
                <a:close/>
              </a:path>
            </a:pathLst>
          </a:custGeom>
          <a:solidFill>
            <a:srgbClr val="000000"/>
          </a:solidFill>
          <a:ln w="9525">
            <a:noFill/>
            <a:round/>
            <a:headEnd/>
            <a:tailEnd/>
          </a:ln>
        </p:spPr>
        <p:txBody>
          <a:bodyPr/>
          <a:lstStyle/>
          <a:p>
            <a:endParaRPr lang="en-US"/>
          </a:p>
        </p:txBody>
      </p:sp>
      <p:sp>
        <p:nvSpPr>
          <p:cNvPr id="614599" name="Rectangle 199"/>
          <p:cNvSpPr>
            <a:spLocks noChangeArrowheads="1"/>
          </p:cNvSpPr>
          <p:nvPr/>
        </p:nvSpPr>
        <p:spPr bwMode="auto">
          <a:xfrm>
            <a:off x="1524000" y="838200"/>
            <a:ext cx="6172200" cy="215900"/>
          </a:xfrm>
          <a:prstGeom prst="rect">
            <a:avLst/>
          </a:prstGeom>
          <a:noFill/>
          <a:ln w="9525">
            <a:noFill/>
            <a:miter lim="800000"/>
            <a:headEnd/>
            <a:tailEnd/>
          </a:ln>
        </p:spPr>
        <p:txBody>
          <a:bodyPr lIns="0" tIns="0" rIns="0" bIns="0">
            <a:spAutoFit/>
          </a:bodyPr>
          <a:lstStyle/>
          <a:p>
            <a:pPr marL="1588" indent="-1588"/>
            <a:r>
              <a:rPr lang="en-US" sz="1400" b="1">
                <a:solidFill>
                  <a:srgbClr val="000000"/>
                </a:solidFill>
                <a:latin typeface="Myriad Roman"/>
              </a:rPr>
              <a:t>(b) Another Possible Outcome: Price Rises, Quantity Falls</a:t>
            </a:r>
            <a:endParaRPr lang="en-US" sz="1400" b="1"/>
          </a:p>
        </p:txBody>
      </p:sp>
      <p:sp>
        <p:nvSpPr>
          <p:cNvPr id="614600" name="Oval 200"/>
          <p:cNvSpPr>
            <a:spLocks noChangeArrowheads="1"/>
          </p:cNvSpPr>
          <p:nvPr/>
        </p:nvSpPr>
        <p:spPr bwMode="auto">
          <a:xfrm>
            <a:off x="4232275" y="4237038"/>
            <a:ext cx="127000" cy="125412"/>
          </a:xfrm>
          <a:prstGeom prst="ellipse">
            <a:avLst/>
          </a:prstGeom>
          <a:solidFill>
            <a:srgbClr val="000000"/>
          </a:solidFill>
          <a:ln w="9525">
            <a:noFill/>
            <a:round/>
            <a:headEnd/>
            <a:tailEnd/>
          </a:ln>
        </p:spPr>
        <p:txBody>
          <a:bodyPr/>
          <a:lstStyle/>
          <a:p>
            <a:endParaRPr lang="en-US"/>
          </a:p>
        </p:txBody>
      </p:sp>
      <p:sp>
        <p:nvSpPr>
          <p:cNvPr id="614601" name="Line 201"/>
          <p:cNvSpPr>
            <a:spLocks noChangeShapeType="1"/>
          </p:cNvSpPr>
          <p:nvPr/>
        </p:nvSpPr>
        <p:spPr bwMode="auto">
          <a:xfrm flipH="1" flipV="1">
            <a:off x="2784475" y="2044700"/>
            <a:ext cx="2819400" cy="3063875"/>
          </a:xfrm>
          <a:prstGeom prst="line">
            <a:avLst/>
          </a:prstGeom>
          <a:noFill/>
          <a:ln w="49213">
            <a:solidFill>
              <a:srgbClr val="3C5DAA"/>
            </a:solidFill>
            <a:miter lim="800000"/>
            <a:headEnd/>
            <a:tailEnd/>
          </a:ln>
        </p:spPr>
        <p:txBody>
          <a:bodyPr/>
          <a:lstStyle/>
          <a:p>
            <a:endParaRPr lang="en-US"/>
          </a:p>
        </p:txBody>
      </p:sp>
      <p:sp>
        <p:nvSpPr>
          <p:cNvPr id="614602" name="Oval 202"/>
          <p:cNvSpPr>
            <a:spLocks noChangeArrowheads="1"/>
          </p:cNvSpPr>
          <p:nvPr/>
        </p:nvSpPr>
        <p:spPr bwMode="auto">
          <a:xfrm>
            <a:off x="3835400" y="3197225"/>
            <a:ext cx="128588" cy="125413"/>
          </a:xfrm>
          <a:prstGeom prst="ellipse">
            <a:avLst/>
          </a:prstGeom>
          <a:solidFill>
            <a:srgbClr val="000000"/>
          </a:solidFill>
          <a:ln w="9525">
            <a:noFill/>
            <a:round/>
            <a:headEnd/>
            <a:tailEnd/>
          </a:ln>
        </p:spPr>
        <p:txBody>
          <a:bodyPr/>
          <a:lstStyle/>
          <a:p>
            <a:endParaRPr lang="en-US"/>
          </a:p>
        </p:txBody>
      </p:sp>
      <p:sp>
        <p:nvSpPr>
          <p:cNvPr id="614603" name="Line 203"/>
          <p:cNvSpPr>
            <a:spLocks noChangeShapeType="1"/>
          </p:cNvSpPr>
          <p:nvPr/>
        </p:nvSpPr>
        <p:spPr bwMode="auto">
          <a:xfrm flipV="1">
            <a:off x="1624013" y="3516313"/>
            <a:ext cx="0" cy="639762"/>
          </a:xfrm>
          <a:prstGeom prst="line">
            <a:avLst/>
          </a:prstGeom>
          <a:noFill/>
          <a:ln w="19050">
            <a:solidFill>
              <a:srgbClr val="000000"/>
            </a:solidFill>
            <a:miter lim="800000"/>
            <a:headEnd/>
            <a:tailEnd/>
          </a:ln>
        </p:spPr>
        <p:txBody>
          <a:bodyPr/>
          <a:lstStyle/>
          <a:p>
            <a:endParaRPr lang="en-US"/>
          </a:p>
        </p:txBody>
      </p:sp>
      <p:sp>
        <p:nvSpPr>
          <p:cNvPr id="614604" name="Freeform 204"/>
          <p:cNvSpPr>
            <a:spLocks/>
          </p:cNvSpPr>
          <p:nvPr/>
        </p:nvSpPr>
        <p:spPr bwMode="auto">
          <a:xfrm>
            <a:off x="1579563" y="3429000"/>
            <a:ext cx="90487" cy="125413"/>
          </a:xfrm>
          <a:custGeom>
            <a:avLst/>
            <a:gdLst>
              <a:gd name="T0" fmla="*/ 2147483647 w 14"/>
              <a:gd name="T1" fmla="*/ 2147483647 h 20"/>
              <a:gd name="T2" fmla="*/ 2147483647 w 14"/>
              <a:gd name="T3" fmla="*/ 2147483647 h 20"/>
              <a:gd name="T4" fmla="*/ 0 w 14"/>
              <a:gd name="T5" fmla="*/ 2147483647 h 20"/>
              <a:gd name="T6" fmla="*/ 2147483647 w 14"/>
              <a:gd name="T7" fmla="*/ 2147483647 h 20"/>
              <a:gd name="T8" fmla="*/ 2147483647 w 14"/>
              <a:gd name="T9" fmla="*/ 0 h 20"/>
              <a:gd name="T10" fmla="*/ 2147483647 w 14"/>
              <a:gd name="T11" fmla="*/ 2147483647 h 20"/>
              <a:gd name="T12" fmla="*/ 2147483647 w 14"/>
              <a:gd name="T13" fmla="*/ 2147483647 h 20"/>
              <a:gd name="T14" fmla="*/ 2147483647 w 14"/>
              <a:gd name="T15" fmla="*/ 2147483647 h 20"/>
              <a:gd name="T16" fmla="*/ 2147483647 w 14"/>
              <a:gd name="T17" fmla="*/ 2147483647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20"/>
              <a:gd name="T29" fmla="*/ 14 w 14"/>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20">
                <a:moveTo>
                  <a:pt x="7" y="16"/>
                </a:moveTo>
                <a:cubicBezTo>
                  <a:pt x="1" y="20"/>
                  <a:pt x="1" y="20"/>
                  <a:pt x="1" y="20"/>
                </a:cubicBezTo>
                <a:cubicBezTo>
                  <a:pt x="0" y="19"/>
                  <a:pt x="0" y="19"/>
                  <a:pt x="0" y="19"/>
                </a:cubicBezTo>
                <a:cubicBezTo>
                  <a:pt x="5" y="10"/>
                  <a:pt x="5" y="10"/>
                  <a:pt x="5" y="10"/>
                </a:cubicBezTo>
                <a:cubicBezTo>
                  <a:pt x="5" y="7"/>
                  <a:pt x="6" y="3"/>
                  <a:pt x="7" y="0"/>
                </a:cubicBezTo>
                <a:cubicBezTo>
                  <a:pt x="8" y="3"/>
                  <a:pt x="9" y="7"/>
                  <a:pt x="9" y="10"/>
                </a:cubicBezTo>
                <a:cubicBezTo>
                  <a:pt x="14" y="19"/>
                  <a:pt x="14" y="19"/>
                  <a:pt x="14" y="19"/>
                </a:cubicBezTo>
                <a:cubicBezTo>
                  <a:pt x="14" y="20"/>
                  <a:pt x="14" y="20"/>
                  <a:pt x="14" y="20"/>
                </a:cubicBezTo>
                <a:lnTo>
                  <a:pt x="7" y="16"/>
                </a:lnTo>
                <a:close/>
              </a:path>
            </a:pathLst>
          </a:custGeom>
          <a:solidFill>
            <a:srgbClr val="000000"/>
          </a:solidFill>
          <a:ln w="9525">
            <a:noFill/>
            <a:round/>
            <a:headEnd/>
            <a:tailEnd/>
          </a:ln>
        </p:spPr>
        <p:txBody>
          <a:bodyPr/>
          <a:lstStyle/>
          <a:p>
            <a:endParaRPr lang="en-US"/>
          </a:p>
        </p:txBody>
      </p:sp>
      <p:sp>
        <p:nvSpPr>
          <p:cNvPr id="614605" name="Line 205"/>
          <p:cNvSpPr>
            <a:spLocks noChangeShapeType="1"/>
          </p:cNvSpPr>
          <p:nvPr/>
        </p:nvSpPr>
        <p:spPr bwMode="auto">
          <a:xfrm flipH="1">
            <a:off x="4040188" y="6218238"/>
            <a:ext cx="211137" cy="0"/>
          </a:xfrm>
          <a:prstGeom prst="line">
            <a:avLst/>
          </a:prstGeom>
          <a:noFill/>
          <a:ln w="19050">
            <a:solidFill>
              <a:srgbClr val="000000"/>
            </a:solidFill>
            <a:miter lim="800000"/>
            <a:headEnd/>
            <a:tailEnd/>
          </a:ln>
        </p:spPr>
        <p:txBody>
          <a:bodyPr/>
          <a:lstStyle/>
          <a:p>
            <a:endParaRPr lang="en-US"/>
          </a:p>
        </p:txBody>
      </p:sp>
      <p:sp>
        <p:nvSpPr>
          <p:cNvPr id="614606" name="Freeform 206"/>
          <p:cNvSpPr>
            <a:spLocks/>
          </p:cNvSpPr>
          <p:nvPr/>
        </p:nvSpPr>
        <p:spPr bwMode="auto">
          <a:xfrm>
            <a:off x="3981450" y="6173788"/>
            <a:ext cx="141288" cy="87312"/>
          </a:xfrm>
          <a:custGeom>
            <a:avLst/>
            <a:gdLst>
              <a:gd name="T0" fmla="*/ 2147483647 w 22"/>
              <a:gd name="T1" fmla="*/ 2147483647 h 14"/>
              <a:gd name="T2" fmla="*/ 2147483647 w 22"/>
              <a:gd name="T3" fmla="*/ 2147483647 h 14"/>
              <a:gd name="T4" fmla="*/ 2147483647 w 22"/>
              <a:gd name="T5" fmla="*/ 2147483647 h 14"/>
              <a:gd name="T6" fmla="*/ 2147483647 w 22"/>
              <a:gd name="T7" fmla="*/ 2147483647 h 14"/>
              <a:gd name="T8" fmla="*/ 0 w 22"/>
              <a:gd name="T9" fmla="*/ 2147483647 h 14"/>
              <a:gd name="T10" fmla="*/ 2147483647 w 22"/>
              <a:gd name="T11" fmla="*/ 2147483647 h 14"/>
              <a:gd name="T12" fmla="*/ 2147483647 w 22"/>
              <a:gd name="T13" fmla="*/ 0 h 14"/>
              <a:gd name="T14" fmla="*/ 2147483647 w 22"/>
              <a:gd name="T15" fmla="*/ 2147483647 h 14"/>
              <a:gd name="T16" fmla="*/ 2147483647 w 22"/>
              <a:gd name="T17" fmla="*/ 2147483647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4"/>
              <a:gd name="T29" fmla="*/ 22 w 22"/>
              <a:gd name="T30" fmla="*/ 14 h 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4">
                <a:moveTo>
                  <a:pt x="18" y="7"/>
                </a:moveTo>
                <a:cubicBezTo>
                  <a:pt x="22" y="14"/>
                  <a:pt x="22" y="14"/>
                  <a:pt x="22" y="14"/>
                </a:cubicBezTo>
                <a:cubicBezTo>
                  <a:pt x="22" y="14"/>
                  <a:pt x="22" y="14"/>
                  <a:pt x="22" y="14"/>
                </a:cubicBezTo>
                <a:cubicBezTo>
                  <a:pt x="12" y="10"/>
                  <a:pt x="12" y="10"/>
                  <a:pt x="12" y="10"/>
                </a:cubicBezTo>
                <a:cubicBezTo>
                  <a:pt x="8" y="9"/>
                  <a:pt x="4" y="8"/>
                  <a:pt x="0" y="7"/>
                </a:cubicBezTo>
                <a:cubicBezTo>
                  <a:pt x="4" y="6"/>
                  <a:pt x="8" y="5"/>
                  <a:pt x="12" y="5"/>
                </a:cubicBezTo>
                <a:cubicBezTo>
                  <a:pt x="22" y="0"/>
                  <a:pt x="22" y="0"/>
                  <a:pt x="22" y="0"/>
                </a:cubicBezTo>
                <a:cubicBezTo>
                  <a:pt x="22" y="1"/>
                  <a:pt x="22" y="1"/>
                  <a:pt x="22" y="1"/>
                </a:cubicBezTo>
                <a:lnTo>
                  <a:pt x="18" y="7"/>
                </a:lnTo>
                <a:close/>
              </a:path>
            </a:pathLst>
          </a:custGeom>
          <a:solidFill>
            <a:srgbClr val="000000"/>
          </a:solidFill>
          <a:ln w="9525">
            <a:noFill/>
            <a:round/>
            <a:headEnd/>
            <a:tailEnd/>
          </a:ln>
        </p:spPr>
        <p:txBody>
          <a:bodyPr/>
          <a:lstStyle/>
          <a:p>
            <a:endParaRPr lang="en-US"/>
          </a:p>
        </p:txBody>
      </p:sp>
      <p:sp>
        <p:nvSpPr>
          <p:cNvPr id="614607" name="Line 207"/>
          <p:cNvSpPr>
            <a:spLocks noChangeShapeType="1"/>
          </p:cNvSpPr>
          <p:nvPr/>
        </p:nvSpPr>
        <p:spPr bwMode="auto">
          <a:xfrm flipV="1">
            <a:off x="5006975" y="4354513"/>
            <a:ext cx="369888" cy="420687"/>
          </a:xfrm>
          <a:prstGeom prst="line">
            <a:avLst/>
          </a:prstGeom>
          <a:noFill/>
          <a:ln w="12700">
            <a:solidFill>
              <a:srgbClr val="000000"/>
            </a:solidFill>
            <a:miter lim="800000"/>
            <a:headEnd/>
            <a:tailEnd/>
          </a:ln>
        </p:spPr>
        <p:txBody>
          <a:bodyPr/>
          <a:lstStyle/>
          <a:p>
            <a:endParaRPr lang="en-US"/>
          </a:p>
        </p:txBody>
      </p:sp>
      <p:sp>
        <p:nvSpPr>
          <p:cNvPr id="614608" name="Freeform 208"/>
          <p:cNvSpPr>
            <a:spLocks/>
          </p:cNvSpPr>
          <p:nvPr/>
        </p:nvSpPr>
        <p:spPr bwMode="auto">
          <a:xfrm>
            <a:off x="5376863" y="3763963"/>
            <a:ext cx="1577975" cy="800100"/>
          </a:xfrm>
          <a:custGeom>
            <a:avLst/>
            <a:gdLst>
              <a:gd name="T0" fmla="*/ 2147483647 w 174"/>
              <a:gd name="T1" fmla="*/ 2147483647 h 133"/>
              <a:gd name="T2" fmla="*/ 2147483647 w 174"/>
              <a:gd name="T3" fmla="*/ 2147483647 h 133"/>
              <a:gd name="T4" fmla="*/ 2147483647 w 174"/>
              <a:gd name="T5" fmla="*/ 2147483647 h 133"/>
              <a:gd name="T6" fmla="*/ 0 w 174"/>
              <a:gd name="T7" fmla="*/ 2147483647 h 133"/>
              <a:gd name="T8" fmla="*/ 0 w 174"/>
              <a:gd name="T9" fmla="*/ 2147483647 h 133"/>
              <a:gd name="T10" fmla="*/ 2147483647 w 174"/>
              <a:gd name="T11" fmla="*/ 0 h 133"/>
              <a:gd name="T12" fmla="*/ 2147483647 w 174"/>
              <a:gd name="T13" fmla="*/ 0 h 133"/>
              <a:gd name="T14" fmla="*/ 2147483647 w 174"/>
              <a:gd name="T15" fmla="*/ 2147483647 h 133"/>
              <a:gd name="T16" fmla="*/ 2147483647 w 174"/>
              <a:gd name="T17" fmla="*/ 2147483647 h 1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4"/>
              <a:gd name="T28" fmla="*/ 0 h 133"/>
              <a:gd name="T29" fmla="*/ 174 w 174"/>
              <a:gd name="T30" fmla="*/ 133 h 1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4" h="133">
                <a:moveTo>
                  <a:pt x="174" y="117"/>
                </a:moveTo>
                <a:cubicBezTo>
                  <a:pt x="174" y="126"/>
                  <a:pt x="167" y="133"/>
                  <a:pt x="158" y="133"/>
                </a:cubicBezTo>
                <a:cubicBezTo>
                  <a:pt x="16" y="133"/>
                  <a:pt x="16" y="133"/>
                  <a:pt x="16" y="133"/>
                </a:cubicBezTo>
                <a:cubicBezTo>
                  <a:pt x="7" y="133"/>
                  <a:pt x="0" y="126"/>
                  <a:pt x="0" y="117"/>
                </a:cubicBezTo>
                <a:cubicBezTo>
                  <a:pt x="0" y="16"/>
                  <a:pt x="0" y="16"/>
                  <a:pt x="0" y="16"/>
                </a:cubicBezTo>
                <a:cubicBezTo>
                  <a:pt x="0" y="7"/>
                  <a:pt x="7" y="0"/>
                  <a:pt x="16" y="0"/>
                </a:cubicBezTo>
                <a:cubicBezTo>
                  <a:pt x="158" y="0"/>
                  <a:pt x="158" y="0"/>
                  <a:pt x="158" y="0"/>
                </a:cubicBezTo>
                <a:cubicBezTo>
                  <a:pt x="167" y="0"/>
                  <a:pt x="174" y="7"/>
                  <a:pt x="174" y="16"/>
                </a:cubicBezTo>
                <a:lnTo>
                  <a:pt x="174" y="117"/>
                </a:lnTo>
                <a:close/>
              </a:path>
            </a:pathLst>
          </a:custGeom>
          <a:solidFill>
            <a:srgbClr val="D6E2E0"/>
          </a:solidFill>
          <a:ln w="9525">
            <a:noFill/>
            <a:round/>
            <a:headEnd/>
            <a:tailEnd/>
          </a:ln>
        </p:spPr>
        <p:txBody>
          <a:bodyPr/>
          <a:lstStyle/>
          <a:p>
            <a:endParaRPr lang="en-US"/>
          </a:p>
        </p:txBody>
      </p:sp>
      <p:sp>
        <p:nvSpPr>
          <p:cNvPr id="548930" name="TextBox 29"/>
          <p:cNvSpPr txBox="1">
            <a:spLocks noChangeArrowheads="1"/>
          </p:cNvSpPr>
          <p:nvPr/>
        </p:nvSpPr>
        <p:spPr bwMode="auto">
          <a:xfrm>
            <a:off x="838200" y="1066800"/>
            <a:ext cx="1676400" cy="307975"/>
          </a:xfrm>
          <a:prstGeom prst="rect">
            <a:avLst/>
          </a:prstGeom>
          <a:noFill/>
          <a:ln w="9525">
            <a:noFill/>
            <a:miter lim="800000"/>
            <a:headEnd/>
            <a:tailEnd/>
          </a:ln>
        </p:spPr>
        <p:txBody>
          <a:bodyPr>
            <a:spAutoFit/>
          </a:bodyPr>
          <a:lstStyle/>
          <a:p>
            <a:pPr algn="ctr"/>
            <a:r>
              <a:rPr lang="en-US" sz="1400" b="1"/>
              <a:t>Price of cotton</a:t>
            </a:r>
          </a:p>
        </p:txBody>
      </p:sp>
      <p:sp>
        <p:nvSpPr>
          <p:cNvPr id="548931" name="TextBox 30"/>
          <p:cNvSpPr txBox="1">
            <a:spLocks noChangeArrowheads="1"/>
          </p:cNvSpPr>
          <p:nvPr/>
        </p:nvSpPr>
        <p:spPr bwMode="auto">
          <a:xfrm>
            <a:off x="4876800" y="6096000"/>
            <a:ext cx="2078038" cy="307975"/>
          </a:xfrm>
          <a:prstGeom prst="rect">
            <a:avLst/>
          </a:prstGeom>
          <a:noFill/>
          <a:ln w="9525">
            <a:noFill/>
            <a:miter lim="800000"/>
            <a:headEnd/>
            <a:tailEnd/>
          </a:ln>
        </p:spPr>
        <p:txBody>
          <a:bodyPr>
            <a:spAutoFit/>
          </a:bodyPr>
          <a:lstStyle/>
          <a:p>
            <a:pPr algn="ctr"/>
            <a:r>
              <a:rPr lang="en-US" sz="1400" b="1"/>
              <a:t>Quantity of cotton</a:t>
            </a:r>
          </a:p>
        </p:txBody>
      </p:sp>
      <p:sp>
        <p:nvSpPr>
          <p:cNvPr id="614611" name="Freeform 211"/>
          <p:cNvSpPr>
            <a:spLocks/>
          </p:cNvSpPr>
          <p:nvPr/>
        </p:nvSpPr>
        <p:spPr bwMode="auto">
          <a:xfrm>
            <a:off x="3181350" y="1254125"/>
            <a:ext cx="1274763" cy="903288"/>
          </a:xfrm>
          <a:custGeom>
            <a:avLst/>
            <a:gdLst>
              <a:gd name="T0" fmla="*/ 2147483647 w 227"/>
              <a:gd name="T1" fmla="*/ 2147483647 h 96"/>
              <a:gd name="T2" fmla="*/ 2147483647 w 227"/>
              <a:gd name="T3" fmla="*/ 2147483647 h 96"/>
              <a:gd name="T4" fmla="*/ 2147483647 w 227"/>
              <a:gd name="T5" fmla="*/ 2147483647 h 96"/>
              <a:gd name="T6" fmla="*/ 0 w 227"/>
              <a:gd name="T7" fmla="*/ 2147483647 h 96"/>
              <a:gd name="T8" fmla="*/ 0 w 227"/>
              <a:gd name="T9" fmla="*/ 2147483647 h 96"/>
              <a:gd name="T10" fmla="*/ 2147483647 w 227"/>
              <a:gd name="T11" fmla="*/ 0 h 96"/>
              <a:gd name="T12" fmla="*/ 2147483647 w 227"/>
              <a:gd name="T13" fmla="*/ 0 h 96"/>
              <a:gd name="T14" fmla="*/ 2147483647 w 227"/>
              <a:gd name="T15" fmla="*/ 2147483647 h 96"/>
              <a:gd name="T16" fmla="*/ 2147483647 w 227"/>
              <a:gd name="T17" fmla="*/ 2147483647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7"/>
              <a:gd name="T28" fmla="*/ 0 h 96"/>
              <a:gd name="T29" fmla="*/ 227 w 227"/>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7" h="96">
                <a:moveTo>
                  <a:pt x="227" y="80"/>
                </a:moveTo>
                <a:cubicBezTo>
                  <a:pt x="227" y="89"/>
                  <a:pt x="219" y="96"/>
                  <a:pt x="211" y="96"/>
                </a:cubicBezTo>
                <a:cubicBezTo>
                  <a:pt x="16" y="96"/>
                  <a:pt x="16" y="96"/>
                  <a:pt x="16" y="96"/>
                </a:cubicBezTo>
                <a:cubicBezTo>
                  <a:pt x="7" y="96"/>
                  <a:pt x="0" y="89"/>
                  <a:pt x="0" y="80"/>
                </a:cubicBezTo>
                <a:cubicBezTo>
                  <a:pt x="0" y="16"/>
                  <a:pt x="0" y="16"/>
                  <a:pt x="0" y="16"/>
                </a:cubicBezTo>
                <a:cubicBezTo>
                  <a:pt x="0" y="8"/>
                  <a:pt x="7" y="0"/>
                  <a:pt x="16" y="0"/>
                </a:cubicBezTo>
                <a:cubicBezTo>
                  <a:pt x="211" y="0"/>
                  <a:pt x="211" y="0"/>
                  <a:pt x="211" y="0"/>
                </a:cubicBezTo>
                <a:cubicBezTo>
                  <a:pt x="219" y="0"/>
                  <a:pt x="227" y="8"/>
                  <a:pt x="227" y="16"/>
                </a:cubicBezTo>
                <a:lnTo>
                  <a:pt x="227" y="80"/>
                </a:lnTo>
                <a:close/>
              </a:path>
            </a:pathLst>
          </a:custGeom>
          <a:solidFill>
            <a:srgbClr val="D6E2E0"/>
          </a:solidFill>
          <a:ln w="9525">
            <a:noFill/>
            <a:round/>
            <a:headEnd/>
            <a:tailEnd/>
          </a:ln>
        </p:spPr>
        <p:txBody>
          <a:bodyPr/>
          <a:lstStyle/>
          <a:p>
            <a:endParaRPr lang="en-US"/>
          </a:p>
        </p:txBody>
      </p:sp>
      <p:sp>
        <p:nvSpPr>
          <p:cNvPr id="2" name="TextBox 29"/>
          <p:cNvSpPr txBox="1">
            <a:spLocks noChangeArrowheads="1"/>
          </p:cNvSpPr>
          <p:nvPr/>
        </p:nvSpPr>
        <p:spPr bwMode="auto">
          <a:xfrm>
            <a:off x="3159125" y="1233488"/>
            <a:ext cx="1301750" cy="923925"/>
          </a:xfrm>
          <a:prstGeom prst="rect">
            <a:avLst/>
          </a:prstGeom>
          <a:noFill/>
          <a:ln w="9525">
            <a:noFill/>
            <a:miter lim="800000"/>
            <a:headEnd/>
            <a:tailEnd/>
          </a:ln>
        </p:spPr>
        <p:txBody>
          <a:bodyPr>
            <a:spAutoFit/>
          </a:bodyPr>
          <a:lstStyle/>
          <a:p>
            <a:pPr algn="ctr"/>
            <a:r>
              <a:rPr lang="en-US" i="1"/>
              <a:t>Large decrease in supply</a:t>
            </a:r>
          </a:p>
        </p:txBody>
      </p:sp>
      <p:sp>
        <p:nvSpPr>
          <p:cNvPr id="3" name="TextBox 29"/>
          <p:cNvSpPr txBox="1">
            <a:spLocks noChangeArrowheads="1"/>
          </p:cNvSpPr>
          <p:nvPr/>
        </p:nvSpPr>
        <p:spPr bwMode="auto">
          <a:xfrm>
            <a:off x="5359400" y="3840163"/>
            <a:ext cx="1670050" cy="646112"/>
          </a:xfrm>
          <a:prstGeom prst="rect">
            <a:avLst/>
          </a:prstGeom>
          <a:noFill/>
          <a:ln w="9525">
            <a:noFill/>
            <a:miter lim="800000"/>
            <a:headEnd/>
            <a:tailEnd/>
          </a:ln>
        </p:spPr>
        <p:txBody>
          <a:bodyPr>
            <a:spAutoFit/>
          </a:bodyPr>
          <a:lstStyle/>
          <a:p>
            <a:pPr algn="ctr"/>
            <a:r>
              <a:rPr lang="en-US" i="1"/>
              <a:t>Small increase in demand</a:t>
            </a:r>
          </a:p>
        </p:txBody>
      </p:sp>
      <p:sp>
        <p:nvSpPr>
          <p:cNvPr id="53" name="Text Box 115"/>
          <p:cNvSpPr txBox="1">
            <a:spLocks noChangeArrowheads="1"/>
          </p:cNvSpPr>
          <p:nvPr/>
        </p:nvSpPr>
        <p:spPr bwMode="auto">
          <a:xfrm>
            <a:off x="6300788" y="2492375"/>
            <a:ext cx="2667000" cy="923925"/>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spcBef>
                <a:spcPct val="20000"/>
              </a:spcBef>
              <a:defRPr/>
            </a:pPr>
            <a:r>
              <a:rPr lang="en-US" dirty="0"/>
              <a:t>The decrease in supply dominates the increase in demand.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515"/>
                                        </p:tgtEl>
                                        <p:attrNameLst>
                                          <p:attrName>style.visibility</p:attrName>
                                        </p:attrNameLst>
                                      </p:cBhvr>
                                      <p:to>
                                        <p:strVal val="visible"/>
                                      </p:to>
                                    </p:set>
                                    <p:animEffect transition="in" filter="wipe(left)">
                                      <p:cBhvr>
                                        <p:cTn id="7" dur="500"/>
                                        <p:tgtEl>
                                          <p:spTgt spid="614515"/>
                                        </p:tgtEl>
                                      </p:cBhvr>
                                    </p:animEffect>
                                  </p:childTnLst>
                                </p:cTn>
                              </p:par>
                              <p:par>
                                <p:cTn id="8" presetID="1" presetClass="entr" presetSubtype="0" fill="hold" grpId="0" nodeType="withEffect">
                                  <p:stCondLst>
                                    <p:cond delay="0"/>
                                  </p:stCondLst>
                                  <p:childTnLst>
                                    <p:set>
                                      <p:cBhvr>
                                        <p:cTn id="9" dur="1" fill="hold">
                                          <p:stCondLst>
                                            <p:cond delay="0"/>
                                          </p:stCondLst>
                                        </p:cTn>
                                        <p:tgtEl>
                                          <p:spTgt spid="61459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54893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61457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1457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14587"/>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1458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61460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1459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61458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61458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1457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614592"/>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14570"/>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548931"/>
                                        </p:tgtEl>
                                        <p:attrNameLst>
                                          <p:attrName>style.visibility</p:attrName>
                                        </p:attrNameLst>
                                      </p:cBhvr>
                                      <p:to>
                                        <p:strVal val="visible"/>
                                      </p:to>
                                    </p:set>
                                  </p:childTnLst>
                                </p:cTn>
                              </p:par>
                              <p:par>
                                <p:cTn id="36" presetID="22" presetClass="entr" presetSubtype="4" fill="hold" nodeType="withEffect">
                                  <p:stCondLst>
                                    <p:cond delay="0"/>
                                  </p:stCondLst>
                                  <p:childTnLst>
                                    <p:set>
                                      <p:cBhvr>
                                        <p:cTn id="37" dur="1" fill="hold">
                                          <p:stCondLst>
                                            <p:cond delay="0"/>
                                          </p:stCondLst>
                                        </p:cTn>
                                        <p:tgtEl>
                                          <p:spTgt spid="614568"/>
                                        </p:tgtEl>
                                        <p:attrNameLst>
                                          <p:attrName>style.visibility</p:attrName>
                                        </p:attrNameLst>
                                      </p:cBhvr>
                                      <p:to>
                                        <p:strVal val="visible"/>
                                      </p:to>
                                    </p:set>
                                    <p:animEffect transition="in" filter="wipe(down)">
                                      <p:cBhvr>
                                        <p:cTn id="38" dur="500"/>
                                        <p:tgtEl>
                                          <p:spTgt spid="614568"/>
                                        </p:tgtEl>
                                      </p:cBhvr>
                                    </p:animEffect>
                                  </p:childTnLst>
                                </p:cTn>
                              </p:par>
                              <p:par>
                                <p:cTn id="39" presetID="1" presetClass="entr" presetSubtype="0" fill="hold" nodeType="withEffect">
                                  <p:stCondLst>
                                    <p:cond delay="0"/>
                                  </p:stCondLst>
                                  <p:childTnLst>
                                    <p:set>
                                      <p:cBhvr>
                                        <p:cTn id="40" dur="1" fill="hold">
                                          <p:stCondLst>
                                            <p:cond delay="0"/>
                                          </p:stCondLst>
                                        </p:cTn>
                                        <p:tgtEl>
                                          <p:spTgt spid="61456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1458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1458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1459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1459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459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
                                        </p:tgtEl>
                                        <p:attrNameLst>
                                          <p:attrName>style.visibility</p:attrName>
                                        </p:attrNameLst>
                                      </p:cBhvr>
                                      <p:to>
                                        <p:strVal val="visible"/>
                                      </p:to>
                                    </p:set>
                                  </p:childTnLst>
                                </p:cTn>
                              </p:par>
                              <p:par>
                                <p:cTn id="55" presetID="22" presetClass="entr" presetSubtype="8" fill="hold" grpId="0" nodeType="withEffect">
                                  <p:stCondLst>
                                    <p:cond delay="0"/>
                                  </p:stCondLst>
                                  <p:childTnLst>
                                    <p:set>
                                      <p:cBhvr>
                                        <p:cTn id="56" dur="1" fill="hold">
                                          <p:stCondLst>
                                            <p:cond delay="0"/>
                                          </p:stCondLst>
                                        </p:cTn>
                                        <p:tgtEl>
                                          <p:spTgt spid="614594"/>
                                        </p:tgtEl>
                                        <p:attrNameLst>
                                          <p:attrName>style.visibility</p:attrName>
                                        </p:attrNameLst>
                                      </p:cBhvr>
                                      <p:to>
                                        <p:strVal val="visible"/>
                                      </p:to>
                                    </p:set>
                                    <p:animEffect transition="in" filter="wipe(left)">
                                      <p:cBhvr>
                                        <p:cTn id="57" dur="500"/>
                                        <p:tgtEl>
                                          <p:spTgt spid="614594"/>
                                        </p:tgtEl>
                                      </p:cBhvr>
                                    </p:animEffect>
                                  </p:childTnLst>
                                </p:cTn>
                              </p:par>
                              <p:par>
                                <p:cTn id="58" presetID="1" presetClass="entr" presetSubtype="0" fill="hold" grpId="0" nodeType="withEffect">
                                  <p:stCondLst>
                                    <p:cond delay="0"/>
                                  </p:stCondLst>
                                  <p:childTnLst>
                                    <p:set>
                                      <p:cBhvr>
                                        <p:cTn id="59" dur="1" fill="hold">
                                          <p:stCondLst>
                                            <p:cond delay="0"/>
                                          </p:stCondLst>
                                        </p:cTn>
                                        <p:tgtEl>
                                          <p:spTgt spid="614611"/>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614579"/>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614578"/>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61459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614608"/>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614590"/>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614591"/>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614607"/>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614601"/>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614580"/>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614581"/>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614602"/>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614589"/>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614588"/>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61460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614603"/>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614575"/>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614574"/>
                                        </p:tgtEl>
                                        <p:attrNameLst>
                                          <p:attrName>style.visibility</p:attrName>
                                        </p:attrNameLst>
                                      </p:cBhvr>
                                      <p:to>
                                        <p:strVal val="visible"/>
                                      </p:to>
                                    </p:set>
                                  </p:childTnLst>
                                </p:cTn>
                              </p:par>
                              <p:par>
                                <p:cTn id="100" presetID="1" presetClass="entr" presetSubtype="0" fill="hold" grpId="1" nodeType="withEffect">
                                  <p:stCondLst>
                                    <p:cond delay="0"/>
                                  </p:stCondLst>
                                  <p:childTnLst>
                                    <p:set>
                                      <p:cBhvr>
                                        <p:cTn id="101" dur="1" fill="hold">
                                          <p:stCondLst>
                                            <p:cond delay="0"/>
                                          </p:stCondLst>
                                        </p:cTn>
                                        <p:tgtEl>
                                          <p:spTgt spid="614571"/>
                                        </p:tgtEl>
                                        <p:attrNameLst>
                                          <p:attrName>style.visibility</p:attrName>
                                        </p:attrNameLst>
                                      </p:cBhvr>
                                      <p:to>
                                        <p:strVal val="visible"/>
                                      </p:to>
                                    </p:set>
                                  </p:childTnLst>
                                </p:cTn>
                              </p:par>
                              <p:par>
                                <p:cTn id="102" presetID="1" presetClass="entr" presetSubtype="0" fill="hold" grpId="1" nodeType="withEffect">
                                  <p:stCondLst>
                                    <p:cond delay="0"/>
                                  </p:stCondLst>
                                  <p:childTnLst>
                                    <p:set>
                                      <p:cBhvr>
                                        <p:cTn id="103" dur="1" fill="hold">
                                          <p:stCondLst>
                                            <p:cond delay="0"/>
                                          </p:stCondLst>
                                        </p:cTn>
                                        <p:tgtEl>
                                          <p:spTgt spid="614592"/>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614572"/>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614573"/>
                                        </p:tgtEl>
                                        <p:attrNameLst>
                                          <p:attrName>style.visibility</p:attrName>
                                        </p:attrNameLst>
                                      </p:cBhvr>
                                      <p:to>
                                        <p:strVal val="visible"/>
                                      </p:to>
                                    </p:set>
                                  </p:childTnLst>
                                </p:cTn>
                              </p:par>
                              <p:par>
                                <p:cTn id="108" presetID="22" presetClass="entr" presetSubtype="8" fill="hold" nodeType="withEffect">
                                  <p:stCondLst>
                                    <p:cond delay="0"/>
                                  </p:stCondLst>
                                  <p:childTnLst>
                                    <p:set>
                                      <p:cBhvr>
                                        <p:cTn id="109" dur="1" fill="hold">
                                          <p:stCondLst>
                                            <p:cond delay="0"/>
                                          </p:stCondLst>
                                        </p:cTn>
                                        <p:tgtEl>
                                          <p:spTgt spid="614567"/>
                                        </p:tgtEl>
                                        <p:attrNameLst>
                                          <p:attrName>style.visibility</p:attrName>
                                        </p:attrNameLst>
                                      </p:cBhvr>
                                      <p:to>
                                        <p:strVal val="visible"/>
                                      </p:to>
                                    </p:set>
                                    <p:animEffect transition="in" filter="wipe(left)">
                                      <p:cBhvr>
                                        <p:cTn id="110" dur="500"/>
                                        <p:tgtEl>
                                          <p:spTgt spid="614567"/>
                                        </p:tgtEl>
                                      </p:cBhvr>
                                    </p:animEffect>
                                  </p:childTnLst>
                                </p:cTn>
                              </p:par>
                              <p:par>
                                <p:cTn id="111" presetID="1" presetClass="entr" presetSubtype="0" fill="hold" nodeType="withEffect">
                                  <p:stCondLst>
                                    <p:cond delay="0"/>
                                  </p:stCondLst>
                                  <p:childTnLst>
                                    <p:set>
                                      <p:cBhvr>
                                        <p:cTn id="112" dur="1" fill="hold">
                                          <p:stCondLst>
                                            <p:cond delay="0"/>
                                          </p:stCondLst>
                                        </p:cTn>
                                        <p:tgtEl>
                                          <p:spTgt spid="61456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61460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614606"/>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53"/>
                                        </p:tgtEl>
                                        <p:attrNameLst>
                                          <p:attrName>style.visibility</p:attrName>
                                        </p:attrNameLst>
                                      </p:cBhvr>
                                      <p:to>
                                        <p:strVal val="visible"/>
                                      </p:to>
                                    </p:set>
                                    <p:animEffect transition="in" filter="wipe(left)">
                                      <p:cBhvr>
                                        <p:cTn id="121"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15" grpId="0" animBg="1"/>
      <p:bldP spid="614570" grpId="0"/>
      <p:bldP spid="614571" grpId="0"/>
      <p:bldP spid="614571" grpId="1"/>
      <p:bldP spid="614572" grpId="0"/>
      <p:bldP spid="614573" grpId="0"/>
      <p:bldP spid="614574" grpId="0"/>
      <p:bldP spid="614575" grpId="0"/>
      <p:bldP spid="614576" grpId="0"/>
      <p:bldP spid="614577" grpId="0"/>
      <p:bldP spid="614578" grpId="0"/>
      <p:bldP spid="614579" grpId="0"/>
      <p:bldP spid="614580" grpId="0"/>
      <p:bldP spid="614581" grpId="0"/>
      <p:bldP spid="614582" grpId="0"/>
      <p:bldP spid="614583" grpId="0"/>
      <p:bldP spid="614584" grpId="0"/>
      <p:bldP spid="614585" grpId="0"/>
      <p:bldP spid="614586" grpId="0"/>
      <p:bldP spid="614587" grpId="0"/>
      <p:bldP spid="614588" grpId="0"/>
      <p:bldP spid="614589" grpId="0"/>
      <p:bldP spid="614590" grpId="0" animBg="1"/>
      <p:bldP spid="614591" grpId="0" animBg="1"/>
      <p:bldP spid="614592" grpId="0" animBg="1"/>
      <p:bldP spid="614592" grpId="1" animBg="1"/>
      <p:bldP spid="614593" grpId="0" animBg="1"/>
      <p:bldP spid="614594" grpId="0" animBg="1"/>
      <p:bldP spid="614595" grpId="0" animBg="1"/>
      <p:bldP spid="614596" grpId="0" animBg="1"/>
      <p:bldP spid="614597" grpId="0" animBg="1"/>
      <p:bldP spid="614598" grpId="0" animBg="1"/>
      <p:bldP spid="614599" grpId="0"/>
      <p:bldP spid="614600" grpId="0" animBg="1"/>
      <p:bldP spid="614601" grpId="0" animBg="1"/>
      <p:bldP spid="614602" grpId="0" animBg="1"/>
      <p:bldP spid="614603" grpId="0" animBg="1"/>
      <p:bldP spid="614604" grpId="0" animBg="1"/>
      <p:bldP spid="614605" grpId="0" animBg="1"/>
      <p:bldP spid="614606" grpId="0" animBg="1"/>
      <p:bldP spid="614607" grpId="0" animBg="1"/>
      <p:bldP spid="614608" grpId="0" animBg="1"/>
      <p:bldP spid="548930" grpId="0"/>
      <p:bldP spid="548931" grpId="0"/>
      <p:bldP spid="614611" grpId="0" animBg="1"/>
      <p:bldP spid="2" grpId="0"/>
      <p:bldP spid="3" grpId="0"/>
      <p:bldP spid="5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p:cNvSpPr>
            <a:spLocks noGrp="1" noRot="1" noChangeArrowheads="1"/>
          </p:cNvSpPr>
          <p:nvPr>
            <p:ph type="title"/>
          </p:nvPr>
        </p:nvSpPr>
        <p:spPr>
          <a:xfrm>
            <a:off x="971550" y="76200"/>
            <a:ext cx="7921625" cy="609600"/>
          </a:xfrm>
        </p:spPr>
        <p:txBody>
          <a:bodyPr/>
          <a:lstStyle/>
          <a:p>
            <a:pPr>
              <a:defRPr/>
            </a:pPr>
            <a:r>
              <a:rPr lang="en-US" dirty="0"/>
              <a:t>Simultaneous Shifts of Supply and Demand</a:t>
            </a:r>
          </a:p>
        </p:txBody>
      </p:sp>
      <p:sp>
        <p:nvSpPr>
          <p:cNvPr id="98306" name="Rectangle 3"/>
          <p:cNvSpPr>
            <a:spLocks noChangeArrowheads="1"/>
          </p:cNvSpPr>
          <p:nvPr/>
        </p:nvSpPr>
        <p:spPr bwMode="auto">
          <a:xfrm>
            <a:off x="381000" y="5638800"/>
            <a:ext cx="8229600" cy="762000"/>
          </a:xfrm>
          <a:prstGeom prst="rect">
            <a:avLst/>
          </a:prstGeom>
          <a:noFill/>
          <a:ln w="9525">
            <a:noFill/>
            <a:miter lim="800000"/>
            <a:headEnd/>
            <a:tailEnd/>
          </a:ln>
        </p:spPr>
        <p:txBody>
          <a:bodyPr/>
          <a:lstStyle/>
          <a:p>
            <a:pPr marL="342900" indent="-342900">
              <a:spcBef>
                <a:spcPct val="20000"/>
              </a:spcBef>
              <a:buClr>
                <a:srgbClr val="000000"/>
              </a:buClr>
            </a:pPr>
            <a:endParaRPr lang="en-US" sz="2800"/>
          </a:p>
        </p:txBody>
      </p:sp>
      <p:sp>
        <p:nvSpPr>
          <p:cNvPr id="600068" name="Text Box 4"/>
          <p:cNvSpPr txBox="1">
            <a:spLocks noChangeArrowheads="1"/>
          </p:cNvSpPr>
          <p:nvPr/>
        </p:nvSpPr>
        <p:spPr bwMode="auto">
          <a:xfrm>
            <a:off x="831850" y="908050"/>
            <a:ext cx="8061325" cy="831850"/>
          </a:xfrm>
          <a:prstGeom prst="rect">
            <a:avLst/>
          </a:prstGeom>
          <a:noFill/>
          <a:ln w="19050" algn="ctr">
            <a:noFill/>
            <a:miter lim="800000"/>
            <a:headEnd/>
            <a:tailEnd type="none" w="med" len="lg"/>
          </a:ln>
        </p:spPr>
        <p:txBody>
          <a:bodyPr>
            <a:spAutoFit/>
          </a:bodyPr>
          <a:lstStyle/>
          <a:p>
            <a:pPr marL="1588" indent="-1588" algn="ctr"/>
            <a:r>
              <a:rPr lang="en-US" sz="2400"/>
              <a:t>We can make the following predictions about the outcome when the supply and demand curves shift simultaneously:</a:t>
            </a:r>
          </a:p>
        </p:txBody>
      </p:sp>
      <p:graphicFrame>
        <p:nvGraphicFramePr>
          <p:cNvPr id="600100" name="Group 36"/>
          <p:cNvGraphicFramePr>
            <a:graphicFrameLocks noGrp="1"/>
          </p:cNvGraphicFramePr>
          <p:nvPr/>
        </p:nvGraphicFramePr>
        <p:xfrm>
          <a:off x="827088" y="2060575"/>
          <a:ext cx="8164512" cy="4365626"/>
        </p:xfrm>
        <a:graphic>
          <a:graphicData uri="http://schemas.openxmlformats.org/drawingml/2006/table">
            <a:tbl>
              <a:tblPr/>
              <a:tblGrid>
                <a:gridCol w="2312987"/>
                <a:gridCol w="2889250"/>
                <a:gridCol w="2962275"/>
              </a:tblGrid>
              <a:tr h="1663700">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1" i="1" u="none" strike="noStrike" cap="none" normalizeH="0" baseline="0" smtClean="0">
                          <a:ln>
                            <a:noFill/>
                          </a:ln>
                          <a:solidFill>
                            <a:schemeClr val="tx1"/>
                          </a:solidFill>
                          <a:effectLst/>
                          <a:latin typeface="Arial" charset="0"/>
                          <a:ea typeface="MS PGothic" pitchFamily="34" charset="-128"/>
                        </a:rPr>
                        <a:t>Simultaneous Shifts of Supply and Demand</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FDEADA"/>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1" i="0" u="none" strike="noStrike" cap="none" normalizeH="0" baseline="0" smtClean="0">
                          <a:ln>
                            <a:noFill/>
                          </a:ln>
                          <a:solidFill>
                            <a:schemeClr val="tx1"/>
                          </a:solidFill>
                          <a:effectLst/>
                          <a:latin typeface="Arial" charset="0"/>
                          <a:ea typeface="MS PGothic" pitchFamily="34" charset="-128"/>
                        </a:rPr>
                        <a:t>Supply Increases</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D7E4BD"/>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1" i="0" u="none" strike="noStrike" cap="none" normalizeH="0" baseline="0" smtClean="0">
                          <a:ln>
                            <a:noFill/>
                          </a:ln>
                          <a:solidFill>
                            <a:schemeClr val="tx1"/>
                          </a:solidFill>
                          <a:effectLst/>
                          <a:latin typeface="Arial" charset="0"/>
                          <a:ea typeface="MS PGothic" pitchFamily="34" charset="-128"/>
                        </a:rPr>
                        <a:t>Supply Decreases</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FFFF00"/>
                    </a:solidFill>
                  </a:tcPr>
                </a:tc>
              </a:tr>
              <a:tr h="1350963">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1" i="0" u="none" strike="noStrike" cap="none" normalizeH="0" baseline="0" smtClean="0">
                          <a:ln>
                            <a:noFill/>
                          </a:ln>
                          <a:solidFill>
                            <a:schemeClr val="tx1"/>
                          </a:solidFill>
                          <a:effectLst/>
                          <a:latin typeface="Arial" charset="0"/>
                          <a:ea typeface="MS PGothic" pitchFamily="34" charset="-128"/>
                        </a:rPr>
                        <a:t>Demand Increases</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D7E4BD"/>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0" i="0" u="sng" strike="noStrike" cap="none" normalizeH="0" baseline="0" smtClean="0">
                          <a:ln>
                            <a:noFill/>
                          </a:ln>
                          <a:solidFill>
                            <a:schemeClr val="tx1"/>
                          </a:solidFill>
                          <a:effectLst/>
                          <a:latin typeface="Arial" charset="0"/>
                          <a:ea typeface="MS PGothic" pitchFamily="34" charset="-128"/>
                        </a:rPr>
                        <a:t>Price</a:t>
                      </a:r>
                      <a:r>
                        <a:rPr kumimoji="0" lang="en-US" sz="2500" b="0" i="0" u="none" strike="noStrike" cap="none" normalizeH="0" baseline="0" smtClean="0">
                          <a:ln>
                            <a:noFill/>
                          </a:ln>
                          <a:solidFill>
                            <a:schemeClr val="tx1"/>
                          </a:solidFill>
                          <a:effectLst/>
                          <a:latin typeface="Arial" charset="0"/>
                          <a:ea typeface="MS PGothic" pitchFamily="34" charset="-128"/>
                        </a:rPr>
                        <a:t>: ambiguous</a:t>
                      </a:r>
                    </a:p>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0" i="0" u="sng" strike="noStrike" cap="none" normalizeH="0" baseline="0" smtClean="0">
                          <a:ln>
                            <a:noFill/>
                          </a:ln>
                          <a:solidFill>
                            <a:schemeClr val="tx1"/>
                          </a:solidFill>
                          <a:effectLst/>
                          <a:latin typeface="Arial" charset="0"/>
                          <a:ea typeface="MS PGothic" pitchFamily="34" charset="-128"/>
                        </a:rPr>
                        <a:t>Quantity</a:t>
                      </a:r>
                      <a:r>
                        <a:rPr kumimoji="0" lang="en-US" sz="2500" b="0" i="0" u="none" strike="noStrike" cap="none" normalizeH="0" baseline="0" smtClean="0">
                          <a:ln>
                            <a:noFill/>
                          </a:ln>
                          <a:solidFill>
                            <a:schemeClr val="tx1"/>
                          </a:solidFill>
                          <a:effectLst/>
                          <a:latin typeface="Arial" charset="0"/>
                          <a:ea typeface="MS PGothic" pitchFamily="34" charset="-128"/>
                        </a:rPr>
                        <a:t>: up</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E6E0EC"/>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0" i="0" u="sng" strike="noStrike" cap="none" normalizeH="0" baseline="0" smtClean="0">
                          <a:ln>
                            <a:noFill/>
                          </a:ln>
                          <a:solidFill>
                            <a:schemeClr val="tx1"/>
                          </a:solidFill>
                          <a:effectLst/>
                          <a:latin typeface="Arial" charset="0"/>
                          <a:ea typeface="MS PGothic" pitchFamily="34" charset="-128"/>
                        </a:rPr>
                        <a:t>Price</a:t>
                      </a:r>
                      <a:r>
                        <a:rPr kumimoji="0" lang="en-US" sz="2500" b="0" i="0" u="none" strike="noStrike" cap="none" normalizeH="0" baseline="0" smtClean="0">
                          <a:ln>
                            <a:noFill/>
                          </a:ln>
                          <a:solidFill>
                            <a:schemeClr val="tx1"/>
                          </a:solidFill>
                          <a:effectLst/>
                          <a:latin typeface="Arial" charset="0"/>
                          <a:ea typeface="MS PGothic" pitchFamily="34" charset="-128"/>
                        </a:rPr>
                        <a:t>: up</a:t>
                      </a:r>
                    </a:p>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0" i="0" u="sng" strike="noStrike" cap="none" normalizeH="0" baseline="0" smtClean="0">
                          <a:ln>
                            <a:noFill/>
                          </a:ln>
                          <a:solidFill>
                            <a:schemeClr val="tx1"/>
                          </a:solidFill>
                          <a:effectLst/>
                          <a:latin typeface="Arial" charset="0"/>
                          <a:ea typeface="MS PGothic" pitchFamily="34" charset="-128"/>
                        </a:rPr>
                        <a:t>Quantity</a:t>
                      </a:r>
                      <a:r>
                        <a:rPr kumimoji="0" lang="en-US" sz="2500" b="0" i="0" u="none" strike="noStrike" cap="none" normalizeH="0" baseline="0" smtClean="0">
                          <a:ln>
                            <a:noFill/>
                          </a:ln>
                          <a:solidFill>
                            <a:schemeClr val="tx1"/>
                          </a:solidFill>
                          <a:effectLst/>
                          <a:latin typeface="Arial" charset="0"/>
                          <a:ea typeface="MS PGothic" pitchFamily="34" charset="-128"/>
                        </a:rPr>
                        <a:t>: ambiguous</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CCC1DA"/>
                    </a:solidFill>
                  </a:tcPr>
                </a:tc>
              </a:tr>
              <a:tr h="1350963">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1" i="0" u="none" strike="noStrike" cap="none" normalizeH="0" baseline="0" smtClean="0">
                          <a:ln>
                            <a:noFill/>
                          </a:ln>
                          <a:solidFill>
                            <a:schemeClr val="tx1"/>
                          </a:solidFill>
                          <a:effectLst/>
                          <a:latin typeface="Arial" charset="0"/>
                          <a:ea typeface="MS PGothic" pitchFamily="34" charset="-128"/>
                        </a:rPr>
                        <a:t>Demand Decreases</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0" i="0" u="sng" strike="noStrike" cap="none" normalizeH="0" baseline="0" smtClean="0">
                          <a:ln>
                            <a:noFill/>
                          </a:ln>
                          <a:solidFill>
                            <a:schemeClr val="tx1"/>
                          </a:solidFill>
                          <a:effectLst/>
                          <a:latin typeface="Arial" charset="0"/>
                          <a:ea typeface="MS PGothic" pitchFamily="34" charset="-128"/>
                        </a:rPr>
                        <a:t>Price</a:t>
                      </a:r>
                      <a:r>
                        <a:rPr kumimoji="0" lang="en-US" sz="2500" b="0" i="0" u="none" strike="noStrike" cap="none" normalizeH="0" baseline="0" smtClean="0">
                          <a:ln>
                            <a:noFill/>
                          </a:ln>
                          <a:solidFill>
                            <a:schemeClr val="tx1"/>
                          </a:solidFill>
                          <a:effectLst/>
                          <a:latin typeface="Arial" charset="0"/>
                          <a:ea typeface="MS PGothic" pitchFamily="34" charset="-128"/>
                        </a:rPr>
                        <a:t>: down</a:t>
                      </a:r>
                    </a:p>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0" i="0" u="sng" strike="noStrike" cap="none" normalizeH="0" baseline="0" smtClean="0">
                          <a:ln>
                            <a:noFill/>
                          </a:ln>
                          <a:solidFill>
                            <a:schemeClr val="tx1"/>
                          </a:solidFill>
                          <a:effectLst/>
                          <a:latin typeface="Arial" charset="0"/>
                          <a:ea typeface="MS PGothic" pitchFamily="34" charset="-128"/>
                        </a:rPr>
                        <a:t>Quantity</a:t>
                      </a:r>
                      <a:r>
                        <a:rPr kumimoji="0" lang="en-US" sz="2500" b="0" i="0" u="none" strike="noStrike" cap="none" normalizeH="0" baseline="0" smtClean="0">
                          <a:ln>
                            <a:noFill/>
                          </a:ln>
                          <a:solidFill>
                            <a:schemeClr val="tx1"/>
                          </a:solidFill>
                          <a:effectLst/>
                          <a:latin typeface="Arial" charset="0"/>
                          <a:ea typeface="MS PGothic" pitchFamily="34" charset="-128"/>
                        </a:rPr>
                        <a:t>: ambiguous</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CCC1DA"/>
                    </a:solid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0" i="0" u="sng" strike="noStrike" cap="none" normalizeH="0" baseline="0" smtClean="0">
                          <a:ln>
                            <a:noFill/>
                          </a:ln>
                          <a:solidFill>
                            <a:schemeClr val="tx1"/>
                          </a:solidFill>
                          <a:effectLst/>
                          <a:latin typeface="Arial" charset="0"/>
                          <a:ea typeface="MS PGothic" pitchFamily="34" charset="-128"/>
                        </a:rPr>
                        <a:t>Price</a:t>
                      </a:r>
                      <a:r>
                        <a:rPr kumimoji="0" lang="en-US" sz="2500" b="0" i="0" u="none" strike="noStrike" cap="none" normalizeH="0" baseline="0" smtClean="0">
                          <a:ln>
                            <a:noFill/>
                          </a:ln>
                          <a:solidFill>
                            <a:schemeClr val="tx1"/>
                          </a:solidFill>
                          <a:effectLst/>
                          <a:latin typeface="Arial" charset="0"/>
                          <a:ea typeface="MS PGothic" pitchFamily="34" charset="-128"/>
                        </a:rPr>
                        <a:t>: ambiguous</a:t>
                      </a:r>
                    </a:p>
                    <a:p>
                      <a:pPr marL="0" marR="0" lvl="0" indent="0" algn="ctr" defTabSz="914400" rtl="0" eaLnBrk="1" fontAlgn="base" latinLnBrk="0" hangingPunct="1">
                        <a:lnSpc>
                          <a:spcPct val="100000"/>
                        </a:lnSpc>
                        <a:spcBef>
                          <a:spcPct val="20000"/>
                        </a:spcBef>
                        <a:spcAft>
                          <a:spcPct val="0"/>
                        </a:spcAft>
                        <a:buClr>
                          <a:srgbClr val="000000"/>
                        </a:buClr>
                        <a:buSzPct val="70000"/>
                        <a:buFont typeface="Wingdings" pitchFamily="2" charset="2"/>
                        <a:buNone/>
                        <a:tabLst/>
                      </a:pPr>
                      <a:r>
                        <a:rPr kumimoji="0" lang="en-US" sz="2500" b="0" i="0" u="sng" strike="noStrike" cap="none" normalizeH="0" baseline="0" smtClean="0">
                          <a:ln>
                            <a:noFill/>
                          </a:ln>
                          <a:solidFill>
                            <a:schemeClr val="tx1"/>
                          </a:solidFill>
                          <a:effectLst/>
                          <a:latin typeface="Arial" charset="0"/>
                          <a:ea typeface="MS PGothic" pitchFamily="34" charset="-128"/>
                        </a:rPr>
                        <a:t>Quantity</a:t>
                      </a:r>
                      <a:r>
                        <a:rPr kumimoji="0" lang="en-US" sz="2500" b="0" i="0" u="none" strike="noStrike" cap="none" normalizeH="0" baseline="0" smtClean="0">
                          <a:ln>
                            <a:noFill/>
                          </a:ln>
                          <a:solidFill>
                            <a:schemeClr val="tx1"/>
                          </a:solidFill>
                          <a:effectLst/>
                          <a:latin typeface="Arial" charset="0"/>
                          <a:ea typeface="MS PGothic" pitchFamily="34" charset="-128"/>
                        </a:rPr>
                        <a:t>: down</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rgbClr val="E6E0EC"/>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00068">
                                            <p:txEl>
                                              <p:pRg st="0" end="0"/>
                                            </p:txEl>
                                          </p:spTgt>
                                        </p:tgtEl>
                                        <p:attrNameLst>
                                          <p:attrName>style.visibility</p:attrName>
                                        </p:attrNameLst>
                                      </p:cBhvr>
                                      <p:to>
                                        <p:strVal val="visible"/>
                                      </p:to>
                                    </p:set>
                                    <p:animEffect transition="in" filter="wipe(left)">
                                      <p:cBhvr>
                                        <p:cTn id="7" dur="500"/>
                                        <p:tgtEl>
                                          <p:spTgt spid="6000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00100"/>
                                        </p:tgtEl>
                                        <p:attrNameLst>
                                          <p:attrName>style.visibility</p:attrName>
                                        </p:attrNameLst>
                                      </p:cBhvr>
                                      <p:to>
                                        <p:strVal val="visible"/>
                                      </p:to>
                                    </p:set>
                                    <p:animEffect transition="in" filter="wipe(left)">
                                      <p:cBhvr>
                                        <p:cTn id="12" dur="500"/>
                                        <p:tgtEl>
                                          <p:spTgt spid="600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2114" name="Text Box 2"/>
          <p:cNvSpPr txBox="1">
            <a:spLocks noChangeArrowheads="1"/>
          </p:cNvSpPr>
          <p:nvPr/>
        </p:nvSpPr>
        <p:spPr bwMode="auto">
          <a:xfrm>
            <a:off x="912813" y="1762125"/>
            <a:ext cx="8010525" cy="4114800"/>
          </a:xfrm>
          <a:prstGeom prst="rect">
            <a:avLst/>
          </a:prstGeom>
          <a:solidFill>
            <a:schemeClr val="accent6">
              <a:lumMod val="20000"/>
              <a:lumOff val="80000"/>
            </a:schemeClr>
          </a:solidFill>
          <a:ln w="57150" cmpd="thinThick" algn="ctr">
            <a:noFill/>
            <a:miter lim="800000"/>
            <a:headEnd/>
            <a:tailEnd type="none" w="sm" len="lg"/>
          </a:ln>
          <a:effectLst/>
        </p:spPr>
        <p:txBody>
          <a:bodyPr/>
          <a:lstStyle/>
          <a:p>
            <a:pPr marL="287338" indent="-287338">
              <a:buClr>
                <a:schemeClr val="tx1"/>
              </a:buClr>
              <a:buFont typeface="Wingdings" pitchFamily="2" charset="2"/>
              <a:buChar char="§"/>
              <a:defRPr/>
            </a:pPr>
            <a:r>
              <a:rPr lang="en-US" sz="2400" dirty="0"/>
              <a:t>The ease of transmitting photos over the Internet and the relatively low cost of international travel </a:t>
            </a:r>
            <a:r>
              <a:rPr lang="en-US" sz="2400" dirty="0">
                <a:sym typeface="Wingdings" pitchFamily="2" charset="2"/>
              </a:rPr>
              <a:t> </a:t>
            </a:r>
            <a:r>
              <a:rPr lang="en-US" sz="2400" dirty="0"/>
              <a:t>beautiful young women from all over the world, eagerly trying to make it as models = </a:t>
            </a:r>
            <a:r>
              <a:rPr lang="en-US" sz="2400" b="1" dirty="0"/>
              <a:t>influx of aspiring models from around the world.</a:t>
            </a:r>
            <a:endParaRPr lang="en-US" sz="2400" dirty="0"/>
          </a:p>
          <a:p>
            <a:pPr marL="287338" indent="-287338">
              <a:buClr>
                <a:schemeClr val="tx1"/>
              </a:buClr>
              <a:buFont typeface="Wingdings" pitchFamily="2" charset="2"/>
              <a:buChar char="§"/>
              <a:defRPr/>
            </a:pPr>
            <a:r>
              <a:rPr lang="en-US" sz="2400" dirty="0"/>
              <a:t>In addition, the tastes of many of those who hire models have changed </a:t>
            </a:r>
            <a:r>
              <a:rPr lang="en-US" sz="2400" dirty="0">
                <a:sym typeface="Wingdings" pitchFamily="2" charset="2"/>
              </a:rPr>
              <a:t> they prefer celebrities.</a:t>
            </a:r>
          </a:p>
          <a:p>
            <a:pPr marL="287338" indent="-287338">
              <a:buClr>
                <a:schemeClr val="tx1"/>
              </a:buClr>
              <a:buFont typeface="Wingdings" pitchFamily="2" charset="2"/>
              <a:buChar char="§"/>
              <a:defRPr/>
            </a:pPr>
            <a:r>
              <a:rPr lang="en-US" sz="2400" dirty="0">
                <a:sym typeface="Wingdings" pitchFamily="2" charset="2"/>
              </a:rPr>
              <a:t>What happened to the equilibrium price of a young (not a celebrity) fashion model? </a:t>
            </a:r>
          </a:p>
          <a:p>
            <a:pPr marL="287338" indent="-287338">
              <a:buClr>
                <a:schemeClr val="tx1"/>
              </a:buClr>
              <a:buFont typeface="Wingdings" pitchFamily="2" charset="2"/>
              <a:buChar char="§"/>
              <a:defRPr/>
            </a:pPr>
            <a:r>
              <a:rPr lang="en-US" sz="2400" dirty="0">
                <a:sym typeface="Wingdings" pitchFamily="2" charset="2"/>
              </a:rPr>
              <a:t>Use your supply and demand curves to determine the salaries of “America’s Next Top</a:t>
            </a:r>
            <a:r>
              <a:rPr lang="en-US" sz="2400" dirty="0">
                <a:solidFill>
                  <a:srgbClr val="FF0000"/>
                </a:solidFill>
                <a:sym typeface="Wingdings" pitchFamily="2" charset="2"/>
              </a:rPr>
              <a:t> </a:t>
            </a:r>
            <a:r>
              <a:rPr lang="en-US" sz="2400" dirty="0">
                <a:sym typeface="Wingdings" pitchFamily="2" charset="2"/>
              </a:rPr>
              <a:t>Models”…</a:t>
            </a:r>
            <a:endParaRPr lang="en-US" sz="2400" dirty="0"/>
          </a:p>
        </p:txBody>
      </p:sp>
      <p:sp>
        <p:nvSpPr>
          <p:cNvPr id="5" name="Title 4"/>
          <p:cNvSpPr>
            <a:spLocks noGrp="1"/>
          </p:cNvSpPr>
          <p:nvPr>
            <p:ph type="title"/>
          </p:nvPr>
        </p:nvSpPr>
        <p:spPr>
          <a:xfrm>
            <a:off x="827088" y="60325"/>
            <a:ext cx="8137525" cy="555625"/>
          </a:xfrm>
        </p:spPr>
        <p:txBody>
          <a:bodyPr/>
          <a:lstStyle/>
          <a:p>
            <a:pPr>
              <a:defRPr/>
            </a:pPr>
            <a:r>
              <a:rPr lang="en-US" dirty="0" smtClean="0">
                <a:solidFill>
                  <a:schemeClr val="accent6"/>
                </a:solidFill>
              </a:rPr>
              <a:t>FOR INQUIRING MINDS</a:t>
            </a:r>
            <a:endParaRPr lang="en-US" dirty="0">
              <a:solidFill>
                <a:schemeClr val="accent6"/>
              </a:solidFill>
            </a:endParaRPr>
          </a:p>
        </p:txBody>
      </p:sp>
      <p:sp>
        <p:nvSpPr>
          <p:cNvPr id="602115" name="Rectangle 3"/>
          <p:cNvSpPr>
            <a:spLocks noGrp="1" noChangeArrowheads="1"/>
          </p:cNvSpPr>
          <p:nvPr>
            <p:ph idx="1"/>
          </p:nvPr>
        </p:nvSpPr>
        <p:spPr>
          <a:xfrm>
            <a:off x="566738" y="650875"/>
            <a:ext cx="8547100" cy="944563"/>
          </a:xfrm>
        </p:spPr>
        <p:txBody>
          <a:bodyPr/>
          <a:lstStyle/>
          <a:p>
            <a:pPr marL="50800" indent="4763" algn="ctr">
              <a:lnSpc>
                <a:spcPct val="90000"/>
              </a:lnSpc>
              <a:buFont typeface="Wingdings" pitchFamily="2" charset="2"/>
              <a:buNone/>
            </a:pPr>
            <a:r>
              <a:rPr lang="en-US" i="1" smtClean="0">
                <a:solidFill>
                  <a:srgbClr val="993366"/>
                </a:solidFill>
              </a:rPr>
              <a:t>Your Turn on the Runway: </a:t>
            </a:r>
            <a:br>
              <a:rPr lang="en-US" i="1" smtClean="0">
                <a:solidFill>
                  <a:srgbClr val="993366"/>
                </a:solidFill>
              </a:rPr>
            </a:br>
            <a:r>
              <a:rPr lang="en-US" b="1" i="1" smtClean="0">
                <a:solidFill>
                  <a:srgbClr val="993366"/>
                </a:solidFill>
              </a:rPr>
              <a:t>An Exercise of Supply, Demand, and Supermodels</a:t>
            </a:r>
          </a:p>
        </p:txBody>
      </p:sp>
      <p:sp>
        <p:nvSpPr>
          <p:cNvPr id="100356" name="Rectangle 5"/>
          <p:cNvSpPr>
            <a:spLocks noChangeArrowheads="1"/>
          </p:cNvSpPr>
          <p:nvPr/>
        </p:nvSpPr>
        <p:spPr bwMode="auto">
          <a:xfrm>
            <a:off x="381000" y="5638800"/>
            <a:ext cx="8229600" cy="762000"/>
          </a:xfrm>
          <a:prstGeom prst="rect">
            <a:avLst/>
          </a:prstGeom>
          <a:noFill/>
          <a:ln w="9525">
            <a:noFill/>
            <a:miter lim="800000"/>
            <a:headEnd/>
            <a:tailEnd/>
          </a:ln>
        </p:spPr>
        <p:txBody>
          <a:bodyPr/>
          <a:lstStyle/>
          <a:p>
            <a:pPr marL="342900" indent="-342900">
              <a:spcBef>
                <a:spcPct val="20000"/>
              </a:spcBef>
              <a:buClr>
                <a:srgbClr val="000000"/>
              </a:buClr>
            </a:pPr>
            <a:endParaRPr 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2115">
                                            <p:txEl>
                                              <p:pRg st="0" end="0"/>
                                            </p:txEl>
                                          </p:spTgt>
                                        </p:tgtEl>
                                        <p:attrNameLst>
                                          <p:attrName>style.visibility</p:attrName>
                                        </p:attrNameLst>
                                      </p:cBhvr>
                                      <p:to>
                                        <p:strVal val="visible"/>
                                      </p:to>
                                    </p:set>
                                    <p:animEffect transition="in" filter="wipe(left)">
                                      <p:cBhvr>
                                        <p:cTn id="7" dur="500"/>
                                        <p:tgtEl>
                                          <p:spTgt spid="6021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2114">
                                            <p:bg/>
                                          </p:spTgt>
                                        </p:tgtEl>
                                        <p:attrNameLst>
                                          <p:attrName>style.visibility</p:attrName>
                                        </p:attrNameLst>
                                      </p:cBhvr>
                                      <p:to>
                                        <p:strVal val="visible"/>
                                      </p:to>
                                    </p:set>
                                    <p:animEffect transition="in" filter="wipe(left)">
                                      <p:cBhvr>
                                        <p:cTn id="12" dur="500"/>
                                        <p:tgtEl>
                                          <p:spTgt spid="602114">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02114">
                                            <p:txEl>
                                              <p:pRg st="0" end="0"/>
                                            </p:txEl>
                                          </p:spTgt>
                                        </p:tgtEl>
                                        <p:attrNameLst>
                                          <p:attrName>style.visibility</p:attrName>
                                        </p:attrNameLst>
                                      </p:cBhvr>
                                      <p:to>
                                        <p:strVal val="visible"/>
                                      </p:to>
                                    </p:set>
                                    <p:animEffect transition="in" filter="wipe(left)">
                                      <p:cBhvr>
                                        <p:cTn id="17" dur="500"/>
                                        <p:tgtEl>
                                          <p:spTgt spid="6021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02114">
                                            <p:txEl>
                                              <p:pRg st="1" end="1"/>
                                            </p:txEl>
                                          </p:spTgt>
                                        </p:tgtEl>
                                        <p:attrNameLst>
                                          <p:attrName>style.visibility</p:attrName>
                                        </p:attrNameLst>
                                      </p:cBhvr>
                                      <p:to>
                                        <p:strVal val="visible"/>
                                      </p:to>
                                    </p:set>
                                    <p:animEffect transition="in" filter="wipe(left)">
                                      <p:cBhvr>
                                        <p:cTn id="22" dur="500"/>
                                        <p:tgtEl>
                                          <p:spTgt spid="60211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02114">
                                            <p:txEl>
                                              <p:pRg st="2" end="2"/>
                                            </p:txEl>
                                          </p:spTgt>
                                        </p:tgtEl>
                                        <p:attrNameLst>
                                          <p:attrName>style.visibility</p:attrName>
                                        </p:attrNameLst>
                                      </p:cBhvr>
                                      <p:to>
                                        <p:strVal val="visible"/>
                                      </p:to>
                                    </p:set>
                                    <p:animEffect transition="in" filter="wipe(left)">
                                      <p:cBhvr>
                                        <p:cTn id="27" dur="500"/>
                                        <p:tgtEl>
                                          <p:spTgt spid="60211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02114">
                                            <p:txEl>
                                              <p:pRg st="3" end="3"/>
                                            </p:txEl>
                                          </p:spTgt>
                                        </p:tgtEl>
                                        <p:attrNameLst>
                                          <p:attrName>style.visibility</p:attrName>
                                        </p:attrNameLst>
                                      </p:cBhvr>
                                      <p:to>
                                        <p:strVal val="visible"/>
                                      </p:to>
                                    </p:set>
                                    <p:animEffect transition="in" filter="wipe(left)">
                                      <p:cBhvr>
                                        <p:cTn id="32" dur="500"/>
                                        <p:tgtEl>
                                          <p:spTgt spid="6021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2114" grpId="0" build="p" animBg="1"/>
      <p:bldP spid="60211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60325"/>
            <a:ext cx="7993063" cy="555625"/>
          </a:xfrm>
        </p:spPr>
        <p:txBody>
          <a:bodyPr/>
          <a:lstStyle/>
          <a:p>
            <a:pPr>
              <a:defRPr/>
            </a:pPr>
            <a:r>
              <a:rPr lang="en-US" dirty="0" smtClean="0">
                <a:solidFill>
                  <a:schemeClr val="accent2">
                    <a:lumMod val="40000"/>
                    <a:lumOff val="60000"/>
                  </a:schemeClr>
                </a:solidFill>
              </a:rPr>
              <a:t>ECONOMICS IN ACTION</a:t>
            </a:r>
            <a:endParaRPr lang="en-US" dirty="0">
              <a:solidFill>
                <a:schemeClr val="accent2">
                  <a:lumMod val="40000"/>
                  <a:lumOff val="60000"/>
                </a:schemeClr>
              </a:solidFill>
            </a:endParaRPr>
          </a:p>
        </p:txBody>
      </p:sp>
      <p:sp>
        <p:nvSpPr>
          <p:cNvPr id="3" name="Content Placeholder 2"/>
          <p:cNvSpPr>
            <a:spLocks noGrp="1"/>
          </p:cNvSpPr>
          <p:nvPr>
            <p:ph idx="1"/>
          </p:nvPr>
        </p:nvSpPr>
        <p:spPr>
          <a:xfrm>
            <a:off x="899988" y="620688"/>
            <a:ext cx="8064500" cy="2880990"/>
          </a:xfrm>
        </p:spPr>
        <p:txBody>
          <a:bodyPr/>
          <a:lstStyle/>
          <a:p>
            <a:pPr>
              <a:buFont typeface="Arial" charset="0"/>
              <a:buNone/>
            </a:pPr>
            <a:r>
              <a:rPr lang="en-US" b="1" dirty="0" smtClean="0">
                <a:solidFill>
                  <a:srgbClr val="953735"/>
                </a:solidFill>
              </a:rPr>
              <a:t>The Rice Run of 2008</a:t>
            </a:r>
          </a:p>
          <a:p>
            <a:r>
              <a:rPr lang="en-US" dirty="0" smtClean="0"/>
              <a:t>In April 2008, the price of rice exported from Thailand—a global benchmark for the price of rice traded in international markets—reached $950 per ton, up from $360 per ton at the beginning of 2008. </a:t>
            </a:r>
          </a:p>
          <a:p>
            <a:pPr lvl="1"/>
            <a:r>
              <a:rPr lang="en-US" dirty="0" smtClean="0"/>
              <a:t>Within hours, prices for rice at major rice-trading exchanges around the world were breaking record levels. </a:t>
            </a:r>
          </a:p>
        </p:txBody>
      </p:sp>
      <p:pic>
        <p:nvPicPr>
          <p:cNvPr id="5" name="Picture 4" descr="Krug3e_fig_3_17.jpg"/>
          <p:cNvPicPr>
            <a:picLocks noChangeAspect="1"/>
          </p:cNvPicPr>
          <p:nvPr/>
        </p:nvPicPr>
        <p:blipFill>
          <a:blip r:embed="rId2"/>
          <a:srcRect/>
          <a:stretch>
            <a:fillRect/>
          </a:stretch>
        </p:blipFill>
        <p:spPr bwMode="auto">
          <a:xfrm>
            <a:off x="611560" y="3666027"/>
            <a:ext cx="8424936" cy="3075341"/>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60325"/>
            <a:ext cx="7993063" cy="555625"/>
          </a:xfrm>
        </p:spPr>
        <p:txBody>
          <a:bodyPr/>
          <a:lstStyle/>
          <a:p>
            <a:pPr>
              <a:defRPr/>
            </a:pPr>
            <a:r>
              <a:rPr lang="en-US" dirty="0" smtClean="0">
                <a:solidFill>
                  <a:schemeClr val="accent2">
                    <a:lumMod val="40000"/>
                    <a:lumOff val="60000"/>
                  </a:schemeClr>
                </a:solidFill>
              </a:rPr>
              <a:t>ECONOMICS IN ACTION</a:t>
            </a:r>
            <a:endParaRPr lang="en-US" dirty="0">
              <a:solidFill>
                <a:schemeClr val="accent2">
                  <a:lumMod val="40000"/>
                  <a:lumOff val="60000"/>
                </a:schemeClr>
              </a:solidFill>
            </a:endParaRPr>
          </a:p>
        </p:txBody>
      </p:sp>
      <p:sp>
        <p:nvSpPr>
          <p:cNvPr id="3" name="Content Placeholder 2"/>
          <p:cNvSpPr>
            <a:spLocks noGrp="1"/>
          </p:cNvSpPr>
          <p:nvPr>
            <p:ph idx="1"/>
          </p:nvPr>
        </p:nvSpPr>
        <p:spPr>
          <a:xfrm>
            <a:off x="900113" y="908050"/>
            <a:ext cx="8064500" cy="5689600"/>
          </a:xfrm>
        </p:spPr>
        <p:txBody>
          <a:bodyPr/>
          <a:lstStyle/>
          <a:p>
            <a:pPr>
              <a:buFont typeface="Arial" charset="0"/>
              <a:buNone/>
            </a:pPr>
            <a:r>
              <a:rPr lang="en-US" b="1" dirty="0" smtClean="0">
                <a:solidFill>
                  <a:srgbClr val="953735"/>
                </a:solidFill>
              </a:rPr>
              <a:t>The Rice Run of 2008</a:t>
            </a:r>
            <a:br>
              <a:rPr lang="en-US" b="1" dirty="0" smtClean="0">
                <a:solidFill>
                  <a:srgbClr val="953735"/>
                </a:solidFill>
              </a:rPr>
            </a:br>
            <a:endParaRPr lang="en-US" b="1" dirty="0" smtClean="0">
              <a:solidFill>
                <a:srgbClr val="953735"/>
              </a:solidFill>
            </a:endParaRPr>
          </a:p>
          <a:p>
            <a:r>
              <a:rPr lang="en-US" dirty="0" smtClean="0"/>
              <a:t>The factors that lay behind the surge in rice prices were both demand-related and supply-related: growing incomes in China and India, traditionally large consumers of rice; drought in Australia; and pest infestation in Vietnam. </a:t>
            </a:r>
          </a:p>
          <a:p>
            <a:pPr lvl="1"/>
            <a:r>
              <a:rPr lang="en-US" dirty="0" smtClean="0"/>
              <a:t>Supply decreased and demand increased in 2008</a:t>
            </a:r>
          </a:p>
          <a:p>
            <a:pPr lvl="1"/>
            <a:r>
              <a:rPr lang="en-US" dirty="0" smtClean="0"/>
              <a:t>But it was hoarding by farmers, panic buying by consumers, and an export ban by India, one of the largest exporters of rice, that explained the breathtaking speed of the rise in price.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60325"/>
            <a:ext cx="7921625" cy="555625"/>
          </a:xfrm>
        </p:spPr>
        <p:txBody>
          <a:bodyPr/>
          <a:lstStyle/>
          <a:p>
            <a:pPr>
              <a:defRPr/>
            </a:pPr>
            <a:r>
              <a:rPr lang="en-US" dirty="0" smtClean="0">
                <a:solidFill>
                  <a:schemeClr val="accent2">
                    <a:lumMod val="40000"/>
                    <a:lumOff val="60000"/>
                  </a:schemeClr>
                </a:solidFill>
              </a:rPr>
              <a:t>ECONOMICS IN ACTION</a:t>
            </a:r>
            <a:endParaRPr lang="en-US" dirty="0">
              <a:solidFill>
                <a:schemeClr val="accent2">
                  <a:lumMod val="40000"/>
                  <a:lumOff val="60000"/>
                </a:schemeClr>
              </a:solidFill>
            </a:endParaRPr>
          </a:p>
        </p:txBody>
      </p:sp>
      <p:sp>
        <p:nvSpPr>
          <p:cNvPr id="3" name="Content Placeholder 2"/>
          <p:cNvSpPr>
            <a:spLocks noGrp="1"/>
          </p:cNvSpPr>
          <p:nvPr>
            <p:ph idx="1"/>
          </p:nvPr>
        </p:nvSpPr>
        <p:spPr>
          <a:xfrm>
            <a:off x="900113" y="908050"/>
            <a:ext cx="8064500" cy="5616575"/>
          </a:xfrm>
        </p:spPr>
        <p:txBody>
          <a:bodyPr/>
          <a:lstStyle/>
          <a:p>
            <a:pPr>
              <a:buFont typeface="Arial" charset="0"/>
              <a:buNone/>
            </a:pPr>
            <a:r>
              <a:rPr lang="en-US" b="1" dirty="0" smtClean="0">
                <a:solidFill>
                  <a:srgbClr val="953735"/>
                </a:solidFill>
              </a:rPr>
              <a:t>The Rice Run of 2008</a:t>
            </a:r>
          </a:p>
          <a:p>
            <a:endParaRPr lang="en-US" sz="800" dirty="0" smtClean="0"/>
          </a:p>
          <a:p>
            <a:r>
              <a:rPr lang="en-US" dirty="0" smtClean="0"/>
              <a:t>In much of Asia, governments are the main buyers of rice. Rice farmers are paid a government-set price, who then sell it to the poor at subsidized prices (prices lower than the market equilibrium price). </a:t>
            </a:r>
          </a:p>
          <a:p>
            <a:r>
              <a:rPr lang="en-US" dirty="0" smtClean="0"/>
              <a:t>Now, even farmers in rural areas of Asia have access to the Internet and can see the price quotes on global rice exchanges. As </a:t>
            </a:r>
            <a:r>
              <a:rPr lang="en-US" dirty="0"/>
              <a:t>rice prices rose in response to changes in demand and supply, farmers grew dissatisfied with the government price and instead hoarded their rice in the belief that they would eventually get higher prices. </a:t>
            </a:r>
            <a:endParaRPr lang="en-US" dirty="0" smtClean="0"/>
          </a:p>
          <a:p>
            <a:r>
              <a:rPr lang="en-US" dirty="0" smtClean="0"/>
              <a:t>This </a:t>
            </a:r>
            <a:r>
              <a:rPr lang="en-US" dirty="0"/>
              <a:t>was a self-fulfilling belief, as the hoarding shifted the supply curve leftward and </a:t>
            </a:r>
            <a:r>
              <a:rPr lang="en-US" dirty="0" smtClean="0"/>
              <a:t>further raised </a:t>
            </a:r>
            <a:r>
              <a:rPr lang="en-US" dirty="0"/>
              <a:t>the price of </a:t>
            </a:r>
            <a:r>
              <a:rPr lang="en-US" dirty="0" smtClean="0"/>
              <a:t>rice.</a:t>
            </a:r>
            <a:endParaRPr lang="en-US" dirty="0"/>
          </a:p>
          <a:p>
            <a:pPr lvl="1"/>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550" y="39688"/>
            <a:ext cx="7993063" cy="579437"/>
          </a:xfrm>
        </p:spPr>
        <p:txBody>
          <a:bodyPr/>
          <a:lstStyle/>
          <a:p>
            <a:pPr>
              <a:defRPr/>
            </a:pPr>
            <a:r>
              <a:rPr lang="en-US" dirty="0" smtClean="0"/>
              <a:t>SUMMARY</a:t>
            </a:r>
            <a:endParaRPr lang="en-US" dirty="0"/>
          </a:p>
        </p:txBody>
      </p:sp>
      <p:sp>
        <p:nvSpPr>
          <p:cNvPr id="488451" name="Rectangle 3"/>
          <p:cNvSpPr>
            <a:spLocks noGrp="1" noChangeArrowheads="1"/>
          </p:cNvSpPr>
          <p:nvPr>
            <p:ph idx="1"/>
          </p:nvPr>
        </p:nvSpPr>
        <p:spPr>
          <a:xfrm>
            <a:off x="971550" y="908050"/>
            <a:ext cx="7921625" cy="5545138"/>
          </a:xfrm>
        </p:spPr>
        <p:txBody>
          <a:bodyPr/>
          <a:lstStyle/>
          <a:p>
            <a:pPr marL="457200" indent="-457200">
              <a:buFont typeface="Calibri" pitchFamily="34" charset="0"/>
              <a:buAutoNum type="arabicPeriod"/>
            </a:pPr>
            <a:r>
              <a:rPr lang="en-US" sz="2400" smtClean="0"/>
              <a:t>The </a:t>
            </a:r>
            <a:r>
              <a:rPr lang="en-US" sz="2400" b="1" smtClean="0"/>
              <a:t>supply and demand model</a:t>
            </a:r>
            <a:r>
              <a:rPr lang="en-US" sz="2400" smtClean="0"/>
              <a:t> illustrates how a </a:t>
            </a:r>
            <a:r>
              <a:rPr lang="en-US" sz="2400" b="1" smtClean="0"/>
              <a:t>competitive market</a:t>
            </a:r>
            <a:r>
              <a:rPr lang="en-US" sz="2400" smtClean="0"/>
              <a:t>, one with many buyers and sellers, none of whom can influence the market price, works.</a:t>
            </a:r>
            <a:br>
              <a:rPr lang="en-US" sz="2400" smtClean="0"/>
            </a:br>
            <a:endParaRPr lang="en-US" sz="2400" smtClean="0"/>
          </a:p>
          <a:p>
            <a:pPr marL="457200" indent="-457200">
              <a:buFont typeface="Calibri" pitchFamily="34" charset="0"/>
              <a:buAutoNum type="arabicPeriod"/>
            </a:pPr>
            <a:r>
              <a:rPr lang="en-US" sz="2400" smtClean="0"/>
              <a:t>The </a:t>
            </a:r>
            <a:r>
              <a:rPr lang="en-US" sz="2400" b="1" smtClean="0"/>
              <a:t>demand schedule</a:t>
            </a:r>
            <a:r>
              <a:rPr lang="en-US" sz="2400" smtClean="0"/>
              <a:t> shows the </a:t>
            </a:r>
            <a:r>
              <a:rPr lang="en-US" sz="2400" b="1" smtClean="0"/>
              <a:t>quantity demanded</a:t>
            </a:r>
            <a:r>
              <a:rPr lang="en-US" sz="2400" smtClean="0"/>
              <a:t> at each price and is represented graphically by a </a:t>
            </a:r>
            <a:r>
              <a:rPr lang="en-US" sz="2400" b="1" smtClean="0"/>
              <a:t>demand curve</a:t>
            </a:r>
            <a:r>
              <a:rPr lang="en-US" sz="2400" smtClean="0"/>
              <a:t>. </a:t>
            </a:r>
            <a:br>
              <a:rPr lang="en-US" sz="2400" smtClean="0"/>
            </a:br>
            <a:r>
              <a:rPr lang="en-US" sz="2400" smtClean="0"/>
              <a:t/>
            </a:r>
            <a:br>
              <a:rPr lang="en-US" sz="2400" smtClean="0"/>
            </a:br>
            <a:r>
              <a:rPr lang="en-US" sz="2400" smtClean="0"/>
              <a:t>The </a:t>
            </a:r>
            <a:r>
              <a:rPr lang="en-US" sz="2400" b="1" smtClean="0"/>
              <a:t>law of demand</a:t>
            </a:r>
            <a:r>
              <a:rPr lang="en-US" sz="2400" smtClean="0"/>
              <a:t> says that demand curves slope downward; that is, a higher price for a good or service leads people to demand a smaller quantity, other things equal.</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8451">
                                            <p:txEl>
                                              <p:pRg st="0" end="0"/>
                                            </p:txEl>
                                          </p:spTgt>
                                        </p:tgtEl>
                                        <p:attrNameLst>
                                          <p:attrName>style.visibility</p:attrName>
                                        </p:attrNameLst>
                                      </p:cBhvr>
                                      <p:to>
                                        <p:strVal val="visible"/>
                                      </p:to>
                                    </p:set>
                                    <p:animEffect transition="in" filter="fade">
                                      <p:cBhvr>
                                        <p:cTn id="7" dur="500"/>
                                        <p:tgtEl>
                                          <p:spTgt spid="4884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8451">
                                            <p:txEl>
                                              <p:pRg st="1" end="1"/>
                                            </p:txEl>
                                          </p:spTgt>
                                        </p:tgtEl>
                                        <p:attrNameLst>
                                          <p:attrName>style.visibility</p:attrName>
                                        </p:attrNameLst>
                                      </p:cBhvr>
                                      <p:to>
                                        <p:strVal val="visible"/>
                                      </p:to>
                                    </p:set>
                                    <p:animEffect transition="in" filter="fade">
                                      <p:cBhvr>
                                        <p:cTn id="12" dur="500"/>
                                        <p:tgtEl>
                                          <p:spTgt spid="4884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550" y="39688"/>
            <a:ext cx="7993063" cy="579437"/>
          </a:xfrm>
        </p:spPr>
        <p:txBody>
          <a:bodyPr/>
          <a:lstStyle/>
          <a:p>
            <a:pPr>
              <a:defRPr/>
            </a:pPr>
            <a:r>
              <a:rPr lang="en-US" dirty="0" smtClean="0"/>
              <a:t>SUMMARY</a:t>
            </a:r>
            <a:endParaRPr lang="en-US" dirty="0"/>
          </a:p>
        </p:txBody>
      </p:sp>
      <p:sp>
        <p:nvSpPr>
          <p:cNvPr id="488451" name="Rectangle 3"/>
          <p:cNvSpPr>
            <a:spLocks noGrp="1" noChangeArrowheads="1"/>
          </p:cNvSpPr>
          <p:nvPr>
            <p:ph idx="1"/>
          </p:nvPr>
        </p:nvSpPr>
        <p:spPr>
          <a:xfrm>
            <a:off x="971550" y="908050"/>
            <a:ext cx="7921625" cy="5545138"/>
          </a:xfrm>
        </p:spPr>
        <p:txBody>
          <a:bodyPr/>
          <a:lstStyle/>
          <a:p>
            <a:pPr marL="457200" indent="-457200">
              <a:buFont typeface="Calibri" pitchFamily="34" charset="0"/>
              <a:buAutoNum type="arabicPeriod" startAt="3"/>
            </a:pPr>
            <a:r>
              <a:rPr lang="en-US" sz="2400" smtClean="0"/>
              <a:t>A </a:t>
            </a:r>
            <a:r>
              <a:rPr lang="en-US" sz="2400" b="1" smtClean="0"/>
              <a:t>movement along the demand curve</a:t>
            </a:r>
            <a:r>
              <a:rPr lang="en-US" sz="2400" smtClean="0"/>
              <a:t> occurs when a price change leads to a change in the quantity demanded. </a:t>
            </a:r>
            <a:br>
              <a:rPr lang="en-US" sz="2400" smtClean="0"/>
            </a:br>
            <a:r>
              <a:rPr lang="en-US" sz="2400" smtClean="0"/>
              <a:t/>
            </a:r>
            <a:br>
              <a:rPr lang="en-US" sz="2400" smtClean="0"/>
            </a:br>
            <a:r>
              <a:rPr lang="en-US" sz="2400" smtClean="0"/>
              <a:t>When economists talk of increasing or decreasing demand, they mean </a:t>
            </a:r>
            <a:r>
              <a:rPr lang="en-US" sz="2400" b="1" smtClean="0"/>
              <a:t>shifts of the demand curve</a:t>
            </a:r>
            <a:r>
              <a:rPr lang="en-US" sz="2400" smtClean="0"/>
              <a:t>—a change in the quantity demanded at any given price. </a:t>
            </a:r>
            <a:br>
              <a:rPr lang="en-US" sz="2400" smtClean="0"/>
            </a:br>
            <a:r>
              <a:rPr lang="en-US" sz="2400" smtClean="0"/>
              <a:t/>
            </a:r>
            <a:br>
              <a:rPr lang="en-US" sz="2400" smtClean="0"/>
            </a:br>
            <a:r>
              <a:rPr lang="en-US" sz="2400" smtClean="0"/>
              <a:t>An increase in demand causes a rightward shift of the demand curve. A decrease in demand causes a leftward shift.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8451">
                                            <p:txEl>
                                              <p:pRg st="0" end="0"/>
                                            </p:txEl>
                                          </p:spTgt>
                                        </p:tgtEl>
                                        <p:attrNameLst>
                                          <p:attrName>style.visibility</p:attrName>
                                        </p:attrNameLst>
                                      </p:cBhvr>
                                      <p:to>
                                        <p:strVal val="visible"/>
                                      </p:to>
                                    </p:set>
                                    <p:animEffect transition="in" filter="fade">
                                      <p:cBhvr>
                                        <p:cTn id="7" dur="500"/>
                                        <p:tgtEl>
                                          <p:spTgt spid="4884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550" y="39688"/>
            <a:ext cx="7993063" cy="579437"/>
          </a:xfrm>
        </p:spPr>
        <p:txBody>
          <a:bodyPr/>
          <a:lstStyle/>
          <a:p>
            <a:pPr>
              <a:defRPr/>
            </a:pPr>
            <a:r>
              <a:rPr lang="en-US" dirty="0" smtClean="0"/>
              <a:t>SUMMARY</a:t>
            </a:r>
            <a:endParaRPr lang="en-US" dirty="0"/>
          </a:p>
        </p:txBody>
      </p:sp>
      <p:sp>
        <p:nvSpPr>
          <p:cNvPr id="504835" name="Rectangle 3"/>
          <p:cNvSpPr>
            <a:spLocks noGrp="1" noChangeArrowheads="1"/>
          </p:cNvSpPr>
          <p:nvPr>
            <p:ph idx="1"/>
          </p:nvPr>
        </p:nvSpPr>
        <p:spPr>
          <a:xfrm>
            <a:off x="971550" y="908050"/>
            <a:ext cx="7921625" cy="5473700"/>
          </a:xfrm>
        </p:spPr>
        <p:txBody>
          <a:bodyPr/>
          <a:lstStyle/>
          <a:p>
            <a:pPr marL="457200" indent="-457200">
              <a:buFont typeface="+mj-lt"/>
              <a:buAutoNum type="arabicPeriod" startAt="4"/>
              <a:defRPr/>
            </a:pPr>
            <a:r>
              <a:rPr lang="en-US" sz="2400" dirty="0" smtClean="0"/>
              <a:t>There are five main factors that shift the demand curve:</a:t>
            </a:r>
          </a:p>
          <a:p>
            <a:pPr>
              <a:buFont typeface="Arial" pitchFamily="34" charset="0"/>
              <a:buNone/>
              <a:defRPr/>
            </a:pPr>
            <a:r>
              <a:rPr lang="en-US" sz="2400" dirty="0" smtClean="0"/>
              <a:t>	•</a:t>
            </a:r>
            <a:r>
              <a:rPr lang="en-US" sz="2400" i="1" dirty="0" smtClean="0"/>
              <a:t>	</a:t>
            </a:r>
            <a:r>
              <a:rPr lang="en-US" sz="2400" dirty="0" smtClean="0"/>
              <a:t>A change in the prices of related goods or services, such as </a:t>
            </a:r>
            <a:r>
              <a:rPr lang="en-US" sz="2400" b="1" dirty="0" smtClean="0"/>
              <a:t>substitutes</a:t>
            </a:r>
            <a:r>
              <a:rPr lang="en-US" sz="2400" dirty="0" smtClean="0"/>
              <a:t> or </a:t>
            </a:r>
            <a:r>
              <a:rPr lang="en-US" sz="2400" b="1" dirty="0" smtClean="0"/>
              <a:t>complements</a:t>
            </a:r>
            <a:endParaRPr lang="en-US" sz="2400" dirty="0" smtClean="0"/>
          </a:p>
          <a:p>
            <a:pPr>
              <a:buFont typeface="Arial" pitchFamily="34" charset="0"/>
              <a:buNone/>
              <a:defRPr/>
            </a:pPr>
            <a:r>
              <a:rPr lang="en-US" sz="2400" dirty="0" smtClean="0"/>
              <a:t>	•</a:t>
            </a:r>
            <a:r>
              <a:rPr lang="en-US" sz="2400" i="1" dirty="0" smtClean="0"/>
              <a:t>	</a:t>
            </a:r>
            <a:r>
              <a:rPr lang="en-US" sz="2400" dirty="0" smtClean="0"/>
              <a:t>A change in income: when income rises, the demand for </a:t>
            </a:r>
            <a:r>
              <a:rPr lang="en-US" sz="2400" b="1" dirty="0" smtClean="0"/>
              <a:t>normal goods</a:t>
            </a:r>
            <a:r>
              <a:rPr lang="en-US" sz="2400" dirty="0" smtClean="0"/>
              <a:t> increases and the demand for </a:t>
            </a:r>
            <a:r>
              <a:rPr lang="en-US" sz="2400" b="1" dirty="0" smtClean="0"/>
              <a:t>inferior goods</a:t>
            </a:r>
            <a:r>
              <a:rPr lang="en-US" sz="2400" dirty="0" smtClean="0"/>
              <a:t> decreases.</a:t>
            </a:r>
          </a:p>
          <a:p>
            <a:pPr>
              <a:buFont typeface="Arial" pitchFamily="34" charset="0"/>
              <a:buNone/>
              <a:defRPr/>
            </a:pPr>
            <a:r>
              <a:rPr lang="en-US" sz="2400" dirty="0" smtClean="0"/>
              <a:t>	•</a:t>
            </a:r>
            <a:r>
              <a:rPr lang="en-US" sz="2400" i="1" dirty="0" smtClean="0"/>
              <a:t>	</a:t>
            </a:r>
            <a:r>
              <a:rPr lang="en-US" sz="2400" dirty="0" smtClean="0"/>
              <a:t>A change in tastes</a:t>
            </a:r>
          </a:p>
          <a:p>
            <a:pPr>
              <a:buFont typeface="Arial" pitchFamily="34" charset="0"/>
              <a:buNone/>
              <a:defRPr/>
            </a:pPr>
            <a:r>
              <a:rPr lang="en-US" sz="2400" dirty="0" smtClean="0"/>
              <a:t>	•</a:t>
            </a:r>
            <a:r>
              <a:rPr lang="en-US" sz="2400" i="1" dirty="0" smtClean="0"/>
              <a:t>	</a:t>
            </a:r>
            <a:r>
              <a:rPr lang="en-US" sz="2400" dirty="0" smtClean="0"/>
              <a:t>A change in expectations</a:t>
            </a:r>
          </a:p>
          <a:p>
            <a:pPr>
              <a:buFont typeface="Arial" pitchFamily="34" charset="0"/>
              <a:buNone/>
              <a:defRPr/>
            </a:pPr>
            <a:r>
              <a:rPr lang="en-US" sz="2400" dirty="0" smtClean="0"/>
              <a:t>	•</a:t>
            </a:r>
            <a:r>
              <a:rPr lang="en-US" sz="2400" i="1" dirty="0" smtClean="0"/>
              <a:t>	</a:t>
            </a:r>
            <a:r>
              <a:rPr lang="en-US" sz="2400" dirty="0" smtClean="0"/>
              <a:t>A change in the number of consumers</a:t>
            </a:r>
            <a:endParaRPr 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4835">
                                            <p:txEl>
                                              <p:pRg st="0" end="0"/>
                                            </p:txEl>
                                          </p:spTgt>
                                        </p:tgtEl>
                                        <p:attrNameLst>
                                          <p:attrName>style.visibility</p:attrName>
                                        </p:attrNameLst>
                                      </p:cBhvr>
                                      <p:to>
                                        <p:strVal val="visible"/>
                                      </p:to>
                                    </p:set>
                                    <p:animEffect transition="in" filter="fade">
                                      <p:cBhvr>
                                        <p:cTn id="7" dur="500"/>
                                        <p:tgtEl>
                                          <p:spTgt spid="504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4835">
                                            <p:txEl>
                                              <p:pRg st="1" end="1"/>
                                            </p:txEl>
                                          </p:spTgt>
                                        </p:tgtEl>
                                        <p:attrNameLst>
                                          <p:attrName>style.visibility</p:attrName>
                                        </p:attrNameLst>
                                      </p:cBhvr>
                                      <p:to>
                                        <p:strVal val="visible"/>
                                      </p:to>
                                    </p:set>
                                    <p:animEffect transition="in" filter="fade">
                                      <p:cBhvr>
                                        <p:cTn id="12" dur="500"/>
                                        <p:tgtEl>
                                          <p:spTgt spid="5048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4835">
                                            <p:txEl>
                                              <p:pRg st="2" end="2"/>
                                            </p:txEl>
                                          </p:spTgt>
                                        </p:tgtEl>
                                        <p:attrNameLst>
                                          <p:attrName>style.visibility</p:attrName>
                                        </p:attrNameLst>
                                      </p:cBhvr>
                                      <p:to>
                                        <p:strVal val="visible"/>
                                      </p:to>
                                    </p:set>
                                    <p:animEffect transition="in" filter="fade">
                                      <p:cBhvr>
                                        <p:cTn id="17" dur="500"/>
                                        <p:tgtEl>
                                          <p:spTgt spid="5048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4835">
                                            <p:txEl>
                                              <p:pRg st="3" end="3"/>
                                            </p:txEl>
                                          </p:spTgt>
                                        </p:tgtEl>
                                        <p:attrNameLst>
                                          <p:attrName>style.visibility</p:attrName>
                                        </p:attrNameLst>
                                      </p:cBhvr>
                                      <p:to>
                                        <p:strVal val="visible"/>
                                      </p:to>
                                    </p:set>
                                    <p:animEffect transition="in" filter="fade">
                                      <p:cBhvr>
                                        <p:cTn id="22" dur="500"/>
                                        <p:tgtEl>
                                          <p:spTgt spid="5048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04835">
                                            <p:txEl>
                                              <p:pRg st="4" end="4"/>
                                            </p:txEl>
                                          </p:spTgt>
                                        </p:tgtEl>
                                        <p:attrNameLst>
                                          <p:attrName>style.visibility</p:attrName>
                                        </p:attrNameLst>
                                      </p:cBhvr>
                                      <p:to>
                                        <p:strVal val="visible"/>
                                      </p:to>
                                    </p:set>
                                    <p:animEffect transition="in" filter="fade">
                                      <p:cBhvr>
                                        <p:cTn id="27" dur="500"/>
                                        <p:tgtEl>
                                          <p:spTgt spid="5048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04835">
                                            <p:txEl>
                                              <p:pRg st="5" end="5"/>
                                            </p:txEl>
                                          </p:spTgt>
                                        </p:tgtEl>
                                        <p:attrNameLst>
                                          <p:attrName>style.visibility</p:attrName>
                                        </p:attrNameLst>
                                      </p:cBhvr>
                                      <p:to>
                                        <p:strVal val="visible"/>
                                      </p:to>
                                    </p:set>
                                    <p:animEffect transition="in" filter="fade">
                                      <p:cBhvr>
                                        <p:cTn id="32" dur="500"/>
                                        <p:tgtEl>
                                          <p:spTgt spid="5048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550" y="39688"/>
            <a:ext cx="7993063" cy="579437"/>
          </a:xfrm>
        </p:spPr>
        <p:txBody>
          <a:bodyPr/>
          <a:lstStyle/>
          <a:p>
            <a:pPr>
              <a:defRPr/>
            </a:pPr>
            <a:r>
              <a:rPr lang="en-US" dirty="0" smtClean="0"/>
              <a:t>SUMMARY</a:t>
            </a:r>
            <a:endParaRPr lang="en-US" dirty="0"/>
          </a:p>
        </p:txBody>
      </p:sp>
      <p:sp>
        <p:nvSpPr>
          <p:cNvPr id="504835" name="Rectangle 3"/>
          <p:cNvSpPr>
            <a:spLocks noGrp="1" noChangeArrowheads="1"/>
          </p:cNvSpPr>
          <p:nvPr>
            <p:ph idx="1"/>
          </p:nvPr>
        </p:nvSpPr>
        <p:spPr>
          <a:xfrm>
            <a:off x="971550" y="908050"/>
            <a:ext cx="7921625" cy="5949950"/>
          </a:xfrm>
        </p:spPr>
        <p:txBody>
          <a:bodyPr/>
          <a:lstStyle/>
          <a:p>
            <a:pPr marL="457200" indent="-457200">
              <a:buFont typeface="Calibri" pitchFamily="34" charset="0"/>
              <a:buAutoNum type="arabicPeriod" startAt="5"/>
            </a:pPr>
            <a:r>
              <a:rPr lang="en-US" sz="2400" smtClean="0"/>
              <a:t>The market demand curve for a good or service is the horizontal sum of the </a:t>
            </a:r>
            <a:r>
              <a:rPr lang="en-US" sz="2400" b="1" smtClean="0"/>
              <a:t>individual demand curves</a:t>
            </a:r>
            <a:r>
              <a:rPr lang="en-US" sz="2400" smtClean="0"/>
              <a:t> of all consumers in the market.</a:t>
            </a:r>
          </a:p>
          <a:p>
            <a:pPr marL="457200" indent="-457200">
              <a:buFont typeface="Calibri" pitchFamily="34" charset="0"/>
              <a:buAutoNum type="arabicPeriod" startAt="5"/>
            </a:pPr>
            <a:endParaRPr lang="en-US" sz="2400" smtClean="0"/>
          </a:p>
          <a:p>
            <a:pPr marL="457200" indent="-457200">
              <a:buFont typeface="Calibri" pitchFamily="34" charset="0"/>
              <a:buAutoNum type="arabicPeriod" startAt="5"/>
            </a:pPr>
            <a:r>
              <a:rPr lang="en-US" sz="2400" smtClean="0"/>
              <a:t>The </a:t>
            </a:r>
            <a:r>
              <a:rPr lang="en-US" sz="2400" b="1" smtClean="0"/>
              <a:t>supply schedule</a:t>
            </a:r>
            <a:r>
              <a:rPr lang="en-US" sz="2400" smtClean="0"/>
              <a:t> shows the </a:t>
            </a:r>
            <a:r>
              <a:rPr lang="en-US" sz="2400" b="1" smtClean="0"/>
              <a:t>quantity supplied</a:t>
            </a:r>
            <a:r>
              <a:rPr lang="en-US" sz="2400" smtClean="0"/>
              <a:t> at each price and is represented graphically by a </a:t>
            </a:r>
            <a:r>
              <a:rPr lang="en-US" sz="2400" b="1" smtClean="0"/>
              <a:t>supply curve</a:t>
            </a:r>
            <a:r>
              <a:rPr lang="en-US" sz="2400" smtClean="0"/>
              <a:t>. Supply curves usually slope upward.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4835">
                                            <p:txEl>
                                              <p:pRg st="0" end="0"/>
                                            </p:txEl>
                                          </p:spTgt>
                                        </p:tgtEl>
                                        <p:attrNameLst>
                                          <p:attrName>style.visibility</p:attrName>
                                        </p:attrNameLst>
                                      </p:cBhvr>
                                      <p:to>
                                        <p:strVal val="visible"/>
                                      </p:to>
                                    </p:set>
                                    <p:animEffect transition="in" filter="fade">
                                      <p:cBhvr>
                                        <p:cTn id="7" dur="500"/>
                                        <p:tgtEl>
                                          <p:spTgt spid="504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4835">
                                            <p:txEl>
                                              <p:pRg st="2" end="2"/>
                                            </p:txEl>
                                          </p:spTgt>
                                        </p:tgtEl>
                                        <p:attrNameLst>
                                          <p:attrName>style.visibility</p:attrName>
                                        </p:attrNameLst>
                                      </p:cBhvr>
                                      <p:to>
                                        <p:strVal val="visible"/>
                                      </p:to>
                                    </p:set>
                                    <p:animEffect transition="in" filter="fade">
                                      <p:cBhvr>
                                        <p:cTn id="12" dur="500"/>
                                        <p:tgtEl>
                                          <p:spTgt spid="5048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550" y="39688"/>
            <a:ext cx="7921625" cy="579437"/>
          </a:xfrm>
        </p:spPr>
        <p:txBody>
          <a:bodyPr/>
          <a:lstStyle/>
          <a:p>
            <a:pPr>
              <a:defRPr/>
            </a:pPr>
            <a:r>
              <a:rPr lang="en-US" dirty="0" smtClean="0"/>
              <a:t>SUMMARY</a:t>
            </a:r>
            <a:endParaRPr lang="en-US" dirty="0"/>
          </a:p>
        </p:txBody>
      </p:sp>
      <p:sp>
        <p:nvSpPr>
          <p:cNvPr id="505859" name="Rectangle 3"/>
          <p:cNvSpPr>
            <a:spLocks noGrp="1" noChangeArrowheads="1"/>
          </p:cNvSpPr>
          <p:nvPr>
            <p:ph idx="1"/>
          </p:nvPr>
        </p:nvSpPr>
        <p:spPr>
          <a:xfrm>
            <a:off x="971550" y="981075"/>
            <a:ext cx="7993063" cy="5327650"/>
          </a:xfrm>
        </p:spPr>
        <p:txBody>
          <a:bodyPr/>
          <a:lstStyle/>
          <a:p>
            <a:pPr marL="457200" indent="-457200">
              <a:buFont typeface="Calibri" pitchFamily="34" charset="0"/>
              <a:buAutoNum type="arabicPeriod" startAt="7"/>
            </a:pPr>
            <a:r>
              <a:rPr lang="en-US" sz="2400" smtClean="0"/>
              <a:t>A </a:t>
            </a:r>
            <a:r>
              <a:rPr lang="en-US" sz="2400" b="1" smtClean="0"/>
              <a:t>movement along the supply curve</a:t>
            </a:r>
            <a:r>
              <a:rPr lang="en-US" sz="2400" smtClean="0"/>
              <a:t> occurs when a price change leads to a change in the quantity supplied. </a:t>
            </a:r>
            <a:br>
              <a:rPr lang="en-US" sz="2400" smtClean="0"/>
            </a:br>
            <a:r>
              <a:rPr lang="en-US" sz="2400" smtClean="0"/>
              <a:t/>
            </a:r>
            <a:br>
              <a:rPr lang="en-US" sz="2400" smtClean="0"/>
            </a:br>
            <a:r>
              <a:rPr lang="en-US" sz="2400" smtClean="0"/>
              <a:t>When economists talk of increasing or decreasing supply, they mean </a:t>
            </a:r>
            <a:r>
              <a:rPr lang="en-US" sz="2400" b="1" smtClean="0"/>
              <a:t>shifts of the supply curve</a:t>
            </a:r>
            <a:r>
              <a:rPr lang="en-US" sz="2400" smtClean="0"/>
              <a:t>—a change in the quantity supplied at any given price. </a:t>
            </a:r>
            <a:br>
              <a:rPr lang="en-US" sz="2400" smtClean="0"/>
            </a:br>
            <a:r>
              <a:rPr lang="en-US" sz="2400" smtClean="0"/>
              <a:t/>
            </a:r>
            <a:br>
              <a:rPr lang="en-US" sz="2400" smtClean="0"/>
            </a:br>
            <a:r>
              <a:rPr lang="en-US" sz="2400" smtClean="0"/>
              <a:t>An increase in supply causes a rightward shift of the supply curve. A decrease in supply causes a leftward shift.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5859">
                                            <p:txEl>
                                              <p:pRg st="0" end="0"/>
                                            </p:txEl>
                                          </p:spTgt>
                                        </p:tgtEl>
                                        <p:attrNameLst>
                                          <p:attrName>style.visibility</p:attrName>
                                        </p:attrNameLst>
                                      </p:cBhvr>
                                      <p:to>
                                        <p:strVal val="visible"/>
                                      </p:to>
                                    </p:set>
                                    <p:animEffect transition="in" filter="fade">
                                      <p:cBhvr>
                                        <p:cTn id="7" dur="500"/>
                                        <p:tgtEl>
                                          <p:spTgt spid="5058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859"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550" y="39688"/>
            <a:ext cx="7921625" cy="579437"/>
          </a:xfrm>
        </p:spPr>
        <p:txBody>
          <a:bodyPr/>
          <a:lstStyle/>
          <a:p>
            <a:pPr>
              <a:defRPr/>
            </a:pPr>
            <a:r>
              <a:rPr lang="en-US" dirty="0" smtClean="0"/>
              <a:t>SUMMARY</a:t>
            </a:r>
            <a:endParaRPr lang="en-US" dirty="0"/>
          </a:p>
        </p:txBody>
      </p:sp>
      <p:sp>
        <p:nvSpPr>
          <p:cNvPr id="505859" name="Rectangle 3"/>
          <p:cNvSpPr>
            <a:spLocks noGrp="1" noChangeArrowheads="1"/>
          </p:cNvSpPr>
          <p:nvPr>
            <p:ph idx="1"/>
          </p:nvPr>
        </p:nvSpPr>
        <p:spPr>
          <a:xfrm>
            <a:off x="971550" y="981075"/>
            <a:ext cx="7993063" cy="5327650"/>
          </a:xfrm>
        </p:spPr>
        <p:txBody>
          <a:bodyPr/>
          <a:lstStyle/>
          <a:p>
            <a:pPr marL="457200" indent="-457200">
              <a:buFont typeface="+mj-lt"/>
              <a:buAutoNum type="arabicPeriod" startAt="8"/>
              <a:defRPr/>
            </a:pPr>
            <a:r>
              <a:rPr lang="en-US" sz="2400" dirty="0" smtClean="0"/>
              <a:t>There are five main factors that shift the supply curve:</a:t>
            </a:r>
          </a:p>
          <a:p>
            <a:pPr>
              <a:buFont typeface="Arial" pitchFamily="34" charset="0"/>
              <a:buNone/>
              <a:defRPr/>
            </a:pPr>
            <a:r>
              <a:rPr lang="en-US" sz="2400" dirty="0" smtClean="0"/>
              <a:t>	•</a:t>
            </a:r>
            <a:r>
              <a:rPr lang="en-US" sz="2400" i="1" dirty="0" smtClean="0"/>
              <a:t>	</a:t>
            </a:r>
            <a:r>
              <a:rPr lang="en-US" sz="2400" dirty="0" smtClean="0"/>
              <a:t>A change in </a:t>
            </a:r>
            <a:r>
              <a:rPr lang="en-US" sz="2400" b="1" dirty="0" smtClean="0"/>
              <a:t>input</a:t>
            </a:r>
            <a:r>
              <a:rPr lang="en-US" sz="2400" dirty="0" smtClean="0"/>
              <a:t> prices</a:t>
            </a:r>
          </a:p>
          <a:p>
            <a:pPr>
              <a:buFont typeface="Arial" pitchFamily="34" charset="0"/>
              <a:buNone/>
              <a:defRPr/>
            </a:pPr>
            <a:r>
              <a:rPr lang="en-US" sz="2400" dirty="0" smtClean="0"/>
              <a:t>	•</a:t>
            </a:r>
            <a:r>
              <a:rPr lang="en-US" sz="2400" i="1" dirty="0" smtClean="0"/>
              <a:t>	</a:t>
            </a:r>
            <a:r>
              <a:rPr lang="en-US" sz="2400" dirty="0" smtClean="0"/>
              <a:t>A change in the prices of related goods and services</a:t>
            </a:r>
          </a:p>
          <a:p>
            <a:pPr>
              <a:buFont typeface="Arial" pitchFamily="34" charset="0"/>
              <a:buNone/>
              <a:defRPr/>
            </a:pPr>
            <a:r>
              <a:rPr lang="en-US" sz="2400" dirty="0" smtClean="0"/>
              <a:t>	•</a:t>
            </a:r>
            <a:r>
              <a:rPr lang="en-US" sz="2400" i="1" dirty="0" smtClean="0"/>
              <a:t>	</a:t>
            </a:r>
            <a:r>
              <a:rPr lang="en-US" sz="2400" dirty="0" smtClean="0"/>
              <a:t>A change in technology</a:t>
            </a:r>
          </a:p>
          <a:p>
            <a:pPr>
              <a:buFont typeface="Arial" pitchFamily="34" charset="0"/>
              <a:buNone/>
              <a:defRPr/>
            </a:pPr>
            <a:r>
              <a:rPr lang="en-US" sz="2400" dirty="0" smtClean="0"/>
              <a:t>	•</a:t>
            </a:r>
            <a:r>
              <a:rPr lang="en-US" sz="2400" i="1" dirty="0" smtClean="0"/>
              <a:t>	</a:t>
            </a:r>
            <a:r>
              <a:rPr lang="en-US" sz="2400" dirty="0" smtClean="0"/>
              <a:t>A change in expectations</a:t>
            </a:r>
          </a:p>
          <a:p>
            <a:pPr>
              <a:buFont typeface="Arial" pitchFamily="34" charset="0"/>
              <a:buNone/>
              <a:defRPr/>
            </a:pPr>
            <a:r>
              <a:rPr lang="en-US" sz="2400" dirty="0" smtClean="0"/>
              <a:t>	•</a:t>
            </a:r>
            <a:r>
              <a:rPr lang="en-US" sz="2400" i="1" dirty="0" smtClean="0"/>
              <a:t>	</a:t>
            </a:r>
            <a:r>
              <a:rPr lang="en-US" sz="2400" dirty="0" smtClean="0"/>
              <a:t>A change in the number of producers</a:t>
            </a:r>
            <a:br>
              <a:rPr lang="en-US" sz="2400" dirty="0" smtClean="0"/>
            </a:br>
            <a:endParaRPr lang="en-US" sz="2400" dirty="0" smtClean="0"/>
          </a:p>
          <a:p>
            <a:pPr marL="457200" indent="-457200">
              <a:buFont typeface="+mj-lt"/>
              <a:buAutoNum type="arabicPeriod" startAt="9"/>
              <a:defRPr/>
            </a:pPr>
            <a:r>
              <a:rPr lang="en-US" sz="2400" dirty="0" smtClean="0"/>
              <a:t>The </a:t>
            </a:r>
            <a:r>
              <a:rPr lang="en-US" sz="2400" dirty="0"/>
              <a:t>market supply curve for a good or service is the horizontal sum of the </a:t>
            </a:r>
            <a:r>
              <a:rPr lang="en-US" sz="2400" b="1" dirty="0"/>
              <a:t>individual supply curves</a:t>
            </a:r>
            <a:r>
              <a:rPr lang="en-US" sz="2400" dirty="0"/>
              <a:t> of all producers in the market.</a:t>
            </a:r>
            <a:endParaRPr lang="en-US" sz="240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5859">
                                            <p:txEl>
                                              <p:pRg st="0" end="0"/>
                                            </p:txEl>
                                          </p:spTgt>
                                        </p:tgtEl>
                                        <p:attrNameLst>
                                          <p:attrName>style.visibility</p:attrName>
                                        </p:attrNameLst>
                                      </p:cBhvr>
                                      <p:to>
                                        <p:strVal val="visible"/>
                                      </p:to>
                                    </p:set>
                                    <p:animEffect transition="in" filter="fade">
                                      <p:cBhvr>
                                        <p:cTn id="7" dur="500"/>
                                        <p:tgtEl>
                                          <p:spTgt spid="5058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5859">
                                            <p:txEl>
                                              <p:pRg st="1" end="1"/>
                                            </p:txEl>
                                          </p:spTgt>
                                        </p:tgtEl>
                                        <p:attrNameLst>
                                          <p:attrName>style.visibility</p:attrName>
                                        </p:attrNameLst>
                                      </p:cBhvr>
                                      <p:to>
                                        <p:strVal val="visible"/>
                                      </p:to>
                                    </p:set>
                                    <p:animEffect transition="in" filter="fade">
                                      <p:cBhvr>
                                        <p:cTn id="12" dur="500"/>
                                        <p:tgtEl>
                                          <p:spTgt spid="5058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5859">
                                            <p:txEl>
                                              <p:pRg st="2" end="2"/>
                                            </p:txEl>
                                          </p:spTgt>
                                        </p:tgtEl>
                                        <p:attrNameLst>
                                          <p:attrName>style.visibility</p:attrName>
                                        </p:attrNameLst>
                                      </p:cBhvr>
                                      <p:to>
                                        <p:strVal val="visible"/>
                                      </p:to>
                                    </p:set>
                                    <p:animEffect transition="in" filter="fade">
                                      <p:cBhvr>
                                        <p:cTn id="17" dur="500"/>
                                        <p:tgtEl>
                                          <p:spTgt spid="5058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5859">
                                            <p:txEl>
                                              <p:pRg st="3" end="3"/>
                                            </p:txEl>
                                          </p:spTgt>
                                        </p:tgtEl>
                                        <p:attrNameLst>
                                          <p:attrName>style.visibility</p:attrName>
                                        </p:attrNameLst>
                                      </p:cBhvr>
                                      <p:to>
                                        <p:strVal val="visible"/>
                                      </p:to>
                                    </p:set>
                                    <p:animEffect transition="in" filter="fade">
                                      <p:cBhvr>
                                        <p:cTn id="22" dur="500"/>
                                        <p:tgtEl>
                                          <p:spTgt spid="5058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05859">
                                            <p:txEl>
                                              <p:pRg st="4" end="4"/>
                                            </p:txEl>
                                          </p:spTgt>
                                        </p:tgtEl>
                                        <p:attrNameLst>
                                          <p:attrName>style.visibility</p:attrName>
                                        </p:attrNameLst>
                                      </p:cBhvr>
                                      <p:to>
                                        <p:strVal val="visible"/>
                                      </p:to>
                                    </p:set>
                                    <p:animEffect transition="in" filter="fade">
                                      <p:cBhvr>
                                        <p:cTn id="27" dur="500"/>
                                        <p:tgtEl>
                                          <p:spTgt spid="50585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05859">
                                            <p:txEl>
                                              <p:pRg st="5" end="5"/>
                                            </p:txEl>
                                          </p:spTgt>
                                        </p:tgtEl>
                                        <p:attrNameLst>
                                          <p:attrName>style.visibility</p:attrName>
                                        </p:attrNameLst>
                                      </p:cBhvr>
                                      <p:to>
                                        <p:strVal val="visible"/>
                                      </p:to>
                                    </p:set>
                                    <p:animEffect transition="in" filter="fade">
                                      <p:cBhvr>
                                        <p:cTn id="32" dur="500"/>
                                        <p:tgtEl>
                                          <p:spTgt spid="50585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05859">
                                            <p:txEl>
                                              <p:pRg st="6" end="6"/>
                                            </p:txEl>
                                          </p:spTgt>
                                        </p:tgtEl>
                                        <p:attrNameLst>
                                          <p:attrName>style.visibility</p:attrName>
                                        </p:attrNameLst>
                                      </p:cBhvr>
                                      <p:to>
                                        <p:strVal val="visible"/>
                                      </p:to>
                                    </p:set>
                                    <p:animEffect transition="in" filter="fade">
                                      <p:cBhvr>
                                        <p:cTn id="37" dur="500"/>
                                        <p:tgtEl>
                                          <p:spTgt spid="5058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859"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39688"/>
            <a:ext cx="7993063" cy="579437"/>
          </a:xfrm>
        </p:spPr>
        <p:txBody>
          <a:bodyPr/>
          <a:lstStyle/>
          <a:p>
            <a:pPr>
              <a:defRPr/>
            </a:pPr>
            <a:r>
              <a:rPr lang="en-US" dirty="0" smtClean="0"/>
              <a:t>SUMMARY</a:t>
            </a:r>
            <a:endParaRPr lang="en-US" dirty="0"/>
          </a:p>
        </p:txBody>
      </p:sp>
      <p:sp>
        <p:nvSpPr>
          <p:cNvPr id="3" name="Content Placeholder 2"/>
          <p:cNvSpPr>
            <a:spLocks noGrp="1"/>
          </p:cNvSpPr>
          <p:nvPr>
            <p:ph idx="1"/>
          </p:nvPr>
        </p:nvSpPr>
        <p:spPr>
          <a:xfrm>
            <a:off x="971550" y="908050"/>
            <a:ext cx="7993063" cy="5949950"/>
          </a:xfrm>
        </p:spPr>
        <p:txBody>
          <a:bodyPr/>
          <a:lstStyle/>
          <a:p>
            <a:pPr marL="457200" indent="-457200">
              <a:buFont typeface="Calibri" pitchFamily="34" charset="0"/>
              <a:buAutoNum type="arabicPeriod" startAt="10"/>
            </a:pPr>
            <a:r>
              <a:rPr lang="en-US" sz="2400" smtClean="0"/>
              <a:t>The supply and demand model is based on the principle that the price in a market moves to its </a:t>
            </a:r>
            <a:r>
              <a:rPr lang="en-US" sz="2400" b="1" smtClean="0"/>
              <a:t>equilibrium price</a:t>
            </a:r>
            <a:r>
              <a:rPr lang="en-US" sz="2400" smtClean="0"/>
              <a:t>, or </a:t>
            </a:r>
            <a:r>
              <a:rPr lang="en-US" sz="2400" b="1" smtClean="0"/>
              <a:t>market-clearing price</a:t>
            </a:r>
            <a:r>
              <a:rPr lang="en-US" sz="2400" smtClean="0"/>
              <a:t>, the price at which the quantity demanded is equal to the quantity supplied. This quantity is the </a:t>
            </a:r>
            <a:r>
              <a:rPr lang="en-US" sz="2400" b="1" smtClean="0"/>
              <a:t>equilibrium quantity</a:t>
            </a:r>
            <a:r>
              <a:rPr lang="en-US" sz="2400" smtClean="0"/>
              <a:t>. </a:t>
            </a:r>
            <a:br>
              <a:rPr lang="en-US" sz="2400" smtClean="0"/>
            </a:br>
            <a:r>
              <a:rPr lang="en-US" sz="2400" smtClean="0"/>
              <a:t/>
            </a:r>
            <a:br>
              <a:rPr lang="en-US" sz="2400" smtClean="0"/>
            </a:br>
            <a:r>
              <a:rPr lang="en-US" sz="2400" smtClean="0"/>
              <a:t>When the price is above its market-clearing level, there is a </a:t>
            </a:r>
            <a:r>
              <a:rPr lang="en-US" sz="2400" b="1" smtClean="0"/>
              <a:t>surplus</a:t>
            </a:r>
            <a:r>
              <a:rPr lang="en-US" sz="2400" smtClean="0"/>
              <a:t> that pushes the price down.</a:t>
            </a:r>
            <a:br>
              <a:rPr lang="en-US" sz="2400" smtClean="0"/>
            </a:br>
            <a:r>
              <a:rPr lang="en-US" sz="2400" smtClean="0"/>
              <a:t> </a:t>
            </a:r>
            <a:br>
              <a:rPr lang="en-US" sz="2400" smtClean="0"/>
            </a:br>
            <a:r>
              <a:rPr lang="en-US" sz="2400" smtClean="0"/>
              <a:t>When the price is below its market-clearing level, there is a </a:t>
            </a:r>
            <a:r>
              <a:rPr lang="en-US" sz="2400" b="1" smtClean="0"/>
              <a:t>shortage</a:t>
            </a:r>
            <a:r>
              <a:rPr lang="en-US" sz="2400" smtClean="0"/>
              <a:t> that pushes the price up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39688"/>
            <a:ext cx="7993063" cy="579437"/>
          </a:xfrm>
        </p:spPr>
        <p:txBody>
          <a:bodyPr/>
          <a:lstStyle/>
          <a:p>
            <a:pPr>
              <a:defRPr/>
            </a:pPr>
            <a:r>
              <a:rPr lang="en-US" dirty="0" smtClean="0"/>
              <a:t>SUMMARY</a:t>
            </a:r>
            <a:endParaRPr lang="en-US" dirty="0"/>
          </a:p>
        </p:txBody>
      </p:sp>
      <p:sp>
        <p:nvSpPr>
          <p:cNvPr id="3" name="Content Placeholder 2"/>
          <p:cNvSpPr>
            <a:spLocks noGrp="1"/>
          </p:cNvSpPr>
          <p:nvPr>
            <p:ph idx="1"/>
          </p:nvPr>
        </p:nvSpPr>
        <p:spPr>
          <a:xfrm>
            <a:off x="971550" y="908050"/>
            <a:ext cx="7993063" cy="5949950"/>
          </a:xfrm>
        </p:spPr>
        <p:txBody>
          <a:bodyPr/>
          <a:lstStyle/>
          <a:p>
            <a:pPr marL="457200" indent="-457200">
              <a:buFont typeface="+mj-lt"/>
              <a:buAutoNum type="arabicPeriod" startAt="11"/>
              <a:defRPr/>
            </a:pPr>
            <a:r>
              <a:rPr lang="en-US" sz="2400" dirty="0" smtClean="0"/>
              <a:t>An increase in demand increases both the equilibrium price and the equilibrium quantity; a decrease in demand has the opposite effect. </a:t>
            </a:r>
            <a:br>
              <a:rPr lang="en-US" sz="2400" dirty="0" smtClean="0"/>
            </a:br>
            <a:r>
              <a:rPr lang="en-US" sz="2400" dirty="0" smtClean="0"/>
              <a:t/>
            </a:r>
            <a:br>
              <a:rPr lang="en-US" sz="2400" dirty="0" smtClean="0"/>
            </a:br>
            <a:r>
              <a:rPr lang="en-US" sz="2400" dirty="0" smtClean="0"/>
              <a:t>An increase in supply reduces the equilibrium price and increases the equilibrium quantity; a decrease in supply has the opposite effect.</a:t>
            </a:r>
          </a:p>
          <a:p>
            <a:pPr>
              <a:buFont typeface="Arial" pitchFamily="34" charset="0"/>
              <a:buChar char="•"/>
              <a:defRPr/>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39688"/>
            <a:ext cx="7993063" cy="579437"/>
          </a:xfrm>
        </p:spPr>
        <p:txBody>
          <a:bodyPr/>
          <a:lstStyle/>
          <a:p>
            <a:pPr>
              <a:defRPr/>
            </a:pPr>
            <a:r>
              <a:rPr lang="en-US" dirty="0" smtClean="0"/>
              <a:t>SUMMARY</a:t>
            </a:r>
            <a:endParaRPr lang="en-US" dirty="0"/>
          </a:p>
        </p:txBody>
      </p:sp>
      <p:sp>
        <p:nvSpPr>
          <p:cNvPr id="3" name="Content Placeholder 2"/>
          <p:cNvSpPr>
            <a:spLocks noGrp="1"/>
          </p:cNvSpPr>
          <p:nvPr>
            <p:ph idx="1"/>
          </p:nvPr>
        </p:nvSpPr>
        <p:spPr>
          <a:xfrm>
            <a:off x="900113" y="836613"/>
            <a:ext cx="8064500" cy="5289550"/>
          </a:xfrm>
        </p:spPr>
        <p:txBody>
          <a:bodyPr/>
          <a:lstStyle/>
          <a:p>
            <a:pPr marL="457200" indent="-457200">
              <a:buFont typeface="+mj-lt"/>
              <a:buAutoNum type="arabicPeriod" startAt="12"/>
              <a:defRPr/>
            </a:pPr>
            <a:r>
              <a:rPr lang="en-US" sz="2400" dirty="0" smtClean="0"/>
              <a:t>Shifts of the demand curve and the supply curve can happen simultaneously. </a:t>
            </a:r>
            <a:br>
              <a:rPr lang="en-US" sz="2400" dirty="0" smtClean="0"/>
            </a:br>
            <a:r>
              <a:rPr lang="en-US" sz="2400" dirty="0" smtClean="0"/>
              <a:t/>
            </a:r>
            <a:br>
              <a:rPr lang="en-US" sz="2400" dirty="0" smtClean="0"/>
            </a:br>
            <a:r>
              <a:rPr lang="en-US" sz="2400" dirty="0" smtClean="0"/>
              <a:t>When they shift in opposite directions, the change in equilibrium price is predictable but the change in equilibrium quantity is not. </a:t>
            </a:r>
            <a:br>
              <a:rPr lang="en-US" sz="2400" dirty="0" smtClean="0"/>
            </a:br>
            <a:r>
              <a:rPr lang="en-US" sz="2400" dirty="0" smtClean="0"/>
              <a:t/>
            </a:r>
            <a:br>
              <a:rPr lang="en-US" sz="2400" dirty="0" smtClean="0"/>
            </a:br>
            <a:r>
              <a:rPr lang="en-US" sz="2400" dirty="0" smtClean="0"/>
              <a:t>When they shift in the same direction, the change in equilibrium quantity is predictable but the change in equilibrium price is not. </a:t>
            </a:r>
            <a:br>
              <a:rPr lang="en-US" sz="2400" dirty="0" smtClean="0"/>
            </a:br>
            <a:r>
              <a:rPr lang="en-US" sz="2400" dirty="0" smtClean="0"/>
              <a:t/>
            </a:r>
            <a:br>
              <a:rPr lang="en-US" sz="2400" dirty="0" smtClean="0"/>
            </a:br>
            <a:r>
              <a:rPr lang="en-US" sz="2400" dirty="0" smtClean="0"/>
              <a:t>In general, the curve that shifts the greater distance has a greater effect on the changes in equilibrium price and quantity.</a:t>
            </a:r>
          </a:p>
          <a:p>
            <a:pPr>
              <a:buFont typeface="Arial" pitchFamily="34" charset="0"/>
              <a:buChar char="•"/>
              <a:defRPr/>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4"/>
          <p:cNvSpPr>
            <a:spLocks noGrp="1"/>
          </p:cNvSpPr>
          <p:nvPr>
            <p:ph idx="1"/>
          </p:nvPr>
        </p:nvSpPr>
        <p:spPr>
          <a:xfrm>
            <a:off x="899592" y="620688"/>
            <a:ext cx="7992888" cy="6021288"/>
          </a:xfrm>
        </p:spPr>
        <p:txBody>
          <a:bodyPr numCol="2"/>
          <a:lstStyle/>
          <a:p>
            <a:pPr>
              <a:buFont typeface="Arial" pitchFamily="34" charset="0"/>
              <a:buChar char="•"/>
              <a:defRPr/>
            </a:pPr>
            <a:r>
              <a:rPr lang="en-US" sz="2400" dirty="0" smtClean="0"/>
              <a:t>Competitive market</a:t>
            </a:r>
          </a:p>
          <a:p>
            <a:pPr>
              <a:buFont typeface="Arial" pitchFamily="34" charset="0"/>
              <a:buChar char="•"/>
              <a:defRPr/>
            </a:pPr>
            <a:r>
              <a:rPr lang="en-US" sz="2400" dirty="0" smtClean="0"/>
              <a:t>Supply and demand model</a:t>
            </a:r>
          </a:p>
          <a:p>
            <a:pPr>
              <a:buFont typeface="Arial" pitchFamily="34" charset="0"/>
              <a:buChar char="•"/>
              <a:defRPr/>
            </a:pPr>
            <a:r>
              <a:rPr lang="en-US" sz="2400" dirty="0" smtClean="0"/>
              <a:t>Demand schedule</a:t>
            </a:r>
          </a:p>
          <a:p>
            <a:pPr>
              <a:buFont typeface="Arial" pitchFamily="34" charset="0"/>
              <a:buChar char="•"/>
              <a:defRPr/>
            </a:pPr>
            <a:r>
              <a:rPr lang="en-US" sz="2400" dirty="0" smtClean="0"/>
              <a:t>Quantity demanded</a:t>
            </a:r>
          </a:p>
          <a:p>
            <a:pPr>
              <a:buFont typeface="Arial" pitchFamily="34" charset="0"/>
              <a:buChar char="•"/>
              <a:defRPr/>
            </a:pPr>
            <a:r>
              <a:rPr lang="en-US" sz="2400" dirty="0" smtClean="0"/>
              <a:t>Demand curve</a:t>
            </a:r>
          </a:p>
          <a:p>
            <a:pPr>
              <a:buFont typeface="Arial" pitchFamily="34" charset="0"/>
              <a:buChar char="•"/>
              <a:defRPr/>
            </a:pPr>
            <a:r>
              <a:rPr lang="en-US" sz="2400" dirty="0" smtClean="0"/>
              <a:t>Law of demand</a:t>
            </a:r>
          </a:p>
          <a:p>
            <a:pPr>
              <a:buFont typeface="Arial" pitchFamily="34" charset="0"/>
              <a:buChar char="•"/>
              <a:defRPr/>
            </a:pPr>
            <a:r>
              <a:rPr lang="en-US" sz="2400" dirty="0" smtClean="0"/>
              <a:t>Shift of the demand curve</a:t>
            </a:r>
          </a:p>
          <a:p>
            <a:pPr>
              <a:buFont typeface="Arial" pitchFamily="34" charset="0"/>
              <a:buChar char="•"/>
              <a:defRPr/>
            </a:pPr>
            <a:r>
              <a:rPr lang="en-US" sz="2400" dirty="0" smtClean="0"/>
              <a:t>Movement along the demand curve</a:t>
            </a:r>
          </a:p>
          <a:p>
            <a:pPr>
              <a:buFont typeface="Arial" pitchFamily="34" charset="0"/>
              <a:buChar char="•"/>
              <a:defRPr/>
            </a:pPr>
            <a:r>
              <a:rPr lang="en-US" sz="2400" dirty="0" smtClean="0"/>
              <a:t>Substitutes</a:t>
            </a:r>
          </a:p>
          <a:p>
            <a:pPr>
              <a:buFont typeface="Arial" pitchFamily="34" charset="0"/>
              <a:buChar char="•"/>
              <a:defRPr/>
            </a:pPr>
            <a:r>
              <a:rPr lang="en-US" sz="2400" dirty="0" smtClean="0"/>
              <a:t>Complements</a:t>
            </a:r>
          </a:p>
          <a:p>
            <a:pPr>
              <a:buFont typeface="Arial" pitchFamily="34" charset="0"/>
              <a:buChar char="•"/>
              <a:defRPr/>
            </a:pPr>
            <a:r>
              <a:rPr lang="en-US" sz="2400" dirty="0" smtClean="0"/>
              <a:t>Normal good</a:t>
            </a:r>
          </a:p>
          <a:p>
            <a:pPr>
              <a:buFont typeface="Arial" pitchFamily="34" charset="0"/>
              <a:buChar char="•"/>
              <a:defRPr/>
            </a:pPr>
            <a:r>
              <a:rPr lang="en-US" sz="2400" dirty="0" smtClean="0"/>
              <a:t>Inferior good</a:t>
            </a:r>
          </a:p>
          <a:p>
            <a:pPr>
              <a:buFont typeface="Arial" pitchFamily="34" charset="0"/>
              <a:buChar char="•"/>
              <a:defRPr/>
            </a:pPr>
            <a:r>
              <a:rPr lang="en-US" sz="2400" dirty="0" smtClean="0"/>
              <a:t>Individual demand curve</a:t>
            </a:r>
          </a:p>
          <a:p>
            <a:pPr>
              <a:buFont typeface="Arial" pitchFamily="34" charset="0"/>
              <a:buChar char="•"/>
              <a:defRPr/>
            </a:pPr>
            <a:r>
              <a:rPr lang="en-US" sz="2400" dirty="0" smtClean="0"/>
              <a:t>Quantity supplied</a:t>
            </a:r>
          </a:p>
          <a:p>
            <a:pPr>
              <a:buFont typeface="Arial" pitchFamily="34" charset="0"/>
              <a:buChar char="•"/>
              <a:defRPr/>
            </a:pPr>
            <a:r>
              <a:rPr lang="en-US" sz="2400" dirty="0" smtClean="0"/>
              <a:t>Supply schedule</a:t>
            </a:r>
          </a:p>
          <a:p>
            <a:pPr>
              <a:buFont typeface="Arial" pitchFamily="34" charset="0"/>
              <a:buChar char="•"/>
              <a:defRPr/>
            </a:pPr>
            <a:r>
              <a:rPr lang="en-US" sz="2400" dirty="0" smtClean="0"/>
              <a:t>Supply curve</a:t>
            </a:r>
          </a:p>
          <a:p>
            <a:pPr>
              <a:buFont typeface="Arial" pitchFamily="34" charset="0"/>
              <a:buChar char="•"/>
              <a:defRPr/>
            </a:pPr>
            <a:r>
              <a:rPr lang="en-US" sz="2400" dirty="0" smtClean="0"/>
              <a:t>Shift of the supply curve</a:t>
            </a:r>
          </a:p>
          <a:p>
            <a:pPr>
              <a:buFont typeface="Arial" pitchFamily="34" charset="0"/>
              <a:buChar char="•"/>
              <a:defRPr/>
            </a:pPr>
            <a:r>
              <a:rPr lang="en-US" sz="2400" dirty="0" smtClean="0"/>
              <a:t>Movement along the supply curve</a:t>
            </a:r>
          </a:p>
          <a:p>
            <a:pPr>
              <a:buFont typeface="Arial" pitchFamily="34" charset="0"/>
              <a:buChar char="•"/>
              <a:defRPr/>
            </a:pPr>
            <a:r>
              <a:rPr lang="en-US" sz="2400" dirty="0" smtClean="0"/>
              <a:t>Input</a:t>
            </a:r>
          </a:p>
          <a:p>
            <a:pPr>
              <a:buFont typeface="Arial" pitchFamily="34" charset="0"/>
              <a:buChar char="•"/>
              <a:defRPr/>
            </a:pPr>
            <a:r>
              <a:rPr lang="en-US" sz="2400" dirty="0" smtClean="0"/>
              <a:t>Individual supply curve</a:t>
            </a:r>
          </a:p>
          <a:p>
            <a:pPr>
              <a:buFont typeface="Arial" pitchFamily="34" charset="0"/>
              <a:buChar char="•"/>
              <a:defRPr/>
            </a:pPr>
            <a:r>
              <a:rPr lang="en-US" sz="2400" dirty="0" smtClean="0"/>
              <a:t>Equilibrium price</a:t>
            </a:r>
          </a:p>
          <a:p>
            <a:pPr>
              <a:buFont typeface="Arial" pitchFamily="34" charset="0"/>
              <a:buChar char="•"/>
              <a:defRPr/>
            </a:pPr>
            <a:r>
              <a:rPr lang="en-US" sz="2400" dirty="0" smtClean="0"/>
              <a:t>Equilibrium quantity</a:t>
            </a:r>
          </a:p>
          <a:p>
            <a:pPr>
              <a:buFont typeface="Arial" pitchFamily="34" charset="0"/>
              <a:buChar char="•"/>
              <a:defRPr/>
            </a:pPr>
            <a:r>
              <a:rPr lang="en-US" sz="2400" dirty="0" smtClean="0"/>
              <a:t>Market-clearing price</a:t>
            </a:r>
          </a:p>
          <a:p>
            <a:pPr>
              <a:buFont typeface="Arial" pitchFamily="34" charset="0"/>
              <a:buChar char="•"/>
              <a:defRPr/>
            </a:pPr>
            <a:r>
              <a:rPr lang="en-US" sz="2400" dirty="0" smtClean="0"/>
              <a:t>Surplus</a:t>
            </a:r>
          </a:p>
          <a:p>
            <a:pPr>
              <a:buFont typeface="Arial" pitchFamily="34" charset="0"/>
              <a:buChar char="•"/>
              <a:defRPr/>
            </a:pPr>
            <a:r>
              <a:rPr lang="en-US" sz="2400" dirty="0" smtClean="0"/>
              <a:t>Shortage</a:t>
            </a:r>
            <a:endParaRPr lang="en-US" sz="2400" dirty="0"/>
          </a:p>
        </p:txBody>
      </p:sp>
      <p:sp>
        <p:nvSpPr>
          <p:cNvPr id="4" name="Title 3"/>
          <p:cNvSpPr>
            <a:spLocks noGrp="1"/>
          </p:cNvSpPr>
          <p:nvPr>
            <p:ph type="title"/>
          </p:nvPr>
        </p:nvSpPr>
        <p:spPr>
          <a:xfrm>
            <a:off x="900113" y="39688"/>
            <a:ext cx="8064500" cy="579437"/>
          </a:xfrm>
        </p:spPr>
        <p:txBody>
          <a:bodyPr/>
          <a:lstStyle/>
          <a:p>
            <a:pPr eaLnBrk="1" hangingPunct="1">
              <a:defRPr/>
            </a:pPr>
            <a:r>
              <a:rPr lang="id-ID" dirty="0" smtClean="0">
                <a:effectLst>
                  <a:outerShdw blurRad="38100" dist="38100" dir="2700000" algn="tl">
                    <a:srgbClr val="C0C0C0"/>
                  </a:outerShdw>
                </a:effectLst>
              </a:rPr>
              <a:t>KEY TERMS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animEffect transition="in" filter="fade">
                                      <p:cBhvr>
                                        <p:cTn id="7" dur="500"/>
                                        <p:tgtEl>
                                          <p:spTgt spid="1024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242">
                                            <p:txEl>
                                              <p:pRg st="1" end="1"/>
                                            </p:txEl>
                                          </p:spTgt>
                                        </p:tgtEl>
                                        <p:attrNameLst>
                                          <p:attrName>style.visibility</p:attrName>
                                        </p:attrNameLst>
                                      </p:cBhvr>
                                      <p:to>
                                        <p:strVal val="visible"/>
                                      </p:to>
                                    </p:set>
                                    <p:animEffect transition="in" filter="fade">
                                      <p:cBhvr>
                                        <p:cTn id="10" dur="500"/>
                                        <p:tgtEl>
                                          <p:spTgt spid="1024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242">
                                            <p:txEl>
                                              <p:pRg st="2" end="2"/>
                                            </p:txEl>
                                          </p:spTgt>
                                        </p:tgtEl>
                                        <p:attrNameLst>
                                          <p:attrName>style.visibility</p:attrName>
                                        </p:attrNameLst>
                                      </p:cBhvr>
                                      <p:to>
                                        <p:strVal val="visible"/>
                                      </p:to>
                                    </p:set>
                                    <p:animEffect transition="in" filter="fade">
                                      <p:cBhvr>
                                        <p:cTn id="13" dur="500"/>
                                        <p:tgtEl>
                                          <p:spTgt spid="1024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242">
                                            <p:txEl>
                                              <p:pRg st="3" end="3"/>
                                            </p:txEl>
                                          </p:spTgt>
                                        </p:tgtEl>
                                        <p:attrNameLst>
                                          <p:attrName>style.visibility</p:attrName>
                                        </p:attrNameLst>
                                      </p:cBhvr>
                                      <p:to>
                                        <p:strVal val="visible"/>
                                      </p:to>
                                    </p:set>
                                    <p:animEffect transition="in" filter="fade">
                                      <p:cBhvr>
                                        <p:cTn id="16" dur="500"/>
                                        <p:tgtEl>
                                          <p:spTgt spid="10242">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242">
                                            <p:txEl>
                                              <p:pRg st="4" end="4"/>
                                            </p:txEl>
                                          </p:spTgt>
                                        </p:tgtEl>
                                        <p:attrNameLst>
                                          <p:attrName>style.visibility</p:attrName>
                                        </p:attrNameLst>
                                      </p:cBhvr>
                                      <p:to>
                                        <p:strVal val="visible"/>
                                      </p:to>
                                    </p:set>
                                    <p:animEffect transition="in" filter="fade">
                                      <p:cBhvr>
                                        <p:cTn id="19" dur="500"/>
                                        <p:tgtEl>
                                          <p:spTgt spid="10242">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242">
                                            <p:txEl>
                                              <p:pRg st="5" end="5"/>
                                            </p:txEl>
                                          </p:spTgt>
                                        </p:tgtEl>
                                        <p:attrNameLst>
                                          <p:attrName>style.visibility</p:attrName>
                                        </p:attrNameLst>
                                      </p:cBhvr>
                                      <p:to>
                                        <p:strVal val="visible"/>
                                      </p:to>
                                    </p:set>
                                    <p:animEffect transition="in" filter="fade">
                                      <p:cBhvr>
                                        <p:cTn id="22" dur="500"/>
                                        <p:tgtEl>
                                          <p:spTgt spid="10242">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242">
                                            <p:txEl>
                                              <p:pRg st="6" end="6"/>
                                            </p:txEl>
                                          </p:spTgt>
                                        </p:tgtEl>
                                        <p:attrNameLst>
                                          <p:attrName>style.visibility</p:attrName>
                                        </p:attrNameLst>
                                      </p:cBhvr>
                                      <p:to>
                                        <p:strVal val="visible"/>
                                      </p:to>
                                    </p:set>
                                    <p:animEffect transition="in" filter="fade">
                                      <p:cBhvr>
                                        <p:cTn id="25" dur="500"/>
                                        <p:tgtEl>
                                          <p:spTgt spid="10242">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242">
                                            <p:txEl>
                                              <p:pRg st="7" end="7"/>
                                            </p:txEl>
                                          </p:spTgt>
                                        </p:tgtEl>
                                        <p:attrNameLst>
                                          <p:attrName>style.visibility</p:attrName>
                                        </p:attrNameLst>
                                      </p:cBhvr>
                                      <p:to>
                                        <p:strVal val="visible"/>
                                      </p:to>
                                    </p:set>
                                    <p:animEffect transition="in" filter="fade">
                                      <p:cBhvr>
                                        <p:cTn id="28" dur="500"/>
                                        <p:tgtEl>
                                          <p:spTgt spid="10242">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242">
                                            <p:txEl>
                                              <p:pRg st="8" end="8"/>
                                            </p:txEl>
                                          </p:spTgt>
                                        </p:tgtEl>
                                        <p:attrNameLst>
                                          <p:attrName>style.visibility</p:attrName>
                                        </p:attrNameLst>
                                      </p:cBhvr>
                                      <p:to>
                                        <p:strVal val="visible"/>
                                      </p:to>
                                    </p:set>
                                    <p:animEffect transition="in" filter="fade">
                                      <p:cBhvr>
                                        <p:cTn id="31" dur="500"/>
                                        <p:tgtEl>
                                          <p:spTgt spid="10242">
                                            <p:txEl>
                                              <p:pRg st="8" end="8"/>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242">
                                            <p:txEl>
                                              <p:pRg st="9" end="9"/>
                                            </p:txEl>
                                          </p:spTgt>
                                        </p:tgtEl>
                                        <p:attrNameLst>
                                          <p:attrName>style.visibility</p:attrName>
                                        </p:attrNameLst>
                                      </p:cBhvr>
                                      <p:to>
                                        <p:strVal val="visible"/>
                                      </p:to>
                                    </p:set>
                                    <p:animEffect transition="in" filter="fade">
                                      <p:cBhvr>
                                        <p:cTn id="34" dur="500"/>
                                        <p:tgtEl>
                                          <p:spTgt spid="10242">
                                            <p:txEl>
                                              <p:pRg st="9" end="9"/>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242">
                                            <p:txEl>
                                              <p:pRg st="10" end="10"/>
                                            </p:txEl>
                                          </p:spTgt>
                                        </p:tgtEl>
                                        <p:attrNameLst>
                                          <p:attrName>style.visibility</p:attrName>
                                        </p:attrNameLst>
                                      </p:cBhvr>
                                      <p:to>
                                        <p:strVal val="visible"/>
                                      </p:to>
                                    </p:set>
                                    <p:animEffect transition="in" filter="fade">
                                      <p:cBhvr>
                                        <p:cTn id="37" dur="500"/>
                                        <p:tgtEl>
                                          <p:spTgt spid="10242">
                                            <p:txEl>
                                              <p:pRg st="10" end="1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0242">
                                            <p:txEl>
                                              <p:pRg st="11" end="11"/>
                                            </p:txEl>
                                          </p:spTgt>
                                        </p:tgtEl>
                                        <p:attrNameLst>
                                          <p:attrName>style.visibility</p:attrName>
                                        </p:attrNameLst>
                                      </p:cBhvr>
                                      <p:to>
                                        <p:strVal val="visible"/>
                                      </p:to>
                                    </p:set>
                                    <p:animEffect transition="in" filter="fade">
                                      <p:cBhvr>
                                        <p:cTn id="40" dur="500"/>
                                        <p:tgtEl>
                                          <p:spTgt spid="10242">
                                            <p:txEl>
                                              <p:pRg st="11" end="11"/>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0242">
                                            <p:txEl>
                                              <p:pRg st="12" end="12"/>
                                            </p:txEl>
                                          </p:spTgt>
                                        </p:tgtEl>
                                        <p:attrNameLst>
                                          <p:attrName>style.visibility</p:attrName>
                                        </p:attrNameLst>
                                      </p:cBhvr>
                                      <p:to>
                                        <p:strVal val="visible"/>
                                      </p:to>
                                    </p:set>
                                    <p:animEffect transition="in" filter="fade">
                                      <p:cBhvr>
                                        <p:cTn id="43" dur="500"/>
                                        <p:tgtEl>
                                          <p:spTgt spid="10242">
                                            <p:txEl>
                                              <p:pRg st="12" end="12"/>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0242">
                                            <p:txEl>
                                              <p:pRg st="13" end="13"/>
                                            </p:txEl>
                                          </p:spTgt>
                                        </p:tgtEl>
                                        <p:attrNameLst>
                                          <p:attrName>style.visibility</p:attrName>
                                        </p:attrNameLst>
                                      </p:cBhvr>
                                      <p:to>
                                        <p:strVal val="visible"/>
                                      </p:to>
                                    </p:set>
                                    <p:animEffect transition="in" filter="fade">
                                      <p:cBhvr>
                                        <p:cTn id="46" dur="500"/>
                                        <p:tgtEl>
                                          <p:spTgt spid="10242">
                                            <p:txEl>
                                              <p:pRg st="13" end="13"/>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0242">
                                            <p:txEl>
                                              <p:pRg st="14" end="14"/>
                                            </p:txEl>
                                          </p:spTgt>
                                        </p:tgtEl>
                                        <p:attrNameLst>
                                          <p:attrName>style.visibility</p:attrName>
                                        </p:attrNameLst>
                                      </p:cBhvr>
                                      <p:to>
                                        <p:strVal val="visible"/>
                                      </p:to>
                                    </p:set>
                                    <p:animEffect transition="in" filter="fade">
                                      <p:cBhvr>
                                        <p:cTn id="49" dur="500"/>
                                        <p:tgtEl>
                                          <p:spTgt spid="10242">
                                            <p:txEl>
                                              <p:pRg st="14" end="14"/>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0242">
                                            <p:txEl>
                                              <p:pRg st="15" end="15"/>
                                            </p:txEl>
                                          </p:spTgt>
                                        </p:tgtEl>
                                        <p:attrNameLst>
                                          <p:attrName>style.visibility</p:attrName>
                                        </p:attrNameLst>
                                      </p:cBhvr>
                                      <p:to>
                                        <p:strVal val="visible"/>
                                      </p:to>
                                    </p:set>
                                    <p:animEffect transition="in" filter="fade">
                                      <p:cBhvr>
                                        <p:cTn id="52" dur="500"/>
                                        <p:tgtEl>
                                          <p:spTgt spid="10242">
                                            <p:txEl>
                                              <p:pRg st="15" end="15"/>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0242">
                                            <p:txEl>
                                              <p:pRg st="16" end="16"/>
                                            </p:txEl>
                                          </p:spTgt>
                                        </p:tgtEl>
                                        <p:attrNameLst>
                                          <p:attrName>style.visibility</p:attrName>
                                        </p:attrNameLst>
                                      </p:cBhvr>
                                      <p:to>
                                        <p:strVal val="visible"/>
                                      </p:to>
                                    </p:set>
                                    <p:animEffect transition="in" filter="fade">
                                      <p:cBhvr>
                                        <p:cTn id="55" dur="500"/>
                                        <p:tgtEl>
                                          <p:spTgt spid="10242">
                                            <p:txEl>
                                              <p:pRg st="16" end="16"/>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0242">
                                            <p:txEl>
                                              <p:pRg st="17" end="17"/>
                                            </p:txEl>
                                          </p:spTgt>
                                        </p:tgtEl>
                                        <p:attrNameLst>
                                          <p:attrName>style.visibility</p:attrName>
                                        </p:attrNameLst>
                                      </p:cBhvr>
                                      <p:to>
                                        <p:strVal val="visible"/>
                                      </p:to>
                                    </p:set>
                                    <p:animEffect transition="in" filter="fade">
                                      <p:cBhvr>
                                        <p:cTn id="58" dur="500"/>
                                        <p:tgtEl>
                                          <p:spTgt spid="10242">
                                            <p:txEl>
                                              <p:pRg st="17" end="17"/>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0242">
                                            <p:txEl>
                                              <p:pRg st="18" end="18"/>
                                            </p:txEl>
                                          </p:spTgt>
                                        </p:tgtEl>
                                        <p:attrNameLst>
                                          <p:attrName>style.visibility</p:attrName>
                                        </p:attrNameLst>
                                      </p:cBhvr>
                                      <p:to>
                                        <p:strVal val="visible"/>
                                      </p:to>
                                    </p:set>
                                    <p:animEffect transition="in" filter="fade">
                                      <p:cBhvr>
                                        <p:cTn id="61" dur="500"/>
                                        <p:tgtEl>
                                          <p:spTgt spid="10242">
                                            <p:txEl>
                                              <p:pRg st="18" end="18"/>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0242">
                                            <p:txEl>
                                              <p:pRg st="19" end="19"/>
                                            </p:txEl>
                                          </p:spTgt>
                                        </p:tgtEl>
                                        <p:attrNameLst>
                                          <p:attrName>style.visibility</p:attrName>
                                        </p:attrNameLst>
                                      </p:cBhvr>
                                      <p:to>
                                        <p:strVal val="visible"/>
                                      </p:to>
                                    </p:set>
                                    <p:animEffect transition="in" filter="fade">
                                      <p:cBhvr>
                                        <p:cTn id="64" dur="500"/>
                                        <p:tgtEl>
                                          <p:spTgt spid="10242">
                                            <p:txEl>
                                              <p:pRg st="19" end="19"/>
                                            </p:txEl>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0242">
                                            <p:txEl>
                                              <p:pRg st="20" end="20"/>
                                            </p:txEl>
                                          </p:spTgt>
                                        </p:tgtEl>
                                        <p:attrNameLst>
                                          <p:attrName>style.visibility</p:attrName>
                                        </p:attrNameLst>
                                      </p:cBhvr>
                                      <p:to>
                                        <p:strVal val="visible"/>
                                      </p:to>
                                    </p:set>
                                    <p:animEffect transition="in" filter="fade">
                                      <p:cBhvr>
                                        <p:cTn id="67" dur="500"/>
                                        <p:tgtEl>
                                          <p:spTgt spid="10242">
                                            <p:txEl>
                                              <p:pRg st="20" end="2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0242">
                                            <p:txEl>
                                              <p:pRg st="21" end="21"/>
                                            </p:txEl>
                                          </p:spTgt>
                                        </p:tgtEl>
                                        <p:attrNameLst>
                                          <p:attrName>style.visibility</p:attrName>
                                        </p:attrNameLst>
                                      </p:cBhvr>
                                      <p:to>
                                        <p:strVal val="visible"/>
                                      </p:to>
                                    </p:set>
                                    <p:animEffect transition="in" filter="fade">
                                      <p:cBhvr>
                                        <p:cTn id="70" dur="500"/>
                                        <p:tgtEl>
                                          <p:spTgt spid="10242">
                                            <p:txEl>
                                              <p:pRg st="21" end="21"/>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0242">
                                            <p:txEl>
                                              <p:pRg st="22" end="22"/>
                                            </p:txEl>
                                          </p:spTgt>
                                        </p:tgtEl>
                                        <p:attrNameLst>
                                          <p:attrName>style.visibility</p:attrName>
                                        </p:attrNameLst>
                                      </p:cBhvr>
                                      <p:to>
                                        <p:strVal val="visible"/>
                                      </p:to>
                                    </p:set>
                                    <p:animEffect transition="in" filter="fade">
                                      <p:cBhvr>
                                        <p:cTn id="73" dur="500"/>
                                        <p:tgtEl>
                                          <p:spTgt spid="10242">
                                            <p:txEl>
                                              <p:pRg st="22" end="22"/>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0242">
                                            <p:txEl>
                                              <p:pRg st="23" end="23"/>
                                            </p:txEl>
                                          </p:spTgt>
                                        </p:tgtEl>
                                        <p:attrNameLst>
                                          <p:attrName>style.visibility</p:attrName>
                                        </p:attrNameLst>
                                      </p:cBhvr>
                                      <p:to>
                                        <p:strVal val="visible"/>
                                      </p:to>
                                    </p:set>
                                    <p:animEffect transition="in" filter="fade">
                                      <p:cBhvr>
                                        <p:cTn id="76" dur="500"/>
                                        <p:tgtEl>
                                          <p:spTgt spid="10242">
                                            <p:txEl>
                                              <p:pRg st="23" end="23"/>
                                            </p:txEl>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0242">
                                            <p:txEl>
                                              <p:pRg st="24" end="24"/>
                                            </p:txEl>
                                          </p:spTgt>
                                        </p:tgtEl>
                                        <p:attrNameLst>
                                          <p:attrName>style.visibility</p:attrName>
                                        </p:attrNameLst>
                                      </p:cBhvr>
                                      <p:to>
                                        <p:strVal val="visible"/>
                                      </p:to>
                                    </p:set>
                                    <p:animEffect transition="in" filter="fade">
                                      <p:cBhvr>
                                        <p:cTn id="79" dur="500"/>
                                        <p:tgtEl>
                                          <p:spTgt spid="10242">
                                            <p:txEl>
                                              <p:pRg st="24" end="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2391</TotalTime>
  <Words>7559</Words>
  <Application>Microsoft Office PowerPoint</Application>
  <PresentationFormat>On-screen Show (4:3)</PresentationFormat>
  <Paragraphs>1014</Paragraphs>
  <Slides>51</Slides>
  <Notes>37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51</vt:i4>
      </vt:variant>
    </vt:vector>
  </HeadingPairs>
  <TitlesOfParts>
    <vt:vector size="61" baseType="lpstr">
      <vt:lpstr>MS PGothic</vt:lpstr>
      <vt:lpstr>Myriad Roman</vt:lpstr>
      <vt:lpstr>OfficinaSans-Bold</vt:lpstr>
      <vt:lpstr>OfficinaSans-Book</vt:lpstr>
      <vt:lpstr>Arial</vt:lpstr>
      <vt:lpstr>Calibri</vt:lpstr>
      <vt:lpstr>Times New Roman</vt:lpstr>
      <vt:lpstr>Wingdings</vt:lpstr>
      <vt:lpstr>Office Theme</vt:lpstr>
      <vt:lpstr>1_Office Theme</vt:lpstr>
      <vt:lpstr>Chapter 3</vt:lpstr>
      <vt:lpstr>Supply and Demand</vt:lpstr>
      <vt:lpstr>PowerPoint Presentation</vt:lpstr>
      <vt:lpstr>Demand Schedule</vt:lpstr>
      <vt:lpstr>Demand Curve</vt:lpstr>
      <vt:lpstr>PowerPoint Presentation</vt:lpstr>
      <vt:lpstr>An Increase in Demand</vt:lpstr>
      <vt:lpstr>An Increase in Demand</vt:lpstr>
      <vt:lpstr>Movement Along the Demand Curve</vt:lpstr>
      <vt:lpstr>Shifts of the Demand Curve</vt:lpstr>
      <vt:lpstr>What Causes a Demand Curve to Shift?</vt:lpstr>
      <vt:lpstr>What Causes a Demand Curve to Shift?</vt:lpstr>
      <vt:lpstr>Individual Demand Curve and the Market Demand Curve</vt:lpstr>
      <vt:lpstr>ECONOMICS IN ACTION: Beating the Traffic</vt:lpstr>
      <vt:lpstr>ECONOMICS IN ACTION</vt:lpstr>
      <vt:lpstr>Supply Schedule</vt:lpstr>
      <vt:lpstr>Supply Curve</vt:lpstr>
      <vt:lpstr>An Increase in Supply</vt:lpstr>
      <vt:lpstr>Movement Along the Supply Curve</vt:lpstr>
      <vt:lpstr>Shifts of the Supply Curve</vt:lpstr>
      <vt:lpstr>PowerPoint Presentation</vt:lpstr>
      <vt:lpstr>ECONOMICS IN ACTION</vt:lpstr>
      <vt:lpstr>ECONOMICS IN ACTION</vt:lpstr>
      <vt:lpstr>Individual Supply Curve and the Market Supply Curve</vt:lpstr>
      <vt:lpstr>PowerPoint Presentation</vt:lpstr>
      <vt:lpstr>Supply, Demand and Equilibrium</vt:lpstr>
      <vt:lpstr>Market Equilibrium</vt:lpstr>
      <vt:lpstr>Surplus</vt:lpstr>
      <vt:lpstr>Shortage</vt:lpstr>
      <vt:lpstr>Equilibrium and Shifts of the Demand Curve</vt:lpstr>
      <vt:lpstr>Equilibrium and Shifts of the Supply Curve</vt:lpstr>
      <vt:lpstr>Technology Shifts of the Supply Curve</vt:lpstr>
      <vt:lpstr>ECONOMICS IN ACTION</vt:lpstr>
      <vt:lpstr>FOR INQUIRING MINDS</vt:lpstr>
      <vt:lpstr>Simultaneous Shifts of Supply and Demand</vt:lpstr>
      <vt:lpstr>Simultaneous Shifts of Supply and Demand</vt:lpstr>
      <vt:lpstr>Simultaneous Shifts of Supply and Demand</vt:lpstr>
      <vt:lpstr>FOR INQUIRING MINDS</vt:lpstr>
      <vt:lpstr>ECONOMICS IN ACTION</vt:lpstr>
      <vt:lpstr>ECONOMICS IN ACTION</vt:lpstr>
      <vt:lpstr>ECONOMICS IN ACTION</vt:lpstr>
      <vt:lpstr>SUMMARY</vt:lpstr>
      <vt:lpstr>SUMMARY</vt:lpstr>
      <vt:lpstr>SUMMARY</vt:lpstr>
      <vt:lpstr>SUMMARY</vt:lpstr>
      <vt:lpstr>SUMMARY</vt:lpstr>
      <vt:lpstr>SUMMARY</vt:lpstr>
      <vt:lpstr>SUMMARY</vt:lpstr>
      <vt:lpstr>SUMMARY</vt:lpstr>
      <vt:lpstr>SUMMARY</vt:lpstr>
      <vt:lpstr>KEY TERMS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Study of Economics</dc:title>
  <dc:creator>Gideon</dc:creator>
  <cp:lastModifiedBy>Lawrence Khoo</cp:lastModifiedBy>
  <cp:revision>177</cp:revision>
  <dcterms:created xsi:type="dcterms:W3CDTF">2011-08-04T07:26:48Z</dcterms:created>
  <dcterms:modified xsi:type="dcterms:W3CDTF">2015-10-13T02:47:22Z</dcterms:modified>
</cp:coreProperties>
</file>