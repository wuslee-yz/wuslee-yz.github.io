
<file path=[Content_Types].xml><?xml version="1.0" encoding="utf-8"?>
<Types xmlns="http://schemas.openxmlformats.org/package/2006/content-types">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6.xml" ContentType="application/vnd.openxmlformats-officedocument.presentationml.slideMaster+xml"/>
  <Override PartName="/ppt/notesSlides/notesSlide9.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media/image3.png" ContentType="image/png"/>
  <Override PartName="/ppt/media/image1.jpeg" ContentType="image/jpeg"/>
  <Override PartName="/ppt/media/image2.png" ContentType="image/png"/>
  <Override PartName="/ppt/media/image4.jpeg" ContentType="image/jpeg"/>
  <Override PartName="/ppt/media/image5.png" ContentType="image/png"/>
  <Override PartName="/ppt/media/image6.png" ContentType="image/png"/>
  <Override PartName="/ppt/media/image9.png" ContentType="image/png"/>
  <Override PartName="/ppt/media/image7.jpeg" ContentType="image/jpeg"/>
  <Override PartName="/ppt/media/image8.png" ContentType="image/png"/>
  <Override PartName="/ppt/media/image10.jpeg" ContentType="image/jpeg"/>
  <Override PartName="/ppt/media/image11.png" ContentType="image/png"/>
  <Override PartName="/ppt/media/image12.png" ContentType="image/png"/>
  <Override PartName="/ppt/media/image13.jpeg" ContentType="image/jpeg"/>
  <Override PartName="/ppt/media/image14.png" ContentType="image/png"/>
  <Override PartName="/ppt/media/image15.png" ContentType="image/png"/>
  <Override PartName="/ppt/media/image16.jpeg" ContentType="image/jpeg"/>
  <Override PartName="/ppt/media/image17.png" ContentType="image/png"/>
  <Override PartName="/ppt/media/image18.png" ContentType="image/png"/>
  <Override PartName="/ppt/media/image19.jpeg" ContentType="image/jpeg"/>
  <Override PartName="/ppt/media/image20.jpeg" ContentType="image/jpeg"/>
  <Override PartName="/ppt/slideLayouts/slideLayout39.xml" ContentType="application/vnd.openxmlformats-officedocument.presentationml.slideLayout+xml"/>
  <Override PartName="/ppt/slideLayouts/slideLayout9.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6.xml" ContentType="application/vnd.openxmlformats-officedocument.presentationml.slideLayout+xml"/>
  <Override PartName="/ppt/slideLayouts/slideLayout37.xml" ContentType="application/vnd.openxmlformats-officedocument.presentationml.slideLayout+xml"/>
  <Override PartName="/ppt/slideLayouts/slideLayout7.xml" ContentType="application/vnd.openxmlformats-officedocument.presentationml.slideLayout+xml"/>
  <Override PartName="/ppt/slideLayouts/slideLayout38.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9.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55.xml.rels" ContentType="application/vnd.openxmlformats-package.relationships+xml"/>
  <Override PartName="/ppt/slideLayouts/_rels/slideLayout3.xml.rels" ContentType="application/vnd.openxmlformats-package.relationships+xml"/>
  <Override PartName="/ppt/slideLayouts/_rels/slideLayout56.xml.rels" ContentType="application/vnd.openxmlformats-package.relationships+xml"/>
  <Override PartName="/ppt/slideLayouts/_rels/slideLayout4.xml.rels" ContentType="application/vnd.openxmlformats-package.relationships+xml"/>
  <Override PartName="/ppt/slideLayouts/_rels/slideLayout57.xml.rels" ContentType="application/vnd.openxmlformats-package.relationships+xml"/>
  <Override PartName="/ppt/slideLayouts/_rels/slideLayout5.xml.rels" ContentType="application/vnd.openxmlformats-package.relationships+xml"/>
  <Override PartName="/ppt/slideLayouts/_rels/slideLayout58.xml.rels" ContentType="application/vnd.openxmlformats-package.relationships+xml"/>
  <Override PartName="/ppt/slideLayouts/_rels/slideLayout6.xml.rels" ContentType="application/vnd.openxmlformats-package.relationships+xml"/>
  <Override PartName="/ppt/slideLayouts/_rels/slideLayout59.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25.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6" name="PlaceHolder 1"/>
          <p:cNvSpPr>
            <a:spLocks noGrp="1"/>
          </p:cNvSpPr>
          <p:nvPr>
            <p:ph type="body"/>
          </p:nvPr>
        </p:nvSpPr>
        <p:spPr>
          <a:xfrm>
            <a:off x="777240" y="4777560"/>
            <a:ext cx="6217560" cy="4525920"/>
          </a:xfrm>
          <a:prstGeom prst="rect">
            <a:avLst/>
          </a:prstGeom>
        </p:spPr>
        <p:txBody>
          <a:bodyPr lIns="0" rIns="0" tIns="0" bIns="0"/>
          <a:p>
            <a:r>
              <a:rPr lang="en-US" sz="2000" spc="-1" strike="noStrike">
                <a:solidFill>
                  <a:srgbClr val="000000"/>
                </a:solidFill>
                <a:uFill>
                  <a:solidFill>
                    <a:srgbClr val="ffffff"/>
                  </a:solidFill>
                </a:uFill>
                <a:latin typeface="Arial"/>
              </a:rPr>
              <a:t>Click to edit the notes format</a:t>
            </a:r>
            <a:endParaRPr lang="en-US" sz="2000" spc="-1" strike="noStrike">
              <a:solidFill>
                <a:srgbClr val="000000"/>
              </a:solidFill>
              <a:uFill>
                <a:solidFill>
                  <a:srgbClr val="ffffff"/>
                </a:solidFill>
              </a:uFill>
              <a:latin typeface="Arial"/>
            </a:endParaRPr>
          </a:p>
        </p:txBody>
      </p:sp>
      <p:sp>
        <p:nvSpPr>
          <p:cNvPr id="217" name="PlaceHolder 2"/>
          <p:cNvSpPr>
            <a:spLocks noGrp="1"/>
          </p:cNvSpPr>
          <p:nvPr>
            <p:ph type="hdr"/>
          </p:nvPr>
        </p:nvSpPr>
        <p:spPr>
          <a:xfrm>
            <a:off x="0" y="0"/>
            <a:ext cx="3372840" cy="502560"/>
          </a:xfrm>
          <a:prstGeom prst="rect">
            <a:avLst/>
          </a:prstGeom>
        </p:spPr>
        <p:txBody>
          <a:bodyPr lIns="0" rIns="0" tIns="0" bIns="0"/>
          <a:p>
            <a:r>
              <a:rPr lang="en-US" sz="1400" spc="-1" strike="noStrike">
                <a:solidFill>
                  <a:srgbClr val="000000"/>
                </a:solidFill>
                <a:uFill>
                  <a:solidFill>
                    <a:srgbClr val="ffffff"/>
                  </a:solidFill>
                </a:uFill>
                <a:latin typeface="Times New Roman"/>
              </a:rPr>
              <a:t>&lt;header&gt;</a:t>
            </a:r>
            <a:endParaRPr lang="en-US" sz="1400" spc="-1" strike="noStrike">
              <a:solidFill>
                <a:srgbClr val="000000"/>
              </a:solidFill>
              <a:uFill>
                <a:solidFill>
                  <a:srgbClr val="ffffff"/>
                </a:solidFill>
              </a:uFill>
              <a:latin typeface="Times New Roman"/>
            </a:endParaRPr>
          </a:p>
        </p:txBody>
      </p:sp>
      <p:sp>
        <p:nvSpPr>
          <p:cNvPr id="218" name="PlaceHolder 3"/>
          <p:cNvSpPr>
            <a:spLocks noGrp="1"/>
          </p:cNvSpPr>
          <p:nvPr>
            <p:ph type="dt"/>
          </p:nvPr>
        </p:nvSpPr>
        <p:spPr>
          <a:xfrm>
            <a:off x="4399200" y="0"/>
            <a:ext cx="3372840" cy="502560"/>
          </a:xfrm>
          <a:prstGeom prst="rect">
            <a:avLst/>
          </a:prstGeom>
        </p:spPr>
        <p:txBody>
          <a:bodyPr lIns="0" rIns="0" tIns="0" bIns="0"/>
          <a:p>
            <a:pPr algn="r"/>
            <a:r>
              <a:rPr lang="en-US" sz="1400" spc="-1" strike="noStrike">
                <a:solidFill>
                  <a:srgbClr val="000000"/>
                </a:solidFill>
                <a:uFill>
                  <a:solidFill>
                    <a:srgbClr val="ffffff"/>
                  </a:solidFill>
                </a:uFill>
                <a:latin typeface="Times New Roman"/>
              </a:rPr>
              <a:t>&lt;date/time&gt;</a:t>
            </a:r>
            <a:endParaRPr lang="en-US" sz="1400" spc="-1" strike="noStrike">
              <a:solidFill>
                <a:srgbClr val="000000"/>
              </a:solidFill>
              <a:uFill>
                <a:solidFill>
                  <a:srgbClr val="ffffff"/>
                </a:solidFill>
              </a:uFill>
              <a:latin typeface="Times New Roman"/>
            </a:endParaRPr>
          </a:p>
        </p:txBody>
      </p:sp>
      <p:sp>
        <p:nvSpPr>
          <p:cNvPr id="219" name="PlaceHolder 4"/>
          <p:cNvSpPr>
            <a:spLocks noGrp="1"/>
          </p:cNvSpPr>
          <p:nvPr>
            <p:ph type="ftr"/>
          </p:nvPr>
        </p:nvSpPr>
        <p:spPr>
          <a:xfrm>
            <a:off x="0" y="9555480"/>
            <a:ext cx="3372840" cy="502560"/>
          </a:xfrm>
          <a:prstGeom prst="rect">
            <a:avLst/>
          </a:prstGeom>
        </p:spPr>
        <p:txBody>
          <a:bodyPr lIns="0" rIns="0" tIns="0" bIns="0" anchor="b"/>
          <a:p>
            <a:r>
              <a:rPr lang="en-US" sz="1400" spc="-1" strike="noStrike">
                <a:solidFill>
                  <a:srgbClr val="000000"/>
                </a:solidFill>
                <a:uFill>
                  <a:solidFill>
                    <a:srgbClr val="ffffff"/>
                  </a:solidFill>
                </a:uFill>
                <a:latin typeface="Times New Roman"/>
              </a:rPr>
              <a:t>&lt;footer&gt;</a:t>
            </a:r>
            <a:endParaRPr lang="en-US" sz="1400" spc="-1" strike="noStrike">
              <a:solidFill>
                <a:srgbClr val="000000"/>
              </a:solidFill>
              <a:uFill>
                <a:solidFill>
                  <a:srgbClr val="ffffff"/>
                </a:solidFill>
              </a:uFill>
              <a:latin typeface="Times New Roman"/>
            </a:endParaRPr>
          </a:p>
        </p:txBody>
      </p:sp>
      <p:sp>
        <p:nvSpPr>
          <p:cNvPr id="220" name="PlaceHolder 5"/>
          <p:cNvSpPr>
            <a:spLocks noGrp="1"/>
          </p:cNvSpPr>
          <p:nvPr>
            <p:ph type="sldNum"/>
          </p:nvPr>
        </p:nvSpPr>
        <p:spPr>
          <a:xfrm>
            <a:off x="4399200" y="9555480"/>
            <a:ext cx="3372840" cy="502560"/>
          </a:xfrm>
          <a:prstGeom prst="rect">
            <a:avLst/>
          </a:prstGeom>
        </p:spPr>
        <p:txBody>
          <a:bodyPr lIns="0" rIns="0" tIns="0" bIns="0" anchor="b"/>
          <a:p>
            <a:pPr algn="r"/>
            <a:fld id="{87C60FA8-865F-43C5-8EF8-9E26D00D7065}" type="slidenum">
              <a:rPr lang="en-US" sz="1400" spc="-1" strike="noStrike">
                <a:solidFill>
                  <a:srgbClr val="000000"/>
                </a:solidFill>
                <a:uFill>
                  <a:solidFill>
                    <a:srgbClr val="ffffff"/>
                  </a:solidFill>
                </a:uFill>
                <a:latin typeface="Times New Roman"/>
              </a:rPr>
              <a:t>&lt;number&gt;</a:t>
            </a:fld>
            <a:endParaRPr lang="en-US" sz="1400" spc="-1" strike="noStrike">
              <a:solidFill>
                <a:srgbClr val="000000"/>
              </a:solidFill>
              <a:uFill>
                <a:solidFill>
                  <a:srgbClr val="ffffff"/>
                </a:solidFill>
              </a:u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3"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24" name="CustomShape 2"/>
          <p:cNvSpPr/>
          <p:nvPr/>
        </p:nvSpPr>
        <p:spPr>
          <a:xfrm>
            <a:off x="3884760" y="8685360"/>
            <a:ext cx="2971080" cy="456480"/>
          </a:xfrm>
          <a:prstGeom prst="rect">
            <a:avLst/>
          </a:prstGeom>
          <a:noFill/>
          <a:ln>
            <a:noFill/>
          </a:ln>
        </p:spPr>
        <p:style>
          <a:lnRef idx="0"/>
          <a:fillRef idx="0"/>
          <a:effectRef idx="0"/>
          <a:fontRef idx="minor"/>
        </p:style>
        <p:txBody>
          <a:bodyPr lIns="90000" rIns="90000" tIns="45000" bIns="45000" anchor="b"/>
          <a:p>
            <a:pPr algn="r">
              <a:lnSpc>
                <a:spcPct val="100000"/>
              </a:lnSpc>
            </a:pPr>
            <a:fld id="{AF9D8DD2-CE86-4C9E-BDAF-A7078B45D93F}" type="slidenum">
              <a:rPr lang="en-US" sz="1200" spc="-1" strike="noStrike">
                <a:solidFill>
                  <a:srgbClr val="000000"/>
                </a:solidFill>
                <a:uFill>
                  <a:solidFill>
                    <a:srgbClr val="ffffff"/>
                  </a:solidFill>
                </a:uFill>
                <a:latin typeface="Calibri"/>
                <a:ea typeface="MS PGothic"/>
              </a:rPr>
              <a:t>&lt;number&gt;</a:t>
            </a:fld>
            <a:endParaRPr lang="en-US" sz="1800" spc="-1" strike="noStrike">
              <a:solidFill>
                <a:srgbClr val="000000"/>
              </a:solidFill>
              <a:uFill>
                <a:solidFill>
                  <a:srgbClr val="ffffff"/>
                </a:solidFill>
              </a:u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5"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26" name="CustomShape 2"/>
          <p:cNvSpPr/>
          <p:nvPr/>
        </p:nvSpPr>
        <p:spPr>
          <a:xfrm>
            <a:off x="3884760" y="8685360"/>
            <a:ext cx="2971080" cy="456480"/>
          </a:xfrm>
          <a:prstGeom prst="rect">
            <a:avLst/>
          </a:prstGeom>
          <a:noFill/>
          <a:ln>
            <a:noFill/>
          </a:ln>
        </p:spPr>
        <p:style>
          <a:lnRef idx="0"/>
          <a:fillRef idx="0"/>
          <a:effectRef idx="0"/>
          <a:fontRef idx="minor"/>
        </p:style>
        <p:txBody>
          <a:bodyPr lIns="90000" rIns="90000" tIns="45000" bIns="45000" anchor="b"/>
          <a:p>
            <a:pPr algn="r">
              <a:lnSpc>
                <a:spcPct val="100000"/>
              </a:lnSpc>
            </a:pPr>
            <a:fld id="{C1433EA5-8C60-4B9C-94E4-1C44A7AD54C2}" type="slidenum">
              <a:rPr lang="en-US" sz="1200" spc="-1" strike="noStrike">
                <a:solidFill>
                  <a:srgbClr val="000000"/>
                </a:solidFill>
                <a:uFill>
                  <a:solidFill>
                    <a:srgbClr val="ffffff"/>
                  </a:solidFill>
                </a:uFill>
                <a:latin typeface="Calibri"/>
                <a:ea typeface="MS PGothic"/>
              </a:rPr>
              <a:t>&lt;number&gt;</a:t>
            </a:fld>
            <a:endParaRPr lang="en-US" sz="1800" spc="-1" strike="noStrike">
              <a:solidFill>
                <a:srgbClr val="000000"/>
              </a:solidFill>
              <a:uFill>
                <a:solidFill>
                  <a:srgbClr val="ffffff"/>
                </a:solidFill>
              </a:u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7"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28"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9"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30"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31"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32"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33" name="PlaceHolder 1"/>
          <p:cNvSpPr>
            <a:spLocks noGrp="1"/>
          </p:cNvSpPr>
          <p:nvPr>
            <p:ph type="body"/>
          </p:nvPr>
        </p:nvSpPr>
        <p:spPr>
          <a:xfrm>
            <a:off x="685800" y="4343400"/>
            <a:ext cx="5485680" cy="4114080"/>
          </a:xfrm>
          <a:prstGeom prst="rect">
            <a:avLst/>
          </a:prstGeom>
        </p:spPr>
        <p:txBody>
          <a:bodyPr lIns="0" rIns="0" tIns="0" bIns="0"/>
          <a:p>
            <a:r>
              <a:rPr b="1" i="1" lang="en-US" sz="2000" spc="-1" strike="noStrike" u="sng">
                <a:solidFill>
                  <a:srgbClr val="000000"/>
                </a:solidFill>
                <a:uFill>
                  <a:solidFill>
                    <a:srgbClr val="ffffff"/>
                  </a:solidFill>
                </a:uFill>
                <a:latin typeface="Arial"/>
              </a:rPr>
              <a:t>Figure Caption:</a:t>
            </a:r>
            <a:r>
              <a:rPr b="1" i="1" lang="en-US" sz="2000" spc="-1" strike="noStrike">
                <a:solidFill>
                  <a:srgbClr val="000000"/>
                </a:solidFill>
                <a:uFill>
                  <a:solidFill>
                    <a:srgbClr val="ffffff"/>
                  </a:solidFill>
                </a:uFill>
                <a:latin typeface="Arial"/>
              </a:rPr>
              <a:t> </a:t>
            </a:r>
            <a:r>
              <a:rPr b="1" lang="en-US" sz="2000" spc="-1" strike="noStrike">
                <a:solidFill>
                  <a:srgbClr val="000000"/>
                </a:solidFill>
                <a:uFill>
                  <a:solidFill>
                    <a:srgbClr val="ffffff"/>
                  </a:solidFill>
                </a:uFill>
                <a:latin typeface="Arial"/>
              </a:rPr>
              <a:t>Figure 17-1: Four Types of Goods</a:t>
            </a:r>
            <a:endParaRPr lang="en-US" sz="2000" spc="-1" strike="noStrike">
              <a:solidFill>
                <a:srgbClr val="000000"/>
              </a:solidFill>
              <a:uFill>
                <a:solidFill>
                  <a:srgbClr val="ffffff"/>
                </a:solidFill>
              </a:uFill>
              <a:latin typeface="Arial"/>
            </a:endParaRPr>
          </a:p>
          <a:p>
            <a:r>
              <a:rPr lang="en-US" sz="2000" spc="-1" strike="noStrike">
                <a:solidFill>
                  <a:srgbClr val="000000"/>
                </a:solidFill>
                <a:uFill>
                  <a:solidFill>
                    <a:srgbClr val="ffffff"/>
                  </a:solidFill>
                </a:uFill>
                <a:latin typeface="Arial"/>
              </a:rPr>
              <a:t>There are four types of goods. The type of a good depends on (1) whether or not it is excludable—whether a producer can prevent someone from consuming it; and (2) whether or not it is rival in consumption—whether it is impossible for the same unit of a good to be consumed by more than one person at the same time.</a:t>
            </a:r>
            <a:endParaRPr lang="en-US" sz="2000" spc="-1" strike="noStrike">
              <a:solidFill>
                <a:srgbClr val="000000"/>
              </a:solidFill>
              <a:uFill>
                <a:solidFill>
                  <a:srgbClr val="ffffff"/>
                </a:solidFill>
              </a:u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34"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35"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36"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37" name="CustomShape 2"/>
          <p:cNvSpPr/>
          <p:nvPr/>
        </p:nvSpPr>
        <p:spPr>
          <a:xfrm>
            <a:off x="3884760" y="8685360"/>
            <a:ext cx="2971080" cy="456480"/>
          </a:xfrm>
          <a:prstGeom prst="rect">
            <a:avLst/>
          </a:prstGeom>
          <a:noFill/>
          <a:ln>
            <a:noFill/>
          </a:ln>
        </p:spPr>
        <p:style>
          <a:lnRef idx="0"/>
          <a:fillRef idx="0"/>
          <a:effectRef idx="0"/>
          <a:fontRef idx="minor"/>
        </p:style>
        <p:txBody>
          <a:bodyPr lIns="90000" rIns="90000" tIns="45000" bIns="45000" anchor="b"/>
          <a:p>
            <a:pPr algn="r">
              <a:lnSpc>
                <a:spcPct val="100000"/>
              </a:lnSpc>
            </a:pPr>
            <a:fld id="{1B35F71F-C309-4B0A-A6D3-5D560ACAF77C}" type="slidenum">
              <a:rPr lang="en-US" sz="1200" spc="-1" strike="noStrike">
                <a:solidFill>
                  <a:srgbClr val="000000"/>
                </a:solidFill>
                <a:uFill>
                  <a:solidFill>
                    <a:srgbClr val="ffffff"/>
                  </a:solidFill>
                </a:uFill>
                <a:latin typeface="Calibri"/>
                <a:ea typeface="MS PGothic"/>
              </a:rPr>
              <a:t>&lt;number&gt;</a:t>
            </a:fld>
            <a:endParaRPr lang="en-US" sz="1800" spc="-1" strike="noStrike">
              <a:solidFill>
                <a:srgbClr val="000000"/>
              </a:solidFill>
              <a:uFill>
                <a:solidFill>
                  <a:srgbClr val="ffffff"/>
                </a:solidFill>
              </a:u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38"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39"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0" name="PlaceHolder 1"/>
          <p:cNvSpPr>
            <a:spLocks noGrp="1"/>
          </p:cNvSpPr>
          <p:nvPr>
            <p:ph type="body"/>
          </p:nvPr>
        </p:nvSpPr>
        <p:spPr>
          <a:xfrm>
            <a:off x="685800" y="4343400"/>
            <a:ext cx="5485680" cy="4114080"/>
          </a:xfrm>
          <a:prstGeom prst="rect">
            <a:avLst/>
          </a:prstGeom>
        </p:spPr>
        <p:txBody>
          <a:bodyPr lIns="0" rIns="0" tIns="0" bIns="0"/>
          <a:p>
            <a:r>
              <a:rPr b="1" i="1" lang="en-US" sz="2000" spc="-1" strike="noStrike" u="sng">
                <a:solidFill>
                  <a:srgbClr val="000000"/>
                </a:solidFill>
                <a:uFill>
                  <a:solidFill>
                    <a:srgbClr val="ffffff"/>
                  </a:solidFill>
                </a:uFill>
                <a:latin typeface="Arial"/>
              </a:rPr>
              <a:t>Figure Caption:</a:t>
            </a:r>
            <a:r>
              <a:rPr b="1" i="1" lang="en-US" sz="2000" spc="-1" strike="noStrike">
                <a:solidFill>
                  <a:srgbClr val="000000"/>
                </a:solidFill>
                <a:uFill>
                  <a:solidFill>
                    <a:srgbClr val="ffffff"/>
                  </a:solidFill>
                </a:uFill>
                <a:latin typeface="Arial"/>
              </a:rPr>
              <a:t> </a:t>
            </a:r>
            <a:r>
              <a:rPr b="1" lang="en-US" sz="2000" spc="-1" strike="noStrike">
                <a:solidFill>
                  <a:srgbClr val="000000"/>
                </a:solidFill>
                <a:uFill>
                  <a:solidFill>
                    <a:srgbClr val="ffffff"/>
                  </a:solidFill>
                </a:uFill>
                <a:latin typeface="Arial"/>
              </a:rPr>
              <a:t>Figure 17-2: A Public Good</a:t>
            </a:r>
            <a:endParaRPr lang="en-US" sz="2000" spc="-1" strike="noStrike">
              <a:solidFill>
                <a:srgbClr val="000000"/>
              </a:solidFill>
              <a:uFill>
                <a:solidFill>
                  <a:srgbClr val="ffffff"/>
                </a:solidFill>
              </a:uFill>
              <a:latin typeface="Arial"/>
            </a:endParaRPr>
          </a:p>
          <a:p>
            <a:r>
              <a:rPr lang="en-US" sz="2000" spc="-1" strike="noStrike">
                <a:solidFill>
                  <a:srgbClr val="000000"/>
                </a:solidFill>
                <a:uFill>
                  <a:solidFill>
                    <a:srgbClr val="ffffff"/>
                  </a:solidFill>
                </a:uFill>
                <a:latin typeface="Arial"/>
              </a:rPr>
              <a:t>Panel (a) shows Ted’s individual marginal benefit curve of street cleanings per month, MBT, and panel (b) shows Alice’s individual marginal benefit curve, MBA. </a:t>
            </a:r>
            <a:endParaRPr lang="en-US" sz="2000" spc="-1" strike="noStrike">
              <a:solidFill>
                <a:srgbClr val="000000"/>
              </a:solidFill>
              <a:uFill>
                <a:solidFill>
                  <a:srgbClr val="ffffff"/>
                </a:solidFill>
              </a:u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1" name="PlaceHolder 1"/>
          <p:cNvSpPr>
            <a:spLocks noGrp="1"/>
          </p:cNvSpPr>
          <p:nvPr>
            <p:ph type="body"/>
          </p:nvPr>
        </p:nvSpPr>
        <p:spPr>
          <a:xfrm>
            <a:off x="685800" y="4343400"/>
            <a:ext cx="5485680" cy="4114080"/>
          </a:xfrm>
          <a:prstGeom prst="rect">
            <a:avLst/>
          </a:prstGeom>
        </p:spPr>
        <p:txBody>
          <a:bodyPr lIns="0" rIns="0" tIns="0" bIns="0"/>
          <a:p>
            <a:r>
              <a:rPr b="1" i="1" lang="en-US" sz="2000" spc="-1" strike="noStrike" u="sng">
                <a:solidFill>
                  <a:srgbClr val="000000"/>
                </a:solidFill>
                <a:uFill>
                  <a:solidFill>
                    <a:srgbClr val="ffffff"/>
                  </a:solidFill>
                </a:uFill>
                <a:latin typeface="Arial"/>
              </a:rPr>
              <a:t>Figure Caption:</a:t>
            </a:r>
            <a:r>
              <a:rPr b="1" i="1" lang="en-US" sz="2000" spc="-1" strike="noStrike">
                <a:solidFill>
                  <a:srgbClr val="000000"/>
                </a:solidFill>
                <a:uFill>
                  <a:solidFill>
                    <a:srgbClr val="ffffff"/>
                  </a:solidFill>
                </a:uFill>
                <a:latin typeface="Arial"/>
              </a:rPr>
              <a:t> </a:t>
            </a:r>
            <a:r>
              <a:rPr b="1" lang="en-US" sz="2000" spc="-1" strike="noStrike">
                <a:solidFill>
                  <a:srgbClr val="000000"/>
                </a:solidFill>
                <a:uFill>
                  <a:solidFill>
                    <a:srgbClr val="ffffff"/>
                  </a:solidFill>
                </a:uFill>
                <a:latin typeface="Arial"/>
              </a:rPr>
              <a:t>Figure 17-2: A Public Good</a:t>
            </a:r>
            <a:endParaRPr lang="en-US" sz="2000" spc="-1" strike="noStrike">
              <a:solidFill>
                <a:srgbClr val="000000"/>
              </a:solidFill>
              <a:uFill>
                <a:solidFill>
                  <a:srgbClr val="ffffff"/>
                </a:solidFill>
              </a:uFill>
              <a:latin typeface="Arial"/>
            </a:endParaRPr>
          </a:p>
          <a:p>
            <a:r>
              <a:rPr lang="en-US" sz="2000" spc="-1" strike="noStrike">
                <a:solidFill>
                  <a:srgbClr val="000000"/>
                </a:solidFill>
                <a:uFill>
                  <a:solidFill>
                    <a:srgbClr val="ffffff"/>
                  </a:solidFill>
                </a:uFill>
                <a:latin typeface="Arial"/>
              </a:rPr>
              <a:t>Panel (c) shows the marginal social benefit of the public good, equal to the sum of the individual marginal benefits to all consumers (in this case, Ted and Alice). The marginal social benefit curve, MSB, is the vertical sum of the individual marginal benefit curves MBT and MBA. At a constant marginal cost of $6, there should be 5 street cleanings per month, because the marginal social benefit of going from 4 to 5 cleanings is $8 ($3 for Ted plus $5 for Alice), but the marginal social benefit of going from 5 to 6 cleanings is only $2. </a:t>
            </a:r>
            <a:endParaRPr lang="en-US" sz="2000" spc="-1" strike="noStrike">
              <a:solidFill>
                <a:srgbClr val="000000"/>
              </a:solidFill>
              <a:uFill>
                <a:solidFill>
                  <a:srgbClr val="ffffff"/>
                </a:solidFill>
              </a:u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2"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43"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4"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45"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6"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47"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48"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49"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50" name="PlaceHolder 1"/>
          <p:cNvSpPr>
            <a:spLocks noGrp="1"/>
          </p:cNvSpPr>
          <p:nvPr>
            <p:ph type="body"/>
          </p:nvPr>
        </p:nvSpPr>
        <p:spPr>
          <a:xfrm>
            <a:off x="685800" y="4343400"/>
            <a:ext cx="5485680" cy="4114080"/>
          </a:xfrm>
          <a:prstGeom prst="rect">
            <a:avLst/>
          </a:prstGeom>
        </p:spPr>
        <p:txBody>
          <a:bodyPr lIns="0" rIns="0" tIns="0" bIns="0"/>
          <a:p>
            <a:r>
              <a:rPr b="1" i="1" lang="en-US" sz="2000" spc="-1" strike="noStrike" u="sng">
                <a:solidFill>
                  <a:srgbClr val="000000"/>
                </a:solidFill>
                <a:uFill>
                  <a:solidFill>
                    <a:srgbClr val="ffffff"/>
                  </a:solidFill>
                </a:uFill>
                <a:latin typeface="Arial"/>
              </a:rPr>
              <a:t>Figure Caption:</a:t>
            </a:r>
            <a:r>
              <a:rPr b="1" i="1" lang="en-US" sz="2000" spc="-1" strike="noStrike">
                <a:solidFill>
                  <a:srgbClr val="000000"/>
                </a:solidFill>
                <a:uFill>
                  <a:solidFill>
                    <a:srgbClr val="ffffff"/>
                  </a:solidFill>
                </a:uFill>
                <a:latin typeface="Arial"/>
              </a:rPr>
              <a:t> </a:t>
            </a:r>
            <a:r>
              <a:rPr b="1" lang="en-US" sz="2000" spc="-1" strike="noStrike">
                <a:solidFill>
                  <a:srgbClr val="000000"/>
                </a:solidFill>
                <a:uFill>
                  <a:solidFill>
                    <a:srgbClr val="ffffff"/>
                  </a:solidFill>
                </a:uFill>
                <a:latin typeface="Arial"/>
              </a:rPr>
              <a:t>Figure 17-3: A Common Resource</a:t>
            </a:r>
            <a:endParaRPr lang="en-US" sz="2000" spc="-1" strike="noStrike">
              <a:solidFill>
                <a:srgbClr val="000000"/>
              </a:solidFill>
              <a:uFill>
                <a:solidFill>
                  <a:srgbClr val="ffffff"/>
                </a:solidFill>
              </a:uFill>
              <a:latin typeface="Arial"/>
            </a:endParaRPr>
          </a:p>
          <a:p>
            <a:r>
              <a:rPr lang="en-US" sz="2000" spc="-1" strike="noStrike">
                <a:solidFill>
                  <a:srgbClr val="000000"/>
                </a:solidFill>
                <a:uFill>
                  <a:solidFill>
                    <a:srgbClr val="ffffff"/>
                  </a:solidFill>
                </a:uFill>
                <a:latin typeface="Arial"/>
              </a:rPr>
              <a:t>The supply curve S, which shows the marginal cost of production of the fishing industry, is composed of the individual supply curves of the individual fishermen. But each fisherman’s individual marginal cost does not include the cost that his or her actions impose on others: the depletion of the common resource. As a result, the marginal social cost curve, MSC, lies above the supply curve; in an unregulated market, the quantity of the common resource used, QMKT, exceeds the efficient quantity of use, Q. </a:t>
            </a:r>
            <a:endParaRPr lang="en-US" sz="2000" spc="-1" strike="noStrike">
              <a:solidFill>
                <a:srgbClr val="000000"/>
              </a:solidFill>
              <a:uFill>
                <a:solidFill>
                  <a:srgbClr val="ffffff"/>
                </a:solidFill>
              </a:u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51"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52" name="CustomShape 2"/>
          <p:cNvSpPr/>
          <p:nvPr/>
        </p:nvSpPr>
        <p:spPr>
          <a:xfrm>
            <a:off x="3884760" y="8685360"/>
            <a:ext cx="2971080" cy="456480"/>
          </a:xfrm>
          <a:prstGeom prst="rect">
            <a:avLst/>
          </a:prstGeom>
          <a:noFill/>
          <a:ln>
            <a:noFill/>
          </a:ln>
        </p:spPr>
        <p:style>
          <a:lnRef idx="0"/>
          <a:fillRef idx="0"/>
          <a:effectRef idx="0"/>
          <a:fontRef idx="minor"/>
        </p:style>
        <p:txBody>
          <a:bodyPr lIns="90000" rIns="90000" tIns="45000" bIns="45000" anchor="b"/>
          <a:p>
            <a:pPr algn="r">
              <a:lnSpc>
                <a:spcPct val="100000"/>
              </a:lnSpc>
            </a:pPr>
            <a:fld id="{9111F37D-2CF6-4380-BE57-4952188B33BC}" type="slidenum">
              <a:rPr lang="en-US" sz="1200" spc="-1" strike="noStrike">
                <a:solidFill>
                  <a:srgbClr val="000000"/>
                </a:solidFill>
                <a:uFill>
                  <a:solidFill>
                    <a:srgbClr val="ffffff"/>
                  </a:solidFill>
                </a:uFill>
                <a:latin typeface="Calibri"/>
                <a:ea typeface="MS PGothic"/>
              </a:rPr>
              <a:t>&lt;number&gt;</a:t>
            </a:fld>
            <a:endParaRPr lang="en-US" sz="1800" spc="-1" strike="noStrike">
              <a:solidFill>
                <a:srgbClr val="000000"/>
              </a:solidFill>
              <a:uFill>
                <a:solidFill>
                  <a:srgbClr val="ffffff"/>
                </a:solidFill>
              </a:u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53"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54"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55" name="PlaceHolder 1"/>
          <p:cNvSpPr>
            <a:spLocks noGrp="1"/>
          </p:cNvSpPr>
          <p:nvPr>
            <p:ph type="body"/>
          </p:nvPr>
        </p:nvSpPr>
        <p:spPr>
          <a:xfrm>
            <a:off x="685800" y="4343400"/>
            <a:ext cx="5485680" cy="4114080"/>
          </a:xfrm>
          <a:prstGeom prst="rect">
            <a:avLst/>
          </a:prstGeom>
        </p:spPr>
        <p:txBody>
          <a:bodyPr lIns="0" rIns="0" tIns="0" bIns="0"/>
          <a:p>
            <a:endParaRPr lang="en-US" sz="2000" spc="-1" strike="noStrike">
              <a:solidFill>
                <a:srgbClr val="000000"/>
              </a:solidFill>
              <a:uFill>
                <a:solidFill>
                  <a:srgbClr val="ffffff"/>
                </a:solidFill>
              </a:uFill>
              <a:latin typeface="Arial"/>
            </a:endParaRPr>
          </a:p>
        </p:txBody>
      </p:sp>
      <p:sp>
        <p:nvSpPr>
          <p:cNvPr id="556" name="CustomShape 2"/>
          <p:cNvSpPr/>
          <p:nvPr/>
        </p:nvSpPr>
        <p:spPr>
          <a:xfrm>
            <a:off x="3884760" y="8685360"/>
            <a:ext cx="2971080" cy="456480"/>
          </a:xfrm>
          <a:prstGeom prst="rect">
            <a:avLst/>
          </a:prstGeom>
          <a:noFill/>
          <a:ln w="9360">
            <a:noFill/>
          </a:ln>
        </p:spPr>
        <p:style>
          <a:lnRef idx="0"/>
          <a:fillRef idx="0"/>
          <a:effectRef idx="0"/>
          <a:fontRef idx="minor"/>
        </p:style>
      </p:sp>
    </p:spTree>
  </p:cSld>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57" name="PlaceHolder 1"/>
          <p:cNvSpPr>
            <a:spLocks noGrp="1"/>
          </p:cNvSpPr>
          <p:nvPr>
            <p:ph type="body"/>
          </p:nvPr>
        </p:nvSpPr>
        <p:spPr>
          <a:xfrm>
            <a:off x="685800" y="4343400"/>
            <a:ext cx="5485680" cy="4114080"/>
          </a:xfrm>
          <a:prstGeom prst="rect">
            <a:avLst/>
          </a:prstGeom>
        </p:spPr>
        <p:txBody>
          <a:bodyPr lIns="0" rIns="0" tIns="0" bIns="0"/>
          <a:p>
            <a:r>
              <a:rPr b="1" i="1" lang="en-US" sz="2000" spc="-1" strike="noStrike" u="sng">
                <a:solidFill>
                  <a:srgbClr val="000000"/>
                </a:solidFill>
                <a:uFill>
                  <a:solidFill>
                    <a:srgbClr val="ffffff"/>
                  </a:solidFill>
                </a:uFill>
                <a:latin typeface="Arial"/>
              </a:rPr>
              <a:t>Figure Caption:</a:t>
            </a:r>
            <a:r>
              <a:rPr b="1" i="1" lang="en-US" sz="2000" spc="-1" strike="noStrike">
                <a:solidFill>
                  <a:srgbClr val="000000"/>
                </a:solidFill>
                <a:uFill>
                  <a:solidFill>
                    <a:srgbClr val="ffffff"/>
                  </a:solidFill>
                </a:uFill>
                <a:latin typeface="Arial"/>
              </a:rPr>
              <a:t> </a:t>
            </a:r>
            <a:r>
              <a:rPr b="1" lang="en-US" sz="2000" spc="-1" strike="noStrike">
                <a:solidFill>
                  <a:srgbClr val="000000"/>
                </a:solidFill>
                <a:uFill>
                  <a:solidFill>
                    <a:srgbClr val="ffffff"/>
                  </a:solidFill>
                </a:uFill>
                <a:latin typeface="Arial"/>
              </a:rPr>
              <a:t>Figure 17-4: An Artificially Scarce Good</a:t>
            </a:r>
            <a:endParaRPr lang="en-US" sz="2000" spc="-1" strike="noStrike">
              <a:solidFill>
                <a:srgbClr val="000000"/>
              </a:solidFill>
              <a:uFill>
                <a:solidFill>
                  <a:srgbClr val="ffffff"/>
                </a:solidFill>
              </a:uFill>
              <a:latin typeface="Arial"/>
            </a:endParaRPr>
          </a:p>
          <a:p>
            <a:r>
              <a:rPr lang="en-US" sz="2000" spc="-1" strike="noStrike">
                <a:solidFill>
                  <a:srgbClr val="000000"/>
                </a:solidFill>
                <a:uFill>
                  <a:solidFill>
                    <a:srgbClr val="ffffff"/>
                  </a:solidFill>
                </a:uFill>
                <a:latin typeface="Arial"/>
              </a:rPr>
              <a:t>An artificially scarce good is excludable and nonrival in consumption. It is made artificially scarce because producers charge a positive price but the marginal cost of allowing one more person to consume the good is zero. In this example, the market price of a pay-per-view movie is $4 and the quantity demanded at that price is Q</a:t>
            </a:r>
            <a:r>
              <a:rPr lang="en-US" sz="2000" spc="-1" strike="noStrike" baseline="-25000">
                <a:solidFill>
                  <a:srgbClr val="000000"/>
                </a:solidFill>
                <a:uFill>
                  <a:solidFill>
                    <a:srgbClr val="ffffff"/>
                  </a:solidFill>
                </a:uFill>
                <a:latin typeface="Arial"/>
              </a:rPr>
              <a:t>MKT</a:t>
            </a:r>
            <a:r>
              <a:rPr lang="en-US" sz="2000" spc="-1" strike="noStrike">
                <a:solidFill>
                  <a:srgbClr val="000000"/>
                </a:solidFill>
                <a:uFill>
                  <a:solidFill>
                    <a:srgbClr val="ffffff"/>
                  </a:solidFill>
                </a:uFill>
                <a:latin typeface="Arial"/>
              </a:rPr>
              <a:t>. But the efficient level of consumption is Q</a:t>
            </a:r>
            <a:r>
              <a:rPr lang="en-US" sz="2000" spc="-1" strike="noStrike" baseline="-25000">
                <a:solidFill>
                  <a:srgbClr val="000000"/>
                </a:solidFill>
                <a:uFill>
                  <a:solidFill>
                    <a:srgbClr val="ffffff"/>
                  </a:solidFill>
                </a:uFill>
                <a:latin typeface="Arial"/>
              </a:rPr>
              <a:t>OPT</a:t>
            </a:r>
            <a:r>
              <a:rPr lang="en-US" sz="2000" spc="-1" strike="noStrike">
                <a:solidFill>
                  <a:srgbClr val="000000"/>
                </a:solidFill>
                <a:uFill>
                  <a:solidFill>
                    <a:srgbClr val="ffffff"/>
                  </a:solidFill>
                </a:uFill>
                <a:latin typeface="Arial"/>
              </a:rPr>
              <a:t>, the quantity demanded when the price is zero. The efficient quantity, Q</a:t>
            </a:r>
            <a:r>
              <a:rPr lang="en-US" sz="2000" spc="-1" strike="noStrike" baseline="-25000">
                <a:solidFill>
                  <a:srgbClr val="000000"/>
                </a:solidFill>
                <a:uFill>
                  <a:solidFill>
                    <a:srgbClr val="ffffff"/>
                  </a:solidFill>
                </a:uFill>
                <a:latin typeface="Arial"/>
              </a:rPr>
              <a:t>OPT</a:t>
            </a:r>
            <a:r>
              <a:rPr lang="en-US" sz="2000" spc="-1" strike="noStrike">
                <a:solidFill>
                  <a:srgbClr val="000000"/>
                </a:solidFill>
                <a:uFill>
                  <a:solidFill>
                    <a:srgbClr val="ffffff"/>
                  </a:solidFill>
                </a:uFill>
                <a:latin typeface="Arial"/>
              </a:rPr>
              <a:t>, exceeds the quantity demanded in an unregulated market, Q</a:t>
            </a:r>
            <a:r>
              <a:rPr lang="en-US" sz="2000" spc="-1" strike="noStrike" baseline="-25000">
                <a:solidFill>
                  <a:srgbClr val="000000"/>
                </a:solidFill>
                <a:uFill>
                  <a:solidFill>
                    <a:srgbClr val="ffffff"/>
                  </a:solidFill>
                </a:uFill>
                <a:latin typeface="Arial"/>
              </a:rPr>
              <a:t>MKT</a:t>
            </a:r>
            <a:r>
              <a:rPr lang="en-US" sz="2000" spc="-1" strike="noStrike">
                <a:solidFill>
                  <a:srgbClr val="000000"/>
                </a:solidFill>
                <a:uFill>
                  <a:solidFill>
                    <a:srgbClr val="ffffff"/>
                  </a:solidFill>
                </a:uFill>
                <a:latin typeface="Arial"/>
              </a:rPr>
              <a:t>. The shaded area represents the loss in total surplus from charging a price of $4. </a:t>
            </a:r>
            <a:endParaRPr lang="en-US" sz="2000" spc="-1" strike="noStrike">
              <a:solidFill>
                <a:srgbClr val="000000"/>
              </a:solidFill>
              <a:uFill>
                <a:solidFill>
                  <a:srgbClr val="ffffff"/>
                </a:solidFill>
              </a:u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2.pn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 Id="rId3" Type="http://schemas.openxmlformats.org/officeDocument/2006/relationships/image" Target="../media/image15.png"/>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18.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4"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9"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30"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32"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33"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34" name="" descr=""/>
          <p:cNvPicPr/>
          <p:nvPr/>
        </p:nvPicPr>
        <p:blipFill>
          <a:blip r:embed="rId2"/>
          <a:stretch/>
        </p:blipFill>
        <p:spPr>
          <a:xfrm>
            <a:off x="2079000" y="1604520"/>
            <a:ext cx="4984920" cy="3977280"/>
          </a:xfrm>
          <a:prstGeom prst="rect">
            <a:avLst/>
          </a:prstGeom>
          <a:ln>
            <a:noFill/>
          </a:ln>
        </p:spPr>
      </p:pic>
      <p:pic>
        <p:nvPicPr>
          <p:cNvPr id="35" name="" descr=""/>
          <p:cNvPicPr/>
          <p:nvPr/>
        </p:nvPicPr>
        <p:blipFill>
          <a:blip r:embed="rId3"/>
          <a:stretch/>
        </p:blipFill>
        <p:spPr>
          <a:xfrm>
            <a:off x="2079000" y="1604520"/>
            <a:ext cx="4984920" cy="397728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39"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41"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43"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44"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48"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49"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50"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52"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53"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54"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56"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57"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58"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60"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61"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64"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65"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66"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68"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69"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70" name="" descr=""/>
          <p:cNvPicPr/>
          <p:nvPr/>
        </p:nvPicPr>
        <p:blipFill>
          <a:blip r:embed="rId2"/>
          <a:stretch/>
        </p:blipFill>
        <p:spPr>
          <a:xfrm>
            <a:off x="2079000" y="1604520"/>
            <a:ext cx="4984920" cy="3977280"/>
          </a:xfrm>
          <a:prstGeom prst="rect">
            <a:avLst/>
          </a:prstGeom>
          <a:ln>
            <a:noFill/>
          </a:ln>
        </p:spPr>
      </p:pic>
      <p:pic>
        <p:nvPicPr>
          <p:cNvPr id="71" name="" descr=""/>
          <p:cNvPicPr/>
          <p:nvPr/>
        </p:nvPicPr>
        <p:blipFill>
          <a:blip r:embed="rId3"/>
          <a:stretch/>
        </p:blipFill>
        <p:spPr>
          <a:xfrm>
            <a:off x="2079000" y="1604520"/>
            <a:ext cx="4984920" cy="3977280"/>
          </a:xfrm>
          <a:prstGeom prst="rect">
            <a:avLst/>
          </a:prstGeom>
          <a:ln>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75"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77"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79"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80"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82"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84"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85"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86"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88"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89"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90"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92"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93"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94"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96"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97"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99"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00"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01"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02"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04"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05"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106" name="" descr=""/>
          <p:cNvPicPr/>
          <p:nvPr/>
        </p:nvPicPr>
        <p:blipFill>
          <a:blip r:embed="rId2"/>
          <a:stretch/>
        </p:blipFill>
        <p:spPr>
          <a:xfrm>
            <a:off x="2079000" y="1604520"/>
            <a:ext cx="4984920" cy="3977280"/>
          </a:xfrm>
          <a:prstGeom prst="rect">
            <a:avLst/>
          </a:prstGeom>
          <a:ln>
            <a:noFill/>
          </a:ln>
        </p:spPr>
      </p:pic>
      <p:pic>
        <p:nvPicPr>
          <p:cNvPr id="107" name="" descr=""/>
          <p:cNvPicPr/>
          <p:nvPr/>
        </p:nvPicPr>
        <p:blipFill>
          <a:blip r:embed="rId3"/>
          <a:stretch/>
        </p:blipFill>
        <p:spPr>
          <a:xfrm>
            <a:off x="2079000" y="1604520"/>
            <a:ext cx="4984920" cy="3977280"/>
          </a:xfrm>
          <a:prstGeom prst="rect">
            <a:avLst/>
          </a:prstGeom>
          <a:ln>
            <a:noFill/>
          </a:ln>
        </p:spPr>
      </p:pic>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11"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13"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15"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16"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18"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20"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21"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22"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24"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25"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26"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28"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29"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0"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32"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3"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35"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6"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7"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38"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40"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41"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142" name="" descr=""/>
          <p:cNvPicPr/>
          <p:nvPr/>
        </p:nvPicPr>
        <p:blipFill>
          <a:blip r:embed="rId2"/>
          <a:stretch/>
        </p:blipFill>
        <p:spPr>
          <a:xfrm>
            <a:off x="2079000" y="1604520"/>
            <a:ext cx="4984920" cy="3977280"/>
          </a:xfrm>
          <a:prstGeom prst="rect">
            <a:avLst/>
          </a:prstGeom>
          <a:ln>
            <a:noFill/>
          </a:ln>
        </p:spPr>
      </p:pic>
      <p:pic>
        <p:nvPicPr>
          <p:cNvPr id="143" name="" descr=""/>
          <p:cNvPicPr/>
          <p:nvPr/>
        </p:nvPicPr>
        <p:blipFill>
          <a:blip r:embed="rId3"/>
          <a:stretch/>
        </p:blipFill>
        <p:spPr>
          <a:xfrm>
            <a:off x="2079000" y="1604520"/>
            <a:ext cx="4984920" cy="3977280"/>
          </a:xfrm>
          <a:prstGeom prst="rect">
            <a:avLst/>
          </a:prstGeom>
          <a:ln>
            <a:noFill/>
          </a:ln>
        </p:spPr>
      </p:pic>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47"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49"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51"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52"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56"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57"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58"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60"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61"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62"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64"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65"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66"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68"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69"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71"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72"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73"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74"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76"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77"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178" name="" descr=""/>
          <p:cNvPicPr/>
          <p:nvPr/>
        </p:nvPicPr>
        <p:blipFill>
          <a:blip r:embed="rId2"/>
          <a:stretch/>
        </p:blipFill>
        <p:spPr>
          <a:xfrm>
            <a:off x="2079000" y="1604520"/>
            <a:ext cx="4984920" cy="3977280"/>
          </a:xfrm>
          <a:prstGeom prst="rect">
            <a:avLst/>
          </a:prstGeom>
          <a:ln>
            <a:noFill/>
          </a:ln>
        </p:spPr>
      </p:pic>
      <p:pic>
        <p:nvPicPr>
          <p:cNvPr id="179" name="" descr=""/>
          <p:cNvPicPr/>
          <p:nvPr/>
        </p:nvPicPr>
        <p:blipFill>
          <a:blip r:embed="rId3"/>
          <a:stretch/>
        </p:blipFill>
        <p:spPr>
          <a:xfrm>
            <a:off x="2079000" y="1604520"/>
            <a:ext cx="4984920" cy="3977280"/>
          </a:xfrm>
          <a:prstGeom prst="rect">
            <a:avLst/>
          </a:prstGeom>
          <a:ln>
            <a:noFill/>
          </a:ln>
        </p:spPr>
      </p:pic>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83" name="PlaceHolder 2"/>
          <p:cNvSpPr>
            <a:spLocks noGrp="1"/>
          </p:cNvSpPr>
          <p:nvPr>
            <p:ph type="subTitle"/>
          </p:nvPr>
        </p:nvSpPr>
        <p:spPr>
          <a:xfrm>
            <a:off x="457200" y="1604520"/>
            <a:ext cx="8229240" cy="397728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85"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87"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88" name="PlaceHolder 3"/>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90" name="PlaceHolder 1"/>
          <p:cNvSpPr>
            <a:spLocks noGrp="1"/>
          </p:cNvSpPr>
          <p:nvPr>
            <p:ph type="subTitle"/>
          </p:nvPr>
        </p:nvSpPr>
        <p:spPr>
          <a:xfrm>
            <a:off x="457200" y="273600"/>
            <a:ext cx="8229240" cy="5307840"/>
          </a:xfrm>
          <a:prstGeom prst="rect">
            <a:avLst/>
          </a:prstGeom>
        </p:spPr>
        <p:txBody>
          <a:bodyPr lIns="0" rIns="0" tIns="0" bIns="0" anchor="ctr"/>
          <a:p>
            <a:pPr algn="ctr"/>
            <a:endParaRPr lang="en-US" sz="3200" spc="-1" strike="noStrike">
              <a:solidFill>
                <a:srgbClr val="000000"/>
              </a:solidFill>
              <a:uFill>
                <a:solidFill>
                  <a:srgbClr val="ffffff"/>
                </a:solidFill>
              </a:u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92"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93" name="PlaceHolder 3"/>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94" name="PlaceHolder 4"/>
          <p:cNvSpPr>
            <a:spLocks noGrp="1"/>
          </p:cNvSpPr>
          <p:nvPr>
            <p:ph type="body"/>
          </p:nvPr>
        </p:nvSpPr>
        <p:spPr>
          <a:xfrm>
            <a:off x="467424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96" name="PlaceHolder 2"/>
          <p:cNvSpPr>
            <a:spLocks noGrp="1"/>
          </p:cNvSpPr>
          <p:nvPr>
            <p:ph type="body"/>
          </p:nvPr>
        </p:nvSpPr>
        <p:spPr>
          <a:xfrm>
            <a:off x="457200" y="1604520"/>
            <a:ext cx="401580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97"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198"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99"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00"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01"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02" name="PlaceHolder 4"/>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04" name="PlaceHolder 2"/>
          <p:cNvSpPr>
            <a:spLocks noGrp="1"/>
          </p:cNvSpPr>
          <p:nvPr>
            <p:ph type="body"/>
          </p:nvPr>
        </p:nvSpPr>
        <p:spPr>
          <a:xfrm>
            <a:off x="457200" y="160452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05" name="PlaceHolder 3"/>
          <p:cNvSpPr>
            <a:spLocks noGrp="1"/>
          </p:cNvSpPr>
          <p:nvPr>
            <p:ph type="body"/>
          </p:nvPr>
        </p:nvSpPr>
        <p:spPr>
          <a:xfrm>
            <a:off x="457200" y="3682080"/>
            <a:ext cx="822924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07" name="PlaceHolder 2"/>
          <p:cNvSpPr>
            <a:spLocks noGrp="1"/>
          </p:cNvSpPr>
          <p:nvPr>
            <p:ph type="body"/>
          </p:nvPr>
        </p:nvSpPr>
        <p:spPr>
          <a:xfrm>
            <a:off x="45720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08" name="PlaceHolder 3"/>
          <p:cNvSpPr>
            <a:spLocks noGrp="1"/>
          </p:cNvSpPr>
          <p:nvPr>
            <p:ph type="body"/>
          </p:nvPr>
        </p:nvSpPr>
        <p:spPr>
          <a:xfrm>
            <a:off x="4674240" y="160452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09" name="PlaceHolder 4"/>
          <p:cNvSpPr>
            <a:spLocks noGrp="1"/>
          </p:cNvSpPr>
          <p:nvPr>
            <p:ph type="body"/>
          </p:nvPr>
        </p:nvSpPr>
        <p:spPr>
          <a:xfrm>
            <a:off x="467424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10" name="PlaceHolder 5"/>
          <p:cNvSpPr>
            <a:spLocks noGrp="1"/>
          </p:cNvSpPr>
          <p:nvPr>
            <p:ph type="body"/>
          </p:nvPr>
        </p:nvSpPr>
        <p:spPr>
          <a:xfrm>
            <a:off x="457200" y="3682080"/>
            <a:ext cx="4015800" cy="189684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457200" y="273600"/>
            <a:ext cx="8229240" cy="114480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212" name="PlaceHolder 2"/>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sp>
        <p:nvSpPr>
          <p:cNvPr id="213" name="PlaceHolder 3"/>
          <p:cNvSpPr>
            <a:spLocks noGrp="1"/>
          </p:cNvSpPr>
          <p:nvPr>
            <p:ph type="body"/>
          </p:nvPr>
        </p:nvSpPr>
        <p:spPr>
          <a:xfrm>
            <a:off x="457200" y="1604520"/>
            <a:ext cx="8229240" cy="3977280"/>
          </a:xfrm>
          <a:prstGeom prst="rect">
            <a:avLst/>
          </a:prstGeom>
        </p:spPr>
        <p:txBody>
          <a:bodyPr lIns="0" rIns="0" tIns="0" bIns="0"/>
          <a:p>
            <a:endParaRPr lang="en-US" sz="3200" spc="-1" strike="noStrike">
              <a:solidFill>
                <a:srgbClr val="000000"/>
              </a:solidFill>
              <a:uFill>
                <a:solidFill>
                  <a:srgbClr val="ffffff"/>
                </a:solidFill>
              </a:uFill>
              <a:latin typeface="Arial"/>
            </a:endParaRPr>
          </a:p>
        </p:txBody>
      </p:sp>
      <p:pic>
        <p:nvPicPr>
          <p:cNvPr id="214" name="" descr=""/>
          <p:cNvPicPr/>
          <p:nvPr/>
        </p:nvPicPr>
        <p:blipFill>
          <a:blip r:embed="rId2"/>
          <a:stretch/>
        </p:blipFill>
        <p:spPr>
          <a:xfrm>
            <a:off x="2079000" y="1604520"/>
            <a:ext cx="4984920" cy="3977280"/>
          </a:xfrm>
          <a:prstGeom prst="rect">
            <a:avLst/>
          </a:prstGeom>
          <a:ln>
            <a:noFill/>
          </a:ln>
        </p:spPr>
      </p:pic>
      <p:pic>
        <p:nvPicPr>
          <p:cNvPr id="215" name="" descr=""/>
          <p:cNvPicPr/>
          <p:nvPr/>
        </p:nvPicPr>
        <p:blipFill>
          <a:blip r:embed="rId3"/>
          <a:stretch/>
        </p:blipFill>
        <p:spPr>
          <a:xfrm>
            <a:off x="2079000" y="1604520"/>
            <a:ext cx="498492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jpe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0.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3.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6.jpeg"/><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075680" y="40320"/>
            <a:ext cx="8073360" cy="577440"/>
          </a:xfrm>
          <a:prstGeom prst="rect">
            <a:avLst/>
          </a:prstGeom>
        </p:spPr>
        <p:txBody>
          <a:bodyPr lIns="0" rIns="0" tIns="0" bIns="0" anchor="ctr"/>
          <a:p>
            <a:pPr algn="ctr"/>
            <a:endParaRPr lang="en-US" sz="4400" spc="-1" strike="noStrike">
              <a:solidFill>
                <a:srgbClr val="000000"/>
              </a:solidFill>
              <a:uFill>
                <a:solidFill>
                  <a:srgbClr val="ffffff"/>
                </a:solidFill>
              </a:uFill>
              <a:latin typeface="Arial"/>
            </a:endParaRPr>
          </a:p>
        </p:txBody>
      </p:sp>
      <p:sp>
        <p:nvSpPr>
          <p:cNvPr id="1"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rIns="0" tIns="0" bIns="0" anchor="ctr"/>
          <a:p>
            <a:pPr algn="ctr"/>
            <a:r>
              <a:rPr lang="en-US" sz="4400" spc="-1" strike="noStrike">
                <a:solidFill>
                  <a:srgbClr val="000000"/>
                </a:solidFill>
                <a:uFill>
                  <a:solidFill>
                    <a:srgbClr val="ffffff"/>
                  </a:solidFill>
                </a:uFill>
                <a:latin typeface="Arial"/>
              </a:rPr>
              <a:t>Click to edit the title text format</a:t>
            </a:r>
            <a:endParaRPr lang="en-US" sz="4400" spc="-1" strike="noStrike">
              <a:solidFill>
                <a:srgbClr val="000000"/>
              </a:solidFill>
              <a:uFill>
                <a:solidFill>
                  <a:srgbClr val="ffffff"/>
                </a:solidFill>
              </a:uFill>
              <a:latin typeface="Arial"/>
            </a:endParaRPr>
          </a:p>
        </p:txBody>
      </p:sp>
      <p:sp>
        <p:nvSpPr>
          <p:cNvPr id="37"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rIns="0" tIns="0" bIns="0" anchor="ctr"/>
          <a:p>
            <a:pPr algn="ctr"/>
            <a:r>
              <a:rPr lang="en-US" sz="4400" spc="-1" strike="noStrike">
                <a:solidFill>
                  <a:srgbClr val="000000"/>
                </a:solidFill>
                <a:uFill>
                  <a:solidFill>
                    <a:srgbClr val="ffffff"/>
                  </a:solidFill>
                </a:uFill>
                <a:latin typeface="Arial"/>
              </a:rPr>
              <a:t>Click to edit the title text format</a:t>
            </a:r>
            <a:endParaRPr lang="en-US" sz="4400" spc="-1" strike="noStrike">
              <a:solidFill>
                <a:srgbClr val="000000"/>
              </a:solidFill>
              <a:uFill>
                <a:solidFill>
                  <a:srgbClr val="ffffff"/>
                </a:solidFill>
              </a:uFill>
              <a:latin typeface="Arial"/>
            </a:endParaRPr>
          </a:p>
        </p:txBody>
      </p:sp>
      <p:sp>
        <p:nvSpPr>
          <p:cNvPr id="73"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rIns="0" tIns="0" bIns="0" anchor="ctr"/>
          <a:p>
            <a:pPr algn="ctr"/>
            <a:r>
              <a:rPr lang="en-US" sz="4400" spc="-1" strike="noStrike">
                <a:solidFill>
                  <a:srgbClr val="000000"/>
                </a:solidFill>
                <a:uFill>
                  <a:solidFill>
                    <a:srgbClr val="ffffff"/>
                  </a:solidFill>
                </a:uFill>
                <a:latin typeface="Arial"/>
              </a:rPr>
              <a:t>Click to edit the title text format</a:t>
            </a:r>
            <a:endParaRPr lang="en-US" sz="4400" spc="-1" strike="noStrike">
              <a:solidFill>
                <a:srgbClr val="000000"/>
              </a:solidFill>
              <a:uFill>
                <a:solidFill>
                  <a:srgbClr val="ffffff"/>
                </a:solidFill>
              </a:uFill>
              <a:latin typeface="Arial"/>
            </a:endParaRPr>
          </a:p>
        </p:txBody>
      </p:sp>
      <p:sp>
        <p:nvSpPr>
          <p:cNvPr id="109"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p:spPr>
        <p:txBody>
          <a:bodyPr lIns="0" rIns="0" tIns="0" bIns="0" anchor="ctr"/>
          <a:p>
            <a:pPr algn="ctr"/>
            <a:r>
              <a:rPr lang="en-US" sz="4400" spc="-1" strike="noStrike">
                <a:solidFill>
                  <a:srgbClr val="000000"/>
                </a:solidFill>
                <a:uFill>
                  <a:solidFill>
                    <a:srgbClr val="ffffff"/>
                  </a:solidFill>
                </a:uFill>
                <a:latin typeface="Arial"/>
              </a:rPr>
              <a:t>Click to edit the title text format</a:t>
            </a:r>
            <a:endParaRPr lang="en-US" sz="4400" spc="-1" strike="noStrike">
              <a:solidFill>
                <a:srgbClr val="000000"/>
              </a:solidFill>
              <a:uFill>
                <a:solidFill>
                  <a:srgbClr val="ffffff"/>
                </a:solidFill>
              </a:uFill>
              <a:latin typeface="Arial"/>
            </a:endParaRPr>
          </a:p>
        </p:txBody>
      </p:sp>
      <p:sp>
        <p:nvSpPr>
          <p:cNvPr id="145"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p:cSld>
    <p:bg>
      <p:bgPr>
        <a:blipFill>
          <a:blip r:embed="rId2"/>
          <a:stretch>
            <a:fillRect/>
          </a:stretch>
        </a:blip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73600"/>
            <a:ext cx="8229240" cy="1144800"/>
          </a:xfrm>
          <a:prstGeom prst="rect">
            <a:avLst/>
          </a:prstGeom>
        </p:spPr>
        <p:txBody>
          <a:bodyPr lIns="0" rIns="0" tIns="0" bIns="0" anchor="ctr"/>
          <a:p>
            <a:pPr algn="ctr"/>
            <a:r>
              <a:rPr lang="en-US" sz="4400" spc="-1" strike="noStrike">
                <a:solidFill>
                  <a:srgbClr val="000000"/>
                </a:solidFill>
                <a:uFill>
                  <a:solidFill>
                    <a:srgbClr val="ffffff"/>
                  </a:solidFill>
                </a:uFill>
                <a:latin typeface="Arial"/>
              </a:rPr>
              <a:t>Click to edit the title text format</a:t>
            </a:r>
            <a:endParaRPr lang="en-US" sz="4400" spc="-1" strike="noStrike">
              <a:solidFill>
                <a:srgbClr val="000000"/>
              </a:solidFill>
              <a:uFill>
                <a:solidFill>
                  <a:srgbClr val="ffffff"/>
                </a:solidFill>
              </a:uFill>
              <a:latin typeface="Arial"/>
            </a:endParaRPr>
          </a:p>
        </p:txBody>
      </p:sp>
      <p:sp>
        <p:nvSpPr>
          <p:cNvPr id="181" name="PlaceHolder 2"/>
          <p:cNvSpPr>
            <a:spLocks noGrp="1"/>
          </p:cNvSpPr>
          <p:nvPr>
            <p:ph type="body"/>
          </p:nvPr>
        </p:nvSpPr>
        <p:spPr>
          <a:xfrm>
            <a:off x="457200" y="1604520"/>
            <a:ext cx="8229240" cy="3977280"/>
          </a:xfrm>
          <a:prstGeom prst="rect">
            <a:avLst/>
          </a:prstGeom>
        </p:spPr>
        <p:txBody>
          <a:bodyPr lIns="0" rIns="0" tIns="0" bIns="0"/>
          <a:p>
            <a:pPr marL="432000" indent="-324000">
              <a:buClr>
                <a:srgbClr val="000000"/>
              </a:buClr>
              <a:buSzPct val="45000"/>
              <a:buFont typeface="Wingdings" charset="2"/>
              <a:buChar char=""/>
            </a:pPr>
            <a:r>
              <a:rPr lang="en-US" sz="3200" spc="-1" strike="noStrike">
                <a:solidFill>
                  <a:srgbClr val="000000"/>
                </a:solidFill>
                <a:uFill>
                  <a:solidFill>
                    <a:srgbClr val="ffffff"/>
                  </a:solidFill>
                </a:uFill>
                <a:latin typeface="Arial"/>
              </a:rPr>
              <a:t>Click to edit the outline text format</a:t>
            </a:r>
            <a:endParaRPr lang="en-US" sz="3200" spc="-1" strike="noStrike">
              <a:solidFill>
                <a:srgbClr val="000000"/>
              </a:solidFill>
              <a:uFill>
                <a:solidFill>
                  <a:srgbClr val="ffffff"/>
                </a:solidFill>
              </a:uFill>
              <a:latin typeface="Arial"/>
            </a:endParaRPr>
          </a:p>
          <a:p>
            <a:pPr lvl="1" marL="864000" indent="-324000">
              <a:buClr>
                <a:srgbClr val="000000"/>
              </a:buClr>
              <a:buSzPct val="75000"/>
              <a:buFont typeface="Symbol" charset="2"/>
              <a:buChar char=""/>
            </a:pPr>
            <a:r>
              <a:rPr lang="en-US" sz="2800" spc="-1" strike="noStrike">
                <a:solidFill>
                  <a:srgbClr val="000000"/>
                </a:solidFill>
                <a:uFill>
                  <a:solidFill>
                    <a:srgbClr val="ffffff"/>
                  </a:solidFill>
                </a:uFill>
                <a:latin typeface="Arial"/>
              </a:rPr>
              <a:t>Second Outline Level</a:t>
            </a:r>
            <a:endParaRPr lang="en-US" sz="2800" spc="-1" strike="noStrike">
              <a:solidFill>
                <a:srgbClr val="000000"/>
              </a:solidFill>
              <a:uFill>
                <a:solidFill>
                  <a:srgbClr val="ffffff"/>
                </a:solidFill>
              </a:uFill>
              <a:latin typeface="Arial"/>
            </a:endParaRPr>
          </a:p>
          <a:p>
            <a:pPr lvl="2" marL="1296000" indent="-288000">
              <a:buClr>
                <a:srgbClr val="000000"/>
              </a:buClr>
              <a:buSzPct val="45000"/>
              <a:buFont typeface="Wingdings" charset="2"/>
              <a:buChar char=""/>
            </a:pPr>
            <a:r>
              <a:rPr lang="en-US" sz="2400" spc="-1" strike="noStrike">
                <a:solidFill>
                  <a:srgbClr val="000000"/>
                </a:solidFill>
                <a:uFill>
                  <a:solidFill>
                    <a:srgbClr val="ffffff"/>
                  </a:solidFill>
                </a:uFill>
                <a:latin typeface="Arial"/>
              </a:rPr>
              <a:t>Third Outline Level</a:t>
            </a:r>
            <a:endParaRPr lang="en-US" sz="2400" spc="-1" strike="noStrike">
              <a:solidFill>
                <a:srgbClr val="000000"/>
              </a:solidFill>
              <a:uFill>
                <a:solidFill>
                  <a:srgbClr val="ffffff"/>
                </a:solidFill>
              </a:uFill>
              <a:latin typeface="Arial"/>
            </a:endParaRPr>
          </a:p>
          <a:p>
            <a:pPr lvl="3" marL="1728000" indent="-216000">
              <a:buClr>
                <a:srgbClr val="000000"/>
              </a:buClr>
              <a:buSzPct val="75000"/>
              <a:buFont typeface="Symbol" charset="2"/>
              <a:buChar char=""/>
            </a:pPr>
            <a:r>
              <a:rPr lang="en-US" sz="2000" spc="-1" strike="noStrike">
                <a:solidFill>
                  <a:srgbClr val="000000"/>
                </a:solidFill>
                <a:uFill>
                  <a:solidFill>
                    <a:srgbClr val="ffffff"/>
                  </a:solidFill>
                </a:uFill>
                <a:latin typeface="Arial"/>
              </a:rPr>
              <a:t>Fourth Outline Level</a:t>
            </a:r>
            <a:endParaRPr lang="en-US" sz="2000" spc="-1" strike="noStrike">
              <a:solidFill>
                <a:srgbClr val="000000"/>
              </a:solidFill>
              <a:uFill>
                <a:solidFill>
                  <a:srgbClr val="ffffff"/>
                </a:solidFill>
              </a:uFill>
              <a:latin typeface="Arial"/>
            </a:endParaRPr>
          </a:p>
          <a:p>
            <a:pPr lvl="4" marL="2160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Fifth Outline Level</a:t>
            </a:r>
            <a:endParaRPr lang="en-US" sz="2000" spc="-1" strike="noStrike">
              <a:solidFill>
                <a:srgbClr val="000000"/>
              </a:solidFill>
              <a:uFill>
                <a:solidFill>
                  <a:srgbClr val="ffffff"/>
                </a:solidFill>
              </a:uFill>
              <a:latin typeface="Arial"/>
            </a:endParaRPr>
          </a:p>
          <a:p>
            <a:pPr lvl="5" marL="2592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Sixth Outline Level</a:t>
            </a:r>
            <a:endParaRPr lang="en-US" sz="2000" spc="-1" strike="noStrike">
              <a:solidFill>
                <a:srgbClr val="000000"/>
              </a:solidFill>
              <a:uFill>
                <a:solidFill>
                  <a:srgbClr val="ffffff"/>
                </a:solidFill>
              </a:uFill>
              <a:latin typeface="Arial"/>
            </a:endParaRPr>
          </a:p>
          <a:p>
            <a:pPr lvl="6" marL="3024000" indent="-216000">
              <a:buClr>
                <a:srgbClr val="000000"/>
              </a:buClr>
              <a:buSzPct val="45000"/>
              <a:buFont typeface="Wingdings" charset="2"/>
              <a:buChar char=""/>
            </a:pPr>
            <a:r>
              <a:rPr lang="en-US" sz="2000" spc="-1" strike="noStrike">
                <a:solidFill>
                  <a:srgbClr val="000000"/>
                </a:solidFill>
                <a:uFill>
                  <a:solidFill>
                    <a:srgbClr val="ffffff"/>
                  </a:solidFill>
                </a:uFill>
                <a:latin typeface="Arial"/>
              </a:rPr>
              <a:t>Seventh Outline Level</a:t>
            </a:r>
            <a:endParaRPr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1"/>
          <a:stretch>
            <a:fillRect/>
          </a:stretch>
        </a:blipFill>
      </p:bgPr>
    </p:bg>
    <p:spTree>
      <p:nvGrpSpPr>
        <p:cNvPr id="1" name=""/>
        <p:cNvGrpSpPr/>
        <p:nvPr/>
      </p:nvGrpSpPr>
      <p:grpSpPr>
        <a:xfrm>
          <a:off x="0" y="0"/>
          <a:ext cx="0" cy="0"/>
          <a:chOff x="0" y="0"/>
          <a:chExt cx="0" cy="0"/>
        </a:xfrm>
      </p:grpSpPr>
      <p:sp>
        <p:nvSpPr>
          <p:cNvPr id="221" name="CustomShape 1"/>
          <p:cNvSpPr/>
          <p:nvPr/>
        </p:nvSpPr>
        <p:spPr>
          <a:xfrm>
            <a:off x="2286000" y="5500800"/>
            <a:ext cx="6699960" cy="642240"/>
          </a:xfrm>
          <a:prstGeom prst="rect">
            <a:avLst/>
          </a:prstGeom>
          <a:noFill/>
          <a:ln>
            <a:noFill/>
          </a:ln>
        </p:spPr>
        <p:style>
          <a:lnRef idx="0"/>
          <a:fillRef idx="0"/>
          <a:effectRef idx="0"/>
          <a:fontRef idx="minor"/>
        </p:style>
        <p:txBody>
          <a:bodyPr lIns="90000" rIns="90000" tIns="45000" bIns="45000" anchor="ctr"/>
          <a:p>
            <a:pPr algn="r">
              <a:lnSpc>
                <a:spcPct val="100000"/>
              </a:lnSpc>
            </a:pPr>
            <a:r>
              <a:rPr b="1" lang="en-US" sz="3000" spc="-1" strike="noStrike">
                <a:solidFill>
                  <a:srgbClr val="ffffff"/>
                </a:solidFill>
                <a:uFill>
                  <a:solidFill>
                    <a:srgbClr val="ffffff"/>
                  </a:solidFill>
                </a:uFill>
                <a:latin typeface="Calibri"/>
              </a:rPr>
              <a:t>Public Goods and Common Resources</a:t>
            </a:r>
            <a:endParaRPr lang="en-US" sz="1800" spc="-1" strike="noStrike">
              <a:solidFill>
                <a:srgbClr val="000000"/>
              </a:solidFill>
              <a:uFill>
                <a:solidFill>
                  <a:srgbClr val="ffffff"/>
                </a:solidFill>
              </a:uFill>
              <a:latin typeface="Arial"/>
            </a:endParaRPr>
          </a:p>
        </p:txBody>
      </p:sp>
      <p:sp>
        <p:nvSpPr>
          <p:cNvPr id="222" name="CustomShape 2"/>
          <p:cNvSpPr/>
          <p:nvPr/>
        </p:nvSpPr>
        <p:spPr>
          <a:xfrm>
            <a:off x="3201120" y="4965480"/>
            <a:ext cx="5785920" cy="534600"/>
          </a:xfrm>
          <a:prstGeom prst="rect">
            <a:avLst/>
          </a:prstGeom>
          <a:noFill/>
          <a:ln>
            <a:noFill/>
          </a:ln>
        </p:spPr>
        <p:style>
          <a:lnRef idx="0"/>
          <a:fillRef idx="0"/>
          <a:effectRef idx="0"/>
          <a:fontRef idx="minor"/>
        </p:style>
        <p:txBody>
          <a:bodyPr lIns="90000" rIns="90000" tIns="45000" bIns="45000" anchor="ctr"/>
          <a:p>
            <a:pPr algn="r">
              <a:lnSpc>
                <a:spcPct val="100000"/>
              </a:lnSpc>
            </a:pPr>
            <a:r>
              <a:rPr b="1" lang="en-US" sz="3600" spc="-1" strike="noStrike">
                <a:solidFill>
                  <a:srgbClr val="ffffff"/>
                </a:solidFill>
                <a:uFill>
                  <a:solidFill>
                    <a:srgbClr val="ffffff"/>
                  </a:solidFill>
                </a:uFill>
                <a:latin typeface="Calibri"/>
                <a:ea typeface="MS PGothic"/>
              </a:rPr>
              <a:t>Chapter 17</a:t>
            </a:r>
            <a:endParaRPr lang="en-US" sz="1800" spc="-1" strike="noStrike">
              <a:solidFill>
                <a:srgbClr val="000000"/>
              </a:solidFill>
              <a:uFill>
                <a:solidFill>
                  <a:srgbClr val="ffffff"/>
                </a:solidFill>
              </a:uFill>
              <a:latin typeface="Arial"/>
            </a:endParaRPr>
          </a:p>
        </p:txBody>
      </p:sp>
      <p:sp>
        <p:nvSpPr>
          <p:cNvPr id="223" name="CustomShape 3"/>
          <p:cNvSpPr/>
          <p:nvPr/>
        </p:nvSpPr>
        <p:spPr>
          <a:xfrm>
            <a:off x="4434840" y="-1440"/>
            <a:ext cx="4708440" cy="4052880"/>
          </a:xfrm>
          <a:prstGeom prst="rect">
            <a:avLst/>
          </a:prstGeom>
          <a:solidFill>
            <a:srgbClr val="ca5e70"/>
          </a:solidFill>
          <a:ln>
            <a:noFill/>
          </a:ln>
        </p:spPr>
        <p:style>
          <a:lnRef idx="0"/>
          <a:fillRef idx="0"/>
          <a:effectRef idx="0"/>
          <a:fontRef idx="minor"/>
        </p:style>
        <p:txBody>
          <a:bodyPr lIns="90000" rIns="90000" tIns="45000" bIns="45000"/>
          <a:p>
            <a:pPr marL="457200" algn="r">
              <a:lnSpc>
                <a:spcPct val="100000"/>
              </a:lnSpc>
            </a:pPr>
            <a:r>
              <a:rPr lang="en-US" sz="3200" spc="-1" strike="noStrike">
                <a:solidFill>
                  <a:srgbClr val="f79646"/>
                </a:solidFill>
                <a:uFill>
                  <a:solidFill>
                    <a:srgbClr val="ffffff"/>
                  </a:solidFill>
                </a:uFill>
                <a:latin typeface="Calibri"/>
                <a:ea typeface="MS PGothic"/>
              </a:rPr>
              <a:t>THIRD EDITION</a:t>
            </a:r>
            <a:endParaRPr lang="en-US" sz="1800" spc="-1" strike="noStrike">
              <a:solidFill>
                <a:srgbClr val="000000"/>
              </a:solidFill>
              <a:uFill>
                <a:solidFill>
                  <a:srgbClr val="ffffff"/>
                </a:solidFill>
              </a:uFill>
              <a:latin typeface="Arial"/>
            </a:endParaRPr>
          </a:p>
          <a:p>
            <a:pPr marL="457200" algn="r">
              <a:lnSpc>
                <a:spcPct val="100000"/>
              </a:lnSpc>
            </a:pPr>
            <a:r>
              <a:rPr b="1" lang="en-US" sz="4000" spc="-1" strike="noStrike">
                <a:solidFill>
                  <a:srgbClr val="ffffff"/>
                </a:solidFill>
                <a:uFill>
                  <a:solidFill>
                    <a:srgbClr val="ffffff"/>
                  </a:solidFill>
                </a:uFill>
                <a:latin typeface="Calibri"/>
                <a:ea typeface="MS PGothic"/>
              </a:rPr>
              <a:t>ECONOMICS</a:t>
            </a:r>
            <a:endParaRPr lang="en-US" sz="1800" spc="-1" strike="noStrike">
              <a:solidFill>
                <a:srgbClr val="000000"/>
              </a:solidFill>
              <a:uFill>
                <a:solidFill>
                  <a:srgbClr val="ffffff"/>
                </a:solidFill>
              </a:uFill>
              <a:latin typeface="Arial"/>
            </a:endParaRPr>
          </a:p>
          <a:p>
            <a:pPr marL="457200" algn="r">
              <a:lnSpc>
                <a:spcPct val="100000"/>
              </a:lnSpc>
            </a:pPr>
            <a:r>
              <a:rPr b="1" lang="en-US" sz="4000" spc="-1" strike="noStrike">
                <a:solidFill>
                  <a:srgbClr val="ffffff"/>
                </a:solidFill>
                <a:uFill>
                  <a:solidFill>
                    <a:srgbClr val="ffffff"/>
                  </a:solidFill>
                </a:uFill>
                <a:latin typeface="Calibri"/>
                <a:ea typeface="MS PGothic"/>
              </a:rPr>
              <a:t>and</a:t>
            </a:r>
            <a:endParaRPr lang="en-US" sz="1800" spc="-1" strike="noStrike">
              <a:solidFill>
                <a:srgbClr val="000000"/>
              </a:solidFill>
              <a:uFill>
                <a:solidFill>
                  <a:srgbClr val="ffffff"/>
                </a:solidFill>
              </a:uFill>
              <a:latin typeface="Arial"/>
            </a:endParaRPr>
          </a:p>
          <a:p>
            <a:pPr marL="457200" algn="r">
              <a:lnSpc>
                <a:spcPct val="100000"/>
              </a:lnSpc>
            </a:pPr>
            <a:r>
              <a:rPr b="1" lang="en-US" sz="3900" spc="-1" strike="noStrike">
                <a:solidFill>
                  <a:srgbClr val="ffffff"/>
                </a:solidFill>
                <a:uFill>
                  <a:solidFill>
                    <a:srgbClr val="ffffff"/>
                  </a:solidFill>
                </a:uFill>
                <a:latin typeface="Calibri"/>
                <a:ea typeface="MS PGothic"/>
              </a:rPr>
              <a:t>MICROECONOMICS</a:t>
            </a:r>
            <a:endParaRPr lang="en-US" sz="1800" spc="-1" strike="noStrike">
              <a:solidFill>
                <a:srgbClr val="000000"/>
              </a:solidFill>
              <a:uFill>
                <a:solidFill>
                  <a:srgbClr val="ffffff"/>
                </a:solidFill>
              </a:uFill>
              <a:latin typeface="Arial"/>
            </a:endParaRPr>
          </a:p>
          <a:p>
            <a:pPr marL="457200" algn="r">
              <a:lnSpc>
                <a:spcPct val="100000"/>
              </a:lnSpc>
            </a:pPr>
            <a:r>
              <a:rPr lang="en-US" sz="2400" spc="-1" strike="noStrike">
                <a:solidFill>
                  <a:srgbClr val="ffffff"/>
                </a:solidFill>
                <a:uFill>
                  <a:solidFill>
                    <a:srgbClr val="ffffff"/>
                  </a:solidFill>
                </a:uFill>
                <a:latin typeface="Calibri"/>
                <a:ea typeface="MS PGothic"/>
              </a:rPr>
              <a:t>Paul Krugman | Robin Wells</a:t>
            </a:r>
            <a:endParaRPr lang="en-US" sz="1800" spc="-1" strike="noStrike">
              <a:solidFill>
                <a:srgbClr val="000000"/>
              </a:solidFill>
              <a:uFill>
                <a:solidFill>
                  <a:srgbClr val="ffffff"/>
                </a:solidFill>
              </a:uFill>
              <a:latin typeface="Arial"/>
            </a:endParaRPr>
          </a:p>
        </p:txBody>
      </p:sp>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1"/>
          <a:stretch>
            <a:fillRect/>
          </a:stretch>
        </a:blipFill>
      </p:bgPr>
    </p:bg>
    <p:spTree>
      <p:nvGrpSpPr>
        <p:cNvPr id="1" name=""/>
        <p:cNvGrpSpPr/>
        <p:nvPr/>
      </p:nvGrpSpPr>
      <p:grpSpPr>
        <a:xfrm>
          <a:off x="0" y="0"/>
          <a:ext cx="0" cy="0"/>
          <a:chOff x="0" y="0"/>
          <a:chExt cx="0" cy="0"/>
        </a:xfrm>
      </p:grpSpPr>
      <p:sp>
        <p:nvSpPr>
          <p:cNvPr id="224" name="CustomShape 1"/>
          <p:cNvSpPr/>
          <p:nvPr/>
        </p:nvSpPr>
        <p:spPr>
          <a:xfrm>
            <a:off x="3286080" y="428760"/>
            <a:ext cx="5571360" cy="5857200"/>
          </a:xfrm>
          <a:prstGeom prst="rect">
            <a:avLst/>
          </a:prstGeom>
          <a:noFill/>
          <a:ln>
            <a:noFill/>
          </a:ln>
        </p:spPr>
        <p:style>
          <a:lnRef idx="0"/>
          <a:fillRef idx="0"/>
          <a:effectRef idx="0"/>
          <a:fontRef idx="minor"/>
        </p:style>
        <p:txBody>
          <a:bodyPr lIns="90000" rIns="90000" tIns="45000" bIns="45000"/>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A way to classify goods that predicts whether a good is a private good—a good that can be efficiently provided by free markets</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What public goods are, and why markets fail to supply them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What common resources are, and why they are overused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What artificially scarce goods are, and why they are underconsumed</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How government intervention in the production and consumption of these types of goods can make society better off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rPr>
              <a:t>Why finding the right level of government intervention is difficult </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p:txBody>
      </p:sp>
      <p:sp>
        <p:nvSpPr>
          <p:cNvPr id="225" name="CustomShape 2"/>
          <p:cNvSpPr/>
          <p:nvPr/>
        </p:nvSpPr>
        <p:spPr>
          <a:xfrm>
            <a:off x="146160" y="1857240"/>
            <a:ext cx="2493360" cy="2039760"/>
          </a:xfrm>
          <a:prstGeom prst="rect">
            <a:avLst/>
          </a:prstGeom>
          <a:noFill/>
          <a:ln>
            <a:noFill/>
          </a:ln>
        </p:spPr>
        <p:style>
          <a:lnRef idx="0"/>
          <a:fillRef idx="0"/>
          <a:effectRef idx="0"/>
          <a:fontRef idx="minor"/>
        </p:style>
        <p:txBody>
          <a:bodyPr lIns="90000" rIns="90000" tIns="45000" bIns="45000"/>
          <a:p>
            <a:pPr algn="ctr">
              <a:lnSpc>
                <a:spcPct val="100000"/>
              </a:lnSpc>
            </a:pPr>
            <a:r>
              <a:rPr b="1" lang="en-US" sz="3200" spc="-1" strike="noStrike">
                <a:solidFill>
                  <a:srgbClr val="ffffff"/>
                </a:solidFill>
                <a:uFill>
                  <a:solidFill>
                    <a:srgbClr val="ffffff"/>
                  </a:solidFill>
                </a:uFill>
                <a:latin typeface="Calibri"/>
                <a:ea typeface="DejaVu Sans"/>
              </a:rPr>
              <a:t>WHAT YOU</a:t>
            </a:r>
            <a:endParaRPr lang="en-US" sz="1800" spc="-1" strike="noStrike">
              <a:solidFill>
                <a:srgbClr val="000000"/>
              </a:solidFill>
              <a:uFill>
                <a:solidFill>
                  <a:srgbClr val="ffffff"/>
                </a:solidFill>
              </a:uFill>
              <a:latin typeface="Arial"/>
            </a:endParaRPr>
          </a:p>
          <a:p>
            <a:pPr algn="ctr">
              <a:lnSpc>
                <a:spcPct val="100000"/>
              </a:lnSpc>
            </a:pPr>
            <a:r>
              <a:rPr b="1" lang="en-US" sz="3200" spc="-1" strike="noStrike">
                <a:solidFill>
                  <a:srgbClr val="ffffff"/>
                </a:solidFill>
                <a:uFill>
                  <a:solidFill>
                    <a:srgbClr val="ffffff"/>
                  </a:solidFill>
                </a:uFill>
                <a:latin typeface="Calibri"/>
                <a:ea typeface="DejaVu Sans"/>
              </a:rPr>
              <a:t>WILL LEARN</a:t>
            </a:r>
            <a:endParaRPr lang="en-US" sz="1800" spc="-1" strike="noStrike">
              <a:solidFill>
                <a:srgbClr val="000000"/>
              </a:solidFill>
              <a:uFill>
                <a:solidFill>
                  <a:srgbClr val="ffffff"/>
                </a:solidFill>
              </a:uFill>
              <a:latin typeface="Arial"/>
            </a:endParaRPr>
          </a:p>
          <a:p>
            <a:pPr algn="ctr">
              <a:lnSpc>
                <a:spcPct val="100000"/>
              </a:lnSpc>
            </a:pPr>
            <a:r>
              <a:rPr b="1" lang="en-US" sz="3200" spc="-1" strike="noStrike">
                <a:solidFill>
                  <a:srgbClr val="ffffff"/>
                </a:solidFill>
                <a:uFill>
                  <a:solidFill>
                    <a:srgbClr val="ffffff"/>
                  </a:solidFill>
                </a:uFill>
                <a:latin typeface="Calibri"/>
                <a:ea typeface="DejaVu Sans"/>
              </a:rPr>
              <a:t>IN THIS CHAPTER</a:t>
            </a:r>
            <a:endParaRPr lang="en-US" sz="1800" spc="-1" strike="noStrike">
              <a:solidFill>
                <a:srgbClr val="000000"/>
              </a:solidFill>
              <a:uFill>
                <a:solidFill>
                  <a:srgbClr val="ffffff"/>
                </a:solidFill>
              </a:uFill>
              <a:latin typeface="Arial"/>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6" name="CustomShape 1"/>
          <p:cNvSpPr/>
          <p:nvPr/>
        </p:nvSpPr>
        <p:spPr>
          <a:xfrm>
            <a:off x="899640" y="-27360"/>
            <a:ext cx="8010360" cy="685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Private Goods—and Others</a:t>
            </a:r>
            <a:endParaRPr lang="en-US" sz="1800" spc="-1" strike="noStrike">
              <a:solidFill>
                <a:srgbClr val="000000"/>
              </a:solidFill>
              <a:uFill>
                <a:solidFill>
                  <a:srgbClr val="ffffff"/>
                </a:solidFill>
              </a:uFill>
              <a:latin typeface="Arial"/>
            </a:endParaRPr>
          </a:p>
        </p:txBody>
      </p:sp>
      <p:sp>
        <p:nvSpPr>
          <p:cNvPr id="227" name="CustomShape 2"/>
          <p:cNvSpPr/>
          <p:nvPr/>
        </p:nvSpPr>
        <p:spPr>
          <a:xfrm>
            <a:off x="899640" y="965520"/>
            <a:ext cx="8010360" cy="5415120"/>
          </a:xfrm>
          <a:prstGeom prst="rect">
            <a:avLst/>
          </a:prstGeom>
          <a:noFill/>
          <a:ln w="9360">
            <a:noFill/>
          </a:ln>
        </p:spPr>
        <p:style>
          <a:lnRef idx="0"/>
          <a:fillRef idx="0"/>
          <a:effectRef idx="0"/>
          <a:fontRef idx="minor"/>
        </p:style>
        <p:txBody>
          <a:bodyPr lIns="90000" rIns="90000" tIns="45000" bIns="45000"/>
          <a:p>
            <a:r>
              <a:rPr lang="en-US" sz="2500" spc="-1" strike="noStrike">
                <a:solidFill>
                  <a:srgbClr val="000000"/>
                </a:solidFill>
                <a:uFill>
                  <a:solidFill>
                    <a:srgbClr val="ffffff"/>
                  </a:solidFill>
                </a:uFill>
                <a:latin typeface="Calibri"/>
                <a:ea typeface="MS PGothic"/>
              </a:rPr>
              <a:t>What’s the difference between installing a new bathroom in a house and building a municipal sewage system? </a:t>
            </a:r>
            <a:endParaRPr lang="en-US" sz="25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500" spc="-1" strike="noStrike">
                <a:solidFill>
                  <a:srgbClr val="000000"/>
                </a:solidFill>
                <a:uFill>
                  <a:solidFill>
                    <a:srgbClr val="ffffff"/>
                  </a:solidFill>
                </a:uFill>
                <a:latin typeface="Calibri"/>
                <a:ea typeface="DejaVu Sans"/>
              </a:rPr>
              <a:t> </a:t>
            </a:r>
            <a:endParaRPr lang="en-US" sz="25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500" spc="-1" strike="noStrike">
                <a:solidFill>
                  <a:srgbClr val="000000"/>
                </a:solidFill>
                <a:uFill>
                  <a:solidFill>
                    <a:srgbClr val="ffffff"/>
                  </a:solidFill>
                </a:uFill>
                <a:latin typeface="Calibri"/>
                <a:ea typeface="MS PGothic"/>
              </a:rPr>
              <a:t>What’s the difference between growing wheat and fishing in the open ocean?</a:t>
            </a:r>
            <a:endParaRPr lang="en-US" sz="25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500" spc="-1" strike="noStrike">
                <a:solidFill>
                  <a:srgbClr val="000000"/>
                </a:solidFill>
                <a:uFill>
                  <a:solidFill>
                    <a:srgbClr val="ffffff"/>
                  </a:solidFill>
                </a:uFill>
                <a:latin typeface="Calibri"/>
                <a:ea typeface="MS PGothic"/>
              </a:rPr>
              <a:t>In each case there is a basic difference in the characteristics of the goods involved.</a:t>
            </a:r>
            <a:endParaRPr lang="en-US" sz="25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500" spc="-1" strike="noStrike">
                <a:solidFill>
                  <a:srgbClr val="000000"/>
                </a:solidFill>
                <a:uFill>
                  <a:solidFill>
                    <a:srgbClr val="ffffff"/>
                  </a:solidFill>
                </a:uFill>
                <a:latin typeface="Calibri"/>
                <a:ea typeface="MS PGothic"/>
              </a:rPr>
              <a:t> </a:t>
            </a:r>
            <a:endParaRPr lang="en-US" sz="2500" spc="-1" strike="noStrike">
              <a:solidFill>
                <a:srgbClr val="000000"/>
              </a:solidFill>
              <a:uFill>
                <a:solidFill>
                  <a:srgbClr val="ffffff"/>
                </a:solidFill>
              </a:uFill>
              <a:latin typeface="Arial"/>
            </a:endParaRPr>
          </a:p>
          <a:p>
            <a:pPr>
              <a:lnSpc>
                <a:spcPct val="100000"/>
              </a:lnSpc>
            </a:pPr>
            <a:r>
              <a:rPr lang="en-US" sz="2500" spc="-1" strike="noStrike">
                <a:solidFill>
                  <a:srgbClr val="000000"/>
                </a:solidFill>
                <a:uFill>
                  <a:solidFill>
                    <a:srgbClr val="ffffff"/>
                  </a:solidFill>
                </a:uFill>
                <a:latin typeface="Calibri"/>
                <a:ea typeface="MS PGothic"/>
              </a:rPr>
              <a:t>Bathroom appliances and wheat have the characteristics needed to allow markets to work efficiently; sewage systems and fish in the sea do not.</a:t>
            </a:r>
            <a:endParaRPr lang="en-US" sz="2500" spc="-1" strike="noStrike">
              <a:solidFill>
                <a:srgbClr val="000000"/>
              </a:solidFill>
              <a:uFill>
                <a:solidFill>
                  <a:srgbClr val="ffffff"/>
                </a:solidFill>
              </a:uFill>
              <a:latin typeface="Arial"/>
            </a:endParaRPr>
          </a:p>
          <a:p>
            <a:pPr>
              <a:lnSpc>
                <a:spcPct val="100000"/>
              </a:lnSpc>
            </a:pPr>
            <a:endParaRPr lang="en-US" sz="25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500" spc="-1" strike="noStrike">
                <a:solidFill>
                  <a:srgbClr val="000000"/>
                </a:solidFill>
                <a:uFill>
                  <a:solidFill>
                    <a:srgbClr val="ffffff"/>
                  </a:solidFill>
                </a:uFill>
                <a:latin typeface="Calibri"/>
                <a:ea typeface="MS PGothic"/>
              </a:rPr>
              <a:t>Let’s look at these crucial characteristics and why they matter.</a:t>
            </a:r>
            <a:endParaRPr lang="en-US" sz="2500" spc="-1" strike="noStrike">
              <a:solidFill>
                <a:srgbClr val="000000"/>
              </a:solidFill>
              <a:uFill>
                <a:solidFill>
                  <a:srgbClr val="ffffff"/>
                </a:solidFill>
              </a:uFill>
              <a:latin typeface="Arial"/>
            </a:endParaRPr>
          </a:p>
        </p:txBody>
      </p:sp>
    </p:spTree>
  </p:cSld>
  <p:timing>
    <p:tnLst>
      <p:par>
        <p:cTn id="5" dur="indefinite" restart="never" nodeType="tmRoot">
          <p:childTnLst>
            <p:seq>
              <p:cTn id="6" dur="indefinite" nodeType="mainSeq">
                <p:childTnLst>
                  <p:par>
                    <p:cTn id="7" fill="hold">
                      <p:stCondLst>
                        <p:cond delay="indefinite"/>
                      </p:stCondLst>
                      <p:childTnLst>
                        <p:par>
                          <p:cTn id="8" fill="hold">
                            <p:stCondLst>
                              <p:cond delay="0"/>
                            </p:stCondLst>
                            <p:childTnLst>
                              <p:par>
                                <p:cTn id="9" nodeType="clickEffect" fill="hold" presetClass="entr" presetID="22" presetSubtype="8">
                                  <p:stCondLst>
                                    <p:cond delay="0"/>
                                  </p:stCondLst>
                                  <p:childTnLst>
                                    <p:set>
                                      <p:cBhvr>
                                        <p:cTn id="10" dur="1" fill="hold">
                                          <p:stCondLst>
                                            <p:cond delay="0"/>
                                          </p:stCondLst>
                                        </p:cTn>
                                        <p:tgtEl>
                                          <p:spTgt spid="227">
                                            <p:txEl>
                                              <p:pRg st="0" end="108"/>
                                            </p:txEl>
                                          </p:spTgt>
                                        </p:tgtEl>
                                        <p:attrNameLst>
                                          <p:attrName>style.visibility</p:attrName>
                                        </p:attrNameLst>
                                      </p:cBhvr>
                                      <p:to>
                                        <p:strVal val="visible"/>
                                      </p:to>
                                    </p:set>
                                    <p:animEffect filter="wipe(left)" transition="in">
                                      <p:cBhvr additive="repl">
                                        <p:cTn id="11" dur="500"/>
                                        <p:tgtEl>
                                          <p:spTgt spid="227">
                                            <p:txEl>
                                              <p:pRg st="0" end="108"/>
                                            </p:txEl>
                                          </p:spTgt>
                                        </p:tgtEl>
                                      </p:cBhvr>
                                    </p:animEffect>
                                  </p:childTnLst>
                                </p:cTn>
                              </p:par>
                            </p:childTnLst>
                          </p:cTn>
                        </p:par>
                      </p:childTnLst>
                    </p:cTn>
                  </p:par>
                  <p:par>
                    <p:cTn id="12" fill="hold">
                      <p:stCondLst>
                        <p:cond delay="indefinite"/>
                      </p:stCondLst>
                      <p:childTnLst>
                        <p:par>
                          <p:cTn id="13" fill="hold">
                            <p:stCondLst>
                              <p:cond delay="0"/>
                            </p:stCondLst>
                            <p:childTnLst>
                              <p:par>
                                <p:cTn id="14" nodeType="clickEffect" fill="hold" presetClass="entr" presetID="22" presetSubtype="8">
                                  <p:stCondLst>
                                    <p:cond delay="0"/>
                                  </p:stCondLst>
                                  <p:childTnLst>
                                    <p:set>
                                      <p:cBhvr>
                                        <p:cTn id="15" dur="1" fill="hold">
                                          <p:stCondLst>
                                            <p:cond delay="0"/>
                                          </p:stCondLst>
                                        </p:cTn>
                                        <p:tgtEl>
                                          <p:spTgt spid="227">
                                            <p:txEl>
                                              <p:pRg st="481" end="481"/>
                                            </p:txEl>
                                          </p:spTgt>
                                        </p:tgtEl>
                                        <p:attrNameLst>
                                          <p:attrName>style.visibility</p:attrName>
                                        </p:attrNameLst>
                                      </p:cBhvr>
                                      <p:to>
                                        <p:strVal val="visible"/>
                                      </p:to>
                                    </p:set>
                                    <p:animEffect filter="wipe(left)" transition="in">
                                      <p:cBhvr additive="repl">
                                        <p:cTn id="16" dur="500"/>
                                        <p:tgtEl>
                                          <p:spTgt spid="227">
                                            <p:txEl>
                                              <p:pRg st="481" end="481"/>
                                            </p:txEl>
                                          </p:spTgt>
                                        </p:tgtEl>
                                      </p:cBhvr>
                                    </p:animEffec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22" presetSubtype="8">
                                  <p:stCondLst>
                                    <p:cond delay="0"/>
                                  </p:stCondLst>
                                  <p:childTnLst>
                                    <p:set>
                                      <p:cBhvr>
                                        <p:cTn id="20" dur="1" fill="hold">
                                          <p:stCondLst>
                                            <p:cond delay="0"/>
                                          </p:stCondLst>
                                        </p:cTn>
                                        <p:tgtEl>
                                          <p:spTgt spid="227">
                                            <p:txEl>
                                              <p:pRg st="481" end="481"/>
                                            </p:txEl>
                                          </p:spTgt>
                                        </p:tgtEl>
                                        <p:attrNameLst>
                                          <p:attrName>style.visibility</p:attrName>
                                        </p:attrNameLst>
                                      </p:cBhvr>
                                      <p:to>
                                        <p:strVal val="visible"/>
                                      </p:to>
                                    </p:set>
                                    <p:animEffect filter="wipe(left)" transition="in">
                                      <p:cBhvr additive="repl">
                                        <p:cTn id="21" dur="500"/>
                                        <p:tgtEl>
                                          <p:spTgt spid="227">
                                            <p:txEl>
                                              <p:pRg st="481" end="481"/>
                                            </p:txEl>
                                          </p:spTgt>
                                        </p:tgtEl>
                                      </p:cBhvr>
                                    </p:animEffect>
                                  </p:childTnLst>
                                </p:cTn>
                              </p:par>
                              <p:par>
                                <p:cTn id="22" nodeType="withEffect" fill="hold" presetClass="entr" presetID="22" presetSubtype="8">
                                  <p:stCondLst>
                                    <p:cond delay="0"/>
                                  </p:stCondLst>
                                  <p:childTnLst>
                                    <p:set>
                                      <p:cBhvr>
                                        <p:cTn id="23" dur="1" fill="hold">
                                          <p:stCondLst>
                                            <p:cond delay="0"/>
                                          </p:stCondLst>
                                        </p:cTn>
                                        <p:tgtEl>
                                          <p:spTgt spid="227">
                                            <p:txEl>
                                              <p:pRg st="481" end="481"/>
                                            </p:txEl>
                                          </p:spTgt>
                                        </p:tgtEl>
                                        <p:attrNameLst>
                                          <p:attrName>style.visibility</p:attrName>
                                        </p:attrNameLst>
                                      </p:cBhvr>
                                      <p:to>
                                        <p:strVal val="visible"/>
                                      </p:to>
                                    </p:set>
                                    <p:animEffect filter="wipe(left)" transition="in">
                                      <p:cBhvr additive="repl">
                                        <p:cTn id="24" dur="500"/>
                                        <p:tgtEl>
                                          <p:spTgt spid="227">
                                            <p:txEl>
                                              <p:pRg st="481" end="481"/>
                                            </p:txEl>
                                          </p:spTgt>
                                        </p:tgtEl>
                                      </p:cBhvr>
                                    </p:animEffec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227">
                                            <p:txEl>
                                              <p:pRg st="481" end="481"/>
                                            </p:txEl>
                                          </p:spTgt>
                                        </p:tgtEl>
                                        <p:attrNameLst>
                                          <p:attrName>style.visibility</p:attrName>
                                        </p:attrNameLst>
                                      </p:cBhvr>
                                      <p:to>
                                        <p:strVal val="visible"/>
                                      </p:to>
                                    </p:set>
                                    <p:animEffect filter="wipe(left)" transition="in">
                                      <p:cBhvr additive="repl">
                                        <p:cTn id="29" dur="500"/>
                                        <p:tgtEl>
                                          <p:spTgt spid="227">
                                            <p:txEl>
                                              <p:pRg st="481" end="48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28" name="CustomShape 1"/>
          <p:cNvSpPr/>
          <p:nvPr/>
        </p:nvSpPr>
        <p:spPr>
          <a:xfrm>
            <a:off x="899640" y="82440"/>
            <a:ext cx="801504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Characteristics of Goods</a:t>
            </a:r>
            <a:endParaRPr lang="en-US" sz="1800" spc="-1" strike="noStrike">
              <a:solidFill>
                <a:srgbClr val="000000"/>
              </a:solidFill>
              <a:uFill>
                <a:solidFill>
                  <a:srgbClr val="ffffff"/>
                </a:solidFill>
              </a:uFill>
              <a:latin typeface="Arial"/>
            </a:endParaRPr>
          </a:p>
        </p:txBody>
      </p:sp>
      <p:sp>
        <p:nvSpPr>
          <p:cNvPr id="229" name="CustomShape 2"/>
          <p:cNvSpPr/>
          <p:nvPr/>
        </p:nvSpPr>
        <p:spPr>
          <a:xfrm>
            <a:off x="899640" y="822960"/>
            <a:ext cx="8015040" cy="550080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Goods can be classified according to two attributes:</a:t>
            </a:r>
            <a:endParaRPr lang="en-US" sz="1800" spc="-1" strike="noStrike">
              <a:solidFill>
                <a:srgbClr val="000000"/>
              </a:solidFill>
              <a:uFill>
                <a:solidFill>
                  <a:srgbClr val="ffffff"/>
                </a:solidFill>
              </a:uFill>
              <a:latin typeface="Arial"/>
            </a:endParaRPr>
          </a:p>
          <a:p>
            <a:pPr lvl="2" marL="648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whether they are </a:t>
            </a:r>
            <a:r>
              <a:rPr b="1" i="1" lang="en-US" sz="2400" spc="-1" strike="noStrike">
                <a:solidFill>
                  <a:srgbClr val="000000"/>
                </a:solidFill>
                <a:uFill>
                  <a:solidFill>
                    <a:srgbClr val="ffffff"/>
                  </a:solidFill>
                </a:uFill>
                <a:latin typeface="Calibri"/>
                <a:ea typeface="MS PGothic"/>
              </a:rPr>
              <a:t>excludable</a:t>
            </a:r>
            <a:endParaRPr lang="en-US" sz="1800" spc="-1" strike="noStrike">
              <a:solidFill>
                <a:srgbClr val="000000"/>
              </a:solidFill>
              <a:uFill>
                <a:solidFill>
                  <a:srgbClr val="ffffff"/>
                </a:solidFill>
              </a:uFill>
              <a:latin typeface="Arial"/>
            </a:endParaRPr>
          </a:p>
          <a:p>
            <a:pPr lvl="2" marL="648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whether they are </a:t>
            </a:r>
            <a:r>
              <a:rPr b="1" i="1" lang="en-US" sz="2400" spc="-1" strike="noStrike">
                <a:solidFill>
                  <a:srgbClr val="000000"/>
                </a:solidFill>
                <a:uFill>
                  <a:solidFill>
                    <a:srgbClr val="ffffff"/>
                  </a:solidFill>
                </a:uFill>
                <a:latin typeface="Calibri"/>
                <a:ea typeface="MS PGothic"/>
              </a:rPr>
              <a:t>rival in consumption</a:t>
            </a:r>
            <a:endParaRPr lang="en-US" sz="1800" spc="-1" strike="noStrike">
              <a:solidFill>
                <a:srgbClr val="000000"/>
              </a:solidFill>
              <a:uFill>
                <a:solidFill>
                  <a:srgbClr val="ffffff"/>
                </a:solidFill>
              </a:uFill>
              <a:latin typeface="Arial"/>
            </a:endParaRPr>
          </a:p>
          <a:p>
            <a:pPr lvl="1" marL="432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A good is </a:t>
            </a:r>
            <a:r>
              <a:rPr b="1" lang="en-US" sz="2400" spc="-1" strike="noStrike">
                <a:solidFill>
                  <a:srgbClr val="000000"/>
                </a:solidFill>
                <a:uFill>
                  <a:solidFill>
                    <a:srgbClr val="ffffff"/>
                  </a:solidFill>
                </a:uFill>
                <a:latin typeface="Calibri"/>
                <a:ea typeface="MS PGothic"/>
              </a:rPr>
              <a:t>excludable </a:t>
            </a:r>
            <a:r>
              <a:rPr lang="en-US" sz="2400" spc="-1" strike="noStrike">
                <a:solidFill>
                  <a:srgbClr val="000000"/>
                </a:solidFill>
                <a:uFill>
                  <a:solidFill>
                    <a:srgbClr val="ffffff"/>
                  </a:solidFill>
                </a:uFill>
                <a:latin typeface="Calibri"/>
                <a:ea typeface="MS PGothic"/>
              </a:rPr>
              <a:t>if the supplier of that good can prevent people who do not pay from consuming it.</a:t>
            </a:r>
            <a:endParaRPr lang="en-US" sz="1800" spc="-1" strike="noStrike">
              <a:solidFill>
                <a:srgbClr val="000000"/>
              </a:solidFill>
              <a:uFill>
                <a:solidFill>
                  <a:srgbClr val="ffffff"/>
                </a:solidFill>
              </a:uFill>
              <a:latin typeface="Arial"/>
            </a:endParaRPr>
          </a:p>
          <a:p>
            <a:pPr lvl="1" marL="432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When a good is </a:t>
            </a:r>
            <a:r>
              <a:rPr b="1" lang="en-US" sz="2400" spc="-1" strike="noStrike">
                <a:solidFill>
                  <a:srgbClr val="000000"/>
                </a:solidFill>
                <a:uFill>
                  <a:solidFill>
                    <a:srgbClr val="ffffff"/>
                  </a:solidFill>
                </a:uFill>
                <a:latin typeface="Calibri"/>
                <a:ea typeface="MS PGothic"/>
              </a:rPr>
              <a:t>nonexcludable</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the supplier cannot prevent consumption by people who do not pay for it.</a:t>
            </a:r>
            <a:endParaRPr lang="en-US" sz="1800" spc="-1" strike="noStrike">
              <a:solidFill>
                <a:srgbClr val="000000"/>
              </a:solidFill>
              <a:uFill>
                <a:solidFill>
                  <a:srgbClr val="ffffff"/>
                </a:solidFill>
              </a:uFill>
              <a:latin typeface="Arial"/>
            </a:endParaRPr>
          </a:p>
          <a:p>
            <a:pPr lvl="1" marL="432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A good is </a:t>
            </a:r>
            <a:r>
              <a:rPr b="1" lang="en-US" sz="2400" spc="-1" strike="noStrike">
                <a:solidFill>
                  <a:srgbClr val="000000"/>
                </a:solidFill>
                <a:uFill>
                  <a:solidFill>
                    <a:srgbClr val="ffffff"/>
                  </a:solidFill>
                </a:uFill>
                <a:latin typeface="Calibri"/>
                <a:ea typeface="MS PGothic"/>
              </a:rPr>
              <a:t>rival in consumption </a:t>
            </a:r>
            <a:r>
              <a:rPr lang="en-US" sz="2400" spc="-1" strike="noStrike">
                <a:solidFill>
                  <a:srgbClr val="000000"/>
                </a:solidFill>
                <a:uFill>
                  <a:solidFill>
                    <a:srgbClr val="ffffff"/>
                  </a:solidFill>
                </a:uFill>
                <a:latin typeface="Calibri"/>
                <a:ea typeface="MS PGothic"/>
              </a:rPr>
              <a:t>if the same unit of the good cannot be consumed by more than one person at the same time.</a:t>
            </a:r>
            <a:endParaRPr lang="en-US" sz="1800" spc="-1" strike="noStrike">
              <a:solidFill>
                <a:srgbClr val="000000"/>
              </a:solidFill>
              <a:uFill>
                <a:solidFill>
                  <a:srgbClr val="ffffff"/>
                </a:solidFill>
              </a:uFill>
              <a:latin typeface="Arial"/>
            </a:endParaRPr>
          </a:p>
          <a:p>
            <a:pPr lvl="1" marL="432000" indent="-216000">
              <a:lnSpc>
                <a:spcPct val="100000"/>
              </a:lnSpc>
              <a:buClr>
                <a:srgbClr val="000000"/>
              </a:buClr>
              <a:buSzPct val="45000"/>
              <a:buFont typeface="Wingdings" charset="2"/>
              <a:buChar char=""/>
            </a:pPr>
            <a:r>
              <a:rPr lang="en-US" sz="2400" spc="-1" strike="noStrike">
                <a:solidFill>
                  <a:srgbClr val="000000"/>
                </a:solidFill>
                <a:uFill>
                  <a:solidFill>
                    <a:srgbClr val="ffffff"/>
                  </a:solidFill>
                </a:uFill>
                <a:latin typeface="Calibri"/>
                <a:ea typeface="MS PGothic"/>
              </a:rPr>
              <a:t>A good is </a:t>
            </a:r>
            <a:r>
              <a:rPr b="1" lang="en-US" sz="2400" spc="-1" strike="noStrike">
                <a:solidFill>
                  <a:srgbClr val="000000"/>
                </a:solidFill>
                <a:uFill>
                  <a:solidFill>
                    <a:srgbClr val="ffffff"/>
                  </a:solidFill>
                </a:uFill>
                <a:latin typeface="Calibri"/>
                <a:ea typeface="MS PGothic"/>
              </a:rPr>
              <a:t>nonrival in consumption </a:t>
            </a:r>
            <a:r>
              <a:rPr lang="en-US" sz="2400" spc="-1" strike="noStrike">
                <a:solidFill>
                  <a:srgbClr val="000000"/>
                </a:solidFill>
                <a:uFill>
                  <a:solidFill>
                    <a:srgbClr val="ffffff"/>
                  </a:solidFill>
                </a:uFill>
                <a:latin typeface="Calibri"/>
                <a:ea typeface="MS PGothic"/>
              </a:rPr>
              <a:t>if more than one person can consume the same unit of the good at the same time.</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b="1" lang="en-US" sz="2400" spc="-1" strike="noStrike">
                <a:solidFill>
                  <a:srgbClr val="000000"/>
                </a:solidFill>
                <a:uFill>
                  <a:solidFill>
                    <a:srgbClr val="ffffff"/>
                  </a:solidFill>
                </a:uFill>
                <a:latin typeface="Calibri"/>
                <a:ea typeface="MS PGothic"/>
              </a:rPr>
              <a:t>Private goods</a:t>
            </a:r>
            <a:r>
              <a:rPr lang="en-US" sz="2400" spc="-1" strike="noStrike">
                <a:solidFill>
                  <a:srgbClr val="000000"/>
                </a:solidFill>
                <a:uFill>
                  <a:solidFill>
                    <a:srgbClr val="ffffff"/>
                  </a:solidFill>
                </a:uFill>
                <a:latin typeface="Calibri"/>
                <a:ea typeface="MS PGothic"/>
              </a:rPr>
              <a:t> are both excludable and rival in consumption</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b="1" lang="en-US" sz="2400" spc="-1" strike="noStrike">
                <a:solidFill>
                  <a:srgbClr val="000000"/>
                </a:solidFill>
                <a:uFill>
                  <a:solidFill>
                    <a:srgbClr val="ffffff"/>
                  </a:solidFill>
                </a:uFill>
                <a:latin typeface="Calibri"/>
                <a:ea typeface="MS PGothic"/>
              </a:rPr>
              <a:t>Public goods</a:t>
            </a:r>
            <a:r>
              <a:rPr lang="en-US" sz="2400" spc="-1" strike="noStrike">
                <a:solidFill>
                  <a:srgbClr val="000000"/>
                </a:solidFill>
                <a:uFill>
                  <a:solidFill>
                    <a:srgbClr val="ffffff"/>
                  </a:solidFill>
                </a:uFill>
                <a:latin typeface="Calibri"/>
                <a:ea typeface="MS PGothic"/>
              </a:rPr>
              <a:t> are nonexcludable and nonrival in consumption</a:t>
            </a:r>
            <a:endParaRPr lang="en-US" sz="1800" spc="-1" strike="noStrike">
              <a:solidFill>
                <a:srgbClr val="000000"/>
              </a:solidFill>
              <a:uFill>
                <a:solidFill>
                  <a:srgbClr val="ffffff"/>
                </a:solidFill>
              </a:uFill>
              <a:latin typeface="Arial"/>
            </a:endParaRPr>
          </a:p>
        </p:txBody>
      </p:sp>
    </p:spTree>
  </p:cSld>
  <p:timing>
    <p:tnLst>
      <p:par>
        <p:cTn id="30" dur="indefinite" restart="never" nodeType="tmRoot">
          <p:childTnLst>
            <p:seq>
              <p:cTn id="31" dur="indefinite" nodeType="mainSeq">
                <p:childTnLst>
                  <p:par>
                    <p:cTn id="32" fill="hold">
                      <p:stCondLst>
                        <p:cond delay="indefinite"/>
                      </p:stCondLst>
                      <p:childTnLst>
                        <p:par>
                          <p:cTn id="33" fill="hold">
                            <p:stCondLst>
                              <p:cond delay="0"/>
                            </p:stCondLst>
                            <p:childTnLst>
                              <p:par>
                                <p:cTn id="34" nodeType="clickEffect" fill="hold" presetClass="entr" presetID="22" presetSubtype="8">
                                  <p:stCondLst>
                                    <p:cond delay="0"/>
                                  </p:stCondLst>
                                  <p:childTnLst>
                                    <p:set>
                                      <p:cBhvr>
                                        <p:cTn id="35" dur="1" fill="hold">
                                          <p:stCondLst>
                                            <p:cond delay="0"/>
                                          </p:stCondLst>
                                        </p:cTn>
                                        <p:tgtEl>
                                          <p:spTgt spid="229">
                                            <p:txEl>
                                              <p:pRg st="0" end="53"/>
                                            </p:txEl>
                                          </p:spTgt>
                                        </p:tgtEl>
                                        <p:attrNameLst>
                                          <p:attrName>style.visibility</p:attrName>
                                        </p:attrNameLst>
                                      </p:cBhvr>
                                      <p:to>
                                        <p:strVal val="visible"/>
                                      </p:to>
                                    </p:set>
                                    <p:animEffect filter="wipe(left)" transition="in">
                                      <p:cBhvr additive="repl">
                                        <p:cTn id="36" dur="500"/>
                                        <p:tgtEl>
                                          <p:spTgt spid="229">
                                            <p:txEl>
                                              <p:pRg st="0" end="53"/>
                                            </p:txEl>
                                          </p:spTgt>
                                        </p:tgtEl>
                                      </p:cBhvr>
                                    </p:animEffect>
                                  </p:childTnLst>
                                </p:cTn>
                              </p:par>
                            </p:childTnLst>
                          </p:cTn>
                        </p:par>
                        <p:par>
                          <p:cTn id="37" fill="hold">
                            <p:stCondLst>
                              <p:cond delay="500"/>
                            </p:stCondLst>
                            <p:childTnLst>
                              <p:par>
                                <p:cTn id="38" nodeType="afterEffect" fill="hold" presetClass="entr" presetID="22" presetSubtype="8">
                                  <p:stCondLst>
                                    <p:cond delay="0"/>
                                  </p:stCondLst>
                                  <p:childTnLst>
                                    <p:set>
                                      <p:cBhvr>
                                        <p:cTn id="39" dur="1" fill="hold">
                                          <p:stCondLst>
                                            <p:cond delay="0"/>
                                          </p:stCondLst>
                                        </p:cTn>
                                        <p:tgtEl>
                                          <p:spTgt spid="229">
                                            <p:txEl>
                                              <p:pRg st="678" end="678"/>
                                            </p:txEl>
                                          </p:spTgt>
                                        </p:tgtEl>
                                        <p:attrNameLst>
                                          <p:attrName>style.visibility</p:attrName>
                                        </p:attrNameLst>
                                      </p:cBhvr>
                                      <p:to>
                                        <p:strVal val="visible"/>
                                      </p:to>
                                    </p:set>
                                    <p:animEffect filter="wipe(left)" transition="in">
                                      <p:cBhvr additive="repl">
                                        <p:cTn id="40" dur="500"/>
                                        <p:tgtEl>
                                          <p:spTgt spid="229">
                                            <p:txEl>
                                              <p:pRg st="678" end="678"/>
                                            </p:txEl>
                                          </p:spTgt>
                                        </p:tgtEl>
                                      </p:cBhvr>
                                    </p:animEffect>
                                  </p:childTnLst>
                                </p:cTn>
                              </p:par>
                            </p:childTnLst>
                          </p:cTn>
                        </p:par>
                        <p:par>
                          <p:cTn id="41" fill="hold">
                            <p:stCondLst>
                              <p:cond delay="1000"/>
                            </p:stCondLst>
                            <p:childTnLst>
                              <p:par>
                                <p:cTn id="42" nodeType="afterEffect" fill="hold" presetClass="entr" presetID="22" presetSubtype="8">
                                  <p:stCondLst>
                                    <p:cond delay="0"/>
                                  </p:stCondLst>
                                  <p:childTnLst>
                                    <p:set>
                                      <p:cBhvr>
                                        <p:cTn id="43" dur="1" fill="hold">
                                          <p:stCondLst>
                                            <p:cond delay="0"/>
                                          </p:stCondLst>
                                        </p:cTn>
                                        <p:tgtEl>
                                          <p:spTgt spid="229">
                                            <p:txEl>
                                              <p:pRg st="678" end="678"/>
                                            </p:txEl>
                                          </p:spTgt>
                                        </p:tgtEl>
                                        <p:attrNameLst>
                                          <p:attrName>style.visibility</p:attrName>
                                        </p:attrNameLst>
                                      </p:cBhvr>
                                      <p:to>
                                        <p:strVal val="visible"/>
                                      </p:to>
                                    </p:set>
                                    <p:animEffect filter="wipe(left)" transition="in">
                                      <p:cBhvr additive="repl">
                                        <p:cTn id="44" dur="500"/>
                                        <p:tgtEl>
                                          <p:spTgt spid="229">
                                            <p:txEl>
                                              <p:pRg st="678" end="678"/>
                                            </p:txEl>
                                          </p:spTgt>
                                        </p:tgtEl>
                                      </p:cBhvr>
                                    </p:animEffec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22" presetSubtype="8">
                                  <p:stCondLst>
                                    <p:cond delay="0"/>
                                  </p:stCondLst>
                                  <p:childTnLst>
                                    <p:set>
                                      <p:cBhvr>
                                        <p:cTn id="48" dur="1" fill="hold">
                                          <p:stCondLst>
                                            <p:cond delay="0"/>
                                          </p:stCondLst>
                                        </p:cTn>
                                        <p:tgtEl>
                                          <p:spTgt spid="229">
                                            <p:txEl>
                                              <p:pRg st="678" end="678"/>
                                            </p:txEl>
                                          </p:spTgt>
                                        </p:tgtEl>
                                        <p:attrNameLst>
                                          <p:attrName>style.visibility</p:attrName>
                                        </p:attrNameLst>
                                      </p:cBhvr>
                                      <p:to>
                                        <p:strVal val="visible"/>
                                      </p:to>
                                    </p:set>
                                    <p:animEffect filter="wipe(left)" transition="in">
                                      <p:cBhvr additive="repl">
                                        <p:cTn id="49" dur="500"/>
                                        <p:tgtEl>
                                          <p:spTgt spid="229">
                                            <p:txEl>
                                              <p:pRg st="678" end="678"/>
                                            </p:txEl>
                                          </p:spTgt>
                                        </p:tgtEl>
                                      </p:cBhvr>
                                    </p:animEffect>
                                  </p:childTnLst>
                                </p:cTn>
                              </p:par>
                            </p:childTnLst>
                          </p:cTn>
                        </p:par>
                      </p:childTnLst>
                    </p:cTn>
                  </p:par>
                  <p:par>
                    <p:cTn id="50" fill="hold">
                      <p:stCondLst>
                        <p:cond delay="indefinite"/>
                      </p:stCondLst>
                      <p:childTnLst>
                        <p:par>
                          <p:cTn id="51" fill="hold">
                            <p:stCondLst>
                              <p:cond delay="0"/>
                            </p:stCondLst>
                            <p:childTnLst>
                              <p:par>
                                <p:cTn id="52" nodeType="clickEffect" fill="hold" presetClass="entr" presetID="22" presetSubtype="8">
                                  <p:stCondLst>
                                    <p:cond delay="0"/>
                                  </p:stCondLst>
                                  <p:childTnLst>
                                    <p:set>
                                      <p:cBhvr>
                                        <p:cTn id="53" dur="1" fill="hold">
                                          <p:stCondLst>
                                            <p:cond delay="0"/>
                                          </p:stCondLst>
                                        </p:cTn>
                                        <p:tgtEl>
                                          <p:spTgt spid="229">
                                            <p:txEl>
                                              <p:pRg st="678" end="678"/>
                                            </p:txEl>
                                          </p:spTgt>
                                        </p:tgtEl>
                                        <p:attrNameLst>
                                          <p:attrName>style.visibility</p:attrName>
                                        </p:attrNameLst>
                                      </p:cBhvr>
                                      <p:to>
                                        <p:strVal val="visible"/>
                                      </p:to>
                                    </p:set>
                                    <p:animEffect filter="wipe(left)" transition="in">
                                      <p:cBhvr additive="repl">
                                        <p:cTn id="54" dur="500"/>
                                        <p:tgtEl>
                                          <p:spTgt spid="229">
                                            <p:txEl>
                                              <p:pRg st="678" end="678"/>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0" name="CustomShape 1"/>
          <p:cNvSpPr/>
          <p:nvPr/>
        </p:nvSpPr>
        <p:spPr>
          <a:xfrm>
            <a:off x="899640" y="28440"/>
            <a:ext cx="8010360" cy="685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Characteristics of Goods</a:t>
            </a:r>
            <a:endParaRPr lang="en-US" sz="1800" spc="-1" strike="noStrike">
              <a:solidFill>
                <a:srgbClr val="000000"/>
              </a:solidFill>
              <a:uFill>
                <a:solidFill>
                  <a:srgbClr val="ffffff"/>
                </a:solidFill>
              </a:uFill>
              <a:latin typeface="Arial"/>
            </a:endParaRPr>
          </a:p>
        </p:txBody>
      </p:sp>
      <p:sp>
        <p:nvSpPr>
          <p:cNvPr id="231" name="CustomShape 2"/>
          <p:cNvSpPr/>
          <p:nvPr/>
        </p:nvSpPr>
        <p:spPr>
          <a:xfrm>
            <a:off x="899640" y="893520"/>
            <a:ext cx="8010360" cy="5559120"/>
          </a:xfrm>
          <a:prstGeom prst="rect">
            <a:avLst/>
          </a:prstGeom>
          <a:noFill/>
          <a:ln w="9360">
            <a:noFill/>
          </a:ln>
        </p:spPr>
        <p:style>
          <a:lnRef idx="0"/>
          <a:fillRef idx="0"/>
          <a:effectRef idx="0"/>
          <a:fontRef idx="minor"/>
        </p:style>
        <p:txBody>
          <a:bodyPr lIns="90000" rIns="90000" tIns="45000" bIns="45000"/>
          <a:p>
            <a:r>
              <a:rPr lang="en-US" sz="2400" spc="-1" strike="noStrike">
                <a:solidFill>
                  <a:srgbClr val="000000"/>
                </a:solidFill>
                <a:uFill>
                  <a:solidFill>
                    <a:srgbClr val="ffffff"/>
                  </a:solidFill>
                </a:uFill>
                <a:latin typeface="Calibri"/>
                <a:ea typeface="MS PGothic"/>
              </a:rPr>
              <a:t>There are four types of goods:</a:t>
            </a:r>
            <a:endParaRPr lang="en-US" sz="1800" spc="-1" strike="noStrike">
              <a:solidFill>
                <a:srgbClr val="000000"/>
              </a:solidFill>
              <a:uFill>
                <a:solidFill>
                  <a:srgbClr val="ffffff"/>
                </a:solidFill>
              </a:uFill>
              <a:latin typeface="Arial"/>
            </a:endParaRPr>
          </a:p>
          <a:p>
            <a:pPr lvl="1" marL="973080" indent="-456480">
              <a:lnSpc>
                <a:spcPct val="100000"/>
              </a:lnSpc>
              <a:buClr>
                <a:srgbClr val="000000"/>
              </a:buClr>
              <a:buFont typeface="Calibri"/>
              <a:buAutoNum type="arabicParenR"/>
            </a:pPr>
            <a:r>
              <a:rPr b="1" lang="en-US" sz="2400" spc="-1" strike="noStrike">
                <a:solidFill>
                  <a:srgbClr val="000000"/>
                </a:solidFill>
                <a:uFill>
                  <a:solidFill>
                    <a:srgbClr val="ffffff"/>
                  </a:solidFill>
                </a:uFill>
                <a:latin typeface="Calibri"/>
                <a:ea typeface="MS PGothic"/>
              </a:rPr>
              <a:t>Private goods</a:t>
            </a:r>
            <a:r>
              <a:rPr lang="en-US" sz="2400" spc="-1" strike="noStrike">
                <a:solidFill>
                  <a:srgbClr val="000000"/>
                </a:solidFill>
                <a:uFill>
                  <a:solidFill>
                    <a:srgbClr val="ffffff"/>
                  </a:solidFill>
                </a:uFill>
                <a:latin typeface="Calibri"/>
                <a:ea typeface="MS PGothic"/>
              </a:rPr>
              <a:t>, which are excludable and rival in consumption, like wheat</a:t>
            </a:r>
            <a:endParaRPr lang="en-US" sz="1800" spc="-1" strike="noStrike">
              <a:solidFill>
                <a:srgbClr val="000000"/>
              </a:solidFill>
              <a:uFill>
                <a:solidFill>
                  <a:srgbClr val="ffffff"/>
                </a:solidFill>
              </a:uFill>
              <a:latin typeface="Arial"/>
            </a:endParaRPr>
          </a:p>
          <a:p>
            <a:pPr lvl="1" marL="973080" indent="-456480">
              <a:lnSpc>
                <a:spcPct val="100000"/>
              </a:lnSpc>
              <a:buClr>
                <a:srgbClr val="000000"/>
              </a:buClr>
              <a:buFont typeface="Calibri"/>
              <a:buAutoNum type="arabicParenR"/>
            </a:pPr>
            <a:r>
              <a:rPr b="1" lang="en-US" sz="2400" spc="-1" strike="noStrike">
                <a:solidFill>
                  <a:srgbClr val="000000"/>
                </a:solidFill>
                <a:uFill>
                  <a:solidFill>
                    <a:srgbClr val="ffffff"/>
                  </a:solidFill>
                </a:uFill>
                <a:latin typeface="Calibri"/>
                <a:ea typeface="MS PGothic"/>
              </a:rPr>
              <a:t>Public goods</a:t>
            </a:r>
            <a:r>
              <a:rPr lang="en-US" sz="2400" spc="-1" strike="noStrike">
                <a:solidFill>
                  <a:srgbClr val="000000"/>
                </a:solidFill>
                <a:uFill>
                  <a:solidFill>
                    <a:srgbClr val="ffffff"/>
                  </a:solidFill>
                </a:uFill>
                <a:latin typeface="Calibri"/>
                <a:ea typeface="MS PGothic"/>
              </a:rPr>
              <a:t>, which are nonexcludable and nonrival in consumption, like a public sewer system</a:t>
            </a: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lvl="1" marL="973080" indent="-456480">
              <a:lnSpc>
                <a:spcPct val="100000"/>
              </a:lnSpc>
              <a:buClr>
                <a:srgbClr val="000000"/>
              </a:buClr>
              <a:buFont typeface="Calibri"/>
              <a:buAutoNum type="arabicParenR"/>
            </a:pPr>
            <a:r>
              <a:rPr b="1" lang="en-US" sz="2400" spc="-1" strike="noStrike">
                <a:solidFill>
                  <a:srgbClr val="000000"/>
                </a:solidFill>
                <a:uFill>
                  <a:solidFill>
                    <a:srgbClr val="ffffff"/>
                  </a:solidFill>
                </a:uFill>
                <a:latin typeface="Calibri"/>
                <a:ea typeface="MS PGothic"/>
              </a:rPr>
              <a:t>Common resources</a:t>
            </a:r>
            <a:r>
              <a:rPr lang="en-US" sz="2400" spc="-1" strike="noStrike">
                <a:solidFill>
                  <a:srgbClr val="000000"/>
                </a:solidFill>
                <a:uFill>
                  <a:solidFill>
                    <a:srgbClr val="ffffff"/>
                  </a:solidFill>
                </a:uFill>
                <a:latin typeface="Calibri"/>
                <a:ea typeface="MS PGothic"/>
              </a:rPr>
              <a:t>, which are nonexcludable but rival in consumption, like clean water in a river</a:t>
            </a:r>
            <a:endParaRPr lang="en-US" sz="1800" spc="-1" strike="noStrike">
              <a:solidFill>
                <a:srgbClr val="000000"/>
              </a:solidFill>
              <a:uFill>
                <a:solidFill>
                  <a:srgbClr val="ffffff"/>
                </a:solidFill>
              </a:uFill>
              <a:latin typeface="Arial"/>
            </a:endParaRPr>
          </a:p>
          <a:p>
            <a:pPr lvl="1" marL="973080" indent="-456480">
              <a:lnSpc>
                <a:spcPct val="100000"/>
              </a:lnSpc>
              <a:buClr>
                <a:srgbClr val="000000"/>
              </a:buClr>
              <a:buFont typeface="Calibri"/>
              <a:buAutoNum type="arabicParenR"/>
            </a:pPr>
            <a:r>
              <a:rPr b="1" lang="en-US" sz="2400" spc="-1" strike="noStrike">
                <a:solidFill>
                  <a:srgbClr val="000000"/>
                </a:solidFill>
                <a:uFill>
                  <a:solidFill>
                    <a:srgbClr val="ffffff"/>
                  </a:solidFill>
                </a:uFill>
                <a:latin typeface="Calibri"/>
                <a:ea typeface="MS PGothic"/>
              </a:rPr>
              <a:t>Artificially scarce goods</a:t>
            </a:r>
            <a:r>
              <a:rPr lang="en-US" sz="2400" spc="-1" strike="noStrike">
                <a:solidFill>
                  <a:srgbClr val="000000"/>
                </a:solidFill>
                <a:uFill>
                  <a:solidFill>
                    <a:srgbClr val="ffffff"/>
                  </a:solidFill>
                </a:uFill>
                <a:latin typeface="Calibri"/>
                <a:ea typeface="MS PGothic"/>
              </a:rPr>
              <a:t>, which are excludable but nonrival in consumption, like pay-per-view movies on cable TV</a:t>
            </a:r>
            <a:endParaRPr lang="en-US" sz="1800" spc="-1" strike="noStrike">
              <a:solidFill>
                <a:srgbClr val="000000"/>
              </a:solidFill>
              <a:uFill>
                <a:solidFill>
                  <a:srgbClr val="ffffff"/>
                </a:solidFill>
              </a:uFill>
              <a:latin typeface="Arial"/>
            </a:endParaRPr>
          </a:p>
          <a:p>
            <a:pPr>
              <a:lnSpc>
                <a:spcPct val="100000"/>
              </a:lnSpc>
            </a:pPr>
            <a:r>
              <a:rPr lang="en-US" sz="2400" spc="-1" strike="noStrike">
                <a:solidFill>
                  <a:srgbClr val="000000"/>
                </a:solidFill>
                <a:uFill>
                  <a:solidFill>
                    <a:srgbClr val="ffffff"/>
                  </a:solidFill>
                </a:uFill>
                <a:latin typeface="Calibri"/>
                <a:ea typeface="MS PGothic"/>
              </a:rPr>
              <a:t>Goods that are both excludable and rival in consumption are </a:t>
            </a:r>
            <a:r>
              <a:rPr b="1" lang="en-US" sz="2400" spc="-1" strike="noStrike">
                <a:solidFill>
                  <a:srgbClr val="000000"/>
                </a:solidFill>
                <a:uFill>
                  <a:solidFill>
                    <a:srgbClr val="ffffff"/>
                  </a:solidFill>
                </a:uFill>
                <a:latin typeface="Calibri"/>
                <a:ea typeface="MS PGothic"/>
              </a:rPr>
              <a:t>private goods</a:t>
            </a:r>
            <a:r>
              <a:rPr lang="en-US" sz="2400" spc="-1" strike="noStrike">
                <a:solidFill>
                  <a:srgbClr val="000000"/>
                </a:solidFill>
                <a:uFill>
                  <a:solidFill>
                    <a:srgbClr val="ffffff"/>
                  </a:solidFill>
                </a:uFill>
                <a:latin typeface="Calibri"/>
                <a:ea typeface="MS PGothic"/>
              </a:rPr>
              <a:t>. </a:t>
            </a:r>
            <a:endParaRPr lang="en-US" sz="1800" spc="-1" strike="noStrike">
              <a:solidFill>
                <a:srgbClr val="000000"/>
              </a:solidFill>
              <a:uFill>
                <a:solidFill>
                  <a:srgbClr val="ffffff"/>
                </a:solidFill>
              </a:uFill>
              <a:latin typeface="Arial"/>
            </a:endParaRPr>
          </a:p>
          <a:p>
            <a:pPr>
              <a:lnSpc>
                <a:spcPct val="100000"/>
              </a:lnSpc>
            </a:pPr>
            <a:r>
              <a:rPr lang="en-US" sz="2400" spc="-1" strike="noStrike">
                <a:solidFill>
                  <a:srgbClr val="000000"/>
                </a:solidFill>
                <a:uFill>
                  <a:solidFill>
                    <a:srgbClr val="ffffff"/>
                  </a:solidFill>
                </a:uFill>
                <a:latin typeface="Calibri"/>
                <a:ea typeface="MS PGothic"/>
              </a:rPr>
              <a:t>Private goods can be efficiently produced and consumed in a competitive market.</a:t>
            </a:r>
            <a:endParaRPr lang="en-US" sz="1800" spc="-1" strike="noStrike">
              <a:solidFill>
                <a:srgbClr val="000000"/>
              </a:solidFill>
              <a:uFill>
                <a:solidFill>
                  <a:srgbClr val="ffffff"/>
                </a:solidFill>
              </a:uFill>
              <a:latin typeface="Arial"/>
            </a:endParaRPr>
          </a:p>
        </p:txBody>
      </p:sp>
    </p:spTree>
  </p:cSld>
  <p:timing>
    <p:tnLst>
      <p:par>
        <p:cTn id="55" dur="indefinite" restart="never" nodeType="tmRoot">
          <p:childTnLst>
            <p:seq>
              <p:cTn id="56" dur="indefinite" nodeType="mainSeq">
                <p:childTnLst>
                  <p:par>
                    <p:cTn id="57" fill="hold">
                      <p:stCondLst>
                        <p:cond delay="indefinite"/>
                      </p:stCondLst>
                      <p:childTnLst>
                        <p:par>
                          <p:cTn id="58"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231">
                                            <p:txEl>
                                              <p:pRg st="0" end="31"/>
                                            </p:txEl>
                                          </p:spTgt>
                                        </p:tgtEl>
                                        <p:attrNameLst>
                                          <p:attrName>style.visibility</p:attrName>
                                        </p:attrNameLst>
                                      </p:cBhvr>
                                      <p:to>
                                        <p:strVal val="visible"/>
                                      </p:to>
                                    </p:set>
                                    <p:animEffect filter="wipe(left)" transition="in">
                                      <p:cBhvr additive="repl">
                                        <p:cTn id="61" dur="500"/>
                                        <p:tgtEl>
                                          <p:spTgt spid="231">
                                            <p:txEl>
                                              <p:pRg st="0" end="31"/>
                                            </p:txEl>
                                          </p:spTgt>
                                        </p:tgtEl>
                                      </p:cBhvr>
                                    </p:animEffect>
                                  </p:childTnLst>
                                </p:cTn>
                              </p:par>
                            </p:childTnLst>
                          </p:cTn>
                        </p:par>
                      </p:childTnLst>
                    </p:cTn>
                  </p:par>
                  <p:par>
                    <p:cTn id="62" fill="hold">
                      <p:stCondLst>
                        <p:cond delay="indefinite"/>
                      </p:stCondLst>
                      <p:childTnLst>
                        <p:par>
                          <p:cTn id="63"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231">
                                            <p:txEl>
                                              <p:pRg st="565" end="565"/>
                                            </p:txEl>
                                          </p:spTgt>
                                        </p:tgtEl>
                                        <p:attrNameLst>
                                          <p:attrName>style.visibility</p:attrName>
                                        </p:attrNameLst>
                                      </p:cBhvr>
                                      <p:to>
                                        <p:strVal val="visible"/>
                                      </p:to>
                                    </p:set>
                                    <p:animEffect filter="wipe(left)" transition="in">
                                      <p:cBhvr additive="repl">
                                        <p:cTn id="66" dur="500"/>
                                        <p:tgtEl>
                                          <p:spTgt spid="231">
                                            <p:txEl>
                                              <p:pRg st="565" end="565"/>
                                            </p:txEl>
                                          </p:spTgt>
                                        </p:tgtEl>
                                      </p:cBhvr>
                                    </p:animEffec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22" presetSubtype="8">
                                  <p:stCondLst>
                                    <p:cond delay="0"/>
                                  </p:stCondLst>
                                  <p:childTnLst>
                                    <p:set>
                                      <p:cBhvr>
                                        <p:cTn id="70" dur="1" fill="hold">
                                          <p:stCondLst>
                                            <p:cond delay="0"/>
                                          </p:stCondLst>
                                        </p:cTn>
                                        <p:tgtEl>
                                          <p:spTgt spid="231">
                                            <p:txEl>
                                              <p:pRg st="565" end="565"/>
                                            </p:txEl>
                                          </p:spTgt>
                                        </p:tgtEl>
                                        <p:attrNameLst>
                                          <p:attrName>style.visibility</p:attrName>
                                        </p:attrNameLst>
                                      </p:cBhvr>
                                      <p:to>
                                        <p:strVal val="visible"/>
                                      </p:to>
                                    </p:set>
                                    <p:animEffect filter="wipe(left)" transition="in">
                                      <p:cBhvr additive="repl">
                                        <p:cTn id="71" dur="500"/>
                                        <p:tgtEl>
                                          <p:spTgt spid="231">
                                            <p:txEl>
                                              <p:pRg st="565" end="565"/>
                                            </p:txEl>
                                          </p:spTgt>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22" presetSubtype="8">
                                  <p:stCondLst>
                                    <p:cond delay="0"/>
                                  </p:stCondLst>
                                  <p:childTnLst>
                                    <p:set>
                                      <p:cBhvr>
                                        <p:cTn id="75" dur="1" fill="hold">
                                          <p:stCondLst>
                                            <p:cond delay="0"/>
                                          </p:stCondLst>
                                        </p:cTn>
                                        <p:tgtEl>
                                          <p:spTgt spid="231">
                                            <p:txEl>
                                              <p:pRg st="565" end="565"/>
                                            </p:txEl>
                                          </p:spTgt>
                                        </p:tgtEl>
                                        <p:attrNameLst>
                                          <p:attrName>style.visibility</p:attrName>
                                        </p:attrNameLst>
                                      </p:cBhvr>
                                      <p:to>
                                        <p:strVal val="visible"/>
                                      </p:to>
                                    </p:set>
                                    <p:animEffect filter="wipe(left)" transition="in">
                                      <p:cBhvr additive="repl">
                                        <p:cTn id="76" dur="500"/>
                                        <p:tgtEl>
                                          <p:spTgt spid="231">
                                            <p:txEl>
                                              <p:pRg st="565" end="565"/>
                                            </p:txEl>
                                          </p:spTgt>
                                        </p:tgtEl>
                                      </p:cBhvr>
                                    </p:animEffec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22" presetSubtype="8">
                                  <p:stCondLst>
                                    <p:cond delay="0"/>
                                  </p:stCondLst>
                                  <p:childTnLst>
                                    <p:set>
                                      <p:cBhvr>
                                        <p:cTn id="80" dur="1" fill="hold">
                                          <p:stCondLst>
                                            <p:cond delay="0"/>
                                          </p:stCondLst>
                                        </p:cTn>
                                        <p:tgtEl>
                                          <p:spTgt spid="231">
                                            <p:txEl>
                                              <p:pRg st="565" end="565"/>
                                            </p:txEl>
                                          </p:spTgt>
                                        </p:tgtEl>
                                        <p:attrNameLst>
                                          <p:attrName>style.visibility</p:attrName>
                                        </p:attrNameLst>
                                      </p:cBhvr>
                                      <p:to>
                                        <p:strVal val="visible"/>
                                      </p:to>
                                    </p:set>
                                    <p:animEffect filter="wipe(left)" transition="in">
                                      <p:cBhvr additive="repl">
                                        <p:cTn id="81" dur="500"/>
                                        <p:tgtEl>
                                          <p:spTgt spid="231">
                                            <p:txEl>
                                              <p:pRg st="565" end="56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2" name="CustomShape 1"/>
          <p:cNvSpPr/>
          <p:nvPr/>
        </p:nvSpPr>
        <p:spPr>
          <a:xfrm>
            <a:off x="1187640" y="934920"/>
            <a:ext cx="7117560" cy="5388840"/>
          </a:xfrm>
          <a:prstGeom prst="rect">
            <a:avLst/>
          </a:prstGeom>
          <a:noFill/>
          <a:ln w="9360">
            <a:noFill/>
          </a:ln>
        </p:spPr>
        <p:style>
          <a:lnRef idx="0"/>
          <a:fillRef idx="0"/>
          <a:effectRef idx="0"/>
          <a:fontRef idx="minor"/>
        </p:style>
      </p:sp>
      <p:sp>
        <p:nvSpPr>
          <p:cNvPr id="233" name="CustomShape 2"/>
          <p:cNvSpPr/>
          <p:nvPr/>
        </p:nvSpPr>
        <p:spPr>
          <a:xfrm>
            <a:off x="2079720" y="3933720"/>
            <a:ext cx="3106080" cy="2378880"/>
          </a:xfrm>
          <a:prstGeom prst="rect">
            <a:avLst/>
          </a:prstGeom>
          <a:solidFill>
            <a:srgbClr val="c7c4e2"/>
          </a:solidFill>
          <a:ln w="7920">
            <a:solidFill>
              <a:srgbClr val="000000"/>
            </a:solidFill>
            <a:miter/>
          </a:ln>
        </p:spPr>
        <p:style>
          <a:lnRef idx="0"/>
          <a:fillRef idx="0"/>
          <a:effectRef idx="0"/>
          <a:fontRef idx="minor"/>
        </p:style>
      </p:sp>
      <p:sp>
        <p:nvSpPr>
          <p:cNvPr id="234" name="CustomShape 3"/>
          <p:cNvSpPr/>
          <p:nvPr/>
        </p:nvSpPr>
        <p:spPr>
          <a:xfrm>
            <a:off x="781920" y="4719960"/>
            <a:ext cx="1293120" cy="548640"/>
          </a:xfrm>
          <a:prstGeom prst="rect">
            <a:avLst/>
          </a:prstGeom>
          <a:noFill/>
          <a:ln w="9360">
            <a:noFill/>
          </a:ln>
        </p:spPr>
        <p:style>
          <a:lnRef idx="0"/>
          <a:fillRef idx="0"/>
          <a:effectRef idx="0"/>
          <a:fontRef idx="minor"/>
        </p:style>
        <p:txBody>
          <a:bodyPr lIns="0" rIns="0" tIns="0" bIns="0"/>
          <a:p>
            <a:pPr marL="1440" indent="-720" algn="ctr">
              <a:lnSpc>
                <a:spcPct val="100000"/>
              </a:lnSpc>
            </a:pPr>
            <a:r>
              <a:rPr b="1" lang="en-US" sz="1800" spc="-1" strike="noStrike">
                <a:solidFill>
                  <a:srgbClr val="000000"/>
                </a:solidFill>
                <a:uFill>
                  <a:solidFill>
                    <a:srgbClr val="ffffff"/>
                  </a:solidFill>
                </a:uFill>
                <a:latin typeface="Calibri"/>
                <a:ea typeface="MS PGothic"/>
              </a:rPr>
              <a:t>Non-excludable</a:t>
            </a:r>
            <a:endParaRPr lang="en-US" sz="1800" spc="-1" strike="noStrike">
              <a:solidFill>
                <a:srgbClr val="000000"/>
              </a:solidFill>
              <a:uFill>
                <a:solidFill>
                  <a:srgbClr val="ffffff"/>
                </a:solidFill>
              </a:uFill>
              <a:latin typeface="Arial"/>
            </a:endParaRPr>
          </a:p>
        </p:txBody>
      </p:sp>
      <p:sp>
        <p:nvSpPr>
          <p:cNvPr id="235" name="CustomShape 4"/>
          <p:cNvSpPr/>
          <p:nvPr/>
        </p:nvSpPr>
        <p:spPr>
          <a:xfrm>
            <a:off x="898920" y="2454480"/>
            <a:ext cx="102132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lang="en-US" sz="1800" spc="-1" strike="noStrike">
                <a:solidFill>
                  <a:srgbClr val="000000"/>
                </a:solidFill>
                <a:uFill>
                  <a:solidFill>
                    <a:srgbClr val="ffffff"/>
                  </a:solidFill>
                </a:uFill>
                <a:latin typeface="Calibri"/>
                <a:ea typeface="MS PGothic"/>
              </a:rPr>
              <a:t>Excludable</a:t>
            </a:r>
            <a:endParaRPr lang="en-US" sz="1800" spc="-1" strike="noStrike">
              <a:solidFill>
                <a:srgbClr val="000000"/>
              </a:solidFill>
              <a:uFill>
                <a:solidFill>
                  <a:srgbClr val="ffffff"/>
                </a:solidFill>
              </a:uFill>
              <a:latin typeface="Arial"/>
            </a:endParaRPr>
          </a:p>
        </p:txBody>
      </p:sp>
      <p:sp>
        <p:nvSpPr>
          <p:cNvPr id="236" name="CustomShape 5"/>
          <p:cNvSpPr/>
          <p:nvPr/>
        </p:nvSpPr>
        <p:spPr>
          <a:xfrm>
            <a:off x="2768400" y="991800"/>
            <a:ext cx="199044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lang="en-US" sz="1800" spc="-1" strike="noStrike">
                <a:solidFill>
                  <a:srgbClr val="000000"/>
                </a:solidFill>
                <a:uFill>
                  <a:solidFill>
                    <a:srgbClr val="ffffff"/>
                  </a:solidFill>
                </a:uFill>
                <a:latin typeface="Calibri"/>
                <a:ea typeface="MS PGothic"/>
              </a:rPr>
              <a:t>Rival in consumption</a:t>
            </a:r>
            <a:endParaRPr lang="en-US" sz="1800" spc="-1" strike="noStrike">
              <a:solidFill>
                <a:srgbClr val="000000"/>
              </a:solidFill>
              <a:uFill>
                <a:solidFill>
                  <a:srgbClr val="ffffff"/>
                </a:solidFill>
              </a:uFill>
              <a:latin typeface="Arial"/>
            </a:endParaRPr>
          </a:p>
        </p:txBody>
      </p:sp>
      <p:sp>
        <p:nvSpPr>
          <p:cNvPr id="237" name="CustomShape 6"/>
          <p:cNvSpPr/>
          <p:nvPr/>
        </p:nvSpPr>
        <p:spPr>
          <a:xfrm>
            <a:off x="5653800" y="991800"/>
            <a:ext cx="23410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lang="en-US" sz="1800" spc="-1" strike="noStrike">
                <a:solidFill>
                  <a:srgbClr val="000000"/>
                </a:solidFill>
                <a:uFill>
                  <a:solidFill>
                    <a:srgbClr val="ffffff"/>
                  </a:solidFill>
                </a:uFill>
                <a:latin typeface="Calibri"/>
                <a:ea typeface="MS PGothic"/>
              </a:rPr>
              <a:t>Nonrival in consumption</a:t>
            </a:r>
            <a:endParaRPr lang="en-US" sz="1800" spc="-1" strike="noStrike">
              <a:solidFill>
                <a:srgbClr val="000000"/>
              </a:solidFill>
              <a:uFill>
                <a:solidFill>
                  <a:srgbClr val="ffffff"/>
                </a:solidFill>
              </a:uFill>
              <a:latin typeface="Arial"/>
            </a:endParaRPr>
          </a:p>
        </p:txBody>
      </p:sp>
      <p:sp>
        <p:nvSpPr>
          <p:cNvPr id="238" name="CustomShape 7"/>
          <p:cNvSpPr/>
          <p:nvPr/>
        </p:nvSpPr>
        <p:spPr>
          <a:xfrm>
            <a:off x="2079720" y="1542960"/>
            <a:ext cx="3106080" cy="2390040"/>
          </a:xfrm>
          <a:prstGeom prst="rect">
            <a:avLst/>
          </a:prstGeom>
          <a:solidFill>
            <a:srgbClr val="f69796"/>
          </a:solidFill>
          <a:ln w="7920">
            <a:solidFill>
              <a:srgbClr val="000000"/>
            </a:solidFill>
            <a:miter/>
          </a:ln>
        </p:spPr>
        <p:style>
          <a:lnRef idx="0"/>
          <a:fillRef idx="0"/>
          <a:effectRef idx="0"/>
          <a:fontRef idx="minor"/>
        </p:style>
      </p:sp>
      <p:sp>
        <p:nvSpPr>
          <p:cNvPr id="239" name="CustomShape 8"/>
          <p:cNvSpPr/>
          <p:nvPr/>
        </p:nvSpPr>
        <p:spPr>
          <a:xfrm>
            <a:off x="5186520" y="3933720"/>
            <a:ext cx="3112200" cy="2378880"/>
          </a:xfrm>
          <a:prstGeom prst="rect">
            <a:avLst/>
          </a:prstGeom>
          <a:solidFill>
            <a:srgbClr val="ffcd67"/>
          </a:solidFill>
          <a:ln w="7920">
            <a:solidFill>
              <a:srgbClr val="000000"/>
            </a:solidFill>
            <a:miter/>
          </a:ln>
        </p:spPr>
        <p:style>
          <a:lnRef idx="0"/>
          <a:fillRef idx="0"/>
          <a:effectRef idx="0"/>
          <a:fontRef idx="minor"/>
        </p:style>
      </p:sp>
      <p:sp>
        <p:nvSpPr>
          <p:cNvPr id="240" name="CustomShape 9"/>
          <p:cNvSpPr/>
          <p:nvPr/>
        </p:nvSpPr>
        <p:spPr>
          <a:xfrm>
            <a:off x="5186520" y="1542960"/>
            <a:ext cx="3112200" cy="2390040"/>
          </a:xfrm>
          <a:prstGeom prst="rect">
            <a:avLst/>
          </a:prstGeom>
          <a:solidFill>
            <a:srgbClr val="cfe4ae"/>
          </a:solidFill>
          <a:ln w="7920">
            <a:solidFill>
              <a:srgbClr val="000000"/>
            </a:solidFill>
            <a:miter/>
          </a:ln>
        </p:spPr>
        <p:style>
          <a:lnRef idx="0"/>
          <a:fillRef idx="0"/>
          <a:effectRef idx="0"/>
          <a:fontRef idx="minor"/>
        </p:style>
      </p:sp>
      <p:sp>
        <p:nvSpPr>
          <p:cNvPr id="241" name="CustomShape 10"/>
          <p:cNvSpPr/>
          <p:nvPr/>
        </p:nvSpPr>
        <p:spPr>
          <a:xfrm>
            <a:off x="2476080" y="1855800"/>
            <a:ext cx="138096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i="1" lang="en-US" sz="1800" spc="-1" strike="noStrike" u="sng">
                <a:solidFill>
                  <a:srgbClr val="000000"/>
                </a:solidFill>
                <a:uFill>
                  <a:solidFill>
                    <a:srgbClr val="ffffff"/>
                  </a:solidFill>
                </a:uFill>
                <a:latin typeface="Myriad Roman"/>
                <a:ea typeface="MS PGothic"/>
              </a:rPr>
              <a:t>Private goods</a:t>
            </a:r>
            <a:endParaRPr lang="en-US" sz="1800" spc="-1" strike="noStrike">
              <a:solidFill>
                <a:srgbClr val="000000"/>
              </a:solidFill>
              <a:uFill>
                <a:solidFill>
                  <a:srgbClr val="ffffff"/>
                </a:solidFill>
              </a:uFill>
              <a:latin typeface="Arial"/>
            </a:endParaRPr>
          </a:p>
        </p:txBody>
      </p:sp>
      <p:sp>
        <p:nvSpPr>
          <p:cNvPr id="242" name="CustomShape 11"/>
          <p:cNvSpPr/>
          <p:nvPr/>
        </p:nvSpPr>
        <p:spPr>
          <a:xfrm>
            <a:off x="2425320" y="2428920"/>
            <a:ext cx="9496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Wheat</a:t>
            </a:r>
            <a:endParaRPr lang="en-US" sz="1800" spc="-1" strike="noStrike">
              <a:solidFill>
                <a:srgbClr val="000000"/>
              </a:solidFill>
              <a:uFill>
                <a:solidFill>
                  <a:srgbClr val="ffffff"/>
                </a:solidFill>
              </a:uFill>
              <a:latin typeface="Arial"/>
            </a:endParaRPr>
          </a:p>
        </p:txBody>
      </p:sp>
      <p:sp>
        <p:nvSpPr>
          <p:cNvPr id="243" name="CustomShape 12"/>
          <p:cNvSpPr/>
          <p:nvPr/>
        </p:nvSpPr>
        <p:spPr>
          <a:xfrm>
            <a:off x="2316240" y="2932200"/>
            <a:ext cx="226944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Bathroom fixtures</a:t>
            </a:r>
            <a:endParaRPr lang="en-US" sz="1800" spc="-1" strike="noStrike">
              <a:solidFill>
                <a:srgbClr val="000000"/>
              </a:solidFill>
              <a:uFill>
                <a:solidFill>
                  <a:srgbClr val="ffffff"/>
                </a:solidFill>
              </a:uFill>
              <a:latin typeface="Arial"/>
            </a:endParaRPr>
          </a:p>
        </p:txBody>
      </p:sp>
      <p:sp>
        <p:nvSpPr>
          <p:cNvPr id="244" name="CustomShape 13"/>
          <p:cNvSpPr/>
          <p:nvPr/>
        </p:nvSpPr>
        <p:spPr>
          <a:xfrm>
            <a:off x="5567760" y="1855800"/>
            <a:ext cx="237600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i="1" lang="en-US" sz="1800" spc="-1" strike="noStrike" u="sng">
                <a:solidFill>
                  <a:srgbClr val="000000"/>
                </a:solidFill>
                <a:uFill>
                  <a:solidFill>
                    <a:srgbClr val="ffffff"/>
                  </a:solidFill>
                </a:uFill>
                <a:latin typeface="Myriad Roman"/>
                <a:ea typeface="MS PGothic"/>
              </a:rPr>
              <a:t>Artificially scarce goods</a:t>
            </a:r>
            <a:endParaRPr lang="en-US" sz="1800" spc="-1" strike="noStrike">
              <a:solidFill>
                <a:srgbClr val="000000"/>
              </a:solidFill>
              <a:uFill>
                <a:solidFill>
                  <a:srgbClr val="ffffff"/>
                </a:solidFill>
              </a:uFill>
              <a:latin typeface="Arial"/>
            </a:endParaRPr>
          </a:p>
        </p:txBody>
      </p:sp>
      <p:sp>
        <p:nvSpPr>
          <p:cNvPr id="245" name="CustomShape 14"/>
          <p:cNvSpPr/>
          <p:nvPr/>
        </p:nvSpPr>
        <p:spPr>
          <a:xfrm>
            <a:off x="5376960" y="2428920"/>
            <a:ext cx="25516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Pay-per-view movies</a:t>
            </a:r>
            <a:endParaRPr lang="en-US" sz="1800" spc="-1" strike="noStrike">
              <a:solidFill>
                <a:srgbClr val="000000"/>
              </a:solidFill>
              <a:uFill>
                <a:solidFill>
                  <a:srgbClr val="ffffff"/>
                </a:solidFill>
              </a:uFill>
              <a:latin typeface="Arial"/>
            </a:endParaRPr>
          </a:p>
        </p:txBody>
      </p:sp>
      <p:sp>
        <p:nvSpPr>
          <p:cNvPr id="246" name="CustomShape 15"/>
          <p:cNvSpPr/>
          <p:nvPr/>
        </p:nvSpPr>
        <p:spPr>
          <a:xfrm>
            <a:off x="5342040" y="2932200"/>
            <a:ext cx="24022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Computer software</a:t>
            </a:r>
            <a:endParaRPr lang="en-US" sz="1800" spc="-1" strike="noStrike">
              <a:solidFill>
                <a:srgbClr val="000000"/>
              </a:solidFill>
              <a:uFill>
                <a:solidFill>
                  <a:srgbClr val="ffffff"/>
                </a:solidFill>
              </a:uFill>
              <a:latin typeface="Arial"/>
            </a:endParaRPr>
          </a:p>
        </p:txBody>
      </p:sp>
      <p:sp>
        <p:nvSpPr>
          <p:cNvPr id="247" name="CustomShape 16"/>
          <p:cNvSpPr/>
          <p:nvPr/>
        </p:nvSpPr>
        <p:spPr>
          <a:xfrm>
            <a:off x="5492160" y="4247640"/>
            <a:ext cx="12664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i="1" lang="en-US" sz="1800" spc="-1" strike="noStrike" u="sng">
                <a:solidFill>
                  <a:srgbClr val="000000"/>
                </a:solidFill>
                <a:uFill>
                  <a:solidFill>
                    <a:srgbClr val="ffffff"/>
                  </a:solidFill>
                </a:uFill>
                <a:latin typeface="Myriad Roman"/>
                <a:ea typeface="MS PGothic"/>
              </a:rPr>
              <a:t>Public goods</a:t>
            </a:r>
            <a:endParaRPr lang="en-US" sz="1800" spc="-1" strike="noStrike">
              <a:solidFill>
                <a:srgbClr val="000000"/>
              </a:solidFill>
              <a:uFill>
                <a:solidFill>
                  <a:srgbClr val="ffffff"/>
                </a:solidFill>
              </a:uFill>
              <a:latin typeface="Arial"/>
            </a:endParaRPr>
          </a:p>
        </p:txBody>
      </p:sp>
      <p:sp>
        <p:nvSpPr>
          <p:cNvPr id="248" name="CustomShape 17"/>
          <p:cNvSpPr/>
          <p:nvPr/>
        </p:nvSpPr>
        <p:spPr>
          <a:xfrm>
            <a:off x="5350320" y="4903920"/>
            <a:ext cx="20944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Public sanitation</a:t>
            </a:r>
            <a:endParaRPr lang="en-US" sz="1800" spc="-1" strike="noStrike">
              <a:solidFill>
                <a:srgbClr val="000000"/>
              </a:solidFill>
              <a:uFill>
                <a:solidFill>
                  <a:srgbClr val="ffffff"/>
                </a:solidFill>
              </a:uFill>
              <a:latin typeface="Arial"/>
            </a:endParaRPr>
          </a:p>
        </p:txBody>
      </p:sp>
      <p:sp>
        <p:nvSpPr>
          <p:cNvPr id="249" name="CustomShape 18"/>
          <p:cNvSpPr/>
          <p:nvPr/>
        </p:nvSpPr>
        <p:spPr>
          <a:xfrm>
            <a:off x="5335200" y="5407200"/>
            <a:ext cx="214632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National defense</a:t>
            </a:r>
            <a:endParaRPr lang="en-US" sz="1800" spc="-1" strike="noStrike">
              <a:solidFill>
                <a:srgbClr val="000000"/>
              </a:solidFill>
              <a:uFill>
                <a:solidFill>
                  <a:srgbClr val="ffffff"/>
                </a:solidFill>
              </a:uFill>
              <a:latin typeface="Arial"/>
            </a:endParaRPr>
          </a:p>
        </p:txBody>
      </p:sp>
      <p:sp>
        <p:nvSpPr>
          <p:cNvPr id="250" name="CustomShape 19"/>
          <p:cNvSpPr/>
          <p:nvPr/>
        </p:nvSpPr>
        <p:spPr>
          <a:xfrm>
            <a:off x="2369880" y="4231800"/>
            <a:ext cx="18946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b="1" i="1" lang="en-US" sz="1800" spc="-1" strike="noStrike" u="sng">
                <a:solidFill>
                  <a:srgbClr val="000000"/>
                </a:solidFill>
                <a:uFill>
                  <a:solidFill>
                    <a:srgbClr val="ffffff"/>
                  </a:solidFill>
                </a:uFill>
                <a:latin typeface="Myriad Roman"/>
                <a:ea typeface="MS PGothic"/>
              </a:rPr>
              <a:t>Common resources</a:t>
            </a:r>
            <a:endParaRPr lang="en-US" sz="1800" spc="-1" strike="noStrike">
              <a:solidFill>
                <a:srgbClr val="000000"/>
              </a:solidFill>
              <a:uFill>
                <a:solidFill>
                  <a:srgbClr val="ffffff"/>
                </a:solidFill>
              </a:uFill>
              <a:latin typeface="Arial"/>
            </a:endParaRPr>
          </a:p>
        </p:txBody>
      </p:sp>
      <p:sp>
        <p:nvSpPr>
          <p:cNvPr id="251" name="CustomShape 20"/>
          <p:cNvSpPr/>
          <p:nvPr/>
        </p:nvSpPr>
        <p:spPr>
          <a:xfrm>
            <a:off x="2219400" y="4888080"/>
            <a:ext cx="158364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Clean water</a:t>
            </a:r>
            <a:endParaRPr lang="en-US" sz="1800" spc="-1" strike="noStrike">
              <a:solidFill>
                <a:srgbClr val="000000"/>
              </a:solidFill>
              <a:uFill>
                <a:solidFill>
                  <a:srgbClr val="ffffff"/>
                </a:solidFill>
              </a:uFill>
              <a:latin typeface="Arial"/>
            </a:endParaRPr>
          </a:p>
        </p:txBody>
      </p:sp>
      <p:sp>
        <p:nvSpPr>
          <p:cNvPr id="252" name="CustomShape 21"/>
          <p:cNvSpPr/>
          <p:nvPr/>
        </p:nvSpPr>
        <p:spPr>
          <a:xfrm>
            <a:off x="2192400" y="5391000"/>
            <a:ext cx="1558080" cy="2743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800" spc="-1" strike="noStrike">
                <a:solidFill>
                  <a:srgbClr val="000000"/>
                </a:solidFill>
                <a:uFill>
                  <a:solidFill>
                    <a:srgbClr val="ffffff"/>
                  </a:solidFill>
                </a:uFill>
                <a:latin typeface="Myriad Roman"/>
                <a:ea typeface="MS PGothic"/>
              </a:rPr>
              <a:t>• </a:t>
            </a:r>
            <a:r>
              <a:rPr lang="en-US" sz="1800" spc="-1" strike="noStrike">
                <a:solidFill>
                  <a:srgbClr val="000000"/>
                </a:solidFill>
                <a:uFill>
                  <a:solidFill>
                    <a:srgbClr val="ffffff"/>
                  </a:solidFill>
                </a:uFill>
                <a:latin typeface="Myriad Roman"/>
                <a:ea typeface="MS PGothic"/>
              </a:rPr>
              <a:t>Biodiversity</a:t>
            </a:r>
            <a:endParaRPr lang="en-US" sz="1800" spc="-1" strike="noStrike">
              <a:solidFill>
                <a:srgbClr val="000000"/>
              </a:solidFill>
              <a:uFill>
                <a:solidFill>
                  <a:srgbClr val="ffffff"/>
                </a:solidFill>
              </a:uFill>
              <a:latin typeface="Arial"/>
            </a:endParaRPr>
          </a:p>
        </p:txBody>
      </p:sp>
      <p:sp>
        <p:nvSpPr>
          <p:cNvPr id="253" name="CustomShape 22"/>
          <p:cNvSpPr/>
          <p:nvPr/>
        </p:nvSpPr>
        <p:spPr>
          <a:xfrm>
            <a:off x="971640" y="60480"/>
            <a:ext cx="7992000" cy="554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Characteristics of Goods</a:t>
            </a:r>
            <a:endParaRPr lang="en-US" sz="1800" spc="-1" strike="noStrike">
              <a:solidFill>
                <a:srgbClr val="000000"/>
              </a:solidFill>
              <a:uFill>
                <a:solidFill>
                  <a:srgbClr val="ffffff"/>
                </a:solidFill>
              </a:uFill>
              <a:latin typeface="Arial"/>
            </a:endParaRPr>
          </a:p>
        </p:txBody>
      </p:sp>
    </p:spTree>
  </p:cSld>
  <p:timing>
    <p:tnLst>
      <p:par>
        <p:cTn id="82" dur="indefinite" restart="never" nodeType="tmRoot">
          <p:childTnLst>
            <p:seq>
              <p:cTn id="83" dur="indefinite" nodeType="mainSeq">
                <p:childTnLst>
                  <p:par>
                    <p:cTn id="84" fill="hold">
                      <p:stCondLst>
                        <p:cond delay="indefinite"/>
                      </p:stCondLst>
                      <p:childTnLst>
                        <p:par>
                          <p:cTn id="85" fill="hold">
                            <p:stCondLst>
                              <p:cond delay="0"/>
                            </p:stCondLst>
                            <p:childTnLst>
                              <p:par>
                                <p:cTn id="86" nodeType="clickEffect" fill="hold" presetClass="entr" presetID="22" presetSubtype="8">
                                  <p:stCondLst>
                                    <p:cond delay="0"/>
                                  </p:stCondLst>
                                  <p:childTnLst>
                                    <p:set>
                                      <p:cBhvr>
                                        <p:cTn id="87" dur="1" fill="hold">
                                          <p:stCondLst>
                                            <p:cond delay="0"/>
                                          </p:stCondLst>
                                        </p:cTn>
                                        <p:tgtEl>
                                          <p:spTgt spid="241"/>
                                        </p:tgtEl>
                                        <p:attrNameLst>
                                          <p:attrName>style.visibility</p:attrName>
                                        </p:attrNameLst>
                                      </p:cBhvr>
                                      <p:to>
                                        <p:strVal val="visible"/>
                                      </p:to>
                                    </p:set>
                                    <p:animEffect filter="wipe(left)" transition="in">
                                      <p:cBhvr additive="repl">
                                        <p:cTn id="88" dur="500"/>
                                        <p:tgtEl>
                                          <p:spTgt spid="241"/>
                                        </p:tgtEl>
                                      </p:cBhvr>
                                    </p:animEffect>
                                  </p:childTnLst>
                                </p:cTn>
                              </p:par>
                            </p:childTnLst>
                          </p:cTn>
                        </p:par>
                        <p:par>
                          <p:cTn id="89" fill="hold">
                            <p:stCondLst>
                              <p:cond delay="500"/>
                            </p:stCondLst>
                            <p:childTnLst>
                              <p:par>
                                <p:cTn id="90" nodeType="afterEffect" fill="hold" presetClass="entr" presetID="22" presetSubtype="8">
                                  <p:stCondLst>
                                    <p:cond delay="0"/>
                                  </p:stCondLst>
                                  <p:childTnLst>
                                    <p:set>
                                      <p:cBhvr>
                                        <p:cTn id="91" dur="1" fill="hold">
                                          <p:stCondLst>
                                            <p:cond delay="0"/>
                                          </p:stCondLst>
                                        </p:cTn>
                                        <p:tgtEl>
                                          <p:spTgt spid="242"/>
                                        </p:tgtEl>
                                        <p:attrNameLst>
                                          <p:attrName>style.visibility</p:attrName>
                                        </p:attrNameLst>
                                      </p:cBhvr>
                                      <p:to>
                                        <p:strVal val="visible"/>
                                      </p:to>
                                    </p:set>
                                    <p:animEffect filter="wipe(left)" transition="in">
                                      <p:cBhvr additive="repl">
                                        <p:cTn id="92" dur="500"/>
                                        <p:tgtEl>
                                          <p:spTgt spid="242"/>
                                        </p:tgtEl>
                                      </p:cBhvr>
                                    </p:animEffect>
                                  </p:childTnLst>
                                </p:cTn>
                              </p:par>
                            </p:childTnLst>
                          </p:cTn>
                        </p:par>
                        <p:par>
                          <p:cTn id="93" fill="hold">
                            <p:stCondLst>
                              <p:cond delay="1000"/>
                            </p:stCondLst>
                            <p:childTnLst>
                              <p:par>
                                <p:cTn id="94" nodeType="afterEffect" fill="hold" presetClass="entr" presetID="22" presetSubtype="8">
                                  <p:stCondLst>
                                    <p:cond delay="0"/>
                                  </p:stCondLst>
                                  <p:childTnLst>
                                    <p:set>
                                      <p:cBhvr>
                                        <p:cTn id="95" dur="1" fill="hold">
                                          <p:stCondLst>
                                            <p:cond delay="0"/>
                                          </p:stCondLst>
                                        </p:cTn>
                                        <p:tgtEl>
                                          <p:spTgt spid="243"/>
                                        </p:tgtEl>
                                        <p:attrNameLst>
                                          <p:attrName>style.visibility</p:attrName>
                                        </p:attrNameLst>
                                      </p:cBhvr>
                                      <p:to>
                                        <p:strVal val="visible"/>
                                      </p:to>
                                    </p:set>
                                    <p:animEffect filter="wipe(left)" transition="in">
                                      <p:cBhvr additive="repl">
                                        <p:cTn id="96" dur="500"/>
                                        <p:tgtEl>
                                          <p:spTgt spid="243"/>
                                        </p:tgtEl>
                                      </p:cBhvr>
                                    </p:animEffect>
                                  </p:childTnLst>
                                </p:cTn>
                              </p:par>
                            </p:childTnLst>
                          </p:cTn>
                        </p:par>
                        <p:par>
                          <p:cTn id="97" fill="hold">
                            <p:stCondLst>
                              <p:cond delay="1500"/>
                            </p:stCondLst>
                            <p:childTnLst>
                              <p:par>
                                <p:cTn id="98" nodeType="afterEffect" fill="hold" presetClass="entr" presetID="22" presetSubtype="8">
                                  <p:stCondLst>
                                    <p:cond delay="0"/>
                                  </p:stCondLst>
                                  <p:childTnLst>
                                    <p:set>
                                      <p:cBhvr>
                                        <p:cTn id="99" dur="1" fill="hold">
                                          <p:stCondLst>
                                            <p:cond delay="0"/>
                                          </p:stCondLst>
                                        </p:cTn>
                                        <p:tgtEl>
                                          <p:spTgt spid="244"/>
                                        </p:tgtEl>
                                        <p:attrNameLst>
                                          <p:attrName>style.visibility</p:attrName>
                                        </p:attrNameLst>
                                      </p:cBhvr>
                                      <p:to>
                                        <p:strVal val="visible"/>
                                      </p:to>
                                    </p:set>
                                    <p:animEffect filter="wipe(left)" transition="in">
                                      <p:cBhvr additive="repl">
                                        <p:cTn id="100" dur="500"/>
                                        <p:tgtEl>
                                          <p:spTgt spid="244"/>
                                        </p:tgtEl>
                                      </p:cBhvr>
                                    </p:animEffect>
                                  </p:childTnLst>
                                </p:cTn>
                              </p:par>
                            </p:childTnLst>
                          </p:cTn>
                        </p:par>
                        <p:par>
                          <p:cTn id="101" fill="hold">
                            <p:stCondLst>
                              <p:cond delay="2000"/>
                            </p:stCondLst>
                            <p:childTnLst>
                              <p:par>
                                <p:cTn id="102" nodeType="afterEffect" fill="hold" presetClass="entr" presetID="22" presetSubtype="8">
                                  <p:stCondLst>
                                    <p:cond delay="0"/>
                                  </p:stCondLst>
                                  <p:childTnLst>
                                    <p:set>
                                      <p:cBhvr>
                                        <p:cTn id="103" dur="1" fill="hold">
                                          <p:stCondLst>
                                            <p:cond delay="0"/>
                                          </p:stCondLst>
                                        </p:cTn>
                                        <p:tgtEl>
                                          <p:spTgt spid="245"/>
                                        </p:tgtEl>
                                        <p:attrNameLst>
                                          <p:attrName>style.visibility</p:attrName>
                                        </p:attrNameLst>
                                      </p:cBhvr>
                                      <p:to>
                                        <p:strVal val="visible"/>
                                      </p:to>
                                    </p:set>
                                    <p:animEffect filter="wipe(left)" transition="in">
                                      <p:cBhvr additive="repl">
                                        <p:cTn id="104" dur="500"/>
                                        <p:tgtEl>
                                          <p:spTgt spid="245"/>
                                        </p:tgtEl>
                                      </p:cBhvr>
                                    </p:animEffect>
                                  </p:childTnLst>
                                </p:cTn>
                              </p:par>
                            </p:childTnLst>
                          </p:cTn>
                        </p:par>
                        <p:par>
                          <p:cTn id="105" fill="hold">
                            <p:stCondLst>
                              <p:cond delay="2500"/>
                            </p:stCondLst>
                            <p:childTnLst>
                              <p:par>
                                <p:cTn id="106" nodeType="afterEffect" fill="hold" presetClass="entr" presetID="22" presetSubtype="8">
                                  <p:stCondLst>
                                    <p:cond delay="0"/>
                                  </p:stCondLst>
                                  <p:childTnLst>
                                    <p:set>
                                      <p:cBhvr>
                                        <p:cTn id="107" dur="1" fill="hold">
                                          <p:stCondLst>
                                            <p:cond delay="0"/>
                                          </p:stCondLst>
                                        </p:cTn>
                                        <p:tgtEl>
                                          <p:spTgt spid="246"/>
                                        </p:tgtEl>
                                        <p:attrNameLst>
                                          <p:attrName>style.visibility</p:attrName>
                                        </p:attrNameLst>
                                      </p:cBhvr>
                                      <p:to>
                                        <p:strVal val="visible"/>
                                      </p:to>
                                    </p:set>
                                    <p:animEffect filter="wipe(left)" transition="in">
                                      <p:cBhvr additive="repl">
                                        <p:cTn id="108" dur="500"/>
                                        <p:tgtEl>
                                          <p:spTgt spid="246"/>
                                        </p:tgtEl>
                                      </p:cBhvr>
                                    </p:animEffect>
                                  </p:childTnLst>
                                </p:cTn>
                              </p:par>
                            </p:childTnLst>
                          </p:cTn>
                        </p:par>
                        <p:par>
                          <p:cTn id="109" fill="hold">
                            <p:stCondLst>
                              <p:cond delay="3000"/>
                            </p:stCondLst>
                            <p:childTnLst>
                              <p:par>
                                <p:cTn id="110" nodeType="afterEffect" fill="hold" presetClass="entr" presetID="22" presetSubtype="8">
                                  <p:stCondLst>
                                    <p:cond delay="0"/>
                                  </p:stCondLst>
                                  <p:childTnLst>
                                    <p:set>
                                      <p:cBhvr>
                                        <p:cTn id="111" dur="1" fill="hold">
                                          <p:stCondLst>
                                            <p:cond delay="0"/>
                                          </p:stCondLst>
                                        </p:cTn>
                                        <p:tgtEl>
                                          <p:spTgt spid="250"/>
                                        </p:tgtEl>
                                        <p:attrNameLst>
                                          <p:attrName>style.visibility</p:attrName>
                                        </p:attrNameLst>
                                      </p:cBhvr>
                                      <p:to>
                                        <p:strVal val="visible"/>
                                      </p:to>
                                    </p:set>
                                    <p:animEffect filter="wipe(left)" transition="in">
                                      <p:cBhvr additive="repl">
                                        <p:cTn id="112" dur="500"/>
                                        <p:tgtEl>
                                          <p:spTgt spid="250"/>
                                        </p:tgtEl>
                                      </p:cBhvr>
                                    </p:animEffect>
                                  </p:childTnLst>
                                </p:cTn>
                              </p:par>
                            </p:childTnLst>
                          </p:cTn>
                        </p:par>
                        <p:par>
                          <p:cTn id="113" fill="hold">
                            <p:stCondLst>
                              <p:cond delay="3500"/>
                            </p:stCondLst>
                            <p:childTnLst>
                              <p:par>
                                <p:cTn id="114" nodeType="afterEffect" fill="hold" presetClass="entr" presetID="22" presetSubtype="8">
                                  <p:stCondLst>
                                    <p:cond delay="0"/>
                                  </p:stCondLst>
                                  <p:childTnLst>
                                    <p:set>
                                      <p:cBhvr>
                                        <p:cTn id="115" dur="1" fill="hold">
                                          <p:stCondLst>
                                            <p:cond delay="0"/>
                                          </p:stCondLst>
                                        </p:cTn>
                                        <p:tgtEl>
                                          <p:spTgt spid="251"/>
                                        </p:tgtEl>
                                        <p:attrNameLst>
                                          <p:attrName>style.visibility</p:attrName>
                                        </p:attrNameLst>
                                      </p:cBhvr>
                                      <p:to>
                                        <p:strVal val="visible"/>
                                      </p:to>
                                    </p:set>
                                    <p:animEffect filter="wipe(left)" transition="in">
                                      <p:cBhvr additive="repl">
                                        <p:cTn id="116" dur="500"/>
                                        <p:tgtEl>
                                          <p:spTgt spid="251"/>
                                        </p:tgtEl>
                                      </p:cBhvr>
                                    </p:animEffect>
                                  </p:childTnLst>
                                </p:cTn>
                              </p:par>
                            </p:childTnLst>
                          </p:cTn>
                        </p:par>
                        <p:par>
                          <p:cTn id="117" fill="hold">
                            <p:stCondLst>
                              <p:cond delay="4000"/>
                            </p:stCondLst>
                            <p:childTnLst>
                              <p:par>
                                <p:cTn id="118" nodeType="afterEffect" fill="hold" presetClass="entr" presetID="22" presetSubtype="8">
                                  <p:stCondLst>
                                    <p:cond delay="0"/>
                                  </p:stCondLst>
                                  <p:childTnLst>
                                    <p:set>
                                      <p:cBhvr>
                                        <p:cTn id="119" dur="1" fill="hold">
                                          <p:stCondLst>
                                            <p:cond delay="0"/>
                                          </p:stCondLst>
                                        </p:cTn>
                                        <p:tgtEl>
                                          <p:spTgt spid="252"/>
                                        </p:tgtEl>
                                        <p:attrNameLst>
                                          <p:attrName>style.visibility</p:attrName>
                                        </p:attrNameLst>
                                      </p:cBhvr>
                                      <p:to>
                                        <p:strVal val="visible"/>
                                      </p:to>
                                    </p:set>
                                    <p:animEffect filter="wipe(left)" transition="in">
                                      <p:cBhvr additive="repl">
                                        <p:cTn id="120" dur="500"/>
                                        <p:tgtEl>
                                          <p:spTgt spid="252"/>
                                        </p:tgtEl>
                                      </p:cBhvr>
                                    </p:animEffect>
                                  </p:childTnLst>
                                </p:cTn>
                              </p:par>
                            </p:childTnLst>
                          </p:cTn>
                        </p:par>
                        <p:par>
                          <p:cTn id="121" fill="hold">
                            <p:stCondLst>
                              <p:cond delay="4500"/>
                            </p:stCondLst>
                            <p:childTnLst>
                              <p:par>
                                <p:cTn id="122" nodeType="afterEffect" fill="hold" presetClass="entr" presetID="22" presetSubtype="8">
                                  <p:stCondLst>
                                    <p:cond delay="0"/>
                                  </p:stCondLst>
                                  <p:childTnLst>
                                    <p:set>
                                      <p:cBhvr>
                                        <p:cTn id="123" dur="1" fill="hold">
                                          <p:stCondLst>
                                            <p:cond delay="0"/>
                                          </p:stCondLst>
                                        </p:cTn>
                                        <p:tgtEl>
                                          <p:spTgt spid="247"/>
                                        </p:tgtEl>
                                        <p:attrNameLst>
                                          <p:attrName>style.visibility</p:attrName>
                                        </p:attrNameLst>
                                      </p:cBhvr>
                                      <p:to>
                                        <p:strVal val="visible"/>
                                      </p:to>
                                    </p:set>
                                    <p:animEffect filter="wipe(left)" transition="in">
                                      <p:cBhvr additive="repl">
                                        <p:cTn id="124" dur="500"/>
                                        <p:tgtEl>
                                          <p:spTgt spid="247"/>
                                        </p:tgtEl>
                                      </p:cBhvr>
                                    </p:animEffect>
                                  </p:childTnLst>
                                </p:cTn>
                              </p:par>
                            </p:childTnLst>
                          </p:cTn>
                        </p:par>
                        <p:par>
                          <p:cTn id="125" fill="hold">
                            <p:stCondLst>
                              <p:cond delay="5000"/>
                            </p:stCondLst>
                            <p:childTnLst>
                              <p:par>
                                <p:cTn id="126" nodeType="afterEffect" fill="hold" presetClass="entr" presetID="22" presetSubtype="8">
                                  <p:stCondLst>
                                    <p:cond delay="0"/>
                                  </p:stCondLst>
                                  <p:childTnLst>
                                    <p:set>
                                      <p:cBhvr>
                                        <p:cTn id="127" dur="1" fill="hold">
                                          <p:stCondLst>
                                            <p:cond delay="0"/>
                                          </p:stCondLst>
                                        </p:cTn>
                                        <p:tgtEl>
                                          <p:spTgt spid="248"/>
                                        </p:tgtEl>
                                        <p:attrNameLst>
                                          <p:attrName>style.visibility</p:attrName>
                                        </p:attrNameLst>
                                      </p:cBhvr>
                                      <p:to>
                                        <p:strVal val="visible"/>
                                      </p:to>
                                    </p:set>
                                    <p:animEffect filter="wipe(left)" transition="in">
                                      <p:cBhvr additive="repl">
                                        <p:cTn id="128" dur="500"/>
                                        <p:tgtEl>
                                          <p:spTgt spid="248"/>
                                        </p:tgtEl>
                                      </p:cBhvr>
                                    </p:animEffect>
                                  </p:childTnLst>
                                </p:cTn>
                              </p:par>
                            </p:childTnLst>
                          </p:cTn>
                        </p:par>
                        <p:par>
                          <p:cTn id="129" fill="hold">
                            <p:stCondLst>
                              <p:cond delay="5500"/>
                            </p:stCondLst>
                            <p:childTnLst>
                              <p:par>
                                <p:cTn id="130" nodeType="afterEffect" fill="hold" presetClass="entr" presetID="22" presetSubtype="8">
                                  <p:stCondLst>
                                    <p:cond delay="0"/>
                                  </p:stCondLst>
                                  <p:childTnLst>
                                    <p:set>
                                      <p:cBhvr>
                                        <p:cTn id="131" dur="1" fill="hold">
                                          <p:stCondLst>
                                            <p:cond delay="0"/>
                                          </p:stCondLst>
                                        </p:cTn>
                                        <p:tgtEl>
                                          <p:spTgt spid="249"/>
                                        </p:tgtEl>
                                        <p:attrNameLst>
                                          <p:attrName>style.visibility</p:attrName>
                                        </p:attrNameLst>
                                      </p:cBhvr>
                                      <p:to>
                                        <p:strVal val="visible"/>
                                      </p:to>
                                    </p:set>
                                    <p:animEffect filter="wipe(left)" transition="in">
                                      <p:cBhvr additive="repl">
                                        <p:cTn id="132" dur="500"/>
                                        <p:tgtEl>
                                          <p:spTgt spid="249"/>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4" name="CustomShape 1"/>
          <p:cNvSpPr/>
          <p:nvPr/>
        </p:nvSpPr>
        <p:spPr>
          <a:xfrm>
            <a:off x="899640" y="28440"/>
            <a:ext cx="8010360" cy="68508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400" spc="-1" strike="noStrike">
                <a:solidFill>
                  <a:srgbClr val="ffffff"/>
                </a:solidFill>
                <a:uFill>
                  <a:solidFill>
                    <a:srgbClr val="ffffff"/>
                  </a:solidFill>
                </a:uFill>
                <a:latin typeface="Calibri"/>
                <a:ea typeface="MS PGothic"/>
              </a:rPr>
              <a:t>Why Markets Can Supply Only Private Goods Efficiently</a:t>
            </a:r>
            <a:endParaRPr lang="en-US" sz="1800" spc="-1" strike="noStrike">
              <a:solidFill>
                <a:srgbClr val="000000"/>
              </a:solidFill>
              <a:uFill>
                <a:solidFill>
                  <a:srgbClr val="ffffff"/>
                </a:solidFill>
              </a:uFill>
              <a:latin typeface="Arial"/>
            </a:endParaRPr>
          </a:p>
        </p:txBody>
      </p:sp>
      <p:sp>
        <p:nvSpPr>
          <p:cNvPr id="255" name="CustomShape 2"/>
          <p:cNvSpPr/>
          <p:nvPr/>
        </p:nvSpPr>
        <p:spPr>
          <a:xfrm>
            <a:off x="899640" y="893520"/>
            <a:ext cx="8010360" cy="498312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Goods that are </a:t>
            </a:r>
            <a:r>
              <a:rPr b="1" lang="en-US" sz="2400" spc="-1" strike="noStrike">
                <a:solidFill>
                  <a:srgbClr val="000000"/>
                </a:solidFill>
                <a:uFill>
                  <a:solidFill>
                    <a:srgbClr val="ffffff"/>
                  </a:solidFill>
                </a:uFill>
                <a:latin typeface="Calibri"/>
                <a:ea typeface="MS PGothic"/>
              </a:rPr>
              <a:t>nonexcludable</a:t>
            </a:r>
            <a:r>
              <a:rPr lang="en-US" sz="2400" spc="-1" strike="noStrike">
                <a:solidFill>
                  <a:srgbClr val="000000"/>
                </a:solidFill>
                <a:uFill>
                  <a:solidFill>
                    <a:srgbClr val="ffffff"/>
                  </a:solidFill>
                </a:uFill>
                <a:latin typeface="Calibri"/>
                <a:ea typeface="MS PGothic"/>
              </a:rPr>
              <a:t> suffer from the </a:t>
            </a:r>
            <a:r>
              <a:rPr b="1" lang="en-US" sz="2400" spc="-1" strike="noStrike">
                <a:solidFill>
                  <a:srgbClr val="000000"/>
                </a:solidFill>
                <a:uFill>
                  <a:solidFill>
                    <a:srgbClr val="ffffff"/>
                  </a:solidFill>
                </a:uFill>
                <a:latin typeface="Calibri"/>
                <a:ea typeface="MS PGothic"/>
              </a:rPr>
              <a:t>free-rider problem</a:t>
            </a:r>
            <a:r>
              <a:rPr lang="en-US" sz="2400" spc="-1" strike="noStrike">
                <a:solidFill>
                  <a:srgbClr val="000000"/>
                </a:solidFill>
                <a:uFill>
                  <a:solidFill>
                    <a:srgbClr val="ffffff"/>
                  </a:solidFill>
                </a:uFill>
                <a:latin typeface="Calibri"/>
                <a:ea typeface="MS PGothic"/>
              </a:rPr>
              <a:t>: individuals have no incentive to pay for their own consumption and instead will take a “free ride” on anyone who does pay.</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When goods are </a:t>
            </a:r>
            <a:r>
              <a:rPr b="1" lang="en-US" sz="2400" spc="-1" strike="noStrike">
                <a:solidFill>
                  <a:srgbClr val="000000"/>
                </a:solidFill>
                <a:uFill>
                  <a:solidFill>
                    <a:srgbClr val="ffffff"/>
                  </a:solidFill>
                </a:uFill>
                <a:latin typeface="Calibri"/>
                <a:ea typeface="MS PGothic"/>
              </a:rPr>
              <a:t>nonrival in consumption</a:t>
            </a:r>
            <a:r>
              <a:rPr lang="en-US" sz="2400" spc="-1" strike="noStrike">
                <a:solidFill>
                  <a:srgbClr val="000000"/>
                </a:solidFill>
                <a:uFill>
                  <a:solidFill>
                    <a:srgbClr val="ffffff"/>
                  </a:solidFill>
                </a:uFill>
                <a:latin typeface="Calibri"/>
                <a:ea typeface="MS PGothic"/>
              </a:rPr>
              <a:t>, the efficient price for consumption is zero. </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If a positive price is charged to compensate producers for the cost of production, the result is inefficiently low consumption.</a:t>
            </a:r>
            <a:endParaRPr lang="en-US" sz="1800" spc="-1" strike="noStrike">
              <a:solidFill>
                <a:srgbClr val="000000"/>
              </a:solidFill>
              <a:uFill>
                <a:solidFill>
                  <a:srgbClr val="ffffff"/>
                </a:solidFill>
              </a:uFill>
              <a:latin typeface="Arial"/>
            </a:endParaRPr>
          </a:p>
        </p:txBody>
      </p:sp>
    </p:spTree>
  </p:cSld>
  <p:timing>
    <p:tnLst>
      <p:par>
        <p:cTn id="133" dur="indefinite" restart="never" nodeType="tmRoot">
          <p:childTnLst>
            <p:seq>
              <p:cTn id="134" dur="indefinite" nodeType="mainSeq">
                <p:childTnLst>
                  <p:par>
                    <p:cTn id="135" fill="hold">
                      <p:stCondLst>
                        <p:cond delay="indefinite"/>
                      </p:stCondLst>
                      <p:childTnLst>
                        <p:par>
                          <p:cTn id="136" fill="hold">
                            <p:stCondLst>
                              <p:cond delay="0"/>
                            </p:stCondLst>
                            <p:childTnLst>
                              <p:par>
                                <p:cTn id="137" nodeType="clickEffect" fill="hold" presetClass="entr" presetID="22" presetSubtype="8">
                                  <p:stCondLst>
                                    <p:cond delay="0"/>
                                  </p:stCondLst>
                                  <p:childTnLst>
                                    <p:set>
                                      <p:cBhvr>
                                        <p:cTn id="138" dur="1" fill="hold">
                                          <p:stCondLst>
                                            <p:cond delay="0"/>
                                          </p:stCondLst>
                                        </p:cTn>
                                        <p:tgtEl>
                                          <p:spTgt spid="255">
                                            <p:txEl>
                                              <p:pRg st="0" end="188"/>
                                            </p:txEl>
                                          </p:spTgt>
                                        </p:tgtEl>
                                        <p:attrNameLst>
                                          <p:attrName>style.visibility</p:attrName>
                                        </p:attrNameLst>
                                      </p:cBhvr>
                                      <p:to>
                                        <p:strVal val="visible"/>
                                      </p:to>
                                    </p:set>
                                    <p:animEffect filter="wipe(left)" transition="in">
                                      <p:cBhvr additive="repl">
                                        <p:cTn id="139" dur="500"/>
                                        <p:tgtEl>
                                          <p:spTgt spid="255">
                                            <p:txEl>
                                              <p:pRg st="0" end="188"/>
                                            </p:txEl>
                                          </p:spTgt>
                                        </p:tgtEl>
                                      </p:cBhvr>
                                    </p:animEffect>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22" presetSubtype="8">
                                  <p:stCondLst>
                                    <p:cond delay="0"/>
                                  </p:stCondLst>
                                  <p:childTnLst>
                                    <p:set>
                                      <p:cBhvr>
                                        <p:cTn id="143" dur="1" fill="hold">
                                          <p:stCondLst>
                                            <p:cond delay="0"/>
                                          </p:stCondLst>
                                        </p:cTn>
                                        <p:tgtEl>
                                          <p:spTgt spid="255">
                                            <p:txEl>
                                              <p:pRg st="404" end="404"/>
                                            </p:txEl>
                                          </p:spTgt>
                                        </p:tgtEl>
                                        <p:attrNameLst>
                                          <p:attrName>style.visibility</p:attrName>
                                        </p:attrNameLst>
                                      </p:cBhvr>
                                      <p:to>
                                        <p:strVal val="visible"/>
                                      </p:to>
                                    </p:set>
                                    <p:animEffect filter="wipe(left)" transition="in">
                                      <p:cBhvr additive="repl">
                                        <p:cTn id="144" dur="500"/>
                                        <p:tgtEl>
                                          <p:spTgt spid="255">
                                            <p:txEl>
                                              <p:pRg st="404" end="404"/>
                                            </p:txEl>
                                          </p:spTgt>
                                        </p:tgtEl>
                                      </p:cBhvr>
                                    </p:animEffec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22" presetSubtype="8">
                                  <p:stCondLst>
                                    <p:cond delay="0"/>
                                  </p:stCondLst>
                                  <p:childTnLst>
                                    <p:set>
                                      <p:cBhvr>
                                        <p:cTn id="148" dur="1" fill="hold">
                                          <p:stCondLst>
                                            <p:cond delay="0"/>
                                          </p:stCondLst>
                                        </p:cTn>
                                        <p:tgtEl>
                                          <p:spTgt spid="255">
                                            <p:txEl>
                                              <p:pRg st="404" end="404"/>
                                            </p:txEl>
                                          </p:spTgt>
                                        </p:tgtEl>
                                        <p:attrNameLst>
                                          <p:attrName>style.visibility</p:attrName>
                                        </p:attrNameLst>
                                      </p:cBhvr>
                                      <p:to>
                                        <p:strVal val="visible"/>
                                      </p:to>
                                    </p:set>
                                    <p:animEffect filter="wipe(left)" transition="in">
                                      <p:cBhvr additive="repl">
                                        <p:cTn id="149" dur="500"/>
                                        <p:tgtEl>
                                          <p:spTgt spid="255">
                                            <p:txEl>
                                              <p:pRg st="404" end="404"/>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6" name="CustomShape 1"/>
          <p:cNvSpPr/>
          <p:nvPr/>
        </p:nvSpPr>
        <p:spPr>
          <a:xfrm>
            <a:off x="971640" y="60480"/>
            <a:ext cx="7992000" cy="554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Public Goods</a:t>
            </a:r>
            <a:endParaRPr lang="en-US" sz="1800" spc="-1" strike="noStrike">
              <a:solidFill>
                <a:srgbClr val="000000"/>
              </a:solidFill>
              <a:uFill>
                <a:solidFill>
                  <a:srgbClr val="ffffff"/>
                </a:solidFill>
              </a:uFill>
              <a:latin typeface="Arial"/>
            </a:endParaRPr>
          </a:p>
        </p:txBody>
      </p:sp>
      <p:sp>
        <p:nvSpPr>
          <p:cNvPr id="257" name="CustomShape 2"/>
          <p:cNvSpPr/>
          <p:nvPr/>
        </p:nvSpPr>
        <p:spPr>
          <a:xfrm>
            <a:off x="971640" y="897480"/>
            <a:ext cx="7920000" cy="5411160"/>
          </a:xfrm>
          <a:prstGeom prst="rect">
            <a:avLst/>
          </a:prstGeom>
          <a:noFill/>
          <a:ln w="9360">
            <a:noFill/>
          </a:ln>
        </p:spPr>
        <p:style>
          <a:lnRef idx="0"/>
          <a:fillRef idx="0"/>
          <a:effectRef idx="0"/>
          <a:fontRef idx="minor"/>
        </p:style>
        <p:txBody>
          <a:bodyPr lIns="90000" rIns="90000" tIns="45000" bIns="45000"/>
          <a:p>
            <a:r>
              <a:rPr lang="en-US" sz="2400" spc="-1" strike="noStrike">
                <a:solidFill>
                  <a:srgbClr val="000000"/>
                </a:solidFill>
                <a:uFill>
                  <a:solidFill>
                    <a:srgbClr val="ffffff"/>
                  </a:solidFill>
                </a:uFill>
                <a:latin typeface="Calibri"/>
                <a:ea typeface="MS PGothic"/>
              </a:rPr>
              <a:t>A </a:t>
            </a:r>
            <a:r>
              <a:rPr b="1" lang="en-US" sz="2400" spc="-1" strike="noStrike">
                <a:solidFill>
                  <a:srgbClr val="000000"/>
                </a:solidFill>
                <a:uFill>
                  <a:solidFill>
                    <a:srgbClr val="ffffff"/>
                  </a:solidFill>
                </a:uFill>
                <a:latin typeface="Calibri"/>
                <a:ea typeface="MS PGothic"/>
              </a:rPr>
              <a:t>public good </a:t>
            </a:r>
            <a:r>
              <a:rPr lang="en-US" sz="2400" spc="-1" strike="noStrike">
                <a:solidFill>
                  <a:srgbClr val="000000"/>
                </a:solidFill>
                <a:uFill>
                  <a:solidFill>
                    <a:srgbClr val="ffffff"/>
                  </a:solidFill>
                </a:uFill>
                <a:latin typeface="Calibri"/>
                <a:ea typeface="MS PGothic"/>
              </a:rPr>
              <a:t>is the exact opposite of a private good: it is a good that is both nonexcludable and nonrival in consumption.</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Here are some other examples of public goods:</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i="1" lang="en-US" sz="2200" spc="-1" strike="noStrike">
                <a:solidFill>
                  <a:srgbClr val="000000"/>
                </a:solidFill>
                <a:uFill>
                  <a:solidFill>
                    <a:srgbClr val="ffffff"/>
                  </a:solidFill>
                </a:uFill>
                <a:latin typeface="Calibri"/>
                <a:ea typeface="MS PGothic"/>
              </a:rPr>
              <a:t>Disease prevention: </a:t>
            </a:r>
            <a:r>
              <a:rPr lang="en-US" sz="2200" spc="-1" strike="noStrike">
                <a:solidFill>
                  <a:srgbClr val="000000"/>
                </a:solidFill>
                <a:uFill>
                  <a:solidFill>
                    <a:srgbClr val="ffffff"/>
                  </a:solidFill>
                </a:uFill>
                <a:latin typeface="Calibri"/>
                <a:ea typeface="MS PGothic"/>
              </a:rPr>
              <a:t>When doctors act to stamp out the beginnings of an epidemic before it can spread, they protect people around the world.</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i="1" lang="en-US" sz="2200" spc="-1" strike="noStrike">
                <a:solidFill>
                  <a:srgbClr val="000000"/>
                </a:solidFill>
                <a:uFill>
                  <a:solidFill>
                    <a:srgbClr val="ffffff"/>
                  </a:solidFill>
                </a:uFill>
                <a:latin typeface="Calibri"/>
                <a:ea typeface="MS PGothic"/>
              </a:rPr>
              <a:t>National defense: </a:t>
            </a:r>
            <a:r>
              <a:rPr lang="en-US" sz="2200" spc="-1" strike="noStrike">
                <a:solidFill>
                  <a:srgbClr val="000000"/>
                </a:solidFill>
                <a:uFill>
                  <a:solidFill>
                    <a:srgbClr val="ffffff"/>
                  </a:solidFill>
                </a:uFill>
                <a:latin typeface="Calibri"/>
                <a:ea typeface="MS PGothic"/>
              </a:rPr>
              <a:t>A strong military protects all citizens.</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i="1" lang="en-US" sz="2200" spc="-1" strike="noStrike">
                <a:solidFill>
                  <a:srgbClr val="000000"/>
                </a:solidFill>
                <a:uFill>
                  <a:solidFill>
                    <a:srgbClr val="ffffff"/>
                  </a:solidFill>
                </a:uFill>
                <a:latin typeface="Calibri"/>
                <a:ea typeface="MS PGothic"/>
              </a:rPr>
              <a:t>Scientific research: </a:t>
            </a:r>
            <a:r>
              <a:rPr lang="en-US" sz="2200" spc="-1" strike="noStrike">
                <a:solidFill>
                  <a:srgbClr val="000000"/>
                </a:solidFill>
                <a:uFill>
                  <a:solidFill>
                    <a:srgbClr val="ffffff"/>
                  </a:solidFill>
                </a:uFill>
                <a:latin typeface="Calibri"/>
                <a:ea typeface="MS PGothic"/>
              </a:rPr>
              <a:t>More knowledge benefits everyone.</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p:txBody>
      </p:sp>
    </p:spTree>
  </p:cSld>
  <p:timing>
    <p:tnLst>
      <p:par>
        <p:cTn id="150" dur="indefinite" restart="never" nodeType="tmRoot">
          <p:childTnLst>
            <p:seq>
              <p:cTn id="151" dur="indefinite" nodeType="mainSeq">
                <p:childTnLst>
                  <p:par>
                    <p:cTn id="152" fill="hold">
                      <p:stCondLst>
                        <p:cond delay="indefinite"/>
                      </p:stCondLst>
                      <p:childTnLst>
                        <p:par>
                          <p:cTn id="153" fill="hold">
                            <p:stCondLst>
                              <p:cond delay="0"/>
                            </p:stCondLst>
                            <p:childTnLst>
                              <p:par>
                                <p:cTn id="154" nodeType="clickEffect" fill="hold" presetClass="entr" presetID="22" presetSubtype="8">
                                  <p:stCondLst>
                                    <p:cond delay="0"/>
                                  </p:stCondLst>
                                  <p:childTnLst>
                                    <p:set>
                                      <p:cBhvr>
                                        <p:cTn id="155" dur="1" fill="hold">
                                          <p:stCondLst>
                                            <p:cond delay="0"/>
                                          </p:stCondLst>
                                        </p:cTn>
                                        <p:tgtEl>
                                          <p:spTgt spid="257">
                                            <p:txEl>
                                              <p:pRg st="0" end="124"/>
                                            </p:txEl>
                                          </p:spTgt>
                                        </p:tgtEl>
                                        <p:attrNameLst>
                                          <p:attrName>style.visibility</p:attrName>
                                        </p:attrNameLst>
                                      </p:cBhvr>
                                      <p:to>
                                        <p:strVal val="visible"/>
                                      </p:to>
                                    </p:set>
                                    <p:animEffect filter="wipe(left)" transition="in">
                                      <p:cBhvr additive="repl">
                                        <p:cTn id="156" dur="500"/>
                                        <p:tgtEl>
                                          <p:spTgt spid="257">
                                            <p:txEl>
                                              <p:pRg st="0" end="124"/>
                                            </p:txEl>
                                          </p:spTgt>
                                        </p:tgtEl>
                                      </p:cBhvr>
                                    </p:animEffect>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22" presetSubtype="8">
                                  <p:stCondLst>
                                    <p:cond delay="0"/>
                                  </p:stCondLst>
                                  <p:childTnLst>
                                    <p:set>
                                      <p:cBhvr>
                                        <p:cTn id="160" dur="1" fill="hold">
                                          <p:stCondLst>
                                            <p:cond delay="0"/>
                                          </p:stCondLst>
                                        </p:cTn>
                                        <p:tgtEl>
                                          <p:spTgt spid="257">
                                            <p:txEl>
                                              <p:pRg st="427" end="427"/>
                                            </p:txEl>
                                          </p:spTgt>
                                        </p:tgtEl>
                                        <p:attrNameLst>
                                          <p:attrName>style.visibility</p:attrName>
                                        </p:attrNameLst>
                                      </p:cBhvr>
                                      <p:to>
                                        <p:strVal val="visible"/>
                                      </p:to>
                                    </p:set>
                                    <p:animEffect filter="wipe(left)" transition="in">
                                      <p:cBhvr additive="repl">
                                        <p:cTn id="161" dur="500"/>
                                        <p:tgtEl>
                                          <p:spTgt spid="257">
                                            <p:txEl>
                                              <p:pRg st="427" end="427"/>
                                            </p:txEl>
                                          </p:spTgt>
                                        </p:tgtEl>
                                      </p:cBhvr>
                                    </p:animEffect>
                                  </p:childTnLst>
                                </p:cTn>
                              </p:par>
                              <p:par>
                                <p:cTn id="162" nodeType="withEffect" fill="hold" presetClass="entr" presetID="22" presetSubtype="8">
                                  <p:stCondLst>
                                    <p:cond delay="0"/>
                                  </p:stCondLst>
                                  <p:childTnLst>
                                    <p:set>
                                      <p:cBhvr>
                                        <p:cTn id="163" dur="1" fill="hold">
                                          <p:stCondLst>
                                            <p:cond delay="0"/>
                                          </p:stCondLst>
                                        </p:cTn>
                                        <p:tgtEl>
                                          <p:spTgt spid="257">
                                            <p:txEl>
                                              <p:pRg st="427" end="427"/>
                                            </p:txEl>
                                          </p:spTgt>
                                        </p:tgtEl>
                                        <p:attrNameLst>
                                          <p:attrName>style.visibility</p:attrName>
                                        </p:attrNameLst>
                                      </p:cBhvr>
                                      <p:to>
                                        <p:strVal val="visible"/>
                                      </p:to>
                                    </p:set>
                                    <p:animEffect filter="wipe(left)" transition="in">
                                      <p:cBhvr additive="repl">
                                        <p:cTn id="164" dur="500"/>
                                        <p:tgtEl>
                                          <p:spTgt spid="257">
                                            <p:txEl>
                                              <p:pRg st="427" end="427"/>
                                            </p:txEl>
                                          </p:spTgt>
                                        </p:tgtEl>
                                      </p:cBhvr>
                                    </p:animEffect>
                                  </p:childTnLst>
                                </p:cTn>
                              </p:par>
                              <p:par>
                                <p:cTn id="165" nodeType="withEffect" fill="hold" presetClass="entr" presetID="22" presetSubtype="8">
                                  <p:stCondLst>
                                    <p:cond delay="0"/>
                                  </p:stCondLst>
                                  <p:childTnLst>
                                    <p:set>
                                      <p:cBhvr>
                                        <p:cTn id="166" dur="1" fill="hold">
                                          <p:stCondLst>
                                            <p:cond delay="0"/>
                                          </p:stCondLst>
                                        </p:cTn>
                                        <p:tgtEl>
                                          <p:spTgt spid="257">
                                            <p:txEl>
                                              <p:pRg st="427" end="427"/>
                                            </p:txEl>
                                          </p:spTgt>
                                        </p:tgtEl>
                                        <p:attrNameLst>
                                          <p:attrName>style.visibility</p:attrName>
                                        </p:attrNameLst>
                                      </p:cBhvr>
                                      <p:to>
                                        <p:strVal val="visible"/>
                                      </p:to>
                                    </p:set>
                                    <p:animEffect filter="wipe(left)" transition="in">
                                      <p:cBhvr additive="repl">
                                        <p:cTn id="167" dur="500"/>
                                        <p:tgtEl>
                                          <p:spTgt spid="257">
                                            <p:txEl>
                                              <p:pRg st="427" end="427"/>
                                            </p:txEl>
                                          </p:spTgt>
                                        </p:tgtEl>
                                      </p:cBhvr>
                                    </p:animEffect>
                                  </p:childTnLst>
                                </p:cTn>
                              </p:par>
                              <p:par>
                                <p:cTn id="168" nodeType="withEffect" fill="hold" presetClass="entr" presetID="22" presetSubtype="8">
                                  <p:stCondLst>
                                    <p:cond delay="0"/>
                                  </p:stCondLst>
                                  <p:childTnLst>
                                    <p:set>
                                      <p:cBhvr>
                                        <p:cTn id="169" dur="1" fill="hold">
                                          <p:stCondLst>
                                            <p:cond delay="0"/>
                                          </p:stCondLst>
                                        </p:cTn>
                                        <p:tgtEl>
                                          <p:spTgt spid="257">
                                            <p:txEl>
                                              <p:pRg st="427" end="427"/>
                                            </p:txEl>
                                          </p:spTgt>
                                        </p:tgtEl>
                                        <p:attrNameLst>
                                          <p:attrName>style.visibility</p:attrName>
                                        </p:attrNameLst>
                                      </p:cBhvr>
                                      <p:to>
                                        <p:strVal val="visible"/>
                                      </p:to>
                                    </p:set>
                                    <p:animEffect filter="wipe(left)" transition="in">
                                      <p:cBhvr additive="repl">
                                        <p:cTn id="170" dur="500"/>
                                        <p:tgtEl>
                                          <p:spTgt spid="257">
                                            <p:txEl>
                                              <p:pRg st="427" end="427"/>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8" name="CustomShape 1"/>
          <p:cNvSpPr/>
          <p:nvPr/>
        </p:nvSpPr>
        <p:spPr>
          <a:xfrm>
            <a:off x="899640" y="0"/>
            <a:ext cx="809136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Providing Public Goods</a:t>
            </a:r>
            <a:endParaRPr lang="en-US" sz="1800" spc="-1" strike="noStrike">
              <a:solidFill>
                <a:srgbClr val="000000"/>
              </a:solidFill>
              <a:uFill>
                <a:solidFill>
                  <a:srgbClr val="ffffff"/>
                </a:solidFill>
              </a:uFill>
              <a:latin typeface="Arial"/>
            </a:endParaRPr>
          </a:p>
        </p:txBody>
      </p:sp>
      <p:sp>
        <p:nvSpPr>
          <p:cNvPr id="259" name="CustomShape 2"/>
          <p:cNvSpPr/>
          <p:nvPr/>
        </p:nvSpPr>
        <p:spPr>
          <a:xfrm>
            <a:off x="899640" y="933840"/>
            <a:ext cx="7992000" cy="5027400"/>
          </a:xfrm>
          <a:prstGeom prst="rect">
            <a:avLst/>
          </a:prstGeom>
          <a:noFill/>
          <a:ln w="9360">
            <a:noFill/>
          </a:ln>
        </p:spPr>
        <p:style>
          <a:lnRef idx="0"/>
          <a:fillRef idx="0"/>
          <a:effectRef idx="0"/>
          <a:fontRef idx="minor"/>
        </p:style>
        <p:txBody>
          <a:bodyPr lIns="90000" rIns="90000" tIns="45000" bIns="45000"/>
          <a:p>
            <a:r>
              <a:rPr lang="en-US" sz="2400" spc="-1" strike="noStrike">
                <a:solidFill>
                  <a:srgbClr val="000000"/>
                </a:solidFill>
                <a:uFill>
                  <a:solidFill>
                    <a:srgbClr val="ffffff"/>
                  </a:solidFill>
                </a:uFill>
                <a:latin typeface="Calibri"/>
                <a:ea typeface="MS PGothic"/>
              </a:rPr>
              <a:t>Because most forms of public good provision by the private sector have serious defects, they must be provided by the government and paid for with taxes.</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The marginal social benefit of an additional unit of a public good is equal to the </a:t>
            </a:r>
            <a:r>
              <a:rPr i="1" lang="en-US" sz="2400" spc="-1" strike="noStrike">
                <a:solidFill>
                  <a:srgbClr val="000000"/>
                </a:solidFill>
                <a:uFill>
                  <a:solidFill>
                    <a:srgbClr val="ffffff"/>
                  </a:solidFill>
                </a:uFill>
                <a:latin typeface="Calibri"/>
                <a:ea typeface="MS PGothic"/>
              </a:rPr>
              <a:t>sum </a:t>
            </a:r>
            <a:r>
              <a:rPr lang="en-US" sz="2400" spc="-1" strike="noStrike">
                <a:solidFill>
                  <a:srgbClr val="000000"/>
                </a:solidFill>
                <a:uFill>
                  <a:solidFill>
                    <a:srgbClr val="ffffff"/>
                  </a:solidFill>
                </a:uFill>
                <a:latin typeface="Calibri"/>
                <a:ea typeface="MS PGothic"/>
              </a:rPr>
              <a:t>of each consumer’s individual marginal benefit from that unit.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At the efficient quantity, </a:t>
            </a:r>
            <a:r>
              <a:rPr i="1" lang="en-US" sz="2400" spc="-1" strike="noStrike">
                <a:solidFill>
                  <a:srgbClr val="000000"/>
                </a:solidFill>
                <a:uFill>
                  <a:solidFill>
                    <a:srgbClr val="ffffff"/>
                  </a:solidFill>
                </a:uFill>
                <a:latin typeface="Calibri"/>
                <a:ea typeface="MS PGothic"/>
              </a:rPr>
              <a:t>the marginal social benefit equals the marginal cost</a:t>
            </a:r>
            <a:r>
              <a:rPr lang="en-US" sz="2400" spc="-1" strike="noStrike">
                <a:solidFill>
                  <a:srgbClr val="000000"/>
                </a:solidFill>
                <a:uFill>
                  <a:solidFill>
                    <a:srgbClr val="ffffff"/>
                  </a:solidFill>
                </a:uFill>
                <a:latin typeface="Calibri"/>
                <a:ea typeface="MS PGothic"/>
              </a:rPr>
              <a:t>.</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The following graph illustrates the efficient provision of a public good.</a:t>
            </a:r>
            <a:endParaRPr lang="en-US" sz="1800" spc="-1" strike="noStrike">
              <a:solidFill>
                <a:srgbClr val="000000"/>
              </a:solidFill>
              <a:uFill>
                <a:solidFill>
                  <a:srgbClr val="ffffff"/>
                </a:solidFill>
              </a:uFill>
              <a:latin typeface="Arial"/>
            </a:endParaRPr>
          </a:p>
        </p:txBody>
      </p:sp>
    </p:spTree>
  </p:cSld>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22" presetSubtype="8">
                                  <p:stCondLst>
                                    <p:cond delay="0"/>
                                  </p:stCondLst>
                                  <p:childTnLst>
                                    <p:set>
                                      <p:cBhvr>
                                        <p:cTn id="176" dur="1" fill="hold">
                                          <p:stCondLst>
                                            <p:cond delay="0"/>
                                          </p:stCondLst>
                                        </p:cTn>
                                        <p:tgtEl>
                                          <p:spTgt spid="259">
                                            <p:txEl>
                                              <p:pRg st="0" end="153"/>
                                            </p:txEl>
                                          </p:spTgt>
                                        </p:tgtEl>
                                        <p:attrNameLst>
                                          <p:attrName>style.visibility</p:attrName>
                                        </p:attrNameLst>
                                      </p:cBhvr>
                                      <p:to>
                                        <p:strVal val="visible"/>
                                      </p:to>
                                    </p:set>
                                    <p:animEffect filter="wipe(left)" transition="in">
                                      <p:cBhvr additive="repl">
                                        <p:cTn id="177" dur="500"/>
                                        <p:tgtEl>
                                          <p:spTgt spid="259">
                                            <p:txEl>
                                              <p:pRg st="0" end="153"/>
                                            </p:txEl>
                                          </p:spTgt>
                                        </p:tgtEl>
                                      </p:cBhvr>
                                    </p:animEffect>
                                  </p:childTnLst>
                                </p:cTn>
                              </p:par>
                            </p:childTnLst>
                          </p:cTn>
                        </p:par>
                      </p:childTnLst>
                    </p:cTn>
                  </p:par>
                  <p:par>
                    <p:cTn id="178" fill="hold">
                      <p:stCondLst>
                        <p:cond delay="indefinite"/>
                      </p:stCondLst>
                      <p:childTnLst>
                        <p:par>
                          <p:cTn id="179" fill="hold">
                            <p:stCondLst>
                              <p:cond delay="0"/>
                            </p:stCondLst>
                            <p:childTnLst>
                              <p:par>
                                <p:cTn id="180" nodeType="clickEffect" fill="hold" presetClass="entr" presetID="22" presetSubtype="8">
                                  <p:stCondLst>
                                    <p:cond delay="0"/>
                                  </p:stCondLst>
                                  <p:childTnLst>
                                    <p:set>
                                      <p:cBhvr>
                                        <p:cTn id="181" dur="1" fill="hold">
                                          <p:stCondLst>
                                            <p:cond delay="0"/>
                                          </p:stCondLst>
                                        </p:cTn>
                                        <p:tgtEl>
                                          <p:spTgt spid="259">
                                            <p:txEl>
                                              <p:pRg st="465" end="465"/>
                                            </p:txEl>
                                          </p:spTgt>
                                        </p:tgtEl>
                                        <p:attrNameLst>
                                          <p:attrName>style.visibility</p:attrName>
                                        </p:attrNameLst>
                                      </p:cBhvr>
                                      <p:to>
                                        <p:strVal val="visible"/>
                                      </p:to>
                                    </p:set>
                                    <p:animEffect filter="wipe(left)" transition="in">
                                      <p:cBhvr additive="repl">
                                        <p:cTn id="182" dur="500"/>
                                        <p:tgtEl>
                                          <p:spTgt spid="259">
                                            <p:txEl>
                                              <p:pRg st="465" end="465"/>
                                            </p:txEl>
                                          </p:spTgt>
                                        </p:tgtEl>
                                      </p:cBhvr>
                                    </p:animEffect>
                                  </p:childTnLst>
                                </p:cTn>
                              </p:par>
                            </p:childTnLst>
                          </p:cTn>
                        </p:par>
                      </p:childTnLst>
                    </p:cTn>
                  </p:par>
                  <p:par>
                    <p:cTn id="183" fill="hold">
                      <p:stCondLst>
                        <p:cond delay="indefinite"/>
                      </p:stCondLst>
                      <p:childTnLst>
                        <p:par>
                          <p:cTn id="184" fill="hold">
                            <p:stCondLst>
                              <p:cond delay="0"/>
                            </p:stCondLst>
                            <p:childTnLst>
                              <p:par>
                                <p:cTn id="185" nodeType="clickEffect" fill="hold" presetClass="entr" presetID="22" presetSubtype="8">
                                  <p:stCondLst>
                                    <p:cond delay="0"/>
                                  </p:stCondLst>
                                  <p:childTnLst>
                                    <p:set>
                                      <p:cBhvr>
                                        <p:cTn id="186" dur="1" fill="hold">
                                          <p:stCondLst>
                                            <p:cond delay="0"/>
                                          </p:stCondLst>
                                        </p:cTn>
                                        <p:tgtEl>
                                          <p:spTgt spid="259">
                                            <p:txEl>
                                              <p:pRg st="465" end="465"/>
                                            </p:txEl>
                                          </p:spTgt>
                                        </p:tgtEl>
                                        <p:attrNameLst>
                                          <p:attrName>style.visibility</p:attrName>
                                        </p:attrNameLst>
                                      </p:cBhvr>
                                      <p:to>
                                        <p:strVal val="visible"/>
                                      </p:to>
                                    </p:set>
                                    <p:animEffect filter="wipe(left)" transition="in">
                                      <p:cBhvr additive="repl">
                                        <p:cTn id="187" dur="500"/>
                                        <p:tgtEl>
                                          <p:spTgt spid="259">
                                            <p:txEl>
                                              <p:pRg st="465" end="465"/>
                                            </p:txEl>
                                          </p:spTgt>
                                        </p:tgtEl>
                                      </p:cBhvr>
                                    </p:animEffect>
                                  </p:childTnLst>
                                </p:cTn>
                              </p:par>
                            </p:childTnLst>
                          </p:cTn>
                        </p:par>
                      </p:childTnLst>
                    </p:cTn>
                  </p:par>
                  <p:par>
                    <p:cTn id="188" fill="hold">
                      <p:stCondLst>
                        <p:cond delay="indefinite"/>
                      </p:stCondLst>
                      <p:childTnLst>
                        <p:par>
                          <p:cTn id="189" fill="hold">
                            <p:stCondLst>
                              <p:cond delay="0"/>
                            </p:stCondLst>
                            <p:childTnLst>
                              <p:par>
                                <p:cTn id="190" nodeType="clickEffect" fill="hold" presetClass="entr" presetID="22" presetSubtype="8">
                                  <p:stCondLst>
                                    <p:cond delay="0"/>
                                  </p:stCondLst>
                                  <p:childTnLst>
                                    <p:set>
                                      <p:cBhvr>
                                        <p:cTn id="191" dur="1" fill="hold">
                                          <p:stCondLst>
                                            <p:cond delay="0"/>
                                          </p:stCondLst>
                                        </p:cTn>
                                        <p:tgtEl>
                                          <p:spTgt spid="259">
                                            <p:txEl>
                                              <p:pRg st="465" end="465"/>
                                            </p:txEl>
                                          </p:spTgt>
                                        </p:tgtEl>
                                        <p:attrNameLst>
                                          <p:attrName>style.visibility</p:attrName>
                                        </p:attrNameLst>
                                      </p:cBhvr>
                                      <p:to>
                                        <p:strVal val="visible"/>
                                      </p:to>
                                    </p:set>
                                    <p:animEffect filter="wipe(left)" transition="in">
                                      <p:cBhvr additive="repl">
                                        <p:cTn id="192" dur="500"/>
                                        <p:tgtEl>
                                          <p:spTgt spid="259">
                                            <p:txEl>
                                              <p:pRg st="465" end="46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60" name="CustomShape 1"/>
          <p:cNvSpPr/>
          <p:nvPr/>
        </p:nvSpPr>
        <p:spPr>
          <a:xfrm>
            <a:off x="2958120" y="4511520"/>
            <a:ext cx="489960" cy="1524960"/>
          </a:xfrm>
          <a:prstGeom prst="rect">
            <a:avLst/>
          </a:prstGeom>
          <a:solidFill>
            <a:srgbClr val="c7c4e2"/>
          </a:solidFill>
          <a:ln w="9360">
            <a:noFill/>
          </a:ln>
        </p:spPr>
        <p:style>
          <a:lnRef idx="0"/>
          <a:fillRef idx="0"/>
          <a:effectRef idx="0"/>
          <a:fontRef idx="minor"/>
        </p:style>
      </p:sp>
      <p:sp>
        <p:nvSpPr>
          <p:cNvPr id="261" name="CustomShape 2"/>
          <p:cNvSpPr/>
          <p:nvPr/>
        </p:nvSpPr>
        <p:spPr>
          <a:xfrm>
            <a:off x="3448440" y="4803840"/>
            <a:ext cx="483480" cy="1235880"/>
          </a:xfrm>
          <a:prstGeom prst="rect">
            <a:avLst/>
          </a:prstGeom>
          <a:solidFill>
            <a:srgbClr val="c7c4e2"/>
          </a:solidFill>
          <a:ln w="9360">
            <a:noFill/>
          </a:ln>
        </p:spPr>
        <p:style>
          <a:lnRef idx="0"/>
          <a:fillRef idx="0"/>
          <a:effectRef idx="0"/>
          <a:fontRef idx="minor"/>
        </p:style>
      </p:sp>
      <p:sp>
        <p:nvSpPr>
          <p:cNvPr id="262" name="CustomShape 3"/>
          <p:cNvSpPr/>
          <p:nvPr/>
        </p:nvSpPr>
        <p:spPr>
          <a:xfrm>
            <a:off x="3448440" y="4803840"/>
            <a:ext cx="483480" cy="1235880"/>
          </a:xfrm>
          <a:custGeom>
            <a:avLst/>
            <a:gdLst/>
            <a:ahLst/>
            <a:rect l="l" t="t" r="r" b="b"/>
            <a:pathLst>
              <a:path w="297" h="789">
                <a:moveTo>
                  <a:pt x="0" y="789"/>
                </a:moveTo>
                <a:lnTo>
                  <a:pt x="0" y="0"/>
                </a:lnTo>
                <a:lnTo>
                  <a:pt x="297" y="0"/>
                </a:lnTo>
                <a:lnTo>
                  <a:pt x="297" y="789"/>
                </a:lnTo>
              </a:path>
            </a:pathLst>
          </a:custGeom>
          <a:noFill/>
          <a:ln w="22320">
            <a:solidFill>
              <a:srgbClr val="bcbec0"/>
            </a:solidFill>
            <a:miter/>
          </a:ln>
        </p:spPr>
        <p:style>
          <a:lnRef idx="0"/>
          <a:fillRef idx="0"/>
          <a:effectRef idx="0"/>
          <a:fontRef idx="minor"/>
        </p:style>
      </p:sp>
      <p:sp>
        <p:nvSpPr>
          <p:cNvPr id="263" name="CustomShape 4"/>
          <p:cNvSpPr/>
          <p:nvPr/>
        </p:nvSpPr>
        <p:spPr>
          <a:xfrm>
            <a:off x="3932640" y="5092560"/>
            <a:ext cx="489960" cy="947160"/>
          </a:xfrm>
          <a:prstGeom prst="rect">
            <a:avLst/>
          </a:prstGeom>
          <a:solidFill>
            <a:srgbClr val="c7c4e2"/>
          </a:solidFill>
          <a:ln w="9360">
            <a:noFill/>
          </a:ln>
        </p:spPr>
        <p:style>
          <a:lnRef idx="0"/>
          <a:fillRef idx="0"/>
          <a:effectRef idx="0"/>
          <a:fontRef idx="minor"/>
        </p:style>
      </p:sp>
      <p:sp>
        <p:nvSpPr>
          <p:cNvPr id="264" name="CustomShape 5"/>
          <p:cNvSpPr/>
          <p:nvPr/>
        </p:nvSpPr>
        <p:spPr>
          <a:xfrm>
            <a:off x="3932640" y="5092560"/>
            <a:ext cx="489960" cy="947160"/>
          </a:xfrm>
          <a:custGeom>
            <a:avLst/>
            <a:gdLst/>
            <a:ahLst/>
            <a:rect l="l" t="t" r="r" b="b"/>
            <a:pathLst>
              <a:path w="300" h="604">
                <a:moveTo>
                  <a:pt x="0" y="604"/>
                </a:moveTo>
                <a:lnTo>
                  <a:pt x="0" y="0"/>
                </a:lnTo>
                <a:lnTo>
                  <a:pt x="300" y="0"/>
                </a:lnTo>
                <a:lnTo>
                  <a:pt x="300" y="604"/>
                </a:lnTo>
              </a:path>
            </a:pathLst>
          </a:custGeom>
          <a:noFill/>
          <a:ln w="22320">
            <a:solidFill>
              <a:srgbClr val="bcbec0"/>
            </a:solidFill>
            <a:miter/>
          </a:ln>
        </p:spPr>
        <p:style>
          <a:lnRef idx="0"/>
          <a:fillRef idx="0"/>
          <a:effectRef idx="0"/>
          <a:fontRef idx="minor"/>
        </p:style>
      </p:sp>
      <p:sp>
        <p:nvSpPr>
          <p:cNvPr id="265" name="CustomShape 6"/>
          <p:cNvSpPr/>
          <p:nvPr/>
        </p:nvSpPr>
        <p:spPr>
          <a:xfrm>
            <a:off x="4423320" y="5384880"/>
            <a:ext cx="486720" cy="654840"/>
          </a:xfrm>
          <a:prstGeom prst="rect">
            <a:avLst/>
          </a:prstGeom>
          <a:solidFill>
            <a:srgbClr val="c7c4e2"/>
          </a:solidFill>
          <a:ln w="9360">
            <a:noFill/>
          </a:ln>
        </p:spPr>
        <p:style>
          <a:lnRef idx="0"/>
          <a:fillRef idx="0"/>
          <a:effectRef idx="0"/>
          <a:fontRef idx="minor"/>
        </p:style>
      </p:sp>
      <p:sp>
        <p:nvSpPr>
          <p:cNvPr id="266" name="CustomShape 7"/>
          <p:cNvSpPr/>
          <p:nvPr/>
        </p:nvSpPr>
        <p:spPr>
          <a:xfrm>
            <a:off x="4423320" y="5384880"/>
            <a:ext cx="486720" cy="654840"/>
          </a:xfrm>
          <a:custGeom>
            <a:avLst/>
            <a:gdLst/>
            <a:ahLst/>
            <a:rect l="l" t="t" r="r" b="b"/>
            <a:pathLst>
              <a:path w="298" h="418">
                <a:moveTo>
                  <a:pt x="0" y="418"/>
                </a:moveTo>
                <a:lnTo>
                  <a:pt x="0" y="0"/>
                </a:lnTo>
                <a:lnTo>
                  <a:pt x="298" y="0"/>
                </a:lnTo>
                <a:lnTo>
                  <a:pt x="298" y="418"/>
                </a:lnTo>
              </a:path>
            </a:pathLst>
          </a:custGeom>
          <a:noFill/>
          <a:ln w="22320">
            <a:solidFill>
              <a:srgbClr val="bcbec0"/>
            </a:solidFill>
            <a:miter/>
          </a:ln>
        </p:spPr>
        <p:style>
          <a:lnRef idx="0"/>
          <a:fillRef idx="0"/>
          <a:effectRef idx="0"/>
          <a:fontRef idx="minor"/>
        </p:style>
      </p:sp>
      <p:sp>
        <p:nvSpPr>
          <p:cNvPr id="267" name="CustomShape 8"/>
          <p:cNvSpPr/>
          <p:nvPr/>
        </p:nvSpPr>
        <p:spPr>
          <a:xfrm>
            <a:off x="4910760" y="5675400"/>
            <a:ext cx="488160" cy="364320"/>
          </a:xfrm>
          <a:prstGeom prst="rect">
            <a:avLst/>
          </a:prstGeom>
          <a:solidFill>
            <a:srgbClr val="c7c4e2"/>
          </a:solidFill>
          <a:ln w="9360">
            <a:noFill/>
          </a:ln>
        </p:spPr>
        <p:style>
          <a:lnRef idx="0"/>
          <a:fillRef idx="0"/>
          <a:effectRef idx="0"/>
          <a:fontRef idx="minor"/>
        </p:style>
      </p:sp>
      <p:sp>
        <p:nvSpPr>
          <p:cNvPr id="268" name="CustomShape 9"/>
          <p:cNvSpPr/>
          <p:nvPr/>
        </p:nvSpPr>
        <p:spPr>
          <a:xfrm>
            <a:off x="4910760" y="5675400"/>
            <a:ext cx="488160" cy="364320"/>
          </a:xfrm>
          <a:custGeom>
            <a:avLst/>
            <a:gdLst/>
            <a:ahLst/>
            <a:rect l="l" t="t" r="r" b="b"/>
            <a:pathLst>
              <a:path w="300" h="233">
                <a:moveTo>
                  <a:pt x="0" y="233"/>
                </a:moveTo>
                <a:lnTo>
                  <a:pt x="0" y="0"/>
                </a:lnTo>
                <a:lnTo>
                  <a:pt x="300" y="0"/>
                </a:lnTo>
                <a:lnTo>
                  <a:pt x="300" y="233"/>
                </a:lnTo>
              </a:path>
            </a:pathLst>
          </a:custGeom>
          <a:noFill/>
          <a:ln w="22320">
            <a:solidFill>
              <a:srgbClr val="bcbec0"/>
            </a:solidFill>
            <a:miter/>
          </a:ln>
        </p:spPr>
        <p:style>
          <a:lnRef idx="0"/>
          <a:fillRef idx="0"/>
          <a:effectRef idx="0"/>
          <a:fontRef idx="minor"/>
        </p:style>
      </p:sp>
      <p:sp>
        <p:nvSpPr>
          <p:cNvPr id="269" name="CustomShape 10"/>
          <p:cNvSpPr/>
          <p:nvPr/>
        </p:nvSpPr>
        <p:spPr>
          <a:xfrm>
            <a:off x="4907160" y="914400"/>
            <a:ext cx="413028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(a) </a:t>
            </a:r>
            <a:r>
              <a:rPr b="1" lang="en-US" sz="1400" spc="-1" strike="noStrike">
                <a:solidFill>
                  <a:srgbClr val="000000"/>
                </a:solidFill>
                <a:uFill>
                  <a:solidFill>
                    <a:srgbClr val="ffffff"/>
                  </a:solidFill>
                </a:uFill>
                <a:latin typeface="Myriad Roman"/>
                <a:ea typeface="MS PGothic"/>
              </a:rPr>
              <a:t>Ted’s Individual Marginal Benefit Curve</a:t>
            </a:r>
            <a:endParaRPr lang="en-US" sz="1800" spc="-1" strike="noStrike">
              <a:solidFill>
                <a:srgbClr val="000000"/>
              </a:solidFill>
              <a:uFill>
                <a:solidFill>
                  <a:srgbClr val="ffffff"/>
                </a:solidFill>
              </a:uFill>
              <a:latin typeface="Arial"/>
            </a:endParaRPr>
          </a:p>
        </p:txBody>
      </p:sp>
      <p:sp>
        <p:nvSpPr>
          <p:cNvPr id="270" name="CustomShape 11"/>
          <p:cNvSpPr/>
          <p:nvPr/>
        </p:nvSpPr>
        <p:spPr>
          <a:xfrm>
            <a:off x="2958120" y="4511520"/>
            <a:ext cx="489960" cy="1524960"/>
          </a:xfrm>
          <a:custGeom>
            <a:avLst/>
            <a:gdLst/>
            <a:ahLst/>
            <a:rect l="l" t="t" r="r" b="b"/>
            <a:pathLst>
              <a:path w="300" h="973">
                <a:moveTo>
                  <a:pt x="0" y="0"/>
                </a:moveTo>
                <a:lnTo>
                  <a:pt x="300" y="0"/>
                </a:lnTo>
                <a:lnTo>
                  <a:pt x="300" y="973"/>
                </a:lnTo>
              </a:path>
            </a:pathLst>
          </a:custGeom>
          <a:noFill/>
          <a:ln w="22320">
            <a:solidFill>
              <a:srgbClr val="bcbec0"/>
            </a:solidFill>
            <a:miter/>
          </a:ln>
        </p:spPr>
        <p:style>
          <a:lnRef idx="0"/>
          <a:fillRef idx="0"/>
          <a:effectRef idx="0"/>
          <a:fontRef idx="minor"/>
        </p:style>
      </p:sp>
      <p:sp>
        <p:nvSpPr>
          <p:cNvPr id="271" name="CustomShape 12"/>
          <p:cNvSpPr/>
          <p:nvPr/>
        </p:nvSpPr>
        <p:spPr>
          <a:xfrm>
            <a:off x="5470920" y="5543640"/>
            <a:ext cx="259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MB</a:t>
            </a:r>
            <a:endParaRPr lang="en-US" sz="1800" spc="-1" strike="noStrike">
              <a:solidFill>
                <a:srgbClr val="000000"/>
              </a:solidFill>
              <a:uFill>
                <a:solidFill>
                  <a:srgbClr val="ffffff"/>
                </a:solidFill>
              </a:uFill>
              <a:latin typeface="Arial"/>
            </a:endParaRPr>
          </a:p>
        </p:txBody>
      </p:sp>
      <p:sp>
        <p:nvSpPr>
          <p:cNvPr id="272" name="CustomShape 13"/>
          <p:cNvSpPr/>
          <p:nvPr/>
        </p:nvSpPr>
        <p:spPr>
          <a:xfrm>
            <a:off x="5679000" y="5614920"/>
            <a:ext cx="1526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 </a:t>
            </a:r>
            <a:r>
              <a:rPr i="1" lang="en-US" sz="1400" spc="-1" strike="noStrike">
                <a:solidFill>
                  <a:srgbClr val="000000"/>
                </a:solidFill>
                <a:uFill>
                  <a:solidFill>
                    <a:srgbClr val="ffffff"/>
                  </a:solidFill>
                </a:uFill>
                <a:latin typeface="Myriad Roman"/>
                <a:ea typeface="MS PGothic"/>
              </a:rPr>
              <a:t>A</a:t>
            </a:r>
            <a:endParaRPr lang="en-US" sz="1800" spc="-1" strike="noStrike">
              <a:solidFill>
                <a:srgbClr val="000000"/>
              </a:solidFill>
              <a:uFill>
                <a:solidFill>
                  <a:srgbClr val="ffffff"/>
                </a:solidFill>
              </a:uFill>
              <a:latin typeface="Arial"/>
            </a:endParaRPr>
          </a:p>
        </p:txBody>
      </p:sp>
      <p:sp>
        <p:nvSpPr>
          <p:cNvPr id="273" name="Line 14"/>
          <p:cNvSpPr/>
          <p:nvPr/>
        </p:nvSpPr>
        <p:spPr>
          <a:xfrm>
            <a:off x="2957760" y="4803480"/>
            <a:ext cx="90360" cy="360"/>
          </a:xfrm>
          <a:prstGeom prst="line">
            <a:avLst/>
          </a:prstGeom>
          <a:ln w="7920">
            <a:solidFill>
              <a:srgbClr val="000000"/>
            </a:solidFill>
            <a:miter/>
          </a:ln>
        </p:spPr>
        <p:style>
          <a:lnRef idx="0"/>
          <a:fillRef idx="0"/>
          <a:effectRef idx="0"/>
          <a:fontRef idx="minor"/>
        </p:style>
      </p:sp>
      <p:sp>
        <p:nvSpPr>
          <p:cNvPr id="274" name="Line 15"/>
          <p:cNvSpPr/>
          <p:nvPr/>
        </p:nvSpPr>
        <p:spPr>
          <a:xfrm>
            <a:off x="2961000" y="5081400"/>
            <a:ext cx="93600" cy="360"/>
          </a:xfrm>
          <a:prstGeom prst="line">
            <a:avLst/>
          </a:prstGeom>
          <a:ln w="7920">
            <a:solidFill>
              <a:srgbClr val="000000"/>
            </a:solidFill>
            <a:miter/>
          </a:ln>
        </p:spPr>
        <p:style>
          <a:lnRef idx="0"/>
          <a:fillRef idx="0"/>
          <a:effectRef idx="0"/>
          <a:fontRef idx="minor"/>
        </p:style>
      </p:sp>
      <p:sp>
        <p:nvSpPr>
          <p:cNvPr id="275" name="Line 16"/>
          <p:cNvSpPr/>
          <p:nvPr/>
        </p:nvSpPr>
        <p:spPr>
          <a:xfrm>
            <a:off x="2957760" y="5381280"/>
            <a:ext cx="90360" cy="360"/>
          </a:xfrm>
          <a:prstGeom prst="line">
            <a:avLst/>
          </a:prstGeom>
          <a:ln w="7920">
            <a:solidFill>
              <a:srgbClr val="000000"/>
            </a:solidFill>
            <a:miter/>
          </a:ln>
        </p:spPr>
        <p:style>
          <a:lnRef idx="0"/>
          <a:fillRef idx="0"/>
          <a:effectRef idx="0"/>
          <a:fontRef idx="minor"/>
        </p:style>
      </p:sp>
      <p:sp>
        <p:nvSpPr>
          <p:cNvPr id="276" name="CustomShape 17"/>
          <p:cNvSpPr/>
          <p:nvPr/>
        </p:nvSpPr>
        <p:spPr>
          <a:xfrm>
            <a:off x="584208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6</a:t>
            </a:r>
            <a:endParaRPr lang="en-US" sz="1800" spc="-1" strike="noStrike">
              <a:solidFill>
                <a:srgbClr val="000000"/>
              </a:solidFill>
              <a:uFill>
                <a:solidFill>
                  <a:srgbClr val="ffffff"/>
                </a:solidFill>
              </a:uFill>
              <a:latin typeface="Arial"/>
            </a:endParaRPr>
          </a:p>
        </p:txBody>
      </p:sp>
      <p:sp>
        <p:nvSpPr>
          <p:cNvPr id="277" name="CustomShape 18"/>
          <p:cNvSpPr/>
          <p:nvPr/>
        </p:nvSpPr>
        <p:spPr>
          <a:xfrm>
            <a:off x="535716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278" name="CustomShape 19"/>
          <p:cNvSpPr/>
          <p:nvPr/>
        </p:nvSpPr>
        <p:spPr>
          <a:xfrm>
            <a:off x="486720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a:t>
            </a:r>
            <a:endParaRPr lang="en-US" sz="1800" spc="-1" strike="noStrike">
              <a:solidFill>
                <a:srgbClr val="000000"/>
              </a:solidFill>
              <a:uFill>
                <a:solidFill>
                  <a:srgbClr val="ffffff"/>
                </a:solidFill>
              </a:uFill>
              <a:latin typeface="Arial"/>
            </a:endParaRPr>
          </a:p>
        </p:txBody>
      </p:sp>
      <p:sp>
        <p:nvSpPr>
          <p:cNvPr id="279" name="CustomShape 20"/>
          <p:cNvSpPr/>
          <p:nvPr/>
        </p:nvSpPr>
        <p:spPr>
          <a:xfrm>
            <a:off x="437832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280" name="CustomShape 21"/>
          <p:cNvSpPr/>
          <p:nvPr/>
        </p:nvSpPr>
        <p:spPr>
          <a:xfrm>
            <a:off x="389124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a:t>
            </a:r>
            <a:endParaRPr lang="en-US" sz="1800" spc="-1" strike="noStrike">
              <a:solidFill>
                <a:srgbClr val="000000"/>
              </a:solidFill>
              <a:uFill>
                <a:solidFill>
                  <a:srgbClr val="ffffff"/>
                </a:solidFill>
              </a:uFill>
              <a:latin typeface="Arial"/>
            </a:endParaRPr>
          </a:p>
        </p:txBody>
      </p:sp>
      <p:sp>
        <p:nvSpPr>
          <p:cNvPr id="281" name="CustomShape 22"/>
          <p:cNvSpPr/>
          <p:nvPr/>
        </p:nvSpPr>
        <p:spPr>
          <a:xfrm>
            <a:off x="3402000" y="6064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282" name="CustomShape 23"/>
          <p:cNvSpPr/>
          <p:nvPr/>
        </p:nvSpPr>
        <p:spPr>
          <a:xfrm>
            <a:off x="2854440" y="60516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0</a:t>
            </a:r>
            <a:endParaRPr lang="en-US" sz="1800" spc="-1" strike="noStrike">
              <a:solidFill>
                <a:srgbClr val="000000"/>
              </a:solidFill>
              <a:uFill>
                <a:solidFill>
                  <a:srgbClr val="ffffff"/>
                </a:solidFill>
              </a:uFill>
              <a:latin typeface="Arial"/>
            </a:endParaRPr>
          </a:p>
        </p:txBody>
      </p:sp>
      <p:sp>
        <p:nvSpPr>
          <p:cNvPr id="283" name="CustomShape 24"/>
          <p:cNvSpPr/>
          <p:nvPr/>
        </p:nvSpPr>
        <p:spPr>
          <a:xfrm>
            <a:off x="2604960" y="4435560"/>
            <a:ext cx="34020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$21</a:t>
            </a:r>
            <a:endParaRPr lang="en-US" sz="1800" spc="-1" strike="noStrike">
              <a:solidFill>
                <a:srgbClr val="000000"/>
              </a:solidFill>
              <a:uFill>
                <a:solidFill>
                  <a:srgbClr val="ffffff"/>
                </a:solidFill>
              </a:uFill>
              <a:latin typeface="Arial"/>
            </a:endParaRPr>
          </a:p>
        </p:txBody>
      </p:sp>
      <p:sp>
        <p:nvSpPr>
          <p:cNvPr id="284" name="CustomShape 25"/>
          <p:cNvSpPr/>
          <p:nvPr/>
        </p:nvSpPr>
        <p:spPr>
          <a:xfrm>
            <a:off x="2683800" y="471960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17</a:t>
            </a:r>
            <a:endParaRPr lang="en-US" sz="1800" spc="-1" strike="noStrike">
              <a:solidFill>
                <a:srgbClr val="000000"/>
              </a:solidFill>
              <a:uFill>
                <a:solidFill>
                  <a:srgbClr val="ffffff"/>
                </a:solidFill>
              </a:uFill>
              <a:latin typeface="Arial"/>
            </a:endParaRPr>
          </a:p>
        </p:txBody>
      </p:sp>
      <p:sp>
        <p:nvSpPr>
          <p:cNvPr id="285" name="CustomShape 26"/>
          <p:cNvSpPr/>
          <p:nvPr/>
        </p:nvSpPr>
        <p:spPr>
          <a:xfrm>
            <a:off x="2683800" y="499896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13</a:t>
            </a:r>
            <a:endParaRPr lang="en-US" sz="1800" spc="-1" strike="noStrike">
              <a:solidFill>
                <a:srgbClr val="000000"/>
              </a:solidFill>
              <a:uFill>
                <a:solidFill>
                  <a:srgbClr val="ffffff"/>
                </a:solidFill>
              </a:uFill>
              <a:latin typeface="Arial"/>
            </a:endParaRPr>
          </a:p>
        </p:txBody>
      </p:sp>
      <p:sp>
        <p:nvSpPr>
          <p:cNvPr id="286" name="CustomShape 27"/>
          <p:cNvSpPr/>
          <p:nvPr/>
        </p:nvSpPr>
        <p:spPr>
          <a:xfrm>
            <a:off x="2762280" y="530208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9</a:t>
            </a:r>
            <a:endParaRPr lang="en-US" sz="1800" spc="-1" strike="noStrike">
              <a:solidFill>
                <a:srgbClr val="000000"/>
              </a:solidFill>
              <a:uFill>
                <a:solidFill>
                  <a:srgbClr val="ffffff"/>
                </a:solidFill>
              </a:uFill>
              <a:latin typeface="Arial"/>
            </a:endParaRPr>
          </a:p>
        </p:txBody>
      </p:sp>
      <p:sp>
        <p:nvSpPr>
          <p:cNvPr id="287" name="Line 28"/>
          <p:cNvSpPr/>
          <p:nvPr/>
        </p:nvSpPr>
        <p:spPr>
          <a:xfrm>
            <a:off x="2957760" y="5681520"/>
            <a:ext cx="90360" cy="360"/>
          </a:xfrm>
          <a:prstGeom prst="line">
            <a:avLst/>
          </a:prstGeom>
          <a:ln w="7920">
            <a:solidFill>
              <a:srgbClr val="000000"/>
            </a:solidFill>
            <a:miter/>
          </a:ln>
        </p:spPr>
        <p:style>
          <a:lnRef idx="0"/>
          <a:fillRef idx="0"/>
          <a:effectRef idx="0"/>
          <a:fontRef idx="minor"/>
        </p:style>
      </p:sp>
      <p:sp>
        <p:nvSpPr>
          <p:cNvPr id="288" name="CustomShape 29"/>
          <p:cNvSpPr/>
          <p:nvPr/>
        </p:nvSpPr>
        <p:spPr>
          <a:xfrm>
            <a:off x="2762280" y="56037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289" name="Line 30"/>
          <p:cNvSpPr/>
          <p:nvPr/>
        </p:nvSpPr>
        <p:spPr>
          <a:xfrm>
            <a:off x="2957760" y="5967360"/>
            <a:ext cx="90360" cy="360"/>
          </a:xfrm>
          <a:prstGeom prst="line">
            <a:avLst/>
          </a:prstGeom>
          <a:ln w="7920">
            <a:solidFill>
              <a:srgbClr val="000000"/>
            </a:solidFill>
            <a:miter/>
          </a:ln>
        </p:spPr>
        <p:style>
          <a:lnRef idx="0"/>
          <a:fillRef idx="0"/>
          <a:effectRef idx="0"/>
          <a:fontRef idx="minor"/>
        </p:style>
      </p:sp>
      <p:sp>
        <p:nvSpPr>
          <p:cNvPr id="290" name="CustomShape 31"/>
          <p:cNvSpPr/>
          <p:nvPr/>
        </p:nvSpPr>
        <p:spPr>
          <a:xfrm>
            <a:off x="2752920" y="589284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291" name="CustomShape 32"/>
          <p:cNvSpPr/>
          <p:nvPr/>
        </p:nvSpPr>
        <p:spPr>
          <a:xfrm>
            <a:off x="4890240" y="3962520"/>
            <a:ext cx="427356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(b) </a:t>
            </a:r>
            <a:r>
              <a:rPr b="1" lang="en-US" sz="1400" spc="-1" strike="noStrike">
                <a:solidFill>
                  <a:srgbClr val="000000"/>
                </a:solidFill>
                <a:uFill>
                  <a:solidFill>
                    <a:srgbClr val="ffffff"/>
                  </a:solidFill>
                </a:uFill>
                <a:latin typeface="Myriad Roman"/>
                <a:ea typeface="MS PGothic"/>
              </a:rPr>
              <a:t>Alice’s Individual Marginal Benefit Curve</a:t>
            </a:r>
            <a:endParaRPr lang="en-US" sz="1800" spc="-1" strike="noStrike">
              <a:solidFill>
                <a:srgbClr val="000000"/>
              </a:solidFill>
              <a:uFill>
                <a:solidFill>
                  <a:srgbClr val="ffffff"/>
                </a:solidFill>
              </a:uFill>
              <a:latin typeface="Arial"/>
            </a:endParaRPr>
          </a:p>
        </p:txBody>
      </p:sp>
      <p:sp>
        <p:nvSpPr>
          <p:cNvPr id="292" name="CustomShape 33"/>
          <p:cNvSpPr/>
          <p:nvPr/>
        </p:nvSpPr>
        <p:spPr>
          <a:xfrm>
            <a:off x="3129840" y="431316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21</a:t>
            </a:r>
            <a:endParaRPr lang="en-US" sz="1800" spc="-1" strike="noStrike">
              <a:solidFill>
                <a:srgbClr val="000000"/>
              </a:solidFill>
              <a:uFill>
                <a:solidFill>
                  <a:srgbClr val="ffffff"/>
                </a:solidFill>
              </a:uFill>
              <a:latin typeface="Arial"/>
            </a:endParaRPr>
          </a:p>
        </p:txBody>
      </p:sp>
      <p:sp>
        <p:nvSpPr>
          <p:cNvPr id="293" name="CustomShape 34"/>
          <p:cNvSpPr/>
          <p:nvPr/>
        </p:nvSpPr>
        <p:spPr>
          <a:xfrm>
            <a:off x="4107600" y="489744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13</a:t>
            </a:r>
            <a:endParaRPr lang="en-US" sz="1800" spc="-1" strike="noStrike">
              <a:solidFill>
                <a:srgbClr val="000000"/>
              </a:solidFill>
              <a:uFill>
                <a:solidFill>
                  <a:srgbClr val="ffffff"/>
                </a:solidFill>
              </a:uFill>
              <a:latin typeface="Arial"/>
            </a:endParaRPr>
          </a:p>
        </p:txBody>
      </p:sp>
      <p:sp>
        <p:nvSpPr>
          <p:cNvPr id="294" name="CustomShape 35"/>
          <p:cNvSpPr/>
          <p:nvPr/>
        </p:nvSpPr>
        <p:spPr>
          <a:xfrm>
            <a:off x="4622760" y="5191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9</a:t>
            </a:r>
            <a:endParaRPr lang="en-US" sz="1800" spc="-1" strike="noStrike">
              <a:solidFill>
                <a:srgbClr val="000000"/>
              </a:solidFill>
              <a:uFill>
                <a:solidFill>
                  <a:srgbClr val="ffffff"/>
                </a:solidFill>
              </a:uFill>
              <a:latin typeface="Arial"/>
            </a:endParaRPr>
          </a:p>
        </p:txBody>
      </p:sp>
      <p:sp>
        <p:nvSpPr>
          <p:cNvPr id="295" name="CustomShape 36"/>
          <p:cNvSpPr/>
          <p:nvPr/>
        </p:nvSpPr>
        <p:spPr>
          <a:xfrm>
            <a:off x="5127840" y="54738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296" name="CustomShape 37"/>
          <p:cNvSpPr/>
          <p:nvPr/>
        </p:nvSpPr>
        <p:spPr>
          <a:xfrm>
            <a:off x="5607000" y="577044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297" name="CustomShape 38"/>
          <p:cNvSpPr/>
          <p:nvPr/>
        </p:nvSpPr>
        <p:spPr>
          <a:xfrm>
            <a:off x="3609360" y="459432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17</a:t>
            </a:r>
            <a:endParaRPr lang="en-US" sz="1800" spc="-1" strike="noStrike">
              <a:solidFill>
                <a:srgbClr val="000000"/>
              </a:solidFill>
              <a:uFill>
                <a:solidFill>
                  <a:srgbClr val="ffffff"/>
                </a:solidFill>
              </a:uFill>
              <a:latin typeface="Arial"/>
            </a:endParaRPr>
          </a:p>
        </p:txBody>
      </p:sp>
      <p:sp>
        <p:nvSpPr>
          <p:cNvPr id="298" name="Line 39"/>
          <p:cNvSpPr/>
          <p:nvPr/>
        </p:nvSpPr>
        <p:spPr>
          <a:xfrm flipH="1">
            <a:off x="5484960" y="5716440"/>
            <a:ext cx="50760" cy="158760"/>
          </a:xfrm>
          <a:prstGeom prst="line">
            <a:avLst/>
          </a:prstGeom>
          <a:ln w="7920">
            <a:solidFill>
              <a:srgbClr val="000000"/>
            </a:solidFill>
            <a:miter/>
          </a:ln>
        </p:spPr>
        <p:style>
          <a:lnRef idx="0"/>
          <a:fillRef idx="0"/>
          <a:effectRef idx="0"/>
          <a:fontRef idx="minor"/>
        </p:style>
      </p:sp>
      <p:sp>
        <p:nvSpPr>
          <p:cNvPr id="299" name="CustomShape 40"/>
          <p:cNvSpPr/>
          <p:nvPr/>
        </p:nvSpPr>
        <p:spPr>
          <a:xfrm>
            <a:off x="5399640" y="5967360"/>
            <a:ext cx="486720" cy="72360"/>
          </a:xfrm>
          <a:prstGeom prst="rect">
            <a:avLst/>
          </a:prstGeom>
          <a:solidFill>
            <a:srgbClr val="c7c4e2"/>
          </a:solidFill>
          <a:ln w="9360">
            <a:noFill/>
          </a:ln>
        </p:spPr>
        <p:style>
          <a:lnRef idx="0"/>
          <a:fillRef idx="0"/>
          <a:effectRef idx="0"/>
          <a:fontRef idx="minor"/>
        </p:style>
      </p:sp>
      <p:sp>
        <p:nvSpPr>
          <p:cNvPr id="300" name="CustomShape 41"/>
          <p:cNvSpPr/>
          <p:nvPr/>
        </p:nvSpPr>
        <p:spPr>
          <a:xfrm>
            <a:off x="5399640" y="5967360"/>
            <a:ext cx="486720" cy="72360"/>
          </a:xfrm>
          <a:custGeom>
            <a:avLst/>
            <a:gdLst/>
            <a:ahLst/>
            <a:rect l="l" t="t" r="r" b="b"/>
            <a:pathLst>
              <a:path w="298" h="47">
                <a:moveTo>
                  <a:pt x="0" y="47"/>
                </a:moveTo>
                <a:lnTo>
                  <a:pt x="0" y="0"/>
                </a:lnTo>
                <a:lnTo>
                  <a:pt x="298" y="0"/>
                </a:lnTo>
                <a:lnTo>
                  <a:pt x="298" y="47"/>
                </a:lnTo>
              </a:path>
            </a:pathLst>
          </a:custGeom>
          <a:noFill/>
          <a:ln w="22320">
            <a:solidFill>
              <a:srgbClr val="bcbec0"/>
            </a:solidFill>
            <a:miter/>
          </a:ln>
        </p:spPr>
        <p:style>
          <a:lnRef idx="0"/>
          <a:fillRef idx="0"/>
          <a:effectRef idx="0"/>
          <a:fontRef idx="minor"/>
        </p:style>
      </p:sp>
      <p:sp>
        <p:nvSpPr>
          <p:cNvPr id="301" name="CustomShape 42"/>
          <p:cNvSpPr/>
          <p:nvPr/>
        </p:nvSpPr>
        <p:spPr>
          <a:xfrm>
            <a:off x="3057840" y="4424400"/>
            <a:ext cx="2769480" cy="1650240"/>
          </a:xfrm>
          <a:custGeom>
            <a:avLst/>
            <a:gdLst/>
            <a:ahLst/>
            <a:rect l="l" t="t" r="r" b="b"/>
            <a:pathLst>
              <a:path w="1696" h="1052">
                <a:moveTo>
                  <a:pt x="0" y="0"/>
                </a:moveTo>
                <a:lnTo>
                  <a:pt x="387" y="241"/>
                </a:lnTo>
                <a:lnTo>
                  <a:pt x="687" y="426"/>
                </a:lnTo>
                <a:lnTo>
                  <a:pt x="985" y="612"/>
                </a:lnTo>
                <a:lnTo>
                  <a:pt x="1285" y="797"/>
                </a:lnTo>
                <a:lnTo>
                  <a:pt x="1696" y="1052"/>
                </a:lnTo>
              </a:path>
            </a:pathLst>
          </a:custGeom>
          <a:noFill/>
          <a:ln w="30240">
            <a:solidFill>
              <a:srgbClr val="4b8fcc"/>
            </a:solidFill>
            <a:miter/>
          </a:ln>
        </p:spPr>
        <p:style>
          <a:lnRef idx="0"/>
          <a:fillRef idx="0"/>
          <a:effectRef idx="0"/>
          <a:fontRef idx="minor"/>
        </p:style>
      </p:sp>
      <p:sp>
        <p:nvSpPr>
          <p:cNvPr id="302" name="CustomShape 43"/>
          <p:cNvSpPr/>
          <p:nvPr/>
        </p:nvSpPr>
        <p:spPr>
          <a:xfrm>
            <a:off x="5612400" y="5931000"/>
            <a:ext cx="77040" cy="73800"/>
          </a:xfrm>
          <a:prstGeom prst="ellipse">
            <a:avLst/>
          </a:prstGeom>
          <a:solidFill>
            <a:srgbClr val="000000"/>
          </a:solidFill>
          <a:ln w="9360">
            <a:noFill/>
          </a:ln>
        </p:spPr>
        <p:style>
          <a:lnRef idx="0"/>
          <a:fillRef idx="0"/>
          <a:effectRef idx="0"/>
          <a:fontRef idx="minor"/>
        </p:style>
      </p:sp>
      <p:sp>
        <p:nvSpPr>
          <p:cNvPr id="303" name="CustomShape 44"/>
          <p:cNvSpPr/>
          <p:nvPr/>
        </p:nvSpPr>
        <p:spPr>
          <a:xfrm>
            <a:off x="3651840" y="4767120"/>
            <a:ext cx="77040" cy="72360"/>
          </a:xfrm>
          <a:prstGeom prst="ellipse">
            <a:avLst/>
          </a:prstGeom>
          <a:solidFill>
            <a:srgbClr val="000000"/>
          </a:solidFill>
          <a:ln w="9360">
            <a:noFill/>
          </a:ln>
        </p:spPr>
        <p:style>
          <a:lnRef idx="0"/>
          <a:fillRef idx="0"/>
          <a:effectRef idx="0"/>
          <a:fontRef idx="minor"/>
        </p:style>
      </p:sp>
      <p:sp>
        <p:nvSpPr>
          <p:cNvPr id="304" name="CustomShape 45"/>
          <p:cNvSpPr/>
          <p:nvPr/>
        </p:nvSpPr>
        <p:spPr>
          <a:xfrm>
            <a:off x="4142160" y="5056200"/>
            <a:ext cx="75600" cy="72360"/>
          </a:xfrm>
          <a:prstGeom prst="ellipse">
            <a:avLst/>
          </a:prstGeom>
          <a:solidFill>
            <a:srgbClr val="000000"/>
          </a:solidFill>
          <a:ln w="9360">
            <a:noFill/>
          </a:ln>
        </p:spPr>
        <p:style>
          <a:lnRef idx="0"/>
          <a:fillRef idx="0"/>
          <a:effectRef idx="0"/>
          <a:fontRef idx="minor"/>
        </p:style>
      </p:sp>
      <p:sp>
        <p:nvSpPr>
          <p:cNvPr id="305" name="CustomShape 46"/>
          <p:cNvSpPr/>
          <p:nvPr/>
        </p:nvSpPr>
        <p:spPr>
          <a:xfrm>
            <a:off x="4628160" y="5349960"/>
            <a:ext cx="77040" cy="72360"/>
          </a:xfrm>
          <a:prstGeom prst="ellipse">
            <a:avLst/>
          </a:prstGeom>
          <a:solidFill>
            <a:srgbClr val="000000"/>
          </a:solidFill>
          <a:ln w="9360">
            <a:noFill/>
          </a:ln>
        </p:spPr>
        <p:style>
          <a:lnRef idx="0"/>
          <a:fillRef idx="0"/>
          <a:effectRef idx="0"/>
          <a:fontRef idx="minor"/>
        </p:style>
      </p:sp>
      <p:sp>
        <p:nvSpPr>
          <p:cNvPr id="306" name="CustomShape 47"/>
          <p:cNvSpPr/>
          <p:nvPr/>
        </p:nvSpPr>
        <p:spPr>
          <a:xfrm>
            <a:off x="5117040" y="5637240"/>
            <a:ext cx="78480" cy="73800"/>
          </a:xfrm>
          <a:prstGeom prst="ellipse">
            <a:avLst/>
          </a:prstGeom>
          <a:solidFill>
            <a:srgbClr val="000000"/>
          </a:solidFill>
          <a:ln w="9360">
            <a:noFill/>
          </a:ln>
        </p:spPr>
        <p:style>
          <a:lnRef idx="0"/>
          <a:fillRef idx="0"/>
          <a:effectRef idx="0"/>
          <a:fontRef idx="minor"/>
        </p:style>
      </p:sp>
      <p:sp>
        <p:nvSpPr>
          <p:cNvPr id="307" name="CustomShape 48"/>
          <p:cNvSpPr/>
          <p:nvPr/>
        </p:nvSpPr>
        <p:spPr>
          <a:xfrm>
            <a:off x="3161160" y="4473720"/>
            <a:ext cx="77040" cy="72360"/>
          </a:xfrm>
          <a:prstGeom prst="ellipse">
            <a:avLst/>
          </a:prstGeom>
          <a:solidFill>
            <a:srgbClr val="000000"/>
          </a:solidFill>
          <a:ln w="9360">
            <a:noFill/>
          </a:ln>
        </p:spPr>
        <p:style>
          <a:lnRef idx="0"/>
          <a:fillRef idx="0"/>
          <a:effectRef idx="0"/>
          <a:fontRef idx="minor"/>
        </p:style>
      </p:sp>
      <p:sp>
        <p:nvSpPr>
          <p:cNvPr id="308" name="Line 49"/>
          <p:cNvSpPr/>
          <p:nvPr/>
        </p:nvSpPr>
        <p:spPr>
          <a:xfrm flipV="1">
            <a:off x="2957760" y="3832200"/>
            <a:ext cx="360" cy="2207880"/>
          </a:xfrm>
          <a:prstGeom prst="line">
            <a:avLst/>
          </a:prstGeom>
          <a:ln w="7920">
            <a:solidFill>
              <a:srgbClr val="000000"/>
            </a:solidFill>
            <a:miter/>
          </a:ln>
        </p:spPr>
        <p:style>
          <a:lnRef idx="0"/>
          <a:fillRef idx="0"/>
          <a:effectRef idx="0"/>
          <a:fontRef idx="minor"/>
        </p:style>
      </p:sp>
      <p:sp>
        <p:nvSpPr>
          <p:cNvPr id="309" name="Line 50"/>
          <p:cNvSpPr/>
          <p:nvPr/>
        </p:nvSpPr>
        <p:spPr>
          <a:xfrm flipH="1">
            <a:off x="2957760" y="6040080"/>
            <a:ext cx="2940120" cy="360"/>
          </a:xfrm>
          <a:prstGeom prst="line">
            <a:avLst/>
          </a:prstGeom>
          <a:ln w="7920">
            <a:solidFill>
              <a:srgbClr val="000000"/>
            </a:solidFill>
            <a:miter/>
          </a:ln>
        </p:spPr>
        <p:style>
          <a:lnRef idx="0"/>
          <a:fillRef idx="0"/>
          <a:effectRef idx="0"/>
          <a:fontRef idx="minor"/>
        </p:style>
      </p:sp>
      <p:sp>
        <p:nvSpPr>
          <p:cNvPr id="310" name="CustomShape 51"/>
          <p:cNvSpPr/>
          <p:nvPr/>
        </p:nvSpPr>
        <p:spPr>
          <a:xfrm>
            <a:off x="4572000" y="6248520"/>
            <a:ext cx="3351960" cy="42552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Quantity of street cleansings (per month)</a:t>
            </a:r>
            <a:endParaRPr lang="en-US" sz="1800" spc="-1" strike="noStrike">
              <a:solidFill>
                <a:srgbClr val="000000"/>
              </a:solidFill>
              <a:uFill>
                <a:solidFill>
                  <a:srgbClr val="ffffff"/>
                </a:solidFill>
              </a:uFill>
              <a:latin typeface="Arial"/>
            </a:endParaRPr>
          </a:p>
        </p:txBody>
      </p:sp>
      <p:sp>
        <p:nvSpPr>
          <p:cNvPr id="311" name="CustomShape 52"/>
          <p:cNvSpPr/>
          <p:nvPr/>
        </p:nvSpPr>
        <p:spPr>
          <a:xfrm>
            <a:off x="1979640" y="3886200"/>
            <a:ext cx="990000" cy="42624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Marginal benefit</a:t>
            </a:r>
            <a:endParaRPr lang="en-US" sz="1800" spc="-1" strike="noStrike">
              <a:solidFill>
                <a:srgbClr val="000000"/>
              </a:solidFill>
              <a:uFill>
                <a:solidFill>
                  <a:srgbClr val="ffffff"/>
                </a:solidFill>
              </a:uFill>
              <a:latin typeface="Arial"/>
            </a:endParaRPr>
          </a:p>
        </p:txBody>
      </p:sp>
      <p:sp>
        <p:nvSpPr>
          <p:cNvPr id="312" name="CustomShape 53"/>
          <p:cNvSpPr/>
          <p:nvPr/>
        </p:nvSpPr>
        <p:spPr>
          <a:xfrm>
            <a:off x="2949480" y="1528920"/>
            <a:ext cx="489960" cy="1820160"/>
          </a:xfrm>
          <a:prstGeom prst="rect">
            <a:avLst/>
          </a:prstGeom>
          <a:solidFill>
            <a:srgbClr val="ffe5b9"/>
          </a:solidFill>
          <a:ln w="9360">
            <a:noFill/>
          </a:ln>
        </p:spPr>
        <p:style>
          <a:lnRef idx="0"/>
          <a:fillRef idx="0"/>
          <a:effectRef idx="0"/>
          <a:fontRef idx="minor"/>
        </p:style>
      </p:sp>
      <p:sp>
        <p:nvSpPr>
          <p:cNvPr id="313" name="CustomShape 54"/>
          <p:cNvSpPr/>
          <p:nvPr/>
        </p:nvSpPr>
        <p:spPr>
          <a:xfrm>
            <a:off x="3440160" y="2036880"/>
            <a:ext cx="483480" cy="1312200"/>
          </a:xfrm>
          <a:prstGeom prst="rect">
            <a:avLst/>
          </a:prstGeom>
          <a:solidFill>
            <a:srgbClr val="ffe5b9"/>
          </a:solidFill>
          <a:ln w="9360">
            <a:noFill/>
          </a:ln>
        </p:spPr>
        <p:style>
          <a:lnRef idx="0"/>
          <a:fillRef idx="0"/>
          <a:effectRef idx="0"/>
          <a:fontRef idx="minor"/>
        </p:style>
      </p:sp>
      <p:sp>
        <p:nvSpPr>
          <p:cNvPr id="314" name="CustomShape 55"/>
          <p:cNvSpPr/>
          <p:nvPr/>
        </p:nvSpPr>
        <p:spPr>
          <a:xfrm>
            <a:off x="3924360" y="2473200"/>
            <a:ext cx="489960" cy="875520"/>
          </a:xfrm>
          <a:prstGeom prst="rect">
            <a:avLst/>
          </a:prstGeom>
          <a:solidFill>
            <a:srgbClr val="ffe5b9"/>
          </a:solidFill>
          <a:ln w="9360">
            <a:noFill/>
          </a:ln>
        </p:spPr>
        <p:style>
          <a:lnRef idx="0"/>
          <a:fillRef idx="0"/>
          <a:effectRef idx="0"/>
          <a:fontRef idx="minor"/>
        </p:style>
      </p:sp>
      <p:sp>
        <p:nvSpPr>
          <p:cNvPr id="315" name="CustomShape 56"/>
          <p:cNvSpPr/>
          <p:nvPr/>
        </p:nvSpPr>
        <p:spPr>
          <a:xfrm>
            <a:off x="5391000" y="3278160"/>
            <a:ext cx="486720" cy="70560"/>
          </a:xfrm>
          <a:prstGeom prst="rect">
            <a:avLst/>
          </a:prstGeom>
          <a:solidFill>
            <a:srgbClr val="ffe5b9"/>
          </a:solidFill>
          <a:ln w="9360">
            <a:noFill/>
          </a:ln>
        </p:spPr>
        <p:style>
          <a:lnRef idx="0"/>
          <a:fillRef idx="0"/>
          <a:effectRef idx="0"/>
          <a:fontRef idx="minor"/>
        </p:style>
      </p:sp>
      <p:sp>
        <p:nvSpPr>
          <p:cNvPr id="316" name="CustomShape 57"/>
          <p:cNvSpPr/>
          <p:nvPr/>
        </p:nvSpPr>
        <p:spPr>
          <a:xfrm>
            <a:off x="4414680" y="2840040"/>
            <a:ext cx="486720" cy="509040"/>
          </a:xfrm>
          <a:prstGeom prst="rect">
            <a:avLst/>
          </a:prstGeom>
          <a:solidFill>
            <a:srgbClr val="ffe5b9"/>
          </a:solidFill>
          <a:ln w="9360">
            <a:noFill/>
          </a:ln>
        </p:spPr>
        <p:style>
          <a:lnRef idx="0"/>
          <a:fillRef idx="0"/>
          <a:effectRef idx="0"/>
          <a:fontRef idx="minor"/>
        </p:style>
      </p:sp>
      <p:sp>
        <p:nvSpPr>
          <p:cNvPr id="317" name="CustomShape 58"/>
          <p:cNvSpPr/>
          <p:nvPr/>
        </p:nvSpPr>
        <p:spPr>
          <a:xfrm>
            <a:off x="4902120" y="3129120"/>
            <a:ext cx="488160" cy="219960"/>
          </a:xfrm>
          <a:prstGeom prst="rect">
            <a:avLst/>
          </a:prstGeom>
          <a:solidFill>
            <a:srgbClr val="ffe5b9"/>
          </a:solidFill>
          <a:ln w="9360">
            <a:noFill/>
          </a:ln>
        </p:spPr>
        <p:style>
          <a:lnRef idx="0"/>
          <a:fillRef idx="0"/>
          <a:effectRef idx="0"/>
          <a:fontRef idx="minor"/>
        </p:style>
      </p:sp>
      <p:sp>
        <p:nvSpPr>
          <p:cNvPr id="318" name="CustomShape 59"/>
          <p:cNvSpPr/>
          <p:nvPr/>
        </p:nvSpPr>
        <p:spPr>
          <a:xfrm>
            <a:off x="2949480" y="1528920"/>
            <a:ext cx="489960" cy="1820160"/>
          </a:xfrm>
          <a:custGeom>
            <a:avLst/>
            <a:gdLst/>
            <a:ahLst/>
            <a:rect l="l" t="t" r="r" b="b"/>
            <a:pathLst>
              <a:path w="300" h="1160">
                <a:moveTo>
                  <a:pt x="0" y="0"/>
                </a:moveTo>
                <a:lnTo>
                  <a:pt x="300" y="0"/>
                </a:lnTo>
                <a:lnTo>
                  <a:pt x="300" y="1160"/>
                </a:lnTo>
              </a:path>
            </a:pathLst>
          </a:custGeom>
          <a:noFill/>
          <a:ln w="22320">
            <a:solidFill>
              <a:srgbClr val="bcbec0"/>
            </a:solidFill>
            <a:miter/>
          </a:ln>
        </p:spPr>
        <p:style>
          <a:lnRef idx="0"/>
          <a:fillRef idx="0"/>
          <a:effectRef idx="0"/>
          <a:fontRef idx="minor"/>
        </p:style>
      </p:sp>
      <p:sp>
        <p:nvSpPr>
          <p:cNvPr id="319" name="CustomShape 60"/>
          <p:cNvSpPr/>
          <p:nvPr/>
        </p:nvSpPr>
        <p:spPr>
          <a:xfrm>
            <a:off x="3440160" y="2036880"/>
            <a:ext cx="483480" cy="1312200"/>
          </a:xfrm>
          <a:custGeom>
            <a:avLst/>
            <a:gdLst/>
            <a:ahLst/>
            <a:rect l="l" t="t" r="r" b="b"/>
            <a:pathLst>
              <a:path w="297" h="836">
                <a:moveTo>
                  <a:pt x="0" y="0"/>
                </a:moveTo>
                <a:lnTo>
                  <a:pt x="297" y="0"/>
                </a:lnTo>
                <a:lnTo>
                  <a:pt x="297" y="836"/>
                </a:lnTo>
              </a:path>
            </a:pathLst>
          </a:custGeom>
          <a:noFill/>
          <a:ln w="22320">
            <a:solidFill>
              <a:srgbClr val="bcbec0"/>
            </a:solidFill>
            <a:miter/>
          </a:ln>
        </p:spPr>
        <p:style>
          <a:lnRef idx="0"/>
          <a:fillRef idx="0"/>
          <a:effectRef idx="0"/>
          <a:fontRef idx="minor"/>
        </p:style>
      </p:sp>
      <p:sp>
        <p:nvSpPr>
          <p:cNvPr id="320" name="CustomShape 61"/>
          <p:cNvSpPr/>
          <p:nvPr/>
        </p:nvSpPr>
        <p:spPr>
          <a:xfrm>
            <a:off x="3924360" y="2473200"/>
            <a:ext cx="489960" cy="875520"/>
          </a:xfrm>
          <a:custGeom>
            <a:avLst/>
            <a:gdLst/>
            <a:ahLst/>
            <a:rect l="l" t="t" r="r" b="b"/>
            <a:pathLst>
              <a:path w="300" h="558">
                <a:moveTo>
                  <a:pt x="0" y="0"/>
                </a:moveTo>
                <a:lnTo>
                  <a:pt x="300" y="0"/>
                </a:lnTo>
                <a:lnTo>
                  <a:pt x="300" y="558"/>
                </a:lnTo>
              </a:path>
            </a:pathLst>
          </a:custGeom>
          <a:noFill/>
          <a:ln w="22320">
            <a:solidFill>
              <a:srgbClr val="bcbec0"/>
            </a:solidFill>
            <a:miter/>
          </a:ln>
        </p:spPr>
        <p:style>
          <a:lnRef idx="0"/>
          <a:fillRef idx="0"/>
          <a:effectRef idx="0"/>
          <a:fontRef idx="minor"/>
        </p:style>
      </p:sp>
      <p:sp>
        <p:nvSpPr>
          <p:cNvPr id="321" name="CustomShape 62"/>
          <p:cNvSpPr/>
          <p:nvPr/>
        </p:nvSpPr>
        <p:spPr>
          <a:xfrm>
            <a:off x="4414680" y="2840040"/>
            <a:ext cx="486720" cy="509040"/>
          </a:xfrm>
          <a:custGeom>
            <a:avLst/>
            <a:gdLst/>
            <a:ahLst/>
            <a:rect l="l" t="t" r="r" b="b"/>
            <a:pathLst>
              <a:path w="298" h="324">
                <a:moveTo>
                  <a:pt x="0" y="0"/>
                </a:moveTo>
                <a:lnTo>
                  <a:pt x="298" y="0"/>
                </a:lnTo>
                <a:lnTo>
                  <a:pt x="298" y="324"/>
                </a:lnTo>
              </a:path>
            </a:pathLst>
          </a:custGeom>
          <a:noFill/>
          <a:ln w="22320">
            <a:solidFill>
              <a:srgbClr val="bcbec0"/>
            </a:solidFill>
            <a:miter/>
          </a:ln>
        </p:spPr>
        <p:style>
          <a:lnRef idx="0"/>
          <a:fillRef idx="0"/>
          <a:effectRef idx="0"/>
          <a:fontRef idx="minor"/>
        </p:style>
      </p:sp>
      <p:sp>
        <p:nvSpPr>
          <p:cNvPr id="322" name="CustomShape 63"/>
          <p:cNvSpPr/>
          <p:nvPr/>
        </p:nvSpPr>
        <p:spPr>
          <a:xfrm>
            <a:off x="4902120" y="3129120"/>
            <a:ext cx="488160" cy="219960"/>
          </a:xfrm>
          <a:custGeom>
            <a:avLst/>
            <a:gdLst/>
            <a:ahLst/>
            <a:rect l="l" t="t" r="r" b="b"/>
            <a:pathLst>
              <a:path w="300" h="140">
                <a:moveTo>
                  <a:pt x="0" y="0"/>
                </a:moveTo>
                <a:lnTo>
                  <a:pt x="300" y="0"/>
                </a:lnTo>
                <a:lnTo>
                  <a:pt x="300" y="140"/>
                </a:lnTo>
              </a:path>
            </a:pathLst>
          </a:custGeom>
          <a:noFill/>
          <a:ln w="22320">
            <a:solidFill>
              <a:srgbClr val="bcbec0"/>
            </a:solidFill>
            <a:miter/>
          </a:ln>
        </p:spPr>
        <p:style>
          <a:lnRef idx="0"/>
          <a:fillRef idx="0"/>
          <a:effectRef idx="0"/>
          <a:fontRef idx="minor"/>
        </p:style>
      </p:sp>
      <p:sp>
        <p:nvSpPr>
          <p:cNvPr id="323" name="CustomShape 64"/>
          <p:cNvSpPr/>
          <p:nvPr/>
        </p:nvSpPr>
        <p:spPr>
          <a:xfrm>
            <a:off x="5391000" y="3278160"/>
            <a:ext cx="486720" cy="70560"/>
          </a:xfrm>
          <a:custGeom>
            <a:avLst/>
            <a:gdLst/>
            <a:ahLst/>
            <a:rect l="l" t="t" r="r" b="b"/>
            <a:pathLst>
              <a:path w="298" h="45">
                <a:moveTo>
                  <a:pt x="0" y="0"/>
                </a:moveTo>
                <a:lnTo>
                  <a:pt x="298" y="0"/>
                </a:lnTo>
                <a:lnTo>
                  <a:pt x="298" y="45"/>
                </a:lnTo>
              </a:path>
            </a:pathLst>
          </a:custGeom>
          <a:noFill/>
          <a:ln w="22320">
            <a:solidFill>
              <a:srgbClr val="bcbec0"/>
            </a:solidFill>
            <a:miter/>
          </a:ln>
        </p:spPr>
        <p:style>
          <a:lnRef idx="0"/>
          <a:fillRef idx="0"/>
          <a:effectRef idx="0"/>
          <a:fontRef idx="minor"/>
        </p:style>
      </p:sp>
      <p:sp>
        <p:nvSpPr>
          <p:cNvPr id="324" name="CustomShape 65"/>
          <p:cNvSpPr/>
          <p:nvPr/>
        </p:nvSpPr>
        <p:spPr>
          <a:xfrm>
            <a:off x="5296680" y="2709000"/>
            <a:ext cx="259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MB</a:t>
            </a:r>
            <a:endParaRPr lang="en-US" sz="1800" spc="-1" strike="noStrike">
              <a:solidFill>
                <a:srgbClr val="000000"/>
              </a:solidFill>
              <a:uFill>
                <a:solidFill>
                  <a:srgbClr val="ffffff"/>
                </a:solidFill>
              </a:uFill>
              <a:latin typeface="Arial"/>
            </a:endParaRPr>
          </a:p>
        </p:txBody>
      </p:sp>
      <p:sp>
        <p:nvSpPr>
          <p:cNvPr id="325" name="CustomShape 66"/>
          <p:cNvSpPr/>
          <p:nvPr/>
        </p:nvSpPr>
        <p:spPr>
          <a:xfrm>
            <a:off x="5513760" y="2853000"/>
            <a:ext cx="14652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 </a:t>
            </a:r>
            <a:r>
              <a:rPr i="1" lang="en-US" sz="1400" spc="-1" strike="noStrike">
                <a:solidFill>
                  <a:srgbClr val="000000"/>
                </a:solidFill>
                <a:uFill>
                  <a:solidFill>
                    <a:srgbClr val="ffffff"/>
                  </a:solidFill>
                </a:uFill>
                <a:latin typeface="Myriad Roman"/>
                <a:ea typeface="MS PGothic"/>
              </a:rPr>
              <a:t>T</a:t>
            </a:r>
            <a:endParaRPr lang="en-US" sz="1800" spc="-1" strike="noStrike">
              <a:solidFill>
                <a:srgbClr val="000000"/>
              </a:solidFill>
              <a:uFill>
                <a:solidFill>
                  <a:srgbClr val="ffffff"/>
                </a:solidFill>
              </a:uFill>
              <a:latin typeface="Arial"/>
            </a:endParaRPr>
          </a:p>
        </p:txBody>
      </p:sp>
      <p:sp>
        <p:nvSpPr>
          <p:cNvPr id="326" name="Line 67"/>
          <p:cNvSpPr/>
          <p:nvPr/>
        </p:nvSpPr>
        <p:spPr>
          <a:xfrm>
            <a:off x="2949480" y="2036520"/>
            <a:ext cx="90360" cy="360"/>
          </a:xfrm>
          <a:prstGeom prst="line">
            <a:avLst/>
          </a:prstGeom>
          <a:ln w="7920">
            <a:solidFill>
              <a:srgbClr val="000000"/>
            </a:solidFill>
            <a:miter/>
          </a:ln>
        </p:spPr>
        <p:style>
          <a:lnRef idx="0"/>
          <a:fillRef idx="0"/>
          <a:effectRef idx="0"/>
          <a:fontRef idx="minor"/>
        </p:style>
      </p:sp>
      <p:sp>
        <p:nvSpPr>
          <p:cNvPr id="327" name="Line 68"/>
          <p:cNvSpPr/>
          <p:nvPr/>
        </p:nvSpPr>
        <p:spPr>
          <a:xfrm>
            <a:off x="2949480" y="2473200"/>
            <a:ext cx="90360" cy="360"/>
          </a:xfrm>
          <a:prstGeom prst="line">
            <a:avLst/>
          </a:prstGeom>
          <a:ln w="7920">
            <a:solidFill>
              <a:srgbClr val="000000"/>
            </a:solidFill>
            <a:miter/>
          </a:ln>
        </p:spPr>
        <p:style>
          <a:lnRef idx="0"/>
          <a:fillRef idx="0"/>
          <a:effectRef idx="0"/>
          <a:fontRef idx="minor"/>
        </p:style>
      </p:sp>
      <p:sp>
        <p:nvSpPr>
          <p:cNvPr id="328" name="Line 69"/>
          <p:cNvSpPr/>
          <p:nvPr/>
        </p:nvSpPr>
        <p:spPr>
          <a:xfrm>
            <a:off x="2949480" y="2839680"/>
            <a:ext cx="90360" cy="360"/>
          </a:xfrm>
          <a:prstGeom prst="line">
            <a:avLst/>
          </a:prstGeom>
          <a:ln w="7920">
            <a:solidFill>
              <a:srgbClr val="000000"/>
            </a:solidFill>
            <a:miter/>
          </a:ln>
        </p:spPr>
        <p:style>
          <a:lnRef idx="0"/>
          <a:fillRef idx="0"/>
          <a:effectRef idx="0"/>
          <a:fontRef idx="minor"/>
        </p:style>
      </p:sp>
      <p:sp>
        <p:nvSpPr>
          <p:cNvPr id="329" name="Line 70"/>
          <p:cNvSpPr/>
          <p:nvPr/>
        </p:nvSpPr>
        <p:spPr>
          <a:xfrm>
            <a:off x="2949480" y="3128760"/>
            <a:ext cx="90360" cy="360"/>
          </a:xfrm>
          <a:prstGeom prst="line">
            <a:avLst/>
          </a:prstGeom>
          <a:ln w="7920">
            <a:solidFill>
              <a:srgbClr val="000000"/>
            </a:solidFill>
            <a:miter/>
          </a:ln>
        </p:spPr>
        <p:style>
          <a:lnRef idx="0"/>
          <a:fillRef idx="0"/>
          <a:effectRef idx="0"/>
          <a:fontRef idx="minor"/>
        </p:style>
      </p:sp>
      <p:sp>
        <p:nvSpPr>
          <p:cNvPr id="330" name="Line 71"/>
          <p:cNvSpPr/>
          <p:nvPr/>
        </p:nvSpPr>
        <p:spPr>
          <a:xfrm>
            <a:off x="2949480" y="3278160"/>
            <a:ext cx="90360" cy="360"/>
          </a:xfrm>
          <a:prstGeom prst="line">
            <a:avLst/>
          </a:prstGeom>
          <a:ln w="7920">
            <a:solidFill>
              <a:srgbClr val="000000"/>
            </a:solidFill>
            <a:miter/>
          </a:ln>
        </p:spPr>
        <p:style>
          <a:lnRef idx="0"/>
          <a:fillRef idx="0"/>
          <a:effectRef idx="0"/>
          <a:fontRef idx="minor"/>
        </p:style>
      </p:sp>
      <p:sp>
        <p:nvSpPr>
          <p:cNvPr id="331" name="CustomShape 72"/>
          <p:cNvSpPr/>
          <p:nvPr/>
        </p:nvSpPr>
        <p:spPr>
          <a:xfrm>
            <a:off x="583380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6</a:t>
            </a:r>
            <a:endParaRPr lang="en-US" sz="1800" spc="-1" strike="noStrike">
              <a:solidFill>
                <a:srgbClr val="000000"/>
              </a:solidFill>
              <a:uFill>
                <a:solidFill>
                  <a:srgbClr val="ffffff"/>
                </a:solidFill>
              </a:uFill>
              <a:latin typeface="Arial"/>
            </a:endParaRPr>
          </a:p>
        </p:txBody>
      </p:sp>
      <p:sp>
        <p:nvSpPr>
          <p:cNvPr id="332" name="CustomShape 73"/>
          <p:cNvSpPr/>
          <p:nvPr/>
        </p:nvSpPr>
        <p:spPr>
          <a:xfrm>
            <a:off x="534852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333" name="CustomShape 74"/>
          <p:cNvSpPr/>
          <p:nvPr/>
        </p:nvSpPr>
        <p:spPr>
          <a:xfrm>
            <a:off x="485892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a:t>
            </a:r>
            <a:endParaRPr lang="en-US" sz="1800" spc="-1" strike="noStrike">
              <a:solidFill>
                <a:srgbClr val="000000"/>
              </a:solidFill>
              <a:uFill>
                <a:solidFill>
                  <a:srgbClr val="ffffff"/>
                </a:solidFill>
              </a:uFill>
              <a:latin typeface="Arial"/>
            </a:endParaRPr>
          </a:p>
        </p:txBody>
      </p:sp>
      <p:sp>
        <p:nvSpPr>
          <p:cNvPr id="334" name="CustomShape 75"/>
          <p:cNvSpPr/>
          <p:nvPr/>
        </p:nvSpPr>
        <p:spPr>
          <a:xfrm>
            <a:off x="437004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335" name="CustomShape 76"/>
          <p:cNvSpPr/>
          <p:nvPr/>
        </p:nvSpPr>
        <p:spPr>
          <a:xfrm>
            <a:off x="388260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a:t>
            </a:r>
            <a:endParaRPr lang="en-US" sz="1800" spc="-1" strike="noStrike">
              <a:solidFill>
                <a:srgbClr val="000000"/>
              </a:solidFill>
              <a:uFill>
                <a:solidFill>
                  <a:srgbClr val="ffffff"/>
                </a:solidFill>
              </a:uFill>
              <a:latin typeface="Arial"/>
            </a:endParaRPr>
          </a:p>
        </p:txBody>
      </p:sp>
      <p:sp>
        <p:nvSpPr>
          <p:cNvPr id="336" name="CustomShape 77"/>
          <p:cNvSpPr/>
          <p:nvPr/>
        </p:nvSpPr>
        <p:spPr>
          <a:xfrm>
            <a:off x="3393720" y="33750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337" name="CustomShape 78"/>
          <p:cNvSpPr/>
          <p:nvPr/>
        </p:nvSpPr>
        <p:spPr>
          <a:xfrm>
            <a:off x="2854080" y="335448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0</a:t>
            </a:r>
            <a:endParaRPr lang="en-US" sz="1800" spc="-1" strike="noStrike">
              <a:solidFill>
                <a:srgbClr val="000000"/>
              </a:solidFill>
              <a:uFill>
                <a:solidFill>
                  <a:srgbClr val="ffffff"/>
                </a:solidFill>
              </a:uFill>
              <a:latin typeface="Arial"/>
            </a:endParaRPr>
          </a:p>
        </p:txBody>
      </p:sp>
      <p:sp>
        <p:nvSpPr>
          <p:cNvPr id="338" name="CustomShape 79"/>
          <p:cNvSpPr/>
          <p:nvPr/>
        </p:nvSpPr>
        <p:spPr>
          <a:xfrm>
            <a:off x="2604960" y="1450800"/>
            <a:ext cx="34020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$25</a:t>
            </a:r>
            <a:endParaRPr lang="en-US" sz="1800" spc="-1" strike="noStrike">
              <a:solidFill>
                <a:srgbClr val="000000"/>
              </a:solidFill>
              <a:uFill>
                <a:solidFill>
                  <a:srgbClr val="ffffff"/>
                </a:solidFill>
              </a:uFill>
              <a:latin typeface="Arial"/>
            </a:endParaRPr>
          </a:p>
        </p:txBody>
      </p:sp>
      <p:sp>
        <p:nvSpPr>
          <p:cNvPr id="339" name="CustomShape 80"/>
          <p:cNvSpPr/>
          <p:nvPr/>
        </p:nvSpPr>
        <p:spPr>
          <a:xfrm>
            <a:off x="2683800" y="196056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18</a:t>
            </a:r>
            <a:endParaRPr lang="en-US" sz="1800" spc="-1" strike="noStrike">
              <a:solidFill>
                <a:srgbClr val="000000"/>
              </a:solidFill>
              <a:uFill>
                <a:solidFill>
                  <a:srgbClr val="ffffff"/>
                </a:solidFill>
              </a:uFill>
              <a:latin typeface="Arial"/>
            </a:endParaRPr>
          </a:p>
        </p:txBody>
      </p:sp>
      <p:sp>
        <p:nvSpPr>
          <p:cNvPr id="340" name="CustomShape 81"/>
          <p:cNvSpPr/>
          <p:nvPr/>
        </p:nvSpPr>
        <p:spPr>
          <a:xfrm>
            <a:off x="2683800" y="239868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12</a:t>
            </a:r>
            <a:endParaRPr lang="en-US" sz="1800" spc="-1" strike="noStrike">
              <a:solidFill>
                <a:srgbClr val="000000"/>
              </a:solidFill>
              <a:uFill>
                <a:solidFill>
                  <a:srgbClr val="ffffff"/>
                </a:solidFill>
              </a:uFill>
              <a:latin typeface="Arial"/>
            </a:endParaRPr>
          </a:p>
        </p:txBody>
      </p:sp>
      <p:sp>
        <p:nvSpPr>
          <p:cNvPr id="341" name="CustomShape 82"/>
          <p:cNvSpPr/>
          <p:nvPr/>
        </p:nvSpPr>
        <p:spPr>
          <a:xfrm>
            <a:off x="2760840" y="276228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7</a:t>
            </a:r>
            <a:endParaRPr lang="en-US" sz="1800" spc="-1" strike="noStrike">
              <a:solidFill>
                <a:srgbClr val="000000"/>
              </a:solidFill>
              <a:uFill>
                <a:solidFill>
                  <a:srgbClr val="ffffff"/>
                </a:solidFill>
              </a:uFill>
              <a:latin typeface="Arial"/>
            </a:endParaRPr>
          </a:p>
        </p:txBody>
      </p:sp>
      <p:sp>
        <p:nvSpPr>
          <p:cNvPr id="342" name="CustomShape 83"/>
          <p:cNvSpPr/>
          <p:nvPr/>
        </p:nvSpPr>
        <p:spPr>
          <a:xfrm>
            <a:off x="2760840" y="305424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343" name="CustomShape 84"/>
          <p:cNvSpPr/>
          <p:nvPr/>
        </p:nvSpPr>
        <p:spPr>
          <a:xfrm>
            <a:off x="2760840" y="32004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344" name="CustomShape 85"/>
          <p:cNvSpPr/>
          <p:nvPr/>
        </p:nvSpPr>
        <p:spPr>
          <a:xfrm>
            <a:off x="2057400" y="914400"/>
            <a:ext cx="837360" cy="42624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Marginal benefit</a:t>
            </a:r>
            <a:endParaRPr lang="en-US" sz="1800" spc="-1" strike="noStrike">
              <a:solidFill>
                <a:srgbClr val="000000"/>
              </a:solidFill>
              <a:uFill>
                <a:solidFill>
                  <a:srgbClr val="ffffff"/>
                </a:solidFill>
              </a:uFill>
              <a:latin typeface="Arial"/>
            </a:endParaRPr>
          </a:p>
        </p:txBody>
      </p:sp>
      <p:sp>
        <p:nvSpPr>
          <p:cNvPr id="345" name="CustomShape 86"/>
          <p:cNvSpPr/>
          <p:nvPr/>
        </p:nvSpPr>
        <p:spPr>
          <a:xfrm>
            <a:off x="2949480" y="1117440"/>
            <a:ext cx="2939400" cy="2231280"/>
          </a:xfrm>
          <a:custGeom>
            <a:avLst/>
            <a:gdLst/>
            <a:ahLst/>
            <a:rect l="l" t="t" r="r" b="b"/>
            <a:pathLst>
              <a:path w="1800" h="1422">
                <a:moveTo>
                  <a:pt x="1800" y="1422"/>
                </a:moveTo>
                <a:lnTo>
                  <a:pt x="0" y="1422"/>
                </a:lnTo>
                <a:lnTo>
                  <a:pt x="0" y="0"/>
                </a:lnTo>
              </a:path>
            </a:pathLst>
          </a:custGeom>
          <a:noFill/>
          <a:ln w="7920">
            <a:solidFill>
              <a:srgbClr val="000000"/>
            </a:solidFill>
            <a:miter/>
          </a:ln>
        </p:spPr>
        <p:style>
          <a:lnRef idx="0"/>
          <a:fillRef idx="0"/>
          <a:effectRef idx="0"/>
          <a:fontRef idx="minor"/>
        </p:style>
      </p:sp>
      <p:sp>
        <p:nvSpPr>
          <p:cNvPr id="346" name="CustomShape 87"/>
          <p:cNvSpPr/>
          <p:nvPr/>
        </p:nvSpPr>
        <p:spPr>
          <a:xfrm>
            <a:off x="3094200" y="1417680"/>
            <a:ext cx="2555280" cy="1856520"/>
          </a:xfrm>
          <a:custGeom>
            <a:avLst/>
            <a:gdLst/>
            <a:ahLst/>
            <a:rect l="l" t="t" r="r" b="b"/>
            <a:pathLst>
              <a:path w="662" h="501">
                <a:moveTo>
                  <a:pt x="0" y="0"/>
                </a:moveTo>
                <a:cubicBezTo>
                  <a:pt x="176" y="194"/>
                  <a:pt x="390" y="447"/>
                  <a:pt x="662" y="501"/>
                </a:cubicBezTo>
              </a:path>
            </a:pathLst>
          </a:custGeom>
          <a:noFill/>
          <a:ln w="30240">
            <a:solidFill>
              <a:srgbClr val="4b8fcc"/>
            </a:solidFill>
            <a:miter/>
          </a:ln>
        </p:spPr>
        <p:style>
          <a:lnRef idx="0"/>
          <a:fillRef idx="0"/>
          <a:effectRef idx="0"/>
          <a:fontRef idx="minor"/>
        </p:style>
      </p:sp>
      <p:sp>
        <p:nvSpPr>
          <p:cNvPr id="347" name="CustomShape 88"/>
          <p:cNvSpPr/>
          <p:nvPr/>
        </p:nvSpPr>
        <p:spPr>
          <a:xfrm>
            <a:off x="3152880" y="1490760"/>
            <a:ext cx="77040" cy="75600"/>
          </a:xfrm>
          <a:prstGeom prst="ellipse">
            <a:avLst/>
          </a:prstGeom>
          <a:solidFill>
            <a:srgbClr val="000000"/>
          </a:solidFill>
          <a:ln w="9360">
            <a:noFill/>
          </a:ln>
        </p:spPr>
        <p:style>
          <a:lnRef idx="0"/>
          <a:fillRef idx="0"/>
          <a:effectRef idx="0"/>
          <a:fontRef idx="minor"/>
        </p:style>
      </p:sp>
      <p:sp>
        <p:nvSpPr>
          <p:cNvPr id="348" name="CustomShape 89"/>
          <p:cNvSpPr/>
          <p:nvPr/>
        </p:nvSpPr>
        <p:spPr>
          <a:xfrm>
            <a:off x="3643200" y="2000160"/>
            <a:ext cx="77040" cy="72360"/>
          </a:xfrm>
          <a:prstGeom prst="ellipse">
            <a:avLst/>
          </a:prstGeom>
          <a:solidFill>
            <a:srgbClr val="000000"/>
          </a:solidFill>
          <a:ln w="9360">
            <a:noFill/>
          </a:ln>
        </p:spPr>
        <p:style>
          <a:lnRef idx="0"/>
          <a:fillRef idx="0"/>
          <a:effectRef idx="0"/>
          <a:fontRef idx="minor"/>
        </p:style>
      </p:sp>
      <p:sp>
        <p:nvSpPr>
          <p:cNvPr id="349" name="CustomShape 90"/>
          <p:cNvSpPr/>
          <p:nvPr/>
        </p:nvSpPr>
        <p:spPr>
          <a:xfrm>
            <a:off x="4133880" y="2436840"/>
            <a:ext cx="75600" cy="73800"/>
          </a:xfrm>
          <a:prstGeom prst="ellipse">
            <a:avLst/>
          </a:prstGeom>
          <a:solidFill>
            <a:srgbClr val="000000"/>
          </a:solidFill>
          <a:ln w="9360">
            <a:noFill/>
          </a:ln>
        </p:spPr>
        <p:style>
          <a:lnRef idx="0"/>
          <a:fillRef idx="0"/>
          <a:effectRef idx="0"/>
          <a:fontRef idx="minor"/>
        </p:style>
      </p:sp>
      <p:sp>
        <p:nvSpPr>
          <p:cNvPr id="350" name="CustomShape 91"/>
          <p:cNvSpPr/>
          <p:nvPr/>
        </p:nvSpPr>
        <p:spPr>
          <a:xfrm>
            <a:off x="4603680" y="2805120"/>
            <a:ext cx="77040" cy="72360"/>
          </a:xfrm>
          <a:prstGeom prst="ellipse">
            <a:avLst/>
          </a:prstGeom>
          <a:solidFill>
            <a:srgbClr val="000000"/>
          </a:solidFill>
          <a:ln w="9360">
            <a:noFill/>
          </a:ln>
        </p:spPr>
        <p:style>
          <a:lnRef idx="0"/>
          <a:fillRef idx="0"/>
          <a:effectRef idx="0"/>
          <a:fontRef idx="minor"/>
        </p:style>
      </p:sp>
      <p:sp>
        <p:nvSpPr>
          <p:cNvPr id="351" name="CustomShape 92"/>
          <p:cNvSpPr/>
          <p:nvPr/>
        </p:nvSpPr>
        <p:spPr>
          <a:xfrm>
            <a:off x="5108400" y="3094200"/>
            <a:ext cx="78480" cy="72360"/>
          </a:xfrm>
          <a:prstGeom prst="ellipse">
            <a:avLst/>
          </a:prstGeom>
          <a:solidFill>
            <a:srgbClr val="000000"/>
          </a:solidFill>
          <a:ln w="9360">
            <a:noFill/>
          </a:ln>
        </p:spPr>
        <p:style>
          <a:lnRef idx="0"/>
          <a:fillRef idx="0"/>
          <a:effectRef idx="0"/>
          <a:fontRef idx="minor"/>
        </p:style>
      </p:sp>
      <p:sp>
        <p:nvSpPr>
          <p:cNvPr id="352" name="CustomShape 93"/>
          <p:cNvSpPr/>
          <p:nvPr/>
        </p:nvSpPr>
        <p:spPr>
          <a:xfrm>
            <a:off x="3145320" y="133524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25</a:t>
            </a:r>
            <a:endParaRPr lang="en-US" sz="1800" spc="-1" strike="noStrike">
              <a:solidFill>
                <a:srgbClr val="000000"/>
              </a:solidFill>
              <a:uFill>
                <a:solidFill>
                  <a:srgbClr val="ffffff"/>
                </a:solidFill>
              </a:uFill>
              <a:latin typeface="Arial"/>
            </a:endParaRPr>
          </a:p>
        </p:txBody>
      </p:sp>
      <p:sp>
        <p:nvSpPr>
          <p:cNvPr id="353" name="CustomShape 94"/>
          <p:cNvSpPr/>
          <p:nvPr/>
        </p:nvSpPr>
        <p:spPr>
          <a:xfrm>
            <a:off x="4099320" y="227160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12</a:t>
            </a:r>
            <a:endParaRPr lang="en-US" sz="1800" spc="-1" strike="noStrike">
              <a:solidFill>
                <a:srgbClr val="000000"/>
              </a:solidFill>
              <a:uFill>
                <a:solidFill>
                  <a:srgbClr val="ffffff"/>
                </a:solidFill>
              </a:uFill>
              <a:latin typeface="Arial"/>
            </a:endParaRPr>
          </a:p>
        </p:txBody>
      </p:sp>
      <p:sp>
        <p:nvSpPr>
          <p:cNvPr id="354" name="CustomShape 95"/>
          <p:cNvSpPr/>
          <p:nvPr/>
        </p:nvSpPr>
        <p:spPr>
          <a:xfrm>
            <a:off x="4608000" y="264312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7</a:t>
            </a:r>
            <a:endParaRPr lang="en-US" sz="1800" spc="-1" strike="noStrike">
              <a:solidFill>
                <a:srgbClr val="000000"/>
              </a:solidFill>
              <a:uFill>
                <a:solidFill>
                  <a:srgbClr val="ffffff"/>
                </a:solidFill>
              </a:uFill>
              <a:latin typeface="Arial"/>
            </a:endParaRPr>
          </a:p>
        </p:txBody>
      </p:sp>
      <p:sp>
        <p:nvSpPr>
          <p:cNvPr id="355" name="CustomShape 96"/>
          <p:cNvSpPr/>
          <p:nvPr/>
        </p:nvSpPr>
        <p:spPr>
          <a:xfrm>
            <a:off x="5119200" y="293544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356" name="CustomShape 97"/>
          <p:cNvSpPr/>
          <p:nvPr/>
        </p:nvSpPr>
        <p:spPr>
          <a:xfrm>
            <a:off x="5590800" y="3090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357" name="CustomShape 98"/>
          <p:cNvSpPr/>
          <p:nvPr/>
        </p:nvSpPr>
        <p:spPr>
          <a:xfrm>
            <a:off x="3618360" y="183348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18</a:t>
            </a:r>
            <a:endParaRPr lang="en-US" sz="1800" spc="-1" strike="noStrike">
              <a:solidFill>
                <a:srgbClr val="000000"/>
              </a:solidFill>
              <a:uFill>
                <a:solidFill>
                  <a:srgbClr val="ffffff"/>
                </a:solidFill>
              </a:uFill>
              <a:latin typeface="Arial"/>
            </a:endParaRPr>
          </a:p>
        </p:txBody>
      </p:sp>
      <p:sp>
        <p:nvSpPr>
          <p:cNvPr id="358" name="Line 99"/>
          <p:cNvSpPr/>
          <p:nvPr/>
        </p:nvSpPr>
        <p:spPr>
          <a:xfrm flipH="1">
            <a:off x="5337000" y="2949480"/>
            <a:ext cx="54000" cy="239760"/>
          </a:xfrm>
          <a:prstGeom prst="line">
            <a:avLst/>
          </a:prstGeom>
          <a:ln w="7920">
            <a:solidFill>
              <a:srgbClr val="000000"/>
            </a:solidFill>
            <a:miter/>
          </a:ln>
        </p:spPr>
        <p:style>
          <a:lnRef idx="0"/>
          <a:fillRef idx="0"/>
          <a:effectRef idx="0"/>
          <a:fontRef idx="minor"/>
        </p:style>
      </p:sp>
      <p:sp>
        <p:nvSpPr>
          <p:cNvPr id="359" name="Line 100"/>
          <p:cNvSpPr/>
          <p:nvPr/>
        </p:nvSpPr>
        <p:spPr>
          <a:xfrm>
            <a:off x="5646600" y="3281040"/>
            <a:ext cx="127080" cy="30240"/>
          </a:xfrm>
          <a:prstGeom prst="line">
            <a:avLst/>
          </a:prstGeom>
          <a:ln w="30240">
            <a:solidFill>
              <a:srgbClr val="4b8fcc"/>
            </a:solidFill>
            <a:miter/>
          </a:ln>
        </p:spPr>
        <p:style>
          <a:lnRef idx="0"/>
          <a:fillRef idx="0"/>
          <a:effectRef idx="0"/>
          <a:fontRef idx="minor"/>
        </p:style>
      </p:sp>
      <p:sp>
        <p:nvSpPr>
          <p:cNvPr id="360" name="CustomShape 101"/>
          <p:cNvSpPr/>
          <p:nvPr/>
        </p:nvSpPr>
        <p:spPr>
          <a:xfrm>
            <a:off x="5595840" y="3240000"/>
            <a:ext cx="75600" cy="75600"/>
          </a:xfrm>
          <a:prstGeom prst="ellipse">
            <a:avLst/>
          </a:prstGeom>
          <a:solidFill>
            <a:srgbClr val="000000"/>
          </a:solidFill>
          <a:ln w="9360">
            <a:noFill/>
          </a:ln>
        </p:spPr>
        <p:style>
          <a:lnRef idx="0"/>
          <a:fillRef idx="0"/>
          <a:effectRef idx="0"/>
          <a:fontRef idx="minor"/>
        </p:style>
      </p:sp>
      <p:sp>
        <p:nvSpPr>
          <p:cNvPr id="361" name="CustomShape 102"/>
          <p:cNvSpPr/>
          <p:nvPr/>
        </p:nvSpPr>
        <p:spPr>
          <a:xfrm>
            <a:off x="4343400" y="3581280"/>
            <a:ext cx="3504600" cy="42552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Quantity of street cleansings (per month)</a:t>
            </a:r>
            <a:endParaRPr lang="en-US" sz="1800" spc="-1" strike="noStrike">
              <a:solidFill>
                <a:srgbClr val="000000"/>
              </a:solidFill>
              <a:uFill>
                <a:solidFill>
                  <a:srgbClr val="ffffff"/>
                </a:solidFill>
              </a:uFill>
              <a:latin typeface="Arial"/>
            </a:endParaRPr>
          </a:p>
        </p:txBody>
      </p:sp>
      <p:sp>
        <p:nvSpPr>
          <p:cNvPr id="362" name="CustomShape 103"/>
          <p:cNvSpPr/>
          <p:nvPr/>
        </p:nvSpPr>
        <p:spPr>
          <a:xfrm>
            <a:off x="899640" y="58680"/>
            <a:ext cx="7972200" cy="577440"/>
          </a:xfrm>
          <a:prstGeom prst="rect">
            <a:avLst/>
          </a:prstGeom>
          <a:noFill/>
          <a:ln w="25560">
            <a:noFill/>
          </a:ln>
        </p:spPr>
        <p:style>
          <a:lnRef idx="0"/>
          <a:fillRef idx="0"/>
          <a:effectRef idx="0"/>
          <a:fontRef idx="minor"/>
        </p:style>
        <p:txBody>
          <a:bodyPr lIns="90000" rIns="90000" tIns="45000" bIns="45000"/>
          <a:p>
            <a:pPr marL="1440" indent="-720">
              <a:lnSpc>
                <a:spcPct val="100000"/>
              </a:lnSpc>
            </a:pPr>
            <a:r>
              <a:rPr b="1" lang="en-US" sz="3200" spc="-1" strike="noStrike">
                <a:solidFill>
                  <a:srgbClr val="ffffff"/>
                </a:solidFill>
                <a:uFill>
                  <a:solidFill>
                    <a:srgbClr val="ffffff"/>
                  </a:solidFill>
                </a:uFill>
                <a:latin typeface="Calibri"/>
                <a:ea typeface="MS PGothic"/>
              </a:rPr>
              <a:t>A Public Good</a:t>
            </a:r>
            <a:endParaRPr lang="en-US" sz="1800" spc="-1" strike="noStrike">
              <a:solidFill>
                <a:srgbClr val="000000"/>
              </a:solidFill>
              <a:uFill>
                <a:solidFill>
                  <a:srgbClr val="ffffff"/>
                </a:solidFill>
              </a:uFill>
              <a:latin typeface="Arial"/>
            </a:endParaRPr>
          </a:p>
        </p:txBody>
      </p:sp>
    </p:spTree>
  </p:cSld>
  <p:timing>
    <p:tnLst>
      <p:par>
        <p:cTn id="193" dur="indefinite" restart="never" nodeType="tmRoot">
          <p:childTnLst>
            <p:seq>
              <p:cTn id="194"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3" name="CustomShape 1"/>
          <p:cNvSpPr/>
          <p:nvPr/>
        </p:nvSpPr>
        <p:spPr>
          <a:xfrm>
            <a:off x="3336840" y="5381280"/>
            <a:ext cx="2133000" cy="456480"/>
          </a:xfrm>
          <a:custGeom>
            <a:avLst/>
            <a:gdLst/>
            <a:ahLst/>
            <a:rect l="l" t="t" r="r" b="b"/>
            <a:pathLst>
              <a:path w="392" h="209">
                <a:moveTo>
                  <a:pt x="392" y="193"/>
                </a:moveTo>
                <a:cubicBezTo>
                  <a:pt x="392" y="202"/>
                  <a:pt x="385" y="209"/>
                  <a:pt x="376" y="209"/>
                </a:cubicBezTo>
                <a:cubicBezTo>
                  <a:pt x="16" y="209"/>
                  <a:pt x="16" y="209"/>
                  <a:pt x="16" y="209"/>
                </a:cubicBezTo>
                <a:cubicBezTo>
                  <a:pt x="8" y="209"/>
                  <a:pt x="0" y="202"/>
                  <a:pt x="0" y="193"/>
                </a:cubicBezTo>
                <a:cubicBezTo>
                  <a:pt x="0" y="16"/>
                  <a:pt x="0" y="16"/>
                  <a:pt x="0" y="16"/>
                </a:cubicBezTo>
                <a:cubicBezTo>
                  <a:pt x="0" y="7"/>
                  <a:pt x="8" y="0"/>
                  <a:pt x="16" y="0"/>
                </a:cubicBezTo>
                <a:cubicBezTo>
                  <a:pt x="376" y="0"/>
                  <a:pt x="376" y="0"/>
                  <a:pt x="376" y="0"/>
                </a:cubicBezTo>
                <a:cubicBezTo>
                  <a:pt x="385" y="0"/>
                  <a:pt x="392" y="7"/>
                  <a:pt x="392" y="16"/>
                </a:cubicBezTo>
                <a:lnTo>
                  <a:pt x="392" y="193"/>
                </a:lnTo>
                <a:close/>
              </a:path>
            </a:pathLst>
          </a:custGeom>
          <a:solidFill>
            <a:srgbClr val="d6e2e0"/>
          </a:solidFill>
          <a:ln w="9360">
            <a:noFill/>
          </a:ln>
        </p:spPr>
        <p:style>
          <a:lnRef idx="0"/>
          <a:fillRef idx="0"/>
          <a:effectRef idx="0"/>
          <a:fontRef idx="minor"/>
        </p:style>
      </p:sp>
      <p:sp>
        <p:nvSpPr>
          <p:cNvPr id="364" name="Line 2"/>
          <p:cNvSpPr/>
          <p:nvPr/>
        </p:nvSpPr>
        <p:spPr>
          <a:xfrm flipH="1">
            <a:off x="5410080" y="5032080"/>
            <a:ext cx="369720" cy="349200"/>
          </a:xfrm>
          <a:prstGeom prst="line">
            <a:avLst/>
          </a:prstGeom>
          <a:ln w="7920">
            <a:solidFill>
              <a:srgbClr val="000000"/>
            </a:solidFill>
            <a:miter/>
          </a:ln>
        </p:spPr>
        <p:style>
          <a:lnRef idx="0"/>
          <a:fillRef idx="0"/>
          <a:effectRef idx="0"/>
          <a:fontRef idx="minor"/>
        </p:style>
      </p:sp>
      <p:sp>
        <p:nvSpPr>
          <p:cNvPr id="365" name="CustomShape 3"/>
          <p:cNvSpPr/>
          <p:nvPr/>
        </p:nvSpPr>
        <p:spPr>
          <a:xfrm>
            <a:off x="5346720" y="4287960"/>
            <a:ext cx="486720" cy="383400"/>
          </a:xfrm>
          <a:prstGeom prst="rect">
            <a:avLst/>
          </a:prstGeom>
          <a:solidFill>
            <a:srgbClr val="c7c4e2"/>
          </a:solidFill>
          <a:ln w="9360">
            <a:noFill/>
          </a:ln>
        </p:spPr>
        <p:style>
          <a:lnRef idx="0"/>
          <a:fillRef idx="0"/>
          <a:effectRef idx="0"/>
          <a:fontRef idx="minor"/>
        </p:style>
      </p:sp>
      <p:sp>
        <p:nvSpPr>
          <p:cNvPr id="366" name="CustomShape 4"/>
          <p:cNvSpPr/>
          <p:nvPr/>
        </p:nvSpPr>
        <p:spPr>
          <a:xfrm>
            <a:off x="5346720" y="4287960"/>
            <a:ext cx="486720" cy="383400"/>
          </a:xfrm>
          <a:custGeom>
            <a:avLst/>
            <a:gdLst/>
            <a:ahLst/>
            <a:rect l="l" t="t" r="r" b="b"/>
            <a:pathLst>
              <a:path w="299" h="245">
                <a:moveTo>
                  <a:pt x="0" y="0"/>
                </a:moveTo>
                <a:lnTo>
                  <a:pt x="299" y="0"/>
                </a:lnTo>
                <a:lnTo>
                  <a:pt x="299" y="245"/>
                </a:lnTo>
              </a:path>
            </a:pathLst>
          </a:custGeom>
          <a:noFill/>
          <a:ln w="22320">
            <a:solidFill>
              <a:srgbClr val="bcbec0"/>
            </a:solidFill>
            <a:miter/>
          </a:ln>
        </p:spPr>
        <p:style>
          <a:lnRef idx="0"/>
          <a:fillRef idx="0"/>
          <a:effectRef idx="0"/>
          <a:fontRef idx="minor"/>
        </p:style>
      </p:sp>
      <p:sp>
        <p:nvSpPr>
          <p:cNvPr id="367" name="CustomShape 5"/>
          <p:cNvSpPr/>
          <p:nvPr/>
        </p:nvSpPr>
        <p:spPr>
          <a:xfrm>
            <a:off x="4859280" y="3686040"/>
            <a:ext cx="486720" cy="696240"/>
          </a:xfrm>
          <a:prstGeom prst="rect">
            <a:avLst/>
          </a:prstGeom>
          <a:solidFill>
            <a:srgbClr val="c7c4e2"/>
          </a:solidFill>
          <a:ln w="9360">
            <a:noFill/>
          </a:ln>
        </p:spPr>
        <p:style>
          <a:lnRef idx="0"/>
          <a:fillRef idx="0"/>
          <a:effectRef idx="0"/>
          <a:fontRef idx="minor"/>
        </p:style>
      </p:sp>
      <p:sp>
        <p:nvSpPr>
          <p:cNvPr id="368" name="CustomShape 6"/>
          <p:cNvSpPr/>
          <p:nvPr/>
        </p:nvSpPr>
        <p:spPr>
          <a:xfrm>
            <a:off x="4859280" y="3679920"/>
            <a:ext cx="486720" cy="710640"/>
          </a:xfrm>
          <a:custGeom>
            <a:avLst/>
            <a:gdLst/>
            <a:ahLst/>
            <a:rect l="l" t="t" r="r" b="b"/>
            <a:pathLst>
              <a:path w="298" h="454">
                <a:moveTo>
                  <a:pt x="0" y="0"/>
                </a:moveTo>
                <a:lnTo>
                  <a:pt x="298" y="0"/>
                </a:lnTo>
                <a:lnTo>
                  <a:pt x="298" y="454"/>
                </a:lnTo>
              </a:path>
            </a:pathLst>
          </a:custGeom>
          <a:noFill/>
          <a:ln w="22320">
            <a:solidFill>
              <a:srgbClr val="bcbec0"/>
            </a:solidFill>
            <a:miter/>
          </a:ln>
        </p:spPr>
        <p:style>
          <a:lnRef idx="0"/>
          <a:fillRef idx="0"/>
          <a:effectRef idx="0"/>
          <a:fontRef idx="minor"/>
        </p:style>
      </p:sp>
      <p:sp>
        <p:nvSpPr>
          <p:cNvPr id="369" name="CustomShape 7"/>
          <p:cNvSpPr/>
          <p:nvPr/>
        </p:nvSpPr>
        <p:spPr>
          <a:xfrm>
            <a:off x="4368960" y="3052800"/>
            <a:ext cx="489960" cy="940680"/>
          </a:xfrm>
          <a:prstGeom prst="rect">
            <a:avLst/>
          </a:prstGeom>
          <a:solidFill>
            <a:srgbClr val="c7c4e2"/>
          </a:solidFill>
          <a:ln w="9360">
            <a:noFill/>
          </a:ln>
        </p:spPr>
        <p:style>
          <a:lnRef idx="0"/>
          <a:fillRef idx="0"/>
          <a:effectRef idx="0"/>
          <a:fontRef idx="minor"/>
        </p:style>
      </p:sp>
      <p:sp>
        <p:nvSpPr>
          <p:cNvPr id="370" name="CustomShape 8"/>
          <p:cNvSpPr/>
          <p:nvPr/>
        </p:nvSpPr>
        <p:spPr>
          <a:xfrm>
            <a:off x="4368960" y="3052800"/>
            <a:ext cx="489960" cy="963000"/>
          </a:xfrm>
          <a:custGeom>
            <a:avLst/>
            <a:gdLst/>
            <a:ahLst/>
            <a:rect l="l" t="t" r="r" b="b"/>
            <a:pathLst>
              <a:path w="300" h="614">
                <a:moveTo>
                  <a:pt x="0" y="0"/>
                </a:moveTo>
                <a:lnTo>
                  <a:pt x="300" y="0"/>
                </a:lnTo>
                <a:lnTo>
                  <a:pt x="300" y="614"/>
                </a:lnTo>
              </a:path>
            </a:pathLst>
          </a:custGeom>
          <a:noFill/>
          <a:ln w="22320">
            <a:solidFill>
              <a:srgbClr val="bcbec0"/>
            </a:solidFill>
            <a:miter/>
          </a:ln>
        </p:spPr>
        <p:style>
          <a:lnRef idx="0"/>
          <a:fillRef idx="0"/>
          <a:effectRef idx="0"/>
          <a:fontRef idx="minor"/>
        </p:style>
      </p:sp>
      <p:sp>
        <p:nvSpPr>
          <p:cNvPr id="371" name="CustomShape 9"/>
          <p:cNvSpPr/>
          <p:nvPr/>
        </p:nvSpPr>
        <p:spPr>
          <a:xfrm>
            <a:off x="3882960" y="2313000"/>
            <a:ext cx="484920" cy="1213560"/>
          </a:xfrm>
          <a:prstGeom prst="rect">
            <a:avLst/>
          </a:prstGeom>
          <a:solidFill>
            <a:srgbClr val="c7c4e2"/>
          </a:solidFill>
          <a:ln w="9360">
            <a:noFill/>
          </a:ln>
        </p:spPr>
        <p:style>
          <a:lnRef idx="0"/>
          <a:fillRef idx="0"/>
          <a:effectRef idx="0"/>
          <a:fontRef idx="minor"/>
        </p:style>
      </p:sp>
      <p:sp>
        <p:nvSpPr>
          <p:cNvPr id="372" name="CustomShape 10"/>
          <p:cNvSpPr/>
          <p:nvPr/>
        </p:nvSpPr>
        <p:spPr>
          <a:xfrm>
            <a:off x="3882960" y="2313000"/>
            <a:ext cx="484920" cy="1264680"/>
          </a:xfrm>
          <a:custGeom>
            <a:avLst/>
            <a:gdLst/>
            <a:ahLst/>
            <a:rect l="l" t="t" r="r" b="b"/>
            <a:pathLst>
              <a:path w="298" h="807">
                <a:moveTo>
                  <a:pt x="0" y="0"/>
                </a:moveTo>
                <a:lnTo>
                  <a:pt x="298" y="0"/>
                </a:lnTo>
                <a:lnTo>
                  <a:pt x="298" y="807"/>
                </a:lnTo>
              </a:path>
            </a:pathLst>
          </a:custGeom>
          <a:noFill/>
          <a:ln w="22320">
            <a:solidFill>
              <a:srgbClr val="bcbec0"/>
            </a:solidFill>
            <a:miter/>
          </a:ln>
        </p:spPr>
        <p:style>
          <a:lnRef idx="0"/>
          <a:fillRef idx="0"/>
          <a:effectRef idx="0"/>
          <a:fontRef idx="minor"/>
        </p:style>
      </p:sp>
      <p:sp>
        <p:nvSpPr>
          <p:cNvPr id="373" name="CustomShape 11"/>
          <p:cNvSpPr/>
          <p:nvPr/>
        </p:nvSpPr>
        <p:spPr>
          <a:xfrm>
            <a:off x="4040640" y="291924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17</a:t>
            </a:r>
            <a:endParaRPr lang="en-US" sz="1800" spc="-1" strike="noStrike">
              <a:solidFill>
                <a:srgbClr val="000000"/>
              </a:solidFill>
              <a:uFill>
                <a:solidFill>
                  <a:srgbClr val="ffffff"/>
                </a:solidFill>
              </a:uFill>
              <a:latin typeface="Arial"/>
            </a:endParaRPr>
          </a:p>
        </p:txBody>
      </p:sp>
      <p:sp>
        <p:nvSpPr>
          <p:cNvPr id="374" name="CustomShape 12"/>
          <p:cNvSpPr/>
          <p:nvPr/>
        </p:nvSpPr>
        <p:spPr>
          <a:xfrm>
            <a:off x="3392640" y="1455840"/>
            <a:ext cx="489960" cy="1615320"/>
          </a:xfrm>
          <a:prstGeom prst="rect">
            <a:avLst/>
          </a:prstGeom>
          <a:solidFill>
            <a:srgbClr val="c7c4e2"/>
          </a:solidFill>
          <a:ln w="9360">
            <a:noFill/>
          </a:ln>
        </p:spPr>
        <p:style>
          <a:lnRef idx="0"/>
          <a:fillRef idx="0"/>
          <a:effectRef idx="0"/>
          <a:fontRef idx="minor"/>
        </p:style>
      </p:sp>
      <p:sp>
        <p:nvSpPr>
          <p:cNvPr id="375" name="CustomShape 13"/>
          <p:cNvSpPr/>
          <p:nvPr/>
        </p:nvSpPr>
        <p:spPr>
          <a:xfrm>
            <a:off x="3392640" y="1455840"/>
            <a:ext cx="489960" cy="1615320"/>
          </a:xfrm>
          <a:custGeom>
            <a:avLst/>
            <a:gdLst/>
            <a:ahLst/>
            <a:rect l="l" t="t" r="r" b="b"/>
            <a:pathLst>
              <a:path w="300" h="1030">
                <a:moveTo>
                  <a:pt x="0" y="0"/>
                </a:moveTo>
                <a:lnTo>
                  <a:pt x="300" y="0"/>
                </a:lnTo>
                <a:lnTo>
                  <a:pt x="300" y="1030"/>
                </a:lnTo>
              </a:path>
            </a:pathLst>
          </a:custGeom>
          <a:noFill/>
          <a:ln w="22320">
            <a:solidFill>
              <a:srgbClr val="bcbec0"/>
            </a:solidFill>
            <a:miter/>
          </a:ln>
        </p:spPr>
        <p:style>
          <a:lnRef idx="0"/>
          <a:fillRef idx="0"/>
          <a:effectRef idx="0"/>
          <a:fontRef idx="minor"/>
        </p:style>
      </p:sp>
      <p:sp>
        <p:nvSpPr>
          <p:cNvPr id="376" name="CustomShape 14"/>
          <p:cNvSpPr/>
          <p:nvPr/>
        </p:nvSpPr>
        <p:spPr>
          <a:xfrm>
            <a:off x="5256360" y="1727280"/>
            <a:ext cx="3201120" cy="981000"/>
          </a:xfrm>
          <a:custGeom>
            <a:avLst/>
            <a:gdLst/>
            <a:ahLst/>
            <a:rect l="l" t="t" r="r" b="b"/>
            <a:pathLst>
              <a:path w="392" h="209">
                <a:moveTo>
                  <a:pt x="392" y="193"/>
                </a:moveTo>
                <a:cubicBezTo>
                  <a:pt x="392" y="202"/>
                  <a:pt x="385" y="209"/>
                  <a:pt x="376" y="209"/>
                </a:cubicBezTo>
                <a:cubicBezTo>
                  <a:pt x="16" y="209"/>
                  <a:pt x="16" y="209"/>
                  <a:pt x="16" y="209"/>
                </a:cubicBezTo>
                <a:cubicBezTo>
                  <a:pt x="8" y="209"/>
                  <a:pt x="0" y="202"/>
                  <a:pt x="0" y="193"/>
                </a:cubicBezTo>
                <a:cubicBezTo>
                  <a:pt x="0" y="16"/>
                  <a:pt x="0" y="16"/>
                  <a:pt x="0" y="16"/>
                </a:cubicBezTo>
                <a:cubicBezTo>
                  <a:pt x="0" y="7"/>
                  <a:pt x="8" y="0"/>
                  <a:pt x="16" y="0"/>
                </a:cubicBezTo>
                <a:cubicBezTo>
                  <a:pt x="376" y="0"/>
                  <a:pt x="376" y="0"/>
                  <a:pt x="376" y="0"/>
                </a:cubicBezTo>
                <a:cubicBezTo>
                  <a:pt x="385" y="0"/>
                  <a:pt x="392" y="7"/>
                  <a:pt x="392" y="16"/>
                </a:cubicBezTo>
                <a:lnTo>
                  <a:pt x="392" y="193"/>
                </a:lnTo>
                <a:close/>
              </a:path>
            </a:pathLst>
          </a:custGeom>
          <a:solidFill>
            <a:srgbClr val="d6e2e0"/>
          </a:solidFill>
          <a:ln w="9360">
            <a:noFill/>
          </a:ln>
        </p:spPr>
        <p:style>
          <a:lnRef idx="0"/>
          <a:fillRef idx="0"/>
          <a:effectRef idx="0"/>
          <a:fontRef idx="minor"/>
        </p:style>
      </p:sp>
      <p:sp>
        <p:nvSpPr>
          <p:cNvPr id="377" name="CustomShape 15"/>
          <p:cNvSpPr/>
          <p:nvPr/>
        </p:nvSpPr>
        <p:spPr>
          <a:xfrm>
            <a:off x="5398920" y="1784160"/>
            <a:ext cx="2894760" cy="85248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The marginal social benefit curve of a public good equals the vertical sum of individual marginal benefit curves</a:t>
            </a:r>
            <a:endParaRPr lang="en-US" sz="1800" spc="-1" strike="noStrike">
              <a:solidFill>
                <a:srgbClr val="000000"/>
              </a:solidFill>
              <a:uFill>
                <a:solidFill>
                  <a:srgbClr val="ffffff"/>
                </a:solidFill>
              </a:uFill>
              <a:latin typeface="Arial"/>
            </a:endParaRPr>
          </a:p>
        </p:txBody>
      </p:sp>
      <p:sp>
        <p:nvSpPr>
          <p:cNvPr id="378" name="CustomShape 16"/>
          <p:cNvSpPr/>
          <p:nvPr/>
        </p:nvSpPr>
        <p:spPr>
          <a:xfrm>
            <a:off x="3451320" y="5423760"/>
            <a:ext cx="1904400" cy="42624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Efficient quantity of the public good</a:t>
            </a:r>
            <a:endParaRPr lang="en-US" sz="1800" spc="-1" strike="noStrike">
              <a:solidFill>
                <a:srgbClr val="000000"/>
              </a:solidFill>
              <a:uFill>
                <a:solidFill>
                  <a:srgbClr val="ffffff"/>
                </a:solidFill>
              </a:uFill>
              <a:latin typeface="Arial"/>
            </a:endParaRPr>
          </a:p>
        </p:txBody>
      </p:sp>
      <p:sp>
        <p:nvSpPr>
          <p:cNvPr id="379" name="CustomShape 17"/>
          <p:cNvSpPr/>
          <p:nvPr/>
        </p:nvSpPr>
        <p:spPr>
          <a:xfrm>
            <a:off x="3559680" y="125892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46</a:t>
            </a:r>
            <a:endParaRPr lang="en-US" sz="1800" spc="-1" strike="noStrike">
              <a:solidFill>
                <a:srgbClr val="000000"/>
              </a:solidFill>
              <a:uFill>
                <a:solidFill>
                  <a:srgbClr val="ffffff"/>
                </a:solidFill>
              </a:uFill>
              <a:latin typeface="Arial"/>
            </a:endParaRPr>
          </a:p>
        </p:txBody>
      </p:sp>
      <p:sp>
        <p:nvSpPr>
          <p:cNvPr id="380" name="CustomShape 18"/>
          <p:cNvSpPr/>
          <p:nvPr/>
        </p:nvSpPr>
        <p:spPr>
          <a:xfrm>
            <a:off x="4089960" y="210672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35</a:t>
            </a:r>
            <a:endParaRPr lang="en-US" sz="1800" spc="-1" strike="noStrike">
              <a:solidFill>
                <a:srgbClr val="000000"/>
              </a:solidFill>
              <a:uFill>
                <a:solidFill>
                  <a:srgbClr val="ffffff"/>
                </a:solidFill>
              </a:uFill>
              <a:latin typeface="Arial"/>
            </a:endParaRPr>
          </a:p>
        </p:txBody>
      </p:sp>
      <p:sp>
        <p:nvSpPr>
          <p:cNvPr id="381" name="CustomShape 19"/>
          <p:cNvSpPr/>
          <p:nvPr/>
        </p:nvSpPr>
        <p:spPr>
          <a:xfrm>
            <a:off x="4580280" y="285120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25</a:t>
            </a:r>
            <a:endParaRPr lang="en-US" sz="1800" spc="-1" strike="noStrike">
              <a:solidFill>
                <a:srgbClr val="000000"/>
              </a:solidFill>
              <a:uFill>
                <a:solidFill>
                  <a:srgbClr val="ffffff"/>
                </a:solidFill>
              </a:uFill>
              <a:latin typeface="Arial"/>
            </a:endParaRPr>
          </a:p>
        </p:txBody>
      </p:sp>
      <p:sp>
        <p:nvSpPr>
          <p:cNvPr id="382" name="CustomShape 20"/>
          <p:cNvSpPr/>
          <p:nvPr/>
        </p:nvSpPr>
        <p:spPr>
          <a:xfrm>
            <a:off x="5051880" y="347832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16</a:t>
            </a:r>
            <a:endParaRPr lang="en-US" sz="1800" spc="-1" strike="noStrike">
              <a:solidFill>
                <a:srgbClr val="000000"/>
              </a:solidFill>
              <a:uFill>
                <a:solidFill>
                  <a:srgbClr val="ffffff"/>
                </a:solidFill>
              </a:uFill>
              <a:latin typeface="Arial"/>
            </a:endParaRPr>
          </a:p>
        </p:txBody>
      </p:sp>
      <p:sp>
        <p:nvSpPr>
          <p:cNvPr id="383" name="CustomShape 21"/>
          <p:cNvSpPr/>
          <p:nvPr/>
        </p:nvSpPr>
        <p:spPr>
          <a:xfrm>
            <a:off x="5584320" y="40863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8</a:t>
            </a:r>
            <a:endParaRPr lang="en-US" sz="1800" spc="-1" strike="noStrike">
              <a:solidFill>
                <a:srgbClr val="000000"/>
              </a:solidFill>
              <a:uFill>
                <a:solidFill>
                  <a:srgbClr val="ffffff"/>
                </a:solidFill>
              </a:uFill>
              <a:latin typeface="Arial"/>
            </a:endParaRPr>
          </a:p>
        </p:txBody>
      </p:sp>
      <p:sp>
        <p:nvSpPr>
          <p:cNvPr id="384" name="CustomShape 22"/>
          <p:cNvSpPr/>
          <p:nvPr/>
        </p:nvSpPr>
        <p:spPr>
          <a:xfrm>
            <a:off x="3392640" y="3052800"/>
            <a:ext cx="489960" cy="1839240"/>
          </a:xfrm>
          <a:prstGeom prst="rect">
            <a:avLst/>
          </a:prstGeom>
          <a:solidFill>
            <a:srgbClr val="ffe5b9"/>
          </a:solidFill>
          <a:ln w="9360">
            <a:noFill/>
          </a:ln>
        </p:spPr>
        <p:style>
          <a:lnRef idx="0"/>
          <a:fillRef idx="0"/>
          <a:effectRef idx="0"/>
          <a:fontRef idx="minor"/>
        </p:style>
      </p:sp>
      <p:sp>
        <p:nvSpPr>
          <p:cNvPr id="385" name="CustomShape 23"/>
          <p:cNvSpPr/>
          <p:nvPr/>
        </p:nvSpPr>
        <p:spPr>
          <a:xfrm>
            <a:off x="3882960" y="3532320"/>
            <a:ext cx="484920" cy="1359720"/>
          </a:xfrm>
          <a:prstGeom prst="rect">
            <a:avLst/>
          </a:prstGeom>
          <a:solidFill>
            <a:srgbClr val="ffe5b9"/>
          </a:solidFill>
          <a:ln w="9360">
            <a:noFill/>
          </a:ln>
        </p:spPr>
        <p:style>
          <a:lnRef idx="0"/>
          <a:fillRef idx="0"/>
          <a:effectRef idx="0"/>
          <a:fontRef idx="minor"/>
        </p:style>
      </p:sp>
      <p:sp>
        <p:nvSpPr>
          <p:cNvPr id="386" name="CustomShape 24"/>
          <p:cNvSpPr/>
          <p:nvPr/>
        </p:nvSpPr>
        <p:spPr>
          <a:xfrm>
            <a:off x="4368960" y="3990960"/>
            <a:ext cx="489960" cy="901080"/>
          </a:xfrm>
          <a:prstGeom prst="rect">
            <a:avLst/>
          </a:prstGeom>
          <a:solidFill>
            <a:srgbClr val="ffe5b9"/>
          </a:solidFill>
          <a:ln w="9360">
            <a:noFill/>
          </a:ln>
        </p:spPr>
        <p:style>
          <a:lnRef idx="0"/>
          <a:fillRef idx="0"/>
          <a:effectRef idx="0"/>
          <a:fontRef idx="minor"/>
        </p:style>
      </p:sp>
      <p:sp>
        <p:nvSpPr>
          <p:cNvPr id="387" name="CustomShape 25"/>
          <p:cNvSpPr/>
          <p:nvPr/>
        </p:nvSpPr>
        <p:spPr>
          <a:xfrm>
            <a:off x="5834160" y="4821120"/>
            <a:ext cx="486720" cy="70560"/>
          </a:xfrm>
          <a:prstGeom prst="rect">
            <a:avLst/>
          </a:prstGeom>
          <a:solidFill>
            <a:srgbClr val="ffe5b9"/>
          </a:solidFill>
          <a:ln w="9360">
            <a:noFill/>
          </a:ln>
        </p:spPr>
        <p:style>
          <a:lnRef idx="0"/>
          <a:fillRef idx="0"/>
          <a:effectRef idx="0"/>
          <a:fontRef idx="minor"/>
        </p:style>
      </p:sp>
      <p:sp>
        <p:nvSpPr>
          <p:cNvPr id="388" name="CustomShape 26"/>
          <p:cNvSpPr/>
          <p:nvPr/>
        </p:nvSpPr>
        <p:spPr>
          <a:xfrm>
            <a:off x="4859280" y="4383000"/>
            <a:ext cx="486720" cy="509040"/>
          </a:xfrm>
          <a:prstGeom prst="rect">
            <a:avLst/>
          </a:prstGeom>
          <a:solidFill>
            <a:srgbClr val="ffe5b9"/>
          </a:solidFill>
          <a:ln w="9360">
            <a:noFill/>
          </a:ln>
        </p:spPr>
        <p:style>
          <a:lnRef idx="0"/>
          <a:fillRef idx="0"/>
          <a:effectRef idx="0"/>
          <a:fontRef idx="minor"/>
        </p:style>
      </p:sp>
      <p:sp>
        <p:nvSpPr>
          <p:cNvPr id="389" name="CustomShape 27"/>
          <p:cNvSpPr/>
          <p:nvPr/>
        </p:nvSpPr>
        <p:spPr>
          <a:xfrm>
            <a:off x="5346720" y="4672080"/>
            <a:ext cx="486720" cy="219960"/>
          </a:xfrm>
          <a:prstGeom prst="rect">
            <a:avLst/>
          </a:prstGeom>
          <a:solidFill>
            <a:srgbClr val="ffe5b9"/>
          </a:solidFill>
          <a:ln w="9360">
            <a:noFill/>
          </a:ln>
        </p:spPr>
        <p:style>
          <a:lnRef idx="0"/>
          <a:fillRef idx="0"/>
          <a:effectRef idx="0"/>
          <a:fontRef idx="minor"/>
        </p:style>
      </p:sp>
      <p:sp>
        <p:nvSpPr>
          <p:cNvPr id="390" name="CustomShape 28"/>
          <p:cNvSpPr/>
          <p:nvPr/>
        </p:nvSpPr>
        <p:spPr>
          <a:xfrm>
            <a:off x="3392640" y="3052800"/>
            <a:ext cx="489960" cy="1839240"/>
          </a:xfrm>
          <a:custGeom>
            <a:avLst/>
            <a:gdLst/>
            <a:ahLst/>
            <a:rect l="l" t="t" r="r" b="b"/>
            <a:pathLst>
              <a:path w="300" h="1172">
                <a:moveTo>
                  <a:pt x="0" y="0"/>
                </a:moveTo>
                <a:lnTo>
                  <a:pt x="300" y="0"/>
                </a:lnTo>
                <a:lnTo>
                  <a:pt x="300" y="1172"/>
                </a:lnTo>
              </a:path>
            </a:pathLst>
          </a:custGeom>
          <a:noFill/>
          <a:ln w="22320">
            <a:solidFill>
              <a:srgbClr val="bcbec0"/>
            </a:solidFill>
            <a:miter/>
          </a:ln>
        </p:spPr>
        <p:style>
          <a:lnRef idx="0"/>
          <a:fillRef idx="0"/>
          <a:effectRef idx="0"/>
          <a:fontRef idx="minor"/>
        </p:style>
      </p:sp>
      <p:sp>
        <p:nvSpPr>
          <p:cNvPr id="391" name="CustomShape 29"/>
          <p:cNvSpPr/>
          <p:nvPr/>
        </p:nvSpPr>
        <p:spPr>
          <a:xfrm>
            <a:off x="3882960" y="3532320"/>
            <a:ext cx="484920" cy="1359720"/>
          </a:xfrm>
          <a:custGeom>
            <a:avLst/>
            <a:gdLst/>
            <a:ahLst/>
            <a:rect l="l" t="t" r="r" b="b"/>
            <a:pathLst>
              <a:path w="298" h="867">
                <a:moveTo>
                  <a:pt x="0" y="0"/>
                </a:moveTo>
                <a:lnTo>
                  <a:pt x="298" y="0"/>
                </a:lnTo>
                <a:lnTo>
                  <a:pt x="298" y="867"/>
                </a:lnTo>
              </a:path>
            </a:pathLst>
          </a:custGeom>
          <a:noFill/>
          <a:ln w="22320">
            <a:solidFill>
              <a:srgbClr val="bcbec0"/>
            </a:solidFill>
            <a:miter/>
          </a:ln>
        </p:spPr>
        <p:style>
          <a:lnRef idx="0"/>
          <a:fillRef idx="0"/>
          <a:effectRef idx="0"/>
          <a:fontRef idx="minor"/>
        </p:style>
      </p:sp>
      <p:sp>
        <p:nvSpPr>
          <p:cNvPr id="392" name="CustomShape 30"/>
          <p:cNvSpPr/>
          <p:nvPr/>
        </p:nvSpPr>
        <p:spPr>
          <a:xfrm>
            <a:off x="4368960" y="3990960"/>
            <a:ext cx="489960" cy="901080"/>
          </a:xfrm>
          <a:custGeom>
            <a:avLst/>
            <a:gdLst/>
            <a:ahLst/>
            <a:rect l="l" t="t" r="r" b="b"/>
            <a:pathLst>
              <a:path w="300" h="574">
                <a:moveTo>
                  <a:pt x="0" y="0"/>
                </a:moveTo>
                <a:lnTo>
                  <a:pt x="300" y="0"/>
                </a:lnTo>
                <a:lnTo>
                  <a:pt x="300" y="574"/>
                </a:lnTo>
              </a:path>
            </a:pathLst>
          </a:custGeom>
          <a:noFill/>
          <a:ln w="22320">
            <a:solidFill>
              <a:srgbClr val="bcbec0"/>
            </a:solidFill>
            <a:miter/>
          </a:ln>
        </p:spPr>
        <p:style>
          <a:lnRef idx="0"/>
          <a:fillRef idx="0"/>
          <a:effectRef idx="0"/>
          <a:fontRef idx="minor"/>
        </p:style>
      </p:sp>
      <p:sp>
        <p:nvSpPr>
          <p:cNvPr id="393" name="CustomShape 31"/>
          <p:cNvSpPr/>
          <p:nvPr/>
        </p:nvSpPr>
        <p:spPr>
          <a:xfrm>
            <a:off x="4859280" y="4383000"/>
            <a:ext cx="486720" cy="509040"/>
          </a:xfrm>
          <a:custGeom>
            <a:avLst/>
            <a:gdLst/>
            <a:ahLst/>
            <a:rect l="l" t="t" r="r" b="b"/>
            <a:pathLst>
              <a:path w="298" h="324">
                <a:moveTo>
                  <a:pt x="0" y="0"/>
                </a:moveTo>
                <a:lnTo>
                  <a:pt x="298" y="0"/>
                </a:lnTo>
                <a:lnTo>
                  <a:pt x="298" y="324"/>
                </a:lnTo>
              </a:path>
            </a:pathLst>
          </a:custGeom>
          <a:noFill/>
          <a:ln w="22320">
            <a:solidFill>
              <a:srgbClr val="bcbec0"/>
            </a:solidFill>
            <a:miter/>
          </a:ln>
        </p:spPr>
        <p:style>
          <a:lnRef idx="0"/>
          <a:fillRef idx="0"/>
          <a:effectRef idx="0"/>
          <a:fontRef idx="minor"/>
        </p:style>
      </p:sp>
      <p:sp>
        <p:nvSpPr>
          <p:cNvPr id="394" name="CustomShape 32"/>
          <p:cNvSpPr/>
          <p:nvPr/>
        </p:nvSpPr>
        <p:spPr>
          <a:xfrm>
            <a:off x="5346720" y="4672080"/>
            <a:ext cx="486720" cy="219960"/>
          </a:xfrm>
          <a:custGeom>
            <a:avLst/>
            <a:gdLst/>
            <a:ahLst/>
            <a:rect l="l" t="t" r="r" b="b"/>
            <a:pathLst>
              <a:path w="299" h="140">
                <a:moveTo>
                  <a:pt x="0" y="0"/>
                </a:moveTo>
                <a:lnTo>
                  <a:pt x="299" y="0"/>
                </a:lnTo>
                <a:lnTo>
                  <a:pt x="299" y="140"/>
                </a:lnTo>
              </a:path>
            </a:pathLst>
          </a:custGeom>
          <a:noFill/>
          <a:ln w="22320">
            <a:solidFill>
              <a:srgbClr val="bcbec0"/>
            </a:solidFill>
            <a:miter/>
          </a:ln>
        </p:spPr>
        <p:style>
          <a:lnRef idx="0"/>
          <a:fillRef idx="0"/>
          <a:effectRef idx="0"/>
          <a:fontRef idx="minor"/>
        </p:style>
      </p:sp>
      <p:sp>
        <p:nvSpPr>
          <p:cNvPr id="395" name="CustomShape 33"/>
          <p:cNvSpPr/>
          <p:nvPr/>
        </p:nvSpPr>
        <p:spPr>
          <a:xfrm>
            <a:off x="5834160" y="4821120"/>
            <a:ext cx="486720" cy="70560"/>
          </a:xfrm>
          <a:custGeom>
            <a:avLst/>
            <a:gdLst/>
            <a:ahLst/>
            <a:rect l="l" t="t" r="r" b="b"/>
            <a:pathLst>
              <a:path w="298" h="45">
                <a:moveTo>
                  <a:pt x="0" y="0"/>
                </a:moveTo>
                <a:lnTo>
                  <a:pt x="298" y="0"/>
                </a:lnTo>
                <a:lnTo>
                  <a:pt x="298" y="45"/>
                </a:lnTo>
              </a:path>
            </a:pathLst>
          </a:custGeom>
          <a:noFill/>
          <a:ln w="22320">
            <a:solidFill>
              <a:srgbClr val="bcbec0"/>
            </a:solidFill>
            <a:miter/>
          </a:ln>
        </p:spPr>
        <p:style>
          <a:lnRef idx="0"/>
          <a:fillRef idx="0"/>
          <a:effectRef idx="0"/>
          <a:fontRef idx="minor"/>
        </p:style>
      </p:sp>
      <p:sp>
        <p:nvSpPr>
          <p:cNvPr id="396" name="CustomShape 34"/>
          <p:cNvSpPr/>
          <p:nvPr/>
        </p:nvSpPr>
        <p:spPr>
          <a:xfrm>
            <a:off x="5641200" y="3632040"/>
            <a:ext cx="349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MSB</a:t>
            </a:r>
            <a:endParaRPr lang="en-US" sz="1800" spc="-1" strike="noStrike">
              <a:solidFill>
                <a:srgbClr val="000000"/>
              </a:solidFill>
              <a:uFill>
                <a:solidFill>
                  <a:srgbClr val="ffffff"/>
                </a:solidFill>
              </a:uFill>
              <a:latin typeface="Arial"/>
            </a:endParaRPr>
          </a:p>
        </p:txBody>
      </p:sp>
      <p:sp>
        <p:nvSpPr>
          <p:cNvPr id="397" name="CustomShape 35"/>
          <p:cNvSpPr/>
          <p:nvPr/>
        </p:nvSpPr>
        <p:spPr>
          <a:xfrm>
            <a:off x="5854680" y="4221000"/>
            <a:ext cx="581040" cy="425520"/>
          </a:xfrm>
          <a:prstGeom prst="rect">
            <a:avLst/>
          </a:prstGeom>
          <a:noFill/>
          <a:ln w="9360">
            <a:noFill/>
          </a:ln>
        </p:spPr>
        <p:style>
          <a:lnRef idx="0"/>
          <a:fillRef idx="0"/>
          <a:effectRef idx="0"/>
          <a:fontRef idx="minor"/>
        </p:style>
        <p:txBody>
          <a:bodyPr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MC</a:t>
            </a:r>
            <a:r>
              <a:rPr lang="en-US" sz="1400" spc="-1" strike="noStrike">
                <a:solidFill>
                  <a:srgbClr val="000000"/>
                </a:solidFill>
                <a:uFill>
                  <a:solidFill>
                    <a:srgbClr val="ffffff"/>
                  </a:solidFill>
                </a:uFill>
                <a:latin typeface="Myriad Roman"/>
                <a:ea typeface="MS PGothic"/>
              </a:rPr>
              <a:t>=$6</a:t>
            </a:r>
            <a:endParaRPr lang="en-US" sz="1800" spc="-1" strike="noStrike">
              <a:solidFill>
                <a:srgbClr val="000000"/>
              </a:solidFill>
              <a:uFill>
                <a:solidFill>
                  <a:srgbClr val="ffffff"/>
                </a:solidFill>
              </a:uFill>
              <a:latin typeface="Arial"/>
            </a:endParaRPr>
          </a:p>
        </p:txBody>
      </p:sp>
      <p:sp>
        <p:nvSpPr>
          <p:cNvPr id="398" name="Line 36"/>
          <p:cNvSpPr/>
          <p:nvPr/>
        </p:nvSpPr>
        <p:spPr>
          <a:xfrm>
            <a:off x="3392280" y="3055680"/>
            <a:ext cx="93600" cy="360"/>
          </a:xfrm>
          <a:prstGeom prst="line">
            <a:avLst/>
          </a:prstGeom>
          <a:ln w="7920">
            <a:solidFill>
              <a:srgbClr val="000000"/>
            </a:solidFill>
            <a:miter/>
          </a:ln>
        </p:spPr>
        <p:style>
          <a:lnRef idx="0"/>
          <a:fillRef idx="0"/>
          <a:effectRef idx="0"/>
          <a:fontRef idx="minor"/>
        </p:style>
      </p:sp>
      <p:sp>
        <p:nvSpPr>
          <p:cNvPr id="399" name="Line 37"/>
          <p:cNvSpPr/>
          <p:nvPr/>
        </p:nvSpPr>
        <p:spPr>
          <a:xfrm>
            <a:off x="3396960" y="3686040"/>
            <a:ext cx="92160" cy="360"/>
          </a:xfrm>
          <a:prstGeom prst="line">
            <a:avLst/>
          </a:prstGeom>
          <a:ln w="7920">
            <a:solidFill>
              <a:srgbClr val="000000"/>
            </a:solidFill>
            <a:miter/>
          </a:ln>
        </p:spPr>
        <p:style>
          <a:lnRef idx="0"/>
          <a:fillRef idx="0"/>
          <a:effectRef idx="0"/>
          <a:fontRef idx="minor"/>
        </p:style>
      </p:sp>
      <p:sp>
        <p:nvSpPr>
          <p:cNvPr id="400" name="Line 38"/>
          <p:cNvSpPr/>
          <p:nvPr/>
        </p:nvSpPr>
        <p:spPr>
          <a:xfrm>
            <a:off x="3392280" y="4302000"/>
            <a:ext cx="93600" cy="360"/>
          </a:xfrm>
          <a:prstGeom prst="line">
            <a:avLst/>
          </a:prstGeom>
          <a:ln w="7920">
            <a:solidFill>
              <a:srgbClr val="000000"/>
            </a:solidFill>
            <a:miter/>
          </a:ln>
        </p:spPr>
        <p:style>
          <a:lnRef idx="0"/>
          <a:fillRef idx="0"/>
          <a:effectRef idx="0"/>
          <a:fontRef idx="minor"/>
        </p:style>
      </p:sp>
      <p:sp>
        <p:nvSpPr>
          <p:cNvPr id="401" name="CustomShape 39"/>
          <p:cNvSpPr/>
          <p:nvPr/>
        </p:nvSpPr>
        <p:spPr>
          <a:xfrm>
            <a:off x="627840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6</a:t>
            </a:r>
            <a:endParaRPr lang="en-US" sz="1800" spc="-1" strike="noStrike">
              <a:solidFill>
                <a:srgbClr val="000000"/>
              </a:solidFill>
              <a:uFill>
                <a:solidFill>
                  <a:srgbClr val="ffffff"/>
                </a:solidFill>
              </a:uFill>
              <a:latin typeface="Arial"/>
            </a:endParaRPr>
          </a:p>
        </p:txBody>
      </p:sp>
      <p:sp>
        <p:nvSpPr>
          <p:cNvPr id="402" name="CustomShape 40"/>
          <p:cNvSpPr/>
          <p:nvPr/>
        </p:nvSpPr>
        <p:spPr>
          <a:xfrm>
            <a:off x="579096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403" name="CustomShape 41"/>
          <p:cNvSpPr/>
          <p:nvPr/>
        </p:nvSpPr>
        <p:spPr>
          <a:xfrm>
            <a:off x="530208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a:t>
            </a:r>
            <a:endParaRPr lang="en-US" sz="1800" spc="-1" strike="noStrike">
              <a:solidFill>
                <a:srgbClr val="000000"/>
              </a:solidFill>
              <a:uFill>
                <a:solidFill>
                  <a:srgbClr val="ffffff"/>
                </a:solidFill>
              </a:uFill>
              <a:latin typeface="Arial"/>
            </a:endParaRPr>
          </a:p>
        </p:txBody>
      </p:sp>
      <p:sp>
        <p:nvSpPr>
          <p:cNvPr id="404" name="CustomShape 42"/>
          <p:cNvSpPr/>
          <p:nvPr/>
        </p:nvSpPr>
        <p:spPr>
          <a:xfrm>
            <a:off x="481464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405" name="CustomShape 43"/>
          <p:cNvSpPr/>
          <p:nvPr/>
        </p:nvSpPr>
        <p:spPr>
          <a:xfrm>
            <a:off x="432720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a:t>
            </a:r>
            <a:endParaRPr lang="en-US" sz="1800" spc="-1" strike="noStrike">
              <a:solidFill>
                <a:srgbClr val="000000"/>
              </a:solidFill>
              <a:uFill>
                <a:solidFill>
                  <a:srgbClr val="ffffff"/>
                </a:solidFill>
              </a:uFill>
              <a:latin typeface="Arial"/>
            </a:endParaRPr>
          </a:p>
        </p:txBody>
      </p:sp>
      <p:sp>
        <p:nvSpPr>
          <p:cNvPr id="406" name="CustomShape 44"/>
          <p:cNvSpPr/>
          <p:nvPr/>
        </p:nvSpPr>
        <p:spPr>
          <a:xfrm>
            <a:off x="3838320" y="49179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407" name="CustomShape 45"/>
          <p:cNvSpPr/>
          <p:nvPr/>
        </p:nvSpPr>
        <p:spPr>
          <a:xfrm>
            <a:off x="3290400" y="490212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0</a:t>
            </a:r>
            <a:endParaRPr lang="en-US" sz="1800" spc="-1" strike="noStrike">
              <a:solidFill>
                <a:srgbClr val="000000"/>
              </a:solidFill>
              <a:uFill>
                <a:solidFill>
                  <a:srgbClr val="ffffff"/>
                </a:solidFill>
              </a:uFill>
              <a:latin typeface="Arial"/>
            </a:endParaRPr>
          </a:p>
        </p:txBody>
      </p:sp>
      <p:sp>
        <p:nvSpPr>
          <p:cNvPr id="408" name="CustomShape 46"/>
          <p:cNvSpPr/>
          <p:nvPr/>
        </p:nvSpPr>
        <p:spPr>
          <a:xfrm>
            <a:off x="3048120" y="2962440"/>
            <a:ext cx="33732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 </a:t>
            </a:r>
            <a:r>
              <a:rPr lang="en-US" sz="1400" spc="-1" strike="noStrike">
                <a:solidFill>
                  <a:srgbClr val="000000"/>
                </a:solidFill>
                <a:uFill>
                  <a:solidFill>
                    <a:srgbClr val="ffffff"/>
                  </a:solidFill>
                </a:uFill>
                <a:latin typeface="Myriad Roman"/>
                <a:ea typeface="MS PGothic"/>
              </a:rPr>
              <a:t>25</a:t>
            </a:r>
            <a:endParaRPr lang="en-US" sz="1800" spc="-1" strike="noStrike">
              <a:solidFill>
                <a:srgbClr val="000000"/>
              </a:solidFill>
              <a:uFill>
                <a:solidFill>
                  <a:srgbClr val="ffffff"/>
                </a:solidFill>
              </a:uFill>
              <a:latin typeface="Arial"/>
            </a:endParaRPr>
          </a:p>
        </p:txBody>
      </p:sp>
      <p:sp>
        <p:nvSpPr>
          <p:cNvPr id="409" name="Line 47"/>
          <p:cNvSpPr/>
          <p:nvPr/>
        </p:nvSpPr>
        <p:spPr>
          <a:xfrm>
            <a:off x="3385800" y="2319120"/>
            <a:ext cx="90720" cy="360"/>
          </a:xfrm>
          <a:prstGeom prst="line">
            <a:avLst/>
          </a:prstGeom>
          <a:ln w="7920">
            <a:solidFill>
              <a:srgbClr val="000000"/>
            </a:solidFill>
            <a:miter/>
          </a:ln>
        </p:spPr>
        <p:style>
          <a:lnRef idx="0"/>
          <a:fillRef idx="0"/>
          <a:effectRef idx="0"/>
          <a:fontRef idx="minor"/>
        </p:style>
      </p:sp>
      <p:sp>
        <p:nvSpPr>
          <p:cNvPr id="410" name="CustomShape 48"/>
          <p:cNvSpPr/>
          <p:nvPr/>
        </p:nvSpPr>
        <p:spPr>
          <a:xfrm>
            <a:off x="3048120" y="2239920"/>
            <a:ext cx="33732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 </a:t>
            </a:r>
            <a:r>
              <a:rPr lang="en-US" sz="1400" spc="-1" strike="noStrike">
                <a:solidFill>
                  <a:srgbClr val="000000"/>
                </a:solidFill>
                <a:uFill>
                  <a:solidFill>
                    <a:srgbClr val="ffffff"/>
                  </a:solidFill>
                </a:uFill>
                <a:latin typeface="Myriad Roman"/>
                <a:ea typeface="MS PGothic"/>
              </a:rPr>
              <a:t>35</a:t>
            </a:r>
            <a:endParaRPr lang="en-US" sz="1800" spc="-1" strike="noStrike">
              <a:solidFill>
                <a:srgbClr val="000000"/>
              </a:solidFill>
              <a:uFill>
                <a:solidFill>
                  <a:srgbClr val="ffffff"/>
                </a:solidFill>
              </a:uFill>
              <a:latin typeface="Arial"/>
            </a:endParaRPr>
          </a:p>
        </p:txBody>
      </p:sp>
      <p:sp>
        <p:nvSpPr>
          <p:cNvPr id="411" name="CustomShape 49"/>
          <p:cNvSpPr/>
          <p:nvPr/>
        </p:nvSpPr>
        <p:spPr>
          <a:xfrm>
            <a:off x="3048120" y="1373040"/>
            <a:ext cx="36432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$46</a:t>
            </a:r>
            <a:endParaRPr lang="en-US" sz="1800" spc="-1" strike="noStrike">
              <a:solidFill>
                <a:srgbClr val="000000"/>
              </a:solidFill>
              <a:uFill>
                <a:solidFill>
                  <a:srgbClr val="ffffff"/>
                </a:solidFill>
              </a:uFill>
              <a:latin typeface="Arial"/>
            </a:endParaRPr>
          </a:p>
        </p:txBody>
      </p:sp>
      <p:sp>
        <p:nvSpPr>
          <p:cNvPr id="412" name="CustomShape 50"/>
          <p:cNvSpPr/>
          <p:nvPr/>
        </p:nvSpPr>
        <p:spPr>
          <a:xfrm>
            <a:off x="3124080" y="3610080"/>
            <a:ext cx="26136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16 </a:t>
            </a:r>
            <a:endParaRPr lang="en-US" sz="1800" spc="-1" strike="noStrike">
              <a:solidFill>
                <a:srgbClr val="000000"/>
              </a:solidFill>
              <a:uFill>
                <a:solidFill>
                  <a:srgbClr val="ffffff"/>
                </a:solidFill>
              </a:uFill>
              <a:latin typeface="Arial"/>
            </a:endParaRPr>
          </a:p>
        </p:txBody>
      </p:sp>
      <p:sp>
        <p:nvSpPr>
          <p:cNvPr id="413" name="CustomShape 51"/>
          <p:cNvSpPr/>
          <p:nvPr/>
        </p:nvSpPr>
        <p:spPr>
          <a:xfrm>
            <a:off x="3124080" y="4222800"/>
            <a:ext cx="23580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 </a:t>
            </a:r>
            <a:r>
              <a:rPr lang="en-US" sz="1400" spc="-1" strike="noStrike">
                <a:solidFill>
                  <a:srgbClr val="000000"/>
                </a:solidFill>
                <a:uFill>
                  <a:solidFill>
                    <a:srgbClr val="ffffff"/>
                  </a:solidFill>
                </a:uFill>
                <a:latin typeface="Myriad Roman"/>
                <a:ea typeface="MS PGothic"/>
              </a:rPr>
              <a:t>8</a:t>
            </a:r>
            <a:endParaRPr lang="en-US" sz="1800" spc="-1" strike="noStrike">
              <a:solidFill>
                <a:srgbClr val="000000"/>
              </a:solidFill>
              <a:uFill>
                <a:solidFill>
                  <a:srgbClr val="ffffff"/>
                </a:solidFill>
              </a:uFill>
              <a:latin typeface="Arial"/>
            </a:endParaRPr>
          </a:p>
        </p:txBody>
      </p:sp>
      <p:sp>
        <p:nvSpPr>
          <p:cNvPr id="414" name="CustomShape 52"/>
          <p:cNvSpPr/>
          <p:nvPr/>
        </p:nvSpPr>
        <p:spPr>
          <a:xfrm>
            <a:off x="3124080" y="4419720"/>
            <a:ext cx="23436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 </a:t>
            </a:r>
            <a:r>
              <a:rPr lang="en-US" sz="1400" spc="-1" strike="noStrike">
                <a:solidFill>
                  <a:srgbClr val="000000"/>
                </a:solidFill>
                <a:uFill>
                  <a:solidFill>
                    <a:srgbClr val="ffffff"/>
                  </a:solidFill>
                </a:uFill>
                <a:latin typeface="Myriad Roman"/>
                <a:ea typeface="MS PGothic"/>
              </a:rPr>
              <a:t>6</a:t>
            </a:r>
            <a:endParaRPr lang="en-US" sz="1800" spc="-1" strike="noStrike">
              <a:solidFill>
                <a:srgbClr val="000000"/>
              </a:solidFill>
              <a:uFill>
                <a:solidFill>
                  <a:srgbClr val="ffffff"/>
                </a:solidFill>
              </a:uFill>
              <a:latin typeface="Arial"/>
            </a:endParaRPr>
          </a:p>
        </p:txBody>
      </p:sp>
      <p:sp>
        <p:nvSpPr>
          <p:cNvPr id="415" name="Line 53"/>
          <p:cNvSpPr/>
          <p:nvPr/>
        </p:nvSpPr>
        <p:spPr>
          <a:xfrm>
            <a:off x="3403440" y="4759200"/>
            <a:ext cx="93600" cy="360"/>
          </a:xfrm>
          <a:prstGeom prst="line">
            <a:avLst/>
          </a:prstGeom>
          <a:ln w="7920">
            <a:solidFill>
              <a:srgbClr val="000000"/>
            </a:solidFill>
            <a:miter/>
          </a:ln>
        </p:spPr>
        <p:style>
          <a:lnRef idx="0"/>
          <a:fillRef idx="0"/>
          <a:effectRef idx="0"/>
          <a:fontRef idx="minor"/>
        </p:style>
      </p:sp>
      <p:sp>
        <p:nvSpPr>
          <p:cNvPr id="416" name="CustomShape 54"/>
          <p:cNvSpPr/>
          <p:nvPr/>
        </p:nvSpPr>
        <p:spPr>
          <a:xfrm>
            <a:off x="3124080" y="4659480"/>
            <a:ext cx="234360" cy="21240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 </a:t>
            </a:r>
            <a:r>
              <a:rPr lang="en-US" sz="1400" spc="-1" strike="noStrike">
                <a:solidFill>
                  <a:srgbClr val="000000"/>
                </a:solidFill>
                <a:uFill>
                  <a:solidFill>
                    <a:srgbClr val="ffffff"/>
                  </a:solidFill>
                </a:uFill>
                <a:latin typeface="Myriad Roman"/>
                <a:ea typeface="MS PGothic"/>
              </a:rPr>
              <a:t>2</a:t>
            </a:r>
            <a:endParaRPr lang="en-US" sz="1800" spc="-1" strike="noStrike">
              <a:solidFill>
                <a:srgbClr val="000000"/>
              </a:solidFill>
              <a:uFill>
                <a:solidFill>
                  <a:srgbClr val="ffffff"/>
                </a:solidFill>
              </a:uFill>
              <a:latin typeface="Arial"/>
            </a:endParaRPr>
          </a:p>
        </p:txBody>
      </p:sp>
      <p:sp>
        <p:nvSpPr>
          <p:cNvPr id="417" name="CustomShape 55"/>
          <p:cNvSpPr/>
          <p:nvPr/>
        </p:nvSpPr>
        <p:spPr>
          <a:xfrm>
            <a:off x="1828800" y="1111320"/>
            <a:ext cx="1065960" cy="85176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Marginal benefit, marginal cost</a:t>
            </a:r>
            <a:endParaRPr lang="en-US" sz="1800" spc="-1" strike="noStrike">
              <a:solidFill>
                <a:srgbClr val="000000"/>
              </a:solidFill>
              <a:uFill>
                <a:solidFill>
                  <a:srgbClr val="ffffff"/>
                </a:solidFill>
              </a:uFill>
              <a:latin typeface="Arial"/>
            </a:endParaRPr>
          </a:p>
        </p:txBody>
      </p:sp>
      <p:sp>
        <p:nvSpPr>
          <p:cNvPr id="418" name="CustomShape 56"/>
          <p:cNvSpPr/>
          <p:nvPr/>
        </p:nvSpPr>
        <p:spPr>
          <a:xfrm>
            <a:off x="5461560" y="914400"/>
            <a:ext cx="362736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(c) </a:t>
            </a:r>
            <a:r>
              <a:rPr b="1" lang="en-US" sz="1400" spc="-1" strike="noStrike">
                <a:solidFill>
                  <a:srgbClr val="000000"/>
                </a:solidFill>
                <a:uFill>
                  <a:solidFill>
                    <a:srgbClr val="ffffff"/>
                  </a:solidFill>
                </a:uFill>
                <a:latin typeface="Myriad Roman"/>
                <a:ea typeface="MS PGothic"/>
              </a:rPr>
              <a:t>The Marginal Social Benefit Curve</a:t>
            </a:r>
            <a:endParaRPr lang="en-US" sz="1800" spc="-1" strike="noStrike">
              <a:solidFill>
                <a:srgbClr val="000000"/>
              </a:solidFill>
              <a:uFill>
                <a:solidFill>
                  <a:srgbClr val="ffffff"/>
                </a:solidFill>
              </a:uFill>
              <a:latin typeface="Arial"/>
            </a:endParaRPr>
          </a:p>
        </p:txBody>
      </p:sp>
      <p:sp>
        <p:nvSpPr>
          <p:cNvPr id="419" name="CustomShape 57"/>
          <p:cNvSpPr/>
          <p:nvPr/>
        </p:nvSpPr>
        <p:spPr>
          <a:xfrm>
            <a:off x="5816520" y="5095800"/>
            <a:ext cx="2259720" cy="42624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Quantity of street cleansings (per month)</a:t>
            </a:r>
            <a:endParaRPr lang="en-US" sz="1800" spc="-1" strike="noStrike">
              <a:solidFill>
                <a:srgbClr val="000000"/>
              </a:solidFill>
              <a:uFill>
                <a:solidFill>
                  <a:srgbClr val="ffffff"/>
                </a:solidFill>
              </a:uFill>
              <a:latin typeface="Arial"/>
            </a:endParaRPr>
          </a:p>
        </p:txBody>
      </p:sp>
      <p:sp>
        <p:nvSpPr>
          <p:cNvPr id="420" name="CustomShape 58"/>
          <p:cNvSpPr/>
          <p:nvPr/>
        </p:nvSpPr>
        <p:spPr>
          <a:xfrm>
            <a:off x="3550680" y="370188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25</a:t>
            </a:r>
            <a:endParaRPr lang="en-US" sz="1800" spc="-1" strike="noStrike">
              <a:solidFill>
                <a:srgbClr val="000000"/>
              </a:solidFill>
              <a:uFill>
                <a:solidFill>
                  <a:srgbClr val="ffffff"/>
                </a:solidFill>
              </a:uFill>
              <a:latin typeface="Arial"/>
            </a:endParaRPr>
          </a:p>
        </p:txBody>
      </p:sp>
      <p:sp>
        <p:nvSpPr>
          <p:cNvPr id="421" name="CustomShape 59"/>
          <p:cNvSpPr/>
          <p:nvPr/>
        </p:nvSpPr>
        <p:spPr>
          <a:xfrm>
            <a:off x="3550680" y="226368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21</a:t>
            </a:r>
            <a:endParaRPr lang="en-US" sz="1800" spc="-1" strike="noStrike">
              <a:solidFill>
                <a:srgbClr val="000000"/>
              </a:solidFill>
              <a:uFill>
                <a:solidFill>
                  <a:srgbClr val="ffffff"/>
                </a:solidFill>
              </a:uFill>
              <a:latin typeface="Arial"/>
            </a:endParaRPr>
          </a:p>
        </p:txBody>
      </p:sp>
      <p:sp>
        <p:nvSpPr>
          <p:cNvPr id="422" name="CustomShape 60"/>
          <p:cNvSpPr/>
          <p:nvPr/>
        </p:nvSpPr>
        <p:spPr>
          <a:xfrm>
            <a:off x="4526280" y="420516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12</a:t>
            </a:r>
            <a:endParaRPr lang="en-US" sz="1800" spc="-1" strike="noStrike">
              <a:solidFill>
                <a:srgbClr val="000000"/>
              </a:solidFill>
              <a:uFill>
                <a:solidFill>
                  <a:srgbClr val="ffffff"/>
                </a:solidFill>
              </a:uFill>
              <a:latin typeface="Arial"/>
            </a:endParaRPr>
          </a:p>
        </p:txBody>
      </p:sp>
      <p:sp>
        <p:nvSpPr>
          <p:cNvPr id="423" name="CustomShape 61"/>
          <p:cNvSpPr/>
          <p:nvPr/>
        </p:nvSpPr>
        <p:spPr>
          <a:xfrm>
            <a:off x="4526280" y="350352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13</a:t>
            </a:r>
            <a:endParaRPr lang="en-US" sz="1800" spc="-1" strike="noStrike">
              <a:solidFill>
                <a:srgbClr val="000000"/>
              </a:solidFill>
              <a:uFill>
                <a:solidFill>
                  <a:srgbClr val="ffffff"/>
                </a:solidFill>
              </a:uFill>
              <a:latin typeface="Arial"/>
            </a:endParaRPr>
          </a:p>
        </p:txBody>
      </p:sp>
      <p:sp>
        <p:nvSpPr>
          <p:cNvPr id="424" name="CustomShape 62"/>
          <p:cNvSpPr/>
          <p:nvPr/>
        </p:nvSpPr>
        <p:spPr>
          <a:xfrm>
            <a:off x="5059800" y="45291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7</a:t>
            </a:r>
            <a:endParaRPr lang="en-US" sz="1800" spc="-1" strike="noStrike">
              <a:solidFill>
                <a:srgbClr val="000000"/>
              </a:solidFill>
              <a:uFill>
                <a:solidFill>
                  <a:srgbClr val="ffffff"/>
                </a:solidFill>
              </a:uFill>
              <a:latin typeface="Arial"/>
            </a:endParaRPr>
          </a:p>
        </p:txBody>
      </p:sp>
      <p:sp>
        <p:nvSpPr>
          <p:cNvPr id="425" name="CustomShape 63"/>
          <p:cNvSpPr/>
          <p:nvPr/>
        </p:nvSpPr>
        <p:spPr>
          <a:xfrm>
            <a:off x="5059800" y="401328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9</a:t>
            </a:r>
            <a:endParaRPr lang="en-US" sz="1800" spc="-1" strike="noStrike">
              <a:solidFill>
                <a:srgbClr val="000000"/>
              </a:solidFill>
              <a:uFill>
                <a:solidFill>
                  <a:srgbClr val="ffffff"/>
                </a:solidFill>
              </a:uFill>
              <a:latin typeface="Arial"/>
            </a:endParaRPr>
          </a:p>
        </p:txBody>
      </p:sp>
      <p:sp>
        <p:nvSpPr>
          <p:cNvPr id="426" name="CustomShape 64"/>
          <p:cNvSpPr/>
          <p:nvPr/>
        </p:nvSpPr>
        <p:spPr>
          <a:xfrm>
            <a:off x="5546520" y="470520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3</a:t>
            </a:r>
            <a:endParaRPr lang="en-US" sz="1800" spc="-1" strike="noStrike">
              <a:solidFill>
                <a:srgbClr val="000000"/>
              </a:solidFill>
              <a:uFill>
                <a:solidFill>
                  <a:srgbClr val="ffffff"/>
                </a:solidFill>
              </a:uFill>
              <a:latin typeface="Arial"/>
            </a:endParaRPr>
          </a:p>
        </p:txBody>
      </p:sp>
      <p:sp>
        <p:nvSpPr>
          <p:cNvPr id="427" name="CustomShape 65"/>
          <p:cNvSpPr/>
          <p:nvPr/>
        </p:nvSpPr>
        <p:spPr>
          <a:xfrm>
            <a:off x="5546520" y="448452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5</a:t>
            </a:r>
            <a:endParaRPr lang="en-US" sz="1800" spc="-1" strike="noStrike">
              <a:solidFill>
                <a:srgbClr val="000000"/>
              </a:solidFill>
              <a:uFill>
                <a:solidFill>
                  <a:srgbClr val="ffffff"/>
                </a:solidFill>
              </a:uFill>
              <a:latin typeface="Arial"/>
            </a:endParaRPr>
          </a:p>
        </p:txBody>
      </p:sp>
      <p:sp>
        <p:nvSpPr>
          <p:cNvPr id="428" name="CustomShape 66"/>
          <p:cNvSpPr/>
          <p:nvPr/>
        </p:nvSpPr>
        <p:spPr>
          <a:xfrm>
            <a:off x="6365520" y="468792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429" name="CustomShape 67"/>
          <p:cNvSpPr/>
          <p:nvPr/>
        </p:nvSpPr>
        <p:spPr>
          <a:xfrm>
            <a:off x="6048000" y="454824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2</a:t>
            </a:r>
            <a:endParaRPr lang="en-US" sz="1800" spc="-1" strike="noStrike">
              <a:solidFill>
                <a:srgbClr val="000000"/>
              </a:solidFill>
              <a:uFill>
                <a:solidFill>
                  <a:srgbClr val="ffffff"/>
                </a:solidFill>
              </a:uFill>
              <a:latin typeface="Arial"/>
            </a:endParaRPr>
          </a:p>
        </p:txBody>
      </p:sp>
      <p:sp>
        <p:nvSpPr>
          <p:cNvPr id="430" name="CustomShape 68"/>
          <p:cNvSpPr/>
          <p:nvPr/>
        </p:nvSpPr>
        <p:spPr>
          <a:xfrm>
            <a:off x="4040640" y="396540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18</a:t>
            </a:r>
            <a:endParaRPr lang="en-US" sz="1800" spc="-1" strike="noStrike">
              <a:solidFill>
                <a:srgbClr val="000000"/>
              </a:solidFill>
              <a:uFill>
                <a:solidFill>
                  <a:srgbClr val="ffffff"/>
                </a:solidFill>
              </a:uFill>
              <a:latin typeface="Arial"/>
            </a:endParaRPr>
          </a:p>
        </p:txBody>
      </p:sp>
      <p:sp>
        <p:nvSpPr>
          <p:cNvPr id="431" name="CustomShape 69"/>
          <p:cNvSpPr/>
          <p:nvPr/>
        </p:nvSpPr>
        <p:spPr>
          <a:xfrm>
            <a:off x="2176560" y="5854680"/>
            <a:ext cx="360" cy="169200"/>
          </a:xfrm>
          <a:prstGeom prst="rect">
            <a:avLst/>
          </a:prstGeom>
          <a:noFill/>
          <a:ln w="9360">
            <a:noFill/>
          </a:ln>
        </p:spPr>
        <p:style>
          <a:lnRef idx="0"/>
          <a:fillRef idx="0"/>
          <a:effectRef idx="0"/>
          <a:fontRef idx="minor"/>
        </p:style>
      </p:sp>
      <p:sp>
        <p:nvSpPr>
          <p:cNvPr id="432" name="Line 70"/>
          <p:cNvSpPr/>
          <p:nvPr/>
        </p:nvSpPr>
        <p:spPr>
          <a:xfrm>
            <a:off x="3400200" y="4451040"/>
            <a:ext cx="2932200" cy="360"/>
          </a:xfrm>
          <a:prstGeom prst="line">
            <a:avLst/>
          </a:prstGeom>
          <a:ln w="22320">
            <a:solidFill>
              <a:srgbClr val="f3716d"/>
            </a:solidFill>
            <a:miter/>
          </a:ln>
        </p:spPr>
        <p:style>
          <a:lnRef idx="0"/>
          <a:fillRef idx="0"/>
          <a:effectRef idx="0"/>
          <a:fontRef idx="minor"/>
        </p:style>
      </p:sp>
      <p:sp>
        <p:nvSpPr>
          <p:cNvPr id="433" name="CustomShape 71"/>
          <p:cNvSpPr/>
          <p:nvPr/>
        </p:nvSpPr>
        <p:spPr>
          <a:xfrm>
            <a:off x="3392640" y="1041480"/>
            <a:ext cx="2939400" cy="3850560"/>
          </a:xfrm>
          <a:custGeom>
            <a:avLst/>
            <a:gdLst/>
            <a:ahLst/>
            <a:rect l="l" t="t" r="r" b="b"/>
            <a:pathLst>
              <a:path w="1800" h="2634">
                <a:moveTo>
                  <a:pt x="1800" y="2634"/>
                </a:moveTo>
                <a:lnTo>
                  <a:pt x="0" y="2634"/>
                </a:lnTo>
                <a:lnTo>
                  <a:pt x="0" y="0"/>
                </a:lnTo>
              </a:path>
            </a:pathLst>
          </a:custGeom>
          <a:noFill/>
          <a:ln w="7920">
            <a:solidFill>
              <a:srgbClr val="000000"/>
            </a:solidFill>
            <a:miter/>
          </a:ln>
        </p:spPr>
        <p:style>
          <a:lnRef idx="0"/>
          <a:fillRef idx="0"/>
          <a:effectRef idx="0"/>
          <a:fontRef idx="minor"/>
        </p:style>
      </p:sp>
      <p:sp>
        <p:nvSpPr>
          <p:cNvPr id="434" name="Line 72"/>
          <p:cNvSpPr/>
          <p:nvPr/>
        </p:nvSpPr>
        <p:spPr>
          <a:xfrm flipH="1">
            <a:off x="5491080" y="3794040"/>
            <a:ext cx="220680" cy="349200"/>
          </a:xfrm>
          <a:prstGeom prst="line">
            <a:avLst/>
          </a:prstGeom>
          <a:ln w="7920">
            <a:solidFill>
              <a:srgbClr val="000000"/>
            </a:solidFill>
            <a:miter/>
          </a:ln>
        </p:spPr>
        <p:style>
          <a:lnRef idx="0"/>
          <a:fillRef idx="0"/>
          <a:effectRef idx="0"/>
          <a:fontRef idx="minor"/>
        </p:style>
      </p:sp>
      <p:sp>
        <p:nvSpPr>
          <p:cNvPr id="435" name="CustomShape 73"/>
          <p:cNvSpPr/>
          <p:nvPr/>
        </p:nvSpPr>
        <p:spPr>
          <a:xfrm>
            <a:off x="5830920" y="4748040"/>
            <a:ext cx="486720" cy="72360"/>
          </a:xfrm>
          <a:prstGeom prst="rect">
            <a:avLst/>
          </a:prstGeom>
          <a:solidFill>
            <a:srgbClr val="c7c4e2"/>
          </a:solidFill>
          <a:ln w="9360">
            <a:noFill/>
          </a:ln>
        </p:spPr>
        <p:style>
          <a:lnRef idx="0"/>
          <a:fillRef idx="0"/>
          <a:effectRef idx="0"/>
          <a:fontRef idx="minor"/>
        </p:style>
      </p:sp>
      <p:sp>
        <p:nvSpPr>
          <p:cNvPr id="436" name="CustomShape 74"/>
          <p:cNvSpPr/>
          <p:nvPr/>
        </p:nvSpPr>
        <p:spPr>
          <a:xfrm>
            <a:off x="5834160" y="4748040"/>
            <a:ext cx="486720" cy="72360"/>
          </a:xfrm>
          <a:custGeom>
            <a:avLst/>
            <a:gdLst/>
            <a:ahLst/>
            <a:rect l="l" t="t" r="r" b="b"/>
            <a:pathLst>
              <a:path w="298" h="47">
                <a:moveTo>
                  <a:pt x="0" y="0"/>
                </a:moveTo>
                <a:lnTo>
                  <a:pt x="298" y="0"/>
                </a:lnTo>
                <a:lnTo>
                  <a:pt x="298" y="47"/>
                </a:lnTo>
              </a:path>
            </a:pathLst>
          </a:custGeom>
          <a:noFill/>
          <a:ln w="22320">
            <a:solidFill>
              <a:srgbClr val="bcbec0"/>
            </a:solidFill>
            <a:miter/>
          </a:ln>
        </p:spPr>
        <p:style>
          <a:lnRef idx="0"/>
          <a:fillRef idx="0"/>
          <a:effectRef idx="0"/>
          <a:fontRef idx="minor"/>
        </p:style>
      </p:sp>
      <p:sp>
        <p:nvSpPr>
          <p:cNvPr id="437" name="CustomShape 75"/>
          <p:cNvSpPr/>
          <p:nvPr/>
        </p:nvSpPr>
        <p:spPr>
          <a:xfrm>
            <a:off x="6294240" y="458316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1</a:t>
            </a:r>
            <a:endParaRPr lang="en-US" sz="1800" spc="-1" strike="noStrike">
              <a:solidFill>
                <a:srgbClr val="000000"/>
              </a:solidFill>
              <a:uFill>
                <a:solidFill>
                  <a:srgbClr val="ffffff"/>
                </a:solidFill>
              </a:uFill>
              <a:latin typeface="Arial"/>
            </a:endParaRPr>
          </a:p>
        </p:txBody>
      </p:sp>
      <p:sp>
        <p:nvSpPr>
          <p:cNvPr id="438" name="Line 76"/>
          <p:cNvSpPr/>
          <p:nvPr/>
        </p:nvSpPr>
        <p:spPr>
          <a:xfrm flipV="1">
            <a:off x="6275160" y="4787640"/>
            <a:ext cx="108000" cy="77760"/>
          </a:xfrm>
          <a:prstGeom prst="line">
            <a:avLst/>
          </a:prstGeom>
          <a:ln w="7920">
            <a:solidFill>
              <a:srgbClr val="000000"/>
            </a:solidFill>
            <a:miter/>
          </a:ln>
        </p:spPr>
        <p:style>
          <a:lnRef idx="0"/>
          <a:fillRef idx="0"/>
          <a:effectRef idx="0"/>
          <a:fontRef idx="minor"/>
        </p:style>
      </p:sp>
      <p:sp>
        <p:nvSpPr>
          <p:cNvPr id="439" name="CustomShape 77"/>
          <p:cNvSpPr/>
          <p:nvPr/>
        </p:nvSpPr>
        <p:spPr>
          <a:xfrm>
            <a:off x="3505320" y="1295280"/>
            <a:ext cx="2731320" cy="3601440"/>
          </a:xfrm>
          <a:custGeom>
            <a:avLst/>
            <a:gdLst/>
            <a:ahLst/>
            <a:rect l="l" t="t" r="r" b="b"/>
            <a:pathLst>
              <a:path w="708" h="972">
                <a:moveTo>
                  <a:pt x="0" y="0"/>
                </a:moveTo>
                <a:cubicBezTo>
                  <a:pt x="204" y="350"/>
                  <a:pt x="411" y="694"/>
                  <a:pt x="708" y="972"/>
                </a:cubicBezTo>
              </a:path>
            </a:pathLst>
          </a:custGeom>
          <a:noFill/>
          <a:ln w="30240">
            <a:solidFill>
              <a:srgbClr val="6c4099"/>
            </a:solidFill>
            <a:miter/>
          </a:ln>
        </p:spPr>
        <p:style>
          <a:lnRef idx="0"/>
          <a:fillRef idx="0"/>
          <a:effectRef idx="0"/>
          <a:fontRef idx="minor"/>
        </p:style>
      </p:sp>
      <p:sp>
        <p:nvSpPr>
          <p:cNvPr id="440" name="CustomShape 78"/>
          <p:cNvSpPr/>
          <p:nvPr/>
        </p:nvSpPr>
        <p:spPr>
          <a:xfrm>
            <a:off x="3570120" y="1417680"/>
            <a:ext cx="75600" cy="73800"/>
          </a:xfrm>
          <a:prstGeom prst="ellipse">
            <a:avLst/>
          </a:prstGeom>
          <a:solidFill>
            <a:srgbClr val="000000"/>
          </a:solidFill>
          <a:ln w="9360">
            <a:noFill/>
          </a:ln>
        </p:spPr>
        <p:style>
          <a:lnRef idx="0"/>
          <a:fillRef idx="0"/>
          <a:effectRef idx="0"/>
          <a:fontRef idx="minor"/>
        </p:style>
      </p:sp>
      <p:sp>
        <p:nvSpPr>
          <p:cNvPr id="441" name="CustomShape 79"/>
          <p:cNvSpPr/>
          <p:nvPr/>
        </p:nvSpPr>
        <p:spPr>
          <a:xfrm>
            <a:off x="4086360" y="2274840"/>
            <a:ext cx="78480" cy="72360"/>
          </a:xfrm>
          <a:prstGeom prst="ellipse">
            <a:avLst/>
          </a:prstGeom>
          <a:solidFill>
            <a:srgbClr val="000000"/>
          </a:solidFill>
          <a:ln w="9360">
            <a:noFill/>
          </a:ln>
        </p:spPr>
        <p:style>
          <a:lnRef idx="0"/>
          <a:fillRef idx="0"/>
          <a:effectRef idx="0"/>
          <a:fontRef idx="minor"/>
        </p:style>
      </p:sp>
      <p:sp>
        <p:nvSpPr>
          <p:cNvPr id="442" name="CustomShape 80"/>
          <p:cNvSpPr/>
          <p:nvPr/>
        </p:nvSpPr>
        <p:spPr>
          <a:xfrm>
            <a:off x="4592520" y="3008160"/>
            <a:ext cx="77040" cy="73800"/>
          </a:xfrm>
          <a:prstGeom prst="ellipse">
            <a:avLst/>
          </a:prstGeom>
          <a:solidFill>
            <a:srgbClr val="000000"/>
          </a:solidFill>
          <a:ln w="9360">
            <a:noFill/>
          </a:ln>
        </p:spPr>
        <p:style>
          <a:lnRef idx="0"/>
          <a:fillRef idx="0"/>
          <a:effectRef idx="0"/>
          <a:fontRef idx="minor"/>
        </p:style>
      </p:sp>
      <p:sp>
        <p:nvSpPr>
          <p:cNvPr id="443" name="CustomShape 81"/>
          <p:cNvSpPr/>
          <p:nvPr/>
        </p:nvSpPr>
        <p:spPr>
          <a:xfrm>
            <a:off x="5072040" y="3635280"/>
            <a:ext cx="75600" cy="72360"/>
          </a:xfrm>
          <a:prstGeom prst="ellipse">
            <a:avLst/>
          </a:prstGeom>
          <a:solidFill>
            <a:srgbClr val="000000"/>
          </a:solidFill>
          <a:ln w="9360">
            <a:noFill/>
          </a:ln>
        </p:spPr>
        <p:style>
          <a:lnRef idx="0"/>
          <a:fillRef idx="0"/>
          <a:effectRef idx="0"/>
          <a:fontRef idx="minor"/>
        </p:style>
      </p:sp>
      <p:sp>
        <p:nvSpPr>
          <p:cNvPr id="444" name="CustomShape 82"/>
          <p:cNvSpPr/>
          <p:nvPr/>
        </p:nvSpPr>
        <p:spPr>
          <a:xfrm>
            <a:off x="5584680" y="4249800"/>
            <a:ext cx="75600" cy="73800"/>
          </a:xfrm>
          <a:prstGeom prst="ellipse">
            <a:avLst/>
          </a:prstGeom>
          <a:solidFill>
            <a:srgbClr val="000000"/>
          </a:solidFill>
          <a:ln w="9360">
            <a:noFill/>
          </a:ln>
        </p:spPr>
        <p:style>
          <a:lnRef idx="0"/>
          <a:fillRef idx="0"/>
          <a:effectRef idx="0"/>
          <a:fontRef idx="minor"/>
        </p:style>
      </p:sp>
      <p:sp>
        <p:nvSpPr>
          <p:cNvPr id="445" name="CustomShape 83"/>
          <p:cNvSpPr/>
          <p:nvPr/>
        </p:nvSpPr>
        <p:spPr>
          <a:xfrm>
            <a:off x="6040440" y="4702320"/>
            <a:ext cx="75600" cy="72360"/>
          </a:xfrm>
          <a:prstGeom prst="ellipse">
            <a:avLst/>
          </a:prstGeom>
          <a:solidFill>
            <a:srgbClr val="000000"/>
          </a:solidFill>
          <a:ln w="9360">
            <a:noFill/>
          </a:ln>
        </p:spPr>
        <p:style>
          <a:lnRef idx="0"/>
          <a:fillRef idx="0"/>
          <a:effectRef idx="0"/>
          <a:fontRef idx="minor"/>
        </p:style>
      </p:sp>
      <p:sp>
        <p:nvSpPr>
          <p:cNvPr id="446" name="Line 84"/>
          <p:cNvSpPr/>
          <p:nvPr/>
        </p:nvSpPr>
        <p:spPr>
          <a:xfrm flipV="1">
            <a:off x="6202080" y="4706640"/>
            <a:ext cx="104760" cy="73080"/>
          </a:xfrm>
          <a:prstGeom prst="line">
            <a:avLst/>
          </a:prstGeom>
          <a:ln w="7920">
            <a:solidFill>
              <a:srgbClr val="000000"/>
            </a:solidFill>
            <a:miter/>
          </a:ln>
        </p:spPr>
        <p:style>
          <a:lnRef idx="0"/>
          <a:fillRef idx="0"/>
          <a:effectRef idx="0"/>
          <a:fontRef idx="minor"/>
        </p:style>
      </p:sp>
      <p:sp>
        <p:nvSpPr>
          <p:cNvPr id="447" name="CustomShape 85"/>
          <p:cNvSpPr/>
          <p:nvPr/>
        </p:nvSpPr>
        <p:spPr>
          <a:xfrm>
            <a:off x="899640" y="58680"/>
            <a:ext cx="8064000" cy="577440"/>
          </a:xfrm>
          <a:prstGeom prst="rect">
            <a:avLst/>
          </a:prstGeom>
          <a:noFill/>
          <a:ln w="25560">
            <a:noFill/>
          </a:ln>
        </p:spPr>
        <p:style>
          <a:lnRef idx="0"/>
          <a:fillRef idx="0"/>
          <a:effectRef idx="0"/>
          <a:fontRef idx="minor"/>
        </p:style>
        <p:txBody>
          <a:bodyPr lIns="90000" rIns="90000" tIns="45000" bIns="45000"/>
          <a:p>
            <a:pPr marL="1440" indent="-720">
              <a:lnSpc>
                <a:spcPct val="100000"/>
              </a:lnSpc>
            </a:pPr>
            <a:r>
              <a:rPr b="1" lang="en-US" sz="3200" spc="-1" strike="noStrike">
                <a:solidFill>
                  <a:srgbClr val="ffffff"/>
                </a:solidFill>
                <a:uFill>
                  <a:solidFill>
                    <a:srgbClr val="ffffff"/>
                  </a:solidFill>
                </a:uFill>
                <a:latin typeface="Calibri"/>
                <a:ea typeface="MS PGothic"/>
              </a:rPr>
              <a:t>A Public Good</a:t>
            </a:r>
            <a:endParaRPr lang="en-US" sz="1800" spc="-1" strike="noStrike">
              <a:solidFill>
                <a:srgbClr val="000000"/>
              </a:solidFill>
              <a:uFill>
                <a:solidFill>
                  <a:srgbClr val="ffffff"/>
                </a:solidFill>
              </a:uFill>
              <a:latin typeface="Arial"/>
            </a:endParaRPr>
          </a:p>
        </p:txBody>
      </p:sp>
    </p:spTree>
  </p:cSld>
  <p:timing>
    <p:tnLst>
      <p:par>
        <p:cTn id="195" dur="indefinite" restart="never" nodeType="tmRoot">
          <p:childTnLst>
            <p:seq>
              <p:cTn id="196" dur="indefinite" nodeType="mainSeq">
                <p:childTnLst>
                  <p:par>
                    <p:cTn id="197" fill="hold">
                      <p:stCondLst>
                        <p:cond delay="indefinite"/>
                      </p:stCondLst>
                      <p:childTnLst>
                        <p:par>
                          <p:cTn id="198" fill="hold">
                            <p:stCondLst>
                              <p:cond delay="0"/>
                            </p:stCondLst>
                            <p:childTnLst>
                              <p:par>
                                <p:cTn id="199" nodeType="clickEffect" fill="hold" presetClass="entr" presetID="22" presetSubtype="8">
                                  <p:stCondLst>
                                    <p:cond delay="0"/>
                                  </p:stCondLst>
                                  <p:childTnLst>
                                    <p:set>
                                      <p:cBhvr>
                                        <p:cTn id="200" dur="1" fill="hold">
                                          <p:stCondLst>
                                            <p:cond delay="0"/>
                                          </p:stCondLst>
                                        </p:cTn>
                                        <p:tgtEl>
                                          <p:spTgt spid="377"/>
                                        </p:tgtEl>
                                        <p:attrNameLst>
                                          <p:attrName>style.visibility</p:attrName>
                                        </p:attrNameLst>
                                      </p:cBhvr>
                                      <p:to>
                                        <p:strVal val="visible"/>
                                      </p:to>
                                    </p:set>
                                    <p:animEffect filter="wipe(left)" transition="in">
                                      <p:cBhvr additive="repl">
                                        <p:cTn id="201" dur="500"/>
                                        <p:tgtEl>
                                          <p:spTgt spid="377"/>
                                        </p:tgtEl>
                                      </p:cBhvr>
                                    </p:animEffect>
                                  </p:childTnLst>
                                </p:cTn>
                              </p:par>
                              <p:par>
                                <p:cTn id="202" nodeType="withEffect" fill="hold" presetClass="entr" presetID="22" presetSubtype="8">
                                  <p:stCondLst>
                                    <p:cond delay="0"/>
                                  </p:stCondLst>
                                  <p:childTnLst>
                                    <p:set>
                                      <p:cBhvr>
                                        <p:cTn id="203" dur="1" fill="hold">
                                          <p:stCondLst>
                                            <p:cond delay="0"/>
                                          </p:stCondLst>
                                        </p:cTn>
                                        <p:tgtEl>
                                          <p:spTgt spid="376"/>
                                        </p:tgtEl>
                                        <p:attrNameLst>
                                          <p:attrName>style.visibility</p:attrName>
                                        </p:attrNameLst>
                                      </p:cBhvr>
                                      <p:to>
                                        <p:strVal val="visible"/>
                                      </p:to>
                                    </p:set>
                                    <p:animEffect filter="wipe(left)" transition="in">
                                      <p:cBhvr additive="repl">
                                        <p:cTn id="204" dur="500"/>
                                        <p:tgtEl>
                                          <p:spTgt spid="376"/>
                                        </p:tgtEl>
                                      </p:cBhvr>
                                    </p:animEffec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22" presetSubtype="2">
                                  <p:stCondLst>
                                    <p:cond delay="0"/>
                                  </p:stCondLst>
                                  <p:childTnLst>
                                    <p:set>
                                      <p:cBhvr>
                                        <p:cTn id="208" dur="1" fill="hold">
                                          <p:stCondLst>
                                            <p:cond delay="0"/>
                                          </p:stCondLst>
                                        </p:cTn>
                                        <p:tgtEl>
                                          <p:spTgt spid="364"/>
                                        </p:tgtEl>
                                        <p:attrNameLst>
                                          <p:attrName>style.visibility</p:attrName>
                                        </p:attrNameLst>
                                      </p:cBhvr>
                                      <p:to>
                                        <p:strVal val="visible"/>
                                      </p:to>
                                    </p:set>
                                    <p:animEffect filter="wipe(right)" transition="out">
                                      <p:cBhvr additive="repl">
                                        <p:cTn id="209" dur="500"/>
                                        <p:tgtEl>
                                          <p:spTgt spid="364"/>
                                        </p:tgtEl>
                                      </p:cBhvr>
                                    </p:animEffect>
                                  </p:childTnLst>
                                </p:cTn>
                              </p:par>
                              <p:par>
                                <p:cTn id="210" nodeType="withEffect" fill="hold" presetClass="entr" presetID="22" presetSubtype="2">
                                  <p:stCondLst>
                                    <p:cond delay="0"/>
                                  </p:stCondLst>
                                  <p:childTnLst>
                                    <p:set>
                                      <p:cBhvr>
                                        <p:cTn id="211" dur="1" fill="hold">
                                          <p:stCondLst>
                                            <p:cond delay="0"/>
                                          </p:stCondLst>
                                        </p:cTn>
                                        <p:tgtEl>
                                          <p:spTgt spid="378"/>
                                        </p:tgtEl>
                                        <p:attrNameLst>
                                          <p:attrName>style.visibility</p:attrName>
                                        </p:attrNameLst>
                                      </p:cBhvr>
                                      <p:to>
                                        <p:strVal val="visible"/>
                                      </p:to>
                                    </p:set>
                                    <p:animEffect filter="wipe(right)" transition="out">
                                      <p:cBhvr additive="repl">
                                        <p:cTn id="212" dur="500"/>
                                        <p:tgtEl>
                                          <p:spTgt spid="378"/>
                                        </p:tgtEl>
                                      </p:cBhvr>
                                    </p:animEffect>
                                  </p:childTnLst>
                                </p:cTn>
                              </p:par>
                              <p:par>
                                <p:cTn id="213" nodeType="withEffect" fill="hold" presetClass="entr" presetID="22" presetSubtype="2">
                                  <p:stCondLst>
                                    <p:cond delay="0"/>
                                  </p:stCondLst>
                                  <p:childTnLst>
                                    <p:set>
                                      <p:cBhvr>
                                        <p:cTn id="214" dur="1" fill="hold">
                                          <p:stCondLst>
                                            <p:cond delay="0"/>
                                          </p:stCondLst>
                                        </p:cTn>
                                        <p:tgtEl>
                                          <p:spTgt spid="363"/>
                                        </p:tgtEl>
                                        <p:attrNameLst>
                                          <p:attrName>style.visibility</p:attrName>
                                        </p:attrNameLst>
                                      </p:cBhvr>
                                      <p:to>
                                        <p:strVal val="visible"/>
                                      </p:to>
                                    </p:set>
                                    <p:animEffect filter="wipe(right)" transition="out">
                                      <p:cBhvr additive="repl">
                                        <p:cTn id="215" dur="500"/>
                                        <p:tgtEl>
                                          <p:spTgt spid="36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48" name="CustomShape 1"/>
          <p:cNvSpPr/>
          <p:nvPr/>
        </p:nvSpPr>
        <p:spPr>
          <a:xfrm>
            <a:off x="899640" y="48960"/>
            <a:ext cx="8011800" cy="6566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Providing Public Goods</a:t>
            </a:r>
            <a:endParaRPr lang="en-US" sz="1800" spc="-1" strike="noStrike">
              <a:solidFill>
                <a:srgbClr val="000000"/>
              </a:solidFill>
              <a:uFill>
                <a:solidFill>
                  <a:srgbClr val="ffffff"/>
                </a:solidFill>
              </a:uFill>
              <a:latin typeface="Arial"/>
            </a:endParaRPr>
          </a:p>
        </p:txBody>
      </p:sp>
      <p:sp>
        <p:nvSpPr>
          <p:cNvPr id="449" name="CustomShape 2"/>
          <p:cNvSpPr/>
          <p:nvPr/>
        </p:nvSpPr>
        <p:spPr>
          <a:xfrm>
            <a:off x="899640" y="912960"/>
            <a:ext cx="8011800" cy="541116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No individual has an incentive to pay for providing the efficient quantity of a public good because each individual’s marginal benefit is less than the marginal social benefit.</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This is a primary justification for the existence of government.</a:t>
            </a:r>
            <a:endParaRPr lang="en-US" sz="1800" spc="-1" strike="noStrike">
              <a:solidFill>
                <a:srgbClr val="000000"/>
              </a:solidFill>
              <a:uFill>
                <a:solidFill>
                  <a:srgbClr val="ffffff"/>
                </a:solidFill>
              </a:uFill>
              <a:latin typeface="Arial"/>
            </a:endParaRPr>
          </a:p>
        </p:txBody>
      </p:sp>
    </p:spTree>
  </p:cSld>
  <p:timing>
    <p:tnLst>
      <p:par>
        <p:cTn id="216" dur="indefinite" restart="never" nodeType="tmRoot">
          <p:childTnLst>
            <p:seq>
              <p:cTn id="217" dur="indefinite" nodeType="mainSeq">
                <p:childTnLst>
                  <p:par>
                    <p:cTn id="218" fill="hold">
                      <p:stCondLst>
                        <p:cond delay="indefinite"/>
                      </p:stCondLst>
                      <p:childTnLst>
                        <p:par>
                          <p:cTn id="219" fill="hold">
                            <p:stCondLst>
                              <p:cond delay="0"/>
                            </p:stCondLst>
                            <p:childTnLst>
                              <p:par>
                                <p:cTn id="220" nodeType="clickEffect" fill="hold" presetClass="entr" presetID="22" presetSubtype="8">
                                  <p:stCondLst>
                                    <p:cond delay="0"/>
                                  </p:stCondLst>
                                  <p:childTnLst>
                                    <p:set>
                                      <p:cBhvr>
                                        <p:cTn id="221" dur="1" fill="hold">
                                          <p:stCondLst>
                                            <p:cond delay="0"/>
                                          </p:stCondLst>
                                        </p:cTn>
                                        <p:tgtEl>
                                          <p:spTgt spid="449">
                                            <p:txEl>
                                              <p:pRg st="0" end="177"/>
                                            </p:txEl>
                                          </p:spTgt>
                                        </p:tgtEl>
                                        <p:attrNameLst>
                                          <p:attrName>style.visibility</p:attrName>
                                        </p:attrNameLst>
                                      </p:cBhvr>
                                      <p:to>
                                        <p:strVal val="visible"/>
                                      </p:to>
                                    </p:set>
                                    <p:animEffect filter="wipe(left)" transition="in">
                                      <p:cBhvr additive="repl">
                                        <p:cTn id="222" dur="500"/>
                                        <p:tgtEl>
                                          <p:spTgt spid="449">
                                            <p:txEl>
                                              <p:pRg st="0" end="177"/>
                                            </p:txEl>
                                          </p:spTgt>
                                        </p:tgtEl>
                                      </p:cBhvr>
                                    </p:animEffec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22" presetSubtype="8">
                                  <p:stCondLst>
                                    <p:cond delay="0"/>
                                  </p:stCondLst>
                                  <p:childTnLst>
                                    <p:set>
                                      <p:cBhvr>
                                        <p:cTn id="226" dur="1" fill="hold">
                                          <p:stCondLst>
                                            <p:cond delay="0"/>
                                          </p:stCondLst>
                                        </p:cTn>
                                        <p:tgtEl>
                                          <p:spTgt spid="449">
                                            <p:txEl>
                                              <p:pRg st="243" end="243"/>
                                            </p:txEl>
                                          </p:spTgt>
                                        </p:tgtEl>
                                        <p:attrNameLst>
                                          <p:attrName>style.visibility</p:attrName>
                                        </p:attrNameLst>
                                      </p:cBhvr>
                                      <p:to>
                                        <p:strVal val="visible"/>
                                      </p:to>
                                    </p:set>
                                    <p:animEffect filter="wipe(left)" transition="in">
                                      <p:cBhvr additive="repl">
                                        <p:cTn id="227" dur="500"/>
                                        <p:tgtEl>
                                          <p:spTgt spid="449">
                                            <p:txEl>
                                              <p:pRg st="243" end="243"/>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0" name="CustomShape 1"/>
          <p:cNvSpPr/>
          <p:nvPr/>
        </p:nvSpPr>
        <p:spPr>
          <a:xfrm>
            <a:off x="971640" y="100080"/>
            <a:ext cx="793980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Cost-Benefit Analysis</a:t>
            </a:r>
            <a:endParaRPr lang="en-US" sz="1800" spc="-1" strike="noStrike">
              <a:solidFill>
                <a:srgbClr val="000000"/>
              </a:solidFill>
              <a:uFill>
                <a:solidFill>
                  <a:srgbClr val="ffffff"/>
                </a:solidFill>
              </a:uFill>
              <a:latin typeface="Arial"/>
            </a:endParaRPr>
          </a:p>
        </p:txBody>
      </p:sp>
      <p:sp>
        <p:nvSpPr>
          <p:cNvPr id="451" name="CustomShape 2"/>
          <p:cNvSpPr/>
          <p:nvPr/>
        </p:nvSpPr>
        <p:spPr>
          <a:xfrm>
            <a:off x="971640" y="893520"/>
            <a:ext cx="7939800" cy="555912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Governments engage in </a:t>
            </a:r>
            <a:r>
              <a:rPr b="1" lang="en-US" sz="2400" spc="-1" strike="noStrike">
                <a:solidFill>
                  <a:srgbClr val="000000"/>
                </a:solidFill>
                <a:uFill>
                  <a:solidFill>
                    <a:srgbClr val="ffffff"/>
                  </a:solidFill>
                </a:uFill>
                <a:latin typeface="Calibri"/>
                <a:ea typeface="MS PGothic"/>
              </a:rPr>
              <a:t>cost-benefit analysis </a:t>
            </a:r>
            <a:r>
              <a:rPr lang="en-US" sz="2400" spc="-1" strike="noStrike">
                <a:solidFill>
                  <a:srgbClr val="000000"/>
                </a:solidFill>
                <a:uFill>
                  <a:solidFill>
                    <a:srgbClr val="ffffff"/>
                  </a:solidFill>
                </a:uFill>
                <a:latin typeface="Calibri"/>
                <a:ea typeface="MS PGothic"/>
              </a:rPr>
              <a:t>when they estimate the social costs and social benefits of providing a public good.</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Although governments should rely on </a:t>
            </a:r>
            <a:r>
              <a:rPr i="1" lang="en-US" sz="2400" spc="-1" strike="noStrike">
                <a:solidFill>
                  <a:srgbClr val="000000"/>
                </a:solidFill>
                <a:uFill>
                  <a:solidFill>
                    <a:srgbClr val="ffffff"/>
                  </a:solidFill>
                </a:uFill>
                <a:latin typeface="Calibri"/>
                <a:ea typeface="MS PGothic"/>
              </a:rPr>
              <a:t>cost-benefit analysis </a:t>
            </a:r>
            <a:r>
              <a:rPr lang="en-US" sz="2400" spc="-1" strike="noStrike">
                <a:solidFill>
                  <a:srgbClr val="000000"/>
                </a:solidFill>
                <a:uFill>
                  <a:solidFill>
                    <a:srgbClr val="ffffff"/>
                  </a:solidFill>
                </a:uFill>
                <a:latin typeface="Calibri"/>
                <a:ea typeface="MS PGothic"/>
              </a:rPr>
              <a:t>to determine how much of a public good to supply, doing so is problematic because individuals tend to overstate the good’s value to them.</a:t>
            </a:r>
            <a:endParaRPr lang="en-US" sz="1800" spc="-1" strike="noStrike">
              <a:solidFill>
                <a:srgbClr val="000000"/>
              </a:solidFill>
              <a:uFill>
                <a:solidFill>
                  <a:srgbClr val="ffffff"/>
                </a:solidFill>
              </a:uFill>
              <a:latin typeface="Arial"/>
            </a:endParaRPr>
          </a:p>
        </p:txBody>
      </p:sp>
    </p:spTree>
  </p:cSld>
  <p:timing>
    <p:tnLst>
      <p:par>
        <p:cTn id="228" dur="indefinite" restart="never" nodeType="tmRoot">
          <p:childTnLst>
            <p:seq>
              <p:cTn id="229" dur="indefinite" nodeType="mainSeq">
                <p:childTnLst>
                  <p:par>
                    <p:cTn id="230" fill="hold">
                      <p:stCondLst>
                        <p:cond delay="indefinite"/>
                      </p:stCondLst>
                      <p:childTnLst>
                        <p:par>
                          <p:cTn id="231" fill="hold">
                            <p:stCondLst>
                              <p:cond delay="0"/>
                            </p:stCondLst>
                            <p:childTnLst>
                              <p:par>
                                <p:cTn id="232" nodeType="clickEffect" fill="hold" presetClass="entr" presetID="22" presetSubtype="8">
                                  <p:stCondLst>
                                    <p:cond delay="0"/>
                                  </p:stCondLst>
                                  <p:childTnLst>
                                    <p:set>
                                      <p:cBhvr>
                                        <p:cTn id="233" dur="1" fill="hold">
                                          <p:stCondLst>
                                            <p:cond delay="0"/>
                                          </p:stCondLst>
                                        </p:cTn>
                                        <p:tgtEl>
                                          <p:spTgt spid="451">
                                            <p:txEl>
                                              <p:pRg st="0" end="128"/>
                                            </p:txEl>
                                          </p:spTgt>
                                        </p:tgtEl>
                                        <p:attrNameLst>
                                          <p:attrName>style.visibility</p:attrName>
                                        </p:attrNameLst>
                                      </p:cBhvr>
                                      <p:to>
                                        <p:strVal val="visible"/>
                                      </p:to>
                                    </p:set>
                                    <p:animEffect filter="wipe(left)" transition="in">
                                      <p:cBhvr additive="repl">
                                        <p:cTn id="234" dur="500"/>
                                        <p:tgtEl>
                                          <p:spTgt spid="451">
                                            <p:txEl>
                                              <p:pRg st="0" end="128"/>
                                            </p:txEl>
                                          </p:spTgt>
                                        </p:tgtEl>
                                      </p:cBhvr>
                                    </p:animEffec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22" presetSubtype="8">
                                  <p:stCondLst>
                                    <p:cond delay="0"/>
                                  </p:stCondLst>
                                  <p:childTnLst>
                                    <p:set>
                                      <p:cBhvr>
                                        <p:cTn id="238" dur="1" fill="hold">
                                          <p:stCondLst>
                                            <p:cond delay="0"/>
                                          </p:stCondLst>
                                        </p:cTn>
                                        <p:tgtEl>
                                          <p:spTgt spid="451">
                                            <p:txEl>
                                              <p:pRg st="325" end="325"/>
                                            </p:txEl>
                                          </p:spTgt>
                                        </p:tgtEl>
                                        <p:attrNameLst>
                                          <p:attrName>style.visibility</p:attrName>
                                        </p:attrNameLst>
                                      </p:cBhvr>
                                      <p:to>
                                        <p:strVal val="visible"/>
                                      </p:to>
                                    </p:set>
                                    <p:animEffect filter="wipe(left)" transition="in">
                                      <p:cBhvr additive="repl">
                                        <p:cTn id="239" dur="500"/>
                                        <p:tgtEl>
                                          <p:spTgt spid="451">
                                            <p:txEl>
                                              <p:pRg st="325" end="32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2" name="CustomShape 1"/>
          <p:cNvSpPr/>
          <p:nvPr/>
        </p:nvSpPr>
        <p:spPr>
          <a:xfrm>
            <a:off x="899640" y="128520"/>
            <a:ext cx="8015040" cy="58032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Common Resources</a:t>
            </a:r>
            <a:endParaRPr lang="en-US" sz="1800" spc="-1" strike="noStrike">
              <a:solidFill>
                <a:srgbClr val="000000"/>
              </a:solidFill>
              <a:uFill>
                <a:solidFill>
                  <a:srgbClr val="ffffff"/>
                </a:solidFill>
              </a:uFill>
              <a:latin typeface="Arial"/>
            </a:endParaRPr>
          </a:p>
        </p:txBody>
      </p:sp>
      <p:sp>
        <p:nvSpPr>
          <p:cNvPr id="453" name="CustomShape 2"/>
          <p:cNvSpPr/>
          <p:nvPr/>
        </p:nvSpPr>
        <p:spPr>
          <a:xfrm>
            <a:off x="899640" y="930240"/>
            <a:ext cx="8015040" cy="411336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 </a:t>
            </a:r>
            <a:r>
              <a:rPr b="1" lang="en-US" sz="2400" spc="-1" strike="noStrike">
                <a:solidFill>
                  <a:srgbClr val="000000"/>
                </a:solidFill>
                <a:uFill>
                  <a:solidFill>
                    <a:srgbClr val="ffffff"/>
                  </a:solidFill>
                </a:uFill>
                <a:latin typeface="Calibri"/>
                <a:ea typeface="MS PGothic"/>
              </a:rPr>
              <a:t>common resource </a:t>
            </a:r>
            <a:r>
              <a:rPr lang="en-US" sz="2400" spc="-1" strike="noStrike">
                <a:solidFill>
                  <a:srgbClr val="000000"/>
                </a:solidFill>
                <a:uFill>
                  <a:solidFill>
                    <a:srgbClr val="ffffff"/>
                  </a:solidFill>
                </a:uFill>
                <a:latin typeface="Calibri"/>
                <a:ea typeface="MS PGothic"/>
              </a:rPr>
              <a:t>is nonexcludable and rival in consumption: you can’t stop me from consuming the good, and more consumption by me means less of the good available for you.</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Some examples of common resources are clean air and water as well as the diversity of animal and plant species on the planet (biodiversity).</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In each of these cases, the fact that the good, though rival in consumption, is nonexcludable poses a serious problem.</a:t>
            </a:r>
            <a:endParaRPr lang="en-US" sz="1800" spc="-1" strike="noStrike">
              <a:solidFill>
                <a:srgbClr val="000000"/>
              </a:solidFill>
              <a:uFill>
                <a:solidFill>
                  <a:srgbClr val="ffffff"/>
                </a:solidFill>
              </a:uFill>
              <a:latin typeface="Arial"/>
            </a:endParaRPr>
          </a:p>
        </p:txBody>
      </p:sp>
    </p:spTree>
  </p:cSld>
  <p:timing>
    <p:tnLst>
      <p:par>
        <p:cTn id="240" dur="indefinite" restart="never" nodeType="tmRoot">
          <p:childTnLst>
            <p:seq>
              <p:cTn id="241" dur="indefinite" nodeType="mainSeq">
                <p:childTnLst>
                  <p:par>
                    <p:cTn id="242" fill="hold">
                      <p:stCondLst>
                        <p:cond delay="indefinite"/>
                      </p:stCondLst>
                      <p:childTnLst>
                        <p:par>
                          <p:cTn id="243" fill="hold">
                            <p:stCondLst>
                              <p:cond delay="0"/>
                            </p:stCondLst>
                            <p:childTnLst>
                              <p:par>
                                <p:cTn id="244" nodeType="clickEffect" fill="hold" presetClass="entr" presetID="22" presetSubtype="8">
                                  <p:stCondLst>
                                    <p:cond delay="0"/>
                                  </p:stCondLst>
                                  <p:childTnLst>
                                    <p:set>
                                      <p:cBhvr>
                                        <p:cTn id="245" dur="1" fill="hold">
                                          <p:stCondLst>
                                            <p:cond delay="0"/>
                                          </p:stCondLst>
                                        </p:cTn>
                                        <p:tgtEl>
                                          <p:spTgt spid="453">
                                            <p:txEl>
                                              <p:pRg st="0" end="173"/>
                                            </p:txEl>
                                          </p:spTgt>
                                        </p:tgtEl>
                                        <p:attrNameLst>
                                          <p:attrName>style.visibility</p:attrName>
                                        </p:attrNameLst>
                                      </p:cBhvr>
                                      <p:to>
                                        <p:strVal val="visible"/>
                                      </p:to>
                                    </p:set>
                                    <p:animEffect filter="wipe(left)" transition="in">
                                      <p:cBhvr additive="repl">
                                        <p:cTn id="246" dur="500"/>
                                        <p:tgtEl>
                                          <p:spTgt spid="453">
                                            <p:txEl>
                                              <p:pRg st="0" end="173"/>
                                            </p:txEl>
                                          </p:spTgt>
                                        </p:tgtEl>
                                      </p:cBhvr>
                                    </p:animEffect>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22" presetSubtype="8">
                                  <p:stCondLst>
                                    <p:cond delay="0"/>
                                  </p:stCondLst>
                                  <p:childTnLst>
                                    <p:set>
                                      <p:cBhvr>
                                        <p:cTn id="250" dur="1" fill="hold">
                                          <p:stCondLst>
                                            <p:cond delay="0"/>
                                          </p:stCondLst>
                                        </p:cTn>
                                        <p:tgtEl>
                                          <p:spTgt spid="453">
                                            <p:txEl>
                                              <p:pRg st="435" end="435"/>
                                            </p:txEl>
                                          </p:spTgt>
                                        </p:tgtEl>
                                        <p:attrNameLst>
                                          <p:attrName>style.visibility</p:attrName>
                                        </p:attrNameLst>
                                      </p:cBhvr>
                                      <p:to>
                                        <p:strVal val="visible"/>
                                      </p:to>
                                    </p:set>
                                    <p:animEffect filter="wipe(left)" transition="in">
                                      <p:cBhvr additive="repl">
                                        <p:cTn id="251" dur="500"/>
                                        <p:tgtEl>
                                          <p:spTgt spid="453">
                                            <p:txEl>
                                              <p:pRg st="435" end="435"/>
                                            </p:txEl>
                                          </p:spTgt>
                                        </p:tgtEl>
                                      </p:cBhvr>
                                    </p:animEffect>
                                  </p:childTnLst>
                                </p:cTn>
                              </p:par>
                            </p:childTnLst>
                          </p:cTn>
                        </p:par>
                      </p:childTnLst>
                    </p:cTn>
                  </p:par>
                  <p:par>
                    <p:cTn id="252" fill="hold">
                      <p:stCondLst>
                        <p:cond delay="indefinite"/>
                      </p:stCondLst>
                      <p:childTnLst>
                        <p:par>
                          <p:cTn id="253" fill="hold">
                            <p:stCondLst>
                              <p:cond delay="0"/>
                            </p:stCondLst>
                            <p:childTnLst>
                              <p:par>
                                <p:cTn id="254" nodeType="clickEffect" fill="hold" presetClass="entr" presetID="22" presetSubtype="8">
                                  <p:stCondLst>
                                    <p:cond delay="0"/>
                                  </p:stCondLst>
                                  <p:childTnLst>
                                    <p:set>
                                      <p:cBhvr>
                                        <p:cTn id="255" dur="1" fill="hold">
                                          <p:stCondLst>
                                            <p:cond delay="0"/>
                                          </p:stCondLst>
                                        </p:cTn>
                                        <p:tgtEl>
                                          <p:spTgt spid="453">
                                            <p:txEl>
                                              <p:pRg st="435" end="435"/>
                                            </p:txEl>
                                          </p:spTgt>
                                        </p:tgtEl>
                                        <p:attrNameLst>
                                          <p:attrName>style.visibility</p:attrName>
                                        </p:attrNameLst>
                                      </p:cBhvr>
                                      <p:to>
                                        <p:strVal val="visible"/>
                                      </p:to>
                                    </p:set>
                                    <p:animEffect filter="wipe(left)" transition="in">
                                      <p:cBhvr additive="repl">
                                        <p:cTn id="256" dur="500"/>
                                        <p:tgtEl>
                                          <p:spTgt spid="453">
                                            <p:txEl>
                                              <p:pRg st="435" end="43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4" name="CustomShape 1"/>
          <p:cNvSpPr/>
          <p:nvPr/>
        </p:nvSpPr>
        <p:spPr>
          <a:xfrm>
            <a:off x="899640" y="104760"/>
            <a:ext cx="801036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The Problem of Overuse</a:t>
            </a:r>
            <a:endParaRPr lang="en-US" sz="1800" spc="-1" strike="noStrike">
              <a:solidFill>
                <a:srgbClr val="000000"/>
              </a:solidFill>
              <a:uFill>
                <a:solidFill>
                  <a:srgbClr val="ffffff"/>
                </a:solidFill>
              </a:uFill>
              <a:latin typeface="Arial"/>
            </a:endParaRPr>
          </a:p>
        </p:txBody>
      </p:sp>
      <p:sp>
        <p:nvSpPr>
          <p:cNvPr id="455" name="CustomShape 2"/>
          <p:cNvSpPr/>
          <p:nvPr/>
        </p:nvSpPr>
        <p:spPr>
          <a:xfrm>
            <a:off x="899640" y="893520"/>
            <a:ext cx="8010360" cy="4983120"/>
          </a:xfrm>
          <a:prstGeom prst="rect">
            <a:avLst/>
          </a:prstGeom>
          <a:noFill/>
          <a:ln w="9360">
            <a:noFill/>
          </a:ln>
        </p:spPr>
        <p:style>
          <a:lnRef idx="0"/>
          <a:fillRef idx="0"/>
          <a:effectRef idx="0"/>
          <a:fontRef idx="minor"/>
        </p:style>
        <p:txBody>
          <a:bodyPr lIns="90000" rIns="90000" tIns="45000" bIns="45000"/>
          <a:p>
            <a:r>
              <a:rPr lang="en-US" sz="2400" spc="-1" strike="noStrike">
                <a:solidFill>
                  <a:srgbClr val="000000"/>
                </a:solidFill>
                <a:uFill>
                  <a:solidFill>
                    <a:srgbClr val="ffffff"/>
                  </a:solidFill>
                </a:uFill>
                <a:latin typeface="Calibri"/>
                <a:ea typeface="MS PGothic"/>
              </a:rPr>
              <a:t>Common resources left to the free market suffer from </a:t>
            </a:r>
            <a:r>
              <a:rPr i="1" lang="en-US" sz="2400" spc="-1" strike="noStrike">
                <a:solidFill>
                  <a:srgbClr val="000000"/>
                </a:solidFill>
                <a:uFill>
                  <a:solidFill>
                    <a:srgbClr val="ffffff"/>
                  </a:solidFill>
                </a:uFill>
                <a:latin typeface="Calibri"/>
                <a:ea typeface="MS PGothic"/>
              </a:rPr>
              <a:t>overuse</a:t>
            </a:r>
            <a:r>
              <a:rPr b="1" lang="en-US" sz="2400" spc="-1" strike="noStrike">
                <a:solidFill>
                  <a:srgbClr val="000000"/>
                </a:solidFill>
                <a:uFill>
                  <a:solidFill>
                    <a:srgbClr val="ffffff"/>
                  </a:solidFill>
                </a:uFill>
                <a:latin typeface="Calibri"/>
                <a:ea typeface="MS PGothic"/>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b="1"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b="1" lang="en-US" sz="2400" spc="-1" strike="noStrike">
                <a:solidFill>
                  <a:srgbClr val="000000"/>
                </a:solidFill>
                <a:uFill>
                  <a:solidFill>
                    <a:srgbClr val="ffffff"/>
                  </a:solidFill>
                </a:uFill>
                <a:latin typeface="Calibri"/>
                <a:ea typeface="MS PGothic"/>
              </a:rPr>
              <a:t>Overuse </a:t>
            </a:r>
            <a:r>
              <a:rPr lang="en-US" sz="2400" spc="-1" strike="noStrike">
                <a:solidFill>
                  <a:srgbClr val="000000"/>
                </a:solidFill>
                <a:uFill>
                  <a:solidFill>
                    <a:srgbClr val="ffffff"/>
                  </a:solidFill>
                </a:uFill>
                <a:latin typeface="Calibri"/>
                <a:ea typeface="MS PGothic"/>
              </a:rPr>
              <a:t>occurs when a user depletes the amount of the common resource available to others but does not take this cost into account when deciding how much to use the common resource.</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In the case of a common resource, the </a:t>
            </a:r>
            <a:r>
              <a:rPr i="1" lang="en-US" sz="2400" spc="-1" strike="noStrike">
                <a:solidFill>
                  <a:srgbClr val="000000"/>
                </a:solidFill>
                <a:uFill>
                  <a:solidFill>
                    <a:srgbClr val="ffffff"/>
                  </a:solidFill>
                </a:uFill>
                <a:latin typeface="Calibri"/>
                <a:ea typeface="MS PGothic"/>
              </a:rPr>
              <a:t>marginal social cost </a:t>
            </a:r>
            <a:r>
              <a:rPr lang="en-US" sz="2400" spc="-1" strike="noStrike">
                <a:solidFill>
                  <a:srgbClr val="000000"/>
                </a:solidFill>
                <a:uFill>
                  <a:solidFill>
                    <a:srgbClr val="ffffff"/>
                  </a:solidFill>
                </a:uFill>
                <a:latin typeface="Calibri"/>
                <a:ea typeface="MS PGothic"/>
              </a:rPr>
              <a:t>of my use of that resource is higher than my individual </a:t>
            </a:r>
            <a:r>
              <a:rPr i="1" lang="en-US" sz="2400" spc="-1" strike="noStrike">
                <a:solidFill>
                  <a:srgbClr val="000000"/>
                </a:solidFill>
                <a:uFill>
                  <a:solidFill>
                    <a:srgbClr val="ffffff"/>
                  </a:solidFill>
                </a:uFill>
                <a:latin typeface="Calibri"/>
                <a:ea typeface="MS PGothic"/>
              </a:rPr>
              <a:t>marginal cost</a:t>
            </a:r>
            <a:r>
              <a:rPr lang="en-US" sz="2400" spc="-1" strike="noStrike">
                <a:solidFill>
                  <a:srgbClr val="000000"/>
                </a:solidFill>
                <a:uFill>
                  <a:solidFill>
                    <a:srgbClr val="ffffff"/>
                  </a:solidFill>
                </a:uFill>
                <a:latin typeface="Calibri"/>
                <a:ea typeface="MS PGothic"/>
              </a:rPr>
              <a:t> or the cost to me of using an additional unit of the good.</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DejaVu Sans"/>
              </a:rPr>
              <a:t> </a:t>
            </a: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The following figure illustrates this point.</a:t>
            </a:r>
            <a:endParaRPr lang="en-US" sz="1800" spc="-1" strike="noStrike">
              <a:solidFill>
                <a:srgbClr val="000000"/>
              </a:solidFill>
              <a:uFill>
                <a:solidFill>
                  <a:srgbClr val="ffffff"/>
                </a:solidFill>
              </a:uFill>
              <a:latin typeface="Arial"/>
            </a:endParaRPr>
          </a:p>
        </p:txBody>
      </p:sp>
    </p:spTree>
  </p:cSld>
  <p:timing>
    <p:tnLst>
      <p:par>
        <p:cTn id="257" dur="indefinite" restart="never" nodeType="tmRoot">
          <p:childTnLst>
            <p:seq>
              <p:cTn id="258" dur="indefinite" nodeType="mainSeq">
                <p:childTnLst>
                  <p:par>
                    <p:cTn id="259" fill="hold">
                      <p:stCondLst>
                        <p:cond delay="indefinite"/>
                      </p:stCondLst>
                      <p:childTnLst>
                        <p:par>
                          <p:cTn id="260" fill="hold">
                            <p:stCondLst>
                              <p:cond delay="0"/>
                            </p:stCondLst>
                            <p:childTnLst>
                              <p:par>
                                <p:cTn id="261" nodeType="clickEffect" fill="hold" presetClass="entr" presetID="22" presetSubtype="8">
                                  <p:stCondLst>
                                    <p:cond delay="0"/>
                                  </p:stCondLst>
                                  <p:childTnLst>
                                    <p:set>
                                      <p:cBhvr>
                                        <p:cTn id="262" dur="1" fill="hold">
                                          <p:stCondLst>
                                            <p:cond delay="0"/>
                                          </p:stCondLst>
                                        </p:cTn>
                                        <p:tgtEl>
                                          <p:spTgt spid="455">
                                            <p:txEl>
                                              <p:pRg st="0" end="64"/>
                                            </p:txEl>
                                          </p:spTgt>
                                        </p:tgtEl>
                                        <p:attrNameLst>
                                          <p:attrName>style.visibility</p:attrName>
                                        </p:attrNameLst>
                                      </p:cBhvr>
                                      <p:to>
                                        <p:strVal val="visible"/>
                                      </p:to>
                                    </p:set>
                                    <p:animEffect filter="wipe(left)" transition="in">
                                      <p:cBhvr additive="repl">
                                        <p:cTn id="263" dur="500"/>
                                        <p:tgtEl>
                                          <p:spTgt spid="455">
                                            <p:txEl>
                                              <p:pRg st="0" end="64"/>
                                            </p:txEl>
                                          </p:spTgt>
                                        </p:tgtEl>
                                      </p:cBhvr>
                                    </p:animEffect>
                                  </p:childTnLst>
                                </p:cTn>
                              </p:par>
                            </p:childTnLst>
                          </p:cTn>
                        </p:par>
                      </p:childTnLst>
                    </p:cTn>
                  </p:par>
                  <p:par>
                    <p:cTn id="264" fill="hold">
                      <p:stCondLst>
                        <p:cond delay="indefinite"/>
                      </p:stCondLst>
                      <p:childTnLst>
                        <p:par>
                          <p:cTn id="265" fill="hold">
                            <p:stCondLst>
                              <p:cond delay="0"/>
                            </p:stCondLst>
                            <p:childTnLst>
                              <p:par>
                                <p:cTn id="266" nodeType="clickEffect" fill="hold" presetClass="entr" presetID="22" presetSubtype="8">
                                  <p:stCondLst>
                                    <p:cond delay="0"/>
                                  </p:stCondLst>
                                  <p:childTnLst>
                                    <p:set>
                                      <p:cBhvr>
                                        <p:cTn id="267" dur="1" fill="hold">
                                          <p:stCondLst>
                                            <p:cond delay="0"/>
                                          </p:stCondLst>
                                        </p:cTn>
                                        <p:tgtEl>
                                          <p:spTgt spid="455">
                                            <p:txEl>
                                              <p:pRg st="485" end="485"/>
                                            </p:txEl>
                                          </p:spTgt>
                                        </p:tgtEl>
                                        <p:attrNameLst>
                                          <p:attrName>style.visibility</p:attrName>
                                        </p:attrNameLst>
                                      </p:cBhvr>
                                      <p:to>
                                        <p:strVal val="visible"/>
                                      </p:to>
                                    </p:set>
                                    <p:animEffect filter="wipe(left)" transition="in">
                                      <p:cBhvr additive="repl">
                                        <p:cTn id="268" dur="500"/>
                                        <p:tgtEl>
                                          <p:spTgt spid="455">
                                            <p:txEl>
                                              <p:pRg st="485" end="485"/>
                                            </p:txEl>
                                          </p:spTgt>
                                        </p:tgtEl>
                                      </p:cBhvr>
                                    </p:animEffect>
                                  </p:childTnLst>
                                </p:cTn>
                              </p:par>
                            </p:childTnLst>
                          </p:cTn>
                        </p:par>
                      </p:childTnLst>
                    </p:cTn>
                  </p:par>
                  <p:par>
                    <p:cTn id="269" fill="hold">
                      <p:stCondLst>
                        <p:cond delay="indefinite"/>
                      </p:stCondLst>
                      <p:childTnLst>
                        <p:par>
                          <p:cTn id="270" fill="hold">
                            <p:stCondLst>
                              <p:cond delay="0"/>
                            </p:stCondLst>
                            <p:childTnLst>
                              <p:par>
                                <p:cTn id="271" nodeType="clickEffect" fill="hold" presetClass="entr" presetID="22" presetSubtype="8">
                                  <p:stCondLst>
                                    <p:cond delay="0"/>
                                  </p:stCondLst>
                                  <p:childTnLst>
                                    <p:set>
                                      <p:cBhvr>
                                        <p:cTn id="272" dur="1" fill="hold">
                                          <p:stCondLst>
                                            <p:cond delay="0"/>
                                          </p:stCondLst>
                                        </p:cTn>
                                        <p:tgtEl>
                                          <p:spTgt spid="455">
                                            <p:txEl>
                                              <p:pRg st="485" end="485"/>
                                            </p:txEl>
                                          </p:spTgt>
                                        </p:tgtEl>
                                        <p:attrNameLst>
                                          <p:attrName>style.visibility</p:attrName>
                                        </p:attrNameLst>
                                      </p:cBhvr>
                                      <p:to>
                                        <p:strVal val="visible"/>
                                      </p:to>
                                    </p:set>
                                    <p:animEffect filter="wipe(left)" transition="in">
                                      <p:cBhvr additive="repl">
                                        <p:cTn id="273" dur="500"/>
                                        <p:tgtEl>
                                          <p:spTgt spid="455">
                                            <p:txEl>
                                              <p:pRg st="485" end="485"/>
                                            </p:txEl>
                                          </p:spTgt>
                                        </p:tgtEl>
                                      </p:cBhvr>
                                    </p:animEffect>
                                  </p:childTnLst>
                                </p:cTn>
                              </p:par>
                            </p:childTnLst>
                          </p:cTn>
                        </p:par>
                      </p:childTnLst>
                    </p:cTn>
                  </p:par>
                  <p:par>
                    <p:cTn id="274" fill="hold">
                      <p:stCondLst>
                        <p:cond delay="indefinite"/>
                      </p:stCondLst>
                      <p:childTnLst>
                        <p:par>
                          <p:cTn id="275" fill="hold">
                            <p:stCondLst>
                              <p:cond delay="0"/>
                            </p:stCondLst>
                            <p:childTnLst>
                              <p:par>
                                <p:cTn id="276" nodeType="clickEffect" fill="hold" presetClass="entr" presetID="22" presetSubtype="8">
                                  <p:stCondLst>
                                    <p:cond delay="0"/>
                                  </p:stCondLst>
                                  <p:childTnLst>
                                    <p:set>
                                      <p:cBhvr>
                                        <p:cTn id="277" dur="1" fill="hold">
                                          <p:stCondLst>
                                            <p:cond delay="0"/>
                                          </p:stCondLst>
                                        </p:cTn>
                                        <p:tgtEl>
                                          <p:spTgt spid="455">
                                            <p:txEl>
                                              <p:pRg st="485" end="485"/>
                                            </p:txEl>
                                          </p:spTgt>
                                        </p:tgtEl>
                                        <p:attrNameLst>
                                          <p:attrName>style.visibility</p:attrName>
                                        </p:attrNameLst>
                                      </p:cBhvr>
                                      <p:to>
                                        <p:strVal val="visible"/>
                                      </p:to>
                                    </p:set>
                                    <p:animEffect filter="wipe(left)" transition="in">
                                      <p:cBhvr additive="repl">
                                        <p:cTn id="278" dur="500"/>
                                        <p:tgtEl>
                                          <p:spTgt spid="455">
                                            <p:txEl>
                                              <p:pRg st="485" end="48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56" name="Line 1"/>
          <p:cNvSpPr/>
          <p:nvPr/>
        </p:nvSpPr>
        <p:spPr>
          <a:xfrm>
            <a:off x="1765440" y="1618920"/>
            <a:ext cx="4149720" cy="3924360"/>
          </a:xfrm>
          <a:prstGeom prst="line">
            <a:avLst/>
          </a:prstGeom>
          <a:ln w="30240">
            <a:solidFill>
              <a:srgbClr val="3c5daa"/>
            </a:solidFill>
            <a:miter/>
          </a:ln>
        </p:spPr>
        <p:style>
          <a:lnRef idx="0"/>
          <a:fillRef idx="0"/>
          <a:effectRef idx="0"/>
          <a:fontRef idx="minor"/>
        </p:style>
      </p:sp>
      <p:sp>
        <p:nvSpPr>
          <p:cNvPr id="457" name="CustomShape 2"/>
          <p:cNvSpPr/>
          <p:nvPr/>
        </p:nvSpPr>
        <p:spPr>
          <a:xfrm>
            <a:off x="5966640" y="5445000"/>
            <a:ext cx="1314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D</a:t>
            </a:r>
            <a:endParaRPr lang="en-US" sz="1800" spc="-1" strike="noStrike">
              <a:solidFill>
                <a:srgbClr val="000000"/>
              </a:solidFill>
              <a:uFill>
                <a:solidFill>
                  <a:srgbClr val="ffffff"/>
                </a:solidFill>
              </a:uFill>
              <a:latin typeface="Arial"/>
            </a:endParaRPr>
          </a:p>
        </p:txBody>
      </p:sp>
      <p:sp>
        <p:nvSpPr>
          <p:cNvPr id="458" name="CustomShape 3"/>
          <p:cNvSpPr/>
          <p:nvPr/>
        </p:nvSpPr>
        <p:spPr>
          <a:xfrm>
            <a:off x="3537000" y="2886120"/>
            <a:ext cx="13284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i="1" lang="en-US" sz="1400" spc="-1" strike="noStrike">
                <a:solidFill>
                  <a:srgbClr val="000000"/>
                </a:solidFill>
                <a:uFill>
                  <a:solidFill>
                    <a:srgbClr val="ffffff"/>
                  </a:solidFill>
                </a:uFill>
                <a:latin typeface="Myriad Roman"/>
                <a:ea typeface="MS PGothic"/>
              </a:rPr>
              <a:t>O</a:t>
            </a:r>
            <a:endParaRPr lang="en-US" sz="1800" spc="-1" strike="noStrike">
              <a:solidFill>
                <a:srgbClr val="000000"/>
              </a:solidFill>
              <a:uFill>
                <a:solidFill>
                  <a:srgbClr val="ffffff"/>
                </a:solidFill>
              </a:uFill>
              <a:latin typeface="Arial"/>
            </a:endParaRPr>
          </a:p>
        </p:txBody>
      </p:sp>
      <p:sp>
        <p:nvSpPr>
          <p:cNvPr id="459" name="CustomShape 4"/>
          <p:cNvSpPr/>
          <p:nvPr/>
        </p:nvSpPr>
        <p:spPr>
          <a:xfrm>
            <a:off x="7111080" y="3537000"/>
            <a:ext cx="9324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i="1" lang="en-US" sz="1400" spc="-1" strike="noStrike">
                <a:solidFill>
                  <a:srgbClr val="000000"/>
                </a:solidFill>
                <a:uFill>
                  <a:solidFill>
                    <a:srgbClr val="ffffff"/>
                  </a:solidFill>
                </a:uFill>
                <a:latin typeface="Myriad Roman"/>
                <a:ea typeface="MS PGothic"/>
              </a:rPr>
              <a:t>S</a:t>
            </a:r>
            <a:endParaRPr lang="en-US" sz="1800" spc="-1" strike="noStrike">
              <a:solidFill>
                <a:srgbClr val="000000"/>
              </a:solidFill>
              <a:uFill>
                <a:solidFill>
                  <a:srgbClr val="ffffff"/>
                </a:solidFill>
              </a:uFill>
              <a:latin typeface="Arial"/>
            </a:endParaRPr>
          </a:p>
        </p:txBody>
      </p:sp>
      <p:sp>
        <p:nvSpPr>
          <p:cNvPr id="460" name="CustomShape 5"/>
          <p:cNvSpPr/>
          <p:nvPr/>
        </p:nvSpPr>
        <p:spPr>
          <a:xfrm>
            <a:off x="5483520" y="1538280"/>
            <a:ext cx="36000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i="1" lang="en-US" sz="1400" spc="-1" strike="noStrike">
                <a:solidFill>
                  <a:srgbClr val="000000"/>
                </a:solidFill>
                <a:uFill>
                  <a:solidFill>
                    <a:srgbClr val="ffffff"/>
                  </a:solidFill>
                </a:uFill>
                <a:latin typeface="Myriad Roman"/>
                <a:ea typeface="MS PGothic"/>
              </a:rPr>
              <a:t>MSC</a:t>
            </a:r>
            <a:endParaRPr lang="en-US" sz="1800" spc="-1" strike="noStrike">
              <a:solidFill>
                <a:srgbClr val="000000"/>
              </a:solidFill>
              <a:uFill>
                <a:solidFill>
                  <a:srgbClr val="ffffff"/>
                </a:solidFill>
              </a:uFill>
              <a:latin typeface="Arial"/>
            </a:endParaRPr>
          </a:p>
        </p:txBody>
      </p:sp>
      <p:sp>
        <p:nvSpPr>
          <p:cNvPr id="461" name="CustomShape 6"/>
          <p:cNvSpPr/>
          <p:nvPr/>
        </p:nvSpPr>
        <p:spPr>
          <a:xfrm>
            <a:off x="3452760" y="6202440"/>
            <a:ext cx="1328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Q</a:t>
            </a:r>
            <a:endParaRPr lang="en-US" sz="1800" spc="-1" strike="noStrike">
              <a:solidFill>
                <a:srgbClr val="000000"/>
              </a:solidFill>
              <a:uFill>
                <a:solidFill>
                  <a:srgbClr val="ffffff"/>
                </a:solidFill>
              </a:uFill>
              <a:latin typeface="Arial"/>
            </a:endParaRPr>
          </a:p>
        </p:txBody>
      </p:sp>
      <p:sp>
        <p:nvSpPr>
          <p:cNvPr id="462" name="CustomShape 7"/>
          <p:cNvSpPr/>
          <p:nvPr/>
        </p:nvSpPr>
        <p:spPr>
          <a:xfrm>
            <a:off x="3620520" y="6332400"/>
            <a:ext cx="340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OPT</a:t>
            </a:r>
            <a:endParaRPr lang="en-US" sz="1800" spc="-1" strike="noStrike">
              <a:solidFill>
                <a:srgbClr val="000000"/>
              </a:solidFill>
              <a:uFill>
                <a:solidFill>
                  <a:srgbClr val="ffffff"/>
                </a:solidFill>
              </a:uFill>
              <a:latin typeface="Arial"/>
            </a:endParaRPr>
          </a:p>
        </p:txBody>
      </p:sp>
      <p:sp>
        <p:nvSpPr>
          <p:cNvPr id="463" name="CustomShape 8"/>
          <p:cNvSpPr/>
          <p:nvPr/>
        </p:nvSpPr>
        <p:spPr>
          <a:xfrm>
            <a:off x="1115640" y="3141000"/>
            <a:ext cx="143280" cy="213120"/>
          </a:xfrm>
          <a:prstGeom prst="rect">
            <a:avLst/>
          </a:prstGeom>
          <a:noFill/>
          <a:ln w="9360">
            <a:noFill/>
          </a:ln>
        </p:spPr>
        <p:style>
          <a:lnRef idx="0"/>
          <a:fillRef idx="0"/>
          <a:effectRef idx="0"/>
          <a:fontRef idx="minor"/>
        </p:style>
        <p:txBody>
          <a:bodyPr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P</a:t>
            </a:r>
            <a:endParaRPr lang="en-US" sz="1800" spc="-1" strike="noStrike">
              <a:solidFill>
                <a:srgbClr val="000000"/>
              </a:solidFill>
              <a:uFill>
                <a:solidFill>
                  <a:srgbClr val="ffffff"/>
                </a:solidFill>
              </a:uFill>
              <a:latin typeface="Arial"/>
            </a:endParaRPr>
          </a:p>
        </p:txBody>
      </p:sp>
      <p:sp>
        <p:nvSpPr>
          <p:cNvPr id="464" name="CustomShape 9"/>
          <p:cNvSpPr/>
          <p:nvPr/>
        </p:nvSpPr>
        <p:spPr>
          <a:xfrm>
            <a:off x="1224720" y="3238560"/>
            <a:ext cx="340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OPT</a:t>
            </a:r>
            <a:endParaRPr lang="en-US" sz="1800" spc="-1" strike="noStrike">
              <a:solidFill>
                <a:srgbClr val="000000"/>
              </a:solidFill>
              <a:uFill>
                <a:solidFill>
                  <a:srgbClr val="ffffff"/>
                </a:solidFill>
              </a:uFill>
              <a:latin typeface="Arial"/>
            </a:endParaRPr>
          </a:p>
        </p:txBody>
      </p:sp>
      <p:sp>
        <p:nvSpPr>
          <p:cNvPr id="465" name="CustomShape 10"/>
          <p:cNvSpPr/>
          <p:nvPr/>
        </p:nvSpPr>
        <p:spPr>
          <a:xfrm>
            <a:off x="1118880" y="4365000"/>
            <a:ext cx="11160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P</a:t>
            </a:r>
            <a:endParaRPr lang="en-US" sz="1800" spc="-1" strike="noStrike">
              <a:solidFill>
                <a:srgbClr val="000000"/>
              </a:solidFill>
              <a:uFill>
                <a:solidFill>
                  <a:srgbClr val="ffffff"/>
                </a:solidFill>
              </a:uFill>
              <a:latin typeface="Arial"/>
            </a:endParaRPr>
          </a:p>
        </p:txBody>
      </p:sp>
      <p:sp>
        <p:nvSpPr>
          <p:cNvPr id="466" name="CustomShape 11"/>
          <p:cNvSpPr/>
          <p:nvPr/>
        </p:nvSpPr>
        <p:spPr>
          <a:xfrm>
            <a:off x="1215360" y="4500720"/>
            <a:ext cx="3690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MKT</a:t>
            </a:r>
            <a:endParaRPr lang="en-US" sz="1800" spc="-1" strike="noStrike">
              <a:solidFill>
                <a:srgbClr val="000000"/>
              </a:solidFill>
              <a:uFill>
                <a:solidFill>
                  <a:srgbClr val="ffffff"/>
                </a:solidFill>
              </a:uFill>
              <a:latin typeface="Arial"/>
            </a:endParaRPr>
          </a:p>
        </p:txBody>
      </p:sp>
      <p:sp>
        <p:nvSpPr>
          <p:cNvPr id="467" name="CustomShape 12"/>
          <p:cNvSpPr/>
          <p:nvPr/>
        </p:nvSpPr>
        <p:spPr>
          <a:xfrm>
            <a:off x="4718160" y="6202440"/>
            <a:ext cx="1328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Q</a:t>
            </a:r>
            <a:endParaRPr lang="en-US" sz="1800" spc="-1" strike="noStrike">
              <a:solidFill>
                <a:srgbClr val="000000"/>
              </a:solidFill>
              <a:uFill>
                <a:solidFill>
                  <a:srgbClr val="ffffff"/>
                </a:solidFill>
              </a:uFill>
              <a:latin typeface="Arial"/>
            </a:endParaRPr>
          </a:p>
        </p:txBody>
      </p:sp>
      <p:sp>
        <p:nvSpPr>
          <p:cNvPr id="468" name="CustomShape 13"/>
          <p:cNvSpPr/>
          <p:nvPr/>
        </p:nvSpPr>
        <p:spPr>
          <a:xfrm>
            <a:off x="4881240" y="6332400"/>
            <a:ext cx="3690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MKT</a:t>
            </a:r>
            <a:endParaRPr lang="en-US" sz="1800" spc="-1" strike="noStrike">
              <a:solidFill>
                <a:srgbClr val="000000"/>
              </a:solidFill>
              <a:uFill>
                <a:solidFill>
                  <a:srgbClr val="ffffff"/>
                </a:solidFill>
              </a:uFill>
              <a:latin typeface="Arial"/>
            </a:endParaRPr>
          </a:p>
        </p:txBody>
      </p:sp>
      <p:sp>
        <p:nvSpPr>
          <p:cNvPr id="469" name="CustomShape 14"/>
          <p:cNvSpPr/>
          <p:nvPr/>
        </p:nvSpPr>
        <p:spPr>
          <a:xfrm>
            <a:off x="7263360" y="6259680"/>
            <a:ext cx="111888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Calibri"/>
                <a:ea typeface="MS PGothic"/>
              </a:rPr>
              <a:t>Quantity of fish</a:t>
            </a:r>
            <a:endParaRPr lang="en-US" sz="1800" spc="-1" strike="noStrike">
              <a:solidFill>
                <a:srgbClr val="000000"/>
              </a:solidFill>
              <a:uFill>
                <a:solidFill>
                  <a:srgbClr val="ffffff"/>
                </a:solidFill>
              </a:uFill>
              <a:latin typeface="Arial"/>
            </a:endParaRPr>
          </a:p>
        </p:txBody>
      </p:sp>
      <p:sp>
        <p:nvSpPr>
          <p:cNvPr id="470" name="CustomShape 15"/>
          <p:cNvSpPr/>
          <p:nvPr/>
        </p:nvSpPr>
        <p:spPr>
          <a:xfrm>
            <a:off x="1208520" y="908640"/>
            <a:ext cx="1130760" cy="21312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Calibri"/>
                <a:ea typeface="MS PGothic"/>
              </a:rPr>
              <a:t>Price of fish</a:t>
            </a:r>
            <a:endParaRPr lang="en-US" sz="1800" spc="-1" strike="noStrike">
              <a:solidFill>
                <a:srgbClr val="000000"/>
              </a:solidFill>
              <a:uFill>
                <a:solidFill>
                  <a:srgbClr val="ffffff"/>
                </a:solidFill>
              </a:uFill>
              <a:latin typeface="Arial"/>
            </a:endParaRPr>
          </a:p>
        </p:txBody>
      </p:sp>
      <p:sp>
        <p:nvSpPr>
          <p:cNvPr id="471" name="CustomShape 16"/>
          <p:cNvSpPr/>
          <p:nvPr/>
        </p:nvSpPr>
        <p:spPr>
          <a:xfrm>
            <a:off x="1763640" y="1196640"/>
            <a:ext cx="6581880" cy="4952520"/>
          </a:xfrm>
          <a:custGeom>
            <a:avLst/>
            <a:gdLst/>
            <a:ahLst/>
            <a:rect l="l" t="t" r="r" b="b"/>
            <a:pathLst>
              <a:path w="1984" h="1758">
                <a:moveTo>
                  <a:pt x="1984" y="1758"/>
                </a:moveTo>
                <a:lnTo>
                  <a:pt x="0" y="1758"/>
                </a:lnTo>
                <a:lnTo>
                  <a:pt x="0" y="0"/>
                </a:lnTo>
              </a:path>
            </a:pathLst>
          </a:custGeom>
          <a:noFill/>
          <a:ln w="7920">
            <a:solidFill>
              <a:srgbClr val="000000"/>
            </a:solidFill>
            <a:miter/>
          </a:ln>
        </p:spPr>
        <p:style>
          <a:lnRef idx="0"/>
          <a:fillRef idx="0"/>
          <a:effectRef idx="0"/>
          <a:fontRef idx="minor"/>
        </p:style>
      </p:sp>
      <p:sp>
        <p:nvSpPr>
          <p:cNvPr id="472" name="Line 17"/>
          <p:cNvSpPr/>
          <p:nvPr/>
        </p:nvSpPr>
        <p:spPr>
          <a:xfrm flipV="1">
            <a:off x="2467080" y="1839600"/>
            <a:ext cx="3006720" cy="2345040"/>
          </a:xfrm>
          <a:prstGeom prst="line">
            <a:avLst/>
          </a:prstGeom>
          <a:ln w="30240">
            <a:solidFill>
              <a:srgbClr val="f58233"/>
            </a:solidFill>
            <a:miter/>
          </a:ln>
        </p:spPr>
        <p:style>
          <a:lnRef idx="0"/>
          <a:fillRef idx="0"/>
          <a:effectRef idx="0"/>
          <a:fontRef idx="minor"/>
        </p:style>
      </p:sp>
      <p:sp>
        <p:nvSpPr>
          <p:cNvPr id="473" name="Line 18"/>
          <p:cNvSpPr/>
          <p:nvPr/>
        </p:nvSpPr>
        <p:spPr>
          <a:xfrm flipV="1">
            <a:off x="2529000" y="3771720"/>
            <a:ext cx="4492800" cy="1547640"/>
          </a:xfrm>
          <a:prstGeom prst="line">
            <a:avLst/>
          </a:prstGeom>
          <a:ln w="30240">
            <a:solidFill>
              <a:srgbClr val="ee313c"/>
            </a:solidFill>
            <a:miter/>
          </a:ln>
        </p:spPr>
        <p:style>
          <a:lnRef idx="0"/>
          <a:fillRef idx="0"/>
          <a:effectRef idx="0"/>
          <a:fontRef idx="minor"/>
        </p:style>
      </p:sp>
      <p:sp>
        <p:nvSpPr>
          <p:cNvPr id="474" name="CustomShape 19"/>
          <p:cNvSpPr/>
          <p:nvPr/>
        </p:nvSpPr>
        <p:spPr>
          <a:xfrm>
            <a:off x="4766040" y="4456080"/>
            <a:ext cx="153360" cy="137520"/>
          </a:xfrm>
          <a:prstGeom prst="ellipse">
            <a:avLst/>
          </a:prstGeom>
          <a:solidFill>
            <a:srgbClr val="000000"/>
          </a:solidFill>
          <a:ln w="9360">
            <a:noFill/>
          </a:ln>
        </p:spPr>
        <p:style>
          <a:lnRef idx="0"/>
          <a:fillRef idx="0"/>
          <a:effectRef idx="0"/>
          <a:fontRef idx="minor"/>
        </p:style>
      </p:sp>
      <p:sp>
        <p:nvSpPr>
          <p:cNvPr id="475" name="CustomShape 20"/>
          <p:cNvSpPr/>
          <p:nvPr/>
        </p:nvSpPr>
        <p:spPr>
          <a:xfrm>
            <a:off x="3486600" y="3247920"/>
            <a:ext cx="153360" cy="138960"/>
          </a:xfrm>
          <a:prstGeom prst="ellipse">
            <a:avLst/>
          </a:prstGeom>
          <a:solidFill>
            <a:srgbClr val="000000"/>
          </a:solidFill>
          <a:ln w="9360">
            <a:noFill/>
          </a:ln>
        </p:spPr>
        <p:style>
          <a:lnRef idx="0"/>
          <a:fillRef idx="0"/>
          <a:effectRef idx="0"/>
          <a:fontRef idx="minor"/>
        </p:style>
      </p:sp>
      <p:sp>
        <p:nvSpPr>
          <p:cNvPr id="476" name="CustomShape 21"/>
          <p:cNvSpPr/>
          <p:nvPr/>
        </p:nvSpPr>
        <p:spPr>
          <a:xfrm>
            <a:off x="4676400" y="4013280"/>
            <a:ext cx="1116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E</a:t>
            </a:r>
            <a:endParaRPr lang="en-US" sz="1800" spc="-1" strike="noStrike">
              <a:solidFill>
                <a:srgbClr val="000000"/>
              </a:solidFill>
              <a:uFill>
                <a:solidFill>
                  <a:srgbClr val="ffffff"/>
                </a:solidFill>
              </a:uFill>
              <a:latin typeface="Arial"/>
            </a:endParaRPr>
          </a:p>
        </p:txBody>
      </p:sp>
      <p:sp>
        <p:nvSpPr>
          <p:cNvPr id="477" name="CustomShape 22"/>
          <p:cNvSpPr/>
          <p:nvPr/>
        </p:nvSpPr>
        <p:spPr>
          <a:xfrm>
            <a:off x="4824000" y="4165560"/>
            <a:ext cx="14976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a:t>
            </a:r>
            <a:endParaRPr lang="en-US" sz="1800" spc="-1" strike="noStrike">
              <a:solidFill>
                <a:srgbClr val="000000"/>
              </a:solidFill>
              <a:uFill>
                <a:solidFill>
                  <a:srgbClr val="ffffff"/>
                </a:solidFill>
              </a:uFill>
              <a:latin typeface="Arial"/>
            </a:endParaRPr>
          </a:p>
        </p:txBody>
      </p:sp>
      <p:sp>
        <p:nvSpPr>
          <p:cNvPr id="478" name="CustomShape 23"/>
          <p:cNvSpPr/>
          <p:nvPr/>
        </p:nvSpPr>
        <p:spPr>
          <a:xfrm>
            <a:off x="4975200" y="4165560"/>
            <a:ext cx="1206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K</a:t>
            </a:r>
            <a:endParaRPr lang="en-US" sz="1800" spc="-1" strike="noStrike">
              <a:solidFill>
                <a:srgbClr val="000000"/>
              </a:solidFill>
              <a:uFill>
                <a:solidFill>
                  <a:srgbClr val="ffffff"/>
                </a:solidFill>
              </a:uFill>
              <a:latin typeface="Arial"/>
            </a:endParaRPr>
          </a:p>
        </p:txBody>
      </p:sp>
      <p:sp>
        <p:nvSpPr>
          <p:cNvPr id="479" name="CustomShape 24"/>
          <p:cNvSpPr/>
          <p:nvPr/>
        </p:nvSpPr>
        <p:spPr>
          <a:xfrm>
            <a:off x="5084640" y="4165560"/>
            <a:ext cx="1022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T</a:t>
            </a:r>
            <a:endParaRPr lang="en-US" sz="1800" spc="-1" strike="noStrike">
              <a:solidFill>
                <a:srgbClr val="000000"/>
              </a:solidFill>
              <a:uFill>
                <a:solidFill>
                  <a:srgbClr val="ffffff"/>
                </a:solidFill>
              </a:uFill>
              <a:latin typeface="Arial"/>
            </a:endParaRPr>
          </a:p>
        </p:txBody>
      </p:sp>
      <p:sp>
        <p:nvSpPr>
          <p:cNvPr id="480" name="Line 25"/>
          <p:cNvSpPr/>
          <p:nvPr/>
        </p:nvSpPr>
        <p:spPr>
          <a:xfrm>
            <a:off x="1808280" y="4518000"/>
            <a:ext cx="2906640" cy="360"/>
          </a:xfrm>
          <a:prstGeom prst="line">
            <a:avLst/>
          </a:prstGeom>
          <a:ln cap="rnd" w="15840">
            <a:solidFill>
              <a:srgbClr val="808080"/>
            </a:solidFill>
            <a:custDash>
              <a:ds d="100000" sp="100000"/>
            </a:custDash>
            <a:round/>
          </a:ln>
        </p:spPr>
        <p:style>
          <a:lnRef idx="0"/>
          <a:fillRef idx="0"/>
          <a:effectRef idx="0"/>
          <a:fontRef idx="minor"/>
        </p:style>
      </p:sp>
      <p:sp>
        <p:nvSpPr>
          <p:cNvPr id="481" name="Line 26"/>
          <p:cNvSpPr/>
          <p:nvPr/>
        </p:nvSpPr>
        <p:spPr>
          <a:xfrm>
            <a:off x="4834080" y="4605120"/>
            <a:ext cx="360" cy="1542960"/>
          </a:xfrm>
          <a:prstGeom prst="line">
            <a:avLst/>
          </a:prstGeom>
          <a:ln cap="rnd" w="15840">
            <a:solidFill>
              <a:srgbClr val="808080"/>
            </a:solidFill>
            <a:custDash>
              <a:ds d="100000" sp="100000"/>
            </a:custDash>
            <a:round/>
          </a:ln>
        </p:spPr>
        <p:style>
          <a:lnRef idx="0"/>
          <a:fillRef idx="0"/>
          <a:effectRef idx="0"/>
          <a:fontRef idx="minor"/>
        </p:style>
      </p:sp>
      <p:sp>
        <p:nvSpPr>
          <p:cNvPr id="482" name="Line 27"/>
          <p:cNvSpPr/>
          <p:nvPr/>
        </p:nvSpPr>
        <p:spPr>
          <a:xfrm>
            <a:off x="1808280" y="3314520"/>
            <a:ext cx="1681200" cy="360"/>
          </a:xfrm>
          <a:prstGeom prst="line">
            <a:avLst/>
          </a:prstGeom>
          <a:ln cap="rnd" w="15840">
            <a:solidFill>
              <a:srgbClr val="808080"/>
            </a:solidFill>
            <a:custDash>
              <a:ds d="100000" sp="100000"/>
            </a:custDash>
            <a:round/>
          </a:ln>
        </p:spPr>
        <p:style>
          <a:lnRef idx="0"/>
          <a:fillRef idx="0"/>
          <a:effectRef idx="0"/>
          <a:fontRef idx="minor"/>
        </p:style>
      </p:sp>
      <p:sp>
        <p:nvSpPr>
          <p:cNvPr id="483" name="Line 28"/>
          <p:cNvSpPr/>
          <p:nvPr/>
        </p:nvSpPr>
        <p:spPr>
          <a:xfrm>
            <a:off x="3567240" y="3402000"/>
            <a:ext cx="360" cy="2746080"/>
          </a:xfrm>
          <a:prstGeom prst="line">
            <a:avLst/>
          </a:prstGeom>
          <a:ln cap="rnd" w="15840">
            <a:solidFill>
              <a:srgbClr val="808080"/>
            </a:solidFill>
            <a:custDash>
              <a:ds d="100000" sp="100000"/>
            </a:custDash>
            <a:round/>
          </a:ln>
        </p:spPr>
        <p:style>
          <a:lnRef idx="0"/>
          <a:fillRef idx="0"/>
          <a:effectRef idx="0"/>
          <a:fontRef idx="minor"/>
        </p:style>
      </p:sp>
      <p:sp>
        <p:nvSpPr>
          <p:cNvPr id="484" name="CustomShape 29"/>
          <p:cNvSpPr/>
          <p:nvPr/>
        </p:nvSpPr>
        <p:spPr>
          <a:xfrm>
            <a:off x="887040" y="60480"/>
            <a:ext cx="8004600" cy="554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A Common Resource</a:t>
            </a:r>
            <a:endParaRPr lang="en-US" sz="1800" spc="-1" strike="noStrike">
              <a:solidFill>
                <a:srgbClr val="000000"/>
              </a:solidFill>
              <a:uFill>
                <a:solidFill>
                  <a:srgbClr val="ffffff"/>
                </a:solidFill>
              </a:uFill>
              <a:latin typeface="Arial"/>
            </a:endParaRPr>
          </a:p>
        </p:txBody>
      </p:sp>
    </p:spTree>
  </p:cSld>
  <p:timing>
    <p:tnLst>
      <p:par>
        <p:cTn id="279" dur="indefinite" restart="never" nodeType="tmRoot">
          <p:childTnLst>
            <p:seq>
              <p:cTn id="280" dur="indefinite" nodeType="mainSeq">
                <p:childTnLst>
                  <p:par>
                    <p:cTn id="281" fill="hold">
                      <p:stCondLst>
                        <p:cond delay="indefinite"/>
                      </p:stCondLst>
                      <p:childTnLst>
                        <p:par>
                          <p:cTn id="282" fill="hold">
                            <p:stCondLst>
                              <p:cond delay="0"/>
                            </p:stCondLst>
                            <p:childTnLst>
                              <p:par>
                                <p:cTn id="283" nodeType="clickEffect" fill="hold" presetClass="entr" presetID="22" presetSubtype="8">
                                  <p:stCondLst>
                                    <p:cond delay="0"/>
                                  </p:stCondLst>
                                  <p:childTnLst>
                                    <p:set>
                                      <p:cBhvr>
                                        <p:cTn id="284" dur="1" fill="hold">
                                          <p:stCondLst>
                                            <p:cond delay="0"/>
                                          </p:stCondLst>
                                        </p:cTn>
                                        <p:tgtEl>
                                          <p:spTgt spid="472"/>
                                        </p:tgtEl>
                                        <p:attrNameLst>
                                          <p:attrName>style.visibility</p:attrName>
                                        </p:attrNameLst>
                                      </p:cBhvr>
                                      <p:to>
                                        <p:strVal val="visible"/>
                                      </p:to>
                                    </p:set>
                                    <p:animEffect filter="wipe(left)" transition="in">
                                      <p:cBhvr additive="repl">
                                        <p:cTn id="285" dur="500"/>
                                        <p:tgtEl>
                                          <p:spTgt spid="472"/>
                                        </p:tgtEl>
                                      </p:cBhvr>
                                    </p:animEffect>
                                  </p:childTnLst>
                                </p:cTn>
                              </p:par>
                              <p:par>
                                <p:cTn id="286" nodeType="withEffect" fill="hold" presetClass="entr" presetID="22" presetSubtype="8">
                                  <p:stCondLst>
                                    <p:cond delay="0"/>
                                  </p:stCondLst>
                                  <p:childTnLst>
                                    <p:set>
                                      <p:cBhvr>
                                        <p:cTn id="287" dur="1" fill="hold">
                                          <p:stCondLst>
                                            <p:cond delay="0"/>
                                          </p:stCondLst>
                                        </p:cTn>
                                        <p:tgtEl>
                                          <p:spTgt spid="473"/>
                                        </p:tgtEl>
                                        <p:attrNameLst>
                                          <p:attrName>style.visibility</p:attrName>
                                        </p:attrNameLst>
                                      </p:cBhvr>
                                      <p:to>
                                        <p:strVal val="visible"/>
                                      </p:to>
                                    </p:set>
                                    <p:animEffect filter="wipe(left)" transition="in">
                                      <p:cBhvr additive="repl">
                                        <p:cTn id="288" dur="500"/>
                                        <p:tgtEl>
                                          <p:spTgt spid="473"/>
                                        </p:tgtEl>
                                      </p:cBhvr>
                                    </p:animEffect>
                                  </p:childTnLst>
                                </p:cTn>
                              </p:par>
                              <p:par>
                                <p:cTn id="289" nodeType="withEffect" fill="hold" presetClass="entr" presetID="22" presetSubtype="8">
                                  <p:stCondLst>
                                    <p:cond delay="0"/>
                                  </p:stCondLst>
                                  <p:childTnLst>
                                    <p:set>
                                      <p:cBhvr>
                                        <p:cTn id="290" dur="1" fill="hold">
                                          <p:stCondLst>
                                            <p:cond delay="0"/>
                                          </p:stCondLst>
                                        </p:cTn>
                                        <p:tgtEl>
                                          <p:spTgt spid="456"/>
                                        </p:tgtEl>
                                        <p:attrNameLst>
                                          <p:attrName>style.visibility</p:attrName>
                                        </p:attrNameLst>
                                      </p:cBhvr>
                                      <p:to>
                                        <p:strVal val="visible"/>
                                      </p:to>
                                    </p:set>
                                    <p:animEffect filter="wipe(left)" transition="in">
                                      <p:cBhvr additive="repl">
                                        <p:cTn id="291" dur="500"/>
                                        <p:tgtEl>
                                          <p:spTgt spid="456"/>
                                        </p:tgtEl>
                                      </p:cBhvr>
                                    </p:animEffect>
                                  </p:childTnLst>
                                </p:cTn>
                              </p:par>
                              <p:par>
                                <p:cTn id="292" nodeType="withEffect" fill="hold" presetClass="entr" presetID="22" presetSubtype="8">
                                  <p:stCondLst>
                                    <p:cond delay="0"/>
                                  </p:stCondLst>
                                  <p:childTnLst>
                                    <p:set>
                                      <p:cBhvr>
                                        <p:cTn id="293" dur="1" fill="hold">
                                          <p:stCondLst>
                                            <p:cond delay="0"/>
                                          </p:stCondLst>
                                        </p:cTn>
                                        <p:tgtEl>
                                          <p:spTgt spid="482"/>
                                        </p:tgtEl>
                                        <p:attrNameLst>
                                          <p:attrName>style.visibility</p:attrName>
                                        </p:attrNameLst>
                                      </p:cBhvr>
                                      <p:to>
                                        <p:strVal val="visible"/>
                                      </p:to>
                                    </p:set>
                                    <p:animEffect filter="wipe(left)" transition="in">
                                      <p:cBhvr additive="repl">
                                        <p:cTn id="294" dur="500"/>
                                        <p:tgtEl>
                                          <p:spTgt spid="482"/>
                                        </p:tgtEl>
                                      </p:cBhvr>
                                    </p:animEffect>
                                  </p:childTnLst>
                                </p:cTn>
                              </p:par>
                              <p:par>
                                <p:cTn id="295" nodeType="withEffect" fill="hold" presetClass="entr" presetID="22" presetSubtype="8">
                                  <p:stCondLst>
                                    <p:cond delay="0"/>
                                  </p:stCondLst>
                                  <p:childTnLst>
                                    <p:set>
                                      <p:cBhvr>
                                        <p:cTn id="296" dur="1" fill="hold">
                                          <p:stCondLst>
                                            <p:cond delay="0"/>
                                          </p:stCondLst>
                                        </p:cTn>
                                        <p:tgtEl>
                                          <p:spTgt spid="480"/>
                                        </p:tgtEl>
                                        <p:attrNameLst>
                                          <p:attrName>style.visibility</p:attrName>
                                        </p:attrNameLst>
                                      </p:cBhvr>
                                      <p:to>
                                        <p:strVal val="visible"/>
                                      </p:to>
                                    </p:set>
                                    <p:animEffect filter="wipe(left)" transition="in">
                                      <p:cBhvr additive="repl">
                                        <p:cTn id="297" dur="500"/>
                                        <p:tgtEl>
                                          <p:spTgt spid="480"/>
                                        </p:tgtEl>
                                      </p:cBhvr>
                                    </p:animEffect>
                                  </p:childTnLst>
                                </p:cTn>
                              </p:par>
                              <p:par>
                                <p:cTn id="298" nodeType="withEffect" fill="hold" presetClass="entr" presetID="22" presetSubtype="1">
                                  <p:stCondLst>
                                    <p:cond delay="0"/>
                                  </p:stCondLst>
                                  <p:childTnLst>
                                    <p:set>
                                      <p:cBhvr>
                                        <p:cTn id="299" dur="1" fill="hold">
                                          <p:stCondLst>
                                            <p:cond delay="0"/>
                                          </p:stCondLst>
                                        </p:cTn>
                                        <p:tgtEl>
                                          <p:spTgt spid="483"/>
                                        </p:tgtEl>
                                        <p:attrNameLst>
                                          <p:attrName>style.visibility</p:attrName>
                                        </p:attrNameLst>
                                      </p:cBhvr>
                                      <p:to>
                                        <p:strVal val="visible"/>
                                      </p:to>
                                    </p:set>
                                    <p:animEffect filter="wipe(up)" transition="in">
                                      <p:cBhvr additive="repl">
                                        <p:cTn id="300" dur="500"/>
                                        <p:tgtEl>
                                          <p:spTgt spid="483"/>
                                        </p:tgtEl>
                                      </p:cBhvr>
                                    </p:animEffect>
                                  </p:childTnLst>
                                </p:cTn>
                              </p:par>
                              <p:par>
                                <p:cTn id="301" nodeType="withEffect" fill="hold" presetClass="entr" presetID="22" presetSubtype="1">
                                  <p:stCondLst>
                                    <p:cond delay="0"/>
                                  </p:stCondLst>
                                  <p:childTnLst>
                                    <p:set>
                                      <p:cBhvr>
                                        <p:cTn id="302" dur="1" fill="hold">
                                          <p:stCondLst>
                                            <p:cond delay="0"/>
                                          </p:stCondLst>
                                        </p:cTn>
                                        <p:tgtEl>
                                          <p:spTgt spid="481"/>
                                        </p:tgtEl>
                                        <p:attrNameLst>
                                          <p:attrName>style.visibility</p:attrName>
                                        </p:attrNameLst>
                                      </p:cBhvr>
                                      <p:to>
                                        <p:strVal val="visible"/>
                                      </p:to>
                                    </p:set>
                                    <p:animEffect filter="wipe(up)" transition="in">
                                      <p:cBhvr additive="repl">
                                        <p:cTn id="303" dur="500"/>
                                        <p:tgtEl>
                                          <p:spTgt spid="481"/>
                                        </p:tgtEl>
                                      </p:cBhvr>
                                    </p:animEffect>
                                  </p:childTnLst>
                                </p:cTn>
                              </p:par>
                              <p:par>
                                <p:cTn id="304" nodeType="withEffect" fill="hold" presetClass="entr" presetID="1">
                                  <p:stCondLst>
                                    <p:cond delay="0"/>
                                  </p:stCondLst>
                                  <p:childTnLst>
                                    <p:set>
                                      <p:cBhvr>
                                        <p:cTn id="305" dur="1" fill="hold">
                                          <p:stCondLst>
                                            <p:cond delay="0"/>
                                          </p:stCondLst>
                                        </p:cTn>
                                        <p:tgtEl>
                                          <p:spTgt spid="475"/>
                                        </p:tgtEl>
                                        <p:attrNameLst>
                                          <p:attrName>style.visibility</p:attrName>
                                        </p:attrNameLst>
                                      </p:cBhvr>
                                      <p:to>
                                        <p:strVal val="visible"/>
                                      </p:to>
                                    </p:set>
                                  </p:childTnLst>
                                </p:cTn>
                              </p:par>
                              <p:par>
                                <p:cTn id="306" nodeType="withEffect" fill="hold" presetClass="entr" presetID="1">
                                  <p:stCondLst>
                                    <p:cond delay="0"/>
                                  </p:stCondLst>
                                  <p:childTnLst>
                                    <p:set>
                                      <p:cBhvr>
                                        <p:cTn id="307" dur="1" fill="hold">
                                          <p:stCondLst>
                                            <p:cond delay="0"/>
                                          </p:stCondLst>
                                        </p:cTn>
                                        <p:tgtEl>
                                          <p:spTgt spid="474"/>
                                        </p:tgtEl>
                                        <p:attrNameLst>
                                          <p:attrName>style.visibility</p:attrName>
                                        </p:attrNameLst>
                                      </p:cBhvr>
                                      <p:to>
                                        <p:strVal val="visible"/>
                                      </p:to>
                                    </p:set>
                                  </p:childTnLst>
                                </p:cTn>
                              </p:par>
                              <p:par>
                                <p:cTn id="308" nodeType="withEffect" fill="hold" presetClass="entr" presetID="1">
                                  <p:stCondLst>
                                    <p:cond delay="0"/>
                                  </p:stCondLst>
                                  <p:childTnLst>
                                    <p:set>
                                      <p:cBhvr>
                                        <p:cTn id="309" dur="1" fill="hold">
                                          <p:stCondLst>
                                            <p:cond delay="0"/>
                                          </p:stCondLst>
                                        </p:cTn>
                                        <p:tgtEl>
                                          <p:spTgt spid="479"/>
                                        </p:tgtEl>
                                        <p:attrNameLst>
                                          <p:attrName>style.visibility</p:attrName>
                                        </p:attrNameLst>
                                      </p:cBhvr>
                                      <p:to>
                                        <p:strVal val="visible"/>
                                      </p:to>
                                    </p:set>
                                  </p:childTnLst>
                                </p:cTn>
                              </p:par>
                              <p:par>
                                <p:cTn id="310" nodeType="withEffect" fill="hold" presetClass="entr" presetID="1">
                                  <p:stCondLst>
                                    <p:cond delay="0"/>
                                  </p:stCondLst>
                                  <p:childTnLst>
                                    <p:set>
                                      <p:cBhvr>
                                        <p:cTn id="311" dur="1" fill="hold">
                                          <p:stCondLst>
                                            <p:cond delay="0"/>
                                          </p:stCondLst>
                                        </p:cTn>
                                        <p:tgtEl>
                                          <p:spTgt spid="478"/>
                                        </p:tgtEl>
                                        <p:attrNameLst>
                                          <p:attrName>style.visibility</p:attrName>
                                        </p:attrNameLst>
                                      </p:cBhvr>
                                      <p:to>
                                        <p:strVal val="visible"/>
                                      </p:to>
                                    </p:set>
                                  </p:childTnLst>
                                </p:cTn>
                              </p:par>
                              <p:par>
                                <p:cTn id="312" nodeType="withEffect" fill="hold" presetClass="entr" presetID="1">
                                  <p:stCondLst>
                                    <p:cond delay="0"/>
                                  </p:stCondLst>
                                  <p:childTnLst>
                                    <p:set>
                                      <p:cBhvr>
                                        <p:cTn id="313" dur="1" fill="hold">
                                          <p:stCondLst>
                                            <p:cond delay="0"/>
                                          </p:stCondLst>
                                        </p:cTn>
                                        <p:tgtEl>
                                          <p:spTgt spid="477"/>
                                        </p:tgtEl>
                                        <p:attrNameLst>
                                          <p:attrName>style.visibility</p:attrName>
                                        </p:attrNameLst>
                                      </p:cBhvr>
                                      <p:to>
                                        <p:strVal val="visible"/>
                                      </p:to>
                                    </p:set>
                                  </p:childTnLst>
                                </p:cTn>
                              </p:par>
                              <p:par>
                                <p:cTn id="314" nodeType="withEffect" fill="hold" presetClass="entr" presetID="1">
                                  <p:stCondLst>
                                    <p:cond delay="0"/>
                                  </p:stCondLst>
                                  <p:childTnLst>
                                    <p:set>
                                      <p:cBhvr>
                                        <p:cTn id="315" dur="1" fill="hold">
                                          <p:stCondLst>
                                            <p:cond delay="0"/>
                                          </p:stCondLst>
                                        </p:cTn>
                                        <p:tgtEl>
                                          <p:spTgt spid="476"/>
                                        </p:tgtEl>
                                        <p:attrNameLst>
                                          <p:attrName>style.visibility</p:attrName>
                                        </p:attrNameLst>
                                      </p:cBhvr>
                                      <p:to>
                                        <p:strVal val="visible"/>
                                      </p:to>
                                    </p:set>
                                  </p:childTnLst>
                                </p:cTn>
                              </p:par>
                              <p:par>
                                <p:cTn id="316" nodeType="withEffect" fill="hold" presetClass="entr" presetID="1">
                                  <p:stCondLst>
                                    <p:cond delay="0"/>
                                  </p:stCondLst>
                                  <p:childTnLst>
                                    <p:set>
                                      <p:cBhvr>
                                        <p:cTn id="317" dur="1" fill="hold">
                                          <p:stCondLst>
                                            <p:cond delay="0"/>
                                          </p:stCondLst>
                                        </p:cTn>
                                        <p:tgtEl>
                                          <p:spTgt spid="458"/>
                                        </p:tgtEl>
                                        <p:attrNameLst>
                                          <p:attrName>style.visibility</p:attrName>
                                        </p:attrNameLst>
                                      </p:cBhvr>
                                      <p:to>
                                        <p:strVal val="visible"/>
                                      </p:to>
                                    </p:set>
                                  </p:childTnLst>
                                </p:cTn>
                              </p:par>
                              <p:par>
                                <p:cTn id="318" nodeType="withEffect" fill="hold" presetClass="entr" presetID="1">
                                  <p:stCondLst>
                                    <p:cond delay="0"/>
                                  </p:stCondLst>
                                  <p:childTnLst>
                                    <p:set>
                                      <p:cBhvr>
                                        <p:cTn id="319" dur="1" fill="hold">
                                          <p:stCondLst>
                                            <p:cond delay="0"/>
                                          </p:stCondLst>
                                        </p:cTn>
                                        <p:tgtEl>
                                          <p:spTgt spid="462"/>
                                        </p:tgtEl>
                                        <p:attrNameLst>
                                          <p:attrName>style.visibility</p:attrName>
                                        </p:attrNameLst>
                                      </p:cBhvr>
                                      <p:to>
                                        <p:strVal val="visible"/>
                                      </p:to>
                                    </p:set>
                                  </p:childTnLst>
                                </p:cTn>
                              </p:par>
                              <p:par>
                                <p:cTn id="320" nodeType="withEffect" fill="hold" presetClass="entr" presetID="1">
                                  <p:stCondLst>
                                    <p:cond delay="0"/>
                                  </p:stCondLst>
                                  <p:childTnLst>
                                    <p:set>
                                      <p:cBhvr>
                                        <p:cTn id="321" dur="1" fill="hold">
                                          <p:stCondLst>
                                            <p:cond delay="0"/>
                                          </p:stCondLst>
                                        </p:cTn>
                                        <p:tgtEl>
                                          <p:spTgt spid="461"/>
                                        </p:tgtEl>
                                        <p:attrNameLst>
                                          <p:attrName>style.visibility</p:attrName>
                                        </p:attrNameLst>
                                      </p:cBhvr>
                                      <p:to>
                                        <p:strVal val="visible"/>
                                      </p:to>
                                    </p:set>
                                  </p:childTnLst>
                                </p:cTn>
                              </p:par>
                              <p:par>
                                <p:cTn id="322" nodeType="withEffect" fill="hold" presetClass="entr" presetID="1">
                                  <p:stCondLst>
                                    <p:cond delay="0"/>
                                  </p:stCondLst>
                                  <p:childTnLst>
                                    <p:set>
                                      <p:cBhvr>
                                        <p:cTn id="323" dur="1" fill="hold">
                                          <p:stCondLst>
                                            <p:cond delay="0"/>
                                          </p:stCondLst>
                                        </p:cTn>
                                        <p:tgtEl>
                                          <p:spTgt spid="467"/>
                                        </p:tgtEl>
                                        <p:attrNameLst>
                                          <p:attrName>style.visibility</p:attrName>
                                        </p:attrNameLst>
                                      </p:cBhvr>
                                      <p:to>
                                        <p:strVal val="visible"/>
                                      </p:to>
                                    </p:set>
                                  </p:childTnLst>
                                </p:cTn>
                              </p:par>
                              <p:par>
                                <p:cTn id="324" nodeType="withEffect" fill="hold" presetClass="entr" presetID="1">
                                  <p:stCondLst>
                                    <p:cond delay="0"/>
                                  </p:stCondLst>
                                  <p:childTnLst>
                                    <p:set>
                                      <p:cBhvr>
                                        <p:cTn id="325" dur="1" fill="hold">
                                          <p:stCondLst>
                                            <p:cond delay="0"/>
                                          </p:stCondLst>
                                        </p:cTn>
                                        <p:tgtEl>
                                          <p:spTgt spid="468"/>
                                        </p:tgtEl>
                                        <p:attrNameLst>
                                          <p:attrName>style.visibility</p:attrName>
                                        </p:attrNameLst>
                                      </p:cBhvr>
                                      <p:to>
                                        <p:strVal val="visible"/>
                                      </p:to>
                                    </p:set>
                                  </p:childTnLst>
                                </p:cTn>
                              </p:par>
                              <p:par>
                                <p:cTn id="326" nodeType="withEffect" fill="hold" presetClass="entr" presetID="1">
                                  <p:stCondLst>
                                    <p:cond delay="0"/>
                                  </p:stCondLst>
                                  <p:childTnLst>
                                    <p:set>
                                      <p:cBhvr>
                                        <p:cTn id="327" dur="1" fill="hold">
                                          <p:stCondLst>
                                            <p:cond delay="0"/>
                                          </p:stCondLst>
                                        </p:cTn>
                                        <p:tgtEl>
                                          <p:spTgt spid="460"/>
                                        </p:tgtEl>
                                        <p:attrNameLst>
                                          <p:attrName>style.visibility</p:attrName>
                                        </p:attrNameLst>
                                      </p:cBhvr>
                                      <p:to>
                                        <p:strVal val="visible"/>
                                      </p:to>
                                    </p:set>
                                  </p:childTnLst>
                                </p:cTn>
                              </p:par>
                              <p:par>
                                <p:cTn id="328" nodeType="withEffect" fill="hold" presetClass="entr" presetID="1">
                                  <p:stCondLst>
                                    <p:cond delay="0"/>
                                  </p:stCondLst>
                                  <p:childTnLst>
                                    <p:set>
                                      <p:cBhvr>
                                        <p:cTn id="329" dur="1" fill="hold">
                                          <p:stCondLst>
                                            <p:cond delay="0"/>
                                          </p:stCondLst>
                                        </p:cTn>
                                        <p:tgtEl>
                                          <p:spTgt spid="459"/>
                                        </p:tgtEl>
                                        <p:attrNameLst>
                                          <p:attrName>style.visibility</p:attrName>
                                        </p:attrNameLst>
                                      </p:cBhvr>
                                      <p:to>
                                        <p:strVal val="visible"/>
                                      </p:to>
                                    </p:set>
                                  </p:childTnLst>
                                </p:cTn>
                              </p:par>
                              <p:par>
                                <p:cTn id="330" nodeType="withEffect" fill="hold" presetClass="entr" presetID="1">
                                  <p:stCondLst>
                                    <p:cond delay="0"/>
                                  </p:stCondLst>
                                  <p:childTnLst>
                                    <p:set>
                                      <p:cBhvr>
                                        <p:cTn id="331" dur="1" fill="hold">
                                          <p:stCondLst>
                                            <p:cond delay="0"/>
                                          </p:stCondLst>
                                        </p:cTn>
                                        <p:tgtEl>
                                          <p:spTgt spid="457"/>
                                        </p:tgtEl>
                                        <p:attrNameLst>
                                          <p:attrName>style.visibility</p:attrName>
                                        </p:attrNameLst>
                                      </p:cBhvr>
                                      <p:to>
                                        <p:strVal val="visible"/>
                                      </p:to>
                                    </p:set>
                                  </p:childTnLst>
                                </p:cTn>
                              </p:par>
                              <p:par>
                                <p:cTn id="332" nodeType="withEffect" fill="hold" presetClass="entr" presetID="1">
                                  <p:stCondLst>
                                    <p:cond delay="0"/>
                                  </p:stCondLst>
                                  <p:childTnLst>
                                    <p:set>
                                      <p:cBhvr>
                                        <p:cTn id="333" dur="1" fill="hold">
                                          <p:stCondLst>
                                            <p:cond delay="0"/>
                                          </p:stCondLst>
                                        </p:cTn>
                                        <p:tgtEl>
                                          <p:spTgt spid="466"/>
                                        </p:tgtEl>
                                        <p:attrNameLst>
                                          <p:attrName>style.visibility</p:attrName>
                                        </p:attrNameLst>
                                      </p:cBhvr>
                                      <p:to>
                                        <p:strVal val="visible"/>
                                      </p:to>
                                    </p:set>
                                  </p:childTnLst>
                                </p:cTn>
                              </p:par>
                              <p:par>
                                <p:cTn id="334" nodeType="withEffect" fill="hold" presetClass="entr" presetID="1">
                                  <p:stCondLst>
                                    <p:cond delay="0"/>
                                  </p:stCondLst>
                                  <p:childTnLst>
                                    <p:set>
                                      <p:cBhvr>
                                        <p:cTn id="335" dur="1" fill="hold">
                                          <p:stCondLst>
                                            <p:cond delay="0"/>
                                          </p:stCondLst>
                                        </p:cTn>
                                        <p:tgtEl>
                                          <p:spTgt spid="465"/>
                                        </p:tgtEl>
                                        <p:attrNameLst>
                                          <p:attrName>style.visibility</p:attrName>
                                        </p:attrNameLst>
                                      </p:cBhvr>
                                      <p:to>
                                        <p:strVal val="visible"/>
                                      </p:to>
                                    </p:set>
                                  </p:childTnLst>
                                </p:cTn>
                              </p:par>
                              <p:par>
                                <p:cTn id="336" nodeType="withEffect" fill="hold" presetClass="entr" presetID="1">
                                  <p:stCondLst>
                                    <p:cond delay="0"/>
                                  </p:stCondLst>
                                  <p:childTnLst>
                                    <p:set>
                                      <p:cBhvr>
                                        <p:cTn id="337" dur="1" fill="hold">
                                          <p:stCondLst>
                                            <p:cond delay="0"/>
                                          </p:stCondLst>
                                        </p:cTn>
                                        <p:tgtEl>
                                          <p:spTgt spid="463"/>
                                        </p:tgtEl>
                                        <p:attrNameLst>
                                          <p:attrName>style.visibility</p:attrName>
                                        </p:attrNameLst>
                                      </p:cBhvr>
                                      <p:to>
                                        <p:strVal val="visible"/>
                                      </p:to>
                                    </p:set>
                                  </p:childTnLst>
                                </p:cTn>
                              </p:par>
                              <p:par>
                                <p:cTn id="338" nodeType="withEffect" fill="hold" presetClass="entr" presetID="1">
                                  <p:stCondLst>
                                    <p:cond delay="0"/>
                                  </p:stCondLst>
                                  <p:childTnLst>
                                    <p:set>
                                      <p:cBhvr>
                                        <p:cTn id="339"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85" name="CustomShape 1"/>
          <p:cNvSpPr/>
          <p:nvPr/>
        </p:nvSpPr>
        <p:spPr>
          <a:xfrm>
            <a:off x="971640" y="60480"/>
            <a:ext cx="7920000" cy="554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2400" spc="-1" strike="noStrike">
                <a:solidFill>
                  <a:srgbClr val="ffffff"/>
                </a:solidFill>
                <a:uFill>
                  <a:solidFill>
                    <a:srgbClr val="ffffff"/>
                  </a:solidFill>
                </a:uFill>
                <a:latin typeface="Calibri"/>
                <a:ea typeface="MS PGothic"/>
              </a:rPr>
              <a:t>The Efficient Use and Maintenance of a Common Resource</a:t>
            </a:r>
            <a:endParaRPr lang="en-US" sz="1800" spc="-1" strike="noStrike">
              <a:solidFill>
                <a:srgbClr val="000000"/>
              </a:solidFill>
              <a:uFill>
                <a:solidFill>
                  <a:srgbClr val="ffffff"/>
                </a:solidFill>
              </a:uFill>
              <a:latin typeface="Arial"/>
            </a:endParaRPr>
          </a:p>
        </p:txBody>
      </p:sp>
      <p:sp>
        <p:nvSpPr>
          <p:cNvPr id="486" name="CustomShape 2"/>
          <p:cNvSpPr/>
          <p:nvPr/>
        </p:nvSpPr>
        <p:spPr>
          <a:xfrm>
            <a:off x="971640" y="897480"/>
            <a:ext cx="7920000" cy="5411160"/>
          </a:xfrm>
          <a:prstGeom prst="rect">
            <a:avLst/>
          </a:prstGeom>
          <a:noFill/>
          <a:ln w="9360">
            <a:noFill/>
          </a:ln>
        </p:spPr>
        <p:style>
          <a:lnRef idx="0"/>
          <a:fillRef idx="0"/>
          <a:effectRef idx="0"/>
          <a:fontRef idx="minor"/>
        </p:style>
        <p:txBody>
          <a:bodyPr lIns="90000" rIns="90000" tIns="45000" bIns="45000"/>
          <a:p>
            <a:r>
              <a:rPr lang="en-US" sz="2400" spc="-1" strike="noStrike">
                <a:solidFill>
                  <a:srgbClr val="000000"/>
                </a:solidFill>
                <a:uFill>
                  <a:solidFill>
                    <a:srgbClr val="ffffff"/>
                  </a:solidFill>
                </a:uFill>
                <a:latin typeface="Calibri"/>
                <a:ea typeface="MS PGothic"/>
              </a:rPr>
              <a:t>To ensure efficient use of a common resource, society must find a way of getting individual users of the resource to take into account the costs they impose on other users.</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Like negative externalities, a common resource can be efficiently managed by:</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lang="en-US" sz="2200" spc="-1" strike="noStrike">
                <a:solidFill>
                  <a:srgbClr val="000000"/>
                </a:solidFill>
                <a:uFill>
                  <a:solidFill>
                    <a:srgbClr val="ffffff"/>
                  </a:solidFill>
                </a:uFill>
                <a:latin typeface="Calibri"/>
                <a:ea typeface="MS PGothic"/>
              </a:rPr>
              <a:t>a tax or a regulation imposed on the use of the common resource.</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lang="en-US" sz="2200" spc="-1" strike="noStrike">
                <a:solidFill>
                  <a:srgbClr val="000000"/>
                </a:solidFill>
                <a:uFill>
                  <a:solidFill>
                    <a:srgbClr val="ffffff"/>
                  </a:solidFill>
                </a:uFill>
                <a:latin typeface="Calibri"/>
                <a:ea typeface="MS PGothic"/>
              </a:rPr>
              <a:t>making it excludable and assigning property rights to it.</a:t>
            </a:r>
            <a:endParaRPr lang="en-US" sz="1800" spc="-1" strike="noStrike">
              <a:solidFill>
                <a:srgbClr val="000000"/>
              </a:solidFill>
              <a:uFill>
                <a:solidFill>
                  <a:srgbClr val="ffffff"/>
                </a:solidFill>
              </a:uFill>
              <a:latin typeface="Arial"/>
            </a:endParaRPr>
          </a:p>
          <a:p>
            <a:pPr lvl="1" marL="743040" indent="-285120">
              <a:lnSpc>
                <a:spcPct val="100000"/>
              </a:lnSpc>
              <a:buClr>
                <a:srgbClr val="000000"/>
              </a:buClr>
              <a:buFont typeface="Wingdings" charset="2"/>
              <a:buChar char=""/>
            </a:pPr>
            <a:r>
              <a:rPr lang="en-US" sz="2200" spc="-1" strike="noStrike">
                <a:solidFill>
                  <a:srgbClr val="000000"/>
                </a:solidFill>
                <a:uFill>
                  <a:solidFill>
                    <a:srgbClr val="ffffff"/>
                  </a:solidFill>
                </a:uFill>
                <a:latin typeface="Calibri"/>
                <a:ea typeface="MS PGothic"/>
              </a:rPr>
              <a:t>creating a system of tradable licenses for the right to use the common resource.</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p:txBody>
      </p:sp>
    </p:spTree>
  </p:cSld>
  <p:timing>
    <p:tnLst>
      <p:par>
        <p:cTn id="340" dur="indefinite" restart="never" nodeType="tmRoot">
          <p:childTnLst>
            <p:seq>
              <p:cTn id="341" dur="indefinite" nodeType="mainSeq">
                <p:childTnLst>
                  <p:par>
                    <p:cTn id="342" fill="hold">
                      <p:stCondLst>
                        <p:cond delay="indefinite"/>
                      </p:stCondLst>
                      <p:childTnLst>
                        <p:par>
                          <p:cTn id="343" fill="hold">
                            <p:stCondLst>
                              <p:cond delay="0"/>
                            </p:stCondLst>
                            <p:childTnLst>
                              <p:par>
                                <p:cTn id="344" nodeType="clickEffect" fill="hold" presetClass="entr" presetID="22" presetSubtype="8">
                                  <p:stCondLst>
                                    <p:cond delay="0"/>
                                  </p:stCondLst>
                                  <p:childTnLst>
                                    <p:set>
                                      <p:cBhvr>
                                        <p:cTn id="345" dur="1" fill="hold">
                                          <p:stCondLst>
                                            <p:cond delay="0"/>
                                          </p:stCondLst>
                                        </p:cTn>
                                        <p:tgtEl>
                                          <p:spTgt spid="486">
                                            <p:txEl>
                                              <p:pRg st="0" end="173"/>
                                            </p:txEl>
                                          </p:spTgt>
                                        </p:tgtEl>
                                        <p:attrNameLst>
                                          <p:attrName>style.visibility</p:attrName>
                                        </p:attrNameLst>
                                      </p:cBhvr>
                                      <p:to>
                                        <p:strVal val="visible"/>
                                      </p:to>
                                    </p:set>
                                    <p:animEffect filter="wipe(left)" transition="in">
                                      <p:cBhvr additive="repl">
                                        <p:cTn id="346" dur="500"/>
                                        <p:tgtEl>
                                          <p:spTgt spid="486">
                                            <p:txEl>
                                              <p:pRg st="0" end="173"/>
                                            </p:txEl>
                                          </p:spTgt>
                                        </p:tgtEl>
                                      </p:cBhvr>
                                    </p:animEffect>
                                  </p:childTnLst>
                                </p:cTn>
                              </p:par>
                            </p:childTnLst>
                          </p:cTn>
                        </p:par>
                      </p:childTnLst>
                    </p:cTn>
                  </p:par>
                  <p:par>
                    <p:cTn id="347" fill="hold">
                      <p:stCondLst>
                        <p:cond delay="indefinite"/>
                      </p:stCondLst>
                      <p:childTnLst>
                        <p:par>
                          <p:cTn id="348" fill="hold">
                            <p:stCondLst>
                              <p:cond delay="0"/>
                            </p:stCondLst>
                            <p:childTnLst>
                              <p:par>
                                <p:cTn id="349" nodeType="clickEffect" fill="hold" presetClass="entr" presetID="22" presetSubtype="8">
                                  <p:stCondLst>
                                    <p:cond delay="0"/>
                                  </p:stCondLst>
                                  <p:childTnLst>
                                    <p:set>
                                      <p:cBhvr>
                                        <p:cTn id="350" dur="1" fill="hold">
                                          <p:stCondLst>
                                            <p:cond delay="0"/>
                                          </p:stCondLst>
                                        </p:cTn>
                                        <p:tgtEl>
                                          <p:spTgt spid="486">
                                            <p:txEl>
                                              <p:pRg st="458" end="458"/>
                                            </p:txEl>
                                          </p:spTgt>
                                        </p:tgtEl>
                                        <p:attrNameLst>
                                          <p:attrName>style.visibility</p:attrName>
                                        </p:attrNameLst>
                                      </p:cBhvr>
                                      <p:to>
                                        <p:strVal val="visible"/>
                                      </p:to>
                                    </p:set>
                                    <p:animEffect filter="wipe(left)" transition="in">
                                      <p:cBhvr additive="repl">
                                        <p:cTn id="351" dur="500"/>
                                        <p:tgtEl>
                                          <p:spTgt spid="486">
                                            <p:txEl>
                                              <p:pRg st="458" end="458"/>
                                            </p:txEl>
                                          </p:spTgt>
                                        </p:tgtEl>
                                      </p:cBhvr>
                                    </p:animEffect>
                                  </p:childTnLst>
                                </p:cTn>
                              </p:par>
                              <p:par>
                                <p:cTn id="352" nodeType="withEffect" fill="hold" presetClass="entr" presetID="22" presetSubtype="8">
                                  <p:stCondLst>
                                    <p:cond delay="0"/>
                                  </p:stCondLst>
                                  <p:childTnLst>
                                    <p:set>
                                      <p:cBhvr>
                                        <p:cTn id="353" dur="1" fill="hold">
                                          <p:stCondLst>
                                            <p:cond delay="0"/>
                                          </p:stCondLst>
                                        </p:cTn>
                                        <p:tgtEl>
                                          <p:spTgt spid="486">
                                            <p:txEl>
                                              <p:pRg st="458" end="458"/>
                                            </p:txEl>
                                          </p:spTgt>
                                        </p:tgtEl>
                                        <p:attrNameLst>
                                          <p:attrName>style.visibility</p:attrName>
                                        </p:attrNameLst>
                                      </p:cBhvr>
                                      <p:to>
                                        <p:strVal val="visible"/>
                                      </p:to>
                                    </p:set>
                                    <p:animEffect filter="wipe(left)" transition="in">
                                      <p:cBhvr additive="repl">
                                        <p:cTn id="354" dur="500"/>
                                        <p:tgtEl>
                                          <p:spTgt spid="486">
                                            <p:txEl>
                                              <p:pRg st="458" end="458"/>
                                            </p:txEl>
                                          </p:spTgt>
                                        </p:tgtEl>
                                      </p:cBhvr>
                                    </p:animEffect>
                                  </p:childTnLst>
                                </p:cTn>
                              </p:par>
                              <p:par>
                                <p:cTn id="355" nodeType="withEffect" fill="hold" presetClass="entr" presetID="22" presetSubtype="8">
                                  <p:stCondLst>
                                    <p:cond delay="0"/>
                                  </p:stCondLst>
                                  <p:childTnLst>
                                    <p:set>
                                      <p:cBhvr>
                                        <p:cTn id="356" dur="1" fill="hold">
                                          <p:stCondLst>
                                            <p:cond delay="0"/>
                                          </p:stCondLst>
                                        </p:cTn>
                                        <p:tgtEl>
                                          <p:spTgt spid="486">
                                            <p:txEl>
                                              <p:pRg st="458" end="458"/>
                                            </p:txEl>
                                          </p:spTgt>
                                        </p:tgtEl>
                                        <p:attrNameLst>
                                          <p:attrName>style.visibility</p:attrName>
                                        </p:attrNameLst>
                                      </p:cBhvr>
                                      <p:to>
                                        <p:strVal val="visible"/>
                                      </p:to>
                                    </p:set>
                                    <p:animEffect filter="wipe(left)" transition="in">
                                      <p:cBhvr additive="repl">
                                        <p:cTn id="357" dur="500"/>
                                        <p:tgtEl>
                                          <p:spTgt spid="486">
                                            <p:txEl>
                                              <p:pRg st="458" end="458"/>
                                            </p:txEl>
                                          </p:spTgt>
                                        </p:tgtEl>
                                      </p:cBhvr>
                                    </p:animEffect>
                                  </p:childTnLst>
                                </p:cTn>
                              </p:par>
                              <p:par>
                                <p:cTn id="358" nodeType="withEffect" fill="hold" presetClass="entr" presetID="22" presetSubtype="8">
                                  <p:stCondLst>
                                    <p:cond delay="0"/>
                                  </p:stCondLst>
                                  <p:childTnLst>
                                    <p:set>
                                      <p:cBhvr>
                                        <p:cTn id="359" dur="1" fill="hold">
                                          <p:stCondLst>
                                            <p:cond delay="0"/>
                                          </p:stCondLst>
                                        </p:cTn>
                                        <p:tgtEl>
                                          <p:spTgt spid="486">
                                            <p:txEl>
                                              <p:pRg st="458" end="458"/>
                                            </p:txEl>
                                          </p:spTgt>
                                        </p:tgtEl>
                                        <p:attrNameLst>
                                          <p:attrName>style.visibility</p:attrName>
                                        </p:attrNameLst>
                                      </p:cBhvr>
                                      <p:to>
                                        <p:strVal val="visible"/>
                                      </p:to>
                                    </p:set>
                                    <p:animEffect filter="wipe(left)" transition="in">
                                      <p:cBhvr additive="repl">
                                        <p:cTn id="360" dur="500"/>
                                        <p:tgtEl>
                                          <p:spTgt spid="486">
                                            <p:txEl>
                                              <p:pRg st="458" end="458"/>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87" name="CustomShape 1"/>
          <p:cNvSpPr/>
          <p:nvPr/>
        </p:nvSpPr>
        <p:spPr>
          <a:xfrm>
            <a:off x="899640" y="104760"/>
            <a:ext cx="801036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Artificially Scarce Goods</a:t>
            </a:r>
            <a:endParaRPr lang="en-US" sz="1800" spc="-1" strike="noStrike">
              <a:solidFill>
                <a:srgbClr val="000000"/>
              </a:solidFill>
              <a:uFill>
                <a:solidFill>
                  <a:srgbClr val="ffffff"/>
                </a:solidFill>
              </a:uFill>
              <a:latin typeface="Arial"/>
            </a:endParaRPr>
          </a:p>
        </p:txBody>
      </p:sp>
      <p:sp>
        <p:nvSpPr>
          <p:cNvPr id="488" name="CustomShape 2"/>
          <p:cNvSpPr/>
          <p:nvPr/>
        </p:nvSpPr>
        <p:spPr>
          <a:xfrm>
            <a:off x="1043640" y="893520"/>
            <a:ext cx="7866360" cy="534312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An </a:t>
            </a:r>
            <a:r>
              <a:rPr b="1" lang="en-US" sz="2400" spc="-1" strike="noStrike">
                <a:solidFill>
                  <a:srgbClr val="000000"/>
                </a:solidFill>
                <a:uFill>
                  <a:solidFill>
                    <a:srgbClr val="ffffff"/>
                  </a:solidFill>
                </a:uFill>
                <a:latin typeface="Calibri"/>
                <a:ea typeface="MS PGothic"/>
              </a:rPr>
              <a:t>artificially scarce good</a:t>
            </a:r>
            <a:r>
              <a:rPr lang="en-US" sz="2400" spc="-1" strike="noStrike">
                <a:solidFill>
                  <a:srgbClr val="000000"/>
                </a:solidFill>
                <a:uFill>
                  <a:solidFill>
                    <a:srgbClr val="ffffff"/>
                  </a:solidFill>
                </a:uFill>
                <a:latin typeface="Calibri"/>
                <a:ea typeface="MS PGothic"/>
              </a:rPr>
              <a:t> is excludable but nonrival in consumption.</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Because the good is nonrival in consumption, the efficient price to consumers is zero. </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However, because it is excludable, sellers charge a positive price, which leads to inefficiently low consumption.</a:t>
            </a:r>
            <a:endParaRPr lang="en-US" sz="1800" spc="-1" strike="noStrike">
              <a:solidFill>
                <a:srgbClr val="000000"/>
              </a:solidFill>
              <a:uFill>
                <a:solidFill>
                  <a:srgbClr val="ffffff"/>
                </a:solidFill>
              </a:uFill>
              <a:latin typeface="Arial"/>
            </a:endParaRPr>
          </a:p>
        </p:txBody>
      </p:sp>
    </p:spTree>
  </p:cSld>
  <p:timing>
    <p:tnLst>
      <p:par>
        <p:cTn id="361" dur="indefinite" restart="never" nodeType="tmRoot">
          <p:childTnLst>
            <p:seq>
              <p:cTn id="362" dur="indefinite" nodeType="mainSeq">
                <p:childTnLst>
                  <p:par>
                    <p:cTn id="363" fill="hold">
                      <p:stCondLst>
                        <p:cond delay="indefinite"/>
                      </p:stCondLst>
                      <p:childTnLst>
                        <p:par>
                          <p:cTn id="364" fill="hold">
                            <p:stCondLst>
                              <p:cond delay="0"/>
                            </p:stCondLst>
                            <p:childTnLst>
                              <p:par>
                                <p:cTn id="365" nodeType="clickEffect" fill="hold" presetClass="entr" presetID="22" presetSubtype="8">
                                  <p:stCondLst>
                                    <p:cond delay="0"/>
                                  </p:stCondLst>
                                  <p:childTnLst>
                                    <p:set>
                                      <p:cBhvr>
                                        <p:cTn id="366" dur="1" fill="hold">
                                          <p:stCondLst>
                                            <p:cond delay="0"/>
                                          </p:stCondLst>
                                        </p:cTn>
                                        <p:tgtEl>
                                          <p:spTgt spid="488">
                                            <p:txEl>
                                              <p:pRg st="0" end="71"/>
                                            </p:txEl>
                                          </p:spTgt>
                                        </p:tgtEl>
                                        <p:attrNameLst>
                                          <p:attrName>style.visibility</p:attrName>
                                        </p:attrNameLst>
                                      </p:cBhvr>
                                      <p:to>
                                        <p:strVal val="visible"/>
                                      </p:to>
                                    </p:set>
                                    <p:animEffect filter="wipe(left)" transition="in">
                                      <p:cBhvr additive="repl">
                                        <p:cTn id="367" dur="500"/>
                                        <p:tgtEl>
                                          <p:spTgt spid="488">
                                            <p:txEl>
                                              <p:pRg st="0" end="71"/>
                                            </p:txEl>
                                          </p:spTgt>
                                        </p:tgtEl>
                                      </p:cBhvr>
                                    </p:animEffect>
                                  </p:childTnLst>
                                </p:cTn>
                              </p:par>
                            </p:childTnLst>
                          </p:cTn>
                        </p:par>
                      </p:childTnLst>
                    </p:cTn>
                  </p:par>
                  <p:par>
                    <p:cTn id="368" fill="hold">
                      <p:stCondLst>
                        <p:cond delay="indefinite"/>
                      </p:stCondLst>
                      <p:childTnLst>
                        <p:par>
                          <p:cTn id="369" fill="hold">
                            <p:stCondLst>
                              <p:cond delay="0"/>
                            </p:stCondLst>
                            <p:childTnLst>
                              <p:par>
                                <p:cTn id="370" nodeType="clickEffect" fill="hold" presetClass="entr" presetID="22" presetSubtype="8">
                                  <p:stCondLst>
                                    <p:cond delay="0"/>
                                  </p:stCondLst>
                                  <p:childTnLst>
                                    <p:set>
                                      <p:cBhvr>
                                        <p:cTn id="371" dur="1" fill="hold">
                                          <p:stCondLst>
                                            <p:cond delay="0"/>
                                          </p:stCondLst>
                                        </p:cTn>
                                        <p:tgtEl>
                                          <p:spTgt spid="488">
                                            <p:txEl>
                                              <p:pRg st="275" end="275"/>
                                            </p:txEl>
                                          </p:spTgt>
                                        </p:tgtEl>
                                        <p:attrNameLst>
                                          <p:attrName>style.visibility</p:attrName>
                                        </p:attrNameLst>
                                      </p:cBhvr>
                                      <p:to>
                                        <p:strVal val="visible"/>
                                      </p:to>
                                    </p:set>
                                    <p:animEffect filter="wipe(left)" transition="in">
                                      <p:cBhvr additive="repl">
                                        <p:cTn id="372" dur="500"/>
                                        <p:tgtEl>
                                          <p:spTgt spid="488">
                                            <p:txEl>
                                              <p:pRg st="275" end="275"/>
                                            </p:txEl>
                                          </p:spTgt>
                                        </p:tgtEl>
                                      </p:cBhvr>
                                    </p:animEffect>
                                  </p:childTnLst>
                                </p:cTn>
                              </p:par>
                            </p:childTnLst>
                          </p:cTn>
                        </p:par>
                      </p:childTnLst>
                    </p:cTn>
                  </p:par>
                  <p:par>
                    <p:cTn id="373" fill="hold">
                      <p:stCondLst>
                        <p:cond delay="indefinite"/>
                      </p:stCondLst>
                      <p:childTnLst>
                        <p:par>
                          <p:cTn id="374" fill="hold">
                            <p:stCondLst>
                              <p:cond delay="0"/>
                            </p:stCondLst>
                            <p:childTnLst>
                              <p:par>
                                <p:cTn id="375" nodeType="clickEffect" fill="hold" presetClass="entr" presetID="22" presetSubtype="8">
                                  <p:stCondLst>
                                    <p:cond delay="0"/>
                                  </p:stCondLst>
                                  <p:childTnLst>
                                    <p:set>
                                      <p:cBhvr>
                                        <p:cTn id="376" dur="1" fill="hold">
                                          <p:stCondLst>
                                            <p:cond delay="0"/>
                                          </p:stCondLst>
                                        </p:cTn>
                                        <p:tgtEl>
                                          <p:spTgt spid="488">
                                            <p:txEl>
                                              <p:pRg st="275" end="275"/>
                                            </p:txEl>
                                          </p:spTgt>
                                        </p:tgtEl>
                                        <p:attrNameLst>
                                          <p:attrName>style.visibility</p:attrName>
                                        </p:attrNameLst>
                                      </p:cBhvr>
                                      <p:to>
                                        <p:strVal val="visible"/>
                                      </p:to>
                                    </p:set>
                                    <p:animEffect filter="wipe(left)" transition="in">
                                      <p:cBhvr additive="repl">
                                        <p:cTn id="377" dur="500"/>
                                        <p:tgtEl>
                                          <p:spTgt spid="488">
                                            <p:txEl>
                                              <p:pRg st="275" end="27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89" name="CustomShape 1"/>
          <p:cNvSpPr/>
          <p:nvPr/>
        </p:nvSpPr>
        <p:spPr>
          <a:xfrm>
            <a:off x="899640" y="104760"/>
            <a:ext cx="801036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Artificially Scarce Goods</a:t>
            </a:r>
            <a:endParaRPr lang="en-US" sz="1800" spc="-1" strike="noStrike">
              <a:solidFill>
                <a:srgbClr val="000000"/>
              </a:solidFill>
              <a:uFill>
                <a:solidFill>
                  <a:srgbClr val="ffffff"/>
                </a:solidFill>
              </a:uFill>
              <a:latin typeface="Arial"/>
            </a:endParaRPr>
          </a:p>
        </p:txBody>
      </p:sp>
      <p:sp>
        <p:nvSpPr>
          <p:cNvPr id="490" name="CustomShape 2"/>
          <p:cNvSpPr/>
          <p:nvPr/>
        </p:nvSpPr>
        <p:spPr>
          <a:xfrm>
            <a:off x="899640" y="965520"/>
            <a:ext cx="8010360" cy="5055120"/>
          </a:xfrm>
          <a:prstGeom prst="rect">
            <a:avLst/>
          </a:prstGeom>
          <a:noFill/>
          <a:ln w="9360">
            <a:noFill/>
          </a:ln>
        </p:spPr>
        <p:style>
          <a:lnRef idx="0"/>
          <a:fillRef idx="0"/>
          <a:effectRef idx="0"/>
          <a:fontRef idx="minor"/>
        </p:style>
        <p:txBody>
          <a:bodyPr lIns="90000" rIns="90000" tIns="45000" bIns="45000"/>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 good is made artificially scarce because producers charge a positive price.  </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The marginal cost of allowing one more person to consume the good is zero.</a:t>
            </a:r>
            <a:endParaRPr lang="en-US" sz="1800" spc="-1" strike="noStrike">
              <a:solidFill>
                <a:srgbClr val="000000"/>
              </a:solidFill>
              <a:uFill>
                <a:solidFill>
                  <a:srgbClr val="ffffff"/>
                </a:solidFill>
              </a:uFill>
              <a:latin typeface="Arial"/>
            </a:endParaRPr>
          </a:p>
          <a:p>
            <a:pPr>
              <a:lnSpc>
                <a:spcPct val="100000"/>
              </a:lnSpc>
            </a:pPr>
            <a:endParaRPr lang="en-US" sz="1800" spc="-1" strike="noStrike">
              <a:solidFill>
                <a:srgbClr val="000000"/>
              </a:solidFill>
              <a:uFill>
                <a:solidFill>
                  <a:srgbClr val="ffffff"/>
                </a:solidFill>
              </a:uFill>
              <a:latin typeface="Arial"/>
            </a:endParaRPr>
          </a:p>
          <a:p>
            <a:pPr marL="231840" indent="-23112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The problems of artificially scarce goods are similar to those posed by a natural monopoly.</a:t>
            </a:r>
            <a:endParaRPr lang="en-US" sz="1800" spc="-1" strike="noStrike">
              <a:solidFill>
                <a:srgbClr val="000000"/>
              </a:solidFill>
              <a:uFill>
                <a:solidFill>
                  <a:srgbClr val="ffffff"/>
                </a:solidFill>
              </a:uFill>
              <a:latin typeface="Arial"/>
            </a:endParaRPr>
          </a:p>
        </p:txBody>
      </p:sp>
    </p:spTree>
  </p:cSld>
  <p:timing>
    <p:tnLst>
      <p:par>
        <p:cTn id="378" dur="indefinite" restart="never" nodeType="tmRoot">
          <p:childTnLst>
            <p:seq>
              <p:cTn id="379" dur="indefinite" nodeType="mainSeq">
                <p:childTnLst>
                  <p:par>
                    <p:cTn id="380" fill="hold">
                      <p:stCondLst>
                        <p:cond delay="indefinite"/>
                      </p:stCondLst>
                      <p:childTnLst>
                        <p:par>
                          <p:cTn id="381" fill="hold">
                            <p:stCondLst>
                              <p:cond delay="0"/>
                            </p:stCondLst>
                            <p:childTnLst>
                              <p:par>
                                <p:cTn id="382" nodeType="clickEffect" fill="hold" presetClass="entr" presetID="22" presetSubtype="8">
                                  <p:stCondLst>
                                    <p:cond delay="0"/>
                                  </p:stCondLst>
                                  <p:childTnLst>
                                    <p:set>
                                      <p:cBhvr>
                                        <p:cTn id="383" dur="1" fill="hold">
                                          <p:stCondLst>
                                            <p:cond delay="0"/>
                                          </p:stCondLst>
                                        </p:cTn>
                                        <p:tgtEl>
                                          <p:spTgt spid="490">
                                            <p:txEl>
                                              <p:pRg st="0" end="80"/>
                                            </p:txEl>
                                          </p:spTgt>
                                        </p:tgtEl>
                                        <p:attrNameLst>
                                          <p:attrName>style.visibility</p:attrName>
                                        </p:attrNameLst>
                                      </p:cBhvr>
                                      <p:to>
                                        <p:strVal val="visible"/>
                                      </p:to>
                                    </p:set>
                                    <p:animEffect filter="wipe(left)" transition="in">
                                      <p:cBhvr additive="repl">
                                        <p:cTn id="384" dur="500"/>
                                        <p:tgtEl>
                                          <p:spTgt spid="490">
                                            <p:txEl>
                                              <p:pRg st="0" end="80"/>
                                            </p:txEl>
                                          </p:spTgt>
                                        </p:tgtEl>
                                      </p:cBhvr>
                                    </p:animEffect>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22" presetSubtype="8">
                                  <p:stCondLst>
                                    <p:cond delay="0"/>
                                  </p:stCondLst>
                                  <p:childTnLst>
                                    <p:set>
                                      <p:cBhvr>
                                        <p:cTn id="388" dur="1" fill="hold">
                                          <p:stCondLst>
                                            <p:cond delay="0"/>
                                          </p:stCondLst>
                                        </p:cTn>
                                        <p:tgtEl>
                                          <p:spTgt spid="490">
                                            <p:txEl>
                                              <p:pRg st="249" end="249"/>
                                            </p:txEl>
                                          </p:spTgt>
                                        </p:tgtEl>
                                        <p:attrNameLst>
                                          <p:attrName>style.visibility</p:attrName>
                                        </p:attrNameLst>
                                      </p:cBhvr>
                                      <p:to>
                                        <p:strVal val="visible"/>
                                      </p:to>
                                    </p:set>
                                    <p:animEffect filter="wipe(left)" transition="in">
                                      <p:cBhvr additive="repl">
                                        <p:cTn id="389" dur="500"/>
                                        <p:tgtEl>
                                          <p:spTgt spid="490">
                                            <p:txEl>
                                              <p:pRg st="249" end="249"/>
                                            </p:txEl>
                                          </p:spTgt>
                                        </p:tgtEl>
                                      </p:cBhvr>
                                    </p:animEffect>
                                  </p:childTnLst>
                                </p:cTn>
                              </p:par>
                            </p:childTnLst>
                          </p:cTn>
                        </p:par>
                      </p:childTnLst>
                    </p:cTn>
                  </p:par>
                  <p:par>
                    <p:cTn id="390" fill="hold">
                      <p:stCondLst>
                        <p:cond delay="indefinite"/>
                      </p:stCondLst>
                      <p:childTnLst>
                        <p:par>
                          <p:cTn id="391" fill="hold">
                            <p:stCondLst>
                              <p:cond delay="0"/>
                            </p:stCondLst>
                            <p:childTnLst>
                              <p:par>
                                <p:cTn id="392" nodeType="clickEffect" fill="hold" presetClass="entr" presetID="22" presetSubtype="8">
                                  <p:stCondLst>
                                    <p:cond delay="0"/>
                                  </p:stCondLst>
                                  <p:childTnLst>
                                    <p:set>
                                      <p:cBhvr>
                                        <p:cTn id="393" dur="1" fill="hold">
                                          <p:stCondLst>
                                            <p:cond delay="0"/>
                                          </p:stCondLst>
                                        </p:cTn>
                                        <p:tgtEl>
                                          <p:spTgt spid="490">
                                            <p:txEl>
                                              <p:pRg st="249" end="249"/>
                                            </p:txEl>
                                          </p:spTgt>
                                        </p:tgtEl>
                                        <p:attrNameLst>
                                          <p:attrName>style.visibility</p:attrName>
                                        </p:attrNameLst>
                                      </p:cBhvr>
                                      <p:to>
                                        <p:strVal val="visible"/>
                                      </p:to>
                                    </p:set>
                                    <p:animEffect filter="wipe(left)" transition="in">
                                      <p:cBhvr additive="repl">
                                        <p:cTn id="394" dur="500"/>
                                        <p:tgtEl>
                                          <p:spTgt spid="490">
                                            <p:txEl>
                                              <p:pRg st="249" end="249"/>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1" name="CustomShape 1"/>
          <p:cNvSpPr/>
          <p:nvPr/>
        </p:nvSpPr>
        <p:spPr>
          <a:xfrm>
            <a:off x="899640" y="93600"/>
            <a:ext cx="7992000" cy="60876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An Artificially Scarce Good</a:t>
            </a:r>
            <a:endParaRPr lang="en-US" sz="1800" spc="-1" strike="noStrike">
              <a:solidFill>
                <a:srgbClr val="000000"/>
              </a:solidFill>
              <a:uFill>
                <a:solidFill>
                  <a:srgbClr val="ffffff"/>
                </a:solidFill>
              </a:uFill>
              <a:latin typeface="Arial"/>
            </a:endParaRPr>
          </a:p>
        </p:txBody>
      </p:sp>
      <p:sp>
        <p:nvSpPr>
          <p:cNvPr id="492" name="CustomShape 2"/>
          <p:cNvSpPr/>
          <p:nvPr/>
        </p:nvSpPr>
        <p:spPr>
          <a:xfrm>
            <a:off x="3587760" y="4162320"/>
            <a:ext cx="1440720" cy="1608840"/>
          </a:xfrm>
          <a:custGeom>
            <a:avLst/>
            <a:gdLst/>
            <a:ahLst/>
            <a:rect l="l" t="t" r="r" b="b"/>
            <a:pathLst>
              <a:path w="615" h="643">
                <a:moveTo>
                  <a:pt x="0" y="0"/>
                </a:moveTo>
                <a:lnTo>
                  <a:pt x="0" y="643"/>
                </a:lnTo>
                <a:lnTo>
                  <a:pt x="615" y="643"/>
                </a:lnTo>
                <a:lnTo>
                  <a:pt x="0" y="0"/>
                </a:lnTo>
                <a:close/>
              </a:path>
            </a:pathLst>
          </a:custGeom>
          <a:solidFill>
            <a:srgbClr val="ffe5b9"/>
          </a:solidFill>
          <a:ln w="9360">
            <a:noFill/>
          </a:ln>
        </p:spPr>
        <p:style>
          <a:lnRef idx="0"/>
          <a:fillRef idx="0"/>
          <a:effectRef idx="0"/>
          <a:fontRef idx="minor"/>
        </p:style>
      </p:sp>
      <p:sp>
        <p:nvSpPr>
          <p:cNvPr id="493" name="Line 3"/>
          <p:cNvSpPr/>
          <p:nvPr/>
        </p:nvSpPr>
        <p:spPr>
          <a:xfrm>
            <a:off x="1512720" y="1841400"/>
            <a:ext cx="3516480" cy="3930480"/>
          </a:xfrm>
          <a:prstGeom prst="line">
            <a:avLst/>
          </a:prstGeom>
          <a:ln w="30240">
            <a:solidFill>
              <a:srgbClr val="3c5daa"/>
            </a:solidFill>
            <a:miter/>
          </a:ln>
        </p:spPr>
        <p:style>
          <a:lnRef idx="0"/>
          <a:fillRef idx="0"/>
          <a:effectRef idx="0"/>
          <a:fontRef idx="minor"/>
        </p:style>
      </p:sp>
      <p:sp>
        <p:nvSpPr>
          <p:cNvPr id="494" name="CustomShape 4"/>
          <p:cNvSpPr/>
          <p:nvPr/>
        </p:nvSpPr>
        <p:spPr>
          <a:xfrm>
            <a:off x="5077440" y="5491080"/>
            <a:ext cx="1314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D</a:t>
            </a:r>
            <a:endParaRPr lang="en-US" sz="1800" spc="-1" strike="noStrike">
              <a:solidFill>
                <a:srgbClr val="000000"/>
              </a:solidFill>
              <a:uFill>
                <a:solidFill>
                  <a:srgbClr val="ffffff"/>
                </a:solidFill>
              </a:uFill>
              <a:latin typeface="Arial"/>
            </a:endParaRPr>
          </a:p>
        </p:txBody>
      </p:sp>
      <p:sp>
        <p:nvSpPr>
          <p:cNvPr id="495" name="CustomShape 5"/>
          <p:cNvSpPr/>
          <p:nvPr/>
        </p:nvSpPr>
        <p:spPr>
          <a:xfrm>
            <a:off x="4944600" y="5872320"/>
            <a:ext cx="1328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Q</a:t>
            </a:r>
            <a:endParaRPr lang="en-US" sz="1800" spc="-1" strike="noStrike">
              <a:solidFill>
                <a:srgbClr val="000000"/>
              </a:solidFill>
              <a:uFill>
                <a:solidFill>
                  <a:srgbClr val="ffffff"/>
                </a:solidFill>
              </a:uFill>
              <a:latin typeface="Arial"/>
            </a:endParaRPr>
          </a:p>
        </p:txBody>
      </p:sp>
      <p:sp>
        <p:nvSpPr>
          <p:cNvPr id="496" name="CustomShape 6"/>
          <p:cNvSpPr/>
          <p:nvPr/>
        </p:nvSpPr>
        <p:spPr>
          <a:xfrm>
            <a:off x="5092200" y="5985000"/>
            <a:ext cx="3402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OPT</a:t>
            </a:r>
            <a:endParaRPr lang="en-US" sz="1800" spc="-1" strike="noStrike">
              <a:solidFill>
                <a:srgbClr val="000000"/>
              </a:solidFill>
              <a:uFill>
                <a:solidFill>
                  <a:srgbClr val="ffffff"/>
                </a:solidFill>
              </a:uFill>
              <a:latin typeface="Arial"/>
            </a:endParaRPr>
          </a:p>
        </p:txBody>
      </p:sp>
      <p:sp>
        <p:nvSpPr>
          <p:cNvPr id="497" name="CustomShape 7"/>
          <p:cNvSpPr/>
          <p:nvPr/>
        </p:nvSpPr>
        <p:spPr>
          <a:xfrm>
            <a:off x="3503160" y="5872320"/>
            <a:ext cx="13284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Q</a:t>
            </a:r>
            <a:endParaRPr lang="en-US" sz="1800" spc="-1" strike="noStrike">
              <a:solidFill>
                <a:srgbClr val="000000"/>
              </a:solidFill>
              <a:uFill>
                <a:solidFill>
                  <a:srgbClr val="ffffff"/>
                </a:solidFill>
              </a:uFill>
              <a:latin typeface="Arial"/>
            </a:endParaRPr>
          </a:p>
        </p:txBody>
      </p:sp>
      <p:sp>
        <p:nvSpPr>
          <p:cNvPr id="498" name="CustomShape 8"/>
          <p:cNvSpPr/>
          <p:nvPr/>
        </p:nvSpPr>
        <p:spPr>
          <a:xfrm>
            <a:off x="3642840" y="5985000"/>
            <a:ext cx="369000" cy="213120"/>
          </a:xfrm>
          <a:prstGeom prst="rect">
            <a:avLst/>
          </a:prstGeom>
          <a:noFill/>
          <a:ln w="9360">
            <a:noFill/>
          </a:ln>
        </p:spPr>
        <p:style>
          <a:lnRef idx="0"/>
          <a:fillRef idx="0"/>
          <a:effectRef idx="0"/>
          <a:fontRef idx="minor"/>
        </p:style>
        <p:txBody>
          <a:bodyPr wrap="none" lIns="0" rIns="0" tIns="0" bIns="0"/>
          <a:p>
            <a:pPr marL="1440" indent="-720">
              <a:lnSpc>
                <a:spcPct val="100000"/>
              </a:lnSpc>
            </a:pPr>
            <a:r>
              <a:rPr i="1" lang="en-US" sz="1400" spc="-1" strike="noStrike">
                <a:solidFill>
                  <a:srgbClr val="000000"/>
                </a:solidFill>
                <a:uFill>
                  <a:solidFill>
                    <a:srgbClr val="ffffff"/>
                  </a:solidFill>
                </a:uFill>
                <a:latin typeface="Myriad Roman"/>
                <a:ea typeface="MS PGothic"/>
              </a:rPr>
              <a:t>MKT</a:t>
            </a:r>
            <a:endParaRPr lang="en-US" sz="1800" spc="-1" strike="noStrike">
              <a:solidFill>
                <a:srgbClr val="000000"/>
              </a:solidFill>
              <a:uFill>
                <a:solidFill>
                  <a:srgbClr val="ffffff"/>
                </a:solidFill>
              </a:uFill>
              <a:latin typeface="Arial"/>
            </a:endParaRPr>
          </a:p>
        </p:txBody>
      </p:sp>
      <p:sp>
        <p:nvSpPr>
          <p:cNvPr id="499" name="CustomShape 9"/>
          <p:cNvSpPr/>
          <p:nvPr/>
        </p:nvSpPr>
        <p:spPr>
          <a:xfrm>
            <a:off x="4896720" y="6172200"/>
            <a:ext cx="300852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Calibri"/>
                <a:ea typeface="MS PGothic"/>
              </a:rPr>
              <a:t>Quantity of pay-per-view movies watched</a:t>
            </a:r>
            <a:endParaRPr lang="en-US" sz="1800" spc="-1" strike="noStrike">
              <a:solidFill>
                <a:srgbClr val="000000"/>
              </a:solidFill>
              <a:uFill>
                <a:solidFill>
                  <a:srgbClr val="ffffff"/>
                </a:solidFill>
              </a:uFill>
              <a:latin typeface="Arial"/>
            </a:endParaRPr>
          </a:p>
        </p:txBody>
      </p:sp>
      <p:sp>
        <p:nvSpPr>
          <p:cNvPr id="500" name="CustomShape 10"/>
          <p:cNvSpPr/>
          <p:nvPr/>
        </p:nvSpPr>
        <p:spPr>
          <a:xfrm>
            <a:off x="899640" y="1053720"/>
            <a:ext cx="1583280" cy="426240"/>
          </a:xfrm>
          <a:prstGeom prst="rect">
            <a:avLst/>
          </a:prstGeom>
          <a:noFill/>
          <a:ln w="9360">
            <a:noFill/>
          </a:ln>
        </p:spPr>
        <p:style>
          <a:lnRef idx="0"/>
          <a:fillRef idx="0"/>
          <a:effectRef idx="0"/>
          <a:fontRef idx="minor"/>
        </p:style>
        <p:txBody>
          <a:bodyPr lIns="0" rIns="0" tIns="0" bIns="0"/>
          <a:p>
            <a:pPr marL="1440" indent="-720" algn="ctr">
              <a:lnSpc>
                <a:spcPct val="100000"/>
              </a:lnSpc>
            </a:pPr>
            <a:r>
              <a:rPr lang="en-US" sz="1400" spc="-1" strike="noStrike">
                <a:solidFill>
                  <a:srgbClr val="000000"/>
                </a:solidFill>
                <a:uFill>
                  <a:solidFill>
                    <a:srgbClr val="ffffff"/>
                  </a:solidFill>
                </a:uFill>
                <a:latin typeface="Calibri"/>
                <a:ea typeface="MS PGothic"/>
              </a:rPr>
              <a:t>Price of pay-per-view movie</a:t>
            </a:r>
            <a:endParaRPr lang="en-US" sz="1800" spc="-1" strike="noStrike">
              <a:solidFill>
                <a:srgbClr val="000000"/>
              </a:solidFill>
              <a:uFill>
                <a:solidFill>
                  <a:srgbClr val="ffffff"/>
                </a:solidFill>
              </a:uFill>
              <a:latin typeface="Arial"/>
            </a:endParaRPr>
          </a:p>
        </p:txBody>
      </p:sp>
      <p:sp>
        <p:nvSpPr>
          <p:cNvPr id="501" name="CustomShape 11"/>
          <p:cNvSpPr/>
          <p:nvPr/>
        </p:nvSpPr>
        <p:spPr>
          <a:xfrm>
            <a:off x="1541520" y="1374840"/>
            <a:ext cx="4647600" cy="4396680"/>
          </a:xfrm>
          <a:custGeom>
            <a:avLst/>
            <a:gdLst/>
            <a:ahLst/>
            <a:rect l="l" t="t" r="r" b="b"/>
            <a:pathLst>
              <a:path w="1984" h="1758">
                <a:moveTo>
                  <a:pt x="1984" y="1758"/>
                </a:moveTo>
                <a:lnTo>
                  <a:pt x="0" y="1758"/>
                </a:lnTo>
                <a:lnTo>
                  <a:pt x="0" y="0"/>
                </a:lnTo>
              </a:path>
            </a:pathLst>
          </a:custGeom>
          <a:noFill/>
          <a:ln w="7920">
            <a:solidFill>
              <a:srgbClr val="000000"/>
            </a:solidFill>
            <a:miter/>
          </a:ln>
        </p:spPr>
        <p:style>
          <a:lnRef idx="0"/>
          <a:fillRef idx="0"/>
          <a:effectRef idx="0"/>
          <a:fontRef idx="minor"/>
        </p:style>
      </p:sp>
      <p:sp>
        <p:nvSpPr>
          <p:cNvPr id="502" name="CustomShape 12"/>
          <p:cNvSpPr/>
          <p:nvPr/>
        </p:nvSpPr>
        <p:spPr>
          <a:xfrm>
            <a:off x="4971960" y="5713560"/>
            <a:ext cx="108720" cy="116640"/>
          </a:xfrm>
          <a:prstGeom prst="ellipse">
            <a:avLst/>
          </a:prstGeom>
          <a:solidFill>
            <a:srgbClr val="000000"/>
          </a:solidFill>
          <a:ln w="9360">
            <a:noFill/>
          </a:ln>
        </p:spPr>
        <p:style>
          <a:lnRef idx="0"/>
          <a:fillRef idx="0"/>
          <a:effectRef idx="0"/>
          <a:fontRef idx="minor"/>
        </p:style>
      </p:sp>
      <p:sp>
        <p:nvSpPr>
          <p:cNvPr id="503" name="CustomShape 13"/>
          <p:cNvSpPr/>
          <p:nvPr/>
        </p:nvSpPr>
        <p:spPr>
          <a:xfrm>
            <a:off x="3532320" y="4106880"/>
            <a:ext cx="108720" cy="116640"/>
          </a:xfrm>
          <a:prstGeom prst="ellipse">
            <a:avLst/>
          </a:prstGeom>
          <a:solidFill>
            <a:srgbClr val="000000"/>
          </a:solidFill>
          <a:ln w="9360">
            <a:noFill/>
          </a:ln>
        </p:spPr>
        <p:style>
          <a:lnRef idx="0"/>
          <a:fillRef idx="0"/>
          <a:effectRef idx="0"/>
          <a:fontRef idx="minor"/>
        </p:style>
      </p:sp>
      <p:sp>
        <p:nvSpPr>
          <p:cNvPr id="504" name="CustomShape 14"/>
          <p:cNvSpPr/>
          <p:nvPr/>
        </p:nvSpPr>
        <p:spPr>
          <a:xfrm>
            <a:off x="1221120" y="4038480"/>
            <a:ext cx="22752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$4</a:t>
            </a:r>
            <a:endParaRPr lang="en-US" sz="1800" spc="-1" strike="noStrike">
              <a:solidFill>
                <a:srgbClr val="000000"/>
              </a:solidFill>
              <a:uFill>
                <a:solidFill>
                  <a:srgbClr val="ffffff"/>
                </a:solidFill>
              </a:uFill>
              <a:latin typeface="Arial"/>
            </a:endParaRPr>
          </a:p>
        </p:txBody>
      </p:sp>
      <p:sp>
        <p:nvSpPr>
          <p:cNvPr id="505" name="CustomShape 15"/>
          <p:cNvSpPr/>
          <p:nvPr/>
        </p:nvSpPr>
        <p:spPr>
          <a:xfrm>
            <a:off x="1330560" y="5815080"/>
            <a:ext cx="114480" cy="212400"/>
          </a:xfrm>
          <a:prstGeom prst="rect">
            <a:avLst/>
          </a:prstGeom>
          <a:noFill/>
          <a:ln w="9360">
            <a:noFill/>
          </a:ln>
        </p:spPr>
        <p:style>
          <a:lnRef idx="0"/>
          <a:fillRef idx="0"/>
          <a:effectRef idx="0"/>
          <a:fontRef idx="minor"/>
        </p:style>
        <p:txBody>
          <a:bodyPr wrap="none" lIns="0" rIns="0" tIns="0" bIns="0"/>
          <a:p>
            <a:pPr marL="1440" indent="-720">
              <a:lnSpc>
                <a:spcPct val="100000"/>
              </a:lnSpc>
            </a:pPr>
            <a:r>
              <a:rPr lang="en-US" sz="1400" spc="-1" strike="noStrike">
                <a:solidFill>
                  <a:srgbClr val="000000"/>
                </a:solidFill>
                <a:uFill>
                  <a:solidFill>
                    <a:srgbClr val="ffffff"/>
                  </a:solidFill>
                </a:uFill>
                <a:latin typeface="Myriad Roman"/>
                <a:ea typeface="MS PGothic"/>
              </a:rPr>
              <a:t>0</a:t>
            </a:r>
            <a:endParaRPr lang="en-US" sz="1800" spc="-1" strike="noStrike">
              <a:solidFill>
                <a:srgbClr val="000000"/>
              </a:solidFill>
              <a:uFill>
                <a:solidFill>
                  <a:srgbClr val="ffffff"/>
                </a:solidFill>
              </a:uFill>
              <a:latin typeface="Arial"/>
            </a:endParaRPr>
          </a:p>
        </p:txBody>
      </p:sp>
      <p:sp>
        <p:nvSpPr>
          <p:cNvPr id="506" name="Line 16"/>
          <p:cNvSpPr/>
          <p:nvPr/>
        </p:nvSpPr>
        <p:spPr>
          <a:xfrm>
            <a:off x="1541160" y="4162320"/>
            <a:ext cx="130320" cy="360"/>
          </a:xfrm>
          <a:prstGeom prst="line">
            <a:avLst/>
          </a:prstGeom>
          <a:ln w="7920">
            <a:solidFill>
              <a:srgbClr val="000000"/>
            </a:solidFill>
            <a:miter/>
          </a:ln>
        </p:spPr>
        <p:style>
          <a:lnRef idx="0"/>
          <a:fillRef idx="0"/>
          <a:effectRef idx="0"/>
          <a:fontRef idx="minor"/>
        </p:style>
      </p:sp>
      <p:sp>
        <p:nvSpPr>
          <p:cNvPr id="507" name="Line 17"/>
          <p:cNvSpPr/>
          <p:nvPr/>
        </p:nvSpPr>
        <p:spPr>
          <a:xfrm flipH="1">
            <a:off x="4086000" y="4087800"/>
            <a:ext cx="514440" cy="1099800"/>
          </a:xfrm>
          <a:prstGeom prst="line">
            <a:avLst/>
          </a:prstGeom>
          <a:ln w="7920">
            <a:solidFill>
              <a:srgbClr val="000000"/>
            </a:solidFill>
            <a:miter/>
          </a:ln>
        </p:spPr>
        <p:style>
          <a:lnRef idx="0"/>
          <a:fillRef idx="0"/>
          <a:effectRef idx="0"/>
          <a:fontRef idx="minor"/>
        </p:style>
      </p:sp>
      <p:sp>
        <p:nvSpPr>
          <p:cNvPr id="508" name="CustomShape 18"/>
          <p:cNvSpPr/>
          <p:nvPr/>
        </p:nvSpPr>
        <p:spPr>
          <a:xfrm>
            <a:off x="4305240" y="3695760"/>
            <a:ext cx="1647000" cy="334080"/>
          </a:xfrm>
          <a:custGeom>
            <a:avLst/>
            <a:gdLst/>
            <a:ahLst/>
            <a:rect l="l" t="t" r="r" b="b"/>
            <a:pathLst>
              <a:path w="258" h="57">
                <a:moveTo>
                  <a:pt x="258" y="41"/>
                </a:moveTo>
                <a:cubicBezTo>
                  <a:pt x="258" y="50"/>
                  <a:pt x="252" y="57"/>
                  <a:pt x="245" y="57"/>
                </a:cubicBezTo>
                <a:cubicBezTo>
                  <a:pt x="13" y="57"/>
                  <a:pt x="13" y="57"/>
                  <a:pt x="13" y="57"/>
                </a:cubicBezTo>
                <a:cubicBezTo>
                  <a:pt x="6" y="57"/>
                  <a:pt x="0" y="50"/>
                  <a:pt x="0" y="41"/>
                </a:cubicBezTo>
                <a:cubicBezTo>
                  <a:pt x="0" y="16"/>
                  <a:pt x="0" y="16"/>
                  <a:pt x="0" y="16"/>
                </a:cubicBezTo>
                <a:cubicBezTo>
                  <a:pt x="0" y="7"/>
                  <a:pt x="6" y="0"/>
                  <a:pt x="13" y="0"/>
                </a:cubicBezTo>
                <a:cubicBezTo>
                  <a:pt x="245" y="0"/>
                  <a:pt x="245" y="0"/>
                  <a:pt x="245" y="0"/>
                </a:cubicBezTo>
                <a:cubicBezTo>
                  <a:pt x="252" y="0"/>
                  <a:pt x="258" y="7"/>
                  <a:pt x="258" y="16"/>
                </a:cubicBezTo>
                <a:lnTo>
                  <a:pt x="258" y="41"/>
                </a:lnTo>
                <a:close/>
              </a:path>
            </a:pathLst>
          </a:custGeom>
          <a:solidFill>
            <a:srgbClr val="d6e2e0"/>
          </a:solidFill>
          <a:ln w="9360">
            <a:noFill/>
          </a:ln>
        </p:spPr>
        <p:style>
          <a:lnRef idx="0"/>
          <a:fillRef idx="0"/>
          <a:effectRef idx="0"/>
          <a:fontRef idx="minor"/>
        </p:style>
      </p:sp>
      <p:sp>
        <p:nvSpPr>
          <p:cNvPr id="509" name="CustomShape 19"/>
          <p:cNvSpPr/>
          <p:nvPr/>
        </p:nvSpPr>
        <p:spPr>
          <a:xfrm>
            <a:off x="4402440" y="3751200"/>
            <a:ext cx="1475640" cy="213120"/>
          </a:xfrm>
          <a:prstGeom prst="rect">
            <a:avLst/>
          </a:prstGeom>
          <a:noFill/>
          <a:ln w="9360">
            <a:noFill/>
          </a:ln>
        </p:spPr>
        <p:style>
          <a:lnRef idx="0"/>
          <a:fillRef idx="0"/>
          <a:effectRef idx="0"/>
          <a:fontRef idx="minor"/>
        </p:style>
        <p:txBody>
          <a:bodyPr wrap="none" lIns="0" rIns="0" tIns="0" bIns="0"/>
          <a:p>
            <a:pPr marL="1440" indent="-720" algn="ctr">
              <a:lnSpc>
                <a:spcPct val="100000"/>
              </a:lnSpc>
            </a:pPr>
            <a:r>
              <a:rPr lang="en-US" sz="1400" spc="-1" strike="noStrike">
                <a:solidFill>
                  <a:srgbClr val="000000"/>
                </a:solidFill>
                <a:uFill>
                  <a:solidFill>
                    <a:srgbClr val="ffffff"/>
                  </a:solidFill>
                </a:uFill>
                <a:latin typeface="Myriad Roman"/>
                <a:ea typeface="MS PGothic"/>
              </a:rPr>
              <a:t>Deadweight loss</a:t>
            </a:r>
            <a:endParaRPr lang="en-US" sz="1800" spc="-1" strike="noStrike">
              <a:solidFill>
                <a:srgbClr val="000000"/>
              </a:solidFill>
              <a:uFill>
                <a:solidFill>
                  <a:srgbClr val="ffffff"/>
                </a:solidFill>
              </a:uFill>
              <a:latin typeface="Arial"/>
            </a:endParaRPr>
          </a:p>
        </p:txBody>
      </p:sp>
      <p:sp>
        <p:nvSpPr>
          <p:cNvPr id="510" name="Line 20"/>
          <p:cNvSpPr/>
          <p:nvPr/>
        </p:nvSpPr>
        <p:spPr>
          <a:xfrm>
            <a:off x="1696680" y="4167000"/>
            <a:ext cx="1830600" cy="360"/>
          </a:xfrm>
          <a:prstGeom prst="line">
            <a:avLst/>
          </a:prstGeom>
          <a:ln cap="rnd" w="15840">
            <a:solidFill>
              <a:srgbClr val="808080"/>
            </a:solidFill>
            <a:custDash>
              <a:ds d="100000" sp="100000"/>
            </a:custDash>
            <a:round/>
          </a:ln>
        </p:spPr>
        <p:style>
          <a:lnRef idx="0"/>
          <a:fillRef idx="0"/>
          <a:effectRef idx="0"/>
          <a:fontRef idx="minor"/>
        </p:style>
      </p:sp>
      <p:sp>
        <p:nvSpPr>
          <p:cNvPr id="511" name="Line 21"/>
          <p:cNvSpPr/>
          <p:nvPr/>
        </p:nvSpPr>
        <p:spPr>
          <a:xfrm>
            <a:off x="3581280" y="4241520"/>
            <a:ext cx="360" cy="1530360"/>
          </a:xfrm>
          <a:prstGeom prst="line">
            <a:avLst/>
          </a:prstGeom>
          <a:ln cap="rnd" w="15840">
            <a:solidFill>
              <a:srgbClr val="808080"/>
            </a:solidFill>
            <a:custDash>
              <a:ds d="100000" sp="100000"/>
            </a:custDash>
            <a:round/>
          </a:ln>
        </p:spPr>
        <p:style>
          <a:lnRef idx="0"/>
          <a:fillRef idx="0"/>
          <a:effectRef idx="0"/>
          <a:fontRef idx="minor"/>
        </p:style>
      </p:sp>
      <p:sp>
        <p:nvSpPr>
          <p:cNvPr id="512" name="CustomShape 22"/>
          <p:cNvSpPr/>
          <p:nvPr/>
        </p:nvSpPr>
        <p:spPr>
          <a:xfrm>
            <a:off x="5181480" y="990720"/>
            <a:ext cx="3276000" cy="2285280"/>
          </a:xfrm>
          <a:prstGeom prst="rect">
            <a:avLst/>
          </a:prstGeom>
          <a:solidFill>
            <a:schemeClr val="accent5">
              <a:lumMod val="20000"/>
              <a:lumOff val="80000"/>
            </a:schemeClr>
          </a:solidFill>
          <a:ln w="12600">
            <a:noFill/>
          </a:ln>
        </p:spPr>
        <p:style>
          <a:lnRef idx="0"/>
          <a:fillRef idx="0"/>
          <a:effectRef idx="0"/>
          <a:fontRef idx="minor"/>
        </p:style>
        <p:txBody>
          <a:bodyPr lIns="90000" rIns="90000" tIns="45000" bIns="45000" anchor="ctr"/>
          <a:p>
            <a:pPr marL="1440" indent="-720" algn="ctr">
              <a:lnSpc>
                <a:spcPct val="90000"/>
              </a:lnSpc>
            </a:pPr>
            <a:r>
              <a:rPr lang="en-US" sz="2000" spc="-1" strike="noStrike">
                <a:solidFill>
                  <a:srgbClr val="0033cc"/>
                </a:solidFill>
                <a:uFill>
                  <a:solidFill>
                    <a:srgbClr val="ffffff"/>
                  </a:solidFill>
                </a:uFill>
                <a:latin typeface="Calibri"/>
                <a:ea typeface="MS PGothic"/>
              </a:rPr>
              <a:t>The efficient quantity, </a:t>
            </a:r>
            <a:r>
              <a:rPr i="1" lang="en-US" sz="2000" spc="-1" strike="noStrike">
                <a:solidFill>
                  <a:srgbClr val="0033cc"/>
                </a:solidFill>
                <a:uFill>
                  <a:solidFill>
                    <a:srgbClr val="ffffff"/>
                  </a:solidFill>
                </a:uFill>
                <a:latin typeface="Calibri"/>
                <a:ea typeface="MS PGothic"/>
              </a:rPr>
              <a:t>Q</a:t>
            </a:r>
            <a:r>
              <a:rPr i="1" lang="en-US" sz="2000" spc="-1" strike="noStrike" baseline="-25000">
                <a:solidFill>
                  <a:srgbClr val="0033cc"/>
                </a:solidFill>
                <a:uFill>
                  <a:solidFill>
                    <a:srgbClr val="ffffff"/>
                  </a:solidFill>
                </a:uFill>
                <a:latin typeface="Calibri"/>
                <a:ea typeface="MS PGothic"/>
              </a:rPr>
              <a:t>OPT</a:t>
            </a:r>
            <a:r>
              <a:rPr lang="en-US" sz="2000" spc="-1" strike="noStrike">
                <a:solidFill>
                  <a:srgbClr val="0033cc"/>
                </a:solidFill>
                <a:uFill>
                  <a:solidFill>
                    <a:srgbClr val="ffffff"/>
                  </a:solidFill>
                </a:uFill>
                <a:latin typeface="Calibri"/>
                <a:ea typeface="MS PGothic"/>
              </a:rPr>
              <a:t>, exceeds the quantity demanded in an unregulated market, </a:t>
            </a:r>
            <a:r>
              <a:rPr i="1" lang="en-US" sz="2000" spc="-1" strike="noStrike">
                <a:solidFill>
                  <a:srgbClr val="0033cc"/>
                </a:solidFill>
                <a:uFill>
                  <a:solidFill>
                    <a:srgbClr val="ffffff"/>
                  </a:solidFill>
                </a:uFill>
                <a:latin typeface="Calibri"/>
                <a:ea typeface="MS PGothic"/>
              </a:rPr>
              <a:t>Q</a:t>
            </a:r>
            <a:r>
              <a:rPr i="1" lang="en-US" sz="2000" spc="-1" strike="noStrike" baseline="-25000">
                <a:solidFill>
                  <a:srgbClr val="0033cc"/>
                </a:solidFill>
                <a:uFill>
                  <a:solidFill>
                    <a:srgbClr val="ffffff"/>
                  </a:solidFill>
                </a:uFill>
                <a:latin typeface="Calibri"/>
                <a:ea typeface="MS PGothic"/>
              </a:rPr>
              <a:t>MKT</a:t>
            </a:r>
            <a:r>
              <a:rPr lang="en-US" sz="2000" spc="-1" strike="noStrike">
                <a:solidFill>
                  <a:srgbClr val="0033cc"/>
                </a:solidFill>
                <a:uFill>
                  <a:solidFill>
                    <a:srgbClr val="ffffff"/>
                  </a:solidFill>
                </a:uFill>
                <a:latin typeface="Calibri"/>
                <a:ea typeface="MS PGothic"/>
              </a:rPr>
              <a:t>. The shaded area represents the loss in total surplus from charging a price of $4.</a:t>
            </a:r>
            <a:endParaRPr lang="en-US" sz="1800" spc="-1" strike="noStrike">
              <a:solidFill>
                <a:srgbClr val="000000"/>
              </a:solidFill>
              <a:uFill>
                <a:solidFill>
                  <a:srgbClr val="ffffff"/>
                </a:solidFill>
              </a:uFill>
              <a:latin typeface="Arial"/>
            </a:endParaRPr>
          </a:p>
        </p:txBody>
      </p:sp>
    </p:spTree>
  </p:cSld>
  <p:timing>
    <p:tnLst>
      <p:par>
        <p:cTn id="395" dur="indefinite" restart="never" nodeType="tmRoot">
          <p:childTnLst>
            <p:seq>
              <p:cTn id="396" dur="indefinite" nodeType="mainSeq">
                <p:childTnLst>
                  <p:par>
                    <p:cTn id="397" fill="hold">
                      <p:stCondLst>
                        <p:cond delay="indefinite"/>
                      </p:stCondLst>
                      <p:childTnLst>
                        <p:par>
                          <p:cTn id="398" fill="hold">
                            <p:stCondLst>
                              <p:cond delay="0"/>
                            </p:stCondLst>
                            <p:childTnLst>
                              <p:par>
                                <p:cTn id="399" nodeType="clickEffect" fill="hold" presetClass="entr" presetID="13" presetSubtype="16">
                                  <p:stCondLst>
                                    <p:cond delay="0"/>
                                  </p:stCondLst>
                                  <p:childTnLst>
                                    <p:set>
                                      <p:cBhvr>
                                        <p:cTn id="400" dur="1" fill="hold">
                                          <p:stCondLst>
                                            <p:cond delay="0"/>
                                          </p:stCondLst>
                                        </p:cTn>
                                        <p:tgtEl>
                                          <p:spTgt spid="492"/>
                                        </p:tgtEl>
                                        <p:attrNameLst>
                                          <p:attrName>style.visibility</p:attrName>
                                        </p:attrNameLst>
                                      </p:cBhvr>
                                      <p:to>
                                        <p:strVal val="visible"/>
                                      </p:to>
                                    </p:set>
                                    <p:animEffect filter="plus(in)" transition="in">
                                      <p:cBhvr additive="repl">
                                        <p:cTn id="401" dur="500"/>
                                        <p:tgtEl>
                                          <p:spTgt spid="492"/>
                                        </p:tgtEl>
                                      </p:cBhvr>
                                    </p:animEffect>
                                  </p:childTnLst>
                                </p:cTn>
                              </p:par>
                              <p:par>
                                <p:cTn id="402" nodeType="withEffect" fill="hold" presetClass="entr" presetID="22" presetSubtype="4">
                                  <p:stCondLst>
                                    <p:cond delay="0"/>
                                  </p:stCondLst>
                                  <p:childTnLst>
                                    <p:set>
                                      <p:cBhvr>
                                        <p:cTn id="403" dur="1" fill="hold">
                                          <p:stCondLst>
                                            <p:cond delay="0"/>
                                          </p:stCondLst>
                                        </p:cTn>
                                        <p:tgtEl>
                                          <p:spTgt spid="507"/>
                                        </p:tgtEl>
                                        <p:attrNameLst>
                                          <p:attrName>style.visibility</p:attrName>
                                        </p:attrNameLst>
                                      </p:cBhvr>
                                      <p:to>
                                        <p:strVal val="visible"/>
                                      </p:to>
                                    </p:set>
                                    <p:animEffect filter="wipe(down)" transition="out">
                                      <p:cBhvr additive="repl">
                                        <p:cTn id="404" dur="500"/>
                                        <p:tgtEl>
                                          <p:spTgt spid="507"/>
                                        </p:tgtEl>
                                      </p:cBhvr>
                                    </p:animEffect>
                                  </p:childTnLst>
                                </p:cTn>
                              </p:par>
                              <p:par>
                                <p:cTn id="405" nodeType="withEffect" fill="hold" presetClass="entr" presetID="22" presetSubtype="4">
                                  <p:stCondLst>
                                    <p:cond delay="0"/>
                                  </p:stCondLst>
                                  <p:childTnLst>
                                    <p:set>
                                      <p:cBhvr>
                                        <p:cTn id="406" dur="1" fill="hold">
                                          <p:stCondLst>
                                            <p:cond delay="0"/>
                                          </p:stCondLst>
                                        </p:cTn>
                                        <p:tgtEl>
                                          <p:spTgt spid="509"/>
                                        </p:tgtEl>
                                        <p:attrNameLst>
                                          <p:attrName>style.visibility</p:attrName>
                                        </p:attrNameLst>
                                      </p:cBhvr>
                                      <p:to>
                                        <p:strVal val="visible"/>
                                      </p:to>
                                    </p:set>
                                    <p:animEffect filter="wipe(down)" transition="out">
                                      <p:cBhvr additive="repl">
                                        <p:cTn id="407" dur="500"/>
                                        <p:tgtEl>
                                          <p:spTgt spid="509"/>
                                        </p:tgtEl>
                                      </p:cBhvr>
                                    </p:animEffect>
                                  </p:childTnLst>
                                </p:cTn>
                              </p:par>
                              <p:par>
                                <p:cTn id="408" nodeType="withEffect" fill="hold" presetClass="entr" presetID="22" presetSubtype="4">
                                  <p:stCondLst>
                                    <p:cond delay="0"/>
                                  </p:stCondLst>
                                  <p:childTnLst>
                                    <p:set>
                                      <p:cBhvr>
                                        <p:cTn id="409" dur="1" fill="hold">
                                          <p:stCondLst>
                                            <p:cond delay="0"/>
                                          </p:stCondLst>
                                        </p:cTn>
                                        <p:tgtEl>
                                          <p:spTgt spid="508"/>
                                        </p:tgtEl>
                                        <p:attrNameLst>
                                          <p:attrName>style.visibility</p:attrName>
                                        </p:attrNameLst>
                                      </p:cBhvr>
                                      <p:to>
                                        <p:strVal val="visible"/>
                                      </p:to>
                                    </p:set>
                                    <p:animEffect filter="wipe(down)" transition="out">
                                      <p:cBhvr additive="repl">
                                        <p:cTn id="410" dur="500"/>
                                        <p:tgtEl>
                                          <p:spTgt spid="508"/>
                                        </p:tgtEl>
                                      </p:cBhvr>
                                    </p:animEffect>
                                  </p:childTnLst>
                                </p:cTn>
                              </p:par>
                            </p:childTnLst>
                          </p:cTn>
                        </p:par>
                      </p:childTnLst>
                    </p:cTn>
                  </p:par>
                  <p:par>
                    <p:cTn id="411" fill="hold">
                      <p:stCondLst>
                        <p:cond delay="indefinite"/>
                      </p:stCondLst>
                      <p:childTnLst>
                        <p:par>
                          <p:cTn id="412" fill="hold">
                            <p:stCondLst>
                              <p:cond delay="0"/>
                            </p:stCondLst>
                            <p:childTnLst>
                              <p:par>
                                <p:cTn id="413" nodeType="clickEffect" fill="hold" presetClass="entr" presetID="22" presetSubtype="1">
                                  <p:stCondLst>
                                    <p:cond delay="0"/>
                                  </p:stCondLst>
                                  <p:childTnLst>
                                    <p:set>
                                      <p:cBhvr>
                                        <p:cTn id="414" dur="1" fill="hold">
                                          <p:stCondLst>
                                            <p:cond delay="0"/>
                                          </p:stCondLst>
                                        </p:cTn>
                                        <p:tgtEl>
                                          <p:spTgt spid="512"/>
                                        </p:tgtEl>
                                        <p:attrNameLst>
                                          <p:attrName>style.visibility</p:attrName>
                                        </p:attrNameLst>
                                      </p:cBhvr>
                                      <p:to>
                                        <p:strVal val="visible"/>
                                      </p:to>
                                    </p:set>
                                    <p:animEffect filter="wipe(up)" transition="in">
                                      <p:cBhvr additive="repl">
                                        <p:cTn id="415" dur="500"/>
                                        <p:tgtEl>
                                          <p:spTgt spid="51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3" name="CustomShape 1"/>
          <p:cNvSpPr/>
          <p:nvPr/>
        </p:nvSpPr>
        <p:spPr>
          <a:xfrm>
            <a:off x="971640" y="40320"/>
            <a:ext cx="7992000" cy="5774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000000"/>
                </a:solidFill>
                <a:uFill>
                  <a:solidFill>
                    <a:srgbClr val="ffffff"/>
                  </a:solidFill>
                </a:uFill>
                <a:latin typeface="Calibri"/>
                <a:ea typeface="MS PGothic"/>
              </a:rPr>
              <a:t>Summary</a:t>
            </a:r>
            <a:endParaRPr lang="en-US" sz="1800" spc="-1" strike="noStrike">
              <a:solidFill>
                <a:srgbClr val="000000"/>
              </a:solidFill>
              <a:uFill>
                <a:solidFill>
                  <a:srgbClr val="ffffff"/>
                </a:solidFill>
              </a:uFill>
              <a:latin typeface="Arial"/>
            </a:endParaRPr>
          </a:p>
        </p:txBody>
      </p:sp>
      <p:sp>
        <p:nvSpPr>
          <p:cNvPr id="514" name="CustomShape 2"/>
          <p:cNvSpPr/>
          <p:nvPr/>
        </p:nvSpPr>
        <p:spPr>
          <a:xfrm>
            <a:off x="899640" y="922680"/>
            <a:ext cx="7992000" cy="5385960"/>
          </a:xfrm>
          <a:prstGeom prst="rect">
            <a:avLst/>
          </a:prstGeom>
          <a:noFill/>
          <a:ln>
            <a:noFill/>
          </a:ln>
        </p:spPr>
        <p:style>
          <a:lnRef idx="0"/>
          <a:fillRef idx="0"/>
          <a:effectRef idx="0"/>
          <a:fontRef idx="minor"/>
        </p:style>
        <p:txBody>
          <a:bodyPr lIns="90000" rIns="90000" tIns="45000" bIns="45000"/>
          <a:p>
            <a:pPr>
              <a:lnSpc>
                <a:spcPct val="100000"/>
              </a:lnSpc>
            </a:pPr>
            <a:r>
              <a:rPr lang="en-US" sz="2400" spc="-1" strike="noStrike">
                <a:solidFill>
                  <a:srgbClr val="000000"/>
                </a:solidFill>
                <a:uFill>
                  <a:solidFill>
                    <a:srgbClr val="ffffff"/>
                  </a:solidFill>
                </a:uFill>
                <a:latin typeface="Calibri"/>
                <a:ea typeface="MS PGothic"/>
              </a:rPr>
              <a:t>Goods may be classified according to whether they are </a:t>
            </a:r>
            <a:r>
              <a:rPr b="1" lang="en-US" sz="2400" spc="-1" strike="noStrike">
                <a:solidFill>
                  <a:srgbClr val="000000"/>
                </a:solidFill>
                <a:uFill>
                  <a:solidFill>
                    <a:srgbClr val="ffffff"/>
                  </a:solidFill>
                </a:uFill>
                <a:latin typeface="Calibri"/>
                <a:ea typeface="MS PGothic"/>
              </a:rPr>
              <a:t>excludable </a:t>
            </a:r>
            <a:r>
              <a:rPr lang="en-US" sz="2400" spc="-1" strike="noStrike">
                <a:solidFill>
                  <a:srgbClr val="000000"/>
                </a:solidFill>
                <a:uFill>
                  <a:solidFill>
                    <a:srgbClr val="ffffff"/>
                  </a:solidFill>
                </a:uFill>
                <a:latin typeface="Calibri"/>
                <a:ea typeface="MS PGothic"/>
              </a:rPr>
              <a:t>and whether they are </a:t>
            </a:r>
            <a:r>
              <a:rPr b="1" lang="en-US" sz="2400" spc="-1" strike="noStrike">
                <a:solidFill>
                  <a:srgbClr val="000000"/>
                </a:solidFill>
                <a:uFill>
                  <a:solidFill>
                    <a:srgbClr val="ffffff"/>
                  </a:solidFill>
                </a:uFill>
                <a:latin typeface="Calibri"/>
                <a:ea typeface="MS PGothic"/>
              </a:rPr>
              <a:t>rival in consumption</a:t>
            </a:r>
            <a:r>
              <a:rPr lang="en-US" sz="2400" spc="-1" strike="noStrike">
                <a:solidFill>
                  <a:srgbClr val="000000"/>
                </a:solidFill>
                <a:uFill>
                  <a:solidFill>
                    <a:srgbClr val="ffffff"/>
                  </a:solidFill>
                </a:uFill>
                <a:latin typeface="Calibri"/>
                <a:ea typeface="MS PGothic"/>
              </a:rPr>
              <a:t>.</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a:pPr>
            <a:r>
              <a:rPr lang="en-US" sz="2400" spc="-1" strike="noStrike">
                <a:solidFill>
                  <a:srgbClr val="000000"/>
                </a:solidFill>
                <a:uFill>
                  <a:solidFill>
                    <a:srgbClr val="ffffff"/>
                  </a:solidFill>
                </a:uFill>
                <a:latin typeface="Calibri"/>
                <a:ea typeface="MS PGothic"/>
              </a:rPr>
              <a:t>Free markets can deliver efficient levels of production and consumption for </a:t>
            </a:r>
            <a:r>
              <a:rPr b="1" lang="en-US" sz="2400" spc="-1" strike="noStrike">
                <a:solidFill>
                  <a:srgbClr val="000000"/>
                </a:solidFill>
                <a:uFill>
                  <a:solidFill>
                    <a:srgbClr val="ffffff"/>
                  </a:solidFill>
                </a:uFill>
                <a:latin typeface="Calibri"/>
                <a:ea typeface="MS PGothic"/>
              </a:rPr>
              <a:t>private goods</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which are both excludable and rival in consumption.</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a:pPr>
            <a:r>
              <a:rPr lang="en-US" sz="2400" spc="-1" strike="noStrike">
                <a:solidFill>
                  <a:srgbClr val="000000"/>
                </a:solidFill>
                <a:uFill>
                  <a:solidFill>
                    <a:srgbClr val="ffffff"/>
                  </a:solidFill>
                </a:uFill>
                <a:latin typeface="Calibri"/>
                <a:ea typeface="MS PGothic"/>
              </a:rPr>
              <a:t>When goods are </a:t>
            </a:r>
            <a:r>
              <a:rPr b="1" lang="en-US" sz="2400" spc="-1" strike="noStrike">
                <a:solidFill>
                  <a:srgbClr val="000000"/>
                </a:solidFill>
                <a:uFill>
                  <a:solidFill>
                    <a:srgbClr val="ffffff"/>
                  </a:solidFill>
                </a:uFill>
                <a:latin typeface="Calibri"/>
                <a:ea typeface="MS PGothic"/>
              </a:rPr>
              <a:t>nonexcludable</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there is a </a:t>
            </a:r>
            <a:r>
              <a:rPr b="1" lang="en-US" sz="2400" spc="-1" strike="noStrike">
                <a:solidFill>
                  <a:srgbClr val="000000"/>
                </a:solidFill>
                <a:uFill>
                  <a:solidFill>
                    <a:srgbClr val="ffffff"/>
                  </a:solidFill>
                </a:uFill>
                <a:latin typeface="Calibri"/>
                <a:ea typeface="MS PGothic"/>
              </a:rPr>
              <a:t>free-rider problem</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consumers will not pay for the good, leading to inefficiently low production.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a:pPr>
            <a:r>
              <a:rPr lang="en-US" sz="2400" spc="-1" strike="noStrike">
                <a:solidFill>
                  <a:srgbClr val="000000"/>
                </a:solidFill>
                <a:uFill>
                  <a:solidFill>
                    <a:srgbClr val="ffffff"/>
                  </a:solidFill>
                </a:uFill>
                <a:latin typeface="Calibri"/>
                <a:ea typeface="MS PGothic"/>
              </a:rPr>
              <a:t>When goods are </a:t>
            </a:r>
            <a:r>
              <a:rPr b="1" lang="en-US" sz="2400" spc="-1" strike="noStrike">
                <a:solidFill>
                  <a:srgbClr val="000000"/>
                </a:solidFill>
                <a:uFill>
                  <a:solidFill>
                    <a:srgbClr val="ffffff"/>
                  </a:solidFill>
                </a:uFill>
                <a:latin typeface="Calibri"/>
                <a:ea typeface="MS PGothic"/>
              </a:rPr>
              <a:t>nonrival in consumption</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they should be free, and any positive price leads to inefficiently low consumption.</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a:pPr>
            <a:r>
              <a:rPr lang="en-US" sz="2400" spc="-1" strike="noStrike">
                <a:solidFill>
                  <a:srgbClr val="000000"/>
                </a:solidFill>
                <a:uFill>
                  <a:solidFill>
                    <a:srgbClr val="ffffff"/>
                  </a:solidFill>
                </a:uFill>
                <a:latin typeface="Calibri"/>
                <a:ea typeface="MS PGothic"/>
              </a:rPr>
              <a:t>A </a:t>
            </a:r>
            <a:r>
              <a:rPr b="1" lang="en-US" sz="2400" spc="-1" strike="noStrike">
                <a:solidFill>
                  <a:srgbClr val="000000"/>
                </a:solidFill>
                <a:uFill>
                  <a:solidFill>
                    <a:srgbClr val="ffffff"/>
                  </a:solidFill>
                </a:uFill>
                <a:latin typeface="Calibri"/>
                <a:ea typeface="MS PGothic"/>
              </a:rPr>
              <a:t>public good </a:t>
            </a:r>
            <a:r>
              <a:rPr lang="en-US" sz="2400" spc="-1" strike="noStrike">
                <a:solidFill>
                  <a:srgbClr val="000000"/>
                </a:solidFill>
                <a:uFill>
                  <a:solidFill>
                    <a:srgbClr val="ffffff"/>
                  </a:solidFill>
                </a:uFill>
                <a:latin typeface="Calibri"/>
                <a:ea typeface="MS PGothic"/>
              </a:rPr>
              <a:t>is nonexcludable and nonrival in consumption. In most cases a public good must be supplied by the government. </a:t>
            </a:r>
            <a:endParaRPr lang="en-US" sz="1800" spc="-1" strike="noStrike">
              <a:solidFill>
                <a:srgbClr val="000000"/>
              </a:solidFill>
              <a:uFill>
                <a:solidFill>
                  <a:srgbClr val="ffffff"/>
                </a:solidFill>
              </a:uFill>
              <a:latin typeface="Arial"/>
            </a:endParaRPr>
          </a:p>
          <a:p>
            <a:endParaRPr lang="en-US" sz="1800" spc="-1" strike="noStrike">
              <a:solidFill>
                <a:srgbClr val="000000"/>
              </a:solidFill>
              <a:uFill>
                <a:solidFill>
                  <a:srgbClr val="ffffff"/>
                </a:solidFill>
              </a:uFill>
              <a:latin typeface="Arial"/>
            </a:endParaRPr>
          </a:p>
        </p:txBody>
      </p:sp>
    </p:spTree>
  </p:cSld>
  <p:timing>
    <p:tnLst>
      <p:par>
        <p:cTn id="416" dur="indefinite" restart="never" nodeType="tmRoot">
          <p:childTnLst>
            <p:seq>
              <p:cTn id="417" dur="indefinite" nodeType="mainSeq">
                <p:childTnLst>
                  <p:par>
                    <p:cTn id="418" fill="hold">
                      <p:stCondLst>
                        <p:cond delay="indefinite"/>
                      </p:stCondLst>
                      <p:childTnLst>
                        <p:par>
                          <p:cTn id="419" fill="hold">
                            <p:stCondLst>
                              <p:cond delay="0"/>
                            </p:stCondLst>
                            <p:childTnLst>
                              <p:par>
                                <p:cTn id="420" nodeType="clickEffect" fill="hold" presetClass="entr" presetID="22" presetSubtype="8">
                                  <p:stCondLst>
                                    <p:cond delay="0"/>
                                  </p:stCondLst>
                                  <p:childTnLst>
                                    <p:set>
                                      <p:cBhvr>
                                        <p:cTn id="421" dur="1" fill="hold">
                                          <p:stCondLst>
                                            <p:cond delay="0"/>
                                          </p:stCondLst>
                                        </p:cTn>
                                        <p:tgtEl>
                                          <p:spTgt spid="514">
                                            <p:txEl>
                                              <p:pRg st="0" end="108"/>
                                            </p:txEl>
                                          </p:spTgt>
                                        </p:tgtEl>
                                        <p:attrNameLst>
                                          <p:attrName>style.visibility</p:attrName>
                                        </p:attrNameLst>
                                      </p:cBhvr>
                                      <p:to>
                                        <p:strVal val="visible"/>
                                      </p:to>
                                    </p:set>
                                    <p:animEffect filter="wipe(left)" transition="in">
                                      <p:cBhvr additive="repl">
                                        <p:cTn id="422" dur="500"/>
                                        <p:tgtEl>
                                          <p:spTgt spid="514">
                                            <p:txEl>
                                              <p:pRg st="0" end="108"/>
                                            </p:txEl>
                                          </p:spTgt>
                                        </p:tgtEl>
                                      </p:cBhvr>
                                    </p:animEffect>
                                  </p:childTnLst>
                                </p:cTn>
                              </p:par>
                            </p:childTnLst>
                          </p:cTn>
                        </p:par>
                      </p:childTnLst>
                    </p:cTn>
                  </p:par>
                  <p:par>
                    <p:cTn id="423" fill="hold">
                      <p:stCondLst>
                        <p:cond delay="indefinite"/>
                      </p:stCondLst>
                      <p:childTnLst>
                        <p:par>
                          <p:cTn id="424" fill="hold">
                            <p:stCondLst>
                              <p:cond delay="0"/>
                            </p:stCondLst>
                            <p:childTnLst>
                              <p:par>
                                <p:cTn id="425" nodeType="clickEffect" fill="hold" presetClass="entr" presetID="22" presetSubtype="8">
                                  <p:stCondLst>
                                    <p:cond delay="0"/>
                                  </p:stCondLst>
                                  <p:childTnLst>
                                    <p:set>
                                      <p:cBhvr>
                                        <p:cTn id="426" dur="1" fill="hold">
                                          <p:stCondLst>
                                            <p:cond delay="0"/>
                                          </p:stCondLst>
                                        </p:cTn>
                                        <p:tgtEl>
                                          <p:spTgt spid="514">
                                            <p:txEl>
                                              <p:pRg st="641" end="641"/>
                                            </p:txEl>
                                          </p:spTgt>
                                        </p:tgtEl>
                                        <p:attrNameLst>
                                          <p:attrName>style.visibility</p:attrName>
                                        </p:attrNameLst>
                                      </p:cBhvr>
                                      <p:to>
                                        <p:strVal val="visible"/>
                                      </p:to>
                                    </p:set>
                                    <p:animEffect filter="wipe(left)" transition="in">
                                      <p:cBhvr additive="repl">
                                        <p:cTn id="427" dur="500"/>
                                        <p:tgtEl>
                                          <p:spTgt spid="514">
                                            <p:txEl>
                                              <p:pRg st="641" end="641"/>
                                            </p:txEl>
                                          </p:spTgt>
                                        </p:tgtEl>
                                      </p:cBhvr>
                                    </p:animEffect>
                                  </p:childTnLst>
                                </p:cTn>
                              </p:par>
                            </p:childTnLst>
                          </p:cTn>
                        </p:par>
                      </p:childTnLst>
                    </p:cTn>
                  </p:par>
                  <p:par>
                    <p:cTn id="428" fill="hold">
                      <p:stCondLst>
                        <p:cond delay="indefinite"/>
                      </p:stCondLst>
                      <p:childTnLst>
                        <p:par>
                          <p:cTn id="429" fill="hold">
                            <p:stCondLst>
                              <p:cond delay="0"/>
                            </p:stCondLst>
                            <p:childTnLst>
                              <p:par>
                                <p:cTn id="430" nodeType="clickEffect" fill="hold" presetClass="entr" presetID="22" presetSubtype="8">
                                  <p:stCondLst>
                                    <p:cond delay="0"/>
                                  </p:stCondLst>
                                  <p:childTnLst>
                                    <p:set>
                                      <p:cBhvr>
                                        <p:cTn id="431" dur="1" fill="hold">
                                          <p:stCondLst>
                                            <p:cond delay="0"/>
                                          </p:stCondLst>
                                        </p:cTn>
                                        <p:tgtEl>
                                          <p:spTgt spid="514">
                                            <p:txEl>
                                              <p:pRg st="641" end="641"/>
                                            </p:txEl>
                                          </p:spTgt>
                                        </p:tgtEl>
                                        <p:attrNameLst>
                                          <p:attrName>style.visibility</p:attrName>
                                        </p:attrNameLst>
                                      </p:cBhvr>
                                      <p:to>
                                        <p:strVal val="visible"/>
                                      </p:to>
                                    </p:set>
                                    <p:animEffect filter="wipe(left)" transition="in">
                                      <p:cBhvr additive="repl">
                                        <p:cTn id="432" dur="500"/>
                                        <p:tgtEl>
                                          <p:spTgt spid="514">
                                            <p:txEl>
                                              <p:pRg st="641" end="64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5" name="CustomShape 1"/>
          <p:cNvSpPr/>
          <p:nvPr/>
        </p:nvSpPr>
        <p:spPr>
          <a:xfrm>
            <a:off x="899640" y="40320"/>
            <a:ext cx="8064000" cy="5774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000000"/>
                </a:solidFill>
                <a:uFill>
                  <a:solidFill>
                    <a:srgbClr val="ffffff"/>
                  </a:solidFill>
                </a:uFill>
                <a:latin typeface="Calibri"/>
                <a:ea typeface="MS PGothic"/>
              </a:rPr>
              <a:t>Summary</a:t>
            </a:r>
            <a:endParaRPr lang="en-US" sz="1800" spc="-1" strike="noStrike">
              <a:solidFill>
                <a:srgbClr val="000000"/>
              </a:solidFill>
              <a:uFill>
                <a:solidFill>
                  <a:srgbClr val="ffffff"/>
                </a:solidFill>
              </a:uFill>
              <a:latin typeface="Arial"/>
            </a:endParaRPr>
          </a:p>
        </p:txBody>
      </p:sp>
      <p:sp>
        <p:nvSpPr>
          <p:cNvPr id="516" name="CustomShape 2"/>
          <p:cNvSpPr/>
          <p:nvPr/>
        </p:nvSpPr>
        <p:spPr>
          <a:xfrm>
            <a:off x="887400" y="883440"/>
            <a:ext cx="8004240" cy="5641200"/>
          </a:xfrm>
          <a:prstGeom prst="rect">
            <a:avLst/>
          </a:prstGeom>
          <a:noFill/>
          <a:ln>
            <a:noFill/>
          </a:ln>
        </p:spPr>
        <p:style>
          <a:lnRef idx="0"/>
          <a:fillRef idx="0"/>
          <a:effectRef idx="0"/>
          <a:fontRef idx="minor"/>
        </p:style>
        <p:txBody>
          <a:bodyPr lIns="90000" rIns="90000" tIns="45000" bIns="45000"/>
          <a:p>
            <a:endParaRPr lang="en-US" sz="1800" spc="-1" strike="noStrike">
              <a:solidFill>
                <a:srgbClr val="000000"/>
              </a:solidFill>
              <a:uFill>
                <a:solidFill>
                  <a:srgbClr val="ffffff"/>
                </a:solidFill>
              </a:uFill>
              <a:latin typeface="Arial"/>
            </a:endParaRPr>
          </a:p>
          <a:p>
            <a:pPr marL="457200" indent="-456480">
              <a:lnSpc>
                <a:spcPct val="100000"/>
              </a:lnSpc>
              <a:buClr>
                <a:srgbClr val="000000"/>
              </a:buClr>
              <a:buFont typeface="Arial"/>
              <a:buAutoNum type="arabicPeriod" startAt="4"/>
            </a:pPr>
            <a:r>
              <a:rPr lang="en-US" sz="2400" spc="-1" strike="noStrike">
                <a:solidFill>
                  <a:srgbClr val="000000"/>
                </a:solidFill>
                <a:uFill>
                  <a:solidFill>
                    <a:srgbClr val="ffffff"/>
                  </a:solidFill>
                </a:uFill>
                <a:latin typeface="Calibri"/>
                <a:ea typeface="MS PGothic"/>
              </a:rPr>
              <a:t>The </a:t>
            </a:r>
            <a:r>
              <a:rPr b="1" lang="en-US" sz="2400" spc="-1" strike="noStrike">
                <a:solidFill>
                  <a:srgbClr val="000000"/>
                </a:solidFill>
                <a:uFill>
                  <a:solidFill>
                    <a:srgbClr val="ffffff"/>
                  </a:solidFill>
                </a:uFill>
                <a:latin typeface="Calibri"/>
                <a:ea typeface="MS PGothic"/>
              </a:rPr>
              <a:t>efficient quantity</a:t>
            </a:r>
            <a:r>
              <a:rPr lang="en-US" sz="2400" spc="-1" strike="noStrike">
                <a:solidFill>
                  <a:srgbClr val="000000"/>
                </a:solidFill>
                <a:uFill>
                  <a:solidFill>
                    <a:srgbClr val="ffffff"/>
                  </a:solidFill>
                </a:uFill>
                <a:latin typeface="Calibri"/>
                <a:ea typeface="MS PGothic"/>
              </a:rPr>
              <a:t> of a public good is the quantity at which marginal social benefit equals the marginal cost of providing the good.</a:t>
            </a:r>
            <a:endParaRPr lang="en-US" sz="1800" spc="-1" strike="noStrike">
              <a:solidFill>
                <a:srgbClr val="000000"/>
              </a:solidFill>
              <a:uFill>
                <a:solidFill>
                  <a:srgbClr val="ffffff"/>
                </a:solidFill>
              </a:uFill>
              <a:latin typeface="Arial"/>
            </a:endParaRPr>
          </a:p>
          <a:p>
            <a:pPr marL="457200" indent="-456480">
              <a:lnSpc>
                <a:spcPct val="100000"/>
              </a:lnSpc>
              <a:buClr>
                <a:srgbClr val="000000"/>
              </a:buClr>
              <a:buFont typeface="Arial"/>
              <a:buAutoNum type="arabicPeriod" startAt="4"/>
            </a:pPr>
            <a:r>
              <a:rPr lang="en-US" sz="2400" spc="-1" strike="noStrike">
                <a:solidFill>
                  <a:srgbClr val="000000"/>
                </a:solidFill>
                <a:uFill>
                  <a:solidFill>
                    <a:srgbClr val="ffffff"/>
                  </a:solidFill>
                </a:uFill>
                <a:latin typeface="Calibri"/>
                <a:ea typeface="MS PGothic"/>
              </a:rPr>
              <a:t>The </a:t>
            </a:r>
            <a:r>
              <a:rPr b="1" lang="en-US" sz="2400" spc="-1" strike="noStrike">
                <a:solidFill>
                  <a:srgbClr val="000000"/>
                </a:solidFill>
                <a:uFill>
                  <a:solidFill>
                    <a:srgbClr val="ffffff"/>
                  </a:solidFill>
                </a:uFill>
                <a:latin typeface="Calibri"/>
                <a:ea typeface="MS PGothic"/>
              </a:rPr>
              <a:t>marginal social benefit</a:t>
            </a:r>
            <a:r>
              <a:rPr lang="en-US" sz="2400" spc="-1" strike="noStrike">
                <a:solidFill>
                  <a:srgbClr val="000000"/>
                </a:solidFill>
                <a:uFill>
                  <a:solidFill>
                    <a:srgbClr val="ffffff"/>
                  </a:solidFill>
                </a:uFill>
                <a:latin typeface="Calibri"/>
                <a:ea typeface="MS PGothic"/>
              </a:rPr>
              <a:t> of a public good is equal to the sum of the individual marginal benefits to each consumer.</a:t>
            </a:r>
            <a:endParaRPr lang="en-US" sz="1800" spc="-1" strike="noStrike">
              <a:solidFill>
                <a:srgbClr val="000000"/>
              </a:solidFill>
              <a:uFill>
                <a:solidFill>
                  <a:srgbClr val="ffffff"/>
                </a:solidFill>
              </a:uFill>
              <a:latin typeface="Arial"/>
            </a:endParaRPr>
          </a:p>
          <a:p>
            <a:pPr marL="457200" indent="-456480">
              <a:lnSpc>
                <a:spcPct val="100000"/>
              </a:lnSpc>
              <a:buClr>
                <a:srgbClr val="000000"/>
              </a:buClr>
              <a:buFont typeface="Arial"/>
              <a:buAutoNum type="arabicPeriod" startAt="4"/>
            </a:pPr>
            <a:r>
              <a:rPr lang="en-US" sz="2400" spc="-1" strike="noStrike">
                <a:solidFill>
                  <a:srgbClr val="000000"/>
                </a:solidFill>
                <a:uFill>
                  <a:solidFill>
                    <a:srgbClr val="ffffff"/>
                  </a:solidFill>
                </a:uFill>
                <a:latin typeface="Calibri"/>
                <a:ea typeface="MS PGothic"/>
              </a:rPr>
              <a:t>Like a positive externality, marginal social benefit is greater than any one individual’s marginal benefit, so no individual is willing to provide the efficient quantity.</a:t>
            </a:r>
            <a:endParaRPr lang="en-US" sz="1800" spc="-1" strike="noStrike">
              <a:solidFill>
                <a:srgbClr val="000000"/>
              </a:solidFill>
              <a:uFill>
                <a:solidFill>
                  <a:srgbClr val="ffffff"/>
                </a:solidFill>
              </a:uFill>
              <a:latin typeface="Arial"/>
            </a:endParaRPr>
          </a:p>
          <a:p>
            <a:pPr marL="457200" indent="-456480">
              <a:lnSpc>
                <a:spcPct val="100000"/>
              </a:lnSpc>
              <a:buClr>
                <a:srgbClr val="000000"/>
              </a:buClr>
              <a:buFont typeface="Arial"/>
              <a:buAutoNum type="arabicPeriod" startAt="4"/>
            </a:pPr>
            <a:r>
              <a:rPr lang="en-US" sz="2400" spc="-1" strike="noStrike">
                <a:solidFill>
                  <a:srgbClr val="000000"/>
                </a:solidFill>
                <a:uFill>
                  <a:solidFill>
                    <a:srgbClr val="ffffff"/>
                  </a:solidFill>
                </a:uFill>
                <a:latin typeface="Calibri"/>
                <a:ea typeface="MS PGothic"/>
              </a:rPr>
              <a:t>One rationale for the presence of government is that it allows citizens to tax themselves to provide public goods.Governments use </a:t>
            </a:r>
            <a:r>
              <a:rPr b="1" lang="en-US" sz="2400" spc="-1" strike="noStrike">
                <a:solidFill>
                  <a:srgbClr val="000000"/>
                </a:solidFill>
                <a:uFill>
                  <a:solidFill>
                    <a:srgbClr val="ffffff"/>
                  </a:solidFill>
                </a:uFill>
                <a:latin typeface="Calibri"/>
                <a:ea typeface="MS PGothic"/>
              </a:rPr>
              <a:t>cost-benefit analysis </a:t>
            </a:r>
            <a:r>
              <a:rPr lang="en-US" sz="2400" spc="-1" strike="noStrike">
                <a:solidFill>
                  <a:srgbClr val="000000"/>
                </a:solidFill>
                <a:uFill>
                  <a:solidFill>
                    <a:srgbClr val="ffffff"/>
                  </a:solidFill>
                </a:uFill>
                <a:latin typeface="Calibri"/>
                <a:ea typeface="MS PGothic"/>
              </a:rPr>
              <a:t>to determine the efficient provision of a public good</a:t>
            </a:r>
            <a:endParaRPr lang="en-US" sz="1800" spc="-1" strike="noStrike">
              <a:solidFill>
                <a:srgbClr val="000000"/>
              </a:solidFill>
              <a:uFill>
                <a:solidFill>
                  <a:srgbClr val="ffffff"/>
                </a:solidFill>
              </a:uFill>
              <a:latin typeface="Arial"/>
            </a:endParaRPr>
          </a:p>
        </p:txBody>
      </p:sp>
    </p:spTree>
  </p:cSld>
  <p:timing>
    <p:tnLst>
      <p:par>
        <p:cTn id="433" dur="indefinite" restart="never" nodeType="tmRoot">
          <p:childTnLst>
            <p:seq>
              <p:cTn id="434" dur="indefinite" nodeType="mainSeq">
                <p:childTnLst>
                  <p:par>
                    <p:cTn id="435" fill="hold">
                      <p:stCondLst>
                        <p:cond delay="indefinite"/>
                      </p:stCondLst>
                      <p:childTnLst>
                        <p:par>
                          <p:cTn id="436" fill="hold">
                            <p:stCondLst>
                              <p:cond delay="0"/>
                            </p:stCondLst>
                            <p:childTnLst>
                              <p:par>
                                <p:cTn id="437" nodeType="clickEffect" fill="hold" presetClass="entr" presetID="22" presetSubtype="8">
                                  <p:stCondLst>
                                    <p:cond delay="0"/>
                                  </p:stCondLst>
                                  <p:childTnLst>
                                    <p:set>
                                      <p:cBhvr>
                                        <p:cTn id="438" dur="1" fill="hold">
                                          <p:stCondLst>
                                            <p:cond delay="0"/>
                                          </p:stCondLst>
                                        </p:cTn>
                                        <p:tgtEl>
                                          <p:spTgt spid="516">
                                            <p:txEl>
                                              <p:pRg st="0" end="1"/>
                                            </p:txEl>
                                          </p:spTgt>
                                        </p:tgtEl>
                                        <p:attrNameLst>
                                          <p:attrName>style.visibility</p:attrName>
                                        </p:attrNameLst>
                                      </p:cBhvr>
                                      <p:to>
                                        <p:strVal val="visible"/>
                                      </p:to>
                                    </p:set>
                                    <p:animEffect filter="wipe(left)" transition="in">
                                      <p:cBhvr additive="repl">
                                        <p:cTn id="439" dur="500"/>
                                        <p:tgtEl>
                                          <p:spTgt spid="516">
                                            <p:txEl>
                                              <p:pRg st="0" end="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7" name="CustomShape 1"/>
          <p:cNvSpPr/>
          <p:nvPr/>
        </p:nvSpPr>
        <p:spPr>
          <a:xfrm>
            <a:off x="899640" y="40320"/>
            <a:ext cx="7992000" cy="5774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000000"/>
                </a:solidFill>
                <a:uFill>
                  <a:solidFill>
                    <a:srgbClr val="ffffff"/>
                  </a:solidFill>
                </a:uFill>
                <a:latin typeface="Calibri"/>
                <a:ea typeface="MS PGothic"/>
              </a:rPr>
              <a:t>Summary</a:t>
            </a:r>
            <a:endParaRPr lang="en-US" sz="1800" spc="-1" strike="noStrike">
              <a:solidFill>
                <a:srgbClr val="000000"/>
              </a:solidFill>
              <a:uFill>
                <a:solidFill>
                  <a:srgbClr val="ffffff"/>
                </a:solidFill>
              </a:uFill>
              <a:latin typeface="Arial"/>
            </a:endParaRPr>
          </a:p>
        </p:txBody>
      </p:sp>
      <p:sp>
        <p:nvSpPr>
          <p:cNvPr id="518" name="CustomShape 2"/>
          <p:cNvSpPr/>
          <p:nvPr/>
        </p:nvSpPr>
        <p:spPr>
          <a:xfrm>
            <a:off x="899640" y="908640"/>
            <a:ext cx="7992000" cy="5144760"/>
          </a:xfrm>
          <a:prstGeom prst="rect">
            <a:avLst/>
          </a:prstGeom>
          <a:noFill/>
          <a:ln>
            <a:noFill/>
          </a:ln>
        </p:spPr>
        <p:style>
          <a:lnRef idx="0"/>
          <a:fillRef idx="0"/>
          <a:effectRef idx="0"/>
          <a:fontRef idx="minor"/>
        </p:style>
        <p:txBody>
          <a:bodyPr lIns="90000" rIns="90000" tIns="45000" bIns="45000"/>
          <a:p>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6"/>
            </a:pPr>
            <a:r>
              <a:rPr lang="en-US" sz="2400" spc="-1" strike="noStrike">
                <a:solidFill>
                  <a:srgbClr val="000000"/>
                </a:solidFill>
                <a:uFill>
                  <a:solidFill>
                    <a:srgbClr val="ffffff"/>
                  </a:solidFill>
                </a:uFill>
                <a:latin typeface="Calibri"/>
                <a:ea typeface="MS PGothic"/>
              </a:rPr>
              <a:t>A </a:t>
            </a:r>
            <a:r>
              <a:rPr b="1" lang="en-US" sz="2400" spc="-1" strike="noStrike">
                <a:solidFill>
                  <a:srgbClr val="000000"/>
                </a:solidFill>
                <a:uFill>
                  <a:solidFill>
                    <a:srgbClr val="ffffff"/>
                  </a:solidFill>
                </a:uFill>
                <a:latin typeface="Calibri"/>
                <a:ea typeface="MS PGothic"/>
              </a:rPr>
              <a:t>common resource </a:t>
            </a:r>
            <a:r>
              <a:rPr lang="en-US" sz="2400" spc="-1" strike="noStrike">
                <a:solidFill>
                  <a:srgbClr val="000000"/>
                </a:solidFill>
                <a:uFill>
                  <a:solidFill>
                    <a:srgbClr val="ffffff"/>
                  </a:solidFill>
                </a:uFill>
                <a:latin typeface="Calibri"/>
                <a:ea typeface="MS PGothic"/>
              </a:rPr>
              <a:t>is rival in consumption but  nonexcludable.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6"/>
            </a:pPr>
            <a:r>
              <a:rPr lang="en-US" sz="2400" spc="-1" strike="noStrike">
                <a:solidFill>
                  <a:srgbClr val="000000"/>
                </a:solidFill>
                <a:uFill>
                  <a:solidFill>
                    <a:srgbClr val="ffffff"/>
                  </a:solidFill>
                </a:uFill>
                <a:latin typeface="Calibri"/>
                <a:ea typeface="MS PGothic"/>
              </a:rPr>
              <a:t>It is subject to </a:t>
            </a:r>
            <a:r>
              <a:rPr b="1" lang="en-US" sz="2400" spc="-1" strike="noStrike">
                <a:solidFill>
                  <a:srgbClr val="000000"/>
                </a:solidFill>
                <a:uFill>
                  <a:solidFill>
                    <a:srgbClr val="ffffff"/>
                  </a:solidFill>
                </a:uFill>
                <a:latin typeface="Calibri"/>
                <a:ea typeface="MS PGothic"/>
              </a:rPr>
              <a:t>overuse</a:t>
            </a:r>
            <a:r>
              <a:rPr lang="en-US" sz="2400" spc="-1" strike="noStrike">
                <a:solidFill>
                  <a:srgbClr val="000000"/>
                </a:solidFill>
                <a:uFill>
                  <a:solidFill>
                    <a:srgbClr val="ffffff"/>
                  </a:solidFill>
                </a:uFill>
                <a:latin typeface="Calibri"/>
                <a:ea typeface="MS PGothic"/>
              </a:rPr>
              <a:t>,</a:t>
            </a:r>
            <a:r>
              <a:rPr b="1" lang="en-US" sz="2400" spc="-1" strike="noStrike">
                <a:solidFill>
                  <a:srgbClr val="000000"/>
                </a:solidFill>
                <a:uFill>
                  <a:solidFill>
                    <a:srgbClr val="ffffff"/>
                  </a:solidFill>
                </a:uFill>
                <a:latin typeface="Calibri"/>
                <a:ea typeface="MS PGothic"/>
              </a:rPr>
              <a:t> </a:t>
            </a:r>
            <a:r>
              <a:rPr lang="en-US" sz="2400" spc="-1" strike="noStrike">
                <a:solidFill>
                  <a:srgbClr val="000000"/>
                </a:solidFill>
                <a:uFill>
                  <a:solidFill>
                    <a:srgbClr val="ffffff"/>
                  </a:solidFill>
                </a:uFill>
                <a:latin typeface="Calibri"/>
                <a:ea typeface="MS PGothic"/>
              </a:rPr>
              <a:t>because an individual does not take into account the fact that his or her use depletes the amount available for others.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6"/>
            </a:pPr>
            <a:r>
              <a:rPr lang="en-US" sz="2400" spc="-1" strike="noStrike">
                <a:solidFill>
                  <a:srgbClr val="000000"/>
                </a:solidFill>
                <a:uFill>
                  <a:solidFill>
                    <a:srgbClr val="ffffff"/>
                  </a:solidFill>
                </a:uFill>
                <a:latin typeface="Calibri"/>
                <a:ea typeface="MS PGothic"/>
              </a:rPr>
              <a:t>This is similar to the problem of a negative externality: the marginal social cost of an individual’s use of a common resource is always higher than his or her individual marginal cost.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6"/>
            </a:pPr>
            <a:r>
              <a:rPr lang="en-US" sz="2400" spc="-1" strike="noStrike">
                <a:solidFill>
                  <a:srgbClr val="000000"/>
                </a:solidFill>
                <a:uFill>
                  <a:solidFill>
                    <a:srgbClr val="ffffff"/>
                  </a:solidFill>
                </a:uFill>
                <a:latin typeface="Calibri"/>
                <a:ea typeface="MS PGothic"/>
              </a:rPr>
              <a:t>Pigouvian taxes, the creation of a system of tradable licenses, or the assignment of property rights are possible solutions.</a:t>
            </a:r>
            <a:endParaRPr lang="en-US" sz="1800" spc="-1" strike="noStrike">
              <a:solidFill>
                <a:srgbClr val="000000"/>
              </a:solidFill>
              <a:uFill>
                <a:solidFill>
                  <a:srgbClr val="ffffff"/>
                </a:solidFill>
              </a:uFill>
              <a:latin typeface="Arial"/>
            </a:endParaRPr>
          </a:p>
        </p:txBody>
      </p:sp>
    </p:spTree>
  </p:cSld>
  <p:timing>
    <p:tnLst>
      <p:par>
        <p:cTn id="440" dur="indefinite" restart="never" nodeType="tmRoot">
          <p:childTnLst>
            <p:seq>
              <p:cTn id="441" dur="indefinite" nodeType="mainSeq">
                <p:childTnLst>
                  <p:par>
                    <p:cTn id="442" fill="hold">
                      <p:stCondLst>
                        <p:cond delay="indefinite"/>
                      </p:stCondLst>
                      <p:childTnLst>
                        <p:par>
                          <p:cTn id="443" fill="hold">
                            <p:stCondLst>
                              <p:cond delay="0"/>
                            </p:stCondLst>
                            <p:childTnLst>
                              <p:par>
                                <p:cTn id="444" nodeType="clickEffect" fill="hold" presetClass="entr" presetID="22" presetSubtype="8">
                                  <p:stCondLst>
                                    <p:cond delay="0"/>
                                  </p:stCondLst>
                                  <p:childTnLst>
                                    <p:set>
                                      <p:cBhvr>
                                        <p:cTn id="445" dur="1" fill="hold">
                                          <p:stCondLst>
                                            <p:cond delay="0"/>
                                          </p:stCondLst>
                                        </p:cTn>
                                        <p:tgtEl>
                                          <p:spTgt spid="518">
                                            <p:txEl>
                                              <p:pRg st="0" end="1"/>
                                            </p:txEl>
                                          </p:spTgt>
                                        </p:tgtEl>
                                        <p:attrNameLst>
                                          <p:attrName>style.visibility</p:attrName>
                                        </p:attrNameLst>
                                      </p:cBhvr>
                                      <p:to>
                                        <p:strVal val="visible"/>
                                      </p:to>
                                    </p:set>
                                    <p:animEffect filter="wipe(left)" transition="in">
                                      <p:cBhvr additive="repl">
                                        <p:cTn id="446" dur="500"/>
                                        <p:tgtEl>
                                          <p:spTgt spid="518">
                                            <p:txEl>
                                              <p:pRg st="0" end="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19" name="CustomShape 1"/>
          <p:cNvSpPr/>
          <p:nvPr/>
        </p:nvSpPr>
        <p:spPr>
          <a:xfrm>
            <a:off x="971640" y="40320"/>
            <a:ext cx="7992000" cy="5774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000000"/>
                </a:solidFill>
                <a:uFill>
                  <a:solidFill>
                    <a:srgbClr val="ffffff"/>
                  </a:solidFill>
                </a:uFill>
                <a:latin typeface="Calibri"/>
                <a:ea typeface="MS PGothic"/>
              </a:rPr>
              <a:t>Summary</a:t>
            </a:r>
            <a:endParaRPr lang="en-US" sz="1800" spc="-1" strike="noStrike">
              <a:solidFill>
                <a:srgbClr val="000000"/>
              </a:solidFill>
              <a:uFill>
                <a:solidFill>
                  <a:srgbClr val="ffffff"/>
                </a:solidFill>
              </a:uFill>
              <a:latin typeface="Arial"/>
            </a:endParaRPr>
          </a:p>
        </p:txBody>
      </p:sp>
      <p:sp>
        <p:nvSpPr>
          <p:cNvPr id="520" name="CustomShape 2"/>
          <p:cNvSpPr/>
          <p:nvPr/>
        </p:nvSpPr>
        <p:spPr>
          <a:xfrm>
            <a:off x="899640" y="908640"/>
            <a:ext cx="8064000" cy="5385960"/>
          </a:xfrm>
          <a:prstGeom prst="rect">
            <a:avLst/>
          </a:prstGeom>
          <a:noFill/>
          <a:ln>
            <a:noFill/>
          </a:ln>
        </p:spPr>
        <p:style>
          <a:lnRef idx="0"/>
          <a:fillRef idx="0"/>
          <a:effectRef idx="0"/>
          <a:fontRef idx="minor"/>
        </p:style>
        <p:txBody>
          <a:bodyPr lIns="90000" rIns="90000" tIns="45000" bIns="45000"/>
          <a:p>
            <a:endParaRPr lang="en-US" sz="1800" spc="-1" strike="noStrike">
              <a:solidFill>
                <a:srgbClr val="000000"/>
              </a:solidFill>
              <a:uFill>
                <a:solidFill>
                  <a:srgbClr val="ffffff"/>
                </a:solidFill>
              </a:uFill>
              <a:latin typeface="Arial"/>
            </a:endParaRPr>
          </a:p>
          <a:p>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7"/>
            </a:pPr>
            <a:r>
              <a:rPr b="1" lang="en-US" sz="2400" spc="-1" strike="noStrike">
                <a:solidFill>
                  <a:srgbClr val="000000"/>
                </a:solidFill>
                <a:uFill>
                  <a:solidFill>
                    <a:srgbClr val="ffffff"/>
                  </a:solidFill>
                </a:uFill>
                <a:latin typeface="Calibri"/>
                <a:ea typeface="MS PGothic"/>
              </a:rPr>
              <a:t>Artificially scarce goods </a:t>
            </a:r>
            <a:r>
              <a:rPr lang="en-US" sz="2400" spc="-1" strike="noStrike">
                <a:solidFill>
                  <a:srgbClr val="000000"/>
                </a:solidFill>
                <a:uFill>
                  <a:solidFill>
                    <a:srgbClr val="ffffff"/>
                  </a:solidFill>
                </a:uFill>
                <a:latin typeface="Calibri"/>
                <a:ea typeface="MS PGothic"/>
              </a:rPr>
              <a:t>are excludable but nonrival in consumption. Because no marginal cost arises from allowing another individual to consume the good, the efficient price is zero.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7"/>
            </a:pPr>
            <a:r>
              <a:rPr lang="en-US" sz="2400" spc="-1" strike="noStrike">
                <a:solidFill>
                  <a:srgbClr val="000000"/>
                </a:solidFill>
                <a:uFill>
                  <a:solidFill>
                    <a:srgbClr val="ffffff"/>
                  </a:solidFill>
                </a:uFill>
                <a:latin typeface="Calibri"/>
                <a:ea typeface="MS PGothic"/>
              </a:rPr>
              <a:t>A positive price compensates the producer for the cost of production but leads to inefficiently low consumption. </a:t>
            </a:r>
            <a:endParaRPr lang="en-US" sz="1800" spc="-1" strike="noStrike">
              <a:solidFill>
                <a:srgbClr val="000000"/>
              </a:solidFill>
              <a:uFill>
                <a:solidFill>
                  <a:srgbClr val="ffffff"/>
                </a:solidFill>
              </a:uFill>
              <a:latin typeface="Arial"/>
            </a:endParaRPr>
          </a:p>
          <a:p>
            <a:pPr marL="463680" indent="-462960">
              <a:lnSpc>
                <a:spcPct val="100000"/>
              </a:lnSpc>
              <a:buClr>
                <a:srgbClr val="000000"/>
              </a:buClr>
              <a:buFont typeface="Calibri"/>
              <a:buAutoNum type="arabicPeriod" startAt="7"/>
            </a:pPr>
            <a:r>
              <a:rPr lang="en-US" sz="2400" spc="-1" strike="noStrike">
                <a:solidFill>
                  <a:srgbClr val="000000"/>
                </a:solidFill>
                <a:uFill>
                  <a:solidFill>
                    <a:srgbClr val="ffffff"/>
                  </a:solidFill>
                </a:uFill>
                <a:latin typeface="Calibri"/>
                <a:ea typeface="MS PGothic"/>
              </a:rPr>
              <a:t>The problem of an artificially scarce good is similar to that of a natural monopoly.</a:t>
            </a:r>
            <a:endParaRPr lang="en-US" sz="1800" spc="-1" strike="noStrike">
              <a:solidFill>
                <a:srgbClr val="000000"/>
              </a:solidFill>
              <a:uFill>
                <a:solidFill>
                  <a:srgbClr val="ffffff"/>
                </a:solidFill>
              </a:uFill>
              <a:latin typeface="Arial"/>
            </a:endParaRPr>
          </a:p>
        </p:txBody>
      </p:sp>
    </p:spTree>
  </p:cSld>
  <p:timing>
    <p:tnLst>
      <p:par>
        <p:cTn id="447" dur="indefinite" restart="never" nodeType="tmRoot">
          <p:childTnLst>
            <p:seq>
              <p:cTn id="448" dur="indefinite" nodeType="mainSeq">
                <p:childTnLst>
                  <p:par>
                    <p:cTn id="449" fill="hold">
                      <p:stCondLst>
                        <p:cond delay="indefinite"/>
                      </p:stCondLst>
                      <p:childTnLst>
                        <p:par>
                          <p:cTn id="450" fill="hold">
                            <p:stCondLst>
                              <p:cond delay="0"/>
                            </p:stCondLst>
                            <p:childTnLst>
                              <p:par>
                                <p:cTn id="451" nodeType="clickEffect" fill="hold" presetClass="entr" presetID="22" presetSubtype="8">
                                  <p:stCondLst>
                                    <p:cond delay="0"/>
                                  </p:stCondLst>
                                  <p:childTnLst>
                                    <p:set>
                                      <p:cBhvr>
                                        <p:cTn id="452" dur="1" fill="hold">
                                          <p:stCondLst>
                                            <p:cond delay="0"/>
                                          </p:stCondLst>
                                        </p:cTn>
                                        <p:tgtEl>
                                          <p:spTgt spid="520">
                                            <p:txEl>
                                              <p:pRg st="0" end="1"/>
                                            </p:txEl>
                                          </p:spTgt>
                                        </p:tgtEl>
                                        <p:attrNameLst>
                                          <p:attrName>style.visibility</p:attrName>
                                        </p:attrNameLst>
                                      </p:cBhvr>
                                      <p:to>
                                        <p:strVal val="visible"/>
                                      </p:to>
                                    </p:set>
                                    <p:animEffect filter="wipe(left)" transition="in">
                                      <p:cBhvr additive="repl">
                                        <p:cTn id="453" dur="500"/>
                                        <p:tgtEl>
                                          <p:spTgt spid="520">
                                            <p:txEl>
                                              <p:pRg st="0" end="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1" name="CustomShape 1"/>
          <p:cNvSpPr/>
          <p:nvPr/>
        </p:nvSpPr>
        <p:spPr>
          <a:xfrm>
            <a:off x="971640" y="1052640"/>
            <a:ext cx="7920000" cy="5616000"/>
          </a:xfrm>
          <a:prstGeom prst="rect">
            <a:avLst/>
          </a:prstGeom>
          <a:noFill/>
          <a:ln>
            <a:noFill/>
          </a:ln>
        </p:spPr>
        <p:style>
          <a:lnRef idx="0"/>
          <a:fillRef idx="0"/>
          <a:effectRef idx="0"/>
          <a:fontRef idx="minor"/>
        </p:style>
        <p:txBody>
          <a:bodyPr lIns="90000" rIns="90000" tIns="45000" bIns="45000"/>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Excludable</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Rival in consumption</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Private good</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Nonexcludable</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Nonrival in consumption</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Free-rider problem</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Public good</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Cost-benefit analysis</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Common resource</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Overuse </a:t>
            </a:r>
            <a:endParaRPr lang="en-US" sz="1800" spc="-1" strike="noStrike">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400" spc="-1" strike="noStrike">
                <a:solidFill>
                  <a:srgbClr val="000000"/>
                </a:solidFill>
                <a:uFill>
                  <a:solidFill>
                    <a:srgbClr val="ffffff"/>
                  </a:solidFill>
                </a:uFill>
                <a:latin typeface="Calibri"/>
                <a:ea typeface="MS PGothic"/>
              </a:rPr>
              <a:t>Artificially scarce good</a:t>
            </a:r>
            <a:endParaRPr lang="en-US" sz="1800" spc="-1" strike="noStrike">
              <a:solidFill>
                <a:srgbClr val="000000"/>
              </a:solidFill>
              <a:uFill>
                <a:solidFill>
                  <a:srgbClr val="ffffff"/>
                </a:solidFill>
              </a:uFill>
              <a:latin typeface="Arial"/>
            </a:endParaRPr>
          </a:p>
        </p:txBody>
      </p:sp>
      <p:sp>
        <p:nvSpPr>
          <p:cNvPr id="522" name="CustomShape 2"/>
          <p:cNvSpPr/>
          <p:nvPr/>
        </p:nvSpPr>
        <p:spPr>
          <a:xfrm>
            <a:off x="899640" y="40320"/>
            <a:ext cx="7992000" cy="577440"/>
          </a:xfrm>
          <a:prstGeom prst="rect">
            <a:avLst/>
          </a:prstGeom>
          <a:noFill/>
          <a:ln>
            <a:noFill/>
          </a:ln>
        </p:spPr>
        <p:style>
          <a:lnRef idx="0"/>
          <a:fillRef idx="0"/>
          <a:effectRef idx="0"/>
          <a:fontRef idx="minor"/>
        </p:style>
        <p:txBody>
          <a:bodyPr lIns="90000" rIns="90000" tIns="45000" bIns="45000" anchor="ctr"/>
          <a:p>
            <a:pPr>
              <a:lnSpc>
                <a:spcPct val="100000"/>
              </a:lnSpc>
            </a:pPr>
            <a:r>
              <a:rPr b="1" lang="en-US" sz="3200" spc="-1" strike="noStrike">
                <a:solidFill>
                  <a:srgbClr val="ffffff"/>
                </a:solidFill>
                <a:uFill>
                  <a:solidFill>
                    <a:srgbClr val="ffffff"/>
                  </a:solidFill>
                </a:uFill>
                <a:latin typeface="Calibri"/>
                <a:ea typeface="MS PGothic"/>
              </a:rPr>
              <a:t>Key Terms</a:t>
            </a:r>
            <a:endParaRPr lang="en-US" sz="1800" spc="-1" strike="noStrike">
              <a:solidFill>
                <a:srgbClr val="000000"/>
              </a:solidFill>
              <a:uFill>
                <a:solidFill>
                  <a:srgbClr val="ffffff"/>
                </a:solidFill>
              </a:uFill>
              <a:latin typeface="Arial"/>
            </a:endParaRPr>
          </a:p>
        </p:txBody>
      </p:sp>
    </p:spTree>
  </p:cSld>
  <p:timing>
    <p:tnLst>
      <p:par>
        <p:cTn id="454" dur="indefinite" restart="never" nodeType="tmRoot">
          <p:childTnLst>
            <p:seq>
              <p:cTn id="455" dur="indefinite" nodeType="mainSeq">
                <p:childTnLst>
                  <p:par>
                    <p:cTn id="456" fill="hold">
                      <p:stCondLst>
                        <p:cond delay="0"/>
                      </p:stCondLst>
                      <p:childTnLst>
                        <p:par>
                          <p:cTn id="457" fill="hold">
                            <p:stCondLst>
                              <p:cond delay="0"/>
                            </p:stCondLst>
                            <p:childTnLst>
                              <p:par>
                                <p:cTn id="458" nodeType="withEffect" fill="hold" presetClass="entr" presetID="10">
                                  <p:stCondLst>
                                    <p:cond delay="0"/>
                                  </p:stCondLst>
                                  <p:childTnLst>
                                    <p:set>
                                      <p:cBhvr>
                                        <p:cTn id="459" dur="1" fill="hold">
                                          <p:stCondLst>
                                            <p:cond delay="0"/>
                                          </p:stCondLst>
                                        </p:cTn>
                                        <p:tgtEl>
                                          <p:spTgt spid="521">
                                            <p:txEl>
                                              <p:pRg st="0" end="11"/>
                                            </p:txEl>
                                          </p:spTgt>
                                        </p:tgtEl>
                                        <p:attrNameLst>
                                          <p:attrName>style.visibility</p:attrName>
                                        </p:attrNameLst>
                                      </p:cBhvr>
                                      <p:to>
                                        <p:strVal val="visible"/>
                                      </p:to>
                                    </p:set>
                                    <p:animEffect filter="fade" transition="in">
                                      <p:cBhvr additive="repl">
                                        <p:cTn id="460" dur="500"/>
                                        <p:tgtEl>
                                          <p:spTgt spid="521">
                                            <p:txEl>
                                              <p:pRg st="0" end="11"/>
                                            </p:txEl>
                                          </p:spTgt>
                                        </p:tgtEl>
                                      </p:cBhvr>
                                    </p:animEffect>
                                  </p:childTnLst>
                                </p:cTn>
                              </p:par>
                              <p:par>
                                <p:cTn id="461" nodeType="withEffect" fill="hold" presetClass="entr" presetID="10">
                                  <p:stCondLst>
                                    <p:cond delay="0"/>
                                  </p:stCondLst>
                                  <p:childTnLst>
                                    <p:set>
                                      <p:cBhvr>
                                        <p:cTn id="462"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63" dur="500"/>
                                        <p:tgtEl>
                                          <p:spTgt spid="521">
                                            <p:txEl>
                                              <p:pRg st="186" end="186"/>
                                            </p:txEl>
                                          </p:spTgt>
                                        </p:tgtEl>
                                      </p:cBhvr>
                                    </p:animEffect>
                                  </p:childTnLst>
                                </p:cTn>
                              </p:par>
                              <p:par>
                                <p:cTn id="464" nodeType="withEffect" fill="hold" presetClass="entr" presetID="10">
                                  <p:stCondLst>
                                    <p:cond delay="0"/>
                                  </p:stCondLst>
                                  <p:childTnLst>
                                    <p:set>
                                      <p:cBhvr>
                                        <p:cTn id="465"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66" dur="500"/>
                                        <p:tgtEl>
                                          <p:spTgt spid="521">
                                            <p:txEl>
                                              <p:pRg st="186" end="186"/>
                                            </p:txEl>
                                          </p:spTgt>
                                        </p:tgtEl>
                                      </p:cBhvr>
                                    </p:animEffect>
                                  </p:childTnLst>
                                </p:cTn>
                              </p:par>
                              <p:par>
                                <p:cTn id="467" nodeType="withEffect" fill="hold" presetClass="entr" presetID="10">
                                  <p:stCondLst>
                                    <p:cond delay="0"/>
                                  </p:stCondLst>
                                  <p:childTnLst>
                                    <p:set>
                                      <p:cBhvr>
                                        <p:cTn id="468"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69" dur="500"/>
                                        <p:tgtEl>
                                          <p:spTgt spid="521">
                                            <p:txEl>
                                              <p:pRg st="186" end="186"/>
                                            </p:txEl>
                                          </p:spTgt>
                                        </p:tgtEl>
                                      </p:cBhvr>
                                    </p:animEffect>
                                  </p:childTnLst>
                                </p:cTn>
                              </p:par>
                              <p:par>
                                <p:cTn id="470" nodeType="withEffect" fill="hold" presetClass="entr" presetID="10">
                                  <p:stCondLst>
                                    <p:cond delay="0"/>
                                  </p:stCondLst>
                                  <p:childTnLst>
                                    <p:set>
                                      <p:cBhvr>
                                        <p:cTn id="471"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72" dur="500"/>
                                        <p:tgtEl>
                                          <p:spTgt spid="521">
                                            <p:txEl>
                                              <p:pRg st="186" end="186"/>
                                            </p:txEl>
                                          </p:spTgt>
                                        </p:tgtEl>
                                      </p:cBhvr>
                                    </p:animEffect>
                                  </p:childTnLst>
                                </p:cTn>
                              </p:par>
                              <p:par>
                                <p:cTn id="473" nodeType="withEffect" fill="hold" presetClass="entr" presetID="10">
                                  <p:stCondLst>
                                    <p:cond delay="0"/>
                                  </p:stCondLst>
                                  <p:childTnLst>
                                    <p:set>
                                      <p:cBhvr>
                                        <p:cTn id="474"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75" dur="500"/>
                                        <p:tgtEl>
                                          <p:spTgt spid="521">
                                            <p:txEl>
                                              <p:pRg st="186" end="186"/>
                                            </p:txEl>
                                          </p:spTgt>
                                        </p:tgtEl>
                                      </p:cBhvr>
                                    </p:animEffect>
                                  </p:childTnLst>
                                </p:cTn>
                              </p:par>
                              <p:par>
                                <p:cTn id="476" nodeType="withEffect" fill="hold" presetClass="entr" presetID="10">
                                  <p:stCondLst>
                                    <p:cond delay="0"/>
                                  </p:stCondLst>
                                  <p:childTnLst>
                                    <p:set>
                                      <p:cBhvr>
                                        <p:cTn id="477"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78" dur="500"/>
                                        <p:tgtEl>
                                          <p:spTgt spid="521">
                                            <p:txEl>
                                              <p:pRg st="186" end="186"/>
                                            </p:txEl>
                                          </p:spTgt>
                                        </p:tgtEl>
                                      </p:cBhvr>
                                    </p:animEffect>
                                  </p:childTnLst>
                                </p:cTn>
                              </p:par>
                              <p:par>
                                <p:cTn id="479" nodeType="withEffect" fill="hold" presetClass="entr" presetID="10">
                                  <p:stCondLst>
                                    <p:cond delay="0"/>
                                  </p:stCondLst>
                                  <p:childTnLst>
                                    <p:set>
                                      <p:cBhvr>
                                        <p:cTn id="480"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81" dur="500"/>
                                        <p:tgtEl>
                                          <p:spTgt spid="521">
                                            <p:txEl>
                                              <p:pRg st="186" end="186"/>
                                            </p:txEl>
                                          </p:spTgt>
                                        </p:tgtEl>
                                      </p:cBhvr>
                                    </p:animEffect>
                                  </p:childTnLst>
                                </p:cTn>
                              </p:par>
                              <p:par>
                                <p:cTn id="482" nodeType="withEffect" fill="hold" presetClass="entr" presetID="10">
                                  <p:stCondLst>
                                    <p:cond delay="0"/>
                                  </p:stCondLst>
                                  <p:childTnLst>
                                    <p:set>
                                      <p:cBhvr>
                                        <p:cTn id="483"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84" dur="500"/>
                                        <p:tgtEl>
                                          <p:spTgt spid="521">
                                            <p:txEl>
                                              <p:pRg st="186" end="186"/>
                                            </p:txEl>
                                          </p:spTgt>
                                        </p:tgtEl>
                                      </p:cBhvr>
                                    </p:animEffect>
                                  </p:childTnLst>
                                </p:cTn>
                              </p:par>
                              <p:par>
                                <p:cTn id="485" nodeType="withEffect" fill="hold" presetClass="entr" presetID="10">
                                  <p:stCondLst>
                                    <p:cond delay="0"/>
                                  </p:stCondLst>
                                  <p:childTnLst>
                                    <p:set>
                                      <p:cBhvr>
                                        <p:cTn id="486"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87" dur="500"/>
                                        <p:tgtEl>
                                          <p:spTgt spid="521">
                                            <p:txEl>
                                              <p:pRg st="186" end="186"/>
                                            </p:txEl>
                                          </p:spTgt>
                                        </p:tgtEl>
                                      </p:cBhvr>
                                    </p:animEffect>
                                  </p:childTnLst>
                                </p:cTn>
                              </p:par>
                              <p:par>
                                <p:cTn id="488" nodeType="withEffect" fill="hold" presetClass="entr" presetID="10">
                                  <p:stCondLst>
                                    <p:cond delay="0"/>
                                  </p:stCondLst>
                                  <p:childTnLst>
                                    <p:set>
                                      <p:cBhvr>
                                        <p:cTn id="489" dur="1" fill="hold">
                                          <p:stCondLst>
                                            <p:cond delay="0"/>
                                          </p:stCondLst>
                                        </p:cTn>
                                        <p:tgtEl>
                                          <p:spTgt spid="521">
                                            <p:txEl>
                                              <p:pRg st="186" end="186"/>
                                            </p:txEl>
                                          </p:spTgt>
                                        </p:tgtEl>
                                        <p:attrNameLst>
                                          <p:attrName>style.visibility</p:attrName>
                                        </p:attrNameLst>
                                      </p:cBhvr>
                                      <p:to>
                                        <p:strVal val="visible"/>
                                      </p:to>
                                    </p:set>
                                    <p:animEffect filter="fade" transition="in">
                                      <p:cBhvr additive="repl">
                                        <p:cTn id="490" dur="500"/>
                                        <p:tgtEl>
                                          <p:spTgt spid="521">
                                            <p:txEl>
                                              <p:pRg st="186" end="186"/>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otalTime>1888</TotalTime>
  <Application>LibreOffice/5.0.6.3$Windows_x86 LibreOffice_project/490fc03b25318460cfc54456516ea2519c11d1aa</Application>
  <Paragraphs>290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2011-08-04T07:26:48Z</dcterms:created>
  <dc:creator>Gideon</dc:creator>
  <dc:language>en-US</dc:language>
  <dcterms:modified xsi:type="dcterms:W3CDTF">2020-06-04T15:22:05Z</dcterms:modified>
  <cp:revision>104</cp:revision>
  <dc:title>The Study of Economics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28</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29</vt:i4>
  </property>
</Properties>
</file>