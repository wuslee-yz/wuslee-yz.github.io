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06" r:id="rId2"/>
  </p:sldMasterIdLst>
  <p:notesMasterIdLst>
    <p:notesMasterId r:id="rId34"/>
  </p:notesMasterIdLst>
  <p:sldIdLst>
    <p:sldId id="256" r:id="rId3"/>
    <p:sldId id="308" r:id="rId4"/>
    <p:sldId id="316" r:id="rId5"/>
    <p:sldId id="321" r:id="rId6"/>
    <p:sldId id="322" r:id="rId7"/>
    <p:sldId id="323" r:id="rId8"/>
    <p:sldId id="324" r:id="rId9"/>
    <p:sldId id="325" r:id="rId10"/>
    <p:sldId id="327" r:id="rId11"/>
    <p:sldId id="328" r:id="rId12"/>
    <p:sldId id="326" r:id="rId13"/>
    <p:sldId id="270" r:id="rId14"/>
    <p:sldId id="271" r:id="rId15"/>
    <p:sldId id="272" r:id="rId16"/>
    <p:sldId id="331" r:id="rId17"/>
    <p:sldId id="275" r:id="rId18"/>
    <p:sldId id="314" r:id="rId19"/>
    <p:sldId id="315" r:id="rId20"/>
    <p:sldId id="332" r:id="rId21"/>
    <p:sldId id="276" r:id="rId22"/>
    <p:sldId id="317" r:id="rId23"/>
    <p:sldId id="318" r:id="rId24"/>
    <p:sldId id="319" r:id="rId25"/>
    <p:sldId id="312" r:id="rId26"/>
    <p:sldId id="277" r:id="rId27"/>
    <p:sldId id="265" r:id="rId28"/>
    <p:sldId id="266" r:id="rId29"/>
    <p:sldId id="267" r:id="rId30"/>
    <p:sldId id="268" r:id="rId31"/>
    <p:sldId id="269" r:id="rId32"/>
    <p:sldId id="298" r:id="rId33"/>
  </p:sldIdLst>
  <p:sldSz cx="9144000" cy="6858000" type="screen4x3"/>
  <p:notesSz cx="6858000" cy="914400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9555" autoAdjust="0"/>
  </p:normalViewPr>
  <p:slideViewPr>
    <p:cSldViewPr>
      <p:cViewPr varScale="1">
        <p:scale>
          <a:sx n="56" d="100"/>
          <a:sy n="56" d="100"/>
        </p:scale>
        <p:origin x="-1201" y="-10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43"/>
    </p:cViewPr>
  </p:sorterViewPr>
  <p:notesViewPr>
    <p:cSldViewPr>
      <p:cViewPr varScale="1">
        <p:scale>
          <a:sx n="52" d="100"/>
          <a:sy n="52" d="100"/>
        </p:scale>
        <p:origin x="-2678"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3902F1-A38A-47A2-8C42-CE46CD8181AB}" type="datetimeFigureOut">
              <a:rPr lang="en-US" smtClean="0"/>
              <a:pPr/>
              <a:t>2/23/2016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0885F5-3B5D-42DC-8AA1-91682BCC5C86}" type="slidenum">
              <a:rPr lang="en-US" smtClean="0"/>
              <a:pPr/>
              <a:t>‹#›</a:t>
            </a:fld>
            <a:endParaRPr lang="en-US" dirty="0"/>
          </a:p>
        </p:txBody>
      </p:sp>
    </p:spTree>
    <p:extLst>
      <p:ext uri="{BB962C8B-B14F-4D97-AF65-F5344CB8AC3E}">
        <p14:creationId xmlns:p14="http://schemas.microsoft.com/office/powerpoint/2010/main" val="4111334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0885F5-3B5D-42DC-8AA1-91682BCC5C86}" type="slidenum">
              <a:rPr lang="en-US" smtClean="0"/>
              <a:pPr/>
              <a:t>0</a:t>
            </a:fld>
            <a:endParaRPr lang="en-US" dirty="0"/>
          </a:p>
        </p:txBody>
      </p:sp>
    </p:spTree>
    <p:extLst>
      <p:ext uri="{BB962C8B-B14F-4D97-AF65-F5344CB8AC3E}">
        <p14:creationId xmlns:p14="http://schemas.microsoft.com/office/powerpoint/2010/main" val="1607223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0885F5-3B5D-42DC-8AA1-91682BCC5C86}" type="slidenum">
              <a:rPr lang="en-US" smtClean="0"/>
              <a:pPr/>
              <a:t>1</a:t>
            </a:fld>
            <a:endParaRPr lang="en-US" dirty="0"/>
          </a:p>
        </p:txBody>
      </p:sp>
    </p:spTree>
    <p:extLst>
      <p:ext uri="{BB962C8B-B14F-4D97-AF65-F5344CB8AC3E}">
        <p14:creationId xmlns:p14="http://schemas.microsoft.com/office/powerpoint/2010/main" val="377719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074C4D6-D248-4656-BA67-CCF8C9394DB1}" type="slidenum">
              <a:rPr lang="en-US" smtClean="0"/>
              <a:pPr fontAlgn="base">
                <a:spcBef>
                  <a:spcPct val="0"/>
                </a:spcBef>
                <a:spcAft>
                  <a:spcPct val="0"/>
                </a:spcAft>
                <a:defRPr/>
              </a:pPr>
              <a:t>2</a:t>
            </a:fld>
            <a:endParaRPr lang="en-US" smtClean="0"/>
          </a:p>
        </p:txBody>
      </p:sp>
      <p:sp>
        <p:nvSpPr>
          <p:cNvPr id="993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93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Tree>
    <p:extLst>
      <p:ext uri="{BB962C8B-B14F-4D97-AF65-F5344CB8AC3E}">
        <p14:creationId xmlns:p14="http://schemas.microsoft.com/office/powerpoint/2010/main" val="1146320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10035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C48B1AA-E6E0-48A0-B983-2F7D9C50CB4F}" type="slidenum">
              <a:rPr lang="en-US" smtClean="0"/>
              <a:pPr fontAlgn="base">
                <a:spcBef>
                  <a:spcPct val="0"/>
                </a:spcBef>
                <a:spcAft>
                  <a:spcPct val="0"/>
                </a:spcAft>
                <a:defRPr/>
              </a:pPr>
              <a:t>3</a:t>
            </a:fld>
            <a:endParaRPr lang="en-US" smtClean="0"/>
          </a:p>
        </p:txBody>
      </p:sp>
    </p:spTree>
    <p:extLst>
      <p:ext uri="{BB962C8B-B14F-4D97-AF65-F5344CB8AC3E}">
        <p14:creationId xmlns:p14="http://schemas.microsoft.com/office/powerpoint/2010/main" val="824060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Slide Image Placeholder 1"/>
          <p:cNvSpPr>
            <a:spLocks noGrp="1" noRot="1" noChangeAspect="1" noTextEdit="1"/>
          </p:cNvSpPr>
          <p:nvPr>
            <p:ph type="sldImg"/>
          </p:nvPr>
        </p:nvSpPr>
        <p:spPr>
          <a:ln/>
        </p:spPr>
      </p:sp>
      <p:sp>
        <p:nvSpPr>
          <p:cNvPr id="843779"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4378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5C15D2CC-2340-4AA1-A856-9D9A1B85746C}" type="slidenum">
              <a:rPr lang="en-US" sz="1200"/>
              <a:pPr algn="r">
                <a:lnSpc>
                  <a:spcPct val="100000"/>
                </a:lnSpc>
                <a:spcBef>
                  <a:spcPct val="0"/>
                </a:spcBef>
                <a:buClrTx/>
                <a:buSzTx/>
                <a:buFontTx/>
                <a:buNone/>
              </a:pPr>
              <a:t>4</a:t>
            </a:fld>
            <a:endParaRPr lang="en-US" sz="1200" dirty="0"/>
          </a:p>
        </p:txBody>
      </p:sp>
    </p:spTree>
    <p:extLst>
      <p:ext uri="{BB962C8B-B14F-4D97-AF65-F5344CB8AC3E}">
        <p14:creationId xmlns:p14="http://schemas.microsoft.com/office/powerpoint/2010/main" val="2033366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Rot="1" noChangeAspect="1" noChangeArrowheads="1" noTextEdit="1"/>
          </p:cNvSpPr>
          <p:nvPr>
            <p:ph type="sldImg"/>
          </p:nvPr>
        </p:nvSpPr>
        <p:spPr>
          <a:ln/>
        </p:spPr>
      </p:sp>
      <p:sp>
        <p:nvSpPr>
          <p:cNvPr id="880643" name="Rectangle 3"/>
          <p:cNvSpPr>
            <a:spLocks noGrp="1" noChangeArrowheads="1"/>
          </p:cNvSpPr>
          <p:nvPr>
            <p:ph type="body" idx="1"/>
          </p:nvPr>
        </p:nvSpPr>
        <p:spPr>
          <a:noFill/>
          <a:ln/>
        </p:spPr>
        <p:txBody>
          <a:bodyPr/>
          <a:lstStyle/>
          <a:p>
            <a:r>
              <a:rPr lang="en-US" b="1" i="1" u="sng" dirty="0" smtClean="0">
                <a:latin typeface="Arial" pitchFamily="34" charset="0"/>
              </a:rPr>
              <a:t>Figure Caption:</a:t>
            </a:r>
            <a:r>
              <a:rPr lang="en-US" b="1" i="1" dirty="0" smtClean="0">
                <a:latin typeface="Arial" pitchFamily="34" charset="0"/>
              </a:rPr>
              <a:t> </a:t>
            </a:r>
            <a:r>
              <a:rPr lang="en-US" b="1" dirty="0" smtClean="0">
                <a:latin typeface="Arial" pitchFamily="34" charset="0"/>
              </a:rPr>
              <a:t>Figure 16-5: Negative Externalities and Production</a:t>
            </a:r>
            <a:endParaRPr lang="en-US" dirty="0" smtClean="0">
              <a:latin typeface="Arial" pitchFamily="34" charset="0"/>
            </a:endParaRPr>
          </a:p>
          <a:p>
            <a:r>
              <a:rPr lang="en-US" dirty="0" smtClean="0">
                <a:latin typeface="Arial" pitchFamily="34" charset="0"/>
              </a:rPr>
              <a:t>Livestock production generates external costs, so the marginal social cost curve, MSC, of livestock, corresponds to the supply curve, S, shifted upward by the marginal external cost. Panel (a) shows that without government action, the market produces the quantity QMKT. It is greater than the socially optimal quantity of livestock production, QOPT, the quantity at which MSC crosses the demand curve, D. At QMKT, the market price, PMKT, is less than PMSC, the true marginal cost to society of livestock production. Panel (b) shows how an optimal Pigouvian tax on livestock production, equal to its marginal external cost, moves the production to QOPT, resulting in lower output and a higher price to consumers. </a:t>
            </a:r>
          </a:p>
        </p:txBody>
      </p:sp>
    </p:spTree>
    <p:extLst>
      <p:ext uri="{BB962C8B-B14F-4D97-AF65-F5344CB8AC3E}">
        <p14:creationId xmlns:p14="http://schemas.microsoft.com/office/powerpoint/2010/main" val="3733296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Slide Image Placeholder 1"/>
          <p:cNvSpPr>
            <a:spLocks noGrp="1" noRot="1" noChangeAspect="1" noTextEdit="1"/>
          </p:cNvSpPr>
          <p:nvPr>
            <p:ph type="sldImg"/>
          </p:nvPr>
        </p:nvSpPr>
        <p:spPr>
          <a:ln/>
        </p:spPr>
      </p:sp>
      <p:sp>
        <p:nvSpPr>
          <p:cNvPr id="846851"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4685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3590443C-8FED-4429-B4AE-EEC0EE3F2CA4}" type="slidenum">
              <a:rPr lang="en-US" sz="1200"/>
              <a:pPr algn="r">
                <a:lnSpc>
                  <a:spcPct val="100000"/>
                </a:lnSpc>
                <a:spcBef>
                  <a:spcPct val="0"/>
                </a:spcBef>
                <a:buClrTx/>
                <a:buSzTx/>
                <a:buFontTx/>
                <a:buNone/>
              </a:pPr>
              <a:t>6</a:t>
            </a:fld>
            <a:endParaRPr lang="en-US" sz="1200" dirty="0"/>
          </a:p>
        </p:txBody>
      </p:sp>
    </p:spTree>
    <p:extLst>
      <p:ext uri="{BB962C8B-B14F-4D97-AF65-F5344CB8AC3E}">
        <p14:creationId xmlns:p14="http://schemas.microsoft.com/office/powerpoint/2010/main" val="2768117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Rectangle 2"/>
          <p:cNvSpPr>
            <a:spLocks noGrp="1" noRot="1" noChangeAspect="1" noChangeArrowheads="1" noTextEdit="1"/>
          </p:cNvSpPr>
          <p:nvPr>
            <p:ph type="sldImg"/>
          </p:nvPr>
        </p:nvSpPr>
        <p:spPr>
          <a:ln/>
        </p:spPr>
      </p:sp>
      <p:sp>
        <p:nvSpPr>
          <p:cNvPr id="879619" name="Rectangle 3"/>
          <p:cNvSpPr>
            <a:spLocks noGrp="1" noChangeArrowheads="1"/>
          </p:cNvSpPr>
          <p:nvPr>
            <p:ph type="body" idx="1"/>
          </p:nvPr>
        </p:nvSpPr>
        <p:spPr>
          <a:noFill/>
          <a:ln/>
        </p:spPr>
        <p:txBody>
          <a:bodyPr/>
          <a:lstStyle/>
          <a:p>
            <a:r>
              <a:rPr lang="en-US" b="1" i="1" u="sng" dirty="0" smtClean="0">
                <a:latin typeface="Arial" pitchFamily="34" charset="0"/>
              </a:rPr>
              <a:t>Figure Caption:</a:t>
            </a:r>
            <a:r>
              <a:rPr lang="en-US" b="1" i="1" dirty="0" smtClean="0">
                <a:latin typeface="Arial" pitchFamily="34" charset="0"/>
              </a:rPr>
              <a:t> </a:t>
            </a:r>
            <a:r>
              <a:rPr lang="en-US" b="1" dirty="0" smtClean="0">
                <a:latin typeface="Arial" pitchFamily="34" charset="0"/>
              </a:rPr>
              <a:t>Figure 16-4: Positive Externalities and Consumption</a:t>
            </a:r>
            <a:endParaRPr lang="en-US" dirty="0" smtClean="0">
              <a:latin typeface="Arial" pitchFamily="34" charset="0"/>
            </a:endParaRPr>
          </a:p>
          <a:p>
            <a:r>
              <a:rPr lang="en-US" dirty="0" smtClean="0">
                <a:latin typeface="Arial" pitchFamily="34" charset="0"/>
              </a:rPr>
              <a:t>Consumption of flu shots generates external benefits, so the marginal social benefit curve, MSB, of flu shots, corresponds to the demand curve, D, shifted upward by the marginal external benefit. Panel (a) shows that without government action, the market produces QMKT. It is lower than the socially optimal quantity of consumption, QOPT, the quantity at which MSB crosses the supply curve, S. At QMKT, the marginal social benefit of another flu shot, PMSB, is greater than the marginal benefit to consumers of another flu shot, PMKT. Panel (b) shows how an optimal Pigouvian subsidy to consumers, equal to the marginal external benefit, moves consumption to QOPT by lowering the price paid by consumers. </a:t>
            </a:r>
          </a:p>
        </p:txBody>
      </p:sp>
    </p:spTree>
    <p:extLst>
      <p:ext uri="{BB962C8B-B14F-4D97-AF65-F5344CB8AC3E}">
        <p14:creationId xmlns:p14="http://schemas.microsoft.com/office/powerpoint/2010/main" val="659698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Slide Image Placeholder 1"/>
          <p:cNvSpPr>
            <a:spLocks noGrp="1" noRot="1" noChangeAspect="1" noTextEdit="1"/>
          </p:cNvSpPr>
          <p:nvPr>
            <p:ph type="sldImg"/>
          </p:nvPr>
        </p:nvSpPr>
        <p:spPr>
          <a:ln/>
        </p:spPr>
      </p:sp>
      <p:sp>
        <p:nvSpPr>
          <p:cNvPr id="851971"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5197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0FB77F8C-1B12-4400-9C4B-A55B1DE54E72}" type="slidenum">
              <a:rPr lang="en-US" sz="1200"/>
              <a:pPr algn="r">
                <a:lnSpc>
                  <a:spcPct val="100000"/>
                </a:lnSpc>
                <a:spcBef>
                  <a:spcPct val="0"/>
                </a:spcBef>
                <a:buClrTx/>
                <a:buSzTx/>
                <a:buFontTx/>
                <a:buNone/>
              </a:pPr>
              <a:t>8</a:t>
            </a:fld>
            <a:endParaRPr lang="en-US" sz="1200" dirty="0"/>
          </a:p>
        </p:txBody>
      </p:sp>
    </p:spTree>
    <p:extLst>
      <p:ext uri="{BB962C8B-B14F-4D97-AF65-F5344CB8AC3E}">
        <p14:creationId xmlns:p14="http://schemas.microsoft.com/office/powerpoint/2010/main" val="414267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Slide Image Placeholder 1"/>
          <p:cNvSpPr>
            <a:spLocks noGrp="1" noRot="1" noChangeAspect="1" noTextEdit="1"/>
          </p:cNvSpPr>
          <p:nvPr>
            <p:ph type="sldImg"/>
          </p:nvPr>
        </p:nvSpPr>
        <p:spPr>
          <a:ln/>
        </p:spPr>
      </p:sp>
      <p:sp>
        <p:nvSpPr>
          <p:cNvPr id="920579"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92058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10FDEAED-BFFC-4202-ADD9-5FED0D946DAA}" type="slidenum">
              <a:rPr lang="en-US" sz="1200"/>
              <a:pPr algn="r">
                <a:lnSpc>
                  <a:spcPct val="100000"/>
                </a:lnSpc>
                <a:spcBef>
                  <a:spcPct val="0"/>
                </a:spcBef>
                <a:buClrTx/>
                <a:buSzTx/>
                <a:buFontTx/>
                <a:buNone/>
              </a:pPr>
              <a:t>9</a:t>
            </a:fld>
            <a:endParaRPr lang="en-US" sz="1200" dirty="0"/>
          </a:p>
        </p:txBody>
      </p:sp>
    </p:spTree>
    <p:extLst>
      <p:ext uri="{BB962C8B-B14F-4D97-AF65-F5344CB8AC3E}">
        <p14:creationId xmlns:p14="http://schemas.microsoft.com/office/powerpoint/2010/main" val="1607154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0885F5-3B5D-42DC-8AA1-91682BCC5C86}" type="slidenum">
              <a:rPr lang="en-US" smtClean="0"/>
              <a:pPr/>
              <a:t>10</a:t>
            </a:fld>
            <a:endParaRPr lang="en-US" dirty="0"/>
          </a:p>
        </p:txBody>
      </p:sp>
    </p:spTree>
    <p:extLst>
      <p:ext uri="{BB962C8B-B14F-4D97-AF65-F5344CB8AC3E}">
        <p14:creationId xmlns:p14="http://schemas.microsoft.com/office/powerpoint/2010/main" val="1150610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Slide Image Placeholder 1"/>
          <p:cNvSpPr>
            <a:spLocks noGrp="1" noRot="1" noChangeAspect="1" noTextEdit="1"/>
          </p:cNvSpPr>
          <p:nvPr>
            <p:ph type="sldImg"/>
          </p:nvPr>
        </p:nvSpPr>
        <p:spPr>
          <a:ln/>
        </p:spPr>
      </p:sp>
      <p:sp>
        <p:nvSpPr>
          <p:cNvPr id="822275"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2227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B54D146E-3282-4541-AE6F-AC616D4F6E15}" type="slidenum">
              <a:rPr lang="en-US" sz="1200"/>
              <a:pPr algn="r">
                <a:lnSpc>
                  <a:spcPct val="100000"/>
                </a:lnSpc>
                <a:spcBef>
                  <a:spcPct val="0"/>
                </a:spcBef>
                <a:buClrTx/>
                <a:buSzTx/>
                <a:buFontTx/>
                <a:buNone/>
              </a:pPr>
              <a:t>11</a:t>
            </a:fld>
            <a:endParaRPr lang="en-US" sz="1200" dirty="0"/>
          </a:p>
        </p:txBody>
      </p:sp>
    </p:spTree>
    <p:extLst>
      <p:ext uri="{BB962C8B-B14F-4D97-AF65-F5344CB8AC3E}">
        <p14:creationId xmlns:p14="http://schemas.microsoft.com/office/powerpoint/2010/main" val="963056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Slide Image Placeholder 1"/>
          <p:cNvSpPr>
            <a:spLocks noGrp="1" noRot="1" noChangeAspect="1" noTextEdit="1"/>
          </p:cNvSpPr>
          <p:nvPr>
            <p:ph type="sldImg"/>
          </p:nvPr>
        </p:nvSpPr>
        <p:spPr>
          <a:ln/>
        </p:spPr>
      </p:sp>
      <p:sp>
        <p:nvSpPr>
          <p:cNvPr id="824323"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2432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805DCF33-0553-4A51-8B9C-F39C18DDBA12}" type="slidenum">
              <a:rPr lang="en-US" sz="1200"/>
              <a:pPr algn="r">
                <a:lnSpc>
                  <a:spcPct val="100000"/>
                </a:lnSpc>
                <a:spcBef>
                  <a:spcPct val="0"/>
                </a:spcBef>
                <a:buClrTx/>
                <a:buSzTx/>
                <a:buFontTx/>
                <a:buNone/>
              </a:pPr>
              <a:t>12</a:t>
            </a:fld>
            <a:endParaRPr lang="en-US" sz="1200" dirty="0"/>
          </a:p>
        </p:txBody>
      </p:sp>
    </p:spTree>
    <p:extLst>
      <p:ext uri="{BB962C8B-B14F-4D97-AF65-F5344CB8AC3E}">
        <p14:creationId xmlns:p14="http://schemas.microsoft.com/office/powerpoint/2010/main" val="1144320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Rot="1" noChangeAspect="1" noChangeArrowheads="1" noTextEdit="1"/>
          </p:cNvSpPr>
          <p:nvPr>
            <p:ph type="sldImg"/>
          </p:nvPr>
        </p:nvSpPr>
        <p:spPr>
          <a:ln/>
        </p:spPr>
      </p:sp>
      <p:sp>
        <p:nvSpPr>
          <p:cNvPr id="876547" name="Rectangle 3"/>
          <p:cNvSpPr>
            <a:spLocks noGrp="1" noChangeArrowheads="1"/>
          </p:cNvSpPr>
          <p:nvPr>
            <p:ph type="body" idx="1"/>
          </p:nvPr>
        </p:nvSpPr>
        <p:spPr>
          <a:noFill/>
          <a:ln/>
        </p:spPr>
        <p:txBody>
          <a:bodyPr/>
          <a:lstStyle/>
          <a:p>
            <a:r>
              <a:rPr lang="en-US" b="1" i="1" u="sng" dirty="0" smtClean="0">
                <a:latin typeface="Arial" pitchFamily="34" charset="0"/>
              </a:rPr>
              <a:t>Figure Caption:</a:t>
            </a:r>
            <a:r>
              <a:rPr lang="en-US" b="1" i="1" dirty="0" smtClean="0">
                <a:latin typeface="Arial" pitchFamily="34" charset="0"/>
              </a:rPr>
              <a:t> </a:t>
            </a:r>
            <a:r>
              <a:rPr lang="en-US" b="1" dirty="0" smtClean="0">
                <a:latin typeface="Arial" pitchFamily="34" charset="0"/>
              </a:rPr>
              <a:t>Figure 16-1: The Socially Optimal Quantity of Pollution</a:t>
            </a:r>
            <a:endParaRPr lang="en-US" dirty="0" smtClean="0">
              <a:latin typeface="Arial" pitchFamily="34" charset="0"/>
            </a:endParaRPr>
          </a:p>
          <a:p>
            <a:r>
              <a:rPr lang="en-US" dirty="0" smtClean="0">
                <a:latin typeface="Arial" pitchFamily="34" charset="0"/>
              </a:rPr>
              <a:t>Pollution yields both costs and benefits. Here the curve MSC shows how the marginal cost to society as a whole from emitting one more ton of pollution emissions depends on the quantity of emissions. The curve MSB shows how the marginal benefit to society as a whole of emitting an additional ton of pollution emissions depends on the quantity of pollution emissions. The socially optimal quantity of pollution is QOPT; at that quantity, the marginal social benefit of pollution is equal to the marginal social cost, corresponding to $200. </a:t>
            </a:r>
          </a:p>
        </p:txBody>
      </p:sp>
    </p:spTree>
    <p:extLst>
      <p:ext uri="{BB962C8B-B14F-4D97-AF65-F5344CB8AC3E}">
        <p14:creationId xmlns:p14="http://schemas.microsoft.com/office/powerpoint/2010/main" val="2230133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Slide Image Placeholder 1"/>
          <p:cNvSpPr>
            <a:spLocks noGrp="1" noRot="1" noChangeAspect="1" noTextEdit="1"/>
          </p:cNvSpPr>
          <p:nvPr>
            <p:ph type="sldImg"/>
          </p:nvPr>
        </p:nvSpPr>
        <p:spPr>
          <a:ln/>
        </p:spPr>
      </p:sp>
      <p:sp>
        <p:nvSpPr>
          <p:cNvPr id="824323"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2432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805DCF33-0553-4A51-8B9C-F39C18DDBA12}" type="slidenum">
              <a:rPr lang="en-US" sz="1200"/>
              <a:pPr algn="r">
                <a:lnSpc>
                  <a:spcPct val="100000"/>
                </a:lnSpc>
                <a:spcBef>
                  <a:spcPct val="0"/>
                </a:spcBef>
                <a:buClrTx/>
                <a:buSzTx/>
                <a:buFontTx/>
                <a:buNone/>
              </a:pPr>
              <a:t>14</a:t>
            </a:fld>
            <a:endParaRPr lang="en-US" sz="1200" dirty="0"/>
          </a:p>
        </p:txBody>
      </p:sp>
    </p:spTree>
    <p:extLst>
      <p:ext uri="{BB962C8B-B14F-4D97-AF65-F5344CB8AC3E}">
        <p14:creationId xmlns:p14="http://schemas.microsoft.com/office/powerpoint/2010/main" val="1540044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Rot="1" noChangeAspect="1" noChangeArrowheads="1" noTextEdit="1"/>
          </p:cNvSpPr>
          <p:nvPr>
            <p:ph type="sldImg"/>
          </p:nvPr>
        </p:nvSpPr>
        <p:spPr>
          <a:ln/>
        </p:spPr>
      </p:sp>
      <p:sp>
        <p:nvSpPr>
          <p:cNvPr id="877571" name="Rectangle 3"/>
          <p:cNvSpPr>
            <a:spLocks noGrp="1" noChangeArrowheads="1"/>
          </p:cNvSpPr>
          <p:nvPr>
            <p:ph type="body" idx="1"/>
          </p:nvPr>
        </p:nvSpPr>
        <p:spPr>
          <a:noFill/>
          <a:ln/>
        </p:spPr>
        <p:txBody>
          <a:bodyPr/>
          <a:lstStyle/>
          <a:p>
            <a:r>
              <a:rPr lang="en-US" b="1" i="1" u="sng" dirty="0" smtClean="0">
                <a:latin typeface="Arial" pitchFamily="34" charset="0"/>
              </a:rPr>
              <a:t>Figure Caption:</a:t>
            </a:r>
            <a:r>
              <a:rPr lang="en-US" b="1" i="1" dirty="0" smtClean="0">
                <a:latin typeface="Arial" pitchFamily="34" charset="0"/>
              </a:rPr>
              <a:t> </a:t>
            </a:r>
            <a:r>
              <a:rPr lang="en-US" b="1" dirty="0" smtClean="0">
                <a:latin typeface="Arial" pitchFamily="34" charset="0"/>
              </a:rPr>
              <a:t>Figure 16-2: Why a Market Economy Produces Too Much Pollution</a:t>
            </a:r>
            <a:endParaRPr lang="en-US" dirty="0" smtClean="0">
              <a:latin typeface="Arial" pitchFamily="34" charset="0"/>
            </a:endParaRPr>
          </a:p>
          <a:p>
            <a:r>
              <a:rPr lang="en-US" dirty="0" smtClean="0">
                <a:latin typeface="Arial" pitchFamily="34" charset="0"/>
              </a:rPr>
              <a:t>In the absence of government intervention, the quantity of pollution will be QMKT, the level at which the marginal social benefit of pollution is zero. This is an inefficiently high quantity of pollution: the marginal social cost, $400, greatly exceeds the marginal social benefit, $0. An optimal Pigouvian tax of $200, the value of the marginal social cost of pollution when it equals the marginal social benefit of pollution, can move the market to the socially optimal quantity of pollution, QOPT. </a:t>
            </a:r>
          </a:p>
        </p:txBody>
      </p:sp>
    </p:spTree>
    <p:extLst>
      <p:ext uri="{BB962C8B-B14F-4D97-AF65-F5344CB8AC3E}">
        <p14:creationId xmlns:p14="http://schemas.microsoft.com/office/powerpoint/2010/main" val="1887165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Slide Image Placeholder 1"/>
          <p:cNvSpPr>
            <a:spLocks noGrp="1" noRot="1" noChangeAspect="1" noTextEdit="1"/>
          </p:cNvSpPr>
          <p:nvPr>
            <p:ph type="sldImg"/>
          </p:nvPr>
        </p:nvSpPr>
        <p:spPr>
          <a:ln/>
        </p:spPr>
      </p:sp>
      <p:sp>
        <p:nvSpPr>
          <p:cNvPr id="836611"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3661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FFE93A1C-20F2-4716-9128-4A158A2BCDC0}" type="slidenum">
              <a:rPr lang="en-US" sz="1200"/>
              <a:pPr algn="r">
                <a:lnSpc>
                  <a:spcPct val="100000"/>
                </a:lnSpc>
                <a:spcBef>
                  <a:spcPct val="0"/>
                </a:spcBef>
                <a:buClrTx/>
                <a:buSzTx/>
                <a:buFontTx/>
                <a:buNone/>
              </a:pPr>
              <a:t>16</a:t>
            </a:fld>
            <a:endParaRPr lang="en-US" sz="1200" dirty="0"/>
          </a:p>
        </p:txBody>
      </p:sp>
    </p:spTree>
    <p:extLst>
      <p:ext uri="{BB962C8B-B14F-4D97-AF65-F5344CB8AC3E}">
        <p14:creationId xmlns:p14="http://schemas.microsoft.com/office/powerpoint/2010/main" val="4064953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u="sng" dirty="0" smtClean="0">
                <a:latin typeface="Arial" pitchFamily="34" charset="0"/>
              </a:rPr>
              <a:t>Figure Caption:</a:t>
            </a:r>
            <a:r>
              <a:rPr lang="en-US" b="1" i="1" dirty="0" smtClean="0">
                <a:latin typeface="Arial" pitchFamily="34" charset="0"/>
              </a:rPr>
              <a:t> </a:t>
            </a:r>
            <a:r>
              <a:rPr lang="en-US" b="1" dirty="0" smtClean="0">
                <a:latin typeface="Arial" pitchFamily="34" charset="0"/>
              </a:rPr>
              <a:t>Figure 16-3: Environmental Standards Versus Emissions Taxes</a:t>
            </a:r>
            <a:endParaRPr lang="en-US" dirty="0" smtClean="0">
              <a:latin typeface="Arial" pitchFamily="34" charset="0"/>
            </a:endParaRPr>
          </a:p>
          <a:p>
            <a:r>
              <a:rPr lang="en-US" dirty="0" smtClean="0">
                <a:latin typeface="Arial" pitchFamily="34" charset="0"/>
              </a:rPr>
              <a:t>In both panels, MBA shows the marginal benefit of pollution to plant A and MBB shows the marginal benefit of pollution to plant B. In the absence of government intervention, each plant would emit 600 tons. However, the cost of reducing emissions is lower for plant A, as shown by the fact that MBA lies below MBB. Panel (a) shows the result of an environmental standard that requires both plants to cut emissions in half; this is inefficient, because it leaves the marginal benefit of pollution higher for plant B than for plant A. Panel (b) shows that an emissions tax achieves the same quantity of overall pollution efficiently: faced with an emissions tax of $200 per ton, both plants reduce pollution to the point where its marginal benefit is $200. </a:t>
            </a:r>
          </a:p>
          <a:p>
            <a:endParaRPr lang="en-US" dirty="0"/>
          </a:p>
        </p:txBody>
      </p:sp>
      <p:sp>
        <p:nvSpPr>
          <p:cNvPr id="4" name="Slide Number Placeholder 3"/>
          <p:cNvSpPr>
            <a:spLocks noGrp="1"/>
          </p:cNvSpPr>
          <p:nvPr>
            <p:ph type="sldNum" sz="quarter" idx="10"/>
          </p:nvPr>
        </p:nvSpPr>
        <p:spPr/>
        <p:txBody>
          <a:bodyPr/>
          <a:lstStyle/>
          <a:p>
            <a:fld id="{010885F5-3B5D-42DC-8AA1-91682BCC5C86}" type="slidenum">
              <a:rPr lang="en-US" smtClean="0"/>
              <a:pPr/>
              <a:t>17</a:t>
            </a:fld>
            <a:endParaRPr lang="en-US" dirty="0"/>
          </a:p>
        </p:txBody>
      </p:sp>
    </p:spTree>
    <p:extLst>
      <p:ext uri="{BB962C8B-B14F-4D97-AF65-F5344CB8AC3E}">
        <p14:creationId xmlns:p14="http://schemas.microsoft.com/office/powerpoint/2010/main" val="785092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Slide Image Placeholder 1"/>
          <p:cNvSpPr>
            <a:spLocks noGrp="1" noRot="1" noChangeAspect="1" noTextEdit="1"/>
          </p:cNvSpPr>
          <p:nvPr>
            <p:ph type="sldImg"/>
          </p:nvPr>
        </p:nvSpPr>
        <p:spPr>
          <a:ln/>
        </p:spPr>
      </p:sp>
      <p:sp>
        <p:nvSpPr>
          <p:cNvPr id="830467"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3046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BF2D0E95-C019-4B63-B511-24991F11B388}" type="slidenum">
              <a:rPr lang="en-US" sz="1200"/>
              <a:pPr algn="r">
                <a:lnSpc>
                  <a:spcPct val="100000"/>
                </a:lnSpc>
                <a:spcBef>
                  <a:spcPct val="0"/>
                </a:spcBef>
                <a:buClrTx/>
                <a:buSzTx/>
                <a:buFontTx/>
                <a:buNone/>
              </a:pPr>
              <a:t>19</a:t>
            </a:fld>
            <a:endParaRPr lang="en-US" sz="1200" dirty="0"/>
          </a:p>
        </p:txBody>
      </p:sp>
    </p:spTree>
    <p:extLst>
      <p:ext uri="{BB962C8B-B14F-4D97-AF65-F5344CB8AC3E}">
        <p14:creationId xmlns:p14="http://schemas.microsoft.com/office/powerpoint/2010/main" val="7379981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txBox="1">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320A18FB-A456-44F7-B1FA-CDC2DFFAC337}" type="slidenum">
              <a:rPr lang="en-US" altLang="en-US" sz="1200">
                <a:cs typeface="Arial" panose="020B0604020202020204" pitchFamily="34" charset="0"/>
              </a:rPr>
              <a:pPr algn="r"/>
              <a:t>20</a:t>
            </a:fld>
            <a:endParaRPr lang="en-US" altLang="en-US" sz="1200">
              <a:cs typeface="Arial" panose="020B0604020202020204" pitchFamily="34" charset="0"/>
            </a:endParaRPr>
          </a:p>
        </p:txBody>
      </p:sp>
      <p:sp>
        <p:nvSpPr>
          <p:cNvPr id="274435" name="Rectangle 2"/>
          <p:cNvSpPr>
            <a:spLocks noGrp="1" noRot="1" noChangeAspect="1" noChangeArrowheads="1" noTextEdit="1"/>
          </p:cNvSpPr>
          <p:nvPr>
            <p:ph type="sldImg"/>
          </p:nvPr>
        </p:nvSpPr>
        <p:spPr>
          <a:xfrm>
            <a:off x="931863" y="577850"/>
            <a:ext cx="4935537" cy="3702050"/>
          </a:xfrm>
          <a:ln/>
        </p:spPr>
      </p:sp>
      <p:sp>
        <p:nvSpPr>
          <p:cNvPr id="274436" name="Rectangle 3"/>
          <p:cNvSpPr>
            <a:spLocks noGrp="1" noChangeArrowheads="1"/>
          </p:cNvSpPr>
          <p:nvPr>
            <p:ph type="body" idx="1"/>
          </p:nvPr>
        </p:nvSpPr>
        <p:spPr>
          <a:xfrm>
            <a:off x="679450" y="4587875"/>
            <a:ext cx="5438775" cy="4546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1495543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txBox="1">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E3D7DF62-CDBF-4F70-8AE4-5124F88E28D1}" type="slidenum">
              <a:rPr lang="en-US" altLang="en-US" sz="1200">
                <a:cs typeface="Arial" panose="020B0604020202020204" pitchFamily="34" charset="0"/>
              </a:rPr>
              <a:pPr algn="r"/>
              <a:t>21</a:t>
            </a:fld>
            <a:endParaRPr lang="en-US" altLang="en-US" sz="1200">
              <a:cs typeface="Arial" panose="020B0604020202020204" pitchFamily="34" charset="0"/>
            </a:endParaRPr>
          </a:p>
        </p:txBody>
      </p:sp>
      <p:sp>
        <p:nvSpPr>
          <p:cNvPr id="276483" name="Rectangle 2"/>
          <p:cNvSpPr>
            <a:spLocks noGrp="1" noRot="1" noChangeAspect="1" noChangeArrowheads="1" noTextEdit="1"/>
          </p:cNvSpPr>
          <p:nvPr>
            <p:ph type="sldImg"/>
          </p:nvPr>
        </p:nvSpPr>
        <p:spPr>
          <a:xfrm>
            <a:off x="931863" y="577850"/>
            <a:ext cx="4935537" cy="3702050"/>
          </a:xfrm>
          <a:ln/>
        </p:spPr>
      </p:sp>
      <p:sp>
        <p:nvSpPr>
          <p:cNvPr id="276484" name="Rectangle 3"/>
          <p:cNvSpPr>
            <a:spLocks noGrp="1" noChangeArrowheads="1"/>
          </p:cNvSpPr>
          <p:nvPr>
            <p:ph type="body" idx="1"/>
          </p:nvPr>
        </p:nvSpPr>
        <p:spPr>
          <a:xfrm>
            <a:off x="679450" y="4587875"/>
            <a:ext cx="5438775" cy="4546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Both Jane and Dick are better off.  (What about Spot?  Doesn’t anyone care about Spot???)</a:t>
            </a:r>
          </a:p>
        </p:txBody>
      </p:sp>
    </p:spTree>
    <p:extLst>
      <p:ext uri="{BB962C8B-B14F-4D97-AF65-F5344CB8AC3E}">
        <p14:creationId xmlns:p14="http://schemas.microsoft.com/office/powerpoint/2010/main" val="41286436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txBox="1">
            <a:spLocks noGrp="1" noChangeArrowheads="1"/>
          </p:cNvSpPr>
          <p:nvPr/>
        </p:nvSpPr>
        <p:spPr bwMode="auto">
          <a:xfrm>
            <a:off x="3849688" y="9378950"/>
            <a:ext cx="2946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E3D7DF62-CDBF-4F70-8AE4-5124F88E28D1}" type="slidenum">
              <a:rPr lang="en-US" altLang="en-US" sz="1200">
                <a:cs typeface="Arial" panose="020B0604020202020204" pitchFamily="34" charset="0"/>
              </a:rPr>
              <a:pPr algn="r"/>
              <a:t>22</a:t>
            </a:fld>
            <a:endParaRPr lang="en-US" altLang="en-US" sz="1200">
              <a:cs typeface="Arial" panose="020B0604020202020204" pitchFamily="34" charset="0"/>
            </a:endParaRPr>
          </a:p>
        </p:txBody>
      </p:sp>
      <p:sp>
        <p:nvSpPr>
          <p:cNvPr id="276483" name="Rectangle 2"/>
          <p:cNvSpPr>
            <a:spLocks noGrp="1" noRot="1" noChangeAspect="1" noChangeArrowheads="1" noTextEdit="1"/>
          </p:cNvSpPr>
          <p:nvPr>
            <p:ph type="sldImg"/>
          </p:nvPr>
        </p:nvSpPr>
        <p:spPr>
          <a:xfrm>
            <a:off x="931863" y="577850"/>
            <a:ext cx="4935537" cy="3702050"/>
          </a:xfrm>
          <a:ln/>
        </p:spPr>
      </p:sp>
      <p:sp>
        <p:nvSpPr>
          <p:cNvPr id="276484" name="Rectangle 3"/>
          <p:cNvSpPr>
            <a:spLocks noGrp="1" noChangeArrowheads="1"/>
          </p:cNvSpPr>
          <p:nvPr>
            <p:ph type="body" idx="1"/>
          </p:nvPr>
        </p:nvSpPr>
        <p:spPr>
          <a:xfrm>
            <a:off x="679450" y="4587875"/>
            <a:ext cx="5438775" cy="4546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Both Jane and Dick are better off.  (What about Spot?  Doesn’t anyone care about Spot???)</a:t>
            </a:r>
          </a:p>
        </p:txBody>
      </p:sp>
    </p:spTree>
    <p:extLst>
      <p:ext uri="{BB962C8B-B14F-4D97-AF65-F5344CB8AC3E}">
        <p14:creationId xmlns:p14="http://schemas.microsoft.com/office/powerpoint/2010/main" val="3685181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Slide Image Placeholder 1"/>
          <p:cNvSpPr>
            <a:spLocks noGrp="1" noRot="1" noChangeAspect="1" noTextEdit="1"/>
          </p:cNvSpPr>
          <p:nvPr>
            <p:ph type="sldImg"/>
          </p:nvPr>
        </p:nvSpPr>
        <p:spPr>
          <a:ln/>
        </p:spPr>
      </p:sp>
      <p:sp>
        <p:nvSpPr>
          <p:cNvPr id="836611"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3661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FFE93A1C-20F2-4716-9128-4A158A2BCDC0}" type="slidenum">
              <a:rPr lang="en-US" sz="1200"/>
              <a:pPr algn="r">
                <a:lnSpc>
                  <a:spcPct val="100000"/>
                </a:lnSpc>
                <a:spcBef>
                  <a:spcPct val="0"/>
                </a:spcBef>
                <a:buClrTx/>
                <a:buSzTx/>
                <a:buFontTx/>
                <a:buNone/>
              </a:pPr>
              <a:t>23</a:t>
            </a:fld>
            <a:endParaRPr lang="en-US" sz="1200" dirty="0"/>
          </a:p>
        </p:txBody>
      </p:sp>
    </p:spTree>
    <p:extLst>
      <p:ext uri="{BB962C8B-B14F-4D97-AF65-F5344CB8AC3E}">
        <p14:creationId xmlns:p14="http://schemas.microsoft.com/office/powerpoint/2010/main" val="20602685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Slide Image Placeholder 1"/>
          <p:cNvSpPr>
            <a:spLocks noGrp="1" noRot="1" noChangeAspect="1" noTextEdit="1"/>
          </p:cNvSpPr>
          <p:nvPr>
            <p:ph type="sldImg"/>
          </p:nvPr>
        </p:nvSpPr>
        <p:spPr>
          <a:ln/>
        </p:spPr>
      </p:sp>
      <p:sp>
        <p:nvSpPr>
          <p:cNvPr id="832515" name="Notes Placeholder 2"/>
          <p:cNvSpPr>
            <a:spLocks noGrp="1"/>
          </p:cNvSpPr>
          <p:nvPr>
            <p:ph type="body" idx="1"/>
          </p:nvPr>
        </p:nvSpPr>
        <p:spPr>
          <a:noFill/>
          <a:ln/>
        </p:spPr>
        <p:txBody>
          <a:bodyPr/>
          <a:lstStyle/>
          <a:p>
            <a:pPr eaLnBrk="1" hangingPunct="1"/>
            <a:endParaRPr lang="en-US" dirty="0" smtClean="0">
              <a:latin typeface="Arial" pitchFamily="34" charset="0"/>
            </a:endParaRPr>
          </a:p>
        </p:txBody>
      </p:sp>
      <p:sp>
        <p:nvSpPr>
          <p:cNvPr id="83251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lnSpc>
                <a:spcPct val="100000"/>
              </a:lnSpc>
              <a:spcBef>
                <a:spcPct val="0"/>
              </a:spcBef>
              <a:buClrTx/>
              <a:buSzTx/>
              <a:buFontTx/>
              <a:buNone/>
            </a:pPr>
            <a:fld id="{9CCCF3D0-2489-4261-AD57-CC7C6A649119}" type="slidenum">
              <a:rPr lang="en-US" sz="1200"/>
              <a:pPr algn="r">
                <a:lnSpc>
                  <a:spcPct val="100000"/>
                </a:lnSpc>
                <a:spcBef>
                  <a:spcPct val="0"/>
                </a:spcBef>
                <a:buClrTx/>
                <a:buSzTx/>
                <a:buFontTx/>
                <a:buNone/>
              </a:pPr>
              <a:t>24</a:t>
            </a:fld>
            <a:endParaRPr lang="en-US" sz="1200" dirty="0"/>
          </a:p>
        </p:txBody>
      </p:sp>
    </p:spTree>
    <p:extLst>
      <p:ext uri="{BB962C8B-B14F-4D97-AF65-F5344CB8AC3E}">
        <p14:creationId xmlns:p14="http://schemas.microsoft.com/office/powerpoint/2010/main" val="25157713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0885F5-3B5D-42DC-8AA1-91682BCC5C86}" type="slidenum">
              <a:rPr lang="en-US" smtClean="0"/>
              <a:pPr/>
              <a:t>25</a:t>
            </a:fld>
            <a:endParaRPr lang="en-US" dirty="0"/>
          </a:p>
        </p:txBody>
      </p:sp>
    </p:spTree>
    <p:extLst>
      <p:ext uri="{BB962C8B-B14F-4D97-AF65-F5344CB8AC3E}">
        <p14:creationId xmlns:p14="http://schemas.microsoft.com/office/powerpoint/2010/main" val="2505393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10885F5-3B5D-42DC-8AA1-91682BCC5C86}" type="slidenum">
              <a:rPr lang="en-US" smtClean="0"/>
              <a:pPr/>
              <a:t>26</a:t>
            </a:fld>
            <a:endParaRPr lang="en-US" dirty="0"/>
          </a:p>
        </p:txBody>
      </p:sp>
    </p:spTree>
    <p:extLst>
      <p:ext uri="{BB962C8B-B14F-4D97-AF65-F5344CB8AC3E}">
        <p14:creationId xmlns:p14="http://schemas.microsoft.com/office/powerpoint/2010/main" val="15334152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fld id="{4F75FCD4-B002-4475-9D8C-273F41817A32}" type="datetime1">
              <a:rPr lang="id-ID"/>
              <a:pPr/>
              <a:t>23/02/2016</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fld id="{BE977D6D-E3B2-41F6-8112-EB7547E88F9E}" type="slidenum">
              <a:rPr lang="id-ID"/>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fld id="{02D51A72-1ADF-4A74-A726-D0060670AC3A}" type="datetime1">
              <a:rPr lang="id-ID"/>
              <a:pPr/>
              <a:t>23/02/2016</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fld id="{38928F75-3B29-43F9-9670-44CBD30A4836}" type="slidenum">
              <a:rPr lang="id-ID"/>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CC87594E-746D-4449-8366-94AB0EFBCAE7}" type="datetime1">
              <a:rPr lang="id-ID"/>
              <a:pPr/>
              <a:t>23/02/2016</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fld id="{86291EE7-B4DB-4BB8-A660-3CCE2360EE72}" type="slidenum">
              <a:rPr lang="id-ID"/>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86116" y="428604"/>
            <a:ext cx="5572164" cy="5857916"/>
          </a:xfrm>
        </p:spPr>
        <p:txBody>
          <a:bodyPr/>
          <a:lstStyle>
            <a:lvl1pPr>
              <a:defRPr sz="2400"/>
            </a:lvl1pPr>
            <a:lvl2pPr>
              <a:defRPr sz="2200"/>
            </a:lvl2pPr>
            <a:lvl3pPr>
              <a:defRPr sz="2000"/>
            </a:lvl3pPr>
            <a:lvl4pPr>
              <a:defRPr sz="18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9" name="Text Placeholder 8"/>
          <p:cNvSpPr>
            <a:spLocks noGrp="1"/>
          </p:cNvSpPr>
          <p:nvPr>
            <p:ph type="body" sz="quarter" idx="13"/>
          </p:nvPr>
        </p:nvSpPr>
        <p:spPr>
          <a:xfrm>
            <a:off x="357188" y="1357313"/>
            <a:ext cx="2143125" cy="3786187"/>
          </a:xfrm>
        </p:spPr>
        <p:txBody>
          <a:bodyPr anchor="ctr">
            <a:normAutofit/>
          </a:bodyPr>
          <a:lstStyle>
            <a:lvl1pPr marL="0" indent="0" algn="ctr">
              <a:buNone/>
              <a:defRPr sz="3200" b="1" baseline="0">
                <a:solidFill>
                  <a:schemeClr val="bg1"/>
                </a:solidFill>
                <a:effectLst>
                  <a:outerShdw blurRad="38100" dist="38100" dir="2700000" algn="tl">
                    <a:srgbClr val="000000">
                      <a:alpha val="43137"/>
                    </a:srgbClr>
                  </a:outerShdw>
                </a:effectLst>
              </a:defRPr>
            </a:lvl1pPr>
          </a:lstStyle>
          <a:p>
            <a:pPr lvl="0"/>
            <a:r>
              <a:rPr lang="en-US" dirty="0" smtClean="0"/>
              <a:t>Click to edit</a:t>
            </a:r>
            <a:r>
              <a:rPr lang="id-ID" dirty="0" smtClean="0"/>
              <a:t> </a:t>
            </a:r>
            <a:r>
              <a:rPr lang="en-US" dirty="0" smtClean="0"/>
              <a:t>Master text styles</a:t>
            </a:r>
          </a:p>
        </p:txBody>
      </p:sp>
      <p:sp>
        <p:nvSpPr>
          <p:cNvPr id="5" name="Date Placeholder 4"/>
          <p:cNvSpPr>
            <a:spLocks noGrp="1"/>
          </p:cNvSpPr>
          <p:nvPr>
            <p:ph type="dt" sz="half" idx="14"/>
          </p:nvPr>
        </p:nvSpPr>
        <p:spPr/>
        <p:txBody>
          <a:bodyPr/>
          <a:lstStyle>
            <a:lvl1pPr>
              <a:defRPr/>
            </a:lvl1pPr>
          </a:lstStyle>
          <a:p>
            <a:fld id="{67AB5285-B4FB-4CDD-BB52-D2E0B41D80DF}" type="datetime1">
              <a:rPr lang="id-ID"/>
              <a:pPr/>
              <a:t>23/02/2016</a:t>
            </a:fld>
            <a:endParaRPr lang="id-ID"/>
          </a:p>
        </p:txBody>
      </p:sp>
      <p:sp>
        <p:nvSpPr>
          <p:cNvPr id="6" name="Footer Placeholder 5"/>
          <p:cNvSpPr>
            <a:spLocks noGrp="1"/>
          </p:cNvSpPr>
          <p:nvPr>
            <p:ph type="ftr" sz="quarter" idx="15"/>
          </p:nvPr>
        </p:nvSpPr>
        <p:spPr/>
        <p:txBody>
          <a:bodyPr/>
          <a:lstStyle>
            <a:lvl1pPr>
              <a:defRPr/>
            </a:lvl1pPr>
          </a:lstStyle>
          <a:p>
            <a:pPr>
              <a:defRPr/>
            </a:pPr>
            <a:endParaRPr lang="id-ID"/>
          </a:p>
        </p:txBody>
      </p:sp>
      <p:sp>
        <p:nvSpPr>
          <p:cNvPr id="7" name="Slide Number Placeholder 6"/>
          <p:cNvSpPr>
            <a:spLocks noGrp="1"/>
          </p:cNvSpPr>
          <p:nvPr>
            <p:ph type="sldNum" sz="quarter" idx="16"/>
          </p:nvPr>
        </p:nvSpPr>
        <p:spPr/>
        <p:txBody>
          <a:bodyPr/>
          <a:lstStyle>
            <a:lvl1pPr>
              <a:defRPr/>
            </a:lvl1pPr>
          </a:lstStyle>
          <a:p>
            <a:fld id="{85997CAA-2723-4B33-A329-6411D8BBCBD4}" type="slidenum">
              <a:rPr lang="id-ID"/>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fld id="{5A5BDA3F-117E-48CB-B9E8-1944987A8CF1}" type="datetime1">
              <a:rPr lang="id-ID"/>
              <a:pPr/>
              <a:t>23/02/2016</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fld id="{0BAD8E49-2172-475A-A6AF-E3D1135F4FA2}" type="slidenum">
              <a:rPr lang="id-ID"/>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fld id="{F34B5B47-3BD8-4CB9-800F-7A9FC08EA7D6}" type="datetime1">
              <a:rPr lang="id-ID"/>
              <a:pPr/>
              <a:t>23/02/2016</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fld id="{FB183D21-B9E3-49D9-BB26-68253C695671}" type="slidenum">
              <a:rPr lang="id-ID"/>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fld id="{AA6C4B3E-8926-4368-915C-4D102569C943}" type="datetime1">
              <a:rPr lang="id-ID"/>
              <a:pPr/>
              <a:t>23/02/2016</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fld id="{F463D10C-D0C0-41D9-8289-40712A47FB27}" type="slidenum">
              <a:rPr lang="id-ID"/>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EF2E0FB3-DBAA-4E6D-909C-69B2BFE189AA}" type="datetime1">
              <a:rPr lang="id-ID"/>
              <a:pPr/>
              <a:t>23/02/2016</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fld id="{DB421496-466F-4D5F-8437-12798FDA713A}" type="slidenum">
              <a:rPr lang="id-ID"/>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0497C604-C4E3-48BB-8D7F-85DB472941A7}" type="datetime1">
              <a:rPr lang="id-ID"/>
              <a:pPr/>
              <a:t>23/02/2016</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fld id="{D04F74D7-93ED-478B-AB46-9DC43F7C3745}" type="slidenum">
              <a:rPr lang="id-ID"/>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81B73A64-FC9E-41CD-92BF-B8FEF955CA78}" type="datetime1">
              <a:rPr lang="id-ID"/>
              <a:pPr/>
              <a:t>23/02/2016</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fld id="{3913808D-A479-4DA1-869A-C4193BE17A95}" type="slidenum">
              <a:rPr lang="id-ID"/>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5AEEC209-DD20-4E99-BA2A-9F4C113D9253}" type="datetime1">
              <a:rPr lang="id-ID"/>
              <a:pPr/>
              <a:t>23/02/2016</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fld id="{4FC4216F-D8B5-4A6D-9D93-0D4A0B156473}" type="slidenum">
              <a:rPr lang="id-ID"/>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noAutofit/>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5" name="Footer Placeholder 4"/>
          <p:cNvSpPr>
            <a:spLocks noGrp="1"/>
          </p:cNvSpPr>
          <p:nvPr>
            <p:ph type="ftr" sz="quarter" idx="11"/>
          </p:nvPr>
        </p:nvSpPr>
        <p:spPr/>
        <p:txBody>
          <a:bodyPr/>
          <a:lstStyle/>
          <a:p>
            <a:endParaRPr lang="id-ID">
              <a:solidFill>
                <a:prstClr val="black">
                  <a:tint val="75000"/>
                </a:prstClr>
              </a:solidFill>
            </a:endParaRPr>
          </a:p>
        </p:txBody>
      </p:sp>
      <p:sp>
        <p:nvSpPr>
          <p:cNvPr id="6" name="Slide Number Placeholder 5"/>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17824235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5" name="Footer Placeholder 4"/>
          <p:cNvSpPr>
            <a:spLocks noGrp="1"/>
          </p:cNvSpPr>
          <p:nvPr>
            <p:ph type="ftr" sz="quarter" idx="11"/>
          </p:nvPr>
        </p:nvSpPr>
        <p:spPr/>
        <p:txBody>
          <a:bodyPr/>
          <a:lstStyle/>
          <a:p>
            <a:endParaRPr lang="id-ID">
              <a:solidFill>
                <a:prstClr val="black">
                  <a:tint val="75000"/>
                </a:prstClr>
              </a:solidFill>
            </a:endParaRPr>
          </a:p>
        </p:txBody>
      </p:sp>
      <p:sp>
        <p:nvSpPr>
          <p:cNvPr id="6" name="Slide Number Placeholder 5"/>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172273933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57290" y="4406900"/>
            <a:ext cx="7137422" cy="1362075"/>
          </a:xfrm>
        </p:spPr>
        <p:txBody>
          <a:bodyPr anchor="t"/>
          <a:lstStyle>
            <a:lvl1pPr algn="l">
              <a:defRPr sz="4000" b="1" cap="all">
                <a:solidFill>
                  <a:schemeClr val="tx1"/>
                </a:solidFill>
              </a:defRPr>
            </a:lvl1pPr>
          </a:lstStyle>
          <a:p>
            <a:r>
              <a:rPr lang="en-US" dirty="0" smtClean="0"/>
              <a:t>Click to edit </a:t>
            </a:r>
            <a:r>
              <a:rPr lang="id-ID" dirty="0" smtClean="0"/>
              <a:t/>
            </a:r>
            <a:br>
              <a:rPr lang="id-ID" dirty="0" smtClean="0"/>
            </a:br>
            <a:r>
              <a:rPr lang="en-US" dirty="0" smtClean="0"/>
              <a:t>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5" name="Footer Placeholder 4"/>
          <p:cNvSpPr>
            <a:spLocks noGrp="1"/>
          </p:cNvSpPr>
          <p:nvPr>
            <p:ph type="ftr" sz="quarter" idx="11"/>
          </p:nvPr>
        </p:nvSpPr>
        <p:spPr/>
        <p:txBody>
          <a:bodyPr/>
          <a:lstStyle/>
          <a:p>
            <a:endParaRPr lang="id-ID">
              <a:solidFill>
                <a:prstClr val="black">
                  <a:tint val="75000"/>
                </a:prstClr>
              </a:solidFill>
            </a:endParaRPr>
          </a:p>
        </p:txBody>
      </p:sp>
      <p:sp>
        <p:nvSpPr>
          <p:cNvPr id="6" name="Slide Number Placeholder 5"/>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383056351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3286116" y="428604"/>
            <a:ext cx="5572164" cy="5857916"/>
          </a:xfrm>
        </p:spPr>
        <p:txBody>
          <a:bodyPr/>
          <a:lstStyle>
            <a:lvl1pPr>
              <a:defRPr sz="2400"/>
            </a:lvl1pPr>
            <a:lvl2pPr>
              <a:defRPr sz="2200"/>
            </a:lvl2pPr>
            <a:lvl3pPr>
              <a:defRPr sz="2000"/>
            </a:lvl3pPr>
            <a:lvl4pPr>
              <a:defRPr sz="1800"/>
            </a:lvl4pPr>
            <a:lvl5pPr>
              <a:defRPr sz="16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Date Placeholder 4"/>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6" name="Footer Placeholder 5"/>
          <p:cNvSpPr>
            <a:spLocks noGrp="1"/>
          </p:cNvSpPr>
          <p:nvPr>
            <p:ph type="ftr" sz="quarter" idx="11"/>
          </p:nvPr>
        </p:nvSpPr>
        <p:spPr/>
        <p:txBody>
          <a:bodyPr/>
          <a:lstStyle/>
          <a:p>
            <a:endParaRPr lang="id-ID">
              <a:solidFill>
                <a:prstClr val="black">
                  <a:tint val="75000"/>
                </a:prstClr>
              </a:solidFill>
            </a:endParaRPr>
          </a:p>
        </p:txBody>
      </p:sp>
      <p:sp>
        <p:nvSpPr>
          <p:cNvPr id="7" name="Slide Number Placeholder 6"/>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
        <p:nvSpPr>
          <p:cNvPr id="9" name="Text Placeholder 8"/>
          <p:cNvSpPr>
            <a:spLocks noGrp="1"/>
          </p:cNvSpPr>
          <p:nvPr>
            <p:ph type="body" sz="quarter" idx="13"/>
          </p:nvPr>
        </p:nvSpPr>
        <p:spPr>
          <a:xfrm>
            <a:off x="357188" y="1357313"/>
            <a:ext cx="2143125" cy="3786187"/>
          </a:xfrm>
        </p:spPr>
        <p:txBody>
          <a:bodyPr anchor="ctr">
            <a:normAutofit/>
          </a:bodyPr>
          <a:lstStyle>
            <a:lvl1pPr marL="0" indent="0" algn="ctr">
              <a:buNone/>
              <a:defRPr sz="3200" b="1" baseline="0">
                <a:solidFill>
                  <a:schemeClr val="bg1"/>
                </a:solidFill>
                <a:effectLst>
                  <a:outerShdw blurRad="38100" dist="38100" dir="2700000" algn="tl">
                    <a:srgbClr val="000000">
                      <a:alpha val="43137"/>
                    </a:srgbClr>
                  </a:outerShdw>
                </a:effectLst>
              </a:defRPr>
            </a:lvl1pPr>
          </a:lstStyle>
          <a:p>
            <a:pPr lvl="0"/>
            <a:r>
              <a:rPr lang="en-US" dirty="0" smtClean="0"/>
              <a:t>Click to edit</a:t>
            </a:r>
            <a:r>
              <a:rPr lang="id-ID" dirty="0" smtClean="0"/>
              <a:t> </a:t>
            </a:r>
            <a:r>
              <a:rPr lang="en-US" dirty="0" smtClean="0"/>
              <a:t>Master text styles</a:t>
            </a:r>
          </a:p>
        </p:txBody>
      </p:sp>
    </p:spTree>
    <p:extLst>
      <p:ext uri="{BB962C8B-B14F-4D97-AF65-F5344CB8AC3E}">
        <p14:creationId xmlns:p14="http://schemas.microsoft.com/office/powerpoint/2010/main" val="309186086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8" name="Footer Placeholder 7"/>
          <p:cNvSpPr>
            <a:spLocks noGrp="1"/>
          </p:cNvSpPr>
          <p:nvPr>
            <p:ph type="ftr" sz="quarter" idx="11"/>
          </p:nvPr>
        </p:nvSpPr>
        <p:spPr/>
        <p:txBody>
          <a:bodyPr/>
          <a:lstStyle/>
          <a:p>
            <a:endParaRPr lang="id-ID">
              <a:solidFill>
                <a:prstClr val="black">
                  <a:tint val="75000"/>
                </a:prstClr>
              </a:solidFill>
            </a:endParaRPr>
          </a:p>
        </p:txBody>
      </p:sp>
      <p:sp>
        <p:nvSpPr>
          <p:cNvPr id="9" name="Slide Number Placeholder 8"/>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2688437772"/>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3" name="Date Placeholder 2"/>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4" name="Footer Placeholder 3"/>
          <p:cNvSpPr>
            <a:spLocks noGrp="1"/>
          </p:cNvSpPr>
          <p:nvPr>
            <p:ph type="ftr" sz="quarter" idx="11"/>
          </p:nvPr>
        </p:nvSpPr>
        <p:spPr/>
        <p:txBody>
          <a:bodyPr/>
          <a:lstStyle/>
          <a:p>
            <a:endParaRPr lang="id-ID">
              <a:solidFill>
                <a:prstClr val="black">
                  <a:tint val="75000"/>
                </a:prstClr>
              </a:solidFill>
            </a:endParaRPr>
          </a:p>
        </p:txBody>
      </p:sp>
      <p:sp>
        <p:nvSpPr>
          <p:cNvPr id="5" name="Slide Number Placeholder 4"/>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Tree>
    <p:extLst>
      <p:ext uri="{BB962C8B-B14F-4D97-AF65-F5344CB8AC3E}">
        <p14:creationId xmlns:p14="http://schemas.microsoft.com/office/powerpoint/2010/main" val="206604122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3" name="Footer Placeholder 2"/>
          <p:cNvSpPr>
            <a:spLocks noGrp="1"/>
          </p:cNvSpPr>
          <p:nvPr>
            <p:ph type="ftr" sz="quarter" idx="11"/>
          </p:nvPr>
        </p:nvSpPr>
        <p:spPr/>
        <p:txBody>
          <a:bodyPr/>
          <a:lstStyle/>
          <a:p>
            <a:endParaRPr lang="id-ID">
              <a:solidFill>
                <a:prstClr val="black">
                  <a:tint val="75000"/>
                </a:prstClr>
              </a:solidFill>
            </a:endParaRPr>
          </a:p>
        </p:txBody>
      </p:sp>
      <p:sp>
        <p:nvSpPr>
          <p:cNvPr id="4" name="Slide Number Placeholder 3"/>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Tree>
    <p:extLst>
      <p:ext uri="{BB962C8B-B14F-4D97-AF65-F5344CB8AC3E}">
        <p14:creationId xmlns:p14="http://schemas.microsoft.com/office/powerpoint/2010/main" val="342820913"/>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6" name="Footer Placeholder 5"/>
          <p:cNvSpPr>
            <a:spLocks noGrp="1"/>
          </p:cNvSpPr>
          <p:nvPr>
            <p:ph type="ftr" sz="quarter" idx="11"/>
          </p:nvPr>
        </p:nvSpPr>
        <p:spPr/>
        <p:txBody>
          <a:bodyPr/>
          <a:lstStyle/>
          <a:p>
            <a:endParaRPr lang="id-ID">
              <a:solidFill>
                <a:prstClr val="black">
                  <a:tint val="75000"/>
                </a:prstClr>
              </a:solidFill>
            </a:endParaRPr>
          </a:p>
        </p:txBody>
      </p:sp>
      <p:sp>
        <p:nvSpPr>
          <p:cNvPr id="7" name="Slide Number Placeholder 6"/>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59540890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6" name="Footer Placeholder 5"/>
          <p:cNvSpPr>
            <a:spLocks noGrp="1"/>
          </p:cNvSpPr>
          <p:nvPr>
            <p:ph type="ftr" sz="quarter" idx="11"/>
          </p:nvPr>
        </p:nvSpPr>
        <p:spPr/>
        <p:txBody>
          <a:bodyPr/>
          <a:lstStyle/>
          <a:p>
            <a:endParaRPr lang="id-ID">
              <a:solidFill>
                <a:prstClr val="black">
                  <a:tint val="75000"/>
                </a:prstClr>
              </a:solidFill>
            </a:endParaRPr>
          </a:p>
        </p:txBody>
      </p:sp>
      <p:sp>
        <p:nvSpPr>
          <p:cNvPr id="7" name="Slide Number Placeholder 6"/>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338313226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5" name="Footer Placeholder 4"/>
          <p:cNvSpPr>
            <a:spLocks noGrp="1"/>
          </p:cNvSpPr>
          <p:nvPr>
            <p:ph type="ftr" sz="quarter" idx="11"/>
          </p:nvPr>
        </p:nvSpPr>
        <p:spPr/>
        <p:txBody>
          <a:bodyPr/>
          <a:lstStyle/>
          <a:p>
            <a:endParaRPr lang="id-ID">
              <a:solidFill>
                <a:prstClr val="black">
                  <a:tint val="75000"/>
                </a:prstClr>
              </a:solidFill>
            </a:endParaRPr>
          </a:p>
        </p:txBody>
      </p:sp>
      <p:sp>
        <p:nvSpPr>
          <p:cNvPr id="6" name="Slide Number Placeholder 5"/>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392756135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6850F96E-6F6D-4D0D-972E-D998A0AAFE20}" type="datetimeFigureOut">
              <a:rPr lang="id-ID" smtClean="0">
                <a:solidFill>
                  <a:prstClr val="black">
                    <a:tint val="75000"/>
                  </a:prstClr>
                </a:solidFill>
              </a:rPr>
              <a:pPr/>
              <a:t>23/02/2016</a:t>
            </a:fld>
            <a:endParaRPr lang="id-ID">
              <a:solidFill>
                <a:prstClr val="black">
                  <a:tint val="75000"/>
                </a:prstClr>
              </a:solidFill>
            </a:endParaRPr>
          </a:p>
        </p:txBody>
      </p:sp>
      <p:sp>
        <p:nvSpPr>
          <p:cNvPr id="5" name="Footer Placeholder 4"/>
          <p:cNvSpPr>
            <a:spLocks noGrp="1"/>
          </p:cNvSpPr>
          <p:nvPr>
            <p:ph type="ftr" sz="quarter" idx="11"/>
          </p:nvPr>
        </p:nvSpPr>
        <p:spPr/>
        <p:txBody>
          <a:bodyPr/>
          <a:lstStyle/>
          <a:p>
            <a:endParaRPr lang="id-ID">
              <a:solidFill>
                <a:prstClr val="black">
                  <a:tint val="75000"/>
                </a:prstClr>
              </a:solidFill>
            </a:endParaRPr>
          </a:p>
        </p:txBody>
      </p:sp>
      <p:sp>
        <p:nvSpPr>
          <p:cNvPr id="6" name="Slide Number Placeholder 5"/>
          <p:cNvSpPr>
            <a:spLocks noGrp="1"/>
          </p:cNvSpPr>
          <p:nvPr>
            <p:ph type="sldNum" sz="quarter" idx="12"/>
          </p:nvPr>
        </p:nvSpPr>
        <p:spPr/>
        <p:txBody>
          <a:bodyPr/>
          <a:lstStyle/>
          <a:p>
            <a:fld id="{64F85C5B-36B0-4340-AACF-C6B850C3739B}" type="slidenum">
              <a:rPr lang="id-ID" smtClean="0">
                <a:solidFill>
                  <a:prstClr val="black">
                    <a:tint val="75000"/>
                  </a:prstClr>
                </a:solidFill>
              </a:rPr>
              <a:pPr/>
              <a:t>‹#›</a:t>
            </a:fld>
            <a:endParaRPr lang="id-ID">
              <a:solidFill>
                <a:prstClr val="black">
                  <a:tint val="75000"/>
                </a:prstClr>
              </a:solidFill>
            </a:endParaRPr>
          </a:p>
        </p:txBody>
      </p:sp>
    </p:spTree>
    <p:extLst>
      <p:ext uri="{BB962C8B-B14F-4D97-AF65-F5344CB8AC3E}">
        <p14:creationId xmlns:p14="http://schemas.microsoft.com/office/powerpoint/2010/main" val="26720283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6716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E9871519-9A48-42C4-8FEE-311DD1A5C8BD}" type="datetime1">
              <a:rPr lang="id-ID"/>
              <a:pPr/>
              <a:t>23/02/2016</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A609910-B759-45B3-B761-6092FDF1A987}" type="slidenum">
              <a:rPr lang="id-ID"/>
              <a:pPr/>
              <a:t>‹#›</a:t>
            </a:fld>
            <a:endParaRPr lang="id-ID"/>
          </a:p>
        </p:txBody>
      </p:sp>
    </p:spTree>
  </p:cSld>
  <p:clrMap bg1="lt1" tx1="dk1" bg2="lt2" tx2="dk2" accent1="accent1" accent2="accent2" accent3="accent3" accent4="accent4" accent5="accent5" accent6="accent6" hlink="hlink" folHlink="folHlink"/>
  <p:sldLayoutIdLst>
    <p:sldLayoutId id="2147483701" r:id="rId1"/>
    <p:sldLayoutId id="2147483694" r:id="rId2"/>
    <p:sldLayoutId id="2147483695" r:id="rId3"/>
    <p:sldLayoutId id="2147483702" r:id="rId4"/>
    <p:sldLayoutId id="2147483696" r:id="rId5"/>
    <p:sldLayoutId id="2147483703" r:id="rId6"/>
    <p:sldLayoutId id="2147483704" r:id="rId7"/>
    <p:sldLayoutId id="2147483697" r:id="rId8"/>
    <p:sldLayoutId id="2147483698" r:id="rId9"/>
    <p:sldLayoutId id="2147483699" r:id="rId10"/>
    <p:sldLayoutId id="2147483700" r:id="rId11"/>
    <p:sldLayoutId id="2147483705" r:id="rId12"/>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2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0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39" y="60340"/>
            <a:ext cx="8078342" cy="555684"/>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3" name="Text Placeholder 2"/>
          <p:cNvSpPr>
            <a:spLocks noGrp="1"/>
          </p:cNvSpPr>
          <p:nvPr>
            <p:ph type="body" idx="1"/>
          </p:nvPr>
        </p:nvSpPr>
        <p:spPr>
          <a:xfrm>
            <a:off x="857224" y="714356"/>
            <a:ext cx="8001056" cy="541180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fld id="{6850F96E-6F6D-4D0D-972E-D998A0AAFE20}" type="datetimeFigureOut">
              <a:rPr lang="id-ID" smtClean="0">
                <a:solidFill>
                  <a:prstClr val="black">
                    <a:tint val="75000"/>
                  </a:prstClr>
                </a:solidFill>
                <a:latin typeface="Calibri"/>
                <a:ea typeface="+mn-ea"/>
              </a:rPr>
              <a:pPr fontAlgn="auto">
                <a:spcBef>
                  <a:spcPts val="0"/>
                </a:spcBef>
                <a:spcAft>
                  <a:spcPts val="0"/>
                </a:spcAft>
              </a:pPr>
              <a:t>23/02/2016</a:t>
            </a:fld>
            <a:endParaRPr lang="id-ID">
              <a:solidFill>
                <a:prstClr val="black">
                  <a:tint val="75000"/>
                </a:prstClr>
              </a:solidFill>
              <a:latin typeface="Calibri"/>
              <a:ea typeface="+mn-ea"/>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endParaRPr lang="id-ID">
              <a:solidFill>
                <a:prstClr val="black">
                  <a:tint val="75000"/>
                </a:prstClr>
              </a:solidFill>
              <a:latin typeface="Calibri"/>
              <a:ea typeface="+mn-ea"/>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64F85C5B-36B0-4340-AACF-C6B850C3739B}" type="slidenum">
              <a:rPr lang="id-ID" smtClean="0">
                <a:solidFill>
                  <a:prstClr val="black">
                    <a:tint val="75000"/>
                  </a:prstClr>
                </a:solidFill>
                <a:latin typeface="Calibri"/>
                <a:ea typeface="+mn-ea"/>
              </a:rPr>
              <a:pPr fontAlgn="auto">
                <a:spcBef>
                  <a:spcPts val="0"/>
                </a:spcBef>
                <a:spcAft>
                  <a:spcPts val="0"/>
                </a:spcAft>
              </a:pPr>
              <a:t>‹#›</a:t>
            </a:fld>
            <a:endParaRPr lang="id-ID">
              <a:solidFill>
                <a:prstClr val="black">
                  <a:tint val="75000"/>
                </a:prstClr>
              </a:solidFill>
              <a:latin typeface="Calibri"/>
              <a:ea typeface="+mn-ea"/>
            </a:endParaRPr>
          </a:p>
        </p:txBody>
      </p:sp>
    </p:spTree>
    <p:extLst>
      <p:ext uri="{BB962C8B-B14F-4D97-AF65-F5344CB8AC3E}">
        <p14:creationId xmlns:p14="http://schemas.microsoft.com/office/powerpoint/2010/main" val="41550009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Lst>
  <p:timing>
    <p:tnLst>
      <p:par>
        <p:cTn id="1" dur="indefinite" restart="never" nodeType="tmRoot"/>
      </p:par>
    </p:tnLst>
  </p:timing>
  <p:txStyles>
    <p:titleStyle>
      <a:lvl1pPr algn="l" defTabSz="914400" rtl="0" eaLnBrk="1" latinLnBrk="0" hangingPunct="1">
        <a:spcBef>
          <a:spcPct val="0"/>
        </a:spcBef>
        <a:buNone/>
        <a:defRPr sz="3200" b="1" kern="1200">
          <a:solidFill>
            <a:schemeClr val="bg1"/>
          </a:solidFill>
          <a:effectLst>
            <a:outerShdw blurRad="38100" dist="38100" dir="2700000" algn="tl">
              <a:srgbClr val="000000">
                <a:alpha val="43137"/>
              </a:srgbClr>
            </a:outerShd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
        <a:defRPr sz="2200" kern="1200">
          <a:solidFill>
            <a:schemeClr val="tx1"/>
          </a:solidFill>
          <a:latin typeface="+mn-lt"/>
          <a:ea typeface="+mn-ea"/>
          <a:cs typeface="+mn-cs"/>
        </a:defRPr>
      </a:lvl2pPr>
      <a:lvl3pPr marL="1143000" indent="-228600" algn="l" defTabSz="914400" rtl="0" eaLnBrk="1" latinLnBrk="0" hangingPunct="1">
        <a:spcBef>
          <a:spcPct val="20000"/>
        </a:spcBef>
        <a:buFont typeface="Wingdings" pitchFamily="2" charset="2"/>
        <a:buChar char="ü"/>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0.jpeg"/><Relationship Id="rId5" Type="http://schemas.openxmlformats.org/officeDocument/2006/relationships/hyperlink" Target="http://www.youtube.com/watch?v=YZCoX9tsT1E&amp;feature=player_embedded" TargetMode="Externa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2286000" y="5500688"/>
            <a:ext cx="6700838" cy="642937"/>
          </a:xfrm>
        </p:spPr>
        <p:txBody>
          <a:bodyPr rtlCol="0" anchor="ctr">
            <a:normAutofit/>
          </a:bodyPr>
          <a:lstStyle/>
          <a:p>
            <a:pPr eaLnBrk="1" fontAlgn="auto" hangingPunct="1">
              <a:spcAft>
                <a:spcPts val="0"/>
              </a:spcAft>
              <a:defRPr/>
            </a:pPr>
            <a:r>
              <a:rPr lang="en-US" dirty="0" smtClean="0">
                <a:solidFill>
                  <a:schemeClr val="bg1"/>
                </a:solidFill>
                <a:ea typeface="+mn-ea"/>
              </a:rPr>
              <a:t>Externalities</a:t>
            </a:r>
            <a:endParaRPr lang="id-ID" dirty="0">
              <a:solidFill>
                <a:schemeClr val="bg1"/>
              </a:solidFill>
              <a:ea typeface="+mn-ea"/>
            </a:endParaRPr>
          </a:p>
        </p:txBody>
      </p:sp>
      <p:sp>
        <p:nvSpPr>
          <p:cNvPr id="4" name="Title 3"/>
          <p:cNvSpPr>
            <a:spLocks noGrp="1"/>
          </p:cNvSpPr>
          <p:nvPr>
            <p:ph type="ctrTitle"/>
          </p:nvPr>
        </p:nvSpPr>
        <p:spPr/>
        <p:txBody>
          <a:bodyPr/>
          <a:lstStyle/>
          <a:p>
            <a:r>
              <a:rPr lang="en-US" dirty="0" smtClean="0"/>
              <a:t>Chapter 16</a:t>
            </a:r>
            <a:endParaRPr lang="en-US" dirty="0"/>
          </a:p>
        </p:txBody>
      </p:sp>
      <p:sp>
        <p:nvSpPr>
          <p:cNvPr id="5" name="Content Placeholder 7"/>
          <p:cNvSpPr txBox="1">
            <a:spLocks/>
          </p:cNvSpPr>
          <p:nvPr/>
        </p:nvSpPr>
        <p:spPr>
          <a:xfrm>
            <a:off x="4434840" y="-1416"/>
            <a:ext cx="4709160" cy="4053773"/>
          </a:xfrm>
          <a:prstGeom prst="rect">
            <a:avLst/>
          </a:prstGeom>
          <a:solidFill>
            <a:srgbClr val="CA5E70"/>
          </a:solidFill>
        </p:spPr>
        <p:txBody>
          <a:bodyPr/>
          <a:lstStyle>
            <a:lvl1pPr marL="342900" indent="-3429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1pPr>
            <a:lvl2pPr marL="457200" indent="0" algn="ctr" rtl="0" eaLnBrk="0" fontAlgn="base" hangingPunct="0">
              <a:spcBef>
                <a:spcPct val="20000"/>
              </a:spcBef>
              <a:spcAft>
                <a:spcPct val="0"/>
              </a:spcAft>
              <a:buFont typeface="Wingdings" pitchFamily="2" charset="2"/>
              <a:buNone/>
              <a:defRPr sz="4400" b="1" kern="1200">
                <a:solidFill>
                  <a:schemeClr val="bg1"/>
                </a:solidFill>
                <a:effectLst>
                  <a:outerShdw blurRad="38100" dist="38100" dir="2700000" algn="tl">
                    <a:srgbClr val="000000">
                      <a:alpha val="43137"/>
                    </a:srgbClr>
                  </a:outerShdw>
                </a:effectLst>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0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r"/>
            <a:r>
              <a:rPr lang="en-US" sz="3200" b="0" dirty="0" smtClean="0">
                <a:solidFill>
                  <a:schemeClr val="accent6"/>
                </a:solidFill>
                <a:effectLst/>
              </a:rPr>
              <a:t>THIRD EDITION</a:t>
            </a:r>
          </a:p>
          <a:p>
            <a:pPr lvl="1" algn="r"/>
            <a:r>
              <a:rPr lang="en-US" sz="4000" dirty="0" smtClean="0"/>
              <a:t>ECONOMICS</a:t>
            </a:r>
          </a:p>
          <a:p>
            <a:pPr lvl="1" algn="r"/>
            <a:r>
              <a:rPr lang="en-US" sz="4000" dirty="0" smtClean="0">
                <a:effectLst/>
              </a:rPr>
              <a:t>and</a:t>
            </a:r>
            <a:endParaRPr lang="en-US" sz="4000" dirty="0">
              <a:effectLst/>
            </a:endParaRPr>
          </a:p>
          <a:p>
            <a:pPr lvl="1" algn="r"/>
            <a:r>
              <a:rPr lang="en-US" sz="3900" dirty="0" smtClean="0"/>
              <a:t>MICROECONOMICS</a:t>
            </a:r>
            <a:br>
              <a:rPr lang="en-US" sz="3900" dirty="0" smtClean="0"/>
            </a:br>
            <a:r>
              <a:rPr lang="en-US" sz="2400" b="0" dirty="0" smtClean="0">
                <a:effectLst/>
              </a:rPr>
              <a:t>Paul Krugman | Robin Wells</a:t>
            </a:r>
            <a:endParaRPr lang="en-US" sz="2400" b="0" dirty="0">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ontent Placeholder 4"/>
          <p:cNvSpPr>
            <a:spLocks noGrp="1"/>
          </p:cNvSpPr>
          <p:nvPr>
            <p:ph sz="half" idx="2"/>
          </p:nvPr>
        </p:nvSpPr>
        <p:spPr/>
        <p:txBody>
          <a:bodyPr/>
          <a:lstStyle/>
          <a:p>
            <a:r>
              <a:rPr lang="en-US" dirty="0" smtClean="0"/>
              <a:t>What externalities are and why they can lead to inefficiency and government intervention in a market</a:t>
            </a:r>
          </a:p>
          <a:p>
            <a:r>
              <a:rPr lang="en-US" dirty="0" smtClean="0"/>
              <a:t>The difference between negative, positive, and network externalities </a:t>
            </a:r>
          </a:p>
          <a:p>
            <a:r>
              <a:rPr lang="en-US" dirty="0" smtClean="0"/>
              <a:t>The importance of the Coase theorem, which explains how private individuals can sometimes solve externalities </a:t>
            </a:r>
          </a:p>
          <a:p>
            <a:r>
              <a:rPr lang="en-US" dirty="0" smtClean="0"/>
              <a:t>Why some government policies to deal with externalities—such as emissions taxes, tradable permits, or Pigouvian subsidies—are efficient, but others—like environmental standards—are inefficient</a:t>
            </a:r>
          </a:p>
          <a:p>
            <a:endParaRPr lang="id-ID" dirty="0"/>
          </a:p>
        </p:txBody>
      </p:sp>
      <p:sp>
        <p:nvSpPr>
          <p:cNvPr id="3" name="TextBox 2"/>
          <p:cNvSpPr txBox="1"/>
          <p:nvPr/>
        </p:nvSpPr>
        <p:spPr>
          <a:xfrm>
            <a:off x="146058" y="1857364"/>
            <a:ext cx="2493902" cy="2062103"/>
          </a:xfrm>
          <a:prstGeom prst="rect">
            <a:avLst/>
          </a:prstGeom>
          <a:noFill/>
        </p:spPr>
        <p:txBody>
          <a:bodyPr wrap="square" rtlCol="0">
            <a:spAutoFit/>
          </a:bodyPr>
          <a:lstStyle/>
          <a:p>
            <a:pPr algn="ctr" fontAlgn="auto">
              <a:spcBef>
                <a:spcPts val="0"/>
              </a:spcBef>
              <a:spcAft>
                <a:spcPts val="0"/>
              </a:spcAft>
            </a:pPr>
            <a:r>
              <a:rPr lang="id-ID" sz="3200" b="1" dirty="0" smtClean="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pPr>
            <a:r>
              <a:rPr lang="id-ID" sz="3200" b="1" dirty="0" smtClean="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pPr>
            <a:r>
              <a:rPr lang="id-ID" sz="3200" b="1" dirty="0" smtClean="0">
                <a:solidFill>
                  <a:prstClr val="white"/>
                </a:solidFill>
                <a:effectLst>
                  <a:outerShdw blurRad="38100" dist="38100" dir="2700000" algn="tl">
                    <a:srgbClr val="000000">
                      <a:alpha val="43137"/>
                    </a:srgbClr>
                  </a:outerShdw>
                </a:effectLst>
                <a:latin typeface="Calibri"/>
                <a:ea typeface="+mn-ea"/>
              </a:rPr>
              <a:t>IN THIS CHAPTER</a:t>
            </a:r>
            <a:endParaRPr lang="id-ID" sz="3200" b="1" dirty="0">
              <a:solidFill>
                <a:prstClr val="white"/>
              </a:solidFill>
              <a:effectLst>
                <a:outerShdw blurRad="38100" dist="38100" dir="2700000" algn="tl">
                  <a:srgbClr val="000000">
                    <a:alpha val="43137"/>
                  </a:srgbClr>
                </a:outerShdw>
              </a:effectLst>
              <a:latin typeface="Calibri"/>
              <a:ea typeface="+mn-ea"/>
            </a:endParaRPr>
          </a:p>
        </p:txBody>
      </p:sp>
    </p:spTree>
    <p:extLst>
      <p:ext uri="{BB962C8B-B14F-4D97-AF65-F5344CB8AC3E}">
        <p14:creationId xmlns:p14="http://schemas.microsoft.com/office/powerpoint/2010/main" val="17823221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pPr eaLnBrk="1" hangingPunct="1">
              <a:defRPr/>
            </a:pPr>
            <a:r>
              <a:rPr lang="en-US" spc="0" dirty="0"/>
              <a:t>Externalities</a:t>
            </a:r>
          </a:p>
        </p:txBody>
      </p:sp>
      <p:sp>
        <p:nvSpPr>
          <p:cNvPr id="52229" name="Rectangle 3"/>
          <p:cNvSpPr>
            <a:spLocks noGrp="1" noChangeArrowheads="1"/>
          </p:cNvSpPr>
          <p:nvPr>
            <p:ph idx="1"/>
          </p:nvPr>
        </p:nvSpPr>
        <p:spPr>
          <a:xfrm>
            <a:off x="839482" y="836712"/>
            <a:ext cx="8052998" cy="2376264"/>
          </a:xfrm>
        </p:spPr>
        <p:txBody>
          <a:bodyPr>
            <a:normAutofit/>
          </a:bodyPr>
          <a:lstStyle/>
          <a:p>
            <a:pPr eaLnBrk="1" hangingPunct="1">
              <a:lnSpc>
                <a:spcPct val="90000"/>
              </a:lnSpc>
            </a:pPr>
            <a:r>
              <a:rPr lang="en-US" sz="2800" b="1" i="1" dirty="0" smtClean="0">
                <a:solidFill>
                  <a:schemeClr val="accent6">
                    <a:lumMod val="50000"/>
                  </a:schemeClr>
                </a:solidFill>
              </a:rPr>
              <a:t>Externalities</a:t>
            </a:r>
            <a:r>
              <a:rPr lang="en-US" sz="2800" dirty="0" smtClean="0">
                <a:solidFill>
                  <a:schemeClr val="accent6">
                    <a:lumMod val="50000"/>
                  </a:schemeClr>
                </a:solidFill>
              </a:rPr>
              <a:t> (or spillovers) </a:t>
            </a:r>
            <a:r>
              <a:rPr lang="en-US" sz="2800" dirty="0" smtClean="0"/>
              <a:t>are the impacts on third parties of an action</a:t>
            </a:r>
            <a:endParaRPr lang="en-US" sz="2800" dirty="0"/>
          </a:p>
        </p:txBody>
      </p:sp>
      <p:pic>
        <p:nvPicPr>
          <p:cNvPr id="52230" name="Picture 8" descr="HalongOldMan.jpg"/>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6469509" y="1419200"/>
            <a:ext cx="2566987" cy="3810000"/>
          </a:xfrm>
          <a:prstGeom prst="roundRect">
            <a:avLst>
              <a:gd name="adj" fmla="val 8594"/>
            </a:avLst>
          </a:prstGeom>
          <a:solidFill>
            <a:srgbClr val="FFFFFF">
              <a:shade val="85000"/>
            </a:srgbClr>
          </a:solidFill>
          <a:ln>
            <a:noFill/>
          </a:ln>
          <a:effectLst>
            <a:reflection blurRad="6350" stA="25000" endPos="25000" dir="5400000" sy="-100000" algn="bl" rotWithShape="0"/>
          </a:effectLst>
        </p:spPr>
      </p:pic>
      <p:sp>
        <p:nvSpPr>
          <p:cNvPr id="6" name="Rectangle 3"/>
          <p:cNvSpPr txBox="1">
            <a:spLocks noChangeArrowheads="1"/>
          </p:cNvSpPr>
          <p:nvPr/>
        </p:nvSpPr>
        <p:spPr>
          <a:xfrm>
            <a:off x="1187624" y="1772816"/>
            <a:ext cx="4940621" cy="28803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
              <a:defRPr sz="2200" kern="1200">
                <a:solidFill>
                  <a:schemeClr val="tx1"/>
                </a:solidFill>
                <a:latin typeface="+mn-lt"/>
                <a:ea typeface="+mn-ea"/>
                <a:cs typeface="+mn-cs"/>
              </a:defRPr>
            </a:lvl2pPr>
            <a:lvl3pPr marL="1143000" indent="-228600" algn="l" defTabSz="914400" rtl="0" eaLnBrk="1" latinLnBrk="0" hangingPunct="1">
              <a:spcBef>
                <a:spcPct val="20000"/>
              </a:spcBef>
              <a:buFont typeface="Wingdings" pitchFamily="2" charset="2"/>
              <a:buChar char="ü"/>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90000"/>
              </a:lnSpc>
              <a:spcAft>
                <a:spcPts val="0"/>
              </a:spcAft>
            </a:pPr>
            <a:r>
              <a:rPr lang="en-US" sz="2700" b="1" i="1" dirty="0" smtClean="0">
                <a:solidFill>
                  <a:srgbClr val="990033"/>
                </a:solidFill>
              </a:rPr>
              <a:t>Negative externality</a:t>
            </a:r>
            <a:r>
              <a:rPr lang="en-US" sz="2700" i="1" dirty="0" smtClean="0">
                <a:solidFill>
                  <a:srgbClr val="990033"/>
                </a:solidFill>
              </a:rPr>
              <a:t>: </a:t>
            </a:r>
            <a:br>
              <a:rPr lang="en-US" sz="2700" i="1" dirty="0" smtClean="0">
                <a:solidFill>
                  <a:srgbClr val="990033"/>
                </a:solidFill>
              </a:rPr>
            </a:br>
            <a:r>
              <a:rPr lang="en-US" sz="2700" dirty="0" smtClean="0"/>
              <a:t>If an action imposes</a:t>
            </a:r>
            <a:r>
              <a:rPr lang="en-US" sz="2700" b="1" dirty="0" smtClean="0"/>
              <a:t> </a:t>
            </a:r>
            <a:r>
              <a:rPr lang="en-US" sz="2700" b="1" dirty="0" smtClean="0">
                <a:solidFill>
                  <a:srgbClr val="FF0000"/>
                </a:solidFill>
              </a:rPr>
              <a:t>costs on others</a:t>
            </a:r>
            <a:r>
              <a:rPr lang="en-US" sz="2700" b="1" dirty="0" smtClean="0"/>
              <a:t>, </a:t>
            </a:r>
            <a:r>
              <a:rPr lang="en-US" sz="2700" dirty="0" smtClean="0"/>
              <a:t>it is an </a:t>
            </a:r>
            <a:r>
              <a:rPr lang="en-US" sz="2700" b="1" i="1" dirty="0" smtClean="0">
                <a:solidFill>
                  <a:srgbClr val="990033"/>
                </a:solidFill>
              </a:rPr>
              <a:t>external cost</a:t>
            </a:r>
            <a:endParaRPr lang="en-US" sz="2700" i="1" dirty="0" smtClean="0">
              <a:solidFill>
                <a:srgbClr val="990033"/>
              </a:solidFill>
            </a:endParaRPr>
          </a:p>
          <a:p>
            <a:pPr fontAlgn="auto">
              <a:lnSpc>
                <a:spcPct val="90000"/>
              </a:lnSpc>
              <a:spcBef>
                <a:spcPts val="1800"/>
              </a:spcBef>
              <a:spcAft>
                <a:spcPts val="0"/>
              </a:spcAft>
            </a:pPr>
            <a:r>
              <a:rPr lang="en-US" sz="2700" b="1" i="1" dirty="0" smtClean="0">
                <a:solidFill>
                  <a:schemeClr val="accent5">
                    <a:lumMod val="50000"/>
                  </a:schemeClr>
                </a:solidFill>
              </a:rPr>
              <a:t>Positive externality:</a:t>
            </a:r>
            <a:r>
              <a:rPr lang="en-US" sz="2700" i="1" dirty="0" smtClean="0">
                <a:solidFill>
                  <a:schemeClr val="accent5">
                    <a:lumMod val="50000"/>
                  </a:schemeClr>
                </a:solidFill>
              </a:rPr>
              <a:t> </a:t>
            </a:r>
            <a:br>
              <a:rPr lang="en-US" sz="2700" i="1" dirty="0" smtClean="0">
                <a:solidFill>
                  <a:schemeClr val="accent5">
                    <a:lumMod val="50000"/>
                  </a:schemeClr>
                </a:solidFill>
              </a:rPr>
            </a:br>
            <a:r>
              <a:rPr lang="en-US" sz="2700" dirty="0" smtClean="0"/>
              <a:t>If </a:t>
            </a:r>
            <a:r>
              <a:rPr lang="en-US" sz="2700" dirty="0"/>
              <a:t>the third party </a:t>
            </a:r>
            <a:r>
              <a:rPr lang="en-US" sz="2700" b="1" dirty="0">
                <a:solidFill>
                  <a:schemeClr val="accent5">
                    <a:lumMod val="50000"/>
                  </a:schemeClr>
                </a:solidFill>
              </a:rPr>
              <a:t>benefits</a:t>
            </a:r>
            <a:r>
              <a:rPr lang="en-US" sz="2700" dirty="0"/>
              <a:t>, it is an </a:t>
            </a:r>
            <a:r>
              <a:rPr lang="en-US" sz="2700" b="1" i="1" dirty="0" smtClean="0">
                <a:solidFill>
                  <a:schemeClr val="accent5">
                    <a:lumMod val="50000"/>
                  </a:schemeClr>
                </a:solidFill>
              </a:rPr>
              <a:t>external benefit</a:t>
            </a:r>
            <a:r>
              <a:rPr lang="en-US" sz="2700" i="1" dirty="0" smtClean="0">
                <a:solidFill>
                  <a:schemeClr val="accent5">
                    <a:lumMod val="50000"/>
                  </a:schemeClr>
                </a:solidFill>
              </a:rPr>
              <a:t> </a:t>
            </a:r>
          </a:p>
        </p:txBody>
      </p:sp>
      <p:sp>
        <p:nvSpPr>
          <p:cNvPr id="7" name="Rectangle 3"/>
          <p:cNvSpPr txBox="1">
            <a:spLocks noChangeArrowheads="1"/>
          </p:cNvSpPr>
          <p:nvPr/>
        </p:nvSpPr>
        <p:spPr>
          <a:xfrm>
            <a:off x="827584" y="4437112"/>
            <a:ext cx="8376960" cy="208823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
              <a:defRPr sz="2200" kern="1200">
                <a:solidFill>
                  <a:schemeClr val="tx1"/>
                </a:solidFill>
                <a:latin typeface="+mn-lt"/>
                <a:ea typeface="+mn-ea"/>
                <a:cs typeface="+mn-cs"/>
              </a:defRPr>
            </a:lvl2pPr>
            <a:lvl3pPr marL="1143000" indent="-228600" algn="l" defTabSz="914400" rtl="0" eaLnBrk="1" latinLnBrk="0" hangingPunct="1">
              <a:spcBef>
                <a:spcPct val="20000"/>
              </a:spcBef>
              <a:buFont typeface="Wingdings" pitchFamily="2" charset="2"/>
              <a:buChar char="ü"/>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90000"/>
              </a:lnSpc>
              <a:spcAft>
                <a:spcPts val="0"/>
              </a:spcAft>
            </a:pPr>
            <a:r>
              <a:rPr lang="en-US" sz="2800" dirty="0" smtClean="0"/>
              <a:t>When there are externalities, the </a:t>
            </a:r>
            <a:br>
              <a:rPr lang="en-US" sz="2800" dirty="0" smtClean="0"/>
            </a:br>
            <a:r>
              <a:rPr lang="en-US" sz="2800" dirty="0" smtClean="0"/>
              <a:t>free-market </a:t>
            </a:r>
            <a:r>
              <a:rPr lang="en-US" sz="2800" dirty="0"/>
              <a:t>equilibrium </a:t>
            </a:r>
            <a:r>
              <a:rPr lang="en-US" sz="2800" dirty="0" smtClean="0"/>
              <a:t>is</a:t>
            </a:r>
            <a:r>
              <a:rPr lang="en-US" sz="2800" b="1" dirty="0" smtClean="0"/>
              <a:t> not </a:t>
            </a:r>
            <a:br>
              <a:rPr lang="en-US" sz="2800" b="1" dirty="0" smtClean="0"/>
            </a:br>
            <a:r>
              <a:rPr lang="en-US" sz="2800" b="1" dirty="0" smtClean="0"/>
              <a:t>socially optimal</a:t>
            </a:r>
          </a:p>
          <a:p>
            <a:pPr fontAlgn="auto">
              <a:lnSpc>
                <a:spcPct val="90000"/>
              </a:lnSpc>
              <a:spcBef>
                <a:spcPts val="1200"/>
              </a:spcBef>
              <a:spcAft>
                <a:spcPts val="0"/>
              </a:spcAft>
            </a:pPr>
            <a:r>
              <a:rPr lang="en-US" sz="2800" dirty="0" smtClean="0"/>
              <a:t>There is a </a:t>
            </a:r>
            <a:r>
              <a:rPr lang="en-US" sz="2800" b="1" dirty="0" smtClean="0">
                <a:solidFill>
                  <a:schemeClr val="accent6">
                    <a:lumMod val="50000"/>
                  </a:schemeClr>
                </a:solidFill>
              </a:rPr>
              <a:t>Market Failure</a:t>
            </a:r>
            <a:r>
              <a:rPr lang="en-US" sz="2800" dirty="0" smtClean="0"/>
              <a:t>: </a:t>
            </a:r>
            <a:br>
              <a:rPr lang="en-US" sz="2800" dirty="0" smtClean="0"/>
            </a:br>
            <a:r>
              <a:rPr lang="en-US" sz="2800" dirty="0" smtClean="0"/>
              <a:t>the market outcome is not efficient</a:t>
            </a:r>
            <a:endParaRPr lang="en-US" sz="2800" dirty="0"/>
          </a:p>
          <a:p>
            <a:pPr fontAlgn="auto">
              <a:lnSpc>
                <a:spcPct val="90000"/>
              </a:lnSpc>
              <a:spcAft>
                <a:spcPts val="0"/>
              </a:spcAft>
            </a:pPr>
            <a:endParaRPr lang="en-US" sz="2800" i="1" dirty="0">
              <a:solidFill>
                <a:srgbClr val="990033"/>
              </a:solidFill>
            </a:endParaRPr>
          </a:p>
        </p:txBody>
      </p:sp>
    </p:spTree>
    <p:extLst>
      <p:ext uri="{BB962C8B-B14F-4D97-AF65-F5344CB8AC3E}">
        <p14:creationId xmlns:p14="http://schemas.microsoft.com/office/powerpoint/2010/main" val="29962951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spc="0" dirty="0" smtClean="0"/>
              <a:t>Positive and Negative Externalities</a:t>
            </a:r>
            <a:endParaRPr lang="en-US" spc="0" dirty="0"/>
          </a:p>
        </p:txBody>
      </p:sp>
      <p:sp>
        <p:nvSpPr>
          <p:cNvPr id="3" name="Content Placeholder 2"/>
          <p:cNvSpPr>
            <a:spLocks noGrp="1"/>
          </p:cNvSpPr>
          <p:nvPr>
            <p:ph idx="1"/>
          </p:nvPr>
        </p:nvSpPr>
        <p:spPr>
          <a:xfrm>
            <a:off x="735807" y="914400"/>
            <a:ext cx="5492377" cy="5466928"/>
          </a:xfrm>
        </p:spPr>
        <p:txBody>
          <a:bodyPr>
            <a:normAutofit lnSpcReduction="10000"/>
          </a:bodyPr>
          <a:lstStyle/>
          <a:p>
            <a:pPr eaLnBrk="1" hangingPunct="1">
              <a:lnSpc>
                <a:spcPct val="90000"/>
              </a:lnSpc>
            </a:pPr>
            <a:r>
              <a:rPr lang="en-US" sz="2600" dirty="0" smtClean="0"/>
              <a:t>Examples of </a:t>
            </a:r>
            <a:r>
              <a:rPr lang="en-US" sz="2600" dirty="0"/>
              <a:t>situations with </a:t>
            </a:r>
            <a:r>
              <a:rPr lang="en-US" sz="2600" dirty="0" smtClean="0"/>
              <a:t>external costs: </a:t>
            </a:r>
          </a:p>
          <a:p>
            <a:pPr marL="914400" lvl="1" indent="-457200">
              <a:lnSpc>
                <a:spcPct val="90000"/>
              </a:lnSpc>
              <a:buBlip>
                <a:blip r:embed="rId3"/>
              </a:buBlip>
            </a:pPr>
            <a:r>
              <a:rPr lang="en-US" sz="2600" i="1" dirty="0" smtClean="0">
                <a:solidFill>
                  <a:schemeClr val="tx1">
                    <a:lumMod val="75000"/>
                    <a:lumOff val="25000"/>
                  </a:schemeClr>
                </a:solidFill>
              </a:rPr>
              <a:t>Air and water pollution </a:t>
            </a:r>
          </a:p>
          <a:p>
            <a:pPr marL="914400" lvl="1" indent="-457200">
              <a:lnSpc>
                <a:spcPct val="90000"/>
              </a:lnSpc>
              <a:buBlip>
                <a:blip r:embed="rId3"/>
              </a:buBlip>
            </a:pPr>
            <a:r>
              <a:rPr lang="en-US" sz="2600" i="1" dirty="0" smtClean="0">
                <a:solidFill>
                  <a:schemeClr val="tx1">
                    <a:lumMod val="75000"/>
                    <a:lumOff val="25000"/>
                  </a:schemeClr>
                </a:solidFill>
              </a:rPr>
              <a:t>Texting on phone while driving </a:t>
            </a:r>
          </a:p>
          <a:p>
            <a:pPr marL="914400" lvl="1" indent="-457200">
              <a:lnSpc>
                <a:spcPct val="90000"/>
              </a:lnSpc>
              <a:buBlip>
                <a:blip r:embed="rId3"/>
              </a:buBlip>
            </a:pPr>
            <a:r>
              <a:rPr lang="en-US" sz="2600" i="1" dirty="0" smtClean="0">
                <a:solidFill>
                  <a:schemeClr val="tx1">
                    <a:lumMod val="75000"/>
                    <a:lumOff val="25000"/>
                  </a:schemeClr>
                </a:solidFill>
              </a:rPr>
              <a:t>Depletion </a:t>
            </a:r>
            <a:r>
              <a:rPr lang="en-US" sz="2600" i="1" dirty="0">
                <a:solidFill>
                  <a:schemeClr val="tx1">
                    <a:lumMod val="75000"/>
                    <a:lumOff val="25000"/>
                  </a:schemeClr>
                </a:solidFill>
              </a:rPr>
              <a:t>of </a:t>
            </a:r>
            <a:r>
              <a:rPr lang="en-US" sz="2600" i="1" dirty="0" smtClean="0">
                <a:solidFill>
                  <a:schemeClr val="tx1">
                    <a:lumMod val="75000"/>
                    <a:lumOff val="25000"/>
                  </a:schemeClr>
                </a:solidFill>
              </a:rPr>
              <a:t>fish </a:t>
            </a:r>
            <a:r>
              <a:rPr lang="en-US" sz="2600" i="1" dirty="0">
                <a:solidFill>
                  <a:schemeClr val="tx1">
                    <a:lumMod val="75000"/>
                    <a:lumOff val="25000"/>
                  </a:schemeClr>
                </a:solidFill>
              </a:rPr>
              <a:t>in the ocean due to </a:t>
            </a:r>
            <a:r>
              <a:rPr lang="en-US" sz="2600" i="1" dirty="0" smtClean="0">
                <a:solidFill>
                  <a:schemeClr val="tx1">
                    <a:lumMod val="75000"/>
                    <a:lumOff val="25000"/>
                  </a:schemeClr>
                </a:solidFill>
              </a:rPr>
              <a:t>overfishing</a:t>
            </a:r>
          </a:p>
          <a:p>
            <a:pPr marL="914400" lvl="1" indent="-457200">
              <a:lnSpc>
                <a:spcPct val="90000"/>
              </a:lnSpc>
              <a:buBlip>
                <a:blip r:embed="rId3"/>
              </a:buBlip>
            </a:pPr>
            <a:endParaRPr lang="en-US" sz="2600" dirty="0" smtClean="0"/>
          </a:p>
          <a:p>
            <a:pPr eaLnBrk="1" hangingPunct="1">
              <a:lnSpc>
                <a:spcPct val="90000"/>
              </a:lnSpc>
            </a:pPr>
            <a:r>
              <a:rPr lang="en-US" sz="2600" dirty="0" smtClean="0"/>
              <a:t>Examples of situations with </a:t>
            </a:r>
            <a:br>
              <a:rPr lang="en-US" sz="2600" dirty="0" smtClean="0"/>
            </a:br>
            <a:r>
              <a:rPr lang="en-US" sz="2600" dirty="0" smtClean="0"/>
              <a:t>external benefits: </a:t>
            </a:r>
          </a:p>
          <a:p>
            <a:pPr marL="914400" lvl="1" indent="-457200">
              <a:lnSpc>
                <a:spcPct val="90000"/>
              </a:lnSpc>
              <a:buBlip>
                <a:blip r:embed="rId3"/>
              </a:buBlip>
            </a:pPr>
            <a:r>
              <a:rPr lang="en-US" sz="2600" i="1" dirty="0" smtClean="0">
                <a:solidFill>
                  <a:schemeClr val="tx1">
                    <a:lumMod val="75000"/>
                    <a:lumOff val="25000"/>
                  </a:schemeClr>
                </a:solidFill>
              </a:rPr>
              <a:t>Education </a:t>
            </a:r>
            <a:endParaRPr lang="en-US" sz="2600" i="1" dirty="0">
              <a:solidFill>
                <a:schemeClr val="tx1">
                  <a:lumMod val="75000"/>
                  <a:lumOff val="25000"/>
                </a:schemeClr>
              </a:solidFill>
            </a:endParaRPr>
          </a:p>
          <a:p>
            <a:pPr marL="914400" lvl="1" indent="-457200">
              <a:lnSpc>
                <a:spcPct val="90000"/>
              </a:lnSpc>
              <a:buBlip>
                <a:blip r:embed="rId3"/>
              </a:buBlip>
            </a:pPr>
            <a:r>
              <a:rPr lang="en-US" sz="2600" i="1" dirty="0" smtClean="0">
                <a:solidFill>
                  <a:schemeClr val="tx1">
                    <a:lumMod val="75000"/>
                    <a:lumOff val="25000"/>
                  </a:schemeClr>
                </a:solidFill>
              </a:rPr>
              <a:t>Beehives </a:t>
            </a:r>
            <a:r>
              <a:rPr lang="en-US" sz="2600" i="1" dirty="0">
                <a:solidFill>
                  <a:schemeClr val="tx1">
                    <a:lumMod val="75000"/>
                    <a:lumOff val="25000"/>
                  </a:schemeClr>
                </a:solidFill>
              </a:rPr>
              <a:t>next to </a:t>
            </a:r>
            <a:r>
              <a:rPr lang="en-US" sz="2600" i="1" dirty="0" smtClean="0">
                <a:solidFill>
                  <a:schemeClr val="tx1">
                    <a:lumMod val="75000"/>
                    <a:lumOff val="25000"/>
                  </a:schemeClr>
                </a:solidFill>
              </a:rPr>
              <a:t>fruit </a:t>
            </a:r>
            <a:br>
              <a:rPr lang="en-US" sz="2600" i="1" dirty="0" smtClean="0">
                <a:solidFill>
                  <a:schemeClr val="tx1">
                    <a:lumMod val="75000"/>
                    <a:lumOff val="25000"/>
                  </a:schemeClr>
                </a:solidFill>
              </a:rPr>
            </a:br>
            <a:r>
              <a:rPr lang="en-US" sz="2600" i="1" dirty="0" smtClean="0">
                <a:solidFill>
                  <a:schemeClr val="tx1">
                    <a:lumMod val="75000"/>
                    <a:lumOff val="25000"/>
                  </a:schemeClr>
                </a:solidFill>
              </a:rPr>
              <a:t>orchards</a:t>
            </a:r>
          </a:p>
          <a:p>
            <a:pPr marL="914400" lvl="1" indent="-457200">
              <a:lnSpc>
                <a:spcPct val="90000"/>
              </a:lnSpc>
              <a:buBlip>
                <a:blip r:embed="rId3"/>
              </a:buBlip>
            </a:pPr>
            <a:r>
              <a:rPr lang="en-US" sz="2600" i="1" dirty="0" smtClean="0">
                <a:solidFill>
                  <a:schemeClr val="tx1">
                    <a:lumMod val="75000"/>
                    <a:lumOff val="25000"/>
                  </a:schemeClr>
                </a:solidFill>
              </a:rPr>
              <a:t>Vaccination </a:t>
            </a:r>
            <a:r>
              <a:rPr lang="en-US" sz="2600" i="1" dirty="0">
                <a:solidFill>
                  <a:schemeClr val="tx1">
                    <a:lumMod val="75000"/>
                    <a:lumOff val="25000"/>
                  </a:schemeClr>
                </a:solidFill>
              </a:rPr>
              <a:t>against </a:t>
            </a:r>
            <a:r>
              <a:rPr lang="en-US" sz="2600" i="1" dirty="0" smtClean="0">
                <a:solidFill>
                  <a:schemeClr val="tx1">
                    <a:lumMod val="75000"/>
                    <a:lumOff val="25000"/>
                  </a:schemeClr>
                </a:solidFill>
              </a:rPr>
              <a:t/>
            </a:r>
            <a:br>
              <a:rPr lang="en-US" sz="2600" i="1" dirty="0" smtClean="0">
                <a:solidFill>
                  <a:schemeClr val="tx1">
                    <a:lumMod val="75000"/>
                    <a:lumOff val="25000"/>
                  </a:schemeClr>
                </a:solidFill>
              </a:rPr>
            </a:br>
            <a:r>
              <a:rPr lang="en-US" sz="2600" i="1" dirty="0" smtClean="0">
                <a:solidFill>
                  <a:schemeClr val="tx1">
                    <a:lumMod val="75000"/>
                    <a:lumOff val="25000"/>
                  </a:schemeClr>
                </a:solidFill>
              </a:rPr>
              <a:t>infectious diseases</a:t>
            </a:r>
            <a:endParaRPr lang="en-US" sz="2600" i="1" dirty="0">
              <a:solidFill>
                <a:schemeClr val="tx1">
                  <a:lumMod val="75000"/>
                  <a:lumOff val="25000"/>
                </a:schemeClr>
              </a:solidFill>
            </a:endParaRPr>
          </a:p>
        </p:txBody>
      </p:sp>
      <p:pic>
        <p:nvPicPr>
          <p:cNvPr id="8" name="Picture 7"/>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6653213" y="914400"/>
            <a:ext cx="2490787" cy="3105150"/>
          </a:xfrm>
          <a:prstGeom prst="rect">
            <a:avLst/>
          </a:prstGeom>
          <a:noFill/>
          <a:ln w="9525">
            <a:noFill/>
            <a:miter lim="800000"/>
            <a:headEnd/>
            <a:tailEnd/>
          </a:ln>
        </p:spPr>
      </p:pic>
      <p:pic>
        <p:nvPicPr>
          <p:cNvPr id="9" name="Picture 8" descr="Flower013.jpg">
            <a:hlinkClick r:id="rId5"/>
          </p:cNvPr>
          <p:cNvPicPr>
            <a:picLocks noChangeAspect="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5780881" y="3225800"/>
            <a:ext cx="2382838" cy="3352800"/>
          </a:xfrm>
          <a:prstGeom prst="rect">
            <a:avLst/>
          </a:prstGeom>
          <a:noFill/>
          <a:ln w="9525">
            <a:noFill/>
            <a:miter lim="800000"/>
            <a:headEnd/>
            <a:tailEnd/>
          </a:ln>
        </p:spPr>
      </p:pic>
      <p:sp>
        <p:nvSpPr>
          <p:cNvPr id="4" name="Footer Placeholder 3"/>
          <p:cNvSpPr>
            <a:spLocks noGrp="1"/>
          </p:cNvSpPr>
          <p:nvPr>
            <p:ph type="ftr" sz="quarter" idx="4294967295"/>
          </p:nvPr>
        </p:nvSpPr>
        <p:spPr>
          <a:xfrm>
            <a:off x="2171700" y="6629400"/>
            <a:ext cx="4800600" cy="228600"/>
          </a:xfrm>
          <a:prstGeom prst="rect">
            <a:avLst/>
          </a:prstGeom>
        </p:spPr>
        <p:txBody>
          <a:bodyPr/>
          <a:lstStyle/>
          <a:p>
            <a:pPr>
              <a:defRPr/>
            </a:pPr>
            <a:r>
              <a:rPr lang="en-US" smtClean="0"/>
              <a:t>Copyright 2013 Worth Publishers</a:t>
            </a:r>
            <a:endParaRPr lang="en-US" dirty="0"/>
          </a:p>
        </p:txBody>
      </p:sp>
    </p:spTree>
    <p:extLst>
      <p:ext uri="{BB962C8B-B14F-4D97-AF65-F5344CB8AC3E}">
        <p14:creationId xmlns:p14="http://schemas.microsoft.com/office/powerpoint/2010/main" val="320445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1000"/>
                                        <p:tgtEl>
                                          <p:spTgt spid="8"/>
                                        </p:tgtEl>
                                      </p:cBhvr>
                                    </p:animEffect>
                                  </p:childTnLst>
                                </p:cTn>
                              </p:par>
                            </p:childTnLst>
                          </p:cTn>
                        </p:par>
                        <p:par>
                          <p:cTn id="8" fill="hold">
                            <p:stCondLst>
                              <p:cond delay="1000"/>
                            </p:stCondLst>
                            <p:childTnLst>
                              <p:par>
                                <p:cTn id="9" presetID="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idx="4294967295"/>
          </p:nvPr>
        </p:nvSpPr>
        <p:spPr>
          <a:xfrm>
            <a:off x="899592" y="0"/>
            <a:ext cx="8011046" cy="685800"/>
          </a:xfrm>
        </p:spPr>
        <p:txBody>
          <a:bodyPr/>
          <a:lstStyle/>
          <a:p>
            <a:pPr algn="l"/>
            <a:r>
              <a:rPr lang="en-US" sz="3200" dirty="0" smtClean="0"/>
              <a:t>Production, Consumption, and Externalities</a:t>
            </a:r>
            <a:endParaRPr lang="en-US" sz="3200" b="0" dirty="0" smtClean="0"/>
          </a:p>
        </p:txBody>
      </p:sp>
      <p:sp>
        <p:nvSpPr>
          <p:cNvPr id="90117" name="Text Box 5"/>
          <p:cNvSpPr txBox="1">
            <a:spLocks noChangeArrowheads="1"/>
          </p:cNvSpPr>
          <p:nvPr/>
        </p:nvSpPr>
        <p:spPr bwMode="auto">
          <a:xfrm>
            <a:off x="899592" y="893440"/>
            <a:ext cx="8136904" cy="5487888"/>
          </a:xfrm>
          <a:prstGeom prst="rect">
            <a:avLst/>
          </a:prstGeom>
          <a:noFill/>
          <a:ln w="9525" algn="ctr">
            <a:noFill/>
            <a:miter lim="800000"/>
            <a:headEnd/>
            <a:tailEnd type="none" w="med" len="lg"/>
          </a:ln>
        </p:spPr>
        <p:txBody>
          <a:bodyPr/>
          <a:lstStyle/>
          <a:p>
            <a:pPr marL="231775" indent="-231775">
              <a:spcBef>
                <a:spcPts val="1200"/>
              </a:spcBef>
              <a:buClr>
                <a:schemeClr val="tx1"/>
              </a:buClr>
              <a:buFont typeface="Arial" pitchFamily="34" charset="0"/>
              <a:buChar char="•"/>
            </a:pPr>
            <a:r>
              <a:rPr lang="en-US" sz="2600" dirty="0"/>
              <a:t>The </a:t>
            </a:r>
            <a:r>
              <a:rPr lang="en-US" sz="2600" b="1" dirty="0" smtClean="0">
                <a:solidFill>
                  <a:srgbClr val="FF0000"/>
                </a:solidFill>
              </a:rPr>
              <a:t>social </a:t>
            </a:r>
            <a:r>
              <a:rPr lang="en-US" sz="2600" b="1" dirty="0">
                <a:solidFill>
                  <a:srgbClr val="FF0000"/>
                </a:solidFill>
              </a:rPr>
              <a:t>cost </a:t>
            </a:r>
            <a:r>
              <a:rPr lang="en-US" sz="2600" dirty="0"/>
              <a:t>of a good or activity is equal to the </a:t>
            </a:r>
            <a:r>
              <a:rPr lang="en-US" sz="2600" dirty="0" smtClean="0"/>
              <a:t>cost </a:t>
            </a:r>
            <a:r>
              <a:rPr lang="en-US" sz="2600" dirty="0"/>
              <a:t>of production, plus its </a:t>
            </a:r>
            <a:r>
              <a:rPr lang="en-US" sz="2600" dirty="0" smtClean="0"/>
              <a:t>external </a:t>
            </a:r>
            <a:r>
              <a:rPr lang="en-US" sz="2600" dirty="0"/>
              <a:t>cost.</a:t>
            </a:r>
          </a:p>
          <a:p>
            <a:pPr marL="231775" indent="-231775">
              <a:lnSpc>
                <a:spcPct val="100000"/>
              </a:lnSpc>
              <a:spcBef>
                <a:spcPts val="1200"/>
              </a:spcBef>
              <a:buClr>
                <a:schemeClr val="tx1"/>
              </a:buClr>
              <a:buFont typeface="Arial" pitchFamily="34" charset="0"/>
              <a:buChar char="•"/>
            </a:pPr>
            <a:r>
              <a:rPr lang="en-US" sz="2600" dirty="0" smtClean="0"/>
              <a:t>When </a:t>
            </a:r>
            <a:r>
              <a:rPr lang="en-US" sz="2600" dirty="0"/>
              <a:t>there are external </a:t>
            </a:r>
            <a:r>
              <a:rPr lang="en-US" sz="2600" dirty="0" smtClean="0"/>
              <a:t>costs (e.g. pollution), </a:t>
            </a:r>
            <a:r>
              <a:rPr lang="en-US" sz="2600" dirty="0"/>
              <a:t>the </a:t>
            </a:r>
            <a:r>
              <a:rPr lang="en-US" sz="2600" b="1" i="1" dirty="0">
                <a:solidFill>
                  <a:schemeClr val="accent2">
                    <a:lumMod val="50000"/>
                  </a:schemeClr>
                </a:solidFill>
              </a:rPr>
              <a:t>marginal social cost </a:t>
            </a:r>
            <a:r>
              <a:rPr lang="en-US" sz="2600" dirty="0" smtClean="0"/>
              <a:t>exceeds a firm’s marginal </a:t>
            </a:r>
            <a:r>
              <a:rPr lang="en-US" sz="2600" dirty="0"/>
              <a:t>cost of </a:t>
            </a:r>
            <a:r>
              <a:rPr lang="en-US" sz="2600" dirty="0" smtClean="0"/>
              <a:t>production</a:t>
            </a:r>
            <a:endParaRPr lang="en-US" sz="2600" dirty="0"/>
          </a:p>
          <a:p>
            <a:pPr marL="231775" indent="-231775">
              <a:lnSpc>
                <a:spcPct val="100000"/>
              </a:lnSpc>
              <a:spcBef>
                <a:spcPts val="1200"/>
              </a:spcBef>
              <a:buClr>
                <a:schemeClr val="tx1"/>
              </a:buClr>
              <a:buFont typeface="Arial" pitchFamily="34" charset="0"/>
              <a:buChar char="•"/>
            </a:pPr>
            <a:r>
              <a:rPr lang="en-US" sz="2600" dirty="0" smtClean="0"/>
              <a:t>In </a:t>
            </a:r>
            <a:r>
              <a:rPr lang="en-US" sz="2600" dirty="0"/>
              <a:t>the absence of government intervention, the industry typically produces too much of the good.</a:t>
            </a:r>
          </a:p>
          <a:p>
            <a:pPr marL="231775" indent="-231775">
              <a:lnSpc>
                <a:spcPct val="100000"/>
              </a:lnSpc>
              <a:spcBef>
                <a:spcPts val="1200"/>
              </a:spcBef>
              <a:buClr>
                <a:schemeClr val="tx1"/>
              </a:buClr>
              <a:buFont typeface="Arial" pitchFamily="34" charset="0"/>
              <a:buChar char="•"/>
            </a:pPr>
            <a:r>
              <a:rPr lang="en-US" sz="2600" dirty="0" smtClean="0"/>
              <a:t>The </a:t>
            </a:r>
            <a:r>
              <a:rPr lang="en-US" sz="2600" dirty="0"/>
              <a:t>socially optimal quantity can be achieved by an optimal </a:t>
            </a:r>
            <a:r>
              <a:rPr lang="en-US" sz="2600" b="1" i="1" dirty="0">
                <a:solidFill>
                  <a:schemeClr val="accent2">
                    <a:lumMod val="50000"/>
                  </a:schemeClr>
                </a:solidFill>
              </a:rPr>
              <a:t>Pigouvian tax</a:t>
            </a:r>
            <a:r>
              <a:rPr lang="en-US" sz="2600" dirty="0"/>
              <a:t>, </a:t>
            </a:r>
            <a:r>
              <a:rPr lang="en-US" sz="2600" dirty="0" smtClean="0"/>
              <a:t>in order to </a:t>
            </a:r>
            <a:r>
              <a:rPr lang="en-US" sz="2600" i="1" dirty="0" smtClean="0"/>
              <a:t>internalize the externality</a:t>
            </a:r>
          </a:p>
          <a:p>
            <a:pPr marL="688975" lvl="1" indent="-231775">
              <a:spcBef>
                <a:spcPts val="1200"/>
              </a:spcBef>
              <a:buClr>
                <a:schemeClr val="tx1"/>
              </a:buClr>
              <a:buFont typeface="Arial" pitchFamily="34" charset="0"/>
              <a:buChar char="•"/>
            </a:pPr>
            <a:r>
              <a:rPr lang="en-US" sz="2600" dirty="0" smtClean="0"/>
              <a:t>The </a:t>
            </a:r>
            <a:r>
              <a:rPr lang="en-US" sz="2600" dirty="0"/>
              <a:t>optimal </a:t>
            </a:r>
            <a:r>
              <a:rPr lang="en-US" sz="2600" dirty="0" err="1"/>
              <a:t>Pigouvian</a:t>
            </a:r>
            <a:r>
              <a:rPr lang="en-US" sz="2600" dirty="0"/>
              <a:t> tax is </a:t>
            </a:r>
            <a:r>
              <a:rPr lang="en-US" sz="2600" dirty="0" smtClean="0"/>
              <a:t>set equal </a:t>
            </a:r>
            <a:r>
              <a:rPr lang="en-US" sz="2600" dirty="0"/>
              <a:t>to the marginal </a:t>
            </a:r>
            <a:r>
              <a:rPr lang="en-US" sz="2600" dirty="0" smtClean="0"/>
              <a:t>external cost</a:t>
            </a:r>
          </a:p>
        </p:txBody>
      </p:sp>
    </p:spTree>
    <p:extLst>
      <p:ext uri="{BB962C8B-B14F-4D97-AF65-F5344CB8AC3E}">
        <p14:creationId xmlns:p14="http://schemas.microsoft.com/office/powerpoint/2010/main" val="359834347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2"/>
          <p:cNvSpPr>
            <a:spLocks noGrp="1" noRot="1" noChangeArrowheads="1"/>
          </p:cNvSpPr>
          <p:nvPr>
            <p:ph type="title"/>
          </p:nvPr>
        </p:nvSpPr>
        <p:spPr>
          <a:xfrm>
            <a:off x="892969" y="60325"/>
            <a:ext cx="8071519" cy="555625"/>
          </a:xfrm>
        </p:spPr>
        <p:txBody>
          <a:bodyPr/>
          <a:lstStyle/>
          <a:p>
            <a:pPr algn="l"/>
            <a:r>
              <a:rPr lang="en-US" dirty="0" smtClean="0"/>
              <a:t>Negative Externalities and Meat Production</a:t>
            </a:r>
          </a:p>
        </p:txBody>
      </p:sp>
      <p:sp>
        <p:nvSpPr>
          <p:cNvPr id="849925" name="Line 5"/>
          <p:cNvSpPr>
            <a:spLocks noChangeShapeType="1"/>
          </p:cNvSpPr>
          <p:nvPr/>
        </p:nvSpPr>
        <p:spPr bwMode="auto">
          <a:xfrm flipV="1">
            <a:off x="1215325" y="2528888"/>
            <a:ext cx="2165350" cy="1758950"/>
          </a:xfrm>
          <a:prstGeom prst="line">
            <a:avLst/>
          </a:prstGeom>
          <a:noFill/>
          <a:ln w="30163">
            <a:solidFill>
              <a:srgbClr val="F58233"/>
            </a:solidFill>
            <a:prstDash val="sysDot"/>
            <a:miter lim="800000"/>
            <a:headEnd/>
            <a:tailEnd/>
          </a:ln>
        </p:spPr>
        <p:txBody>
          <a:bodyPr/>
          <a:lstStyle/>
          <a:p>
            <a:endParaRPr lang="en-US" dirty="0"/>
          </a:p>
        </p:txBody>
      </p:sp>
      <p:sp>
        <p:nvSpPr>
          <p:cNvPr id="849926" name="Line 6"/>
          <p:cNvSpPr>
            <a:spLocks noChangeShapeType="1"/>
          </p:cNvSpPr>
          <p:nvPr/>
        </p:nvSpPr>
        <p:spPr bwMode="auto">
          <a:xfrm flipV="1">
            <a:off x="1274763" y="3297238"/>
            <a:ext cx="2178050" cy="1768475"/>
          </a:xfrm>
          <a:prstGeom prst="line">
            <a:avLst/>
          </a:prstGeom>
          <a:noFill/>
          <a:ln w="30163">
            <a:solidFill>
              <a:srgbClr val="EE313C"/>
            </a:solidFill>
            <a:miter lim="800000"/>
            <a:headEnd/>
            <a:tailEnd/>
          </a:ln>
        </p:spPr>
        <p:txBody>
          <a:bodyPr/>
          <a:lstStyle/>
          <a:p>
            <a:endParaRPr lang="en-US" i="1" dirty="0"/>
          </a:p>
        </p:txBody>
      </p:sp>
      <p:sp>
        <p:nvSpPr>
          <p:cNvPr id="849927" name="Line 7"/>
          <p:cNvSpPr>
            <a:spLocks noChangeShapeType="1"/>
          </p:cNvSpPr>
          <p:nvPr/>
        </p:nvSpPr>
        <p:spPr bwMode="auto">
          <a:xfrm>
            <a:off x="1366838" y="2528888"/>
            <a:ext cx="1963737" cy="2179637"/>
          </a:xfrm>
          <a:prstGeom prst="line">
            <a:avLst/>
          </a:prstGeom>
          <a:noFill/>
          <a:ln w="30163">
            <a:solidFill>
              <a:srgbClr val="3C5DAA"/>
            </a:solidFill>
            <a:miter lim="800000"/>
            <a:headEnd/>
            <a:tailEnd/>
          </a:ln>
        </p:spPr>
        <p:txBody>
          <a:bodyPr/>
          <a:lstStyle/>
          <a:p>
            <a:endParaRPr lang="en-US" dirty="0"/>
          </a:p>
        </p:txBody>
      </p:sp>
      <p:sp>
        <p:nvSpPr>
          <p:cNvPr id="849929" name="Rectangle 9"/>
          <p:cNvSpPr>
            <a:spLocks noChangeArrowheads="1"/>
          </p:cNvSpPr>
          <p:nvPr/>
        </p:nvSpPr>
        <p:spPr bwMode="auto">
          <a:xfrm>
            <a:off x="3289300" y="2051050"/>
            <a:ext cx="815975" cy="430887"/>
          </a:xfrm>
          <a:prstGeom prst="rect">
            <a:avLst/>
          </a:prstGeom>
          <a:noFill/>
          <a:ln w="9525">
            <a:noFill/>
            <a:miter lim="800000"/>
            <a:headEnd/>
            <a:tailEnd/>
          </a:ln>
        </p:spPr>
        <p:txBody>
          <a:bodyPr lIns="0" tIns="0" rIns="0" bIns="0">
            <a:spAutoFit/>
          </a:bodyPr>
          <a:lstStyle/>
          <a:p>
            <a:pPr marL="1588" indent="-1588" algn="ctr"/>
            <a:r>
              <a:rPr lang="en-US" sz="1400" i="1" dirty="0">
                <a:solidFill>
                  <a:srgbClr val="000000"/>
                </a:solidFill>
                <a:latin typeface="Myriad Pro" pitchFamily="34" charset="0"/>
              </a:rPr>
              <a:t>MSC </a:t>
            </a:r>
            <a:r>
              <a:rPr lang="en-US" sz="1400" dirty="0">
                <a:solidFill>
                  <a:srgbClr val="000000"/>
                </a:solidFill>
                <a:latin typeface="Myriad Pro" pitchFamily="34" charset="0"/>
              </a:rPr>
              <a:t>of livestock</a:t>
            </a:r>
            <a:endParaRPr lang="en-US" sz="1400" dirty="0">
              <a:latin typeface="Tahoma" pitchFamily="34" charset="0"/>
            </a:endParaRPr>
          </a:p>
        </p:txBody>
      </p:sp>
      <p:sp>
        <p:nvSpPr>
          <p:cNvPr id="849930" name="Rectangle 10"/>
          <p:cNvSpPr>
            <a:spLocks noChangeArrowheads="1"/>
          </p:cNvSpPr>
          <p:nvPr/>
        </p:nvSpPr>
        <p:spPr bwMode="auto">
          <a:xfrm>
            <a:off x="3492500" y="3071813"/>
            <a:ext cx="120226"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S</a:t>
            </a:r>
            <a:endParaRPr lang="en-US" sz="1400" i="1" dirty="0">
              <a:latin typeface="Tahoma" pitchFamily="34" charset="0"/>
            </a:endParaRPr>
          </a:p>
        </p:txBody>
      </p:sp>
      <p:sp>
        <p:nvSpPr>
          <p:cNvPr id="849931" name="Rectangle 11"/>
          <p:cNvSpPr>
            <a:spLocks noChangeArrowheads="1"/>
          </p:cNvSpPr>
          <p:nvPr/>
        </p:nvSpPr>
        <p:spPr bwMode="auto">
          <a:xfrm>
            <a:off x="3370263" y="4629150"/>
            <a:ext cx="129844"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D</a:t>
            </a:r>
            <a:endParaRPr lang="en-US" sz="1400" i="1" dirty="0">
              <a:latin typeface="Tahoma" pitchFamily="34" charset="0"/>
            </a:endParaRPr>
          </a:p>
        </p:txBody>
      </p:sp>
      <p:sp>
        <p:nvSpPr>
          <p:cNvPr id="849932" name="Freeform 12"/>
          <p:cNvSpPr>
            <a:spLocks/>
          </p:cNvSpPr>
          <p:nvPr/>
        </p:nvSpPr>
        <p:spPr bwMode="auto">
          <a:xfrm>
            <a:off x="5591175" y="1574026"/>
            <a:ext cx="3179763" cy="3987800"/>
          </a:xfrm>
          <a:custGeom>
            <a:avLst/>
            <a:gdLst/>
            <a:ahLst/>
            <a:cxnLst>
              <a:cxn ang="0">
                <a:pos x="1710" y="1763"/>
              </a:cxn>
              <a:cxn ang="0">
                <a:pos x="0" y="1763"/>
              </a:cxn>
              <a:cxn ang="0">
                <a:pos x="0" y="0"/>
              </a:cxn>
            </a:cxnLst>
            <a:rect l="0" t="0" r="r" b="b"/>
            <a:pathLst>
              <a:path w="1710" h="1763">
                <a:moveTo>
                  <a:pt x="1710" y="1763"/>
                </a:moveTo>
                <a:lnTo>
                  <a:pt x="0" y="1763"/>
                </a:lnTo>
                <a:lnTo>
                  <a:pt x="0" y="0"/>
                </a:lnTo>
              </a:path>
            </a:pathLst>
          </a:custGeom>
          <a:noFill/>
          <a:ln w="6350" cap="flat">
            <a:solidFill>
              <a:srgbClr val="000000"/>
            </a:solidFill>
            <a:prstDash val="solid"/>
            <a:miter lim="800000"/>
            <a:headEnd/>
            <a:tailEnd/>
          </a:ln>
        </p:spPr>
        <p:txBody>
          <a:bodyPr/>
          <a:lstStyle/>
          <a:p>
            <a:endParaRPr lang="en-US" dirty="0"/>
          </a:p>
        </p:txBody>
      </p:sp>
      <p:sp>
        <p:nvSpPr>
          <p:cNvPr id="849933" name="Freeform 13"/>
          <p:cNvSpPr>
            <a:spLocks/>
          </p:cNvSpPr>
          <p:nvPr/>
        </p:nvSpPr>
        <p:spPr bwMode="auto">
          <a:xfrm>
            <a:off x="4343400" y="3593326"/>
            <a:ext cx="998538" cy="722312"/>
          </a:xfrm>
          <a:custGeom>
            <a:avLst/>
            <a:gdLst/>
            <a:ahLst/>
            <a:cxnLst>
              <a:cxn ang="0">
                <a:pos x="162" y="119"/>
              </a:cxn>
              <a:cxn ang="0">
                <a:pos x="146" y="135"/>
              </a:cxn>
              <a:cxn ang="0">
                <a:pos x="16" y="135"/>
              </a:cxn>
              <a:cxn ang="0">
                <a:pos x="0" y="119"/>
              </a:cxn>
              <a:cxn ang="0">
                <a:pos x="0" y="16"/>
              </a:cxn>
              <a:cxn ang="0">
                <a:pos x="16" y="0"/>
              </a:cxn>
              <a:cxn ang="0">
                <a:pos x="146" y="0"/>
              </a:cxn>
              <a:cxn ang="0">
                <a:pos x="162" y="16"/>
              </a:cxn>
              <a:cxn ang="0">
                <a:pos x="162" y="119"/>
              </a:cxn>
            </a:cxnLst>
            <a:rect l="0" t="0" r="r" b="b"/>
            <a:pathLst>
              <a:path w="162" h="135">
                <a:moveTo>
                  <a:pt x="162" y="119"/>
                </a:moveTo>
                <a:cubicBezTo>
                  <a:pt x="162" y="128"/>
                  <a:pt x="155" y="135"/>
                  <a:pt x="146" y="135"/>
                </a:cubicBezTo>
                <a:cubicBezTo>
                  <a:pt x="16" y="135"/>
                  <a:pt x="16" y="135"/>
                  <a:pt x="16" y="135"/>
                </a:cubicBezTo>
                <a:cubicBezTo>
                  <a:pt x="8" y="135"/>
                  <a:pt x="0" y="128"/>
                  <a:pt x="0" y="119"/>
                </a:cubicBezTo>
                <a:cubicBezTo>
                  <a:pt x="0" y="16"/>
                  <a:pt x="0" y="16"/>
                  <a:pt x="0" y="16"/>
                </a:cubicBezTo>
                <a:cubicBezTo>
                  <a:pt x="0" y="7"/>
                  <a:pt x="8" y="0"/>
                  <a:pt x="16" y="0"/>
                </a:cubicBezTo>
                <a:cubicBezTo>
                  <a:pt x="146" y="0"/>
                  <a:pt x="146" y="0"/>
                  <a:pt x="146" y="0"/>
                </a:cubicBezTo>
                <a:cubicBezTo>
                  <a:pt x="155" y="0"/>
                  <a:pt x="162" y="7"/>
                  <a:pt x="162" y="16"/>
                </a:cubicBezTo>
                <a:lnTo>
                  <a:pt x="162" y="119"/>
                </a:lnTo>
                <a:close/>
              </a:path>
            </a:pathLst>
          </a:custGeom>
          <a:solidFill>
            <a:srgbClr val="D7E2E0"/>
          </a:solidFill>
          <a:ln w="9525">
            <a:noFill/>
            <a:round/>
            <a:headEnd/>
            <a:tailEnd/>
          </a:ln>
        </p:spPr>
        <p:txBody>
          <a:bodyPr/>
          <a:lstStyle/>
          <a:p>
            <a:endParaRPr lang="en-US" dirty="0"/>
          </a:p>
        </p:txBody>
      </p:sp>
      <p:sp>
        <p:nvSpPr>
          <p:cNvPr id="849934" name="Freeform 14"/>
          <p:cNvSpPr>
            <a:spLocks/>
          </p:cNvSpPr>
          <p:nvPr/>
        </p:nvSpPr>
        <p:spPr bwMode="auto">
          <a:xfrm>
            <a:off x="1162943" y="1560513"/>
            <a:ext cx="3121025" cy="3995737"/>
          </a:xfrm>
          <a:custGeom>
            <a:avLst/>
            <a:gdLst/>
            <a:ahLst/>
            <a:cxnLst>
              <a:cxn ang="0">
                <a:pos x="1679" y="1767"/>
              </a:cxn>
              <a:cxn ang="0">
                <a:pos x="0" y="1767"/>
              </a:cxn>
              <a:cxn ang="0">
                <a:pos x="0" y="0"/>
              </a:cxn>
            </a:cxnLst>
            <a:rect l="0" t="0" r="r" b="b"/>
            <a:pathLst>
              <a:path w="1679" h="1767">
                <a:moveTo>
                  <a:pt x="1679" y="1767"/>
                </a:moveTo>
                <a:lnTo>
                  <a:pt x="0" y="1767"/>
                </a:lnTo>
                <a:lnTo>
                  <a:pt x="0" y="0"/>
                </a:lnTo>
              </a:path>
            </a:pathLst>
          </a:custGeom>
          <a:noFill/>
          <a:ln w="6350" cap="flat">
            <a:solidFill>
              <a:srgbClr val="000000"/>
            </a:solidFill>
            <a:prstDash val="solid"/>
            <a:miter lim="800000"/>
            <a:headEnd/>
            <a:tailEnd/>
          </a:ln>
        </p:spPr>
        <p:txBody>
          <a:bodyPr/>
          <a:lstStyle/>
          <a:p>
            <a:endParaRPr lang="en-US" dirty="0"/>
          </a:p>
        </p:txBody>
      </p:sp>
      <p:sp>
        <p:nvSpPr>
          <p:cNvPr id="850049" name="Line 129"/>
          <p:cNvSpPr>
            <a:spLocks noChangeShapeType="1"/>
          </p:cNvSpPr>
          <p:nvPr/>
        </p:nvSpPr>
        <p:spPr bwMode="auto">
          <a:xfrm flipV="1">
            <a:off x="7476693" y="2966696"/>
            <a:ext cx="0" cy="612775"/>
          </a:xfrm>
          <a:prstGeom prst="line">
            <a:avLst/>
          </a:prstGeom>
          <a:noFill/>
          <a:ln w="30226">
            <a:solidFill>
              <a:srgbClr val="000000"/>
            </a:solidFill>
            <a:miter lim="800000"/>
            <a:headEnd/>
            <a:tailEnd type="arrow" w="med" len="med"/>
          </a:ln>
        </p:spPr>
        <p:txBody>
          <a:bodyPr/>
          <a:lstStyle/>
          <a:p>
            <a:endParaRPr lang="en-US" i="1" dirty="0"/>
          </a:p>
        </p:txBody>
      </p:sp>
      <p:sp>
        <p:nvSpPr>
          <p:cNvPr id="850051" name="Line 131"/>
          <p:cNvSpPr>
            <a:spLocks noChangeShapeType="1"/>
          </p:cNvSpPr>
          <p:nvPr/>
        </p:nvSpPr>
        <p:spPr bwMode="auto">
          <a:xfrm flipH="1" flipV="1">
            <a:off x="2692400" y="2689225"/>
            <a:ext cx="325438" cy="614363"/>
          </a:xfrm>
          <a:prstGeom prst="line">
            <a:avLst/>
          </a:prstGeom>
          <a:noFill/>
          <a:ln w="6350">
            <a:solidFill>
              <a:srgbClr val="000000"/>
            </a:solidFill>
            <a:miter lim="800000"/>
            <a:headEnd/>
            <a:tailEnd/>
          </a:ln>
        </p:spPr>
        <p:txBody>
          <a:bodyPr/>
          <a:lstStyle/>
          <a:p>
            <a:endParaRPr lang="en-US" dirty="0"/>
          </a:p>
        </p:txBody>
      </p:sp>
      <p:sp>
        <p:nvSpPr>
          <p:cNvPr id="850052" name="Freeform 132"/>
          <p:cNvSpPr>
            <a:spLocks/>
          </p:cNvSpPr>
          <p:nvPr/>
        </p:nvSpPr>
        <p:spPr bwMode="auto">
          <a:xfrm>
            <a:off x="2130425" y="1982788"/>
            <a:ext cx="841375" cy="798140"/>
          </a:xfrm>
          <a:custGeom>
            <a:avLst/>
            <a:gdLst/>
            <a:ahLst/>
            <a:cxnLst>
              <a:cxn ang="0">
                <a:pos x="147" y="119"/>
              </a:cxn>
              <a:cxn ang="0">
                <a:pos x="131" y="135"/>
              </a:cxn>
              <a:cxn ang="0">
                <a:pos x="16" y="135"/>
              </a:cxn>
              <a:cxn ang="0">
                <a:pos x="0" y="119"/>
              </a:cxn>
              <a:cxn ang="0">
                <a:pos x="0" y="16"/>
              </a:cxn>
              <a:cxn ang="0">
                <a:pos x="16" y="0"/>
              </a:cxn>
              <a:cxn ang="0">
                <a:pos x="131" y="0"/>
              </a:cxn>
              <a:cxn ang="0">
                <a:pos x="147" y="16"/>
              </a:cxn>
              <a:cxn ang="0">
                <a:pos x="147" y="119"/>
              </a:cxn>
            </a:cxnLst>
            <a:rect l="0" t="0" r="r" b="b"/>
            <a:pathLst>
              <a:path w="147" h="135">
                <a:moveTo>
                  <a:pt x="147" y="119"/>
                </a:moveTo>
                <a:cubicBezTo>
                  <a:pt x="147" y="128"/>
                  <a:pt x="140" y="135"/>
                  <a:pt x="131" y="135"/>
                </a:cubicBezTo>
                <a:cubicBezTo>
                  <a:pt x="16" y="135"/>
                  <a:pt x="16" y="135"/>
                  <a:pt x="16" y="135"/>
                </a:cubicBezTo>
                <a:cubicBezTo>
                  <a:pt x="7" y="135"/>
                  <a:pt x="0" y="128"/>
                  <a:pt x="0" y="119"/>
                </a:cubicBezTo>
                <a:cubicBezTo>
                  <a:pt x="0" y="16"/>
                  <a:pt x="0" y="16"/>
                  <a:pt x="0" y="16"/>
                </a:cubicBezTo>
                <a:cubicBezTo>
                  <a:pt x="0" y="7"/>
                  <a:pt x="7" y="0"/>
                  <a:pt x="16" y="0"/>
                </a:cubicBezTo>
                <a:cubicBezTo>
                  <a:pt x="131" y="0"/>
                  <a:pt x="131" y="0"/>
                  <a:pt x="131" y="0"/>
                </a:cubicBezTo>
                <a:cubicBezTo>
                  <a:pt x="140" y="0"/>
                  <a:pt x="147" y="7"/>
                  <a:pt x="147" y="16"/>
                </a:cubicBezTo>
                <a:lnTo>
                  <a:pt x="147" y="119"/>
                </a:lnTo>
                <a:close/>
              </a:path>
            </a:pathLst>
          </a:custGeom>
          <a:solidFill>
            <a:srgbClr val="D7E2E0"/>
          </a:solidFill>
          <a:ln w="9525">
            <a:noFill/>
            <a:round/>
            <a:headEnd/>
            <a:tailEnd/>
          </a:ln>
        </p:spPr>
        <p:txBody>
          <a:bodyPr/>
          <a:lstStyle/>
          <a:p>
            <a:endParaRPr lang="en-US" dirty="0"/>
          </a:p>
        </p:txBody>
      </p:sp>
      <p:sp>
        <p:nvSpPr>
          <p:cNvPr id="850053" name="Line 133"/>
          <p:cNvSpPr>
            <a:spLocks noChangeShapeType="1"/>
          </p:cNvSpPr>
          <p:nvPr/>
        </p:nvSpPr>
        <p:spPr bwMode="auto">
          <a:xfrm flipV="1">
            <a:off x="5832475" y="3299638"/>
            <a:ext cx="2179638" cy="1768475"/>
          </a:xfrm>
          <a:prstGeom prst="line">
            <a:avLst/>
          </a:prstGeom>
          <a:noFill/>
          <a:ln w="30163">
            <a:solidFill>
              <a:srgbClr val="EE313C"/>
            </a:solidFill>
            <a:prstDash val="sysDot"/>
            <a:miter lim="800000"/>
            <a:headEnd/>
            <a:tailEnd/>
          </a:ln>
        </p:spPr>
        <p:txBody>
          <a:bodyPr/>
          <a:lstStyle/>
          <a:p>
            <a:endParaRPr lang="en-US" dirty="0"/>
          </a:p>
        </p:txBody>
      </p:sp>
      <p:sp>
        <p:nvSpPr>
          <p:cNvPr id="850054" name="Line 134"/>
          <p:cNvSpPr>
            <a:spLocks noChangeShapeType="1"/>
          </p:cNvSpPr>
          <p:nvPr/>
        </p:nvSpPr>
        <p:spPr bwMode="auto">
          <a:xfrm>
            <a:off x="5919788" y="2529701"/>
            <a:ext cx="1970087" cy="2181225"/>
          </a:xfrm>
          <a:prstGeom prst="line">
            <a:avLst/>
          </a:prstGeom>
          <a:noFill/>
          <a:ln w="30163">
            <a:solidFill>
              <a:srgbClr val="3C5DAA"/>
            </a:solidFill>
            <a:miter lim="800000"/>
            <a:headEnd/>
            <a:tailEnd/>
          </a:ln>
        </p:spPr>
        <p:txBody>
          <a:bodyPr/>
          <a:lstStyle/>
          <a:p>
            <a:endParaRPr lang="en-US" dirty="0"/>
          </a:p>
        </p:txBody>
      </p:sp>
      <p:sp>
        <p:nvSpPr>
          <p:cNvPr id="850056" name="Rectangle 136"/>
          <p:cNvSpPr>
            <a:spLocks noChangeArrowheads="1"/>
          </p:cNvSpPr>
          <p:nvPr/>
        </p:nvSpPr>
        <p:spPr bwMode="auto">
          <a:xfrm>
            <a:off x="8047038" y="3075801"/>
            <a:ext cx="120226"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S</a:t>
            </a:r>
            <a:endParaRPr lang="en-US" sz="1400" i="1" dirty="0">
              <a:latin typeface="Tahoma" pitchFamily="34" charset="0"/>
            </a:endParaRPr>
          </a:p>
        </p:txBody>
      </p:sp>
      <p:sp>
        <p:nvSpPr>
          <p:cNvPr id="850057" name="Rectangle 137"/>
          <p:cNvSpPr>
            <a:spLocks noChangeArrowheads="1"/>
          </p:cNvSpPr>
          <p:nvPr/>
        </p:nvSpPr>
        <p:spPr bwMode="auto">
          <a:xfrm>
            <a:off x="7926388" y="4634726"/>
            <a:ext cx="129844"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D</a:t>
            </a:r>
            <a:endParaRPr lang="en-US" sz="1400" i="1" dirty="0">
              <a:latin typeface="Tahoma" pitchFamily="34" charset="0"/>
            </a:endParaRPr>
          </a:p>
        </p:txBody>
      </p:sp>
      <p:sp>
        <p:nvSpPr>
          <p:cNvPr id="850152" name="Freeform 232"/>
          <p:cNvSpPr>
            <a:spLocks/>
          </p:cNvSpPr>
          <p:nvPr/>
        </p:nvSpPr>
        <p:spPr bwMode="auto">
          <a:xfrm>
            <a:off x="5411788" y="3513467"/>
            <a:ext cx="111125" cy="808038"/>
          </a:xfrm>
          <a:custGeom>
            <a:avLst/>
            <a:gdLst/>
            <a:ahLst/>
            <a:cxnLst>
              <a:cxn ang="0">
                <a:pos x="25" y="151"/>
              </a:cxn>
              <a:cxn ang="0">
                <a:pos x="10" y="135"/>
              </a:cxn>
              <a:cxn ang="0">
                <a:pos x="10" y="98"/>
              </a:cxn>
              <a:cxn ang="0">
                <a:pos x="0" y="87"/>
              </a:cxn>
              <a:cxn ang="0">
                <a:pos x="10" y="77"/>
              </a:cxn>
              <a:cxn ang="0">
                <a:pos x="10" y="16"/>
              </a:cxn>
              <a:cxn ang="0">
                <a:pos x="25" y="0"/>
              </a:cxn>
            </a:cxnLst>
            <a:rect l="0" t="0" r="r" b="b"/>
            <a:pathLst>
              <a:path w="25" h="151">
                <a:moveTo>
                  <a:pt x="25" y="151"/>
                </a:moveTo>
                <a:cubicBezTo>
                  <a:pt x="15" y="151"/>
                  <a:pt x="10" y="149"/>
                  <a:pt x="10" y="135"/>
                </a:cubicBezTo>
                <a:cubicBezTo>
                  <a:pt x="10" y="133"/>
                  <a:pt x="10" y="100"/>
                  <a:pt x="10" y="98"/>
                </a:cubicBezTo>
                <a:cubicBezTo>
                  <a:pt x="10" y="95"/>
                  <a:pt x="8" y="87"/>
                  <a:pt x="0" y="87"/>
                </a:cubicBezTo>
                <a:cubicBezTo>
                  <a:pt x="8" y="87"/>
                  <a:pt x="10" y="80"/>
                  <a:pt x="10" y="77"/>
                </a:cubicBezTo>
                <a:cubicBezTo>
                  <a:pt x="10" y="75"/>
                  <a:pt x="10" y="19"/>
                  <a:pt x="10" y="16"/>
                </a:cubicBezTo>
                <a:cubicBezTo>
                  <a:pt x="10" y="3"/>
                  <a:pt x="15" y="0"/>
                  <a:pt x="25" y="0"/>
                </a:cubicBezTo>
              </a:path>
            </a:pathLst>
          </a:custGeom>
          <a:noFill/>
          <a:ln w="22225" cap="flat">
            <a:solidFill>
              <a:srgbClr val="6D6F71"/>
            </a:solidFill>
            <a:prstDash val="solid"/>
            <a:round/>
            <a:headEnd/>
            <a:tailEnd/>
          </a:ln>
        </p:spPr>
        <p:txBody>
          <a:bodyPr/>
          <a:lstStyle/>
          <a:p>
            <a:endParaRPr lang="en-US" dirty="0"/>
          </a:p>
        </p:txBody>
      </p:sp>
      <p:sp>
        <p:nvSpPr>
          <p:cNvPr id="850153" name="Line 233"/>
          <p:cNvSpPr>
            <a:spLocks noChangeShapeType="1"/>
          </p:cNvSpPr>
          <p:nvPr/>
        </p:nvSpPr>
        <p:spPr bwMode="auto">
          <a:xfrm>
            <a:off x="5322888" y="3290113"/>
            <a:ext cx="268287" cy="196850"/>
          </a:xfrm>
          <a:prstGeom prst="line">
            <a:avLst/>
          </a:prstGeom>
          <a:noFill/>
          <a:ln w="6350">
            <a:solidFill>
              <a:srgbClr val="000000"/>
            </a:solidFill>
            <a:miter lim="800000"/>
            <a:headEnd/>
            <a:tailEnd/>
          </a:ln>
        </p:spPr>
        <p:txBody>
          <a:bodyPr/>
          <a:lstStyle/>
          <a:p>
            <a:endParaRPr lang="en-US" dirty="0"/>
          </a:p>
        </p:txBody>
      </p:sp>
      <p:sp>
        <p:nvSpPr>
          <p:cNvPr id="850154" name="Line 234"/>
          <p:cNvSpPr>
            <a:spLocks noChangeShapeType="1"/>
          </p:cNvSpPr>
          <p:nvPr/>
        </p:nvSpPr>
        <p:spPr bwMode="auto">
          <a:xfrm flipV="1">
            <a:off x="5287963" y="4288651"/>
            <a:ext cx="303212" cy="304800"/>
          </a:xfrm>
          <a:prstGeom prst="line">
            <a:avLst/>
          </a:prstGeom>
          <a:noFill/>
          <a:ln w="6350">
            <a:solidFill>
              <a:srgbClr val="000000"/>
            </a:solidFill>
            <a:miter lim="800000"/>
            <a:headEnd/>
            <a:tailEnd/>
          </a:ln>
        </p:spPr>
        <p:txBody>
          <a:bodyPr/>
          <a:lstStyle/>
          <a:p>
            <a:endParaRPr lang="en-US" dirty="0"/>
          </a:p>
        </p:txBody>
      </p:sp>
      <p:sp>
        <p:nvSpPr>
          <p:cNvPr id="850155" name="Freeform 235"/>
          <p:cNvSpPr>
            <a:spLocks/>
          </p:cNvSpPr>
          <p:nvPr/>
        </p:nvSpPr>
        <p:spPr bwMode="auto">
          <a:xfrm>
            <a:off x="4267200" y="2617013"/>
            <a:ext cx="1074738" cy="673100"/>
          </a:xfrm>
          <a:custGeom>
            <a:avLst/>
            <a:gdLst/>
            <a:ahLst/>
            <a:cxnLst>
              <a:cxn ang="0">
                <a:pos x="170" y="119"/>
              </a:cxn>
              <a:cxn ang="0">
                <a:pos x="154" y="135"/>
              </a:cxn>
              <a:cxn ang="0">
                <a:pos x="16" y="135"/>
              </a:cxn>
              <a:cxn ang="0">
                <a:pos x="0" y="119"/>
              </a:cxn>
              <a:cxn ang="0">
                <a:pos x="0" y="16"/>
              </a:cxn>
              <a:cxn ang="0">
                <a:pos x="16" y="0"/>
              </a:cxn>
              <a:cxn ang="0">
                <a:pos x="154" y="0"/>
              </a:cxn>
              <a:cxn ang="0">
                <a:pos x="170" y="16"/>
              </a:cxn>
              <a:cxn ang="0">
                <a:pos x="170" y="119"/>
              </a:cxn>
            </a:cxnLst>
            <a:rect l="0" t="0" r="r" b="b"/>
            <a:pathLst>
              <a:path w="170" h="135">
                <a:moveTo>
                  <a:pt x="170" y="119"/>
                </a:moveTo>
                <a:cubicBezTo>
                  <a:pt x="170" y="128"/>
                  <a:pt x="163" y="135"/>
                  <a:pt x="154" y="135"/>
                </a:cubicBezTo>
                <a:cubicBezTo>
                  <a:pt x="16" y="135"/>
                  <a:pt x="16" y="135"/>
                  <a:pt x="16" y="135"/>
                </a:cubicBezTo>
                <a:cubicBezTo>
                  <a:pt x="7" y="135"/>
                  <a:pt x="0" y="128"/>
                  <a:pt x="0" y="119"/>
                </a:cubicBezTo>
                <a:cubicBezTo>
                  <a:pt x="0" y="16"/>
                  <a:pt x="0" y="16"/>
                  <a:pt x="0" y="16"/>
                </a:cubicBezTo>
                <a:cubicBezTo>
                  <a:pt x="0" y="7"/>
                  <a:pt x="7" y="0"/>
                  <a:pt x="16" y="0"/>
                </a:cubicBezTo>
                <a:cubicBezTo>
                  <a:pt x="154" y="0"/>
                  <a:pt x="154" y="0"/>
                  <a:pt x="154" y="0"/>
                </a:cubicBezTo>
                <a:cubicBezTo>
                  <a:pt x="163" y="0"/>
                  <a:pt x="170" y="7"/>
                  <a:pt x="170" y="16"/>
                </a:cubicBezTo>
                <a:lnTo>
                  <a:pt x="170" y="119"/>
                </a:lnTo>
                <a:close/>
              </a:path>
            </a:pathLst>
          </a:custGeom>
          <a:solidFill>
            <a:srgbClr val="D7E2E0"/>
          </a:solidFill>
          <a:ln w="9525">
            <a:noFill/>
            <a:round/>
            <a:headEnd/>
            <a:tailEnd/>
          </a:ln>
        </p:spPr>
        <p:txBody>
          <a:bodyPr/>
          <a:lstStyle/>
          <a:p>
            <a:endParaRPr lang="en-US" dirty="0"/>
          </a:p>
        </p:txBody>
      </p:sp>
      <p:sp>
        <p:nvSpPr>
          <p:cNvPr id="850156" name="Freeform 236"/>
          <p:cNvSpPr>
            <a:spLocks/>
          </p:cNvSpPr>
          <p:nvPr/>
        </p:nvSpPr>
        <p:spPr bwMode="auto">
          <a:xfrm>
            <a:off x="4343400" y="4556938"/>
            <a:ext cx="979488" cy="829791"/>
          </a:xfrm>
          <a:custGeom>
            <a:avLst/>
            <a:gdLst/>
            <a:ahLst/>
            <a:cxnLst>
              <a:cxn ang="0">
                <a:pos x="159" y="119"/>
              </a:cxn>
              <a:cxn ang="0">
                <a:pos x="143" y="135"/>
              </a:cxn>
              <a:cxn ang="0">
                <a:pos x="16" y="135"/>
              </a:cxn>
              <a:cxn ang="0">
                <a:pos x="0" y="119"/>
              </a:cxn>
              <a:cxn ang="0">
                <a:pos x="0" y="16"/>
              </a:cxn>
              <a:cxn ang="0">
                <a:pos x="16" y="0"/>
              </a:cxn>
              <a:cxn ang="0">
                <a:pos x="143" y="0"/>
              </a:cxn>
              <a:cxn ang="0">
                <a:pos x="159" y="16"/>
              </a:cxn>
              <a:cxn ang="0">
                <a:pos x="159" y="119"/>
              </a:cxn>
            </a:cxnLst>
            <a:rect l="0" t="0" r="r" b="b"/>
            <a:pathLst>
              <a:path w="159" h="135">
                <a:moveTo>
                  <a:pt x="159" y="119"/>
                </a:moveTo>
                <a:cubicBezTo>
                  <a:pt x="159" y="128"/>
                  <a:pt x="152" y="135"/>
                  <a:pt x="143" y="135"/>
                </a:cubicBezTo>
                <a:cubicBezTo>
                  <a:pt x="16" y="135"/>
                  <a:pt x="16" y="135"/>
                  <a:pt x="16" y="135"/>
                </a:cubicBezTo>
                <a:cubicBezTo>
                  <a:pt x="7" y="135"/>
                  <a:pt x="0" y="128"/>
                  <a:pt x="0" y="119"/>
                </a:cubicBezTo>
                <a:cubicBezTo>
                  <a:pt x="0" y="16"/>
                  <a:pt x="0" y="16"/>
                  <a:pt x="0" y="16"/>
                </a:cubicBezTo>
                <a:cubicBezTo>
                  <a:pt x="0" y="7"/>
                  <a:pt x="7" y="0"/>
                  <a:pt x="16" y="0"/>
                </a:cubicBezTo>
                <a:cubicBezTo>
                  <a:pt x="143" y="0"/>
                  <a:pt x="143" y="0"/>
                  <a:pt x="143" y="0"/>
                </a:cubicBezTo>
                <a:cubicBezTo>
                  <a:pt x="152" y="0"/>
                  <a:pt x="159" y="7"/>
                  <a:pt x="159" y="16"/>
                </a:cubicBezTo>
                <a:lnTo>
                  <a:pt x="159" y="119"/>
                </a:lnTo>
                <a:close/>
              </a:path>
            </a:pathLst>
          </a:custGeom>
          <a:solidFill>
            <a:srgbClr val="D7E2E0"/>
          </a:solidFill>
          <a:ln w="9525">
            <a:noFill/>
            <a:round/>
            <a:headEnd/>
            <a:tailEnd/>
          </a:ln>
        </p:spPr>
        <p:txBody>
          <a:bodyPr/>
          <a:lstStyle/>
          <a:p>
            <a:endParaRPr lang="en-US" dirty="0"/>
          </a:p>
        </p:txBody>
      </p:sp>
      <p:sp>
        <p:nvSpPr>
          <p:cNvPr id="850165" name="Line 245"/>
          <p:cNvSpPr>
            <a:spLocks noChangeShapeType="1"/>
          </p:cNvSpPr>
          <p:nvPr/>
        </p:nvSpPr>
        <p:spPr bwMode="auto">
          <a:xfrm>
            <a:off x="3359150" y="3948113"/>
            <a:ext cx="0" cy="0"/>
          </a:xfrm>
          <a:prstGeom prst="line">
            <a:avLst/>
          </a:prstGeom>
          <a:noFill/>
          <a:ln w="6350">
            <a:solidFill>
              <a:srgbClr val="000000"/>
            </a:solidFill>
            <a:miter lim="800000"/>
            <a:headEnd/>
            <a:tailEnd/>
          </a:ln>
        </p:spPr>
        <p:txBody>
          <a:bodyPr/>
          <a:lstStyle/>
          <a:p>
            <a:endParaRPr lang="en-US" i="1" dirty="0"/>
          </a:p>
        </p:txBody>
      </p:sp>
      <p:sp>
        <p:nvSpPr>
          <p:cNvPr id="850166" name="Line 246"/>
          <p:cNvSpPr>
            <a:spLocks noChangeShapeType="1"/>
          </p:cNvSpPr>
          <p:nvPr/>
        </p:nvSpPr>
        <p:spPr bwMode="auto">
          <a:xfrm>
            <a:off x="3036888" y="3948113"/>
            <a:ext cx="0" cy="0"/>
          </a:xfrm>
          <a:prstGeom prst="line">
            <a:avLst/>
          </a:prstGeom>
          <a:noFill/>
          <a:ln w="6350">
            <a:solidFill>
              <a:srgbClr val="000000"/>
            </a:solidFill>
            <a:miter lim="800000"/>
            <a:headEnd/>
            <a:tailEnd/>
          </a:ln>
        </p:spPr>
        <p:txBody>
          <a:bodyPr/>
          <a:lstStyle/>
          <a:p>
            <a:endParaRPr lang="en-US" i="1" dirty="0"/>
          </a:p>
        </p:txBody>
      </p:sp>
      <p:sp>
        <p:nvSpPr>
          <p:cNvPr id="850169" name="Rectangle 249"/>
          <p:cNvSpPr>
            <a:spLocks noChangeArrowheads="1"/>
          </p:cNvSpPr>
          <p:nvPr/>
        </p:nvSpPr>
        <p:spPr bwMode="auto">
          <a:xfrm>
            <a:off x="1839872" y="1066800"/>
            <a:ext cx="1978107"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(a) </a:t>
            </a:r>
            <a:r>
              <a:rPr lang="en-US" sz="1400" b="1" dirty="0">
                <a:solidFill>
                  <a:srgbClr val="000000"/>
                </a:solidFill>
                <a:latin typeface="Myriad Pro" pitchFamily="34" charset="0"/>
              </a:rPr>
              <a:t>Negative Externality</a:t>
            </a:r>
            <a:endParaRPr lang="en-US" sz="1400" b="1" dirty="0">
              <a:latin typeface="Tahoma" pitchFamily="34" charset="0"/>
            </a:endParaRPr>
          </a:p>
        </p:txBody>
      </p:sp>
      <p:sp>
        <p:nvSpPr>
          <p:cNvPr id="850171" name="Rectangle 251"/>
          <p:cNvSpPr>
            <a:spLocks noChangeArrowheads="1"/>
          </p:cNvSpPr>
          <p:nvPr/>
        </p:nvSpPr>
        <p:spPr bwMode="auto">
          <a:xfrm>
            <a:off x="4648200" y="1385113"/>
            <a:ext cx="942975" cy="430887"/>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Price of livestock</a:t>
            </a:r>
            <a:endParaRPr lang="en-US" sz="1400" dirty="0">
              <a:latin typeface="Tahoma" pitchFamily="34" charset="0"/>
            </a:endParaRPr>
          </a:p>
        </p:txBody>
      </p:sp>
      <p:sp>
        <p:nvSpPr>
          <p:cNvPr id="850172" name="Rectangle 252"/>
          <p:cNvSpPr>
            <a:spLocks noChangeArrowheads="1"/>
          </p:cNvSpPr>
          <p:nvPr/>
        </p:nvSpPr>
        <p:spPr bwMode="auto">
          <a:xfrm>
            <a:off x="7942263" y="5590401"/>
            <a:ext cx="896937" cy="430887"/>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Quantity of livestock</a:t>
            </a:r>
            <a:endParaRPr lang="en-US" sz="1400" dirty="0">
              <a:latin typeface="Tahoma" pitchFamily="34" charset="0"/>
            </a:endParaRPr>
          </a:p>
        </p:txBody>
      </p:sp>
      <p:sp>
        <p:nvSpPr>
          <p:cNvPr id="850173" name="Rectangle 253"/>
          <p:cNvSpPr>
            <a:spLocks noChangeArrowheads="1"/>
          </p:cNvSpPr>
          <p:nvPr/>
        </p:nvSpPr>
        <p:spPr bwMode="auto">
          <a:xfrm>
            <a:off x="755576" y="692696"/>
            <a:ext cx="1022350" cy="861774"/>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Price, marginal social cost of livestock</a:t>
            </a:r>
          </a:p>
        </p:txBody>
      </p:sp>
      <p:sp>
        <p:nvSpPr>
          <p:cNvPr id="850174" name="Rectangle 254"/>
          <p:cNvSpPr>
            <a:spLocks noChangeArrowheads="1"/>
          </p:cNvSpPr>
          <p:nvPr/>
        </p:nvSpPr>
        <p:spPr bwMode="auto">
          <a:xfrm>
            <a:off x="3302000" y="5576888"/>
            <a:ext cx="896938" cy="430887"/>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Quantity of livestock</a:t>
            </a:r>
            <a:endParaRPr lang="en-US" sz="1400" dirty="0">
              <a:latin typeface="Tahoma" pitchFamily="34" charset="0"/>
            </a:endParaRPr>
          </a:p>
        </p:txBody>
      </p:sp>
      <p:sp>
        <p:nvSpPr>
          <p:cNvPr id="850175" name="Rectangle 255"/>
          <p:cNvSpPr>
            <a:spLocks noChangeArrowheads="1"/>
          </p:cNvSpPr>
          <p:nvPr/>
        </p:nvSpPr>
        <p:spPr bwMode="auto">
          <a:xfrm>
            <a:off x="2206992" y="2053736"/>
            <a:ext cx="714375" cy="656853"/>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external cost</a:t>
            </a:r>
            <a:endParaRPr lang="en-US" sz="1400" dirty="0">
              <a:latin typeface="Tahoma" pitchFamily="34" charset="0"/>
            </a:endParaRPr>
          </a:p>
        </p:txBody>
      </p:sp>
      <p:sp>
        <p:nvSpPr>
          <p:cNvPr id="850176" name="Rectangle 256"/>
          <p:cNvSpPr>
            <a:spLocks noChangeArrowheads="1"/>
          </p:cNvSpPr>
          <p:nvPr/>
        </p:nvSpPr>
        <p:spPr bwMode="auto">
          <a:xfrm>
            <a:off x="4308231" y="2630563"/>
            <a:ext cx="1011238"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Price to consumers after tax</a:t>
            </a:r>
            <a:endParaRPr lang="en-US" sz="1400" dirty="0">
              <a:latin typeface="Tahoma" pitchFamily="34" charset="0"/>
            </a:endParaRPr>
          </a:p>
        </p:txBody>
      </p:sp>
      <p:sp>
        <p:nvSpPr>
          <p:cNvPr id="850177" name="Rectangle 257"/>
          <p:cNvSpPr>
            <a:spLocks noChangeArrowheads="1"/>
          </p:cNvSpPr>
          <p:nvPr/>
        </p:nvSpPr>
        <p:spPr bwMode="auto">
          <a:xfrm>
            <a:off x="4384431" y="3635334"/>
            <a:ext cx="935038"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Optimal </a:t>
            </a:r>
            <a:r>
              <a:rPr lang="en-US" sz="1400" dirty="0" smtClean="0">
                <a:solidFill>
                  <a:srgbClr val="000000"/>
                </a:solidFill>
                <a:latin typeface="Myriad Pro" pitchFamily="34" charset="0"/>
              </a:rPr>
              <a:t>Pigouvian Tax</a:t>
            </a:r>
            <a:endParaRPr lang="en-US" sz="1400" strike="dblStrike" dirty="0">
              <a:solidFill>
                <a:srgbClr val="FF0000"/>
              </a:solidFill>
              <a:latin typeface="Tahoma" pitchFamily="34" charset="0"/>
            </a:endParaRPr>
          </a:p>
        </p:txBody>
      </p:sp>
      <p:sp>
        <p:nvSpPr>
          <p:cNvPr id="850178" name="Rectangle 258"/>
          <p:cNvSpPr>
            <a:spLocks noChangeArrowheads="1"/>
          </p:cNvSpPr>
          <p:nvPr/>
        </p:nvSpPr>
        <p:spPr bwMode="auto">
          <a:xfrm>
            <a:off x="4396154" y="4613292"/>
            <a:ext cx="858838"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Price to producers after tax</a:t>
            </a:r>
            <a:endParaRPr lang="en-US" sz="1400" dirty="0">
              <a:latin typeface="Tahoma" pitchFamily="34" charset="0"/>
            </a:endParaRPr>
          </a:p>
        </p:txBody>
      </p:sp>
      <p:sp>
        <p:nvSpPr>
          <p:cNvPr id="249" name="Rectangle 248"/>
          <p:cNvSpPr/>
          <p:nvPr/>
        </p:nvSpPr>
        <p:spPr>
          <a:xfrm>
            <a:off x="683568" y="2970448"/>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P</a:t>
            </a:r>
            <a:r>
              <a:rPr lang="en-US" sz="1600" baseline="-25000" dirty="0" smtClean="0">
                <a:solidFill>
                  <a:schemeClr val="tx1"/>
                </a:solidFill>
              </a:rPr>
              <a:t>MSC</a:t>
            </a:r>
            <a:endParaRPr lang="en-US" sz="1600" baseline="-25000" dirty="0">
              <a:solidFill>
                <a:schemeClr val="tx1"/>
              </a:solidFill>
            </a:endParaRPr>
          </a:p>
        </p:txBody>
      </p:sp>
      <p:sp>
        <p:nvSpPr>
          <p:cNvPr id="250" name="Rectangle 249"/>
          <p:cNvSpPr/>
          <p:nvPr/>
        </p:nvSpPr>
        <p:spPr>
          <a:xfrm>
            <a:off x="683568" y="3356992"/>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P</a:t>
            </a:r>
            <a:r>
              <a:rPr lang="en-US" sz="1600" baseline="-25000" dirty="0" smtClean="0">
                <a:solidFill>
                  <a:schemeClr val="tx1"/>
                </a:solidFill>
              </a:rPr>
              <a:t>OPT</a:t>
            </a:r>
            <a:endParaRPr lang="en-US" sz="1600" baseline="-25000" dirty="0">
              <a:solidFill>
                <a:schemeClr val="tx1"/>
              </a:solidFill>
            </a:endParaRPr>
          </a:p>
        </p:txBody>
      </p:sp>
      <p:sp>
        <p:nvSpPr>
          <p:cNvPr id="251" name="Rectangle 250"/>
          <p:cNvSpPr/>
          <p:nvPr/>
        </p:nvSpPr>
        <p:spPr>
          <a:xfrm>
            <a:off x="683568" y="3791524"/>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P</a:t>
            </a:r>
            <a:r>
              <a:rPr lang="en-US" sz="1600" baseline="-25000" dirty="0" smtClean="0">
                <a:solidFill>
                  <a:schemeClr val="tx1"/>
                </a:solidFill>
              </a:rPr>
              <a:t>MKT</a:t>
            </a:r>
            <a:endParaRPr lang="en-US" sz="1600" baseline="-25000" dirty="0">
              <a:solidFill>
                <a:schemeClr val="tx1"/>
              </a:solidFill>
            </a:endParaRPr>
          </a:p>
        </p:txBody>
      </p:sp>
      <p:cxnSp>
        <p:nvCxnSpPr>
          <p:cNvPr id="252" name="Straight Connector 251"/>
          <p:cNvCxnSpPr/>
          <p:nvPr/>
        </p:nvCxnSpPr>
        <p:spPr>
          <a:xfrm flipV="1">
            <a:off x="2639507" y="3940970"/>
            <a:ext cx="0" cy="160734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1187624" y="3489285"/>
            <a:ext cx="101936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1187624" y="3941223"/>
            <a:ext cx="1504776" cy="689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7" name="Oval 256"/>
          <p:cNvSpPr/>
          <p:nvPr/>
        </p:nvSpPr>
        <p:spPr>
          <a:xfrm>
            <a:off x="2614025" y="307181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3" name="Oval 262"/>
          <p:cNvSpPr/>
          <p:nvPr/>
        </p:nvSpPr>
        <p:spPr>
          <a:xfrm>
            <a:off x="2191790" y="3443565"/>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4" name="Oval 263"/>
          <p:cNvSpPr/>
          <p:nvPr/>
        </p:nvSpPr>
        <p:spPr>
          <a:xfrm>
            <a:off x="2587639" y="390239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5" name="Straight Connector 264"/>
          <p:cNvCxnSpPr/>
          <p:nvPr/>
        </p:nvCxnSpPr>
        <p:spPr>
          <a:xfrm flipV="1">
            <a:off x="2229797" y="3509339"/>
            <a:ext cx="0" cy="201932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flipV="1">
            <a:off x="6758960" y="3457078"/>
            <a:ext cx="2710" cy="211268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7" name="Rectangle 266"/>
          <p:cNvSpPr/>
          <p:nvPr/>
        </p:nvSpPr>
        <p:spPr>
          <a:xfrm>
            <a:off x="6870144" y="5589501"/>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MKT</a:t>
            </a:r>
            <a:endParaRPr lang="en-US" sz="1600" baseline="-25000" dirty="0">
              <a:solidFill>
                <a:schemeClr val="tx1"/>
              </a:solidFill>
            </a:endParaRPr>
          </a:p>
        </p:txBody>
      </p:sp>
      <p:sp>
        <p:nvSpPr>
          <p:cNvPr id="268" name="Rectangle 267"/>
          <p:cNvSpPr/>
          <p:nvPr/>
        </p:nvSpPr>
        <p:spPr>
          <a:xfrm>
            <a:off x="6457460" y="5595249"/>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OPT</a:t>
            </a:r>
            <a:endParaRPr lang="en-US" sz="1600" baseline="-25000" dirty="0">
              <a:solidFill>
                <a:schemeClr val="tx1"/>
              </a:solidFill>
            </a:endParaRPr>
          </a:p>
        </p:txBody>
      </p:sp>
      <p:sp>
        <p:nvSpPr>
          <p:cNvPr id="269" name="Rectangle 268"/>
          <p:cNvSpPr/>
          <p:nvPr/>
        </p:nvSpPr>
        <p:spPr>
          <a:xfrm>
            <a:off x="7384761" y="3802134"/>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E</a:t>
            </a:r>
            <a:r>
              <a:rPr lang="en-US" sz="1600" baseline="-25000" dirty="0" smtClean="0">
                <a:solidFill>
                  <a:schemeClr val="tx1"/>
                </a:solidFill>
              </a:rPr>
              <a:t>MKT</a:t>
            </a:r>
            <a:endParaRPr lang="en-US" sz="1600" baseline="-25000" dirty="0">
              <a:solidFill>
                <a:schemeClr val="tx1"/>
              </a:solidFill>
            </a:endParaRPr>
          </a:p>
        </p:txBody>
      </p:sp>
      <p:sp>
        <p:nvSpPr>
          <p:cNvPr id="270" name="Rectangle 269"/>
          <p:cNvSpPr/>
          <p:nvPr/>
        </p:nvSpPr>
        <p:spPr>
          <a:xfrm>
            <a:off x="2325025" y="5575719"/>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MKT</a:t>
            </a:r>
            <a:endParaRPr lang="en-US" sz="1600" baseline="-25000" dirty="0">
              <a:solidFill>
                <a:schemeClr val="tx1"/>
              </a:solidFill>
            </a:endParaRPr>
          </a:p>
        </p:txBody>
      </p:sp>
      <p:sp>
        <p:nvSpPr>
          <p:cNvPr id="271" name="Rectangle 270"/>
          <p:cNvSpPr/>
          <p:nvPr/>
        </p:nvSpPr>
        <p:spPr>
          <a:xfrm>
            <a:off x="2837177" y="3795765"/>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E</a:t>
            </a:r>
            <a:r>
              <a:rPr lang="en-US" sz="1600" baseline="-25000" dirty="0" smtClean="0">
                <a:solidFill>
                  <a:schemeClr val="tx1"/>
                </a:solidFill>
              </a:rPr>
              <a:t>MKT</a:t>
            </a:r>
            <a:endParaRPr lang="en-US" sz="1600" baseline="-25000" dirty="0">
              <a:solidFill>
                <a:schemeClr val="tx1"/>
              </a:solidFill>
            </a:endParaRPr>
          </a:p>
        </p:txBody>
      </p:sp>
      <p:cxnSp>
        <p:nvCxnSpPr>
          <p:cNvPr id="272" name="Straight Connector 271"/>
          <p:cNvCxnSpPr/>
          <p:nvPr/>
        </p:nvCxnSpPr>
        <p:spPr>
          <a:xfrm flipV="1">
            <a:off x="7172173" y="3966647"/>
            <a:ext cx="24459" cy="160311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5591175" y="3933832"/>
            <a:ext cx="1567746"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4" name="Oval 273"/>
          <p:cNvSpPr/>
          <p:nvPr/>
        </p:nvSpPr>
        <p:spPr>
          <a:xfrm>
            <a:off x="7158921" y="3878895"/>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5" name="Straight Connector 274"/>
          <p:cNvCxnSpPr/>
          <p:nvPr/>
        </p:nvCxnSpPr>
        <p:spPr>
          <a:xfrm>
            <a:off x="5591175" y="3480257"/>
            <a:ext cx="117049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p:nvCxnSpPr>
        <p:spPr>
          <a:xfrm>
            <a:off x="1162943" y="3114464"/>
            <a:ext cx="1497825" cy="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a:off x="5599370" y="4287752"/>
            <a:ext cx="11623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0" name="Oval 279"/>
          <p:cNvSpPr/>
          <p:nvPr/>
        </p:nvSpPr>
        <p:spPr>
          <a:xfrm>
            <a:off x="6713240" y="343633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1" name="Oval 280"/>
          <p:cNvSpPr/>
          <p:nvPr/>
        </p:nvSpPr>
        <p:spPr>
          <a:xfrm>
            <a:off x="6722161" y="4251730"/>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2" name="Rectangle 281"/>
          <p:cNvSpPr/>
          <p:nvPr/>
        </p:nvSpPr>
        <p:spPr>
          <a:xfrm>
            <a:off x="1915019" y="5575988"/>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OPT</a:t>
            </a:r>
            <a:endParaRPr lang="en-US" sz="1600" baseline="-25000" dirty="0">
              <a:solidFill>
                <a:schemeClr val="tx1"/>
              </a:solidFill>
            </a:endParaRPr>
          </a:p>
        </p:txBody>
      </p:sp>
      <p:cxnSp>
        <p:nvCxnSpPr>
          <p:cNvPr id="284" name="Straight Connector 283"/>
          <p:cNvCxnSpPr/>
          <p:nvPr/>
        </p:nvCxnSpPr>
        <p:spPr>
          <a:xfrm flipV="1">
            <a:off x="2634264" y="3163253"/>
            <a:ext cx="12229" cy="8059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9" name="Rectangle 467"/>
          <p:cNvSpPr>
            <a:spLocks noChangeArrowheads="1"/>
          </p:cNvSpPr>
          <p:nvPr/>
        </p:nvSpPr>
        <p:spPr bwMode="auto">
          <a:xfrm>
            <a:off x="6168832" y="1066829"/>
            <a:ext cx="2182778"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(b) </a:t>
            </a:r>
            <a:r>
              <a:rPr lang="en-US" sz="1400" b="1" dirty="0">
                <a:solidFill>
                  <a:srgbClr val="000000"/>
                </a:solidFill>
                <a:latin typeface="Myriad Pro" pitchFamily="34" charset="0"/>
              </a:rPr>
              <a:t>Optimal </a:t>
            </a:r>
            <a:r>
              <a:rPr lang="en-US" sz="1400" b="1" dirty="0" smtClean="0">
                <a:solidFill>
                  <a:srgbClr val="000000"/>
                </a:solidFill>
                <a:latin typeface="Myriad Pro" pitchFamily="34" charset="0"/>
              </a:rPr>
              <a:t>Pigouvian</a:t>
            </a:r>
            <a:r>
              <a:rPr lang="en-US" sz="1400" b="1" dirty="0">
                <a:solidFill>
                  <a:srgbClr val="000000"/>
                </a:solidFill>
                <a:latin typeface="Myriad Pro" pitchFamily="34" charset="0"/>
              </a:rPr>
              <a:t> </a:t>
            </a:r>
            <a:r>
              <a:rPr lang="en-US" sz="1400" b="1" dirty="0" smtClean="0">
                <a:solidFill>
                  <a:srgbClr val="000000"/>
                </a:solidFill>
                <a:latin typeface="Myriad Pro" pitchFamily="34" charset="0"/>
              </a:rPr>
              <a:t>Tax</a:t>
            </a:r>
            <a:endParaRPr lang="en-US" sz="1400" b="1" strike="sngStrike" dirty="0">
              <a:solidFill>
                <a:srgbClr val="FF0000"/>
              </a:solidFill>
              <a:latin typeface="Tahoma" pitchFamily="34" charset="0"/>
            </a:endParaRPr>
          </a:p>
        </p:txBody>
      </p:sp>
      <p:sp>
        <p:nvSpPr>
          <p:cNvPr id="62" name="Line 133"/>
          <p:cNvSpPr>
            <a:spLocks noChangeShapeType="1"/>
          </p:cNvSpPr>
          <p:nvPr/>
        </p:nvSpPr>
        <p:spPr bwMode="auto">
          <a:xfrm flipV="1">
            <a:off x="5824280" y="2456632"/>
            <a:ext cx="2179638" cy="1768475"/>
          </a:xfrm>
          <a:prstGeom prst="line">
            <a:avLst/>
          </a:prstGeom>
          <a:noFill/>
          <a:ln w="30163">
            <a:solidFill>
              <a:srgbClr val="EE313C"/>
            </a:solidFill>
            <a:miter lim="800000"/>
            <a:headEnd/>
            <a:tailEnd/>
          </a:ln>
        </p:spPr>
        <p:txBody>
          <a:bodyPr/>
          <a:lstStyle/>
          <a:p>
            <a:endParaRPr lang="en-US" dirty="0"/>
          </a:p>
        </p:txBody>
      </p:sp>
      <p:sp>
        <p:nvSpPr>
          <p:cNvPr id="63" name="Rectangle 136"/>
          <p:cNvSpPr>
            <a:spLocks noChangeArrowheads="1"/>
          </p:cNvSpPr>
          <p:nvPr/>
        </p:nvSpPr>
        <p:spPr bwMode="auto">
          <a:xfrm>
            <a:off x="7903037" y="2218377"/>
            <a:ext cx="345351" cy="215444"/>
          </a:xfrm>
          <a:prstGeom prst="rect">
            <a:avLst/>
          </a:prstGeom>
          <a:noFill/>
          <a:ln w="9525">
            <a:noFill/>
            <a:miter lim="800000"/>
            <a:headEnd/>
            <a:tailEnd/>
          </a:ln>
        </p:spPr>
        <p:txBody>
          <a:bodyPr wrap="none" lIns="0" tIns="0" rIns="0" bIns="0">
            <a:spAutoFit/>
          </a:bodyPr>
          <a:lstStyle/>
          <a:p>
            <a:pPr marL="1588" indent="-1588" algn="ctr"/>
            <a:r>
              <a:rPr lang="en-US" sz="1400" i="1" dirty="0" smtClean="0">
                <a:solidFill>
                  <a:srgbClr val="000000"/>
                </a:solidFill>
                <a:latin typeface="Myriad Pro" pitchFamily="34" charset="0"/>
              </a:rPr>
              <a:t>S</a:t>
            </a:r>
            <a:r>
              <a:rPr lang="en-US" sz="1400" i="1" baseline="-25000" dirty="0" smtClean="0">
                <a:solidFill>
                  <a:srgbClr val="000000"/>
                </a:solidFill>
                <a:latin typeface="Myriad Pro" pitchFamily="34" charset="0"/>
              </a:rPr>
              <a:t>TAX</a:t>
            </a:r>
            <a:endParaRPr lang="en-US" sz="1400" i="1" baseline="-25000" dirty="0">
              <a:latin typeface="Tahoma" pitchFamily="34" charset="0"/>
            </a:endParaRPr>
          </a:p>
        </p:txBody>
      </p:sp>
      <p:cxnSp>
        <p:nvCxnSpPr>
          <p:cNvPr id="64" name="Straight Arrow Connector 63"/>
          <p:cNvCxnSpPr/>
          <p:nvPr/>
        </p:nvCxnSpPr>
        <p:spPr>
          <a:xfrm flipV="1">
            <a:off x="3059832" y="2859746"/>
            <a:ext cx="0" cy="675259"/>
          </a:xfrm>
          <a:prstGeom prst="straightConnector1">
            <a:avLst/>
          </a:prstGeom>
          <a:ln w="25400">
            <a:solidFill>
              <a:schemeClr val="tx1"/>
            </a:solidFill>
            <a:prstDash val="sysDash"/>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65" name="Rectangle 256"/>
          <p:cNvSpPr>
            <a:spLocks noChangeArrowheads="1"/>
          </p:cNvSpPr>
          <p:nvPr/>
        </p:nvSpPr>
        <p:spPr bwMode="auto">
          <a:xfrm>
            <a:off x="7233170" y="3069540"/>
            <a:ext cx="1011238" cy="215444"/>
          </a:xfrm>
          <a:prstGeom prst="rect">
            <a:avLst/>
          </a:prstGeom>
          <a:noFill/>
          <a:ln w="9525">
            <a:noFill/>
            <a:miter lim="800000"/>
            <a:headEnd/>
            <a:tailEnd/>
          </a:ln>
        </p:spPr>
        <p:txBody>
          <a:bodyPr lIns="0" tIns="0" rIns="0" bIns="0">
            <a:spAutoFit/>
          </a:bodyPr>
          <a:lstStyle/>
          <a:p>
            <a:pPr marL="1588" indent="-1588" algn="ctr"/>
            <a:r>
              <a:rPr lang="en-US" sz="1400" dirty="0" smtClean="0">
                <a:solidFill>
                  <a:srgbClr val="000000"/>
                </a:solidFill>
                <a:latin typeface="Myriad Pro" pitchFamily="34" charset="0"/>
              </a:rPr>
              <a:t>Tax</a:t>
            </a:r>
            <a:endParaRPr lang="en-US" sz="1400" dirty="0">
              <a:latin typeface="Tahoma" pitchFamily="34" charset="0"/>
            </a:endParaRPr>
          </a:p>
        </p:txBody>
      </p:sp>
    </p:spTree>
    <p:extLst>
      <p:ext uri="{BB962C8B-B14F-4D97-AF65-F5344CB8AC3E}">
        <p14:creationId xmlns:p14="http://schemas.microsoft.com/office/powerpoint/2010/main" val="20861131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0169"/>
                                        </p:tgtEl>
                                        <p:attrNameLst>
                                          <p:attrName>style.visibility</p:attrName>
                                        </p:attrNameLst>
                                      </p:cBhvr>
                                      <p:to>
                                        <p:strVal val="visible"/>
                                      </p:to>
                                    </p:set>
                                    <p:animEffect transition="in" filter="fade">
                                      <p:cBhvr>
                                        <p:cTn id="7" dur="500"/>
                                        <p:tgtEl>
                                          <p:spTgt spid="85016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50173"/>
                                        </p:tgtEl>
                                        <p:attrNameLst>
                                          <p:attrName>style.visibility</p:attrName>
                                        </p:attrNameLst>
                                      </p:cBhvr>
                                      <p:to>
                                        <p:strVal val="visible"/>
                                      </p:to>
                                    </p:set>
                                    <p:animEffect transition="in" filter="fade">
                                      <p:cBhvr>
                                        <p:cTn id="10" dur="500"/>
                                        <p:tgtEl>
                                          <p:spTgt spid="85017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49934"/>
                                        </p:tgtEl>
                                        <p:attrNameLst>
                                          <p:attrName>style.visibility</p:attrName>
                                        </p:attrNameLst>
                                      </p:cBhvr>
                                      <p:to>
                                        <p:strVal val="visible"/>
                                      </p:to>
                                    </p:set>
                                    <p:animEffect transition="in" filter="fade">
                                      <p:cBhvr>
                                        <p:cTn id="13" dur="500"/>
                                        <p:tgtEl>
                                          <p:spTgt spid="8499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50174"/>
                                        </p:tgtEl>
                                        <p:attrNameLst>
                                          <p:attrName>style.visibility</p:attrName>
                                        </p:attrNameLst>
                                      </p:cBhvr>
                                      <p:to>
                                        <p:strVal val="visible"/>
                                      </p:to>
                                    </p:set>
                                    <p:animEffect transition="in" filter="fade">
                                      <p:cBhvr>
                                        <p:cTn id="16" dur="500"/>
                                        <p:tgtEl>
                                          <p:spTgt spid="850174"/>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49926"/>
                                        </p:tgtEl>
                                        <p:attrNameLst>
                                          <p:attrName>style.visibility</p:attrName>
                                        </p:attrNameLst>
                                      </p:cBhvr>
                                      <p:to>
                                        <p:strVal val="visible"/>
                                      </p:to>
                                    </p:set>
                                    <p:animEffect transition="in" filter="wipe(left)">
                                      <p:cBhvr>
                                        <p:cTn id="19" dur="500"/>
                                        <p:tgtEl>
                                          <p:spTgt spid="849926"/>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49930"/>
                                        </p:tgtEl>
                                        <p:attrNameLst>
                                          <p:attrName>style.visibility</p:attrName>
                                        </p:attrNameLst>
                                      </p:cBhvr>
                                      <p:to>
                                        <p:strVal val="visible"/>
                                      </p:to>
                                    </p:set>
                                    <p:animEffect transition="in" filter="wipe(left)">
                                      <p:cBhvr>
                                        <p:cTn id="22" dur="500"/>
                                        <p:tgtEl>
                                          <p:spTgt spid="84993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849927"/>
                                        </p:tgtEl>
                                        <p:attrNameLst>
                                          <p:attrName>style.visibility</p:attrName>
                                        </p:attrNameLst>
                                      </p:cBhvr>
                                      <p:to>
                                        <p:strVal val="visible"/>
                                      </p:to>
                                    </p:set>
                                    <p:animEffect transition="in" filter="wipe(left)">
                                      <p:cBhvr>
                                        <p:cTn id="25" dur="500"/>
                                        <p:tgtEl>
                                          <p:spTgt spid="84992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849931"/>
                                        </p:tgtEl>
                                        <p:attrNameLst>
                                          <p:attrName>style.visibility</p:attrName>
                                        </p:attrNameLst>
                                      </p:cBhvr>
                                      <p:to>
                                        <p:strVal val="visible"/>
                                      </p:to>
                                    </p:set>
                                    <p:animEffect transition="in" filter="wipe(left)">
                                      <p:cBhvr>
                                        <p:cTn id="28" dur="500"/>
                                        <p:tgtEl>
                                          <p:spTgt spid="8499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4"/>
                                        </p:tgtEl>
                                        <p:attrNameLst>
                                          <p:attrName>style.visibility</p:attrName>
                                        </p:attrNameLst>
                                      </p:cBhvr>
                                      <p:to>
                                        <p:strVal val="visible"/>
                                      </p:to>
                                    </p:set>
                                    <p:animEffect transition="in" filter="fade">
                                      <p:cBhvr>
                                        <p:cTn id="31" dur="500"/>
                                        <p:tgtEl>
                                          <p:spTgt spid="2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1"/>
                                        </p:tgtEl>
                                        <p:attrNameLst>
                                          <p:attrName>style.visibility</p:attrName>
                                        </p:attrNameLst>
                                      </p:cBhvr>
                                      <p:to>
                                        <p:strVal val="visible"/>
                                      </p:to>
                                    </p:set>
                                    <p:animEffect transition="in" filter="fade">
                                      <p:cBhvr>
                                        <p:cTn id="34" dur="500"/>
                                        <p:tgtEl>
                                          <p:spTgt spid="271"/>
                                        </p:tgtEl>
                                      </p:cBhvr>
                                    </p:animEffect>
                                  </p:childTnLst>
                                </p:cTn>
                              </p:par>
                              <p:par>
                                <p:cTn id="35" presetID="10" presetClass="entr" presetSubtype="0" fill="hold" nodeType="withEffect">
                                  <p:stCondLst>
                                    <p:cond delay="0"/>
                                  </p:stCondLst>
                                  <p:childTnLst>
                                    <p:set>
                                      <p:cBhvr>
                                        <p:cTn id="36" dur="1" fill="hold">
                                          <p:stCondLst>
                                            <p:cond delay="0"/>
                                          </p:stCondLst>
                                        </p:cTn>
                                        <p:tgtEl>
                                          <p:spTgt spid="255"/>
                                        </p:tgtEl>
                                        <p:attrNameLst>
                                          <p:attrName>style.visibility</p:attrName>
                                        </p:attrNameLst>
                                      </p:cBhvr>
                                      <p:to>
                                        <p:strVal val="visible"/>
                                      </p:to>
                                    </p:set>
                                    <p:animEffect transition="in" filter="fade">
                                      <p:cBhvr>
                                        <p:cTn id="37" dur="500"/>
                                        <p:tgtEl>
                                          <p:spTgt spid="2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1"/>
                                        </p:tgtEl>
                                        <p:attrNameLst>
                                          <p:attrName>style.visibility</p:attrName>
                                        </p:attrNameLst>
                                      </p:cBhvr>
                                      <p:to>
                                        <p:strVal val="visible"/>
                                      </p:to>
                                    </p:set>
                                    <p:animEffect transition="in" filter="fade">
                                      <p:cBhvr>
                                        <p:cTn id="40" dur="500"/>
                                        <p:tgtEl>
                                          <p:spTgt spid="25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0"/>
                                        </p:tgtEl>
                                        <p:attrNameLst>
                                          <p:attrName>style.visibility</p:attrName>
                                        </p:attrNameLst>
                                      </p:cBhvr>
                                      <p:to>
                                        <p:strVal val="visible"/>
                                      </p:to>
                                    </p:set>
                                    <p:animEffect transition="in" filter="fade">
                                      <p:cBhvr>
                                        <p:cTn id="43" dur="500"/>
                                        <p:tgtEl>
                                          <p:spTgt spid="270"/>
                                        </p:tgtEl>
                                      </p:cBhvr>
                                    </p:animEffect>
                                  </p:childTnLst>
                                </p:cTn>
                              </p:par>
                              <p:par>
                                <p:cTn id="44" presetID="10" presetClass="entr" presetSubtype="0" fill="hold" nodeType="withEffect">
                                  <p:stCondLst>
                                    <p:cond delay="0"/>
                                  </p:stCondLst>
                                  <p:childTnLst>
                                    <p:set>
                                      <p:cBhvr>
                                        <p:cTn id="45" dur="1" fill="hold">
                                          <p:stCondLst>
                                            <p:cond delay="0"/>
                                          </p:stCondLst>
                                        </p:cTn>
                                        <p:tgtEl>
                                          <p:spTgt spid="252"/>
                                        </p:tgtEl>
                                        <p:attrNameLst>
                                          <p:attrName>style.visibility</p:attrName>
                                        </p:attrNameLst>
                                      </p:cBhvr>
                                      <p:to>
                                        <p:strVal val="visible"/>
                                      </p:to>
                                    </p:set>
                                    <p:animEffect transition="in" filter="fade">
                                      <p:cBhvr>
                                        <p:cTn id="46" dur="500"/>
                                        <p:tgtEl>
                                          <p:spTgt spid="25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850049"/>
                                        </p:tgtEl>
                                        <p:attrNameLst>
                                          <p:attrName>style.visibility</p:attrName>
                                        </p:attrNameLst>
                                      </p:cBhvr>
                                      <p:to>
                                        <p:strVal val="visible"/>
                                      </p:to>
                                    </p:set>
                                    <p:animEffect transition="in" filter="wipe(down)">
                                      <p:cBhvr>
                                        <p:cTn id="51" dur="500"/>
                                        <p:tgtEl>
                                          <p:spTgt spid="850049"/>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850175"/>
                                        </p:tgtEl>
                                        <p:attrNameLst>
                                          <p:attrName>style.visibility</p:attrName>
                                        </p:attrNameLst>
                                      </p:cBhvr>
                                      <p:to>
                                        <p:strVal val="visible"/>
                                      </p:to>
                                    </p:set>
                                    <p:animEffect transition="in" filter="wipe(down)">
                                      <p:cBhvr>
                                        <p:cTn id="54" dur="500"/>
                                        <p:tgtEl>
                                          <p:spTgt spid="850175"/>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850052"/>
                                        </p:tgtEl>
                                        <p:attrNameLst>
                                          <p:attrName>style.visibility</p:attrName>
                                        </p:attrNameLst>
                                      </p:cBhvr>
                                      <p:to>
                                        <p:strVal val="visible"/>
                                      </p:to>
                                    </p:set>
                                    <p:animEffect transition="in" filter="wipe(down)">
                                      <p:cBhvr>
                                        <p:cTn id="57" dur="500"/>
                                        <p:tgtEl>
                                          <p:spTgt spid="85005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850051"/>
                                        </p:tgtEl>
                                        <p:attrNameLst>
                                          <p:attrName>style.visibility</p:attrName>
                                        </p:attrNameLst>
                                      </p:cBhvr>
                                      <p:to>
                                        <p:strVal val="visible"/>
                                      </p:to>
                                    </p:set>
                                    <p:animEffect transition="in" filter="wipe(down)">
                                      <p:cBhvr>
                                        <p:cTn id="60" dur="500"/>
                                        <p:tgtEl>
                                          <p:spTgt spid="850051"/>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849925"/>
                                        </p:tgtEl>
                                        <p:attrNameLst>
                                          <p:attrName>style.visibility</p:attrName>
                                        </p:attrNameLst>
                                      </p:cBhvr>
                                      <p:to>
                                        <p:strVal val="visible"/>
                                      </p:to>
                                    </p:set>
                                    <p:animEffect transition="in" filter="wipe(down)">
                                      <p:cBhvr>
                                        <p:cTn id="63" dur="500"/>
                                        <p:tgtEl>
                                          <p:spTgt spid="849925"/>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849929"/>
                                        </p:tgtEl>
                                        <p:attrNameLst>
                                          <p:attrName>style.visibility</p:attrName>
                                        </p:attrNameLst>
                                      </p:cBhvr>
                                      <p:to>
                                        <p:strVal val="visible"/>
                                      </p:to>
                                    </p:set>
                                    <p:animEffect transition="in" filter="wipe(down)">
                                      <p:cBhvr>
                                        <p:cTn id="66" dur="500"/>
                                        <p:tgtEl>
                                          <p:spTgt spid="849929"/>
                                        </p:tgtEl>
                                      </p:cBhvr>
                                    </p:animEffect>
                                  </p:childTnLst>
                                </p:cTn>
                              </p:par>
                              <p:par>
                                <p:cTn id="67" presetID="10" presetClass="entr" presetSubtype="0" fill="hold" nodeType="withEffect">
                                  <p:stCondLst>
                                    <p:cond delay="0"/>
                                  </p:stCondLst>
                                  <p:childTnLst>
                                    <p:set>
                                      <p:cBhvr>
                                        <p:cTn id="68" dur="1" fill="hold">
                                          <p:stCondLst>
                                            <p:cond delay="0"/>
                                          </p:stCondLst>
                                        </p:cTn>
                                        <p:tgtEl>
                                          <p:spTgt spid="265"/>
                                        </p:tgtEl>
                                        <p:attrNameLst>
                                          <p:attrName>style.visibility</p:attrName>
                                        </p:attrNameLst>
                                      </p:cBhvr>
                                      <p:to>
                                        <p:strVal val="visible"/>
                                      </p:to>
                                    </p:set>
                                    <p:animEffect transition="in" filter="fade">
                                      <p:cBhvr>
                                        <p:cTn id="69" dur="500"/>
                                        <p:tgtEl>
                                          <p:spTgt spid="26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3"/>
                                        </p:tgtEl>
                                        <p:attrNameLst>
                                          <p:attrName>style.visibility</p:attrName>
                                        </p:attrNameLst>
                                      </p:cBhvr>
                                      <p:to>
                                        <p:strVal val="visible"/>
                                      </p:to>
                                    </p:set>
                                    <p:animEffect transition="in" filter="fade">
                                      <p:cBhvr>
                                        <p:cTn id="72" dur="500"/>
                                        <p:tgtEl>
                                          <p:spTgt spid="263"/>
                                        </p:tgtEl>
                                      </p:cBhvr>
                                    </p:animEffect>
                                  </p:childTnLst>
                                </p:cTn>
                              </p:par>
                              <p:par>
                                <p:cTn id="73" presetID="10" presetClass="entr" presetSubtype="0" fill="hold" nodeType="withEffect">
                                  <p:stCondLst>
                                    <p:cond delay="0"/>
                                  </p:stCondLst>
                                  <p:childTnLst>
                                    <p:set>
                                      <p:cBhvr>
                                        <p:cTn id="74" dur="1" fill="hold">
                                          <p:stCondLst>
                                            <p:cond delay="0"/>
                                          </p:stCondLst>
                                        </p:cTn>
                                        <p:tgtEl>
                                          <p:spTgt spid="277"/>
                                        </p:tgtEl>
                                        <p:attrNameLst>
                                          <p:attrName>style.visibility</p:attrName>
                                        </p:attrNameLst>
                                      </p:cBhvr>
                                      <p:to>
                                        <p:strVal val="visible"/>
                                      </p:to>
                                    </p:set>
                                    <p:animEffect transition="in" filter="fade">
                                      <p:cBhvr>
                                        <p:cTn id="75" dur="500"/>
                                        <p:tgtEl>
                                          <p:spTgt spid="277"/>
                                        </p:tgtEl>
                                      </p:cBhvr>
                                    </p:animEffect>
                                  </p:childTnLst>
                                </p:cTn>
                              </p:par>
                              <p:par>
                                <p:cTn id="76" presetID="10" presetClass="entr" presetSubtype="0" fill="hold" nodeType="withEffect">
                                  <p:stCondLst>
                                    <p:cond delay="0"/>
                                  </p:stCondLst>
                                  <p:childTnLst>
                                    <p:set>
                                      <p:cBhvr>
                                        <p:cTn id="77" dur="1" fill="hold">
                                          <p:stCondLst>
                                            <p:cond delay="0"/>
                                          </p:stCondLst>
                                        </p:cTn>
                                        <p:tgtEl>
                                          <p:spTgt spid="253"/>
                                        </p:tgtEl>
                                        <p:attrNameLst>
                                          <p:attrName>style.visibility</p:attrName>
                                        </p:attrNameLst>
                                      </p:cBhvr>
                                      <p:to>
                                        <p:strVal val="visible"/>
                                      </p:to>
                                    </p:set>
                                    <p:animEffect transition="in" filter="fade">
                                      <p:cBhvr>
                                        <p:cTn id="78" dur="500"/>
                                        <p:tgtEl>
                                          <p:spTgt spid="25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50"/>
                                        </p:tgtEl>
                                        <p:attrNameLst>
                                          <p:attrName>style.visibility</p:attrName>
                                        </p:attrNameLst>
                                      </p:cBhvr>
                                      <p:to>
                                        <p:strVal val="visible"/>
                                      </p:to>
                                    </p:set>
                                    <p:animEffect transition="in" filter="fade">
                                      <p:cBhvr>
                                        <p:cTn id="81" dur="500"/>
                                        <p:tgtEl>
                                          <p:spTgt spid="2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2"/>
                                        </p:tgtEl>
                                        <p:attrNameLst>
                                          <p:attrName>style.visibility</p:attrName>
                                        </p:attrNameLst>
                                      </p:cBhvr>
                                      <p:to>
                                        <p:strVal val="visible"/>
                                      </p:to>
                                    </p:set>
                                    <p:animEffect transition="in" filter="fade">
                                      <p:cBhvr>
                                        <p:cTn id="84" dur="500"/>
                                        <p:tgtEl>
                                          <p:spTgt spid="28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49"/>
                                        </p:tgtEl>
                                        <p:attrNameLst>
                                          <p:attrName>style.visibility</p:attrName>
                                        </p:attrNameLst>
                                      </p:cBhvr>
                                      <p:to>
                                        <p:strVal val="visible"/>
                                      </p:to>
                                    </p:set>
                                    <p:animEffect transition="in" filter="fade">
                                      <p:cBhvr>
                                        <p:cTn id="87" dur="500"/>
                                        <p:tgtEl>
                                          <p:spTgt spid="249"/>
                                        </p:tgtEl>
                                      </p:cBhvr>
                                    </p:animEffect>
                                  </p:childTnLst>
                                </p:cTn>
                              </p:par>
                              <p:par>
                                <p:cTn id="88" presetID="10" presetClass="entr" presetSubtype="0" fill="hold" nodeType="withEffect">
                                  <p:stCondLst>
                                    <p:cond delay="0"/>
                                  </p:stCondLst>
                                  <p:childTnLst>
                                    <p:set>
                                      <p:cBhvr>
                                        <p:cTn id="89" dur="1" fill="hold">
                                          <p:stCondLst>
                                            <p:cond delay="0"/>
                                          </p:stCondLst>
                                        </p:cTn>
                                        <p:tgtEl>
                                          <p:spTgt spid="284"/>
                                        </p:tgtEl>
                                        <p:attrNameLst>
                                          <p:attrName>style.visibility</p:attrName>
                                        </p:attrNameLst>
                                      </p:cBhvr>
                                      <p:to>
                                        <p:strVal val="visible"/>
                                      </p:to>
                                    </p:set>
                                    <p:animEffect transition="in" filter="fade">
                                      <p:cBhvr>
                                        <p:cTn id="90" dur="500"/>
                                        <p:tgtEl>
                                          <p:spTgt spid="28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57"/>
                                        </p:tgtEl>
                                        <p:attrNameLst>
                                          <p:attrName>style.visibility</p:attrName>
                                        </p:attrNameLst>
                                      </p:cBhvr>
                                      <p:to>
                                        <p:strVal val="visible"/>
                                      </p:to>
                                    </p:set>
                                    <p:animEffect transition="in" filter="fade">
                                      <p:cBhvr>
                                        <p:cTn id="93" dur="500"/>
                                        <p:tgtEl>
                                          <p:spTgt spid="25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850171"/>
                                        </p:tgtEl>
                                        <p:attrNameLst>
                                          <p:attrName>style.visibility</p:attrName>
                                        </p:attrNameLst>
                                      </p:cBhvr>
                                      <p:to>
                                        <p:strVal val="visible"/>
                                      </p:to>
                                    </p:set>
                                    <p:animEffect transition="in" filter="fade">
                                      <p:cBhvr>
                                        <p:cTn id="96" dur="500"/>
                                        <p:tgtEl>
                                          <p:spTgt spid="85017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849932"/>
                                        </p:tgtEl>
                                        <p:attrNameLst>
                                          <p:attrName>style.visibility</p:attrName>
                                        </p:attrNameLst>
                                      </p:cBhvr>
                                      <p:to>
                                        <p:strVal val="visible"/>
                                      </p:to>
                                    </p:set>
                                    <p:animEffect transition="in" filter="fade">
                                      <p:cBhvr>
                                        <p:cTn id="99" dur="500"/>
                                        <p:tgtEl>
                                          <p:spTgt spid="84993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850172"/>
                                        </p:tgtEl>
                                        <p:attrNameLst>
                                          <p:attrName>style.visibility</p:attrName>
                                        </p:attrNameLst>
                                      </p:cBhvr>
                                      <p:to>
                                        <p:strVal val="visible"/>
                                      </p:to>
                                    </p:set>
                                    <p:animEffect transition="in" filter="fade">
                                      <p:cBhvr>
                                        <p:cTn id="102" dur="500"/>
                                        <p:tgtEl>
                                          <p:spTgt spid="850172"/>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850053"/>
                                        </p:tgtEl>
                                        <p:attrNameLst>
                                          <p:attrName>style.visibility</p:attrName>
                                        </p:attrNameLst>
                                      </p:cBhvr>
                                      <p:to>
                                        <p:strVal val="visible"/>
                                      </p:to>
                                    </p:set>
                                    <p:animEffect transition="in" filter="wipe(left)">
                                      <p:cBhvr>
                                        <p:cTn id="105" dur="500"/>
                                        <p:tgtEl>
                                          <p:spTgt spid="850053"/>
                                        </p:tgtEl>
                                      </p:cBhvr>
                                    </p:animEffect>
                                  </p:childTnLst>
                                </p:cTn>
                              </p:par>
                              <p:par>
                                <p:cTn id="106" presetID="22" presetClass="entr" presetSubtype="8" fill="hold" grpId="0" nodeType="withEffect">
                                  <p:stCondLst>
                                    <p:cond delay="0"/>
                                  </p:stCondLst>
                                  <p:childTnLst>
                                    <p:set>
                                      <p:cBhvr>
                                        <p:cTn id="107" dur="1" fill="hold">
                                          <p:stCondLst>
                                            <p:cond delay="0"/>
                                          </p:stCondLst>
                                        </p:cTn>
                                        <p:tgtEl>
                                          <p:spTgt spid="850056"/>
                                        </p:tgtEl>
                                        <p:attrNameLst>
                                          <p:attrName>style.visibility</p:attrName>
                                        </p:attrNameLst>
                                      </p:cBhvr>
                                      <p:to>
                                        <p:strVal val="visible"/>
                                      </p:to>
                                    </p:set>
                                    <p:animEffect transition="in" filter="wipe(left)">
                                      <p:cBhvr>
                                        <p:cTn id="108" dur="500"/>
                                        <p:tgtEl>
                                          <p:spTgt spid="850056"/>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850054"/>
                                        </p:tgtEl>
                                        <p:attrNameLst>
                                          <p:attrName>style.visibility</p:attrName>
                                        </p:attrNameLst>
                                      </p:cBhvr>
                                      <p:to>
                                        <p:strVal val="visible"/>
                                      </p:to>
                                    </p:set>
                                    <p:animEffect transition="in" filter="wipe(left)">
                                      <p:cBhvr>
                                        <p:cTn id="111" dur="500"/>
                                        <p:tgtEl>
                                          <p:spTgt spid="850054"/>
                                        </p:tgtEl>
                                      </p:cBhvr>
                                    </p:animEffect>
                                  </p:childTnLst>
                                </p:cTn>
                              </p:par>
                              <p:par>
                                <p:cTn id="112" presetID="22" presetClass="entr" presetSubtype="8" fill="hold" grpId="0" nodeType="withEffect">
                                  <p:stCondLst>
                                    <p:cond delay="0"/>
                                  </p:stCondLst>
                                  <p:childTnLst>
                                    <p:set>
                                      <p:cBhvr>
                                        <p:cTn id="113" dur="1" fill="hold">
                                          <p:stCondLst>
                                            <p:cond delay="0"/>
                                          </p:stCondLst>
                                        </p:cTn>
                                        <p:tgtEl>
                                          <p:spTgt spid="850057"/>
                                        </p:tgtEl>
                                        <p:attrNameLst>
                                          <p:attrName>style.visibility</p:attrName>
                                        </p:attrNameLst>
                                      </p:cBhvr>
                                      <p:to>
                                        <p:strVal val="visible"/>
                                      </p:to>
                                    </p:set>
                                    <p:animEffect transition="in" filter="wipe(left)">
                                      <p:cBhvr>
                                        <p:cTn id="114" dur="500"/>
                                        <p:tgtEl>
                                          <p:spTgt spid="85005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74"/>
                                        </p:tgtEl>
                                        <p:attrNameLst>
                                          <p:attrName>style.visibility</p:attrName>
                                        </p:attrNameLst>
                                      </p:cBhvr>
                                      <p:to>
                                        <p:strVal val="visible"/>
                                      </p:to>
                                    </p:set>
                                    <p:animEffect transition="in" filter="fade">
                                      <p:cBhvr>
                                        <p:cTn id="117" dur="500"/>
                                        <p:tgtEl>
                                          <p:spTgt spid="27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69"/>
                                        </p:tgtEl>
                                        <p:attrNameLst>
                                          <p:attrName>style.visibility</p:attrName>
                                        </p:attrNameLst>
                                      </p:cBhvr>
                                      <p:to>
                                        <p:strVal val="visible"/>
                                      </p:to>
                                    </p:set>
                                    <p:animEffect transition="in" filter="fade">
                                      <p:cBhvr>
                                        <p:cTn id="120" dur="500"/>
                                        <p:tgtEl>
                                          <p:spTgt spid="269"/>
                                        </p:tgtEl>
                                      </p:cBhvr>
                                    </p:animEffect>
                                  </p:childTnLst>
                                </p:cTn>
                              </p:par>
                              <p:par>
                                <p:cTn id="121" presetID="10" presetClass="entr" presetSubtype="0" fill="hold" nodeType="withEffect">
                                  <p:stCondLst>
                                    <p:cond delay="0"/>
                                  </p:stCondLst>
                                  <p:childTnLst>
                                    <p:set>
                                      <p:cBhvr>
                                        <p:cTn id="122" dur="1" fill="hold">
                                          <p:stCondLst>
                                            <p:cond delay="0"/>
                                          </p:stCondLst>
                                        </p:cTn>
                                        <p:tgtEl>
                                          <p:spTgt spid="273"/>
                                        </p:tgtEl>
                                        <p:attrNameLst>
                                          <p:attrName>style.visibility</p:attrName>
                                        </p:attrNameLst>
                                      </p:cBhvr>
                                      <p:to>
                                        <p:strVal val="visible"/>
                                      </p:to>
                                    </p:set>
                                    <p:animEffect transition="in" filter="fade">
                                      <p:cBhvr>
                                        <p:cTn id="123" dur="500"/>
                                        <p:tgtEl>
                                          <p:spTgt spid="273"/>
                                        </p:tgtEl>
                                      </p:cBhvr>
                                    </p:animEffect>
                                  </p:childTnLst>
                                </p:cTn>
                              </p:par>
                              <p:par>
                                <p:cTn id="124" presetID="10" presetClass="entr" presetSubtype="0" fill="hold" nodeType="withEffect">
                                  <p:stCondLst>
                                    <p:cond delay="0"/>
                                  </p:stCondLst>
                                  <p:childTnLst>
                                    <p:set>
                                      <p:cBhvr>
                                        <p:cTn id="125" dur="1" fill="hold">
                                          <p:stCondLst>
                                            <p:cond delay="0"/>
                                          </p:stCondLst>
                                        </p:cTn>
                                        <p:tgtEl>
                                          <p:spTgt spid="272"/>
                                        </p:tgtEl>
                                        <p:attrNameLst>
                                          <p:attrName>style.visibility</p:attrName>
                                        </p:attrNameLst>
                                      </p:cBhvr>
                                      <p:to>
                                        <p:strVal val="visible"/>
                                      </p:to>
                                    </p:set>
                                    <p:animEffect transition="in" filter="fade">
                                      <p:cBhvr>
                                        <p:cTn id="126" dur="500"/>
                                        <p:tgtEl>
                                          <p:spTgt spid="27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67"/>
                                        </p:tgtEl>
                                        <p:attrNameLst>
                                          <p:attrName>style.visibility</p:attrName>
                                        </p:attrNameLst>
                                      </p:cBhvr>
                                      <p:to>
                                        <p:strVal val="visible"/>
                                      </p:to>
                                    </p:set>
                                    <p:animEffect transition="in" filter="fade">
                                      <p:cBhvr>
                                        <p:cTn id="129" dur="500"/>
                                        <p:tgtEl>
                                          <p:spTgt spid="267"/>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849933"/>
                                        </p:tgtEl>
                                        <p:attrNameLst>
                                          <p:attrName>style.visibility</p:attrName>
                                        </p:attrNameLst>
                                      </p:cBhvr>
                                      <p:to>
                                        <p:strVal val="visible"/>
                                      </p:to>
                                    </p:set>
                                    <p:animEffect transition="in" filter="fade">
                                      <p:cBhvr>
                                        <p:cTn id="132" dur="500"/>
                                        <p:tgtEl>
                                          <p:spTgt spid="84993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850177"/>
                                        </p:tgtEl>
                                        <p:attrNameLst>
                                          <p:attrName>style.visibility</p:attrName>
                                        </p:attrNameLst>
                                      </p:cBhvr>
                                      <p:to>
                                        <p:strVal val="visible"/>
                                      </p:to>
                                    </p:set>
                                    <p:animEffect transition="in" filter="fade">
                                      <p:cBhvr>
                                        <p:cTn id="135" dur="500"/>
                                        <p:tgtEl>
                                          <p:spTgt spid="85017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850152"/>
                                        </p:tgtEl>
                                        <p:attrNameLst>
                                          <p:attrName>style.visibility</p:attrName>
                                        </p:attrNameLst>
                                      </p:cBhvr>
                                      <p:to>
                                        <p:strVal val="visible"/>
                                      </p:to>
                                    </p:set>
                                    <p:animEffect transition="in" filter="fade">
                                      <p:cBhvr>
                                        <p:cTn id="138" dur="500"/>
                                        <p:tgtEl>
                                          <p:spTgt spid="850152"/>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299"/>
                                        </p:tgtEl>
                                        <p:attrNameLst>
                                          <p:attrName>style.visibility</p:attrName>
                                        </p:attrNameLst>
                                      </p:cBhvr>
                                      <p:to>
                                        <p:strVal val="visible"/>
                                      </p:to>
                                    </p:set>
                                    <p:animEffect transition="in" filter="fade">
                                      <p:cBhvr>
                                        <p:cTn id="143" dur="500"/>
                                        <p:tgtEl>
                                          <p:spTgt spid="29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850155"/>
                                        </p:tgtEl>
                                        <p:attrNameLst>
                                          <p:attrName>style.visibility</p:attrName>
                                        </p:attrNameLst>
                                      </p:cBhvr>
                                      <p:to>
                                        <p:strVal val="visible"/>
                                      </p:to>
                                    </p:set>
                                    <p:animEffect transition="in" filter="fade">
                                      <p:cBhvr>
                                        <p:cTn id="146" dur="500"/>
                                        <p:tgtEl>
                                          <p:spTgt spid="85015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850176"/>
                                        </p:tgtEl>
                                        <p:attrNameLst>
                                          <p:attrName>style.visibility</p:attrName>
                                        </p:attrNameLst>
                                      </p:cBhvr>
                                      <p:to>
                                        <p:strVal val="visible"/>
                                      </p:to>
                                    </p:set>
                                    <p:animEffect transition="in" filter="fade">
                                      <p:cBhvr>
                                        <p:cTn id="149" dur="500"/>
                                        <p:tgtEl>
                                          <p:spTgt spid="850176"/>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850153"/>
                                        </p:tgtEl>
                                        <p:attrNameLst>
                                          <p:attrName>style.visibility</p:attrName>
                                        </p:attrNameLst>
                                      </p:cBhvr>
                                      <p:to>
                                        <p:strVal val="visible"/>
                                      </p:to>
                                    </p:set>
                                    <p:animEffect transition="in" filter="fade">
                                      <p:cBhvr>
                                        <p:cTn id="152" dur="500"/>
                                        <p:tgtEl>
                                          <p:spTgt spid="850153"/>
                                        </p:tgtEl>
                                      </p:cBhvr>
                                    </p:animEffect>
                                  </p:childTnLst>
                                </p:cTn>
                              </p:par>
                              <p:par>
                                <p:cTn id="153" presetID="10" presetClass="entr" presetSubtype="0" fill="hold" nodeType="withEffect">
                                  <p:stCondLst>
                                    <p:cond delay="0"/>
                                  </p:stCondLst>
                                  <p:childTnLst>
                                    <p:set>
                                      <p:cBhvr>
                                        <p:cTn id="154" dur="1" fill="hold">
                                          <p:stCondLst>
                                            <p:cond delay="0"/>
                                          </p:stCondLst>
                                        </p:cTn>
                                        <p:tgtEl>
                                          <p:spTgt spid="275"/>
                                        </p:tgtEl>
                                        <p:attrNameLst>
                                          <p:attrName>style.visibility</p:attrName>
                                        </p:attrNameLst>
                                      </p:cBhvr>
                                      <p:to>
                                        <p:strVal val="visible"/>
                                      </p:to>
                                    </p:set>
                                    <p:animEffect transition="in" filter="fade">
                                      <p:cBhvr>
                                        <p:cTn id="155" dur="500"/>
                                        <p:tgtEl>
                                          <p:spTgt spid="275"/>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280"/>
                                        </p:tgtEl>
                                        <p:attrNameLst>
                                          <p:attrName>style.visibility</p:attrName>
                                        </p:attrNameLst>
                                      </p:cBhvr>
                                      <p:to>
                                        <p:strVal val="visible"/>
                                      </p:to>
                                    </p:set>
                                    <p:animEffect transition="in" filter="fade">
                                      <p:cBhvr>
                                        <p:cTn id="158" dur="500"/>
                                        <p:tgtEl>
                                          <p:spTgt spid="280"/>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850178"/>
                                        </p:tgtEl>
                                        <p:attrNameLst>
                                          <p:attrName>style.visibility</p:attrName>
                                        </p:attrNameLst>
                                      </p:cBhvr>
                                      <p:to>
                                        <p:strVal val="visible"/>
                                      </p:to>
                                    </p:set>
                                    <p:animEffect transition="in" filter="fade">
                                      <p:cBhvr>
                                        <p:cTn id="163" dur="500"/>
                                        <p:tgtEl>
                                          <p:spTgt spid="850178"/>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850154"/>
                                        </p:tgtEl>
                                        <p:attrNameLst>
                                          <p:attrName>style.visibility</p:attrName>
                                        </p:attrNameLst>
                                      </p:cBhvr>
                                      <p:to>
                                        <p:strVal val="visible"/>
                                      </p:to>
                                    </p:set>
                                    <p:animEffect transition="in" filter="fade">
                                      <p:cBhvr>
                                        <p:cTn id="166" dur="500"/>
                                        <p:tgtEl>
                                          <p:spTgt spid="850154"/>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850156"/>
                                        </p:tgtEl>
                                        <p:attrNameLst>
                                          <p:attrName>style.visibility</p:attrName>
                                        </p:attrNameLst>
                                      </p:cBhvr>
                                      <p:to>
                                        <p:strVal val="visible"/>
                                      </p:to>
                                    </p:set>
                                    <p:animEffect transition="in" filter="fade">
                                      <p:cBhvr>
                                        <p:cTn id="169" dur="500"/>
                                        <p:tgtEl>
                                          <p:spTgt spid="850156"/>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281"/>
                                        </p:tgtEl>
                                        <p:attrNameLst>
                                          <p:attrName>style.visibility</p:attrName>
                                        </p:attrNameLst>
                                      </p:cBhvr>
                                      <p:to>
                                        <p:strVal val="visible"/>
                                      </p:to>
                                    </p:set>
                                    <p:animEffect transition="in" filter="fade">
                                      <p:cBhvr>
                                        <p:cTn id="172" dur="500"/>
                                        <p:tgtEl>
                                          <p:spTgt spid="281"/>
                                        </p:tgtEl>
                                      </p:cBhvr>
                                    </p:animEffect>
                                  </p:childTnLst>
                                </p:cTn>
                              </p:par>
                              <p:par>
                                <p:cTn id="173" presetID="10" presetClass="entr" presetSubtype="0" fill="hold" nodeType="withEffect">
                                  <p:stCondLst>
                                    <p:cond delay="0"/>
                                  </p:stCondLst>
                                  <p:childTnLst>
                                    <p:set>
                                      <p:cBhvr>
                                        <p:cTn id="174" dur="1" fill="hold">
                                          <p:stCondLst>
                                            <p:cond delay="0"/>
                                          </p:stCondLst>
                                        </p:cTn>
                                        <p:tgtEl>
                                          <p:spTgt spid="278"/>
                                        </p:tgtEl>
                                        <p:attrNameLst>
                                          <p:attrName>style.visibility</p:attrName>
                                        </p:attrNameLst>
                                      </p:cBhvr>
                                      <p:to>
                                        <p:strVal val="visible"/>
                                      </p:to>
                                    </p:set>
                                    <p:animEffect transition="in" filter="fade">
                                      <p:cBhvr>
                                        <p:cTn id="175" dur="500"/>
                                        <p:tgtEl>
                                          <p:spTgt spid="278"/>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nodeType="clickEffect">
                                  <p:stCondLst>
                                    <p:cond delay="0"/>
                                  </p:stCondLst>
                                  <p:childTnLst>
                                    <p:set>
                                      <p:cBhvr>
                                        <p:cTn id="179" dur="1" fill="hold">
                                          <p:stCondLst>
                                            <p:cond delay="0"/>
                                          </p:stCondLst>
                                        </p:cTn>
                                        <p:tgtEl>
                                          <p:spTgt spid="266"/>
                                        </p:tgtEl>
                                        <p:attrNameLst>
                                          <p:attrName>style.visibility</p:attrName>
                                        </p:attrNameLst>
                                      </p:cBhvr>
                                      <p:to>
                                        <p:strVal val="visible"/>
                                      </p:to>
                                    </p:set>
                                    <p:animEffect transition="in" filter="fade">
                                      <p:cBhvr>
                                        <p:cTn id="180" dur="500"/>
                                        <p:tgtEl>
                                          <p:spTgt spid="266"/>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268"/>
                                        </p:tgtEl>
                                        <p:attrNameLst>
                                          <p:attrName>style.visibility</p:attrName>
                                        </p:attrNameLst>
                                      </p:cBhvr>
                                      <p:to>
                                        <p:strVal val="visible"/>
                                      </p:to>
                                    </p:set>
                                    <p:animEffect transition="in" filter="fade">
                                      <p:cBhvr>
                                        <p:cTn id="183" dur="500"/>
                                        <p:tgtEl>
                                          <p:spTgt spid="268"/>
                                        </p:tgtEl>
                                      </p:cBhvr>
                                    </p:animEffect>
                                  </p:childTnLst>
                                </p:cTn>
                              </p:par>
                              <p:par>
                                <p:cTn id="184" presetID="22" presetClass="entr" presetSubtype="8" fill="hold" grpId="0" nodeType="withEffect">
                                  <p:stCondLst>
                                    <p:cond delay="0"/>
                                  </p:stCondLst>
                                  <p:childTnLst>
                                    <p:set>
                                      <p:cBhvr>
                                        <p:cTn id="185" dur="1" fill="hold">
                                          <p:stCondLst>
                                            <p:cond delay="0"/>
                                          </p:stCondLst>
                                        </p:cTn>
                                        <p:tgtEl>
                                          <p:spTgt spid="62"/>
                                        </p:tgtEl>
                                        <p:attrNameLst>
                                          <p:attrName>style.visibility</p:attrName>
                                        </p:attrNameLst>
                                      </p:cBhvr>
                                      <p:to>
                                        <p:strVal val="visible"/>
                                      </p:to>
                                    </p:set>
                                    <p:animEffect transition="in" filter="wipe(left)">
                                      <p:cBhvr>
                                        <p:cTn id="186" dur="500"/>
                                        <p:tgtEl>
                                          <p:spTgt spid="62"/>
                                        </p:tgtEl>
                                      </p:cBhvr>
                                    </p:animEffect>
                                  </p:childTnLst>
                                </p:cTn>
                              </p:par>
                              <p:par>
                                <p:cTn id="187" presetID="22" presetClass="entr" presetSubtype="8" fill="hold" grpId="0" nodeType="withEffect">
                                  <p:stCondLst>
                                    <p:cond delay="0"/>
                                  </p:stCondLst>
                                  <p:childTnLst>
                                    <p:set>
                                      <p:cBhvr>
                                        <p:cTn id="188" dur="1" fill="hold">
                                          <p:stCondLst>
                                            <p:cond delay="0"/>
                                          </p:stCondLst>
                                        </p:cTn>
                                        <p:tgtEl>
                                          <p:spTgt spid="63"/>
                                        </p:tgtEl>
                                        <p:attrNameLst>
                                          <p:attrName>style.visibility</p:attrName>
                                        </p:attrNameLst>
                                      </p:cBhvr>
                                      <p:to>
                                        <p:strVal val="visible"/>
                                      </p:to>
                                    </p:set>
                                    <p:animEffect transition="in" filter="wipe(left)">
                                      <p:cBhvr>
                                        <p:cTn id="189" dur="500"/>
                                        <p:tgtEl>
                                          <p:spTgt spid="63"/>
                                        </p:tgtEl>
                                      </p:cBhvr>
                                    </p:animEffect>
                                  </p:childTnLst>
                                </p:cTn>
                              </p:par>
                            </p:childTnLst>
                          </p:cTn>
                        </p:par>
                        <p:par>
                          <p:cTn id="190" fill="hold">
                            <p:stCondLst>
                              <p:cond delay="500"/>
                            </p:stCondLst>
                            <p:childTnLst>
                              <p:par>
                                <p:cTn id="191" presetID="22" presetClass="entr" presetSubtype="4" fill="hold" nodeType="afterEffect">
                                  <p:stCondLst>
                                    <p:cond delay="0"/>
                                  </p:stCondLst>
                                  <p:childTnLst>
                                    <p:set>
                                      <p:cBhvr>
                                        <p:cTn id="192" dur="1" fill="hold">
                                          <p:stCondLst>
                                            <p:cond delay="0"/>
                                          </p:stCondLst>
                                        </p:cTn>
                                        <p:tgtEl>
                                          <p:spTgt spid="64"/>
                                        </p:tgtEl>
                                        <p:attrNameLst>
                                          <p:attrName>style.visibility</p:attrName>
                                        </p:attrNameLst>
                                      </p:cBhvr>
                                      <p:to>
                                        <p:strVal val="visible"/>
                                      </p:to>
                                    </p:set>
                                    <p:animEffect transition="in" filter="wipe(down)">
                                      <p:cBhvr>
                                        <p:cTn id="193" dur="500"/>
                                        <p:tgtEl>
                                          <p:spTgt spid="64"/>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65"/>
                                        </p:tgtEl>
                                        <p:attrNameLst>
                                          <p:attrName>style.visibility</p:attrName>
                                        </p:attrNameLst>
                                      </p:cBhvr>
                                      <p:to>
                                        <p:strVal val="visible"/>
                                      </p:to>
                                    </p:set>
                                    <p:animEffect transition="in" filter="fade">
                                      <p:cBhvr>
                                        <p:cTn id="196"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5" grpId="0" animBg="1"/>
      <p:bldP spid="849926" grpId="0" animBg="1"/>
      <p:bldP spid="849927" grpId="0" animBg="1"/>
      <p:bldP spid="849929" grpId="0"/>
      <p:bldP spid="849930" grpId="0"/>
      <p:bldP spid="849931" grpId="0"/>
      <p:bldP spid="849932" grpId="0" animBg="1"/>
      <p:bldP spid="849933" grpId="0" animBg="1"/>
      <p:bldP spid="849934" grpId="0" animBg="1"/>
      <p:bldP spid="850049" grpId="0" animBg="1"/>
      <p:bldP spid="850051" grpId="0" animBg="1"/>
      <p:bldP spid="850052" grpId="0" animBg="1"/>
      <p:bldP spid="850053" grpId="0" animBg="1"/>
      <p:bldP spid="850054" grpId="0" animBg="1"/>
      <p:bldP spid="850056" grpId="0"/>
      <p:bldP spid="850057" grpId="0"/>
      <p:bldP spid="850152" grpId="0" animBg="1"/>
      <p:bldP spid="850153" grpId="0" animBg="1"/>
      <p:bldP spid="850154" grpId="0" animBg="1"/>
      <p:bldP spid="850155" grpId="0" animBg="1"/>
      <p:bldP spid="850156" grpId="0" animBg="1"/>
      <p:bldP spid="850169" grpId="0"/>
      <p:bldP spid="850171" grpId="0"/>
      <p:bldP spid="850172" grpId="0"/>
      <p:bldP spid="850173" grpId="0"/>
      <p:bldP spid="850174" grpId="0"/>
      <p:bldP spid="850175" grpId="0"/>
      <p:bldP spid="850176" grpId="0"/>
      <p:bldP spid="850177" grpId="0"/>
      <p:bldP spid="850178" grpId="0"/>
      <p:bldP spid="249" grpId="0"/>
      <p:bldP spid="250" grpId="0"/>
      <p:bldP spid="251" grpId="0"/>
      <p:bldP spid="257" grpId="0" animBg="1"/>
      <p:bldP spid="263" grpId="0" animBg="1"/>
      <p:bldP spid="264" grpId="0" animBg="1"/>
      <p:bldP spid="267" grpId="0"/>
      <p:bldP spid="268" grpId="0"/>
      <p:bldP spid="269" grpId="0"/>
      <p:bldP spid="270" grpId="0"/>
      <p:bldP spid="271" grpId="0"/>
      <p:bldP spid="274" grpId="0" animBg="1"/>
      <p:bldP spid="280" grpId="0" animBg="1"/>
      <p:bldP spid="281" grpId="0" animBg="1"/>
      <p:bldP spid="282" grpId="0"/>
      <p:bldP spid="299" grpId="0"/>
      <p:bldP spid="62" grpId="0" animBg="1"/>
      <p:bldP spid="63" grpId="0"/>
      <p:bldP spid="6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6"/>
          <p:cNvSpPr>
            <a:spLocks noGrp="1" noRot="1" noChangeArrowheads="1"/>
          </p:cNvSpPr>
          <p:nvPr>
            <p:ph type="title" idx="4294967295"/>
          </p:nvPr>
        </p:nvSpPr>
        <p:spPr>
          <a:xfrm>
            <a:off x="1150938" y="61913"/>
            <a:ext cx="7993062" cy="639762"/>
          </a:xfrm>
        </p:spPr>
        <p:txBody>
          <a:bodyPr/>
          <a:lstStyle/>
          <a:p>
            <a:pPr algn="l"/>
            <a:r>
              <a:rPr lang="en-US" dirty="0" smtClean="0"/>
              <a:t>Private, External, and Social Benefits</a:t>
            </a:r>
            <a:endParaRPr lang="en-US" b="0" dirty="0" smtClean="0"/>
          </a:p>
        </p:txBody>
      </p:sp>
      <p:sp>
        <p:nvSpPr>
          <p:cNvPr id="92165" name="Text Box 5"/>
          <p:cNvSpPr txBox="1">
            <a:spLocks noChangeArrowheads="1"/>
          </p:cNvSpPr>
          <p:nvPr/>
        </p:nvSpPr>
        <p:spPr bwMode="auto">
          <a:xfrm>
            <a:off x="899592" y="692696"/>
            <a:ext cx="7992888" cy="5816977"/>
          </a:xfrm>
          <a:prstGeom prst="rect">
            <a:avLst/>
          </a:prstGeom>
          <a:noFill/>
          <a:ln w="9525" algn="ctr">
            <a:noFill/>
            <a:miter lim="800000"/>
            <a:headEnd/>
            <a:tailEnd type="none" w="med" len="lg"/>
          </a:ln>
        </p:spPr>
        <p:txBody>
          <a:bodyPr wrap="square">
            <a:spAutoFit/>
          </a:bodyPr>
          <a:lstStyle/>
          <a:p>
            <a:pPr marL="342900" indent="-342900">
              <a:lnSpc>
                <a:spcPct val="100000"/>
              </a:lnSpc>
              <a:spcBef>
                <a:spcPts val="1800"/>
              </a:spcBef>
              <a:buClr>
                <a:schemeClr val="tx1"/>
              </a:buClr>
              <a:buFont typeface="Arial" pitchFamily="34" charset="0"/>
              <a:buChar char="•"/>
            </a:pPr>
            <a:r>
              <a:rPr lang="en-US" sz="2600" dirty="0"/>
              <a:t>The </a:t>
            </a:r>
            <a:r>
              <a:rPr lang="en-US" sz="2600" b="1" dirty="0"/>
              <a:t>marginal social benefit of a good or activity </a:t>
            </a:r>
            <a:r>
              <a:rPr lang="en-US" sz="2600" dirty="0"/>
              <a:t>is equal to the marginal benefit that accrues to </a:t>
            </a:r>
            <a:r>
              <a:rPr lang="en-US" sz="2600" dirty="0" smtClean="0"/>
              <a:t>consumers, </a:t>
            </a:r>
            <a:r>
              <a:rPr lang="en-US" sz="2600" dirty="0"/>
              <a:t>plus its </a:t>
            </a:r>
            <a:r>
              <a:rPr lang="en-US" sz="2600" b="1" dirty="0">
                <a:solidFill>
                  <a:schemeClr val="accent1">
                    <a:lumMod val="50000"/>
                  </a:schemeClr>
                </a:solidFill>
              </a:rPr>
              <a:t>marginal external </a:t>
            </a:r>
            <a:r>
              <a:rPr lang="en-US" sz="2600" b="1" dirty="0" smtClean="0">
                <a:solidFill>
                  <a:schemeClr val="accent1">
                    <a:lumMod val="50000"/>
                  </a:schemeClr>
                </a:solidFill>
              </a:rPr>
              <a:t>benefit</a:t>
            </a:r>
            <a:r>
              <a:rPr lang="en-US" sz="2600" dirty="0" smtClean="0"/>
              <a:t>.</a:t>
            </a:r>
          </a:p>
          <a:p>
            <a:pPr marL="800100" lvl="1" indent="-342900">
              <a:spcBef>
                <a:spcPts val="1800"/>
              </a:spcBef>
              <a:buClr>
                <a:schemeClr val="tx1"/>
              </a:buClr>
              <a:buFont typeface="Arial" pitchFamily="34" charset="0"/>
              <a:buChar char="•"/>
            </a:pPr>
            <a:r>
              <a:rPr lang="en-US" sz="2600" dirty="0" smtClean="0"/>
              <a:t>A </a:t>
            </a:r>
            <a:r>
              <a:rPr lang="en-US" sz="2600" b="1" dirty="0"/>
              <a:t>technology spillover </a:t>
            </a:r>
            <a:r>
              <a:rPr lang="en-US" sz="2600" dirty="0" smtClean="0"/>
              <a:t>when new </a:t>
            </a:r>
            <a:br>
              <a:rPr lang="en-US" sz="2600" dirty="0" smtClean="0"/>
            </a:br>
            <a:r>
              <a:rPr lang="en-US" sz="2600" dirty="0" smtClean="0"/>
              <a:t>knowledge </a:t>
            </a:r>
            <a:r>
              <a:rPr lang="en-US" sz="2600" dirty="0"/>
              <a:t>spreads among firms </a:t>
            </a:r>
            <a:endParaRPr lang="en-US" sz="2600" dirty="0" smtClean="0"/>
          </a:p>
          <a:p>
            <a:pPr marL="800100" lvl="1" indent="-342900">
              <a:spcBef>
                <a:spcPts val="1800"/>
              </a:spcBef>
              <a:buClr>
                <a:schemeClr val="tx1"/>
              </a:buClr>
              <a:buFont typeface="Arial" pitchFamily="34" charset="0"/>
              <a:buChar char="•"/>
            </a:pPr>
            <a:r>
              <a:rPr lang="en-US" sz="2600" dirty="0" smtClean="0"/>
              <a:t>Vaccination prevents disease from </a:t>
            </a:r>
            <a:br>
              <a:rPr lang="en-US" sz="2600" dirty="0" smtClean="0"/>
            </a:br>
            <a:r>
              <a:rPr lang="en-US" sz="2600" dirty="0" smtClean="0"/>
              <a:t>spreading through the population</a:t>
            </a:r>
          </a:p>
          <a:p>
            <a:pPr marL="231775" indent="-231775">
              <a:lnSpc>
                <a:spcPct val="100000"/>
              </a:lnSpc>
              <a:spcBef>
                <a:spcPts val="1800"/>
              </a:spcBef>
              <a:buClr>
                <a:schemeClr val="tx1"/>
              </a:buClr>
              <a:buFont typeface="Arial" pitchFamily="34" charset="0"/>
              <a:buChar char="•"/>
            </a:pPr>
            <a:r>
              <a:rPr lang="en-US" sz="2600" dirty="0" smtClean="0"/>
              <a:t>A </a:t>
            </a:r>
            <a:r>
              <a:rPr lang="en-US" sz="2600" b="1" dirty="0" err="1"/>
              <a:t>Pigouvian</a:t>
            </a:r>
            <a:r>
              <a:rPr lang="en-US" sz="2600" b="1" dirty="0"/>
              <a:t> subsidy </a:t>
            </a:r>
            <a:r>
              <a:rPr lang="en-US" sz="2600" dirty="0"/>
              <a:t>is a payment designed to encourage activities that yield external benefits.</a:t>
            </a:r>
          </a:p>
          <a:p>
            <a:pPr marL="688975" lvl="1" indent="-231775">
              <a:spcBef>
                <a:spcPts val="1800"/>
              </a:spcBef>
              <a:buClr>
                <a:schemeClr val="tx1"/>
              </a:buClr>
              <a:buFont typeface="Wingdings" pitchFamily="2" charset="2"/>
              <a:buChar char="§"/>
            </a:pPr>
            <a:r>
              <a:rPr lang="en-US" sz="2600" dirty="0" smtClean="0"/>
              <a:t>The </a:t>
            </a:r>
            <a:r>
              <a:rPr lang="en-US" sz="2600" dirty="0"/>
              <a:t>socially optimal quantity can be achieved by an optimal </a:t>
            </a:r>
            <a:r>
              <a:rPr lang="en-US" sz="2600" i="1" dirty="0" err="1"/>
              <a:t>Pigouvian</a:t>
            </a:r>
            <a:r>
              <a:rPr lang="en-US" sz="2600" i="1" dirty="0"/>
              <a:t> subsidy</a:t>
            </a:r>
            <a:r>
              <a:rPr lang="en-US" sz="2600" dirty="0"/>
              <a:t> equal to the marginal external </a:t>
            </a:r>
            <a:r>
              <a:rPr lang="en-US" sz="2600" dirty="0" smtClean="0"/>
              <a:t>benefit</a:t>
            </a:r>
            <a:endParaRPr lang="en-US" sz="26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1988840"/>
            <a:ext cx="2143125"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1952762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Rot="1" noChangeArrowheads="1"/>
          </p:cNvSpPr>
          <p:nvPr>
            <p:ph type="title"/>
          </p:nvPr>
        </p:nvSpPr>
        <p:spPr>
          <a:xfrm>
            <a:off x="872927" y="51245"/>
            <a:ext cx="8091561" cy="609600"/>
          </a:xfrm>
        </p:spPr>
        <p:txBody>
          <a:bodyPr/>
          <a:lstStyle/>
          <a:p>
            <a:pPr algn="l"/>
            <a:r>
              <a:rPr lang="en-US" sz="3500" dirty="0" smtClean="0"/>
              <a:t>Positive Externalities and Consumption</a:t>
            </a:r>
          </a:p>
        </p:txBody>
      </p:sp>
      <p:sp>
        <p:nvSpPr>
          <p:cNvPr id="845048" name="Line 248"/>
          <p:cNvSpPr>
            <a:spLocks noChangeShapeType="1"/>
          </p:cNvSpPr>
          <p:nvPr/>
        </p:nvSpPr>
        <p:spPr bwMode="auto">
          <a:xfrm flipV="1">
            <a:off x="1566863" y="2757513"/>
            <a:ext cx="2003425" cy="2017712"/>
          </a:xfrm>
          <a:prstGeom prst="line">
            <a:avLst/>
          </a:prstGeom>
          <a:noFill/>
          <a:ln w="30163">
            <a:solidFill>
              <a:srgbClr val="EE313C"/>
            </a:solidFill>
            <a:miter lim="800000"/>
            <a:headEnd/>
            <a:tailEnd/>
          </a:ln>
        </p:spPr>
        <p:txBody>
          <a:bodyPr/>
          <a:lstStyle/>
          <a:p>
            <a:endParaRPr lang="en-US" dirty="0"/>
          </a:p>
        </p:txBody>
      </p:sp>
      <p:sp>
        <p:nvSpPr>
          <p:cNvPr id="845049" name="Line 249"/>
          <p:cNvSpPr>
            <a:spLocks noChangeShapeType="1"/>
          </p:cNvSpPr>
          <p:nvPr/>
        </p:nvSpPr>
        <p:spPr bwMode="auto">
          <a:xfrm>
            <a:off x="1449388" y="2582888"/>
            <a:ext cx="2108200" cy="1606550"/>
          </a:xfrm>
          <a:prstGeom prst="line">
            <a:avLst/>
          </a:prstGeom>
          <a:noFill/>
          <a:ln w="30163">
            <a:solidFill>
              <a:srgbClr val="6D4099"/>
            </a:solidFill>
            <a:prstDash val="sysDot"/>
            <a:miter lim="800000"/>
            <a:headEnd/>
            <a:tailEnd/>
          </a:ln>
        </p:spPr>
        <p:txBody>
          <a:bodyPr/>
          <a:lstStyle/>
          <a:p>
            <a:endParaRPr lang="en-US" dirty="0"/>
          </a:p>
        </p:txBody>
      </p:sp>
      <p:sp>
        <p:nvSpPr>
          <p:cNvPr id="845050" name="Line 250"/>
          <p:cNvSpPr>
            <a:spLocks noChangeShapeType="1"/>
          </p:cNvSpPr>
          <p:nvPr/>
        </p:nvSpPr>
        <p:spPr bwMode="auto">
          <a:xfrm>
            <a:off x="1457325" y="3384575"/>
            <a:ext cx="2108200" cy="1609725"/>
          </a:xfrm>
          <a:prstGeom prst="line">
            <a:avLst/>
          </a:prstGeom>
          <a:noFill/>
          <a:ln w="30163">
            <a:solidFill>
              <a:srgbClr val="3C5DAA"/>
            </a:solidFill>
            <a:miter lim="800000"/>
            <a:headEnd/>
            <a:tailEnd/>
          </a:ln>
        </p:spPr>
        <p:txBody>
          <a:bodyPr/>
          <a:lstStyle/>
          <a:p>
            <a:endParaRPr lang="en-US" dirty="0"/>
          </a:p>
        </p:txBody>
      </p:sp>
      <p:sp>
        <p:nvSpPr>
          <p:cNvPr id="845054" name="Rectangle 254"/>
          <p:cNvSpPr>
            <a:spLocks noChangeArrowheads="1"/>
          </p:cNvSpPr>
          <p:nvPr/>
        </p:nvSpPr>
        <p:spPr bwMode="auto">
          <a:xfrm>
            <a:off x="3595688" y="2522563"/>
            <a:ext cx="120226"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S</a:t>
            </a:r>
            <a:endParaRPr lang="en-US" sz="1400" i="1" dirty="0">
              <a:latin typeface="Tahoma" pitchFamily="34" charset="0"/>
            </a:endParaRPr>
          </a:p>
        </p:txBody>
      </p:sp>
      <p:sp>
        <p:nvSpPr>
          <p:cNvPr id="845055" name="Rectangle 255"/>
          <p:cNvSpPr>
            <a:spLocks noChangeArrowheads="1"/>
          </p:cNvSpPr>
          <p:nvPr/>
        </p:nvSpPr>
        <p:spPr bwMode="auto">
          <a:xfrm>
            <a:off x="3590925" y="4889525"/>
            <a:ext cx="129844"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D</a:t>
            </a:r>
            <a:endParaRPr lang="en-US" sz="1400" i="1" dirty="0">
              <a:latin typeface="Tahoma" pitchFamily="34" charset="0"/>
            </a:endParaRPr>
          </a:p>
        </p:txBody>
      </p:sp>
      <p:sp>
        <p:nvSpPr>
          <p:cNvPr id="845056" name="Rectangle 256"/>
          <p:cNvSpPr>
            <a:spLocks noChangeArrowheads="1"/>
          </p:cNvSpPr>
          <p:nvPr/>
        </p:nvSpPr>
        <p:spPr bwMode="auto">
          <a:xfrm>
            <a:off x="3590925" y="4087838"/>
            <a:ext cx="804863" cy="861774"/>
          </a:xfrm>
          <a:prstGeom prst="rect">
            <a:avLst/>
          </a:prstGeom>
          <a:noFill/>
          <a:ln w="9525">
            <a:noFill/>
            <a:miter lim="800000"/>
            <a:headEnd/>
            <a:tailEnd/>
          </a:ln>
        </p:spPr>
        <p:txBody>
          <a:bodyPr lIns="0" tIns="0" rIns="0" bIns="0">
            <a:spAutoFit/>
          </a:bodyPr>
          <a:lstStyle/>
          <a:p>
            <a:pPr marL="1588" indent="-1588" algn="ctr"/>
            <a:r>
              <a:rPr lang="en-US" sz="1400" i="1" dirty="0">
                <a:solidFill>
                  <a:srgbClr val="000000"/>
                </a:solidFill>
                <a:latin typeface="Myriad Pro" pitchFamily="34" charset="0"/>
              </a:rPr>
              <a:t>MSB </a:t>
            </a:r>
            <a:r>
              <a:rPr lang="en-US" sz="1400" dirty="0">
                <a:solidFill>
                  <a:srgbClr val="000000"/>
                </a:solidFill>
                <a:latin typeface="Myriad Pro" pitchFamily="34" charset="0"/>
              </a:rPr>
              <a:t>of measles vaccine </a:t>
            </a:r>
          </a:p>
          <a:p>
            <a:pPr marL="1588" indent="-1588" algn="ctr"/>
            <a:endParaRPr lang="en-US" sz="1400" dirty="0">
              <a:latin typeface="Tahoma" pitchFamily="34" charset="0"/>
            </a:endParaRPr>
          </a:p>
        </p:txBody>
      </p:sp>
      <p:sp>
        <p:nvSpPr>
          <p:cNvPr id="845057" name="Rectangle 257"/>
          <p:cNvSpPr>
            <a:spLocks noChangeArrowheads="1"/>
          </p:cNvSpPr>
          <p:nvPr/>
        </p:nvSpPr>
        <p:spPr bwMode="auto">
          <a:xfrm>
            <a:off x="2614685" y="3240113"/>
            <a:ext cx="288542" cy="215444"/>
          </a:xfrm>
          <a:prstGeom prst="rect">
            <a:avLst/>
          </a:prstGeom>
          <a:noFill/>
          <a:ln w="9525">
            <a:noFill/>
            <a:miter lim="800000"/>
            <a:headEnd/>
            <a:tailEnd/>
          </a:ln>
        </p:spPr>
        <p:txBody>
          <a:bodyPr wrap="none" lIns="0" tIns="0" rIns="0" bIns="0">
            <a:spAutoFit/>
          </a:bodyPr>
          <a:lstStyle/>
          <a:p>
            <a:pPr marL="1588" indent="-1588" algn="ctr"/>
            <a:r>
              <a:rPr lang="en-US" sz="1400" i="1" dirty="0" smtClean="0">
                <a:solidFill>
                  <a:srgbClr val="000000"/>
                </a:solidFill>
                <a:latin typeface="Myriad Pro" pitchFamily="34" charset="0"/>
              </a:rPr>
              <a:t>Opt</a:t>
            </a:r>
            <a:endParaRPr lang="en-US" sz="1400" i="1" dirty="0">
              <a:latin typeface="Tahoma" pitchFamily="34" charset="0"/>
            </a:endParaRPr>
          </a:p>
        </p:txBody>
      </p:sp>
      <p:sp>
        <p:nvSpPr>
          <p:cNvPr id="845147" name="Line 347"/>
          <p:cNvSpPr>
            <a:spLocks noChangeShapeType="1"/>
          </p:cNvSpPr>
          <p:nvPr/>
        </p:nvSpPr>
        <p:spPr bwMode="auto">
          <a:xfrm flipV="1">
            <a:off x="1693863" y="2851175"/>
            <a:ext cx="549275" cy="330200"/>
          </a:xfrm>
          <a:prstGeom prst="line">
            <a:avLst/>
          </a:prstGeom>
          <a:noFill/>
          <a:ln w="6350">
            <a:solidFill>
              <a:srgbClr val="000000"/>
            </a:solidFill>
            <a:miter lim="800000"/>
            <a:headEnd/>
            <a:tailEnd/>
          </a:ln>
        </p:spPr>
        <p:txBody>
          <a:bodyPr/>
          <a:lstStyle/>
          <a:p>
            <a:endParaRPr lang="en-US" dirty="0"/>
          </a:p>
        </p:txBody>
      </p:sp>
      <p:sp>
        <p:nvSpPr>
          <p:cNvPr id="845148" name="Freeform 348"/>
          <p:cNvSpPr>
            <a:spLocks/>
          </p:cNvSpPr>
          <p:nvPr/>
        </p:nvSpPr>
        <p:spPr bwMode="auto">
          <a:xfrm>
            <a:off x="2211388" y="2141563"/>
            <a:ext cx="865187" cy="741362"/>
          </a:xfrm>
          <a:custGeom>
            <a:avLst/>
            <a:gdLst/>
            <a:ahLst/>
            <a:cxnLst>
              <a:cxn ang="0">
                <a:pos x="148" y="119"/>
              </a:cxn>
              <a:cxn ang="0">
                <a:pos x="132" y="135"/>
              </a:cxn>
              <a:cxn ang="0">
                <a:pos x="16" y="135"/>
              </a:cxn>
              <a:cxn ang="0">
                <a:pos x="0" y="119"/>
              </a:cxn>
              <a:cxn ang="0">
                <a:pos x="0" y="16"/>
              </a:cxn>
              <a:cxn ang="0">
                <a:pos x="16" y="0"/>
              </a:cxn>
              <a:cxn ang="0">
                <a:pos x="132" y="0"/>
              </a:cxn>
              <a:cxn ang="0">
                <a:pos x="148" y="16"/>
              </a:cxn>
              <a:cxn ang="0">
                <a:pos x="148" y="119"/>
              </a:cxn>
            </a:cxnLst>
            <a:rect l="0" t="0" r="r" b="b"/>
            <a:pathLst>
              <a:path w="148" h="135">
                <a:moveTo>
                  <a:pt x="148" y="119"/>
                </a:moveTo>
                <a:cubicBezTo>
                  <a:pt x="148" y="128"/>
                  <a:pt x="141" y="135"/>
                  <a:pt x="132" y="135"/>
                </a:cubicBezTo>
                <a:cubicBezTo>
                  <a:pt x="16" y="135"/>
                  <a:pt x="16" y="135"/>
                  <a:pt x="16" y="135"/>
                </a:cubicBezTo>
                <a:cubicBezTo>
                  <a:pt x="8" y="135"/>
                  <a:pt x="0" y="128"/>
                  <a:pt x="0" y="119"/>
                </a:cubicBezTo>
                <a:cubicBezTo>
                  <a:pt x="0" y="16"/>
                  <a:pt x="0" y="16"/>
                  <a:pt x="0" y="16"/>
                </a:cubicBezTo>
                <a:cubicBezTo>
                  <a:pt x="0" y="7"/>
                  <a:pt x="8" y="0"/>
                  <a:pt x="16" y="0"/>
                </a:cubicBezTo>
                <a:cubicBezTo>
                  <a:pt x="132" y="0"/>
                  <a:pt x="132" y="0"/>
                  <a:pt x="132" y="0"/>
                </a:cubicBezTo>
                <a:cubicBezTo>
                  <a:pt x="141" y="0"/>
                  <a:pt x="148" y="7"/>
                  <a:pt x="148" y="16"/>
                </a:cubicBezTo>
                <a:lnTo>
                  <a:pt x="148" y="119"/>
                </a:lnTo>
                <a:close/>
              </a:path>
            </a:pathLst>
          </a:custGeom>
          <a:solidFill>
            <a:srgbClr val="D7E2E0"/>
          </a:solidFill>
          <a:ln w="9525">
            <a:noFill/>
            <a:round/>
            <a:headEnd/>
            <a:tailEnd/>
          </a:ln>
        </p:spPr>
        <p:txBody>
          <a:bodyPr/>
          <a:lstStyle/>
          <a:p>
            <a:endParaRPr lang="en-US" dirty="0"/>
          </a:p>
        </p:txBody>
      </p:sp>
      <p:sp>
        <p:nvSpPr>
          <p:cNvPr id="845149" name="Rectangle 349"/>
          <p:cNvSpPr>
            <a:spLocks noChangeArrowheads="1"/>
          </p:cNvSpPr>
          <p:nvPr/>
        </p:nvSpPr>
        <p:spPr bwMode="auto">
          <a:xfrm>
            <a:off x="1566863" y="897302"/>
            <a:ext cx="1918795" cy="215444"/>
          </a:xfrm>
          <a:prstGeom prst="rect">
            <a:avLst/>
          </a:prstGeom>
          <a:noFill/>
          <a:ln w="9525">
            <a:noFill/>
            <a:miter lim="800000"/>
            <a:headEnd/>
            <a:tailEnd/>
          </a:ln>
        </p:spPr>
        <p:txBody>
          <a:bodyPr wrap="none" lIns="0" tIns="0" rIns="0" bIns="0">
            <a:spAutoFit/>
          </a:bodyPr>
          <a:lstStyle/>
          <a:p>
            <a:pPr marL="1588" indent="-1588" algn="ctr"/>
            <a:r>
              <a:rPr lang="en-US" sz="1400" b="1" dirty="0">
                <a:solidFill>
                  <a:srgbClr val="000000"/>
                </a:solidFill>
                <a:latin typeface="Myriad Pro" pitchFamily="34" charset="0"/>
              </a:rPr>
              <a:t>(a) Positive Externality</a:t>
            </a:r>
            <a:endParaRPr lang="en-US" sz="1400" b="1" dirty="0">
              <a:latin typeface="Tahoma" pitchFamily="34" charset="0"/>
            </a:endParaRPr>
          </a:p>
        </p:txBody>
      </p:sp>
      <p:sp>
        <p:nvSpPr>
          <p:cNvPr id="845150" name="Freeform 350"/>
          <p:cNvSpPr>
            <a:spLocks/>
          </p:cNvSpPr>
          <p:nvPr/>
        </p:nvSpPr>
        <p:spPr bwMode="auto">
          <a:xfrm>
            <a:off x="4676775" y="3656038"/>
            <a:ext cx="974725" cy="747712"/>
          </a:xfrm>
          <a:custGeom>
            <a:avLst/>
            <a:gdLst/>
            <a:ahLst/>
            <a:cxnLst>
              <a:cxn ang="0">
                <a:pos x="161" y="120"/>
              </a:cxn>
              <a:cxn ang="0">
                <a:pos x="145" y="136"/>
              </a:cxn>
              <a:cxn ang="0">
                <a:pos x="16" y="136"/>
              </a:cxn>
              <a:cxn ang="0">
                <a:pos x="0" y="120"/>
              </a:cxn>
              <a:cxn ang="0">
                <a:pos x="0" y="16"/>
              </a:cxn>
              <a:cxn ang="0">
                <a:pos x="16" y="0"/>
              </a:cxn>
              <a:cxn ang="0">
                <a:pos x="145" y="0"/>
              </a:cxn>
              <a:cxn ang="0">
                <a:pos x="161" y="16"/>
              </a:cxn>
              <a:cxn ang="0">
                <a:pos x="161" y="120"/>
              </a:cxn>
            </a:cxnLst>
            <a:rect l="0" t="0" r="r" b="b"/>
            <a:pathLst>
              <a:path w="161" h="136">
                <a:moveTo>
                  <a:pt x="161" y="120"/>
                </a:moveTo>
                <a:cubicBezTo>
                  <a:pt x="161" y="128"/>
                  <a:pt x="154" y="136"/>
                  <a:pt x="145" y="136"/>
                </a:cubicBezTo>
                <a:cubicBezTo>
                  <a:pt x="16" y="136"/>
                  <a:pt x="16" y="136"/>
                  <a:pt x="16" y="136"/>
                </a:cubicBezTo>
                <a:cubicBezTo>
                  <a:pt x="7" y="136"/>
                  <a:pt x="0" y="128"/>
                  <a:pt x="0" y="120"/>
                </a:cubicBezTo>
                <a:cubicBezTo>
                  <a:pt x="0" y="16"/>
                  <a:pt x="0" y="16"/>
                  <a:pt x="0" y="16"/>
                </a:cubicBezTo>
                <a:cubicBezTo>
                  <a:pt x="0" y="8"/>
                  <a:pt x="7" y="0"/>
                  <a:pt x="16" y="0"/>
                </a:cubicBezTo>
                <a:cubicBezTo>
                  <a:pt x="145" y="0"/>
                  <a:pt x="145" y="0"/>
                  <a:pt x="145" y="0"/>
                </a:cubicBezTo>
                <a:cubicBezTo>
                  <a:pt x="154" y="0"/>
                  <a:pt x="161" y="8"/>
                  <a:pt x="161" y="16"/>
                </a:cubicBezTo>
                <a:lnTo>
                  <a:pt x="161" y="120"/>
                </a:lnTo>
                <a:close/>
              </a:path>
            </a:pathLst>
          </a:custGeom>
          <a:solidFill>
            <a:srgbClr val="D7E2E0"/>
          </a:solidFill>
          <a:ln w="9525">
            <a:noFill/>
            <a:round/>
            <a:headEnd/>
            <a:tailEnd/>
          </a:ln>
        </p:spPr>
        <p:txBody>
          <a:bodyPr/>
          <a:lstStyle/>
          <a:p>
            <a:endParaRPr lang="en-US" dirty="0"/>
          </a:p>
        </p:txBody>
      </p:sp>
      <p:sp>
        <p:nvSpPr>
          <p:cNvPr id="845151" name="Rectangle 351"/>
          <p:cNvSpPr>
            <a:spLocks noChangeArrowheads="1"/>
          </p:cNvSpPr>
          <p:nvPr/>
        </p:nvSpPr>
        <p:spPr bwMode="auto">
          <a:xfrm>
            <a:off x="5292079" y="1470050"/>
            <a:ext cx="1999085" cy="215444"/>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Price of measles vaccine </a:t>
            </a:r>
          </a:p>
        </p:txBody>
      </p:sp>
      <p:sp>
        <p:nvSpPr>
          <p:cNvPr id="845166" name="Line 366"/>
          <p:cNvSpPr>
            <a:spLocks noChangeShapeType="1"/>
          </p:cNvSpPr>
          <p:nvPr/>
        </p:nvSpPr>
        <p:spPr bwMode="auto">
          <a:xfrm flipV="1">
            <a:off x="6205147" y="2817266"/>
            <a:ext cx="2001837" cy="2017712"/>
          </a:xfrm>
          <a:prstGeom prst="line">
            <a:avLst/>
          </a:prstGeom>
          <a:noFill/>
          <a:ln w="30163">
            <a:solidFill>
              <a:srgbClr val="EE313C"/>
            </a:solidFill>
            <a:miter lim="800000"/>
            <a:headEnd/>
            <a:tailEnd/>
          </a:ln>
        </p:spPr>
        <p:txBody>
          <a:bodyPr/>
          <a:lstStyle/>
          <a:p>
            <a:endParaRPr lang="en-US" dirty="0"/>
          </a:p>
        </p:txBody>
      </p:sp>
      <p:sp>
        <p:nvSpPr>
          <p:cNvPr id="845167" name="Line 367"/>
          <p:cNvSpPr>
            <a:spLocks noChangeShapeType="1"/>
          </p:cNvSpPr>
          <p:nvPr/>
        </p:nvSpPr>
        <p:spPr bwMode="auto">
          <a:xfrm>
            <a:off x="6205147" y="3402713"/>
            <a:ext cx="2106613" cy="1609725"/>
          </a:xfrm>
          <a:prstGeom prst="line">
            <a:avLst/>
          </a:prstGeom>
          <a:noFill/>
          <a:ln w="30163">
            <a:solidFill>
              <a:srgbClr val="3C5DAA"/>
            </a:solidFill>
            <a:prstDash val="sysDot"/>
            <a:miter lim="800000"/>
            <a:headEnd/>
            <a:tailEnd/>
          </a:ln>
        </p:spPr>
        <p:txBody>
          <a:bodyPr/>
          <a:lstStyle/>
          <a:p>
            <a:endParaRPr lang="en-US" dirty="0"/>
          </a:p>
        </p:txBody>
      </p:sp>
      <p:sp>
        <p:nvSpPr>
          <p:cNvPr id="845171" name="Rectangle 371"/>
          <p:cNvSpPr>
            <a:spLocks noChangeArrowheads="1"/>
          </p:cNvSpPr>
          <p:nvPr/>
        </p:nvSpPr>
        <p:spPr bwMode="auto">
          <a:xfrm>
            <a:off x="8293100" y="2522563"/>
            <a:ext cx="120226"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S</a:t>
            </a:r>
            <a:endParaRPr lang="en-US" sz="1400" i="1" dirty="0">
              <a:latin typeface="Tahoma" pitchFamily="34" charset="0"/>
            </a:endParaRPr>
          </a:p>
        </p:txBody>
      </p:sp>
      <p:sp>
        <p:nvSpPr>
          <p:cNvPr id="845172" name="Rectangle 372"/>
          <p:cNvSpPr>
            <a:spLocks noChangeArrowheads="1"/>
          </p:cNvSpPr>
          <p:nvPr/>
        </p:nvSpPr>
        <p:spPr bwMode="auto">
          <a:xfrm>
            <a:off x="8330588" y="4889525"/>
            <a:ext cx="129844"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D</a:t>
            </a:r>
            <a:endParaRPr lang="en-US" sz="1400" i="1" dirty="0">
              <a:latin typeface="Tahoma" pitchFamily="34" charset="0"/>
            </a:endParaRPr>
          </a:p>
        </p:txBody>
      </p:sp>
      <p:sp>
        <p:nvSpPr>
          <p:cNvPr id="845173" name="Rectangle 373"/>
          <p:cNvSpPr>
            <a:spLocks noChangeArrowheads="1"/>
          </p:cNvSpPr>
          <p:nvPr/>
        </p:nvSpPr>
        <p:spPr bwMode="auto">
          <a:xfrm>
            <a:off x="7313685" y="3248050"/>
            <a:ext cx="288542" cy="215444"/>
          </a:xfrm>
          <a:prstGeom prst="rect">
            <a:avLst/>
          </a:prstGeom>
          <a:noFill/>
          <a:ln w="9525">
            <a:noFill/>
            <a:miter lim="800000"/>
            <a:headEnd/>
            <a:tailEnd/>
          </a:ln>
        </p:spPr>
        <p:txBody>
          <a:bodyPr wrap="none" lIns="0" tIns="0" rIns="0" bIns="0">
            <a:spAutoFit/>
          </a:bodyPr>
          <a:lstStyle/>
          <a:p>
            <a:pPr marL="1588" indent="-1588" algn="ctr"/>
            <a:r>
              <a:rPr lang="en-US" sz="1400" i="1" dirty="0" smtClean="0">
                <a:solidFill>
                  <a:srgbClr val="000000"/>
                </a:solidFill>
                <a:latin typeface="Myriad Pro" pitchFamily="34" charset="0"/>
              </a:rPr>
              <a:t>Opt</a:t>
            </a:r>
            <a:endParaRPr lang="en-US" sz="1400" i="1" dirty="0">
              <a:latin typeface="Tahoma" pitchFamily="34" charset="0"/>
            </a:endParaRPr>
          </a:p>
        </p:txBody>
      </p:sp>
      <p:sp>
        <p:nvSpPr>
          <p:cNvPr id="845260" name="Rectangle 460"/>
          <p:cNvSpPr>
            <a:spLocks noChangeArrowheads="1"/>
          </p:cNvSpPr>
          <p:nvPr/>
        </p:nvSpPr>
        <p:spPr bwMode="auto">
          <a:xfrm>
            <a:off x="8100392" y="5645746"/>
            <a:ext cx="971600" cy="646331"/>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Quantity of measles </a:t>
            </a:r>
            <a:r>
              <a:rPr lang="en-US" sz="1400" dirty="0" smtClean="0">
                <a:solidFill>
                  <a:srgbClr val="000000"/>
                </a:solidFill>
                <a:latin typeface="Myriad Pro" pitchFamily="34" charset="0"/>
              </a:rPr>
              <a:t>vaccines </a:t>
            </a:r>
            <a:endParaRPr lang="en-US" sz="1400" dirty="0">
              <a:solidFill>
                <a:srgbClr val="000000"/>
              </a:solidFill>
              <a:latin typeface="Myriad Pro" pitchFamily="34" charset="0"/>
            </a:endParaRPr>
          </a:p>
        </p:txBody>
      </p:sp>
      <p:sp>
        <p:nvSpPr>
          <p:cNvPr id="845267" name="Rectangle 467"/>
          <p:cNvSpPr>
            <a:spLocks noChangeArrowheads="1"/>
          </p:cNvSpPr>
          <p:nvPr/>
        </p:nvSpPr>
        <p:spPr bwMode="auto">
          <a:xfrm>
            <a:off x="6096204" y="928994"/>
            <a:ext cx="2584041" cy="215444"/>
          </a:xfrm>
          <a:prstGeom prst="rect">
            <a:avLst/>
          </a:prstGeom>
          <a:noFill/>
          <a:ln w="9525">
            <a:noFill/>
            <a:miter lim="800000"/>
            <a:headEnd/>
            <a:tailEnd/>
          </a:ln>
        </p:spPr>
        <p:txBody>
          <a:bodyPr wrap="none" lIns="0" tIns="0" rIns="0" bIns="0">
            <a:spAutoFit/>
          </a:bodyPr>
          <a:lstStyle/>
          <a:p>
            <a:pPr marL="1588" indent="-1588" algn="ctr"/>
            <a:r>
              <a:rPr lang="en-US" sz="1400" b="1" dirty="0">
                <a:solidFill>
                  <a:srgbClr val="000000"/>
                </a:solidFill>
                <a:latin typeface="Myriad Pro" pitchFamily="34" charset="0"/>
              </a:rPr>
              <a:t>(b) Optimal Pigouvian Subsidy</a:t>
            </a:r>
            <a:endParaRPr lang="en-US" sz="1400" b="1" dirty="0">
              <a:latin typeface="Tahoma" pitchFamily="34" charset="0"/>
            </a:endParaRPr>
          </a:p>
        </p:txBody>
      </p:sp>
      <p:sp>
        <p:nvSpPr>
          <p:cNvPr id="845268" name="Freeform 468"/>
          <p:cNvSpPr>
            <a:spLocks/>
          </p:cNvSpPr>
          <p:nvPr/>
        </p:nvSpPr>
        <p:spPr bwMode="auto">
          <a:xfrm>
            <a:off x="5724525" y="3578250"/>
            <a:ext cx="114300" cy="793750"/>
          </a:xfrm>
          <a:custGeom>
            <a:avLst/>
            <a:gdLst/>
            <a:ahLst/>
            <a:cxnLst>
              <a:cxn ang="0">
                <a:pos x="25" y="144"/>
              </a:cxn>
              <a:cxn ang="0">
                <a:pos x="10" y="128"/>
              </a:cxn>
              <a:cxn ang="0">
                <a:pos x="10" y="93"/>
              </a:cxn>
              <a:cxn ang="0">
                <a:pos x="0" y="82"/>
              </a:cxn>
              <a:cxn ang="0">
                <a:pos x="10" y="71"/>
              </a:cxn>
              <a:cxn ang="0">
                <a:pos x="10" y="16"/>
              </a:cxn>
              <a:cxn ang="0">
                <a:pos x="25" y="0"/>
              </a:cxn>
            </a:cxnLst>
            <a:rect l="0" t="0" r="r" b="b"/>
            <a:pathLst>
              <a:path w="25" h="144">
                <a:moveTo>
                  <a:pt x="25" y="144"/>
                </a:moveTo>
                <a:cubicBezTo>
                  <a:pt x="15" y="144"/>
                  <a:pt x="10" y="141"/>
                  <a:pt x="10" y="128"/>
                </a:cubicBezTo>
                <a:cubicBezTo>
                  <a:pt x="10" y="125"/>
                  <a:pt x="10" y="95"/>
                  <a:pt x="10" y="93"/>
                </a:cubicBezTo>
                <a:cubicBezTo>
                  <a:pt x="10" y="89"/>
                  <a:pt x="8" y="82"/>
                  <a:pt x="0" y="82"/>
                </a:cubicBezTo>
                <a:cubicBezTo>
                  <a:pt x="8" y="82"/>
                  <a:pt x="10" y="75"/>
                  <a:pt x="10" y="71"/>
                </a:cubicBezTo>
                <a:cubicBezTo>
                  <a:pt x="10" y="69"/>
                  <a:pt x="10" y="19"/>
                  <a:pt x="10" y="16"/>
                </a:cubicBezTo>
                <a:cubicBezTo>
                  <a:pt x="10" y="3"/>
                  <a:pt x="15" y="0"/>
                  <a:pt x="25" y="0"/>
                </a:cubicBezTo>
              </a:path>
            </a:pathLst>
          </a:custGeom>
          <a:noFill/>
          <a:ln w="22225" cap="flat">
            <a:solidFill>
              <a:srgbClr val="6D6F71"/>
            </a:solidFill>
            <a:prstDash val="solid"/>
            <a:round/>
            <a:headEnd/>
            <a:tailEnd/>
          </a:ln>
        </p:spPr>
        <p:txBody>
          <a:bodyPr/>
          <a:lstStyle/>
          <a:p>
            <a:endParaRPr lang="en-US" dirty="0"/>
          </a:p>
        </p:txBody>
      </p:sp>
      <p:sp>
        <p:nvSpPr>
          <p:cNvPr id="845269" name="Line 469"/>
          <p:cNvSpPr>
            <a:spLocks noChangeShapeType="1"/>
          </p:cNvSpPr>
          <p:nvPr/>
        </p:nvSpPr>
        <p:spPr bwMode="auto">
          <a:xfrm>
            <a:off x="5632450" y="3375050"/>
            <a:ext cx="276225" cy="203200"/>
          </a:xfrm>
          <a:prstGeom prst="line">
            <a:avLst/>
          </a:prstGeom>
          <a:noFill/>
          <a:ln w="6350">
            <a:solidFill>
              <a:srgbClr val="000000"/>
            </a:solidFill>
            <a:miter lim="800000"/>
            <a:headEnd/>
            <a:tailEnd/>
          </a:ln>
        </p:spPr>
        <p:txBody>
          <a:bodyPr/>
          <a:lstStyle/>
          <a:p>
            <a:endParaRPr lang="en-US" dirty="0"/>
          </a:p>
        </p:txBody>
      </p:sp>
      <p:sp>
        <p:nvSpPr>
          <p:cNvPr id="845270" name="Line 470"/>
          <p:cNvSpPr>
            <a:spLocks noChangeShapeType="1"/>
          </p:cNvSpPr>
          <p:nvPr/>
        </p:nvSpPr>
        <p:spPr bwMode="auto">
          <a:xfrm flipV="1">
            <a:off x="5595938" y="4372000"/>
            <a:ext cx="312737" cy="314325"/>
          </a:xfrm>
          <a:prstGeom prst="line">
            <a:avLst/>
          </a:prstGeom>
          <a:noFill/>
          <a:ln w="6350">
            <a:solidFill>
              <a:srgbClr val="000000"/>
            </a:solidFill>
            <a:miter lim="800000"/>
            <a:headEnd/>
            <a:tailEnd/>
          </a:ln>
        </p:spPr>
        <p:txBody>
          <a:bodyPr/>
          <a:lstStyle/>
          <a:p>
            <a:endParaRPr lang="en-US" dirty="0"/>
          </a:p>
        </p:txBody>
      </p:sp>
      <p:sp>
        <p:nvSpPr>
          <p:cNvPr id="845271" name="Freeform 471"/>
          <p:cNvSpPr>
            <a:spLocks/>
          </p:cNvSpPr>
          <p:nvPr/>
        </p:nvSpPr>
        <p:spPr bwMode="auto">
          <a:xfrm>
            <a:off x="4524375" y="4537100"/>
            <a:ext cx="1127125" cy="742950"/>
          </a:xfrm>
          <a:custGeom>
            <a:avLst/>
            <a:gdLst/>
            <a:ahLst/>
            <a:cxnLst>
              <a:cxn ang="0">
                <a:pos x="170" y="157"/>
              </a:cxn>
              <a:cxn ang="0">
                <a:pos x="154" y="173"/>
              </a:cxn>
              <a:cxn ang="0">
                <a:pos x="16" y="173"/>
              </a:cxn>
              <a:cxn ang="0">
                <a:pos x="0" y="157"/>
              </a:cxn>
              <a:cxn ang="0">
                <a:pos x="0" y="16"/>
              </a:cxn>
              <a:cxn ang="0">
                <a:pos x="16" y="0"/>
              </a:cxn>
              <a:cxn ang="0">
                <a:pos x="154" y="0"/>
              </a:cxn>
              <a:cxn ang="0">
                <a:pos x="170" y="16"/>
              </a:cxn>
              <a:cxn ang="0">
                <a:pos x="170" y="157"/>
              </a:cxn>
            </a:cxnLst>
            <a:rect l="0" t="0" r="r" b="b"/>
            <a:pathLst>
              <a:path w="170" h="173">
                <a:moveTo>
                  <a:pt x="170" y="157"/>
                </a:moveTo>
                <a:cubicBezTo>
                  <a:pt x="170" y="166"/>
                  <a:pt x="163" y="173"/>
                  <a:pt x="154" y="173"/>
                </a:cubicBezTo>
                <a:cubicBezTo>
                  <a:pt x="16" y="173"/>
                  <a:pt x="16" y="173"/>
                  <a:pt x="16" y="173"/>
                </a:cubicBezTo>
                <a:cubicBezTo>
                  <a:pt x="7" y="173"/>
                  <a:pt x="0" y="166"/>
                  <a:pt x="0" y="157"/>
                </a:cubicBezTo>
                <a:cubicBezTo>
                  <a:pt x="0" y="16"/>
                  <a:pt x="0" y="16"/>
                  <a:pt x="0" y="16"/>
                </a:cubicBezTo>
                <a:cubicBezTo>
                  <a:pt x="0" y="7"/>
                  <a:pt x="7" y="0"/>
                  <a:pt x="16" y="0"/>
                </a:cubicBezTo>
                <a:cubicBezTo>
                  <a:pt x="154" y="0"/>
                  <a:pt x="154" y="0"/>
                  <a:pt x="154" y="0"/>
                </a:cubicBezTo>
                <a:cubicBezTo>
                  <a:pt x="163" y="0"/>
                  <a:pt x="170" y="7"/>
                  <a:pt x="170" y="16"/>
                </a:cubicBezTo>
                <a:lnTo>
                  <a:pt x="170" y="157"/>
                </a:lnTo>
                <a:close/>
              </a:path>
            </a:pathLst>
          </a:custGeom>
          <a:solidFill>
            <a:srgbClr val="D7E2E0"/>
          </a:solidFill>
          <a:ln w="9525">
            <a:noFill/>
            <a:round/>
            <a:headEnd/>
            <a:tailEnd/>
          </a:ln>
        </p:spPr>
        <p:txBody>
          <a:bodyPr/>
          <a:lstStyle/>
          <a:p>
            <a:endParaRPr lang="en-US" dirty="0"/>
          </a:p>
        </p:txBody>
      </p:sp>
      <p:sp>
        <p:nvSpPr>
          <p:cNvPr id="845272" name="Freeform 472"/>
          <p:cNvSpPr>
            <a:spLocks/>
          </p:cNvSpPr>
          <p:nvPr/>
        </p:nvSpPr>
        <p:spPr bwMode="auto">
          <a:xfrm>
            <a:off x="4524375" y="2765450"/>
            <a:ext cx="1127125" cy="727075"/>
          </a:xfrm>
          <a:custGeom>
            <a:avLst/>
            <a:gdLst/>
            <a:ahLst/>
            <a:cxnLst>
              <a:cxn ang="0">
                <a:pos x="159" y="157"/>
              </a:cxn>
              <a:cxn ang="0">
                <a:pos x="143" y="173"/>
              </a:cxn>
              <a:cxn ang="0">
                <a:pos x="16" y="173"/>
              </a:cxn>
              <a:cxn ang="0">
                <a:pos x="0" y="157"/>
              </a:cxn>
              <a:cxn ang="0">
                <a:pos x="0" y="16"/>
              </a:cxn>
              <a:cxn ang="0">
                <a:pos x="16" y="0"/>
              </a:cxn>
              <a:cxn ang="0">
                <a:pos x="143" y="0"/>
              </a:cxn>
              <a:cxn ang="0">
                <a:pos x="159" y="16"/>
              </a:cxn>
              <a:cxn ang="0">
                <a:pos x="159" y="157"/>
              </a:cxn>
            </a:cxnLst>
            <a:rect l="0" t="0" r="r" b="b"/>
            <a:pathLst>
              <a:path w="159" h="173">
                <a:moveTo>
                  <a:pt x="159" y="157"/>
                </a:moveTo>
                <a:cubicBezTo>
                  <a:pt x="159" y="166"/>
                  <a:pt x="152" y="173"/>
                  <a:pt x="143" y="173"/>
                </a:cubicBezTo>
                <a:cubicBezTo>
                  <a:pt x="16" y="173"/>
                  <a:pt x="16" y="173"/>
                  <a:pt x="16" y="173"/>
                </a:cubicBezTo>
                <a:cubicBezTo>
                  <a:pt x="8" y="173"/>
                  <a:pt x="0" y="166"/>
                  <a:pt x="0" y="157"/>
                </a:cubicBezTo>
                <a:cubicBezTo>
                  <a:pt x="0" y="16"/>
                  <a:pt x="0" y="16"/>
                  <a:pt x="0" y="16"/>
                </a:cubicBezTo>
                <a:cubicBezTo>
                  <a:pt x="0" y="7"/>
                  <a:pt x="8" y="0"/>
                  <a:pt x="16" y="0"/>
                </a:cubicBezTo>
                <a:cubicBezTo>
                  <a:pt x="143" y="0"/>
                  <a:pt x="143" y="0"/>
                  <a:pt x="143" y="0"/>
                </a:cubicBezTo>
                <a:cubicBezTo>
                  <a:pt x="152" y="0"/>
                  <a:pt x="159" y="7"/>
                  <a:pt x="159" y="16"/>
                </a:cubicBezTo>
                <a:lnTo>
                  <a:pt x="159" y="157"/>
                </a:lnTo>
                <a:close/>
              </a:path>
            </a:pathLst>
          </a:custGeom>
          <a:solidFill>
            <a:srgbClr val="D7E2E0"/>
          </a:solidFill>
          <a:ln w="9525">
            <a:noFill/>
            <a:round/>
            <a:headEnd/>
            <a:tailEnd/>
          </a:ln>
        </p:spPr>
        <p:txBody>
          <a:bodyPr/>
          <a:lstStyle/>
          <a:p>
            <a:endParaRPr lang="en-US" dirty="0"/>
          </a:p>
        </p:txBody>
      </p:sp>
      <p:sp>
        <p:nvSpPr>
          <p:cNvPr id="845279" name="Freeform 479"/>
          <p:cNvSpPr>
            <a:spLocks/>
          </p:cNvSpPr>
          <p:nvPr/>
        </p:nvSpPr>
        <p:spPr bwMode="auto">
          <a:xfrm>
            <a:off x="1336675" y="1628800"/>
            <a:ext cx="3235325" cy="3927475"/>
          </a:xfrm>
          <a:custGeom>
            <a:avLst/>
            <a:gdLst/>
            <a:ahLst/>
            <a:cxnLst>
              <a:cxn ang="0">
                <a:pos x="1682" y="1684"/>
              </a:cxn>
              <a:cxn ang="0">
                <a:pos x="0" y="1684"/>
              </a:cxn>
              <a:cxn ang="0">
                <a:pos x="0" y="0"/>
              </a:cxn>
            </a:cxnLst>
            <a:rect l="0" t="0" r="r" b="b"/>
            <a:pathLst>
              <a:path w="1682" h="1684">
                <a:moveTo>
                  <a:pt x="1682" y="1684"/>
                </a:moveTo>
                <a:lnTo>
                  <a:pt x="0" y="1684"/>
                </a:lnTo>
                <a:lnTo>
                  <a:pt x="0" y="0"/>
                </a:lnTo>
              </a:path>
            </a:pathLst>
          </a:custGeom>
          <a:noFill/>
          <a:ln w="6350" cap="flat">
            <a:solidFill>
              <a:srgbClr val="000000"/>
            </a:solidFill>
            <a:prstDash val="solid"/>
            <a:miter lim="800000"/>
            <a:headEnd/>
            <a:tailEnd/>
          </a:ln>
        </p:spPr>
        <p:txBody>
          <a:bodyPr/>
          <a:lstStyle/>
          <a:p>
            <a:endParaRPr lang="en-US" dirty="0"/>
          </a:p>
        </p:txBody>
      </p:sp>
      <p:sp>
        <p:nvSpPr>
          <p:cNvPr id="845280" name="Freeform 480"/>
          <p:cNvSpPr>
            <a:spLocks/>
          </p:cNvSpPr>
          <p:nvPr/>
        </p:nvSpPr>
        <p:spPr bwMode="auto">
          <a:xfrm>
            <a:off x="5940152" y="1772816"/>
            <a:ext cx="3096344" cy="3783459"/>
          </a:xfrm>
          <a:custGeom>
            <a:avLst/>
            <a:gdLst/>
            <a:ahLst/>
            <a:cxnLst>
              <a:cxn ang="0">
                <a:pos x="1682" y="1684"/>
              </a:cxn>
              <a:cxn ang="0">
                <a:pos x="0" y="1684"/>
              </a:cxn>
              <a:cxn ang="0">
                <a:pos x="0" y="0"/>
              </a:cxn>
            </a:cxnLst>
            <a:rect l="0" t="0" r="r" b="b"/>
            <a:pathLst>
              <a:path w="1682" h="1684">
                <a:moveTo>
                  <a:pt x="1682" y="1684"/>
                </a:moveTo>
                <a:lnTo>
                  <a:pt x="0" y="1684"/>
                </a:lnTo>
                <a:lnTo>
                  <a:pt x="0" y="0"/>
                </a:lnTo>
              </a:path>
            </a:pathLst>
          </a:custGeom>
          <a:noFill/>
          <a:ln w="6350" cap="flat">
            <a:solidFill>
              <a:srgbClr val="000000"/>
            </a:solidFill>
            <a:prstDash val="solid"/>
            <a:miter lim="800000"/>
            <a:headEnd/>
            <a:tailEnd/>
          </a:ln>
        </p:spPr>
        <p:txBody>
          <a:bodyPr/>
          <a:lstStyle/>
          <a:p>
            <a:endParaRPr lang="en-US" dirty="0"/>
          </a:p>
        </p:txBody>
      </p:sp>
      <p:sp>
        <p:nvSpPr>
          <p:cNvPr id="845281" name="Rectangle 481"/>
          <p:cNvSpPr>
            <a:spLocks noChangeArrowheads="1"/>
          </p:cNvSpPr>
          <p:nvPr/>
        </p:nvSpPr>
        <p:spPr bwMode="auto">
          <a:xfrm>
            <a:off x="872927" y="1196752"/>
            <a:ext cx="2330921" cy="430887"/>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Price, marginal social benefit of </a:t>
            </a:r>
            <a:r>
              <a:rPr lang="en-US" sz="1400" dirty="0" smtClean="0">
                <a:solidFill>
                  <a:srgbClr val="000000"/>
                </a:solidFill>
                <a:latin typeface="Myriad Pro" pitchFamily="34" charset="0"/>
              </a:rPr>
              <a:t>measles vaccine </a:t>
            </a:r>
            <a:endParaRPr lang="en-US" sz="1400" dirty="0">
              <a:solidFill>
                <a:srgbClr val="000000"/>
              </a:solidFill>
              <a:latin typeface="Myriad Pro" pitchFamily="34" charset="0"/>
            </a:endParaRPr>
          </a:p>
        </p:txBody>
      </p:sp>
      <p:sp>
        <p:nvSpPr>
          <p:cNvPr id="845282" name="Rectangle 482"/>
          <p:cNvSpPr>
            <a:spLocks noChangeArrowheads="1"/>
          </p:cNvSpPr>
          <p:nvPr/>
        </p:nvSpPr>
        <p:spPr bwMode="auto">
          <a:xfrm>
            <a:off x="4579239" y="2817266"/>
            <a:ext cx="1011238"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Price to producers after subsidy</a:t>
            </a:r>
            <a:endParaRPr lang="en-US" sz="1400" dirty="0">
              <a:latin typeface="Tahoma" pitchFamily="34" charset="0"/>
            </a:endParaRPr>
          </a:p>
        </p:txBody>
      </p:sp>
      <p:sp>
        <p:nvSpPr>
          <p:cNvPr id="845283" name="Rectangle 483"/>
          <p:cNvSpPr>
            <a:spLocks noChangeArrowheads="1"/>
          </p:cNvSpPr>
          <p:nvPr/>
        </p:nvSpPr>
        <p:spPr bwMode="auto">
          <a:xfrm>
            <a:off x="4728591" y="3716299"/>
            <a:ext cx="935038"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Optimal Pigouvian subsidy</a:t>
            </a:r>
            <a:endParaRPr lang="en-US" sz="1400" dirty="0">
              <a:latin typeface="Tahoma" pitchFamily="34" charset="0"/>
            </a:endParaRPr>
          </a:p>
        </p:txBody>
      </p:sp>
      <p:sp>
        <p:nvSpPr>
          <p:cNvPr id="845284" name="Rectangle 484"/>
          <p:cNvSpPr>
            <a:spLocks noChangeArrowheads="1"/>
          </p:cNvSpPr>
          <p:nvPr/>
        </p:nvSpPr>
        <p:spPr bwMode="auto">
          <a:xfrm>
            <a:off x="4551807" y="4597298"/>
            <a:ext cx="1087438"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Price to consumers after subsidy</a:t>
            </a:r>
            <a:endParaRPr lang="en-US" sz="1400" dirty="0">
              <a:latin typeface="Tahoma" pitchFamily="34" charset="0"/>
            </a:endParaRPr>
          </a:p>
        </p:txBody>
      </p:sp>
      <p:sp>
        <p:nvSpPr>
          <p:cNvPr id="845285" name="Rectangle 485"/>
          <p:cNvSpPr>
            <a:spLocks noChangeArrowheads="1"/>
          </p:cNvSpPr>
          <p:nvPr/>
        </p:nvSpPr>
        <p:spPr bwMode="auto">
          <a:xfrm>
            <a:off x="2271713" y="2194458"/>
            <a:ext cx="739775"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Marginal external benefit</a:t>
            </a:r>
            <a:endParaRPr lang="en-US" sz="1400" dirty="0">
              <a:latin typeface="Tahoma" pitchFamily="34" charset="0"/>
            </a:endParaRPr>
          </a:p>
        </p:txBody>
      </p:sp>
      <p:sp>
        <p:nvSpPr>
          <p:cNvPr id="845286" name="Rectangle 486"/>
          <p:cNvSpPr>
            <a:spLocks noChangeArrowheads="1"/>
          </p:cNvSpPr>
          <p:nvPr/>
        </p:nvSpPr>
        <p:spPr bwMode="auto">
          <a:xfrm>
            <a:off x="3749675" y="5656288"/>
            <a:ext cx="927100"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Quantity of measles </a:t>
            </a:r>
            <a:r>
              <a:rPr lang="en-US" sz="1400" dirty="0" smtClean="0">
                <a:solidFill>
                  <a:srgbClr val="000000"/>
                </a:solidFill>
                <a:latin typeface="Myriad Pro" pitchFamily="34" charset="0"/>
              </a:rPr>
              <a:t>vaccines </a:t>
            </a:r>
            <a:endParaRPr lang="en-US" sz="1400" dirty="0">
              <a:solidFill>
                <a:srgbClr val="000000"/>
              </a:solidFill>
              <a:latin typeface="Myriad Pro" pitchFamily="34" charset="0"/>
            </a:endParaRPr>
          </a:p>
        </p:txBody>
      </p:sp>
      <p:sp>
        <p:nvSpPr>
          <p:cNvPr id="2" name="Rectangle 1"/>
          <p:cNvSpPr/>
          <p:nvPr/>
        </p:nvSpPr>
        <p:spPr>
          <a:xfrm>
            <a:off x="6684616" y="5589240"/>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MKT</a:t>
            </a:r>
            <a:endParaRPr lang="en-US" sz="1600" baseline="-25000" dirty="0">
              <a:solidFill>
                <a:schemeClr val="tx1"/>
              </a:solidFill>
            </a:endParaRPr>
          </a:p>
        </p:txBody>
      </p:sp>
      <p:sp>
        <p:nvSpPr>
          <p:cNvPr id="236" name="Rectangle 235"/>
          <p:cNvSpPr/>
          <p:nvPr/>
        </p:nvSpPr>
        <p:spPr>
          <a:xfrm>
            <a:off x="7164288" y="5572235"/>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OPT</a:t>
            </a:r>
            <a:endParaRPr lang="en-US" sz="1600" baseline="-25000" dirty="0">
              <a:solidFill>
                <a:schemeClr val="tx1"/>
              </a:solidFill>
            </a:endParaRPr>
          </a:p>
        </p:txBody>
      </p:sp>
      <p:sp>
        <p:nvSpPr>
          <p:cNvPr id="237" name="Rectangle 236"/>
          <p:cNvSpPr/>
          <p:nvPr/>
        </p:nvSpPr>
        <p:spPr>
          <a:xfrm>
            <a:off x="1998475" y="5582247"/>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MKT</a:t>
            </a:r>
            <a:endParaRPr lang="en-US" sz="1600" baseline="-25000" dirty="0">
              <a:solidFill>
                <a:schemeClr val="tx1"/>
              </a:solidFill>
            </a:endParaRPr>
          </a:p>
        </p:txBody>
      </p:sp>
      <p:sp>
        <p:nvSpPr>
          <p:cNvPr id="238" name="Rectangle 237"/>
          <p:cNvSpPr/>
          <p:nvPr/>
        </p:nvSpPr>
        <p:spPr>
          <a:xfrm>
            <a:off x="2473836" y="5589626"/>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Q</a:t>
            </a:r>
            <a:r>
              <a:rPr lang="en-US" sz="1600" baseline="-25000" dirty="0" smtClean="0">
                <a:solidFill>
                  <a:schemeClr val="tx1"/>
                </a:solidFill>
              </a:rPr>
              <a:t>OPT</a:t>
            </a:r>
            <a:endParaRPr lang="en-US" sz="1600" baseline="-25000" dirty="0">
              <a:solidFill>
                <a:schemeClr val="tx1"/>
              </a:solidFill>
            </a:endParaRPr>
          </a:p>
        </p:txBody>
      </p:sp>
      <p:sp>
        <p:nvSpPr>
          <p:cNvPr id="239" name="Rectangle 238"/>
          <p:cNvSpPr/>
          <p:nvPr/>
        </p:nvSpPr>
        <p:spPr>
          <a:xfrm>
            <a:off x="730126" y="3129920"/>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P</a:t>
            </a:r>
            <a:r>
              <a:rPr lang="en-US" sz="1600" baseline="-25000" dirty="0" smtClean="0">
                <a:solidFill>
                  <a:schemeClr val="tx1"/>
                </a:solidFill>
              </a:rPr>
              <a:t>MSB</a:t>
            </a:r>
            <a:endParaRPr lang="en-US" sz="1600" baseline="-25000" dirty="0">
              <a:solidFill>
                <a:schemeClr val="tx1"/>
              </a:solidFill>
            </a:endParaRPr>
          </a:p>
        </p:txBody>
      </p:sp>
      <p:sp>
        <p:nvSpPr>
          <p:cNvPr id="241" name="Rectangle 240"/>
          <p:cNvSpPr/>
          <p:nvPr/>
        </p:nvSpPr>
        <p:spPr>
          <a:xfrm>
            <a:off x="730126" y="3417952"/>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P</a:t>
            </a:r>
            <a:r>
              <a:rPr lang="en-US" sz="1600" baseline="-25000" dirty="0" smtClean="0">
                <a:solidFill>
                  <a:schemeClr val="tx1"/>
                </a:solidFill>
              </a:rPr>
              <a:t>OPT</a:t>
            </a:r>
            <a:endParaRPr lang="en-US" sz="1600" baseline="-25000" dirty="0">
              <a:solidFill>
                <a:schemeClr val="tx1"/>
              </a:solidFill>
            </a:endParaRPr>
          </a:p>
        </p:txBody>
      </p:sp>
      <p:sp>
        <p:nvSpPr>
          <p:cNvPr id="242" name="Rectangle 241"/>
          <p:cNvSpPr/>
          <p:nvPr/>
        </p:nvSpPr>
        <p:spPr>
          <a:xfrm>
            <a:off x="730126" y="3884288"/>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P</a:t>
            </a:r>
            <a:r>
              <a:rPr lang="en-US" sz="1600" baseline="-25000" dirty="0" smtClean="0">
                <a:solidFill>
                  <a:schemeClr val="tx1"/>
                </a:solidFill>
              </a:rPr>
              <a:t>MKT</a:t>
            </a:r>
            <a:endParaRPr lang="en-US" sz="1600" baseline="-25000" dirty="0">
              <a:solidFill>
                <a:schemeClr val="tx1"/>
              </a:solidFill>
            </a:endParaRPr>
          </a:p>
        </p:txBody>
      </p:sp>
      <p:sp>
        <p:nvSpPr>
          <p:cNvPr id="244" name="Oval 243"/>
          <p:cNvSpPr/>
          <p:nvPr/>
        </p:nvSpPr>
        <p:spPr>
          <a:xfrm>
            <a:off x="2713236" y="3532530"/>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Oval 244"/>
          <p:cNvSpPr/>
          <p:nvPr/>
        </p:nvSpPr>
        <p:spPr>
          <a:xfrm>
            <a:off x="6967443" y="398417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6" name="Oval 245"/>
          <p:cNvSpPr/>
          <p:nvPr/>
        </p:nvSpPr>
        <p:spPr>
          <a:xfrm>
            <a:off x="2263458" y="3984173"/>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Arrow Connector 4"/>
          <p:cNvCxnSpPr/>
          <p:nvPr/>
        </p:nvCxnSpPr>
        <p:spPr>
          <a:xfrm flipV="1">
            <a:off x="1693863" y="2817266"/>
            <a:ext cx="0" cy="675259"/>
          </a:xfrm>
          <a:prstGeom prst="straightConnector1">
            <a:avLst/>
          </a:prstGeom>
          <a:ln w="25400">
            <a:solidFill>
              <a:schemeClr val="tx1"/>
            </a:solidFill>
            <a:prstDash val="sysDash"/>
            <a:headEnd type="arrow" w="sm" len="sm"/>
            <a:tailEnd type="arrow" w="sm" len="sm"/>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2284719" y="4039464"/>
            <a:ext cx="18589" cy="150461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336675" y="3584064"/>
            <a:ext cx="1422281"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a:off x="1344104" y="3261363"/>
            <a:ext cx="965074"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4" name="Oval 253"/>
          <p:cNvSpPr/>
          <p:nvPr/>
        </p:nvSpPr>
        <p:spPr>
          <a:xfrm>
            <a:off x="2271713" y="3202330"/>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5" name="Straight Connector 254"/>
          <p:cNvCxnSpPr/>
          <p:nvPr/>
        </p:nvCxnSpPr>
        <p:spPr>
          <a:xfrm>
            <a:off x="1336675" y="4023284"/>
            <a:ext cx="965074"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flipV="1">
            <a:off x="2770656" y="3570299"/>
            <a:ext cx="0" cy="201932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a:off x="5949091" y="3570299"/>
            <a:ext cx="150886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6" name="Oval 265"/>
          <p:cNvSpPr/>
          <p:nvPr/>
        </p:nvSpPr>
        <p:spPr>
          <a:xfrm>
            <a:off x="7418808" y="3532530"/>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7" name="Straight Connector 266"/>
          <p:cNvCxnSpPr/>
          <p:nvPr/>
        </p:nvCxnSpPr>
        <p:spPr>
          <a:xfrm flipV="1">
            <a:off x="7457956" y="3532530"/>
            <a:ext cx="0" cy="201932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a:off x="6001383" y="4372865"/>
            <a:ext cx="150886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9" name="Oval 268"/>
          <p:cNvSpPr/>
          <p:nvPr/>
        </p:nvSpPr>
        <p:spPr>
          <a:xfrm>
            <a:off x="7417997" y="4323475"/>
            <a:ext cx="91440" cy="9144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1" name="Straight Connector 270"/>
          <p:cNvCxnSpPr/>
          <p:nvPr/>
        </p:nvCxnSpPr>
        <p:spPr>
          <a:xfrm flipV="1">
            <a:off x="7013163" y="4039464"/>
            <a:ext cx="0" cy="152116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3" name="Rectangle 272"/>
          <p:cNvSpPr/>
          <p:nvPr/>
        </p:nvSpPr>
        <p:spPr>
          <a:xfrm>
            <a:off x="7193892" y="3867364"/>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E</a:t>
            </a:r>
            <a:r>
              <a:rPr lang="en-US" sz="1600" baseline="-25000" dirty="0" smtClean="0">
                <a:solidFill>
                  <a:schemeClr val="tx1"/>
                </a:solidFill>
              </a:rPr>
              <a:t>MKT</a:t>
            </a:r>
            <a:endParaRPr lang="en-US" sz="1600" baseline="-25000" dirty="0">
              <a:solidFill>
                <a:schemeClr val="tx1"/>
              </a:solidFill>
            </a:endParaRPr>
          </a:p>
        </p:txBody>
      </p:sp>
      <p:sp>
        <p:nvSpPr>
          <p:cNvPr id="274" name="Rectangle 273"/>
          <p:cNvSpPr/>
          <p:nvPr/>
        </p:nvSpPr>
        <p:spPr>
          <a:xfrm>
            <a:off x="2491169" y="3867364"/>
            <a:ext cx="606549" cy="304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E</a:t>
            </a:r>
            <a:r>
              <a:rPr lang="en-US" sz="1600" baseline="-25000" dirty="0" smtClean="0">
                <a:solidFill>
                  <a:schemeClr val="tx1"/>
                </a:solidFill>
              </a:rPr>
              <a:t>MKT</a:t>
            </a:r>
            <a:endParaRPr lang="en-US" sz="1600" baseline="-25000" dirty="0">
              <a:solidFill>
                <a:schemeClr val="tx1"/>
              </a:solidFill>
            </a:endParaRPr>
          </a:p>
        </p:txBody>
      </p:sp>
      <p:cxnSp>
        <p:nvCxnSpPr>
          <p:cNvPr id="18" name="Straight Connector 17"/>
          <p:cNvCxnSpPr/>
          <p:nvPr/>
        </p:nvCxnSpPr>
        <p:spPr>
          <a:xfrm flipV="1">
            <a:off x="2308085" y="3266876"/>
            <a:ext cx="0" cy="74286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V="1">
            <a:off x="6732240" y="3068960"/>
            <a:ext cx="0" cy="67525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Line 367"/>
          <p:cNvSpPr>
            <a:spLocks noChangeShapeType="1"/>
          </p:cNvSpPr>
          <p:nvPr/>
        </p:nvSpPr>
        <p:spPr bwMode="auto">
          <a:xfrm>
            <a:off x="6259498" y="2658631"/>
            <a:ext cx="2106613" cy="1609725"/>
          </a:xfrm>
          <a:prstGeom prst="line">
            <a:avLst/>
          </a:prstGeom>
          <a:noFill/>
          <a:ln w="30163">
            <a:solidFill>
              <a:srgbClr val="3C5DAA"/>
            </a:solidFill>
            <a:miter lim="800000"/>
            <a:headEnd/>
            <a:tailEnd/>
          </a:ln>
        </p:spPr>
        <p:txBody>
          <a:bodyPr/>
          <a:lstStyle/>
          <a:p>
            <a:endParaRPr lang="en-US" dirty="0"/>
          </a:p>
        </p:txBody>
      </p:sp>
      <p:sp>
        <p:nvSpPr>
          <p:cNvPr id="66" name="Rectangle 372"/>
          <p:cNvSpPr>
            <a:spLocks noChangeArrowheads="1"/>
          </p:cNvSpPr>
          <p:nvPr/>
        </p:nvSpPr>
        <p:spPr bwMode="auto">
          <a:xfrm>
            <a:off x="8171254" y="4254908"/>
            <a:ext cx="607539" cy="430887"/>
          </a:xfrm>
          <a:prstGeom prst="rect">
            <a:avLst/>
          </a:prstGeom>
          <a:noFill/>
          <a:ln w="9525">
            <a:noFill/>
            <a:miter lim="800000"/>
            <a:headEnd/>
            <a:tailEnd/>
          </a:ln>
        </p:spPr>
        <p:txBody>
          <a:bodyPr wrap="none" lIns="0" tIns="0" rIns="0" bIns="0">
            <a:spAutoFit/>
          </a:bodyPr>
          <a:lstStyle/>
          <a:p>
            <a:pPr marL="1588" indent="-1588" algn="ctr"/>
            <a:r>
              <a:rPr lang="en-US" sz="1400" i="1" dirty="0" smtClean="0">
                <a:solidFill>
                  <a:srgbClr val="000000"/>
                </a:solidFill>
                <a:latin typeface="Myriad Pro" pitchFamily="34" charset="0"/>
              </a:rPr>
              <a:t>D with</a:t>
            </a:r>
          </a:p>
          <a:p>
            <a:pPr marL="1588" indent="-1588" algn="ctr"/>
            <a:r>
              <a:rPr lang="en-US" sz="1400" i="1" dirty="0" smtClean="0">
                <a:solidFill>
                  <a:srgbClr val="000000"/>
                </a:solidFill>
                <a:latin typeface="Myriad Pro" pitchFamily="34" charset="0"/>
              </a:rPr>
              <a:t>subsidy</a:t>
            </a:r>
            <a:endParaRPr lang="en-US" sz="1400" i="1" dirty="0">
              <a:latin typeface="Tahoma" pitchFamily="34" charset="0"/>
            </a:endParaRPr>
          </a:p>
        </p:txBody>
      </p:sp>
      <p:cxnSp>
        <p:nvCxnSpPr>
          <p:cNvPr id="67" name="Straight Arrow Connector 66"/>
          <p:cNvCxnSpPr/>
          <p:nvPr/>
        </p:nvCxnSpPr>
        <p:spPr>
          <a:xfrm flipV="1">
            <a:off x="7021139" y="5445223"/>
            <a:ext cx="467185"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8" name="Rectangle 256"/>
          <p:cNvSpPr>
            <a:spLocks noChangeArrowheads="1"/>
          </p:cNvSpPr>
          <p:nvPr/>
        </p:nvSpPr>
        <p:spPr bwMode="auto">
          <a:xfrm>
            <a:off x="5796136" y="3057791"/>
            <a:ext cx="1011238" cy="215444"/>
          </a:xfrm>
          <a:prstGeom prst="rect">
            <a:avLst/>
          </a:prstGeom>
          <a:noFill/>
          <a:ln w="9525">
            <a:noFill/>
            <a:miter lim="800000"/>
            <a:headEnd/>
            <a:tailEnd/>
          </a:ln>
        </p:spPr>
        <p:txBody>
          <a:bodyPr lIns="0" tIns="0" rIns="0" bIns="0">
            <a:spAutoFit/>
          </a:bodyPr>
          <a:lstStyle/>
          <a:p>
            <a:pPr marL="1588" indent="-1588" algn="ctr"/>
            <a:r>
              <a:rPr lang="en-US" sz="1400" dirty="0" smtClean="0">
                <a:solidFill>
                  <a:srgbClr val="000000"/>
                </a:solidFill>
                <a:latin typeface="Myriad Pro" pitchFamily="34" charset="0"/>
              </a:rPr>
              <a:t>Subsidy</a:t>
            </a:r>
            <a:endParaRPr lang="en-US" sz="1400" dirty="0">
              <a:latin typeface="Tahoma" pitchFamily="34" charset="0"/>
            </a:endParaRPr>
          </a:p>
        </p:txBody>
      </p:sp>
    </p:spTree>
    <p:extLst>
      <p:ext uri="{BB962C8B-B14F-4D97-AF65-F5344CB8AC3E}">
        <p14:creationId xmlns:p14="http://schemas.microsoft.com/office/powerpoint/2010/main" val="40539144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45149"/>
                                        </p:tgtEl>
                                        <p:attrNameLst>
                                          <p:attrName>style.visibility</p:attrName>
                                        </p:attrNameLst>
                                      </p:cBhvr>
                                      <p:to>
                                        <p:strVal val="visible"/>
                                      </p:to>
                                    </p:set>
                                    <p:animEffect transition="in" filter="fade">
                                      <p:cBhvr>
                                        <p:cTn id="7" dur="500"/>
                                        <p:tgtEl>
                                          <p:spTgt spid="8451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45281"/>
                                        </p:tgtEl>
                                        <p:attrNameLst>
                                          <p:attrName>style.visibility</p:attrName>
                                        </p:attrNameLst>
                                      </p:cBhvr>
                                      <p:to>
                                        <p:strVal val="visible"/>
                                      </p:to>
                                    </p:set>
                                    <p:animEffect transition="in" filter="fade">
                                      <p:cBhvr>
                                        <p:cTn id="10" dur="500"/>
                                        <p:tgtEl>
                                          <p:spTgt spid="84528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45279"/>
                                        </p:tgtEl>
                                        <p:attrNameLst>
                                          <p:attrName>style.visibility</p:attrName>
                                        </p:attrNameLst>
                                      </p:cBhvr>
                                      <p:to>
                                        <p:strVal val="visible"/>
                                      </p:to>
                                    </p:set>
                                    <p:animEffect transition="in" filter="fade">
                                      <p:cBhvr>
                                        <p:cTn id="13" dur="500"/>
                                        <p:tgtEl>
                                          <p:spTgt spid="84527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45286"/>
                                        </p:tgtEl>
                                        <p:attrNameLst>
                                          <p:attrName>style.visibility</p:attrName>
                                        </p:attrNameLst>
                                      </p:cBhvr>
                                      <p:to>
                                        <p:strVal val="visible"/>
                                      </p:to>
                                    </p:set>
                                    <p:animEffect transition="in" filter="fade">
                                      <p:cBhvr>
                                        <p:cTn id="16" dur="500"/>
                                        <p:tgtEl>
                                          <p:spTgt spid="845286"/>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845048"/>
                                        </p:tgtEl>
                                        <p:attrNameLst>
                                          <p:attrName>style.visibility</p:attrName>
                                        </p:attrNameLst>
                                      </p:cBhvr>
                                      <p:to>
                                        <p:strVal val="visible"/>
                                      </p:to>
                                    </p:set>
                                    <p:animEffect transition="in" filter="wipe(left)">
                                      <p:cBhvr>
                                        <p:cTn id="20" dur="500"/>
                                        <p:tgtEl>
                                          <p:spTgt spid="84504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845054"/>
                                        </p:tgtEl>
                                        <p:attrNameLst>
                                          <p:attrName>style.visibility</p:attrName>
                                        </p:attrNameLst>
                                      </p:cBhvr>
                                      <p:to>
                                        <p:strVal val="visible"/>
                                      </p:to>
                                    </p:set>
                                    <p:animEffect transition="in" filter="wipe(left)">
                                      <p:cBhvr>
                                        <p:cTn id="23" dur="500"/>
                                        <p:tgtEl>
                                          <p:spTgt spid="84505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845050"/>
                                        </p:tgtEl>
                                        <p:attrNameLst>
                                          <p:attrName>style.visibility</p:attrName>
                                        </p:attrNameLst>
                                      </p:cBhvr>
                                      <p:to>
                                        <p:strVal val="visible"/>
                                      </p:to>
                                    </p:set>
                                    <p:animEffect transition="in" filter="wipe(left)">
                                      <p:cBhvr>
                                        <p:cTn id="26" dur="500"/>
                                        <p:tgtEl>
                                          <p:spTgt spid="84505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845055"/>
                                        </p:tgtEl>
                                        <p:attrNameLst>
                                          <p:attrName>style.visibility</p:attrName>
                                        </p:attrNameLst>
                                      </p:cBhvr>
                                      <p:to>
                                        <p:strVal val="visible"/>
                                      </p:to>
                                    </p:set>
                                    <p:animEffect transition="in" filter="wipe(left)">
                                      <p:cBhvr>
                                        <p:cTn id="29" dur="500"/>
                                        <p:tgtEl>
                                          <p:spTgt spid="84505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6"/>
                                        </p:tgtEl>
                                        <p:attrNameLst>
                                          <p:attrName>style.visibility</p:attrName>
                                        </p:attrNameLst>
                                      </p:cBhvr>
                                      <p:to>
                                        <p:strVal val="visible"/>
                                      </p:to>
                                    </p:set>
                                    <p:animEffect transition="in" filter="fade">
                                      <p:cBhvr>
                                        <p:cTn id="32" dur="500"/>
                                        <p:tgtEl>
                                          <p:spTgt spid="24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4"/>
                                        </p:tgtEl>
                                        <p:attrNameLst>
                                          <p:attrName>style.visibility</p:attrName>
                                        </p:attrNameLst>
                                      </p:cBhvr>
                                      <p:to>
                                        <p:strVal val="visible"/>
                                      </p:to>
                                    </p:set>
                                    <p:animEffect transition="in" filter="fade">
                                      <p:cBhvr>
                                        <p:cTn id="35" dur="500"/>
                                        <p:tgtEl>
                                          <p:spTgt spid="274"/>
                                        </p:tgtEl>
                                      </p:cBhvr>
                                    </p:animEffect>
                                  </p:childTnLst>
                                </p:cTn>
                              </p:par>
                              <p:par>
                                <p:cTn id="36" presetID="10" presetClass="entr" presetSubtype="0" fill="hold" nodeType="withEffect">
                                  <p:stCondLst>
                                    <p:cond delay="0"/>
                                  </p:stCondLst>
                                  <p:childTnLst>
                                    <p:set>
                                      <p:cBhvr>
                                        <p:cTn id="37" dur="1" fill="hold">
                                          <p:stCondLst>
                                            <p:cond delay="0"/>
                                          </p:stCondLst>
                                        </p:cTn>
                                        <p:tgtEl>
                                          <p:spTgt spid="255"/>
                                        </p:tgtEl>
                                        <p:attrNameLst>
                                          <p:attrName>style.visibility</p:attrName>
                                        </p:attrNameLst>
                                      </p:cBhvr>
                                      <p:to>
                                        <p:strVal val="visible"/>
                                      </p:to>
                                    </p:set>
                                    <p:animEffect transition="in" filter="fade">
                                      <p:cBhvr>
                                        <p:cTn id="38" dur="500"/>
                                        <p:tgtEl>
                                          <p:spTgt spid="25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2"/>
                                        </p:tgtEl>
                                        <p:attrNameLst>
                                          <p:attrName>style.visibility</p:attrName>
                                        </p:attrNameLst>
                                      </p:cBhvr>
                                      <p:to>
                                        <p:strVal val="visible"/>
                                      </p:to>
                                    </p:set>
                                    <p:animEffect transition="in" filter="fade">
                                      <p:cBhvr>
                                        <p:cTn id="41" dur="500"/>
                                        <p:tgtEl>
                                          <p:spTgt spid="242"/>
                                        </p:tgtEl>
                                      </p:cBhvr>
                                    </p:animEffect>
                                  </p:childTnLst>
                                </p:cTn>
                              </p:par>
                              <p:par>
                                <p:cTn id="42" presetID="10" presetClass="entr" presetSubtype="0"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7"/>
                                        </p:tgtEl>
                                        <p:attrNameLst>
                                          <p:attrName>style.visibility</p:attrName>
                                        </p:attrNameLst>
                                      </p:cBhvr>
                                      <p:to>
                                        <p:strVal val="visible"/>
                                      </p:to>
                                    </p:set>
                                    <p:animEffect transition="in" filter="fade">
                                      <p:cBhvr>
                                        <p:cTn id="47" dur="500"/>
                                        <p:tgtEl>
                                          <p:spTgt spid="237"/>
                                        </p:tgtEl>
                                      </p:cBhvr>
                                    </p:animEffect>
                                  </p:childTnLst>
                                </p:cTn>
                              </p:par>
                            </p:childTnLst>
                          </p:cTn>
                        </p:par>
                        <p:par>
                          <p:cTn id="48" fill="hold">
                            <p:stCondLst>
                              <p:cond delay="1000"/>
                            </p:stCondLst>
                            <p:childTnLst>
                              <p:par>
                                <p:cTn id="49" presetID="22" presetClass="entr" presetSubtype="4"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down)">
                                      <p:cBhvr>
                                        <p:cTn id="51" dur="500"/>
                                        <p:tgtEl>
                                          <p:spTgt spid="5"/>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845147"/>
                                        </p:tgtEl>
                                        <p:attrNameLst>
                                          <p:attrName>style.visibility</p:attrName>
                                        </p:attrNameLst>
                                      </p:cBhvr>
                                      <p:to>
                                        <p:strVal val="visible"/>
                                      </p:to>
                                    </p:set>
                                    <p:animEffect transition="in" filter="wipe(down)">
                                      <p:cBhvr>
                                        <p:cTn id="54" dur="500"/>
                                        <p:tgtEl>
                                          <p:spTgt spid="845147"/>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845148"/>
                                        </p:tgtEl>
                                        <p:attrNameLst>
                                          <p:attrName>style.visibility</p:attrName>
                                        </p:attrNameLst>
                                      </p:cBhvr>
                                      <p:to>
                                        <p:strVal val="visible"/>
                                      </p:to>
                                    </p:set>
                                    <p:animEffect transition="in" filter="wipe(down)">
                                      <p:cBhvr>
                                        <p:cTn id="57" dur="500"/>
                                        <p:tgtEl>
                                          <p:spTgt spid="845148"/>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845285"/>
                                        </p:tgtEl>
                                        <p:attrNameLst>
                                          <p:attrName>style.visibility</p:attrName>
                                        </p:attrNameLst>
                                      </p:cBhvr>
                                      <p:to>
                                        <p:strVal val="visible"/>
                                      </p:to>
                                    </p:set>
                                    <p:animEffect transition="in" filter="wipe(down)">
                                      <p:cBhvr>
                                        <p:cTn id="60" dur="500"/>
                                        <p:tgtEl>
                                          <p:spTgt spid="845285"/>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845049"/>
                                        </p:tgtEl>
                                        <p:attrNameLst>
                                          <p:attrName>style.visibility</p:attrName>
                                        </p:attrNameLst>
                                      </p:cBhvr>
                                      <p:to>
                                        <p:strVal val="visible"/>
                                      </p:to>
                                    </p:set>
                                    <p:animEffect transition="in" filter="wipe(left)">
                                      <p:cBhvr>
                                        <p:cTn id="63" dur="500"/>
                                        <p:tgtEl>
                                          <p:spTgt spid="845049"/>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845056"/>
                                        </p:tgtEl>
                                        <p:attrNameLst>
                                          <p:attrName>style.visibility</p:attrName>
                                        </p:attrNameLst>
                                      </p:cBhvr>
                                      <p:to>
                                        <p:strVal val="visible"/>
                                      </p:to>
                                    </p:set>
                                    <p:animEffect transition="in" filter="wipe(left)">
                                      <p:cBhvr>
                                        <p:cTn id="66" dur="500"/>
                                        <p:tgtEl>
                                          <p:spTgt spid="84505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4"/>
                                        </p:tgtEl>
                                        <p:attrNameLst>
                                          <p:attrName>style.visibility</p:attrName>
                                        </p:attrNameLst>
                                      </p:cBhvr>
                                      <p:to>
                                        <p:strVal val="visible"/>
                                      </p:to>
                                    </p:set>
                                    <p:animEffect transition="in" filter="fade">
                                      <p:cBhvr>
                                        <p:cTn id="69" dur="500"/>
                                        <p:tgtEl>
                                          <p:spTgt spid="24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845057"/>
                                        </p:tgtEl>
                                        <p:attrNameLst>
                                          <p:attrName>style.visibility</p:attrName>
                                        </p:attrNameLst>
                                      </p:cBhvr>
                                      <p:to>
                                        <p:strVal val="visible"/>
                                      </p:to>
                                    </p:set>
                                    <p:animEffect transition="in" filter="fade">
                                      <p:cBhvr>
                                        <p:cTn id="72" dur="500"/>
                                        <p:tgtEl>
                                          <p:spTgt spid="845057"/>
                                        </p:tgtEl>
                                      </p:cBhvr>
                                    </p:animEffect>
                                  </p:childTnLst>
                                </p:cTn>
                              </p:par>
                              <p:par>
                                <p:cTn id="73" presetID="10" presetClass="entr" presetSubtype="0" fill="hold"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500"/>
                                        <p:tgtEl>
                                          <p:spTgt spid="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41"/>
                                        </p:tgtEl>
                                        <p:attrNameLst>
                                          <p:attrName>style.visibility</p:attrName>
                                        </p:attrNameLst>
                                      </p:cBhvr>
                                      <p:to>
                                        <p:strVal val="visible"/>
                                      </p:to>
                                    </p:set>
                                    <p:animEffect transition="in" filter="fade">
                                      <p:cBhvr>
                                        <p:cTn id="78" dur="500"/>
                                        <p:tgtEl>
                                          <p:spTgt spid="241"/>
                                        </p:tgtEl>
                                      </p:cBhvr>
                                    </p:animEffect>
                                  </p:childTnLst>
                                </p:cTn>
                              </p:par>
                              <p:par>
                                <p:cTn id="79" presetID="10" presetClass="entr" presetSubtype="0" fill="hold" nodeType="withEffect">
                                  <p:stCondLst>
                                    <p:cond delay="0"/>
                                  </p:stCondLst>
                                  <p:childTnLst>
                                    <p:set>
                                      <p:cBhvr>
                                        <p:cTn id="80" dur="1" fill="hold">
                                          <p:stCondLst>
                                            <p:cond delay="0"/>
                                          </p:stCondLst>
                                        </p:cTn>
                                        <p:tgtEl>
                                          <p:spTgt spid="257"/>
                                        </p:tgtEl>
                                        <p:attrNameLst>
                                          <p:attrName>style.visibility</p:attrName>
                                        </p:attrNameLst>
                                      </p:cBhvr>
                                      <p:to>
                                        <p:strVal val="visible"/>
                                      </p:to>
                                    </p:set>
                                    <p:animEffect transition="in" filter="fade">
                                      <p:cBhvr>
                                        <p:cTn id="81" dur="500"/>
                                        <p:tgtEl>
                                          <p:spTgt spid="25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38"/>
                                        </p:tgtEl>
                                        <p:attrNameLst>
                                          <p:attrName>style.visibility</p:attrName>
                                        </p:attrNameLst>
                                      </p:cBhvr>
                                      <p:to>
                                        <p:strVal val="visible"/>
                                      </p:to>
                                    </p:set>
                                    <p:animEffect transition="in" filter="fade">
                                      <p:cBhvr>
                                        <p:cTn id="84" dur="500"/>
                                        <p:tgtEl>
                                          <p:spTgt spid="238"/>
                                        </p:tgtEl>
                                      </p:cBhvr>
                                    </p:animEffect>
                                  </p:childTnLst>
                                </p:cTn>
                              </p:par>
                              <p:par>
                                <p:cTn id="85" presetID="10" presetClass="entr" presetSubtype="0" fill="hold"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500"/>
                                        <p:tgtEl>
                                          <p:spTgt spid="1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39"/>
                                        </p:tgtEl>
                                        <p:attrNameLst>
                                          <p:attrName>style.visibility</p:attrName>
                                        </p:attrNameLst>
                                      </p:cBhvr>
                                      <p:to>
                                        <p:strVal val="visible"/>
                                      </p:to>
                                    </p:set>
                                    <p:animEffect transition="in" filter="fade">
                                      <p:cBhvr>
                                        <p:cTn id="90" dur="500"/>
                                        <p:tgtEl>
                                          <p:spTgt spid="239"/>
                                        </p:tgtEl>
                                      </p:cBhvr>
                                    </p:animEffect>
                                  </p:childTnLst>
                                </p:cTn>
                              </p:par>
                              <p:par>
                                <p:cTn id="91" presetID="10" presetClass="entr" presetSubtype="0" fill="hold" nodeType="withEffect">
                                  <p:stCondLst>
                                    <p:cond delay="0"/>
                                  </p:stCondLst>
                                  <p:childTnLst>
                                    <p:set>
                                      <p:cBhvr>
                                        <p:cTn id="92" dur="1" fill="hold">
                                          <p:stCondLst>
                                            <p:cond delay="0"/>
                                          </p:stCondLst>
                                        </p:cTn>
                                        <p:tgtEl>
                                          <p:spTgt spid="253"/>
                                        </p:tgtEl>
                                        <p:attrNameLst>
                                          <p:attrName>style.visibility</p:attrName>
                                        </p:attrNameLst>
                                      </p:cBhvr>
                                      <p:to>
                                        <p:strVal val="visible"/>
                                      </p:to>
                                    </p:set>
                                    <p:animEffect transition="in" filter="fade">
                                      <p:cBhvr>
                                        <p:cTn id="93" dur="500"/>
                                        <p:tgtEl>
                                          <p:spTgt spid="2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54"/>
                                        </p:tgtEl>
                                        <p:attrNameLst>
                                          <p:attrName>style.visibility</p:attrName>
                                        </p:attrNameLst>
                                      </p:cBhvr>
                                      <p:to>
                                        <p:strVal val="visible"/>
                                      </p:to>
                                    </p:set>
                                    <p:animEffect transition="in" filter="fade">
                                      <p:cBhvr>
                                        <p:cTn id="96" dur="500"/>
                                        <p:tgtEl>
                                          <p:spTgt spid="254"/>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845267"/>
                                        </p:tgtEl>
                                        <p:attrNameLst>
                                          <p:attrName>style.visibility</p:attrName>
                                        </p:attrNameLst>
                                      </p:cBhvr>
                                      <p:to>
                                        <p:strVal val="visible"/>
                                      </p:to>
                                    </p:set>
                                    <p:animEffect transition="in" filter="fade">
                                      <p:cBhvr>
                                        <p:cTn id="101" dur="500"/>
                                        <p:tgtEl>
                                          <p:spTgt spid="84526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845151"/>
                                        </p:tgtEl>
                                        <p:attrNameLst>
                                          <p:attrName>style.visibility</p:attrName>
                                        </p:attrNameLst>
                                      </p:cBhvr>
                                      <p:to>
                                        <p:strVal val="visible"/>
                                      </p:to>
                                    </p:set>
                                    <p:animEffect transition="in" filter="fade">
                                      <p:cBhvr>
                                        <p:cTn id="104" dur="500"/>
                                        <p:tgtEl>
                                          <p:spTgt spid="84515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45280"/>
                                        </p:tgtEl>
                                        <p:attrNameLst>
                                          <p:attrName>style.visibility</p:attrName>
                                        </p:attrNameLst>
                                      </p:cBhvr>
                                      <p:to>
                                        <p:strVal val="visible"/>
                                      </p:to>
                                    </p:set>
                                    <p:animEffect transition="in" filter="fade">
                                      <p:cBhvr>
                                        <p:cTn id="107" dur="500"/>
                                        <p:tgtEl>
                                          <p:spTgt spid="845280"/>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845260"/>
                                        </p:tgtEl>
                                        <p:attrNameLst>
                                          <p:attrName>style.visibility</p:attrName>
                                        </p:attrNameLst>
                                      </p:cBhvr>
                                      <p:to>
                                        <p:strVal val="visible"/>
                                      </p:to>
                                    </p:set>
                                    <p:animEffect transition="in" filter="fade">
                                      <p:cBhvr>
                                        <p:cTn id="110" dur="500"/>
                                        <p:tgtEl>
                                          <p:spTgt spid="845260"/>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845166"/>
                                        </p:tgtEl>
                                        <p:attrNameLst>
                                          <p:attrName>style.visibility</p:attrName>
                                        </p:attrNameLst>
                                      </p:cBhvr>
                                      <p:to>
                                        <p:strVal val="visible"/>
                                      </p:to>
                                    </p:set>
                                    <p:animEffect transition="in" filter="wipe(left)">
                                      <p:cBhvr>
                                        <p:cTn id="113" dur="500"/>
                                        <p:tgtEl>
                                          <p:spTgt spid="845166"/>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845171"/>
                                        </p:tgtEl>
                                        <p:attrNameLst>
                                          <p:attrName>style.visibility</p:attrName>
                                        </p:attrNameLst>
                                      </p:cBhvr>
                                      <p:to>
                                        <p:strVal val="visible"/>
                                      </p:to>
                                    </p:set>
                                    <p:animEffect transition="in" filter="wipe(left)">
                                      <p:cBhvr>
                                        <p:cTn id="116" dur="500"/>
                                        <p:tgtEl>
                                          <p:spTgt spid="845171"/>
                                        </p:tgtEl>
                                      </p:cBhvr>
                                    </p:animEffect>
                                  </p:childTnLst>
                                </p:cTn>
                              </p:par>
                              <p:par>
                                <p:cTn id="117" presetID="22" presetClass="entr" presetSubtype="8" fill="hold" grpId="0" nodeType="withEffect">
                                  <p:stCondLst>
                                    <p:cond delay="0"/>
                                  </p:stCondLst>
                                  <p:childTnLst>
                                    <p:set>
                                      <p:cBhvr>
                                        <p:cTn id="118" dur="1" fill="hold">
                                          <p:stCondLst>
                                            <p:cond delay="0"/>
                                          </p:stCondLst>
                                        </p:cTn>
                                        <p:tgtEl>
                                          <p:spTgt spid="845167"/>
                                        </p:tgtEl>
                                        <p:attrNameLst>
                                          <p:attrName>style.visibility</p:attrName>
                                        </p:attrNameLst>
                                      </p:cBhvr>
                                      <p:to>
                                        <p:strVal val="visible"/>
                                      </p:to>
                                    </p:set>
                                    <p:animEffect transition="in" filter="wipe(left)">
                                      <p:cBhvr>
                                        <p:cTn id="119" dur="500"/>
                                        <p:tgtEl>
                                          <p:spTgt spid="845167"/>
                                        </p:tgtEl>
                                      </p:cBhvr>
                                    </p:animEffect>
                                  </p:childTnLst>
                                </p:cTn>
                              </p:par>
                              <p:par>
                                <p:cTn id="120" presetID="22" presetClass="entr" presetSubtype="8" fill="hold" grpId="0" nodeType="withEffect">
                                  <p:stCondLst>
                                    <p:cond delay="0"/>
                                  </p:stCondLst>
                                  <p:childTnLst>
                                    <p:set>
                                      <p:cBhvr>
                                        <p:cTn id="121" dur="1" fill="hold">
                                          <p:stCondLst>
                                            <p:cond delay="0"/>
                                          </p:stCondLst>
                                        </p:cTn>
                                        <p:tgtEl>
                                          <p:spTgt spid="845172"/>
                                        </p:tgtEl>
                                        <p:attrNameLst>
                                          <p:attrName>style.visibility</p:attrName>
                                        </p:attrNameLst>
                                      </p:cBhvr>
                                      <p:to>
                                        <p:strVal val="visible"/>
                                      </p:to>
                                    </p:set>
                                    <p:animEffect transition="in" filter="wipe(left)">
                                      <p:cBhvr>
                                        <p:cTn id="122" dur="500"/>
                                        <p:tgtEl>
                                          <p:spTgt spid="84517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73"/>
                                        </p:tgtEl>
                                        <p:attrNameLst>
                                          <p:attrName>style.visibility</p:attrName>
                                        </p:attrNameLst>
                                      </p:cBhvr>
                                      <p:to>
                                        <p:strVal val="visible"/>
                                      </p:to>
                                    </p:set>
                                    <p:animEffect transition="in" filter="fade">
                                      <p:cBhvr>
                                        <p:cTn id="125" dur="500"/>
                                        <p:tgtEl>
                                          <p:spTgt spid="273"/>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
                                        </p:tgtEl>
                                        <p:attrNameLst>
                                          <p:attrName>style.visibility</p:attrName>
                                        </p:attrNameLst>
                                      </p:cBhvr>
                                      <p:to>
                                        <p:strVal val="visible"/>
                                      </p:to>
                                    </p:set>
                                    <p:animEffect transition="in" filter="fade">
                                      <p:cBhvr>
                                        <p:cTn id="128" dur="500"/>
                                        <p:tgtEl>
                                          <p:spTgt spid="2"/>
                                        </p:tgtEl>
                                      </p:cBhvr>
                                    </p:animEffect>
                                  </p:childTnLst>
                                </p:cTn>
                              </p:par>
                              <p:par>
                                <p:cTn id="129" presetID="10" presetClass="entr" presetSubtype="0" fill="hold" nodeType="withEffect">
                                  <p:stCondLst>
                                    <p:cond delay="0"/>
                                  </p:stCondLst>
                                  <p:childTnLst>
                                    <p:set>
                                      <p:cBhvr>
                                        <p:cTn id="130" dur="1" fill="hold">
                                          <p:stCondLst>
                                            <p:cond delay="0"/>
                                          </p:stCondLst>
                                        </p:cTn>
                                        <p:tgtEl>
                                          <p:spTgt spid="271"/>
                                        </p:tgtEl>
                                        <p:attrNameLst>
                                          <p:attrName>style.visibility</p:attrName>
                                        </p:attrNameLst>
                                      </p:cBhvr>
                                      <p:to>
                                        <p:strVal val="visible"/>
                                      </p:to>
                                    </p:set>
                                    <p:animEffect transition="in" filter="fade">
                                      <p:cBhvr>
                                        <p:cTn id="131" dur="500"/>
                                        <p:tgtEl>
                                          <p:spTgt spid="27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45"/>
                                        </p:tgtEl>
                                        <p:attrNameLst>
                                          <p:attrName>style.visibility</p:attrName>
                                        </p:attrNameLst>
                                      </p:cBhvr>
                                      <p:to>
                                        <p:strVal val="visible"/>
                                      </p:to>
                                    </p:set>
                                    <p:animEffect transition="in" filter="fade">
                                      <p:cBhvr>
                                        <p:cTn id="134" dur="500"/>
                                        <p:tgtEl>
                                          <p:spTgt spid="245"/>
                                        </p:tgtEl>
                                      </p:cBhvr>
                                    </p:animEffect>
                                  </p:childTnLst>
                                </p:cTn>
                              </p:par>
                            </p:childTnLst>
                          </p:cTn>
                        </p:par>
                        <p:par>
                          <p:cTn id="135" fill="hold">
                            <p:stCondLst>
                              <p:cond delay="500"/>
                            </p:stCondLst>
                            <p:childTnLst>
                              <p:par>
                                <p:cTn id="136" presetID="10" presetClass="entr" presetSubtype="0" fill="hold" grpId="0" nodeType="afterEffect">
                                  <p:stCondLst>
                                    <p:cond delay="0"/>
                                  </p:stCondLst>
                                  <p:childTnLst>
                                    <p:set>
                                      <p:cBhvr>
                                        <p:cTn id="137" dur="1" fill="hold">
                                          <p:stCondLst>
                                            <p:cond delay="0"/>
                                          </p:stCondLst>
                                        </p:cTn>
                                        <p:tgtEl>
                                          <p:spTgt spid="845150"/>
                                        </p:tgtEl>
                                        <p:attrNameLst>
                                          <p:attrName>style.visibility</p:attrName>
                                        </p:attrNameLst>
                                      </p:cBhvr>
                                      <p:to>
                                        <p:strVal val="visible"/>
                                      </p:to>
                                    </p:set>
                                    <p:animEffect transition="in" filter="fade">
                                      <p:cBhvr>
                                        <p:cTn id="138" dur="500"/>
                                        <p:tgtEl>
                                          <p:spTgt spid="84515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845283"/>
                                        </p:tgtEl>
                                        <p:attrNameLst>
                                          <p:attrName>style.visibility</p:attrName>
                                        </p:attrNameLst>
                                      </p:cBhvr>
                                      <p:to>
                                        <p:strVal val="visible"/>
                                      </p:to>
                                    </p:set>
                                    <p:animEffect transition="in" filter="fade">
                                      <p:cBhvr>
                                        <p:cTn id="141" dur="500"/>
                                        <p:tgtEl>
                                          <p:spTgt spid="845283"/>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845268"/>
                                        </p:tgtEl>
                                        <p:attrNameLst>
                                          <p:attrName>style.visibility</p:attrName>
                                        </p:attrNameLst>
                                      </p:cBhvr>
                                      <p:to>
                                        <p:strVal val="visible"/>
                                      </p:to>
                                    </p:set>
                                    <p:animEffect transition="in" filter="fade">
                                      <p:cBhvr>
                                        <p:cTn id="144" dur="500"/>
                                        <p:tgtEl>
                                          <p:spTgt spid="845268"/>
                                        </p:tgtEl>
                                      </p:cBhvr>
                                    </p:animEffect>
                                  </p:childTnLst>
                                </p:cTn>
                              </p:par>
                            </p:childTnLst>
                          </p:cTn>
                        </p:par>
                        <p:par>
                          <p:cTn id="145" fill="hold">
                            <p:stCondLst>
                              <p:cond delay="1000"/>
                            </p:stCondLst>
                            <p:childTnLst>
                              <p:par>
                                <p:cTn id="146" presetID="10" presetClass="entr" presetSubtype="0" fill="hold" grpId="0" nodeType="afterEffect">
                                  <p:stCondLst>
                                    <p:cond delay="0"/>
                                  </p:stCondLst>
                                  <p:childTnLst>
                                    <p:set>
                                      <p:cBhvr>
                                        <p:cTn id="147" dur="1" fill="hold">
                                          <p:stCondLst>
                                            <p:cond delay="0"/>
                                          </p:stCondLst>
                                        </p:cTn>
                                        <p:tgtEl>
                                          <p:spTgt spid="845272"/>
                                        </p:tgtEl>
                                        <p:attrNameLst>
                                          <p:attrName>style.visibility</p:attrName>
                                        </p:attrNameLst>
                                      </p:cBhvr>
                                      <p:to>
                                        <p:strVal val="visible"/>
                                      </p:to>
                                    </p:set>
                                    <p:animEffect transition="in" filter="fade">
                                      <p:cBhvr>
                                        <p:cTn id="148" dur="500"/>
                                        <p:tgtEl>
                                          <p:spTgt spid="84527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845282"/>
                                        </p:tgtEl>
                                        <p:attrNameLst>
                                          <p:attrName>style.visibility</p:attrName>
                                        </p:attrNameLst>
                                      </p:cBhvr>
                                      <p:to>
                                        <p:strVal val="visible"/>
                                      </p:to>
                                    </p:set>
                                    <p:animEffect transition="in" filter="fade">
                                      <p:cBhvr>
                                        <p:cTn id="151" dur="500"/>
                                        <p:tgtEl>
                                          <p:spTgt spid="845282"/>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845269"/>
                                        </p:tgtEl>
                                        <p:attrNameLst>
                                          <p:attrName>style.visibility</p:attrName>
                                        </p:attrNameLst>
                                      </p:cBhvr>
                                      <p:to>
                                        <p:strVal val="visible"/>
                                      </p:to>
                                    </p:set>
                                    <p:animEffect transition="in" filter="fade">
                                      <p:cBhvr>
                                        <p:cTn id="154" dur="500"/>
                                        <p:tgtEl>
                                          <p:spTgt spid="845269"/>
                                        </p:tgtEl>
                                      </p:cBhvr>
                                    </p:animEffect>
                                  </p:childTnLst>
                                </p:cTn>
                              </p:par>
                              <p:par>
                                <p:cTn id="155" presetID="10" presetClass="entr" presetSubtype="0" fill="hold" nodeType="withEffect">
                                  <p:stCondLst>
                                    <p:cond delay="0"/>
                                  </p:stCondLst>
                                  <p:childTnLst>
                                    <p:set>
                                      <p:cBhvr>
                                        <p:cTn id="156" dur="1" fill="hold">
                                          <p:stCondLst>
                                            <p:cond delay="0"/>
                                          </p:stCondLst>
                                        </p:cTn>
                                        <p:tgtEl>
                                          <p:spTgt spid="264"/>
                                        </p:tgtEl>
                                        <p:attrNameLst>
                                          <p:attrName>style.visibility</p:attrName>
                                        </p:attrNameLst>
                                      </p:cBhvr>
                                      <p:to>
                                        <p:strVal val="visible"/>
                                      </p:to>
                                    </p:set>
                                    <p:animEffect transition="in" filter="fade">
                                      <p:cBhvr>
                                        <p:cTn id="157" dur="500"/>
                                        <p:tgtEl>
                                          <p:spTgt spid="264"/>
                                        </p:tgtEl>
                                      </p:cBhvr>
                                    </p:animEffect>
                                  </p:childTnLst>
                                </p:cTn>
                              </p:par>
                            </p:childTnLst>
                          </p:cTn>
                        </p:par>
                        <p:par>
                          <p:cTn id="158" fill="hold">
                            <p:stCondLst>
                              <p:cond delay="1500"/>
                            </p:stCondLst>
                            <p:childTnLst>
                              <p:par>
                                <p:cTn id="159" presetID="10" presetClass="entr" presetSubtype="0" fill="hold" grpId="0" nodeType="afterEffect">
                                  <p:stCondLst>
                                    <p:cond delay="0"/>
                                  </p:stCondLst>
                                  <p:childTnLst>
                                    <p:set>
                                      <p:cBhvr>
                                        <p:cTn id="160" dur="1" fill="hold">
                                          <p:stCondLst>
                                            <p:cond delay="0"/>
                                          </p:stCondLst>
                                        </p:cTn>
                                        <p:tgtEl>
                                          <p:spTgt spid="845284"/>
                                        </p:tgtEl>
                                        <p:attrNameLst>
                                          <p:attrName>style.visibility</p:attrName>
                                        </p:attrNameLst>
                                      </p:cBhvr>
                                      <p:to>
                                        <p:strVal val="visible"/>
                                      </p:to>
                                    </p:set>
                                    <p:animEffect transition="in" filter="fade">
                                      <p:cBhvr>
                                        <p:cTn id="161" dur="500"/>
                                        <p:tgtEl>
                                          <p:spTgt spid="845284"/>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845270"/>
                                        </p:tgtEl>
                                        <p:attrNameLst>
                                          <p:attrName>style.visibility</p:attrName>
                                        </p:attrNameLst>
                                      </p:cBhvr>
                                      <p:to>
                                        <p:strVal val="visible"/>
                                      </p:to>
                                    </p:set>
                                    <p:animEffect transition="in" filter="fade">
                                      <p:cBhvr>
                                        <p:cTn id="164" dur="500"/>
                                        <p:tgtEl>
                                          <p:spTgt spid="845270"/>
                                        </p:tgtEl>
                                      </p:cBhvr>
                                    </p:animEffect>
                                  </p:childTnLst>
                                </p:cTn>
                              </p:par>
                              <p:par>
                                <p:cTn id="165" presetID="10" presetClass="entr" presetSubtype="0" fill="hold" nodeType="withEffect">
                                  <p:stCondLst>
                                    <p:cond delay="0"/>
                                  </p:stCondLst>
                                  <p:childTnLst>
                                    <p:set>
                                      <p:cBhvr>
                                        <p:cTn id="166" dur="1" fill="hold">
                                          <p:stCondLst>
                                            <p:cond delay="0"/>
                                          </p:stCondLst>
                                        </p:cTn>
                                        <p:tgtEl>
                                          <p:spTgt spid="268"/>
                                        </p:tgtEl>
                                        <p:attrNameLst>
                                          <p:attrName>style.visibility</p:attrName>
                                        </p:attrNameLst>
                                      </p:cBhvr>
                                      <p:to>
                                        <p:strVal val="visible"/>
                                      </p:to>
                                    </p:set>
                                    <p:animEffect transition="in" filter="fade">
                                      <p:cBhvr>
                                        <p:cTn id="167" dur="500"/>
                                        <p:tgtEl>
                                          <p:spTgt spid="268"/>
                                        </p:tgtEl>
                                      </p:cBhvr>
                                    </p:animEffect>
                                  </p:childTnLst>
                                </p:cTn>
                              </p:par>
                            </p:childTnLst>
                          </p:cTn>
                        </p:par>
                        <p:par>
                          <p:cTn id="168" fill="hold">
                            <p:stCondLst>
                              <p:cond delay="2000"/>
                            </p:stCondLst>
                            <p:childTnLst>
                              <p:par>
                                <p:cTn id="169" presetID="10" presetClass="entr" presetSubtype="0" fill="hold" nodeType="afterEffect">
                                  <p:stCondLst>
                                    <p:cond delay="0"/>
                                  </p:stCondLst>
                                  <p:childTnLst>
                                    <p:set>
                                      <p:cBhvr>
                                        <p:cTn id="170" dur="1" fill="hold">
                                          <p:stCondLst>
                                            <p:cond delay="0"/>
                                          </p:stCondLst>
                                        </p:cTn>
                                        <p:tgtEl>
                                          <p:spTgt spid="267"/>
                                        </p:tgtEl>
                                        <p:attrNameLst>
                                          <p:attrName>style.visibility</p:attrName>
                                        </p:attrNameLst>
                                      </p:cBhvr>
                                      <p:to>
                                        <p:strVal val="visible"/>
                                      </p:to>
                                    </p:set>
                                    <p:animEffect transition="in" filter="fade">
                                      <p:cBhvr>
                                        <p:cTn id="171" dur="500"/>
                                        <p:tgtEl>
                                          <p:spTgt spid="267"/>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845173"/>
                                        </p:tgtEl>
                                        <p:attrNameLst>
                                          <p:attrName>style.visibility</p:attrName>
                                        </p:attrNameLst>
                                      </p:cBhvr>
                                      <p:to>
                                        <p:strVal val="visible"/>
                                      </p:to>
                                    </p:set>
                                    <p:animEffect transition="in" filter="fade">
                                      <p:cBhvr>
                                        <p:cTn id="174" dur="500"/>
                                        <p:tgtEl>
                                          <p:spTgt spid="845173"/>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236"/>
                                        </p:tgtEl>
                                        <p:attrNameLst>
                                          <p:attrName>style.visibility</p:attrName>
                                        </p:attrNameLst>
                                      </p:cBhvr>
                                      <p:to>
                                        <p:strVal val="visible"/>
                                      </p:to>
                                    </p:set>
                                    <p:animEffect transition="in" filter="fade">
                                      <p:cBhvr>
                                        <p:cTn id="177" dur="500"/>
                                        <p:tgtEl>
                                          <p:spTgt spid="236"/>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845271"/>
                                        </p:tgtEl>
                                        <p:attrNameLst>
                                          <p:attrName>style.visibility</p:attrName>
                                        </p:attrNameLst>
                                      </p:cBhvr>
                                      <p:to>
                                        <p:strVal val="visible"/>
                                      </p:to>
                                    </p:set>
                                    <p:animEffect transition="in" filter="fade">
                                      <p:cBhvr>
                                        <p:cTn id="180" dur="500"/>
                                        <p:tgtEl>
                                          <p:spTgt spid="845271"/>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269"/>
                                        </p:tgtEl>
                                        <p:attrNameLst>
                                          <p:attrName>style.visibility</p:attrName>
                                        </p:attrNameLst>
                                      </p:cBhvr>
                                      <p:to>
                                        <p:strVal val="visible"/>
                                      </p:to>
                                    </p:set>
                                    <p:animEffect transition="in" filter="fade">
                                      <p:cBhvr>
                                        <p:cTn id="183" dur="500"/>
                                        <p:tgtEl>
                                          <p:spTgt spid="269"/>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266"/>
                                        </p:tgtEl>
                                        <p:attrNameLst>
                                          <p:attrName>style.visibility</p:attrName>
                                        </p:attrNameLst>
                                      </p:cBhvr>
                                      <p:to>
                                        <p:strVal val="visible"/>
                                      </p:to>
                                    </p:set>
                                    <p:animEffect transition="in" filter="fade">
                                      <p:cBhvr>
                                        <p:cTn id="186" dur="500"/>
                                        <p:tgtEl>
                                          <p:spTgt spid="266"/>
                                        </p:tgtEl>
                                      </p:cBhvr>
                                    </p:animEffect>
                                  </p:childTnLst>
                                </p:cTn>
                              </p:par>
                            </p:childTnLst>
                          </p:cTn>
                        </p:par>
                        <p:par>
                          <p:cTn id="187" fill="hold">
                            <p:stCondLst>
                              <p:cond delay="2500"/>
                            </p:stCondLst>
                            <p:childTnLst>
                              <p:par>
                                <p:cTn id="188" presetID="22" presetClass="entr" presetSubtype="4" fill="hold" nodeType="afterEffect">
                                  <p:stCondLst>
                                    <p:cond delay="0"/>
                                  </p:stCondLst>
                                  <p:childTnLst>
                                    <p:set>
                                      <p:cBhvr>
                                        <p:cTn id="189" dur="1" fill="hold">
                                          <p:stCondLst>
                                            <p:cond delay="0"/>
                                          </p:stCondLst>
                                        </p:cTn>
                                        <p:tgtEl>
                                          <p:spTgt spid="62"/>
                                        </p:tgtEl>
                                        <p:attrNameLst>
                                          <p:attrName>style.visibility</p:attrName>
                                        </p:attrNameLst>
                                      </p:cBhvr>
                                      <p:to>
                                        <p:strVal val="visible"/>
                                      </p:to>
                                    </p:set>
                                    <p:animEffect transition="in" filter="wipe(down)">
                                      <p:cBhvr>
                                        <p:cTn id="190" dur="500"/>
                                        <p:tgtEl>
                                          <p:spTgt spid="62"/>
                                        </p:tgtEl>
                                      </p:cBhvr>
                                    </p:animEffect>
                                  </p:childTnLst>
                                </p:cTn>
                              </p:par>
                              <p:par>
                                <p:cTn id="191" presetID="22" presetClass="entr" presetSubtype="8" fill="hold" grpId="0" nodeType="withEffect">
                                  <p:stCondLst>
                                    <p:cond delay="0"/>
                                  </p:stCondLst>
                                  <p:childTnLst>
                                    <p:set>
                                      <p:cBhvr>
                                        <p:cTn id="192" dur="1" fill="hold">
                                          <p:stCondLst>
                                            <p:cond delay="0"/>
                                          </p:stCondLst>
                                        </p:cTn>
                                        <p:tgtEl>
                                          <p:spTgt spid="65"/>
                                        </p:tgtEl>
                                        <p:attrNameLst>
                                          <p:attrName>style.visibility</p:attrName>
                                        </p:attrNameLst>
                                      </p:cBhvr>
                                      <p:to>
                                        <p:strVal val="visible"/>
                                      </p:to>
                                    </p:set>
                                    <p:animEffect transition="in" filter="wipe(left)">
                                      <p:cBhvr>
                                        <p:cTn id="193" dur="500"/>
                                        <p:tgtEl>
                                          <p:spTgt spid="65"/>
                                        </p:tgtEl>
                                      </p:cBhvr>
                                    </p:animEffect>
                                  </p:childTnLst>
                                </p:cTn>
                              </p:par>
                              <p:par>
                                <p:cTn id="194" presetID="22" presetClass="entr" presetSubtype="8" fill="hold" grpId="0" nodeType="withEffect">
                                  <p:stCondLst>
                                    <p:cond delay="0"/>
                                  </p:stCondLst>
                                  <p:childTnLst>
                                    <p:set>
                                      <p:cBhvr>
                                        <p:cTn id="195" dur="1" fill="hold">
                                          <p:stCondLst>
                                            <p:cond delay="0"/>
                                          </p:stCondLst>
                                        </p:cTn>
                                        <p:tgtEl>
                                          <p:spTgt spid="66"/>
                                        </p:tgtEl>
                                        <p:attrNameLst>
                                          <p:attrName>style.visibility</p:attrName>
                                        </p:attrNameLst>
                                      </p:cBhvr>
                                      <p:to>
                                        <p:strVal val="visible"/>
                                      </p:to>
                                    </p:set>
                                    <p:animEffect transition="in" filter="wipe(left)">
                                      <p:cBhvr>
                                        <p:cTn id="196" dur="500"/>
                                        <p:tgtEl>
                                          <p:spTgt spid="66"/>
                                        </p:tgtEl>
                                      </p:cBhvr>
                                    </p:animEffect>
                                  </p:childTnLst>
                                </p:cTn>
                              </p:par>
                            </p:childTnLst>
                          </p:cTn>
                        </p:par>
                        <p:par>
                          <p:cTn id="197" fill="hold">
                            <p:stCondLst>
                              <p:cond delay="3000"/>
                            </p:stCondLst>
                            <p:childTnLst>
                              <p:par>
                                <p:cTn id="198" presetID="22" presetClass="entr" presetSubtype="4" fill="hold" nodeType="after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wipe(down)">
                                      <p:cBhvr>
                                        <p:cTn id="200" dur="50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048" grpId="0" animBg="1"/>
      <p:bldP spid="845049" grpId="0" animBg="1"/>
      <p:bldP spid="845050" grpId="0" animBg="1"/>
      <p:bldP spid="845054" grpId="0"/>
      <p:bldP spid="845055" grpId="0"/>
      <p:bldP spid="845056" grpId="0"/>
      <p:bldP spid="845057" grpId="0"/>
      <p:bldP spid="845147" grpId="0" animBg="1"/>
      <p:bldP spid="845148" grpId="0" animBg="1"/>
      <p:bldP spid="845149" grpId="0"/>
      <p:bldP spid="845150" grpId="0" animBg="1"/>
      <p:bldP spid="845151" grpId="0"/>
      <p:bldP spid="845166" grpId="0" animBg="1"/>
      <p:bldP spid="845167" grpId="0" animBg="1"/>
      <p:bldP spid="845171" grpId="0"/>
      <p:bldP spid="845172" grpId="0"/>
      <p:bldP spid="845173" grpId="0"/>
      <p:bldP spid="845260" grpId="0"/>
      <p:bldP spid="845267" grpId="0"/>
      <p:bldP spid="845268" grpId="0" animBg="1"/>
      <p:bldP spid="845269" grpId="0" animBg="1"/>
      <p:bldP spid="845270" grpId="0" animBg="1"/>
      <p:bldP spid="845271" grpId="0" animBg="1"/>
      <p:bldP spid="845272" grpId="0" animBg="1"/>
      <p:bldP spid="845279" grpId="0" animBg="1"/>
      <p:bldP spid="845280" grpId="0" animBg="1"/>
      <p:bldP spid="845281" grpId="0"/>
      <p:bldP spid="845282" grpId="0"/>
      <p:bldP spid="845283" grpId="0"/>
      <p:bldP spid="845284" grpId="0"/>
      <p:bldP spid="845285" grpId="0"/>
      <p:bldP spid="845286" grpId="0"/>
      <p:bldP spid="2" grpId="0"/>
      <p:bldP spid="236" grpId="0"/>
      <p:bldP spid="237" grpId="0"/>
      <p:bldP spid="238" grpId="0"/>
      <p:bldP spid="239" grpId="0"/>
      <p:bldP spid="241" grpId="0"/>
      <p:bldP spid="242" grpId="0"/>
      <p:bldP spid="244" grpId="0" animBg="1"/>
      <p:bldP spid="245" grpId="0" animBg="1"/>
      <p:bldP spid="246" grpId="0" animBg="1"/>
      <p:bldP spid="254" grpId="0" animBg="1"/>
      <p:bldP spid="266" grpId="0" animBg="1"/>
      <p:bldP spid="269" grpId="0" animBg="1"/>
      <p:bldP spid="273" grpId="0"/>
      <p:bldP spid="274" grpId="0"/>
      <p:bldP spid="65" grpId="0" animBg="1"/>
      <p:bldP spid="66" grpId="0"/>
      <p:bldP spid="6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6"/>
          <p:cNvSpPr>
            <a:spLocks noGrp="1" noRot="1" noChangeArrowheads="1"/>
          </p:cNvSpPr>
          <p:nvPr>
            <p:ph type="title" idx="4294967295"/>
          </p:nvPr>
        </p:nvSpPr>
        <p:spPr>
          <a:xfrm>
            <a:off x="899592" y="74613"/>
            <a:ext cx="8011046" cy="639762"/>
          </a:xfrm>
        </p:spPr>
        <p:txBody>
          <a:bodyPr/>
          <a:lstStyle/>
          <a:p>
            <a:pPr algn="l"/>
            <a:r>
              <a:rPr lang="en-US" dirty="0" smtClean="0"/>
              <a:t>Network Externalities</a:t>
            </a:r>
            <a:endParaRPr lang="en-US" b="0" dirty="0" smtClean="0"/>
          </a:p>
        </p:txBody>
      </p:sp>
      <p:sp>
        <p:nvSpPr>
          <p:cNvPr id="92165" name="Text Box 5"/>
          <p:cNvSpPr txBox="1">
            <a:spLocks noChangeArrowheads="1"/>
          </p:cNvSpPr>
          <p:nvPr/>
        </p:nvSpPr>
        <p:spPr bwMode="auto">
          <a:xfrm>
            <a:off x="827584" y="718358"/>
            <a:ext cx="8011046" cy="5268689"/>
          </a:xfrm>
          <a:prstGeom prst="rect">
            <a:avLst/>
          </a:prstGeom>
          <a:noFill/>
          <a:ln w="9525" algn="ctr">
            <a:noFill/>
            <a:miter lim="800000"/>
            <a:headEnd/>
            <a:tailEnd type="none" w="med" len="lg"/>
          </a:ln>
        </p:spPr>
        <p:txBody>
          <a:bodyPr/>
          <a:lstStyle/>
          <a:p>
            <a:pPr marL="231775" indent="-231775">
              <a:lnSpc>
                <a:spcPct val="100000"/>
              </a:lnSpc>
              <a:spcBef>
                <a:spcPct val="20000"/>
              </a:spcBef>
              <a:buClr>
                <a:schemeClr val="tx1"/>
              </a:buClr>
              <a:buFont typeface="Arial" pitchFamily="34" charset="0"/>
              <a:buChar char="•"/>
            </a:pPr>
            <a:r>
              <a:rPr lang="en-US" sz="2600" dirty="0"/>
              <a:t>A good is subject to a </a:t>
            </a:r>
            <a:r>
              <a:rPr lang="en-US" sz="2600" b="1" dirty="0"/>
              <a:t>network externality </a:t>
            </a:r>
            <a:r>
              <a:rPr lang="en-US" sz="2600" dirty="0"/>
              <a:t>when the value of the good to an individual is greater when a large number of other people also use the good. </a:t>
            </a:r>
            <a:r>
              <a:rPr lang="en-US" sz="2600" dirty="0" smtClean="0"/>
              <a:t/>
            </a:r>
            <a:br>
              <a:rPr lang="en-US" sz="2600" dirty="0" smtClean="0"/>
            </a:br>
            <a:endParaRPr lang="en-US" sz="2600" dirty="0" smtClean="0"/>
          </a:p>
          <a:p>
            <a:pPr marL="231775" indent="-231775">
              <a:lnSpc>
                <a:spcPct val="100000"/>
              </a:lnSpc>
              <a:spcBef>
                <a:spcPct val="20000"/>
              </a:spcBef>
              <a:buClr>
                <a:schemeClr val="tx1"/>
              </a:buClr>
              <a:buFont typeface="Arial" pitchFamily="34" charset="0"/>
              <a:buChar char="•"/>
            </a:pPr>
            <a:r>
              <a:rPr lang="en-US" sz="2600" dirty="0"/>
              <a:t>Network externalities increases the value of a good or service when more people use the good or service. </a:t>
            </a:r>
          </a:p>
          <a:p>
            <a:pPr marL="457200" lvl="2">
              <a:spcBef>
                <a:spcPct val="20000"/>
              </a:spcBef>
              <a:buClr>
                <a:schemeClr val="tx1"/>
              </a:buClr>
            </a:pPr>
            <a:r>
              <a:rPr lang="en-US" sz="2600" dirty="0" smtClean="0"/>
              <a:t>Examples: </a:t>
            </a:r>
            <a:endParaRPr lang="en-US" sz="2600" dirty="0"/>
          </a:p>
          <a:p>
            <a:pPr marL="688975" lvl="2" indent="-231775">
              <a:spcBef>
                <a:spcPct val="20000"/>
              </a:spcBef>
              <a:buClr>
                <a:schemeClr val="tx1"/>
              </a:buClr>
              <a:buFont typeface="Arial" pitchFamily="34" charset="0"/>
              <a:buChar char="•"/>
            </a:pPr>
            <a:r>
              <a:rPr lang="en-US" sz="2600" dirty="0"/>
              <a:t>Computer </a:t>
            </a:r>
            <a:r>
              <a:rPr lang="en-US" sz="2600" dirty="0" smtClean="0"/>
              <a:t>operating systems like  </a:t>
            </a:r>
            <a:r>
              <a:rPr lang="en-US" sz="2600" dirty="0"/>
              <a:t>Microsoft </a:t>
            </a:r>
            <a:r>
              <a:rPr lang="en-US" sz="2600" dirty="0" smtClean="0"/>
              <a:t>Windows</a:t>
            </a:r>
            <a:endParaRPr lang="en-US" sz="2600" dirty="0"/>
          </a:p>
          <a:p>
            <a:pPr marL="688975" lvl="2" indent="-231775">
              <a:spcBef>
                <a:spcPct val="20000"/>
              </a:spcBef>
              <a:buClr>
                <a:schemeClr val="tx1"/>
              </a:buClr>
              <a:buFont typeface="Arial" pitchFamily="34" charset="0"/>
              <a:buChar char="•"/>
            </a:pPr>
            <a:r>
              <a:rPr lang="en-US" sz="2600" dirty="0"/>
              <a:t>Chat apps like QQ</a:t>
            </a:r>
          </a:p>
          <a:p>
            <a:pPr marL="688975" lvl="2" indent="-231775">
              <a:spcBef>
                <a:spcPct val="20000"/>
              </a:spcBef>
              <a:buClr>
                <a:schemeClr val="tx1"/>
              </a:buClr>
              <a:buFont typeface="Arial" pitchFamily="34" charset="0"/>
              <a:buChar char="•"/>
            </a:pPr>
            <a:r>
              <a:rPr lang="en-US" sz="2600" dirty="0"/>
              <a:t>Online social networks like </a:t>
            </a:r>
            <a:r>
              <a:rPr lang="en-US" sz="2600" dirty="0" smtClean="0"/>
              <a:t>Facebook</a:t>
            </a:r>
          </a:p>
          <a:p>
            <a:pPr marL="688975" lvl="2" indent="-231775">
              <a:spcBef>
                <a:spcPct val="20000"/>
              </a:spcBef>
              <a:buClr>
                <a:schemeClr val="tx1"/>
              </a:buClr>
              <a:buFont typeface="Arial" pitchFamily="34" charset="0"/>
              <a:buChar char="•"/>
            </a:pPr>
            <a:r>
              <a:rPr lang="en-US" sz="2600" dirty="0" smtClean="0"/>
              <a:t>Traditional communication systems: telephones</a:t>
            </a:r>
            <a:r>
              <a:rPr lang="en-US" sz="2600" dirty="0"/>
              <a:t>, telegraphs, </a:t>
            </a:r>
            <a:r>
              <a:rPr lang="en-US" sz="2600" dirty="0" smtClean="0"/>
              <a:t>railway systems</a:t>
            </a:r>
          </a:p>
        </p:txBody>
      </p:sp>
    </p:spTree>
    <p:extLst>
      <p:ext uri="{BB962C8B-B14F-4D97-AF65-F5344CB8AC3E}">
        <p14:creationId xmlns:p14="http://schemas.microsoft.com/office/powerpoint/2010/main" val="121332027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6"/>
          <p:cNvSpPr>
            <a:spLocks noGrp="1" noRot="1" noChangeArrowheads="1"/>
          </p:cNvSpPr>
          <p:nvPr>
            <p:ph type="title" idx="4294967295"/>
          </p:nvPr>
        </p:nvSpPr>
        <p:spPr>
          <a:xfrm>
            <a:off x="899592" y="74613"/>
            <a:ext cx="8011046" cy="639762"/>
          </a:xfrm>
        </p:spPr>
        <p:txBody>
          <a:bodyPr/>
          <a:lstStyle/>
          <a:p>
            <a:pPr algn="l"/>
            <a:r>
              <a:rPr lang="en-US" dirty="0" smtClean="0"/>
              <a:t>Network Externalities</a:t>
            </a:r>
            <a:endParaRPr lang="en-US" b="0" dirty="0" smtClean="0"/>
          </a:p>
        </p:txBody>
      </p:sp>
      <p:sp>
        <p:nvSpPr>
          <p:cNvPr id="92165" name="Text Box 5"/>
          <p:cNvSpPr txBox="1">
            <a:spLocks noChangeArrowheads="1"/>
          </p:cNvSpPr>
          <p:nvPr/>
        </p:nvSpPr>
        <p:spPr bwMode="auto">
          <a:xfrm>
            <a:off x="899592" y="836712"/>
            <a:ext cx="7939038" cy="4320480"/>
          </a:xfrm>
          <a:prstGeom prst="rect">
            <a:avLst/>
          </a:prstGeom>
          <a:noFill/>
          <a:ln w="9525" algn="ctr">
            <a:noFill/>
            <a:miter lim="800000"/>
            <a:headEnd/>
            <a:tailEnd type="none" w="med" len="lg"/>
          </a:ln>
        </p:spPr>
        <p:txBody>
          <a:bodyPr/>
          <a:lstStyle/>
          <a:p>
            <a:pPr marL="231775" indent="-231775">
              <a:lnSpc>
                <a:spcPct val="100000"/>
              </a:lnSpc>
              <a:spcBef>
                <a:spcPct val="20000"/>
              </a:spcBef>
              <a:buClr>
                <a:schemeClr val="tx1"/>
              </a:buClr>
              <a:buFont typeface="Arial" pitchFamily="34" charset="0"/>
              <a:buChar char="•"/>
            </a:pPr>
            <a:r>
              <a:rPr lang="en-US" sz="2400" dirty="0"/>
              <a:t>Any way in which other people’s consumption of a good increases your own marginal benefit from consumption of that good can give rise to network effects</a:t>
            </a:r>
            <a:r>
              <a:rPr lang="en-US" sz="2400" dirty="0" smtClean="0"/>
              <a:t>.</a:t>
            </a:r>
            <a:endParaRPr lang="en-US" sz="2400" dirty="0"/>
          </a:p>
        </p:txBody>
      </p:sp>
      <p:pic>
        <p:nvPicPr>
          <p:cNvPr id="4" name="Picture 3"/>
          <p:cNvPicPr>
            <a:picLocks noChangeAspect="1"/>
          </p:cNvPicPr>
          <p:nvPr/>
        </p:nvPicPr>
        <p:blipFill>
          <a:blip r:embed="rId3"/>
          <a:stretch>
            <a:fillRect/>
          </a:stretch>
        </p:blipFill>
        <p:spPr>
          <a:xfrm>
            <a:off x="4716016" y="2352253"/>
            <a:ext cx="4314825" cy="4029075"/>
          </a:xfrm>
          <a:prstGeom prst="rect">
            <a:avLst/>
          </a:prstGeom>
        </p:spPr>
      </p:pic>
      <p:sp>
        <p:nvSpPr>
          <p:cNvPr id="7" name="Text Box 5"/>
          <p:cNvSpPr txBox="1">
            <a:spLocks noChangeArrowheads="1"/>
          </p:cNvSpPr>
          <p:nvPr/>
        </p:nvSpPr>
        <p:spPr bwMode="auto">
          <a:xfrm>
            <a:off x="890513" y="2060848"/>
            <a:ext cx="3825503" cy="4104456"/>
          </a:xfrm>
          <a:prstGeom prst="rect">
            <a:avLst/>
          </a:prstGeom>
          <a:noFill/>
          <a:ln w="9525" algn="ctr">
            <a:noFill/>
            <a:miter lim="800000"/>
            <a:headEnd/>
            <a:tailEnd type="none" w="med" len="lg"/>
          </a:ln>
        </p:spPr>
        <p:txBody>
          <a:bodyPr/>
          <a:lstStyle/>
          <a:p>
            <a:pPr marL="231775" indent="-231775">
              <a:buClr>
                <a:schemeClr val="tx1"/>
              </a:buClr>
              <a:buFont typeface="Arial" pitchFamily="34" charset="0"/>
              <a:buChar char="•"/>
            </a:pPr>
            <a:r>
              <a:rPr lang="en-US" sz="2400" dirty="0"/>
              <a:t>Windows is used widely so it attracts more attention from software developers. </a:t>
            </a:r>
          </a:p>
          <a:p>
            <a:pPr marL="688975" lvl="1" indent="-231775">
              <a:buClr>
                <a:schemeClr val="tx1"/>
              </a:buClr>
              <a:buFont typeface="Wingdings" pitchFamily="2" charset="2"/>
              <a:buChar char="§"/>
            </a:pPr>
            <a:r>
              <a:rPr lang="en-US" sz="2200" dirty="0"/>
              <a:t>As a result, there are more programs that run on Windows than on any other operating system.</a:t>
            </a:r>
          </a:p>
          <a:p>
            <a:pPr marL="231775" indent="-231775">
              <a:spcBef>
                <a:spcPts val="600"/>
              </a:spcBef>
              <a:buClr>
                <a:schemeClr val="tx1"/>
              </a:buClr>
              <a:buFont typeface="Arial" pitchFamily="34" charset="0"/>
              <a:buChar char="•"/>
            </a:pPr>
            <a:r>
              <a:rPr lang="en-US" sz="2400" dirty="0" smtClean="0"/>
              <a:t>There is </a:t>
            </a:r>
            <a:r>
              <a:rPr lang="en-US" sz="2400" b="1" dirty="0" smtClean="0"/>
              <a:t>positive </a:t>
            </a:r>
            <a:r>
              <a:rPr lang="en-US" sz="2400" b="1" dirty="0"/>
              <a:t>feedback </a:t>
            </a:r>
            <a:r>
              <a:rPr lang="en-US" sz="2400" dirty="0"/>
              <a:t>when success breeds greater success and failure breeds failure.</a:t>
            </a:r>
          </a:p>
          <a:p>
            <a:pPr marL="231775" lvl="1" indent="-231775">
              <a:spcBef>
                <a:spcPct val="20000"/>
              </a:spcBef>
              <a:buClr>
                <a:schemeClr val="tx1"/>
              </a:buClr>
              <a:buFont typeface="Arial" pitchFamily="34" charset="0"/>
              <a:buChar char="•"/>
            </a:pPr>
            <a:endParaRPr lang="en-US" sz="2200" dirty="0"/>
          </a:p>
          <a:p>
            <a:pPr marL="231775" indent="-231775">
              <a:lnSpc>
                <a:spcPct val="100000"/>
              </a:lnSpc>
              <a:spcBef>
                <a:spcPct val="20000"/>
              </a:spcBef>
              <a:buClr>
                <a:schemeClr val="tx1"/>
              </a:buClr>
              <a:buFont typeface="Arial" pitchFamily="34" charset="0"/>
              <a:buChar char="•"/>
            </a:pPr>
            <a:endParaRPr lang="en-US" sz="2200" dirty="0"/>
          </a:p>
        </p:txBody>
      </p:sp>
    </p:spTree>
    <p:extLst>
      <p:ext uri="{BB962C8B-B14F-4D97-AF65-F5344CB8AC3E}">
        <p14:creationId xmlns:p14="http://schemas.microsoft.com/office/powerpoint/2010/main" val="3467562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2165">
                                            <p:txEl>
                                              <p:pRg st="0" end="0"/>
                                            </p:txEl>
                                          </p:spTgt>
                                        </p:tgtEl>
                                        <p:attrNameLst>
                                          <p:attrName>style.visibility</p:attrName>
                                        </p:attrNameLst>
                                      </p:cBhvr>
                                      <p:to>
                                        <p:strVal val="visible"/>
                                      </p:to>
                                    </p:set>
                                    <p:animEffect transition="in" filter="wipe(left)">
                                      <p:cBhvr>
                                        <p:cTn id="7" dur="500"/>
                                        <p:tgtEl>
                                          <p:spTgt spid="921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Active Learning Practice</a:t>
            </a:r>
            <a:endParaRPr lang="en-US" dirty="0"/>
          </a:p>
        </p:txBody>
      </p:sp>
      <p:sp>
        <p:nvSpPr>
          <p:cNvPr id="3" name="Content Placeholder 2"/>
          <p:cNvSpPr>
            <a:spLocks noGrp="1"/>
          </p:cNvSpPr>
          <p:nvPr>
            <p:ph idx="1"/>
          </p:nvPr>
        </p:nvSpPr>
        <p:spPr>
          <a:xfrm>
            <a:off x="963488" y="620688"/>
            <a:ext cx="8001000" cy="3074665"/>
          </a:xfrm>
        </p:spPr>
        <p:txBody>
          <a:bodyPr>
            <a:normAutofit/>
          </a:bodyPr>
          <a:lstStyle/>
          <a:p>
            <a:pPr marL="0" indent="0">
              <a:buNone/>
            </a:pPr>
            <a:r>
              <a:rPr lang="en-US" dirty="0"/>
              <a:t>The extra </a:t>
            </a:r>
            <a:r>
              <a:rPr lang="en-US" dirty="0" smtClean="0"/>
              <a:t>enjoyment you might have because other people in the area have purchased flowers for their gardens is an example with?</a:t>
            </a:r>
            <a:endParaRPr lang="en-US" dirty="0"/>
          </a:p>
          <a:p>
            <a:pPr marL="457200" indent="-457200">
              <a:buFont typeface="+mj-lt"/>
              <a:buAutoNum type="alphaLcParenR"/>
            </a:pPr>
            <a:r>
              <a:rPr lang="en-US" dirty="0" smtClean="0"/>
              <a:t>private cost</a:t>
            </a:r>
            <a:endParaRPr lang="en-US" dirty="0"/>
          </a:p>
          <a:p>
            <a:pPr marL="457200" indent="-457200">
              <a:buFont typeface="+mj-lt"/>
              <a:buAutoNum type="alphaLcParenR"/>
            </a:pPr>
            <a:r>
              <a:rPr lang="en-US" dirty="0"/>
              <a:t>external </a:t>
            </a:r>
            <a:r>
              <a:rPr lang="en-US" dirty="0" smtClean="0"/>
              <a:t>cost</a:t>
            </a:r>
            <a:endParaRPr lang="en-US" dirty="0"/>
          </a:p>
          <a:p>
            <a:pPr marL="457200" indent="-457200">
              <a:buFont typeface="+mj-lt"/>
              <a:buAutoNum type="alphaLcParenR"/>
            </a:pPr>
            <a:r>
              <a:rPr lang="en-US" dirty="0"/>
              <a:t>private </a:t>
            </a:r>
            <a:r>
              <a:rPr lang="en-US" dirty="0" smtClean="0"/>
              <a:t>benefit</a:t>
            </a:r>
            <a:endParaRPr lang="en-US" dirty="0"/>
          </a:p>
          <a:p>
            <a:pPr marL="457200" indent="-457200">
              <a:buFont typeface="+mj-lt"/>
              <a:buAutoNum type="alphaLcParenR"/>
            </a:pPr>
            <a:r>
              <a:rPr lang="en-US" dirty="0"/>
              <a:t>external </a:t>
            </a:r>
            <a:r>
              <a:rPr lang="en-US" dirty="0" smtClean="0"/>
              <a:t>benefit</a:t>
            </a:r>
          </a:p>
          <a:p>
            <a:pPr marL="0" indent="0">
              <a:buNone/>
            </a:pPr>
            <a:endParaRPr lang="en-US" dirty="0"/>
          </a:p>
          <a:p>
            <a:pPr marL="0" indent="0">
              <a:buNone/>
            </a:pPr>
            <a:endParaRPr lang="en-US" dirty="0" smtClean="0"/>
          </a:p>
          <a:p>
            <a:pPr marL="0" indent="0">
              <a:buNone/>
            </a:pPr>
            <a:endParaRPr lang="en-US" dirty="0"/>
          </a:p>
        </p:txBody>
      </p:sp>
      <p:pic>
        <p:nvPicPr>
          <p:cNvPr id="5" name="Picture 4"/>
          <p:cNvPicPr>
            <a:picLocks noChangeAspect="1"/>
          </p:cNvPicPr>
          <p:nvPr/>
        </p:nvPicPr>
        <p:blipFill>
          <a:blip r:embed="rId3"/>
          <a:stretch>
            <a:fillRect/>
          </a:stretch>
        </p:blipFill>
        <p:spPr>
          <a:xfrm>
            <a:off x="5868144" y="1631581"/>
            <a:ext cx="2580323" cy="1937385"/>
          </a:xfrm>
          <a:prstGeom prst="rect">
            <a:avLst/>
          </a:prstGeom>
        </p:spPr>
      </p:pic>
      <p:sp>
        <p:nvSpPr>
          <p:cNvPr id="8" name="Content Placeholder 2"/>
          <p:cNvSpPr txBox="1">
            <a:spLocks/>
          </p:cNvSpPr>
          <p:nvPr/>
        </p:nvSpPr>
        <p:spPr bwMode="auto">
          <a:xfrm>
            <a:off x="971600" y="3789040"/>
            <a:ext cx="8001000" cy="28586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2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0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smtClean="0"/>
              <a:t>When you bring bulky baggage on the MTR and make it difficult for others to get in or out of the train, there is:</a:t>
            </a:r>
          </a:p>
          <a:p>
            <a:pPr marL="457200" indent="-457200">
              <a:buFont typeface="+mj-lt"/>
              <a:buAutoNum type="alphaLcParenR"/>
            </a:pPr>
            <a:r>
              <a:rPr lang="en-US" dirty="0" smtClean="0"/>
              <a:t>private cost</a:t>
            </a:r>
          </a:p>
          <a:p>
            <a:pPr marL="457200" indent="-457200">
              <a:buFont typeface="+mj-lt"/>
              <a:buAutoNum type="alphaLcParenR"/>
            </a:pPr>
            <a:r>
              <a:rPr lang="en-US" dirty="0" smtClean="0"/>
              <a:t>external cost</a:t>
            </a:r>
          </a:p>
          <a:p>
            <a:pPr marL="457200" indent="-457200">
              <a:buFont typeface="+mj-lt"/>
              <a:buAutoNum type="alphaLcParenR"/>
            </a:pPr>
            <a:r>
              <a:rPr lang="en-US" dirty="0" smtClean="0"/>
              <a:t>private benefit</a:t>
            </a:r>
          </a:p>
          <a:p>
            <a:pPr marL="457200" indent="-457200">
              <a:buFont typeface="+mj-lt"/>
              <a:buAutoNum type="alphaLcParenR"/>
            </a:pPr>
            <a:r>
              <a:rPr lang="en-US" dirty="0" smtClean="0"/>
              <a:t>external benefit</a:t>
            </a:r>
          </a:p>
          <a:p>
            <a:pPr marL="0" indent="0">
              <a:buFont typeface="Arial" pitchFamily="34" charset="0"/>
              <a:buNone/>
            </a:pPr>
            <a:endParaRPr lang="en-US" dirty="0" smtClean="0"/>
          </a:p>
          <a:p>
            <a:pPr marL="0" indent="0">
              <a:buFont typeface="Arial" pitchFamily="34" charset="0"/>
              <a:buNone/>
            </a:pPr>
            <a:endParaRPr lang="en-US" dirty="0" smtClean="0"/>
          </a:p>
          <a:p>
            <a:pPr marL="0" indent="0">
              <a:buFont typeface="Arial" pitchFamily="34" charset="0"/>
              <a:buNone/>
            </a:pPr>
            <a:endParaRPr lang="en-US" dirty="0"/>
          </a:p>
        </p:txBody>
      </p:sp>
      <p:pic>
        <p:nvPicPr>
          <p:cNvPr id="11" name="Picture 10"/>
          <p:cNvPicPr>
            <a:picLocks/>
          </p:cNvPicPr>
          <p:nvPr/>
        </p:nvPicPr>
        <p:blipFill>
          <a:blip r:embed="rId4"/>
          <a:stretch>
            <a:fillRect/>
          </a:stretch>
        </p:blipFill>
        <p:spPr>
          <a:xfrm>
            <a:off x="4603229" y="4678817"/>
            <a:ext cx="1809750" cy="1748790"/>
          </a:xfrm>
          <a:prstGeom prst="rect">
            <a:avLst/>
          </a:prstGeom>
        </p:spPr>
      </p:pic>
    </p:spTree>
    <p:extLst>
      <p:ext uri="{BB962C8B-B14F-4D97-AF65-F5344CB8AC3E}">
        <p14:creationId xmlns:p14="http://schemas.microsoft.com/office/powerpoint/2010/main" val="31865967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0070C0"/>
                                      </p:to>
                                    </p:animClr>
                                    <p:animClr clrSpc="rgb" dir="cw">
                                      <p:cBhvr>
                                        <p:cTn id="7" dur="500" fill="hold"/>
                                        <p:tgtEl>
                                          <p:spTgt spid="3">
                                            <p:txEl>
                                              <p:pRg st="4" end="4"/>
                                            </p:txEl>
                                          </p:spTgt>
                                        </p:tgtEl>
                                        <p:attrNameLst>
                                          <p:attrName>fillcolor</p:attrName>
                                        </p:attrNameLst>
                                      </p:cBhvr>
                                      <p:to>
                                        <a:srgbClr val="0070C0"/>
                                      </p:to>
                                    </p:animClr>
                                    <p:set>
                                      <p:cBhvr>
                                        <p:cTn id="8" dur="500" fill="hold"/>
                                        <p:tgtEl>
                                          <p:spTgt spid="3">
                                            <p:txEl>
                                              <p:pRg st="4" end="4"/>
                                            </p:txEl>
                                          </p:spTgt>
                                        </p:tgtEl>
                                        <p:attrNameLst>
                                          <p:attrName>fill.type</p:attrName>
                                        </p:attrNameLst>
                                      </p:cBhvr>
                                      <p:to>
                                        <p:strVal val="solid"/>
                                      </p:to>
                                    </p:set>
                                    <p:set>
                                      <p:cBhvr>
                                        <p:cTn id="9" dur="500" fill="hold"/>
                                        <p:tgtEl>
                                          <p:spTgt spid="3">
                                            <p:txEl>
                                              <p:pRg st="4" end="4"/>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8">
                                            <p:txEl>
                                              <p:pRg st="2" end="2"/>
                                            </p:txEl>
                                          </p:spTgt>
                                        </p:tgtEl>
                                        <p:attrNameLst>
                                          <p:attrName>style.color</p:attrName>
                                        </p:attrNameLst>
                                      </p:cBhvr>
                                      <p:to>
                                        <a:schemeClr val="accent2"/>
                                      </p:to>
                                    </p:animClr>
                                    <p:animClr clrSpc="rgb" dir="cw">
                                      <p:cBhvr>
                                        <p:cTn id="14" dur="500" fill="hold"/>
                                        <p:tgtEl>
                                          <p:spTgt spid="8">
                                            <p:txEl>
                                              <p:pRg st="2" end="2"/>
                                            </p:txEl>
                                          </p:spTgt>
                                        </p:tgtEl>
                                        <p:attrNameLst>
                                          <p:attrName>fillcolor</p:attrName>
                                        </p:attrNameLst>
                                      </p:cBhvr>
                                      <p:to>
                                        <a:schemeClr val="accent2"/>
                                      </p:to>
                                    </p:animClr>
                                    <p:set>
                                      <p:cBhvr>
                                        <p:cTn id="15" dur="500" fill="hold"/>
                                        <p:tgtEl>
                                          <p:spTgt spid="8">
                                            <p:txEl>
                                              <p:pRg st="2" end="2"/>
                                            </p:txEl>
                                          </p:spTgt>
                                        </p:tgtEl>
                                        <p:attrNameLst>
                                          <p:attrName>fill.type</p:attrName>
                                        </p:attrNameLst>
                                      </p:cBhvr>
                                      <p:to>
                                        <p:strVal val="solid"/>
                                      </p:to>
                                    </p:set>
                                    <p:set>
                                      <p:cBhvr>
                                        <p:cTn id="16" dur="500" fill="hold"/>
                                        <p:tgtEl>
                                          <p:spTgt spid="8">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8300" y="1988840"/>
            <a:ext cx="3588588" cy="3001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7826" name="Rectangle 2"/>
          <p:cNvSpPr>
            <a:spLocks noGrp="1" noRot="1" noChangeArrowheads="1"/>
          </p:cNvSpPr>
          <p:nvPr>
            <p:ph type="title" idx="4294967295"/>
          </p:nvPr>
        </p:nvSpPr>
        <p:spPr>
          <a:xfrm>
            <a:off x="1043608" y="78904"/>
            <a:ext cx="7826305" cy="469776"/>
          </a:xfrm>
        </p:spPr>
        <p:txBody>
          <a:bodyPr/>
          <a:lstStyle/>
          <a:p>
            <a:pPr algn="l"/>
            <a:r>
              <a:rPr lang="en-US" dirty="0" smtClean="0"/>
              <a:t>Case Study: The Economics of Pollution</a:t>
            </a:r>
            <a:endParaRPr lang="en-US" b="0" dirty="0" smtClean="0"/>
          </a:p>
        </p:txBody>
      </p:sp>
      <p:sp>
        <p:nvSpPr>
          <p:cNvPr id="4" name="Text Box 5"/>
          <p:cNvSpPr txBox="1">
            <a:spLocks noChangeArrowheads="1"/>
          </p:cNvSpPr>
          <p:nvPr/>
        </p:nvSpPr>
        <p:spPr bwMode="auto">
          <a:xfrm>
            <a:off x="899592" y="836712"/>
            <a:ext cx="7920880" cy="1296144"/>
          </a:xfrm>
          <a:prstGeom prst="rect">
            <a:avLst/>
          </a:prstGeom>
          <a:noFill/>
          <a:ln w="9525" algn="ctr">
            <a:noFill/>
            <a:miter lim="800000"/>
            <a:headEnd/>
            <a:tailEnd type="none" w="med" len="lg"/>
          </a:ln>
        </p:spPr>
        <p:txBody>
          <a:bodyPr/>
          <a:lstStyle/>
          <a:p>
            <a:pPr marL="231775" indent="-231775">
              <a:spcBef>
                <a:spcPts val="600"/>
              </a:spcBef>
              <a:buClr>
                <a:schemeClr val="tx1"/>
              </a:buClr>
              <a:buFont typeface="Wingdings" pitchFamily="2" charset="2"/>
              <a:buChar char="§"/>
            </a:pPr>
            <a:r>
              <a:rPr lang="en-US" sz="2800" dirty="0"/>
              <a:t>Pollution is a side effect of economic activities that provide us with good things (transportation, fertilizer, electric power)</a:t>
            </a:r>
          </a:p>
        </p:txBody>
      </p:sp>
      <p:sp>
        <p:nvSpPr>
          <p:cNvPr id="6" name="Text Box 5"/>
          <p:cNvSpPr txBox="1">
            <a:spLocks noChangeArrowheads="1"/>
          </p:cNvSpPr>
          <p:nvPr/>
        </p:nvSpPr>
        <p:spPr bwMode="auto">
          <a:xfrm>
            <a:off x="899592" y="2420888"/>
            <a:ext cx="4528708" cy="3024336"/>
          </a:xfrm>
          <a:prstGeom prst="rect">
            <a:avLst/>
          </a:prstGeom>
          <a:noFill/>
          <a:ln w="9525" algn="ctr">
            <a:noFill/>
            <a:miter lim="800000"/>
            <a:headEnd/>
            <a:tailEnd type="none" w="med" len="lg"/>
          </a:ln>
        </p:spPr>
        <p:txBody>
          <a:bodyPr/>
          <a:lstStyle/>
          <a:p>
            <a:pPr marL="231775" indent="-231775">
              <a:spcBef>
                <a:spcPts val="600"/>
              </a:spcBef>
              <a:buClr>
                <a:schemeClr val="tx1"/>
              </a:buClr>
              <a:buFont typeface="Wingdings" pitchFamily="2" charset="2"/>
              <a:buChar char="§"/>
            </a:pPr>
            <a:r>
              <a:rPr lang="en-US" sz="2800" dirty="0" smtClean="0"/>
              <a:t>Producers can reduce pollution by using (expensive) </a:t>
            </a:r>
            <a:r>
              <a:rPr lang="en-US" sz="2800" b="1" dirty="0" smtClean="0">
                <a:solidFill>
                  <a:schemeClr val="accent2">
                    <a:lumMod val="50000"/>
                  </a:schemeClr>
                </a:solidFill>
              </a:rPr>
              <a:t>pollution mitigation </a:t>
            </a:r>
            <a:r>
              <a:rPr lang="en-US" sz="2800" dirty="0" smtClean="0"/>
              <a:t>technologies</a:t>
            </a:r>
            <a:endParaRPr lang="en-US" sz="2800" dirty="0">
              <a:solidFill>
                <a:schemeClr val="accent2">
                  <a:lumMod val="50000"/>
                </a:schemeClr>
              </a:solidFill>
            </a:endParaRPr>
          </a:p>
        </p:txBody>
      </p:sp>
      <p:sp>
        <p:nvSpPr>
          <p:cNvPr id="7" name="Text Box 5"/>
          <p:cNvSpPr txBox="1">
            <a:spLocks noChangeArrowheads="1"/>
          </p:cNvSpPr>
          <p:nvPr/>
        </p:nvSpPr>
        <p:spPr bwMode="auto">
          <a:xfrm>
            <a:off x="899592" y="4581128"/>
            <a:ext cx="7920880" cy="1969048"/>
          </a:xfrm>
          <a:prstGeom prst="rect">
            <a:avLst/>
          </a:prstGeom>
          <a:noFill/>
          <a:ln w="9525" algn="ctr">
            <a:noFill/>
            <a:miter lim="800000"/>
            <a:headEnd/>
            <a:tailEnd type="none" w="med" len="lg"/>
          </a:ln>
        </p:spPr>
        <p:txBody>
          <a:bodyPr/>
          <a:lstStyle/>
          <a:p>
            <a:pPr marL="231775" indent="-231775">
              <a:spcBef>
                <a:spcPts val="600"/>
              </a:spcBef>
              <a:buClr>
                <a:schemeClr val="tx1"/>
              </a:buClr>
              <a:buFont typeface="Wingdings" pitchFamily="2" charset="2"/>
              <a:buChar char="§"/>
            </a:pPr>
            <a:r>
              <a:rPr lang="en-US" sz="2800" dirty="0" smtClean="0"/>
              <a:t>However, An unregulated firm</a:t>
            </a:r>
            <a:br>
              <a:rPr lang="en-US" sz="2800" dirty="0" smtClean="0"/>
            </a:br>
            <a:r>
              <a:rPr lang="en-US" sz="2800" dirty="0" smtClean="0"/>
              <a:t> has no incentive to reduce pollution</a:t>
            </a:r>
          </a:p>
          <a:p>
            <a:pPr marL="688975" lvl="1" indent="-231775">
              <a:spcBef>
                <a:spcPts val="600"/>
              </a:spcBef>
              <a:buClr>
                <a:schemeClr val="tx1"/>
              </a:buClr>
              <a:buFont typeface="Wingdings" pitchFamily="2" charset="2"/>
              <a:buChar char="§"/>
            </a:pPr>
            <a:r>
              <a:rPr lang="en-US" sz="2700" dirty="0" smtClean="0"/>
              <a:t>Producers </a:t>
            </a:r>
            <a:r>
              <a:rPr lang="en-US" sz="2700" dirty="0"/>
              <a:t>do not pay for the pollution they </a:t>
            </a:r>
            <a:r>
              <a:rPr lang="en-US" sz="2700" dirty="0" smtClean="0"/>
              <a:t>cause</a:t>
            </a:r>
            <a:br>
              <a:rPr lang="en-US" sz="2700" dirty="0" smtClean="0"/>
            </a:br>
            <a:r>
              <a:rPr lang="en-US" sz="2700" dirty="0" smtClean="0"/>
              <a:t> </a:t>
            </a:r>
            <a:r>
              <a:rPr lang="en-US" sz="2700" dirty="0">
                <a:sym typeface="Symbol" panose="05050102010706020507" pitchFamily="18" charset="2"/>
              </a:rPr>
              <a:t> </a:t>
            </a:r>
            <a:r>
              <a:rPr lang="en-US" sz="2700" dirty="0" smtClean="0">
                <a:sym typeface="Symbol" panose="05050102010706020507" pitchFamily="18" charset="2"/>
              </a:rPr>
              <a:t> </a:t>
            </a:r>
            <a:r>
              <a:rPr lang="en-US" sz="2700" dirty="0">
                <a:sym typeface="Symbol" panose="05050102010706020507" pitchFamily="18" charset="2"/>
              </a:rPr>
              <a:t>it is a </a:t>
            </a:r>
            <a:r>
              <a:rPr lang="en-US" sz="2700" b="1" i="1" dirty="0">
                <a:solidFill>
                  <a:schemeClr val="accent2">
                    <a:lumMod val="50000"/>
                  </a:schemeClr>
                </a:solidFill>
                <a:sym typeface="Symbol" panose="05050102010706020507" pitchFamily="18" charset="2"/>
              </a:rPr>
              <a:t>negative </a:t>
            </a:r>
            <a:r>
              <a:rPr lang="en-US" sz="2700" b="1" i="1" dirty="0" smtClean="0">
                <a:solidFill>
                  <a:schemeClr val="accent2">
                    <a:lumMod val="50000"/>
                  </a:schemeClr>
                </a:solidFill>
                <a:sym typeface="Symbol" panose="05050102010706020507" pitchFamily="18" charset="2"/>
              </a:rPr>
              <a:t>externality</a:t>
            </a:r>
            <a:endParaRPr lang="en-US" sz="2700" b="1" i="1" dirty="0">
              <a:solidFill>
                <a:schemeClr val="accent2">
                  <a:lumMod val="50000"/>
                </a:schemeClr>
              </a:solidFill>
              <a:sym typeface="Symbol" panose="05050102010706020507" pitchFamily="18" charset="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a:xfrm>
            <a:off x="899592" y="44624"/>
            <a:ext cx="8015808" cy="609600"/>
          </a:xfrm>
        </p:spPr>
        <p:txBody>
          <a:bodyPr/>
          <a:lstStyle/>
          <a:p>
            <a:pPr algn="l"/>
            <a:r>
              <a:rPr lang="en-US" dirty="0" smtClean="0"/>
              <a:t>Costs and Benefits of Pollution</a:t>
            </a:r>
            <a:endParaRPr lang="en-US" b="0" dirty="0" smtClean="0"/>
          </a:p>
        </p:txBody>
      </p:sp>
      <p:sp>
        <p:nvSpPr>
          <p:cNvPr id="78853" name="Text Box 5"/>
          <p:cNvSpPr txBox="1">
            <a:spLocks noChangeArrowheads="1"/>
          </p:cNvSpPr>
          <p:nvPr/>
        </p:nvSpPr>
        <p:spPr bwMode="auto">
          <a:xfrm>
            <a:off x="899592" y="836712"/>
            <a:ext cx="8015808" cy="5678478"/>
          </a:xfrm>
          <a:prstGeom prst="rect">
            <a:avLst/>
          </a:prstGeom>
          <a:noFill/>
          <a:ln w="9525" algn="ctr">
            <a:noFill/>
            <a:miter lim="800000"/>
            <a:headEnd/>
            <a:tailEnd type="none" w="med" len="lg"/>
          </a:ln>
        </p:spPr>
        <p:txBody>
          <a:bodyPr wrap="square">
            <a:spAutoFit/>
          </a:bodyPr>
          <a:lstStyle/>
          <a:p>
            <a:pPr marL="231775" indent="-231775">
              <a:lnSpc>
                <a:spcPct val="100000"/>
              </a:lnSpc>
              <a:buClr>
                <a:schemeClr val="tx1"/>
              </a:buClr>
              <a:buFont typeface="Arial" pitchFamily="34" charset="0"/>
              <a:buChar char="•"/>
            </a:pPr>
            <a:r>
              <a:rPr lang="en-US" sz="2700" dirty="0"/>
              <a:t>Pollution is bad, but the optimal quantity isn’t zero.</a:t>
            </a:r>
          </a:p>
          <a:p>
            <a:pPr marL="688975" lvl="1" indent="-231775">
              <a:buClr>
                <a:schemeClr val="tx1"/>
              </a:buClr>
              <a:buFont typeface="Arial" pitchFamily="34" charset="0"/>
              <a:buChar char="•"/>
            </a:pPr>
            <a:r>
              <a:rPr lang="en-US" sz="2600" dirty="0"/>
              <a:t>How much pollution should a society</a:t>
            </a:r>
            <a:r>
              <a:rPr lang="en-US" sz="2600" i="1" dirty="0"/>
              <a:t> </a:t>
            </a:r>
            <a:r>
              <a:rPr lang="en-US" sz="2600" dirty="0"/>
              <a:t>have? </a:t>
            </a:r>
          </a:p>
          <a:p>
            <a:pPr marL="688975" lvl="1" indent="-231775">
              <a:buClr>
                <a:schemeClr val="tx1"/>
              </a:buClr>
              <a:buFont typeface="Arial" pitchFamily="34" charset="0"/>
              <a:buChar char="•"/>
            </a:pPr>
            <a:r>
              <a:rPr lang="en-US" sz="2600" dirty="0"/>
              <a:t>What are the costs and benefits of pollution?</a:t>
            </a:r>
          </a:p>
          <a:p>
            <a:pPr marL="231775" indent="-231775">
              <a:lnSpc>
                <a:spcPct val="100000"/>
              </a:lnSpc>
              <a:spcBef>
                <a:spcPts val="600"/>
              </a:spcBef>
              <a:buClr>
                <a:schemeClr val="tx1"/>
              </a:buClr>
              <a:buFont typeface="Arial" pitchFamily="34" charset="0"/>
              <a:buChar char="•"/>
            </a:pPr>
            <a:r>
              <a:rPr lang="en-US" sz="2700" dirty="0" smtClean="0"/>
              <a:t>The </a:t>
            </a:r>
            <a:r>
              <a:rPr lang="en-US" sz="2700" b="1" dirty="0">
                <a:solidFill>
                  <a:schemeClr val="accent2">
                    <a:lumMod val="75000"/>
                  </a:schemeClr>
                </a:solidFill>
              </a:rPr>
              <a:t>marginal social cost of pollution </a:t>
            </a:r>
            <a:r>
              <a:rPr lang="en-US" sz="2700" dirty="0"/>
              <a:t>is the additional cost imposed on society as a whole by an additional unit of </a:t>
            </a:r>
            <a:r>
              <a:rPr lang="en-US" sz="2700" dirty="0" smtClean="0"/>
              <a:t>pollution.</a:t>
            </a:r>
          </a:p>
          <a:p>
            <a:pPr marL="231775" indent="-231775">
              <a:lnSpc>
                <a:spcPct val="100000"/>
              </a:lnSpc>
              <a:spcBef>
                <a:spcPts val="600"/>
              </a:spcBef>
              <a:buClr>
                <a:schemeClr val="tx1"/>
              </a:buClr>
              <a:buFont typeface="Arial" pitchFamily="34" charset="0"/>
              <a:buChar char="•"/>
            </a:pPr>
            <a:r>
              <a:rPr lang="en-US" sz="2700" dirty="0" smtClean="0"/>
              <a:t>The </a:t>
            </a:r>
            <a:r>
              <a:rPr lang="en-US" sz="2700" b="1" dirty="0">
                <a:solidFill>
                  <a:schemeClr val="accent1">
                    <a:lumMod val="75000"/>
                  </a:schemeClr>
                </a:solidFill>
              </a:rPr>
              <a:t>marginal social benefit of pollution </a:t>
            </a:r>
            <a:r>
              <a:rPr lang="en-US" sz="2700" dirty="0"/>
              <a:t>is the additional gain </a:t>
            </a:r>
            <a:r>
              <a:rPr lang="en-US" sz="2700" dirty="0" smtClean="0"/>
              <a:t>to </a:t>
            </a:r>
            <a:r>
              <a:rPr lang="en-US" sz="2700" dirty="0"/>
              <a:t>society </a:t>
            </a:r>
            <a:r>
              <a:rPr lang="en-US" sz="2700" dirty="0" smtClean="0"/>
              <a:t>(including cheaper production costs) </a:t>
            </a:r>
            <a:r>
              <a:rPr lang="en-US" sz="2700" dirty="0"/>
              <a:t>from an additional unit of </a:t>
            </a:r>
            <a:r>
              <a:rPr lang="en-US" sz="2700" dirty="0" smtClean="0"/>
              <a:t>pollution.</a:t>
            </a:r>
          </a:p>
          <a:p>
            <a:pPr marL="231775" indent="-231775">
              <a:lnSpc>
                <a:spcPct val="100000"/>
              </a:lnSpc>
              <a:spcBef>
                <a:spcPts val="600"/>
              </a:spcBef>
              <a:buClr>
                <a:schemeClr val="tx1"/>
              </a:buClr>
              <a:buFont typeface="Arial" pitchFamily="34" charset="0"/>
              <a:buChar char="•"/>
            </a:pPr>
            <a:r>
              <a:rPr lang="en-US" sz="2700" dirty="0" smtClean="0"/>
              <a:t>The </a:t>
            </a:r>
            <a:r>
              <a:rPr lang="en-US" sz="2700" b="1" dirty="0">
                <a:solidFill>
                  <a:schemeClr val="accent3">
                    <a:lumMod val="50000"/>
                  </a:schemeClr>
                </a:solidFill>
              </a:rPr>
              <a:t>socially optimal quantity of pollution </a:t>
            </a:r>
            <a:r>
              <a:rPr lang="en-US" sz="2700" dirty="0"/>
              <a:t>is the quantity of pollution that society would choose if all the costs and benefits of pollution were fully accounted for.</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Rot="1" noChangeArrowheads="1"/>
          </p:cNvSpPr>
          <p:nvPr>
            <p:ph type="title"/>
          </p:nvPr>
        </p:nvSpPr>
        <p:spPr>
          <a:xfrm>
            <a:off x="899592" y="60325"/>
            <a:ext cx="7992888" cy="555625"/>
          </a:xfrm>
        </p:spPr>
        <p:txBody>
          <a:bodyPr/>
          <a:lstStyle/>
          <a:p>
            <a:pPr algn="l"/>
            <a:r>
              <a:rPr lang="en-US" sz="3300" dirty="0" smtClean="0"/>
              <a:t>The Socially Optimal Quantity of Pollution</a:t>
            </a:r>
          </a:p>
        </p:txBody>
      </p:sp>
      <p:sp>
        <p:nvSpPr>
          <p:cNvPr id="825349" name="Line 5"/>
          <p:cNvSpPr>
            <a:spLocks noChangeShapeType="1"/>
          </p:cNvSpPr>
          <p:nvPr/>
        </p:nvSpPr>
        <p:spPr bwMode="auto">
          <a:xfrm flipV="1">
            <a:off x="2109788" y="1966913"/>
            <a:ext cx="4351337" cy="3398837"/>
          </a:xfrm>
          <a:prstGeom prst="line">
            <a:avLst/>
          </a:prstGeom>
          <a:noFill/>
          <a:ln w="30163">
            <a:solidFill>
              <a:srgbClr val="F58233"/>
            </a:solidFill>
            <a:miter lim="800000"/>
            <a:headEnd/>
            <a:tailEnd/>
          </a:ln>
        </p:spPr>
        <p:txBody>
          <a:bodyPr/>
          <a:lstStyle/>
          <a:p>
            <a:endParaRPr lang="en-US" dirty="0"/>
          </a:p>
        </p:txBody>
      </p:sp>
      <p:sp>
        <p:nvSpPr>
          <p:cNvPr id="825350" name="Line 6"/>
          <p:cNvSpPr>
            <a:spLocks noChangeShapeType="1"/>
          </p:cNvSpPr>
          <p:nvPr/>
        </p:nvSpPr>
        <p:spPr bwMode="auto">
          <a:xfrm flipH="1" flipV="1">
            <a:off x="2109788" y="1966913"/>
            <a:ext cx="4351337" cy="3398837"/>
          </a:xfrm>
          <a:prstGeom prst="line">
            <a:avLst/>
          </a:prstGeom>
          <a:noFill/>
          <a:ln w="30163" cap="rnd">
            <a:solidFill>
              <a:srgbClr val="6D4099"/>
            </a:solidFill>
            <a:miter lim="800000"/>
            <a:headEnd/>
            <a:tailEnd/>
          </a:ln>
        </p:spPr>
        <p:txBody>
          <a:bodyPr/>
          <a:lstStyle/>
          <a:p>
            <a:endParaRPr lang="en-US" dirty="0"/>
          </a:p>
        </p:txBody>
      </p:sp>
      <p:sp>
        <p:nvSpPr>
          <p:cNvPr id="825351" name="Rectangle 7"/>
          <p:cNvSpPr>
            <a:spLocks noChangeArrowheads="1"/>
          </p:cNvSpPr>
          <p:nvPr/>
        </p:nvSpPr>
        <p:spPr bwMode="auto">
          <a:xfrm>
            <a:off x="861874" y="914400"/>
            <a:ext cx="1191716" cy="646331"/>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social cost, marginal social benefit</a:t>
            </a:r>
            <a:endParaRPr lang="en-US" sz="1400" dirty="0">
              <a:latin typeface="Tahoma" pitchFamily="34" charset="0"/>
            </a:endParaRPr>
          </a:p>
        </p:txBody>
      </p:sp>
      <p:sp>
        <p:nvSpPr>
          <p:cNvPr id="825352" name="Rectangle 8"/>
          <p:cNvSpPr>
            <a:spLocks noChangeArrowheads="1"/>
          </p:cNvSpPr>
          <p:nvPr/>
        </p:nvSpPr>
        <p:spPr bwMode="auto">
          <a:xfrm>
            <a:off x="7008813" y="5429250"/>
            <a:ext cx="1296987" cy="430887"/>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Quantity of pollution</a:t>
            </a:r>
            <a:endParaRPr lang="en-US" sz="1400" dirty="0">
              <a:latin typeface="Tahoma" pitchFamily="34" charset="0"/>
            </a:endParaRPr>
          </a:p>
        </p:txBody>
      </p:sp>
      <p:sp>
        <p:nvSpPr>
          <p:cNvPr id="825353" name="Rectangle 9"/>
          <p:cNvSpPr>
            <a:spLocks noChangeArrowheads="1"/>
          </p:cNvSpPr>
          <p:nvPr/>
        </p:nvSpPr>
        <p:spPr bwMode="auto">
          <a:xfrm>
            <a:off x="7001876" y="5854992"/>
            <a:ext cx="1303241"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emissions (tons)</a:t>
            </a:r>
            <a:endParaRPr lang="en-US" sz="1400" dirty="0">
              <a:latin typeface="Tahoma" pitchFamily="34" charset="0"/>
            </a:endParaRPr>
          </a:p>
        </p:txBody>
      </p:sp>
      <p:sp>
        <p:nvSpPr>
          <p:cNvPr id="825354" name="Rectangle 10"/>
          <p:cNvSpPr>
            <a:spLocks noChangeArrowheads="1"/>
          </p:cNvSpPr>
          <p:nvPr/>
        </p:nvSpPr>
        <p:spPr bwMode="auto">
          <a:xfrm>
            <a:off x="4125913" y="5400675"/>
            <a:ext cx="139462"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Q</a:t>
            </a:r>
            <a:endParaRPr lang="en-US" sz="1400" i="1" dirty="0">
              <a:latin typeface="Tahoma" pitchFamily="34" charset="0"/>
            </a:endParaRPr>
          </a:p>
        </p:txBody>
      </p:sp>
      <p:sp>
        <p:nvSpPr>
          <p:cNvPr id="825355" name="Rectangle 11"/>
          <p:cNvSpPr>
            <a:spLocks noChangeArrowheads="1"/>
          </p:cNvSpPr>
          <p:nvPr/>
        </p:nvSpPr>
        <p:spPr bwMode="auto">
          <a:xfrm>
            <a:off x="4268788" y="5511800"/>
            <a:ext cx="368691"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OPT</a:t>
            </a:r>
            <a:endParaRPr lang="en-US" sz="1400" i="1" dirty="0">
              <a:latin typeface="Tahoma" pitchFamily="34" charset="0"/>
            </a:endParaRPr>
          </a:p>
        </p:txBody>
      </p:sp>
      <p:sp>
        <p:nvSpPr>
          <p:cNvPr id="825356" name="Rectangle 12"/>
          <p:cNvSpPr>
            <a:spLocks noChangeArrowheads="1"/>
          </p:cNvSpPr>
          <p:nvPr/>
        </p:nvSpPr>
        <p:spPr bwMode="auto">
          <a:xfrm>
            <a:off x="1855788" y="5400675"/>
            <a:ext cx="88900" cy="169863"/>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0</a:t>
            </a:r>
            <a:endParaRPr lang="en-US" sz="1400" dirty="0">
              <a:latin typeface="Tahoma" pitchFamily="34" charset="0"/>
            </a:endParaRPr>
          </a:p>
        </p:txBody>
      </p:sp>
      <p:sp>
        <p:nvSpPr>
          <p:cNvPr id="825357" name="Rectangle 13"/>
          <p:cNvSpPr>
            <a:spLocks noChangeArrowheads="1"/>
          </p:cNvSpPr>
          <p:nvPr/>
        </p:nvSpPr>
        <p:spPr bwMode="auto">
          <a:xfrm>
            <a:off x="1457325" y="3535363"/>
            <a:ext cx="361950"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$200</a:t>
            </a:r>
            <a:endParaRPr lang="en-US" sz="1400" dirty="0">
              <a:latin typeface="Tahoma" pitchFamily="34" charset="0"/>
            </a:endParaRPr>
          </a:p>
        </p:txBody>
      </p:sp>
      <p:sp>
        <p:nvSpPr>
          <p:cNvPr id="825358" name="Freeform 14"/>
          <p:cNvSpPr>
            <a:spLocks/>
          </p:cNvSpPr>
          <p:nvPr/>
        </p:nvSpPr>
        <p:spPr bwMode="auto">
          <a:xfrm>
            <a:off x="2109788" y="957263"/>
            <a:ext cx="6188075" cy="4408487"/>
          </a:xfrm>
          <a:custGeom>
            <a:avLst/>
            <a:gdLst/>
            <a:ahLst/>
            <a:cxnLst>
              <a:cxn ang="0">
                <a:pos x="1984" y="1796"/>
              </a:cxn>
              <a:cxn ang="0">
                <a:pos x="0" y="1796"/>
              </a:cxn>
              <a:cxn ang="0">
                <a:pos x="0" y="0"/>
              </a:cxn>
            </a:cxnLst>
            <a:rect l="0" t="0" r="r" b="b"/>
            <a:pathLst>
              <a:path w="1984" h="1796">
                <a:moveTo>
                  <a:pt x="1984" y="1796"/>
                </a:moveTo>
                <a:lnTo>
                  <a:pt x="0" y="1796"/>
                </a:lnTo>
                <a:lnTo>
                  <a:pt x="0" y="0"/>
                </a:lnTo>
              </a:path>
            </a:pathLst>
          </a:custGeom>
          <a:noFill/>
          <a:ln w="7938" cap="flat">
            <a:solidFill>
              <a:srgbClr val="000000"/>
            </a:solidFill>
            <a:prstDash val="solid"/>
            <a:miter lim="800000"/>
            <a:headEnd/>
            <a:tailEnd/>
          </a:ln>
        </p:spPr>
        <p:txBody>
          <a:bodyPr/>
          <a:lstStyle/>
          <a:p>
            <a:endParaRPr lang="en-US" dirty="0"/>
          </a:p>
        </p:txBody>
      </p:sp>
      <p:sp>
        <p:nvSpPr>
          <p:cNvPr id="825359" name="Oval 15"/>
          <p:cNvSpPr>
            <a:spLocks noChangeArrowheads="1"/>
          </p:cNvSpPr>
          <p:nvPr/>
        </p:nvSpPr>
        <p:spPr bwMode="auto">
          <a:xfrm>
            <a:off x="4206875" y="3608388"/>
            <a:ext cx="146050" cy="114300"/>
          </a:xfrm>
          <a:prstGeom prst="ellipse">
            <a:avLst/>
          </a:prstGeom>
          <a:solidFill>
            <a:srgbClr val="000000"/>
          </a:solidFill>
          <a:ln w="9525">
            <a:noFill/>
            <a:round/>
            <a:headEnd/>
            <a:tailEnd/>
          </a:ln>
        </p:spPr>
        <p:txBody>
          <a:bodyPr/>
          <a:lstStyle/>
          <a:p>
            <a:endParaRPr lang="en-US" dirty="0"/>
          </a:p>
        </p:txBody>
      </p:sp>
      <p:sp>
        <p:nvSpPr>
          <p:cNvPr id="825360" name="Rectangle 16"/>
          <p:cNvSpPr>
            <a:spLocks noChangeArrowheads="1"/>
          </p:cNvSpPr>
          <p:nvPr/>
        </p:nvSpPr>
        <p:spPr bwMode="auto">
          <a:xfrm>
            <a:off x="6248400" y="1524000"/>
            <a:ext cx="1871663" cy="430887"/>
          </a:xfrm>
          <a:prstGeom prst="rect">
            <a:avLst/>
          </a:prstGeom>
          <a:noFill/>
          <a:ln w="9525">
            <a:noFill/>
            <a:miter lim="800000"/>
            <a:headEnd/>
            <a:tailEnd/>
          </a:ln>
        </p:spPr>
        <p:txBody>
          <a:bodyPr lIns="0" tIns="0" rIns="0" bIns="0">
            <a:spAutoFit/>
          </a:bodyPr>
          <a:lstStyle/>
          <a:p>
            <a:pPr marL="1588" indent="-1588" algn="ctr">
              <a:lnSpc>
                <a:spcPct val="100000"/>
              </a:lnSpc>
            </a:pPr>
            <a:r>
              <a:rPr lang="en-US" sz="1400" dirty="0">
                <a:solidFill>
                  <a:srgbClr val="000000"/>
                </a:solidFill>
                <a:latin typeface="Myriad Pro" pitchFamily="34" charset="0"/>
              </a:rPr>
              <a:t>Marginal social cost, </a:t>
            </a:r>
            <a:r>
              <a:rPr lang="en-US" sz="1400" b="1" i="1" dirty="0" smtClean="0">
                <a:solidFill>
                  <a:srgbClr val="000000"/>
                </a:solidFill>
                <a:latin typeface="Myriad Pro" pitchFamily="34" charset="0"/>
              </a:rPr>
              <a:t>MSC</a:t>
            </a:r>
            <a:r>
              <a:rPr lang="en-US" sz="1400" dirty="0" smtClean="0">
                <a:solidFill>
                  <a:srgbClr val="000000"/>
                </a:solidFill>
                <a:latin typeface="Myriad Pro" pitchFamily="34" charset="0"/>
              </a:rPr>
              <a:t> </a:t>
            </a:r>
            <a:r>
              <a:rPr lang="en-US" sz="1400" dirty="0">
                <a:solidFill>
                  <a:srgbClr val="000000"/>
                </a:solidFill>
                <a:latin typeface="Myriad Pro" pitchFamily="34" charset="0"/>
              </a:rPr>
              <a:t>of pollution</a:t>
            </a:r>
            <a:endParaRPr lang="en-US" sz="1400" dirty="0">
              <a:latin typeface="Myriad Pro" pitchFamily="34" charset="0"/>
            </a:endParaRPr>
          </a:p>
        </p:txBody>
      </p:sp>
      <p:sp>
        <p:nvSpPr>
          <p:cNvPr id="825361" name="Rectangle 17"/>
          <p:cNvSpPr>
            <a:spLocks noChangeArrowheads="1"/>
          </p:cNvSpPr>
          <p:nvPr/>
        </p:nvSpPr>
        <p:spPr bwMode="auto">
          <a:xfrm>
            <a:off x="4191000" y="3352800"/>
            <a:ext cx="228600" cy="215444"/>
          </a:xfrm>
          <a:prstGeom prst="rect">
            <a:avLst/>
          </a:prstGeom>
          <a:noFill/>
          <a:ln w="9525">
            <a:noFill/>
            <a:miter lim="800000"/>
            <a:headEnd/>
            <a:tailEnd/>
          </a:ln>
        </p:spPr>
        <p:txBody>
          <a:bodyPr lIns="0" tIns="0" rIns="0" bIns="0">
            <a:spAutoFit/>
          </a:bodyPr>
          <a:lstStyle/>
          <a:p>
            <a:pPr marL="1588" indent="-1588"/>
            <a:r>
              <a:rPr lang="en-US" sz="1400" dirty="0">
                <a:solidFill>
                  <a:srgbClr val="000000"/>
                </a:solidFill>
                <a:latin typeface="Myriad Pro" pitchFamily="34" charset="0"/>
              </a:rPr>
              <a:t> </a:t>
            </a:r>
            <a:r>
              <a:rPr lang="en-US" sz="1400" i="1" dirty="0">
                <a:solidFill>
                  <a:srgbClr val="000000"/>
                </a:solidFill>
                <a:latin typeface="Myriad Pro" pitchFamily="34" charset="0"/>
              </a:rPr>
              <a:t>O</a:t>
            </a:r>
            <a:endParaRPr lang="en-US" sz="1400" i="1" dirty="0">
              <a:latin typeface="Tahoma" pitchFamily="34" charset="0"/>
            </a:endParaRPr>
          </a:p>
        </p:txBody>
      </p:sp>
      <p:sp>
        <p:nvSpPr>
          <p:cNvPr id="825362" name="Freeform 18"/>
          <p:cNvSpPr>
            <a:spLocks/>
          </p:cNvSpPr>
          <p:nvPr/>
        </p:nvSpPr>
        <p:spPr bwMode="auto">
          <a:xfrm>
            <a:off x="3359468" y="5958523"/>
            <a:ext cx="1790700" cy="446087"/>
          </a:xfrm>
          <a:custGeom>
            <a:avLst/>
            <a:gdLst/>
            <a:ahLst/>
            <a:cxnLst>
              <a:cxn ang="0">
                <a:pos x="243" y="119"/>
              </a:cxn>
              <a:cxn ang="0">
                <a:pos x="226" y="135"/>
              </a:cxn>
              <a:cxn ang="0">
                <a:pos x="17" y="135"/>
              </a:cxn>
              <a:cxn ang="0">
                <a:pos x="0" y="119"/>
              </a:cxn>
              <a:cxn ang="0">
                <a:pos x="0" y="16"/>
              </a:cxn>
              <a:cxn ang="0">
                <a:pos x="17" y="0"/>
              </a:cxn>
              <a:cxn ang="0">
                <a:pos x="226" y="0"/>
              </a:cxn>
              <a:cxn ang="0">
                <a:pos x="243" y="16"/>
              </a:cxn>
              <a:cxn ang="0">
                <a:pos x="243" y="119"/>
              </a:cxn>
            </a:cxnLst>
            <a:rect l="0" t="0" r="r" b="b"/>
            <a:pathLst>
              <a:path w="243" h="135">
                <a:moveTo>
                  <a:pt x="243" y="119"/>
                </a:moveTo>
                <a:cubicBezTo>
                  <a:pt x="243" y="128"/>
                  <a:pt x="235" y="135"/>
                  <a:pt x="226" y="135"/>
                </a:cubicBezTo>
                <a:cubicBezTo>
                  <a:pt x="17" y="135"/>
                  <a:pt x="17" y="135"/>
                  <a:pt x="17" y="135"/>
                </a:cubicBezTo>
                <a:cubicBezTo>
                  <a:pt x="8" y="135"/>
                  <a:pt x="0" y="128"/>
                  <a:pt x="0" y="119"/>
                </a:cubicBezTo>
                <a:cubicBezTo>
                  <a:pt x="0" y="16"/>
                  <a:pt x="0" y="16"/>
                  <a:pt x="0" y="16"/>
                </a:cubicBezTo>
                <a:cubicBezTo>
                  <a:pt x="0" y="7"/>
                  <a:pt x="8" y="0"/>
                  <a:pt x="17" y="0"/>
                </a:cubicBezTo>
                <a:cubicBezTo>
                  <a:pt x="226" y="0"/>
                  <a:pt x="226" y="0"/>
                  <a:pt x="226" y="0"/>
                </a:cubicBezTo>
                <a:cubicBezTo>
                  <a:pt x="235" y="0"/>
                  <a:pt x="243" y="7"/>
                  <a:pt x="243" y="16"/>
                </a:cubicBezTo>
                <a:lnTo>
                  <a:pt x="243" y="119"/>
                </a:lnTo>
                <a:close/>
              </a:path>
            </a:pathLst>
          </a:custGeom>
          <a:solidFill>
            <a:srgbClr val="D7E2E0"/>
          </a:solidFill>
          <a:ln w="9525">
            <a:noFill/>
            <a:round/>
            <a:headEnd/>
            <a:tailEnd/>
          </a:ln>
        </p:spPr>
        <p:txBody>
          <a:bodyPr/>
          <a:lstStyle/>
          <a:p>
            <a:endParaRPr lang="en-US" dirty="0"/>
          </a:p>
        </p:txBody>
      </p:sp>
      <p:sp>
        <p:nvSpPr>
          <p:cNvPr id="825363" name="Freeform 19"/>
          <p:cNvSpPr>
            <a:spLocks/>
          </p:cNvSpPr>
          <p:nvPr/>
        </p:nvSpPr>
        <p:spPr bwMode="auto">
          <a:xfrm>
            <a:off x="3677285" y="2209800"/>
            <a:ext cx="1241425" cy="544513"/>
          </a:xfrm>
          <a:custGeom>
            <a:avLst/>
            <a:gdLst/>
            <a:ahLst/>
            <a:cxnLst>
              <a:cxn ang="0">
                <a:pos x="133" y="119"/>
              </a:cxn>
              <a:cxn ang="0">
                <a:pos x="116" y="135"/>
              </a:cxn>
              <a:cxn ang="0">
                <a:pos x="17" y="135"/>
              </a:cxn>
              <a:cxn ang="0">
                <a:pos x="0" y="119"/>
              </a:cxn>
              <a:cxn ang="0">
                <a:pos x="0" y="16"/>
              </a:cxn>
              <a:cxn ang="0">
                <a:pos x="17" y="0"/>
              </a:cxn>
              <a:cxn ang="0">
                <a:pos x="116" y="0"/>
              </a:cxn>
              <a:cxn ang="0">
                <a:pos x="133" y="16"/>
              </a:cxn>
              <a:cxn ang="0">
                <a:pos x="133" y="119"/>
              </a:cxn>
            </a:cxnLst>
            <a:rect l="0" t="0" r="r" b="b"/>
            <a:pathLst>
              <a:path w="133" h="135">
                <a:moveTo>
                  <a:pt x="133" y="119"/>
                </a:moveTo>
                <a:cubicBezTo>
                  <a:pt x="133" y="128"/>
                  <a:pt x="125" y="135"/>
                  <a:pt x="116" y="135"/>
                </a:cubicBezTo>
                <a:cubicBezTo>
                  <a:pt x="17" y="135"/>
                  <a:pt x="17" y="135"/>
                  <a:pt x="17" y="135"/>
                </a:cubicBezTo>
                <a:cubicBezTo>
                  <a:pt x="8" y="135"/>
                  <a:pt x="0" y="128"/>
                  <a:pt x="0" y="119"/>
                </a:cubicBezTo>
                <a:cubicBezTo>
                  <a:pt x="0" y="16"/>
                  <a:pt x="0" y="16"/>
                  <a:pt x="0" y="16"/>
                </a:cubicBezTo>
                <a:cubicBezTo>
                  <a:pt x="0" y="7"/>
                  <a:pt x="8" y="0"/>
                  <a:pt x="17" y="0"/>
                </a:cubicBezTo>
                <a:cubicBezTo>
                  <a:pt x="116" y="0"/>
                  <a:pt x="116" y="0"/>
                  <a:pt x="116" y="0"/>
                </a:cubicBezTo>
                <a:cubicBezTo>
                  <a:pt x="125" y="0"/>
                  <a:pt x="133" y="7"/>
                  <a:pt x="133" y="16"/>
                </a:cubicBezTo>
                <a:lnTo>
                  <a:pt x="133" y="119"/>
                </a:lnTo>
                <a:close/>
              </a:path>
            </a:pathLst>
          </a:custGeom>
          <a:solidFill>
            <a:srgbClr val="D7E2E0"/>
          </a:solidFill>
          <a:ln w="9525">
            <a:noFill/>
            <a:round/>
            <a:headEnd/>
            <a:tailEnd/>
          </a:ln>
        </p:spPr>
        <p:txBody>
          <a:bodyPr/>
          <a:lstStyle/>
          <a:p>
            <a:endParaRPr lang="en-US" dirty="0"/>
          </a:p>
        </p:txBody>
      </p:sp>
      <p:sp>
        <p:nvSpPr>
          <p:cNvPr id="825364" name="Rectangle 20"/>
          <p:cNvSpPr>
            <a:spLocks noChangeArrowheads="1"/>
          </p:cNvSpPr>
          <p:nvPr/>
        </p:nvSpPr>
        <p:spPr bwMode="auto">
          <a:xfrm>
            <a:off x="3375660" y="5955030"/>
            <a:ext cx="1731963" cy="430887"/>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Socially optimal quantity of pollution</a:t>
            </a:r>
            <a:endParaRPr lang="en-US" sz="1400" dirty="0">
              <a:latin typeface="Tahoma" pitchFamily="34" charset="0"/>
            </a:endParaRPr>
          </a:p>
        </p:txBody>
      </p:sp>
      <p:sp>
        <p:nvSpPr>
          <p:cNvPr id="825366" name="Line 22"/>
          <p:cNvSpPr>
            <a:spLocks noChangeShapeType="1"/>
          </p:cNvSpPr>
          <p:nvPr/>
        </p:nvSpPr>
        <p:spPr bwMode="auto">
          <a:xfrm>
            <a:off x="4245610" y="5691188"/>
            <a:ext cx="0" cy="187325"/>
          </a:xfrm>
          <a:prstGeom prst="line">
            <a:avLst/>
          </a:prstGeom>
          <a:noFill/>
          <a:ln w="7938">
            <a:solidFill>
              <a:srgbClr val="000000"/>
            </a:solidFill>
            <a:miter lim="800000"/>
            <a:headEnd/>
            <a:tailEnd/>
          </a:ln>
        </p:spPr>
        <p:txBody>
          <a:bodyPr/>
          <a:lstStyle/>
          <a:p>
            <a:endParaRPr lang="en-US" dirty="0"/>
          </a:p>
        </p:txBody>
      </p:sp>
      <p:sp>
        <p:nvSpPr>
          <p:cNvPr id="825367" name="Line 23"/>
          <p:cNvSpPr>
            <a:spLocks noChangeShapeType="1"/>
          </p:cNvSpPr>
          <p:nvPr/>
        </p:nvSpPr>
        <p:spPr bwMode="auto">
          <a:xfrm>
            <a:off x="4267200" y="2743200"/>
            <a:ext cx="0" cy="566738"/>
          </a:xfrm>
          <a:prstGeom prst="line">
            <a:avLst/>
          </a:prstGeom>
          <a:noFill/>
          <a:ln w="7938">
            <a:solidFill>
              <a:srgbClr val="000000"/>
            </a:solidFill>
            <a:miter lim="800000"/>
            <a:headEnd/>
            <a:tailEnd/>
          </a:ln>
        </p:spPr>
        <p:txBody>
          <a:bodyPr/>
          <a:lstStyle/>
          <a:p>
            <a:endParaRPr lang="en-US" dirty="0"/>
          </a:p>
        </p:txBody>
      </p:sp>
      <p:sp>
        <p:nvSpPr>
          <p:cNvPr id="825368" name="Rectangle 24"/>
          <p:cNvSpPr>
            <a:spLocks noChangeArrowheads="1"/>
          </p:cNvSpPr>
          <p:nvPr/>
        </p:nvSpPr>
        <p:spPr bwMode="auto">
          <a:xfrm>
            <a:off x="3729990" y="2251710"/>
            <a:ext cx="1109663" cy="430887"/>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Socially optimal point</a:t>
            </a:r>
            <a:endParaRPr lang="en-US" sz="1400" dirty="0">
              <a:latin typeface="Myriad Pro" pitchFamily="34" charset="0"/>
            </a:endParaRPr>
          </a:p>
        </p:txBody>
      </p:sp>
      <p:sp>
        <p:nvSpPr>
          <p:cNvPr id="825369" name="Rectangle 25"/>
          <p:cNvSpPr>
            <a:spLocks noChangeArrowheads="1"/>
          </p:cNvSpPr>
          <p:nvPr/>
        </p:nvSpPr>
        <p:spPr bwMode="auto">
          <a:xfrm>
            <a:off x="5796136" y="4438853"/>
            <a:ext cx="2209800" cy="646331"/>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social benefit, </a:t>
            </a:r>
            <a:endParaRPr lang="en-US" sz="1400" dirty="0" smtClean="0">
              <a:solidFill>
                <a:srgbClr val="000000"/>
              </a:solidFill>
              <a:latin typeface="Myriad Pro" pitchFamily="34" charset="0"/>
            </a:endParaRPr>
          </a:p>
          <a:p>
            <a:pPr marL="1588" indent="-1588" algn="ctr"/>
            <a:r>
              <a:rPr lang="en-US" sz="1400" i="1" dirty="0" smtClean="0">
                <a:solidFill>
                  <a:srgbClr val="000000"/>
                </a:solidFill>
                <a:latin typeface="Myriad Pro" pitchFamily="34" charset="0"/>
              </a:rPr>
              <a:t>(</a:t>
            </a:r>
            <a:r>
              <a:rPr lang="en-US" sz="1400" i="1" dirty="0" err="1" smtClean="0">
                <a:solidFill>
                  <a:srgbClr val="000000"/>
                </a:solidFill>
                <a:latin typeface="Myriad Pro" pitchFamily="34" charset="0"/>
              </a:rPr>
              <a:t>incl</a:t>
            </a:r>
            <a:r>
              <a:rPr lang="en-US" sz="1400" i="1" dirty="0" smtClean="0">
                <a:solidFill>
                  <a:srgbClr val="000000"/>
                </a:solidFill>
                <a:latin typeface="Myriad Pro" pitchFamily="34" charset="0"/>
              </a:rPr>
              <a:t> cheaper production) </a:t>
            </a:r>
          </a:p>
          <a:p>
            <a:pPr marL="1588" indent="-1588" algn="ctr"/>
            <a:r>
              <a:rPr lang="en-US" sz="1400" b="1" i="1" dirty="0" smtClean="0">
                <a:solidFill>
                  <a:srgbClr val="000000"/>
                </a:solidFill>
                <a:latin typeface="Myriad Pro" pitchFamily="34" charset="0"/>
              </a:rPr>
              <a:t>MSB</a:t>
            </a:r>
            <a:r>
              <a:rPr lang="en-US" sz="1400" dirty="0" smtClean="0">
                <a:solidFill>
                  <a:srgbClr val="000000"/>
                </a:solidFill>
                <a:latin typeface="Myriad Pro" pitchFamily="34" charset="0"/>
              </a:rPr>
              <a:t> </a:t>
            </a:r>
            <a:r>
              <a:rPr lang="en-US" sz="1400" dirty="0">
                <a:solidFill>
                  <a:srgbClr val="000000"/>
                </a:solidFill>
                <a:latin typeface="Myriad Pro" pitchFamily="34" charset="0"/>
              </a:rPr>
              <a:t>of pollution</a:t>
            </a:r>
            <a:endParaRPr lang="en-US" sz="1400" dirty="0">
              <a:latin typeface="Tahoma" pitchFamily="34" charset="0"/>
            </a:endParaRPr>
          </a:p>
        </p:txBody>
      </p:sp>
      <p:cxnSp>
        <p:nvCxnSpPr>
          <p:cNvPr id="548914" name="Straight Connector 86"/>
          <p:cNvCxnSpPr>
            <a:cxnSpLocks noChangeShapeType="1"/>
          </p:cNvCxnSpPr>
          <p:nvPr/>
        </p:nvCxnSpPr>
        <p:spPr bwMode="auto">
          <a:xfrm>
            <a:off x="4262438" y="3711575"/>
            <a:ext cx="0" cy="1620838"/>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2133600" y="3657600"/>
            <a:ext cx="2092325" cy="9525"/>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25349"/>
                                        </p:tgtEl>
                                        <p:attrNameLst>
                                          <p:attrName>style.visibility</p:attrName>
                                        </p:attrNameLst>
                                      </p:cBhvr>
                                      <p:to>
                                        <p:strVal val="visible"/>
                                      </p:to>
                                    </p:set>
                                    <p:animEffect transition="in" filter="wipe(left)">
                                      <p:cBhvr>
                                        <p:cTn id="7" dur="500"/>
                                        <p:tgtEl>
                                          <p:spTgt spid="82534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8253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25350"/>
                                        </p:tgtEl>
                                        <p:attrNameLst>
                                          <p:attrName>style.visibility</p:attrName>
                                        </p:attrNameLst>
                                      </p:cBhvr>
                                      <p:to>
                                        <p:strVal val="visible"/>
                                      </p:to>
                                    </p:set>
                                    <p:animEffect transition="in" filter="wipe(left)">
                                      <p:cBhvr>
                                        <p:cTn id="15" dur="500"/>
                                        <p:tgtEl>
                                          <p:spTgt spid="825350"/>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825369"/>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82535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25361"/>
                                        </p:tgtEl>
                                        <p:attrNameLst>
                                          <p:attrName>style.visibility</p:attrName>
                                        </p:attrNameLst>
                                      </p:cBhvr>
                                      <p:to>
                                        <p:strVal val="visible"/>
                                      </p:to>
                                    </p:set>
                                  </p:childTnLst>
                                </p:cTn>
                              </p:par>
                              <p:par>
                                <p:cTn id="24" presetID="22" presetClass="entr" presetSubtype="8" fill="hold"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825357"/>
                                        </p:tgtEl>
                                        <p:attrNameLst>
                                          <p:attrName>style.visibility</p:attrName>
                                        </p:attrNameLst>
                                      </p:cBhvr>
                                      <p:to>
                                        <p:strVal val="visible"/>
                                      </p:to>
                                    </p:set>
                                  </p:childTnLst>
                                </p:cTn>
                              </p:par>
                              <p:par>
                                <p:cTn id="29" presetID="22" presetClass="entr" presetSubtype="1" fill="hold" nodeType="withEffect">
                                  <p:stCondLst>
                                    <p:cond delay="0"/>
                                  </p:stCondLst>
                                  <p:childTnLst>
                                    <p:set>
                                      <p:cBhvr>
                                        <p:cTn id="30" dur="1" fill="hold">
                                          <p:stCondLst>
                                            <p:cond delay="0"/>
                                          </p:stCondLst>
                                        </p:cTn>
                                        <p:tgtEl>
                                          <p:spTgt spid="548914"/>
                                        </p:tgtEl>
                                        <p:attrNameLst>
                                          <p:attrName>style.visibility</p:attrName>
                                        </p:attrNameLst>
                                      </p:cBhvr>
                                      <p:to>
                                        <p:strVal val="visible"/>
                                      </p:to>
                                    </p:set>
                                    <p:animEffect transition="in" filter="wipe(up)">
                                      <p:cBhvr>
                                        <p:cTn id="31" dur="500"/>
                                        <p:tgtEl>
                                          <p:spTgt spid="548914"/>
                                        </p:tgtEl>
                                      </p:cBhvr>
                                    </p:animEffect>
                                  </p:childTnLst>
                                </p:cTn>
                              </p:par>
                            </p:childTnLst>
                          </p:cTn>
                        </p:par>
                        <p:par>
                          <p:cTn id="32" fill="hold">
                            <p:stCondLst>
                              <p:cond delay="1000"/>
                            </p:stCondLst>
                            <p:childTnLst>
                              <p:par>
                                <p:cTn id="33" presetID="22" presetClass="entr" presetSubtype="4" fill="hold" grpId="0" nodeType="afterEffect">
                                  <p:stCondLst>
                                    <p:cond delay="0"/>
                                  </p:stCondLst>
                                  <p:childTnLst>
                                    <p:set>
                                      <p:cBhvr>
                                        <p:cTn id="34" dur="1" fill="hold">
                                          <p:stCondLst>
                                            <p:cond delay="0"/>
                                          </p:stCondLst>
                                        </p:cTn>
                                        <p:tgtEl>
                                          <p:spTgt spid="825367"/>
                                        </p:tgtEl>
                                        <p:attrNameLst>
                                          <p:attrName>style.visibility</p:attrName>
                                        </p:attrNameLst>
                                      </p:cBhvr>
                                      <p:to>
                                        <p:strVal val="visible"/>
                                      </p:to>
                                    </p:set>
                                    <p:animEffect transition="in" filter="wipe(down)">
                                      <p:cBhvr>
                                        <p:cTn id="35" dur="500"/>
                                        <p:tgtEl>
                                          <p:spTgt spid="825367"/>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825363"/>
                                        </p:tgtEl>
                                        <p:attrNameLst>
                                          <p:attrName>style.visibility</p:attrName>
                                        </p:attrNameLst>
                                      </p:cBhvr>
                                      <p:to>
                                        <p:strVal val="visible"/>
                                      </p:to>
                                    </p:set>
                                    <p:animEffect transition="in" filter="wipe(down)">
                                      <p:cBhvr>
                                        <p:cTn id="38" dur="500"/>
                                        <p:tgtEl>
                                          <p:spTgt spid="825363"/>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825368"/>
                                        </p:tgtEl>
                                        <p:attrNameLst>
                                          <p:attrName>style.visibility</p:attrName>
                                        </p:attrNameLst>
                                      </p:cBhvr>
                                      <p:to>
                                        <p:strVal val="visible"/>
                                      </p:to>
                                    </p:set>
                                    <p:animEffect transition="in" filter="wipe(down)">
                                      <p:cBhvr>
                                        <p:cTn id="41" dur="500"/>
                                        <p:tgtEl>
                                          <p:spTgt spid="825368"/>
                                        </p:tgtEl>
                                      </p:cBhvr>
                                    </p:animEffect>
                                  </p:childTnLst>
                                </p:cTn>
                              </p:par>
                            </p:childTnLst>
                          </p:cTn>
                        </p:par>
                        <p:par>
                          <p:cTn id="42" fill="hold">
                            <p:stCondLst>
                              <p:cond delay="1500"/>
                            </p:stCondLst>
                            <p:childTnLst>
                              <p:par>
                                <p:cTn id="43" presetID="22" presetClass="entr" presetSubtype="1" fill="hold" grpId="0" nodeType="afterEffect">
                                  <p:stCondLst>
                                    <p:cond delay="0"/>
                                  </p:stCondLst>
                                  <p:childTnLst>
                                    <p:set>
                                      <p:cBhvr>
                                        <p:cTn id="44" dur="1" fill="hold">
                                          <p:stCondLst>
                                            <p:cond delay="0"/>
                                          </p:stCondLst>
                                        </p:cTn>
                                        <p:tgtEl>
                                          <p:spTgt spid="825366"/>
                                        </p:tgtEl>
                                        <p:attrNameLst>
                                          <p:attrName>style.visibility</p:attrName>
                                        </p:attrNameLst>
                                      </p:cBhvr>
                                      <p:to>
                                        <p:strVal val="visible"/>
                                      </p:to>
                                    </p:set>
                                    <p:animEffect transition="in" filter="wipe(up)">
                                      <p:cBhvr>
                                        <p:cTn id="45" dur="500"/>
                                        <p:tgtEl>
                                          <p:spTgt spid="825366"/>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825364"/>
                                        </p:tgtEl>
                                        <p:attrNameLst>
                                          <p:attrName>style.visibility</p:attrName>
                                        </p:attrNameLst>
                                      </p:cBhvr>
                                      <p:to>
                                        <p:strVal val="visible"/>
                                      </p:to>
                                    </p:set>
                                    <p:animEffect transition="in" filter="wipe(up)">
                                      <p:cBhvr>
                                        <p:cTn id="48" dur="500"/>
                                        <p:tgtEl>
                                          <p:spTgt spid="825364"/>
                                        </p:tgtEl>
                                      </p:cBhvr>
                                    </p:animEffect>
                                  </p:childTnLst>
                                </p:cTn>
                              </p:par>
                              <p:par>
                                <p:cTn id="49" presetID="1" presetClass="entr" presetSubtype="0" fill="hold" grpId="0" nodeType="withEffect">
                                  <p:stCondLst>
                                    <p:cond delay="0"/>
                                  </p:stCondLst>
                                  <p:childTnLst>
                                    <p:set>
                                      <p:cBhvr>
                                        <p:cTn id="50" dur="1" fill="hold">
                                          <p:stCondLst>
                                            <p:cond delay="0"/>
                                          </p:stCondLst>
                                        </p:cTn>
                                        <p:tgtEl>
                                          <p:spTgt spid="8253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53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2535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25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9" grpId="0" animBg="1"/>
      <p:bldP spid="825350" grpId="0" animBg="1"/>
      <p:bldP spid="825354" grpId="0"/>
      <p:bldP spid="825355" grpId="0"/>
      <p:bldP spid="825356" grpId="0"/>
      <p:bldP spid="825357" grpId="0"/>
      <p:bldP spid="825359" grpId="0" animBg="1"/>
      <p:bldP spid="825360" grpId="0"/>
      <p:bldP spid="825361" grpId="0"/>
      <p:bldP spid="825362" grpId="0" animBg="1"/>
      <p:bldP spid="825363" grpId="0" animBg="1"/>
      <p:bldP spid="825364" grpId="0"/>
      <p:bldP spid="825366" grpId="0" animBg="1"/>
      <p:bldP spid="825367" grpId="0" animBg="1"/>
      <p:bldP spid="825368" grpId="0"/>
      <p:bldP spid="82536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a:xfrm>
            <a:off x="1020688" y="44624"/>
            <a:ext cx="8015808" cy="609600"/>
          </a:xfrm>
        </p:spPr>
        <p:txBody>
          <a:bodyPr/>
          <a:lstStyle/>
          <a:p>
            <a:pPr algn="l"/>
            <a:r>
              <a:rPr lang="en-US" dirty="0" smtClean="0"/>
              <a:t>How do we measure Costs and Benefits?</a:t>
            </a:r>
            <a:endParaRPr lang="en-US" b="0" dirty="0" smtClean="0"/>
          </a:p>
        </p:txBody>
      </p:sp>
      <p:sp>
        <p:nvSpPr>
          <p:cNvPr id="78853" name="Text Box 5"/>
          <p:cNvSpPr txBox="1">
            <a:spLocks noChangeArrowheads="1"/>
          </p:cNvSpPr>
          <p:nvPr/>
        </p:nvSpPr>
        <p:spPr bwMode="auto">
          <a:xfrm>
            <a:off x="1043608" y="764704"/>
            <a:ext cx="7799784" cy="5909310"/>
          </a:xfrm>
          <a:prstGeom prst="rect">
            <a:avLst/>
          </a:prstGeom>
          <a:noFill/>
          <a:ln w="9525" algn="ctr">
            <a:noFill/>
            <a:miter lim="800000"/>
            <a:headEnd/>
            <a:tailEnd type="none" w="med" len="lg"/>
          </a:ln>
        </p:spPr>
        <p:txBody>
          <a:bodyPr wrap="square">
            <a:spAutoFit/>
          </a:bodyPr>
          <a:lstStyle/>
          <a:p>
            <a:pPr>
              <a:lnSpc>
                <a:spcPct val="100000"/>
              </a:lnSpc>
              <a:buClr>
                <a:schemeClr val="tx1"/>
              </a:buClr>
            </a:pPr>
            <a:r>
              <a:rPr lang="en-US" sz="2600" dirty="0" smtClean="0"/>
              <a:t>How do we measure the </a:t>
            </a:r>
            <a:r>
              <a:rPr lang="en-US" sz="2600" b="1" dirty="0">
                <a:solidFill>
                  <a:schemeClr val="accent2">
                    <a:lumMod val="75000"/>
                  </a:schemeClr>
                </a:solidFill>
              </a:rPr>
              <a:t>marginal social cost of </a:t>
            </a:r>
            <a:r>
              <a:rPr lang="en-US" sz="2600" b="1" dirty="0" smtClean="0">
                <a:solidFill>
                  <a:schemeClr val="accent2">
                    <a:lumMod val="75000"/>
                  </a:schemeClr>
                </a:solidFill>
              </a:rPr>
              <a:t>pollution?</a:t>
            </a:r>
            <a:endParaRPr lang="en-US" sz="2600" dirty="0" smtClean="0"/>
          </a:p>
          <a:p>
            <a:pPr marL="457200" indent="-231775">
              <a:lnSpc>
                <a:spcPct val="100000"/>
              </a:lnSpc>
              <a:spcBef>
                <a:spcPts val="600"/>
              </a:spcBef>
              <a:buClr>
                <a:schemeClr val="tx1"/>
              </a:buClr>
              <a:buFont typeface="Arial" pitchFamily="34" charset="0"/>
              <a:buChar char="•"/>
            </a:pPr>
            <a:r>
              <a:rPr lang="en-US" sz="2600" dirty="0"/>
              <a:t>It’s the sum of the harm done to members of society from an extra unit of pollution.</a:t>
            </a:r>
          </a:p>
          <a:p>
            <a:pPr marL="914400" lvl="1" indent="-231775">
              <a:spcBef>
                <a:spcPts val="600"/>
              </a:spcBef>
              <a:buClr>
                <a:schemeClr val="tx1"/>
              </a:buClr>
              <a:buFont typeface="Arial" pitchFamily="34" charset="0"/>
              <a:buChar char="•"/>
            </a:pPr>
            <a:r>
              <a:rPr lang="en-US" sz="2600" dirty="0"/>
              <a:t>Health costs, psychological costs</a:t>
            </a:r>
          </a:p>
          <a:p>
            <a:pPr marL="914400" lvl="1" indent="-231775">
              <a:spcBef>
                <a:spcPts val="600"/>
              </a:spcBef>
              <a:buClr>
                <a:schemeClr val="tx1"/>
              </a:buClr>
              <a:buFont typeface="Arial" pitchFamily="34" charset="0"/>
              <a:buChar char="•"/>
            </a:pPr>
            <a:r>
              <a:rPr lang="en-US" sz="2600" dirty="0"/>
              <a:t>Sometimes estimated from public opinion surveys</a:t>
            </a:r>
          </a:p>
          <a:p>
            <a:pPr marL="914400" lvl="1" indent="-231775">
              <a:spcBef>
                <a:spcPts val="600"/>
              </a:spcBef>
              <a:buClr>
                <a:schemeClr val="tx1"/>
              </a:buClr>
              <a:buFont typeface="Arial" pitchFamily="34" charset="0"/>
              <a:buChar char="•"/>
            </a:pPr>
            <a:r>
              <a:rPr lang="en-US" sz="2600" dirty="0"/>
              <a:t>It is hard to estimate, and is often </a:t>
            </a:r>
            <a:r>
              <a:rPr lang="en-US" sz="2600" dirty="0" smtClean="0"/>
              <a:t>underestimated</a:t>
            </a:r>
            <a:endParaRPr lang="en-US" sz="2600" dirty="0"/>
          </a:p>
          <a:p>
            <a:pPr>
              <a:lnSpc>
                <a:spcPct val="100000"/>
              </a:lnSpc>
              <a:spcBef>
                <a:spcPts val="1200"/>
              </a:spcBef>
              <a:buClr>
                <a:schemeClr val="tx1"/>
              </a:buClr>
            </a:pPr>
            <a:r>
              <a:rPr lang="en-US" sz="2600" dirty="0" smtClean="0"/>
              <a:t>How </a:t>
            </a:r>
            <a:r>
              <a:rPr lang="en-US" sz="2600" dirty="0"/>
              <a:t>do </a:t>
            </a:r>
            <a:r>
              <a:rPr lang="en-US" sz="2600" dirty="0" smtClean="0"/>
              <a:t>we measure the </a:t>
            </a:r>
            <a:r>
              <a:rPr lang="en-US" sz="2600" b="1" dirty="0" smtClean="0">
                <a:solidFill>
                  <a:schemeClr val="accent1">
                    <a:lumMod val="75000"/>
                  </a:schemeClr>
                </a:solidFill>
              </a:rPr>
              <a:t>marginal </a:t>
            </a:r>
            <a:r>
              <a:rPr lang="en-US" sz="2600" b="1" dirty="0">
                <a:solidFill>
                  <a:schemeClr val="accent1">
                    <a:lumMod val="75000"/>
                  </a:schemeClr>
                </a:solidFill>
              </a:rPr>
              <a:t>social benefit of </a:t>
            </a:r>
            <a:r>
              <a:rPr lang="en-US" sz="2600" b="1" dirty="0" smtClean="0">
                <a:solidFill>
                  <a:schemeClr val="accent1">
                    <a:lumMod val="75000"/>
                  </a:schemeClr>
                </a:solidFill>
              </a:rPr>
              <a:t>pollution?</a:t>
            </a:r>
            <a:endParaRPr lang="en-US" sz="2600" dirty="0" smtClean="0"/>
          </a:p>
          <a:p>
            <a:pPr marL="231775" indent="-231775">
              <a:lnSpc>
                <a:spcPct val="100000"/>
              </a:lnSpc>
              <a:spcBef>
                <a:spcPts val="600"/>
              </a:spcBef>
              <a:buClr>
                <a:schemeClr val="tx1"/>
              </a:buClr>
              <a:buFont typeface="Arial" pitchFamily="34" charset="0"/>
              <a:buChar char="•"/>
            </a:pPr>
            <a:r>
              <a:rPr lang="en-US" sz="2600" dirty="0"/>
              <a:t>It’s the </a:t>
            </a:r>
            <a:r>
              <a:rPr lang="en-US" sz="2600" dirty="0" smtClean="0"/>
              <a:t>willingness </a:t>
            </a:r>
            <a:r>
              <a:rPr lang="en-US" sz="2600" dirty="0"/>
              <a:t>to pay </a:t>
            </a:r>
            <a:r>
              <a:rPr lang="en-US" sz="2600" dirty="0" smtClean="0"/>
              <a:t>(of </a:t>
            </a:r>
            <a:r>
              <a:rPr lang="en-US" sz="2600" dirty="0"/>
              <a:t>polluters</a:t>
            </a:r>
            <a:r>
              <a:rPr lang="en-US" sz="2600" dirty="0" smtClean="0"/>
              <a:t>) for </a:t>
            </a:r>
            <a:r>
              <a:rPr lang="en-US" sz="2600" dirty="0"/>
              <a:t>the right to emit </a:t>
            </a:r>
            <a:r>
              <a:rPr lang="en-US" sz="2600" dirty="0" smtClean="0"/>
              <a:t>a unit of pollution.</a:t>
            </a:r>
            <a:endParaRPr lang="en-US" sz="2600" dirty="0"/>
          </a:p>
          <a:p>
            <a:pPr marL="688975" lvl="1" indent="-231775">
              <a:spcBef>
                <a:spcPts val="600"/>
              </a:spcBef>
              <a:buClr>
                <a:schemeClr val="tx1"/>
              </a:buClr>
              <a:buFont typeface="Arial" pitchFamily="34" charset="0"/>
              <a:buChar char="•"/>
            </a:pPr>
            <a:r>
              <a:rPr lang="en-US" sz="2600" dirty="0" smtClean="0"/>
              <a:t>Can be measured by emissions trading schemes</a:t>
            </a:r>
            <a:endParaRPr lang="en-US" sz="2600" dirty="0"/>
          </a:p>
        </p:txBody>
      </p:sp>
    </p:spTree>
    <p:extLst>
      <p:ext uri="{BB962C8B-B14F-4D97-AF65-F5344CB8AC3E}">
        <p14:creationId xmlns:p14="http://schemas.microsoft.com/office/powerpoint/2010/main" val="186671713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Rot="1" noChangeArrowheads="1"/>
          </p:cNvSpPr>
          <p:nvPr>
            <p:ph type="title"/>
          </p:nvPr>
        </p:nvSpPr>
        <p:spPr>
          <a:xfrm>
            <a:off x="941388" y="60325"/>
            <a:ext cx="8023100" cy="555625"/>
          </a:xfrm>
        </p:spPr>
        <p:txBody>
          <a:bodyPr/>
          <a:lstStyle/>
          <a:p>
            <a:pPr algn="l"/>
            <a:r>
              <a:rPr lang="en-US" sz="2800" dirty="0" smtClean="0"/>
              <a:t>A Market Economy Produces Too Much Pollution</a:t>
            </a:r>
          </a:p>
        </p:txBody>
      </p:sp>
      <p:cxnSp>
        <p:nvCxnSpPr>
          <p:cNvPr id="548914" name="Straight Connector 86"/>
          <p:cNvCxnSpPr>
            <a:cxnSpLocks noChangeShapeType="1"/>
          </p:cNvCxnSpPr>
          <p:nvPr/>
        </p:nvCxnSpPr>
        <p:spPr bwMode="auto">
          <a:xfrm>
            <a:off x="6232122" y="2155031"/>
            <a:ext cx="0" cy="3232150"/>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5363760" y="2983706"/>
            <a:ext cx="0" cy="2516188"/>
          </a:xfrm>
          <a:prstGeom prst="line">
            <a:avLst/>
          </a:prstGeom>
          <a:noFill/>
          <a:ln w="15875">
            <a:solidFill>
              <a:srgbClr val="808080"/>
            </a:solidFill>
            <a:prstDash val="sysDot"/>
            <a:round/>
            <a:headEnd/>
            <a:tailEnd type="none" w="med" len="lg"/>
          </a:ln>
        </p:spPr>
      </p:cxnSp>
      <p:sp>
        <p:nvSpPr>
          <p:cNvPr id="828481" name="Line 65"/>
          <p:cNvSpPr>
            <a:spLocks noChangeShapeType="1"/>
          </p:cNvSpPr>
          <p:nvPr/>
        </p:nvSpPr>
        <p:spPr bwMode="auto">
          <a:xfrm>
            <a:off x="6216247" y="5733256"/>
            <a:ext cx="0" cy="279400"/>
          </a:xfrm>
          <a:prstGeom prst="line">
            <a:avLst/>
          </a:prstGeom>
          <a:noFill/>
          <a:ln w="7938">
            <a:solidFill>
              <a:srgbClr val="000000"/>
            </a:solidFill>
            <a:miter lim="800000"/>
            <a:headEnd/>
            <a:tailEnd/>
          </a:ln>
        </p:spPr>
        <p:txBody>
          <a:bodyPr/>
          <a:lstStyle/>
          <a:p>
            <a:endParaRPr lang="en-US" dirty="0"/>
          </a:p>
        </p:txBody>
      </p:sp>
      <p:sp>
        <p:nvSpPr>
          <p:cNvPr id="828482" name="Freeform 66"/>
          <p:cNvSpPr>
            <a:spLocks/>
          </p:cNvSpPr>
          <p:nvPr/>
        </p:nvSpPr>
        <p:spPr bwMode="auto">
          <a:xfrm>
            <a:off x="3593405" y="5922169"/>
            <a:ext cx="1714792" cy="528637"/>
          </a:xfrm>
          <a:custGeom>
            <a:avLst/>
            <a:gdLst/>
            <a:ahLst/>
            <a:cxnLst>
              <a:cxn ang="0">
                <a:pos x="308" y="78"/>
              </a:cxn>
              <a:cxn ang="0">
                <a:pos x="292" y="94"/>
              </a:cxn>
              <a:cxn ang="0">
                <a:pos x="16" y="94"/>
              </a:cxn>
              <a:cxn ang="0">
                <a:pos x="0" y="78"/>
              </a:cxn>
              <a:cxn ang="0">
                <a:pos x="0" y="16"/>
              </a:cxn>
              <a:cxn ang="0">
                <a:pos x="16" y="0"/>
              </a:cxn>
              <a:cxn ang="0">
                <a:pos x="292" y="0"/>
              </a:cxn>
              <a:cxn ang="0">
                <a:pos x="308" y="16"/>
              </a:cxn>
              <a:cxn ang="0">
                <a:pos x="308" y="78"/>
              </a:cxn>
            </a:cxnLst>
            <a:rect l="0" t="0" r="r" b="b"/>
            <a:pathLst>
              <a:path w="308" h="94">
                <a:moveTo>
                  <a:pt x="308" y="78"/>
                </a:moveTo>
                <a:cubicBezTo>
                  <a:pt x="308" y="87"/>
                  <a:pt x="301" y="94"/>
                  <a:pt x="292" y="94"/>
                </a:cubicBezTo>
                <a:cubicBezTo>
                  <a:pt x="16" y="94"/>
                  <a:pt x="16" y="94"/>
                  <a:pt x="16" y="94"/>
                </a:cubicBezTo>
                <a:cubicBezTo>
                  <a:pt x="7" y="94"/>
                  <a:pt x="0" y="87"/>
                  <a:pt x="0" y="78"/>
                </a:cubicBezTo>
                <a:cubicBezTo>
                  <a:pt x="0" y="16"/>
                  <a:pt x="0" y="16"/>
                  <a:pt x="0" y="16"/>
                </a:cubicBezTo>
                <a:cubicBezTo>
                  <a:pt x="0" y="7"/>
                  <a:pt x="7" y="0"/>
                  <a:pt x="16" y="0"/>
                </a:cubicBezTo>
                <a:cubicBezTo>
                  <a:pt x="292" y="0"/>
                  <a:pt x="292" y="0"/>
                  <a:pt x="292" y="0"/>
                </a:cubicBezTo>
                <a:cubicBezTo>
                  <a:pt x="301" y="0"/>
                  <a:pt x="308" y="7"/>
                  <a:pt x="308" y="16"/>
                </a:cubicBezTo>
                <a:lnTo>
                  <a:pt x="308" y="78"/>
                </a:lnTo>
                <a:close/>
              </a:path>
            </a:pathLst>
          </a:custGeom>
          <a:solidFill>
            <a:srgbClr val="D7E2E0"/>
          </a:solidFill>
          <a:ln w="9525">
            <a:noFill/>
            <a:round/>
            <a:headEnd/>
            <a:tailEnd/>
          </a:ln>
        </p:spPr>
        <p:txBody>
          <a:bodyPr/>
          <a:lstStyle/>
          <a:p>
            <a:endParaRPr lang="en-US" dirty="0"/>
          </a:p>
        </p:txBody>
      </p:sp>
      <p:sp>
        <p:nvSpPr>
          <p:cNvPr id="828483" name="Freeform 67"/>
          <p:cNvSpPr>
            <a:spLocks/>
          </p:cNvSpPr>
          <p:nvPr/>
        </p:nvSpPr>
        <p:spPr bwMode="auto">
          <a:xfrm>
            <a:off x="5325660" y="5922169"/>
            <a:ext cx="1819275" cy="528637"/>
          </a:xfrm>
          <a:custGeom>
            <a:avLst/>
            <a:gdLst/>
            <a:ahLst/>
            <a:cxnLst>
              <a:cxn ang="0">
                <a:pos x="309" y="78"/>
              </a:cxn>
              <a:cxn ang="0">
                <a:pos x="293" y="94"/>
              </a:cxn>
              <a:cxn ang="0">
                <a:pos x="16" y="94"/>
              </a:cxn>
              <a:cxn ang="0">
                <a:pos x="0" y="78"/>
              </a:cxn>
              <a:cxn ang="0">
                <a:pos x="0" y="16"/>
              </a:cxn>
              <a:cxn ang="0">
                <a:pos x="16" y="0"/>
              </a:cxn>
              <a:cxn ang="0">
                <a:pos x="293" y="0"/>
              </a:cxn>
              <a:cxn ang="0">
                <a:pos x="309" y="16"/>
              </a:cxn>
              <a:cxn ang="0">
                <a:pos x="309" y="78"/>
              </a:cxn>
            </a:cxnLst>
            <a:rect l="0" t="0" r="r" b="b"/>
            <a:pathLst>
              <a:path w="309" h="94">
                <a:moveTo>
                  <a:pt x="309" y="78"/>
                </a:moveTo>
                <a:cubicBezTo>
                  <a:pt x="309" y="87"/>
                  <a:pt x="301" y="94"/>
                  <a:pt x="293" y="94"/>
                </a:cubicBezTo>
                <a:cubicBezTo>
                  <a:pt x="16" y="94"/>
                  <a:pt x="16" y="94"/>
                  <a:pt x="16" y="94"/>
                </a:cubicBezTo>
                <a:cubicBezTo>
                  <a:pt x="7" y="94"/>
                  <a:pt x="0" y="87"/>
                  <a:pt x="0" y="78"/>
                </a:cubicBezTo>
                <a:cubicBezTo>
                  <a:pt x="0" y="16"/>
                  <a:pt x="0" y="16"/>
                  <a:pt x="0" y="16"/>
                </a:cubicBezTo>
                <a:cubicBezTo>
                  <a:pt x="0" y="7"/>
                  <a:pt x="7" y="0"/>
                  <a:pt x="16" y="0"/>
                </a:cubicBezTo>
                <a:cubicBezTo>
                  <a:pt x="293" y="0"/>
                  <a:pt x="293" y="0"/>
                  <a:pt x="293" y="0"/>
                </a:cubicBezTo>
                <a:cubicBezTo>
                  <a:pt x="301" y="0"/>
                  <a:pt x="309" y="7"/>
                  <a:pt x="309" y="16"/>
                </a:cubicBezTo>
                <a:lnTo>
                  <a:pt x="309" y="78"/>
                </a:lnTo>
                <a:close/>
              </a:path>
            </a:pathLst>
          </a:custGeom>
          <a:solidFill>
            <a:srgbClr val="D7E2E0"/>
          </a:solidFill>
          <a:ln w="9525">
            <a:noFill/>
            <a:round/>
            <a:headEnd/>
            <a:tailEnd/>
          </a:ln>
        </p:spPr>
        <p:txBody>
          <a:bodyPr/>
          <a:lstStyle/>
          <a:p>
            <a:endParaRPr lang="en-US" dirty="0"/>
          </a:p>
        </p:txBody>
      </p:sp>
      <p:sp>
        <p:nvSpPr>
          <p:cNvPr id="828484" name="Line 68"/>
          <p:cNvSpPr>
            <a:spLocks noChangeShapeType="1"/>
          </p:cNvSpPr>
          <p:nvPr/>
        </p:nvSpPr>
        <p:spPr bwMode="auto">
          <a:xfrm flipV="1">
            <a:off x="2757085" y="2129631"/>
            <a:ext cx="3481387" cy="3297238"/>
          </a:xfrm>
          <a:prstGeom prst="line">
            <a:avLst/>
          </a:prstGeom>
          <a:noFill/>
          <a:ln w="30163" cap="rnd">
            <a:solidFill>
              <a:srgbClr val="F58233"/>
            </a:solidFill>
            <a:miter lim="800000"/>
            <a:headEnd/>
            <a:tailEnd/>
          </a:ln>
        </p:spPr>
        <p:txBody>
          <a:bodyPr/>
          <a:lstStyle/>
          <a:p>
            <a:endParaRPr lang="en-US" dirty="0"/>
          </a:p>
        </p:txBody>
      </p:sp>
      <p:sp>
        <p:nvSpPr>
          <p:cNvPr id="828485" name="Line 69"/>
          <p:cNvSpPr>
            <a:spLocks noChangeShapeType="1"/>
          </p:cNvSpPr>
          <p:nvPr/>
        </p:nvSpPr>
        <p:spPr bwMode="auto">
          <a:xfrm flipH="1" flipV="1">
            <a:off x="2757085" y="2129631"/>
            <a:ext cx="3481387" cy="3297238"/>
          </a:xfrm>
          <a:prstGeom prst="line">
            <a:avLst/>
          </a:prstGeom>
          <a:noFill/>
          <a:ln w="30163" cap="rnd">
            <a:solidFill>
              <a:srgbClr val="6D4099"/>
            </a:solidFill>
            <a:miter lim="800000"/>
            <a:headEnd/>
            <a:tailEnd/>
          </a:ln>
        </p:spPr>
        <p:txBody>
          <a:bodyPr/>
          <a:lstStyle/>
          <a:p>
            <a:endParaRPr lang="en-US" dirty="0"/>
          </a:p>
        </p:txBody>
      </p:sp>
      <p:sp>
        <p:nvSpPr>
          <p:cNvPr id="828486" name="Rectangle 70"/>
          <p:cNvSpPr>
            <a:spLocks noChangeArrowheads="1"/>
          </p:cNvSpPr>
          <p:nvPr/>
        </p:nvSpPr>
        <p:spPr bwMode="auto">
          <a:xfrm>
            <a:off x="6108297" y="5461794"/>
            <a:ext cx="120650"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Q</a:t>
            </a:r>
            <a:endParaRPr lang="en-US" sz="1400" dirty="0">
              <a:latin typeface="Tahoma" pitchFamily="34" charset="0"/>
            </a:endParaRPr>
          </a:p>
        </p:txBody>
      </p:sp>
      <p:sp>
        <p:nvSpPr>
          <p:cNvPr id="828487" name="Rectangle 71"/>
          <p:cNvSpPr>
            <a:spLocks noChangeArrowheads="1"/>
          </p:cNvSpPr>
          <p:nvPr/>
        </p:nvSpPr>
        <p:spPr bwMode="auto">
          <a:xfrm>
            <a:off x="6221010" y="5569744"/>
            <a:ext cx="149080"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M</a:t>
            </a:r>
            <a:endParaRPr lang="en-US" sz="1400" i="1" dirty="0">
              <a:latin typeface="Tahoma" pitchFamily="34" charset="0"/>
            </a:endParaRPr>
          </a:p>
        </p:txBody>
      </p:sp>
      <p:sp>
        <p:nvSpPr>
          <p:cNvPr id="828488" name="Rectangle 72"/>
          <p:cNvSpPr>
            <a:spLocks noChangeArrowheads="1"/>
          </p:cNvSpPr>
          <p:nvPr/>
        </p:nvSpPr>
        <p:spPr bwMode="auto">
          <a:xfrm>
            <a:off x="6335310" y="5569744"/>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K</a:t>
            </a:r>
            <a:endParaRPr lang="en-US" sz="1400" i="1" dirty="0">
              <a:latin typeface="Tahoma" pitchFamily="34" charset="0"/>
            </a:endParaRPr>
          </a:p>
        </p:txBody>
      </p:sp>
      <p:sp>
        <p:nvSpPr>
          <p:cNvPr id="828489" name="Rectangle 73"/>
          <p:cNvSpPr>
            <a:spLocks noChangeArrowheads="1"/>
          </p:cNvSpPr>
          <p:nvPr/>
        </p:nvSpPr>
        <p:spPr bwMode="auto">
          <a:xfrm>
            <a:off x="6414685" y="5569744"/>
            <a:ext cx="1090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T</a:t>
            </a:r>
            <a:endParaRPr lang="en-US" sz="1400" i="1" dirty="0">
              <a:latin typeface="Tahoma" pitchFamily="34" charset="0"/>
            </a:endParaRPr>
          </a:p>
        </p:txBody>
      </p:sp>
      <p:sp>
        <p:nvSpPr>
          <p:cNvPr id="828490" name="Rectangle 74"/>
          <p:cNvSpPr>
            <a:spLocks noChangeArrowheads="1"/>
          </p:cNvSpPr>
          <p:nvPr/>
        </p:nvSpPr>
        <p:spPr bwMode="auto">
          <a:xfrm>
            <a:off x="5308197" y="5461794"/>
            <a:ext cx="139462"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Q</a:t>
            </a:r>
            <a:endParaRPr lang="en-US" sz="1400" i="1" dirty="0">
              <a:latin typeface="Tahoma" pitchFamily="34" charset="0"/>
            </a:endParaRPr>
          </a:p>
        </p:txBody>
      </p:sp>
      <p:sp>
        <p:nvSpPr>
          <p:cNvPr id="828491" name="Rectangle 75"/>
          <p:cNvSpPr>
            <a:spLocks noChangeArrowheads="1"/>
          </p:cNvSpPr>
          <p:nvPr/>
        </p:nvSpPr>
        <p:spPr bwMode="auto">
          <a:xfrm>
            <a:off x="5422497" y="5569744"/>
            <a:ext cx="12984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H</a:t>
            </a:r>
            <a:endParaRPr lang="en-US" sz="1400" i="1" dirty="0">
              <a:latin typeface="Tahoma" pitchFamily="34" charset="0"/>
            </a:endParaRPr>
          </a:p>
        </p:txBody>
      </p:sp>
      <p:sp>
        <p:nvSpPr>
          <p:cNvPr id="828492" name="Rectangle 76"/>
          <p:cNvSpPr>
            <a:spLocks noChangeArrowheads="1"/>
          </p:cNvSpPr>
          <p:nvPr/>
        </p:nvSpPr>
        <p:spPr bwMode="auto">
          <a:xfrm>
            <a:off x="4376335" y="5461794"/>
            <a:ext cx="139462"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Q</a:t>
            </a:r>
            <a:endParaRPr lang="en-US" sz="1400" i="1" dirty="0">
              <a:latin typeface="Tahoma" pitchFamily="34" charset="0"/>
            </a:endParaRPr>
          </a:p>
        </p:txBody>
      </p:sp>
      <p:sp>
        <p:nvSpPr>
          <p:cNvPr id="828493" name="Rectangle 77"/>
          <p:cNvSpPr>
            <a:spLocks noChangeArrowheads="1"/>
          </p:cNvSpPr>
          <p:nvPr/>
        </p:nvSpPr>
        <p:spPr bwMode="auto">
          <a:xfrm>
            <a:off x="4487460" y="5569744"/>
            <a:ext cx="368691"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OPT</a:t>
            </a:r>
            <a:endParaRPr lang="en-US" sz="1400" i="1" dirty="0">
              <a:latin typeface="Tahoma" pitchFamily="34" charset="0"/>
            </a:endParaRPr>
          </a:p>
        </p:txBody>
      </p:sp>
      <p:sp>
        <p:nvSpPr>
          <p:cNvPr id="828494" name="Rectangle 78"/>
          <p:cNvSpPr>
            <a:spLocks noChangeArrowheads="1"/>
          </p:cNvSpPr>
          <p:nvPr/>
        </p:nvSpPr>
        <p:spPr bwMode="auto">
          <a:xfrm>
            <a:off x="2561822" y="5461794"/>
            <a:ext cx="90488"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0</a:t>
            </a:r>
            <a:endParaRPr lang="en-US" sz="1400" dirty="0">
              <a:latin typeface="Tahoma" pitchFamily="34" charset="0"/>
            </a:endParaRPr>
          </a:p>
        </p:txBody>
      </p:sp>
      <p:sp>
        <p:nvSpPr>
          <p:cNvPr id="828495" name="Rectangle 79"/>
          <p:cNvSpPr>
            <a:spLocks noChangeArrowheads="1"/>
          </p:cNvSpPr>
          <p:nvPr/>
        </p:nvSpPr>
        <p:spPr bwMode="auto">
          <a:xfrm>
            <a:off x="2241147" y="1993106"/>
            <a:ext cx="361950" cy="169863"/>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$400</a:t>
            </a:r>
            <a:endParaRPr lang="en-US" sz="1400" dirty="0">
              <a:latin typeface="Tahoma" pitchFamily="34" charset="0"/>
            </a:endParaRPr>
          </a:p>
        </p:txBody>
      </p:sp>
      <p:sp>
        <p:nvSpPr>
          <p:cNvPr id="828496" name="Rectangle 80"/>
          <p:cNvSpPr>
            <a:spLocks noChangeArrowheads="1"/>
          </p:cNvSpPr>
          <p:nvPr/>
        </p:nvSpPr>
        <p:spPr bwMode="auto">
          <a:xfrm>
            <a:off x="2349097" y="2818606"/>
            <a:ext cx="271463" cy="169863"/>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300</a:t>
            </a:r>
            <a:endParaRPr lang="en-US" sz="1400" dirty="0">
              <a:latin typeface="Tahoma" pitchFamily="34" charset="0"/>
            </a:endParaRPr>
          </a:p>
        </p:txBody>
      </p:sp>
      <p:sp>
        <p:nvSpPr>
          <p:cNvPr id="828497" name="Rectangle 81"/>
          <p:cNvSpPr>
            <a:spLocks noChangeArrowheads="1"/>
          </p:cNvSpPr>
          <p:nvPr/>
        </p:nvSpPr>
        <p:spPr bwMode="auto">
          <a:xfrm>
            <a:off x="2349097" y="3648869"/>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200</a:t>
            </a:r>
            <a:endParaRPr lang="en-US" sz="1400" dirty="0">
              <a:latin typeface="Tahoma" pitchFamily="34" charset="0"/>
            </a:endParaRPr>
          </a:p>
        </p:txBody>
      </p:sp>
      <p:sp>
        <p:nvSpPr>
          <p:cNvPr id="828498" name="Rectangle 82"/>
          <p:cNvSpPr>
            <a:spLocks noChangeArrowheads="1"/>
          </p:cNvSpPr>
          <p:nvPr/>
        </p:nvSpPr>
        <p:spPr bwMode="auto">
          <a:xfrm>
            <a:off x="2349097" y="4477544"/>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100</a:t>
            </a:r>
            <a:endParaRPr lang="en-US" sz="1400" dirty="0">
              <a:latin typeface="Tahoma" pitchFamily="34" charset="0"/>
            </a:endParaRPr>
          </a:p>
        </p:txBody>
      </p:sp>
      <p:sp>
        <p:nvSpPr>
          <p:cNvPr id="828499" name="Freeform 83"/>
          <p:cNvSpPr>
            <a:spLocks/>
          </p:cNvSpPr>
          <p:nvPr/>
        </p:nvSpPr>
        <p:spPr bwMode="auto">
          <a:xfrm>
            <a:off x="2757085" y="1150144"/>
            <a:ext cx="6030912" cy="4276725"/>
          </a:xfrm>
          <a:custGeom>
            <a:avLst/>
            <a:gdLst/>
            <a:ahLst/>
            <a:cxnLst>
              <a:cxn ang="0">
                <a:pos x="2419" y="1795"/>
              </a:cxn>
              <a:cxn ang="0">
                <a:pos x="0" y="1795"/>
              </a:cxn>
              <a:cxn ang="0">
                <a:pos x="0" y="0"/>
              </a:cxn>
            </a:cxnLst>
            <a:rect l="0" t="0" r="r" b="b"/>
            <a:pathLst>
              <a:path w="2419" h="1795">
                <a:moveTo>
                  <a:pt x="2419" y="1795"/>
                </a:moveTo>
                <a:lnTo>
                  <a:pt x="0" y="1795"/>
                </a:lnTo>
                <a:lnTo>
                  <a:pt x="0" y="0"/>
                </a:lnTo>
              </a:path>
            </a:pathLst>
          </a:custGeom>
          <a:noFill/>
          <a:ln w="7938" cap="flat">
            <a:solidFill>
              <a:srgbClr val="000000"/>
            </a:solidFill>
            <a:prstDash val="solid"/>
            <a:miter lim="800000"/>
            <a:headEnd/>
            <a:tailEnd/>
          </a:ln>
        </p:spPr>
        <p:txBody>
          <a:bodyPr/>
          <a:lstStyle/>
          <a:p>
            <a:endParaRPr lang="en-US" dirty="0"/>
          </a:p>
        </p:txBody>
      </p:sp>
      <p:sp>
        <p:nvSpPr>
          <p:cNvPr id="828500" name="Oval 84"/>
          <p:cNvSpPr>
            <a:spLocks noChangeArrowheads="1"/>
          </p:cNvSpPr>
          <p:nvPr/>
        </p:nvSpPr>
        <p:spPr bwMode="auto">
          <a:xfrm>
            <a:off x="4443010" y="3721894"/>
            <a:ext cx="115887" cy="114300"/>
          </a:xfrm>
          <a:prstGeom prst="ellipse">
            <a:avLst/>
          </a:prstGeom>
          <a:solidFill>
            <a:srgbClr val="000000"/>
          </a:solidFill>
          <a:ln w="9525">
            <a:noFill/>
            <a:round/>
            <a:headEnd/>
            <a:tailEnd/>
          </a:ln>
        </p:spPr>
        <p:txBody>
          <a:bodyPr/>
          <a:lstStyle/>
          <a:p>
            <a:endParaRPr lang="en-US" dirty="0"/>
          </a:p>
        </p:txBody>
      </p:sp>
      <p:sp>
        <p:nvSpPr>
          <p:cNvPr id="828501" name="Oval 85"/>
          <p:cNvSpPr>
            <a:spLocks noChangeArrowheads="1"/>
          </p:cNvSpPr>
          <p:nvPr/>
        </p:nvSpPr>
        <p:spPr bwMode="auto">
          <a:xfrm>
            <a:off x="5314547" y="2896394"/>
            <a:ext cx="119063" cy="112712"/>
          </a:xfrm>
          <a:prstGeom prst="ellipse">
            <a:avLst/>
          </a:prstGeom>
          <a:solidFill>
            <a:srgbClr val="000000"/>
          </a:solidFill>
          <a:ln w="9525">
            <a:noFill/>
            <a:round/>
            <a:headEnd/>
            <a:tailEnd/>
          </a:ln>
        </p:spPr>
        <p:txBody>
          <a:bodyPr/>
          <a:lstStyle/>
          <a:p>
            <a:endParaRPr lang="en-US" dirty="0"/>
          </a:p>
        </p:txBody>
      </p:sp>
      <p:sp>
        <p:nvSpPr>
          <p:cNvPr id="828502" name="Oval 86"/>
          <p:cNvSpPr>
            <a:spLocks noChangeArrowheads="1"/>
          </p:cNvSpPr>
          <p:nvPr/>
        </p:nvSpPr>
        <p:spPr bwMode="auto">
          <a:xfrm>
            <a:off x="5308197" y="4528344"/>
            <a:ext cx="117475" cy="111125"/>
          </a:xfrm>
          <a:prstGeom prst="ellipse">
            <a:avLst/>
          </a:prstGeom>
          <a:solidFill>
            <a:srgbClr val="000000"/>
          </a:solidFill>
          <a:ln w="9525">
            <a:noFill/>
            <a:round/>
            <a:headEnd/>
            <a:tailEnd/>
          </a:ln>
        </p:spPr>
        <p:txBody>
          <a:bodyPr/>
          <a:lstStyle/>
          <a:p>
            <a:endParaRPr lang="en-US" dirty="0"/>
          </a:p>
        </p:txBody>
      </p:sp>
      <p:sp>
        <p:nvSpPr>
          <p:cNvPr id="828503" name="Oval 87"/>
          <p:cNvSpPr>
            <a:spLocks noChangeArrowheads="1"/>
          </p:cNvSpPr>
          <p:nvPr/>
        </p:nvSpPr>
        <p:spPr bwMode="auto">
          <a:xfrm>
            <a:off x="6181322" y="2072481"/>
            <a:ext cx="117475" cy="114300"/>
          </a:xfrm>
          <a:prstGeom prst="ellipse">
            <a:avLst/>
          </a:prstGeom>
          <a:solidFill>
            <a:srgbClr val="000000"/>
          </a:solidFill>
          <a:ln w="9525">
            <a:noFill/>
            <a:round/>
            <a:headEnd/>
            <a:tailEnd/>
          </a:ln>
        </p:spPr>
        <p:txBody>
          <a:bodyPr/>
          <a:lstStyle/>
          <a:p>
            <a:endParaRPr lang="en-US" dirty="0"/>
          </a:p>
        </p:txBody>
      </p:sp>
      <p:sp>
        <p:nvSpPr>
          <p:cNvPr id="828504" name="Oval 88"/>
          <p:cNvSpPr>
            <a:spLocks noChangeArrowheads="1"/>
          </p:cNvSpPr>
          <p:nvPr/>
        </p:nvSpPr>
        <p:spPr bwMode="auto">
          <a:xfrm>
            <a:off x="6173385" y="5342731"/>
            <a:ext cx="117475" cy="112713"/>
          </a:xfrm>
          <a:prstGeom prst="ellipse">
            <a:avLst/>
          </a:prstGeom>
          <a:solidFill>
            <a:srgbClr val="000000"/>
          </a:solidFill>
          <a:ln w="9525">
            <a:noFill/>
            <a:round/>
            <a:headEnd/>
            <a:tailEnd/>
          </a:ln>
        </p:spPr>
        <p:txBody>
          <a:bodyPr/>
          <a:lstStyle/>
          <a:p>
            <a:endParaRPr lang="en-US" dirty="0"/>
          </a:p>
        </p:txBody>
      </p:sp>
      <p:sp>
        <p:nvSpPr>
          <p:cNvPr id="828505" name="Rectangle 89"/>
          <p:cNvSpPr>
            <a:spLocks noChangeArrowheads="1"/>
          </p:cNvSpPr>
          <p:nvPr/>
        </p:nvSpPr>
        <p:spPr bwMode="auto">
          <a:xfrm>
            <a:off x="4417610" y="3426619"/>
            <a:ext cx="139462"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O</a:t>
            </a:r>
            <a:endParaRPr lang="en-US" sz="1400" i="1" dirty="0">
              <a:latin typeface="Tahoma" pitchFamily="34" charset="0"/>
            </a:endParaRPr>
          </a:p>
        </p:txBody>
      </p:sp>
      <p:sp>
        <p:nvSpPr>
          <p:cNvPr id="828506" name="Line 90"/>
          <p:cNvSpPr>
            <a:spLocks noChangeShapeType="1"/>
          </p:cNvSpPr>
          <p:nvPr/>
        </p:nvSpPr>
        <p:spPr bwMode="auto">
          <a:xfrm>
            <a:off x="2074460" y="3777456"/>
            <a:ext cx="236537" cy="0"/>
          </a:xfrm>
          <a:prstGeom prst="line">
            <a:avLst/>
          </a:prstGeom>
          <a:noFill/>
          <a:ln w="7938">
            <a:solidFill>
              <a:srgbClr val="000000"/>
            </a:solidFill>
            <a:miter lim="800000"/>
            <a:headEnd/>
            <a:tailEnd/>
          </a:ln>
        </p:spPr>
        <p:txBody>
          <a:bodyPr/>
          <a:lstStyle/>
          <a:p>
            <a:endParaRPr lang="en-US" dirty="0"/>
          </a:p>
        </p:txBody>
      </p:sp>
      <p:sp>
        <p:nvSpPr>
          <p:cNvPr id="828507" name="Line 91"/>
          <p:cNvSpPr>
            <a:spLocks noChangeShapeType="1"/>
          </p:cNvSpPr>
          <p:nvPr/>
        </p:nvSpPr>
        <p:spPr bwMode="auto">
          <a:xfrm>
            <a:off x="2074460" y="2129631"/>
            <a:ext cx="130175" cy="0"/>
          </a:xfrm>
          <a:prstGeom prst="line">
            <a:avLst/>
          </a:prstGeom>
          <a:noFill/>
          <a:ln w="7938">
            <a:solidFill>
              <a:srgbClr val="000000"/>
            </a:solidFill>
            <a:miter lim="800000"/>
            <a:headEnd/>
            <a:tailEnd/>
          </a:ln>
        </p:spPr>
        <p:txBody>
          <a:bodyPr/>
          <a:lstStyle/>
          <a:p>
            <a:endParaRPr lang="en-US" dirty="0"/>
          </a:p>
        </p:txBody>
      </p:sp>
      <p:sp>
        <p:nvSpPr>
          <p:cNvPr id="828508" name="Line 92"/>
          <p:cNvSpPr>
            <a:spLocks noChangeShapeType="1"/>
          </p:cNvSpPr>
          <p:nvPr/>
        </p:nvSpPr>
        <p:spPr bwMode="auto">
          <a:xfrm>
            <a:off x="2142194" y="5423222"/>
            <a:ext cx="441325" cy="0"/>
          </a:xfrm>
          <a:prstGeom prst="line">
            <a:avLst/>
          </a:prstGeom>
          <a:noFill/>
          <a:ln w="7938">
            <a:solidFill>
              <a:srgbClr val="000000"/>
            </a:solidFill>
            <a:miter lim="800000"/>
            <a:headEnd/>
            <a:tailEnd/>
          </a:ln>
        </p:spPr>
        <p:txBody>
          <a:bodyPr/>
          <a:lstStyle/>
          <a:p>
            <a:endParaRPr lang="en-US" dirty="0"/>
          </a:p>
        </p:txBody>
      </p:sp>
      <p:sp>
        <p:nvSpPr>
          <p:cNvPr id="828509" name="Freeform 93"/>
          <p:cNvSpPr>
            <a:spLocks/>
          </p:cNvSpPr>
          <p:nvPr/>
        </p:nvSpPr>
        <p:spPr bwMode="auto">
          <a:xfrm>
            <a:off x="1191809" y="1824259"/>
            <a:ext cx="1012826" cy="739180"/>
          </a:xfrm>
          <a:custGeom>
            <a:avLst/>
            <a:gdLst/>
            <a:ahLst/>
            <a:cxnLst>
              <a:cxn ang="0">
                <a:pos x="187" y="120"/>
              </a:cxn>
              <a:cxn ang="0">
                <a:pos x="171" y="136"/>
              </a:cxn>
              <a:cxn ang="0">
                <a:pos x="16" y="136"/>
              </a:cxn>
              <a:cxn ang="0">
                <a:pos x="0" y="120"/>
              </a:cxn>
              <a:cxn ang="0">
                <a:pos x="0" y="16"/>
              </a:cxn>
              <a:cxn ang="0">
                <a:pos x="16" y="0"/>
              </a:cxn>
              <a:cxn ang="0">
                <a:pos x="171" y="0"/>
              </a:cxn>
              <a:cxn ang="0">
                <a:pos x="187" y="16"/>
              </a:cxn>
              <a:cxn ang="0">
                <a:pos x="187" y="120"/>
              </a:cxn>
            </a:cxnLst>
            <a:rect l="0" t="0" r="r" b="b"/>
            <a:pathLst>
              <a:path w="187" h="136">
                <a:moveTo>
                  <a:pt x="187" y="120"/>
                </a:moveTo>
                <a:cubicBezTo>
                  <a:pt x="187" y="128"/>
                  <a:pt x="180" y="136"/>
                  <a:pt x="171" y="136"/>
                </a:cubicBezTo>
                <a:cubicBezTo>
                  <a:pt x="16" y="136"/>
                  <a:pt x="16" y="136"/>
                  <a:pt x="16" y="136"/>
                </a:cubicBezTo>
                <a:cubicBezTo>
                  <a:pt x="7" y="136"/>
                  <a:pt x="0" y="128"/>
                  <a:pt x="0" y="120"/>
                </a:cubicBezTo>
                <a:cubicBezTo>
                  <a:pt x="0" y="16"/>
                  <a:pt x="0" y="16"/>
                  <a:pt x="0" y="16"/>
                </a:cubicBezTo>
                <a:cubicBezTo>
                  <a:pt x="0" y="8"/>
                  <a:pt x="7" y="0"/>
                  <a:pt x="16" y="0"/>
                </a:cubicBezTo>
                <a:cubicBezTo>
                  <a:pt x="171" y="0"/>
                  <a:pt x="171" y="0"/>
                  <a:pt x="171" y="0"/>
                </a:cubicBezTo>
                <a:cubicBezTo>
                  <a:pt x="180" y="0"/>
                  <a:pt x="187" y="8"/>
                  <a:pt x="187" y="16"/>
                </a:cubicBezTo>
                <a:lnTo>
                  <a:pt x="187" y="120"/>
                </a:lnTo>
                <a:close/>
              </a:path>
            </a:pathLst>
          </a:custGeom>
          <a:solidFill>
            <a:srgbClr val="D7E2E0"/>
          </a:solidFill>
          <a:ln w="9525">
            <a:noFill/>
            <a:round/>
            <a:headEnd/>
            <a:tailEnd/>
          </a:ln>
        </p:spPr>
        <p:txBody>
          <a:bodyPr/>
          <a:lstStyle/>
          <a:p>
            <a:endParaRPr lang="en-US" dirty="0"/>
          </a:p>
        </p:txBody>
      </p:sp>
      <p:sp>
        <p:nvSpPr>
          <p:cNvPr id="828510" name="Freeform 94"/>
          <p:cNvSpPr>
            <a:spLocks/>
          </p:cNvSpPr>
          <p:nvPr/>
        </p:nvSpPr>
        <p:spPr bwMode="auto">
          <a:xfrm>
            <a:off x="1041940" y="3324374"/>
            <a:ext cx="1145232" cy="874712"/>
          </a:xfrm>
          <a:custGeom>
            <a:avLst/>
            <a:gdLst/>
            <a:ahLst/>
            <a:cxnLst>
              <a:cxn ang="0">
                <a:pos x="161" y="158"/>
              </a:cxn>
              <a:cxn ang="0">
                <a:pos x="145" y="174"/>
              </a:cxn>
              <a:cxn ang="0">
                <a:pos x="16" y="174"/>
              </a:cxn>
              <a:cxn ang="0">
                <a:pos x="0" y="158"/>
              </a:cxn>
              <a:cxn ang="0">
                <a:pos x="0" y="16"/>
              </a:cxn>
              <a:cxn ang="0">
                <a:pos x="16" y="0"/>
              </a:cxn>
              <a:cxn ang="0">
                <a:pos x="145" y="0"/>
              </a:cxn>
              <a:cxn ang="0">
                <a:pos x="161" y="16"/>
              </a:cxn>
              <a:cxn ang="0">
                <a:pos x="161" y="158"/>
              </a:cxn>
            </a:cxnLst>
            <a:rect l="0" t="0" r="r" b="b"/>
            <a:pathLst>
              <a:path w="161" h="174">
                <a:moveTo>
                  <a:pt x="161" y="158"/>
                </a:moveTo>
                <a:cubicBezTo>
                  <a:pt x="161" y="166"/>
                  <a:pt x="154" y="174"/>
                  <a:pt x="145" y="174"/>
                </a:cubicBezTo>
                <a:cubicBezTo>
                  <a:pt x="16" y="174"/>
                  <a:pt x="16" y="174"/>
                  <a:pt x="16" y="174"/>
                </a:cubicBezTo>
                <a:cubicBezTo>
                  <a:pt x="7" y="174"/>
                  <a:pt x="0" y="166"/>
                  <a:pt x="0" y="158"/>
                </a:cubicBezTo>
                <a:cubicBezTo>
                  <a:pt x="0" y="16"/>
                  <a:pt x="0" y="16"/>
                  <a:pt x="0" y="16"/>
                </a:cubicBezTo>
                <a:cubicBezTo>
                  <a:pt x="0" y="8"/>
                  <a:pt x="7" y="0"/>
                  <a:pt x="16" y="0"/>
                </a:cubicBezTo>
                <a:cubicBezTo>
                  <a:pt x="145" y="0"/>
                  <a:pt x="145" y="0"/>
                  <a:pt x="145" y="0"/>
                </a:cubicBezTo>
                <a:cubicBezTo>
                  <a:pt x="154" y="0"/>
                  <a:pt x="161" y="8"/>
                  <a:pt x="161" y="16"/>
                </a:cubicBezTo>
                <a:lnTo>
                  <a:pt x="161" y="158"/>
                </a:lnTo>
                <a:close/>
              </a:path>
            </a:pathLst>
          </a:custGeom>
          <a:solidFill>
            <a:srgbClr val="D7E2E0"/>
          </a:solidFill>
          <a:ln w="9525">
            <a:noFill/>
            <a:round/>
            <a:headEnd/>
            <a:tailEnd/>
          </a:ln>
        </p:spPr>
        <p:txBody>
          <a:bodyPr/>
          <a:lstStyle/>
          <a:p>
            <a:endParaRPr lang="en-US" dirty="0"/>
          </a:p>
        </p:txBody>
      </p:sp>
      <p:sp>
        <p:nvSpPr>
          <p:cNvPr id="828511" name="Freeform 95"/>
          <p:cNvSpPr>
            <a:spLocks/>
          </p:cNvSpPr>
          <p:nvPr/>
        </p:nvSpPr>
        <p:spPr bwMode="auto">
          <a:xfrm>
            <a:off x="1298526" y="4885407"/>
            <a:ext cx="860425" cy="969863"/>
          </a:xfrm>
          <a:custGeom>
            <a:avLst/>
            <a:gdLst/>
            <a:ahLst/>
            <a:cxnLst>
              <a:cxn ang="0">
                <a:pos x="148" y="157"/>
              </a:cxn>
              <a:cxn ang="0">
                <a:pos x="132" y="173"/>
              </a:cxn>
              <a:cxn ang="0">
                <a:pos x="16" y="173"/>
              </a:cxn>
              <a:cxn ang="0">
                <a:pos x="0" y="157"/>
              </a:cxn>
              <a:cxn ang="0">
                <a:pos x="0" y="16"/>
              </a:cxn>
              <a:cxn ang="0">
                <a:pos x="16" y="0"/>
              </a:cxn>
              <a:cxn ang="0">
                <a:pos x="132" y="0"/>
              </a:cxn>
              <a:cxn ang="0">
                <a:pos x="148" y="16"/>
              </a:cxn>
              <a:cxn ang="0">
                <a:pos x="148" y="157"/>
              </a:cxn>
            </a:cxnLst>
            <a:rect l="0" t="0" r="r" b="b"/>
            <a:pathLst>
              <a:path w="148" h="173">
                <a:moveTo>
                  <a:pt x="148" y="157"/>
                </a:moveTo>
                <a:cubicBezTo>
                  <a:pt x="148" y="166"/>
                  <a:pt x="141" y="173"/>
                  <a:pt x="132" y="173"/>
                </a:cubicBezTo>
                <a:cubicBezTo>
                  <a:pt x="16" y="173"/>
                  <a:pt x="16" y="173"/>
                  <a:pt x="16" y="173"/>
                </a:cubicBezTo>
                <a:cubicBezTo>
                  <a:pt x="7" y="173"/>
                  <a:pt x="0" y="166"/>
                  <a:pt x="0" y="157"/>
                </a:cubicBezTo>
                <a:cubicBezTo>
                  <a:pt x="0" y="16"/>
                  <a:pt x="0" y="16"/>
                  <a:pt x="0" y="16"/>
                </a:cubicBezTo>
                <a:cubicBezTo>
                  <a:pt x="0" y="7"/>
                  <a:pt x="7" y="0"/>
                  <a:pt x="16" y="0"/>
                </a:cubicBezTo>
                <a:cubicBezTo>
                  <a:pt x="132" y="0"/>
                  <a:pt x="132" y="0"/>
                  <a:pt x="132" y="0"/>
                </a:cubicBezTo>
                <a:cubicBezTo>
                  <a:pt x="141" y="0"/>
                  <a:pt x="148" y="7"/>
                  <a:pt x="148" y="16"/>
                </a:cubicBezTo>
                <a:lnTo>
                  <a:pt x="148" y="157"/>
                </a:lnTo>
                <a:close/>
              </a:path>
            </a:pathLst>
          </a:custGeom>
          <a:solidFill>
            <a:srgbClr val="D7E2E0"/>
          </a:solidFill>
          <a:ln w="9525">
            <a:noFill/>
            <a:round/>
            <a:headEnd/>
            <a:tailEnd/>
          </a:ln>
        </p:spPr>
        <p:txBody>
          <a:bodyPr/>
          <a:lstStyle/>
          <a:p>
            <a:endParaRPr lang="en-US" dirty="0"/>
          </a:p>
        </p:txBody>
      </p:sp>
      <p:sp>
        <p:nvSpPr>
          <p:cNvPr id="828512" name="Rectangle 96"/>
          <p:cNvSpPr>
            <a:spLocks noChangeArrowheads="1"/>
          </p:cNvSpPr>
          <p:nvPr/>
        </p:nvSpPr>
        <p:spPr bwMode="auto">
          <a:xfrm>
            <a:off x="1299760" y="4919166"/>
            <a:ext cx="833437" cy="861774"/>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social benefit at </a:t>
            </a:r>
            <a:r>
              <a:rPr lang="en-US" sz="1400" i="1" dirty="0" smtClean="0">
                <a:solidFill>
                  <a:srgbClr val="000000"/>
                </a:solidFill>
                <a:latin typeface="Myriad Pro" pitchFamily="34" charset="0"/>
              </a:rPr>
              <a:t>Q</a:t>
            </a:r>
            <a:r>
              <a:rPr lang="en-US" sz="1400" i="1" baseline="-25000" dirty="0" smtClean="0">
                <a:solidFill>
                  <a:srgbClr val="000000"/>
                </a:solidFill>
                <a:latin typeface="Myriad Pro" pitchFamily="34" charset="0"/>
              </a:rPr>
              <a:t>MKT</a:t>
            </a:r>
            <a:endParaRPr lang="en-US" sz="1400" dirty="0">
              <a:latin typeface="Tahoma" pitchFamily="34" charset="0"/>
            </a:endParaRPr>
          </a:p>
        </p:txBody>
      </p:sp>
      <p:sp>
        <p:nvSpPr>
          <p:cNvPr id="828513" name="Line 97"/>
          <p:cNvSpPr>
            <a:spLocks noChangeShapeType="1"/>
          </p:cNvSpPr>
          <p:nvPr/>
        </p:nvSpPr>
        <p:spPr bwMode="auto">
          <a:xfrm>
            <a:off x="2757085" y="2950369"/>
            <a:ext cx="142875" cy="0"/>
          </a:xfrm>
          <a:prstGeom prst="line">
            <a:avLst/>
          </a:prstGeom>
          <a:noFill/>
          <a:ln w="7938">
            <a:solidFill>
              <a:srgbClr val="000000"/>
            </a:solidFill>
            <a:miter lim="800000"/>
            <a:headEnd/>
            <a:tailEnd/>
          </a:ln>
        </p:spPr>
        <p:txBody>
          <a:bodyPr/>
          <a:lstStyle/>
          <a:p>
            <a:endParaRPr lang="en-US" dirty="0"/>
          </a:p>
        </p:txBody>
      </p:sp>
      <p:sp>
        <p:nvSpPr>
          <p:cNvPr id="828514" name="Line 98"/>
          <p:cNvSpPr>
            <a:spLocks noChangeShapeType="1"/>
          </p:cNvSpPr>
          <p:nvPr/>
        </p:nvSpPr>
        <p:spPr bwMode="auto">
          <a:xfrm>
            <a:off x="2757085" y="3777456"/>
            <a:ext cx="142875" cy="0"/>
          </a:xfrm>
          <a:prstGeom prst="line">
            <a:avLst/>
          </a:prstGeom>
          <a:noFill/>
          <a:ln w="7938">
            <a:solidFill>
              <a:srgbClr val="000000"/>
            </a:solidFill>
            <a:miter lim="800000"/>
            <a:headEnd/>
            <a:tailEnd/>
          </a:ln>
        </p:spPr>
        <p:txBody>
          <a:bodyPr/>
          <a:lstStyle/>
          <a:p>
            <a:endParaRPr lang="en-US" dirty="0"/>
          </a:p>
        </p:txBody>
      </p:sp>
      <p:sp>
        <p:nvSpPr>
          <p:cNvPr id="828515" name="Line 99"/>
          <p:cNvSpPr>
            <a:spLocks noChangeShapeType="1"/>
          </p:cNvSpPr>
          <p:nvPr/>
        </p:nvSpPr>
        <p:spPr bwMode="auto">
          <a:xfrm>
            <a:off x="2757085" y="4599781"/>
            <a:ext cx="142875" cy="0"/>
          </a:xfrm>
          <a:prstGeom prst="line">
            <a:avLst/>
          </a:prstGeom>
          <a:noFill/>
          <a:ln w="7938">
            <a:solidFill>
              <a:srgbClr val="000000"/>
            </a:solidFill>
            <a:miter lim="800000"/>
            <a:headEnd/>
            <a:tailEnd/>
          </a:ln>
        </p:spPr>
        <p:txBody>
          <a:bodyPr/>
          <a:lstStyle/>
          <a:p>
            <a:endParaRPr lang="en-US" dirty="0"/>
          </a:p>
        </p:txBody>
      </p:sp>
      <p:sp>
        <p:nvSpPr>
          <p:cNvPr id="828516" name="Line 100"/>
          <p:cNvSpPr>
            <a:spLocks noChangeShapeType="1"/>
          </p:cNvSpPr>
          <p:nvPr/>
        </p:nvSpPr>
        <p:spPr bwMode="auto">
          <a:xfrm>
            <a:off x="4479169" y="5744369"/>
            <a:ext cx="0" cy="177800"/>
          </a:xfrm>
          <a:prstGeom prst="line">
            <a:avLst/>
          </a:prstGeom>
          <a:noFill/>
          <a:ln w="7938">
            <a:solidFill>
              <a:srgbClr val="000000"/>
            </a:solidFill>
            <a:miter lim="800000"/>
            <a:headEnd/>
            <a:tailEnd/>
          </a:ln>
        </p:spPr>
        <p:txBody>
          <a:bodyPr/>
          <a:lstStyle/>
          <a:p>
            <a:endParaRPr lang="en-US" dirty="0"/>
          </a:p>
        </p:txBody>
      </p:sp>
      <p:sp>
        <p:nvSpPr>
          <p:cNvPr id="828517" name="Rectangle 101"/>
          <p:cNvSpPr>
            <a:spLocks noChangeArrowheads="1"/>
          </p:cNvSpPr>
          <p:nvPr/>
        </p:nvSpPr>
        <p:spPr bwMode="auto">
          <a:xfrm>
            <a:off x="5364465" y="5971733"/>
            <a:ext cx="1724025" cy="430887"/>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Market-determined </a:t>
            </a:r>
            <a:r>
              <a:rPr lang="en-US" sz="1400" dirty="0" smtClean="0">
                <a:solidFill>
                  <a:srgbClr val="000000"/>
                </a:solidFill>
                <a:latin typeface="Myriad Pro" pitchFamily="34" charset="0"/>
              </a:rPr>
              <a:t>quantity</a:t>
            </a:r>
            <a:endParaRPr lang="en-US" sz="1400" dirty="0">
              <a:latin typeface="Tahoma" pitchFamily="34" charset="0"/>
            </a:endParaRPr>
          </a:p>
        </p:txBody>
      </p:sp>
      <p:sp>
        <p:nvSpPr>
          <p:cNvPr id="828518" name="Freeform 102"/>
          <p:cNvSpPr>
            <a:spLocks/>
          </p:cNvSpPr>
          <p:nvPr/>
        </p:nvSpPr>
        <p:spPr bwMode="auto">
          <a:xfrm>
            <a:off x="6362297" y="2123281"/>
            <a:ext cx="147638" cy="3260725"/>
          </a:xfrm>
          <a:custGeom>
            <a:avLst/>
            <a:gdLst/>
            <a:ahLst/>
            <a:cxnLst>
              <a:cxn ang="0">
                <a:pos x="0" y="0"/>
              </a:cxn>
              <a:cxn ang="0">
                <a:pos x="15" y="13"/>
              </a:cxn>
              <a:cxn ang="0">
                <a:pos x="15" y="280"/>
              </a:cxn>
              <a:cxn ang="0">
                <a:pos x="25" y="289"/>
              </a:cxn>
              <a:cxn ang="0">
                <a:pos x="15" y="298"/>
              </a:cxn>
              <a:cxn ang="0">
                <a:pos x="15" y="565"/>
              </a:cxn>
              <a:cxn ang="0">
                <a:pos x="0" y="579"/>
              </a:cxn>
            </a:cxnLst>
            <a:rect l="0" t="0" r="r" b="b"/>
            <a:pathLst>
              <a:path w="25" h="579">
                <a:moveTo>
                  <a:pt x="0" y="0"/>
                </a:moveTo>
                <a:cubicBezTo>
                  <a:pt x="10" y="0"/>
                  <a:pt x="15" y="2"/>
                  <a:pt x="15" y="13"/>
                </a:cubicBezTo>
                <a:cubicBezTo>
                  <a:pt x="15" y="16"/>
                  <a:pt x="15" y="278"/>
                  <a:pt x="15" y="280"/>
                </a:cubicBezTo>
                <a:cubicBezTo>
                  <a:pt x="15" y="283"/>
                  <a:pt x="17" y="289"/>
                  <a:pt x="25" y="289"/>
                </a:cubicBezTo>
                <a:cubicBezTo>
                  <a:pt x="17" y="289"/>
                  <a:pt x="15" y="295"/>
                  <a:pt x="15" y="298"/>
                </a:cubicBezTo>
                <a:cubicBezTo>
                  <a:pt x="15" y="300"/>
                  <a:pt x="15" y="563"/>
                  <a:pt x="15" y="565"/>
                </a:cubicBezTo>
                <a:cubicBezTo>
                  <a:pt x="15" y="576"/>
                  <a:pt x="10" y="579"/>
                  <a:pt x="0" y="579"/>
                </a:cubicBezTo>
              </a:path>
            </a:pathLst>
          </a:custGeom>
          <a:noFill/>
          <a:ln w="22225" cap="flat">
            <a:solidFill>
              <a:srgbClr val="6D6F71"/>
            </a:solidFill>
            <a:prstDash val="solid"/>
            <a:miter lim="800000"/>
            <a:headEnd/>
            <a:tailEnd/>
          </a:ln>
        </p:spPr>
        <p:txBody>
          <a:bodyPr/>
          <a:lstStyle/>
          <a:p>
            <a:endParaRPr lang="en-US" dirty="0"/>
          </a:p>
        </p:txBody>
      </p:sp>
      <p:sp>
        <p:nvSpPr>
          <p:cNvPr id="828520" name="Rectangle 104"/>
          <p:cNvSpPr>
            <a:spLocks noChangeArrowheads="1"/>
          </p:cNvSpPr>
          <p:nvPr/>
        </p:nvSpPr>
        <p:spPr bwMode="auto">
          <a:xfrm>
            <a:off x="6107228" y="1804879"/>
            <a:ext cx="1314462" cy="215444"/>
          </a:xfrm>
          <a:prstGeom prst="rect">
            <a:avLst/>
          </a:prstGeom>
          <a:noFill/>
          <a:ln w="9525">
            <a:noFill/>
            <a:miter lim="800000"/>
            <a:headEnd/>
            <a:tailEnd/>
          </a:ln>
        </p:spPr>
        <p:txBody>
          <a:bodyPr wrap="none" lIns="0" tIns="0" rIns="0" bIns="0">
            <a:spAutoFit/>
          </a:bodyPr>
          <a:lstStyle/>
          <a:p>
            <a:pPr marL="1588" indent="-1588" algn="ctr"/>
            <a:r>
              <a:rPr lang="en-US" sz="1400" i="1" dirty="0">
                <a:solidFill>
                  <a:srgbClr val="000000"/>
                </a:solidFill>
                <a:latin typeface="Myriad Pro" pitchFamily="34" charset="0"/>
              </a:rPr>
              <a:t>MSC</a:t>
            </a:r>
            <a:r>
              <a:rPr lang="en-US" sz="1400" dirty="0">
                <a:solidFill>
                  <a:srgbClr val="000000"/>
                </a:solidFill>
                <a:latin typeface="Myriad Pro" pitchFamily="34" charset="0"/>
              </a:rPr>
              <a:t> of pollution</a:t>
            </a:r>
            <a:endParaRPr lang="en-US" sz="1400" dirty="0">
              <a:latin typeface="Tahoma" pitchFamily="34" charset="0"/>
            </a:endParaRPr>
          </a:p>
        </p:txBody>
      </p:sp>
      <p:sp>
        <p:nvSpPr>
          <p:cNvPr id="828523" name="Rectangle 107"/>
          <p:cNvSpPr>
            <a:spLocks noChangeArrowheads="1"/>
          </p:cNvSpPr>
          <p:nvPr/>
        </p:nvSpPr>
        <p:spPr bwMode="auto">
          <a:xfrm>
            <a:off x="6935785" y="2703175"/>
            <a:ext cx="1769356" cy="2215991"/>
          </a:xfrm>
          <a:prstGeom prst="rect">
            <a:avLst/>
          </a:prstGeom>
          <a:noFill/>
          <a:ln w="9525">
            <a:noFill/>
            <a:miter lim="800000"/>
            <a:headEnd/>
            <a:tailEnd/>
          </a:ln>
        </p:spPr>
        <p:txBody>
          <a:bodyPr wrap="square" lIns="0" tIns="0" rIns="0" bIns="0">
            <a:spAutoFit/>
          </a:bodyPr>
          <a:lstStyle/>
          <a:p>
            <a:pPr marL="1588" indent="-1588" algn="ctr"/>
            <a:r>
              <a:rPr lang="en-US" i="1" dirty="0">
                <a:solidFill>
                  <a:srgbClr val="000000"/>
                </a:solidFill>
                <a:latin typeface="Myriad Pro" pitchFamily="34" charset="0"/>
              </a:rPr>
              <a:t>The market outcome is inefficient: marginal social cost of pollution exceeds marginal social benefit </a:t>
            </a:r>
            <a:endParaRPr lang="en-US" i="1" dirty="0">
              <a:latin typeface="Tahoma" pitchFamily="34" charset="0"/>
            </a:endParaRPr>
          </a:p>
        </p:txBody>
      </p:sp>
      <p:cxnSp>
        <p:nvCxnSpPr>
          <p:cNvPr id="3" name="Straight Connector 86"/>
          <p:cNvCxnSpPr>
            <a:cxnSpLocks noChangeShapeType="1"/>
          </p:cNvCxnSpPr>
          <p:nvPr/>
        </p:nvCxnSpPr>
        <p:spPr bwMode="auto">
          <a:xfrm>
            <a:off x="4496985" y="3828256"/>
            <a:ext cx="0" cy="1573213"/>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2850747" y="3785394"/>
            <a:ext cx="1616075" cy="0"/>
          </a:xfrm>
          <a:prstGeom prst="line">
            <a:avLst/>
          </a:prstGeom>
          <a:noFill/>
          <a:ln w="15875">
            <a:solidFill>
              <a:srgbClr val="808080"/>
            </a:solidFill>
            <a:prstDash val="sysDot"/>
            <a:round/>
            <a:headEnd/>
            <a:tailEnd type="none" w="med" len="lg"/>
          </a:ln>
        </p:spPr>
      </p:cxnSp>
      <p:cxnSp>
        <p:nvCxnSpPr>
          <p:cNvPr id="5" name="Straight Connector 86"/>
          <p:cNvCxnSpPr>
            <a:cxnSpLocks noChangeShapeType="1"/>
          </p:cNvCxnSpPr>
          <p:nvPr/>
        </p:nvCxnSpPr>
        <p:spPr bwMode="auto">
          <a:xfrm>
            <a:off x="2850747" y="4599781"/>
            <a:ext cx="2482850" cy="0"/>
          </a:xfrm>
          <a:prstGeom prst="line">
            <a:avLst/>
          </a:prstGeom>
          <a:noFill/>
          <a:ln w="15875">
            <a:solidFill>
              <a:srgbClr val="808080"/>
            </a:solidFill>
            <a:prstDash val="sysDot"/>
            <a:round/>
            <a:headEnd/>
            <a:tailEnd type="none" w="med" len="lg"/>
          </a:ln>
        </p:spPr>
      </p:cxnSp>
      <p:cxnSp>
        <p:nvCxnSpPr>
          <p:cNvPr id="6" name="Straight Connector 86"/>
          <p:cNvCxnSpPr>
            <a:cxnSpLocks noChangeShapeType="1"/>
          </p:cNvCxnSpPr>
          <p:nvPr/>
        </p:nvCxnSpPr>
        <p:spPr bwMode="auto">
          <a:xfrm>
            <a:off x="2850747" y="2942431"/>
            <a:ext cx="2482850" cy="0"/>
          </a:xfrm>
          <a:prstGeom prst="line">
            <a:avLst/>
          </a:prstGeom>
          <a:noFill/>
          <a:ln w="15875">
            <a:solidFill>
              <a:srgbClr val="808080"/>
            </a:solidFill>
            <a:prstDash val="sysDot"/>
            <a:round/>
            <a:headEnd/>
            <a:tailEnd type="none" w="med" len="lg"/>
          </a:ln>
        </p:spPr>
      </p:cxnSp>
      <p:cxnSp>
        <p:nvCxnSpPr>
          <p:cNvPr id="7" name="Straight Connector 86"/>
          <p:cNvCxnSpPr>
            <a:cxnSpLocks noChangeShapeType="1"/>
          </p:cNvCxnSpPr>
          <p:nvPr/>
        </p:nvCxnSpPr>
        <p:spPr bwMode="auto">
          <a:xfrm>
            <a:off x="2731685" y="2113756"/>
            <a:ext cx="3470275" cy="0"/>
          </a:xfrm>
          <a:prstGeom prst="line">
            <a:avLst/>
          </a:prstGeom>
          <a:noFill/>
          <a:ln w="15875">
            <a:solidFill>
              <a:srgbClr val="808080"/>
            </a:solidFill>
            <a:prstDash val="sysDot"/>
            <a:round/>
            <a:headEnd/>
            <a:tailEnd type="none" w="med" len="lg"/>
          </a:ln>
        </p:spPr>
      </p:cxnSp>
      <p:sp>
        <p:nvSpPr>
          <p:cNvPr id="828529" name="Rectangle 113"/>
          <p:cNvSpPr>
            <a:spLocks noChangeArrowheads="1"/>
          </p:cNvSpPr>
          <p:nvPr/>
        </p:nvSpPr>
        <p:spPr bwMode="auto">
          <a:xfrm>
            <a:off x="1221402" y="908720"/>
            <a:ext cx="1766422" cy="646331"/>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social cost, marginal social benefit</a:t>
            </a:r>
            <a:endParaRPr lang="en-US" sz="1400" dirty="0">
              <a:latin typeface="Tahoma" pitchFamily="34" charset="0"/>
            </a:endParaRPr>
          </a:p>
        </p:txBody>
      </p:sp>
      <p:sp>
        <p:nvSpPr>
          <p:cNvPr id="828530" name="Rectangle 114"/>
          <p:cNvSpPr>
            <a:spLocks noChangeArrowheads="1"/>
          </p:cNvSpPr>
          <p:nvPr/>
        </p:nvSpPr>
        <p:spPr bwMode="auto">
          <a:xfrm>
            <a:off x="7236296" y="5499894"/>
            <a:ext cx="1675527" cy="215444"/>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Quantity of pollution</a:t>
            </a:r>
            <a:endParaRPr lang="en-US" sz="1400" dirty="0">
              <a:latin typeface="Tahoma" pitchFamily="34" charset="0"/>
            </a:endParaRPr>
          </a:p>
        </p:txBody>
      </p:sp>
      <p:sp>
        <p:nvSpPr>
          <p:cNvPr id="828531" name="Rectangle 115"/>
          <p:cNvSpPr>
            <a:spLocks noChangeArrowheads="1"/>
          </p:cNvSpPr>
          <p:nvPr/>
        </p:nvSpPr>
        <p:spPr bwMode="auto">
          <a:xfrm>
            <a:off x="7480334" y="5719340"/>
            <a:ext cx="1187450" cy="430887"/>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emissions (tons)</a:t>
            </a:r>
            <a:endParaRPr lang="en-US" sz="1400" dirty="0">
              <a:latin typeface="Tahoma" pitchFamily="34" charset="0"/>
            </a:endParaRPr>
          </a:p>
        </p:txBody>
      </p:sp>
      <p:sp>
        <p:nvSpPr>
          <p:cNvPr id="828532" name="Rectangle 116"/>
          <p:cNvSpPr>
            <a:spLocks noChangeArrowheads="1"/>
          </p:cNvSpPr>
          <p:nvPr/>
        </p:nvSpPr>
        <p:spPr bwMode="auto">
          <a:xfrm>
            <a:off x="3593405" y="5971733"/>
            <a:ext cx="1754658" cy="430887"/>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Socially optimal </a:t>
            </a:r>
            <a:r>
              <a:rPr lang="en-US" sz="1400" dirty="0" smtClean="0">
                <a:solidFill>
                  <a:srgbClr val="000000"/>
                </a:solidFill>
                <a:latin typeface="Myriad Pro" pitchFamily="34" charset="0"/>
              </a:rPr>
              <a:t>quantity</a:t>
            </a:r>
            <a:endParaRPr lang="en-US" sz="1400" dirty="0">
              <a:latin typeface="Tahoma" pitchFamily="34" charset="0"/>
            </a:endParaRPr>
          </a:p>
        </p:txBody>
      </p:sp>
      <p:sp>
        <p:nvSpPr>
          <p:cNvPr id="828533" name="Rectangle 117"/>
          <p:cNvSpPr>
            <a:spLocks noChangeArrowheads="1"/>
          </p:cNvSpPr>
          <p:nvPr/>
        </p:nvSpPr>
        <p:spPr bwMode="auto">
          <a:xfrm>
            <a:off x="1041940" y="3429617"/>
            <a:ext cx="1150788" cy="646331"/>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Optimal Pigouvian tax on pollution</a:t>
            </a:r>
            <a:endParaRPr lang="en-US" sz="1400" dirty="0">
              <a:latin typeface="Tahoma" pitchFamily="34" charset="0"/>
            </a:endParaRPr>
          </a:p>
        </p:txBody>
      </p:sp>
      <p:sp>
        <p:nvSpPr>
          <p:cNvPr id="828534" name="Rectangle 118"/>
          <p:cNvSpPr>
            <a:spLocks noChangeArrowheads="1"/>
          </p:cNvSpPr>
          <p:nvPr/>
        </p:nvSpPr>
        <p:spPr bwMode="auto">
          <a:xfrm>
            <a:off x="1290210" y="1822822"/>
            <a:ext cx="831850" cy="646331"/>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Marginal social cost at </a:t>
            </a:r>
            <a:r>
              <a:rPr lang="en-US" sz="1400" i="1" dirty="0">
                <a:solidFill>
                  <a:srgbClr val="000000"/>
                </a:solidFill>
                <a:latin typeface="Myriad Pro" pitchFamily="34" charset="0"/>
              </a:rPr>
              <a:t>Q</a:t>
            </a:r>
            <a:r>
              <a:rPr lang="en-US" sz="1400" i="1" baseline="-25000" dirty="0">
                <a:solidFill>
                  <a:srgbClr val="000000"/>
                </a:solidFill>
                <a:latin typeface="Myriad Pro" pitchFamily="34" charset="0"/>
              </a:rPr>
              <a:t>MKT</a:t>
            </a:r>
            <a:endParaRPr lang="en-US" sz="1400" i="1" baseline="-25000" dirty="0">
              <a:latin typeface="Tahoma" pitchFamily="34" charset="0"/>
            </a:endParaRPr>
          </a:p>
        </p:txBody>
      </p:sp>
      <p:sp>
        <p:nvSpPr>
          <p:cNvPr id="828521" name="Rectangle 105"/>
          <p:cNvSpPr>
            <a:spLocks noChangeArrowheads="1"/>
          </p:cNvSpPr>
          <p:nvPr/>
        </p:nvSpPr>
        <p:spPr bwMode="auto">
          <a:xfrm>
            <a:off x="5905872" y="4869160"/>
            <a:ext cx="1330424" cy="215444"/>
          </a:xfrm>
          <a:prstGeom prst="rect">
            <a:avLst/>
          </a:prstGeom>
          <a:noFill/>
          <a:ln w="9525">
            <a:noFill/>
            <a:miter lim="800000"/>
            <a:headEnd/>
            <a:tailEnd/>
          </a:ln>
        </p:spPr>
        <p:txBody>
          <a:bodyPr wrap="square" lIns="0" tIns="0" rIns="0" bIns="0">
            <a:spAutoFit/>
          </a:bodyPr>
          <a:lstStyle/>
          <a:p>
            <a:pPr marL="1588" indent="-1588" algn="ctr"/>
            <a:r>
              <a:rPr lang="en-US" sz="1400" i="1" dirty="0">
                <a:latin typeface="Myriad Pro" pitchFamily="34" charset="0"/>
              </a:rPr>
              <a:t>MSB</a:t>
            </a:r>
            <a:r>
              <a:rPr lang="en-US" sz="1400" dirty="0">
                <a:latin typeface="Myriad Pro" pitchFamily="34" charset="0"/>
              </a:rPr>
              <a:t> of pollution</a:t>
            </a:r>
            <a:endParaRPr lang="en-US" sz="1400" dirty="0">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285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284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2849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84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284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84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285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285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285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85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285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28499"/>
                                        </p:tgtEl>
                                        <p:attrNameLst>
                                          <p:attrName>style.visibility</p:attrName>
                                        </p:attrNameLst>
                                      </p:cBhvr>
                                      <p:to>
                                        <p:strVal val="visible"/>
                                      </p:to>
                                    </p:set>
                                  </p:childTnLst>
                                </p:cTn>
                              </p:par>
                              <p:par>
                                <p:cTn id="29" presetID="22" presetClass="entr" presetSubtype="8" fill="hold" grpId="0" nodeType="withEffect">
                                  <p:stCondLst>
                                    <p:cond delay="0"/>
                                  </p:stCondLst>
                                  <p:childTnLst>
                                    <p:set>
                                      <p:cBhvr>
                                        <p:cTn id="30" dur="1" fill="hold">
                                          <p:stCondLst>
                                            <p:cond delay="0"/>
                                          </p:stCondLst>
                                        </p:cTn>
                                        <p:tgtEl>
                                          <p:spTgt spid="828485"/>
                                        </p:tgtEl>
                                        <p:attrNameLst>
                                          <p:attrName>style.visibility</p:attrName>
                                        </p:attrNameLst>
                                      </p:cBhvr>
                                      <p:to>
                                        <p:strVal val="visible"/>
                                      </p:to>
                                    </p:set>
                                    <p:animEffect transition="in" filter="wipe(left)">
                                      <p:cBhvr>
                                        <p:cTn id="31" dur="500"/>
                                        <p:tgtEl>
                                          <p:spTgt spid="828485"/>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828484"/>
                                        </p:tgtEl>
                                        <p:attrNameLst>
                                          <p:attrName>style.visibility</p:attrName>
                                        </p:attrNameLst>
                                      </p:cBhvr>
                                      <p:to>
                                        <p:strVal val="visible"/>
                                      </p:to>
                                    </p:set>
                                    <p:animEffect transition="in" filter="wipe(left)">
                                      <p:cBhvr>
                                        <p:cTn id="34" dur="500"/>
                                        <p:tgtEl>
                                          <p:spTgt spid="828484"/>
                                        </p:tgtEl>
                                      </p:cBhvr>
                                    </p:animEffec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828521"/>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828520"/>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82850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2850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82851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82851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2853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82850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82848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82851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828486"/>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82848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82850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82850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82850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828503"/>
                                        </p:tgtEl>
                                        <p:attrNameLst>
                                          <p:attrName>style.visibility</p:attrName>
                                        </p:attrNameLst>
                                      </p:cBhvr>
                                      <p:to>
                                        <p:strVal val="visible"/>
                                      </p:to>
                                    </p:set>
                                  </p:childTnLst>
                                </p:cTn>
                              </p:par>
                              <p:par>
                                <p:cTn id="72" presetID="22" presetClass="entr" presetSubtype="1" fill="hold" nodeType="withEffect">
                                  <p:stCondLst>
                                    <p:cond delay="0"/>
                                  </p:stCondLst>
                                  <p:childTnLst>
                                    <p:set>
                                      <p:cBhvr>
                                        <p:cTn id="73" dur="1" fill="hold">
                                          <p:stCondLst>
                                            <p:cond delay="0"/>
                                          </p:stCondLst>
                                        </p:cTn>
                                        <p:tgtEl>
                                          <p:spTgt spid="548914"/>
                                        </p:tgtEl>
                                        <p:attrNameLst>
                                          <p:attrName>style.visibility</p:attrName>
                                        </p:attrNameLst>
                                      </p:cBhvr>
                                      <p:to>
                                        <p:strVal val="visible"/>
                                      </p:to>
                                    </p:set>
                                    <p:animEffect transition="in" filter="wipe(up)">
                                      <p:cBhvr>
                                        <p:cTn id="74" dur="500"/>
                                        <p:tgtEl>
                                          <p:spTgt spid="548914"/>
                                        </p:tgtEl>
                                      </p:cBhvr>
                                    </p:animEffect>
                                  </p:childTnLst>
                                </p:cTn>
                              </p:par>
                              <p:par>
                                <p:cTn id="75" presetID="22" presetClass="entr" presetSubtype="8" fill="hold" nodeType="with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500"/>
                                        <p:tgtEl>
                                          <p:spTgt spid="7"/>
                                        </p:tgtEl>
                                      </p:cBhvr>
                                    </p:animEffect>
                                  </p:childTnLst>
                                </p:cTn>
                              </p:par>
                              <p:par>
                                <p:cTn id="78" presetID="22" presetClass="entr" presetSubtype="8" fill="hold" nodeType="with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wipe(left)">
                                      <p:cBhvr>
                                        <p:cTn id="80" dur="500"/>
                                        <p:tgtEl>
                                          <p:spTgt spid="6"/>
                                        </p:tgtEl>
                                      </p:cBhvr>
                                    </p:animEffect>
                                  </p:childTnLst>
                                </p:cTn>
                              </p:par>
                              <p:par>
                                <p:cTn id="81" presetID="22" presetClass="entr" presetSubtype="1" fill="hold" nodeType="with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wipe(up)">
                                      <p:cBhvr>
                                        <p:cTn id="83" dur="500"/>
                                        <p:tgtEl>
                                          <p:spTgt spid="2"/>
                                        </p:tgtEl>
                                      </p:cBhvr>
                                    </p:animEffect>
                                  </p:childTnLst>
                                </p:cTn>
                              </p:par>
                              <p:par>
                                <p:cTn id="84" presetID="22" presetClass="entr" presetSubtype="8" fill="hold" nodeType="with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left)">
                                      <p:cBhvr>
                                        <p:cTn id="86" dur="500"/>
                                        <p:tgtEl>
                                          <p:spTgt spid="4"/>
                                        </p:tgtEl>
                                      </p:cBhvr>
                                    </p:animEffect>
                                  </p:childTnLst>
                                </p:cTn>
                              </p:par>
                              <p:par>
                                <p:cTn id="87" presetID="22" presetClass="entr" presetSubtype="1" fill="hold" nodeType="withEffect">
                                  <p:stCondLst>
                                    <p:cond delay="0"/>
                                  </p:stCondLst>
                                  <p:childTnLst>
                                    <p:set>
                                      <p:cBhvr>
                                        <p:cTn id="88" dur="1" fill="hold">
                                          <p:stCondLst>
                                            <p:cond delay="0"/>
                                          </p:stCondLst>
                                        </p:cTn>
                                        <p:tgtEl>
                                          <p:spTgt spid="3"/>
                                        </p:tgtEl>
                                        <p:attrNameLst>
                                          <p:attrName>style.visibility</p:attrName>
                                        </p:attrNameLst>
                                      </p:cBhvr>
                                      <p:to>
                                        <p:strVal val="visible"/>
                                      </p:to>
                                    </p:set>
                                    <p:animEffect transition="in" filter="wipe(up)">
                                      <p:cBhvr>
                                        <p:cTn id="89" dur="500"/>
                                        <p:tgtEl>
                                          <p:spTgt spid="3"/>
                                        </p:tgtEl>
                                      </p:cBhvr>
                                    </p:animEffect>
                                  </p:childTnLst>
                                </p:cTn>
                              </p:par>
                              <p:par>
                                <p:cTn id="90" presetID="22" presetClass="entr" presetSubtype="8" fill="hold" nodeType="with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wipe(left)">
                                      <p:cBhvr>
                                        <p:cTn id="92" dur="500"/>
                                        <p:tgtEl>
                                          <p:spTgt spid="5"/>
                                        </p:tgtEl>
                                      </p:cBhvr>
                                    </p:animEffect>
                                  </p:childTnLst>
                                </p:cTn>
                              </p:par>
                              <p:par>
                                <p:cTn id="93" presetID="1" presetClass="entr" presetSubtype="0" fill="hold" grpId="0" nodeType="withEffect">
                                  <p:stCondLst>
                                    <p:cond delay="0"/>
                                  </p:stCondLst>
                                  <p:childTnLst>
                                    <p:set>
                                      <p:cBhvr>
                                        <p:cTn id="94" dur="1" fill="hold">
                                          <p:stCondLst>
                                            <p:cond delay="0"/>
                                          </p:stCondLst>
                                        </p:cTn>
                                        <p:tgtEl>
                                          <p:spTgt spid="828523"/>
                                        </p:tgtEl>
                                        <p:attrNameLst>
                                          <p:attrName>style.visibility</p:attrName>
                                        </p:attrNameLst>
                                      </p:cBhvr>
                                      <p:to>
                                        <p:strVal val="visible"/>
                                      </p:to>
                                    </p:set>
                                  </p:childTnLst>
                                </p:cTn>
                              </p:par>
                              <p:par>
                                <p:cTn id="95" presetID="13" presetClass="entr" presetSubtype="32" fill="hold" grpId="0" nodeType="withEffect">
                                  <p:stCondLst>
                                    <p:cond delay="0"/>
                                  </p:stCondLst>
                                  <p:childTnLst>
                                    <p:set>
                                      <p:cBhvr>
                                        <p:cTn id="96" dur="1" fill="hold">
                                          <p:stCondLst>
                                            <p:cond delay="0"/>
                                          </p:stCondLst>
                                        </p:cTn>
                                        <p:tgtEl>
                                          <p:spTgt spid="828518"/>
                                        </p:tgtEl>
                                        <p:attrNameLst>
                                          <p:attrName>style.visibility</p:attrName>
                                        </p:attrNameLst>
                                      </p:cBhvr>
                                      <p:to>
                                        <p:strVal val="visible"/>
                                      </p:to>
                                    </p:set>
                                    <p:animEffect transition="in" filter="plus(out)">
                                      <p:cBhvr>
                                        <p:cTn id="97" dur="500"/>
                                        <p:tgtEl>
                                          <p:spTgt spid="828518"/>
                                        </p:tgtEl>
                                      </p:cBhvr>
                                    </p:animEffect>
                                  </p:childTnLst>
                                </p:cTn>
                              </p:par>
                              <p:par>
                                <p:cTn id="98" presetID="1" presetClass="entr" presetSubtype="0" fill="hold" grpId="0" nodeType="withEffect">
                                  <p:stCondLst>
                                    <p:cond delay="0"/>
                                  </p:stCondLst>
                                  <p:childTnLst>
                                    <p:set>
                                      <p:cBhvr>
                                        <p:cTn id="99" dur="1" fill="hold">
                                          <p:stCondLst>
                                            <p:cond delay="0"/>
                                          </p:stCondLst>
                                        </p:cTn>
                                        <p:tgtEl>
                                          <p:spTgt spid="82850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828506"/>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828510"/>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828533"/>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828490"/>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828491"/>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828481"/>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828487"/>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828488"/>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828505"/>
                                        </p:tgtEl>
                                        <p:attrNameLst>
                                          <p:attrName>style.visibility</p:attrName>
                                        </p:attrNameLst>
                                      </p:cBhvr>
                                      <p:to>
                                        <p:strVal val="visible"/>
                                      </p:to>
                                    </p:set>
                                  </p:childTnLst>
                                </p:cTn>
                              </p:par>
                              <p:par>
                                <p:cTn id="118" presetID="1" presetClass="entr" presetSubtype="0" fill="hold" nodeType="withEffect">
                                  <p:stCondLst>
                                    <p:cond delay="0"/>
                                  </p:stCondLst>
                                  <p:childTnLst>
                                    <p:set>
                                      <p:cBhvr>
                                        <p:cTn id="119" dur="1" fill="hold">
                                          <p:stCondLst>
                                            <p:cond delay="0"/>
                                          </p:stCondLst>
                                        </p:cTn>
                                        <p:tgtEl>
                                          <p:spTgt spid="828492"/>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828493"/>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828516"/>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828532"/>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8284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81" grpId="0" animBg="1"/>
      <p:bldP spid="828482" grpId="0" animBg="1"/>
      <p:bldP spid="828483" grpId="0" animBg="1"/>
      <p:bldP spid="828484" grpId="0" animBg="1"/>
      <p:bldP spid="828485" grpId="0" animBg="1"/>
      <p:bldP spid="828486" grpId="0"/>
      <p:bldP spid="828487" grpId="0"/>
      <p:bldP spid="828488" grpId="0"/>
      <p:bldP spid="828489" grpId="0"/>
      <p:bldP spid="828490" grpId="0"/>
      <p:bldP spid="828491" grpId="0"/>
      <p:bldP spid="828494" grpId="0"/>
      <p:bldP spid="828495" grpId="0"/>
      <p:bldP spid="828496" grpId="0"/>
      <p:bldP spid="828497" grpId="0"/>
      <p:bldP spid="828498" grpId="0"/>
      <p:bldP spid="828499" grpId="0" animBg="1"/>
      <p:bldP spid="828500" grpId="0" animBg="1"/>
      <p:bldP spid="828501" grpId="0" animBg="1"/>
      <p:bldP spid="828502" grpId="0" animBg="1"/>
      <p:bldP spid="828503" grpId="0" animBg="1"/>
      <p:bldP spid="828504" grpId="0" animBg="1"/>
      <p:bldP spid="828505" grpId="0"/>
      <p:bldP spid="828506" grpId="0" animBg="1"/>
      <p:bldP spid="828507" grpId="0" animBg="1"/>
      <p:bldP spid="828508" grpId="0" animBg="1"/>
      <p:bldP spid="828509" grpId="0" animBg="1"/>
      <p:bldP spid="828510" grpId="0" animBg="1"/>
      <p:bldP spid="828511" grpId="0" animBg="1"/>
      <p:bldP spid="828512" grpId="0"/>
      <p:bldP spid="828513" grpId="0" animBg="1"/>
      <p:bldP spid="828514" grpId="0" animBg="1"/>
      <p:bldP spid="828515" grpId="0" animBg="1"/>
      <p:bldP spid="828516" grpId="0" animBg="1"/>
      <p:bldP spid="828517" grpId="0"/>
      <p:bldP spid="828518" grpId="0" animBg="1"/>
      <p:bldP spid="828520" grpId="0"/>
      <p:bldP spid="828523" grpId="0"/>
      <p:bldP spid="828529" grpId="0"/>
      <p:bldP spid="828530" grpId="0"/>
      <p:bldP spid="828531" grpId="0"/>
      <p:bldP spid="828533" grpId="0"/>
      <p:bldP spid="828534" grpId="0"/>
      <p:bldP spid="8285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title" idx="4294967295"/>
          </p:nvPr>
        </p:nvSpPr>
        <p:spPr>
          <a:xfrm>
            <a:off x="827584" y="95617"/>
            <a:ext cx="8136904" cy="609600"/>
          </a:xfrm>
        </p:spPr>
        <p:txBody>
          <a:bodyPr/>
          <a:lstStyle/>
          <a:p>
            <a:pPr algn="l"/>
            <a:r>
              <a:rPr lang="en-US" dirty="0" smtClean="0"/>
              <a:t>Environmental Policies To Control Pollution</a:t>
            </a:r>
            <a:endParaRPr lang="en-US" b="0" dirty="0" smtClean="0"/>
          </a:p>
        </p:txBody>
      </p:sp>
      <p:sp>
        <p:nvSpPr>
          <p:cNvPr id="87045" name="Text Box 5"/>
          <p:cNvSpPr txBox="1">
            <a:spLocks noChangeArrowheads="1"/>
          </p:cNvSpPr>
          <p:nvPr/>
        </p:nvSpPr>
        <p:spPr bwMode="auto">
          <a:xfrm>
            <a:off x="899592" y="764704"/>
            <a:ext cx="7992888" cy="5432256"/>
          </a:xfrm>
          <a:prstGeom prst="rect">
            <a:avLst/>
          </a:prstGeom>
          <a:noFill/>
          <a:ln w="9525" algn="ctr">
            <a:noFill/>
            <a:miter lim="800000"/>
            <a:headEnd/>
            <a:tailEnd type="none" w="med" len="lg"/>
          </a:ln>
        </p:spPr>
        <p:txBody>
          <a:bodyPr wrap="square">
            <a:spAutoFit/>
          </a:bodyPr>
          <a:lstStyle/>
          <a:p>
            <a:pPr marL="231775" indent="-231775">
              <a:lnSpc>
                <a:spcPct val="100000"/>
              </a:lnSpc>
              <a:spcBef>
                <a:spcPts val="600"/>
              </a:spcBef>
              <a:buClr>
                <a:schemeClr val="tx1"/>
              </a:buClr>
              <a:buFont typeface="Wingdings" pitchFamily="2" charset="2"/>
              <a:buChar char="§"/>
            </a:pPr>
            <a:r>
              <a:rPr lang="en-US" sz="2600" b="1" dirty="0">
                <a:solidFill>
                  <a:schemeClr val="tx2"/>
                </a:solidFill>
              </a:rPr>
              <a:t>Environmental standards</a:t>
            </a:r>
            <a:r>
              <a:rPr lang="en-US" sz="2600" dirty="0">
                <a:solidFill>
                  <a:schemeClr val="tx2"/>
                </a:solidFill>
              </a:rPr>
              <a:t> </a:t>
            </a:r>
            <a:r>
              <a:rPr lang="en-US" sz="2600" dirty="0"/>
              <a:t>are rules that protect the environment by specifying actions by producers and consumers. Generally such standards are inefficient because they are inflexible.</a:t>
            </a:r>
          </a:p>
          <a:p>
            <a:pPr marL="231775" indent="-231775">
              <a:lnSpc>
                <a:spcPct val="100000"/>
              </a:lnSpc>
              <a:spcBef>
                <a:spcPts val="1200"/>
              </a:spcBef>
              <a:buClr>
                <a:schemeClr val="tx1"/>
              </a:buClr>
              <a:buFont typeface="Wingdings" pitchFamily="2" charset="2"/>
              <a:buChar char="§"/>
            </a:pPr>
            <a:r>
              <a:rPr lang="en-US" sz="2600" dirty="0" smtClean="0"/>
              <a:t>An </a:t>
            </a:r>
            <a:r>
              <a:rPr lang="en-US" sz="2600" b="1" dirty="0">
                <a:solidFill>
                  <a:schemeClr val="tx2"/>
                </a:solidFill>
              </a:rPr>
              <a:t>emissions tax </a:t>
            </a:r>
            <a:r>
              <a:rPr lang="en-US" sz="2600" dirty="0"/>
              <a:t>is a tax that depends on the amount of pollution a firm produces.</a:t>
            </a:r>
          </a:p>
          <a:p>
            <a:pPr marL="688975" lvl="1" indent="-231775">
              <a:spcBef>
                <a:spcPts val="600"/>
              </a:spcBef>
              <a:buClr>
                <a:schemeClr val="tx1"/>
              </a:buClr>
              <a:buFont typeface="Wingdings" pitchFamily="2" charset="2"/>
              <a:buChar char="§"/>
            </a:pPr>
            <a:r>
              <a:rPr lang="en-US" sz="2600" dirty="0" smtClean="0"/>
              <a:t>A Pollution Tax is an example of a </a:t>
            </a:r>
            <a:r>
              <a:rPr lang="en-US" sz="2600" b="1" dirty="0" err="1" smtClean="0">
                <a:solidFill>
                  <a:schemeClr val="accent6">
                    <a:lumMod val="50000"/>
                  </a:schemeClr>
                </a:solidFill>
              </a:rPr>
              <a:t>Pigouvian</a:t>
            </a:r>
            <a:r>
              <a:rPr lang="en-US" sz="2600" b="1" dirty="0" smtClean="0">
                <a:solidFill>
                  <a:schemeClr val="accent6">
                    <a:lumMod val="50000"/>
                  </a:schemeClr>
                </a:solidFill>
              </a:rPr>
              <a:t> tax</a:t>
            </a:r>
            <a:r>
              <a:rPr lang="en-US" sz="2600" dirty="0" smtClean="0"/>
              <a:t>.</a:t>
            </a:r>
            <a:endParaRPr lang="en-US" sz="2600" b="1" dirty="0"/>
          </a:p>
          <a:p>
            <a:pPr marL="231775" indent="-231775">
              <a:lnSpc>
                <a:spcPct val="100000"/>
              </a:lnSpc>
              <a:spcBef>
                <a:spcPts val="1200"/>
              </a:spcBef>
              <a:buClr>
                <a:schemeClr val="tx1"/>
              </a:buClr>
              <a:buFont typeface="Wingdings" pitchFamily="2" charset="2"/>
              <a:buChar char="§"/>
            </a:pPr>
            <a:r>
              <a:rPr lang="en-US" sz="2600" b="1" dirty="0" smtClean="0">
                <a:solidFill>
                  <a:schemeClr val="tx2"/>
                </a:solidFill>
              </a:rPr>
              <a:t>Tradable </a:t>
            </a:r>
            <a:r>
              <a:rPr lang="en-US" sz="2600" b="1" dirty="0">
                <a:solidFill>
                  <a:schemeClr val="tx2"/>
                </a:solidFill>
              </a:rPr>
              <a:t>emissions permits </a:t>
            </a:r>
            <a:r>
              <a:rPr lang="en-US" sz="2600" dirty="0"/>
              <a:t>are licenses </a:t>
            </a:r>
            <a:r>
              <a:rPr lang="en-US" sz="2600" dirty="0" smtClean="0"/>
              <a:t>to </a:t>
            </a:r>
            <a:r>
              <a:rPr lang="en-US" sz="2600" dirty="0"/>
              <a:t>emit limited quantities of </a:t>
            </a:r>
            <a:r>
              <a:rPr lang="en-US" sz="2600" dirty="0" smtClean="0"/>
              <a:t>pollutants, which can </a:t>
            </a:r>
            <a:r>
              <a:rPr lang="en-US" sz="2600" dirty="0"/>
              <a:t>be </a:t>
            </a:r>
            <a:r>
              <a:rPr lang="en-US" sz="2600" dirty="0" smtClean="0"/>
              <a:t>bought and sold. </a:t>
            </a:r>
          </a:p>
          <a:p>
            <a:pPr marL="688975" lvl="1" indent="-231775">
              <a:spcBef>
                <a:spcPts val="600"/>
              </a:spcBef>
              <a:buClr>
                <a:schemeClr val="tx1"/>
              </a:buClr>
              <a:buFont typeface="Wingdings" pitchFamily="2" charset="2"/>
              <a:buChar char="§"/>
            </a:pPr>
            <a:r>
              <a:rPr lang="en-US" sz="2600" dirty="0" smtClean="0"/>
              <a:t>The effect is similar to a tax, except they do not generate revenue for the government</a:t>
            </a:r>
            <a:endParaRPr lang="en-US" sz="2600" dirty="0"/>
          </a:p>
          <a:p>
            <a:pPr marL="688975" lvl="1" indent="-231775">
              <a:spcBef>
                <a:spcPts val="600"/>
              </a:spcBef>
              <a:buClr>
                <a:schemeClr val="tx1"/>
              </a:buClr>
              <a:buFont typeface="Wingdings" pitchFamily="2" charset="2"/>
              <a:buChar char="§"/>
            </a:pPr>
            <a:r>
              <a:rPr lang="en-US" sz="2600" dirty="0" smtClean="0"/>
              <a:t>If permits are auctioned, they are exactly like a tax</a:t>
            </a:r>
          </a:p>
        </p:txBody>
      </p:sp>
    </p:spTree>
    <p:extLst>
      <p:ext uri="{BB962C8B-B14F-4D97-AF65-F5344CB8AC3E}">
        <p14:creationId xmlns:p14="http://schemas.microsoft.com/office/powerpoint/2010/main" val="4142663509"/>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1" name="Rectangle 2"/>
          <p:cNvSpPr>
            <a:spLocks noGrp="1" noRot="1" noChangeArrowheads="1"/>
          </p:cNvSpPr>
          <p:nvPr>
            <p:ph type="title"/>
          </p:nvPr>
        </p:nvSpPr>
        <p:spPr>
          <a:xfrm>
            <a:off x="553229" y="19505"/>
            <a:ext cx="8139794" cy="555625"/>
          </a:xfrm>
        </p:spPr>
        <p:txBody>
          <a:bodyPr/>
          <a:lstStyle/>
          <a:p>
            <a:pPr algn="l"/>
            <a:r>
              <a:rPr lang="en-US" sz="2800" dirty="0" smtClean="0"/>
              <a:t>Environmental Standards versus Emissions Taxes</a:t>
            </a:r>
          </a:p>
        </p:txBody>
      </p:sp>
      <p:sp>
        <p:nvSpPr>
          <p:cNvPr id="82" name="Line 81"/>
          <p:cNvSpPr>
            <a:spLocks noChangeShapeType="1"/>
          </p:cNvSpPr>
          <p:nvPr/>
        </p:nvSpPr>
        <p:spPr bwMode="auto">
          <a:xfrm flipH="1">
            <a:off x="2980516" y="4944653"/>
            <a:ext cx="74613" cy="225425"/>
          </a:xfrm>
          <a:prstGeom prst="line">
            <a:avLst/>
          </a:prstGeom>
          <a:noFill/>
          <a:ln w="6350">
            <a:solidFill>
              <a:srgbClr val="000000"/>
            </a:solidFill>
            <a:miter lim="800000"/>
            <a:headEnd/>
            <a:tailEnd/>
          </a:ln>
        </p:spPr>
        <p:txBody>
          <a:bodyPr/>
          <a:lstStyle/>
          <a:p>
            <a:endParaRPr lang="en-US" dirty="0"/>
          </a:p>
        </p:txBody>
      </p:sp>
      <p:sp>
        <p:nvSpPr>
          <p:cNvPr id="83" name="Line 82"/>
          <p:cNvSpPr>
            <a:spLocks noChangeShapeType="1"/>
          </p:cNvSpPr>
          <p:nvPr/>
        </p:nvSpPr>
        <p:spPr bwMode="auto">
          <a:xfrm>
            <a:off x="845329" y="2056991"/>
            <a:ext cx="2214562" cy="2674937"/>
          </a:xfrm>
          <a:prstGeom prst="line">
            <a:avLst/>
          </a:prstGeom>
          <a:noFill/>
          <a:ln w="30163" cap="rnd">
            <a:solidFill>
              <a:srgbClr val="4B8FCC"/>
            </a:solidFill>
            <a:miter lim="800000"/>
            <a:headEnd/>
            <a:tailEnd/>
          </a:ln>
        </p:spPr>
        <p:txBody>
          <a:bodyPr/>
          <a:lstStyle/>
          <a:p>
            <a:endParaRPr lang="en-US" dirty="0"/>
          </a:p>
        </p:txBody>
      </p:sp>
      <p:sp>
        <p:nvSpPr>
          <p:cNvPr id="84" name="Line 83"/>
          <p:cNvSpPr>
            <a:spLocks noChangeShapeType="1"/>
          </p:cNvSpPr>
          <p:nvPr/>
        </p:nvSpPr>
        <p:spPr bwMode="auto">
          <a:xfrm>
            <a:off x="851679" y="3398428"/>
            <a:ext cx="2208212" cy="1333500"/>
          </a:xfrm>
          <a:prstGeom prst="line">
            <a:avLst/>
          </a:prstGeom>
          <a:noFill/>
          <a:ln w="30163" cap="rnd">
            <a:solidFill>
              <a:srgbClr val="4B8FCC"/>
            </a:solidFill>
            <a:miter lim="800000"/>
            <a:headEnd/>
            <a:tailEnd/>
          </a:ln>
        </p:spPr>
        <p:txBody>
          <a:bodyPr/>
          <a:lstStyle/>
          <a:p>
            <a:endParaRPr lang="en-US" dirty="0"/>
          </a:p>
        </p:txBody>
      </p:sp>
      <p:sp>
        <p:nvSpPr>
          <p:cNvPr id="85" name="Line 84"/>
          <p:cNvSpPr>
            <a:spLocks noChangeShapeType="1"/>
          </p:cNvSpPr>
          <p:nvPr/>
        </p:nvSpPr>
        <p:spPr bwMode="auto">
          <a:xfrm>
            <a:off x="5307841" y="2134257"/>
            <a:ext cx="2179588" cy="2597671"/>
          </a:xfrm>
          <a:prstGeom prst="line">
            <a:avLst/>
          </a:prstGeom>
          <a:noFill/>
          <a:ln w="30163" cap="rnd">
            <a:solidFill>
              <a:srgbClr val="4B8FCC"/>
            </a:solidFill>
            <a:miter lim="800000"/>
            <a:headEnd/>
            <a:tailEnd/>
          </a:ln>
        </p:spPr>
        <p:txBody>
          <a:bodyPr/>
          <a:lstStyle/>
          <a:p>
            <a:endParaRPr lang="en-US" dirty="0"/>
          </a:p>
        </p:txBody>
      </p:sp>
      <p:sp>
        <p:nvSpPr>
          <p:cNvPr id="86" name="Line 85"/>
          <p:cNvSpPr>
            <a:spLocks noChangeShapeType="1"/>
          </p:cNvSpPr>
          <p:nvPr/>
        </p:nvSpPr>
        <p:spPr bwMode="auto">
          <a:xfrm>
            <a:off x="5282391" y="3398428"/>
            <a:ext cx="2205038" cy="1333500"/>
          </a:xfrm>
          <a:prstGeom prst="line">
            <a:avLst/>
          </a:prstGeom>
          <a:noFill/>
          <a:ln w="30163" cap="rnd">
            <a:solidFill>
              <a:srgbClr val="4B8FCC"/>
            </a:solidFill>
            <a:miter lim="800000"/>
            <a:headEnd/>
            <a:tailEnd/>
          </a:ln>
        </p:spPr>
        <p:txBody>
          <a:bodyPr/>
          <a:lstStyle/>
          <a:p>
            <a:endParaRPr lang="en-US" dirty="0"/>
          </a:p>
        </p:txBody>
      </p:sp>
      <p:sp>
        <p:nvSpPr>
          <p:cNvPr id="87" name="Oval 86"/>
          <p:cNvSpPr>
            <a:spLocks noChangeArrowheads="1"/>
          </p:cNvSpPr>
          <p:nvPr/>
        </p:nvSpPr>
        <p:spPr bwMode="auto">
          <a:xfrm>
            <a:off x="5980891" y="3800066"/>
            <a:ext cx="90488" cy="93662"/>
          </a:xfrm>
          <a:prstGeom prst="ellipse">
            <a:avLst/>
          </a:prstGeom>
          <a:solidFill>
            <a:srgbClr val="000000"/>
          </a:solidFill>
          <a:ln w="9525">
            <a:noFill/>
            <a:round/>
            <a:headEnd/>
            <a:tailEnd/>
          </a:ln>
        </p:spPr>
        <p:txBody>
          <a:bodyPr/>
          <a:lstStyle/>
          <a:p>
            <a:endParaRPr lang="en-US" i="1" dirty="0"/>
          </a:p>
        </p:txBody>
      </p:sp>
      <p:sp>
        <p:nvSpPr>
          <p:cNvPr id="88" name="Oval 87"/>
          <p:cNvSpPr>
            <a:spLocks noChangeArrowheads="1"/>
          </p:cNvSpPr>
          <p:nvPr/>
        </p:nvSpPr>
        <p:spPr bwMode="auto">
          <a:xfrm>
            <a:off x="6711141" y="3800066"/>
            <a:ext cx="90488" cy="93662"/>
          </a:xfrm>
          <a:prstGeom prst="ellipse">
            <a:avLst/>
          </a:prstGeom>
          <a:solidFill>
            <a:srgbClr val="000000"/>
          </a:solidFill>
          <a:ln w="9525">
            <a:noFill/>
            <a:round/>
            <a:headEnd/>
            <a:tailEnd/>
          </a:ln>
        </p:spPr>
        <p:txBody>
          <a:bodyPr/>
          <a:lstStyle/>
          <a:p>
            <a:endParaRPr lang="en-US" i="1" dirty="0"/>
          </a:p>
        </p:txBody>
      </p:sp>
      <p:sp>
        <p:nvSpPr>
          <p:cNvPr id="89" name="Rectangle 88"/>
          <p:cNvSpPr>
            <a:spLocks noChangeArrowheads="1"/>
          </p:cNvSpPr>
          <p:nvPr/>
        </p:nvSpPr>
        <p:spPr bwMode="auto">
          <a:xfrm>
            <a:off x="6204667" y="871128"/>
            <a:ext cx="1706686"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(b) </a:t>
            </a:r>
            <a:r>
              <a:rPr lang="en-US" sz="1400" b="1" dirty="0">
                <a:solidFill>
                  <a:srgbClr val="000000"/>
                </a:solidFill>
                <a:latin typeface="Myriad Pro" pitchFamily="34" charset="0"/>
              </a:rPr>
              <a:t>Emissions Taxes</a:t>
            </a:r>
            <a:endParaRPr lang="en-US" sz="1400" b="1" dirty="0">
              <a:latin typeface="Tahoma" pitchFamily="34" charset="0"/>
            </a:endParaRPr>
          </a:p>
        </p:txBody>
      </p:sp>
      <p:sp>
        <p:nvSpPr>
          <p:cNvPr id="90" name="Rectangle 89"/>
          <p:cNvSpPr>
            <a:spLocks noChangeArrowheads="1"/>
          </p:cNvSpPr>
          <p:nvPr/>
        </p:nvSpPr>
        <p:spPr bwMode="auto">
          <a:xfrm>
            <a:off x="1382508" y="871128"/>
            <a:ext cx="2337179"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(a) </a:t>
            </a:r>
            <a:r>
              <a:rPr lang="en-US" sz="1400" b="1" dirty="0">
                <a:solidFill>
                  <a:srgbClr val="000000"/>
                </a:solidFill>
                <a:latin typeface="Myriad Pro" pitchFamily="34" charset="0"/>
              </a:rPr>
              <a:t>Environmental Standard</a:t>
            </a:r>
            <a:endParaRPr lang="en-US" sz="1400" b="1" dirty="0">
              <a:latin typeface="Tahoma" pitchFamily="34" charset="0"/>
            </a:endParaRPr>
          </a:p>
        </p:txBody>
      </p:sp>
      <p:sp>
        <p:nvSpPr>
          <p:cNvPr id="91" name="Line 90"/>
          <p:cNvSpPr>
            <a:spLocks noChangeShapeType="1"/>
          </p:cNvSpPr>
          <p:nvPr/>
        </p:nvSpPr>
        <p:spPr bwMode="auto">
          <a:xfrm>
            <a:off x="5296679" y="3847691"/>
            <a:ext cx="1460500" cy="0"/>
          </a:xfrm>
          <a:prstGeom prst="line">
            <a:avLst/>
          </a:prstGeom>
          <a:noFill/>
          <a:ln w="22225">
            <a:solidFill>
              <a:srgbClr val="000000"/>
            </a:solidFill>
            <a:miter lim="800000"/>
            <a:headEnd/>
            <a:tailEnd/>
          </a:ln>
        </p:spPr>
        <p:txBody>
          <a:bodyPr/>
          <a:lstStyle/>
          <a:p>
            <a:endParaRPr lang="en-US" dirty="0"/>
          </a:p>
        </p:txBody>
      </p:sp>
      <p:sp>
        <p:nvSpPr>
          <p:cNvPr id="92" name="Rectangle 91"/>
          <p:cNvSpPr>
            <a:spLocks noChangeArrowheads="1"/>
          </p:cNvSpPr>
          <p:nvPr/>
        </p:nvSpPr>
        <p:spPr bwMode="auto">
          <a:xfrm>
            <a:off x="5142691" y="4758916"/>
            <a:ext cx="92075"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0</a:t>
            </a:r>
            <a:endParaRPr lang="en-US" sz="1400" dirty="0">
              <a:latin typeface="Tahoma" pitchFamily="34" charset="0"/>
            </a:endParaRPr>
          </a:p>
        </p:txBody>
      </p:sp>
      <p:sp>
        <p:nvSpPr>
          <p:cNvPr id="93" name="Rectangle 92"/>
          <p:cNvSpPr>
            <a:spLocks noChangeArrowheads="1"/>
          </p:cNvSpPr>
          <p:nvPr/>
        </p:nvSpPr>
        <p:spPr bwMode="auto">
          <a:xfrm>
            <a:off x="7365191" y="4758916"/>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600</a:t>
            </a:r>
            <a:endParaRPr lang="en-US" sz="1400" dirty="0">
              <a:latin typeface="Tahoma" pitchFamily="34" charset="0"/>
            </a:endParaRPr>
          </a:p>
        </p:txBody>
      </p:sp>
      <p:sp>
        <p:nvSpPr>
          <p:cNvPr id="94" name="Rectangle 93"/>
          <p:cNvSpPr>
            <a:spLocks noChangeArrowheads="1"/>
          </p:cNvSpPr>
          <p:nvPr/>
        </p:nvSpPr>
        <p:spPr bwMode="auto">
          <a:xfrm>
            <a:off x="6634941" y="4758916"/>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400</a:t>
            </a:r>
            <a:endParaRPr lang="en-US" sz="1400" dirty="0">
              <a:latin typeface="Tahoma" pitchFamily="34" charset="0"/>
            </a:endParaRPr>
          </a:p>
        </p:txBody>
      </p:sp>
      <p:sp>
        <p:nvSpPr>
          <p:cNvPr id="95" name="Rectangle 94"/>
          <p:cNvSpPr>
            <a:spLocks noChangeArrowheads="1"/>
          </p:cNvSpPr>
          <p:nvPr/>
        </p:nvSpPr>
        <p:spPr bwMode="auto">
          <a:xfrm>
            <a:off x="5904691" y="4758916"/>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200</a:t>
            </a:r>
            <a:endParaRPr lang="en-US" sz="1400" dirty="0">
              <a:latin typeface="Tahoma" pitchFamily="34" charset="0"/>
            </a:endParaRPr>
          </a:p>
        </p:txBody>
      </p:sp>
      <p:sp>
        <p:nvSpPr>
          <p:cNvPr id="96" name="Rectangle 95"/>
          <p:cNvSpPr>
            <a:spLocks noChangeArrowheads="1"/>
          </p:cNvSpPr>
          <p:nvPr/>
        </p:nvSpPr>
        <p:spPr bwMode="auto">
          <a:xfrm>
            <a:off x="4899804" y="1971266"/>
            <a:ext cx="361950"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$600</a:t>
            </a:r>
            <a:endParaRPr lang="en-US" sz="1400" dirty="0">
              <a:latin typeface="Tahoma" pitchFamily="34" charset="0"/>
            </a:endParaRPr>
          </a:p>
        </p:txBody>
      </p:sp>
      <p:sp>
        <p:nvSpPr>
          <p:cNvPr id="97" name="Freeform 96"/>
          <p:cNvSpPr>
            <a:spLocks/>
          </p:cNvSpPr>
          <p:nvPr/>
        </p:nvSpPr>
        <p:spPr bwMode="auto">
          <a:xfrm>
            <a:off x="5296679" y="1198153"/>
            <a:ext cx="3221037" cy="3533775"/>
          </a:xfrm>
          <a:custGeom>
            <a:avLst/>
            <a:gdLst/>
            <a:ahLst/>
            <a:cxnLst>
              <a:cxn ang="0">
                <a:pos x="1698" y="1786"/>
              </a:cxn>
              <a:cxn ang="0">
                <a:pos x="0" y="1786"/>
              </a:cxn>
              <a:cxn ang="0">
                <a:pos x="0" y="0"/>
              </a:cxn>
            </a:cxnLst>
            <a:rect l="0" t="0" r="r" b="b"/>
            <a:pathLst>
              <a:path w="1698" h="1786">
                <a:moveTo>
                  <a:pt x="1698" y="1786"/>
                </a:moveTo>
                <a:lnTo>
                  <a:pt x="0" y="1786"/>
                </a:lnTo>
                <a:lnTo>
                  <a:pt x="0" y="0"/>
                </a:lnTo>
              </a:path>
            </a:pathLst>
          </a:custGeom>
          <a:noFill/>
          <a:ln w="6350" cap="flat">
            <a:solidFill>
              <a:srgbClr val="000000"/>
            </a:solidFill>
            <a:prstDash val="solid"/>
            <a:miter lim="800000"/>
            <a:headEnd/>
            <a:tailEnd/>
          </a:ln>
        </p:spPr>
        <p:txBody>
          <a:bodyPr/>
          <a:lstStyle/>
          <a:p>
            <a:endParaRPr lang="en-US" dirty="0"/>
          </a:p>
        </p:txBody>
      </p:sp>
      <p:sp>
        <p:nvSpPr>
          <p:cNvPr id="98" name="Rectangle 97"/>
          <p:cNvSpPr>
            <a:spLocks noChangeArrowheads="1"/>
          </p:cNvSpPr>
          <p:nvPr/>
        </p:nvSpPr>
        <p:spPr bwMode="auto">
          <a:xfrm>
            <a:off x="4980766" y="3736566"/>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200</a:t>
            </a:r>
            <a:endParaRPr lang="en-US" sz="1400" dirty="0">
              <a:latin typeface="Tahoma" pitchFamily="34" charset="0"/>
            </a:endParaRPr>
          </a:p>
        </p:txBody>
      </p:sp>
      <p:sp>
        <p:nvSpPr>
          <p:cNvPr id="99" name="Line 98"/>
          <p:cNvSpPr>
            <a:spLocks noChangeShapeType="1"/>
          </p:cNvSpPr>
          <p:nvPr/>
        </p:nvSpPr>
        <p:spPr bwMode="auto">
          <a:xfrm>
            <a:off x="5296679" y="3847691"/>
            <a:ext cx="107950" cy="0"/>
          </a:xfrm>
          <a:prstGeom prst="line">
            <a:avLst/>
          </a:prstGeom>
          <a:noFill/>
          <a:ln w="6350">
            <a:solidFill>
              <a:srgbClr val="000000"/>
            </a:solidFill>
            <a:miter lim="800000"/>
            <a:headEnd/>
            <a:tailEnd/>
          </a:ln>
        </p:spPr>
        <p:txBody>
          <a:bodyPr/>
          <a:lstStyle/>
          <a:p>
            <a:endParaRPr lang="en-US" dirty="0"/>
          </a:p>
        </p:txBody>
      </p:sp>
      <p:sp>
        <p:nvSpPr>
          <p:cNvPr id="100" name="Line 99"/>
          <p:cNvSpPr>
            <a:spLocks noChangeShapeType="1"/>
          </p:cNvSpPr>
          <p:nvPr/>
        </p:nvSpPr>
        <p:spPr bwMode="auto">
          <a:xfrm flipV="1">
            <a:off x="6757179" y="4619216"/>
            <a:ext cx="0" cy="112712"/>
          </a:xfrm>
          <a:prstGeom prst="line">
            <a:avLst/>
          </a:prstGeom>
          <a:noFill/>
          <a:ln w="6350">
            <a:solidFill>
              <a:srgbClr val="000000"/>
            </a:solidFill>
            <a:miter lim="800000"/>
            <a:headEnd/>
            <a:tailEnd/>
          </a:ln>
        </p:spPr>
        <p:txBody>
          <a:bodyPr/>
          <a:lstStyle/>
          <a:p>
            <a:endParaRPr lang="en-US" dirty="0"/>
          </a:p>
        </p:txBody>
      </p:sp>
      <p:sp>
        <p:nvSpPr>
          <p:cNvPr id="101" name="Line 100"/>
          <p:cNvSpPr>
            <a:spLocks noChangeShapeType="1"/>
          </p:cNvSpPr>
          <p:nvPr/>
        </p:nvSpPr>
        <p:spPr bwMode="auto">
          <a:xfrm flipV="1">
            <a:off x="6026929" y="4619216"/>
            <a:ext cx="0" cy="112712"/>
          </a:xfrm>
          <a:prstGeom prst="line">
            <a:avLst/>
          </a:prstGeom>
          <a:noFill/>
          <a:ln w="6350">
            <a:solidFill>
              <a:srgbClr val="000000"/>
            </a:solidFill>
            <a:miter lim="800000"/>
            <a:headEnd/>
            <a:tailEnd/>
          </a:ln>
        </p:spPr>
        <p:txBody>
          <a:bodyPr/>
          <a:lstStyle/>
          <a:p>
            <a:endParaRPr lang="en-US" dirty="0"/>
          </a:p>
        </p:txBody>
      </p:sp>
      <p:sp>
        <p:nvSpPr>
          <p:cNvPr id="102" name="Line 101"/>
          <p:cNvSpPr>
            <a:spLocks noChangeShapeType="1"/>
          </p:cNvSpPr>
          <p:nvPr/>
        </p:nvSpPr>
        <p:spPr bwMode="auto">
          <a:xfrm>
            <a:off x="7293754" y="4893853"/>
            <a:ext cx="296862" cy="701675"/>
          </a:xfrm>
          <a:prstGeom prst="line">
            <a:avLst/>
          </a:prstGeom>
          <a:noFill/>
          <a:ln w="6350">
            <a:solidFill>
              <a:srgbClr val="000000"/>
            </a:solidFill>
            <a:miter lim="800000"/>
            <a:headEnd/>
            <a:tailEnd/>
          </a:ln>
        </p:spPr>
        <p:txBody>
          <a:bodyPr/>
          <a:lstStyle/>
          <a:p>
            <a:endParaRPr lang="en-US" dirty="0"/>
          </a:p>
        </p:txBody>
      </p:sp>
      <p:sp>
        <p:nvSpPr>
          <p:cNvPr id="103" name="Line 102"/>
          <p:cNvSpPr>
            <a:spLocks noChangeShapeType="1"/>
          </p:cNvSpPr>
          <p:nvPr/>
        </p:nvSpPr>
        <p:spPr bwMode="auto">
          <a:xfrm flipH="1">
            <a:off x="1585104" y="4944653"/>
            <a:ext cx="238125" cy="215900"/>
          </a:xfrm>
          <a:prstGeom prst="line">
            <a:avLst/>
          </a:prstGeom>
          <a:noFill/>
          <a:ln w="6350">
            <a:solidFill>
              <a:srgbClr val="000000"/>
            </a:solidFill>
            <a:miter lim="800000"/>
            <a:headEnd/>
            <a:tailEnd/>
          </a:ln>
        </p:spPr>
        <p:txBody>
          <a:bodyPr/>
          <a:lstStyle/>
          <a:p>
            <a:endParaRPr lang="en-US" dirty="0"/>
          </a:p>
        </p:txBody>
      </p:sp>
      <p:sp>
        <p:nvSpPr>
          <p:cNvPr id="104" name="Line 103"/>
          <p:cNvSpPr>
            <a:spLocks noChangeShapeType="1"/>
          </p:cNvSpPr>
          <p:nvPr/>
        </p:nvSpPr>
        <p:spPr bwMode="auto">
          <a:xfrm flipH="1">
            <a:off x="6971491" y="4893853"/>
            <a:ext cx="371475" cy="0"/>
          </a:xfrm>
          <a:prstGeom prst="line">
            <a:avLst/>
          </a:prstGeom>
          <a:noFill/>
          <a:ln w="11113">
            <a:solidFill>
              <a:srgbClr val="000000"/>
            </a:solidFill>
            <a:miter lim="800000"/>
            <a:headEnd/>
            <a:tailEnd/>
          </a:ln>
        </p:spPr>
        <p:txBody>
          <a:bodyPr/>
          <a:lstStyle/>
          <a:p>
            <a:endParaRPr lang="en-US" dirty="0"/>
          </a:p>
        </p:txBody>
      </p:sp>
      <p:sp>
        <p:nvSpPr>
          <p:cNvPr id="105" name="Freeform 104"/>
          <p:cNvSpPr>
            <a:spLocks/>
          </p:cNvSpPr>
          <p:nvPr/>
        </p:nvSpPr>
        <p:spPr bwMode="auto">
          <a:xfrm>
            <a:off x="6901641" y="4862103"/>
            <a:ext cx="98425" cy="58738"/>
          </a:xfrm>
          <a:custGeom>
            <a:avLst/>
            <a:gdLst/>
            <a:ahLst/>
            <a:cxnLst>
              <a:cxn ang="0">
                <a:pos x="18" y="7"/>
              </a:cxn>
              <a:cxn ang="0">
                <a:pos x="22" y="13"/>
              </a:cxn>
              <a:cxn ang="0">
                <a:pos x="21" y="13"/>
              </a:cxn>
              <a:cxn ang="0">
                <a:pos x="11" y="9"/>
              </a:cxn>
              <a:cxn ang="0">
                <a:pos x="0" y="7"/>
              </a:cxn>
              <a:cxn ang="0">
                <a:pos x="11" y="4"/>
              </a:cxn>
              <a:cxn ang="0">
                <a:pos x="21" y="0"/>
              </a:cxn>
              <a:cxn ang="0">
                <a:pos x="22" y="0"/>
              </a:cxn>
              <a:cxn ang="0">
                <a:pos x="18" y="7"/>
              </a:cxn>
            </a:cxnLst>
            <a:rect l="0" t="0" r="r" b="b"/>
            <a:pathLst>
              <a:path w="22" h="13">
                <a:moveTo>
                  <a:pt x="18" y="7"/>
                </a:moveTo>
                <a:cubicBezTo>
                  <a:pt x="22" y="13"/>
                  <a:pt x="22" y="13"/>
                  <a:pt x="22" y="13"/>
                </a:cubicBezTo>
                <a:cubicBezTo>
                  <a:pt x="21" y="13"/>
                  <a:pt x="21" y="13"/>
                  <a:pt x="21" y="13"/>
                </a:cubicBezTo>
                <a:cubicBezTo>
                  <a:pt x="11" y="9"/>
                  <a:pt x="11" y="9"/>
                  <a:pt x="11" y="9"/>
                </a:cubicBezTo>
                <a:cubicBezTo>
                  <a:pt x="7" y="8"/>
                  <a:pt x="3" y="8"/>
                  <a:pt x="0" y="7"/>
                </a:cubicBezTo>
                <a:cubicBezTo>
                  <a:pt x="3" y="6"/>
                  <a:pt x="7" y="5"/>
                  <a:pt x="11" y="4"/>
                </a:cubicBezTo>
                <a:cubicBezTo>
                  <a:pt x="21" y="0"/>
                  <a:pt x="21" y="0"/>
                  <a:pt x="21" y="0"/>
                </a:cubicBezTo>
                <a:cubicBezTo>
                  <a:pt x="22" y="0"/>
                  <a:pt x="22" y="0"/>
                  <a:pt x="22" y="0"/>
                </a:cubicBezTo>
                <a:lnTo>
                  <a:pt x="18" y="7"/>
                </a:lnTo>
                <a:close/>
              </a:path>
            </a:pathLst>
          </a:custGeom>
          <a:solidFill>
            <a:srgbClr val="000000"/>
          </a:solidFill>
          <a:ln w="9525">
            <a:noFill/>
            <a:round/>
            <a:headEnd/>
            <a:tailEnd/>
          </a:ln>
        </p:spPr>
        <p:txBody>
          <a:bodyPr/>
          <a:lstStyle/>
          <a:p>
            <a:endParaRPr lang="en-US" dirty="0"/>
          </a:p>
        </p:txBody>
      </p:sp>
      <p:sp>
        <p:nvSpPr>
          <p:cNvPr id="106" name="Line 105"/>
          <p:cNvSpPr>
            <a:spLocks noChangeShapeType="1"/>
          </p:cNvSpPr>
          <p:nvPr/>
        </p:nvSpPr>
        <p:spPr bwMode="auto">
          <a:xfrm flipH="1">
            <a:off x="6093604" y="5098641"/>
            <a:ext cx="1279525" cy="0"/>
          </a:xfrm>
          <a:prstGeom prst="line">
            <a:avLst/>
          </a:prstGeom>
          <a:noFill/>
          <a:ln w="11176">
            <a:solidFill>
              <a:srgbClr val="000000"/>
            </a:solidFill>
            <a:miter lim="800000"/>
            <a:headEnd/>
            <a:tailEnd/>
          </a:ln>
        </p:spPr>
        <p:txBody>
          <a:bodyPr/>
          <a:lstStyle/>
          <a:p>
            <a:endParaRPr lang="en-US" dirty="0"/>
          </a:p>
        </p:txBody>
      </p:sp>
      <p:sp>
        <p:nvSpPr>
          <p:cNvPr id="107" name="Freeform 106"/>
          <p:cNvSpPr>
            <a:spLocks/>
          </p:cNvSpPr>
          <p:nvPr/>
        </p:nvSpPr>
        <p:spPr bwMode="auto">
          <a:xfrm>
            <a:off x="6026929" y="5068478"/>
            <a:ext cx="93662" cy="58738"/>
          </a:xfrm>
          <a:custGeom>
            <a:avLst/>
            <a:gdLst/>
            <a:ahLst/>
            <a:cxnLst>
              <a:cxn ang="0">
                <a:pos x="17" y="7"/>
              </a:cxn>
              <a:cxn ang="0">
                <a:pos x="21" y="13"/>
              </a:cxn>
              <a:cxn ang="0">
                <a:pos x="20" y="13"/>
              </a:cxn>
              <a:cxn ang="0">
                <a:pos x="10" y="9"/>
              </a:cxn>
              <a:cxn ang="0">
                <a:pos x="0" y="7"/>
              </a:cxn>
              <a:cxn ang="0">
                <a:pos x="10" y="4"/>
              </a:cxn>
              <a:cxn ang="0">
                <a:pos x="20" y="0"/>
              </a:cxn>
              <a:cxn ang="0">
                <a:pos x="21" y="0"/>
              </a:cxn>
              <a:cxn ang="0">
                <a:pos x="17" y="7"/>
              </a:cxn>
            </a:cxnLst>
            <a:rect l="0" t="0" r="r" b="b"/>
            <a:pathLst>
              <a:path w="21" h="13">
                <a:moveTo>
                  <a:pt x="17" y="7"/>
                </a:moveTo>
                <a:cubicBezTo>
                  <a:pt x="21" y="13"/>
                  <a:pt x="21" y="13"/>
                  <a:pt x="21" y="13"/>
                </a:cubicBezTo>
                <a:cubicBezTo>
                  <a:pt x="20" y="13"/>
                  <a:pt x="20" y="13"/>
                  <a:pt x="20" y="13"/>
                </a:cubicBezTo>
                <a:cubicBezTo>
                  <a:pt x="10" y="9"/>
                  <a:pt x="10" y="9"/>
                  <a:pt x="10" y="9"/>
                </a:cubicBezTo>
                <a:cubicBezTo>
                  <a:pt x="7" y="8"/>
                  <a:pt x="3" y="7"/>
                  <a:pt x="0" y="7"/>
                </a:cubicBezTo>
                <a:cubicBezTo>
                  <a:pt x="3" y="6"/>
                  <a:pt x="7" y="5"/>
                  <a:pt x="10" y="4"/>
                </a:cubicBezTo>
                <a:cubicBezTo>
                  <a:pt x="20" y="0"/>
                  <a:pt x="20" y="0"/>
                  <a:pt x="20" y="0"/>
                </a:cubicBezTo>
                <a:cubicBezTo>
                  <a:pt x="21" y="0"/>
                  <a:pt x="21" y="0"/>
                  <a:pt x="21" y="0"/>
                </a:cubicBezTo>
                <a:lnTo>
                  <a:pt x="17" y="7"/>
                </a:lnTo>
                <a:close/>
              </a:path>
            </a:pathLst>
          </a:custGeom>
          <a:solidFill>
            <a:srgbClr val="000000"/>
          </a:solidFill>
          <a:ln w="9525">
            <a:noFill/>
            <a:round/>
            <a:headEnd/>
            <a:tailEnd/>
          </a:ln>
        </p:spPr>
        <p:txBody>
          <a:bodyPr/>
          <a:lstStyle/>
          <a:p>
            <a:endParaRPr lang="en-US" dirty="0"/>
          </a:p>
        </p:txBody>
      </p:sp>
      <p:sp>
        <p:nvSpPr>
          <p:cNvPr id="108" name="Line 107"/>
          <p:cNvSpPr>
            <a:spLocks noChangeShapeType="1"/>
          </p:cNvSpPr>
          <p:nvPr/>
        </p:nvSpPr>
        <p:spPr bwMode="auto">
          <a:xfrm>
            <a:off x="6319029" y="5098641"/>
            <a:ext cx="0" cy="165100"/>
          </a:xfrm>
          <a:prstGeom prst="line">
            <a:avLst/>
          </a:prstGeom>
          <a:noFill/>
          <a:ln w="6350">
            <a:solidFill>
              <a:srgbClr val="000000"/>
            </a:solidFill>
            <a:miter lim="800000"/>
            <a:headEnd/>
            <a:tailEnd/>
          </a:ln>
        </p:spPr>
        <p:txBody>
          <a:bodyPr/>
          <a:lstStyle/>
          <a:p>
            <a:endParaRPr lang="en-US" dirty="0"/>
          </a:p>
        </p:txBody>
      </p:sp>
      <p:sp>
        <p:nvSpPr>
          <p:cNvPr id="109" name="Oval 108"/>
          <p:cNvSpPr>
            <a:spLocks noChangeArrowheads="1"/>
          </p:cNvSpPr>
          <p:nvPr/>
        </p:nvSpPr>
        <p:spPr bwMode="auto">
          <a:xfrm>
            <a:off x="1916891" y="4025491"/>
            <a:ext cx="88900" cy="92075"/>
          </a:xfrm>
          <a:prstGeom prst="ellipse">
            <a:avLst/>
          </a:prstGeom>
          <a:solidFill>
            <a:srgbClr val="000000"/>
          </a:solidFill>
          <a:ln w="9525">
            <a:noFill/>
            <a:round/>
            <a:headEnd/>
            <a:tailEnd/>
          </a:ln>
        </p:spPr>
        <p:txBody>
          <a:bodyPr/>
          <a:lstStyle/>
          <a:p>
            <a:endParaRPr lang="en-US" i="1" dirty="0"/>
          </a:p>
        </p:txBody>
      </p:sp>
      <p:sp>
        <p:nvSpPr>
          <p:cNvPr id="110" name="Oval 109"/>
          <p:cNvSpPr>
            <a:spLocks noChangeArrowheads="1"/>
          </p:cNvSpPr>
          <p:nvPr/>
        </p:nvSpPr>
        <p:spPr bwMode="auto">
          <a:xfrm>
            <a:off x="1916891" y="3360328"/>
            <a:ext cx="88900" cy="95250"/>
          </a:xfrm>
          <a:prstGeom prst="ellipse">
            <a:avLst/>
          </a:prstGeom>
          <a:solidFill>
            <a:srgbClr val="000000"/>
          </a:solidFill>
          <a:ln w="9525">
            <a:noFill/>
            <a:round/>
            <a:headEnd/>
            <a:tailEnd/>
          </a:ln>
        </p:spPr>
        <p:txBody>
          <a:bodyPr/>
          <a:lstStyle/>
          <a:p>
            <a:endParaRPr lang="en-US" i="1" dirty="0"/>
          </a:p>
        </p:txBody>
      </p:sp>
      <p:sp>
        <p:nvSpPr>
          <p:cNvPr id="111" name="Line 110"/>
          <p:cNvSpPr>
            <a:spLocks noChangeShapeType="1"/>
          </p:cNvSpPr>
          <p:nvPr/>
        </p:nvSpPr>
        <p:spPr bwMode="auto">
          <a:xfrm>
            <a:off x="1962929" y="3407953"/>
            <a:ext cx="0" cy="1323975"/>
          </a:xfrm>
          <a:prstGeom prst="line">
            <a:avLst/>
          </a:prstGeom>
          <a:noFill/>
          <a:ln w="22225" cap="rnd">
            <a:solidFill>
              <a:srgbClr val="000000"/>
            </a:solidFill>
            <a:miter lim="800000"/>
            <a:headEnd/>
            <a:tailEnd/>
          </a:ln>
        </p:spPr>
        <p:txBody>
          <a:bodyPr/>
          <a:lstStyle/>
          <a:p>
            <a:endParaRPr lang="en-US" dirty="0"/>
          </a:p>
        </p:txBody>
      </p:sp>
      <p:sp>
        <p:nvSpPr>
          <p:cNvPr id="112" name="Rectangle 111"/>
          <p:cNvSpPr>
            <a:spLocks noChangeArrowheads="1"/>
          </p:cNvSpPr>
          <p:nvPr/>
        </p:nvSpPr>
        <p:spPr bwMode="auto">
          <a:xfrm>
            <a:off x="715154" y="4758916"/>
            <a:ext cx="90487"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0</a:t>
            </a:r>
            <a:endParaRPr lang="en-US" sz="1400" dirty="0">
              <a:latin typeface="Tahoma" pitchFamily="34" charset="0"/>
            </a:endParaRPr>
          </a:p>
        </p:txBody>
      </p:sp>
      <p:sp>
        <p:nvSpPr>
          <p:cNvPr id="113" name="Rectangle 112"/>
          <p:cNvSpPr>
            <a:spLocks noChangeArrowheads="1"/>
          </p:cNvSpPr>
          <p:nvPr/>
        </p:nvSpPr>
        <p:spPr bwMode="auto">
          <a:xfrm>
            <a:off x="2937654" y="4758916"/>
            <a:ext cx="271462"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600</a:t>
            </a:r>
            <a:endParaRPr lang="en-US" sz="1400" dirty="0">
              <a:latin typeface="Tahoma" pitchFamily="34" charset="0"/>
            </a:endParaRPr>
          </a:p>
        </p:txBody>
      </p:sp>
      <p:sp>
        <p:nvSpPr>
          <p:cNvPr id="114" name="Rectangle 113"/>
          <p:cNvSpPr>
            <a:spLocks noChangeArrowheads="1"/>
          </p:cNvSpPr>
          <p:nvPr/>
        </p:nvSpPr>
        <p:spPr bwMode="auto">
          <a:xfrm>
            <a:off x="1840691" y="4758916"/>
            <a:ext cx="271463"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300</a:t>
            </a:r>
            <a:endParaRPr lang="en-US" sz="1400" dirty="0">
              <a:latin typeface="Tahoma" pitchFamily="34" charset="0"/>
            </a:endParaRPr>
          </a:p>
        </p:txBody>
      </p:sp>
      <p:sp>
        <p:nvSpPr>
          <p:cNvPr id="115" name="Rectangle 114"/>
          <p:cNvSpPr>
            <a:spLocks noChangeArrowheads="1"/>
          </p:cNvSpPr>
          <p:nvPr/>
        </p:nvSpPr>
        <p:spPr bwMode="auto">
          <a:xfrm>
            <a:off x="472266" y="1971266"/>
            <a:ext cx="361950"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$600</a:t>
            </a:r>
            <a:endParaRPr lang="en-US" sz="1400" dirty="0">
              <a:latin typeface="Tahoma" pitchFamily="34" charset="0"/>
            </a:endParaRPr>
          </a:p>
        </p:txBody>
      </p:sp>
      <p:sp>
        <p:nvSpPr>
          <p:cNvPr id="116" name="Freeform 115"/>
          <p:cNvSpPr>
            <a:spLocks/>
          </p:cNvSpPr>
          <p:nvPr/>
        </p:nvSpPr>
        <p:spPr bwMode="auto">
          <a:xfrm>
            <a:off x="843346" y="1702209"/>
            <a:ext cx="3202384" cy="3029719"/>
          </a:xfrm>
          <a:custGeom>
            <a:avLst/>
            <a:gdLst/>
            <a:ahLst/>
            <a:cxnLst>
              <a:cxn ang="0">
                <a:pos x="1675" y="1786"/>
              </a:cxn>
              <a:cxn ang="0">
                <a:pos x="0" y="1786"/>
              </a:cxn>
              <a:cxn ang="0">
                <a:pos x="0" y="0"/>
              </a:cxn>
            </a:cxnLst>
            <a:rect l="0" t="0" r="r" b="b"/>
            <a:pathLst>
              <a:path w="1675" h="1786">
                <a:moveTo>
                  <a:pt x="1675" y="1786"/>
                </a:moveTo>
                <a:lnTo>
                  <a:pt x="0" y="1786"/>
                </a:lnTo>
                <a:lnTo>
                  <a:pt x="0" y="0"/>
                </a:lnTo>
              </a:path>
            </a:pathLst>
          </a:custGeom>
          <a:noFill/>
          <a:ln w="6350" cap="flat">
            <a:solidFill>
              <a:srgbClr val="000000"/>
            </a:solidFill>
            <a:prstDash val="solid"/>
            <a:miter lim="800000"/>
            <a:headEnd/>
            <a:tailEnd/>
          </a:ln>
        </p:spPr>
        <p:txBody>
          <a:bodyPr/>
          <a:lstStyle/>
          <a:p>
            <a:endParaRPr lang="en-US" dirty="0"/>
          </a:p>
        </p:txBody>
      </p:sp>
      <p:sp>
        <p:nvSpPr>
          <p:cNvPr id="117" name="Rectangle 116"/>
          <p:cNvSpPr>
            <a:spLocks noChangeArrowheads="1"/>
          </p:cNvSpPr>
          <p:nvPr/>
        </p:nvSpPr>
        <p:spPr bwMode="auto">
          <a:xfrm>
            <a:off x="553229" y="3955641"/>
            <a:ext cx="271462"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150</a:t>
            </a:r>
            <a:endParaRPr lang="en-US" sz="1400" dirty="0">
              <a:latin typeface="Tahoma" pitchFamily="34" charset="0"/>
            </a:endParaRPr>
          </a:p>
        </p:txBody>
      </p:sp>
      <p:sp>
        <p:nvSpPr>
          <p:cNvPr id="118" name="Line 117"/>
          <p:cNvSpPr>
            <a:spLocks noChangeShapeType="1"/>
          </p:cNvSpPr>
          <p:nvPr/>
        </p:nvSpPr>
        <p:spPr bwMode="auto">
          <a:xfrm>
            <a:off x="867554" y="4069941"/>
            <a:ext cx="109537" cy="0"/>
          </a:xfrm>
          <a:prstGeom prst="line">
            <a:avLst/>
          </a:prstGeom>
          <a:noFill/>
          <a:ln w="6350">
            <a:solidFill>
              <a:srgbClr val="000000"/>
            </a:solidFill>
            <a:miter lim="800000"/>
            <a:headEnd/>
            <a:tailEnd/>
          </a:ln>
        </p:spPr>
        <p:txBody>
          <a:bodyPr/>
          <a:lstStyle/>
          <a:p>
            <a:endParaRPr lang="en-US" dirty="0"/>
          </a:p>
        </p:txBody>
      </p:sp>
      <p:sp>
        <p:nvSpPr>
          <p:cNvPr id="119" name="Rectangle 118"/>
          <p:cNvSpPr>
            <a:spLocks noChangeArrowheads="1"/>
          </p:cNvSpPr>
          <p:nvPr/>
        </p:nvSpPr>
        <p:spPr bwMode="auto">
          <a:xfrm>
            <a:off x="553229" y="3295241"/>
            <a:ext cx="271462" cy="169862"/>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300</a:t>
            </a:r>
            <a:endParaRPr lang="en-US" sz="1400" dirty="0">
              <a:latin typeface="Tahoma" pitchFamily="34" charset="0"/>
            </a:endParaRPr>
          </a:p>
        </p:txBody>
      </p:sp>
      <p:sp>
        <p:nvSpPr>
          <p:cNvPr id="120" name="Line 119"/>
          <p:cNvSpPr>
            <a:spLocks noChangeShapeType="1"/>
          </p:cNvSpPr>
          <p:nvPr/>
        </p:nvSpPr>
        <p:spPr bwMode="auto">
          <a:xfrm flipV="1">
            <a:off x="1962929" y="4619216"/>
            <a:ext cx="0" cy="112712"/>
          </a:xfrm>
          <a:prstGeom prst="line">
            <a:avLst/>
          </a:prstGeom>
          <a:noFill/>
          <a:ln w="6350">
            <a:solidFill>
              <a:srgbClr val="000000"/>
            </a:solidFill>
            <a:miter lim="800000"/>
            <a:headEnd/>
            <a:tailEnd/>
          </a:ln>
        </p:spPr>
        <p:txBody>
          <a:bodyPr/>
          <a:lstStyle/>
          <a:p>
            <a:endParaRPr lang="en-US" dirty="0"/>
          </a:p>
        </p:txBody>
      </p:sp>
      <p:sp>
        <p:nvSpPr>
          <p:cNvPr id="121" name="Freeform 120"/>
          <p:cNvSpPr>
            <a:spLocks/>
          </p:cNvSpPr>
          <p:nvPr/>
        </p:nvSpPr>
        <p:spPr bwMode="auto">
          <a:xfrm>
            <a:off x="504016" y="5089116"/>
            <a:ext cx="1311275" cy="1325140"/>
          </a:xfrm>
          <a:custGeom>
            <a:avLst/>
            <a:gdLst/>
            <a:ahLst/>
            <a:cxnLst>
              <a:cxn ang="0">
                <a:pos x="241" y="194"/>
              </a:cxn>
              <a:cxn ang="0">
                <a:pos x="224" y="210"/>
              </a:cxn>
              <a:cxn ang="0">
                <a:pos x="17" y="210"/>
              </a:cxn>
              <a:cxn ang="0">
                <a:pos x="0" y="194"/>
              </a:cxn>
              <a:cxn ang="0">
                <a:pos x="0" y="16"/>
              </a:cxn>
              <a:cxn ang="0">
                <a:pos x="17" y="0"/>
              </a:cxn>
              <a:cxn ang="0">
                <a:pos x="224" y="0"/>
              </a:cxn>
              <a:cxn ang="0">
                <a:pos x="241" y="16"/>
              </a:cxn>
              <a:cxn ang="0">
                <a:pos x="241" y="194"/>
              </a:cxn>
            </a:cxnLst>
            <a:rect l="0" t="0" r="r" b="b"/>
            <a:pathLst>
              <a:path w="241" h="210">
                <a:moveTo>
                  <a:pt x="241" y="194"/>
                </a:moveTo>
                <a:cubicBezTo>
                  <a:pt x="241" y="203"/>
                  <a:pt x="233" y="210"/>
                  <a:pt x="224" y="210"/>
                </a:cubicBezTo>
                <a:cubicBezTo>
                  <a:pt x="17" y="210"/>
                  <a:pt x="17" y="210"/>
                  <a:pt x="17" y="210"/>
                </a:cubicBezTo>
                <a:cubicBezTo>
                  <a:pt x="8" y="210"/>
                  <a:pt x="0" y="203"/>
                  <a:pt x="0" y="194"/>
                </a:cubicBezTo>
                <a:cubicBezTo>
                  <a:pt x="0" y="16"/>
                  <a:pt x="0" y="16"/>
                  <a:pt x="0" y="16"/>
                </a:cubicBezTo>
                <a:cubicBezTo>
                  <a:pt x="0" y="7"/>
                  <a:pt x="8" y="0"/>
                  <a:pt x="17" y="0"/>
                </a:cubicBezTo>
                <a:cubicBezTo>
                  <a:pt x="224" y="0"/>
                  <a:pt x="224" y="0"/>
                  <a:pt x="224" y="0"/>
                </a:cubicBezTo>
                <a:cubicBezTo>
                  <a:pt x="233" y="0"/>
                  <a:pt x="241" y="7"/>
                  <a:pt x="241" y="16"/>
                </a:cubicBezTo>
                <a:lnTo>
                  <a:pt x="241" y="194"/>
                </a:lnTo>
                <a:close/>
              </a:path>
            </a:pathLst>
          </a:custGeom>
          <a:solidFill>
            <a:srgbClr val="D7E2E0"/>
          </a:solidFill>
          <a:ln w="9525">
            <a:noFill/>
            <a:round/>
            <a:headEnd/>
            <a:tailEnd/>
          </a:ln>
        </p:spPr>
        <p:txBody>
          <a:bodyPr/>
          <a:lstStyle/>
          <a:p>
            <a:endParaRPr lang="en-US" dirty="0"/>
          </a:p>
        </p:txBody>
      </p:sp>
      <p:sp>
        <p:nvSpPr>
          <p:cNvPr id="122" name="Rectangle 121"/>
          <p:cNvSpPr>
            <a:spLocks noChangeArrowheads="1"/>
          </p:cNvSpPr>
          <p:nvPr/>
        </p:nvSpPr>
        <p:spPr bwMode="auto">
          <a:xfrm>
            <a:off x="5371291" y="1885541"/>
            <a:ext cx="2693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MB</a:t>
            </a:r>
            <a:endParaRPr lang="en-US" sz="1400" i="1" dirty="0">
              <a:latin typeface="Tahoma" pitchFamily="34" charset="0"/>
            </a:endParaRPr>
          </a:p>
        </p:txBody>
      </p:sp>
      <p:sp>
        <p:nvSpPr>
          <p:cNvPr id="123" name="Rectangle 122"/>
          <p:cNvSpPr>
            <a:spLocks noChangeArrowheads="1"/>
          </p:cNvSpPr>
          <p:nvPr/>
        </p:nvSpPr>
        <p:spPr bwMode="auto">
          <a:xfrm>
            <a:off x="5584016" y="1979203"/>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B</a:t>
            </a:r>
            <a:endParaRPr lang="en-US" sz="1400" i="1" dirty="0">
              <a:latin typeface="Tahoma" pitchFamily="34" charset="0"/>
            </a:endParaRPr>
          </a:p>
        </p:txBody>
      </p:sp>
      <p:sp>
        <p:nvSpPr>
          <p:cNvPr id="124" name="Rectangle 123"/>
          <p:cNvSpPr>
            <a:spLocks noChangeArrowheads="1"/>
          </p:cNvSpPr>
          <p:nvPr/>
        </p:nvSpPr>
        <p:spPr bwMode="auto">
          <a:xfrm>
            <a:off x="951691" y="1885541"/>
            <a:ext cx="2693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MB</a:t>
            </a:r>
            <a:endParaRPr lang="en-US" sz="1400" i="1" dirty="0">
              <a:latin typeface="Tahoma" pitchFamily="34" charset="0"/>
            </a:endParaRPr>
          </a:p>
        </p:txBody>
      </p:sp>
      <p:sp>
        <p:nvSpPr>
          <p:cNvPr id="125" name="Rectangle 124"/>
          <p:cNvSpPr>
            <a:spLocks noChangeArrowheads="1"/>
          </p:cNvSpPr>
          <p:nvPr/>
        </p:nvSpPr>
        <p:spPr bwMode="auto">
          <a:xfrm>
            <a:off x="1164416" y="1979203"/>
            <a:ext cx="96838" cy="169863"/>
          </a:xfrm>
          <a:prstGeom prst="rect">
            <a:avLst/>
          </a:prstGeom>
          <a:noFill/>
          <a:ln w="9525">
            <a:noFill/>
            <a:miter lim="800000"/>
            <a:headEnd/>
            <a:tailEnd/>
          </a:ln>
        </p:spPr>
        <p:txBody>
          <a:bodyPr wrap="none" lIns="0" tIns="0" rIns="0" bIns="0">
            <a:spAutoFit/>
          </a:bodyPr>
          <a:lstStyle/>
          <a:p>
            <a:pPr marL="1588" indent="-1588"/>
            <a:r>
              <a:rPr lang="en-US" sz="1400" dirty="0">
                <a:solidFill>
                  <a:srgbClr val="000000"/>
                </a:solidFill>
                <a:latin typeface="Myriad Pro" pitchFamily="34" charset="0"/>
              </a:rPr>
              <a:t>B</a:t>
            </a:r>
            <a:endParaRPr lang="en-US" sz="1400" dirty="0">
              <a:latin typeface="Tahoma" pitchFamily="34" charset="0"/>
            </a:endParaRPr>
          </a:p>
        </p:txBody>
      </p:sp>
      <p:sp>
        <p:nvSpPr>
          <p:cNvPr id="126" name="Rectangle 125"/>
          <p:cNvSpPr>
            <a:spLocks noChangeArrowheads="1"/>
          </p:cNvSpPr>
          <p:nvPr/>
        </p:nvSpPr>
        <p:spPr bwMode="auto">
          <a:xfrm>
            <a:off x="902479" y="3176178"/>
            <a:ext cx="2693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MB</a:t>
            </a:r>
            <a:endParaRPr lang="en-US" sz="1400" i="1" dirty="0">
              <a:latin typeface="Tahoma" pitchFamily="34" charset="0"/>
            </a:endParaRPr>
          </a:p>
        </p:txBody>
      </p:sp>
      <p:sp>
        <p:nvSpPr>
          <p:cNvPr id="127" name="Rectangle 126"/>
          <p:cNvSpPr>
            <a:spLocks noChangeArrowheads="1"/>
          </p:cNvSpPr>
          <p:nvPr/>
        </p:nvSpPr>
        <p:spPr bwMode="auto">
          <a:xfrm>
            <a:off x="1115204" y="3269841"/>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A</a:t>
            </a:r>
            <a:endParaRPr lang="en-US" sz="1400" i="1" dirty="0">
              <a:latin typeface="Tahoma" pitchFamily="34" charset="0"/>
            </a:endParaRPr>
          </a:p>
        </p:txBody>
      </p:sp>
      <p:sp>
        <p:nvSpPr>
          <p:cNvPr id="128" name="Rectangle 127"/>
          <p:cNvSpPr>
            <a:spLocks noChangeArrowheads="1"/>
          </p:cNvSpPr>
          <p:nvPr/>
        </p:nvSpPr>
        <p:spPr bwMode="auto">
          <a:xfrm>
            <a:off x="5371291" y="3198403"/>
            <a:ext cx="2693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MB</a:t>
            </a:r>
            <a:endParaRPr lang="en-US" sz="1400" i="1" dirty="0">
              <a:latin typeface="Tahoma" pitchFamily="34" charset="0"/>
            </a:endParaRPr>
          </a:p>
        </p:txBody>
      </p:sp>
      <p:sp>
        <p:nvSpPr>
          <p:cNvPr id="129" name="Rectangle 128"/>
          <p:cNvSpPr>
            <a:spLocks noChangeArrowheads="1"/>
          </p:cNvSpPr>
          <p:nvPr/>
        </p:nvSpPr>
        <p:spPr bwMode="auto">
          <a:xfrm>
            <a:off x="5584016" y="3290478"/>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A</a:t>
            </a:r>
            <a:endParaRPr lang="en-US" sz="1400" i="1" dirty="0">
              <a:latin typeface="Tahoma" pitchFamily="34" charset="0"/>
            </a:endParaRPr>
          </a:p>
        </p:txBody>
      </p:sp>
      <p:sp>
        <p:nvSpPr>
          <p:cNvPr id="130" name="Rectangle 129"/>
          <p:cNvSpPr>
            <a:spLocks noChangeArrowheads="1"/>
          </p:cNvSpPr>
          <p:nvPr/>
        </p:nvSpPr>
        <p:spPr bwMode="auto">
          <a:xfrm>
            <a:off x="6049154" y="3574641"/>
            <a:ext cx="1090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T</a:t>
            </a:r>
            <a:endParaRPr lang="en-US" sz="1400" i="1" dirty="0">
              <a:latin typeface="Tahoma" pitchFamily="34" charset="0"/>
            </a:endParaRPr>
          </a:p>
        </p:txBody>
      </p:sp>
      <p:sp>
        <p:nvSpPr>
          <p:cNvPr id="131" name="Rectangle 130"/>
          <p:cNvSpPr>
            <a:spLocks noChangeArrowheads="1"/>
          </p:cNvSpPr>
          <p:nvPr/>
        </p:nvSpPr>
        <p:spPr bwMode="auto">
          <a:xfrm>
            <a:off x="6125354" y="3668303"/>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A</a:t>
            </a:r>
            <a:endParaRPr lang="en-US" sz="1400" i="1" dirty="0">
              <a:latin typeface="Tahoma" pitchFamily="34" charset="0"/>
            </a:endParaRPr>
          </a:p>
        </p:txBody>
      </p:sp>
      <p:sp>
        <p:nvSpPr>
          <p:cNvPr id="132" name="Rectangle 131"/>
          <p:cNvSpPr>
            <a:spLocks noChangeArrowheads="1"/>
          </p:cNvSpPr>
          <p:nvPr/>
        </p:nvSpPr>
        <p:spPr bwMode="auto">
          <a:xfrm>
            <a:off x="2031191" y="3833403"/>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S</a:t>
            </a:r>
            <a:endParaRPr lang="en-US" sz="1400" i="1" dirty="0">
              <a:latin typeface="Tahoma" pitchFamily="34" charset="0"/>
            </a:endParaRPr>
          </a:p>
        </p:txBody>
      </p:sp>
      <p:sp>
        <p:nvSpPr>
          <p:cNvPr id="133" name="Rectangle 132"/>
          <p:cNvSpPr>
            <a:spLocks noChangeArrowheads="1"/>
          </p:cNvSpPr>
          <p:nvPr/>
        </p:nvSpPr>
        <p:spPr bwMode="auto">
          <a:xfrm>
            <a:off x="2112154" y="3928653"/>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A</a:t>
            </a:r>
            <a:endParaRPr lang="en-US" sz="1400" i="1" dirty="0">
              <a:latin typeface="Tahoma" pitchFamily="34" charset="0"/>
            </a:endParaRPr>
          </a:p>
        </p:txBody>
      </p:sp>
      <p:sp>
        <p:nvSpPr>
          <p:cNvPr id="134" name="Rectangle 133"/>
          <p:cNvSpPr>
            <a:spLocks noChangeArrowheads="1"/>
          </p:cNvSpPr>
          <p:nvPr/>
        </p:nvSpPr>
        <p:spPr bwMode="auto">
          <a:xfrm>
            <a:off x="2031191" y="3157128"/>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S</a:t>
            </a:r>
            <a:endParaRPr lang="en-US" sz="1400" i="1" dirty="0">
              <a:latin typeface="Tahoma" pitchFamily="34" charset="0"/>
            </a:endParaRPr>
          </a:p>
        </p:txBody>
      </p:sp>
      <p:sp>
        <p:nvSpPr>
          <p:cNvPr id="135" name="Rectangle 134"/>
          <p:cNvSpPr>
            <a:spLocks noChangeArrowheads="1"/>
          </p:cNvSpPr>
          <p:nvPr/>
        </p:nvSpPr>
        <p:spPr bwMode="auto">
          <a:xfrm>
            <a:off x="2112154" y="3249203"/>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B</a:t>
            </a:r>
            <a:endParaRPr lang="en-US" sz="1400" i="1" dirty="0">
              <a:latin typeface="Tahoma" pitchFamily="34" charset="0"/>
            </a:endParaRPr>
          </a:p>
        </p:txBody>
      </p:sp>
      <p:sp>
        <p:nvSpPr>
          <p:cNvPr id="136" name="Rectangle 135"/>
          <p:cNvSpPr>
            <a:spLocks noChangeArrowheads="1"/>
          </p:cNvSpPr>
          <p:nvPr/>
        </p:nvSpPr>
        <p:spPr bwMode="auto">
          <a:xfrm>
            <a:off x="6785754" y="3579403"/>
            <a:ext cx="109004"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T</a:t>
            </a:r>
            <a:endParaRPr lang="en-US" sz="1400" i="1" dirty="0">
              <a:latin typeface="Tahoma" pitchFamily="34" charset="0"/>
            </a:endParaRPr>
          </a:p>
        </p:txBody>
      </p:sp>
      <p:sp>
        <p:nvSpPr>
          <p:cNvPr id="137" name="Rectangle 136"/>
          <p:cNvSpPr>
            <a:spLocks noChangeArrowheads="1"/>
          </p:cNvSpPr>
          <p:nvPr/>
        </p:nvSpPr>
        <p:spPr bwMode="auto">
          <a:xfrm>
            <a:off x="6861954" y="3674653"/>
            <a:ext cx="120226" cy="215444"/>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pitchFamily="34" charset="0"/>
              </a:rPr>
              <a:t>B</a:t>
            </a:r>
            <a:endParaRPr lang="en-US" sz="1400" i="1" dirty="0">
              <a:latin typeface="Tahoma" pitchFamily="34" charset="0"/>
            </a:endParaRPr>
          </a:p>
        </p:txBody>
      </p:sp>
      <p:sp>
        <p:nvSpPr>
          <p:cNvPr id="138" name="Line 137"/>
          <p:cNvSpPr>
            <a:spLocks noChangeShapeType="1"/>
          </p:cNvSpPr>
          <p:nvPr/>
        </p:nvSpPr>
        <p:spPr bwMode="auto">
          <a:xfrm>
            <a:off x="5063316" y="3939766"/>
            <a:ext cx="0" cy="160337"/>
          </a:xfrm>
          <a:prstGeom prst="line">
            <a:avLst/>
          </a:prstGeom>
          <a:noFill/>
          <a:ln w="6350">
            <a:solidFill>
              <a:srgbClr val="000000"/>
            </a:solidFill>
            <a:miter lim="800000"/>
            <a:headEnd/>
            <a:tailEnd/>
          </a:ln>
        </p:spPr>
        <p:txBody>
          <a:bodyPr/>
          <a:lstStyle/>
          <a:p>
            <a:endParaRPr lang="en-US" dirty="0"/>
          </a:p>
        </p:txBody>
      </p:sp>
      <p:sp>
        <p:nvSpPr>
          <p:cNvPr id="139" name="Freeform 138"/>
          <p:cNvSpPr>
            <a:spLocks/>
          </p:cNvSpPr>
          <p:nvPr/>
        </p:nvSpPr>
        <p:spPr bwMode="auto">
          <a:xfrm>
            <a:off x="6600016" y="5586003"/>
            <a:ext cx="1905000" cy="1084758"/>
          </a:xfrm>
          <a:custGeom>
            <a:avLst/>
            <a:gdLst/>
            <a:ahLst/>
            <a:cxnLst>
              <a:cxn ang="0">
                <a:pos x="463" y="120"/>
              </a:cxn>
              <a:cxn ang="0">
                <a:pos x="445" y="136"/>
              </a:cxn>
              <a:cxn ang="0">
                <a:pos x="17" y="136"/>
              </a:cxn>
              <a:cxn ang="0">
                <a:pos x="0" y="120"/>
              </a:cxn>
              <a:cxn ang="0">
                <a:pos x="0" y="16"/>
              </a:cxn>
              <a:cxn ang="0">
                <a:pos x="17" y="0"/>
              </a:cxn>
              <a:cxn ang="0">
                <a:pos x="445" y="0"/>
              </a:cxn>
              <a:cxn ang="0">
                <a:pos x="463" y="16"/>
              </a:cxn>
              <a:cxn ang="0">
                <a:pos x="463" y="120"/>
              </a:cxn>
            </a:cxnLst>
            <a:rect l="0" t="0" r="r" b="b"/>
            <a:pathLst>
              <a:path w="463" h="136">
                <a:moveTo>
                  <a:pt x="463" y="120"/>
                </a:moveTo>
                <a:cubicBezTo>
                  <a:pt x="463" y="128"/>
                  <a:pt x="455" y="136"/>
                  <a:pt x="445" y="136"/>
                </a:cubicBezTo>
                <a:cubicBezTo>
                  <a:pt x="17" y="136"/>
                  <a:pt x="17" y="136"/>
                  <a:pt x="17" y="136"/>
                </a:cubicBezTo>
                <a:cubicBezTo>
                  <a:pt x="8" y="136"/>
                  <a:pt x="0" y="128"/>
                  <a:pt x="0" y="120"/>
                </a:cubicBezTo>
                <a:cubicBezTo>
                  <a:pt x="0" y="16"/>
                  <a:pt x="0" y="16"/>
                  <a:pt x="0" y="16"/>
                </a:cubicBezTo>
                <a:cubicBezTo>
                  <a:pt x="0" y="7"/>
                  <a:pt x="8" y="0"/>
                  <a:pt x="17" y="0"/>
                </a:cubicBezTo>
                <a:cubicBezTo>
                  <a:pt x="445" y="0"/>
                  <a:pt x="445" y="0"/>
                  <a:pt x="445" y="0"/>
                </a:cubicBezTo>
                <a:cubicBezTo>
                  <a:pt x="455" y="0"/>
                  <a:pt x="463" y="7"/>
                  <a:pt x="463" y="16"/>
                </a:cubicBezTo>
                <a:lnTo>
                  <a:pt x="463" y="120"/>
                </a:lnTo>
                <a:close/>
              </a:path>
            </a:pathLst>
          </a:custGeom>
          <a:solidFill>
            <a:srgbClr val="D7E2E0"/>
          </a:solidFill>
          <a:ln w="9525">
            <a:noFill/>
            <a:round/>
            <a:headEnd/>
            <a:tailEnd/>
          </a:ln>
        </p:spPr>
        <p:txBody>
          <a:bodyPr/>
          <a:lstStyle/>
          <a:p>
            <a:endParaRPr lang="en-US" dirty="0"/>
          </a:p>
        </p:txBody>
      </p:sp>
      <p:sp>
        <p:nvSpPr>
          <p:cNvPr id="140" name="Freeform 139"/>
          <p:cNvSpPr>
            <a:spLocks/>
          </p:cNvSpPr>
          <p:nvPr/>
        </p:nvSpPr>
        <p:spPr bwMode="auto">
          <a:xfrm>
            <a:off x="4552141" y="5222465"/>
            <a:ext cx="1998663" cy="872231"/>
          </a:xfrm>
          <a:custGeom>
            <a:avLst/>
            <a:gdLst/>
            <a:ahLst/>
            <a:cxnLst>
              <a:cxn ang="0">
                <a:pos x="446" y="120"/>
              </a:cxn>
              <a:cxn ang="0">
                <a:pos x="428" y="136"/>
              </a:cxn>
              <a:cxn ang="0">
                <a:pos x="17" y="136"/>
              </a:cxn>
              <a:cxn ang="0">
                <a:pos x="0" y="120"/>
              </a:cxn>
              <a:cxn ang="0">
                <a:pos x="0" y="16"/>
              </a:cxn>
              <a:cxn ang="0">
                <a:pos x="17" y="0"/>
              </a:cxn>
              <a:cxn ang="0">
                <a:pos x="428" y="0"/>
              </a:cxn>
              <a:cxn ang="0">
                <a:pos x="446" y="16"/>
              </a:cxn>
              <a:cxn ang="0">
                <a:pos x="446" y="120"/>
              </a:cxn>
            </a:cxnLst>
            <a:rect l="0" t="0" r="r" b="b"/>
            <a:pathLst>
              <a:path w="446" h="136">
                <a:moveTo>
                  <a:pt x="446" y="120"/>
                </a:moveTo>
                <a:cubicBezTo>
                  <a:pt x="446" y="128"/>
                  <a:pt x="438" y="136"/>
                  <a:pt x="428" y="136"/>
                </a:cubicBezTo>
                <a:cubicBezTo>
                  <a:pt x="17" y="136"/>
                  <a:pt x="17" y="136"/>
                  <a:pt x="17" y="136"/>
                </a:cubicBezTo>
                <a:cubicBezTo>
                  <a:pt x="8" y="136"/>
                  <a:pt x="0" y="128"/>
                  <a:pt x="0" y="120"/>
                </a:cubicBezTo>
                <a:cubicBezTo>
                  <a:pt x="0" y="16"/>
                  <a:pt x="0" y="16"/>
                  <a:pt x="0" y="16"/>
                </a:cubicBezTo>
                <a:cubicBezTo>
                  <a:pt x="0" y="7"/>
                  <a:pt x="8" y="0"/>
                  <a:pt x="17" y="0"/>
                </a:cubicBezTo>
                <a:cubicBezTo>
                  <a:pt x="428" y="0"/>
                  <a:pt x="428" y="0"/>
                  <a:pt x="428" y="0"/>
                </a:cubicBezTo>
                <a:cubicBezTo>
                  <a:pt x="438" y="0"/>
                  <a:pt x="446" y="7"/>
                  <a:pt x="446" y="16"/>
                </a:cubicBezTo>
                <a:lnTo>
                  <a:pt x="446" y="120"/>
                </a:lnTo>
                <a:close/>
              </a:path>
            </a:pathLst>
          </a:custGeom>
          <a:solidFill>
            <a:srgbClr val="D7E2E0"/>
          </a:solidFill>
          <a:ln w="9525">
            <a:noFill/>
            <a:round/>
            <a:headEnd/>
            <a:tailEnd/>
          </a:ln>
        </p:spPr>
        <p:txBody>
          <a:bodyPr/>
          <a:lstStyle/>
          <a:p>
            <a:endParaRPr lang="en-US" dirty="0"/>
          </a:p>
        </p:txBody>
      </p:sp>
      <p:sp>
        <p:nvSpPr>
          <p:cNvPr id="141" name="Freeform 140"/>
          <p:cNvSpPr>
            <a:spLocks/>
          </p:cNvSpPr>
          <p:nvPr/>
        </p:nvSpPr>
        <p:spPr bwMode="auto">
          <a:xfrm>
            <a:off x="4180471" y="4081053"/>
            <a:ext cx="971153" cy="452438"/>
          </a:xfrm>
          <a:custGeom>
            <a:avLst/>
            <a:gdLst/>
            <a:ahLst/>
            <a:cxnLst>
              <a:cxn ang="0">
                <a:pos x="161" y="81"/>
              </a:cxn>
              <a:cxn ang="0">
                <a:pos x="144" y="97"/>
              </a:cxn>
              <a:cxn ang="0">
                <a:pos x="17" y="97"/>
              </a:cxn>
              <a:cxn ang="0">
                <a:pos x="0" y="81"/>
              </a:cxn>
              <a:cxn ang="0">
                <a:pos x="0" y="16"/>
              </a:cxn>
              <a:cxn ang="0">
                <a:pos x="17" y="0"/>
              </a:cxn>
              <a:cxn ang="0">
                <a:pos x="144" y="0"/>
              </a:cxn>
              <a:cxn ang="0">
                <a:pos x="161" y="16"/>
              </a:cxn>
              <a:cxn ang="0">
                <a:pos x="161" y="81"/>
              </a:cxn>
            </a:cxnLst>
            <a:rect l="0" t="0" r="r" b="b"/>
            <a:pathLst>
              <a:path w="161" h="97">
                <a:moveTo>
                  <a:pt x="161" y="81"/>
                </a:moveTo>
                <a:cubicBezTo>
                  <a:pt x="161" y="90"/>
                  <a:pt x="154" y="97"/>
                  <a:pt x="144" y="97"/>
                </a:cubicBezTo>
                <a:cubicBezTo>
                  <a:pt x="17" y="97"/>
                  <a:pt x="17" y="97"/>
                  <a:pt x="17" y="97"/>
                </a:cubicBezTo>
                <a:cubicBezTo>
                  <a:pt x="8" y="97"/>
                  <a:pt x="0" y="90"/>
                  <a:pt x="0" y="81"/>
                </a:cubicBezTo>
                <a:cubicBezTo>
                  <a:pt x="0" y="16"/>
                  <a:pt x="0" y="16"/>
                  <a:pt x="0" y="16"/>
                </a:cubicBezTo>
                <a:cubicBezTo>
                  <a:pt x="0" y="7"/>
                  <a:pt x="8" y="0"/>
                  <a:pt x="17" y="0"/>
                </a:cubicBezTo>
                <a:cubicBezTo>
                  <a:pt x="144" y="0"/>
                  <a:pt x="144" y="0"/>
                  <a:pt x="144" y="0"/>
                </a:cubicBezTo>
                <a:cubicBezTo>
                  <a:pt x="154" y="0"/>
                  <a:pt x="161" y="7"/>
                  <a:pt x="161" y="16"/>
                </a:cubicBezTo>
                <a:lnTo>
                  <a:pt x="161" y="81"/>
                </a:lnTo>
                <a:close/>
              </a:path>
            </a:pathLst>
          </a:custGeom>
          <a:solidFill>
            <a:srgbClr val="D7E2E0"/>
          </a:solidFill>
          <a:ln w="9525">
            <a:noFill/>
            <a:round/>
            <a:headEnd/>
            <a:tailEnd/>
          </a:ln>
        </p:spPr>
        <p:txBody>
          <a:bodyPr/>
          <a:lstStyle/>
          <a:p>
            <a:endParaRPr lang="en-US" dirty="0"/>
          </a:p>
        </p:txBody>
      </p:sp>
      <p:sp>
        <p:nvSpPr>
          <p:cNvPr id="142" name="Rectangle 141"/>
          <p:cNvSpPr>
            <a:spLocks noChangeArrowheads="1"/>
          </p:cNvSpPr>
          <p:nvPr/>
        </p:nvSpPr>
        <p:spPr bwMode="auto">
          <a:xfrm>
            <a:off x="4271791" y="4081053"/>
            <a:ext cx="817533"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Emissions</a:t>
            </a:r>
            <a:endParaRPr lang="en-US" sz="1400" dirty="0">
              <a:latin typeface="Tahoma" pitchFamily="34" charset="0"/>
            </a:endParaRPr>
          </a:p>
        </p:txBody>
      </p:sp>
      <p:sp>
        <p:nvSpPr>
          <p:cNvPr id="143" name="Rectangle 142"/>
          <p:cNvSpPr>
            <a:spLocks noChangeArrowheads="1"/>
          </p:cNvSpPr>
          <p:nvPr/>
        </p:nvSpPr>
        <p:spPr bwMode="auto">
          <a:xfrm>
            <a:off x="4548221" y="4262028"/>
            <a:ext cx="238848" cy="215444"/>
          </a:xfrm>
          <a:prstGeom prst="rect">
            <a:avLst/>
          </a:prstGeom>
          <a:noFill/>
          <a:ln w="9525">
            <a:noFill/>
            <a:miter lim="800000"/>
            <a:headEnd/>
            <a:tailEnd/>
          </a:ln>
        </p:spPr>
        <p:txBody>
          <a:bodyPr wrap="none" lIns="0" tIns="0" rIns="0" bIns="0">
            <a:spAutoFit/>
          </a:bodyPr>
          <a:lstStyle/>
          <a:p>
            <a:pPr marL="1588" indent="-1588" algn="ctr"/>
            <a:r>
              <a:rPr lang="en-US" sz="1400" dirty="0">
                <a:solidFill>
                  <a:srgbClr val="000000"/>
                </a:solidFill>
                <a:latin typeface="Myriad Pro" pitchFamily="34" charset="0"/>
              </a:rPr>
              <a:t>tax</a:t>
            </a:r>
            <a:endParaRPr lang="en-US" sz="1400" dirty="0">
              <a:latin typeface="Tahoma" pitchFamily="34" charset="0"/>
            </a:endParaRPr>
          </a:p>
        </p:txBody>
      </p:sp>
      <p:sp>
        <p:nvSpPr>
          <p:cNvPr id="144" name="Freeform 143"/>
          <p:cNvSpPr>
            <a:spLocks/>
          </p:cNvSpPr>
          <p:nvPr/>
        </p:nvSpPr>
        <p:spPr bwMode="auto">
          <a:xfrm>
            <a:off x="1921654" y="5089115"/>
            <a:ext cx="1331912" cy="1149597"/>
          </a:xfrm>
          <a:custGeom>
            <a:avLst/>
            <a:gdLst/>
            <a:ahLst/>
            <a:cxnLst>
              <a:cxn ang="0">
                <a:pos x="297" y="120"/>
              </a:cxn>
              <a:cxn ang="0">
                <a:pos x="280" y="136"/>
              </a:cxn>
              <a:cxn ang="0">
                <a:pos x="17" y="136"/>
              </a:cxn>
              <a:cxn ang="0">
                <a:pos x="0" y="120"/>
              </a:cxn>
              <a:cxn ang="0">
                <a:pos x="0" y="16"/>
              </a:cxn>
              <a:cxn ang="0">
                <a:pos x="17" y="0"/>
              </a:cxn>
              <a:cxn ang="0">
                <a:pos x="280" y="0"/>
              </a:cxn>
              <a:cxn ang="0">
                <a:pos x="297" y="16"/>
              </a:cxn>
              <a:cxn ang="0">
                <a:pos x="297" y="120"/>
              </a:cxn>
            </a:cxnLst>
            <a:rect l="0" t="0" r="r" b="b"/>
            <a:pathLst>
              <a:path w="297" h="136">
                <a:moveTo>
                  <a:pt x="297" y="120"/>
                </a:moveTo>
                <a:cubicBezTo>
                  <a:pt x="297" y="128"/>
                  <a:pt x="289" y="136"/>
                  <a:pt x="280" y="136"/>
                </a:cubicBezTo>
                <a:cubicBezTo>
                  <a:pt x="17" y="136"/>
                  <a:pt x="17" y="136"/>
                  <a:pt x="17" y="136"/>
                </a:cubicBezTo>
                <a:cubicBezTo>
                  <a:pt x="7" y="136"/>
                  <a:pt x="0" y="128"/>
                  <a:pt x="0" y="120"/>
                </a:cubicBezTo>
                <a:cubicBezTo>
                  <a:pt x="0" y="16"/>
                  <a:pt x="0" y="16"/>
                  <a:pt x="0" y="16"/>
                </a:cubicBezTo>
                <a:cubicBezTo>
                  <a:pt x="0" y="7"/>
                  <a:pt x="7" y="0"/>
                  <a:pt x="17" y="0"/>
                </a:cubicBezTo>
                <a:cubicBezTo>
                  <a:pt x="280" y="0"/>
                  <a:pt x="280" y="0"/>
                  <a:pt x="280" y="0"/>
                </a:cubicBezTo>
                <a:cubicBezTo>
                  <a:pt x="289" y="0"/>
                  <a:pt x="297" y="7"/>
                  <a:pt x="297" y="16"/>
                </a:cubicBezTo>
                <a:lnTo>
                  <a:pt x="297" y="120"/>
                </a:lnTo>
                <a:close/>
              </a:path>
            </a:pathLst>
          </a:custGeom>
          <a:solidFill>
            <a:srgbClr val="D7E2E0"/>
          </a:solidFill>
          <a:ln w="9525">
            <a:noFill/>
            <a:round/>
            <a:headEnd/>
            <a:tailEnd/>
          </a:ln>
        </p:spPr>
        <p:txBody>
          <a:bodyPr/>
          <a:lstStyle/>
          <a:p>
            <a:endParaRPr lang="en-US" dirty="0"/>
          </a:p>
        </p:txBody>
      </p:sp>
      <p:sp>
        <p:nvSpPr>
          <p:cNvPr id="145" name="Rectangle 144"/>
          <p:cNvSpPr>
            <a:spLocks noChangeArrowheads="1"/>
          </p:cNvSpPr>
          <p:nvPr/>
        </p:nvSpPr>
        <p:spPr bwMode="auto">
          <a:xfrm>
            <a:off x="580216" y="5138328"/>
            <a:ext cx="1143000" cy="1292662"/>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Environmental standards forces both plants to cut emission by half</a:t>
            </a:r>
            <a:endParaRPr lang="en-US" sz="1400" dirty="0">
              <a:latin typeface="Tahoma" pitchFamily="34" charset="0"/>
            </a:endParaRPr>
          </a:p>
        </p:txBody>
      </p:sp>
      <p:sp>
        <p:nvSpPr>
          <p:cNvPr id="146" name="Rectangle 145"/>
          <p:cNvSpPr>
            <a:spLocks noChangeArrowheads="1"/>
          </p:cNvSpPr>
          <p:nvPr/>
        </p:nvSpPr>
        <p:spPr bwMode="auto">
          <a:xfrm>
            <a:off x="1951816" y="5138328"/>
            <a:ext cx="1274763" cy="1077218"/>
          </a:xfrm>
          <a:prstGeom prst="rect">
            <a:avLst/>
          </a:prstGeom>
          <a:noFill/>
          <a:ln w="9525">
            <a:noFill/>
            <a:miter lim="800000"/>
            <a:headEnd/>
            <a:tailEnd/>
          </a:ln>
        </p:spPr>
        <p:txBody>
          <a:bodyPr lIns="0" tIns="0" rIns="0" bIns="0">
            <a:spAutoFit/>
          </a:bodyPr>
          <a:lstStyle/>
          <a:p>
            <a:pPr marL="1588" indent="-1588" algn="ctr"/>
            <a:r>
              <a:rPr lang="en-US" sz="1400" dirty="0">
                <a:solidFill>
                  <a:srgbClr val="000000"/>
                </a:solidFill>
                <a:latin typeface="Myriad Pro" pitchFamily="34" charset="0"/>
              </a:rPr>
              <a:t>Without government action, each plant emits 600 </a:t>
            </a:r>
            <a:r>
              <a:rPr lang="en-US" sz="1400" dirty="0" smtClean="0">
                <a:solidFill>
                  <a:srgbClr val="000000"/>
                </a:solidFill>
                <a:latin typeface="Myriad Pro" pitchFamily="34" charset="0"/>
              </a:rPr>
              <a:t>tons</a:t>
            </a:r>
            <a:endParaRPr lang="en-US" sz="1400" dirty="0">
              <a:latin typeface="Tahoma" pitchFamily="34" charset="0"/>
            </a:endParaRPr>
          </a:p>
        </p:txBody>
      </p:sp>
      <p:sp>
        <p:nvSpPr>
          <p:cNvPr id="147" name="Rectangle 146"/>
          <p:cNvSpPr>
            <a:spLocks noChangeArrowheads="1"/>
          </p:cNvSpPr>
          <p:nvPr/>
        </p:nvSpPr>
        <p:spPr bwMode="auto">
          <a:xfrm>
            <a:off x="4383851" y="1022636"/>
            <a:ext cx="938213" cy="861774"/>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benefit to individual polluter</a:t>
            </a:r>
          </a:p>
        </p:txBody>
      </p:sp>
      <p:sp>
        <p:nvSpPr>
          <p:cNvPr id="148" name="Rectangle 147"/>
          <p:cNvSpPr>
            <a:spLocks noChangeArrowheads="1"/>
          </p:cNvSpPr>
          <p:nvPr/>
        </p:nvSpPr>
        <p:spPr bwMode="auto">
          <a:xfrm>
            <a:off x="40218" y="1023767"/>
            <a:ext cx="864096" cy="861774"/>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Marginal benefit to individual polluter</a:t>
            </a:r>
          </a:p>
        </p:txBody>
      </p:sp>
      <p:sp>
        <p:nvSpPr>
          <p:cNvPr id="149" name="Rectangle 148"/>
          <p:cNvSpPr>
            <a:spLocks noChangeArrowheads="1"/>
          </p:cNvSpPr>
          <p:nvPr/>
        </p:nvSpPr>
        <p:spPr bwMode="auto">
          <a:xfrm>
            <a:off x="7540089" y="4774913"/>
            <a:ext cx="1266825" cy="861774"/>
          </a:xfrm>
          <a:prstGeom prst="rect">
            <a:avLst/>
          </a:prstGeom>
          <a:noFill/>
          <a:ln w="9525">
            <a:noFill/>
            <a:miter lim="800000"/>
            <a:headEnd/>
            <a:tailEnd/>
          </a:ln>
        </p:spPr>
        <p:txBody>
          <a:bodyPr lIns="0" tIns="0" rIns="0" bIns="0">
            <a:spAutoFit/>
          </a:bodyPr>
          <a:lstStyle/>
          <a:p>
            <a:pPr marL="1588" indent="-1588" algn="r"/>
            <a:r>
              <a:rPr lang="en-US" sz="1400" dirty="0">
                <a:solidFill>
                  <a:srgbClr val="000000"/>
                </a:solidFill>
                <a:latin typeface="Myriad Pro" pitchFamily="34" charset="0"/>
              </a:rPr>
              <a:t>Quantity of pollution emissions (tons)</a:t>
            </a:r>
          </a:p>
        </p:txBody>
      </p:sp>
      <p:sp>
        <p:nvSpPr>
          <p:cNvPr id="150" name="Rectangle 149"/>
          <p:cNvSpPr>
            <a:spLocks noChangeArrowheads="1"/>
          </p:cNvSpPr>
          <p:nvPr/>
        </p:nvSpPr>
        <p:spPr bwMode="auto">
          <a:xfrm>
            <a:off x="3094816" y="4757328"/>
            <a:ext cx="1384300" cy="861774"/>
          </a:xfrm>
          <a:prstGeom prst="rect">
            <a:avLst/>
          </a:prstGeom>
          <a:noFill/>
          <a:ln w="9525">
            <a:noFill/>
            <a:miter lim="800000"/>
            <a:headEnd/>
            <a:tailEnd/>
          </a:ln>
        </p:spPr>
        <p:txBody>
          <a:bodyPr lIns="0" tIns="0" rIns="0" bIns="0">
            <a:spAutoFit/>
          </a:bodyPr>
          <a:lstStyle/>
          <a:p>
            <a:pPr marL="1588" indent="-1588" algn="r"/>
            <a:r>
              <a:rPr lang="en-US" sz="1400" dirty="0">
                <a:solidFill>
                  <a:srgbClr val="000000"/>
                </a:solidFill>
                <a:latin typeface="Myriad Pro" pitchFamily="34" charset="0"/>
              </a:rPr>
              <a:t>Quantity of pollution emissions </a:t>
            </a:r>
            <a:r>
              <a:rPr lang="en-US" sz="1400" dirty="0" smtClean="0">
                <a:solidFill>
                  <a:srgbClr val="000000"/>
                </a:solidFill>
                <a:latin typeface="Myriad Pro" pitchFamily="34" charset="0"/>
              </a:rPr>
              <a:t/>
            </a:r>
            <a:br>
              <a:rPr lang="en-US" sz="1400" dirty="0" smtClean="0">
                <a:solidFill>
                  <a:srgbClr val="000000"/>
                </a:solidFill>
                <a:latin typeface="Myriad Pro" pitchFamily="34" charset="0"/>
              </a:rPr>
            </a:br>
            <a:r>
              <a:rPr lang="en-US" sz="1400" dirty="0" smtClean="0">
                <a:solidFill>
                  <a:srgbClr val="000000"/>
                </a:solidFill>
                <a:latin typeface="Myriad Pro" pitchFamily="34" charset="0"/>
              </a:rPr>
              <a:t>(</a:t>
            </a:r>
            <a:r>
              <a:rPr lang="en-US" sz="1400" dirty="0">
                <a:solidFill>
                  <a:srgbClr val="000000"/>
                </a:solidFill>
                <a:latin typeface="Myriad Pro" pitchFamily="34" charset="0"/>
              </a:rPr>
              <a:t>tons)</a:t>
            </a:r>
          </a:p>
        </p:txBody>
      </p:sp>
      <p:sp>
        <p:nvSpPr>
          <p:cNvPr id="151" name="Rectangle 150"/>
          <p:cNvSpPr>
            <a:spLocks noChangeArrowheads="1"/>
          </p:cNvSpPr>
          <p:nvPr/>
        </p:nvSpPr>
        <p:spPr bwMode="auto">
          <a:xfrm>
            <a:off x="4552141" y="5230601"/>
            <a:ext cx="1967037" cy="861774"/>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Plant </a:t>
            </a:r>
            <a:r>
              <a:rPr lang="en-US" sz="1400" dirty="0" smtClean="0">
                <a:solidFill>
                  <a:srgbClr val="000000"/>
                </a:solidFill>
                <a:latin typeface="Myriad Pro" pitchFamily="34" charset="0"/>
              </a:rPr>
              <a:t>A </a:t>
            </a:r>
            <a:r>
              <a:rPr lang="en-US" sz="1400" dirty="0">
                <a:solidFill>
                  <a:srgbClr val="000000"/>
                </a:solidFill>
                <a:latin typeface="Myriad Pro" pitchFamily="34" charset="0"/>
              </a:rPr>
              <a:t>has a lower marginal benefit of pollution and reduces emissions by 400 tons</a:t>
            </a:r>
            <a:endParaRPr lang="en-US" sz="1400" dirty="0">
              <a:latin typeface="Tahoma" pitchFamily="34" charset="0"/>
            </a:endParaRPr>
          </a:p>
        </p:txBody>
      </p:sp>
      <p:sp>
        <p:nvSpPr>
          <p:cNvPr id="152" name="Rectangle 151"/>
          <p:cNvSpPr>
            <a:spLocks noChangeArrowheads="1"/>
          </p:cNvSpPr>
          <p:nvPr/>
        </p:nvSpPr>
        <p:spPr bwMode="auto">
          <a:xfrm>
            <a:off x="6670233" y="5593543"/>
            <a:ext cx="1811337" cy="1077218"/>
          </a:xfrm>
          <a:prstGeom prst="rect">
            <a:avLst/>
          </a:prstGeom>
          <a:noFill/>
          <a:ln w="9525">
            <a:noFill/>
            <a:miter lim="800000"/>
            <a:headEnd/>
            <a:tailEnd/>
          </a:ln>
        </p:spPr>
        <p:txBody>
          <a:bodyPr wrap="square" lIns="0" tIns="0" rIns="0" bIns="0">
            <a:spAutoFit/>
          </a:bodyPr>
          <a:lstStyle/>
          <a:p>
            <a:pPr marL="1588" indent="-1588" algn="ctr"/>
            <a:r>
              <a:rPr lang="en-US" sz="1400" dirty="0">
                <a:solidFill>
                  <a:srgbClr val="000000"/>
                </a:solidFill>
                <a:latin typeface="Myriad Pro" pitchFamily="34" charset="0"/>
              </a:rPr>
              <a:t>Plant B has a higher marginal benefit of </a:t>
            </a:r>
            <a:r>
              <a:rPr lang="en-US" sz="1400" dirty="0" smtClean="0">
                <a:solidFill>
                  <a:srgbClr val="000000"/>
                </a:solidFill>
                <a:latin typeface="Myriad Pro" pitchFamily="34" charset="0"/>
              </a:rPr>
              <a:t>pollution and </a:t>
            </a:r>
            <a:r>
              <a:rPr lang="en-US" sz="1400" dirty="0">
                <a:solidFill>
                  <a:srgbClr val="000000"/>
                </a:solidFill>
                <a:latin typeface="Myriad Pro" pitchFamily="34" charset="0"/>
              </a:rPr>
              <a:t>reduces emissions by only 200  tons</a:t>
            </a:r>
            <a:endParaRPr lang="en-US" sz="1400" dirty="0">
              <a:latin typeface="Tahoma" pitchFamily="34" charset="0"/>
            </a:endParaRPr>
          </a:p>
        </p:txBody>
      </p:sp>
      <p:cxnSp>
        <p:nvCxnSpPr>
          <p:cNvPr id="153" name="Straight Connector 86"/>
          <p:cNvCxnSpPr>
            <a:cxnSpLocks noChangeShapeType="1"/>
          </p:cNvCxnSpPr>
          <p:nvPr/>
        </p:nvCxnSpPr>
        <p:spPr bwMode="auto">
          <a:xfrm>
            <a:off x="865966" y="3411128"/>
            <a:ext cx="1047750" cy="0"/>
          </a:xfrm>
          <a:prstGeom prst="line">
            <a:avLst/>
          </a:prstGeom>
          <a:noFill/>
          <a:ln w="15875">
            <a:solidFill>
              <a:srgbClr val="808080"/>
            </a:solidFill>
            <a:prstDash val="sysDot"/>
            <a:round/>
            <a:headEnd/>
            <a:tailEnd type="none" w="med" len="lg"/>
          </a:ln>
        </p:spPr>
      </p:cxnSp>
      <p:cxnSp>
        <p:nvCxnSpPr>
          <p:cNvPr id="154" name="Straight Connector 86"/>
          <p:cNvCxnSpPr>
            <a:cxnSpLocks noChangeShapeType="1"/>
          </p:cNvCxnSpPr>
          <p:nvPr/>
        </p:nvCxnSpPr>
        <p:spPr bwMode="auto">
          <a:xfrm>
            <a:off x="865966" y="4065178"/>
            <a:ext cx="1047750" cy="0"/>
          </a:xfrm>
          <a:prstGeom prst="line">
            <a:avLst/>
          </a:prstGeom>
          <a:noFill/>
          <a:ln w="15875">
            <a:solidFill>
              <a:srgbClr val="808080"/>
            </a:solidFill>
            <a:prstDash val="sysDot"/>
            <a:round/>
            <a:headEnd/>
            <a:tailEnd type="none" w="med" len="lg"/>
          </a:ln>
        </p:spPr>
      </p:cxnSp>
      <p:cxnSp>
        <p:nvCxnSpPr>
          <p:cNvPr id="155" name="Straight Connector 86"/>
          <p:cNvCxnSpPr>
            <a:cxnSpLocks noChangeShapeType="1"/>
          </p:cNvCxnSpPr>
          <p:nvPr/>
        </p:nvCxnSpPr>
        <p:spPr bwMode="auto">
          <a:xfrm>
            <a:off x="6022166" y="3874678"/>
            <a:ext cx="0" cy="819150"/>
          </a:xfrm>
          <a:prstGeom prst="line">
            <a:avLst/>
          </a:prstGeom>
          <a:noFill/>
          <a:ln w="15875">
            <a:solidFill>
              <a:srgbClr val="808080"/>
            </a:solidFill>
            <a:prstDash val="sysDot"/>
            <a:round/>
            <a:headEnd/>
            <a:tailEnd type="none" w="med" len="lg"/>
          </a:ln>
        </p:spPr>
      </p:cxnSp>
      <p:cxnSp>
        <p:nvCxnSpPr>
          <p:cNvPr id="156" name="Straight Connector 86"/>
          <p:cNvCxnSpPr>
            <a:cxnSpLocks noChangeShapeType="1"/>
          </p:cNvCxnSpPr>
          <p:nvPr/>
        </p:nvCxnSpPr>
        <p:spPr bwMode="auto">
          <a:xfrm>
            <a:off x="6761941" y="3909603"/>
            <a:ext cx="0" cy="819150"/>
          </a:xfrm>
          <a:prstGeom prst="line">
            <a:avLst/>
          </a:prstGeom>
          <a:noFill/>
          <a:ln w="15875">
            <a:solidFill>
              <a:srgbClr val="808080"/>
            </a:solidFill>
            <a:prstDash val="sysDot"/>
            <a:round/>
            <a:headEnd/>
            <a:tailEnd type="none" w="med" len="lg"/>
          </a:ln>
        </p:spPr>
      </p:cxnSp>
      <p:sp>
        <p:nvSpPr>
          <p:cNvPr id="79" name="Rectangle 107"/>
          <p:cNvSpPr>
            <a:spLocks noChangeArrowheads="1"/>
          </p:cNvSpPr>
          <p:nvPr/>
        </p:nvSpPr>
        <p:spPr bwMode="auto">
          <a:xfrm>
            <a:off x="6876255" y="1628800"/>
            <a:ext cx="1925345" cy="1938992"/>
          </a:xfrm>
          <a:prstGeom prst="rect">
            <a:avLst/>
          </a:prstGeom>
          <a:noFill/>
          <a:ln w="9525">
            <a:noFill/>
            <a:miter lim="800000"/>
            <a:headEnd/>
            <a:tailEnd/>
          </a:ln>
        </p:spPr>
        <p:txBody>
          <a:bodyPr wrap="square" lIns="0" tIns="0" rIns="0" bIns="0">
            <a:spAutoFit/>
          </a:bodyPr>
          <a:lstStyle/>
          <a:p>
            <a:pPr marL="1588" indent="-1588" algn="ctr"/>
            <a:r>
              <a:rPr lang="en-US" i="1" dirty="0" smtClean="0">
                <a:solidFill>
                  <a:srgbClr val="000000"/>
                </a:solidFill>
                <a:latin typeface="Myriad Pro" pitchFamily="34" charset="0"/>
              </a:rPr>
              <a:t>An emissions tax is more efficient. </a:t>
            </a:r>
            <a:br>
              <a:rPr lang="en-US" i="1" dirty="0" smtClean="0">
                <a:solidFill>
                  <a:srgbClr val="000000"/>
                </a:solidFill>
                <a:latin typeface="Myriad Pro" pitchFamily="34" charset="0"/>
              </a:rPr>
            </a:br>
            <a:r>
              <a:rPr lang="en-US" i="1" dirty="0" smtClean="0">
                <a:solidFill>
                  <a:srgbClr val="000000"/>
                </a:solidFill>
                <a:latin typeface="Myriad Pro" pitchFamily="34" charset="0"/>
              </a:rPr>
              <a:t>It allows firms to flexibly respond according to their costs of reducing pollution</a:t>
            </a:r>
            <a:endParaRPr lang="en-US" i="1" dirty="0">
              <a:latin typeface="Tahoma" pitchFamily="34" charset="0"/>
            </a:endParaRPr>
          </a:p>
        </p:txBody>
      </p:sp>
    </p:spTree>
    <p:extLst>
      <p:ext uri="{BB962C8B-B14F-4D97-AF65-F5344CB8AC3E}">
        <p14:creationId xmlns:p14="http://schemas.microsoft.com/office/powerpoint/2010/main" val="151179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5"/>
                                        </p:tgtEl>
                                        <p:attrNameLst>
                                          <p:attrName>style.visibility</p:attrName>
                                        </p:attrNameLst>
                                      </p:cBhvr>
                                      <p:to>
                                        <p:strVal val="visible"/>
                                      </p:to>
                                    </p:set>
                                  </p:childTnLst>
                                </p:cTn>
                              </p:par>
                              <p:par>
                                <p:cTn id="61" presetID="22" presetClass="entr" presetSubtype="1"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animEffect transition="in" filter="wipe(up)">
                                      <p:cBhvr>
                                        <p:cTn id="63" dur="500"/>
                                        <p:tgtEl>
                                          <p:spTgt spid="83"/>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84"/>
                                        </p:tgtEl>
                                        <p:attrNameLst>
                                          <p:attrName>style.visibility</p:attrName>
                                        </p:attrNameLst>
                                      </p:cBhvr>
                                      <p:to>
                                        <p:strVal val="visible"/>
                                      </p:to>
                                    </p:set>
                                    <p:animEffect transition="in" filter="wipe(up)">
                                      <p:cBhvr>
                                        <p:cTn id="66" dur="500"/>
                                        <p:tgtEl>
                                          <p:spTgt spid="84"/>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1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4"/>
                                        </p:tgtEl>
                                        <p:attrNameLst>
                                          <p:attrName>style.visibility</p:attrName>
                                        </p:attrNameLst>
                                      </p:cBhvr>
                                      <p:to>
                                        <p:strVal val="visible"/>
                                      </p:to>
                                    </p:set>
                                  </p:childTnLst>
                                </p:cTn>
                              </p:par>
                              <p:par>
                                <p:cTn id="73" presetID="22" presetClass="entr" presetSubtype="8" fill="hold" grpId="0" nodeType="withEffect">
                                  <p:stCondLst>
                                    <p:cond delay="0"/>
                                  </p:stCondLst>
                                  <p:childTnLst>
                                    <p:set>
                                      <p:cBhvr>
                                        <p:cTn id="74" dur="1" fill="hold">
                                          <p:stCondLst>
                                            <p:cond delay="0"/>
                                          </p:stCondLst>
                                        </p:cTn>
                                        <p:tgtEl>
                                          <p:spTgt spid="146"/>
                                        </p:tgtEl>
                                        <p:attrNameLst>
                                          <p:attrName>style.visibility</p:attrName>
                                        </p:attrNameLst>
                                      </p:cBhvr>
                                      <p:to>
                                        <p:strVal val="visible"/>
                                      </p:to>
                                    </p:set>
                                    <p:animEffect transition="in" filter="wipe(left)">
                                      <p:cBhvr>
                                        <p:cTn id="75" dur="500"/>
                                        <p:tgtEl>
                                          <p:spTgt spid="146"/>
                                        </p:tgtEl>
                                      </p:cBhvr>
                                    </p:animEffect>
                                  </p:childTnLst>
                                </p:cTn>
                              </p:par>
                              <p:par>
                                <p:cTn id="76" presetID="1" presetClass="entr" presetSubtype="0" fill="hold" grpId="0" nodeType="withEffect">
                                  <p:stCondLst>
                                    <p:cond delay="0"/>
                                  </p:stCondLst>
                                  <p:childTnLst>
                                    <p:set>
                                      <p:cBhvr>
                                        <p:cTn id="77" dur="1" fill="hold">
                                          <p:stCondLst>
                                            <p:cond delay="0"/>
                                          </p:stCondLst>
                                        </p:cTn>
                                        <p:tgtEl>
                                          <p:spTgt spid="82"/>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09"/>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10"/>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111"/>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154"/>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153"/>
                                        </p:tgtEl>
                                        <p:attrNameLst>
                                          <p:attrName>style.visibility</p:attrName>
                                        </p:attrNameLst>
                                      </p:cBhvr>
                                      <p:to>
                                        <p:strVal val="visible"/>
                                      </p:to>
                                    </p:set>
                                  </p:childTnLst>
                                </p:cTn>
                              </p:par>
                              <p:par>
                                <p:cTn id="90" presetID="22" presetClass="entr" presetSubtype="8" fill="hold" grpId="0" nodeType="withEffect">
                                  <p:stCondLst>
                                    <p:cond delay="0"/>
                                  </p:stCondLst>
                                  <p:childTnLst>
                                    <p:set>
                                      <p:cBhvr>
                                        <p:cTn id="91" dur="1" fill="hold">
                                          <p:stCondLst>
                                            <p:cond delay="0"/>
                                          </p:stCondLst>
                                        </p:cTn>
                                        <p:tgtEl>
                                          <p:spTgt spid="145"/>
                                        </p:tgtEl>
                                        <p:attrNameLst>
                                          <p:attrName>style.visibility</p:attrName>
                                        </p:attrNameLst>
                                      </p:cBhvr>
                                      <p:to>
                                        <p:strVal val="visible"/>
                                      </p:to>
                                    </p:set>
                                    <p:animEffect transition="in" filter="wipe(left)">
                                      <p:cBhvr>
                                        <p:cTn id="92" dur="500"/>
                                        <p:tgtEl>
                                          <p:spTgt spid="145"/>
                                        </p:tgtEl>
                                      </p:cBhvr>
                                    </p:animEffect>
                                  </p:childTnLst>
                                </p:cTn>
                              </p:par>
                              <p:par>
                                <p:cTn id="93" presetID="1" presetClass="entr" presetSubtype="0" fill="hold" grpId="0" nodeType="withEffect">
                                  <p:stCondLst>
                                    <p:cond delay="0"/>
                                  </p:stCondLst>
                                  <p:childTnLst>
                                    <p:set>
                                      <p:cBhvr>
                                        <p:cTn id="94" dur="1" fill="hold">
                                          <p:stCondLst>
                                            <p:cond delay="0"/>
                                          </p:stCondLst>
                                        </p:cTn>
                                        <p:tgtEl>
                                          <p:spTgt spid="13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3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3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3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12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29"/>
                                        </p:tgtEl>
                                        <p:attrNameLst>
                                          <p:attrName>style.visibility</p:attrName>
                                        </p:attrNameLst>
                                      </p:cBhvr>
                                      <p:to>
                                        <p:strVal val="visible"/>
                                      </p:to>
                                    </p:set>
                                  </p:childTnLst>
                                </p:cTn>
                              </p:par>
                              <p:par>
                                <p:cTn id="115" presetID="22" presetClass="entr" presetSubtype="1" fill="hold" grpId="0" nodeType="withEffect">
                                  <p:stCondLst>
                                    <p:cond delay="0"/>
                                  </p:stCondLst>
                                  <p:childTnLst>
                                    <p:set>
                                      <p:cBhvr>
                                        <p:cTn id="116" dur="1" fill="hold">
                                          <p:stCondLst>
                                            <p:cond delay="0"/>
                                          </p:stCondLst>
                                        </p:cTn>
                                        <p:tgtEl>
                                          <p:spTgt spid="85"/>
                                        </p:tgtEl>
                                        <p:attrNameLst>
                                          <p:attrName>style.visibility</p:attrName>
                                        </p:attrNameLst>
                                      </p:cBhvr>
                                      <p:to>
                                        <p:strVal val="visible"/>
                                      </p:to>
                                    </p:set>
                                    <p:animEffect transition="in" filter="wipe(up)">
                                      <p:cBhvr>
                                        <p:cTn id="117" dur="500"/>
                                        <p:tgtEl>
                                          <p:spTgt spid="85"/>
                                        </p:tgtEl>
                                      </p:cBhvr>
                                    </p:animEffect>
                                  </p:childTnLst>
                                </p:cTn>
                              </p:par>
                              <p:par>
                                <p:cTn id="118" presetID="22" presetClass="entr" presetSubtype="1" fill="hold" grpId="0" nodeType="withEffect">
                                  <p:stCondLst>
                                    <p:cond delay="0"/>
                                  </p:stCondLst>
                                  <p:childTnLst>
                                    <p:set>
                                      <p:cBhvr>
                                        <p:cTn id="119" dur="1" fill="hold">
                                          <p:stCondLst>
                                            <p:cond delay="0"/>
                                          </p:stCondLst>
                                        </p:cTn>
                                        <p:tgtEl>
                                          <p:spTgt spid="86"/>
                                        </p:tgtEl>
                                        <p:attrNameLst>
                                          <p:attrName>style.visibility</p:attrName>
                                        </p:attrNameLst>
                                      </p:cBhvr>
                                      <p:to>
                                        <p:strVal val="visible"/>
                                      </p:to>
                                    </p:set>
                                    <p:animEffect transition="in" filter="wipe(up)">
                                      <p:cBhvr>
                                        <p:cTn id="120" dur="500"/>
                                        <p:tgtEl>
                                          <p:spTgt spid="86"/>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8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3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3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3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3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3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4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4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55"/>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5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0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07"/>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0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40"/>
                                        </p:tgtEl>
                                        <p:attrNameLst>
                                          <p:attrName>style.visibility</p:attrName>
                                        </p:attrNameLst>
                                      </p:cBhvr>
                                      <p:to>
                                        <p:strVal val="visible"/>
                                      </p:to>
                                    </p:set>
                                  </p:childTnLst>
                                </p:cTn>
                              </p:par>
                              <p:par>
                                <p:cTn id="159" presetID="22" presetClass="entr" presetSubtype="8" fill="hold" grpId="0" nodeType="withEffect">
                                  <p:stCondLst>
                                    <p:cond delay="0"/>
                                  </p:stCondLst>
                                  <p:childTnLst>
                                    <p:set>
                                      <p:cBhvr>
                                        <p:cTn id="160" dur="1" fill="hold">
                                          <p:stCondLst>
                                            <p:cond delay="0"/>
                                          </p:stCondLst>
                                        </p:cTn>
                                        <p:tgtEl>
                                          <p:spTgt spid="151"/>
                                        </p:tgtEl>
                                        <p:attrNameLst>
                                          <p:attrName>style.visibility</p:attrName>
                                        </p:attrNameLst>
                                      </p:cBhvr>
                                      <p:to>
                                        <p:strVal val="visible"/>
                                      </p:to>
                                    </p:set>
                                    <p:animEffect transition="in" filter="wipe(left)">
                                      <p:cBhvr>
                                        <p:cTn id="161" dur="500"/>
                                        <p:tgtEl>
                                          <p:spTgt spid="151"/>
                                        </p:tgtEl>
                                      </p:cBhvr>
                                    </p:animEffect>
                                  </p:childTnLst>
                                </p:cTn>
                              </p:par>
                              <p:par>
                                <p:cTn id="162" presetID="1" presetClass="entr" presetSubtype="0" fill="hold" grpId="0" nodeType="withEffect">
                                  <p:stCondLst>
                                    <p:cond delay="0"/>
                                  </p:stCondLst>
                                  <p:childTnLst>
                                    <p:set>
                                      <p:cBhvr>
                                        <p:cTn id="163" dur="1" fill="hold">
                                          <p:stCondLst>
                                            <p:cond delay="0"/>
                                          </p:stCondLst>
                                        </p:cTn>
                                        <p:tgtEl>
                                          <p:spTgt spid="104"/>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0"/>
                                          </p:stCondLst>
                                        </p:cTn>
                                        <p:tgtEl>
                                          <p:spTgt spid="105"/>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102"/>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139"/>
                                        </p:tgtEl>
                                        <p:attrNameLst>
                                          <p:attrName>style.visibility</p:attrName>
                                        </p:attrNameLst>
                                      </p:cBhvr>
                                      <p:to>
                                        <p:strVal val="visible"/>
                                      </p:to>
                                    </p:set>
                                  </p:childTnLst>
                                </p:cTn>
                              </p:par>
                              <p:par>
                                <p:cTn id="170" presetID="22" presetClass="entr" presetSubtype="8" fill="hold" grpId="0" nodeType="withEffect">
                                  <p:stCondLst>
                                    <p:cond delay="0"/>
                                  </p:stCondLst>
                                  <p:childTnLst>
                                    <p:set>
                                      <p:cBhvr>
                                        <p:cTn id="171" dur="1" fill="hold">
                                          <p:stCondLst>
                                            <p:cond delay="0"/>
                                          </p:stCondLst>
                                        </p:cTn>
                                        <p:tgtEl>
                                          <p:spTgt spid="152"/>
                                        </p:tgtEl>
                                        <p:attrNameLst>
                                          <p:attrName>style.visibility</p:attrName>
                                        </p:attrNameLst>
                                      </p:cBhvr>
                                      <p:to>
                                        <p:strVal val="visible"/>
                                      </p:to>
                                    </p:set>
                                    <p:animEffect transition="in" filter="wipe(left)">
                                      <p:cBhvr>
                                        <p:cTn id="172" dur="500"/>
                                        <p:tgtEl>
                                          <p:spTgt spid="152"/>
                                        </p:tgtEl>
                                      </p:cBhvr>
                                    </p:animEffect>
                                  </p:childTnLst>
                                </p:cTn>
                              </p:par>
                              <p:par>
                                <p:cTn id="173" presetID="1" presetClass="entr" presetSubtype="0" fill="hold" grpId="0" nodeType="withEffect">
                                  <p:stCondLst>
                                    <p:cond delay="0"/>
                                  </p:stCondLst>
                                  <p:childTnLst>
                                    <p:set>
                                      <p:cBhvr>
                                        <p:cTn id="17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84" grpId="0" animBg="1"/>
      <p:bldP spid="85" grpId="0" animBg="1"/>
      <p:bldP spid="86" grpId="0" animBg="1"/>
      <p:bldP spid="87" grpId="0" animBg="1"/>
      <p:bldP spid="88" grpId="0" animBg="1"/>
      <p:bldP spid="89" grpId="0"/>
      <p:bldP spid="90" grpId="0"/>
      <p:bldP spid="91" grpId="0" animBg="1"/>
      <p:bldP spid="92" grpId="0"/>
      <p:bldP spid="93" grpId="0"/>
      <p:bldP spid="94" grpId="0"/>
      <p:bldP spid="95" grpId="0"/>
      <p:bldP spid="96" grpId="0"/>
      <p:bldP spid="97" grpId="0" animBg="1"/>
      <p:bldP spid="98" grpId="0"/>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p:bldP spid="113" grpId="0"/>
      <p:bldP spid="114" grpId="0"/>
      <p:bldP spid="115" grpId="0"/>
      <p:bldP spid="116" grpId="0" animBg="1"/>
      <p:bldP spid="117" grpId="0"/>
      <p:bldP spid="118" grpId="0" animBg="1"/>
      <p:bldP spid="119" grpId="0"/>
      <p:bldP spid="120" grpId="0" animBg="1"/>
      <p:bldP spid="121" grpId="0" animBg="1"/>
      <p:bldP spid="122" grpId="0"/>
      <p:bldP spid="123" grpId="0"/>
      <p:bldP spid="124" grpId="0"/>
      <p:bldP spid="125" grpId="0"/>
      <p:bldP spid="126" grpId="0"/>
      <p:bldP spid="127" grpId="0"/>
      <p:bldP spid="128" grpId="0"/>
      <p:bldP spid="129" grpId="0"/>
      <p:bldP spid="130" grpId="0"/>
      <p:bldP spid="131" grpId="0"/>
      <p:bldP spid="132" grpId="0"/>
      <p:bldP spid="133" grpId="0"/>
      <p:bldP spid="134" grpId="0"/>
      <p:bldP spid="135" grpId="0"/>
      <p:bldP spid="136" grpId="0"/>
      <p:bldP spid="137" grpId="0"/>
      <p:bldP spid="138" grpId="0" animBg="1"/>
      <p:bldP spid="139" grpId="0" animBg="1"/>
      <p:bldP spid="140" grpId="0" animBg="1"/>
      <p:bldP spid="141" grpId="0" animBg="1"/>
      <p:bldP spid="142" grpId="0"/>
      <p:bldP spid="143" grpId="0"/>
      <p:bldP spid="144" grpId="0" animBg="1"/>
      <p:bldP spid="145" grpId="0"/>
      <p:bldP spid="146" grpId="0"/>
      <p:bldP spid="147" grpId="0"/>
      <p:bldP spid="148" grpId="0"/>
      <p:bldP spid="149" grpId="0"/>
      <p:bldP spid="150" grpId="0"/>
      <p:bldP spid="151" grpId="0"/>
      <p:bldP spid="152" grpId="0"/>
      <p:bldP spid="7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0" dirty="0" smtClean="0"/>
              <a:t>Tradable Emissions Permits</a:t>
            </a:r>
            <a:endParaRPr lang="en-US" spc="0" dirty="0"/>
          </a:p>
        </p:txBody>
      </p:sp>
      <p:sp>
        <p:nvSpPr>
          <p:cNvPr id="4" name="Footer Placeholder 3"/>
          <p:cNvSpPr>
            <a:spLocks noGrp="1"/>
          </p:cNvSpPr>
          <p:nvPr>
            <p:ph type="ftr" sz="quarter" idx="4294967295"/>
          </p:nvPr>
        </p:nvSpPr>
        <p:spPr>
          <a:xfrm>
            <a:off x="2171700" y="6629400"/>
            <a:ext cx="4800600" cy="228600"/>
          </a:xfrm>
          <a:prstGeom prst="rect">
            <a:avLst/>
          </a:prstGeom>
        </p:spPr>
        <p:txBody>
          <a:bodyPr/>
          <a:lstStyle/>
          <a:p>
            <a:pPr>
              <a:defRPr/>
            </a:pPr>
            <a:r>
              <a:rPr lang="en-US" smtClean="0"/>
              <a:t>Copyright 2013 Worth Publishers</a:t>
            </a:r>
            <a:endParaRPr lang="en-US" dirty="0"/>
          </a:p>
        </p:txBody>
      </p:sp>
      <p:sp>
        <p:nvSpPr>
          <p:cNvPr id="5" name="Content Placeholder 4"/>
          <p:cNvSpPr>
            <a:spLocks noGrp="1"/>
          </p:cNvSpPr>
          <p:nvPr>
            <p:ph idx="1"/>
          </p:nvPr>
        </p:nvSpPr>
        <p:spPr>
          <a:xfrm>
            <a:off x="971600" y="714374"/>
            <a:ext cx="8064896" cy="5915025"/>
          </a:xfrm>
        </p:spPr>
        <p:txBody>
          <a:bodyPr/>
          <a:lstStyle/>
          <a:p>
            <a:pPr marL="0" indent="0">
              <a:buNone/>
            </a:pPr>
            <a:r>
              <a:rPr lang="en-US" sz="2600" dirty="0" smtClean="0"/>
              <a:t>If the government issues </a:t>
            </a:r>
            <a:r>
              <a:rPr lang="en-US" sz="2600" dirty="0"/>
              <a:t>a limited number of tradable pollution </a:t>
            </a:r>
            <a:r>
              <a:rPr lang="en-US" sz="2600" dirty="0" smtClean="0"/>
              <a:t>permits:</a:t>
            </a:r>
            <a:endParaRPr lang="en-US" sz="2600" dirty="0"/>
          </a:p>
          <a:p>
            <a:r>
              <a:rPr lang="en-US" sz="2600" dirty="0" smtClean="0"/>
              <a:t>The </a:t>
            </a:r>
            <a:r>
              <a:rPr lang="en-US" sz="2600" dirty="0"/>
              <a:t>government limits the total amount of </a:t>
            </a:r>
            <a:r>
              <a:rPr lang="en-US" sz="2600" dirty="0" smtClean="0"/>
              <a:t>pollution, and  creates </a:t>
            </a:r>
            <a:r>
              <a:rPr lang="en-US" sz="2600" dirty="0"/>
              <a:t>a market for the right to </a:t>
            </a:r>
            <a:r>
              <a:rPr lang="en-US" sz="2600" dirty="0" smtClean="0"/>
              <a:t>pollute</a:t>
            </a:r>
            <a:endParaRPr lang="en-US" sz="2600" dirty="0"/>
          </a:p>
          <a:p>
            <a:r>
              <a:rPr lang="en-US" sz="2600" dirty="0"/>
              <a:t>Firms that can easily and at low cost reduce their </a:t>
            </a:r>
            <a:r>
              <a:rPr lang="en-US" sz="2600" dirty="0" smtClean="0"/>
              <a:t>pollution </a:t>
            </a:r>
            <a:r>
              <a:rPr lang="en-US" sz="2600" dirty="0"/>
              <a:t>will </a:t>
            </a:r>
            <a:r>
              <a:rPr lang="en-US" sz="2600" dirty="0" smtClean="0"/>
              <a:t>reduce pollution beyond what they need to, and sell their extra </a:t>
            </a:r>
            <a:r>
              <a:rPr lang="en-US" sz="2600" dirty="0"/>
              <a:t>tradable pollution </a:t>
            </a:r>
            <a:r>
              <a:rPr lang="en-US" sz="2600" dirty="0" smtClean="0"/>
              <a:t>permits</a:t>
            </a:r>
            <a:endParaRPr lang="en-US" sz="2600" dirty="0"/>
          </a:p>
          <a:p>
            <a:r>
              <a:rPr lang="en-US" sz="2600" dirty="0"/>
              <a:t>Firms that </a:t>
            </a:r>
            <a:r>
              <a:rPr lang="en-US" sz="2600" dirty="0" smtClean="0"/>
              <a:t>find it difficult and costly to </a:t>
            </a:r>
            <a:r>
              <a:rPr lang="en-US" sz="2600" dirty="0"/>
              <a:t>reduce their </a:t>
            </a:r>
            <a:r>
              <a:rPr lang="en-US" sz="2600" dirty="0" smtClean="0"/>
              <a:t>pollution </a:t>
            </a:r>
            <a:r>
              <a:rPr lang="en-US" sz="2600" dirty="0"/>
              <a:t>will </a:t>
            </a:r>
            <a:r>
              <a:rPr lang="en-US" sz="2600" dirty="0" smtClean="0"/>
              <a:t>buy additional tradable </a:t>
            </a:r>
            <a:r>
              <a:rPr lang="en-US" sz="2600" dirty="0"/>
              <a:t>pollution </a:t>
            </a:r>
            <a:r>
              <a:rPr lang="en-US" sz="2600" dirty="0" smtClean="0"/>
              <a:t>permits</a:t>
            </a:r>
            <a:endParaRPr lang="en-US" sz="2600" dirty="0"/>
          </a:p>
          <a:p>
            <a:pPr marL="0" indent="0">
              <a:spcBef>
                <a:spcPts val="1200"/>
              </a:spcBef>
              <a:buNone/>
            </a:pPr>
            <a:r>
              <a:rPr lang="en-US" sz="2600" dirty="0" smtClean="0"/>
              <a:t>If the government were to </a:t>
            </a:r>
            <a:r>
              <a:rPr lang="en-US" sz="2600" i="1" dirty="0" smtClean="0"/>
              <a:t>sell </a:t>
            </a:r>
            <a:r>
              <a:rPr lang="en-US" sz="2600" dirty="0" smtClean="0"/>
              <a:t>the tradable </a:t>
            </a:r>
            <a:r>
              <a:rPr lang="en-US" sz="2600" dirty="0"/>
              <a:t>pollution </a:t>
            </a:r>
            <a:r>
              <a:rPr lang="en-US" sz="2600" dirty="0" smtClean="0"/>
              <a:t>permits, instead of issuing them to firms:</a:t>
            </a:r>
            <a:endParaRPr lang="en-US" sz="2600" dirty="0"/>
          </a:p>
          <a:p>
            <a:r>
              <a:rPr lang="en-US" sz="2600" dirty="0" smtClean="0"/>
              <a:t>The effect would be the same as imposing a tax on pollution</a:t>
            </a:r>
            <a:endParaRPr lang="en-US" sz="2600" dirty="0"/>
          </a:p>
        </p:txBody>
      </p:sp>
    </p:spTree>
    <p:extLst>
      <p:ext uri="{BB962C8B-B14F-4D97-AF65-F5344CB8AC3E}">
        <p14:creationId xmlns:p14="http://schemas.microsoft.com/office/powerpoint/2010/main" val="6812115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899592" y="62646"/>
            <a:ext cx="8015808" cy="609600"/>
          </a:xfrm>
        </p:spPr>
        <p:txBody>
          <a:bodyPr/>
          <a:lstStyle/>
          <a:p>
            <a:pPr algn="l"/>
            <a:r>
              <a:rPr lang="en-US" dirty="0" smtClean="0"/>
              <a:t>Private Solutions to Externalities</a:t>
            </a:r>
          </a:p>
        </p:txBody>
      </p:sp>
      <p:sp>
        <p:nvSpPr>
          <p:cNvPr id="82949" name="Text Box 5"/>
          <p:cNvSpPr txBox="1">
            <a:spLocks noChangeArrowheads="1"/>
          </p:cNvSpPr>
          <p:nvPr/>
        </p:nvSpPr>
        <p:spPr bwMode="auto">
          <a:xfrm>
            <a:off x="971600" y="836712"/>
            <a:ext cx="7943800" cy="5801588"/>
          </a:xfrm>
          <a:prstGeom prst="rect">
            <a:avLst/>
          </a:prstGeom>
          <a:noFill/>
          <a:ln w="9525" algn="ctr">
            <a:noFill/>
            <a:miter lim="800000"/>
            <a:headEnd/>
            <a:tailEnd type="none" w="med" len="lg"/>
          </a:ln>
        </p:spPr>
        <p:txBody>
          <a:bodyPr wrap="square">
            <a:spAutoFit/>
          </a:bodyPr>
          <a:lstStyle/>
          <a:p>
            <a:pPr marL="231775" indent="-231775">
              <a:lnSpc>
                <a:spcPct val="100000"/>
              </a:lnSpc>
              <a:spcBef>
                <a:spcPts val="1200"/>
              </a:spcBef>
              <a:buClr>
                <a:schemeClr val="tx1"/>
              </a:buClr>
              <a:buFont typeface="Arial" pitchFamily="34" charset="0"/>
              <a:buChar char="•"/>
            </a:pPr>
            <a:r>
              <a:rPr lang="en-US" sz="2700" dirty="0" smtClean="0"/>
              <a:t>The </a:t>
            </a:r>
            <a:r>
              <a:rPr lang="en-US" sz="2700" dirty="0"/>
              <a:t>economist Ronald Coase pointed out that, </a:t>
            </a:r>
            <a:r>
              <a:rPr lang="en-US" sz="2700" dirty="0" smtClean="0"/>
              <a:t>ideally, </a:t>
            </a:r>
            <a:r>
              <a:rPr lang="en-US" sz="2700" dirty="0"/>
              <a:t>the private sector could indeed deal with </a:t>
            </a:r>
            <a:r>
              <a:rPr lang="en-US" sz="2700" dirty="0" smtClean="0"/>
              <a:t>externalities</a:t>
            </a:r>
            <a:r>
              <a:rPr lang="en-US" sz="2700" dirty="0"/>
              <a:t>. </a:t>
            </a:r>
          </a:p>
          <a:p>
            <a:pPr marL="231775" indent="-231775">
              <a:lnSpc>
                <a:spcPct val="100000"/>
              </a:lnSpc>
              <a:spcBef>
                <a:spcPts val="1200"/>
              </a:spcBef>
              <a:buClr>
                <a:schemeClr val="tx1"/>
              </a:buClr>
              <a:buFont typeface="Arial" pitchFamily="34" charset="0"/>
              <a:buChar char="•"/>
            </a:pPr>
            <a:r>
              <a:rPr lang="en-US" sz="2700" dirty="0" smtClean="0"/>
              <a:t>According </a:t>
            </a:r>
            <a:r>
              <a:rPr lang="en-US" sz="2700" dirty="0"/>
              <a:t>to the </a:t>
            </a:r>
            <a:r>
              <a:rPr lang="en-US" sz="2700" b="1" dirty="0">
                <a:solidFill>
                  <a:schemeClr val="accent6">
                    <a:lumMod val="50000"/>
                  </a:schemeClr>
                </a:solidFill>
              </a:rPr>
              <a:t>Coase theorem</a:t>
            </a:r>
            <a:r>
              <a:rPr lang="en-US" sz="2700" dirty="0"/>
              <a:t>,</a:t>
            </a:r>
            <a:r>
              <a:rPr lang="en-US" sz="2700" b="1" dirty="0"/>
              <a:t> </a:t>
            </a:r>
            <a:r>
              <a:rPr lang="en-US" sz="2700" dirty="0"/>
              <a:t>even in the presence of </a:t>
            </a:r>
            <a:r>
              <a:rPr lang="en-US" sz="2700" dirty="0" smtClean="0"/>
              <a:t>externalities, </a:t>
            </a:r>
            <a:r>
              <a:rPr lang="en-US" sz="2700" dirty="0"/>
              <a:t>an economy can </a:t>
            </a:r>
            <a:r>
              <a:rPr lang="en-US" sz="2700" dirty="0" smtClean="0"/>
              <a:t>reach </a:t>
            </a:r>
            <a:r>
              <a:rPr lang="en-US" sz="2700" dirty="0"/>
              <a:t>an efficient solution provided that the </a:t>
            </a:r>
            <a:r>
              <a:rPr lang="en-US" sz="2700" i="1" dirty="0"/>
              <a:t>transaction costs</a:t>
            </a:r>
            <a:r>
              <a:rPr lang="en-US" sz="2700" dirty="0">
                <a:cs typeface="Arial" pitchFamily="34" charset="0"/>
              </a:rPr>
              <a:t>—</a:t>
            </a:r>
            <a:r>
              <a:rPr lang="en-US" sz="2700" dirty="0"/>
              <a:t>the costs to individuals of making a deal</a:t>
            </a:r>
            <a:r>
              <a:rPr lang="en-US" sz="2700" dirty="0">
                <a:cs typeface="Arial" pitchFamily="34" charset="0"/>
              </a:rPr>
              <a:t>—</a:t>
            </a:r>
            <a:r>
              <a:rPr lang="en-US" sz="2700" dirty="0"/>
              <a:t>are </a:t>
            </a:r>
            <a:r>
              <a:rPr lang="en-US" sz="2700" dirty="0" smtClean="0"/>
              <a:t>low</a:t>
            </a:r>
            <a:r>
              <a:rPr lang="en-US" sz="2700" dirty="0"/>
              <a:t>. </a:t>
            </a:r>
          </a:p>
          <a:p>
            <a:pPr marL="231775" indent="-231775">
              <a:spcBef>
                <a:spcPts val="1200"/>
              </a:spcBef>
              <a:buClr>
                <a:schemeClr val="tx1"/>
              </a:buClr>
              <a:buFont typeface="Arial" pitchFamily="34" charset="0"/>
              <a:buChar char="•"/>
            </a:pPr>
            <a:r>
              <a:rPr lang="en-US" sz="2700" dirty="0" smtClean="0"/>
              <a:t>The </a:t>
            </a:r>
            <a:r>
              <a:rPr lang="en-US" sz="2700" dirty="0"/>
              <a:t>implication of </a:t>
            </a:r>
            <a:r>
              <a:rPr lang="en-US" sz="2700" dirty="0" err="1"/>
              <a:t>Coase’s</a:t>
            </a:r>
            <a:r>
              <a:rPr lang="en-US" sz="2700" dirty="0"/>
              <a:t> analysis is that externalities need not lead to inefficiency because individuals have an incentive to find a way to make mutually beneficial deals that lead them to take externalities into </a:t>
            </a:r>
            <a:r>
              <a:rPr lang="en-US" sz="2700" dirty="0" smtClean="0"/>
              <a:t>account.</a:t>
            </a:r>
            <a:endParaRPr lang="en-US" sz="2700"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3410" name="Rectangle 2"/>
          <p:cNvSpPr>
            <a:spLocks noGrp="1" noChangeArrowheads="1"/>
          </p:cNvSpPr>
          <p:nvPr>
            <p:ph type="title" idx="4294967295"/>
          </p:nvPr>
        </p:nvSpPr>
        <p:spPr>
          <a:xfrm>
            <a:off x="889248" y="147067"/>
            <a:ext cx="7931224" cy="401613"/>
          </a:xfrm>
        </p:spPr>
        <p:txBody>
          <a:bodyPr/>
          <a:lstStyle/>
          <a:p>
            <a:r>
              <a:rPr lang="en-US" altLang="en-US" sz="3700" dirty="0"/>
              <a:t>The </a:t>
            </a:r>
            <a:r>
              <a:rPr lang="en-US" altLang="en-US" sz="3700" dirty="0" err="1"/>
              <a:t>Coase</a:t>
            </a:r>
            <a:r>
              <a:rPr lang="en-US" altLang="en-US" sz="3700" dirty="0"/>
              <a:t> Theorem:  An Example</a:t>
            </a:r>
          </a:p>
        </p:txBody>
      </p:sp>
      <p:sp>
        <p:nvSpPr>
          <p:cNvPr id="214019" name="Rectangle 3"/>
          <p:cNvSpPr>
            <a:spLocks noGrp="1" noChangeArrowheads="1"/>
          </p:cNvSpPr>
          <p:nvPr>
            <p:ph type="body" idx="4294967295"/>
          </p:nvPr>
        </p:nvSpPr>
        <p:spPr>
          <a:xfrm>
            <a:off x="1183432" y="836712"/>
            <a:ext cx="7503368" cy="5472608"/>
          </a:xfrm>
        </p:spPr>
        <p:txBody>
          <a:bodyPr/>
          <a:lstStyle/>
          <a:p>
            <a:pPr marL="0" indent="0">
              <a:lnSpc>
                <a:spcPct val="90000"/>
              </a:lnSpc>
              <a:spcBef>
                <a:spcPct val="30000"/>
              </a:spcBef>
              <a:buFont typeface="Wingdings" panose="05000000000000000000" pitchFamily="2" charset="2"/>
              <a:buNone/>
            </a:pPr>
            <a:r>
              <a:rPr lang="en-US" altLang="en-US" sz="2800" dirty="0"/>
              <a:t>Dick owns a dog named Spot</a:t>
            </a:r>
          </a:p>
          <a:p>
            <a:pPr marL="0" indent="0">
              <a:lnSpc>
                <a:spcPct val="90000"/>
              </a:lnSpc>
              <a:spcBef>
                <a:spcPct val="30000"/>
              </a:spcBef>
              <a:buFont typeface="Wingdings" panose="05000000000000000000" pitchFamily="2" charset="2"/>
              <a:buNone/>
            </a:pPr>
            <a:r>
              <a:rPr lang="en-US" altLang="en-US" sz="2800" dirty="0"/>
              <a:t>Negative externality:  </a:t>
            </a:r>
            <a:br>
              <a:rPr lang="en-US" altLang="en-US" sz="2800" dirty="0"/>
            </a:br>
            <a:r>
              <a:rPr lang="en-US" altLang="en-US" sz="2800" dirty="0" smtClean="0"/>
              <a:t>  Spot’s </a:t>
            </a:r>
            <a:r>
              <a:rPr lang="en-US" altLang="en-US" sz="2800" dirty="0"/>
              <a:t>barking disturbs Jane, </a:t>
            </a:r>
            <a:br>
              <a:rPr lang="en-US" altLang="en-US" sz="2800" dirty="0"/>
            </a:br>
            <a:r>
              <a:rPr lang="en-US" altLang="en-US" sz="2800" dirty="0" smtClean="0"/>
              <a:t>   Dick’s </a:t>
            </a:r>
            <a:r>
              <a:rPr lang="en-US" altLang="en-US" sz="2800" dirty="0"/>
              <a:t>neighbor</a:t>
            </a:r>
          </a:p>
          <a:p>
            <a:pPr marL="0" indent="0">
              <a:lnSpc>
                <a:spcPct val="90000"/>
              </a:lnSpc>
              <a:spcBef>
                <a:spcPct val="30000"/>
              </a:spcBef>
              <a:buFont typeface="Wingdings" panose="05000000000000000000" pitchFamily="2" charset="2"/>
              <a:buNone/>
            </a:pPr>
            <a:r>
              <a:rPr lang="en-US" altLang="en-US" sz="2800" dirty="0"/>
              <a:t>The socially efficient outcome </a:t>
            </a:r>
            <a:br>
              <a:rPr lang="en-US" altLang="en-US" sz="2800" dirty="0"/>
            </a:br>
            <a:r>
              <a:rPr lang="en-US" altLang="en-US" sz="2800" dirty="0"/>
              <a:t>maximizes </a:t>
            </a:r>
            <a:r>
              <a:rPr lang="en-US" altLang="en-US" sz="2800" dirty="0" smtClean="0"/>
              <a:t>Dick</a:t>
            </a:r>
            <a:r>
              <a:rPr lang="en-US" altLang="en-US" sz="2800" dirty="0"/>
              <a:t>’s</a:t>
            </a:r>
            <a:r>
              <a:rPr lang="en-US" altLang="en-US" sz="2800" dirty="0" smtClean="0"/>
              <a:t> &amp; </a:t>
            </a:r>
            <a:r>
              <a:rPr lang="en-US" altLang="en-US" sz="2800" dirty="0"/>
              <a:t>Jane’s well-being</a:t>
            </a:r>
          </a:p>
          <a:p>
            <a:pPr marL="458788" lvl="1">
              <a:lnSpc>
                <a:spcPct val="90000"/>
              </a:lnSpc>
              <a:spcBef>
                <a:spcPct val="10000"/>
              </a:spcBef>
            </a:pPr>
            <a:r>
              <a:rPr lang="en-US" altLang="en-US" sz="2800" dirty="0"/>
              <a:t>If Dick values having Spot more </a:t>
            </a:r>
            <a:br>
              <a:rPr lang="en-US" altLang="en-US" sz="2800" dirty="0"/>
            </a:br>
            <a:r>
              <a:rPr lang="en-US" altLang="en-US" sz="2800" dirty="0"/>
              <a:t>than Jane values peace &amp; quiet, </a:t>
            </a:r>
            <a:br>
              <a:rPr lang="en-US" altLang="en-US" sz="2800" dirty="0"/>
            </a:br>
            <a:r>
              <a:rPr lang="en-US" altLang="en-US" sz="2800" dirty="0"/>
              <a:t>the dog should stay</a:t>
            </a:r>
          </a:p>
          <a:p>
            <a:pPr marL="458788" lvl="1">
              <a:lnSpc>
                <a:spcPct val="90000"/>
              </a:lnSpc>
              <a:spcBef>
                <a:spcPct val="10000"/>
              </a:spcBef>
            </a:pPr>
            <a:r>
              <a:rPr lang="en-US" altLang="en-US" sz="2800" dirty="0"/>
              <a:t>If Jane values peace &amp; quiet more, </a:t>
            </a:r>
            <a:br>
              <a:rPr lang="en-US" altLang="en-US" sz="2800" dirty="0"/>
            </a:br>
            <a:r>
              <a:rPr lang="en-US" altLang="en-US" sz="2800" dirty="0" smtClean="0"/>
              <a:t>than Dick values the dog, the </a:t>
            </a:r>
            <a:r>
              <a:rPr lang="en-US" altLang="en-US" sz="2800" dirty="0"/>
              <a:t>dog should go</a:t>
            </a:r>
          </a:p>
          <a:p>
            <a:pPr marL="0" indent="0">
              <a:lnSpc>
                <a:spcPct val="90000"/>
              </a:lnSpc>
              <a:spcBef>
                <a:spcPct val="30000"/>
              </a:spcBef>
              <a:buFont typeface="Wingdings" panose="05000000000000000000" pitchFamily="2" charset="2"/>
              <a:buNone/>
            </a:pPr>
            <a:r>
              <a:rPr lang="en-US" altLang="en-US" sz="2600" i="1" dirty="0">
                <a:solidFill>
                  <a:srgbClr val="0000FF"/>
                </a:solidFill>
              </a:rPr>
              <a:t>Coase theorem:  The private market </a:t>
            </a:r>
            <a:r>
              <a:rPr lang="en-US" altLang="en-US" sz="2600" i="1" dirty="0" smtClean="0">
                <a:solidFill>
                  <a:srgbClr val="0000FF"/>
                </a:solidFill>
              </a:rPr>
              <a:t>can reach </a:t>
            </a:r>
            <a:r>
              <a:rPr lang="en-US" altLang="en-US" sz="2600" i="1" dirty="0">
                <a:solidFill>
                  <a:srgbClr val="0000FF"/>
                </a:solidFill>
              </a:rPr>
              <a:t>the efficient outcome on its own…  </a:t>
            </a:r>
          </a:p>
        </p:txBody>
      </p:sp>
      <p:grpSp>
        <p:nvGrpSpPr>
          <p:cNvPr id="2" name="Group 6"/>
          <p:cNvGrpSpPr>
            <a:grpSpLocks/>
          </p:cNvGrpSpPr>
          <p:nvPr/>
        </p:nvGrpSpPr>
        <p:grpSpPr bwMode="auto">
          <a:xfrm>
            <a:off x="6732240" y="1052736"/>
            <a:ext cx="2209800" cy="3494088"/>
            <a:chOff x="4161" y="777"/>
            <a:chExt cx="1392" cy="2201"/>
          </a:xfrm>
        </p:grpSpPr>
        <p:pic>
          <p:nvPicPr>
            <p:cNvPr id="273413" name="Picture 4" descr="stk26125dcs barking dog"/>
            <p:cNvPicPr>
              <a:picLocks noChangeAspect="1" noChangeArrowheads="1"/>
            </p:cNvPicPr>
            <p:nvPr/>
          </p:nvPicPr>
          <p:blipFill>
            <a:blip r:embed="rId3">
              <a:extLst>
                <a:ext uri="{28A0092B-C50C-407E-A947-70E740481C1C}">
                  <a14:useLocalDpi xmlns:a14="http://schemas.microsoft.com/office/drawing/2010/main" val="0"/>
                </a:ext>
              </a:extLst>
            </a:blip>
            <a:srcRect l="6429" r="4286" b="22678"/>
            <a:stretch>
              <a:fillRect/>
            </a:stretch>
          </p:blipFill>
          <p:spPr bwMode="auto">
            <a:xfrm>
              <a:off x="4205" y="777"/>
              <a:ext cx="1286" cy="168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73414" name="Text Box 5"/>
            <p:cNvSpPr txBox="1">
              <a:spLocks noChangeArrowheads="1"/>
            </p:cNvSpPr>
            <p:nvPr/>
          </p:nvSpPr>
          <p:spPr bwMode="auto">
            <a:xfrm>
              <a:off x="4161" y="2498"/>
              <a:ext cx="139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en-US" sz="2500" i="1">
                  <a:solidFill>
                    <a:srgbClr val="0066CC"/>
                  </a:solidFill>
                  <a:cs typeface="Arial" panose="020B0604020202020204" pitchFamily="34" charset="0"/>
                </a:rPr>
                <a:t>Hear Spot bark.</a:t>
              </a:r>
            </a:p>
          </p:txBody>
        </p:sp>
      </p:grpSp>
    </p:spTree>
    <p:extLst>
      <p:ext uri="{BB962C8B-B14F-4D97-AF65-F5344CB8AC3E}">
        <p14:creationId xmlns:p14="http://schemas.microsoft.com/office/powerpoint/2010/main" val="33987113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5458" name="Rectangle 2"/>
          <p:cNvSpPr>
            <a:spLocks noGrp="1" noChangeArrowheads="1"/>
          </p:cNvSpPr>
          <p:nvPr>
            <p:ph type="title" idx="4294967295"/>
          </p:nvPr>
        </p:nvSpPr>
        <p:spPr>
          <a:xfrm>
            <a:off x="897369" y="44624"/>
            <a:ext cx="8211135" cy="630110"/>
          </a:xfrm>
        </p:spPr>
        <p:txBody>
          <a:bodyPr/>
          <a:lstStyle/>
          <a:p>
            <a:r>
              <a:rPr lang="en-US" altLang="en-US" sz="3700" dirty="0"/>
              <a:t>The </a:t>
            </a:r>
            <a:r>
              <a:rPr lang="en-US" altLang="en-US" sz="3700" dirty="0" err="1"/>
              <a:t>Coase</a:t>
            </a:r>
            <a:r>
              <a:rPr lang="en-US" altLang="en-US" sz="3700" dirty="0"/>
              <a:t> Theorem:  An Example</a:t>
            </a:r>
          </a:p>
        </p:txBody>
      </p:sp>
      <p:sp>
        <p:nvSpPr>
          <p:cNvPr id="275459" name="Rectangle 3"/>
          <p:cNvSpPr>
            <a:spLocks noGrp="1" noChangeArrowheads="1"/>
          </p:cNvSpPr>
          <p:nvPr>
            <p:ph type="body" idx="4294967295"/>
          </p:nvPr>
        </p:nvSpPr>
        <p:spPr>
          <a:xfrm>
            <a:off x="1020191" y="908720"/>
            <a:ext cx="8232329" cy="5472608"/>
          </a:xfrm>
        </p:spPr>
        <p:txBody>
          <a:bodyPr/>
          <a:lstStyle/>
          <a:p>
            <a:pPr marL="0" indent="0">
              <a:spcBef>
                <a:spcPct val="40000"/>
              </a:spcBef>
              <a:buNone/>
            </a:pPr>
            <a:r>
              <a:rPr lang="en-US" altLang="en-US" sz="2800" dirty="0"/>
              <a:t>CASE </a:t>
            </a:r>
            <a:r>
              <a:rPr lang="en-US" altLang="en-US" sz="2800" dirty="0" smtClean="0"/>
              <a:t>1a:  Dick </a:t>
            </a:r>
            <a:r>
              <a:rPr lang="en-US" altLang="en-US" sz="2800" dirty="0"/>
              <a:t>has the right to keep Spot.  </a:t>
            </a:r>
            <a:endParaRPr lang="en-US" altLang="en-US" sz="2800" dirty="0" smtClean="0"/>
          </a:p>
          <a:p>
            <a:pPr lvl="1">
              <a:spcBef>
                <a:spcPct val="40000"/>
              </a:spcBef>
            </a:pPr>
            <a:r>
              <a:rPr lang="en-US" altLang="en-US" sz="2800" dirty="0" smtClean="0"/>
              <a:t>Benefit </a:t>
            </a:r>
            <a:r>
              <a:rPr lang="en-US" altLang="en-US" sz="2800" dirty="0"/>
              <a:t>to Dick of having Spot = $</a:t>
            </a:r>
            <a:r>
              <a:rPr lang="en-US" altLang="en-US" sz="2800" dirty="0" smtClean="0"/>
              <a:t>500</a:t>
            </a:r>
          </a:p>
          <a:p>
            <a:pPr lvl="1">
              <a:spcBef>
                <a:spcPct val="40000"/>
              </a:spcBef>
            </a:pPr>
            <a:r>
              <a:rPr lang="en-US" altLang="en-US" sz="2800" dirty="0" smtClean="0"/>
              <a:t>Cost </a:t>
            </a:r>
            <a:r>
              <a:rPr lang="en-US" altLang="en-US" sz="2800" dirty="0"/>
              <a:t>to Jane of Spot’s barking = $800</a:t>
            </a:r>
          </a:p>
          <a:p>
            <a:pPr>
              <a:spcBef>
                <a:spcPct val="40000"/>
              </a:spcBef>
            </a:pPr>
            <a:r>
              <a:rPr lang="en-US" altLang="en-US" sz="2800" dirty="0" smtClean="0"/>
              <a:t>Jane </a:t>
            </a:r>
            <a:r>
              <a:rPr lang="en-US" altLang="en-US" sz="2800" dirty="0"/>
              <a:t>pays Dick $600 to get rid of Spot, </a:t>
            </a:r>
            <a:br>
              <a:rPr lang="en-US" altLang="en-US" sz="2800" dirty="0"/>
            </a:br>
            <a:r>
              <a:rPr lang="en-US" altLang="en-US" sz="2800" dirty="0"/>
              <a:t>both Jane and Dick are better off. </a:t>
            </a:r>
            <a:endParaRPr lang="en-US" altLang="en-US" sz="2800" dirty="0" smtClean="0"/>
          </a:p>
          <a:p>
            <a:pPr marL="0" indent="0">
              <a:spcBef>
                <a:spcPct val="40000"/>
              </a:spcBef>
              <a:buNone/>
            </a:pPr>
            <a:r>
              <a:rPr lang="en-US" altLang="en-US" sz="2800" dirty="0"/>
              <a:t>CASE </a:t>
            </a:r>
            <a:r>
              <a:rPr lang="en-US" altLang="en-US" sz="2800" dirty="0" smtClean="0"/>
              <a:t>1b:  Dick </a:t>
            </a:r>
            <a:r>
              <a:rPr lang="en-US" altLang="en-US" sz="2800" dirty="0"/>
              <a:t>has the right to keep Spot.  </a:t>
            </a:r>
            <a:endParaRPr lang="en-US" altLang="en-US" sz="2800" dirty="0" smtClean="0"/>
          </a:p>
          <a:p>
            <a:pPr lvl="1">
              <a:spcBef>
                <a:spcPct val="40000"/>
              </a:spcBef>
            </a:pPr>
            <a:r>
              <a:rPr lang="en-US" altLang="en-US" sz="2800" dirty="0" smtClean="0"/>
              <a:t>Benefit </a:t>
            </a:r>
            <a:r>
              <a:rPr lang="en-US" altLang="en-US" sz="2800" dirty="0"/>
              <a:t>to Dick of having Spot = $</a:t>
            </a:r>
            <a:r>
              <a:rPr lang="en-US" altLang="en-US" sz="2800" dirty="0" smtClean="0"/>
              <a:t>1200</a:t>
            </a:r>
          </a:p>
          <a:p>
            <a:pPr lvl="1">
              <a:spcBef>
                <a:spcPct val="40000"/>
              </a:spcBef>
            </a:pPr>
            <a:r>
              <a:rPr lang="en-US" altLang="en-US" sz="2800" dirty="0" smtClean="0"/>
              <a:t>Cost </a:t>
            </a:r>
            <a:r>
              <a:rPr lang="en-US" altLang="en-US" sz="2800" dirty="0"/>
              <a:t>to Jane of Spot’s barking = $800</a:t>
            </a:r>
          </a:p>
          <a:p>
            <a:pPr>
              <a:spcBef>
                <a:spcPct val="40000"/>
              </a:spcBef>
            </a:pPr>
            <a:r>
              <a:rPr lang="en-US" altLang="en-US" sz="2800" dirty="0" smtClean="0"/>
              <a:t>Jane cannot pay Dick enough, Spot stays.</a:t>
            </a:r>
            <a:endParaRPr lang="en-US" altLang="en-US" sz="2800" dirty="0"/>
          </a:p>
        </p:txBody>
      </p:sp>
    </p:spTree>
    <p:extLst>
      <p:ext uri="{BB962C8B-B14F-4D97-AF65-F5344CB8AC3E}">
        <p14:creationId xmlns:p14="http://schemas.microsoft.com/office/powerpoint/2010/main" val="21127701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5458" name="Rectangle 2"/>
          <p:cNvSpPr>
            <a:spLocks noGrp="1" noChangeArrowheads="1"/>
          </p:cNvSpPr>
          <p:nvPr>
            <p:ph type="title" idx="4294967295"/>
          </p:nvPr>
        </p:nvSpPr>
        <p:spPr>
          <a:xfrm>
            <a:off x="897369" y="44624"/>
            <a:ext cx="8211135" cy="630110"/>
          </a:xfrm>
        </p:spPr>
        <p:txBody>
          <a:bodyPr/>
          <a:lstStyle/>
          <a:p>
            <a:r>
              <a:rPr lang="en-US" altLang="en-US" sz="3700" dirty="0"/>
              <a:t>The </a:t>
            </a:r>
            <a:r>
              <a:rPr lang="en-US" altLang="en-US" sz="3700" dirty="0" err="1"/>
              <a:t>Coase</a:t>
            </a:r>
            <a:r>
              <a:rPr lang="en-US" altLang="en-US" sz="3700" dirty="0"/>
              <a:t> Theorem:  An Example</a:t>
            </a:r>
          </a:p>
        </p:txBody>
      </p:sp>
      <p:sp>
        <p:nvSpPr>
          <p:cNvPr id="5" name="Rectangle 4"/>
          <p:cNvSpPr>
            <a:spLocks noChangeArrowheads="1"/>
          </p:cNvSpPr>
          <p:nvPr/>
        </p:nvSpPr>
        <p:spPr bwMode="auto">
          <a:xfrm>
            <a:off x="971600" y="5733256"/>
            <a:ext cx="7992888" cy="840999"/>
          </a:xfrm>
          <a:prstGeom prst="rect">
            <a:avLst/>
          </a:prstGeom>
          <a:solidFill>
            <a:schemeClr val="accent1">
              <a:lumMod val="20000"/>
              <a:lumOff val="80000"/>
            </a:schemeClr>
          </a:solidFill>
          <a:ln w="9525">
            <a:noFill/>
            <a:miter lim="800000"/>
            <a:headEnd/>
            <a:tailEnd/>
          </a:ln>
          <a:effectLst>
            <a:outerShdw dist="71842" dir="2700000" algn="ctr" rotWithShape="0">
              <a:schemeClr val="bg2"/>
            </a:outerShdw>
          </a:effectLst>
        </p:spPr>
        <p:txBody>
          <a:bodyPr wrap="square">
            <a:spAutoFit/>
          </a:bodyPr>
          <a:lstStyle/>
          <a:p>
            <a:pPr algn="ctr">
              <a:lnSpc>
                <a:spcPct val="105000"/>
              </a:lnSpc>
              <a:spcBef>
                <a:spcPct val="40000"/>
              </a:spcBef>
              <a:buClr>
                <a:srgbClr val="00B85C"/>
              </a:buClr>
              <a:buSzPct val="120000"/>
              <a:buFont typeface="Wingdings" pitchFamily="2" charset="2"/>
              <a:buNone/>
              <a:defRPr/>
            </a:pPr>
            <a:r>
              <a:rPr lang="en-US" sz="2400" b="1" i="1" dirty="0">
                <a:effectLst>
                  <a:outerShdw blurRad="38100" dist="38100" dir="2700000" algn="tl">
                    <a:srgbClr val="FFFFFF"/>
                  </a:outerShdw>
                </a:effectLst>
                <a:latin typeface="Arial" charset="0"/>
                <a:cs typeface="Arial" charset="0"/>
              </a:rPr>
              <a:t>The private market achieves the efficient outcome regardless of the initial distribution of rights.</a:t>
            </a:r>
          </a:p>
        </p:txBody>
      </p:sp>
      <p:sp>
        <p:nvSpPr>
          <p:cNvPr id="6" name="Rectangle 3"/>
          <p:cNvSpPr txBox="1">
            <a:spLocks noChangeArrowheads="1"/>
          </p:cNvSpPr>
          <p:nvPr/>
        </p:nvSpPr>
        <p:spPr bwMode="auto">
          <a:xfrm>
            <a:off x="1092199" y="836712"/>
            <a:ext cx="7872289" cy="54726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2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ü"/>
              <a:defRPr sz="20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40000"/>
              </a:spcBef>
              <a:buNone/>
            </a:pPr>
            <a:r>
              <a:rPr lang="en-US" altLang="en-US" sz="2800" dirty="0" smtClean="0"/>
              <a:t>CASE 2a: </a:t>
            </a:r>
            <a:r>
              <a:rPr lang="en-US" altLang="en-US" sz="2800" dirty="0"/>
              <a:t>Jane has the legal right to peace &amp; quiet. </a:t>
            </a:r>
            <a:endParaRPr lang="en-US" altLang="en-US" sz="2800" dirty="0" smtClean="0"/>
          </a:p>
          <a:p>
            <a:pPr lvl="1">
              <a:spcBef>
                <a:spcPct val="40000"/>
              </a:spcBef>
            </a:pPr>
            <a:r>
              <a:rPr lang="en-US" altLang="en-US" sz="2800" dirty="0" smtClean="0"/>
              <a:t>Benefit to Dick of having Spot = $500</a:t>
            </a:r>
          </a:p>
          <a:p>
            <a:pPr lvl="1">
              <a:spcBef>
                <a:spcPct val="40000"/>
              </a:spcBef>
            </a:pPr>
            <a:r>
              <a:rPr lang="en-US" altLang="en-US" sz="2800" dirty="0" smtClean="0"/>
              <a:t>Cost to Jane of Spot’s barking = $800</a:t>
            </a:r>
          </a:p>
          <a:p>
            <a:pPr>
              <a:spcBef>
                <a:spcPct val="40000"/>
              </a:spcBef>
            </a:pPr>
            <a:r>
              <a:rPr lang="en-US" altLang="en-US" sz="2800" dirty="0" smtClean="0"/>
              <a:t>Spot is kicked out  </a:t>
            </a:r>
          </a:p>
          <a:p>
            <a:pPr marL="0" indent="0">
              <a:spcBef>
                <a:spcPct val="40000"/>
              </a:spcBef>
              <a:buNone/>
            </a:pPr>
            <a:r>
              <a:rPr lang="en-US" altLang="en-US" sz="2800" dirty="0" smtClean="0"/>
              <a:t>CASE 2b: </a:t>
            </a:r>
            <a:r>
              <a:rPr lang="en-US" altLang="en-US" sz="2800" dirty="0"/>
              <a:t>Jane has the legal right to peace &amp; quiet. </a:t>
            </a:r>
          </a:p>
          <a:p>
            <a:pPr lvl="1">
              <a:spcBef>
                <a:spcPct val="40000"/>
              </a:spcBef>
            </a:pPr>
            <a:r>
              <a:rPr lang="en-US" altLang="en-US" sz="2800" dirty="0" smtClean="0"/>
              <a:t>Benefit to Dick of having Spot = $1200</a:t>
            </a:r>
          </a:p>
          <a:p>
            <a:pPr lvl="1">
              <a:spcBef>
                <a:spcPct val="40000"/>
              </a:spcBef>
            </a:pPr>
            <a:r>
              <a:rPr lang="en-US" altLang="en-US" sz="2800" dirty="0" smtClean="0"/>
              <a:t>Cost to Jane of Spot’s barking = $800</a:t>
            </a:r>
          </a:p>
          <a:p>
            <a:pPr>
              <a:spcBef>
                <a:spcPct val="40000"/>
              </a:spcBef>
            </a:pPr>
            <a:r>
              <a:rPr lang="en-US" altLang="en-US" sz="2800" dirty="0" smtClean="0"/>
              <a:t>Dick pays Jane $600 to not sue, Spot stays.</a:t>
            </a:r>
          </a:p>
        </p:txBody>
      </p:sp>
    </p:spTree>
    <p:extLst>
      <p:ext uri="{BB962C8B-B14F-4D97-AF65-F5344CB8AC3E}">
        <p14:creationId xmlns:p14="http://schemas.microsoft.com/office/powerpoint/2010/main" val="3614364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title" idx="4294967295"/>
          </p:nvPr>
        </p:nvSpPr>
        <p:spPr>
          <a:xfrm>
            <a:off x="827584" y="95617"/>
            <a:ext cx="8136904" cy="609600"/>
          </a:xfrm>
        </p:spPr>
        <p:txBody>
          <a:bodyPr/>
          <a:lstStyle/>
          <a:p>
            <a:r>
              <a:rPr lang="en-US" dirty="0"/>
              <a:t>Private Solutions to Externalities</a:t>
            </a:r>
            <a:endParaRPr lang="en-US" b="0" dirty="0" smtClean="0"/>
          </a:p>
        </p:txBody>
      </p:sp>
      <p:sp>
        <p:nvSpPr>
          <p:cNvPr id="87045" name="Text Box 5"/>
          <p:cNvSpPr txBox="1">
            <a:spLocks noChangeArrowheads="1"/>
          </p:cNvSpPr>
          <p:nvPr/>
        </p:nvSpPr>
        <p:spPr bwMode="auto">
          <a:xfrm>
            <a:off x="971600" y="836712"/>
            <a:ext cx="7992888" cy="5693866"/>
          </a:xfrm>
          <a:prstGeom prst="rect">
            <a:avLst/>
          </a:prstGeom>
          <a:noFill/>
          <a:ln w="9525" algn="ctr">
            <a:noFill/>
            <a:miter lim="800000"/>
            <a:headEnd/>
            <a:tailEnd type="none" w="med" len="lg"/>
          </a:ln>
        </p:spPr>
        <p:txBody>
          <a:bodyPr wrap="square">
            <a:spAutoFit/>
          </a:bodyPr>
          <a:lstStyle/>
          <a:p>
            <a:pPr>
              <a:lnSpc>
                <a:spcPct val="100000"/>
              </a:lnSpc>
              <a:spcBef>
                <a:spcPts val="1200"/>
              </a:spcBef>
              <a:buClr>
                <a:schemeClr val="tx1"/>
              </a:buClr>
            </a:pPr>
            <a:r>
              <a:rPr lang="en-US" sz="2800" dirty="0"/>
              <a:t>Coase-type solutions to </a:t>
            </a:r>
            <a:r>
              <a:rPr lang="en-US" sz="2800" dirty="0" smtClean="0"/>
              <a:t>externalities are distinguished by </a:t>
            </a:r>
            <a:r>
              <a:rPr lang="en-US" sz="2800" b="1" dirty="0" smtClean="0">
                <a:solidFill>
                  <a:schemeClr val="accent2">
                    <a:lumMod val="50000"/>
                  </a:schemeClr>
                </a:solidFill>
              </a:rPr>
              <a:t>side payments </a:t>
            </a:r>
            <a:r>
              <a:rPr lang="en-US" sz="2800" dirty="0" smtClean="0"/>
              <a:t>between individuals.  Examples include:</a:t>
            </a:r>
            <a:endParaRPr lang="en-US" sz="2800" dirty="0"/>
          </a:p>
          <a:p>
            <a:pPr marL="231775" indent="-231775">
              <a:lnSpc>
                <a:spcPct val="100000"/>
              </a:lnSpc>
              <a:spcBef>
                <a:spcPts val="1200"/>
              </a:spcBef>
              <a:buClr>
                <a:schemeClr val="tx1"/>
              </a:buClr>
              <a:buFont typeface="Wingdings" pitchFamily="2" charset="2"/>
              <a:buChar char="§"/>
            </a:pPr>
            <a:r>
              <a:rPr lang="en-US" sz="2700" dirty="0" smtClean="0"/>
              <a:t>A </a:t>
            </a:r>
            <a:r>
              <a:rPr lang="en-US" sz="2700" dirty="0"/>
              <a:t>family </a:t>
            </a:r>
            <a:r>
              <a:rPr lang="en-US" sz="2700" dirty="0" smtClean="0"/>
              <a:t>gets </a:t>
            </a:r>
            <a:r>
              <a:rPr lang="en-US" sz="2700" dirty="0"/>
              <a:t>their next-door neighbor </a:t>
            </a:r>
            <a:r>
              <a:rPr lang="en-US" sz="2700" dirty="0" smtClean="0"/>
              <a:t>to </a:t>
            </a:r>
            <a:r>
              <a:rPr lang="en-US" sz="2700" dirty="0"/>
              <a:t>stop playing loud music during </a:t>
            </a:r>
            <a:r>
              <a:rPr lang="en-US" sz="2700" dirty="0" smtClean="0"/>
              <a:t>their child’s naptime, </a:t>
            </a:r>
            <a:r>
              <a:rPr lang="en-US" sz="2700" dirty="0"/>
              <a:t>in exchange </a:t>
            </a:r>
            <a:r>
              <a:rPr lang="en-US" sz="2700" dirty="0" smtClean="0"/>
              <a:t>they </a:t>
            </a:r>
            <a:r>
              <a:rPr lang="en-US" sz="2700" dirty="0"/>
              <a:t>cook lunch </a:t>
            </a:r>
            <a:r>
              <a:rPr lang="en-US" sz="2700" dirty="0" smtClean="0"/>
              <a:t>for the neighbor.</a:t>
            </a:r>
            <a:endParaRPr lang="en-US" sz="2700" dirty="0"/>
          </a:p>
          <a:p>
            <a:pPr marL="231775" indent="-231775">
              <a:spcBef>
                <a:spcPts val="1200"/>
              </a:spcBef>
              <a:buClr>
                <a:schemeClr val="tx1"/>
              </a:buClr>
              <a:buFont typeface="Wingdings" pitchFamily="2" charset="2"/>
              <a:buChar char="§"/>
            </a:pPr>
            <a:r>
              <a:rPr lang="en-US" sz="2700" dirty="0" smtClean="0"/>
              <a:t>In </a:t>
            </a:r>
            <a:r>
              <a:rPr lang="en-US" sz="2700" dirty="0"/>
              <a:t>order to improve their air </a:t>
            </a:r>
            <a:r>
              <a:rPr lang="en-US" sz="2700" dirty="0" smtClean="0"/>
              <a:t>quality, a town agrees to pay for the installation of water scrubbers in a nearby electricity generation plant.</a:t>
            </a:r>
          </a:p>
          <a:p>
            <a:pPr marL="231775" indent="-231775">
              <a:lnSpc>
                <a:spcPct val="100000"/>
              </a:lnSpc>
              <a:spcBef>
                <a:spcPts val="1200"/>
              </a:spcBef>
              <a:buClr>
                <a:schemeClr val="tx1"/>
              </a:buClr>
              <a:buFont typeface="Wingdings" pitchFamily="2" charset="2"/>
              <a:buChar char="§"/>
            </a:pPr>
            <a:r>
              <a:rPr lang="en-US" sz="2700" dirty="0" smtClean="0"/>
              <a:t>Owners of fruit orchards pay beekeepers </a:t>
            </a:r>
            <a:br>
              <a:rPr lang="en-US" sz="2700" dirty="0" smtClean="0"/>
            </a:br>
            <a:r>
              <a:rPr lang="en-US" sz="2700" dirty="0" smtClean="0"/>
              <a:t>to house their bee colonies nearby </a:t>
            </a:r>
            <a:br>
              <a:rPr lang="en-US" sz="2700" dirty="0" smtClean="0"/>
            </a:br>
            <a:r>
              <a:rPr lang="en-US" sz="2700" dirty="0" smtClean="0"/>
              <a:t>to provide pollination services. </a:t>
            </a:r>
            <a:endParaRPr lang="en-US" sz="2700" b="1" dirty="0"/>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5037901"/>
            <a:ext cx="2133600" cy="161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377590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idx="4294967295"/>
          </p:nvPr>
        </p:nvSpPr>
        <p:spPr>
          <a:xfrm>
            <a:off x="899592" y="88290"/>
            <a:ext cx="8015808" cy="595312"/>
          </a:xfrm>
        </p:spPr>
        <p:txBody>
          <a:bodyPr/>
          <a:lstStyle/>
          <a:p>
            <a:pPr algn="l"/>
            <a:r>
              <a:rPr lang="en-US" dirty="0" smtClean="0"/>
              <a:t>Private Solutions to Externalities</a:t>
            </a:r>
          </a:p>
        </p:txBody>
      </p:sp>
      <p:sp>
        <p:nvSpPr>
          <p:cNvPr id="84997" name="Text Box 5"/>
          <p:cNvSpPr txBox="1">
            <a:spLocks noChangeArrowheads="1"/>
          </p:cNvSpPr>
          <p:nvPr/>
        </p:nvSpPr>
        <p:spPr bwMode="auto">
          <a:xfrm>
            <a:off x="827584" y="920909"/>
            <a:ext cx="8136904" cy="5478423"/>
          </a:xfrm>
          <a:prstGeom prst="rect">
            <a:avLst/>
          </a:prstGeom>
          <a:noFill/>
          <a:ln w="9525" algn="ctr">
            <a:noFill/>
            <a:miter lim="800000"/>
            <a:headEnd/>
            <a:tailEnd type="none" w="med" len="lg"/>
          </a:ln>
        </p:spPr>
        <p:txBody>
          <a:bodyPr wrap="square">
            <a:spAutoFit/>
          </a:bodyPr>
          <a:lstStyle/>
          <a:p>
            <a:pPr marL="231775" indent="-231775">
              <a:lnSpc>
                <a:spcPct val="100000"/>
              </a:lnSpc>
              <a:spcBef>
                <a:spcPts val="1200"/>
              </a:spcBef>
              <a:buClr>
                <a:schemeClr val="tx1"/>
              </a:buClr>
              <a:buFont typeface="Arial" pitchFamily="34" charset="0"/>
              <a:buChar char="•"/>
            </a:pPr>
            <a:r>
              <a:rPr lang="en-US" sz="2500" dirty="0" smtClean="0"/>
              <a:t>When </a:t>
            </a:r>
            <a:r>
              <a:rPr lang="en-US" sz="2500" dirty="0"/>
              <a:t>individuals </a:t>
            </a:r>
            <a:r>
              <a:rPr lang="en-US" sz="2500" i="1" dirty="0"/>
              <a:t>do </a:t>
            </a:r>
            <a:r>
              <a:rPr lang="en-US" sz="2500" dirty="0"/>
              <a:t>take externalities into account, economists say that they </a:t>
            </a:r>
            <a:r>
              <a:rPr lang="en-US" sz="2500" b="1" dirty="0">
                <a:solidFill>
                  <a:schemeClr val="accent6">
                    <a:lumMod val="50000"/>
                  </a:schemeClr>
                </a:solidFill>
              </a:rPr>
              <a:t>internalize the externality</a:t>
            </a:r>
            <a:r>
              <a:rPr lang="en-US" sz="2500" dirty="0"/>
              <a:t>.</a:t>
            </a:r>
          </a:p>
          <a:p>
            <a:pPr marL="688975" lvl="1" indent="-231775">
              <a:spcBef>
                <a:spcPts val="1200"/>
              </a:spcBef>
              <a:buClr>
                <a:schemeClr val="tx1"/>
              </a:buClr>
              <a:buFont typeface="Arial" pitchFamily="34" charset="0"/>
              <a:buChar char="•"/>
            </a:pPr>
            <a:r>
              <a:rPr lang="en-US" sz="2500" dirty="0" smtClean="0"/>
              <a:t>However, most externalities are not internalized.</a:t>
            </a:r>
            <a:endParaRPr lang="en-US" sz="2500" dirty="0"/>
          </a:p>
          <a:p>
            <a:pPr marL="231775" indent="-231775">
              <a:lnSpc>
                <a:spcPct val="100000"/>
              </a:lnSpc>
              <a:spcBef>
                <a:spcPts val="1200"/>
              </a:spcBef>
              <a:buClr>
                <a:schemeClr val="tx1"/>
              </a:buClr>
              <a:buFont typeface="Arial" pitchFamily="34" charset="0"/>
              <a:buChar char="•"/>
            </a:pPr>
            <a:r>
              <a:rPr lang="en-US" sz="2500" dirty="0" smtClean="0"/>
              <a:t>Transaction </a:t>
            </a:r>
            <a:r>
              <a:rPr lang="en-US" sz="2500" dirty="0"/>
              <a:t>costs prevent individuals from making efficient deals</a:t>
            </a:r>
            <a:r>
              <a:rPr lang="en-US" sz="2500" dirty="0" smtClean="0"/>
              <a:t>. Examples </a:t>
            </a:r>
            <a:r>
              <a:rPr lang="en-US" sz="2500" dirty="0"/>
              <a:t>of transaction costs </a:t>
            </a:r>
            <a:r>
              <a:rPr lang="en-US" sz="2500" dirty="0" smtClean="0"/>
              <a:t>include:</a:t>
            </a:r>
            <a:endParaRPr lang="en-US" sz="2500" dirty="0"/>
          </a:p>
          <a:p>
            <a:pPr marL="688975" lvl="1" indent="-231775">
              <a:spcBef>
                <a:spcPts val="1200"/>
              </a:spcBef>
              <a:buClr>
                <a:schemeClr val="tx1"/>
              </a:buClr>
              <a:buFont typeface="Arial" pitchFamily="34" charset="0"/>
              <a:buChar char="•"/>
            </a:pPr>
            <a:r>
              <a:rPr lang="en-US" sz="2500" dirty="0" smtClean="0"/>
              <a:t>Costs </a:t>
            </a:r>
            <a:r>
              <a:rPr lang="en-US" sz="2500" dirty="0"/>
              <a:t>of communication among the interested </a:t>
            </a:r>
            <a:r>
              <a:rPr lang="en-US" sz="2500" dirty="0" smtClean="0"/>
              <a:t>parties </a:t>
            </a:r>
            <a:br>
              <a:rPr lang="en-US" sz="2500" dirty="0" smtClean="0"/>
            </a:br>
            <a:r>
              <a:rPr lang="en-US" sz="2500" dirty="0" smtClean="0"/>
              <a:t>—costs may </a:t>
            </a:r>
            <a:r>
              <a:rPr lang="en-US" sz="2500" dirty="0"/>
              <a:t>be very high if many people are </a:t>
            </a:r>
            <a:r>
              <a:rPr lang="en-US" sz="2500" dirty="0" smtClean="0"/>
              <a:t>involved</a:t>
            </a:r>
          </a:p>
          <a:p>
            <a:pPr marL="688975" lvl="1" indent="-231775">
              <a:spcBef>
                <a:spcPts val="1200"/>
              </a:spcBef>
              <a:buClr>
                <a:schemeClr val="tx1"/>
              </a:buClr>
              <a:buFont typeface="Arial" pitchFamily="34" charset="0"/>
              <a:buChar char="•"/>
            </a:pPr>
            <a:r>
              <a:rPr lang="en-US" sz="2500" dirty="0" smtClean="0"/>
              <a:t>The </a:t>
            </a:r>
            <a:r>
              <a:rPr lang="en-US" sz="2500" dirty="0"/>
              <a:t>costs of making legally binding agreements </a:t>
            </a:r>
            <a:r>
              <a:rPr lang="en-US" sz="2500" dirty="0" smtClean="0"/>
              <a:t>may </a:t>
            </a:r>
            <a:r>
              <a:rPr lang="en-US" sz="2500" dirty="0"/>
              <a:t>be </a:t>
            </a:r>
            <a:r>
              <a:rPr lang="en-US" sz="2500" dirty="0" smtClean="0"/>
              <a:t>high, especially  </a:t>
            </a:r>
            <a:r>
              <a:rPr lang="en-US" sz="2500" dirty="0"/>
              <a:t>if </a:t>
            </a:r>
            <a:r>
              <a:rPr lang="en-US" sz="2500" dirty="0" smtClean="0"/>
              <a:t>it requires expensive </a:t>
            </a:r>
            <a:r>
              <a:rPr lang="en-US" sz="2500" dirty="0"/>
              <a:t>legal </a:t>
            </a:r>
            <a:r>
              <a:rPr lang="en-US" sz="2500" dirty="0" smtClean="0"/>
              <a:t>services</a:t>
            </a:r>
            <a:endParaRPr lang="en-US" sz="2500" dirty="0"/>
          </a:p>
          <a:p>
            <a:pPr marL="688975" lvl="1" indent="-231775">
              <a:spcBef>
                <a:spcPts val="1200"/>
              </a:spcBef>
              <a:buClr>
                <a:schemeClr val="tx1"/>
              </a:buClr>
              <a:buFont typeface="Arial" pitchFamily="34" charset="0"/>
              <a:buChar char="•"/>
            </a:pPr>
            <a:r>
              <a:rPr lang="en-US" sz="2500" dirty="0" smtClean="0"/>
              <a:t>Costly bargaining—even </a:t>
            </a:r>
            <a:r>
              <a:rPr lang="en-US" sz="2500" dirty="0"/>
              <a:t>if there is a potentially beneficial deal, both sides may hold out </a:t>
            </a:r>
            <a:r>
              <a:rPr lang="en-US" sz="2500" dirty="0" smtClean="0"/>
              <a:t>to try to extract </a:t>
            </a:r>
            <a:r>
              <a:rPr lang="en-US" sz="2500" dirty="0"/>
              <a:t>more favorable terms, leading to increased </a:t>
            </a:r>
            <a:r>
              <a:rPr lang="en-US" sz="2500" dirty="0" smtClean="0"/>
              <a:t>costs</a:t>
            </a:r>
            <a:endParaRPr lang="en-US" sz="2500" dirty="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40342"/>
            <a:ext cx="7920880" cy="578224"/>
          </a:xfrm>
        </p:spPr>
        <p:txBody>
          <a:bodyPr/>
          <a:lstStyle/>
          <a:p>
            <a:r>
              <a:rPr lang="en-US" dirty="0" smtClean="0"/>
              <a:t>Summary</a:t>
            </a:r>
            <a:endParaRPr lang="en-US" dirty="0"/>
          </a:p>
        </p:txBody>
      </p:sp>
      <p:sp>
        <p:nvSpPr>
          <p:cNvPr id="855042" name="Rectangle 2"/>
          <p:cNvSpPr>
            <a:spLocks noGrp="1" noChangeArrowheads="1"/>
          </p:cNvSpPr>
          <p:nvPr>
            <p:ph idx="1"/>
          </p:nvPr>
        </p:nvSpPr>
        <p:spPr>
          <a:xfrm>
            <a:off x="887506" y="922744"/>
            <a:ext cx="8076982" cy="5386576"/>
          </a:xfrm>
        </p:spPr>
        <p:txBody>
          <a:bodyPr/>
          <a:lstStyle/>
          <a:p>
            <a:pPr marL="463550" indent="-463550">
              <a:buFontTx/>
              <a:buAutoNum type="arabicPeriod"/>
            </a:pPr>
            <a:r>
              <a:rPr lang="tr-TR" sz="2400" dirty="0" smtClean="0"/>
              <a:t>When pollution can be directly observed and controlled,</a:t>
            </a:r>
            <a:r>
              <a:rPr lang="en-US" sz="2400" dirty="0" smtClean="0"/>
              <a:t> </a:t>
            </a:r>
            <a:r>
              <a:rPr lang="tr-TR" sz="2400" dirty="0" smtClean="0"/>
              <a:t>government policies should be geared directly to producing</a:t>
            </a:r>
            <a:r>
              <a:rPr lang="en-US" sz="2400" dirty="0" smtClean="0"/>
              <a:t> </a:t>
            </a:r>
            <a:r>
              <a:rPr lang="tr-TR" sz="2400" dirty="0" smtClean="0"/>
              <a:t>the </a:t>
            </a:r>
            <a:r>
              <a:rPr lang="tr-TR" sz="2400" b="1" dirty="0" smtClean="0"/>
              <a:t>socially optimal quantity of pollution</a:t>
            </a:r>
            <a:r>
              <a:rPr lang="tr-TR" sz="2400" dirty="0" smtClean="0"/>
              <a:t>, the</a:t>
            </a:r>
            <a:r>
              <a:rPr lang="en-US" sz="2400" dirty="0" smtClean="0"/>
              <a:t> </a:t>
            </a:r>
            <a:r>
              <a:rPr lang="tr-TR" sz="2400" dirty="0" smtClean="0"/>
              <a:t>quantity at which the </a:t>
            </a:r>
            <a:r>
              <a:rPr lang="tr-TR" sz="2400" b="1" dirty="0" smtClean="0"/>
              <a:t>marginal social cost of pollution</a:t>
            </a:r>
            <a:r>
              <a:rPr lang="en-US" sz="2400" b="1" dirty="0" smtClean="0"/>
              <a:t> </a:t>
            </a:r>
            <a:r>
              <a:rPr lang="tr-TR" sz="2400" dirty="0" smtClean="0"/>
              <a:t>is equal to the </a:t>
            </a:r>
            <a:r>
              <a:rPr lang="tr-TR" sz="2400" b="1" dirty="0" smtClean="0"/>
              <a:t>marginal social benefit of pollution</a:t>
            </a:r>
            <a:r>
              <a:rPr lang="tr-TR" sz="2400" dirty="0" smtClean="0"/>
              <a:t>.</a:t>
            </a:r>
            <a:r>
              <a:rPr lang="en-US" sz="2400" b="1" dirty="0" smtClean="0"/>
              <a:t> </a:t>
            </a:r>
            <a:br>
              <a:rPr lang="en-US" sz="2400" b="1" dirty="0" smtClean="0"/>
            </a:br>
            <a:endParaRPr lang="tr-TR" sz="2400" dirty="0" smtClean="0"/>
          </a:p>
          <a:p>
            <a:pPr marL="463550" indent="-463550">
              <a:buFontTx/>
              <a:buAutoNum type="arabicPeriod"/>
            </a:pPr>
            <a:r>
              <a:rPr lang="tr-TR" sz="2400" dirty="0" smtClean="0"/>
              <a:t>The costs to society of pollution are an example of an</a:t>
            </a:r>
            <a:r>
              <a:rPr lang="en-US" sz="2400" dirty="0" smtClean="0"/>
              <a:t> </a:t>
            </a:r>
            <a:r>
              <a:rPr lang="tr-TR" sz="2400" b="1" dirty="0" smtClean="0"/>
              <a:t>external cost</a:t>
            </a:r>
            <a:r>
              <a:rPr lang="tr-TR" sz="2400" dirty="0" smtClean="0"/>
              <a:t>;</a:t>
            </a:r>
            <a:r>
              <a:rPr lang="tr-TR" sz="2400" b="1" dirty="0" smtClean="0"/>
              <a:t> </a:t>
            </a:r>
            <a:r>
              <a:rPr lang="tr-TR" sz="2400" dirty="0" smtClean="0"/>
              <a:t>in some cases, however, economic activities</a:t>
            </a:r>
            <a:r>
              <a:rPr lang="en-US" sz="2400" dirty="0" smtClean="0"/>
              <a:t> </a:t>
            </a:r>
            <a:r>
              <a:rPr lang="tr-TR" sz="2400" dirty="0" smtClean="0"/>
              <a:t>yield </a:t>
            </a:r>
            <a:r>
              <a:rPr lang="tr-TR" sz="2400" b="1" dirty="0" smtClean="0"/>
              <a:t>external benefits</a:t>
            </a:r>
            <a:r>
              <a:rPr lang="tr-TR" sz="2400" dirty="0" smtClean="0"/>
              <a:t>.</a:t>
            </a:r>
            <a:r>
              <a:rPr lang="tr-TR" sz="2400" b="1" dirty="0" smtClean="0"/>
              <a:t> </a:t>
            </a:r>
            <a:r>
              <a:rPr lang="tr-TR" sz="2400" dirty="0" smtClean="0"/>
              <a:t>External costs and benefits</a:t>
            </a:r>
            <a:r>
              <a:rPr lang="en-US" sz="2400" dirty="0" smtClean="0"/>
              <a:t> </a:t>
            </a:r>
            <a:r>
              <a:rPr lang="tr-TR" sz="2400" dirty="0" smtClean="0"/>
              <a:t>are jointly known as </a:t>
            </a:r>
            <a:r>
              <a:rPr lang="tr-TR" sz="2400" b="1" dirty="0" smtClean="0"/>
              <a:t>externalities</a:t>
            </a:r>
            <a:r>
              <a:rPr lang="tr-TR" sz="2400" dirty="0" smtClean="0"/>
              <a:t>,</a:t>
            </a:r>
            <a:r>
              <a:rPr lang="tr-TR" sz="2400" b="1" dirty="0" smtClean="0"/>
              <a:t> </a:t>
            </a:r>
            <a:r>
              <a:rPr lang="tr-TR" sz="2400" dirty="0" smtClean="0"/>
              <a:t>with external costs</a:t>
            </a:r>
            <a:r>
              <a:rPr lang="en-US" sz="2400" dirty="0" smtClean="0"/>
              <a:t> </a:t>
            </a:r>
            <a:r>
              <a:rPr lang="tr-TR" sz="2400" dirty="0" smtClean="0"/>
              <a:t>called </a:t>
            </a:r>
            <a:r>
              <a:rPr lang="tr-TR" sz="2400" b="1" dirty="0" smtClean="0"/>
              <a:t>negative externalities </a:t>
            </a:r>
            <a:r>
              <a:rPr lang="tr-TR" sz="2400" dirty="0" smtClean="0"/>
              <a:t>and external benefits</a:t>
            </a:r>
            <a:r>
              <a:rPr lang="en-US" sz="2400" dirty="0" smtClean="0"/>
              <a:t> </a:t>
            </a:r>
            <a:r>
              <a:rPr lang="tr-TR" sz="2400" dirty="0" smtClean="0"/>
              <a:t>called </a:t>
            </a:r>
            <a:r>
              <a:rPr lang="tr-TR" sz="2400" b="1" dirty="0" smtClean="0"/>
              <a:t>positive externalities</a:t>
            </a:r>
            <a:r>
              <a:rPr lang="tr-TR" sz="2400" dirty="0" smtClean="0"/>
              <a:t>.</a:t>
            </a:r>
            <a:endParaRPr 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5042">
                                            <p:txEl>
                                              <p:pRg st="0" end="0"/>
                                            </p:txEl>
                                          </p:spTgt>
                                        </p:tgtEl>
                                        <p:attrNameLst>
                                          <p:attrName>style.visibility</p:attrName>
                                        </p:attrNameLst>
                                      </p:cBhvr>
                                      <p:to>
                                        <p:strVal val="visible"/>
                                      </p:to>
                                    </p:set>
                                    <p:animEffect transition="in" filter="wipe(left)">
                                      <p:cBhvr>
                                        <p:cTn id="7" dur="500"/>
                                        <p:tgtEl>
                                          <p:spTgt spid="8550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5042">
                                            <p:txEl>
                                              <p:pRg st="1" end="1"/>
                                            </p:txEl>
                                          </p:spTgt>
                                        </p:tgtEl>
                                        <p:attrNameLst>
                                          <p:attrName>style.visibility</p:attrName>
                                        </p:attrNameLst>
                                      </p:cBhvr>
                                      <p:to>
                                        <p:strVal val="visible"/>
                                      </p:to>
                                    </p:set>
                                    <p:animEffect transition="in" filter="wipe(left)">
                                      <p:cBhvr>
                                        <p:cTn id="12" dur="500"/>
                                        <p:tgtEl>
                                          <p:spTgt spid="8550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40342"/>
            <a:ext cx="7920880" cy="578224"/>
          </a:xfrm>
        </p:spPr>
        <p:txBody>
          <a:bodyPr/>
          <a:lstStyle/>
          <a:p>
            <a:r>
              <a:rPr lang="en-US" dirty="0" smtClean="0"/>
              <a:t>Summary</a:t>
            </a:r>
            <a:endParaRPr lang="en-US" dirty="0"/>
          </a:p>
        </p:txBody>
      </p:sp>
      <p:sp>
        <p:nvSpPr>
          <p:cNvPr id="856066" name="Rectangle 2"/>
          <p:cNvSpPr>
            <a:spLocks noGrp="1" noChangeArrowheads="1"/>
          </p:cNvSpPr>
          <p:nvPr>
            <p:ph idx="1"/>
          </p:nvPr>
        </p:nvSpPr>
        <p:spPr>
          <a:xfrm>
            <a:off x="899592" y="994752"/>
            <a:ext cx="8064896" cy="5386576"/>
          </a:xfrm>
        </p:spPr>
        <p:txBody>
          <a:bodyPr/>
          <a:lstStyle/>
          <a:p>
            <a:pPr marL="463550" indent="-463550">
              <a:buFontTx/>
              <a:buAutoNum type="arabicPeriod" startAt="3"/>
            </a:pPr>
            <a:r>
              <a:rPr lang="tr-TR" sz="2400" dirty="0" smtClean="0"/>
              <a:t>According to the </a:t>
            </a:r>
            <a:r>
              <a:rPr lang="tr-TR" sz="2400" b="1" dirty="0" smtClean="0"/>
              <a:t>Coase theorem</a:t>
            </a:r>
            <a:r>
              <a:rPr lang="tr-TR" sz="2400" dirty="0" smtClean="0"/>
              <a:t>,</a:t>
            </a:r>
            <a:r>
              <a:rPr lang="tr-TR" sz="2400" b="1" dirty="0" smtClean="0"/>
              <a:t> </a:t>
            </a:r>
            <a:r>
              <a:rPr lang="tr-TR" sz="2400" dirty="0" smtClean="0"/>
              <a:t>individuals can find a</a:t>
            </a:r>
            <a:r>
              <a:rPr lang="en-US" sz="2400" dirty="0" smtClean="0"/>
              <a:t> </a:t>
            </a:r>
            <a:r>
              <a:rPr lang="tr-TR" sz="2400" dirty="0" smtClean="0"/>
              <a:t>way to </a:t>
            </a:r>
            <a:r>
              <a:rPr lang="tr-TR" sz="2400" b="1" dirty="0" smtClean="0"/>
              <a:t>internalize the externality</a:t>
            </a:r>
            <a:r>
              <a:rPr lang="tr-TR" sz="2400" dirty="0" smtClean="0"/>
              <a:t>,</a:t>
            </a:r>
            <a:r>
              <a:rPr lang="tr-TR" sz="2400" b="1" dirty="0" smtClean="0"/>
              <a:t> </a:t>
            </a:r>
            <a:r>
              <a:rPr lang="tr-TR" sz="2400" dirty="0" smtClean="0"/>
              <a:t>making government</a:t>
            </a:r>
            <a:r>
              <a:rPr lang="en-US" sz="2400" dirty="0" smtClean="0"/>
              <a:t> </a:t>
            </a:r>
            <a:r>
              <a:rPr lang="tr-TR" sz="2400" dirty="0" smtClean="0"/>
              <a:t>intervention unnecessary, as long as </a:t>
            </a:r>
            <a:r>
              <a:rPr lang="tr-TR" sz="2400" b="1" dirty="0" smtClean="0"/>
              <a:t>transaction costs</a:t>
            </a:r>
            <a:r>
              <a:rPr lang="tr-TR" sz="2400" dirty="0" smtClean="0"/>
              <a:t>—the costs of making a deal—are sufficiently low.</a:t>
            </a:r>
            <a:r>
              <a:rPr lang="en-US" sz="2400" dirty="0" smtClean="0"/>
              <a:t/>
            </a:r>
            <a:br>
              <a:rPr lang="en-US" sz="2400" dirty="0" smtClean="0"/>
            </a:br>
            <a:endParaRPr lang="tr-TR" sz="2400" dirty="0" smtClean="0"/>
          </a:p>
          <a:p>
            <a:pPr marL="463550" indent="-463550">
              <a:spcBef>
                <a:spcPct val="0"/>
              </a:spcBef>
              <a:buFontTx/>
              <a:buAutoNum type="arabicPeriod" startAt="3"/>
            </a:pPr>
            <a:r>
              <a:rPr lang="tr-TR" sz="2400" dirty="0" smtClean="0"/>
              <a:t>Governments often deal with pollution by imposing</a:t>
            </a:r>
            <a:r>
              <a:rPr lang="en-US" sz="2400" dirty="0" smtClean="0"/>
              <a:t> </a:t>
            </a:r>
            <a:r>
              <a:rPr lang="tr-TR" sz="2400" b="1" dirty="0" smtClean="0"/>
              <a:t>environmental standards</a:t>
            </a:r>
            <a:r>
              <a:rPr lang="tr-TR" sz="2400" dirty="0" smtClean="0"/>
              <a:t>,</a:t>
            </a:r>
            <a:r>
              <a:rPr lang="tr-TR" sz="2400" b="1" dirty="0" smtClean="0"/>
              <a:t> </a:t>
            </a:r>
            <a:r>
              <a:rPr lang="tr-TR" sz="2400" dirty="0" smtClean="0"/>
              <a:t>a method, economists argue,</a:t>
            </a:r>
            <a:r>
              <a:rPr lang="en-US" sz="2400" dirty="0" smtClean="0"/>
              <a:t> </a:t>
            </a:r>
            <a:r>
              <a:rPr lang="tr-TR" sz="2400" dirty="0" smtClean="0"/>
              <a:t>that is usually an inefficient way to reduce pollution.</a:t>
            </a:r>
            <a:r>
              <a:rPr lang="en-US" sz="2400" dirty="0" smtClean="0"/>
              <a:t> </a:t>
            </a:r>
            <a:r>
              <a:rPr lang="tr-TR" sz="2400" dirty="0" smtClean="0"/>
              <a:t>Two efficient (cost-minimizing) methods for reducing</a:t>
            </a:r>
            <a:r>
              <a:rPr lang="en-US" sz="2400" dirty="0" smtClean="0"/>
              <a:t> </a:t>
            </a:r>
            <a:r>
              <a:rPr lang="tr-TR" sz="2400" dirty="0" smtClean="0"/>
              <a:t>pollution are </a:t>
            </a:r>
            <a:r>
              <a:rPr lang="tr-TR" sz="2400" b="1" dirty="0" smtClean="0"/>
              <a:t>emissions taxes</a:t>
            </a:r>
            <a:r>
              <a:rPr lang="tr-TR" sz="2400" dirty="0" smtClean="0"/>
              <a:t>,</a:t>
            </a:r>
            <a:r>
              <a:rPr lang="tr-TR" sz="2400" b="1" dirty="0" smtClean="0"/>
              <a:t> </a:t>
            </a:r>
            <a:r>
              <a:rPr lang="tr-TR" sz="2400" dirty="0" smtClean="0"/>
              <a:t>a form of </a:t>
            </a:r>
            <a:r>
              <a:rPr lang="tr-TR" sz="2400" b="1" dirty="0" smtClean="0"/>
              <a:t>Pigouvian tax</a:t>
            </a:r>
            <a:r>
              <a:rPr lang="tr-TR" sz="2400" dirty="0" smtClean="0"/>
              <a:t>,</a:t>
            </a:r>
            <a:r>
              <a:rPr lang="en-US" sz="2400" b="1" dirty="0" smtClean="0"/>
              <a:t> </a:t>
            </a:r>
            <a:r>
              <a:rPr lang="tr-TR" sz="2400" dirty="0" smtClean="0"/>
              <a:t>and </a:t>
            </a:r>
            <a:r>
              <a:rPr lang="tr-TR" sz="2400" b="1" dirty="0" smtClean="0"/>
              <a:t>tradable emissions permits</a:t>
            </a:r>
            <a:r>
              <a:rPr lang="tr-TR" sz="2400" dirty="0" smtClean="0"/>
              <a:t>. The optimal Pigouvian tax on pollution is equal to its marginal social cost at the socially optimal quantity of pollution.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6066">
                                            <p:txEl>
                                              <p:pRg st="0" end="0"/>
                                            </p:txEl>
                                          </p:spTgt>
                                        </p:tgtEl>
                                        <p:attrNameLst>
                                          <p:attrName>style.visibility</p:attrName>
                                        </p:attrNameLst>
                                      </p:cBhvr>
                                      <p:to>
                                        <p:strVal val="visible"/>
                                      </p:to>
                                    </p:set>
                                    <p:animEffect transition="in" filter="wipe(left)">
                                      <p:cBhvr>
                                        <p:cTn id="7" dur="500"/>
                                        <p:tgtEl>
                                          <p:spTgt spid="8560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6066">
                                            <p:txEl>
                                              <p:pRg st="1" end="1"/>
                                            </p:txEl>
                                          </p:spTgt>
                                        </p:tgtEl>
                                        <p:attrNameLst>
                                          <p:attrName>style.visibility</p:attrName>
                                        </p:attrNameLst>
                                      </p:cBhvr>
                                      <p:to>
                                        <p:strVal val="visible"/>
                                      </p:to>
                                    </p:set>
                                    <p:animEffect transition="in" filter="wipe(left)">
                                      <p:cBhvr>
                                        <p:cTn id="12" dur="500"/>
                                        <p:tgtEl>
                                          <p:spTgt spid="85606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99593" y="40342"/>
            <a:ext cx="8064896" cy="578224"/>
          </a:xfrm>
        </p:spPr>
        <p:txBody>
          <a:bodyPr/>
          <a:lstStyle/>
          <a:p>
            <a:r>
              <a:rPr lang="en-US" dirty="0" smtClean="0"/>
              <a:t>Summary</a:t>
            </a:r>
            <a:endParaRPr lang="en-US" dirty="0"/>
          </a:p>
        </p:txBody>
      </p:sp>
      <p:sp>
        <p:nvSpPr>
          <p:cNvPr id="858114" name="Rectangle 2"/>
          <p:cNvSpPr>
            <a:spLocks noGrp="1" noChangeArrowheads="1"/>
          </p:cNvSpPr>
          <p:nvPr>
            <p:ph idx="1"/>
          </p:nvPr>
        </p:nvSpPr>
        <p:spPr>
          <a:xfrm>
            <a:off x="887506" y="908720"/>
            <a:ext cx="8004974" cy="5217444"/>
          </a:xfrm>
        </p:spPr>
        <p:txBody>
          <a:bodyPr/>
          <a:lstStyle/>
          <a:p>
            <a:pPr marL="463550" indent="-463550">
              <a:spcBef>
                <a:spcPct val="0"/>
              </a:spcBef>
              <a:buFont typeface="+mj-lt"/>
              <a:buAutoNum type="arabicPeriod" startAt="5"/>
            </a:pPr>
            <a:r>
              <a:rPr lang="tr-TR" sz="2400" dirty="0" smtClean="0"/>
              <a:t>When a good or activity yields external benefits, such as</a:t>
            </a:r>
            <a:r>
              <a:rPr lang="en-US" sz="2400" dirty="0" smtClean="0"/>
              <a:t> </a:t>
            </a:r>
            <a:r>
              <a:rPr lang="tr-TR" sz="2400" b="1" dirty="0" smtClean="0"/>
              <a:t>technology spillovers</a:t>
            </a:r>
            <a:r>
              <a:rPr lang="tr-TR" sz="2400" dirty="0" smtClean="0"/>
              <a:t>,</a:t>
            </a:r>
            <a:r>
              <a:rPr lang="tr-TR" sz="2400" b="1" dirty="0" smtClean="0"/>
              <a:t> </a:t>
            </a:r>
            <a:r>
              <a:rPr lang="tr-TR" sz="2400" dirty="0" smtClean="0"/>
              <a:t>the </a:t>
            </a:r>
            <a:r>
              <a:rPr lang="tr-TR" sz="2400" b="1" dirty="0" smtClean="0"/>
              <a:t>marginal social benefit of</a:t>
            </a:r>
            <a:r>
              <a:rPr lang="en-US" sz="2400" b="1" dirty="0" smtClean="0"/>
              <a:t> </a:t>
            </a:r>
            <a:r>
              <a:rPr lang="tr-TR" sz="2400" b="1" dirty="0" smtClean="0"/>
              <a:t>the good or activity </a:t>
            </a:r>
            <a:r>
              <a:rPr lang="tr-TR" sz="2400" dirty="0" smtClean="0"/>
              <a:t>is equal to the marginal benefit</a:t>
            </a:r>
            <a:r>
              <a:rPr lang="en-US" sz="2400" dirty="0" smtClean="0"/>
              <a:t> </a:t>
            </a:r>
            <a:r>
              <a:rPr lang="tr-TR" sz="2400" dirty="0" smtClean="0"/>
              <a:t>accruing to consumers plus its marginal external benefit.</a:t>
            </a:r>
            <a:r>
              <a:rPr lang="en-US" sz="2400" dirty="0" smtClean="0"/>
              <a:t> </a:t>
            </a:r>
            <a:br>
              <a:rPr lang="en-US" sz="2400" dirty="0" smtClean="0"/>
            </a:br>
            <a:r>
              <a:rPr lang="en-US" sz="2400" dirty="0" smtClean="0"/>
              <a:t/>
            </a:r>
            <a:br>
              <a:rPr lang="en-US" sz="2400" dirty="0" smtClean="0"/>
            </a:br>
            <a:r>
              <a:rPr lang="tr-TR" sz="2400" dirty="0" smtClean="0"/>
              <a:t>Without government intervention, the market produces</a:t>
            </a:r>
            <a:r>
              <a:rPr lang="en-US" sz="2400" dirty="0" smtClean="0"/>
              <a:t> </a:t>
            </a:r>
            <a:r>
              <a:rPr lang="tr-TR" sz="2400" dirty="0" smtClean="0"/>
              <a:t>too little of the good or activity. An optimal </a:t>
            </a:r>
            <a:r>
              <a:rPr lang="tr-TR" sz="2400" b="1" dirty="0" smtClean="0"/>
              <a:t>Pigouvian</a:t>
            </a:r>
            <a:r>
              <a:rPr lang="en-US" sz="2400" b="1" dirty="0" smtClean="0"/>
              <a:t> </a:t>
            </a:r>
            <a:r>
              <a:rPr lang="tr-TR" sz="2400" b="1" dirty="0" smtClean="0"/>
              <a:t>subsidy </a:t>
            </a:r>
            <a:r>
              <a:rPr lang="tr-TR" sz="2400" dirty="0" smtClean="0"/>
              <a:t>to producers, equal to the marginal external</a:t>
            </a:r>
            <a:r>
              <a:rPr lang="en-US" sz="2400" dirty="0" smtClean="0"/>
              <a:t> </a:t>
            </a:r>
            <a:r>
              <a:rPr lang="tr-TR" sz="2400" dirty="0" smtClean="0"/>
              <a:t>benefit, moves the market to the socially optimal quantity</a:t>
            </a:r>
            <a:r>
              <a:rPr lang="en-US" sz="2400" dirty="0" smtClean="0"/>
              <a:t> </a:t>
            </a:r>
            <a:r>
              <a:rPr lang="tr-TR" sz="2400" dirty="0" smtClean="0"/>
              <a:t>of production. This yields higher output and a higher price to </a:t>
            </a:r>
            <a:r>
              <a:rPr lang="en-US" sz="2400" dirty="0" smtClean="0"/>
              <a:t> </a:t>
            </a:r>
            <a:r>
              <a:rPr lang="tr-TR" sz="2400" dirty="0" smtClean="0"/>
              <a:t>producers. It is a form of </a:t>
            </a:r>
            <a:r>
              <a:rPr lang="tr-TR" sz="2400" b="1" dirty="0" smtClean="0"/>
              <a:t>industrial policy</a:t>
            </a:r>
            <a:r>
              <a:rPr lang="tr-TR" sz="2400" dirty="0" smtClean="0"/>
              <a:t>,</a:t>
            </a:r>
            <a:r>
              <a:rPr lang="tr-TR" sz="2400" b="1" dirty="0" smtClean="0"/>
              <a:t> </a:t>
            </a:r>
            <a:r>
              <a:rPr lang="tr-TR" sz="2400" dirty="0" smtClean="0"/>
              <a:t>a policy to support industries that are believed to generate positive externalities.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8114">
                                            <p:txEl>
                                              <p:pRg st="0" end="0"/>
                                            </p:txEl>
                                          </p:spTgt>
                                        </p:tgtEl>
                                        <p:attrNameLst>
                                          <p:attrName>style.visibility</p:attrName>
                                        </p:attrNameLst>
                                      </p:cBhvr>
                                      <p:to>
                                        <p:strVal val="visible"/>
                                      </p:to>
                                    </p:set>
                                    <p:animEffect transition="in" filter="wipe(left)">
                                      <p:cBhvr>
                                        <p:cTn id="7" dur="500"/>
                                        <p:tgtEl>
                                          <p:spTgt spid="8581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1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40342"/>
            <a:ext cx="7992888" cy="578224"/>
          </a:xfrm>
        </p:spPr>
        <p:txBody>
          <a:bodyPr/>
          <a:lstStyle/>
          <a:p>
            <a:r>
              <a:rPr lang="en-US" dirty="0" smtClean="0"/>
              <a:t>Summary</a:t>
            </a:r>
            <a:endParaRPr lang="en-US" dirty="0"/>
          </a:p>
        </p:txBody>
      </p:sp>
      <p:sp>
        <p:nvSpPr>
          <p:cNvPr id="859138" name="Rectangle 2"/>
          <p:cNvSpPr>
            <a:spLocks noGrp="1" noChangeArrowheads="1"/>
          </p:cNvSpPr>
          <p:nvPr>
            <p:ph idx="1"/>
          </p:nvPr>
        </p:nvSpPr>
        <p:spPr>
          <a:xfrm>
            <a:off x="887506" y="980728"/>
            <a:ext cx="8004974" cy="5145436"/>
          </a:xfrm>
        </p:spPr>
        <p:txBody>
          <a:bodyPr/>
          <a:lstStyle/>
          <a:p>
            <a:pPr marL="463550" indent="-463550">
              <a:spcBef>
                <a:spcPct val="0"/>
              </a:spcBef>
              <a:buFont typeface="+mj-lt"/>
              <a:buAutoNum type="arabicPeriod" startAt="6"/>
            </a:pPr>
            <a:r>
              <a:rPr lang="tr-TR" sz="2400" dirty="0" smtClean="0"/>
              <a:t>When only the original good or activity can be controlled,</a:t>
            </a:r>
            <a:r>
              <a:rPr lang="en-US" sz="2400" dirty="0" smtClean="0"/>
              <a:t> </a:t>
            </a:r>
            <a:r>
              <a:rPr lang="tr-TR" sz="2400" dirty="0" smtClean="0"/>
              <a:t>government policies are geared to influencing</a:t>
            </a:r>
            <a:r>
              <a:rPr lang="en-US" sz="2400" dirty="0" smtClean="0"/>
              <a:t> </a:t>
            </a:r>
            <a:r>
              <a:rPr lang="tr-TR" sz="2400" dirty="0" smtClean="0"/>
              <a:t>how much of it is produced. When there are external</a:t>
            </a:r>
            <a:r>
              <a:rPr lang="en-US" sz="2400" dirty="0" smtClean="0"/>
              <a:t> </a:t>
            </a:r>
            <a:r>
              <a:rPr lang="tr-TR" sz="2400" dirty="0" smtClean="0"/>
              <a:t>costs from production, the </a:t>
            </a:r>
            <a:r>
              <a:rPr lang="tr-TR" sz="2400" b="1" dirty="0" smtClean="0"/>
              <a:t>marginal social cost of a</a:t>
            </a:r>
            <a:r>
              <a:rPr lang="en-US" sz="2400" b="1" dirty="0" smtClean="0"/>
              <a:t> </a:t>
            </a:r>
            <a:r>
              <a:rPr lang="tr-TR" sz="2400" b="1" dirty="0" smtClean="0"/>
              <a:t>good or activity </a:t>
            </a:r>
            <a:r>
              <a:rPr lang="tr-TR" sz="2400" dirty="0" smtClean="0"/>
              <a:t>exceeds its marginal cost to producers,</a:t>
            </a:r>
            <a:r>
              <a:rPr lang="en-US" sz="2400" dirty="0" smtClean="0"/>
              <a:t> </a:t>
            </a:r>
            <a:r>
              <a:rPr lang="tr-TR" sz="2400" dirty="0" smtClean="0"/>
              <a:t>the difference being the marginal external cost. </a:t>
            </a:r>
            <a:r>
              <a:rPr lang="en-US" sz="2400" dirty="0" smtClean="0"/>
              <a:t/>
            </a:r>
            <a:br>
              <a:rPr lang="en-US" sz="2400" dirty="0" smtClean="0"/>
            </a:br>
            <a:r>
              <a:rPr lang="en-US" sz="2400" dirty="0" smtClean="0"/>
              <a:t/>
            </a:r>
            <a:br>
              <a:rPr lang="en-US" sz="2400" dirty="0" smtClean="0"/>
            </a:br>
            <a:r>
              <a:rPr lang="tr-TR" sz="2400" dirty="0" smtClean="0"/>
              <a:t>Without</a:t>
            </a:r>
            <a:r>
              <a:rPr lang="en-US" sz="2400" dirty="0" smtClean="0"/>
              <a:t> </a:t>
            </a:r>
            <a:r>
              <a:rPr lang="tr-TR" sz="2400" dirty="0" smtClean="0"/>
              <a:t>government action, the market produces too much of the</a:t>
            </a:r>
            <a:r>
              <a:rPr lang="en-US" sz="2400" dirty="0" smtClean="0"/>
              <a:t> </a:t>
            </a:r>
            <a:r>
              <a:rPr lang="tr-TR" sz="2400" dirty="0" smtClean="0"/>
              <a:t>good or activity. The optimal Pigouvian tax on production</a:t>
            </a:r>
            <a:r>
              <a:rPr lang="en-US" sz="2400" dirty="0" smtClean="0"/>
              <a:t> </a:t>
            </a:r>
            <a:r>
              <a:rPr lang="tr-TR" sz="2400" dirty="0" smtClean="0"/>
              <a:t>of the good or activity is equal to its marginal external</a:t>
            </a:r>
            <a:r>
              <a:rPr lang="en-US" sz="2400" dirty="0" smtClean="0"/>
              <a:t> </a:t>
            </a:r>
            <a:r>
              <a:rPr lang="tr-TR" sz="2400" dirty="0" smtClean="0"/>
              <a:t>cost, yielding lower output and a higher price to consumers. A system of tradable production permits for the right to produce the good or activity can also achieve efficiency at minimum cost.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9138">
                                            <p:txEl>
                                              <p:pRg st="0" end="0"/>
                                            </p:txEl>
                                          </p:spTgt>
                                        </p:tgtEl>
                                        <p:attrNameLst>
                                          <p:attrName>style.visibility</p:attrName>
                                        </p:attrNameLst>
                                      </p:cBhvr>
                                      <p:to>
                                        <p:strVal val="visible"/>
                                      </p:to>
                                    </p:set>
                                    <p:animEffect transition="in" filter="wipe(left)">
                                      <p:cBhvr>
                                        <p:cTn id="7" dur="500"/>
                                        <p:tgtEl>
                                          <p:spTgt spid="8591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38"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971601" y="40342"/>
            <a:ext cx="7992888" cy="578224"/>
          </a:xfrm>
        </p:spPr>
        <p:txBody>
          <a:bodyPr/>
          <a:lstStyle/>
          <a:p>
            <a:r>
              <a:rPr lang="en-US" dirty="0" smtClean="0"/>
              <a:t>Summary</a:t>
            </a:r>
            <a:endParaRPr lang="en-US" dirty="0"/>
          </a:p>
        </p:txBody>
      </p:sp>
      <p:sp>
        <p:nvSpPr>
          <p:cNvPr id="860162" name="Rectangle 2"/>
          <p:cNvSpPr>
            <a:spLocks noGrp="1" noChangeArrowheads="1"/>
          </p:cNvSpPr>
          <p:nvPr>
            <p:ph idx="1"/>
          </p:nvPr>
        </p:nvSpPr>
        <p:spPr>
          <a:xfrm>
            <a:off x="887506" y="980728"/>
            <a:ext cx="8076982" cy="5145436"/>
          </a:xfrm>
        </p:spPr>
        <p:txBody>
          <a:bodyPr/>
          <a:lstStyle/>
          <a:p>
            <a:pPr marL="457200" indent="-457200">
              <a:spcBef>
                <a:spcPct val="0"/>
              </a:spcBef>
              <a:buFont typeface="+mj-lt"/>
              <a:buAutoNum type="arabicPeriod" startAt="7"/>
            </a:pPr>
            <a:r>
              <a:rPr lang="tr-TR" sz="2400" dirty="0" smtClean="0"/>
              <a:t>Communications, transportation, and high-technology</a:t>
            </a:r>
            <a:r>
              <a:rPr lang="en-US" sz="2400" dirty="0" smtClean="0"/>
              <a:t> </a:t>
            </a:r>
            <a:r>
              <a:rPr lang="tr-TR" sz="2400" dirty="0" smtClean="0"/>
              <a:t>goods are frequently subject to </a:t>
            </a:r>
            <a:r>
              <a:rPr lang="tr-TR" sz="2400" b="1" dirty="0" smtClean="0"/>
              <a:t>network externalities</a:t>
            </a:r>
            <a:r>
              <a:rPr lang="tr-TR" sz="2400" dirty="0" smtClean="0"/>
              <a:t>,</a:t>
            </a:r>
            <a:r>
              <a:rPr lang="en-US" sz="2400" b="1" dirty="0" smtClean="0"/>
              <a:t> </a:t>
            </a:r>
            <a:r>
              <a:rPr lang="tr-TR" sz="2400" dirty="0" smtClean="0"/>
              <a:t>which arise when the value of the good to an individual</a:t>
            </a:r>
            <a:r>
              <a:rPr lang="en-US" sz="2400" dirty="0" smtClean="0"/>
              <a:t> </a:t>
            </a:r>
            <a:r>
              <a:rPr lang="tr-TR" sz="2400" dirty="0" smtClean="0"/>
              <a:t>is greater when a large number of people use the good.</a:t>
            </a:r>
            <a:r>
              <a:rPr lang="en-US" sz="2400" dirty="0" smtClean="0"/>
              <a:t> </a:t>
            </a:r>
            <a:r>
              <a:rPr lang="tr-TR" sz="2400" dirty="0" smtClean="0"/>
              <a:t>Such goods are likely to be subject to </a:t>
            </a:r>
            <a:r>
              <a:rPr lang="tr-TR" sz="2400" b="1" dirty="0" smtClean="0"/>
              <a:t>positive feedback</a:t>
            </a:r>
            <a:r>
              <a:rPr lang="tr-TR" sz="2400" dirty="0" smtClean="0"/>
              <a:t>:</a:t>
            </a:r>
            <a:r>
              <a:rPr lang="en-US" sz="2400" b="1" dirty="0" smtClean="0"/>
              <a:t> </a:t>
            </a:r>
            <a:r>
              <a:rPr lang="tr-TR" sz="2400" dirty="0" smtClean="0"/>
              <a:t>if large numbers of people buy the good, other people are</a:t>
            </a:r>
            <a:r>
              <a:rPr lang="en-US" sz="2400" dirty="0" smtClean="0"/>
              <a:t> </a:t>
            </a:r>
            <a:r>
              <a:rPr lang="tr-TR" sz="2400" dirty="0" smtClean="0"/>
              <a:t>more likely to buy it</a:t>
            </a:r>
            <a:r>
              <a:rPr lang="en-US" sz="2400" dirty="0" smtClean="0"/>
              <a:t>,</a:t>
            </a:r>
            <a:r>
              <a:rPr lang="tr-TR" sz="2400" dirty="0" smtClean="0"/>
              <a:t> too. </a:t>
            </a:r>
            <a:r>
              <a:rPr lang="en-US" sz="2400" dirty="0" smtClean="0"/>
              <a:t/>
            </a:r>
            <a:br>
              <a:rPr lang="en-US" sz="2400" dirty="0" smtClean="0"/>
            </a:br>
            <a:r>
              <a:rPr lang="en-US" sz="2400" dirty="0" smtClean="0"/>
              <a:t/>
            </a:r>
            <a:br>
              <a:rPr lang="en-US" sz="2400" dirty="0" smtClean="0"/>
            </a:br>
            <a:r>
              <a:rPr lang="en-US" sz="2400" dirty="0" smtClean="0"/>
              <a:t>P</a:t>
            </a:r>
            <a:r>
              <a:rPr lang="tr-TR" sz="2400" dirty="0" smtClean="0"/>
              <a:t>roducers have an incentive to</a:t>
            </a:r>
            <a:r>
              <a:rPr lang="en-US" sz="2400" dirty="0" smtClean="0"/>
              <a:t> </a:t>
            </a:r>
            <a:r>
              <a:rPr lang="tr-TR" sz="2400" dirty="0" smtClean="0"/>
              <a:t>take aggressive action in the early stages of the market to</a:t>
            </a:r>
            <a:r>
              <a:rPr lang="en-US" sz="2400" dirty="0" smtClean="0"/>
              <a:t> </a:t>
            </a:r>
            <a:r>
              <a:rPr lang="tr-TR" sz="2400" dirty="0" smtClean="0"/>
              <a:t>increase the size of their network. Markets with network externalities tend to be monopolies.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162">
                                            <p:txEl>
                                              <p:pRg st="0" end="0"/>
                                            </p:txEl>
                                          </p:spTgt>
                                        </p:tgtEl>
                                        <p:attrNameLst>
                                          <p:attrName>style.visibility</p:attrName>
                                        </p:attrNameLst>
                                      </p:cBhvr>
                                      <p:to>
                                        <p:strVal val="visible"/>
                                      </p:to>
                                    </p:set>
                                    <p:animEffect transition="in" filter="wipe(left)">
                                      <p:cBhvr>
                                        <p:cTn id="7" dur="500"/>
                                        <p:tgtEl>
                                          <p:spTgt spid="86016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99592" y="980728"/>
            <a:ext cx="8064896" cy="5616624"/>
          </a:xfrm>
        </p:spPr>
        <p:txBody>
          <a:bodyPr numCol="2"/>
          <a:lstStyle/>
          <a:p>
            <a:r>
              <a:rPr lang="en-US" dirty="0" smtClean="0"/>
              <a:t>Marginal social cost of pollution</a:t>
            </a:r>
          </a:p>
          <a:p>
            <a:r>
              <a:rPr lang="en-US" dirty="0" smtClean="0"/>
              <a:t>Marginal social benefit of pollution</a:t>
            </a:r>
          </a:p>
          <a:p>
            <a:r>
              <a:rPr lang="en-US" dirty="0" smtClean="0"/>
              <a:t>Socially optimal quantity of pollution</a:t>
            </a:r>
          </a:p>
          <a:p>
            <a:r>
              <a:rPr lang="en-US" dirty="0" smtClean="0"/>
              <a:t>External cost</a:t>
            </a:r>
          </a:p>
          <a:p>
            <a:r>
              <a:rPr lang="en-US" dirty="0" smtClean="0"/>
              <a:t>External benefit</a:t>
            </a:r>
          </a:p>
          <a:p>
            <a:r>
              <a:rPr lang="en-US" dirty="0" smtClean="0"/>
              <a:t>Externalities</a:t>
            </a:r>
          </a:p>
          <a:p>
            <a:r>
              <a:rPr lang="en-US" dirty="0" smtClean="0"/>
              <a:t>Negative externalities</a:t>
            </a:r>
          </a:p>
          <a:p>
            <a:r>
              <a:rPr lang="en-US" dirty="0" smtClean="0"/>
              <a:t>Positive externalities</a:t>
            </a:r>
          </a:p>
          <a:p>
            <a:r>
              <a:rPr lang="en-US" dirty="0" smtClean="0"/>
              <a:t>Coase theorem</a:t>
            </a:r>
          </a:p>
          <a:p>
            <a:r>
              <a:rPr lang="en-US" dirty="0" smtClean="0"/>
              <a:t>Transaction costs</a:t>
            </a:r>
          </a:p>
          <a:p>
            <a:r>
              <a:rPr lang="en-US" dirty="0" smtClean="0"/>
              <a:t>Internalize the externality</a:t>
            </a:r>
          </a:p>
          <a:p>
            <a:r>
              <a:rPr lang="en-US" dirty="0" smtClean="0"/>
              <a:t>Environmental standards</a:t>
            </a:r>
          </a:p>
          <a:p>
            <a:r>
              <a:rPr lang="en-US" dirty="0" smtClean="0"/>
              <a:t>Emissions tax</a:t>
            </a:r>
          </a:p>
          <a:p>
            <a:r>
              <a:rPr lang="en-US" dirty="0" smtClean="0"/>
              <a:t>Pigouvian tax</a:t>
            </a:r>
          </a:p>
          <a:p>
            <a:r>
              <a:rPr lang="en-US" dirty="0" smtClean="0"/>
              <a:t>Tradable emissions permits</a:t>
            </a:r>
          </a:p>
          <a:p>
            <a:r>
              <a:rPr lang="en-US" dirty="0" smtClean="0"/>
              <a:t>Pigouvian subsidy</a:t>
            </a:r>
          </a:p>
          <a:p>
            <a:r>
              <a:rPr lang="en-US" dirty="0" smtClean="0"/>
              <a:t>Technology spillover</a:t>
            </a:r>
          </a:p>
          <a:p>
            <a:r>
              <a:rPr lang="en-US" dirty="0" smtClean="0"/>
              <a:t>Positive feedback</a:t>
            </a:r>
          </a:p>
          <a:p>
            <a:pPr>
              <a:buNone/>
            </a:pPr>
            <a:endParaRPr lang="en-US" dirty="0" smtClean="0"/>
          </a:p>
        </p:txBody>
      </p:sp>
      <p:sp>
        <p:nvSpPr>
          <p:cNvPr id="4" name="Title 3"/>
          <p:cNvSpPr>
            <a:spLocks noGrp="1"/>
          </p:cNvSpPr>
          <p:nvPr>
            <p:ph type="title"/>
          </p:nvPr>
        </p:nvSpPr>
        <p:spPr/>
        <p:txBody>
          <a:bodyPr/>
          <a:lstStyle/>
          <a:p>
            <a:r>
              <a:rPr lang="en-US" dirty="0" smtClean="0"/>
              <a:t>Key Terms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xEl>
                                              <p:pRg st="7" end="7"/>
                                            </p:txEl>
                                          </p:spTgt>
                                        </p:tgtEl>
                                        <p:attrNameLst>
                                          <p:attrName>style.visibility</p:attrName>
                                        </p:attrNameLst>
                                      </p:cBhvr>
                                      <p:to>
                                        <p:strVal val="visible"/>
                                      </p:to>
                                    </p:set>
                                    <p:animEffect transition="in" filter="fade">
                                      <p:cBhvr>
                                        <p:cTn id="28" dur="500"/>
                                        <p:tgtEl>
                                          <p:spTgt spid="5">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Effect transition="in" filter="fade">
                                      <p:cBhvr>
                                        <p:cTn id="31" dur="500"/>
                                        <p:tgtEl>
                                          <p:spTgt spid="5">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xEl>
                                              <p:pRg st="9" end="9"/>
                                            </p:txEl>
                                          </p:spTgt>
                                        </p:tgtEl>
                                        <p:attrNameLst>
                                          <p:attrName>style.visibility</p:attrName>
                                        </p:attrNameLst>
                                      </p:cBhvr>
                                      <p:to>
                                        <p:strVal val="visible"/>
                                      </p:to>
                                    </p:set>
                                    <p:animEffect transition="in" filter="fade">
                                      <p:cBhvr>
                                        <p:cTn id="34" dur="500"/>
                                        <p:tgtEl>
                                          <p:spTgt spid="5">
                                            <p:txEl>
                                              <p:pRg st="9" end="9"/>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500"/>
                                        <p:tgtEl>
                                          <p:spTgt spid="5">
                                            <p:txEl>
                                              <p:pRg st="10" end="1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fade">
                                      <p:cBhvr>
                                        <p:cTn id="40" dur="500"/>
                                        <p:tgtEl>
                                          <p:spTgt spid="5">
                                            <p:txEl>
                                              <p:pRg st="11" end="1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animEffect transition="in" filter="fade">
                                      <p:cBhvr>
                                        <p:cTn id="43" dur="500"/>
                                        <p:tgtEl>
                                          <p:spTgt spid="5">
                                            <p:txEl>
                                              <p:pRg st="12" end="12"/>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
                                            <p:txEl>
                                              <p:pRg st="13" end="13"/>
                                            </p:txEl>
                                          </p:spTgt>
                                        </p:tgtEl>
                                        <p:attrNameLst>
                                          <p:attrName>style.visibility</p:attrName>
                                        </p:attrNameLst>
                                      </p:cBhvr>
                                      <p:to>
                                        <p:strVal val="visible"/>
                                      </p:to>
                                    </p:set>
                                    <p:animEffect transition="in" filter="fade">
                                      <p:cBhvr>
                                        <p:cTn id="46" dur="500"/>
                                        <p:tgtEl>
                                          <p:spTgt spid="5">
                                            <p:txEl>
                                              <p:pRg st="13" end="13"/>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
                                            <p:txEl>
                                              <p:pRg st="14" end="14"/>
                                            </p:txEl>
                                          </p:spTgt>
                                        </p:tgtEl>
                                        <p:attrNameLst>
                                          <p:attrName>style.visibility</p:attrName>
                                        </p:attrNameLst>
                                      </p:cBhvr>
                                      <p:to>
                                        <p:strVal val="visible"/>
                                      </p:to>
                                    </p:set>
                                    <p:animEffect transition="in" filter="fade">
                                      <p:cBhvr>
                                        <p:cTn id="49" dur="500"/>
                                        <p:tgtEl>
                                          <p:spTgt spid="5">
                                            <p:txEl>
                                              <p:pRg st="14" end="14"/>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
                                            <p:txEl>
                                              <p:pRg st="15" end="15"/>
                                            </p:txEl>
                                          </p:spTgt>
                                        </p:tgtEl>
                                        <p:attrNameLst>
                                          <p:attrName>style.visibility</p:attrName>
                                        </p:attrNameLst>
                                      </p:cBhvr>
                                      <p:to>
                                        <p:strVal val="visible"/>
                                      </p:to>
                                    </p:set>
                                    <p:animEffect transition="in" filter="fade">
                                      <p:cBhvr>
                                        <p:cTn id="52" dur="500"/>
                                        <p:tgtEl>
                                          <p:spTgt spid="5">
                                            <p:txEl>
                                              <p:pRg st="15" end="15"/>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
                                            <p:txEl>
                                              <p:pRg st="16" end="16"/>
                                            </p:txEl>
                                          </p:spTgt>
                                        </p:tgtEl>
                                        <p:attrNameLst>
                                          <p:attrName>style.visibility</p:attrName>
                                        </p:attrNameLst>
                                      </p:cBhvr>
                                      <p:to>
                                        <p:strVal val="visible"/>
                                      </p:to>
                                    </p:set>
                                    <p:animEffect transition="in" filter="fade">
                                      <p:cBhvr>
                                        <p:cTn id="55" dur="500"/>
                                        <p:tgtEl>
                                          <p:spTgt spid="5">
                                            <p:txEl>
                                              <p:pRg st="16" end="16"/>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
                                            <p:txEl>
                                              <p:pRg st="17" end="17"/>
                                            </p:txEl>
                                          </p:spTgt>
                                        </p:tgtEl>
                                        <p:attrNameLst>
                                          <p:attrName>style.visibility</p:attrName>
                                        </p:attrNameLst>
                                      </p:cBhvr>
                                      <p:to>
                                        <p:strVal val="visible"/>
                                      </p:to>
                                    </p:set>
                                    <p:animEffect transition="in" filter="fade">
                                      <p:cBhvr>
                                        <p:cTn id="58" dur="500"/>
                                        <p:tgtEl>
                                          <p:spTgt spid="5">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1516</TotalTime>
  <Words>2729</Words>
  <Application>Microsoft Office PowerPoint</Application>
  <PresentationFormat>On-screen Show (4:3)</PresentationFormat>
  <Paragraphs>352</Paragraphs>
  <Slides>31</Slides>
  <Notes>26</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Office Theme</vt:lpstr>
      <vt:lpstr>1_Office Theme</vt:lpstr>
      <vt:lpstr>Chapter 16</vt:lpstr>
      <vt:lpstr>PowerPoint Presentation</vt:lpstr>
      <vt:lpstr>Externalities</vt:lpstr>
      <vt:lpstr>Positive and Negative Externalities</vt:lpstr>
      <vt:lpstr>Production, Consumption, and Externalities</vt:lpstr>
      <vt:lpstr>Negative Externalities and Meat Production</vt:lpstr>
      <vt:lpstr>Private, External, and Social Benefits</vt:lpstr>
      <vt:lpstr>Positive Externalities and Consumption</vt:lpstr>
      <vt:lpstr>Network Externalities</vt:lpstr>
      <vt:lpstr>Network Externalities</vt:lpstr>
      <vt:lpstr>Active Learning Practice</vt:lpstr>
      <vt:lpstr>Case Study: The Economics of Pollution</vt:lpstr>
      <vt:lpstr>Costs and Benefits of Pollution</vt:lpstr>
      <vt:lpstr>The Socially Optimal Quantity of Pollution</vt:lpstr>
      <vt:lpstr>How do we measure Costs and Benefits?</vt:lpstr>
      <vt:lpstr>A Market Economy Produces Too Much Pollution</vt:lpstr>
      <vt:lpstr>Environmental Policies To Control Pollution</vt:lpstr>
      <vt:lpstr>Environmental Standards versus Emissions Taxes</vt:lpstr>
      <vt:lpstr>Tradable Emissions Permits</vt:lpstr>
      <vt:lpstr>Private Solutions to Externalities</vt:lpstr>
      <vt:lpstr>The Coase Theorem:  An Example</vt:lpstr>
      <vt:lpstr>The Coase Theorem:  An Example</vt:lpstr>
      <vt:lpstr>The Coase Theorem:  An Example</vt:lpstr>
      <vt:lpstr>Private Solutions to Externalities</vt:lpstr>
      <vt:lpstr>Private Solutions to Externalities</vt:lpstr>
      <vt:lpstr>Summary</vt:lpstr>
      <vt:lpstr>Summary</vt:lpstr>
      <vt:lpstr>Summary</vt:lpstr>
      <vt:lpstr>Summary</vt:lpstr>
      <vt:lpstr>Summary</vt:lpstr>
      <vt:lpstr>Key Terms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lk</cp:lastModifiedBy>
  <cp:revision>150</cp:revision>
  <dcterms:created xsi:type="dcterms:W3CDTF">2011-08-04T07:26:48Z</dcterms:created>
  <dcterms:modified xsi:type="dcterms:W3CDTF">2016-02-23T05:27:58Z</dcterms:modified>
</cp:coreProperties>
</file>